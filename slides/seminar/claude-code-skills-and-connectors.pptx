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73152" cy="86868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26201C"/>
                </a:solidFill>
                <a:latin typeface="맑은 고딕"/>
              </a:rPr>
              <a:t>Claude Code 기본 제공 스킬 (Built-in Skills)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93268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맑은 고딕"/>
              </a:rPr>
              <a:t>SKILL.md로 패키징된 작업 지침 — 동적 로드로 Claude의 능력을 확장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6350">
            <a:solidFill>
              <a:srgbClr val="D9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57200" y="1691640"/>
            <a:ext cx="5669280" cy="2240280"/>
          </a:xfrm>
          <a:prstGeom prst="roundRect">
            <a:avLst>
              <a:gd name="adj" fmla="val 8000"/>
            </a:avLst>
          </a:prstGeom>
          <a:solidFill>
            <a:srgbClr val="F4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856232"/>
            <a:ext cx="411480" cy="54864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49808" y="2057400"/>
            <a:ext cx="502920" cy="50292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0574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084832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26201C"/>
                </a:solidFill>
                <a:latin typeface="맑은 고딕"/>
              </a:rPr>
              <a:t>SKILL.md 기반 동적 로드 지침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651760"/>
            <a:ext cx="50292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A423A"/>
                </a:solidFill>
                <a:latin typeface="맑은 고딕"/>
              </a:rPr>
              <a:t>디렉토리 + SKILL.md (YAML frontmatter + Markdown) 한 묶음.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A423A"/>
                </a:solidFill>
                <a:latin typeface="맑은 고딕"/>
              </a:rPr>
              <a:t>description 매칭으로 Claude가 자동 호출 — 또는 /스킬-이름으로 명시 호출.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A423A"/>
                </a:solidFill>
                <a:latin typeface="맑은 고딕"/>
              </a:rPr>
              <a:t>본문은 호출 시점에만 컨텍스트에 로드 → 평소 토큰 비용 거의 0.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691640"/>
            <a:ext cx="5669280" cy="2240280"/>
          </a:xfrm>
          <a:prstGeom prst="roundRect">
            <a:avLst>
              <a:gd name="adj" fmla="val 8000"/>
            </a:avLst>
          </a:prstGeom>
          <a:solidFill>
            <a:srgbClr val="F4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46520" y="1856232"/>
            <a:ext cx="411480" cy="54864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601968" y="2057400"/>
            <a:ext cx="502920" cy="50292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1968" y="20574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2084832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26201C"/>
                </a:solidFill>
                <a:latin typeface="맑은 고딕"/>
              </a:rPr>
              <a:t>Anthropic 공식 번들 — docx · pdf · pptx · xlsx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2651760"/>
            <a:ext cx="50292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A423A"/>
                </a:solidFill>
                <a:latin typeface="맑은 고딕"/>
              </a:rPr>
              <a:t>github.com/anthropics/skills 공식 레포 공개.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A423A"/>
                </a:solidFill>
                <a:latin typeface="맑은 고딕"/>
              </a:rPr>
              <a:t>Claude.ai · Claude Code · Anthropic API 어디서든 동일 동작.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A423A"/>
                </a:solidFill>
                <a:latin typeface="맑은 고딕"/>
              </a:rPr>
              <a:t>Claude의 문서 능력을 뒤에서 구동하는 동일 스킬셋.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A423A"/>
                </a:solidFill>
                <a:latin typeface="맑은 고딕"/>
              </a:rPr>
              <a:t>설치: /plugin marketplace add anthropics/skills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114800"/>
            <a:ext cx="5669280" cy="2240280"/>
          </a:xfrm>
          <a:prstGeom prst="roundRect">
            <a:avLst>
              <a:gd name="adj" fmla="val 8000"/>
            </a:avLst>
          </a:prstGeom>
          <a:solidFill>
            <a:srgbClr val="F4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" y="4279392"/>
            <a:ext cx="411480" cy="54864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49808" y="4480560"/>
            <a:ext cx="502920" cy="50292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448056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/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4507992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26201C"/>
                </a:solidFill>
                <a:latin typeface="맑은 고딕"/>
              </a:rPr>
              <a:t>Claude Code 내장 슬래시 스킬 6종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074920"/>
            <a:ext cx="50292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A423A"/>
                </a:solidFill>
                <a:latin typeface="맑은 고딕"/>
              </a:rPr>
              <a:t>/simplify  — 최근 변경 코드를 3개 리뷰 에이전트로 점검·수정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A423A"/>
                </a:solidFill>
                <a:latin typeface="맑은 고딕"/>
              </a:rPr>
              <a:t>/batch     — 대규모 변경을 5~30단위 분해 후 worktree 병렬 실행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A423A"/>
                </a:solidFill>
                <a:latin typeface="맑은 고딕"/>
              </a:rPr>
              <a:t>/debug     — 디버그 로그 분석 / /loop — 프롬프트 반복 실행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A423A"/>
                </a:solidFill>
                <a:latin typeface="맑은 고딕"/>
              </a:rPr>
              <a:t>/claude-api — Anthropic SDK 코드 마이그레이션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A423A"/>
                </a:solidFill>
                <a:latin typeface="맑은 고딕"/>
              </a:rPr>
              <a:t>/fewer-permission-prompts — 권한 프롬프트 줄이기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4114800"/>
            <a:ext cx="5669280" cy="2240280"/>
          </a:xfrm>
          <a:prstGeom prst="roundRect">
            <a:avLst>
              <a:gd name="adj" fmla="val 8000"/>
            </a:avLst>
          </a:prstGeom>
          <a:solidFill>
            <a:srgbClr val="F4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46520" y="4279392"/>
            <a:ext cx="411480" cy="54864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601968" y="4480560"/>
            <a:ext cx="502920" cy="50292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1968" y="448056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69480" y="4507992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26201C"/>
                </a:solidFill>
                <a:latin typeface="맑은 고딕"/>
              </a:rPr>
              <a:t>발견 + 호출 방식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5074920"/>
            <a:ext cx="50292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A423A"/>
                </a:solidFill>
                <a:latin typeface="맑은 고딕"/>
              </a:rPr>
              <a:t>/skills 로 사용 가능한 전체 목록 확인.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A423A"/>
                </a:solidFill>
                <a:latin typeface="맑은 고딕"/>
              </a:rPr>
              <a:t>자동 발동 = description 매칭 / 명시 = /이름 (인자 가능: /fix-issue 123).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A423A"/>
                </a:solidFill>
                <a:latin typeface="맑은 고딕"/>
              </a:rPr>
              <a:t>disable-model-invocation: true 로 자동 발동 차단.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A423A"/>
                </a:solidFill>
                <a:latin typeface="맑은 고딕"/>
              </a:rPr>
              <a:t>저장 위치: enterprise / ~/.claude/skills/ (개인) / .claude/skills/ (프로젝트) / 플러그인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D9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57200" y="6473952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출처  ·  code.claude.com/docs/en/skills   ·   code.claude.com/docs/en/commands   ·   github.com/anthropics/skills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17352" y="6473952"/>
            <a:ext cx="914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Claude Code 세미나 · 1/2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73152" cy="868680"/>
          </a:xfrm>
          <a:prstGeom prst="rect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26201C"/>
                </a:solidFill>
                <a:latin typeface="맑은 고딕"/>
              </a:rPr>
              <a:t>Claude Code 커넥터 (Connectors via MCP)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93268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맑은 고딕"/>
              </a:rPr>
              <a:t>Model Context Protocol — 외부 도구·DB·API를 Claude의 도구로 노출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6350">
            <a:solidFill>
              <a:srgbClr val="D9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57200" y="1691640"/>
            <a:ext cx="5669280" cy="1920240"/>
          </a:xfrm>
          <a:prstGeom prst="roundRect">
            <a:avLst>
              <a:gd name="adj" fmla="val 8000"/>
            </a:avLst>
          </a:prstGeom>
          <a:solidFill>
            <a:srgbClr val="F4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856232"/>
            <a:ext cx="411480" cy="54864"/>
          </a:xfrm>
          <a:prstGeom prst="rect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49808" y="2057400"/>
            <a:ext cx="502920" cy="502920"/>
          </a:xfrm>
          <a:prstGeom prst="ellipse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0574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084832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26201C"/>
                </a:solidFill>
                <a:latin typeface="맑은 고딕"/>
              </a:rPr>
              <a:t>MCP 서버 ↔ Claude Code 어댑터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651760"/>
            <a:ext cx="5029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A423A"/>
                </a:solidFill>
                <a:latin typeface="맑은 고딕"/>
              </a:rPr>
              <a:t>외부 시스템(GitHub · Slack · DB 등)이 MCP 서버를 노출하면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A423A"/>
                </a:solidFill>
                <a:latin typeface="맑은 고딕"/>
              </a:rPr>
              <a:t>Claude Code가 그 도구·리소스·프롬프트를 세션에서 직접 호출.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A423A"/>
                </a:solidFill>
                <a:latin typeface="맑은 고딕"/>
              </a:rPr>
              <a:t>"다른 도구에서 채팅창으로 데이터를 복사·붙여넣고 있다면 커넥트할 시점."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691640"/>
            <a:ext cx="5669280" cy="1920240"/>
          </a:xfrm>
          <a:prstGeom prst="roundRect">
            <a:avLst>
              <a:gd name="adj" fmla="val 8000"/>
            </a:avLst>
          </a:prstGeom>
          <a:solidFill>
            <a:srgbClr val="F4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46520" y="1856232"/>
            <a:ext cx="411480" cy="54864"/>
          </a:xfrm>
          <a:prstGeom prst="rect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601968" y="2057400"/>
            <a:ext cx="502920" cy="502920"/>
          </a:xfrm>
          <a:prstGeom prst="ellipse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1968" y="20574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2084832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26201C"/>
                </a:solidFill>
                <a:latin typeface="맑은 고딕"/>
              </a:rPr>
              <a:t>디렉토리 커넥터 — claude.com/connectors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2651760"/>
            <a:ext cx="5029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A423A"/>
                </a:solidFill>
                <a:latin typeface="맑은 고딕"/>
              </a:rPr>
              <a:t>카테고리: Productivity · Communication · Data · Sales &amp; Marketing ·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A423A"/>
                </a:solidFill>
                <a:latin typeface="맑은 고딕"/>
              </a:rPr>
              <a:t>Code · Design · Financial · Health &amp; Wellness 등.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A423A"/>
                </a:solidFill>
                <a:latin typeface="맑은 고딕"/>
              </a:rPr>
              <a:t>대표: GitHub · Slack · Notion · Asana · Atlassian · Airtable ·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A423A"/>
                </a:solidFill>
                <a:latin typeface="맑은 고딕"/>
              </a:rPr>
              <a:t>Stripe · Sentry · Linear · Figma · Google Drive.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794760"/>
            <a:ext cx="5669280" cy="1920240"/>
          </a:xfrm>
          <a:prstGeom prst="roundRect">
            <a:avLst>
              <a:gd name="adj" fmla="val 8000"/>
            </a:avLst>
          </a:prstGeom>
          <a:solidFill>
            <a:srgbClr val="F4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" y="3959352"/>
            <a:ext cx="411480" cy="54864"/>
          </a:xfrm>
          <a:prstGeom prst="rect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49808" y="4160520"/>
            <a:ext cx="502920" cy="502920"/>
          </a:xfrm>
          <a:prstGeom prst="ellipse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416052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4187952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26201C"/>
                </a:solidFill>
                <a:latin typeface="맑은 고딕"/>
              </a:rPr>
              <a:t>커스텀 / 자체 MCP 서버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754880"/>
            <a:ext cx="5029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A423A"/>
                </a:solidFill>
                <a:latin typeface="맑은 고딕"/>
              </a:rPr>
              <a:t>디렉토리 외 통합은 modelcontextprotocol/servers (오픈소스 모음)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A423A"/>
                </a:solidFill>
                <a:latin typeface="맑은 고딕"/>
              </a:rPr>
              <a:t>또는 MCP SDK로 직접 구축. 로컬 도구·내부 시스템 연결에 활용.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3794760"/>
            <a:ext cx="5669280" cy="1920240"/>
          </a:xfrm>
          <a:prstGeom prst="roundRect">
            <a:avLst>
              <a:gd name="adj" fmla="val 8000"/>
            </a:avLst>
          </a:prstGeom>
          <a:solidFill>
            <a:srgbClr val="F4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46520" y="3959352"/>
            <a:ext cx="411480" cy="54864"/>
          </a:xfrm>
          <a:prstGeom prst="rect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601968" y="4160520"/>
            <a:ext cx="502920" cy="502920"/>
          </a:xfrm>
          <a:prstGeom prst="ellipse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1968" y="416052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&gt;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69480" y="4187952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26201C"/>
                </a:solidFill>
                <a:latin typeface="맑은 고딕"/>
              </a:rPr>
              <a:t>추가 명령 + 관리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4754880"/>
            <a:ext cx="5029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A423A"/>
                </a:solidFill>
                <a:latin typeface="맑은 고딕"/>
              </a:rPr>
              <a:t>HTTP(권장): claude mcp add --transport http notion https://mcp.notion.com/mcp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A423A"/>
                </a:solidFill>
                <a:latin typeface="맑은 고딕"/>
              </a:rPr>
              <a:t>SSE(deprecated) / stdio(로컬, --env KEY=VAL  --  명령).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A423A"/>
                </a:solidFill>
                <a:latin typeface="맑은 고딕"/>
              </a:rPr>
              <a:t>관리: claude mcp list / get / remove · 세션 내 /mcp (OAuth · 상태).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A423A"/>
                </a:solidFill>
                <a:latin typeface="맑은 고딕"/>
              </a:rPr>
              <a:t>스코프: local / project (.mcp.json 공유) / user.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897880"/>
            <a:ext cx="11274552" cy="41148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5897880"/>
            <a:ext cx="91440" cy="4114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594360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97706"/>
                </a:solidFill>
                <a:latin typeface="Calibri"/>
              </a:rPr>
              <a:t>SECURITY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51760" y="5943600"/>
            <a:ext cx="889711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26201C"/>
                </a:solidFill>
                <a:latin typeface="맑은 고딕"/>
              </a:rPr>
              <a:t>신뢰할 수 있는 MCP 서버만 연결할 것 — 외부 콘텐츠를 가져오는 서버는 prompt injection 위험에 특히 유의.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D9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457200" y="6473952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출처  ·  code.claude.com/docs/en/mcp   ·   claude.com/connectors   ·   modelcontextprotocol.io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17352" y="6473952"/>
            <a:ext cx="914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Claude Code 세미나 · 2/2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