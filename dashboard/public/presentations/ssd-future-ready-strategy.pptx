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2번은 결과입니다. Meta CacheLib에 FDP를 적용하자 WAF가 3.22에서 1.03으로 68퍼센트, PM9D3a RocksDB에서 p99.9 꼬리 지연이 55퍼센트 줄었습니다. WAF가 SSD만으로 3 근처에 머문 이유는 참고 5장에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LMCache FDP 머지, xNVMe 같은 일부 기여가 있으며, 추론 엔진은 비어 있습니다. 핵심은 데이터의 수명 정보가 KV 캐시 관리자 층에 있는데, 그것을 SSD 배치로 내려보내는 경로가 아직 없다는 점입니다. 3장의 개선은 이 경로가 있어야 나오므로, 스택 전체를 읽고 이 경로를 고객과 함께 만드는 것이 역량입니다. 아래 화두도 드립니다. 고객 관계를 경영진과 영업에서 엔지니어와 엔지니어 사이까지 넓힐 준비가 되어 있는지입니다. 셋째 사람입니다. 스펙 문서로는 명시된 요구만 옵니다. Palantir와 OpenAI의 FDE처럼 삼성 엔지니어가 고객 AI 데이터센터 안에서 워크로드 측정과 분석, 호스트 소프트웨어 스택 최적화와 평가, 차세대 제품 기술 교류를 합니다.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2.png"/><Relationship Id="rId8" Type="http://schemas.openxmlformats.org/officeDocument/2006/relationships/image" Target="../media/image11.png"/><Relationship Id="rId9" Type="http://schemas.openxmlformats.org/officeDocument/2006/relationships/image" Target="../media/image9.png"/><Relationship Id="rId10" Type="http://schemas.openxmlformats.org/officeDocument/2006/relationships/image" Target="../media/image18.png"/><Relationship Id="rId11" Type="http://schemas.openxmlformats.org/officeDocument/2006/relationships/notesSlide" Target="../notesSlides/notesSlide3.xml"/><Relationship Id="rId1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5" name="TextBox 34"/>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6" name="TextBox 35"/>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7" name="Rounded Rectangle 36"/>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4" name="TextBox 43"/>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5" name="TextBox 44"/>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6" name="Rounded Rectangle 45"/>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7" name="TextBox 56"/>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58" name="TextBox 57"/>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59" name="TextBox 58"/>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0" name="Rectangle 59"/>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1" name="Rectangle 110"/>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1" name="TextBox 160"/>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2" name="Rounded Rectangle 161">
            <a:hlinkClick action="ppaction://hlinksldjump" r:id="rId12"/>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a:hlinkClick action="ppaction://hlinksldjump" r:id="rId12"/>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5장 ▶</a:t>
            </a:r>
          </a:p>
        </p:txBody>
      </p:sp>
      <p:sp>
        <p:nvSpPr>
          <p:cNvPr id="164" name="Rounded Rectangle 163"/>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6" name="TextBox 165"/>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7" name="Rectangle 166"/>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69" name="TextBox 168"/>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0" name="Rectangle 169"/>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2" name="TextBox 171"/>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3" name="TextBox 172"/>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4" name="TextBox 173"/>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5" name="Rounded Rectangle 174"/>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7" name="TextBox 176"/>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78" name="Rectangle 177"/>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0" name="TextBox 179"/>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1" name="Rectangle 180"/>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3" name="TextBox 182"/>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4" name="TextBox 183"/>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5" name="TextBox 184"/>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6" name="Oval 185"/>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88" name="TextBox 187"/>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89" name="Picture 188" descr="portfolio_3d_base.png"/>
          <p:cNvPicPr>
            <a:picLocks noChangeAspect="1"/>
          </p:cNvPicPr>
          <p:nvPr/>
        </p:nvPicPr>
        <p:blipFill>
          <a:blip r:embed="rId2"/>
          <a:stretch>
            <a:fillRect/>
          </a:stretch>
        </p:blipFill>
        <p:spPr>
          <a:xfrm>
            <a:off x="8769096" y="4041648"/>
            <a:ext cx="6303421" cy="5321808"/>
          </a:xfrm>
          <a:prstGeom prst="rect">
            <a:avLst/>
          </a:prstGeom>
        </p:spPr>
      </p:pic>
      <p:sp>
        <p:nvSpPr>
          <p:cNvPr id="194" name="TextBox 193"/>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5" name="Rounded Rectangle 194"/>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199" name="Picture 198" descr="p_bm1743.png"/>
          <p:cNvPicPr>
            <a:picLocks noChangeAspect="1"/>
          </p:cNvPicPr>
          <p:nvPr/>
        </p:nvPicPr>
        <p:blipFill>
          <a:blip r:embed="rId7"/>
          <a:stretch>
            <a:fillRect/>
          </a:stretch>
        </p:blipFill>
        <p:spPr>
          <a:xfrm>
            <a:off x="16307773" y="4059935"/>
            <a:ext cx="686900" cy="475488"/>
          </a:xfrm>
          <a:prstGeom prst="rect">
            <a:avLst/>
          </a:prstGeom>
        </p:spPr>
      </p:pic>
      <p:sp>
        <p:nvSpPr>
          <p:cNvPr id="200" name="TextBox 199"/>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6" name="Rounded Rectangle 205"/>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0" name="Picture 209" descr="p_pm1753.png"/>
          <p:cNvPicPr>
            <a:picLocks noChangeAspect="1"/>
          </p:cNvPicPr>
          <p:nvPr/>
        </p:nvPicPr>
        <p:blipFill>
          <a:blip r:embed="rId8"/>
          <a:stretch>
            <a:fillRect/>
          </a:stretch>
        </p:blipFill>
        <p:spPr>
          <a:xfrm>
            <a:off x="16327027" y="5399531"/>
            <a:ext cx="648392" cy="475488"/>
          </a:xfrm>
          <a:prstGeom prst="rect">
            <a:avLst/>
          </a:prstGeom>
        </p:spPr>
      </p:pic>
      <p:sp>
        <p:nvSpPr>
          <p:cNvPr id="211" name="TextBox 210"/>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7" name="Rounded Rectangle 216"/>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extBox 219"/>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1" name="Picture 220" descr="p_pm1755.png"/>
          <p:cNvPicPr>
            <a:picLocks noChangeAspect="1"/>
          </p:cNvPicPr>
          <p:nvPr/>
        </p:nvPicPr>
        <p:blipFill>
          <a:blip r:embed="rId9"/>
          <a:stretch>
            <a:fillRect/>
          </a:stretch>
        </p:blipFill>
        <p:spPr>
          <a:xfrm>
            <a:off x="16327027" y="6739128"/>
            <a:ext cx="648392" cy="475488"/>
          </a:xfrm>
          <a:prstGeom prst="rect">
            <a:avLst/>
          </a:prstGeom>
        </p:spPr>
      </p:pic>
      <p:sp>
        <p:nvSpPr>
          <p:cNvPr id="222" name="TextBox 221"/>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28" name="Rounded Rectangle 227"/>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2" name="Picture 231" descr="p_zssd.png"/>
          <p:cNvPicPr>
            <a:picLocks noChangeAspect="1"/>
          </p:cNvPicPr>
          <p:nvPr/>
        </p:nvPicPr>
        <p:blipFill>
          <a:blip r:embed="rId10"/>
          <a:stretch>
            <a:fillRect/>
          </a:stretch>
        </p:blipFill>
        <p:spPr>
          <a:xfrm>
            <a:off x="16256446" y="8078724"/>
            <a:ext cx="789555" cy="475488"/>
          </a:xfrm>
          <a:prstGeom prst="rect">
            <a:avLst/>
          </a:prstGeom>
        </p:spPr>
      </p:pic>
      <p:sp>
        <p:nvSpPr>
          <p:cNvPr id="233" name="TextBox 232"/>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39" name="TextBox 238"/>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0" name="Rectangle 239"/>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2" name="Rectangle 241"/>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4" name="Rectangle 243"/>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6" name="Group 245"/>
          <p:cNvGrpSpPr/>
          <p:nvPr/>
        </p:nvGrpSpPr>
        <p:grpSpPr>
          <a:xfrm>
            <a:off x="8769096" y="4005072"/>
            <a:ext cx="8823960" cy="5358384"/>
            <a:chOff x="8769096" y="4005072"/>
            <a:chExt cx="8823960" cy="5358384"/>
          </a:xfrm>
        </p:grpSpPr>
        <p:pic>
          <p:nvPicPr>
            <p:cNvPr id="190" name="Picture 189" descr="portfolio_3d_qlc.png"/>
            <p:cNvPicPr>
              <a:picLocks noChangeAspect="1"/>
            </p:cNvPicPr>
            <p:nvPr/>
          </p:nvPicPr>
          <p:blipFill>
            <a:blip r:embed="rId3"/>
            <a:stretch>
              <a:fillRect/>
            </a:stretch>
          </p:blipFill>
          <p:spPr>
            <a:xfrm>
              <a:off x="8769096" y="4041648"/>
              <a:ext cx="6303421" cy="5321808"/>
            </a:xfrm>
            <a:prstGeom prst="rect">
              <a:avLst/>
            </a:prstGeom>
          </p:spPr>
        </p:pic>
        <p:sp>
          <p:nvSpPr>
            <p:cNvPr id="201" name="TextBox 200"/>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2" name="TextBox 201"/>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3" name="Rounded Rectangle 202"/>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1" name="Picture 190" descr="portfolio_3d_tlc.png"/>
            <p:cNvPicPr>
              <a:picLocks noChangeAspect="1"/>
            </p:cNvPicPr>
            <p:nvPr/>
          </p:nvPicPr>
          <p:blipFill>
            <a:blip r:embed="rId4"/>
            <a:stretch>
              <a:fillRect/>
            </a:stretch>
          </p:blipFill>
          <p:spPr>
            <a:xfrm>
              <a:off x="8769096" y="4041648"/>
              <a:ext cx="6303421" cy="5321808"/>
            </a:xfrm>
            <a:prstGeom prst="rect">
              <a:avLst/>
            </a:prstGeom>
          </p:spPr>
        </p:pic>
        <p:sp>
          <p:nvSpPr>
            <p:cNvPr id="212" name="TextBox 211"/>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3" name="TextBox 212"/>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4" name="Rounded Rectangle 213"/>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2" name="Picture 191" descr="portfolio_3d_hetlc.png"/>
            <p:cNvPicPr>
              <a:picLocks noChangeAspect="1"/>
            </p:cNvPicPr>
            <p:nvPr/>
          </p:nvPicPr>
          <p:blipFill>
            <a:blip r:embed="rId5"/>
            <a:stretch>
              <a:fillRect/>
            </a:stretch>
          </p:blipFill>
          <p:spPr>
            <a:xfrm>
              <a:off x="8769096" y="4041648"/>
              <a:ext cx="6303421" cy="5321808"/>
            </a:xfrm>
            <a:prstGeom prst="rect">
              <a:avLst/>
            </a:prstGeom>
          </p:spPr>
        </p:pic>
        <p:sp>
          <p:nvSpPr>
            <p:cNvPr id="223" name="TextBox 222"/>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4" name="TextBox 223"/>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5" name="Rounded Rectangle 224"/>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slc.png"/>
            <p:cNvPicPr>
              <a:picLocks noChangeAspect="1"/>
            </p:cNvPicPr>
            <p:nvPr/>
          </p:nvPicPr>
          <p:blipFill>
            <a:blip r:embed="rId6"/>
            <a:stretch>
              <a:fillRect/>
            </a:stretch>
          </p:blipFill>
          <p:spPr>
            <a:xfrm>
              <a:off x="8769096" y="4041648"/>
              <a:ext cx="6303421" cy="5321808"/>
            </a:xfrm>
            <a:prstGeom prst="rect">
              <a:avLst/>
            </a:prstGeom>
          </p:spPr>
        </p:pic>
        <p:sp>
          <p:nvSpPr>
            <p:cNvPr id="234" name="TextBox 233"/>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5" name="TextBox 234"/>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6" name="Rounded Rectangle 235"/>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4" name="Oval 203"/>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5" name="Oval 214"/>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6" name="Oval 225"/>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7" name="Oval 236"/>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extBox 237"/>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7" name="TextBox 24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48" name="TextBox 24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6"/>
                                        </p:tgtEl>
                                        <p:attrNameLst>
                                          <p:attrName>style.visibility</p:attrName>
                                        </p:attrNameLst>
                                      </p:cBhvr>
                                      <p:to>
                                        <p:strVal val="visible"/>
                                      </p:to>
                                    </p:set>
                                    <p:animEffect transition="in" filter="fade">
                                      <p:cBhvr>
                                        <p:cTn id="8" dur="500"/>
                                        <p:tgtEl>
                                          <p:spTgt spid="2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