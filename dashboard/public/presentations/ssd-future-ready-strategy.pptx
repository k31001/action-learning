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학습은 대역입니다. NVIDIA SuperPOD 가이드를 GPU당으로 환산하면 멀티모달 학습은 기본보다 약 3배의 읽기 대역을 요구합니다. AI 추론은 DWPD만의 문제가 아닙니다.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가운데 막대는 eSSD 수요 비중입니다. 올해 범용 85, 학습 6, 추론 9퍼센트에서 2030년에는 범용 47, 학습 12, 추론 41퍼센트가 됩니다. 아래는 삼성 SSD 포트폴리오가 각 수요를 어떻게 맡고 있는지입니다. 고성능 TLC는 PM9D3a와 PM1753이 범용 VM과 DB를, PCIe 6.0의 PM1763이 학습 데이터 로딩을, PM1753이 NVIDIA CMX 같은 KV 계층을 맡습니다. 고내구 TLC는 3 DWPD의 PM1755와 PM1745가 쓰기가 많은 KV를 맡습니다.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비어 있는 곳은 초고DWPD입니다. 경쟁사는 Solidigm P5810 50, Kioxia FL6 60, DapuStor X5 120 DWPD 같은 SLC급 제품을 내고 있지만, 삼성의 30 DWPD 이상 제품은 2018년 Z-SSD SZ985가 마지막이고 단종됐습니다. 7세대 Z-NAND는 계획 단계입니다.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오른쪽 끝은 협력의 깊이입니다. 네 가지 추론 수요 모두 고객 시스템 개발이 필요하고, 그중 세 가지는 FDP나 Mixed Media 때문에 최적화까지 고객과 함께 해야 합니다. 그래서 AI 추론 수요에 대응하려면 고객과의 협업이 필수입니다.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고객과 함께 설계한 기술로 무엇이 좋아지고, 그것으로 포트폴리오를 어떻게 넓힐 수 있는지입니다. 첫째 지표는 WAF입니다. SSD만 잘 만들어서는 3 근처에서 더 내려가지 않던 지표입니다. 그 이유는 참고 5장에 정리했고, 상자를 누르면 그 장으로 갑니다. 삼성 엔지니어가 Meta의 CacheLib 안에 FDP를 구현했을 때 WAF가 3.22에서 1.03으로, 68퍼센트 내려갔습니다. 둘째 지표는 꼬리 지연입니다. 삼성 PM9D3a 7.68테라바이트에서 RocksDB에 FDP 최적화 분류를 적용하자 p99.9 꼬리 지연이 55퍼센트 줄었습니다. ZNS, Valet, WALTZ 같은 공개 실험에서도 배치를 바꾸면 꼬리 지연이 1.5배에서 6배 줄었습니다. 왜 그럴까요. 가운데 그림이 그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생깁니다. 연구에서는 GC가 99에서 99.99 백분위 지연을 5배에서 138배까지 키웠습니다. 세 기술을 함께 쓰면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WAF에서 1을 뺀 값이 호스트 쓰기 하나당 GC가 옮기는 양입니다. CacheLib 사례로 보면 2.22에서 0.03으로 98퍼센트 이상 줄어듭니다. GC가 드물고 짧아지면 지연이 예측 가능해지고, 그것이 꼬리 지연을 줄여 QoS를 보장하는 원리입니다. 다만 꼬리 지연 측정은 모두 TLC이고, QLC에서 배치로 꼬리 지연이 준 공개 측정과 KV 캐시 계층의 첫 토큰 p99를 직접 잰 결과는 아직 없습니다. GC보다 칩 사이 큐 불균형이 주원인이라는 반대 연구도 있습니다. 오른쪽 3D 그림은 포트폴리오가 어떻게 넓어지는지입니다.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첫째, BM1743 같은 QLC가 0.3에서 1 DWPD가 되면, 지금 TLC가 맡는 KV 캐시 오프로드 수요까지 원가 우위로 들어갈 수 있습니다. 둘째, PM1753 같은 고성능 TLC가 1에서 3 DWPD가 되면 쓰기가 많은 KV를 고내구 제품 없이 맡을 수 있습니다. 셋째, PM1755 같은 고내구 TLC가 3에서 9 DWPD가 되면 초고DWPD 수요의 입구까지 갑니다. 넷째, SLC급에서 WAF를 낮추면 30 DWPD가 100 DWPD 근처로 올라갑니다. 지금 삼성이 비어 있는 초고DWPD 영역입니다. 요구 사항에 따라 TLC의 WAF를 낮춰 대응할지, SLC급을 극한으로 올릴지 고를 수 있다는 것이 핵심입니다. 이전에는 대응하지 못하던 제품군에 빠르게 들어갈 기술적 기반이 생깁니다. 그래서 어떤 AI 추론 수요가 새로 나와도 빠르게 대응할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추론의 초고DWPD 영역은 아직 비어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1192256" y="2871215"/>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0" y="2834639"/>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읽기 대역</a:t>
            </a:r>
          </a:p>
        </p:txBody>
      </p:sp>
      <p:sp>
        <p:nvSpPr>
          <p:cNvPr id="81" name="TextBox 80"/>
          <p:cNvSpPr txBox="1"/>
          <p:nvPr/>
        </p:nvSpPr>
        <p:spPr>
          <a:xfrm>
            <a:off x="12527280" y="2807208"/>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5.4GB/s</a:t>
            </a:r>
          </a:p>
        </p:txBody>
      </p:sp>
      <p:sp>
        <p:nvSpPr>
          <p:cNvPr id="82" name="TextBox 81"/>
          <p:cNvSpPr txBox="1"/>
          <p:nvPr/>
        </p:nvSpPr>
        <p:spPr>
          <a:xfrm>
            <a:off x="11338560" y="3108959"/>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GPU당 · 128K KV 1초 복원</a:t>
            </a:r>
          </a:p>
        </p:txBody>
      </p:sp>
      <p:sp>
        <p:nvSpPr>
          <p:cNvPr id="83" name="Rectangle 82"/>
          <p:cNvSpPr/>
          <p:nvPr/>
        </p:nvSpPr>
        <p:spPr>
          <a:xfrm>
            <a:off x="11192256" y="3438144"/>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1338560" y="3401568"/>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꼬리 지연</a:t>
            </a:r>
          </a:p>
        </p:txBody>
      </p:sp>
      <p:sp>
        <p:nvSpPr>
          <p:cNvPr id="85" name="TextBox 84"/>
          <p:cNvSpPr txBox="1"/>
          <p:nvPr/>
        </p:nvSpPr>
        <p:spPr>
          <a:xfrm>
            <a:off x="12527280" y="3374136"/>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p99 450ms</a:t>
            </a:r>
          </a:p>
        </p:txBody>
      </p:sp>
      <p:sp>
        <p:nvSpPr>
          <p:cNvPr id="86" name="TextBox 85"/>
          <p:cNvSpPr txBox="1"/>
          <p:nvPr/>
        </p:nvSpPr>
        <p:spPr>
          <a:xfrm>
            <a:off x="11338560" y="3675887"/>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첫 토큰 (MLPerf 70B)</a:t>
            </a:r>
          </a:p>
        </p:txBody>
      </p:sp>
      <p:sp>
        <p:nvSpPr>
          <p:cNvPr id="87" name="Rectangle 86"/>
          <p:cNvSpPr/>
          <p:nvPr/>
        </p:nvSpPr>
        <p:spPr>
          <a:xfrm>
            <a:off x="11192256" y="4005072"/>
            <a:ext cx="54864" cy="47548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338560" y="3968496"/>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쓰기 내구</a:t>
            </a:r>
          </a:p>
        </p:txBody>
      </p:sp>
      <p:sp>
        <p:nvSpPr>
          <p:cNvPr id="89" name="TextBox 88"/>
          <p:cNvSpPr txBox="1"/>
          <p:nvPr/>
        </p:nvSpPr>
        <p:spPr>
          <a:xfrm>
            <a:off x="12527280" y="3941063"/>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3.2 DWPD</a:t>
            </a:r>
          </a:p>
        </p:txBody>
      </p:sp>
      <p:sp>
        <p:nvSpPr>
          <p:cNvPr id="90" name="TextBox 89"/>
          <p:cNvSpPr txBox="1"/>
          <p:nvPr/>
        </p:nvSpPr>
        <p:spPr>
          <a:xfrm>
            <a:off x="11338560" y="4242816"/>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계층 실측</a:t>
            </a:r>
          </a:p>
        </p:txBody>
      </p:sp>
      <p:sp>
        <p:nvSpPr>
          <p:cNvPr id="91" name="Rectangle 90"/>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2" name="TextBox 121"/>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3" name="Rectangle 122"/>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5" name="TextBox 124"/>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6" name="Rectangle 125"/>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8" name="TextBox 127"/>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29" name="TextBox 128"/>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0" name="TextBox 129"/>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1" name="Rectangle 130"/>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3" name="Rectangle 132"/>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5" name="Rectangle 134"/>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37" name="TextBox 136"/>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38" name="TextBox 137"/>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39" name="Rectangle 138"/>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1" name="Rectangle 140"/>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3" name="Rectangle 142"/>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5" name="TextBox 144"/>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6" name="TextBox 145"/>
          <p:cNvSpPr txBox="1"/>
          <p:nvPr/>
        </p:nvSpPr>
        <p:spPr>
          <a:xfrm>
            <a:off x="722376" y="6053328"/>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47" name="TextBox 146"/>
          <p:cNvSpPr txBox="1"/>
          <p:nvPr/>
        </p:nvSpPr>
        <p:spPr>
          <a:xfrm>
            <a:off x="10250424" y="6053328"/>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   </a:t>
            </a:r>
            <a:r>
              <a:rPr sz="1600" b="0">
                <a:solidFill>
                  <a:srgbClr val="1428A0"/>
                </a:solidFill>
                <a:latin typeface="Arial"/>
                <a:ea typeface="Arial"/>
              </a:rPr>
              <a:t>▨</a:t>
            </a:r>
            <a:r>
              <a:rPr sz="1600" b="1">
                <a:solidFill>
                  <a:srgbClr val="1428A0"/>
                </a:solidFill>
                <a:latin typeface="Arial"/>
                <a:ea typeface="Arial"/>
              </a:rPr>
              <a:t> 공백</a:t>
            </a:r>
          </a:p>
        </p:txBody>
      </p:sp>
      <p:sp>
        <p:nvSpPr>
          <p:cNvPr id="148" name="Rounded Rectangle 147"/>
          <p:cNvSpPr/>
          <p:nvPr/>
        </p:nvSpPr>
        <p:spPr>
          <a:xfrm>
            <a:off x="722376" y="6437376"/>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p_zssd.png"/>
          <p:cNvPicPr>
            <a:picLocks noChangeAspect="1"/>
          </p:cNvPicPr>
          <p:nvPr/>
        </p:nvPicPr>
        <p:blipFill>
          <a:blip r:embed="rId10"/>
          <a:stretch>
            <a:fillRect/>
          </a:stretch>
        </p:blipFill>
        <p:spPr>
          <a:xfrm>
            <a:off x="777240" y="6491224"/>
            <a:ext cx="914400" cy="550672"/>
          </a:xfrm>
          <a:prstGeom prst="rect">
            <a:avLst/>
          </a:prstGeom>
        </p:spPr>
      </p:pic>
      <p:sp>
        <p:nvSpPr>
          <p:cNvPr id="150" name="TextBox 149"/>
          <p:cNvSpPr txBox="1"/>
          <p:nvPr/>
        </p:nvSpPr>
        <p:spPr>
          <a:xfrm>
            <a:off x="1746504" y="6455664"/>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SLC급 · 30+ DWPD</a:t>
            </a:r>
          </a:p>
        </p:txBody>
      </p:sp>
      <p:sp>
        <p:nvSpPr>
          <p:cNvPr id="151" name="TextBox 150"/>
          <p:cNvSpPr txBox="1"/>
          <p:nvPr/>
        </p:nvSpPr>
        <p:spPr>
          <a:xfrm>
            <a:off x="1746504" y="6775704"/>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SZ985 (2018 · 단종)</a:t>
            </a:r>
          </a:p>
        </p:txBody>
      </p:sp>
      <p:sp>
        <p:nvSpPr>
          <p:cNvPr id="152" name="Rounded Rectangle 151"/>
          <p:cNvSpPr/>
          <p:nvPr/>
        </p:nvSpPr>
        <p:spPr>
          <a:xfrm>
            <a:off x="4306824"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7658100"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ounded Rectangle 153"/>
          <p:cNvSpPr/>
          <p:nvPr/>
        </p:nvSpPr>
        <p:spPr>
          <a:xfrm>
            <a:off x="11009376" y="6437376"/>
            <a:ext cx="3204972" cy="658368"/>
          </a:xfrm>
          <a:prstGeom prst="roundRect">
            <a:avLst>
              <a:gd name="adj" fmla="val 11111"/>
            </a:avLst>
          </a:prstGeom>
          <a:solidFill>
            <a:srgbClr val="EEF1FA"/>
          </a:solidFill>
          <a:ln w="254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100816" y="6455664"/>
            <a:ext cx="3022092" cy="329184"/>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초고DWPD KV</a:t>
            </a:r>
          </a:p>
        </p:txBody>
      </p:sp>
      <p:sp>
        <p:nvSpPr>
          <p:cNvPr id="156" name="TextBox 155"/>
          <p:cNvSpPr txBox="1"/>
          <p:nvPr/>
        </p:nvSpPr>
        <p:spPr>
          <a:xfrm>
            <a:off x="11100816" y="6775704"/>
            <a:ext cx="3022092" cy="292608"/>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공백  </a:t>
            </a:r>
            <a:r>
              <a:rPr sz="1500" b="0">
                <a:solidFill>
                  <a:srgbClr val="555555"/>
                </a:solidFill>
                <a:latin typeface="Arial"/>
                <a:ea typeface="Arial"/>
              </a:rPr>
              <a:t>삼성 제품 없음</a:t>
            </a:r>
          </a:p>
        </p:txBody>
      </p:sp>
      <p:sp>
        <p:nvSpPr>
          <p:cNvPr id="157" name="Rounded Rectangle 156"/>
          <p:cNvSpPr/>
          <p:nvPr/>
        </p:nvSpPr>
        <p:spPr>
          <a:xfrm>
            <a:off x="14360652"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722376" y="7150608"/>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9" name="Picture 158" descr="p_pm1755.png"/>
          <p:cNvPicPr>
            <a:picLocks noChangeAspect="1"/>
          </p:cNvPicPr>
          <p:nvPr/>
        </p:nvPicPr>
        <p:blipFill>
          <a:blip r:embed="rId11"/>
          <a:stretch>
            <a:fillRect/>
          </a:stretch>
        </p:blipFill>
        <p:spPr>
          <a:xfrm>
            <a:off x="822960" y="7178040"/>
            <a:ext cx="822959" cy="603503"/>
          </a:xfrm>
          <a:prstGeom prst="rect">
            <a:avLst/>
          </a:prstGeom>
        </p:spPr>
      </p:pic>
      <p:sp>
        <p:nvSpPr>
          <p:cNvPr id="160" name="TextBox 159"/>
          <p:cNvSpPr txBox="1"/>
          <p:nvPr/>
        </p:nvSpPr>
        <p:spPr>
          <a:xfrm>
            <a:off x="1746504" y="71688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61" name="TextBox 160"/>
          <p:cNvSpPr txBox="1"/>
          <p:nvPr/>
        </p:nvSpPr>
        <p:spPr>
          <a:xfrm>
            <a:off x="1746504" y="74889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62" name="Rounded Rectangle 161"/>
          <p:cNvSpPr/>
          <p:nvPr/>
        </p:nvSpPr>
        <p:spPr>
          <a:xfrm>
            <a:off x="4306824"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658100" y="7150608"/>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49540" y="71688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65" name="TextBox 164"/>
          <p:cNvSpPr txBox="1"/>
          <p:nvPr/>
        </p:nvSpPr>
        <p:spPr>
          <a:xfrm>
            <a:off x="7749540" y="74889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66" name="Rounded Rectangle 165"/>
          <p:cNvSpPr/>
          <p:nvPr/>
        </p:nvSpPr>
        <p:spPr>
          <a:xfrm>
            <a:off x="11009376" y="7150608"/>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1100816" y="71688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68" name="TextBox 167"/>
          <p:cNvSpPr txBox="1"/>
          <p:nvPr/>
        </p:nvSpPr>
        <p:spPr>
          <a:xfrm>
            <a:off x="11100816" y="74889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69" name="Rounded Rectangle 168"/>
          <p:cNvSpPr/>
          <p:nvPr/>
        </p:nvSpPr>
        <p:spPr>
          <a:xfrm>
            <a:off x="14360652"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ounded Rectangle 169"/>
          <p:cNvSpPr/>
          <p:nvPr/>
        </p:nvSpPr>
        <p:spPr>
          <a:xfrm>
            <a:off x="722376" y="7863840"/>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1" name="Picture 170" descr="p_pm1763.png"/>
          <p:cNvPicPr>
            <a:picLocks noChangeAspect="1"/>
          </p:cNvPicPr>
          <p:nvPr/>
        </p:nvPicPr>
        <p:blipFill>
          <a:blip r:embed="rId12"/>
          <a:stretch>
            <a:fillRect/>
          </a:stretch>
        </p:blipFill>
        <p:spPr>
          <a:xfrm>
            <a:off x="798522" y="7891271"/>
            <a:ext cx="871835" cy="603503"/>
          </a:xfrm>
          <a:prstGeom prst="rect">
            <a:avLst/>
          </a:prstGeom>
        </p:spPr>
      </p:pic>
      <p:sp>
        <p:nvSpPr>
          <p:cNvPr id="172" name="TextBox 171"/>
          <p:cNvSpPr txBox="1"/>
          <p:nvPr/>
        </p:nvSpPr>
        <p:spPr>
          <a:xfrm>
            <a:off x="1746504" y="7882127"/>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1 DWPD</a:t>
            </a:r>
          </a:p>
        </p:txBody>
      </p:sp>
      <p:sp>
        <p:nvSpPr>
          <p:cNvPr id="173" name="TextBox 172"/>
          <p:cNvSpPr txBox="1"/>
          <p:nvPr/>
        </p:nvSpPr>
        <p:spPr>
          <a:xfrm>
            <a:off x="1746504" y="8202167"/>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PM1763</a:t>
            </a:r>
          </a:p>
        </p:txBody>
      </p:sp>
      <p:sp>
        <p:nvSpPr>
          <p:cNvPr id="174" name="Rounded Rectangle 173"/>
          <p:cNvSpPr/>
          <p:nvPr/>
        </p:nvSpPr>
        <p:spPr>
          <a:xfrm>
            <a:off x="4306824"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398264"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76" name="TextBox 175"/>
          <p:cNvSpPr txBox="1"/>
          <p:nvPr/>
        </p:nvSpPr>
        <p:spPr>
          <a:xfrm>
            <a:off x="4398264"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77" name="Rounded Rectangle 176"/>
          <p:cNvSpPr/>
          <p:nvPr/>
        </p:nvSpPr>
        <p:spPr>
          <a:xfrm>
            <a:off x="7658100"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49540"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79" name="TextBox 178"/>
          <p:cNvSpPr txBox="1"/>
          <p:nvPr/>
        </p:nvSpPr>
        <p:spPr>
          <a:xfrm>
            <a:off x="7749540"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80" name="Rounded Rectangle 179"/>
          <p:cNvSpPr/>
          <p:nvPr/>
        </p:nvSpPr>
        <p:spPr>
          <a:xfrm>
            <a:off x="11009376"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1100816"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82" name="TextBox 181"/>
          <p:cNvSpPr txBox="1"/>
          <p:nvPr/>
        </p:nvSpPr>
        <p:spPr>
          <a:xfrm>
            <a:off x="11100816"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83" name="Rounded Rectangle 182"/>
          <p:cNvSpPr/>
          <p:nvPr/>
        </p:nvSpPr>
        <p:spPr>
          <a:xfrm>
            <a:off x="14360652" y="7863840"/>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4452092" y="7882127"/>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85" name="TextBox 184"/>
          <p:cNvSpPr txBox="1"/>
          <p:nvPr/>
        </p:nvSpPr>
        <p:spPr>
          <a:xfrm>
            <a:off x="14452092" y="8202167"/>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86" name="Rounded Rectangle 185"/>
          <p:cNvSpPr/>
          <p:nvPr/>
        </p:nvSpPr>
        <p:spPr>
          <a:xfrm>
            <a:off x="722376" y="8577072"/>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7" name="Picture 186" descr="p_bm1743.png"/>
          <p:cNvPicPr>
            <a:picLocks noChangeAspect="1"/>
          </p:cNvPicPr>
          <p:nvPr/>
        </p:nvPicPr>
        <p:blipFill>
          <a:blip r:embed="rId13"/>
          <a:stretch>
            <a:fillRect/>
          </a:stretch>
        </p:blipFill>
        <p:spPr>
          <a:xfrm>
            <a:off x="798522" y="8604503"/>
            <a:ext cx="871835" cy="603503"/>
          </a:xfrm>
          <a:prstGeom prst="rect">
            <a:avLst/>
          </a:prstGeom>
        </p:spPr>
      </p:pic>
      <p:sp>
        <p:nvSpPr>
          <p:cNvPr id="188" name="TextBox 187"/>
          <p:cNvSpPr txBox="1"/>
          <p:nvPr/>
        </p:nvSpPr>
        <p:spPr>
          <a:xfrm>
            <a:off x="1746504" y="8595359"/>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89" name="TextBox 188"/>
          <p:cNvSpPr txBox="1"/>
          <p:nvPr/>
        </p:nvSpPr>
        <p:spPr>
          <a:xfrm>
            <a:off x="1746504" y="8915399"/>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90" name="Rounded Rectangle 189"/>
          <p:cNvSpPr/>
          <p:nvPr/>
        </p:nvSpPr>
        <p:spPr>
          <a:xfrm>
            <a:off x="4306824"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398264"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92" name="TextBox 191"/>
          <p:cNvSpPr txBox="1"/>
          <p:nvPr/>
        </p:nvSpPr>
        <p:spPr>
          <a:xfrm>
            <a:off x="4398264"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3" name="Rounded Rectangle 192"/>
          <p:cNvSpPr/>
          <p:nvPr/>
        </p:nvSpPr>
        <p:spPr>
          <a:xfrm>
            <a:off x="7658100"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7749540"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95" name="TextBox 194"/>
          <p:cNvSpPr txBox="1"/>
          <p:nvPr/>
        </p:nvSpPr>
        <p:spPr>
          <a:xfrm>
            <a:off x="7749540"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6" name="Rounded Rectangle 195"/>
          <p:cNvSpPr/>
          <p:nvPr/>
        </p:nvSpPr>
        <p:spPr>
          <a:xfrm>
            <a:off x="11009376" y="8577072"/>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100816" y="8595359"/>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98" name="TextBox 197"/>
          <p:cNvSpPr txBox="1"/>
          <p:nvPr/>
        </p:nvSpPr>
        <p:spPr>
          <a:xfrm>
            <a:off x="11100816" y="8915399"/>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99" name="Rounded Rectangle 198"/>
          <p:cNvSpPr/>
          <p:nvPr/>
        </p:nvSpPr>
        <p:spPr>
          <a:xfrm>
            <a:off x="14360652"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52092"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201" name="TextBox 200"/>
          <p:cNvSpPr txBox="1"/>
          <p:nvPr/>
        </p:nvSpPr>
        <p:spPr>
          <a:xfrm>
            <a:off x="14452092"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202" name="TextBox 20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 보간 · 상세 참고 8장) · HBM 과제팀 집계 · p99 FlashBlox(FAST'17) · GPU당 대역 NVIDIA SuperPOD(환산) · 추론 대역 70B · 128K KV 43GB 1초 복원(⚠️ 산술) · MLPerf 70B 첫 토큰 p99 · KV 실측 StorageReview · 삼성 모델 사양 공식 페이지 검색 확인(🟡) · 제품 이미지는 형태 재현</a:t>
            </a:r>
          </a:p>
        </p:txBody>
      </p:sp>
      <p:sp>
        <p:nvSpPr>
          <p:cNvPr id="203" name="TextBox 20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38328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4471416" y="2066543"/>
            <a:ext cx="557784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10415016" y="2066543"/>
            <a:ext cx="429768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TextBox 8"/>
          <p:cNvSpPr txBox="1"/>
          <p:nvPr/>
        </p:nvSpPr>
        <p:spPr>
          <a:xfrm>
            <a:off x="15078455" y="2066543"/>
            <a:ext cx="248716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④ 고객 협력</a:t>
            </a:r>
          </a:p>
        </p:txBody>
      </p:sp>
      <p:sp>
        <p:nvSpPr>
          <p:cNvPr id="10" name="Chevron 9"/>
          <p:cNvSpPr/>
          <p:nvPr/>
        </p:nvSpPr>
        <p:spPr>
          <a:xfrm>
            <a:off x="41605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101041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14767559"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1416" y="2542032"/>
            <a:ext cx="1115568"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읽기</a:t>
            </a:r>
          </a:p>
          <a:p>
            <a:pPr algn="ctr">
              <a:lnSpc>
                <a:spcPct val="95000"/>
              </a:lnSpc>
            </a:pPr>
            <a:r>
              <a:rPr sz="1600" b="1">
                <a:solidFill>
                  <a:srgbClr val="1A1A1A"/>
                </a:solidFill>
                <a:latin typeface="Arial"/>
                <a:ea typeface="Arial"/>
              </a:rPr>
              <a:t>대역</a:t>
            </a:r>
          </a:p>
        </p:txBody>
      </p:sp>
      <p:sp>
        <p:nvSpPr>
          <p:cNvPr id="14" name="TextBox 13"/>
          <p:cNvSpPr txBox="1"/>
          <p:nvPr/>
        </p:nvSpPr>
        <p:spPr>
          <a:xfrm>
            <a:off x="5586984" y="2542032"/>
            <a:ext cx="1115568"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꼬리</a:t>
            </a:r>
          </a:p>
          <a:p>
            <a:pPr algn="ctr">
              <a:lnSpc>
                <a:spcPct val="95000"/>
              </a:lnSpc>
            </a:pPr>
            <a:r>
              <a:rPr sz="1600" b="1">
                <a:solidFill>
                  <a:srgbClr val="1A1A1A"/>
                </a:solidFill>
                <a:latin typeface="Arial"/>
                <a:ea typeface="Arial"/>
              </a:rPr>
              <a:t>지연</a:t>
            </a:r>
          </a:p>
        </p:txBody>
      </p:sp>
      <p:sp>
        <p:nvSpPr>
          <p:cNvPr id="15" name="TextBox 14"/>
          <p:cNvSpPr txBox="1"/>
          <p:nvPr/>
        </p:nvSpPr>
        <p:spPr>
          <a:xfrm>
            <a:off x="6702552" y="2542032"/>
            <a:ext cx="1115568"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쓰기</a:t>
            </a:r>
          </a:p>
          <a:p>
            <a:pPr algn="ctr">
              <a:lnSpc>
                <a:spcPct val="95000"/>
              </a:lnSpc>
            </a:pPr>
            <a:r>
              <a:rPr sz="1600" b="1">
                <a:solidFill>
                  <a:srgbClr val="1A1A1A"/>
                </a:solidFill>
                <a:latin typeface="Arial"/>
                <a:ea typeface="Arial"/>
              </a:rPr>
              <a:t>DWPD</a:t>
            </a:r>
          </a:p>
        </p:txBody>
      </p:sp>
      <p:sp>
        <p:nvSpPr>
          <p:cNvPr id="16" name="TextBox 15"/>
          <p:cNvSpPr txBox="1"/>
          <p:nvPr/>
        </p:nvSpPr>
        <p:spPr>
          <a:xfrm>
            <a:off x="7818120" y="2542032"/>
            <a:ext cx="1115568"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용량</a:t>
            </a:r>
          </a:p>
          <a:p>
            <a:pPr algn="ctr">
              <a:lnSpc>
                <a:spcPct val="95000"/>
              </a:lnSpc>
            </a:pPr>
            <a:r>
              <a:rPr sz="1600" b="1">
                <a:solidFill>
                  <a:srgbClr val="1A1A1A"/>
                </a:solidFill>
                <a:latin typeface="Arial"/>
                <a:ea typeface="Arial"/>
              </a:rPr>
              <a:t>$/TB</a:t>
            </a:r>
          </a:p>
        </p:txBody>
      </p:sp>
      <p:sp>
        <p:nvSpPr>
          <p:cNvPr id="17" name="TextBox 16"/>
          <p:cNvSpPr txBox="1"/>
          <p:nvPr/>
        </p:nvSpPr>
        <p:spPr>
          <a:xfrm>
            <a:off x="8933688" y="2542032"/>
            <a:ext cx="1115568"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격리</a:t>
            </a:r>
          </a:p>
          <a:p>
            <a:pPr algn="ctr">
              <a:lnSpc>
                <a:spcPct val="95000"/>
              </a:lnSpc>
            </a:pPr>
            <a:r>
              <a:rPr sz="1600" b="1">
                <a:solidFill>
                  <a:srgbClr val="1A1A1A"/>
                </a:solidFill>
                <a:latin typeface="Arial"/>
                <a:ea typeface="Arial"/>
              </a:rPr>
              <a:t>보안</a:t>
            </a:r>
          </a:p>
        </p:txBody>
      </p:sp>
      <p:sp>
        <p:nvSpPr>
          <p:cNvPr id="18" name="Rounded Rectangle 17"/>
          <p:cNvSpPr/>
          <p:nvPr/>
        </p:nvSpPr>
        <p:spPr>
          <a:xfrm>
            <a:off x="722376" y="3145536"/>
            <a:ext cx="338328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3273552"/>
            <a:ext cx="3017520"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모델 가중치</a:t>
            </a:r>
          </a:p>
        </p:txBody>
      </p:sp>
      <p:sp>
        <p:nvSpPr>
          <p:cNvPr id="20" name="TextBox 19"/>
          <p:cNvSpPr txBox="1"/>
          <p:nvPr/>
        </p:nvSpPr>
        <p:spPr>
          <a:xfrm>
            <a:off x="923544" y="3712463"/>
            <a:ext cx="30175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로딩 · 모델 교체</a:t>
            </a:r>
          </a:p>
        </p:txBody>
      </p:sp>
      <p:sp>
        <p:nvSpPr>
          <p:cNvPr id="21" name="Rounded Rectangle 20"/>
          <p:cNvSpPr/>
          <p:nvPr/>
        </p:nvSpPr>
        <p:spPr>
          <a:xfrm>
            <a:off x="4471416" y="3145536"/>
            <a:ext cx="557784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837176"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952744"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183879"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299447"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415016" y="3200400"/>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69880" y="3200400"/>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Large Mapping</a:t>
            </a:r>
          </a:p>
        </p:txBody>
      </p:sp>
      <p:sp>
        <p:nvSpPr>
          <p:cNvPr id="28" name="Rounded Rectangle 27"/>
          <p:cNvSpPr/>
          <p:nvPr/>
        </p:nvSpPr>
        <p:spPr>
          <a:xfrm>
            <a:off x="12655296" y="3200400"/>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10160" y="3200400"/>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Confidential</a:t>
            </a:r>
          </a:p>
        </p:txBody>
      </p:sp>
      <p:sp>
        <p:nvSpPr>
          <p:cNvPr id="30" name="Rounded Rectangle 29"/>
          <p:cNvSpPr/>
          <p:nvPr/>
        </p:nvSpPr>
        <p:spPr>
          <a:xfrm>
            <a:off x="11535156" y="3712464"/>
            <a:ext cx="2057400"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590020" y="3712464"/>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Fault Tolerant</a:t>
            </a:r>
          </a:p>
        </p:txBody>
      </p:sp>
      <p:sp>
        <p:nvSpPr>
          <p:cNvPr id="32" name="Rectangle 31"/>
          <p:cNvSpPr/>
          <p:nvPr/>
        </p:nvSpPr>
        <p:spPr>
          <a:xfrm>
            <a:off x="15078455" y="3291840"/>
            <a:ext cx="78028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5931895" y="3291840"/>
            <a:ext cx="78028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6785336" y="3291840"/>
            <a:ext cx="780288" cy="365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5078455" y="3712463"/>
            <a:ext cx="2487168" cy="402336"/>
          </a:xfrm>
          <a:prstGeom prst="rect">
            <a:avLst/>
          </a:prstGeom>
          <a:noFill/>
        </p:spPr>
        <p:txBody>
          <a:bodyPr wrap="square" anchor="ctr" lIns="0" rIns="0" tIns="0" bIns="0">
            <a:spAutoFit/>
          </a:bodyPr>
          <a:lstStyle/>
          <a:p>
            <a:pPr algn="l">
              <a:lnSpc>
                <a:spcPct val="110000"/>
              </a:lnSpc>
            </a:pPr>
            <a:r>
              <a:rPr sz="1900" b="1">
                <a:solidFill>
                  <a:srgbClr val="3C5AC8"/>
                </a:solidFill>
                <a:latin typeface="Arial"/>
                <a:ea typeface="Arial"/>
              </a:rPr>
              <a:t>고객 시스템 개발</a:t>
            </a:r>
          </a:p>
        </p:txBody>
      </p:sp>
      <p:sp>
        <p:nvSpPr>
          <p:cNvPr id="36" name="Rounded Rectangle 35"/>
          <p:cNvSpPr/>
          <p:nvPr/>
        </p:nvSpPr>
        <p:spPr>
          <a:xfrm>
            <a:off x="722376" y="4297679"/>
            <a:ext cx="338328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4425695"/>
            <a:ext cx="3017520"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RAG · Vector DB</a:t>
            </a:r>
          </a:p>
        </p:txBody>
      </p:sp>
      <p:sp>
        <p:nvSpPr>
          <p:cNvPr id="38" name="TextBox 37"/>
          <p:cNvSpPr txBox="1"/>
          <p:nvPr/>
        </p:nvSpPr>
        <p:spPr>
          <a:xfrm>
            <a:off x="923544" y="4864607"/>
            <a:ext cx="30175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작은 랜덤 읽기 · 색인 갱신</a:t>
            </a:r>
          </a:p>
        </p:txBody>
      </p:sp>
      <p:sp>
        <p:nvSpPr>
          <p:cNvPr id="39" name="Rounded Rectangle 38"/>
          <p:cNvSpPr/>
          <p:nvPr/>
        </p:nvSpPr>
        <p:spPr>
          <a:xfrm>
            <a:off x="4471416" y="4297679"/>
            <a:ext cx="557784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837176"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952744"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183879"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299447"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415016" y="4352543"/>
            <a:ext cx="2057400"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69880" y="4352543"/>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a:t>
            </a:r>
          </a:p>
        </p:txBody>
      </p:sp>
      <p:sp>
        <p:nvSpPr>
          <p:cNvPr id="46" name="Rounded Rectangle 45"/>
          <p:cNvSpPr/>
          <p:nvPr/>
        </p:nvSpPr>
        <p:spPr>
          <a:xfrm>
            <a:off x="12655296" y="4352543"/>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710160" y="4352543"/>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Multi-Tenant QoS</a:t>
            </a:r>
          </a:p>
        </p:txBody>
      </p:sp>
      <p:sp>
        <p:nvSpPr>
          <p:cNvPr id="48" name="Rounded Rectangle 47"/>
          <p:cNvSpPr/>
          <p:nvPr/>
        </p:nvSpPr>
        <p:spPr>
          <a:xfrm>
            <a:off x="11535156" y="4864607"/>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590020" y="4864607"/>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Large Mapping</a:t>
            </a:r>
          </a:p>
        </p:txBody>
      </p:sp>
      <p:sp>
        <p:nvSpPr>
          <p:cNvPr id="50" name="Rectangle 49"/>
          <p:cNvSpPr/>
          <p:nvPr/>
        </p:nvSpPr>
        <p:spPr>
          <a:xfrm>
            <a:off x="15078455" y="4443983"/>
            <a:ext cx="78028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5931895" y="4443983"/>
            <a:ext cx="78028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6785336" y="4443983"/>
            <a:ext cx="78028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078455" y="4864607"/>
            <a:ext cx="248716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54" name="Rounded Rectangle 53"/>
          <p:cNvSpPr/>
          <p:nvPr/>
        </p:nvSpPr>
        <p:spPr>
          <a:xfrm>
            <a:off x="722376" y="5449823"/>
            <a:ext cx="3383280" cy="1042415"/>
          </a:xfrm>
          <a:prstGeom prst="roundRect">
            <a:avLst>
              <a:gd name="adj" fmla="val 7017"/>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3544" y="5577839"/>
            <a:ext cx="3017520" cy="420624"/>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KV 캐시 오프로드</a:t>
            </a:r>
          </a:p>
        </p:txBody>
      </p:sp>
      <p:sp>
        <p:nvSpPr>
          <p:cNvPr id="56" name="TextBox 55"/>
          <p:cNvSpPr txBox="1"/>
          <p:nvPr/>
        </p:nvSpPr>
        <p:spPr>
          <a:xfrm>
            <a:off x="923544" y="6016751"/>
            <a:ext cx="30175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긴 문맥 · 재사용</a:t>
            </a:r>
          </a:p>
        </p:txBody>
      </p:sp>
      <p:sp>
        <p:nvSpPr>
          <p:cNvPr id="57" name="Rounded Rectangle 56"/>
          <p:cNvSpPr/>
          <p:nvPr/>
        </p:nvSpPr>
        <p:spPr>
          <a:xfrm>
            <a:off x="4471416" y="5449823"/>
            <a:ext cx="557784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837176"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952744"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06831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183879" y="5779007"/>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0415016" y="5504687"/>
            <a:ext cx="2057400"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69880" y="5504687"/>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a:t>
            </a:r>
          </a:p>
        </p:txBody>
      </p:sp>
      <p:sp>
        <p:nvSpPr>
          <p:cNvPr id="64" name="Rounded Rectangle 63"/>
          <p:cNvSpPr/>
          <p:nvPr/>
        </p:nvSpPr>
        <p:spPr>
          <a:xfrm>
            <a:off x="12655296" y="5504687"/>
            <a:ext cx="2057400"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710160" y="5504687"/>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Mixed Media</a:t>
            </a:r>
          </a:p>
        </p:txBody>
      </p:sp>
      <p:sp>
        <p:nvSpPr>
          <p:cNvPr id="66" name="Rounded Rectangle 65"/>
          <p:cNvSpPr/>
          <p:nvPr/>
        </p:nvSpPr>
        <p:spPr>
          <a:xfrm>
            <a:off x="11535156" y="6016751"/>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590020" y="6016751"/>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Large Mapping</a:t>
            </a:r>
          </a:p>
        </p:txBody>
      </p:sp>
      <p:sp>
        <p:nvSpPr>
          <p:cNvPr id="68" name="Rectangle 67"/>
          <p:cNvSpPr/>
          <p:nvPr/>
        </p:nvSpPr>
        <p:spPr>
          <a:xfrm>
            <a:off x="15078455" y="5596127"/>
            <a:ext cx="78028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5931895" y="5596127"/>
            <a:ext cx="78028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6785336" y="5596127"/>
            <a:ext cx="78028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5078455" y="6016751"/>
            <a:ext cx="248716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72" name="Rounded Rectangle 71"/>
          <p:cNvSpPr/>
          <p:nvPr/>
        </p:nvSpPr>
        <p:spPr>
          <a:xfrm>
            <a:off x="722376" y="6601967"/>
            <a:ext cx="338328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3544" y="6729983"/>
            <a:ext cx="3017520"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에이전트 메모리</a:t>
            </a:r>
          </a:p>
        </p:txBody>
      </p:sp>
      <p:sp>
        <p:nvSpPr>
          <p:cNvPr id="74" name="TextBox 73"/>
          <p:cNvSpPr txBox="1"/>
          <p:nvPr/>
        </p:nvSpPr>
        <p:spPr>
          <a:xfrm>
            <a:off x="923544" y="7168895"/>
            <a:ext cx="30175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세션 · 상태 · 로그</a:t>
            </a:r>
          </a:p>
        </p:txBody>
      </p:sp>
      <p:sp>
        <p:nvSpPr>
          <p:cNvPr id="75" name="Rounded Rectangle 74"/>
          <p:cNvSpPr/>
          <p:nvPr/>
        </p:nvSpPr>
        <p:spPr>
          <a:xfrm>
            <a:off x="4471416" y="6601967"/>
            <a:ext cx="557784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5952744"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06831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183879"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9299447"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10415016" y="6656831"/>
            <a:ext cx="2057400"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469880" y="6656831"/>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Mixed Media</a:t>
            </a:r>
          </a:p>
        </p:txBody>
      </p:sp>
      <p:sp>
        <p:nvSpPr>
          <p:cNvPr id="82" name="Rounded Rectangle 81"/>
          <p:cNvSpPr/>
          <p:nvPr/>
        </p:nvSpPr>
        <p:spPr>
          <a:xfrm>
            <a:off x="12655296" y="6656831"/>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710160" y="6656831"/>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Multi-Tenant QoS</a:t>
            </a:r>
          </a:p>
        </p:txBody>
      </p:sp>
      <p:sp>
        <p:nvSpPr>
          <p:cNvPr id="84" name="Rounded Rectangle 83"/>
          <p:cNvSpPr/>
          <p:nvPr/>
        </p:nvSpPr>
        <p:spPr>
          <a:xfrm>
            <a:off x="11535156" y="7168895"/>
            <a:ext cx="2057400"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590020" y="7168895"/>
            <a:ext cx="1947672"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Confidential</a:t>
            </a:r>
          </a:p>
        </p:txBody>
      </p:sp>
      <p:sp>
        <p:nvSpPr>
          <p:cNvPr id="86" name="Rectangle 85"/>
          <p:cNvSpPr/>
          <p:nvPr/>
        </p:nvSpPr>
        <p:spPr>
          <a:xfrm>
            <a:off x="15078455" y="6748271"/>
            <a:ext cx="78028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15931895" y="6748271"/>
            <a:ext cx="78028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16785336" y="6748271"/>
            <a:ext cx="78028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5078455" y="7168895"/>
            <a:ext cx="248716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90" name="TextBox 89"/>
          <p:cNvSpPr txBox="1"/>
          <p:nvPr/>
        </p:nvSpPr>
        <p:spPr>
          <a:xfrm>
            <a:off x="15078455" y="2724912"/>
            <a:ext cx="78028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sp>
        <p:nvSpPr>
          <p:cNvPr id="91" name="TextBox 90"/>
          <p:cNvSpPr txBox="1"/>
          <p:nvPr/>
        </p:nvSpPr>
        <p:spPr>
          <a:xfrm>
            <a:off x="15931895" y="2724912"/>
            <a:ext cx="78028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개발</a:t>
            </a:r>
          </a:p>
        </p:txBody>
      </p:sp>
      <p:sp>
        <p:nvSpPr>
          <p:cNvPr id="92" name="TextBox 91"/>
          <p:cNvSpPr txBox="1"/>
          <p:nvPr/>
        </p:nvSpPr>
        <p:spPr>
          <a:xfrm>
            <a:off x="16785336" y="2724912"/>
            <a:ext cx="78028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최적화</a:t>
            </a:r>
          </a:p>
        </p:txBody>
      </p:sp>
      <p:sp>
        <p:nvSpPr>
          <p:cNvPr id="93" name="TextBox 92"/>
          <p:cNvSpPr txBox="1"/>
          <p:nvPr/>
        </p:nvSpPr>
        <p:spPr>
          <a:xfrm>
            <a:off x="10415016" y="2724912"/>
            <a:ext cx="429768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색 = 협력 단계</a:t>
            </a:r>
          </a:p>
        </p:txBody>
      </p:sp>
      <p:sp>
        <p:nvSpPr>
          <p:cNvPr id="94" name="TextBox 93"/>
          <p:cNvSpPr txBox="1"/>
          <p:nvPr/>
        </p:nvSpPr>
        <p:spPr>
          <a:xfrm>
            <a:off x="4471416" y="7735823"/>
            <a:ext cx="5577840" cy="384048"/>
          </a:xfrm>
          <a:prstGeom prst="rect">
            <a:avLst/>
          </a:prstGeom>
          <a:noFill/>
        </p:spPr>
        <p:txBody>
          <a:bodyPr wrap="square" anchor="ctr" lIns="0" rIns="0" tIns="0" bIns="0">
            <a:spAutoFit/>
          </a:bodyPr>
          <a:lstStyle/>
          <a:p>
            <a:pPr algn="ctr">
              <a:lnSpc>
                <a:spcPct val="110000"/>
              </a:lnSpc>
            </a:pPr>
            <a:r>
              <a:rPr sz="1600" b="0">
                <a:solidFill>
                  <a:srgbClr val="1428A0"/>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95" name="Rectangle 94"/>
          <p:cNvSpPr/>
          <p:nvPr/>
        </p:nvSpPr>
        <p:spPr>
          <a:xfrm>
            <a:off x="10415016" y="7836407"/>
            <a:ext cx="201168"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67104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최적화까지</a:t>
            </a:r>
          </a:p>
        </p:txBody>
      </p:sp>
      <p:sp>
        <p:nvSpPr>
          <p:cNvPr id="97" name="Rectangle 96"/>
          <p:cNvSpPr/>
          <p:nvPr/>
        </p:nvSpPr>
        <p:spPr>
          <a:xfrm>
            <a:off x="11695176" y="7836407"/>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195120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개발</a:t>
            </a:r>
          </a:p>
        </p:txBody>
      </p:sp>
      <p:sp>
        <p:nvSpPr>
          <p:cNvPr id="99" name="Rectangle 98"/>
          <p:cNvSpPr/>
          <p:nvPr/>
        </p:nvSpPr>
        <p:spPr>
          <a:xfrm>
            <a:off x="12426696" y="7836407"/>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268272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SSD 안에서</a:t>
            </a:r>
          </a:p>
        </p:txBody>
      </p:sp>
      <p:sp>
        <p:nvSpPr>
          <p:cNvPr id="101" name="TextBox 100"/>
          <p:cNvSpPr txBox="1"/>
          <p:nvPr/>
        </p:nvSpPr>
        <p:spPr>
          <a:xfrm>
            <a:off x="15078455" y="7680959"/>
            <a:ext cx="2487168" cy="64008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4개 모두 고객 협력</a:t>
            </a:r>
          </a:p>
          <a:p>
            <a:pPr algn="l">
              <a:lnSpc>
                <a:spcPct val="100000"/>
              </a:lnSpc>
            </a:pPr>
            <a:r>
              <a:rPr sz="1700" b="1">
                <a:solidFill>
                  <a:srgbClr val="1428A0"/>
                </a:solidFill>
                <a:latin typeface="Arial"/>
                <a:ea typeface="Arial"/>
              </a:rPr>
              <a:t>3개는 최적화까지</a:t>
            </a:r>
          </a:p>
        </p:txBody>
      </p:sp>
      <p:sp>
        <p:nvSpPr>
          <p:cNvPr id="102" name="Rectangle 10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04" name="TextBox 10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105" name="TextBox 10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단계는 과제팀 판단(위키 ai-inference-storage-requirements · ssd-core-technologies-customer-collaboration §3.5) · 수치는 발표자 노트</a:t>
            </a:r>
          </a:p>
        </p:txBody>
      </p:sp>
      <p:sp>
        <p:nvSpPr>
          <p:cNvPr id="106" name="TextBox 10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지표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고객과 함께 WAF와 꼬리 지연을 낮추면, 같은 NAND로</a:t>
            </a:r>
          </a:p>
          <a:p>
            <a:pPr algn="l">
              <a:lnSpc>
                <a:spcPct val="105000"/>
              </a:lnSpc>
            </a:pPr>
            <a:r>
              <a:rPr sz="3200" b="1">
                <a:solidFill>
                  <a:srgbClr val="1A1A1A"/>
                </a:solidFill>
                <a:latin typeface="Arial"/>
                <a:ea typeface="Arial"/>
              </a:rPr>
              <a:t>지금은 닿지 못하던 추론 수요까지 빠르게 넓힐 수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066543"/>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공동 설계로 좋아지는 지표</a:t>
            </a:r>
          </a:p>
        </p:txBody>
      </p:sp>
      <p:sp>
        <p:nvSpPr>
          <p:cNvPr id="9" name="Rounded Rectangle 8"/>
          <p:cNvSpPr/>
          <p:nvPr/>
        </p:nvSpPr>
        <p:spPr>
          <a:xfrm>
            <a:off x="722376"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WAF</a:t>
            </a:r>
          </a:p>
        </p:txBody>
      </p:sp>
      <p:sp>
        <p:nvSpPr>
          <p:cNvPr id="11" name="TextBox 10"/>
          <p:cNvSpPr txBox="1"/>
          <p:nvPr/>
        </p:nvSpPr>
        <p:spPr>
          <a:xfrm>
            <a:off x="905256"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SSD만으로는 3 근처에 머문 지표</a:t>
            </a:r>
          </a:p>
        </p:txBody>
      </p:sp>
      <p:sp>
        <p:nvSpPr>
          <p:cNvPr id="12" name="Rectangle 11"/>
          <p:cNvSpPr/>
          <p:nvPr/>
        </p:nvSpPr>
        <p:spPr>
          <a:xfrm>
            <a:off x="996696"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4" name="TextBox 13"/>
          <p:cNvSpPr txBox="1"/>
          <p:nvPr/>
        </p:nvSpPr>
        <p:spPr>
          <a:xfrm>
            <a:off x="768096"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5" name="Rectangle 14"/>
          <p:cNvSpPr/>
          <p:nvPr/>
        </p:nvSpPr>
        <p:spPr>
          <a:xfrm>
            <a:off x="1837944" y="4283140"/>
            <a:ext cx="603504" cy="2339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3972244"/>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 name="TextBox 16"/>
          <p:cNvSpPr txBox="1"/>
          <p:nvPr/>
        </p:nvSpPr>
        <p:spPr>
          <a:xfrm>
            <a:off x="1609344"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8" name="TextBox 17"/>
          <p:cNvSpPr txBox="1"/>
          <p:nvPr/>
        </p:nvSpPr>
        <p:spPr>
          <a:xfrm>
            <a:off x="2642616"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−68%</a:t>
            </a:r>
          </a:p>
        </p:txBody>
      </p:sp>
      <p:sp>
        <p:nvSpPr>
          <p:cNvPr id="19" name="TextBox 18"/>
          <p:cNvSpPr txBox="1"/>
          <p:nvPr/>
        </p:nvSpPr>
        <p:spPr>
          <a:xfrm>
            <a:off x="2642616"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20" name="Rounded Rectangle 19"/>
          <p:cNvSpPr/>
          <p:nvPr/>
        </p:nvSpPr>
        <p:spPr>
          <a:xfrm>
            <a:off x="4718304"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4"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p99.9 꼬리 지연</a:t>
            </a:r>
          </a:p>
        </p:txBody>
      </p:sp>
      <p:sp>
        <p:nvSpPr>
          <p:cNvPr id="22" name="TextBox 21"/>
          <p:cNvSpPr txBox="1"/>
          <p:nvPr/>
        </p:nvSpPr>
        <p:spPr>
          <a:xfrm>
            <a:off x="4901184"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23" name="Rectangle 22"/>
          <p:cNvSpPr/>
          <p:nvPr/>
        </p:nvSpPr>
        <p:spPr>
          <a:xfrm>
            <a:off x="4992624"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9744"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25" name="TextBox 24"/>
          <p:cNvSpPr txBox="1"/>
          <p:nvPr/>
        </p:nvSpPr>
        <p:spPr>
          <a:xfrm>
            <a:off x="4764024"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26" name="Rectangle 25"/>
          <p:cNvSpPr/>
          <p:nvPr/>
        </p:nvSpPr>
        <p:spPr>
          <a:xfrm>
            <a:off x="5833872" y="4187951"/>
            <a:ext cx="60350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50992" y="3877055"/>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28" name="TextBox 27"/>
          <p:cNvSpPr txBox="1"/>
          <p:nvPr/>
        </p:nvSpPr>
        <p:spPr>
          <a:xfrm>
            <a:off x="5605272"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29" name="TextBox 28"/>
          <p:cNvSpPr txBox="1"/>
          <p:nvPr/>
        </p:nvSpPr>
        <p:spPr>
          <a:xfrm>
            <a:off x="6638544"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−55%</a:t>
            </a:r>
          </a:p>
        </p:txBody>
      </p:sp>
      <p:sp>
        <p:nvSpPr>
          <p:cNvPr id="30" name="TextBox 29"/>
          <p:cNvSpPr txBox="1"/>
          <p:nvPr/>
        </p:nvSpPr>
        <p:spPr>
          <a:xfrm>
            <a:off x="6638544"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31" name="Rounded Rectangle 30">
            <a:hlinkClick action="ppaction://hlinksldjump" r:id="rId8"/>
          </p:cNvPr>
          <p:cNvSpPr/>
          <p:nvPr/>
        </p:nvSpPr>
        <p:spPr>
          <a:xfrm>
            <a:off x="5111495" y="2157984"/>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8"/>
          </p:cNvPr>
          <p:cNvSpPr txBox="1"/>
          <p:nvPr/>
        </p:nvSpPr>
        <p:spPr>
          <a:xfrm>
            <a:off x="5166359" y="2157984"/>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33" name="Oval 32"/>
          <p:cNvSpPr/>
          <p:nvPr/>
        </p:nvSpPr>
        <p:spPr>
          <a:xfrm>
            <a:off x="722376" y="502920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02920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1307592" y="4992624"/>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6" name="Rounded Rectangle 35"/>
          <p:cNvSpPr/>
          <p:nvPr/>
        </p:nvSpPr>
        <p:spPr>
          <a:xfrm>
            <a:off x="722376" y="5577840"/>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0527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8" name="TextBox 37"/>
          <p:cNvSpPr txBox="1"/>
          <p:nvPr/>
        </p:nvSpPr>
        <p:spPr>
          <a:xfrm>
            <a:off x="868680" y="596188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9" name="TextBox 38"/>
          <p:cNvSpPr txBox="1"/>
          <p:nvPr/>
        </p:nvSpPr>
        <p:spPr>
          <a:xfrm>
            <a:off x="3602736" y="5742431"/>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40" name="Rounded Rectangle 39"/>
          <p:cNvSpPr/>
          <p:nvPr/>
        </p:nvSpPr>
        <p:spPr>
          <a:xfrm>
            <a:off x="722376" y="6400800"/>
            <a:ext cx="2788920" cy="749808"/>
          </a:xfrm>
          <a:prstGeom prst="roundRect">
            <a:avLst>
              <a:gd name="adj" fmla="val 97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642823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2" name="TextBox 41"/>
          <p:cNvSpPr txBox="1"/>
          <p:nvPr/>
        </p:nvSpPr>
        <p:spPr>
          <a:xfrm>
            <a:off x="868680" y="678484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3" name="TextBox 42"/>
          <p:cNvSpPr txBox="1"/>
          <p:nvPr/>
        </p:nvSpPr>
        <p:spPr>
          <a:xfrm>
            <a:off x="3602736" y="656539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4" name="Rounded Rectangle 43"/>
          <p:cNvSpPr/>
          <p:nvPr/>
        </p:nvSpPr>
        <p:spPr>
          <a:xfrm>
            <a:off x="722376" y="7223759"/>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725119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46" name="TextBox 45"/>
          <p:cNvSpPr txBox="1"/>
          <p:nvPr/>
        </p:nvSpPr>
        <p:spPr>
          <a:xfrm>
            <a:off x="868680" y="760780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47" name="TextBox 46"/>
          <p:cNvSpPr txBox="1"/>
          <p:nvPr/>
        </p:nvSpPr>
        <p:spPr>
          <a:xfrm>
            <a:off x="3602736" y="738835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48" name="TextBox 47"/>
          <p:cNvSpPr txBox="1"/>
          <p:nvPr/>
        </p:nvSpPr>
        <p:spPr>
          <a:xfrm>
            <a:off x="4846320" y="5541264"/>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49" name="Rectangle 48"/>
          <p:cNvSpPr/>
          <p:nvPr/>
        </p:nvSpPr>
        <p:spPr>
          <a:xfrm>
            <a:off x="5322205"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53290" y="5870448"/>
            <a:ext cx="396571"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463690"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64607" y="6450262"/>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43922" y="6462917"/>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3236" y="6426334"/>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02550" y="6468653"/>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81865" y="6434751"/>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61179" y="6447201"/>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40493" y="6033136"/>
            <a:ext cx="42738" cy="51396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19807" y="6052028"/>
            <a:ext cx="42738" cy="49507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99122" y="6139830"/>
            <a:ext cx="42738" cy="40727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578436" y="5951355"/>
            <a:ext cx="42738" cy="59574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57750" y="6464895"/>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737064" y="6457621"/>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816379" y="6428054"/>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95693" y="6404625"/>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007" y="6431735"/>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54321" y="6444934"/>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33636" y="6402536"/>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212950" y="6470544"/>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92264" y="6411153"/>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371578" y="6126122"/>
            <a:ext cx="42738" cy="4209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50893" y="6084074"/>
            <a:ext cx="42738" cy="46302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30207" y="6116784"/>
            <a:ext cx="42738" cy="43031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609521" y="5999473"/>
            <a:ext cx="42738" cy="5476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688836" y="6022815"/>
            <a:ext cx="42738" cy="52428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768150" y="6469358"/>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847464" y="6469592"/>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26778" y="6458885"/>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06093" y="6424179"/>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085407" y="6442672"/>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64721" y="6450971"/>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244035" y="6431116"/>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323350" y="6440800"/>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02664" y="6452023"/>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481978" y="5984091"/>
            <a:ext cx="42738" cy="56301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61292" y="6015985"/>
            <a:ext cx="42738" cy="53111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640607" y="5938992"/>
            <a:ext cx="42738" cy="60811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719921" y="6089334"/>
            <a:ext cx="42738" cy="45776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99235" y="6402250"/>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78549" y="6465315"/>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57864" y="6443365"/>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037178" y="6418565"/>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116492" y="6462834"/>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195806" y="6438183"/>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75121" y="6471083"/>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354435" y="6425070"/>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433749" y="6418022"/>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846320" y="6547104"/>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846320" y="6675120"/>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00" name="Rectangle 99"/>
          <p:cNvSpPr/>
          <p:nvPr/>
        </p:nvSpPr>
        <p:spPr>
          <a:xfrm>
            <a:off x="6987805" y="7004304"/>
            <a:ext cx="79314"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864607" y="756589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943922" y="754376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5023236" y="758485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102550" y="755694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181865" y="756432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261179" y="756538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5340493" y="757443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419807" y="754636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499122" y="753870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5578436" y="757312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657750" y="755922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737064" y="760336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5816379" y="755649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895693" y="756046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975007" y="753516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054321" y="754768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133636" y="758698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12950" y="757958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92264" y="755889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371578" y="760615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450893" y="757403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30207" y="759551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609521" y="759924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8836" y="760349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768150" y="755161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847464" y="759834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926778" y="758969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06093" y="7498080"/>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085407" y="754406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164721" y="760191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244035" y="757494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323350" y="756761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402664" y="754318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481978" y="754787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561292" y="754460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640607" y="758744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719921" y="757742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99235" y="758156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8549" y="754312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957864" y="753774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037178" y="759676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116492" y="759491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195806" y="759083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275121" y="759073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8354435" y="757233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8433749" y="756471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4846320" y="7680960"/>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846320" y="7772400"/>
            <a:ext cx="3648455"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a:t>
            </a:r>
            <a:r>
              <a:rPr sz="1700" b="1">
                <a:solidFill>
                  <a:srgbClr val="1428A0"/>
                </a:solidFill>
                <a:latin typeface="Arial"/>
                <a:ea typeface="Arial"/>
              </a:rPr>
              <a:t>2.22 → 0.03</a:t>
            </a:r>
          </a:p>
        </p:txBody>
      </p:sp>
      <p:sp>
        <p:nvSpPr>
          <p:cNvPr id="149" name="Oval 148"/>
          <p:cNvSpPr/>
          <p:nvPr/>
        </p:nvSpPr>
        <p:spPr>
          <a:xfrm>
            <a:off x="886053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86053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51" name="TextBox 150"/>
          <p:cNvSpPr txBox="1"/>
          <p:nvPr/>
        </p:nvSpPr>
        <p:spPr>
          <a:xfrm>
            <a:off x="9445752" y="2066543"/>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제품 포트폴리오가 넓어진다</a:t>
            </a:r>
          </a:p>
        </p:txBody>
      </p:sp>
      <p:pic>
        <p:nvPicPr>
          <p:cNvPr id="152" name="Picture 151" descr="portfolio_3d.png"/>
          <p:cNvPicPr>
            <a:picLocks noChangeAspect="1"/>
          </p:cNvPicPr>
          <p:nvPr/>
        </p:nvPicPr>
        <p:blipFill>
          <a:blip r:embed="rId2"/>
          <a:stretch>
            <a:fillRect/>
          </a:stretch>
        </p:blipFill>
        <p:spPr>
          <a:xfrm>
            <a:off x="8769096" y="2706624"/>
            <a:ext cx="6419088" cy="5419461"/>
          </a:xfrm>
          <a:prstGeom prst="rect">
            <a:avLst/>
          </a:prstGeom>
        </p:spPr>
      </p:pic>
      <p:sp>
        <p:nvSpPr>
          <p:cNvPr id="153" name="TextBox 152"/>
          <p:cNvSpPr txBox="1"/>
          <p:nvPr/>
        </p:nvSpPr>
        <p:spPr>
          <a:xfrm>
            <a:off x="8769096" y="2615184"/>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54" name="Rounded Rectangle 153"/>
          <p:cNvSpPr/>
          <p:nvPr/>
        </p:nvSpPr>
        <p:spPr>
          <a:xfrm>
            <a:off x="15279624" y="2761488"/>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15371064" y="2852928"/>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371064" y="2852928"/>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a:t>
            </a:r>
          </a:p>
        </p:txBody>
      </p:sp>
      <p:pic>
        <p:nvPicPr>
          <p:cNvPr id="157" name="Picture 156" descr="p_bm1743.png"/>
          <p:cNvPicPr>
            <a:picLocks noChangeAspect="1"/>
          </p:cNvPicPr>
          <p:nvPr/>
        </p:nvPicPr>
        <p:blipFill>
          <a:blip r:embed="rId3"/>
          <a:stretch>
            <a:fillRect/>
          </a:stretch>
        </p:blipFill>
        <p:spPr>
          <a:xfrm>
            <a:off x="16241725" y="2798064"/>
            <a:ext cx="818997" cy="566928"/>
          </a:xfrm>
          <a:prstGeom prst="rect">
            <a:avLst/>
          </a:prstGeom>
        </p:spPr>
      </p:pic>
      <p:sp>
        <p:nvSpPr>
          <p:cNvPr id="158" name="TextBox 157"/>
          <p:cNvSpPr txBox="1"/>
          <p:nvPr/>
        </p:nvSpPr>
        <p:spPr>
          <a:xfrm>
            <a:off x="15371064" y="3364991"/>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59" name="TextBox 158"/>
          <p:cNvSpPr txBox="1"/>
          <p:nvPr/>
        </p:nvSpPr>
        <p:spPr>
          <a:xfrm>
            <a:off x="15371064" y="3621024"/>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0.3 → 1 DWPD</a:t>
            </a:r>
          </a:p>
        </p:txBody>
      </p:sp>
      <p:sp>
        <p:nvSpPr>
          <p:cNvPr id="160" name="TextBox 159"/>
          <p:cNvSpPr txBox="1"/>
          <p:nvPr/>
        </p:nvSpPr>
        <p:spPr>
          <a:xfrm>
            <a:off x="15371064" y="3858768"/>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61" name="Oval 160"/>
          <p:cNvSpPr/>
          <p:nvPr/>
        </p:nvSpPr>
        <p:spPr>
          <a:xfrm>
            <a:off x="10749651" y="3918179"/>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0749651" y="3918179"/>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63" name="Rounded Rectangle 162"/>
          <p:cNvSpPr/>
          <p:nvPr/>
        </p:nvSpPr>
        <p:spPr>
          <a:xfrm>
            <a:off x="15279624" y="4206240"/>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15371064" y="4297680"/>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5371064" y="4297680"/>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a:t>
            </a:r>
          </a:p>
        </p:txBody>
      </p:sp>
      <p:pic>
        <p:nvPicPr>
          <p:cNvPr id="166" name="Picture 165" descr="p_pm1753.png"/>
          <p:cNvPicPr>
            <a:picLocks noChangeAspect="1"/>
          </p:cNvPicPr>
          <p:nvPr/>
        </p:nvPicPr>
        <p:blipFill>
          <a:blip r:embed="rId4"/>
          <a:stretch>
            <a:fillRect/>
          </a:stretch>
        </p:blipFill>
        <p:spPr>
          <a:xfrm>
            <a:off x="16264682" y="4242816"/>
            <a:ext cx="773083" cy="566928"/>
          </a:xfrm>
          <a:prstGeom prst="rect">
            <a:avLst/>
          </a:prstGeom>
        </p:spPr>
      </p:pic>
      <p:sp>
        <p:nvSpPr>
          <p:cNvPr id="167" name="TextBox 166"/>
          <p:cNvSpPr txBox="1"/>
          <p:nvPr/>
        </p:nvSpPr>
        <p:spPr>
          <a:xfrm>
            <a:off x="15371064" y="4809744"/>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168" name="TextBox 167"/>
          <p:cNvSpPr txBox="1"/>
          <p:nvPr/>
        </p:nvSpPr>
        <p:spPr>
          <a:xfrm>
            <a:off x="15371064" y="5065776"/>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 → 3 DWPD</a:t>
            </a:r>
          </a:p>
        </p:txBody>
      </p:sp>
      <p:sp>
        <p:nvSpPr>
          <p:cNvPr id="169" name="TextBox 168"/>
          <p:cNvSpPr txBox="1"/>
          <p:nvPr/>
        </p:nvSpPr>
        <p:spPr>
          <a:xfrm>
            <a:off x="15371064" y="5303520"/>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170" name="Oval 169"/>
          <p:cNvSpPr/>
          <p:nvPr/>
        </p:nvSpPr>
        <p:spPr>
          <a:xfrm>
            <a:off x="11059498" y="4307117"/>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1059498" y="43071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72" name="Rounded Rectangle 171"/>
          <p:cNvSpPr/>
          <p:nvPr/>
        </p:nvSpPr>
        <p:spPr>
          <a:xfrm>
            <a:off x="15279624" y="5650992"/>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15371064" y="5742432"/>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371064" y="5742432"/>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a:t>
            </a:r>
          </a:p>
        </p:txBody>
      </p:sp>
      <p:pic>
        <p:nvPicPr>
          <p:cNvPr id="175" name="Picture 174" descr="p_pm1755.png"/>
          <p:cNvPicPr>
            <a:picLocks noChangeAspect="1"/>
          </p:cNvPicPr>
          <p:nvPr/>
        </p:nvPicPr>
        <p:blipFill>
          <a:blip r:embed="rId5"/>
          <a:stretch>
            <a:fillRect/>
          </a:stretch>
        </p:blipFill>
        <p:spPr>
          <a:xfrm>
            <a:off x="16264682" y="5687568"/>
            <a:ext cx="773083" cy="566928"/>
          </a:xfrm>
          <a:prstGeom prst="rect">
            <a:avLst/>
          </a:prstGeom>
        </p:spPr>
      </p:pic>
      <p:sp>
        <p:nvSpPr>
          <p:cNvPr id="176" name="TextBox 175"/>
          <p:cNvSpPr txBox="1"/>
          <p:nvPr/>
        </p:nvSpPr>
        <p:spPr>
          <a:xfrm>
            <a:off x="15371064" y="6254496"/>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177" name="TextBox 176"/>
          <p:cNvSpPr txBox="1"/>
          <p:nvPr/>
        </p:nvSpPr>
        <p:spPr>
          <a:xfrm>
            <a:off x="15371064" y="6510528"/>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 → 9 DWPD</a:t>
            </a:r>
          </a:p>
        </p:txBody>
      </p:sp>
      <p:sp>
        <p:nvSpPr>
          <p:cNvPr id="178" name="TextBox 177"/>
          <p:cNvSpPr txBox="1"/>
          <p:nvPr/>
        </p:nvSpPr>
        <p:spPr>
          <a:xfrm>
            <a:off x="15371064" y="6748272"/>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179" name="Oval 178"/>
          <p:cNvSpPr/>
          <p:nvPr/>
        </p:nvSpPr>
        <p:spPr>
          <a:xfrm>
            <a:off x="11376316" y="4947306"/>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376316" y="4947306"/>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81" name="Rounded Rectangle 180"/>
          <p:cNvSpPr/>
          <p:nvPr/>
        </p:nvSpPr>
        <p:spPr>
          <a:xfrm>
            <a:off x="15279624" y="7095744"/>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15371064" y="7187184"/>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5371064" y="7187184"/>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4</a:t>
            </a:r>
          </a:p>
        </p:txBody>
      </p:sp>
      <p:pic>
        <p:nvPicPr>
          <p:cNvPr id="184" name="Picture 183" descr="p_zssd.png"/>
          <p:cNvPicPr>
            <a:picLocks noChangeAspect="1"/>
          </p:cNvPicPr>
          <p:nvPr/>
        </p:nvPicPr>
        <p:blipFill>
          <a:blip r:embed="rId6"/>
          <a:stretch>
            <a:fillRect/>
          </a:stretch>
        </p:blipFill>
        <p:spPr>
          <a:xfrm>
            <a:off x="16180527" y="7132320"/>
            <a:ext cx="941393" cy="566928"/>
          </a:xfrm>
          <a:prstGeom prst="rect">
            <a:avLst/>
          </a:prstGeom>
        </p:spPr>
      </p:pic>
      <p:sp>
        <p:nvSpPr>
          <p:cNvPr id="185" name="TextBox 184"/>
          <p:cNvSpPr txBox="1"/>
          <p:nvPr/>
        </p:nvSpPr>
        <p:spPr>
          <a:xfrm>
            <a:off x="15371064" y="7699248"/>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186" name="TextBox 185"/>
          <p:cNvSpPr txBox="1"/>
          <p:nvPr/>
        </p:nvSpPr>
        <p:spPr>
          <a:xfrm>
            <a:off x="15371064" y="7955280"/>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30 → 100 DWPD</a:t>
            </a:r>
          </a:p>
        </p:txBody>
      </p:sp>
      <p:sp>
        <p:nvSpPr>
          <p:cNvPr id="187" name="TextBox 186"/>
          <p:cNvSpPr txBox="1"/>
          <p:nvPr/>
        </p:nvSpPr>
        <p:spPr>
          <a:xfrm>
            <a:off x="15371064" y="8193024"/>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188" name="Oval 187"/>
          <p:cNvSpPr/>
          <p:nvPr/>
        </p:nvSpPr>
        <p:spPr>
          <a:xfrm>
            <a:off x="12421232" y="5627161"/>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2421232" y="562716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190" name="TextBox 189"/>
          <p:cNvSpPr txBox="1"/>
          <p:nvPr/>
        </p:nvSpPr>
        <p:spPr>
          <a:xfrm>
            <a:off x="11146536" y="2615184"/>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191" name="Rectangle 190"/>
          <p:cNvSpPr/>
          <p:nvPr/>
        </p:nvSpPr>
        <p:spPr>
          <a:xfrm>
            <a:off x="11878056" y="2660903"/>
            <a:ext cx="274320" cy="182880"/>
          </a:xfrm>
          <a:prstGeom prst="rect">
            <a:avLst/>
          </a:prstGeom>
          <a:solidFill>
            <a:srgbClr val="E8ECF8"/>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2207240" y="261518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가중치 · RAG</a:t>
            </a:r>
          </a:p>
        </p:txBody>
      </p:sp>
      <p:sp>
        <p:nvSpPr>
          <p:cNvPr id="193" name="Rectangle 192"/>
          <p:cNvSpPr/>
          <p:nvPr/>
        </p:nvSpPr>
        <p:spPr>
          <a:xfrm>
            <a:off x="11878056" y="2935223"/>
            <a:ext cx="274320" cy="182880"/>
          </a:xfrm>
          <a:prstGeom prst="rect">
            <a:avLst/>
          </a:prstGeom>
          <a:solidFill>
            <a:srgbClr val="D3DBF4"/>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12207240" y="2889503"/>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KV 오프로드</a:t>
            </a:r>
          </a:p>
        </p:txBody>
      </p:sp>
      <p:sp>
        <p:nvSpPr>
          <p:cNvPr id="195" name="Rectangle 194"/>
          <p:cNvSpPr/>
          <p:nvPr/>
        </p:nvSpPr>
        <p:spPr>
          <a:xfrm>
            <a:off x="11878056" y="3209544"/>
            <a:ext cx="274320" cy="182880"/>
          </a:xfrm>
          <a:prstGeom prst="rect">
            <a:avLst/>
          </a:prstGeom>
          <a:solidFill>
            <a:srgbClr val="C2CDF0"/>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2207240" y="316382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초고DWPD KV</a:t>
            </a:r>
          </a:p>
        </p:txBody>
      </p:sp>
      <p:sp>
        <p:nvSpPr>
          <p:cNvPr id="197" name="Rectangle 19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99" name="TextBox 19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어떤 AI 추론 수요가 새로 나와도, 공동 설계 기술이 빠르게 진입할 기술적 기반이 됩니다</a:t>
            </a:r>
          </a:p>
        </p:txBody>
      </p:sp>
      <p:sp>
        <p:nvSpPr>
          <p:cNvPr id="200" name="TextBox 19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제품 이미지는 형태 재현</a:t>
            </a:r>
          </a:p>
        </p:txBody>
      </p:sp>
      <p:sp>
        <p:nvSpPr>
          <p:cNvPr id="201" name="TextBox 20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