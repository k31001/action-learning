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7장에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어느 단계까지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고용량 QLC에는 여섯 가지 중 다섯 가지가 걸립니다. 오른쪽은 고객 협력을 두 단계로 나눈 것입니다. 첫째 단계는 고객 시스템 개발입니다. 고객이 자기 시스템에 기능을 넣어야 쓸 수 있지만, 넣고 나면 스펙으로 닫힙니다. Confidential Storage는 고객의 하이퍼바이저, 키 관리, 증명 서비스와 연동해야 하고, 인터페이스는 SPDM, TDISP, L.O.C.K. 표준이 정합니다. Large Mapping은 고객이 쓰기 크기를 매핑 단위에 맞춰야 하고, Multi-Tenant QoS는 고객이 테넌트를 네임스페이스에 나눠 싣고 지연 목표를 줍니다. 둘째 단계는 최적화까지 함께 하는 것입니다. 고객이 개발한 뒤에도, 고객 워크로드에서 양쪽 정책을 함께 맞춰야 효과가 납니다. Mixed Media는 고객 소프트웨어가 작은 쓰기를 pSLC에 모아 내려야 하고, pSLC 비율과 내림 정책이 고객의 쓰기 몰림에 맞아야 WAF가 내려갑니다. pSLC 비율은 출하 시 정해지므로 배치마다 고객 워크로드를 보고 함께 정합니다. 다만 변수가 적어 한 번 맞추면 되므로 단기에 실행할 수 있습니다. FDP는 고객 소프트웨어의 수명 분류와 SSD의 RU 크기, GC 정책이 맞물릴 때만 효과가 납니다. FAST'26의 WARP 연구에서는 같은 FDP 지원 드라이브, 같은 워크로드에서 한 장치는 WAF가 1 근처를 지켰고 다른 장치는 무너졌습니다. 그래서 고객 워크로드 안에서 반복해 함께 튜닝해야 하고, 중장기 과제입니다. CacheLib이 WAF를 3.22에서 1.03으로 낮춘 결과도 삼성 엔지니어가 Meta의 오픈소스 CacheLib 안에 들어가 구현하고 Meta가 받아들인 결과였습니다. 정리하면, 고객 시스템 개발부터 최적화까지 단계는 달라도, 핵심 기술을 제대로 확보하려면 고객과의 협력이 필수입니다. 협력 단계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이 전략에서 사업적으로 가장 큰 기회입니다.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두 번째 사업 기회인 보안입니다. 2장에서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7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4" name="TextBox 133"/>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5" name="Rectangle 134"/>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7" name="Rectangle 136"/>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9" name="Rectangle 138"/>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1" name="TextBox 140"/>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2" name="TextBox 141"/>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3" name="Rectangle 142"/>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5" name="Rectangle 144"/>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7" name="Rectangle 146"/>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9" name="TextBox 148"/>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50" name="TextBox 149"/>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1" name="TextBox 150"/>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2" name="Rounded Rectangle 151"/>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4" name="TextBox 153"/>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5" name="Rectangle 154"/>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8" name="Rounded Rectangle 157"/>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2" name="Rounded Rectangle 161"/>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5" name="TextBox 164"/>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6" name="Rectangle 165"/>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8" name="Rounded Rectangle 167"/>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1" name="Rounded Rectangle 170"/>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3" name="Rounded Rectangle 172"/>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ounded Rectangle 173"/>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6" name="TextBox 175"/>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7" name="Rectangle 176"/>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9" name="Rounded Rectangle 178"/>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1" name="Rounded Rectangle 180"/>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3" name="Rounded Rectangle 182"/>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5" name="Rounded Rectangle 184"/>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7" name="Rounded Rectangle 186"/>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9" name="TextBox 188"/>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90" name="Rectangle 189"/>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3" name="Rounded Rectangle 192"/>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5" name="Rounded Rectangle 194"/>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7" name="Rounded Rectangle 196"/>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9" name="Rounded Rectangle 198"/>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7장)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7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고객 시스템 개발이 필요하고,</a:t>
            </a:r>
          </a:p>
          <a:p>
            <a:pPr algn="l">
              <a:lnSpc>
                <a:spcPct val="105000"/>
              </a:lnSpc>
            </a:pPr>
            <a:r>
              <a:rPr sz="3200" b="1">
                <a:solidFill>
                  <a:srgbClr val="1A1A1A"/>
                </a:solidFill>
                <a:latin typeface="Arial"/>
                <a:ea typeface="Arial"/>
              </a:rPr>
              <a:t>Mixed Media와 FDP는 고객과 최적화까지 함께 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 협력의 두 단계  </a:t>
            </a:r>
            <a:r>
              <a:rPr sz="1800" b="1">
                <a:solidFill>
                  <a:srgbClr val="1428A0"/>
                </a:solidFill>
                <a:latin typeface="Arial"/>
                <a:ea typeface="Arial"/>
              </a:rPr>
              <a:t>6개 중 5개가 고객 협력 필요</a:t>
            </a:r>
          </a:p>
        </p:txBody>
      </p:sp>
      <p:sp>
        <p:nvSpPr>
          <p:cNvPr id="44" name="Rectangle 43"/>
          <p:cNvSpPr/>
          <p:nvPr/>
        </p:nvSpPr>
        <p:spPr>
          <a:xfrm>
            <a:off x="10963655" y="3163824"/>
            <a:ext cx="868679" cy="45354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63655" y="2615184"/>
            <a:ext cx="868679" cy="530352"/>
          </a:xfrm>
          <a:prstGeom prst="rect">
            <a:avLst/>
          </a:prstGeom>
          <a:noFill/>
        </p:spPr>
        <p:txBody>
          <a:bodyPr wrap="square" anchor="ctr" lIns="0" rIns="0" tIns="0" bIns="0">
            <a:spAutoFit/>
          </a:bodyPr>
          <a:lstStyle/>
          <a:p>
            <a:pPr algn="ctr">
              <a:lnSpc>
                <a:spcPct val="100000"/>
              </a:lnSpc>
            </a:pPr>
            <a:r>
              <a:rPr sz="1500" b="1">
                <a:solidFill>
                  <a:srgbClr val="555555"/>
                </a:solidFill>
                <a:latin typeface="Arial"/>
                <a:ea typeface="Arial"/>
              </a:rPr>
              <a:t>SSD</a:t>
            </a:r>
          </a:p>
          <a:p>
            <a:pPr algn="ctr">
              <a:lnSpc>
                <a:spcPct val="100000"/>
              </a:lnSpc>
            </a:pPr>
            <a:r>
              <a:rPr sz="1500" b="1">
                <a:solidFill>
                  <a:srgbClr val="555555"/>
                </a:solidFill>
                <a:latin typeface="Arial"/>
                <a:ea typeface="Arial"/>
              </a:rPr>
              <a:t>안에서</a:t>
            </a:r>
          </a:p>
        </p:txBody>
      </p:sp>
      <p:sp>
        <p:nvSpPr>
          <p:cNvPr id="46" name="Rectangle 45"/>
          <p:cNvSpPr/>
          <p:nvPr/>
        </p:nvSpPr>
        <p:spPr>
          <a:xfrm>
            <a:off x="11832335" y="3163824"/>
            <a:ext cx="3154679" cy="4535424"/>
          </a:xfrm>
          <a:prstGeom prst="rect">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832335" y="2615184"/>
            <a:ext cx="3154679" cy="530352"/>
          </a:xfrm>
          <a:prstGeom prst="rect">
            <a:avLst/>
          </a:prstGeom>
          <a:noFill/>
        </p:spPr>
        <p:txBody>
          <a:bodyPr wrap="square" anchor="ctr" lIns="0" rIns="0" tIns="0" bIns="0">
            <a:spAutoFit/>
          </a:bodyPr>
          <a:lstStyle/>
          <a:p>
            <a:pPr algn="ctr">
              <a:lnSpc>
                <a:spcPct val="100000"/>
              </a:lnSpc>
            </a:pPr>
            <a:r>
              <a:rPr sz="1500" b="1">
                <a:solidFill>
                  <a:srgbClr val="3C5AC8"/>
                </a:solidFill>
                <a:latin typeface="Arial"/>
                <a:ea typeface="Arial"/>
              </a:rPr>
              <a:t>① 고객 시스템</a:t>
            </a:r>
          </a:p>
          <a:p>
            <a:pPr algn="ctr">
              <a:lnSpc>
                <a:spcPct val="100000"/>
              </a:lnSpc>
            </a:pPr>
            <a:r>
              <a:rPr sz="1500" b="1">
                <a:solidFill>
                  <a:srgbClr val="3C5AC8"/>
                </a:solidFill>
                <a:latin typeface="Arial"/>
                <a:ea typeface="Arial"/>
              </a:rPr>
              <a:t>개발</a:t>
            </a:r>
          </a:p>
        </p:txBody>
      </p:sp>
      <p:sp>
        <p:nvSpPr>
          <p:cNvPr id="48" name="Rectangle 47"/>
          <p:cNvSpPr/>
          <p:nvPr/>
        </p:nvSpPr>
        <p:spPr>
          <a:xfrm>
            <a:off x="14987015" y="3163824"/>
            <a:ext cx="2578608" cy="453542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987015" y="2615184"/>
            <a:ext cx="2578608" cy="530352"/>
          </a:xfrm>
          <a:prstGeom prst="rect">
            <a:avLst/>
          </a:prstGeom>
          <a:noFill/>
        </p:spPr>
        <p:txBody>
          <a:bodyPr wrap="square" anchor="ctr" lIns="0" rIns="0" tIns="0" bIns="0">
            <a:spAutoFit/>
          </a:bodyPr>
          <a:lstStyle/>
          <a:p>
            <a:pPr algn="ctr">
              <a:lnSpc>
                <a:spcPct val="100000"/>
              </a:lnSpc>
            </a:pPr>
            <a:r>
              <a:rPr sz="1500" b="1">
                <a:solidFill>
                  <a:srgbClr val="1428A0"/>
                </a:solidFill>
                <a:latin typeface="Arial"/>
                <a:ea typeface="Arial"/>
              </a:rPr>
              <a:t>② 최적화까지</a:t>
            </a:r>
          </a:p>
          <a:p>
            <a:pPr algn="ctr">
              <a:lnSpc>
                <a:spcPct val="100000"/>
              </a:lnSpc>
            </a:pPr>
            <a:r>
              <a:rPr sz="1500" b="1">
                <a:solidFill>
                  <a:srgbClr val="1428A0"/>
                </a:solidFill>
                <a:latin typeface="Arial"/>
                <a:ea typeface="Arial"/>
              </a:rPr>
              <a:t>함께</a:t>
            </a:r>
          </a:p>
        </p:txBody>
      </p:sp>
      <p:sp>
        <p:nvSpPr>
          <p:cNvPr id="50" name="TextBox 49"/>
          <p:cNvSpPr txBox="1"/>
          <p:nvPr/>
        </p:nvSpPr>
        <p:spPr>
          <a:xfrm>
            <a:off x="8174736" y="3200400"/>
            <a:ext cx="2697479" cy="384048"/>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FDP</a:t>
            </a:r>
          </a:p>
        </p:txBody>
      </p:sp>
      <p:sp>
        <p:nvSpPr>
          <p:cNvPr id="51" name="TextBox 50"/>
          <p:cNvSpPr txBox="1"/>
          <p:nvPr/>
        </p:nvSpPr>
        <p:spPr>
          <a:xfrm>
            <a:off x="8174736" y="3566160"/>
            <a:ext cx="26974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CacheLib WAF 3.22 → 1.03</a:t>
            </a:r>
          </a:p>
        </p:txBody>
      </p:sp>
      <p:sp>
        <p:nvSpPr>
          <p:cNvPr id="52" name="Rectangle 51"/>
          <p:cNvSpPr/>
          <p:nvPr/>
        </p:nvSpPr>
        <p:spPr>
          <a:xfrm>
            <a:off x="10963655" y="3300984"/>
            <a:ext cx="4023359" cy="4815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942063" y="3300984"/>
            <a:ext cx="2971800" cy="481583"/>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수명 분류 · 배치 핸들</a:t>
            </a:r>
          </a:p>
        </p:txBody>
      </p:sp>
      <p:sp>
        <p:nvSpPr>
          <p:cNvPr id="54" name="Rectangle 53"/>
          <p:cNvSpPr/>
          <p:nvPr/>
        </p:nvSpPr>
        <p:spPr>
          <a:xfrm>
            <a:off x="14987015" y="3300984"/>
            <a:ext cx="2578608" cy="4815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4977871" y="3374136"/>
            <a:ext cx="18288" cy="33527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5096743" y="3300984"/>
            <a:ext cx="2414016" cy="481583"/>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RU · RUH · GC 반복 튜닝</a:t>
            </a:r>
          </a:p>
        </p:txBody>
      </p:sp>
      <p:sp>
        <p:nvSpPr>
          <p:cNvPr id="57" name="Rectangle 56"/>
          <p:cNvSpPr/>
          <p:nvPr/>
        </p:nvSpPr>
        <p:spPr>
          <a:xfrm>
            <a:off x="8174736" y="3914241"/>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74736" y="3956304"/>
            <a:ext cx="2697479" cy="384048"/>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Mixed Media</a:t>
            </a:r>
          </a:p>
        </p:txBody>
      </p:sp>
      <p:sp>
        <p:nvSpPr>
          <p:cNvPr id="59" name="TextBox 58"/>
          <p:cNvSpPr txBox="1"/>
          <p:nvPr/>
        </p:nvSpPr>
        <p:spPr>
          <a:xfrm>
            <a:off x="8174736" y="4322064"/>
            <a:ext cx="26974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4KB 쓰기 WAF 70+ → 1.02</a:t>
            </a:r>
          </a:p>
        </p:txBody>
      </p:sp>
      <p:sp>
        <p:nvSpPr>
          <p:cNvPr id="60" name="Rectangle 59"/>
          <p:cNvSpPr/>
          <p:nvPr/>
        </p:nvSpPr>
        <p:spPr>
          <a:xfrm>
            <a:off x="10963655" y="4056888"/>
            <a:ext cx="4023359" cy="4815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942063" y="4056888"/>
            <a:ext cx="2971800" cy="481583"/>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pSLC · QLC 모아쓰기</a:t>
            </a:r>
          </a:p>
        </p:txBody>
      </p:sp>
      <p:sp>
        <p:nvSpPr>
          <p:cNvPr id="62" name="Rectangle 61"/>
          <p:cNvSpPr/>
          <p:nvPr/>
        </p:nvSpPr>
        <p:spPr>
          <a:xfrm>
            <a:off x="14987015" y="4056888"/>
            <a:ext cx="2062886" cy="4815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4977871" y="4130040"/>
            <a:ext cx="18288" cy="33527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5096743" y="4056888"/>
            <a:ext cx="1898294" cy="481583"/>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pSLC 비율 · 내림</a:t>
            </a:r>
          </a:p>
        </p:txBody>
      </p:sp>
      <p:sp>
        <p:nvSpPr>
          <p:cNvPr id="65" name="Rectangle 64"/>
          <p:cNvSpPr/>
          <p:nvPr/>
        </p:nvSpPr>
        <p:spPr>
          <a:xfrm>
            <a:off x="8174736" y="4670145"/>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74736" y="4712208"/>
            <a:ext cx="26974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Confidential Storage</a:t>
            </a:r>
          </a:p>
        </p:txBody>
      </p:sp>
      <p:sp>
        <p:nvSpPr>
          <p:cNvPr id="67" name="TextBox 66"/>
          <p:cNvSpPr txBox="1"/>
          <p:nvPr/>
        </p:nvSpPr>
        <p:spPr>
          <a:xfrm>
            <a:off x="8174736" y="5077968"/>
            <a:ext cx="26974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SPDM · TDISP · L.O.C.K.</a:t>
            </a:r>
          </a:p>
        </p:txBody>
      </p:sp>
      <p:sp>
        <p:nvSpPr>
          <p:cNvPr id="68" name="Rectangle 67"/>
          <p:cNvSpPr/>
          <p:nvPr/>
        </p:nvSpPr>
        <p:spPr>
          <a:xfrm>
            <a:off x="10963655" y="4812792"/>
            <a:ext cx="4023359" cy="48158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942063" y="4812792"/>
            <a:ext cx="2971800" cy="481583"/>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기밀 VM · 키 · 증명 연동</a:t>
            </a:r>
          </a:p>
        </p:txBody>
      </p:sp>
      <p:sp>
        <p:nvSpPr>
          <p:cNvPr id="70" name="Rectangle 69"/>
          <p:cNvSpPr/>
          <p:nvPr/>
        </p:nvSpPr>
        <p:spPr>
          <a:xfrm>
            <a:off x="8174736" y="5426049"/>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74736" y="5468112"/>
            <a:ext cx="26974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Large Mapping</a:t>
            </a:r>
          </a:p>
        </p:txBody>
      </p:sp>
      <p:sp>
        <p:nvSpPr>
          <p:cNvPr id="72" name="TextBox 71"/>
          <p:cNvSpPr txBox="1"/>
          <p:nvPr/>
        </p:nvSpPr>
        <p:spPr>
          <a:xfrm>
            <a:off x="8174736" y="5833872"/>
            <a:ext cx="26974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IU 4KB → 16~64KB</a:t>
            </a:r>
          </a:p>
        </p:txBody>
      </p:sp>
      <p:sp>
        <p:nvSpPr>
          <p:cNvPr id="73" name="Rectangle 72"/>
          <p:cNvSpPr/>
          <p:nvPr/>
        </p:nvSpPr>
        <p:spPr>
          <a:xfrm>
            <a:off x="10963655" y="5568696"/>
            <a:ext cx="4023359" cy="48158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942063" y="5568696"/>
            <a:ext cx="2971800" cy="481583"/>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쓰기 크기 · IU 정렬</a:t>
            </a:r>
          </a:p>
        </p:txBody>
      </p:sp>
      <p:sp>
        <p:nvSpPr>
          <p:cNvPr id="75" name="Rectangle 74"/>
          <p:cNvSpPr/>
          <p:nvPr/>
        </p:nvSpPr>
        <p:spPr>
          <a:xfrm>
            <a:off x="8174736" y="6181953"/>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74736" y="6224016"/>
            <a:ext cx="26974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Multi-Tenant QoS</a:t>
            </a:r>
          </a:p>
        </p:txBody>
      </p:sp>
      <p:sp>
        <p:nvSpPr>
          <p:cNvPr id="77" name="TextBox 76"/>
          <p:cNvSpPr txBox="1"/>
          <p:nvPr/>
        </p:nvSpPr>
        <p:spPr>
          <a:xfrm>
            <a:off x="8174736" y="6589776"/>
            <a:ext cx="26974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NVM Set · 지연 목표</a:t>
            </a:r>
          </a:p>
        </p:txBody>
      </p:sp>
      <p:sp>
        <p:nvSpPr>
          <p:cNvPr id="78" name="Rectangle 77"/>
          <p:cNvSpPr/>
          <p:nvPr/>
        </p:nvSpPr>
        <p:spPr>
          <a:xfrm>
            <a:off x="10963655" y="6324600"/>
            <a:ext cx="4023359" cy="48158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942063" y="6324600"/>
            <a:ext cx="2971800" cy="481583"/>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테넌트 → 네임스페이스</a:t>
            </a:r>
          </a:p>
        </p:txBody>
      </p:sp>
      <p:sp>
        <p:nvSpPr>
          <p:cNvPr id="80" name="Rectangle 79"/>
          <p:cNvSpPr/>
          <p:nvPr/>
        </p:nvSpPr>
        <p:spPr>
          <a:xfrm>
            <a:off x="8174736" y="6937857"/>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174736" y="6979920"/>
            <a:ext cx="2697479" cy="384048"/>
          </a:xfrm>
          <a:prstGeom prst="rect">
            <a:avLst/>
          </a:prstGeom>
          <a:noFill/>
        </p:spPr>
        <p:txBody>
          <a:bodyPr wrap="square" anchor="ctr" lIns="0" rIns="0" tIns="0" bIns="0">
            <a:spAutoFit/>
          </a:bodyPr>
          <a:lstStyle/>
          <a:p>
            <a:pPr algn="l">
              <a:lnSpc>
                <a:spcPct val="110000"/>
              </a:lnSpc>
            </a:pPr>
            <a:r>
              <a:rPr sz="1900" b="1">
                <a:solidFill>
                  <a:srgbClr val="555555"/>
                </a:solidFill>
                <a:latin typeface="Arial"/>
                <a:ea typeface="Arial"/>
              </a:rPr>
              <a:t>Fault Tolerant</a:t>
            </a:r>
          </a:p>
        </p:txBody>
      </p:sp>
      <p:sp>
        <p:nvSpPr>
          <p:cNvPr id="82" name="TextBox 81"/>
          <p:cNvSpPr txBox="1"/>
          <p:nvPr/>
        </p:nvSpPr>
        <p:spPr>
          <a:xfrm>
            <a:off x="8174736" y="7345680"/>
            <a:ext cx="2697479"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다이 패리티 · 격리</a:t>
            </a:r>
          </a:p>
        </p:txBody>
      </p:sp>
      <p:sp>
        <p:nvSpPr>
          <p:cNvPr id="83" name="Rectangle 82"/>
          <p:cNvSpPr/>
          <p:nvPr/>
        </p:nvSpPr>
        <p:spPr>
          <a:xfrm>
            <a:off x="10963655" y="7080504"/>
            <a:ext cx="502920" cy="48158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1969495" y="7080504"/>
            <a:ext cx="2971800" cy="481583"/>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고객 협력 없이 SSD 안에서 완결</a:t>
            </a:r>
          </a:p>
        </p:txBody>
      </p:sp>
      <p:sp>
        <p:nvSpPr>
          <p:cNvPr id="85" name="Rectangle 84"/>
          <p:cNvSpPr/>
          <p:nvPr/>
        </p:nvSpPr>
        <p:spPr>
          <a:xfrm>
            <a:off x="7955279" y="3255264"/>
            <a:ext cx="36576" cy="3596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955279" y="3255264"/>
            <a:ext cx="128016"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955279" y="6815328"/>
            <a:ext cx="128016"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832335" y="7754112"/>
            <a:ext cx="5733288" cy="310896"/>
          </a:xfrm>
          <a:prstGeom prst="rect">
            <a:avLst/>
          </a:prstGeom>
          <a:noFill/>
        </p:spPr>
        <p:txBody>
          <a:bodyPr wrap="square" anchor="ctr" lIns="0" rIns="0" tIns="0" bIns="0">
            <a:spAutoFit/>
          </a:bodyPr>
          <a:lstStyle/>
          <a:p>
            <a:pPr algn="r">
              <a:lnSpc>
                <a:spcPct val="110000"/>
              </a:lnSpc>
            </a:pPr>
            <a:r>
              <a:rPr sz="1500" b="1">
                <a:solidFill>
                  <a:srgbClr val="3C5AC8"/>
                </a:solidFill>
                <a:latin typeface="Arial"/>
                <a:ea typeface="Arial"/>
              </a:rPr>
              <a:t>① 개발하면 스펙으로 닫힘   </a:t>
            </a:r>
            <a:r>
              <a:rPr sz="1500" b="1">
                <a:solidFill>
                  <a:srgbClr val="1428A0"/>
                </a:solidFill>
                <a:latin typeface="Arial"/>
                <a:ea typeface="Arial"/>
              </a:rPr>
              <a:t>② 고객 워크로드에서 함께 튜닝해야 효과</a:t>
            </a:r>
          </a:p>
        </p:txBody>
      </p:sp>
      <p:sp>
        <p:nvSpPr>
          <p:cNvPr id="89" name="Rectangle 88"/>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91" name="TextBox 90"/>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고객 시스템 개발부터 최적화까지, 핵심 기술을 제대로 확보하려면 고객과의 협력이 필수입니다</a:t>
            </a:r>
          </a:p>
        </p:txBody>
      </p:sp>
      <p:sp>
        <p:nvSpPr>
          <p:cNvPr id="92" name="TextBox 9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4KB WAF 70+ → 1.02(CSAL) · 배치별 pSLC 비율(Kioxia) · 제품군 적합도와 협력 단계는 과제팀 판단(위키 ssd-core-technologies-customer-collaboration §3.5)</a:t>
            </a:r>
          </a:p>
        </p:txBody>
      </p:sp>
      <p:sp>
        <p:nvSpPr>
          <p:cNvPr id="93" name="TextBox 9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7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7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핵심 기술</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7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7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7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