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62" r:id="rId14"/>
    <p:sldId id="259" r:id="rId11"/>
    <p:sldId id="260" r:id="rId12"/>
    <p:sldId id="261" r:id="rId13"/>
    <p:sldId id="263" r:id="rId1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지금 수요의 모양과 삼성의 대응 현황입니다. HBM에서 삼성 점유율은 2022년 40퍼센트에서 2025년 2분기 17퍼센트로, SK하이닉스는 50에서 62퍼센트로 갈렸습니다. 하나의 수요를 늦게 읽으면 첫 호황을 놓친다는 교훈입니다. 그래서 하이퍼스케일러의 데이터센터 응용 네 가지를 SSD에 요구하는 특성으로 비교했습니다. 범용 클라우드는 여러 VM이 SSD를 나눠 써서 QoS와 격리가 요구입니다. 하드웨어로 격리하면 p99 지연이 최대 3.1배 줄었습니다. AI 학습에서 SSD는 GPU 서버에 학습 데이터를 공급하고, 주기적으로 체크포인트를 받아 둡니다. 그래서 요구는 대역과 체크포인트입니다. NVIDIA SuperPOD 가이드를 GPU당으로 환산하면 멀티모달 학습은 기본 0.16에서 0.49기가바이트 매초로 약 3배의 읽기 대역을 요구하고, 405B 모델은 체크포인트 한 번에 약 5.7테라바이트를 씁니다. AI 추론에서 SSD는 GPU HBM과 CPU DRAM 아래의 메모리 계층입니다. 긴 문맥의 KV 캐시가 HBM과 DRAM을 넘치면 SSD로 내려가고, 같은 문맥을 다시 쓸 때 다시 올라옵니다. RAG 색인과 모델 가중치도 SSD에 둡니다. 그래서 DWPD만의 문제가 아니라 세 가지를 함께 봐야 합니다. 첫째 읽기 대역입니다. 70B 모델의 128K 토큰 KV 캐시는 약 43기가바이트이고, 이것을 1초 안에 되살리려면 GPU 8개 서버 기준 GPU당 약 5.4기가바이트 매초가 필요합니다. 과제팀 산술입니다. 공개 측정에서는 문맥이 1K 토큰일 때 다시 계산하는 것보다 빠르려면 23.2기가바이트 매초, 80K 토큰이면 3.5기가바이트 매초가 필요했습니다. 405B 모델 가중치 810기가바이트를 PM1763 한 대로 읽으면 약 28.5초, PM1753이면 약 56초입니다. 둘째 꼬리 지연입니다. MLPerf의 Llama 2 70B 대화형 기준은 첫 토큰 p99 450밀리초, 토큰당 40밀리초입니다. SSD 계층을 넣고도 p99 첫 토큰 목표를 지키면 GPU당 세션을 10.77배 늘릴 수 있었다는 결과가 있고, SSD의 지연 흔들림이 첫 토큰 지연을 키운다는 연구도 있습니다. NVIDIA의 차세대 스토리지 목표도 전력과 꼬리 지연 제약 안에서 IOPS를 최대화하는 것입니다. 셋째 쓰기 내구입니다. KV 캐시 계층 드라이브 실측은 3.2 DWPD로 QLC 정격을 크게 넘고, AI 전용 SSD는 50에서 120 DWPD로 나왔습니다. 에이전트는 사용자마다 VM을 하나씩 주는 구조라 디스크가 메모리보다 13배 크고, 대부분 휴면이라 용량과 TB당 비용이 요구입니다. 아래는 삼성 SSD 포트폴리오가 각 수요를 어떻게 맡고 있는지입니다. 고내구 TLC는 3 DWPD의 PM1755와 PM1745가 쓰기가 많은 KV를 맡고, 체크포인트 간격이 짧아지면 학습에도 쓰일 수 있어 점선으로 두었습니다. 고성능 TLC는 세대로 나눴습니다. 2026년 7월 양산한 PCIe 6.0의 PM1763은 순차 읽기 28.4기가바이트 매초로 학습 데이터 로딩을 맡고, GPU가 직접 512바이트 단위로 읽는 경로를 백서로 보였기 때문에 가중치 로딩과 GPU 직결은 신호로 두었습니다. PCIe 5.0의 PM9D3a와 PM1753은 범용 VM과 DB를 맡고, PM1753은 NVIDIA CMX 같은 KV 계층에 공급됩니다. 고용량 QLC는 BM1743이 122테라바이트까지 객체, 데이터셋, 사용자 VM 디스크를 맡고, 245테라바이트 BM1773이 FMS 2026에서 공개됐습니다. 가중치와 RAG 읽기는 BM1743이 맞지만 삼성이 이 용도로 내세운 적은 없어 점선으로 두었습니다. 맨 아래는 eSSD 수요 비중입니다. TechInsights의 2026년 3분기 보고서 전망으로, 2025년에는 범용 54퍼센트, 학습 15퍼센트, 추론 31퍼센트이고, 2030년에는 범용 15퍼센트, 학습 6퍼센트, 추론 79퍼센트까지 갑니다. 5년 사이 추론이 eSSD 수요의 대부분이 됩니다. 여기서 클릭하면 추론 카드, 추론 열의 삼성 포트폴리오, 추론 수요 비중이 한 줄로 묶입니다. 정리하면 삼성은 TLC와 QLC 제품군으로 응용별 수요를 맡고 있지만, 수요는 추론으로 몰리고 있고 추론은 대역, 꼬리 지연, 내구를 한꺼번에 요구합니다. 그래서 다음 장부터는 확장되는 추론 수요에 집중하겠습니다. SLC급 초고DWPD는 3장에서 포트폴리오 확장의 선택지로 다룹니다. 제품 이미지는 공식 사진을 구할 수 없어 폼팩터를 따라 재현한 것이고, 삼성 모델 사양은 공식 페이지 검색 결과로 확인한 2차 자료입니다.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AI 추론 수요를 나눠 보고, 왜 고객과의 협업이 필수인지 보여 드립니다. 추론은 하나의 수요가 아니라 네 가지가 섞여 있습니다. 첫째 모델 가중치입니다. 모델을 올리고 바꾸는 순간의 읽기 대역과 용량이 핵심입니다. Llama 3 8B를 1기가바이트 매초 SSD에서 읽으면 48초, 스트리밍 로더로 14초가 걸렸고, 4기가바이트 매초 SSD에서는 7.5초였습니다. 405B 모델은 약 810기가바이트입니다. 가중치는 모델 제공자의 자산이라 보안도 걸립니다. 기술은 Large Mapping으로 큰 용량을 싸게, Confidential Storage로 키와 증명 체계에 들어가고, Fault Tolerant는 SSD 안에서 해결합니다. 고객 시스템 개발 단계입니다. 둘째 RAG와 벡터 DB입니다. DiskANN은 10억 개 벡터를 64기가바이트 메모리로 초당 5천 건 이상, 평균 3밀리초 안에 찾고, 질의 지연의 70에서 90퍼센트가 SSD 입출력입니다. 그래서 작은 랜덤 읽기의 꼬리 지연과 용량이 핵심입니다. 색인 갱신 쓰기가 읽기를 방해하지 않도록 FDP로 GC를 줄이고, 여러 테넌트를 Multi-Tenant QoS로 나눠야 합니다. FDP가 들어가므로 최적화까지 함께 해야 합니다. 셋째 KV 캐시 오프로드입니다. 대역, 꼬리 지연, DWPD를 모두 요구하는 가장 어려운 수요입니다. 다시 계산하는 것보다 빨라야 의미가 있고, 첫 토큰 p99 목표 안에 들어와야 하며, 쓰기가 많아 3 DWPD 이상이 실측됩니다. 삼성 PM9D3a에 FDP를 적용한 LMCache KV 실험에서 WAF가 2.6에서 1.4로, 읽기 p90 지연이 22퍼센트 줄었습니다. FDP와 Mixed Media는 고객의 KV 관리자와 함께 최적화해야 효과가 납니다. 넷째 에이전트 메모리입니다. 에이전트 호출은 평균 6만 8천 토큰을 입력하고 그중 86퍼센트가 재사용이라 세션과 상태를 오래 저장합니다. 용량, 격리, 보안이 핵심이고, 작은 로그 쓰기를 Mixed Media로 모아 QLC에 싣습니다. 기술 칩의 채도는 고객 협력의 깊이입니다. 가장 진한 FDP와 Mixed Media는 고객 워크로드에서 최적화까지 함께 해야 하고, 중간인 Large Mapping, Multi-Tenant QoS, Confidential Storage는 고객 시스템 개발이 필요하며, 가장 연한 Fault Tolerant는 SSD 안에서 해결합니다. 네 가지 추론 수요 모두 고객 협력이 필요하고, 세 가지는 최적화까지 함께 해야 합니다. 그래서 AI 추론 수요에 대응하려면 고객과의 협업이 필수입니다. 아래 띠는 여섯 기술을 한 줄씩 그린 것입니다. FDP는 섞여 있던 데이터를 수명별로 모아 블록을 통째로 지우고, Mixed Media는 작은 쓰기를 pSLC에 모아 QLC로 내리며, Large Mapping은 매핑 단위를 키워 DRAM을 줄입니다. Multi-Tenant QoS는 테넌트를 격리하고, Confidential Storage는 암호화와 증명, 키 관리를, Fault Tolerant는 고장 다이만 격리합니다. 여기서 클릭하면 FDP, Mixed Media, Large Mapping 세 기술이 강조됩니다. KV 캐시를 비롯한 추론 수요에 가장 많이 걸리는 세 기술이고, 다음 장에서 이 세 기술로 무엇이 좋아지고 포트폴리오가 어떻게 넓어지는지 자세히 말씀드리겠습니다. 요구와 기술의 대응, 협력 단계는 과제팀의 판단이고, 수치는 대부분 검색으로 확인한 2차 자료입니다.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3장은 SSD 차별화 요구가 어떻게 바뀌어 왔고, 그 변화에 대비한 기술로 포트폴리오를 어떻게 완성할지입니다. 맨 위 띠를 보시면, 지난 20년 동안 SSD를 차별화하는 요구는 계속 바뀌었습니다. 처음에는 HDD보다 빠른 성능, 곧 IOPS와 대역이었고, 이후 같은 성능을 더 적은 전력으로 내는 전력 효율이 됐습니다. 데이터센터로 들어오면서 여러 VM이 한 드라이브를 나눠 쓰니 VM 단위의 QoS 보장이 중요해졌습니다. 그리고 AI 시대에는 예측 가능한 QoS, 고용량, 고내구가 함께 중요해지고 있습니다. 2장의 세 기술, FDP, Mixed Media, Large Mapping으로 우리가 차별화하려는 것이 바로 QLC의 고용량과 고객 워크로드에 맞춘 내구성입니다. 이 띠의 시기 구분은 과제팀의 정리입니다. 먼저 원리입니다. SSD는 빈 블록을 만들려고 살아 있는 데이터를 옮기는 GC를 합니다. 그동안 읽기는 프로그램과 지우기 뒤에서 기다리고, 지우기는 블록당 약 10밀리초가 걸립니다. 그래서 GC가 일어날 때마다 지연 스파이크가 생기고, 연구에서는 GC가 99에서 99.99 백분위 지연을 5배에서 138배까지 키웠습니다. 세 기술은 GC를 세 방향으로 줄입니다. Mixed Media는 작은 쓰기를 pSLC에 모아 QLC에는 큰 단위로만 쓰므로 블록이 덜 조각나 GC 빈도가 줍니다. Large Mapping은 매핑 단위에 맞춘 큰 쓰기만 받으니 부분 덮어쓰기와 매핑 갱신이 줄어 GC 횟수가 줍니다. FDP는 수명이 같은 데이터를 같은 블록에 모아, 블록이 통째로 지워지니 옮길 데이터가 거의 없어 GC 시간이 줍니다. GC가 드물고 짧아지면 지연이 예측 가능해집니다. 그 결과 지표가 좋아집니다. WAF에서 1을 뺀 값이 호스트 쓰기 하나당 GC가 옮기는 양인데, 삼성 엔지니어가 Meta의 CacheLib 안에 FDP를 구현했을 때 WAF가 3.22에서 1.03으로 68퍼센트, GC 복사량은 2.22에서 0.03으로 줄었습니다. WAF는 SSD만 잘 만들어서는 3 근처에서 더 내려가지 않던 지표이고, 그 이유는 참고 5장에 정리해 두었습니다. 상자를 누르면 그 장으로 갑니다. 꼬리 지연도 줍니다. 삼성 PM9D3a 7.68테라바이트에서 RocksDB에 FDP 최적화 분류를 적용하자 p99.9 꼬리 지연이 55퍼센트 줄었고, ZNS, Valet, WALTZ 같은 공개 실험에서도 1.5배에서 6배 줄었습니다. 다만 꼬리 지연 측정은 모두 TLC이고, QLC나 KV 캐시 계층의 첫 토큰 p99를 직접 잰 결과는 아직 없으며, 칩 사이 큐 불균형이 주원인이라는 반대 연구도 있습니다. 이제 포트폴리오입니다. 오른쪽 3D 그림의 바닥은 정격 DWPD와 최대 용량, 높이는 꼬리 지연이 낮을수록 위입니다. 처음에는 지금의 제품군 기둥만 보이고, 클릭하면 QLC, TLC, 고내구 TLC, SLC급 네 제품군이 WAF와 꼬리 지연을 낮춘 뒤 닿는 영역이 점선 상자로 한꺼번에 넓어지며 오른쪽 카드에 DWPD 변화가 나타납니다. 같은 NAND와 같은 OP에서 WAF가 3에서 1로 내려가면 정격 DWPD는 약 3배가 됩니다. 과제팀 산술입니다. BM1743 같은 QLC가 0.3에서 1 DWPD가 되면 지금 TLC가 맡는 KV 캐시 오프로드까지 원가 우위로 들어갈 수 있고, PM1753 같은 고성능 TLC가 1에서 3 DWPD가 되면 쓰기가 많은 KV를 맡을 수 있습니다. PM1755 같은 고내구 TLC는 3에서 9 DWPD로 초고DWPD의 입구까지 가고, SLC급에서 WAF를 낮추면 30 DWPD가 100 근처로 올라갑니다. 초고DWPD가 필요해지면 TLC의 WAF를 낮춰 대응할지, SLC급을 극한으로 올릴지 요구에 따라 고를 수 있습니다. 정리하면, 새로운 차별화 요구에 대비한 기술을 미리 준비해야 미래의 추론 수요에 능동적으로 대응하는 제품 포트폴리오를 완성할 수 있습니다. 꼬리 지연 높이는 정성 등급이고, 제품 이미지는 형태 재현입니다.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5장입니다. 3장의 WAF가 왜 SSD만으로는 3 근처에 머물렀는지, 왜 고객 시스템까지 가야 하는지 순서대로 말씀드리겠습니다. 위 왼쪽 첫 칸은 NAND에서 SSD로 넘어온 단계입니다. 셀 오류율이 약 100만 배 나빠졌지만 컨트롤러 ECC가 약 60배 강해지면서 SSD 안에서 완결됐습니다. 둘째 칸은 SSD 혼자 하는 최적화입니다. FTL과 ECC, GC와 웨어 레벨링 위에, 2014년부터 2019년까지 핫 · 콜드 추정, 스트림 분리, IO 결정성을 더했습니다. 테일 지연과 성능은 좋아졌지만, 실제 워크로드에서 WAF는 약 3에 머물렀습니다. 데이터가 언제 지워지는지는 호스트만 알기 때문입니다. 그 결과가 아래 점도표입니다. 지난 15년 동안 6개 업체가 내놓은 데이터센터 SSD 가운데 세대별 대표 제품의 정격 DWPD입니다. 채운 점은 그 세대에서 가장 높은 내구 등급, 빈 점은 QLC 용량형입니다. 보증 3년 제품은 5년 기준으로 환산했습니다. 제목 오른쪽 숫자는 점으로 찍은 대표 제품이 아니라 조사한 226개 등급 전체의 중앙값입니다. 2008~2014년 9.6에서 2015~2018년 2, 2019년 이후 1로 내려왔고, 흐린 화살표가 이 흐름입니다. QLC는 0.2에서 0.6입니다. 세로축은 0에서 10까지 선형이고, 10을 넘는 초기 고내구 제품 3개는 그림에서 뺐습니다. 가장 높은 등급만 봐도 10에서 3으로 내려왔습니다. 셀이 견디는 쓰기가 SLC 10만 회에서 QLC 1천 회로 약 100배 줄었기 때문입니다. 10 DWPD 이상 등급은 67퍼센트에서 0퍼센트가 됐고, 30 이상은 Optane, Z-SSD 같은 SLC · SCM 특수 제품뿐이라 이 그림에서는 뺐습니다. 점선 영역은 NAND 종류입니다. MLC 시절 대표 제품은 10이었고, TLC로 오면서 5에서 3으로, 대용량 QLC는 1 아래로 내려왔습니다. SLC는 17에서 100이지만 용량이 작은 특수 제품이라 축 위에 따로 적었습니다. 반면 고객 캐시 계층은 하루 3회에서 7.2회를 씁니다. SSD 혼자서는 DWPD를 끌어올리기 어렵다는 뜻입니다. 그래서 오른쪽 셋째 칸, 고객 시스템과의 공동 설계입니다. 삼성 엔지니어가 Meta의 오픈소스 CacheLib 안에 FDP 배치를 구현했고, WAF가 3.22에서 1.03으로 내려갔습니다. 이 방향은 이미 주요 데이터센터 기업의 흐름입니다. Google은 2016년 논문에서 자체 인터페이스와 펌웨어를 얹은 자체 설계 SSD를 운용한다고 밝혔고, 지금은 Titanium SSD로 이전 세대보다 지연을 최대 35퍼센트 줄였습니다. Alibaba는 2016년 자체 SSD AliFlash로 시작해 2023년 자체 SSD 컨트롤러를 내놓았고, 누적 50만 개 넘게 출하했다고 발표했습니다. AWS는 FTL을 새로 쓴 Nitro SSD로 I3 대비 지연을 최대 60퍼센트 줄였다고 밝혔습니다. 다만 컨트롤러 칩까지 직접 만든다는 근거는 없습니다. 이 밖에 Baidu는 2014년 자체 SSD를 배치했고, Microsoft와 Meta는 OCP SSD 스펙과 FDP 표준을 직접 썼습니다. 고객은 이미 자기 시스템에 맞춰 SSD를 설계하고 있습니다. 사양서를 받아 SSD를 잘 만드는 방식은 둘째 칸에 머물고, 셋째 칸은 고객 시스템 안에서 함께 설계해야 닿습니다.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6장은 3장의 첫 번째 확장, 곧 QLC가 TLC 수요로 들어가는 사업 기회를 숫자로 본 것입니다. 질문은 하나입니다. WAF를 낮춰 QLC를 1 DWPD로 올리면 QLC 시장이 어디까지 넓어지는가입니다. 2030년 eSSD 수요를 McKinsey와 SK하이닉스 전망의 중간인 약 1,500엑사바이트로 보면, 지금 경로의 QLC는 약 636엑사바이트, 약 42퍼센트입니다. 여기에 세 몫이 더해집니다. 첫째, 성능은 QLC로 충분한데 조달 규격이 1 DWPD라서 TLC를 쓰던 내구 규격만 수요가 약 192엑사바이트입니다. 시나리오에 따라 46에서 509엑사바이트로 넓습니다. WAF를 낮춰 QLC 정격이 1 DWPD에 닿으면 바로 들어갈 몫입니다. 둘째, 관행과 가격으로 TLC를 쓰던 약 64엑사바이트는 원가와 공급, 인증으로 가져옵니다. 셋째, 성능 때문에 TLC를 쓰던 수요 가운데 꼬리 지연을 극복해 20에서 40퍼센트를 가져오면 63에서 125엑사바이트가 더해집니다. 그러면 QLC는 약 955에서 1,017엑사바이트, eSSD의 63에서 68퍼센트까지 넓어집니다. 성능이 결정적인 수요와 고내구, KV 캐시 약 490에서 550엑사바이트는 TLC로 남습니다. 오른쪽은 비중입니다. QLC 비중은 2026년 지금 경로 18퍼센트에서 잠재 53에서 60퍼센트, 2030년 42퍼센트에서 63에서 68퍼센트입니다. 2026년 값은 공급 부족을 무시한 잠재치입니다. WAF를 낮추는 기술은 2장의 두 가지입니다. 단기에는 Mixed Media로 작은 쓰기를 모아 쓰고, 중장기에는 고객과 FDP로 WAF를 근원적으로 낮춥니다. TLC 분할 비율은 공개 자료가 없어 과제팀이 가정한 값이며, 실제 범위는 넓습니다. 그래도 방향은 분명합니다. WAF를 낮추는 것이 곧 QLC 시장을 넓히는 일이고, 그 원가 우위가 수익성입니다.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7장은 보안 기회입니다. 2장에서 모델 가중치와 에이전트 메모리에 걸린 Confidential Storage도 고객 협력이 필요한 기술이라고 말씀드렸는데, 그 수요와 협력 방식을 보겠습니다. 첫째, 수요입니다. McKinsey는 소버린 AI 시장이 2025년 1,500억에서 2,000억 달러에서 2030년 5,000억에서 6,000억 달러로 약 3배 커진다고 봅니다. Gartner는 AI를 자기 데이터센터에서 직접 돌리는 기업이 2025년 초 약 2퍼센트에서 2028년 20퍼센트 이상이 된다고 봅니다. NVIDIA의 소버린 매출은 FY26에 300억 달러를 넘었고, Dell의 AI Factory 고객은 6,500곳을 넘었습니다. 둘째, 왜 보안인가입니다. 기업의 온프렘 AI 데이터센터에는 주인이 다른 두 자산이 함께 놓입니다. 모델 제공자의 LLM 가중치, 예를 들어 405B 모델이면 FP16으로 약 810기가바이트와, 기업의 민감 데이터, RAG, KV 캐시입니다. 설문에서는 소버니티와 프라이버시가 AI 과제 지연의 1위 요인이라는 응답이 62퍼센트, 데이터 레지던시 때문에 AI 과제를 미루거나 줄인 곳이 58퍼센트입니다. 기밀 컴퓨팅의 장벽 1위는 증명 검증으로 84퍼센트입니다. 다만 이 설문들 상당수는 벤더가 후원했습니다. 셋째, 어떻게입니다. 공개된 가중치 보호 설계는 가중치를 암호화해 두었다가 TEE 안에서만 푸는 방식이라, SSD 혼자 가중치를 지키는 구조가 아닙니다. 그래서 SSD의 역할은 고객의 신뢰 체계 안에 들어가는 것입니다. 기밀 VM에 SSD를 직접 붙이는 TDISP는 삼성 PM1763이 발표했고, 상대는 CPU와 하이퍼바이저입니다. 드라이브를 증명하는 SPDM은 스토리지 바인딩 표준이 2025년에 나왔고, 상대는 서버 OEM 인증과 증명 검증 서비스입니다. 키 관리는 OCP L.O.C.K. 1.0이 2025년 9월에 나왔고 삼성이 공저자이며, 상대는 클라우드와 OEM의 키 관리 서버입니다. 신뢰 루트 Caliptra는 아직 탑재 SSD가 없습니다. 경고 사례도 있습니다. Dell 17세대 서버에서는 삼성 PM9D3a와 PM9D5a가 SPDM을 지원하지 않아 관련 기능이 실패한다는 KB가 올라와 있습니다. 표준을 따르는 것만으로는 부족하고, 고객과 OEM의 키와 증명 체계에 함께 들어가야 팔립니다. 보안 시장 자체의 규모나 Confidential Storage 시장 전망은 공개 자료에 없어서, 수요는 온프렘 AI의 성장으로 보여 드렸습니다.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 실행 전략입니다. 2장과 3장에서 본 FDP의 요구, 곧 데이터가 언제 지워지는지와 그것이 SSD의 배치 정책과 어떻게 맞물리는지는 고객 시스템 안에 있습니다. 그래서 지금까지와 다른 방식이 필요하고, 그 방식을 FDP에 집중합니다. 나머지 다섯 기술은 고객 요구를 정확한 스펙으로 받는 지금 방식을 다듬어 준비합니다. 첫째, 계약입니다. 지금의 Multi-Year Deal, MYD는 여러 해의 수량과 가격을 약속합니다. Micron은 Anthropic과의 전략적 계약에서 다년 공급 위에 공동 설계와 운영 통합을 묶었습니다. 우리도 MYD 위에 기술 협력을 쌓겠습니다. 둘째, 역량입니다. 가운데는 AI 추론 시스템을 위에서 아래까지 여섯 층으로 나눈 그림입니다. 맨 위 추론 엔진은 vLLM, SGLang, TensorRT-LLM이고, 그 아래 KV 캐시 관리자는 Dynamo, LMCache, Mooncake입니다. 그 아래로 전송과 I/O 라이브러리, 커널과 파일 시스템, SSD 펌웨어, NAND가 이어집니다. 삼성은 NAND와 SSD 펌웨어에서 강점이 있습니다. 1장의 포트폴리오와 3장의 FDP, pSLC, Large Mapping이 여기에 있습니다. 가운데 세 층은 일부입니다. LMCache에 FDP 지원이 머지되었고, xNVMe는 삼성이 유지하며, 커널 write streams와 XFS 작업에도 참여하고 있지만, Dynamo와 Mooncake에는 아직 기여가 없습니다. 추론 엔진 층은 비어 있습니다. 여기서 중요한 사실이 하나 있습니다. 데이터가 언제 버려질지, 곧 prefix를 공유하는지와 세션이 언제 끝나는지 같은 수명 정보는 KV 캐시 관리자 층에 있습니다. 그런데 그 정보를 SSD 배치로 내려보내는 코드는 지금 어느 층에도 없습니다. 3장의 WAF와 꼬리 지연 개선은 바로 이 경로가 있어야 나옵니다. 그래서 역량이란 SSD만이 아니라 스택 전체를 읽고, 수명 정보가 FDP 핸들까지 내려가는 경로를 고객과 함께 만드는 능력입니다. 역량에서 화두를 하나 드리겠습니다. 지금까지 고객 관계 관리, CRM은 경영진과 경영진, 영업과 구매 사이의 일이었습니다. 앞으로는 엔지니어와 엔지니어 사이까지 넓어져야 합니다. 고객 엔지니어가 신뢰하는 상대는 같은 문제를 같은 언어로 푸는 엔지니어이고, 고객과 국가마다 다른 언어와 문화를 이해하는 것도 그 관계의 일부입니다. 엔지니어 수준의 고객 관계를 우리가 맡을 준비가 되어 있는지 함께 생각해 보면 좋겠습니다. 셋째, 사람입니다. 이 역량을 고객 현장에서 쓰는 것이 사람입니다. 스펙 문서로는 명시된 요구만 옵니다. Palantir와 OpenAI의 FDE처럼 삼성 Pod가 고객 AI 데이터센터 안에서 고객 엔지니어와 함께 일합니다. 핵심 업무는 세 가지입니다. 하나, 고객 워크로드 측정과 분석입니다. 고객 트레이스로 쓰기 크기와 데이터 수명을 재서, 고객이 말한 요구와 실제 요구의 차이를 찾습니다. 둘, 호스트 소프트웨어 스택의 최적화와 평가입니다. 고객 엔지니어와 함께 KV 캐시 소프트웨어와 SSD를 맞물려 최적화하고, 고객 환경에서 WAF와 꼬리 지연, 그리고 토큰당 비용과 GPU 가동률로 효과를 평가합니다. LMCache에 FDP 배치를 머지한 것이 선례입니다. 셋, 차세대 제품을 위한 기술 교류입니다. 현장에서 증명한 것을 고객 엔지니어와 함께 다음 제품의 사양과 고객 RFQ, OCP 요구로 굳힙니다. 이렇게 고객 안에서 요구를 찾고, 수요를 함께 만듭니다. 첫 90일에는 다섯 가지를 하겠습니다. 전략 고객 한두 곳을 정해 FDP 공동 설계 의제를 맞추고, Co-Design Pod를 꾸리고, 시스템 소프트웨어 전문가 채용을 시작하고, 고객 KV 트레이스로 WAF를 실측하고, 신호 대시보드를 돌리겠습니다. 마지막으로, 실패할 수도 있는 기술에 투자하는 것이 불확실한 미래에 실패하지 않는 불변 전략입니다. 지금 예측할 수 있는 범위 안에서 최선을 다하고, 신호가 바뀌면 판단을 고치겠습니다.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자료입니다. 1장에서 본 데이터센터 응용 네 가지가 2030년까지 어느 정도의 수요가 되는지 공개 전망으로 정리했습니다. 막대는 McKinsey의 2024년 말 기준 시나리오입니다. eSSD 수요는 2024년 181엑사바이트에서 2030년 1,078엑사바이트로 약 6배가 됩니다. 2030년과 2024년 값은 McKinsey 수치이고, 그 사이 해는 수요처별 연평균 성장률로 이은 과제팀 산술입니다. 가장 큰 몫은 AI 추론입니다. KV 캐시와 RAG를 포함한 추론 수요는 6에서 447엑사바이트로 약 75배 늘어납니다. AI 학습은 7에서 127엑사바이트, 범용 클라우드와 엔터프라이즈는 총량에서 학습과 추론을 뺀 값으로 약 500엑사바이트입니다. 오른쪽은 올해와 2030년의 수요별 비중입니다. 올해는 범용이 85퍼센트, AI 추론 9퍼센트, AI 학습 6퍼센트입니다. 2030년에는 범용 47퍼센트, 추론 41퍼센트, 학습 12퍼센트가 됩니다. 추론이 32퍼센트포인트, 학습이 6퍼센트포인트 늘고, 범용은 38퍼센트포인트 줄어듭니다. 범용도 물량은 약 두 배로 늘지만 AI 수요가 훨씬 빨리 늘기 때문입니다. 다만 올해 비중은 2024년 전망을 이어 계산한 값입니다. 올해 실제로는 KV 캐시 수요가 앞당겨지고 있어 추론 비중이 이보다 클 수 있습니다. 에이전트는 따로 떼어 낸 전망이 없습니다. 추론의 KV 캐시와 범용의 VM 디스크에 나뉘어 잡힙니다. 마름모는 2026년에 나온 최신 전망입니다. JPM과 Kioxia는 2028년에 약 900엑사바이트를 봅니다. 2024년 전망 경로로는 2029년과 2030년 사이에야 닿는 규모라 약 1년 반 앞당겨진 셈입니다. 기관마다 정의가 달라 막대와 정확히 겹쳐 읽을 수는 없고 방향만 비교합니다. 모든 수치는 검색으로 확인한 2차 자료이며 1차 문서 대조가 필요합니다.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2.png"/><Relationship Id="rId8" Type="http://schemas.openxmlformats.org/officeDocument/2006/relationships/image" Target="../media/image11.png"/><Relationship Id="rId9" Type="http://schemas.openxmlformats.org/officeDocument/2006/relationships/image" Target="../media/image9.png"/><Relationship Id="rId10" Type="http://schemas.openxmlformats.org/officeDocument/2006/relationships/image" Target="../media/image18.png"/><Relationship Id="rId11" Type="http://schemas.openxmlformats.org/officeDocument/2006/relationships/notesSlide" Target="../notesSlides/notesSlide3.xml"/><Relationship Id="rId1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6.png"/><Relationship Id="rId6" Type="http://schemas.openxmlformats.org/officeDocument/2006/relationships/image" Target="../media/image22.png"/><Relationship Id="rId7" Type="http://schemas.openxmlformats.org/officeDocument/2006/relationships/image" Target="../media/image4.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png"/><Relationship Id="rId6" Type="http://schemas.openxmlformats.org/officeDocument/2006/relationships/image" Target="../media/image20.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1 / 8  현황</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데이터센터 응용마다 SSD 요구가 다르고, 삼성은 제품군별로 대응하고 있지만</a:t>
            </a:r>
          </a:p>
          <a:p>
            <a:pPr algn="l">
              <a:lnSpc>
                <a:spcPct val="105000"/>
              </a:lnSpc>
            </a:pPr>
            <a:r>
              <a:rPr sz="3200" b="1">
                <a:solidFill>
                  <a:srgbClr val="1A1A1A"/>
                </a:solidFill>
                <a:latin typeface="Arial"/>
                <a:ea typeface="Arial"/>
              </a:rPr>
              <a:t>AI 추론은 대역 · 꼬리 지연 · 내구를 한꺼번에 요구합니다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2376" y="2121408"/>
            <a:ext cx="3383280" cy="3090672"/>
          </a:xfrm>
          <a:prstGeom prst="roundRect">
            <a:avLst>
              <a:gd name="adj" fmla="val 23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231136"/>
            <a:ext cx="2980944" cy="347472"/>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HBM의 교훈</a:t>
            </a:r>
          </a:p>
        </p:txBody>
      </p:sp>
      <p:sp>
        <p:nvSpPr>
          <p:cNvPr id="8" name="TextBox 7"/>
          <p:cNvSpPr txBox="1"/>
          <p:nvPr/>
        </p:nvSpPr>
        <p:spPr>
          <a:xfrm>
            <a:off x="923544" y="2596896"/>
            <a:ext cx="2980944" cy="731520"/>
          </a:xfrm>
          <a:prstGeom prst="rect">
            <a:avLst/>
          </a:prstGeom>
          <a:noFill/>
        </p:spPr>
        <p:txBody>
          <a:bodyPr wrap="square" anchor="t" lIns="0" rIns="0" tIns="0" bIns="0">
            <a:spAutoFit/>
          </a:bodyPr>
          <a:lstStyle/>
          <a:p>
            <a:pPr algn="l">
              <a:lnSpc>
                <a:spcPct val="105000"/>
              </a:lnSpc>
            </a:pPr>
            <a:r>
              <a:rPr sz="1800" b="1">
                <a:solidFill>
                  <a:srgbClr val="1A1A1A"/>
                </a:solidFill>
                <a:latin typeface="Arial"/>
                <a:ea typeface="Arial"/>
              </a:rPr>
              <a:t>하나의 수요를 늦게 읽으면</a:t>
            </a:r>
          </a:p>
          <a:p>
            <a:pPr algn="l">
              <a:lnSpc>
                <a:spcPct val="105000"/>
              </a:lnSpc>
            </a:pPr>
            <a:r>
              <a:rPr sz="1800" b="1">
                <a:solidFill>
                  <a:srgbClr val="1A1A1A"/>
                </a:solidFill>
                <a:latin typeface="Arial"/>
                <a:ea typeface="Arial"/>
              </a:rPr>
              <a:t>첫 호황을 놓칩니다</a:t>
            </a:r>
          </a:p>
        </p:txBody>
      </p:sp>
      <p:cxnSp>
        <p:nvCxnSpPr>
          <p:cNvPr id="9" name="Connector 8"/>
          <p:cNvCxnSpPr/>
          <p:nvPr/>
        </p:nvCxnSpPr>
        <p:spPr>
          <a:xfrm flipV="1">
            <a:off x="1508760" y="3707476"/>
            <a:ext cx="914400" cy="209481"/>
          </a:xfrm>
          <a:prstGeom prst="line">
            <a:avLst/>
          </a:prstGeom>
          <a:ln w="38100">
            <a:solidFill>
              <a:srgbClr val="8A8A8A"/>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444751" y="3852949"/>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59152" y="3643468"/>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51781"/>
            <a:ext cx="53035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50%</a:t>
            </a:r>
          </a:p>
        </p:txBody>
      </p:sp>
      <p:sp>
        <p:nvSpPr>
          <p:cNvPr id="13" name="TextBox 12"/>
          <p:cNvSpPr txBox="1"/>
          <p:nvPr/>
        </p:nvSpPr>
        <p:spPr>
          <a:xfrm>
            <a:off x="2532888" y="3552028"/>
            <a:ext cx="603504" cy="310896"/>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62%</a:t>
            </a:r>
          </a:p>
        </p:txBody>
      </p:sp>
      <p:pic>
        <p:nvPicPr>
          <p:cNvPr id="14" name="Picture 13" descr="sk-hynix.png"/>
          <p:cNvPicPr>
            <a:picLocks noChangeAspect="1"/>
          </p:cNvPicPr>
          <p:nvPr/>
        </p:nvPicPr>
        <p:blipFill>
          <a:blip r:embed="rId2"/>
          <a:stretch>
            <a:fillRect/>
          </a:stretch>
        </p:blipFill>
        <p:spPr>
          <a:xfrm>
            <a:off x="3154680" y="3588604"/>
            <a:ext cx="452374" cy="237744"/>
          </a:xfrm>
          <a:prstGeom prst="rect">
            <a:avLst/>
          </a:prstGeom>
        </p:spPr>
      </p:pic>
      <p:cxnSp>
        <p:nvCxnSpPr>
          <p:cNvPr id="15" name="Connector 14"/>
          <p:cNvCxnSpPr/>
          <p:nvPr/>
        </p:nvCxnSpPr>
        <p:spPr>
          <a:xfrm>
            <a:off x="1508760" y="4091524"/>
            <a:ext cx="914400" cy="401505"/>
          </a:xfrm>
          <a:prstGeom prst="line">
            <a:avLst/>
          </a:prstGeom>
          <a:ln w="38100">
            <a:solidFill>
              <a:srgbClr val="3C4FA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444751" y="4027516"/>
            <a:ext cx="128016" cy="128016"/>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59152" y="4429021"/>
            <a:ext cx="128016" cy="128016"/>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045804"/>
            <a:ext cx="53035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40%</a:t>
            </a:r>
          </a:p>
        </p:txBody>
      </p:sp>
      <p:sp>
        <p:nvSpPr>
          <p:cNvPr id="19" name="TextBox 18"/>
          <p:cNvSpPr txBox="1"/>
          <p:nvPr/>
        </p:nvSpPr>
        <p:spPr>
          <a:xfrm>
            <a:off x="2532888" y="4337581"/>
            <a:ext cx="603504" cy="310896"/>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17%</a:t>
            </a:r>
          </a:p>
        </p:txBody>
      </p:sp>
      <p:pic>
        <p:nvPicPr>
          <p:cNvPr id="20" name="Picture 19" descr="samsung.png"/>
          <p:cNvPicPr>
            <a:picLocks noChangeAspect="1"/>
          </p:cNvPicPr>
          <p:nvPr/>
        </p:nvPicPr>
        <p:blipFill>
          <a:blip r:embed="rId3"/>
          <a:stretch>
            <a:fillRect/>
          </a:stretch>
        </p:blipFill>
        <p:spPr>
          <a:xfrm>
            <a:off x="3154680" y="4432356"/>
            <a:ext cx="786384" cy="121345"/>
          </a:xfrm>
          <a:prstGeom prst="rect">
            <a:avLst/>
          </a:prstGeom>
        </p:spPr>
      </p:pic>
      <p:sp>
        <p:nvSpPr>
          <p:cNvPr id="21" name="TextBox 20"/>
          <p:cNvSpPr txBox="1"/>
          <p:nvPr/>
        </p:nvSpPr>
        <p:spPr>
          <a:xfrm>
            <a:off x="1097280" y="4663440"/>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2022</a:t>
            </a:r>
          </a:p>
        </p:txBody>
      </p:sp>
      <p:sp>
        <p:nvSpPr>
          <p:cNvPr id="22" name="TextBox 21"/>
          <p:cNvSpPr txBox="1"/>
          <p:nvPr/>
        </p:nvSpPr>
        <p:spPr>
          <a:xfrm>
            <a:off x="2011680" y="4663440"/>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2Q25</a:t>
            </a:r>
          </a:p>
        </p:txBody>
      </p:sp>
      <p:sp>
        <p:nvSpPr>
          <p:cNvPr id="23" name="TextBox 22"/>
          <p:cNvSpPr txBox="1"/>
          <p:nvPr/>
        </p:nvSpPr>
        <p:spPr>
          <a:xfrm>
            <a:off x="2788920" y="4663440"/>
            <a:ext cx="1179575" cy="256032"/>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점유율</a:t>
            </a:r>
          </a:p>
        </p:txBody>
      </p:sp>
      <p:sp>
        <p:nvSpPr>
          <p:cNvPr id="24" name="Rounded Rectangle 23"/>
          <p:cNvSpPr/>
          <p:nvPr/>
        </p:nvSpPr>
        <p:spPr>
          <a:xfrm>
            <a:off x="4306824"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9704"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범용 클라우드</a:t>
            </a:r>
          </a:p>
        </p:txBody>
      </p:sp>
      <p:sp>
        <p:nvSpPr>
          <p:cNvPr id="26" name="TextBox 25"/>
          <p:cNvSpPr txBox="1"/>
          <p:nvPr/>
        </p:nvSpPr>
        <p:spPr>
          <a:xfrm>
            <a:off x="4489704"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
            </a:r>
          </a:p>
        </p:txBody>
      </p:sp>
      <p:sp>
        <p:nvSpPr>
          <p:cNvPr id="27" name="Rectangle 26"/>
          <p:cNvSpPr/>
          <p:nvPr/>
        </p:nvSpPr>
        <p:spPr>
          <a:xfrm>
            <a:off x="4489704"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4736592"/>
            <a:ext cx="2839212" cy="384048"/>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QoS · 테넌트 격리</a:t>
            </a:r>
          </a:p>
        </p:txBody>
      </p:sp>
      <p:sp>
        <p:nvSpPr>
          <p:cNvPr id="29" name="Rounded Rectangle 28"/>
          <p:cNvSpPr/>
          <p:nvPr/>
        </p:nvSpPr>
        <p:spPr>
          <a:xfrm>
            <a:off x="7658100"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40979"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AI 학습</a:t>
            </a:r>
          </a:p>
        </p:txBody>
      </p:sp>
      <p:sp>
        <p:nvSpPr>
          <p:cNvPr id="31" name="TextBox 30"/>
          <p:cNvSpPr txBox="1"/>
          <p:nvPr/>
        </p:nvSpPr>
        <p:spPr>
          <a:xfrm>
            <a:off x="7840979"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
            </a:r>
          </a:p>
        </p:txBody>
      </p:sp>
      <p:sp>
        <p:nvSpPr>
          <p:cNvPr id="32" name="Rectangle 31"/>
          <p:cNvSpPr/>
          <p:nvPr/>
        </p:nvSpPr>
        <p:spPr>
          <a:xfrm>
            <a:off x="7840979"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40979" y="4736592"/>
            <a:ext cx="2839212" cy="384048"/>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대역 · 체크포인트</a:t>
            </a:r>
          </a:p>
        </p:txBody>
      </p:sp>
      <p:sp>
        <p:nvSpPr>
          <p:cNvPr id="34" name="Rounded Rectangle 33"/>
          <p:cNvSpPr/>
          <p:nvPr/>
        </p:nvSpPr>
        <p:spPr>
          <a:xfrm>
            <a:off x="11009376"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192256"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AI 추론</a:t>
            </a:r>
          </a:p>
        </p:txBody>
      </p:sp>
      <p:sp>
        <p:nvSpPr>
          <p:cNvPr id="36" name="TextBox 35"/>
          <p:cNvSpPr txBox="1"/>
          <p:nvPr/>
        </p:nvSpPr>
        <p:spPr>
          <a:xfrm>
            <a:off x="11192256"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KV 캐시 · RAG · 가중치</a:t>
            </a:r>
          </a:p>
        </p:txBody>
      </p:sp>
      <p:sp>
        <p:nvSpPr>
          <p:cNvPr id="37" name="Rectangle 36"/>
          <p:cNvSpPr/>
          <p:nvPr/>
        </p:nvSpPr>
        <p:spPr>
          <a:xfrm>
            <a:off x="11192256"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192256" y="4736592"/>
            <a:ext cx="2839212" cy="384048"/>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대역 · 지연 · DWPD</a:t>
            </a:r>
          </a:p>
        </p:txBody>
      </p:sp>
      <p:sp>
        <p:nvSpPr>
          <p:cNvPr id="39" name="Rounded Rectangle 38"/>
          <p:cNvSpPr/>
          <p:nvPr/>
        </p:nvSpPr>
        <p:spPr>
          <a:xfrm>
            <a:off x="14360652"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543532"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에이전트</a:t>
            </a:r>
          </a:p>
        </p:txBody>
      </p:sp>
      <p:sp>
        <p:nvSpPr>
          <p:cNvPr id="41" name="TextBox 40"/>
          <p:cNvSpPr txBox="1"/>
          <p:nvPr/>
        </p:nvSpPr>
        <p:spPr>
          <a:xfrm>
            <a:off x="14543532"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
            </a:r>
          </a:p>
        </p:txBody>
      </p:sp>
      <p:sp>
        <p:nvSpPr>
          <p:cNvPr id="42" name="Rectangle 41"/>
          <p:cNvSpPr/>
          <p:nvPr/>
        </p:nvSpPr>
        <p:spPr>
          <a:xfrm>
            <a:off x="14543532"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543532" y="4736592"/>
            <a:ext cx="2839212" cy="384048"/>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용량 · TB당 비용</a:t>
            </a:r>
          </a:p>
        </p:txBody>
      </p:sp>
      <p:pic>
        <p:nvPicPr>
          <p:cNvPr id="44" name="Picture 43" descr="nvidia.png"/>
          <p:cNvPicPr>
            <a:picLocks noChangeAspect="1"/>
          </p:cNvPicPr>
          <p:nvPr/>
        </p:nvPicPr>
        <p:blipFill>
          <a:blip r:embed="rId4"/>
          <a:stretch>
            <a:fillRect/>
          </a:stretch>
        </p:blipFill>
        <p:spPr>
          <a:xfrm>
            <a:off x="7840979" y="2651861"/>
            <a:ext cx="1051560" cy="200964"/>
          </a:xfrm>
          <a:prstGeom prst="rect">
            <a:avLst/>
          </a:prstGeom>
        </p:spPr>
      </p:pic>
      <p:pic>
        <p:nvPicPr>
          <p:cNvPr id="45" name="Picture 44" descr="aws.png"/>
          <p:cNvPicPr>
            <a:picLocks noChangeAspect="1"/>
          </p:cNvPicPr>
          <p:nvPr/>
        </p:nvPicPr>
        <p:blipFill>
          <a:blip r:embed="rId5"/>
          <a:stretch>
            <a:fillRect/>
          </a:stretch>
        </p:blipFill>
        <p:spPr>
          <a:xfrm>
            <a:off x="4489704" y="2624328"/>
            <a:ext cx="458899" cy="274320"/>
          </a:xfrm>
          <a:prstGeom prst="rect">
            <a:avLst/>
          </a:prstGeom>
        </p:spPr>
      </p:pic>
      <p:pic>
        <p:nvPicPr>
          <p:cNvPr id="46" name="Picture 45" descr="microsoft.png"/>
          <p:cNvPicPr>
            <a:picLocks noChangeAspect="1"/>
          </p:cNvPicPr>
          <p:nvPr/>
        </p:nvPicPr>
        <p:blipFill>
          <a:blip r:embed="rId6"/>
          <a:stretch>
            <a:fillRect/>
          </a:stretch>
        </p:blipFill>
        <p:spPr>
          <a:xfrm>
            <a:off x="5113195" y="2631109"/>
            <a:ext cx="960120" cy="205892"/>
          </a:xfrm>
          <a:prstGeom prst="rect">
            <a:avLst/>
          </a:prstGeom>
        </p:spPr>
      </p:pic>
      <p:pic>
        <p:nvPicPr>
          <p:cNvPr id="47" name="Picture 46" descr="google.png"/>
          <p:cNvPicPr>
            <a:picLocks noChangeAspect="1"/>
          </p:cNvPicPr>
          <p:nvPr/>
        </p:nvPicPr>
        <p:blipFill>
          <a:blip r:embed="rId7"/>
          <a:stretch>
            <a:fillRect/>
          </a:stretch>
        </p:blipFill>
        <p:spPr>
          <a:xfrm>
            <a:off x="6237907" y="2624328"/>
            <a:ext cx="669526" cy="219456"/>
          </a:xfrm>
          <a:prstGeom prst="rect">
            <a:avLst/>
          </a:prstGeom>
        </p:spPr>
      </p:pic>
      <p:pic>
        <p:nvPicPr>
          <p:cNvPr id="48" name="Picture 47" descr="meta.png"/>
          <p:cNvPicPr>
            <a:picLocks noChangeAspect="1"/>
          </p:cNvPicPr>
          <p:nvPr/>
        </p:nvPicPr>
        <p:blipFill>
          <a:blip r:embed="rId8"/>
          <a:stretch>
            <a:fillRect/>
          </a:stretch>
        </p:blipFill>
        <p:spPr>
          <a:xfrm>
            <a:off x="14543532" y="2659684"/>
            <a:ext cx="731520" cy="148742"/>
          </a:xfrm>
          <a:prstGeom prst="rect">
            <a:avLst/>
          </a:prstGeom>
        </p:spPr>
      </p:pic>
      <p:sp>
        <p:nvSpPr>
          <p:cNvPr id="49" name="TextBox 48"/>
          <p:cNvSpPr txBox="1"/>
          <p:nvPr/>
        </p:nvSpPr>
        <p:spPr>
          <a:xfrm>
            <a:off x="15311628" y="2596896"/>
            <a:ext cx="640080" cy="274320"/>
          </a:xfrm>
          <a:prstGeom prst="rect">
            <a:avLst/>
          </a:prstGeom>
          <a:noFill/>
        </p:spPr>
        <p:txBody>
          <a:bodyPr wrap="square" anchor="t" lIns="0" rIns="0" tIns="0" bIns="0">
            <a:spAutoFit/>
          </a:bodyPr>
          <a:lstStyle/>
          <a:p>
            <a:pPr algn="l">
              <a:lnSpc>
                <a:spcPct val="110000"/>
              </a:lnSpc>
            </a:pPr>
            <a:r>
              <a:rPr sz="1600" b="1">
                <a:solidFill>
                  <a:srgbClr val="1A1A1A"/>
                </a:solidFill>
                <a:latin typeface="Arial"/>
                <a:ea typeface="Arial"/>
              </a:rPr>
              <a:t>Muse</a:t>
            </a:r>
          </a:p>
        </p:txBody>
      </p:sp>
      <p:pic>
        <p:nvPicPr>
          <p:cNvPr id="50" name="Picture 49" descr="openai.png"/>
          <p:cNvPicPr>
            <a:picLocks noChangeAspect="1"/>
          </p:cNvPicPr>
          <p:nvPr/>
        </p:nvPicPr>
        <p:blipFill>
          <a:blip r:embed="rId9"/>
          <a:stretch>
            <a:fillRect/>
          </a:stretch>
        </p:blipFill>
        <p:spPr>
          <a:xfrm>
            <a:off x="16006572" y="2644241"/>
            <a:ext cx="731520" cy="179628"/>
          </a:xfrm>
          <a:prstGeom prst="rect">
            <a:avLst/>
          </a:prstGeom>
        </p:spPr>
      </p:pic>
      <p:sp>
        <p:nvSpPr>
          <p:cNvPr id="51" name="TextBox 50"/>
          <p:cNvSpPr txBox="1"/>
          <p:nvPr/>
        </p:nvSpPr>
        <p:spPr>
          <a:xfrm>
            <a:off x="16774668" y="2596896"/>
            <a:ext cx="548640" cy="274320"/>
          </a:xfrm>
          <a:prstGeom prst="rect">
            <a:avLst/>
          </a:prstGeom>
          <a:noFill/>
        </p:spPr>
        <p:txBody>
          <a:bodyPr wrap="square" anchor="t" lIns="0" rIns="0" tIns="0" bIns="0">
            <a:spAutoFit/>
          </a:bodyPr>
          <a:lstStyle/>
          <a:p>
            <a:pPr algn="l">
              <a:lnSpc>
                <a:spcPct val="110000"/>
              </a:lnSpc>
            </a:pPr>
            <a:r>
              <a:rPr sz="1600" b="1">
                <a:solidFill>
                  <a:srgbClr val="1A1A1A"/>
                </a:solidFill>
                <a:latin typeface="Arial"/>
                <a:ea typeface="Arial"/>
              </a:rPr>
              <a:t>Dot</a:t>
            </a:r>
          </a:p>
        </p:txBody>
      </p:sp>
      <p:sp>
        <p:nvSpPr>
          <p:cNvPr id="52" name="Cloud 51"/>
          <p:cNvSpPr/>
          <p:nvPr/>
        </p:nvSpPr>
        <p:spPr>
          <a:xfrm>
            <a:off x="4325112" y="2999232"/>
            <a:ext cx="1920240" cy="1042415"/>
          </a:xfrm>
          <a:prstGeom prst="cloud">
            <a:avLst/>
          </a:prstGeom>
          <a:no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727448" y="3255263"/>
            <a:ext cx="329184"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111496" y="3255263"/>
            <a:ext cx="329184" cy="20116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495544" y="3255263"/>
            <a:ext cx="329184"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27448" y="3511296"/>
            <a:ext cx="329184" cy="201168"/>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111496" y="3511296"/>
            <a:ext cx="329184"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495544" y="3511296"/>
            <a:ext cx="329184" cy="20116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882896" y="3749039"/>
            <a:ext cx="12801" cy="38404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266944" y="3749039"/>
            <a:ext cx="12801" cy="38404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650992" y="3749039"/>
            <a:ext cx="12801" cy="38404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636008" y="4133087"/>
            <a:ext cx="1316736"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636008" y="4133087"/>
            <a:ext cx="1316736"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공유 SSD</a:t>
            </a:r>
          </a:p>
        </p:txBody>
      </p:sp>
      <p:sp>
        <p:nvSpPr>
          <p:cNvPr id="64" name="TextBox 63"/>
          <p:cNvSpPr txBox="1"/>
          <p:nvPr/>
        </p:nvSpPr>
        <p:spPr>
          <a:xfrm>
            <a:off x="6263640" y="4407408"/>
            <a:ext cx="1193292"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p99 지연</a:t>
            </a:r>
          </a:p>
        </p:txBody>
      </p:sp>
      <p:sp>
        <p:nvSpPr>
          <p:cNvPr id="65" name="Rectangle 64"/>
          <p:cNvSpPr/>
          <p:nvPr/>
        </p:nvSpPr>
        <p:spPr>
          <a:xfrm>
            <a:off x="6409944" y="3236976"/>
            <a:ext cx="365760" cy="91440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27064" y="2944368"/>
            <a:ext cx="731520" cy="274320"/>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3.1×</a:t>
            </a:r>
          </a:p>
        </p:txBody>
      </p:sp>
      <p:sp>
        <p:nvSpPr>
          <p:cNvPr id="67" name="TextBox 66"/>
          <p:cNvSpPr txBox="1"/>
          <p:nvPr/>
        </p:nvSpPr>
        <p:spPr>
          <a:xfrm>
            <a:off x="6272783" y="4187952"/>
            <a:ext cx="64008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섞어</a:t>
            </a:r>
          </a:p>
        </p:txBody>
      </p:sp>
      <p:sp>
        <p:nvSpPr>
          <p:cNvPr id="68" name="Rectangle 67"/>
          <p:cNvSpPr/>
          <p:nvPr/>
        </p:nvSpPr>
        <p:spPr>
          <a:xfrm>
            <a:off x="6922008" y="3856408"/>
            <a:ext cx="365760" cy="29496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39128" y="3563800"/>
            <a:ext cx="731520" cy="274320"/>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1</a:t>
            </a:r>
          </a:p>
        </p:txBody>
      </p:sp>
      <p:sp>
        <p:nvSpPr>
          <p:cNvPr id="70" name="TextBox 69"/>
          <p:cNvSpPr txBox="1"/>
          <p:nvPr/>
        </p:nvSpPr>
        <p:spPr>
          <a:xfrm>
            <a:off x="6784848" y="4187952"/>
            <a:ext cx="640080" cy="256032"/>
          </a:xfrm>
          <a:prstGeom prst="rect">
            <a:avLst/>
          </a:prstGeom>
          <a:noFill/>
        </p:spPr>
        <p:txBody>
          <a:bodyPr wrap="square" anchor="t" lIns="0" rIns="0" tIns="0" bIns="0">
            <a:spAutoFit/>
          </a:bodyPr>
          <a:lstStyle/>
          <a:p>
            <a:pPr algn="ctr">
              <a:lnSpc>
                <a:spcPct val="110000"/>
              </a:lnSpc>
            </a:pPr>
            <a:r>
              <a:rPr sz="1600" b="1">
                <a:solidFill>
                  <a:srgbClr val="3C4FA5"/>
                </a:solidFill>
                <a:latin typeface="Arial"/>
                <a:ea typeface="Arial"/>
              </a:rPr>
              <a:t>격리</a:t>
            </a:r>
          </a:p>
        </p:txBody>
      </p:sp>
      <p:sp>
        <p:nvSpPr>
          <p:cNvPr id="71" name="Rounded Rectangle 70"/>
          <p:cNvSpPr/>
          <p:nvPr/>
        </p:nvSpPr>
        <p:spPr>
          <a:xfrm>
            <a:off x="7840979" y="2944368"/>
            <a:ext cx="2839212" cy="512064"/>
          </a:xfrm>
          <a:prstGeom prst="roundRect">
            <a:avLst>
              <a:gd name="adj" fmla="val 14285"/>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932420" y="2944368"/>
            <a:ext cx="109728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GPU 서버</a:t>
            </a:r>
          </a:p>
        </p:txBody>
      </p:sp>
      <p:sp>
        <p:nvSpPr>
          <p:cNvPr id="73" name="Rectangle 72"/>
          <p:cNvSpPr/>
          <p:nvPr/>
        </p:nvSpPr>
        <p:spPr>
          <a:xfrm>
            <a:off x="8983980" y="3044951"/>
            <a:ext cx="328041" cy="31089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385173" y="3044951"/>
            <a:ext cx="328041" cy="31089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786365" y="3044951"/>
            <a:ext cx="328041" cy="31089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187559" y="3044951"/>
            <a:ext cx="328041" cy="31089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7840979" y="4041648"/>
            <a:ext cx="2839212" cy="420624"/>
          </a:xfrm>
          <a:prstGeom prst="roundRect">
            <a:avLst>
              <a:gd name="adj" fmla="val 17391"/>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840979" y="4041648"/>
            <a:ext cx="2839212" cy="42062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SSD</a:t>
            </a:r>
          </a:p>
        </p:txBody>
      </p:sp>
      <p:sp>
        <p:nvSpPr>
          <p:cNvPr id="79" name="Up Arrow 78"/>
          <p:cNvSpPr/>
          <p:nvPr/>
        </p:nvSpPr>
        <p:spPr>
          <a:xfrm>
            <a:off x="8876538" y="3511296"/>
            <a:ext cx="274320" cy="493776"/>
          </a:xfrm>
          <a:prstGeom prst="upArrow">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Down Arrow 79"/>
          <p:cNvSpPr/>
          <p:nvPr/>
        </p:nvSpPr>
        <p:spPr>
          <a:xfrm>
            <a:off x="9370313" y="3511296"/>
            <a:ext cx="274320" cy="493776"/>
          </a:xfrm>
          <a:prstGeom prst="downArrow">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840979" y="3566160"/>
            <a:ext cx="980693" cy="384048"/>
          </a:xfrm>
          <a:prstGeom prst="rect">
            <a:avLst/>
          </a:prstGeom>
          <a:noFill/>
        </p:spPr>
        <p:txBody>
          <a:bodyPr wrap="square" anchor="ctr" lIns="0" rIns="0" tIns="0" bIns="0">
            <a:spAutoFit/>
          </a:bodyPr>
          <a:lstStyle/>
          <a:p>
            <a:pPr algn="r">
              <a:lnSpc>
                <a:spcPct val="110000"/>
              </a:lnSpc>
            </a:pPr>
            <a:r>
              <a:rPr sz="1500" b="1">
                <a:solidFill>
                  <a:srgbClr val="3C4FA5"/>
                </a:solidFill>
                <a:latin typeface="Arial"/>
                <a:ea typeface="Arial"/>
              </a:rPr>
              <a:t>데이터 로딩</a:t>
            </a:r>
          </a:p>
        </p:txBody>
      </p:sp>
      <p:sp>
        <p:nvSpPr>
          <p:cNvPr id="82" name="TextBox 81"/>
          <p:cNvSpPr txBox="1"/>
          <p:nvPr/>
        </p:nvSpPr>
        <p:spPr>
          <a:xfrm>
            <a:off x="9699498" y="3566160"/>
            <a:ext cx="980694" cy="384048"/>
          </a:xfrm>
          <a:prstGeom prst="rect">
            <a:avLst/>
          </a:prstGeom>
          <a:noFill/>
        </p:spPr>
        <p:txBody>
          <a:bodyPr wrap="square" anchor="ctr" lIns="0" rIns="0" tIns="0" bIns="0">
            <a:spAutoFit/>
          </a:bodyPr>
          <a:lstStyle/>
          <a:p>
            <a:pPr algn="l">
              <a:lnSpc>
                <a:spcPct val="110000"/>
              </a:lnSpc>
            </a:pPr>
            <a:r>
              <a:rPr sz="1500" b="1">
                <a:solidFill>
                  <a:srgbClr val="677ECD"/>
                </a:solidFill>
                <a:latin typeface="Arial"/>
                <a:ea typeface="Arial"/>
              </a:rPr>
              <a:t>체크포인트</a:t>
            </a:r>
          </a:p>
        </p:txBody>
      </p:sp>
      <p:sp>
        <p:nvSpPr>
          <p:cNvPr id="83" name="Rounded Rectangle 82"/>
          <p:cNvSpPr/>
          <p:nvPr/>
        </p:nvSpPr>
        <p:spPr>
          <a:xfrm>
            <a:off x="12100803" y="2944368"/>
            <a:ext cx="1022116" cy="347472"/>
          </a:xfrm>
          <a:prstGeom prst="roundRect">
            <a:avLst>
              <a:gd name="adj" fmla="val 21052"/>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2100803" y="2944368"/>
            <a:ext cx="1022116" cy="347472"/>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GPU HBM</a:t>
            </a:r>
          </a:p>
        </p:txBody>
      </p:sp>
      <p:sp>
        <p:nvSpPr>
          <p:cNvPr id="85" name="Rounded Rectangle 84"/>
          <p:cNvSpPr/>
          <p:nvPr/>
        </p:nvSpPr>
        <p:spPr>
          <a:xfrm>
            <a:off x="11703314" y="3374135"/>
            <a:ext cx="1817095" cy="347472"/>
          </a:xfrm>
          <a:prstGeom prst="roundRect">
            <a:avLst>
              <a:gd name="adj" fmla="val 21052"/>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703314" y="3374135"/>
            <a:ext cx="1817095" cy="347472"/>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CPU DRAM</a:t>
            </a:r>
          </a:p>
        </p:txBody>
      </p:sp>
      <p:sp>
        <p:nvSpPr>
          <p:cNvPr id="87" name="Rounded Rectangle 86"/>
          <p:cNvSpPr/>
          <p:nvPr/>
        </p:nvSpPr>
        <p:spPr>
          <a:xfrm>
            <a:off x="11192256" y="3803904"/>
            <a:ext cx="2839212" cy="347472"/>
          </a:xfrm>
          <a:prstGeom prst="roundRect">
            <a:avLst>
              <a:gd name="adj" fmla="val 21052"/>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1192256" y="3803904"/>
            <a:ext cx="283921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SSD  KV · RAG · 가중치</a:t>
            </a:r>
          </a:p>
        </p:txBody>
      </p:sp>
      <p:sp>
        <p:nvSpPr>
          <p:cNvPr id="89" name="Down Arrow 88"/>
          <p:cNvSpPr/>
          <p:nvPr/>
        </p:nvSpPr>
        <p:spPr>
          <a:xfrm>
            <a:off x="11283696" y="2980944"/>
            <a:ext cx="219456" cy="731520"/>
          </a:xfrm>
          <a:prstGeom prst="downArrow">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Up Arrow 89"/>
          <p:cNvSpPr/>
          <p:nvPr/>
        </p:nvSpPr>
        <p:spPr>
          <a:xfrm>
            <a:off x="13720572" y="2980944"/>
            <a:ext cx="219456" cy="731520"/>
          </a:xfrm>
          <a:prstGeom prst="upArrow">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192256" y="4206240"/>
            <a:ext cx="2839212" cy="292608"/>
          </a:xfrm>
          <a:prstGeom prst="rect">
            <a:avLst/>
          </a:prstGeom>
          <a:noFill/>
        </p:spPr>
        <p:txBody>
          <a:bodyPr wrap="square" anchor="ctr" lIns="0" rIns="0" tIns="0" bIns="0">
            <a:spAutoFit/>
          </a:bodyPr>
          <a:lstStyle/>
          <a:p>
            <a:pPr algn="ctr">
              <a:lnSpc>
                <a:spcPct val="110000"/>
              </a:lnSpc>
            </a:pPr>
            <a:r>
              <a:rPr sz="1500" b="1">
                <a:solidFill>
                  <a:srgbClr val="677ECD"/>
                </a:solidFill>
                <a:latin typeface="Arial"/>
                <a:ea typeface="Arial"/>
              </a:rPr>
              <a:t>↓ 넘치면 오프로드</a:t>
            </a:r>
            <a:r>
              <a:rPr sz="1500" b="1">
                <a:solidFill>
                  <a:srgbClr val="3C4FA5"/>
                </a:solidFill>
                <a:latin typeface="Arial"/>
                <a:ea typeface="Arial"/>
              </a:rPr>
              <a:t>    ↑ 재사용</a:t>
            </a:r>
          </a:p>
        </p:txBody>
      </p:sp>
      <p:sp>
        <p:nvSpPr>
          <p:cNvPr id="92" name="Rectangle 91"/>
          <p:cNvSpPr/>
          <p:nvPr/>
        </p:nvSpPr>
        <p:spPr>
          <a:xfrm>
            <a:off x="1456182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483614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511046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5384780" y="2926079"/>
            <a:ext cx="219456"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565910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593342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620774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48206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675638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703070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456182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483614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511046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538478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565910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593342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620774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482060" y="3172968"/>
            <a:ext cx="219456"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675638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703070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456182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4836140" y="3419856"/>
            <a:ext cx="219456"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511046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538478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565910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593342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620774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648206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675638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703070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4543532" y="3657600"/>
            <a:ext cx="2839212" cy="274320"/>
          </a:xfrm>
          <a:prstGeom prst="rect">
            <a:avLst/>
          </a:prstGeom>
          <a:noFill/>
        </p:spPr>
        <p:txBody>
          <a:bodyPr wrap="square" anchor="ctr" lIns="0" rIns="0" tIns="0" bIns="0">
            <a:spAutoFit/>
          </a:bodyPr>
          <a:lstStyle/>
          <a:p>
            <a:pPr algn="l">
              <a:lnSpc>
                <a:spcPct val="110000"/>
              </a:lnSpc>
            </a:pPr>
            <a:r>
              <a:rPr sz="1600" b="0">
                <a:solidFill>
                  <a:srgbClr val="3C4FA5"/>
                </a:solidFill>
                <a:latin typeface="Arial"/>
                <a:ea typeface="Arial"/>
              </a:rPr>
              <a:t>■</a:t>
            </a:r>
            <a:r>
              <a:rPr sz="1600" b="0">
                <a:solidFill>
                  <a:srgbClr val="555555"/>
                </a:solidFill>
                <a:latin typeface="Arial"/>
                <a:ea typeface="Arial"/>
              </a:rPr>
              <a:t> 활성  </a:t>
            </a:r>
            <a:r>
              <a:rPr sz="1600" b="0">
                <a:solidFill>
                  <a:srgbClr val="D9D9D9"/>
                </a:solidFill>
                <a:latin typeface="Arial"/>
                <a:ea typeface="Arial"/>
              </a:rPr>
              <a:t>■</a:t>
            </a:r>
            <a:r>
              <a:rPr sz="1600" b="0">
                <a:solidFill>
                  <a:srgbClr val="555555"/>
                </a:solidFill>
                <a:latin typeface="Arial"/>
                <a:ea typeface="Arial"/>
              </a:rPr>
              <a:t> 휴면 (대부분)</a:t>
            </a:r>
          </a:p>
        </p:txBody>
      </p:sp>
      <p:sp>
        <p:nvSpPr>
          <p:cNvPr id="123" name="TextBox 122"/>
          <p:cNvSpPr txBox="1"/>
          <p:nvPr/>
        </p:nvSpPr>
        <p:spPr>
          <a:xfrm>
            <a:off x="14543532" y="4005072"/>
            <a:ext cx="1243584" cy="292608"/>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VM 디스크</a:t>
            </a:r>
          </a:p>
        </p:txBody>
      </p:sp>
      <p:sp>
        <p:nvSpPr>
          <p:cNvPr id="124" name="Rectangle 123"/>
          <p:cNvSpPr/>
          <p:nvPr/>
        </p:nvSpPr>
        <p:spPr>
          <a:xfrm>
            <a:off x="15787116" y="4050791"/>
            <a:ext cx="809244" cy="20116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6651224" y="4005072"/>
            <a:ext cx="868680" cy="292608"/>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100GB</a:t>
            </a:r>
          </a:p>
        </p:txBody>
      </p:sp>
      <p:sp>
        <p:nvSpPr>
          <p:cNvPr id="126" name="TextBox 125"/>
          <p:cNvSpPr txBox="1"/>
          <p:nvPr/>
        </p:nvSpPr>
        <p:spPr>
          <a:xfrm>
            <a:off x="14543532" y="4352544"/>
            <a:ext cx="1243584"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VM 메모리</a:t>
            </a:r>
          </a:p>
        </p:txBody>
      </p:sp>
      <p:sp>
        <p:nvSpPr>
          <p:cNvPr id="127" name="Rectangle 126"/>
          <p:cNvSpPr/>
          <p:nvPr/>
        </p:nvSpPr>
        <p:spPr>
          <a:xfrm>
            <a:off x="15787116" y="4398264"/>
            <a:ext cx="73152"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5915132" y="4352544"/>
            <a:ext cx="86868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7.75GB</a:t>
            </a:r>
          </a:p>
        </p:txBody>
      </p:sp>
      <p:sp>
        <p:nvSpPr>
          <p:cNvPr id="129" name="TextBox 128"/>
          <p:cNvSpPr txBox="1"/>
          <p:nvPr/>
        </p:nvSpPr>
        <p:spPr>
          <a:xfrm>
            <a:off x="722376" y="5394960"/>
            <a:ext cx="8869680" cy="329184"/>
          </a:xfrm>
          <a:prstGeom prst="rect">
            <a:avLst/>
          </a:prstGeom>
          <a:noFill/>
        </p:spPr>
        <p:txBody>
          <a:bodyPr wrap="square" anchor="ctr" lIns="0" rIns="0" tIns="0" bIns="0">
            <a:spAutoFit/>
          </a:bodyPr>
          <a:lstStyle/>
          <a:p>
            <a:pPr algn="l">
              <a:lnSpc>
                <a:spcPct val="110000"/>
              </a:lnSpc>
            </a:pPr>
            <a:r>
              <a:rPr sz="1900" b="1">
                <a:solidFill>
                  <a:srgbClr val="1A1A1A"/>
                </a:solidFill>
                <a:latin typeface="Arial"/>
                <a:ea typeface="Arial"/>
              </a:rPr>
              <a:t>삼성 SSD 포트폴리오  </a:t>
            </a:r>
            <a:r>
              <a:rPr sz="1700" b="0">
                <a:solidFill>
                  <a:srgbClr val="555555"/>
                </a:solidFill>
                <a:latin typeface="Arial"/>
                <a:ea typeface="Arial"/>
              </a:rPr>
              <a:t>수요별 대응 현황</a:t>
            </a:r>
          </a:p>
        </p:txBody>
      </p:sp>
      <p:sp>
        <p:nvSpPr>
          <p:cNvPr id="130" name="TextBox 129"/>
          <p:cNvSpPr txBox="1"/>
          <p:nvPr/>
        </p:nvSpPr>
        <p:spPr>
          <a:xfrm>
            <a:off x="10250424" y="5394960"/>
            <a:ext cx="7315200" cy="329184"/>
          </a:xfrm>
          <a:prstGeom prst="rect">
            <a:avLst/>
          </a:prstGeom>
          <a:noFill/>
        </p:spPr>
        <p:txBody>
          <a:bodyPr wrap="square" anchor="ctr" lIns="0" rIns="0" tIns="0" bIns="0">
            <a:spAutoFit/>
          </a:bodyPr>
          <a:lstStyle/>
          <a:p>
            <a:pPr algn="r">
              <a:lnSpc>
                <a:spcPct val="110000"/>
              </a:lnSpc>
            </a:pPr>
            <a:r>
              <a:rPr sz="1600" b="0">
                <a:solidFill>
                  <a:srgbClr val="3C4FA5"/>
                </a:solidFill>
                <a:latin typeface="Arial"/>
                <a:ea typeface="Arial"/>
              </a:rPr>
              <a:t>■</a:t>
            </a:r>
            <a:r>
              <a:rPr sz="1600" b="0">
                <a:solidFill>
                  <a:srgbClr val="555555"/>
                </a:solidFill>
                <a:latin typeface="Arial"/>
                <a:ea typeface="Arial"/>
              </a:rPr>
              <a:t> 대응 중   </a:t>
            </a:r>
            <a:r>
              <a:rPr sz="1600" b="0">
                <a:solidFill>
                  <a:srgbClr val="677ECD"/>
                </a:solidFill>
                <a:latin typeface="Arial"/>
                <a:ea typeface="Arial"/>
              </a:rPr>
              <a:t>▢</a:t>
            </a:r>
            <a:r>
              <a:rPr sz="1600" b="0">
                <a:solidFill>
                  <a:srgbClr val="555555"/>
                </a:solidFill>
                <a:latin typeface="Arial"/>
                <a:ea typeface="Arial"/>
              </a:rPr>
              <a:t> 대응 가능 · 신호</a:t>
            </a:r>
          </a:p>
        </p:txBody>
      </p:sp>
      <p:sp>
        <p:nvSpPr>
          <p:cNvPr id="131" name="Rounded Rectangle 130"/>
          <p:cNvSpPr/>
          <p:nvPr/>
        </p:nvSpPr>
        <p:spPr>
          <a:xfrm>
            <a:off x="722376" y="577900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p_pm1755.png"/>
          <p:cNvPicPr>
            <a:picLocks noChangeAspect="1"/>
          </p:cNvPicPr>
          <p:nvPr/>
        </p:nvPicPr>
        <p:blipFill>
          <a:blip r:embed="rId10"/>
          <a:stretch>
            <a:fillRect/>
          </a:stretch>
        </p:blipFill>
        <p:spPr>
          <a:xfrm>
            <a:off x="810490" y="5806440"/>
            <a:ext cx="847898" cy="621792"/>
          </a:xfrm>
          <a:prstGeom prst="rect">
            <a:avLst/>
          </a:prstGeom>
        </p:spPr>
      </p:pic>
      <p:sp>
        <p:nvSpPr>
          <p:cNvPr id="133" name="TextBox 132"/>
          <p:cNvSpPr txBox="1"/>
          <p:nvPr/>
        </p:nvSpPr>
        <p:spPr>
          <a:xfrm>
            <a:off x="1746504" y="579729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고내구 TLC · 3 DWPD</a:t>
            </a:r>
          </a:p>
        </p:txBody>
      </p:sp>
      <p:sp>
        <p:nvSpPr>
          <p:cNvPr id="134" name="TextBox 133"/>
          <p:cNvSpPr txBox="1"/>
          <p:nvPr/>
        </p:nvSpPr>
        <p:spPr>
          <a:xfrm>
            <a:off x="1746504" y="6117336"/>
            <a:ext cx="228600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PM1755 · PM1745</a:t>
            </a:r>
          </a:p>
        </p:txBody>
      </p:sp>
      <p:sp>
        <p:nvSpPr>
          <p:cNvPr id="135" name="Rounded Rectangle 134"/>
          <p:cNvSpPr/>
          <p:nvPr/>
        </p:nvSpPr>
        <p:spPr>
          <a:xfrm>
            <a:off x="4306824" y="577900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7658100" y="5779008"/>
            <a:ext cx="3204972" cy="676656"/>
          </a:xfrm>
          <a:prstGeom prst="roundRect">
            <a:avLst>
              <a:gd name="adj" fmla="val 10810"/>
            </a:avLst>
          </a:prstGeom>
          <a:solidFill>
            <a:srgbClr val="FFFFFF"/>
          </a:solidFill>
          <a:ln w="15875">
            <a:solidFill>
              <a:srgbClr val="677EC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749540" y="5797296"/>
            <a:ext cx="3022092" cy="329184"/>
          </a:xfrm>
          <a:prstGeom prst="rect">
            <a:avLst/>
          </a:prstGeom>
          <a:noFill/>
        </p:spPr>
        <p:txBody>
          <a:bodyPr wrap="square" anchor="ctr" lIns="0" rIns="0" tIns="0" bIns="0">
            <a:spAutoFit/>
          </a:bodyPr>
          <a:lstStyle/>
          <a:p>
            <a:pPr algn="ctr">
              <a:lnSpc>
                <a:spcPct val="110000"/>
              </a:lnSpc>
            </a:pPr>
            <a:r>
              <a:rPr sz="1700" b="1">
                <a:solidFill>
                  <a:srgbClr val="677ECD"/>
                </a:solidFill>
                <a:latin typeface="Arial"/>
                <a:ea typeface="Arial"/>
              </a:rPr>
              <a:t>체크포인트</a:t>
            </a:r>
          </a:p>
        </p:txBody>
      </p:sp>
      <p:sp>
        <p:nvSpPr>
          <p:cNvPr id="138" name="TextBox 137"/>
          <p:cNvSpPr txBox="1"/>
          <p:nvPr/>
        </p:nvSpPr>
        <p:spPr>
          <a:xfrm>
            <a:off x="7749540" y="6117336"/>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PM1755</a:t>
            </a:r>
          </a:p>
        </p:txBody>
      </p:sp>
      <p:sp>
        <p:nvSpPr>
          <p:cNvPr id="139" name="Rounded Rectangle 138"/>
          <p:cNvSpPr/>
          <p:nvPr/>
        </p:nvSpPr>
        <p:spPr>
          <a:xfrm>
            <a:off x="11009376" y="5779008"/>
            <a:ext cx="3204972" cy="676656"/>
          </a:xfrm>
          <a:prstGeom prst="roundRect">
            <a:avLst>
              <a:gd name="adj" fmla="val 1081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100816" y="579729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쓰기 많은 KV</a:t>
            </a:r>
          </a:p>
        </p:txBody>
      </p:sp>
      <p:sp>
        <p:nvSpPr>
          <p:cNvPr id="141" name="TextBox 140"/>
          <p:cNvSpPr txBox="1"/>
          <p:nvPr/>
        </p:nvSpPr>
        <p:spPr>
          <a:xfrm>
            <a:off x="11100816" y="6117336"/>
            <a:ext cx="3022092" cy="292608"/>
          </a:xfrm>
          <a:prstGeom prst="rect">
            <a:avLst/>
          </a:prstGeom>
          <a:noFill/>
        </p:spPr>
        <p:txBody>
          <a:bodyPr wrap="square" anchor="ctr" lIns="0" rIns="0" tIns="0" bIns="0">
            <a:spAutoFit/>
          </a:bodyPr>
          <a:lstStyle/>
          <a:p>
            <a:pPr algn="ctr">
              <a:lnSpc>
                <a:spcPct val="110000"/>
              </a:lnSpc>
            </a:pPr>
            <a:r>
              <a:rPr sz="1500" b="1">
                <a:solidFill>
                  <a:srgbClr val="C0CAEC"/>
                </a:solidFill>
                <a:latin typeface="Arial"/>
                <a:ea typeface="Arial"/>
              </a:rPr>
              <a:t>PM1755</a:t>
            </a:r>
          </a:p>
        </p:txBody>
      </p:sp>
      <p:sp>
        <p:nvSpPr>
          <p:cNvPr id="142" name="Rounded Rectangle 141"/>
          <p:cNvSpPr/>
          <p:nvPr/>
        </p:nvSpPr>
        <p:spPr>
          <a:xfrm>
            <a:off x="14360652" y="577900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ounded Rectangle 142"/>
          <p:cNvSpPr/>
          <p:nvPr/>
        </p:nvSpPr>
        <p:spPr>
          <a:xfrm>
            <a:off x="722376" y="651052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4" name="Picture 143" descr="p_pm1763.png"/>
          <p:cNvPicPr>
            <a:picLocks noChangeAspect="1"/>
          </p:cNvPicPr>
          <p:nvPr/>
        </p:nvPicPr>
        <p:blipFill>
          <a:blip r:embed="rId11"/>
          <a:stretch>
            <a:fillRect/>
          </a:stretch>
        </p:blipFill>
        <p:spPr>
          <a:xfrm>
            <a:off x="785312" y="6537960"/>
            <a:ext cx="898254" cy="621792"/>
          </a:xfrm>
          <a:prstGeom prst="rect">
            <a:avLst/>
          </a:prstGeom>
        </p:spPr>
      </p:pic>
      <p:sp>
        <p:nvSpPr>
          <p:cNvPr id="145" name="TextBox 144"/>
          <p:cNvSpPr txBox="1"/>
          <p:nvPr/>
        </p:nvSpPr>
        <p:spPr>
          <a:xfrm>
            <a:off x="1746504" y="652881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고성능 TLC · PCIe 6.0</a:t>
            </a:r>
          </a:p>
        </p:txBody>
      </p:sp>
      <p:sp>
        <p:nvSpPr>
          <p:cNvPr id="146" name="TextBox 145"/>
          <p:cNvSpPr txBox="1"/>
          <p:nvPr/>
        </p:nvSpPr>
        <p:spPr>
          <a:xfrm>
            <a:off x="1746504" y="6848856"/>
            <a:ext cx="228600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PM1763</a:t>
            </a:r>
          </a:p>
        </p:txBody>
      </p:sp>
      <p:sp>
        <p:nvSpPr>
          <p:cNvPr id="147" name="Rounded Rectangle 146"/>
          <p:cNvSpPr/>
          <p:nvPr/>
        </p:nvSpPr>
        <p:spPr>
          <a:xfrm>
            <a:off x="4306824" y="651052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7658100" y="6510528"/>
            <a:ext cx="3204972" cy="676656"/>
          </a:xfrm>
          <a:prstGeom prst="roundRect">
            <a:avLst>
              <a:gd name="adj" fmla="val 1081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749540" y="652881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데이터 로딩</a:t>
            </a:r>
          </a:p>
        </p:txBody>
      </p:sp>
      <p:sp>
        <p:nvSpPr>
          <p:cNvPr id="150" name="TextBox 149"/>
          <p:cNvSpPr txBox="1"/>
          <p:nvPr/>
        </p:nvSpPr>
        <p:spPr>
          <a:xfrm>
            <a:off x="7749540" y="6848856"/>
            <a:ext cx="3022092" cy="292608"/>
          </a:xfrm>
          <a:prstGeom prst="rect">
            <a:avLst/>
          </a:prstGeom>
          <a:noFill/>
        </p:spPr>
        <p:txBody>
          <a:bodyPr wrap="square" anchor="ctr" lIns="0" rIns="0" tIns="0" bIns="0">
            <a:spAutoFit/>
          </a:bodyPr>
          <a:lstStyle/>
          <a:p>
            <a:pPr algn="ctr">
              <a:lnSpc>
                <a:spcPct val="110000"/>
              </a:lnSpc>
            </a:pPr>
            <a:r>
              <a:rPr sz="1500" b="1">
                <a:solidFill>
                  <a:srgbClr val="C0CAEC"/>
                </a:solidFill>
                <a:latin typeface="Arial"/>
                <a:ea typeface="Arial"/>
              </a:rPr>
              <a:t>PM1763</a:t>
            </a:r>
          </a:p>
        </p:txBody>
      </p:sp>
      <p:sp>
        <p:nvSpPr>
          <p:cNvPr id="151" name="Rounded Rectangle 150"/>
          <p:cNvSpPr/>
          <p:nvPr/>
        </p:nvSpPr>
        <p:spPr>
          <a:xfrm>
            <a:off x="11009376" y="6510528"/>
            <a:ext cx="3204972" cy="676656"/>
          </a:xfrm>
          <a:prstGeom prst="roundRect">
            <a:avLst>
              <a:gd name="adj" fmla="val 10810"/>
            </a:avLst>
          </a:prstGeom>
          <a:solidFill>
            <a:srgbClr val="FFFFFF"/>
          </a:solidFill>
          <a:ln w="15875">
            <a:solidFill>
              <a:srgbClr val="677EC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00816" y="6528816"/>
            <a:ext cx="3022092" cy="329184"/>
          </a:xfrm>
          <a:prstGeom prst="rect">
            <a:avLst/>
          </a:prstGeom>
          <a:noFill/>
        </p:spPr>
        <p:txBody>
          <a:bodyPr wrap="square" anchor="ctr" lIns="0" rIns="0" tIns="0" bIns="0">
            <a:spAutoFit/>
          </a:bodyPr>
          <a:lstStyle/>
          <a:p>
            <a:pPr algn="ctr">
              <a:lnSpc>
                <a:spcPct val="110000"/>
              </a:lnSpc>
            </a:pPr>
            <a:r>
              <a:rPr sz="1700" b="1">
                <a:solidFill>
                  <a:srgbClr val="677ECD"/>
                </a:solidFill>
                <a:latin typeface="Arial"/>
                <a:ea typeface="Arial"/>
              </a:rPr>
              <a:t>가중치 로딩 · GPU 직결</a:t>
            </a:r>
          </a:p>
        </p:txBody>
      </p:sp>
      <p:sp>
        <p:nvSpPr>
          <p:cNvPr id="153" name="TextBox 152"/>
          <p:cNvSpPr txBox="1"/>
          <p:nvPr/>
        </p:nvSpPr>
        <p:spPr>
          <a:xfrm>
            <a:off x="11100816" y="6848856"/>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PM1763</a:t>
            </a:r>
          </a:p>
        </p:txBody>
      </p:sp>
      <p:sp>
        <p:nvSpPr>
          <p:cNvPr id="154" name="Rounded Rectangle 153"/>
          <p:cNvSpPr/>
          <p:nvPr/>
        </p:nvSpPr>
        <p:spPr>
          <a:xfrm>
            <a:off x="14360652" y="651052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ounded Rectangle 154"/>
          <p:cNvSpPr/>
          <p:nvPr/>
        </p:nvSpPr>
        <p:spPr>
          <a:xfrm>
            <a:off x="722376" y="724204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6" name="Picture 155" descr="p_pm1753.png"/>
          <p:cNvPicPr>
            <a:picLocks noChangeAspect="1"/>
          </p:cNvPicPr>
          <p:nvPr/>
        </p:nvPicPr>
        <p:blipFill>
          <a:blip r:embed="rId12"/>
          <a:stretch>
            <a:fillRect/>
          </a:stretch>
        </p:blipFill>
        <p:spPr>
          <a:xfrm>
            <a:off x="810490" y="7269480"/>
            <a:ext cx="847898" cy="621792"/>
          </a:xfrm>
          <a:prstGeom prst="rect">
            <a:avLst/>
          </a:prstGeom>
        </p:spPr>
      </p:pic>
      <p:sp>
        <p:nvSpPr>
          <p:cNvPr id="157" name="TextBox 156"/>
          <p:cNvSpPr txBox="1"/>
          <p:nvPr/>
        </p:nvSpPr>
        <p:spPr>
          <a:xfrm>
            <a:off x="1746504" y="726033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고성능 TLC · PCIe 5.0</a:t>
            </a:r>
          </a:p>
        </p:txBody>
      </p:sp>
      <p:sp>
        <p:nvSpPr>
          <p:cNvPr id="158" name="TextBox 157"/>
          <p:cNvSpPr txBox="1"/>
          <p:nvPr/>
        </p:nvSpPr>
        <p:spPr>
          <a:xfrm>
            <a:off x="1746504" y="7580375"/>
            <a:ext cx="228600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PM1753 · PM9D3a</a:t>
            </a:r>
          </a:p>
        </p:txBody>
      </p:sp>
      <p:sp>
        <p:nvSpPr>
          <p:cNvPr id="159" name="Rounded Rectangle 158"/>
          <p:cNvSpPr/>
          <p:nvPr/>
        </p:nvSpPr>
        <p:spPr>
          <a:xfrm>
            <a:off x="4306824" y="7242048"/>
            <a:ext cx="3204972" cy="676656"/>
          </a:xfrm>
          <a:prstGeom prst="roundRect">
            <a:avLst>
              <a:gd name="adj" fmla="val 1081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4398264" y="726033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VM · DB 블록</a:t>
            </a:r>
          </a:p>
        </p:txBody>
      </p:sp>
      <p:sp>
        <p:nvSpPr>
          <p:cNvPr id="161" name="TextBox 160"/>
          <p:cNvSpPr txBox="1"/>
          <p:nvPr/>
        </p:nvSpPr>
        <p:spPr>
          <a:xfrm>
            <a:off x="4398264" y="7580375"/>
            <a:ext cx="3022092" cy="292608"/>
          </a:xfrm>
          <a:prstGeom prst="rect">
            <a:avLst/>
          </a:prstGeom>
          <a:noFill/>
        </p:spPr>
        <p:txBody>
          <a:bodyPr wrap="square" anchor="ctr" lIns="0" rIns="0" tIns="0" bIns="0">
            <a:spAutoFit/>
          </a:bodyPr>
          <a:lstStyle/>
          <a:p>
            <a:pPr algn="ctr">
              <a:lnSpc>
                <a:spcPct val="110000"/>
              </a:lnSpc>
            </a:pPr>
            <a:r>
              <a:rPr sz="1500" b="1">
                <a:solidFill>
                  <a:srgbClr val="C0CAEC"/>
                </a:solidFill>
                <a:latin typeface="Arial"/>
                <a:ea typeface="Arial"/>
              </a:rPr>
              <a:t>PM9D3a · PM1753</a:t>
            </a:r>
          </a:p>
        </p:txBody>
      </p:sp>
      <p:sp>
        <p:nvSpPr>
          <p:cNvPr id="162" name="Rounded Rectangle 161"/>
          <p:cNvSpPr/>
          <p:nvPr/>
        </p:nvSpPr>
        <p:spPr>
          <a:xfrm>
            <a:off x="7658100" y="724204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11009376" y="7242048"/>
            <a:ext cx="3204972" cy="676656"/>
          </a:xfrm>
          <a:prstGeom prst="roundRect">
            <a:avLst>
              <a:gd name="adj" fmla="val 1081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1100816" y="726033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KV 계층 (CMX)</a:t>
            </a:r>
          </a:p>
        </p:txBody>
      </p:sp>
      <p:sp>
        <p:nvSpPr>
          <p:cNvPr id="165" name="TextBox 164"/>
          <p:cNvSpPr txBox="1"/>
          <p:nvPr/>
        </p:nvSpPr>
        <p:spPr>
          <a:xfrm>
            <a:off x="11100816" y="7580375"/>
            <a:ext cx="3022092" cy="292608"/>
          </a:xfrm>
          <a:prstGeom prst="rect">
            <a:avLst/>
          </a:prstGeom>
          <a:noFill/>
        </p:spPr>
        <p:txBody>
          <a:bodyPr wrap="square" anchor="ctr" lIns="0" rIns="0" tIns="0" bIns="0">
            <a:spAutoFit/>
          </a:bodyPr>
          <a:lstStyle/>
          <a:p>
            <a:pPr algn="ctr">
              <a:lnSpc>
                <a:spcPct val="110000"/>
              </a:lnSpc>
            </a:pPr>
            <a:r>
              <a:rPr sz="1500" b="1">
                <a:solidFill>
                  <a:srgbClr val="C0CAEC"/>
                </a:solidFill>
                <a:latin typeface="Arial"/>
                <a:ea typeface="Arial"/>
              </a:rPr>
              <a:t>PM1753</a:t>
            </a:r>
          </a:p>
        </p:txBody>
      </p:sp>
      <p:sp>
        <p:nvSpPr>
          <p:cNvPr id="166" name="Rounded Rectangle 165"/>
          <p:cNvSpPr/>
          <p:nvPr/>
        </p:nvSpPr>
        <p:spPr>
          <a:xfrm>
            <a:off x="14360652" y="7242048"/>
            <a:ext cx="3204972" cy="676656"/>
          </a:xfrm>
          <a:prstGeom prst="roundRect">
            <a:avLst>
              <a:gd name="adj" fmla="val 10810"/>
            </a:avLst>
          </a:prstGeom>
          <a:solidFill>
            <a:srgbClr val="FFFFFF"/>
          </a:solidFill>
          <a:ln w="15875">
            <a:solidFill>
              <a:srgbClr val="677EC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4452092" y="7260336"/>
            <a:ext cx="3022092" cy="329184"/>
          </a:xfrm>
          <a:prstGeom prst="rect">
            <a:avLst/>
          </a:prstGeom>
          <a:noFill/>
        </p:spPr>
        <p:txBody>
          <a:bodyPr wrap="square" anchor="ctr" lIns="0" rIns="0" tIns="0" bIns="0">
            <a:spAutoFit/>
          </a:bodyPr>
          <a:lstStyle/>
          <a:p>
            <a:pPr algn="ctr">
              <a:lnSpc>
                <a:spcPct val="110000"/>
              </a:lnSpc>
            </a:pPr>
            <a:r>
              <a:rPr sz="1700" b="1">
                <a:solidFill>
                  <a:srgbClr val="677ECD"/>
                </a:solidFill>
                <a:latin typeface="Arial"/>
                <a:ea typeface="Arial"/>
              </a:rPr>
              <a:t>기동 버스트</a:t>
            </a:r>
          </a:p>
        </p:txBody>
      </p:sp>
      <p:sp>
        <p:nvSpPr>
          <p:cNvPr id="168" name="TextBox 167"/>
          <p:cNvSpPr txBox="1"/>
          <p:nvPr/>
        </p:nvSpPr>
        <p:spPr>
          <a:xfrm>
            <a:off x="14452092" y="7580375"/>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PM1753</a:t>
            </a:r>
          </a:p>
        </p:txBody>
      </p:sp>
      <p:sp>
        <p:nvSpPr>
          <p:cNvPr id="169" name="Rounded Rectangle 168"/>
          <p:cNvSpPr/>
          <p:nvPr/>
        </p:nvSpPr>
        <p:spPr>
          <a:xfrm>
            <a:off x="722376" y="797356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0" name="Picture 169" descr="p_bm1743.png"/>
          <p:cNvPicPr>
            <a:picLocks noChangeAspect="1"/>
          </p:cNvPicPr>
          <p:nvPr/>
        </p:nvPicPr>
        <p:blipFill>
          <a:blip r:embed="rId13"/>
          <a:stretch>
            <a:fillRect/>
          </a:stretch>
        </p:blipFill>
        <p:spPr>
          <a:xfrm>
            <a:off x="785312" y="8001000"/>
            <a:ext cx="898254" cy="621792"/>
          </a:xfrm>
          <a:prstGeom prst="rect">
            <a:avLst/>
          </a:prstGeom>
        </p:spPr>
      </p:pic>
      <p:sp>
        <p:nvSpPr>
          <p:cNvPr id="171" name="TextBox 170"/>
          <p:cNvSpPr txBox="1"/>
          <p:nvPr/>
        </p:nvSpPr>
        <p:spPr>
          <a:xfrm>
            <a:off x="1746504" y="799185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고용량 QLC · 0.26~0.6</a:t>
            </a:r>
          </a:p>
        </p:txBody>
      </p:sp>
      <p:sp>
        <p:nvSpPr>
          <p:cNvPr id="172" name="TextBox 171"/>
          <p:cNvSpPr txBox="1"/>
          <p:nvPr/>
        </p:nvSpPr>
        <p:spPr>
          <a:xfrm>
            <a:off x="1746504" y="8311896"/>
            <a:ext cx="2286000" cy="292608"/>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BM1743 · BM1773</a:t>
            </a:r>
          </a:p>
        </p:txBody>
      </p:sp>
      <p:sp>
        <p:nvSpPr>
          <p:cNvPr id="173" name="Rounded Rectangle 172"/>
          <p:cNvSpPr/>
          <p:nvPr/>
        </p:nvSpPr>
        <p:spPr>
          <a:xfrm>
            <a:off x="4306824" y="7973568"/>
            <a:ext cx="3204972" cy="676656"/>
          </a:xfrm>
          <a:prstGeom prst="roundRect">
            <a:avLst>
              <a:gd name="adj" fmla="val 1081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4398264" y="799185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객체 · 콜드 데이터</a:t>
            </a:r>
          </a:p>
        </p:txBody>
      </p:sp>
      <p:sp>
        <p:nvSpPr>
          <p:cNvPr id="175" name="TextBox 174"/>
          <p:cNvSpPr txBox="1"/>
          <p:nvPr/>
        </p:nvSpPr>
        <p:spPr>
          <a:xfrm>
            <a:off x="4398264" y="8311896"/>
            <a:ext cx="3022092" cy="292608"/>
          </a:xfrm>
          <a:prstGeom prst="rect">
            <a:avLst/>
          </a:prstGeom>
          <a:noFill/>
        </p:spPr>
        <p:txBody>
          <a:bodyPr wrap="square" anchor="ctr" lIns="0" rIns="0" tIns="0" bIns="0">
            <a:spAutoFit/>
          </a:bodyPr>
          <a:lstStyle/>
          <a:p>
            <a:pPr algn="ctr">
              <a:lnSpc>
                <a:spcPct val="110000"/>
              </a:lnSpc>
            </a:pPr>
            <a:r>
              <a:rPr sz="1500" b="1">
                <a:solidFill>
                  <a:srgbClr val="C0CAEC"/>
                </a:solidFill>
                <a:latin typeface="Arial"/>
                <a:ea typeface="Arial"/>
              </a:rPr>
              <a:t>BM1743</a:t>
            </a:r>
          </a:p>
        </p:txBody>
      </p:sp>
      <p:sp>
        <p:nvSpPr>
          <p:cNvPr id="176" name="Rounded Rectangle 175"/>
          <p:cNvSpPr/>
          <p:nvPr/>
        </p:nvSpPr>
        <p:spPr>
          <a:xfrm>
            <a:off x="7658100" y="7973568"/>
            <a:ext cx="3204972" cy="676656"/>
          </a:xfrm>
          <a:prstGeom prst="roundRect">
            <a:avLst>
              <a:gd name="adj" fmla="val 1081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7749540" y="799185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데이터셋</a:t>
            </a:r>
          </a:p>
        </p:txBody>
      </p:sp>
      <p:sp>
        <p:nvSpPr>
          <p:cNvPr id="178" name="TextBox 177"/>
          <p:cNvSpPr txBox="1"/>
          <p:nvPr/>
        </p:nvSpPr>
        <p:spPr>
          <a:xfrm>
            <a:off x="7749540" y="8311896"/>
            <a:ext cx="3022092" cy="292608"/>
          </a:xfrm>
          <a:prstGeom prst="rect">
            <a:avLst/>
          </a:prstGeom>
          <a:noFill/>
        </p:spPr>
        <p:txBody>
          <a:bodyPr wrap="square" anchor="ctr" lIns="0" rIns="0" tIns="0" bIns="0">
            <a:spAutoFit/>
          </a:bodyPr>
          <a:lstStyle/>
          <a:p>
            <a:pPr algn="ctr">
              <a:lnSpc>
                <a:spcPct val="110000"/>
              </a:lnSpc>
            </a:pPr>
            <a:r>
              <a:rPr sz="1500" b="1">
                <a:solidFill>
                  <a:srgbClr val="C0CAEC"/>
                </a:solidFill>
                <a:latin typeface="Arial"/>
                <a:ea typeface="Arial"/>
              </a:rPr>
              <a:t>BM1743</a:t>
            </a:r>
          </a:p>
        </p:txBody>
      </p:sp>
      <p:sp>
        <p:nvSpPr>
          <p:cNvPr id="179" name="Rounded Rectangle 178"/>
          <p:cNvSpPr/>
          <p:nvPr/>
        </p:nvSpPr>
        <p:spPr>
          <a:xfrm>
            <a:off x="11009376" y="7973568"/>
            <a:ext cx="3204972" cy="676656"/>
          </a:xfrm>
          <a:prstGeom prst="roundRect">
            <a:avLst>
              <a:gd name="adj" fmla="val 10810"/>
            </a:avLst>
          </a:prstGeom>
          <a:solidFill>
            <a:srgbClr val="FFFFFF"/>
          </a:solidFill>
          <a:ln w="15875">
            <a:solidFill>
              <a:srgbClr val="677EC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11100816" y="7991856"/>
            <a:ext cx="3022092" cy="329184"/>
          </a:xfrm>
          <a:prstGeom prst="rect">
            <a:avLst/>
          </a:prstGeom>
          <a:noFill/>
        </p:spPr>
        <p:txBody>
          <a:bodyPr wrap="square" anchor="ctr" lIns="0" rIns="0" tIns="0" bIns="0">
            <a:spAutoFit/>
          </a:bodyPr>
          <a:lstStyle/>
          <a:p>
            <a:pPr algn="ctr">
              <a:lnSpc>
                <a:spcPct val="110000"/>
              </a:lnSpc>
            </a:pPr>
            <a:r>
              <a:rPr sz="1700" b="1">
                <a:solidFill>
                  <a:srgbClr val="677ECD"/>
                </a:solidFill>
                <a:latin typeface="Arial"/>
                <a:ea typeface="Arial"/>
              </a:rPr>
              <a:t>가중치 · RAG 읽기</a:t>
            </a:r>
          </a:p>
        </p:txBody>
      </p:sp>
      <p:sp>
        <p:nvSpPr>
          <p:cNvPr id="181" name="TextBox 180"/>
          <p:cNvSpPr txBox="1"/>
          <p:nvPr/>
        </p:nvSpPr>
        <p:spPr>
          <a:xfrm>
            <a:off x="11100816" y="8311896"/>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BM1743</a:t>
            </a:r>
          </a:p>
        </p:txBody>
      </p:sp>
      <p:sp>
        <p:nvSpPr>
          <p:cNvPr id="182" name="Rounded Rectangle 181"/>
          <p:cNvSpPr/>
          <p:nvPr/>
        </p:nvSpPr>
        <p:spPr>
          <a:xfrm>
            <a:off x="14360652" y="7973568"/>
            <a:ext cx="3204972" cy="676656"/>
          </a:xfrm>
          <a:prstGeom prst="roundRect">
            <a:avLst>
              <a:gd name="adj" fmla="val 1081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14452092" y="799185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사용자 VM 디스크</a:t>
            </a:r>
          </a:p>
        </p:txBody>
      </p:sp>
      <p:sp>
        <p:nvSpPr>
          <p:cNvPr id="184" name="TextBox 183"/>
          <p:cNvSpPr txBox="1"/>
          <p:nvPr/>
        </p:nvSpPr>
        <p:spPr>
          <a:xfrm>
            <a:off x="14452092" y="8311896"/>
            <a:ext cx="3022092" cy="292608"/>
          </a:xfrm>
          <a:prstGeom prst="rect">
            <a:avLst/>
          </a:prstGeom>
          <a:noFill/>
        </p:spPr>
        <p:txBody>
          <a:bodyPr wrap="square" anchor="ctr" lIns="0" rIns="0" tIns="0" bIns="0">
            <a:spAutoFit/>
          </a:bodyPr>
          <a:lstStyle/>
          <a:p>
            <a:pPr algn="ctr">
              <a:lnSpc>
                <a:spcPct val="110000"/>
              </a:lnSpc>
            </a:pPr>
            <a:r>
              <a:rPr sz="1500" b="1">
                <a:solidFill>
                  <a:srgbClr val="C0CAEC"/>
                </a:solidFill>
                <a:latin typeface="Arial"/>
                <a:ea typeface="Arial"/>
              </a:rPr>
              <a:t>BM1743 · BM1773</a:t>
            </a:r>
          </a:p>
        </p:txBody>
      </p:sp>
      <p:sp>
        <p:nvSpPr>
          <p:cNvPr id="185" name="TextBox 184"/>
          <p:cNvSpPr txBox="1"/>
          <p:nvPr/>
        </p:nvSpPr>
        <p:spPr>
          <a:xfrm>
            <a:off x="722376" y="8796528"/>
            <a:ext cx="3383280" cy="310896"/>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eSSD 수요 비중</a:t>
            </a:r>
          </a:p>
        </p:txBody>
      </p:sp>
      <p:sp>
        <p:nvSpPr>
          <p:cNvPr id="186" name="TextBox 185"/>
          <p:cNvSpPr txBox="1"/>
          <p:nvPr/>
        </p:nvSpPr>
        <p:spPr>
          <a:xfrm>
            <a:off x="722376" y="9125711"/>
            <a:ext cx="265176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TechInsights 3Q26</a:t>
            </a:r>
          </a:p>
        </p:txBody>
      </p:sp>
      <p:sp>
        <p:nvSpPr>
          <p:cNvPr id="187" name="TextBox 186"/>
          <p:cNvSpPr txBox="1"/>
          <p:nvPr/>
        </p:nvSpPr>
        <p:spPr>
          <a:xfrm>
            <a:off x="722376" y="8814815"/>
            <a:ext cx="3273552"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2025</a:t>
            </a:r>
          </a:p>
        </p:txBody>
      </p:sp>
      <p:sp>
        <p:nvSpPr>
          <p:cNvPr id="188" name="Rectangle 187"/>
          <p:cNvSpPr/>
          <p:nvPr/>
        </p:nvSpPr>
        <p:spPr>
          <a:xfrm>
            <a:off x="4306824" y="8814815"/>
            <a:ext cx="7159752" cy="274320"/>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4306824" y="8814815"/>
            <a:ext cx="7159752"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범용 54%</a:t>
            </a:r>
          </a:p>
        </p:txBody>
      </p:sp>
      <p:sp>
        <p:nvSpPr>
          <p:cNvPr id="190" name="Rectangle 189"/>
          <p:cNvSpPr/>
          <p:nvPr/>
        </p:nvSpPr>
        <p:spPr>
          <a:xfrm>
            <a:off x="11466576" y="8814815"/>
            <a:ext cx="1988819" cy="274320"/>
          </a:xfrm>
          <a:prstGeom prst="rect">
            <a:avLst/>
          </a:prstGeom>
          <a:solidFill>
            <a:srgbClr val="C0CA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11466576" y="8814815"/>
            <a:ext cx="1988819" cy="27432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AI 학습 15%</a:t>
            </a:r>
          </a:p>
        </p:txBody>
      </p:sp>
      <p:sp>
        <p:nvSpPr>
          <p:cNvPr id="192" name="Rectangle 191"/>
          <p:cNvSpPr/>
          <p:nvPr/>
        </p:nvSpPr>
        <p:spPr>
          <a:xfrm>
            <a:off x="13455396" y="8814815"/>
            <a:ext cx="4110228" cy="274320"/>
          </a:xfrm>
          <a:prstGeom prst="rect">
            <a:avLst/>
          </a:prstGeom>
          <a:solidFill>
            <a:srgbClr val="3C4F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13455396" y="8814815"/>
            <a:ext cx="4110228"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AI 추론 31%</a:t>
            </a:r>
          </a:p>
        </p:txBody>
      </p:sp>
      <p:sp>
        <p:nvSpPr>
          <p:cNvPr id="194" name="TextBox 193"/>
          <p:cNvSpPr txBox="1"/>
          <p:nvPr/>
        </p:nvSpPr>
        <p:spPr>
          <a:xfrm>
            <a:off x="722376" y="9143999"/>
            <a:ext cx="3273552" cy="274320"/>
          </a:xfrm>
          <a:prstGeom prst="rect">
            <a:avLst/>
          </a:prstGeom>
          <a:noFill/>
        </p:spPr>
        <p:txBody>
          <a:bodyPr wrap="square" anchor="ctr" lIns="0" rIns="0" tIns="0" bIns="0">
            <a:spAutoFit/>
          </a:bodyPr>
          <a:lstStyle/>
          <a:p>
            <a:pPr algn="r">
              <a:lnSpc>
                <a:spcPct val="110000"/>
              </a:lnSpc>
            </a:pPr>
            <a:r>
              <a:rPr sz="1600" b="1">
                <a:solidFill>
                  <a:srgbClr val="1A1A1A"/>
                </a:solidFill>
                <a:latin typeface="Arial"/>
                <a:ea typeface="Arial"/>
              </a:rPr>
              <a:t>2030</a:t>
            </a:r>
          </a:p>
        </p:txBody>
      </p:sp>
      <p:sp>
        <p:nvSpPr>
          <p:cNvPr id="195" name="Rectangle 194"/>
          <p:cNvSpPr/>
          <p:nvPr/>
        </p:nvSpPr>
        <p:spPr>
          <a:xfrm>
            <a:off x="4306824" y="9143999"/>
            <a:ext cx="1988819" cy="274320"/>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4306824" y="9143999"/>
            <a:ext cx="1988819"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범용 15%</a:t>
            </a:r>
          </a:p>
        </p:txBody>
      </p:sp>
      <p:sp>
        <p:nvSpPr>
          <p:cNvPr id="197" name="Rectangle 196"/>
          <p:cNvSpPr/>
          <p:nvPr/>
        </p:nvSpPr>
        <p:spPr>
          <a:xfrm>
            <a:off x="6295644" y="9143999"/>
            <a:ext cx="795528" cy="274320"/>
          </a:xfrm>
          <a:prstGeom prst="rect">
            <a:avLst/>
          </a:prstGeom>
          <a:solidFill>
            <a:srgbClr val="C0CA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295644" y="9143999"/>
            <a:ext cx="795528" cy="27432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6%</a:t>
            </a:r>
          </a:p>
        </p:txBody>
      </p:sp>
      <p:sp>
        <p:nvSpPr>
          <p:cNvPr id="199" name="Rectangle 198"/>
          <p:cNvSpPr/>
          <p:nvPr/>
        </p:nvSpPr>
        <p:spPr>
          <a:xfrm>
            <a:off x="7091172" y="9143999"/>
            <a:ext cx="10474452" cy="274320"/>
          </a:xfrm>
          <a:prstGeom prst="rect">
            <a:avLst/>
          </a:prstGeom>
          <a:solidFill>
            <a:srgbClr val="3C4F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7091172" y="9143999"/>
            <a:ext cx="10474452"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AI 추론 79%</a:t>
            </a:r>
          </a:p>
        </p:txBody>
      </p:sp>
      <p:grpSp>
        <p:nvGrpSpPr>
          <p:cNvPr id="207" name="Group 206"/>
          <p:cNvGrpSpPr/>
          <p:nvPr/>
        </p:nvGrpSpPr>
        <p:grpSpPr>
          <a:xfrm>
            <a:off x="7063740" y="1874519"/>
            <a:ext cx="10529316" cy="7571232"/>
            <a:chOff x="7063740" y="1874519"/>
            <a:chExt cx="10529316" cy="7571232"/>
          </a:xfrm>
        </p:grpSpPr>
        <p:sp>
          <p:nvSpPr>
            <p:cNvPr id="201" name="Rounded Rectangle 200"/>
            <p:cNvSpPr/>
            <p:nvPr/>
          </p:nvSpPr>
          <p:spPr>
            <a:xfrm>
              <a:off x="10945368" y="2057400"/>
              <a:ext cx="3332988" cy="6629400"/>
            </a:xfrm>
            <a:prstGeom prst="roundRect">
              <a:avLst>
                <a:gd name="adj" fmla="val 2194"/>
              </a:avLst>
            </a:prstGeom>
            <a:noFill/>
            <a:ln w="5715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3427964" y="8787384"/>
              <a:ext cx="4165091" cy="329184"/>
            </a:xfrm>
            <a:prstGeom prst="rect">
              <a:avLst/>
            </a:prstGeom>
            <a:noFill/>
            <a:ln w="4445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7063740" y="9116567"/>
              <a:ext cx="10529316" cy="329184"/>
            </a:xfrm>
            <a:prstGeom prst="rect">
              <a:avLst/>
            </a:prstGeom>
            <a:noFill/>
            <a:ln w="4445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4" name="Connector 203"/>
            <p:cNvCxnSpPr/>
            <p:nvPr/>
          </p:nvCxnSpPr>
          <p:spPr>
            <a:xfrm>
              <a:off x="12611862" y="8686800"/>
              <a:ext cx="0" cy="100584"/>
            </a:xfrm>
            <a:prstGeom prst="line">
              <a:avLst/>
            </a:prstGeom>
            <a:ln w="38100">
              <a:solidFill>
                <a:srgbClr val="E8590C"/>
              </a:solidFill>
            </a:ln>
          </p:spPr>
          <p:style>
            <a:lnRef idx="2">
              <a:schemeClr val="accent1"/>
            </a:lnRef>
            <a:fillRef idx="0">
              <a:schemeClr val="accent1"/>
            </a:fillRef>
            <a:effectRef idx="1">
              <a:schemeClr val="accent1"/>
            </a:effectRef>
            <a:fontRef idx="minor">
              <a:schemeClr val="tx1"/>
            </a:fontRef>
          </p:style>
        </p:cxnSp>
        <p:sp>
          <p:nvSpPr>
            <p:cNvPr id="205" name="Rounded Rectangle 204"/>
            <p:cNvSpPr/>
            <p:nvPr/>
          </p:nvSpPr>
          <p:spPr>
            <a:xfrm>
              <a:off x="12733020" y="1874519"/>
              <a:ext cx="1417320" cy="347472"/>
            </a:xfrm>
            <a:prstGeom prst="roundRect">
              <a:avLst>
                <a:gd name="adj" fmla="val 21052"/>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12733020" y="1874519"/>
              <a:ext cx="1417320" cy="347472"/>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추론에 집중</a:t>
              </a:r>
            </a:p>
          </p:txBody>
        </p:sp>
      </p:grpSp>
      <p:sp>
        <p:nvSpPr>
          <p:cNvPr id="208" name="TextBox 20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수요 비중 TechInsights 3Q26 보고서(사용자 제공, 원문 미대조) · HBM 과제팀 집계 · p99 FlashBlox(FAST'17) · 학습 · 추론 카드의 SSD 역할 수치(GPU당 대역 · KV 복원 대역 · p99 목표 · DWPD 실측)는 노트 · 에이전트 Google · Muse 관측(제3자) · 삼성 모델 사양 공식 페이지 검색 확인(🟡) · 제품 이미지는 형태 재현</a:t>
            </a:r>
          </a:p>
        </p:txBody>
      </p:sp>
      <p:sp>
        <p:nvSpPr>
          <p:cNvPr id="209" name="TextBox 20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1 / 8</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nodeType="clickEffect">
                                  <p:stCondLst>
                                    <p:cond delay="0"/>
                                  </p:stCondLst>
                                  <p:childTnLst>
                                    <p:set>
                                      <p:cBhvr>
                                        <p:cTn id="7" dur="1" fill="hold">
                                          <p:stCondLst>
                                            <p:cond delay="0"/>
                                          </p:stCondLst>
                                        </p:cTn>
                                        <p:tgtEl>
                                          <p:spTgt spid="207"/>
                                        </p:tgtEl>
                                        <p:attrNameLst>
                                          <p:attrName>style.visibility</p:attrName>
                                        </p:attrNameLst>
                                      </p:cBhvr>
                                      <p:to>
                                        <p:strVal val="visible"/>
                                      </p:to>
                                    </p:set>
                                    <p:animEffect transition="in" filter="fade">
                                      <p:cBhvr>
                                        <p:cTn id="8"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2 / 8  AI 추론 대응</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AI 추론 수요는 용도마다 SSD 요구가 다르고,</a:t>
            </a:r>
          </a:p>
          <a:p>
            <a:pPr algn="l">
              <a:lnSpc>
                <a:spcPct val="105000"/>
              </a:lnSpc>
            </a:pPr>
            <a:r>
              <a:rPr sz="3200" b="1">
                <a:solidFill>
                  <a:srgbClr val="1A1A1A"/>
                </a:solidFill>
                <a:latin typeface="Arial"/>
                <a:ea typeface="Arial"/>
              </a:rPr>
              <a:t>그 요구를 채우는 핵심 기술은 고객과 함께 개발하고 최적화해야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066543"/>
            <a:ext cx="3474720" cy="402336"/>
          </a:xfrm>
          <a:prstGeom prst="rect">
            <a:avLst/>
          </a:prstGeom>
          <a:noFill/>
        </p:spPr>
        <p:txBody>
          <a:bodyPr wrap="square" anchor="ctr" lIns="0" rIns="0" tIns="0" bIns="0">
            <a:spAutoFit/>
          </a:bodyPr>
          <a:lstStyle/>
          <a:p>
            <a:pPr algn="l">
              <a:lnSpc>
                <a:spcPct val="110000"/>
              </a:lnSpc>
            </a:pPr>
            <a:r>
              <a:rPr sz="2100" b="1">
                <a:solidFill>
                  <a:srgbClr val="3C4FA5"/>
                </a:solidFill>
                <a:latin typeface="Arial"/>
                <a:ea typeface="Arial"/>
              </a:rPr>
              <a:t>① 추론 수요</a:t>
            </a:r>
          </a:p>
        </p:txBody>
      </p:sp>
      <p:sp>
        <p:nvSpPr>
          <p:cNvPr id="7" name="TextBox 6"/>
          <p:cNvSpPr txBox="1"/>
          <p:nvPr/>
        </p:nvSpPr>
        <p:spPr>
          <a:xfrm>
            <a:off x="4507992" y="2066543"/>
            <a:ext cx="4480560" cy="402336"/>
          </a:xfrm>
          <a:prstGeom prst="rect">
            <a:avLst/>
          </a:prstGeom>
          <a:noFill/>
        </p:spPr>
        <p:txBody>
          <a:bodyPr wrap="square" anchor="ctr" lIns="0" rIns="0" tIns="0" bIns="0">
            <a:spAutoFit/>
          </a:bodyPr>
          <a:lstStyle/>
          <a:p>
            <a:pPr algn="l">
              <a:lnSpc>
                <a:spcPct val="110000"/>
              </a:lnSpc>
            </a:pPr>
            <a:r>
              <a:rPr sz="2100" b="1">
                <a:solidFill>
                  <a:srgbClr val="3C4FA5"/>
                </a:solidFill>
                <a:latin typeface="Arial"/>
                <a:ea typeface="Arial"/>
              </a:rPr>
              <a:t>② 핵심 요구</a:t>
            </a:r>
          </a:p>
        </p:txBody>
      </p:sp>
      <p:sp>
        <p:nvSpPr>
          <p:cNvPr id="8" name="TextBox 7"/>
          <p:cNvSpPr txBox="1"/>
          <p:nvPr/>
        </p:nvSpPr>
        <p:spPr>
          <a:xfrm>
            <a:off x="9317736" y="2066543"/>
            <a:ext cx="8247888" cy="402336"/>
          </a:xfrm>
          <a:prstGeom prst="rect">
            <a:avLst/>
          </a:prstGeom>
          <a:noFill/>
        </p:spPr>
        <p:txBody>
          <a:bodyPr wrap="square" anchor="ctr" lIns="0" rIns="0" tIns="0" bIns="0">
            <a:spAutoFit/>
          </a:bodyPr>
          <a:lstStyle/>
          <a:p>
            <a:pPr algn="l">
              <a:lnSpc>
                <a:spcPct val="110000"/>
              </a:lnSpc>
            </a:pPr>
            <a:r>
              <a:rPr sz="2100" b="1">
                <a:solidFill>
                  <a:srgbClr val="3C4FA5"/>
                </a:solidFill>
                <a:latin typeface="Arial"/>
                <a:ea typeface="Arial"/>
              </a:rPr>
              <a:t>③ 핵심 기술</a:t>
            </a:r>
          </a:p>
        </p:txBody>
      </p:sp>
      <p:sp>
        <p:nvSpPr>
          <p:cNvPr id="9" name="Chevron 8"/>
          <p:cNvSpPr/>
          <p:nvPr/>
        </p:nvSpPr>
        <p:spPr>
          <a:xfrm>
            <a:off x="4215383" y="2048255"/>
            <a:ext cx="219456" cy="438912"/>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9025128" y="2048255"/>
            <a:ext cx="219456" cy="438912"/>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Read</a:t>
            </a:r>
          </a:p>
          <a:p>
            <a:pPr algn="ctr">
              <a:lnSpc>
                <a:spcPct val="95000"/>
              </a:lnSpc>
            </a:pPr>
            <a:r>
              <a:rPr sz="1500" b="1">
                <a:solidFill>
                  <a:srgbClr val="1A1A1A"/>
                </a:solidFill>
                <a:latin typeface="Arial"/>
                <a:ea typeface="Arial"/>
              </a:rPr>
              <a:t>BW</a:t>
            </a:r>
          </a:p>
        </p:txBody>
      </p:sp>
      <p:sp>
        <p:nvSpPr>
          <p:cNvPr id="12" name="TextBox 11"/>
          <p:cNvSpPr txBox="1"/>
          <p:nvPr/>
        </p:nvSpPr>
        <p:spPr>
          <a:xfrm>
            <a:off x="5404104"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Tail</a:t>
            </a:r>
          </a:p>
          <a:p>
            <a:pPr algn="ctr">
              <a:lnSpc>
                <a:spcPct val="95000"/>
              </a:lnSpc>
            </a:pPr>
            <a:r>
              <a:rPr sz="1500" b="1">
                <a:solidFill>
                  <a:srgbClr val="1A1A1A"/>
                </a:solidFill>
                <a:latin typeface="Arial"/>
                <a:ea typeface="Arial"/>
              </a:rPr>
              <a:t>Latency</a:t>
            </a:r>
          </a:p>
        </p:txBody>
      </p:sp>
      <p:sp>
        <p:nvSpPr>
          <p:cNvPr id="13" name="TextBox 12"/>
          <p:cNvSpPr txBox="1"/>
          <p:nvPr/>
        </p:nvSpPr>
        <p:spPr>
          <a:xfrm>
            <a:off x="6300216"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DWPD</a:t>
            </a:r>
          </a:p>
        </p:txBody>
      </p:sp>
      <p:sp>
        <p:nvSpPr>
          <p:cNvPr id="14" name="TextBox 13"/>
          <p:cNvSpPr txBox="1"/>
          <p:nvPr/>
        </p:nvSpPr>
        <p:spPr>
          <a:xfrm>
            <a:off x="7196327"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Capacity</a:t>
            </a:r>
          </a:p>
          <a:p>
            <a:pPr algn="ctr">
              <a:lnSpc>
                <a:spcPct val="95000"/>
              </a:lnSpc>
            </a:pPr>
            <a:r>
              <a:rPr sz="1500" b="1">
                <a:solidFill>
                  <a:srgbClr val="1A1A1A"/>
                </a:solidFill>
                <a:latin typeface="Arial"/>
                <a:ea typeface="Arial"/>
              </a:rPr>
              <a:t>$/TB</a:t>
            </a:r>
          </a:p>
        </p:txBody>
      </p:sp>
      <p:sp>
        <p:nvSpPr>
          <p:cNvPr id="15" name="TextBox 14"/>
          <p:cNvSpPr txBox="1"/>
          <p:nvPr/>
        </p:nvSpPr>
        <p:spPr>
          <a:xfrm>
            <a:off x="8092440"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Isolation</a:t>
            </a:r>
          </a:p>
          <a:p>
            <a:pPr algn="ctr">
              <a:lnSpc>
                <a:spcPct val="95000"/>
              </a:lnSpc>
            </a:pPr>
            <a:r>
              <a:rPr sz="1500" b="1">
                <a:solidFill>
                  <a:srgbClr val="1A1A1A"/>
                </a:solidFill>
                <a:latin typeface="Arial"/>
                <a:ea typeface="Arial"/>
              </a:rPr>
              <a:t>Security</a:t>
            </a:r>
          </a:p>
        </p:txBody>
      </p:sp>
      <p:sp>
        <p:nvSpPr>
          <p:cNvPr id="16" name="TextBox 15"/>
          <p:cNvSpPr txBox="1"/>
          <p:nvPr/>
        </p:nvSpPr>
        <p:spPr>
          <a:xfrm>
            <a:off x="9317736" y="2578608"/>
            <a:ext cx="8247888" cy="402336"/>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채도 = 고객 협력 정도   </a:t>
            </a:r>
            <a:r>
              <a:rPr sz="1700" b="0">
                <a:solidFill>
                  <a:srgbClr val="3C4FA5"/>
                </a:solidFill>
                <a:latin typeface="Arial"/>
                <a:ea typeface="Arial"/>
              </a:rPr>
              <a:t>■</a:t>
            </a:r>
            <a:r>
              <a:rPr sz="1600" b="0">
                <a:solidFill>
                  <a:srgbClr val="555555"/>
                </a:solidFill>
                <a:latin typeface="Arial"/>
                <a:ea typeface="Arial"/>
              </a:rPr>
              <a:t> 최적화까지 함께   </a:t>
            </a:r>
            <a:r>
              <a:rPr sz="1700" b="0">
                <a:solidFill>
                  <a:srgbClr val="677ECD"/>
                </a:solidFill>
                <a:latin typeface="Arial"/>
                <a:ea typeface="Arial"/>
              </a:rPr>
              <a:t>■</a:t>
            </a:r>
            <a:r>
              <a:rPr sz="1600" b="0">
                <a:solidFill>
                  <a:srgbClr val="555555"/>
                </a:solidFill>
                <a:latin typeface="Arial"/>
                <a:ea typeface="Arial"/>
              </a:rPr>
              <a:t> 고객 시스템 개발   </a:t>
            </a:r>
            <a:r>
              <a:rPr sz="1700" b="0">
                <a:solidFill>
                  <a:srgbClr val="C0CAEC"/>
                </a:solidFill>
                <a:latin typeface="Arial"/>
                <a:ea typeface="Arial"/>
              </a:rPr>
              <a:t>■</a:t>
            </a:r>
            <a:r>
              <a:rPr sz="1600" b="0">
                <a:solidFill>
                  <a:srgbClr val="555555"/>
                </a:solidFill>
                <a:latin typeface="Arial"/>
                <a:ea typeface="Arial"/>
              </a:rPr>
              <a:t> SSD 안에서</a:t>
            </a:r>
          </a:p>
        </p:txBody>
      </p:sp>
      <p:sp>
        <p:nvSpPr>
          <p:cNvPr id="17" name="Rounded Rectangle 16"/>
          <p:cNvSpPr/>
          <p:nvPr/>
        </p:nvSpPr>
        <p:spPr>
          <a:xfrm>
            <a:off x="722376" y="3035808"/>
            <a:ext cx="34747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5528" y="3108960"/>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981699" y="3226003"/>
            <a:ext cx="298461" cy="7680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81699" y="3302812"/>
            <a:ext cx="298461" cy="76810"/>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1699" y="3302812"/>
            <a:ext cx="298461" cy="23042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81699" y="3302812"/>
            <a:ext cx="298461" cy="384048"/>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81699" y="3226003"/>
            <a:ext cx="298461" cy="23042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81699" y="3379622"/>
            <a:ext cx="298461" cy="76810"/>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81699" y="3456432"/>
            <a:ext cx="298461" cy="7680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81699" y="3456432"/>
            <a:ext cx="298461" cy="230428"/>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81699" y="3226003"/>
            <a:ext cx="298461" cy="384048"/>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81699" y="3379622"/>
            <a:ext cx="298461" cy="23042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81699" y="3533241"/>
            <a:ext cx="298461" cy="76810"/>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1699" y="3610051"/>
            <a:ext cx="298461" cy="7680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80160" y="3226003"/>
            <a:ext cx="298460" cy="7680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280160" y="3226003"/>
            <a:ext cx="298460" cy="23042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80160" y="3226003"/>
            <a:ext cx="298460" cy="384048"/>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280160" y="3302812"/>
            <a:ext cx="298460" cy="76810"/>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280160" y="3379622"/>
            <a:ext cx="298460" cy="76810"/>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80160" y="3379622"/>
            <a:ext cx="298460" cy="23042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280160" y="3302812"/>
            <a:ext cx="298460" cy="23042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280160" y="3456432"/>
            <a:ext cx="298460" cy="7680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280160" y="3533241"/>
            <a:ext cx="298460" cy="76810"/>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280160" y="3302812"/>
            <a:ext cx="298460" cy="384048"/>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280160" y="3456432"/>
            <a:ext cx="298460" cy="230428"/>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280160" y="3610051"/>
            <a:ext cx="298460" cy="76809"/>
          </a:xfrm>
          <a:prstGeom prst="line">
            <a:avLst/>
          </a:prstGeom>
          <a:ln w="9525">
            <a:solidFill>
              <a:srgbClr val="C0CAEC"/>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927293" y="3248406"/>
            <a:ext cx="108813" cy="108813"/>
          </a:xfrm>
          <a:prstGeom prst="ellipse">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27293" y="3402025"/>
            <a:ext cx="108813" cy="108813"/>
          </a:xfrm>
          <a:prstGeom prst="ellipse">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27293" y="3555644"/>
            <a:ext cx="108813" cy="108813"/>
          </a:xfrm>
          <a:prstGeom prst="ellipse">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225753" y="3171596"/>
            <a:ext cx="108813" cy="108813"/>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225753" y="3325215"/>
            <a:ext cx="108813" cy="108813"/>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225753" y="3478834"/>
            <a:ext cx="108813" cy="108813"/>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225753" y="3632454"/>
            <a:ext cx="108813" cy="108813"/>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524213" y="3248406"/>
            <a:ext cx="108813" cy="108813"/>
          </a:xfrm>
          <a:prstGeom prst="ellipse">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524213" y="3402025"/>
            <a:ext cx="108813" cy="108813"/>
          </a:xfrm>
          <a:prstGeom prst="ellipse">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524213" y="3555644"/>
            <a:ext cx="108813" cy="108813"/>
          </a:xfrm>
          <a:prstGeom prst="ellipse">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74519" y="3108960"/>
            <a:ext cx="2267711"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모델 가중치</a:t>
            </a:r>
          </a:p>
        </p:txBody>
      </p:sp>
      <p:sp>
        <p:nvSpPr>
          <p:cNvPr id="54" name="TextBox 53"/>
          <p:cNvSpPr txBox="1"/>
          <p:nvPr/>
        </p:nvSpPr>
        <p:spPr>
          <a:xfrm>
            <a:off x="1874519" y="3493008"/>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로딩 · 모델 교체</a:t>
            </a:r>
          </a:p>
        </p:txBody>
      </p:sp>
      <p:sp>
        <p:nvSpPr>
          <p:cNvPr id="55" name="Rounded Rectangle 54"/>
          <p:cNvSpPr/>
          <p:nvPr/>
        </p:nvSpPr>
        <p:spPr>
          <a:xfrm>
            <a:off x="4507992" y="3035808"/>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782312" y="3282696"/>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678424" y="3282696"/>
            <a:ext cx="347472" cy="347472"/>
          </a:xfrm>
          <a:prstGeom prst="ellipse">
            <a:avLst/>
          </a:prstGeom>
          <a:solidFill>
            <a:srgbClr val="FFFFFF"/>
          </a:solidFill>
          <a:ln w="2540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470648" y="3282696"/>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366760" y="3282696"/>
            <a:ext cx="347472" cy="347472"/>
          </a:xfrm>
          <a:prstGeom prst="ellipse">
            <a:avLst/>
          </a:prstGeom>
          <a:solidFill>
            <a:srgbClr val="FFFFFF"/>
          </a:solidFill>
          <a:ln w="2540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317736" y="3200400"/>
            <a:ext cx="2657856" cy="512064"/>
          </a:xfrm>
          <a:prstGeom prst="roundRect">
            <a:avLst>
              <a:gd name="adj" fmla="val 14285"/>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445752" y="3319637"/>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26584" y="3319637"/>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607417" y="3319637"/>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688250" y="3319637"/>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445752" y="3456432"/>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48088" y="3200400"/>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68" name="Rounded Rectangle 67"/>
          <p:cNvSpPr/>
          <p:nvPr/>
        </p:nvSpPr>
        <p:spPr>
          <a:xfrm>
            <a:off x="12112752" y="3200400"/>
            <a:ext cx="2657856" cy="512064"/>
          </a:xfrm>
          <a:prstGeom prst="roundRect">
            <a:avLst>
              <a:gd name="adj" fmla="val 14285"/>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2309165" y="3300984"/>
            <a:ext cx="174101" cy="192755"/>
          </a:xfrm>
          <a:prstGeom prst="ellipse">
            <a:avLst/>
          </a:prstGeom>
          <a:no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2265639" y="3425342"/>
            <a:ext cx="261152" cy="180319"/>
          </a:xfrm>
          <a:prstGeom prst="roundRect">
            <a:avLst>
              <a:gd name="adj" fmla="val 405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2377562" y="3475085"/>
            <a:ext cx="37307" cy="7461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2643104" y="3200400"/>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Confidential</a:t>
            </a:r>
          </a:p>
        </p:txBody>
      </p:sp>
      <p:sp>
        <p:nvSpPr>
          <p:cNvPr id="73" name="Rounded Rectangle 72"/>
          <p:cNvSpPr/>
          <p:nvPr/>
        </p:nvSpPr>
        <p:spPr>
          <a:xfrm>
            <a:off x="14907768" y="3200400"/>
            <a:ext cx="2657856" cy="512064"/>
          </a:xfrm>
          <a:prstGeom prst="roundRect">
            <a:avLst>
              <a:gd name="adj" fmla="val 14285"/>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5035784" y="3300984"/>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5141488" y="3300984"/>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5247193" y="3300984"/>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5035784" y="3406688"/>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5141488" y="3406688"/>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5247193" y="3406688"/>
            <a:ext cx="87050" cy="87050"/>
          </a:xfrm>
          <a:prstGeom prst="rect">
            <a:avLst/>
          </a:prstGeom>
          <a:no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5035784" y="3512393"/>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5141488" y="3512393"/>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5247193" y="3512393"/>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5438120" y="3200400"/>
            <a:ext cx="2072640" cy="512064"/>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Fault Tolerant</a:t>
            </a:r>
          </a:p>
        </p:txBody>
      </p:sp>
      <p:sp>
        <p:nvSpPr>
          <p:cNvPr id="84" name="Rounded Rectangle 83"/>
          <p:cNvSpPr/>
          <p:nvPr/>
        </p:nvSpPr>
        <p:spPr>
          <a:xfrm>
            <a:off x="722376" y="3968496"/>
            <a:ext cx="34747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95528" y="4041648"/>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an 85"/>
          <p:cNvSpPr/>
          <p:nvPr/>
        </p:nvSpPr>
        <p:spPr>
          <a:xfrm>
            <a:off x="876360" y="4184294"/>
            <a:ext cx="351129" cy="422452"/>
          </a:xfrm>
          <a:prstGeom prst="can">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332829" y="4209897"/>
            <a:ext cx="64008" cy="64008"/>
          </a:xfrm>
          <a:prstGeom prst="ellips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420611" y="4325112"/>
            <a:ext cx="64008" cy="6400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297716" y="4401921"/>
            <a:ext cx="64008" cy="64008"/>
          </a:xfrm>
          <a:prstGeom prst="ellips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490837" y="4197096"/>
            <a:ext cx="64008" cy="64008"/>
          </a:xfrm>
          <a:prstGeom prst="ellips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385498" y="4491532"/>
            <a:ext cx="64008" cy="64008"/>
          </a:xfrm>
          <a:prstGeom prst="ellips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50385" y="4261104"/>
            <a:ext cx="243230" cy="243230"/>
          </a:xfrm>
          <a:prstGeom prst="ellipse">
            <a:avLst/>
          </a:prstGeom>
          <a:noFill/>
          <a:ln w="317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1561612" y="4472330"/>
            <a:ext cx="122347" cy="185623"/>
          </a:xfrm>
          <a:prstGeom prst="line">
            <a:avLst/>
          </a:prstGeom>
          <a:ln w="38100">
            <a:solidFill>
              <a:srgbClr val="3C4FA5"/>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1874519" y="4041648"/>
            <a:ext cx="2267711"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RAG · Vector DB</a:t>
            </a:r>
          </a:p>
        </p:txBody>
      </p:sp>
      <p:sp>
        <p:nvSpPr>
          <p:cNvPr id="95" name="TextBox 94"/>
          <p:cNvSpPr txBox="1"/>
          <p:nvPr/>
        </p:nvSpPr>
        <p:spPr>
          <a:xfrm>
            <a:off x="1874519" y="4425696"/>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작은 랜덤 읽기 · 색인 갱신</a:t>
            </a:r>
          </a:p>
        </p:txBody>
      </p:sp>
      <p:sp>
        <p:nvSpPr>
          <p:cNvPr id="96" name="Rounded Rectangle 95"/>
          <p:cNvSpPr/>
          <p:nvPr/>
        </p:nvSpPr>
        <p:spPr>
          <a:xfrm>
            <a:off x="4507992" y="3968496"/>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782312" y="4215383"/>
            <a:ext cx="347472" cy="347472"/>
          </a:xfrm>
          <a:prstGeom prst="ellipse">
            <a:avLst/>
          </a:prstGeom>
          <a:solidFill>
            <a:srgbClr val="FFFFFF"/>
          </a:solidFill>
          <a:ln w="2540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678424" y="4215383"/>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470648" y="4215383"/>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366760" y="4215383"/>
            <a:ext cx="347472" cy="347472"/>
          </a:xfrm>
          <a:prstGeom prst="ellipse">
            <a:avLst/>
          </a:prstGeom>
          <a:solidFill>
            <a:srgbClr val="FFFFFF"/>
          </a:solidFill>
          <a:ln w="2540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9317736" y="4133087"/>
            <a:ext cx="2657856" cy="512064"/>
          </a:xfrm>
          <a:prstGeom prst="roundRect">
            <a:avLst>
              <a:gd name="adj" fmla="val 14285"/>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445752" y="423367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9551456" y="423367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657161" y="423367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445752" y="4339376"/>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551456" y="4339376"/>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657161" y="4339376"/>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445752" y="444508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551456" y="444508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657161" y="444508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848088" y="4133087"/>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FDP</a:t>
            </a:r>
          </a:p>
        </p:txBody>
      </p:sp>
      <p:sp>
        <p:nvSpPr>
          <p:cNvPr id="113" name="Rounded Rectangle 112"/>
          <p:cNvSpPr/>
          <p:nvPr/>
        </p:nvSpPr>
        <p:spPr>
          <a:xfrm>
            <a:off x="12112752" y="4133087"/>
            <a:ext cx="2657856" cy="512064"/>
          </a:xfrm>
          <a:prstGeom prst="roundRect">
            <a:avLst>
              <a:gd name="adj" fmla="val 14285"/>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2240768" y="425232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2321600" y="425232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2402433" y="425232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2483266" y="425232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2240768" y="4389120"/>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2643104" y="4133087"/>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121" name="Rounded Rectangle 120"/>
          <p:cNvSpPr/>
          <p:nvPr/>
        </p:nvSpPr>
        <p:spPr>
          <a:xfrm>
            <a:off x="14907768" y="4133087"/>
            <a:ext cx="2657856" cy="512064"/>
          </a:xfrm>
          <a:prstGeom prst="roundRect">
            <a:avLst>
              <a:gd name="adj" fmla="val 14285"/>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15035784" y="4233672"/>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15035784" y="4339376"/>
            <a:ext cx="304678" cy="74615"/>
          </a:xfrm>
          <a:prstGeom prst="roundRect">
            <a:avLst>
              <a:gd name="adj" fmla="val 50000"/>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15035784" y="4445081"/>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5438120" y="4133087"/>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Multi-Tenant QoS</a:t>
            </a:r>
          </a:p>
        </p:txBody>
      </p:sp>
      <p:sp>
        <p:nvSpPr>
          <p:cNvPr id="126" name="Rounded Rectangle 125"/>
          <p:cNvSpPr/>
          <p:nvPr/>
        </p:nvSpPr>
        <p:spPr>
          <a:xfrm>
            <a:off x="722376" y="4901183"/>
            <a:ext cx="3474720" cy="841248"/>
          </a:xfrm>
          <a:prstGeom prst="roundRect">
            <a:avLst>
              <a:gd name="adj" fmla="val 8695"/>
            </a:avLst>
          </a:prstGeom>
          <a:solidFill>
            <a:srgbClr val="F0F2F8"/>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795528" y="4974336"/>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858804" y="5040172"/>
            <a:ext cx="333573" cy="256032"/>
          </a:xfrm>
          <a:prstGeom prst="roundRect">
            <a:avLst>
              <a:gd name="adj" fmla="val 28571"/>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893917" y="5091379"/>
            <a:ext cx="46700" cy="14849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967303" y="5091379"/>
            <a:ext cx="46700" cy="14849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40689" y="5091379"/>
            <a:ext cx="46700" cy="14849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14075" y="5091379"/>
            <a:ext cx="46700" cy="14849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858804" y="5398617"/>
            <a:ext cx="333573" cy="192024"/>
          </a:xfrm>
          <a:prstGeom prst="roundRect">
            <a:avLst>
              <a:gd name="adj" fmla="val 38095"/>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93917" y="5437022"/>
            <a:ext cx="40028" cy="11521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53960" y="5437022"/>
            <a:ext cx="40028"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014003" y="5437022"/>
            <a:ext cx="40028" cy="11521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74046" y="5437022"/>
            <a:ext cx="40028"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134090" y="5437022"/>
            <a:ext cx="40028" cy="11521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Down Arrow 138"/>
          <p:cNvSpPr/>
          <p:nvPr/>
        </p:nvSpPr>
        <p:spPr>
          <a:xfrm>
            <a:off x="971092" y="5302605"/>
            <a:ext cx="91440" cy="89611"/>
          </a:xfrm>
          <a:prstGeom prst="downArrow">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297716" y="5193792"/>
            <a:ext cx="79004" cy="25603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394277" y="5232196"/>
            <a:ext cx="79004" cy="25603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490837" y="5193792"/>
            <a:ext cx="79004" cy="25603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587398" y="5232196"/>
            <a:ext cx="79004" cy="25603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874519" y="4974336"/>
            <a:ext cx="2267711" cy="402336"/>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KV 캐시 오프로드</a:t>
            </a:r>
          </a:p>
        </p:txBody>
      </p:sp>
      <p:sp>
        <p:nvSpPr>
          <p:cNvPr id="145" name="TextBox 144"/>
          <p:cNvSpPr txBox="1"/>
          <p:nvPr/>
        </p:nvSpPr>
        <p:spPr>
          <a:xfrm>
            <a:off x="1874519" y="5358383"/>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긴 문맥 · 재사용</a:t>
            </a:r>
          </a:p>
        </p:txBody>
      </p:sp>
      <p:sp>
        <p:nvSpPr>
          <p:cNvPr id="146" name="Rounded Rectangle 145"/>
          <p:cNvSpPr/>
          <p:nvPr/>
        </p:nvSpPr>
        <p:spPr>
          <a:xfrm>
            <a:off x="4507992" y="4901183"/>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782312" y="5148071"/>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5678424" y="5148071"/>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6574536" y="5148071"/>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7470648" y="5148071"/>
            <a:ext cx="347472" cy="347472"/>
          </a:xfrm>
          <a:prstGeom prst="ellipse">
            <a:avLst/>
          </a:prstGeom>
          <a:solidFill>
            <a:srgbClr val="FFFFFF"/>
          </a:solidFill>
          <a:ln w="2540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ounded Rectangle 150"/>
          <p:cNvSpPr/>
          <p:nvPr/>
        </p:nvSpPr>
        <p:spPr>
          <a:xfrm>
            <a:off x="9317736" y="5065775"/>
            <a:ext cx="2657856" cy="512064"/>
          </a:xfrm>
          <a:prstGeom prst="roundRect">
            <a:avLst>
              <a:gd name="adj" fmla="val 14285"/>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445752" y="5166359"/>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551456" y="5166359"/>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657161" y="5166359"/>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9445752" y="5272064"/>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9551456" y="5272064"/>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657161" y="5272064"/>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445752" y="5377769"/>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551456" y="5377769"/>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9657161" y="5377769"/>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848088" y="5065775"/>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FDP</a:t>
            </a:r>
          </a:p>
        </p:txBody>
      </p:sp>
      <p:sp>
        <p:nvSpPr>
          <p:cNvPr id="163" name="Rounded Rectangle 162"/>
          <p:cNvSpPr/>
          <p:nvPr/>
        </p:nvSpPr>
        <p:spPr>
          <a:xfrm>
            <a:off x="12112752" y="5065775"/>
            <a:ext cx="2657856" cy="512064"/>
          </a:xfrm>
          <a:prstGeom prst="roundRect">
            <a:avLst>
              <a:gd name="adj" fmla="val 14285"/>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2240768" y="5166359"/>
            <a:ext cx="304678" cy="7461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Down Arrow 164"/>
          <p:cNvSpPr/>
          <p:nvPr/>
        </p:nvSpPr>
        <p:spPr>
          <a:xfrm>
            <a:off x="12377562" y="5247192"/>
            <a:ext cx="31089" cy="37307"/>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2240768" y="5296936"/>
            <a:ext cx="304678" cy="1741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2643104" y="5065775"/>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Mixed Media</a:t>
            </a:r>
          </a:p>
        </p:txBody>
      </p:sp>
      <p:sp>
        <p:nvSpPr>
          <p:cNvPr id="169" name="Rounded Rectangle 168"/>
          <p:cNvSpPr/>
          <p:nvPr/>
        </p:nvSpPr>
        <p:spPr>
          <a:xfrm>
            <a:off x="14907768" y="5065775"/>
            <a:ext cx="2657856" cy="512064"/>
          </a:xfrm>
          <a:prstGeom prst="roundRect">
            <a:avLst>
              <a:gd name="adj" fmla="val 14285"/>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5035784" y="5185013"/>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15116616" y="5185013"/>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15197449" y="5185013"/>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15278282" y="5185013"/>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5035784" y="5321807"/>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5438120" y="5065775"/>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177" name="Rounded Rectangle 176"/>
          <p:cNvSpPr/>
          <p:nvPr/>
        </p:nvSpPr>
        <p:spPr>
          <a:xfrm>
            <a:off x="722376" y="5833872"/>
            <a:ext cx="34747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ounded Rectangle 177"/>
          <p:cNvSpPr/>
          <p:nvPr/>
        </p:nvSpPr>
        <p:spPr>
          <a:xfrm>
            <a:off x="795528" y="5907024"/>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911473" y="5998464"/>
            <a:ext cx="192024" cy="19202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ounded Rectangle 179"/>
          <p:cNvSpPr/>
          <p:nvPr/>
        </p:nvSpPr>
        <p:spPr>
          <a:xfrm>
            <a:off x="858804" y="6216091"/>
            <a:ext cx="294436" cy="268833"/>
          </a:xfrm>
          <a:prstGeom prst="roundRect">
            <a:avLst>
              <a:gd name="adj" fmla="val 27210"/>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1280160" y="6024067"/>
            <a:ext cx="52669" cy="6400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1367942" y="6036868"/>
            <a:ext cx="343229" cy="44805"/>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1280160" y="6152083"/>
            <a:ext cx="52669" cy="64008"/>
          </a:xfrm>
          <a:prstGeom prst="ellips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1367942" y="6164884"/>
            <a:ext cx="268614" cy="4480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1280160" y="6280099"/>
            <a:ext cx="52669" cy="64008"/>
          </a:xfrm>
          <a:prstGeom prst="ellips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367942" y="6292900"/>
            <a:ext cx="313383" cy="4480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1280160" y="6408115"/>
            <a:ext cx="52669" cy="64008"/>
          </a:xfrm>
          <a:prstGeom prst="ellips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367942" y="6420916"/>
            <a:ext cx="223845" cy="4480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1874519" y="5907024"/>
            <a:ext cx="2267711"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에이전트 메모리</a:t>
            </a:r>
          </a:p>
        </p:txBody>
      </p:sp>
      <p:sp>
        <p:nvSpPr>
          <p:cNvPr id="190" name="TextBox 189"/>
          <p:cNvSpPr txBox="1"/>
          <p:nvPr/>
        </p:nvSpPr>
        <p:spPr>
          <a:xfrm>
            <a:off x="1874519" y="6291072"/>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세션 · 상태 · 로그</a:t>
            </a:r>
          </a:p>
        </p:txBody>
      </p:sp>
      <p:sp>
        <p:nvSpPr>
          <p:cNvPr id="191" name="Rounded Rectangle 190"/>
          <p:cNvSpPr/>
          <p:nvPr/>
        </p:nvSpPr>
        <p:spPr>
          <a:xfrm>
            <a:off x="4507992" y="5833872"/>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5678424" y="6080759"/>
            <a:ext cx="347472" cy="347472"/>
          </a:xfrm>
          <a:prstGeom prst="ellipse">
            <a:avLst/>
          </a:prstGeom>
          <a:solidFill>
            <a:srgbClr val="FFFFFF"/>
          </a:solidFill>
          <a:ln w="2540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6574536" y="6080759"/>
            <a:ext cx="347472" cy="347472"/>
          </a:xfrm>
          <a:prstGeom prst="ellipse">
            <a:avLst/>
          </a:prstGeom>
          <a:solidFill>
            <a:srgbClr val="FFFFFF"/>
          </a:solidFill>
          <a:ln w="2540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7470648" y="6080759"/>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8366760" y="6080759"/>
            <a:ext cx="347472" cy="34747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ounded Rectangle 195"/>
          <p:cNvSpPr/>
          <p:nvPr/>
        </p:nvSpPr>
        <p:spPr>
          <a:xfrm>
            <a:off x="9317736" y="5998464"/>
            <a:ext cx="2657856" cy="512064"/>
          </a:xfrm>
          <a:prstGeom prst="roundRect">
            <a:avLst>
              <a:gd name="adj" fmla="val 14285"/>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9445752" y="6099048"/>
            <a:ext cx="304678" cy="7461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Down Arrow 197"/>
          <p:cNvSpPr/>
          <p:nvPr/>
        </p:nvSpPr>
        <p:spPr>
          <a:xfrm>
            <a:off x="9582546" y="6179880"/>
            <a:ext cx="31089" cy="37307"/>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9445752" y="6229624"/>
            <a:ext cx="304678" cy="1741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9848088" y="5998464"/>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Mixed Media</a:t>
            </a:r>
          </a:p>
        </p:txBody>
      </p:sp>
      <p:sp>
        <p:nvSpPr>
          <p:cNvPr id="202" name="Rounded Rectangle 201"/>
          <p:cNvSpPr/>
          <p:nvPr/>
        </p:nvSpPr>
        <p:spPr>
          <a:xfrm>
            <a:off x="12112752" y="5998464"/>
            <a:ext cx="2657856" cy="512064"/>
          </a:xfrm>
          <a:prstGeom prst="roundRect">
            <a:avLst>
              <a:gd name="adj" fmla="val 14285"/>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ounded Rectangle 202"/>
          <p:cNvSpPr/>
          <p:nvPr/>
        </p:nvSpPr>
        <p:spPr>
          <a:xfrm>
            <a:off x="12240768" y="6099048"/>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ounded Rectangle 203"/>
          <p:cNvSpPr/>
          <p:nvPr/>
        </p:nvSpPr>
        <p:spPr>
          <a:xfrm>
            <a:off x="12240768" y="6204752"/>
            <a:ext cx="304678" cy="74615"/>
          </a:xfrm>
          <a:prstGeom prst="roundRect">
            <a:avLst>
              <a:gd name="adj" fmla="val 50000"/>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ounded Rectangle 204"/>
          <p:cNvSpPr/>
          <p:nvPr/>
        </p:nvSpPr>
        <p:spPr>
          <a:xfrm>
            <a:off x="12240768" y="6310457"/>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12643104" y="5998464"/>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Multi-Tenant QoS</a:t>
            </a:r>
          </a:p>
        </p:txBody>
      </p:sp>
      <p:sp>
        <p:nvSpPr>
          <p:cNvPr id="207" name="Rounded Rectangle 206"/>
          <p:cNvSpPr/>
          <p:nvPr/>
        </p:nvSpPr>
        <p:spPr>
          <a:xfrm>
            <a:off x="14907768" y="5998464"/>
            <a:ext cx="2657856" cy="512064"/>
          </a:xfrm>
          <a:prstGeom prst="roundRect">
            <a:avLst>
              <a:gd name="adj" fmla="val 14285"/>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15104181" y="6099048"/>
            <a:ext cx="174101" cy="192755"/>
          </a:xfrm>
          <a:prstGeom prst="ellipse">
            <a:avLst/>
          </a:prstGeom>
          <a:no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ounded Rectangle 208"/>
          <p:cNvSpPr/>
          <p:nvPr/>
        </p:nvSpPr>
        <p:spPr>
          <a:xfrm>
            <a:off x="15060655" y="6223406"/>
            <a:ext cx="261152" cy="180319"/>
          </a:xfrm>
          <a:prstGeom prst="roundRect">
            <a:avLst>
              <a:gd name="adj" fmla="val 405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5172578" y="6273149"/>
            <a:ext cx="37307" cy="7461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5438120" y="5998464"/>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Confidential</a:t>
            </a:r>
          </a:p>
        </p:txBody>
      </p:sp>
      <p:sp>
        <p:nvSpPr>
          <p:cNvPr id="212" name="TextBox 211"/>
          <p:cNvSpPr txBox="1"/>
          <p:nvPr/>
        </p:nvSpPr>
        <p:spPr>
          <a:xfrm>
            <a:off x="6336792" y="2066543"/>
            <a:ext cx="2651760" cy="402336"/>
          </a:xfrm>
          <a:prstGeom prst="rect">
            <a:avLst/>
          </a:prstGeom>
          <a:noFill/>
        </p:spPr>
        <p:txBody>
          <a:bodyPr wrap="square" anchor="ctr" lIns="0" rIns="0" tIns="0" bIns="0">
            <a:spAutoFit/>
          </a:bodyPr>
          <a:lstStyle/>
          <a:p>
            <a:pPr algn="r">
              <a:lnSpc>
                <a:spcPct val="110000"/>
              </a:lnSpc>
            </a:pPr>
            <a:r>
              <a:rPr sz="1600" b="0">
                <a:solidFill>
                  <a:srgbClr val="3C4FA5"/>
                </a:solidFill>
                <a:latin typeface="Arial"/>
                <a:ea typeface="Arial"/>
              </a:rPr>
              <a:t>●</a:t>
            </a:r>
            <a:r>
              <a:rPr sz="1500" b="0">
                <a:solidFill>
                  <a:srgbClr val="555555"/>
                </a:solidFill>
                <a:latin typeface="Arial"/>
                <a:ea typeface="Arial"/>
              </a:rPr>
              <a:t> 핵심  </a:t>
            </a:r>
            <a:r>
              <a:rPr sz="1600" b="1">
                <a:solidFill>
                  <a:srgbClr val="677ECD"/>
                </a:solidFill>
                <a:latin typeface="Arial"/>
                <a:ea typeface="Arial"/>
              </a:rPr>
              <a:t>○</a:t>
            </a:r>
            <a:r>
              <a:rPr sz="1500" b="0">
                <a:solidFill>
                  <a:srgbClr val="555555"/>
                </a:solidFill>
                <a:latin typeface="Arial"/>
                <a:ea typeface="Arial"/>
              </a:rPr>
              <a:t> 해당</a:t>
            </a:r>
          </a:p>
        </p:txBody>
      </p:sp>
      <p:sp>
        <p:nvSpPr>
          <p:cNvPr id="213" name="Rounded Rectangle 212"/>
          <p:cNvSpPr/>
          <p:nvPr/>
        </p:nvSpPr>
        <p:spPr>
          <a:xfrm>
            <a:off x="722376"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ounded Rectangle 213"/>
          <p:cNvSpPr/>
          <p:nvPr/>
        </p:nvSpPr>
        <p:spPr>
          <a:xfrm>
            <a:off x="795528" y="7242048"/>
            <a:ext cx="2554224" cy="420624"/>
          </a:xfrm>
          <a:prstGeom prst="roundRect">
            <a:avLst>
              <a:gd name="adj" fmla="val 17391"/>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923544" y="729691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029248" y="729691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34953" y="729691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923544" y="7402616"/>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029248" y="7402616"/>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34953" y="7402616"/>
            <a:ext cx="87050" cy="80832"/>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923544" y="750832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029248" y="750832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34953" y="750832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325880"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FDP</a:t>
            </a:r>
          </a:p>
        </p:txBody>
      </p:sp>
      <p:sp>
        <p:nvSpPr>
          <p:cNvPr id="225" name="Rectangle 224"/>
          <p:cNvSpPr/>
          <p:nvPr/>
        </p:nvSpPr>
        <p:spPr>
          <a:xfrm>
            <a:off x="1331976" y="7754112"/>
            <a:ext cx="146304"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514856" y="7754112"/>
            <a:ext cx="146304" cy="182880"/>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697736" y="7754112"/>
            <a:ext cx="146304"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331976" y="7973568"/>
            <a:ext cx="146304" cy="182880"/>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514856" y="7973568"/>
            <a:ext cx="146304"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697736" y="7973568"/>
            <a:ext cx="146304"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ight Arrow 230"/>
          <p:cNvSpPr/>
          <p:nvPr/>
        </p:nvSpPr>
        <p:spPr>
          <a:xfrm>
            <a:off x="1935480" y="7882128"/>
            <a:ext cx="274320" cy="18288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2301240" y="7735824"/>
            <a:ext cx="146304" cy="10972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2484120" y="7735824"/>
            <a:ext cx="146304" cy="10972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2667000" y="7735824"/>
            <a:ext cx="146304" cy="10972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2301240" y="7882128"/>
            <a:ext cx="146304" cy="10972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2484120" y="7882128"/>
            <a:ext cx="146304" cy="10972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667000" y="7882128"/>
            <a:ext cx="146304" cy="10972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2301240" y="8028432"/>
            <a:ext cx="146304"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2484120" y="8028432"/>
            <a:ext cx="146304"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2667000" y="8028432"/>
            <a:ext cx="146304"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795528"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같은 수명끼리 → 통째로 지움</a:t>
            </a:r>
          </a:p>
        </p:txBody>
      </p:sp>
      <p:sp>
        <p:nvSpPr>
          <p:cNvPr id="243" name="Rounded Rectangle 242"/>
          <p:cNvSpPr/>
          <p:nvPr/>
        </p:nvSpPr>
        <p:spPr>
          <a:xfrm>
            <a:off x="3550920"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ounded Rectangle 243"/>
          <p:cNvSpPr/>
          <p:nvPr/>
        </p:nvSpPr>
        <p:spPr>
          <a:xfrm>
            <a:off x="3624072" y="7242048"/>
            <a:ext cx="2554224" cy="420624"/>
          </a:xfrm>
          <a:prstGeom prst="roundRect">
            <a:avLst>
              <a:gd name="adj" fmla="val 17391"/>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3752088" y="7296912"/>
            <a:ext cx="304678" cy="7461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Down Arrow 245"/>
          <p:cNvSpPr/>
          <p:nvPr/>
        </p:nvSpPr>
        <p:spPr>
          <a:xfrm>
            <a:off x="3888882" y="7377744"/>
            <a:ext cx="31089" cy="37307"/>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3752088" y="7427488"/>
            <a:ext cx="304678" cy="1741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4154424"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Mixed Media</a:t>
            </a:r>
          </a:p>
        </p:txBody>
      </p:sp>
      <p:sp>
        <p:nvSpPr>
          <p:cNvPr id="249" name="Rectangle 248"/>
          <p:cNvSpPr/>
          <p:nvPr/>
        </p:nvSpPr>
        <p:spPr>
          <a:xfrm>
            <a:off x="4160520" y="7790688"/>
            <a:ext cx="82296" cy="82296"/>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4270248" y="7936992"/>
            <a:ext cx="82296" cy="82296"/>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4379976" y="7790688"/>
            <a:ext cx="82296" cy="82296"/>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4489704" y="7936992"/>
            <a:ext cx="82296" cy="82296"/>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ight Arrow 252"/>
          <p:cNvSpPr/>
          <p:nvPr/>
        </p:nvSpPr>
        <p:spPr>
          <a:xfrm>
            <a:off x="4636008" y="7863840"/>
            <a:ext cx="237744" cy="164592"/>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4946904" y="7772400"/>
            <a:ext cx="566928" cy="12801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Down Arrow 254"/>
          <p:cNvSpPr/>
          <p:nvPr/>
        </p:nvSpPr>
        <p:spPr>
          <a:xfrm>
            <a:off x="5166360" y="7909560"/>
            <a:ext cx="109728" cy="91440"/>
          </a:xfrm>
          <a:prstGeom prst="downArrow">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946904" y="8010144"/>
            <a:ext cx="566928"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3624072"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작은 쓰기 모아 QLC로</a:t>
            </a:r>
          </a:p>
        </p:txBody>
      </p:sp>
      <p:sp>
        <p:nvSpPr>
          <p:cNvPr id="259" name="Rounded Rectangle 258"/>
          <p:cNvSpPr/>
          <p:nvPr/>
        </p:nvSpPr>
        <p:spPr>
          <a:xfrm>
            <a:off x="6379464"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ounded Rectangle 259"/>
          <p:cNvSpPr/>
          <p:nvPr/>
        </p:nvSpPr>
        <p:spPr>
          <a:xfrm>
            <a:off x="6452616" y="7242048"/>
            <a:ext cx="2554224" cy="420624"/>
          </a:xfrm>
          <a:prstGeom prst="roundRect">
            <a:avLst>
              <a:gd name="adj" fmla="val 17391"/>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6580632" y="731556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6661464" y="731556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6742297" y="731556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6823130" y="7315565"/>
            <a:ext cx="62179" cy="9948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6580632" y="7452360"/>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6982968"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267" name="Rectangle 266"/>
          <p:cNvSpPr/>
          <p:nvPr/>
        </p:nvSpPr>
        <p:spPr>
          <a:xfrm>
            <a:off x="6989064"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7066788"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7144512"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7222236"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7299960"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7377684"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7455408"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7533132" y="7863840"/>
            <a:ext cx="64008" cy="21945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ight Arrow 274"/>
          <p:cNvSpPr/>
          <p:nvPr/>
        </p:nvSpPr>
        <p:spPr>
          <a:xfrm>
            <a:off x="7665720" y="7891272"/>
            <a:ext cx="237744" cy="164592"/>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976616" y="7863840"/>
            <a:ext cx="256032" cy="219456"/>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8269224" y="7863840"/>
            <a:ext cx="256032" cy="219456"/>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6452616"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매핑 단위 ↑ · DRAM ↓</a:t>
            </a:r>
          </a:p>
        </p:txBody>
      </p:sp>
      <p:sp>
        <p:nvSpPr>
          <p:cNvPr id="280" name="Rounded Rectangle 279"/>
          <p:cNvSpPr/>
          <p:nvPr/>
        </p:nvSpPr>
        <p:spPr>
          <a:xfrm>
            <a:off x="9208008"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ounded Rectangle 280"/>
          <p:cNvSpPr/>
          <p:nvPr/>
        </p:nvSpPr>
        <p:spPr>
          <a:xfrm>
            <a:off x="9281160" y="7242048"/>
            <a:ext cx="2554224" cy="420624"/>
          </a:xfrm>
          <a:prstGeom prst="roundRect">
            <a:avLst>
              <a:gd name="adj" fmla="val 17391"/>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ounded Rectangle 281"/>
          <p:cNvSpPr/>
          <p:nvPr/>
        </p:nvSpPr>
        <p:spPr>
          <a:xfrm>
            <a:off x="9409176" y="7296912"/>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ounded Rectangle 282"/>
          <p:cNvSpPr/>
          <p:nvPr/>
        </p:nvSpPr>
        <p:spPr>
          <a:xfrm>
            <a:off x="9409176" y="7402616"/>
            <a:ext cx="304678" cy="74615"/>
          </a:xfrm>
          <a:prstGeom prst="roundRect">
            <a:avLst>
              <a:gd name="adj" fmla="val 50000"/>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ounded Rectangle 283"/>
          <p:cNvSpPr/>
          <p:nvPr/>
        </p:nvSpPr>
        <p:spPr>
          <a:xfrm>
            <a:off x="9409176" y="7508321"/>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9811512"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Multi-Tenant QoS</a:t>
            </a:r>
          </a:p>
        </p:txBody>
      </p:sp>
      <p:sp>
        <p:nvSpPr>
          <p:cNvPr id="286" name="Rectangle 285"/>
          <p:cNvSpPr/>
          <p:nvPr/>
        </p:nvSpPr>
        <p:spPr>
          <a:xfrm>
            <a:off x="9817608" y="7754112"/>
            <a:ext cx="1481328" cy="109728"/>
          </a:xfrm>
          <a:prstGeom prst="rect">
            <a:avLst/>
          </a:prstGeom>
          <a:solidFill>
            <a:srgbClr val="F5F5F5"/>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9817608" y="7754112"/>
            <a:ext cx="1005840" cy="10972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817608" y="7900416"/>
            <a:ext cx="1481328" cy="109728"/>
          </a:xfrm>
          <a:prstGeom prst="rect">
            <a:avLst/>
          </a:prstGeom>
          <a:solidFill>
            <a:srgbClr val="F5F5F5"/>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9817608" y="7900416"/>
            <a:ext cx="731520" cy="109728"/>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9817608" y="8046720"/>
            <a:ext cx="1481328" cy="109728"/>
          </a:xfrm>
          <a:prstGeom prst="rect">
            <a:avLst/>
          </a:prstGeom>
          <a:solidFill>
            <a:srgbClr val="F5F5F5"/>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9817608" y="8046720"/>
            <a:ext cx="1188720" cy="10972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9281160"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테넌트별 격리</a:t>
            </a:r>
          </a:p>
        </p:txBody>
      </p:sp>
      <p:sp>
        <p:nvSpPr>
          <p:cNvPr id="293" name="Rounded Rectangle 292"/>
          <p:cNvSpPr/>
          <p:nvPr/>
        </p:nvSpPr>
        <p:spPr>
          <a:xfrm>
            <a:off x="12036552"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ounded Rectangle 293"/>
          <p:cNvSpPr/>
          <p:nvPr/>
        </p:nvSpPr>
        <p:spPr>
          <a:xfrm>
            <a:off x="12109704" y="7242048"/>
            <a:ext cx="2554224" cy="420624"/>
          </a:xfrm>
          <a:prstGeom prst="roundRect">
            <a:avLst>
              <a:gd name="adj" fmla="val 17391"/>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12306117" y="7296912"/>
            <a:ext cx="174101" cy="192755"/>
          </a:xfrm>
          <a:prstGeom prst="ellipse">
            <a:avLst/>
          </a:prstGeom>
          <a:no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ounded Rectangle 295"/>
          <p:cNvSpPr/>
          <p:nvPr/>
        </p:nvSpPr>
        <p:spPr>
          <a:xfrm>
            <a:off x="12262591" y="7421270"/>
            <a:ext cx="261152" cy="180319"/>
          </a:xfrm>
          <a:prstGeom prst="roundRect">
            <a:avLst>
              <a:gd name="adj" fmla="val 405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2374514" y="7471013"/>
            <a:ext cx="37307" cy="74615"/>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2640056"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Confidential</a:t>
            </a:r>
          </a:p>
        </p:txBody>
      </p:sp>
      <p:sp>
        <p:nvSpPr>
          <p:cNvPr id="299" name="Oval 298"/>
          <p:cNvSpPr/>
          <p:nvPr/>
        </p:nvSpPr>
        <p:spPr>
          <a:xfrm>
            <a:off x="12826105" y="7754112"/>
            <a:ext cx="225308" cy="249448"/>
          </a:xfrm>
          <a:prstGeom prst="ellipse">
            <a:avLst/>
          </a:prstGeom>
          <a:noFill/>
          <a:ln w="28575">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2769778" y="7915046"/>
            <a:ext cx="337962" cy="233354"/>
          </a:xfrm>
          <a:prstGeom prst="roundRect">
            <a:avLst>
              <a:gd name="adj" fmla="val 31347"/>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2914619" y="7979420"/>
            <a:ext cx="48280" cy="96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ight Arrow 301"/>
          <p:cNvSpPr/>
          <p:nvPr/>
        </p:nvSpPr>
        <p:spPr>
          <a:xfrm>
            <a:off x="13249656" y="7845552"/>
            <a:ext cx="274320" cy="201168"/>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13615416" y="7772400"/>
            <a:ext cx="384048" cy="384048"/>
          </a:xfrm>
          <a:prstGeom prst="ellipse">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13615416" y="7772400"/>
            <a:ext cx="384048" cy="384048"/>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t>
            </a:r>
          </a:p>
        </p:txBody>
      </p:sp>
      <p:sp>
        <p:nvSpPr>
          <p:cNvPr id="305" name="TextBox 304"/>
          <p:cNvSpPr txBox="1"/>
          <p:nvPr/>
        </p:nvSpPr>
        <p:spPr>
          <a:xfrm>
            <a:off x="12109704"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암호화 · 증명 · 키</a:t>
            </a:r>
          </a:p>
        </p:txBody>
      </p:sp>
      <p:sp>
        <p:nvSpPr>
          <p:cNvPr id="306" name="Rounded Rectangle 305"/>
          <p:cNvSpPr/>
          <p:nvPr/>
        </p:nvSpPr>
        <p:spPr>
          <a:xfrm>
            <a:off x="14865096"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ounded Rectangle 306"/>
          <p:cNvSpPr/>
          <p:nvPr/>
        </p:nvSpPr>
        <p:spPr>
          <a:xfrm>
            <a:off x="14938248" y="7242048"/>
            <a:ext cx="2554224" cy="420624"/>
          </a:xfrm>
          <a:prstGeom prst="roundRect">
            <a:avLst>
              <a:gd name="adj" fmla="val 17391"/>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5066264" y="7296912"/>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5171968" y="7296912"/>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5277673" y="7296912"/>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5066264" y="7402616"/>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5171968" y="7402616"/>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5277673" y="7402616"/>
            <a:ext cx="87050" cy="87050"/>
          </a:xfrm>
          <a:prstGeom prst="rect">
            <a:avLst/>
          </a:prstGeom>
          <a:no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5066264" y="7508321"/>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5171968" y="7508321"/>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5277673" y="7508321"/>
            <a:ext cx="87050" cy="8705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5468599" y="7242048"/>
            <a:ext cx="1969008" cy="420624"/>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Fault Tolerant</a:t>
            </a:r>
          </a:p>
        </p:txBody>
      </p:sp>
      <p:sp>
        <p:nvSpPr>
          <p:cNvPr id="318" name="Rectangle 317"/>
          <p:cNvSpPr/>
          <p:nvPr/>
        </p:nvSpPr>
        <p:spPr>
          <a:xfrm>
            <a:off x="15474696" y="7754112"/>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5712440" y="7754112"/>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5950184" y="7754112"/>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16187928" y="7754112"/>
            <a:ext cx="182880" cy="164592"/>
          </a:xfrm>
          <a:prstGeom prst="rect">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16425672" y="7754112"/>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6663416" y="7754112"/>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15474696" y="7973568"/>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15712440" y="7973568"/>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15950184" y="7973568"/>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16187928" y="7973568"/>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16425672" y="7973568"/>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16663416" y="7973568"/>
            <a:ext cx="182880" cy="164592"/>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Multiply 329"/>
          <p:cNvSpPr/>
          <p:nvPr/>
        </p:nvSpPr>
        <p:spPr>
          <a:xfrm>
            <a:off x="16206216" y="7763256"/>
            <a:ext cx="146304" cy="146304"/>
          </a:xfrm>
          <a:prstGeom prst="mathMultiply">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4938248"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고장 다이만 격리</a:t>
            </a:r>
          </a:p>
        </p:txBody>
      </p:sp>
      <p:grpSp>
        <p:nvGrpSpPr>
          <p:cNvPr id="334" name="Group 333"/>
          <p:cNvGrpSpPr/>
          <p:nvPr/>
        </p:nvGrpSpPr>
        <p:grpSpPr>
          <a:xfrm>
            <a:off x="667512" y="3145536"/>
            <a:ext cx="16952976" cy="5413248"/>
            <a:chOff x="667512" y="3145536"/>
            <a:chExt cx="16952976" cy="5413248"/>
          </a:xfrm>
        </p:grpSpPr>
        <p:sp>
          <p:nvSpPr>
            <p:cNvPr id="67" name="Rounded Rectangle 66"/>
            <p:cNvSpPr/>
            <p:nvPr/>
          </p:nvSpPr>
          <p:spPr>
            <a:xfrm>
              <a:off x="9262872" y="3145536"/>
              <a:ext cx="2767584" cy="621792"/>
            </a:xfrm>
            <a:prstGeom prst="roundRect">
              <a:avLst>
                <a:gd name="adj" fmla="val 11764"/>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9262872" y="4078224"/>
              <a:ext cx="2767584" cy="621792"/>
            </a:xfrm>
            <a:prstGeom prst="roundRect">
              <a:avLst>
                <a:gd name="adj" fmla="val 11764"/>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12057888" y="4078224"/>
              <a:ext cx="2767584" cy="621792"/>
            </a:xfrm>
            <a:prstGeom prst="roundRect">
              <a:avLst>
                <a:gd name="adj" fmla="val 11764"/>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9262872" y="5010912"/>
              <a:ext cx="2767584" cy="621792"/>
            </a:xfrm>
            <a:prstGeom prst="roundRect">
              <a:avLst>
                <a:gd name="adj" fmla="val 11764"/>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ounded Rectangle 167"/>
            <p:cNvSpPr/>
            <p:nvPr/>
          </p:nvSpPr>
          <p:spPr>
            <a:xfrm>
              <a:off x="12057888" y="5010912"/>
              <a:ext cx="2767584" cy="621792"/>
            </a:xfrm>
            <a:prstGeom prst="roundRect">
              <a:avLst>
                <a:gd name="adj" fmla="val 11764"/>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ounded Rectangle 175"/>
            <p:cNvSpPr/>
            <p:nvPr/>
          </p:nvSpPr>
          <p:spPr>
            <a:xfrm>
              <a:off x="14852904" y="5010912"/>
              <a:ext cx="2767584" cy="621792"/>
            </a:xfrm>
            <a:prstGeom prst="roundRect">
              <a:avLst>
                <a:gd name="adj" fmla="val 11764"/>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ounded Rectangle 200"/>
            <p:cNvSpPr/>
            <p:nvPr/>
          </p:nvSpPr>
          <p:spPr>
            <a:xfrm>
              <a:off x="9262872" y="5943600"/>
              <a:ext cx="2767584" cy="621792"/>
            </a:xfrm>
            <a:prstGeom prst="roundRect">
              <a:avLst>
                <a:gd name="adj" fmla="val 11764"/>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ounded Rectangle 241"/>
            <p:cNvSpPr/>
            <p:nvPr/>
          </p:nvSpPr>
          <p:spPr>
            <a:xfrm>
              <a:off x="667512" y="7114032"/>
              <a:ext cx="2810256" cy="1444752"/>
            </a:xfrm>
            <a:prstGeom prst="roundRect">
              <a:avLst>
                <a:gd name="adj" fmla="val 5063"/>
              </a:avLst>
            </a:prstGeom>
            <a:noFill/>
            <a:ln w="5080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ounded Rectangle 257"/>
            <p:cNvSpPr/>
            <p:nvPr/>
          </p:nvSpPr>
          <p:spPr>
            <a:xfrm>
              <a:off x="3496056" y="7114032"/>
              <a:ext cx="2810256" cy="1444752"/>
            </a:xfrm>
            <a:prstGeom prst="roundRect">
              <a:avLst>
                <a:gd name="adj" fmla="val 5063"/>
              </a:avLst>
            </a:prstGeom>
            <a:noFill/>
            <a:ln w="5080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ounded Rectangle 278"/>
            <p:cNvSpPr/>
            <p:nvPr/>
          </p:nvSpPr>
          <p:spPr>
            <a:xfrm>
              <a:off x="6324600" y="7114032"/>
              <a:ext cx="2810256" cy="1444752"/>
            </a:xfrm>
            <a:prstGeom prst="roundRect">
              <a:avLst>
                <a:gd name="adj" fmla="val 5063"/>
              </a:avLst>
            </a:prstGeom>
            <a:noFill/>
            <a:ln w="5080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ounded Rectangle 331"/>
            <p:cNvSpPr/>
            <p:nvPr/>
          </p:nvSpPr>
          <p:spPr>
            <a:xfrm>
              <a:off x="6135624" y="6766560"/>
              <a:ext cx="2962656" cy="329184"/>
            </a:xfrm>
            <a:prstGeom prst="roundRect">
              <a:avLst>
                <a:gd name="adj" fmla="val 22222"/>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135624" y="6766560"/>
              <a:ext cx="2962656"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세 기술은 다음 장에서 자세히 ▶</a:t>
              </a:r>
            </a:p>
          </p:txBody>
        </p:sp>
      </p:grpSp>
      <p:sp>
        <p:nvSpPr>
          <p:cNvPr id="335" name="Rectangle 334"/>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결론</a:t>
            </a:r>
          </a:p>
        </p:txBody>
      </p:sp>
      <p:sp>
        <p:nvSpPr>
          <p:cNvPr id="337" name="TextBox 336"/>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AI 추론 수요에 대응하려면, 고객과의 협업이 필수입니다</a:t>
            </a:r>
          </a:p>
        </p:txBody>
      </p:sp>
      <p:sp>
        <p:nvSpPr>
          <p:cNvPr id="338" name="TextBox 33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요구 · 기술 매핑과 협력 단계(채도)는 과제팀 판단(위키 ai-inference-storage-requirements · ssd-core-technologies-customer-collaboration §3.5) · 수치는 발표자 노트</a:t>
            </a:r>
          </a:p>
        </p:txBody>
      </p:sp>
      <p:sp>
        <p:nvSpPr>
          <p:cNvPr id="339" name="TextBox 33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 / 8</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nodeType="clickEffect">
                                  <p:stCondLst>
                                    <p:cond delay="0"/>
                                  </p:stCondLst>
                                  <p:childTnLst>
                                    <p:set>
                                      <p:cBhvr>
                                        <p:cTn id="7" dur="1" fill="hold">
                                          <p:stCondLst>
                                            <p:cond delay="0"/>
                                          </p:stCondLst>
                                        </p:cTn>
                                        <p:tgtEl>
                                          <p:spTgt spid="334"/>
                                        </p:tgtEl>
                                        <p:attrNameLst>
                                          <p:attrName>style.visibility</p:attrName>
                                        </p:attrNameLst>
                                      </p:cBhvr>
                                      <p:to>
                                        <p:strVal val="visible"/>
                                      </p:to>
                                    </p:set>
                                    <p:animEffect transition="in" filter="fade">
                                      <p:cBhvr>
                                        <p:cTn id="8"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3 / 8  차별화 · 포트폴리오</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SSD 차별화 요구가 예측 가능한 QoS · 고용량 · 고내구로 바뀌는 지금,</a:t>
            </a:r>
          </a:p>
          <a:p>
            <a:pPr algn="l">
              <a:lnSpc>
                <a:spcPct val="105000"/>
              </a:lnSpc>
            </a:pPr>
            <a:r>
              <a:rPr sz="3200" b="1">
                <a:solidFill>
                  <a:srgbClr val="1A1A1A"/>
                </a:solidFill>
                <a:latin typeface="Arial"/>
                <a:ea typeface="Arial"/>
              </a:rPr>
              <a:t>이에 대비한 기술로 미래 수요에 능동적으로 대응하는 포트폴리오를 완성해야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entagon 5"/>
          <p:cNvSpPr/>
          <p:nvPr/>
        </p:nvSpPr>
        <p:spPr>
          <a:xfrm>
            <a:off x="722376" y="2103120"/>
            <a:ext cx="3337560" cy="877824"/>
          </a:xfrm>
          <a:prstGeom prst="homePlate">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39696"/>
            <a:ext cx="278892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2000년대 후반</a:t>
            </a:r>
          </a:p>
        </p:txBody>
      </p:sp>
      <p:sp>
        <p:nvSpPr>
          <p:cNvPr id="8" name="TextBox 7"/>
          <p:cNvSpPr txBox="1"/>
          <p:nvPr/>
        </p:nvSpPr>
        <p:spPr>
          <a:xfrm>
            <a:off x="905256" y="2395727"/>
            <a:ext cx="278892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성능</a:t>
            </a:r>
          </a:p>
        </p:txBody>
      </p:sp>
      <p:sp>
        <p:nvSpPr>
          <p:cNvPr id="9" name="TextBox 8"/>
          <p:cNvSpPr txBox="1"/>
          <p:nvPr/>
        </p:nvSpPr>
        <p:spPr>
          <a:xfrm>
            <a:off x="905256" y="2688336"/>
            <a:ext cx="2788920" cy="256032"/>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IOPS · 대역</a:t>
            </a:r>
          </a:p>
        </p:txBody>
      </p:sp>
      <p:sp>
        <p:nvSpPr>
          <p:cNvPr id="10" name="Chevron 9"/>
          <p:cNvSpPr/>
          <p:nvPr/>
        </p:nvSpPr>
        <p:spPr>
          <a:xfrm>
            <a:off x="3877056" y="2103120"/>
            <a:ext cx="3337560" cy="877824"/>
          </a:xfrm>
          <a:prstGeom prst="chevron">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139696"/>
            <a:ext cx="278892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2010년대 초</a:t>
            </a:r>
          </a:p>
        </p:txBody>
      </p:sp>
      <p:sp>
        <p:nvSpPr>
          <p:cNvPr id="12" name="TextBox 11"/>
          <p:cNvSpPr txBox="1"/>
          <p:nvPr/>
        </p:nvSpPr>
        <p:spPr>
          <a:xfrm>
            <a:off x="4297680" y="2395727"/>
            <a:ext cx="278892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전력 효율</a:t>
            </a:r>
          </a:p>
        </p:txBody>
      </p:sp>
      <p:sp>
        <p:nvSpPr>
          <p:cNvPr id="13" name="TextBox 12"/>
          <p:cNvSpPr txBox="1"/>
          <p:nvPr/>
        </p:nvSpPr>
        <p:spPr>
          <a:xfrm>
            <a:off x="4297680" y="2688336"/>
            <a:ext cx="2788920" cy="256032"/>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IOPS/W</a:t>
            </a:r>
          </a:p>
        </p:txBody>
      </p:sp>
      <p:sp>
        <p:nvSpPr>
          <p:cNvPr id="14" name="Chevron 13"/>
          <p:cNvSpPr/>
          <p:nvPr/>
        </p:nvSpPr>
        <p:spPr>
          <a:xfrm>
            <a:off x="7031736" y="2103120"/>
            <a:ext cx="3337560" cy="877824"/>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139696"/>
            <a:ext cx="278892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2010년대 후반</a:t>
            </a:r>
          </a:p>
        </p:txBody>
      </p:sp>
      <p:sp>
        <p:nvSpPr>
          <p:cNvPr id="16" name="TextBox 15"/>
          <p:cNvSpPr txBox="1"/>
          <p:nvPr/>
        </p:nvSpPr>
        <p:spPr>
          <a:xfrm>
            <a:off x="7452360" y="2395727"/>
            <a:ext cx="278892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VM 단위 QoS</a:t>
            </a:r>
          </a:p>
        </p:txBody>
      </p:sp>
      <p:sp>
        <p:nvSpPr>
          <p:cNvPr id="17" name="TextBox 16"/>
          <p:cNvSpPr txBox="1"/>
          <p:nvPr/>
        </p:nvSpPr>
        <p:spPr>
          <a:xfrm>
            <a:off x="7452360" y="2688336"/>
            <a:ext cx="2788920" cy="256032"/>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클라우드 데이터센터</a:t>
            </a:r>
          </a:p>
        </p:txBody>
      </p:sp>
      <p:sp>
        <p:nvSpPr>
          <p:cNvPr id="18" name="Chevron 17"/>
          <p:cNvSpPr/>
          <p:nvPr/>
        </p:nvSpPr>
        <p:spPr>
          <a:xfrm>
            <a:off x="10186416" y="2103120"/>
            <a:ext cx="7379208" cy="877824"/>
          </a:xfrm>
          <a:prstGeom prst="chevron">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43616" y="2139696"/>
            <a:ext cx="2377440" cy="274320"/>
          </a:xfrm>
          <a:prstGeom prst="rect">
            <a:avLst/>
          </a:prstGeom>
          <a:noFill/>
        </p:spPr>
        <p:txBody>
          <a:bodyPr wrap="square" anchor="ctr" lIns="0" rIns="0" tIns="0" bIns="0">
            <a:spAutoFit/>
          </a:bodyPr>
          <a:lstStyle/>
          <a:p>
            <a:pPr algn="l">
              <a:lnSpc>
                <a:spcPct val="110000"/>
              </a:lnSpc>
            </a:pPr>
            <a:r>
              <a:rPr sz="1500" b="1">
                <a:solidFill>
                  <a:srgbClr val="C0CAEC"/>
                </a:solidFill>
                <a:latin typeface="Arial"/>
                <a:ea typeface="Arial"/>
              </a:rPr>
              <a:t>2020년대 · AI</a:t>
            </a:r>
          </a:p>
        </p:txBody>
      </p:sp>
      <p:sp>
        <p:nvSpPr>
          <p:cNvPr id="20" name="Rounded Rectangle 19"/>
          <p:cNvSpPr/>
          <p:nvPr/>
        </p:nvSpPr>
        <p:spPr>
          <a:xfrm>
            <a:off x="10643616" y="2468879"/>
            <a:ext cx="210312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43616" y="2468879"/>
            <a:ext cx="2103120" cy="402336"/>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예측 가능한 QoS</a:t>
            </a:r>
          </a:p>
        </p:txBody>
      </p:sp>
      <p:sp>
        <p:nvSpPr>
          <p:cNvPr id="22" name="Rounded Rectangle 21"/>
          <p:cNvSpPr/>
          <p:nvPr/>
        </p:nvSpPr>
        <p:spPr>
          <a:xfrm>
            <a:off x="12874752" y="2468879"/>
            <a:ext cx="109728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74752" y="2468879"/>
            <a:ext cx="1097280" cy="402336"/>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고용량</a:t>
            </a:r>
          </a:p>
        </p:txBody>
      </p:sp>
      <p:sp>
        <p:nvSpPr>
          <p:cNvPr id="24" name="Rounded Rectangle 23"/>
          <p:cNvSpPr/>
          <p:nvPr/>
        </p:nvSpPr>
        <p:spPr>
          <a:xfrm>
            <a:off x="14100048" y="2468879"/>
            <a:ext cx="109728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100048" y="2468879"/>
            <a:ext cx="1097280" cy="402336"/>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고내구</a:t>
            </a:r>
          </a:p>
        </p:txBody>
      </p:sp>
      <p:sp>
        <p:nvSpPr>
          <p:cNvPr id="26" name="TextBox 25"/>
          <p:cNvSpPr txBox="1"/>
          <p:nvPr/>
        </p:nvSpPr>
        <p:spPr>
          <a:xfrm>
            <a:off x="10186416" y="3017520"/>
            <a:ext cx="7379208" cy="310896"/>
          </a:xfrm>
          <a:prstGeom prst="rect">
            <a:avLst/>
          </a:prstGeom>
          <a:noFill/>
        </p:spPr>
        <p:txBody>
          <a:bodyPr wrap="square" anchor="ctr" lIns="0" rIns="0" tIns="0" bIns="0">
            <a:spAutoFit/>
          </a:bodyPr>
          <a:lstStyle/>
          <a:p>
            <a:pPr algn="r">
              <a:lnSpc>
                <a:spcPct val="110000"/>
              </a:lnSpc>
            </a:pPr>
            <a:r>
              <a:rPr sz="1600" b="1">
                <a:solidFill>
                  <a:srgbClr val="3C4FA5"/>
                </a:solidFill>
                <a:latin typeface="Arial"/>
                <a:ea typeface="Arial"/>
              </a:rPr>
              <a:t>FDP · Mixed Media · Large Mapping → </a:t>
            </a:r>
            <a:r>
              <a:rPr sz="1600" b="1">
                <a:solidFill>
                  <a:srgbClr val="1A1A1A"/>
                </a:solidFill>
                <a:latin typeface="Arial"/>
                <a:ea typeface="Arial"/>
              </a:rPr>
              <a:t>QLC 고용량 + 고객 워크로드 기반 내구성</a:t>
            </a:r>
          </a:p>
        </p:txBody>
      </p:sp>
      <p:sp>
        <p:nvSpPr>
          <p:cNvPr id="27" name="Oval 26"/>
          <p:cNvSpPr/>
          <p:nvPr/>
        </p:nvSpPr>
        <p:spPr>
          <a:xfrm>
            <a:off x="722376" y="3438144"/>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3438144"/>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29" name="TextBox 28"/>
          <p:cNvSpPr txBox="1"/>
          <p:nvPr/>
        </p:nvSpPr>
        <p:spPr>
          <a:xfrm>
            <a:off x="1307592" y="3401568"/>
            <a:ext cx="718718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GC를 줄여 예측 가능한 QoS로</a:t>
            </a:r>
          </a:p>
        </p:txBody>
      </p:sp>
      <p:sp>
        <p:nvSpPr>
          <p:cNvPr id="30" name="Rounded Rectangle 29"/>
          <p:cNvSpPr/>
          <p:nvPr/>
        </p:nvSpPr>
        <p:spPr>
          <a:xfrm>
            <a:off x="722376" y="3986783"/>
            <a:ext cx="2788920" cy="713232"/>
          </a:xfrm>
          <a:prstGeom prst="roundRect">
            <a:avLst>
              <a:gd name="adj" fmla="val 10256"/>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0392" y="4169663"/>
            <a:ext cx="322600" cy="7900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own Arrow 31"/>
          <p:cNvSpPr/>
          <p:nvPr/>
        </p:nvSpPr>
        <p:spPr>
          <a:xfrm>
            <a:off x="995232" y="4255251"/>
            <a:ext cx="32918" cy="39502"/>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0392" y="4307921"/>
            <a:ext cx="322600" cy="1843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89304" y="4005071"/>
            <a:ext cx="2148839" cy="365760"/>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Mixed Media</a:t>
            </a:r>
          </a:p>
        </p:txBody>
      </p:sp>
      <p:sp>
        <p:nvSpPr>
          <p:cNvPr id="35" name="TextBox 34"/>
          <p:cNvSpPr txBox="1"/>
          <p:nvPr/>
        </p:nvSpPr>
        <p:spPr>
          <a:xfrm>
            <a:off x="1289304" y="4352544"/>
            <a:ext cx="2148839" cy="310896"/>
          </a:xfrm>
          <a:prstGeom prst="rect">
            <a:avLst/>
          </a:prstGeom>
          <a:noFill/>
        </p:spPr>
        <p:txBody>
          <a:bodyPr wrap="square" anchor="ctr" lIns="0" rIns="0" tIns="0" bIns="0">
            <a:spAutoFit/>
          </a:bodyPr>
          <a:lstStyle/>
          <a:p>
            <a:pPr algn="l">
              <a:lnSpc>
                <a:spcPct val="110000"/>
              </a:lnSpc>
            </a:pPr>
            <a:r>
              <a:rPr sz="1500" b="0">
                <a:solidFill>
                  <a:srgbClr val="C0CAEC"/>
                </a:solidFill>
                <a:latin typeface="Arial"/>
                <a:ea typeface="Arial"/>
              </a:rPr>
              <a:t>작은 쓰기를 pSLC에 모아</a:t>
            </a:r>
          </a:p>
        </p:txBody>
      </p:sp>
      <p:sp>
        <p:nvSpPr>
          <p:cNvPr id="36" name="TextBox 35"/>
          <p:cNvSpPr txBox="1"/>
          <p:nvPr/>
        </p:nvSpPr>
        <p:spPr>
          <a:xfrm>
            <a:off x="3602736" y="4133087"/>
            <a:ext cx="1188720" cy="420624"/>
          </a:xfrm>
          <a:prstGeom prst="rect">
            <a:avLst/>
          </a:prstGeom>
          <a:noFill/>
        </p:spPr>
        <p:txBody>
          <a:bodyPr wrap="square" anchor="ctr" lIns="0" rIns="0" tIns="0" bIns="0">
            <a:spAutoFit/>
          </a:bodyPr>
          <a:lstStyle/>
          <a:p>
            <a:pPr algn="l">
              <a:lnSpc>
                <a:spcPct val="110000"/>
              </a:lnSpc>
            </a:pPr>
            <a:r>
              <a:rPr sz="1700" b="1">
                <a:solidFill>
                  <a:srgbClr val="3C4FA5"/>
                </a:solidFill>
                <a:latin typeface="Arial"/>
                <a:ea typeface="Arial"/>
              </a:rPr>
              <a:t>GC 빈도 ↓</a:t>
            </a:r>
          </a:p>
        </p:txBody>
      </p:sp>
      <p:sp>
        <p:nvSpPr>
          <p:cNvPr id="37" name="Rounded Rectangle 36"/>
          <p:cNvSpPr/>
          <p:nvPr/>
        </p:nvSpPr>
        <p:spPr>
          <a:xfrm>
            <a:off x="722376" y="4773168"/>
            <a:ext cx="2788920" cy="713232"/>
          </a:xfrm>
          <a:prstGeom prst="roundRect">
            <a:avLst>
              <a:gd name="adj" fmla="val 10256"/>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0392" y="4975799"/>
            <a:ext cx="65836" cy="10533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5979" y="4975799"/>
            <a:ext cx="65836" cy="10533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21567" y="4975799"/>
            <a:ext cx="65836" cy="10533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07155" y="4975799"/>
            <a:ext cx="65836" cy="10533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0392" y="5120640"/>
            <a:ext cx="322600" cy="13167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89304" y="4791455"/>
            <a:ext cx="2148839" cy="365760"/>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Large Mapping</a:t>
            </a:r>
          </a:p>
        </p:txBody>
      </p:sp>
      <p:sp>
        <p:nvSpPr>
          <p:cNvPr id="44" name="TextBox 43"/>
          <p:cNvSpPr txBox="1"/>
          <p:nvPr/>
        </p:nvSpPr>
        <p:spPr>
          <a:xfrm>
            <a:off x="1289304" y="5138928"/>
            <a:ext cx="2148839" cy="310896"/>
          </a:xfrm>
          <a:prstGeom prst="rect">
            <a:avLst/>
          </a:prstGeom>
          <a:noFill/>
        </p:spPr>
        <p:txBody>
          <a:bodyPr wrap="square" anchor="ctr" lIns="0" rIns="0" tIns="0" bIns="0">
            <a:spAutoFit/>
          </a:bodyPr>
          <a:lstStyle/>
          <a:p>
            <a:pPr algn="l">
              <a:lnSpc>
                <a:spcPct val="110000"/>
              </a:lnSpc>
            </a:pPr>
            <a:r>
              <a:rPr sz="1500" b="0">
                <a:solidFill>
                  <a:srgbClr val="C0CAEC"/>
                </a:solidFill>
                <a:latin typeface="Arial"/>
                <a:ea typeface="Arial"/>
              </a:rPr>
              <a:t>정렬된 큰 쓰기</a:t>
            </a:r>
          </a:p>
        </p:txBody>
      </p:sp>
      <p:sp>
        <p:nvSpPr>
          <p:cNvPr id="45" name="TextBox 44"/>
          <p:cNvSpPr txBox="1"/>
          <p:nvPr/>
        </p:nvSpPr>
        <p:spPr>
          <a:xfrm>
            <a:off x="3602736" y="4919472"/>
            <a:ext cx="1188720" cy="420624"/>
          </a:xfrm>
          <a:prstGeom prst="rect">
            <a:avLst/>
          </a:prstGeom>
          <a:noFill/>
        </p:spPr>
        <p:txBody>
          <a:bodyPr wrap="square" anchor="ctr" lIns="0" rIns="0" tIns="0" bIns="0">
            <a:spAutoFit/>
          </a:bodyPr>
          <a:lstStyle/>
          <a:p>
            <a:pPr algn="l">
              <a:lnSpc>
                <a:spcPct val="110000"/>
              </a:lnSpc>
            </a:pPr>
            <a:r>
              <a:rPr sz="1700" b="1">
                <a:solidFill>
                  <a:srgbClr val="3C4FA5"/>
                </a:solidFill>
                <a:latin typeface="Arial"/>
                <a:ea typeface="Arial"/>
              </a:rPr>
              <a:t>GC 횟수 ↓</a:t>
            </a:r>
          </a:p>
        </p:txBody>
      </p:sp>
      <p:sp>
        <p:nvSpPr>
          <p:cNvPr id="46" name="Rounded Rectangle 45"/>
          <p:cNvSpPr/>
          <p:nvPr/>
        </p:nvSpPr>
        <p:spPr>
          <a:xfrm>
            <a:off x="722376" y="5559551"/>
            <a:ext cx="2788920" cy="713232"/>
          </a:xfrm>
          <a:prstGeom prst="roundRect">
            <a:avLst>
              <a:gd name="adj" fmla="val 10256"/>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0392" y="5742431"/>
            <a:ext cx="92171" cy="855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62314" y="5742431"/>
            <a:ext cx="92171" cy="855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74237" y="5742431"/>
            <a:ext cx="92171" cy="855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50392" y="5854354"/>
            <a:ext cx="92171" cy="85587"/>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62314" y="5854354"/>
            <a:ext cx="92171" cy="85587"/>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74237" y="5854354"/>
            <a:ext cx="92171" cy="85587"/>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0392" y="5966277"/>
            <a:ext cx="92171" cy="85587"/>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62314" y="5966277"/>
            <a:ext cx="92171" cy="85587"/>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74237" y="5966277"/>
            <a:ext cx="92171" cy="85587"/>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89304" y="5577839"/>
            <a:ext cx="2148839" cy="365760"/>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FDP</a:t>
            </a:r>
          </a:p>
        </p:txBody>
      </p:sp>
      <p:sp>
        <p:nvSpPr>
          <p:cNvPr id="57" name="TextBox 56"/>
          <p:cNvSpPr txBox="1"/>
          <p:nvPr/>
        </p:nvSpPr>
        <p:spPr>
          <a:xfrm>
            <a:off x="1289304" y="5925312"/>
            <a:ext cx="2148839" cy="310896"/>
          </a:xfrm>
          <a:prstGeom prst="rect">
            <a:avLst/>
          </a:prstGeom>
          <a:noFill/>
        </p:spPr>
        <p:txBody>
          <a:bodyPr wrap="square" anchor="ctr" lIns="0" rIns="0" tIns="0" bIns="0">
            <a:spAutoFit/>
          </a:bodyPr>
          <a:lstStyle/>
          <a:p>
            <a:pPr algn="l">
              <a:lnSpc>
                <a:spcPct val="110000"/>
              </a:lnSpc>
            </a:pPr>
            <a:r>
              <a:rPr sz="1500" b="0">
                <a:solidFill>
                  <a:srgbClr val="C0CAEC"/>
                </a:solidFill>
                <a:latin typeface="Arial"/>
                <a:ea typeface="Arial"/>
              </a:rPr>
              <a:t>같은 수명끼리 배치</a:t>
            </a:r>
          </a:p>
        </p:txBody>
      </p:sp>
      <p:sp>
        <p:nvSpPr>
          <p:cNvPr id="58" name="TextBox 57"/>
          <p:cNvSpPr txBox="1"/>
          <p:nvPr/>
        </p:nvSpPr>
        <p:spPr>
          <a:xfrm>
            <a:off x="3602736" y="5705855"/>
            <a:ext cx="1188720" cy="420624"/>
          </a:xfrm>
          <a:prstGeom prst="rect">
            <a:avLst/>
          </a:prstGeom>
          <a:noFill/>
        </p:spPr>
        <p:txBody>
          <a:bodyPr wrap="square" anchor="ctr" lIns="0" rIns="0" tIns="0" bIns="0">
            <a:spAutoFit/>
          </a:bodyPr>
          <a:lstStyle/>
          <a:p>
            <a:pPr algn="l">
              <a:lnSpc>
                <a:spcPct val="110000"/>
              </a:lnSpc>
            </a:pPr>
            <a:r>
              <a:rPr sz="1700" b="1">
                <a:solidFill>
                  <a:srgbClr val="3C4FA5"/>
                </a:solidFill>
                <a:latin typeface="Arial"/>
                <a:ea typeface="Arial"/>
              </a:rPr>
              <a:t>GC 시간 ↓</a:t>
            </a:r>
          </a:p>
        </p:txBody>
      </p:sp>
      <p:sp>
        <p:nvSpPr>
          <p:cNvPr id="59" name="TextBox 58"/>
          <p:cNvSpPr txBox="1"/>
          <p:nvPr/>
        </p:nvSpPr>
        <p:spPr>
          <a:xfrm>
            <a:off x="4846320" y="3950207"/>
            <a:ext cx="3648455" cy="310896"/>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SSD 혼자: GC마다 지연 스파이크</a:t>
            </a:r>
          </a:p>
        </p:txBody>
      </p:sp>
      <p:sp>
        <p:nvSpPr>
          <p:cNvPr id="60" name="Rectangle 59"/>
          <p:cNvSpPr/>
          <p:nvPr/>
        </p:nvSpPr>
        <p:spPr>
          <a:xfrm>
            <a:off x="5322205" y="4279392"/>
            <a:ext cx="317257"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353290" y="4279392"/>
            <a:ext cx="396571"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463690" y="4279392"/>
            <a:ext cx="317257"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864607" y="4840918"/>
            <a:ext cx="42738" cy="9684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943922" y="4853573"/>
            <a:ext cx="42738" cy="8418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23236" y="4816990"/>
            <a:ext cx="42738" cy="12076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102550" y="4859309"/>
            <a:ext cx="42738" cy="7845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181865" y="4825407"/>
            <a:ext cx="42738" cy="11235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261179" y="4837857"/>
            <a:ext cx="42738" cy="9990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340493" y="4442080"/>
            <a:ext cx="42738" cy="495679"/>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419807" y="4460972"/>
            <a:ext cx="42738" cy="476787"/>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499122" y="4548774"/>
            <a:ext cx="42738" cy="388985"/>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578436" y="4360299"/>
            <a:ext cx="42738" cy="57746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657750" y="4855551"/>
            <a:ext cx="42738" cy="822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737064" y="4848277"/>
            <a:ext cx="42738" cy="8948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816379" y="4818710"/>
            <a:ext cx="42738" cy="11904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895693" y="4795281"/>
            <a:ext cx="42738" cy="14247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975007" y="4822391"/>
            <a:ext cx="42738" cy="1153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054321" y="4835590"/>
            <a:ext cx="42738" cy="10216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33636" y="4793192"/>
            <a:ext cx="42738" cy="14456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212950" y="4861200"/>
            <a:ext cx="42738" cy="765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292264" y="4801809"/>
            <a:ext cx="42738" cy="13595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371578" y="4535066"/>
            <a:ext cx="42738" cy="402693"/>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450893" y="4493018"/>
            <a:ext cx="42738" cy="444741"/>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530207" y="4525728"/>
            <a:ext cx="42738" cy="412031"/>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609521" y="4408417"/>
            <a:ext cx="42738" cy="52934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688836" y="4431759"/>
            <a:ext cx="42738" cy="5060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768150" y="4860014"/>
            <a:ext cx="42738" cy="7774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847464" y="4860248"/>
            <a:ext cx="42738" cy="7751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926778" y="4849541"/>
            <a:ext cx="42738" cy="8821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6093" y="4814835"/>
            <a:ext cx="42738" cy="12292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085407" y="4833328"/>
            <a:ext cx="42738" cy="10443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164721" y="4841627"/>
            <a:ext cx="42738" cy="961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244035" y="4821772"/>
            <a:ext cx="42738" cy="1159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323350" y="4831456"/>
            <a:ext cx="42738" cy="10630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402664" y="4842679"/>
            <a:ext cx="42738" cy="950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481978" y="4393035"/>
            <a:ext cx="42738" cy="54472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561292" y="4424929"/>
            <a:ext cx="42738" cy="51283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640607" y="4347936"/>
            <a:ext cx="42738" cy="589823"/>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719921" y="4498278"/>
            <a:ext cx="42738" cy="439481"/>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799235" y="4792906"/>
            <a:ext cx="42738" cy="14485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878549" y="4855971"/>
            <a:ext cx="42738" cy="817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957864" y="4834021"/>
            <a:ext cx="42738" cy="10373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037178" y="4809221"/>
            <a:ext cx="42738" cy="12853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116492" y="4853490"/>
            <a:ext cx="42738" cy="8426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8195806" y="4828839"/>
            <a:ext cx="42738" cy="1089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275121" y="4861739"/>
            <a:ext cx="42738" cy="760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354435" y="4815726"/>
            <a:ext cx="42738" cy="12203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433749" y="4808678"/>
            <a:ext cx="42738" cy="12908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4846320" y="4937759"/>
            <a:ext cx="3648455"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846320" y="5138927"/>
            <a:ext cx="3648455" cy="310896"/>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공동 설계: GC가 드물고 짧다</a:t>
            </a:r>
          </a:p>
        </p:txBody>
      </p:sp>
      <p:sp>
        <p:nvSpPr>
          <p:cNvPr id="111" name="Rectangle 110"/>
          <p:cNvSpPr/>
          <p:nvPr/>
        </p:nvSpPr>
        <p:spPr>
          <a:xfrm>
            <a:off x="6987805" y="5468112"/>
            <a:ext cx="79314"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864607" y="6011410"/>
            <a:ext cx="42738" cy="115069"/>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4943922" y="5989285"/>
            <a:ext cx="42738" cy="13719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023236" y="6030376"/>
            <a:ext cx="42738" cy="9610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102550" y="6002465"/>
            <a:ext cx="42738" cy="12401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181865" y="6009848"/>
            <a:ext cx="42738" cy="116631"/>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5261179" y="6010907"/>
            <a:ext cx="42738" cy="11557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340493" y="6019955"/>
            <a:ext cx="42738" cy="10652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419807" y="5991882"/>
            <a:ext cx="42738" cy="13459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499122" y="5984222"/>
            <a:ext cx="42738" cy="14225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578436" y="6018646"/>
            <a:ext cx="42738" cy="10783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657750" y="6004743"/>
            <a:ext cx="42738" cy="12173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737064" y="6048889"/>
            <a:ext cx="42738" cy="7759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816379" y="6002012"/>
            <a:ext cx="42738" cy="12446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895693" y="6005989"/>
            <a:ext cx="42738" cy="12049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5975007" y="5980681"/>
            <a:ext cx="42738" cy="14579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6054321" y="5993202"/>
            <a:ext cx="42738" cy="13327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6133636" y="6032509"/>
            <a:ext cx="42738" cy="9397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6212950" y="6025106"/>
            <a:ext cx="42738" cy="10137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6292264" y="6004414"/>
            <a:ext cx="42738" cy="122065"/>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71578" y="6051677"/>
            <a:ext cx="42738" cy="7480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6450893" y="6019554"/>
            <a:ext cx="42738" cy="106925"/>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6530207" y="6041034"/>
            <a:ext cx="42738" cy="85445"/>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609521" y="6044762"/>
            <a:ext cx="42738" cy="8171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688836" y="6049015"/>
            <a:ext cx="42738" cy="7746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6768150" y="5997130"/>
            <a:ext cx="42738" cy="129349"/>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847464" y="6043866"/>
            <a:ext cx="42738" cy="8261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926778" y="6035214"/>
            <a:ext cx="42738" cy="91265"/>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7006093" y="5943599"/>
            <a:ext cx="42738" cy="1828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7085407" y="5989581"/>
            <a:ext cx="42738" cy="13689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7164721" y="6047433"/>
            <a:ext cx="42738" cy="7904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7244035" y="6020469"/>
            <a:ext cx="42738" cy="10601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323350" y="6013135"/>
            <a:ext cx="42738" cy="11334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402664" y="5988706"/>
            <a:ext cx="42738" cy="13777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7481978" y="5993396"/>
            <a:ext cx="42738" cy="13308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7561292" y="5990125"/>
            <a:ext cx="42738" cy="13635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7640607" y="6032960"/>
            <a:ext cx="42738" cy="93519"/>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719921" y="6022948"/>
            <a:ext cx="42738" cy="103531"/>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799235" y="6027083"/>
            <a:ext cx="42738" cy="9939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7878549" y="5988647"/>
            <a:ext cx="42738" cy="13783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957864" y="5983268"/>
            <a:ext cx="42738" cy="143211"/>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037178" y="6042287"/>
            <a:ext cx="42738" cy="8419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8116492" y="6040437"/>
            <a:ext cx="42738" cy="8604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8195806" y="6036359"/>
            <a:ext cx="42738" cy="901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275121" y="6036258"/>
            <a:ext cx="42738" cy="90221"/>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354435" y="6017852"/>
            <a:ext cx="42738" cy="10862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433749" y="6010232"/>
            <a:ext cx="42738" cy="11624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846320" y="6126479"/>
            <a:ext cx="3648455"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722376" y="6455664"/>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22376" y="6455664"/>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161" name="TextBox 160"/>
          <p:cNvSpPr txBox="1"/>
          <p:nvPr/>
        </p:nvSpPr>
        <p:spPr>
          <a:xfrm>
            <a:off x="1307592" y="6419088"/>
            <a:ext cx="718718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그 결과 좋아지는 지표</a:t>
            </a:r>
          </a:p>
        </p:txBody>
      </p:sp>
      <p:sp>
        <p:nvSpPr>
          <p:cNvPr id="162" name="Rounded Rectangle 161">
            <a:hlinkClick action="ppaction://hlinksldjump" r:id="rId12"/>
          </p:cNvPr>
          <p:cNvSpPr/>
          <p:nvPr/>
        </p:nvSpPr>
        <p:spPr>
          <a:xfrm>
            <a:off x="5111495" y="6492240"/>
            <a:ext cx="3383280" cy="365760"/>
          </a:xfrm>
          <a:prstGeom prst="roundRect">
            <a:avLst>
              <a:gd name="adj" fmla="val 20000"/>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a:hlinkClick action="ppaction://hlinksldjump" r:id="rId12"/>
          </p:cNvPr>
          <p:cNvSpPr txBox="1"/>
          <p:nvPr/>
        </p:nvSpPr>
        <p:spPr>
          <a:xfrm>
            <a:off x="5166359" y="6492240"/>
            <a:ext cx="3273552" cy="365760"/>
          </a:xfrm>
          <a:prstGeom prst="rect">
            <a:avLst/>
          </a:prstGeom>
          <a:noFill/>
        </p:spPr>
        <p:txBody>
          <a:bodyPr wrap="square" anchor="ctr" lIns="0" rIns="0" tIns="0" bIns="0">
            <a:spAutoFit/>
          </a:bodyPr>
          <a:lstStyle/>
          <a:p>
            <a:pPr algn="ctr">
              <a:lnSpc>
                <a:spcPct val="110000"/>
              </a:lnSpc>
            </a:pPr>
            <a:r>
              <a:rPr sz="1500" b="1">
                <a:solidFill>
                  <a:srgbClr val="3C4FA5"/>
                </a:solidFill>
                <a:latin typeface="Arial"/>
                <a:ea typeface="Arial"/>
              </a:rPr>
              <a:t>왜 SSD만으로는 안 됐나  참고 5장 ▶</a:t>
            </a:r>
          </a:p>
        </p:txBody>
      </p:sp>
      <p:sp>
        <p:nvSpPr>
          <p:cNvPr id="164" name="Rounded Rectangle 163"/>
          <p:cNvSpPr/>
          <p:nvPr/>
        </p:nvSpPr>
        <p:spPr>
          <a:xfrm>
            <a:off x="722376" y="7022592"/>
            <a:ext cx="3776472" cy="2340864"/>
          </a:xfrm>
          <a:prstGeom prst="roundRect">
            <a:avLst>
              <a:gd name="adj" fmla="val 312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05256" y="7077455"/>
            <a:ext cx="3410712"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WAF</a:t>
            </a:r>
          </a:p>
        </p:txBody>
      </p:sp>
      <p:sp>
        <p:nvSpPr>
          <p:cNvPr id="166" name="TextBox 165"/>
          <p:cNvSpPr txBox="1"/>
          <p:nvPr/>
        </p:nvSpPr>
        <p:spPr>
          <a:xfrm>
            <a:off x="905256" y="7424927"/>
            <a:ext cx="3410712"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GC 복사량 (WAF − 1) 2.22 → 0.03</a:t>
            </a:r>
          </a:p>
        </p:txBody>
      </p:sp>
      <p:sp>
        <p:nvSpPr>
          <p:cNvPr id="167" name="Rectangle 166"/>
          <p:cNvSpPr/>
          <p:nvPr/>
        </p:nvSpPr>
        <p:spPr>
          <a:xfrm>
            <a:off x="996696" y="8046719"/>
            <a:ext cx="603504" cy="96926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813816" y="7754111"/>
            <a:ext cx="969264" cy="274320"/>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3.22</a:t>
            </a:r>
          </a:p>
        </p:txBody>
      </p:sp>
      <p:sp>
        <p:nvSpPr>
          <p:cNvPr id="169" name="TextBox 168"/>
          <p:cNvSpPr txBox="1"/>
          <p:nvPr/>
        </p:nvSpPr>
        <p:spPr>
          <a:xfrm>
            <a:off x="768096" y="9034272"/>
            <a:ext cx="1060704" cy="292608"/>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SSD 혼자</a:t>
            </a:r>
          </a:p>
        </p:txBody>
      </p:sp>
      <p:sp>
        <p:nvSpPr>
          <p:cNvPr id="170" name="Rectangle 169"/>
          <p:cNvSpPr/>
          <p:nvPr/>
        </p:nvSpPr>
        <p:spPr>
          <a:xfrm>
            <a:off x="1837944" y="8705939"/>
            <a:ext cx="603504" cy="31004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655064" y="8413331"/>
            <a:ext cx="969264" cy="274320"/>
          </a:xfrm>
          <a:prstGeom prst="rect">
            <a:avLst/>
          </a:prstGeom>
          <a:noFill/>
        </p:spPr>
        <p:txBody>
          <a:bodyPr wrap="square" anchor="ctr" lIns="0" rIns="0" tIns="0" bIns="0">
            <a:spAutoFit/>
          </a:bodyPr>
          <a:lstStyle/>
          <a:p>
            <a:pPr algn="ctr">
              <a:lnSpc>
                <a:spcPct val="110000"/>
              </a:lnSpc>
            </a:pPr>
            <a:r>
              <a:rPr sz="1700" b="1">
                <a:solidFill>
                  <a:srgbClr val="3C4FA5"/>
                </a:solidFill>
                <a:latin typeface="Arial"/>
                <a:ea typeface="Arial"/>
              </a:rPr>
              <a:t>1.03</a:t>
            </a:r>
          </a:p>
        </p:txBody>
      </p:sp>
      <p:sp>
        <p:nvSpPr>
          <p:cNvPr id="172" name="TextBox 171"/>
          <p:cNvSpPr txBox="1"/>
          <p:nvPr/>
        </p:nvSpPr>
        <p:spPr>
          <a:xfrm>
            <a:off x="1609344" y="9034272"/>
            <a:ext cx="1060704" cy="292608"/>
          </a:xfrm>
          <a:prstGeom prst="rect">
            <a:avLst/>
          </a:prstGeom>
          <a:noFill/>
        </p:spPr>
        <p:txBody>
          <a:bodyPr wrap="square" anchor="t" lIns="0" rIns="0" tIns="0" bIns="0">
            <a:spAutoFit/>
          </a:bodyPr>
          <a:lstStyle/>
          <a:p>
            <a:pPr algn="ctr">
              <a:lnSpc>
                <a:spcPct val="110000"/>
              </a:lnSpc>
            </a:pPr>
            <a:r>
              <a:rPr sz="1500" b="1">
                <a:solidFill>
                  <a:srgbClr val="3C4FA5"/>
                </a:solidFill>
                <a:latin typeface="Arial"/>
                <a:ea typeface="Arial"/>
              </a:rPr>
              <a:t>함께</a:t>
            </a:r>
          </a:p>
        </p:txBody>
      </p:sp>
      <p:sp>
        <p:nvSpPr>
          <p:cNvPr id="173" name="TextBox 172"/>
          <p:cNvSpPr txBox="1"/>
          <p:nvPr/>
        </p:nvSpPr>
        <p:spPr>
          <a:xfrm>
            <a:off x="2642616" y="7754112"/>
            <a:ext cx="1764791" cy="676656"/>
          </a:xfrm>
          <a:prstGeom prst="rect">
            <a:avLst/>
          </a:prstGeom>
          <a:noFill/>
        </p:spPr>
        <p:txBody>
          <a:bodyPr wrap="square" anchor="ctr" lIns="0" rIns="0" tIns="0" bIns="0">
            <a:spAutoFit/>
          </a:bodyPr>
          <a:lstStyle/>
          <a:p>
            <a:pPr algn="ctr">
              <a:lnSpc>
                <a:spcPct val="110000"/>
              </a:lnSpc>
            </a:pPr>
            <a:r>
              <a:rPr sz="3800" b="1">
                <a:solidFill>
                  <a:srgbClr val="3C4FA5"/>
                </a:solidFill>
                <a:latin typeface="Arial"/>
                <a:ea typeface="Arial"/>
              </a:rPr>
              <a:t>−68%</a:t>
            </a:r>
          </a:p>
        </p:txBody>
      </p:sp>
      <p:sp>
        <p:nvSpPr>
          <p:cNvPr id="174" name="TextBox 173"/>
          <p:cNvSpPr txBox="1"/>
          <p:nvPr/>
        </p:nvSpPr>
        <p:spPr>
          <a:xfrm>
            <a:off x="2642616" y="8412480"/>
            <a:ext cx="1764791"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CacheLib FDP</a:t>
            </a:r>
          </a:p>
        </p:txBody>
      </p:sp>
      <p:sp>
        <p:nvSpPr>
          <p:cNvPr id="175" name="Rounded Rectangle 174"/>
          <p:cNvSpPr/>
          <p:nvPr/>
        </p:nvSpPr>
        <p:spPr>
          <a:xfrm>
            <a:off x="4718304" y="7022592"/>
            <a:ext cx="3776472" cy="2340864"/>
          </a:xfrm>
          <a:prstGeom prst="roundRect">
            <a:avLst>
              <a:gd name="adj" fmla="val 312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4901184" y="7077455"/>
            <a:ext cx="3410712"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p99.9 꼬리 지연</a:t>
            </a:r>
          </a:p>
        </p:txBody>
      </p:sp>
      <p:sp>
        <p:nvSpPr>
          <p:cNvPr id="177" name="TextBox 176"/>
          <p:cNvSpPr txBox="1"/>
          <p:nvPr/>
        </p:nvSpPr>
        <p:spPr>
          <a:xfrm>
            <a:off x="4901184" y="7424927"/>
            <a:ext cx="3410712"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GC 뒤에 읽기가 기다리는 시간</a:t>
            </a:r>
          </a:p>
        </p:txBody>
      </p:sp>
      <p:sp>
        <p:nvSpPr>
          <p:cNvPr id="178" name="Rectangle 177"/>
          <p:cNvSpPr/>
          <p:nvPr/>
        </p:nvSpPr>
        <p:spPr>
          <a:xfrm>
            <a:off x="4992624" y="8046719"/>
            <a:ext cx="603504" cy="96926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4809744" y="7754111"/>
            <a:ext cx="969264" cy="274320"/>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100</a:t>
            </a:r>
          </a:p>
        </p:txBody>
      </p:sp>
      <p:sp>
        <p:nvSpPr>
          <p:cNvPr id="180" name="TextBox 179"/>
          <p:cNvSpPr txBox="1"/>
          <p:nvPr/>
        </p:nvSpPr>
        <p:spPr>
          <a:xfrm>
            <a:off x="4764024" y="9034272"/>
            <a:ext cx="1060704" cy="292608"/>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일반</a:t>
            </a:r>
          </a:p>
        </p:txBody>
      </p:sp>
      <p:sp>
        <p:nvSpPr>
          <p:cNvPr id="181" name="Rectangle 180"/>
          <p:cNvSpPr/>
          <p:nvPr/>
        </p:nvSpPr>
        <p:spPr>
          <a:xfrm>
            <a:off x="5833872" y="8579815"/>
            <a:ext cx="603504" cy="43616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650992" y="8287207"/>
            <a:ext cx="969264" cy="274320"/>
          </a:xfrm>
          <a:prstGeom prst="rect">
            <a:avLst/>
          </a:prstGeom>
          <a:noFill/>
        </p:spPr>
        <p:txBody>
          <a:bodyPr wrap="square" anchor="ctr" lIns="0" rIns="0" tIns="0" bIns="0">
            <a:spAutoFit/>
          </a:bodyPr>
          <a:lstStyle/>
          <a:p>
            <a:pPr algn="ctr">
              <a:lnSpc>
                <a:spcPct val="110000"/>
              </a:lnSpc>
            </a:pPr>
            <a:r>
              <a:rPr sz="1700" b="1">
                <a:solidFill>
                  <a:srgbClr val="3C4FA5"/>
                </a:solidFill>
                <a:latin typeface="Arial"/>
                <a:ea typeface="Arial"/>
              </a:rPr>
              <a:t>45</a:t>
            </a:r>
          </a:p>
        </p:txBody>
      </p:sp>
      <p:sp>
        <p:nvSpPr>
          <p:cNvPr id="183" name="TextBox 182"/>
          <p:cNvSpPr txBox="1"/>
          <p:nvPr/>
        </p:nvSpPr>
        <p:spPr>
          <a:xfrm>
            <a:off x="5605272" y="9034272"/>
            <a:ext cx="1060704" cy="292608"/>
          </a:xfrm>
          <a:prstGeom prst="rect">
            <a:avLst/>
          </a:prstGeom>
          <a:noFill/>
        </p:spPr>
        <p:txBody>
          <a:bodyPr wrap="square" anchor="t" lIns="0" rIns="0" tIns="0" bIns="0">
            <a:spAutoFit/>
          </a:bodyPr>
          <a:lstStyle/>
          <a:p>
            <a:pPr algn="ctr">
              <a:lnSpc>
                <a:spcPct val="110000"/>
              </a:lnSpc>
            </a:pPr>
            <a:r>
              <a:rPr sz="1500" b="1">
                <a:solidFill>
                  <a:srgbClr val="3C4FA5"/>
                </a:solidFill>
                <a:latin typeface="Arial"/>
                <a:ea typeface="Arial"/>
              </a:rPr>
              <a:t>FDP</a:t>
            </a:r>
          </a:p>
        </p:txBody>
      </p:sp>
      <p:sp>
        <p:nvSpPr>
          <p:cNvPr id="184" name="TextBox 183"/>
          <p:cNvSpPr txBox="1"/>
          <p:nvPr/>
        </p:nvSpPr>
        <p:spPr>
          <a:xfrm>
            <a:off x="6638544" y="7754112"/>
            <a:ext cx="1764791" cy="676656"/>
          </a:xfrm>
          <a:prstGeom prst="rect">
            <a:avLst/>
          </a:prstGeom>
          <a:noFill/>
        </p:spPr>
        <p:txBody>
          <a:bodyPr wrap="square" anchor="ctr" lIns="0" rIns="0" tIns="0" bIns="0">
            <a:spAutoFit/>
          </a:bodyPr>
          <a:lstStyle/>
          <a:p>
            <a:pPr algn="ctr">
              <a:lnSpc>
                <a:spcPct val="110000"/>
              </a:lnSpc>
            </a:pPr>
            <a:r>
              <a:rPr sz="3800" b="1">
                <a:solidFill>
                  <a:srgbClr val="3C4FA5"/>
                </a:solidFill>
                <a:latin typeface="Arial"/>
                <a:ea typeface="Arial"/>
              </a:rPr>
              <a:t>−55%</a:t>
            </a:r>
          </a:p>
        </p:txBody>
      </p:sp>
      <p:sp>
        <p:nvSpPr>
          <p:cNvPr id="185" name="TextBox 184"/>
          <p:cNvSpPr txBox="1"/>
          <p:nvPr/>
        </p:nvSpPr>
        <p:spPr>
          <a:xfrm>
            <a:off x="6638544" y="8412480"/>
            <a:ext cx="1764791"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PM9D3a · RocksDB</a:t>
            </a:r>
          </a:p>
        </p:txBody>
      </p:sp>
      <p:sp>
        <p:nvSpPr>
          <p:cNvPr id="186" name="Oval 185"/>
          <p:cNvSpPr/>
          <p:nvPr/>
        </p:nvSpPr>
        <p:spPr>
          <a:xfrm>
            <a:off x="8860536" y="3438144"/>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8860536" y="3438144"/>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188" name="TextBox 187"/>
          <p:cNvSpPr txBox="1"/>
          <p:nvPr/>
        </p:nvSpPr>
        <p:spPr>
          <a:xfrm>
            <a:off x="9445752" y="3401568"/>
            <a:ext cx="8119872"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미래 수요에 능동 대응하는 포트폴리오</a:t>
            </a:r>
          </a:p>
        </p:txBody>
      </p:sp>
      <p:pic>
        <p:nvPicPr>
          <p:cNvPr id="189" name="Picture 188" descr="portfolio_3d_base.png"/>
          <p:cNvPicPr>
            <a:picLocks noChangeAspect="1"/>
          </p:cNvPicPr>
          <p:nvPr/>
        </p:nvPicPr>
        <p:blipFill>
          <a:blip r:embed="rId2"/>
          <a:stretch>
            <a:fillRect/>
          </a:stretch>
        </p:blipFill>
        <p:spPr>
          <a:xfrm>
            <a:off x="8769096" y="4041648"/>
            <a:ext cx="6303421" cy="5321808"/>
          </a:xfrm>
          <a:prstGeom prst="rect">
            <a:avLst/>
          </a:prstGeom>
        </p:spPr>
      </p:pic>
      <p:sp>
        <p:nvSpPr>
          <p:cNvPr id="194" name="TextBox 193"/>
          <p:cNvSpPr txBox="1"/>
          <p:nvPr/>
        </p:nvSpPr>
        <p:spPr>
          <a:xfrm>
            <a:off x="8769096" y="4005072"/>
            <a:ext cx="2194560" cy="512064"/>
          </a:xfrm>
          <a:prstGeom prst="rect">
            <a:avLst/>
          </a:prstGeom>
          <a:noFill/>
        </p:spPr>
        <p:txBody>
          <a:bodyPr wrap="square" anchor="t" lIns="0" rIns="0" tIns="0" bIns="0">
            <a:spAutoFit/>
          </a:bodyPr>
          <a:lstStyle/>
          <a:p>
            <a:pPr algn="l">
              <a:lnSpc>
                <a:spcPct val="95000"/>
              </a:lnSpc>
            </a:pPr>
            <a:r>
              <a:rPr sz="1500" b="1">
                <a:solidFill>
                  <a:srgbClr val="555555"/>
                </a:solidFill>
                <a:latin typeface="Arial"/>
                <a:ea typeface="Arial"/>
              </a:rPr>
              <a:t>높이 = 꼬리 지연</a:t>
            </a:r>
          </a:p>
          <a:p>
            <a:pPr algn="l">
              <a:lnSpc>
                <a:spcPct val="95000"/>
              </a:lnSpc>
            </a:pPr>
            <a:r>
              <a:rPr sz="1500" b="0">
                <a:solidFill>
                  <a:srgbClr val="555555"/>
                </a:solidFill>
                <a:latin typeface="Arial"/>
                <a:ea typeface="Arial"/>
              </a:rPr>
              <a:t>낮을수록 위 (정성)</a:t>
            </a:r>
          </a:p>
        </p:txBody>
      </p:sp>
      <p:sp>
        <p:nvSpPr>
          <p:cNvPr id="195" name="Rounded Rectangle 194"/>
          <p:cNvSpPr/>
          <p:nvPr/>
        </p:nvSpPr>
        <p:spPr>
          <a:xfrm>
            <a:off x="15279624" y="4032504"/>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15279624" y="4032504"/>
            <a:ext cx="73152" cy="1266444"/>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15407640" y="4096511"/>
            <a:ext cx="347472" cy="347472"/>
          </a:xfrm>
          <a:prstGeom prst="ellipse">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15407640" y="4096511"/>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pic>
        <p:nvPicPr>
          <p:cNvPr id="199" name="Picture 198" descr="p_bm1743.png"/>
          <p:cNvPicPr>
            <a:picLocks noChangeAspect="1"/>
          </p:cNvPicPr>
          <p:nvPr/>
        </p:nvPicPr>
        <p:blipFill>
          <a:blip r:embed="rId7"/>
          <a:stretch>
            <a:fillRect/>
          </a:stretch>
        </p:blipFill>
        <p:spPr>
          <a:xfrm>
            <a:off x="16307773" y="4059935"/>
            <a:ext cx="686900" cy="475488"/>
          </a:xfrm>
          <a:prstGeom prst="rect">
            <a:avLst/>
          </a:prstGeom>
        </p:spPr>
      </p:pic>
      <p:sp>
        <p:nvSpPr>
          <p:cNvPr id="200" name="TextBox 199"/>
          <p:cNvSpPr txBox="1"/>
          <p:nvPr/>
        </p:nvSpPr>
        <p:spPr>
          <a:xfrm>
            <a:off x="15462504" y="4535424"/>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BM1743 · QLC</a:t>
            </a:r>
          </a:p>
        </p:txBody>
      </p:sp>
      <p:sp>
        <p:nvSpPr>
          <p:cNvPr id="206" name="Rounded Rectangle 205"/>
          <p:cNvSpPr/>
          <p:nvPr/>
        </p:nvSpPr>
        <p:spPr>
          <a:xfrm>
            <a:off x="15279624" y="5372100"/>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5279624" y="5372100"/>
            <a:ext cx="73152" cy="1266444"/>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15407640" y="5436107"/>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5407640" y="5436107"/>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pic>
        <p:nvPicPr>
          <p:cNvPr id="210" name="Picture 209" descr="p_pm1753.png"/>
          <p:cNvPicPr>
            <a:picLocks noChangeAspect="1"/>
          </p:cNvPicPr>
          <p:nvPr/>
        </p:nvPicPr>
        <p:blipFill>
          <a:blip r:embed="rId8"/>
          <a:stretch>
            <a:fillRect/>
          </a:stretch>
        </p:blipFill>
        <p:spPr>
          <a:xfrm>
            <a:off x="16327027" y="5399531"/>
            <a:ext cx="648392" cy="475488"/>
          </a:xfrm>
          <a:prstGeom prst="rect">
            <a:avLst/>
          </a:prstGeom>
        </p:spPr>
      </p:pic>
      <p:sp>
        <p:nvSpPr>
          <p:cNvPr id="211" name="TextBox 210"/>
          <p:cNvSpPr txBox="1"/>
          <p:nvPr/>
        </p:nvSpPr>
        <p:spPr>
          <a:xfrm>
            <a:off x="15462504" y="5875020"/>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PM1753 · TLC</a:t>
            </a:r>
          </a:p>
        </p:txBody>
      </p:sp>
      <p:sp>
        <p:nvSpPr>
          <p:cNvPr id="217" name="Rounded Rectangle 216"/>
          <p:cNvSpPr/>
          <p:nvPr/>
        </p:nvSpPr>
        <p:spPr>
          <a:xfrm>
            <a:off x="15279624" y="6711696"/>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5279624" y="6711696"/>
            <a:ext cx="73152" cy="1266444"/>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15407640" y="6775704"/>
            <a:ext cx="347472" cy="347472"/>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15407640" y="6775704"/>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pic>
        <p:nvPicPr>
          <p:cNvPr id="221" name="Picture 220" descr="p_pm1755.png"/>
          <p:cNvPicPr>
            <a:picLocks noChangeAspect="1"/>
          </p:cNvPicPr>
          <p:nvPr/>
        </p:nvPicPr>
        <p:blipFill>
          <a:blip r:embed="rId9"/>
          <a:stretch>
            <a:fillRect/>
          </a:stretch>
        </p:blipFill>
        <p:spPr>
          <a:xfrm>
            <a:off x="16327027" y="6739128"/>
            <a:ext cx="648392" cy="475488"/>
          </a:xfrm>
          <a:prstGeom prst="rect">
            <a:avLst/>
          </a:prstGeom>
        </p:spPr>
      </p:pic>
      <p:sp>
        <p:nvSpPr>
          <p:cNvPr id="222" name="TextBox 221"/>
          <p:cNvSpPr txBox="1"/>
          <p:nvPr/>
        </p:nvSpPr>
        <p:spPr>
          <a:xfrm>
            <a:off x="15462504" y="7214616"/>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PM1755 · 고내구 TLC</a:t>
            </a:r>
          </a:p>
        </p:txBody>
      </p:sp>
      <p:sp>
        <p:nvSpPr>
          <p:cNvPr id="228" name="Rounded Rectangle 227"/>
          <p:cNvSpPr/>
          <p:nvPr/>
        </p:nvSpPr>
        <p:spPr>
          <a:xfrm>
            <a:off x="15279624" y="8051292"/>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5279624" y="8051292"/>
            <a:ext cx="73152" cy="1266444"/>
          </a:xfrm>
          <a:prstGeom prst="rect">
            <a:avLst/>
          </a:prstGeom>
          <a:solidFill>
            <a:srgbClr val="CC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15407640" y="8115300"/>
            <a:ext cx="347472" cy="347472"/>
          </a:xfrm>
          <a:prstGeom prst="ellipse">
            <a:avLst/>
          </a:prstGeom>
          <a:solidFill>
            <a:srgbClr val="CC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15407640" y="8115300"/>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4</a:t>
            </a:r>
          </a:p>
        </p:txBody>
      </p:sp>
      <p:pic>
        <p:nvPicPr>
          <p:cNvPr id="232" name="Picture 231" descr="p_zssd.png"/>
          <p:cNvPicPr>
            <a:picLocks noChangeAspect="1"/>
          </p:cNvPicPr>
          <p:nvPr/>
        </p:nvPicPr>
        <p:blipFill>
          <a:blip r:embed="rId10"/>
          <a:stretch>
            <a:fillRect/>
          </a:stretch>
        </p:blipFill>
        <p:spPr>
          <a:xfrm>
            <a:off x="16256446" y="8078724"/>
            <a:ext cx="789555" cy="475488"/>
          </a:xfrm>
          <a:prstGeom prst="rect">
            <a:avLst/>
          </a:prstGeom>
        </p:spPr>
      </p:pic>
      <p:sp>
        <p:nvSpPr>
          <p:cNvPr id="233" name="TextBox 232"/>
          <p:cNvSpPr txBox="1"/>
          <p:nvPr/>
        </p:nvSpPr>
        <p:spPr>
          <a:xfrm>
            <a:off x="15462504" y="8554212"/>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Z-NAND · SLC급</a:t>
            </a:r>
          </a:p>
        </p:txBody>
      </p:sp>
      <p:sp>
        <p:nvSpPr>
          <p:cNvPr id="239" name="TextBox 238"/>
          <p:cNvSpPr txBox="1"/>
          <p:nvPr/>
        </p:nvSpPr>
        <p:spPr>
          <a:xfrm>
            <a:off x="11146536" y="4005072"/>
            <a:ext cx="9144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바닥 =</a:t>
            </a:r>
          </a:p>
        </p:txBody>
      </p:sp>
      <p:sp>
        <p:nvSpPr>
          <p:cNvPr id="240" name="Rectangle 239"/>
          <p:cNvSpPr/>
          <p:nvPr/>
        </p:nvSpPr>
        <p:spPr>
          <a:xfrm>
            <a:off x="11878056" y="4050791"/>
            <a:ext cx="274320" cy="182880"/>
          </a:xfrm>
          <a:prstGeom prst="rect">
            <a:avLst/>
          </a:prstGeom>
          <a:solidFill>
            <a:srgbClr val="ECEEF1"/>
          </a:solidFill>
          <a:ln w="63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12207240" y="4005072"/>
            <a:ext cx="18288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가중치 · RAG</a:t>
            </a:r>
          </a:p>
        </p:txBody>
      </p:sp>
      <p:sp>
        <p:nvSpPr>
          <p:cNvPr id="242" name="Rectangle 241"/>
          <p:cNvSpPr/>
          <p:nvPr/>
        </p:nvSpPr>
        <p:spPr>
          <a:xfrm>
            <a:off x="11878056" y="4325112"/>
            <a:ext cx="274320" cy="182880"/>
          </a:xfrm>
          <a:prstGeom prst="rect">
            <a:avLst/>
          </a:prstGeom>
          <a:solidFill>
            <a:srgbClr val="D5D9DF"/>
          </a:solidFill>
          <a:ln w="63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12207240" y="4279392"/>
            <a:ext cx="18288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KV 오프로드</a:t>
            </a:r>
          </a:p>
        </p:txBody>
      </p:sp>
      <p:sp>
        <p:nvSpPr>
          <p:cNvPr id="244" name="Rectangle 243"/>
          <p:cNvSpPr/>
          <p:nvPr/>
        </p:nvSpPr>
        <p:spPr>
          <a:xfrm>
            <a:off x="11878056" y="4599431"/>
            <a:ext cx="274320" cy="182880"/>
          </a:xfrm>
          <a:prstGeom prst="rect">
            <a:avLst/>
          </a:prstGeom>
          <a:solidFill>
            <a:srgbClr val="BEC4CC"/>
          </a:solidFill>
          <a:ln w="63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12207240" y="4553712"/>
            <a:ext cx="18288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초고DWPD KV</a:t>
            </a:r>
          </a:p>
        </p:txBody>
      </p:sp>
      <p:grpSp>
        <p:nvGrpSpPr>
          <p:cNvPr id="246" name="Group 245"/>
          <p:cNvGrpSpPr/>
          <p:nvPr/>
        </p:nvGrpSpPr>
        <p:grpSpPr>
          <a:xfrm>
            <a:off x="8769096" y="4005072"/>
            <a:ext cx="8823960" cy="5358384"/>
            <a:chOff x="8769096" y="4005072"/>
            <a:chExt cx="8823960" cy="5358384"/>
          </a:xfrm>
        </p:grpSpPr>
        <p:pic>
          <p:nvPicPr>
            <p:cNvPr id="190" name="Picture 189" descr="portfolio_3d_qlc.png"/>
            <p:cNvPicPr>
              <a:picLocks noChangeAspect="1"/>
            </p:cNvPicPr>
            <p:nvPr/>
          </p:nvPicPr>
          <p:blipFill>
            <a:blip r:embed="rId3"/>
            <a:stretch>
              <a:fillRect/>
            </a:stretch>
          </p:blipFill>
          <p:spPr>
            <a:xfrm>
              <a:off x="8769096" y="4041648"/>
              <a:ext cx="6303421" cy="5321808"/>
            </a:xfrm>
            <a:prstGeom prst="rect">
              <a:avLst/>
            </a:prstGeom>
          </p:spPr>
        </p:pic>
        <p:sp>
          <p:nvSpPr>
            <p:cNvPr id="201" name="TextBox 200"/>
            <p:cNvSpPr txBox="1"/>
            <p:nvPr/>
          </p:nvSpPr>
          <p:spPr>
            <a:xfrm>
              <a:off x="15462504" y="4773168"/>
              <a:ext cx="2048256" cy="256032"/>
            </a:xfrm>
            <a:prstGeom prst="rect">
              <a:avLst/>
            </a:prstGeom>
            <a:noFill/>
          </p:spPr>
          <p:txBody>
            <a:bodyPr wrap="square" anchor="ctr" lIns="0" rIns="0" tIns="0" bIns="0">
              <a:spAutoFit/>
            </a:bodyPr>
            <a:lstStyle/>
            <a:p>
              <a:pPr algn="l">
                <a:lnSpc>
                  <a:spcPct val="110000"/>
                </a:lnSpc>
              </a:pPr>
              <a:r>
                <a:rPr sz="1600" b="1">
                  <a:solidFill>
                    <a:srgbClr val="009E73"/>
                  </a:solidFill>
                  <a:latin typeface="Arial"/>
                  <a:ea typeface="Arial"/>
                </a:rPr>
                <a:t>0.3 → 1 DWPD</a:t>
              </a:r>
            </a:p>
          </p:txBody>
        </p:sp>
        <p:sp>
          <p:nvSpPr>
            <p:cNvPr id="202" name="TextBox 201"/>
            <p:cNvSpPr txBox="1"/>
            <p:nvPr/>
          </p:nvSpPr>
          <p:spPr>
            <a:xfrm>
              <a:off x="15462504" y="4992624"/>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KV 오프로드 진입</a:t>
              </a:r>
            </a:p>
          </p:txBody>
        </p:sp>
        <p:sp>
          <p:nvSpPr>
            <p:cNvPr id="203" name="Rounded Rectangle 202"/>
            <p:cNvSpPr/>
            <p:nvPr/>
          </p:nvSpPr>
          <p:spPr>
            <a:xfrm>
              <a:off x="15252192" y="4005072"/>
              <a:ext cx="2340864" cy="1321308"/>
            </a:xfrm>
            <a:prstGeom prst="roundRect">
              <a:avLst>
                <a:gd name="adj" fmla="val 5536"/>
              </a:avLst>
            </a:prstGeom>
            <a:noFill/>
            <a:ln w="31750">
              <a:solidFill>
                <a:srgbClr val="009E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1" name="Picture 190" descr="portfolio_3d_tlc.png"/>
            <p:cNvPicPr>
              <a:picLocks noChangeAspect="1"/>
            </p:cNvPicPr>
            <p:nvPr/>
          </p:nvPicPr>
          <p:blipFill>
            <a:blip r:embed="rId4"/>
            <a:stretch>
              <a:fillRect/>
            </a:stretch>
          </p:blipFill>
          <p:spPr>
            <a:xfrm>
              <a:off x="8769096" y="4041648"/>
              <a:ext cx="6303421" cy="5321808"/>
            </a:xfrm>
            <a:prstGeom prst="rect">
              <a:avLst/>
            </a:prstGeom>
          </p:spPr>
        </p:pic>
        <p:sp>
          <p:nvSpPr>
            <p:cNvPr id="212" name="TextBox 211"/>
            <p:cNvSpPr txBox="1"/>
            <p:nvPr/>
          </p:nvSpPr>
          <p:spPr>
            <a:xfrm>
              <a:off x="15462504" y="6112764"/>
              <a:ext cx="2048256" cy="256032"/>
            </a:xfrm>
            <a:prstGeom prst="rect">
              <a:avLst/>
            </a:prstGeom>
            <a:noFill/>
          </p:spPr>
          <p:txBody>
            <a:bodyPr wrap="square" anchor="ctr" lIns="0" rIns="0" tIns="0" bIns="0">
              <a:spAutoFit/>
            </a:bodyPr>
            <a:lstStyle/>
            <a:p>
              <a:pPr algn="l">
                <a:lnSpc>
                  <a:spcPct val="110000"/>
                </a:lnSpc>
              </a:pPr>
              <a:r>
                <a:rPr sz="1600" b="1">
                  <a:solidFill>
                    <a:srgbClr val="0072B2"/>
                  </a:solidFill>
                  <a:latin typeface="Arial"/>
                  <a:ea typeface="Arial"/>
                </a:rPr>
                <a:t>1 → 3 DWPD</a:t>
              </a:r>
            </a:p>
          </p:txBody>
        </p:sp>
        <p:sp>
          <p:nvSpPr>
            <p:cNvPr id="213" name="TextBox 212"/>
            <p:cNvSpPr txBox="1"/>
            <p:nvPr/>
          </p:nvSpPr>
          <p:spPr>
            <a:xfrm>
              <a:off x="15462504" y="6332220"/>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쓰기 많은 KV</a:t>
              </a:r>
            </a:p>
          </p:txBody>
        </p:sp>
        <p:sp>
          <p:nvSpPr>
            <p:cNvPr id="214" name="Rounded Rectangle 213"/>
            <p:cNvSpPr/>
            <p:nvPr/>
          </p:nvSpPr>
          <p:spPr>
            <a:xfrm>
              <a:off x="15252192" y="5344668"/>
              <a:ext cx="2340864" cy="1321308"/>
            </a:xfrm>
            <a:prstGeom prst="roundRect">
              <a:avLst>
                <a:gd name="adj" fmla="val 5536"/>
              </a:avLst>
            </a:pr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2" name="Picture 191" descr="portfolio_3d_hetlc.png"/>
            <p:cNvPicPr>
              <a:picLocks noChangeAspect="1"/>
            </p:cNvPicPr>
            <p:nvPr/>
          </p:nvPicPr>
          <p:blipFill>
            <a:blip r:embed="rId5"/>
            <a:stretch>
              <a:fillRect/>
            </a:stretch>
          </p:blipFill>
          <p:spPr>
            <a:xfrm>
              <a:off x="8769096" y="4041648"/>
              <a:ext cx="6303421" cy="5321808"/>
            </a:xfrm>
            <a:prstGeom prst="rect">
              <a:avLst/>
            </a:prstGeom>
          </p:spPr>
        </p:pic>
        <p:sp>
          <p:nvSpPr>
            <p:cNvPr id="223" name="TextBox 222"/>
            <p:cNvSpPr txBox="1"/>
            <p:nvPr/>
          </p:nvSpPr>
          <p:spPr>
            <a:xfrm>
              <a:off x="15462504" y="7452360"/>
              <a:ext cx="2048256" cy="256032"/>
            </a:xfrm>
            <a:prstGeom prst="rect">
              <a:avLst/>
            </a:prstGeom>
            <a:noFill/>
          </p:spPr>
          <p:txBody>
            <a:bodyPr wrap="square" anchor="ctr" lIns="0" rIns="0" tIns="0" bIns="0">
              <a:spAutoFit/>
            </a:bodyPr>
            <a:lstStyle/>
            <a:p>
              <a:pPr algn="l">
                <a:lnSpc>
                  <a:spcPct val="110000"/>
                </a:lnSpc>
              </a:pPr>
              <a:r>
                <a:rPr sz="1600" b="1">
                  <a:solidFill>
                    <a:srgbClr val="E69F00"/>
                  </a:solidFill>
                  <a:latin typeface="Arial"/>
                  <a:ea typeface="Arial"/>
                </a:rPr>
                <a:t>3 → 9 DWPD</a:t>
              </a:r>
            </a:p>
          </p:txBody>
        </p:sp>
        <p:sp>
          <p:nvSpPr>
            <p:cNvPr id="224" name="TextBox 223"/>
            <p:cNvSpPr txBox="1"/>
            <p:nvPr/>
          </p:nvSpPr>
          <p:spPr>
            <a:xfrm>
              <a:off x="15462504" y="7671816"/>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초고DWPD 입구</a:t>
              </a:r>
            </a:p>
          </p:txBody>
        </p:sp>
        <p:sp>
          <p:nvSpPr>
            <p:cNvPr id="225" name="Rounded Rectangle 224"/>
            <p:cNvSpPr/>
            <p:nvPr/>
          </p:nvSpPr>
          <p:spPr>
            <a:xfrm>
              <a:off x="15252192" y="6684264"/>
              <a:ext cx="2340864" cy="1321308"/>
            </a:xfrm>
            <a:prstGeom prst="roundRect">
              <a:avLst>
                <a:gd name="adj" fmla="val 5536"/>
              </a:avLst>
            </a:prstGeom>
            <a:noFill/>
            <a:ln w="3175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3" name="Picture 192" descr="portfolio_3d_slc.png"/>
            <p:cNvPicPr>
              <a:picLocks noChangeAspect="1"/>
            </p:cNvPicPr>
            <p:nvPr/>
          </p:nvPicPr>
          <p:blipFill>
            <a:blip r:embed="rId6"/>
            <a:stretch>
              <a:fillRect/>
            </a:stretch>
          </p:blipFill>
          <p:spPr>
            <a:xfrm>
              <a:off x="8769096" y="4041648"/>
              <a:ext cx="6303421" cy="5321808"/>
            </a:xfrm>
            <a:prstGeom prst="rect">
              <a:avLst/>
            </a:prstGeom>
          </p:spPr>
        </p:pic>
        <p:sp>
          <p:nvSpPr>
            <p:cNvPr id="234" name="TextBox 233"/>
            <p:cNvSpPr txBox="1"/>
            <p:nvPr/>
          </p:nvSpPr>
          <p:spPr>
            <a:xfrm>
              <a:off x="15462504" y="8791956"/>
              <a:ext cx="2048256" cy="256032"/>
            </a:xfrm>
            <a:prstGeom prst="rect">
              <a:avLst/>
            </a:prstGeom>
            <a:noFill/>
          </p:spPr>
          <p:txBody>
            <a:bodyPr wrap="square" anchor="ctr" lIns="0" rIns="0" tIns="0" bIns="0">
              <a:spAutoFit/>
            </a:bodyPr>
            <a:lstStyle/>
            <a:p>
              <a:pPr algn="l">
                <a:lnSpc>
                  <a:spcPct val="110000"/>
                </a:lnSpc>
              </a:pPr>
              <a:r>
                <a:rPr sz="1600" b="1">
                  <a:solidFill>
                    <a:srgbClr val="CC79A7"/>
                  </a:solidFill>
                  <a:latin typeface="Arial"/>
                  <a:ea typeface="Arial"/>
                </a:rPr>
                <a:t>30 → 100 DWPD</a:t>
              </a:r>
            </a:p>
          </p:txBody>
        </p:sp>
        <p:sp>
          <p:nvSpPr>
            <p:cNvPr id="235" name="TextBox 234"/>
            <p:cNvSpPr txBox="1"/>
            <p:nvPr/>
          </p:nvSpPr>
          <p:spPr>
            <a:xfrm>
              <a:off x="15462504" y="9011412"/>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초고DWPD KV (공백)</a:t>
              </a:r>
            </a:p>
          </p:txBody>
        </p:sp>
        <p:sp>
          <p:nvSpPr>
            <p:cNvPr id="236" name="Rounded Rectangle 235"/>
            <p:cNvSpPr/>
            <p:nvPr/>
          </p:nvSpPr>
          <p:spPr>
            <a:xfrm>
              <a:off x="15252192" y="8023860"/>
              <a:ext cx="2340864" cy="1321308"/>
            </a:xfrm>
            <a:prstGeom prst="roundRect">
              <a:avLst>
                <a:gd name="adj" fmla="val 5536"/>
              </a:avLst>
            </a:prstGeom>
            <a:noFill/>
            <a:ln w="31750">
              <a:solidFill>
                <a:srgbClr val="CC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04" name="Oval 203"/>
          <p:cNvSpPr/>
          <p:nvPr/>
        </p:nvSpPr>
        <p:spPr>
          <a:xfrm>
            <a:off x="10710832" y="5223134"/>
            <a:ext cx="347472" cy="347472"/>
          </a:xfrm>
          <a:prstGeom prst="ellipse">
            <a:avLst/>
          </a:prstGeom>
          <a:solidFill>
            <a:srgbClr val="009E7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10710832" y="5223134"/>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215" name="Oval 214"/>
          <p:cNvSpPr/>
          <p:nvPr/>
        </p:nvSpPr>
        <p:spPr>
          <a:xfrm>
            <a:off x="11015097" y="5605063"/>
            <a:ext cx="347472" cy="347472"/>
          </a:xfrm>
          <a:prstGeom prst="ellipse">
            <a:avLst/>
          </a:prstGeom>
          <a:solidFill>
            <a:srgbClr val="0072B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11015097" y="5605063"/>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226" name="Oval 225"/>
          <p:cNvSpPr/>
          <p:nvPr/>
        </p:nvSpPr>
        <p:spPr>
          <a:xfrm>
            <a:off x="11326206" y="6233717"/>
            <a:ext cx="347472" cy="347472"/>
          </a:xfrm>
          <a:prstGeom prst="ellipse">
            <a:avLst/>
          </a:prstGeom>
          <a:solidFill>
            <a:srgbClr val="E69F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11326206" y="6233717"/>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237" name="Oval 236"/>
          <p:cNvSpPr/>
          <p:nvPr/>
        </p:nvSpPr>
        <p:spPr>
          <a:xfrm>
            <a:off x="12352293" y="6901321"/>
            <a:ext cx="347472" cy="347472"/>
          </a:xfrm>
          <a:prstGeom prst="ellipse">
            <a:avLst/>
          </a:prstGeom>
          <a:solidFill>
            <a:srgbClr val="CC79A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12352293" y="6901321"/>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4</a:t>
            </a:r>
          </a:p>
        </p:txBody>
      </p:sp>
      <p:sp>
        <p:nvSpPr>
          <p:cNvPr id="247" name="TextBox 246"/>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WAF 3.22 → 1.03(CacheLib FDP, 삼성 EuroSys'25) · p99.9 −55%(삼성 기술 블로그, PM9D3a 7.68TB RocksDB, TLC) · 공개 실험 테일 1.5~6배 ↓(ZNS · Valet · WALTZ) · DWPD 확장은 WAF 3 → 1 산술(⚠️) · 꼬리 지연 높이는 정성 등급 · 3D 그림은 제품군 구분을 위해 예외 색 · 제품 이미지는 형태 재현</a:t>
            </a:r>
          </a:p>
        </p:txBody>
      </p:sp>
      <p:sp>
        <p:nvSpPr>
          <p:cNvPr id="248" name="TextBox 247"/>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3 / 8</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nodeType="clickEffect">
                                  <p:stCondLst>
                                    <p:cond delay="0"/>
                                  </p:stCondLst>
                                  <p:childTnLst>
                                    <p:set>
                                      <p:cBhvr>
                                        <p:cTn id="7" dur="1" fill="hold">
                                          <p:stCondLst>
                                            <p:cond delay="0"/>
                                          </p:stCondLst>
                                        </p:cTn>
                                        <p:tgtEl>
                                          <p:spTgt spid="246"/>
                                        </p:tgtEl>
                                        <p:attrNameLst>
                                          <p:attrName>style.visibility</p:attrName>
                                        </p:attrNameLst>
                                      </p:cBhvr>
                                      <p:to>
                                        <p:strVal val="visible"/>
                                      </p:to>
                                    </p:set>
                                    <p:animEffect transition="in" filter="fade">
                                      <p:cBhvr>
                                        <p:cTn id="8" dur="500"/>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5 / 8  참고 · 당위성</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해법의 범위는 NAND에서 SSD로 넓어져 왔고,</a:t>
            </a:r>
          </a:p>
          <a:p>
            <a:pPr algn="l">
              <a:lnSpc>
                <a:spcPct val="105000"/>
              </a:lnSpc>
            </a:pPr>
            <a:r>
              <a:rPr sz="3200" b="1">
                <a:solidFill>
                  <a:srgbClr val="1A1A1A"/>
                </a:solidFill>
                <a:latin typeface="Arial"/>
                <a:ea typeface="Arial"/>
              </a:rPr>
              <a:t>새로 나타난 과제는 고객 시스템까지 넓어져야 풀립니다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2376" y="2212848"/>
            <a:ext cx="507492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2322576"/>
            <a:ext cx="3154679" cy="786384"/>
          </a:xfrm>
          <a:prstGeom prst="rect">
            <a:avLst/>
          </a:prstGeom>
          <a:noFill/>
        </p:spPr>
        <p:txBody>
          <a:bodyPr wrap="square" anchor="t" lIns="0" rIns="0" tIns="0" bIns="0">
            <a:spAutoFit/>
          </a:bodyPr>
          <a:lstStyle/>
          <a:p>
            <a:pPr algn="l">
              <a:lnSpc>
                <a:spcPct val="100000"/>
              </a:lnSpc>
            </a:pPr>
            <a:r>
              <a:rPr sz="2400" b="1">
                <a:solidFill>
                  <a:srgbClr val="1A1A1A"/>
                </a:solidFill>
                <a:latin typeface="Arial"/>
                <a:ea typeface="Arial"/>
              </a:rPr>
              <a:t>NAND → SSD</a:t>
            </a:r>
          </a:p>
          <a:p>
            <a:pPr algn="l">
              <a:lnSpc>
                <a:spcPct val="100000"/>
              </a:lnSpc>
            </a:pPr>
            <a:r>
              <a:rPr sz="1800" b="0">
                <a:solidFill>
                  <a:srgbClr val="555555"/>
                </a:solidFill>
                <a:latin typeface="Arial"/>
                <a:ea typeface="Arial"/>
              </a:rPr>
              <a:t>1991~</a:t>
            </a:r>
          </a:p>
        </p:txBody>
      </p:sp>
      <p:sp>
        <p:nvSpPr>
          <p:cNvPr id="8" name="Rounded Rectangle 7"/>
          <p:cNvSpPr/>
          <p:nvPr/>
        </p:nvSpPr>
        <p:spPr>
          <a:xfrm>
            <a:off x="4242816" y="2395728"/>
            <a:ext cx="1280160" cy="402336"/>
          </a:xfrm>
          <a:prstGeom prst="roundRect">
            <a:avLst>
              <a:gd name="adj" fmla="val 18181"/>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2395728"/>
            <a:ext cx="1170431" cy="40233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완결</a:t>
            </a:r>
          </a:p>
        </p:txBody>
      </p:sp>
      <p:pic>
        <p:nvPicPr>
          <p:cNvPr id="10" name="Picture 9" descr="render_nand.png"/>
          <p:cNvPicPr>
            <a:picLocks noChangeAspect="1"/>
          </p:cNvPicPr>
          <p:nvPr/>
        </p:nvPicPr>
        <p:blipFill>
          <a:blip r:embed="rId2"/>
          <a:stretch>
            <a:fillRect/>
          </a:stretch>
        </p:blipFill>
        <p:spPr>
          <a:xfrm>
            <a:off x="1132894" y="3145536"/>
            <a:ext cx="916323" cy="676656"/>
          </a:xfrm>
          <a:prstGeom prst="rect">
            <a:avLst/>
          </a:prstGeom>
        </p:spPr>
      </p:pic>
      <p:sp>
        <p:nvSpPr>
          <p:cNvPr id="11" name="Right Arrow 10"/>
          <p:cNvSpPr/>
          <p:nvPr/>
        </p:nvSpPr>
        <p:spPr>
          <a:xfrm>
            <a:off x="2240280" y="3374136"/>
            <a:ext cx="42062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nder_ssd.png"/>
          <p:cNvPicPr>
            <a:picLocks noChangeAspect="1"/>
          </p:cNvPicPr>
          <p:nvPr/>
        </p:nvPicPr>
        <p:blipFill>
          <a:blip r:embed="rId3"/>
          <a:stretch>
            <a:fillRect/>
          </a:stretch>
        </p:blipFill>
        <p:spPr>
          <a:xfrm>
            <a:off x="2901799" y="3145536"/>
            <a:ext cx="1822496" cy="676656"/>
          </a:xfrm>
          <a:prstGeom prst="rect">
            <a:avLst/>
          </a:prstGeom>
        </p:spPr>
      </p:pic>
      <p:sp>
        <p:nvSpPr>
          <p:cNvPr id="13" name="TextBox 12"/>
          <p:cNvSpPr txBox="1"/>
          <p:nvPr/>
        </p:nvSpPr>
        <p:spPr>
          <a:xfrm>
            <a:off x="996696" y="3986784"/>
            <a:ext cx="4526280" cy="640080"/>
          </a:xfrm>
          <a:prstGeom prst="rect">
            <a:avLst/>
          </a:prstGeom>
          <a:noFill/>
        </p:spPr>
        <p:txBody>
          <a:bodyPr wrap="square" anchor="ctr" lIns="0" rIns="0" tIns="0" bIns="0">
            <a:spAutoFit/>
          </a:bodyPr>
          <a:lstStyle/>
          <a:p>
            <a:pPr algn="l">
              <a:lnSpc>
                <a:spcPct val="110000"/>
              </a:lnSpc>
            </a:pPr>
            <a:r>
              <a:rPr sz="3600" b="1">
                <a:solidFill>
                  <a:srgbClr val="1A1A1A"/>
                </a:solidFill>
                <a:latin typeface="Arial"/>
                <a:ea typeface="Arial"/>
              </a:rPr>
              <a:t>ECC 약 60배</a:t>
            </a:r>
          </a:p>
        </p:txBody>
      </p:sp>
      <p:sp>
        <p:nvSpPr>
          <p:cNvPr id="14" name="TextBox 13"/>
          <p:cNvSpPr txBox="1"/>
          <p:nvPr/>
        </p:nvSpPr>
        <p:spPr>
          <a:xfrm>
            <a:off x="996696" y="4626864"/>
            <a:ext cx="4526280" cy="347472"/>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셀 오류 약 100만 배를 흡수</a:t>
            </a:r>
          </a:p>
        </p:txBody>
      </p:sp>
      <p:sp>
        <p:nvSpPr>
          <p:cNvPr id="15" name="Rounded Rectangle 14"/>
          <p:cNvSpPr/>
          <p:nvPr/>
        </p:nvSpPr>
        <p:spPr>
          <a:xfrm>
            <a:off x="5980176" y="2212848"/>
            <a:ext cx="539496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4496" y="2322576"/>
            <a:ext cx="3474720" cy="786384"/>
          </a:xfrm>
          <a:prstGeom prst="rect">
            <a:avLst/>
          </a:prstGeom>
          <a:noFill/>
        </p:spPr>
        <p:txBody>
          <a:bodyPr wrap="square" anchor="t" lIns="0" rIns="0" tIns="0" bIns="0">
            <a:spAutoFit/>
          </a:bodyPr>
          <a:lstStyle/>
          <a:p>
            <a:pPr algn="l">
              <a:lnSpc>
                <a:spcPct val="100000"/>
              </a:lnSpc>
            </a:pPr>
            <a:r>
              <a:rPr sz="2400" b="1">
                <a:solidFill>
                  <a:srgbClr val="1A1A1A"/>
                </a:solidFill>
                <a:latin typeface="Arial"/>
                <a:ea typeface="Arial"/>
              </a:rPr>
              <a:t>SSD 혼자 최적화</a:t>
            </a:r>
          </a:p>
          <a:p>
            <a:pPr algn="l">
              <a:lnSpc>
                <a:spcPct val="100000"/>
              </a:lnSpc>
            </a:pPr>
            <a:r>
              <a:rPr sz="1800" b="0">
                <a:solidFill>
                  <a:srgbClr val="555555"/>
                </a:solidFill>
                <a:latin typeface="Arial"/>
                <a:ea typeface="Arial"/>
              </a:rPr>
              <a:t>2014~2019</a:t>
            </a:r>
          </a:p>
        </p:txBody>
      </p:sp>
      <p:sp>
        <p:nvSpPr>
          <p:cNvPr id="17" name="Rounded Rectangle 16"/>
          <p:cNvSpPr/>
          <p:nvPr/>
        </p:nvSpPr>
        <p:spPr>
          <a:xfrm>
            <a:off x="9820656" y="2395728"/>
            <a:ext cx="1280160" cy="402336"/>
          </a:xfrm>
          <a:prstGeom prst="roundRect">
            <a:avLst>
              <a:gd name="adj" fmla="val 18181"/>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0" y="2395728"/>
            <a:ext cx="1170431" cy="402336"/>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부분 성공</a:t>
            </a:r>
          </a:p>
        </p:txBody>
      </p:sp>
      <p:pic>
        <p:nvPicPr>
          <p:cNvPr id="19" name="Picture 18" descr="render_ssd.png"/>
          <p:cNvPicPr>
            <a:picLocks noChangeAspect="1"/>
          </p:cNvPicPr>
          <p:nvPr/>
        </p:nvPicPr>
        <p:blipFill>
          <a:blip r:embed="rId3"/>
          <a:stretch>
            <a:fillRect/>
          </a:stretch>
        </p:blipFill>
        <p:spPr>
          <a:xfrm>
            <a:off x="6366642" y="3127248"/>
            <a:ext cx="1970266" cy="731520"/>
          </a:xfrm>
          <a:prstGeom prst="rect">
            <a:avLst/>
          </a:prstGeom>
        </p:spPr>
      </p:pic>
      <p:sp>
        <p:nvSpPr>
          <p:cNvPr id="20" name="TextBox 19"/>
          <p:cNvSpPr txBox="1"/>
          <p:nvPr/>
        </p:nvSpPr>
        <p:spPr>
          <a:xfrm>
            <a:off x="6254496" y="4005072"/>
            <a:ext cx="2395728" cy="640080"/>
          </a:xfrm>
          <a:prstGeom prst="rect">
            <a:avLst/>
          </a:prstGeom>
          <a:noFill/>
        </p:spPr>
        <p:txBody>
          <a:bodyPr wrap="square" anchor="ctr" lIns="0" rIns="0" tIns="0" bIns="0">
            <a:spAutoFit/>
          </a:bodyPr>
          <a:lstStyle/>
          <a:p>
            <a:pPr algn="l">
              <a:lnSpc>
                <a:spcPct val="110000"/>
              </a:lnSpc>
            </a:pPr>
            <a:r>
              <a:rPr sz="3600" b="1">
                <a:solidFill>
                  <a:srgbClr val="555555"/>
                </a:solidFill>
                <a:latin typeface="Arial"/>
                <a:ea typeface="Arial"/>
              </a:rPr>
              <a:t>WAF ≈ 3</a:t>
            </a:r>
          </a:p>
        </p:txBody>
      </p:sp>
      <p:sp>
        <p:nvSpPr>
          <p:cNvPr id="21" name="TextBox 20"/>
          <p:cNvSpPr txBox="1"/>
          <p:nvPr/>
        </p:nvSpPr>
        <p:spPr>
          <a:xfrm>
            <a:off x="6254496" y="4645152"/>
            <a:ext cx="2395728" cy="347472"/>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수명을 추정만 했다</a:t>
            </a:r>
          </a:p>
        </p:txBody>
      </p:sp>
      <p:sp>
        <p:nvSpPr>
          <p:cNvPr id="22" name="Rounded Rectangle 21"/>
          <p:cNvSpPr/>
          <p:nvPr/>
        </p:nvSpPr>
        <p:spPr>
          <a:xfrm>
            <a:off x="11558016" y="2212848"/>
            <a:ext cx="6007608" cy="6382512"/>
          </a:xfrm>
          <a:prstGeom prst="roundRect">
            <a:avLst>
              <a:gd name="adj" fmla="val 1217"/>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32336" y="2322576"/>
            <a:ext cx="4087368" cy="786384"/>
          </a:xfrm>
          <a:prstGeom prst="rect">
            <a:avLst/>
          </a:prstGeom>
          <a:noFill/>
        </p:spPr>
        <p:txBody>
          <a:bodyPr wrap="square" anchor="t" lIns="0" rIns="0" tIns="0" bIns="0">
            <a:spAutoFit/>
          </a:bodyPr>
          <a:lstStyle/>
          <a:p>
            <a:pPr algn="l">
              <a:lnSpc>
                <a:spcPct val="100000"/>
              </a:lnSpc>
            </a:pPr>
            <a:r>
              <a:rPr sz="2400" b="1">
                <a:solidFill>
                  <a:srgbClr val="FFFFFF"/>
                </a:solidFill>
                <a:latin typeface="Arial"/>
                <a:ea typeface="Arial"/>
              </a:rPr>
              <a:t>고객 시스템과 공동 설계</a:t>
            </a:r>
          </a:p>
          <a:p>
            <a:pPr algn="l">
              <a:lnSpc>
                <a:spcPct val="100000"/>
              </a:lnSpc>
            </a:pPr>
            <a:r>
              <a:rPr sz="1800" b="0">
                <a:solidFill>
                  <a:srgbClr val="C0CAEC"/>
                </a:solidFill>
                <a:latin typeface="Arial"/>
                <a:ea typeface="Arial"/>
              </a:rPr>
              <a:t>2022~</a:t>
            </a:r>
          </a:p>
        </p:txBody>
      </p:sp>
      <p:sp>
        <p:nvSpPr>
          <p:cNvPr id="24" name="Rounded Rectangle 23"/>
          <p:cNvSpPr/>
          <p:nvPr/>
        </p:nvSpPr>
        <p:spPr>
          <a:xfrm>
            <a:off x="16011144" y="2395728"/>
            <a:ext cx="128016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066008" y="2395728"/>
            <a:ext cx="1170431" cy="402336"/>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다음 칸</a:t>
            </a:r>
          </a:p>
        </p:txBody>
      </p:sp>
      <p:pic>
        <p:nvPicPr>
          <p:cNvPr id="26" name="Picture 25" descr="render_server.png"/>
          <p:cNvPicPr>
            <a:picLocks noChangeAspect="1"/>
          </p:cNvPicPr>
          <p:nvPr/>
        </p:nvPicPr>
        <p:blipFill>
          <a:blip r:embed="rId4"/>
          <a:stretch>
            <a:fillRect/>
          </a:stretch>
        </p:blipFill>
        <p:spPr>
          <a:xfrm>
            <a:off x="11976732" y="3145536"/>
            <a:ext cx="1631448" cy="960120"/>
          </a:xfrm>
          <a:prstGeom prst="rect">
            <a:avLst/>
          </a:prstGeom>
        </p:spPr>
      </p:pic>
      <p:pic>
        <p:nvPicPr>
          <p:cNvPr id="27" name="Picture 26" descr="render_ssd.png"/>
          <p:cNvPicPr>
            <a:picLocks noChangeAspect="1"/>
          </p:cNvPicPr>
          <p:nvPr/>
        </p:nvPicPr>
        <p:blipFill>
          <a:blip r:embed="rId3"/>
          <a:stretch>
            <a:fillRect/>
          </a:stretch>
        </p:blipFill>
        <p:spPr>
          <a:xfrm>
            <a:off x="13844016" y="3361195"/>
            <a:ext cx="1645920" cy="611096"/>
          </a:xfrm>
          <a:prstGeom prst="rect">
            <a:avLst/>
          </a:prstGeom>
        </p:spPr>
      </p:pic>
      <p:sp>
        <p:nvSpPr>
          <p:cNvPr id="28" name="TextBox 27"/>
          <p:cNvSpPr txBox="1"/>
          <p:nvPr/>
        </p:nvSpPr>
        <p:spPr>
          <a:xfrm>
            <a:off x="11832336" y="4169664"/>
            <a:ext cx="5458968" cy="640080"/>
          </a:xfrm>
          <a:prstGeom prst="rect">
            <a:avLst/>
          </a:prstGeom>
          <a:noFill/>
        </p:spPr>
        <p:txBody>
          <a:bodyPr wrap="square" anchor="ctr" lIns="0" rIns="0" tIns="0" bIns="0">
            <a:spAutoFit/>
          </a:bodyPr>
          <a:lstStyle/>
          <a:p>
            <a:pPr algn="l">
              <a:lnSpc>
                <a:spcPct val="110000"/>
              </a:lnSpc>
            </a:pPr>
            <a:r>
              <a:rPr sz="4000" b="1">
                <a:solidFill>
                  <a:srgbClr val="FFFFFF"/>
                </a:solidFill>
                <a:latin typeface="Arial"/>
                <a:ea typeface="Arial"/>
              </a:rPr>
              <a:t>WAF 3.22 → 1.03</a:t>
            </a:r>
          </a:p>
        </p:txBody>
      </p:sp>
      <p:sp>
        <p:nvSpPr>
          <p:cNvPr id="29" name="TextBox 28"/>
          <p:cNvSpPr txBox="1"/>
          <p:nvPr/>
        </p:nvSpPr>
        <p:spPr>
          <a:xfrm>
            <a:off x="11832336" y="4809744"/>
            <a:ext cx="5458968" cy="347472"/>
          </a:xfrm>
          <a:prstGeom prst="rect">
            <a:avLst/>
          </a:prstGeom>
          <a:noFill/>
        </p:spPr>
        <p:txBody>
          <a:bodyPr wrap="square" anchor="t" lIns="0" rIns="0" tIns="0" bIns="0">
            <a:spAutoFit/>
          </a:bodyPr>
          <a:lstStyle/>
          <a:p>
            <a:pPr algn="l">
              <a:lnSpc>
                <a:spcPct val="110000"/>
              </a:lnSpc>
            </a:pPr>
            <a:r>
              <a:rPr sz="1800" b="0">
                <a:solidFill>
                  <a:srgbClr val="FFFFFF"/>
                </a:solidFill>
                <a:latin typeface="Arial"/>
                <a:ea typeface="Arial"/>
              </a:rPr>
              <a:t>수명은 고객 시스템만 안다</a:t>
            </a:r>
          </a:p>
        </p:txBody>
      </p:sp>
      <p:sp>
        <p:nvSpPr>
          <p:cNvPr id="30" name="TextBox 29"/>
          <p:cNvSpPr txBox="1"/>
          <p:nvPr/>
        </p:nvSpPr>
        <p:spPr>
          <a:xfrm>
            <a:off x="8741664" y="2834640"/>
            <a:ext cx="2377440" cy="329184"/>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내부 기술 스택</a:t>
            </a:r>
          </a:p>
        </p:txBody>
      </p:sp>
      <p:sp>
        <p:nvSpPr>
          <p:cNvPr id="31" name="Rounded Rectangle 30"/>
          <p:cNvSpPr/>
          <p:nvPr/>
        </p:nvSpPr>
        <p:spPr>
          <a:xfrm>
            <a:off x="8741664" y="3182112"/>
            <a:ext cx="2377440" cy="338328"/>
          </a:xfrm>
          <a:prstGeom prst="roundRect">
            <a:avLst>
              <a:gd name="adj" fmla="val 21621"/>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0" y="3182112"/>
            <a:ext cx="2121408" cy="33832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핫 · 콜드 추정</a:t>
            </a:r>
          </a:p>
        </p:txBody>
      </p:sp>
      <p:sp>
        <p:nvSpPr>
          <p:cNvPr id="33" name="Rounded Rectangle 32"/>
          <p:cNvSpPr/>
          <p:nvPr/>
        </p:nvSpPr>
        <p:spPr>
          <a:xfrm>
            <a:off x="8741664" y="3575304"/>
            <a:ext cx="2377440" cy="338328"/>
          </a:xfrm>
          <a:prstGeom prst="roundRect">
            <a:avLst>
              <a:gd name="adj" fmla="val 21621"/>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69680" y="3575304"/>
            <a:ext cx="2121408" cy="33832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스트림 분리</a:t>
            </a:r>
          </a:p>
        </p:txBody>
      </p:sp>
      <p:sp>
        <p:nvSpPr>
          <p:cNvPr id="35" name="Rounded Rectangle 34"/>
          <p:cNvSpPr/>
          <p:nvPr/>
        </p:nvSpPr>
        <p:spPr>
          <a:xfrm>
            <a:off x="8741664" y="3968496"/>
            <a:ext cx="2377440" cy="338328"/>
          </a:xfrm>
          <a:prstGeom prst="roundRect">
            <a:avLst>
              <a:gd name="adj" fmla="val 21621"/>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0" y="3968496"/>
            <a:ext cx="2121408" cy="33832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IO 결정성</a:t>
            </a:r>
          </a:p>
        </p:txBody>
      </p:sp>
      <p:sp>
        <p:nvSpPr>
          <p:cNvPr id="37" name="Rounded Rectangle 36"/>
          <p:cNvSpPr/>
          <p:nvPr/>
        </p:nvSpPr>
        <p:spPr>
          <a:xfrm>
            <a:off x="8741664" y="4361688"/>
            <a:ext cx="2377440" cy="338328"/>
          </a:xfrm>
          <a:prstGeom prst="roundRect">
            <a:avLst>
              <a:gd name="adj" fmla="val 21621"/>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0" y="4361688"/>
            <a:ext cx="2121408" cy="338328"/>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GC · 웨어 레벨링</a:t>
            </a:r>
          </a:p>
        </p:txBody>
      </p:sp>
      <p:sp>
        <p:nvSpPr>
          <p:cNvPr id="39" name="Rounded Rectangle 38"/>
          <p:cNvSpPr/>
          <p:nvPr/>
        </p:nvSpPr>
        <p:spPr>
          <a:xfrm>
            <a:off x="8741664" y="4754880"/>
            <a:ext cx="2377440" cy="338328"/>
          </a:xfrm>
          <a:prstGeom prst="roundRect">
            <a:avLst>
              <a:gd name="adj" fmla="val 21621"/>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0" y="4754880"/>
            <a:ext cx="2121408" cy="338328"/>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FTL · ECC</a:t>
            </a:r>
          </a:p>
        </p:txBody>
      </p:sp>
      <p:sp>
        <p:nvSpPr>
          <p:cNvPr id="41" name="TextBox 40"/>
          <p:cNvSpPr txBox="1"/>
          <p:nvPr/>
        </p:nvSpPr>
        <p:spPr>
          <a:xfrm>
            <a:off x="722376" y="5413248"/>
            <a:ext cx="5120640" cy="384048"/>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출시 SSD의 정격 DWPD  </a:t>
            </a:r>
            <a:r>
              <a:rPr sz="1600" b="0">
                <a:solidFill>
                  <a:srgbClr val="555555"/>
                </a:solidFill>
                <a:latin typeface="Arial"/>
                <a:ea typeface="Arial"/>
              </a:rPr>
              <a:t>업체별 대표 제품</a:t>
            </a:r>
          </a:p>
        </p:txBody>
      </p:sp>
      <p:sp>
        <p:nvSpPr>
          <p:cNvPr id="42" name="TextBox 41"/>
          <p:cNvSpPr txBox="1"/>
          <p:nvPr/>
        </p:nvSpPr>
        <p:spPr>
          <a:xfrm>
            <a:off x="5477256" y="5413248"/>
            <a:ext cx="5897880" cy="384048"/>
          </a:xfrm>
          <a:prstGeom prst="rect">
            <a:avLst/>
          </a:prstGeom>
          <a:noFill/>
        </p:spPr>
        <p:txBody>
          <a:bodyPr wrap="square" anchor="ctr" lIns="0" rIns="0" tIns="0" bIns="0">
            <a:spAutoFit/>
          </a:bodyPr>
          <a:lstStyle/>
          <a:p>
            <a:pPr algn="r">
              <a:lnSpc>
                <a:spcPct val="110000"/>
              </a:lnSpc>
            </a:pPr>
            <a:r>
              <a:rPr sz="1800" b="1">
                <a:solidFill>
                  <a:srgbClr val="3C4FA5"/>
                </a:solidFill>
                <a:latin typeface="Arial"/>
                <a:ea typeface="Arial"/>
              </a:rPr>
              <a:t>전체 제품 중앙값 </a:t>
            </a:r>
            <a:r>
              <a:rPr sz="2400" b="1">
                <a:solidFill>
                  <a:srgbClr val="3C4FA5"/>
                </a:solidFill>
                <a:latin typeface="Arial"/>
                <a:ea typeface="Arial"/>
              </a:rPr>
              <a:t>9.6 → 2 → 1</a:t>
            </a:r>
            <a:r>
              <a:rPr sz="1800" b="1">
                <a:solidFill>
                  <a:srgbClr val="3C4FA5"/>
                </a:solidFill>
                <a:latin typeface="Arial"/>
                <a:ea typeface="Arial"/>
              </a:rPr>
              <a:t>   QLC </a:t>
            </a:r>
            <a:r>
              <a:rPr sz="2400" b="1">
                <a:solidFill>
                  <a:srgbClr val="3C4FA5"/>
                </a:solidFill>
                <a:latin typeface="Arial"/>
                <a:ea typeface="Arial"/>
              </a:rPr>
              <a:t>0.2~0.6</a:t>
            </a:r>
          </a:p>
        </p:txBody>
      </p:sp>
      <p:sp>
        <p:nvSpPr>
          <p:cNvPr id="43" name="Oval 42"/>
          <p:cNvSpPr/>
          <p:nvPr/>
        </p:nvSpPr>
        <p:spPr>
          <a:xfrm>
            <a:off x="722376" y="5934456"/>
            <a:ext cx="128016" cy="128016"/>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852160"/>
            <a:ext cx="713232"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삼성</a:t>
            </a:r>
          </a:p>
        </p:txBody>
      </p:sp>
      <p:sp>
        <p:nvSpPr>
          <p:cNvPr id="45" name="Oval 44"/>
          <p:cNvSpPr/>
          <p:nvPr/>
        </p:nvSpPr>
        <p:spPr>
          <a:xfrm>
            <a:off x="1645920" y="5934456"/>
            <a:ext cx="128016" cy="128016"/>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37944" y="5852160"/>
            <a:ext cx="1805940"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Solidigm · Intel</a:t>
            </a:r>
          </a:p>
        </p:txBody>
      </p:sp>
      <p:sp>
        <p:nvSpPr>
          <p:cNvPr id="47" name="Oval 46"/>
          <p:cNvSpPr/>
          <p:nvPr/>
        </p:nvSpPr>
        <p:spPr>
          <a:xfrm>
            <a:off x="3662172" y="5934456"/>
            <a:ext cx="128016" cy="128016"/>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54196" y="5852160"/>
            <a:ext cx="905256"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Micron</a:t>
            </a:r>
          </a:p>
        </p:txBody>
      </p:sp>
      <p:sp>
        <p:nvSpPr>
          <p:cNvPr id="49" name="Oval 48"/>
          <p:cNvSpPr/>
          <p:nvPr/>
        </p:nvSpPr>
        <p:spPr>
          <a:xfrm>
            <a:off x="4777740" y="5934456"/>
            <a:ext cx="128016" cy="128016"/>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69764" y="5852160"/>
            <a:ext cx="1805940"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Kioxia · Toshiba</a:t>
            </a:r>
          </a:p>
        </p:txBody>
      </p:sp>
      <p:sp>
        <p:nvSpPr>
          <p:cNvPr id="51" name="Oval 50"/>
          <p:cNvSpPr/>
          <p:nvPr/>
        </p:nvSpPr>
        <p:spPr>
          <a:xfrm>
            <a:off x="6793992" y="5934456"/>
            <a:ext cx="128016" cy="128016"/>
          </a:xfrm>
          <a:prstGeom prst="ellipse">
            <a:avLst/>
          </a:prstGeom>
          <a:solidFill>
            <a:srgbClr val="D96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86016" y="5852160"/>
            <a:ext cx="1065276"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SK hynix</a:t>
            </a:r>
          </a:p>
        </p:txBody>
      </p:sp>
      <p:sp>
        <p:nvSpPr>
          <p:cNvPr id="53" name="Oval 52"/>
          <p:cNvSpPr/>
          <p:nvPr/>
        </p:nvSpPr>
        <p:spPr>
          <a:xfrm>
            <a:off x="8069579" y="5934456"/>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61604" y="5852160"/>
            <a:ext cx="1385316"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WD · SanDisk</a:t>
            </a:r>
          </a:p>
        </p:txBody>
      </p:sp>
      <p:sp>
        <p:nvSpPr>
          <p:cNvPr id="55" name="Oval 54"/>
          <p:cNvSpPr/>
          <p:nvPr/>
        </p:nvSpPr>
        <p:spPr>
          <a:xfrm>
            <a:off x="9756648" y="5934456"/>
            <a:ext cx="128016" cy="128016"/>
          </a:xfrm>
          <a:prstGeom prst="ellipse">
            <a:avLst/>
          </a:prstGeom>
          <a:solidFill>
            <a:srgbClr val="FFFFFF"/>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48672" y="5852160"/>
            <a:ext cx="1097280"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QLC</a:t>
            </a:r>
          </a:p>
        </p:txBody>
      </p:sp>
      <p:sp>
        <p:nvSpPr>
          <p:cNvPr id="57" name="Rectangle 56"/>
          <p:cNvSpPr/>
          <p:nvPr/>
        </p:nvSpPr>
        <p:spPr>
          <a:xfrm>
            <a:off x="1289304" y="8242401"/>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2376" y="8110727"/>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0</a:t>
            </a:r>
          </a:p>
        </p:txBody>
      </p:sp>
      <p:sp>
        <p:nvSpPr>
          <p:cNvPr id="59" name="Rectangle 58"/>
          <p:cNvSpPr/>
          <p:nvPr/>
        </p:nvSpPr>
        <p:spPr>
          <a:xfrm>
            <a:off x="1289304" y="7909559"/>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2376" y="7777886"/>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2</a:t>
            </a:r>
          </a:p>
        </p:txBody>
      </p:sp>
      <p:sp>
        <p:nvSpPr>
          <p:cNvPr id="61" name="Rectangle 60"/>
          <p:cNvSpPr/>
          <p:nvPr/>
        </p:nvSpPr>
        <p:spPr>
          <a:xfrm>
            <a:off x="1289304" y="7576718"/>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2376" y="7445044"/>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a:t>
            </a:r>
          </a:p>
        </p:txBody>
      </p:sp>
      <p:sp>
        <p:nvSpPr>
          <p:cNvPr id="63" name="Rectangle 62"/>
          <p:cNvSpPr/>
          <p:nvPr/>
        </p:nvSpPr>
        <p:spPr>
          <a:xfrm>
            <a:off x="1289304" y="7243876"/>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2376" y="7112203"/>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6</a:t>
            </a:r>
          </a:p>
        </p:txBody>
      </p:sp>
      <p:sp>
        <p:nvSpPr>
          <p:cNvPr id="65" name="Rectangle 64"/>
          <p:cNvSpPr/>
          <p:nvPr/>
        </p:nvSpPr>
        <p:spPr>
          <a:xfrm>
            <a:off x="1289304" y="6911035"/>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2376" y="6779361"/>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8</a:t>
            </a:r>
          </a:p>
        </p:txBody>
      </p:sp>
      <p:sp>
        <p:nvSpPr>
          <p:cNvPr id="67" name="Rectangle 66"/>
          <p:cNvSpPr/>
          <p:nvPr/>
        </p:nvSpPr>
        <p:spPr>
          <a:xfrm>
            <a:off x="1289304" y="6578193"/>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2376" y="6446520"/>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10</a:t>
            </a:r>
          </a:p>
        </p:txBody>
      </p:sp>
      <p:sp>
        <p:nvSpPr>
          <p:cNvPr id="69" name="TextBox 68"/>
          <p:cNvSpPr txBox="1"/>
          <p:nvPr/>
        </p:nvSpPr>
        <p:spPr>
          <a:xfrm>
            <a:off x="1337733"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2011</a:t>
            </a:r>
          </a:p>
        </p:txBody>
      </p:sp>
      <p:sp>
        <p:nvSpPr>
          <p:cNvPr id="70" name="TextBox 69"/>
          <p:cNvSpPr txBox="1"/>
          <p:nvPr/>
        </p:nvSpPr>
        <p:spPr>
          <a:xfrm>
            <a:off x="3180079"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2014</a:t>
            </a:r>
          </a:p>
        </p:txBody>
      </p:sp>
      <p:sp>
        <p:nvSpPr>
          <p:cNvPr id="71" name="TextBox 70"/>
          <p:cNvSpPr txBox="1"/>
          <p:nvPr/>
        </p:nvSpPr>
        <p:spPr>
          <a:xfrm>
            <a:off x="5022426"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2017</a:t>
            </a:r>
          </a:p>
        </p:txBody>
      </p:sp>
      <p:sp>
        <p:nvSpPr>
          <p:cNvPr id="72" name="TextBox 71"/>
          <p:cNvSpPr txBox="1"/>
          <p:nvPr/>
        </p:nvSpPr>
        <p:spPr>
          <a:xfrm>
            <a:off x="6864773"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2020</a:t>
            </a:r>
          </a:p>
        </p:txBody>
      </p:sp>
      <p:sp>
        <p:nvSpPr>
          <p:cNvPr id="73" name="TextBox 72"/>
          <p:cNvSpPr txBox="1"/>
          <p:nvPr/>
        </p:nvSpPr>
        <p:spPr>
          <a:xfrm>
            <a:off x="8707120"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2023</a:t>
            </a:r>
          </a:p>
        </p:txBody>
      </p:sp>
      <p:sp>
        <p:nvSpPr>
          <p:cNvPr id="74" name="TextBox 73"/>
          <p:cNvSpPr txBox="1"/>
          <p:nvPr/>
        </p:nvSpPr>
        <p:spPr>
          <a:xfrm>
            <a:off x="10549466"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2026</a:t>
            </a:r>
          </a:p>
        </p:txBody>
      </p:sp>
      <p:sp>
        <p:nvSpPr>
          <p:cNvPr id="75" name="Rounded Rectangle 74"/>
          <p:cNvSpPr/>
          <p:nvPr/>
        </p:nvSpPr>
        <p:spPr>
          <a:xfrm>
            <a:off x="1289304" y="6181344"/>
            <a:ext cx="9948672" cy="292608"/>
          </a:xfrm>
          <a:prstGeom prst="roundRect">
            <a:avLst>
              <a:gd name="adj" fmla="val 25000"/>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417320" y="6181344"/>
            <a:ext cx="5486400" cy="292608"/>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SLC  </a:t>
            </a:r>
            <a:r>
              <a:rPr sz="1600" b="0">
                <a:solidFill>
                  <a:srgbClr val="555555"/>
                </a:solidFill>
                <a:latin typeface="Arial"/>
                <a:ea typeface="Arial"/>
              </a:rPr>
              <a:t>17~100 · 특수 제품, 축 위 생략</a:t>
            </a:r>
          </a:p>
        </p:txBody>
      </p:sp>
      <p:sp>
        <p:nvSpPr>
          <p:cNvPr id="77" name="Rounded Rectangle 76"/>
          <p:cNvSpPr/>
          <p:nvPr/>
        </p:nvSpPr>
        <p:spPr>
          <a:xfrm>
            <a:off x="1504244" y="6508790"/>
            <a:ext cx="2456462" cy="307878"/>
          </a:xfrm>
          <a:prstGeom prst="roundRect">
            <a:avLst>
              <a:gd name="adj" fmla="val 23760"/>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627067" y="6862572"/>
            <a:ext cx="822960" cy="27432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MLC</a:t>
            </a:r>
          </a:p>
        </p:txBody>
      </p:sp>
      <p:sp>
        <p:nvSpPr>
          <p:cNvPr id="79" name="Rounded Rectangle 78"/>
          <p:cNvSpPr/>
          <p:nvPr/>
        </p:nvSpPr>
        <p:spPr>
          <a:xfrm>
            <a:off x="4022118" y="6508790"/>
            <a:ext cx="7123740" cy="1372971"/>
          </a:xfrm>
          <a:prstGeom prst="roundRect">
            <a:avLst>
              <a:gd name="adj" fmla="val 5328"/>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144941" y="6538051"/>
            <a:ext cx="822960" cy="27432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TLC</a:t>
            </a:r>
          </a:p>
        </p:txBody>
      </p:sp>
      <p:sp>
        <p:nvSpPr>
          <p:cNvPr id="81" name="Rounded Rectangle 80"/>
          <p:cNvSpPr/>
          <p:nvPr/>
        </p:nvSpPr>
        <p:spPr>
          <a:xfrm>
            <a:off x="5680230" y="8089788"/>
            <a:ext cx="5465628" cy="174741"/>
          </a:xfrm>
          <a:prstGeom prst="roundRect">
            <a:avLst>
              <a:gd name="adj" fmla="val 41862"/>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820468" y="8040831"/>
            <a:ext cx="822960" cy="27432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QLC</a:t>
            </a:r>
          </a:p>
        </p:txBody>
      </p:sp>
      <p:sp>
        <p:nvSpPr>
          <p:cNvPr id="83" name="Right Arrow 82"/>
          <p:cNvSpPr/>
          <p:nvPr/>
        </p:nvSpPr>
        <p:spPr>
          <a:xfrm rot="539959">
            <a:off x="1537427" y="7094829"/>
            <a:ext cx="9575249" cy="475488"/>
          </a:xfrm>
          <a:prstGeom prst="rightArrow">
            <a:avLst>
              <a:gd name="adj1" fmla="val 46000"/>
              <a:gd name="adj2" fmla="val 90000"/>
            </a:avLst>
          </a:prstGeom>
          <a:solidFill>
            <a:srgbClr val="3C4FA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111056" y="6533388"/>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339287" y="6533388"/>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181633" y="7714975"/>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023980" y="7698333"/>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252211" y="7698333"/>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480442" y="7698333"/>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795749" y="8164311"/>
            <a:ext cx="100584" cy="100584"/>
          </a:xfrm>
          <a:prstGeom prst="ellipse">
            <a:avLst/>
          </a:prstGeom>
          <a:solidFill>
            <a:srgbClr val="FFFFFF"/>
          </a:solidFill>
          <a:ln w="19050">
            <a:solidFill>
              <a:srgbClr val="1A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7638096" y="8129363"/>
            <a:ext cx="100584" cy="100584"/>
          </a:xfrm>
          <a:prstGeom prst="ellipse">
            <a:avLst/>
          </a:prstGeom>
          <a:solidFill>
            <a:srgbClr val="FFFFFF"/>
          </a:solidFill>
          <a:ln w="19050">
            <a:solidFill>
              <a:srgbClr val="1A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866327" y="8101071"/>
            <a:ext cx="100584" cy="100584"/>
          </a:xfrm>
          <a:prstGeom prst="ellipse">
            <a:avLst/>
          </a:prstGeom>
          <a:solidFill>
            <a:srgbClr val="FFFFFF"/>
          </a:solidFill>
          <a:ln w="19050">
            <a:solidFill>
              <a:srgbClr val="1A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798865" y="6533388"/>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641212" y="7365492"/>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483558"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711789"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8940021"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168252"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168252" y="8147669"/>
            <a:ext cx="100584" cy="100584"/>
          </a:xfrm>
          <a:prstGeom prst="ellipse">
            <a:avLst/>
          </a:prstGeom>
          <a:solidFill>
            <a:srgbClr val="FFFFFF"/>
          </a:solidFill>
          <a:ln w="19050">
            <a:solidFill>
              <a:srgbClr val="E39B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258443" y="6533388"/>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5329021" y="6533388"/>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7171368" y="6533388"/>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399599" y="7698333"/>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241946" y="7698333"/>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241946" y="8147669"/>
            <a:ext cx="100584" cy="100584"/>
          </a:xfrm>
          <a:prstGeom prst="ellipse">
            <a:avLst/>
          </a:prstGeom>
          <a:solidFill>
            <a:srgbClr val="FFFFFF"/>
          </a:solidFill>
          <a:ln w="19050">
            <a:solidFill>
              <a:srgbClr val="8B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630946" y="7698333"/>
            <a:ext cx="100584" cy="100584"/>
          </a:xfrm>
          <a:prstGeom prst="ellipse">
            <a:avLst/>
          </a:prstGeom>
          <a:solidFill>
            <a:srgbClr val="D96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7245062" y="7698333"/>
            <a:ext cx="100584" cy="100584"/>
          </a:xfrm>
          <a:prstGeom prst="ellipse">
            <a:avLst/>
          </a:prstGeom>
          <a:solidFill>
            <a:srgbClr val="D96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791715" y="6533388"/>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5476409" y="6533388"/>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7318755" y="7698333"/>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775218" y="7698333"/>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0389333" y="8139348"/>
            <a:ext cx="100584" cy="100584"/>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037362" y="6533388"/>
            <a:ext cx="100584" cy="1005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265593" y="6533388"/>
            <a:ext cx="100584" cy="1005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879708" y="7365492"/>
            <a:ext cx="100584" cy="1005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5107940" y="7365492"/>
            <a:ext cx="100584" cy="1005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336171" y="7698333"/>
            <a:ext cx="100584" cy="1005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178517" y="7698333"/>
            <a:ext cx="100584" cy="1005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9406748" y="7698333"/>
            <a:ext cx="100584" cy="1005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6950286" y="8167640"/>
            <a:ext cx="100584" cy="100584"/>
          </a:xfrm>
          <a:prstGeom prst="ellipse">
            <a:avLst/>
          </a:prstGeom>
          <a:solidFill>
            <a:srgbClr val="FFFFFF"/>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406748" y="8154326"/>
            <a:ext cx="100584" cy="100584"/>
          </a:xfrm>
          <a:prstGeom prst="ellipse">
            <a:avLst/>
          </a:prstGeom>
          <a:solidFill>
            <a:srgbClr val="FFFFFF"/>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11795760" y="5340096"/>
            <a:ext cx="5532120" cy="3090672"/>
          </a:xfrm>
          <a:prstGeom prst="roundRect">
            <a:avLst>
              <a:gd name="adj" fmla="val 23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1996928" y="5449824"/>
            <a:ext cx="5129784" cy="384048"/>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주요 DC 기업은 이미 SSD를 직접 설계</a:t>
            </a:r>
          </a:p>
        </p:txBody>
      </p:sp>
      <p:sp>
        <p:nvSpPr>
          <p:cNvPr id="124" name="Rectangle 123"/>
          <p:cNvSpPr/>
          <p:nvPr/>
        </p:nvSpPr>
        <p:spPr>
          <a:xfrm>
            <a:off x="13345667" y="5980176"/>
            <a:ext cx="9144" cy="18470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3030200" y="7863840"/>
            <a:ext cx="64008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2014</a:t>
            </a:r>
          </a:p>
        </p:txBody>
      </p:sp>
      <p:sp>
        <p:nvSpPr>
          <p:cNvPr id="126" name="Rectangle 125"/>
          <p:cNvSpPr/>
          <p:nvPr/>
        </p:nvSpPr>
        <p:spPr>
          <a:xfrm>
            <a:off x="15233904" y="5980176"/>
            <a:ext cx="9144" cy="18470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4918436" y="7863840"/>
            <a:ext cx="64008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2020</a:t>
            </a:r>
          </a:p>
        </p:txBody>
      </p:sp>
      <p:sp>
        <p:nvSpPr>
          <p:cNvPr id="128" name="Rectangle 127"/>
          <p:cNvSpPr/>
          <p:nvPr/>
        </p:nvSpPr>
        <p:spPr>
          <a:xfrm>
            <a:off x="17122140" y="5980176"/>
            <a:ext cx="9144" cy="18470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6486632" y="7863840"/>
            <a:ext cx="640080" cy="274320"/>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2026</a:t>
            </a:r>
          </a:p>
        </p:txBody>
      </p:sp>
      <p:pic>
        <p:nvPicPr>
          <p:cNvPr id="130" name="Picture 129" descr="google.png"/>
          <p:cNvPicPr>
            <a:picLocks noChangeAspect="1"/>
          </p:cNvPicPr>
          <p:nvPr/>
        </p:nvPicPr>
        <p:blipFill>
          <a:blip r:embed="rId5"/>
          <a:stretch>
            <a:fillRect/>
          </a:stretch>
        </p:blipFill>
        <p:spPr>
          <a:xfrm>
            <a:off x="12015216" y="6181344"/>
            <a:ext cx="836908" cy="274320"/>
          </a:xfrm>
          <a:prstGeom prst="rect">
            <a:avLst/>
          </a:prstGeom>
        </p:spPr>
      </p:pic>
      <p:sp>
        <p:nvSpPr>
          <p:cNvPr id="131" name="Rounded Rectangle 130"/>
          <p:cNvSpPr/>
          <p:nvPr/>
        </p:nvSpPr>
        <p:spPr>
          <a:xfrm>
            <a:off x="13979652" y="6126480"/>
            <a:ext cx="3147060" cy="384048"/>
          </a:xfrm>
          <a:prstGeom prst="roundRect">
            <a:avLst>
              <a:gd name="adj" fmla="val 19047"/>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4107668" y="6016752"/>
            <a:ext cx="2964180" cy="603504"/>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자체 설계 SSD</a:t>
            </a:r>
          </a:p>
        </p:txBody>
      </p:sp>
      <p:pic>
        <p:nvPicPr>
          <p:cNvPr id="133" name="Picture 132" descr="alibabacloud.png"/>
          <p:cNvPicPr>
            <a:picLocks noChangeAspect="1"/>
          </p:cNvPicPr>
          <p:nvPr/>
        </p:nvPicPr>
        <p:blipFill>
          <a:blip r:embed="rId6"/>
          <a:stretch>
            <a:fillRect/>
          </a:stretch>
        </p:blipFill>
        <p:spPr>
          <a:xfrm>
            <a:off x="12015216" y="6775704"/>
            <a:ext cx="292608" cy="292608"/>
          </a:xfrm>
          <a:prstGeom prst="rect">
            <a:avLst/>
          </a:prstGeom>
        </p:spPr>
      </p:pic>
      <p:sp>
        <p:nvSpPr>
          <p:cNvPr id="134" name="TextBox 133"/>
          <p:cNvSpPr txBox="1"/>
          <p:nvPr/>
        </p:nvSpPr>
        <p:spPr>
          <a:xfrm>
            <a:off x="12362688" y="6620256"/>
            <a:ext cx="1005840" cy="60350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Alibaba</a:t>
            </a:r>
          </a:p>
        </p:txBody>
      </p:sp>
      <p:sp>
        <p:nvSpPr>
          <p:cNvPr id="135" name="Rounded Rectangle 134"/>
          <p:cNvSpPr/>
          <p:nvPr/>
        </p:nvSpPr>
        <p:spPr>
          <a:xfrm>
            <a:off x="13979652" y="6729984"/>
            <a:ext cx="3147060" cy="384048"/>
          </a:xfrm>
          <a:prstGeom prst="roundRect">
            <a:avLst>
              <a:gd name="adj" fmla="val 19047"/>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4107668" y="6620256"/>
            <a:ext cx="2964180" cy="603504"/>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자체 SSD · 컨트롤러</a:t>
            </a:r>
          </a:p>
        </p:txBody>
      </p:sp>
      <p:pic>
        <p:nvPicPr>
          <p:cNvPr id="137" name="Picture 136" descr="aws.png"/>
          <p:cNvPicPr>
            <a:picLocks noChangeAspect="1"/>
          </p:cNvPicPr>
          <p:nvPr/>
        </p:nvPicPr>
        <p:blipFill>
          <a:blip r:embed="rId7"/>
          <a:stretch>
            <a:fillRect/>
          </a:stretch>
        </p:blipFill>
        <p:spPr>
          <a:xfrm>
            <a:off x="12015216" y="7342632"/>
            <a:ext cx="611866" cy="365760"/>
          </a:xfrm>
          <a:prstGeom prst="rect">
            <a:avLst/>
          </a:prstGeom>
        </p:spPr>
      </p:pic>
      <p:sp>
        <p:nvSpPr>
          <p:cNvPr id="138" name="Rounded Rectangle 137"/>
          <p:cNvSpPr/>
          <p:nvPr/>
        </p:nvSpPr>
        <p:spPr>
          <a:xfrm>
            <a:off x="15521711" y="7333488"/>
            <a:ext cx="1605000" cy="384048"/>
          </a:xfrm>
          <a:prstGeom prst="roundRect">
            <a:avLst>
              <a:gd name="adj" fmla="val 19047"/>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5649727" y="7223760"/>
            <a:ext cx="1422120" cy="603504"/>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Nitro SSD</a:t>
            </a:r>
          </a:p>
        </p:txBody>
      </p:sp>
      <p:sp>
        <p:nvSpPr>
          <p:cNvPr id="140" name="Chevron 139"/>
          <p:cNvSpPr/>
          <p:nvPr/>
        </p:nvSpPr>
        <p:spPr>
          <a:xfrm>
            <a:off x="5815584" y="3493008"/>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Chevron 140"/>
          <p:cNvSpPr/>
          <p:nvPr/>
        </p:nvSpPr>
        <p:spPr>
          <a:xfrm>
            <a:off x="11393424" y="6766560"/>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결론</a:t>
            </a:r>
          </a:p>
        </p:txBody>
      </p:sp>
      <p:sp>
        <p:nvSpPr>
          <p:cNvPr id="144" name="TextBox 143"/>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사양서만으로는 2칸에 머뭅니다. 3칸은 고객 시스템 안에서 함께 설계해야 닿습니다</a:t>
            </a:r>
          </a:p>
        </p:txBody>
      </p:sp>
      <p:sp>
        <p:nvSpPr>
          <p:cNvPr id="145" name="TextBox 144"/>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정격 DWPD 원장(6개 업체 226개 등급, 점 = 세대 대표 최고 등급 · QLC, 중앙값 = 전체 등급, 5년 보증 환산, SLC · SCM 특수와 10 초과 3개 제외) · 해법 사다리 원장 · 자체 설계 원장 · 일부 수치 검색 확인 · 부품 이미지는 3D 렌더</a:t>
            </a:r>
          </a:p>
        </p:txBody>
      </p:sp>
      <p:sp>
        <p:nvSpPr>
          <p:cNvPr id="146" name="TextBox 145"/>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5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6 / 8  참고 · 사업 기회</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WAF를 낮춰 QLC를 1 DWPD로 올리면,</a:t>
            </a:r>
          </a:p>
          <a:p>
            <a:pPr algn="l">
              <a:lnSpc>
                <a:spcPct val="105000"/>
              </a:lnSpc>
            </a:pPr>
            <a:r>
              <a:rPr sz="3200" b="1">
                <a:solidFill>
                  <a:srgbClr val="1A1A1A"/>
                </a:solidFill>
                <a:latin typeface="Arial"/>
                <a:ea typeface="Arial"/>
              </a:rPr>
              <a:t>2030년 QLC는 eSSD의 약 42%에서 약 65%까지 넓어집니다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102961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2030 QLC 시장, 어디까지 넓어지나</a:t>
            </a:r>
          </a:p>
        </p:txBody>
      </p:sp>
      <p:sp>
        <p:nvSpPr>
          <p:cNvPr id="9" name="TextBox 8"/>
          <p:cNvSpPr txBox="1"/>
          <p:nvPr/>
        </p:nvSpPr>
        <p:spPr>
          <a:xfrm>
            <a:off x="722376" y="2743200"/>
            <a:ext cx="108813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eSSD EB/년, 2030  </a:t>
            </a:r>
            <a:r>
              <a:rPr sz="1600" b="0">
                <a:solidFill>
                  <a:srgbClr val="555555"/>
                </a:solidFill>
                <a:latin typeface="Arial"/>
                <a:ea typeface="Arial"/>
              </a:rPr>
              <a:t>중앙 가정 · 과제팀 산술, 진한 = 하단 · 연한 = 상단</a:t>
            </a:r>
          </a:p>
        </p:txBody>
      </p:sp>
      <p:sp>
        <p:nvSpPr>
          <p:cNvPr id="10" name="Rectangle 9"/>
          <p:cNvSpPr/>
          <p:nvPr/>
        </p:nvSpPr>
        <p:spPr>
          <a:xfrm>
            <a:off x="1408176" y="6780276"/>
            <a:ext cx="10195560" cy="914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6647688"/>
            <a:ext cx="594360" cy="274320"/>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0</a:t>
            </a:r>
          </a:p>
        </p:txBody>
      </p:sp>
      <p:sp>
        <p:nvSpPr>
          <p:cNvPr id="12" name="Rectangle 11"/>
          <p:cNvSpPr/>
          <p:nvPr/>
        </p:nvSpPr>
        <p:spPr>
          <a:xfrm>
            <a:off x="1408176" y="5275672"/>
            <a:ext cx="101955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5143084"/>
            <a:ext cx="594360" cy="274320"/>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500</a:t>
            </a:r>
          </a:p>
        </p:txBody>
      </p:sp>
      <p:sp>
        <p:nvSpPr>
          <p:cNvPr id="14" name="Rectangle 13"/>
          <p:cNvSpPr/>
          <p:nvPr/>
        </p:nvSpPr>
        <p:spPr>
          <a:xfrm>
            <a:off x="1408176" y="3771068"/>
            <a:ext cx="101955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3638480"/>
            <a:ext cx="594360" cy="274320"/>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1,000</a:t>
            </a:r>
          </a:p>
        </p:txBody>
      </p:sp>
      <p:sp>
        <p:nvSpPr>
          <p:cNvPr id="16" name="Rectangle 15"/>
          <p:cNvSpPr/>
          <p:nvPr/>
        </p:nvSpPr>
        <p:spPr>
          <a:xfrm>
            <a:off x="1591056" y="4870992"/>
            <a:ext cx="1188720" cy="191385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9576" y="4468656"/>
            <a:ext cx="2011680" cy="365760"/>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636</a:t>
            </a:r>
          </a:p>
        </p:txBody>
      </p:sp>
      <p:sp>
        <p:nvSpPr>
          <p:cNvPr id="18" name="TextBox 17"/>
          <p:cNvSpPr txBox="1"/>
          <p:nvPr/>
        </p:nvSpPr>
        <p:spPr>
          <a:xfrm>
            <a:off x="1316736"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QLC</a:t>
            </a:r>
          </a:p>
          <a:p>
            <a:pPr algn="ctr">
              <a:lnSpc>
                <a:spcPct val="100000"/>
              </a:lnSpc>
            </a:pPr>
            <a:r>
              <a:rPr sz="1700" b="0">
                <a:solidFill>
                  <a:srgbClr val="1A1A1A"/>
                </a:solidFill>
                <a:latin typeface="Arial"/>
                <a:ea typeface="Arial"/>
              </a:rPr>
              <a:t>지금 경로</a:t>
            </a:r>
          </a:p>
        </p:txBody>
      </p:sp>
      <p:sp>
        <p:nvSpPr>
          <p:cNvPr id="19" name="TextBox 18"/>
          <p:cNvSpPr txBox="1"/>
          <p:nvPr/>
        </p:nvSpPr>
        <p:spPr>
          <a:xfrm>
            <a:off x="1280160" y="7388352"/>
            <a:ext cx="181051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QLC 정격 0.3~0.6</a:t>
            </a:r>
          </a:p>
        </p:txBody>
      </p:sp>
      <p:sp>
        <p:nvSpPr>
          <p:cNvPr id="20" name="Rectangle 19"/>
          <p:cNvSpPr/>
          <p:nvPr/>
        </p:nvSpPr>
        <p:spPr>
          <a:xfrm>
            <a:off x="3310128" y="4293224"/>
            <a:ext cx="1188720" cy="57776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98648" y="3890888"/>
            <a:ext cx="2011680" cy="365760"/>
          </a:xfrm>
          <a:prstGeom prst="rect">
            <a:avLst/>
          </a:prstGeom>
          <a:noFill/>
        </p:spPr>
        <p:txBody>
          <a:bodyPr wrap="square" anchor="ctr" lIns="0" rIns="0" tIns="0" bIns="0">
            <a:spAutoFit/>
          </a:bodyPr>
          <a:lstStyle/>
          <a:p>
            <a:pPr algn="ctr">
              <a:lnSpc>
                <a:spcPct val="110000"/>
              </a:lnSpc>
            </a:pPr>
            <a:r>
              <a:rPr sz="2000" b="1">
                <a:solidFill>
                  <a:srgbClr val="3C4FA5"/>
                </a:solidFill>
                <a:latin typeface="Arial"/>
                <a:ea typeface="Arial"/>
              </a:rPr>
              <a:t>+192</a:t>
            </a:r>
          </a:p>
        </p:txBody>
      </p:sp>
      <p:sp>
        <p:nvSpPr>
          <p:cNvPr id="22" name="TextBox 21"/>
          <p:cNvSpPr txBox="1"/>
          <p:nvPr/>
        </p:nvSpPr>
        <p:spPr>
          <a:xfrm>
            <a:off x="3035808" y="6839712"/>
            <a:ext cx="1737360" cy="566928"/>
          </a:xfrm>
          <a:prstGeom prst="rect">
            <a:avLst/>
          </a:prstGeom>
          <a:noFill/>
        </p:spPr>
        <p:txBody>
          <a:bodyPr wrap="square" anchor="t" lIns="0" rIns="0" tIns="0" bIns="0">
            <a:spAutoFit/>
          </a:bodyPr>
          <a:lstStyle/>
          <a:p>
            <a:pPr algn="ctr">
              <a:lnSpc>
                <a:spcPct val="100000"/>
              </a:lnSpc>
            </a:pPr>
            <a:r>
              <a:rPr sz="1700" b="1">
                <a:solidFill>
                  <a:srgbClr val="3C4FA5"/>
                </a:solidFill>
                <a:latin typeface="Arial"/>
                <a:ea typeface="Arial"/>
              </a:rPr>
              <a:t>내구</a:t>
            </a:r>
          </a:p>
          <a:p>
            <a:pPr algn="ctr">
              <a:lnSpc>
                <a:spcPct val="100000"/>
              </a:lnSpc>
            </a:pPr>
            <a:r>
              <a:rPr sz="1700" b="1">
                <a:solidFill>
                  <a:srgbClr val="3C4FA5"/>
                </a:solidFill>
                <a:latin typeface="Arial"/>
                <a:ea typeface="Arial"/>
              </a:rPr>
              <a:t>규격만</a:t>
            </a:r>
          </a:p>
        </p:txBody>
      </p:sp>
      <p:sp>
        <p:nvSpPr>
          <p:cNvPr id="23" name="TextBox 22"/>
          <p:cNvSpPr txBox="1"/>
          <p:nvPr/>
        </p:nvSpPr>
        <p:spPr>
          <a:xfrm>
            <a:off x="2999232" y="7388352"/>
            <a:ext cx="1810512" cy="292608"/>
          </a:xfrm>
          <a:prstGeom prst="rect">
            <a:avLst/>
          </a:prstGeom>
          <a:noFill/>
        </p:spPr>
        <p:txBody>
          <a:bodyPr wrap="square" anchor="ctr" lIns="0" rIns="0" tIns="0" bIns="0">
            <a:spAutoFit/>
          </a:bodyPr>
          <a:lstStyle/>
          <a:p>
            <a:pPr algn="ctr">
              <a:lnSpc>
                <a:spcPct val="110000"/>
              </a:lnSpc>
            </a:pPr>
            <a:r>
              <a:rPr sz="1500" b="0">
                <a:solidFill>
                  <a:srgbClr val="3C4FA5"/>
                </a:solidFill>
                <a:latin typeface="Arial"/>
                <a:ea typeface="Arial"/>
              </a:rPr>
              <a:t>1 DWPD 정격</a:t>
            </a:r>
          </a:p>
        </p:txBody>
      </p:sp>
      <p:cxnSp>
        <p:nvCxnSpPr>
          <p:cNvPr id="24" name="Connector 23"/>
          <p:cNvCxnSpPr/>
          <p:nvPr/>
        </p:nvCxnSpPr>
        <p:spPr>
          <a:xfrm>
            <a:off x="2779776" y="4870992"/>
            <a:ext cx="530352" cy="0"/>
          </a:xfrm>
          <a:prstGeom prst="line">
            <a:avLst/>
          </a:prstGeom>
          <a:ln>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029200" y="4100635"/>
            <a:ext cx="1188720" cy="192589"/>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698299"/>
            <a:ext cx="2011680" cy="365760"/>
          </a:xfrm>
          <a:prstGeom prst="rect">
            <a:avLst/>
          </a:prstGeom>
          <a:noFill/>
        </p:spPr>
        <p:txBody>
          <a:bodyPr wrap="square" anchor="ctr" lIns="0" rIns="0" tIns="0" bIns="0">
            <a:spAutoFit/>
          </a:bodyPr>
          <a:lstStyle/>
          <a:p>
            <a:pPr algn="ctr">
              <a:lnSpc>
                <a:spcPct val="110000"/>
              </a:lnSpc>
            </a:pPr>
            <a:r>
              <a:rPr sz="2000" b="1">
                <a:solidFill>
                  <a:srgbClr val="3C4FA5"/>
                </a:solidFill>
                <a:latin typeface="Arial"/>
                <a:ea typeface="Arial"/>
              </a:rPr>
              <a:t>+64</a:t>
            </a:r>
          </a:p>
        </p:txBody>
      </p:sp>
      <p:sp>
        <p:nvSpPr>
          <p:cNvPr id="27" name="TextBox 26"/>
          <p:cNvSpPr txBox="1"/>
          <p:nvPr/>
        </p:nvSpPr>
        <p:spPr>
          <a:xfrm>
            <a:off x="4754880"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관행 · 가격</a:t>
            </a:r>
          </a:p>
        </p:txBody>
      </p:sp>
      <p:sp>
        <p:nvSpPr>
          <p:cNvPr id="28" name="TextBox 27"/>
          <p:cNvSpPr txBox="1"/>
          <p:nvPr/>
        </p:nvSpPr>
        <p:spPr>
          <a:xfrm>
            <a:off x="4718304" y="7388352"/>
            <a:ext cx="181051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원가 · 공급 · 인증</a:t>
            </a:r>
          </a:p>
        </p:txBody>
      </p:sp>
      <p:cxnSp>
        <p:nvCxnSpPr>
          <p:cNvPr id="29" name="Connector 28"/>
          <p:cNvCxnSpPr/>
          <p:nvPr/>
        </p:nvCxnSpPr>
        <p:spPr>
          <a:xfrm>
            <a:off x="4498848" y="4293224"/>
            <a:ext cx="530352" cy="0"/>
          </a:xfrm>
          <a:prstGeom prst="line">
            <a:avLst/>
          </a:prstGeom>
          <a:ln>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748272" y="3911055"/>
            <a:ext cx="1188720" cy="1895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48272" y="3724484"/>
            <a:ext cx="1188720" cy="186570"/>
          </a:xfrm>
          <a:prstGeom prst="rect">
            <a:avLst/>
          </a:prstGeom>
          <a:solidFill>
            <a:srgbClr val="C0CAEC"/>
          </a:solidFill>
          <a:ln w="15875">
            <a:solidFill>
              <a:srgbClr val="3C4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36792" y="3322148"/>
            <a:ext cx="2011680" cy="365760"/>
          </a:xfrm>
          <a:prstGeom prst="rect">
            <a:avLst/>
          </a:prstGeom>
          <a:noFill/>
        </p:spPr>
        <p:txBody>
          <a:bodyPr wrap="square" anchor="ctr" lIns="0" rIns="0" tIns="0" bIns="0">
            <a:spAutoFit/>
          </a:bodyPr>
          <a:lstStyle/>
          <a:p>
            <a:pPr algn="ctr">
              <a:lnSpc>
                <a:spcPct val="110000"/>
              </a:lnSpc>
            </a:pPr>
            <a:r>
              <a:rPr sz="2000" b="1">
                <a:solidFill>
                  <a:srgbClr val="3C4FA5"/>
                </a:solidFill>
                <a:latin typeface="Arial"/>
                <a:ea typeface="Arial"/>
              </a:rPr>
              <a:t>+63~125</a:t>
            </a:r>
          </a:p>
        </p:txBody>
      </p:sp>
      <p:sp>
        <p:nvSpPr>
          <p:cNvPr id="33" name="TextBox 32"/>
          <p:cNvSpPr txBox="1"/>
          <p:nvPr/>
        </p:nvSpPr>
        <p:spPr>
          <a:xfrm>
            <a:off x="6473952"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성능 일부</a:t>
            </a:r>
          </a:p>
        </p:txBody>
      </p:sp>
      <p:sp>
        <p:nvSpPr>
          <p:cNvPr id="34" name="TextBox 33"/>
          <p:cNvSpPr txBox="1"/>
          <p:nvPr/>
        </p:nvSpPr>
        <p:spPr>
          <a:xfrm>
            <a:off x="6437376" y="7388352"/>
            <a:ext cx="1810512" cy="292608"/>
          </a:xfrm>
          <a:prstGeom prst="rect">
            <a:avLst/>
          </a:prstGeom>
          <a:noFill/>
        </p:spPr>
        <p:txBody>
          <a:bodyPr wrap="square" anchor="ctr" lIns="0" rIns="0" tIns="0" bIns="0">
            <a:spAutoFit/>
          </a:bodyPr>
          <a:lstStyle/>
          <a:p>
            <a:pPr algn="ctr">
              <a:lnSpc>
                <a:spcPct val="110000"/>
              </a:lnSpc>
            </a:pPr>
            <a:r>
              <a:rPr sz="1500" b="0">
                <a:solidFill>
                  <a:srgbClr val="3C4FA5"/>
                </a:solidFill>
                <a:latin typeface="Arial"/>
                <a:ea typeface="Arial"/>
              </a:rPr>
              <a:t>꼬리 지연 극복</a:t>
            </a:r>
          </a:p>
        </p:txBody>
      </p:sp>
      <p:cxnSp>
        <p:nvCxnSpPr>
          <p:cNvPr id="35" name="Connector 34"/>
          <p:cNvCxnSpPr/>
          <p:nvPr/>
        </p:nvCxnSpPr>
        <p:spPr>
          <a:xfrm>
            <a:off x="6217920" y="4100635"/>
            <a:ext cx="530352" cy="0"/>
          </a:xfrm>
          <a:prstGeom prst="line">
            <a:avLst/>
          </a:prstGeom>
          <a:ln>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8467344" y="3911055"/>
            <a:ext cx="1188720" cy="287379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67344" y="3724484"/>
            <a:ext cx="1188720" cy="186570"/>
          </a:xfrm>
          <a:prstGeom prst="rect">
            <a:avLst/>
          </a:prstGeom>
          <a:solidFill>
            <a:srgbClr val="C0CAEC"/>
          </a:solidFill>
          <a:ln w="15875">
            <a:solidFill>
              <a:srgbClr val="3C4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55864" y="3322148"/>
            <a:ext cx="2011680" cy="365760"/>
          </a:xfrm>
          <a:prstGeom prst="rect">
            <a:avLst/>
          </a:prstGeom>
          <a:noFill/>
        </p:spPr>
        <p:txBody>
          <a:bodyPr wrap="square" anchor="ctr" lIns="0" rIns="0" tIns="0" bIns="0">
            <a:spAutoFit/>
          </a:bodyPr>
          <a:lstStyle/>
          <a:p>
            <a:pPr algn="ctr">
              <a:lnSpc>
                <a:spcPct val="110000"/>
              </a:lnSpc>
            </a:pPr>
            <a:r>
              <a:rPr sz="2200" b="1">
                <a:solidFill>
                  <a:srgbClr val="3C4FA5"/>
                </a:solidFill>
                <a:latin typeface="Arial"/>
                <a:ea typeface="Arial"/>
              </a:rPr>
              <a:t>955~1,017</a:t>
            </a:r>
          </a:p>
        </p:txBody>
      </p:sp>
      <p:sp>
        <p:nvSpPr>
          <p:cNvPr id="39" name="TextBox 38"/>
          <p:cNvSpPr txBox="1"/>
          <p:nvPr/>
        </p:nvSpPr>
        <p:spPr>
          <a:xfrm>
            <a:off x="8193023" y="6839712"/>
            <a:ext cx="1737360" cy="566928"/>
          </a:xfrm>
          <a:prstGeom prst="rect">
            <a:avLst/>
          </a:prstGeom>
          <a:noFill/>
        </p:spPr>
        <p:txBody>
          <a:bodyPr wrap="square" anchor="t" lIns="0" rIns="0" tIns="0" bIns="0">
            <a:spAutoFit/>
          </a:bodyPr>
          <a:lstStyle/>
          <a:p>
            <a:pPr algn="ctr">
              <a:lnSpc>
                <a:spcPct val="100000"/>
              </a:lnSpc>
            </a:pPr>
            <a:r>
              <a:rPr sz="1700" b="1">
                <a:solidFill>
                  <a:srgbClr val="3C4FA5"/>
                </a:solidFill>
                <a:latin typeface="Arial"/>
                <a:ea typeface="Arial"/>
              </a:rPr>
              <a:t>QLC</a:t>
            </a:r>
          </a:p>
          <a:p>
            <a:pPr algn="ctr">
              <a:lnSpc>
                <a:spcPct val="100000"/>
              </a:lnSpc>
            </a:pPr>
            <a:r>
              <a:rPr sz="1700" b="1">
                <a:solidFill>
                  <a:srgbClr val="3C4FA5"/>
                </a:solidFill>
                <a:latin typeface="Arial"/>
                <a:ea typeface="Arial"/>
              </a:rPr>
              <a:t>확장</a:t>
            </a:r>
          </a:p>
        </p:txBody>
      </p:sp>
      <p:sp>
        <p:nvSpPr>
          <p:cNvPr id="40" name="Rectangle 39"/>
          <p:cNvSpPr/>
          <p:nvPr/>
        </p:nvSpPr>
        <p:spPr>
          <a:xfrm>
            <a:off x="9912096" y="3625180"/>
            <a:ext cx="18288" cy="3159667"/>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86415" y="5313345"/>
            <a:ext cx="1188720" cy="147150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86415" y="5126774"/>
            <a:ext cx="1188720" cy="186570"/>
          </a:xfrm>
          <a:prstGeom prst="rect">
            <a:avLst/>
          </a:prstGeom>
          <a:solidFill>
            <a:srgbClr val="D9D9D9"/>
          </a:solidFill>
          <a:ln w="15875">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74936" y="4724438"/>
            <a:ext cx="2011680" cy="365760"/>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489~551</a:t>
            </a:r>
          </a:p>
        </p:txBody>
      </p:sp>
      <p:sp>
        <p:nvSpPr>
          <p:cNvPr id="44" name="TextBox 43"/>
          <p:cNvSpPr txBox="1"/>
          <p:nvPr/>
        </p:nvSpPr>
        <p:spPr>
          <a:xfrm>
            <a:off x="9912095"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TLC로</a:t>
            </a:r>
          </a:p>
          <a:p>
            <a:pPr algn="ctr">
              <a:lnSpc>
                <a:spcPct val="100000"/>
              </a:lnSpc>
            </a:pPr>
            <a:r>
              <a:rPr sz="1700" b="0">
                <a:solidFill>
                  <a:srgbClr val="1A1A1A"/>
                </a:solidFill>
                <a:latin typeface="Arial"/>
                <a:ea typeface="Arial"/>
              </a:rPr>
              <a:t>남음</a:t>
            </a:r>
          </a:p>
        </p:txBody>
      </p:sp>
      <p:sp>
        <p:nvSpPr>
          <p:cNvPr id="45" name="TextBox 44"/>
          <p:cNvSpPr txBox="1"/>
          <p:nvPr/>
        </p:nvSpPr>
        <p:spPr>
          <a:xfrm>
            <a:off x="9875519" y="7388352"/>
            <a:ext cx="181051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성능 · 고내구 · KV</a:t>
            </a:r>
          </a:p>
        </p:txBody>
      </p:sp>
      <p:sp>
        <p:nvSpPr>
          <p:cNvPr id="46" name="TextBox 45"/>
          <p:cNvSpPr txBox="1"/>
          <p:nvPr/>
        </p:nvSpPr>
        <p:spPr>
          <a:xfrm>
            <a:off x="2944368" y="3561704"/>
            <a:ext cx="1920240" cy="310896"/>
          </a:xfrm>
          <a:prstGeom prst="rect">
            <a:avLst/>
          </a:prstGeom>
          <a:noFill/>
        </p:spPr>
        <p:txBody>
          <a:bodyPr wrap="square" anchor="ctr" lIns="0" rIns="0" tIns="0" bIns="0">
            <a:spAutoFit/>
          </a:bodyPr>
          <a:lstStyle/>
          <a:p>
            <a:pPr algn="ctr">
              <a:lnSpc>
                <a:spcPct val="110000"/>
              </a:lnSpc>
            </a:pPr>
            <a:r>
              <a:rPr sz="1500" b="0">
                <a:solidFill>
                  <a:srgbClr val="3C4FA5"/>
                </a:solidFill>
                <a:latin typeface="Arial"/>
                <a:ea typeface="Arial"/>
              </a:rPr>
              <a:t>범위 46~509</a:t>
            </a:r>
          </a:p>
        </p:txBody>
      </p:sp>
      <p:sp>
        <p:nvSpPr>
          <p:cNvPr id="47" name="Oval 46"/>
          <p:cNvSpPr/>
          <p:nvPr/>
        </p:nvSpPr>
        <p:spPr>
          <a:xfrm>
            <a:off x="1196949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96949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49" name="TextBox 48"/>
          <p:cNvSpPr txBox="1"/>
          <p:nvPr/>
        </p:nvSpPr>
        <p:spPr>
          <a:xfrm>
            <a:off x="12554712" y="2103120"/>
            <a:ext cx="5010911"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eSSD 중 QLC 비중</a:t>
            </a:r>
          </a:p>
        </p:txBody>
      </p:sp>
      <p:sp>
        <p:nvSpPr>
          <p:cNvPr id="50" name="TextBox 49"/>
          <p:cNvSpPr txBox="1"/>
          <p:nvPr/>
        </p:nvSpPr>
        <p:spPr>
          <a:xfrm>
            <a:off x="11969496" y="2743200"/>
            <a:ext cx="559612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지금 경로 → WAF ↓ 후  </a:t>
            </a:r>
            <a:r>
              <a:rPr sz="1600" b="0">
                <a:solidFill>
                  <a:srgbClr val="555555"/>
                </a:solidFill>
                <a:latin typeface="Arial"/>
                <a:ea typeface="Arial"/>
              </a:rPr>
              <a:t>잠재</a:t>
            </a:r>
          </a:p>
        </p:txBody>
      </p:sp>
      <p:sp>
        <p:nvSpPr>
          <p:cNvPr id="51" name="Rectangle 50"/>
          <p:cNvSpPr/>
          <p:nvPr/>
        </p:nvSpPr>
        <p:spPr>
          <a:xfrm>
            <a:off x="12152376"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2152376" y="6189024"/>
            <a:ext cx="841248" cy="59582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786616" y="5804976"/>
            <a:ext cx="1572768" cy="347472"/>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18%</a:t>
            </a:r>
          </a:p>
        </p:txBody>
      </p:sp>
      <p:sp>
        <p:nvSpPr>
          <p:cNvPr id="54" name="Rectangle 53"/>
          <p:cNvSpPr/>
          <p:nvPr/>
        </p:nvSpPr>
        <p:spPr>
          <a:xfrm>
            <a:off x="13213080"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3213080" y="5030480"/>
            <a:ext cx="841248" cy="175436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3213080" y="4798771"/>
            <a:ext cx="841248" cy="231708"/>
          </a:xfrm>
          <a:prstGeom prst="rect">
            <a:avLst/>
          </a:prstGeom>
          <a:solidFill>
            <a:srgbClr val="C0CAEC"/>
          </a:solidFill>
          <a:ln w="12700">
            <a:solidFill>
              <a:srgbClr val="3C4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847320" y="4414723"/>
            <a:ext cx="1572768" cy="347472"/>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53~60%</a:t>
            </a:r>
          </a:p>
        </p:txBody>
      </p:sp>
      <p:sp>
        <p:nvSpPr>
          <p:cNvPr id="58" name="TextBox 57"/>
          <p:cNvSpPr txBox="1"/>
          <p:nvPr/>
        </p:nvSpPr>
        <p:spPr>
          <a:xfrm>
            <a:off x="12152376" y="6839712"/>
            <a:ext cx="1901952"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2026</a:t>
            </a:r>
          </a:p>
        </p:txBody>
      </p:sp>
      <p:sp>
        <p:nvSpPr>
          <p:cNvPr id="59" name="TextBox 58"/>
          <p:cNvSpPr txBox="1"/>
          <p:nvPr/>
        </p:nvSpPr>
        <p:spPr>
          <a:xfrm>
            <a:off x="12152376" y="7150608"/>
            <a:ext cx="1901952"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지금 · </a:t>
            </a:r>
            <a:r>
              <a:rPr sz="1500" b="1">
                <a:solidFill>
                  <a:srgbClr val="3C4FA5"/>
                </a:solidFill>
                <a:latin typeface="Arial"/>
                <a:ea typeface="Arial"/>
              </a:rPr>
              <a:t>WAF ↓ 후</a:t>
            </a:r>
          </a:p>
        </p:txBody>
      </p:sp>
      <p:sp>
        <p:nvSpPr>
          <p:cNvPr id="60" name="Rectangle 59"/>
          <p:cNvSpPr/>
          <p:nvPr/>
        </p:nvSpPr>
        <p:spPr>
          <a:xfrm>
            <a:off x="14950440"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4950440" y="5394594"/>
            <a:ext cx="841248" cy="139025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4584680" y="5010546"/>
            <a:ext cx="1572768" cy="347472"/>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42%</a:t>
            </a:r>
          </a:p>
        </p:txBody>
      </p:sp>
      <p:sp>
        <p:nvSpPr>
          <p:cNvPr id="63" name="Rectangle 62"/>
          <p:cNvSpPr/>
          <p:nvPr/>
        </p:nvSpPr>
        <p:spPr>
          <a:xfrm>
            <a:off x="16011144"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6011144" y="4699467"/>
            <a:ext cx="841248" cy="208538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6011144" y="4533960"/>
            <a:ext cx="841248" cy="165506"/>
          </a:xfrm>
          <a:prstGeom prst="rect">
            <a:avLst/>
          </a:prstGeom>
          <a:solidFill>
            <a:srgbClr val="C0CAEC"/>
          </a:solidFill>
          <a:ln w="12700">
            <a:solidFill>
              <a:srgbClr val="3C4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645384" y="4149912"/>
            <a:ext cx="1572768" cy="347472"/>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63~68%</a:t>
            </a:r>
          </a:p>
        </p:txBody>
      </p:sp>
      <p:sp>
        <p:nvSpPr>
          <p:cNvPr id="67" name="TextBox 66"/>
          <p:cNvSpPr txBox="1"/>
          <p:nvPr/>
        </p:nvSpPr>
        <p:spPr>
          <a:xfrm>
            <a:off x="14950440" y="6839712"/>
            <a:ext cx="1901952"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2030</a:t>
            </a:r>
          </a:p>
        </p:txBody>
      </p:sp>
      <p:sp>
        <p:nvSpPr>
          <p:cNvPr id="68" name="TextBox 67"/>
          <p:cNvSpPr txBox="1"/>
          <p:nvPr/>
        </p:nvSpPr>
        <p:spPr>
          <a:xfrm>
            <a:off x="14950440" y="7150608"/>
            <a:ext cx="1901952"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지금 · </a:t>
            </a:r>
            <a:r>
              <a:rPr sz="1500" b="1">
                <a:solidFill>
                  <a:srgbClr val="3C4FA5"/>
                </a:solidFill>
                <a:latin typeface="Arial"/>
                <a:ea typeface="Arial"/>
              </a:rPr>
              <a:t>WAF ↓ 후</a:t>
            </a:r>
          </a:p>
        </p:txBody>
      </p:sp>
      <p:sp>
        <p:nvSpPr>
          <p:cNvPr id="69" name="Rounded Rectangle 68"/>
          <p:cNvSpPr/>
          <p:nvPr/>
        </p:nvSpPr>
        <p:spPr>
          <a:xfrm>
            <a:off x="722376" y="8046720"/>
            <a:ext cx="16843248" cy="475488"/>
          </a:xfrm>
          <a:prstGeom prst="roundRect">
            <a:avLst>
              <a:gd name="adj" fmla="val 15384"/>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1832" y="8046720"/>
            <a:ext cx="2377440" cy="47548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WAF를 낮추는 기술</a:t>
            </a:r>
          </a:p>
        </p:txBody>
      </p:sp>
      <p:sp>
        <p:nvSpPr>
          <p:cNvPr id="71" name="Rounded Rectangle 70"/>
          <p:cNvSpPr/>
          <p:nvPr/>
        </p:nvSpPr>
        <p:spPr>
          <a:xfrm>
            <a:off x="3465576" y="8110728"/>
            <a:ext cx="1636776" cy="347472"/>
          </a:xfrm>
          <a:prstGeom prst="roundRect">
            <a:avLst>
              <a:gd name="adj" fmla="val 21052"/>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520440" y="8110728"/>
            <a:ext cx="1527048"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Mixed Media</a:t>
            </a:r>
          </a:p>
        </p:txBody>
      </p:sp>
      <p:sp>
        <p:nvSpPr>
          <p:cNvPr id="73" name="TextBox 72"/>
          <p:cNvSpPr txBox="1"/>
          <p:nvPr/>
        </p:nvSpPr>
        <p:spPr>
          <a:xfrm>
            <a:off x="5212080" y="8046720"/>
            <a:ext cx="4572000" cy="475488"/>
          </a:xfrm>
          <a:prstGeom prst="rect">
            <a:avLst/>
          </a:prstGeom>
          <a:noFill/>
        </p:spPr>
        <p:txBody>
          <a:bodyPr wrap="square" anchor="ctr" lIns="0" rIns="0" tIns="0" bIns="0">
            <a:spAutoFit/>
          </a:bodyPr>
          <a:lstStyle/>
          <a:p>
            <a:pPr algn="l">
              <a:lnSpc>
                <a:spcPct val="110000"/>
              </a:lnSpc>
            </a:pPr>
            <a:r>
              <a:rPr sz="1700" b="1">
                <a:solidFill>
                  <a:srgbClr val="3C4FA5"/>
                </a:solidFill>
                <a:latin typeface="Arial"/>
                <a:ea typeface="Arial"/>
              </a:rPr>
              <a:t>모아쓰기 · 단기 2026~27</a:t>
            </a:r>
          </a:p>
        </p:txBody>
      </p:sp>
      <p:sp>
        <p:nvSpPr>
          <p:cNvPr id="74" name="Rounded Rectangle 73"/>
          <p:cNvSpPr/>
          <p:nvPr/>
        </p:nvSpPr>
        <p:spPr>
          <a:xfrm>
            <a:off x="9317736" y="8110728"/>
            <a:ext cx="685800" cy="347472"/>
          </a:xfrm>
          <a:prstGeom prst="roundRect">
            <a:avLst>
              <a:gd name="adj" fmla="val 21052"/>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372600" y="8110728"/>
            <a:ext cx="5760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FDP</a:t>
            </a:r>
          </a:p>
        </p:txBody>
      </p:sp>
      <p:sp>
        <p:nvSpPr>
          <p:cNvPr id="76" name="TextBox 75"/>
          <p:cNvSpPr txBox="1"/>
          <p:nvPr/>
        </p:nvSpPr>
        <p:spPr>
          <a:xfrm>
            <a:off x="10113264" y="8046720"/>
            <a:ext cx="4572000" cy="475488"/>
          </a:xfrm>
          <a:prstGeom prst="rect">
            <a:avLst/>
          </a:prstGeom>
          <a:noFill/>
        </p:spPr>
        <p:txBody>
          <a:bodyPr wrap="square" anchor="ctr" lIns="0" rIns="0" tIns="0" bIns="0">
            <a:spAutoFit/>
          </a:bodyPr>
          <a:lstStyle/>
          <a:p>
            <a:pPr algn="l">
              <a:lnSpc>
                <a:spcPct val="110000"/>
              </a:lnSpc>
            </a:pPr>
            <a:r>
              <a:rPr sz="1700" b="1">
                <a:solidFill>
                  <a:srgbClr val="3C4FA5"/>
                </a:solidFill>
                <a:latin typeface="Arial"/>
                <a:ea typeface="Arial"/>
              </a:rPr>
              <a:t>근원적 WAF ↓ · 고객과 중장기 2028~</a:t>
            </a:r>
          </a:p>
        </p:txBody>
      </p:sp>
      <p:sp>
        <p:nvSpPr>
          <p:cNvPr id="77" name="TextBox 76"/>
          <p:cNvSpPr txBox="1"/>
          <p:nvPr/>
        </p:nvSpPr>
        <p:spPr>
          <a:xfrm>
            <a:off x="14456664" y="8046720"/>
            <a:ext cx="2926080" cy="47548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상세는 2장 · 3장</a:t>
            </a:r>
          </a:p>
        </p:txBody>
      </p:sp>
      <p:sp>
        <p:nvSpPr>
          <p:cNvPr id="78" name="Rectangle 77"/>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기회</a:t>
            </a:r>
          </a:p>
        </p:txBody>
      </p:sp>
      <p:sp>
        <p:nvSpPr>
          <p:cNvPr id="80" name="TextBox 79"/>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300" b="1">
                <a:solidFill>
                  <a:srgbClr val="FFFFFF"/>
                </a:solidFill>
                <a:latin typeface="Arial"/>
                <a:ea typeface="Arial"/>
              </a:rPr>
              <a:t>WAF를 낮추는 것이 곧 QLC 시장을 넓히는 일이고, 그 원가 우위가 수익성입니다</a:t>
            </a:r>
          </a:p>
        </p:txBody>
      </p:sp>
      <p:sp>
        <p:nvSpPr>
          <p:cNvPr id="81" name="TextBox 80"/>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총량 SK hynix 509(2026) · 2030은 McKinsey 1,078과 SK hynix 1,933의 중간 · QLC 비중 TrendForce 18%(2026) · TLC 분할은 과제팀 산술(용량형 30~60% · 관행 15~40%는 근거 없는 가정, 성능 일부 = 성능 RI의 20~40%) · Meta · Forward Insights(재인용) · Micron 6600 ION 사양 · 모두 검색 확인 등급</a:t>
            </a:r>
          </a:p>
        </p:txBody>
      </p:sp>
      <p:sp>
        <p:nvSpPr>
          <p:cNvPr id="82" name="TextBox 81"/>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6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7 / 8  참고 · 보안 기회</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온프렘 AI가 커질수록 모델 가중치와 기업 데이터를 함께 지켜야 하므로,</a:t>
            </a:r>
          </a:p>
          <a:p>
            <a:pPr algn="l">
              <a:lnSpc>
                <a:spcPct val="105000"/>
              </a:lnSpc>
            </a:pPr>
            <a:r>
              <a:rPr sz="3200" b="1">
                <a:solidFill>
                  <a:srgbClr val="1A1A1A"/>
                </a:solidFill>
                <a:latin typeface="Arial"/>
                <a:ea typeface="Arial"/>
              </a:rPr>
              <a:t>SSD도 고객의 키 · 증명 체계 안에 들어가야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2611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수요: 온프렘 AI가 커진다</a:t>
            </a:r>
          </a:p>
        </p:txBody>
      </p:sp>
      <p:sp>
        <p:nvSpPr>
          <p:cNvPr id="9" name="TextBox 8"/>
          <p:cNvSpPr txBox="1"/>
          <p:nvPr/>
        </p:nvSpPr>
        <p:spPr>
          <a:xfrm>
            <a:off x="722376" y="2743200"/>
            <a:ext cx="484632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소버린 AI 시장 </a:t>
            </a:r>
            <a:r>
              <a:rPr sz="1600" b="0">
                <a:solidFill>
                  <a:srgbClr val="555555"/>
                </a:solidFill>
                <a:latin typeface="Arial"/>
                <a:ea typeface="Arial"/>
              </a:rPr>
              <a:t>$B, McKinsey</a:t>
            </a:r>
          </a:p>
        </p:txBody>
      </p:sp>
      <p:sp>
        <p:nvSpPr>
          <p:cNvPr id="10" name="Rectangle 9"/>
          <p:cNvSpPr/>
          <p:nvPr/>
        </p:nvSpPr>
        <p:spPr>
          <a:xfrm>
            <a:off x="1179576" y="4818888"/>
            <a:ext cx="1005840" cy="3931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576" y="4687824"/>
            <a:ext cx="1005840" cy="13106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 y="4303776"/>
            <a:ext cx="1737360" cy="365760"/>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150~200</a:t>
            </a:r>
          </a:p>
        </p:txBody>
      </p:sp>
      <p:sp>
        <p:nvSpPr>
          <p:cNvPr id="13" name="TextBox 12"/>
          <p:cNvSpPr txBox="1"/>
          <p:nvPr/>
        </p:nvSpPr>
        <p:spPr>
          <a:xfrm>
            <a:off x="813816" y="5248656"/>
            <a:ext cx="173736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2025</a:t>
            </a:r>
          </a:p>
        </p:txBody>
      </p:sp>
      <p:sp>
        <p:nvSpPr>
          <p:cNvPr id="14" name="Rectangle 13"/>
          <p:cNvSpPr/>
          <p:nvPr/>
        </p:nvSpPr>
        <p:spPr>
          <a:xfrm>
            <a:off x="2916936" y="3901440"/>
            <a:ext cx="1005840" cy="131064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16936" y="3639312"/>
            <a:ext cx="1005840" cy="262127"/>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51176" y="3255264"/>
            <a:ext cx="1737360" cy="365760"/>
          </a:xfrm>
          <a:prstGeom prst="rect">
            <a:avLst/>
          </a:prstGeom>
          <a:noFill/>
        </p:spPr>
        <p:txBody>
          <a:bodyPr wrap="square" anchor="ctr" lIns="0" rIns="0" tIns="0" bIns="0">
            <a:spAutoFit/>
          </a:bodyPr>
          <a:lstStyle/>
          <a:p>
            <a:pPr algn="ctr">
              <a:lnSpc>
                <a:spcPct val="110000"/>
              </a:lnSpc>
            </a:pPr>
            <a:r>
              <a:rPr sz="2000" b="1">
                <a:solidFill>
                  <a:srgbClr val="3C4FA5"/>
                </a:solidFill>
                <a:latin typeface="Arial"/>
                <a:ea typeface="Arial"/>
              </a:rPr>
              <a:t>500~600</a:t>
            </a:r>
          </a:p>
        </p:txBody>
      </p:sp>
      <p:sp>
        <p:nvSpPr>
          <p:cNvPr id="17" name="TextBox 16"/>
          <p:cNvSpPr txBox="1"/>
          <p:nvPr/>
        </p:nvSpPr>
        <p:spPr>
          <a:xfrm>
            <a:off x="2551176" y="5248656"/>
            <a:ext cx="1737360"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sp>
        <p:nvSpPr>
          <p:cNvPr id="18" name="TextBox 17"/>
          <p:cNvSpPr txBox="1"/>
          <p:nvPr/>
        </p:nvSpPr>
        <p:spPr>
          <a:xfrm>
            <a:off x="4288536" y="4023360"/>
            <a:ext cx="1280160" cy="457200"/>
          </a:xfrm>
          <a:prstGeom prst="rect">
            <a:avLst/>
          </a:prstGeom>
          <a:noFill/>
        </p:spPr>
        <p:txBody>
          <a:bodyPr wrap="square" anchor="ctr" lIns="0" rIns="0" tIns="0" bIns="0">
            <a:spAutoFit/>
          </a:bodyPr>
          <a:lstStyle/>
          <a:p>
            <a:pPr algn="l">
              <a:lnSpc>
                <a:spcPct val="110000"/>
              </a:lnSpc>
            </a:pPr>
            <a:r>
              <a:rPr sz="2600" b="1">
                <a:solidFill>
                  <a:srgbClr val="3C4FA5"/>
                </a:solidFill>
                <a:latin typeface="Arial"/>
                <a:ea typeface="Arial"/>
              </a:rPr>
              <a:t>×3</a:t>
            </a:r>
          </a:p>
        </p:txBody>
      </p:sp>
      <p:sp>
        <p:nvSpPr>
          <p:cNvPr id="19" name="Rectangle 18"/>
          <p:cNvSpPr/>
          <p:nvPr/>
        </p:nvSpPr>
        <p:spPr>
          <a:xfrm>
            <a:off x="722376" y="5650992"/>
            <a:ext cx="484632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742432"/>
            <a:ext cx="484632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AI를 자기 DC에서 돌리는 기업 </a:t>
            </a:r>
            <a:r>
              <a:rPr sz="1600" b="0">
                <a:solidFill>
                  <a:srgbClr val="555555"/>
                </a:solidFill>
                <a:latin typeface="Arial"/>
                <a:ea typeface="Arial"/>
              </a:rPr>
              <a:t>Gartner</a:t>
            </a:r>
          </a:p>
        </p:txBody>
      </p:sp>
      <p:sp>
        <p:nvSpPr>
          <p:cNvPr id="21" name="TextBox 20"/>
          <p:cNvSpPr txBox="1"/>
          <p:nvPr/>
        </p:nvSpPr>
        <p:spPr>
          <a:xfrm>
            <a:off x="722376" y="6163056"/>
            <a:ext cx="1097280" cy="402336"/>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2025 초</a:t>
            </a:r>
          </a:p>
        </p:txBody>
      </p:sp>
      <p:sp>
        <p:nvSpPr>
          <p:cNvPr id="22" name="Rectangle 21"/>
          <p:cNvSpPr/>
          <p:nvPr/>
        </p:nvSpPr>
        <p:spPr>
          <a:xfrm>
            <a:off x="1865376" y="6236208"/>
            <a:ext cx="274320" cy="2560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94560" y="6163056"/>
            <a:ext cx="914400"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2%</a:t>
            </a:r>
          </a:p>
        </p:txBody>
      </p:sp>
      <p:sp>
        <p:nvSpPr>
          <p:cNvPr id="24" name="TextBox 23"/>
          <p:cNvSpPr txBox="1"/>
          <p:nvPr/>
        </p:nvSpPr>
        <p:spPr>
          <a:xfrm>
            <a:off x="722376" y="6675120"/>
            <a:ext cx="1097280" cy="402336"/>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2028</a:t>
            </a:r>
          </a:p>
        </p:txBody>
      </p:sp>
      <p:sp>
        <p:nvSpPr>
          <p:cNvPr id="25" name="Rectangle 24"/>
          <p:cNvSpPr/>
          <p:nvPr/>
        </p:nvSpPr>
        <p:spPr>
          <a:xfrm>
            <a:off x="1865376" y="6748272"/>
            <a:ext cx="2743200" cy="25603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6675120"/>
            <a:ext cx="914400" cy="402336"/>
          </a:xfrm>
          <a:prstGeom prst="rect">
            <a:avLst/>
          </a:prstGeom>
          <a:noFill/>
        </p:spPr>
        <p:txBody>
          <a:bodyPr wrap="square" anchor="ctr" lIns="0" rIns="0" tIns="0" bIns="0">
            <a:spAutoFit/>
          </a:bodyPr>
          <a:lstStyle/>
          <a:p>
            <a:pPr algn="l">
              <a:lnSpc>
                <a:spcPct val="110000"/>
              </a:lnSpc>
            </a:pPr>
            <a:r>
              <a:rPr sz="2000" b="1">
                <a:solidFill>
                  <a:srgbClr val="3C4FA5"/>
                </a:solidFill>
                <a:latin typeface="Arial"/>
                <a:ea typeface="Arial"/>
              </a:rPr>
              <a:t>20%+</a:t>
            </a:r>
          </a:p>
        </p:txBody>
      </p:sp>
      <p:sp>
        <p:nvSpPr>
          <p:cNvPr id="27" name="TextBox 26"/>
          <p:cNvSpPr txBox="1"/>
          <p:nvPr/>
        </p:nvSpPr>
        <p:spPr>
          <a:xfrm>
            <a:off x="722376" y="7278624"/>
            <a:ext cx="484632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NVIDIA 소버린 매출 </a:t>
            </a:r>
            <a:r>
              <a:rPr sz="2000" b="1">
                <a:solidFill>
                  <a:srgbClr val="3C4FA5"/>
                </a:solidFill>
                <a:latin typeface="Arial"/>
                <a:ea typeface="Arial"/>
              </a:rPr>
              <a:t>$30B+</a:t>
            </a:r>
            <a:r>
              <a:rPr sz="1600" b="0">
                <a:solidFill>
                  <a:srgbClr val="555555"/>
                </a:solidFill>
                <a:latin typeface="Arial"/>
                <a:ea typeface="Arial"/>
              </a:rPr>
              <a:t>  FY26, 3배+</a:t>
            </a:r>
          </a:p>
        </p:txBody>
      </p:sp>
      <p:sp>
        <p:nvSpPr>
          <p:cNvPr id="28" name="TextBox 27"/>
          <p:cNvSpPr txBox="1"/>
          <p:nvPr/>
        </p:nvSpPr>
        <p:spPr>
          <a:xfrm>
            <a:off x="722376" y="7644383"/>
            <a:ext cx="484632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Dell AI Factory 고객 </a:t>
            </a:r>
            <a:r>
              <a:rPr sz="2000" b="1">
                <a:solidFill>
                  <a:srgbClr val="3C4FA5"/>
                </a:solidFill>
                <a:latin typeface="Arial"/>
                <a:ea typeface="Arial"/>
              </a:rPr>
              <a:t>6,500+</a:t>
            </a:r>
          </a:p>
        </p:txBody>
      </p:sp>
      <p:sp>
        <p:nvSpPr>
          <p:cNvPr id="29" name="Chevron 28"/>
          <p:cNvSpPr/>
          <p:nvPr/>
        </p:nvSpPr>
        <p:spPr>
          <a:xfrm>
            <a:off x="5660136" y="4937760"/>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84301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4301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2" name="TextBox 31"/>
          <p:cNvSpPr txBox="1"/>
          <p:nvPr/>
        </p:nvSpPr>
        <p:spPr>
          <a:xfrm>
            <a:off x="6428231" y="2103120"/>
            <a:ext cx="462686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왜: 두 주인의 자산이 한 곳에</a:t>
            </a:r>
          </a:p>
        </p:txBody>
      </p:sp>
      <p:sp>
        <p:nvSpPr>
          <p:cNvPr id="33" name="Rounded Rectangle 32"/>
          <p:cNvSpPr/>
          <p:nvPr/>
        </p:nvSpPr>
        <p:spPr>
          <a:xfrm>
            <a:off x="5843016" y="2743200"/>
            <a:ext cx="5212080" cy="2670048"/>
          </a:xfrm>
          <a:prstGeom prst="roundRect">
            <a:avLst>
              <a:gd name="adj" fmla="val 2739"/>
            </a:avLst>
          </a:prstGeom>
          <a:solidFill>
            <a:srgbClr val="F0F2F8"/>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25896" y="2798064"/>
            <a:ext cx="4846320" cy="329184"/>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기업의 온프렘 AI 데이터센터</a:t>
            </a:r>
          </a:p>
        </p:txBody>
      </p:sp>
      <p:pic>
        <p:nvPicPr>
          <p:cNvPr id="35" name="Picture 34" descr="render_server.png"/>
          <p:cNvPicPr>
            <a:picLocks noChangeAspect="1"/>
          </p:cNvPicPr>
          <p:nvPr/>
        </p:nvPicPr>
        <p:blipFill>
          <a:blip r:embed="rId2"/>
          <a:stretch>
            <a:fillRect/>
          </a:stretch>
        </p:blipFill>
        <p:spPr>
          <a:xfrm>
            <a:off x="6025896" y="3245382"/>
            <a:ext cx="1463040" cy="861010"/>
          </a:xfrm>
          <a:prstGeom prst="rect">
            <a:avLst/>
          </a:prstGeom>
        </p:spPr>
      </p:pic>
      <p:pic>
        <p:nvPicPr>
          <p:cNvPr id="36" name="Picture 35" descr="render_ssd.png"/>
          <p:cNvPicPr>
            <a:picLocks noChangeAspect="1"/>
          </p:cNvPicPr>
          <p:nvPr/>
        </p:nvPicPr>
        <p:blipFill>
          <a:blip r:embed="rId3"/>
          <a:stretch>
            <a:fillRect/>
          </a:stretch>
        </p:blipFill>
        <p:spPr>
          <a:xfrm>
            <a:off x="6117336" y="4343495"/>
            <a:ext cx="1280160" cy="475297"/>
          </a:xfrm>
          <a:prstGeom prst="rect">
            <a:avLst/>
          </a:prstGeom>
        </p:spPr>
      </p:pic>
      <p:sp>
        <p:nvSpPr>
          <p:cNvPr id="37" name="TextBox 36"/>
          <p:cNvSpPr txBox="1"/>
          <p:nvPr/>
        </p:nvSpPr>
        <p:spPr>
          <a:xfrm>
            <a:off x="5934455" y="4937760"/>
            <a:ext cx="1645920" cy="36576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GPU 서버 · SSD</a:t>
            </a:r>
          </a:p>
        </p:txBody>
      </p:sp>
      <p:sp>
        <p:nvSpPr>
          <p:cNvPr id="38" name="Rounded Rectangle 37"/>
          <p:cNvSpPr/>
          <p:nvPr/>
        </p:nvSpPr>
        <p:spPr>
          <a:xfrm>
            <a:off x="7717536" y="3236976"/>
            <a:ext cx="3154680" cy="914400"/>
          </a:xfrm>
          <a:prstGeom prst="roundRect">
            <a:avLst>
              <a:gd name="adj" fmla="val 8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0" y="3236976"/>
            <a:ext cx="3044952" cy="91440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LLM 가중치</a:t>
            </a:r>
          </a:p>
          <a:p>
            <a:pPr algn="ctr">
              <a:lnSpc>
                <a:spcPct val="110000"/>
              </a:lnSpc>
            </a:pPr>
            <a:r>
              <a:rPr sz="1500" b="0">
                <a:solidFill>
                  <a:srgbClr val="C0CAEC"/>
                </a:solidFill>
                <a:latin typeface="Arial"/>
                <a:ea typeface="Arial"/>
              </a:rPr>
              <a:t>모델 제공자 소유  </a:t>
            </a:r>
            <a:r>
              <a:rPr sz="1500" b="1">
                <a:solidFill>
                  <a:srgbClr val="FFFFFF"/>
                </a:solidFill>
                <a:latin typeface="Arial"/>
                <a:ea typeface="Arial"/>
              </a:rPr>
              <a:t>405B ≈ 810GB</a:t>
            </a:r>
          </a:p>
        </p:txBody>
      </p:sp>
      <p:sp>
        <p:nvSpPr>
          <p:cNvPr id="40" name="Rounded Rectangle 39"/>
          <p:cNvSpPr/>
          <p:nvPr/>
        </p:nvSpPr>
        <p:spPr>
          <a:xfrm>
            <a:off x="7717536" y="4279392"/>
            <a:ext cx="3154680" cy="914400"/>
          </a:xfrm>
          <a:prstGeom prst="roundRect">
            <a:avLst>
              <a:gd name="adj" fmla="val 8000"/>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0" y="4279392"/>
            <a:ext cx="3044952" cy="91440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기업 데이터 · RAG · KV</a:t>
            </a:r>
          </a:p>
          <a:p>
            <a:pPr algn="ctr">
              <a:lnSpc>
                <a:spcPct val="110000"/>
              </a:lnSpc>
            </a:pPr>
            <a:r>
              <a:rPr sz="1500" b="0">
                <a:solidFill>
                  <a:srgbClr val="C0CAEC"/>
                </a:solidFill>
                <a:latin typeface="Arial"/>
                <a:ea typeface="Arial"/>
              </a:rPr>
              <a:t>기업 소유  </a:t>
            </a:r>
            <a:r>
              <a:rPr sz="1500" b="1">
                <a:solidFill>
                  <a:srgbClr val="FFFFFF"/>
                </a:solidFill>
                <a:latin typeface="Arial"/>
                <a:ea typeface="Arial"/>
              </a:rPr>
              <a:t>민감 데이터</a:t>
            </a:r>
          </a:p>
        </p:txBody>
      </p:sp>
      <p:sp>
        <p:nvSpPr>
          <p:cNvPr id="42" name="TextBox 41"/>
          <p:cNvSpPr txBox="1"/>
          <p:nvPr/>
        </p:nvSpPr>
        <p:spPr>
          <a:xfrm>
            <a:off x="5843016" y="5577840"/>
            <a:ext cx="52120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보안이 AI 도입을 막는다  </a:t>
            </a:r>
            <a:r>
              <a:rPr sz="1500" b="0">
                <a:solidFill>
                  <a:srgbClr val="555555"/>
                </a:solidFill>
                <a:latin typeface="Arial"/>
                <a:ea typeface="Arial"/>
              </a:rPr>
              <a:t>설문, 벤더 후원 포함</a:t>
            </a:r>
          </a:p>
        </p:txBody>
      </p:sp>
      <p:sp>
        <p:nvSpPr>
          <p:cNvPr id="43" name="TextBox 42"/>
          <p:cNvSpPr txBox="1"/>
          <p:nvPr/>
        </p:nvSpPr>
        <p:spPr>
          <a:xfrm>
            <a:off x="5843016" y="5998464"/>
            <a:ext cx="521208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소버니티 · 프라이버시가 지연 1위</a:t>
            </a:r>
          </a:p>
        </p:txBody>
      </p:sp>
      <p:sp>
        <p:nvSpPr>
          <p:cNvPr id="44" name="Rectangle 43"/>
          <p:cNvSpPr/>
          <p:nvPr/>
        </p:nvSpPr>
        <p:spPr>
          <a:xfrm>
            <a:off x="5843016" y="6291072"/>
            <a:ext cx="2692908"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90788" y="6217920"/>
            <a:ext cx="822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62%</a:t>
            </a:r>
          </a:p>
        </p:txBody>
      </p:sp>
      <p:sp>
        <p:nvSpPr>
          <p:cNvPr id="46" name="TextBox 45"/>
          <p:cNvSpPr txBox="1"/>
          <p:nvPr/>
        </p:nvSpPr>
        <p:spPr>
          <a:xfrm>
            <a:off x="5843016" y="6565392"/>
            <a:ext cx="521208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데이터 레지던시로 지연 · 축소</a:t>
            </a:r>
          </a:p>
        </p:txBody>
      </p:sp>
      <p:sp>
        <p:nvSpPr>
          <p:cNvPr id="47" name="Rectangle 46"/>
          <p:cNvSpPr/>
          <p:nvPr/>
        </p:nvSpPr>
        <p:spPr>
          <a:xfrm>
            <a:off x="5843016" y="6858000"/>
            <a:ext cx="2519172"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7052" y="6784848"/>
            <a:ext cx="822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58%</a:t>
            </a:r>
          </a:p>
        </p:txBody>
      </p:sp>
      <p:sp>
        <p:nvSpPr>
          <p:cNvPr id="49" name="TextBox 48"/>
          <p:cNvSpPr txBox="1"/>
          <p:nvPr/>
        </p:nvSpPr>
        <p:spPr>
          <a:xfrm>
            <a:off x="5843016" y="7132320"/>
            <a:ext cx="521208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기밀 컴퓨팅 장벽 1위 = 증명 검증</a:t>
            </a:r>
          </a:p>
        </p:txBody>
      </p:sp>
      <p:sp>
        <p:nvSpPr>
          <p:cNvPr id="50" name="Rectangle 49"/>
          <p:cNvSpPr/>
          <p:nvPr/>
        </p:nvSpPr>
        <p:spPr>
          <a:xfrm>
            <a:off x="5843016" y="7424927"/>
            <a:ext cx="3648456" cy="20116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546336" y="7351775"/>
            <a:ext cx="822960" cy="329184"/>
          </a:xfrm>
          <a:prstGeom prst="rect">
            <a:avLst/>
          </a:prstGeom>
          <a:noFill/>
        </p:spPr>
        <p:txBody>
          <a:bodyPr wrap="square" anchor="ctr" lIns="0" rIns="0" tIns="0" bIns="0">
            <a:spAutoFit/>
          </a:bodyPr>
          <a:lstStyle/>
          <a:p>
            <a:pPr algn="l">
              <a:lnSpc>
                <a:spcPct val="110000"/>
              </a:lnSpc>
            </a:pPr>
            <a:r>
              <a:rPr sz="1800" b="1">
                <a:solidFill>
                  <a:srgbClr val="3C4FA5"/>
                </a:solidFill>
                <a:latin typeface="Arial"/>
                <a:ea typeface="Arial"/>
              </a:rPr>
              <a:t>84%</a:t>
            </a:r>
          </a:p>
        </p:txBody>
      </p:sp>
      <p:sp>
        <p:nvSpPr>
          <p:cNvPr id="52" name="Chevron 51"/>
          <p:cNvSpPr/>
          <p:nvPr/>
        </p:nvSpPr>
        <p:spPr>
          <a:xfrm>
            <a:off x="11146536" y="4937760"/>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32941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32941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55" name="TextBox 54"/>
          <p:cNvSpPr txBox="1"/>
          <p:nvPr/>
        </p:nvSpPr>
        <p:spPr>
          <a:xfrm>
            <a:off x="11914632" y="2103120"/>
            <a:ext cx="5650992"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어떻게: 기술 × 협력 상대</a:t>
            </a:r>
          </a:p>
        </p:txBody>
      </p:sp>
      <p:sp>
        <p:nvSpPr>
          <p:cNvPr id="56" name="TextBox 55"/>
          <p:cNvSpPr txBox="1"/>
          <p:nvPr/>
        </p:nvSpPr>
        <p:spPr>
          <a:xfrm>
            <a:off x="11329416" y="2743200"/>
            <a:ext cx="1965960" cy="329184"/>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SSD 기술</a:t>
            </a:r>
          </a:p>
        </p:txBody>
      </p:sp>
      <p:sp>
        <p:nvSpPr>
          <p:cNvPr id="57" name="TextBox 56"/>
          <p:cNvSpPr txBox="1"/>
          <p:nvPr/>
        </p:nvSpPr>
        <p:spPr>
          <a:xfrm>
            <a:off x="13386816" y="2743200"/>
            <a:ext cx="1417320" cy="329184"/>
          </a:xfrm>
          <a:prstGeom prst="rect">
            <a:avLst/>
          </a:prstGeom>
          <a:noFill/>
        </p:spPr>
        <p:txBody>
          <a:bodyPr wrap="square" anchor="ctr" lIns="0" rIns="0" tIns="0" bIns="0">
            <a:spAutoFit/>
          </a:bodyPr>
          <a:lstStyle/>
          <a:p>
            <a:pPr algn="ctr">
              <a:lnSpc>
                <a:spcPct val="110000"/>
              </a:lnSpc>
            </a:pPr>
            <a:r>
              <a:rPr sz="1600" b="1">
                <a:solidFill>
                  <a:srgbClr val="555555"/>
                </a:solidFill>
                <a:latin typeface="Arial"/>
                <a:ea typeface="Arial"/>
              </a:rPr>
              <a:t>현황</a:t>
            </a:r>
          </a:p>
        </p:txBody>
      </p:sp>
      <p:sp>
        <p:nvSpPr>
          <p:cNvPr id="58" name="TextBox 57"/>
          <p:cNvSpPr txBox="1"/>
          <p:nvPr/>
        </p:nvSpPr>
        <p:spPr>
          <a:xfrm>
            <a:off x="14895576" y="2743200"/>
            <a:ext cx="2670047" cy="329184"/>
          </a:xfrm>
          <a:prstGeom prst="rect">
            <a:avLst/>
          </a:prstGeom>
          <a:noFill/>
        </p:spPr>
        <p:txBody>
          <a:bodyPr wrap="square" anchor="ctr" lIns="0" rIns="0" tIns="0" bIns="0">
            <a:spAutoFit/>
          </a:bodyPr>
          <a:lstStyle/>
          <a:p>
            <a:pPr algn="l">
              <a:lnSpc>
                <a:spcPct val="110000"/>
              </a:lnSpc>
            </a:pPr>
            <a:r>
              <a:rPr sz="1600" b="1">
                <a:solidFill>
                  <a:srgbClr val="3C4FA5"/>
                </a:solidFill>
                <a:latin typeface="Arial"/>
                <a:ea typeface="Arial"/>
              </a:rPr>
              <a:t>함께할 고객</a:t>
            </a:r>
          </a:p>
        </p:txBody>
      </p:sp>
      <p:sp>
        <p:nvSpPr>
          <p:cNvPr id="59" name="Rounded Rectangle 58"/>
          <p:cNvSpPr/>
          <p:nvPr/>
        </p:nvSpPr>
        <p:spPr>
          <a:xfrm>
            <a:off x="11329416" y="3145536"/>
            <a:ext cx="1965960" cy="877824"/>
          </a:xfrm>
          <a:prstGeom prst="roundRect">
            <a:avLst>
              <a:gd name="adj" fmla="val 8333"/>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384280" y="3145536"/>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기밀 VM 연결</a:t>
            </a:r>
          </a:p>
          <a:p>
            <a:pPr algn="ctr">
              <a:lnSpc>
                <a:spcPct val="110000"/>
              </a:lnSpc>
            </a:pPr>
            <a:r>
              <a:rPr sz="1500" b="0">
                <a:solidFill>
                  <a:srgbClr val="C0CAEC"/>
                </a:solidFill>
                <a:latin typeface="Arial"/>
                <a:ea typeface="Arial"/>
              </a:rPr>
              <a:t>TDISP</a:t>
            </a:r>
          </a:p>
        </p:txBody>
      </p:sp>
      <p:sp>
        <p:nvSpPr>
          <p:cNvPr id="61" name="Rounded Rectangle 60"/>
          <p:cNvSpPr/>
          <p:nvPr/>
        </p:nvSpPr>
        <p:spPr>
          <a:xfrm>
            <a:off x="13386816" y="3291840"/>
            <a:ext cx="1417320" cy="585216"/>
          </a:xfrm>
          <a:prstGeom prst="roundRect">
            <a:avLst>
              <a:gd name="adj" fmla="val 12499"/>
            </a:avLst>
          </a:prstGeom>
          <a:solidFill>
            <a:srgbClr val="FFFFFF"/>
          </a:solidFill>
          <a:ln w="15875">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441680" y="3291840"/>
            <a:ext cx="1307592" cy="585216"/>
          </a:xfrm>
          <a:prstGeom prst="rect">
            <a:avLst/>
          </a:prstGeom>
          <a:noFill/>
        </p:spPr>
        <p:txBody>
          <a:bodyPr wrap="square" anchor="ctr" lIns="0" rIns="0" tIns="0" bIns="0">
            <a:spAutoFit/>
          </a:bodyPr>
          <a:lstStyle/>
          <a:p>
            <a:pPr algn="ctr">
              <a:lnSpc>
                <a:spcPct val="110000"/>
              </a:lnSpc>
            </a:pPr>
            <a:r>
              <a:rPr sz="1500" b="1">
                <a:solidFill>
                  <a:srgbClr val="3C4FA5"/>
                </a:solidFill>
                <a:latin typeface="Arial"/>
                <a:ea typeface="Arial"/>
              </a:rPr>
              <a:t>PM1763 발표</a:t>
            </a:r>
          </a:p>
        </p:txBody>
      </p:sp>
      <p:sp>
        <p:nvSpPr>
          <p:cNvPr id="63" name="Right Arrow 62"/>
          <p:cNvSpPr/>
          <p:nvPr/>
        </p:nvSpPr>
        <p:spPr>
          <a:xfrm>
            <a:off x="14822424" y="3493008"/>
            <a:ext cx="54864" cy="182880"/>
          </a:xfrm>
          <a:prstGeom prst="rightArrow">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4895576" y="3236976"/>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950440" y="3236976"/>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CPU · 하이퍼바이저</a:t>
            </a:r>
          </a:p>
        </p:txBody>
      </p:sp>
      <p:sp>
        <p:nvSpPr>
          <p:cNvPr id="66" name="Rounded Rectangle 65"/>
          <p:cNvSpPr/>
          <p:nvPr/>
        </p:nvSpPr>
        <p:spPr>
          <a:xfrm>
            <a:off x="11329416" y="4133087"/>
            <a:ext cx="1965960" cy="877824"/>
          </a:xfrm>
          <a:prstGeom prst="roundRect">
            <a:avLst>
              <a:gd name="adj" fmla="val 8333"/>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384280" y="4133087"/>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증명</a:t>
            </a:r>
          </a:p>
          <a:p>
            <a:pPr algn="ctr">
              <a:lnSpc>
                <a:spcPct val="110000"/>
              </a:lnSpc>
            </a:pPr>
            <a:r>
              <a:rPr sz="1500" b="0">
                <a:solidFill>
                  <a:srgbClr val="C0CAEC"/>
                </a:solidFill>
                <a:latin typeface="Arial"/>
                <a:ea typeface="Arial"/>
              </a:rPr>
              <a:t>SPDM</a:t>
            </a:r>
          </a:p>
        </p:txBody>
      </p:sp>
      <p:sp>
        <p:nvSpPr>
          <p:cNvPr id="68" name="Rounded Rectangle 67"/>
          <p:cNvSpPr/>
          <p:nvPr/>
        </p:nvSpPr>
        <p:spPr>
          <a:xfrm>
            <a:off x="13386816" y="4279392"/>
            <a:ext cx="1417320" cy="585216"/>
          </a:xfrm>
          <a:prstGeom prst="roundRect">
            <a:avLst>
              <a:gd name="adj" fmla="val 12499"/>
            </a:avLst>
          </a:prstGeom>
          <a:solidFill>
            <a:srgbClr val="FFFFFF"/>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3441680" y="4279392"/>
            <a:ext cx="1307592" cy="58521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OEM 미지원</a:t>
            </a:r>
          </a:p>
        </p:txBody>
      </p:sp>
      <p:sp>
        <p:nvSpPr>
          <p:cNvPr id="70" name="Right Arrow 69"/>
          <p:cNvSpPr/>
          <p:nvPr/>
        </p:nvSpPr>
        <p:spPr>
          <a:xfrm>
            <a:off x="14822424" y="4480560"/>
            <a:ext cx="54864" cy="182880"/>
          </a:xfrm>
          <a:prstGeom prst="rightArrow">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4895576" y="4224527"/>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950440" y="4224527"/>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OEM 인증 · 검증 서비스</a:t>
            </a:r>
          </a:p>
        </p:txBody>
      </p:sp>
      <p:sp>
        <p:nvSpPr>
          <p:cNvPr id="73" name="Rounded Rectangle 72"/>
          <p:cNvSpPr/>
          <p:nvPr/>
        </p:nvSpPr>
        <p:spPr>
          <a:xfrm>
            <a:off x="11329416" y="5120640"/>
            <a:ext cx="1965960" cy="877824"/>
          </a:xfrm>
          <a:prstGeom prst="roundRect">
            <a:avLst>
              <a:gd name="adj" fmla="val 8333"/>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384280" y="5120640"/>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키 관리</a:t>
            </a:r>
          </a:p>
          <a:p>
            <a:pPr algn="ctr">
              <a:lnSpc>
                <a:spcPct val="110000"/>
              </a:lnSpc>
            </a:pPr>
            <a:r>
              <a:rPr sz="1500" b="0">
                <a:solidFill>
                  <a:srgbClr val="C0CAEC"/>
                </a:solidFill>
                <a:latin typeface="Arial"/>
                <a:ea typeface="Arial"/>
              </a:rPr>
              <a:t>L.O.C.K. · KPIO</a:t>
            </a:r>
          </a:p>
        </p:txBody>
      </p:sp>
      <p:sp>
        <p:nvSpPr>
          <p:cNvPr id="75" name="Rounded Rectangle 74"/>
          <p:cNvSpPr/>
          <p:nvPr/>
        </p:nvSpPr>
        <p:spPr>
          <a:xfrm>
            <a:off x="13386816" y="5266944"/>
            <a:ext cx="1417320" cy="585216"/>
          </a:xfrm>
          <a:prstGeom prst="roundRect">
            <a:avLst>
              <a:gd name="adj" fmla="val 12499"/>
            </a:avLst>
          </a:prstGeom>
          <a:solidFill>
            <a:srgbClr val="FFFFFF"/>
          </a:solidFill>
          <a:ln w="15875">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3441680" y="5266944"/>
            <a:ext cx="1307592" cy="585216"/>
          </a:xfrm>
          <a:prstGeom prst="rect">
            <a:avLst/>
          </a:prstGeom>
          <a:noFill/>
        </p:spPr>
        <p:txBody>
          <a:bodyPr wrap="square" anchor="ctr" lIns="0" rIns="0" tIns="0" bIns="0">
            <a:spAutoFit/>
          </a:bodyPr>
          <a:lstStyle/>
          <a:p>
            <a:pPr algn="ctr">
              <a:lnSpc>
                <a:spcPct val="110000"/>
              </a:lnSpc>
            </a:pPr>
            <a:r>
              <a:rPr sz="1500" b="1">
                <a:solidFill>
                  <a:srgbClr val="3C4FA5"/>
                </a:solidFill>
                <a:latin typeface="Arial"/>
                <a:ea typeface="Arial"/>
              </a:rPr>
              <a:t>1.0 · 삼성 공저</a:t>
            </a:r>
          </a:p>
        </p:txBody>
      </p:sp>
      <p:sp>
        <p:nvSpPr>
          <p:cNvPr id="77" name="Right Arrow 76"/>
          <p:cNvSpPr/>
          <p:nvPr/>
        </p:nvSpPr>
        <p:spPr>
          <a:xfrm>
            <a:off x="14822424" y="5468112"/>
            <a:ext cx="54864" cy="182880"/>
          </a:xfrm>
          <a:prstGeom prst="rightArrow">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4895576" y="5212079"/>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4950440" y="5212079"/>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클라우드 · OEM KMS</a:t>
            </a:r>
          </a:p>
        </p:txBody>
      </p:sp>
      <p:sp>
        <p:nvSpPr>
          <p:cNvPr id="80" name="Rounded Rectangle 79"/>
          <p:cNvSpPr/>
          <p:nvPr/>
        </p:nvSpPr>
        <p:spPr>
          <a:xfrm>
            <a:off x="11329416" y="6108192"/>
            <a:ext cx="1965960" cy="877824"/>
          </a:xfrm>
          <a:prstGeom prst="roundRect">
            <a:avLst>
              <a:gd name="adj" fmla="val 8333"/>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1384280" y="6108192"/>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신뢰 루트</a:t>
            </a:r>
          </a:p>
          <a:p>
            <a:pPr algn="ctr">
              <a:lnSpc>
                <a:spcPct val="110000"/>
              </a:lnSpc>
            </a:pPr>
            <a:r>
              <a:rPr sz="1500" b="0">
                <a:solidFill>
                  <a:srgbClr val="C0CAEC"/>
                </a:solidFill>
                <a:latin typeface="Arial"/>
                <a:ea typeface="Arial"/>
              </a:rPr>
              <a:t>Caliptra</a:t>
            </a:r>
          </a:p>
        </p:txBody>
      </p:sp>
      <p:sp>
        <p:nvSpPr>
          <p:cNvPr id="82" name="Rounded Rectangle 81"/>
          <p:cNvSpPr/>
          <p:nvPr/>
        </p:nvSpPr>
        <p:spPr>
          <a:xfrm>
            <a:off x="13386816" y="6254496"/>
            <a:ext cx="1417320" cy="585216"/>
          </a:xfrm>
          <a:prstGeom prst="roundRect">
            <a:avLst>
              <a:gd name="adj" fmla="val 12499"/>
            </a:avLst>
          </a:prstGeom>
          <a:solidFill>
            <a:srgbClr val="FFFFFF"/>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3441680" y="6254496"/>
            <a:ext cx="1307592" cy="58521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탑재 SSD 없음</a:t>
            </a:r>
          </a:p>
        </p:txBody>
      </p:sp>
      <p:sp>
        <p:nvSpPr>
          <p:cNvPr id="84" name="Right Arrow 83"/>
          <p:cNvSpPr/>
          <p:nvPr/>
        </p:nvSpPr>
        <p:spPr>
          <a:xfrm>
            <a:off x="14822424" y="6455664"/>
            <a:ext cx="54864" cy="182880"/>
          </a:xfrm>
          <a:prstGeom prst="rightArrow">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14895576" y="6199631"/>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4950440" y="6199631"/>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하이퍼스케일러 · OCP</a:t>
            </a:r>
          </a:p>
        </p:txBody>
      </p:sp>
      <p:sp>
        <p:nvSpPr>
          <p:cNvPr id="87" name="TextBox 86"/>
          <p:cNvSpPr txBox="1"/>
          <p:nvPr/>
        </p:nvSpPr>
        <p:spPr>
          <a:xfrm>
            <a:off x="11329416" y="7114031"/>
            <a:ext cx="6236208" cy="310896"/>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위 = 기밀 VM 쪽, 아래 = SSD 쪽</a:t>
            </a:r>
          </a:p>
        </p:txBody>
      </p:sp>
      <p:sp>
        <p:nvSpPr>
          <p:cNvPr id="88" name="Rounded Rectangle 87"/>
          <p:cNvSpPr/>
          <p:nvPr/>
        </p:nvSpPr>
        <p:spPr>
          <a:xfrm>
            <a:off x="11329416" y="7498079"/>
            <a:ext cx="6236208" cy="566928"/>
          </a:xfrm>
          <a:prstGeom prst="roundRect">
            <a:avLst>
              <a:gd name="adj" fmla="val 12903"/>
            </a:avLst>
          </a:prstGeom>
          <a:solidFill>
            <a:srgbClr val="FFFFFF"/>
          </a:solid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384280" y="7498079"/>
            <a:ext cx="6126480" cy="56692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Dell 서버: </a:t>
            </a:r>
            <a:r>
              <a:rPr sz="1600" b="1">
                <a:solidFill>
                  <a:srgbClr val="1A1A1A"/>
                </a:solidFill>
                <a:latin typeface="Arial"/>
                <a:ea typeface="Arial"/>
              </a:rPr>
              <a:t>삼성 PM9D3a · PM9D5a SPDM 미지원</a:t>
            </a:r>
            <a:r>
              <a:rPr sz="1500" b="0">
                <a:solidFill>
                  <a:srgbClr val="555555"/>
                </a:solidFill>
                <a:latin typeface="Arial"/>
                <a:ea typeface="Arial"/>
              </a:rPr>
              <a:t>으로 기능 실패</a:t>
            </a:r>
          </a:p>
        </p:txBody>
      </p:sp>
      <p:sp>
        <p:nvSpPr>
          <p:cNvPr id="90" name="Rectangle 89"/>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기회</a:t>
            </a:r>
          </a:p>
        </p:txBody>
      </p:sp>
      <p:sp>
        <p:nvSpPr>
          <p:cNvPr id="92" name="TextBox 91"/>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보안은 표준으로 정하되, 고객 · OEM의 키 · 증명 체계에 함께 들어가야 팔립니다</a:t>
            </a:r>
          </a:p>
        </p:txBody>
      </p:sp>
      <p:sp>
        <p:nvSpPr>
          <p:cNvPr id="93" name="TextBox 92"/>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McKinsey 소버린 AI(2025~30) · Gartner(온프렘 AI 2→20%+) · NVIDIA FY26 · Dell FQ2'27 · Arqit/Intel · Cloudian · IDC/CCC(설문, 벤더 후원 포함) · Llama 405B FP16 · OCP L.O.C.K. 사양 · DMTF DSP0286 · 삼성 PM1763 · Dell KB(SPDM) · 모두 검색 확인 등급, 일부 원문 확인</a:t>
            </a:r>
          </a:p>
        </p:txBody>
      </p:sp>
      <p:sp>
        <p:nvSpPr>
          <p:cNvPr id="94" name="TextBox 93"/>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7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4 / 8  실행 전략</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세 기술의 효과는 고객 시스템 안에서 나오므로,</a:t>
            </a:r>
          </a:p>
          <a:p>
            <a:pPr algn="l">
              <a:lnSpc>
                <a:spcPct val="105000"/>
              </a:lnSpc>
            </a:pPr>
            <a:r>
              <a:rPr sz="3200" b="1">
                <a:solidFill>
                  <a:srgbClr val="1A1A1A"/>
                </a:solidFill>
                <a:latin typeface="Arial"/>
                <a:ea typeface="Arial"/>
              </a:rPr>
              <a:t>전략 고객과 계약 · 역량 · 사람으로 함께 설계합니다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38039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계약: 물량에 기술 협력을</a:t>
            </a:r>
          </a:p>
        </p:txBody>
      </p:sp>
      <p:pic>
        <p:nvPicPr>
          <p:cNvPr id="9" name="Picture 8" descr="micron.png"/>
          <p:cNvPicPr>
            <a:picLocks noChangeAspect="1"/>
          </p:cNvPicPr>
          <p:nvPr/>
        </p:nvPicPr>
        <p:blipFill>
          <a:blip r:embed="rId2"/>
          <a:stretch>
            <a:fillRect/>
          </a:stretch>
        </p:blipFill>
        <p:spPr>
          <a:xfrm>
            <a:off x="722376" y="2743200"/>
            <a:ext cx="1151291" cy="246888"/>
          </a:xfrm>
          <a:prstGeom prst="rect">
            <a:avLst/>
          </a:prstGeom>
        </p:spPr>
      </p:pic>
      <p:sp>
        <p:nvSpPr>
          <p:cNvPr id="10" name="TextBox 9"/>
          <p:cNvSpPr txBox="1"/>
          <p:nvPr/>
        </p:nvSpPr>
        <p:spPr>
          <a:xfrm>
            <a:off x="1946819" y="2688336"/>
            <a:ext cx="365760" cy="347472"/>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a:t>
            </a:r>
          </a:p>
        </p:txBody>
      </p:sp>
      <p:pic>
        <p:nvPicPr>
          <p:cNvPr id="11" name="Picture 10" descr="anthropic.png"/>
          <p:cNvPicPr>
            <a:picLocks noChangeAspect="1"/>
          </p:cNvPicPr>
          <p:nvPr/>
        </p:nvPicPr>
        <p:blipFill>
          <a:blip r:embed="rId3"/>
          <a:stretch>
            <a:fillRect/>
          </a:stretch>
        </p:blipFill>
        <p:spPr>
          <a:xfrm>
            <a:off x="2385731" y="2779776"/>
            <a:ext cx="1532964" cy="173736"/>
          </a:xfrm>
          <a:prstGeom prst="rect">
            <a:avLst/>
          </a:prstGeom>
        </p:spPr>
      </p:pic>
      <p:sp>
        <p:nvSpPr>
          <p:cNvPr id="12" name="TextBox 11"/>
          <p:cNvSpPr txBox="1"/>
          <p:nvPr/>
        </p:nvSpPr>
        <p:spPr>
          <a:xfrm>
            <a:off x="4046711" y="2688336"/>
            <a:ext cx="10972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2026-06</a:t>
            </a:r>
          </a:p>
        </p:txBody>
      </p:sp>
      <p:sp>
        <p:nvSpPr>
          <p:cNvPr id="13" name="TextBox 12"/>
          <p:cNvSpPr txBox="1"/>
          <p:nvPr/>
        </p:nvSpPr>
        <p:spPr>
          <a:xfrm>
            <a:off x="722376" y="3182112"/>
            <a:ext cx="45720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14" name="Rounded Rectangle 13"/>
          <p:cNvSpPr/>
          <p:nvPr/>
        </p:nvSpPr>
        <p:spPr>
          <a:xfrm>
            <a:off x="722376" y="3584448"/>
            <a:ext cx="4389120" cy="548640"/>
          </a:xfrm>
          <a:prstGeom prst="roundRect">
            <a:avLst>
              <a:gd name="adj" fmla="val 1333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584448"/>
            <a:ext cx="4279392" cy="548640"/>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Multi-Year Deal (MYD)</a:t>
            </a:r>
          </a:p>
        </p:txBody>
      </p:sp>
      <p:sp>
        <p:nvSpPr>
          <p:cNvPr id="16" name="TextBox 15"/>
          <p:cNvSpPr txBox="1"/>
          <p:nvPr/>
        </p:nvSpPr>
        <p:spPr>
          <a:xfrm>
            <a:off x="722376" y="4187952"/>
            <a:ext cx="438912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수량과 가격만 약속합니다</a:t>
            </a:r>
          </a:p>
        </p:txBody>
      </p:sp>
      <p:sp>
        <p:nvSpPr>
          <p:cNvPr id="17" name="Isosceles Triangle 16"/>
          <p:cNvSpPr/>
          <p:nvPr/>
        </p:nvSpPr>
        <p:spPr>
          <a:xfrm rot="10800000">
            <a:off x="2715768" y="4553712"/>
            <a:ext cx="402336" cy="237744"/>
          </a:xfrm>
          <a:prstGeom prst="triangl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846320"/>
            <a:ext cx="45720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앞으로: 전략적 계약</a:t>
            </a:r>
          </a:p>
        </p:txBody>
      </p:sp>
      <p:sp>
        <p:nvSpPr>
          <p:cNvPr id="19" name="Rounded Rectangle 18"/>
          <p:cNvSpPr/>
          <p:nvPr/>
        </p:nvSpPr>
        <p:spPr>
          <a:xfrm>
            <a:off x="722376" y="5248656"/>
            <a:ext cx="3429000" cy="493776"/>
          </a:xfrm>
          <a:prstGeom prst="roundRect">
            <a:avLst>
              <a:gd name="adj" fmla="val 148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248656"/>
            <a:ext cx="3319272" cy="493776"/>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자본 연계 (선택)</a:t>
            </a:r>
          </a:p>
        </p:txBody>
      </p:sp>
      <p:sp>
        <p:nvSpPr>
          <p:cNvPr id="21" name="Rounded Rectangle 20"/>
          <p:cNvSpPr/>
          <p:nvPr/>
        </p:nvSpPr>
        <p:spPr>
          <a:xfrm>
            <a:off x="722376" y="5833872"/>
            <a:ext cx="3429000" cy="493776"/>
          </a:xfrm>
          <a:prstGeom prst="roundRect">
            <a:avLst>
              <a:gd name="adj" fmla="val 14814"/>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33872"/>
            <a:ext cx="33192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운영 통합</a:t>
            </a:r>
          </a:p>
        </p:txBody>
      </p:sp>
      <p:sp>
        <p:nvSpPr>
          <p:cNvPr id="23" name="Rounded Rectangle 22"/>
          <p:cNvSpPr/>
          <p:nvPr/>
        </p:nvSpPr>
        <p:spPr>
          <a:xfrm>
            <a:off x="722376" y="6419088"/>
            <a:ext cx="3429000" cy="493776"/>
          </a:xfrm>
          <a:prstGeom prst="roundRect">
            <a:avLst>
              <a:gd name="adj" fmla="val 148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419088"/>
            <a:ext cx="33192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공동 설계 · 최적화</a:t>
            </a:r>
          </a:p>
        </p:txBody>
      </p:sp>
      <p:sp>
        <p:nvSpPr>
          <p:cNvPr id="25" name="Rounded Rectangle 24"/>
          <p:cNvSpPr/>
          <p:nvPr/>
        </p:nvSpPr>
        <p:spPr>
          <a:xfrm>
            <a:off x="722376" y="7004304"/>
            <a:ext cx="3429000" cy="493776"/>
          </a:xfrm>
          <a:prstGeom prst="roundRect">
            <a:avLst>
              <a:gd name="adj" fmla="val 14814"/>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7004304"/>
            <a:ext cx="33192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MYD (다년 물량)</a:t>
            </a:r>
          </a:p>
        </p:txBody>
      </p:sp>
      <p:sp>
        <p:nvSpPr>
          <p:cNvPr id="27" name="Rectangle 26"/>
          <p:cNvSpPr/>
          <p:nvPr/>
        </p:nvSpPr>
        <p:spPr>
          <a:xfrm>
            <a:off x="4242816" y="5833872"/>
            <a:ext cx="32004" cy="107899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69663" y="5833872"/>
            <a:ext cx="91440" cy="3200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69663" y="6880860"/>
            <a:ext cx="91440" cy="3200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34256" y="5833872"/>
            <a:ext cx="777240" cy="1078992"/>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기술</a:t>
            </a:r>
          </a:p>
          <a:p>
            <a:pPr algn="l">
              <a:lnSpc>
                <a:spcPct val="100000"/>
              </a:lnSpc>
            </a:pPr>
            <a:r>
              <a:rPr sz="1800" b="1">
                <a:solidFill>
                  <a:srgbClr val="3C4FA5"/>
                </a:solidFill>
                <a:latin typeface="Arial"/>
                <a:ea typeface="Arial"/>
              </a:rPr>
              <a:t>협력</a:t>
            </a:r>
          </a:p>
        </p:txBody>
      </p:sp>
      <p:sp>
        <p:nvSpPr>
          <p:cNvPr id="31" name="Chevron 30"/>
          <p:cNvSpPr/>
          <p:nvPr/>
        </p:nvSpPr>
        <p:spPr>
          <a:xfrm>
            <a:off x="5248656" y="5577840"/>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532120"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4" name="TextBox 33"/>
          <p:cNvSpPr txBox="1"/>
          <p:nvPr/>
        </p:nvSpPr>
        <p:spPr>
          <a:xfrm>
            <a:off x="6117336" y="2103120"/>
            <a:ext cx="49469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역량: 추론 스택 전체를 보는 눈</a:t>
            </a:r>
          </a:p>
        </p:txBody>
      </p:sp>
      <p:sp>
        <p:nvSpPr>
          <p:cNvPr id="35" name="Chevron 34"/>
          <p:cNvSpPr/>
          <p:nvPr/>
        </p:nvSpPr>
        <p:spPr>
          <a:xfrm>
            <a:off x="11201400" y="5577840"/>
            <a:ext cx="146304" cy="457200"/>
          </a:xfrm>
          <a:prstGeom prst="chevron">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32120" y="2688336"/>
            <a:ext cx="553212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수명 정보는 </a:t>
            </a:r>
            <a:r>
              <a:rPr sz="1700" b="1">
                <a:solidFill>
                  <a:srgbClr val="1A1A1A"/>
                </a:solidFill>
                <a:latin typeface="Arial"/>
                <a:ea typeface="Arial"/>
              </a:rPr>
              <a:t>KV 캐시 층</a:t>
            </a:r>
            <a:r>
              <a:rPr sz="1600" b="0">
                <a:solidFill>
                  <a:srgbClr val="555555"/>
                </a:solidFill>
                <a:latin typeface="Arial"/>
                <a:ea typeface="Arial"/>
              </a:rPr>
              <a:t>에, 배치는 </a:t>
            </a:r>
            <a:r>
              <a:rPr sz="1700" b="1">
                <a:solidFill>
                  <a:srgbClr val="1A1A1A"/>
                </a:solidFill>
                <a:latin typeface="Arial"/>
                <a:ea typeface="Arial"/>
              </a:rPr>
              <a:t>SSD</a:t>
            </a:r>
            <a:r>
              <a:rPr sz="1600" b="0">
                <a:solidFill>
                  <a:srgbClr val="555555"/>
                </a:solidFill>
                <a:latin typeface="Arial"/>
                <a:ea typeface="Arial"/>
              </a:rPr>
              <a:t>에 있다</a:t>
            </a:r>
          </a:p>
        </p:txBody>
      </p:sp>
      <p:sp>
        <p:nvSpPr>
          <p:cNvPr id="37" name="Rounded Rectangle 36"/>
          <p:cNvSpPr/>
          <p:nvPr/>
        </p:nvSpPr>
        <p:spPr>
          <a:xfrm>
            <a:off x="5532120" y="3163824"/>
            <a:ext cx="3749039" cy="585216"/>
          </a:xfrm>
          <a:prstGeom prst="roundRect">
            <a:avLst>
              <a:gd name="adj" fmla="val 12500"/>
            </a:avLst>
          </a:prstGeom>
          <a:solidFill>
            <a:srgbClr val="FFFFFF"/>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78424" y="3182112"/>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추론 엔진</a:t>
            </a:r>
          </a:p>
        </p:txBody>
      </p:sp>
      <p:sp>
        <p:nvSpPr>
          <p:cNvPr id="39" name="TextBox 38"/>
          <p:cNvSpPr txBox="1"/>
          <p:nvPr/>
        </p:nvSpPr>
        <p:spPr>
          <a:xfrm>
            <a:off x="5678424" y="3456432"/>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vLLM · SGLang · TensorRT-LLM</a:t>
            </a:r>
          </a:p>
        </p:txBody>
      </p:sp>
      <p:sp>
        <p:nvSpPr>
          <p:cNvPr id="40" name="Rounded Rectangle 39"/>
          <p:cNvSpPr/>
          <p:nvPr/>
        </p:nvSpPr>
        <p:spPr>
          <a:xfrm>
            <a:off x="8494776" y="3291840"/>
            <a:ext cx="676656" cy="329184"/>
          </a:xfrm>
          <a:prstGeom prst="roundRect">
            <a:avLst>
              <a:gd name="adj" fmla="val 2222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49640" y="3291840"/>
            <a:ext cx="566928" cy="329184"/>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공백</a:t>
            </a:r>
          </a:p>
        </p:txBody>
      </p:sp>
      <p:sp>
        <p:nvSpPr>
          <p:cNvPr id="42" name="Rounded Rectangle 41"/>
          <p:cNvSpPr/>
          <p:nvPr/>
        </p:nvSpPr>
        <p:spPr>
          <a:xfrm>
            <a:off x="5532120" y="3813048"/>
            <a:ext cx="3749039" cy="585216"/>
          </a:xfrm>
          <a:prstGeom prst="roundRect">
            <a:avLst>
              <a:gd name="adj" fmla="val 12500"/>
            </a:avLst>
          </a:prstGeom>
          <a:solidFill>
            <a:srgbClr val="F0F2F8"/>
          </a:solidFill>
          <a:ln w="15875">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78424" y="3831335"/>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KV 캐시 관리자</a:t>
            </a:r>
          </a:p>
        </p:txBody>
      </p:sp>
      <p:sp>
        <p:nvSpPr>
          <p:cNvPr id="44" name="TextBox 43"/>
          <p:cNvSpPr txBox="1"/>
          <p:nvPr/>
        </p:nvSpPr>
        <p:spPr>
          <a:xfrm>
            <a:off x="5678424" y="4105656"/>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Dynamo · LMCache · Mooncake</a:t>
            </a:r>
          </a:p>
        </p:txBody>
      </p:sp>
      <p:sp>
        <p:nvSpPr>
          <p:cNvPr id="45" name="Rounded Rectangle 44"/>
          <p:cNvSpPr/>
          <p:nvPr/>
        </p:nvSpPr>
        <p:spPr>
          <a:xfrm>
            <a:off x="8494776" y="3941063"/>
            <a:ext cx="676656" cy="329184"/>
          </a:xfrm>
          <a:prstGeom prst="roundRect">
            <a:avLst>
              <a:gd name="adj" fmla="val 22222"/>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49640" y="3941063"/>
            <a:ext cx="566928"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일부</a:t>
            </a:r>
          </a:p>
        </p:txBody>
      </p:sp>
      <p:sp>
        <p:nvSpPr>
          <p:cNvPr id="47" name="Rounded Rectangle 46"/>
          <p:cNvSpPr/>
          <p:nvPr/>
        </p:nvSpPr>
        <p:spPr>
          <a:xfrm>
            <a:off x="5532120" y="4462272"/>
            <a:ext cx="3749039" cy="585216"/>
          </a:xfrm>
          <a:prstGeom prst="roundRect">
            <a:avLst>
              <a:gd name="adj" fmla="val 12500"/>
            </a:avLst>
          </a:prstGeom>
          <a:solidFill>
            <a:srgbClr val="F0F2F8"/>
          </a:solidFill>
          <a:ln w="15875">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78424" y="4480559"/>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전송 · I/O</a:t>
            </a:r>
          </a:p>
        </p:txBody>
      </p:sp>
      <p:sp>
        <p:nvSpPr>
          <p:cNvPr id="49" name="TextBox 48"/>
          <p:cNvSpPr txBox="1"/>
          <p:nvPr/>
        </p:nvSpPr>
        <p:spPr>
          <a:xfrm>
            <a:off x="5678424" y="4754880"/>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NIXL · GDS · io_uring · xNVMe</a:t>
            </a:r>
          </a:p>
        </p:txBody>
      </p:sp>
      <p:sp>
        <p:nvSpPr>
          <p:cNvPr id="50" name="Rounded Rectangle 49"/>
          <p:cNvSpPr/>
          <p:nvPr/>
        </p:nvSpPr>
        <p:spPr>
          <a:xfrm>
            <a:off x="8494776" y="4590288"/>
            <a:ext cx="676656" cy="329184"/>
          </a:xfrm>
          <a:prstGeom prst="roundRect">
            <a:avLst>
              <a:gd name="adj" fmla="val 22222"/>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49640" y="4590288"/>
            <a:ext cx="566928"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일부</a:t>
            </a:r>
          </a:p>
        </p:txBody>
      </p:sp>
      <p:sp>
        <p:nvSpPr>
          <p:cNvPr id="52" name="Rounded Rectangle 51"/>
          <p:cNvSpPr/>
          <p:nvPr/>
        </p:nvSpPr>
        <p:spPr>
          <a:xfrm>
            <a:off x="5532120" y="5111496"/>
            <a:ext cx="3749039" cy="585216"/>
          </a:xfrm>
          <a:prstGeom prst="roundRect">
            <a:avLst>
              <a:gd name="adj" fmla="val 12500"/>
            </a:avLst>
          </a:prstGeom>
          <a:solidFill>
            <a:srgbClr val="F0F2F8"/>
          </a:solidFill>
          <a:ln w="15875">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78424" y="5129783"/>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커널 · 파일 시스템</a:t>
            </a:r>
          </a:p>
        </p:txBody>
      </p:sp>
      <p:sp>
        <p:nvSpPr>
          <p:cNvPr id="54" name="TextBox 53"/>
          <p:cNvSpPr txBox="1"/>
          <p:nvPr/>
        </p:nvSpPr>
        <p:spPr>
          <a:xfrm>
            <a:off x="5678424" y="5404104"/>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write streams · XFS · NVMe FDP</a:t>
            </a:r>
          </a:p>
        </p:txBody>
      </p:sp>
      <p:sp>
        <p:nvSpPr>
          <p:cNvPr id="55" name="Rounded Rectangle 54"/>
          <p:cNvSpPr/>
          <p:nvPr/>
        </p:nvSpPr>
        <p:spPr>
          <a:xfrm>
            <a:off x="8494776" y="5239512"/>
            <a:ext cx="676656" cy="329184"/>
          </a:xfrm>
          <a:prstGeom prst="roundRect">
            <a:avLst>
              <a:gd name="adj" fmla="val 22222"/>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49640" y="5239512"/>
            <a:ext cx="566928"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일부</a:t>
            </a:r>
          </a:p>
        </p:txBody>
      </p:sp>
      <p:sp>
        <p:nvSpPr>
          <p:cNvPr id="57" name="Rounded Rectangle 56"/>
          <p:cNvSpPr/>
          <p:nvPr/>
        </p:nvSpPr>
        <p:spPr>
          <a:xfrm>
            <a:off x="5532120" y="5760720"/>
            <a:ext cx="3749039" cy="585216"/>
          </a:xfrm>
          <a:prstGeom prst="roundRect">
            <a:avLst>
              <a:gd name="adj" fmla="val 125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78424" y="5779007"/>
            <a:ext cx="2743199" cy="292608"/>
          </a:xfrm>
          <a:prstGeom prst="rect">
            <a:avLst/>
          </a:prstGeom>
          <a:noFill/>
        </p:spPr>
        <p:txBody>
          <a:bodyPr wrap="square" anchor="ctr" lIns="0" rIns="0" tIns="0" bIns="0">
            <a:spAutoFit/>
          </a:bodyPr>
          <a:lstStyle/>
          <a:p>
            <a:pPr algn="l">
              <a:lnSpc>
                <a:spcPct val="110000"/>
              </a:lnSpc>
            </a:pPr>
            <a:r>
              <a:rPr sz="1700" b="1">
                <a:solidFill>
                  <a:srgbClr val="FFFFFF"/>
                </a:solidFill>
                <a:latin typeface="Arial"/>
                <a:ea typeface="Arial"/>
              </a:rPr>
              <a:t>SSD 펌웨어</a:t>
            </a:r>
          </a:p>
        </p:txBody>
      </p:sp>
      <p:sp>
        <p:nvSpPr>
          <p:cNvPr id="59" name="TextBox 58"/>
          <p:cNvSpPr txBox="1"/>
          <p:nvPr/>
        </p:nvSpPr>
        <p:spPr>
          <a:xfrm>
            <a:off x="5678424" y="6053328"/>
            <a:ext cx="2926079" cy="274320"/>
          </a:xfrm>
          <a:prstGeom prst="rect">
            <a:avLst/>
          </a:prstGeom>
          <a:noFill/>
        </p:spPr>
        <p:txBody>
          <a:bodyPr wrap="square" anchor="ctr" lIns="0" rIns="0" tIns="0" bIns="0">
            <a:spAutoFit/>
          </a:bodyPr>
          <a:lstStyle/>
          <a:p>
            <a:pPr algn="l">
              <a:lnSpc>
                <a:spcPct val="110000"/>
              </a:lnSpc>
            </a:pPr>
            <a:r>
              <a:rPr sz="1500" b="0">
                <a:solidFill>
                  <a:srgbClr val="C0CAEC"/>
                </a:solidFill>
                <a:latin typeface="Arial"/>
                <a:ea typeface="Arial"/>
              </a:rPr>
              <a:t>FDP · pSLC · Large IU · GC</a:t>
            </a:r>
          </a:p>
        </p:txBody>
      </p:sp>
      <p:sp>
        <p:nvSpPr>
          <p:cNvPr id="60" name="Rounded Rectangle 59"/>
          <p:cNvSpPr/>
          <p:nvPr/>
        </p:nvSpPr>
        <p:spPr>
          <a:xfrm>
            <a:off x="8494776" y="5888736"/>
            <a:ext cx="676656" cy="329184"/>
          </a:xfrm>
          <a:prstGeom prst="roundRect">
            <a:avLst>
              <a:gd name="adj" fmla="val 2222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49640" y="5888736"/>
            <a:ext cx="566928" cy="329184"/>
          </a:xfrm>
          <a:prstGeom prst="rect">
            <a:avLst/>
          </a:prstGeom>
          <a:noFill/>
        </p:spPr>
        <p:txBody>
          <a:bodyPr wrap="square" anchor="ctr" lIns="0" rIns="0" tIns="0" bIns="0">
            <a:spAutoFit/>
          </a:bodyPr>
          <a:lstStyle/>
          <a:p>
            <a:pPr algn="ctr">
              <a:lnSpc>
                <a:spcPct val="110000"/>
              </a:lnSpc>
            </a:pPr>
            <a:r>
              <a:rPr sz="1500" b="1">
                <a:solidFill>
                  <a:srgbClr val="3C4FA5"/>
                </a:solidFill>
                <a:latin typeface="Arial"/>
                <a:ea typeface="Arial"/>
              </a:rPr>
              <a:t>강점</a:t>
            </a:r>
          </a:p>
        </p:txBody>
      </p:sp>
      <p:sp>
        <p:nvSpPr>
          <p:cNvPr id="62" name="Rounded Rectangle 61"/>
          <p:cNvSpPr/>
          <p:nvPr/>
        </p:nvSpPr>
        <p:spPr>
          <a:xfrm>
            <a:off x="5532120" y="6409944"/>
            <a:ext cx="3749039" cy="585216"/>
          </a:xfrm>
          <a:prstGeom prst="roundRect">
            <a:avLst>
              <a:gd name="adj" fmla="val 125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78424" y="6428231"/>
            <a:ext cx="2743199" cy="292608"/>
          </a:xfrm>
          <a:prstGeom prst="rect">
            <a:avLst/>
          </a:prstGeom>
          <a:noFill/>
        </p:spPr>
        <p:txBody>
          <a:bodyPr wrap="square" anchor="ctr" lIns="0" rIns="0" tIns="0" bIns="0">
            <a:spAutoFit/>
          </a:bodyPr>
          <a:lstStyle/>
          <a:p>
            <a:pPr algn="l">
              <a:lnSpc>
                <a:spcPct val="110000"/>
              </a:lnSpc>
            </a:pPr>
            <a:r>
              <a:rPr sz="1700" b="1">
                <a:solidFill>
                  <a:srgbClr val="FFFFFF"/>
                </a:solidFill>
                <a:latin typeface="Arial"/>
                <a:ea typeface="Arial"/>
              </a:rPr>
              <a:t>NAND</a:t>
            </a:r>
          </a:p>
        </p:txBody>
      </p:sp>
      <p:sp>
        <p:nvSpPr>
          <p:cNvPr id="64" name="TextBox 63"/>
          <p:cNvSpPr txBox="1"/>
          <p:nvPr/>
        </p:nvSpPr>
        <p:spPr>
          <a:xfrm>
            <a:off x="5678424" y="6702552"/>
            <a:ext cx="2926079" cy="274320"/>
          </a:xfrm>
          <a:prstGeom prst="rect">
            <a:avLst/>
          </a:prstGeom>
          <a:noFill/>
        </p:spPr>
        <p:txBody>
          <a:bodyPr wrap="square" anchor="ctr" lIns="0" rIns="0" tIns="0" bIns="0">
            <a:spAutoFit/>
          </a:bodyPr>
          <a:lstStyle/>
          <a:p>
            <a:pPr algn="l">
              <a:lnSpc>
                <a:spcPct val="110000"/>
              </a:lnSpc>
            </a:pPr>
            <a:r>
              <a:rPr sz="1500" b="0">
                <a:solidFill>
                  <a:srgbClr val="C0CAEC"/>
                </a:solidFill>
                <a:latin typeface="Arial"/>
                <a:ea typeface="Arial"/>
              </a:rPr>
              <a:t>TLC · QLC · Z-NAND</a:t>
            </a:r>
          </a:p>
        </p:txBody>
      </p:sp>
      <p:sp>
        <p:nvSpPr>
          <p:cNvPr id="65" name="Rounded Rectangle 64"/>
          <p:cNvSpPr/>
          <p:nvPr/>
        </p:nvSpPr>
        <p:spPr>
          <a:xfrm>
            <a:off x="8494776" y="6537959"/>
            <a:ext cx="676656" cy="329184"/>
          </a:xfrm>
          <a:prstGeom prst="roundRect">
            <a:avLst>
              <a:gd name="adj" fmla="val 2222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49640" y="6537959"/>
            <a:ext cx="566928" cy="329184"/>
          </a:xfrm>
          <a:prstGeom prst="rect">
            <a:avLst/>
          </a:prstGeom>
          <a:noFill/>
        </p:spPr>
        <p:txBody>
          <a:bodyPr wrap="square" anchor="ctr" lIns="0" rIns="0" tIns="0" bIns="0">
            <a:spAutoFit/>
          </a:bodyPr>
          <a:lstStyle/>
          <a:p>
            <a:pPr algn="ctr">
              <a:lnSpc>
                <a:spcPct val="110000"/>
              </a:lnSpc>
            </a:pPr>
            <a:r>
              <a:rPr sz="1500" b="1">
                <a:solidFill>
                  <a:srgbClr val="3C4FA5"/>
                </a:solidFill>
                <a:latin typeface="Arial"/>
                <a:ea typeface="Arial"/>
              </a:rPr>
              <a:t>강점</a:t>
            </a:r>
          </a:p>
        </p:txBody>
      </p:sp>
      <p:sp>
        <p:nvSpPr>
          <p:cNvPr id="67" name="Down Arrow 66"/>
          <p:cNvSpPr/>
          <p:nvPr/>
        </p:nvSpPr>
        <p:spPr>
          <a:xfrm>
            <a:off x="9409176" y="4014216"/>
            <a:ext cx="384048" cy="2130552"/>
          </a:xfrm>
          <a:prstGeom prst="downArrow">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848088" y="3995928"/>
            <a:ext cx="1216152" cy="566928"/>
          </a:xfrm>
          <a:prstGeom prst="rect">
            <a:avLst/>
          </a:prstGeom>
          <a:noFill/>
        </p:spPr>
        <p:txBody>
          <a:bodyPr wrap="square" anchor="ctr" lIns="0" rIns="0" tIns="0" bIns="0">
            <a:spAutoFit/>
          </a:bodyPr>
          <a:lstStyle/>
          <a:p>
            <a:pPr algn="l">
              <a:lnSpc>
                <a:spcPct val="95000"/>
              </a:lnSpc>
            </a:pPr>
            <a:r>
              <a:rPr sz="1600" b="1">
                <a:solidFill>
                  <a:srgbClr val="3C4FA5"/>
                </a:solidFill>
                <a:latin typeface="Arial"/>
                <a:ea typeface="Arial"/>
              </a:rPr>
              <a:t>수명 정보</a:t>
            </a:r>
          </a:p>
          <a:p>
            <a:pPr algn="l">
              <a:lnSpc>
                <a:spcPct val="95000"/>
              </a:lnSpc>
            </a:pPr>
            <a:r>
              <a:rPr sz="1500" b="0">
                <a:solidFill>
                  <a:srgbClr val="555555"/>
                </a:solidFill>
                <a:latin typeface="Arial"/>
                <a:ea typeface="Arial"/>
              </a:rPr>
              <a:t>prefix · 세션</a:t>
            </a:r>
          </a:p>
        </p:txBody>
      </p:sp>
      <p:sp>
        <p:nvSpPr>
          <p:cNvPr id="69" name="TextBox 68"/>
          <p:cNvSpPr txBox="1"/>
          <p:nvPr/>
        </p:nvSpPr>
        <p:spPr>
          <a:xfrm>
            <a:off x="9848088" y="4695444"/>
            <a:ext cx="1216152" cy="768096"/>
          </a:xfrm>
          <a:prstGeom prst="rect">
            <a:avLst/>
          </a:prstGeom>
          <a:noFill/>
        </p:spPr>
        <p:txBody>
          <a:bodyPr wrap="square" anchor="ctr" lIns="0" rIns="0" tIns="0" bIns="0">
            <a:spAutoFit/>
          </a:bodyPr>
          <a:lstStyle/>
          <a:p>
            <a:pPr algn="l">
              <a:lnSpc>
                <a:spcPct val="95000"/>
              </a:lnSpc>
            </a:pPr>
            <a:r>
              <a:rPr sz="1600" b="1">
                <a:solidFill>
                  <a:srgbClr val="3C4FA5"/>
                </a:solidFill>
                <a:latin typeface="Arial"/>
                <a:ea typeface="Arial"/>
              </a:rPr>
              <a:t>함께</a:t>
            </a:r>
          </a:p>
          <a:p>
            <a:pPr algn="l">
              <a:lnSpc>
                <a:spcPct val="95000"/>
              </a:lnSpc>
            </a:pPr>
            <a:r>
              <a:rPr sz="1600" b="1">
                <a:solidFill>
                  <a:srgbClr val="3C4FA5"/>
                </a:solidFill>
                <a:latin typeface="Arial"/>
                <a:ea typeface="Arial"/>
              </a:rPr>
              <a:t>만들</a:t>
            </a:r>
          </a:p>
          <a:p>
            <a:pPr algn="l">
              <a:lnSpc>
                <a:spcPct val="95000"/>
              </a:lnSpc>
            </a:pPr>
            <a:r>
              <a:rPr sz="1600" b="1">
                <a:solidFill>
                  <a:srgbClr val="3C4FA5"/>
                </a:solidFill>
                <a:latin typeface="Arial"/>
                <a:ea typeface="Arial"/>
              </a:rPr>
              <a:t>경로</a:t>
            </a:r>
          </a:p>
        </p:txBody>
      </p:sp>
      <p:sp>
        <p:nvSpPr>
          <p:cNvPr id="70" name="TextBox 69"/>
          <p:cNvSpPr txBox="1"/>
          <p:nvPr/>
        </p:nvSpPr>
        <p:spPr>
          <a:xfrm>
            <a:off x="9848088" y="5779008"/>
            <a:ext cx="1216152" cy="566928"/>
          </a:xfrm>
          <a:prstGeom prst="rect">
            <a:avLst/>
          </a:prstGeom>
          <a:noFill/>
        </p:spPr>
        <p:txBody>
          <a:bodyPr wrap="square" anchor="ctr" lIns="0" rIns="0" tIns="0" bIns="0">
            <a:spAutoFit/>
          </a:bodyPr>
          <a:lstStyle/>
          <a:p>
            <a:pPr algn="l">
              <a:lnSpc>
                <a:spcPct val="95000"/>
              </a:lnSpc>
            </a:pPr>
            <a:r>
              <a:rPr sz="1600" b="1">
                <a:solidFill>
                  <a:srgbClr val="3C4FA5"/>
                </a:solidFill>
                <a:latin typeface="Arial"/>
                <a:ea typeface="Arial"/>
              </a:rPr>
              <a:t>SSD 배치</a:t>
            </a:r>
          </a:p>
          <a:p>
            <a:pPr algn="l">
              <a:lnSpc>
                <a:spcPct val="95000"/>
              </a:lnSpc>
            </a:pPr>
            <a:r>
              <a:rPr sz="1500" b="0">
                <a:solidFill>
                  <a:srgbClr val="555555"/>
                </a:solidFill>
                <a:latin typeface="Arial"/>
                <a:ea typeface="Arial"/>
              </a:rPr>
              <a:t>FDP 핸들</a:t>
            </a:r>
          </a:p>
        </p:txBody>
      </p:sp>
      <p:sp>
        <p:nvSpPr>
          <p:cNvPr id="71" name="Rounded Rectangle 70"/>
          <p:cNvSpPr/>
          <p:nvPr/>
        </p:nvSpPr>
        <p:spPr>
          <a:xfrm>
            <a:off x="5532120" y="7150607"/>
            <a:ext cx="5532120" cy="1389888"/>
          </a:xfrm>
          <a:prstGeom prst="roundRect">
            <a:avLst>
              <a:gd name="adj" fmla="val 5263"/>
            </a:avLst>
          </a:prstGeom>
          <a:solidFill>
            <a:srgbClr val="FFFFFF"/>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696712" y="7242047"/>
            <a:ext cx="731520" cy="329184"/>
          </a:xfrm>
          <a:prstGeom prst="roundRect">
            <a:avLst>
              <a:gd name="adj" fmla="val 22222"/>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51575" y="7242047"/>
            <a:ext cx="621792"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화두</a:t>
            </a:r>
          </a:p>
        </p:txBody>
      </p:sp>
      <p:sp>
        <p:nvSpPr>
          <p:cNvPr id="74" name="TextBox 73"/>
          <p:cNvSpPr txBox="1"/>
          <p:nvPr/>
        </p:nvSpPr>
        <p:spPr>
          <a:xfrm>
            <a:off x="6519672" y="7223759"/>
            <a:ext cx="4434840" cy="365760"/>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고객 관계(CRM)를 </a:t>
            </a:r>
            <a:r>
              <a:rPr sz="1700" b="1">
                <a:solidFill>
                  <a:srgbClr val="3C4FA5"/>
                </a:solidFill>
                <a:latin typeface="Arial"/>
                <a:ea typeface="Arial"/>
              </a:rPr>
              <a:t>엔지니어까지</a:t>
            </a:r>
          </a:p>
        </p:txBody>
      </p:sp>
      <p:sp>
        <p:nvSpPr>
          <p:cNvPr id="75" name="Rounded Rectangle 74"/>
          <p:cNvSpPr/>
          <p:nvPr/>
        </p:nvSpPr>
        <p:spPr>
          <a:xfrm>
            <a:off x="5751576" y="7644383"/>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806440" y="7644383"/>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경영진</a:t>
            </a:r>
          </a:p>
        </p:txBody>
      </p:sp>
      <p:sp>
        <p:nvSpPr>
          <p:cNvPr id="77" name="Rounded Rectangle 76"/>
          <p:cNvSpPr/>
          <p:nvPr/>
        </p:nvSpPr>
        <p:spPr>
          <a:xfrm>
            <a:off x="8129016" y="7644383"/>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183880" y="7644383"/>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경영진</a:t>
            </a:r>
          </a:p>
        </p:txBody>
      </p:sp>
      <p:sp>
        <p:nvSpPr>
          <p:cNvPr id="79" name="Rectangle 78"/>
          <p:cNvSpPr/>
          <p:nvPr/>
        </p:nvSpPr>
        <p:spPr>
          <a:xfrm>
            <a:off x="6848856" y="7772400"/>
            <a:ext cx="1243584" cy="182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5751576" y="7955279"/>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06440" y="7955279"/>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영업</a:t>
            </a:r>
          </a:p>
        </p:txBody>
      </p:sp>
      <p:sp>
        <p:nvSpPr>
          <p:cNvPr id="82" name="Rounded Rectangle 81"/>
          <p:cNvSpPr/>
          <p:nvPr/>
        </p:nvSpPr>
        <p:spPr>
          <a:xfrm>
            <a:off x="8129016" y="7955279"/>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83880" y="7955279"/>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구매</a:t>
            </a:r>
          </a:p>
        </p:txBody>
      </p:sp>
      <p:sp>
        <p:nvSpPr>
          <p:cNvPr id="84" name="Rectangle 83"/>
          <p:cNvSpPr/>
          <p:nvPr/>
        </p:nvSpPr>
        <p:spPr>
          <a:xfrm>
            <a:off x="6848856" y="8083296"/>
            <a:ext cx="1243584" cy="182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5751576" y="8266175"/>
            <a:ext cx="1060704" cy="274320"/>
          </a:xfrm>
          <a:prstGeom prst="roundRect">
            <a:avLst>
              <a:gd name="adj" fmla="val 26666"/>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806440" y="8266175"/>
            <a:ext cx="950976" cy="274320"/>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엔지니어</a:t>
            </a:r>
          </a:p>
        </p:txBody>
      </p:sp>
      <p:sp>
        <p:nvSpPr>
          <p:cNvPr id="87" name="Rounded Rectangle 86"/>
          <p:cNvSpPr/>
          <p:nvPr/>
        </p:nvSpPr>
        <p:spPr>
          <a:xfrm>
            <a:off x="8129016" y="8266175"/>
            <a:ext cx="1060704" cy="274320"/>
          </a:xfrm>
          <a:prstGeom prst="roundRect">
            <a:avLst>
              <a:gd name="adj" fmla="val 26666"/>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183880" y="8266175"/>
            <a:ext cx="950976" cy="274320"/>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엔지니어</a:t>
            </a:r>
          </a:p>
        </p:txBody>
      </p:sp>
      <p:sp>
        <p:nvSpPr>
          <p:cNvPr id="89" name="Rectangle 88"/>
          <p:cNvSpPr/>
          <p:nvPr/>
        </p:nvSpPr>
        <p:spPr>
          <a:xfrm>
            <a:off x="6848856" y="8375904"/>
            <a:ext cx="1243584" cy="54864"/>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6903720" y="8275319"/>
            <a:ext cx="1133856" cy="256032"/>
          </a:xfrm>
          <a:prstGeom prst="roundRect">
            <a:avLst>
              <a:gd name="adj" fmla="val 28571"/>
            </a:avLst>
          </a:prstGeom>
          <a:solidFill>
            <a:srgbClr val="FFFFFF"/>
          </a:solidFill>
          <a:ln w="127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958583" y="8275319"/>
            <a:ext cx="1024128" cy="256032"/>
          </a:xfrm>
          <a:prstGeom prst="rect">
            <a:avLst/>
          </a:prstGeom>
          <a:noFill/>
        </p:spPr>
        <p:txBody>
          <a:bodyPr wrap="square" anchor="ctr" lIns="0" rIns="0" tIns="0" bIns="0">
            <a:spAutoFit/>
          </a:bodyPr>
          <a:lstStyle/>
          <a:p>
            <a:pPr algn="ctr">
              <a:lnSpc>
                <a:spcPct val="110000"/>
              </a:lnSpc>
            </a:pPr>
            <a:r>
              <a:rPr sz="1500" b="1">
                <a:solidFill>
                  <a:srgbClr val="3C4FA5"/>
                </a:solidFill>
                <a:latin typeface="Arial"/>
                <a:ea typeface="Arial"/>
              </a:rPr>
              <a:t>언어 · 문화</a:t>
            </a:r>
          </a:p>
        </p:txBody>
      </p:sp>
      <p:sp>
        <p:nvSpPr>
          <p:cNvPr id="92" name="Rectangle 91"/>
          <p:cNvSpPr/>
          <p:nvPr/>
        </p:nvSpPr>
        <p:spPr>
          <a:xfrm>
            <a:off x="9372600" y="7644383"/>
            <a:ext cx="36576" cy="58521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281160" y="7644383"/>
            <a:ext cx="109728" cy="3657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281160" y="8193024"/>
            <a:ext cx="109728" cy="3657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445752" y="7799831"/>
            <a:ext cx="731520" cy="274320"/>
          </a:xfrm>
          <a:prstGeom prst="rect">
            <a:avLst/>
          </a:prstGeom>
          <a:noFill/>
        </p:spPr>
        <p:txBody>
          <a:bodyPr wrap="square" anchor="ctr" lIns="0" rIns="0" tIns="0" bIns="0">
            <a:spAutoFit/>
          </a:bodyPr>
          <a:lstStyle/>
          <a:p>
            <a:pPr algn="l">
              <a:lnSpc>
                <a:spcPct val="110000"/>
              </a:lnSpc>
            </a:pPr>
            <a:r>
              <a:rPr sz="1500" b="1">
                <a:solidFill>
                  <a:srgbClr val="8A8A8A"/>
                </a:solidFill>
                <a:latin typeface="Arial"/>
                <a:ea typeface="Arial"/>
              </a:rPr>
              <a:t>지금</a:t>
            </a:r>
          </a:p>
        </p:txBody>
      </p:sp>
      <p:sp>
        <p:nvSpPr>
          <p:cNvPr id="96" name="Rectangle 95"/>
          <p:cNvSpPr/>
          <p:nvPr/>
        </p:nvSpPr>
        <p:spPr>
          <a:xfrm>
            <a:off x="10104120" y="7644383"/>
            <a:ext cx="36576" cy="89611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012680" y="7644383"/>
            <a:ext cx="109728" cy="3657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0012680" y="8503920"/>
            <a:ext cx="109728" cy="3657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177272" y="7955279"/>
            <a:ext cx="731520" cy="274320"/>
          </a:xfrm>
          <a:prstGeom prst="rect">
            <a:avLst/>
          </a:prstGeom>
          <a:noFill/>
        </p:spPr>
        <p:txBody>
          <a:bodyPr wrap="square" anchor="ctr" lIns="0" rIns="0" tIns="0" bIns="0">
            <a:spAutoFit/>
          </a:bodyPr>
          <a:lstStyle/>
          <a:p>
            <a:pPr algn="l">
              <a:lnSpc>
                <a:spcPct val="110000"/>
              </a:lnSpc>
            </a:pPr>
            <a:r>
              <a:rPr sz="1500" b="1">
                <a:solidFill>
                  <a:srgbClr val="3C4FA5"/>
                </a:solidFill>
                <a:latin typeface="Arial"/>
                <a:ea typeface="Arial"/>
              </a:rPr>
              <a:t>앞으로</a:t>
            </a:r>
          </a:p>
        </p:txBody>
      </p:sp>
      <p:sp>
        <p:nvSpPr>
          <p:cNvPr id="100" name="Oval 99"/>
          <p:cNvSpPr/>
          <p:nvPr/>
        </p:nvSpPr>
        <p:spPr>
          <a:xfrm>
            <a:off x="11484864" y="2139696"/>
            <a:ext cx="438912" cy="43891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48486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102" name="TextBox 101"/>
          <p:cNvSpPr txBox="1"/>
          <p:nvPr/>
        </p:nvSpPr>
        <p:spPr>
          <a:xfrm>
            <a:off x="12070080" y="2103120"/>
            <a:ext cx="54955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사람: 고객 안에 상주 (FDE)</a:t>
            </a:r>
          </a:p>
        </p:txBody>
      </p:sp>
      <p:pic>
        <p:nvPicPr>
          <p:cNvPr id="103" name="Picture 102" descr="palantir.png"/>
          <p:cNvPicPr>
            <a:picLocks noChangeAspect="1"/>
          </p:cNvPicPr>
          <p:nvPr/>
        </p:nvPicPr>
        <p:blipFill>
          <a:blip r:embed="rId4"/>
          <a:stretch>
            <a:fillRect/>
          </a:stretch>
        </p:blipFill>
        <p:spPr>
          <a:xfrm>
            <a:off x="11484864" y="2715768"/>
            <a:ext cx="310896" cy="310896"/>
          </a:xfrm>
          <a:prstGeom prst="rect">
            <a:avLst/>
          </a:prstGeom>
        </p:spPr>
      </p:pic>
      <p:sp>
        <p:nvSpPr>
          <p:cNvPr id="104" name="TextBox 103"/>
          <p:cNvSpPr txBox="1"/>
          <p:nvPr/>
        </p:nvSpPr>
        <p:spPr>
          <a:xfrm>
            <a:off x="11887200" y="2688336"/>
            <a:ext cx="5678424"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Palantir FDE</a:t>
            </a:r>
            <a:r>
              <a:rPr sz="1600" b="0">
                <a:solidFill>
                  <a:srgbClr val="555555"/>
                </a:solidFill>
                <a:latin typeface="Arial"/>
                <a:ea typeface="Arial"/>
              </a:rPr>
              <a:t>   Anthropic · OpenAI도 채택</a:t>
            </a:r>
          </a:p>
        </p:txBody>
      </p:sp>
      <p:sp>
        <p:nvSpPr>
          <p:cNvPr id="105" name="TextBox 104"/>
          <p:cNvSpPr txBox="1"/>
          <p:nvPr/>
        </p:nvSpPr>
        <p:spPr>
          <a:xfrm>
            <a:off x="11484864" y="3182112"/>
            <a:ext cx="45720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106" name="Rounded Rectangle 105"/>
          <p:cNvSpPr/>
          <p:nvPr/>
        </p:nvSpPr>
        <p:spPr>
          <a:xfrm>
            <a:off x="11484864" y="3584448"/>
            <a:ext cx="1554480" cy="548640"/>
          </a:xfrm>
          <a:prstGeom prst="roundRect">
            <a:avLst>
              <a:gd name="adj" fmla="val 1333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7" name="Picture 106" descr="samsung.png"/>
          <p:cNvPicPr>
            <a:picLocks noChangeAspect="1"/>
          </p:cNvPicPr>
          <p:nvPr/>
        </p:nvPicPr>
        <p:blipFill>
          <a:blip r:embed="rId5"/>
          <a:stretch>
            <a:fillRect/>
          </a:stretch>
        </p:blipFill>
        <p:spPr>
          <a:xfrm>
            <a:off x="11622024" y="3759998"/>
            <a:ext cx="1280160" cy="197538"/>
          </a:xfrm>
          <a:prstGeom prst="rect">
            <a:avLst/>
          </a:prstGeom>
        </p:spPr>
      </p:pic>
      <p:sp>
        <p:nvSpPr>
          <p:cNvPr id="108" name="Rounded Rectangle 107"/>
          <p:cNvSpPr/>
          <p:nvPr/>
        </p:nvSpPr>
        <p:spPr>
          <a:xfrm>
            <a:off x="16011144" y="3584448"/>
            <a:ext cx="1554480" cy="548640"/>
          </a:xfrm>
          <a:prstGeom prst="roundRect">
            <a:avLst>
              <a:gd name="adj" fmla="val 1333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6066008" y="3584448"/>
            <a:ext cx="1444752" cy="548640"/>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고객</a:t>
            </a:r>
          </a:p>
        </p:txBody>
      </p:sp>
      <p:sp>
        <p:nvSpPr>
          <p:cNvPr id="110" name="Rectangle 109"/>
          <p:cNvSpPr/>
          <p:nvPr/>
        </p:nvSpPr>
        <p:spPr>
          <a:xfrm>
            <a:off x="13112496" y="3849624"/>
            <a:ext cx="2825496"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olded Corner 110"/>
          <p:cNvSpPr/>
          <p:nvPr/>
        </p:nvSpPr>
        <p:spPr>
          <a:xfrm>
            <a:off x="14324076" y="3602736"/>
            <a:ext cx="402336" cy="512064"/>
          </a:xfrm>
          <a:prstGeom prst="foldedCorner">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1484864" y="4187952"/>
            <a:ext cx="608076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스펙 문서로 명시된 요구만 오갑니다</a:t>
            </a:r>
          </a:p>
        </p:txBody>
      </p:sp>
      <p:sp>
        <p:nvSpPr>
          <p:cNvPr id="113" name="Isosceles Triangle 112"/>
          <p:cNvSpPr/>
          <p:nvPr/>
        </p:nvSpPr>
        <p:spPr>
          <a:xfrm rot="10800000">
            <a:off x="14324076" y="4553712"/>
            <a:ext cx="402336" cy="237744"/>
          </a:xfrm>
          <a:prstGeom prst="triangl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484864" y="4846320"/>
            <a:ext cx="45720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앞으로: 고객 상주 협업의 세 가지 핵심 업무</a:t>
            </a:r>
          </a:p>
        </p:txBody>
      </p:sp>
      <p:sp>
        <p:nvSpPr>
          <p:cNvPr id="115" name="Rounded Rectangle 114"/>
          <p:cNvSpPr/>
          <p:nvPr/>
        </p:nvSpPr>
        <p:spPr>
          <a:xfrm>
            <a:off x="11484864" y="5248656"/>
            <a:ext cx="6080760" cy="3291839"/>
          </a:xfrm>
          <a:prstGeom prst="roundRect">
            <a:avLst>
              <a:gd name="adj" fmla="val 2222"/>
            </a:avLst>
          </a:prstGeom>
          <a:solidFill>
            <a:srgbClr val="F0F2F8"/>
          </a:solidFill>
          <a:ln w="1905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4548104" y="5303520"/>
            <a:ext cx="2834640" cy="292608"/>
          </a:xfrm>
          <a:prstGeom prst="rect">
            <a:avLst/>
          </a:prstGeom>
          <a:noFill/>
        </p:spPr>
        <p:txBody>
          <a:bodyPr wrap="square" anchor="ctr" lIns="0" rIns="0" tIns="0" bIns="0">
            <a:spAutoFit/>
          </a:bodyPr>
          <a:lstStyle/>
          <a:p>
            <a:pPr algn="r">
              <a:lnSpc>
                <a:spcPct val="110000"/>
              </a:lnSpc>
            </a:pPr>
            <a:r>
              <a:rPr sz="1600" b="1">
                <a:solidFill>
                  <a:srgbClr val="3C4FA5"/>
                </a:solidFill>
                <a:latin typeface="Arial"/>
                <a:ea typeface="Arial"/>
              </a:rPr>
              <a:t>고객 AI 데이터센터 안에서</a:t>
            </a:r>
          </a:p>
        </p:txBody>
      </p:sp>
      <p:sp>
        <p:nvSpPr>
          <p:cNvPr id="117" name="Rounded Rectangle 116"/>
          <p:cNvSpPr/>
          <p:nvPr/>
        </p:nvSpPr>
        <p:spPr>
          <a:xfrm>
            <a:off x="11649456" y="5650992"/>
            <a:ext cx="1734312" cy="2761487"/>
          </a:xfrm>
          <a:prstGeom prst="roundRect">
            <a:avLst>
              <a:gd name="adj" fmla="val 421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1759184" y="5760720"/>
            <a:ext cx="329184" cy="3291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759184" y="5760720"/>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120" name="TextBox 119"/>
          <p:cNvSpPr txBox="1"/>
          <p:nvPr/>
        </p:nvSpPr>
        <p:spPr>
          <a:xfrm>
            <a:off x="11722608" y="7699248"/>
            <a:ext cx="1588008" cy="658368"/>
          </a:xfrm>
          <a:prstGeom prst="rect">
            <a:avLst/>
          </a:prstGeom>
          <a:noFill/>
        </p:spPr>
        <p:txBody>
          <a:bodyPr wrap="square" anchor="ctr" lIns="0" rIns="0" tIns="0" bIns="0">
            <a:spAutoFit/>
          </a:bodyPr>
          <a:lstStyle/>
          <a:p>
            <a:pPr algn="ctr">
              <a:lnSpc>
                <a:spcPct val="100000"/>
              </a:lnSpc>
            </a:pPr>
            <a:r>
              <a:rPr sz="1600" b="0">
                <a:solidFill>
                  <a:srgbClr val="555555"/>
                </a:solidFill>
                <a:latin typeface="Arial"/>
                <a:ea typeface="Arial"/>
              </a:rPr>
              <a:t>고객 워크로드</a:t>
            </a:r>
          </a:p>
          <a:p>
            <a:pPr algn="ctr">
              <a:lnSpc>
                <a:spcPct val="100000"/>
              </a:lnSpc>
            </a:pPr>
            <a:r>
              <a:rPr sz="1900" b="1">
                <a:solidFill>
                  <a:srgbClr val="3C4FA5"/>
                </a:solidFill>
                <a:latin typeface="Arial"/>
                <a:ea typeface="Arial"/>
              </a:rPr>
              <a:t>측정 · 분석</a:t>
            </a:r>
          </a:p>
        </p:txBody>
      </p:sp>
      <p:sp>
        <p:nvSpPr>
          <p:cNvPr id="121" name="Chevron 120"/>
          <p:cNvSpPr/>
          <p:nvPr/>
        </p:nvSpPr>
        <p:spPr>
          <a:xfrm>
            <a:off x="13447776" y="6803136"/>
            <a:ext cx="146304" cy="457200"/>
          </a:xfrm>
          <a:prstGeom prst="chevron">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13658088" y="5650992"/>
            <a:ext cx="1734312" cy="2761487"/>
          </a:xfrm>
          <a:prstGeom prst="roundRect">
            <a:avLst>
              <a:gd name="adj" fmla="val 421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3767816" y="5760720"/>
            <a:ext cx="329184" cy="3291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3767816" y="5760720"/>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125" name="TextBox 124"/>
          <p:cNvSpPr txBox="1"/>
          <p:nvPr/>
        </p:nvSpPr>
        <p:spPr>
          <a:xfrm>
            <a:off x="13731240" y="7699248"/>
            <a:ext cx="1588008" cy="658368"/>
          </a:xfrm>
          <a:prstGeom prst="rect">
            <a:avLst/>
          </a:prstGeom>
          <a:noFill/>
        </p:spPr>
        <p:txBody>
          <a:bodyPr wrap="square" anchor="ctr" lIns="0" rIns="0" tIns="0" bIns="0">
            <a:spAutoFit/>
          </a:bodyPr>
          <a:lstStyle/>
          <a:p>
            <a:pPr algn="ctr">
              <a:lnSpc>
                <a:spcPct val="100000"/>
              </a:lnSpc>
            </a:pPr>
            <a:r>
              <a:rPr sz="1600" b="0">
                <a:solidFill>
                  <a:srgbClr val="555555"/>
                </a:solidFill>
                <a:latin typeface="Arial"/>
                <a:ea typeface="Arial"/>
              </a:rPr>
              <a:t>호스트 SW 스택</a:t>
            </a:r>
          </a:p>
          <a:p>
            <a:pPr algn="ctr">
              <a:lnSpc>
                <a:spcPct val="100000"/>
              </a:lnSpc>
            </a:pPr>
            <a:r>
              <a:rPr sz="1900" b="1">
                <a:solidFill>
                  <a:srgbClr val="3C4FA5"/>
                </a:solidFill>
                <a:latin typeface="Arial"/>
                <a:ea typeface="Arial"/>
              </a:rPr>
              <a:t>최적화 · 평가</a:t>
            </a:r>
          </a:p>
        </p:txBody>
      </p:sp>
      <p:sp>
        <p:nvSpPr>
          <p:cNvPr id="126" name="Chevron 125"/>
          <p:cNvSpPr/>
          <p:nvPr/>
        </p:nvSpPr>
        <p:spPr>
          <a:xfrm>
            <a:off x="15456408" y="6803136"/>
            <a:ext cx="146304" cy="457200"/>
          </a:xfrm>
          <a:prstGeom prst="chevron">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15666720" y="5650992"/>
            <a:ext cx="1734312" cy="2761487"/>
          </a:xfrm>
          <a:prstGeom prst="roundRect">
            <a:avLst>
              <a:gd name="adj" fmla="val 421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5776448" y="5760720"/>
            <a:ext cx="329184" cy="32918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5776448" y="5760720"/>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130" name="TextBox 129"/>
          <p:cNvSpPr txBox="1"/>
          <p:nvPr/>
        </p:nvSpPr>
        <p:spPr>
          <a:xfrm>
            <a:off x="15739871" y="7699248"/>
            <a:ext cx="1588008" cy="658368"/>
          </a:xfrm>
          <a:prstGeom prst="rect">
            <a:avLst/>
          </a:prstGeom>
          <a:noFill/>
        </p:spPr>
        <p:txBody>
          <a:bodyPr wrap="square" anchor="ctr" lIns="0" rIns="0" tIns="0" bIns="0">
            <a:spAutoFit/>
          </a:bodyPr>
          <a:lstStyle/>
          <a:p>
            <a:pPr algn="ctr">
              <a:lnSpc>
                <a:spcPct val="100000"/>
              </a:lnSpc>
            </a:pPr>
            <a:r>
              <a:rPr sz="1600" b="0">
                <a:solidFill>
                  <a:srgbClr val="555555"/>
                </a:solidFill>
                <a:latin typeface="Arial"/>
                <a:ea typeface="Arial"/>
              </a:rPr>
              <a:t>차세대 제품</a:t>
            </a:r>
          </a:p>
          <a:p>
            <a:pPr algn="ctr">
              <a:lnSpc>
                <a:spcPct val="100000"/>
              </a:lnSpc>
            </a:pPr>
            <a:r>
              <a:rPr sz="1900" b="1">
                <a:solidFill>
                  <a:srgbClr val="3C4FA5"/>
                </a:solidFill>
                <a:latin typeface="Arial"/>
                <a:ea typeface="Arial"/>
              </a:rPr>
              <a:t>기술 교류</a:t>
            </a:r>
          </a:p>
        </p:txBody>
      </p:sp>
      <p:sp>
        <p:nvSpPr>
          <p:cNvPr id="131" name="Rectangle 130"/>
          <p:cNvSpPr/>
          <p:nvPr/>
        </p:nvSpPr>
        <p:spPr>
          <a:xfrm>
            <a:off x="11868912" y="7626096"/>
            <a:ext cx="1316736" cy="182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923776" y="7126833"/>
            <a:ext cx="155448" cy="49926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2134088" y="6484924"/>
            <a:ext cx="155448" cy="1141171"/>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2344400" y="6841540"/>
            <a:ext cx="155448" cy="78455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2554712" y="6270955"/>
            <a:ext cx="155448" cy="1355140"/>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2765024" y="7198156"/>
            <a:ext cx="155448" cy="42793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2975336" y="6770217"/>
            <a:ext cx="155448" cy="85587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2487656" y="6163056"/>
            <a:ext cx="512064" cy="512064"/>
          </a:xfrm>
          <a:prstGeom prst="ellipse">
            <a:avLst/>
          </a:prstGeom>
          <a:noFill/>
          <a:ln w="38100">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rot="2700000">
            <a:off x="12908280" y="6638544"/>
            <a:ext cx="310896" cy="8229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13840968" y="6144768"/>
            <a:ext cx="1021080" cy="469391"/>
          </a:xfrm>
          <a:prstGeom prst="roundRect">
            <a:avLst>
              <a:gd name="adj" fmla="val 1558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3895832" y="6144768"/>
            <a:ext cx="911352" cy="469391"/>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KV 캐시</a:t>
            </a:r>
          </a:p>
        </p:txBody>
      </p:sp>
      <p:sp>
        <p:nvSpPr>
          <p:cNvPr id="142" name="Rounded Rectangle 141"/>
          <p:cNvSpPr/>
          <p:nvPr/>
        </p:nvSpPr>
        <p:spPr>
          <a:xfrm>
            <a:off x="13840968" y="6669024"/>
            <a:ext cx="1021080" cy="469391"/>
          </a:xfrm>
          <a:prstGeom prst="roundRect">
            <a:avLst>
              <a:gd name="adj" fmla="val 155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3895832" y="6669024"/>
            <a:ext cx="911352" cy="469391"/>
          </a:xfrm>
          <a:prstGeom prst="rect">
            <a:avLst/>
          </a:prstGeom>
          <a:noFill/>
        </p:spPr>
        <p:txBody>
          <a:bodyPr wrap="square" anchor="ctr" lIns="0" rIns="0" tIns="0" bIns="0">
            <a:spAutoFit/>
          </a:bodyPr>
          <a:lstStyle/>
          <a:p>
            <a:pPr algn="ctr">
              <a:lnSpc>
                <a:spcPct val="110000"/>
              </a:lnSpc>
            </a:pPr>
            <a:r>
              <a:rPr sz="1600" b="1">
                <a:solidFill>
                  <a:srgbClr val="555555"/>
                </a:solidFill>
                <a:latin typeface="Arial"/>
                <a:ea typeface="Arial"/>
              </a:rPr>
              <a:t>커널</a:t>
            </a:r>
          </a:p>
        </p:txBody>
      </p:sp>
      <p:sp>
        <p:nvSpPr>
          <p:cNvPr id="144" name="Rounded Rectangle 143"/>
          <p:cNvSpPr/>
          <p:nvPr/>
        </p:nvSpPr>
        <p:spPr>
          <a:xfrm>
            <a:off x="13840968" y="7193280"/>
            <a:ext cx="1021080" cy="469391"/>
          </a:xfrm>
          <a:prstGeom prst="roundRect">
            <a:avLst>
              <a:gd name="adj" fmla="val 1558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3895832" y="7193280"/>
            <a:ext cx="911352" cy="469391"/>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SSD</a:t>
            </a:r>
          </a:p>
        </p:txBody>
      </p:sp>
      <p:sp>
        <p:nvSpPr>
          <p:cNvPr id="146" name="Up-Down Arrow 145"/>
          <p:cNvSpPr/>
          <p:nvPr/>
        </p:nvSpPr>
        <p:spPr>
          <a:xfrm>
            <a:off x="14953488" y="6379464"/>
            <a:ext cx="292608" cy="1048511"/>
          </a:xfrm>
          <a:prstGeom prst="upDownArrow">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5909767" y="6473952"/>
            <a:ext cx="217261" cy="217261"/>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 Same Side Corner Rectangle 147"/>
          <p:cNvSpPr/>
          <p:nvPr/>
        </p:nvSpPr>
        <p:spPr>
          <a:xfrm>
            <a:off x="15831312" y="6727423"/>
            <a:ext cx="374172" cy="350032"/>
          </a:xfrm>
          <a:prstGeom prst="round2SameRect">
            <a:avLst>
              <a:gd name="adj1" fmla="val 45000"/>
              <a:gd name="adj2" fmla="val 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6940723" y="6473952"/>
            <a:ext cx="217261" cy="217261"/>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ound Same Side Corner Rectangle 149"/>
          <p:cNvSpPr/>
          <p:nvPr/>
        </p:nvSpPr>
        <p:spPr>
          <a:xfrm>
            <a:off x="16862267" y="6727423"/>
            <a:ext cx="374172" cy="350032"/>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ounded Rectangular Callout 150"/>
          <p:cNvSpPr/>
          <p:nvPr/>
        </p:nvSpPr>
        <p:spPr>
          <a:xfrm>
            <a:off x="16149827" y="6126480"/>
            <a:ext cx="768096" cy="365760"/>
          </a:xfrm>
          <a:prstGeom prst="wedgeRoundRectCallout">
            <a:avLst/>
          </a:prstGeom>
          <a:solidFill>
            <a:srgbClr val="FFFFFF"/>
          </a:solidFill>
          <a:ln w="1905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6149827" y="6126480"/>
            <a:ext cx="768096" cy="310896"/>
          </a:xfrm>
          <a:prstGeom prst="rect">
            <a:avLst/>
          </a:prstGeom>
          <a:noFill/>
        </p:spPr>
        <p:txBody>
          <a:bodyPr wrap="square" anchor="ctr" lIns="0" rIns="0" tIns="0" bIns="0">
            <a:spAutoFit/>
          </a:bodyPr>
          <a:lstStyle/>
          <a:p>
            <a:pPr algn="ctr">
              <a:lnSpc>
                <a:spcPct val="110000"/>
              </a:lnSpc>
            </a:pPr>
            <a:r>
              <a:rPr sz="1600" b="1">
                <a:solidFill>
                  <a:srgbClr val="3C4FA5"/>
                </a:solidFill>
                <a:latin typeface="Arial"/>
                <a:ea typeface="Arial"/>
              </a:rPr>
              <a:t>· · ·</a:t>
            </a:r>
          </a:p>
        </p:txBody>
      </p:sp>
      <p:pic>
        <p:nvPicPr>
          <p:cNvPr id="153" name="Picture 152" descr="render_ssd.png"/>
          <p:cNvPicPr>
            <a:picLocks noChangeAspect="1"/>
          </p:cNvPicPr>
          <p:nvPr/>
        </p:nvPicPr>
        <p:blipFill>
          <a:blip r:embed="rId6"/>
          <a:stretch>
            <a:fillRect/>
          </a:stretch>
        </p:blipFill>
        <p:spPr>
          <a:xfrm>
            <a:off x="16222980" y="6779146"/>
            <a:ext cx="621792" cy="230858"/>
          </a:xfrm>
          <a:prstGeom prst="rect">
            <a:avLst/>
          </a:prstGeom>
        </p:spPr>
      </p:pic>
      <p:sp>
        <p:nvSpPr>
          <p:cNvPr id="154" name="Rectangle 153"/>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결론</a:t>
            </a:r>
          </a:p>
        </p:txBody>
      </p:sp>
      <p:sp>
        <p:nvSpPr>
          <p:cNvPr id="156" name="TextBox 155"/>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실패할 수도 있는 기술에 투자하는 것이, 불확실한 미래에 실패하지 않는 불변 전략입니다</a:t>
            </a:r>
          </a:p>
        </p:txBody>
      </p:sp>
      <p:sp>
        <p:nvSpPr>
          <p:cNvPr id="157" name="TextBox 156"/>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벤치마크: Micron ↔ Anthropic 전략적 계약(2026-06-22) · Palantir · OpenAI FDE(고객 상주, 명시적 대 실제 요구) · LMCache FDP 머지(PR #4016, 2026-08) · 추론 스택 지도(2026-09) · 로고는 식별 표시</a:t>
            </a:r>
          </a:p>
        </p:txBody>
      </p:sp>
      <p:sp>
        <p:nvSpPr>
          <p:cNvPr id="158" name="TextBox 157"/>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4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불확실성이 높은 미래에 대응하기 위한 고객 협력 전략</a:t>
            </a:r>
            <a:r>
              <a:rPr sz="1800" b="0">
                <a:solidFill>
                  <a:srgbClr val="555555"/>
                </a:solidFill>
                <a:latin typeface="Arial"/>
                <a:ea typeface="Arial"/>
              </a:rPr>
              <a:t>   8 / 8  참고 · 수요 전망</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eSSD 수요는 2030년까지 약 6배로 늘고,</a:t>
            </a:r>
          </a:p>
          <a:p>
            <a:pPr algn="l">
              <a:lnSpc>
                <a:spcPct val="105000"/>
              </a:lnSpc>
            </a:pPr>
            <a:r>
              <a:rPr sz="3200" b="1">
                <a:solidFill>
                  <a:srgbClr val="1A1A1A"/>
                </a:solidFill>
                <a:latin typeface="Arial"/>
                <a:ea typeface="Arial"/>
              </a:rPr>
              <a:t>가장 큰 몫은 AI 추론에서 나옵니다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139696"/>
            <a:ext cx="10424160"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eSSD 수요 (EB/년)</a:t>
            </a:r>
            <a:r>
              <a:rPr sz="1600" b="0">
                <a:solidFill>
                  <a:srgbClr val="555555"/>
                </a:solidFill>
                <a:latin typeface="Arial"/>
                <a:ea typeface="Arial"/>
              </a:rPr>
              <a:t>   막대 McKinsey 2024 기준 시나리오, 2025~2029는 보간(산술)</a:t>
            </a:r>
          </a:p>
        </p:txBody>
      </p:sp>
      <p:sp>
        <p:nvSpPr>
          <p:cNvPr id="7" name="Rectangle 6"/>
          <p:cNvSpPr/>
          <p:nvPr/>
        </p:nvSpPr>
        <p:spPr>
          <a:xfrm>
            <a:off x="1636776" y="7877555"/>
            <a:ext cx="7516367" cy="914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7735823"/>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0</a:t>
            </a:r>
          </a:p>
        </p:txBody>
      </p:sp>
      <p:sp>
        <p:nvSpPr>
          <p:cNvPr id="9" name="Rectangle 8"/>
          <p:cNvSpPr/>
          <p:nvPr/>
        </p:nvSpPr>
        <p:spPr>
          <a:xfrm>
            <a:off x="1636776" y="6256019"/>
            <a:ext cx="7516367"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6114287"/>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400</a:t>
            </a:r>
          </a:p>
        </p:txBody>
      </p:sp>
      <p:sp>
        <p:nvSpPr>
          <p:cNvPr id="11" name="Rectangle 10"/>
          <p:cNvSpPr/>
          <p:nvPr/>
        </p:nvSpPr>
        <p:spPr>
          <a:xfrm>
            <a:off x="1636776" y="4634484"/>
            <a:ext cx="7516367"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492752"/>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800</a:t>
            </a:r>
          </a:p>
        </p:txBody>
      </p:sp>
      <p:sp>
        <p:nvSpPr>
          <p:cNvPr id="13" name="Rectangle 12"/>
          <p:cNvSpPr/>
          <p:nvPr/>
        </p:nvSpPr>
        <p:spPr>
          <a:xfrm>
            <a:off x="1636776" y="3012948"/>
            <a:ext cx="7516367"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2871215"/>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1,200</a:t>
            </a:r>
          </a:p>
        </p:txBody>
      </p:sp>
      <p:sp>
        <p:nvSpPr>
          <p:cNvPr id="15" name="Rectangle 14"/>
          <p:cNvSpPr/>
          <p:nvPr/>
        </p:nvSpPr>
        <p:spPr>
          <a:xfrm>
            <a:off x="2692908" y="2743200"/>
            <a:ext cx="9144" cy="513892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52344" y="2706624"/>
            <a:ext cx="1097280" cy="27432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전망 →</a:t>
            </a:r>
          </a:p>
        </p:txBody>
      </p:sp>
      <p:sp>
        <p:nvSpPr>
          <p:cNvPr id="17" name="Rectangle 16"/>
          <p:cNvSpPr/>
          <p:nvPr/>
        </p:nvSpPr>
        <p:spPr>
          <a:xfrm>
            <a:off x="1847088" y="7201082"/>
            <a:ext cx="640080" cy="68104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47088" y="7172706"/>
            <a:ext cx="640080" cy="2837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47088" y="7148382"/>
            <a:ext cx="640080" cy="2432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72768" y="6819198"/>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181</a:t>
            </a:r>
          </a:p>
        </p:txBody>
      </p:sp>
      <p:sp>
        <p:nvSpPr>
          <p:cNvPr id="21" name="TextBox 20"/>
          <p:cNvSpPr txBox="1"/>
          <p:nvPr/>
        </p:nvSpPr>
        <p:spPr>
          <a:xfrm>
            <a:off x="1572768"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2024</a:t>
            </a:r>
          </a:p>
        </p:txBody>
      </p:sp>
      <p:sp>
        <p:nvSpPr>
          <p:cNvPr id="22" name="Rectangle 21"/>
          <p:cNvSpPr/>
          <p:nvPr/>
        </p:nvSpPr>
        <p:spPr>
          <a:xfrm>
            <a:off x="2907791" y="7064235"/>
            <a:ext cx="640080" cy="8178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1" y="7018236"/>
            <a:ext cx="640080" cy="45999"/>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07791" y="6968343"/>
            <a:ext cx="640080" cy="49893"/>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33472" y="6639159"/>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225</a:t>
            </a:r>
          </a:p>
        </p:txBody>
      </p:sp>
      <p:sp>
        <p:nvSpPr>
          <p:cNvPr id="26" name="TextBox 25"/>
          <p:cNvSpPr txBox="1"/>
          <p:nvPr/>
        </p:nvSpPr>
        <p:spPr>
          <a:xfrm>
            <a:off x="2633472"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2025</a:t>
            </a:r>
          </a:p>
        </p:txBody>
      </p:sp>
      <p:sp>
        <p:nvSpPr>
          <p:cNvPr id="27" name="Rectangle 26"/>
          <p:cNvSpPr/>
          <p:nvPr/>
        </p:nvSpPr>
        <p:spPr>
          <a:xfrm>
            <a:off x="3968496" y="6899890"/>
            <a:ext cx="640080" cy="98223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8496" y="6825326"/>
            <a:ext cx="640080" cy="7456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68496" y="6722980"/>
            <a:ext cx="640080" cy="102345"/>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94176" y="6393796"/>
            <a:ext cx="1188719" cy="292608"/>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286</a:t>
            </a:r>
          </a:p>
        </p:txBody>
      </p:sp>
      <p:sp>
        <p:nvSpPr>
          <p:cNvPr id="31" name="TextBox 30"/>
          <p:cNvSpPr txBox="1"/>
          <p:nvPr/>
        </p:nvSpPr>
        <p:spPr>
          <a:xfrm>
            <a:off x="3694176" y="7936992"/>
            <a:ext cx="1188719"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2026 올해</a:t>
            </a:r>
          </a:p>
        </p:txBody>
      </p:sp>
      <p:sp>
        <p:nvSpPr>
          <p:cNvPr id="32" name="Rectangle 31"/>
          <p:cNvSpPr/>
          <p:nvPr/>
        </p:nvSpPr>
        <p:spPr>
          <a:xfrm>
            <a:off x="5029200" y="6702523"/>
            <a:ext cx="640080" cy="11796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0" y="6581653"/>
            <a:ext cx="640080" cy="120869"/>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0" y="6371713"/>
            <a:ext cx="640080" cy="20994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6042529"/>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373</a:t>
            </a:r>
          </a:p>
        </p:txBody>
      </p:sp>
      <p:sp>
        <p:nvSpPr>
          <p:cNvPr id="36" name="TextBox 35"/>
          <p:cNvSpPr txBox="1"/>
          <p:nvPr/>
        </p:nvSpPr>
        <p:spPr>
          <a:xfrm>
            <a:off x="4754880"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2027</a:t>
            </a:r>
          </a:p>
        </p:txBody>
      </p:sp>
      <p:sp>
        <p:nvSpPr>
          <p:cNvPr id="37" name="Rectangle 36"/>
          <p:cNvSpPr/>
          <p:nvPr/>
        </p:nvSpPr>
        <p:spPr>
          <a:xfrm>
            <a:off x="6089904" y="6465497"/>
            <a:ext cx="640080" cy="141663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89904" y="6269566"/>
            <a:ext cx="640080" cy="195930"/>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89904" y="5838919"/>
            <a:ext cx="640080" cy="430647"/>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15584" y="5509735"/>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504</a:t>
            </a:r>
          </a:p>
        </p:txBody>
      </p:sp>
      <p:sp>
        <p:nvSpPr>
          <p:cNvPr id="41" name="TextBox 40"/>
          <p:cNvSpPr txBox="1"/>
          <p:nvPr/>
        </p:nvSpPr>
        <p:spPr>
          <a:xfrm>
            <a:off x="5815584"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2028</a:t>
            </a:r>
          </a:p>
        </p:txBody>
      </p:sp>
      <p:sp>
        <p:nvSpPr>
          <p:cNvPr id="42" name="Rectangle 41"/>
          <p:cNvSpPr/>
          <p:nvPr/>
        </p:nvSpPr>
        <p:spPr>
          <a:xfrm>
            <a:off x="7150608" y="6180843"/>
            <a:ext cx="640080" cy="17012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50608" y="5863239"/>
            <a:ext cx="640080" cy="31760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50608" y="4979858"/>
            <a:ext cx="640080" cy="883381"/>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76288" y="4650674"/>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716</a:t>
            </a:r>
          </a:p>
        </p:txBody>
      </p:sp>
      <p:sp>
        <p:nvSpPr>
          <p:cNvPr id="46" name="TextBox 45"/>
          <p:cNvSpPr txBox="1"/>
          <p:nvPr/>
        </p:nvSpPr>
        <p:spPr>
          <a:xfrm>
            <a:off x="6876288"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2029</a:t>
            </a:r>
          </a:p>
        </p:txBody>
      </p:sp>
      <p:sp>
        <p:nvSpPr>
          <p:cNvPr id="47" name="Rectangle 46"/>
          <p:cNvSpPr/>
          <p:nvPr/>
        </p:nvSpPr>
        <p:spPr>
          <a:xfrm>
            <a:off x="8211311" y="5838992"/>
            <a:ext cx="640080" cy="204313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211311" y="5324154"/>
            <a:ext cx="640080" cy="514837"/>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11311" y="3512088"/>
            <a:ext cx="640080" cy="181206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36991" y="3182904"/>
            <a:ext cx="1188719" cy="292608"/>
          </a:xfrm>
          <a:prstGeom prst="rect">
            <a:avLst/>
          </a:prstGeom>
          <a:noFill/>
        </p:spPr>
        <p:txBody>
          <a:bodyPr wrap="square" anchor="ctr" lIns="0" rIns="0" tIns="0" bIns="0">
            <a:spAutoFit/>
          </a:bodyPr>
          <a:lstStyle/>
          <a:p>
            <a:pPr algn="ctr">
              <a:lnSpc>
                <a:spcPct val="110000"/>
              </a:lnSpc>
            </a:pPr>
            <a:r>
              <a:rPr sz="1800" b="1">
                <a:solidFill>
                  <a:srgbClr val="3C4FA5"/>
                </a:solidFill>
                <a:latin typeface="Arial"/>
                <a:ea typeface="Arial"/>
              </a:rPr>
              <a:t>1,078</a:t>
            </a:r>
          </a:p>
        </p:txBody>
      </p:sp>
      <p:sp>
        <p:nvSpPr>
          <p:cNvPr id="51" name="TextBox 50"/>
          <p:cNvSpPr txBox="1"/>
          <p:nvPr/>
        </p:nvSpPr>
        <p:spPr>
          <a:xfrm>
            <a:off x="7936991" y="7936992"/>
            <a:ext cx="1188719"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sp>
        <p:nvSpPr>
          <p:cNvPr id="52" name="TextBox 51"/>
          <p:cNvSpPr txBox="1"/>
          <p:nvPr/>
        </p:nvSpPr>
        <p:spPr>
          <a:xfrm>
            <a:off x="8979407" y="6567952"/>
            <a:ext cx="2194560" cy="585216"/>
          </a:xfrm>
          <a:prstGeom prst="rect">
            <a:avLst/>
          </a:prstGeom>
          <a:noFill/>
        </p:spPr>
        <p:txBody>
          <a:bodyPr wrap="square" anchor="ctr" lIns="0" rIns="0" tIns="0" bIns="0">
            <a:spAutoFit/>
          </a:bodyPr>
          <a:lstStyle/>
          <a:p>
            <a:pPr algn="l">
              <a:lnSpc>
                <a:spcPct val="100000"/>
              </a:lnSpc>
            </a:pPr>
            <a:r>
              <a:rPr sz="1800" b="1">
                <a:solidFill>
                  <a:srgbClr val="1A1A1A"/>
                </a:solidFill>
                <a:latin typeface="Arial"/>
                <a:ea typeface="Arial"/>
              </a:rPr>
              <a:t>범용 · 엔터프라이즈</a:t>
            </a:r>
          </a:p>
          <a:p>
            <a:pPr algn="l">
              <a:lnSpc>
                <a:spcPct val="100000"/>
              </a:lnSpc>
            </a:pPr>
            <a:r>
              <a:rPr sz="1600" b="0">
                <a:solidFill>
                  <a:srgbClr val="555555"/>
                </a:solidFill>
                <a:latin typeface="Arial"/>
                <a:ea typeface="Arial"/>
              </a:rPr>
              <a:t>504 (산술)</a:t>
            </a:r>
          </a:p>
        </p:txBody>
      </p:sp>
      <p:sp>
        <p:nvSpPr>
          <p:cNvPr id="53" name="TextBox 52"/>
          <p:cNvSpPr txBox="1"/>
          <p:nvPr/>
        </p:nvSpPr>
        <p:spPr>
          <a:xfrm>
            <a:off x="8979407" y="5288965"/>
            <a:ext cx="2194560" cy="585216"/>
          </a:xfrm>
          <a:prstGeom prst="rect">
            <a:avLst/>
          </a:prstGeom>
          <a:noFill/>
        </p:spPr>
        <p:txBody>
          <a:bodyPr wrap="square" anchor="ctr" lIns="0" rIns="0" tIns="0" bIns="0">
            <a:spAutoFit/>
          </a:bodyPr>
          <a:lstStyle/>
          <a:p>
            <a:pPr algn="l">
              <a:lnSpc>
                <a:spcPct val="100000"/>
              </a:lnSpc>
            </a:pPr>
            <a:r>
              <a:rPr sz="1800" b="1">
                <a:solidFill>
                  <a:srgbClr val="1A1A1A"/>
                </a:solidFill>
                <a:latin typeface="Arial"/>
                <a:ea typeface="Arial"/>
              </a:rPr>
              <a:t>AI 학습</a:t>
            </a:r>
          </a:p>
          <a:p>
            <a:pPr algn="l">
              <a:lnSpc>
                <a:spcPct val="100000"/>
              </a:lnSpc>
            </a:pPr>
            <a:r>
              <a:rPr sz="1600" b="0">
                <a:solidFill>
                  <a:srgbClr val="555555"/>
                </a:solidFill>
                <a:latin typeface="Arial"/>
                <a:ea typeface="Arial"/>
              </a:rPr>
              <a:t>127</a:t>
            </a:r>
          </a:p>
        </p:txBody>
      </p:sp>
      <p:sp>
        <p:nvSpPr>
          <p:cNvPr id="54" name="TextBox 53"/>
          <p:cNvSpPr txBox="1"/>
          <p:nvPr/>
        </p:nvSpPr>
        <p:spPr>
          <a:xfrm>
            <a:off x="8979407" y="4125513"/>
            <a:ext cx="2194560" cy="585216"/>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AI 추론</a:t>
            </a:r>
          </a:p>
          <a:p>
            <a:pPr algn="l">
              <a:lnSpc>
                <a:spcPct val="100000"/>
              </a:lnSpc>
            </a:pPr>
            <a:r>
              <a:rPr sz="1600" b="1">
                <a:solidFill>
                  <a:srgbClr val="3C4FA5"/>
                </a:solidFill>
                <a:latin typeface="Arial"/>
                <a:ea typeface="Arial"/>
              </a:rPr>
              <a:t>447</a:t>
            </a:r>
          </a:p>
        </p:txBody>
      </p:sp>
      <p:cxnSp>
        <p:nvCxnSpPr>
          <p:cNvPr id="55" name="Connector 54"/>
          <p:cNvCxnSpPr/>
          <p:nvPr/>
        </p:nvCxnSpPr>
        <p:spPr>
          <a:xfrm>
            <a:off x="6409944" y="4233672"/>
            <a:ext cx="1653589" cy="0"/>
          </a:xfrm>
          <a:prstGeom prst="line">
            <a:avLst/>
          </a:prstGeom>
          <a:ln w="22225">
            <a:solidFill>
              <a:srgbClr val="677ECD"/>
            </a:solidFill>
            <a:prstDash val="dash"/>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8008669" y="4178808"/>
            <a:ext cx="109728" cy="109728"/>
          </a:xfrm>
          <a:prstGeom prst="ellipse">
            <a:avLst/>
          </a:prstGeom>
          <a:solidFill>
            <a:srgbClr val="FFFFFF"/>
          </a:solidFill>
          <a:ln w="19050">
            <a:solidFill>
              <a:srgbClr val="677E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iamond 56"/>
          <p:cNvSpPr/>
          <p:nvPr/>
        </p:nvSpPr>
        <p:spPr>
          <a:xfrm>
            <a:off x="6281928" y="4105656"/>
            <a:ext cx="256032" cy="256032"/>
          </a:xfrm>
          <a:prstGeom prst="diamond">
            <a:avLst/>
          </a:prstGeom>
          <a:solidFill>
            <a:srgbClr val="677EC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06824" y="4078224"/>
            <a:ext cx="1920240" cy="310896"/>
          </a:xfrm>
          <a:prstGeom prst="rect">
            <a:avLst/>
          </a:prstGeom>
          <a:noFill/>
        </p:spPr>
        <p:txBody>
          <a:bodyPr wrap="square" anchor="ctr" lIns="0" rIns="0" tIns="0" bIns="0">
            <a:spAutoFit/>
          </a:bodyPr>
          <a:lstStyle/>
          <a:p>
            <a:pPr algn="r">
              <a:lnSpc>
                <a:spcPct val="110000"/>
              </a:lnSpc>
            </a:pPr>
            <a:r>
              <a:rPr sz="1800" b="1">
                <a:solidFill>
                  <a:srgbClr val="677ECD"/>
                </a:solidFill>
                <a:latin typeface="Arial"/>
                <a:ea typeface="Arial"/>
              </a:rPr>
              <a:t>약 900</a:t>
            </a:r>
          </a:p>
        </p:txBody>
      </p:sp>
      <p:sp>
        <p:nvSpPr>
          <p:cNvPr id="59" name="TextBox 58"/>
          <p:cNvSpPr txBox="1"/>
          <p:nvPr/>
        </p:nvSpPr>
        <p:spPr>
          <a:xfrm>
            <a:off x="6592824" y="3849624"/>
            <a:ext cx="1470709" cy="292608"/>
          </a:xfrm>
          <a:prstGeom prst="rect">
            <a:avLst/>
          </a:prstGeom>
          <a:noFill/>
        </p:spPr>
        <p:txBody>
          <a:bodyPr wrap="square" anchor="ctr" lIns="0" rIns="0" tIns="0" bIns="0">
            <a:spAutoFit/>
          </a:bodyPr>
          <a:lstStyle/>
          <a:p>
            <a:pPr algn="ctr">
              <a:lnSpc>
                <a:spcPct val="110000"/>
              </a:lnSpc>
            </a:pPr>
            <a:r>
              <a:rPr sz="1600" b="1">
                <a:solidFill>
                  <a:srgbClr val="677ECD"/>
                </a:solidFill>
                <a:latin typeface="Arial"/>
                <a:ea typeface="Arial"/>
              </a:rPr>
              <a:t>약 1.5년 앞당김</a:t>
            </a:r>
          </a:p>
        </p:txBody>
      </p:sp>
      <p:sp>
        <p:nvSpPr>
          <p:cNvPr id="60" name="TextBox 59"/>
          <p:cNvSpPr txBox="1"/>
          <p:nvPr/>
        </p:nvSpPr>
        <p:spPr>
          <a:xfrm>
            <a:off x="2807208" y="3098596"/>
            <a:ext cx="4206240" cy="585216"/>
          </a:xfrm>
          <a:prstGeom prst="rect">
            <a:avLst/>
          </a:prstGeom>
          <a:noFill/>
        </p:spPr>
        <p:txBody>
          <a:bodyPr wrap="square" anchor="t" lIns="0" rIns="0" tIns="0" bIns="0">
            <a:spAutoFit/>
          </a:bodyPr>
          <a:lstStyle/>
          <a:p>
            <a:pPr algn="l">
              <a:lnSpc>
                <a:spcPct val="100000"/>
              </a:lnSpc>
            </a:pPr>
            <a:r>
              <a:rPr sz="1800" b="1">
                <a:solidFill>
                  <a:srgbClr val="677ECD"/>
                </a:solidFill>
                <a:latin typeface="Arial"/>
                <a:ea typeface="Arial"/>
              </a:rPr>
              <a:t>◆ 2026년 최신 전망 (2028)</a:t>
            </a:r>
          </a:p>
          <a:p>
            <a:pPr algn="l">
              <a:lnSpc>
                <a:spcPct val="100000"/>
              </a:lnSpc>
            </a:pPr>
            <a:r>
              <a:rPr sz="1600" b="0">
                <a:solidFill>
                  <a:srgbClr val="555555"/>
                </a:solidFill>
                <a:latin typeface="Arial"/>
                <a:ea typeface="Arial"/>
              </a:rPr>
              <a:t>JPM · Kioxia, 정의 차이로 방향만 비교</a:t>
            </a:r>
          </a:p>
        </p:txBody>
      </p:sp>
      <p:sp>
        <p:nvSpPr>
          <p:cNvPr id="61" name="TextBox 60"/>
          <p:cNvSpPr txBox="1"/>
          <p:nvPr/>
        </p:nvSpPr>
        <p:spPr>
          <a:xfrm>
            <a:off x="12198096" y="2139696"/>
            <a:ext cx="5367528"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수요별 비중</a:t>
            </a:r>
            <a:r>
              <a:rPr sz="1600" b="0">
                <a:solidFill>
                  <a:srgbClr val="555555"/>
                </a:solidFill>
                <a:latin typeface="Arial"/>
                <a:ea typeface="Arial"/>
              </a:rPr>
              <a:t>   2026 → 2030</a:t>
            </a:r>
          </a:p>
        </p:txBody>
      </p:sp>
      <p:sp>
        <p:nvSpPr>
          <p:cNvPr id="62" name="Rectangle 61"/>
          <p:cNvSpPr/>
          <p:nvPr/>
        </p:nvSpPr>
        <p:spPr>
          <a:xfrm>
            <a:off x="12289536" y="3747211"/>
            <a:ext cx="914400" cy="4134916"/>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2289536" y="5659221"/>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85%</a:t>
            </a:r>
          </a:p>
        </p:txBody>
      </p:sp>
      <p:sp>
        <p:nvSpPr>
          <p:cNvPr id="64" name="Rectangle 63"/>
          <p:cNvSpPr/>
          <p:nvPr/>
        </p:nvSpPr>
        <p:spPr>
          <a:xfrm>
            <a:off x="12289536" y="3455334"/>
            <a:ext cx="914400" cy="291876"/>
          </a:xfrm>
          <a:prstGeom prst="rect">
            <a:avLst/>
          </a:prstGeom>
          <a:solidFill>
            <a:srgbClr val="C0CA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2289536" y="3445824"/>
            <a:ext cx="91440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6%</a:t>
            </a:r>
          </a:p>
        </p:txBody>
      </p:sp>
      <p:sp>
        <p:nvSpPr>
          <p:cNvPr id="66" name="Rectangle 65"/>
          <p:cNvSpPr/>
          <p:nvPr/>
        </p:nvSpPr>
        <p:spPr>
          <a:xfrm>
            <a:off x="12289536" y="3017520"/>
            <a:ext cx="914400" cy="437814"/>
          </a:xfrm>
          <a:prstGeom prst="rect">
            <a:avLst/>
          </a:prstGeom>
          <a:solidFill>
            <a:srgbClr val="3C4F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2289536" y="3080979"/>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9%</a:t>
            </a:r>
          </a:p>
        </p:txBody>
      </p:sp>
      <p:sp>
        <p:nvSpPr>
          <p:cNvPr id="68" name="TextBox 67"/>
          <p:cNvSpPr txBox="1"/>
          <p:nvPr/>
        </p:nvSpPr>
        <p:spPr>
          <a:xfrm>
            <a:off x="12015215" y="7936992"/>
            <a:ext cx="1463040"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2026 올해</a:t>
            </a:r>
          </a:p>
        </p:txBody>
      </p:sp>
      <p:sp>
        <p:nvSpPr>
          <p:cNvPr id="69" name="Rectangle 68"/>
          <p:cNvSpPr/>
          <p:nvPr/>
        </p:nvSpPr>
        <p:spPr>
          <a:xfrm>
            <a:off x="14118336" y="5595762"/>
            <a:ext cx="914400" cy="2286365"/>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4118336" y="6583497"/>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47%</a:t>
            </a:r>
          </a:p>
        </p:txBody>
      </p:sp>
      <p:sp>
        <p:nvSpPr>
          <p:cNvPr id="71" name="Rectangle 70"/>
          <p:cNvSpPr/>
          <p:nvPr/>
        </p:nvSpPr>
        <p:spPr>
          <a:xfrm>
            <a:off x="14118336" y="5012009"/>
            <a:ext cx="914400" cy="583752"/>
          </a:xfrm>
          <a:prstGeom prst="rect">
            <a:avLst/>
          </a:prstGeom>
          <a:solidFill>
            <a:srgbClr val="C0CA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118336" y="5148437"/>
            <a:ext cx="91440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12%</a:t>
            </a:r>
          </a:p>
        </p:txBody>
      </p:sp>
      <p:sp>
        <p:nvSpPr>
          <p:cNvPr id="73" name="Rectangle 72"/>
          <p:cNvSpPr/>
          <p:nvPr/>
        </p:nvSpPr>
        <p:spPr>
          <a:xfrm>
            <a:off x="14118336" y="3017520"/>
            <a:ext cx="914400" cy="1994489"/>
          </a:xfrm>
          <a:prstGeom prst="rect">
            <a:avLst/>
          </a:prstGeom>
          <a:solidFill>
            <a:srgbClr val="3C4F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4118336" y="3859316"/>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41%</a:t>
            </a:r>
          </a:p>
        </p:txBody>
      </p:sp>
      <p:sp>
        <p:nvSpPr>
          <p:cNvPr id="75" name="TextBox 74"/>
          <p:cNvSpPr txBox="1"/>
          <p:nvPr/>
        </p:nvSpPr>
        <p:spPr>
          <a:xfrm>
            <a:off x="13844015" y="7936992"/>
            <a:ext cx="1463040"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cxnSp>
        <p:nvCxnSpPr>
          <p:cNvPr id="76" name="Connector 75"/>
          <p:cNvCxnSpPr/>
          <p:nvPr/>
        </p:nvCxnSpPr>
        <p:spPr>
          <a:xfrm>
            <a:off x="13203936" y="3747211"/>
            <a:ext cx="914400" cy="1848551"/>
          </a:xfrm>
          <a:prstGeom prst="line">
            <a:avLst/>
          </a:prstGeom>
          <a:ln w="9525">
            <a:solidFill>
              <a:srgbClr val="8A8A8A"/>
            </a:solidFill>
            <a:prstDash val="dash"/>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203936" y="3455334"/>
            <a:ext cx="914400" cy="1556675"/>
          </a:xfrm>
          <a:prstGeom prst="line">
            <a:avLst/>
          </a:prstGeom>
          <a:ln w="9525">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5179039" y="6318321"/>
            <a:ext cx="2386584" cy="841248"/>
          </a:xfrm>
          <a:prstGeom prst="rect">
            <a:avLst/>
          </a:prstGeom>
          <a:noFill/>
        </p:spPr>
        <p:txBody>
          <a:bodyPr wrap="square" anchor="ctr" lIns="0" rIns="0" tIns="0" bIns="0">
            <a:spAutoFit/>
          </a:bodyPr>
          <a:lstStyle/>
          <a:p>
            <a:pPr algn="l">
              <a:lnSpc>
                <a:spcPct val="100000"/>
              </a:lnSpc>
            </a:pPr>
            <a:r>
              <a:rPr sz="1600" b="0">
                <a:solidFill>
                  <a:srgbClr val="555555"/>
                </a:solidFill>
                <a:latin typeface="Arial"/>
                <a:ea typeface="Arial"/>
              </a:rPr>
              <a:t>범용 · 엔터프라이즈</a:t>
            </a:r>
          </a:p>
          <a:p>
            <a:pPr algn="l">
              <a:lnSpc>
                <a:spcPct val="100000"/>
              </a:lnSpc>
            </a:pPr>
            <a:r>
              <a:rPr sz="2600" b="1">
                <a:solidFill>
                  <a:srgbClr val="1A1A1A"/>
                </a:solidFill>
                <a:latin typeface="Arial"/>
                <a:ea typeface="Arial"/>
              </a:rPr>
              <a:t>-38%p</a:t>
            </a:r>
            <a:r>
              <a:rPr sz="1600" b="0">
                <a:solidFill>
                  <a:srgbClr val="555555"/>
                </a:solidFill>
                <a:latin typeface="Arial"/>
                <a:ea typeface="Arial"/>
              </a:rPr>
              <a:t>  85 → 47%</a:t>
            </a:r>
          </a:p>
        </p:txBody>
      </p:sp>
      <p:sp>
        <p:nvSpPr>
          <p:cNvPr id="79" name="TextBox 78"/>
          <p:cNvSpPr txBox="1"/>
          <p:nvPr/>
        </p:nvSpPr>
        <p:spPr>
          <a:xfrm>
            <a:off x="15179039" y="4883261"/>
            <a:ext cx="2386584" cy="841248"/>
          </a:xfrm>
          <a:prstGeom prst="rect">
            <a:avLst/>
          </a:prstGeom>
          <a:noFill/>
        </p:spPr>
        <p:txBody>
          <a:bodyPr wrap="square" anchor="ctr" lIns="0" rIns="0" tIns="0" bIns="0">
            <a:spAutoFit/>
          </a:bodyPr>
          <a:lstStyle/>
          <a:p>
            <a:pPr algn="l">
              <a:lnSpc>
                <a:spcPct val="100000"/>
              </a:lnSpc>
            </a:pPr>
            <a:r>
              <a:rPr sz="1600" b="0">
                <a:solidFill>
                  <a:srgbClr val="555555"/>
                </a:solidFill>
                <a:latin typeface="Arial"/>
                <a:ea typeface="Arial"/>
              </a:rPr>
              <a:t>AI 학습</a:t>
            </a:r>
          </a:p>
          <a:p>
            <a:pPr algn="l">
              <a:lnSpc>
                <a:spcPct val="100000"/>
              </a:lnSpc>
            </a:pPr>
            <a:r>
              <a:rPr sz="2600" b="1">
                <a:solidFill>
                  <a:srgbClr val="1A1A1A"/>
                </a:solidFill>
                <a:latin typeface="Arial"/>
                <a:ea typeface="Arial"/>
              </a:rPr>
              <a:t>+6%p</a:t>
            </a:r>
            <a:r>
              <a:rPr sz="1600" b="0">
                <a:solidFill>
                  <a:srgbClr val="555555"/>
                </a:solidFill>
                <a:latin typeface="Arial"/>
                <a:ea typeface="Arial"/>
              </a:rPr>
              <a:t>  6 → 12%</a:t>
            </a:r>
          </a:p>
        </p:txBody>
      </p:sp>
      <p:sp>
        <p:nvSpPr>
          <p:cNvPr id="80" name="TextBox 79"/>
          <p:cNvSpPr txBox="1"/>
          <p:nvPr/>
        </p:nvSpPr>
        <p:spPr>
          <a:xfrm>
            <a:off x="15179039" y="3594140"/>
            <a:ext cx="2386584" cy="841248"/>
          </a:xfrm>
          <a:prstGeom prst="rect">
            <a:avLst/>
          </a:prstGeom>
          <a:noFill/>
        </p:spPr>
        <p:txBody>
          <a:bodyPr wrap="square" anchor="ctr" lIns="0" rIns="0" tIns="0" bIns="0">
            <a:spAutoFit/>
          </a:bodyPr>
          <a:lstStyle/>
          <a:p>
            <a:pPr algn="l">
              <a:lnSpc>
                <a:spcPct val="100000"/>
              </a:lnSpc>
            </a:pPr>
            <a:r>
              <a:rPr sz="1600" b="0">
                <a:solidFill>
                  <a:srgbClr val="555555"/>
                </a:solidFill>
                <a:latin typeface="Arial"/>
                <a:ea typeface="Arial"/>
              </a:rPr>
              <a:t>AI 추론</a:t>
            </a:r>
          </a:p>
          <a:p>
            <a:pPr algn="l">
              <a:lnSpc>
                <a:spcPct val="100000"/>
              </a:lnSpc>
            </a:pPr>
            <a:r>
              <a:rPr sz="2600" b="1">
                <a:solidFill>
                  <a:srgbClr val="3C4FA5"/>
                </a:solidFill>
                <a:latin typeface="Arial"/>
                <a:ea typeface="Arial"/>
              </a:rPr>
              <a:t>+32%p</a:t>
            </a:r>
            <a:r>
              <a:rPr sz="1600" b="0">
                <a:solidFill>
                  <a:srgbClr val="555555"/>
                </a:solidFill>
                <a:latin typeface="Arial"/>
                <a:ea typeface="Arial"/>
              </a:rPr>
              <a:t>  9 → 41%</a:t>
            </a:r>
          </a:p>
        </p:txBody>
      </p:sp>
      <p:sp>
        <p:nvSpPr>
          <p:cNvPr id="81" name="TextBox 80"/>
          <p:cNvSpPr txBox="1"/>
          <p:nvPr/>
        </p:nvSpPr>
        <p:spPr>
          <a:xfrm>
            <a:off x="12198096" y="8211312"/>
            <a:ext cx="5367528"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에이전트는 별도 전망 없음 (추론 · 범용에 포함)</a:t>
            </a:r>
          </a:p>
        </p:txBody>
      </p:sp>
      <p:sp>
        <p:nvSpPr>
          <p:cNvPr id="82" name="Rectangle 81"/>
          <p:cNvSpPr/>
          <p:nvPr/>
        </p:nvSpPr>
        <p:spPr>
          <a:xfrm>
            <a:off x="722376" y="8631936"/>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참고</a:t>
            </a:r>
          </a:p>
        </p:txBody>
      </p:sp>
      <p:sp>
        <p:nvSpPr>
          <p:cNvPr id="84" name="TextBox 83"/>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2030년 AI 추론은 eSSD 수요의 41%로, 범용과 비슷한 비중이 됩니다</a:t>
            </a:r>
          </a:p>
        </p:txBody>
      </p:sp>
      <p:sp>
        <p:nvSpPr>
          <p:cNvPr id="85" name="TextBox 84"/>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McKinsey(2024-12, 범용 = 총량 1,078 − 학습 − 추론 산술, 2025~29 연평균 보간 산술, 2026 비중도 보간 기준) · Kioxia(2026-06, TechInsights 인용 DC 플래시) · JPM(2026-01) · 기관마다 정의 다름, 모두 검색 확인</a:t>
            </a:r>
          </a:p>
        </p:txBody>
      </p:sp>
      <p:sp>
        <p:nvSpPr>
          <p:cNvPr id="86" name="TextBox 85"/>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