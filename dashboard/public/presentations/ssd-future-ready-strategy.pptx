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63" r:id="rId15"/>
    <p:sldId id="259" r:id="rId11"/>
    <p:sldId id="260" r:id="rId12"/>
    <p:sldId id="261" r:id="rId13"/>
    <p:sldId id="264" r:id="rId1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지금의 수요와 삼성의 대응 현황입니다. 왼쪽 HBM은 교훈입니다. 삼성 점유율이 2022년 40퍼센트에서 2025년 2분기 17퍼센트로 내려왔습니다. 하나의 수요를 늦게 읽으면 첫 호황을 놓칩니다. 그래서 데이터센터 응용 네 가지를 SSD 요구로 비교했습니다. 범용 클라우드는 여러 VM이 SSD를 나눠 쓰므로 QoS와 격리, AI 학습은 데이터 로딩 대역과 체크포인트, 에이전트는 사용자마다 VM 디스크를 두므로 용량과 TB당 비용이 요구입니다. AI 추론에서 SSD는 GPU HBM과 CPU DRAM 아래의 메모리 계층입니다. KV 캐시가 넘치면 SSD로 내려가고, 다시 쓸 때 올라옵니다. 그래서 세 가지를 한꺼번에 요구합니다. 읽기 대역은 70B 모델 128K 토큰의 KV를 1초 안에 되살리려면 GPU당 약 5.4기가바이트 매초, 꼬리 지연은 첫 토큰 p99 450밀리초 목표, 쓰기 내구는 KV 계층 실측 3.2 DWPD입니다. 가운데는 삼성 포트폴리오의 대응 현황입니다. 고내구 TLC PM1755는 쓰기 많은 KV, PCIe 6.0 PM1763은 학습 데이터 로딩, PCIe 5.0 PM1753은 VM과 DB, 그리고 NVIDIA CMX KV 계층, QLC BM1743과 BM1773은 객체와 사용자 VM 디스크를 맡습니다. 점선은 적합하지만 아직 내세우지 않은 용도입니다. 맨 아래는 TechInsights 3분기 전망입니다. 추론 비중이 2025년 31퍼센트에서 2030년 79퍼센트가 됩니다. [클릭] 추론 카드, 추론 열 포트폴리오, 추론 비중이 한 줄로 묶입니다. 수요는 추론으로 몰리고, 추론은 대역, 꼬리 지연, 내구를 한꺼번에 요구합니다. 그래서 다음 장부터 추론에 집중합니다.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추론을 네 가지 수요로 나눠, 요구와 핵심 기술을 연결한 것입니다. 모델 가중치는 로딩 순간의 읽기 대역과 용량, RAG와 벡터 DB는 작은 랜덤 읽기의 꼬리 지연과 용량, KV 캐시 오프로드는 대역, 꼬리 지연, DWPD 모두, 에이전트 메모리는 용량과 격리, 보안이 핵심입니다. 오른쪽 기술 칩의 진하기는 고객 협력의 깊이입니다. 가장 진한 FDP와 Mixed Media는 고객 워크로드에서 최적화까지 함께 해야 하고, 중간인 Large Mapping, Multi-Tenant QoS, Confidential은 고객 시스템 개발이 필요하며, 가장 연한 Fault Tolerant는 SSD 안에서 해결합니다. 네 가지 수요 모두 고객 협력이 필요하고, 세 가지는 최적화까지 함께 해야 합니다. 예를 들어 PM9D3a에 FDP를 적용한 LMCache KV 실험에서 WAF가 2.6에서 1.4로 줄었는데, 고객의 KV 관리자와 맞물려야 나오는 효과입니다. 아래 띠는 여섯 기술이 하는 일을 그린 것입니다. [클릭] FDP, Mixed Media, Large Mapping이 강조됩니다. 추론 수요에 가장 많이 걸리는 세 기술이고, 다음 장에서 이 세 기술로 무엇이 좋아지는지 말씀드리겠습니다. 결론은 AI 추론 수요에 대응하려면 고객과의 협업이 필수라는 것입니다. 매핑과 협력 단계는 과제팀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요구의 변화와, 그에 대비한 포트폴리오입니다. 맨 위 띠처럼 SSD의 차별화 요구는 성능, 전력 효율, VM 단위 QoS를 거쳐, AI 시대에는 예측 가능한 QoS, 고용량, 고내구로 바뀌고 있습니다. 세 기술이 겨냥하는 것은 QLC 고용량과 고객 워크로드에 맞춘 내구성입니다. 시기 구분은 과제팀 정리입니다. 1번은 원리입니다. GC가 일어나면 읽기가 기다려 지연 스파이크가 생깁니다. Mixed Media는 GC 빈도를, Large Mapping은 GC 횟수를, FDP는 GC 시간을 줄입니다. GC가 드물고 짧아지면 지연이 예측 가능해집니다. FDP의 원리는 오른쪽 위 1분 영상 버튼으로 바로 보여 드릴 수 있습니다. 2번은 결과입니다. Meta CacheLib에 FDP를 적용하자 WAF가 3.22에서 1.03으로 68퍼센트, PM9D3a RocksDB에서 p99.9 꼬리 지연이 55퍼센트 줄었습니다. WAF가 SSD만으로 3 근처에 머문 이유는 참고 6장에 있고, 상자를 누르면 그 장으로 갑니다. 꼬리 지연 측정은 TLC 결과라는 한계가 있습니다. 3번은 포트폴리오입니다. 바닥은 정격 DWPD와 용량, 높이는 꼬리 지연입니다. WAF가 3에서 1이 되면 정격 DWPD는 약 3배가 됩니다. 과제팀 산술입니다. [클릭] 네 제품군이 한꺼번에 넓어집니다. QLC는 0.3에서 1 DWPD로 TLC가 맡던 KV 오프로드까지, 고성능 TLC는 1에서 3으로 쓰기 많은 KV까지, 고내구 TLC는 3에서 9로 초고DWPD 입구까지, SLC급은 30에서 100 근처까지 갑니다. 초고DWPD 요구가 오면 TLC와 SLC급 가운데 고를 수 있습니다. 대비한 기술이 있어야 미래 수요에 능동적으로 대응하는 포트폴리오를 완성할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WAF가 SSD만으로는 3 근처에 머문 이유입니다. 첫째 칸, NAND에서 SSD로 넘어올 때는 셀 오류율이 약 100만 배 나빠졌지만 컨트롤러 ECC가 약 60배 강해져 SSD 안에서 해결됐습니다. 둘째 칸, SSD 혼자 핫 콜드 추정, 스트림 분리, IO 결정성을 더했지만 실제 워크로드에서 WAF는 약 3에 머물렀습니다. 데이터가 언제 지워지는지는 호스트만 알기 때문입니다. 아래 점도표가 그 결과입니다. 6개 업체 226개 등급의 정격 DWPD 중앙값이 2008년에서 2014년 9.6에서 2019년 이후 1로 내려왔고, QLC는 0.2에서 0.6입니다. 셀이 견디는 쓰기가 SLC에서 QLC로 약 100배 줄었기 때문입니다. 반면 고객 캐시 계층은 하루 3에서 7.2회를 씁니다. 셋째 칸이 해법입니다. 삼성 엔지니어가 Meta CacheLib에 FDP 배치를 구현해 WAF를 3.22에서 1.03으로 낮췄습니다. Google, Alibaba, AWS도 이미 자기 시스템에 맞춰 SSD를 직접 설계합니다.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QLC가 TLC 수요로 들어가는 사업 기회입니다. 2030년 eSSD 약 1,500엑사바이트 가운데 지금 경로의 QLC는 약 636엑사바이트, 42퍼센트입니다. WAF를 낮춰 QLC를 1 DWPD로 올리면 세 몫이 더해집니다. 조달 규격 때문에 TLC를 쓰던 내구 규격 약 192엑사바이트, 관행과 가격 약 64엑사바이트, 꼬리 지연을 극복해 가져올 성능 수요 일부 63에서 125엑사바이트입니다. 그러면 QLC는 955에서 1,017엑사바이트, eSSD의 63에서 68퍼센트까지 넓어집니다. 기술은 단기에 Mixed Media, 중장기에 FDP입니다. TLC 분할 비율은 과제팀 가정입니다.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8장은 보안 기회입니다. 소버린 AI 시장은 2030년까지 약 3배로 커지고, AI를 자기 데이터센터에서 직접 돌리는 기업은 2025년 약 2퍼센트에서 2028년 20퍼센트 이상이 됩니다. 온프렘 AI 데이터센터에는 모델 제공자의 가중치와 기업의 민감 데이터가 함께 놓이므로 보안이 핵심이고, 설문에서도 소버니티와 프라이버시가 AI 과제 지연의 1위 요인입니다. 설문 상당수는 벤더 후원입니다. 가중치 보호는 TEE 안에서 푸는 구조라 SSD 혼자 지킬 수 없고, SSD는 고객의 신뢰 체계에 들어가야 합니다. 기밀 VM 직결 TDISP는 PM1763이 발표했고, 키 관리 표준 OCP L.O.C.K.는 삼성이 공저했습니다. 반면 Dell 서버에서 PM9D3a가 SPDM 미지원으로 기능이 실패한 사례도 있습니다. 표준만으로는 부족하고, 고객과 OEM의 키와 증명 체계에 함께 들어가야 팔립니다.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세 기술의 효과는 고객 시스템 안에서 나오므로, 전략 고객과 계약, 역량, 사람으로 함께 설계합니다. 첫째 계약입니다. 지금의 Multi-Year Deal은 수량과 가격만 약속합니다. Micron은 Anthropic과의 전략적 계약에서 다년 공급 위에 공동 설계와 운영 통합을 묶었습니다. 우리도 MYD 위에 기술 협력을 쌓겠습니다. 둘째 역량입니다. 추론 시스템을 여섯 층으로 보면, 삼성은 NAND와 SSD 펌웨어가 강점이고, KV 캐시 관리자, 전송 I/O, 커널에는 LMCache FDP 머지, xNVMe 같은 일부 기여가 있으며, 추론 엔진은 비어 있습니다. 핵심은 데이터의 수명 정보가 KV 캐시 관리자 층에 있는데, 그것을 SSD 배치로 내려보내는 경로가 아직 없다는 점입니다. 3장의 개선은 이 경로가 있어야 나오므로, 스택 전체를 읽고 이 경로를 고객과 함께 만드는 것이 역량입니다. 아래 화두도 드립니다. 고객 관계를 경영진과 영업에서 엔지니어와 엔지니어 사이까지 넓힐 준비가 되어 있는지입니다. 셋째 사람입니다. 스펙 문서로는 명시된 요구만 옵니다. Palantir와 OpenAI의 FDE처럼 삼성 엔지니어가 고객 AI 데이터센터 안에서 워크로드 측정과 분석, 호스트 소프트웨어 스택 최적화와 평가, 차세대 제품 기술 교류를 합니다. 누가 이 일을 하고 누구와 시작할지는 다음 장에서 말씀드리겠습니다. 실패할 수도 있는 기술에 투자하는 것이, 불확실한 미래에 실패하지 않는 불변 전략입니다.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실행안입니다. 원칙은 하나, 고객 한 곳에 Pod 하나입니다. 왼쪽은 Pod가 고객 데이터센터 안에서 일하는 모습입니다. Palantir처럼 두 직무를 짝으로 둡니다. Echo인 Pod 리드는 고객의 문제를 정의하고 고객 엔지니어와 결정권자를 이어 성과를 RFQ로 가져갑니다. 기술 출신이면서 현지 언어와 문화로 막힘없이 교류하는 사람입니다. Delta는 층마다 붙습니다. 현지 시스템 SW 두 명은 KV 캐시와 커널에 배치 코드를 넣고, 본사에서 파견한 NAND와 펌웨어 전문가는 FDP와 pSLC를 튜닝하며, 분석가는 WAF와 꼬리 지연 효과를 실측합니다. 본사 후방 지원은 Palantir의 제품 엔지니어처럼 현장 해법을 재현하고 검증해 로드맵에 넣습니다. 오른쪽은 확장입니다. 1단계는 미국에서 구글과 메타로 시작합니다. 둘 다 SSD와 인프라를 직접 설계하고, 메타와는 CacheLib FDP 공동 설계 이력이 있습니다. 약 20명입니다. 2단계에는 KV 캐시 관리자 층의 표준을 만드는 NVIDIA, 추론 수요가 가장 큰 AI 랩, 그리고 중국 거점을 열어 Alibaba와 ByteDance로 넓혀 약 50명, 3단계에는 Microsoft, AWS, GPU 클라우드, DeepSeek와 Tencent까지 약 80명입니다. 협업 고객이 하나 늘 때마다 Pod 하나를 더하는 것이 조직을 키우는 기준입니다. 순서와 인원은 과제팀 제안입니다.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9장은 응용별 eSSD 수요 전망입니다. McKinsey 기준 eSSD 수요는 2024년 181엑사바이트에서 2030년 1,078엑사바이트로 약 6배가 되고, 가장 큰 몫은 AI 추론으로 6에서 447엑사바이트, 약 75배입니다. 비중으로는 범용이 85에서 47퍼센트로 줄고 추론이 9에서 41퍼센트로 늘어납니다. 1장의 TechInsights 전망은 2030년 추론 79퍼센트로 더 가파릅니다. 마름모는 2026년 최신 전망입니다. JPM과 Kioxia의 2028년 약 900엑사바이트는 2024년 경로보다 약 1년 반 앞당겨진 규모입니다. 기관마다 정의가 달라 방향만 비교하며, 수치는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ction-learning.vercel.app/#/presentations/fdp-explainer/1" TargetMode="Externa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2.png"/><Relationship Id="rId9" Type="http://schemas.openxmlformats.org/officeDocument/2006/relationships/image" Target="../media/image11.png"/><Relationship Id="rId10" Type="http://schemas.openxmlformats.org/officeDocument/2006/relationships/image" Target="../media/image9.png"/><Relationship Id="rId11" Type="http://schemas.openxmlformats.org/officeDocument/2006/relationships/image" Target="../media/image18.png"/><Relationship Id="rId12" Type="http://schemas.openxmlformats.org/officeDocument/2006/relationships/notesSlide" Target="../notesSlides/notesSlide3.xml"/><Relationship Id="rId13"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5.png"/><Relationship Id="rId9" Type="http://schemas.openxmlformats.org/officeDocument/2006/relationships/image" Target="../media/image4.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9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71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E8590C"/>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9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9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a:hlinkClick r:id="rId2"/>
          </p:cNvPr>
          <p:cNvSpPr/>
          <p:nvPr/>
        </p:nvSpPr>
        <p:spPr>
          <a:xfrm>
            <a:off x="5934455" y="3474720"/>
            <a:ext cx="2560320" cy="365760"/>
          </a:xfrm>
          <a:prstGeom prst="roundRect">
            <a:avLst>
              <a:gd name="adj" fmla="val 20000"/>
            </a:avLst>
          </a:prstGeom>
          <a:solidFill>
            <a:srgbClr val="3C4FA5"/>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r:id="rId2"/>
          </p:cNvPr>
          <p:cNvSpPr txBox="1"/>
          <p:nvPr/>
        </p:nvSpPr>
        <p:spPr>
          <a:xfrm>
            <a:off x="5989319" y="3474720"/>
            <a:ext cx="2450591" cy="36576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  1분 영상 · FDP 원리</a:t>
            </a:r>
          </a:p>
        </p:txBody>
      </p:sp>
      <p:sp>
        <p:nvSpPr>
          <p:cNvPr id="32" name="Rounded Rectangle 31"/>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wn Arrow 33"/>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7" name="TextBox 36"/>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8" name="TextBox 37"/>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9" name="Rounded Rectangle 38"/>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6" name="TextBox 45"/>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7" name="TextBox 46"/>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8" name="Rounded Rectangle 47"/>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9" name="TextBox 58"/>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60" name="TextBox 59"/>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61" name="TextBox 60"/>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2" name="Rectangle 61"/>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3" name="Rectangle 112"/>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3" name="TextBox 162"/>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4" name="Rounded Rectangle 163">
            <a:hlinkClick action="ppaction://hlinksldjump" r:id="rId13"/>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a:hlinkClick action="ppaction://hlinksldjump" r:id="rId13"/>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6장 ▶</a:t>
            </a:r>
          </a:p>
        </p:txBody>
      </p:sp>
      <p:sp>
        <p:nvSpPr>
          <p:cNvPr id="166" name="Rounded Rectangle 165"/>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8" name="TextBox 167"/>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9" name="Rectangle 168"/>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71" name="TextBox 170"/>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2" name="Rectangle 171"/>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4" name="TextBox 173"/>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5" name="TextBox 174"/>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6" name="TextBox 175"/>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7" name="Rounded Rectangle 176"/>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9" name="TextBox 178"/>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80" name="Rectangle 179"/>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2" name="TextBox 181"/>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3" name="Rectangle 182"/>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5" name="TextBox 184"/>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6" name="TextBox 185"/>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7" name="TextBox 186"/>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8" name="Oval 187"/>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90" name="TextBox 189"/>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91" name="Picture 190" descr="portfolio_3d_base.png"/>
          <p:cNvPicPr>
            <a:picLocks noChangeAspect="1"/>
          </p:cNvPicPr>
          <p:nvPr/>
        </p:nvPicPr>
        <p:blipFill>
          <a:blip r:embed="rId3"/>
          <a:stretch>
            <a:fillRect/>
          </a:stretch>
        </p:blipFill>
        <p:spPr>
          <a:xfrm>
            <a:off x="8769096" y="4041648"/>
            <a:ext cx="6303421" cy="5321808"/>
          </a:xfrm>
          <a:prstGeom prst="rect">
            <a:avLst/>
          </a:prstGeom>
        </p:spPr>
      </p:pic>
      <p:sp>
        <p:nvSpPr>
          <p:cNvPr id="196" name="TextBox 195"/>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7" name="Rounded Rectangle 196"/>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201" name="Picture 200" descr="p_bm1743.png"/>
          <p:cNvPicPr>
            <a:picLocks noChangeAspect="1"/>
          </p:cNvPicPr>
          <p:nvPr/>
        </p:nvPicPr>
        <p:blipFill>
          <a:blip r:embed="rId8"/>
          <a:stretch>
            <a:fillRect/>
          </a:stretch>
        </p:blipFill>
        <p:spPr>
          <a:xfrm>
            <a:off x="16307773" y="4059935"/>
            <a:ext cx="686900" cy="475488"/>
          </a:xfrm>
          <a:prstGeom prst="rect">
            <a:avLst/>
          </a:prstGeom>
        </p:spPr>
      </p:pic>
      <p:sp>
        <p:nvSpPr>
          <p:cNvPr id="202" name="TextBox 201"/>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8" name="Rounded Rectangle 207"/>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2" name="Picture 211" descr="p_pm1753.png"/>
          <p:cNvPicPr>
            <a:picLocks noChangeAspect="1"/>
          </p:cNvPicPr>
          <p:nvPr/>
        </p:nvPicPr>
        <p:blipFill>
          <a:blip r:embed="rId9"/>
          <a:stretch>
            <a:fillRect/>
          </a:stretch>
        </p:blipFill>
        <p:spPr>
          <a:xfrm>
            <a:off x="16327027" y="5399531"/>
            <a:ext cx="648392" cy="475488"/>
          </a:xfrm>
          <a:prstGeom prst="rect">
            <a:avLst/>
          </a:prstGeom>
        </p:spPr>
      </p:pic>
      <p:sp>
        <p:nvSpPr>
          <p:cNvPr id="213" name="TextBox 212"/>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9" name="Rounded Rectangle 218"/>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3" name="Picture 222" descr="p_pm1755.png"/>
          <p:cNvPicPr>
            <a:picLocks noChangeAspect="1"/>
          </p:cNvPicPr>
          <p:nvPr/>
        </p:nvPicPr>
        <p:blipFill>
          <a:blip r:embed="rId10"/>
          <a:stretch>
            <a:fillRect/>
          </a:stretch>
        </p:blipFill>
        <p:spPr>
          <a:xfrm>
            <a:off x="16327027" y="6739128"/>
            <a:ext cx="648392" cy="475488"/>
          </a:xfrm>
          <a:prstGeom prst="rect">
            <a:avLst/>
          </a:prstGeom>
        </p:spPr>
      </p:pic>
      <p:sp>
        <p:nvSpPr>
          <p:cNvPr id="224" name="TextBox 223"/>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30" name="Rounded Rectangle 229"/>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4" name="Picture 233" descr="p_zssd.png"/>
          <p:cNvPicPr>
            <a:picLocks noChangeAspect="1"/>
          </p:cNvPicPr>
          <p:nvPr/>
        </p:nvPicPr>
        <p:blipFill>
          <a:blip r:embed="rId11"/>
          <a:stretch>
            <a:fillRect/>
          </a:stretch>
        </p:blipFill>
        <p:spPr>
          <a:xfrm>
            <a:off x="16256446" y="8078724"/>
            <a:ext cx="789555" cy="475488"/>
          </a:xfrm>
          <a:prstGeom prst="rect">
            <a:avLst/>
          </a:prstGeom>
        </p:spPr>
      </p:pic>
      <p:sp>
        <p:nvSpPr>
          <p:cNvPr id="235" name="TextBox 234"/>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41" name="TextBox 240"/>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2" name="Rectangle 241"/>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4" name="Rectangle 243"/>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6" name="Rectangle 245"/>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8" name="Group 247"/>
          <p:cNvGrpSpPr/>
          <p:nvPr/>
        </p:nvGrpSpPr>
        <p:grpSpPr>
          <a:xfrm>
            <a:off x="8769096" y="4005072"/>
            <a:ext cx="8823960" cy="5358384"/>
            <a:chOff x="8769096" y="4005072"/>
            <a:chExt cx="8823960" cy="5358384"/>
          </a:xfrm>
        </p:grpSpPr>
        <p:pic>
          <p:nvPicPr>
            <p:cNvPr id="192" name="Picture 191" descr="portfolio_3d_qlc.png"/>
            <p:cNvPicPr>
              <a:picLocks noChangeAspect="1"/>
            </p:cNvPicPr>
            <p:nvPr/>
          </p:nvPicPr>
          <p:blipFill>
            <a:blip r:embed="rId4"/>
            <a:stretch>
              <a:fillRect/>
            </a:stretch>
          </p:blipFill>
          <p:spPr>
            <a:xfrm>
              <a:off x="8769096" y="4041648"/>
              <a:ext cx="6303421" cy="5321808"/>
            </a:xfrm>
            <a:prstGeom prst="rect">
              <a:avLst/>
            </a:prstGeom>
          </p:spPr>
        </p:pic>
        <p:sp>
          <p:nvSpPr>
            <p:cNvPr id="203" name="TextBox 202"/>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4" name="TextBox 203"/>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5" name="Rounded Rectangle 204"/>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3" name="Picture 192" descr="portfolio_3d_tlc.png"/>
            <p:cNvPicPr>
              <a:picLocks noChangeAspect="1"/>
            </p:cNvPicPr>
            <p:nvPr/>
          </p:nvPicPr>
          <p:blipFill>
            <a:blip r:embed="rId5"/>
            <a:stretch>
              <a:fillRect/>
            </a:stretch>
          </p:blipFill>
          <p:spPr>
            <a:xfrm>
              <a:off x="8769096" y="4041648"/>
              <a:ext cx="6303421" cy="5321808"/>
            </a:xfrm>
            <a:prstGeom prst="rect">
              <a:avLst/>
            </a:prstGeom>
          </p:spPr>
        </p:pic>
        <p:sp>
          <p:nvSpPr>
            <p:cNvPr id="214" name="TextBox 213"/>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5" name="TextBox 214"/>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6" name="Rounded Rectangle 215"/>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4" name="Picture 193" descr="portfolio_3d_hetlc.png"/>
            <p:cNvPicPr>
              <a:picLocks noChangeAspect="1"/>
            </p:cNvPicPr>
            <p:nvPr/>
          </p:nvPicPr>
          <p:blipFill>
            <a:blip r:embed="rId6"/>
            <a:stretch>
              <a:fillRect/>
            </a:stretch>
          </p:blipFill>
          <p:spPr>
            <a:xfrm>
              <a:off x="8769096" y="4041648"/>
              <a:ext cx="6303421" cy="5321808"/>
            </a:xfrm>
            <a:prstGeom prst="rect">
              <a:avLst/>
            </a:prstGeom>
          </p:spPr>
        </p:pic>
        <p:sp>
          <p:nvSpPr>
            <p:cNvPr id="225" name="TextBox 224"/>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6" name="TextBox 225"/>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7" name="Rounded Rectangle 226"/>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5" name="Picture 194" descr="portfolio_3d_slc.png"/>
            <p:cNvPicPr>
              <a:picLocks noChangeAspect="1"/>
            </p:cNvPicPr>
            <p:nvPr/>
          </p:nvPicPr>
          <p:blipFill>
            <a:blip r:embed="rId7"/>
            <a:stretch>
              <a:fillRect/>
            </a:stretch>
          </p:blipFill>
          <p:spPr>
            <a:xfrm>
              <a:off x="8769096" y="4041648"/>
              <a:ext cx="6303421" cy="5321808"/>
            </a:xfrm>
            <a:prstGeom prst="rect">
              <a:avLst/>
            </a:prstGeom>
          </p:spPr>
        </p:pic>
        <p:sp>
          <p:nvSpPr>
            <p:cNvPr id="236" name="TextBox 235"/>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7" name="TextBox 236"/>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8" name="Rounded Rectangle 237"/>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6" name="Oval 205"/>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7" name="Oval 216"/>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extBox 217"/>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8" name="Oval 227"/>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9" name="Oval 238"/>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49" name="TextBox 24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0" name="TextBox 24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8"/>
                                        </p:tgtEl>
                                        <p:attrNameLst>
                                          <p:attrName>style.visibility</p:attrName>
                                        </p:attrNameLst>
                                      </p:cBhvr>
                                      <p:to>
                                        <p:strVal val="visible"/>
                                      </p:to>
                                    </p:set>
                                    <p:animEffect transition="in" filter="fade">
                                      <p:cBhvr>
                                        <p:cTn id="8" dur="500"/>
                                        <p:tgtEl>
                                          <p:spTgt spid="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9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9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9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9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기술</a:t>
            </a:r>
          </a:p>
          <a:p>
            <a:pPr algn="l">
              <a:lnSpc>
                <a:spcPct val="100000"/>
              </a:lnSpc>
            </a:pPr>
            <a:r>
              <a:rPr sz="1800" b="1">
                <a:solidFill>
                  <a:srgbClr val="3C4FA5"/>
                </a:solidFill>
                <a:latin typeface="Arial"/>
                <a:ea typeface="Arial"/>
              </a:rPr>
              <a:t>협력</a:t>
            </a:r>
          </a:p>
        </p:txBody>
      </p:sp>
      <p:sp>
        <p:nvSpPr>
          <p:cNvPr id="31" name="Chevron 30"/>
          <p:cNvSpPr/>
          <p:nvPr/>
        </p:nvSpPr>
        <p:spPr>
          <a:xfrm>
            <a:off x="524865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63824"/>
            <a:ext cx="3749039" cy="585216"/>
          </a:xfrm>
          <a:prstGeom prst="roundRect">
            <a:avLst>
              <a:gd name="adj" fmla="val 12500"/>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82112"/>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추론 엔진</a:t>
            </a:r>
          </a:p>
        </p:txBody>
      </p:sp>
      <p:sp>
        <p:nvSpPr>
          <p:cNvPr id="39" name="TextBox 38"/>
          <p:cNvSpPr txBox="1"/>
          <p:nvPr/>
        </p:nvSpPr>
        <p:spPr>
          <a:xfrm>
            <a:off x="5678424" y="3456432"/>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91840"/>
            <a:ext cx="676656" cy="329184"/>
          </a:xfrm>
          <a:prstGeom prst="roundRect">
            <a:avLst>
              <a:gd name="adj" fmla="val 22222"/>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91840"/>
            <a:ext cx="566928" cy="32918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813048"/>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831335"/>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KV 캐시 관리자</a:t>
            </a:r>
          </a:p>
        </p:txBody>
      </p:sp>
      <p:sp>
        <p:nvSpPr>
          <p:cNvPr id="44" name="TextBox 43"/>
          <p:cNvSpPr txBox="1"/>
          <p:nvPr/>
        </p:nvSpPr>
        <p:spPr>
          <a:xfrm>
            <a:off x="5678424" y="4105656"/>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941063"/>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941063"/>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462272"/>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480559"/>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전송 · I/O</a:t>
            </a:r>
          </a:p>
        </p:txBody>
      </p:sp>
      <p:sp>
        <p:nvSpPr>
          <p:cNvPr id="49" name="TextBox 48"/>
          <p:cNvSpPr txBox="1"/>
          <p:nvPr/>
        </p:nvSpPr>
        <p:spPr>
          <a:xfrm>
            <a:off x="5678424" y="4754880"/>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590288"/>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590288"/>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5111496"/>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5129783"/>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커널 · 파일 시스템</a:t>
            </a:r>
          </a:p>
        </p:txBody>
      </p:sp>
      <p:sp>
        <p:nvSpPr>
          <p:cNvPr id="54" name="TextBox 53"/>
          <p:cNvSpPr txBox="1"/>
          <p:nvPr/>
        </p:nvSpPr>
        <p:spPr>
          <a:xfrm>
            <a:off x="5678424" y="5404104"/>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5239512"/>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5239512"/>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760720"/>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779007"/>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SSD 펌웨어</a:t>
            </a:r>
          </a:p>
        </p:txBody>
      </p:sp>
      <p:sp>
        <p:nvSpPr>
          <p:cNvPr id="59" name="TextBox 58"/>
          <p:cNvSpPr txBox="1"/>
          <p:nvPr/>
        </p:nvSpPr>
        <p:spPr>
          <a:xfrm>
            <a:off x="5678424" y="6053328"/>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888736"/>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888736"/>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6409944"/>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6428231"/>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NAND</a:t>
            </a:r>
          </a:p>
        </p:txBody>
      </p:sp>
      <p:sp>
        <p:nvSpPr>
          <p:cNvPr id="64" name="TextBox 63"/>
          <p:cNvSpPr txBox="1"/>
          <p:nvPr/>
        </p:nvSpPr>
        <p:spPr>
          <a:xfrm>
            <a:off x="5678424" y="6702552"/>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6537959"/>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6537959"/>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4014216"/>
            <a:ext cx="384048" cy="2130552"/>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99592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695444"/>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77900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7150607"/>
            <a:ext cx="5532120" cy="1389888"/>
          </a:xfrm>
          <a:prstGeom prst="roundRect">
            <a:avLst>
              <a:gd name="adj" fmla="val 5263"/>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696712" y="7242047"/>
            <a:ext cx="731520"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51575" y="7242047"/>
            <a:ext cx="621792"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화두</a:t>
            </a:r>
          </a:p>
        </p:txBody>
      </p:sp>
      <p:sp>
        <p:nvSpPr>
          <p:cNvPr id="74" name="TextBox 73"/>
          <p:cNvSpPr txBox="1"/>
          <p:nvPr/>
        </p:nvSpPr>
        <p:spPr>
          <a:xfrm>
            <a:off x="6519672" y="7223759"/>
            <a:ext cx="443484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고객 관계(CRM)를 </a:t>
            </a:r>
            <a:r>
              <a:rPr sz="1700" b="1">
                <a:solidFill>
                  <a:srgbClr val="3C4FA5"/>
                </a:solidFill>
                <a:latin typeface="Arial"/>
                <a:ea typeface="Arial"/>
              </a:rPr>
              <a:t>엔지니어까지</a:t>
            </a:r>
          </a:p>
        </p:txBody>
      </p:sp>
      <p:sp>
        <p:nvSpPr>
          <p:cNvPr id="75" name="Rounded Rectangle 74"/>
          <p:cNvSpPr/>
          <p:nvPr/>
        </p:nvSpPr>
        <p:spPr>
          <a:xfrm>
            <a:off x="575157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80644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7" name="Rounded Rectangle 76"/>
          <p:cNvSpPr/>
          <p:nvPr/>
        </p:nvSpPr>
        <p:spPr>
          <a:xfrm>
            <a:off x="812901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8388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9" name="Rectangle 78"/>
          <p:cNvSpPr/>
          <p:nvPr/>
        </p:nvSpPr>
        <p:spPr>
          <a:xfrm>
            <a:off x="6848856" y="7772400"/>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575157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82" name="Rounded Rectangle 81"/>
          <p:cNvSpPr/>
          <p:nvPr/>
        </p:nvSpPr>
        <p:spPr>
          <a:xfrm>
            <a:off x="812901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8388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84" name="Rectangle 83"/>
          <p:cNvSpPr/>
          <p:nvPr/>
        </p:nvSpPr>
        <p:spPr>
          <a:xfrm>
            <a:off x="6848856" y="808329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575157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80644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7" name="Rounded Rectangle 86"/>
          <p:cNvSpPr/>
          <p:nvPr/>
        </p:nvSpPr>
        <p:spPr>
          <a:xfrm>
            <a:off x="812901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18388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9" name="Rectangle 88"/>
          <p:cNvSpPr/>
          <p:nvPr/>
        </p:nvSpPr>
        <p:spPr>
          <a:xfrm>
            <a:off x="6848856" y="8375904"/>
            <a:ext cx="1243584"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6903720" y="8275319"/>
            <a:ext cx="1133856" cy="256032"/>
          </a:xfrm>
          <a:prstGeom prst="roundRect">
            <a:avLst>
              <a:gd name="adj" fmla="val 28571"/>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958583" y="8275319"/>
            <a:ext cx="1024128" cy="25603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언어 · 문화</a:t>
            </a:r>
          </a:p>
        </p:txBody>
      </p:sp>
      <p:sp>
        <p:nvSpPr>
          <p:cNvPr id="92" name="Rectangle 91"/>
          <p:cNvSpPr/>
          <p:nvPr/>
        </p:nvSpPr>
        <p:spPr>
          <a:xfrm>
            <a:off x="9372600" y="7644383"/>
            <a:ext cx="36576" cy="5852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281160" y="7644383"/>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81160" y="819302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45752" y="7799831"/>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6" name="Rectangle 95"/>
          <p:cNvSpPr/>
          <p:nvPr/>
        </p:nvSpPr>
        <p:spPr>
          <a:xfrm>
            <a:off x="10104120" y="7644383"/>
            <a:ext cx="36576" cy="89611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012680" y="7644383"/>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012680" y="8503920"/>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177272" y="7955279"/>
            <a:ext cx="731520" cy="274320"/>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앞으로</a:t>
            </a:r>
          </a:p>
        </p:txBody>
      </p:sp>
      <p:sp>
        <p:nvSpPr>
          <p:cNvPr id="100" name="Oval 99"/>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02" name="TextBox 101"/>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103" name="Picture 102" descr="palantir.png"/>
          <p:cNvPicPr>
            <a:picLocks noChangeAspect="1"/>
          </p:cNvPicPr>
          <p:nvPr/>
        </p:nvPicPr>
        <p:blipFill>
          <a:blip r:embed="rId4"/>
          <a:stretch>
            <a:fillRect/>
          </a:stretch>
        </p:blipFill>
        <p:spPr>
          <a:xfrm>
            <a:off x="11484864" y="2715768"/>
            <a:ext cx="310896" cy="310896"/>
          </a:xfrm>
          <a:prstGeom prst="rect">
            <a:avLst/>
          </a:prstGeom>
        </p:spPr>
      </p:pic>
      <p:sp>
        <p:nvSpPr>
          <p:cNvPr id="104" name="TextBox 103"/>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105" name="TextBox 104"/>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6" name="Rounded Rectangle 105"/>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7" name="Picture 106" descr="samsung.png"/>
          <p:cNvPicPr>
            <a:picLocks noChangeAspect="1"/>
          </p:cNvPicPr>
          <p:nvPr/>
        </p:nvPicPr>
        <p:blipFill>
          <a:blip r:embed="rId5"/>
          <a:stretch>
            <a:fillRect/>
          </a:stretch>
        </p:blipFill>
        <p:spPr>
          <a:xfrm>
            <a:off x="11622024" y="3759998"/>
            <a:ext cx="1280160" cy="197538"/>
          </a:xfrm>
          <a:prstGeom prst="rect">
            <a:avLst/>
          </a:prstGeom>
        </p:spPr>
      </p:pic>
      <p:sp>
        <p:nvSpPr>
          <p:cNvPr id="108" name="Rounded Rectangle 107"/>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10" name="Rectangle 109"/>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Folded Corner 110"/>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13" name="Isosceles Triangle 112"/>
          <p:cNvSpPr/>
          <p:nvPr/>
        </p:nvSpPr>
        <p:spPr>
          <a:xfrm rot="10800000">
            <a:off x="14324076"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115" name="Rounded Rectangle 114"/>
          <p:cNvSpPr/>
          <p:nvPr/>
        </p:nvSpPr>
        <p:spPr>
          <a:xfrm>
            <a:off x="11484864" y="5248656"/>
            <a:ext cx="6080760" cy="3291839"/>
          </a:xfrm>
          <a:prstGeom prst="roundRect">
            <a:avLst>
              <a:gd name="adj" fmla="val 2222"/>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고객 AI 데이터센터 안에서</a:t>
            </a:r>
          </a:p>
        </p:txBody>
      </p:sp>
      <p:sp>
        <p:nvSpPr>
          <p:cNvPr id="117" name="Rounded Rectangle 116"/>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1759184"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20" name="TextBox 119"/>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3C4FA5"/>
                </a:solidFill>
                <a:latin typeface="Arial"/>
                <a:ea typeface="Arial"/>
              </a:rPr>
              <a:t>측정 · 분석</a:t>
            </a:r>
          </a:p>
        </p:txBody>
      </p:sp>
      <p:sp>
        <p:nvSpPr>
          <p:cNvPr id="121" name="Chevron 120"/>
          <p:cNvSpPr/>
          <p:nvPr/>
        </p:nvSpPr>
        <p:spPr>
          <a:xfrm>
            <a:off x="13447776"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3767816"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25" name="TextBox 124"/>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3C4FA5"/>
                </a:solidFill>
                <a:latin typeface="Arial"/>
                <a:ea typeface="Arial"/>
              </a:rPr>
              <a:t>최적화 · 평가</a:t>
            </a:r>
          </a:p>
        </p:txBody>
      </p:sp>
      <p:sp>
        <p:nvSpPr>
          <p:cNvPr id="126" name="Chevron 125"/>
          <p:cNvSpPr/>
          <p:nvPr/>
        </p:nvSpPr>
        <p:spPr>
          <a:xfrm>
            <a:off x="15456408"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5776448"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30" name="TextBox 129"/>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3C4FA5"/>
                </a:solidFill>
                <a:latin typeface="Arial"/>
                <a:ea typeface="Arial"/>
              </a:rPr>
              <a:t>기술 교류</a:t>
            </a:r>
          </a:p>
        </p:txBody>
      </p:sp>
      <p:sp>
        <p:nvSpPr>
          <p:cNvPr id="131" name="Rectangle 130"/>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134088" y="6484924"/>
            <a:ext cx="155448" cy="1141171"/>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2554712" y="6270955"/>
            <a:ext cx="155448" cy="1355140"/>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2487656" y="6163056"/>
            <a:ext cx="512064" cy="512064"/>
          </a:xfrm>
          <a:prstGeom prst="ellipse">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rot="2700000">
            <a:off x="12908280" y="6638544"/>
            <a:ext cx="310896" cy="822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13840968" y="6144768"/>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42" name="Rounded Rectangle 141"/>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44" name="Rounded Rectangle 143"/>
          <p:cNvSpPr/>
          <p:nvPr/>
        </p:nvSpPr>
        <p:spPr>
          <a:xfrm>
            <a:off x="13840968" y="7193280"/>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6" name="Up-Down Arrow 145"/>
          <p:cNvSpPr/>
          <p:nvPr/>
        </p:nvSpPr>
        <p:spPr>
          <a:xfrm>
            <a:off x="14953488" y="6379464"/>
            <a:ext cx="292608" cy="1048511"/>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15909767" y="6473952"/>
            <a:ext cx="217261" cy="21726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 Same Side Corner Rectangle 147"/>
          <p:cNvSpPr/>
          <p:nvPr/>
        </p:nvSpPr>
        <p:spPr>
          <a:xfrm>
            <a:off x="15831312" y="6727423"/>
            <a:ext cx="374172" cy="3500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ound Same Side Corner Rectangle 149"/>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ular Callout 150"/>
          <p:cNvSpPr/>
          <p:nvPr/>
        </p:nvSpPr>
        <p:spPr>
          <a:xfrm>
            <a:off x="16149827" y="6126480"/>
            <a:ext cx="768096" cy="365760"/>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3C4FA5"/>
                </a:solidFill>
                <a:latin typeface="Arial"/>
                <a:ea typeface="Arial"/>
              </a:rPr>
              <a:t>· · ·</a:t>
            </a:r>
          </a:p>
        </p:txBody>
      </p:sp>
      <p:pic>
        <p:nvPicPr>
          <p:cNvPr id="153" name="Picture 152"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54" name="Rectangle 153"/>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56" name="TextBox 15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7" name="TextBox 15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로고는 식별 표시</a:t>
            </a:r>
          </a:p>
        </p:txBody>
      </p:sp>
      <p:sp>
        <p:nvSpPr>
          <p:cNvPr id="158" name="TextBox 15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9  실행안</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한 곳에 Pod 하나로 고객 안에 들어가고,</a:t>
            </a:r>
          </a:p>
          <a:p>
            <a:pPr algn="l">
              <a:lnSpc>
                <a:spcPct val="105000"/>
              </a:lnSpc>
            </a:pPr>
            <a:r>
              <a:rPr sz="3200" b="1">
                <a:solidFill>
                  <a:srgbClr val="1A1A1A"/>
                </a:solidFill>
                <a:latin typeface="Arial"/>
                <a:ea typeface="Arial"/>
              </a:rPr>
              <a:t>구글 · 메타에서 시작해 협업 고객 수만큼 조직을 키웁니다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70957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Pod 하나 = 고객 한 곳, 5~6명</a:t>
            </a:r>
          </a:p>
        </p:txBody>
      </p:sp>
      <p:pic>
        <p:nvPicPr>
          <p:cNvPr id="9" name="Picture 8" descr="palantir.png"/>
          <p:cNvPicPr>
            <a:picLocks noChangeAspect="1"/>
          </p:cNvPicPr>
          <p:nvPr/>
        </p:nvPicPr>
        <p:blipFill>
          <a:blip r:embed="rId2"/>
          <a:stretch>
            <a:fillRect/>
          </a:stretch>
        </p:blipFill>
        <p:spPr>
          <a:xfrm>
            <a:off x="722376" y="2724912"/>
            <a:ext cx="292608" cy="292608"/>
          </a:xfrm>
          <a:prstGeom prst="rect">
            <a:avLst/>
          </a:prstGeom>
        </p:spPr>
      </p:pic>
      <p:sp>
        <p:nvSpPr>
          <p:cNvPr id="10" name="Rounded Rectangle 9"/>
          <p:cNvSpPr/>
          <p:nvPr/>
        </p:nvSpPr>
        <p:spPr>
          <a:xfrm>
            <a:off x="1143000" y="2715768"/>
            <a:ext cx="768096"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97864" y="2715768"/>
            <a:ext cx="65836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Echo</a:t>
            </a:r>
          </a:p>
        </p:txBody>
      </p:sp>
      <p:sp>
        <p:nvSpPr>
          <p:cNvPr id="12" name="TextBox 11"/>
          <p:cNvSpPr txBox="1"/>
          <p:nvPr/>
        </p:nvSpPr>
        <p:spPr>
          <a:xfrm>
            <a:off x="1965960" y="2697480"/>
            <a:ext cx="2011680" cy="36576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문제 · 도입 · 성과</a:t>
            </a:r>
          </a:p>
        </p:txBody>
      </p:sp>
      <p:sp>
        <p:nvSpPr>
          <p:cNvPr id="13" name="Rounded Rectangle 12"/>
          <p:cNvSpPr/>
          <p:nvPr/>
        </p:nvSpPr>
        <p:spPr>
          <a:xfrm>
            <a:off x="3977639" y="2715768"/>
            <a:ext cx="76809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32503" y="2715768"/>
            <a:ext cx="65836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15" name="TextBox 14"/>
          <p:cNvSpPr txBox="1"/>
          <p:nvPr/>
        </p:nvSpPr>
        <p:spPr>
          <a:xfrm>
            <a:off x="4800600" y="2697480"/>
            <a:ext cx="2011680" cy="36576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설계 · 구현 · 배포</a:t>
            </a:r>
          </a:p>
        </p:txBody>
      </p:sp>
      <p:sp>
        <p:nvSpPr>
          <p:cNvPr id="16" name="Rounded Rectangle 15"/>
          <p:cNvSpPr/>
          <p:nvPr/>
        </p:nvSpPr>
        <p:spPr>
          <a:xfrm>
            <a:off x="722376" y="3218688"/>
            <a:ext cx="7680960" cy="3931920"/>
          </a:xfrm>
          <a:prstGeom prst="roundRect">
            <a:avLst>
              <a:gd name="adj" fmla="val 1860"/>
            </a:avLst>
          </a:prstGeom>
          <a:solidFill>
            <a:srgbClr val="FFFFFF"/>
          </a:solidFill>
          <a:ln w="2222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 y="3273552"/>
            <a:ext cx="365760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고객 AI 데이터센터 안</a:t>
            </a:r>
          </a:p>
        </p:txBody>
      </p:sp>
      <p:sp>
        <p:nvSpPr>
          <p:cNvPr id="18" name="Rounded Rectangle 17"/>
          <p:cNvSpPr/>
          <p:nvPr/>
        </p:nvSpPr>
        <p:spPr>
          <a:xfrm>
            <a:off x="850392" y="3675887"/>
            <a:ext cx="7424928" cy="969264"/>
          </a:xfrm>
          <a:prstGeom prst="roundRect">
            <a:avLst>
              <a:gd name="adj" fmla="val 7547"/>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30747" y="3785615"/>
            <a:ext cx="269930" cy="26993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 Same Side Corner Rectangle 19"/>
          <p:cNvSpPr/>
          <p:nvPr/>
        </p:nvSpPr>
        <p:spPr>
          <a:xfrm>
            <a:off x="1033272" y="4100535"/>
            <a:ext cx="464880" cy="434888"/>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618488" y="3803903"/>
            <a:ext cx="7680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73352" y="3803903"/>
            <a:ext cx="658368"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Echo</a:t>
            </a:r>
          </a:p>
        </p:txBody>
      </p:sp>
      <p:sp>
        <p:nvSpPr>
          <p:cNvPr id="23" name="TextBox 22"/>
          <p:cNvSpPr txBox="1"/>
          <p:nvPr/>
        </p:nvSpPr>
        <p:spPr>
          <a:xfrm>
            <a:off x="1618488" y="4151375"/>
            <a:ext cx="219456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Pod 리드</a:t>
            </a:r>
          </a:p>
        </p:txBody>
      </p:sp>
      <p:sp>
        <p:nvSpPr>
          <p:cNvPr id="24" name="Rectangle 23"/>
          <p:cNvSpPr/>
          <p:nvPr/>
        </p:nvSpPr>
        <p:spPr>
          <a:xfrm>
            <a:off x="3557016" y="4151375"/>
            <a:ext cx="1554480" cy="457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11296" y="3767327"/>
            <a:ext cx="1645920" cy="34747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문제 · 성과</a:t>
            </a:r>
          </a:p>
        </p:txBody>
      </p:sp>
      <p:sp>
        <p:nvSpPr>
          <p:cNvPr id="26" name="Oval 25"/>
          <p:cNvSpPr/>
          <p:nvPr/>
        </p:nvSpPr>
        <p:spPr>
          <a:xfrm>
            <a:off x="5343387" y="3840479"/>
            <a:ext cx="237012" cy="23701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 Same Side Corner Rectangle 26"/>
          <p:cNvSpPr/>
          <p:nvPr/>
        </p:nvSpPr>
        <p:spPr>
          <a:xfrm>
            <a:off x="5257800" y="4116994"/>
            <a:ext cx="408188" cy="381853"/>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55451" y="3840479"/>
            <a:ext cx="237012" cy="23701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 Same Side Corner Rectangle 28"/>
          <p:cNvSpPr/>
          <p:nvPr/>
        </p:nvSpPr>
        <p:spPr>
          <a:xfrm>
            <a:off x="5769864" y="4116994"/>
            <a:ext cx="408188" cy="381853"/>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36792" y="3749039"/>
            <a:ext cx="1920240" cy="822960"/>
          </a:xfrm>
          <a:prstGeom prst="rect">
            <a:avLst/>
          </a:prstGeom>
          <a:noFill/>
        </p:spPr>
        <p:txBody>
          <a:bodyPr wrap="square" anchor="ctr" lIns="0" rIns="0" tIns="0" bIns="0">
            <a:spAutoFit/>
          </a:bodyPr>
          <a:lstStyle/>
          <a:p>
            <a:pPr algn="l">
              <a:lnSpc>
                <a:spcPct val="100000"/>
              </a:lnSpc>
            </a:pPr>
            <a:r>
              <a:rPr sz="1500" b="1">
                <a:solidFill>
                  <a:srgbClr val="1A1A1A"/>
                </a:solidFill>
                <a:latin typeface="Arial"/>
                <a:ea typeface="Arial"/>
              </a:rPr>
              <a:t>고객 엔지니어</a:t>
            </a:r>
          </a:p>
          <a:p>
            <a:pPr algn="l">
              <a:lnSpc>
                <a:spcPct val="100000"/>
              </a:lnSpc>
            </a:pPr>
            <a:r>
              <a:rPr sz="1500" b="1">
                <a:solidFill>
                  <a:srgbClr val="1A1A1A"/>
                </a:solidFill>
                <a:latin typeface="Arial"/>
                <a:ea typeface="Arial"/>
              </a:rPr>
              <a:t>결정권자</a:t>
            </a:r>
          </a:p>
        </p:txBody>
      </p:sp>
      <p:sp>
        <p:nvSpPr>
          <p:cNvPr id="31" name="Oval 30"/>
          <p:cNvSpPr/>
          <p:nvPr/>
        </p:nvSpPr>
        <p:spPr>
          <a:xfrm>
            <a:off x="1060886" y="4846319"/>
            <a:ext cx="177759" cy="177759"/>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 Same Side Corner Rectangle 31"/>
          <p:cNvSpPr/>
          <p:nvPr/>
        </p:nvSpPr>
        <p:spPr>
          <a:xfrm>
            <a:off x="996696" y="5053705"/>
            <a:ext cx="306141" cy="286390"/>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403604" y="4846319"/>
            <a:ext cx="177759" cy="177759"/>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 Same Side Corner Rectangle 33"/>
          <p:cNvSpPr/>
          <p:nvPr/>
        </p:nvSpPr>
        <p:spPr>
          <a:xfrm>
            <a:off x="1339413" y="5053705"/>
            <a:ext cx="306141" cy="286390"/>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856232" y="4809743"/>
            <a:ext cx="768096" cy="292608"/>
          </a:xfrm>
          <a:prstGeom prst="roundRect">
            <a:avLst>
              <a:gd name="adj" fmla="val 25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11096" y="4809743"/>
            <a:ext cx="658368"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37" name="TextBox 36"/>
          <p:cNvSpPr txBox="1"/>
          <p:nvPr/>
        </p:nvSpPr>
        <p:spPr>
          <a:xfrm>
            <a:off x="1856232" y="5120640"/>
            <a:ext cx="1737360" cy="329184"/>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시스템 SW</a:t>
            </a:r>
          </a:p>
        </p:txBody>
      </p:sp>
      <p:sp>
        <p:nvSpPr>
          <p:cNvPr id="38" name="Right Arrow 37"/>
          <p:cNvSpPr/>
          <p:nvPr/>
        </p:nvSpPr>
        <p:spPr>
          <a:xfrm>
            <a:off x="3557016" y="4974336"/>
            <a:ext cx="457200" cy="237744"/>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142232" y="4809743"/>
            <a:ext cx="2011680" cy="566928"/>
          </a:xfrm>
          <a:prstGeom prst="roundRect">
            <a:avLst>
              <a:gd name="adj" fmla="val 1290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97096" y="4809743"/>
            <a:ext cx="1901952" cy="56692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 · 커널</a:t>
            </a:r>
          </a:p>
        </p:txBody>
      </p:sp>
      <p:sp>
        <p:nvSpPr>
          <p:cNvPr id="41" name="TextBox 40"/>
          <p:cNvSpPr txBox="1"/>
          <p:nvPr/>
        </p:nvSpPr>
        <p:spPr>
          <a:xfrm>
            <a:off x="6245352" y="4754879"/>
            <a:ext cx="2011680" cy="676656"/>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배치 코드</a:t>
            </a:r>
          </a:p>
        </p:txBody>
      </p:sp>
      <p:sp>
        <p:nvSpPr>
          <p:cNvPr id="42" name="Oval 41"/>
          <p:cNvSpPr/>
          <p:nvPr/>
        </p:nvSpPr>
        <p:spPr>
          <a:xfrm>
            <a:off x="1060886" y="5596127"/>
            <a:ext cx="177759" cy="177759"/>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 Same Side Corner Rectangle 42"/>
          <p:cNvSpPr/>
          <p:nvPr/>
        </p:nvSpPr>
        <p:spPr>
          <a:xfrm>
            <a:off x="996696" y="5803513"/>
            <a:ext cx="306141" cy="286390"/>
          </a:xfrm>
          <a:prstGeom prst="round2SameRect">
            <a:avLst>
              <a:gd name="adj1" fmla="val 45000"/>
              <a:gd name="adj2" fmla="val 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403604" y="5596127"/>
            <a:ext cx="177759" cy="177759"/>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 Same Side Corner Rectangle 44"/>
          <p:cNvSpPr/>
          <p:nvPr/>
        </p:nvSpPr>
        <p:spPr>
          <a:xfrm>
            <a:off x="1339413" y="5803513"/>
            <a:ext cx="306141" cy="286390"/>
          </a:xfrm>
          <a:prstGeom prst="round2SameRect">
            <a:avLst>
              <a:gd name="adj1" fmla="val 45000"/>
              <a:gd name="adj2" fmla="val 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856232" y="5559551"/>
            <a:ext cx="768096" cy="292608"/>
          </a:xfrm>
          <a:prstGeom prst="roundRect">
            <a:avLst>
              <a:gd name="adj" fmla="val 25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11096" y="5559551"/>
            <a:ext cx="658368"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48" name="TextBox 47"/>
          <p:cNvSpPr txBox="1"/>
          <p:nvPr/>
        </p:nvSpPr>
        <p:spPr>
          <a:xfrm>
            <a:off x="1856232" y="5870448"/>
            <a:ext cx="1737360" cy="329184"/>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NAND · FW</a:t>
            </a:r>
          </a:p>
        </p:txBody>
      </p:sp>
      <p:sp>
        <p:nvSpPr>
          <p:cNvPr id="49" name="Right Arrow 48"/>
          <p:cNvSpPr/>
          <p:nvPr/>
        </p:nvSpPr>
        <p:spPr>
          <a:xfrm>
            <a:off x="3557016" y="5724144"/>
            <a:ext cx="457200" cy="237744"/>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142232" y="5559551"/>
            <a:ext cx="2011680" cy="566928"/>
          </a:xfrm>
          <a:prstGeom prst="roundRect">
            <a:avLst>
              <a:gd name="adj" fmla="val 1290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97096" y="5559551"/>
            <a:ext cx="1901952" cy="56692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펌웨어</a:t>
            </a:r>
          </a:p>
        </p:txBody>
      </p:sp>
      <p:sp>
        <p:nvSpPr>
          <p:cNvPr id="52" name="TextBox 51"/>
          <p:cNvSpPr txBox="1"/>
          <p:nvPr/>
        </p:nvSpPr>
        <p:spPr>
          <a:xfrm>
            <a:off x="6245352" y="5504688"/>
            <a:ext cx="2011680" cy="676656"/>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FDP · pSLC 튜닝</a:t>
            </a:r>
          </a:p>
        </p:txBody>
      </p:sp>
      <p:sp>
        <p:nvSpPr>
          <p:cNvPr id="53" name="Oval 52"/>
          <p:cNvSpPr/>
          <p:nvPr/>
        </p:nvSpPr>
        <p:spPr>
          <a:xfrm>
            <a:off x="1060886" y="6345935"/>
            <a:ext cx="177759" cy="177759"/>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 Same Side Corner Rectangle 53"/>
          <p:cNvSpPr/>
          <p:nvPr/>
        </p:nvSpPr>
        <p:spPr>
          <a:xfrm>
            <a:off x="996696" y="6553321"/>
            <a:ext cx="306141" cy="286390"/>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856232" y="6309359"/>
            <a:ext cx="768096" cy="292608"/>
          </a:xfrm>
          <a:prstGeom prst="roundRect">
            <a:avLst>
              <a:gd name="adj" fmla="val 25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911096" y="6309359"/>
            <a:ext cx="658368"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57" name="TextBox 56"/>
          <p:cNvSpPr txBox="1"/>
          <p:nvPr/>
        </p:nvSpPr>
        <p:spPr>
          <a:xfrm>
            <a:off x="1856232" y="6620255"/>
            <a:ext cx="1737360" cy="329184"/>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분석</a:t>
            </a:r>
          </a:p>
        </p:txBody>
      </p:sp>
      <p:sp>
        <p:nvSpPr>
          <p:cNvPr id="58" name="Right Arrow 57"/>
          <p:cNvSpPr/>
          <p:nvPr/>
        </p:nvSpPr>
        <p:spPr>
          <a:xfrm>
            <a:off x="3557016" y="6473951"/>
            <a:ext cx="457200" cy="237744"/>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142232" y="6309359"/>
            <a:ext cx="2011680" cy="566928"/>
          </a:xfrm>
          <a:prstGeom prst="roundRect">
            <a:avLst>
              <a:gd name="adj" fmla="val 1290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97096" y="6309359"/>
            <a:ext cx="1901952" cy="56692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워크로드 데이터</a:t>
            </a:r>
          </a:p>
        </p:txBody>
      </p:sp>
      <p:sp>
        <p:nvSpPr>
          <p:cNvPr id="61" name="TextBox 60"/>
          <p:cNvSpPr txBox="1"/>
          <p:nvPr/>
        </p:nvSpPr>
        <p:spPr>
          <a:xfrm>
            <a:off x="6245352" y="6254495"/>
            <a:ext cx="2011680" cy="676656"/>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WAF · 꼬리 지연 실측</a:t>
            </a:r>
          </a:p>
        </p:txBody>
      </p:sp>
      <p:sp>
        <p:nvSpPr>
          <p:cNvPr id="62" name="Up-Down Arrow 61"/>
          <p:cNvSpPr/>
          <p:nvPr/>
        </p:nvSpPr>
        <p:spPr>
          <a:xfrm>
            <a:off x="4379976" y="7187184"/>
            <a:ext cx="365760" cy="438912"/>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722376" y="7662672"/>
            <a:ext cx="7680960" cy="877823"/>
          </a:xfrm>
          <a:prstGeom prst="roundRect">
            <a:avLst>
              <a:gd name="adj" fmla="val 8333"/>
            </a:avLst>
          </a:prstGeom>
          <a:solidFill>
            <a:srgbClr val="F5F5F5"/>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samsung.png"/>
          <p:cNvPicPr>
            <a:picLocks noChangeAspect="1"/>
          </p:cNvPicPr>
          <p:nvPr/>
        </p:nvPicPr>
        <p:blipFill>
          <a:blip r:embed="rId3"/>
          <a:stretch>
            <a:fillRect/>
          </a:stretch>
        </p:blipFill>
        <p:spPr>
          <a:xfrm>
            <a:off x="923544" y="8009869"/>
            <a:ext cx="1188720" cy="183428"/>
          </a:xfrm>
          <a:prstGeom prst="rect">
            <a:avLst/>
          </a:prstGeom>
        </p:spPr>
      </p:pic>
      <p:sp>
        <p:nvSpPr>
          <p:cNvPr id="65" name="Rounded Rectangle 64"/>
          <p:cNvSpPr/>
          <p:nvPr/>
        </p:nvSpPr>
        <p:spPr>
          <a:xfrm>
            <a:off x="2313432" y="7946136"/>
            <a:ext cx="640080" cy="310896"/>
          </a:xfrm>
          <a:prstGeom prst="roundRect">
            <a:avLst>
              <a:gd name="adj" fmla="val 23529"/>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368296" y="7946136"/>
            <a:ext cx="53035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Dev</a:t>
            </a:r>
          </a:p>
        </p:txBody>
      </p:sp>
      <p:sp>
        <p:nvSpPr>
          <p:cNvPr id="67" name="TextBox 66"/>
          <p:cNvSpPr txBox="1"/>
          <p:nvPr/>
        </p:nvSpPr>
        <p:spPr>
          <a:xfrm>
            <a:off x="3063240" y="7662672"/>
            <a:ext cx="5212080" cy="877823"/>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본사 후방 지원</a:t>
            </a:r>
            <a:r>
              <a:rPr sz="1500" b="0">
                <a:solidFill>
                  <a:srgbClr val="555555"/>
                </a:solidFill>
                <a:latin typeface="Arial"/>
                <a:ea typeface="Arial"/>
              </a:rPr>
              <a:t>   재현 · 검증 · 로드맵 반영</a:t>
            </a:r>
          </a:p>
        </p:txBody>
      </p:sp>
      <p:sp>
        <p:nvSpPr>
          <p:cNvPr id="68" name="Oval 67"/>
          <p:cNvSpPr/>
          <p:nvPr/>
        </p:nvSpPr>
        <p:spPr>
          <a:xfrm>
            <a:off x="5568696" y="3346704"/>
            <a:ext cx="182880" cy="18288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806440" y="3273552"/>
            <a:ext cx="1143000"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현지 채용</a:t>
            </a:r>
          </a:p>
        </p:txBody>
      </p:sp>
      <p:sp>
        <p:nvSpPr>
          <p:cNvPr id="70" name="Oval 69"/>
          <p:cNvSpPr/>
          <p:nvPr/>
        </p:nvSpPr>
        <p:spPr>
          <a:xfrm>
            <a:off x="6986016" y="3346704"/>
            <a:ext cx="182880" cy="182880"/>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223760" y="3273552"/>
            <a:ext cx="1143000"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본사 파견</a:t>
            </a:r>
          </a:p>
        </p:txBody>
      </p:sp>
      <p:sp>
        <p:nvSpPr>
          <p:cNvPr id="72" name="Chevron 71"/>
          <p:cNvSpPr/>
          <p:nvPr/>
        </p:nvSpPr>
        <p:spPr>
          <a:xfrm>
            <a:off x="854049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82396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82396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75" name="TextBox 74"/>
          <p:cNvSpPr txBox="1"/>
          <p:nvPr/>
        </p:nvSpPr>
        <p:spPr>
          <a:xfrm>
            <a:off x="9409176" y="2103120"/>
            <a:ext cx="8156447"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고객이 늘수록 Pod를 더합니다</a:t>
            </a:r>
          </a:p>
        </p:txBody>
      </p:sp>
      <p:sp>
        <p:nvSpPr>
          <p:cNvPr id="76" name="TextBox 75"/>
          <p:cNvSpPr txBox="1"/>
          <p:nvPr/>
        </p:nvSpPr>
        <p:spPr>
          <a:xfrm>
            <a:off x="8823960" y="2688336"/>
            <a:ext cx="8741663"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인력 ≈ 고객 수 × 5~6명 + 거점 공통 + 본사 후방 지원</a:t>
            </a:r>
          </a:p>
        </p:txBody>
      </p:sp>
      <p:sp>
        <p:nvSpPr>
          <p:cNvPr id="77" name="Rounded Rectangle 76"/>
          <p:cNvSpPr/>
          <p:nvPr/>
        </p:nvSpPr>
        <p:spPr>
          <a:xfrm>
            <a:off x="8823960" y="4937760"/>
            <a:ext cx="2755392" cy="3602735"/>
          </a:xfrm>
          <a:prstGeom prst="roundRect">
            <a:avLst>
              <a:gd name="adj" fmla="val 2654"/>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8933688" y="5047488"/>
            <a:ext cx="2535936"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988552" y="5047488"/>
            <a:ext cx="2426208" cy="384048"/>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1단계 · 미국</a:t>
            </a:r>
          </a:p>
        </p:txBody>
      </p:sp>
      <p:sp>
        <p:nvSpPr>
          <p:cNvPr id="80" name="Rounded Rectangle 79"/>
          <p:cNvSpPr/>
          <p:nvPr/>
        </p:nvSpPr>
        <p:spPr>
          <a:xfrm>
            <a:off x="8933688" y="5559552"/>
            <a:ext cx="1213104" cy="475488"/>
          </a:xfrm>
          <a:prstGeom prst="roundRect">
            <a:avLst>
              <a:gd name="adj" fmla="val 1538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google.png"/>
          <p:cNvPicPr>
            <a:picLocks noChangeAspect="1"/>
          </p:cNvPicPr>
          <p:nvPr/>
        </p:nvPicPr>
        <p:blipFill>
          <a:blip r:embed="rId4"/>
          <a:stretch>
            <a:fillRect/>
          </a:stretch>
        </p:blipFill>
        <p:spPr>
          <a:xfrm>
            <a:off x="9093888" y="5650992"/>
            <a:ext cx="892702" cy="292608"/>
          </a:xfrm>
          <a:prstGeom prst="rect">
            <a:avLst/>
          </a:prstGeom>
        </p:spPr>
      </p:pic>
      <p:sp>
        <p:nvSpPr>
          <p:cNvPr id="82" name="Rounded Rectangle 81"/>
          <p:cNvSpPr/>
          <p:nvPr/>
        </p:nvSpPr>
        <p:spPr>
          <a:xfrm>
            <a:off x="10256520" y="5559552"/>
            <a:ext cx="1213104" cy="475488"/>
          </a:xfrm>
          <a:prstGeom prst="roundRect">
            <a:avLst>
              <a:gd name="adj" fmla="val 1538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3" name="Picture 82" descr="meta.png"/>
          <p:cNvPicPr>
            <a:picLocks noChangeAspect="1"/>
          </p:cNvPicPr>
          <p:nvPr/>
        </p:nvPicPr>
        <p:blipFill>
          <a:blip r:embed="rId5"/>
          <a:stretch>
            <a:fillRect/>
          </a:stretch>
        </p:blipFill>
        <p:spPr>
          <a:xfrm>
            <a:off x="10347960" y="5692556"/>
            <a:ext cx="1030224" cy="209478"/>
          </a:xfrm>
          <a:prstGeom prst="rect">
            <a:avLst/>
          </a:prstGeom>
        </p:spPr>
      </p:pic>
      <p:sp>
        <p:nvSpPr>
          <p:cNvPr id="84" name="Rounded Rectangle 83"/>
          <p:cNvSpPr/>
          <p:nvPr/>
        </p:nvSpPr>
        <p:spPr>
          <a:xfrm>
            <a:off x="9278112" y="7351775"/>
            <a:ext cx="3108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9662160" y="7351775"/>
            <a:ext cx="3108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823960" y="7754112"/>
            <a:ext cx="2755392"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Pod </a:t>
            </a:r>
            <a:r>
              <a:rPr sz="1800" b="1">
                <a:solidFill>
                  <a:srgbClr val="1A1A1A"/>
                </a:solidFill>
                <a:latin typeface="Arial"/>
                <a:ea typeface="Arial"/>
              </a:rPr>
              <a:t>2</a:t>
            </a:r>
          </a:p>
        </p:txBody>
      </p:sp>
      <p:sp>
        <p:nvSpPr>
          <p:cNvPr id="87" name="TextBox 86"/>
          <p:cNvSpPr txBox="1"/>
          <p:nvPr/>
        </p:nvSpPr>
        <p:spPr>
          <a:xfrm>
            <a:off x="8823960" y="8083296"/>
            <a:ext cx="2755392" cy="402336"/>
          </a:xfrm>
          <a:prstGeom prst="rect">
            <a:avLst/>
          </a:prstGeom>
          <a:noFill/>
        </p:spPr>
        <p:txBody>
          <a:bodyPr wrap="square" anchor="ctr" lIns="0" rIns="0" tIns="0" bIns="0">
            <a:spAutoFit/>
          </a:bodyPr>
          <a:lstStyle/>
          <a:p>
            <a:pPr algn="ctr">
              <a:lnSpc>
                <a:spcPct val="110000"/>
              </a:lnSpc>
            </a:pPr>
            <a:r>
              <a:rPr sz="2100" b="1">
                <a:solidFill>
                  <a:srgbClr val="3C4FA5"/>
                </a:solidFill>
                <a:latin typeface="Arial"/>
                <a:ea typeface="Arial"/>
              </a:rPr>
              <a:t>약 20명</a:t>
            </a:r>
          </a:p>
        </p:txBody>
      </p:sp>
      <p:sp>
        <p:nvSpPr>
          <p:cNvPr id="88" name="Rounded Rectangle 87"/>
          <p:cNvSpPr/>
          <p:nvPr/>
        </p:nvSpPr>
        <p:spPr>
          <a:xfrm>
            <a:off x="11817096" y="4023360"/>
            <a:ext cx="2755392" cy="4517136"/>
          </a:xfrm>
          <a:prstGeom prst="roundRect">
            <a:avLst>
              <a:gd name="adj" fmla="val 2654"/>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11926824" y="4133088"/>
            <a:ext cx="2535936" cy="384048"/>
          </a:xfrm>
          <a:prstGeom prst="roundRect">
            <a:avLst>
              <a:gd name="adj" fmla="val 19047"/>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1981688" y="4133088"/>
            <a:ext cx="2426208" cy="384048"/>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2단계 · +중국</a:t>
            </a:r>
          </a:p>
        </p:txBody>
      </p:sp>
      <p:sp>
        <p:nvSpPr>
          <p:cNvPr id="91" name="Rounded Rectangle 90"/>
          <p:cNvSpPr/>
          <p:nvPr/>
        </p:nvSpPr>
        <p:spPr>
          <a:xfrm>
            <a:off x="11926824" y="4645152"/>
            <a:ext cx="1213104" cy="475488"/>
          </a:xfrm>
          <a:prstGeom prst="roundRect">
            <a:avLst>
              <a:gd name="adj" fmla="val 1538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nvidia.png"/>
          <p:cNvPicPr>
            <a:picLocks noChangeAspect="1"/>
          </p:cNvPicPr>
          <p:nvPr/>
        </p:nvPicPr>
        <p:blipFill>
          <a:blip r:embed="rId6"/>
          <a:stretch>
            <a:fillRect/>
          </a:stretch>
        </p:blipFill>
        <p:spPr>
          <a:xfrm>
            <a:off x="12018264" y="4784452"/>
            <a:ext cx="1030224" cy="196887"/>
          </a:xfrm>
          <a:prstGeom prst="rect">
            <a:avLst/>
          </a:prstGeom>
        </p:spPr>
      </p:pic>
      <p:sp>
        <p:nvSpPr>
          <p:cNvPr id="93" name="Rounded Rectangle 92"/>
          <p:cNvSpPr/>
          <p:nvPr/>
        </p:nvSpPr>
        <p:spPr>
          <a:xfrm>
            <a:off x="13249656" y="4645152"/>
            <a:ext cx="1213104" cy="475488"/>
          </a:xfrm>
          <a:prstGeom prst="roundRect">
            <a:avLst>
              <a:gd name="adj" fmla="val 1538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4" name="Picture 93" descr="openai.png"/>
          <p:cNvPicPr>
            <a:picLocks noChangeAspect="1"/>
          </p:cNvPicPr>
          <p:nvPr/>
        </p:nvPicPr>
        <p:blipFill>
          <a:blip r:embed="rId7"/>
          <a:stretch>
            <a:fillRect/>
          </a:stretch>
        </p:blipFill>
        <p:spPr>
          <a:xfrm>
            <a:off x="13341096" y="4756407"/>
            <a:ext cx="1030224" cy="252977"/>
          </a:xfrm>
          <a:prstGeom prst="rect">
            <a:avLst/>
          </a:prstGeom>
        </p:spPr>
      </p:pic>
      <p:sp>
        <p:nvSpPr>
          <p:cNvPr id="95" name="Rounded Rectangle 94"/>
          <p:cNvSpPr/>
          <p:nvPr/>
        </p:nvSpPr>
        <p:spPr>
          <a:xfrm>
            <a:off x="11926824" y="5212080"/>
            <a:ext cx="1213104" cy="475488"/>
          </a:xfrm>
          <a:prstGeom prst="roundRect">
            <a:avLst>
              <a:gd name="adj" fmla="val 15384"/>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1926824" y="5212080"/>
            <a:ext cx="1213104" cy="475488"/>
          </a:xfrm>
          <a:prstGeom prst="rect">
            <a:avLst/>
          </a:prstGeom>
          <a:noFill/>
        </p:spPr>
        <p:txBody>
          <a:bodyPr wrap="square" anchor="ctr" lIns="0" rIns="0" tIns="0" bIns="0">
            <a:spAutoFit/>
          </a:bodyPr>
          <a:lstStyle/>
          <a:p>
            <a:pPr algn="ctr">
              <a:lnSpc>
                <a:spcPct val="110000"/>
              </a:lnSpc>
            </a:pPr>
            <a:r>
              <a:rPr sz="1500" b="1">
                <a:solidFill>
                  <a:srgbClr val="1A1A1A"/>
                </a:solidFill>
                <a:latin typeface="Arial"/>
                <a:ea typeface="Arial"/>
              </a:rPr>
              <a:t>Alibaba</a:t>
            </a:r>
          </a:p>
        </p:txBody>
      </p:sp>
      <p:sp>
        <p:nvSpPr>
          <p:cNvPr id="97" name="Rounded Rectangle 96"/>
          <p:cNvSpPr/>
          <p:nvPr/>
        </p:nvSpPr>
        <p:spPr>
          <a:xfrm>
            <a:off x="13249656" y="5212080"/>
            <a:ext cx="1213104" cy="475488"/>
          </a:xfrm>
          <a:prstGeom prst="roundRect">
            <a:avLst>
              <a:gd name="adj" fmla="val 15384"/>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249656" y="5212080"/>
            <a:ext cx="1213104" cy="475488"/>
          </a:xfrm>
          <a:prstGeom prst="rect">
            <a:avLst/>
          </a:prstGeom>
          <a:noFill/>
        </p:spPr>
        <p:txBody>
          <a:bodyPr wrap="square" anchor="ctr" lIns="0" rIns="0" tIns="0" bIns="0">
            <a:spAutoFit/>
          </a:bodyPr>
          <a:lstStyle/>
          <a:p>
            <a:pPr algn="ctr">
              <a:lnSpc>
                <a:spcPct val="110000"/>
              </a:lnSpc>
            </a:pPr>
            <a:r>
              <a:rPr sz="1500" b="1">
                <a:solidFill>
                  <a:srgbClr val="1A1A1A"/>
                </a:solidFill>
                <a:latin typeface="Arial"/>
                <a:ea typeface="Arial"/>
              </a:rPr>
              <a:t>ByteDance</a:t>
            </a:r>
          </a:p>
        </p:txBody>
      </p:sp>
      <p:sp>
        <p:nvSpPr>
          <p:cNvPr id="99" name="Rounded Rectangle 98"/>
          <p:cNvSpPr/>
          <p:nvPr/>
        </p:nvSpPr>
        <p:spPr>
          <a:xfrm>
            <a:off x="12271248" y="6967727"/>
            <a:ext cx="310896" cy="310896"/>
          </a:xfrm>
          <a:prstGeom prst="roundRect">
            <a:avLst>
              <a:gd name="adj" fmla="val 23529"/>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12655296" y="6967727"/>
            <a:ext cx="310896" cy="310896"/>
          </a:xfrm>
          <a:prstGeom prst="roundRect">
            <a:avLst>
              <a:gd name="adj" fmla="val 23529"/>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13039344" y="6967727"/>
            <a:ext cx="3108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13423392" y="6967727"/>
            <a:ext cx="3108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13807440" y="6967727"/>
            <a:ext cx="3108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12271248" y="7351775"/>
            <a:ext cx="3108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1817096" y="7754112"/>
            <a:ext cx="2755392"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Pod </a:t>
            </a:r>
            <a:r>
              <a:rPr sz="1800" b="1">
                <a:solidFill>
                  <a:srgbClr val="1A1A1A"/>
                </a:solidFill>
                <a:latin typeface="Arial"/>
                <a:ea typeface="Arial"/>
              </a:rPr>
              <a:t>6</a:t>
            </a:r>
          </a:p>
        </p:txBody>
      </p:sp>
      <p:sp>
        <p:nvSpPr>
          <p:cNvPr id="106" name="TextBox 105"/>
          <p:cNvSpPr txBox="1"/>
          <p:nvPr/>
        </p:nvSpPr>
        <p:spPr>
          <a:xfrm>
            <a:off x="11817096" y="8083296"/>
            <a:ext cx="2755392" cy="402336"/>
          </a:xfrm>
          <a:prstGeom prst="rect">
            <a:avLst/>
          </a:prstGeom>
          <a:noFill/>
        </p:spPr>
        <p:txBody>
          <a:bodyPr wrap="square" anchor="ctr" lIns="0" rIns="0" tIns="0" bIns="0">
            <a:spAutoFit/>
          </a:bodyPr>
          <a:lstStyle/>
          <a:p>
            <a:pPr algn="ctr">
              <a:lnSpc>
                <a:spcPct val="110000"/>
              </a:lnSpc>
            </a:pPr>
            <a:r>
              <a:rPr sz="2100" b="1">
                <a:solidFill>
                  <a:srgbClr val="3C4FA5"/>
                </a:solidFill>
                <a:latin typeface="Arial"/>
                <a:ea typeface="Arial"/>
              </a:rPr>
              <a:t>약 50명</a:t>
            </a:r>
          </a:p>
        </p:txBody>
      </p:sp>
      <p:sp>
        <p:nvSpPr>
          <p:cNvPr id="107" name="Rounded Rectangle 106"/>
          <p:cNvSpPr/>
          <p:nvPr/>
        </p:nvSpPr>
        <p:spPr>
          <a:xfrm>
            <a:off x="14810232" y="3182112"/>
            <a:ext cx="2755392" cy="5358383"/>
          </a:xfrm>
          <a:prstGeom prst="roundRect">
            <a:avLst>
              <a:gd name="adj" fmla="val 2654"/>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14919960" y="3291840"/>
            <a:ext cx="2535936" cy="384048"/>
          </a:xfrm>
          <a:prstGeom prst="roundRect">
            <a:avLst>
              <a:gd name="adj" fmla="val 19047"/>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4974824" y="3291840"/>
            <a:ext cx="2426208" cy="384048"/>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3단계</a:t>
            </a:r>
          </a:p>
        </p:txBody>
      </p:sp>
      <p:sp>
        <p:nvSpPr>
          <p:cNvPr id="110" name="Rounded Rectangle 109"/>
          <p:cNvSpPr/>
          <p:nvPr/>
        </p:nvSpPr>
        <p:spPr>
          <a:xfrm>
            <a:off x="14919960" y="3803904"/>
            <a:ext cx="1213104" cy="475488"/>
          </a:xfrm>
          <a:prstGeom prst="roundRect">
            <a:avLst>
              <a:gd name="adj" fmla="val 1538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1" name="Picture 110" descr="microsoft.png"/>
          <p:cNvPicPr>
            <a:picLocks noChangeAspect="1"/>
          </p:cNvPicPr>
          <p:nvPr/>
        </p:nvPicPr>
        <p:blipFill>
          <a:blip r:embed="rId8"/>
          <a:stretch>
            <a:fillRect/>
          </a:stretch>
        </p:blipFill>
        <p:spPr>
          <a:xfrm>
            <a:off x="15011400" y="3931185"/>
            <a:ext cx="1030224" cy="220925"/>
          </a:xfrm>
          <a:prstGeom prst="rect">
            <a:avLst/>
          </a:prstGeom>
        </p:spPr>
      </p:pic>
      <p:sp>
        <p:nvSpPr>
          <p:cNvPr id="112" name="Rounded Rectangle 111"/>
          <p:cNvSpPr/>
          <p:nvPr/>
        </p:nvSpPr>
        <p:spPr>
          <a:xfrm>
            <a:off x="16242792" y="3803904"/>
            <a:ext cx="1213104" cy="475488"/>
          </a:xfrm>
          <a:prstGeom prst="roundRect">
            <a:avLst>
              <a:gd name="adj" fmla="val 1538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3" name="Picture 112" descr="aws.png"/>
          <p:cNvPicPr>
            <a:picLocks noChangeAspect="1"/>
          </p:cNvPicPr>
          <p:nvPr/>
        </p:nvPicPr>
        <p:blipFill>
          <a:blip r:embed="rId9"/>
          <a:stretch>
            <a:fillRect/>
          </a:stretch>
        </p:blipFill>
        <p:spPr>
          <a:xfrm>
            <a:off x="16604597" y="3895344"/>
            <a:ext cx="489492" cy="292608"/>
          </a:xfrm>
          <a:prstGeom prst="rect">
            <a:avLst/>
          </a:prstGeom>
        </p:spPr>
      </p:pic>
      <p:sp>
        <p:nvSpPr>
          <p:cNvPr id="114" name="Rounded Rectangle 113"/>
          <p:cNvSpPr/>
          <p:nvPr/>
        </p:nvSpPr>
        <p:spPr>
          <a:xfrm>
            <a:off x="14919960" y="4370832"/>
            <a:ext cx="1213104" cy="475488"/>
          </a:xfrm>
          <a:prstGeom prst="roundRect">
            <a:avLst>
              <a:gd name="adj" fmla="val 1538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919960" y="4370832"/>
            <a:ext cx="1213104" cy="475488"/>
          </a:xfrm>
          <a:prstGeom prst="rect">
            <a:avLst/>
          </a:prstGeom>
          <a:noFill/>
        </p:spPr>
        <p:txBody>
          <a:bodyPr wrap="square" anchor="ctr" lIns="0" rIns="0" tIns="0" bIns="0">
            <a:spAutoFit/>
          </a:bodyPr>
          <a:lstStyle/>
          <a:p>
            <a:pPr algn="ctr">
              <a:lnSpc>
                <a:spcPct val="110000"/>
              </a:lnSpc>
            </a:pPr>
            <a:r>
              <a:rPr sz="1500" b="1">
                <a:solidFill>
                  <a:srgbClr val="1A1A1A"/>
                </a:solidFill>
                <a:latin typeface="Arial"/>
                <a:ea typeface="Arial"/>
              </a:rPr>
              <a:t>네오클라우드</a:t>
            </a:r>
          </a:p>
        </p:txBody>
      </p:sp>
      <p:sp>
        <p:nvSpPr>
          <p:cNvPr id="116" name="Rounded Rectangle 115"/>
          <p:cNvSpPr/>
          <p:nvPr/>
        </p:nvSpPr>
        <p:spPr>
          <a:xfrm>
            <a:off x="16242792" y="4370832"/>
            <a:ext cx="1213104" cy="475488"/>
          </a:xfrm>
          <a:prstGeom prst="roundRect">
            <a:avLst>
              <a:gd name="adj" fmla="val 15384"/>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6242792" y="4370832"/>
            <a:ext cx="1213104" cy="475488"/>
          </a:xfrm>
          <a:prstGeom prst="rect">
            <a:avLst/>
          </a:prstGeom>
          <a:noFill/>
        </p:spPr>
        <p:txBody>
          <a:bodyPr wrap="square" anchor="ctr" lIns="0" rIns="0" tIns="0" bIns="0">
            <a:spAutoFit/>
          </a:bodyPr>
          <a:lstStyle/>
          <a:p>
            <a:pPr algn="ctr">
              <a:lnSpc>
                <a:spcPct val="110000"/>
              </a:lnSpc>
            </a:pPr>
            <a:r>
              <a:rPr sz="1500" b="1">
                <a:solidFill>
                  <a:srgbClr val="1A1A1A"/>
                </a:solidFill>
                <a:latin typeface="Arial"/>
                <a:ea typeface="Arial"/>
              </a:rPr>
              <a:t>DeepSeek</a:t>
            </a:r>
          </a:p>
        </p:txBody>
      </p:sp>
      <p:sp>
        <p:nvSpPr>
          <p:cNvPr id="118" name="Rounded Rectangle 117"/>
          <p:cNvSpPr/>
          <p:nvPr/>
        </p:nvSpPr>
        <p:spPr>
          <a:xfrm>
            <a:off x="15264384" y="6967727"/>
            <a:ext cx="310896" cy="310896"/>
          </a:xfrm>
          <a:prstGeom prst="roundRect">
            <a:avLst>
              <a:gd name="adj" fmla="val 23529"/>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15648432" y="6967727"/>
            <a:ext cx="310896" cy="310896"/>
          </a:xfrm>
          <a:prstGeom prst="roundRect">
            <a:avLst>
              <a:gd name="adj" fmla="val 23529"/>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6032480" y="6967727"/>
            <a:ext cx="310896" cy="310896"/>
          </a:xfrm>
          <a:prstGeom prst="roundRect">
            <a:avLst>
              <a:gd name="adj" fmla="val 23529"/>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16416528" y="6967727"/>
            <a:ext cx="310896" cy="310896"/>
          </a:xfrm>
          <a:prstGeom prst="roundRect">
            <a:avLst>
              <a:gd name="adj" fmla="val 23529"/>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6800576" y="6967727"/>
            <a:ext cx="310896" cy="310896"/>
          </a:xfrm>
          <a:prstGeom prst="roundRect">
            <a:avLst>
              <a:gd name="adj" fmla="val 23529"/>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264384" y="7351775"/>
            <a:ext cx="310896" cy="310896"/>
          </a:xfrm>
          <a:prstGeom prst="roundRect">
            <a:avLst>
              <a:gd name="adj" fmla="val 23529"/>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648432" y="7351775"/>
            <a:ext cx="3108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16032480" y="7351775"/>
            <a:ext cx="3108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16416528" y="7351775"/>
            <a:ext cx="3108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6800576" y="7351775"/>
            <a:ext cx="3108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4810232" y="7754112"/>
            <a:ext cx="2755392"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Pod </a:t>
            </a:r>
            <a:r>
              <a:rPr sz="1800" b="1">
                <a:solidFill>
                  <a:srgbClr val="1A1A1A"/>
                </a:solidFill>
                <a:latin typeface="Arial"/>
                <a:ea typeface="Arial"/>
              </a:rPr>
              <a:t>10</a:t>
            </a:r>
          </a:p>
        </p:txBody>
      </p:sp>
      <p:sp>
        <p:nvSpPr>
          <p:cNvPr id="129" name="TextBox 128"/>
          <p:cNvSpPr txBox="1"/>
          <p:nvPr/>
        </p:nvSpPr>
        <p:spPr>
          <a:xfrm>
            <a:off x="14810232" y="8083296"/>
            <a:ext cx="2755392" cy="402336"/>
          </a:xfrm>
          <a:prstGeom prst="rect">
            <a:avLst/>
          </a:prstGeom>
          <a:noFill/>
        </p:spPr>
        <p:txBody>
          <a:bodyPr wrap="square" anchor="ctr" lIns="0" rIns="0" tIns="0" bIns="0">
            <a:spAutoFit/>
          </a:bodyPr>
          <a:lstStyle/>
          <a:p>
            <a:pPr algn="ctr">
              <a:lnSpc>
                <a:spcPct val="110000"/>
              </a:lnSpc>
            </a:pPr>
            <a:r>
              <a:rPr sz="2100" b="1">
                <a:solidFill>
                  <a:srgbClr val="3C4FA5"/>
                </a:solidFill>
                <a:latin typeface="Arial"/>
                <a:ea typeface="Arial"/>
              </a:rPr>
              <a:t>약 80명</a:t>
            </a:r>
          </a:p>
        </p:txBody>
      </p:sp>
      <p:sp>
        <p:nvSpPr>
          <p:cNvPr id="130" name="TextBox 129"/>
          <p:cNvSpPr txBox="1"/>
          <p:nvPr/>
        </p:nvSpPr>
        <p:spPr>
          <a:xfrm>
            <a:off x="8823960" y="3182112"/>
            <a:ext cx="5748528" cy="329184"/>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점선</a:t>
            </a:r>
            <a:r>
              <a:rPr sz="1500" b="0">
                <a:solidFill>
                  <a:srgbClr val="555555"/>
                </a:solidFill>
                <a:latin typeface="Arial"/>
                <a:ea typeface="Arial"/>
              </a:rPr>
              <a:t> = 중국 거점 고객   </a:t>
            </a:r>
            <a:r>
              <a:rPr sz="1500" b="1">
                <a:solidFill>
                  <a:srgbClr val="3C4FA5"/>
                </a:solidFill>
                <a:latin typeface="Arial"/>
                <a:ea typeface="Arial"/>
              </a:rPr>
              <a:t>진한 칸</a:t>
            </a:r>
            <a:r>
              <a:rPr sz="1500" b="0">
                <a:solidFill>
                  <a:srgbClr val="555555"/>
                </a:solidFill>
                <a:latin typeface="Arial"/>
                <a:ea typeface="Arial"/>
              </a:rPr>
              <a:t> = 새 Pod</a:t>
            </a:r>
          </a:p>
        </p:txBody>
      </p:sp>
      <p:sp>
        <p:nvSpPr>
          <p:cNvPr id="131" name="Rectangle 130"/>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원칙</a:t>
            </a:r>
          </a:p>
        </p:txBody>
      </p:sp>
      <p:sp>
        <p:nvSpPr>
          <p:cNvPr id="133" name="TextBox 13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고객 한 곳에 Pod 하나, 협업 고객이 늘수록 조직을 키웁니다</a:t>
            </a:r>
          </a:p>
        </p:txBody>
      </p:sp>
      <p:sp>
        <p:nvSpPr>
          <p:cNvPr id="134" name="TextBox 13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Palantir Echo · Delta 채용 공고 · 고객 근거: Meta CacheLib FDP · NVIDIA Dynamo · CMX · Alibaba Tair KVCache · Microsoft OCP FDP · AWS Nitro SSD · DeepSeek 3FS · 2단계 AI 랩은 OpenAI 또는 Anthropic · 순서 · 인원은 과제팀 제안 · 중국은 법무 검토 전제</a:t>
            </a:r>
          </a:p>
        </p:txBody>
      </p:sp>
      <p:sp>
        <p:nvSpPr>
          <p:cNvPr id="135" name="TextBox 13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9 / 9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