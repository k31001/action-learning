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62" r:id="rId14"/>
    <p:sldId id="259" r:id="rId11"/>
    <p:sldId id="260" r:id="rId12"/>
    <p:sldId id="261" r:id="rId13"/>
    <p:sldId id="263" r:id="rId15"/>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1장은 지금의 수요와 삼성의 대응 현황입니다. 왼쪽 HBM은 교훈입니다. 삼성 점유율이 2022년 40퍼센트에서 2025년 2분기 17퍼센트로 내려왔습니다. 하나의 수요를 늦게 읽으면 첫 호황을 놓칩니다. 그래서 데이터센터 응용 네 가지를 SSD 요구로 비교했습니다. 범용 클라우드는 여러 VM이 SSD를 나눠 쓰므로 QoS와 격리, AI 학습은 데이터 로딩 대역과 체크포인트, 에이전트는 사용자마다 VM 디스크를 두므로 용량과 TB당 비용이 요구입니다. AI 추론에서 SSD는 GPU HBM과 CPU DRAM 아래의 메모리 계층입니다. KV 캐시가 넘치면 SSD로 내려가고, 다시 쓸 때 올라옵니다. 그래서 세 가지를 한꺼번에 요구합니다. 읽기 대역은 70B 모델 128K 토큰의 KV를 1초 안에 되살리려면 GPU당 약 5.4기가바이트 매초, 꼬리 지연은 첫 토큰 p99 450밀리초 목표, 쓰기 내구는 KV 계층 실측 3.2 DWPD입니다. 가운데는 삼성 포트폴리오의 대응 현황입니다. 고내구 TLC PM1755는 쓰기 많은 KV, PCIe 6.0 PM1763은 학습 데이터 로딩, PCIe 5.0 PM1753은 VM과 DB, 그리고 NVIDIA CMX KV 계층, QLC BM1743과 BM1773은 객체와 사용자 VM 디스크를 맡습니다. 점선은 적합하지만 아직 내세우지 않은 용도입니다. 맨 아래는 TechInsights 3분기 전망입니다. 추론 비중이 2025년 31퍼센트에서 2030년 79퍼센트가 됩니다. [클릭] 추론 카드, 추론 열 포트폴리오, 추론 비중이 한 줄로 묶입니다. 수요는 추론으로 몰리고, 추론은 대역, 꼬리 지연, 내구를 한꺼번에 요구합니다. 그래서 다음 장부터 추론에 집중합니다. 제품 이미지는 형태 재현입니다.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2장은 AI 추론을 네 가지 수요로 나눠, 요구와 핵심 기술을 연결한 것입니다. 모델 가중치는 로딩 순간의 읽기 대역과 용량, RAG와 벡터 DB는 작은 랜덤 읽기의 꼬리 지연과 용량, KV 캐시 오프로드는 대역, 꼬리 지연, DWPD 모두, 에이전트 메모리는 용량과 격리, 보안이 핵심입니다. 오른쪽 기술 칩의 진하기는 고객 협력의 깊이입니다. 가장 진한 FDP와 Mixed Media는 고객 워크로드에서 최적화까지 함께 해야 하고, 중간인 Large Mapping, Multi-Tenant QoS, Confidential은 고객 시스템 개발이 필요하며, 가장 연한 Fault Tolerant는 SSD 안에서 해결합니다. 네 가지 수요 모두 고객 협력이 필요하고, 세 가지는 최적화까지 함께 해야 합니다. 예를 들어 PM9D3a에 FDP를 적용한 LMCache KV 실험에서 WAF가 2.6에서 1.4로 줄었는데, 고객의 KV 관리자와 맞물려야 나오는 효과입니다. 아래 띠는 여섯 기술이 하는 일을 그린 것입니다. [클릭] FDP, Mixed Media, Large Mapping이 강조됩니다. 추론 수요에 가장 많이 걸리는 세 기술이고, 다음 장에서 이 세 기술로 무엇이 좋아지는지 말씀드리겠습니다. 결론은 AI 추론 수요에 대응하려면 고객과의 협업이 필수라는 것입니다. 매핑과 협력 단계는 과제팀 판단입니다.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3장은 SSD 차별화 요구의 변화와, 그에 대비한 포트폴리오입니다. 맨 위 띠처럼 SSD의 차별화 요구는 성능, 전력 효율, VM 단위 QoS를 거쳐, AI 시대에는 예측 가능한 QoS, 고용량, 고내구로 바뀌고 있습니다. 세 기술이 겨냥하는 것은 QLC 고용량과 고객 워크로드에 맞춘 내구성입니다. 시기 구분은 과제팀 정리입니다. 1번은 원리입니다. GC가 일어나면 읽기가 기다려 지연 스파이크가 생깁니다. Mixed Media는 GC 빈도를, Large Mapping은 GC 횟수를, FDP는 GC 시간을 줄입니다. GC가 드물고 짧아지면 지연이 예측 가능해집니다. FDP의 원리는 오른쪽 위 30초 영상 버튼으로 바로 보여 드릴 수 있습니다. 2번은 결과입니다. Meta CacheLib에 FDP를 적용하자 WAF가 3.22에서 1.03으로 68퍼센트, PM9D3a RocksDB에서 p99.9 꼬리 지연이 55퍼센트 줄었습니다. WAF가 SSD만으로 3 근처에 머문 이유는 참고 5장에 있고, 상자를 누르면 그 장으로 갑니다. 꼬리 지연 측정은 TLC 결과라는 한계가 있습니다. 3번은 포트폴리오입니다. 바닥은 정격 DWPD와 용량, 높이는 꼬리 지연입니다. WAF가 3에서 1이 되면 정격 DWPD는 약 3배가 됩니다. 과제팀 산술입니다. [클릭] 네 제품군이 한꺼번에 넓어집니다. QLC는 0.3에서 1 DWPD로 TLC가 맡던 KV 오프로드까지, 고성능 TLC는 1에서 3으로 쓰기 많은 KV까지, 고내구 TLC는 3에서 9로 초고DWPD 입구까지, SLC급은 30에서 100 근처까지 갑니다. 초고DWPD 요구가 오면 TLC와 SLC급 가운데 고를 수 있습니다. 대비한 기술이 있어야 미래 수요에 능동적으로 대응하는 포트폴리오를 완성할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5장은 WAF가 SSD만으로는 3 근처에 머문 이유입니다. 첫째 칸, NAND에서 SSD로 넘어올 때는 셀 오류율이 약 100만 배 나빠졌지만 컨트롤러 ECC가 약 60배 강해져 SSD 안에서 해결됐습니다. 둘째 칸, SSD 혼자 핫 콜드 추정, 스트림 분리, IO 결정성을 더했지만 실제 워크로드에서 WAF는 약 3에 머물렀습니다. 데이터가 언제 지워지는지는 호스트만 알기 때문입니다. 아래 점도표가 그 결과입니다. 6개 업체 226개 등급의 정격 DWPD 중앙값이 2008년에서 2014년 9.6에서 2019년 이후 1로 내려왔고, QLC는 0.2에서 0.6입니다. 셀이 견디는 쓰기가 SLC에서 QLC로 약 100배 줄었기 때문입니다. 반면 고객 캐시 계층은 하루 3에서 7.2회를 씁니다. 셋째 칸이 해법입니다. 삼성 엔지니어가 Meta CacheLib에 FDP 배치를 구현해 WAF를 3.22에서 1.03으로 낮췄습니다. Google, Alibaba, AWS도 이미 자기 시스템에 맞춰 SSD를 직접 설계합니다. 사양서를 받아 SSD를 잘 만드는 방식은 둘째 칸에 머물고, 셋째 칸은 고객 시스템 안에서 함께 설계해야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6장은 QLC가 TLC 수요로 들어가는 사업 기회입니다. 2030년 eSSD 약 1,500엑사바이트 가운데 지금 경로의 QLC는 약 636엑사바이트, 42퍼센트입니다. WAF를 낮춰 QLC를 1 DWPD로 올리면 세 몫이 더해집니다. 조달 규격 때문에 TLC를 쓰던 내구 규격 약 192엑사바이트, 관행과 가격 약 64엑사바이트, 꼬리 지연을 극복해 가져올 성능 수요 일부 63에서 125엑사바이트입니다. 그러면 QLC는 955에서 1,017엑사바이트, eSSD의 63에서 68퍼센트까지 넓어집니다. 기술은 단기에 Mixed Media, 중장기에 FDP입니다. TLC 분할 비율은 과제팀 가정입니다. WAF를 낮추는 것이 곧 QLC 시장을 넓히는 일이고, 그 원가 우위가 수익성입니다.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7장은 보안 기회입니다. 소버린 AI 시장은 2030년까지 약 3배로 커지고, AI를 자기 데이터센터에서 직접 돌리는 기업은 2025년 약 2퍼센트에서 2028년 20퍼센트 이상이 됩니다. 온프렘 AI 데이터센터에는 모델 제공자의 가중치와 기업의 민감 데이터가 함께 놓이므로 보안이 핵심이고, 설문에서도 소버니티와 프라이버시가 AI 과제 지연의 1위 요인입니다. 설문 상당수는 벤더 후원입니다. 가중치 보호는 TEE 안에서 푸는 구조라 SSD 혼자 지킬 수 없고, SSD는 고객의 신뢰 체계에 들어가야 합니다. 기밀 VM 직결 TDISP는 PM1763이 발표했고, 키 관리 표준 OCP L.O.C.K.는 삼성이 공저했습니다. 반면 Dell 서버에서 PM9D3a가 SPDM 미지원으로 기능이 실패한 사례도 있습니다. 표준만으로는 부족하고, 고객과 OEM의 키와 증명 체계에 함께 들어가야 팔립니다.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 실행 전략입니다. 세 기술의 효과는 고객 시스템 안에서 나오므로, 전략 고객과 계약, 역량, 사람으로 함께 설계합니다. 첫째 계약입니다. 지금의 Multi-Year Deal은 수량과 가격만 약속합니다. Micron은 Anthropic과의 전략적 계약에서 다년 공급 위에 공동 설계와 운영 통합을 묶었습니다. 우리도 MYD 위에 기술 협력을 쌓겠습니다. 둘째 역량입니다. 추론 시스템을 여섯 층으로 보면, 삼성은 NAND와 SSD 펌웨어가 강점이고, KV 캐시 관리자, 전송 I/O, 커널에는 LMCache FDP 머지, xNVMe 같은 일부 기여가 있으며, 추론 엔진은 비어 있습니다. 핵심은 데이터의 수명 정보가 KV 캐시 관리자 층에 있는데, 그것을 SSD 배치로 내려보내는 경로가 아직 없다는 점입니다. 3장의 개선은 이 경로가 있어야 나오므로, 스택 전체를 읽고 이 경로를 고객과 함께 만드는 것이 역량입니다. 아래 화두도 드립니다. 고객 관계를 경영진과 영업에서 엔지니어와 엔지니어 사이까지 넓힐 준비가 되어 있는지입니다. 셋째 사람입니다. 스펙 문서로는 명시된 요구만 옵니다. Palantir와 OpenAI의 FDE처럼 삼성 엔지니어가 고객 AI 데이터센터 안에서 워크로드 측정과 분석, 호스트 소프트웨어 스택 최적화와 평가, 차세대 제품 기술 교류를 합니다. 실패할 수도 있는 기술에 투자하는 것이, 불확실한 미래에 실패하지 않는 불변 전략입니다.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8장은 응용별 eSSD 수요 전망입니다. McKinsey 기준 eSSD 수요는 2024년 181엑사바이트에서 2030년 1,078엑사바이트로 약 6배가 되고, 가장 큰 몫은 AI 추론으로 6에서 447엑사바이트, 약 75배입니다. 비중으로는 범용이 85에서 47퍼센트로 줄고 추론이 9에서 41퍼센트로 늘어납니다. 1장의 TechInsights 전망은 2030년 추론 79퍼센트로 더 가파릅니다. 마름모는 2026년 최신 전망입니다. JPM과 Kioxia의 2028년 약 900엑사바이트는 2024년 경로보다 약 1년 반 앞당겨진 규모입니다. 기관마다 정의가 달라 방향만 비교하며, 수치는 검색으로 확인한 2차 자료입니다.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image" Target="../media/image12.png"/><Relationship Id="rId1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ction-learning.vercel.app/#/presentations/fdp-explainer/1" TargetMode="Externa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2.png"/><Relationship Id="rId9" Type="http://schemas.openxmlformats.org/officeDocument/2006/relationships/image" Target="../media/image11.png"/><Relationship Id="rId10" Type="http://schemas.openxmlformats.org/officeDocument/2006/relationships/image" Target="../media/image9.png"/><Relationship Id="rId11" Type="http://schemas.openxmlformats.org/officeDocument/2006/relationships/image" Target="../media/image18.png"/><Relationship Id="rId12" Type="http://schemas.openxmlformats.org/officeDocument/2006/relationships/notesSlide" Target="../notesSlides/notesSlide3.xml"/><Relationship Id="rId13"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6.png"/><Relationship Id="rId6" Type="http://schemas.openxmlformats.org/officeDocument/2006/relationships/image" Target="../media/image22.png"/><Relationship Id="rId7" Type="http://schemas.openxmlformats.org/officeDocument/2006/relationships/image" Target="../media/image4.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0.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png"/><Relationship Id="rId6" Type="http://schemas.openxmlformats.org/officeDocument/2006/relationships/image" Target="../media/image20.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1 / 8  현황</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데이터센터 응용마다 SSD 요구가 다르고, 삼성은 제품군별로 대응하고 있지만</a:t>
            </a:r>
          </a:p>
          <a:p>
            <a:pPr algn="l">
              <a:lnSpc>
                <a:spcPct val="105000"/>
              </a:lnSpc>
            </a:pPr>
            <a:r>
              <a:rPr sz="3200" b="1">
                <a:solidFill>
                  <a:srgbClr val="1A1A1A"/>
                </a:solidFill>
                <a:latin typeface="Arial"/>
                <a:ea typeface="Arial"/>
              </a:rPr>
              <a:t>AI 추론은 대역 · 꼬리 지연 · 내구를 한꺼번에 요구합니다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121408"/>
            <a:ext cx="3383280" cy="3090672"/>
          </a:xfrm>
          <a:prstGeom prst="roundRect">
            <a:avLst>
              <a:gd name="adj" fmla="val 23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231136"/>
            <a:ext cx="2980944" cy="347472"/>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HBM의 교훈</a:t>
            </a:r>
          </a:p>
        </p:txBody>
      </p:sp>
      <p:sp>
        <p:nvSpPr>
          <p:cNvPr id="8" name="TextBox 7"/>
          <p:cNvSpPr txBox="1"/>
          <p:nvPr/>
        </p:nvSpPr>
        <p:spPr>
          <a:xfrm>
            <a:off x="923544" y="2596896"/>
            <a:ext cx="2980944" cy="731520"/>
          </a:xfrm>
          <a:prstGeom prst="rect">
            <a:avLst/>
          </a:prstGeom>
          <a:noFill/>
        </p:spPr>
        <p:txBody>
          <a:bodyPr wrap="square" anchor="t" lIns="0" rIns="0" tIns="0" bIns="0">
            <a:spAutoFit/>
          </a:bodyPr>
          <a:lstStyle/>
          <a:p>
            <a:pPr algn="l">
              <a:lnSpc>
                <a:spcPct val="105000"/>
              </a:lnSpc>
            </a:pPr>
            <a:r>
              <a:rPr sz="1800" b="1">
                <a:solidFill>
                  <a:srgbClr val="1A1A1A"/>
                </a:solidFill>
                <a:latin typeface="Arial"/>
                <a:ea typeface="Arial"/>
              </a:rPr>
              <a:t>하나의 수요를 늦게 읽으면</a:t>
            </a:r>
          </a:p>
          <a:p>
            <a:pPr algn="l">
              <a:lnSpc>
                <a:spcPct val="105000"/>
              </a:lnSpc>
            </a:pPr>
            <a:r>
              <a:rPr sz="1800" b="1">
                <a:solidFill>
                  <a:srgbClr val="1A1A1A"/>
                </a:solidFill>
                <a:latin typeface="Arial"/>
                <a:ea typeface="Arial"/>
              </a:rPr>
              <a:t>첫 호황을 놓칩니다</a:t>
            </a:r>
          </a:p>
        </p:txBody>
      </p:sp>
      <p:cxnSp>
        <p:nvCxnSpPr>
          <p:cNvPr id="9" name="Connector 8"/>
          <p:cNvCxnSpPr/>
          <p:nvPr/>
        </p:nvCxnSpPr>
        <p:spPr>
          <a:xfrm flipV="1">
            <a:off x="1508760" y="3707476"/>
            <a:ext cx="914400" cy="209481"/>
          </a:xfrm>
          <a:prstGeom prst="line">
            <a:avLst/>
          </a:prstGeom>
          <a:ln w="38100">
            <a:solidFill>
              <a:srgbClr val="8A8A8A"/>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444751" y="3852949"/>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359152" y="3643468"/>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651781"/>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50%</a:t>
            </a:r>
          </a:p>
        </p:txBody>
      </p:sp>
      <p:sp>
        <p:nvSpPr>
          <p:cNvPr id="13" name="TextBox 12"/>
          <p:cNvSpPr txBox="1"/>
          <p:nvPr/>
        </p:nvSpPr>
        <p:spPr>
          <a:xfrm>
            <a:off x="2532888" y="3552028"/>
            <a:ext cx="603504" cy="310896"/>
          </a:xfrm>
          <a:prstGeom prst="rect">
            <a:avLst/>
          </a:prstGeom>
          <a:noFill/>
        </p:spPr>
        <p:txBody>
          <a:bodyPr wrap="square" anchor="ctr" lIns="0" rIns="0" tIns="0" bIns="0">
            <a:spAutoFit/>
          </a:bodyPr>
          <a:lstStyle/>
          <a:p>
            <a:pPr algn="l">
              <a:lnSpc>
                <a:spcPct val="110000"/>
              </a:lnSpc>
            </a:pPr>
            <a:r>
              <a:rPr sz="1800" b="1">
                <a:solidFill>
                  <a:srgbClr val="8A8A8A"/>
                </a:solidFill>
                <a:latin typeface="Arial"/>
                <a:ea typeface="Arial"/>
              </a:rPr>
              <a:t>62%</a:t>
            </a:r>
          </a:p>
        </p:txBody>
      </p:sp>
      <p:pic>
        <p:nvPicPr>
          <p:cNvPr id="14" name="Picture 13" descr="sk-hynix.png"/>
          <p:cNvPicPr>
            <a:picLocks noChangeAspect="1"/>
          </p:cNvPicPr>
          <p:nvPr/>
        </p:nvPicPr>
        <p:blipFill>
          <a:blip r:embed="rId2"/>
          <a:stretch>
            <a:fillRect/>
          </a:stretch>
        </p:blipFill>
        <p:spPr>
          <a:xfrm>
            <a:off x="3154680" y="3588604"/>
            <a:ext cx="452374" cy="237744"/>
          </a:xfrm>
          <a:prstGeom prst="rect">
            <a:avLst/>
          </a:prstGeom>
        </p:spPr>
      </p:pic>
      <p:cxnSp>
        <p:nvCxnSpPr>
          <p:cNvPr id="15" name="Connector 14"/>
          <p:cNvCxnSpPr/>
          <p:nvPr/>
        </p:nvCxnSpPr>
        <p:spPr>
          <a:xfrm>
            <a:off x="1508760" y="4091524"/>
            <a:ext cx="914400" cy="401505"/>
          </a:xfrm>
          <a:prstGeom prst="line">
            <a:avLst/>
          </a:prstGeom>
          <a:ln w="38100">
            <a:solidFill>
              <a:srgbClr val="3C4FA5"/>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444751" y="4027516"/>
            <a:ext cx="128016" cy="128016"/>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359152" y="4429021"/>
            <a:ext cx="128016" cy="128016"/>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045804"/>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a:t>
            </a:r>
          </a:p>
        </p:txBody>
      </p:sp>
      <p:sp>
        <p:nvSpPr>
          <p:cNvPr id="19" name="TextBox 18"/>
          <p:cNvSpPr txBox="1"/>
          <p:nvPr/>
        </p:nvSpPr>
        <p:spPr>
          <a:xfrm>
            <a:off x="2532888" y="4337581"/>
            <a:ext cx="603504" cy="310896"/>
          </a:xfrm>
          <a:prstGeom prst="rect">
            <a:avLst/>
          </a:prstGeom>
          <a:noFill/>
        </p:spPr>
        <p:txBody>
          <a:bodyPr wrap="square" anchor="ctr" lIns="0" rIns="0" tIns="0" bIns="0">
            <a:spAutoFit/>
          </a:bodyPr>
          <a:lstStyle/>
          <a:p>
            <a:pPr algn="l">
              <a:lnSpc>
                <a:spcPct val="110000"/>
              </a:lnSpc>
            </a:pPr>
            <a:r>
              <a:rPr sz="1800" b="1">
                <a:solidFill>
                  <a:srgbClr val="3C4FA5"/>
                </a:solidFill>
                <a:latin typeface="Arial"/>
                <a:ea typeface="Arial"/>
              </a:rPr>
              <a:t>17%</a:t>
            </a:r>
          </a:p>
        </p:txBody>
      </p:sp>
      <p:pic>
        <p:nvPicPr>
          <p:cNvPr id="20" name="Picture 19" descr="samsung.png"/>
          <p:cNvPicPr>
            <a:picLocks noChangeAspect="1"/>
          </p:cNvPicPr>
          <p:nvPr/>
        </p:nvPicPr>
        <p:blipFill>
          <a:blip r:embed="rId3"/>
          <a:stretch>
            <a:fillRect/>
          </a:stretch>
        </p:blipFill>
        <p:spPr>
          <a:xfrm>
            <a:off x="3154680" y="4432356"/>
            <a:ext cx="786384" cy="121345"/>
          </a:xfrm>
          <a:prstGeom prst="rect">
            <a:avLst/>
          </a:prstGeom>
        </p:spPr>
      </p:pic>
      <p:sp>
        <p:nvSpPr>
          <p:cNvPr id="21" name="TextBox 20"/>
          <p:cNvSpPr txBox="1"/>
          <p:nvPr/>
        </p:nvSpPr>
        <p:spPr>
          <a:xfrm>
            <a:off x="10972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2022</a:t>
            </a:r>
          </a:p>
        </p:txBody>
      </p:sp>
      <p:sp>
        <p:nvSpPr>
          <p:cNvPr id="22" name="TextBox 21"/>
          <p:cNvSpPr txBox="1"/>
          <p:nvPr/>
        </p:nvSpPr>
        <p:spPr>
          <a:xfrm>
            <a:off x="20116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2Q25</a:t>
            </a:r>
          </a:p>
        </p:txBody>
      </p:sp>
      <p:sp>
        <p:nvSpPr>
          <p:cNvPr id="23" name="TextBox 22"/>
          <p:cNvSpPr txBox="1"/>
          <p:nvPr/>
        </p:nvSpPr>
        <p:spPr>
          <a:xfrm>
            <a:off x="2788920" y="4663440"/>
            <a:ext cx="1179575" cy="256032"/>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점유율</a:t>
            </a:r>
          </a:p>
        </p:txBody>
      </p:sp>
      <p:sp>
        <p:nvSpPr>
          <p:cNvPr id="24" name="Rounded Rectangle 23"/>
          <p:cNvSpPr/>
          <p:nvPr/>
        </p:nvSpPr>
        <p:spPr>
          <a:xfrm>
            <a:off x="4306824"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89704"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범용 클라우드</a:t>
            </a:r>
          </a:p>
        </p:txBody>
      </p:sp>
      <p:sp>
        <p:nvSpPr>
          <p:cNvPr id="26" name="TextBox 25"/>
          <p:cNvSpPr txBox="1"/>
          <p:nvPr/>
        </p:nvSpPr>
        <p:spPr>
          <a:xfrm>
            <a:off x="4489704"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27" name="Rectangle 26"/>
          <p:cNvSpPr/>
          <p:nvPr/>
        </p:nvSpPr>
        <p:spPr>
          <a:xfrm>
            <a:off x="4489704"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89704" y="4736592"/>
            <a:ext cx="2839212" cy="384048"/>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QoS · 테넌트 격리</a:t>
            </a:r>
          </a:p>
        </p:txBody>
      </p:sp>
      <p:sp>
        <p:nvSpPr>
          <p:cNvPr id="29" name="Rounded Rectangle 28"/>
          <p:cNvSpPr/>
          <p:nvPr/>
        </p:nvSpPr>
        <p:spPr>
          <a:xfrm>
            <a:off x="7658100"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40979"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학습</a:t>
            </a:r>
          </a:p>
        </p:txBody>
      </p:sp>
      <p:sp>
        <p:nvSpPr>
          <p:cNvPr id="31" name="TextBox 30"/>
          <p:cNvSpPr txBox="1"/>
          <p:nvPr/>
        </p:nvSpPr>
        <p:spPr>
          <a:xfrm>
            <a:off x="7840979"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32" name="Rectangle 31"/>
          <p:cNvSpPr/>
          <p:nvPr/>
        </p:nvSpPr>
        <p:spPr>
          <a:xfrm>
            <a:off x="7840979"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40979" y="4736592"/>
            <a:ext cx="2839212" cy="384048"/>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대역 · 체크포인트</a:t>
            </a:r>
          </a:p>
        </p:txBody>
      </p:sp>
      <p:sp>
        <p:nvSpPr>
          <p:cNvPr id="34" name="Rounded Rectangle 33"/>
          <p:cNvSpPr/>
          <p:nvPr/>
        </p:nvSpPr>
        <p:spPr>
          <a:xfrm>
            <a:off x="11009376"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192256"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추론</a:t>
            </a:r>
          </a:p>
        </p:txBody>
      </p:sp>
      <p:sp>
        <p:nvSpPr>
          <p:cNvPr id="36" name="TextBox 35"/>
          <p:cNvSpPr txBox="1"/>
          <p:nvPr/>
        </p:nvSpPr>
        <p:spPr>
          <a:xfrm>
            <a:off x="11192256"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KV 캐시 · RAG · 가중치</a:t>
            </a:r>
          </a:p>
        </p:txBody>
      </p:sp>
      <p:sp>
        <p:nvSpPr>
          <p:cNvPr id="37" name="Rectangle 36"/>
          <p:cNvSpPr/>
          <p:nvPr/>
        </p:nvSpPr>
        <p:spPr>
          <a:xfrm>
            <a:off x="11192256"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192256" y="4736592"/>
            <a:ext cx="2839212" cy="384048"/>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대역 · 지연 · DWPD</a:t>
            </a:r>
          </a:p>
        </p:txBody>
      </p:sp>
      <p:sp>
        <p:nvSpPr>
          <p:cNvPr id="39" name="Rounded Rectangle 38"/>
          <p:cNvSpPr/>
          <p:nvPr/>
        </p:nvSpPr>
        <p:spPr>
          <a:xfrm>
            <a:off x="14360652"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543532"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에이전트</a:t>
            </a:r>
          </a:p>
        </p:txBody>
      </p:sp>
      <p:sp>
        <p:nvSpPr>
          <p:cNvPr id="41" name="TextBox 40"/>
          <p:cNvSpPr txBox="1"/>
          <p:nvPr/>
        </p:nvSpPr>
        <p:spPr>
          <a:xfrm>
            <a:off x="14543532"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42" name="Rectangle 41"/>
          <p:cNvSpPr/>
          <p:nvPr/>
        </p:nvSpPr>
        <p:spPr>
          <a:xfrm>
            <a:off x="14543532"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4543532" y="4736592"/>
            <a:ext cx="2839212" cy="384048"/>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용량 · TB당 비용</a:t>
            </a:r>
          </a:p>
        </p:txBody>
      </p:sp>
      <p:pic>
        <p:nvPicPr>
          <p:cNvPr id="44" name="Picture 43" descr="nvidia.png"/>
          <p:cNvPicPr>
            <a:picLocks noChangeAspect="1"/>
          </p:cNvPicPr>
          <p:nvPr/>
        </p:nvPicPr>
        <p:blipFill>
          <a:blip r:embed="rId4"/>
          <a:stretch>
            <a:fillRect/>
          </a:stretch>
        </p:blipFill>
        <p:spPr>
          <a:xfrm>
            <a:off x="7840979" y="2651861"/>
            <a:ext cx="1051560" cy="200964"/>
          </a:xfrm>
          <a:prstGeom prst="rect">
            <a:avLst/>
          </a:prstGeom>
        </p:spPr>
      </p:pic>
      <p:pic>
        <p:nvPicPr>
          <p:cNvPr id="45" name="Picture 44" descr="aws.png"/>
          <p:cNvPicPr>
            <a:picLocks noChangeAspect="1"/>
          </p:cNvPicPr>
          <p:nvPr/>
        </p:nvPicPr>
        <p:blipFill>
          <a:blip r:embed="rId5"/>
          <a:stretch>
            <a:fillRect/>
          </a:stretch>
        </p:blipFill>
        <p:spPr>
          <a:xfrm>
            <a:off x="4489704" y="2624328"/>
            <a:ext cx="458899" cy="274320"/>
          </a:xfrm>
          <a:prstGeom prst="rect">
            <a:avLst/>
          </a:prstGeom>
        </p:spPr>
      </p:pic>
      <p:pic>
        <p:nvPicPr>
          <p:cNvPr id="46" name="Picture 45" descr="microsoft.png"/>
          <p:cNvPicPr>
            <a:picLocks noChangeAspect="1"/>
          </p:cNvPicPr>
          <p:nvPr/>
        </p:nvPicPr>
        <p:blipFill>
          <a:blip r:embed="rId6"/>
          <a:stretch>
            <a:fillRect/>
          </a:stretch>
        </p:blipFill>
        <p:spPr>
          <a:xfrm>
            <a:off x="5113195" y="2631109"/>
            <a:ext cx="960120" cy="205892"/>
          </a:xfrm>
          <a:prstGeom prst="rect">
            <a:avLst/>
          </a:prstGeom>
        </p:spPr>
      </p:pic>
      <p:pic>
        <p:nvPicPr>
          <p:cNvPr id="47" name="Picture 46" descr="google.png"/>
          <p:cNvPicPr>
            <a:picLocks noChangeAspect="1"/>
          </p:cNvPicPr>
          <p:nvPr/>
        </p:nvPicPr>
        <p:blipFill>
          <a:blip r:embed="rId7"/>
          <a:stretch>
            <a:fillRect/>
          </a:stretch>
        </p:blipFill>
        <p:spPr>
          <a:xfrm>
            <a:off x="6237907" y="2624328"/>
            <a:ext cx="669526" cy="219456"/>
          </a:xfrm>
          <a:prstGeom prst="rect">
            <a:avLst/>
          </a:prstGeom>
        </p:spPr>
      </p:pic>
      <p:pic>
        <p:nvPicPr>
          <p:cNvPr id="48" name="Picture 47" descr="meta.png"/>
          <p:cNvPicPr>
            <a:picLocks noChangeAspect="1"/>
          </p:cNvPicPr>
          <p:nvPr/>
        </p:nvPicPr>
        <p:blipFill>
          <a:blip r:embed="rId8"/>
          <a:stretch>
            <a:fillRect/>
          </a:stretch>
        </p:blipFill>
        <p:spPr>
          <a:xfrm>
            <a:off x="14543532" y="2659684"/>
            <a:ext cx="731520" cy="148742"/>
          </a:xfrm>
          <a:prstGeom prst="rect">
            <a:avLst/>
          </a:prstGeom>
        </p:spPr>
      </p:pic>
      <p:sp>
        <p:nvSpPr>
          <p:cNvPr id="49" name="TextBox 48"/>
          <p:cNvSpPr txBox="1"/>
          <p:nvPr/>
        </p:nvSpPr>
        <p:spPr>
          <a:xfrm>
            <a:off x="15311628" y="2596896"/>
            <a:ext cx="64008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Muse</a:t>
            </a:r>
          </a:p>
        </p:txBody>
      </p:sp>
      <p:pic>
        <p:nvPicPr>
          <p:cNvPr id="50" name="Picture 49" descr="openai.png"/>
          <p:cNvPicPr>
            <a:picLocks noChangeAspect="1"/>
          </p:cNvPicPr>
          <p:nvPr/>
        </p:nvPicPr>
        <p:blipFill>
          <a:blip r:embed="rId9"/>
          <a:stretch>
            <a:fillRect/>
          </a:stretch>
        </p:blipFill>
        <p:spPr>
          <a:xfrm>
            <a:off x="16006572" y="2644241"/>
            <a:ext cx="731520" cy="179628"/>
          </a:xfrm>
          <a:prstGeom prst="rect">
            <a:avLst/>
          </a:prstGeom>
        </p:spPr>
      </p:pic>
      <p:sp>
        <p:nvSpPr>
          <p:cNvPr id="51" name="TextBox 50"/>
          <p:cNvSpPr txBox="1"/>
          <p:nvPr/>
        </p:nvSpPr>
        <p:spPr>
          <a:xfrm>
            <a:off x="16774668" y="2596896"/>
            <a:ext cx="54864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Dot</a:t>
            </a:r>
          </a:p>
        </p:txBody>
      </p:sp>
      <p:sp>
        <p:nvSpPr>
          <p:cNvPr id="52" name="Cloud 51"/>
          <p:cNvSpPr/>
          <p:nvPr/>
        </p:nvSpPr>
        <p:spPr>
          <a:xfrm>
            <a:off x="4325112" y="2999232"/>
            <a:ext cx="1920240" cy="1042415"/>
          </a:xfrm>
          <a:prstGeom prst="cloud">
            <a:avLst/>
          </a:prstGeom>
          <a:no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27448"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111496" y="3255263"/>
            <a:ext cx="329184" cy="20116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495544"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727448" y="3511296"/>
            <a:ext cx="329184" cy="201168"/>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11496" y="3511296"/>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495544" y="3511296"/>
            <a:ext cx="329184" cy="20116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882896"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266944"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650992"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36008" y="4133087"/>
            <a:ext cx="1316736" cy="2743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636008" y="4133087"/>
            <a:ext cx="13167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공유 SSD</a:t>
            </a:r>
          </a:p>
        </p:txBody>
      </p:sp>
      <p:sp>
        <p:nvSpPr>
          <p:cNvPr id="64" name="TextBox 63"/>
          <p:cNvSpPr txBox="1"/>
          <p:nvPr/>
        </p:nvSpPr>
        <p:spPr>
          <a:xfrm>
            <a:off x="6263640" y="4407408"/>
            <a:ext cx="1193292"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p99 지연</a:t>
            </a:r>
          </a:p>
        </p:txBody>
      </p:sp>
      <p:sp>
        <p:nvSpPr>
          <p:cNvPr id="65" name="Rectangle 64"/>
          <p:cNvSpPr/>
          <p:nvPr/>
        </p:nvSpPr>
        <p:spPr>
          <a:xfrm>
            <a:off x="6409944" y="3236976"/>
            <a:ext cx="365760" cy="91440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227064" y="2944368"/>
            <a:ext cx="731520" cy="27432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3.1×</a:t>
            </a:r>
          </a:p>
        </p:txBody>
      </p:sp>
      <p:sp>
        <p:nvSpPr>
          <p:cNvPr id="67" name="TextBox 66"/>
          <p:cNvSpPr txBox="1"/>
          <p:nvPr/>
        </p:nvSpPr>
        <p:spPr>
          <a:xfrm>
            <a:off x="6272783" y="4187952"/>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섞어</a:t>
            </a:r>
          </a:p>
        </p:txBody>
      </p:sp>
      <p:sp>
        <p:nvSpPr>
          <p:cNvPr id="68" name="Rectangle 67"/>
          <p:cNvSpPr/>
          <p:nvPr/>
        </p:nvSpPr>
        <p:spPr>
          <a:xfrm>
            <a:off x="6922008" y="3856408"/>
            <a:ext cx="365760" cy="29496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739128" y="3563800"/>
            <a:ext cx="731520" cy="274320"/>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1</a:t>
            </a:r>
          </a:p>
        </p:txBody>
      </p:sp>
      <p:sp>
        <p:nvSpPr>
          <p:cNvPr id="70" name="TextBox 69"/>
          <p:cNvSpPr txBox="1"/>
          <p:nvPr/>
        </p:nvSpPr>
        <p:spPr>
          <a:xfrm>
            <a:off x="6784848" y="4187952"/>
            <a:ext cx="640080" cy="256032"/>
          </a:xfrm>
          <a:prstGeom prst="rect">
            <a:avLst/>
          </a:prstGeom>
          <a:noFill/>
        </p:spPr>
        <p:txBody>
          <a:bodyPr wrap="square" anchor="t" lIns="0" rIns="0" tIns="0" bIns="0">
            <a:spAutoFit/>
          </a:bodyPr>
          <a:lstStyle/>
          <a:p>
            <a:pPr algn="ctr">
              <a:lnSpc>
                <a:spcPct val="110000"/>
              </a:lnSpc>
            </a:pPr>
            <a:r>
              <a:rPr sz="1600" b="1">
                <a:solidFill>
                  <a:srgbClr val="3C4FA5"/>
                </a:solidFill>
                <a:latin typeface="Arial"/>
                <a:ea typeface="Arial"/>
              </a:rPr>
              <a:t>격리</a:t>
            </a:r>
          </a:p>
        </p:txBody>
      </p:sp>
      <p:sp>
        <p:nvSpPr>
          <p:cNvPr id="71" name="Rounded Rectangle 70"/>
          <p:cNvSpPr/>
          <p:nvPr/>
        </p:nvSpPr>
        <p:spPr>
          <a:xfrm>
            <a:off x="7840979" y="2944368"/>
            <a:ext cx="2839212" cy="512064"/>
          </a:xfrm>
          <a:prstGeom prst="roundRect">
            <a:avLst>
              <a:gd name="adj" fmla="val 14285"/>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932420" y="2944368"/>
            <a:ext cx="109728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GPU 서버</a:t>
            </a:r>
          </a:p>
        </p:txBody>
      </p:sp>
      <p:sp>
        <p:nvSpPr>
          <p:cNvPr id="73" name="Rectangle 72"/>
          <p:cNvSpPr/>
          <p:nvPr/>
        </p:nvSpPr>
        <p:spPr>
          <a:xfrm>
            <a:off x="8983980" y="3044951"/>
            <a:ext cx="328041" cy="31089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9385173" y="3044951"/>
            <a:ext cx="328041" cy="31089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9786365" y="3044951"/>
            <a:ext cx="328041" cy="31089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0187559" y="3044951"/>
            <a:ext cx="328041" cy="31089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7840979" y="4041648"/>
            <a:ext cx="2839212" cy="420624"/>
          </a:xfrm>
          <a:prstGeom prst="roundRect">
            <a:avLst>
              <a:gd name="adj" fmla="val 17391"/>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840979" y="4041648"/>
            <a:ext cx="2839212" cy="42062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SSD</a:t>
            </a:r>
          </a:p>
        </p:txBody>
      </p:sp>
      <p:sp>
        <p:nvSpPr>
          <p:cNvPr id="79" name="Up Arrow 78"/>
          <p:cNvSpPr/>
          <p:nvPr/>
        </p:nvSpPr>
        <p:spPr>
          <a:xfrm>
            <a:off x="8876538" y="3511296"/>
            <a:ext cx="274320" cy="493776"/>
          </a:xfrm>
          <a:prstGeom prst="upArrow">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Down Arrow 79"/>
          <p:cNvSpPr/>
          <p:nvPr/>
        </p:nvSpPr>
        <p:spPr>
          <a:xfrm>
            <a:off x="9370313" y="3511296"/>
            <a:ext cx="274320" cy="493776"/>
          </a:xfrm>
          <a:prstGeom prst="downArrow">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840979" y="3566160"/>
            <a:ext cx="980693" cy="384048"/>
          </a:xfrm>
          <a:prstGeom prst="rect">
            <a:avLst/>
          </a:prstGeom>
          <a:noFill/>
        </p:spPr>
        <p:txBody>
          <a:bodyPr wrap="square" anchor="ctr" lIns="0" rIns="0" tIns="0" bIns="0">
            <a:spAutoFit/>
          </a:bodyPr>
          <a:lstStyle/>
          <a:p>
            <a:pPr algn="r">
              <a:lnSpc>
                <a:spcPct val="110000"/>
              </a:lnSpc>
            </a:pPr>
            <a:r>
              <a:rPr sz="1500" b="1">
                <a:solidFill>
                  <a:srgbClr val="3C4FA5"/>
                </a:solidFill>
                <a:latin typeface="Arial"/>
                <a:ea typeface="Arial"/>
              </a:rPr>
              <a:t>데이터 로딩</a:t>
            </a:r>
          </a:p>
        </p:txBody>
      </p:sp>
      <p:sp>
        <p:nvSpPr>
          <p:cNvPr id="82" name="TextBox 81"/>
          <p:cNvSpPr txBox="1"/>
          <p:nvPr/>
        </p:nvSpPr>
        <p:spPr>
          <a:xfrm>
            <a:off x="9699498" y="3566160"/>
            <a:ext cx="980694" cy="384048"/>
          </a:xfrm>
          <a:prstGeom prst="rect">
            <a:avLst/>
          </a:prstGeom>
          <a:noFill/>
        </p:spPr>
        <p:txBody>
          <a:bodyPr wrap="square" anchor="ctr" lIns="0" rIns="0" tIns="0" bIns="0">
            <a:spAutoFit/>
          </a:bodyPr>
          <a:lstStyle/>
          <a:p>
            <a:pPr algn="l">
              <a:lnSpc>
                <a:spcPct val="110000"/>
              </a:lnSpc>
            </a:pPr>
            <a:r>
              <a:rPr sz="1500" b="1">
                <a:solidFill>
                  <a:srgbClr val="677ECD"/>
                </a:solidFill>
                <a:latin typeface="Arial"/>
                <a:ea typeface="Arial"/>
              </a:rPr>
              <a:t>체크포인트</a:t>
            </a:r>
          </a:p>
        </p:txBody>
      </p:sp>
      <p:sp>
        <p:nvSpPr>
          <p:cNvPr id="83" name="Rounded Rectangle 82"/>
          <p:cNvSpPr/>
          <p:nvPr/>
        </p:nvSpPr>
        <p:spPr>
          <a:xfrm>
            <a:off x="12100803" y="2944368"/>
            <a:ext cx="1022116" cy="347472"/>
          </a:xfrm>
          <a:prstGeom prst="roundRect">
            <a:avLst>
              <a:gd name="adj" fmla="val 21052"/>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2100803" y="2944368"/>
            <a:ext cx="1022116" cy="347472"/>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GPU HBM</a:t>
            </a:r>
          </a:p>
        </p:txBody>
      </p:sp>
      <p:sp>
        <p:nvSpPr>
          <p:cNvPr id="85" name="Rounded Rectangle 84"/>
          <p:cNvSpPr/>
          <p:nvPr/>
        </p:nvSpPr>
        <p:spPr>
          <a:xfrm>
            <a:off x="11703314" y="3374135"/>
            <a:ext cx="1817095" cy="347472"/>
          </a:xfrm>
          <a:prstGeom prst="roundRect">
            <a:avLst>
              <a:gd name="adj" fmla="val 21052"/>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1703314" y="3374135"/>
            <a:ext cx="1817095" cy="347472"/>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CPU DRAM</a:t>
            </a:r>
          </a:p>
        </p:txBody>
      </p:sp>
      <p:sp>
        <p:nvSpPr>
          <p:cNvPr id="87" name="Rounded Rectangle 86"/>
          <p:cNvSpPr/>
          <p:nvPr/>
        </p:nvSpPr>
        <p:spPr>
          <a:xfrm>
            <a:off x="11192256" y="3803904"/>
            <a:ext cx="2839212" cy="347472"/>
          </a:xfrm>
          <a:prstGeom prst="roundRect">
            <a:avLst>
              <a:gd name="adj" fmla="val 21052"/>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1192256" y="3803904"/>
            <a:ext cx="283921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  KV · RAG · 가중치</a:t>
            </a:r>
          </a:p>
        </p:txBody>
      </p:sp>
      <p:sp>
        <p:nvSpPr>
          <p:cNvPr id="89" name="Down Arrow 88"/>
          <p:cNvSpPr/>
          <p:nvPr/>
        </p:nvSpPr>
        <p:spPr>
          <a:xfrm>
            <a:off x="11283696" y="2980944"/>
            <a:ext cx="219456" cy="731520"/>
          </a:xfrm>
          <a:prstGeom prst="downArrow">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Up Arrow 89"/>
          <p:cNvSpPr/>
          <p:nvPr/>
        </p:nvSpPr>
        <p:spPr>
          <a:xfrm>
            <a:off x="13720572" y="2980944"/>
            <a:ext cx="219456" cy="731520"/>
          </a:xfrm>
          <a:prstGeom prst="upArrow">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1192256" y="4206240"/>
            <a:ext cx="2839212" cy="292608"/>
          </a:xfrm>
          <a:prstGeom prst="rect">
            <a:avLst/>
          </a:prstGeom>
          <a:noFill/>
        </p:spPr>
        <p:txBody>
          <a:bodyPr wrap="square" anchor="ctr" lIns="0" rIns="0" tIns="0" bIns="0">
            <a:spAutoFit/>
          </a:bodyPr>
          <a:lstStyle/>
          <a:p>
            <a:pPr algn="ctr">
              <a:lnSpc>
                <a:spcPct val="110000"/>
              </a:lnSpc>
            </a:pPr>
            <a:r>
              <a:rPr sz="1500" b="1">
                <a:solidFill>
                  <a:srgbClr val="677ECD"/>
                </a:solidFill>
                <a:latin typeface="Arial"/>
                <a:ea typeface="Arial"/>
              </a:rPr>
              <a:t>↓ 넘치면 오프로드</a:t>
            </a:r>
            <a:r>
              <a:rPr sz="1500" b="1">
                <a:solidFill>
                  <a:srgbClr val="3C4FA5"/>
                </a:solidFill>
                <a:latin typeface="Arial"/>
                <a:ea typeface="Arial"/>
              </a:rPr>
              <a:t>    ↑ 재사용</a:t>
            </a:r>
          </a:p>
        </p:txBody>
      </p:sp>
      <p:sp>
        <p:nvSpPr>
          <p:cNvPr id="92" name="Rectangle 91"/>
          <p:cNvSpPr/>
          <p:nvPr/>
        </p:nvSpPr>
        <p:spPr>
          <a:xfrm>
            <a:off x="145618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148361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151104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15384780" y="2926079"/>
            <a:ext cx="219456"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156591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59334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62077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164820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675638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70307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45618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48361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511046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53847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56591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59334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62077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6482060" y="3172968"/>
            <a:ext cx="219456"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67563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70307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45618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14836140" y="3419856"/>
            <a:ext cx="219456"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51104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53847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56591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59334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620774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64820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67563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70307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14543532" y="3657600"/>
            <a:ext cx="2839212" cy="274320"/>
          </a:xfrm>
          <a:prstGeom prst="rect">
            <a:avLst/>
          </a:prstGeom>
          <a:noFill/>
        </p:spPr>
        <p:txBody>
          <a:bodyPr wrap="square" anchor="ctr" lIns="0" rIns="0" tIns="0" bIns="0">
            <a:spAutoFit/>
          </a:bodyPr>
          <a:lstStyle/>
          <a:p>
            <a:pPr algn="l">
              <a:lnSpc>
                <a:spcPct val="110000"/>
              </a:lnSpc>
            </a:pPr>
            <a:r>
              <a:rPr sz="1600" b="0">
                <a:solidFill>
                  <a:srgbClr val="3C4FA5"/>
                </a:solidFill>
                <a:latin typeface="Arial"/>
                <a:ea typeface="Arial"/>
              </a:rPr>
              <a:t>■</a:t>
            </a:r>
            <a:r>
              <a:rPr sz="1600" b="0">
                <a:solidFill>
                  <a:srgbClr val="555555"/>
                </a:solidFill>
                <a:latin typeface="Arial"/>
                <a:ea typeface="Arial"/>
              </a:rPr>
              <a:t> 활성  </a:t>
            </a:r>
            <a:r>
              <a:rPr sz="1600" b="0">
                <a:solidFill>
                  <a:srgbClr val="D9D9D9"/>
                </a:solidFill>
                <a:latin typeface="Arial"/>
                <a:ea typeface="Arial"/>
              </a:rPr>
              <a:t>■</a:t>
            </a:r>
            <a:r>
              <a:rPr sz="1600" b="0">
                <a:solidFill>
                  <a:srgbClr val="555555"/>
                </a:solidFill>
                <a:latin typeface="Arial"/>
                <a:ea typeface="Arial"/>
              </a:rPr>
              <a:t> 휴면 (대부분)</a:t>
            </a:r>
          </a:p>
        </p:txBody>
      </p:sp>
      <p:sp>
        <p:nvSpPr>
          <p:cNvPr id="123" name="TextBox 122"/>
          <p:cNvSpPr txBox="1"/>
          <p:nvPr/>
        </p:nvSpPr>
        <p:spPr>
          <a:xfrm>
            <a:off x="14543532" y="4005072"/>
            <a:ext cx="1243584" cy="292608"/>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VM 디스크</a:t>
            </a:r>
          </a:p>
        </p:txBody>
      </p:sp>
      <p:sp>
        <p:nvSpPr>
          <p:cNvPr id="124" name="Rectangle 123"/>
          <p:cNvSpPr/>
          <p:nvPr/>
        </p:nvSpPr>
        <p:spPr>
          <a:xfrm>
            <a:off x="15787116" y="4050791"/>
            <a:ext cx="809244" cy="20116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6651224" y="4005072"/>
            <a:ext cx="868680" cy="292608"/>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100GB</a:t>
            </a:r>
          </a:p>
        </p:txBody>
      </p:sp>
      <p:sp>
        <p:nvSpPr>
          <p:cNvPr id="126" name="TextBox 125"/>
          <p:cNvSpPr txBox="1"/>
          <p:nvPr/>
        </p:nvSpPr>
        <p:spPr>
          <a:xfrm>
            <a:off x="14543532" y="4352544"/>
            <a:ext cx="1243584"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VM 메모리</a:t>
            </a:r>
          </a:p>
        </p:txBody>
      </p:sp>
      <p:sp>
        <p:nvSpPr>
          <p:cNvPr id="127" name="Rectangle 126"/>
          <p:cNvSpPr/>
          <p:nvPr/>
        </p:nvSpPr>
        <p:spPr>
          <a:xfrm>
            <a:off x="15787116" y="4398264"/>
            <a:ext cx="7315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15915132" y="4352544"/>
            <a:ext cx="86868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7.75GB</a:t>
            </a:r>
          </a:p>
        </p:txBody>
      </p:sp>
      <p:sp>
        <p:nvSpPr>
          <p:cNvPr id="129" name="TextBox 128"/>
          <p:cNvSpPr txBox="1"/>
          <p:nvPr/>
        </p:nvSpPr>
        <p:spPr>
          <a:xfrm>
            <a:off x="722376" y="5394960"/>
            <a:ext cx="8869680" cy="329184"/>
          </a:xfrm>
          <a:prstGeom prst="rect">
            <a:avLst/>
          </a:prstGeom>
          <a:noFill/>
        </p:spPr>
        <p:txBody>
          <a:bodyPr wrap="square" anchor="ctr" lIns="0" rIns="0" tIns="0" bIns="0">
            <a:spAutoFit/>
          </a:bodyPr>
          <a:lstStyle/>
          <a:p>
            <a:pPr algn="l">
              <a:lnSpc>
                <a:spcPct val="110000"/>
              </a:lnSpc>
            </a:pPr>
            <a:r>
              <a:rPr sz="1900" b="1">
                <a:solidFill>
                  <a:srgbClr val="1A1A1A"/>
                </a:solidFill>
                <a:latin typeface="Arial"/>
                <a:ea typeface="Arial"/>
              </a:rPr>
              <a:t>삼성 SSD 포트폴리오  </a:t>
            </a:r>
            <a:r>
              <a:rPr sz="1700" b="0">
                <a:solidFill>
                  <a:srgbClr val="555555"/>
                </a:solidFill>
                <a:latin typeface="Arial"/>
                <a:ea typeface="Arial"/>
              </a:rPr>
              <a:t>수요별 대응 현황</a:t>
            </a:r>
          </a:p>
        </p:txBody>
      </p:sp>
      <p:sp>
        <p:nvSpPr>
          <p:cNvPr id="130" name="TextBox 129"/>
          <p:cNvSpPr txBox="1"/>
          <p:nvPr/>
        </p:nvSpPr>
        <p:spPr>
          <a:xfrm>
            <a:off x="10250424" y="5394960"/>
            <a:ext cx="7315200" cy="329184"/>
          </a:xfrm>
          <a:prstGeom prst="rect">
            <a:avLst/>
          </a:prstGeom>
          <a:noFill/>
        </p:spPr>
        <p:txBody>
          <a:bodyPr wrap="square" anchor="ctr" lIns="0" rIns="0" tIns="0" bIns="0">
            <a:spAutoFit/>
          </a:bodyPr>
          <a:lstStyle/>
          <a:p>
            <a:pPr algn="r">
              <a:lnSpc>
                <a:spcPct val="110000"/>
              </a:lnSpc>
            </a:pPr>
            <a:r>
              <a:rPr sz="1600" b="0">
                <a:solidFill>
                  <a:srgbClr val="3C4FA5"/>
                </a:solidFill>
                <a:latin typeface="Arial"/>
                <a:ea typeface="Arial"/>
              </a:rPr>
              <a:t>■</a:t>
            </a:r>
            <a:r>
              <a:rPr sz="1600" b="0">
                <a:solidFill>
                  <a:srgbClr val="555555"/>
                </a:solidFill>
                <a:latin typeface="Arial"/>
                <a:ea typeface="Arial"/>
              </a:rPr>
              <a:t> 대응 중   </a:t>
            </a:r>
            <a:r>
              <a:rPr sz="1600" b="0">
                <a:solidFill>
                  <a:srgbClr val="677ECD"/>
                </a:solidFill>
                <a:latin typeface="Arial"/>
                <a:ea typeface="Arial"/>
              </a:rPr>
              <a:t>▢</a:t>
            </a:r>
            <a:r>
              <a:rPr sz="1600" b="0">
                <a:solidFill>
                  <a:srgbClr val="555555"/>
                </a:solidFill>
                <a:latin typeface="Arial"/>
                <a:ea typeface="Arial"/>
              </a:rPr>
              <a:t> 대응 가능 · 신호</a:t>
            </a:r>
          </a:p>
        </p:txBody>
      </p:sp>
      <p:sp>
        <p:nvSpPr>
          <p:cNvPr id="131" name="Rounded Rectangle 130"/>
          <p:cNvSpPr/>
          <p:nvPr/>
        </p:nvSpPr>
        <p:spPr>
          <a:xfrm>
            <a:off x="722376" y="577900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2" name="Picture 131" descr="p_pm1755.png"/>
          <p:cNvPicPr>
            <a:picLocks noChangeAspect="1"/>
          </p:cNvPicPr>
          <p:nvPr/>
        </p:nvPicPr>
        <p:blipFill>
          <a:blip r:embed="rId10"/>
          <a:stretch>
            <a:fillRect/>
          </a:stretch>
        </p:blipFill>
        <p:spPr>
          <a:xfrm>
            <a:off x="810490" y="5806440"/>
            <a:ext cx="847898" cy="621792"/>
          </a:xfrm>
          <a:prstGeom prst="rect">
            <a:avLst/>
          </a:prstGeom>
        </p:spPr>
      </p:pic>
      <p:sp>
        <p:nvSpPr>
          <p:cNvPr id="133" name="TextBox 132"/>
          <p:cNvSpPr txBox="1"/>
          <p:nvPr/>
        </p:nvSpPr>
        <p:spPr>
          <a:xfrm>
            <a:off x="1746504" y="579729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고내구 TLC · 3 DWPD</a:t>
            </a:r>
          </a:p>
        </p:txBody>
      </p:sp>
      <p:sp>
        <p:nvSpPr>
          <p:cNvPr id="134" name="TextBox 133"/>
          <p:cNvSpPr txBox="1"/>
          <p:nvPr/>
        </p:nvSpPr>
        <p:spPr>
          <a:xfrm>
            <a:off x="1746504" y="6117336"/>
            <a:ext cx="2286000" cy="292608"/>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PM1755 · PM1745</a:t>
            </a:r>
          </a:p>
        </p:txBody>
      </p:sp>
      <p:sp>
        <p:nvSpPr>
          <p:cNvPr id="135" name="Rounded Rectangle 134"/>
          <p:cNvSpPr/>
          <p:nvPr/>
        </p:nvSpPr>
        <p:spPr>
          <a:xfrm>
            <a:off x="4306824" y="577900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ounded Rectangle 135"/>
          <p:cNvSpPr/>
          <p:nvPr/>
        </p:nvSpPr>
        <p:spPr>
          <a:xfrm>
            <a:off x="7658100" y="5779008"/>
            <a:ext cx="3204972" cy="676656"/>
          </a:xfrm>
          <a:prstGeom prst="roundRect">
            <a:avLst>
              <a:gd name="adj" fmla="val 10810"/>
            </a:avLst>
          </a:prstGeom>
          <a:solidFill>
            <a:srgbClr val="FFFFFF"/>
          </a:solidFill>
          <a:ln w="15875">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7749540" y="5797296"/>
            <a:ext cx="3022092" cy="329184"/>
          </a:xfrm>
          <a:prstGeom prst="rect">
            <a:avLst/>
          </a:prstGeom>
          <a:noFill/>
        </p:spPr>
        <p:txBody>
          <a:bodyPr wrap="square" anchor="ctr" lIns="0" rIns="0" tIns="0" bIns="0">
            <a:spAutoFit/>
          </a:bodyPr>
          <a:lstStyle/>
          <a:p>
            <a:pPr algn="ctr">
              <a:lnSpc>
                <a:spcPct val="110000"/>
              </a:lnSpc>
            </a:pPr>
            <a:r>
              <a:rPr sz="1700" b="1">
                <a:solidFill>
                  <a:srgbClr val="677ECD"/>
                </a:solidFill>
                <a:latin typeface="Arial"/>
                <a:ea typeface="Arial"/>
              </a:rPr>
              <a:t>체크포인트</a:t>
            </a:r>
          </a:p>
        </p:txBody>
      </p:sp>
      <p:sp>
        <p:nvSpPr>
          <p:cNvPr id="138" name="TextBox 137"/>
          <p:cNvSpPr txBox="1"/>
          <p:nvPr/>
        </p:nvSpPr>
        <p:spPr>
          <a:xfrm>
            <a:off x="7749540" y="6117336"/>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PM1755</a:t>
            </a:r>
          </a:p>
        </p:txBody>
      </p:sp>
      <p:sp>
        <p:nvSpPr>
          <p:cNvPr id="139" name="Rounded Rectangle 138"/>
          <p:cNvSpPr/>
          <p:nvPr/>
        </p:nvSpPr>
        <p:spPr>
          <a:xfrm>
            <a:off x="11009376" y="577900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11100816" y="579729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쓰기 많은 KV</a:t>
            </a:r>
          </a:p>
        </p:txBody>
      </p:sp>
      <p:sp>
        <p:nvSpPr>
          <p:cNvPr id="141" name="TextBox 140"/>
          <p:cNvSpPr txBox="1"/>
          <p:nvPr/>
        </p:nvSpPr>
        <p:spPr>
          <a:xfrm>
            <a:off x="11100816" y="611733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PM1755</a:t>
            </a:r>
          </a:p>
        </p:txBody>
      </p:sp>
      <p:sp>
        <p:nvSpPr>
          <p:cNvPr id="142" name="Rounded Rectangle 141"/>
          <p:cNvSpPr/>
          <p:nvPr/>
        </p:nvSpPr>
        <p:spPr>
          <a:xfrm>
            <a:off x="14360652" y="577900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ounded Rectangle 142"/>
          <p:cNvSpPr/>
          <p:nvPr/>
        </p:nvSpPr>
        <p:spPr>
          <a:xfrm>
            <a:off x="722376" y="651052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4" name="Picture 143" descr="p_pm1763.png"/>
          <p:cNvPicPr>
            <a:picLocks noChangeAspect="1"/>
          </p:cNvPicPr>
          <p:nvPr/>
        </p:nvPicPr>
        <p:blipFill>
          <a:blip r:embed="rId11"/>
          <a:stretch>
            <a:fillRect/>
          </a:stretch>
        </p:blipFill>
        <p:spPr>
          <a:xfrm>
            <a:off x="785312" y="6537960"/>
            <a:ext cx="898254" cy="621792"/>
          </a:xfrm>
          <a:prstGeom prst="rect">
            <a:avLst/>
          </a:prstGeom>
        </p:spPr>
      </p:pic>
      <p:sp>
        <p:nvSpPr>
          <p:cNvPr id="145" name="TextBox 144"/>
          <p:cNvSpPr txBox="1"/>
          <p:nvPr/>
        </p:nvSpPr>
        <p:spPr>
          <a:xfrm>
            <a:off x="1746504" y="652881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고성능 TLC · PCIe 6.0</a:t>
            </a:r>
          </a:p>
        </p:txBody>
      </p:sp>
      <p:sp>
        <p:nvSpPr>
          <p:cNvPr id="146" name="TextBox 145"/>
          <p:cNvSpPr txBox="1"/>
          <p:nvPr/>
        </p:nvSpPr>
        <p:spPr>
          <a:xfrm>
            <a:off x="1746504" y="6848856"/>
            <a:ext cx="2286000" cy="292608"/>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PM1763</a:t>
            </a:r>
          </a:p>
        </p:txBody>
      </p:sp>
      <p:sp>
        <p:nvSpPr>
          <p:cNvPr id="147" name="Rounded Rectangle 146"/>
          <p:cNvSpPr/>
          <p:nvPr/>
        </p:nvSpPr>
        <p:spPr>
          <a:xfrm>
            <a:off x="4306824" y="651052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ounded Rectangle 147"/>
          <p:cNvSpPr/>
          <p:nvPr/>
        </p:nvSpPr>
        <p:spPr>
          <a:xfrm>
            <a:off x="7658100" y="651052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7749540" y="652881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데이터 로딩</a:t>
            </a:r>
          </a:p>
        </p:txBody>
      </p:sp>
      <p:sp>
        <p:nvSpPr>
          <p:cNvPr id="150" name="TextBox 149"/>
          <p:cNvSpPr txBox="1"/>
          <p:nvPr/>
        </p:nvSpPr>
        <p:spPr>
          <a:xfrm>
            <a:off x="7749540" y="684885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PM1763</a:t>
            </a:r>
          </a:p>
        </p:txBody>
      </p:sp>
      <p:sp>
        <p:nvSpPr>
          <p:cNvPr id="151" name="Rounded Rectangle 150"/>
          <p:cNvSpPr/>
          <p:nvPr/>
        </p:nvSpPr>
        <p:spPr>
          <a:xfrm>
            <a:off x="11009376" y="6510528"/>
            <a:ext cx="3204972" cy="676656"/>
          </a:xfrm>
          <a:prstGeom prst="roundRect">
            <a:avLst>
              <a:gd name="adj" fmla="val 10810"/>
            </a:avLst>
          </a:prstGeom>
          <a:solidFill>
            <a:srgbClr val="FFFFFF"/>
          </a:solidFill>
          <a:ln w="15875">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1100816" y="6528816"/>
            <a:ext cx="3022092" cy="329184"/>
          </a:xfrm>
          <a:prstGeom prst="rect">
            <a:avLst/>
          </a:prstGeom>
          <a:noFill/>
        </p:spPr>
        <p:txBody>
          <a:bodyPr wrap="square" anchor="ctr" lIns="0" rIns="0" tIns="0" bIns="0">
            <a:spAutoFit/>
          </a:bodyPr>
          <a:lstStyle/>
          <a:p>
            <a:pPr algn="ctr">
              <a:lnSpc>
                <a:spcPct val="110000"/>
              </a:lnSpc>
            </a:pPr>
            <a:r>
              <a:rPr sz="1700" b="1">
                <a:solidFill>
                  <a:srgbClr val="677ECD"/>
                </a:solidFill>
                <a:latin typeface="Arial"/>
                <a:ea typeface="Arial"/>
              </a:rPr>
              <a:t>가중치 로딩 · GPU 직결</a:t>
            </a:r>
          </a:p>
        </p:txBody>
      </p:sp>
      <p:sp>
        <p:nvSpPr>
          <p:cNvPr id="153" name="TextBox 152"/>
          <p:cNvSpPr txBox="1"/>
          <p:nvPr/>
        </p:nvSpPr>
        <p:spPr>
          <a:xfrm>
            <a:off x="11100816" y="6848856"/>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PM1763</a:t>
            </a:r>
          </a:p>
        </p:txBody>
      </p:sp>
      <p:sp>
        <p:nvSpPr>
          <p:cNvPr id="154" name="Rounded Rectangle 153"/>
          <p:cNvSpPr/>
          <p:nvPr/>
        </p:nvSpPr>
        <p:spPr>
          <a:xfrm>
            <a:off x="14360652" y="651052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ounded Rectangle 154"/>
          <p:cNvSpPr/>
          <p:nvPr/>
        </p:nvSpPr>
        <p:spPr>
          <a:xfrm>
            <a:off x="722376" y="724204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6" name="Picture 155" descr="p_pm1753.png"/>
          <p:cNvPicPr>
            <a:picLocks noChangeAspect="1"/>
          </p:cNvPicPr>
          <p:nvPr/>
        </p:nvPicPr>
        <p:blipFill>
          <a:blip r:embed="rId12"/>
          <a:stretch>
            <a:fillRect/>
          </a:stretch>
        </p:blipFill>
        <p:spPr>
          <a:xfrm>
            <a:off x="810490" y="7269480"/>
            <a:ext cx="847898" cy="621792"/>
          </a:xfrm>
          <a:prstGeom prst="rect">
            <a:avLst/>
          </a:prstGeom>
        </p:spPr>
      </p:pic>
      <p:sp>
        <p:nvSpPr>
          <p:cNvPr id="157" name="TextBox 156"/>
          <p:cNvSpPr txBox="1"/>
          <p:nvPr/>
        </p:nvSpPr>
        <p:spPr>
          <a:xfrm>
            <a:off x="1746504" y="726033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고성능 TLC · PCIe 5.0</a:t>
            </a:r>
          </a:p>
        </p:txBody>
      </p:sp>
      <p:sp>
        <p:nvSpPr>
          <p:cNvPr id="158" name="TextBox 157"/>
          <p:cNvSpPr txBox="1"/>
          <p:nvPr/>
        </p:nvSpPr>
        <p:spPr>
          <a:xfrm>
            <a:off x="1746504" y="7580375"/>
            <a:ext cx="2286000" cy="292608"/>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PM1753 · PM9D3a</a:t>
            </a:r>
          </a:p>
        </p:txBody>
      </p:sp>
      <p:sp>
        <p:nvSpPr>
          <p:cNvPr id="159" name="Rounded Rectangle 158"/>
          <p:cNvSpPr/>
          <p:nvPr/>
        </p:nvSpPr>
        <p:spPr>
          <a:xfrm>
            <a:off x="4306824" y="724204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TextBox 159"/>
          <p:cNvSpPr txBox="1"/>
          <p:nvPr/>
        </p:nvSpPr>
        <p:spPr>
          <a:xfrm>
            <a:off x="4398264" y="726033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VM · DB 블록</a:t>
            </a:r>
          </a:p>
        </p:txBody>
      </p:sp>
      <p:sp>
        <p:nvSpPr>
          <p:cNvPr id="161" name="TextBox 160"/>
          <p:cNvSpPr txBox="1"/>
          <p:nvPr/>
        </p:nvSpPr>
        <p:spPr>
          <a:xfrm>
            <a:off x="4398264" y="7580375"/>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PM9D3a · PM1753</a:t>
            </a:r>
          </a:p>
        </p:txBody>
      </p:sp>
      <p:sp>
        <p:nvSpPr>
          <p:cNvPr id="162" name="Rounded Rectangle 161"/>
          <p:cNvSpPr/>
          <p:nvPr/>
        </p:nvSpPr>
        <p:spPr>
          <a:xfrm>
            <a:off x="7658100" y="724204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ounded Rectangle 162"/>
          <p:cNvSpPr/>
          <p:nvPr/>
        </p:nvSpPr>
        <p:spPr>
          <a:xfrm>
            <a:off x="11009376" y="724204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11100816" y="726033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KV 계층 (CMX)</a:t>
            </a:r>
          </a:p>
        </p:txBody>
      </p:sp>
      <p:sp>
        <p:nvSpPr>
          <p:cNvPr id="165" name="TextBox 164"/>
          <p:cNvSpPr txBox="1"/>
          <p:nvPr/>
        </p:nvSpPr>
        <p:spPr>
          <a:xfrm>
            <a:off x="11100816" y="7580375"/>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PM1753</a:t>
            </a:r>
          </a:p>
        </p:txBody>
      </p:sp>
      <p:sp>
        <p:nvSpPr>
          <p:cNvPr id="166" name="Rounded Rectangle 165"/>
          <p:cNvSpPr/>
          <p:nvPr/>
        </p:nvSpPr>
        <p:spPr>
          <a:xfrm>
            <a:off x="14360652" y="7242048"/>
            <a:ext cx="3204972" cy="676656"/>
          </a:xfrm>
          <a:prstGeom prst="roundRect">
            <a:avLst>
              <a:gd name="adj" fmla="val 10810"/>
            </a:avLst>
          </a:prstGeom>
          <a:solidFill>
            <a:srgbClr val="FFFFFF"/>
          </a:solidFill>
          <a:ln w="15875">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4452092" y="7260336"/>
            <a:ext cx="3022092" cy="329184"/>
          </a:xfrm>
          <a:prstGeom prst="rect">
            <a:avLst/>
          </a:prstGeom>
          <a:noFill/>
        </p:spPr>
        <p:txBody>
          <a:bodyPr wrap="square" anchor="ctr" lIns="0" rIns="0" tIns="0" bIns="0">
            <a:spAutoFit/>
          </a:bodyPr>
          <a:lstStyle/>
          <a:p>
            <a:pPr algn="ctr">
              <a:lnSpc>
                <a:spcPct val="110000"/>
              </a:lnSpc>
            </a:pPr>
            <a:r>
              <a:rPr sz="1700" b="1">
                <a:solidFill>
                  <a:srgbClr val="677ECD"/>
                </a:solidFill>
                <a:latin typeface="Arial"/>
                <a:ea typeface="Arial"/>
              </a:rPr>
              <a:t>기동 버스트</a:t>
            </a:r>
          </a:p>
        </p:txBody>
      </p:sp>
      <p:sp>
        <p:nvSpPr>
          <p:cNvPr id="168" name="TextBox 167"/>
          <p:cNvSpPr txBox="1"/>
          <p:nvPr/>
        </p:nvSpPr>
        <p:spPr>
          <a:xfrm>
            <a:off x="14452092" y="7580375"/>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PM1753</a:t>
            </a:r>
          </a:p>
        </p:txBody>
      </p:sp>
      <p:sp>
        <p:nvSpPr>
          <p:cNvPr id="169" name="Rounded Rectangle 168"/>
          <p:cNvSpPr/>
          <p:nvPr/>
        </p:nvSpPr>
        <p:spPr>
          <a:xfrm>
            <a:off x="722376" y="797356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0" name="Picture 169" descr="p_bm1743.png"/>
          <p:cNvPicPr>
            <a:picLocks noChangeAspect="1"/>
          </p:cNvPicPr>
          <p:nvPr/>
        </p:nvPicPr>
        <p:blipFill>
          <a:blip r:embed="rId13"/>
          <a:stretch>
            <a:fillRect/>
          </a:stretch>
        </p:blipFill>
        <p:spPr>
          <a:xfrm>
            <a:off x="785312" y="8001000"/>
            <a:ext cx="898254" cy="621792"/>
          </a:xfrm>
          <a:prstGeom prst="rect">
            <a:avLst/>
          </a:prstGeom>
        </p:spPr>
      </p:pic>
      <p:sp>
        <p:nvSpPr>
          <p:cNvPr id="171" name="TextBox 170"/>
          <p:cNvSpPr txBox="1"/>
          <p:nvPr/>
        </p:nvSpPr>
        <p:spPr>
          <a:xfrm>
            <a:off x="1746504" y="799185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고용량 QLC · 0.26~0.6</a:t>
            </a:r>
          </a:p>
        </p:txBody>
      </p:sp>
      <p:sp>
        <p:nvSpPr>
          <p:cNvPr id="172" name="TextBox 171"/>
          <p:cNvSpPr txBox="1"/>
          <p:nvPr/>
        </p:nvSpPr>
        <p:spPr>
          <a:xfrm>
            <a:off x="1746504" y="8311896"/>
            <a:ext cx="2286000" cy="292608"/>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BM1743 · BM1773</a:t>
            </a:r>
          </a:p>
        </p:txBody>
      </p:sp>
      <p:sp>
        <p:nvSpPr>
          <p:cNvPr id="173" name="Rounded Rectangle 172"/>
          <p:cNvSpPr/>
          <p:nvPr/>
        </p:nvSpPr>
        <p:spPr>
          <a:xfrm>
            <a:off x="4306824" y="797356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4398264" y="799185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객체 · 콜드 데이터</a:t>
            </a:r>
          </a:p>
        </p:txBody>
      </p:sp>
      <p:sp>
        <p:nvSpPr>
          <p:cNvPr id="175" name="TextBox 174"/>
          <p:cNvSpPr txBox="1"/>
          <p:nvPr/>
        </p:nvSpPr>
        <p:spPr>
          <a:xfrm>
            <a:off x="4398264" y="831189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BM1743</a:t>
            </a:r>
          </a:p>
        </p:txBody>
      </p:sp>
      <p:sp>
        <p:nvSpPr>
          <p:cNvPr id="176" name="Rounded Rectangle 175"/>
          <p:cNvSpPr/>
          <p:nvPr/>
        </p:nvSpPr>
        <p:spPr>
          <a:xfrm>
            <a:off x="7658100" y="797356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7749540" y="799185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데이터셋</a:t>
            </a:r>
          </a:p>
        </p:txBody>
      </p:sp>
      <p:sp>
        <p:nvSpPr>
          <p:cNvPr id="178" name="TextBox 177"/>
          <p:cNvSpPr txBox="1"/>
          <p:nvPr/>
        </p:nvSpPr>
        <p:spPr>
          <a:xfrm>
            <a:off x="7749540" y="831189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BM1743</a:t>
            </a:r>
          </a:p>
        </p:txBody>
      </p:sp>
      <p:sp>
        <p:nvSpPr>
          <p:cNvPr id="179" name="Rounded Rectangle 178"/>
          <p:cNvSpPr/>
          <p:nvPr/>
        </p:nvSpPr>
        <p:spPr>
          <a:xfrm>
            <a:off x="11009376" y="7973568"/>
            <a:ext cx="3204972" cy="676656"/>
          </a:xfrm>
          <a:prstGeom prst="roundRect">
            <a:avLst>
              <a:gd name="adj" fmla="val 10810"/>
            </a:avLst>
          </a:prstGeom>
          <a:solidFill>
            <a:srgbClr val="FFFFFF"/>
          </a:solidFill>
          <a:ln w="15875">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11100816" y="7991856"/>
            <a:ext cx="3022092" cy="329184"/>
          </a:xfrm>
          <a:prstGeom prst="rect">
            <a:avLst/>
          </a:prstGeom>
          <a:noFill/>
        </p:spPr>
        <p:txBody>
          <a:bodyPr wrap="square" anchor="ctr" lIns="0" rIns="0" tIns="0" bIns="0">
            <a:spAutoFit/>
          </a:bodyPr>
          <a:lstStyle/>
          <a:p>
            <a:pPr algn="ctr">
              <a:lnSpc>
                <a:spcPct val="110000"/>
              </a:lnSpc>
            </a:pPr>
            <a:r>
              <a:rPr sz="1700" b="1">
                <a:solidFill>
                  <a:srgbClr val="677ECD"/>
                </a:solidFill>
                <a:latin typeface="Arial"/>
                <a:ea typeface="Arial"/>
              </a:rPr>
              <a:t>가중치 · RAG 읽기</a:t>
            </a:r>
          </a:p>
        </p:txBody>
      </p:sp>
      <p:sp>
        <p:nvSpPr>
          <p:cNvPr id="181" name="TextBox 180"/>
          <p:cNvSpPr txBox="1"/>
          <p:nvPr/>
        </p:nvSpPr>
        <p:spPr>
          <a:xfrm>
            <a:off x="11100816" y="8311896"/>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BM1743</a:t>
            </a:r>
          </a:p>
        </p:txBody>
      </p:sp>
      <p:sp>
        <p:nvSpPr>
          <p:cNvPr id="182" name="Rounded Rectangle 181"/>
          <p:cNvSpPr/>
          <p:nvPr/>
        </p:nvSpPr>
        <p:spPr>
          <a:xfrm>
            <a:off x="14360652" y="797356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extBox 182"/>
          <p:cNvSpPr txBox="1"/>
          <p:nvPr/>
        </p:nvSpPr>
        <p:spPr>
          <a:xfrm>
            <a:off x="14452092" y="799185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사용자 VM 디스크</a:t>
            </a:r>
          </a:p>
        </p:txBody>
      </p:sp>
      <p:sp>
        <p:nvSpPr>
          <p:cNvPr id="184" name="TextBox 183"/>
          <p:cNvSpPr txBox="1"/>
          <p:nvPr/>
        </p:nvSpPr>
        <p:spPr>
          <a:xfrm>
            <a:off x="14452092" y="831189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BM1743 · BM1773</a:t>
            </a:r>
          </a:p>
        </p:txBody>
      </p:sp>
      <p:sp>
        <p:nvSpPr>
          <p:cNvPr id="185" name="TextBox 184"/>
          <p:cNvSpPr txBox="1"/>
          <p:nvPr/>
        </p:nvSpPr>
        <p:spPr>
          <a:xfrm>
            <a:off x="722376" y="8796528"/>
            <a:ext cx="338328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eSSD 수요 비중</a:t>
            </a:r>
          </a:p>
        </p:txBody>
      </p:sp>
      <p:sp>
        <p:nvSpPr>
          <p:cNvPr id="186" name="TextBox 185"/>
          <p:cNvSpPr txBox="1"/>
          <p:nvPr/>
        </p:nvSpPr>
        <p:spPr>
          <a:xfrm>
            <a:off x="722376" y="9125711"/>
            <a:ext cx="265176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TechInsights 3Q26</a:t>
            </a:r>
          </a:p>
        </p:txBody>
      </p:sp>
      <p:sp>
        <p:nvSpPr>
          <p:cNvPr id="187" name="TextBox 186"/>
          <p:cNvSpPr txBox="1"/>
          <p:nvPr/>
        </p:nvSpPr>
        <p:spPr>
          <a:xfrm>
            <a:off x="722376" y="8814815"/>
            <a:ext cx="3273552"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2025</a:t>
            </a:r>
          </a:p>
        </p:txBody>
      </p:sp>
      <p:sp>
        <p:nvSpPr>
          <p:cNvPr id="188" name="Rectangle 187"/>
          <p:cNvSpPr/>
          <p:nvPr/>
        </p:nvSpPr>
        <p:spPr>
          <a:xfrm>
            <a:off x="4306824" y="8814815"/>
            <a:ext cx="7159752"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extBox 188"/>
          <p:cNvSpPr txBox="1"/>
          <p:nvPr/>
        </p:nvSpPr>
        <p:spPr>
          <a:xfrm>
            <a:off x="4306824" y="8814815"/>
            <a:ext cx="7159752"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54%</a:t>
            </a:r>
          </a:p>
        </p:txBody>
      </p:sp>
      <p:sp>
        <p:nvSpPr>
          <p:cNvPr id="190" name="Rectangle 189"/>
          <p:cNvSpPr/>
          <p:nvPr/>
        </p:nvSpPr>
        <p:spPr>
          <a:xfrm>
            <a:off x="11466576" y="8814815"/>
            <a:ext cx="1988819" cy="274320"/>
          </a:xfrm>
          <a:prstGeom prst="rect">
            <a:avLst/>
          </a:prstGeom>
          <a:solidFill>
            <a:srgbClr val="C0CAE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11466576" y="8814815"/>
            <a:ext cx="1988819"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AI 학습 15%</a:t>
            </a:r>
          </a:p>
        </p:txBody>
      </p:sp>
      <p:sp>
        <p:nvSpPr>
          <p:cNvPr id="192" name="Rectangle 191"/>
          <p:cNvSpPr/>
          <p:nvPr/>
        </p:nvSpPr>
        <p:spPr>
          <a:xfrm>
            <a:off x="13455396" y="8814815"/>
            <a:ext cx="4110228" cy="274320"/>
          </a:xfrm>
          <a:prstGeom prst="rect">
            <a:avLst/>
          </a:prstGeom>
          <a:solidFill>
            <a:srgbClr val="3C4FA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TextBox 192"/>
          <p:cNvSpPr txBox="1"/>
          <p:nvPr/>
        </p:nvSpPr>
        <p:spPr>
          <a:xfrm>
            <a:off x="13455396" y="8814815"/>
            <a:ext cx="4110228"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AI 추론 31%</a:t>
            </a:r>
          </a:p>
        </p:txBody>
      </p:sp>
      <p:sp>
        <p:nvSpPr>
          <p:cNvPr id="194" name="TextBox 193"/>
          <p:cNvSpPr txBox="1"/>
          <p:nvPr/>
        </p:nvSpPr>
        <p:spPr>
          <a:xfrm>
            <a:off x="722376" y="9143999"/>
            <a:ext cx="3273552" cy="274320"/>
          </a:xfrm>
          <a:prstGeom prst="rect">
            <a:avLst/>
          </a:prstGeom>
          <a:noFill/>
        </p:spPr>
        <p:txBody>
          <a:bodyPr wrap="square" anchor="ctr" lIns="0" rIns="0" tIns="0" bIns="0">
            <a:spAutoFit/>
          </a:bodyPr>
          <a:lstStyle/>
          <a:p>
            <a:pPr algn="r">
              <a:lnSpc>
                <a:spcPct val="110000"/>
              </a:lnSpc>
            </a:pPr>
            <a:r>
              <a:rPr sz="1600" b="1">
                <a:solidFill>
                  <a:srgbClr val="1A1A1A"/>
                </a:solidFill>
                <a:latin typeface="Arial"/>
                <a:ea typeface="Arial"/>
              </a:rPr>
              <a:t>2030</a:t>
            </a:r>
          </a:p>
        </p:txBody>
      </p:sp>
      <p:sp>
        <p:nvSpPr>
          <p:cNvPr id="195" name="Rectangle 194"/>
          <p:cNvSpPr/>
          <p:nvPr/>
        </p:nvSpPr>
        <p:spPr>
          <a:xfrm>
            <a:off x="4306824" y="9143999"/>
            <a:ext cx="1988819"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extBox 195"/>
          <p:cNvSpPr txBox="1"/>
          <p:nvPr/>
        </p:nvSpPr>
        <p:spPr>
          <a:xfrm>
            <a:off x="4306824" y="9143999"/>
            <a:ext cx="1988819"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15%</a:t>
            </a:r>
          </a:p>
        </p:txBody>
      </p:sp>
      <p:sp>
        <p:nvSpPr>
          <p:cNvPr id="197" name="Rectangle 196"/>
          <p:cNvSpPr/>
          <p:nvPr/>
        </p:nvSpPr>
        <p:spPr>
          <a:xfrm>
            <a:off x="6295644" y="9143999"/>
            <a:ext cx="795528" cy="274320"/>
          </a:xfrm>
          <a:prstGeom prst="rect">
            <a:avLst/>
          </a:prstGeom>
          <a:solidFill>
            <a:srgbClr val="C0CAE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TextBox 197"/>
          <p:cNvSpPr txBox="1"/>
          <p:nvPr/>
        </p:nvSpPr>
        <p:spPr>
          <a:xfrm>
            <a:off x="6295644" y="9143999"/>
            <a:ext cx="795528"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6%</a:t>
            </a:r>
          </a:p>
        </p:txBody>
      </p:sp>
      <p:sp>
        <p:nvSpPr>
          <p:cNvPr id="199" name="Rectangle 198"/>
          <p:cNvSpPr/>
          <p:nvPr/>
        </p:nvSpPr>
        <p:spPr>
          <a:xfrm>
            <a:off x="7091172" y="9143999"/>
            <a:ext cx="10474452" cy="274320"/>
          </a:xfrm>
          <a:prstGeom prst="rect">
            <a:avLst/>
          </a:prstGeom>
          <a:solidFill>
            <a:srgbClr val="3C4FA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extBox 199"/>
          <p:cNvSpPr txBox="1"/>
          <p:nvPr/>
        </p:nvSpPr>
        <p:spPr>
          <a:xfrm>
            <a:off x="7091172" y="9143999"/>
            <a:ext cx="10474452"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AI 추론 79%</a:t>
            </a:r>
          </a:p>
        </p:txBody>
      </p:sp>
      <p:grpSp>
        <p:nvGrpSpPr>
          <p:cNvPr id="207" name="Group 206"/>
          <p:cNvGrpSpPr/>
          <p:nvPr/>
        </p:nvGrpSpPr>
        <p:grpSpPr>
          <a:xfrm>
            <a:off x="7063740" y="1874519"/>
            <a:ext cx="10529316" cy="7571232"/>
            <a:chOff x="7063740" y="1874519"/>
            <a:chExt cx="10529316" cy="7571232"/>
          </a:xfrm>
        </p:grpSpPr>
        <p:sp>
          <p:nvSpPr>
            <p:cNvPr id="201" name="Rounded Rectangle 200"/>
            <p:cNvSpPr/>
            <p:nvPr/>
          </p:nvSpPr>
          <p:spPr>
            <a:xfrm>
              <a:off x="10945368" y="2057400"/>
              <a:ext cx="3332988" cy="6629400"/>
            </a:xfrm>
            <a:prstGeom prst="roundRect">
              <a:avLst>
                <a:gd name="adj" fmla="val 2194"/>
              </a:avLst>
            </a:prstGeom>
            <a:noFill/>
            <a:ln w="5715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Rectangle 201"/>
            <p:cNvSpPr/>
            <p:nvPr/>
          </p:nvSpPr>
          <p:spPr>
            <a:xfrm>
              <a:off x="13427964" y="8787384"/>
              <a:ext cx="4165091" cy="329184"/>
            </a:xfrm>
            <a:prstGeom prst="rect">
              <a:avLst/>
            </a:prstGeom>
            <a:noFill/>
            <a:ln w="4445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Rectangle 202"/>
            <p:cNvSpPr/>
            <p:nvPr/>
          </p:nvSpPr>
          <p:spPr>
            <a:xfrm>
              <a:off x="7063740" y="9116567"/>
              <a:ext cx="10529316" cy="329184"/>
            </a:xfrm>
            <a:prstGeom prst="rect">
              <a:avLst/>
            </a:prstGeom>
            <a:noFill/>
            <a:ln w="4445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4" name="Connector 203"/>
            <p:cNvCxnSpPr/>
            <p:nvPr/>
          </p:nvCxnSpPr>
          <p:spPr>
            <a:xfrm>
              <a:off x="12611862" y="8686800"/>
              <a:ext cx="0" cy="100584"/>
            </a:xfrm>
            <a:prstGeom prst="line">
              <a:avLst/>
            </a:prstGeom>
            <a:ln w="38100">
              <a:solidFill>
                <a:srgbClr val="E8590C"/>
              </a:solidFill>
            </a:ln>
          </p:spPr>
          <p:style>
            <a:lnRef idx="2">
              <a:schemeClr val="accent1"/>
            </a:lnRef>
            <a:fillRef idx="0">
              <a:schemeClr val="accent1"/>
            </a:fillRef>
            <a:effectRef idx="1">
              <a:schemeClr val="accent1"/>
            </a:effectRef>
            <a:fontRef idx="minor">
              <a:schemeClr val="tx1"/>
            </a:fontRef>
          </p:style>
        </p:cxnSp>
        <p:sp>
          <p:nvSpPr>
            <p:cNvPr id="205" name="Rounded Rectangle 204"/>
            <p:cNvSpPr/>
            <p:nvPr/>
          </p:nvSpPr>
          <p:spPr>
            <a:xfrm>
              <a:off x="12733020" y="1874519"/>
              <a:ext cx="1417320" cy="347472"/>
            </a:xfrm>
            <a:prstGeom prst="roundRect">
              <a:avLst>
                <a:gd name="adj" fmla="val 21052"/>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TextBox 205"/>
            <p:cNvSpPr txBox="1"/>
            <p:nvPr/>
          </p:nvSpPr>
          <p:spPr>
            <a:xfrm>
              <a:off x="12733020" y="1874519"/>
              <a:ext cx="1417320" cy="347472"/>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추론에 집중</a:t>
              </a:r>
            </a:p>
          </p:txBody>
        </p:sp>
      </p:grpSp>
      <p:sp>
        <p:nvSpPr>
          <p:cNvPr id="208" name="TextBox 207"/>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수요 비중 TechInsights 3Q26 보고서(사용자 제공, 원문 미대조) · HBM 과제팀 집계 · p99 FlashBlox(FAST'17) · 학습 · 추론 카드의 SSD 역할 수치(GPU당 대역 · KV 복원 대역 · p99 목표 · DWPD 실측)는 노트 · 에이전트 Google · Muse 관측(제3자) · 삼성 모델 사양 공식 페이지 검색 확인(🟡) · 제품 이미지는 형태 재현</a:t>
            </a:r>
          </a:p>
        </p:txBody>
      </p:sp>
      <p:sp>
        <p:nvSpPr>
          <p:cNvPr id="209" name="TextBox 208"/>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1 / 8</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nodeType="clickEffect">
                                  <p:stCondLst>
                                    <p:cond delay="0"/>
                                  </p:stCondLst>
                                  <p:childTnLst>
                                    <p:set>
                                      <p:cBhvr>
                                        <p:cTn id="7" dur="1" fill="hold">
                                          <p:stCondLst>
                                            <p:cond delay="0"/>
                                          </p:stCondLst>
                                        </p:cTn>
                                        <p:tgtEl>
                                          <p:spTgt spid="207"/>
                                        </p:tgtEl>
                                        <p:attrNameLst>
                                          <p:attrName>style.visibility</p:attrName>
                                        </p:attrNameLst>
                                      </p:cBhvr>
                                      <p:to>
                                        <p:strVal val="visible"/>
                                      </p:to>
                                    </p:set>
                                    <p:animEffect transition="in" filter="fade">
                                      <p:cBhvr>
                                        <p:cTn id="8" dur="500"/>
                                        <p:tgtEl>
                                          <p:spTgt spid="2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2 / 8  AI 추론 대응</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AI 추론 수요는 용도마다 SSD 요구가 다르고,</a:t>
            </a:r>
          </a:p>
          <a:p>
            <a:pPr algn="l">
              <a:lnSpc>
                <a:spcPct val="105000"/>
              </a:lnSpc>
            </a:pPr>
            <a:r>
              <a:rPr sz="3200" b="1">
                <a:solidFill>
                  <a:srgbClr val="1A1A1A"/>
                </a:solidFill>
                <a:latin typeface="Arial"/>
                <a:ea typeface="Arial"/>
              </a:rPr>
              <a:t>그 요구를 채우는 핵심 기술은 고객과 함께 개발하고 최적화해야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066543"/>
            <a:ext cx="3474720" cy="402336"/>
          </a:xfrm>
          <a:prstGeom prst="rect">
            <a:avLst/>
          </a:prstGeom>
          <a:noFill/>
        </p:spPr>
        <p:txBody>
          <a:bodyPr wrap="square" anchor="ctr" lIns="0" rIns="0" tIns="0" bIns="0">
            <a:spAutoFit/>
          </a:bodyPr>
          <a:lstStyle/>
          <a:p>
            <a:pPr algn="l">
              <a:lnSpc>
                <a:spcPct val="110000"/>
              </a:lnSpc>
            </a:pPr>
            <a:r>
              <a:rPr sz="2100" b="1">
                <a:solidFill>
                  <a:srgbClr val="3C4FA5"/>
                </a:solidFill>
                <a:latin typeface="Arial"/>
                <a:ea typeface="Arial"/>
              </a:rPr>
              <a:t>① 추론 수요</a:t>
            </a:r>
          </a:p>
        </p:txBody>
      </p:sp>
      <p:sp>
        <p:nvSpPr>
          <p:cNvPr id="7" name="TextBox 6"/>
          <p:cNvSpPr txBox="1"/>
          <p:nvPr/>
        </p:nvSpPr>
        <p:spPr>
          <a:xfrm>
            <a:off x="4507992" y="2066543"/>
            <a:ext cx="4480560" cy="402336"/>
          </a:xfrm>
          <a:prstGeom prst="rect">
            <a:avLst/>
          </a:prstGeom>
          <a:noFill/>
        </p:spPr>
        <p:txBody>
          <a:bodyPr wrap="square" anchor="ctr" lIns="0" rIns="0" tIns="0" bIns="0">
            <a:spAutoFit/>
          </a:bodyPr>
          <a:lstStyle/>
          <a:p>
            <a:pPr algn="l">
              <a:lnSpc>
                <a:spcPct val="110000"/>
              </a:lnSpc>
            </a:pPr>
            <a:r>
              <a:rPr sz="2100" b="1">
                <a:solidFill>
                  <a:srgbClr val="3C4FA5"/>
                </a:solidFill>
                <a:latin typeface="Arial"/>
                <a:ea typeface="Arial"/>
              </a:rPr>
              <a:t>② 핵심 요구</a:t>
            </a:r>
          </a:p>
        </p:txBody>
      </p:sp>
      <p:sp>
        <p:nvSpPr>
          <p:cNvPr id="8" name="TextBox 7"/>
          <p:cNvSpPr txBox="1"/>
          <p:nvPr/>
        </p:nvSpPr>
        <p:spPr>
          <a:xfrm>
            <a:off x="9317736" y="2066543"/>
            <a:ext cx="8247888" cy="402336"/>
          </a:xfrm>
          <a:prstGeom prst="rect">
            <a:avLst/>
          </a:prstGeom>
          <a:noFill/>
        </p:spPr>
        <p:txBody>
          <a:bodyPr wrap="square" anchor="ctr" lIns="0" rIns="0" tIns="0" bIns="0">
            <a:spAutoFit/>
          </a:bodyPr>
          <a:lstStyle/>
          <a:p>
            <a:pPr algn="l">
              <a:lnSpc>
                <a:spcPct val="110000"/>
              </a:lnSpc>
            </a:pPr>
            <a:r>
              <a:rPr sz="2100" b="1">
                <a:solidFill>
                  <a:srgbClr val="3C4FA5"/>
                </a:solidFill>
                <a:latin typeface="Arial"/>
                <a:ea typeface="Arial"/>
              </a:rPr>
              <a:t>③ 핵심 기술</a:t>
            </a:r>
          </a:p>
        </p:txBody>
      </p:sp>
      <p:sp>
        <p:nvSpPr>
          <p:cNvPr id="9" name="Chevron 8"/>
          <p:cNvSpPr/>
          <p:nvPr/>
        </p:nvSpPr>
        <p:spPr>
          <a:xfrm>
            <a:off x="4215383" y="2048255"/>
            <a:ext cx="219456" cy="438912"/>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9025128" y="2048255"/>
            <a:ext cx="219456" cy="438912"/>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07992"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Read</a:t>
            </a:r>
          </a:p>
          <a:p>
            <a:pPr algn="ctr">
              <a:lnSpc>
                <a:spcPct val="95000"/>
              </a:lnSpc>
            </a:pPr>
            <a:r>
              <a:rPr sz="1500" b="1">
                <a:solidFill>
                  <a:srgbClr val="1A1A1A"/>
                </a:solidFill>
                <a:latin typeface="Arial"/>
                <a:ea typeface="Arial"/>
              </a:rPr>
              <a:t>BW</a:t>
            </a:r>
          </a:p>
        </p:txBody>
      </p:sp>
      <p:sp>
        <p:nvSpPr>
          <p:cNvPr id="12" name="TextBox 11"/>
          <p:cNvSpPr txBox="1"/>
          <p:nvPr/>
        </p:nvSpPr>
        <p:spPr>
          <a:xfrm>
            <a:off x="5404104"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Tail</a:t>
            </a:r>
          </a:p>
          <a:p>
            <a:pPr algn="ctr">
              <a:lnSpc>
                <a:spcPct val="95000"/>
              </a:lnSpc>
            </a:pPr>
            <a:r>
              <a:rPr sz="1500" b="1">
                <a:solidFill>
                  <a:srgbClr val="1A1A1A"/>
                </a:solidFill>
                <a:latin typeface="Arial"/>
                <a:ea typeface="Arial"/>
              </a:rPr>
              <a:t>Latency</a:t>
            </a:r>
          </a:p>
        </p:txBody>
      </p:sp>
      <p:sp>
        <p:nvSpPr>
          <p:cNvPr id="13" name="TextBox 12"/>
          <p:cNvSpPr txBox="1"/>
          <p:nvPr/>
        </p:nvSpPr>
        <p:spPr>
          <a:xfrm>
            <a:off x="6300216"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DWPD</a:t>
            </a:r>
          </a:p>
        </p:txBody>
      </p:sp>
      <p:sp>
        <p:nvSpPr>
          <p:cNvPr id="14" name="TextBox 13"/>
          <p:cNvSpPr txBox="1"/>
          <p:nvPr/>
        </p:nvSpPr>
        <p:spPr>
          <a:xfrm>
            <a:off x="7196327"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Capacity</a:t>
            </a:r>
          </a:p>
          <a:p>
            <a:pPr algn="ctr">
              <a:lnSpc>
                <a:spcPct val="95000"/>
              </a:lnSpc>
            </a:pPr>
            <a:r>
              <a:rPr sz="1500" b="1">
                <a:solidFill>
                  <a:srgbClr val="1A1A1A"/>
                </a:solidFill>
                <a:latin typeface="Arial"/>
                <a:ea typeface="Arial"/>
              </a:rPr>
              <a:t>$/TB</a:t>
            </a:r>
          </a:p>
        </p:txBody>
      </p:sp>
      <p:sp>
        <p:nvSpPr>
          <p:cNvPr id="15" name="TextBox 14"/>
          <p:cNvSpPr txBox="1"/>
          <p:nvPr/>
        </p:nvSpPr>
        <p:spPr>
          <a:xfrm>
            <a:off x="8092440"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Isolation</a:t>
            </a:r>
          </a:p>
          <a:p>
            <a:pPr algn="ctr">
              <a:lnSpc>
                <a:spcPct val="95000"/>
              </a:lnSpc>
            </a:pPr>
            <a:r>
              <a:rPr sz="1500" b="1">
                <a:solidFill>
                  <a:srgbClr val="1A1A1A"/>
                </a:solidFill>
                <a:latin typeface="Arial"/>
                <a:ea typeface="Arial"/>
              </a:rPr>
              <a:t>Security</a:t>
            </a:r>
          </a:p>
        </p:txBody>
      </p:sp>
      <p:sp>
        <p:nvSpPr>
          <p:cNvPr id="16" name="TextBox 15"/>
          <p:cNvSpPr txBox="1"/>
          <p:nvPr/>
        </p:nvSpPr>
        <p:spPr>
          <a:xfrm>
            <a:off x="9317736" y="2578608"/>
            <a:ext cx="8247888" cy="40233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채도 = 고객 협력 정도   </a:t>
            </a:r>
            <a:r>
              <a:rPr sz="1700" b="0">
                <a:solidFill>
                  <a:srgbClr val="3C4FA5"/>
                </a:solidFill>
                <a:latin typeface="Arial"/>
                <a:ea typeface="Arial"/>
              </a:rPr>
              <a:t>■</a:t>
            </a:r>
            <a:r>
              <a:rPr sz="1600" b="0">
                <a:solidFill>
                  <a:srgbClr val="555555"/>
                </a:solidFill>
                <a:latin typeface="Arial"/>
                <a:ea typeface="Arial"/>
              </a:rPr>
              <a:t> 최적화까지 함께   </a:t>
            </a:r>
            <a:r>
              <a:rPr sz="1700" b="0">
                <a:solidFill>
                  <a:srgbClr val="677ECD"/>
                </a:solidFill>
                <a:latin typeface="Arial"/>
                <a:ea typeface="Arial"/>
              </a:rPr>
              <a:t>■</a:t>
            </a:r>
            <a:r>
              <a:rPr sz="1600" b="0">
                <a:solidFill>
                  <a:srgbClr val="555555"/>
                </a:solidFill>
                <a:latin typeface="Arial"/>
                <a:ea typeface="Arial"/>
              </a:rPr>
              <a:t> 고객 시스템 개발   </a:t>
            </a:r>
            <a:r>
              <a:rPr sz="1700" b="0">
                <a:solidFill>
                  <a:srgbClr val="C0CAEC"/>
                </a:solidFill>
                <a:latin typeface="Arial"/>
                <a:ea typeface="Arial"/>
              </a:rPr>
              <a:t>■</a:t>
            </a:r>
            <a:r>
              <a:rPr sz="1600" b="0">
                <a:solidFill>
                  <a:srgbClr val="555555"/>
                </a:solidFill>
                <a:latin typeface="Arial"/>
                <a:ea typeface="Arial"/>
              </a:rPr>
              <a:t> SSD 안에서</a:t>
            </a:r>
          </a:p>
        </p:txBody>
      </p:sp>
      <p:sp>
        <p:nvSpPr>
          <p:cNvPr id="17" name="Rounded Rectangle 16"/>
          <p:cNvSpPr/>
          <p:nvPr/>
        </p:nvSpPr>
        <p:spPr>
          <a:xfrm>
            <a:off x="722376" y="3035808"/>
            <a:ext cx="3474720" cy="841248"/>
          </a:xfrm>
          <a:prstGeom prst="roundRect">
            <a:avLst>
              <a:gd name="adj" fmla="val 869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95528" y="3108960"/>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flipV="1">
            <a:off x="981699" y="3226003"/>
            <a:ext cx="298461"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81699" y="3302812"/>
            <a:ext cx="298461"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81699" y="3302812"/>
            <a:ext cx="298461"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81699" y="3302812"/>
            <a:ext cx="298461" cy="38404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981699" y="3226003"/>
            <a:ext cx="298461"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981699" y="3379622"/>
            <a:ext cx="298461"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81699" y="3456432"/>
            <a:ext cx="298461"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81699" y="3456432"/>
            <a:ext cx="298461" cy="23042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981699" y="3226003"/>
            <a:ext cx="298461" cy="38404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981699" y="3379622"/>
            <a:ext cx="298461"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981699" y="3533241"/>
            <a:ext cx="298461"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81699" y="3610051"/>
            <a:ext cx="298461"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280160" y="3226003"/>
            <a:ext cx="298460"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280160" y="3226003"/>
            <a:ext cx="298460"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280160" y="3226003"/>
            <a:ext cx="298460" cy="38404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280160" y="3302812"/>
            <a:ext cx="298460"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280160" y="3379622"/>
            <a:ext cx="298460"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280160" y="3379622"/>
            <a:ext cx="298460"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280160" y="3302812"/>
            <a:ext cx="298460"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280160" y="3456432"/>
            <a:ext cx="298460"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280160" y="3533241"/>
            <a:ext cx="298460"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1280160" y="3302812"/>
            <a:ext cx="298460" cy="38404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280160" y="3456432"/>
            <a:ext cx="298460" cy="23042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280160" y="3610051"/>
            <a:ext cx="298460"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sp>
        <p:nvSpPr>
          <p:cNvPr id="43" name="Oval 42"/>
          <p:cNvSpPr/>
          <p:nvPr/>
        </p:nvSpPr>
        <p:spPr>
          <a:xfrm>
            <a:off x="927293" y="3248406"/>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927293" y="3402025"/>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927293" y="3555644"/>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225753" y="3171596"/>
            <a:ext cx="108813" cy="108813"/>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225753" y="3325215"/>
            <a:ext cx="108813" cy="108813"/>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225753" y="3478834"/>
            <a:ext cx="108813" cy="108813"/>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225753" y="3632454"/>
            <a:ext cx="108813" cy="108813"/>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1524213" y="3248406"/>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524213" y="3402025"/>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524213" y="3555644"/>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874519" y="3108960"/>
            <a:ext cx="2267711"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모델 가중치</a:t>
            </a:r>
          </a:p>
        </p:txBody>
      </p:sp>
      <p:sp>
        <p:nvSpPr>
          <p:cNvPr id="54" name="TextBox 53"/>
          <p:cNvSpPr txBox="1"/>
          <p:nvPr/>
        </p:nvSpPr>
        <p:spPr>
          <a:xfrm>
            <a:off x="1874519" y="3493008"/>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로딩 · 모델 교체</a:t>
            </a:r>
          </a:p>
        </p:txBody>
      </p:sp>
      <p:sp>
        <p:nvSpPr>
          <p:cNvPr id="55" name="Rounded Rectangle 54"/>
          <p:cNvSpPr/>
          <p:nvPr/>
        </p:nvSpPr>
        <p:spPr>
          <a:xfrm>
            <a:off x="4507992" y="3035808"/>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4782312" y="3282696"/>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5678424" y="3282696"/>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7470648" y="3282696"/>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8366760" y="3282696"/>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9317736" y="3200400"/>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445752" y="3319637"/>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9526584" y="3319637"/>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607417" y="3319637"/>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9688250" y="3319637"/>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9445752" y="3456432"/>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848088" y="3200400"/>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68" name="Rounded Rectangle 67"/>
          <p:cNvSpPr/>
          <p:nvPr/>
        </p:nvSpPr>
        <p:spPr>
          <a:xfrm>
            <a:off x="12112752" y="3200400"/>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12309165" y="3300984"/>
            <a:ext cx="174101" cy="192755"/>
          </a:xfrm>
          <a:prstGeom prst="ellipse">
            <a:avLst/>
          </a:prstGeom>
          <a:noFill/>
          <a:ln w="285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ed Rectangle 69"/>
          <p:cNvSpPr/>
          <p:nvPr/>
        </p:nvSpPr>
        <p:spPr>
          <a:xfrm>
            <a:off x="12265639" y="3425342"/>
            <a:ext cx="261152" cy="180319"/>
          </a:xfrm>
          <a:prstGeom prst="roundRect">
            <a:avLst>
              <a:gd name="adj" fmla="val 405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2377562" y="3475085"/>
            <a:ext cx="37307"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2643104" y="3200400"/>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Confidential</a:t>
            </a:r>
          </a:p>
        </p:txBody>
      </p:sp>
      <p:sp>
        <p:nvSpPr>
          <p:cNvPr id="73" name="Rounded Rectangle 72"/>
          <p:cNvSpPr/>
          <p:nvPr/>
        </p:nvSpPr>
        <p:spPr>
          <a:xfrm>
            <a:off x="14907768" y="3200400"/>
            <a:ext cx="2657856" cy="512064"/>
          </a:xfrm>
          <a:prstGeom prst="roundRect">
            <a:avLst>
              <a:gd name="adj" fmla="val 14285"/>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15035784" y="3300984"/>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15141488" y="3300984"/>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5247193" y="3300984"/>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15035784" y="3406688"/>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15141488" y="3406688"/>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15247193" y="3406688"/>
            <a:ext cx="87050" cy="87050"/>
          </a:xfrm>
          <a:prstGeom prst="rect">
            <a:avLst/>
          </a:prstGeom>
          <a:no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5035784" y="3512393"/>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15141488" y="3512393"/>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15247193" y="3512393"/>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5438120" y="3200400"/>
            <a:ext cx="2072640" cy="512064"/>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Fault Tolerant</a:t>
            </a:r>
          </a:p>
        </p:txBody>
      </p:sp>
      <p:sp>
        <p:nvSpPr>
          <p:cNvPr id="84" name="Rounded Rectangle 83"/>
          <p:cNvSpPr/>
          <p:nvPr/>
        </p:nvSpPr>
        <p:spPr>
          <a:xfrm>
            <a:off x="722376" y="3968496"/>
            <a:ext cx="3474720" cy="841248"/>
          </a:xfrm>
          <a:prstGeom prst="roundRect">
            <a:avLst>
              <a:gd name="adj" fmla="val 869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795528" y="4041648"/>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Can 85"/>
          <p:cNvSpPr/>
          <p:nvPr/>
        </p:nvSpPr>
        <p:spPr>
          <a:xfrm>
            <a:off x="876360" y="4184294"/>
            <a:ext cx="351129" cy="422452"/>
          </a:xfrm>
          <a:prstGeom prst="can">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332829" y="4209897"/>
            <a:ext cx="64008"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1420611" y="4325112"/>
            <a:ext cx="64008" cy="64008"/>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1297716" y="4401921"/>
            <a:ext cx="64008"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1490837" y="4197096"/>
            <a:ext cx="64008"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1385498" y="4491532"/>
            <a:ext cx="64008"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1350385" y="4261104"/>
            <a:ext cx="243230" cy="243230"/>
          </a:xfrm>
          <a:prstGeom prst="ellipse">
            <a:avLst/>
          </a:prstGeom>
          <a:noFill/>
          <a:ln w="317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3" name="Connector 92"/>
          <p:cNvCxnSpPr/>
          <p:nvPr/>
        </p:nvCxnSpPr>
        <p:spPr>
          <a:xfrm>
            <a:off x="1561612" y="4472330"/>
            <a:ext cx="122347" cy="185623"/>
          </a:xfrm>
          <a:prstGeom prst="line">
            <a:avLst/>
          </a:prstGeom>
          <a:ln w="38100">
            <a:solidFill>
              <a:srgbClr val="3C4FA5"/>
            </a:solidFill>
          </a:ln>
        </p:spPr>
        <p:style>
          <a:lnRef idx="2">
            <a:schemeClr val="accent1"/>
          </a:lnRef>
          <a:fillRef idx="0">
            <a:schemeClr val="accent1"/>
          </a:fillRef>
          <a:effectRef idx="1">
            <a:schemeClr val="accent1"/>
          </a:effectRef>
          <a:fontRef idx="minor">
            <a:schemeClr val="tx1"/>
          </a:fontRef>
        </p:style>
      </p:cxnSp>
      <p:sp>
        <p:nvSpPr>
          <p:cNvPr id="94" name="TextBox 93"/>
          <p:cNvSpPr txBox="1"/>
          <p:nvPr/>
        </p:nvSpPr>
        <p:spPr>
          <a:xfrm>
            <a:off x="1874519" y="4041648"/>
            <a:ext cx="2267711"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RAG · Vector DB</a:t>
            </a:r>
          </a:p>
        </p:txBody>
      </p:sp>
      <p:sp>
        <p:nvSpPr>
          <p:cNvPr id="95" name="TextBox 94"/>
          <p:cNvSpPr txBox="1"/>
          <p:nvPr/>
        </p:nvSpPr>
        <p:spPr>
          <a:xfrm>
            <a:off x="1874519" y="4425696"/>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작은 랜덤 읽기 · 색인 갱신</a:t>
            </a:r>
          </a:p>
        </p:txBody>
      </p:sp>
      <p:sp>
        <p:nvSpPr>
          <p:cNvPr id="96" name="Rounded Rectangle 95"/>
          <p:cNvSpPr/>
          <p:nvPr/>
        </p:nvSpPr>
        <p:spPr>
          <a:xfrm>
            <a:off x="4507992" y="3968496"/>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4782312" y="4215383"/>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678424" y="4215383"/>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7470648" y="4215383"/>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8366760" y="4215383"/>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ounded Rectangle 100"/>
          <p:cNvSpPr/>
          <p:nvPr/>
        </p:nvSpPr>
        <p:spPr>
          <a:xfrm>
            <a:off x="9317736" y="4133087"/>
            <a:ext cx="2657856" cy="512064"/>
          </a:xfrm>
          <a:prstGeom prst="roundRect">
            <a:avLst>
              <a:gd name="adj" fmla="val 1428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9445752" y="423367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9551456" y="423367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9657161" y="423367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9445752" y="433937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9551456" y="433937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9657161" y="433937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9445752" y="444508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9551456" y="444508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9657161" y="444508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9848088" y="4133087"/>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FDP</a:t>
            </a:r>
          </a:p>
        </p:txBody>
      </p:sp>
      <p:sp>
        <p:nvSpPr>
          <p:cNvPr id="113" name="Rounded Rectangle 112"/>
          <p:cNvSpPr/>
          <p:nvPr/>
        </p:nvSpPr>
        <p:spPr>
          <a:xfrm>
            <a:off x="12112752" y="4133087"/>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2240768" y="425232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2321600" y="425232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2402433" y="425232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2483266" y="425232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2240768" y="4389120"/>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2643104" y="4133087"/>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121" name="Rounded Rectangle 120"/>
          <p:cNvSpPr/>
          <p:nvPr/>
        </p:nvSpPr>
        <p:spPr>
          <a:xfrm>
            <a:off x="14907768" y="4133087"/>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5035784" y="4233672"/>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ounded Rectangle 122"/>
          <p:cNvSpPr/>
          <p:nvPr/>
        </p:nvSpPr>
        <p:spPr>
          <a:xfrm>
            <a:off x="15035784" y="4339376"/>
            <a:ext cx="304678" cy="74615"/>
          </a:xfrm>
          <a:prstGeom prst="roundRect">
            <a:avLst>
              <a:gd name="adj" fmla="val 50000"/>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ounded Rectangle 123"/>
          <p:cNvSpPr/>
          <p:nvPr/>
        </p:nvSpPr>
        <p:spPr>
          <a:xfrm>
            <a:off x="15035784" y="4445081"/>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5438120" y="4133087"/>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Multi-Tenant QoS</a:t>
            </a:r>
          </a:p>
        </p:txBody>
      </p:sp>
      <p:sp>
        <p:nvSpPr>
          <p:cNvPr id="126" name="Rounded Rectangle 125"/>
          <p:cNvSpPr/>
          <p:nvPr/>
        </p:nvSpPr>
        <p:spPr>
          <a:xfrm>
            <a:off x="722376" y="4901183"/>
            <a:ext cx="3474720" cy="841248"/>
          </a:xfrm>
          <a:prstGeom prst="roundRect">
            <a:avLst>
              <a:gd name="adj" fmla="val 8695"/>
            </a:avLst>
          </a:prstGeom>
          <a:solidFill>
            <a:srgbClr val="F0F2F8"/>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ounded Rectangle 126"/>
          <p:cNvSpPr/>
          <p:nvPr/>
        </p:nvSpPr>
        <p:spPr>
          <a:xfrm>
            <a:off x="795528" y="4974336"/>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ounded Rectangle 127"/>
          <p:cNvSpPr/>
          <p:nvPr/>
        </p:nvSpPr>
        <p:spPr>
          <a:xfrm>
            <a:off x="858804" y="5040172"/>
            <a:ext cx="333573" cy="256032"/>
          </a:xfrm>
          <a:prstGeom prst="roundRect">
            <a:avLst>
              <a:gd name="adj" fmla="val 28571"/>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893917" y="5091379"/>
            <a:ext cx="46700" cy="14849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967303" y="5091379"/>
            <a:ext cx="46700" cy="14849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1040689" y="5091379"/>
            <a:ext cx="46700" cy="14849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1114075" y="5091379"/>
            <a:ext cx="46700" cy="14849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858804" y="5398617"/>
            <a:ext cx="333573" cy="192024"/>
          </a:xfrm>
          <a:prstGeom prst="roundRect">
            <a:avLst>
              <a:gd name="adj" fmla="val 3809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893917" y="5437022"/>
            <a:ext cx="40028" cy="11521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953960" y="5437022"/>
            <a:ext cx="40028" cy="11521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1014003" y="5437022"/>
            <a:ext cx="40028" cy="11521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1074046" y="5437022"/>
            <a:ext cx="40028" cy="11521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1134090" y="5437022"/>
            <a:ext cx="40028" cy="11521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Down Arrow 138"/>
          <p:cNvSpPr/>
          <p:nvPr/>
        </p:nvSpPr>
        <p:spPr>
          <a:xfrm>
            <a:off x="971092" y="5302605"/>
            <a:ext cx="91440" cy="89611"/>
          </a:xfrm>
          <a:prstGeom prst="downArrow">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1297716" y="5193792"/>
            <a:ext cx="79004" cy="25603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394277" y="5232196"/>
            <a:ext cx="79004" cy="25603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490837" y="5193792"/>
            <a:ext cx="79004" cy="25603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1587398" y="5232196"/>
            <a:ext cx="79004" cy="25603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1874519" y="4974336"/>
            <a:ext cx="2267711" cy="402336"/>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KV 캐시 오프로드</a:t>
            </a:r>
          </a:p>
        </p:txBody>
      </p:sp>
      <p:sp>
        <p:nvSpPr>
          <p:cNvPr id="145" name="TextBox 144"/>
          <p:cNvSpPr txBox="1"/>
          <p:nvPr/>
        </p:nvSpPr>
        <p:spPr>
          <a:xfrm>
            <a:off x="1874519" y="5358383"/>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긴 문맥 · 재사용</a:t>
            </a:r>
          </a:p>
        </p:txBody>
      </p:sp>
      <p:sp>
        <p:nvSpPr>
          <p:cNvPr id="146" name="Rounded Rectangle 145"/>
          <p:cNvSpPr/>
          <p:nvPr/>
        </p:nvSpPr>
        <p:spPr>
          <a:xfrm>
            <a:off x="4507992" y="4901183"/>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4782312" y="5148071"/>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5678424" y="5148071"/>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Oval 148"/>
          <p:cNvSpPr/>
          <p:nvPr/>
        </p:nvSpPr>
        <p:spPr>
          <a:xfrm>
            <a:off x="6574536" y="5148071"/>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Oval 149"/>
          <p:cNvSpPr/>
          <p:nvPr/>
        </p:nvSpPr>
        <p:spPr>
          <a:xfrm>
            <a:off x="7470648" y="5148071"/>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ounded Rectangle 150"/>
          <p:cNvSpPr/>
          <p:nvPr/>
        </p:nvSpPr>
        <p:spPr>
          <a:xfrm>
            <a:off x="9317736" y="5065775"/>
            <a:ext cx="2657856" cy="512064"/>
          </a:xfrm>
          <a:prstGeom prst="roundRect">
            <a:avLst>
              <a:gd name="adj" fmla="val 1428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9445752" y="5166359"/>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ctangle 152"/>
          <p:cNvSpPr/>
          <p:nvPr/>
        </p:nvSpPr>
        <p:spPr>
          <a:xfrm>
            <a:off x="9551456" y="5166359"/>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9657161" y="5166359"/>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9445752" y="5272064"/>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9551456" y="5272064"/>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ectangle 156"/>
          <p:cNvSpPr/>
          <p:nvPr/>
        </p:nvSpPr>
        <p:spPr>
          <a:xfrm>
            <a:off x="9657161" y="5272064"/>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9445752" y="5377769"/>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9551456" y="5377769"/>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ectangle 159"/>
          <p:cNvSpPr/>
          <p:nvPr/>
        </p:nvSpPr>
        <p:spPr>
          <a:xfrm>
            <a:off x="9657161" y="5377769"/>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9848088" y="5065775"/>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FDP</a:t>
            </a:r>
          </a:p>
        </p:txBody>
      </p:sp>
      <p:sp>
        <p:nvSpPr>
          <p:cNvPr id="163" name="Rounded Rectangle 162"/>
          <p:cNvSpPr/>
          <p:nvPr/>
        </p:nvSpPr>
        <p:spPr>
          <a:xfrm>
            <a:off x="12112752" y="5065775"/>
            <a:ext cx="2657856" cy="512064"/>
          </a:xfrm>
          <a:prstGeom prst="roundRect">
            <a:avLst>
              <a:gd name="adj" fmla="val 1428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Rectangle 163"/>
          <p:cNvSpPr/>
          <p:nvPr/>
        </p:nvSpPr>
        <p:spPr>
          <a:xfrm>
            <a:off x="12240768" y="5166359"/>
            <a:ext cx="304678"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Down Arrow 164"/>
          <p:cNvSpPr/>
          <p:nvPr/>
        </p:nvSpPr>
        <p:spPr>
          <a:xfrm>
            <a:off x="12377562" y="5247192"/>
            <a:ext cx="31089" cy="37307"/>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Rectangle 165"/>
          <p:cNvSpPr/>
          <p:nvPr/>
        </p:nvSpPr>
        <p:spPr>
          <a:xfrm>
            <a:off x="12240768" y="5296936"/>
            <a:ext cx="304678" cy="1741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2643104" y="5065775"/>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Mixed Media</a:t>
            </a:r>
          </a:p>
        </p:txBody>
      </p:sp>
      <p:sp>
        <p:nvSpPr>
          <p:cNvPr id="169" name="Rounded Rectangle 168"/>
          <p:cNvSpPr/>
          <p:nvPr/>
        </p:nvSpPr>
        <p:spPr>
          <a:xfrm>
            <a:off x="14907768" y="5065775"/>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Rectangle 169"/>
          <p:cNvSpPr/>
          <p:nvPr/>
        </p:nvSpPr>
        <p:spPr>
          <a:xfrm>
            <a:off x="15035784" y="5185013"/>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Rectangle 170"/>
          <p:cNvSpPr/>
          <p:nvPr/>
        </p:nvSpPr>
        <p:spPr>
          <a:xfrm>
            <a:off x="15116616" y="5185013"/>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Rectangle 171"/>
          <p:cNvSpPr/>
          <p:nvPr/>
        </p:nvSpPr>
        <p:spPr>
          <a:xfrm>
            <a:off x="15197449" y="5185013"/>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ectangle 172"/>
          <p:cNvSpPr/>
          <p:nvPr/>
        </p:nvSpPr>
        <p:spPr>
          <a:xfrm>
            <a:off x="15278282" y="5185013"/>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Rectangle 173"/>
          <p:cNvSpPr/>
          <p:nvPr/>
        </p:nvSpPr>
        <p:spPr>
          <a:xfrm>
            <a:off x="15035784" y="5321807"/>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15438120" y="5065775"/>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177" name="Rounded Rectangle 176"/>
          <p:cNvSpPr/>
          <p:nvPr/>
        </p:nvSpPr>
        <p:spPr>
          <a:xfrm>
            <a:off x="722376" y="5833872"/>
            <a:ext cx="3474720" cy="841248"/>
          </a:xfrm>
          <a:prstGeom prst="roundRect">
            <a:avLst>
              <a:gd name="adj" fmla="val 869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Rounded Rectangle 177"/>
          <p:cNvSpPr/>
          <p:nvPr/>
        </p:nvSpPr>
        <p:spPr>
          <a:xfrm>
            <a:off x="795528" y="5907024"/>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Oval 178"/>
          <p:cNvSpPr/>
          <p:nvPr/>
        </p:nvSpPr>
        <p:spPr>
          <a:xfrm>
            <a:off x="911473" y="5998464"/>
            <a:ext cx="192024" cy="19202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Rounded Rectangle 179"/>
          <p:cNvSpPr/>
          <p:nvPr/>
        </p:nvSpPr>
        <p:spPr>
          <a:xfrm>
            <a:off x="858804" y="6216091"/>
            <a:ext cx="294436" cy="268833"/>
          </a:xfrm>
          <a:prstGeom prst="roundRect">
            <a:avLst>
              <a:gd name="adj" fmla="val 27210"/>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Oval 180"/>
          <p:cNvSpPr/>
          <p:nvPr/>
        </p:nvSpPr>
        <p:spPr>
          <a:xfrm>
            <a:off x="1280160" y="6024067"/>
            <a:ext cx="52669" cy="64008"/>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Rectangle 181"/>
          <p:cNvSpPr/>
          <p:nvPr/>
        </p:nvSpPr>
        <p:spPr>
          <a:xfrm>
            <a:off x="1367942" y="6036868"/>
            <a:ext cx="343229" cy="44805"/>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Oval 182"/>
          <p:cNvSpPr/>
          <p:nvPr/>
        </p:nvSpPr>
        <p:spPr>
          <a:xfrm>
            <a:off x="1280160" y="6152083"/>
            <a:ext cx="52669"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Rectangle 183"/>
          <p:cNvSpPr/>
          <p:nvPr/>
        </p:nvSpPr>
        <p:spPr>
          <a:xfrm>
            <a:off x="1367942" y="6164884"/>
            <a:ext cx="268614" cy="4480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Oval 184"/>
          <p:cNvSpPr/>
          <p:nvPr/>
        </p:nvSpPr>
        <p:spPr>
          <a:xfrm>
            <a:off x="1280160" y="6280099"/>
            <a:ext cx="52669"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Rectangle 185"/>
          <p:cNvSpPr/>
          <p:nvPr/>
        </p:nvSpPr>
        <p:spPr>
          <a:xfrm>
            <a:off x="1367942" y="6292900"/>
            <a:ext cx="313383" cy="4480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Oval 186"/>
          <p:cNvSpPr/>
          <p:nvPr/>
        </p:nvSpPr>
        <p:spPr>
          <a:xfrm>
            <a:off x="1280160" y="6408115"/>
            <a:ext cx="52669"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Rectangle 187"/>
          <p:cNvSpPr/>
          <p:nvPr/>
        </p:nvSpPr>
        <p:spPr>
          <a:xfrm>
            <a:off x="1367942" y="6420916"/>
            <a:ext cx="223845" cy="4480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extBox 188"/>
          <p:cNvSpPr txBox="1"/>
          <p:nvPr/>
        </p:nvSpPr>
        <p:spPr>
          <a:xfrm>
            <a:off x="1874519" y="5907024"/>
            <a:ext cx="2267711"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에이전트 메모리</a:t>
            </a:r>
          </a:p>
        </p:txBody>
      </p:sp>
      <p:sp>
        <p:nvSpPr>
          <p:cNvPr id="190" name="TextBox 189"/>
          <p:cNvSpPr txBox="1"/>
          <p:nvPr/>
        </p:nvSpPr>
        <p:spPr>
          <a:xfrm>
            <a:off x="1874519" y="6291072"/>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세션 · 상태 · 로그</a:t>
            </a:r>
          </a:p>
        </p:txBody>
      </p:sp>
      <p:sp>
        <p:nvSpPr>
          <p:cNvPr id="191" name="Rounded Rectangle 190"/>
          <p:cNvSpPr/>
          <p:nvPr/>
        </p:nvSpPr>
        <p:spPr>
          <a:xfrm>
            <a:off x="4507992" y="5833872"/>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Oval 191"/>
          <p:cNvSpPr/>
          <p:nvPr/>
        </p:nvSpPr>
        <p:spPr>
          <a:xfrm>
            <a:off x="5678424" y="6080759"/>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Oval 192"/>
          <p:cNvSpPr/>
          <p:nvPr/>
        </p:nvSpPr>
        <p:spPr>
          <a:xfrm>
            <a:off x="6574536" y="6080759"/>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Oval 193"/>
          <p:cNvSpPr/>
          <p:nvPr/>
        </p:nvSpPr>
        <p:spPr>
          <a:xfrm>
            <a:off x="7470648" y="6080759"/>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Oval 194"/>
          <p:cNvSpPr/>
          <p:nvPr/>
        </p:nvSpPr>
        <p:spPr>
          <a:xfrm>
            <a:off x="8366760" y="6080759"/>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Rounded Rectangle 195"/>
          <p:cNvSpPr/>
          <p:nvPr/>
        </p:nvSpPr>
        <p:spPr>
          <a:xfrm>
            <a:off x="9317736" y="5998464"/>
            <a:ext cx="2657856" cy="512064"/>
          </a:xfrm>
          <a:prstGeom prst="roundRect">
            <a:avLst>
              <a:gd name="adj" fmla="val 1428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Rectangle 196"/>
          <p:cNvSpPr/>
          <p:nvPr/>
        </p:nvSpPr>
        <p:spPr>
          <a:xfrm>
            <a:off x="9445752" y="6099048"/>
            <a:ext cx="304678"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Down Arrow 197"/>
          <p:cNvSpPr/>
          <p:nvPr/>
        </p:nvSpPr>
        <p:spPr>
          <a:xfrm>
            <a:off x="9582546" y="6179880"/>
            <a:ext cx="31089" cy="37307"/>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Rectangle 198"/>
          <p:cNvSpPr/>
          <p:nvPr/>
        </p:nvSpPr>
        <p:spPr>
          <a:xfrm>
            <a:off x="9445752" y="6229624"/>
            <a:ext cx="304678" cy="1741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extBox 199"/>
          <p:cNvSpPr txBox="1"/>
          <p:nvPr/>
        </p:nvSpPr>
        <p:spPr>
          <a:xfrm>
            <a:off x="9848088" y="5998464"/>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Mixed Media</a:t>
            </a:r>
          </a:p>
        </p:txBody>
      </p:sp>
      <p:sp>
        <p:nvSpPr>
          <p:cNvPr id="202" name="Rounded Rectangle 201"/>
          <p:cNvSpPr/>
          <p:nvPr/>
        </p:nvSpPr>
        <p:spPr>
          <a:xfrm>
            <a:off x="12112752" y="5998464"/>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Rounded Rectangle 202"/>
          <p:cNvSpPr/>
          <p:nvPr/>
        </p:nvSpPr>
        <p:spPr>
          <a:xfrm>
            <a:off x="12240768" y="6099048"/>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Rounded Rectangle 203"/>
          <p:cNvSpPr/>
          <p:nvPr/>
        </p:nvSpPr>
        <p:spPr>
          <a:xfrm>
            <a:off x="12240768" y="6204752"/>
            <a:ext cx="304678" cy="74615"/>
          </a:xfrm>
          <a:prstGeom prst="roundRect">
            <a:avLst>
              <a:gd name="adj" fmla="val 50000"/>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Rounded Rectangle 204"/>
          <p:cNvSpPr/>
          <p:nvPr/>
        </p:nvSpPr>
        <p:spPr>
          <a:xfrm>
            <a:off x="12240768" y="6310457"/>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TextBox 205"/>
          <p:cNvSpPr txBox="1"/>
          <p:nvPr/>
        </p:nvSpPr>
        <p:spPr>
          <a:xfrm>
            <a:off x="12643104" y="5998464"/>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Multi-Tenant QoS</a:t>
            </a:r>
          </a:p>
        </p:txBody>
      </p:sp>
      <p:sp>
        <p:nvSpPr>
          <p:cNvPr id="207" name="Rounded Rectangle 206"/>
          <p:cNvSpPr/>
          <p:nvPr/>
        </p:nvSpPr>
        <p:spPr>
          <a:xfrm>
            <a:off x="14907768" y="5998464"/>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Oval 207"/>
          <p:cNvSpPr/>
          <p:nvPr/>
        </p:nvSpPr>
        <p:spPr>
          <a:xfrm>
            <a:off x="15104181" y="6099048"/>
            <a:ext cx="174101" cy="192755"/>
          </a:xfrm>
          <a:prstGeom prst="ellipse">
            <a:avLst/>
          </a:prstGeom>
          <a:noFill/>
          <a:ln w="285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ounded Rectangle 208"/>
          <p:cNvSpPr/>
          <p:nvPr/>
        </p:nvSpPr>
        <p:spPr>
          <a:xfrm>
            <a:off x="15060655" y="6223406"/>
            <a:ext cx="261152" cy="180319"/>
          </a:xfrm>
          <a:prstGeom prst="roundRect">
            <a:avLst>
              <a:gd name="adj" fmla="val 405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Rectangle 209"/>
          <p:cNvSpPr/>
          <p:nvPr/>
        </p:nvSpPr>
        <p:spPr>
          <a:xfrm>
            <a:off x="15172578" y="6273149"/>
            <a:ext cx="37307"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15438120" y="5998464"/>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Confidential</a:t>
            </a:r>
          </a:p>
        </p:txBody>
      </p:sp>
      <p:sp>
        <p:nvSpPr>
          <p:cNvPr id="212" name="TextBox 211"/>
          <p:cNvSpPr txBox="1"/>
          <p:nvPr/>
        </p:nvSpPr>
        <p:spPr>
          <a:xfrm>
            <a:off x="6336792" y="2066543"/>
            <a:ext cx="2651760" cy="402336"/>
          </a:xfrm>
          <a:prstGeom prst="rect">
            <a:avLst/>
          </a:prstGeom>
          <a:noFill/>
        </p:spPr>
        <p:txBody>
          <a:bodyPr wrap="square" anchor="ctr" lIns="0" rIns="0" tIns="0" bIns="0">
            <a:spAutoFit/>
          </a:bodyPr>
          <a:lstStyle/>
          <a:p>
            <a:pPr algn="r">
              <a:lnSpc>
                <a:spcPct val="110000"/>
              </a:lnSpc>
            </a:pPr>
            <a:r>
              <a:rPr sz="1600" b="0">
                <a:solidFill>
                  <a:srgbClr val="3C4FA5"/>
                </a:solidFill>
                <a:latin typeface="Arial"/>
                <a:ea typeface="Arial"/>
              </a:rPr>
              <a:t>●</a:t>
            </a:r>
            <a:r>
              <a:rPr sz="1500" b="0">
                <a:solidFill>
                  <a:srgbClr val="555555"/>
                </a:solidFill>
                <a:latin typeface="Arial"/>
                <a:ea typeface="Arial"/>
              </a:rPr>
              <a:t> 핵심  </a:t>
            </a:r>
            <a:r>
              <a:rPr sz="1600" b="1">
                <a:solidFill>
                  <a:srgbClr val="677ECD"/>
                </a:solidFill>
                <a:latin typeface="Arial"/>
                <a:ea typeface="Arial"/>
              </a:rPr>
              <a:t>○</a:t>
            </a:r>
            <a:r>
              <a:rPr sz="1500" b="0">
                <a:solidFill>
                  <a:srgbClr val="555555"/>
                </a:solidFill>
                <a:latin typeface="Arial"/>
                <a:ea typeface="Arial"/>
              </a:rPr>
              <a:t> 해당</a:t>
            </a:r>
          </a:p>
        </p:txBody>
      </p:sp>
      <p:sp>
        <p:nvSpPr>
          <p:cNvPr id="213" name="Rounded Rectangle 212"/>
          <p:cNvSpPr/>
          <p:nvPr/>
        </p:nvSpPr>
        <p:spPr>
          <a:xfrm>
            <a:off x="722376"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Rounded Rectangle 213"/>
          <p:cNvSpPr/>
          <p:nvPr/>
        </p:nvSpPr>
        <p:spPr>
          <a:xfrm>
            <a:off x="795528" y="7242048"/>
            <a:ext cx="2554224" cy="420624"/>
          </a:xfrm>
          <a:prstGeom prst="roundRect">
            <a:avLst>
              <a:gd name="adj" fmla="val 17391"/>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Rectangle 214"/>
          <p:cNvSpPr/>
          <p:nvPr/>
        </p:nvSpPr>
        <p:spPr>
          <a:xfrm>
            <a:off x="923544" y="729691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Rectangle 215"/>
          <p:cNvSpPr/>
          <p:nvPr/>
        </p:nvSpPr>
        <p:spPr>
          <a:xfrm>
            <a:off x="1029248" y="729691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Rectangle 216"/>
          <p:cNvSpPr/>
          <p:nvPr/>
        </p:nvSpPr>
        <p:spPr>
          <a:xfrm>
            <a:off x="1134953" y="729691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Rectangle 217"/>
          <p:cNvSpPr/>
          <p:nvPr/>
        </p:nvSpPr>
        <p:spPr>
          <a:xfrm>
            <a:off x="923544" y="740261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Rectangle 218"/>
          <p:cNvSpPr/>
          <p:nvPr/>
        </p:nvSpPr>
        <p:spPr>
          <a:xfrm>
            <a:off x="1029248" y="740261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Rectangle 219"/>
          <p:cNvSpPr/>
          <p:nvPr/>
        </p:nvSpPr>
        <p:spPr>
          <a:xfrm>
            <a:off x="1134953" y="740261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Rectangle 220"/>
          <p:cNvSpPr/>
          <p:nvPr/>
        </p:nvSpPr>
        <p:spPr>
          <a:xfrm>
            <a:off x="923544" y="750832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Rectangle 221"/>
          <p:cNvSpPr/>
          <p:nvPr/>
        </p:nvSpPr>
        <p:spPr>
          <a:xfrm>
            <a:off x="1029248" y="750832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Rectangle 222"/>
          <p:cNvSpPr/>
          <p:nvPr/>
        </p:nvSpPr>
        <p:spPr>
          <a:xfrm>
            <a:off x="1134953" y="750832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TextBox 223"/>
          <p:cNvSpPr txBox="1"/>
          <p:nvPr/>
        </p:nvSpPr>
        <p:spPr>
          <a:xfrm>
            <a:off x="1325880"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FDP</a:t>
            </a:r>
          </a:p>
        </p:txBody>
      </p:sp>
      <p:sp>
        <p:nvSpPr>
          <p:cNvPr id="225" name="Rectangle 224"/>
          <p:cNvSpPr/>
          <p:nvPr/>
        </p:nvSpPr>
        <p:spPr>
          <a:xfrm>
            <a:off x="1331976" y="7754112"/>
            <a:ext cx="146304"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Rectangle 225"/>
          <p:cNvSpPr/>
          <p:nvPr/>
        </p:nvSpPr>
        <p:spPr>
          <a:xfrm>
            <a:off x="1514856" y="7754112"/>
            <a:ext cx="146304" cy="182880"/>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Rectangle 226"/>
          <p:cNvSpPr/>
          <p:nvPr/>
        </p:nvSpPr>
        <p:spPr>
          <a:xfrm>
            <a:off x="1697736" y="7754112"/>
            <a:ext cx="146304" cy="1828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Rectangle 227"/>
          <p:cNvSpPr/>
          <p:nvPr/>
        </p:nvSpPr>
        <p:spPr>
          <a:xfrm>
            <a:off x="1331976" y="7973568"/>
            <a:ext cx="146304" cy="182880"/>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Rectangle 228"/>
          <p:cNvSpPr/>
          <p:nvPr/>
        </p:nvSpPr>
        <p:spPr>
          <a:xfrm>
            <a:off x="1514856" y="7973568"/>
            <a:ext cx="146304"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Rectangle 229"/>
          <p:cNvSpPr/>
          <p:nvPr/>
        </p:nvSpPr>
        <p:spPr>
          <a:xfrm>
            <a:off x="1697736" y="7973568"/>
            <a:ext cx="146304" cy="1828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Right Arrow 230"/>
          <p:cNvSpPr/>
          <p:nvPr/>
        </p:nvSpPr>
        <p:spPr>
          <a:xfrm>
            <a:off x="1935480" y="7882128"/>
            <a:ext cx="274320" cy="182880"/>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Rectangle 231"/>
          <p:cNvSpPr/>
          <p:nvPr/>
        </p:nvSpPr>
        <p:spPr>
          <a:xfrm>
            <a:off x="2301240" y="7735824"/>
            <a:ext cx="146304" cy="10972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Rectangle 232"/>
          <p:cNvSpPr/>
          <p:nvPr/>
        </p:nvSpPr>
        <p:spPr>
          <a:xfrm>
            <a:off x="2484120" y="7735824"/>
            <a:ext cx="146304" cy="10972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Rectangle 233"/>
          <p:cNvSpPr/>
          <p:nvPr/>
        </p:nvSpPr>
        <p:spPr>
          <a:xfrm>
            <a:off x="2667000" y="7735824"/>
            <a:ext cx="146304" cy="10972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Rectangle 234"/>
          <p:cNvSpPr/>
          <p:nvPr/>
        </p:nvSpPr>
        <p:spPr>
          <a:xfrm>
            <a:off x="2301240" y="7882128"/>
            <a:ext cx="146304" cy="10972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Rectangle 235"/>
          <p:cNvSpPr/>
          <p:nvPr/>
        </p:nvSpPr>
        <p:spPr>
          <a:xfrm>
            <a:off x="2484120" y="7882128"/>
            <a:ext cx="146304" cy="10972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Rectangle 236"/>
          <p:cNvSpPr/>
          <p:nvPr/>
        </p:nvSpPr>
        <p:spPr>
          <a:xfrm>
            <a:off x="2667000" y="7882128"/>
            <a:ext cx="146304" cy="10972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Rectangle 237"/>
          <p:cNvSpPr/>
          <p:nvPr/>
        </p:nvSpPr>
        <p:spPr>
          <a:xfrm>
            <a:off x="2301240" y="8028432"/>
            <a:ext cx="146304" cy="10972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Rectangle 238"/>
          <p:cNvSpPr/>
          <p:nvPr/>
        </p:nvSpPr>
        <p:spPr>
          <a:xfrm>
            <a:off x="2484120" y="8028432"/>
            <a:ext cx="146304" cy="10972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Rectangle 239"/>
          <p:cNvSpPr/>
          <p:nvPr/>
        </p:nvSpPr>
        <p:spPr>
          <a:xfrm>
            <a:off x="2667000" y="8028432"/>
            <a:ext cx="146304" cy="10972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TextBox 240"/>
          <p:cNvSpPr txBox="1"/>
          <p:nvPr/>
        </p:nvSpPr>
        <p:spPr>
          <a:xfrm>
            <a:off x="795528"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같은 수명끼리 → 통째로 지움</a:t>
            </a:r>
          </a:p>
        </p:txBody>
      </p:sp>
      <p:sp>
        <p:nvSpPr>
          <p:cNvPr id="243" name="Rounded Rectangle 242"/>
          <p:cNvSpPr/>
          <p:nvPr/>
        </p:nvSpPr>
        <p:spPr>
          <a:xfrm>
            <a:off x="3550920"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Rounded Rectangle 243"/>
          <p:cNvSpPr/>
          <p:nvPr/>
        </p:nvSpPr>
        <p:spPr>
          <a:xfrm>
            <a:off x="3624072" y="7242048"/>
            <a:ext cx="2554224" cy="420624"/>
          </a:xfrm>
          <a:prstGeom prst="roundRect">
            <a:avLst>
              <a:gd name="adj" fmla="val 17391"/>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Rectangle 244"/>
          <p:cNvSpPr/>
          <p:nvPr/>
        </p:nvSpPr>
        <p:spPr>
          <a:xfrm>
            <a:off x="3752088" y="7296912"/>
            <a:ext cx="304678"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Down Arrow 245"/>
          <p:cNvSpPr/>
          <p:nvPr/>
        </p:nvSpPr>
        <p:spPr>
          <a:xfrm>
            <a:off x="3888882" y="7377744"/>
            <a:ext cx="31089" cy="37307"/>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Rectangle 246"/>
          <p:cNvSpPr/>
          <p:nvPr/>
        </p:nvSpPr>
        <p:spPr>
          <a:xfrm>
            <a:off x="3752088" y="7427488"/>
            <a:ext cx="304678" cy="1741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TextBox 247"/>
          <p:cNvSpPr txBox="1"/>
          <p:nvPr/>
        </p:nvSpPr>
        <p:spPr>
          <a:xfrm>
            <a:off x="4154424"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Mixed Media</a:t>
            </a:r>
          </a:p>
        </p:txBody>
      </p:sp>
      <p:sp>
        <p:nvSpPr>
          <p:cNvPr id="249" name="Rectangle 248"/>
          <p:cNvSpPr/>
          <p:nvPr/>
        </p:nvSpPr>
        <p:spPr>
          <a:xfrm>
            <a:off x="4160520" y="7790688"/>
            <a:ext cx="82296" cy="8229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Rectangle 249"/>
          <p:cNvSpPr/>
          <p:nvPr/>
        </p:nvSpPr>
        <p:spPr>
          <a:xfrm>
            <a:off x="4270248" y="7936992"/>
            <a:ext cx="82296" cy="8229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Rectangle 250"/>
          <p:cNvSpPr/>
          <p:nvPr/>
        </p:nvSpPr>
        <p:spPr>
          <a:xfrm>
            <a:off x="4379976" y="7790688"/>
            <a:ext cx="82296" cy="8229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Rectangle 251"/>
          <p:cNvSpPr/>
          <p:nvPr/>
        </p:nvSpPr>
        <p:spPr>
          <a:xfrm>
            <a:off x="4489704" y="7936992"/>
            <a:ext cx="82296" cy="8229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Right Arrow 252"/>
          <p:cNvSpPr/>
          <p:nvPr/>
        </p:nvSpPr>
        <p:spPr>
          <a:xfrm>
            <a:off x="4636008" y="7863840"/>
            <a:ext cx="237744" cy="164592"/>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Rectangle 253"/>
          <p:cNvSpPr/>
          <p:nvPr/>
        </p:nvSpPr>
        <p:spPr>
          <a:xfrm>
            <a:off x="4946904" y="7772400"/>
            <a:ext cx="566928" cy="12801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Down Arrow 254"/>
          <p:cNvSpPr/>
          <p:nvPr/>
        </p:nvSpPr>
        <p:spPr>
          <a:xfrm>
            <a:off x="5166360" y="7909560"/>
            <a:ext cx="109728" cy="91440"/>
          </a:xfrm>
          <a:prstGeom prst="downArrow">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Rectangle 255"/>
          <p:cNvSpPr/>
          <p:nvPr/>
        </p:nvSpPr>
        <p:spPr>
          <a:xfrm>
            <a:off x="4946904" y="8010144"/>
            <a:ext cx="566928"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TextBox 256"/>
          <p:cNvSpPr txBox="1"/>
          <p:nvPr/>
        </p:nvSpPr>
        <p:spPr>
          <a:xfrm>
            <a:off x="3624072"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작은 쓰기 모아 QLC로</a:t>
            </a:r>
          </a:p>
        </p:txBody>
      </p:sp>
      <p:sp>
        <p:nvSpPr>
          <p:cNvPr id="259" name="Rounded Rectangle 258"/>
          <p:cNvSpPr/>
          <p:nvPr/>
        </p:nvSpPr>
        <p:spPr>
          <a:xfrm>
            <a:off x="6379464"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Rounded Rectangle 259"/>
          <p:cNvSpPr/>
          <p:nvPr/>
        </p:nvSpPr>
        <p:spPr>
          <a:xfrm>
            <a:off x="6452616" y="7242048"/>
            <a:ext cx="2554224" cy="420624"/>
          </a:xfrm>
          <a:prstGeom prst="roundRect">
            <a:avLst>
              <a:gd name="adj" fmla="val 17391"/>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Rectangle 260"/>
          <p:cNvSpPr/>
          <p:nvPr/>
        </p:nvSpPr>
        <p:spPr>
          <a:xfrm>
            <a:off x="6580632" y="731556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Rectangle 261"/>
          <p:cNvSpPr/>
          <p:nvPr/>
        </p:nvSpPr>
        <p:spPr>
          <a:xfrm>
            <a:off x="6661464" y="731556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Rectangle 262"/>
          <p:cNvSpPr/>
          <p:nvPr/>
        </p:nvSpPr>
        <p:spPr>
          <a:xfrm>
            <a:off x="6742297" y="731556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Rectangle 263"/>
          <p:cNvSpPr/>
          <p:nvPr/>
        </p:nvSpPr>
        <p:spPr>
          <a:xfrm>
            <a:off x="6823130" y="731556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Rectangle 264"/>
          <p:cNvSpPr/>
          <p:nvPr/>
        </p:nvSpPr>
        <p:spPr>
          <a:xfrm>
            <a:off x="6580632" y="7452360"/>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TextBox 265"/>
          <p:cNvSpPr txBox="1"/>
          <p:nvPr/>
        </p:nvSpPr>
        <p:spPr>
          <a:xfrm>
            <a:off x="6982968"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267" name="Rectangle 266"/>
          <p:cNvSpPr/>
          <p:nvPr/>
        </p:nvSpPr>
        <p:spPr>
          <a:xfrm>
            <a:off x="6989064"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Rectangle 267"/>
          <p:cNvSpPr/>
          <p:nvPr/>
        </p:nvSpPr>
        <p:spPr>
          <a:xfrm>
            <a:off x="7066788"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Rectangle 268"/>
          <p:cNvSpPr/>
          <p:nvPr/>
        </p:nvSpPr>
        <p:spPr>
          <a:xfrm>
            <a:off x="7144512"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Rectangle 269"/>
          <p:cNvSpPr/>
          <p:nvPr/>
        </p:nvSpPr>
        <p:spPr>
          <a:xfrm>
            <a:off x="7222236"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Rectangle 270"/>
          <p:cNvSpPr/>
          <p:nvPr/>
        </p:nvSpPr>
        <p:spPr>
          <a:xfrm>
            <a:off x="7299960"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Rectangle 271"/>
          <p:cNvSpPr/>
          <p:nvPr/>
        </p:nvSpPr>
        <p:spPr>
          <a:xfrm>
            <a:off x="7377684"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Rectangle 272"/>
          <p:cNvSpPr/>
          <p:nvPr/>
        </p:nvSpPr>
        <p:spPr>
          <a:xfrm>
            <a:off x="7455408"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Rectangle 273"/>
          <p:cNvSpPr/>
          <p:nvPr/>
        </p:nvSpPr>
        <p:spPr>
          <a:xfrm>
            <a:off x="7533132"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Right Arrow 274"/>
          <p:cNvSpPr/>
          <p:nvPr/>
        </p:nvSpPr>
        <p:spPr>
          <a:xfrm>
            <a:off x="7665720" y="7891272"/>
            <a:ext cx="237744" cy="164592"/>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Rectangle 275"/>
          <p:cNvSpPr/>
          <p:nvPr/>
        </p:nvSpPr>
        <p:spPr>
          <a:xfrm>
            <a:off x="7976616" y="7863840"/>
            <a:ext cx="256032" cy="21945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Rectangle 276"/>
          <p:cNvSpPr/>
          <p:nvPr/>
        </p:nvSpPr>
        <p:spPr>
          <a:xfrm>
            <a:off x="8269224" y="7863840"/>
            <a:ext cx="256032" cy="21945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TextBox 277"/>
          <p:cNvSpPr txBox="1"/>
          <p:nvPr/>
        </p:nvSpPr>
        <p:spPr>
          <a:xfrm>
            <a:off x="6452616"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매핑 단위 ↑ · DRAM ↓</a:t>
            </a:r>
          </a:p>
        </p:txBody>
      </p:sp>
      <p:sp>
        <p:nvSpPr>
          <p:cNvPr id="280" name="Rounded Rectangle 279"/>
          <p:cNvSpPr/>
          <p:nvPr/>
        </p:nvSpPr>
        <p:spPr>
          <a:xfrm>
            <a:off x="9208008"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Rounded Rectangle 280"/>
          <p:cNvSpPr/>
          <p:nvPr/>
        </p:nvSpPr>
        <p:spPr>
          <a:xfrm>
            <a:off x="9281160" y="7242048"/>
            <a:ext cx="2554224" cy="420624"/>
          </a:xfrm>
          <a:prstGeom prst="roundRect">
            <a:avLst>
              <a:gd name="adj" fmla="val 17391"/>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Rounded Rectangle 281"/>
          <p:cNvSpPr/>
          <p:nvPr/>
        </p:nvSpPr>
        <p:spPr>
          <a:xfrm>
            <a:off x="9409176" y="7296912"/>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Rounded Rectangle 282"/>
          <p:cNvSpPr/>
          <p:nvPr/>
        </p:nvSpPr>
        <p:spPr>
          <a:xfrm>
            <a:off x="9409176" y="7402616"/>
            <a:ext cx="304678" cy="74615"/>
          </a:xfrm>
          <a:prstGeom prst="roundRect">
            <a:avLst>
              <a:gd name="adj" fmla="val 50000"/>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Rounded Rectangle 283"/>
          <p:cNvSpPr/>
          <p:nvPr/>
        </p:nvSpPr>
        <p:spPr>
          <a:xfrm>
            <a:off x="9409176" y="7508321"/>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TextBox 284"/>
          <p:cNvSpPr txBox="1"/>
          <p:nvPr/>
        </p:nvSpPr>
        <p:spPr>
          <a:xfrm>
            <a:off x="9811512"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Multi-Tenant QoS</a:t>
            </a:r>
          </a:p>
        </p:txBody>
      </p:sp>
      <p:sp>
        <p:nvSpPr>
          <p:cNvPr id="286" name="Rectangle 285"/>
          <p:cNvSpPr/>
          <p:nvPr/>
        </p:nvSpPr>
        <p:spPr>
          <a:xfrm>
            <a:off x="9817608" y="7754112"/>
            <a:ext cx="1481328" cy="109728"/>
          </a:xfrm>
          <a:prstGeom prst="rect">
            <a:avLst/>
          </a:prstGeom>
          <a:solidFill>
            <a:srgbClr val="F5F5F5"/>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Rectangle 286"/>
          <p:cNvSpPr/>
          <p:nvPr/>
        </p:nvSpPr>
        <p:spPr>
          <a:xfrm>
            <a:off x="9817608" y="7754112"/>
            <a:ext cx="1005840" cy="10972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Rectangle 287"/>
          <p:cNvSpPr/>
          <p:nvPr/>
        </p:nvSpPr>
        <p:spPr>
          <a:xfrm>
            <a:off x="9817608" y="7900416"/>
            <a:ext cx="1481328" cy="109728"/>
          </a:xfrm>
          <a:prstGeom prst="rect">
            <a:avLst/>
          </a:prstGeom>
          <a:solidFill>
            <a:srgbClr val="F5F5F5"/>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Rectangle 288"/>
          <p:cNvSpPr/>
          <p:nvPr/>
        </p:nvSpPr>
        <p:spPr>
          <a:xfrm>
            <a:off x="9817608" y="7900416"/>
            <a:ext cx="731520" cy="109728"/>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Rectangle 289"/>
          <p:cNvSpPr/>
          <p:nvPr/>
        </p:nvSpPr>
        <p:spPr>
          <a:xfrm>
            <a:off x="9817608" y="8046720"/>
            <a:ext cx="1481328" cy="109728"/>
          </a:xfrm>
          <a:prstGeom prst="rect">
            <a:avLst/>
          </a:prstGeom>
          <a:solidFill>
            <a:srgbClr val="F5F5F5"/>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Rectangle 290"/>
          <p:cNvSpPr/>
          <p:nvPr/>
        </p:nvSpPr>
        <p:spPr>
          <a:xfrm>
            <a:off x="9817608" y="8046720"/>
            <a:ext cx="1188720" cy="10972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TextBox 291"/>
          <p:cNvSpPr txBox="1"/>
          <p:nvPr/>
        </p:nvSpPr>
        <p:spPr>
          <a:xfrm>
            <a:off x="9281160"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테넌트별 격리</a:t>
            </a:r>
          </a:p>
        </p:txBody>
      </p:sp>
      <p:sp>
        <p:nvSpPr>
          <p:cNvPr id="293" name="Rounded Rectangle 292"/>
          <p:cNvSpPr/>
          <p:nvPr/>
        </p:nvSpPr>
        <p:spPr>
          <a:xfrm>
            <a:off x="12036552"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Rounded Rectangle 293"/>
          <p:cNvSpPr/>
          <p:nvPr/>
        </p:nvSpPr>
        <p:spPr>
          <a:xfrm>
            <a:off x="12109704" y="7242048"/>
            <a:ext cx="2554224" cy="420624"/>
          </a:xfrm>
          <a:prstGeom prst="roundRect">
            <a:avLst>
              <a:gd name="adj" fmla="val 17391"/>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Oval 294"/>
          <p:cNvSpPr/>
          <p:nvPr/>
        </p:nvSpPr>
        <p:spPr>
          <a:xfrm>
            <a:off x="12306117" y="7296912"/>
            <a:ext cx="174101" cy="192755"/>
          </a:xfrm>
          <a:prstGeom prst="ellipse">
            <a:avLst/>
          </a:prstGeom>
          <a:noFill/>
          <a:ln w="285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Rounded Rectangle 295"/>
          <p:cNvSpPr/>
          <p:nvPr/>
        </p:nvSpPr>
        <p:spPr>
          <a:xfrm>
            <a:off x="12262591" y="7421270"/>
            <a:ext cx="261152" cy="180319"/>
          </a:xfrm>
          <a:prstGeom prst="roundRect">
            <a:avLst>
              <a:gd name="adj" fmla="val 405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Rectangle 296"/>
          <p:cNvSpPr/>
          <p:nvPr/>
        </p:nvSpPr>
        <p:spPr>
          <a:xfrm>
            <a:off x="12374514" y="7471013"/>
            <a:ext cx="37307"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TextBox 297"/>
          <p:cNvSpPr txBox="1"/>
          <p:nvPr/>
        </p:nvSpPr>
        <p:spPr>
          <a:xfrm>
            <a:off x="12640056"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Confidential</a:t>
            </a:r>
          </a:p>
        </p:txBody>
      </p:sp>
      <p:sp>
        <p:nvSpPr>
          <p:cNvPr id="299" name="Oval 298"/>
          <p:cNvSpPr/>
          <p:nvPr/>
        </p:nvSpPr>
        <p:spPr>
          <a:xfrm>
            <a:off x="12826105" y="7754112"/>
            <a:ext cx="225308" cy="249448"/>
          </a:xfrm>
          <a:prstGeom prst="ellipse">
            <a:avLst/>
          </a:prstGeom>
          <a:noFill/>
          <a:ln w="28575">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Rounded Rectangle 299"/>
          <p:cNvSpPr/>
          <p:nvPr/>
        </p:nvSpPr>
        <p:spPr>
          <a:xfrm>
            <a:off x="12769778" y="7915046"/>
            <a:ext cx="337962" cy="233354"/>
          </a:xfrm>
          <a:prstGeom prst="roundRect">
            <a:avLst>
              <a:gd name="adj" fmla="val 3134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Rectangle 300"/>
          <p:cNvSpPr/>
          <p:nvPr/>
        </p:nvSpPr>
        <p:spPr>
          <a:xfrm>
            <a:off x="12914619" y="7979420"/>
            <a:ext cx="48280" cy="96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Right Arrow 301"/>
          <p:cNvSpPr/>
          <p:nvPr/>
        </p:nvSpPr>
        <p:spPr>
          <a:xfrm>
            <a:off x="13249656" y="7845552"/>
            <a:ext cx="274320" cy="201168"/>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Oval 302"/>
          <p:cNvSpPr/>
          <p:nvPr/>
        </p:nvSpPr>
        <p:spPr>
          <a:xfrm>
            <a:off x="13615416" y="7772400"/>
            <a:ext cx="384048" cy="384048"/>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TextBox 303"/>
          <p:cNvSpPr txBox="1"/>
          <p:nvPr/>
        </p:nvSpPr>
        <p:spPr>
          <a:xfrm>
            <a:off x="13615416" y="7772400"/>
            <a:ext cx="384048" cy="384048"/>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t>
            </a:r>
          </a:p>
        </p:txBody>
      </p:sp>
      <p:sp>
        <p:nvSpPr>
          <p:cNvPr id="305" name="TextBox 304"/>
          <p:cNvSpPr txBox="1"/>
          <p:nvPr/>
        </p:nvSpPr>
        <p:spPr>
          <a:xfrm>
            <a:off x="12109704"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암호화 · 증명 · 키</a:t>
            </a:r>
          </a:p>
        </p:txBody>
      </p:sp>
      <p:sp>
        <p:nvSpPr>
          <p:cNvPr id="306" name="Rounded Rectangle 305"/>
          <p:cNvSpPr/>
          <p:nvPr/>
        </p:nvSpPr>
        <p:spPr>
          <a:xfrm>
            <a:off x="14865096"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Rounded Rectangle 306"/>
          <p:cNvSpPr/>
          <p:nvPr/>
        </p:nvSpPr>
        <p:spPr>
          <a:xfrm>
            <a:off x="14938248" y="7242048"/>
            <a:ext cx="2554224" cy="420624"/>
          </a:xfrm>
          <a:prstGeom prst="roundRect">
            <a:avLst>
              <a:gd name="adj" fmla="val 17391"/>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Rectangle 307"/>
          <p:cNvSpPr/>
          <p:nvPr/>
        </p:nvSpPr>
        <p:spPr>
          <a:xfrm>
            <a:off x="15066264" y="7296912"/>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Rectangle 308"/>
          <p:cNvSpPr/>
          <p:nvPr/>
        </p:nvSpPr>
        <p:spPr>
          <a:xfrm>
            <a:off x="15171968" y="7296912"/>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Rectangle 309"/>
          <p:cNvSpPr/>
          <p:nvPr/>
        </p:nvSpPr>
        <p:spPr>
          <a:xfrm>
            <a:off x="15277673" y="7296912"/>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Rectangle 310"/>
          <p:cNvSpPr/>
          <p:nvPr/>
        </p:nvSpPr>
        <p:spPr>
          <a:xfrm>
            <a:off x="15066264" y="7402616"/>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Rectangle 311"/>
          <p:cNvSpPr/>
          <p:nvPr/>
        </p:nvSpPr>
        <p:spPr>
          <a:xfrm>
            <a:off x="15171968" y="7402616"/>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Rectangle 312"/>
          <p:cNvSpPr/>
          <p:nvPr/>
        </p:nvSpPr>
        <p:spPr>
          <a:xfrm>
            <a:off x="15277673" y="7402616"/>
            <a:ext cx="87050" cy="87050"/>
          </a:xfrm>
          <a:prstGeom prst="rect">
            <a:avLst/>
          </a:prstGeom>
          <a:no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Rectangle 313"/>
          <p:cNvSpPr/>
          <p:nvPr/>
        </p:nvSpPr>
        <p:spPr>
          <a:xfrm>
            <a:off x="15066264" y="7508321"/>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Rectangle 314"/>
          <p:cNvSpPr/>
          <p:nvPr/>
        </p:nvSpPr>
        <p:spPr>
          <a:xfrm>
            <a:off x="15171968" y="7508321"/>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Rectangle 315"/>
          <p:cNvSpPr/>
          <p:nvPr/>
        </p:nvSpPr>
        <p:spPr>
          <a:xfrm>
            <a:off x="15277673" y="7508321"/>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TextBox 316"/>
          <p:cNvSpPr txBox="1"/>
          <p:nvPr/>
        </p:nvSpPr>
        <p:spPr>
          <a:xfrm>
            <a:off x="15468599" y="7242048"/>
            <a:ext cx="1969008" cy="420624"/>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Fault Tolerant</a:t>
            </a:r>
          </a:p>
        </p:txBody>
      </p:sp>
      <p:sp>
        <p:nvSpPr>
          <p:cNvPr id="318" name="Rectangle 317"/>
          <p:cNvSpPr/>
          <p:nvPr/>
        </p:nvSpPr>
        <p:spPr>
          <a:xfrm>
            <a:off x="15474696"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Rectangle 318"/>
          <p:cNvSpPr/>
          <p:nvPr/>
        </p:nvSpPr>
        <p:spPr>
          <a:xfrm>
            <a:off x="15712440"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Rectangle 319"/>
          <p:cNvSpPr/>
          <p:nvPr/>
        </p:nvSpPr>
        <p:spPr>
          <a:xfrm>
            <a:off x="15950184"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Rectangle 320"/>
          <p:cNvSpPr/>
          <p:nvPr/>
        </p:nvSpPr>
        <p:spPr>
          <a:xfrm>
            <a:off x="16187928" y="7754112"/>
            <a:ext cx="182880" cy="164592"/>
          </a:xfrm>
          <a:prstGeom prst="rect">
            <a:avLst/>
          </a:prstGeom>
          <a:no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Rectangle 321"/>
          <p:cNvSpPr/>
          <p:nvPr/>
        </p:nvSpPr>
        <p:spPr>
          <a:xfrm>
            <a:off x="16425672"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Rectangle 322"/>
          <p:cNvSpPr/>
          <p:nvPr/>
        </p:nvSpPr>
        <p:spPr>
          <a:xfrm>
            <a:off x="16663416"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Rectangle 323"/>
          <p:cNvSpPr/>
          <p:nvPr/>
        </p:nvSpPr>
        <p:spPr>
          <a:xfrm>
            <a:off x="15474696"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Rectangle 324"/>
          <p:cNvSpPr/>
          <p:nvPr/>
        </p:nvSpPr>
        <p:spPr>
          <a:xfrm>
            <a:off x="15712440"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Rectangle 325"/>
          <p:cNvSpPr/>
          <p:nvPr/>
        </p:nvSpPr>
        <p:spPr>
          <a:xfrm>
            <a:off x="15950184"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Rectangle 326"/>
          <p:cNvSpPr/>
          <p:nvPr/>
        </p:nvSpPr>
        <p:spPr>
          <a:xfrm>
            <a:off x="16187928"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Rectangle 327"/>
          <p:cNvSpPr/>
          <p:nvPr/>
        </p:nvSpPr>
        <p:spPr>
          <a:xfrm>
            <a:off x="16425672"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16663416"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Multiply 329"/>
          <p:cNvSpPr/>
          <p:nvPr/>
        </p:nvSpPr>
        <p:spPr>
          <a:xfrm>
            <a:off x="16206216" y="7763256"/>
            <a:ext cx="146304" cy="146304"/>
          </a:xfrm>
          <a:prstGeom prst="mathMultiply">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TextBox 330"/>
          <p:cNvSpPr txBox="1"/>
          <p:nvPr/>
        </p:nvSpPr>
        <p:spPr>
          <a:xfrm>
            <a:off x="14938248"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고장 다이만 격리</a:t>
            </a:r>
          </a:p>
        </p:txBody>
      </p:sp>
      <p:grpSp>
        <p:nvGrpSpPr>
          <p:cNvPr id="334" name="Group 333"/>
          <p:cNvGrpSpPr/>
          <p:nvPr/>
        </p:nvGrpSpPr>
        <p:grpSpPr>
          <a:xfrm>
            <a:off x="667512" y="3145536"/>
            <a:ext cx="16952976" cy="5413248"/>
            <a:chOff x="667512" y="3145536"/>
            <a:chExt cx="16952976" cy="5413248"/>
          </a:xfrm>
        </p:grpSpPr>
        <p:sp>
          <p:nvSpPr>
            <p:cNvPr id="67" name="Rounded Rectangle 66"/>
            <p:cNvSpPr/>
            <p:nvPr/>
          </p:nvSpPr>
          <p:spPr>
            <a:xfrm>
              <a:off x="9262872" y="3145536"/>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ounded Rectangle 111"/>
            <p:cNvSpPr/>
            <p:nvPr/>
          </p:nvSpPr>
          <p:spPr>
            <a:xfrm>
              <a:off x="9262872" y="4078224"/>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ounded Rectangle 119"/>
            <p:cNvSpPr/>
            <p:nvPr/>
          </p:nvSpPr>
          <p:spPr>
            <a:xfrm>
              <a:off x="12057888" y="4078224"/>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ounded Rectangle 161"/>
            <p:cNvSpPr/>
            <p:nvPr/>
          </p:nvSpPr>
          <p:spPr>
            <a:xfrm>
              <a:off x="9262872" y="5010912"/>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Rounded Rectangle 167"/>
            <p:cNvSpPr/>
            <p:nvPr/>
          </p:nvSpPr>
          <p:spPr>
            <a:xfrm>
              <a:off x="12057888" y="5010912"/>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Rounded Rectangle 175"/>
            <p:cNvSpPr/>
            <p:nvPr/>
          </p:nvSpPr>
          <p:spPr>
            <a:xfrm>
              <a:off x="14852904" y="5010912"/>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Rounded Rectangle 200"/>
            <p:cNvSpPr/>
            <p:nvPr/>
          </p:nvSpPr>
          <p:spPr>
            <a:xfrm>
              <a:off x="9262872" y="5943600"/>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Rounded Rectangle 241"/>
            <p:cNvSpPr/>
            <p:nvPr/>
          </p:nvSpPr>
          <p:spPr>
            <a:xfrm>
              <a:off x="667512" y="7114032"/>
              <a:ext cx="2810256" cy="1444752"/>
            </a:xfrm>
            <a:prstGeom prst="roundRect">
              <a:avLst>
                <a:gd name="adj" fmla="val 5063"/>
              </a:avLst>
            </a:prstGeom>
            <a:noFill/>
            <a:ln w="5080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Rounded Rectangle 257"/>
            <p:cNvSpPr/>
            <p:nvPr/>
          </p:nvSpPr>
          <p:spPr>
            <a:xfrm>
              <a:off x="3496056" y="7114032"/>
              <a:ext cx="2810256" cy="1444752"/>
            </a:xfrm>
            <a:prstGeom prst="roundRect">
              <a:avLst>
                <a:gd name="adj" fmla="val 5063"/>
              </a:avLst>
            </a:prstGeom>
            <a:noFill/>
            <a:ln w="5080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Rounded Rectangle 278"/>
            <p:cNvSpPr/>
            <p:nvPr/>
          </p:nvSpPr>
          <p:spPr>
            <a:xfrm>
              <a:off x="6324600" y="7114032"/>
              <a:ext cx="2810256" cy="1444752"/>
            </a:xfrm>
            <a:prstGeom prst="roundRect">
              <a:avLst>
                <a:gd name="adj" fmla="val 5063"/>
              </a:avLst>
            </a:prstGeom>
            <a:noFill/>
            <a:ln w="5080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ounded Rectangle 331"/>
            <p:cNvSpPr/>
            <p:nvPr/>
          </p:nvSpPr>
          <p:spPr>
            <a:xfrm>
              <a:off x="6135624" y="6766560"/>
              <a:ext cx="2962656" cy="329184"/>
            </a:xfrm>
            <a:prstGeom prst="roundRect">
              <a:avLst>
                <a:gd name="adj" fmla="val 22222"/>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TextBox 332"/>
            <p:cNvSpPr txBox="1"/>
            <p:nvPr/>
          </p:nvSpPr>
          <p:spPr>
            <a:xfrm>
              <a:off x="6135624" y="6766560"/>
              <a:ext cx="2962656" cy="329184"/>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세 기술은 다음 장에서 자세히 ▶</a:t>
              </a:r>
            </a:p>
          </p:txBody>
        </p:sp>
      </p:grpSp>
      <p:sp>
        <p:nvSpPr>
          <p:cNvPr id="335" name="Rectangle 334"/>
          <p:cNvSpPr/>
          <p:nvPr/>
        </p:nvSpPr>
        <p:spPr>
          <a:xfrm>
            <a:off x="722376" y="8631936"/>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TextBox 335"/>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결론</a:t>
            </a:r>
          </a:p>
        </p:txBody>
      </p:sp>
      <p:sp>
        <p:nvSpPr>
          <p:cNvPr id="337" name="TextBox 336"/>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AI 추론 수요에 대응하려면, 고객과의 협업이 필수입니다</a:t>
            </a:r>
          </a:p>
        </p:txBody>
      </p:sp>
      <p:sp>
        <p:nvSpPr>
          <p:cNvPr id="338" name="TextBox 337"/>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요구 · 기술 매핑과 협력 단계(채도)는 과제팀 판단(위키 ai-inference-storage-requirements · ssd-core-technologies-customer-collaboration §3.5) · 수치는 발표자 노트</a:t>
            </a:r>
          </a:p>
        </p:txBody>
      </p:sp>
      <p:sp>
        <p:nvSpPr>
          <p:cNvPr id="339" name="TextBox 338"/>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 / 8</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nodeType="clickEffect">
                                  <p:stCondLst>
                                    <p:cond delay="0"/>
                                  </p:stCondLst>
                                  <p:childTnLst>
                                    <p:set>
                                      <p:cBhvr>
                                        <p:cTn id="7" dur="1" fill="hold">
                                          <p:stCondLst>
                                            <p:cond delay="0"/>
                                          </p:stCondLst>
                                        </p:cTn>
                                        <p:tgtEl>
                                          <p:spTgt spid="334"/>
                                        </p:tgtEl>
                                        <p:attrNameLst>
                                          <p:attrName>style.visibility</p:attrName>
                                        </p:attrNameLst>
                                      </p:cBhvr>
                                      <p:to>
                                        <p:strVal val="visible"/>
                                      </p:to>
                                    </p:set>
                                    <p:animEffect transition="in" filter="fade">
                                      <p:cBhvr>
                                        <p:cTn id="8" dur="500"/>
                                        <p:tgtEl>
                                          <p:spTgt spid="3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3 / 8  차별화 · 포트폴리오</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SSD 차별화 요구가 예측 가능한 QoS · 고용량 · 고내구로 바뀌는 지금,</a:t>
            </a:r>
          </a:p>
          <a:p>
            <a:pPr algn="l">
              <a:lnSpc>
                <a:spcPct val="105000"/>
              </a:lnSpc>
            </a:pPr>
            <a:r>
              <a:rPr sz="3200" b="1">
                <a:solidFill>
                  <a:srgbClr val="1A1A1A"/>
                </a:solidFill>
                <a:latin typeface="Arial"/>
                <a:ea typeface="Arial"/>
              </a:rPr>
              <a:t>이에 대비한 기술로 미래 수요에 능동적으로 대응하는 포트폴리오를 완성해야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entagon 5"/>
          <p:cNvSpPr/>
          <p:nvPr/>
        </p:nvSpPr>
        <p:spPr>
          <a:xfrm>
            <a:off x="722376" y="2103120"/>
            <a:ext cx="3337560" cy="877824"/>
          </a:xfrm>
          <a:prstGeom prst="homePlate">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2139696"/>
            <a:ext cx="278892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2000년대 후반</a:t>
            </a:r>
          </a:p>
        </p:txBody>
      </p:sp>
      <p:sp>
        <p:nvSpPr>
          <p:cNvPr id="8" name="TextBox 7"/>
          <p:cNvSpPr txBox="1"/>
          <p:nvPr/>
        </p:nvSpPr>
        <p:spPr>
          <a:xfrm>
            <a:off x="905256" y="2395727"/>
            <a:ext cx="278892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성능</a:t>
            </a:r>
          </a:p>
        </p:txBody>
      </p:sp>
      <p:sp>
        <p:nvSpPr>
          <p:cNvPr id="9" name="TextBox 8"/>
          <p:cNvSpPr txBox="1"/>
          <p:nvPr/>
        </p:nvSpPr>
        <p:spPr>
          <a:xfrm>
            <a:off x="905256" y="2688336"/>
            <a:ext cx="278892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IOPS · 대역</a:t>
            </a:r>
          </a:p>
        </p:txBody>
      </p:sp>
      <p:sp>
        <p:nvSpPr>
          <p:cNvPr id="10" name="Chevron 9"/>
          <p:cNvSpPr/>
          <p:nvPr/>
        </p:nvSpPr>
        <p:spPr>
          <a:xfrm>
            <a:off x="3877056" y="2103120"/>
            <a:ext cx="3337560" cy="877824"/>
          </a:xfrm>
          <a:prstGeom prst="chevron">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97680" y="2139696"/>
            <a:ext cx="278892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2010년대 초</a:t>
            </a:r>
          </a:p>
        </p:txBody>
      </p:sp>
      <p:sp>
        <p:nvSpPr>
          <p:cNvPr id="12" name="TextBox 11"/>
          <p:cNvSpPr txBox="1"/>
          <p:nvPr/>
        </p:nvSpPr>
        <p:spPr>
          <a:xfrm>
            <a:off x="4297680" y="2395727"/>
            <a:ext cx="278892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전력 효율</a:t>
            </a:r>
          </a:p>
        </p:txBody>
      </p:sp>
      <p:sp>
        <p:nvSpPr>
          <p:cNvPr id="13" name="TextBox 12"/>
          <p:cNvSpPr txBox="1"/>
          <p:nvPr/>
        </p:nvSpPr>
        <p:spPr>
          <a:xfrm>
            <a:off x="4297680" y="2688336"/>
            <a:ext cx="278892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IOPS/W</a:t>
            </a:r>
          </a:p>
        </p:txBody>
      </p:sp>
      <p:sp>
        <p:nvSpPr>
          <p:cNvPr id="14" name="Chevron 13"/>
          <p:cNvSpPr/>
          <p:nvPr/>
        </p:nvSpPr>
        <p:spPr>
          <a:xfrm>
            <a:off x="7031736" y="2103120"/>
            <a:ext cx="3337560" cy="877824"/>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52360" y="2139696"/>
            <a:ext cx="278892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2010년대 후반</a:t>
            </a:r>
          </a:p>
        </p:txBody>
      </p:sp>
      <p:sp>
        <p:nvSpPr>
          <p:cNvPr id="16" name="TextBox 15"/>
          <p:cNvSpPr txBox="1"/>
          <p:nvPr/>
        </p:nvSpPr>
        <p:spPr>
          <a:xfrm>
            <a:off x="7452360" y="2395727"/>
            <a:ext cx="278892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VM 단위 QoS</a:t>
            </a:r>
          </a:p>
        </p:txBody>
      </p:sp>
      <p:sp>
        <p:nvSpPr>
          <p:cNvPr id="17" name="TextBox 16"/>
          <p:cNvSpPr txBox="1"/>
          <p:nvPr/>
        </p:nvSpPr>
        <p:spPr>
          <a:xfrm>
            <a:off x="7452360" y="2688336"/>
            <a:ext cx="278892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클라우드 데이터센터</a:t>
            </a:r>
          </a:p>
        </p:txBody>
      </p:sp>
      <p:sp>
        <p:nvSpPr>
          <p:cNvPr id="18" name="Chevron 17"/>
          <p:cNvSpPr/>
          <p:nvPr/>
        </p:nvSpPr>
        <p:spPr>
          <a:xfrm>
            <a:off x="10186416" y="2103120"/>
            <a:ext cx="7379208" cy="877824"/>
          </a:xfrm>
          <a:prstGeom prst="chevron">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643616" y="2139696"/>
            <a:ext cx="2377440" cy="274320"/>
          </a:xfrm>
          <a:prstGeom prst="rect">
            <a:avLst/>
          </a:prstGeom>
          <a:noFill/>
        </p:spPr>
        <p:txBody>
          <a:bodyPr wrap="square" anchor="ctr" lIns="0" rIns="0" tIns="0" bIns="0">
            <a:spAutoFit/>
          </a:bodyPr>
          <a:lstStyle/>
          <a:p>
            <a:pPr algn="l">
              <a:lnSpc>
                <a:spcPct val="110000"/>
              </a:lnSpc>
            </a:pPr>
            <a:r>
              <a:rPr sz="1500" b="1">
                <a:solidFill>
                  <a:srgbClr val="C0CAEC"/>
                </a:solidFill>
                <a:latin typeface="Arial"/>
                <a:ea typeface="Arial"/>
              </a:rPr>
              <a:t>2020년대 · AI</a:t>
            </a:r>
          </a:p>
        </p:txBody>
      </p:sp>
      <p:sp>
        <p:nvSpPr>
          <p:cNvPr id="20" name="Rounded Rectangle 19"/>
          <p:cNvSpPr/>
          <p:nvPr/>
        </p:nvSpPr>
        <p:spPr>
          <a:xfrm>
            <a:off x="10643616" y="2468879"/>
            <a:ext cx="210312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643616" y="2468879"/>
            <a:ext cx="2103120" cy="402336"/>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예측 가능한 QoS</a:t>
            </a:r>
          </a:p>
        </p:txBody>
      </p:sp>
      <p:sp>
        <p:nvSpPr>
          <p:cNvPr id="22" name="Rounded Rectangle 21"/>
          <p:cNvSpPr/>
          <p:nvPr/>
        </p:nvSpPr>
        <p:spPr>
          <a:xfrm>
            <a:off x="12874752" y="2468879"/>
            <a:ext cx="109728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874752" y="2468879"/>
            <a:ext cx="1097280" cy="402336"/>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고용량</a:t>
            </a:r>
          </a:p>
        </p:txBody>
      </p:sp>
      <p:sp>
        <p:nvSpPr>
          <p:cNvPr id="24" name="Rounded Rectangle 23"/>
          <p:cNvSpPr/>
          <p:nvPr/>
        </p:nvSpPr>
        <p:spPr>
          <a:xfrm>
            <a:off x="14100048" y="2468879"/>
            <a:ext cx="109728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100048" y="2468879"/>
            <a:ext cx="1097280" cy="402336"/>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고내구</a:t>
            </a:r>
          </a:p>
        </p:txBody>
      </p:sp>
      <p:sp>
        <p:nvSpPr>
          <p:cNvPr id="26" name="TextBox 25"/>
          <p:cNvSpPr txBox="1"/>
          <p:nvPr/>
        </p:nvSpPr>
        <p:spPr>
          <a:xfrm>
            <a:off x="10186416" y="3017520"/>
            <a:ext cx="7379208" cy="310896"/>
          </a:xfrm>
          <a:prstGeom prst="rect">
            <a:avLst/>
          </a:prstGeom>
          <a:noFill/>
        </p:spPr>
        <p:txBody>
          <a:bodyPr wrap="square" anchor="ctr" lIns="0" rIns="0" tIns="0" bIns="0">
            <a:spAutoFit/>
          </a:bodyPr>
          <a:lstStyle/>
          <a:p>
            <a:pPr algn="r">
              <a:lnSpc>
                <a:spcPct val="110000"/>
              </a:lnSpc>
            </a:pPr>
            <a:r>
              <a:rPr sz="1600" b="1">
                <a:solidFill>
                  <a:srgbClr val="3C4FA5"/>
                </a:solidFill>
                <a:latin typeface="Arial"/>
                <a:ea typeface="Arial"/>
              </a:rPr>
              <a:t>FDP · Mixed Media · Large Mapping → </a:t>
            </a:r>
            <a:r>
              <a:rPr sz="1600" b="1">
                <a:solidFill>
                  <a:srgbClr val="1A1A1A"/>
                </a:solidFill>
                <a:latin typeface="Arial"/>
                <a:ea typeface="Arial"/>
              </a:rPr>
              <a:t>QLC 고용량 + 고객 워크로드 기반 내구성</a:t>
            </a:r>
          </a:p>
        </p:txBody>
      </p:sp>
      <p:sp>
        <p:nvSpPr>
          <p:cNvPr id="27" name="Oval 26"/>
          <p:cNvSpPr/>
          <p:nvPr/>
        </p:nvSpPr>
        <p:spPr>
          <a:xfrm>
            <a:off x="722376" y="3438144"/>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3438144"/>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29" name="TextBox 28"/>
          <p:cNvSpPr txBox="1"/>
          <p:nvPr/>
        </p:nvSpPr>
        <p:spPr>
          <a:xfrm>
            <a:off x="1307592" y="3401568"/>
            <a:ext cx="7187183"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GC를 줄여 예측 가능한 QoS로</a:t>
            </a:r>
          </a:p>
        </p:txBody>
      </p:sp>
      <p:sp>
        <p:nvSpPr>
          <p:cNvPr id="30" name="Rounded Rectangle 29">
            <a:hlinkClick r:id="rId2"/>
          </p:cNvPr>
          <p:cNvSpPr/>
          <p:nvPr/>
        </p:nvSpPr>
        <p:spPr>
          <a:xfrm>
            <a:off x="5934455" y="3474720"/>
            <a:ext cx="2560320" cy="365760"/>
          </a:xfrm>
          <a:prstGeom prst="roundRect">
            <a:avLst>
              <a:gd name="adj" fmla="val 20000"/>
            </a:avLst>
          </a:prstGeom>
          <a:solidFill>
            <a:srgbClr val="3C4FA5"/>
          </a:solid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a:hlinkClick r:id="rId2"/>
          </p:cNvPr>
          <p:cNvSpPr txBox="1"/>
          <p:nvPr/>
        </p:nvSpPr>
        <p:spPr>
          <a:xfrm>
            <a:off x="5989319" y="3474720"/>
            <a:ext cx="2450591" cy="365760"/>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  30초 영상 · FDP 원리</a:t>
            </a:r>
          </a:p>
        </p:txBody>
      </p:sp>
      <p:sp>
        <p:nvSpPr>
          <p:cNvPr id="32" name="Rounded Rectangle 31"/>
          <p:cNvSpPr/>
          <p:nvPr/>
        </p:nvSpPr>
        <p:spPr>
          <a:xfrm>
            <a:off x="722376" y="3986783"/>
            <a:ext cx="2788920" cy="713232"/>
          </a:xfrm>
          <a:prstGeom prst="roundRect">
            <a:avLst>
              <a:gd name="adj" fmla="val 10256"/>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50392" y="4169663"/>
            <a:ext cx="322600" cy="7900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Down Arrow 33"/>
          <p:cNvSpPr/>
          <p:nvPr/>
        </p:nvSpPr>
        <p:spPr>
          <a:xfrm>
            <a:off x="995232" y="4255251"/>
            <a:ext cx="32918" cy="39502"/>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50392" y="4307921"/>
            <a:ext cx="322600" cy="18434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289304" y="4005071"/>
            <a:ext cx="2148839"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Mixed Media</a:t>
            </a:r>
          </a:p>
        </p:txBody>
      </p:sp>
      <p:sp>
        <p:nvSpPr>
          <p:cNvPr id="37" name="TextBox 36"/>
          <p:cNvSpPr txBox="1"/>
          <p:nvPr/>
        </p:nvSpPr>
        <p:spPr>
          <a:xfrm>
            <a:off x="1289304" y="4352544"/>
            <a:ext cx="2148839" cy="310896"/>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작은 쓰기를 pSLC에 모아</a:t>
            </a:r>
          </a:p>
        </p:txBody>
      </p:sp>
      <p:sp>
        <p:nvSpPr>
          <p:cNvPr id="38" name="TextBox 37"/>
          <p:cNvSpPr txBox="1"/>
          <p:nvPr/>
        </p:nvSpPr>
        <p:spPr>
          <a:xfrm>
            <a:off x="3602736" y="4133087"/>
            <a:ext cx="1188720" cy="420624"/>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GC 빈도 ↓</a:t>
            </a:r>
          </a:p>
        </p:txBody>
      </p:sp>
      <p:sp>
        <p:nvSpPr>
          <p:cNvPr id="39" name="Rounded Rectangle 38"/>
          <p:cNvSpPr/>
          <p:nvPr/>
        </p:nvSpPr>
        <p:spPr>
          <a:xfrm>
            <a:off x="722376" y="4773168"/>
            <a:ext cx="2788920" cy="713232"/>
          </a:xfrm>
          <a:prstGeom prst="roundRect">
            <a:avLst>
              <a:gd name="adj" fmla="val 10256"/>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50392" y="4975799"/>
            <a:ext cx="65836" cy="10533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35979" y="4975799"/>
            <a:ext cx="65836" cy="10533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21567" y="4975799"/>
            <a:ext cx="65836" cy="10533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107155" y="4975799"/>
            <a:ext cx="65836" cy="10533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50392" y="5120640"/>
            <a:ext cx="322600" cy="13167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289304" y="4791455"/>
            <a:ext cx="2148839"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Large Mapping</a:t>
            </a:r>
          </a:p>
        </p:txBody>
      </p:sp>
      <p:sp>
        <p:nvSpPr>
          <p:cNvPr id="46" name="TextBox 45"/>
          <p:cNvSpPr txBox="1"/>
          <p:nvPr/>
        </p:nvSpPr>
        <p:spPr>
          <a:xfrm>
            <a:off x="1289304" y="5138928"/>
            <a:ext cx="2148839" cy="310896"/>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정렬된 큰 쓰기</a:t>
            </a:r>
          </a:p>
        </p:txBody>
      </p:sp>
      <p:sp>
        <p:nvSpPr>
          <p:cNvPr id="47" name="TextBox 46"/>
          <p:cNvSpPr txBox="1"/>
          <p:nvPr/>
        </p:nvSpPr>
        <p:spPr>
          <a:xfrm>
            <a:off x="3602736" y="4919472"/>
            <a:ext cx="1188720" cy="420624"/>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GC 횟수 ↓</a:t>
            </a:r>
          </a:p>
        </p:txBody>
      </p:sp>
      <p:sp>
        <p:nvSpPr>
          <p:cNvPr id="48" name="Rounded Rectangle 47"/>
          <p:cNvSpPr/>
          <p:nvPr/>
        </p:nvSpPr>
        <p:spPr>
          <a:xfrm>
            <a:off x="722376" y="5559551"/>
            <a:ext cx="2788920" cy="713232"/>
          </a:xfrm>
          <a:prstGeom prst="roundRect">
            <a:avLst>
              <a:gd name="adj" fmla="val 10256"/>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50392" y="5742431"/>
            <a:ext cx="92171" cy="855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962314" y="5742431"/>
            <a:ext cx="92171" cy="855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074237" y="5742431"/>
            <a:ext cx="92171" cy="855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50392" y="5854354"/>
            <a:ext cx="92171" cy="8558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62314" y="5854354"/>
            <a:ext cx="92171" cy="8558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074237" y="5854354"/>
            <a:ext cx="92171" cy="8558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50392" y="5966277"/>
            <a:ext cx="92171" cy="85587"/>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62314" y="5966277"/>
            <a:ext cx="92171" cy="85587"/>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1074237" y="5966277"/>
            <a:ext cx="92171" cy="85587"/>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289304" y="5577839"/>
            <a:ext cx="2148839"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FDP</a:t>
            </a:r>
          </a:p>
        </p:txBody>
      </p:sp>
      <p:sp>
        <p:nvSpPr>
          <p:cNvPr id="59" name="TextBox 58"/>
          <p:cNvSpPr txBox="1"/>
          <p:nvPr/>
        </p:nvSpPr>
        <p:spPr>
          <a:xfrm>
            <a:off x="1289304" y="5925312"/>
            <a:ext cx="2148839" cy="310896"/>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같은 수명끼리 배치</a:t>
            </a:r>
          </a:p>
        </p:txBody>
      </p:sp>
      <p:sp>
        <p:nvSpPr>
          <p:cNvPr id="60" name="TextBox 59"/>
          <p:cNvSpPr txBox="1"/>
          <p:nvPr/>
        </p:nvSpPr>
        <p:spPr>
          <a:xfrm>
            <a:off x="3602736" y="5705855"/>
            <a:ext cx="1188720" cy="420624"/>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GC 시간 ↓</a:t>
            </a:r>
          </a:p>
        </p:txBody>
      </p:sp>
      <p:sp>
        <p:nvSpPr>
          <p:cNvPr id="61" name="TextBox 60"/>
          <p:cNvSpPr txBox="1"/>
          <p:nvPr/>
        </p:nvSpPr>
        <p:spPr>
          <a:xfrm>
            <a:off x="4846320" y="3950207"/>
            <a:ext cx="3648455" cy="31089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SSD 혼자: GC마다 지연 스파이크</a:t>
            </a:r>
          </a:p>
        </p:txBody>
      </p:sp>
      <p:sp>
        <p:nvSpPr>
          <p:cNvPr id="62" name="Rectangle 61"/>
          <p:cNvSpPr/>
          <p:nvPr/>
        </p:nvSpPr>
        <p:spPr>
          <a:xfrm>
            <a:off x="5322205" y="4279392"/>
            <a:ext cx="317257"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353290" y="4279392"/>
            <a:ext cx="396571"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463690" y="4279392"/>
            <a:ext cx="317257"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864607" y="4840918"/>
            <a:ext cx="42738" cy="9684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4943922" y="4853573"/>
            <a:ext cx="42738" cy="8418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023236" y="4816990"/>
            <a:ext cx="42738" cy="1207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102550" y="4859309"/>
            <a:ext cx="42738" cy="7845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181865" y="4825407"/>
            <a:ext cx="42738" cy="11235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261179" y="4837857"/>
            <a:ext cx="42738" cy="9990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5340493" y="4442080"/>
            <a:ext cx="42738" cy="495679"/>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419807" y="4460972"/>
            <a:ext cx="42738" cy="476787"/>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5499122" y="4548774"/>
            <a:ext cx="42738" cy="388985"/>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5578436" y="4360299"/>
            <a:ext cx="42738" cy="57746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5657750" y="4855551"/>
            <a:ext cx="42738" cy="8220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5737064" y="4848277"/>
            <a:ext cx="42738" cy="8948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5816379" y="4818710"/>
            <a:ext cx="42738" cy="11904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5895693" y="4795281"/>
            <a:ext cx="42738" cy="14247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5975007" y="4822391"/>
            <a:ext cx="42738" cy="1153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6054321" y="4835590"/>
            <a:ext cx="42738" cy="1021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6133636" y="4793192"/>
            <a:ext cx="42738" cy="14456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6212950" y="4861200"/>
            <a:ext cx="42738" cy="7655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6292264" y="4801809"/>
            <a:ext cx="42738" cy="13595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6371578" y="4535066"/>
            <a:ext cx="42738" cy="402693"/>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6450893" y="4493018"/>
            <a:ext cx="42738" cy="444741"/>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6530207" y="4525728"/>
            <a:ext cx="42738" cy="412031"/>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6609521" y="4408417"/>
            <a:ext cx="42738" cy="52934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6688836" y="4431759"/>
            <a:ext cx="42738" cy="50600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6768150" y="4860014"/>
            <a:ext cx="42738" cy="7774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847464" y="4860248"/>
            <a:ext cx="42738" cy="7751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6926778" y="4849541"/>
            <a:ext cx="42738" cy="8821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7006093" y="4814835"/>
            <a:ext cx="42738" cy="12292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7085407" y="4833328"/>
            <a:ext cx="42738" cy="10443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7164721" y="4841627"/>
            <a:ext cx="42738" cy="961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7244035" y="4821772"/>
            <a:ext cx="42738" cy="11598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7323350" y="4831456"/>
            <a:ext cx="42738" cy="10630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7402664" y="4842679"/>
            <a:ext cx="42738" cy="950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7481978" y="4393035"/>
            <a:ext cx="42738" cy="544724"/>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7561292" y="4424929"/>
            <a:ext cx="42738" cy="51283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7640607" y="4347936"/>
            <a:ext cx="42738" cy="589823"/>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7719921" y="4498278"/>
            <a:ext cx="42738" cy="439481"/>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7799235" y="4792906"/>
            <a:ext cx="42738" cy="1448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7878549" y="4855971"/>
            <a:ext cx="42738" cy="817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7957864" y="4834021"/>
            <a:ext cx="42738" cy="10373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8037178" y="4809221"/>
            <a:ext cx="42738" cy="12853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8116492" y="4853490"/>
            <a:ext cx="42738" cy="842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8195806" y="4828839"/>
            <a:ext cx="42738" cy="1089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8275121" y="4861739"/>
            <a:ext cx="42738" cy="760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8354435" y="4815726"/>
            <a:ext cx="42738" cy="12203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8433749" y="4808678"/>
            <a:ext cx="42738" cy="12908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4846320" y="4937759"/>
            <a:ext cx="364845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4846320" y="5138927"/>
            <a:ext cx="3648455" cy="310896"/>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공동 설계: GC가 드물고 짧다</a:t>
            </a:r>
          </a:p>
        </p:txBody>
      </p:sp>
      <p:sp>
        <p:nvSpPr>
          <p:cNvPr id="113" name="Rectangle 112"/>
          <p:cNvSpPr/>
          <p:nvPr/>
        </p:nvSpPr>
        <p:spPr>
          <a:xfrm>
            <a:off x="6987805" y="5468112"/>
            <a:ext cx="79314"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4864607" y="6011410"/>
            <a:ext cx="42738" cy="115069"/>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4943922" y="5989285"/>
            <a:ext cx="42738" cy="13719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5023236" y="6030376"/>
            <a:ext cx="42738" cy="9610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5102550" y="6002465"/>
            <a:ext cx="42738" cy="12401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5181865" y="6009848"/>
            <a:ext cx="42738" cy="11663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5261179" y="6010907"/>
            <a:ext cx="42738" cy="11557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5340493" y="6019955"/>
            <a:ext cx="42738" cy="10652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5419807" y="5991882"/>
            <a:ext cx="42738" cy="13459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5499122" y="5984222"/>
            <a:ext cx="42738" cy="14225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5578436" y="6018646"/>
            <a:ext cx="42738" cy="10783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5657750" y="6004743"/>
            <a:ext cx="42738" cy="12173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5737064" y="6048889"/>
            <a:ext cx="42738" cy="7759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5816379" y="6002012"/>
            <a:ext cx="42738" cy="12446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5895693" y="6005989"/>
            <a:ext cx="42738" cy="12049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5975007" y="5980681"/>
            <a:ext cx="42738" cy="14579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6054321" y="5993202"/>
            <a:ext cx="42738" cy="13327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6133636" y="6032509"/>
            <a:ext cx="42738" cy="9397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6212950" y="6025106"/>
            <a:ext cx="42738" cy="10137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6292264" y="6004414"/>
            <a:ext cx="42738" cy="12206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6371578" y="6051677"/>
            <a:ext cx="42738" cy="7480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6450893" y="6019554"/>
            <a:ext cx="42738" cy="10692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6530207" y="6041034"/>
            <a:ext cx="42738" cy="8544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6609521" y="6044762"/>
            <a:ext cx="42738" cy="8171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6688836" y="6049015"/>
            <a:ext cx="42738" cy="7746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6768150" y="5997130"/>
            <a:ext cx="42738" cy="129349"/>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6847464" y="6043866"/>
            <a:ext cx="42738" cy="8261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6926778" y="6035214"/>
            <a:ext cx="42738" cy="9126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7006093" y="5943599"/>
            <a:ext cx="42738"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7085407" y="5989581"/>
            <a:ext cx="42738" cy="13689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7164721" y="6047433"/>
            <a:ext cx="42738" cy="7904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7244035" y="6020469"/>
            <a:ext cx="42738" cy="10601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7323350" y="6013135"/>
            <a:ext cx="42738" cy="11334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7402664" y="5988706"/>
            <a:ext cx="42738" cy="13777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7481978" y="5993396"/>
            <a:ext cx="42738" cy="13308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7561292" y="5990125"/>
            <a:ext cx="42738" cy="13635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Rectangle 148"/>
          <p:cNvSpPr/>
          <p:nvPr/>
        </p:nvSpPr>
        <p:spPr>
          <a:xfrm>
            <a:off x="7640607" y="6032960"/>
            <a:ext cx="42738" cy="93519"/>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7719921" y="6022948"/>
            <a:ext cx="42738" cy="10353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p:cNvSpPr/>
          <p:nvPr/>
        </p:nvSpPr>
        <p:spPr>
          <a:xfrm>
            <a:off x="7799235" y="6027083"/>
            <a:ext cx="42738" cy="9939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7878549" y="5988647"/>
            <a:ext cx="42738" cy="13783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ctangle 152"/>
          <p:cNvSpPr/>
          <p:nvPr/>
        </p:nvSpPr>
        <p:spPr>
          <a:xfrm>
            <a:off x="7957864" y="5983268"/>
            <a:ext cx="42738" cy="14321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8037178" y="6042287"/>
            <a:ext cx="42738" cy="8419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8116492" y="6040437"/>
            <a:ext cx="42738" cy="8604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8195806" y="6036359"/>
            <a:ext cx="42738" cy="901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ectangle 156"/>
          <p:cNvSpPr/>
          <p:nvPr/>
        </p:nvSpPr>
        <p:spPr>
          <a:xfrm>
            <a:off x="8275121" y="6036258"/>
            <a:ext cx="42738" cy="9022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8354435" y="6017852"/>
            <a:ext cx="42738" cy="10862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8433749" y="6010232"/>
            <a:ext cx="42738" cy="11624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ectangle 159"/>
          <p:cNvSpPr/>
          <p:nvPr/>
        </p:nvSpPr>
        <p:spPr>
          <a:xfrm>
            <a:off x="4846320" y="6126479"/>
            <a:ext cx="364845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Oval 160"/>
          <p:cNvSpPr/>
          <p:nvPr/>
        </p:nvSpPr>
        <p:spPr>
          <a:xfrm>
            <a:off x="722376" y="6455664"/>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722376" y="6455664"/>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163" name="TextBox 162"/>
          <p:cNvSpPr txBox="1"/>
          <p:nvPr/>
        </p:nvSpPr>
        <p:spPr>
          <a:xfrm>
            <a:off x="1307592" y="6419088"/>
            <a:ext cx="7187183"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그 결과 좋아지는 지표</a:t>
            </a:r>
          </a:p>
        </p:txBody>
      </p:sp>
      <p:sp>
        <p:nvSpPr>
          <p:cNvPr id="164" name="Rounded Rectangle 163">
            <a:hlinkClick action="ppaction://hlinksldjump" r:id="rId13"/>
          </p:cNvPr>
          <p:cNvSpPr/>
          <p:nvPr/>
        </p:nvSpPr>
        <p:spPr>
          <a:xfrm>
            <a:off x="5111495" y="6492240"/>
            <a:ext cx="3383280" cy="365760"/>
          </a:xfrm>
          <a:prstGeom prst="roundRect">
            <a:avLst>
              <a:gd name="adj" fmla="val 20000"/>
            </a:avLst>
          </a:prstGeom>
          <a:solidFill>
            <a:srgbClr val="F0F2F8"/>
          </a:solidFill>
          <a:ln w="12700">
            <a:solidFill>
              <a:srgbClr val="C0CA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a:hlinkClick action="ppaction://hlinksldjump" r:id="rId13"/>
          </p:cNvPr>
          <p:cNvSpPr txBox="1"/>
          <p:nvPr/>
        </p:nvSpPr>
        <p:spPr>
          <a:xfrm>
            <a:off x="5166359" y="6492240"/>
            <a:ext cx="3273552" cy="365760"/>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왜 SSD만으로는 안 됐나  참고 5장 ▶</a:t>
            </a:r>
          </a:p>
        </p:txBody>
      </p:sp>
      <p:sp>
        <p:nvSpPr>
          <p:cNvPr id="166" name="Rounded Rectangle 165"/>
          <p:cNvSpPr/>
          <p:nvPr/>
        </p:nvSpPr>
        <p:spPr>
          <a:xfrm>
            <a:off x="722376" y="7022592"/>
            <a:ext cx="3776472" cy="2340864"/>
          </a:xfrm>
          <a:prstGeom prst="roundRect">
            <a:avLst>
              <a:gd name="adj" fmla="val 3124"/>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905256" y="7077455"/>
            <a:ext cx="3410712"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WAF</a:t>
            </a:r>
          </a:p>
        </p:txBody>
      </p:sp>
      <p:sp>
        <p:nvSpPr>
          <p:cNvPr id="168" name="TextBox 167"/>
          <p:cNvSpPr txBox="1"/>
          <p:nvPr/>
        </p:nvSpPr>
        <p:spPr>
          <a:xfrm>
            <a:off x="905256" y="7424927"/>
            <a:ext cx="3410712"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GC 복사량 (WAF − 1) 2.22 → 0.03</a:t>
            </a:r>
          </a:p>
        </p:txBody>
      </p:sp>
      <p:sp>
        <p:nvSpPr>
          <p:cNvPr id="169" name="Rectangle 168"/>
          <p:cNvSpPr/>
          <p:nvPr/>
        </p:nvSpPr>
        <p:spPr>
          <a:xfrm>
            <a:off x="996696" y="8046719"/>
            <a:ext cx="603504" cy="96926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813816" y="7754111"/>
            <a:ext cx="969264" cy="274320"/>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3.22</a:t>
            </a:r>
          </a:p>
        </p:txBody>
      </p:sp>
      <p:sp>
        <p:nvSpPr>
          <p:cNvPr id="171" name="TextBox 170"/>
          <p:cNvSpPr txBox="1"/>
          <p:nvPr/>
        </p:nvSpPr>
        <p:spPr>
          <a:xfrm>
            <a:off x="768096" y="9034272"/>
            <a:ext cx="1060704" cy="292608"/>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SSD 혼자</a:t>
            </a:r>
          </a:p>
        </p:txBody>
      </p:sp>
      <p:sp>
        <p:nvSpPr>
          <p:cNvPr id="172" name="Rectangle 171"/>
          <p:cNvSpPr/>
          <p:nvPr/>
        </p:nvSpPr>
        <p:spPr>
          <a:xfrm>
            <a:off x="1837944" y="8705939"/>
            <a:ext cx="603504" cy="31004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1655064" y="8413331"/>
            <a:ext cx="969264" cy="274320"/>
          </a:xfrm>
          <a:prstGeom prst="rect">
            <a:avLst/>
          </a:prstGeom>
          <a:noFill/>
        </p:spPr>
        <p:txBody>
          <a:bodyPr wrap="square" anchor="ctr" lIns="0" rIns="0" tIns="0" bIns="0">
            <a:spAutoFit/>
          </a:bodyPr>
          <a:lstStyle/>
          <a:p>
            <a:pPr algn="ctr">
              <a:lnSpc>
                <a:spcPct val="110000"/>
              </a:lnSpc>
            </a:pPr>
            <a:r>
              <a:rPr sz="1700" b="1">
                <a:solidFill>
                  <a:srgbClr val="3C4FA5"/>
                </a:solidFill>
                <a:latin typeface="Arial"/>
                <a:ea typeface="Arial"/>
              </a:rPr>
              <a:t>1.03</a:t>
            </a:r>
          </a:p>
        </p:txBody>
      </p:sp>
      <p:sp>
        <p:nvSpPr>
          <p:cNvPr id="174" name="TextBox 173"/>
          <p:cNvSpPr txBox="1"/>
          <p:nvPr/>
        </p:nvSpPr>
        <p:spPr>
          <a:xfrm>
            <a:off x="1609344" y="9034272"/>
            <a:ext cx="1060704" cy="292608"/>
          </a:xfrm>
          <a:prstGeom prst="rect">
            <a:avLst/>
          </a:prstGeom>
          <a:noFill/>
        </p:spPr>
        <p:txBody>
          <a:bodyPr wrap="square" anchor="t" lIns="0" rIns="0" tIns="0" bIns="0">
            <a:spAutoFit/>
          </a:bodyPr>
          <a:lstStyle/>
          <a:p>
            <a:pPr algn="ctr">
              <a:lnSpc>
                <a:spcPct val="110000"/>
              </a:lnSpc>
            </a:pPr>
            <a:r>
              <a:rPr sz="1500" b="1">
                <a:solidFill>
                  <a:srgbClr val="3C4FA5"/>
                </a:solidFill>
                <a:latin typeface="Arial"/>
                <a:ea typeface="Arial"/>
              </a:rPr>
              <a:t>함께</a:t>
            </a:r>
          </a:p>
        </p:txBody>
      </p:sp>
      <p:sp>
        <p:nvSpPr>
          <p:cNvPr id="175" name="TextBox 174"/>
          <p:cNvSpPr txBox="1"/>
          <p:nvPr/>
        </p:nvSpPr>
        <p:spPr>
          <a:xfrm>
            <a:off x="2642616" y="7754112"/>
            <a:ext cx="1764791" cy="676656"/>
          </a:xfrm>
          <a:prstGeom prst="rect">
            <a:avLst/>
          </a:prstGeom>
          <a:noFill/>
        </p:spPr>
        <p:txBody>
          <a:bodyPr wrap="square" anchor="ctr" lIns="0" rIns="0" tIns="0" bIns="0">
            <a:spAutoFit/>
          </a:bodyPr>
          <a:lstStyle/>
          <a:p>
            <a:pPr algn="ctr">
              <a:lnSpc>
                <a:spcPct val="110000"/>
              </a:lnSpc>
            </a:pPr>
            <a:r>
              <a:rPr sz="3800" b="1">
                <a:solidFill>
                  <a:srgbClr val="3C4FA5"/>
                </a:solidFill>
                <a:latin typeface="Arial"/>
                <a:ea typeface="Arial"/>
              </a:rPr>
              <a:t>−68%</a:t>
            </a:r>
          </a:p>
        </p:txBody>
      </p:sp>
      <p:sp>
        <p:nvSpPr>
          <p:cNvPr id="176" name="TextBox 175"/>
          <p:cNvSpPr txBox="1"/>
          <p:nvPr/>
        </p:nvSpPr>
        <p:spPr>
          <a:xfrm>
            <a:off x="2642616" y="8412480"/>
            <a:ext cx="1764791"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CacheLib FDP</a:t>
            </a:r>
          </a:p>
        </p:txBody>
      </p:sp>
      <p:sp>
        <p:nvSpPr>
          <p:cNvPr id="177" name="Rounded Rectangle 176"/>
          <p:cNvSpPr/>
          <p:nvPr/>
        </p:nvSpPr>
        <p:spPr>
          <a:xfrm>
            <a:off x="4718304" y="7022592"/>
            <a:ext cx="3776472" cy="2340864"/>
          </a:xfrm>
          <a:prstGeom prst="roundRect">
            <a:avLst>
              <a:gd name="adj" fmla="val 3124"/>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extBox 177"/>
          <p:cNvSpPr txBox="1"/>
          <p:nvPr/>
        </p:nvSpPr>
        <p:spPr>
          <a:xfrm>
            <a:off x="4901184" y="7077455"/>
            <a:ext cx="3410712"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p99.9 꼬리 지연</a:t>
            </a:r>
          </a:p>
        </p:txBody>
      </p:sp>
      <p:sp>
        <p:nvSpPr>
          <p:cNvPr id="179" name="TextBox 178"/>
          <p:cNvSpPr txBox="1"/>
          <p:nvPr/>
        </p:nvSpPr>
        <p:spPr>
          <a:xfrm>
            <a:off x="4901184" y="7424927"/>
            <a:ext cx="3410712"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GC 뒤에 읽기가 기다리는 시간</a:t>
            </a:r>
          </a:p>
        </p:txBody>
      </p:sp>
      <p:sp>
        <p:nvSpPr>
          <p:cNvPr id="180" name="Rectangle 179"/>
          <p:cNvSpPr/>
          <p:nvPr/>
        </p:nvSpPr>
        <p:spPr>
          <a:xfrm>
            <a:off x="4992624" y="8046719"/>
            <a:ext cx="603504" cy="96926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extBox 180"/>
          <p:cNvSpPr txBox="1"/>
          <p:nvPr/>
        </p:nvSpPr>
        <p:spPr>
          <a:xfrm>
            <a:off x="4809744" y="7754111"/>
            <a:ext cx="969264" cy="274320"/>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100</a:t>
            </a:r>
          </a:p>
        </p:txBody>
      </p:sp>
      <p:sp>
        <p:nvSpPr>
          <p:cNvPr id="182" name="TextBox 181"/>
          <p:cNvSpPr txBox="1"/>
          <p:nvPr/>
        </p:nvSpPr>
        <p:spPr>
          <a:xfrm>
            <a:off x="4764024" y="9034272"/>
            <a:ext cx="1060704" cy="292608"/>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일반</a:t>
            </a:r>
          </a:p>
        </p:txBody>
      </p:sp>
      <p:sp>
        <p:nvSpPr>
          <p:cNvPr id="183" name="Rectangle 182"/>
          <p:cNvSpPr/>
          <p:nvPr/>
        </p:nvSpPr>
        <p:spPr>
          <a:xfrm>
            <a:off x="5833872" y="8579815"/>
            <a:ext cx="603504" cy="43616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TextBox 183"/>
          <p:cNvSpPr txBox="1"/>
          <p:nvPr/>
        </p:nvSpPr>
        <p:spPr>
          <a:xfrm>
            <a:off x="5650992" y="8287207"/>
            <a:ext cx="969264" cy="274320"/>
          </a:xfrm>
          <a:prstGeom prst="rect">
            <a:avLst/>
          </a:prstGeom>
          <a:noFill/>
        </p:spPr>
        <p:txBody>
          <a:bodyPr wrap="square" anchor="ctr" lIns="0" rIns="0" tIns="0" bIns="0">
            <a:spAutoFit/>
          </a:bodyPr>
          <a:lstStyle/>
          <a:p>
            <a:pPr algn="ctr">
              <a:lnSpc>
                <a:spcPct val="110000"/>
              </a:lnSpc>
            </a:pPr>
            <a:r>
              <a:rPr sz="1700" b="1">
                <a:solidFill>
                  <a:srgbClr val="3C4FA5"/>
                </a:solidFill>
                <a:latin typeface="Arial"/>
                <a:ea typeface="Arial"/>
              </a:rPr>
              <a:t>45</a:t>
            </a:r>
          </a:p>
        </p:txBody>
      </p:sp>
      <p:sp>
        <p:nvSpPr>
          <p:cNvPr id="185" name="TextBox 184"/>
          <p:cNvSpPr txBox="1"/>
          <p:nvPr/>
        </p:nvSpPr>
        <p:spPr>
          <a:xfrm>
            <a:off x="5605272" y="9034272"/>
            <a:ext cx="1060704" cy="292608"/>
          </a:xfrm>
          <a:prstGeom prst="rect">
            <a:avLst/>
          </a:prstGeom>
          <a:noFill/>
        </p:spPr>
        <p:txBody>
          <a:bodyPr wrap="square" anchor="t" lIns="0" rIns="0" tIns="0" bIns="0">
            <a:spAutoFit/>
          </a:bodyPr>
          <a:lstStyle/>
          <a:p>
            <a:pPr algn="ctr">
              <a:lnSpc>
                <a:spcPct val="110000"/>
              </a:lnSpc>
            </a:pPr>
            <a:r>
              <a:rPr sz="1500" b="1">
                <a:solidFill>
                  <a:srgbClr val="3C4FA5"/>
                </a:solidFill>
                <a:latin typeface="Arial"/>
                <a:ea typeface="Arial"/>
              </a:rPr>
              <a:t>FDP</a:t>
            </a:r>
          </a:p>
        </p:txBody>
      </p:sp>
      <p:sp>
        <p:nvSpPr>
          <p:cNvPr id="186" name="TextBox 185"/>
          <p:cNvSpPr txBox="1"/>
          <p:nvPr/>
        </p:nvSpPr>
        <p:spPr>
          <a:xfrm>
            <a:off x="6638544" y="7754112"/>
            <a:ext cx="1764791" cy="676656"/>
          </a:xfrm>
          <a:prstGeom prst="rect">
            <a:avLst/>
          </a:prstGeom>
          <a:noFill/>
        </p:spPr>
        <p:txBody>
          <a:bodyPr wrap="square" anchor="ctr" lIns="0" rIns="0" tIns="0" bIns="0">
            <a:spAutoFit/>
          </a:bodyPr>
          <a:lstStyle/>
          <a:p>
            <a:pPr algn="ctr">
              <a:lnSpc>
                <a:spcPct val="110000"/>
              </a:lnSpc>
            </a:pPr>
            <a:r>
              <a:rPr sz="3800" b="1">
                <a:solidFill>
                  <a:srgbClr val="3C4FA5"/>
                </a:solidFill>
                <a:latin typeface="Arial"/>
                <a:ea typeface="Arial"/>
              </a:rPr>
              <a:t>−55%</a:t>
            </a:r>
          </a:p>
        </p:txBody>
      </p:sp>
      <p:sp>
        <p:nvSpPr>
          <p:cNvPr id="187" name="TextBox 186"/>
          <p:cNvSpPr txBox="1"/>
          <p:nvPr/>
        </p:nvSpPr>
        <p:spPr>
          <a:xfrm>
            <a:off x="6638544" y="8412480"/>
            <a:ext cx="1764791"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PM9D3a · RocksDB</a:t>
            </a:r>
          </a:p>
        </p:txBody>
      </p:sp>
      <p:sp>
        <p:nvSpPr>
          <p:cNvPr id="188" name="Oval 187"/>
          <p:cNvSpPr/>
          <p:nvPr/>
        </p:nvSpPr>
        <p:spPr>
          <a:xfrm>
            <a:off x="8860536" y="3438144"/>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extBox 188"/>
          <p:cNvSpPr txBox="1"/>
          <p:nvPr/>
        </p:nvSpPr>
        <p:spPr>
          <a:xfrm>
            <a:off x="8860536" y="3438144"/>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190" name="TextBox 189"/>
          <p:cNvSpPr txBox="1"/>
          <p:nvPr/>
        </p:nvSpPr>
        <p:spPr>
          <a:xfrm>
            <a:off x="9445752" y="3401568"/>
            <a:ext cx="8119872"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미래 수요에 능동 대응하는 포트폴리오</a:t>
            </a:r>
          </a:p>
        </p:txBody>
      </p:sp>
      <p:pic>
        <p:nvPicPr>
          <p:cNvPr id="191" name="Picture 190" descr="portfolio_3d_base.png"/>
          <p:cNvPicPr>
            <a:picLocks noChangeAspect="1"/>
          </p:cNvPicPr>
          <p:nvPr/>
        </p:nvPicPr>
        <p:blipFill>
          <a:blip r:embed="rId3"/>
          <a:stretch>
            <a:fillRect/>
          </a:stretch>
        </p:blipFill>
        <p:spPr>
          <a:xfrm>
            <a:off x="8769096" y="4041648"/>
            <a:ext cx="6303421" cy="5321808"/>
          </a:xfrm>
          <a:prstGeom prst="rect">
            <a:avLst/>
          </a:prstGeom>
        </p:spPr>
      </p:pic>
      <p:sp>
        <p:nvSpPr>
          <p:cNvPr id="196" name="TextBox 195"/>
          <p:cNvSpPr txBox="1"/>
          <p:nvPr/>
        </p:nvSpPr>
        <p:spPr>
          <a:xfrm>
            <a:off x="8769096" y="4005072"/>
            <a:ext cx="2194560" cy="512064"/>
          </a:xfrm>
          <a:prstGeom prst="rect">
            <a:avLst/>
          </a:prstGeom>
          <a:noFill/>
        </p:spPr>
        <p:txBody>
          <a:bodyPr wrap="square" anchor="t" lIns="0" rIns="0" tIns="0" bIns="0">
            <a:spAutoFit/>
          </a:bodyPr>
          <a:lstStyle/>
          <a:p>
            <a:pPr algn="l">
              <a:lnSpc>
                <a:spcPct val="95000"/>
              </a:lnSpc>
            </a:pPr>
            <a:r>
              <a:rPr sz="1500" b="1">
                <a:solidFill>
                  <a:srgbClr val="555555"/>
                </a:solidFill>
                <a:latin typeface="Arial"/>
                <a:ea typeface="Arial"/>
              </a:rPr>
              <a:t>높이 = 꼬리 지연</a:t>
            </a:r>
          </a:p>
          <a:p>
            <a:pPr algn="l">
              <a:lnSpc>
                <a:spcPct val="95000"/>
              </a:lnSpc>
            </a:pPr>
            <a:r>
              <a:rPr sz="1500" b="0">
                <a:solidFill>
                  <a:srgbClr val="555555"/>
                </a:solidFill>
                <a:latin typeface="Arial"/>
                <a:ea typeface="Arial"/>
              </a:rPr>
              <a:t>낮을수록 위 (정성)</a:t>
            </a:r>
          </a:p>
        </p:txBody>
      </p:sp>
      <p:sp>
        <p:nvSpPr>
          <p:cNvPr id="197" name="Rounded Rectangle 196"/>
          <p:cNvSpPr/>
          <p:nvPr/>
        </p:nvSpPr>
        <p:spPr>
          <a:xfrm>
            <a:off x="15279624" y="4032504"/>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Rectangle 197"/>
          <p:cNvSpPr/>
          <p:nvPr/>
        </p:nvSpPr>
        <p:spPr>
          <a:xfrm>
            <a:off x="15279624" y="4032504"/>
            <a:ext cx="73152" cy="1266444"/>
          </a:xfrm>
          <a:prstGeom prst="rect">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Oval 198"/>
          <p:cNvSpPr/>
          <p:nvPr/>
        </p:nvSpPr>
        <p:spPr>
          <a:xfrm>
            <a:off x="15407640" y="4096511"/>
            <a:ext cx="347472" cy="347472"/>
          </a:xfrm>
          <a:prstGeom prst="ellipse">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extBox 199"/>
          <p:cNvSpPr txBox="1"/>
          <p:nvPr/>
        </p:nvSpPr>
        <p:spPr>
          <a:xfrm>
            <a:off x="15407640" y="4096511"/>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pic>
        <p:nvPicPr>
          <p:cNvPr id="201" name="Picture 200" descr="p_bm1743.png"/>
          <p:cNvPicPr>
            <a:picLocks noChangeAspect="1"/>
          </p:cNvPicPr>
          <p:nvPr/>
        </p:nvPicPr>
        <p:blipFill>
          <a:blip r:embed="rId8"/>
          <a:stretch>
            <a:fillRect/>
          </a:stretch>
        </p:blipFill>
        <p:spPr>
          <a:xfrm>
            <a:off x="16307773" y="4059935"/>
            <a:ext cx="686900" cy="475488"/>
          </a:xfrm>
          <a:prstGeom prst="rect">
            <a:avLst/>
          </a:prstGeom>
        </p:spPr>
      </p:pic>
      <p:sp>
        <p:nvSpPr>
          <p:cNvPr id="202" name="TextBox 201"/>
          <p:cNvSpPr txBox="1"/>
          <p:nvPr/>
        </p:nvSpPr>
        <p:spPr>
          <a:xfrm>
            <a:off x="15462504" y="4535424"/>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BM1743 · QLC</a:t>
            </a:r>
          </a:p>
        </p:txBody>
      </p:sp>
      <p:sp>
        <p:nvSpPr>
          <p:cNvPr id="208" name="Rounded Rectangle 207"/>
          <p:cNvSpPr/>
          <p:nvPr/>
        </p:nvSpPr>
        <p:spPr>
          <a:xfrm>
            <a:off x="15279624" y="5372100"/>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ectangle 208"/>
          <p:cNvSpPr/>
          <p:nvPr/>
        </p:nvSpPr>
        <p:spPr>
          <a:xfrm>
            <a:off x="15279624" y="5372100"/>
            <a:ext cx="73152" cy="1266444"/>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Oval 209"/>
          <p:cNvSpPr/>
          <p:nvPr/>
        </p:nvSpPr>
        <p:spPr>
          <a:xfrm>
            <a:off x="15407640" y="5436107"/>
            <a:ext cx="347472" cy="347472"/>
          </a:xfrm>
          <a:prstGeom prst="ellipse">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15407640" y="5436107"/>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pic>
        <p:nvPicPr>
          <p:cNvPr id="212" name="Picture 211" descr="p_pm1753.png"/>
          <p:cNvPicPr>
            <a:picLocks noChangeAspect="1"/>
          </p:cNvPicPr>
          <p:nvPr/>
        </p:nvPicPr>
        <p:blipFill>
          <a:blip r:embed="rId9"/>
          <a:stretch>
            <a:fillRect/>
          </a:stretch>
        </p:blipFill>
        <p:spPr>
          <a:xfrm>
            <a:off x="16327027" y="5399531"/>
            <a:ext cx="648392" cy="475488"/>
          </a:xfrm>
          <a:prstGeom prst="rect">
            <a:avLst/>
          </a:prstGeom>
        </p:spPr>
      </p:pic>
      <p:sp>
        <p:nvSpPr>
          <p:cNvPr id="213" name="TextBox 212"/>
          <p:cNvSpPr txBox="1"/>
          <p:nvPr/>
        </p:nvSpPr>
        <p:spPr>
          <a:xfrm>
            <a:off x="15462504" y="5875020"/>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PM1753 · TLC</a:t>
            </a:r>
          </a:p>
        </p:txBody>
      </p:sp>
      <p:sp>
        <p:nvSpPr>
          <p:cNvPr id="219" name="Rounded Rectangle 218"/>
          <p:cNvSpPr/>
          <p:nvPr/>
        </p:nvSpPr>
        <p:spPr>
          <a:xfrm>
            <a:off x="15279624" y="6711696"/>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Rectangle 219"/>
          <p:cNvSpPr/>
          <p:nvPr/>
        </p:nvSpPr>
        <p:spPr>
          <a:xfrm>
            <a:off x="15279624" y="6711696"/>
            <a:ext cx="73152" cy="1266444"/>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Oval 220"/>
          <p:cNvSpPr/>
          <p:nvPr/>
        </p:nvSpPr>
        <p:spPr>
          <a:xfrm>
            <a:off x="15407640" y="6775704"/>
            <a:ext cx="347472" cy="347472"/>
          </a:xfrm>
          <a:prstGeom prst="ellipse">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TextBox 221"/>
          <p:cNvSpPr txBox="1"/>
          <p:nvPr/>
        </p:nvSpPr>
        <p:spPr>
          <a:xfrm>
            <a:off x="15407640" y="6775704"/>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pic>
        <p:nvPicPr>
          <p:cNvPr id="223" name="Picture 222" descr="p_pm1755.png"/>
          <p:cNvPicPr>
            <a:picLocks noChangeAspect="1"/>
          </p:cNvPicPr>
          <p:nvPr/>
        </p:nvPicPr>
        <p:blipFill>
          <a:blip r:embed="rId10"/>
          <a:stretch>
            <a:fillRect/>
          </a:stretch>
        </p:blipFill>
        <p:spPr>
          <a:xfrm>
            <a:off x="16327027" y="6739128"/>
            <a:ext cx="648392" cy="475488"/>
          </a:xfrm>
          <a:prstGeom prst="rect">
            <a:avLst/>
          </a:prstGeom>
        </p:spPr>
      </p:pic>
      <p:sp>
        <p:nvSpPr>
          <p:cNvPr id="224" name="TextBox 223"/>
          <p:cNvSpPr txBox="1"/>
          <p:nvPr/>
        </p:nvSpPr>
        <p:spPr>
          <a:xfrm>
            <a:off x="15462504" y="7214616"/>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PM1755 · 고내구 TLC</a:t>
            </a:r>
          </a:p>
        </p:txBody>
      </p:sp>
      <p:sp>
        <p:nvSpPr>
          <p:cNvPr id="230" name="Rounded Rectangle 229"/>
          <p:cNvSpPr/>
          <p:nvPr/>
        </p:nvSpPr>
        <p:spPr>
          <a:xfrm>
            <a:off x="15279624" y="8051292"/>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Rectangle 230"/>
          <p:cNvSpPr/>
          <p:nvPr/>
        </p:nvSpPr>
        <p:spPr>
          <a:xfrm>
            <a:off x="15279624" y="8051292"/>
            <a:ext cx="73152" cy="1266444"/>
          </a:xfrm>
          <a:prstGeom prst="rect">
            <a:avLst/>
          </a:prstGeom>
          <a:solidFill>
            <a:srgbClr val="CC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Oval 231"/>
          <p:cNvSpPr/>
          <p:nvPr/>
        </p:nvSpPr>
        <p:spPr>
          <a:xfrm>
            <a:off x="15407640" y="8115300"/>
            <a:ext cx="347472" cy="347472"/>
          </a:xfrm>
          <a:prstGeom prst="ellipse">
            <a:avLst/>
          </a:prstGeom>
          <a:solidFill>
            <a:srgbClr val="CC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TextBox 232"/>
          <p:cNvSpPr txBox="1"/>
          <p:nvPr/>
        </p:nvSpPr>
        <p:spPr>
          <a:xfrm>
            <a:off x="15407640" y="8115300"/>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4</a:t>
            </a:r>
          </a:p>
        </p:txBody>
      </p:sp>
      <p:pic>
        <p:nvPicPr>
          <p:cNvPr id="234" name="Picture 233" descr="p_zssd.png"/>
          <p:cNvPicPr>
            <a:picLocks noChangeAspect="1"/>
          </p:cNvPicPr>
          <p:nvPr/>
        </p:nvPicPr>
        <p:blipFill>
          <a:blip r:embed="rId11"/>
          <a:stretch>
            <a:fillRect/>
          </a:stretch>
        </p:blipFill>
        <p:spPr>
          <a:xfrm>
            <a:off x="16256446" y="8078724"/>
            <a:ext cx="789555" cy="475488"/>
          </a:xfrm>
          <a:prstGeom prst="rect">
            <a:avLst/>
          </a:prstGeom>
        </p:spPr>
      </p:pic>
      <p:sp>
        <p:nvSpPr>
          <p:cNvPr id="235" name="TextBox 234"/>
          <p:cNvSpPr txBox="1"/>
          <p:nvPr/>
        </p:nvSpPr>
        <p:spPr>
          <a:xfrm>
            <a:off x="15462504" y="8554212"/>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Z-NAND · SLC급</a:t>
            </a:r>
          </a:p>
        </p:txBody>
      </p:sp>
      <p:sp>
        <p:nvSpPr>
          <p:cNvPr id="241" name="TextBox 240"/>
          <p:cNvSpPr txBox="1"/>
          <p:nvPr/>
        </p:nvSpPr>
        <p:spPr>
          <a:xfrm>
            <a:off x="11146536" y="4005072"/>
            <a:ext cx="9144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바닥 =</a:t>
            </a:r>
          </a:p>
        </p:txBody>
      </p:sp>
      <p:sp>
        <p:nvSpPr>
          <p:cNvPr id="242" name="Rectangle 241"/>
          <p:cNvSpPr/>
          <p:nvPr/>
        </p:nvSpPr>
        <p:spPr>
          <a:xfrm>
            <a:off x="11878056" y="4050791"/>
            <a:ext cx="274320" cy="182880"/>
          </a:xfrm>
          <a:prstGeom prst="rect">
            <a:avLst/>
          </a:prstGeom>
          <a:solidFill>
            <a:srgbClr val="ECEEF1"/>
          </a:solidFill>
          <a:ln w="63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TextBox 242"/>
          <p:cNvSpPr txBox="1"/>
          <p:nvPr/>
        </p:nvSpPr>
        <p:spPr>
          <a:xfrm>
            <a:off x="12207240" y="4005072"/>
            <a:ext cx="18288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가중치 · RAG</a:t>
            </a:r>
          </a:p>
        </p:txBody>
      </p:sp>
      <p:sp>
        <p:nvSpPr>
          <p:cNvPr id="244" name="Rectangle 243"/>
          <p:cNvSpPr/>
          <p:nvPr/>
        </p:nvSpPr>
        <p:spPr>
          <a:xfrm>
            <a:off x="11878056" y="4325112"/>
            <a:ext cx="274320" cy="182880"/>
          </a:xfrm>
          <a:prstGeom prst="rect">
            <a:avLst/>
          </a:prstGeom>
          <a:solidFill>
            <a:srgbClr val="D5D9DF"/>
          </a:solidFill>
          <a:ln w="63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TextBox 244"/>
          <p:cNvSpPr txBox="1"/>
          <p:nvPr/>
        </p:nvSpPr>
        <p:spPr>
          <a:xfrm>
            <a:off x="12207240" y="4279392"/>
            <a:ext cx="18288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KV 오프로드</a:t>
            </a:r>
          </a:p>
        </p:txBody>
      </p:sp>
      <p:sp>
        <p:nvSpPr>
          <p:cNvPr id="246" name="Rectangle 245"/>
          <p:cNvSpPr/>
          <p:nvPr/>
        </p:nvSpPr>
        <p:spPr>
          <a:xfrm>
            <a:off x="11878056" y="4599431"/>
            <a:ext cx="274320" cy="182880"/>
          </a:xfrm>
          <a:prstGeom prst="rect">
            <a:avLst/>
          </a:prstGeom>
          <a:solidFill>
            <a:srgbClr val="BEC4CC"/>
          </a:solidFill>
          <a:ln w="63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TextBox 246"/>
          <p:cNvSpPr txBox="1"/>
          <p:nvPr/>
        </p:nvSpPr>
        <p:spPr>
          <a:xfrm>
            <a:off x="12207240" y="4553712"/>
            <a:ext cx="18288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초고DWPD KV</a:t>
            </a:r>
          </a:p>
        </p:txBody>
      </p:sp>
      <p:grpSp>
        <p:nvGrpSpPr>
          <p:cNvPr id="248" name="Group 247"/>
          <p:cNvGrpSpPr/>
          <p:nvPr/>
        </p:nvGrpSpPr>
        <p:grpSpPr>
          <a:xfrm>
            <a:off x="8769096" y="4005072"/>
            <a:ext cx="8823960" cy="5358384"/>
            <a:chOff x="8769096" y="4005072"/>
            <a:chExt cx="8823960" cy="5358384"/>
          </a:xfrm>
        </p:grpSpPr>
        <p:pic>
          <p:nvPicPr>
            <p:cNvPr id="192" name="Picture 191" descr="portfolio_3d_qlc.png"/>
            <p:cNvPicPr>
              <a:picLocks noChangeAspect="1"/>
            </p:cNvPicPr>
            <p:nvPr/>
          </p:nvPicPr>
          <p:blipFill>
            <a:blip r:embed="rId4"/>
            <a:stretch>
              <a:fillRect/>
            </a:stretch>
          </p:blipFill>
          <p:spPr>
            <a:xfrm>
              <a:off x="8769096" y="4041648"/>
              <a:ext cx="6303421" cy="5321808"/>
            </a:xfrm>
            <a:prstGeom prst="rect">
              <a:avLst/>
            </a:prstGeom>
          </p:spPr>
        </p:pic>
        <p:sp>
          <p:nvSpPr>
            <p:cNvPr id="203" name="TextBox 202"/>
            <p:cNvSpPr txBox="1"/>
            <p:nvPr/>
          </p:nvSpPr>
          <p:spPr>
            <a:xfrm>
              <a:off x="15462504" y="4773168"/>
              <a:ext cx="2048256" cy="256032"/>
            </a:xfrm>
            <a:prstGeom prst="rect">
              <a:avLst/>
            </a:prstGeom>
            <a:noFill/>
          </p:spPr>
          <p:txBody>
            <a:bodyPr wrap="square" anchor="ctr" lIns="0" rIns="0" tIns="0" bIns="0">
              <a:spAutoFit/>
            </a:bodyPr>
            <a:lstStyle/>
            <a:p>
              <a:pPr algn="l">
                <a:lnSpc>
                  <a:spcPct val="110000"/>
                </a:lnSpc>
              </a:pPr>
              <a:r>
                <a:rPr sz="1600" b="1">
                  <a:solidFill>
                    <a:srgbClr val="009E73"/>
                  </a:solidFill>
                  <a:latin typeface="Arial"/>
                  <a:ea typeface="Arial"/>
                </a:rPr>
                <a:t>0.3 → 1 DWPD</a:t>
              </a:r>
            </a:p>
          </p:txBody>
        </p:sp>
        <p:sp>
          <p:nvSpPr>
            <p:cNvPr id="204" name="TextBox 203"/>
            <p:cNvSpPr txBox="1"/>
            <p:nvPr/>
          </p:nvSpPr>
          <p:spPr>
            <a:xfrm>
              <a:off x="15462504" y="4992624"/>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KV 오프로드 진입</a:t>
              </a:r>
            </a:p>
          </p:txBody>
        </p:sp>
        <p:sp>
          <p:nvSpPr>
            <p:cNvPr id="205" name="Rounded Rectangle 204"/>
            <p:cNvSpPr/>
            <p:nvPr/>
          </p:nvSpPr>
          <p:spPr>
            <a:xfrm>
              <a:off x="15252192" y="4005072"/>
              <a:ext cx="2340864" cy="1321308"/>
            </a:xfrm>
            <a:prstGeom prst="roundRect">
              <a:avLst>
                <a:gd name="adj" fmla="val 5536"/>
              </a:avLst>
            </a:prstGeom>
            <a:noFill/>
            <a:ln w="31750">
              <a:solidFill>
                <a:srgbClr val="009E7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3" name="Picture 192" descr="portfolio_3d_tlc.png"/>
            <p:cNvPicPr>
              <a:picLocks noChangeAspect="1"/>
            </p:cNvPicPr>
            <p:nvPr/>
          </p:nvPicPr>
          <p:blipFill>
            <a:blip r:embed="rId5"/>
            <a:stretch>
              <a:fillRect/>
            </a:stretch>
          </p:blipFill>
          <p:spPr>
            <a:xfrm>
              <a:off x="8769096" y="4041648"/>
              <a:ext cx="6303421" cy="5321808"/>
            </a:xfrm>
            <a:prstGeom prst="rect">
              <a:avLst/>
            </a:prstGeom>
          </p:spPr>
        </p:pic>
        <p:sp>
          <p:nvSpPr>
            <p:cNvPr id="214" name="TextBox 213"/>
            <p:cNvSpPr txBox="1"/>
            <p:nvPr/>
          </p:nvSpPr>
          <p:spPr>
            <a:xfrm>
              <a:off x="15462504" y="6112764"/>
              <a:ext cx="2048256" cy="256032"/>
            </a:xfrm>
            <a:prstGeom prst="rect">
              <a:avLst/>
            </a:prstGeom>
            <a:noFill/>
          </p:spPr>
          <p:txBody>
            <a:bodyPr wrap="square" anchor="ctr" lIns="0" rIns="0" tIns="0" bIns="0">
              <a:spAutoFit/>
            </a:bodyPr>
            <a:lstStyle/>
            <a:p>
              <a:pPr algn="l">
                <a:lnSpc>
                  <a:spcPct val="110000"/>
                </a:lnSpc>
              </a:pPr>
              <a:r>
                <a:rPr sz="1600" b="1">
                  <a:solidFill>
                    <a:srgbClr val="0072B2"/>
                  </a:solidFill>
                  <a:latin typeface="Arial"/>
                  <a:ea typeface="Arial"/>
                </a:rPr>
                <a:t>1 → 3 DWPD</a:t>
              </a:r>
            </a:p>
          </p:txBody>
        </p:sp>
        <p:sp>
          <p:nvSpPr>
            <p:cNvPr id="215" name="TextBox 214"/>
            <p:cNvSpPr txBox="1"/>
            <p:nvPr/>
          </p:nvSpPr>
          <p:spPr>
            <a:xfrm>
              <a:off x="15462504" y="6332220"/>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쓰기 많은 KV</a:t>
              </a:r>
            </a:p>
          </p:txBody>
        </p:sp>
        <p:sp>
          <p:nvSpPr>
            <p:cNvPr id="216" name="Rounded Rectangle 215"/>
            <p:cNvSpPr/>
            <p:nvPr/>
          </p:nvSpPr>
          <p:spPr>
            <a:xfrm>
              <a:off x="15252192" y="5344668"/>
              <a:ext cx="2340864" cy="1321308"/>
            </a:xfrm>
            <a:prstGeom prst="roundRect">
              <a:avLst>
                <a:gd name="adj" fmla="val 5536"/>
              </a:avLst>
            </a:prstGeom>
            <a:noFill/>
            <a:ln w="31750">
              <a:solidFill>
                <a:srgbClr val="0072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4" name="Picture 193" descr="portfolio_3d_hetlc.png"/>
            <p:cNvPicPr>
              <a:picLocks noChangeAspect="1"/>
            </p:cNvPicPr>
            <p:nvPr/>
          </p:nvPicPr>
          <p:blipFill>
            <a:blip r:embed="rId6"/>
            <a:stretch>
              <a:fillRect/>
            </a:stretch>
          </p:blipFill>
          <p:spPr>
            <a:xfrm>
              <a:off x="8769096" y="4041648"/>
              <a:ext cx="6303421" cy="5321808"/>
            </a:xfrm>
            <a:prstGeom prst="rect">
              <a:avLst/>
            </a:prstGeom>
          </p:spPr>
        </p:pic>
        <p:sp>
          <p:nvSpPr>
            <p:cNvPr id="225" name="TextBox 224"/>
            <p:cNvSpPr txBox="1"/>
            <p:nvPr/>
          </p:nvSpPr>
          <p:spPr>
            <a:xfrm>
              <a:off x="15462504" y="7452360"/>
              <a:ext cx="2048256" cy="256032"/>
            </a:xfrm>
            <a:prstGeom prst="rect">
              <a:avLst/>
            </a:prstGeom>
            <a:noFill/>
          </p:spPr>
          <p:txBody>
            <a:bodyPr wrap="square" anchor="ctr" lIns="0" rIns="0" tIns="0" bIns="0">
              <a:spAutoFit/>
            </a:bodyPr>
            <a:lstStyle/>
            <a:p>
              <a:pPr algn="l">
                <a:lnSpc>
                  <a:spcPct val="110000"/>
                </a:lnSpc>
              </a:pPr>
              <a:r>
                <a:rPr sz="1600" b="1">
                  <a:solidFill>
                    <a:srgbClr val="E69F00"/>
                  </a:solidFill>
                  <a:latin typeface="Arial"/>
                  <a:ea typeface="Arial"/>
                </a:rPr>
                <a:t>3 → 9 DWPD</a:t>
              </a:r>
            </a:p>
          </p:txBody>
        </p:sp>
        <p:sp>
          <p:nvSpPr>
            <p:cNvPr id="226" name="TextBox 225"/>
            <p:cNvSpPr txBox="1"/>
            <p:nvPr/>
          </p:nvSpPr>
          <p:spPr>
            <a:xfrm>
              <a:off x="15462504" y="7671816"/>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초고DWPD 입구</a:t>
              </a:r>
            </a:p>
          </p:txBody>
        </p:sp>
        <p:sp>
          <p:nvSpPr>
            <p:cNvPr id="227" name="Rounded Rectangle 226"/>
            <p:cNvSpPr/>
            <p:nvPr/>
          </p:nvSpPr>
          <p:spPr>
            <a:xfrm>
              <a:off x="15252192" y="6684264"/>
              <a:ext cx="2340864" cy="1321308"/>
            </a:xfrm>
            <a:prstGeom prst="roundRect">
              <a:avLst>
                <a:gd name="adj" fmla="val 5536"/>
              </a:avLst>
            </a:prstGeom>
            <a:noFill/>
            <a:ln w="3175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5" name="Picture 194" descr="portfolio_3d_slc.png"/>
            <p:cNvPicPr>
              <a:picLocks noChangeAspect="1"/>
            </p:cNvPicPr>
            <p:nvPr/>
          </p:nvPicPr>
          <p:blipFill>
            <a:blip r:embed="rId7"/>
            <a:stretch>
              <a:fillRect/>
            </a:stretch>
          </p:blipFill>
          <p:spPr>
            <a:xfrm>
              <a:off x="8769096" y="4041648"/>
              <a:ext cx="6303421" cy="5321808"/>
            </a:xfrm>
            <a:prstGeom prst="rect">
              <a:avLst/>
            </a:prstGeom>
          </p:spPr>
        </p:pic>
        <p:sp>
          <p:nvSpPr>
            <p:cNvPr id="236" name="TextBox 235"/>
            <p:cNvSpPr txBox="1"/>
            <p:nvPr/>
          </p:nvSpPr>
          <p:spPr>
            <a:xfrm>
              <a:off x="15462504" y="8791956"/>
              <a:ext cx="2048256" cy="256032"/>
            </a:xfrm>
            <a:prstGeom prst="rect">
              <a:avLst/>
            </a:prstGeom>
            <a:noFill/>
          </p:spPr>
          <p:txBody>
            <a:bodyPr wrap="square" anchor="ctr" lIns="0" rIns="0" tIns="0" bIns="0">
              <a:spAutoFit/>
            </a:bodyPr>
            <a:lstStyle/>
            <a:p>
              <a:pPr algn="l">
                <a:lnSpc>
                  <a:spcPct val="110000"/>
                </a:lnSpc>
              </a:pPr>
              <a:r>
                <a:rPr sz="1600" b="1">
                  <a:solidFill>
                    <a:srgbClr val="CC79A7"/>
                  </a:solidFill>
                  <a:latin typeface="Arial"/>
                  <a:ea typeface="Arial"/>
                </a:rPr>
                <a:t>30 → 100 DWPD</a:t>
              </a:r>
            </a:p>
          </p:txBody>
        </p:sp>
        <p:sp>
          <p:nvSpPr>
            <p:cNvPr id="237" name="TextBox 236"/>
            <p:cNvSpPr txBox="1"/>
            <p:nvPr/>
          </p:nvSpPr>
          <p:spPr>
            <a:xfrm>
              <a:off x="15462504" y="9011412"/>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초고DWPD KV (공백)</a:t>
              </a:r>
            </a:p>
          </p:txBody>
        </p:sp>
        <p:sp>
          <p:nvSpPr>
            <p:cNvPr id="238" name="Rounded Rectangle 237"/>
            <p:cNvSpPr/>
            <p:nvPr/>
          </p:nvSpPr>
          <p:spPr>
            <a:xfrm>
              <a:off x="15252192" y="8023860"/>
              <a:ext cx="2340864" cy="1321308"/>
            </a:xfrm>
            <a:prstGeom prst="roundRect">
              <a:avLst>
                <a:gd name="adj" fmla="val 5536"/>
              </a:avLst>
            </a:prstGeom>
            <a:noFill/>
            <a:ln w="31750">
              <a:solidFill>
                <a:srgbClr val="CC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206" name="Oval 205"/>
          <p:cNvSpPr/>
          <p:nvPr/>
        </p:nvSpPr>
        <p:spPr>
          <a:xfrm>
            <a:off x="10710832" y="5223134"/>
            <a:ext cx="347472" cy="347472"/>
          </a:xfrm>
          <a:prstGeom prst="ellipse">
            <a:avLst/>
          </a:prstGeom>
          <a:solidFill>
            <a:srgbClr val="009E7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TextBox 206"/>
          <p:cNvSpPr txBox="1"/>
          <p:nvPr/>
        </p:nvSpPr>
        <p:spPr>
          <a:xfrm>
            <a:off x="10710832" y="5223134"/>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217" name="Oval 216"/>
          <p:cNvSpPr/>
          <p:nvPr/>
        </p:nvSpPr>
        <p:spPr>
          <a:xfrm>
            <a:off x="11015097" y="5605063"/>
            <a:ext cx="347472" cy="347472"/>
          </a:xfrm>
          <a:prstGeom prst="ellipse">
            <a:avLst/>
          </a:prstGeom>
          <a:solidFill>
            <a:srgbClr val="0072B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TextBox 217"/>
          <p:cNvSpPr txBox="1"/>
          <p:nvPr/>
        </p:nvSpPr>
        <p:spPr>
          <a:xfrm>
            <a:off x="11015097" y="5605063"/>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228" name="Oval 227"/>
          <p:cNvSpPr/>
          <p:nvPr/>
        </p:nvSpPr>
        <p:spPr>
          <a:xfrm>
            <a:off x="11326206" y="6233717"/>
            <a:ext cx="347472" cy="347472"/>
          </a:xfrm>
          <a:prstGeom prst="ellipse">
            <a:avLst/>
          </a:prstGeom>
          <a:solidFill>
            <a:srgbClr val="E69F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TextBox 228"/>
          <p:cNvSpPr txBox="1"/>
          <p:nvPr/>
        </p:nvSpPr>
        <p:spPr>
          <a:xfrm>
            <a:off x="11326206" y="6233717"/>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239" name="Oval 238"/>
          <p:cNvSpPr/>
          <p:nvPr/>
        </p:nvSpPr>
        <p:spPr>
          <a:xfrm>
            <a:off x="12352293" y="6901321"/>
            <a:ext cx="347472" cy="347472"/>
          </a:xfrm>
          <a:prstGeom prst="ellipse">
            <a:avLst/>
          </a:prstGeom>
          <a:solidFill>
            <a:srgbClr val="CC79A7"/>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TextBox 239"/>
          <p:cNvSpPr txBox="1"/>
          <p:nvPr/>
        </p:nvSpPr>
        <p:spPr>
          <a:xfrm>
            <a:off x="12352293" y="6901321"/>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4</a:t>
            </a:r>
          </a:p>
        </p:txBody>
      </p:sp>
      <p:sp>
        <p:nvSpPr>
          <p:cNvPr id="249" name="TextBox 248"/>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WAF 3.22 → 1.03(CacheLib FDP, 삼성 EuroSys'25) · p99.9 −55%(삼성 기술 블로그, PM9D3a 7.68TB RocksDB, TLC) · 공개 실험 테일 1.5~6배 ↓(ZNS · Valet · WALTZ) · DWPD 확장은 WAF 3 → 1 산술(⚠️) · 꼬리 지연 높이는 정성 등급 · 3D 그림은 제품군 구분을 위해 예외 색 · 제품 이미지는 형태 재현</a:t>
            </a:r>
          </a:p>
        </p:txBody>
      </p:sp>
      <p:sp>
        <p:nvSpPr>
          <p:cNvPr id="250" name="TextBox 249"/>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3 / 8</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nodeType="clickEffect">
                                  <p:stCondLst>
                                    <p:cond delay="0"/>
                                  </p:stCondLst>
                                  <p:childTnLst>
                                    <p:set>
                                      <p:cBhvr>
                                        <p:cTn id="7" dur="1" fill="hold">
                                          <p:stCondLst>
                                            <p:cond delay="0"/>
                                          </p:stCondLst>
                                        </p:cTn>
                                        <p:tgtEl>
                                          <p:spTgt spid="248"/>
                                        </p:tgtEl>
                                        <p:attrNameLst>
                                          <p:attrName>style.visibility</p:attrName>
                                        </p:attrNameLst>
                                      </p:cBhvr>
                                      <p:to>
                                        <p:strVal val="visible"/>
                                      </p:to>
                                    </p:set>
                                    <p:animEffect transition="in" filter="fade">
                                      <p:cBhvr>
                                        <p:cTn id="8" dur="500"/>
                                        <p:tgtEl>
                                          <p:spTgt spid="2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5 / 8  참고 · 당위성</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해법의 범위는 NAND에서 SSD로 넓어져 왔고,</a:t>
            </a:r>
          </a:p>
          <a:p>
            <a:pPr algn="l">
              <a:lnSpc>
                <a:spcPct val="105000"/>
              </a:lnSpc>
            </a:pPr>
            <a:r>
              <a:rPr sz="3200" b="1">
                <a:solidFill>
                  <a:srgbClr val="1A1A1A"/>
                </a:solidFill>
                <a:latin typeface="Arial"/>
                <a:ea typeface="Arial"/>
              </a:rPr>
              <a:t>새로 나타난 과제는 고객 시스템까지 넓어져야 풀립니다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212848"/>
            <a:ext cx="507492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2322576"/>
            <a:ext cx="3154679"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NAND → SSD</a:t>
            </a:r>
          </a:p>
          <a:p>
            <a:pPr algn="l">
              <a:lnSpc>
                <a:spcPct val="100000"/>
              </a:lnSpc>
            </a:pPr>
            <a:r>
              <a:rPr sz="1800" b="0">
                <a:solidFill>
                  <a:srgbClr val="555555"/>
                </a:solidFill>
                <a:latin typeface="Arial"/>
                <a:ea typeface="Arial"/>
              </a:rPr>
              <a:t>1991~</a:t>
            </a:r>
          </a:p>
        </p:txBody>
      </p:sp>
      <p:sp>
        <p:nvSpPr>
          <p:cNvPr id="8" name="Rounded Rectangle 7"/>
          <p:cNvSpPr/>
          <p:nvPr/>
        </p:nvSpPr>
        <p:spPr>
          <a:xfrm>
            <a:off x="4242816" y="2395728"/>
            <a:ext cx="1280160" cy="402336"/>
          </a:xfrm>
          <a:prstGeom prst="roundRect">
            <a:avLst>
              <a:gd name="adj" fmla="val 18181"/>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79" y="2395728"/>
            <a:ext cx="1170431" cy="40233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완결</a:t>
            </a:r>
          </a:p>
        </p:txBody>
      </p:sp>
      <p:pic>
        <p:nvPicPr>
          <p:cNvPr id="10" name="Picture 9" descr="render_nand.png"/>
          <p:cNvPicPr>
            <a:picLocks noChangeAspect="1"/>
          </p:cNvPicPr>
          <p:nvPr/>
        </p:nvPicPr>
        <p:blipFill>
          <a:blip r:embed="rId2"/>
          <a:stretch>
            <a:fillRect/>
          </a:stretch>
        </p:blipFill>
        <p:spPr>
          <a:xfrm>
            <a:off x="1132894" y="3145536"/>
            <a:ext cx="916323" cy="676656"/>
          </a:xfrm>
          <a:prstGeom prst="rect">
            <a:avLst/>
          </a:prstGeom>
        </p:spPr>
      </p:pic>
      <p:sp>
        <p:nvSpPr>
          <p:cNvPr id="11" name="Right Arrow 10"/>
          <p:cNvSpPr/>
          <p:nvPr/>
        </p:nvSpPr>
        <p:spPr>
          <a:xfrm>
            <a:off x="2240280" y="3374136"/>
            <a:ext cx="420624" cy="219456"/>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nder_ssd.png"/>
          <p:cNvPicPr>
            <a:picLocks noChangeAspect="1"/>
          </p:cNvPicPr>
          <p:nvPr/>
        </p:nvPicPr>
        <p:blipFill>
          <a:blip r:embed="rId3"/>
          <a:stretch>
            <a:fillRect/>
          </a:stretch>
        </p:blipFill>
        <p:spPr>
          <a:xfrm>
            <a:off x="2901799" y="3145536"/>
            <a:ext cx="1822496" cy="676656"/>
          </a:xfrm>
          <a:prstGeom prst="rect">
            <a:avLst/>
          </a:prstGeom>
        </p:spPr>
      </p:pic>
      <p:sp>
        <p:nvSpPr>
          <p:cNvPr id="13" name="TextBox 12"/>
          <p:cNvSpPr txBox="1"/>
          <p:nvPr/>
        </p:nvSpPr>
        <p:spPr>
          <a:xfrm>
            <a:off x="996696" y="3986784"/>
            <a:ext cx="4526280" cy="640080"/>
          </a:xfrm>
          <a:prstGeom prst="rect">
            <a:avLst/>
          </a:prstGeom>
          <a:noFill/>
        </p:spPr>
        <p:txBody>
          <a:bodyPr wrap="square" anchor="ctr" lIns="0" rIns="0" tIns="0" bIns="0">
            <a:spAutoFit/>
          </a:bodyPr>
          <a:lstStyle/>
          <a:p>
            <a:pPr algn="l">
              <a:lnSpc>
                <a:spcPct val="110000"/>
              </a:lnSpc>
            </a:pPr>
            <a:r>
              <a:rPr sz="3600" b="1">
                <a:solidFill>
                  <a:srgbClr val="1A1A1A"/>
                </a:solidFill>
                <a:latin typeface="Arial"/>
                <a:ea typeface="Arial"/>
              </a:rPr>
              <a:t>ECC 약 60배</a:t>
            </a:r>
          </a:p>
        </p:txBody>
      </p:sp>
      <p:sp>
        <p:nvSpPr>
          <p:cNvPr id="14" name="TextBox 13"/>
          <p:cNvSpPr txBox="1"/>
          <p:nvPr/>
        </p:nvSpPr>
        <p:spPr>
          <a:xfrm>
            <a:off x="996696" y="4626864"/>
            <a:ext cx="4526280"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셀 오류 약 100만 배를 흡수</a:t>
            </a:r>
          </a:p>
        </p:txBody>
      </p:sp>
      <p:sp>
        <p:nvSpPr>
          <p:cNvPr id="15" name="Rounded Rectangle 14"/>
          <p:cNvSpPr/>
          <p:nvPr/>
        </p:nvSpPr>
        <p:spPr>
          <a:xfrm>
            <a:off x="5980176" y="2212848"/>
            <a:ext cx="539496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54496" y="2322576"/>
            <a:ext cx="3474720"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SSD 혼자 최적화</a:t>
            </a:r>
          </a:p>
          <a:p>
            <a:pPr algn="l">
              <a:lnSpc>
                <a:spcPct val="100000"/>
              </a:lnSpc>
            </a:pPr>
            <a:r>
              <a:rPr sz="1800" b="0">
                <a:solidFill>
                  <a:srgbClr val="555555"/>
                </a:solidFill>
                <a:latin typeface="Arial"/>
                <a:ea typeface="Arial"/>
              </a:rPr>
              <a:t>2014~2019</a:t>
            </a:r>
          </a:p>
        </p:txBody>
      </p:sp>
      <p:sp>
        <p:nvSpPr>
          <p:cNvPr id="17" name="Rounded Rectangle 16"/>
          <p:cNvSpPr/>
          <p:nvPr/>
        </p:nvSpPr>
        <p:spPr>
          <a:xfrm>
            <a:off x="9820656" y="2395728"/>
            <a:ext cx="1280160" cy="402336"/>
          </a:xfrm>
          <a:prstGeom prst="roundRect">
            <a:avLst>
              <a:gd name="adj" fmla="val 18181"/>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0" y="2395728"/>
            <a:ext cx="1170431" cy="402336"/>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부분 성공</a:t>
            </a:r>
          </a:p>
        </p:txBody>
      </p:sp>
      <p:pic>
        <p:nvPicPr>
          <p:cNvPr id="19" name="Picture 18" descr="render_ssd.png"/>
          <p:cNvPicPr>
            <a:picLocks noChangeAspect="1"/>
          </p:cNvPicPr>
          <p:nvPr/>
        </p:nvPicPr>
        <p:blipFill>
          <a:blip r:embed="rId3"/>
          <a:stretch>
            <a:fillRect/>
          </a:stretch>
        </p:blipFill>
        <p:spPr>
          <a:xfrm>
            <a:off x="6366642" y="3127248"/>
            <a:ext cx="1970266" cy="731520"/>
          </a:xfrm>
          <a:prstGeom prst="rect">
            <a:avLst/>
          </a:prstGeom>
        </p:spPr>
      </p:pic>
      <p:sp>
        <p:nvSpPr>
          <p:cNvPr id="20" name="TextBox 19"/>
          <p:cNvSpPr txBox="1"/>
          <p:nvPr/>
        </p:nvSpPr>
        <p:spPr>
          <a:xfrm>
            <a:off x="6254496" y="4005072"/>
            <a:ext cx="2395728" cy="640080"/>
          </a:xfrm>
          <a:prstGeom prst="rect">
            <a:avLst/>
          </a:prstGeom>
          <a:noFill/>
        </p:spPr>
        <p:txBody>
          <a:bodyPr wrap="square" anchor="ctr" lIns="0" rIns="0" tIns="0" bIns="0">
            <a:spAutoFit/>
          </a:bodyPr>
          <a:lstStyle/>
          <a:p>
            <a:pPr algn="l">
              <a:lnSpc>
                <a:spcPct val="110000"/>
              </a:lnSpc>
            </a:pPr>
            <a:r>
              <a:rPr sz="3600" b="1">
                <a:solidFill>
                  <a:srgbClr val="555555"/>
                </a:solidFill>
                <a:latin typeface="Arial"/>
                <a:ea typeface="Arial"/>
              </a:rPr>
              <a:t>WAF ≈ 3</a:t>
            </a:r>
          </a:p>
        </p:txBody>
      </p:sp>
      <p:sp>
        <p:nvSpPr>
          <p:cNvPr id="21" name="TextBox 20"/>
          <p:cNvSpPr txBox="1"/>
          <p:nvPr/>
        </p:nvSpPr>
        <p:spPr>
          <a:xfrm>
            <a:off x="6254496" y="4645152"/>
            <a:ext cx="2395728"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수명을 추정만 했다</a:t>
            </a:r>
          </a:p>
        </p:txBody>
      </p:sp>
      <p:sp>
        <p:nvSpPr>
          <p:cNvPr id="22" name="Rounded Rectangle 21"/>
          <p:cNvSpPr/>
          <p:nvPr/>
        </p:nvSpPr>
        <p:spPr>
          <a:xfrm>
            <a:off x="11558016" y="2212848"/>
            <a:ext cx="6007608" cy="6382512"/>
          </a:xfrm>
          <a:prstGeom prst="roundRect">
            <a:avLst>
              <a:gd name="adj" fmla="val 121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832336" y="2322576"/>
            <a:ext cx="4087368" cy="786384"/>
          </a:xfrm>
          <a:prstGeom prst="rect">
            <a:avLst/>
          </a:prstGeom>
          <a:noFill/>
        </p:spPr>
        <p:txBody>
          <a:bodyPr wrap="square" anchor="t" lIns="0" rIns="0" tIns="0" bIns="0">
            <a:spAutoFit/>
          </a:bodyPr>
          <a:lstStyle/>
          <a:p>
            <a:pPr algn="l">
              <a:lnSpc>
                <a:spcPct val="100000"/>
              </a:lnSpc>
            </a:pPr>
            <a:r>
              <a:rPr sz="2400" b="1">
                <a:solidFill>
                  <a:srgbClr val="FFFFFF"/>
                </a:solidFill>
                <a:latin typeface="Arial"/>
                <a:ea typeface="Arial"/>
              </a:rPr>
              <a:t>고객 시스템과 공동 설계</a:t>
            </a:r>
          </a:p>
          <a:p>
            <a:pPr algn="l">
              <a:lnSpc>
                <a:spcPct val="100000"/>
              </a:lnSpc>
            </a:pPr>
            <a:r>
              <a:rPr sz="1800" b="0">
                <a:solidFill>
                  <a:srgbClr val="C0CAEC"/>
                </a:solidFill>
                <a:latin typeface="Arial"/>
                <a:ea typeface="Arial"/>
              </a:rPr>
              <a:t>2022~</a:t>
            </a:r>
          </a:p>
        </p:txBody>
      </p:sp>
      <p:sp>
        <p:nvSpPr>
          <p:cNvPr id="24" name="Rounded Rectangle 23"/>
          <p:cNvSpPr/>
          <p:nvPr/>
        </p:nvSpPr>
        <p:spPr>
          <a:xfrm>
            <a:off x="16011144" y="2395728"/>
            <a:ext cx="128016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066008" y="2395728"/>
            <a:ext cx="1170431" cy="402336"/>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다음 칸</a:t>
            </a:r>
          </a:p>
        </p:txBody>
      </p:sp>
      <p:pic>
        <p:nvPicPr>
          <p:cNvPr id="26" name="Picture 25" descr="render_server.png"/>
          <p:cNvPicPr>
            <a:picLocks noChangeAspect="1"/>
          </p:cNvPicPr>
          <p:nvPr/>
        </p:nvPicPr>
        <p:blipFill>
          <a:blip r:embed="rId4"/>
          <a:stretch>
            <a:fillRect/>
          </a:stretch>
        </p:blipFill>
        <p:spPr>
          <a:xfrm>
            <a:off x="11976732" y="3145536"/>
            <a:ext cx="1631448" cy="960120"/>
          </a:xfrm>
          <a:prstGeom prst="rect">
            <a:avLst/>
          </a:prstGeom>
        </p:spPr>
      </p:pic>
      <p:pic>
        <p:nvPicPr>
          <p:cNvPr id="27" name="Picture 26" descr="render_ssd.png"/>
          <p:cNvPicPr>
            <a:picLocks noChangeAspect="1"/>
          </p:cNvPicPr>
          <p:nvPr/>
        </p:nvPicPr>
        <p:blipFill>
          <a:blip r:embed="rId3"/>
          <a:stretch>
            <a:fillRect/>
          </a:stretch>
        </p:blipFill>
        <p:spPr>
          <a:xfrm>
            <a:off x="13844016" y="3361195"/>
            <a:ext cx="1645920" cy="611096"/>
          </a:xfrm>
          <a:prstGeom prst="rect">
            <a:avLst/>
          </a:prstGeom>
        </p:spPr>
      </p:pic>
      <p:sp>
        <p:nvSpPr>
          <p:cNvPr id="28" name="TextBox 27"/>
          <p:cNvSpPr txBox="1"/>
          <p:nvPr/>
        </p:nvSpPr>
        <p:spPr>
          <a:xfrm>
            <a:off x="11832336" y="4169664"/>
            <a:ext cx="5458968" cy="640080"/>
          </a:xfrm>
          <a:prstGeom prst="rect">
            <a:avLst/>
          </a:prstGeom>
          <a:noFill/>
        </p:spPr>
        <p:txBody>
          <a:bodyPr wrap="square" anchor="ctr" lIns="0" rIns="0" tIns="0" bIns="0">
            <a:spAutoFit/>
          </a:bodyPr>
          <a:lstStyle/>
          <a:p>
            <a:pPr algn="l">
              <a:lnSpc>
                <a:spcPct val="110000"/>
              </a:lnSpc>
            </a:pPr>
            <a:r>
              <a:rPr sz="4000" b="1">
                <a:solidFill>
                  <a:srgbClr val="FFFFFF"/>
                </a:solidFill>
                <a:latin typeface="Arial"/>
                <a:ea typeface="Arial"/>
              </a:rPr>
              <a:t>WAF 3.22 → 1.03</a:t>
            </a:r>
          </a:p>
        </p:txBody>
      </p:sp>
      <p:sp>
        <p:nvSpPr>
          <p:cNvPr id="29" name="TextBox 28"/>
          <p:cNvSpPr txBox="1"/>
          <p:nvPr/>
        </p:nvSpPr>
        <p:spPr>
          <a:xfrm>
            <a:off x="11832336" y="4809744"/>
            <a:ext cx="5458968" cy="347472"/>
          </a:xfrm>
          <a:prstGeom prst="rect">
            <a:avLst/>
          </a:prstGeom>
          <a:noFill/>
        </p:spPr>
        <p:txBody>
          <a:bodyPr wrap="square" anchor="t" lIns="0" rIns="0" tIns="0" bIns="0">
            <a:spAutoFit/>
          </a:bodyPr>
          <a:lstStyle/>
          <a:p>
            <a:pPr algn="l">
              <a:lnSpc>
                <a:spcPct val="110000"/>
              </a:lnSpc>
            </a:pPr>
            <a:r>
              <a:rPr sz="1800" b="0">
                <a:solidFill>
                  <a:srgbClr val="FFFFFF"/>
                </a:solidFill>
                <a:latin typeface="Arial"/>
                <a:ea typeface="Arial"/>
              </a:rPr>
              <a:t>수명은 고객 시스템만 안다</a:t>
            </a:r>
          </a:p>
        </p:txBody>
      </p:sp>
      <p:sp>
        <p:nvSpPr>
          <p:cNvPr id="30" name="TextBox 29"/>
          <p:cNvSpPr txBox="1"/>
          <p:nvPr/>
        </p:nvSpPr>
        <p:spPr>
          <a:xfrm>
            <a:off x="8741664" y="2834640"/>
            <a:ext cx="237744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내부 기술 스택</a:t>
            </a:r>
          </a:p>
        </p:txBody>
      </p:sp>
      <p:sp>
        <p:nvSpPr>
          <p:cNvPr id="31" name="Rounded Rectangle 30"/>
          <p:cNvSpPr/>
          <p:nvPr/>
        </p:nvSpPr>
        <p:spPr>
          <a:xfrm>
            <a:off x="8741664" y="3182112"/>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0" y="3182112"/>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핫 · 콜드 추정</a:t>
            </a:r>
          </a:p>
        </p:txBody>
      </p:sp>
      <p:sp>
        <p:nvSpPr>
          <p:cNvPr id="33" name="Rounded Rectangle 32"/>
          <p:cNvSpPr/>
          <p:nvPr/>
        </p:nvSpPr>
        <p:spPr>
          <a:xfrm>
            <a:off x="8741664" y="3575304"/>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869680" y="3575304"/>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스트림 분리</a:t>
            </a:r>
          </a:p>
        </p:txBody>
      </p:sp>
      <p:sp>
        <p:nvSpPr>
          <p:cNvPr id="35" name="Rounded Rectangle 34"/>
          <p:cNvSpPr/>
          <p:nvPr/>
        </p:nvSpPr>
        <p:spPr>
          <a:xfrm>
            <a:off x="8741664" y="3968496"/>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69680" y="3968496"/>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IO 결정성</a:t>
            </a:r>
          </a:p>
        </p:txBody>
      </p:sp>
      <p:sp>
        <p:nvSpPr>
          <p:cNvPr id="37" name="Rounded Rectangle 36"/>
          <p:cNvSpPr/>
          <p:nvPr/>
        </p:nvSpPr>
        <p:spPr>
          <a:xfrm>
            <a:off x="8741664" y="4361688"/>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0" y="4361688"/>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GC · 웨어 레벨링</a:t>
            </a:r>
          </a:p>
        </p:txBody>
      </p:sp>
      <p:sp>
        <p:nvSpPr>
          <p:cNvPr id="39" name="Rounded Rectangle 38"/>
          <p:cNvSpPr/>
          <p:nvPr/>
        </p:nvSpPr>
        <p:spPr>
          <a:xfrm>
            <a:off x="8741664" y="4754880"/>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69680" y="4754880"/>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FTL · ECC</a:t>
            </a:r>
          </a:p>
        </p:txBody>
      </p:sp>
      <p:sp>
        <p:nvSpPr>
          <p:cNvPr id="41" name="TextBox 40"/>
          <p:cNvSpPr txBox="1"/>
          <p:nvPr/>
        </p:nvSpPr>
        <p:spPr>
          <a:xfrm>
            <a:off x="722376" y="5413248"/>
            <a:ext cx="5120640"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출시 SSD의 정격 DWPD  </a:t>
            </a:r>
            <a:r>
              <a:rPr sz="1600" b="0">
                <a:solidFill>
                  <a:srgbClr val="555555"/>
                </a:solidFill>
                <a:latin typeface="Arial"/>
                <a:ea typeface="Arial"/>
              </a:rPr>
              <a:t>업체별 대표 제품</a:t>
            </a:r>
          </a:p>
        </p:txBody>
      </p:sp>
      <p:sp>
        <p:nvSpPr>
          <p:cNvPr id="42" name="TextBox 41"/>
          <p:cNvSpPr txBox="1"/>
          <p:nvPr/>
        </p:nvSpPr>
        <p:spPr>
          <a:xfrm>
            <a:off x="5477256" y="5413248"/>
            <a:ext cx="5897880" cy="384048"/>
          </a:xfrm>
          <a:prstGeom prst="rect">
            <a:avLst/>
          </a:prstGeom>
          <a:noFill/>
        </p:spPr>
        <p:txBody>
          <a:bodyPr wrap="square" anchor="ctr" lIns="0" rIns="0" tIns="0" bIns="0">
            <a:spAutoFit/>
          </a:bodyPr>
          <a:lstStyle/>
          <a:p>
            <a:pPr algn="r">
              <a:lnSpc>
                <a:spcPct val="110000"/>
              </a:lnSpc>
            </a:pPr>
            <a:r>
              <a:rPr sz="1800" b="1">
                <a:solidFill>
                  <a:srgbClr val="3C4FA5"/>
                </a:solidFill>
                <a:latin typeface="Arial"/>
                <a:ea typeface="Arial"/>
              </a:rPr>
              <a:t>전체 제품 중앙값 </a:t>
            </a:r>
            <a:r>
              <a:rPr sz="2400" b="1">
                <a:solidFill>
                  <a:srgbClr val="3C4FA5"/>
                </a:solidFill>
                <a:latin typeface="Arial"/>
                <a:ea typeface="Arial"/>
              </a:rPr>
              <a:t>9.6 → 2 → 1</a:t>
            </a:r>
            <a:r>
              <a:rPr sz="1800" b="1">
                <a:solidFill>
                  <a:srgbClr val="3C4FA5"/>
                </a:solidFill>
                <a:latin typeface="Arial"/>
                <a:ea typeface="Arial"/>
              </a:rPr>
              <a:t>   QLC </a:t>
            </a:r>
            <a:r>
              <a:rPr sz="2400" b="1">
                <a:solidFill>
                  <a:srgbClr val="3C4FA5"/>
                </a:solidFill>
                <a:latin typeface="Arial"/>
                <a:ea typeface="Arial"/>
              </a:rPr>
              <a:t>0.2~0.6</a:t>
            </a:r>
          </a:p>
        </p:txBody>
      </p:sp>
      <p:sp>
        <p:nvSpPr>
          <p:cNvPr id="43" name="Oval 42"/>
          <p:cNvSpPr/>
          <p:nvPr/>
        </p:nvSpPr>
        <p:spPr>
          <a:xfrm>
            <a:off x="722376" y="5934456"/>
            <a:ext cx="128016" cy="128016"/>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4400" y="5852160"/>
            <a:ext cx="713232"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삼성</a:t>
            </a:r>
          </a:p>
        </p:txBody>
      </p:sp>
      <p:sp>
        <p:nvSpPr>
          <p:cNvPr id="45" name="Oval 44"/>
          <p:cNvSpPr/>
          <p:nvPr/>
        </p:nvSpPr>
        <p:spPr>
          <a:xfrm>
            <a:off x="1645920" y="5934456"/>
            <a:ext cx="128016" cy="128016"/>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83794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Solidigm · Intel</a:t>
            </a:r>
          </a:p>
        </p:txBody>
      </p:sp>
      <p:sp>
        <p:nvSpPr>
          <p:cNvPr id="47" name="Oval 46"/>
          <p:cNvSpPr/>
          <p:nvPr/>
        </p:nvSpPr>
        <p:spPr>
          <a:xfrm>
            <a:off x="3662172" y="5934456"/>
            <a:ext cx="128016" cy="128016"/>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854196" y="5852160"/>
            <a:ext cx="90525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Micron</a:t>
            </a:r>
          </a:p>
        </p:txBody>
      </p:sp>
      <p:sp>
        <p:nvSpPr>
          <p:cNvPr id="49" name="Oval 48"/>
          <p:cNvSpPr/>
          <p:nvPr/>
        </p:nvSpPr>
        <p:spPr>
          <a:xfrm>
            <a:off x="4777740" y="5934456"/>
            <a:ext cx="128016" cy="128016"/>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6976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Kioxia · Toshiba</a:t>
            </a:r>
          </a:p>
        </p:txBody>
      </p:sp>
      <p:sp>
        <p:nvSpPr>
          <p:cNvPr id="51" name="Oval 50"/>
          <p:cNvSpPr/>
          <p:nvPr/>
        </p:nvSpPr>
        <p:spPr>
          <a:xfrm>
            <a:off x="6793992" y="5934456"/>
            <a:ext cx="128016" cy="128016"/>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986016" y="5852160"/>
            <a:ext cx="106527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SK hynix</a:t>
            </a:r>
          </a:p>
        </p:txBody>
      </p:sp>
      <p:sp>
        <p:nvSpPr>
          <p:cNvPr id="53" name="Oval 52"/>
          <p:cNvSpPr/>
          <p:nvPr/>
        </p:nvSpPr>
        <p:spPr>
          <a:xfrm>
            <a:off x="8069579" y="5934456"/>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61604" y="5852160"/>
            <a:ext cx="138531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WD · SanDisk</a:t>
            </a:r>
          </a:p>
        </p:txBody>
      </p:sp>
      <p:sp>
        <p:nvSpPr>
          <p:cNvPr id="55" name="Oval 54"/>
          <p:cNvSpPr/>
          <p:nvPr/>
        </p:nvSpPr>
        <p:spPr>
          <a:xfrm>
            <a:off x="9756648" y="5934456"/>
            <a:ext cx="128016" cy="128016"/>
          </a:xfrm>
          <a:prstGeom prst="ellipse">
            <a:avLst/>
          </a:prstGeom>
          <a:solidFill>
            <a:srgbClr val="FFFFFF"/>
          </a:solidFill>
          <a:ln w="190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948672" y="5852160"/>
            <a:ext cx="10972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QLC</a:t>
            </a:r>
          </a:p>
        </p:txBody>
      </p:sp>
      <p:sp>
        <p:nvSpPr>
          <p:cNvPr id="57" name="Rectangle 56"/>
          <p:cNvSpPr/>
          <p:nvPr/>
        </p:nvSpPr>
        <p:spPr>
          <a:xfrm>
            <a:off x="1289304" y="8242401"/>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22376" y="8110727"/>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59" name="Rectangle 58"/>
          <p:cNvSpPr/>
          <p:nvPr/>
        </p:nvSpPr>
        <p:spPr>
          <a:xfrm>
            <a:off x="1289304" y="7909559"/>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22376" y="7777886"/>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a:t>
            </a:r>
          </a:p>
        </p:txBody>
      </p:sp>
      <p:sp>
        <p:nvSpPr>
          <p:cNvPr id="61" name="Rectangle 60"/>
          <p:cNvSpPr/>
          <p:nvPr/>
        </p:nvSpPr>
        <p:spPr>
          <a:xfrm>
            <a:off x="1289304" y="7576718"/>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2376" y="7445044"/>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a:t>
            </a:r>
          </a:p>
        </p:txBody>
      </p:sp>
      <p:sp>
        <p:nvSpPr>
          <p:cNvPr id="63" name="Rectangle 62"/>
          <p:cNvSpPr/>
          <p:nvPr/>
        </p:nvSpPr>
        <p:spPr>
          <a:xfrm>
            <a:off x="1289304" y="7243876"/>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22376" y="7112203"/>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6</a:t>
            </a:r>
          </a:p>
        </p:txBody>
      </p:sp>
      <p:sp>
        <p:nvSpPr>
          <p:cNvPr id="65" name="Rectangle 64"/>
          <p:cNvSpPr/>
          <p:nvPr/>
        </p:nvSpPr>
        <p:spPr>
          <a:xfrm>
            <a:off x="1289304" y="6911035"/>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22376" y="6779361"/>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a:t>
            </a:r>
          </a:p>
        </p:txBody>
      </p:sp>
      <p:sp>
        <p:nvSpPr>
          <p:cNvPr id="67" name="Rectangle 66"/>
          <p:cNvSpPr/>
          <p:nvPr/>
        </p:nvSpPr>
        <p:spPr>
          <a:xfrm>
            <a:off x="1289304" y="6578193"/>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22376" y="6446520"/>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10</a:t>
            </a:r>
          </a:p>
        </p:txBody>
      </p:sp>
      <p:sp>
        <p:nvSpPr>
          <p:cNvPr id="69" name="TextBox 68"/>
          <p:cNvSpPr txBox="1"/>
          <p:nvPr/>
        </p:nvSpPr>
        <p:spPr>
          <a:xfrm>
            <a:off x="133773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2011</a:t>
            </a:r>
          </a:p>
        </p:txBody>
      </p:sp>
      <p:sp>
        <p:nvSpPr>
          <p:cNvPr id="70" name="TextBox 69"/>
          <p:cNvSpPr txBox="1"/>
          <p:nvPr/>
        </p:nvSpPr>
        <p:spPr>
          <a:xfrm>
            <a:off x="3180079"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71" name="TextBox 70"/>
          <p:cNvSpPr txBox="1"/>
          <p:nvPr/>
        </p:nvSpPr>
        <p:spPr>
          <a:xfrm>
            <a:off x="502242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2017</a:t>
            </a:r>
          </a:p>
        </p:txBody>
      </p:sp>
      <p:sp>
        <p:nvSpPr>
          <p:cNvPr id="72" name="TextBox 71"/>
          <p:cNvSpPr txBox="1"/>
          <p:nvPr/>
        </p:nvSpPr>
        <p:spPr>
          <a:xfrm>
            <a:off x="686477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73" name="TextBox 72"/>
          <p:cNvSpPr txBox="1"/>
          <p:nvPr/>
        </p:nvSpPr>
        <p:spPr>
          <a:xfrm>
            <a:off x="8707120"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2023</a:t>
            </a:r>
          </a:p>
        </p:txBody>
      </p:sp>
      <p:sp>
        <p:nvSpPr>
          <p:cNvPr id="74" name="TextBox 73"/>
          <p:cNvSpPr txBox="1"/>
          <p:nvPr/>
        </p:nvSpPr>
        <p:spPr>
          <a:xfrm>
            <a:off x="1054946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2026</a:t>
            </a:r>
          </a:p>
        </p:txBody>
      </p:sp>
      <p:sp>
        <p:nvSpPr>
          <p:cNvPr id="75" name="Rounded Rectangle 74"/>
          <p:cNvSpPr/>
          <p:nvPr/>
        </p:nvSpPr>
        <p:spPr>
          <a:xfrm>
            <a:off x="1289304" y="6181344"/>
            <a:ext cx="9948672" cy="292608"/>
          </a:xfrm>
          <a:prstGeom prst="roundRect">
            <a:avLst>
              <a:gd name="adj" fmla="val 2500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417320" y="6181344"/>
            <a:ext cx="5486400" cy="29260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SLC  </a:t>
            </a:r>
            <a:r>
              <a:rPr sz="1600" b="0">
                <a:solidFill>
                  <a:srgbClr val="555555"/>
                </a:solidFill>
                <a:latin typeface="Arial"/>
                <a:ea typeface="Arial"/>
              </a:rPr>
              <a:t>17~100 · 특수 제품, 축 위 생략</a:t>
            </a:r>
          </a:p>
        </p:txBody>
      </p:sp>
      <p:sp>
        <p:nvSpPr>
          <p:cNvPr id="77" name="Rounded Rectangle 76"/>
          <p:cNvSpPr/>
          <p:nvPr/>
        </p:nvSpPr>
        <p:spPr>
          <a:xfrm>
            <a:off x="1504244" y="6508790"/>
            <a:ext cx="2456462" cy="307878"/>
          </a:xfrm>
          <a:prstGeom prst="roundRect">
            <a:avLst>
              <a:gd name="adj" fmla="val 2376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627067" y="6862572"/>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MLC</a:t>
            </a:r>
          </a:p>
        </p:txBody>
      </p:sp>
      <p:sp>
        <p:nvSpPr>
          <p:cNvPr id="79" name="Rounded Rectangle 78"/>
          <p:cNvSpPr/>
          <p:nvPr/>
        </p:nvSpPr>
        <p:spPr>
          <a:xfrm>
            <a:off x="4022118" y="6508790"/>
            <a:ext cx="7123740" cy="1372971"/>
          </a:xfrm>
          <a:prstGeom prst="roundRect">
            <a:avLst>
              <a:gd name="adj" fmla="val 5328"/>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4144941" y="653805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TLC</a:t>
            </a:r>
          </a:p>
        </p:txBody>
      </p:sp>
      <p:sp>
        <p:nvSpPr>
          <p:cNvPr id="81" name="Rounded Rectangle 80"/>
          <p:cNvSpPr/>
          <p:nvPr/>
        </p:nvSpPr>
        <p:spPr>
          <a:xfrm>
            <a:off x="5680230" y="8089788"/>
            <a:ext cx="5465628" cy="174741"/>
          </a:xfrm>
          <a:prstGeom prst="roundRect">
            <a:avLst>
              <a:gd name="adj" fmla="val 41862"/>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820468" y="804083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QLC</a:t>
            </a:r>
          </a:p>
        </p:txBody>
      </p:sp>
      <p:sp>
        <p:nvSpPr>
          <p:cNvPr id="83" name="Right Arrow 82"/>
          <p:cNvSpPr/>
          <p:nvPr/>
        </p:nvSpPr>
        <p:spPr>
          <a:xfrm rot="539959">
            <a:off x="1537427" y="7094829"/>
            <a:ext cx="9575249" cy="475488"/>
          </a:xfrm>
          <a:prstGeom prst="rightArrow">
            <a:avLst>
              <a:gd name="adj1" fmla="val 46000"/>
              <a:gd name="adj2" fmla="val 90000"/>
            </a:avLst>
          </a:prstGeom>
          <a:solidFill>
            <a:srgbClr val="3C4FA5">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111056"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3339287"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5181633" y="7714975"/>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7023980"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252211"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9480442"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5795749" y="816431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7638096" y="8129363"/>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8866327" y="810107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2798865" y="6533388"/>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641212" y="7365492"/>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6483558"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7711789"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8940021"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10168252"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10168252" y="8147669"/>
            <a:ext cx="100584" cy="100584"/>
          </a:xfrm>
          <a:prstGeom prst="ellipse">
            <a:avLst/>
          </a:prstGeom>
          <a:solidFill>
            <a:srgbClr val="FFFFFF"/>
          </a:solidFill>
          <a:ln w="19050">
            <a:solidFill>
              <a:srgbClr val="E39B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2258443"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5329021"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7171368"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8399599"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0241946"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0241946" y="8147669"/>
            <a:ext cx="100584" cy="100584"/>
          </a:xfrm>
          <a:prstGeom prst="ellipse">
            <a:avLst/>
          </a:prstGeom>
          <a:solidFill>
            <a:srgbClr val="FFFFFF"/>
          </a:solidFill>
          <a:ln w="19050">
            <a:solidFill>
              <a:srgbClr val="8B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6630946"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7245062"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1791715"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5476409"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7318755"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9775218"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10389333" y="8139348"/>
            <a:ext cx="100584" cy="100584"/>
          </a:xfrm>
          <a:prstGeom prst="ellipse">
            <a:avLst/>
          </a:prstGeom>
          <a:solidFill>
            <a:srgbClr val="FFFFFF"/>
          </a:solidFill>
          <a:ln w="190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2037362" y="6533388"/>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265593" y="6533388"/>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3879708" y="7365492"/>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5107940" y="7365492"/>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6336171" y="7698333"/>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8178517" y="7698333"/>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9406748" y="7698333"/>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6950286" y="8167640"/>
            <a:ext cx="100584" cy="100584"/>
          </a:xfrm>
          <a:prstGeom prst="ellipse">
            <a:avLst/>
          </a:prstGeom>
          <a:solidFill>
            <a:srgbClr val="FFFFFF"/>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9406748" y="8154326"/>
            <a:ext cx="100584" cy="100584"/>
          </a:xfrm>
          <a:prstGeom prst="ellipse">
            <a:avLst/>
          </a:prstGeom>
          <a:solidFill>
            <a:srgbClr val="FFFFFF"/>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1795760" y="5340096"/>
            <a:ext cx="5532120" cy="3090672"/>
          </a:xfrm>
          <a:prstGeom prst="roundRect">
            <a:avLst>
              <a:gd name="adj" fmla="val 23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11996928" y="5449824"/>
            <a:ext cx="5129784"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주요 DC 기업은 이미 SSD를 직접 설계</a:t>
            </a:r>
          </a:p>
        </p:txBody>
      </p:sp>
      <p:sp>
        <p:nvSpPr>
          <p:cNvPr id="124" name="Rectangle 123"/>
          <p:cNvSpPr/>
          <p:nvPr/>
        </p:nvSpPr>
        <p:spPr>
          <a:xfrm>
            <a:off x="13345667"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3030200"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126" name="Rectangle 125"/>
          <p:cNvSpPr/>
          <p:nvPr/>
        </p:nvSpPr>
        <p:spPr>
          <a:xfrm>
            <a:off x="15233904"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4918436"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128" name="Rectangle 127"/>
          <p:cNvSpPr/>
          <p:nvPr/>
        </p:nvSpPr>
        <p:spPr>
          <a:xfrm>
            <a:off x="17122140"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6486632" y="7863840"/>
            <a:ext cx="640080" cy="274320"/>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2026</a:t>
            </a:r>
          </a:p>
        </p:txBody>
      </p:sp>
      <p:pic>
        <p:nvPicPr>
          <p:cNvPr id="130" name="Picture 129" descr="google.png"/>
          <p:cNvPicPr>
            <a:picLocks noChangeAspect="1"/>
          </p:cNvPicPr>
          <p:nvPr/>
        </p:nvPicPr>
        <p:blipFill>
          <a:blip r:embed="rId5"/>
          <a:stretch>
            <a:fillRect/>
          </a:stretch>
        </p:blipFill>
        <p:spPr>
          <a:xfrm>
            <a:off x="12015216" y="6181344"/>
            <a:ext cx="836908" cy="274320"/>
          </a:xfrm>
          <a:prstGeom prst="rect">
            <a:avLst/>
          </a:prstGeom>
        </p:spPr>
      </p:pic>
      <p:sp>
        <p:nvSpPr>
          <p:cNvPr id="131" name="Rounded Rectangle 130"/>
          <p:cNvSpPr/>
          <p:nvPr/>
        </p:nvSpPr>
        <p:spPr>
          <a:xfrm>
            <a:off x="13979652" y="6126480"/>
            <a:ext cx="3147060" cy="384048"/>
          </a:xfrm>
          <a:prstGeom prst="roundRect">
            <a:avLst>
              <a:gd name="adj" fmla="val 1904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4107668" y="6016752"/>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설계 SSD</a:t>
            </a:r>
          </a:p>
        </p:txBody>
      </p:sp>
      <p:pic>
        <p:nvPicPr>
          <p:cNvPr id="133" name="Picture 132" descr="alibabacloud.png"/>
          <p:cNvPicPr>
            <a:picLocks noChangeAspect="1"/>
          </p:cNvPicPr>
          <p:nvPr/>
        </p:nvPicPr>
        <p:blipFill>
          <a:blip r:embed="rId6"/>
          <a:stretch>
            <a:fillRect/>
          </a:stretch>
        </p:blipFill>
        <p:spPr>
          <a:xfrm>
            <a:off x="12015216" y="6775704"/>
            <a:ext cx="292608" cy="292608"/>
          </a:xfrm>
          <a:prstGeom prst="rect">
            <a:avLst/>
          </a:prstGeom>
        </p:spPr>
      </p:pic>
      <p:sp>
        <p:nvSpPr>
          <p:cNvPr id="134" name="TextBox 133"/>
          <p:cNvSpPr txBox="1"/>
          <p:nvPr/>
        </p:nvSpPr>
        <p:spPr>
          <a:xfrm>
            <a:off x="12362688" y="6620256"/>
            <a:ext cx="1005840" cy="60350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Alibaba</a:t>
            </a:r>
          </a:p>
        </p:txBody>
      </p:sp>
      <p:sp>
        <p:nvSpPr>
          <p:cNvPr id="135" name="Rounded Rectangle 134"/>
          <p:cNvSpPr/>
          <p:nvPr/>
        </p:nvSpPr>
        <p:spPr>
          <a:xfrm>
            <a:off x="13979652" y="6729984"/>
            <a:ext cx="3147060" cy="384048"/>
          </a:xfrm>
          <a:prstGeom prst="roundRect">
            <a:avLst>
              <a:gd name="adj" fmla="val 1904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107668" y="6620256"/>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SSD · 컨트롤러</a:t>
            </a:r>
          </a:p>
        </p:txBody>
      </p:sp>
      <p:pic>
        <p:nvPicPr>
          <p:cNvPr id="137" name="Picture 136" descr="aws.png"/>
          <p:cNvPicPr>
            <a:picLocks noChangeAspect="1"/>
          </p:cNvPicPr>
          <p:nvPr/>
        </p:nvPicPr>
        <p:blipFill>
          <a:blip r:embed="rId7"/>
          <a:stretch>
            <a:fillRect/>
          </a:stretch>
        </p:blipFill>
        <p:spPr>
          <a:xfrm>
            <a:off x="12015216" y="7342632"/>
            <a:ext cx="611866" cy="365760"/>
          </a:xfrm>
          <a:prstGeom prst="rect">
            <a:avLst/>
          </a:prstGeom>
        </p:spPr>
      </p:pic>
      <p:sp>
        <p:nvSpPr>
          <p:cNvPr id="138" name="Rounded Rectangle 137"/>
          <p:cNvSpPr/>
          <p:nvPr/>
        </p:nvSpPr>
        <p:spPr>
          <a:xfrm>
            <a:off x="15521711" y="7333488"/>
            <a:ext cx="1605000" cy="384048"/>
          </a:xfrm>
          <a:prstGeom prst="roundRect">
            <a:avLst>
              <a:gd name="adj" fmla="val 1904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5649727" y="7223760"/>
            <a:ext cx="142212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Nitro SSD</a:t>
            </a:r>
          </a:p>
        </p:txBody>
      </p:sp>
      <p:sp>
        <p:nvSpPr>
          <p:cNvPr id="140" name="Chevron 139"/>
          <p:cNvSpPr/>
          <p:nvPr/>
        </p:nvSpPr>
        <p:spPr>
          <a:xfrm>
            <a:off x="5815584" y="3493008"/>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Chevron 140"/>
          <p:cNvSpPr/>
          <p:nvPr/>
        </p:nvSpPr>
        <p:spPr>
          <a:xfrm>
            <a:off x="11393424" y="676656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722376" y="8778240"/>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결론</a:t>
            </a:r>
          </a:p>
        </p:txBody>
      </p:sp>
      <p:sp>
        <p:nvSpPr>
          <p:cNvPr id="144" name="TextBox 143"/>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사양서만으로는 2칸에 머뭅니다. 3칸은 고객 시스템 안에서 함께 설계해야 닿습니다</a:t>
            </a:r>
          </a:p>
        </p:txBody>
      </p:sp>
      <p:sp>
        <p:nvSpPr>
          <p:cNvPr id="145" name="TextBox 14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정격 DWPD 원장(6개 업체 226개 등급, 점 = 세대 대표 최고 등급 · QLC, 중앙값 = 전체 등급, 5년 보증 환산, SLC · SCM 특수와 10 초과 3개 제외) · 해법 사다리 원장 · 자체 설계 원장 · 일부 수치 검색 확인 · 부품 이미지는 3D 렌더</a:t>
            </a:r>
          </a:p>
        </p:txBody>
      </p:sp>
      <p:sp>
        <p:nvSpPr>
          <p:cNvPr id="146" name="TextBox 14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5 / 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6 / 8  참고 · 사업 기회</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WAF를 낮춰 QLC를 1 DWPD로 올리면,</a:t>
            </a:r>
          </a:p>
          <a:p>
            <a:pPr algn="l">
              <a:lnSpc>
                <a:spcPct val="105000"/>
              </a:lnSpc>
            </a:pPr>
            <a:r>
              <a:rPr sz="3200" b="1">
                <a:solidFill>
                  <a:srgbClr val="1A1A1A"/>
                </a:solidFill>
                <a:latin typeface="Arial"/>
                <a:ea typeface="Arial"/>
              </a:rPr>
              <a:t>2030년 QLC는 eSSD의 약 42%에서 약 65%까지 넓어집니다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102961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2030 QLC 시장, 어디까지 넓어지나</a:t>
            </a:r>
          </a:p>
        </p:txBody>
      </p:sp>
      <p:sp>
        <p:nvSpPr>
          <p:cNvPr id="9" name="TextBox 8"/>
          <p:cNvSpPr txBox="1"/>
          <p:nvPr/>
        </p:nvSpPr>
        <p:spPr>
          <a:xfrm>
            <a:off x="722376" y="2743200"/>
            <a:ext cx="108813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eSSD EB/년, 2030  </a:t>
            </a:r>
            <a:r>
              <a:rPr sz="1600" b="0">
                <a:solidFill>
                  <a:srgbClr val="555555"/>
                </a:solidFill>
                <a:latin typeface="Arial"/>
                <a:ea typeface="Arial"/>
              </a:rPr>
              <a:t>중앙 가정 · 과제팀 산술, 진한 = 하단 · 연한 = 상단</a:t>
            </a:r>
          </a:p>
        </p:txBody>
      </p:sp>
      <p:sp>
        <p:nvSpPr>
          <p:cNvPr id="10" name="Rectangle 9"/>
          <p:cNvSpPr/>
          <p:nvPr/>
        </p:nvSpPr>
        <p:spPr>
          <a:xfrm>
            <a:off x="1408176" y="6780276"/>
            <a:ext cx="10195560" cy="914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6647688"/>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0</a:t>
            </a:r>
          </a:p>
        </p:txBody>
      </p:sp>
      <p:sp>
        <p:nvSpPr>
          <p:cNvPr id="12" name="Rectangle 11"/>
          <p:cNvSpPr/>
          <p:nvPr/>
        </p:nvSpPr>
        <p:spPr>
          <a:xfrm>
            <a:off x="1408176" y="5275672"/>
            <a:ext cx="101955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5143084"/>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500</a:t>
            </a:r>
          </a:p>
        </p:txBody>
      </p:sp>
      <p:sp>
        <p:nvSpPr>
          <p:cNvPr id="14" name="Rectangle 13"/>
          <p:cNvSpPr/>
          <p:nvPr/>
        </p:nvSpPr>
        <p:spPr>
          <a:xfrm>
            <a:off x="1408176" y="3771068"/>
            <a:ext cx="101955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3638480"/>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1,000</a:t>
            </a:r>
          </a:p>
        </p:txBody>
      </p:sp>
      <p:sp>
        <p:nvSpPr>
          <p:cNvPr id="16" name="Rectangle 15"/>
          <p:cNvSpPr/>
          <p:nvPr/>
        </p:nvSpPr>
        <p:spPr>
          <a:xfrm>
            <a:off x="1591056" y="4870992"/>
            <a:ext cx="1188720" cy="191385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79576" y="4468656"/>
            <a:ext cx="2011680" cy="36576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636</a:t>
            </a:r>
          </a:p>
        </p:txBody>
      </p:sp>
      <p:sp>
        <p:nvSpPr>
          <p:cNvPr id="18" name="TextBox 17"/>
          <p:cNvSpPr txBox="1"/>
          <p:nvPr/>
        </p:nvSpPr>
        <p:spPr>
          <a:xfrm>
            <a:off x="1316736"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QLC</a:t>
            </a:r>
          </a:p>
          <a:p>
            <a:pPr algn="ctr">
              <a:lnSpc>
                <a:spcPct val="100000"/>
              </a:lnSpc>
            </a:pPr>
            <a:r>
              <a:rPr sz="1700" b="0">
                <a:solidFill>
                  <a:srgbClr val="1A1A1A"/>
                </a:solidFill>
                <a:latin typeface="Arial"/>
                <a:ea typeface="Arial"/>
              </a:rPr>
              <a:t>지금 경로</a:t>
            </a:r>
          </a:p>
        </p:txBody>
      </p:sp>
      <p:sp>
        <p:nvSpPr>
          <p:cNvPr id="19" name="TextBox 18"/>
          <p:cNvSpPr txBox="1"/>
          <p:nvPr/>
        </p:nvSpPr>
        <p:spPr>
          <a:xfrm>
            <a:off x="1280160"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QLC 정격 0.3~0.6</a:t>
            </a:r>
          </a:p>
        </p:txBody>
      </p:sp>
      <p:sp>
        <p:nvSpPr>
          <p:cNvPr id="20" name="Rectangle 19"/>
          <p:cNvSpPr/>
          <p:nvPr/>
        </p:nvSpPr>
        <p:spPr>
          <a:xfrm>
            <a:off x="3310128" y="4293224"/>
            <a:ext cx="1188720" cy="57776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898648" y="3890888"/>
            <a:ext cx="2011680" cy="365760"/>
          </a:xfrm>
          <a:prstGeom prst="rect">
            <a:avLst/>
          </a:prstGeom>
          <a:noFill/>
        </p:spPr>
        <p:txBody>
          <a:bodyPr wrap="square" anchor="ctr" lIns="0" rIns="0" tIns="0" bIns="0">
            <a:spAutoFit/>
          </a:bodyPr>
          <a:lstStyle/>
          <a:p>
            <a:pPr algn="ctr">
              <a:lnSpc>
                <a:spcPct val="110000"/>
              </a:lnSpc>
            </a:pPr>
            <a:r>
              <a:rPr sz="2000" b="1">
                <a:solidFill>
                  <a:srgbClr val="3C4FA5"/>
                </a:solidFill>
                <a:latin typeface="Arial"/>
                <a:ea typeface="Arial"/>
              </a:rPr>
              <a:t>+192</a:t>
            </a:r>
          </a:p>
        </p:txBody>
      </p:sp>
      <p:sp>
        <p:nvSpPr>
          <p:cNvPr id="22" name="TextBox 21"/>
          <p:cNvSpPr txBox="1"/>
          <p:nvPr/>
        </p:nvSpPr>
        <p:spPr>
          <a:xfrm>
            <a:off x="3035808" y="6839712"/>
            <a:ext cx="1737360" cy="566928"/>
          </a:xfrm>
          <a:prstGeom prst="rect">
            <a:avLst/>
          </a:prstGeom>
          <a:noFill/>
        </p:spPr>
        <p:txBody>
          <a:bodyPr wrap="square" anchor="t" lIns="0" rIns="0" tIns="0" bIns="0">
            <a:spAutoFit/>
          </a:bodyPr>
          <a:lstStyle/>
          <a:p>
            <a:pPr algn="ctr">
              <a:lnSpc>
                <a:spcPct val="100000"/>
              </a:lnSpc>
            </a:pPr>
            <a:r>
              <a:rPr sz="1700" b="1">
                <a:solidFill>
                  <a:srgbClr val="3C4FA5"/>
                </a:solidFill>
                <a:latin typeface="Arial"/>
                <a:ea typeface="Arial"/>
              </a:rPr>
              <a:t>내구</a:t>
            </a:r>
          </a:p>
          <a:p>
            <a:pPr algn="ctr">
              <a:lnSpc>
                <a:spcPct val="100000"/>
              </a:lnSpc>
            </a:pPr>
            <a:r>
              <a:rPr sz="1700" b="1">
                <a:solidFill>
                  <a:srgbClr val="3C4FA5"/>
                </a:solidFill>
                <a:latin typeface="Arial"/>
                <a:ea typeface="Arial"/>
              </a:rPr>
              <a:t>규격만</a:t>
            </a:r>
          </a:p>
        </p:txBody>
      </p:sp>
      <p:sp>
        <p:nvSpPr>
          <p:cNvPr id="23" name="TextBox 22"/>
          <p:cNvSpPr txBox="1"/>
          <p:nvPr/>
        </p:nvSpPr>
        <p:spPr>
          <a:xfrm>
            <a:off x="2999232" y="7388352"/>
            <a:ext cx="1810512" cy="292608"/>
          </a:xfrm>
          <a:prstGeom prst="rect">
            <a:avLst/>
          </a:prstGeom>
          <a:noFill/>
        </p:spPr>
        <p:txBody>
          <a:bodyPr wrap="square" anchor="ctr" lIns="0" rIns="0" tIns="0" bIns="0">
            <a:spAutoFit/>
          </a:bodyPr>
          <a:lstStyle/>
          <a:p>
            <a:pPr algn="ctr">
              <a:lnSpc>
                <a:spcPct val="110000"/>
              </a:lnSpc>
            </a:pPr>
            <a:r>
              <a:rPr sz="1500" b="0">
                <a:solidFill>
                  <a:srgbClr val="3C4FA5"/>
                </a:solidFill>
                <a:latin typeface="Arial"/>
                <a:ea typeface="Arial"/>
              </a:rPr>
              <a:t>1 DWPD 정격</a:t>
            </a:r>
          </a:p>
        </p:txBody>
      </p:sp>
      <p:cxnSp>
        <p:nvCxnSpPr>
          <p:cNvPr id="24" name="Connector 23"/>
          <p:cNvCxnSpPr/>
          <p:nvPr/>
        </p:nvCxnSpPr>
        <p:spPr>
          <a:xfrm>
            <a:off x="2779776" y="4870992"/>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5029200" y="4100635"/>
            <a:ext cx="1188720" cy="192589"/>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17720" y="3698299"/>
            <a:ext cx="2011680" cy="365760"/>
          </a:xfrm>
          <a:prstGeom prst="rect">
            <a:avLst/>
          </a:prstGeom>
          <a:noFill/>
        </p:spPr>
        <p:txBody>
          <a:bodyPr wrap="square" anchor="ctr" lIns="0" rIns="0" tIns="0" bIns="0">
            <a:spAutoFit/>
          </a:bodyPr>
          <a:lstStyle/>
          <a:p>
            <a:pPr algn="ctr">
              <a:lnSpc>
                <a:spcPct val="110000"/>
              </a:lnSpc>
            </a:pPr>
            <a:r>
              <a:rPr sz="2000" b="1">
                <a:solidFill>
                  <a:srgbClr val="3C4FA5"/>
                </a:solidFill>
                <a:latin typeface="Arial"/>
                <a:ea typeface="Arial"/>
              </a:rPr>
              <a:t>+64</a:t>
            </a:r>
          </a:p>
        </p:txBody>
      </p:sp>
      <p:sp>
        <p:nvSpPr>
          <p:cNvPr id="27" name="TextBox 26"/>
          <p:cNvSpPr txBox="1"/>
          <p:nvPr/>
        </p:nvSpPr>
        <p:spPr>
          <a:xfrm>
            <a:off x="4754880"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관행 · 가격</a:t>
            </a:r>
          </a:p>
        </p:txBody>
      </p:sp>
      <p:sp>
        <p:nvSpPr>
          <p:cNvPr id="28" name="TextBox 27"/>
          <p:cNvSpPr txBox="1"/>
          <p:nvPr/>
        </p:nvSpPr>
        <p:spPr>
          <a:xfrm>
            <a:off x="4718304"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원가 · 공급 · 인증</a:t>
            </a:r>
          </a:p>
        </p:txBody>
      </p:sp>
      <p:cxnSp>
        <p:nvCxnSpPr>
          <p:cNvPr id="29" name="Connector 28"/>
          <p:cNvCxnSpPr/>
          <p:nvPr/>
        </p:nvCxnSpPr>
        <p:spPr>
          <a:xfrm>
            <a:off x="4498848" y="4293224"/>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6748272" y="3911055"/>
            <a:ext cx="1188720" cy="1895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748272" y="3724484"/>
            <a:ext cx="1188720" cy="186570"/>
          </a:xfrm>
          <a:prstGeom prst="rect">
            <a:avLst/>
          </a:prstGeom>
          <a:solidFill>
            <a:srgbClr val="C0CAEC"/>
          </a:solidFill>
          <a:ln w="15875">
            <a:solidFill>
              <a:srgbClr val="3C4FA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36792" y="3322148"/>
            <a:ext cx="2011680" cy="365760"/>
          </a:xfrm>
          <a:prstGeom prst="rect">
            <a:avLst/>
          </a:prstGeom>
          <a:noFill/>
        </p:spPr>
        <p:txBody>
          <a:bodyPr wrap="square" anchor="ctr" lIns="0" rIns="0" tIns="0" bIns="0">
            <a:spAutoFit/>
          </a:bodyPr>
          <a:lstStyle/>
          <a:p>
            <a:pPr algn="ctr">
              <a:lnSpc>
                <a:spcPct val="110000"/>
              </a:lnSpc>
            </a:pPr>
            <a:r>
              <a:rPr sz="2000" b="1">
                <a:solidFill>
                  <a:srgbClr val="3C4FA5"/>
                </a:solidFill>
                <a:latin typeface="Arial"/>
                <a:ea typeface="Arial"/>
              </a:rPr>
              <a:t>+63~125</a:t>
            </a:r>
          </a:p>
        </p:txBody>
      </p:sp>
      <p:sp>
        <p:nvSpPr>
          <p:cNvPr id="33" name="TextBox 32"/>
          <p:cNvSpPr txBox="1"/>
          <p:nvPr/>
        </p:nvSpPr>
        <p:spPr>
          <a:xfrm>
            <a:off x="6473952"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성능 일부</a:t>
            </a:r>
          </a:p>
        </p:txBody>
      </p:sp>
      <p:sp>
        <p:nvSpPr>
          <p:cNvPr id="34" name="TextBox 33"/>
          <p:cNvSpPr txBox="1"/>
          <p:nvPr/>
        </p:nvSpPr>
        <p:spPr>
          <a:xfrm>
            <a:off x="6437376" y="7388352"/>
            <a:ext cx="1810512" cy="292608"/>
          </a:xfrm>
          <a:prstGeom prst="rect">
            <a:avLst/>
          </a:prstGeom>
          <a:noFill/>
        </p:spPr>
        <p:txBody>
          <a:bodyPr wrap="square" anchor="ctr" lIns="0" rIns="0" tIns="0" bIns="0">
            <a:spAutoFit/>
          </a:bodyPr>
          <a:lstStyle/>
          <a:p>
            <a:pPr algn="ctr">
              <a:lnSpc>
                <a:spcPct val="110000"/>
              </a:lnSpc>
            </a:pPr>
            <a:r>
              <a:rPr sz="1500" b="0">
                <a:solidFill>
                  <a:srgbClr val="3C4FA5"/>
                </a:solidFill>
                <a:latin typeface="Arial"/>
                <a:ea typeface="Arial"/>
              </a:rPr>
              <a:t>꼬리 지연 극복</a:t>
            </a:r>
          </a:p>
        </p:txBody>
      </p:sp>
      <p:cxnSp>
        <p:nvCxnSpPr>
          <p:cNvPr id="35" name="Connector 34"/>
          <p:cNvCxnSpPr/>
          <p:nvPr/>
        </p:nvCxnSpPr>
        <p:spPr>
          <a:xfrm>
            <a:off x="6217920" y="4100635"/>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8467344" y="3911055"/>
            <a:ext cx="1188720" cy="287379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467344" y="3724484"/>
            <a:ext cx="1188720" cy="186570"/>
          </a:xfrm>
          <a:prstGeom prst="rect">
            <a:avLst/>
          </a:prstGeom>
          <a:solidFill>
            <a:srgbClr val="C0CAEC"/>
          </a:solidFill>
          <a:ln w="15875">
            <a:solidFill>
              <a:srgbClr val="3C4FA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55864" y="3322148"/>
            <a:ext cx="2011680" cy="365760"/>
          </a:xfrm>
          <a:prstGeom prst="rect">
            <a:avLst/>
          </a:prstGeom>
          <a:noFill/>
        </p:spPr>
        <p:txBody>
          <a:bodyPr wrap="square" anchor="ctr" lIns="0" rIns="0" tIns="0" bIns="0">
            <a:spAutoFit/>
          </a:bodyPr>
          <a:lstStyle/>
          <a:p>
            <a:pPr algn="ctr">
              <a:lnSpc>
                <a:spcPct val="110000"/>
              </a:lnSpc>
            </a:pPr>
            <a:r>
              <a:rPr sz="2200" b="1">
                <a:solidFill>
                  <a:srgbClr val="3C4FA5"/>
                </a:solidFill>
                <a:latin typeface="Arial"/>
                <a:ea typeface="Arial"/>
              </a:rPr>
              <a:t>955~1,017</a:t>
            </a:r>
          </a:p>
        </p:txBody>
      </p:sp>
      <p:sp>
        <p:nvSpPr>
          <p:cNvPr id="39" name="TextBox 38"/>
          <p:cNvSpPr txBox="1"/>
          <p:nvPr/>
        </p:nvSpPr>
        <p:spPr>
          <a:xfrm>
            <a:off x="8193023" y="6839712"/>
            <a:ext cx="1737360" cy="566928"/>
          </a:xfrm>
          <a:prstGeom prst="rect">
            <a:avLst/>
          </a:prstGeom>
          <a:noFill/>
        </p:spPr>
        <p:txBody>
          <a:bodyPr wrap="square" anchor="t" lIns="0" rIns="0" tIns="0" bIns="0">
            <a:spAutoFit/>
          </a:bodyPr>
          <a:lstStyle/>
          <a:p>
            <a:pPr algn="ctr">
              <a:lnSpc>
                <a:spcPct val="100000"/>
              </a:lnSpc>
            </a:pPr>
            <a:r>
              <a:rPr sz="1700" b="1">
                <a:solidFill>
                  <a:srgbClr val="3C4FA5"/>
                </a:solidFill>
                <a:latin typeface="Arial"/>
                <a:ea typeface="Arial"/>
              </a:rPr>
              <a:t>QLC</a:t>
            </a:r>
          </a:p>
          <a:p>
            <a:pPr algn="ctr">
              <a:lnSpc>
                <a:spcPct val="100000"/>
              </a:lnSpc>
            </a:pPr>
            <a:r>
              <a:rPr sz="1700" b="1">
                <a:solidFill>
                  <a:srgbClr val="3C4FA5"/>
                </a:solidFill>
                <a:latin typeface="Arial"/>
                <a:ea typeface="Arial"/>
              </a:rPr>
              <a:t>확장</a:t>
            </a:r>
          </a:p>
        </p:txBody>
      </p:sp>
      <p:sp>
        <p:nvSpPr>
          <p:cNvPr id="40" name="Rectangle 39"/>
          <p:cNvSpPr/>
          <p:nvPr/>
        </p:nvSpPr>
        <p:spPr>
          <a:xfrm>
            <a:off x="9912096" y="3625180"/>
            <a:ext cx="18288" cy="3159667"/>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186415" y="5313345"/>
            <a:ext cx="1188720" cy="147150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186415" y="5126774"/>
            <a:ext cx="1188720" cy="186570"/>
          </a:xfrm>
          <a:prstGeom prst="rect">
            <a:avLst/>
          </a:prstGeom>
          <a:solidFill>
            <a:srgbClr val="D9D9D9"/>
          </a:solidFill>
          <a:ln w="15875">
            <a:solidFill>
              <a:srgbClr val="55555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774936" y="4724438"/>
            <a:ext cx="2011680" cy="36576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489~551</a:t>
            </a:r>
          </a:p>
        </p:txBody>
      </p:sp>
      <p:sp>
        <p:nvSpPr>
          <p:cNvPr id="44" name="TextBox 43"/>
          <p:cNvSpPr txBox="1"/>
          <p:nvPr/>
        </p:nvSpPr>
        <p:spPr>
          <a:xfrm>
            <a:off x="9912095"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TLC로</a:t>
            </a:r>
          </a:p>
          <a:p>
            <a:pPr algn="ctr">
              <a:lnSpc>
                <a:spcPct val="100000"/>
              </a:lnSpc>
            </a:pPr>
            <a:r>
              <a:rPr sz="1700" b="0">
                <a:solidFill>
                  <a:srgbClr val="1A1A1A"/>
                </a:solidFill>
                <a:latin typeface="Arial"/>
                <a:ea typeface="Arial"/>
              </a:rPr>
              <a:t>남음</a:t>
            </a:r>
          </a:p>
        </p:txBody>
      </p:sp>
      <p:sp>
        <p:nvSpPr>
          <p:cNvPr id="45" name="TextBox 44"/>
          <p:cNvSpPr txBox="1"/>
          <p:nvPr/>
        </p:nvSpPr>
        <p:spPr>
          <a:xfrm>
            <a:off x="9875519"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성능 · 고내구 · KV</a:t>
            </a:r>
          </a:p>
        </p:txBody>
      </p:sp>
      <p:sp>
        <p:nvSpPr>
          <p:cNvPr id="46" name="TextBox 45"/>
          <p:cNvSpPr txBox="1"/>
          <p:nvPr/>
        </p:nvSpPr>
        <p:spPr>
          <a:xfrm>
            <a:off x="2944368" y="3561704"/>
            <a:ext cx="1920240" cy="310896"/>
          </a:xfrm>
          <a:prstGeom prst="rect">
            <a:avLst/>
          </a:prstGeom>
          <a:noFill/>
        </p:spPr>
        <p:txBody>
          <a:bodyPr wrap="square" anchor="ctr" lIns="0" rIns="0" tIns="0" bIns="0">
            <a:spAutoFit/>
          </a:bodyPr>
          <a:lstStyle/>
          <a:p>
            <a:pPr algn="ctr">
              <a:lnSpc>
                <a:spcPct val="110000"/>
              </a:lnSpc>
            </a:pPr>
            <a:r>
              <a:rPr sz="1500" b="0">
                <a:solidFill>
                  <a:srgbClr val="3C4FA5"/>
                </a:solidFill>
                <a:latin typeface="Arial"/>
                <a:ea typeface="Arial"/>
              </a:rPr>
              <a:t>범위 46~509</a:t>
            </a:r>
          </a:p>
        </p:txBody>
      </p:sp>
      <p:sp>
        <p:nvSpPr>
          <p:cNvPr id="47" name="Oval 46"/>
          <p:cNvSpPr/>
          <p:nvPr/>
        </p:nvSpPr>
        <p:spPr>
          <a:xfrm>
            <a:off x="1196949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196949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49" name="TextBox 48"/>
          <p:cNvSpPr txBox="1"/>
          <p:nvPr/>
        </p:nvSpPr>
        <p:spPr>
          <a:xfrm>
            <a:off x="12554712" y="2103120"/>
            <a:ext cx="5010911"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eSSD 중 QLC 비중</a:t>
            </a:r>
          </a:p>
        </p:txBody>
      </p:sp>
      <p:sp>
        <p:nvSpPr>
          <p:cNvPr id="50" name="TextBox 49"/>
          <p:cNvSpPr txBox="1"/>
          <p:nvPr/>
        </p:nvSpPr>
        <p:spPr>
          <a:xfrm>
            <a:off x="11969496" y="2743200"/>
            <a:ext cx="5596127"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지금 경로 → WAF ↓ 후  </a:t>
            </a:r>
            <a:r>
              <a:rPr sz="1600" b="0">
                <a:solidFill>
                  <a:srgbClr val="555555"/>
                </a:solidFill>
                <a:latin typeface="Arial"/>
                <a:ea typeface="Arial"/>
              </a:rPr>
              <a:t>잠재</a:t>
            </a:r>
          </a:p>
        </p:txBody>
      </p:sp>
      <p:sp>
        <p:nvSpPr>
          <p:cNvPr id="51" name="Rectangle 50"/>
          <p:cNvSpPr/>
          <p:nvPr/>
        </p:nvSpPr>
        <p:spPr>
          <a:xfrm>
            <a:off x="12152376"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2152376" y="6189024"/>
            <a:ext cx="841248" cy="59582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1786616" y="5804976"/>
            <a:ext cx="1572768" cy="347472"/>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18%</a:t>
            </a:r>
          </a:p>
        </p:txBody>
      </p:sp>
      <p:sp>
        <p:nvSpPr>
          <p:cNvPr id="54" name="Rectangle 53"/>
          <p:cNvSpPr/>
          <p:nvPr/>
        </p:nvSpPr>
        <p:spPr>
          <a:xfrm>
            <a:off x="13213080"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3213080" y="5030480"/>
            <a:ext cx="841248" cy="175436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3213080" y="4798771"/>
            <a:ext cx="841248" cy="231708"/>
          </a:xfrm>
          <a:prstGeom prst="rect">
            <a:avLst/>
          </a:prstGeom>
          <a:solidFill>
            <a:srgbClr val="C0CAEC"/>
          </a:solidFill>
          <a:ln w="12700">
            <a:solidFill>
              <a:srgbClr val="3C4FA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847320" y="4414723"/>
            <a:ext cx="1572768" cy="347472"/>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53~60%</a:t>
            </a:r>
          </a:p>
        </p:txBody>
      </p:sp>
      <p:sp>
        <p:nvSpPr>
          <p:cNvPr id="58" name="TextBox 57"/>
          <p:cNvSpPr txBox="1"/>
          <p:nvPr/>
        </p:nvSpPr>
        <p:spPr>
          <a:xfrm>
            <a:off x="12152376" y="6839712"/>
            <a:ext cx="1901952"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2026</a:t>
            </a:r>
          </a:p>
        </p:txBody>
      </p:sp>
      <p:sp>
        <p:nvSpPr>
          <p:cNvPr id="59" name="TextBox 58"/>
          <p:cNvSpPr txBox="1"/>
          <p:nvPr/>
        </p:nvSpPr>
        <p:spPr>
          <a:xfrm>
            <a:off x="12152376" y="7150608"/>
            <a:ext cx="1901952"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지금 · </a:t>
            </a:r>
            <a:r>
              <a:rPr sz="1500" b="1">
                <a:solidFill>
                  <a:srgbClr val="3C4FA5"/>
                </a:solidFill>
                <a:latin typeface="Arial"/>
                <a:ea typeface="Arial"/>
              </a:rPr>
              <a:t>WAF ↓ 후</a:t>
            </a:r>
          </a:p>
        </p:txBody>
      </p:sp>
      <p:sp>
        <p:nvSpPr>
          <p:cNvPr id="60" name="Rectangle 59"/>
          <p:cNvSpPr/>
          <p:nvPr/>
        </p:nvSpPr>
        <p:spPr>
          <a:xfrm>
            <a:off x="14950440"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4950440" y="5394594"/>
            <a:ext cx="841248" cy="13902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4584680" y="5010546"/>
            <a:ext cx="1572768" cy="347472"/>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42%</a:t>
            </a:r>
          </a:p>
        </p:txBody>
      </p:sp>
      <p:sp>
        <p:nvSpPr>
          <p:cNvPr id="63" name="Rectangle 62"/>
          <p:cNvSpPr/>
          <p:nvPr/>
        </p:nvSpPr>
        <p:spPr>
          <a:xfrm>
            <a:off x="16011144"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6011144" y="4699467"/>
            <a:ext cx="841248" cy="20853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6011144" y="4533960"/>
            <a:ext cx="841248" cy="165506"/>
          </a:xfrm>
          <a:prstGeom prst="rect">
            <a:avLst/>
          </a:prstGeom>
          <a:solidFill>
            <a:srgbClr val="C0CAEC"/>
          </a:solidFill>
          <a:ln w="12700">
            <a:solidFill>
              <a:srgbClr val="3C4FA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5645384" y="4149912"/>
            <a:ext cx="1572768" cy="347472"/>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63~68%</a:t>
            </a:r>
          </a:p>
        </p:txBody>
      </p:sp>
      <p:sp>
        <p:nvSpPr>
          <p:cNvPr id="67" name="TextBox 66"/>
          <p:cNvSpPr txBox="1"/>
          <p:nvPr/>
        </p:nvSpPr>
        <p:spPr>
          <a:xfrm>
            <a:off x="14950440" y="6839712"/>
            <a:ext cx="1901952"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2030</a:t>
            </a:r>
          </a:p>
        </p:txBody>
      </p:sp>
      <p:sp>
        <p:nvSpPr>
          <p:cNvPr id="68" name="TextBox 67"/>
          <p:cNvSpPr txBox="1"/>
          <p:nvPr/>
        </p:nvSpPr>
        <p:spPr>
          <a:xfrm>
            <a:off x="14950440" y="7150608"/>
            <a:ext cx="1901952"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지금 · </a:t>
            </a:r>
            <a:r>
              <a:rPr sz="1500" b="1">
                <a:solidFill>
                  <a:srgbClr val="3C4FA5"/>
                </a:solidFill>
                <a:latin typeface="Arial"/>
                <a:ea typeface="Arial"/>
              </a:rPr>
              <a:t>WAF ↓ 후</a:t>
            </a:r>
          </a:p>
        </p:txBody>
      </p:sp>
      <p:sp>
        <p:nvSpPr>
          <p:cNvPr id="69" name="Rounded Rectangle 68"/>
          <p:cNvSpPr/>
          <p:nvPr/>
        </p:nvSpPr>
        <p:spPr>
          <a:xfrm>
            <a:off x="722376" y="8046720"/>
            <a:ext cx="16843248" cy="475488"/>
          </a:xfrm>
          <a:prstGeom prst="roundRect">
            <a:avLst>
              <a:gd name="adj" fmla="val 15384"/>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41832" y="8046720"/>
            <a:ext cx="2377440" cy="47548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WAF를 낮추는 기술</a:t>
            </a:r>
          </a:p>
        </p:txBody>
      </p:sp>
      <p:sp>
        <p:nvSpPr>
          <p:cNvPr id="71" name="Rounded Rectangle 70"/>
          <p:cNvSpPr/>
          <p:nvPr/>
        </p:nvSpPr>
        <p:spPr>
          <a:xfrm>
            <a:off x="3465576" y="8110728"/>
            <a:ext cx="1636776" cy="347472"/>
          </a:xfrm>
          <a:prstGeom prst="roundRect">
            <a:avLst>
              <a:gd name="adj" fmla="val 21052"/>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520440" y="8110728"/>
            <a:ext cx="1527048"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Mixed Media</a:t>
            </a:r>
          </a:p>
        </p:txBody>
      </p:sp>
      <p:sp>
        <p:nvSpPr>
          <p:cNvPr id="73" name="TextBox 72"/>
          <p:cNvSpPr txBox="1"/>
          <p:nvPr/>
        </p:nvSpPr>
        <p:spPr>
          <a:xfrm>
            <a:off x="5212080" y="8046720"/>
            <a:ext cx="4572000" cy="475488"/>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모아쓰기 · 단기 2026~27</a:t>
            </a:r>
          </a:p>
        </p:txBody>
      </p:sp>
      <p:sp>
        <p:nvSpPr>
          <p:cNvPr id="74" name="Rounded Rectangle 73"/>
          <p:cNvSpPr/>
          <p:nvPr/>
        </p:nvSpPr>
        <p:spPr>
          <a:xfrm>
            <a:off x="9317736" y="8110728"/>
            <a:ext cx="685800" cy="347472"/>
          </a:xfrm>
          <a:prstGeom prst="roundRect">
            <a:avLst>
              <a:gd name="adj" fmla="val 21052"/>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9372600" y="8110728"/>
            <a:ext cx="5760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FDP</a:t>
            </a:r>
          </a:p>
        </p:txBody>
      </p:sp>
      <p:sp>
        <p:nvSpPr>
          <p:cNvPr id="76" name="TextBox 75"/>
          <p:cNvSpPr txBox="1"/>
          <p:nvPr/>
        </p:nvSpPr>
        <p:spPr>
          <a:xfrm>
            <a:off x="10113264" y="8046720"/>
            <a:ext cx="4572000" cy="475488"/>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근원적 WAF ↓ · 고객과 중장기 2028~</a:t>
            </a:r>
          </a:p>
        </p:txBody>
      </p:sp>
      <p:sp>
        <p:nvSpPr>
          <p:cNvPr id="77" name="TextBox 76"/>
          <p:cNvSpPr txBox="1"/>
          <p:nvPr/>
        </p:nvSpPr>
        <p:spPr>
          <a:xfrm>
            <a:off x="14456664" y="8046720"/>
            <a:ext cx="2926080" cy="475488"/>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상세는 2장 · 3장</a:t>
            </a:r>
          </a:p>
        </p:txBody>
      </p:sp>
      <p:sp>
        <p:nvSpPr>
          <p:cNvPr id="78" name="Rectangle 77"/>
          <p:cNvSpPr/>
          <p:nvPr/>
        </p:nvSpPr>
        <p:spPr>
          <a:xfrm>
            <a:off x="722376" y="8631936"/>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기회</a:t>
            </a:r>
          </a:p>
        </p:txBody>
      </p:sp>
      <p:sp>
        <p:nvSpPr>
          <p:cNvPr id="80" name="TextBox 79"/>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300" b="1">
                <a:solidFill>
                  <a:srgbClr val="FFFFFF"/>
                </a:solidFill>
                <a:latin typeface="Arial"/>
                <a:ea typeface="Arial"/>
              </a:rPr>
              <a:t>WAF를 낮추는 것이 곧 QLC 시장을 넓히는 일이고, 그 원가 우위가 수익성입니다</a:t>
            </a:r>
          </a:p>
        </p:txBody>
      </p:sp>
      <p:sp>
        <p:nvSpPr>
          <p:cNvPr id="81" name="TextBox 80"/>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총량 SK hynix 509(2026) · 2030은 McKinsey 1,078과 SK hynix 1,933의 중간 · QLC 비중 TrendForce 18%(2026) · TLC 분할은 과제팀 산술(용량형 30~60% · 관행 15~40%는 근거 없는 가정, 성능 일부 = 성능 RI의 20~40%) · Meta · Forward Insights(재인용) · Micron 6600 ION 사양 · 모두 검색 확인 등급</a:t>
            </a:r>
          </a:p>
        </p:txBody>
      </p:sp>
      <p:sp>
        <p:nvSpPr>
          <p:cNvPr id="82" name="TextBox 81"/>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6 / 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7 / 8  참고 · 보안 기회</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온프렘 AI가 커질수록 모델 가중치와 기업 데이터를 함께 지켜야 하므로,</a:t>
            </a:r>
          </a:p>
          <a:p>
            <a:pPr algn="l">
              <a:lnSpc>
                <a:spcPct val="105000"/>
              </a:lnSpc>
            </a:pPr>
            <a:r>
              <a:rPr sz="3200" b="1">
                <a:solidFill>
                  <a:srgbClr val="1A1A1A"/>
                </a:solidFill>
                <a:latin typeface="Arial"/>
                <a:ea typeface="Arial"/>
              </a:rPr>
              <a:t>SSD도 고객의 키 · 증명 체계 안에 들어가야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2611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수요: 온프렘 AI가 커진다</a:t>
            </a:r>
          </a:p>
        </p:txBody>
      </p:sp>
      <p:sp>
        <p:nvSpPr>
          <p:cNvPr id="9" name="TextBox 8"/>
          <p:cNvSpPr txBox="1"/>
          <p:nvPr/>
        </p:nvSpPr>
        <p:spPr>
          <a:xfrm>
            <a:off x="722376" y="2743200"/>
            <a:ext cx="484632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소버린 AI 시장 </a:t>
            </a:r>
            <a:r>
              <a:rPr sz="1600" b="0">
                <a:solidFill>
                  <a:srgbClr val="555555"/>
                </a:solidFill>
                <a:latin typeface="Arial"/>
                <a:ea typeface="Arial"/>
              </a:rPr>
              <a:t>$B, McKinsey</a:t>
            </a:r>
          </a:p>
        </p:txBody>
      </p:sp>
      <p:sp>
        <p:nvSpPr>
          <p:cNvPr id="10" name="Rectangle 9"/>
          <p:cNvSpPr/>
          <p:nvPr/>
        </p:nvSpPr>
        <p:spPr>
          <a:xfrm>
            <a:off x="1179576" y="4818888"/>
            <a:ext cx="1005840" cy="39319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79576" y="4687824"/>
            <a:ext cx="1005840" cy="13106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3816" y="4303776"/>
            <a:ext cx="1737360" cy="36576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150~200</a:t>
            </a:r>
          </a:p>
        </p:txBody>
      </p:sp>
      <p:sp>
        <p:nvSpPr>
          <p:cNvPr id="13" name="TextBox 12"/>
          <p:cNvSpPr txBox="1"/>
          <p:nvPr/>
        </p:nvSpPr>
        <p:spPr>
          <a:xfrm>
            <a:off x="813816" y="5248656"/>
            <a:ext cx="173736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2025</a:t>
            </a:r>
          </a:p>
        </p:txBody>
      </p:sp>
      <p:sp>
        <p:nvSpPr>
          <p:cNvPr id="14" name="Rectangle 13"/>
          <p:cNvSpPr/>
          <p:nvPr/>
        </p:nvSpPr>
        <p:spPr>
          <a:xfrm>
            <a:off x="2916936" y="3901440"/>
            <a:ext cx="1005840" cy="131064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16936" y="3639312"/>
            <a:ext cx="1005840" cy="26212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51176" y="3255264"/>
            <a:ext cx="1737360" cy="365760"/>
          </a:xfrm>
          <a:prstGeom prst="rect">
            <a:avLst/>
          </a:prstGeom>
          <a:noFill/>
        </p:spPr>
        <p:txBody>
          <a:bodyPr wrap="square" anchor="ctr" lIns="0" rIns="0" tIns="0" bIns="0">
            <a:spAutoFit/>
          </a:bodyPr>
          <a:lstStyle/>
          <a:p>
            <a:pPr algn="ctr">
              <a:lnSpc>
                <a:spcPct val="110000"/>
              </a:lnSpc>
            </a:pPr>
            <a:r>
              <a:rPr sz="2000" b="1">
                <a:solidFill>
                  <a:srgbClr val="3C4FA5"/>
                </a:solidFill>
                <a:latin typeface="Arial"/>
                <a:ea typeface="Arial"/>
              </a:rPr>
              <a:t>500~600</a:t>
            </a:r>
          </a:p>
        </p:txBody>
      </p:sp>
      <p:sp>
        <p:nvSpPr>
          <p:cNvPr id="17" name="TextBox 16"/>
          <p:cNvSpPr txBox="1"/>
          <p:nvPr/>
        </p:nvSpPr>
        <p:spPr>
          <a:xfrm>
            <a:off x="2551176" y="5248656"/>
            <a:ext cx="173736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sp>
        <p:nvSpPr>
          <p:cNvPr id="18" name="TextBox 17"/>
          <p:cNvSpPr txBox="1"/>
          <p:nvPr/>
        </p:nvSpPr>
        <p:spPr>
          <a:xfrm>
            <a:off x="4288536" y="4023360"/>
            <a:ext cx="1280160" cy="457200"/>
          </a:xfrm>
          <a:prstGeom prst="rect">
            <a:avLst/>
          </a:prstGeom>
          <a:noFill/>
        </p:spPr>
        <p:txBody>
          <a:bodyPr wrap="square" anchor="ctr" lIns="0" rIns="0" tIns="0" bIns="0">
            <a:spAutoFit/>
          </a:bodyPr>
          <a:lstStyle/>
          <a:p>
            <a:pPr algn="l">
              <a:lnSpc>
                <a:spcPct val="110000"/>
              </a:lnSpc>
            </a:pPr>
            <a:r>
              <a:rPr sz="2600" b="1">
                <a:solidFill>
                  <a:srgbClr val="3C4FA5"/>
                </a:solidFill>
                <a:latin typeface="Arial"/>
                <a:ea typeface="Arial"/>
              </a:rPr>
              <a:t>×3</a:t>
            </a:r>
          </a:p>
        </p:txBody>
      </p:sp>
      <p:sp>
        <p:nvSpPr>
          <p:cNvPr id="19" name="Rectangle 18"/>
          <p:cNvSpPr/>
          <p:nvPr/>
        </p:nvSpPr>
        <p:spPr>
          <a:xfrm>
            <a:off x="722376" y="5650992"/>
            <a:ext cx="484632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742432"/>
            <a:ext cx="484632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AI를 자기 DC에서 돌리는 기업 </a:t>
            </a:r>
            <a:r>
              <a:rPr sz="1600" b="0">
                <a:solidFill>
                  <a:srgbClr val="555555"/>
                </a:solidFill>
                <a:latin typeface="Arial"/>
                <a:ea typeface="Arial"/>
              </a:rPr>
              <a:t>Gartner</a:t>
            </a:r>
          </a:p>
        </p:txBody>
      </p:sp>
      <p:sp>
        <p:nvSpPr>
          <p:cNvPr id="21" name="TextBox 20"/>
          <p:cNvSpPr txBox="1"/>
          <p:nvPr/>
        </p:nvSpPr>
        <p:spPr>
          <a:xfrm>
            <a:off x="722376" y="6163056"/>
            <a:ext cx="1097280" cy="402336"/>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2025 초</a:t>
            </a:r>
          </a:p>
        </p:txBody>
      </p:sp>
      <p:sp>
        <p:nvSpPr>
          <p:cNvPr id="22" name="Rectangle 21"/>
          <p:cNvSpPr/>
          <p:nvPr/>
        </p:nvSpPr>
        <p:spPr>
          <a:xfrm>
            <a:off x="1865376" y="6236208"/>
            <a:ext cx="274320" cy="2560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194560" y="6163056"/>
            <a:ext cx="914400"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2%</a:t>
            </a:r>
          </a:p>
        </p:txBody>
      </p:sp>
      <p:sp>
        <p:nvSpPr>
          <p:cNvPr id="24" name="TextBox 23"/>
          <p:cNvSpPr txBox="1"/>
          <p:nvPr/>
        </p:nvSpPr>
        <p:spPr>
          <a:xfrm>
            <a:off x="722376" y="6675120"/>
            <a:ext cx="1097280" cy="40233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2028</a:t>
            </a:r>
          </a:p>
        </p:txBody>
      </p:sp>
      <p:sp>
        <p:nvSpPr>
          <p:cNvPr id="25" name="Rectangle 24"/>
          <p:cNvSpPr/>
          <p:nvPr/>
        </p:nvSpPr>
        <p:spPr>
          <a:xfrm>
            <a:off x="1865376" y="6748272"/>
            <a:ext cx="2743200" cy="25603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63440" y="6675120"/>
            <a:ext cx="914400" cy="402336"/>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20%+</a:t>
            </a:r>
          </a:p>
        </p:txBody>
      </p:sp>
      <p:sp>
        <p:nvSpPr>
          <p:cNvPr id="27" name="TextBox 26"/>
          <p:cNvSpPr txBox="1"/>
          <p:nvPr/>
        </p:nvSpPr>
        <p:spPr>
          <a:xfrm>
            <a:off x="722376" y="7278624"/>
            <a:ext cx="4846320"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NVIDIA 소버린 매출 </a:t>
            </a:r>
            <a:r>
              <a:rPr sz="2000" b="1">
                <a:solidFill>
                  <a:srgbClr val="3C4FA5"/>
                </a:solidFill>
                <a:latin typeface="Arial"/>
                <a:ea typeface="Arial"/>
              </a:rPr>
              <a:t>$30B+</a:t>
            </a:r>
            <a:r>
              <a:rPr sz="1600" b="0">
                <a:solidFill>
                  <a:srgbClr val="555555"/>
                </a:solidFill>
                <a:latin typeface="Arial"/>
                <a:ea typeface="Arial"/>
              </a:rPr>
              <a:t>  FY26, 3배+</a:t>
            </a:r>
          </a:p>
        </p:txBody>
      </p:sp>
      <p:sp>
        <p:nvSpPr>
          <p:cNvPr id="28" name="TextBox 27"/>
          <p:cNvSpPr txBox="1"/>
          <p:nvPr/>
        </p:nvSpPr>
        <p:spPr>
          <a:xfrm>
            <a:off x="722376" y="7644383"/>
            <a:ext cx="4846320"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Dell AI Factory 고객 </a:t>
            </a:r>
            <a:r>
              <a:rPr sz="2000" b="1">
                <a:solidFill>
                  <a:srgbClr val="3C4FA5"/>
                </a:solidFill>
                <a:latin typeface="Arial"/>
                <a:ea typeface="Arial"/>
              </a:rPr>
              <a:t>6,500+</a:t>
            </a:r>
          </a:p>
        </p:txBody>
      </p:sp>
      <p:sp>
        <p:nvSpPr>
          <p:cNvPr id="29" name="Chevron 28"/>
          <p:cNvSpPr/>
          <p:nvPr/>
        </p:nvSpPr>
        <p:spPr>
          <a:xfrm>
            <a:off x="5660136" y="493776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84301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4301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2" name="TextBox 31"/>
          <p:cNvSpPr txBox="1"/>
          <p:nvPr/>
        </p:nvSpPr>
        <p:spPr>
          <a:xfrm>
            <a:off x="6428231" y="2103120"/>
            <a:ext cx="462686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왜: 두 주인의 자산이 한 곳에</a:t>
            </a:r>
          </a:p>
        </p:txBody>
      </p:sp>
      <p:sp>
        <p:nvSpPr>
          <p:cNvPr id="33" name="Rounded Rectangle 32"/>
          <p:cNvSpPr/>
          <p:nvPr/>
        </p:nvSpPr>
        <p:spPr>
          <a:xfrm>
            <a:off x="5843016" y="2743200"/>
            <a:ext cx="5212080" cy="2670048"/>
          </a:xfrm>
          <a:prstGeom prst="roundRect">
            <a:avLst>
              <a:gd name="adj" fmla="val 2739"/>
            </a:avLst>
          </a:prstGeom>
          <a:solidFill>
            <a:srgbClr val="F0F2F8"/>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025896" y="2798064"/>
            <a:ext cx="4846320" cy="329184"/>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기업의 온프렘 AI 데이터센터</a:t>
            </a:r>
          </a:p>
        </p:txBody>
      </p:sp>
      <p:pic>
        <p:nvPicPr>
          <p:cNvPr id="35" name="Picture 34" descr="render_server.png"/>
          <p:cNvPicPr>
            <a:picLocks noChangeAspect="1"/>
          </p:cNvPicPr>
          <p:nvPr/>
        </p:nvPicPr>
        <p:blipFill>
          <a:blip r:embed="rId2"/>
          <a:stretch>
            <a:fillRect/>
          </a:stretch>
        </p:blipFill>
        <p:spPr>
          <a:xfrm>
            <a:off x="6025896" y="3245382"/>
            <a:ext cx="1463040" cy="861010"/>
          </a:xfrm>
          <a:prstGeom prst="rect">
            <a:avLst/>
          </a:prstGeom>
        </p:spPr>
      </p:pic>
      <p:pic>
        <p:nvPicPr>
          <p:cNvPr id="36" name="Picture 35" descr="render_ssd.png"/>
          <p:cNvPicPr>
            <a:picLocks noChangeAspect="1"/>
          </p:cNvPicPr>
          <p:nvPr/>
        </p:nvPicPr>
        <p:blipFill>
          <a:blip r:embed="rId3"/>
          <a:stretch>
            <a:fillRect/>
          </a:stretch>
        </p:blipFill>
        <p:spPr>
          <a:xfrm>
            <a:off x="6117336" y="4343495"/>
            <a:ext cx="1280160" cy="475297"/>
          </a:xfrm>
          <a:prstGeom prst="rect">
            <a:avLst/>
          </a:prstGeom>
        </p:spPr>
      </p:pic>
      <p:sp>
        <p:nvSpPr>
          <p:cNvPr id="37" name="TextBox 36"/>
          <p:cNvSpPr txBox="1"/>
          <p:nvPr/>
        </p:nvSpPr>
        <p:spPr>
          <a:xfrm>
            <a:off x="5934455" y="4937760"/>
            <a:ext cx="1645920" cy="36576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GPU 서버 · SSD</a:t>
            </a:r>
          </a:p>
        </p:txBody>
      </p:sp>
      <p:sp>
        <p:nvSpPr>
          <p:cNvPr id="38" name="Rounded Rectangle 37"/>
          <p:cNvSpPr/>
          <p:nvPr/>
        </p:nvSpPr>
        <p:spPr>
          <a:xfrm>
            <a:off x="7717536" y="3236976"/>
            <a:ext cx="3154680" cy="914400"/>
          </a:xfrm>
          <a:prstGeom prst="roundRect">
            <a:avLst>
              <a:gd name="adj" fmla="val 800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2400" y="3236976"/>
            <a:ext cx="3044952" cy="91440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LLM 가중치</a:t>
            </a:r>
          </a:p>
          <a:p>
            <a:pPr algn="ctr">
              <a:lnSpc>
                <a:spcPct val="110000"/>
              </a:lnSpc>
            </a:pPr>
            <a:r>
              <a:rPr sz="1500" b="0">
                <a:solidFill>
                  <a:srgbClr val="C0CAEC"/>
                </a:solidFill>
                <a:latin typeface="Arial"/>
                <a:ea typeface="Arial"/>
              </a:rPr>
              <a:t>모델 제공자 소유  </a:t>
            </a:r>
            <a:r>
              <a:rPr sz="1500" b="1">
                <a:solidFill>
                  <a:srgbClr val="FFFFFF"/>
                </a:solidFill>
                <a:latin typeface="Arial"/>
                <a:ea typeface="Arial"/>
              </a:rPr>
              <a:t>405B ≈ 810GB</a:t>
            </a:r>
          </a:p>
        </p:txBody>
      </p:sp>
      <p:sp>
        <p:nvSpPr>
          <p:cNvPr id="40" name="Rounded Rectangle 39"/>
          <p:cNvSpPr/>
          <p:nvPr/>
        </p:nvSpPr>
        <p:spPr>
          <a:xfrm>
            <a:off x="7717536" y="4279392"/>
            <a:ext cx="3154680" cy="914400"/>
          </a:xfrm>
          <a:prstGeom prst="roundRect">
            <a:avLst>
              <a:gd name="adj" fmla="val 8000"/>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772400" y="4279392"/>
            <a:ext cx="3044952" cy="91440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기업 데이터 · RAG · KV</a:t>
            </a:r>
          </a:p>
          <a:p>
            <a:pPr algn="ctr">
              <a:lnSpc>
                <a:spcPct val="110000"/>
              </a:lnSpc>
            </a:pPr>
            <a:r>
              <a:rPr sz="1500" b="0">
                <a:solidFill>
                  <a:srgbClr val="C0CAEC"/>
                </a:solidFill>
                <a:latin typeface="Arial"/>
                <a:ea typeface="Arial"/>
              </a:rPr>
              <a:t>기업 소유  </a:t>
            </a:r>
            <a:r>
              <a:rPr sz="1500" b="1">
                <a:solidFill>
                  <a:srgbClr val="FFFFFF"/>
                </a:solidFill>
                <a:latin typeface="Arial"/>
                <a:ea typeface="Arial"/>
              </a:rPr>
              <a:t>민감 데이터</a:t>
            </a:r>
          </a:p>
        </p:txBody>
      </p:sp>
      <p:sp>
        <p:nvSpPr>
          <p:cNvPr id="42" name="TextBox 41"/>
          <p:cNvSpPr txBox="1"/>
          <p:nvPr/>
        </p:nvSpPr>
        <p:spPr>
          <a:xfrm>
            <a:off x="5843016" y="5577840"/>
            <a:ext cx="521208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보안이 AI 도입을 막는다  </a:t>
            </a:r>
            <a:r>
              <a:rPr sz="1500" b="0">
                <a:solidFill>
                  <a:srgbClr val="555555"/>
                </a:solidFill>
                <a:latin typeface="Arial"/>
                <a:ea typeface="Arial"/>
              </a:rPr>
              <a:t>설문, 벤더 후원 포함</a:t>
            </a:r>
          </a:p>
        </p:txBody>
      </p:sp>
      <p:sp>
        <p:nvSpPr>
          <p:cNvPr id="43" name="TextBox 42"/>
          <p:cNvSpPr txBox="1"/>
          <p:nvPr/>
        </p:nvSpPr>
        <p:spPr>
          <a:xfrm>
            <a:off x="5843016" y="5998464"/>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소버니티 · 프라이버시가 지연 1위</a:t>
            </a:r>
          </a:p>
        </p:txBody>
      </p:sp>
      <p:sp>
        <p:nvSpPr>
          <p:cNvPr id="44" name="Rectangle 43"/>
          <p:cNvSpPr/>
          <p:nvPr/>
        </p:nvSpPr>
        <p:spPr>
          <a:xfrm>
            <a:off x="5843016" y="6291072"/>
            <a:ext cx="2692908"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90788" y="6217920"/>
            <a:ext cx="8229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62%</a:t>
            </a:r>
          </a:p>
        </p:txBody>
      </p:sp>
      <p:sp>
        <p:nvSpPr>
          <p:cNvPr id="46" name="TextBox 45"/>
          <p:cNvSpPr txBox="1"/>
          <p:nvPr/>
        </p:nvSpPr>
        <p:spPr>
          <a:xfrm>
            <a:off x="5843016" y="6565392"/>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데이터 레지던시로 지연 · 축소</a:t>
            </a:r>
          </a:p>
        </p:txBody>
      </p:sp>
      <p:sp>
        <p:nvSpPr>
          <p:cNvPr id="47" name="Rectangle 46"/>
          <p:cNvSpPr/>
          <p:nvPr/>
        </p:nvSpPr>
        <p:spPr>
          <a:xfrm>
            <a:off x="5843016" y="6858000"/>
            <a:ext cx="251917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417052" y="6784848"/>
            <a:ext cx="8229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58%</a:t>
            </a:r>
          </a:p>
        </p:txBody>
      </p:sp>
      <p:sp>
        <p:nvSpPr>
          <p:cNvPr id="49" name="TextBox 48"/>
          <p:cNvSpPr txBox="1"/>
          <p:nvPr/>
        </p:nvSpPr>
        <p:spPr>
          <a:xfrm>
            <a:off x="5843016" y="7132320"/>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기밀 컴퓨팅 장벽 1위 = 증명 검증</a:t>
            </a:r>
          </a:p>
        </p:txBody>
      </p:sp>
      <p:sp>
        <p:nvSpPr>
          <p:cNvPr id="50" name="Rectangle 49"/>
          <p:cNvSpPr/>
          <p:nvPr/>
        </p:nvSpPr>
        <p:spPr>
          <a:xfrm>
            <a:off x="5843016" y="7424927"/>
            <a:ext cx="3648456" cy="20116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546336" y="7351775"/>
            <a:ext cx="822960" cy="329184"/>
          </a:xfrm>
          <a:prstGeom prst="rect">
            <a:avLst/>
          </a:prstGeom>
          <a:noFill/>
        </p:spPr>
        <p:txBody>
          <a:bodyPr wrap="square" anchor="ctr" lIns="0" rIns="0" tIns="0" bIns="0">
            <a:spAutoFit/>
          </a:bodyPr>
          <a:lstStyle/>
          <a:p>
            <a:pPr algn="l">
              <a:lnSpc>
                <a:spcPct val="110000"/>
              </a:lnSpc>
            </a:pPr>
            <a:r>
              <a:rPr sz="1800" b="1">
                <a:solidFill>
                  <a:srgbClr val="3C4FA5"/>
                </a:solidFill>
                <a:latin typeface="Arial"/>
                <a:ea typeface="Arial"/>
              </a:rPr>
              <a:t>84%</a:t>
            </a:r>
          </a:p>
        </p:txBody>
      </p:sp>
      <p:sp>
        <p:nvSpPr>
          <p:cNvPr id="52" name="Chevron 51"/>
          <p:cNvSpPr/>
          <p:nvPr/>
        </p:nvSpPr>
        <p:spPr>
          <a:xfrm>
            <a:off x="11146536" y="493776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132941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132941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55" name="TextBox 54"/>
          <p:cNvSpPr txBox="1"/>
          <p:nvPr/>
        </p:nvSpPr>
        <p:spPr>
          <a:xfrm>
            <a:off x="11914632" y="2103120"/>
            <a:ext cx="5650992"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어떻게: 기술 × 협력 상대</a:t>
            </a:r>
          </a:p>
        </p:txBody>
      </p:sp>
      <p:sp>
        <p:nvSpPr>
          <p:cNvPr id="56" name="TextBox 55"/>
          <p:cNvSpPr txBox="1"/>
          <p:nvPr/>
        </p:nvSpPr>
        <p:spPr>
          <a:xfrm>
            <a:off x="11329416" y="2743200"/>
            <a:ext cx="1965960" cy="329184"/>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SSD 기술</a:t>
            </a:r>
          </a:p>
        </p:txBody>
      </p:sp>
      <p:sp>
        <p:nvSpPr>
          <p:cNvPr id="57" name="TextBox 56"/>
          <p:cNvSpPr txBox="1"/>
          <p:nvPr/>
        </p:nvSpPr>
        <p:spPr>
          <a:xfrm>
            <a:off x="13386816" y="2743200"/>
            <a:ext cx="1417320" cy="329184"/>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현황</a:t>
            </a:r>
          </a:p>
        </p:txBody>
      </p:sp>
      <p:sp>
        <p:nvSpPr>
          <p:cNvPr id="58" name="TextBox 57"/>
          <p:cNvSpPr txBox="1"/>
          <p:nvPr/>
        </p:nvSpPr>
        <p:spPr>
          <a:xfrm>
            <a:off x="14895576" y="2743200"/>
            <a:ext cx="2670047" cy="329184"/>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함께할 고객</a:t>
            </a:r>
          </a:p>
        </p:txBody>
      </p:sp>
      <p:sp>
        <p:nvSpPr>
          <p:cNvPr id="59" name="Rounded Rectangle 58"/>
          <p:cNvSpPr/>
          <p:nvPr/>
        </p:nvSpPr>
        <p:spPr>
          <a:xfrm>
            <a:off x="11329416" y="3145536"/>
            <a:ext cx="1965960" cy="877824"/>
          </a:xfrm>
          <a:prstGeom prst="roundRect">
            <a:avLst>
              <a:gd name="adj" fmla="val 8333"/>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1384280" y="3145536"/>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기밀 VM 연결</a:t>
            </a:r>
          </a:p>
          <a:p>
            <a:pPr algn="ctr">
              <a:lnSpc>
                <a:spcPct val="110000"/>
              </a:lnSpc>
            </a:pPr>
            <a:r>
              <a:rPr sz="1500" b="0">
                <a:solidFill>
                  <a:srgbClr val="C0CAEC"/>
                </a:solidFill>
                <a:latin typeface="Arial"/>
                <a:ea typeface="Arial"/>
              </a:rPr>
              <a:t>TDISP</a:t>
            </a:r>
          </a:p>
        </p:txBody>
      </p:sp>
      <p:sp>
        <p:nvSpPr>
          <p:cNvPr id="61" name="Rounded Rectangle 60"/>
          <p:cNvSpPr/>
          <p:nvPr/>
        </p:nvSpPr>
        <p:spPr>
          <a:xfrm>
            <a:off x="13386816" y="3291840"/>
            <a:ext cx="1417320" cy="585216"/>
          </a:xfrm>
          <a:prstGeom prst="roundRect">
            <a:avLst>
              <a:gd name="adj" fmla="val 12499"/>
            </a:avLst>
          </a:prstGeom>
          <a:solidFill>
            <a:srgbClr val="FFFFFF"/>
          </a:solidFill>
          <a:ln w="15875">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3441680" y="3291840"/>
            <a:ext cx="1307592" cy="585216"/>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PM1763 발표</a:t>
            </a:r>
          </a:p>
        </p:txBody>
      </p:sp>
      <p:sp>
        <p:nvSpPr>
          <p:cNvPr id="63" name="Right Arrow 62"/>
          <p:cNvSpPr/>
          <p:nvPr/>
        </p:nvSpPr>
        <p:spPr>
          <a:xfrm>
            <a:off x="14822424" y="3493008"/>
            <a:ext cx="54864" cy="182880"/>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4895576" y="3236976"/>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4950440" y="3236976"/>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CPU · 하이퍼바이저</a:t>
            </a:r>
          </a:p>
        </p:txBody>
      </p:sp>
      <p:sp>
        <p:nvSpPr>
          <p:cNvPr id="66" name="Rounded Rectangle 65"/>
          <p:cNvSpPr/>
          <p:nvPr/>
        </p:nvSpPr>
        <p:spPr>
          <a:xfrm>
            <a:off x="11329416" y="4133087"/>
            <a:ext cx="1965960" cy="877824"/>
          </a:xfrm>
          <a:prstGeom prst="roundRect">
            <a:avLst>
              <a:gd name="adj" fmla="val 8333"/>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1384280" y="4133087"/>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증명</a:t>
            </a:r>
          </a:p>
          <a:p>
            <a:pPr algn="ctr">
              <a:lnSpc>
                <a:spcPct val="110000"/>
              </a:lnSpc>
            </a:pPr>
            <a:r>
              <a:rPr sz="1500" b="0">
                <a:solidFill>
                  <a:srgbClr val="C0CAEC"/>
                </a:solidFill>
                <a:latin typeface="Arial"/>
                <a:ea typeface="Arial"/>
              </a:rPr>
              <a:t>SPDM</a:t>
            </a:r>
          </a:p>
        </p:txBody>
      </p:sp>
      <p:sp>
        <p:nvSpPr>
          <p:cNvPr id="68" name="Rounded Rectangle 67"/>
          <p:cNvSpPr/>
          <p:nvPr/>
        </p:nvSpPr>
        <p:spPr>
          <a:xfrm>
            <a:off x="13386816" y="4279392"/>
            <a:ext cx="1417320" cy="585216"/>
          </a:xfrm>
          <a:prstGeom prst="roundRect">
            <a:avLst>
              <a:gd name="adj" fmla="val 12499"/>
            </a:avLst>
          </a:prstGeom>
          <a:solidFill>
            <a:srgbClr val="FFFFFF"/>
          </a:solid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3441680" y="4279392"/>
            <a:ext cx="1307592" cy="58521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OEM 미지원</a:t>
            </a:r>
          </a:p>
        </p:txBody>
      </p:sp>
      <p:sp>
        <p:nvSpPr>
          <p:cNvPr id="70" name="Right Arrow 69"/>
          <p:cNvSpPr/>
          <p:nvPr/>
        </p:nvSpPr>
        <p:spPr>
          <a:xfrm>
            <a:off x="14822424" y="4480560"/>
            <a:ext cx="54864" cy="182880"/>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14895576" y="4224527"/>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950440" y="4224527"/>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OEM 인증 · 검증 서비스</a:t>
            </a:r>
          </a:p>
        </p:txBody>
      </p:sp>
      <p:sp>
        <p:nvSpPr>
          <p:cNvPr id="73" name="Rounded Rectangle 72"/>
          <p:cNvSpPr/>
          <p:nvPr/>
        </p:nvSpPr>
        <p:spPr>
          <a:xfrm>
            <a:off x="11329416" y="5120640"/>
            <a:ext cx="1965960" cy="877824"/>
          </a:xfrm>
          <a:prstGeom prst="roundRect">
            <a:avLst>
              <a:gd name="adj" fmla="val 8333"/>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1384280" y="5120640"/>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키 관리</a:t>
            </a:r>
          </a:p>
          <a:p>
            <a:pPr algn="ctr">
              <a:lnSpc>
                <a:spcPct val="110000"/>
              </a:lnSpc>
            </a:pPr>
            <a:r>
              <a:rPr sz="1500" b="0">
                <a:solidFill>
                  <a:srgbClr val="C0CAEC"/>
                </a:solidFill>
                <a:latin typeface="Arial"/>
                <a:ea typeface="Arial"/>
              </a:rPr>
              <a:t>L.O.C.K. · KPIO</a:t>
            </a:r>
          </a:p>
        </p:txBody>
      </p:sp>
      <p:sp>
        <p:nvSpPr>
          <p:cNvPr id="75" name="Rounded Rectangle 74"/>
          <p:cNvSpPr/>
          <p:nvPr/>
        </p:nvSpPr>
        <p:spPr>
          <a:xfrm>
            <a:off x="13386816" y="5266944"/>
            <a:ext cx="1417320" cy="585216"/>
          </a:xfrm>
          <a:prstGeom prst="roundRect">
            <a:avLst>
              <a:gd name="adj" fmla="val 12499"/>
            </a:avLst>
          </a:prstGeom>
          <a:solidFill>
            <a:srgbClr val="FFFFFF"/>
          </a:solidFill>
          <a:ln w="15875">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3441680" y="5266944"/>
            <a:ext cx="1307592" cy="585216"/>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1.0 · 삼성 공저</a:t>
            </a:r>
          </a:p>
        </p:txBody>
      </p:sp>
      <p:sp>
        <p:nvSpPr>
          <p:cNvPr id="77" name="Right Arrow 76"/>
          <p:cNvSpPr/>
          <p:nvPr/>
        </p:nvSpPr>
        <p:spPr>
          <a:xfrm>
            <a:off x="14822424" y="5468112"/>
            <a:ext cx="54864" cy="182880"/>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ounded Rectangle 77"/>
          <p:cNvSpPr/>
          <p:nvPr/>
        </p:nvSpPr>
        <p:spPr>
          <a:xfrm>
            <a:off x="14895576" y="5212079"/>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4950440" y="5212079"/>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클라우드 · OEM KMS</a:t>
            </a:r>
          </a:p>
        </p:txBody>
      </p:sp>
      <p:sp>
        <p:nvSpPr>
          <p:cNvPr id="80" name="Rounded Rectangle 79"/>
          <p:cNvSpPr/>
          <p:nvPr/>
        </p:nvSpPr>
        <p:spPr>
          <a:xfrm>
            <a:off x="11329416" y="6108192"/>
            <a:ext cx="1965960" cy="877824"/>
          </a:xfrm>
          <a:prstGeom prst="roundRect">
            <a:avLst>
              <a:gd name="adj" fmla="val 8333"/>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1384280" y="6108192"/>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신뢰 루트</a:t>
            </a:r>
          </a:p>
          <a:p>
            <a:pPr algn="ctr">
              <a:lnSpc>
                <a:spcPct val="110000"/>
              </a:lnSpc>
            </a:pPr>
            <a:r>
              <a:rPr sz="1500" b="0">
                <a:solidFill>
                  <a:srgbClr val="C0CAEC"/>
                </a:solidFill>
                <a:latin typeface="Arial"/>
                <a:ea typeface="Arial"/>
              </a:rPr>
              <a:t>Caliptra</a:t>
            </a:r>
          </a:p>
        </p:txBody>
      </p:sp>
      <p:sp>
        <p:nvSpPr>
          <p:cNvPr id="82" name="Rounded Rectangle 81"/>
          <p:cNvSpPr/>
          <p:nvPr/>
        </p:nvSpPr>
        <p:spPr>
          <a:xfrm>
            <a:off x="13386816" y="6254496"/>
            <a:ext cx="1417320" cy="585216"/>
          </a:xfrm>
          <a:prstGeom prst="roundRect">
            <a:avLst>
              <a:gd name="adj" fmla="val 12499"/>
            </a:avLst>
          </a:prstGeom>
          <a:solidFill>
            <a:srgbClr val="FFFFFF"/>
          </a:solid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3441680" y="6254496"/>
            <a:ext cx="1307592" cy="58521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탑재 SSD 없음</a:t>
            </a:r>
          </a:p>
        </p:txBody>
      </p:sp>
      <p:sp>
        <p:nvSpPr>
          <p:cNvPr id="84" name="Right Arrow 83"/>
          <p:cNvSpPr/>
          <p:nvPr/>
        </p:nvSpPr>
        <p:spPr>
          <a:xfrm>
            <a:off x="14822424" y="6455664"/>
            <a:ext cx="54864" cy="182880"/>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14895576" y="6199631"/>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4950440" y="6199631"/>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하이퍼스케일러 · OCP</a:t>
            </a:r>
          </a:p>
        </p:txBody>
      </p:sp>
      <p:sp>
        <p:nvSpPr>
          <p:cNvPr id="87" name="TextBox 86"/>
          <p:cNvSpPr txBox="1"/>
          <p:nvPr/>
        </p:nvSpPr>
        <p:spPr>
          <a:xfrm>
            <a:off x="11329416" y="7114031"/>
            <a:ext cx="6236208"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위 = 기밀 VM 쪽, 아래 = SSD 쪽</a:t>
            </a:r>
          </a:p>
        </p:txBody>
      </p:sp>
      <p:sp>
        <p:nvSpPr>
          <p:cNvPr id="88" name="Rounded Rectangle 87"/>
          <p:cNvSpPr/>
          <p:nvPr/>
        </p:nvSpPr>
        <p:spPr>
          <a:xfrm>
            <a:off x="11329416" y="7498079"/>
            <a:ext cx="6236208" cy="566928"/>
          </a:xfrm>
          <a:prstGeom prst="roundRect">
            <a:avLst>
              <a:gd name="adj" fmla="val 12903"/>
            </a:avLst>
          </a:prstGeom>
          <a:solidFill>
            <a:srgbClr val="FFFFFF"/>
          </a:solid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1384280" y="7498079"/>
            <a:ext cx="6126480" cy="56692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Dell 서버: </a:t>
            </a:r>
            <a:r>
              <a:rPr sz="1600" b="1">
                <a:solidFill>
                  <a:srgbClr val="1A1A1A"/>
                </a:solidFill>
                <a:latin typeface="Arial"/>
                <a:ea typeface="Arial"/>
              </a:rPr>
              <a:t>삼성 PM9D3a · PM9D5a SPDM 미지원</a:t>
            </a:r>
            <a:r>
              <a:rPr sz="1500" b="0">
                <a:solidFill>
                  <a:srgbClr val="555555"/>
                </a:solidFill>
                <a:latin typeface="Arial"/>
                <a:ea typeface="Arial"/>
              </a:rPr>
              <a:t>으로 기능 실패</a:t>
            </a:r>
          </a:p>
        </p:txBody>
      </p:sp>
      <p:sp>
        <p:nvSpPr>
          <p:cNvPr id="90" name="Rectangle 89"/>
          <p:cNvSpPr/>
          <p:nvPr/>
        </p:nvSpPr>
        <p:spPr>
          <a:xfrm>
            <a:off x="722376" y="8631936"/>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기회</a:t>
            </a:r>
          </a:p>
        </p:txBody>
      </p:sp>
      <p:sp>
        <p:nvSpPr>
          <p:cNvPr id="92" name="TextBox 91"/>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보안은 표준으로 정하되, 고객 · OEM의 키 · 증명 체계에 함께 들어가야 팔립니다</a:t>
            </a:r>
          </a:p>
        </p:txBody>
      </p:sp>
      <p:sp>
        <p:nvSpPr>
          <p:cNvPr id="93" name="TextBox 92"/>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McKinsey 소버린 AI(2025~30) · Gartner(온프렘 AI 2→20%+) · NVIDIA FY26 · Dell FQ2'27 · Arqit/Intel · Cloudian · IDC/CCC(설문, 벤더 후원 포함) · Llama 405B FP16 · OCP L.O.C.K. 사양 · DMTF DSP0286 · 삼성 PM1763 · Dell KB(SPDM) · 모두 검색 확인 등급, 일부 원문 확인</a:t>
            </a:r>
          </a:p>
        </p:txBody>
      </p:sp>
      <p:sp>
        <p:nvSpPr>
          <p:cNvPr id="94" name="TextBox 93"/>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7 / 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4 / 8  실행 전략</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세 기술의 효과는 고객 시스템 안에서 나오므로,</a:t>
            </a:r>
          </a:p>
          <a:p>
            <a:pPr algn="l">
              <a:lnSpc>
                <a:spcPct val="105000"/>
              </a:lnSpc>
            </a:pPr>
            <a:r>
              <a:rPr sz="3200" b="1">
                <a:solidFill>
                  <a:srgbClr val="1A1A1A"/>
                </a:solidFill>
                <a:latin typeface="Arial"/>
                <a:ea typeface="Arial"/>
              </a:rPr>
              <a:t>전략 고객과 계약 · 역량 · 사람으로 함께 설계합니다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38039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계약: 물량에 기술 협력을</a:t>
            </a:r>
          </a:p>
        </p:txBody>
      </p:sp>
      <p:pic>
        <p:nvPicPr>
          <p:cNvPr id="9" name="Picture 8" descr="micron.png"/>
          <p:cNvPicPr>
            <a:picLocks noChangeAspect="1"/>
          </p:cNvPicPr>
          <p:nvPr/>
        </p:nvPicPr>
        <p:blipFill>
          <a:blip r:embed="rId2"/>
          <a:stretch>
            <a:fillRect/>
          </a:stretch>
        </p:blipFill>
        <p:spPr>
          <a:xfrm>
            <a:off x="722376" y="2743200"/>
            <a:ext cx="1151291" cy="246888"/>
          </a:xfrm>
          <a:prstGeom prst="rect">
            <a:avLst/>
          </a:prstGeom>
        </p:spPr>
      </p:pic>
      <p:sp>
        <p:nvSpPr>
          <p:cNvPr id="10" name="TextBox 9"/>
          <p:cNvSpPr txBox="1"/>
          <p:nvPr/>
        </p:nvSpPr>
        <p:spPr>
          <a:xfrm>
            <a:off x="1946819" y="2688336"/>
            <a:ext cx="365760" cy="347472"/>
          </a:xfrm>
          <a:prstGeom prst="rect">
            <a:avLst/>
          </a:prstGeom>
          <a:noFill/>
        </p:spPr>
        <p:txBody>
          <a:bodyPr wrap="square" anchor="ctr" lIns="0" rIns="0" tIns="0" bIns="0">
            <a:spAutoFit/>
          </a:bodyPr>
          <a:lstStyle/>
          <a:p>
            <a:pPr algn="ctr">
              <a:lnSpc>
                <a:spcPct val="110000"/>
              </a:lnSpc>
            </a:pPr>
            <a:r>
              <a:rPr sz="2000" b="1">
                <a:solidFill>
                  <a:srgbClr val="555555"/>
                </a:solidFill>
                <a:latin typeface="Arial"/>
                <a:ea typeface="Arial"/>
              </a:rPr>
              <a:t>↔</a:t>
            </a:r>
          </a:p>
        </p:txBody>
      </p:sp>
      <p:pic>
        <p:nvPicPr>
          <p:cNvPr id="11" name="Picture 10" descr="anthropic.png"/>
          <p:cNvPicPr>
            <a:picLocks noChangeAspect="1"/>
          </p:cNvPicPr>
          <p:nvPr/>
        </p:nvPicPr>
        <p:blipFill>
          <a:blip r:embed="rId3"/>
          <a:stretch>
            <a:fillRect/>
          </a:stretch>
        </p:blipFill>
        <p:spPr>
          <a:xfrm>
            <a:off x="2385731" y="2779776"/>
            <a:ext cx="1532964" cy="173736"/>
          </a:xfrm>
          <a:prstGeom prst="rect">
            <a:avLst/>
          </a:prstGeom>
        </p:spPr>
      </p:pic>
      <p:sp>
        <p:nvSpPr>
          <p:cNvPr id="12" name="TextBox 11"/>
          <p:cNvSpPr txBox="1"/>
          <p:nvPr/>
        </p:nvSpPr>
        <p:spPr>
          <a:xfrm>
            <a:off x="4046711" y="2688336"/>
            <a:ext cx="109728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2026-06</a:t>
            </a:r>
          </a:p>
        </p:txBody>
      </p:sp>
      <p:sp>
        <p:nvSpPr>
          <p:cNvPr id="13" name="TextBox 12"/>
          <p:cNvSpPr txBox="1"/>
          <p:nvPr/>
        </p:nvSpPr>
        <p:spPr>
          <a:xfrm>
            <a:off x="722376"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4" name="Rounded Rectangle 13"/>
          <p:cNvSpPr/>
          <p:nvPr/>
        </p:nvSpPr>
        <p:spPr>
          <a:xfrm>
            <a:off x="722376" y="3584448"/>
            <a:ext cx="4389120" cy="548640"/>
          </a:xfrm>
          <a:prstGeom prst="roundRect">
            <a:avLst>
              <a:gd name="adj" fmla="val 13333"/>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584448"/>
            <a:ext cx="4279392" cy="548640"/>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Multi-Year Deal (MYD)</a:t>
            </a:r>
          </a:p>
        </p:txBody>
      </p:sp>
      <p:sp>
        <p:nvSpPr>
          <p:cNvPr id="16" name="TextBox 15"/>
          <p:cNvSpPr txBox="1"/>
          <p:nvPr/>
        </p:nvSpPr>
        <p:spPr>
          <a:xfrm>
            <a:off x="722376" y="4187952"/>
            <a:ext cx="438912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수량과 가격만 약속합니다</a:t>
            </a:r>
          </a:p>
        </p:txBody>
      </p:sp>
      <p:sp>
        <p:nvSpPr>
          <p:cNvPr id="17" name="Isosceles Triangle 16"/>
          <p:cNvSpPr/>
          <p:nvPr/>
        </p:nvSpPr>
        <p:spPr>
          <a:xfrm rot="10800000">
            <a:off x="2715768" y="4553712"/>
            <a:ext cx="402336" cy="237744"/>
          </a:xfrm>
          <a:prstGeom prst="triangl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846320"/>
            <a:ext cx="45720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앞으로: 전략적 계약</a:t>
            </a:r>
          </a:p>
        </p:txBody>
      </p:sp>
      <p:sp>
        <p:nvSpPr>
          <p:cNvPr id="19" name="Rounded Rectangle 18"/>
          <p:cNvSpPr/>
          <p:nvPr/>
        </p:nvSpPr>
        <p:spPr>
          <a:xfrm>
            <a:off x="722376" y="5248656"/>
            <a:ext cx="3429000" cy="493776"/>
          </a:xfrm>
          <a:prstGeom prst="roundRect">
            <a:avLst>
              <a:gd name="adj" fmla="val 14814"/>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248656"/>
            <a:ext cx="3319272" cy="493776"/>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자본 연계 (선택)</a:t>
            </a:r>
          </a:p>
        </p:txBody>
      </p:sp>
      <p:sp>
        <p:nvSpPr>
          <p:cNvPr id="21" name="Rounded Rectangle 20"/>
          <p:cNvSpPr/>
          <p:nvPr/>
        </p:nvSpPr>
        <p:spPr>
          <a:xfrm>
            <a:off x="722376" y="5833872"/>
            <a:ext cx="3429000" cy="493776"/>
          </a:xfrm>
          <a:prstGeom prst="roundRect">
            <a:avLst>
              <a:gd name="adj" fmla="val 14814"/>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833872"/>
            <a:ext cx="33192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운영 통합</a:t>
            </a:r>
          </a:p>
        </p:txBody>
      </p:sp>
      <p:sp>
        <p:nvSpPr>
          <p:cNvPr id="23" name="Rounded Rectangle 22"/>
          <p:cNvSpPr/>
          <p:nvPr/>
        </p:nvSpPr>
        <p:spPr>
          <a:xfrm>
            <a:off x="722376" y="6419088"/>
            <a:ext cx="3429000" cy="493776"/>
          </a:xfrm>
          <a:prstGeom prst="roundRect">
            <a:avLst>
              <a:gd name="adj" fmla="val 14814"/>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6419088"/>
            <a:ext cx="33192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공동 설계 · 최적화</a:t>
            </a:r>
          </a:p>
        </p:txBody>
      </p:sp>
      <p:sp>
        <p:nvSpPr>
          <p:cNvPr id="25" name="Rounded Rectangle 24"/>
          <p:cNvSpPr/>
          <p:nvPr/>
        </p:nvSpPr>
        <p:spPr>
          <a:xfrm>
            <a:off x="722376" y="7004304"/>
            <a:ext cx="3429000" cy="493776"/>
          </a:xfrm>
          <a:prstGeom prst="roundRect">
            <a:avLst>
              <a:gd name="adj" fmla="val 14814"/>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7004304"/>
            <a:ext cx="33192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MYD (다년 물량)</a:t>
            </a:r>
          </a:p>
        </p:txBody>
      </p:sp>
      <p:sp>
        <p:nvSpPr>
          <p:cNvPr id="27" name="Rectangle 26"/>
          <p:cNvSpPr/>
          <p:nvPr/>
        </p:nvSpPr>
        <p:spPr>
          <a:xfrm>
            <a:off x="4242816" y="5833872"/>
            <a:ext cx="32004" cy="107899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69663" y="5833872"/>
            <a:ext cx="91440" cy="3200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169663" y="6880860"/>
            <a:ext cx="91440" cy="3200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34256" y="5833872"/>
            <a:ext cx="777240" cy="1078992"/>
          </a:xfrm>
          <a:prstGeom prst="rect">
            <a:avLst/>
          </a:prstGeom>
          <a:noFill/>
        </p:spPr>
        <p:txBody>
          <a:bodyPr wrap="square" anchor="ctr" lIns="0" rIns="0" tIns="0" bIns="0">
            <a:spAutoFit/>
          </a:bodyPr>
          <a:lstStyle/>
          <a:p>
            <a:pPr algn="l">
              <a:lnSpc>
                <a:spcPct val="100000"/>
              </a:lnSpc>
            </a:pPr>
            <a:r>
              <a:rPr sz="1800" b="1">
                <a:solidFill>
                  <a:srgbClr val="3C4FA5"/>
                </a:solidFill>
                <a:latin typeface="Arial"/>
                <a:ea typeface="Arial"/>
              </a:rPr>
              <a:t>기술</a:t>
            </a:r>
          </a:p>
          <a:p>
            <a:pPr algn="l">
              <a:lnSpc>
                <a:spcPct val="100000"/>
              </a:lnSpc>
            </a:pPr>
            <a:r>
              <a:rPr sz="1800" b="1">
                <a:solidFill>
                  <a:srgbClr val="3C4FA5"/>
                </a:solidFill>
                <a:latin typeface="Arial"/>
                <a:ea typeface="Arial"/>
              </a:rPr>
              <a:t>협력</a:t>
            </a:r>
          </a:p>
        </p:txBody>
      </p:sp>
      <p:sp>
        <p:nvSpPr>
          <p:cNvPr id="31" name="Chevron 30"/>
          <p:cNvSpPr/>
          <p:nvPr/>
        </p:nvSpPr>
        <p:spPr>
          <a:xfrm>
            <a:off x="5248656" y="557784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532120"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532120"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4" name="TextBox 33"/>
          <p:cNvSpPr txBox="1"/>
          <p:nvPr/>
        </p:nvSpPr>
        <p:spPr>
          <a:xfrm>
            <a:off x="6117336" y="2103120"/>
            <a:ext cx="49469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역량: 추론 스택 전체를 보는 눈</a:t>
            </a:r>
          </a:p>
        </p:txBody>
      </p:sp>
      <p:sp>
        <p:nvSpPr>
          <p:cNvPr id="35" name="Chevron 34"/>
          <p:cNvSpPr/>
          <p:nvPr/>
        </p:nvSpPr>
        <p:spPr>
          <a:xfrm>
            <a:off x="11201400" y="557784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532120" y="2688336"/>
            <a:ext cx="553212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수명 정보는 </a:t>
            </a:r>
            <a:r>
              <a:rPr sz="1700" b="1">
                <a:solidFill>
                  <a:srgbClr val="1A1A1A"/>
                </a:solidFill>
                <a:latin typeface="Arial"/>
                <a:ea typeface="Arial"/>
              </a:rPr>
              <a:t>KV 캐시 층</a:t>
            </a:r>
            <a:r>
              <a:rPr sz="1600" b="0">
                <a:solidFill>
                  <a:srgbClr val="555555"/>
                </a:solidFill>
                <a:latin typeface="Arial"/>
                <a:ea typeface="Arial"/>
              </a:rPr>
              <a:t>에, 배치는 </a:t>
            </a:r>
            <a:r>
              <a:rPr sz="1700" b="1">
                <a:solidFill>
                  <a:srgbClr val="1A1A1A"/>
                </a:solidFill>
                <a:latin typeface="Arial"/>
                <a:ea typeface="Arial"/>
              </a:rPr>
              <a:t>SSD</a:t>
            </a:r>
            <a:r>
              <a:rPr sz="1600" b="0">
                <a:solidFill>
                  <a:srgbClr val="555555"/>
                </a:solidFill>
                <a:latin typeface="Arial"/>
                <a:ea typeface="Arial"/>
              </a:rPr>
              <a:t>에 있다</a:t>
            </a:r>
          </a:p>
        </p:txBody>
      </p:sp>
      <p:sp>
        <p:nvSpPr>
          <p:cNvPr id="37" name="Rounded Rectangle 36"/>
          <p:cNvSpPr/>
          <p:nvPr/>
        </p:nvSpPr>
        <p:spPr>
          <a:xfrm>
            <a:off x="5532120" y="3163824"/>
            <a:ext cx="3749039" cy="585216"/>
          </a:xfrm>
          <a:prstGeom prst="roundRect">
            <a:avLst>
              <a:gd name="adj" fmla="val 12500"/>
            </a:avLst>
          </a:prstGeom>
          <a:solidFill>
            <a:srgbClr val="FFFFFF"/>
          </a:solid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78424" y="3182112"/>
            <a:ext cx="2743199" cy="292608"/>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추론 엔진</a:t>
            </a:r>
          </a:p>
        </p:txBody>
      </p:sp>
      <p:sp>
        <p:nvSpPr>
          <p:cNvPr id="39" name="TextBox 38"/>
          <p:cNvSpPr txBox="1"/>
          <p:nvPr/>
        </p:nvSpPr>
        <p:spPr>
          <a:xfrm>
            <a:off x="5678424" y="3456432"/>
            <a:ext cx="2926079"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vLLM · SGLang · TensorRT-LLM</a:t>
            </a:r>
          </a:p>
        </p:txBody>
      </p:sp>
      <p:sp>
        <p:nvSpPr>
          <p:cNvPr id="40" name="Rounded Rectangle 39"/>
          <p:cNvSpPr/>
          <p:nvPr/>
        </p:nvSpPr>
        <p:spPr>
          <a:xfrm>
            <a:off x="8494776" y="3291840"/>
            <a:ext cx="676656" cy="329184"/>
          </a:xfrm>
          <a:prstGeom prst="roundRect">
            <a:avLst>
              <a:gd name="adj" fmla="val 22222"/>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549640" y="3291840"/>
            <a:ext cx="566928" cy="32918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공백</a:t>
            </a:r>
          </a:p>
        </p:txBody>
      </p:sp>
      <p:sp>
        <p:nvSpPr>
          <p:cNvPr id="42" name="Rounded Rectangle 41"/>
          <p:cNvSpPr/>
          <p:nvPr/>
        </p:nvSpPr>
        <p:spPr>
          <a:xfrm>
            <a:off x="5532120" y="3813048"/>
            <a:ext cx="3749039" cy="585216"/>
          </a:xfrm>
          <a:prstGeom prst="roundRect">
            <a:avLst>
              <a:gd name="adj" fmla="val 12500"/>
            </a:avLst>
          </a:prstGeom>
          <a:solidFill>
            <a:srgbClr val="F0F2F8"/>
          </a:solidFill>
          <a:ln w="15875">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678424" y="3831335"/>
            <a:ext cx="2743199" cy="292608"/>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KV 캐시 관리자</a:t>
            </a:r>
          </a:p>
        </p:txBody>
      </p:sp>
      <p:sp>
        <p:nvSpPr>
          <p:cNvPr id="44" name="TextBox 43"/>
          <p:cNvSpPr txBox="1"/>
          <p:nvPr/>
        </p:nvSpPr>
        <p:spPr>
          <a:xfrm>
            <a:off x="5678424" y="4105656"/>
            <a:ext cx="2926079"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Dynamo · LMCache · Mooncake</a:t>
            </a:r>
          </a:p>
        </p:txBody>
      </p:sp>
      <p:sp>
        <p:nvSpPr>
          <p:cNvPr id="45" name="Rounded Rectangle 44"/>
          <p:cNvSpPr/>
          <p:nvPr/>
        </p:nvSpPr>
        <p:spPr>
          <a:xfrm>
            <a:off x="8494776" y="3941063"/>
            <a:ext cx="676656" cy="329184"/>
          </a:xfrm>
          <a:prstGeom prst="roundRect">
            <a:avLst>
              <a:gd name="adj" fmla="val 22222"/>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549640" y="3941063"/>
            <a:ext cx="566928" cy="329184"/>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일부</a:t>
            </a:r>
          </a:p>
        </p:txBody>
      </p:sp>
      <p:sp>
        <p:nvSpPr>
          <p:cNvPr id="47" name="Rounded Rectangle 46"/>
          <p:cNvSpPr/>
          <p:nvPr/>
        </p:nvSpPr>
        <p:spPr>
          <a:xfrm>
            <a:off x="5532120" y="4462272"/>
            <a:ext cx="3749039" cy="585216"/>
          </a:xfrm>
          <a:prstGeom prst="roundRect">
            <a:avLst>
              <a:gd name="adj" fmla="val 12500"/>
            </a:avLst>
          </a:prstGeom>
          <a:solidFill>
            <a:srgbClr val="F0F2F8"/>
          </a:solidFill>
          <a:ln w="15875">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678424" y="4480559"/>
            <a:ext cx="2743199" cy="292608"/>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전송 · I/O</a:t>
            </a:r>
          </a:p>
        </p:txBody>
      </p:sp>
      <p:sp>
        <p:nvSpPr>
          <p:cNvPr id="49" name="TextBox 48"/>
          <p:cNvSpPr txBox="1"/>
          <p:nvPr/>
        </p:nvSpPr>
        <p:spPr>
          <a:xfrm>
            <a:off x="5678424" y="4754880"/>
            <a:ext cx="2926079"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NIXL · GDS · io_uring · xNVMe</a:t>
            </a:r>
          </a:p>
        </p:txBody>
      </p:sp>
      <p:sp>
        <p:nvSpPr>
          <p:cNvPr id="50" name="Rounded Rectangle 49"/>
          <p:cNvSpPr/>
          <p:nvPr/>
        </p:nvSpPr>
        <p:spPr>
          <a:xfrm>
            <a:off x="8494776" y="4590288"/>
            <a:ext cx="676656" cy="329184"/>
          </a:xfrm>
          <a:prstGeom prst="roundRect">
            <a:avLst>
              <a:gd name="adj" fmla="val 22222"/>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549640" y="4590288"/>
            <a:ext cx="566928" cy="329184"/>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일부</a:t>
            </a:r>
          </a:p>
        </p:txBody>
      </p:sp>
      <p:sp>
        <p:nvSpPr>
          <p:cNvPr id="52" name="Rounded Rectangle 51"/>
          <p:cNvSpPr/>
          <p:nvPr/>
        </p:nvSpPr>
        <p:spPr>
          <a:xfrm>
            <a:off x="5532120" y="5111496"/>
            <a:ext cx="3749039" cy="585216"/>
          </a:xfrm>
          <a:prstGeom prst="roundRect">
            <a:avLst>
              <a:gd name="adj" fmla="val 12500"/>
            </a:avLst>
          </a:prstGeom>
          <a:solidFill>
            <a:srgbClr val="F0F2F8"/>
          </a:solidFill>
          <a:ln w="15875">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78424" y="5129783"/>
            <a:ext cx="2743199" cy="292608"/>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커널 · 파일 시스템</a:t>
            </a:r>
          </a:p>
        </p:txBody>
      </p:sp>
      <p:sp>
        <p:nvSpPr>
          <p:cNvPr id="54" name="TextBox 53"/>
          <p:cNvSpPr txBox="1"/>
          <p:nvPr/>
        </p:nvSpPr>
        <p:spPr>
          <a:xfrm>
            <a:off x="5678424" y="5404104"/>
            <a:ext cx="2926079"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write streams · XFS · NVMe FDP</a:t>
            </a:r>
          </a:p>
        </p:txBody>
      </p:sp>
      <p:sp>
        <p:nvSpPr>
          <p:cNvPr id="55" name="Rounded Rectangle 54"/>
          <p:cNvSpPr/>
          <p:nvPr/>
        </p:nvSpPr>
        <p:spPr>
          <a:xfrm>
            <a:off x="8494776" y="5239512"/>
            <a:ext cx="676656" cy="329184"/>
          </a:xfrm>
          <a:prstGeom prst="roundRect">
            <a:avLst>
              <a:gd name="adj" fmla="val 22222"/>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549640" y="5239512"/>
            <a:ext cx="566928" cy="329184"/>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일부</a:t>
            </a:r>
          </a:p>
        </p:txBody>
      </p:sp>
      <p:sp>
        <p:nvSpPr>
          <p:cNvPr id="57" name="Rounded Rectangle 56"/>
          <p:cNvSpPr/>
          <p:nvPr/>
        </p:nvSpPr>
        <p:spPr>
          <a:xfrm>
            <a:off x="5532120" y="5760720"/>
            <a:ext cx="3749039" cy="585216"/>
          </a:xfrm>
          <a:prstGeom prst="roundRect">
            <a:avLst>
              <a:gd name="adj" fmla="val 1250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678424" y="5779007"/>
            <a:ext cx="2743199" cy="292608"/>
          </a:xfrm>
          <a:prstGeom prst="rect">
            <a:avLst/>
          </a:prstGeom>
          <a:noFill/>
        </p:spPr>
        <p:txBody>
          <a:bodyPr wrap="square" anchor="ctr" lIns="0" rIns="0" tIns="0" bIns="0">
            <a:spAutoFit/>
          </a:bodyPr>
          <a:lstStyle/>
          <a:p>
            <a:pPr algn="l">
              <a:lnSpc>
                <a:spcPct val="110000"/>
              </a:lnSpc>
            </a:pPr>
            <a:r>
              <a:rPr sz="1700" b="1">
                <a:solidFill>
                  <a:srgbClr val="FFFFFF"/>
                </a:solidFill>
                <a:latin typeface="Arial"/>
                <a:ea typeface="Arial"/>
              </a:rPr>
              <a:t>SSD 펌웨어</a:t>
            </a:r>
          </a:p>
        </p:txBody>
      </p:sp>
      <p:sp>
        <p:nvSpPr>
          <p:cNvPr id="59" name="TextBox 58"/>
          <p:cNvSpPr txBox="1"/>
          <p:nvPr/>
        </p:nvSpPr>
        <p:spPr>
          <a:xfrm>
            <a:off x="5678424" y="6053328"/>
            <a:ext cx="2926079" cy="274320"/>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FDP · pSLC · Large IU · GC</a:t>
            </a:r>
          </a:p>
        </p:txBody>
      </p:sp>
      <p:sp>
        <p:nvSpPr>
          <p:cNvPr id="60" name="Rounded Rectangle 59"/>
          <p:cNvSpPr/>
          <p:nvPr/>
        </p:nvSpPr>
        <p:spPr>
          <a:xfrm>
            <a:off x="8494776" y="5888736"/>
            <a:ext cx="676656" cy="329184"/>
          </a:xfrm>
          <a:prstGeom prst="roundRect">
            <a:avLst>
              <a:gd name="adj" fmla="val 22222"/>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549640" y="5888736"/>
            <a:ext cx="566928" cy="329184"/>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강점</a:t>
            </a:r>
          </a:p>
        </p:txBody>
      </p:sp>
      <p:sp>
        <p:nvSpPr>
          <p:cNvPr id="62" name="Rounded Rectangle 61"/>
          <p:cNvSpPr/>
          <p:nvPr/>
        </p:nvSpPr>
        <p:spPr>
          <a:xfrm>
            <a:off x="5532120" y="6409944"/>
            <a:ext cx="3749039" cy="585216"/>
          </a:xfrm>
          <a:prstGeom prst="roundRect">
            <a:avLst>
              <a:gd name="adj" fmla="val 1250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678424" y="6428231"/>
            <a:ext cx="2743199" cy="292608"/>
          </a:xfrm>
          <a:prstGeom prst="rect">
            <a:avLst/>
          </a:prstGeom>
          <a:noFill/>
        </p:spPr>
        <p:txBody>
          <a:bodyPr wrap="square" anchor="ctr" lIns="0" rIns="0" tIns="0" bIns="0">
            <a:spAutoFit/>
          </a:bodyPr>
          <a:lstStyle/>
          <a:p>
            <a:pPr algn="l">
              <a:lnSpc>
                <a:spcPct val="110000"/>
              </a:lnSpc>
            </a:pPr>
            <a:r>
              <a:rPr sz="1700" b="1">
                <a:solidFill>
                  <a:srgbClr val="FFFFFF"/>
                </a:solidFill>
                <a:latin typeface="Arial"/>
                <a:ea typeface="Arial"/>
              </a:rPr>
              <a:t>NAND</a:t>
            </a:r>
          </a:p>
        </p:txBody>
      </p:sp>
      <p:sp>
        <p:nvSpPr>
          <p:cNvPr id="64" name="TextBox 63"/>
          <p:cNvSpPr txBox="1"/>
          <p:nvPr/>
        </p:nvSpPr>
        <p:spPr>
          <a:xfrm>
            <a:off x="5678424" y="6702552"/>
            <a:ext cx="2926079" cy="274320"/>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TLC · QLC · Z-NAND</a:t>
            </a:r>
          </a:p>
        </p:txBody>
      </p:sp>
      <p:sp>
        <p:nvSpPr>
          <p:cNvPr id="65" name="Rounded Rectangle 64"/>
          <p:cNvSpPr/>
          <p:nvPr/>
        </p:nvSpPr>
        <p:spPr>
          <a:xfrm>
            <a:off x="8494776" y="6537959"/>
            <a:ext cx="676656" cy="329184"/>
          </a:xfrm>
          <a:prstGeom prst="roundRect">
            <a:avLst>
              <a:gd name="adj" fmla="val 22222"/>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549640" y="6537959"/>
            <a:ext cx="566928" cy="329184"/>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강점</a:t>
            </a:r>
          </a:p>
        </p:txBody>
      </p:sp>
      <p:sp>
        <p:nvSpPr>
          <p:cNvPr id="67" name="Down Arrow 66"/>
          <p:cNvSpPr/>
          <p:nvPr/>
        </p:nvSpPr>
        <p:spPr>
          <a:xfrm>
            <a:off x="9409176" y="4014216"/>
            <a:ext cx="384048" cy="2130552"/>
          </a:xfrm>
          <a:prstGeom prst="down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848088" y="3995928"/>
            <a:ext cx="1216152" cy="566928"/>
          </a:xfrm>
          <a:prstGeom prst="rect">
            <a:avLst/>
          </a:prstGeom>
          <a:noFill/>
        </p:spPr>
        <p:txBody>
          <a:bodyPr wrap="square" anchor="ctr" lIns="0" rIns="0" tIns="0" bIns="0">
            <a:spAutoFit/>
          </a:bodyPr>
          <a:lstStyle/>
          <a:p>
            <a:pPr algn="l">
              <a:lnSpc>
                <a:spcPct val="95000"/>
              </a:lnSpc>
            </a:pPr>
            <a:r>
              <a:rPr sz="1600" b="1">
                <a:solidFill>
                  <a:srgbClr val="3C4FA5"/>
                </a:solidFill>
                <a:latin typeface="Arial"/>
                <a:ea typeface="Arial"/>
              </a:rPr>
              <a:t>수명 정보</a:t>
            </a:r>
          </a:p>
          <a:p>
            <a:pPr algn="l">
              <a:lnSpc>
                <a:spcPct val="95000"/>
              </a:lnSpc>
            </a:pPr>
            <a:r>
              <a:rPr sz="1500" b="0">
                <a:solidFill>
                  <a:srgbClr val="555555"/>
                </a:solidFill>
                <a:latin typeface="Arial"/>
                <a:ea typeface="Arial"/>
              </a:rPr>
              <a:t>prefix · 세션</a:t>
            </a:r>
          </a:p>
        </p:txBody>
      </p:sp>
      <p:sp>
        <p:nvSpPr>
          <p:cNvPr id="69" name="TextBox 68"/>
          <p:cNvSpPr txBox="1"/>
          <p:nvPr/>
        </p:nvSpPr>
        <p:spPr>
          <a:xfrm>
            <a:off x="9848088" y="4695444"/>
            <a:ext cx="1216152" cy="768096"/>
          </a:xfrm>
          <a:prstGeom prst="rect">
            <a:avLst/>
          </a:prstGeom>
          <a:noFill/>
        </p:spPr>
        <p:txBody>
          <a:bodyPr wrap="square" anchor="ctr" lIns="0" rIns="0" tIns="0" bIns="0">
            <a:spAutoFit/>
          </a:bodyPr>
          <a:lstStyle/>
          <a:p>
            <a:pPr algn="l">
              <a:lnSpc>
                <a:spcPct val="95000"/>
              </a:lnSpc>
            </a:pPr>
            <a:r>
              <a:rPr sz="1600" b="1">
                <a:solidFill>
                  <a:srgbClr val="3C4FA5"/>
                </a:solidFill>
                <a:latin typeface="Arial"/>
                <a:ea typeface="Arial"/>
              </a:rPr>
              <a:t>함께</a:t>
            </a:r>
          </a:p>
          <a:p>
            <a:pPr algn="l">
              <a:lnSpc>
                <a:spcPct val="95000"/>
              </a:lnSpc>
            </a:pPr>
            <a:r>
              <a:rPr sz="1600" b="1">
                <a:solidFill>
                  <a:srgbClr val="3C4FA5"/>
                </a:solidFill>
                <a:latin typeface="Arial"/>
                <a:ea typeface="Arial"/>
              </a:rPr>
              <a:t>만들</a:t>
            </a:r>
          </a:p>
          <a:p>
            <a:pPr algn="l">
              <a:lnSpc>
                <a:spcPct val="95000"/>
              </a:lnSpc>
            </a:pPr>
            <a:r>
              <a:rPr sz="1600" b="1">
                <a:solidFill>
                  <a:srgbClr val="3C4FA5"/>
                </a:solidFill>
                <a:latin typeface="Arial"/>
                <a:ea typeface="Arial"/>
              </a:rPr>
              <a:t>경로</a:t>
            </a:r>
          </a:p>
        </p:txBody>
      </p:sp>
      <p:sp>
        <p:nvSpPr>
          <p:cNvPr id="70" name="TextBox 69"/>
          <p:cNvSpPr txBox="1"/>
          <p:nvPr/>
        </p:nvSpPr>
        <p:spPr>
          <a:xfrm>
            <a:off x="9848088" y="5779008"/>
            <a:ext cx="1216152" cy="566928"/>
          </a:xfrm>
          <a:prstGeom prst="rect">
            <a:avLst/>
          </a:prstGeom>
          <a:noFill/>
        </p:spPr>
        <p:txBody>
          <a:bodyPr wrap="square" anchor="ctr" lIns="0" rIns="0" tIns="0" bIns="0">
            <a:spAutoFit/>
          </a:bodyPr>
          <a:lstStyle/>
          <a:p>
            <a:pPr algn="l">
              <a:lnSpc>
                <a:spcPct val="95000"/>
              </a:lnSpc>
            </a:pPr>
            <a:r>
              <a:rPr sz="1600" b="1">
                <a:solidFill>
                  <a:srgbClr val="3C4FA5"/>
                </a:solidFill>
                <a:latin typeface="Arial"/>
                <a:ea typeface="Arial"/>
              </a:rPr>
              <a:t>SSD 배치</a:t>
            </a:r>
          </a:p>
          <a:p>
            <a:pPr algn="l">
              <a:lnSpc>
                <a:spcPct val="95000"/>
              </a:lnSpc>
            </a:pPr>
            <a:r>
              <a:rPr sz="1500" b="0">
                <a:solidFill>
                  <a:srgbClr val="555555"/>
                </a:solidFill>
                <a:latin typeface="Arial"/>
                <a:ea typeface="Arial"/>
              </a:rPr>
              <a:t>FDP 핸들</a:t>
            </a:r>
          </a:p>
        </p:txBody>
      </p:sp>
      <p:sp>
        <p:nvSpPr>
          <p:cNvPr id="71" name="Rounded Rectangle 70"/>
          <p:cNvSpPr/>
          <p:nvPr/>
        </p:nvSpPr>
        <p:spPr>
          <a:xfrm>
            <a:off x="5532120" y="7150607"/>
            <a:ext cx="5532120" cy="1389888"/>
          </a:xfrm>
          <a:prstGeom prst="roundRect">
            <a:avLst>
              <a:gd name="adj" fmla="val 5263"/>
            </a:avLst>
          </a:prstGeom>
          <a:solidFill>
            <a:srgbClr val="FFFFFF"/>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5696712" y="7242047"/>
            <a:ext cx="731520" cy="329184"/>
          </a:xfrm>
          <a:prstGeom prst="roundRect">
            <a:avLst>
              <a:gd name="adj" fmla="val 22222"/>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751575" y="7242047"/>
            <a:ext cx="621792"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화두</a:t>
            </a:r>
          </a:p>
        </p:txBody>
      </p:sp>
      <p:sp>
        <p:nvSpPr>
          <p:cNvPr id="74" name="TextBox 73"/>
          <p:cNvSpPr txBox="1"/>
          <p:nvPr/>
        </p:nvSpPr>
        <p:spPr>
          <a:xfrm>
            <a:off x="6519672" y="7223759"/>
            <a:ext cx="4434840" cy="365760"/>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고객 관계(CRM)를 </a:t>
            </a:r>
            <a:r>
              <a:rPr sz="1700" b="1">
                <a:solidFill>
                  <a:srgbClr val="3C4FA5"/>
                </a:solidFill>
                <a:latin typeface="Arial"/>
                <a:ea typeface="Arial"/>
              </a:rPr>
              <a:t>엔지니어까지</a:t>
            </a:r>
          </a:p>
        </p:txBody>
      </p:sp>
      <p:sp>
        <p:nvSpPr>
          <p:cNvPr id="75" name="Rounded Rectangle 74"/>
          <p:cNvSpPr/>
          <p:nvPr/>
        </p:nvSpPr>
        <p:spPr>
          <a:xfrm>
            <a:off x="5751576" y="7644383"/>
            <a:ext cx="1060704" cy="274320"/>
          </a:xfrm>
          <a:prstGeom prst="roundRect">
            <a:avLst>
              <a:gd name="adj" fmla="val 2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806440" y="7644383"/>
            <a:ext cx="950976" cy="274320"/>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77" name="Rounded Rectangle 76"/>
          <p:cNvSpPr/>
          <p:nvPr/>
        </p:nvSpPr>
        <p:spPr>
          <a:xfrm>
            <a:off x="8129016" y="7644383"/>
            <a:ext cx="1060704" cy="274320"/>
          </a:xfrm>
          <a:prstGeom prst="roundRect">
            <a:avLst>
              <a:gd name="adj" fmla="val 2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183880" y="7644383"/>
            <a:ext cx="950976" cy="274320"/>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79" name="Rectangle 78"/>
          <p:cNvSpPr/>
          <p:nvPr/>
        </p:nvSpPr>
        <p:spPr>
          <a:xfrm>
            <a:off x="6848856" y="7772400"/>
            <a:ext cx="1243584"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ounded Rectangle 79"/>
          <p:cNvSpPr/>
          <p:nvPr/>
        </p:nvSpPr>
        <p:spPr>
          <a:xfrm>
            <a:off x="5751576" y="7955279"/>
            <a:ext cx="1060704" cy="274320"/>
          </a:xfrm>
          <a:prstGeom prst="roundRect">
            <a:avLst>
              <a:gd name="adj" fmla="val 2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5806440" y="7955279"/>
            <a:ext cx="950976" cy="274320"/>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영업</a:t>
            </a:r>
          </a:p>
        </p:txBody>
      </p:sp>
      <p:sp>
        <p:nvSpPr>
          <p:cNvPr id="82" name="Rounded Rectangle 81"/>
          <p:cNvSpPr/>
          <p:nvPr/>
        </p:nvSpPr>
        <p:spPr>
          <a:xfrm>
            <a:off x="8129016" y="7955279"/>
            <a:ext cx="1060704" cy="274320"/>
          </a:xfrm>
          <a:prstGeom prst="roundRect">
            <a:avLst>
              <a:gd name="adj" fmla="val 2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183880" y="7955279"/>
            <a:ext cx="950976" cy="274320"/>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구매</a:t>
            </a:r>
          </a:p>
        </p:txBody>
      </p:sp>
      <p:sp>
        <p:nvSpPr>
          <p:cNvPr id="84" name="Rectangle 83"/>
          <p:cNvSpPr/>
          <p:nvPr/>
        </p:nvSpPr>
        <p:spPr>
          <a:xfrm>
            <a:off x="6848856" y="8083296"/>
            <a:ext cx="1243584"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5751576" y="8266175"/>
            <a:ext cx="1060704" cy="274320"/>
          </a:xfrm>
          <a:prstGeom prst="roundRect">
            <a:avLst>
              <a:gd name="adj" fmla="val 26666"/>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806440" y="8266175"/>
            <a:ext cx="950976" cy="274320"/>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87" name="Rounded Rectangle 86"/>
          <p:cNvSpPr/>
          <p:nvPr/>
        </p:nvSpPr>
        <p:spPr>
          <a:xfrm>
            <a:off x="8129016" y="8266175"/>
            <a:ext cx="1060704" cy="274320"/>
          </a:xfrm>
          <a:prstGeom prst="roundRect">
            <a:avLst>
              <a:gd name="adj" fmla="val 26666"/>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8183880" y="8266175"/>
            <a:ext cx="950976" cy="274320"/>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89" name="Rectangle 88"/>
          <p:cNvSpPr/>
          <p:nvPr/>
        </p:nvSpPr>
        <p:spPr>
          <a:xfrm>
            <a:off x="6848856" y="8375904"/>
            <a:ext cx="1243584" cy="5486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ounded Rectangle 89"/>
          <p:cNvSpPr/>
          <p:nvPr/>
        </p:nvSpPr>
        <p:spPr>
          <a:xfrm>
            <a:off x="6903720" y="8275319"/>
            <a:ext cx="1133856" cy="256032"/>
          </a:xfrm>
          <a:prstGeom prst="roundRect">
            <a:avLst>
              <a:gd name="adj" fmla="val 28571"/>
            </a:avLst>
          </a:prstGeom>
          <a:solidFill>
            <a:srgbClr val="FFFFFF"/>
          </a:solid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958583" y="8275319"/>
            <a:ext cx="1024128" cy="256032"/>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언어 · 문화</a:t>
            </a:r>
          </a:p>
        </p:txBody>
      </p:sp>
      <p:sp>
        <p:nvSpPr>
          <p:cNvPr id="92" name="Rectangle 91"/>
          <p:cNvSpPr/>
          <p:nvPr/>
        </p:nvSpPr>
        <p:spPr>
          <a:xfrm>
            <a:off x="9372600" y="7644383"/>
            <a:ext cx="36576" cy="58521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9281160" y="7644383"/>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9281160" y="8193024"/>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9445752" y="7799831"/>
            <a:ext cx="731520" cy="274320"/>
          </a:xfrm>
          <a:prstGeom prst="rect">
            <a:avLst/>
          </a:prstGeom>
          <a:noFill/>
        </p:spPr>
        <p:txBody>
          <a:bodyPr wrap="square" anchor="ctr" lIns="0" rIns="0" tIns="0" bIns="0">
            <a:spAutoFit/>
          </a:bodyPr>
          <a:lstStyle/>
          <a:p>
            <a:pPr algn="l">
              <a:lnSpc>
                <a:spcPct val="110000"/>
              </a:lnSpc>
            </a:pPr>
            <a:r>
              <a:rPr sz="1500" b="1">
                <a:solidFill>
                  <a:srgbClr val="8A8A8A"/>
                </a:solidFill>
                <a:latin typeface="Arial"/>
                <a:ea typeface="Arial"/>
              </a:rPr>
              <a:t>지금</a:t>
            </a:r>
          </a:p>
        </p:txBody>
      </p:sp>
      <p:sp>
        <p:nvSpPr>
          <p:cNvPr id="96" name="Rectangle 95"/>
          <p:cNvSpPr/>
          <p:nvPr/>
        </p:nvSpPr>
        <p:spPr>
          <a:xfrm>
            <a:off x="10104120" y="7644383"/>
            <a:ext cx="36576" cy="89611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0012680" y="7644383"/>
            <a:ext cx="109728" cy="3657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0012680" y="8503920"/>
            <a:ext cx="109728" cy="3657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10177272" y="7955279"/>
            <a:ext cx="731520" cy="274320"/>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앞으로</a:t>
            </a:r>
          </a:p>
        </p:txBody>
      </p:sp>
      <p:sp>
        <p:nvSpPr>
          <p:cNvPr id="100" name="Oval 99"/>
          <p:cNvSpPr/>
          <p:nvPr/>
        </p:nvSpPr>
        <p:spPr>
          <a:xfrm>
            <a:off x="11484864"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11484864"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102" name="TextBox 101"/>
          <p:cNvSpPr txBox="1"/>
          <p:nvPr/>
        </p:nvSpPr>
        <p:spPr>
          <a:xfrm>
            <a:off x="12070080" y="2103120"/>
            <a:ext cx="54955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사람: 고객 안에 상주 (FDE)</a:t>
            </a:r>
          </a:p>
        </p:txBody>
      </p:sp>
      <p:pic>
        <p:nvPicPr>
          <p:cNvPr id="103" name="Picture 102" descr="palantir.png"/>
          <p:cNvPicPr>
            <a:picLocks noChangeAspect="1"/>
          </p:cNvPicPr>
          <p:nvPr/>
        </p:nvPicPr>
        <p:blipFill>
          <a:blip r:embed="rId4"/>
          <a:stretch>
            <a:fillRect/>
          </a:stretch>
        </p:blipFill>
        <p:spPr>
          <a:xfrm>
            <a:off x="11484864" y="2715768"/>
            <a:ext cx="310896" cy="310896"/>
          </a:xfrm>
          <a:prstGeom prst="rect">
            <a:avLst/>
          </a:prstGeom>
        </p:spPr>
      </p:pic>
      <p:sp>
        <p:nvSpPr>
          <p:cNvPr id="104" name="TextBox 103"/>
          <p:cNvSpPr txBox="1"/>
          <p:nvPr/>
        </p:nvSpPr>
        <p:spPr>
          <a:xfrm>
            <a:off x="11887200" y="2688336"/>
            <a:ext cx="5678424" cy="347472"/>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Palantir FDE</a:t>
            </a:r>
            <a:r>
              <a:rPr sz="1600" b="0">
                <a:solidFill>
                  <a:srgbClr val="555555"/>
                </a:solidFill>
                <a:latin typeface="Arial"/>
                <a:ea typeface="Arial"/>
              </a:rPr>
              <a:t>   Anthropic · OpenAI도 채택</a:t>
            </a:r>
          </a:p>
        </p:txBody>
      </p:sp>
      <p:sp>
        <p:nvSpPr>
          <p:cNvPr id="105" name="TextBox 104"/>
          <p:cNvSpPr txBox="1"/>
          <p:nvPr/>
        </p:nvSpPr>
        <p:spPr>
          <a:xfrm>
            <a:off x="11484864"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06" name="Rounded Rectangle 105"/>
          <p:cNvSpPr/>
          <p:nvPr/>
        </p:nvSpPr>
        <p:spPr>
          <a:xfrm>
            <a:off x="11484864"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7" name="Picture 106" descr="samsung.png"/>
          <p:cNvPicPr>
            <a:picLocks noChangeAspect="1"/>
          </p:cNvPicPr>
          <p:nvPr/>
        </p:nvPicPr>
        <p:blipFill>
          <a:blip r:embed="rId5"/>
          <a:stretch>
            <a:fillRect/>
          </a:stretch>
        </p:blipFill>
        <p:spPr>
          <a:xfrm>
            <a:off x="11622024" y="3759998"/>
            <a:ext cx="1280160" cy="197538"/>
          </a:xfrm>
          <a:prstGeom prst="rect">
            <a:avLst/>
          </a:prstGeom>
        </p:spPr>
      </p:pic>
      <p:sp>
        <p:nvSpPr>
          <p:cNvPr id="108" name="Rounded Rectangle 107"/>
          <p:cNvSpPr/>
          <p:nvPr/>
        </p:nvSpPr>
        <p:spPr>
          <a:xfrm>
            <a:off x="16011144"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16066008" y="3584448"/>
            <a:ext cx="1444752" cy="54864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고객</a:t>
            </a:r>
          </a:p>
        </p:txBody>
      </p:sp>
      <p:sp>
        <p:nvSpPr>
          <p:cNvPr id="110" name="Rectangle 109"/>
          <p:cNvSpPr/>
          <p:nvPr/>
        </p:nvSpPr>
        <p:spPr>
          <a:xfrm>
            <a:off x="13112496" y="3849624"/>
            <a:ext cx="2825496" cy="274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Folded Corner 110"/>
          <p:cNvSpPr/>
          <p:nvPr/>
        </p:nvSpPr>
        <p:spPr>
          <a:xfrm>
            <a:off x="14324076" y="3602736"/>
            <a:ext cx="402336" cy="512064"/>
          </a:xfrm>
          <a:prstGeom prst="foldedCorner">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1484864" y="4187952"/>
            <a:ext cx="608076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스펙 문서로 명시된 요구만 오갑니다</a:t>
            </a:r>
          </a:p>
        </p:txBody>
      </p:sp>
      <p:sp>
        <p:nvSpPr>
          <p:cNvPr id="113" name="Isosceles Triangle 112"/>
          <p:cNvSpPr/>
          <p:nvPr/>
        </p:nvSpPr>
        <p:spPr>
          <a:xfrm rot="10800000">
            <a:off x="14324076" y="4553712"/>
            <a:ext cx="402336" cy="237744"/>
          </a:xfrm>
          <a:prstGeom prst="triangl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11484864" y="4846320"/>
            <a:ext cx="45720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앞으로: 고객 상주 협업의 세 가지 핵심 업무</a:t>
            </a:r>
          </a:p>
        </p:txBody>
      </p:sp>
      <p:sp>
        <p:nvSpPr>
          <p:cNvPr id="115" name="Rounded Rectangle 114"/>
          <p:cNvSpPr/>
          <p:nvPr/>
        </p:nvSpPr>
        <p:spPr>
          <a:xfrm>
            <a:off x="11484864" y="5248656"/>
            <a:ext cx="6080760" cy="3291839"/>
          </a:xfrm>
          <a:prstGeom prst="roundRect">
            <a:avLst>
              <a:gd name="adj" fmla="val 2222"/>
            </a:avLst>
          </a:prstGeom>
          <a:solidFill>
            <a:srgbClr val="F0F2F8"/>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4548104" y="5303520"/>
            <a:ext cx="2834640" cy="292608"/>
          </a:xfrm>
          <a:prstGeom prst="rect">
            <a:avLst/>
          </a:prstGeom>
          <a:noFill/>
        </p:spPr>
        <p:txBody>
          <a:bodyPr wrap="square" anchor="ctr" lIns="0" rIns="0" tIns="0" bIns="0">
            <a:spAutoFit/>
          </a:bodyPr>
          <a:lstStyle/>
          <a:p>
            <a:pPr algn="r">
              <a:lnSpc>
                <a:spcPct val="110000"/>
              </a:lnSpc>
            </a:pPr>
            <a:r>
              <a:rPr sz="1600" b="1">
                <a:solidFill>
                  <a:srgbClr val="3C4FA5"/>
                </a:solidFill>
                <a:latin typeface="Arial"/>
                <a:ea typeface="Arial"/>
              </a:rPr>
              <a:t>고객 AI 데이터센터 안에서</a:t>
            </a:r>
          </a:p>
        </p:txBody>
      </p:sp>
      <p:sp>
        <p:nvSpPr>
          <p:cNvPr id="117" name="Rounded Rectangle 116"/>
          <p:cNvSpPr/>
          <p:nvPr/>
        </p:nvSpPr>
        <p:spPr>
          <a:xfrm>
            <a:off x="11649456" y="5650992"/>
            <a:ext cx="1734312" cy="2761487"/>
          </a:xfrm>
          <a:prstGeom prst="roundRect">
            <a:avLst>
              <a:gd name="adj" fmla="val 4217"/>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11759184" y="5760720"/>
            <a:ext cx="329184" cy="3291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1759184"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120" name="TextBox 119"/>
          <p:cNvSpPr txBox="1"/>
          <p:nvPr/>
        </p:nvSpPr>
        <p:spPr>
          <a:xfrm>
            <a:off x="11722608" y="7699248"/>
            <a:ext cx="15880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고객 워크로드</a:t>
            </a:r>
          </a:p>
          <a:p>
            <a:pPr algn="ctr">
              <a:lnSpc>
                <a:spcPct val="100000"/>
              </a:lnSpc>
            </a:pPr>
            <a:r>
              <a:rPr sz="1900" b="1">
                <a:solidFill>
                  <a:srgbClr val="3C4FA5"/>
                </a:solidFill>
                <a:latin typeface="Arial"/>
                <a:ea typeface="Arial"/>
              </a:rPr>
              <a:t>측정 · 분석</a:t>
            </a:r>
          </a:p>
        </p:txBody>
      </p:sp>
      <p:sp>
        <p:nvSpPr>
          <p:cNvPr id="121" name="Chevron 120"/>
          <p:cNvSpPr/>
          <p:nvPr/>
        </p:nvSpPr>
        <p:spPr>
          <a:xfrm>
            <a:off x="13447776" y="6803136"/>
            <a:ext cx="146304" cy="457200"/>
          </a:xfrm>
          <a:prstGeom prst="chevron">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3658088" y="5650992"/>
            <a:ext cx="1734312" cy="2761487"/>
          </a:xfrm>
          <a:prstGeom prst="roundRect">
            <a:avLst>
              <a:gd name="adj" fmla="val 4217"/>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13767816" y="5760720"/>
            <a:ext cx="329184" cy="3291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3767816"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125" name="TextBox 124"/>
          <p:cNvSpPr txBox="1"/>
          <p:nvPr/>
        </p:nvSpPr>
        <p:spPr>
          <a:xfrm>
            <a:off x="13731240" y="7699248"/>
            <a:ext cx="15880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호스트 SW 스택</a:t>
            </a:r>
          </a:p>
          <a:p>
            <a:pPr algn="ctr">
              <a:lnSpc>
                <a:spcPct val="100000"/>
              </a:lnSpc>
            </a:pPr>
            <a:r>
              <a:rPr sz="1900" b="1">
                <a:solidFill>
                  <a:srgbClr val="3C4FA5"/>
                </a:solidFill>
                <a:latin typeface="Arial"/>
                <a:ea typeface="Arial"/>
              </a:rPr>
              <a:t>최적화 · 평가</a:t>
            </a:r>
          </a:p>
        </p:txBody>
      </p:sp>
      <p:sp>
        <p:nvSpPr>
          <p:cNvPr id="126" name="Chevron 125"/>
          <p:cNvSpPr/>
          <p:nvPr/>
        </p:nvSpPr>
        <p:spPr>
          <a:xfrm>
            <a:off x="15456408" y="6803136"/>
            <a:ext cx="146304" cy="457200"/>
          </a:xfrm>
          <a:prstGeom prst="chevron">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ounded Rectangle 126"/>
          <p:cNvSpPr/>
          <p:nvPr/>
        </p:nvSpPr>
        <p:spPr>
          <a:xfrm>
            <a:off x="15666720" y="5650992"/>
            <a:ext cx="1734312" cy="2761487"/>
          </a:xfrm>
          <a:prstGeom prst="roundRect">
            <a:avLst>
              <a:gd name="adj" fmla="val 4217"/>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5776448" y="5760720"/>
            <a:ext cx="329184" cy="3291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5776448"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130" name="TextBox 129"/>
          <p:cNvSpPr txBox="1"/>
          <p:nvPr/>
        </p:nvSpPr>
        <p:spPr>
          <a:xfrm>
            <a:off x="15739871" y="7699248"/>
            <a:ext cx="15880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차세대 제품</a:t>
            </a:r>
          </a:p>
          <a:p>
            <a:pPr algn="ctr">
              <a:lnSpc>
                <a:spcPct val="100000"/>
              </a:lnSpc>
            </a:pPr>
            <a:r>
              <a:rPr sz="1900" b="1">
                <a:solidFill>
                  <a:srgbClr val="3C4FA5"/>
                </a:solidFill>
                <a:latin typeface="Arial"/>
                <a:ea typeface="Arial"/>
              </a:rPr>
              <a:t>기술 교류</a:t>
            </a:r>
          </a:p>
        </p:txBody>
      </p:sp>
      <p:sp>
        <p:nvSpPr>
          <p:cNvPr id="131" name="Rectangle 130"/>
          <p:cNvSpPr/>
          <p:nvPr/>
        </p:nvSpPr>
        <p:spPr>
          <a:xfrm>
            <a:off x="11868912" y="7626096"/>
            <a:ext cx="1316736"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11923776" y="7126833"/>
            <a:ext cx="155448" cy="49926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12134088" y="6484924"/>
            <a:ext cx="155448" cy="1141171"/>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12344400" y="6841540"/>
            <a:ext cx="155448" cy="78455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12554712" y="6270955"/>
            <a:ext cx="155448" cy="1355140"/>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12765024" y="7198156"/>
            <a:ext cx="155448" cy="42793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12975336" y="6770217"/>
            <a:ext cx="155448" cy="85587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12487656" y="6163056"/>
            <a:ext cx="512064" cy="512064"/>
          </a:xfrm>
          <a:prstGeom prst="ellipse">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rot="2700000">
            <a:off x="12908280" y="6638544"/>
            <a:ext cx="310896" cy="8229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ounded Rectangle 139"/>
          <p:cNvSpPr/>
          <p:nvPr/>
        </p:nvSpPr>
        <p:spPr>
          <a:xfrm>
            <a:off x="13840968" y="6144768"/>
            <a:ext cx="1021080" cy="469391"/>
          </a:xfrm>
          <a:prstGeom prst="roundRect">
            <a:avLst>
              <a:gd name="adj" fmla="val 15584"/>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13895832" y="6144768"/>
            <a:ext cx="911352" cy="469391"/>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KV 캐시</a:t>
            </a:r>
          </a:p>
        </p:txBody>
      </p:sp>
      <p:sp>
        <p:nvSpPr>
          <p:cNvPr id="142" name="Rounded Rectangle 141"/>
          <p:cNvSpPr/>
          <p:nvPr/>
        </p:nvSpPr>
        <p:spPr>
          <a:xfrm>
            <a:off x="13840968" y="6669024"/>
            <a:ext cx="1021080" cy="469391"/>
          </a:xfrm>
          <a:prstGeom prst="roundRect">
            <a:avLst>
              <a:gd name="adj" fmla="val 1558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3895832" y="6669024"/>
            <a:ext cx="911352" cy="469391"/>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커널</a:t>
            </a:r>
          </a:p>
        </p:txBody>
      </p:sp>
      <p:sp>
        <p:nvSpPr>
          <p:cNvPr id="144" name="Rounded Rectangle 143"/>
          <p:cNvSpPr/>
          <p:nvPr/>
        </p:nvSpPr>
        <p:spPr>
          <a:xfrm>
            <a:off x="13840968" y="7193280"/>
            <a:ext cx="1021080" cy="469391"/>
          </a:xfrm>
          <a:prstGeom prst="roundRect">
            <a:avLst>
              <a:gd name="adj" fmla="val 15584"/>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13895832" y="7193280"/>
            <a:ext cx="911352" cy="469391"/>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a:t>
            </a:r>
          </a:p>
        </p:txBody>
      </p:sp>
      <p:sp>
        <p:nvSpPr>
          <p:cNvPr id="146" name="Up-Down Arrow 145"/>
          <p:cNvSpPr/>
          <p:nvPr/>
        </p:nvSpPr>
        <p:spPr>
          <a:xfrm>
            <a:off x="14953488" y="6379464"/>
            <a:ext cx="292608" cy="1048511"/>
          </a:xfrm>
          <a:prstGeom prst="upDown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15909767" y="6473952"/>
            <a:ext cx="217261" cy="217261"/>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ound Same Side Corner Rectangle 147"/>
          <p:cNvSpPr/>
          <p:nvPr/>
        </p:nvSpPr>
        <p:spPr>
          <a:xfrm>
            <a:off x="15831312" y="6727423"/>
            <a:ext cx="374172" cy="350032"/>
          </a:xfrm>
          <a:prstGeom prst="round2SameRect">
            <a:avLst>
              <a:gd name="adj1" fmla="val 45000"/>
              <a:gd name="adj2" fmla="val 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Oval 148"/>
          <p:cNvSpPr/>
          <p:nvPr/>
        </p:nvSpPr>
        <p:spPr>
          <a:xfrm>
            <a:off x="16940723" y="6473952"/>
            <a:ext cx="217261" cy="217261"/>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ound Same Side Corner Rectangle 149"/>
          <p:cNvSpPr/>
          <p:nvPr/>
        </p:nvSpPr>
        <p:spPr>
          <a:xfrm>
            <a:off x="16862267" y="6727423"/>
            <a:ext cx="374172" cy="350032"/>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ounded Rectangular Callout 150"/>
          <p:cNvSpPr/>
          <p:nvPr/>
        </p:nvSpPr>
        <p:spPr>
          <a:xfrm>
            <a:off x="16149827" y="6126480"/>
            <a:ext cx="768096" cy="365760"/>
          </a:xfrm>
          <a:prstGeom prst="wedgeRoundRectCallout">
            <a:avLst/>
          </a:prstGeom>
          <a:solidFill>
            <a:srgbClr val="FFFFFF"/>
          </a:solidFill>
          <a:ln w="1905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6149827" y="6126480"/>
            <a:ext cx="768096" cy="310896"/>
          </a:xfrm>
          <a:prstGeom prst="rect">
            <a:avLst/>
          </a:prstGeom>
          <a:noFill/>
        </p:spPr>
        <p:txBody>
          <a:bodyPr wrap="square" anchor="ctr" lIns="0" rIns="0" tIns="0" bIns="0">
            <a:spAutoFit/>
          </a:bodyPr>
          <a:lstStyle/>
          <a:p>
            <a:pPr algn="ctr">
              <a:lnSpc>
                <a:spcPct val="110000"/>
              </a:lnSpc>
            </a:pPr>
            <a:r>
              <a:rPr sz="1600" b="1">
                <a:solidFill>
                  <a:srgbClr val="3C4FA5"/>
                </a:solidFill>
                <a:latin typeface="Arial"/>
                <a:ea typeface="Arial"/>
              </a:rPr>
              <a:t>· · ·</a:t>
            </a:r>
          </a:p>
        </p:txBody>
      </p:sp>
      <p:pic>
        <p:nvPicPr>
          <p:cNvPr id="153" name="Picture 152" descr="render_ssd.png"/>
          <p:cNvPicPr>
            <a:picLocks noChangeAspect="1"/>
          </p:cNvPicPr>
          <p:nvPr/>
        </p:nvPicPr>
        <p:blipFill>
          <a:blip r:embed="rId6"/>
          <a:stretch>
            <a:fillRect/>
          </a:stretch>
        </p:blipFill>
        <p:spPr>
          <a:xfrm>
            <a:off x="16222980" y="6779146"/>
            <a:ext cx="621792" cy="230858"/>
          </a:xfrm>
          <a:prstGeom prst="rect">
            <a:avLst/>
          </a:prstGeom>
        </p:spPr>
      </p:pic>
      <p:sp>
        <p:nvSpPr>
          <p:cNvPr id="154" name="Rectangle 153"/>
          <p:cNvSpPr/>
          <p:nvPr/>
        </p:nvSpPr>
        <p:spPr>
          <a:xfrm>
            <a:off x="722376" y="8778240"/>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결론</a:t>
            </a:r>
          </a:p>
        </p:txBody>
      </p:sp>
      <p:sp>
        <p:nvSpPr>
          <p:cNvPr id="156" name="TextBox 155"/>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실패할 수도 있는 기술에 투자하는 것이, 불확실한 미래에 실패하지 않는 불변 전략입니다</a:t>
            </a:r>
          </a:p>
        </p:txBody>
      </p:sp>
      <p:sp>
        <p:nvSpPr>
          <p:cNvPr id="157" name="TextBox 156"/>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벤치마크: Micron ↔ Anthropic 전략적 계약(2026-06-22) · Palantir · OpenAI FDE(고객 상주, 명시적 대 실제 요구) · LMCache FDP 머지(PR #4016, 2026-08) · 추론 스택 지도(2026-09) · 로고는 식별 표시</a:t>
            </a:r>
          </a:p>
        </p:txBody>
      </p:sp>
      <p:sp>
        <p:nvSpPr>
          <p:cNvPr id="158" name="TextBox 157"/>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4 / 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8 / 8  참고 · 수요 전망</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eSSD 수요는 2030년까지 약 6배로 늘고,</a:t>
            </a:r>
          </a:p>
          <a:p>
            <a:pPr algn="l">
              <a:lnSpc>
                <a:spcPct val="105000"/>
              </a:lnSpc>
            </a:pPr>
            <a:r>
              <a:rPr sz="3200" b="1">
                <a:solidFill>
                  <a:srgbClr val="1A1A1A"/>
                </a:solidFill>
                <a:latin typeface="Arial"/>
                <a:ea typeface="Arial"/>
              </a:rPr>
              <a:t>가장 큰 몫은 AI 추론에서 나옵니다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39696"/>
            <a:ext cx="10424160"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eSSD 수요 (EB/년)</a:t>
            </a:r>
            <a:r>
              <a:rPr sz="1600" b="0">
                <a:solidFill>
                  <a:srgbClr val="555555"/>
                </a:solidFill>
                <a:latin typeface="Arial"/>
                <a:ea typeface="Arial"/>
              </a:rPr>
              <a:t>   막대 McKinsey 2024 기준 시나리오, 2025~2029는 보간(산술)</a:t>
            </a:r>
          </a:p>
        </p:txBody>
      </p:sp>
      <p:sp>
        <p:nvSpPr>
          <p:cNvPr id="7" name="Rectangle 6"/>
          <p:cNvSpPr/>
          <p:nvPr/>
        </p:nvSpPr>
        <p:spPr>
          <a:xfrm>
            <a:off x="1636776" y="7877555"/>
            <a:ext cx="7516367" cy="914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7735823"/>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9" name="Rectangle 8"/>
          <p:cNvSpPr/>
          <p:nvPr/>
        </p:nvSpPr>
        <p:spPr>
          <a:xfrm>
            <a:off x="1636776" y="6256019"/>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6114287"/>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400</a:t>
            </a:r>
          </a:p>
        </p:txBody>
      </p:sp>
      <p:sp>
        <p:nvSpPr>
          <p:cNvPr id="11" name="Rectangle 10"/>
          <p:cNvSpPr/>
          <p:nvPr/>
        </p:nvSpPr>
        <p:spPr>
          <a:xfrm>
            <a:off x="1636776" y="4634484"/>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92752"/>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800</a:t>
            </a:r>
          </a:p>
        </p:txBody>
      </p:sp>
      <p:sp>
        <p:nvSpPr>
          <p:cNvPr id="13" name="Rectangle 12"/>
          <p:cNvSpPr/>
          <p:nvPr/>
        </p:nvSpPr>
        <p:spPr>
          <a:xfrm>
            <a:off x="1636776" y="3012948"/>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2871215"/>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1,200</a:t>
            </a:r>
          </a:p>
        </p:txBody>
      </p:sp>
      <p:sp>
        <p:nvSpPr>
          <p:cNvPr id="15" name="Rectangle 14"/>
          <p:cNvSpPr/>
          <p:nvPr/>
        </p:nvSpPr>
        <p:spPr>
          <a:xfrm>
            <a:off x="2692908" y="2743200"/>
            <a:ext cx="9144" cy="513892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52344" y="2706624"/>
            <a:ext cx="1097280" cy="27432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전망 →</a:t>
            </a:r>
          </a:p>
        </p:txBody>
      </p:sp>
      <p:sp>
        <p:nvSpPr>
          <p:cNvPr id="17" name="Rectangle 16"/>
          <p:cNvSpPr/>
          <p:nvPr/>
        </p:nvSpPr>
        <p:spPr>
          <a:xfrm>
            <a:off x="1847088" y="7201082"/>
            <a:ext cx="640080" cy="68104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847088" y="7172706"/>
            <a:ext cx="640080" cy="2837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847088" y="7148382"/>
            <a:ext cx="640080" cy="2432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572768" y="6819198"/>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181</a:t>
            </a:r>
          </a:p>
        </p:txBody>
      </p:sp>
      <p:sp>
        <p:nvSpPr>
          <p:cNvPr id="21" name="TextBox 20"/>
          <p:cNvSpPr txBox="1"/>
          <p:nvPr/>
        </p:nvSpPr>
        <p:spPr>
          <a:xfrm>
            <a:off x="157276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2024</a:t>
            </a:r>
          </a:p>
        </p:txBody>
      </p:sp>
      <p:sp>
        <p:nvSpPr>
          <p:cNvPr id="22" name="Rectangle 21"/>
          <p:cNvSpPr/>
          <p:nvPr/>
        </p:nvSpPr>
        <p:spPr>
          <a:xfrm>
            <a:off x="2907791" y="7064235"/>
            <a:ext cx="640080" cy="81789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907791" y="7018236"/>
            <a:ext cx="640080" cy="45999"/>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907791" y="6968343"/>
            <a:ext cx="640080" cy="4989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633472" y="663915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225</a:t>
            </a:r>
          </a:p>
        </p:txBody>
      </p:sp>
      <p:sp>
        <p:nvSpPr>
          <p:cNvPr id="26" name="TextBox 25"/>
          <p:cNvSpPr txBox="1"/>
          <p:nvPr/>
        </p:nvSpPr>
        <p:spPr>
          <a:xfrm>
            <a:off x="2633472"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2025</a:t>
            </a:r>
          </a:p>
        </p:txBody>
      </p:sp>
      <p:sp>
        <p:nvSpPr>
          <p:cNvPr id="27" name="Rectangle 26"/>
          <p:cNvSpPr/>
          <p:nvPr/>
        </p:nvSpPr>
        <p:spPr>
          <a:xfrm>
            <a:off x="3968496" y="6899890"/>
            <a:ext cx="640080" cy="98223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68496" y="6825326"/>
            <a:ext cx="640080" cy="7456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968496" y="6722980"/>
            <a:ext cx="640080" cy="10234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94176" y="6393796"/>
            <a:ext cx="1188719" cy="292608"/>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286</a:t>
            </a:r>
          </a:p>
        </p:txBody>
      </p:sp>
      <p:sp>
        <p:nvSpPr>
          <p:cNvPr id="31" name="TextBox 30"/>
          <p:cNvSpPr txBox="1"/>
          <p:nvPr/>
        </p:nvSpPr>
        <p:spPr>
          <a:xfrm>
            <a:off x="3694176"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32" name="Rectangle 31"/>
          <p:cNvSpPr/>
          <p:nvPr/>
        </p:nvSpPr>
        <p:spPr>
          <a:xfrm>
            <a:off x="5029200" y="6702523"/>
            <a:ext cx="640080" cy="11796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0" y="6581653"/>
            <a:ext cx="640080" cy="120869"/>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0" y="6371713"/>
            <a:ext cx="640080" cy="20994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754880" y="604252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373</a:t>
            </a:r>
          </a:p>
        </p:txBody>
      </p:sp>
      <p:sp>
        <p:nvSpPr>
          <p:cNvPr id="36" name="TextBox 35"/>
          <p:cNvSpPr txBox="1"/>
          <p:nvPr/>
        </p:nvSpPr>
        <p:spPr>
          <a:xfrm>
            <a:off x="4754880"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2027</a:t>
            </a:r>
          </a:p>
        </p:txBody>
      </p:sp>
      <p:sp>
        <p:nvSpPr>
          <p:cNvPr id="37" name="Rectangle 36"/>
          <p:cNvSpPr/>
          <p:nvPr/>
        </p:nvSpPr>
        <p:spPr>
          <a:xfrm>
            <a:off x="6089904" y="6465497"/>
            <a:ext cx="640080" cy="141663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089904" y="6269566"/>
            <a:ext cx="640080" cy="195930"/>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089904" y="5838919"/>
            <a:ext cx="640080" cy="43064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815584" y="5509735"/>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504</a:t>
            </a:r>
          </a:p>
        </p:txBody>
      </p:sp>
      <p:sp>
        <p:nvSpPr>
          <p:cNvPr id="41" name="TextBox 40"/>
          <p:cNvSpPr txBox="1"/>
          <p:nvPr/>
        </p:nvSpPr>
        <p:spPr>
          <a:xfrm>
            <a:off x="5815584"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2028</a:t>
            </a:r>
          </a:p>
        </p:txBody>
      </p:sp>
      <p:sp>
        <p:nvSpPr>
          <p:cNvPr id="42" name="Rectangle 41"/>
          <p:cNvSpPr/>
          <p:nvPr/>
        </p:nvSpPr>
        <p:spPr>
          <a:xfrm>
            <a:off x="7150608" y="6180843"/>
            <a:ext cx="640080" cy="170128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150608" y="5863239"/>
            <a:ext cx="640080" cy="31760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150608" y="4979858"/>
            <a:ext cx="640080" cy="88338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76288" y="4650674"/>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716</a:t>
            </a:r>
          </a:p>
        </p:txBody>
      </p:sp>
      <p:sp>
        <p:nvSpPr>
          <p:cNvPr id="46" name="TextBox 45"/>
          <p:cNvSpPr txBox="1"/>
          <p:nvPr/>
        </p:nvSpPr>
        <p:spPr>
          <a:xfrm>
            <a:off x="687628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2029</a:t>
            </a:r>
          </a:p>
        </p:txBody>
      </p:sp>
      <p:sp>
        <p:nvSpPr>
          <p:cNvPr id="47" name="Rectangle 46"/>
          <p:cNvSpPr/>
          <p:nvPr/>
        </p:nvSpPr>
        <p:spPr>
          <a:xfrm>
            <a:off x="8211311" y="5838992"/>
            <a:ext cx="640080" cy="204313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11311" y="5324154"/>
            <a:ext cx="640080" cy="51483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211311" y="3512088"/>
            <a:ext cx="640080" cy="181206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936991" y="3182904"/>
            <a:ext cx="1188719" cy="292608"/>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1,078</a:t>
            </a:r>
          </a:p>
        </p:txBody>
      </p:sp>
      <p:sp>
        <p:nvSpPr>
          <p:cNvPr id="51" name="TextBox 50"/>
          <p:cNvSpPr txBox="1"/>
          <p:nvPr/>
        </p:nvSpPr>
        <p:spPr>
          <a:xfrm>
            <a:off x="7936991"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sp>
        <p:nvSpPr>
          <p:cNvPr id="52" name="TextBox 51"/>
          <p:cNvSpPr txBox="1"/>
          <p:nvPr/>
        </p:nvSpPr>
        <p:spPr>
          <a:xfrm>
            <a:off x="8979407" y="6567952"/>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범용 · 엔터프라이즈</a:t>
            </a:r>
          </a:p>
          <a:p>
            <a:pPr algn="l">
              <a:lnSpc>
                <a:spcPct val="100000"/>
              </a:lnSpc>
            </a:pPr>
            <a:r>
              <a:rPr sz="1600" b="0">
                <a:solidFill>
                  <a:srgbClr val="555555"/>
                </a:solidFill>
                <a:latin typeface="Arial"/>
                <a:ea typeface="Arial"/>
              </a:rPr>
              <a:t>504 (산술)</a:t>
            </a:r>
          </a:p>
        </p:txBody>
      </p:sp>
      <p:sp>
        <p:nvSpPr>
          <p:cNvPr id="53" name="TextBox 52"/>
          <p:cNvSpPr txBox="1"/>
          <p:nvPr/>
        </p:nvSpPr>
        <p:spPr>
          <a:xfrm>
            <a:off x="8979407" y="5288965"/>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AI 학습</a:t>
            </a:r>
          </a:p>
          <a:p>
            <a:pPr algn="l">
              <a:lnSpc>
                <a:spcPct val="100000"/>
              </a:lnSpc>
            </a:pPr>
            <a:r>
              <a:rPr sz="1600" b="0">
                <a:solidFill>
                  <a:srgbClr val="555555"/>
                </a:solidFill>
                <a:latin typeface="Arial"/>
                <a:ea typeface="Arial"/>
              </a:rPr>
              <a:t>127</a:t>
            </a:r>
          </a:p>
        </p:txBody>
      </p:sp>
      <p:sp>
        <p:nvSpPr>
          <p:cNvPr id="54" name="TextBox 53"/>
          <p:cNvSpPr txBox="1"/>
          <p:nvPr/>
        </p:nvSpPr>
        <p:spPr>
          <a:xfrm>
            <a:off x="8979407" y="4125513"/>
            <a:ext cx="2194560" cy="585216"/>
          </a:xfrm>
          <a:prstGeom prst="rect">
            <a:avLst/>
          </a:prstGeom>
          <a:noFill/>
        </p:spPr>
        <p:txBody>
          <a:bodyPr wrap="square" anchor="ctr" lIns="0" rIns="0" tIns="0" bIns="0">
            <a:spAutoFit/>
          </a:bodyPr>
          <a:lstStyle/>
          <a:p>
            <a:pPr algn="l">
              <a:lnSpc>
                <a:spcPct val="100000"/>
              </a:lnSpc>
            </a:pPr>
            <a:r>
              <a:rPr sz="1800" b="1">
                <a:solidFill>
                  <a:srgbClr val="3C4FA5"/>
                </a:solidFill>
                <a:latin typeface="Arial"/>
                <a:ea typeface="Arial"/>
              </a:rPr>
              <a:t>AI 추론</a:t>
            </a:r>
          </a:p>
          <a:p>
            <a:pPr algn="l">
              <a:lnSpc>
                <a:spcPct val="100000"/>
              </a:lnSpc>
            </a:pPr>
            <a:r>
              <a:rPr sz="1600" b="1">
                <a:solidFill>
                  <a:srgbClr val="3C4FA5"/>
                </a:solidFill>
                <a:latin typeface="Arial"/>
                <a:ea typeface="Arial"/>
              </a:rPr>
              <a:t>447</a:t>
            </a:r>
          </a:p>
        </p:txBody>
      </p:sp>
      <p:cxnSp>
        <p:nvCxnSpPr>
          <p:cNvPr id="55" name="Connector 54"/>
          <p:cNvCxnSpPr/>
          <p:nvPr/>
        </p:nvCxnSpPr>
        <p:spPr>
          <a:xfrm>
            <a:off x="6409944" y="4233672"/>
            <a:ext cx="1653589" cy="0"/>
          </a:xfrm>
          <a:prstGeom prst="line">
            <a:avLst/>
          </a:prstGeom>
          <a:ln w="22225">
            <a:solidFill>
              <a:srgbClr val="677ECD"/>
            </a:solidFill>
            <a:prstDash val="dash"/>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8008669" y="4178808"/>
            <a:ext cx="109728" cy="109728"/>
          </a:xfrm>
          <a:prstGeom prst="ellipse">
            <a:avLst/>
          </a:prstGeom>
          <a:solidFill>
            <a:srgbClr val="FFFFFF"/>
          </a:solidFill>
          <a:ln w="1905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Diamond 56"/>
          <p:cNvSpPr/>
          <p:nvPr/>
        </p:nvSpPr>
        <p:spPr>
          <a:xfrm>
            <a:off x="6281928" y="4105656"/>
            <a:ext cx="256032" cy="256032"/>
          </a:xfrm>
          <a:prstGeom prst="diamond">
            <a:avLst/>
          </a:prstGeom>
          <a:solidFill>
            <a:srgbClr val="677ECD"/>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306824" y="4078224"/>
            <a:ext cx="1920240" cy="310896"/>
          </a:xfrm>
          <a:prstGeom prst="rect">
            <a:avLst/>
          </a:prstGeom>
          <a:noFill/>
        </p:spPr>
        <p:txBody>
          <a:bodyPr wrap="square" anchor="ctr" lIns="0" rIns="0" tIns="0" bIns="0">
            <a:spAutoFit/>
          </a:bodyPr>
          <a:lstStyle/>
          <a:p>
            <a:pPr algn="r">
              <a:lnSpc>
                <a:spcPct val="110000"/>
              </a:lnSpc>
            </a:pPr>
            <a:r>
              <a:rPr sz="1800" b="1">
                <a:solidFill>
                  <a:srgbClr val="677ECD"/>
                </a:solidFill>
                <a:latin typeface="Arial"/>
                <a:ea typeface="Arial"/>
              </a:rPr>
              <a:t>약 900</a:t>
            </a:r>
          </a:p>
        </p:txBody>
      </p:sp>
      <p:sp>
        <p:nvSpPr>
          <p:cNvPr id="59" name="TextBox 58"/>
          <p:cNvSpPr txBox="1"/>
          <p:nvPr/>
        </p:nvSpPr>
        <p:spPr>
          <a:xfrm>
            <a:off x="6592824" y="3849624"/>
            <a:ext cx="1470709" cy="292608"/>
          </a:xfrm>
          <a:prstGeom prst="rect">
            <a:avLst/>
          </a:prstGeom>
          <a:noFill/>
        </p:spPr>
        <p:txBody>
          <a:bodyPr wrap="square" anchor="ctr" lIns="0" rIns="0" tIns="0" bIns="0">
            <a:spAutoFit/>
          </a:bodyPr>
          <a:lstStyle/>
          <a:p>
            <a:pPr algn="ctr">
              <a:lnSpc>
                <a:spcPct val="110000"/>
              </a:lnSpc>
            </a:pPr>
            <a:r>
              <a:rPr sz="1600" b="1">
                <a:solidFill>
                  <a:srgbClr val="677ECD"/>
                </a:solidFill>
                <a:latin typeface="Arial"/>
                <a:ea typeface="Arial"/>
              </a:rPr>
              <a:t>약 1.5년 앞당김</a:t>
            </a:r>
          </a:p>
        </p:txBody>
      </p:sp>
      <p:sp>
        <p:nvSpPr>
          <p:cNvPr id="60" name="TextBox 59"/>
          <p:cNvSpPr txBox="1"/>
          <p:nvPr/>
        </p:nvSpPr>
        <p:spPr>
          <a:xfrm>
            <a:off x="2807208" y="3098596"/>
            <a:ext cx="4206240" cy="585216"/>
          </a:xfrm>
          <a:prstGeom prst="rect">
            <a:avLst/>
          </a:prstGeom>
          <a:noFill/>
        </p:spPr>
        <p:txBody>
          <a:bodyPr wrap="square" anchor="t" lIns="0" rIns="0" tIns="0" bIns="0">
            <a:spAutoFit/>
          </a:bodyPr>
          <a:lstStyle/>
          <a:p>
            <a:pPr algn="l">
              <a:lnSpc>
                <a:spcPct val="100000"/>
              </a:lnSpc>
            </a:pPr>
            <a:r>
              <a:rPr sz="1800" b="1">
                <a:solidFill>
                  <a:srgbClr val="677ECD"/>
                </a:solidFill>
                <a:latin typeface="Arial"/>
                <a:ea typeface="Arial"/>
              </a:rPr>
              <a:t>◆ 2026년 최신 전망 (2028)</a:t>
            </a:r>
          </a:p>
          <a:p>
            <a:pPr algn="l">
              <a:lnSpc>
                <a:spcPct val="100000"/>
              </a:lnSpc>
            </a:pPr>
            <a:r>
              <a:rPr sz="1600" b="0">
                <a:solidFill>
                  <a:srgbClr val="555555"/>
                </a:solidFill>
                <a:latin typeface="Arial"/>
                <a:ea typeface="Arial"/>
              </a:rPr>
              <a:t>JPM · Kioxia, 정의 차이로 방향만 비교</a:t>
            </a:r>
          </a:p>
        </p:txBody>
      </p:sp>
      <p:sp>
        <p:nvSpPr>
          <p:cNvPr id="61" name="TextBox 60"/>
          <p:cNvSpPr txBox="1"/>
          <p:nvPr/>
        </p:nvSpPr>
        <p:spPr>
          <a:xfrm>
            <a:off x="12198096" y="2139696"/>
            <a:ext cx="5367528"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수요별 비중</a:t>
            </a:r>
            <a:r>
              <a:rPr sz="1600" b="0">
                <a:solidFill>
                  <a:srgbClr val="555555"/>
                </a:solidFill>
                <a:latin typeface="Arial"/>
                <a:ea typeface="Arial"/>
              </a:rPr>
              <a:t>   2026 → 2030</a:t>
            </a:r>
          </a:p>
        </p:txBody>
      </p:sp>
      <p:sp>
        <p:nvSpPr>
          <p:cNvPr id="62" name="Rectangle 61"/>
          <p:cNvSpPr/>
          <p:nvPr/>
        </p:nvSpPr>
        <p:spPr>
          <a:xfrm>
            <a:off x="12289536" y="3747211"/>
            <a:ext cx="914400" cy="4134916"/>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289536" y="5659221"/>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85%</a:t>
            </a:r>
          </a:p>
        </p:txBody>
      </p:sp>
      <p:sp>
        <p:nvSpPr>
          <p:cNvPr id="64" name="Rectangle 63"/>
          <p:cNvSpPr/>
          <p:nvPr/>
        </p:nvSpPr>
        <p:spPr>
          <a:xfrm>
            <a:off x="12289536" y="3455334"/>
            <a:ext cx="914400" cy="291876"/>
          </a:xfrm>
          <a:prstGeom prst="rect">
            <a:avLst/>
          </a:prstGeom>
          <a:solidFill>
            <a:srgbClr val="C0CAE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2289536" y="3445824"/>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6%</a:t>
            </a:r>
          </a:p>
        </p:txBody>
      </p:sp>
      <p:sp>
        <p:nvSpPr>
          <p:cNvPr id="66" name="Rectangle 65"/>
          <p:cNvSpPr/>
          <p:nvPr/>
        </p:nvSpPr>
        <p:spPr>
          <a:xfrm>
            <a:off x="12289536" y="3017520"/>
            <a:ext cx="914400" cy="437814"/>
          </a:xfrm>
          <a:prstGeom prst="rect">
            <a:avLst/>
          </a:prstGeom>
          <a:solidFill>
            <a:srgbClr val="3C4FA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2289536" y="3080979"/>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9%</a:t>
            </a:r>
          </a:p>
        </p:txBody>
      </p:sp>
      <p:sp>
        <p:nvSpPr>
          <p:cNvPr id="68" name="TextBox 67"/>
          <p:cNvSpPr txBox="1"/>
          <p:nvPr/>
        </p:nvSpPr>
        <p:spPr>
          <a:xfrm>
            <a:off x="120152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69" name="Rectangle 68"/>
          <p:cNvSpPr/>
          <p:nvPr/>
        </p:nvSpPr>
        <p:spPr>
          <a:xfrm>
            <a:off x="14118336" y="5595762"/>
            <a:ext cx="914400" cy="2286365"/>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4118336" y="6583497"/>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47%</a:t>
            </a:r>
          </a:p>
        </p:txBody>
      </p:sp>
      <p:sp>
        <p:nvSpPr>
          <p:cNvPr id="71" name="Rectangle 70"/>
          <p:cNvSpPr/>
          <p:nvPr/>
        </p:nvSpPr>
        <p:spPr>
          <a:xfrm>
            <a:off x="14118336" y="5012009"/>
            <a:ext cx="914400" cy="583752"/>
          </a:xfrm>
          <a:prstGeom prst="rect">
            <a:avLst/>
          </a:prstGeom>
          <a:solidFill>
            <a:srgbClr val="C0CAE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118336" y="5148437"/>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12%</a:t>
            </a:r>
          </a:p>
        </p:txBody>
      </p:sp>
      <p:sp>
        <p:nvSpPr>
          <p:cNvPr id="73" name="Rectangle 72"/>
          <p:cNvSpPr/>
          <p:nvPr/>
        </p:nvSpPr>
        <p:spPr>
          <a:xfrm>
            <a:off x="14118336" y="3017520"/>
            <a:ext cx="914400" cy="1994489"/>
          </a:xfrm>
          <a:prstGeom prst="rect">
            <a:avLst/>
          </a:prstGeom>
          <a:solidFill>
            <a:srgbClr val="3C4FA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4118336" y="3859316"/>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41%</a:t>
            </a:r>
          </a:p>
        </p:txBody>
      </p:sp>
      <p:sp>
        <p:nvSpPr>
          <p:cNvPr id="75" name="TextBox 74"/>
          <p:cNvSpPr txBox="1"/>
          <p:nvPr/>
        </p:nvSpPr>
        <p:spPr>
          <a:xfrm>
            <a:off x="138440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cxnSp>
        <p:nvCxnSpPr>
          <p:cNvPr id="76" name="Connector 75"/>
          <p:cNvCxnSpPr/>
          <p:nvPr/>
        </p:nvCxnSpPr>
        <p:spPr>
          <a:xfrm>
            <a:off x="13203936" y="3747211"/>
            <a:ext cx="914400" cy="1848551"/>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3203936" y="3455334"/>
            <a:ext cx="914400" cy="1556675"/>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15179039" y="631832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범용 · 엔터프라이즈</a:t>
            </a:r>
          </a:p>
          <a:p>
            <a:pPr algn="l">
              <a:lnSpc>
                <a:spcPct val="100000"/>
              </a:lnSpc>
            </a:pPr>
            <a:r>
              <a:rPr sz="2600" b="1">
                <a:solidFill>
                  <a:srgbClr val="1A1A1A"/>
                </a:solidFill>
                <a:latin typeface="Arial"/>
                <a:ea typeface="Arial"/>
              </a:rPr>
              <a:t>-38%p</a:t>
            </a:r>
            <a:r>
              <a:rPr sz="1600" b="0">
                <a:solidFill>
                  <a:srgbClr val="555555"/>
                </a:solidFill>
                <a:latin typeface="Arial"/>
                <a:ea typeface="Arial"/>
              </a:rPr>
              <a:t>  85 → 47%</a:t>
            </a:r>
          </a:p>
        </p:txBody>
      </p:sp>
      <p:sp>
        <p:nvSpPr>
          <p:cNvPr id="79" name="TextBox 78"/>
          <p:cNvSpPr txBox="1"/>
          <p:nvPr/>
        </p:nvSpPr>
        <p:spPr>
          <a:xfrm>
            <a:off x="15179039" y="488326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학습</a:t>
            </a:r>
          </a:p>
          <a:p>
            <a:pPr algn="l">
              <a:lnSpc>
                <a:spcPct val="100000"/>
              </a:lnSpc>
            </a:pPr>
            <a:r>
              <a:rPr sz="2600" b="1">
                <a:solidFill>
                  <a:srgbClr val="1A1A1A"/>
                </a:solidFill>
                <a:latin typeface="Arial"/>
                <a:ea typeface="Arial"/>
              </a:rPr>
              <a:t>+6%p</a:t>
            </a:r>
            <a:r>
              <a:rPr sz="1600" b="0">
                <a:solidFill>
                  <a:srgbClr val="555555"/>
                </a:solidFill>
                <a:latin typeface="Arial"/>
                <a:ea typeface="Arial"/>
              </a:rPr>
              <a:t>  6 → 12%</a:t>
            </a:r>
          </a:p>
        </p:txBody>
      </p:sp>
      <p:sp>
        <p:nvSpPr>
          <p:cNvPr id="80" name="TextBox 79"/>
          <p:cNvSpPr txBox="1"/>
          <p:nvPr/>
        </p:nvSpPr>
        <p:spPr>
          <a:xfrm>
            <a:off x="15179039" y="3594140"/>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추론</a:t>
            </a:r>
          </a:p>
          <a:p>
            <a:pPr algn="l">
              <a:lnSpc>
                <a:spcPct val="100000"/>
              </a:lnSpc>
            </a:pPr>
            <a:r>
              <a:rPr sz="2600" b="1">
                <a:solidFill>
                  <a:srgbClr val="3C4FA5"/>
                </a:solidFill>
                <a:latin typeface="Arial"/>
                <a:ea typeface="Arial"/>
              </a:rPr>
              <a:t>+32%p</a:t>
            </a:r>
            <a:r>
              <a:rPr sz="1600" b="0">
                <a:solidFill>
                  <a:srgbClr val="555555"/>
                </a:solidFill>
                <a:latin typeface="Arial"/>
                <a:ea typeface="Arial"/>
              </a:rPr>
              <a:t>  9 → 41%</a:t>
            </a:r>
          </a:p>
        </p:txBody>
      </p:sp>
      <p:sp>
        <p:nvSpPr>
          <p:cNvPr id="81" name="TextBox 80"/>
          <p:cNvSpPr txBox="1"/>
          <p:nvPr/>
        </p:nvSpPr>
        <p:spPr>
          <a:xfrm>
            <a:off x="12198096" y="8211312"/>
            <a:ext cx="5367528" cy="329184"/>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에이전트는 별도 전망 없음 (추론 · 범용에 포함)</a:t>
            </a:r>
          </a:p>
        </p:txBody>
      </p:sp>
      <p:sp>
        <p:nvSpPr>
          <p:cNvPr id="82" name="Rectangle 81"/>
          <p:cNvSpPr/>
          <p:nvPr/>
        </p:nvSpPr>
        <p:spPr>
          <a:xfrm>
            <a:off x="722376" y="8631936"/>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참고</a:t>
            </a:r>
          </a:p>
        </p:txBody>
      </p:sp>
      <p:sp>
        <p:nvSpPr>
          <p:cNvPr id="84" name="TextBox 83"/>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2030년 AI 추론은 eSSD 수요의 41%로, 범용과 비슷한 비중이 됩니다</a:t>
            </a:r>
          </a:p>
        </p:txBody>
      </p:sp>
      <p:sp>
        <p:nvSpPr>
          <p:cNvPr id="85" name="TextBox 8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McKinsey(2024-12, 범용 = 총량 1,078 − 학습 − 추론 산술, 2025~29 연평균 보간 산술, 2026 비중도 보간 기준) · Kioxia(2026-06, TechInsights 인용 DC 플래시) · JPM(2026-01) · 기관마다 정의 다름, 모두 검색 확인</a:t>
            </a:r>
          </a:p>
        </p:txBody>
      </p:sp>
      <p:sp>
        <p:nvSpPr>
          <p:cNvPr id="86" name="TextBox 8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8 / 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