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기둥 그림은 3D 느낌의 Fab 바닥입니다. 1 공간: 분리 Fab은 DRAM과 NAND 사이에 벽이 있고 모델이 제각각이며 빈 칸이 생기지만, 통합 Fab은 같은 모델을 줄지어 놓아 한 줄이 통째로 남습니다. 2 대응력: 공용 설비가 DRAM과 NAND 사이를 오가며, 수요 곡선이 엇갈리는 대로 설비 배분이 따라갑니다. 3 통일성: 높이와 크기가 제각각인 모델을 같은 모델로 모으면 모델당 발주가 한 단에서 여러 단으로 쌓입니다.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기둥 그림은 원리를 보이는 개념 차트입니다. 1 공간: 같은 Fab 면적을 칸으로 나누면 분리 Fab의 Dead Space 칸이 통합 후 추가 설비 칸이 됩니다. 2 대응력: DRAM과 NAND의 수요 피크가 엇갈려 합산 피크가 각 피크의 합보다 낮고, 그 차이가 유휴 설비 감소입니다. 설비 전환 시간과 Bottleneck 대기도 줄어듭니다. 3 통일성: 설비 모델 수는 줄고 모델당 발주 물량은 늘어 구매 협상력이 생깁니다. 수치는 Fab별 검증 후 채웁니다.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기둥 그림은 엔지니어링 도면 언어입니다. 1 공간: 위에서 본 Fab에서 분리 시 OHT 루프 2개와 제각각인 설비 Footprint, 빈 Bay가 생기지만, 통합 시 OHT 루프 하나에 같은 모델 줄 배치로 Bay 하나가 남습니다. 2 대응력: DRAM과 NAND 웨이퍼 Lot이 공용 BEOL 설비 Pool의 어느 설비로든 들어가고, 결과물은 Bonding으로 이어집니다. 3 통일성: 공정 단계마다 DRAM 모델 둘, NAND 모델 둘이던 것을 공용 모델 하나로 모아 레시피 · 부품 · 물량을 공유합니다. 모델 코드는 예시입니다.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컬러 버전입니다. 색에 뜻이 있습니다: DRAM = Blue, NAND = Teal, 통합 후 같은 색 = 같은 설비 모델, 공용 모델 = Purple, 개선(확보 · 추가 · 협상력) = Amber, 효과 ① Blue ② Teal ③ Purple. 기둥 그림은 3D 느낌의 Fab 바닥입니다. 1 공간: 분리 Fab은 DRAM과 NAND 사이에 벽이 있고 모델이 제각각이며 빈 칸이 생기지만, 통합 Fab은 같은 모델을 줄지어 놓아 한 줄이 통째로 남습니다. 2 대응력: 공용 설비가 DRAM과 NAND 사이를 오가며, 수요 곡선이 엇갈리는 대로 설비 배분이 따라갑니다. 3 통일성: 높이와 크기가 제각각인 모델을 같은 모델로 모으면 모델당 발주가 한 단에서 여러 단으로 쌓입니다.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컬러 버전입니다. 색에 뜻이 있습니다: DRAM = Blue, NAND = Teal, 통합 후 같은 색 = 같은 설비 모델, 공용 모델 = Purple, 개선(확보 · 추가 · 협상력) = Amber, 효과 ① Blue ② Teal ③ Purple. 기둥 그림은 원리를 보이는 개념 차트입니다. 1 공간: 같은 Fab 면적을 칸으로 나누면 분리 Fab의 Dead Space 칸이 통합 후 추가 설비 칸이 됩니다. 2 대응력: DRAM과 NAND의 수요 피크가 엇갈려 합산 피크가 각 피크의 합보다 낮고, 그 차이가 유휴 설비 감소입니다. 설비 전환 시간과 Bottleneck 대기도 줄어듭니다. 3 통일성: 설비 모델 수는 줄고 모델당 발주 물량은 늘어 구매 협상력이 생깁니다. 수치는 Fab별 검증 후 채웁니다.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컬러 버전입니다. 색에 뜻이 있습니다: DRAM = Blue, NAND = Teal, 통합 후 같은 색 = 같은 설비 모델, 공용 모델 = Purple, 개선(확보 · 추가 · 협상력) = Amber, 효과 ① Blue ② Teal ③ Purple. 기둥 그림은 엔지니어링 도면 언어입니다. 1 공간: 위에서 본 Fab에서 분리 시 OHT 루프 2개와 제각각인 설비 Footprint, 빈 Bay가 생기지만, 통합 시 OHT 루프 하나에 같은 모델 줄 배치로 Bay 하나가 남습니다. 2 대응력: DRAM과 NAND 웨이퍼 Lot이 공용 BEOL 설비 Pool의 어느 설비로든 들어가고, 결과물은 Bonding으로 이어집니다. 3 통일성: 공정 단계마다 DRAM 모델 둘, NAND 모델 둘이던 것을 공용 모델 하나로 모아 레시피 · 부품 · 물량을 공유합니다. 모델 코드는 예시입니다. 지붕은 결론, 기초는 Common Platform, 맨 아래는 DRAM과 NAND의 BEOL 조직을 Bonding해 만든 통합조직이 반도체연구소 / MTC 산하에서 기초를 운영하는 그림입니다. 통합조직 안의 세 기능(표준 Layout · 설비 Pool · 통합 구매)은 효과 1 · 2 · 3과 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1 / 6  시안 1 · 아이소메트릭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C0CAEC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grpSp>
        <p:nvGrpSpPr>
          <p:cNvPr id="13" name="그림 1 공간 효율성 (도형)"/>
          <p:cNvGrpSpPr/>
          <p:nvPr/>
        </p:nvGrpSpPr>
        <p:grpSpPr>
          <a:xfrm>
            <a:off x="0" y="0"/>
            <a:ext cx="5978029" cy="4919472"/>
            <a:chOff x="0" y="0"/>
            <a:chExt cx="5978029" cy="4919472"/>
          </a:xfrm>
        </p:grpSpPr>
        <p:sp>
          <p:nvSpPr>
            <p:cNvPr id="14" name="Freeform 13"/>
            <p:cNvSpPr/>
            <p:nvPr/>
          </p:nvSpPr>
          <p:spPr>
            <a:xfrm>
              <a:off x="1375890" y="3931920"/>
              <a:ext cx="1710491" cy="987552"/>
            </a:xfrm>
            <a:custGeom>
              <a:avLst/>
              <a:gdLst/>
              <a:ahLst/>
              <a:cxnLst/>
              <a:rect l="l" t="t" r="r" b="b"/>
              <a:pathLst>
                <a:path w="1710491" h="987552">
                  <a:moveTo>
                    <a:pt x="855246" y="987552"/>
                  </a:moveTo>
                  <a:lnTo>
                    <a:pt x="1710491" y="493776"/>
                  </a:lnTo>
                  <a:lnTo>
                    <a:pt x="855246" y="0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B4B4B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H="1" flipV="1">
              <a:off x="1589702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 flipH="1" flipV="1">
              <a:off x="1803513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 flipH="1" flipV="1">
              <a:off x="2017324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 flipV="1">
              <a:off x="2017324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 flipV="1">
              <a:off x="1803513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 flipV="1">
              <a:off x="1589702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sp>
          <p:nvSpPr>
            <p:cNvPr id="21" name="Freeform 20"/>
            <p:cNvSpPr/>
            <p:nvPr/>
          </p:nvSpPr>
          <p:spPr>
            <a:xfrm>
              <a:off x="1615359" y="4440509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256793" y="4563953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829170" y="4070177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470604" y="4193621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615359" y="4193621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 flipH="1" flipV="1">
              <a:off x="1803513" y="4178808"/>
              <a:ext cx="855245" cy="493776"/>
            </a:xfrm>
            <a:prstGeom prst="line">
              <a:avLst/>
            </a:prstGeom>
            <a:ln w="38100">
              <a:solidFill>
                <a:srgbClr val="555555"/>
              </a:solidFill>
            </a:ln>
          </p:spPr>
        </p:cxnSp>
        <p:grpSp>
          <p:nvGrpSpPr>
            <p:cNvPr id="2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2081468" y="3857853"/>
                <a:ext cx="149668" cy="283921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283921">
                    <a:moveTo>
                      <a:pt x="149668" y="283921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49668" y="86411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2231136" y="3857853"/>
                <a:ext cx="149667" cy="283921"/>
              </a:xfrm>
              <a:custGeom>
                <a:avLst/>
                <a:gdLst/>
                <a:ahLst/>
                <a:cxnLst/>
                <a:rect l="l" t="t" r="r" b="b"/>
                <a:pathLst>
                  <a:path w="149667" h="283921">
                    <a:moveTo>
                      <a:pt x="0" y="283921"/>
                    </a:moveTo>
                    <a:lnTo>
                      <a:pt x="149667" y="197511"/>
                    </a:lnTo>
                    <a:lnTo>
                      <a:pt x="149667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2081468" y="3771442"/>
                <a:ext cx="299335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299335" h="172822">
                    <a:moveTo>
                      <a:pt x="149668" y="172822"/>
                    </a:moveTo>
                    <a:lnTo>
                      <a:pt x="299335" y="86411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" name="Freeform 31"/>
              <p:cNvSpPr/>
              <p:nvPr/>
            </p:nvSpPr>
            <p:spPr>
              <a:xfrm>
                <a:off x="2273898" y="3944264"/>
                <a:ext cx="171049" cy="333299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33299">
                    <a:moveTo>
                      <a:pt x="171049" y="333299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1049" y="98755"/>
                    </a:lnTo>
                    <a:close/>
                  </a:path>
                </a:pathLst>
              </a:custGeom>
              <a:solidFill>
                <a:srgbClr val="55555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2444947" y="3944264"/>
                <a:ext cx="171049" cy="333299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33299">
                    <a:moveTo>
                      <a:pt x="0" y="333299"/>
                    </a:moveTo>
                    <a:lnTo>
                      <a:pt x="171049" y="234544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424242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2273898" y="3845509"/>
                <a:ext cx="342098" cy="197510"/>
              </a:xfrm>
              <a:custGeom>
                <a:avLst/>
                <a:gdLst/>
                <a:ahLst/>
                <a:cxnLst/>
                <a:rect l="l" t="t" r="r" b="b"/>
                <a:pathLst>
                  <a:path w="342098" h="197510">
                    <a:moveTo>
                      <a:pt x="171049" y="197510"/>
                    </a:moveTo>
                    <a:lnTo>
                      <a:pt x="342098" y="98755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90909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6" name="Freeform 35"/>
              <p:cNvSpPr/>
              <p:nvPr/>
            </p:nvSpPr>
            <p:spPr>
              <a:xfrm>
                <a:off x="2092158" y="3975125"/>
                <a:ext cx="149668" cy="407365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407365">
                    <a:moveTo>
                      <a:pt x="149668" y="407365"/>
                    </a:moveTo>
                    <a:lnTo>
                      <a:pt x="0" y="320954"/>
                    </a:lnTo>
                    <a:lnTo>
                      <a:pt x="0" y="0"/>
                    </a:lnTo>
                    <a:lnTo>
                      <a:pt x="149668" y="86411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2241826" y="3987469"/>
                <a:ext cx="128287" cy="395021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395021">
                    <a:moveTo>
                      <a:pt x="0" y="395021"/>
                    </a:moveTo>
                    <a:lnTo>
                      <a:pt x="128287" y="320955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2092158" y="3901059"/>
                <a:ext cx="277955" cy="160477"/>
              </a:xfrm>
              <a:custGeom>
                <a:avLst/>
                <a:gdLst/>
                <a:ahLst/>
                <a:cxnLst/>
                <a:rect l="l" t="t" r="r" b="b"/>
                <a:pathLst>
                  <a:path w="277955" h="160477">
                    <a:moveTo>
                      <a:pt x="149668" y="160477"/>
                    </a:moveTo>
                    <a:lnTo>
                      <a:pt x="277955" y="86410"/>
                    </a:lnTo>
                    <a:lnTo>
                      <a:pt x="128287" y="0"/>
                    </a:lnTo>
                    <a:lnTo>
                      <a:pt x="0" y="7406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0" name="Freeform 39"/>
              <p:cNvSpPr/>
              <p:nvPr/>
            </p:nvSpPr>
            <p:spPr>
              <a:xfrm>
                <a:off x="1450724" y="4123258"/>
                <a:ext cx="128287" cy="382676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382676">
                    <a:moveTo>
                      <a:pt x="128287" y="382676"/>
                    </a:moveTo>
                    <a:lnTo>
                      <a:pt x="0" y="308610"/>
                    </a:lnTo>
                    <a:lnTo>
                      <a:pt x="0" y="0"/>
                    </a:lnTo>
                    <a:lnTo>
                      <a:pt x="128287" y="74066"/>
                    </a:lnTo>
                    <a:close/>
                  </a:path>
                </a:pathLst>
              </a:custGeom>
              <a:solidFill>
                <a:srgbClr val="55555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1579011" y="4110913"/>
                <a:ext cx="149668" cy="395021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395021">
                    <a:moveTo>
                      <a:pt x="0" y="395021"/>
                    </a:moveTo>
                    <a:lnTo>
                      <a:pt x="149668" y="308610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424242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1450724" y="4036847"/>
                <a:ext cx="277955" cy="160477"/>
              </a:xfrm>
              <a:custGeom>
                <a:avLst/>
                <a:gdLst/>
                <a:ahLst/>
                <a:cxnLst/>
                <a:rect l="l" t="t" r="r" b="b"/>
                <a:pathLst>
                  <a:path w="277955" h="160477">
                    <a:moveTo>
                      <a:pt x="128287" y="160477"/>
                    </a:moveTo>
                    <a:lnTo>
                      <a:pt x="277955" y="74066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90909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" name="Freeform 43"/>
              <p:cNvSpPr/>
              <p:nvPr/>
            </p:nvSpPr>
            <p:spPr>
              <a:xfrm>
                <a:off x="1889037" y="4277563"/>
                <a:ext cx="128287" cy="222199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22199">
                    <a:moveTo>
                      <a:pt x="128287" y="222199"/>
                    </a:moveTo>
                    <a:lnTo>
                      <a:pt x="0" y="148133"/>
                    </a:lnTo>
                    <a:lnTo>
                      <a:pt x="0" y="0"/>
                    </a:lnTo>
                    <a:lnTo>
                      <a:pt x="128287" y="74066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2017324" y="4277563"/>
                <a:ext cx="128287" cy="222199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22199">
                    <a:moveTo>
                      <a:pt x="0" y="222199"/>
                    </a:moveTo>
                    <a:lnTo>
                      <a:pt x="128287" y="148133"/>
                    </a:lnTo>
                    <a:lnTo>
                      <a:pt x="128287" y="0"/>
                    </a:lnTo>
                    <a:lnTo>
                      <a:pt x="0" y="74066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1889037" y="4203496"/>
                <a:ext cx="256574" cy="148133"/>
              </a:xfrm>
              <a:custGeom>
                <a:avLst/>
                <a:gdLst/>
                <a:ahLst/>
                <a:cxnLst/>
                <a:rect l="l" t="t" r="r" b="b"/>
                <a:pathLst>
                  <a:path w="256574" h="148133">
                    <a:moveTo>
                      <a:pt x="128287" y="148133"/>
                    </a:moveTo>
                    <a:lnTo>
                      <a:pt x="256574" y="74067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8" name="Freeform 47"/>
              <p:cNvSpPr/>
              <p:nvPr/>
            </p:nvSpPr>
            <p:spPr>
              <a:xfrm>
                <a:off x="2295279" y="4252874"/>
                <a:ext cx="128287" cy="259232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59232">
                    <a:moveTo>
                      <a:pt x="128287" y="259232"/>
                    </a:moveTo>
                    <a:lnTo>
                      <a:pt x="0" y="185166"/>
                    </a:lnTo>
                    <a:lnTo>
                      <a:pt x="0" y="0"/>
                    </a:lnTo>
                    <a:lnTo>
                      <a:pt x="128287" y="74066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2423566" y="4228185"/>
                <a:ext cx="171049" cy="283921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283921">
                    <a:moveTo>
                      <a:pt x="0" y="283921"/>
                    </a:moveTo>
                    <a:lnTo>
                      <a:pt x="171049" y="185166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2295279" y="4154119"/>
                <a:ext cx="299336" cy="172821"/>
              </a:xfrm>
              <a:custGeom>
                <a:avLst/>
                <a:gdLst/>
                <a:ahLst/>
                <a:cxnLst/>
                <a:rect l="l" t="t" r="r" b="b"/>
                <a:pathLst>
                  <a:path w="299336" h="172821">
                    <a:moveTo>
                      <a:pt x="128287" y="172821"/>
                    </a:moveTo>
                    <a:lnTo>
                      <a:pt x="299336" y="74066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2" name="Freeform 51"/>
              <p:cNvSpPr/>
              <p:nvPr/>
            </p:nvSpPr>
            <p:spPr>
              <a:xfrm>
                <a:off x="2744283" y="4265218"/>
                <a:ext cx="128286" cy="234544"/>
              </a:xfrm>
              <a:custGeom>
                <a:avLst/>
                <a:gdLst/>
                <a:ahLst/>
                <a:cxnLst/>
                <a:rect l="l" t="t" r="r" b="b"/>
                <a:pathLst>
                  <a:path w="128286" h="234544">
                    <a:moveTo>
                      <a:pt x="128286" y="234544"/>
                    </a:moveTo>
                    <a:lnTo>
                      <a:pt x="0" y="160478"/>
                    </a:lnTo>
                    <a:lnTo>
                      <a:pt x="0" y="0"/>
                    </a:lnTo>
                    <a:lnTo>
                      <a:pt x="128286" y="74067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2872569" y="4265218"/>
                <a:ext cx="128287" cy="234544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34544">
                    <a:moveTo>
                      <a:pt x="0" y="234544"/>
                    </a:moveTo>
                    <a:lnTo>
                      <a:pt x="128287" y="160478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2744283" y="4191152"/>
                <a:ext cx="256573" cy="148133"/>
              </a:xfrm>
              <a:custGeom>
                <a:avLst/>
                <a:gdLst/>
                <a:ahLst/>
                <a:cxnLst/>
                <a:rect l="l" t="t" r="r" b="b"/>
                <a:pathLst>
                  <a:path w="256573" h="148133">
                    <a:moveTo>
                      <a:pt x="128286" y="148133"/>
                    </a:moveTo>
                    <a:lnTo>
                      <a:pt x="256573" y="74066"/>
                    </a:lnTo>
                    <a:lnTo>
                      <a:pt x="128286" y="0"/>
                    </a:lnTo>
                    <a:lnTo>
                      <a:pt x="0" y="74066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6" name="Freeform 55"/>
              <p:cNvSpPr/>
              <p:nvPr/>
            </p:nvSpPr>
            <p:spPr>
              <a:xfrm>
                <a:off x="2060086" y="4326940"/>
                <a:ext cx="171050" cy="320955"/>
              </a:xfrm>
              <a:custGeom>
                <a:avLst/>
                <a:gdLst/>
                <a:ahLst/>
                <a:cxnLst/>
                <a:rect l="l" t="t" r="r" b="b"/>
                <a:pathLst>
                  <a:path w="171050" h="320955">
                    <a:moveTo>
                      <a:pt x="171050" y="320955"/>
                    </a:moveTo>
                    <a:lnTo>
                      <a:pt x="0" y="222200"/>
                    </a:lnTo>
                    <a:lnTo>
                      <a:pt x="0" y="0"/>
                    </a:lnTo>
                    <a:lnTo>
                      <a:pt x="171050" y="98756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2231136" y="4326940"/>
                <a:ext cx="171049" cy="320955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20955">
                    <a:moveTo>
                      <a:pt x="0" y="320955"/>
                    </a:moveTo>
                    <a:lnTo>
                      <a:pt x="171049" y="222200"/>
                    </a:lnTo>
                    <a:lnTo>
                      <a:pt x="171049" y="0"/>
                    </a:lnTo>
                    <a:lnTo>
                      <a:pt x="0" y="98756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060086" y="4228185"/>
                <a:ext cx="342099" cy="197511"/>
              </a:xfrm>
              <a:custGeom>
                <a:avLst/>
                <a:gdLst/>
                <a:ahLst/>
                <a:cxnLst/>
                <a:rect l="l" t="t" r="r" b="b"/>
                <a:pathLst>
                  <a:path w="342099" h="197511">
                    <a:moveTo>
                      <a:pt x="171050" y="197511"/>
                    </a:moveTo>
                    <a:lnTo>
                      <a:pt x="342099" y="98755"/>
                    </a:lnTo>
                    <a:lnTo>
                      <a:pt x="171050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0" name="Freeform 59"/>
              <p:cNvSpPr/>
              <p:nvPr/>
            </p:nvSpPr>
            <p:spPr>
              <a:xfrm>
                <a:off x="2498400" y="4271391"/>
                <a:ext cx="171049" cy="370332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70332">
                    <a:moveTo>
                      <a:pt x="171049" y="370332"/>
                    </a:moveTo>
                    <a:lnTo>
                      <a:pt x="0" y="271576"/>
                    </a:lnTo>
                    <a:lnTo>
                      <a:pt x="0" y="0"/>
                    </a:lnTo>
                    <a:lnTo>
                      <a:pt x="171049" y="98755"/>
                    </a:lnTo>
                    <a:close/>
                  </a:path>
                </a:pathLst>
              </a:custGeom>
              <a:solidFill>
                <a:srgbClr val="55555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2669449" y="4283735"/>
                <a:ext cx="149668" cy="357988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357988">
                    <a:moveTo>
                      <a:pt x="0" y="357988"/>
                    </a:moveTo>
                    <a:lnTo>
                      <a:pt x="149668" y="271577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424242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2498400" y="4184980"/>
                <a:ext cx="320717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320717" h="185166">
                    <a:moveTo>
                      <a:pt x="171049" y="185166"/>
                    </a:moveTo>
                    <a:lnTo>
                      <a:pt x="320717" y="98755"/>
                    </a:lnTo>
                    <a:lnTo>
                      <a:pt x="149667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90909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4" name="Freeform 63"/>
              <p:cNvSpPr/>
              <p:nvPr/>
            </p:nvSpPr>
            <p:spPr>
              <a:xfrm>
                <a:off x="1867656" y="4487418"/>
                <a:ext cx="171049" cy="271576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271576">
                    <a:moveTo>
                      <a:pt x="171049" y="271576"/>
                    </a:moveTo>
                    <a:lnTo>
                      <a:pt x="0" y="172821"/>
                    </a:lnTo>
                    <a:lnTo>
                      <a:pt x="0" y="0"/>
                    </a:lnTo>
                    <a:lnTo>
                      <a:pt x="171049" y="98755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2038705" y="4512106"/>
                <a:ext cx="128287" cy="246888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46888">
                    <a:moveTo>
                      <a:pt x="0" y="246888"/>
                    </a:moveTo>
                    <a:lnTo>
                      <a:pt x="128287" y="172822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1867656" y="4413351"/>
                <a:ext cx="29933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299336" h="172822">
                    <a:moveTo>
                      <a:pt x="171049" y="172822"/>
                    </a:moveTo>
                    <a:lnTo>
                      <a:pt x="299336" y="98755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2070777" y="4555312"/>
                <a:ext cx="149668" cy="333299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333299">
                    <a:moveTo>
                      <a:pt x="149668" y="333299"/>
                    </a:moveTo>
                    <a:lnTo>
                      <a:pt x="0" y="246888"/>
                    </a:lnTo>
                    <a:lnTo>
                      <a:pt x="0" y="0"/>
                    </a:lnTo>
                    <a:lnTo>
                      <a:pt x="149668" y="86411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2220445" y="4542967"/>
                <a:ext cx="171049" cy="345644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45644">
                    <a:moveTo>
                      <a:pt x="0" y="345644"/>
                    </a:moveTo>
                    <a:lnTo>
                      <a:pt x="171049" y="246888"/>
                    </a:lnTo>
                    <a:lnTo>
                      <a:pt x="171049" y="0"/>
                    </a:lnTo>
                    <a:lnTo>
                      <a:pt x="0" y="98756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2070777" y="4456557"/>
                <a:ext cx="320717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320717" h="185166">
                    <a:moveTo>
                      <a:pt x="149668" y="185166"/>
                    </a:moveTo>
                    <a:lnTo>
                      <a:pt x="320717" y="86410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1" name="TextBox 70"/>
            <p:cNvSpPr txBox="1"/>
            <p:nvPr/>
          </p:nvSpPr>
          <p:spPr>
            <a:xfrm>
              <a:off x="1179576" y="3355848"/>
              <a:ext cx="9098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Fab 분리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79576" y="3593592"/>
              <a:ext cx="122986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8A8A8A"/>
                  </a:solidFill>
                  <a:latin typeface="Arial"/>
                  <a:ea typeface="Arial"/>
                </a:rPr>
                <a:t>DRAM | NAND</a:t>
              </a:r>
            </a:p>
          </p:txBody>
        </p:sp>
        <p:sp>
          <p:nvSpPr>
            <p:cNvPr id="73" name="Freeform 72"/>
            <p:cNvSpPr/>
            <p:nvPr/>
          </p:nvSpPr>
          <p:spPr>
            <a:xfrm>
              <a:off x="3264408" y="4215384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0" y="197510"/>
                  </a:moveTo>
                  <a:lnTo>
                    <a:pt x="265176" y="197510"/>
                  </a:lnTo>
                  <a:lnTo>
                    <a:pt x="265176" y="274320"/>
                  </a:lnTo>
                  <a:lnTo>
                    <a:pt x="457200" y="137160"/>
                  </a:lnTo>
                  <a:lnTo>
                    <a:pt x="265176" y="0"/>
                  </a:lnTo>
                  <a:lnTo>
                    <a:pt x="265176" y="76809"/>
                  </a:lnTo>
                  <a:lnTo>
                    <a:pt x="0" y="76809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3991074" y="3931920"/>
              <a:ext cx="1710491" cy="987552"/>
            </a:xfrm>
            <a:custGeom>
              <a:avLst/>
              <a:gdLst/>
              <a:ahLst/>
              <a:cxnLst/>
              <a:rect l="l" t="t" r="r" b="b"/>
              <a:pathLst>
                <a:path w="1710491" h="987552">
                  <a:moveTo>
                    <a:pt x="855246" y="987552"/>
                  </a:moveTo>
                  <a:lnTo>
                    <a:pt x="1710491" y="493776"/>
                  </a:lnTo>
                  <a:lnTo>
                    <a:pt x="855246" y="0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C0CA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5" name="Connector 74"/>
            <p:cNvCxnSpPr/>
            <p:nvPr/>
          </p:nvCxnSpPr>
          <p:spPr>
            <a:xfrm flipH="1" flipV="1">
              <a:off x="4204886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6" name="Connector 75"/>
            <p:cNvCxnSpPr/>
            <p:nvPr/>
          </p:nvCxnSpPr>
          <p:spPr>
            <a:xfrm flipH="1" flipV="1">
              <a:off x="4418697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7" name="Connector 76"/>
            <p:cNvCxnSpPr/>
            <p:nvPr/>
          </p:nvCxnSpPr>
          <p:spPr>
            <a:xfrm flipH="1" flipV="1">
              <a:off x="4632508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8" name="Connector 77"/>
            <p:cNvCxnSpPr/>
            <p:nvPr/>
          </p:nvCxnSpPr>
          <p:spPr>
            <a:xfrm flipV="1">
              <a:off x="4632508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9" name="Connector 78"/>
            <p:cNvCxnSpPr/>
            <p:nvPr/>
          </p:nvCxnSpPr>
          <p:spPr>
            <a:xfrm flipV="1">
              <a:off x="4418697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80" name="Connector 79"/>
            <p:cNvCxnSpPr/>
            <p:nvPr/>
          </p:nvCxnSpPr>
          <p:spPr>
            <a:xfrm flipV="1">
              <a:off x="4204886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sp>
          <p:nvSpPr>
            <p:cNvPr id="81" name="Freeform 80"/>
            <p:cNvSpPr/>
            <p:nvPr/>
          </p:nvSpPr>
          <p:spPr>
            <a:xfrm>
              <a:off x="5299599" y="4317065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0F2F8"/>
            </a:solidFill>
            <a:ln w="13970">
              <a:solidFill>
                <a:srgbClr val="3C4F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5085788" y="4193621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0F2F8"/>
            </a:solidFill>
            <a:ln w="13970">
              <a:solidFill>
                <a:srgbClr val="3C4F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4871977" y="4070177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0F2F8"/>
            </a:solidFill>
            <a:ln w="13970">
              <a:solidFill>
                <a:srgbClr val="3C4F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4658166" y="3946733"/>
              <a:ext cx="376307" cy="217261"/>
            </a:xfrm>
            <a:custGeom>
              <a:avLst/>
              <a:gdLst/>
              <a:ahLst/>
              <a:cxnLst/>
              <a:rect l="l" t="t" r="r" b="b"/>
              <a:pathLst>
                <a:path w="376307" h="217261">
                  <a:moveTo>
                    <a:pt x="188154" y="217261"/>
                  </a:moveTo>
                  <a:lnTo>
                    <a:pt x="376307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0F2F8"/>
            </a:solidFill>
            <a:ln w="13970">
              <a:solidFill>
                <a:srgbClr val="3C4F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6" name="Freeform 85"/>
              <p:cNvSpPr/>
              <p:nvPr/>
            </p:nvSpPr>
            <p:spPr>
              <a:xfrm>
                <a:off x="4452907" y="3944264"/>
                <a:ext cx="179601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38236">
                    <a:moveTo>
                      <a:pt x="179601" y="338236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Freeform 86"/>
              <p:cNvSpPr/>
              <p:nvPr/>
            </p:nvSpPr>
            <p:spPr>
              <a:xfrm>
                <a:off x="4632508" y="3944264"/>
                <a:ext cx="179602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38236">
                    <a:moveTo>
                      <a:pt x="0" y="338236"/>
                    </a:moveTo>
                    <a:lnTo>
                      <a:pt x="179602" y="234544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4452907" y="3840571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4239095" y="4067708"/>
                <a:ext cx="179602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38236">
                    <a:moveTo>
                      <a:pt x="179602" y="338236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4418697" y="4067708"/>
                <a:ext cx="179601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38236">
                    <a:moveTo>
                      <a:pt x="0" y="338236"/>
                    </a:moveTo>
                    <a:lnTo>
                      <a:pt x="179601" y="234544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4239095" y="3964015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4" name="Freeform 93"/>
              <p:cNvSpPr/>
              <p:nvPr/>
            </p:nvSpPr>
            <p:spPr>
              <a:xfrm>
                <a:off x="4666718" y="4030675"/>
                <a:ext cx="179602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75269">
                    <a:moveTo>
                      <a:pt x="179602" y="375269"/>
                    </a:moveTo>
                    <a:lnTo>
                      <a:pt x="0" y="271577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677EC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4846320" y="4030675"/>
                <a:ext cx="179601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75269">
                    <a:moveTo>
                      <a:pt x="0" y="375269"/>
                    </a:moveTo>
                    <a:lnTo>
                      <a:pt x="179601" y="271577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5062A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Freeform 95"/>
              <p:cNvSpPr/>
              <p:nvPr/>
            </p:nvSpPr>
            <p:spPr>
              <a:xfrm>
                <a:off x="4666718" y="3926982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9CABD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8" name="Freeform 97"/>
              <p:cNvSpPr/>
              <p:nvPr/>
            </p:nvSpPr>
            <p:spPr>
              <a:xfrm>
                <a:off x="4025284" y="4191152"/>
                <a:ext cx="179602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38236">
                    <a:moveTo>
                      <a:pt x="179602" y="338236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Freeform 98"/>
              <p:cNvSpPr/>
              <p:nvPr/>
            </p:nvSpPr>
            <p:spPr>
              <a:xfrm>
                <a:off x="4204886" y="4191152"/>
                <a:ext cx="179601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38236">
                    <a:moveTo>
                      <a:pt x="0" y="338236"/>
                    </a:moveTo>
                    <a:lnTo>
                      <a:pt x="179601" y="234544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Freeform 99"/>
              <p:cNvSpPr/>
              <p:nvPr/>
            </p:nvSpPr>
            <p:spPr>
              <a:xfrm>
                <a:off x="4025284" y="4087459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2" name="Freeform 101"/>
              <p:cNvSpPr/>
              <p:nvPr/>
            </p:nvSpPr>
            <p:spPr>
              <a:xfrm>
                <a:off x="4452907" y="4154119"/>
                <a:ext cx="179601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75269">
                    <a:moveTo>
                      <a:pt x="179601" y="375269"/>
                    </a:moveTo>
                    <a:lnTo>
                      <a:pt x="0" y="271577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677EC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Freeform 102"/>
              <p:cNvSpPr/>
              <p:nvPr/>
            </p:nvSpPr>
            <p:spPr>
              <a:xfrm>
                <a:off x="4632508" y="4154119"/>
                <a:ext cx="179602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75269">
                    <a:moveTo>
                      <a:pt x="0" y="375269"/>
                    </a:moveTo>
                    <a:lnTo>
                      <a:pt x="179602" y="271577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5062A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Freeform 103"/>
              <p:cNvSpPr/>
              <p:nvPr/>
            </p:nvSpPr>
            <p:spPr>
              <a:xfrm>
                <a:off x="4452907" y="4050426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9CABD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6" name="Freeform 105"/>
              <p:cNvSpPr/>
              <p:nvPr/>
            </p:nvSpPr>
            <p:spPr>
              <a:xfrm>
                <a:off x="4880529" y="4228185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Freeform 106"/>
              <p:cNvSpPr/>
              <p:nvPr/>
            </p:nvSpPr>
            <p:spPr>
              <a:xfrm>
                <a:off x="5060131" y="4228185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4880529" y="4124492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0" name="Freeform 109"/>
              <p:cNvSpPr/>
              <p:nvPr/>
            </p:nvSpPr>
            <p:spPr>
              <a:xfrm>
                <a:off x="4239095" y="4277563"/>
                <a:ext cx="179602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75269">
                    <a:moveTo>
                      <a:pt x="179602" y="375269"/>
                    </a:moveTo>
                    <a:lnTo>
                      <a:pt x="0" y="271577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677EC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Freeform 110"/>
              <p:cNvSpPr/>
              <p:nvPr/>
            </p:nvSpPr>
            <p:spPr>
              <a:xfrm>
                <a:off x="4418697" y="4277563"/>
                <a:ext cx="179601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75269">
                    <a:moveTo>
                      <a:pt x="0" y="375269"/>
                    </a:moveTo>
                    <a:lnTo>
                      <a:pt x="179601" y="271577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5062A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Freeform 111"/>
              <p:cNvSpPr/>
              <p:nvPr/>
            </p:nvSpPr>
            <p:spPr>
              <a:xfrm>
                <a:off x="4239095" y="4173870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9CABD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4" name="Freeform 113"/>
              <p:cNvSpPr/>
              <p:nvPr/>
            </p:nvSpPr>
            <p:spPr>
              <a:xfrm>
                <a:off x="4666718" y="4351629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Freeform 114"/>
              <p:cNvSpPr/>
              <p:nvPr/>
            </p:nvSpPr>
            <p:spPr>
              <a:xfrm>
                <a:off x="4846320" y="4351629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4666718" y="4247936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8" name="Freeform 117"/>
              <p:cNvSpPr/>
              <p:nvPr/>
            </p:nvSpPr>
            <p:spPr>
              <a:xfrm>
                <a:off x="5094341" y="4351629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179601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Freeform 118"/>
              <p:cNvSpPr/>
              <p:nvPr/>
            </p:nvSpPr>
            <p:spPr>
              <a:xfrm>
                <a:off x="5273942" y="4351629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0" y="301203"/>
                    </a:moveTo>
                    <a:lnTo>
                      <a:pt x="179602" y="197511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Freeform 119"/>
              <p:cNvSpPr/>
              <p:nvPr/>
            </p:nvSpPr>
            <p:spPr>
              <a:xfrm>
                <a:off x="5094341" y="4247936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2" name="Freeform 121"/>
              <p:cNvSpPr/>
              <p:nvPr/>
            </p:nvSpPr>
            <p:spPr>
              <a:xfrm>
                <a:off x="4452907" y="4475073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179601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Freeform 122"/>
              <p:cNvSpPr/>
              <p:nvPr/>
            </p:nvSpPr>
            <p:spPr>
              <a:xfrm>
                <a:off x="4632508" y="4475073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0" y="301203"/>
                    </a:moveTo>
                    <a:lnTo>
                      <a:pt x="179602" y="197511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Freeform 123"/>
              <p:cNvSpPr/>
              <p:nvPr/>
            </p:nvSpPr>
            <p:spPr>
              <a:xfrm>
                <a:off x="4452907" y="4371380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6" name="Freeform 125"/>
              <p:cNvSpPr/>
              <p:nvPr/>
            </p:nvSpPr>
            <p:spPr>
              <a:xfrm>
                <a:off x="4880529" y="4475073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reeform 126"/>
              <p:cNvSpPr/>
              <p:nvPr/>
            </p:nvSpPr>
            <p:spPr>
              <a:xfrm>
                <a:off x="5060131" y="4475073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reeform 127"/>
              <p:cNvSpPr/>
              <p:nvPr/>
            </p:nvSpPr>
            <p:spPr>
              <a:xfrm>
                <a:off x="4880529" y="4371380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30" name="Freeform 129"/>
              <p:cNvSpPr/>
              <p:nvPr/>
            </p:nvSpPr>
            <p:spPr>
              <a:xfrm>
                <a:off x="4666718" y="4598517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Freeform 130"/>
              <p:cNvSpPr/>
              <p:nvPr/>
            </p:nvSpPr>
            <p:spPr>
              <a:xfrm>
                <a:off x="4846320" y="4598517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Freeform 131"/>
              <p:cNvSpPr/>
              <p:nvPr/>
            </p:nvSpPr>
            <p:spPr>
              <a:xfrm>
                <a:off x="4666718" y="4494824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3" name="TextBox 132"/>
            <p:cNvSpPr txBox="1"/>
            <p:nvPr/>
          </p:nvSpPr>
          <p:spPr>
            <a:xfrm>
              <a:off x="3922776" y="3355848"/>
              <a:ext cx="17373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Common Platform</a:t>
              </a:r>
            </a:p>
          </p:txBody>
        </p:sp>
        <p:cxnSp>
          <p:nvCxnSpPr>
            <p:cNvPr id="134" name="Connector 133"/>
            <p:cNvCxnSpPr/>
            <p:nvPr/>
          </p:nvCxnSpPr>
          <p:spPr>
            <a:xfrm flipV="1">
              <a:off x="5292230" y="3995928"/>
              <a:ext cx="164592" cy="164592"/>
            </a:xfrm>
            <a:prstGeom prst="line">
              <a:avLst/>
            </a:prstGeom>
            <a:ln w="12700">
              <a:solidFill>
                <a:srgbClr val="3C4FA5"/>
              </a:solidFill>
            </a:ln>
          </p:spPr>
        </p:cxnSp>
        <p:sp>
          <p:nvSpPr>
            <p:cNvPr id="135" name="TextBox 134"/>
            <p:cNvSpPr txBox="1"/>
            <p:nvPr/>
          </p:nvSpPr>
          <p:spPr>
            <a:xfrm>
              <a:off x="5475110" y="378561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확보</a:t>
              </a:r>
            </a:p>
          </p:txBody>
        </p:sp>
      </p:grpSp>
      <p:sp>
        <p:nvSpPr>
          <p:cNvPr id="136" name="Rectangle 135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Market Agility</a:t>
            </a:r>
          </a:p>
        </p:txBody>
      </p:sp>
      <p:grpSp>
        <p:nvGrpSpPr>
          <p:cNvPr id="147" name="그림 2 시황 변화 대응력 (도형)"/>
          <p:cNvGrpSpPr/>
          <p:nvPr/>
        </p:nvGrpSpPr>
        <p:grpSpPr>
          <a:xfrm>
            <a:off x="0" y="0"/>
            <a:ext cx="11448288" cy="4901184"/>
            <a:chOff x="0" y="0"/>
            <a:chExt cx="11448288" cy="4901184"/>
          </a:xfrm>
        </p:grpSpPr>
        <p:sp>
          <p:nvSpPr>
            <p:cNvPr id="148" name="Freeform 147"/>
            <p:cNvSpPr/>
            <p:nvPr/>
          </p:nvSpPr>
          <p:spPr>
            <a:xfrm>
              <a:off x="6833369" y="3767328"/>
              <a:ext cx="1963897" cy="1133856"/>
            </a:xfrm>
            <a:custGeom>
              <a:avLst/>
              <a:gdLst/>
              <a:ahLst/>
              <a:cxnLst/>
              <a:rect l="l" t="t" r="r" b="b"/>
              <a:pathLst>
                <a:path w="1963897" h="1133856">
                  <a:moveTo>
                    <a:pt x="490975" y="1133856"/>
                  </a:moveTo>
                  <a:lnTo>
                    <a:pt x="1963897" y="283464"/>
                  </a:lnTo>
                  <a:lnTo>
                    <a:pt x="1472923" y="0"/>
                  </a:lnTo>
                  <a:lnTo>
                    <a:pt x="0" y="850392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C0CA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9" name="Connector 148"/>
            <p:cNvCxnSpPr/>
            <p:nvPr/>
          </p:nvCxnSpPr>
          <p:spPr>
            <a:xfrm flipH="1" flipV="1">
              <a:off x="7078856" y="4475988"/>
              <a:ext cx="490975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0" name="Connector 149"/>
            <p:cNvCxnSpPr/>
            <p:nvPr/>
          </p:nvCxnSpPr>
          <p:spPr>
            <a:xfrm flipH="1" flipV="1">
              <a:off x="7324344" y="4334256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1" name="Connector 150"/>
            <p:cNvCxnSpPr/>
            <p:nvPr/>
          </p:nvCxnSpPr>
          <p:spPr>
            <a:xfrm flipH="1" flipV="1">
              <a:off x="7569831" y="4192524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2" name="Connector 151"/>
            <p:cNvCxnSpPr/>
            <p:nvPr/>
          </p:nvCxnSpPr>
          <p:spPr>
            <a:xfrm flipH="1" flipV="1">
              <a:off x="7815318" y="4050792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3" name="Connector 152"/>
            <p:cNvCxnSpPr/>
            <p:nvPr/>
          </p:nvCxnSpPr>
          <p:spPr>
            <a:xfrm flipH="1" flipV="1">
              <a:off x="8060805" y="3909060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4" name="Connector 153"/>
            <p:cNvCxnSpPr/>
            <p:nvPr/>
          </p:nvCxnSpPr>
          <p:spPr>
            <a:xfrm flipV="1">
              <a:off x="7078856" y="3909060"/>
              <a:ext cx="1472923" cy="850392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grpSp>
          <p:nvGrpSpPr>
            <p:cNvPr id="155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56" name="Freeform 155"/>
              <p:cNvSpPr/>
              <p:nvPr/>
            </p:nvSpPr>
            <p:spPr>
              <a:xfrm>
                <a:off x="8109902" y="3625596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Freeform 156"/>
              <p:cNvSpPr/>
              <p:nvPr/>
            </p:nvSpPr>
            <p:spPr>
              <a:xfrm>
                <a:off x="8306292" y="3625596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Freeform 157"/>
              <p:cNvSpPr/>
              <p:nvPr/>
            </p:nvSpPr>
            <p:spPr>
              <a:xfrm>
                <a:off x="8109902" y="3512210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9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0" name="Freeform 159"/>
              <p:cNvSpPr/>
              <p:nvPr/>
            </p:nvSpPr>
            <p:spPr>
              <a:xfrm>
                <a:off x="8355389" y="3767328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Freeform 160"/>
              <p:cNvSpPr/>
              <p:nvPr/>
            </p:nvSpPr>
            <p:spPr>
              <a:xfrm>
                <a:off x="8551779" y="3767328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Freeform 161"/>
              <p:cNvSpPr/>
              <p:nvPr/>
            </p:nvSpPr>
            <p:spPr>
              <a:xfrm>
                <a:off x="8355389" y="3653942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3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4" name="Freeform 163"/>
              <p:cNvSpPr/>
              <p:nvPr/>
            </p:nvSpPr>
            <p:spPr>
              <a:xfrm>
                <a:off x="7864415" y="3767328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Freeform 164"/>
              <p:cNvSpPr/>
              <p:nvPr/>
            </p:nvSpPr>
            <p:spPr>
              <a:xfrm>
                <a:off x="8060805" y="3767328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Freeform 165"/>
              <p:cNvSpPr/>
              <p:nvPr/>
            </p:nvSpPr>
            <p:spPr>
              <a:xfrm>
                <a:off x="7864415" y="3653942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7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8" name="Freeform 167"/>
              <p:cNvSpPr/>
              <p:nvPr/>
            </p:nvSpPr>
            <p:spPr>
              <a:xfrm>
                <a:off x="8109902" y="3909060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Freeform 168"/>
              <p:cNvSpPr/>
              <p:nvPr/>
            </p:nvSpPr>
            <p:spPr>
              <a:xfrm>
                <a:off x="8306292" y="3909060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Freeform 169"/>
              <p:cNvSpPr/>
              <p:nvPr/>
            </p:nvSpPr>
            <p:spPr>
              <a:xfrm>
                <a:off x="8109902" y="3795674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1" name="전환 중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2" name="Freeform 171"/>
              <p:cNvSpPr/>
              <p:nvPr/>
            </p:nvSpPr>
            <p:spPr>
              <a:xfrm>
                <a:off x="7618928" y="3909060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Freeform 172"/>
              <p:cNvSpPr/>
              <p:nvPr/>
            </p:nvSpPr>
            <p:spPr>
              <a:xfrm>
                <a:off x="7815318" y="3909060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71717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Freeform 173"/>
              <p:cNvSpPr/>
              <p:nvPr/>
            </p:nvSpPr>
            <p:spPr>
              <a:xfrm>
                <a:off x="7618928" y="3795674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77EC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5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6" name="Freeform 175"/>
              <p:cNvSpPr/>
              <p:nvPr/>
            </p:nvSpPr>
            <p:spPr>
              <a:xfrm>
                <a:off x="7864415" y="4050792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Freeform 176"/>
              <p:cNvSpPr/>
              <p:nvPr/>
            </p:nvSpPr>
            <p:spPr>
              <a:xfrm>
                <a:off x="8060805" y="4050792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Freeform 177"/>
              <p:cNvSpPr/>
              <p:nvPr/>
            </p:nvSpPr>
            <p:spPr>
              <a:xfrm>
                <a:off x="7864415" y="3937406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9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Freeform 179"/>
              <p:cNvSpPr/>
              <p:nvPr/>
            </p:nvSpPr>
            <p:spPr>
              <a:xfrm>
                <a:off x="7373441" y="4050792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Freeform 180"/>
              <p:cNvSpPr/>
              <p:nvPr/>
            </p:nvSpPr>
            <p:spPr>
              <a:xfrm>
                <a:off x="7569831" y="4050792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Freeform 181"/>
              <p:cNvSpPr/>
              <p:nvPr/>
            </p:nvSpPr>
            <p:spPr>
              <a:xfrm>
                <a:off x="7373441" y="3937406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전환 중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4" name="Freeform 183"/>
              <p:cNvSpPr/>
              <p:nvPr/>
            </p:nvSpPr>
            <p:spPr>
              <a:xfrm>
                <a:off x="7618928" y="4192524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Freeform 184"/>
              <p:cNvSpPr/>
              <p:nvPr/>
            </p:nvSpPr>
            <p:spPr>
              <a:xfrm>
                <a:off x="7815318" y="4192524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71717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Freeform 185"/>
              <p:cNvSpPr/>
              <p:nvPr/>
            </p:nvSpPr>
            <p:spPr>
              <a:xfrm>
                <a:off x="7618928" y="4079138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77EC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7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8" name="Freeform 187"/>
              <p:cNvSpPr/>
              <p:nvPr/>
            </p:nvSpPr>
            <p:spPr>
              <a:xfrm>
                <a:off x="7127954" y="4192524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Freeform 188"/>
              <p:cNvSpPr/>
              <p:nvPr/>
            </p:nvSpPr>
            <p:spPr>
              <a:xfrm>
                <a:off x="7324344" y="4192524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Freeform 189"/>
              <p:cNvSpPr/>
              <p:nvPr/>
            </p:nvSpPr>
            <p:spPr>
              <a:xfrm>
                <a:off x="7127954" y="4079138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1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2" name="Freeform 191"/>
              <p:cNvSpPr/>
              <p:nvPr/>
            </p:nvSpPr>
            <p:spPr>
              <a:xfrm>
                <a:off x="7373441" y="4334256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Freeform 192"/>
              <p:cNvSpPr/>
              <p:nvPr/>
            </p:nvSpPr>
            <p:spPr>
              <a:xfrm>
                <a:off x="7569831" y="4334256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Freeform 193"/>
              <p:cNvSpPr/>
              <p:nvPr/>
            </p:nvSpPr>
            <p:spPr>
              <a:xfrm>
                <a:off x="7373441" y="4220870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5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6" name="Freeform 195"/>
              <p:cNvSpPr/>
              <p:nvPr/>
            </p:nvSpPr>
            <p:spPr>
              <a:xfrm>
                <a:off x="6882467" y="4334256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196389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89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Freeform 196"/>
              <p:cNvSpPr/>
              <p:nvPr/>
            </p:nvSpPr>
            <p:spPr>
              <a:xfrm>
                <a:off x="7078856" y="4334256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0" y="396849"/>
                    </a:moveTo>
                    <a:lnTo>
                      <a:pt x="196390" y="283464"/>
                    </a:lnTo>
                    <a:lnTo>
                      <a:pt x="196390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Freeform 197"/>
              <p:cNvSpPr/>
              <p:nvPr/>
            </p:nvSpPr>
            <p:spPr>
              <a:xfrm>
                <a:off x="6882467" y="4220870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89" y="226771"/>
                    </a:moveTo>
                    <a:lnTo>
                      <a:pt x="392779" y="113386"/>
                    </a:lnTo>
                    <a:lnTo>
                      <a:pt x="196389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0" name="Freeform 199"/>
              <p:cNvSpPr/>
              <p:nvPr/>
            </p:nvSpPr>
            <p:spPr>
              <a:xfrm>
                <a:off x="7127954" y="4475988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Freeform 200"/>
              <p:cNvSpPr/>
              <p:nvPr/>
            </p:nvSpPr>
            <p:spPr>
              <a:xfrm>
                <a:off x="7324344" y="4475988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Freeform 201"/>
              <p:cNvSpPr/>
              <p:nvPr/>
            </p:nvSpPr>
            <p:spPr>
              <a:xfrm>
                <a:off x="7127954" y="4362602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3" name="Curved Down Arrow 202"/>
            <p:cNvSpPr/>
            <p:nvPr/>
          </p:nvSpPr>
          <p:spPr>
            <a:xfrm>
              <a:off x="7669014" y="4009644"/>
              <a:ext cx="292608" cy="128016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Curved Down Arrow 203"/>
            <p:cNvSpPr/>
            <p:nvPr/>
          </p:nvSpPr>
          <p:spPr>
            <a:xfrm>
              <a:off x="7669014" y="3726180"/>
              <a:ext cx="292608" cy="128016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6739127" y="3355848"/>
              <a:ext cx="149047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공용 설비 전환</a:t>
              </a:r>
            </a:p>
          </p:txBody>
        </p:sp>
        <p:cxnSp>
          <p:nvCxnSpPr>
            <p:cNvPr id="206" name="Connector 205"/>
            <p:cNvCxnSpPr/>
            <p:nvPr/>
          </p:nvCxnSpPr>
          <p:spPr>
            <a:xfrm>
              <a:off x="9262872" y="4187952"/>
              <a:ext cx="1591056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207" name="Rectangle 206"/>
            <p:cNvSpPr/>
            <p:nvPr/>
          </p:nvSpPr>
          <p:spPr>
            <a:xfrm>
              <a:off x="9281159" y="4613172"/>
              <a:ext cx="228599" cy="233147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281159" y="4389120"/>
              <a:ext cx="228599" cy="224052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546336" y="4448784"/>
              <a:ext cx="228599" cy="397535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9546336" y="4389120"/>
              <a:ext cx="228599" cy="5966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9811512" y="4534820"/>
              <a:ext cx="228599" cy="311499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9811512" y="4389120"/>
              <a:ext cx="228599" cy="145700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10076688" y="4743743"/>
              <a:ext cx="228599" cy="102576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10076688" y="4389120"/>
              <a:ext cx="228599" cy="354623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0341863" y="4765854"/>
              <a:ext cx="228599" cy="80465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10341863" y="4389120"/>
              <a:ext cx="228599" cy="37673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10607039" y="4568376"/>
              <a:ext cx="228599" cy="277943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607039" y="4389120"/>
              <a:ext cx="228599" cy="179256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9262872" y="3603304"/>
              <a:ext cx="1591056" cy="437963"/>
            </a:xfrm>
            <a:custGeom>
              <a:avLst/>
              <a:gdLst/>
              <a:ahLst/>
              <a:cxnLst/>
              <a:rect l="l" t="t" r="r" b="b"/>
              <a:pathLst>
                <a:path w="1591056" h="437963">
                  <a:moveTo>
                    <a:pt x="0" y="347881"/>
                  </a:moveTo>
                  <a:lnTo>
                    <a:pt x="33147" y="317237"/>
                  </a:lnTo>
                  <a:lnTo>
                    <a:pt x="66293" y="283965"/>
                  </a:lnTo>
                  <a:lnTo>
                    <a:pt x="99441" y="248956"/>
                  </a:lnTo>
                  <a:lnTo>
                    <a:pt x="132587" y="213143"/>
                  </a:lnTo>
                  <a:lnTo>
                    <a:pt x="165735" y="177483"/>
                  </a:lnTo>
                  <a:lnTo>
                    <a:pt x="198882" y="142930"/>
                  </a:lnTo>
                  <a:lnTo>
                    <a:pt x="232029" y="110406"/>
                  </a:lnTo>
                  <a:lnTo>
                    <a:pt x="265176" y="80779"/>
                  </a:lnTo>
                  <a:lnTo>
                    <a:pt x="298322" y="54842"/>
                  </a:lnTo>
                  <a:lnTo>
                    <a:pt x="331470" y="33287"/>
                  </a:lnTo>
                  <a:lnTo>
                    <a:pt x="364616" y="16691"/>
                  </a:lnTo>
                  <a:lnTo>
                    <a:pt x="397764" y="5495"/>
                  </a:lnTo>
                  <a:lnTo>
                    <a:pt x="430911" y="0"/>
                  </a:lnTo>
                  <a:lnTo>
                    <a:pt x="464058" y="352"/>
                  </a:lnTo>
                  <a:lnTo>
                    <a:pt x="497204" y="6542"/>
                  </a:lnTo>
                  <a:lnTo>
                    <a:pt x="530352" y="18404"/>
                  </a:lnTo>
                  <a:lnTo>
                    <a:pt x="563499" y="35622"/>
                  </a:lnTo>
                  <a:lnTo>
                    <a:pt x="596645" y="57736"/>
                  </a:lnTo>
                  <a:lnTo>
                    <a:pt x="629793" y="84154"/>
                  </a:lnTo>
                  <a:lnTo>
                    <a:pt x="662940" y="114172"/>
                  </a:lnTo>
                  <a:lnTo>
                    <a:pt x="696087" y="146987"/>
                  </a:lnTo>
                  <a:lnTo>
                    <a:pt x="729233" y="181723"/>
                  </a:lnTo>
                  <a:lnTo>
                    <a:pt x="762381" y="217451"/>
                  </a:lnTo>
                  <a:lnTo>
                    <a:pt x="795528" y="253218"/>
                  </a:lnTo>
                  <a:lnTo>
                    <a:pt x="828675" y="288068"/>
                  </a:lnTo>
                  <a:lnTo>
                    <a:pt x="861822" y="321069"/>
                  </a:lnTo>
                  <a:lnTo>
                    <a:pt x="894968" y="351341"/>
                  </a:lnTo>
                  <a:lnTo>
                    <a:pt x="928116" y="378075"/>
                  </a:lnTo>
                  <a:lnTo>
                    <a:pt x="961262" y="400557"/>
                  </a:lnTo>
                  <a:lnTo>
                    <a:pt x="994410" y="418185"/>
                  </a:lnTo>
                  <a:lnTo>
                    <a:pt x="1027557" y="430489"/>
                  </a:lnTo>
                  <a:lnTo>
                    <a:pt x="1060704" y="437141"/>
                  </a:lnTo>
                  <a:lnTo>
                    <a:pt x="1093850" y="437963"/>
                  </a:lnTo>
                  <a:lnTo>
                    <a:pt x="1126997" y="432932"/>
                  </a:lnTo>
                  <a:lnTo>
                    <a:pt x="1160145" y="422184"/>
                  </a:lnTo>
                  <a:lnTo>
                    <a:pt x="1193291" y="406004"/>
                  </a:lnTo>
                  <a:lnTo>
                    <a:pt x="1226439" y="384827"/>
                  </a:lnTo>
                  <a:lnTo>
                    <a:pt x="1259586" y="359216"/>
                  </a:lnTo>
                  <a:lnTo>
                    <a:pt x="1292733" y="329857"/>
                  </a:lnTo>
                  <a:lnTo>
                    <a:pt x="1325879" y="297533"/>
                  </a:lnTo>
                  <a:lnTo>
                    <a:pt x="1359027" y="263109"/>
                  </a:lnTo>
                  <a:lnTo>
                    <a:pt x="1392174" y="227503"/>
                  </a:lnTo>
                  <a:lnTo>
                    <a:pt x="1425320" y="191667"/>
                  </a:lnTo>
                  <a:lnTo>
                    <a:pt x="1458468" y="156559"/>
                  </a:lnTo>
                  <a:lnTo>
                    <a:pt x="1491615" y="123115"/>
                  </a:lnTo>
                  <a:lnTo>
                    <a:pt x="1524762" y="92230"/>
                  </a:lnTo>
                  <a:lnTo>
                    <a:pt x="1557908" y="64728"/>
                  </a:lnTo>
                  <a:lnTo>
                    <a:pt x="1591056" y="41344"/>
                  </a:lnTo>
                </a:path>
              </a:pathLst>
            </a:custGeom>
            <a:noFill/>
            <a:ln w="3302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9262872" y="3603116"/>
              <a:ext cx="1591056" cy="437963"/>
            </a:xfrm>
            <a:custGeom>
              <a:avLst/>
              <a:gdLst/>
              <a:ahLst/>
              <a:cxnLst/>
              <a:rect l="l" t="t" r="r" b="b"/>
              <a:pathLst>
                <a:path w="1591056" h="437963">
                  <a:moveTo>
                    <a:pt x="0" y="90082"/>
                  </a:moveTo>
                  <a:lnTo>
                    <a:pt x="33147" y="120726"/>
                  </a:lnTo>
                  <a:lnTo>
                    <a:pt x="66293" y="153998"/>
                  </a:lnTo>
                  <a:lnTo>
                    <a:pt x="99441" y="189007"/>
                  </a:lnTo>
                  <a:lnTo>
                    <a:pt x="132587" y="224820"/>
                  </a:lnTo>
                  <a:lnTo>
                    <a:pt x="165735" y="260480"/>
                  </a:lnTo>
                  <a:lnTo>
                    <a:pt x="198882" y="295033"/>
                  </a:lnTo>
                  <a:lnTo>
                    <a:pt x="232029" y="327557"/>
                  </a:lnTo>
                  <a:lnTo>
                    <a:pt x="265176" y="357184"/>
                  </a:lnTo>
                  <a:lnTo>
                    <a:pt x="298322" y="383121"/>
                  </a:lnTo>
                  <a:lnTo>
                    <a:pt x="331470" y="404676"/>
                  </a:lnTo>
                  <a:lnTo>
                    <a:pt x="364616" y="421272"/>
                  </a:lnTo>
                  <a:lnTo>
                    <a:pt x="397764" y="432468"/>
                  </a:lnTo>
                  <a:lnTo>
                    <a:pt x="430911" y="437963"/>
                  </a:lnTo>
                  <a:lnTo>
                    <a:pt x="464058" y="437611"/>
                  </a:lnTo>
                  <a:lnTo>
                    <a:pt x="497204" y="431421"/>
                  </a:lnTo>
                  <a:lnTo>
                    <a:pt x="530352" y="419559"/>
                  </a:lnTo>
                  <a:lnTo>
                    <a:pt x="563499" y="402341"/>
                  </a:lnTo>
                  <a:lnTo>
                    <a:pt x="596645" y="380227"/>
                  </a:lnTo>
                  <a:lnTo>
                    <a:pt x="629793" y="353809"/>
                  </a:lnTo>
                  <a:lnTo>
                    <a:pt x="662940" y="323791"/>
                  </a:lnTo>
                  <a:lnTo>
                    <a:pt x="696087" y="290976"/>
                  </a:lnTo>
                  <a:lnTo>
                    <a:pt x="729233" y="256240"/>
                  </a:lnTo>
                  <a:lnTo>
                    <a:pt x="762381" y="220512"/>
                  </a:lnTo>
                  <a:lnTo>
                    <a:pt x="795528" y="184745"/>
                  </a:lnTo>
                  <a:lnTo>
                    <a:pt x="828675" y="149895"/>
                  </a:lnTo>
                  <a:lnTo>
                    <a:pt x="861822" y="116894"/>
                  </a:lnTo>
                  <a:lnTo>
                    <a:pt x="894968" y="86622"/>
                  </a:lnTo>
                  <a:lnTo>
                    <a:pt x="928116" y="59888"/>
                  </a:lnTo>
                  <a:lnTo>
                    <a:pt x="961262" y="37406"/>
                  </a:lnTo>
                  <a:lnTo>
                    <a:pt x="994410" y="19778"/>
                  </a:lnTo>
                  <a:lnTo>
                    <a:pt x="1027557" y="7474"/>
                  </a:lnTo>
                  <a:lnTo>
                    <a:pt x="1060704" y="822"/>
                  </a:lnTo>
                  <a:lnTo>
                    <a:pt x="1093850" y="0"/>
                  </a:lnTo>
                  <a:lnTo>
                    <a:pt x="1126997" y="5031"/>
                  </a:lnTo>
                  <a:lnTo>
                    <a:pt x="1160145" y="15779"/>
                  </a:lnTo>
                  <a:lnTo>
                    <a:pt x="1193291" y="31959"/>
                  </a:lnTo>
                  <a:lnTo>
                    <a:pt x="1226439" y="53136"/>
                  </a:lnTo>
                  <a:lnTo>
                    <a:pt x="1259586" y="78747"/>
                  </a:lnTo>
                  <a:lnTo>
                    <a:pt x="1292733" y="108106"/>
                  </a:lnTo>
                  <a:lnTo>
                    <a:pt x="1325879" y="140430"/>
                  </a:lnTo>
                  <a:lnTo>
                    <a:pt x="1359027" y="174854"/>
                  </a:lnTo>
                  <a:lnTo>
                    <a:pt x="1392174" y="210460"/>
                  </a:lnTo>
                  <a:lnTo>
                    <a:pt x="1425320" y="246296"/>
                  </a:lnTo>
                  <a:lnTo>
                    <a:pt x="1458468" y="281404"/>
                  </a:lnTo>
                  <a:lnTo>
                    <a:pt x="1491615" y="314848"/>
                  </a:lnTo>
                  <a:lnTo>
                    <a:pt x="1524762" y="345733"/>
                  </a:lnTo>
                  <a:lnTo>
                    <a:pt x="1557908" y="373235"/>
                  </a:lnTo>
                  <a:lnTo>
                    <a:pt x="1591056" y="396619"/>
                  </a:lnTo>
                </a:path>
              </a:pathLst>
            </a:custGeom>
            <a:noFill/>
            <a:ln w="2794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10917936" y="350748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10917936" y="3862575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9262872" y="331927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수요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10917936" y="4480560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배분</a:t>
              </a: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Equipment Unif.</a:t>
            </a:r>
          </a:p>
        </p:txBody>
      </p:sp>
      <p:grpSp>
        <p:nvGrpSpPr>
          <p:cNvPr id="236" name="그림 3 설비 통일성 (도형)"/>
          <p:cNvGrpSpPr/>
          <p:nvPr/>
        </p:nvGrpSpPr>
        <p:grpSpPr>
          <a:xfrm>
            <a:off x="0" y="0"/>
            <a:ext cx="17064990" cy="4882896"/>
            <a:chOff x="0" y="0"/>
            <a:chExt cx="17064990" cy="4882896"/>
          </a:xfrm>
        </p:grpSpPr>
        <p:sp>
          <p:nvSpPr>
            <p:cNvPr id="237" name="Freeform 236"/>
            <p:cNvSpPr/>
            <p:nvPr/>
          </p:nvSpPr>
          <p:spPr>
            <a:xfrm>
              <a:off x="12317495" y="4059936"/>
              <a:ext cx="1425409" cy="822960"/>
            </a:xfrm>
            <a:custGeom>
              <a:avLst/>
              <a:gdLst/>
              <a:ahLst/>
              <a:cxnLst/>
              <a:rect l="l" t="t" r="r" b="b"/>
              <a:pathLst>
                <a:path w="1425409" h="822960">
                  <a:moveTo>
                    <a:pt x="712705" y="822960"/>
                  </a:moveTo>
                  <a:lnTo>
                    <a:pt x="1425409" y="411480"/>
                  </a:lnTo>
                  <a:lnTo>
                    <a:pt x="712705" y="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B4B4B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8" name="Connector 237"/>
            <p:cNvCxnSpPr/>
            <p:nvPr/>
          </p:nvCxnSpPr>
          <p:spPr>
            <a:xfrm flipH="1" flipV="1">
              <a:off x="12555063" y="433425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39" name="Connector 238"/>
            <p:cNvCxnSpPr/>
            <p:nvPr/>
          </p:nvCxnSpPr>
          <p:spPr>
            <a:xfrm flipH="1" flipV="1">
              <a:off x="12792631" y="419709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40" name="Connector 239"/>
            <p:cNvCxnSpPr/>
            <p:nvPr/>
          </p:nvCxnSpPr>
          <p:spPr>
            <a:xfrm flipV="1">
              <a:off x="12792631" y="433425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41" name="Connector 240"/>
            <p:cNvCxnSpPr/>
            <p:nvPr/>
          </p:nvCxnSpPr>
          <p:spPr>
            <a:xfrm flipV="1">
              <a:off x="12555063" y="419709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grpSp>
          <p:nvGrpSpPr>
            <p:cNvPr id="242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43" name="Freeform 242"/>
              <p:cNvSpPr/>
              <p:nvPr/>
            </p:nvSpPr>
            <p:spPr>
              <a:xfrm>
                <a:off x="12852023" y="3943350"/>
                <a:ext cx="166298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166298" h="356616">
                    <a:moveTo>
                      <a:pt x="166298" y="356616"/>
                    </a:moveTo>
                    <a:lnTo>
                      <a:pt x="0" y="260604"/>
                    </a:lnTo>
                    <a:lnTo>
                      <a:pt x="0" y="0"/>
                    </a:lnTo>
                    <a:lnTo>
                      <a:pt x="166298" y="96012"/>
                    </a:lnTo>
                    <a:close/>
                  </a:path>
                </a:pathLst>
              </a:custGeom>
              <a:solidFill>
                <a:srgbClr val="55555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Freeform 243"/>
              <p:cNvSpPr/>
              <p:nvPr/>
            </p:nvSpPr>
            <p:spPr>
              <a:xfrm>
                <a:off x="13018321" y="3929634"/>
                <a:ext cx="190055" cy="370332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70332">
                    <a:moveTo>
                      <a:pt x="0" y="370332"/>
                    </a:moveTo>
                    <a:lnTo>
                      <a:pt x="190055" y="260604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424242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Freeform 244"/>
              <p:cNvSpPr/>
              <p:nvPr/>
            </p:nvSpPr>
            <p:spPr>
              <a:xfrm>
                <a:off x="12852023" y="3833622"/>
                <a:ext cx="356353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356353" h="205740">
                    <a:moveTo>
                      <a:pt x="166298" y="205740"/>
                    </a:moveTo>
                    <a:lnTo>
                      <a:pt x="356353" y="96012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90909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6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47" name="Freeform 246"/>
              <p:cNvSpPr/>
              <p:nvPr/>
            </p:nvSpPr>
            <p:spPr>
              <a:xfrm>
                <a:off x="13125227" y="4142232"/>
                <a:ext cx="142541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274320">
                    <a:moveTo>
                      <a:pt x="142541" y="274320"/>
                    </a:moveTo>
                    <a:lnTo>
                      <a:pt x="0" y="192024"/>
                    </a:lnTo>
                    <a:lnTo>
                      <a:pt x="0" y="0"/>
                    </a:lnTo>
                    <a:lnTo>
                      <a:pt x="142541" y="82296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Freeform 247"/>
              <p:cNvSpPr/>
              <p:nvPr/>
            </p:nvSpPr>
            <p:spPr>
              <a:xfrm>
                <a:off x="13267768" y="4142232"/>
                <a:ext cx="1425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142540" h="274320">
                    <a:moveTo>
                      <a:pt x="0" y="274320"/>
                    </a:moveTo>
                    <a:lnTo>
                      <a:pt x="142540" y="192024"/>
                    </a:lnTo>
                    <a:lnTo>
                      <a:pt x="14254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Freeform 248"/>
              <p:cNvSpPr/>
              <p:nvPr/>
            </p:nvSpPr>
            <p:spPr>
              <a:xfrm>
                <a:off x="13125227" y="4059936"/>
                <a:ext cx="285081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285081" h="164592">
                    <a:moveTo>
                      <a:pt x="142541" y="164592"/>
                    </a:moveTo>
                    <a:lnTo>
                      <a:pt x="285081" y="82296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0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1" name="Freeform 250"/>
              <p:cNvSpPr/>
              <p:nvPr/>
            </p:nvSpPr>
            <p:spPr>
              <a:xfrm>
                <a:off x="12650091" y="4018788"/>
                <a:ext cx="142540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42540" h="397764">
                    <a:moveTo>
                      <a:pt x="142540" y="397764"/>
                    </a:moveTo>
                    <a:lnTo>
                      <a:pt x="0" y="315468"/>
                    </a:lnTo>
                    <a:lnTo>
                      <a:pt x="0" y="0"/>
                    </a:lnTo>
                    <a:lnTo>
                      <a:pt x="142540" y="82296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Freeform 251"/>
              <p:cNvSpPr/>
              <p:nvPr/>
            </p:nvSpPr>
            <p:spPr>
              <a:xfrm>
                <a:off x="12792631" y="4018788"/>
                <a:ext cx="142541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397764">
                    <a:moveTo>
                      <a:pt x="0" y="397764"/>
                    </a:moveTo>
                    <a:lnTo>
                      <a:pt x="142541" y="315468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Freeform 252"/>
              <p:cNvSpPr/>
              <p:nvPr/>
            </p:nvSpPr>
            <p:spPr>
              <a:xfrm>
                <a:off x="12650091" y="3936492"/>
                <a:ext cx="285081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285081" h="164592">
                    <a:moveTo>
                      <a:pt x="142540" y="164592"/>
                    </a:moveTo>
                    <a:lnTo>
                      <a:pt x="285081" y="82296"/>
                    </a:lnTo>
                    <a:lnTo>
                      <a:pt x="14254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4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5" name="Freeform 254"/>
              <p:cNvSpPr/>
              <p:nvPr/>
            </p:nvSpPr>
            <p:spPr>
              <a:xfrm>
                <a:off x="13339038" y="4114800"/>
                <a:ext cx="16629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166298" h="452628">
                    <a:moveTo>
                      <a:pt x="166298" y="452628"/>
                    </a:moveTo>
                    <a:lnTo>
                      <a:pt x="0" y="356616"/>
                    </a:lnTo>
                    <a:lnTo>
                      <a:pt x="0" y="0"/>
                    </a:lnTo>
                    <a:lnTo>
                      <a:pt x="166298" y="96012"/>
                    </a:lnTo>
                    <a:close/>
                  </a:path>
                </a:pathLst>
              </a:custGeom>
              <a:solidFill>
                <a:srgbClr val="55555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Freeform 255"/>
              <p:cNvSpPr/>
              <p:nvPr/>
            </p:nvSpPr>
            <p:spPr>
              <a:xfrm>
                <a:off x="13505336" y="4114800"/>
                <a:ext cx="16629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166297" h="452628">
                    <a:moveTo>
                      <a:pt x="0" y="452628"/>
                    </a:moveTo>
                    <a:lnTo>
                      <a:pt x="166297" y="356616"/>
                    </a:lnTo>
                    <a:lnTo>
                      <a:pt x="166297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424242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Freeform 256"/>
              <p:cNvSpPr/>
              <p:nvPr/>
            </p:nvSpPr>
            <p:spPr>
              <a:xfrm>
                <a:off x="13339038" y="4018788"/>
                <a:ext cx="332595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332595" h="192024">
                    <a:moveTo>
                      <a:pt x="166298" y="192024"/>
                    </a:moveTo>
                    <a:lnTo>
                      <a:pt x="332595" y="96012"/>
                    </a:lnTo>
                    <a:lnTo>
                      <a:pt x="166298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90909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8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9" name="Freeform 258"/>
              <p:cNvSpPr/>
              <p:nvPr/>
            </p:nvSpPr>
            <p:spPr>
              <a:xfrm>
                <a:off x="12840145" y="4251960"/>
                <a:ext cx="190055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29184">
                    <a:moveTo>
                      <a:pt x="190055" y="329184"/>
                    </a:moveTo>
                    <a:lnTo>
                      <a:pt x="0" y="21945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Freeform 259"/>
              <p:cNvSpPr/>
              <p:nvPr/>
            </p:nvSpPr>
            <p:spPr>
              <a:xfrm>
                <a:off x="13030200" y="4251960"/>
                <a:ext cx="19005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29184">
                    <a:moveTo>
                      <a:pt x="0" y="329184"/>
                    </a:moveTo>
                    <a:lnTo>
                      <a:pt x="190054" y="21945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Freeform 260"/>
              <p:cNvSpPr/>
              <p:nvPr/>
            </p:nvSpPr>
            <p:spPr>
              <a:xfrm>
                <a:off x="12840145" y="414223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2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63" name="Freeform 262"/>
              <p:cNvSpPr/>
              <p:nvPr/>
            </p:nvSpPr>
            <p:spPr>
              <a:xfrm>
                <a:off x="12376887" y="4258818"/>
                <a:ext cx="190055" cy="31546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15468">
                    <a:moveTo>
                      <a:pt x="190055" y="315468"/>
                    </a:moveTo>
                    <a:lnTo>
                      <a:pt x="0" y="20574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Freeform 263"/>
              <p:cNvSpPr/>
              <p:nvPr/>
            </p:nvSpPr>
            <p:spPr>
              <a:xfrm>
                <a:off x="12566942" y="4272534"/>
                <a:ext cx="166297" cy="301752"/>
              </a:xfrm>
              <a:custGeom>
                <a:avLst/>
                <a:gdLst/>
                <a:ahLst/>
                <a:cxnLst/>
                <a:rect l="l" t="t" r="r" b="b"/>
                <a:pathLst>
                  <a:path w="166297" h="301752">
                    <a:moveTo>
                      <a:pt x="0" y="301752"/>
                    </a:moveTo>
                    <a:lnTo>
                      <a:pt x="166297" y="205740"/>
                    </a:lnTo>
                    <a:lnTo>
                      <a:pt x="166297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Freeform 264"/>
              <p:cNvSpPr/>
              <p:nvPr/>
            </p:nvSpPr>
            <p:spPr>
              <a:xfrm>
                <a:off x="12376887" y="4162806"/>
                <a:ext cx="356352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356352" h="205740">
                    <a:moveTo>
                      <a:pt x="190055" y="205740"/>
                    </a:moveTo>
                    <a:lnTo>
                      <a:pt x="356352" y="109728"/>
                    </a:lnTo>
                    <a:lnTo>
                      <a:pt x="166298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6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67" name="Freeform 266"/>
              <p:cNvSpPr/>
              <p:nvPr/>
            </p:nvSpPr>
            <p:spPr>
              <a:xfrm>
                <a:off x="13101470" y="4430268"/>
                <a:ext cx="190054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274320">
                    <a:moveTo>
                      <a:pt x="190054" y="274320"/>
                    </a:moveTo>
                    <a:lnTo>
                      <a:pt x="0" y="164592"/>
                    </a:lnTo>
                    <a:lnTo>
                      <a:pt x="0" y="0"/>
                    </a:lnTo>
                    <a:lnTo>
                      <a:pt x="190054" y="109728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reeform 267"/>
              <p:cNvSpPr/>
              <p:nvPr/>
            </p:nvSpPr>
            <p:spPr>
              <a:xfrm>
                <a:off x="13291524" y="4457700"/>
                <a:ext cx="142541" cy="246888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246888">
                    <a:moveTo>
                      <a:pt x="0" y="246888"/>
                    </a:moveTo>
                    <a:lnTo>
                      <a:pt x="142541" y="164592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reeform 268"/>
              <p:cNvSpPr/>
              <p:nvPr/>
            </p:nvSpPr>
            <p:spPr>
              <a:xfrm>
                <a:off x="13101470" y="4347972"/>
                <a:ext cx="332595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332595" h="192024">
                    <a:moveTo>
                      <a:pt x="190054" y="192024"/>
                    </a:moveTo>
                    <a:lnTo>
                      <a:pt x="332595" y="109728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0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1" name="Freeform 270"/>
              <p:cNvSpPr/>
              <p:nvPr/>
            </p:nvSpPr>
            <p:spPr>
              <a:xfrm>
                <a:off x="12650091" y="4224528"/>
                <a:ext cx="142540" cy="466344"/>
              </a:xfrm>
              <a:custGeom>
                <a:avLst/>
                <a:gdLst/>
                <a:ahLst/>
                <a:cxnLst/>
                <a:rect l="l" t="t" r="r" b="b"/>
                <a:pathLst>
                  <a:path w="142540" h="466344">
                    <a:moveTo>
                      <a:pt x="142540" y="466344"/>
                    </a:moveTo>
                    <a:lnTo>
                      <a:pt x="0" y="384048"/>
                    </a:lnTo>
                    <a:lnTo>
                      <a:pt x="0" y="0"/>
                    </a:lnTo>
                    <a:lnTo>
                      <a:pt x="142540" y="82296"/>
                    </a:lnTo>
                    <a:close/>
                  </a:path>
                </a:pathLst>
              </a:custGeom>
              <a:solidFill>
                <a:srgbClr val="55555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reeform 271"/>
              <p:cNvSpPr/>
              <p:nvPr/>
            </p:nvSpPr>
            <p:spPr>
              <a:xfrm>
                <a:off x="12792631" y="4224528"/>
                <a:ext cx="142541" cy="466344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466344">
                    <a:moveTo>
                      <a:pt x="0" y="466344"/>
                    </a:moveTo>
                    <a:lnTo>
                      <a:pt x="142541" y="384048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424242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reeform 272"/>
              <p:cNvSpPr/>
              <p:nvPr/>
            </p:nvSpPr>
            <p:spPr>
              <a:xfrm>
                <a:off x="12650091" y="4142232"/>
                <a:ext cx="285081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285081" h="164592">
                    <a:moveTo>
                      <a:pt x="142540" y="164592"/>
                    </a:moveTo>
                    <a:lnTo>
                      <a:pt x="285081" y="82296"/>
                    </a:lnTo>
                    <a:lnTo>
                      <a:pt x="14254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90909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4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5" name="Freeform 274"/>
              <p:cNvSpPr/>
              <p:nvPr/>
            </p:nvSpPr>
            <p:spPr>
              <a:xfrm>
                <a:off x="12863902" y="4485132"/>
                <a:ext cx="142541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356616">
                    <a:moveTo>
                      <a:pt x="142541" y="356616"/>
                    </a:moveTo>
                    <a:lnTo>
                      <a:pt x="0" y="274320"/>
                    </a:lnTo>
                    <a:lnTo>
                      <a:pt x="0" y="0"/>
                    </a:lnTo>
                    <a:lnTo>
                      <a:pt x="142541" y="82296"/>
                    </a:lnTo>
                    <a:close/>
                  </a:path>
                </a:pathLst>
              </a:custGeom>
              <a:solidFill>
                <a:srgbClr val="8A8A8A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reeform 275"/>
              <p:cNvSpPr/>
              <p:nvPr/>
            </p:nvSpPr>
            <p:spPr>
              <a:xfrm>
                <a:off x="13006443" y="4457700"/>
                <a:ext cx="190054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84048">
                    <a:moveTo>
                      <a:pt x="0" y="384048"/>
                    </a:moveTo>
                    <a:lnTo>
                      <a:pt x="190054" y="27432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6C6C6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Freeform 276"/>
              <p:cNvSpPr/>
              <p:nvPr/>
            </p:nvSpPr>
            <p:spPr>
              <a:xfrm>
                <a:off x="12863902" y="4375404"/>
                <a:ext cx="332595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332595" h="192024">
                    <a:moveTo>
                      <a:pt x="142541" y="192024"/>
                    </a:moveTo>
                    <a:lnTo>
                      <a:pt x="332595" y="8229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3B3B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8" name="TextBox 277"/>
            <p:cNvSpPr txBox="1"/>
            <p:nvPr/>
          </p:nvSpPr>
          <p:spPr>
            <a:xfrm>
              <a:off x="12298680" y="3355848"/>
              <a:ext cx="170535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라인별 모델 혼재</a:t>
              </a:r>
            </a:p>
          </p:txBody>
        </p:sp>
        <p:grpSp>
          <p:nvGrpSpPr>
            <p:cNvPr id="279" name="발주 1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0" name="Freeform 279"/>
              <p:cNvSpPr/>
              <p:nvPr/>
            </p:nvSpPr>
            <p:spPr>
              <a:xfrm>
                <a:off x="13964857" y="4557369"/>
                <a:ext cx="190055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9">
                    <a:moveTo>
                      <a:pt x="190055" y="307239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Freeform 280"/>
              <p:cNvSpPr/>
              <p:nvPr/>
            </p:nvSpPr>
            <p:spPr>
              <a:xfrm>
                <a:off x="14154912" y="4557369"/>
                <a:ext cx="190054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9">
                    <a:moveTo>
                      <a:pt x="0" y="307239"/>
                    </a:moveTo>
                    <a:lnTo>
                      <a:pt x="190054" y="197511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Freeform 281"/>
              <p:cNvSpPr/>
              <p:nvPr/>
            </p:nvSpPr>
            <p:spPr>
              <a:xfrm>
                <a:off x="13964857" y="4447641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3" name="TextBox 282"/>
            <p:cNvSpPr txBox="1"/>
            <p:nvPr/>
          </p:nvSpPr>
          <p:spPr>
            <a:xfrm>
              <a:off x="13903452" y="414223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발주</a:t>
              </a:r>
            </a:p>
          </p:txBody>
        </p:sp>
        <p:sp>
          <p:nvSpPr>
            <p:cNvPr id="284" name="Freeform 283"/>
            <p:cNvSpPr/>
            <p:nvPr/>
          </p:nvSpPr>
          <p:spPr>
            <a:xfrm>
              <a:off x="14493240" y="4242816"/>
              <a:ext cx="420623" cy="256032"/>
            </a:xfrm>
            <a:custGeom>
              <a:avLst/>
              <a:gdLst/>
              <a:ahLst/>
              <a:cxnLst/>
              <a:rect l="l" t="t" r="r" b="b"/>
              <a:pathLst>
                <a:path w="420623" h="256032">
                  <a:moveTo>
                    <a:pt x="0" y="184343"/>
                  </a:moveTo>
                  <a:lnTo>
                    <a:pt x="243961" y="184343"/>
                  </a:lnTo>
                  <a:lnTo>
                    <a:pt x="243961" y="256032"/>
                  </a:lnTo>
                  <a:lnTo>
                    <a:pt x="420623" y="128016"/>
                  </a:lnTo>
                  <a:lnTo>
                    <a:pt x="243961" y="0"/>
                  </a:lnTo>
                  <a:lnTo>
                    <a:pt x="243961" y="71688"/>
                  </a:lnTo>
                  <a:lnTo>
                    <a:pt x="0" y="71688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Freeform 284"/>
            <p:cNvSpPr/>
            <p:nvPr/>
          </p:nvSpPr>
          <p:spPr>
            <a:xfrm>
              <a:off x="14987367" y="4197096"/>
              <a:ext cx="1187841" cy="685800"/>
            </a:xfrm>
            <a:custGeom>
              <a:avLst/>
              <a:gdLst/>
              <a:ahLst/>
              <a:cxnLst/>
              <a:rect l="l" t="t" r="r" b="b"/>
              <a:pathLst>
                <a:path w="1187841" h="685800">
                  <a:moveTo>
                    <a:pt x="475137" y="685800"/>
                  </a:moveTo>
                  <a:lnTo>
                    <a:pt x="1187841" y="274320"/>
                  </a:lnTo>
                  <a:lnTo>
                    <a:pt x="712705" y="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C0CA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86" name="Connector 285"/>
            <p:cNvCxnSpPr/>
            <p:nvPr/>
          </p:nvCxnSpPr>
          <p:spPr>
            <a:xfrm flipH="1" flipV="1">
              <a:off x="15224935" y="4471416"/>
              <a:ext cx="475137" cy="27432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87" name="Connector 286"/>
            <p:cNvCxnSpPr/>
            <p:nvPr/>
          </p:nvCxnSpPr>
          <p:spPr>
            <a:xfrm flipH="1" flipV="1">
              <a:off x="15462504" y="4334256"/>
              <a:ext cx="475136" cy="27432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88" name="Connector 287"/>
            <p:cNvCxnSpPr/>
            <p:nvPr/>
          </p:nvCxnSpPr>
          <p:spPr>
            <a:xfrm flipV="1">
              <a:off x="15224935" y="433425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grpSp>
          <p:nvGrpSpPr>
            <p:cNvPr id="289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90" name="Freeform 289"/>
              <p:cNvSpPr/>
              <p:nvPr/>
            </p:nvSpPr>
            <p:spPr>
              <a:xfrm>
                <a:off x="15510017" y="404622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Freeform 290"/>
              <p:cNvSpPr/>
              <p:nvPr/>
            </p:nvSpPr>
            <p:spPr>
              <a:xfrm>
                <a:off x="15700072" y="404622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Freeform 291"/>
              <p:cNvSpPr/>
              <p:nvPr/>
            </p:nvSpPr>
            <p:spPr>
              <a:xfrm>
                <a:off x="15510017" y="393649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3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94" name="Freeform 293"/>
              <p:cNvSpPr/>
              <p:nvPr/>
            </p:nvSpPr>
            <p:spPr>
              <a:xfrm>
                <a:off x="15272449" y="418338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Freeform 294"/>
              <p:cNvSpPr/>
              <p:nvPr/>
            </p:nvSpPr>
            <p:spPr>
              <a:xfrm>
                <a:off x="15462504" y="418338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Freeform 295"/>
              <p:cNvSpPr/>
              <p:nvPr/>
            </p:nvSpPr>
            <p:spPr>
              <a:xfrm>
                <a:off x="15272449" y="407365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7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98" name="Freeform 297"/>
              <p:cNvSpPr/>
              <p:nvPr/>
            </p:nvSpPr>
            <p:spPr>
              <a:xfrm>
                <a:off x="15747585" y="418338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Freeform 298"/>
              <p:cNvSpPr/>
              <p:nvPr/>
            </p:nvSpPr>
            <p:spPr>
              <a:xfrm>
                <a:off x="15937640" y="418338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Freeform 299"/>
              <p:cNvSpPr/>
              <p:nvPr/>
            </p:nvSpPr>
            <p:spPr>
              <a:xfrm>
                <a:off x="15747585" y="407365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1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2" name="Freeform 301"/>
              <p:cNvSpPr/>
              <p:nvPr/>
            </p:nvSpPr>
            <p:spPr>
              <a:xfrm>
                <a:off x="15034881" y="432054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190054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4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Freeform 302"/>
              <p:cNvSpPr/>
              <p:nvPr/>
            </p:nvSpPr>
            <p:spPr>
              <a:xfrm>
                <a:off x="15224935" y="432054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0" y="397764"/>
                    </a:moveTo>
                    <a:lnTo>
                      <a:pt x="190055" y="288036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Freeform 303"/>
              <p:cNvSpPr/>
              <p:nvPr/>
            </p:nvSpPr>
            <p:spPr>
              <a:xfrm>
                <a:off x="15034881" y="421081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4" y="219456"/>
                    </a:moveTo>
                    <a:lnTo>
                      <a:pt x="380109" y="109728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5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Freeform 305"/>
              <p:cNvSpPr/>
              <p:nvPr/>
            </p:nvSpPr>
            <p:spPr>
              <a:xfrm>
                <a:off x="15510017" y="432054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Freeform 306"/>
              <p:cNvSpPr/>
              <p:nvPr/>
            </p:nvSpPr>
            <p:spPr>
              <a:xfrm>
                <a:off x="15700072" y="432054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Freeform 307"/>
              <p:cNvSpPr/>
              <p:nvPr/>
            </p:nvSpPr>
            <p:spPr>
              <a:xfrm>
                <a:off x="15510017" y="421081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9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10" name="Freeform 309"/>
              <p:cNvSpPr/>
              <p:nvPr/>
            </p:nvSpPr>
            <p:spPr>
              <a:xfrm>
                <a:off x="15272449" y="445770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Freeform 310"/>
              <p:cNvSpPr/>
              <p:nvPr/>
            </p:nvSpPr>
            <p:spPr>
              <a:xfrm>
                <a:off x="15462504" y="445770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Freeform 311"/>
              <p:cNvSpPr/>
              <p:nvPr/>
            </p:nvSpPr>
            <p:spPr>
              <a:xfrm>
                <a:off x="15272449" y="434797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3" name="TextBox 312"/>
            <p:cNvSpPr txBox="1"/>
            <p:nvPr/>
          </p:nvSpPr>
          <p:spPr>
            <a:xfrm>
              <a:off x="15005304" y="3355848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공용 모델</a:t>
              </a:r>
            </a:p>
          </p:txBody>
        </p:sp>
        <p:grpSp>
          <p:nvGrpSpPr>
            <p:cNvPr id="314" name="발주 1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15" name="Freeform 314"/>
              <p:cNvSpPr/>
              <p:nvPr/>
            </p:nvSpPr>
            <p:spPr>
              <a:xfrm>
                <a:off x="16534321" y="4557369"/>
                <a:ext cx="190055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9">
                    <a:moveTo>
                      <a:pt x="190055" y="307239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Freeform 315"/>
              <p:cNvSpPr/>
              <p:nvPr/>
            </p:nvSpPr>
            <p:spPr>
              <a:xfrm>
                <a:off x="16724376" y="4557369"/>
                <a:ext cx="190054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9">
                    <a:moveTo>
                      <a:pt x="0" y="307239"/>
                    </a:moveTo>
                    <a:lnTo>
                      <a:pt x="190054" y="197511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Freeform 316"/>
              <p:cNvSpPr/>
              <p:nvPr/>
            </p:nvSpPr>
            <p:spPr>
              <a:xfrm>
                <a:off x="16534321" y="4447641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8" name="발주 2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19" name="Freeform 318"/>
              <p:cNvSpPr/>
              <p:nvPr/>
            </p:nvSpPr>
            <p:spPr>
              <a:xfrm>
                <a:off x="16534321" y="4348886"/>
                <a:ext cx="190055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8">
                    <a:moveTo>
                      <a:pt x="190055" y="307238"/>
                    </a:moveTo>
                    <a:lnTo>
                      <a:pt x="0" y="19751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Freeform 319"/>
              <p:cNvSpPr/>
              <p:nvPr/>
            </p:nvSpPr>
            <p:spPr>
              <a:xfrm>
                <a:off x="16724376" y="4348886"/>
                <a:ext cx="190054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8">
                    <a:moveTo>
                      <a:pt x="0" y="307238"/>
                    </a:moveTo>
                    <a:lnTo>
                      <a:pt x="190054" y="19751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Freeform 320"/>
              <p:cNvSpPr/>
              <p:nvPr/>
            </p:nvSpPr>
            <p:spPr>
              <a:xfrm>
                <a:off x="16534321" y="4239158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22" name="발주 3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3" name="Freeform 322"/>
              <p:cNvSpPr/>
              <p:nvPr/>
            </p:nvSpPr>
            <p:spPr>
              <a:xfrm>
                <a:off x="16534321" y="4140403"/>
                <a:ext cx="190055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8">
                    <a:moveTo>
                      <a:pt x="190055" y="307238"/>
                    </a:moveTo>
                    <a:lnTo>
                      <a:pt x="0" y="19751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Freeform 323"/>
              <p:cNvSpPr/>
              <p:nvPr/>
            </p:nvSpPr>
            <p:spPr>
              <a:xfrm>
                <a:off x="16724376" y="4140403"/>
                <a:ext cx="190054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8">
                    <a:moveTo>
                      <a:pt x="0" y="307238"/>
                    </a:moveTo>
                    <a:lnTo>
                      <a:pt x="190054" y="19751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Freeform 324"/>
              <p:cNvSpPr/>
              <p:nvPr/>
            </p:nvSpPr>
            <p:spPr>
              <a:xfrm>
                <a:off x="16534321" y="4030675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26" name="발주 4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7" name="Freeform 326"/>
              <p:cNvSpPr/>
              <p:nvPr/>
            </p:nvSpPr>
            <p:spPr>
              <a:xfrm>
                <a:off x="16534321" y="3931920"/>
                <a:ext cx="190055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8">
                    <a:moveTo>
                      <a:pt x="190055" y="307238"/>
                    </a:moveTo>
                    <a:lnTo>
                      <a:pt x="0" y="19751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Freeform 327"/>
              <p:cNvSpPr/>
              <p:nvPr/>
            </p:nvSpPr>
            <p:spPr>
              <a:xfrm>
                <a:off x="16724376" y="3931920"/>
                <a:ext cx="190054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8">
                    <a:moveTo>
                      <a:pt x="0" y="307238"/>
                    </a:moveTo>
                    <a:lnTo>
                      <a:pt x="190054" y="19751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Freeform 328"/>
              <p:cNvSpPr/>
              <p:nvPr/>
            </p:nvSpPr>
            <p:spPr>
              <a:xfrm>
                <a:off x="16534321" y="382219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0" name="TextBox 329"/>
            <p:cNvSpPr txBox="1"/>
            <p:nvPr/>
          </p:nvSpPr>
          <p:spPr>
            <a:xfrm>
              <a:off x="16383762" y="3483864"/>
              <a:ext cx="6812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발주 ↑</a:t>
              </a:r>
            </a:p>
          </p:txBody>
        </p:sp>
      </p:grpSp>
      <p:sp>
        <p:nvSpPr>
          <p:cNvPr id="331" name="Rectangle 330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383" name="Rounded Rectangle 382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C4FA5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386" name="Rounded Rectangle 385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ound Same Side Corner Rectangle 387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ound Same Side Corner Rectangle 389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ound Same Side Corner Rectangle 391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ound Same Side Corner Rectangle 395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ound Same Side Corner Rectangle 397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ound Same Side Corner Rectangle 399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415" name="Right Arrow 414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ounded Rectangle 415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418" name="Oval 417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ound Same Side Corner Rectangle 418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ound Same Side Corner Rectangle 420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ound Same Side Corner Rectangle 422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ound Same Side Corner Rectangle 424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Round Same Side Corner Rectangle 426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Round Same Side Corner Rectangle 428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432" name="Rounded Rectangle 431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434" name="Rounded Rectangle 433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436" name="Up Arrow 435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Up Arrow 436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C4FA5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439" name="Connector 438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440" name="Rounded Rectangle 439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2 / 6  시안 2 · 메커니즘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C0CAEC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grpSp>
        <p:nvGrpSpPr>
          <p:cNvPr id="13" name="그림 1 공간 효율성 (도형)"/>
          <p:cNvGrpSpPr/>
          <p:nvPr/>
        </p:nvGrpSpPr>
        <p:grpSpPr>
          <a:xfrm>
            <a:off x="1216152" y="3355848"/>
            <a:ext cx="4690872" cy="1618488"/>
            <a:chOff x="1216152" y="3355848"/>
            <a:chExt cx="4690872" cy="1618488"/>
          </a:xfrm>
        </p:grpSpPr>
        <p:sp>
          <p:nvSpPr>
            <p:cNvPr id="14" name="TextBox 13"/>
            <p:cNvSpPr txBox="1"/>
            <p:nvPr/>
          </p:nvSpPr>
          <p:spPr>
            <a:xfrm>
              <a:off x="1216152" y="3355848"/>
              <a:ext cx="9098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Fab 분리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14216" y="3355848"/>
              <a:ext cx="17373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Common Platform</a:t>
              </a:r>
            </a:p>
          </p:txBody>
        </p:sp>
        <p:grpSp>
          <p:nvGrpSpPr>
            <p:cNvPr id="16" name="분리 격자"/>
            <p:cNvGrpSpPr/>
            <p:nvPr/>
          </p:nvGrpSpPr>
          <p:grpSpPr>
            <a:xfrm>
              <a:off x="1216152" y="3675888"/>
              <a:ext cx="1865376" cy="914400"/>
              <a:chOff x="1216152" y="3675888"/>
              <a:chExt cx="1865376" cy="91440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216152" y="3675888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1453896" y="3675888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691640" y="3675888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929384" y="3675888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167128" y="3675888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404872" y="3675888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642616" y="3675888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880360" y="3675888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216152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453896" y="3913632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691640" y="3913632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929384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167128" y="3913632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2404872" y="3913632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642616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80360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1216152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145389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69164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929384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2167128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404872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64261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88036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216152" y="4389120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453896" y="4389120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1691640" y="4389120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1929384" y="4389120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2167128" y="4389120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2404872" y="4389120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2642616" y="4389120"/>
                <a:ext cx="201168" cy="201168"/>
              </a:xfrm>
              <a:prstGeom prst="rect">
                <a:avLst/>
              </a:prstGeom>
              <a:solidFill>
                <a:srgbClr val="8A8A8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2880360" y="4389120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9" name="Freeform 48"/>
            <p:cNvSpPr/>
            <p:nvPr/>
          </p:nvSpPr>
          <p:spPr>
            <a:xfrm>
              <a:off x="3209544" y="4096512"/>
              <a:ext cx="566928" cy="274320"/>
            </a:xfrm>
            <a:custGeom>
              <a:avLst/>
              <a:gdLst/>
              <a:ahLst/>
              <a:cxnLst/>
              <a:rect l="l" t="t" r="r" b="b"/>
              <a:pathLst>
                <a:path w="566928" h="274320">
                  <a:moveTo>
                    <a:pt x="0" y="197510"/>
                  </a:moveTo>
                  <a:lnTo>
                    <a:pt x="328818" y="197510"/>
                  </a:lnTo>
                  <a:lnTo>
                    <a:pt x="328818" y="274320"/>
                  </a:lnTo>
                  <a:lnTo>
                    <a:pt x="566928" y="137160"/>
                  </a:lnTo>
                  <a:lnTo>
                    <a:pt x="328818" y="0"/>
                  </a:lnTo>
                  <a:lnTo>
                    <a:pt x="328818" y="76809"/>
                  </a:lnTo>
                  <a:lnTo>
                    <a:pt x="0" y="76809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0" name="통합 격자"/>
            <p:cNvGrpSpPr/>
            <p:nvPr/>
          </p:nvGrpSpPr>
          <p:grpSpPr>
            <a:xfrm>
              <a:off x="4014216" y="3675888"/>
              <a:ext cx="1865376" cy="914400"/>
              <a:chOff x="4014216" y="3675888"/>
              <a:chExt cx="1865376" cy="91440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4014216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251960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4489704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4727448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4965192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5202936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5440680" y="3675888"/>
                <a:ext cx="201168" cy="201168"/>
              </a:xfrm>
              <a:prstGeom prst="rect">
                <a:avLst/>
              </a:prstGeom>
              <a:solidFill>
                <a:srgbClr val="C0CAE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678424" y="3675888"/>
                <a:ext cx="201168" cy="201168"/>
              </a:xfrm>
              <a:prstGeom prst="rect">
                <a:avLst/>
              </a:prstGeom>
              <a:solidFill>
                <a:srgbClr val="C0CAE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4014216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4251960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4489704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4727448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4965192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202936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5440680" y="3913632"/>
                <a:ext cx="201168" cy="201168"/>
              </a:xfrm>
              <a:prstGeom prst="rect">
                <a:avLst/>
              </a:prstGeom>
              <a:solidFill>
                <a:srgbClr val="C0CAE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5678424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401421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425196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4489704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4727448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4965192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520293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544068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5678424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4014216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4251960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489704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4727448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4965192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5202936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5440680" y="4389120"/>
                <a:ext cx="201168" cy="201168"/>
              </a:xfrm>
              <a:prstGeom prst="rect">
                <a:avLst/>
              </a:prstGeom>
              <a:solidFill>
                <a:srgbClr val="C0CAE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5678424" y="4389120"/>
                <a:ext cx="201168" cy="201168"/>
              </a:xfrm>
              <a:prstGeom prst="rect">
                <a:avLst/>
              </a:prstGeom>
              <a:solidFill>
                <a:srgbClr val="C0CAE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3" name="Rectangle 82"/>
            <p:cNvSpPr/>
            <p:nvPr/>
          </p:nvSpPr>
          <p:spPr>
            <a:xfrm>
              <a:off x="3986784" y="3648456"/>
              <a:ext cx="1920240" cy="969264"/>
            </a:xfrm>
            <a:prstGeom prst="rect">
              <a:avLst/>
            </a:prstGeom>
            <a:noFill/>
            <a:ln w="1524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16152" y="4754880"/>
              <a:ext cx="164592" cy="164592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444752" y="470001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설비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901952" y="4754880"/>
              <a:ext cx="164592" cy="164592"/>
            </a:xfrm>
            <a:prstGeom prst="rect">
              <a:avLst/>
            </a:prstGeom>
            <a:solidFill>
              <a:srgbClr val="C0CA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0552" y="4700016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추가 설비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026664" y="4754880"/>
              <a:ext cx="164592" cy="164592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255264" y="4700016"/>
              <a:ext cx="11658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Dead Space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462272" y="4754880"/>
              <a:ext cx="164592" cy="164592"/>
            </a:xfrm>
            <a:prstGeom prst="rect">
              <a:avLst/>
            </a:prstGeom>
            <a:solidFill>
              <a:srgbClr val="E2E2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690872" y="470001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통로</a:t>
              </a:r>
            </a:p>
          </p:txBody>
        </p:sp>
      </p:grpSp>
      <p:sp>
        <p:nvSpPr>
          <p:cNvPr id="92" name="Rectangle 91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Market Agility</a:t>
            </a:r>
          </a:p>
        </p:txBody>
      </p:sp>
      <p:grpSp>
        <p:nvGrpSpPr>
          <p:cNvPr id="103" name="그림 2 시황 변화 대응력 (도형)"/>
          <p:cNvGrpSpPr/>
          <p:nvPr/>
        </p:nvGrpSpPr>
        <p:grpSpPr>
          <a:xfrm>
            <a:off x="6766559" y="3392424"/>
            <a:ext cx="4681728" cy="1545336"/>
            <a:chOff x="6766559" y="3392424"/>
            <a:chExt cx="4681728" cy="1545336"/>
          </a:xfrm>
        </p:grpSpPr>
        <p:sp>
          <p:nvSpPr>
            <p:cNvPr id="104" name="Freeform 103"/>
            <p:cNvSpPr/>
            <p:nvPr/>
          </p:nvSpPr>
          <p:spPr>
            <a:xfrm>
              <a:off x="6766559" y="4242816"/>
              <a:ext cx="2743200" cy="658368"/>
            </a:xfrm>
            <a:custGeom>
              <a:avLst/>
              <a:gdLst/>
              <a:ahLst/>
              <a:cxnLst/>
              <a:rect l="l" t="t" r="r" b="b"/>
              <a:pathLst>
                <a:path w="2743200" h="658368">
                  <a:moveTo>
                    <a:pt x="0" y="658368"/>
                  </a:moveTo>
                  <a:lnTo>
                    <a:pt x="0" y="182880"/>
                  </a:lnTo>
                  <a:lnTo>
                    <a:pt x="30480" y="163763"/>
                  </a:lnTo>
                  <a:lnTo>
                    <a:pt x="60960" y="144857"/>
                  </a:lnTo>
                  <a:lnTo>
                    <a:pt x="91441" y="126366"/>
                  </a:lnTo>
                  <a:lnTo>
                    <a:pt x="121921" y="108496"/>
                  </a:lnTo>
                  <a:lnTo>
                    <a:pt x="152401" y="91440"/>
                  </a:lnTo>
                  <a:lnTo>
                    <a:pt x="182881" y="75385"/>
                  </a:lnTo>
                  <a:lnTo>
                    <a:pt x="213361" y="60509"/>
                  </a:lnTo>
                  <a:lnTo>
                    <a:pt x="243840" y="46973"/>
                  </a:lnTo>
                  <a:lnTo>
                    <a:pt x="274320" y="34926"/>
                  </a:lnTo>
                  <a:lnTo>
                    <a:pt x="304801" y="24501"/>
                  </a:lnTo>
                  <a:lnTo>
                    <a:pt x="335281" y="15810"/>
                  </a:lnTo>
                  <a:lnTo>
                    <a:pt x="365761" y="8950"/>
                  </a:lnTo>
                  <a:lnTo>
                    <a:pt x="396241" y="3996"/>
                  </a:lnTo>
                  <a:lnTo>
                    <a:pt x="426721" y="1001"/>
                  </a:lnTo>
                  <a:lnTo>
                    <a:pt x="457200" y="0"/>
                  </a:lnTo>
                  <a:lnTo>
                    <a:pt x="487680" y="1001"/>
                  </a:lnTo>
                  <a:lnTo>
                    <a:pt x="518161" y="3996"/>
                  </a:lnTo>
                  <a:lnTo>
                    <a:pt x="548641" y="8950"/>
                  </a:lnTo>
                  <a:lnTo>
                    <a:pt x="579121" y="15810"/>
                  </a:lnTo>
                  <a:lnTo>
                    <a:pt x="609601" y="24501"/>
                  </a:lnTo>
                  <a:lnTo>
                    <a:pt x="640081" y="34926"/>
                  </a:lnTo>
                  <a:lnTo>
                    <a:pt x="670561" y="46973"/>
                  </a:lnTo>
                  <a:lnTo>
                    <a:pt x="701040" y="60509"/>
                  </a:lnTo>
                  <a:lnTo>
                    <a:pt x="731520" y="75385"/>
                  </a:lnTo>
                  <a:lnTo>
                    <a:pt x="762000" y="91440"/>
                  </a:lnTo>
                  <a:lnTo>
                    <a:pt x="792480" y="108496"/>
                  </a:lnTo>
                  <a:lnTo>
                    <a:pt x="822960" y="126366"/>
                  </a:lnTo>
                  <a:lnTo>
                    <a:pt x="853440" y="144857"/>
                  </a:lnTo>
                  <a:lnTo>
                    <a:pt x="883921" y="163763"/>
                  </a:lnTo>
                  <a:lnTo>
                    <a:pt x="914401" y="182880"/>
                  </a:lnTo>
                  <a:lnTo>
                    <a:pt x="944881" y="201996"/>
                  </a:lnTo>
                  <a:lnTo>
                    <a:pt x="975361" y="220902"/>
                  </a:lnTo>
                  <a:lnTo>
                    <a:pt x="1005841" y="239393"/>
                  </a:lnTo>
                  <a:lnTo>
                    <a:pt x="1036321" y="257263"/>
                  </a:lnTo>
                  <a:lnTo>
                    <a:pt x="1066801" y="274320"/>
                  </a:lnTo>
                  <a:lnTo>
                    <a:pt x="1097281" y="290374"/>
                  </a:lnTo>
                  <a:lnTo>
                    <a:pt x="1127761" y="305250"/>
                  </a:lnTo>
                  <a:lnTo>
                    <a:pt x="1158240" y="318786"/>
                  </a:lnTo>
                  <a:lnTo>
                    <a:pt x="1188720" y="330833"/>
                  </a:lnTo>
                  <a:lnTo>
                    <a:pt x="1219200" y="341258"/>
                  </a:lnTo>
                  <a:lnTo>
                    <a:pt x="1249680" y="349949"/>
                  </a:lnTo>
                  <a:lnTo>
                    <a:pt x="1280160" y="356809"/>
                  </a:lnTo>
                  <a:lnTo>
                    <a:pt x="1310640" y="361763"/>
                  </a:lnTo>
                  <a:lnTo>
                    <a:pt x="1341121" y="364758"/>
                  </a:lnTo>
                  <a:lnTo>
                    <a:pt x="1371601" y="365760"/>
                  </a:lnTo>
                  <a:lnTo>
                    <a:pt x="1402081" y="364758"/>
                  </a:lnTo>
                  <a:lnTo>
                    <a:pt x="1432561" y="361763"/>
                  </a:lnTo>
                  <a:lnTo>
                    <a:pt x="1463041" y="356809"/>
                  </a:lnTo>
                  <a:lnTo>
                    <a:pt x="1493521" y="349949"/>
                  </a:lnTo>
                  <a:lnTo>
                    <a:pt x="1524001" y="341258"/>
                  </a:lnTo>
                  <a:lnTo>
                    <a:pt x="1554481" y="330833"/>
                  </a:lnTo>
                  <a:lnTo>
                    <a:pt x="1584961" y="318786"/>
                  </a:lnTo>
                  <a:lnTo>
                    <a:pt x="1615440" y="305250"/>
                  </a:lnTo>
                  <a:lnTo>
                    <a:pt x="1645921" y="290374"/>
                  </a:lnTo>
                  <a:lnTo>
                    <a:pt x="1676401" y="274320"/>
                  </a:lnTo>
                  <a:lnTo>
                    <a:pt x="1706881" y="257263"/>
                  </a:lnTo>
                  <a:lnTo>
                    <a:pt x="1737360" y="239393"/>
                  </a:lnTo>
                  <a:lnTo>
                    <a:pt x="1767841" y="220902"/>
                  </a:lnTo>
                  <a:lnTo>
                    <a:pt x="1798321" y="201996"/>
                  </a:lnTo>
                  <a:lnTo>
                    <a:pt x="1828800" y="182880"/>
                  </a:lnTo>
                  <a:lnTo>
                    <a:pt x="1859281" y="163763"/>
                  </a:lnTo>
                  <a:lnTo>
                    <a:pt x="1889760" y="144857"/>
                  </a:lnTo>
                  <a:lnTo>
                    <a:pt x="1920241" y="126366"/>
                  </a:lnTo>
                  <a:lnTo>
                    <a:pt x="1950721" y="108496"/>
                  </a:lnTo>
                  <a:lnTo>
                    <a:pt x="1981201" y="91440"/>
                  </a:lnTo>
                  <a:lnTo>
                    <a:pt x="2011681" y="75385"/>
                  </a:lnTo>
                  <a:lnTo>
                    <a:pt x="2042161" y="60509"/>
                  </a:lnTo>
                  <a:lnTo>
                    <a:pt x="2072641" y="46973"/>
                  </a:lnTo>
                  <a:lnTo>
                    <a:pt x="2103121" y="34926"/>
                  </a:lnTo>
                  <a:lnTo>
                    <a:pt x="2133601" y="24501"/>
                  </a:lnTo>
                  <a:lnTo>
                    <a:pt x="2164081" y="15810"/>
                  </a:lnTo>
                  <a:lnTo>
                    <a:pt x="2194561" y="8950"/>
                  </a:lnTo>
                  <a:lnTo>
                    <a:pt x="2225040" y="3996"/>
                  </a:lnTo>
                  <a:lnTo>
                    <a:pt x="2255521" y="1001"/>
                  </a:lnTo>
                  <a:lnTo>
                    <a:pt x="2286000" y="0"/>
                  </a:lnTo>
                  <a:lnTo>
                    <a:pt x="2316481" y="1001"/>
                  </a:lnTo>
                  <a:lnTo>
                    <a:pt x="2346961" y="3996"/>
                  </a:lnTo>
                  <a:lnTo>
                    <a:pt x="2377441" y="8950"/>
                  </a:lnTo>
                  <a:lnTo>
                    <a:pt x="2407921" y="15810"/>
                  </a:lnTo>
                  <a:lnTo>
                    <a:pt x="2438401" y="24501"/>
                  </a:lnTo>
                  <a:lnTo>
                    <a:pt x="2468881" y="34926"/>
                  </a:lnTo>
                  <a:lnTo>
                    <a:pt x="2499361" y="46973"/>
                  </a:lnTo>
                  <a:lnTo>
                    <a:pt x="2529841" y="60509"/>
                  </a:lnTo>
                  <a:lnTo>
                    <a:pt x="2560321" y="75385"/>
                  </a:lnTo>
                  <a:lnTo>
                    <a:pt x="2590801" y="91440"/>
                  </a:lnTo>
                  <a:lnTo>
                    <a:pt x="2621281" y="108496"/>
                  </a:lnTo>
                  <a:lnTo>
                    <a:pt x="2651760" y="126366"/>
                  </a:lnTo>
                  <a:lnTo>
                    <a:pt x="2682240" y="144857"/>
                  </a:lnTo>
                  <a:lnTo>
                    <a:pt x="2712721" y="163763"/>
                  </a:lnTo>
                  <a:lnTo>
                    <a:pt x="2743200" y="182880"/>
                  </a:lnTo>
                  <a:lnTo>
                    <a:pt x="2743200" y="658368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6766559" y="3927325"/>
              <a:ext cx="2743200" cy="681251"/>
            </a:xfrm>
            <a:custGeom>
              <a:avLst/>
              <a:gdLst/>
              <a:ahLst/>
              <a:cxnLst/>
              <a:rect l="l" t="t" r="r" b="b"/>
              <a:pathLst>
                <a:path w="2743200" h="681251">
                  <a:moveTo>
                    <a:pt x="0" y="498371"/>
                  </a:moveTo>
                  <a:lnTo>
                    <a:pt x="30480" y="479254"/>
                  </a:lnTo>
                  <a:lnTo>
                    <a:pt x="60960" y="460348"/>
                  </a:lnTo>
                  <a:lnTo>
                    <a:pt x="91441" y="441857"/>
                  </a:lnTo>
                  <a:lnTo>
                    <a:pt x="121921" y="423987"/>
                  </a:lnTo>
                  <a:lnTo>
                    <a:pt x="152401" y="406931"/>
                  </a:lnTo>
                  <a:lnTo>
                    <a:pt x="182881" y="390876"/>
                  </a:lnTo>
                  <a:lnTo>
                    <a:pt x="213361" y="376000"/>
                  </a:lnTo>
                  <a:lnTo>
                    <a:pt x="243840" y="362464"/>
                  </a:lnTo>
                  <a:lnTo>
                    <a:pt x="274320" y="350417"/>
                  </a:lnTo>
                  <a:lnTo>
                    <a:pt x="304801" y="339992"/>
                  </a:lnTo>
                  <a:lnTo>
                    <a:pt x="335281" y="331301"/>
                  </a:lnTo>
                  <a:lnTo>
                    <a:pt x="365761" y="324441"/>
                  </a:lnTo>
                  <a:lnTo>
                    <a:pt x="396241" y="319487"/>
                  </a:lnTo>
                  <a:lnTo>
                    <a:pt x="426721" y="316492"/>
                  </a:lnTo>
                  <a:lnTo>
                    <a:pt x="457200" y="315491"/>
                  </a:lnTo>
                  <a:lnTo>
                    <a:pt x="487680" y="316492"/>
                  </a:lnTo>
                  <a:lnTo>
                    <a:pt x="518161" y="319487"/>
                  </a:lnTo>
                  <a:lnTo>
                    <a:pt x="548641" y="324441"/>
                  </a:lnTo>
                  <a:lnTo>
                    <a:pt x="579121" y="331301"/>
                  </a:lnTo>
                  <a:lnTo>
                    <a:pt x="609601" y="339992"/>
                  </a:lnTo>
                  <a:lnTo>
                    <a:pt x="640081" y="350417"/>
                  </a:lnTo>
                  <a:lnTo>
                    <a:pt x="670561" y="362464"/>
                  </a:lnTo>
                  <a:lnTo>
                    <a:pt x="701040" y="376000"/>
                  </a:lnTo>
                  <a:lnTo>
                    <a:pt x="731520" y="390876"/>
                  </a:lnTo>
                  <a:lnTo>
                    <a:pt x="762000" y="406931"/>
                  </a:lnTo>
                  <a:lnTo>
                    <a:pt x="792480" y="423987"/>
                  </a:lnTo>
                  <a:lnTo>
                    <a:pt x="822960" y="441857"/>
                  </a:lnTo>
                  <a:lnTo>
                    <a:pt x="853440" y="460348"/>
                  </a:lnTo>
                  <a:lnTo>
                    <a:pt x="883921" y="479254"/>
                  </a:lnTo>
                  <a:lnTo>
                    <a:pt x="914401" y="498371"/>
                  </a:lnTo>
                  <a:lnTo>
                    <a:pt x="944881" y="517487"/>
                  </a:lnTo>
                  <a:lnTo>
                    <a:pt x="975361" y="536393"/>
                  </a:lnTo>
                  <a:lnTo>
                    <a:pt x="1005841" y="554884"/>
                  </a:lnTo>
                  <a:lnTo>
                    <a:pt x="1036321" y="572754"/>
                  </a:lnTo>
                  <a:lnTo>
                    <a:pt x="1066801" y="589811"/>
                  </a:lnTo>
                  <a:lnTo>
                    <a:pt x="1097281" y="605865"/>
                  </a:lnTo>
                  <a:lnTo>
                    <a:pt x="1127761" y="620741"/>
                  </a:lnTo>
                  <a:lnTo>
                    <a:pt x="1158240" y="634277"/>
                  </a:lnTo>
                  <a:lnTo>
                    <a:pt x="1188720" y="646324"/>
                  </a:lnTo>
                  <a:lnTo>
                    <a:pt x="1219200" y="656749"/>
                  </a:lnTo>
                  <a:lnTo>
                    <a:pt x="1249680" y="665440"/>
                  </a:lnTo>
                  <a:lnTo>
                    <a:pt x="1280160" y="672300"/>
                  </a:lnTo>
                  <a:lnTo>
                    <a:pt x="1310640" y="677254"/>
                  </a:lnTo>
                  <a:lnTo>
                    <a:pt x="1341121" y="680249"/>
                  </a:lnTo>
                  <a:lnTo>
                    <a:pt x="1371601" y="681251"/>
                  </a:lnTo>
                  <a:lnTo>
                    <a:pt x="1402081" y="680249"/>
                  </a:lnTo>
                  <a:lnTo>
                    <a:pt x="1432561" y="677254"/>
                  </a:lnTo>
                  <a:lnTo>
                    <a:pt x="1463041" y="672300"/>
                  </a:lnTo>
                  <a:lnTo>
                    <a:pt x="1493521" y="665440"/>
                  </a:lnTo>
                  <a:lnTo>
                    <a:pt x="1524001" y="656749"/>
                  </a:lnTo>
                  <a:lnTo>
                    <a:pt x="1554481" y="646324"/>
                  </a:lnTo>
                  <a:lnTo>
                    <a:pt x="1584961" y="634277"/>
                  </a:lnTo>
                  <a:lnTo>
                    <a:pt x="1615440" y="620741"/>
                  </a:lnTo>
                  <a:lnTo>
                    <a:pt x="1645921" y="605865"/>
                  </a:lnTo>
                  <a:lnTo>
                    <a:pt x="1676401" y="589811"/>
                  </a:lnTo>
                  <a:lnTo>
                    <a:pt x="1706881" y="572754"/>
                  </a:lnTo>
                  <a:lnTo>
                    <a:pt x="1737360" y="554884"/>
                  </a:lnTo>
                  <a:lnTo>
                    <a:pt x="1767841" y="536393"/>
                  </a:lnTo>
                  <a:lnTo>
                    <a:pt x="1798321" y="517487"/>
                  </a:lnTo>
                  <a:lnTo>
                    <a:pt x="1828800" y="498371"/>
                  </a:lnTo>
                  <a:lnTo>
                    <a:pt x="1859281" y="479254"/>
                  </a:lnTo>
                  <a:lnTo>
                    <a:pt x="1889760" y="460348"/>
                  </a:lnTo>
                  <a:lnTo>
                    <a:pt x="1920241" y="441857"/>
                  </a:lnTo>
                  <a:lnTo>
                    <a:pt x="1950721" y="423987"/>
                  </a:lnTo>
                  <a:lnTo>
                    <a:pt x="1981201" y="406931"/>
                  </a:lnTo>
                  <a:lnTo>
                    <a:pt x="2011681" y="390876"/>
                  </a:lnTo>
                  <a:lnTo>
                    <a:pt x="2042161" y="376000"/>
                  </a:lnTo>
                  <a:lnTo>
                    <a:pt x="2072641" y="362464"/>
                  </a:lnTo>
                  <a:lnTo>
                    <a:pt x="2103121" y="350417"/>
                  </a:lnTo>
                  <a:lnTo>
                    <a:pt x="2133601" y="339992"/>
                  </a:lnTo>
                  <a:lnTo>
                    <a:pt x="2164081" y="331301"/>
                  </a:lnTo>
                  <a:lnTo>
                    <a:pt x="2194561" y="324441"/>
                  </a:lnTo>
                  <a:lnTo>
                    <a:pt x="2225040" y="319487"/>
                  </a:lnTo>
                  <a:lnTo>
                    <a:pt x="2255521" y="316492"/>
                  </a:lnTo>
                  <a:lnTo>
                    <a:pt x="2286000" y="315491"/>
                  </a:lnTo>
                  <a:lnTo>
                    <a:pt x="2316481" y="316492"/>
                  </a:lnTo>
                  <a:lnTo>
                    <a:pt x="2346961" y="319487"/>
                  </a:lnTo>
                  <a:lnTo>
                    <a:pt x="2377441" y="324441"/>
                  </a:lnTo>
                  <a:lnTo>
                    <a:pt x="2407921" y="331301"/>
                  </a:lnTo>
                  <a:lnTo>
                    <a:pt x="2438401" y="339992"/>
                  </a:lnTo>
                  <a:lnTo>
                    <a:pt x="2468881" y="350417"/>
                  </a:lnTo>
                  <a:lnTo>
                    <a:pt x="2499361" y="362464"/>
                  </a:lnTo>
                  <a:lnTo>
                    <a:pt x="2529841" y="376000"/>
                  </a:lnTo>
                  <a:lnTo>
                    <a:pt x="2560321" y="390876"/>
                  </a:lnTo>
                  <a:lnTo>
                    <a:pt x="2590801" y="406931"/>
                  </a:lnTo>
                  <a:lnTo>
                    <a:pt x="2621281" y="423987"/>
                  </a:lnTo>
                  <a:lnTo>
                    <a:pt x="2651760" y="441857"/>
                  </a:lnTo>
                  <a:lnTo>
                    <a:pt x="2682240" y="460348"/>
                  </a:lnTo>
                  <a:lnTo>
                    <a:pt x="2712721" y="479254"/>
                  </a:lnTo>
                  <a:lnTo>
                    <a:pt x="2743200" y="498371"/>
                  </a:lnTo>
                  <a:lnTo>
                    <a:pt x="2743200" y="107495"/>
                  </a:lnTo>
                  <a:lnTo>
                    <a:pt x="2712721" y="103569"/>
                  </a:lnTo>
                  <a:lnTo>
                    <a:pt x="2682240" y="99160"/>
                  </a:lnTo>
                  <a:lnTo>
                    <a:pt x="2651760" y="94316"/>
                  </a:lnTo>
                  <a:lnTo>
                    <a:pt x="2621281" y="89090"/>
                  </a:lnTo>
                  <a:lnTo>
                    <a:pt x="2590801" y="83539"/>
                  </a:lnTo>
                  <a:lnTo>
                    <a:pt x="2560321" y="77724"/>
                  </a:lnTo>
                  <a:lnTo>
                    <a:pt x="2529841" y="71710"/>
                  </a:lnTo>
                  <a:lnTo>
                    <a:pt x="2499361" y="65561"/>
                  </a:lnTo>
                  <a:lnTo>
                    <a:pt x="2468881" y="59345"/>
                  </a:lnTo>
                  <a:lnTo>
                    <a:pt x="2438401" y="53131"/>
                  </a:lnTo>
                  <a:lnTo>
                    <a:pt x="2407921" y="46986"/>
                  </a:lnTo>
                  <a:lnTo>
                    <a:pt x="2377441" y="40977"/>
                  </a:lnTo>
                  <a:lnTo>
                    <a:pt x="2346961" y="35171"/>
                  </a:lnTo>
                  <a:lnTo>
                    <a:pt x="2316481" y="29631"/>
                  </a:lnTo>
                  <a:lnTo>
                    <a:pt x="2286000" y="24418"/>
                  </a:lnTo>
                  <a:lnTo>
                    <a:pt x="2255521" y="19589"/>
                  </a:lnTo>
                  <a:lnTo>
                    <a:pt x="2225040" y="15197"/>
                  </a:lnTo>
                  <a:lnTo>
                    <a:pt x="2194561" y="11289"/>
                  </a:lnTo>
                  <a:lnTo>
                    <a:pt x="2164081" y="7910"/>
                  </a:lnTo>
                  <a:lnTo>
                    <a:pt x="2133601" y="5095"/>
                  </a:lnTo>
                  <a:lnTo>
                    <a:pt x="2103121" y="2876"/>
                  </a:lnTo>
                  <a:lnTo>
                    <a:pt x="2072641" y="1276"/>
                  </a:lnTo>
                  <a:lnTo>
                    <a:pt x="2042161" y="314"/>
                  </a:lnTo>
                  <a:lnTo>
                    <a:pt x="2011681" y="0"/>
                  </a:lnTo>
                  <a:lnTo>
                    <a:pt x="1981201" y="338"/>
                  </a:lnTo>
                  <a:lnTo>
                    <a:pt x="1950721" y="1323"/>
                  </a:lnTo>
                  <a:lnTo>
                    <a:pt x="1920241" y="2945"/>
                  </a:lnTo>
                  <a:lnTo>
                    <a:pt x="1889760" y="5187"/>
                  </a:lnTo>
                  <a:lnTo>
                    <a:pt x="1859281" y="8023"/>
                  </a:lnTo>
                  <a:lnTo>
                    <a:pt x="1828800" y="11422"/>
                  </a:lnTo>
                  <a:lnTo>
                    <a:pt x="1798321" y="15348"/>
                  </a:lnTo>
                  <a:lnTo>
                    <a:pt x="1767841" y="19757"/>
                  </a:lnTo>
                  <a:lnTo>
                    <a:pt x="1737360" y="24601"/>
                  </a:lnTo>
                  <a:lnTo>
                    <a:pt x="1706881" y="29827"/>
                  </a:lnTo>
                  <a:lnTo>
                    <a:pt x="1676401" y="35378"/>
                  </a:lnTo>
                  <a:lnTo>
                    <a:pt x="1645921" y="41193"/>
                  </a:lnTo>
                  <a:lnTo>
                    <a:pt x="1615440" y="47207"/>
                  </a:lnTo>
                  <a:lnTo>
                    <a:pt x="1584961" y="53356"/>
                  </a:lnTo>
                  <a:lnTo>
                    <a:pt x="1554481" y="59572"/>
                  </a:lnTo>
                  <a:lnTo>
                    <a:pt x="1524001" y="65786"/>
                  </a:lnTo>
                  <a:lnTo>
                    <a:pt x="1493521" y="71931"/>
                  </a:lnTo>
                  <a:lnTo>
                    <a:pt x="1463041" y="77940"/>
                  </a:lnTo>
                  <a:lnTo>
                    <a:pt x="1432561" y="83746"/>
                  </a:lnTo>
                  <a:lnTo>
                    <a:pt x="1402081" y="89286"/>
                  </a:lnTo>
                  <a:lnTo>
                    <a:pt x="1371601" y="94499"/>
                  </a:lnTo>
                  <a:lnTo>
                    <a:pt x="1341121" y="99328"/>
                  </a:lnTo>
                  <a:lnTo>
                    <a:pt x="1310640" y="103720"/>
                  </a:lnTo>
                  <a:lnTo>
                    <a:pt x="1280160" y="107628"/>
                  </a:lnTo>
                  <a:lnTo>
                    <a:pt x="1249680" y="111007"/>
                  </a:lnTo>
                  <a:lnTo>
                    <a:pt x="1219200" y="113822"/>
                  </a:lnTo>
                  <a:lnTo>
                    <a:pt x="1188720" y="116041"/>
                  </a:lnTo>
                  <a:lnTo>
                    <a:pt x="1158240" y="117641"/>
                  </a:lnTo>
                  <a:lnTo>
                    <a:pt x="1127761" y="118603"/>
                  </a:lnTo>
                  <a:lnTo>
                    <a:pt x="1097281" y="118917"/>
                  </a:lnTo>
                  <a:lnTo>
                    <a:pt x="1066801" y="118579"/>
                  </a:lnTo>
                  <a:lnTo>
                    <a:pt x="1036321" y="117594"/>
                  </a:lnTo>
                  <a:lnTo>
                    <a:pt x="1005841" y="115972"/>
                  </a:lnTo>
                  <a:lnTo>
                    <a:pt x="975361" y="113730"/>
                  </a:lnTo>
                  <a:lnTo>
                    <a:pt x="944881" y="110894"/>
                  </a:lnTo>
                  <a:lnTo>
                    <a:pt x="914401" y="107495"/>
                  </a:lnTo>
                  <a:lnTo>
                    <a:pt x="883921" y="103569"/>
                  </a:lnTo>
                  <a:lnTo>
                    <a:pt x="853440" y="99160"/>
                  </a:lnTo>
                  <a:lnTo>
                    <a:pt x="822960" y="94316"/>
                  </a:lnTo>
                  <a:lnTo>
                    <a:pt x="792480" y="89090"/>
                  </a:lnTo>
                  <a:lnTo>
                    <a:pt x="762000" y="83539"/>
                  </a:lnTo>
                  <a:lnTo>
                    <a:pt x="731520" y="77724"/>
                  </a:lnTo>
                  <a:lnTo>
                    <a:pt x="701040" y="71710"/>
                  </a:lnTo>
                  <a:lnTo>
                    <a:pt x="670561" y="65561"/>
                  </a:lnTo>
                  <a:lnTo>
                    <a:pt x="640081" y="59345"/>
                  </a:lnTo>
                  <a:lnTo>
                    <a:pt x="609601" y="53131"/>
                  </a:lnTo>
                  <a:lnTo>
                    <a:pt x="579121" y="46986"/>
                  </a:lnTo>
                  <a:lnTo>
                    <a:pt x="548641" y="40977"/>
                  </a:lnTo>
                  <a:lnTo>
                    <a:pt x="518161" y="35171"/>
                  </a:lnTo>
                  <a:lnTo>
                    <a:pt x="487680" y="29631"/>
                  </a:lnTo>
                  <a:lnTo>
                    <a:pt x="457200" y="24418"/>
                  </a:lnTo>
                  <a:lnTo>
                    <a:pt x="426721" y="19589"/>
                  </a:lnTo>
                  <a:lnTo>
                    <a:pt x="396241" y="15197"/>
                  </a:lnTo>
                  <a:lnTo>
                    <a:pt x="365761" y="11289"/>
                  </a:lnTo>
                  <a:lnTo>
                    <a:pt x="335281" y="7910"/>
                  </a:lnTo>
                  <a:lnTo>
                    <a:pt x="304801" y="5095"/>
                  </a:lnTo>
                  <a:lnTo>
                    <a:pt x="274320" y="2876"/>
                  </a:lnTo>
                  <a:lnTo>
                    <a:pt x="243840" y="1276"/>
                  </a:lnTo>
                  <a:lnTo>
                    <a:pt x="213361" y="314"/>
                  </a:lnTo>
                  <a:lnTo>
                    <a:pt x="182881" y="0"/>
                  </a:lnTo>
                  <a:lnTo>
                    <a:pt x="152401" y="338"/>
                  </a:lnTo>
                  <a:lnTo>
                    <a:pt x="121921" y="1323"/>
                  </a:lnTo>
                  <a:lnTo>
                    <a:pt x="91441" y="2945"/>
                  </a:lnTo>
                  <a:lnTo>
                    <a:pt x="60960" y="5187"/>
                  </a:lnTo>
                  <a:lnTo>
                    <a:pt x="30480" y="8023"/>
                  </a:lnTo>
                  <a:lnTo>
                    <a:pt x="0" y="11422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6766559" y="3648456"/>
              <a:ext cx="2743200" cy="0"/>
            </a:xfrm>
            <a:prstGeom prst="line">
              <a:avLst/>
            </a:prstGeom>
            <a:ln w="25400">
              <a:solidFill>
                <a:srgbClr val="8A8A8A"/>
              </a:solidFill>
              <a:prstDash val="dash"/>
            </a:ln>
          </p:spPr>
        </p:cxnSp>
        <p:cxnSp>
          <p:nvCxnSpPr>
            <p:cNvPr id="107" name="Connector 106"/>
            <p:cNvCxnSpPr/>
            <p:nvPr/>
          </p:nvCxnSpPr>
          <p:spPr>
            <a:xfrm>
              <a:off x="6766559" y="3927325"/>
              <a:ext cx="2743200" cy="0"/>
            </a:xfrm>
            <a:prstGeom prst="line">
              <a:avLst/>
            </a:prstGeom>
            <a:ln w="30480">
              <a:solidFill>
                <a:srgbClr val="3C4FA5"/>
              </a:solidFill>
            </a:ln>
          </p:spPr>
        </p:cxnSp>
        <p:cxnSp>
          <p:nvCxnSpPr>
            <p:cNvPr id="108" name="Connector 107"/>
            <p:cNvCxnSpPr/>
            <p:nvPr/>
          </p:nvCxnSpPr>
          <p:spPr>
            <a:xfrm>
              <a:off x="6766559" y="4901184"/>
              <a:ext cx="2743200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09" name="TextBox 108"/>
            <p:cNvSpPr txBox="1"/>
            <p:nvPr/>
          </p:nvSpPr>
          <p:spPr>
            <a:xfrm>
              <a:off x="6784848" y="3392424"/>
              <a:ext cx="1769364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 시 필요 설비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784848" y="3680437"/>
              <a:ext cx="1769364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통합 시 필요 설비</a:t>
              </a:r>
            </a:p>
          </p:txBody>
        </p:sp>
        <p:cxnSp>
          <p:nvCxnSpPr>
            <p:cNvPr id="111" name="Connector 110"/>
            <p:cNvCxnSpPr/>
            <p:nvPr/>
          </p:nvCxnSpPr>
          <p:spPr>
            <a:xfrm>
              <a:off x="9400032" y="3657600"/>
              <a:ext cx="0" cy="251437"/>
            </a:xfrm>
            <a:prstGeom prst="line">
              <a:avLst/>
            </a:prstGeom>
            <a:ln w="20320">
              <a:solidFill>
                <a:srgbClr val="1A1A1A"/>
              </a:solidFill>
              <a:headEnd type="triangle" w="med" len="med"/>
              <a:tailEnd type="triangle" w="med" len="med"/>
            </a:ln>
          </p:spPr>
        </p:cxnSp>
        <p:sp>
          <p:nvSpPr>
            <p:cNvPr id="112" name="TextBox 111"/>
            <p:cNvSpPr txBox="1"/>
            <p:nvPr/>
          </p:nvSpPr>
          <p:spPr>
            <a:xfrm>
              <a:off x="8627363" y="3641586"/>
              <a:ext cx="6812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유휴 ↓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132320" y="456285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8183879" y="3959352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NAND</a:t>
              </a:r>
            </a:p>
          </p:txBody>
        </p:sp>
        <p:cxnSp>
          <p:nvCxnSpPr>
            <p:cNvPr id="115" name="Connector 114"/>
            <p:cNvCxnSpPr/>
            <p:nvPr/>
          </p:nvCxnSpPr>
          <p:spPr>
            <a:xfrm flipV="1">
              <a:off x="9628632" y="3419856"/>
              <a:ext cx="0" cy="1517904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16" name="TextBox 115"/>
            <p:cNvSpPr txBox="1"/>
            <p:nvPr/>
          </p:nvSpPr>
          <p:spPr>
            <a:xfrm>
              <a:off x="9738359" y="3410712"/>
              <a:ext cx="149047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설비 전환 시간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738359" y="368503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213848" y="3749040"/>
              <a:ext cx="1188720" cy="146304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738359" y="3904488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0213848" y="3968496"/>
              <a:ext cx="411480" cy="14630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738359" y="4105656"/>
              <a:ext cx="17099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Bottleneck 대기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738359" y="437997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213848" y="4443984"/>
              <a:ext cx="1188720" cy="146304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9738359" y="459943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0213848" y="4663440"/>
              <a:ext cx="411480" cy="14630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6" name="Rectangle 125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Equipment Unif.</a:t>
            </a:r>
          </a:p>
        </p:txBody>
      </p:sp>
      <p:grpSp>
        <p:nvGrpSpPr>
          <p:cNvPr id="137" name="그림 3 설비 통일성 (도형)"/>
          <p:cNvGrpSpPr/>
          <p:nvPr/>
        </p:nvGrpSpPr>
        <p:grpSpPr>
          <a:xfrm>
            <a:off x="12326112" y="3355848"/>
            <a:ext cx="5056631" cy="1655064"/>
            <a:chOff x="12326112" y="3355848"/>
            <a:chExt cx="5056631" cy="1655064"/>
          </a:xfrm>
        </p:grpSpPr>
        <p:sp>
          <p:nvSpPr>
            <p:cNvPr id="138" name="TextBox 137"/>
            <p:cNvSpPr txBox="1"/>
            <p:nvPr/>
          </p:nvSpPr>
          <p:spPr>
            <a:xfrm>
              <a:off x="12326112" y="3355848"/>
              <a:ext cx="127558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설비 모델 수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3121640" y="4636008"/>
              <a:ext cx="475488" cy="100584"/>
            </a:xfrm>
            <a:prstGeom prst="rect">
              <a:avLst/>
            </a:prstGeom>
            <a:solidFill>
              <a:srgbClr val="677E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3121640" y="4517136"/>
              <a:ext cx="475488" cy="100584"/>
            </a:xfrm>
            <a:prstGeom prst="rect">
              <a:avLst/>
            </a:prstGeom>
            <a:solidFill>
              <a:srgbClr val="677E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3121640" y="4398264"/>
              <a:ext cx="475488" cy="100584"/>
            </a:xfrm>
            <a:prstGeom prst="rect">
              <a:avLst/>
            </a:prstGeom>
            <a:solidFill>
              <a:srgbClr val="677E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3121640" y="4279392"/>
              <a:ext cx="475488" cy="100584"/>
            </a:xfrm>
            <a:prstGeom prst="rect">
              <a:avLst/>
            </a:prstGeom>
            <a:solidFill>
              <a:srgbClr val="677EC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3121640" y="4160520"/>
              <a:ext cx="475488" cy="10058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13121640" y="4041648"/>
              <a:ext cx="475488" cy="10058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3121640" y="3922776"/>
              <a:ext cx="475488" cy="10058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13121640" y="3803904"/>
              <a:ext cx="475488" cy="10058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98296" y="4636008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98296" y="4517136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98296" y="4398264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2518136" y="436168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600" b="1">
                  <a:solidFill>
                    <a:srgbClr val="677ECD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2518136" y="3886200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3935170" y="4079367"/>
              <a:ext cx="201739" cy="30860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800" b="1">
                  <a:solidFill>
                    <a:srgbClr val="3C4FA5"/>
                  </a:solidFill>
                  <a:latin typeface="Arial"/>
                  <a:ea typeface="Arial"/>
                </a:rPr>
                <a:t>↓</a:t>
              </a:r>
            </a:p>
          </p:txBody>
        </p:sp>
        <p:cxnSp>
          <p:nvCxnSpPr>
            <p:cNvPr id="153" name="Connector 152"/>
            <p:cNvCxnSpPr/>
            <p:nvPr/>
          </p:nvCxnSpPr>
          <p:spPr>
            <a:xfrm>
              <a:off x="12417552" y="4736592"/>
              <a:ext cx="1828800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54" name="TextBox 153"/>
            <p:cNvSpPr txBox="1"/>
            <p:nvPr/>
          </p:nvSpPr>
          <p:spPr>
            <a:xfrm>
              <a:off x="13107924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3784580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4401800" y="4160520"/>
              <a:ext cx="384047" cy="237744"/>
            </a:xfrm>
            <a:custGeom>
              <a:avLst/>
              <a:gdLst/>
              <a:ahLst/>
              <a:cxnLst/>
              <a:rect l="l" t="t" r="r" b="b"/>
              <a:pathLst>
                <a:path w="384047" h="237744">
                  <a:moveTo>
                    <a:pt x="0" y="171175"/>
                  </a:moveTo>
                  <a:lnTo>
                    <a:pt x="222747" y="171175"/>
                  </a:lnTo>
                  <a:lnTo>
                    <a:pt x="222747" y="237744"/>
                  </a:lnTo>
                  <a:lnTo>
                    <a:pt x="384047" y="118872"/>
                  </a:lnTo>
                  <a:lnTo>
                    <a:pt x="222747" y="0"/>
                  </a:lnTo>
                  <a:lnTo>
                    <a:pt x="222747" y="66568"/>
                  </a:lnTo>
                  <a:lnTo>
                    <a:pt x="0" y="66568"/>
                  </a:lnTo>
                  <a:close/>
                </a:path>
              </a:pathLst>
            </a:custGeom>
            <a:solidFill>
              <a:srgbClr val="C0CA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4977872" y="3355848"/>
              <a:ext cx="170535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모델당 발주 물량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5115032" y="4462272"/>
              <a:ext cx="475488" cy="274320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5937992" y="3822192"/>
              <a:ext cx="475488" cy="914400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0" name="Connector 159"/>
            <p:cNvCxnSpPr/>
            <p:nvPr/>
          </p:nvCxnSpPr>
          <p:spPr>
            <a:xfrm>
              <a:off x="15937992" y="4507992"/>
              <a:ext cx="475488" cy="0"/>
            </a:xfrm>
            <a:prstGeom prst="line">
              <a:avLst/>
            </a:prstGeom>
            <a:ln w="11430">
              <a:solidFill>
                <a:srgbClr val="FFFFFF"/>
              </a:solidFill>
            </a:ln>
          </p:spPr>
        </p:cxnSp>
        <p:cxnSp>
          <p:nvCxnSpPr>
            <p:cNvPr id="161" name="Connector 160"/>
            <p:cNvCxnSpPr/>
            <p:nvPr/>
          </p:nvCxnSpPr>
          <p:spPr>
            <a:xfrm>
              <a:off x="15937992" y="4279392"/>
              <a:ext cx="475488" cy="0"/>
            </a:xfrm>
            <a:prstGeom prst="line">
              <a:avLst/>
            </a:prstGeom>
            <a:ln w="11430">
              <a:solidFill>
                <a:srgbClr val="FFFFFF"/>
              </a:solidFill>
            </a:ln>
          </p:spPr>
        </p:cxnSp>
        <p:cxnSp>
          <p:nvCxnSpPr>
            <p:cNvPr id="162" name="Connector 161"/>
            <p:cNvCxnSpPr/>
            <p:nvPr/>
          </p:nvCxnSpPr>
          <p:spPr>
            <a:xfrm>
              <a:off x="15937992" y="4050792"/>
              <a:ext cx="475488" cy="0"/>
            </a:xfrm>
            <a:prstGeom prst="line">
              <a:avLst/>
            </a:prstGeom>
            <a:ln w="11430">
              <a:solidFill>
                <a:srgbClr val="FFFFFF"/>
              </a:solidFill>
            </a:ln>
          </p:spPr>
        </p:cxnSp>
        <p:cxnSp>
          <p:nvCxnSpPr>
            <p:cNvPr id="163" name="Connector 162"/>
            <p:cNvCxnSpPr/>
            <p:nvPr/>
          </p:nvCxnSpPr>
          <p:spPr>
            <a:xfrm>
              <a:off x="14977872" y="4736592"/>
              <a:ext cx="2057400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64" name="TextBox 163"/>
            <p:cNvSpPr txBox="1"/>
            <p:nvPr/>
          </p:nvSpPr>
          <p:spPr>
            <a:xfrm>
              <a:off x="15101316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5924276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6486632" y="3849624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구매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6486632" y="4087368"/>
              <a:ext cx="896111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협상력 ↑</a:t>
              </a:r>
            </a:p>
          </p:txBody>
        </p:sp>
      </p:grpSp>
      <p:sp>
        <p:nvSpPr>
          <p:cNvPr id="168" name="Rectangle 167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C4FA5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ound Same Side Corner Rectangle 224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ound Same Side Corner Rectangle 226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ound Same Side Corner Rectangle 228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ound Same Side Corner Rectangle 232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ound Same Side Corner Rectangle 234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ound Same Side Corner Rectangle 236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252" name="Right Arrow 251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255" name="Oval 254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ound Same Side Corner Rectangle 255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ound Same Side Corner Rectangle 257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ound Same Side Corner Rectangle 259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ound Same Side Corner Rectangle 261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ound Same Side Corner Rectangle 263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ound Same Side Corner Rectangle 265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273" name="Up Arrow 272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Up Arrow 273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C4FA5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277" name="Rounded Rectangle 276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3 / 6  시안 3 · Fab 도면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C0CAEC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grpSp>
        <p:nvGrpSpPr>
          <p:cNvPr id="13" name="그림 1 공간 효율성 (도형)"/>
          <p:cNvGrpSpPr/>
          <p:nvPr/>
        </p:nvGrpSpPr>
        <p:grpSpPr>
          <a:xfrm>
            <a:off x="1197864" y="3355848"/>
            <a:ext cx="4873752" cy="1600200"/>
            <a:chOff x="1197864" y="3355848"/>
            <a:chExt cx="4873752" cy="1600200"/>
          </a:xfrm>
        </p:grpSpPr>
        <p:sp>
          <p:nvSpPr>
            <p:cNvPr id="14" name="Rectangle 13"/>
            <p:cNvSpPr/>
            <p:nvPr/>
          </p:nvSpPr>
          <p:spPr>
            <a:xfrm>
              <a:off x="1197864" y="3657600"/>
              <a:ext cx="2249424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2322576" y="3657600"/>
              <a:ext cx="0" cy="1298448"/>
            </a:xfrm>
            <a:prstGeom prst="line">
              <a:avLst/>
            </a:prstGeom>
            <a:ln w="30480">
              <a:solidFill>
                <a:srgbClr val="555555"/>
              </a:solidFill>
            </a:ln>
          </p:spPr>
        </p:cxnSp>
        <p:sp>
          <p:nvSpPr>
            <p:cNvPr id="16" name="Rectangle 15"/>
            <p:cNvSpPr/>
            <p:nvPr/>
          </p:nvSpPr>
          <p:spPr>
            <a:xfrm>
              <a:off x="1252728" y="4553712"/>
              <a:ext cx="274320" cy="347472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581912" y="4553712"/>
              <a:ext cx="201168" cy="347472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37944" y="4626864"/>
              <a:ext cx="365760" cy="274320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52728" y="3767328"/>
              <a:ext cx="201168" cy="402336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508760" y="3767328"/>
              <a:ext cx="329184" cy="402336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892808" y="3840480"/>
              <a:ext cx="292608" cy="329184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377440" y="4590288"/>
              <a:ext cx="329184" cy="310896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61488" y="4553712"/>
              <a:ext cx="274320" cy="347472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81528" y="4553712"/>
              <a:ext cx="292608" cy="347472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377440" y="3803904"/>
              <a:ext cx="237744" cy="365760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70048" y="3767328"/>
              <a:ext cx="347472" cy="402336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81528" y="3895344"/>
              <a:ext cx="292608" cy="274320"/>
            </a:xfrm>
            <a:prstGeom prst="rect">
              <a:avLst/>
            </a:prstGeom>
            <a:solidFill>
              <a:srgbClr val="A7A7A7"/>
            </a:solidFill>
            <a:ln w="10160">
              <a:solidFill>
                <a:srgbClr val="55555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289304" y="4206240"/>
              <a:ext cx="941832" cy="201168"/>
            </a:xfrm>
            <a:prstGeom prst="roundRect">
              <a:avLst>
                <a:gd name="adj" fmla="val 45454"/>
              </a:avLst>
            </a:prstGeom>
            <a:noFill/>
            <a:ln w="2032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76756" y="4366260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33956" y="4165092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414016" y="4206240"/>
              <a:ext cx="941832" cy="201168"/>
            </a:xfrm>
            <a:prstGeom prst="roundRect">
              <a:avLst>
                <a:gd name="adj" fmla="val 45454"/>
              </a:avLst>
            </a:prstGeom>
            <a:noFill/>
            <a:ln w="2032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601468" y="4366260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058668" y="4165092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97864" y="3355848"/>
              <a:ext cx="18242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Fab 분리: OHT 2개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721608" y="3657600"/>
              <a:ext cx="2249424" cy="1298448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813048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60520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07992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855464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202936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13048" y="3767328"/>
              <a:ext cx="292608" cy="365760"/>
            </a:xfrm>
            <a:prstGeom prst="rect">
              <a:avLst/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60520" y="3767328"/>
              <a:ext cx="292608" cy="365760"/>
            </a:xfrm>
            <a:prstGeom prst="rect">
              <a:avLst/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07992" y="3767328"/>
              <a:ext cx="292608" cy="365760"/>
            </a:xfrm>
            <a:prstGeom prst="rect">
              <a:avLst/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855464" y="3767328"/>
              <a:ext cx="292608" cy="365760"/>
            </a:xfrm>
            <a:prstGeom prst="rect">
              <a:avLst/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202936" y="3767328"/>
              <a:ext cx="292608" cy="365760"/>
            </a:xfrm>
            <a:prstGeom prst="rect">
              <a:avLst/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586984" y="3730752"/>
              <a:ext cx="329184" cy="1152144"/>
            </a:xfrm>
            <a:prstGeom prst="rect">
              <a:avLst/>
            </a:prstGeom>
            <a:solidFill>
              <a:srgbClr val="F0F2F8"/>
            </a:solidFill>
            <a:ln w="12700">
              <a:solidFill>
                <a:srgbClr val="3C4F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813048" y="4206240"/>
              <a:ext cx="1700784" cy="201168"/>
            </a:xfrm>
            <a:prstGeom prst="roundRect">
              <a:avLst>
                <a:gd name="adj" fmla="val 45454"/>
              </a:avLst>
            </a:prstGeom>
            <a:noFill/>
            <a:ln w="2794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046220" y="4366260"/>
              <a:ext cx="82296" cy="82296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94860" y="4165092"/>
              <a:ext cx="82296" cy="82296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97780" y="4366260"/>
              <a:ext cx="82296" cy="82296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 rot="16200000">
              <a:off x="5431536" y="4169664"/>
              <a:ext cx="64008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확보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21608" y="3355848"/>
              <a:ext cx="1673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Common: OHT 1개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Market Agility</a:t>
            </a:r>
          </a:p>
        </p:txBody>
      </p:sp>
      <p:grpSp>
        <p:nvGrpSpPr>
          <p:cNvPr id="64" name="그림 2 시황 변화 대응력 (도형)"/>
          <p:cNvGrpSpPr/>
          <p:nvPr/>
        </p:nvGrpSpPr>
        <p:grpSpPr>
          <a:xfrm>
            <a:off x="6812279" y="3355848"/>
            <a:ext cx="4572001" cy="1572768"/>
            <a:chOff x="6812279" y="3355848"/>
            <a:chExt cx="4572001" cy="1572768"/>
          </a:xfrm>
        </p:grpSpPr>
        <p:sp>
          <p:nvSpPr>
            <p:cNvPr id="65" name="Rounded Rectangle 64"/>
            <p:cNvSpPr/>
            <p:nvPr/>
          </p:nvSpPr>
          <p:spPr>
            <a:xfrm>
              <a:off x="7982712" y="3621024"/>
              <a:ext cx="2011680" cy="1298448"/>
            </a:xfrm>
            <a:prstGeom prst="roundRect">
              <a:avLst>
                <a:gd name="adj" fmla="val 5633"/>
              </a:avLst>
            </a:prstGeom>
            <a:solidFill>
              <a:srgbClr val="F0F2F8"/>
            </a:solidFill>
            <a:ln w="15240">
              <a:solidFill>
                <a:srgbClr val="3C4F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Connector 65"/>
            <p:cNvCxnSpPr/>
            <p:nvPr/>
          </p:nvCxnSpPr>
          <p:spPr>
            <a:xfrm>
              <a:off x="7196327" y="3895344"/>
              <a:ext cx="768096" cy="109728"/>
            </a:xfrm>
            <a:prstGeom prst="line">
              <a:avLst/>
            </a:prstGeom>
            <a:ln w="20320">
              <a:solidFill>
                <a:srgbClr val="3C4FA5"/>
              </a:solidFill>
              <a:tailEnd type="triangle" w="med" len="med"/>
            </a:ln>
          </p:spPr>
        </p:cxnSp>
        <p:cxnSp>
          <p:nvCxnSpPr>
            <p:cNvPr id="67" name="Connector 66"/>
            <p:cNvCxnSpPr/>
            <p:nvPr/>
          </p:nvCxnSpPr>
          <p:spPr>
            <a:xfrm>
              <a:off x="7196327" y="3895344"/>
              <a:ext cx="768096" cy="676656"/>
            </a:xfrm>
            <a:prstGeom prst="line">
              <a:avLst/>
            </a:prstGeom>
            <a:ln w="20320">
              <a:solidFill>
                <a:srgbClr val="3C4FA5"/>
              </a:solidFill>
              <a:tailEnd type="triangle" w="med" len="med"/>
            </a:ln>
          </p:spPr>
        </p:cxnSp>
        <p:cxnSp>
          <p:nvCxnSpPr>
            <p:cNvPr id="68" name="Connector 67"/>
            <p:cNvCxnSpPr/>
            <p:nvPr/>
          </p:nvCxnSpPr>
          <p:spPr>
            <a:xfrm flipV="1">
              <a:off x="7196327" y="4133088"/>
              <a:ext cx="768096" cy="457200"/>
            </a:xfrm>
            <a:prstGeom prst="line">
              <a:avLst/>
            </a:prstGeom>
            <a:ln w="20320">
              <a:solidFill>
                <a:srgbClr val="8A8A8A"/>
              </a:solidFill>
              <a:tailEnd type="triangle" w="med" len="med"/>
            </a:ln>
          </p:spPr>
        </p:cxnSp>
        <p:cxnSp>
          <p:nvCxnSpPr>
            <p:cNvPr id="69" name="Connector 68"/>
            <p:cNvCxnSpPr/>
            <p:nvPr/>
          </p:nvCxnSpPr>
          <p:spPr>
            <a:xfrm>
              <a:off x="7196327" y="4590288"/>
              <a:ext cx="768096" cy="109728"/>
            </a:xfrm>
            <a:prstGeom prst="line">
              <a:avLst/>
            </a:prstGeom>
            <a:ln w="20320">
              <a:solidFill>
                <a:srgbClr val="8A8A8A"/>
              </a:solidFill>
              <a:tailEnd type="triangle" w="med" len="med"/>
            </a:ln>
          </p:spPr>
        </p:cxnSp>
        <p:sp>
          <p:nvSpPr>
            <p:cNvPr id="70" name="Rectangle 69"/>
            <p:cNvSpPr/>
            <p:nvPr/>
          </p:nvSpPr>
          <p:spPr>
            <a:xfrm>
              <a:off x="7424927" y="3895344"/>
              <a:ext cx="91440" cy="91440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644383" y="3986784"/>
              <a:ext cx="91440" cy="91440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443215" y="4507992"/>
              <a:ext cx="91440" cy="91440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680960" y="4535424"/>
              <a:ext cx="91440" cy="91440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4" name="웨이퍼"/>
            <p:cNvGrpSpPr/>
            <p:nvPr/>
          </p:nvGrpSpPr>
          <p:grpSpPr>
            <a:xfrm>
              <a:off x="6812279" y="3712464"/>
              <a:ext cx="365760" cy="374904"/>
              <a:chOff x="6812279" y="3712464"/>
              <a:chExt cx="365760" cy="374904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6812279" y="3712464"/>
                <a:ext cx="365760" cy="365760"/>
              </a:xfrm>
              <a:prstGeom prst="ellipse">
                <a:avLst/>
              </a:prstGeom>
              <a:solidFill>
                <a:srgbClr val="3C4FA5"/>
              </a:solidFill>
              <a:ln w="1270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76" name="Connector 75"/>
              <p:cNvCxnSpPr/>
              <p:nvPr/>
            </p:nvCxnSpPr>
            <p:spPr>
              <a:xfrm>
                <a:off x="6858000" y="3964838"/>
                <a:ext cx="274320" cy="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77" name="Connector 76"/>
              <p:cNvCxnSpPr/>
              <p:nvPr/>
            </p:nvCxnSpPr>
            <p:spPr>
              <a:xfrm flipV="1">
                <a:off x="6925665" y="3758184"/>
                <a:ext cx="0" cy="27432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78" name="Connector 77"/>
              <p:cNvCxnSpPr/>
              <p:nvPr/>
            </p:nvCxnSpPr>
            <p:spPr>
              <a:xfrm>
                <a:off x="6858000" y="3895344"/>
                <a:ext cx="274320" cy="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79" name="Connector 78"/>
              <p:cNvCxnSpPr/>
              <p:nvPr/>
            </p:nvCxnSpPr>
            <p:spPr>
              <a:xfrm flipV="1">
                <a:off x="6995159" y="3758184"/>
                <a:ext cx="0" cy="27432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80" name="Connector 79"/>
              <p:cNvCxnSpPr/>
              <p:nvPr/>
            </p:nvCxnSpPr>
            <p:spPr>
              <a:xfrm>
                <a:off x="6858000" y="3825849"/>
                <a:ext cx="274320" cy="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81" name="Connector 80"/>
              <p:cNvCxnSpPr/>
              <p:nvPr/>
            </p:nvCxnSpPr>
            <p:spPr>
              <a:xfrm flipV="1">
                <a:off x="7064654" y="3758184"/>
                <a:ext cx="0" cy="27432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sp>
            <p:nvSpPr>
              <p:cNvPr id="82" name="Rectangle 81"/>
              <p:cNvSpPr/>
              <p:nvPr/>
            </p:nvSpPr>
            <p:spPr>
              <a:xfrm>
                <a:off x="6962241" y="4055364"/>
                <a:ext cx="65836" cy="320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3" name="웨이퍼"/>
            <p:cNvGrpSpPr/>
            <p:nvPr/>
          </p:nvGrpSpPr>
          <p:grpSpPr>
            <a:xfrm>
              <a:off x="6812279" y="4407408"/>
              <a:ext cx="365760" cy="374904"/>
              <a:chOff x="6812279" y="4407408"/>
              <a:chExt cx="365760" cy="374904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6812279" y="4407408"/>
                <a:ext cx="365760" cy="365760"/>
              </a:xfrm>
              <a:prstGeom prst="ellipse">
                <a:avLst/>
              </a:prstGeom>
              <a:solidFill>
                <a:srgbClr val="8A8A8A"/>
              </a:solidFill>
              <a:ln w="1270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5" name="Connector 84"/>
              <p:cNvCxnSpPr/>
              <p:nvPr/>
            </p:nvCxnSpPr>
            <p:spPr>
              <a:xfrm>
                <a:off x="6858000" y="4659782"/>
                <a:ext cx="274320" cy="0"/>
              </a:xfrm>
              <a:prstGeom prst="line">
                <a:avLst/>
              </a:prstGeom>
              <a:ln w="8890">
                <a:solidFill>
                  <a:srgbClr val="B3B3B3"/>
                </a:solidFill>
              </a:ln>
            </p:spPr>
          </p:cxnSp>
          <p:cxnSp>
            <p:nvCxnSpPr>
              <p:cNvPr id="86" name="Connector 85"/>
              <p:cNvCxnSpPr/>
              <p:nvPr/>
            </p:nvCxnSpPr>
            <p:spPr>
              <a:xfrm flipV="1">
                <a:off x="6925665" y="4453128"/>
                <a:ext cx="0" cy="274320"/>
              </a:xfrm>
              <a:prstGeom prst="line">
                <a:avLst/>
              </a:prstGeom>
              <a:ln w="8890">
                <a:solidFill>
                  <a:srgbClr val="B3B3B3"/>
                </a:solidFill>
              </a:ln>
            </p:spPr>
          </p:cxnSp>
          <p:cxnSp>
            <p:nvCxnSpPr>
              <p:cNvPr id="87" name="Connector 86"/>
              <p:cNvCxnSpPr/>
              <p:nvPr/>
            </p:nvCxnSpPr>
            <p:spPr>
              <a:xfrm>
                <a:off x="6858000" y="4590288"/>
                <a:ext cx="274320" cy="0"/>
              </a:xfrm>
              <a:prstGeom prst="line">
                <a:avLst/>
              </a:prstGeom>
              <a:ln w="8890">
                <a:solidFill>
                  <a:srgbClr val="B3B3B3"/>
                </a:solidFill>
              </a:ln>
            </p:spPr>
          </p:cxnSp>
          <p:cxnSp>
            <p:nvCxnSpPr>
              <p:cNvPr id="88" name="Connector 87"/>
              <p:cNvCxnSpPr/>
              <p:nvPr/>
            </p:nvCxnSpPr>
            <p:spPr>
              <a:xfrm flipV="1">
                <a:off x="6995159" y="4453128"/>
                <a:ext cx="0" cy="274320"/>
              </a:xfrm>
              <a:prstGeom prst="line">
                <a:avLst/>
              </a:prstGeom>
              <a:ln w="8890">
                <a:solidFill>
                  <a:srgbClr val="B3B3B3"/>
                </a:solidFill>
              </a:ln>
            </p:spPr>
          </p:cxnSp>
          <p:cxnSp>
            <p:nvCxnSpPr>
              <p:cNvPr id="89" name="Connector 88"/>
              <p:cNvCxnSpPr/>
              <p:nvPr/>
            </p:nvCxnSpPr>
            <p:spPr>
              <a:xfrm>
                <a:off x="6858000" y="4520793"/>
                <a:ext cx="274320" cy="0"/>
              </a:xfrm>
              <a:prstGeom prst="line">
                <a:avLst/>
              </a:prstGeom>
              <a:ln w="8890">
                <a:solidFill>
                  <a:srgbClr val="B3B3B3"/>
                </a:solidFill>
              </a:ln>
            </p:spPr>
          </p:cxnSp>
          <p:cxnSp>
            <p:nvCxnSpPr>
              <p:cNvPr id="90" name="Connector 89"/>
              <p:cNvCxnSpPr/>
              <p:nvPr/>
            </p:nvCxnSpPr>
            <p:spPr>
              <a:xfrm flipV="1">
                <a:off x="7064654" y="4453128"/>
                <a:ext cx="0" cy="274320"/>
              </a:xfrm>
              <a:prstGeom prst="line">
                <a:avLst/>
              </a:prstGeom>
              <a:ln w="8890">
                <a:solidFill>
                  <a:srgbClr val="B3B3B3"/>
                </a:solidFill>
              </a:ln>
            </p:spPr>
          </p:cxnSp>
          <p:sp>
            <p:nvSpPr>
              <p:cNvPr id="91" name="Rectangle 90"/>
              <p:cNvSpPr/>
              <p:nvPr/>
            </p:nvSpPr>
            <p:spPr>
              <a:xfrm>
                <a:off x="6962241" y="4750308"/>
                <a:ext cx="65836" cy="320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7251192" y="355701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251192" y="465429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968996" y="3355848"/>
              <a:ext cx="203911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공용 BEOL 설비 Pool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8129015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8586216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9043416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8A8A8A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043416" y="3785616"/>
              <a:ext cx="365760" cy="201168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Curved Down Arrow 98"/>
            <p:cNvSpPr/>
            <p:nvPr/>
          </p:nvSpPr>
          <p:spPr>
            <a:xfrm>
              <a:off x="9107424" y="3657600"/>
              <a:ext cx="237744" cy="109728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9500616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8A8A8A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8129015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586216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8A8A8A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8586216" y="4352544"/>
              <a:ext cx="365760" cy="201168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Curved Down Arrow 103"/>
            <p:cNvSpPr/>
            <p:nvPr/>
          </p:nvSpPr>
          <p:spPr>
            <a:xfrm>
              <a:off x="8650224" y="4224528"/>
              <a:ext cx="237744" cy="109728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043416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8A8A8A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9500616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8A8A8A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7" name="Connector 106"/>
            <p:cNvCxnSpPr/>
            <p:nvPr/>
          </p:nvCxnSpPr>
          <p:spPr>
            <a:xfrm>
              <a:off x="10030967" y="4261104"/>
              <a:ext cx="438913" cy="0"/>
            </a:xfrm>
            <a:prstGeom prst="line">
              <a:avLst/>
            </a:prstGeom>
            <a:ln w="30480">
              <a:solidFill>
                <a:srgbClr val="3C4FA5"/>
              </a:solidFill>
              <a:tailEnd type="triangle" w="med" len="med"/>
            </a:ln>
          </p:spPr>
        </p:cxnSp>
        <p:sp>
          <p:nvSpPr>
            <p:cNvPr id="108" name="Oval 107"/>
            <p:cNvSpPr/>
            <p:nvPr/>
          </p:nvSpPr>
          <p:spPr>
            <a:xfrm>
              <a:off x="10506456" y="4306824"/>
              <a:ext cx="877824" cy="274320"/>
            </a:xfrm>
            <a:prstGeom prst="ellipse">
              <a:avLst/>
            </a:prstGeom>
            <a:solidFill>
              <a:srgbClr val="8A8A8A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506456" y="4160520"/>
              <a:ext cx="877824" cy="274320"/>
            </a:xfrm>
            <a:prstGeom prst="ellipse">
              <a:avLst/>
            </a:prstGeom>
            <a:solidFill>
              <a:srgbClr val="3C4FA5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506456" y="4014216"/>
              <a:ext cx="877824" cy="274320"/>
            </a:xfrm>
            <a:prstGeom prst="ellipse">
              <a:avLst/>
            </a:prstGeom>
            <a:solidFill>
              <a:srgbClr val="677ECD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508742" y="3593592"/>
              <a:ext cx="8732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Bonding</a:t>
              </a:r>
            </a:p>
          </p:txBody>
        </p:sp>
      </p:grpSp>
      <p:sp>
        <p:nvSpPr>
          <p:cNvPr id="112" name="Rectangle 111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Equipment Unif.</a:t>
            </a:r>
          </a:p>
        </p:txBody>
      </p:sp>
      <p:grpSp>
        <p:nvGrpSpPr>
          <p:cNvPr id="123" name="그림 3 설비 통일성 (도형)"/>
          <p:cNvGrpSpPr/>
          <p:nvPr/>
        </p:nvGrpSpPr>
        <p:grpSpPr>
          <a:xfrm>
            <a:off x="12298680" y="3355848"/>
            <a:ext cx="4809744" cy="1565910"/>
            <a:chOff x="12298680" y="3355848"/>
            <a:chExt cx="4809744" cy="1565910"/>
          </a:xfrm>
        </p:grpSpPr>
        <p:sp>
          <p:nvSpPr>
            <p:cNvPr id="124" name="TextBox 123"/>
            <p:cNvSpPr txBox="1"/>
            <p:nvPr/>
          </p:nvSpPr>
          <p:spPr>
            <a:xfrm>
              <a:off x="13007340" y="335584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3885163" y="335584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5046451" y="3355848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공용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2298680" y="372846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Depo</a:t>
              </a: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12883896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2883896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A1</a:t>
              </a:r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13295376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3295376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B4</a:t>
              </a:r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13761720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3761720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K3</a:t>
              </a:r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14173200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4173200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A2</a:t>
              </a: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14639543" y="3774186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C0CA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15169896" y="368731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C0CAE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ounded Rectangle 137"/>
            <p:cNvSpPr/>
            <p:nvPr/>
          </p:nvSpPr>
          <p:spPr>
            <a:xfrm>
              <a:off x="15115032" y="3719322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>
              <a:off x="15060167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3C4FA5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5060167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P1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736824" y="3728466"/>
              <a:ext cx="121158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레시피 공유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>
              <a:off x="12298680" y="4018788"/>
              <a:ext cx="4809744" cy="0"/>
            </a:xfrm>
            <a:prstGeom prst="line">
              <a:avLst/>
            </a:prstGeom>
            <a:ln w="8890">
              <a:solidFill>
                <a:srgbClr val="D9D9D9"/>
              </a:solidFill>
            </a:ln>
          </p:spPr>
        </p:cxnSp>
        <p:sp>
          <p:nvSpPr>
            <p:cNvPr id="143" name="TextBox 142"/>
            <p:cNvSpPr txBox="1"/>
            <p:nvPr/>
          </p:nvSpPr>
          <p:spPr>
            <a:xfrm>
              <a:off x="12298680" y="4034790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Etch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12883896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883896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C2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295376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3295376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D3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13761720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3761720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L1</a:t>
              </a:r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14173200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4173200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C6</a:t>
              </a: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14639543" y="4080510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C0CA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ounded Rectangle 152"/>
            <p:cNvSpPr/>
            <p:nvPr/>
          </p:nvSpPr>
          <p:spPr>
            <a:xfrm>
              <a:off x="15169896" y="3993642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C0CAE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15115032" y="402564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15060167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3C4FA5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5060167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P2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5736824" y="4034790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부품 공용</a:t>
              </a:r>
            </a:p>
          </p:txBody>
        </p:sp>
        <p:cxnSp>
          <p:nvCxnSpPr>
            <p:cNvPr id="158" name="Connector 157"/>
            <p:cNvCxnSpPr/>
            <p:nvPr/>
          </p:nvCxnSpPr>
          <p:spPr>
            <a:xfrm>
              <a:off x="12298680" y="4325112"/>
              <a:ext cx="4809744" cy="0"/>
            </a:xfrm>
            <a:prstGeom prst="line">
              <a:avLst/>
            </a:prstGeom>
            <a:ln w="8890">
              <a:solidFill>
                <a:srgbClr val="D9D9D9"/>
              </a:solidFill>
            </a:ln>
          </p:spPr>
        </p:cxnSp>
        <p:sp>
          <p:nvSpPr>
            <p:cNvPr id="159" name="TextBox 158"/>
            <p:cNvSpPr txBox="1"/>
            <p:nvPr/>
          </p:nvSpPr>
          <p:spPr>
            <a:xfrm>
              <a:off x="12298680" y="4341114"/>
              <a:ext cx="4160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CMP</a:t>
              </a:r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12883896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2883896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E1</a:t>
              </a:r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13295376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13295376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F5</a:t>
              </a:r>
            </a:p>
          </p:txBody>
        </p:sp>
        <p:sp>
          <p:nvSpPr>
            <p:cNvPr id="164" name="Rounded Rectangle 163"/>
            <p:cNvSpPr/>
            <p:nvPr/>
          </p:nvSpPr>
          <p:spPr>
            <a:xfrm>
              <a:off x="13761720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3761720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M4</a:t>
              </a:r>
            </a:p>
          </p:txBody>
        </p:sp>
        <p:sp>
          <p:nvSpPr>
            <p:cNvPr id="166" name="Rounded Rectangle 165"/>
            <p:cNvSpPr/>
            <p:nvPr/>
          </p:nvSpPr>
          <p:spPr>
            <a:xfrm>
              <a:off x="14173200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4173200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E2</a:t>
              </a:r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14639543" y="4386834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C0CA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ounded Rectangle 168"/>
            <p:cNvSpPr/>
            <p:nvPr/>
          </p:nvSpPr>
          <p:spPr>
            <a:xfrm>
              <a:off x="15169896" y="429996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C0CAE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Rounded Rectangle 169"/>
            <p:cNvSpPr/>
            <p:nvPr/>
          </p:nvSpPr>
          <p:spPr>
            <a:xfrm>
              <a:off x="15115032" y="433197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Rounded Rectangle 170"/>
            <p:cNvSpPr/>
            <p:nvPr/>
          </p:nvSpPr>
          <p:spPr>
            <a:xfrm>
              <a:off x="15060167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3C4FA5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5060167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P3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15736824" y="4341114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물량 집중</a:t>
              </a:r>
            </a:p>
          </p:txBody>
        </p:sp>
        <p:cxnSp>
          <p:nvCxnSpPr>
            <p:cNvPr id="174" name="Connector 173"/>
            <p:cNvCxnSpPr/>
            <p:nvPr/>
          </p:nvCxnSpPr>
          <p:spPr>
            <a:xfrm>
              <a:off x="12298680" y="4631436"/>
              <a:ext cx="4809744" cy="0"/>
            </a:xfrm>
            <a:prstGeom prst="line">
              <a:avLst/>
            </a:prstGeom>
            <a:ln w="8890">
              <a:solidFill>
                <a:srgbClr val="D9D9D9"/>
              </a:solidFill>
            </a:ln>
          </p:spPr>
        </p:cxnSp>
        <p:sp>
          <p:nvSpPr>
            <p:cNvPr id="175" name="TextBox 174"/>
            <p:cNvSpPr txBox="1"/>
            <p:nvPr/>
          </p:nvSpPr>
          <p:spPr>
            <a:xfrm>
              <a:off x="12298680" y="464743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Bond</a:t>
              </a:r>
            </a:p>
          </p:txBody>
        </p:sp>
        <p:sp>
          <p:nvSpPr>
            <p:cNvPr id="176" name="Rounded Rectangle 175"/>
            <p:cNvSpPr/>
            <p:nvPr/>
          </p:nvSpPr>
          <p:spPr>
            <a:xfrm>
              <a:off x="12883896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2883896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G2</a:t>
              </a:r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13295376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3295376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H1</a:t>
              </a:r>
            </a:p>
          </p:txBody>
        </p:sp>
        <p:sp>
          <p:nvSpPr>
            <p:cNvPr id="180" name="Rounded Rectangle 179"/>
            <p:cNvSpPr/>
            <p:nvPr/>
          </p:nvSpPr>
          <p:spPr>
            <a:xfrm>
              <a:off x="13761720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3761720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N2</a:t>
              </a: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14173200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F5F5F5"/>
            </a:solidFill>
            <a:ln w="1143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4173200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G7</a:t>
              </a: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14639543" y="4693158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C0CA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Rounded Rectangle 184"/>
            <p:cNvSpPr/>
            <p:nvPr/>
          </p:nvSpPr>
          <p:spPr>
            <a:xfrm>
              <a:off x="15169896" y="460629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C0CAE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15115032" y="463829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77ECD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15060167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3C4FA5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15060167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P4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5736824" y="4647438"/>
              <a:ext cx="896111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협상력 ↑</a:t>
              </a:r>
            </a:p>
          </p:txBody>
        </p:sp>
      </p:grpSp>
      <p:sp>
        <p:nvSpPr>
          <p:cNvPr id="190" name="Rectangle 189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C4FA5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ound Same Side Corner Rectangle 246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ound Same Side Corner Rectangle 248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ound Same Side Corner Rectangle 250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ound Same Side Corner Rectangle 254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ound Same Side Corner Rectangle 256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ound Same Side Corner Rectangle 258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274" name="Right Arrow 273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277" name="Oval 276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ound Same Side Corner Rectangle 277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ound Same Side Corner Rectangle 279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ound Same Side Corner Rectangle 281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ound Same Side Corner Rectangle 283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ound Same Side Corner Rectangle 285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ound Same Side Corner Rectangle 287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295" name="Up Arrow 294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Up Arrow 295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677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C4FA5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299" name="Rounded Rectangle 298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확인]. 설비 모델 코드는 예시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4 / 6  시안 4 · 아이소메트릭 컬러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AEB8E0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</a:t>
            </a:r>
            <a:r>
              <a:rPr sz="2400" b="1">
                <a:solidFill>
                  <a:srgbClr val="F6C46B"/>
                </a:solidFill>
                <a:latin typeface="Arial"/>
                <a:ea typeface="Arial"/>
              </a:rPr>
              <a:t>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grpSp>
        <p:nvGrpSpPr>
          <p:cNvPr id="13" name="그림 1 공간 효율성 (도형)"/>
          <p:cNvGrpSpPr/>
          <p:nvPr/>
        </p:nvGrpSpPr>
        <p:grpSpPr>
          <a:xfrm>
            <a:off x="0" y="0"/>
            <a:ext cx="5978029" cy="4919472"/>
            <a:chOff x="0" y="0"/>
            <a:chExt cx="5978029" cy="4919472"/>
          </a:xfrm>
        </p:grpSpPr>
        <p:sp>
          <p:nvSpPr>
            <p:cNvPr id="14" name="Freeform 13"/>
            <p:cNvSpPr/>
            <p:nvPr/>
          </p:nvSpPr>
          <p:spPr>
            <a:xfrm>
              <a:off x="1375890" y="3931920"/>
              <a:ext cx="1710491" cy="987552"/>
            </a:xfrm>
            <a:custGeom>
              <a:avLst/>
              <a:gdLst/>
              <a:ahLst/>
              <a:cxnLst/>
              <a:rect l="l" t="t" r="r" b="b"/>
              <a:pathLst>
                <a:path w="1710491" h="987552">
                  <a:moveTo>
                    <a:pt x="855246" y="987552"/>
                  </a:moveTo>
                  <a:lnTo>
                    <a:pt x="1710491" y="493776"/>
                  </a:lnTo>
                  <a:lnTo>
                    <a:pt x="855246" y="0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B4B4B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H="1" flipV="1">
              <a:off x="1589702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 flipH="1" flipV="1">
              <a:off x="1803513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 flipH="1" flipV="1">
              <a:off x="2017324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 flipV="1">
              <a:off x="2017324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 flipV="1">
              <a:off x="1803513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 flipV="1">
              <a:off x="1589702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sp>
          <p:nvSpPr>
            <p:cNvPr id="21" name="Freeform 20"/>
            <p:cNvSpPr/>
            <p:nvPr/>
          </p:nvSpPr>
          <p:spPr>
            <a:xfrm>
              <a:off x="1615359" y="4440509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256793" y="4563953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829170" y="4070177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470604" y="4193621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615359" y="4193621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pattFill prst="wdUpDiag">
              <a:fgClr>
                <a:srgbClr val="B4B4B4"/>
              </a:fgClr>
              <a:bgClr>
                <a:srgbClr val="FFFFFF"/>
              </a:bgClr>
            </a:pattFill>
            <a:ln w="1143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 flipH="1" flipV="1">
              <a:off x="1803513" y="4178808"/>
              <a:ext cx="855245" cy="493776"/>
            </a:xfrm>
            <a:prstGeom prst="line">
              <a:avLst/>
            </a:prstGeom>
            <a:ln w="38100">
              <a:solidFill>
                <a:srgbClr val="555555"/>
              </a:solidFill>
            </a:ln>
          </p:spPr>
        </p:cxnSp>
        <p:grpSp>
          <p:nvGrpSpPr>
            <p:cNvPr id="2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2081468" y="3857853"/>
                <a:ext cx="149668" cy="283921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283921">
                    <a:moveTo>
                      <a:pt x="149668" y="283921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49668" y="86411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2231136" y="3857853"/>
                <a:ext cx="149667" cy="283921"/>
              </a:xfrm>
              <a:custGeom>
                <a:avLst/>
                <a:gdLst/>
                <a:ahLst/>
                <a:cxnLst/>
                <a:rect l="l" t="t" r="r" b="b"/>
                <a:pathLst>
                  <a:path w="149667" h="283921">
                    <a:moveTo>
                      <a:pt x="0" y="283921"/>
                    </a:moveTo>
                    <a:lnTo>
                      <a:pt x="149667" y="197511"/>
                    </a:lnTo>
                    <a:lnTo>
                      <a:pt x="149667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2081468" y="3771442"/>
                <a:ext cx="299335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299335" h="172822">
                    <a:moveTo>
                      <a:pt x="149668" y="172822"/>
                    </a:moveTo>
                    <a:lnTo>
                      <a:pt x="299335" y="86411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" name="Freeform 31"/>
              <p:cNvSpPr/>
              <p:nvPr/>
            </p:nvSpPr>
            <p:spPr>
              <a:xfrm>
                <a:off x="2273898" y="3944264"/>
                <a:ext cx="171049" cy="333299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33299">
                    <a:moveTo>
                      <a:pt x="171049" y="333299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1049" y="98755"/>
                    </a:lnTo>
                    <a:close/>
                  </a:path>
                </a:pathLst>
              </a:custGeom>
              <a:solidFill>
                <a:srgbClr val="7CC5B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2444947" y="3944264"/>
                <a:ext cx="171049" cy="333299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33299">
                    <a:moveTo>
                      <a:pt x="0" y="333299"/>
                    </a:moveTo>
                    <a:lnTo>
                      <a:pt x="171049" y="234544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619A9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2273898" y="3845509"/>
                <a:ext cx="342098" cy="197510"/>
              </a:xfrm>
              <a:custGeom>
                <a:avLst/>
                <a:gdLst/>
                <a:ahLst/>
                <a:cxnLst/>
                <a:rect l="l" t="t" r="r" b="b"/>
                <a:pathLst>
                  <a:path w="342098" h="197510">
                    <a:moveTo>
                      <a:pt x="171049" y="197510"/>
                    </a:moveTo>
                    <a:lnTo>
                      <a:pt x="342098" y="98755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AAD9D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6" name="Freeform 35"/>
              <p:cNvSpPr/>
              <p:nvPr/>
            </p:nvSpPr>
            <p:spPr>
              <a:xfrm>
                <a:off x="2092158" y="3975125"/>
                <a:ext cx="149668" cy="407365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407365">
                    <a:moveTo>
                      <a:pt x="149668" y="407365"/>
                    </a:moveTo>
                    <a:lnTo>
                      <a:pt x="0" y="320954"/>
                    </a:lnTo>
                    <a:lnTo>
                      <a:pt x="0" y="0"/>
                    </a:lnTo>
                    <a:lnTo>
                      <a:pt x="149668" y="86411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2241826" y="3987469"/>
                <a:ext cx="128287" cy="395021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395021">
                    <a:moveTo>
                      <a:pt x="0" y="395021"/>
                    </a:moveTo>
                    <a:lnTo>
                      <a:pt x="128287" y="320955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2092158" y="3901059"/>
                <a:ext cx="277955" cy="160477"/>
              </a:xfrm>
              <a:custGeom>
                <a:avLst/>
                <a:gdLst/>
                <a:ahLst/>
                <a:cxnLst/>
                <a:rect l="l" t="t" r="r" b="b"/>
                <a:pathLst>
                  <a:path w="277955" h="160477">
                    <a:moveTo>
                      <a:pt x="149668" y="160477"/>
                    </a:moveTo>
                    <a:lnTo>
                      <a:pt x="277955" y="86410"/>
                    </a:lnTo>
                    <a:lnTo>
                      <a:pt x="128287" y="0"/>
                    </a:lnTo>
                    <a:lnTo>
                      <a:pt x="0" y="74066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0" name="Freeform 39"/>
              <p:cNvSpPr/>
              <p:nvPr/>
            </p:nvSpPr>
            <p:spPr>
              <a:xfrm>
                <a:off x="1450724" y="4123258"/>
                <a:ext cx="128287" cy="382676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382676">
                    <a:moveTo>
                      <a:pt x="128287" y="382676"/>
                    </a:moveTo>
                    <a:lnTo>
                      <a:pt x="0" y="308610"/>
                    </a:lnTo>
                    <a:lnTo>
                      <a:pt x="0" y="0"/>
                    </a:lnTo>
                    <a:lnTo>
                      <a:pt x="128287" y="74066"/>
                    </a:lnTo>
                    <a:close/>
                  </a:path>
                </a:pathLst>
              </a:custGeom>
              <a:solidFill>
                <a:srgbClr val="7CC5B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1579011" y="4110913"/>
                <a:ext cx="149668" cy="395021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395021">
                    <a:moveTo>
                      <a:pt x="0" y="395021"/>
                    </a:moveTo>
                    <a:lnTo>
                      <a:pt x="149668" y="308610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619A9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1450724" y="4036847"/>
                <a:ext cx="277955" cy="160477"/>
              </a:xfrm>
              <a:custGeom>
                <a:avLst/>
                <a:gdLst/>
                <a:ahLst/>
                <a:cxnLst/>
                <a:rect l="l" t="t" r="r" b="b"/>
                <a:pathLst>
                  <a:path w="277955" h="160477">
                    <a:moveTo>
                      <a:pt x="128287" y="160477"/>
                    </a:moveTo>
                    <a:lnTo>
                      <a:pt x="277955" y="74066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AAD9D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" name="Freeform 43"/>
              <p:cNvSpPr/>
              <p:nvPr/>
            </p:nvSpPr>
            <p:spPr>
              <a:xfrm>
                <a:off x="1889037" y="4277563"/>
                <a:ext cx="128287" cy="222199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22199">
                    <a:moveTo>
                      <a:pt x="128287" y="222199"/>
                    </a:moveTo>
                    <a:lnTo>
                      <a:pt x="0" y="148133"/>
                    </a:lnTo>
                    <a:lnTo>
                      <a:pt x="0" y="0"/>
                    </a:lnTo>
                    <a:lnTo>
                      <a:pt x="128287" y="74066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2017324" y="4277563"/>
                <a:ext cx="128287" cy="222199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22199">
                    <a:moveTo>
                      <a:pt x="0" y="222199"/>
                    </a:moveTo>
                    <a:lnTo>
                      <a:pt x="128287" y="148133"/>
                    </a:lnTo>
                    <a:lnTo>
                      <a:pt x="128287" y="0"/>
                    </a:lnTo>
                    <a:lnTo>
                      <a:pt x="0" y="74066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1889037" y="4203496"/>
                <a:ext cx="256574" cy="148133"/>
              </a:xfrm>
              <a:custGeom>
                <a:avLst/>
                <a:gdLst/>
                <a:ahLst/>
                <a:cxnLst/>
                <a:rect l="l" t="t" r="r" b="b"/>
                <a:pathLst>
                  <a:path w="256574" h="148133">
                    <a:moveTo>
                      <a:pt x="128287" y="148133"/>
                    </a:moveTo>
                    <a:lnTo>
                      <a:pt x="256574" y="74067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8" name="Freeform 47"/>
              <p:cNvSpPr/>
              <p:nvPr/>
            </p:nvSpPr>
            <p:spPr>
              <a:xfrm>
                <a:off x="2295279" y="4252874"/>
                <a:ext cx="128287" cy="259232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59232">
                    <a:moveTo>
                      <a:pt x="128287" y="259232"/>
                    </a:moveTo>
                    <a:lnTo>
                      <a:pt x="0" y="185166"/>
                    </a:lnTo>
                    <a:lnTo>
                      <a:pt x="0" y="0"/>
                    </a:lnTo>
                    <a:lnTo>
                      <a:pt x="128287" y="74066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2423566" y="4228185"/>
                <a:ext cx="171049" cy="283921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283921">
                    <a:moveTo>
                      <a:pt x="0" y="283921"/>
                    </a:moveTo>
                    <a:lnTo>
                      <a:pt x="171049" y="185166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2295279" y="4154119"/>
                <a:ext cx="299336" cy="172821"/>
              </a:xfrm>
              <a:custGeom>
                <a:avLst/>
                <a:gdLst/>
                <a:ahLst/>
                <a:cxnLst/>
                <a:rect l="l" t="t" r="r" b="b"/>
                <a:pathLst>
                  <a:path w="299336" h="172821">
                    <a:moveTo>
                      <a:pt x="128287" y="172821"/>
                    </a:moveTo>
                    <a:lnTo>
                      <a:pt x="299336" y="74066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2" name="Freeform 51"/>
              <p:cNvSpPr/>
              <p:nvPr/>
            </p:nvSpPr>
            <p:spPr>
              <a:xfrm>
                <a:off x="2744283" y="4265218"/>
                <a:ext cx="128286" cy="234544"/>
              </a:xfrm>
              <a:custGeom>
                <a:avLst/>
                <a:gdLst/>
                <a:ahLst/>
                <a:cxnLst/>
                <a:rect l="l" t="t" r="r" b="b"/>
                <a:pathLst>
                  <a:path w="128286" h="234544">
                    <a:moveTo>
                      <a:pt x="128286" y="234544"/>
                    </a:moveTo>
                    <a:lnTo>
                      <a:pt x="0" y="160478"/>
                    </a:lnTo>
                    <a:lnTo>
                      <a:pt x="0" y="0"/>
                    </a:lnTo>
                    <a:lnTo>
                      <a:pt x="128286" y="74067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2872569" y="4265218"/>
                <a:ext cx="128287" cy="234544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34544">
                    <a:moveTo>
                      <a:pt x="0" y="234544"/>
                    </a:moveTo>
                    <a:lnTo>
                      <a:pt x="128287" y="160478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2744283" y="4191152"/>
                <a:ext cx="256573" cy="148133"/>
              </a:xfrm>
              <a:custGeom>
                <a:avLst/>
                <a:gdLst/>
                <a:ahLst/>
                <a:cxnLst/>
                <a:rect l="l" t="t" r="r" b="b"/>
                <a:pathLst>
                  <a:path w="256573" h="148133">
                    <a:moveTo>
                      <a:pt x="128286" y="148133"/>
                    </a:moveTo>
                    <a:lnTo>
                      <a:pt x="256573" y="74066"/>
                    </a:lnTo>
                    <a:lnTo>
                      <a:pt x="128286" y="0"/>
                    </a:lnTo>
                    <a:lnTo>
                      <a:pt x="0" y="74066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6" name="Freeform 55"/>
              <p:cNvSpPr/>
              <p:nvPr/>
            </p:nvSpPr>
            <p:spPr>
              <a:xfrm>
                <a:off x="2060086" y="4326940"/>
                <a:ext cx="171050" cy="320955"/>
              </a:xfrm>
              <a:custGeom>
                <a:avLst/>
                <a:gdLst/>
                <a:ahLst/>
                <a:cxnLst/>
                <a:rect l="l" t="t" r="r" b="b"/>
                <a:pathLst>
                  <a:path w="171050" h="320955">
                    <a:moveTo>
                      <a:pt x="171050" y="320955"/>
                    </a:moveTo>
                    <a:lnTo>
                      <a:pt x="0" y="222200"/>
                    </a:lnTo>
                    <a:lnTo>
                      <a:pt x="0" y="0"/>
                    </a:lnTo>
                    <a:lnTo>
                      <a:pt x="171050" y="98756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2231136" y="4326940"/>
                <a:ext cx="171049" cy="320955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20955">
                    <a:moveTo>
                      <a:pt x="0" y="320955"/>
                    </a:moveTo>
                    <a:lnTo>
                      <a:pt x="171049" y="222200"/>
                    </a:lnTo>
                    <a:lnTo>
                      <a:pt x="171049" y="0"/>
                    </a:lnTo>
                    <a:lnTo>
                      <a:pt x="0" y="98756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060086" y="4228185"/>
                <a:ext cx="342099" cy="197511"/>
              </a:xfrm>
              <a:custGeom>
                <a:avLst/>
                <a:gdLst/>
                <a:ahLst/>
                <a:cxnLst/>
                <a:rect l="l" t="t" r="r" b="b"/>
                <a:pathLst>
                  <a:path w="342099" h="197511">
                    <a:moveTo>
                      <a:pt x="171050" y="197511"/>
                    </a:moveTo>
                    <a:lnTo>
                      <a:pt x="342099" y="98755"/>
                    </a:lnTo>
                    <a:lnTo>
                      <a:pt x="171050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0" name="Freeform 59"/>
              <p:cNvSpPr/>
              <p:nvPr/>
            </p:nvSpPr>
            <p:spPr>
              <a:xfrm>
                <a:off x="2498400" y="4271391"/>
                <a:ext cx="171049" cy="370332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70332">
                    <a:moveTo>
                      <a:pt x="171049" y="370332"/>
                    </a:moveTo>
                    <a:lnTo>
                      <a:pt x="0" y="271576"/>
                    </a:lnTo>
                    <a:lnTo>
                      <a:pt x="0" y="0"/>
                    </a:lnTo>
                    <a:lnTo>
                      <a:pt x="171049" y="98755"/>
                    </a:lnTo>
                    <a:close/>
                  </a:path>
                </a:pathLst>
              </a:custGeom>
              <a:solidFill>
                <a:srgbClr val="7CC5B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2669449" y="4283735"/>
                <a:ext cx="149668" cy="357988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357988">
                    <a:moveTo>
                      <a:pt x="0" y="357988"/>
                    </a:moveTo>
                    <a:lnTo>
                      <a:pt x="149668" y="271577"/>
                    </a:lnTo>
                    <a:lnTo>
                      <a:pt x="149668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619A9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2498400" y="4184980"/>
                <a:ext cx="320717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320717" h="185166">
                    <a:moveTo>
                      <a:pt x="171049" y="185166"/>
                    </a:moveTo>
                    <a:lnTo>
                      <a:pt x="320717" y="98755"/>
                    </a:lnTo>
                    <a:lnTo>
                      <a:pt x="149667" y="0"/>
                    </a:lnTo>
                    <a:lnTo>
                      <a:pt x="0" y="86411"/>
                    </a:lnTo>
                    <a:close/>
                  </a:path>
                </a:pathLst>
              </a:custGeom>
              <a:solidFill>
                <a:srgbClr val="AAD9D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4" name="Freeform 63"/>
              <p:cNvSpPr/>
              <p:nvPr/>
            </p:nvSpPr>
            <p:spPr>
              <a:xfrm>
                <a:off x="1867656" y="4487418"/>
                <a:ext cx="171049" cy="271576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271576">
                    <a:moveTo>
                      <a:pt x="171049" y="271576"/>
                    </a:moveTo>
                    <a:lnTo>
                      <a:pt x="0" y="172821"/>
                    </a:lnTo>
                    <a:lnTo>
                      <a:pt x="0" y="0"/>
                    </a:lnTo>
                    <a:lnTo>
                      <a:pt x="171049" y="98755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2038705" y="4512106"/>
                <a:ext cx="128287" cy="246888"/>
              </a:xfrm>
              <a:custGeom>
                <a:avLst/>
                <a:gdLst/>
                <a:ahLst/>
                <a:cxnLst/>
                <a:rect l="l" t="t" r="r" b="b"/>
                <a:pathLst>
                  <a:path w="128287" h="246888">
                    <a:moveTo>
                      <a:pt x="0" y="246888"/>
                    </a:moveTo>
                    <a:lnTo>
                      <a:pt x="128287" y="172822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1867656" y="4413351"/>
                <a:ext cx="29933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299336" h="172822">
                    <a:moveTo>
                      <a:pt x="171049" y="172822"/>
                    </a:moveTo>
                    <a:lnTo>
                      <a:pt x="299336" y="98755"/>
                    </a:lnTo>
                    <a:lnTo>
                      <a:pt x="128287" y="0"/>
                    </a:lnTo>
                    <a:lnTo>
                      <a:pt x="0" y="74067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2070777" y="4555312"/>
                <a:ext cx="149668" cy="333299"/>
              </a:xfrm>
              <a:custGeom>
                <a:avLst/>
                <a:gdLst/>
                <a:ahLst/>
                <a:cxnLst/>
                <a:rect l="l" t="t" r="r" b="b"/>
                <a:pathLst>
                  <a:path w="149668" h="333299">
                    <a:moveTo>
                      <a:pt x="149668" y="333299"/>
                    </a:moveTo>
                    <a:lnTo>
                      <a:pt x="0" y="246888"/>
                    </a:lnTo>
                    <a:lnTo>
                      <a:pt x="0" y="0"/>
                    </a:lnTo>
                    <a:lnTo>
                      <a:pt x="149668" y="86411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2220445" y="4542967"/>
                <a:ext cx="171049" cy="345644"/>
              </a:xfrm>
              <a:custGeom>
                <a:avLst/>
                <a:gdLst/>
                <a:ahLst/>
                <a:cxnLst/>
                <a:rect l="l" t="t" r="r" b="b"/>
                <a:pathLst>
                  <a:path w="171049" h="345644">
                    <a:moveTo>
                      <a:pt x="0" y="345644"/>
                    </a:moveTo>
                    <a:lnTo>
                      <a:pt x="171049" y="246888"/>
                    </a:lnTo>
                    <a:lnTo>
                      <a:pt x="171049" y="0"/>
                    </a:lnTo>
                    <a:lnTo>
                      <a:pt x="0" y="98756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2070777" y="4456557"/>
                <a:ext cx="320717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320717" h="185166">
                    <a:moveTo>
                      <a:pt x="149668" y="185166"/>
                    </a:moveTo>
                    <a:lnTo>
                      <a:pt x="320717" y="86410"/>
                    </a:lnTo>
                    <a:lnTo>
                      <a:pt x="171049" y="0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1" name="TextBox 70"/>
            <p:cNvSpPr txBox="1"/>
            <p:nvPr/>
          </p:nvSpPr>
          <p:spPr>
            <a:xfrm>
              <a:off x="1179576" y="3355848"/>
              <a:ext cx="9098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Fab 분리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79576" y="3593592"/>
              <a:ext cx="122986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8A8A8A"/>
                  </a:solidFill>
                  <a:latin typeface="Arial"/>
                  <a:ea typeface="Arial"/>
                </a:rPr>
                <a:t>DRAM | NAND</a:t>
              </a:r>
            </a:p>
          </p:txBody>
        </p:sp>
        <p:sp>
          <p:nvSpPr>
            <p:cNvPr id="73" name="Freeform 72"/>
            <p:cNvSpPr/>
            <p:nvPr/>
          </p:nvSpPr>
          <p:spPr>
            <a:xfrm>
              <a:off x="3264408" y="4215384"/>
              <a:ext cx="457200" cy="274320"/>
            </a:xfrm>
            <a:custGeom>
              <a:avLst/>
              <a:gdLst/>
              <a:ahLst/>
              <a:cxnLst/>
              <a:rect l="l" t="t" r="r" b="b"/>
              <a:pathLst>
                <a:path w="457200" h="274320">
                  <a:moveTo>
                    <a:pt x="0" y="197510"/>
                  </a:moveTo>
                  <a:lnTo>
                    <a:pt x="265176" y="197510"/>
                  </a:lnTo>
                  <a:lnTo>
                    <a:pt x="265176" y="274320"/>
                  </a:lnTo>
                  <a:lnTo>
                    <a:pt x="457200" y="137160"/>
                  </a:lnTo>
                  <a:lnTo>
                    <a:pt x="265176" y="0"/>
                  </a:lnTo>
                  <a:lnTo>
                    <a:pt x="265176" y="76809"/>
                  </a:lnTo>
                  <a:lnTo>
                    <a:pt x="0" y="76809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3991074" y="3931920"/>
              <a:ext cx="1710491" cy="987552"/>
            </a:xfrm>
            <a:custGeom>
              <a:avLst/>
              <a:gdLst/>
              <a:ahLst/>
              <a:cxnLst/>
              <a:rect l="l" t="t" r="r" b="b"/>
              <a:pathLst>
                <a:path w="1710491" h="987552">
                  <a:moveTo>
                    <a:pt x="855246" y="987552"/>
                  </a:moveTo>
                  <a:lnTo>
                    <a:pt x="1710491" y="493776"/>
                  </a:lnTo>
                  <a:lnTo>
                    <a:pt x="855246" y="0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C0CA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5" name="Connector 74"/>
            <p:cNvCxnSpPr/>
            <p:nvPr/>
          </p:nvCxnSpPr>
          <p:spPr>
            <a:xfrm flipH="1" flipV="1">
              <a:off x="4204886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6" name="Connector 75"/>
            <p:cNvCxnSpPr/>
            <p:nvPr/>
          </p:nvCxnSpPr>
          <p:spPr>
            <a:xfrm flipH="1" flipV="1">
              <a:off x="4418697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7" name="Connector 76"/>
            <p:cNvCxnSpPr/>
            <p:nvPr/>
          </p:nvCxnSpPr>
          <p:spPr>
            <a:xfrm flipH="1" flipV="1">
              <a:off x="4632508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8" name="Connector 77"/>
            <p:cNvCxnSpPr/>
            <p:nvPr/>
          </p:nvCxnSpPr>
          <p:spPr>
            <a:xfrm flipV="1">
              <a:off x="4632508" y="4302252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79" name="Connector 78"/>
            <p:cNvCxnSpPr/>
            <p:nvPr/>
          </p:nvCxnSpPr>
          <p:spPr>
            <a:xfrm flipV="1">
              <a:off x="4418697" y="4178808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80" name="Connector 79"/>
            <p:cNvCxnSpPr/>
            <p:nvPr/>
          </p:nvCxnSpPr>
          <p:spPr>
            <a:xfrm flipV="1">
              <a:off x="4204886" y="4055364"/>
              <a:ext cx="855245" cy="493776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sp>
          <p:nvSpPr>
            <p:cNvPr id="81" name="Freeform 80"/>
            <p:cNvSpPr/>
            <p:nvPr/>
          </p:nvSpPr>
          <p:spPr>
            <a:xfrm>
              <a:off x="5299599" y="4317065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CEFD9"/>
            </a:solidFill>
            <a:ln w="13970">
              <a:solidFill>
                <a:srgbClr val="E39B2D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5085788" y="4193621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CEFD9"/>
            </a:solidFill>
            <a:ln w="13970">
              <a:solidFill>
                <a:srgbClr val="E39B2D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4871977" y="4070177"/>
              <a:ext cx="376308" cy="217261"/>
            </a:xfrm>
            <a:custGeom>
              <a:avLst/>
              <a:gdLst/>
              <a:ahLst/>
              <a:cxnLst/>
              <a:rect l="l" t="t" r="r" b="b"/>
              <a:pathLst>
                <a:path w="376308" h="217261">
                  <a:moveTo>
                    <a:pt x="188154" y="217261"/>
                  </a:moveTo>
                  <a:lnTo>
                    <a:pt x="376308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CEFD9"/>
            </a:solidFill>
            <a:ln w="13970">
              <a:solidFill>
                <a:srgbClr val="E39B2D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4658166" y="3946733"/>
              <a:ext cx="376307" cy="217261"/>
            </a:xfrm>
            <a:custGeom>
              <a:avLst/>
              <a:gdLst/>
              <a:ahLst/>
              <a:cxnLst/>
              <a:rect l="l" t="t" r="r" b="b"/>
              <a:pathLst>
                <a:path w="376307" h="217261">
                  <a:moveTo>
                    <a:pt x="188154" y="217261"/>
                  </a:moveTo>
                  <a:lnTo>
                    <a:pt x="376307" y="108631"/>
                  </a:lnTo>
                  <a:lnTo>
                    <a:pt x="188154" y="0"/>
                  </a:lnTo>
                  <a:lnTo>
                    <a:pt x="0" y="108631"/>
                  </a:lnTo>
                  <a:close/>
                </a:path>
              </a:pathLst>
            </a:custGeom>
            <a:solidFill>
              <a:srgbClr val="FCEFD9"/>
            </a:solidFill>
            <a:ln w="13970">
              <a:solidFill>
                <a:srgbClr val="E39B2D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6" name="Freeform 85"/>
              <p:cNvSpPr/>
              <p:nvPr/>
            </p:nvSpPr>
            <p:spPr>
              <a:xfrm>
                <a:off x="4452907" y="3944264"/>
                <a:ext cx="179601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38236">
                    <a:moveTo>
                      <a:pt x="179601" y="338236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Freeform 86"/>
              <p:cNvSpPr/>
              <p:nvPr/>
            </p:nvSpPr>
            <p:spPr>
              <a:xfrm>
                <a:off x="4632508" y="3944264"/>
                <a:ext cx="179602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38236">
                    <a:moveTo>
                      <a:pt x="0" y="338236"/>
                    </a:moveTo>
                    <a:lnTo>
                      <a:pt x="179602" y="234544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4452907" y="3840571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4239095" y="4067708"/>
                <a:ext cx="179602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38236">
                    <a:moveTo>
                      <a:pt x="179602" y="338236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4418697" y="4067708"/>
                <a:ext cx="179601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38236">
                    <a:moveTo>
                      <a:pt x="0" y="338236"/>
                    </a:moveTo>
                    <a:lnTo>
                      <a:pt x="179601" y="234544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4239095" y="3964015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4" name="Freeform 93"/>
              <p:cNvSpPr/>
              <p:nvPr/>
            </p:nvSpPr>
            <p:spPr>
              <a:xfrm>
                <a:off x="4666718" y="4030675"/>
                <a:ext cx="179602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75269">
                    <a:moveTo>
                      <a:pt x="179602" y="375269"/>
                    </a:moveTo>
                    <a:lnTo>
                      <a:pt x="0" y="271577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4846320" y="4030675"/>
                <a:ext cx="179601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75269">
                    <a:moveTo>
                      <a:pt x="0" y="375269"/>
                    </a:moveTo>
                    <a:lnTo>
                      <a:pt x="179601" y="271577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Freeform 95"/>
              <p:cNvSpPr/>
              <p:nvPr/>
            </p:nvSpPr>
            <p:spPr>
              <a:xfrm>
                <a:off x="4666718" y="3926982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8" name="Freeform 97"/>
              <p:cNvSpPr/>
              <p:nvPr/>
            </p:nvSpPr>
            <p:spPr>
              <a:xfrm>
                <a:off x="4025284" y="4191152"/>
                <a:ext cx="179602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38236">
                    <a:moveTo>
                      <a:pt x="179602" y="338236"/>
                    </a:moveTo>
                    <a:lnTo>
                      <a:pt x="0" y="234544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Freeform 98"/>
              <p:cNvSpPr/>
              <p:nvPr/>
            </p:nvSpPr>
            <p:spPr>
              <a:xfrm>
                <a:off x="4204886" y="4191152"/>
                <a:ext cx="179601" cy="338236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38236">
                    <a:moveTo>
                      <a:pt x="0" y="338236"/>
                    </a:moveTo>
                    <a:lnTo>
                      <a:pt x="179601" y="234544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Freeform 99"/>
              <p:cNvSpPr/>
              <p:nvPr/>
            </p:nvSpPr>
            <p:spPr>
              <a:xfrm>
                <a:off x="4025284" y="4087459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2" name="Freeform 101"/>
              <p:cNvSpPr/>
              <p:nvPr/>
            </p:nvSpPr>
            <p:spPr>
              <a:xfrm>
                <a:off x="4452907" y="4154119"/>
                <a:ext cx="179601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75269">
                    <a:moveTo>
                      <a:pt x="179601" y="375269"/>
                    </a:moveTo>
                    <a:lnTo>
                      <a:pt x="0" y="271577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Freeform 102"/>
              <p:cNvSpPr/>
              <p:nvPr/>
            </p:nvSpPr>
            <p:spPr>
              <a:xfrm>
                <a:off x="4632508" y="4154119"/>
                <a:ext cx="179602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75269">
                    <a:moveTo>
                      <a:pt x="0" y="375269"/>
                    </a:moveTo>
                    <a:lnTo>
                      <a:pt x="179602" y="271577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Freeform 103"/>
              <p:cNvSpPr/>
              <p:nvPr/>
            </p:nvSpPr>
            <p:spPr>
              <a:xfrm>
                <a:off x="4452907" y="4050426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6" name="Freeform 105"/>
              <p:cNvSpPr/>
              <p:nvPr/>
            </p:nvSpPr>
            <p:spPr>
              <a:xfrm>
                <a:off x="4880529" y="4228185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Freeform 106"/>
              <p:cNvSpPr/>
              <p:nvPr/>
            </p:nvSpPr>
            <p:spPr>
              <a:xfrm>
                <a:off x="5060131" y="4228185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4880529" y="4124492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0" name="Freeform 109"/>
              <p:cNvSpPr/>
              <p:nvPr/>
            </p:nvSpPr>
            <p:spPr>
              <a:xfrm>
                <a:off x="4239095" y="4277563"/>
                <a:ext cx="179602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75269">
                    <a:moveTo>
                      <a:pt x="179602" y="375269"/>
                    </a:moveTo>
                    <a:lnTo>
                      <a:pt x="0" y="271577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Freeform 110"/>
              <p:cNvSpPr/>
              <p:nvPr/>
            </p:nvSpPr>
            <p:spPr>
              <a:xfrm>
                <a:off x="4418697" y="4277563"/>
                <a:ext cx="179601" cy="375269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75269">
                    <a:moveTo>
                      <a:pt x="0" y="375269"/>
                    </a:moveTo>
                    <a:lnTo>
                      <a:pt x="179601" y="271577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Freeform 111"/>
              <p:cNvSpPr/>
              <p:nvPr/>
            </p:nvSpPr>
            <p:spPr>
              <a:xfrm>
                <a:off x="4239095" y="4173870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4" name="Freeform 113"/>
              <p:cNvSpPr/>
              <p:nvPr/>
            </p:nvSpPr>
            <p:spPr>
              <a:xfrm>
                <a:off x="4666718" y="4351629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Freeform 114"/>
              <p:cNvSpPr/>
              <p:nvPr/>
            </p:nvSpPr>
            <p:spPr>
              <a:xfrm>
                <a:off x="4846320" y="4351629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4666718" y="4247936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8" name="Freeform 117"/>
              <p:cNvSpPr/>
              <p:nvPr/>
            </p:nvSpPr>
            <p:spPr>
              <a:xfrm>
                <a:off x="5094341" y="4351629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179601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Freeform 118"/>
              <p:cNvSpPr/>
              <p:nvPr/>
            </p:nvSpPr>
            <p:spPr>
              <a:xfrm>
                <a:off x="5273942" y="4351629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0" y="301203"/>
                    </a:moveTo>
                    <a:lnTo>
                      <a:pt x="179602" y="197511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Freeform 119"/>
              <p:cNvSpPr/>
              <p:nvPr/>
            </p:nvSpPr>
            <p:spPr>
              <a:xfrm>
                <a:off x="5094341" y="4247936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1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2" name="Freeform 121"/>
              <p:cNvSpPr/>
              <p:nvPr/>
            </p:nvSpPr>
            <p:spPr>
              <a:xfrm>
                <a:off x="4452907" y="4475073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179601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1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Freeform 122"/>
              <p:cNvSpPr/>
              <p:nvPr/>
            </p:nvSpPr>
            <p:spPr>
              <a:xfrm>
                <a:off x="4632508" y="4475073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0" y="301203"/>
                    </a:moveTo>
                    <a:lnTo>
                      <a:pt x="179602" y="197511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Freeform 123"/>
              <p:cNvSpPr/>
              <p:nvPr/>
            </p:nvSpPr>
            <p:spPr>
              <a:xfrm>
                <a:off x="4452907" y="4371380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1" y="207386"/>
                    </a:moveTo>
                    <a:lnTo>
                      <a:pt x="359203" y="103693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6" name="Freeform 125"/>
              <p:cNvSpPr/>
              <p:nvPr/>
            </p:nvSpPr>
            <p:spPr>
              <a:xfrm>
                <a:off x="4880529" y="4475073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reeform 126"/>
              <p:cNvSpPr/>
              <p:nvPr/>
            </p:nvSpPr>
            <p:spPr>
              <a:xfrm>
                <a:off x="5060131" y="4475073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reeform 127"/>
              <p:cNvSpPr/>
              <p:nvPr/>
            </p:nvSpPr>
            <p:spPr>
              <a:xfrm>
                <a:off x="4880529" y="4371380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9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30" name="Freeform 129"/>
              <p:cNvSpPr/>
              <p:nvPr/>
            </p:nvSpPr>
            <p:spPr>
              <a:xfrm>
                <a:off x="4666718" y="4598517"/>
                <a:ext cx="179602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2" h="301203">
                    <a:moveTo>
                      <a:pt x="179602" y="301203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79602" y="103693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Freeform 130"/>
              <p:cNvSpPr/>
              <p:nvPr/>
            </p:nvSpPr>
            <p:spPr>
              <a:xfrm>
                <a:off x="4846320" y="4598517"/>
                <a:ext cx="179601" cy="301203"/>
              </a:xfrm>
              <a:custGeom>
                <a:avLst/>
                <a:gdLst/>
                <a:ahLst/>
                <a:cxnLst/>
                <a:rect l="l" t="t" r="r" b="b"/>
                <a:pathLst>
                  <a:path w="179601" h="301203">
                    <a:moveTo>
                      <a:pt x="0" y="301203"/>
                    </a:moveTo>
                    <a:lnTo>
                      <a:pt x="179601" y="197511"/>
                    </a:lnTo>
                    <a:lnTo>
                      <a:pt x="179601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Freeform 131"/>
              <p:cNvSpPr/>
              <p:nvPr/>
            </p:nvSpPr>
            <p:spPr>
              <a:xfrm>
                <a:off x="4666718" y="4494824"/>
                <a:ext cx="359203" cy="207386"/>
              </a:xfrm>
              <a:custGeom>
                <a:avLst/>
                <a:gdLst/>
                <a:ahLst/>
                <a:cxnLst/>
                <a:rect l="l" t="t" r="r" b="b"/>
                <a:pathLst>
                  <a:path w="359203" h="207386">
                    <a:moveTo>
                      <a:pt x="179602" y="207386"/>
                    </a:moveTo>
                    <a:lnTo>
                      <a:pt x="359203" y="103693"/>
                    </a:lnTo>
                    <a:lnTo>
                      <a:pt x="179602" y="0"/>
                    </a:lnTo>
                    <a:lnTo>
                      <a:pt x="0" y="103693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3" name="TextBox 132"/>
            <p:cNvSpPr txBox="1"/>
            <p:nvPr/>
          </p:nvSpPr>
          <p:spPr>
            <a:xfrm>
              <a:off x="3922776" y="3355848"/>
              <a:ext cx="17373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Common Platform</a:t>
              </a:r>
            </a:p>
          </p:txBody>
        </p:sp>
        <p:cxnSp>
          <p:nvCxnSpPr>
            <p:cNvPr id="134" name="Connector 133"/>
            <p:cNvCxnSpPr/>
            <p:nvPr/>
          </p:nvCxnSpPr>
          <p:spPr>
            <a:xfrm flipV="1">
              <a:off x="5292230" y="3995928"/>
              <a:ext cx="164592" cy="164592"/>
            </a:xfrm>
            <a:prstGeom prst="line">
              <a:avLst/>
            </a:prstGeom>
            <a:ln w="12700">
              <a:solidFill>
                <a:srgbClr val="E39B2D"/>
              </a:solidFill>
            </a:ln>
          </p:spPr>
        </p:cxnSp>
        <p:sp>
          <p:nvSpPr>
            <p:cNvPr id="135" name="TextBox 134"/>
            <p:cNvSpPr txBox="1"/>
            <p:nvPr/>
          </p:nvSpPr>
          <p:spPr>
            <a:xfrm>
              <a:off x="5475110" y="378561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확보</a:t>
              </a:r>
            </a:p>
          </p:txBody>
        </p:sp>
      </p:grpSp>
      <p:sp>
        <p:nvSpPr>
          <p:cNvPr id="136" name="Rectangle 135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E8F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1E8C8C"/>
                </a:solidFill>
                <a:latin typeface="Arial"/>
                <a:ea typeface="Arial"/>
              </a:rPr>
              <a:t>  Market Agility</a:t>
            </a:r>
          </a:p>
        </p:txBody>
      </p:sp>
      <p:grpSp>
        <p:nvGrpSpPr>
          <p:cNvPr id="147" name="그림 2 시황 변화 대응력 (도형)"/>
          <p:cNvGrpSpPr/>
          <p:nvPr/>
        </p:nvGrpSpPr>
        <p:grpSpPr>
          <a:xfrm>
            <a:off x="0" y="0"/>
            <a:ext cx="11448288" cy="4901184"/>
            <a:chOff x="0" y="0"/>
            <a:chExt cx="11448288" cy="4901184"/>
          </a:xfrm>
        </p:grpSpPr>
        <p:sp>
          <p:nvSpPr>
            <p:cNvPr id="148" name="Freeform 147"/>
            <p:cNvSpPr/>
            <p:nvPr/>
          </p:nvSpPr>
          <p:spPr>
            <a:xfrm>
              <a:off x="6833369" y="3767328"/>
              <a:ext cx="1963897" cy="1133856"/>
            </a:xfrm>
            <a:custGeom>
              <a:avLst/>
              <a:gdLst/>
              <a:ahLst/>
              <a:cxnLst/>
              <a:rect l="l" t="t" r="r" b="b"/>
              <a:pathLst>
                <a:path w="1963897" h="1133856">
                  <a:moveTo>
                    <a:pt x="490975" y="1133856"/>
                  </a:moveTo>
                  <a:lnTo>
                    <a:pt x="1963897" y="283464"/>
                  </a:lnTo>
                  <a:lnTo>
                    <a:pt x="1472923" y="0"/>
                  </a:lnTo>
                  <a:lnTo>
                    <a:pt x="0" y="850392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A9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9" name="Connector 148"/>
            <p:cNvCxnSpPr/>
            <p:nvPr/>
          </p:nvCxnSpPr>
          <p:spPr>
            <a:xfrm flipH="1" flipV="1">
              <a:off x="7078856" y="4475988"/>
              <a:ext cx="490975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0" name="Connector 149"/>
            <p:cNvCxnSpPr/>
            <p:nvPr/>
          </p:nvCxnSpPr>
          <p:spPr>
            <a:xfrm flipH="1" flipV="1">
              <a:off x="7324344" y="4334256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1" name="Connector 150"/>
            <p:cNvCxnSpPr/>
            <p:nvPr/>
          </p:nvCxnSpPr>
          <p:spPr>
            <a:xfrm flipH="1" flipV="1">
              <a:off x="7569831" y="4192524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2" name="Connector 151"/>
            <p:cNvCxnSpPr/>
            <p:nvPr/>
          </p:nvCxnSpPr>
          <p:spPr>
            <a:xfrm flipH="1" flipV="1">
              <a:off x="7815318" y="4050792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3" name="Connector 152"/>
            <p:cNvCxnSpPr/>
            <p:nvPr/>
          </p:nvCxnSpPr>
          <p:spPr>
            <a:xfrm flipH="1" flipV="1">
              <a:off x="8060805" y="3909060"/>
              <a:ext cx="490974" cy="283464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154" name="Connector 153"/>
            <p:cNvCxnSpPr/>
            <p:nvPr/>
          </p:nvCxnSpPr>
          <p:spPr>
            <a:xfrm flipV="1">
              <a:off x="7078856" y="3909060"/>
              <a:ext cx="1472923" cy="850392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grpSp>
          <p:nvGrpSpPr>
            <p:cNvPr id="155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56" name="Freeform 155"/>
              <p:cNvSpPr/>
              <p:nvPr/>
            </p:nvSpPr>
            <p:spPr>
              <a:xfrm>
                <a:off x="8109902" y="3625596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Freeform 156"/>
              <p:cNvSpPr/>
              <p:nvPr/>
            </p:nvSpPr>
            <p:spPr>
              <a:xfrm>
                <a:off x="8306292" y="3625596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Freeform 157"/>
              <p:cNvSpPr/>
              <p:nvPr/>
            </p:nvSpPr>
            <p:spPr>
              <a:xfrm>
                <a:off x="8109902" y="3512210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9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0" name="Freeform 159"/>
              <p:cNvSpPr/>
              <p:nvPr/>
            </p:nvSpPr>
            <p:spPr>
              <a:xfrm>
                <a:off x="8355389" y="3767328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Freeform 160"/>
              <p:cNvSpPr/>
              <p:nvPr/>
            </p:nvSpPr>
            <p:spPr>
              <a:xfrm>
                <a:off x="8551779" y="3767328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Freeform 161"/>
              <p:cNvSpPr/>
              <p:nvPr/>
            </p:nvSpPr>
            <p:spPr>
              <a:xfrm>
                <a:off x="8355389" y="3653942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3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4" name="Freeform 163"/>
              <p:cNvSpPr/>
              <p:nvPr/>
            </p:nvSpPr>
            <p:spPr>
              <a:xfrm>
                <a:off x="7864415" y="3767328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Freeform 164"/>
              <p:cNvSpPr/>
              <p:nvPr/>
            </p:nvSpPr>
            <p:spPr>
              <a:xfrm>
                <a:off x="8060805" y="3767328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Freeform 165"/>
              <p:cNvSpPr/>
              <p:nvPr/>
            </p:nvSpPr>
            <p:spPr>
              <a:xfrm>
                <a:off x="7864415" y="3653942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7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8" name="Freeform 167"/>
              <p:cNvSpPr/>
              <p:nvPr/>
            </p:nvSpPr>
            <p:spPr>
              <a:xfrm>
                <a:off x="8109902" y="3909060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Freeform 168"/>
              <p:cNvSpPr/>
              <p:nvPr/>
            </p:nvSpPr>
            <p:spPr>
              <a:xfrm>
                <a:off x="8306292" y="3909060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Freeform 169"/>
              <p:cNvSpPr/>
              <p:nvPr/>
            </p:nvSpPr>
            <p:spPr>
              <a:xfrm>
                <a:off x="8109902" y="3795674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1" name="전환 중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2" name="Freeform 171"/>
              <p:cNvSpPr/>
              <p:nvPr/>
            </p:nvSpPr>
            <p:spPr>
              <a:xfrm>
                <a:off x="7618928" y="3909060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Freeform 172"/>
              <p:cNvSpPr/>
              <p:nvPr/>
            </p:nvSpPr>
            <p:spPr>
              <a:xfrm>
                <a:off x="7815318" y="3909060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9737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Freeform 173"/>
              <p:cNvSpPr/>
              <p:nvPr/>
            </p:nvSpPr>
            <p:spPr>
              <a:xfrm>
                <a:off x="7618928" y="3795674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5" name="NAND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6" name="Freeform 175"/>
              <p:cNvSpPr/>
              <p:nvPr/>
            </p:nvSpPr>
            <p:spPr>
              <a:xfrm>
                <a:off x="7864415" y="4050792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Freeform 176"/>
              <p:cNvSpPr/>
              <p:nvPr/>
            </p:nvSpPr>
            <p:spPr>
              <a:xfrm>
                <a:off x="8060805" y="4050792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76D6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Freeform 177"/>
              <p:cNvSpPr/>
              <p:nvPr/>
            </p:nvSpPr>
            <p:spPr>
              <a:xfrm>
                <a:off x="7864415" y="3937406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6D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9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Freeform 179"/>
              <p:cNvSpPr/>
              <p:nvPr/>
            </p:nvSpPr>
            <p:spPr>
              <a:xfrm>
                <a:off x="7373441" y="4050792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Freeform 180"/>
              <p:cNvSpPr/>
              <p:nvPr/>
            </p:nvSpPr>
            <p:spPr>
              <a:xfrm>
                <a:off x="7569831" y="4050792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Freeform 181"/>
              <p:cNvSpPr/>
              <p:nvPr/>
            </p:nvSpPr>
            <p:spPr>
              <a:xfrm>
                <a:off x="7373441" y="3937406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전환 중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4" name="Freeform 183"/>
              <p:cNvSpPr/>
              <p:nvPr/>
            </p:nvSpPr>
            <p:spPr>
              <a:xfrm>
                <a:off x="7618928" y="4192524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1E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Freeform 184"/>
              <p:cNvSpPr/>
              <p:nvPr/>
            </p:nvSpPr>
            <p:spPr>
              <a:xfrm>
                <a:off x="7815318" y="4192524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19737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Freeform 185"/>
              <p:cNvSpPr/>
              <p:nvPr/>
            </p:nvSpPr>
            <p:spPr>
              <a:xfrm>
                <a:off x="7618928" y="4079138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7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8" name="Freeform 187"/>
              <p:cNvSpPr/>
              <p:nvPr/>
            </p:nvSpPr>
            <p:spPr>
              <a:xfrm>
                <a:off x="7127954" y="4192524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Freeform 188"/>
              <p:cNvSpPr/>
              <p:nvPr/>
            </p:nvSpPr>
            <p:spPr>
              <a:xfrm>
                <a:off x="7324344" y="4192524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Freeform 189"/>
              <p:cNvSpPr/>
              <p:nvPr/>
            </p:nvSpPr>
            <p:spPr>
              <a:xfrm>
                <a:off x="7127954" y="4079138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1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2" name="Freeform 191"/>
              <p:cNvSpPr/>
              <p:nvPr/>
            </p:nvSpPr>
            <p:spPr>
              <a:xfrm>
                <a:off x="7373441" y="4334256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Freeform 192"/>
              <p:cNvSpPr/>
              <p:nvPr/>
            </p:nvSpPr>
            <p:spPr>
              <a:xfrm>
                <a:off x="7569831" y="4334256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Freeform 193"/>
              <p:cNvSpPr/>
              <p:nvPr/>
            </p:nvSpPr>
            <p:spPr>
              <a:xfrm>
                <a:off x="7373441" y="4220870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5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6" name="Freeform 195"/>
              <p:cNvSpPr/>
              <p:nvPr/>
            </p:nvSpPr>
            <p:spPr>
              <a:xfrm>
                <a:off x="6882467" y="4334256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196389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89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Freeform 196"/>
              <p:cNvSpPr/>
              <p:nvPr/>
            </p:nvSpPr>
            <p:spPr>
              <a:xfrm>
                <a:off x="7078856" y="4334256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0" y="396849"/>
                    </a:moveTo>
                    <a:lnTo>
                      <a:pt x="196390" y="283464"/>
                    </a:lnTo>
                    <a:lnTo>
                      <a:pt x="196390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Freeform 197"/>
              <p:cNvSpPr/>
              <p:nvPr/>
            </p:nvSpPr>
            <p:spPr>
              <a:xfrm>
                <a:off x="6882467" y="4220870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89" y="226771"/>
                    </a:moveTo>
                    <a:lnTo>
                      <a:pt x="392779" y="113386"/>
                    </a:lnTo>
                    <a:lnTo>
                      <a:pt x="196389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DRAM 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0" name="Freeform 199"/>
              <p:cNvSpPr/>
              <p:nvPr/>
            </p:nvSpPr>
            <p:spPr>
              <a:xfrm>
                <a:off x="7127954" y="4475988"/>
                <a:ext cx="196390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90" h="396849">
                    <a:moveTo>
                      <a:pt x="196390" y="396849"/>
                    </a:moveTo>
                    <a:lnTo>
                      <a:pt x="0" y="283464"/>
                    </a:lnTo>
                    <a:lnTo>
                      <a:pt x="0" y="0"/>
                    </a:lnTo>
                    <a:lnTo>
                      <a:pt x="196390" y="113385"/>
                    </a:lnTo>
                    <a:close/>
                  </a:path>
                </a:pathLst>
              </a:custGeom>
              <a:solidFill>
                <a:srgbClr val="3C4FA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Freeform 200"/>
              <p:cNvSpPr/>
              <p:nvPr/>
            </p:nvSpPr>
            <p:spPr>
              <a:xfrm>
                <a:off x="7324344" y="4475988"/>
                <a:ext cx="196389" cy="396849"/>
              </a:xfrm>
              <a:custGeom>
                <a:avLst/>
                <a:gdLst/>
                <a:ahLst/>
                <a:cxnLst/>
                <a:rect l="l" t="t" r="r" b="b"/>
                <a:pathLst>
                  <a:path w="196389" h="396849">
                    <a:moveTo>
                      <a:pt x="0" y="396849"/>
                    </a:moveTo>
                    <a:lnTo>
                      <a:pt x="196389" y="283464"/>
                    </a:lnTo>
                    <a:lnTo>
                      <a:pt x="196389" y="0"/>
                    </a:lnTo>
                    <a:lnTo>
                      <a:pt x="0" y="113385"/>
                    </a:lnTo>
                    <a:close/>
                  </a:path>
                </a:pathLst>
              </a:custGeom>
              <a:solidFill>
                <a:srgbClr val="2F3E81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Freeform 201"/>
              <p:cNvSpPr/>
              <p:nvPr/>
            </p:nvSpPr>
            <p:spPr>
              <a:xfrm>
                <a:off x="7127954" y="4362602"/>
                <a:ext cx="392779" cy="226771"/>
              </a:xfrm>
              <a:custGeom>
                <a:avLst/>
                <a:gdLst/>
                <a:ahLst/>
                <a:cxnLst/>
                <a:rect l="l" t="t" r="r" b="b"/>
                <a:pathLst>
                  <a:path w="392779" h="226771">
                    <a:moveTo>
                      <a:pt x="196390" y="226771"/>
                    </a:moveTo>
                    <a:lnTo>
                      <a:pt x="392779" y="113386"/>
                    </a:lnTo>
                    <a:lnTo>
                      <a:pt x="196390" y="0"/>
                    </a:lnTo>
                    <a:lnTo>
                      <a:pt x="0" y="113386"/>
                    </a:lnTo>
                    <a:close/>
                  </a:path>
                </a:pathLst>
              </a:custGeom>
              <a:solidFill>
                <a:srgbClr val="808DC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3" name="Curved Down Arrow 202"/>
            <p:cNvSpPr/>
            <p:nvPr/>
          </p:nvSpPr>
          <p:spPr>
            <a:xfrm>
              <a:off x="7669014" y="4009644"/>
              <a:ext cx="292608" cy="128016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Curved Down Arrow 203"/>
            <p:cNvSpPr/>
            <p:nvPr/>
          </p:nvSpPr>
          <p:spPr>
            <a:xfrm>
              <a:off x="7669014" y="3726180"/>
              <a:ext cx="292608" cy="128016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6739127" y="3355848"/>
              <a:ext cx="149047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공용 설비 전환</a:t>
              </a:r>
            </a:p>
          </p:txBody>
        </p:sp>
        <p:cxnSp>
          <p:nvCxnSpPr>
            <p:cNvPr id="206" name="Connector 205"/>
            <p:cNvCxnSpPr/>
            <p:nvPr/>
          </p:nvCxnSpPr>
          <p:spPr>
            <a:xfrm>
              <a:off x="9262872" y="4187952"/>
              <a:ext cx="1591056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207" name="Rectangle 206"/>
            <p:cNvSpPr/>
            <p:nvPr/>
          </p:nvSpPr>
          <p:spPr>
            <a:xfrm>
              <a:off x="9281159" y="4613172"/>
              <a:ext cx="228599" cy="233147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281159" y="4389120"/>
              <a:ext cx="228599" cy="224052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546336" y="4448784"/>
              <a:ext cx="228599" cy="397535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9546336" y="4389120"/>
              <a:ext cx="228599" cy="59664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9811512" y="4534820"/>
              <a:ext cx="228599" cy="311499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9811512" y="4389120"/>
              <a:ext cx="228599" cy="145700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10076688" y="4743743"/>
              <a:ext cx="228599" cy="102576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10076688" y="4389120"/>
              <a:ext cx="228599" cy="354623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0341863" y="4765854"/>
              <a:ext cx="228599" cy="80465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10341863" y="4389120"/>
              <a:ext cx="228599" cy="376734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10607039" y="4568376"/>
              <a:ext cx="228599" cy="277943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607039" y="4389120"/>
              <a:ext cx="228599" cy="179256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9262872" y="3603304"/>
              <a:ext cx="1591056" cy="437963"/>
            </a:xfrm>
            <a:custGeom>
              <a:avLst/>
              <a:gdLst/>
              <a:ahLst/>
              <a:cxnLst/>
              <a:rect l="l" t="t" r="r" b="b"/>
              <a:pathLst>
                <a:path w="1591056" h="437963">
                  <a:moveTo>
                    <a:pt x="0" y="347881"/>
                  </a:moveTo>
                  <a:lnTo>
                    <a:pt x="33147" y="317237"/>
                  </a:lnTo>
                  <a:lnTo>
                    <a:pt x="66293" y="283965"/>
                  </a:lnTo>
                  <a:lnTo>
                    <a:pt x="99441" y="248956"/>
                  </a:lnTo>
                  <a:lnTo>
                    <a:pt x="132587" y="213143"/>
                  </a:lnTo>
                  <a:lnTo>
                    <a:pt x="165735" y="177483"/>
                  </a:lnTo>
                  <a:lnTo>
                    <a:pt x="198882" y="142930"/>
                  </a:lnTo>
                  <a:lnTo>
                    <a:pt x="232029" y="110406"/>
                  </a:lnTo>
                  <a:lnTo>
                    <a:pt x="265176" y="80779"/>
                  </a:lnTo>
                  <a:lnTo>
                    <a:pt x="298322" y="54842"/>
                  </a:lnTo>
                  <a:lnTo>
                    <a:pt x="331470" y="33287"/>
                  </a:lnTo>
                  <a:lnTo>
                    <a:pt x="364616" y="16691"/>
                  </a:lnTo>
                  <a:lnTo>
                    <a:pt x="397764" y="5495"/>
                  </a:lnTo>
                  <a:lnTo>
                    <a:pt x="430911" y="0"/>
                  </a:lnTo>
                  <a:lnTo>
                    <a:pt x="464058" y="352"/>
                  </a:lnTo>
                  <a:lnTo>
                    <a:pt x="497204" y="6542"/>
                  </a:lnTo>
                  <a:lnTo>
                    <a:pt x="530352" y="18404"/>
                  </a:lnTo>
                  <a:lnTo>
                    <a:pt x="563499" y="35622"/>
                  </a:lnTo>
                  <a:lnTo>
                    <a:pt x="596645" y="57736"/>
                  </a:lnTo>
                  <a:lnTo>
                    <a:pt x="629793" y="84154"/>
                  </a:lnTo>
                  <a:lnTo>
                    <a:pt x="662940" y="114172"/>
                  </a:lnTo>
                  <a:lnTo>
                    <a:pt x="696087" y="146987"/>
                  </a:lnTo>
                  <a:lnTo>
                    <a:pt x="729233" y="181723"/>
                  </a:lnTo>
                  <a:lnTo>
                    <a:pt x="762381" y="217451"/>
                  </a:lnTo>
                  <a:lnTo>
                    <a:pt x="795528" y="253218"/>
                  </a:lnTo>
                  <a:lnTo>
                    <a:pt x="828675" y="288068"/>
                  </a:lnTo>
                  <a:lnTo>
                    <a:pt x="861822" y="321069"/>
                  </a:lnTo>
                  <a:lnTo>
                    <a:pt x="894968" y="351341"/>
                  </a:lnTo>
                  <a:lnTo>
                    <a:pt x="928116" y="378075"/>
                  </a:lnTo>
                  <a:lnTo>
                    <a:pt x="961262" y="400557"/>
                  </a:lnTo>
                  <a:lnTo>
                    <a:pt x="994410" y="418185"/>
                  </a:lnTo>
                  <a:lnTo>
                    <a:pt x="1027557" y="430489"/>
                  </a:lnTo>
                  <a:lnTo>
                    <a:pt x="1060704" y="437141"/>
                  </a:lnTo>
                  <a:lnTo>
                    <a:pt x="1093850" y="437963"/>
                  </a:lnTo>
                  <a:lnTo>
                    <a:pt x="1126997" y="432932"/>
                  </a:lnTo>
                  <a:lnTo>
                    <a:pt x="1160145" y="422184"/>
                  </a:lnTo>
                  <a:lnTo>
                    <a:pt x="1193291" y="406004"/>
                  </a:lnTo>
                  <a:lnTo>
                    <a:pt x="1226439" y="384827"/>
                  </a:lnTo>
                  <a:lnTo>
                    <a:pt x="1259586" y="359216"/>
                  </a:lnTo>
                  <a:lnTo>
                    <a:pt x="1292733" y="329857"/>
                  </a:lnTo>
                  <a:lnTo>
                    <a:pt x="1325879" y="297533"/>
                  </a:lnTo>
                  <a:lnTo>
                    <a:pt x="1359027" y="263109"/>
                  </a:lnTo>
                  <a:lnTo>
                    <a:pt x="1392174" y="227503"/>
                  </a:lnTo>
                  <a:lnTo>
                    <a:pt x="1425320" y="191667"/>
                  </a:lnTo>
                  <a:lnTo>
                    <a:pt x="1458468" y="156559"/>
                  </a:lnTo>
                  <a:lnTo>
                    <a:pt x="1491615" y="123115"/>
                  </a:lnTo>
                  <a:lnTo>
                    <a:pt x="1524762" y="92230"/>
                  </a:lnTo>
                  <a:lnTo>
                    <a:pt x="1557908" y="64728"/>
                  </a:lnTo>
                  <a:lnTo>
                    <a:pt x="1591056" y="41344"/>
                  </a:lnTo>
                </a:path>
              </a:pathLst>
            </a:custGeom>
            <a:noFill/>
            <a:ln w="3302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9262872" y="3603116"/>
              <a:ext cx="1591056" cy="437963"/>
            </a:xfrm>
            <a:custGeom>
              <a:avLst/>
              <a:gdLst/>
              <a:ahLst/>
              <a:cxnLst/>
              <a:rect l="l" t="t" r="r" b="b"/>
              <a:pathLst>
                <a:path w="1591056" h="437963">
                  <a:moveTo>
                    <a:pt x="0" y="90082"/>
                  </a:moveTo>
                  <a:lnTo>
                    <a:pt x="33147" y="120726"/>
                  </a:lnTo>
                  <a:lnTo>
                    <a:pt x="66293" y="153998"/>
                  </a:lnTo>
                  <a:lnTo>
                    <a:pt x="99441" y="189007"/>
                  </a:lnTo>
                  <a:lnTo>
                    <a:pt x="132587" y="224820"/>
                  </a:lnTo>
                  <a:lnTo>
                    <a:pt x="165735" y="260480"/>
                  </a:lnTo>
                  <a:lnTo>
                    <a:pt x="198882" y="295033"/>
                  </a:lnTo>
                  <a:lnTo>
                    <a:pt x="232029" y="327557"/>
                  </a:lnTo>
                  <a:lnTo>
                    <a:pt x="265176" y="357184"/>
                  </a:lnTo>
                  <a:lnTo>
                    <a:pt x="298322" y="383121"/>
                  </a:lnTo>
                  <a:lnTo>
                    <a:pt x="331470" y="404676"/>
                  </a:lnTo>
                  <a:lnTo>
                    <a:pt x="364616" y="421272"/>
                  </a:lnTo>
                  <a:lnTo>
                    <a:pt x="397764" y="432468"/>
                  </a:lnTo>
                  <a:lnTo>
                    <a:pt x="430911" y="437963"/>
                  </a:lnTo>
                  <a:lnTo>
                    <a:pt x="464058" y="437611"/>
                  </a:lnTo>
                  <a:lnTo>
                    <a:pt x="497204" y="431421"/>
                  </a:lnTo>
                  <a:lnTo>
                    <a:pt x="530352" y="419559"/>
                  </a:lnTo>
                  <a:lnTo>
                    <a:pt x="563499" y="402341"/>
                  </a:lnTo>
                  <a:lnTo>
                    <a:pt x="596645" y="380227"/>
                  </a:lnTo>
                  <a:lnTo>
                    <a:pt x="629793" y="353809"/>
                  </a:lnTo>
                  <a:lnTo>
                    <a:pt x="662940" y="323791"/>
                  </a:lnTo>
                  <a:lnTo>
                    <a:pt x="696087" y="290976"/>
                  </a:lnTo>
                  <a:lnTo>
                    <a:pt x="729233" y="256240"/>
                  </a:lnTo>
                  <a:lnTo>
                    <a:pt x="762381" y="220512"/>
                  </a:lnTo>
                  <a:lnTo>
                    <a:pt x="795528" y="184745"/>
                  </a:lnTo>
                  <a:lnTo>
                    <a:pt x="828675" y="149895"/>
                  </a:lnTo>
                  <a:lnTo>
                    <a:pt x="861822" y="116894"/>
                  </a:lnTo>
                  <a:lnTo>
                    <a:pt x="894968" y="86622"/>
                  </a:lnTo>
                  <a:lnTo>
                    <a:pt x="928116" y="59888"/>
                  </a:lnTo>
                  <a:lnTo>
                    <a:pt x="961262" y="37406"/>
                  </a:lnTo>
                  <a:lnTo>
                    <a:pt x="994410" y="19778"/>
                  </a:lnTo>
                  <a:lnTo>
                    <a:pt x="1027557" y="7474"/>
                  </a:lnTo>
                  <a:lnTo>
                    <a:pt x="1060704" y="822"/>
                  </a:lnTo>
                  <a:lnTo>
                    <a:pt x="1093850" y="0"/>
                  </a:lnTo>
                  <a:lnTo>
                    <a:pt x="1126997" y="5031"/>
                  </a:lnTo>
                  <a:lnTo>
                    <a:pt x="1160145" y="15779"/>
                  </a:lnTo>
                  <a:lnTo>
                    <a:pt x="1193291" y="31959"/>
                  </a:lnTo>
                  <a:lnTo>
                    <a:pt x="1226439" y="53136"/>
                  </a:lnTo>
                  <a:lnTo>
                    <a:pt x="1259586" y="78747"/>
                  </a:lnTo>
                  <a:lnTo>
                    <a:pt x="1292733" y="108106"/>
                  </a:lnTo>
                  <a:lnTo>
                    <a:pt x="1325879" y="140430"/>
                  </a:lnTo>
                  <a:lnTo>
                    <a:pt x="1359027" y="174854"/>
                  </a:lnTo>
                  <a:lnTo>
                    <a:pt x="1392174" y="210460"/>
                  </a:lnTo>
                  <a:lnTo>
                    <a:pt x="1425320" y="246296"/>
                  </a:lnTo>
                  <a:lnTo>
                    <a:pt x="1458468" y="281404"/>
                  </a:lnTo>
                  <a:lnTo>
                    <a:pt x="1491615" y="314848"/>
                  </a:lnTo>
                  <a:lnTo>
                    <a:pt x="1524762" y="345733"/>
                  </a:lnTo>
                  <a:lnTo>
                    <a:pt x="1557908" y="373235"/>
                  </a:lnTo>
                  <a:lnTo>
                    <a:pt x="1591056" y="396619"/>
                  </a:lnTo>
                </a:path>
              </a:pathLst>
            </a:custGeom>
            <a:noFill/>
            <a:ln w="2794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10917936" y="350748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10917936" y="3862575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9262872" y="331927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수요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10917936" y="4480560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배분</a:t>
              </a: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1EE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6E56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6E56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6E56B0"/>
                </a:solidFill>
                <a:latin typeface="Arial"/>
                <a:ea typeface="Arial"/>
              </a:rPr>
              <a:t>  Equipment Unif.</a:t>
            </a:r>
          </a:p>
        </p:txBody>
      </p:sp>
      <p:grpSp>
        <p:nvGrpSpPr>
          <p:cNvPr id="236" name="그림 3 설비 통일성 (도형)"/>
          <p:cNvGrpSpPr/>
          <p:nvPr/>
        </p:nvGrpSpPr>
        <p:grpSpPr>
          <a:xfrm>
            <a:off x="0" y="0"/>
            <a:ext cx="17064990" cy="4882896"/>
            <a:chOff x="0" y="0"/>
            <a:chExt cx="17064990" cy="4882896"/>
          </a:xfrm>
        </p:grpSpPr>
        <p:sp>
          <p:nvSpPr>
            <p:cNvPr id="237" name="Freeform 236"/>
            <p:cNvSpPr/>
            <p:nvPr/>
          </p:nvSpPr>
          <p:spPr>
            <a:xfrm>
              <a:off x="12317495" y="4059936"/>
              <a:ext cx="1425409" cy="822960"/>
            </a:xfrm>
            <a:custGeom>
              <a:avLst/>
              <a:gdLst/>
              <a:ahLst/>
              <a:cxnLst/>
              <a:rect l="l" t="t" r="r" b="b"/>
              <a:pathLst>
                <a:path w="1425409" h="822960">
                  <a:moveTo>
                    <a:pt x="712705" y="822960"/>
                  </a:moveTo>
                  <a:lnTo>
                    <a:pt x="1425409" y="411480"/>
                  </a:lnTo>
                  <a:lnTo>
                    <a:pt x="712705" y="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B4B4B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8" name="Connector 237"/>
            <p:cNvCxnSpPr/>
            <p:nvPr/>
          </p:nvCxnSpPr>
          <p:spPr>
            <a:xfrm flipH="1" flipV="1">
              <a:off x="12555063" y="433425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39" name="Connector 238"/>
            <p:cNvCxnSpPr/>
            <p:nvPr/>
          </p:nvCxnSpPr>
          <p:spPr>
            <a:xfrm flipH="1" flipV="1">
              <a:off x="12792631" y="419709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40" name="Connector 239"/>
            <p:cNvCxnSpPr/>
            <p:nvPr/>
          </p:nvCxnSpPr>
          <p:spPr>
            <a:xfrm flipV="1">
              <a:off x="12792631" y="433425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41" name="Connector 240"/>
            <p:cNvCxnSpPr/>
            <p:nvPr/>
          </p:nvCxnSpPr>
          <p:spPr>
            <a:xfrm flipV="1">
              <a:off x="12555063" y="419709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grpSp>
          <p:nvGrpSpPr>
            <p:cNvPr id="242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43" name="Freeform 242"/>
              <p:cNvSpPr/>
              <p:nvPr/>
            </p:nvSpPr>
            <p:spPr>
              <a:xfrm>
                <a:off x="12852023" y="3943350"/>
                <a:ext cx="166298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166298" h="356616">
                    <a:moveTo>
                      <a:pt x="166298" y="356616"/>
                    </a:moveTo>
                    <a:lnTo>
                      <a:pt x="0" y="260604"/>
                    </a:lnTo>
                    <a:lnTo>
                      <a:pt x="0" y="0"/>
                    </a:lnTo>
                    <a:lnTo>
                      <a:pt x="166298" y="96012"/>
                    </a:lnTo>
                    <a:close/>
                  </a:path>
                </a:pathLst>
              </a:custGeom>
              <a:solidFill>
                <a:srgbClr val="7CC5B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Freeform 243"/>
              <p:cNvSpPr/>
              <p:nvPr/>
            </p:nvSpPr>
            <p:spPr>
              <a:xfrm>
                <a:off x="13018321" y="3929634"/>
                <a:ext cx="190055" cy="370332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70332">
                    <a:moveTo>
                      <a:pt x="0" y="370332"/>
                    </a:moveTo>
                    <a:lnTo>
                      <a:pt x="190055" y="260604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619A9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Freeform 244"/>
              <p:cNvSpPr/>
              <p:nvPr/>
            </p:nvSpPr>
            <p:spPr>
              <a:xfrm>
                <a:off x="12852023" y="3833622"/>
                <a:ext cx="356353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356353" h="205740">
                    <a:moveTo>
                      <a:pt x="166298" y="205740"/>
                    </a:moveTo>
                    <a:lnTo>
                      <a:pt x="356353" y="96012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AD9D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6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47" name="Freeform 246"/>
              <p:cNvSpPr/>
              <p:nvPr/>
            </p:nvSpPr>
            <p:spPr>
              <a:xfrm>
                <a:off x="13125227" y="4142232"/>
                <a:ext cx="142541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274320">
                    <a:moveTo>
                      <a:pt x="142541" y="274320"/>
                    </a:moveTo>
                    <a:lnTo>
                      <a:pt x="0" y="192024"/>
                    </a:lnTo>
                    <a:lnTo>
                      <a:pt x="0" y="0"/>
                    </a:lnTo>
                    <a:lnTo>
                      <a:pt x="142541" y="82296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Freeform 247"/>
              <p:cNvSpPr/>
              <p:nvPr/>
            </p:nvSpPr>
            <p:spPr>
              <a:xfrm>
                <a:off x="13267768" y="4142232"/>
                <a:ext cx="1425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142540" h="274320">
                    <a:moveTo>
                      <a:pt x="0" y="274320"/>
                    </a:moveTo>
                    <a:lnTo>
                      <a:pt x="142540" y="192024"/>
                    </a:lnTo>
                    <a:lnTo>
                      <a:pt x="14254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Freeform 248"/>
              <p:cNvSpPr/>
              <p:nvPr/>
            </p:nvSpPr>
            <p:spPr>
              <a:xfrm>
                <a:off x="13125227" y="4059936"/>
                <a:ext cx="285081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285081" h="164592">
                    <a:moveTo>
                      <a:pt x="142541" y="164592"/>
                    </a:moveTo>
                    <a:lnTo>
                      <a:pt x="285081" y="82296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0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1" name="Freeform 250"/>
              <p:cNvSpPr/>
              <p:nvPr/>
            </p:nvSpPr>
            <p:spPr>
              <a:xfrm>
                <a:off x="12650091" y="4018788"/>
                <a:ext cx="142540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42540" h="397764">
                    <a:moveTo>
                      <a:pt x="142540" y="397764"/>
                    </a:moveTo>
                    <a:lnTo>
                      <a:pt x="0" y="315468"/>
                    </a:lnTo>
                    <a:lnTo>
                      <a:pt x="0" y="0"/>
                    </a:lnTo>
                    <a:lnTo>
                      <a:pt x="142540" y="82296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Freeform 251"/>
              <p:cNvSpPr/>
              <p:nvPr/>
            </p:nvSpPr>
            <p:spPr>
              <a:xfrm>
                <a:off x="12792631" y="4018788"/>
                <a:ext cx="142541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397764">
                    <a:moveTo>
                      <a:pt x="0" y="397764"/>
                    </a:moveTo>
                    <a:lnTo>
                      <a:pt x="142541" y="315468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Freeform 252"/>
              <p:cNvSpPr/>
              <p:nvPr/>
            </p:nvSpPr>
            <p:spPr>
              <a:xfrm>
                <a:off x="12650091" y="3936492"/>
                <a:ext cx="285081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285081" h="164592">
                    <a:moveTo>
                      <a:pt x="142540" y="164592"/>
                    </a:moveTo>
                    <a:lnTo>
                      <a:pt x="285081" y="82296"/>
                    </a:lnTo>
                    <a:lnTo>
                      <a:pt x="14254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4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5" name="Freeform 254"/>
              <p:cNvSpPr/>
              <p:nvPr/>
            </p:nvSpPr>
            <p:spPr>
              <a:xfrm>
                <a:off x="13339038" y="4114800"/>
                <a:ext cx="166298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166298" h="452628">
                    <a:moveTo>
                      <a:pt x="166298" y="452628"/>
                    </a:moveTo>
                    <a:lnTo>
                      <a:pt x="0" y="356616"/>
                    </a:lnTo>
                    <a:lnTo>
                      <a:pt x="0" y="0"/>
                    </a:lnTo>
                    <a:lnTo>
                      <a:pt x="166298" y="96012"/>
                    </a:lnTo>
                    <a:close/>
                  </a:path>
                </a:pathLst>
              </a:custGeom>
              <a:solidFill>
                <a:srgbClr val="7CC5B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Freeform 255"/>
              <p:cNvSpPr/>
              <p:nvPr/>
            </p:nvSpPr>
            <p:spPr>
              <a:xfrm>
                <a:off x="13505336" y="4114800"/>
                <a:ext cx="166297" cy="452628"/>
              </a:xfrm>
              <a:custGeom>
                <a:avLst/>
                <a:gdLst/>
                <a:ahLst/>
                <a:cxnLst/>
                <a:rect l="l" t="t" r="r" b="b"/>
                <a:pathLst>
                  <a:path w="166297" h="452628">
                    <a:moveTo>
                      <a:pt x="0" y="452628"/>
                    </a:moveTo>
                    <a:lnTo>
                      <a:pt x="166297" y="356616"/>
                    </a:lnTo>
                    <a:lnTo>
                      <a:pt x="166297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619A9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Freeform 256"/>
              <p:cNvSpPr/>
              <p:nvPr/>
            </p:nvSpPr>
            <p:spPr>
              <a:xfrm>
                <a:off x="13339038" y="4018788"/>
                <a:ext cx="332595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332595" h="192024">
                    <a:moveTo>
                      <a:pt x="166298" y="192024"/>
                    </a:moveTo>
                    <a:lnTo>
                      <a:pt x="332595" y="96012"/>
                    </a:lnTo>
                    <a:lnTo>
                      <a:pt x="166298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AAD9D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8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9" name="Freeform 258"/>
              <p:cNvSpPr/>
              <p:nvPr/>
            </p:nvSpPr>
            <p:spPr>
              <a:xfrm>
                <a:off x="12840145" y="4251960"/>
                <a:ext cx="190055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29184">
                    <a:moveTo>
                      <a:pt x="190055" y="329184"/>
                    </a:moveTo>
                    <a:lnTo>
                      <a:pt x="0" y="21945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Freeform 259"/>
              <p:cNvSpPr/>
              <p:nvPr/>
            </p:nvSpPr>
            <p:spPr>
              <a:xfrm>
                <a:off x="13030200" y="4251960"/>
                <a:ext cx="190054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29184">
                    <a:moveTo>
                      <a:pt x="0" y="329184"/>
                    </a:moveTo>
                    <a:lnTo>
                      <a:pt x="190054" y="21945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Freeform 260"/>
              <p:cNvSpPr/>
              <p:nvPr/>
            </p:nvSpPr>
            <p:spPr>
              <a:xfrm>
                <a:off x="12840145" y="414223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2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63" name="Freeform 262"/>
              <p:cNvSpPr/>
              <p:nvPr/>
            </p:nvSpPr>
            <p:spPr>
              <a:xfrm>
                <a:off x="12376887" y="4258818"/>
                <a:ext cx="190055" cy="31546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15468">
                    <a:moveTo>
                      <a:pt x="190055" y="315468"/>
                    </a:moveTo>
                    <a:lnTo>
                      <a:pt x="0" y="20574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Freeform 263"/>
              <p:cNvSpPr/>
              <p:nvPr/>
            </p:nvSpPr>
            <p:spPr>
              <a:xfrm>
                <a:off x="12566942" y="4272534"/>
                <a:ext cx="166297" cy="301752"/>
              </a:xfrm>
              <a:custGeom>
                <a:avLst/>
                <a:gdLst/>
                <a:ahLst/>
                <a:cxnLst/>
                <a:rect l="l" t="t" r="r" b="b"/>
                <a:pathLst>
                  <a:path w="166297" h="301752">
                    <a:moveTo>
                      <a:pt x="0" y="301752"/>
                    </a:moveTo>
                    <a:lnTo>
                      <a:pt x="166297" y="205740"/>
                    </a:lnTo>
                    <a:lnTo>
                      <a:pt x="166297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Freeform 264"/>
              <p:cNvSpPr/>
              <p:nvPr/>
            </p:nvSpPr>
            <p:spPr>
              <a:xfrm>
                <a:off x="12376887" y="4162806"/>
                <a:ext cx="356352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356352" h="205740">
                    <a:moveTo>
                      <a:pt x="190055" y="205740"/>
                    </a:moveTo>
                    <a:lnTo>
                      <a:pt x="356352" y="109728"/>
                    </a:lnTo>
                    <a:lnTo>
                      <a:pt x="166298" y="0"/>
                    </a:lnTo>
                    <a:lnTo>
                      <a:pt x="0" y="96012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6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67" name="Freeform 266"/>
              <p:cNvSpPr/>
              <p:nvPr/>
            </p:nvSpPr>
            <p:spPr>
              <a:xfrm>
                <a:off x="13101470" y="4430268"/>
                <a:ext cx="190054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274320">
                    <a:moveTo>
                      <a:pt x="190054" y="274320"/>
                    </a:moveTo>
                    <a:lnTo>
                      <a:pt x="0" y="164592"/>
                    </a:lnTo>
                    <a:lnTo>
                      <a:pt x="0" y="0"/>
                    </a:lnTo>
                    <a:lnTo>
                      <a:pt x="190054" y="109728"/>
                    </a:lnTo>
                    <a:close/>
                  </a:path>
                </a:pathLst>
              </a:custGeom>
              <a:solidFill>
                <a:srgbClr val="A797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reeform 267"/>
              <p:cNvSpPr/>
              <p:nvPr/>
            </p:nvSpPr>
            <p:spPr>
              <a:xfrm>
                <a:off x="13291524" y="4457700"/>
                <a:ext cx="142541" cy="246888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246888">
                    <a:moveTo>
                      <a:pt x="0" y="246888"/>
                    </a:moveTo>
                    <a:lnTo>
                      <a:pt x="142541" y="164592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8276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reeform 268"/>
              <p:cNvSpPr/>
              <p:nvPr/>
            </p:nvSpPr>
            <p:spPr>
              <a:xfrm>
                <a:off x="13101470" y="4347972"/>
                <a:ext cx="332595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332595" h="192024">
                    <a:moveTo>
                      <a:pt x="190054" y="192024"/>
                    </a:moveTo>
                    <a:lnTo>
                      <a:pt x="332595" y="109728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C6BB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0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1" name="Freeform 270"/>
              <p:cNvSpPr/>
              <p:nvPr/>
            </p:nvSpPr>
            <p:spPr>
              <a:xfrm>
                <a:off x="12650091" y="4224528"/>
                <a:ext cx="142540" cy="466344"/>
              </a:xfrm>
              <a:custGeom>
                <a:avLst/>
                <a:gdLst/>
                <a:ahLst/>
                <a:cxnLst/>
                <a:rect l="l" t="t" r="r" b="b"/>
                <a:pathLst>
                  <a:path w="142540" h="466344">
                    <a:moveTo>
                      <a:pt x="142540" y="466344"/>
                    </a:moveTo>
                    <a:lnTo>
                      <a:pt x="0" y="384048"/>
                    </a:lnTo>
                    <a:lnTo>
                      <a:pt x="0" y="0"/>
                    </a:lnTo>
                    <a:lnTo>
                      <a:pt x="142540" y="82296"/>
                    </a:lnTo>
                    <a:close/>
                  </a:path>
                </a:pathLst>
              </a:custGeom>
              <a:solidFill>
                <a:srgbClr val="7CC5B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reeform 271"/>
              <p:cNvSpPr/>
              <p:nvPr/>
            </p:nvSpPr>
            <p:spPr>
              <a:xfrm>
                <a:off x="12792631" y="4224528"/>
                <a:ext cx="142541" cy="466344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466344">
                    <a:moveTo>
                      <a:pt x="0" y="466344"/>
                    </a:moveTo>
                    <a:lnTo>
                      <a:pt x="142541" y="384048"/>
                    </a:lnTo>
                    <a:lnTo>
                      <a:pt x="142541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619A9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reeform 272"/>
              <p:cNvSpPr/>
              <p:nvPr/>
            </p:nvSpPr>
            <p:spPr>
              <a:xfrm>
                <a:off x="12650091" y="4142232"/>
                <a:ext cx="285081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285081" h="164592">
                    <a:moveTo>
                      <a:pt x="142540" y="164592"/>
                    </a:moveTo>
                    <a:lnTo>
                      <a:pt x="285081" y="82296"/>
                    </a:lnTo>
                    <a:lnTo>
                      <a:pt x="14254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AAD9D5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4" name="설비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5" name="Freeform 274"/>
              <p:cNvSpPr/>
              <p:nvPr/>
            </p:nvSpPr>
            <p:spPr>
              <a:xfrm>
                <a:off x="12863902" y="4485132"/>
                <a:ext cx="142541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142541" h="356616">
                    <a:moveTo>
                      <a:pt x="142541" y="356616"/>
                    </a:moveTo>
                    <a:lnTo>
                      <a:pt x="0" y="274320"/>
                    </a:lnTo>
                    <a:lnTo>
                      <a:pt x="0" y="0"/>
                    </a:lnTo>
                    <a:lnTo>
                      <a:pt x="142541" y="82296"/>
                    </a:lnTo>
                    <a:close/>
                  </a:path>
                </a:pathLst>
              </a:custGeom>
              <a:solidFill>
                <a:srgbClr val="8E9DD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reeform 275"/>
              <p:cNvSpPr/>
              <p:nvPr/>
            </p:nvSpPr>
            <p:spPr>
              <a:xfrm>
                <a:off x="13006443" y="4457700"/>
                <a:ext cx="190054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84048">
                    <a:moveTo>
                      <a:pt x="0" y="384048"/>
                    </a:moveTo>
                    <a:lnTo>
                      <a:pt x="190054" y="27432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6F7AA7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Freeform 276"/>
              <p:cNvSpPr/>
              <p:nvPr/>
            </p:nvSpPr>
            <p:spPr>
              <a:xfrm>
                <a:off x="12863902" y="4375404"/>
                <a:ext cx="332595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332595" h="192024">
                    <a:moveTo>
                      <a:pt x="142541" y="192024"/>
                    </a:moveTo>
                    <a:lnTo>
                      <a:pt x="332595" y="8229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6BFE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8" name="TextBox 277"/>
            <p:cNvSpPr txBox="1"/>
            <p:nvPr/>
          </p:nvSpPr>
          <p:spPr>
            <a:xfrm>
              <a:off x="12298680" y="3355848"/>
              <a:ext cx="170535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라인별 모델 혼재</a:t>
              </a:r>
            </a:p>
          </p:txBody>
        </p:sp>
        <p:grpSp>
          <p:nvGrpSpPr>
            <p:cNvPr id="279" name="발주 1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0" name="Freeform 279"/>
              <p:cNvSpPr/>
              <p:nvPr/>
            </p:nvSpPr>
            <p:spPr>
              <a:xfrm>
                <a:off x="13964857" y="4557369"/>
                <a:ext cx="190055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9">
                    <a:moveTo>
                      <a:pt x="190055" y="307239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B4B4B4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Freeform 280"/>
              <p:cNvSpPr/>
              <p:nvPr/>
            </p:nvSpPr>
            <p:spPr>
              <a:xfrm>
                <a:off x="14154912" y="4557369"/>
                <a:ext cx="190054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9">
                    <a:moveTo>
                      <a:pt x="0" y="307239"/>
                    </a:moveTo>
                    <a:lnTo>
                      <a:pt x="190054" y="197511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8C8C8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Freeform 281"/>
              <p:cNvSpPr/>
              <p:nvPr/>
            </p:nvSpPr>
            <p:spPr>
              <a:xfrm>
                <a:off x="13964857" y="4447641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CECECE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3" name="TextBox 282"/>
            <p:cNvSpPr txBox="1"/>
            <p:nvPr/>
          </p:nvSpPr>
          <p:spPr>
            <a:xfrm>
              <a:off x="13903452" y="414223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발주</a:t>
              </a:r>
            </a:p>
          </p:txBody>
        </p:sp>
        <p:sp>
          <p:nvSpPr>
            <p:cNvPr id="284" name="Freeform 283"/>
            <p:cNvSpPr/>
            <p:nvPr/>
          </p:nvSpPr>
          <p:spPr>
            <a:xfrm>
              <a:off x="14493240" y="4242816"/>
              <a:ext cx="420623" cy="256032"/>
            </a:xfrm>
            <a:custGeom>
              <a:avLst/>
              <a:gdLst/>
              <a:ahLst/>
              <a:cxnLst/>
              <a:rect l="l" t="t" r="r" b="b"/>
              <a:pathLst>
                <a:path w="420623" h="256032">
                  <a:moveTo>
                    <a:pt x="0" y="184343"/>
                  </a:moveTo>
                  <a:lnTo>
                    <a:pt x="243961" y="184343"/>
                  </a:lnTo>
                  <a:lnTo>
                    <a:pt x="243961" y="256032"/>
                  </a:lnTo>
                  <a:lnTo>
                    <a:pt x="420623" y="128016"/>
                  </a:lnTo>
                  <a:lnTo>
                    <a:pt x="243961" y="0"/>
                  </a:lnTo>
                  <a:lnTo>
                    <a:pt x="243961" y="71688"/>
                  </a:lnTo>
                  <a:lnTo>
                    <a:pt x="0" y="71688"/>
                  </a:lnTo>
                  <a:close/>
                </a:path>
              </a:pathLst>
            </a:custGeom>
            <a:solidFill>
              <a:srgbClr val="6E56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Freeform 284"/>
            <p:cNvSpPr/>
            <p:nvPr/>
          </p:nvSpPr>
          <p:spPr>
            <a:xfrm>
              <a:off x="14987367" y="4197096"/>
              <a:ext cx="1187841" cy="685800"/>
            </a:xfrm>
            <a:custGeom>
              <a:avLst/>
              <a:gdLst/>
              <a:ahLst/>
              <a:cxnLst/>
              <a:rect l="l" t="t" r="r" b="b"/>
              <a:pathLst>
                <a:path w="1187841" h="685800">
                  <a:moveTo>
                    <a:pt x="475137" y="685800"/>
                  </a:moveTo>
                  <a:lnTo>
                    <a:pt x="1187841" y="274320"/>
                  </a:lnTo>
                  <a:lnTo>
                    <a:pt x="712705" y="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FFFF"/>
            </a:solidFill>
            <a:ln w="10160">
              <a:solidFill>
                <a:srgbClr val="D3CAE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86" name="Connector 285"/>
            <p:cNvCxnSpPr/>
            <p:nvPr/>
          </p:nvCxnSpPr>
          <p:spPr>
            <a:xfrm flipH="1" flipV="1">
              <a:off x="15224935" y="4471416"/>
              <a:ext cx="475137" cy="27432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87" name="Connector 286"/>
            <p:cNvCxnSpPr/>
            <p:nvPr/>
          </p:nvCxnSpPr>
          <p:spPr>
            <a:xfrm flipH="1" flipV="1">
              <a:off x="15462504" y="4334256"/>
              <a:ext cx="475136" cy="27432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cxnSp>
          <p:nvCxnSpPr>
            <p:cNvPr id="288" name="Connector 287"/>
            <p:cNvCxnSpPr/>
            <p:nvPr/>
          </p:nvCxnSpPr>
          <p:spPr>
            <a:xfrm flipV="1">
              <a:off x="15224935" y="4334256"/>
              <a:ext cx="712705" cy="411480"/>
            </a:xfrm>
            <a:prstGeom prst="line">
              <a:avLst/>
            </a:prstGeom>
            <a:ln w="7620">
              <a:solidFill>
                <a:srgbClr val="D9D9D9"/>
              </a:solidFill>
            </a:ln>
          </p:spPr>
        </p:cxnSp>
        <p:grpSp>
          <p:nvGrpSpPr>
            <p:cNvPr id="289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90" name="Freeform 289"/>
              <p:cNvSpPr/>
              <p:nvPr/>
            </p:nvSpPr>
            <p:spPr>
              <a:xfrm>
                <a:off x="15510017" y="404622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Freeform 290"/>
              <p:cNvSpPr/>
              <p:nvPr/>
            </p:nvSpPr>
            <p:spPr>
              <a:xfrm>
                <a:off x="15700072" y="404622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Freeform 291"/>
              <p:cNvSpPr/>
              <p:nvPr/>
            </p:nvSpPr>
            <p:spPr>
              <a:xfrm>
                <a:off x="15510017" y="393649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3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94" name="Freeform 293"/>
              <p:cNvSpPr/>
              <p:nvPr/>
            </p:nvSpPr>
            <p:spPr>
              <a:xfrm>
                <a:off x="15272449" y="418338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Freeform 294"/>
              <p:cNvSpPr/>
              <p:nvPr/>
            </p:nvSpPr>
            <p:spPr>
              <a:xfrm>
                <a:off x="15462504" y="418338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Freeform 295"/>
              <p:cNvSpPr/>
              <p:nvPr/>
            </p:nvSpPr>
            <p:spPr>
              <a:xfrm>
                <a:off x="15272449" y="407365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7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98" name="Freeform 297"/>
              <p:cNvSpPr/>
              <p:nvPr/>
            </p:nvSpPr>
            <p:spPr>
              <a:xfrm>
                <a:off x="15747585" y="418338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Freeform 298"/>
              <p:cNvSpPr/>
              <p:nvPr/>
            </p:nvSpPr>
            <p:spPr>
              <a:xfrm>
                <a:off x="15937640" y="418338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Freeform 299"/>
              <p:cNvSpPr/>
              <p:nvPr/>
            </p:nvSpPr>
            <p:spPr>
              <a:xfrm>
                <a:off x="15747585" y="407365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1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2" name="Freeform 301"/>
              <p:cNvSpPr/>
              <p:nvPr/>
            </p:nvSpPr>
            <p:spPr>
              <a:xfrm>
                <a:off x="15034881" y="432054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190054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4" y="109728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Freeform 302"/>
              <p:cNvSpPr/>
              <p:nvPr/>
            </p:nvSpPr>
            <p:spPr>
              <a:xfrm>
                <a:off x="15224935" y="432054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0" y="397764"/>
                    </a:moveTo>
                    <a:lnTo>
                      <a:pt x="190055" y="288036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Freeform 303"/>
              <p:cNvSpPr/>
              <p:nvPr/>
            </p:nvSpPr>
            <p:spPr>
              <a:xfrm>
                <a:off x="15034881" y="421081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4" y="219456"/>
                    </a:moveTo>
                    <a:lnTo>
                      <a:pt x="380109" y="109728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5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Freeform 305"/>
              <p:cNvSpPr/>
              <p:nvPr/>
            </p:nvSpPr>
            <p:spPr>
              <a:xfrm>
                <a:off x="15510017" y="432054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Freeform 306"/>
              <p:cNvSpPr/>
              <p:nvPr/>
            </p:nvSpPr>
            <p:spPr>
              <a:xfrm>
                <a:off x="15700072" y="432054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Freeform 307"/>
              <p:cNvSpPr/>
              <p:nvPr/>
            </p:nvSpPr>
            <p:spPr>
              <a:xfrm>
                <a:off x="15510017" y="421081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9" name="공용 모델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10" name="Freeform 309"/>
              <p:cNvSpPr/>
              <p:nvPr/>
            </p:nvSpPr>
            <p:spPr>
              <a:xfrm>
                <a:off x="15272449" y="4457700"/>
                <a:ext cx="190055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97764">
                    <a:moveTo>
                      <a:pt x="190055" y="397764"/>
                    </a:moveTo>
                    <a:lnTo>
                      <a:pt x="0" y="288036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6E56B0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Freeform 310"/>
              <p:cNvSpPr/>
              <p:nvPr/>
            </p:nvSpPr>
            <p:spPr>
              <a:xfrm>
                <a:off x="15462504" y="4457700"/>
                <a:ext cx="190054" cy="397764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97764">
                    <a:moveTo>
                      <a:pt x="0" y="397764"/>
                    </a:moveTo>
                    <a:lnTo>
                      <a:pt x="190054" y="288036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564389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Freeform 311"/>
              <p:cNvSpPr/>
              <p:nvPr/>
            </p:nvSpPr>
            <p:spPr>
              <a:xfrm>
                <a:off x="15272449" y="434797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A191CC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3" name="TextBox 312"/>
            <p:cNvSpPr txBox="1"/>
            <p:nvPr/>
          </p:nvSpPr>
          <p:spPr>
            <a:xfrm>
              <a:off x="15005304" y="3355848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공용 모델</a:t>
              </a:r>
            </a:p>
          </p:txBody>
        </p:sp>
        <p:grpSp>
          <p:nvGrpSpPr>
            <p:cNvPr id="314" name="발주 1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15" name="Freeform 314"/>
              <p:cNvSpPr/>
              <p:nvPr/>
            </p:nvSpPr>
            <p:spPr>
              <a:xfrm>
                <a:off x="16534321" y="4557369"/>
                <a:ext cx="190055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9">
                    <a:moveTo>
                      <a:pt x="190055" y="307239"/>
                    </a:moveTo>
                    <a:lnTo>
                      <a:pt x="0" y="197511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E39B2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Freeform 315"/>
              <p:cNvSpPr/>
              <p:nvPr/>
            </p:nvSpPr>
            <p:spPr>
              <a:xfrm>
                <a:off x="16724376" y="4557369"/>
                <a:ext cx="190054" cy="307239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9">
                    <a:moveTo>
                      <a:pt x="0" y="307239"/>
                    </a:moveTo>
                    <a:lnTo>
                      <a:pt x="190054" y="197511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1792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Freeform 316"/>
              <p:cNvSpPr/>
              <p:nvPr/>
            </p:nvSpPr>
            <p:spPr>
              <a:xfrm>
                <a:off x="16534321" y="4447641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EDBE7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8" name="발주 2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19" name="Freeform 318"/>
              <p:cNvSpPr/>
              <p:nvPr/>
            </p:nvSpPr>
            <p:spPr>
              <a:xfrm>
                <a:off x="16534321" y="4348886"/>
                <a:ext cx="190055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8">
                    <a:moveTo>
                      <a:pt x="190055" y="307238"/>
                    </a:moveTo>
                    <a:lnTo>
                      <a:pt x="0" y="19751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E39B2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Freeform 319"/>
              <p:cNvSpPr/>
              <p:nvPr/>
            </p:nvSpPr>
            <p:spPr>
              <a:xfrm>
                <a:off x="16724376" y="4348886"/>
                <a:ext cx="190054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8">
                    <a:moveTo>
                      <a:pt x="0" y="307238"/>
                    </a:moveTo>
                    <a:lnTo>
                      <a:pt x="190054" y="19751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1792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Freeform 320"/>
              <p:cNvSpPr/>
              <p:nvPr/>
            </p:nvSpPr>
            <p:spPr>
              <a:xfrm>
                <a:off x="16534321" y="4239158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EDBE7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22" name="발주 3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3" name="Freeform 322"/>
              <p:cNvSpPr/>
              <p:nvPr/>
            </p:nvSpPr>
            <p:spPr>
              <a:xfrm>
                <a:off x="16534321" y="4140403"/>
                <a:ext cx="190055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8">
                    <a:moveTo>
                      <a:pt x="190055" y="307238"/>
                    </a:moveTo>
                    <a:lnTo>
                      <a:pt x="0" y="19751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E39B2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Freeform 323"/>
              <p:cNvSpPr/>
              <p:nvPr/>
            </p:nvSpPr>
            <p:spPr>
              <a:xfrm>
                <a:off x="16724376" y="4140403"/>
                <a:ext cx="190054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8">
                    <a:moveTo>
                      <a:pt x="0" y="307238"/>
                    </a:moveTo>
                    <a:lnTo>
                      <a:pt x="190054" y="19751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1792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Freeform 324"/>
              <p:cNvSpPr/>
              <p:nvPr/>
            </p:nvSpPr>
            <p:spPr>
              <a:xfrm>
                <a:off x="16534321" y="4030675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EDBE7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26" name="발주 4단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7" name="Freeform 326"/>
              <p:cNvSpPr/>
              <p:nvPr/>
            </p:nvSpPr>
            <p:spPr>
              <a:xfrm>
                <a:off x="16534321" y="3931920"/>
                <a:ext cx="190055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5" h="307238">
                    <a:moveTo>
                      <a:pt x="190055" y="307238"/>
                    </a:moveTo>
                    <a:lnTo>
                      <a:pt x="0" y="197510"/>
                    </a:lnTo>
                    <a:lnTo>
                      <a:pt x="0" y="0"/>
                    </a:lnTo>
                    <a:lnTo>
                      <a:pt x="190055" y="109728"/>
                    </a:lnTo>
                    <a:close/>
                  </a:path>
                </a:pathLst>
              </a:custGeom>
              <a:solidFill>
                <a:srgbClr val="E39B2D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Freeform 327"/>
              <p:cNvSpPr/>
              <p:nvPr/>
            </p:nvSpPr>
            <p:spPr>
              <a:xfrm>
                <a:off x="16724376" y="3931920"/>
                <a:ext cx="190054" cy="307238"/>
              </a:xfrm>
              <a:custGeom>
                <a:avLst/>
                <a:gdLst/>
                <a:ahLst/>
                <a:cxnLst/>
                <a:rect l="l" t="t" r="r" b="b"/>
                <a:pathLst>
                  <a:path w="190054" h="307238">
                    <a:moveTo>
                      <a:pt x="0" y="307238"/>
                    </a:moveTo>
                    <a:lnTo>
                      <a:pt x="190054" y="197510"/>
                    </a:lnTo>
                    <a:lnTo>
                      <a:pt x="190054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B17923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Freeform 328"/>
              <p:cNvSpPr/>
              <p:nvPr/>
            </p:nvSpPr>
            <p:spPr>
              <a:xfrm>
                <a:off x="16534321" y="3822192"/>
                <a:ext cx="380109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380109" h="219456">
                    <a:moveTo>
                      <a:pt x="190055" y="219456"/>
                    </a:moveTo>
                    <a:lnTo>
                      <a:pt x="380109" y="109728"/>
                    </a:lnTo>
                    <a:lnTo>
                      <a:pt x="190055" y="0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EDBE76"/>
              </a:solidFill>
              <a:ln w="762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0" name="TextBox 329"/>
            <p:cNvSpPr txBox="1"/>
            <p:nvPr/>
          </p:nvSpPr>
          <p:spPr>
            <a:xfrm>
              <a:off x="16383762" y="3483864"/>
              <a:ext cx="6812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발주 ↑</a:t>
              </a:r>
            </a:p>
          </p:txBody>
        </p:sp>
      </p:grpSp>
      <p:sp>
        <p:nvSpPr>
          <p:cNvPr id="331" name="Rectangle 330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383" name="Rounded Rectangle 382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2633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6336E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386" name="Rounded Rectangle 385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9ECF8"/>
          </a:solidFill>
          <a:ln w="1270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ound Same Side Corner Rectangle 387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ound Same Side Corner Rectangle 389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ound Same Side Corner Rectangle 391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3F3F1"/>
          </a:solidFill>
          <a:ln w="12700">
            <a:solidFill>
              <a:srgbClr val="1E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ound Same Side Corner Rectangle 395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ound Same Side Corner Rectangle 397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ound Same Side Corner Rectangle 399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36E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415" name="Right Arrow 414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ounded Rectangle 415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418" name="Oval 417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ound Same Side Corner Rectangle 418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ound Same Side Corner Rectangle 420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ound Same Side Corner Rectangle 422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ound Same Side Corner Rectangle 424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Round Same Side Corner Rectangle 426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Round Same Side Corner Rectangle 428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432" name="Rounded Rectangle 431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1E8C8C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434" name="Rounded Rectangle 433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6E56B0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436" name="Up Arrow 435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Up Arrow 436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B86E00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439" name="Connector 438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440" name="Rounded Rectangle 439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5 / 6  시안 5 · 메커니즘 컬러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AEB8E0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</a:t>
            </a:r>
            <a:r>
              <a:rPr sz="2400" b="1">
                <a:solidFill>
                  <a:srgbClr val="F6C46B"/>
                </a:solidFill>
                <a:latin typeface="Arial"/>
                <a:ea typeface="Arial"/>
              </a:rPr>
              <a:t>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grpSp>
        <p:nvGrpSpPr>
          <p:cNvPr id="13" name="그림 1 공간 효율성 (도형)"/>
          <p:cNvGrpSpPr/>
          <p:nvPr/>
        </p:nvGrpSpPr>
        <p:grpSpPr>
          <a:xfrm>
            <a:off x="1216152" y="3355848"/>
            <a:ext cx="4690872" cy="1618488"/>
            <a:chOff x="1216152" y="3355848"/>
            <a:chExt cx="4690872" cy="1618488"/>
          </a:xfrm>
        </p:grpSpPr>
        <p:sp>
          <p:nvSpPr>
            <p:cNvPr id="14" name="TextBox 13"/>
            <p:cNvSpPr txBox="1"/>
            <p:nvPr/>
          </p:nvSpPr>
          <p:spPr>
            <a:xfrm>
              <a:off x="1216152" y="3355848"/>
              <a:ext cx="9098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Fab 분리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14216" y="3355848"/>
              <a:ext cx="17373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Common Platform</a:t>
              </a:r>
            </a:p>
          </p:txBody>
        </p:sp>
        <p:grpSp>
          <p:nvGrpSpPr>
            <p:cNvPr id="16" name="분리 격자"/>
            <p:cNvGrpSpPr/>
            <p:nvPr/>
          </p:nvGrpSpPr>
          <p:grpSpPr>
            <a:xfrm>
              <a:off x="1216152" y="3675888"/>
              <a:ext cx="1865376" cy="914400"/>
              <a:chOff x="1216152" y="3675888"/>
              <a:chExt cx="1865376" cy="91440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216152" y="3675888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1453896" y="3675888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691640" y="3675888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929384" y="3675888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167128" y="3675888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404872" y="3675888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642616" y="3675888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880360" y="3675888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216152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453896" y="3913632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691640" y="3913632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929384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167128" y="3913632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2404872" y="3913632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642616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80360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1216152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145389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69164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929384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2167128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404872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64261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88036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216152" y="4389120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453896" y="4389120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1691640" y="4389120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1929384" y="4389120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2167128" y="4389120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2404872" y="4389120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2642616" y="4389120"/>
                <a:ext cx="201168" cy="201168"/>
              </a:xfrm>
              <a:prstGeom prst="rect">
                <a:avLst/>
              </a:prstGeom>
              <a:solidFill>
                <a:srgbClr val="8E9DD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2880360" y="4389120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9" name="Freeform 48"/>
            <p:cNvSpPr/>
            <p:nvPr/>
          </p:nvSpPr>
          <p:spPr>
            <a:xfrm>
              <a:off x="3209544" y="4096512"/>
              <a:ext cx="566928" cy="274320"/>
            </a:xfrm>
            <a:custGeom>
              <a:avLst/>
              <a:gdLst/>
              <a:ahLst/>
              <a:cxnLst/>
              <a:rect l="l" t="t" r="r" b="b"/>
              <a:pathLst>
                <a:path w="566928" h="274320">
                  <a:moveTo>
                    <a:pt x="0" y="197510"/>
                  </a:moveTo>
                  <a:lnTo>
                    <a:pt x="328818" y="197510"/>
                  </a:lnTo>
                  <a:lnTo>
                    <a:pt x="328818" y="274320"/>
                  </a:lnTo>
                  <a:lnTo>
                    <a:pt x="566928" y="137160"/>
                  </a:lnTo>
                  <a:lnTo>
                    <a:pt x="328818" y="0"/>
                  </a:lnTo>
                  <a:lnTo>
                    <a:pt x="328818" y="76809"/>
                  </a:lnTo>
                  <a:lnTo>
                    <a:pt x="0" y="76809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0" name="통합 격자"/>
            <p:cNvGrpSpPr/>
            <p:nvPr/>
          </p:nvGrpSpPr>
          <p:grpSpPr>
            <a:xfrm>
              <a:off x="4014216" y="3675888"/>
              <a:ext cx="1865376" cy="914400"/>
              <a:chOff x="4014216" y="3675888"/>
              <a:chExt cx="1865376" cy="91440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4014216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251960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4489704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4727448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4965192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5202936" y="3675888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5440680" y="3675888"/>
                <a:ext cx="201168" cy="201168"/>
              </a:xfrm>
              <a:prstGeom prst="rect">
                <a:avLst/>
              </a:prstGeom>
              <a:solidFill>
                <a:srgbClr val="E39B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678424" y="3675888"/>
                <a:ext cx="201168" cy="201168"/>
              </a:xfrm>
              <a:prstGeom prst="rect">
                <a:avLst/>
              </a:prstGeom>
              <a:solidFill>
                <a:srgbClr val="E39B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4014216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4251960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4489704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4727448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4965192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202936" y="3913632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5440680" y="3913632"/>
                <a:ext cx="201168" cy="201168"/>
              </a:xfrm>
              <a:prstGeom prst="rect">
                <a:avLst/>
              </a:prstGeom>
              <a:solidFill>
                <a:srgbClr val="E39B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5678424" y="3913632"/>
                <a:ext cx="201168" cy="201168"/>
              </a:xfrm>
              <a:prstGeom prst="rect">
                <a:avLst/>
              </a:prstGeom>
              <a:pattFill prst="wdUpDiag">
                <a:fgClr>
                  <a:srgbClr val="B4B4B4"/>
                </a:fgClr>
                <a:bgClr>
                  <a:srgbClr val="FFFFFF"/>
                </a:bgClr>
              </a:pattFill>
              <a:ln w="10160">
                <a:solidFill>
                  <a:srgbClr val="B4B4B4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401421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425196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4489704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4727448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4965192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5202936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5440680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5678424" y="4151376"/>
                <a:ext cx="201168" cy="201168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4014216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4251960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4489704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4727448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4965192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5202936" y="4389120"/>
                <a:ext cx="201168" cy="201168"/>
              </a:xfrm>
              <a:prstGeom prst="rect">
                <a:avLst/>
              </a:prstGeom>
              <a:solidFill>
                <a:srgbClr val="3C4FA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5440680" y="4389120"/>
                <a:ext cx="201168" cy="201168"/>
              </a:xfrm>
              <a:prstGeom prst="rect">
                <a:avLst/>
              </a:prstGeom>
              <a:solidFill>
                <a:srgbClr val="E39B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5678424" y="4389120"/>
                <a:ext cx="201168" cy="201168"/>
              </a:xfrm>
              <a:prstGeom prst="rect">
                <a:avLst/>
              </a:prstGeom>
              <a:solidFill>
                <a:srgbClr val="E39B2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3" name="Rectangle 82"/>
            <p:cNvSpPr/>
            <p:nvPr/>
          </p:nvSpPr>
          <p:spPr>
            <a:xfrm>
              <a:off x="3986784" y="3648456"/>
              <a:ext cx="1920240" cy="969264"/>
            </a:xfrm>
            <a:prstGeom prst="rect">
              <a:avLst/>
            </a:prstGeom>
            <a:noFill/>
            <a:ln w="1524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16152" y="4754880"/>
              <a:ext cx="164592" cy="164592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444752" y="470001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설비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901952" y="4754880"/>
              <a:ext cx="164592" cy="164592"/>
            </a:xfrm>
            <a:prstGeom prst="rect">
              <a:avLst/>
            </a:prstGeom>
            <a:solidFill>
              <a:srgbClr val="E39B2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0552" y="4700016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추가 설비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026664" y="4754880"/>
              <a:ext cx="164592" cy="164592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255264" y="4700016"/>
              <a:ext cx="11658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Dead Space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462272" y="4754880"/>
              <a:ext cx="164592" cy="164592"/>
            </a:xfrm>
            <a:prstGeom prst="rect">
              <a:avLst/>
            </a:prstGeom>
            <a:solidFill>
              <a:srgbClr val="E2E2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690872" y="470001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통로</a:t>
              </a:r>
            </a:p>
          </p:txBody>
        </p:sp>
      </p:grpSp>
      <p:sp>
        <p:nvSpPr>
          <p:cNvPr id="92" name="Rectangle 91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E8F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1E8C8C"/>
                </a:solidFill>
                <a:latin typeface="Arial"/>
                <a:ea typeface="Arial"/>
              </a:rPr>
              <a:t>  Market Agility</a:t>
            </a:r>
          </a:p>
        </p:txBody>
      </p:sp>
      <p:grpSp>
        <p:nvGrpSpPr>
          <p:cNvPr id="103" name="그림 2 시황 변화 대응력 (도형)"/>
          <p:cNvGrpSpPr/>
          <p:nvPr/>
        </p:nvGrpSpPr>
        <p:grpSpPr>
          <a:xfrm>
            <a:off x="6766559" y="3392424"/>
            <a:ext cx="4681728" cy="1545336"/>
            <a:chOff x="6766559" y="3392424"/>
            <a:chExt cx="4681728" cy="1545336"/>
          </a:xfrm>
        </p:grpSpPr>
        <p:sp>
          <p:nvSpPr>
            <p:cNvPr id="104" name="Freeform 103"/>
            <p:cNvSpPr/>
            <p:nvPr/>
          </p:nvSpPr>
          <p:spPr>
            <a:xfrm>
              <a:off x="6766559" y="4242816"/>
              <a:ext cx="2743200" cy="658368"/>
            </a:xfrm>
            <a:custGeom>
              <a:avLst/>
              <a:gdLst/>
              <a:ahLst/>
              <a:cxnLst/>
              <a:rect l="l" t="t" r="r" b="b"/>
              <a:pathLst>
                <a:path w="2743200" h="658368">
                  <a:moveTo>
                    <a:pt x="0" y="658368"/>
                  </a:moveTo>
                  <a:lnTo>
                    <a:pt x="0" y="182880"/>
                  </a:lnTo>
                  <a:lnTo>
                    <a:pt x="30480" y="163763"/>
                  </a:lnTo>
                  <a:lnTo>
                    <a:pt x="60960" y="144857"/>
                  </a:lnTo>
                  <a:lnTo>
                    <a:pt x="91441" y="126366"/>
                  </a:lnTo>
                  <a:lnTo>
                    <a:pt x="121921" y="108496"/>
                  </a:lnTo>
                  <a:lnTo>
                    <a:pt x="152401" y="91440"/>
                  </a:lnTo>
                  <a:lnTo>
                    <a:pt x="182881" y="75385"/>
                  </a:lnTo>
                  <a:lnTo>
                    <a:pt x="213361" y="60509"/>
                  </a:lnTo>
                  <a:lnTo>
                    <a:pt x="243840" y="46973"/>
                  </a:lnTo>
                  <a:lnTo>
                    <a:pt x="274320" y="34926"/>
                  </a:lnTo>
                  <a:lnTo>
                    <a:pt x="304801" y="24501"/>
                  </a:lnTo>
                  <a:lnTo>
                    <a:pt x="335281" y="15810"/>
                  </a:lnTo>
                  <a:lnTo>
                    <a:pt x="365761" y="8950"/>
                  </a:lnTo>
                  <a:lnTo>
                    <a:pt x="396241" y="3996"/>
                  </a:lnTo>
                  <a:lnTo>
                    <a:pt x="426721" y="1001"/>
                  </a:lnTo>
                  <a:lnTo>
                    <a:pt x="457200" y="0"/>
                  </a:lnTo>
                  <a:lnTo>
                    <a:pt x="487680" y="1001"/>
                  </a:lnTo>
                  <a:lnTo>
                    <a:pt x="518161" y="3996"/>
                  </a:lnTo>
                  <a:lnTo>
                    <a:pt x="548641" y="8950"/>
                  </a:lnTo>
                  <a:lnTo>
                    <a:pt x="579121" y="15810"/>
                  </a:lnTo>
                  <a:lnTo>
                    <a:pt x="609601" y="24501"/>
                  </a:lnTo>
                  <a:lnTo>
                    <a:pt x="640081" y="34926"/>
                  </a:lnTo>
                  <a:lnTo>
                    <a:pt x="670561" y="46973"/>
                  </a:lnTo>
                  <a:lnTo>
                    <a:pt x="701040" y="60509"/>
                  </a:lnTo>
                  <a:lnTo>
                    <a:pt x="731520" y="75385"/>
                  </a:lnTo>
                  <a:lnTo>
                    <a:pt x="762000" y="91440"/>
                  </a:lnTo>
                  <a:lnTo>
                    <a:pt x="792480" y="108496"/>
                  </a:lnTo>
                  <a:lnTo>
                    <a:pt x="822960" y="126366"/>
                  </a:lnTo>
                  <a:lnTo>
                    <a:pt x="853440" y="144857"/>
                  </a:lnTo>
                  <a:lnTo>
                    <a:pt x="883921" y="163763"/>
                  </a:lnTo>
                  <a:lnTo>
                    <a:pt x="914401" y="182880"/>
                  </a:lnTo>
                  <a:lnTo>
                    <a:pt x="944881" y="201996"/>
                  </a:lnTo>
                  <a:lnTo>
                    <a:pt x="975361" y="220902"/>
                  </a:lnTo>
                  <a:lnTo>
                    <a:pt x="1005841" y="239393"/>
                  </a:lnTo>
                  <a:lnTo>
                    <a:pt x="1036321" y="257263"/>
                  </a:lnTo>
                  <a:lnTo>
                    <a:pt x="1066801" y="274320"/>
                  </a:lnTo>
                  <a:lnTo>
                    <a:pt x="1097281" y="290374"/>
                  </a:lnTo>
                  <a:lnTo>
                    <a:pt x="1127761" y="305250"/>
                  </a:lnTo>
                  <a:lnTo>
                    <a:pt x="1158240" y="318786"/>
                  </a:lnTo>
                  <a:lnTo>
                    <a:pt x="1188720" y="330833"/>
                  </a:lnTo>
                  <a:lnTo>
                    <a:pt x="1219200" y="341258"/>
                  </a:lnTo>
                  <a:lnTo>
                    <a:pt x="1249680" y="349949"/>
                  </a:lnTo>
                  <a:lnTo>
                    <a:pt x="1280160" y="356809"/>
                  </a:lnTo>
                  <a:lnTo>
                    <a:pt x="1310640" y="361763"/>
                  </a:lnTo>
                  <a:lnTo>
                    <a:pt x="1341121" y="364758"/>
                  </a:lnTo>
                  <a:lnTo>
                    <a:pt x="1371601" y="365760"/>
                  </a:lnTo>
                  <a:lnTo>
                    <a:pt x="1402081" y="364758"/>
                  </a:lnTo>
                  <a:lnTo>
                    <a:pt x="1432561" y="361763"/>
                  </a:lnTo>
                  <a:lnTo>
                    <a:pt x="1463041" y="356809"/>
                  </a:lnTo>
                  <a:lnTo>
                    <a:pt x="1493521" y="349949"/>
                  </a:lnTo>
                  <a:lnTo>
                    <a:pt x="1524001" y="341258"/>
                  </a:lnTo>
                  <a:lnTo>
                    <a:pt x="1554481" y="330833"/>
                  </a:lnTo>
                  <a:lnTo>
                    <a:pt x="1584961" y="318786"/>
                  </a:lnTo>
                  <a:lnTo>
                    <a:pt x="1615440" y="305250"/>
                  </a:lnTo>
                  <a:lnTo>
                    <a:pt x="1645921" y="290374"/>
                  </a:lnTo>
                  <a:lnTo>
                    <a:pt x="1676401" y="274320"/>
                  </a:lnTo>
                  <a:lnTo>
                    <a:pt x="1706881" y="257263"/>
                  </a:lnTo>
                  <a:lnTo>
                    <a:pt x="1737360" y="239393"/>
                  </a:lnTo>
                  <a:lnTo>
                    <a:pt x="1767841" y="220902"/>
                  </a:lnTo>
                  <a:lnTo>
                    <a:pt x="1798321" y="201996"/>
                  </a:lnTo>
                  <a:lnTo>
                    <a:pt x="1828800" y="182880"/>
                  </a:lnTo>
                  <a:lnTo>
                    <a:pt x="1859281" y="163763"/>
                  </a:lnTo>
                  <a:lnTo>
                    <a:pt x="1889760" y="144857"/>
                  </a:lnTo>
                  <a:lnTo>
                    <a:pt x="1920241" y="126366"/>
                  </a:lnTo>
                  <a:lnTo>
                    <a:pt x="1950721" y="108496"/>
                  </a:lnTo>
                  <a:lnTo>
                    <a:pt x="1981201" y="91440"/>
                  </a:lnTo>
                  <a:lnTo>
                    <a:pt x="2011681" y="75385"/>
                  </a:lnTo>
                  <a:lnTo>
                    <a:pt x="2042161" y="60509"/>
                  </a:lnTo>
                  <a:lnTo>
                    <a:pt x="2072641" y="46973"/>
                  </a:lnTo>
                  <a:lnTo>
                    <a:pt x="2103121" y="34926"/>
                  </a:lnTo>
                  <a:lnTo>
                    <a:pt x="2133601" y="24501"/>
                  </a:lnTo>
                  <a:lnTo>
                    <a:pt x="2164081" y="15810"/>
                  </a:lnTo>
                  <a:lnTo>
                    <a:pt x="2194561" y="8950"/>
                  </a:lnTo>
                  <a:lnTo>
                    <a:pt x="2225040" y="3996"/>
                  </a:lnTo>
                  <a:lnTo>
                    <a:pt x="2255521" y="1001"/>
                  </a:lnTo>
                  <a:lnTo>
                    <a:pt x="2286000" y="0"/>
                  </a:lnTo>
                  <a:lnTo>
                    <a:pt x="2316481" y="1001"/>
                  </a:lnTo>
                  <a:lnTo>
                    <a:pt x="2346961" y="3996"/>
                  </a:lnTo>
                  <a:lnTo>
                    <a:pt x="2377441" y="8950"/>
                  </a:lnTo>
                  <a:lnTo>
                    <a:pt x="2407921" y="15810"/>
                  </a:lnTo>
                  <a:lnTo>
                    <a:pt x="2438401" y="24501"/>
                  </a:lnTo>
                  <a:lnTo>
                    <a:pt x="2468881" y="34926"/>
                  </a:lnTo>
                  <a:lnTo>
                    <a:pt x="2499361" y="46973"/>
                  </a:lnTo>
                  <a:lnTo>
                    <a:pt x="2529841" y="60509"/>
                  </a:lnTo>
                  <a:lnTo>
                    <a:pt x="2560321" y="75385"/>
                  </a:lnTo>
                  <a:lnTo>
                    <a:pt x="2590801" y="91440"/>
                  </a:lnTo>
                  <a:lnTo>
                    <a:pt x="2621281" y="108496"/>
                  </a:lnTo>
                  <a:lnTo>
                    <a:pt x="2651760" y="126366"/>
                  </a:lnTo>
                  <a:lnTo>
                    <a:pt x="2682240" y="144857"/>
                  </a:lnTo>
                  <a:lnTo>
                    <a:pt x="2712721" y="163763"/>
                  </a:lnTo>
                  <a:lnTo>
                    <a:pt x="2743200" y="182880"/>
                  </a:lnTo>
                  <a:lnTo>
                    <a:pt x="2743200" y="658368"/>
                  </a:lnTo>
                  <a:close/>
                </a:path>
              </a:pathLst>
            </a:cu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6766559" y="3927325"/>
              <a:ext cx="2743200" cy="681251"/>
            </a:xfrm>
            <a:custGeom>
              <a:avLst/>
              <a:gdLst/>
              <a:ahLst/>
              <a:cxnLst/>
              <a:rect l="l" t="t" r="r" b="b"/>
              <a:pathLst>
                <a:path w="2743200" h="681251">
                  <a:moveTo>
                    <a:pt x="0" y="498371"/>
                  </a:moveTo>
                  <a:lnTo>
                    <a:pt x="30480" y="479254"/>
                  </a:lnTo>
                  <a:lnTo>
                    <a:pt x="60960" y="460348"/>
                  </a:lnTo>
                  <a:lnTo>
                    <a:pt x="91441" y="441857"/>
                  </a:lnTo>
                  <a:lnTo>
                    <a:pt x="121921" y="423987"/>
                  </a:lnTo>
                  <a:lnTo>
                    <a:pt x="152401" y="406931"/>
                  </a:lnTo>
                  <a:lnTo>
                    <a:pt x="182881" y="390876"/>
                  </a:lnTo>
                  <a:lnTo>
                    <a:pt x="213361" y="376000"/>
                  </a:lnTo>
                  <a:lnTo>
                    <a:pt x="243840" y="362464"/>
                  </a:lnTo>
                  <a:lnTo>
                    <a:pt x="274320" y="350417"/>
                  </a:lnTo>
                  <a:lnTo>
                    <a:pt x="304801" y="339992"/>
                  </a:lnTo>
                  <a:lnTo>
                    <a:pt x="335281" y="331301"/>
                  </a:lnTo>
                  <a:lnTo>
                    <a:pt x="365761" y="324441"/>
                  </a:lnTo>
                  <a:lnTo>
                    <a:pt x="396241" y="319487"/>
                  </a:lnTo>
                  <a:lnTo>
                    <a:pt x="426721" y="316492"/>
                  </a:lnTo>
                  <a:lnTo>
                    <a:pt x="457200" y="315491"/>
                  </a:lnTo>
                  <a:lnTo>
                    <a:pt x="487680" y="316492"/>
                  </a:lnTo>
                  <a:lnTo>
                    <a:pt x="518161" y="319487"/>
                  </a:lnTo>
                  <a:lnTo>
                    <a:pt x="548641" y="324441"/>
                  </a:lnTo>
                  <a:lnTo>
                    <a:pt x="579121" y="331301"/>
                  </a:lnTo>
                  <a:lnTo>
                    <a:pt x="609601" y="339992"/>
                  </a:lnTo>
                  <a:lnTo>
                    <a:pt x="640081" y="350417"/>
                  </a:lnTo>
                  <a:lnTo>
                    <a:pt x="670561" y="362464"/>
                  </a:lnTo>
                  <a:lnTo>
                    <a:pt x="701040" y="376000"/>
                  </a:lnTo>
                  <a:lnTo>
                    <a:pt x="731520" y="390876"/>
                  </a:lnTo>
                  <a:lnTo>
                    <a:pt x="762000" y="406931"/>
                  </a:lnTo>
                  <a:lnTo>
                    <a:pt x="792480" y="423987"/>
                  </a:lnTo>
                  <a:lnTo>
                    <a:pt x="822960" y="441857"/>
                  </a:lnTo>
                  <a:lnTo>
                    <a:pt x="853440" y="460348"/>
                  </a:lnTo>
                  <a:lnTo>
                    <a:pt x="883921" y="479254"/>
                  </a:lnTo>
                  <a:lnTo>
                    <a:pt x="914401" y="498371"/>
                  </a:lnTo>
                  <a:lnTo>
                    <a:pt x="944881" y="517487"/>
                  </a:lnTo>
                  <a:lnTo>
                    <a:pt x="975361" y="536393"/>
                  </a:lnTo>
                  <a:lnTo>
                    <a:pt x="1005841" y="554884"/>
                  </a:lnTo>
                  <a:lnTo>
                    <a:pt x="1036321" y="572754"/>
                  </a:lnTo>
                  <a:lnTo>
                    <a:pt x="1066801" y="589811"/>
                  </a:lnTo>
                  <a:lnTo>
                    <a:pt x="1097281" y="605865"/>
                  </a:lnTo>
                  <a:lnTo>
                    <a:pt x="1127761" y="620741"/>
                  </a:lnTo>
                  <a:lnTo>
                    <a:pt x="1158240" y="634277"/>
                  </a:lnTo>
                  <a:lnTo>
                    <a:pt x="1188720" y="646324"/>
                  </a:lnTo>
                  <a:lnTo>
                    <a:pt x="1219200" y="656749"/>
                  </a:lnTo>
                  <a:lnTo>
                    <a:pt x="1249680" y="665440"/>
                  </a:lnTo>
                  <a:lnTo>
                    <a:pt x="1280160" y="672300"/>
                  </a:lnTo>
                  <a:lnTo>
                    <a:pt x="1310640" y="677254"/>
                  </a:lnTo>
                  <a:lnTo>
                    <a:pt x="1341121" y="680249"/>
                  </a:lnTo>
                  <a:lnTo>
                    <a:pt x="1371601" y="681251"/>
                  </a:lnTo>
                  <a:lnTo>
                    <a:pt x="1402081" y="680249"/>
                  </a:lnTo>
                  <a:lnTo>
                    <a:pt x="1432561" y="677254"/>
                  </a:lnTo>
                  <a:lnTo>
                    <a:pt x="1463041" y="672300"/>
                  </a:lnTo>
                  <a:lnTo>
                    <a:pt x="1493521" y="665440"/>
                  </a:lnTo>
                  <a:lnTo>
                    <a:pt x="1524001" y="656749"/>
                  </a:lnTo>
                  <a:lnTo>
                    <a:pt x="1554481" y="646324"/>
                  </a:lnTo>
                  <a:lnTo>
                    <a:pt x="1584961" y="634277"/>
                  </a:lnTo>
                  <a:lnTo>
                    <a:pt x="1615440" y="620741"/>
                  </a:lnTo>
                  <a:lnTo>
                    <a:pt x="1645921" y="605865"/>
                  </a:lnTo>
                  <a:lnTo>
                    <a:pt x="1676401" y="589811"/>
                  </a:lnTo>
                  <a:lnTo>
                    <a:pt x="1706881" y="572754"/>
                  </a:lnTo>
                  <a:lnTo>
                    <a:pt x="1737360" y="554884"/>
                  </a:lnTo>
                  <a:lnTo>
                    <a:pt x="1767841" y="536393"/>
                  </a:lnTo>
                  <a:lnTo>
                    <a:pt x="1798321" y="517487"/>
                  </a:lnTo>
                  <a:lnTo>
                    <a:pt x="1828800" y="498371"/>
                  </a:lnTo>
                  <a:lnTo>
                    <a:pt x="1859281" y="479254"/>
                  </a:lnTo>
                  <a:lnTo>
                    <a:pt x="1889760" y="460348"/>
                  </a:lnTo>
                  <a:lnTo>
                    <a:pt x="1920241" y="441857"/>
                  </a:lnTo>
                  <a:lnTo>
                    <a:pt x="1950721" y="423987"/>
                  </a:lnTo>
                  <a:lnTo>
                    <a:pt x="1981201" y="406931"/>
                  </a:lnTo>
                  <a:lnTo>
                    <a:pt x="2011681" y="390876"/>
                  </a:lnTo>
                  <a:lnTo>
                    <a:pt x="2042161" y="376000"/>
                  </a:lnTo>
                  <a:lnTo>
                    <a:pt x="2072641" y="362464"/>
                  </a:lnTo>
                  <a:lnTo>
                    <a:pt x="2103121" y="350417"/>
                  </a:lnTo>
                  <a:lnTo>
                    <a:pt x="2133601" y="339992"/>
                  </a:lnTo>
                  <a:lnTo>
                    <a:pt x="2164081" y="331301"/>
                  </a:lnTo>
                  <a:lnTo>
                    <a:pt x="2194561" y="324441"/>
                  </a:lnTo>
                  <a:lnTo>
                    <a:pt x="2225040" y="319487"/>
                  </a:lnTo>
                  <a:lnTo>
                    <a:pt x="2255521" y="316492"/>
                  </a:lnTo>
                  <a:lnTo>
                    <a:pt x="2286000" y="315491"/>
                  </a:lnTo>
                  <a:lnTo>
                    <a:pt x="2316481" y="316492"/>
                  </a:lnTo>
                  <a:lnTo>
                    <a:pt x="2346961" y="319487"/>
                  </a:lnTo>
                  <a:lnTo>
                    <a:pt x="2377441" y="324441"/>
                  </a:lnTo>
                  <a:lnTo>
                    <a:pt x="2407921" y="331301"/>
                  </a:lnTo>
                  <a:lnTo>
                    <a:pt x="2438401" y="339992"/>
                  </a:lnTo>
                  <a:lnTo>
                    <a:pt x="2468881" y="350417"/>
                  </a:lnTo>
                  <a:lnTo>
                    <a:pt x="2499361" y="362464"/>
                  </a:lnTo>
                  <a:lnTo>
                    <a:pt x="2529841" y="376000"/>
                  </a:lnTo>
                  <a:lnTo>
                    <a:pt x="2560321" y="390876"/>
                  </a:lnTo>
                  <a:lnTo>
                    <a:pt x="2590801" y="406931"/>
                  </a:lnTo>
                  <a:lnTo>
                    <a:pt x="2621281" y="423987"/>
                  </a:lnTo>
                  <a:lnTo>
                    <a:pt x="2651760" y="441857"/>
                  </a:lnTo>
                  <a:lnTo>
                    <a:pt x="2682240" y="460348"/>
                  </a:lnTo>
                  <a:lnTo>
                    <a:pt x="2712721" y="479254"/>
                  </a:lnTo>
                  <a:lnTo>
                    <a:pt x="2743200" y="498371"/>
                  </a:lnTo>
                  <a:lnTo>
                    <a:pt x="2743200" y="107495"/>
                  </a:lnTo>
                  <a:lnTo>
                    <a:pt x="2712721" y="103569"/>
                  </a:lnTo>
                  <a:lnTo>
                    <a:pt x="2682240" y="99160"/>
                  </a:lnTo>
                  <a:lnTo>
                    <a:pt x="2651760" y="94316"/>
                  </a:lnTo>
                  <a:lnTo>
                    <a:pt x="2621281" y="89090"/>
                  </a:lnTo>
                  <a:lnTo>
                    <a:pt x="2590801" y="83539"/>
                  </a:lnTo>
                  <a:lnTo>
                    <a:pt x="2560321" y="77724"/>
                  </a:lnTo>
                  <a:lnTo>
                    <a:pt x="2529841" y="71710"/>
                  </a:lnTo>
                  <a:lnTo>
                    <a:pt x="2499361" y="65561"/>
                  </a:lnTo>
                  <a:lnTo>
                    <a:pt x="2468881" y="59345"/>
                  </a:lnTo>
                  <a:lnTo>
                    <a:pt x="2438401" y="53131"/>
                  </a:lnTo>
                  <a:lnTo>
                    <a:pt x="2407921" y="46986"/>
                  </a:lnTo>
                  <a:lnTo>
                    <a:pt x="2377441" y="40977"/>
                  </a:lnTo>
                  <a:lnTo>
                    <a:pt x="2346961" y="35171"/>
                  </a:lnTo>
                  <a:lnTo>
                    <a:pt x="2316481" y="29631"/>
                  </a:lnTo>
                  <a:lnTo>
                    <a:pt x="2286000" y="24418"/>
                  </a:lnTo>
                  <a:lnTo>
                    <a:pt x="2255521" y="19589"/>
                  </a:lnTo>
                  <a:lnTo>
                    <a:pt x="2225040" y="15197"/>
                  </a:lnTo>
                  <a:lnTo>
                    <a:pt x="2194561" y="11289"/>
                  </a:lnTo>
                  <a:lnTo>
                    <a:pt x="2164081" y="7910"/>
                  </a:lnTo>
                  <a:lnTo>
                    <a:pt x="2133601" y="5095"/>
                  </a:lnTo>
                  <a:lnTo>
                    <a:pt x="2103121" y="2876"/>
                  </a:lnTo>
                  <a:lnTo>
                    <a:pt x="2072641" y="1276"/>
                  </a:lnTo>
                  <a:lnTo>
                    <a:pt x="2042161" y="314"/>
                  </a:lnTo>
                  <a:lnTo>
                    <a:pt x="2011681" y="0"/>
                  </a:lnTo>
                  <a:lnTo>
                    <a:pt x="1981201" y="338"/>
                  </a:lnTo>
                  <a:lnTo>
                    <a:pt x="1950721" y="1323"/>
                  </a:lnTo>
                  <a:lnTo>
                    <a:pt x="1920241" y="2945"/>
                  </a:lnTo>
                  <a:lnTo>
                    <a:pt x="1889760" y="5187"/>
                  </a:lnTo>
                  <a:lnTo>
                    <a:pt x="1859281" y="8023"/>
                  </a:lnTo>
                  <a:lnTo>
                    <a:pt x="1828800" y="11422"/>
                  </a:lnTo>
                  <a:lnTo>
                    <a:pt x="1798321" y="15348"/>
                  </a:lnTo>
                  <a:lnTo>
                    <a:pt x="1767841" y="19757"/>
                  </a:lnTo>
                  <a:lnTo>
                    <a:pt x="1737360" y="24601"/>
                  </a:lnTo>
                  <a:lnTo>
                    <a:pt x="1706881" y="29827"/>
                  </a:lnTo>
                  <a:lnTo>
                    <a:pt x="1676401" y="35378"/>
                  </a:lnTo>
                  <a:lnTo>
                    <a:pt x="1645921" y="41193"/>
                  </a:lnTo>
                  <a:lnTo>
                    <a:pt x="1615440" y="47207"/>
                  </a:lnTo>
                  <a:lnTo>
                    <a:pt x="1584961" y="53356"/>
                  </a:lnTo>
                  <a:lnTo>
                    <a:pt x="1554481" y="59572"/>
                  </a:lnTo>
                  <a:lnTo>
                    <a:pt x="1524001" y="65786"/>
                  </a:lnTo>
                  <a:lnTo>
                    <a:pt x="1493521" y="71931"/>
                  </a:lnTo>
                  <a:lnTo>
                    <a:pt x="1463041" y="77940"/>
                  </a:lnTo>
                  <a:lnTo>
                    <a:pt x="1432561" y="83746"/>
                  </a:lnTo>
                  <a:lnTo>
                    <a:pt x="1402081" y="89286"/>
                  </a:lnTo>
                  <a:lnTo>
                    <a:pt x="1371601" y="94499"/>
                  </a:lnTo>
                  <a:lnTo>
                    <a:pt x="1341121" y="99328"/>
                  </a:lnTo>
                  <a:lnTo>
                    <a:pt x="1310640" y="103720"/>
                  </a:lnTo>
                  <a:lnTo>
                    <a:pt x="1280160" y="107628"/>
                  </a:lnTo>
                  <a:lnTo>
                    <a:pt x="1249680" y="111007"/>
                  </a:lnTo>
                  <a:lnTo>
                    <a:pt x="1219200" y="113822"/>
                  </a:lnTo>
                  <a:lnTo>
                    <a:pt x="1188720" y="116041"/>
                  </a:lnTo>
                  <a:lnTo>
                    <a:pt x="1158240" y="117641"/>
                  </a:lnTo>
                  <a:lnTo>
                    <a:pt x="1127761" y="118603"/>
                  </a:lnTo>
                  <a:lnTo>
                    <a:pt x="1097281" y="118917"/>
                  </a:lnTo>
                  <a:lnTo>
                    <a:pt x="1066801" y="118579"/>
                  </a:lnTo>
                  <a:lnTo>
                    <a:pt x="1036321" y="117594"/>
                  </a:lnTo>
                  <a:lnTo>
                    <a:pt x="1005841" y="115972"/>
                  </a:lnTo>
                  <a:lnTo>
                    <a:pt x="975361" y="113730"/>
                  </a:lnTo>
                  <a:lnTo>
                    <a:pt x="944881" y="110894"/>
                  </a:lnTo>
                  <a:lnTo>
                    <a:pt x="914401" y="107495"/>
                  </a:lnTo>
                  <a:lnTo>
                    <a:pt x="883921" y="103569"/>
                  </a:lnTo>
                  <a:lnTo>
                    <a:pt x="853440" y="99160"/>
                  </a:lnTo>
                  <a:lnTo>
                    <a:pt x="822960" y="94316"/>
                  </a:lnTo>
                  <a:lnTo>
                    <a:pt x="792480" y="89090"/>
                  </a:lnTo>
                  <a:lnTo>
                    <a:pt x="762000" y="83539"/>
                  </a:lnTo>
                  <a:lnTo>
                    <a:pt x="731520" y="77724"/>
                  </a:lnTo>
                  <a:lnTo>
                    <a:pt x="701040" y="71710"/>
                  </a:lnTo>
                  <a:lnTo>
                    <a:pt x="670561" y="65561"/>
                  </a:lnTo>
                  <a:lnTo>
                    <a:pt x="640081" y="59345"/>
                  </a:lnTo>
                  <a:lnTo>
                    <a:pt x="609601" y="53131"/>
                  </a:lnTo>
                  <a:lnTo>
                    <a:pt x="579121" y="46986"/>
                  </a:lnTo>
                  <a:lnTo>
                    <a:pt x="548641" y="40977"/>
                  </a:lnTo>
                  <a:lnTo>
                    <a:pt x="518161" y="35171"/>
                  </a:lnTo>
                  <a:lnTo>
                    <a:pt x="487680" y="29631"/>
                  </a:lnTo>
                  <a:lnTo>
                    <a:pt x="457200" y="24418"/>
                  </a:lnTo>
                  <a:lnTo>
                    <a:pt x="426721" y="19589"/>
                  </a:lnTo>
                  <a:lnTo>
                    <a:pt x="396241" y="15197"/>
                  </a:lnTo>
                  <a:lnTo>
                    <a:pt x="365761" y="11289"/>
                  </a:lnTo>
                  <a:lnTo>
                    <a:pt x="335281" y="7910"/>
                  </a:lnTo>
                  <a:lnTo>
                    <a:pt x="304801" y="5095"/>
                  </a:lnTo>
                  <a:lnTo>
                    <a:pt x="274320" y="2876"/>
                  </a:lnTo>
                  <a:lnTo>
                    <a:pt x="243840" y="1276"/>
                  </a:lnTo>
                  <a:lnTo>
                    <a:pt x="213361" y="314"/>
                  </a:lnTo>
                  <a:lnTo>
                    <a:pt x="182881" y="0"/>
                  </a:lnTo>
                  <a:lnTo>
                    <a:pt x="152401" y="338"/>
                  </a:lnTo>
                  <a:lnTo>
                    <a:pt x="121921" y="1323"/>
                  </a:lnTo>
                  <a:lnTo>
                    <a:pt x="91441" y="2945"/>
                  </a:lnTo>
                  <a:lnTo>
                    <a:pt x="60960" y="5187"/>
                  </a:lnTo>
                  <a:lnTo>
                    <a:pt x="30480" y="8023"/>
                  </a:lnTo>
                  <a:lnTo>
                    <a:pt x="0" y="11422"/>
                  </a:lnTo>
                  <a:close/>
                </a:path>
              </a:pathLst>
            </a:cu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6766559" y="3648456"/>
              <a:ext cx="2743200" cy="0"/>
            </a:xfrm>
            <a:prstGeom prst="line">
              <a:avLst/>
            </a:prstGeom>
            <a:ln w="25400">
              <a:solidFill>
                <a:srgbClr val="8A8A8A"/>
              </a:solidFill>
              <a:prstDash val="dash"/>
            </a:ln>
          </p:spPr>
        </p:cxnSp>
        <p:cxnSp>
          <p:nvCxnSpPr>
            <p:cNvPr id="107" name="Connector 106"/>
            <p:cNvCxnSpPr/>
            <p:nvPr/>
          </p:nvCxnSpPr>
          <p:spPr>
            <a:xfrm>
              <a:off x="6766559" y="3927325"/>
              <a:ext cx="2743200" cy="0"/>
            </a:xfrm>
            <a:prstGeom prst="line">
              <a:avLst/>
            </a:prstGeom>
            <a:ln w="30480">
              <a:solidFill>
                <a:srgbClr val="26336E"/>
              </a:solidFill>
            </a:ln>
          </p:spPr>
        </p:cxnSp>
        <p:cxnSp>
          <p:nvCxnSpPr>
            <p:cNvPr id="108" name="Connector 107"/>
            <p:cNvCxnSpPr/>
            <p:nvPr/>
          </p:nvCxnSpPr>
          <p:spPr>
            <a:xfrm>
              <a:off x="6766559" y="4901184"/>
              <a:ext cx="2743200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09" name="TextBox 108"/>
            <p:cNvSpPr txBox="1"/>
            <p:nvPr/>
          </p:nvSpPr>
          <p:spPr>
            <a:xfrm>
              <a:off x="6784848" y="3392424"/>
              <a:ext cx="1769364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 시 필요 설비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784848" y="3680437"/>
              <a:ext cx="1769364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26336E"/>
                  </a:solidFill>
                  <a:latin typeface="Arial"/>
                  <a:ea typeface="Arial"/>
                </a:rPr>
                <a:t>통합 시 필요 설비</a:t>
              </a:r>
            </a:p>
          </p:txBody>
        </p:sp>
        <p:cxnSp>
          <p:nvCxnSpPr>
            <p:cNvPr id="111" name="Connector 110"/>
            <p:cNvCxnSpPr/>
            <p:nvPr/>
          </p:nvCxnSpPr>
          <p:spPr>
            <a:xfrm>
              <a:off x="9400032" y="3657600"/>
              <a:ext cx="0" cy="251437"/>
            </a:xfrm>
            <a:prstGeom prst="line">
              <a:avLst/>
            </a:prstGeom>
            <a:ln w="20320">
              <a:solidFill>
                <a:srgbClr val="B86E00"/>
              </a:solidFill>
              <a:headEnd type="triangle" w="med" len="med"/>
              <a:tailEnd type="triangle" w="med" len="med"/>
            </a:ln>
          </p:spPr>
        </p:cxnSp>
        <p:sp>
          <p:nvSpPr>
            <p:cNvPr id="112" name="TextBox 111"/>
            <p:cNvSpPr txBox="1"/>
            <p:nvPr/>
          </p:nvSpPr>
          <p:spPr>
            <a:xfrm>
              <a:off x="8627363" y="3641586"/>
              <a:ext cx="6812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유휴 ↓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132320" y="456285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8183879" y="3959352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46B6B"/>
                  </a:solidFill>
                  <a:latin typeface="Arial"/>
                  <a:ea typeface="Arial"/>
                </a:rPr>
                <a:t>NAND</a:t>
              </a:r>
            </a:p>
          </p:txBody>
        </p:sp>
        <p:cxnSp>
          <p:nvCxnSpPr>
            <p:cNvPr id="115" name="Connector 114"/>
            <p:cNvCxnSpPr/>
            <p:nvPr/>
          </p:nvCxnSpPr>
          <p:spPr>
            <a:xfrm flipV="1">
              <a:off x="9628632" y="3419856"/>
              <a:ext cx="0" cy="1517904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16" name="TextBox 115"/>
            <p:cNvSpPr txBox="1"/>
            <p:nvPr/>
          </p:nvSpPr>
          <p:spPr>
            <a:xfrm>
              <a:off x="9738359" y="3410712"/>
              <a:ext cx="149047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설비 전환 시간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738359" y="368503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213848" y="3749040"/>
              <a:ext cx="1188720" cy="146304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738359" y="3904488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0213848" y="3968496"/>
              <a:ext cx="411480" cy="146304"/>
            </a:xfrm>
            <a:prstGeom prst="rect">
              <a:avLst/>
            </a:prstGeom>
            <a:solidFill>
              <a:srgbClr val="E39B2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738359" y="4105656"/>
              <a:ext cx="17099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Bottleneck 대기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738359" y="4379976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213848" y="4443984"/>
              <a:ext cx="1188720" cy="146304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9738359" y="459943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0213848" y="4663440"/>
              <a:ext cx="411480" cy="146304"/>
            </a:xfrm>
            <a:prstGeom prst="rect">
              <a:avLst/>
            </a:prstGeom>
            <a:solidFill>
              <a:srgbClr val="E39B2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6" name="Rectangle 125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1EE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6E56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6E56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6E56B0"/>
                </a:solidFill>
                <a:latin typeface="Arial"/>
                <a:ea typeface="Arial"/>
              </a:rPr>
              <a:t>  Equipment Unif.</a:t>
            </a:r>
          </a:p>
        </p:txBody>
      </p:sp>
      <p:grpSp>
        <p:nvGrpSpPr>
          <p:cNvPr id="137" name="그림 3 설비 통일성 (도형)"/>
          <p:cNvGrpSpPr/>
          <p:nvPr/>
        </p:nvGrpSpPr>
        <p:grpSpPr>
          <a:xfrm>
            <a:off x="12326112" y="3355848"/>
            <a:ext cx="5056631" cy="1655064"/>
            <a:chOff x="12326112" y="3355848"/>
            <a:chExt cx="5056631" cy="1655064"/>
          </a:xfrm>
        </p:grpSpPr>
        <p:sp>
          <p:nvSpPr>
            <p:cNvPr id="138" name="TextBox 137"/>
            <p:cNvSpPr txBox="1"/>
            <p:nvPr/>
          </p:nvSpPr>
          <p:spPr>
            <a:xfrm>
              <a:off x="12326112" y="3355848"/>
              <a:ext cx="127558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설비 모델 수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3121640" y="4636008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3121640" y="4517136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3121640" y="4398264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3121640" y="4279392"/>
              <a:ext cx="475488" cy="100584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3121640" y="4160520"/>
              <a:ext cx="475488" cy="100584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13121640" y="4041648"/>
              <a:ext cx="475488" cy="100584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3121640" y="3922776"/>
              <a:ext cx="475488" cy="100584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13121640" y="3803904"/>
              <a:ext cx="475488" cy="100584"/>
            </a:xfrm>
            <a:prstGeom prst="rect">
              <a:avLst/>
            </a:prstGeom>
            <a:solidFill>
              <a:srgbClr val="7CC5B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98296" y="4636008"/>
              <a:ext cx="475488" cy="100584"/>
            </a:xfrm>
            <a:prstGeom prst="rect">
              <a:avLst/>
            </a:prstGeom>
            <a:solidFill>
              <a:srgbClr val="6E56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98296" y="4517136"/>
              <a:ext cx="475488" cy="100584"/>
            </a:xfrm>
            <a:prstGeom prst="rect">
              <a:avLst/>
            </a:prstGeom>
            <a:solidFill>
              <a:srgbClr val="6E56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98296" y="4398264"/>
              <a:ext cx="475488" cy="100584"/>
            </a:xfrm>
            <a:prstGeom prst="rect">
              <a:avLst/>
            </a:prstGeom>
            <a:solidFill>
              <a:srgbClr val="6E56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2518136" y="436168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2518136" y="3886200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3935170" y="4079367"/>
              <a:ext cx="201739" cy="30860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800" b="1">
                  <a:solidFill>
                    <a:srgbClr val="6E56B0"/>
                  </a:solidFill>
                  <a:latin typeface="Arial"/>
                  <a:ea typeface="Arial"/>
                </a:rPr>
                <a:t>↓</a:t>
              </a:r>
            </a:p>
          </p:txBody>
        </p:sp>
        <p:cxnSp>
          <p:nvCxnSpPr>
            <p:cNvPr id="153" name="Connector 152"/>
            <p:cNvCxnSpPr/>
            <p:nvPr/>
          </p:nvCxnSpPr>
          <p:spPr>
            <a:xfrm>
              <a:off x="12417552" y="4736592"/>
              <a:ext cx="1828800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54" name="TextBox 153"/>
            <p:cNvSpPr txBox="1"/>
            <p:nvPr/>
          </p:nvSpPr>
          <p:spPr>
            <a:xfrm>
              <a:off x="13107924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3784580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4401800" y="4160520"/>
              <a:ext cx="384047" cy="237744"/>
            </a:xfrm>
            <a:custGeom>
              <a:avLst/>
              <a:gdLst/>
              <a:ahLst/>
              <a:cxnLst/>
              <a:rect l="l" t="t" r="r" b="b"/>
              <a:pathLst>
                <a:path w="384047" h="237744">
                  <a:moveTo>
                    <a:pt x="0" y="171175"/>
                  </a:moveTo>
                  <a:lnTo>
                    <a:pt x="222747" y="171175"/>
                  </a:lnTo>
                  <a:lnTo>
                    <a:pt x="222747" y="237744"/>
                  </a:lnTo>
                  <a:lnTo>
                    <a:pt x="384047" y="118872"/>
                  </a:lnTo>
                  <a:lnTo>
                    <a:pt x="222747" y="0"/>
                  </a:lnTo>
                  <a:lnTo>
                    <a:pt x="222747" y="66568"/>
                  </a:lnTo>
                  <a:lnTo>
                    <a:pt x="0" y="66568"/>
                  </a:lnTo>
                  <a:close/>
                </a:path>
              </a:pathLst>
            </a:custGeom>
            <a:solidFill>
              <a:srgbClr val="D3CA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4977872" y="3355848"/>
              <a:ext cx="170535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모델당 발주 물량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5115032" y="4462272"/>
              <a:ext cx="475488" cy="274320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5937992" y="3822192"/>
              <a:ext cx="475488" cy="914400"/>
            </a:xfrm>
            <a:prstGeom prst="rect">
              <a:avLst/>
            </a:prstGeom>
            <a:solidFill>
              <a:srgbClr val="6E56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0" name="Connector 159"/>
            <p:cNvCxnSpPr/>
            <p:nvPr/>
          </p:nvCxnSpPr>
          <p:spPr>
            <a:xfrm>
              <a:off x="15937992" y="4507992"/>
              <a:ext cx="475488" cy="0"/>
            </a:xfrm>
            <a:prstGeom prst="line">
              <a:avLst/>
            </a:prstGeom>
            <a:ln w="11430">
              <a:solidFill>
                <a:srgbClr val="FFFFFF"/>
              </a:solidFill>
            </a:ln>
          </p:spPr>
        </p:cxnSp>
        <p:cxnSp>
          <p:nvCxnSpPr>
            <p:cNvPr id="161" name="Connector 160"/>
            <p:cNvCxnSpPr/>
            <p:nvPr/>
          </p:nvCxnSpPr>
          <p:spPr>
            <a:xfrm>
              <a:off x="15937992" y="4279392"/>
              <a:ext cx="475488" cy="0"/>
            </a:xfrm>
            <a:prstGeom prst="line">
              <a:avLst/>
            </a:prstGeom>
            <a:ln w="11430">
              <a:solidFill>
                <a:srgbClr val="FFFFFF"/>
              </a:solidFill>
            </a:ln>
          </p:spPr>
        </p:cxnSp>
        <p:cxnSp>
          <p:nvCxnSpPr>
            <p:cNvPr id="162" name="Connector 161"/>
            <p:cNvCxnSpPr/>
            <p:nvPr/>
          </p:nvCxnSpPr>
          <p:spPr>
            <a:xfrm>
              <a:off x="15937992" y="4050792"/>
              <a:ext cx="475488" cy="0"/>
            </a:xfrm>
            <a:prstGeom prst="line">
              <a:avLst/>
            </a:prstGeom>
            <a:ln w="11430">
              <a:solidFill>
                <a:srgbClr val="FFFFFF"/>
              </a:solidFill>
            </a:ln>
          </p:spPr>
        </p:cxnSp>
        <p:cxnSp>
          <p:nvCxnSpPr>
            <p:cNvPr id="163" name="Connector 162"/>
            <p:cNvCxnSpPr/>
            <p:nvPr/>
          </p:nvCxnSpPr>
          <p:spPr>
            <a:xfrm>
              <a:off x="14977872" y="4736592"/>
              <a:ext cx="2057400" cy="0"/>
            </a:xfrm>
            <a:prstGeom prst="line">
              <a:avLst/>
            </a:prstGeom>
            <a:ln w="10160">
              <a:solidFill>
                <a:srgbClr val="D9D9D9"/>
              </a:solidFill>
            </a:ln>
          </p:spPr>
        </p:cxnSp>
        <p:sp>
          <p:nvSpPr>
            <p:cNvPr id="164" name="TextBox 163"/>
            <p:cNvSpPr txBox="1"/>
            <p:nvPr/>
          </p:nvSpPr>
          <p:spPr>
            <a:xfrm>
              <a:off x="15101316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555555"/>
                  </a:solidFill>
                  <a:latin typeface="Arial"/>
                  <a:ea typeface="Arial"/>
                </a:rPr>
                <a:t>분리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5924276" y="4736592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통합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6486632" y="3849624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구매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6486632" y="4087368"/>
              <a:ext cx="896111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협상력 ↑</a:t>
              </a:r>
            </a:p>
          </p:txBody>
        </p:sp>
      </p:grpSp>
      <p:sp>
        <p:nvSpPr>
          <p:cNvPr id="168" name="Rectangle 167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2633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6336E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9ECF8"/>
          </a:solidFill>
          <a:ln w="1270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ound Same Side Corner Rectangle 224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ound Same Side Corner Rectangle 226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ound Same Side Corner Rectangle 228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3F3F1"/>
          </a:solidFill>
          <a:ln w="12700">
            <a:solidFill>
              <a:srgbClr val="1E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ound Same Side Corner Rectangle 232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ound Same Side Corner Rectangle 234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ound Same Side Corner Rectangle 236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36E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252" name="Right Arrow 251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255" name="Oval 254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ound Same Side Corner Rectangle 255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ound Same Side Corner Rectangle 257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ound Same Side Corner Rectangle 259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ound Same Side Corner Rectangle 261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ound Same Side Corner Rectangle 263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ound Same Side Corner Rectangle 265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1E8C8C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6E56B0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273" name="Up Arrow 272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Up Arrow 273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B86E00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277" name="Rounded Rectangle 276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6576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Fab 통합 운영</a:t>
            </a: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   6 / 6  시안 6 · Fab 도면 컬러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3657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786384"/>
            <a:ext cx="1684324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DRAM/NAND Fab 통합 운영: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Arial"/>
              </a:rPr>
              <a:t>Bonding 시대에 맞는 Common Platform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938528"/>
            <a:ext cx="1684324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722376" y="2084831"/>
            <a:ext cx="16843248" cy="640080"/>
          </a:xfrm>
          <a:prstGeom prst="trapezoid">
            <a:avLst>
              <a:gd name="adj" fmla="val 55000"/>
            </a:avLst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2084831"/>
            <a:ext cx="139171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AEB8E0"/>
                </a:solidFill>
                <a:latin typeface="Arial"/>
                <a:ea typeface="Arial"/>
              </a:rPr>
              <a:t>종합 반도체 경쟁력  </a:t>
            </a: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기술·생산 경쟁력 + 효율·유연성 + </a:t>
            </a:r>
            <a:r>
              <a:rPr sz="2400" b="1">
                <a:solidFill>
                  <a:srgbClr val="F6C46B"/>
                </a:solidFill>
                <a:latin typeface="Arial"/>
                <a:ea typeface="Arial"/>
              </a:rPr>
              <a:t>Buying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2816352"/>
            <a:ext cx="5175504" cy="2231136"/>
          </a:xfrm>
          <a:prstGeom prst="rect">
            <a:avLst/>
          </a:prstGeom>
          <a:solidFill>
            <a:srgbClr val="F0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2816352"/>
            <a:ext cx="5175504" cy="54864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944368"/>
            <a:ext cx="365760" cy="365760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공간 효율성</a:t>
            </a:r>
            <a:r>
              <a:rPr sz="1600" b="0">
                <a:solidFill>
                  <a:srgbClr val="3C4FA5"/>
                </a:solidFill>
                <a:latin typeface="Arial"/>
                <a:ea typeface="Arial"/>
              </a:rPr>
              <a:t>  Space Efficiency</a:t>
            </a:r>
          </a:p>
        </p:txBody>
      </p:sp>
      <p:grpSp>
        <p:nvGrpSpPr>
          <p:cNvPr id="13" name="그림 1 공간 효율성 (도형)"/>
          <p:cNvGrpSpPr/>
          <p:nvPr/>
        </p:nvGrpSpPr>
        <p:grpSpPr>
          <a:xfrm>
            <a:off x="1197864" y="3355848"/>
            <a:ext cx="4873752" cy="1600200"/>
            <a:chOff x="1197864" y="3355848"/>
            <a:chExt cx="4873752" cy="1600200"/>
          </a:xfrm>
        </p:grpSpPr>
        <p:sp>
          <p:nvSpPr>
            <p:cNvPr id="14" name="Rectangle 13"/>
            <p:cNvSpPr/>
            <p:nvPr/>
          </p:nvSpPr>
          <p:spPr>
            <a:xfrm>
              <a:off x="1197864" y="3657600"/>
              <a:ext cx="2249424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2322576" y="3657600"/>
              <a:ext cx="0" cy="1298448"/>
            </a:xfrm>
            <a:prstGeom prst="line">
              <a:avLst/>
            </a:prstGeom>
            <a:ln w="30480">
              <a:solidFill>
                <a:srgbClr val="555555"/>
              </a:solidFill>
            </a:ln>
          </p:spPr>
        </p:cxnSp>
        <p:sp>
          <p:nvSpPr>
            <p:cNvPr id="16" name="Rectangle 15"/>
            <p:cNvSpPr/>
            <p:nvPr/>
          </p:nvSpPr>
          <p:spPr>
            <a:xfrm>
              <a:off x="1252728" y="4553712"/>
              <a:ext cx="274320" cy="347472"/>
            </a:xfrm>
            <a:prstGeom prst="rect">
              <a:avLst/>
            </a:prstGeom>
            <a:solidFill>
              <a:srgbClr val="8E9D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581912" y="4553712"/>
              <a:ext cx="201168" cy="347472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37944" y="4626864"/>
              <a:ext cx="365760" cy="274320"/>
            </a:xfrm>
            <a:prstGeom prst="rect">
              <a:avLst/>
            </a:prstGeom>
            <a:solidFill>
              <a:srgbClr val="8E9D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252728" y="3767328"/>
              <a:ext cx="201168" cy="402336"/>
            </a:xfrm>
            <a:prstGeom prst="rect">
              <a:avLst/>
            </a:prstGeom>
            <a:solidFill>
              <a:srgbClr val="8E9D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508760" y="3767328"/>
              <a:ext cx="329184" cy="402336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892808" y="3840480"/>
              <a:ext cx="292608" cy="329184"/>
            </a:xfrm>
            <a:prstGeom prst="rect">
              <a:avLst/>
            </a:prstGeom>
            <a:solidFill>
              <a:srgbClr val="8E9D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377440" y="4590288"/>
              <a:ext cx="329184" cy="310896"/>
            </a:xfrm>
            <a:prstGeom prst="rect">
              <a:avLst/>
            </a:prstGeom>
            <a:solidFill>
              <a:srgbClr val="7CC5B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61488" y="4553712"/>
              <a:ext cx="274320" cy="347472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81528" y="4553712"/>
              <a:ext cx="292608" cy="347472"/>
            </a:xfrm>
            <a:prstGeom prst="rect">
              <a:avLst/>
            </a:prstGeom>
            <a:solidFill>
              <a:srgbClr val="7CC5B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377440" y="3803904"/>
              <a:ext cx="237744" cy="365760"/>
            </a:xfrm>
            <a:prstGeom prst="rect">
              <a:avLst/>
            </a:prstGeom>
            <a:pattFill prst="wdUpDiag">
              <a:fgClr>
                <a:srgbClr val="B4B4B4"/>
              </a:fgClr>
              <a:bgClr>
                <a:srgbClr val="FFFFFF"/>
              </a:bgClr>
            </a:pattFill>
            <a:ln w="10160">
              <a:solidFill>
                <a:srgbClr val="B4B4B4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70048" y="3767328"/>
              <a:ext cx="347472" cy="402336"/>
            </a:xfrm>
            <a:prstGeom prst="rect">
              <a:avLst/>
            </a:prstGeom>
            <a:solidFill>
              <a:srgbClr val="7CC5B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81528" y="3895344"/>
              <a:ext cx="292608" cy="274320"/>
            </a:xfrm>
            <a:prstGeom prst="rect">
              <a:avLst/>
            </a:prstGeom>
            <a:solidFill>
              <a:srgbClr val="7CC5B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289304" y="4206240"/>
              <a:ext cx="941832" cy="201168"/>
            </a:xfrm>
            <a:prstGeom prst="roundRect">
              <a:avLst>
                <a:gd name="adj" fmla="val 45454"/>
              </a:avLst>
            </a:prstGeom>
            <a:noFill/>
            <a:ln w="2032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76756" y="4366260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33956" y="4165092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414016" y="4206240"/>
              <a:ext cx="941832" cy="201168"/>
            </a:xfrm>
            <a:prstGeom prst="roundRect">
              <a:avLst>
                <a:gd name="adj" fmla="val 45454"/>
              </a:avLst>
            </a:prstGeom>
            <a:noFill/>
            <a:ln w="20320">
              <a:solidFill>
                <a:srgbClr val="8A8A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601468" y="4366260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058668" y="4165092"/>
              <a:ext cx="82296" cy="82296"/>
            </a:xfrm>
            <a:prstGeom prst="rect">
              <a:avLst/>
            </a:prstGeom>
            <a:solidFill>
              <a:srgbClr val="8A8A8A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97864" y="3355848"/>
              <a:ext cx="1824228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555555"/>
                  </a:solidFill>
                  <a:latin typeface="Arial"/>
                  <a:ea typeface="Arial"/>
                </a:rPr>
                <a:t>Fab 분리: OHT 2개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721608" y="3657600"/>
              <a:ext cx="2249424" cy="1298448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813048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160520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07992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855464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202936" y="4517136"/>
              <a:ext cx="292608" cy="365760"/>
            </a:xfrm>
            <a:prstGeom prst="rect">
              <a:avLst/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13048" y="3767328"/>
              <a:ext cx="292608" cy="365760"/>
            </a:xfrm>
            <a:prstGeom prst="rect">
              <a:avLst/>
            </a:prstGeom>
            <a:solidFill>
              <a:srgbClr val="6E56B0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60520" y="3767328"/>
              <a:ext cx="292608" cy="365760"/>
            </a:xfrm>
            <a:prstGeom prst="rect">
              <a:avLst/>
            </a:prstGeom>
            <a:solidFill>
              <a:srgbClr val="6E56B0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07992" y="3767328"/>
              <a:ext cx="292608" cy="365760"/>
            </a:xfrm>
            <a:prstGeom prst="rect">
              <a:avLst/>
            </a:prstGeom>
            <a:solidFill>
              <a:srgbClr val="6E56B0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855464" y="3767328"/>
              <a:ext cx="292608" cy="365760"/>
            </a:xfrm>
            <a:prstGeom prst="rect">
              <a:avLst/>
            </a:prstGeom>
            <a:solidFill>
              <a:srgbClr val="6E56B0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202936" y="3767328"/>
              <a:ext cx="292608" cy="365760"/>
            </a:xfrm>
            <a:prstGeom prst="rect">
              <a:avLst/>
            </a:prstGeom>
            <a:solidFill>
              <a:srgbClr val="6E56B0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586984" y="3730752"/>
              <a:ext cx="329184" cy="1152144"/>
            </a:xfrm>
            <a:prstGeom prst="rect">
              <a:avLst/>
            </a:prstGeom>
            <a:solidFill>
              <a:srgbClr val="FCEFD9"/>
            </a:solidFill>
            <a:ln w="12700">
              <a:solidFill>
                <a:srgbClr val="E39B2D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813048" y="4206240"/>
              <a:ext cx="1700784" cy="201168"/>
            </a:xfrm>
            <a:prstGeom prst="roundRect">
              <a:avLst>
                <a:gd name="adj" fmla="val 45454"/>
              </a:avLst>
            </a:prstGeom>
            <a:noFill/>
            <a:ln w="27940">
              <a:solidFill>
                <a:srgbClr val="2633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046220" y="4366260"/>
              <a:ext cx="82296" cy="82296"/>
            </a:xfrm>
            <a:prstGeom prst="rect">
              <a:avLst/>
            </a:prstGeom>
            <a:solidFill>
              <a:srgbClr val="26336E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94860" y="4165092"/>
              <a:ext cx="82296" cy="82296"/>
            </a:xfrm>
            <a:prstGeom prst="rect">
              <a:avLst/>
            </a:prstGeom>
            <a:solidFill>
              <a:srgbClr val="26336E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97780" y="4366260"/>
              <a:ext cx="82296" cy="82296"/>
            </a:xfrm>
            <a:prstGeom prst="rect">
              <a:avLst/>
            </a:prstGeom>
            <a:solidFill>
              <a:srgbClr val="26336E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 rot="16200000">
              <a:off x="5431536" y="4169664"/>
              <a:ext cx="64008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확보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21608" y="3355848"/>
              <a:ext cx="1673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Common: OHT 1개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996696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7864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설비 밀집도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Dead Space 최소화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7864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동일 모델 군집화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시너지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A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97864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C4FA5"/>
                </a:solidFill>
                <a:latin typeface="Arial"/>
                <a:ea typeface="Arial"/>
              </a:rPr>
              <a:t>단위 면적당 생산성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극대화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56248" y="2816352"/>
            <a:ext cx="5175504" cy="2231136"/>
          </a:xfrm>
          <a:prstGeom prst="rect">
            <a:avLst/>
          </a:prstGeom>
          <a:solidFill>
            <a:srgbClr val="E8F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56248" y="2816352"/>
            <a:ext cx="5175504" cy="54864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0840" y="2944368"/>
            <a:ext cx="365760" cy="365760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20840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96328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시황 변화 대응력</a:t>
            </a:r>
            <a:r>
              <a:rPr sz="1600" b="0">
                <a:solidFill>
                  <a:srgbClr val="1E8C8C"/>
                </a:solidFill>
                <a:latin typeface="Arial"/>
                <a:ea typeface="Arial"/>
              </a:rPr>
              <a:t>  Market Agility</a:t>
            </a:r>
          </a:p>
        </p:txBody>
      </p:sp>
      <p:grpSp>
        <p:nvGrpSpPr>
          <p:cNvPr id="64" name="그림 2 시황 변화 대응력 (도형)"/>
          <p:cNvGrpSpPr/>
          <p:nvPr/>
        </p:nvGrpSpPr>
        <p:grpSpPr>
          <a:xfrm>
            <a:off x="6812279" y="3355848"/>
            <a:ext cx="4572001" cy="1572768"/>
            <a:chOff x="6812279" y="3355848"/>
            <a:chExt cx="4572001" cy="1572768"/>
          </a:xfrm>
        </p:grpSpPr>
        <p:sp>
          <p:nvSpPr>
            <p:cNvPr id="65" name="Rounded Rectangle 64"/>
            <p:cNvSpPr/>
            <p:nvPr/>
          </p:nvSpPr>
          <p:spPr>
            <a:xfrm>
              <a:off x="7982712" y="3621024"/>
              <a:ext cx="2011680" cy="1298448"/>
            </a:xfrm>
            <a:prstGeom prst="roundRect">
              <a:avLst>
                <a:gd name="adj" fmla="val 5633"/>
              </a:avLst>
            </a:prstGeom>
            <a:solidFill>
              <a:srgbClr val="E8F5F4"/>
            </a:solidFill>
            <a:ln w="15240">
              <a:solidFill>
                <a:srgbClr val="1E8C8C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Connector 65"/>
            <p:cNvCxnSpPr/>
            <p:nvPr/>
          </p:nvCxnSpPr>
          <p:spPr>
            <a:xfrm>
              <a:off x="7196327" y="3895344"/>
              <a:ext cx="768096" cy="109728"/>
            </a:xfrm>
            <a:prstGeom prst="line">
              <a:avLst/>
            </a:prstGeom>
            <a:ln w="20320">
              <a:solidFill>
                <a:srgbClr val="3C4FA5"/>
              </a:solidFill>
              <a:tailEnd type="triangle" w="med" len="med"/>
            </a:ln>
          </p:spPr>
        </p:cxnSp>
        <p:cxnSp>
          <p:nvCxnSpPr>
            <p:cNvPr id="67" name="Connector 66"/>
            <p:cNvCxnSpPr/>
            <p:nvPr/>
          </p:nvCxnSpPr>
          <p:spPr>
            <a:xfrm>
              <a:off x="7196327" y="3895344"/>
              <a:ext cx="768096" cy="676656"/>
            </a:xfrm>
            <a:prstGeom prst="line">
              <a:avLst/>
            </a:prstGeom>
            <a:ln w="20320">
              <a:solidFill>
                <a:srgbClr val="3C4FA5"/>
              </a:solidFill>
              <a:tailEnd type="triangle" w="med" len="med"/>
            </a:ln>
          </p:spPr>
        </p:cxnSp>
        <p:cxnSp>
          <p:nvCxnSpPr>
            <p:cNvPr id="68" name="Connector 67"/>
            <p:cNvCxnSpPr/>
            <p:nvPr/>
          </p:nvCxnSpPr>
          <p:spPr>
            <a:xfrm flipV="1">
              <a:off x="7196327" y="4133088"/>
              <a:ext cx="768096" cy="457200"/>
            </a:xfrm>
            <a:prstGeom prst="line">
              <a:avLst/>
            </a:prstGeom>
            <a:ln w="20320">
              <a:solidFill>
                <a:srgbClr val="1E8C8C"/>
              </a:solidFill>
              <a:tailEnd type="triangle" w="med" len="med"/>
            </a:ln>
          </p:spPr>
        </p:cxnSp>
        <p:cxnSp>
          <p:nvCxnSpPr>
            <p:cNvPr id="69" name="Connector 68"/>
            <p:cNvCxnSpPr/>
            <p:nvPr/>
          </p:nvCxnSpPr>
          <p:spPr>
            <a:xfrm>
              <a:off x="7196327" y="4590288"/>
              <a:ext cx="768096" cy="109728"/>
            </a:xfrm>
            <a:prstGeom prst="line">
              <a:avLst/>
            </a:prstGeom>
            <a:ln w="20320">
              <a:solidFill>
                <a:srgbClr val="1E8C8C"/>
              </a:solidFill>
              <a:tailEnd type="triangle" w="med" len="med"/>
            </a:ln>
          </p:spPr>
        </p:cxnSp>
        <p:sp>
          <p:nvSpPr>
            <p:cNvPr id="70" name="Rectangle 69"/>
            <p:cNvSpPr/>
            <p:nvPr/>
          </p:nvSpPr>
          <p:spPr>
            <a:xfrm>
              <a:off x="7424927" y="3895344"/>
              <a:ext cx="91440" cy="91440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7644383" y="3986784"/>
              <a:ext cx="91440" cy="91440"/>
            </a:xfrm>
            <a:prstGeom prst="rect">
              <a:avLst/>
            </a:prstGeom>
            <a:solidFill>
              <a:srgbClr val="3C4FA5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443215" y="4507992"/>
              <a:ext cx="91440" cy="91440"/>
            </a:xfrm>
            <a:prstGeom prst="rect">
              <a:avLst/>
            </a:prstGeom>
            <a:solidFill>
              <a:srgbClr val="1E8C8C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680960" y="4535424"/>
              <a:ext cx="91440" cy="91440"/>
            </a:xfrm>
            <a:prstGeom prst="rect">
              <a:avLst/>
            </a:prstGeom>
            <a:solidFill>
              <a:srgbClr val="1E8C8C"/>
            </a:solidFill>
            <a:ln w="762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4" name="웨이퍼"/>
            <p:cNvGrpSpPr/>
            <p:nvPr/>
          </p:nvGrpSpPr>
          <p:grpSpPr>
            <a:xfrm>
              <a:off x="6812279" y="3712464"/>
              <a:ext cx="365760" cy="374904"/>
              <a:chOff x="6812279" y="3712464"/>
              <a:chExt cx="365760" cy="374904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6812279" y="3712464"/>
                <a:ext cx="365760" cy="365760"/>
              </a:xfrm>
              <a:prstGeom prst="ellipse">
                <a:avLst/>
              </a:prstGeom>
              <a:solidFill>
                <a:srgbClr val="3C4FA5"/>
              </a:solidFill>
              <a:ln w="1270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76" name="Connector 75"/>
              <p:cNvCxnSpPr/>
              <p:nvPr/>
            </p:nvCxnSpPr>
            <p:spPr>
              <a:xfrm>
                <a:off x="6858000" y="3964838"/>
                <a:ext cx="274320" cy="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77" name="Connector 76"/>
              <p:cNvCxnSpPr/>
              <p:nvPr/>
            </p:nvCxnSpPr>
            <p:spPr>
              <a:xfrm flipV="1">
                <a:off x="6925665" y="3758184"/>
                <a:ext cx="0" cy="27432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78" name="Connector 77"/>
              <p:cNvCxnSpPr/>
              <p:nvPr/>
            </p:nvCxnSpPr>
            <p:spPr>
              <a:xfrm>
                <a:off x="6858000" y="3895344"/>
                <a:ext cx="274320" cy="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79" name="Connector 78"/>
              <p:cNvCxnSpPr/>
              <p:nvPr/>
            </p:nvCxnSpPr>
            <p:spPr>
              <a:xfrm flipV="1">
                <a:off x="6995159" y="3758184"/>
                <a:ext cx="0" cy="27432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80" name="Connector 79"/>
              <p:cNvCxnSpPr/>
              <p:nvPr/>
            </p:nvCxnSpPr>
            <p:spPr>
              <a:xfrm>
                <a:off x="6858000" y="3825849"/>
                <a:ext cx="274320" cy="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cxnSp>
            <p:nvCxnSpPr>
              <p:cNvPr id="81" name="Connector 80"/>
              <p:cNvCxnSpPr/>
              <p:nvPr/>
            </p:nvCxnSpPr>
            <p:spPr>
              <a:xfrm flipV="1">
                <a:off x="7064654" y="3758184"/>
                <a:ext cx="0" cy="274320"/>
              </a:xfrm>
              <a:prstGeom prst="line">
                <a:avLst/>
              </a:prstGeom>
              <a:ln w="8890">
                <a:solidFill>
                  <a:srgbClr val="808DC4"/>
                </a:solidFill>
              </a:ln>
            </p:spPr>
          </p:cxnSp>
          <p:sp>
            <p:nvSpPr>
              <p:cNvPr id="82" name="Rectangle 81"/>
              <p:cNvSpPr/>
              <p:nvPr/>
            </p:nvSpPr>
            <p:spPr>
              <a:xfrm>
                <a:off x="6962241" y="4055364"/>
                <a:ext cx="65836" cy="320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3" name="웨이퍼"/>
            <p:cNvGrpSpPr/>
            <p:nvPr/>
          </p:nvGrpSpPr>
          <p:grpSpPr>
            <a:xfrm>
              <a:off x="6812279" y="4407408"/>
              <a:ext cx="365760" cy="374904"/>
              <a:chOff x="6812279" y="4407408"/>
              <a:chExt cx="365760" cy="374904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6812279" y="4407408"/>
                <a:ext cx="365760" cy="365760"/>
              </a:xfrm>
              <a:prstGeom prst="ellipse">
                <a:avLst/>
              </a:prstGeom>
              <a:solidFill>
                <a:srgbClr val="1E8C8C"/>
              </a:solidFill>
              <a:ln w="12700">
                <a:solidFill>
                  <a:srgbClr val="FFFFF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5" name="Connector 84"/>
              <p:cNvCxnSpPr/>
              <p:nvPr/>
            </p:nvCxnSpPr>
            <p:spPr>
              <a:xfrm>
                <a:off x="6858000" y="4659782"/>
                <a:ext cx="274320" cy="0"/>
              </a:xfrm>
              <a:prstGeom prst="line">
                <a:avLst/>
              </a:prstGeom>
              <a:ln w="8890">
                <a:solidFill>
                  <a:srgbClr val="6DB4B4"/>
                </a:solidFill>
              </a:ln>
            </p:spPr>
          </p:cxnSp>
          <p:cxnSp>
            <p:nvCxnSpPr>
              <p:cNvPr id="86" name="Connector 85"/>
              <p:cNvCxnSpPr/>
              <p:nvPr/>
            </p:nvCxnSpPr>
            <p:spPr>
              <a:xfrm flipV="1">
                <a:off x="6925665" y="4453128"/>
                <a:ext cx="0" cy="274320"/>
              </a:xfrm>
              <a:prstGeom prst="line">
                <a:avLst/>
              </a:prstGeom>
              <a:ln w="8890">
                <a:solidFill>
                  <a:srgbClr val="6DB4B4"/>
                </a:solidFill>
              </a:ln>
            </p:spPr>
          </p:cxnSp>
          <p:cxnSp>
            <p:nvCxnSpPr>
              <p:cNvPr id="87" name="Connector 86"/>
              <p:cNvCxnSpPr/>
              <p:nvPr/>
            </p:nvCxnSpPr>
            <p:spPr>
              <a:xfrm>
                <a:off x="6858000" y="4590288"/>
                <a:ext cx="274320" cy="0"/>
              </a:xfrm>
              <a:prstGeom prst="line">
                <a:avLst/>
              </a:prstGeom>
              <a:ln w="8890">
                <a:solidFill>
                  <a:srgbClr val="6DB4B4"/>
                </a:solidFill>
              </a:ln>
            </p:spPr>
          </p:cxnSp>
          <p:cxnSp>
            <p:nvCxnSpPr>
              <p:cNvPr id="88" name="Connector 87"/>
              <p:cNvCxnSpPr/>
              <p:nvPr/>
            </p:nvCxnSpPr>
            <p:spPr>
              <a:xfrm flipV="1">
                <a:off x="6995159" y="4453128"/>
                <a:ext cx="0" cy="274320"/>
              </a:xfrm>
              <a:prstGeom prst="line">
                <a:avLst/>
              </a:prstGeom>
              <a:ln w="8890">
                <a:solidFill>
                  <a:srgbClr val="6DB4B4"/>
                </a:solidFill>
              </a:ln>
            </p:spPr>
          </p:cxnSp>
          <p:cxnSp>
            <p:nvCxnSpPr>
              <p:cNvPr id="89" name="Connector 88"/>
              <p:cNvCxnSpPr/>
              <p:nvPr/>
            </p:nvCxnSpPr>
            <p:spPr>
              <a:xfrm>
                <a:off x="6858000" y="4520793"/>
                <a:ext cx="274320" cy="0"/>
              </a:xfrm>
              <a:prstGeom prst="line">
                <a:avLst/>
              </a:prstGeom>
              <a:ln w="8890">
                <a:solidFill>
                  <a:srgbClr val="6DB4B4"/>
                </a:solidFill>
              </a:ln>
            </p:spPr>
          </p:cxnSp>
          <p:cxnSp>
            <p:nvCxnSpPr>
              <p:cNvPr id="90" name="Connector 89"/>
              <p:cNvCxnSpPr/>
              <p:nvPr/>
            </p:nvCxnSpPr>
            <p:spPr>
              <a:xfrm flipV="1">
                <a:off x="7064654" y="4453128"/>
                <a:ext cx="0" cy="274320"/>
              </a:xfrm>
              <a:prstGeom prst="line">
                <a:avLst/>
              </a:prstGeom>
              <a:ln w="8890">
                <a:solidFill>
                  <a:srgbClr val="6DB4B4"/>
                </a:solidFill>
              </a:ln>
            </p:spPr>
          </p:cxnSp>
          <p:sp>
            <p:nvSpPr>
              <p:cNvPr id="91" name="Rectangle 90"/>
              <p:cNvSpPr/>
              <p:nvPr/>
            </p:nvSpPr>
            <p:spPr>
              <a:xfrm>
                <a:off x="6962241" y="4750308"/>
                <a:ext cx="65836" cy="320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7251192" y="355701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251192" y="465429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46B6B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968996" y="3355848"/>
              <a:ext cx="203911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1E8C8C"/>
                  </a:solidFill>
                  <a:latin typeface="Arial"/>
                  <a:ea typeface="Arial"/>
                </a:rPr>
                <a:t>공용 BEOL 설비 Pool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8129015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8586216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9043416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1E8C8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043416" y="3785616"/>
              <a:ext cx="365760" cy="201168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Curved Down Arrow 98"/>
            <p:cNvSpPr/>
            <p:nvPr/>
          </p:nvSpPr>
          <p:spPr>
            <a:xfrm>
              <a:off x="9107424" y="3657600"/>
              <a:ext cx="237744" cy="109728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9500616" y="3785616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1E8C8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8129015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3C4FA5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586216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1E8C8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8586216" y="4352544"/>
              <a:ext cx="365760" cy="201168"/>
            </a:xfrm>
            <a:prstGeom prst="rect">
              <a:avLst/>
            </a:prstGeom>
            <a:solidFill>
              <a:srgbClr val="3C4FA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Curved Down Arrow 103"/>
            <p:cNvSpPr/>
            <p:nvPr/>
          </p:nvSpPr>
          <p:spPr>
            <a:xfrm>
              <a:off x="8650224" y="4224528"/>
              <a:ext cx="237744" cy="109728"/>
            </a:xfrm>
            <a:prstGeom prst="curvedDownArrow">
              <a:avLst/>
            </a:prstGeom>
            <a:solidFill>
              <a:srgbClr val="1A1A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043416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1E8C8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9500616" y="4352544"/>
              <a:ext cx="365760" cy="402336"/>
            </a:xfrm>
            <a:prstGeom prst="roundRect">
              <a:avLst>
                <a:gd name="adj" fmla="val 10000"/>
              </a:avLst>
            </a:prstGeom>
            <a:solidFill>
              <a:srgbClr val="1E8C8C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7" name="Connector 106"/>
            <p:cNvCxnSpPr/>
            <p:nvPr/>
          </p:nvCxnSpPr>
          <p:spPr>
            <a:xfrm>
              <a:off x="10030967" y="4261104"/>
              <a:ext cx="438913" cy="0"/>
            </a:xfrm>
            <a:prstGeom prst="line">
              <a:avLst/>
            </a:prstGeom>
            <a:ln w="30480">
              <a:solidFill>
                <a:srgbClr val="1E8C8C"/>
              </a:solidFill>
              <a:tailEnd type="triangle" w="med" len="med"/>
            </a:ln>
          </p:spPr>
        </p:cxnSp>
        <p:sp>
          <p:nvSpPr>
            <p:cNvPr id="108" name="Oval 107"/>
            <p:cNvSpPr/>
            <p:nvPr/>
          </p:nvSpPr>
          <p:spPr>
            <a:xfrm>
              <a:off x="10506456" y="4306824"/>
              <a:ext cx="877824" cy="274320"/>
            </a:xfrm>
            <a:prstGeom prst="ellipse">
              <a:avLst/>
            </a:prstGeom>
            <a:solidFill>
              <a:srgbClr val="1E8C8C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506456" y="4160520"/>
              <a:ext cx="877824" cy="274320"/>
            </a:xfrm>
            <a:prstGeom prst="ellipse">
              <a:avLst/>
            </a:prstGeom>
            <a:solidFill>
              <a:srgbClr val="3C4FA5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506456" y="4014216"/>
              <a:ext cx="877824" cy="274320"/>
            </a:xfrm>
            <a:prstGeom prst="ellipse">
              <a:avLst/>
            </a:prstGeom>
            <a:solidFill>
              <a:srgbClr val="6E56B0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508742" y="3593592"/>
              <a:ext cx="8732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1E8C8C"/>
                  </a:solidFill>
                  <a:latin typeface="Arial"/>
                  <a:ea typeface="Arial"/>
                </a:rPr>
                <a:t>Bonding</a:t>
              </a:r>
            </a:p>
          </p:txBody>
        </p:sp>
      </p:grpSp>
      <p:sp>
        <p:nvSpPr>
          <p:cNvPr id="112" name="Rectangle 111"/>
          <p:cNvSpPr/>
          <p:nvPr/>
        </p:nvSpPr>
        <p:spPr>
          <a:xfrm>
            <a:off x="6556248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57416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DRAM/NAND 설비 전환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속도 증가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56248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57416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생산 Bottleneck 해소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로 생산성 증가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56248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DC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57416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8C8C"/>
                </a:solidFill>
                <a:latin typeface="Arial"/>
                <a:ea typeface="Arial"/>
              </a:rPr>
              <a:t>유휴 설비 최소화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투자 회수 기간 단축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115800" y="2816352"/>
            <a:ext cx="5175504" cy="2231136"/>
          </a:xfrm>
          <a:prstGeom prst="rect">
            <a:avLst/>
          </a:prstGeom>
          <a:solidFill>
            <a:srgbClr val="F1EE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115800" y="2816352"/>
            <a:ext cx="5175504" cy="54864"/>
          </a:xfrm>
          <a:prstGeom prst="rect">
            <a:avLst/>
          </a:prstGeom>
          <a:solidFill>
            <a:srgbClr val="6E56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2280392" y="2944368"/>
            <a:ext cx="365760" cy="365760"/>
          </a:xfrm>
          <a:prstGeom prst="ellipse">
            <a:avLst/>
          </a:prstGeom>
          <a:solidFill>
            <a:srgbClr val="6E56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2280392" y="2944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755880" y="2907792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</a:rPr>
              <a:t>설비 통일성·선단화</a:t>
            </a:r>
            <a:r>
              <a:rPr sz="1600" b="0">
                <a:solidFill>
                  <a:srgbClr val="6E56B0"/>
                </a:solidFill>
                <a:latin typeface="Arial"/>
                <a:ea typeface="Arial"/>
              </a:rPr>
              <a:t>  Equipment Unif.</a:t>
            </a:r>
          </a:p>
        </p:txBody>
      </p:sp>
      <p:grpSp>
        <p:nvGrpSpPr>
          <p:cNvPr id="123" name="그림 3 설비 통일성 (도형)"/>
          <p:cNvGrpSpPr/>
          <p:nvPr/>
        </p:nvGrpSpPr>
        <p:grpSpPr>
          <a:xfrm>
            <a:off x="12298680" y="3355848"/>
            <a:ext cx="4809744" cy="1565910"/>
            <a:chOff x="12298680" y="3355848"/>
            <a:chExt cx="4809744" cy="1565910"/>
          </a:xfrm>
        </p:grpSpPr>
        <p:sp>
          <p:nvSpPr>
            <p:cNvPr id="124" name="TextBox 123"/>
            <p:cNvSpPr txBox="1"/>
            <p:nvPr/>
          </p:nvSpPr>
          <p:spPr>
            <a:xfrm>
              <a:off x="13007340" y="335584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3C4FA5"/>
                  </a:solidFill>
                  <a:latin typeface="Arial"/>
                  <a:ea typeface="Arial"/>
                </a:rPr>
                <a:t>DRAM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3885163" y="335584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146B6B"/>
                  </a:solidFill>
                  <a:latin typeface="Arial"/>
                  <a:ea typeface="Arial"/>
                </a:rPr>
                <a:t>NAND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5046451" y="3355848"/>
              <a:ext cx="502919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공용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2298680" y="3728466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Depo</a:t>
              </a: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12883896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2883896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A1</a:t>
              </a:r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13295376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3295376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B4</a:t>
              </a:r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13761720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3761720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K3</a:t>
              </a:r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14173200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4173200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A2</a:t>
              </a: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14639543" y="3774186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D3CA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15169896" y="368731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D3CAE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ounded Rectangle 137"/>
            <p:cNvSpPr/>
            <p:nvPr/>
          </p:nvSpPr>
          <p:spPr>
            <a:xfrm>
              <a:off x="15115032" y="3719322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A797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>
              <a:off x="15060167" y="375132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E56B0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5060167" y="3728466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P1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736824" y="3728466"/>
              <a:ext cx="121158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레시피 공유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>
              <a:off x="12298680" y="4018788"/>
              <a:ext cx="4809744" cy="0"/>
            </a:xfrm>
            <a:prstGeom prst="line">
              <a:avLst/>
            </a:prstGeom>
            <a:ln w="8890">
              <a:solidFill>
                <a:srgbClr val="D9D9D9"/>
              </a:solidFill>
            </a:ln>
          </p:spPr>
        </p:cxnSp>
        <p:sp>
          <p:nvSpPr>
            <p:cNvPr id="143" name="TextBox 142"/>
            <p:cNvSpPr txBox="1"/>
            <p:nvPr/>
          </p:nvSpPr>
          <p:spPr>
            <a:xfrm>
              <a:off x="12298680" y="4034790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Etch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12883896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883896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C2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295376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3295376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D3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13761720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3761720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L1</a:t>
              </a:r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14173200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4173200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C6</a:t>
              </a: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14639543" y="4080510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D3CA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ounded Rectangle 152"/>
            <p:cNvSpPr/>
            <p:nvPr/>
          </p:nvSpPr>
          <p:spPr>
            <a:xfrm>
              <a:off x="15169896" y="3993642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D3CAE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15115032" y="402564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A797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15060167" y="405765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E56B0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5060167" y="4034790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P2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5736824" y="4034790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부품 공용</a:t>
              </a:r>
            </a:p>
          </p:txBody>
        </p:sp>
        <p:cxnSp>
          <p:nvCxnSpPr>
            <p:cNvPr id="158" name="Connector 157"/>
            <p:cNvCxnSpPr/>
            <p:nvPr/>
          </p:nvCxnSpPr>
          <p:spPr>
            <a:xfrm>
              <a:off x="12298680" y="4325112"/>
              <a:ext cx="4809744" cy="0"/>
            </a:xfrm>
            <a:prstGeom prst="line">
              <a:avLst/>
            </a:prstGeom>
            <a:ln w="8890">
              <a:solidFill>
                <a:srgbClr val="D9D9D9"/>
              </a:solidFill>
            </a:ln>
          </p:spPr>
        </p:cxnSp>
        <p:sp>
          <p:nvSpPr>
            <p:cNvPr id="159" name="TextBox 158"/>
            <p:cNvSpPr txBox="1"/>
            <p:nvPr/>
          </p:nvSpPr>
          <p:spPr>
            <a:xfrm>
              <a:off x="12298680" y="4341114"/>
              <a:ext cx="4160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CMP</a:t>
              </a:r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12883896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2883896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E1</a:t>
              </a:r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13295376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13295376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F5</a:t>
              </a:r>
            </a:p>
          </p:txBody>
        </p:sp>
        <p:sp>
          <p:nvSpPr>
            <p:cNvPr id="164" name="Rounded Rectangle 163"/>
            <p:cNvSpPr/>
            <p:nvPr/>
          </p:nvSpPr>
          <p:spPr>
            <a:xfrm>
              <a:off x="13761720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3761720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M4</a:t>
              </a:r>
            </a:p>
          </p:txBody>
        </p:sp>
        <p:sp>
          <p:nvSpPr>
            <p:cNvPr id="166" name="Rounded Rectangle 165"/>
            <p:cNvSpPr/>
            <p:nvPr/>
          </p:nvSpPr>
          <p:spPr>
            <a:xfrm>
              <a:off x="14173200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4173200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E2</a:t>
              </a:r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14639543" y="4386834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D3CA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ounded Rectangle 168"/>
            <p:cNvSpPr/>
            <p:nvPr/>
          </p:nvSpPr>
          <p:spPr>
            <a:xfrm>
              <a:off x="15169896" y="4299966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D3CAE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Rounded Rectangle 169"/>
            <p:cNvSpPr/>
            <p:nvPr/>
          </p:nvSpPr>
          <p:spPr>
            <a:xfrm>
              <a:off x="15115032" y="433197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A797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Rounded Rectangle 170"/>
            <p:cNvSpPr/>
            <p:nvPr/>
          </p:nvSpPr>
          <p:spPr>
            <a:xfrm>
              <a:off x="15060167" y="436397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E56B0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5060167" y="4341114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P3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15736824" y="4341114"/>
              <a:ext cx="996696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6E56B0"/>
                  </a:solidFill>
                  <a:latin typeface="Arial"/>
                  <a:ea typeface="Arial"/>
                </a:rPr>
                <a:t>물량 집중</a:t>
              </a:r>
            </a:p>
          </p:txBody>
        </p:sp>
        <p:cxnSp>
          <p:nvCxnSpPr>
            <p:cNvPr id="174" name="Connector 173"/>
            <p:cNvCxnSpPr/>
            <p:nvPr/>
          </p:nvCxnSpPr>
          <p:spPr>
            <a:xfrm>
              <a:off x="12298680" y="4631436"/>
              <a:ext cx="4809744" cy="0"/>
            </a:xfrm>
            <a:prstGeom prst="line">
              <a:avLst/>
            </a:prstGeom>
            <a:ln w="8890">
              <a:solidFill>
                <a:srgbClr val="D9D9D9"/>
              </a:solidFill>
            </a:ln>
          </p:spPr>
        </p:cxnSp>
        <p:sp>
          <p:nvSpPr>
            <p:cNvPr id="175" name="TextBox 174"/>
            <p:cNvSpPr txBox="1"/>
            <p:nvPr/>
          </p:nvSpPr>
          <p:spPr>
            <a:xfrm>
              <a:off x="12298680" y="4647438"/>
              <a:ext cx="530352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1A1A1A"/>
                  </a:solidFill>
                  <a:latin typeface="Arial"/>
                  <a:ea typeface="Arial"/>
                </a:rPr>
                <a:t>Bond</a:t>
              </a:r>
            </a:p>
          </p:txBody>
        </p:sp>
        <p:sp>
          <p:nvSpPr>
            <p:cNvPr id="176" name="Rounded Rectangle 175"/>
            <p:cNvSpPr/>
            <p:nvPr/>
          </p:nvSpPr>
          <p:spPr>
            <a:xfrm>
              <a:off x="12883896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2883896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G2</a:t>
              </a:r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13295376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9ECF8"/>
            </a:solidFill>
            <a:ln w="11430">
              <a:solidFill>
                <a:srgbClr val="3C4F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3295376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3C4FA5"/>
                  </a:solidFill>
                  <a:latin typeface="Arial"/>
                  <a:ea typeface="Arial"/>
                </a:rPr>
                <a:t>H1</a:t>
              </a:r>
            </a:p>
          </p:txBody>
        </p:sp>
        <p:sp>
          <p:nvSpPr>
            <p:cNvPr id="180" name="Rounded Rectangle 179"/>
            <p:cNvSpPr/>
            <p:nvPr/>
          </p:nvSpPr>
          <p:spPr>
            <a:xfrm>
              <a:off x="13761720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3761720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N2</a:t>
              </a: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14173200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E3F3F1"/>
            </a:solidFill>
            <a:ln w="11430">
              <a:solidFill>
                <a:srgbClr val="1E8C8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4173200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0">
                  <a:solidFill>
                    <a:srgbClr val="146B6B"/>
                  </a:solidFill>
                  <a:latin typeface="Arial"/>
                  <a:ea typeface="Arial"/>
                </a:rPr>
                <a:t>G7</a:t>
              </a: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14639543" y="4693158"/>
              <a:ext cx="329185" cy="182880"/>
            </a:xfrm>
            <a:custGeom>
              <a:avLst/>
              <a:gdLst/>
              <a:ahLst/>
              <a:cxnLst/>
              <a:rect l="l" t="t" r="r" b="b"/>
              <a:pathLst>
                <a:path w="329185" h="182880">
                  <a:moveTo>
                    <a:pt x="0" y="131673"/>
                  </a:moveTo>
                  <a:lnTo>
                    <a:pt x="190927" y="131673"/>
                  </a:lnTo>
                  <a:lnTo>
                    <a:pt x="190927" y="182880"/>
                  </a:lnTo>
                  <a:lnTo>
                    <a:pt x="329185" y="91440"/>
                  </a:lnTo>
                  <a:lnTo>
                    <a:pt x="190927" y="0"/>
                  </a:lnTo>
                  <a:lnTo>
                    <a:pt x="190927" y="51206"/>
                  </a:lnTo>
                  <a:lnTo>
                    <a:pt x="0" y="51206"/>
                  </a:lnTo>
                  <a:close/>
                </a:path>
              </a:pathLst>
            </a:custGeom>
            <a:solidFill>
              <a:srgbClr val="D3CA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Rounded Rectangle 184"/>
            <p:cNvSpPr/>
            <p:nvPr/>
          </p:nvSpPr>
          <p:spPr>
            <a:xfrm>
              <a:off x="15169896" y="4606290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D3CAEE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15115032" y="4638294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A797D6"/>
            </a:solidFill>
            <a:ln w="1016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15060167" y="4670298"/>
              <a:ext cx="365760" cy="228600"/>
            </a:xfrm>
            <a:prstGeom prst="roundRect">
              <a:avLst>
                <a:gd name="adj" fmla="val 16000"/>
              </a:avLst>
            </a:prstGeom>
            <a:solidFill>
              <a:srgbClr val="6E56B0"/>
            </a:solidFill>
            <a:ln w="1143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15060167" y="4647438"/>
              <a:ext cx="365760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Arial"/>
                  <a:ea typeface="Arial"/>
                </a:rPr>
                <a:t>P4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5736824" y="4647438"/>
              <a:ext cx="896111" cy="27432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600" b="1">
                  <a:solidFill>
                    <a:srgbClr val="B86E00"/>
                  </a:solidFill>
                  <a:latin typeface="Arial"/>
                  <a:ea typeface="Arial"/>
                </a:rPr>
                <a:t>협상력 ↑</a:t>
              </a:r>
            </a:p>
          </p:txBody>
        </p:sp>
      </p:grpSp>
      <p:sp>
        <p:nvSpPr>
          <p:cNvPr id="190" name="Rectangle 189"/>
          <p:cNvSpPr/>
          <p:nvPr/>
        </p:nvSpPr>
        <p:spPr>
          <a:xfrm>
            <a:off x="12115800" y="5120640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2316968" y="5120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P-Mix 관점 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투자·전환 Loss 감소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2115800" y="5632704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2316968" y="563270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생산성 향상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, 수율 안정화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2115800" y="6144768"/>
            <a:ext cx="5175504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3CA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2316968" y="61447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E56B0"/>
                </a:solidFill>
                <a:latin typeface="Arial"/>
                <a:ea typeface="Arial"/>
              </a:rPr>
              <a:t>강력한 구매 협상력</a:t>
            </a:r>
            <a:r>
              <a:rPr sz="1800" b="0">
                <a:solidFill>
                  <a:srgbClr val="1A1A1A"/>
                </a:solidFill>
                <a:latin typeface="Arial"/>
                <a:ea typeface="Arial"/>
              </a:rPr>
              <a:t> 확보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8813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460275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832415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204554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576694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948833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320973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693112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06525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437391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809531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181670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53810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2594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98089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67022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42368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414508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786647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158787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53092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90306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75205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647345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019484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391624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763763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1135903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150804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880182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2252322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2624461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2996601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3368740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3740880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4113019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4485159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4857298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5229438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5601577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5973717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634585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6717996" y="6711696"/>
            <a:ext cx="109728" cy="73152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7090136" y="6711696"/>
            <a:ext cx="109728" cy="73152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96696" y="6803136"/>
            <a:ext cx="16294608" cy="512064"/>
          </a:xfrm>
          <a:prstGeom prst="rect">
            <a:avLst/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271016" y="6803136"/>
            <a:ext cx="157459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</a:rPr>
              <a:t>Common Platform   </a:t>
            </a:r>
            <a:r>
              <a:rPr sz="2000" b="0">
                <a:solidFill>
                  <a:srgbClr val="FFFFFF"/>
                </a:solidFill>
                <a:latin typeface="Arial"/>
                <a:ea typeface="Arial"/>
              </a:rPr>
              <a:t>DRAM·NAND 공용 BEOL · Bonding 공정 · 설비 Pool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22376" y="7662672"/>
            <a:ext cx="1554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2633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22376" y="7662672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6336E"/>
                </a:solidFill>
                <a:latin typeface="Arial"/>
                <a:ea typeface="Arial"/>
              </a:rPr>
              <a:t>운영 제언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22376" y="8211312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메모리 BEOL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Arial"/>
              </a:rPr>
              <a:t>통합조직 구성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480560" y="7644383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9ECF8"/>
          </a:solidFill>
          <a:ln w="12700">
            <a:solidFill>
              <a:srgbClr val="3C4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31654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ound Same Side Corner Rectangle 246"/>
          <p:cNvSpPr/>
          <p:nvPr/>
        </p:nvSpPr>
        <p:spPr>
          <a:xfrm>
            <a:off x="4681728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042916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ound Same Side Corner Rectangle 248"/>
          <p:cNvSpPr/>
          <p:nvPr/>
        </p:nvSpPr>
        <p:spPr>
          <a:xfrm>
            <a:off x="4992989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354177" y="7754111"/>
            <a:ext cx="138257" cy="138257"/>
          </a:xfrm>
          <a:prstGeom prst="ellipse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ound Same Side Corner Rectangle 250"/>
          <p:cNvSpPr/>
          <p:nvPr/>
        </p:nvSpPr>
        <p:spPr>
          <a:xfrm>
            <a:off x="5304251" y="7915412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760720" y="7644383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DRAM BEOL 조직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4480560" y="8723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E3F3F1"/>
          </a:solidFill>
          <a:ln w="12700">
            <a:solidFill>
              <a:srgbClr val="1E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731654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ound Same Side Corner Rectangle 254"/>
          <p:cNvSpPr/>
          <p:nvPr/>
        </p:nvSpPr>
        <p:spPr>
          <a:xfrm>
            <a:off x="4681728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042916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ound Same Side Corner Rectangle 256"/>
          <p:cNvSpPr/>
          <p:nvPr/>
        </p:nvSpPr>
        <p:spPr>
          <a:xfrm>
            <a:off x="4992989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354177" y="8833103"/>
            <a:ext cx="138257" cy="138257"/>
          </a:xfrm>
          <a:prstGeom prst="ellipse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ound Same Side Corner Rectangle 258"/>
          <p:cNvSpPr/>
          <p:nvPr/>
        </p:nvSpPr>
        <p:spPr>
          <a:xfrm>
            <a:off x="5304251" y="8994404"/>
            <a:ext cx="238109" cy="222747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760720" y="8723376"/>
            <a:ext cx="2651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NAND BEOL 조직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754880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5060788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366696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672605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978513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284421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590330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896238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202146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508055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813963" y="8321040"/>
            <a:ext cx="109728" cy="310896"/>
          </a:xfrm>
          <a:prstGeom prst="rect">
            <a:avLst/>
          </a:prstGeom>
          <a:solidFill>
            <a:srgbClr val="3C4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119872" y="8321040"/>
            <a:ext cx="109728" cy="310896"/>
          </a:xfrm>
          <a:prstGeom prst="rect">
            <a:avLst/>
          </a:prstGeom>
          <a:solidFill>
            <a:srgbClr val="1E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613648" y="8302752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36E"/>
                </a:solidFill>
                <a:latin typeface="Arial"/>
                <a:ea typeface="Arial"/>
              </a:rPr>
              <a:t>Bonding</a:t>
            </a:r>
          </a:p>
        </p:txBody>
      </p:sp>
      <p:sp>
        <p:nvSpPr>
          <p:cNvPr id="274" name="Right Arrow 273"/>
          <p:cNvSpPr/>
          <p:nvPr/>
        </p:nvSpPr>
        <p:spPr>
          <a:xfrm>
            <a:off x="9747504" y="8311896"/>
            <a:ext cx="566928" cy="329184"/>
          </a:xfrm>
          <a:prstGeom prst="right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10424160" y="7644383"/>
            <a:ext cx="4663440" cy="1664208"/>
          </a:xfrm>
          <a:prstGeom prst="roundRect">
            <a:avLst>
              <a:gd name="adj" fmla="val 4395"/>
            </a:avLst>
          </a:prstGeom>
          <a:solidFill>
            <a:srgbClr val="2633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0424160" y="7717536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메모리 BEOL 통합조직</a:t>
            </a:r>
          </a:p>
        </p:txBody>
      </p:sp>
      <p:sp>
        <p:nvSpPr>
          <p:cNvPr id="277" name="Oval 276"/>
          <p:cNvSpPr/>
          <p:nvPr/>
        </p:nvSpPr>
        <p:spPr>
          <a:xfrm>
            <a:off x="11785518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ound Same Side Corner Rectangle 277"/>
          <p:cNvSpPr/>
          <p:nvPr/>
        </p:nvSpPr>
        <p:spPr>
          <a:xfrm>
            <a:off x="11733215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2144695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ound Same Side Corner Rectangle 279"/>
          <p:cNvSpPr/>
          <p:nvPr/>
        </p:nvSpPr>
        <p:spPr>
          <a:xfrm>
            <a:off x="12092391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2503871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ound Same Side Corner Rectangle 281"/>
          <p:cNvSpPr/>
          <p:nvPr/>
        </p:nvSpPr>
        <p:spPr>
          <a:xfrm>
            <a:off x="12451567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2863047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ound Same Side Corner Rectangle 283"/>
          <p:cNvSpPr/>
          <p:nvPr/>
        </p:nvSpPr>
        <p:spPr>
          <a:xfrm>
            <a:off x="12810744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3222224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ound Same Side Corner Rectangle 285"/>
          <p:cNvSpPr/>
          <p:nvPr/>
        </p:nvSpPr>
        <p:spPr>
          <a:xfrm>
            <a:off x="13169920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3581400" y="8193023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ound Same Side Corner Rectangle 287"/>
          <p:cNvSpPr/>
          <p:nvPr/>
        </p:nvSpPr>
        <p:spPr>
          <a:xfrm>
            <a:off x="13529096" y="8362005"/>
            <a:ext cx="249448" cy="233354"/>
          </a:xfrm>
          <a:prstGeom prst="round2SameRect">
            <a:avLst>
              <a:gd name="adj1" fmla="val 45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10588752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3C4FA5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588752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표준 Layout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12070080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1E8C8C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2070080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설비 Pool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13551408" y="8723376"/>
            <a:ext cx="1371600" cy="438912"/>
          </a:xfrm>
          <a:prstGeom prst="roundRect">
            <a:avLst>
              <a:gd name="adj" fmla="val 16666"/>
            </a:avLst>
          </a:prstGeom>
          <a:solidFill>
            <a:srgbClr val="6E56B0"/>
          </a:solidFill>
          <a:ln w="158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3551408" y="872337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통합 구매</a:t>
            </a:r>
          </a:p>
        </p:txBody>
      </p:sp>
      <p:sp>
        <p:nvSpPr>
          <p:cNvPr id="295" name="Up Arrow 294"/>
          <p:cNvSpPr/>
          <p:nvPr/>
        </p:nvSpPr>
        <p:spPr>
          <a:xfrm>
            <a:off x="11365992" y="7370064"/>
            <a:ext cx="310896" cy="237744"/>
          </a:xfrm>
          <a:prstGeom prst="up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Up Arrow 295"/>
          <p:cNvSpPr/>
          <p:nvPr/>
        </p:nvSpPr>
        <p:spPr>
          <a:xfrm>
            <a:off x="13834872" y="7370064"/>
            <a:ext cx="310896" cy="237744"/>
          </a:xfrm>
          <a:prstGeom prst="upArrow">
            <a:avLst/>
          </a:prstGeom>
          <a:solidFill>
            <a:srgbClr val="E39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1795760" y="7360920"/>
            <a:ext cx="19202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B86E00"/>
                </a:solidFill>
                <a:latin typeface="Arial"/>
                <a:ea typeface="Arial"/>
              </a:rPr>
              <a:t>운영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5087600" y="8476488"/>
            <a:ext cx="274320" cy="0"/>
          </a:xfrm>
          <a:prstGeom prst="line">
            <a:avLst/>
          </a:prstGeom>
          <a:ln w="19050">
            <a:solidFill>
              <a:srgbClr val="8A8A8A"/>
            </a:solidFill>
          </a:ln>
        </p:spPr>
      </p:cxnSp>
      <p:sp>
        <p:nvSpPr>
          <p:cNvPr id="299" name="Rounded Rectangle 298"/>
          <p:cNvSpPr/>
          <p:nvPr/>
        </p:nvSpPr>
        <p:spPr>
          <a:xfrm>
            <a:off x="15361920" y="7955279"/>
            <a:ext cx="2203704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5361920" y="7955279"/>
            <a:ext cx="2203704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산하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반도체연구소</a:t>
            </a:r>
          </a:p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/ MTC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22376" y="9601200"/>
            <a:ext cx="154533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주: 효과 그림은 방향을 보여 주는 개념도이며 수치는 표기하지 않음. 정량 효과는 Fab별 검증 후 확정 [사내 확인]. 설비 모델 코드는 예시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6468344" y="9601200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