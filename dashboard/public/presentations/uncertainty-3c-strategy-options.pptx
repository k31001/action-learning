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웨이퍼 간 Cu/SiO2 하이브리드 본딩의 단면 SEM 사진입니다. 위아래 웨이퍼의 Cu 패드가 맞붙은 가로 선이 본딩 계면이고, NAND의 CMOS 본딩(Cell과 Peri를 따로 만들어 붙이는 구조)이 쓰는 것과 같은 방식입니다(연구용 시편, 제품 단면 아님). 출처: Hsu, W.-Y. 외, Low-Temperature Cu/SiO2 Hybrid Bonding with Low Contact Resistance Using (111)-Oriented Cu Surfaces, Materials 2022, 15(5), 1888, 그림 6(b), CC BY 4.0. 잘라 내고 원 그림의 라벨 · 화살표를 지우고 대비를 조정했습니다. 전략 2는 삼성 FMS 2026 전시의 zHBM 모형 사진으로, xPU 위에 Core Die를 바로 쌓는 3D 메모리 구조입니다.</a:t>
            </a:r>
          </a:p>
          <a:p>
            <a:r>
              <a:t>[시안 A 도해형] 칸마다 왼쪽 그림이 작동 원리입니다. 전략 1은 한 라인을 DRAM과 NAND가 나눠 쓰고 경계가 움직이는 그림(C1), 검증된 Cell 자산이 새 제품의 Cell 층으로 그대로 들어가는 그림(C2), 공통 Cell 아래 고객별 Peri를 붙이는 그림(C3)입니다. 전략 2는 메모리 설계 자원이 로직 IP로 바뀌는 그림, 검증 품질과 적기 공급 마일스톤, 가속기별로 아래 Logic Die가 다른 메모리 적층 그림입니다. 전략 3은 고객 변화를 먼저 감지하는 그림, NAND에서 SSD, 서버로 오르는 계단, 삼성과 고객이 함께 서버 구조를 설계하는 그림입니다.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웨이퍼 간 Cu/SiO2 하이브리드 본딩의 단면 SEM 사진입니다. 위아래 웨이퍼의 Cu 패드가 맞붙은 가로 선이 본딩 계면이고, NAND의 CMOS 본딩(Cell과 Peri를 따로 만들어 붙이는 구조)이 쓰는 것과 같은 방식입니다(연구용 시편, 제품 단면 아님). 출처: Hsu, W.-Y. 외, Low-Temperature Cu/SiO2 Hybrid Bonding with Low Contact Resistance Using (111)-Oriented Cu Surfaces, Materials 2022, 15(5), 1888, 그림 6(b), CC BY 4.0. 잘라 내고 원 그림의 라벨 · 화살표를 지우고 대비를 조정했습니다. 전략 2는 삼성 FMS 2026 전시의 zHBM 모형 사진으로, xPU 위에 Core Die를 바로 쌓는 3D 메모리 구조입니다.</a:t>
            </a:r>
          </a:p>
          <a:p>
            <a:r>
              <a:t>[시안 B 아이콘 키워드형] 왼쪽은 이 체계가 왜 필요한지입니다. 위 그림은 개념도로, 지금 이후 수요는 예측선 하나가 아니라 넓어지는 범위 안 어디로든 갈 수 있음을 보입니다. 그래서 예측 하나에 걸지 않고 자원 · 기술 · 고객 세 꼭짓점을 하나의 체계로 묶습니다. 오른쪽 매트릭스는 세 전략이 각 C에서 무엇을 하는지 아이콘과 키워드로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웨이퍼 간 Cu/SiO2 하이브리드 본딩의 단면 SEM 사진입니다. 위아래 웨이퍼의 Cu 패드가 맞붙은 가로 선이 본딩 계면이고, NAND의 CMOS 본딩(Cell과 Peri를 따로 만들어 붙이는 구조)이 쓰는 것과 같은 방식입니다(연구용 시편, 제품 단면 아님). 출처: Hsu, W.-Y. 외, Low-Temperature Cu/SiO2 Hybrid Bonding with Low Contact Resistance Using (111)-Oriented Cu Surfaces, Materials 2022, 15(5), 1888, 그림 6(b), CC BY 4.0. 잘라 내고 원 그림의 라벨 · 화살표를 지우고 대비를 조정했습니다. 전략 2는 삼성 FMS 2026 전시의 zHBM 모형 사진으로, xPU 위에 Core Die를 바로 쌓는 3D 메모리 구조입니다.</a:t>
            </a:r>
          </a:p>
          <a:p>
            <a:r>
              <a:t>[시안 C 기둥 구조형] 건물 그림으로 읽습니다. 맨 아래 토대가 수요 예측입니다. 필요하지만 그것만으로는 불확실성을 버틸 수 없습니다. 그 위에 자원 전환(C1), 기술 축적(C2), 고객과 공동 설계(C3) 세 기둥을 세우고, 세 기둥이 함께 전체 최적화 체계라는 지붕을 받칩니다. 세 전략은 세 기둥을 모두 가로지르는 들보입니다. 어느 전략도 한 기둥에만 기대지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웨이퍼 간 Cu/SiO2 하이브리드 본딩의 단면 SEM 사진입니다. 위아래 웨이퍼의 Cu 패드가 맞붙은 가로 선이 본딩 계면이고, NAND의 CMOS 본딩(Cell과 Peri를 따로 만들어 붙이는 구조)이 쓰는 것과 같은 방식입니다(연구용 시편, 제품 단면 아님). 출처: Hsu, W.-Y. 외, Low-Temperature Cu/SiO2 Hybrid Bonding with Low Contact Resistance Using (111)-Oriented Cu Surfaces, Materials 2022, 15(5), 1888, 그림 6(b), CC BY 4.0. 잘라 내고 원 그림의 라벨 · 화살표를 지우고 대비를 조정했습니다. 전략 2는 삼성 FMS 2026 전시의 zHBM 모형 사진으로, xPU 위에 Core Die를 바로 쌓는 3D 메모리 구조입니다.</a:t>
            </a:r>
          </a:p>
          <a:p>
            <a:r>
              <a:t>[시안 A 도해형] 칸마다 왼쪽 그림이 작동 원리입니다. 전략 1은 한 라인을 DRAM과 NAND가 나눠 쓰고 경계가 움직이는 그림(C1), 검증된 Cell 자산이 새 제품의 Cell 층으로 그대로 들어가는 그림(C2), 공통 Cell 아래 고객별 Peri를 붙이는 그림(C3)입니다. 전략 2는 메모리 설계 자원이 로직 IP로 바뀌는 그림, 검증 품질과 적기 공급 마일스톤, 가속기별로 아래 Logic Die가 다른 메모리 적층 그림입니다. 전략 3은 고객 변화를 먼저 감지하는 그림, NAND에서 SSD, 서버로 오르는 계단, 삼성과 고객이 함께 서버 구조를 설계하는 그림입니다.</a:t>
            </a:r>
          </a:p>
          <a:p>
            <a:r>
              <a:t>[컬러 버전] 3-C 열마다 색을 나눴습니다: C1 전환 파랑, C2 축적 청록, C3 공동 설계 주황. 전략 행은 중립색입니다.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웨이퍼 간 Cu/SiO2 하이브리드 본딩의 단면 SEM 사진입니다. 위아래 웨이퍼의 Cu 패드가 맞붙은 가로 선이 본딩 계면이고, NAND의 CMOS 본딩(Cell과 Peri를 따로 만들어 붙이는 구조)이 쓰는 것과 같은 방식입니다(연구용 시편, 제품 단면 아님). 출처: Hsu, W.-Y. 외, Low-Temperature Cu/SiO2 Hybrid Bonding with Low Contact Resistance Using (111)-Oriented Cu Surfaces, Materials 2022, 15(5), 1888, 그림 6(b), CC BY 4.0. 잘라 내고 원 그림의 라벨 · 화살표를 지우고 대비를 조정했습니다. 전략 2는 삼성 FMS 2026 전시의 zHBM 모형 사진으로, xPU 위에 Core Die를 바로 쌓는 3D 메모리 구조입니다.</a:t>
            </a:r>
          </a:p>
          <a:p>
            <a:r>
              <a:t>[시안 B 아이콘 키워드형] 왼쪽은 이 체계가 왜 필요한지입니다. 위 그림은 개념도로, 지금 이후 수요는 예측선 하나가 아니라 넓어지는 범위 안 어디로든 갈 수 있음을 보입니다. 그래서 예측 하나에 걸지 않고 자원 · 기술 · 고객 세 꼭짓점을 하나의 체계로 묶습니다. 오른쪽 매트릭스는 세 전략이 각 C에서 무엇을 하는지 아이콘과 키워드로 보입니다.</a:t>
            </a:r>
          </a:p>
          <a:p>
            <a:r>
              <a:t>[컬러 버전] 3-C 열마다 색을 나눴습니다: C1 전환 파랑, C2 축적 청록, C3 공동 설계 주황. 전략 행은 중립색입니다.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[요지] 불확실성이 커지면 수요 예측은 빗나갑니다. 예측만으로는 부족하고, 자원 · 기술 · 고객을 하나의 체계로 묶어야 합니다. 이것이 3-C 전략입니다. C1 Convertibility는 자원의 유연한 전환, C2 Continuity는 연속성 있는 기술 축적, C3 Co-Creation은 고객과 함께 미래를 설계하는 것입니다.</a:t>
            </a:r>
          </a:p>
          <a:p>
            <a:r>
              <a:t>[전략 1] Bonding 기반 DRAM · NAND 통합 제조. C1: 제조라인을 공용화합니다. C2: DRAM의 Legacy Cell 기술을 자산화해 그대로 활용합니다. C3: Peripherals를 고객 맞춤형으로 제공합니다.</a:t>
            </a:r>
          </a:p>
          <a:p>
            <a:r>
              <a:t>[전략 2] 고객 맞춤형 차세대 메모리 개발. C1: 메모리 로직 IP 설계 역량과 자원으로 전환합니다. C2: 검증된 품질과 적기 공급을 이어갑니다. C3: 가속기별로 고객이 요구하는 Custom Logic 설계를 함께 합니다.</a:t>
            </a:r>
          </a:p>
          <a:p>
            <a:r>
              <a:t>[전략 3] 고객 시스템을 고려한 스토리지 개발. C1: 고객과의 기술 협업으로 기술 변화를 빠르게 감지하고, 차세대 기술 수요를 함께 만들고 설계하는 체계를 만듭니다. C2: 고객 시스템과 워크로드 연구로 NAND 단품과 SSD 지식을 스토리지 서버 시스템 지식으로 넓힙니다. C3: 고객과 AI 수요에 맞춰 SSD와 스토리지 서버의 기능과 구조를 함께 설계합니다.</a:t>
            </a:r>
          </a:p>
          <a:p>
            <a:r>
              <a:t>[이미지] 전략 1은 웨이퍼 간 Cu/SiO2 하이브리드 본딩의 단면 SEM 사진입니다. 위아래 웨이퍼의 Cu 패드가 맞붙은 가로 선이 본딩 계면이고, NAND의 CMOS 본딩(Cell과 Peri를 따로 만들어 붙이는 구조)이 쓰는 것과 같은 방식입니다(연구용 시편, 제품 단면 아님). 출처: Hsu, W.-Y. 외, Low-Temperature Cu/SiO2 Hybrid Bonding with Low Contact Resistance Using (111)-Oriented Cu Surfaces, Materials 2022, 15(5), 1888, 그림 6(b), CC BY 4.0. 잘라 내고 원 그림의 라벨 · 화살표를 지우고 대비를 조정했습니다. 전략 2는 삼성 FMS 2026 전시의 zHBM 모형 사진으로, xPU 위에 Core Die를 바로 쌓는 3D 메모리 구조입니다.</a:t>
            </a:r>
          </a:p>
          <a:p>
            <a:r>
              <a:t>[시안 C 기둥 구조형] 건물 그림으로 읽습니다. 맨 아래 토대가 수요 예측입니다. 필요하지만 그것만으로는 불확실성을 버틸 수 없습니다. 그 위에 자원 전환(C1), 기술 축적(C2), 고객과 공동 설계(C3) 세 기둥을 세우고, 세 기둥이 함께 전체 최적화 체계라는 지붕을 받칩니다. 세 전략은 세 기둥을 모두 가로지르는 들보입니다. 어느 전략도 한 기둥에만 기대지 않습니다.</a:t>
            </a:r>
          </a:p>
          <a:p>
            <a:r>
              <a:t>[컬러 버전] 3-C 열마다 색을 나눴습니다: C1 전환 파랑, C2 축적 청록, C3 공동 설계 주황. 전략 행은 중립색입니다.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jp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6.jpg"/><Relationship Id="rId10" Type="http://schemas.openxmlformats.org/officeDocument/2006/relationships/image" Target="../media/image17.png"/><Relationship Id="rId11" Type="http://schemas.openxmlformats.org/officeDocument/2006/relationships/image" Target="../media/image9.png"/><Relationship Id="rId12" Type="http://schemas.openxmlformats.org/officeDocument/2006/relationships/image" Target="../media/image18.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6.jpg"/><Relationship Id="rId10" Type="http://schemas.openxmlformats.org/officeDocument/2006/relationships/image" Target="../media/image17.png"/><Relationship Id="rId11" Type="http://schemas.openxmlformats.org/officeDocument/2006/relationships/image" Target="../media/image9.png"/><Relationship Id="rId12" Type="http://schemas.openxmlformats.org/officeDocument/2006/relationships/image" Target="../media/image18.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jp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23.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24.png"/><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6.jpg"/><Relationship Id="rId10" Type="http://schemas.openxmlformats.org/officeDocument/2006/relationships/image" Target="../media/image17.png"/><Relationship Id="rId11" Type="http://schemas.openxmlformats.org/officeDocument/2006/relationships/image" Target="../media/image23.png"/><Relationship Id="rId12" Type="http://schemas.openxmlformats.org/officeDocument/2006/relationships/image" Target="../media/image27.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28.png"/><Relationship Id="rId17" Type="http://schemas.openxmlformats.org/officeDocument/2006/relationships/image" Target="../media/image29.png"/><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6.jpg"/><Relationship Id="rId10" Type="http://schemas.openxmlformats.org/officeDocument/2006/relationships/image" Target="../media/image17.png"/><Relationship Id="rId11" Type="http://schemas.openxmlformats.org/officeDocument/2006/relationships/image" Target="../media/image23.png"/><Relationship Id="rId12" Type="http://schemas.openxmlformats.org/officeDocument/2006/relationships/image" Target="../media/image27.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28.png"/><Relationship Id="rId17" Type="http://schemas.openxmlformats.org/officeDocument/2006/relationships/image" Target="../media/image29.png"/><Relationship Id="rId18"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A  도해형 매트릭스</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3657600" cy="804672"/>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8" name="Rectangle 7"/>
          <p:cNvSpPr/>
          <p:nvPr/>
        </p:nvSpPr>
        <p:spPr>
          <a:xfrm>
            <a:off x="722376" y="2990088"/>
            <a:ext cx="3657600" cy="274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62856" y="2194560"/>
            <a:ext cx="731520" cy="73152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rrows-exchange_white.png"/>
          <p:cNvPicPr>
            <a:picLocks noChangeAspect="1"/>
          </p:cNvPicPr>
          <p:nvPr/>
        </p:nvPicPr>
        <p:blipFill>
          <a:blip r:embed="rId2"/>
          <a:stretch>
            <a:fillRect/>
          </a:stretch>
        </p:blipFill>
        <p:spPr>
          <a:xfrm>
            <a:off x="4723790" y="2355494"/>
            <a:ext cx="409651" cy="409651"/>
          </a:xfrm>
          <a:prstGeom prst="rect">
            <a:avLst/>
          </a:prstGeom>
        </p:spPr>
      </p:pic>
      <p:sp>
        <p:nvSpPr>
          <p:cNvPr id="11" name="TextBox 10"/>
          <p:cNvSpPr txBox="1"/>
          <p:nvPr/>
        </p:nvSpPr>
        <p:spPr>
          <a:xfrm>
            <a:off x="5440680" y="2157984"/>
            <a:ext cx="3334512" cy="786384"/>
          </a:xfrm>
          <a:prstGeom prst="rect">
            <a:avLst/>
          </a:prstGeom>
          <a:noFill/>
        </p:spPr>
        <p:txBody>
          <a:bodyPr wrap="square" anchor="ctr" lIns="0" rIns="0" tIns="0" bIns="0">
            <a:spAutoFit/>
          </a:bodyPr>
          <a:lstStyle/>
          <a:p>
            <a:pPr algn="l">
              <a:lnSpc>
                <a:spcPct val="110000"/>
              </a:lnSpc>
            </a:pPr>
            <a:r>
              <a:rPr sz="2400" b="1">
                <a:solidFill>
                  <a:srgbClr val="3C4FA5"/>
                </a:solidFill>
                <a:latin typeface="Arial"/>
                <a:ea typeface="Arial"/>
              </a:rPr>
              <a:t>C1 </a:t>
            </a:r>
            <a:r>
              <a:rPr sz="2400" b="1">
                <a:solidFill>
                  <a:srgbClr val="1A1A1A"/>
                </a:solidFill>
                <a:latin typeface="Arial"/>
                <a:ea typeface="Arial"/>
              </a:rPr>
              <a:t>Convertibility</a:t>
            </a:r>
          </a:p>
          <a:p>
            <a:pPr algn="l">
              <a:lnSpc>
                <a:spcPct val="110000"/>
              </a:lnSpc>
            </a:pPr>
            <a:r>
              <a:rPr sz="2000" b="0">
                <a:solidFill>
                  <a:srgbClr val="555555"/>
                </a:solidFill>
                <a:latin typeface="Arial"/>
                <a:ea typeface="Arial"/>
              </a:rPr>
              <a:t>자원의 유연한 전환</a:t>
            </a:r>
          </a:p>
        </p:txBody>
      </p:sp>
      <p:sp>
        <p:nvSpPr>
          <p:cNvPr id="12" name="Rectangle 11"/>
          <p:cNvSpPr/>
          <p:nvPr/>
        </p:nvSpPr>
        <p:spPr>
          <a:xfrm>
            <a:off x="4526280" y="2980944"/>
            <a:ext cx="4248912" cy="457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58072" y="2194560"/>
            <a:ext cx="731520" cy="73152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tack-push_white.png"/>
          <p:cNvPicPr>
            <a:picLocks noChangeAspect="1"/>
          </p:cNvPicPr>
          <p:nvPr/>
        </p:nvPicPr>
        <p:blipFill>
          <a:blip r:embed="rId3"/>
          <a:stretch>
            <a:fillRect/>
          </a:stretch>
        </p:blipFill>
        <p:spPr>
          <a:xfrm>
            <a:off x="9119006" y="2355494"/>
            <a:ext cx="409651" cy="409651"/>
          </a:xfrm>
          <a:prstGeom prst="rect">
            <a:avLst/>
          </a:prstGeom>
        </p:spPr>
      </p:pic>
      <p:sp>
        <p:nvSpPr>
          <p:cNvPr id="15" name="TextBox 14"/>
          <p:cNvSpPr txBox="1"/>
          <p:nvPr/>
        </p:nvSpPr>
        <p:spPr>
          <a:xfrm>
            <a:off x="9835896" y="2157984"/>
            <a:ext cx="3334512" cy="786384"/>
          </a:xfrm>
          <a:prstGeom prst="rect">
            <a:avLst/>
          </a:prstGeom>
          <a:noFill/>
        </p:spPr>
        <p:txBody>
          <a:bodyPr wrap="square" anchor="ctr" lIns="0" rIns="0" tIns="0" bIns="0">
            <a:spAutoFit/>
          </a:bodyPr>
          <a:lstStyle/>
          <a:p>
            <a:pPr algn="l">
              <a:lnSpc>
                <a:spcPct val="110000"/>
              </a:lnSpc>
            </a:pPr>
            <a:r>
              <a:rPr sz="2400" b="1">
                <a:solidFill>
                  <a:srgbClr val="3C4FA5"/>
                </a:solidFill>
                <a:latin typeface="Arial"/>
                <a:ea typeface="Arial"/>
              </a:rPr>
              <a:t>C2 </a:t>
            </a:r>
            <a:r>
              <a:rPr sz="2400" b="1">
                <a:solidFill>
                  <a:srgbClr val="1A1A1A"/>
                </a:solidFill>
                <a:latin typeface="Arial"/>
                <a:ea typeface="Arial"/>
              </a:rPr>
              <a:t>Continuity</a:t>
            </a:r>
          </a:p>
          <a:p>
            <a:pPr algn="l">
              <a:lnSpc>
                <a:spcPct val="110000"/>
              </a:lnSpc>
            </a:pPr>
            <a:r>
              <a:rPr sz="2000" b="0">
                <a:solidFill>
                  <a:srgbClr val="555555"/>
                </a:solidFill>
                <a:latin typeface="Arial"/>
                <a:ea typeface="Arial"/>
              </a:rPr>
              <a:t>연속성 있는 기술 축적</a:t>
            </a:r>
          </a:p>
        </p:txBody>
      </p:sp>
      <p:sp>
        <p:nvSpPr>
          <p:cNvPr id="16" name="Rectangle 15"/>
          <p:cNvSpPr/>
          <p:nvPr/>
        </p:nvSpPr>
        <p:spPr>
          <a:xfrm>
            <a:off x="8921496" y="2980944"/>
            <a:ext cx="4248912" cy="457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353288" y="2194560"/>
            <a:ext cx="731520" cy="73152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rt-handshake_white.png"/>
          <p:cNvPicPr>
            <a:picLocks noChangeAspect="1"/>
          </p:cNvPicPr>
          <p:nvPr/>
        </p:nvPicPr>
        <p:blipFill>
          <a:blip r:embed="rId4"/>
          <a:stretch>
            <a:fillRect/>
          </a:stretch>
        </p:blipFill>
        <p:spPr>
          <a:xfrm>
            <a:off x="13514222" y="2355494"/>
            <a:ext cx="409651" cy="409651"/>
          </a:xfrm>
          <a:prstGeom prst="rect">
            <a:avLst/>
          </a:prstGeom>
        </p:spPr>
      </p:pic>
      <p:sp>
        <p:nvSpPr>
          <p:cNvPr id="19" name="TextBox 18"/>
          <p:cNvSpPr txBox="1"/>
          <p:nvPr/>
        </p:nvSpPr>
        <p:spPr>
          <a:xfrm>
            <a:off x="14231112" y="2157984"/>
            <a:ext cx="3334512" cy="786384"/>
          </a:xfrm>
          <a:prstGeom prst="rect">
            <a:avLst/>
          </a:prstGeom>
          <a:noFill/>
        </p:spPr>
        <p:txBody>
          <a:bodyPr wrap="square" anchor="ctr" lIns="0" rIns="0" tIns="0" bIns="0">
            <a:spAutoFit/>
          </a:bodyPr>
          <a:lstStyle/>
          <a:p>
            <a:pPr algn="l">
              <a:lnSpc>
                <a:spcPct val="110000"/>
              </a:lnSpc>
            </a:pPr>
            <a:r>
              <a:rPr sz="2400" b="1">
                <a:solidFill>
                  <a:srgbClr val="3C4FA5"/>
                </a:solidFill>
                <a:latin typeface="Arial"/>
                <a:ea typeface="Arial"/>
              </a:rPr>
              <a:t>C3 </a:t>
            </a:r>
            <a:r>
              <a:rPr sz="2400" b="1">
                <a:solidFill>
                  <a:srgbClr val="1A1A1A"/>
                </a:solidFill>
                <a:latin typeface="Arial"/>
                <a:ea typeface="Arial"/>
              </a:rPr>
              <a:t>Co-Creation</a:t>
            </a:r>
          </a:p>
          <a:p>
            <a:pPr algn="l">
              <a:lnSpc>
                <a:spcPct val="110000"/>
              </a:lnSpc>
            </a:pPr>
            <a:r>
              <a:rPr sz="2000" b="0">
                <a:solidFill>
                  <a:srgbClr val="555555"/>
                </a:solidFill>
                <a:latin typeface="Arial"/>
                <a:ea typeface="Arial"/>
              </a:rPr>
              <a:t>고객과 함께 미래를 설계</a:t>
            </a:r>
          </a:p>
        </p:txBody>
      </p:sp>
      <p:sp>
        <p:nvSpPr>
          <p:cNvPr id="20" name="Rectangle 19"/>
          <p:cNvSpPr/>
          <p:nvPr/>
        </p:nvSpPr>
        <p:spPr>
          <a:xfrm>
            <a:off x="13316712" y="2980944"/>
            <a:ext cx="4248912" cy="457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2376" y="3182112"/>
            <a:ext cx="3657600" cy="1719072"/>
          </a:xfrm>
          <a:prstGeom prst="roundRect">
            <a:avLst>
              <a:gd name="adj" fmla="val 425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6968" y="3346704"/>
            <a:ext cx="960120"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3346704"/>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1</a:t>
            </a:r>
          </a:p>
        </p:txBody>
      </p:sp>
      <p:sp>
        <p:nvSpPr>
          <p:cNvPr id="24" name="TextBox 23"/>
          <p:cNvSpPr txBox="1"/>
          <p:nvPr/>
        </p:nvSpPr>
        <p:spPr>
          <a:xfrm>
            <a:off x="886968" y="3785615"/>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Bonding 기반</a:t>
            </a:r>
          </a:p>
          <a:p>
            <a:pPr algn="l">
              <a:lnSpc>
                <a:spcPct val="100000"/>
              </a:lnSpc>
            </a:pPr>
            <a:r>
              <a:rPr sz="2000" b="1">
                <a:solidFill>
                  <a:srgbClr val="1A1A1A"/>
                </a:solidFill>
                <a:latin typeface="Arial"/>
                <a:ea typeface="Arial"/>
              </a:rPr>
              <a:t>DRAM · NAND</a:t>
            </a:r>
          </a:p>
          <a:p>
            <a:pPr algn="l">
              <a:lnSpc>
                <a:spcPct val="100000"/>
              </a:lnSpc>
            </a:pPr>
            <a:r>
              <a:rPr sz="2000" b="1">
                <a:solidFill>
                  <a:srgbClr val="1A1A1A"/>
                </a:solidFill>
                <a:latin typeface="Arial"/>
                <a:ea typeface="Arial"/>
              </a:rPr>
              <a:t>통합 제조</a:t>
            </a:r>
          </a:p>
        </p:txBody>
      </p:sp>
      <p:pic>
        <p:nvPicPr>
          <p:cNvPr id="25" name="Picture 24" descr="bonding_sem.jpg"/>
          <p:cNvPicPr>
            <a:picLocks noChangeAspect="1"/>
          </p:cNvPicPr>
          <p:nvPr/>
        </p:nvPicPr>
        <p:blipFill>
          <a:blip r:embed="rId5"/>
          <a:stretch>
            <a:fillRect/>
          </a:stretch>
        </p:blipFill>
        <p:spPr>
          <a:xfrm>
            <a:off x="2898648" y="3470208"/>
            <a:ext cx="1371600" cy="777118"/>
          </a:xfrm>
          <a:prstGeom prst="rect">
            <a:avLst/>
          </a:prstGeom>
        </p:spPr>
      </p:pic>
      <p:sp>
        <p:nvSpPr>
          <p:cNvPr id="26" name="TextBox 25"/>
          <p:cNvSpPr txBox="1"/>
          <p:nvPr/>
        </p:nvSpPr>
        <p:spPr>
          <a:xfrm>
            <a:off x="2807208" y="4302191"/>
            <a:ext cx="1554480" cy="292608"/>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본딩 계면 SEM</a:t>
            </a:r>
          </a:p>
        </p:txBody>
      </p:sp>
      <p:sp>
        <p:nvSpPr>
          <p:cNvPr id="27" name="Rectangle 26"/>
          <p:cNvSpPr/>
          <p:nvPr/>
        </p:nvSpPr>
        <p:spPr>
          <a:xfrm>
            <a:off x="2898648" y="3470208"/>
            <a:ext cx="1371600" cy="777118"/>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26280" y="3182112"/>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building-factory-2_blue.png"/>
          <p:cNvPicPr>
            <a:picLocks noChangeAspect="1"/>
          </p:cNvPicPr>
          <p:nvPr/>
        </p:nvPicPr>
        <p:blipFill>
          <a:blip r:embed="rId6"/>
          <a:stretch>
            <a:fillRect/>
          </a:stretch>
        </p:blipFill>
        <p:spPr>
          <a:xfrm>
            <a:off x="5321808" y="3337560"/>
            <a:ext cx="512064" cy="512064"/>
          </a:xfrm>
          <a:prstGeom prst="rect">
            <a:avLst/>
          </a:prstGeom>
        </p:spPr>
      </p:pic>
      <p:sp>
        <p:nvSpPr>
          <p:cNvPr id="30" name="TextBox 29"/>
          <p:cNvSpPr txBox="1"/>
          <p:nvPr/>
        </p:nvSpPr>
        <p:spPr>
          <a:xfrm>
            <a:off x="4672584" y="3886200"/>
            <a:ext cx="1810512"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공용 라인</a:t>
            </a:r>
          </a:p>
        </p:txBody>
      </p:sp>
      <p:sp>
        <p:nvSpPr>
          <p:cNvPr id="31" name="Rectangle 30"/>
          <p:cNvSpPr/>
          <p:nvPr/>
        </p:nvSpPr>
        <p:spPr>
          <a:xfrm>
            <a:off x="4672584" y="4178808"/>
            <a:ext cx="1013886" cy="38404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86470" y="4178808"/>
            <a:ext cx="796625" cy="38404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72584" y="4178808"/>
            <a:ext cx="1013886" cy="384048"/>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DRAM</a:t>
            </a:r>
          </a:p>
        </p:txBody>
      </p:sp>
      <p:sp>
        <p:nvSpPr>
          <p:cNvPr id="34" name="TextBox 33"/>
          <p:cNvSpPr txBox="1"/>
          <p:nvPr/>
        </p:nvSpPr>
        <p:spPr>
          <a:xfrm>
            <a:off x="5686470" y="4178808"/>
            <a:ext cx="796625" cy="384048"/>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NAND</a:t>
            </a:r>
          </a:p>
        </p:txBody>
      </p:sp>
      <p:sp>
        <p:nvSpPr>
          <p:cNvPr id="35" name="Left-Right Arrow 34"/>
          <p:cNvSpPr/>
          <p:nvPr/>
        </p:nvSpPr>
        <p:spPr>
          <a:xfrm>
            <a:off x="5393862" y="4599432"/>
            <a:ext cx="585216" cy="164592"/>
          </a:xfrm>
          <a:prstGeom prst="lef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01968"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제조라인 공용화</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수요에 따라</a:t>
            </a:r>
          </a:p>
          <a:p>
            <a:pPr algn="l">
              <a:lnSpc>
                <a:spcPct val="105000"/>
              </a:lnSpc>
            </a:pPr>
            <a:r>
              <a:rPr sz="1800" b="0">
                <a:solidFill>
                  <a:srgbClr val="555555"/>
                </a:solidFill>
                <a:latin typeface="Arial"/>
                <a:ea typeface="Arial"/>
              </a:rPr>
              <a:t>DRAM ↔ NAND</a:t>
            </a:r>
          </a:p>
        </p:txBody>
      </p:sp>
      <p:sp>
        <p:nvSpPr>
          <p:cNvPr id="38" name="Rounded Rectangle 37"/>
          <p:cNvSpPr/>
          <p:nvPr/>
        </p:nvSpPr>
        <p:spPr>
          <a:xfrm>
            <a:off x="8921496" y="3182112"/>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214104" y="3355848"/>
            <a:ext cx="786384" cy="731520"/>
          </a:xfrm>
          <a:prstGeom prst="roundRect">
            <a:avLst>
              <a:gd name="adj" fmla="val 1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140952" y="3429000"/>
            <a:ext cx="786384" cy="731520"/>
          </a:xfrm>
          <a:prstGeom prst="roundRect">
            <a:avLst>
              <a:gd name="adj" fmla="val 1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067800" y="3502152"/>
            <a:ext cx="786384" cy="731520"/>
          </a:xfrm>
          <a:prstGeom prst="roundRect">
            <a:avLst>
              <a:gd name="adj" fmla="val 10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22664" y="3502152"/>
            <a:ext cx="676656" cy="73152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Legacy</a:t>
            </a:r>
          </a:p>
          <a:p>
            <a:pPr algn="ctr">
              <a:lnSpc>
                <a:spcPct val="110000"/>
              </a:lnSpc>
            </a:pPr>
            <a:r>
              <a:rPr sz="1600" b="1">
                <a:solidFill>
                  <a:srgbClr val="1A1A1A"/>
                </a:solidFill>
                <a:latin typeface="Arial"/>
                <a:ea typeface="Arial"/>
              </a:rPr>
              <a:t>Cell</a:t>
            </a:r>
          </a:p>
        </p:txBody>
      </p:sp>
      <p:sp>
        <p:nvSpPr>
          <p:cNvPr id="43" name="TextBox 42"/>
          <p:cNvSpPr txBox="1"/>
          <p:nvPr/>
        </p:nvSpPr>
        <p:spPr>
          <a:xfrm>
            <a:off x="9022080" y="4361688"/>
            <a:ext cx="969264"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검증 자산</a:t>
            </a:r>
          </a:p>
        </p:txBody>
      </p:sp>
      <p:sp>
        <p:nvSpPr>
          <p:cNvPr id="44" name="Right Arrow 43"/>
          <p:cNvSpPr/>
          <p:nvPr/>
        </p:nvSpPr>
        <p:spPr>
          <a:xfrm>
            <a:off x="10000488" y="3758184"/>
            <a:ext cx="23774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0201656" y="3483864"/>
            <a:ext cx="676656"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56520" y="3483864"/>
            <a:ext cx="566928"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Cell</a:t>
            </a:r>
          </a:p>
        </p:txBody>
      </p:sp>
      <p:cxnSp>
        <p:nvCxnSpPr>
          <p:cNvPr id="47" name="Connector 46"/>
          <p:cNvCxnSpPr/>
          <p:nvPr/>
        </p:nvCxnSpPr>
        <p:spPr>
          <a:xfrm>
            <a:off x="10165080" y="3904487"/>
            <a:ext cx="749808" cy="0"/>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10201656" y="3959352"/>
            <a:ext cx="676656" cy="365760"/>
          </a:xfrm>
          <a:prstGeom prst="roundRect">
            <a:avLst>
              <a:gd name="adj" fmla="val 2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56520" y="3959352"/>
            <a:ext cx="566928"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Peri</a:t>
            </a:r>
          </a:p>
        </p:txBody>
      </p:sp>
      <p:sp>
        <p:nvSpPr>
          <p:cNvPr id="50" name="TextBox 49"/>
          <p:cNvSpPr txBox="1"/>
          <p:nvPr/>
        </p:nvSpPr>
        <p:spPr>
          <a:xfrm>
            <a:off x="10018776" y="4361688"/>
            <a:ext cx="1042415"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Bonding</a:t>
            </a:r>
          </a:p>
        </p:txBody>
      </p:sp>
      <p:sp>
        <p:nvSpPr>
          <p:cNvPr id="51" name="Rectangle 50"/>
          <p:cNvSpPr/>
          <p:nvPr/>
        </p:nvSpPr>
        <p:spPr>
          <a:xfrm>
            <a:off x="10997184"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116056"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Legacy Cell</a:t>
            </a:r>
          </a:p>
          <a:p>
            <a:pPr algn="l">
              <a:lnSpc>
                <a:spcPct val="105000"/>
              </a:lnSpc>
            </a:pPr>
            <a:r>
              <a:rPr sz="2000" b="1">
                <a:solidFill>
                  <a:srgbClr val="1A1A1A"/>
                </a:solidFill>
                <a:latin typeface="Arial"/>
                <a:ea typeface="Arial"/>
              </a:rPr>
              <a:t>자산화</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검증된 Cell을</a:t>
            </a:r>
          </a:p>
          <a:p>
            <a:pPr algn="l">
              <a:lnSpc>
                <a:spcPct val="105000"/>
              </a:lnSpc>
            </a:pPr>
            <a:r>
              <a:rPr sz="1800" b="0">
                <a:solidFill>
                  <a:srgbClr val="555555"/>
                </a:solidFill>
                <a:latin typeface="Arial"/>
                <a:ea typeface="Arial"/>
              </a:rPr>
              <a:t>그대로 재활용</a:t>
            </a:r>
          </a:p>
        </p:txBody>
      </p:sp>
      <p:sp>
        <p:nvSpPr>
          <p:cNvPr id="53" name="Rounded Rectangle 52"/>
          <p:cNvSpPr/>
          <p:nvPr/>
        </p:nvSpPr>
        <p:spPr>
          <a:xfrm>
            <a:off x="13316712" y="3182112"/>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3463016" y="3374136"/>
            <a:ext cx="1810512" cy="365760"/>
          </a:xfrm>
          <a:prstGeom prst="roundRect">
            <a:avLst>
              <a:gd name="adj" fmla="val 2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3517880" y="3374136"/>
            <a:ext cx="1700784"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공통 Cell</a:t>
            </a:r>
          </a:p>
        </p:txBody>
      </p:sp>
      <p:cxnSp>
        <p:nvCxnSpPr>
          <p:cNvPr id="56" name="Connector 55"/>
          <p:cNvCxnSpPr/>
          <p:nvPr/>
        </p:nvCxnSpPr>
        <p:spPr>
          <a:xfrm>
            <a:off x="13734288"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13463016" y="3922776"/>
            <a:ext cx="542544"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517880" y="3922776"/>
            <a:ext cx="432816"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a:t>
            </a:r>
          </a:p>
        </p:txBody>
      </p:sp>
      <p:cxnSp>
        <p:nvCxnSpPr>
          <p:cNvPr id="59" name="Connector 58"/>
          <p:cNvCxnSpPr/>
          <p:nvPr/>
        </p:nvCxnSpPr>
        <p:spPr>
          <a:xfrm>
            <a:off x="14368272"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4097000" y="3922776"/>
            <a:ext cx="542544" cy="365760"/>
          </a:xfrm>
          <a:prstGeom prst="roundRect">
            <a:avLst>
              <a:gd name="adj" fmla="val 20000"/>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4151864" y="3922776"/>
            <a:ext cx="432816"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B</a:t>
            </a:r>
          </a:p>
        </p:txBody>
      </p:sp>
      <p:cxnSp>
        <p:nvCxnSpPr>
          <p:cNvPr id="62" name="Connector 61"/>
          <p:cNvCxnSpPr/>
          <p:nvPr/>
        </p:nvCxnSpPr>
        <p:spPr>
          <a:xfrm>
            <a:off x="15002256"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14730984" y="3922776"/>
            <a:ext cx="542544" cy="365760"/>
          </a:xfrm>
          <a:prstGeom prst="roundRect">
            <a:avLst>
              <a:gd name="adj" fmla="val 20000"/>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4785848" y="3922776"/>
            <a:ext cx="432816"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C</a:t>
            </a:r>
          </a:p>
        </p:txBody>
      </p:sp>
      <p:sp>
        <p:nvSpPr>
          <p:cNvPr id="65" name="TextBox 64"/>
          <p:cNvSpPr txBox="1"/>
          <p:nvPr/>
        </p:nvSpPr>
        <p:spPr>
          <a:xfrm>
            <a:off x="13463016" y="4361688"/>
            <a:ext cx="181051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고객별 Peri</a:t>
            </a:r>
          </a:p>
        </p:txBody>
      </p:sp>
      <p:sp>
        <p:nvSpPr>
          <p:cNvPr id="66" name="Rectangle 65"/>
          <p:cNvSpPr/>
          <p:nvPr/>
        </p:nvSpPr>
        <p:spPr>
          <a:xfrm>
            <a:off x="15392400"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511272"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Peripherals</a:t>
            </a:r>
          </a:p>
          <a:p>
            <a:pPr algn="l">
              <a:lnSpc>
                <a:spcPct val="105000"/>
              </a:lnSpc>
            </a:pPr>
            <a:r>
              <a:rPr sz="2000" b="1">
                <a:solidFill>
                  <a:srgbClr val="1A1A1A"/>
                </a:solidFill>
                <a:latin typeface="Arial"/>
                <a:ea typeface="Arial"/>
              </a:rPr>
              <a:t>맞춤 제공</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Cell은 공통,</a:t>
            </a:r>
          </a:p>
          <a:p>
            <a:pPr algn="l">
              <a:lnSpc>
                <a:spcPct val="105000"/>
              </a:lnSpc>
            </a:pPr>
            <a:r>
              <a:rPr sz="1800" b="0">
                <a:solidFill>
                  <a:srgbClr val="555555"/>
                </a:solidFill>
                <a:latin typeface="Arial"/>
                <a:ea typeface="Arial"/>
              </a:rPr>
              <a:t>Peri는 고객별로</a:t>
            </a:r>
          </a:p>
        </p:txBody>
      </p:sp>
      <p:sp>
        <p:nvSpPr>
          <p:cNvPr id="68" name="Rounded Rectangle 67"/>
          <p:cNvSpPr/>
          <p:nvPr/>
        </p:nvSpPr>
        <p:spPr>
          <a:xfrm>
            <a:off x="722376" y="5029200"/>
            <a:ext cx="3657600" cy="1719072"/>
          </a:xfrm>
          <a:prstGeom prst="roundRect">
            <a:avLst>
              <a:gd name="adj" fmla="val 425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886968" y="5193792"/>
            <a:ext cx="960120"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1832" y="5193792"/>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2</a:t>
            </a:r>
          </a:p>
        </p:txBody>
      </p:sp>
      <p:sp>
        <p:nvSpPr>
          <p:cNvPr id="71" name="TextBox 70"/>
          <p:cNvSpPr txBox="1"/>
          <p:nvPr/>
        </p:nvSpPr>
        <p:spPr>
          <a:xfrm>
            <a:off x="886968" y="5632704"/>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고객 맞춤형</a:t>
            </a:r>
          </a:p>
          <a:p>
            <a:pPr algn="l">
              <a:lnSpc>
                <a:spcPct val="100000"/>
              </a:lnSpc>
            </a:pPr>
            <a:r>
              <a:rPr sz="2000" b="1">
                <a:solidFill>
                  <a:srgbClr val="1A1A1A"/>
                </a:solidFill>
                <a:latin typeface="Arial"/>
                <a:ea typeface="Arial"/>
              </a:rPr>
              <a:t>차세대 메모리</a:t>
            </a:r>
          </a:p>
          <a:p>
            <a:pPr algn="l">
              <a:lnSpc>
                <a:spcPct val="100000"/>
              </a:lnSpc>
            </a:pPr>
            <a:r>
              <a:rPr sz="2000" b="1">
                <a:solidFill>
                  <a:srgbClr val="1A1A1A"/>
                </a:solidFill>
                <a:latin typeface="Arial"/>
                <a:ea typeface="Arial"/>
              </a:rPr>
              <a:t>개발</a:t>
            </a:r>
          </a:p>
        </p:txBody>
      </p:sp>
      <p:pic>
        <p:nvPicPr>
          <p:cNvPr id="72" name="Picture 71" descr="zhbm.jpg"/>
          <p:cNvPicPr>
            <a:picLocks noChangeAspect="1"/>
          </p:cNvPicPr>
          <p:nvPr/>
        </p:nvPicPr>
        <p:blipFill>
          <a:blip r:embed="rId7"/>
          <a:stretch>
            <a:fillRect/>
          </a:stretch>
        </p:blipFill>
        <p:spPr>
          <a:xfrm>
            <a:off x="3023625" y="5138928"/>
            <a:ext cx="1121645" cy="1133855"/>
          </a:xfrm>
          <a:prstGeom prst="rect">
            <a:avLst/>
          </a:prstGeom>
        </p:spPr>
      </p:pic>
      <p:sp>
        <p:nvSpPr>
          <p:cNvPr id="73" name="TextBox 72"/>
          <p:cNvSpPr txBox="1"/>
          <p:nvPr/>
        </p:nvSpPr>
        <p:spPr>
          <a:xfrm>
            <a:off x="2807208" y="6327647"/>
            <a:ext cx="1554480" cy="292608"/>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삼성 zHBM</a:t>
            </a:r>
          </a:p>
        </p:txBody>
      </p:sp>
      <p:sp>
        <p:nvSpPr>
          <p:cNvPr id="74" name="Rectangle 73"/>
          <p:cNvSpPr/>
          <p:nvPr/>
        </p:nvSpPr>
        <p:spPr>
          <a:xfrm>
            <a:off x="3023625" y="5138928"/>
            <a:ext cx="1121645" cy="1133855"/>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526280" y="5029200"/>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672584" y="5294376"/>
            <a:ext cx="713232" cy="713232"/>
          </a:xfrm>
          <a:prstGeom prst="roundRect">
            <a:avLst>
              <a:gd name="adj" fmla="val 10256"/>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800600"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965192"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129784"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800600"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65192"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129784"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800600"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965192"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129784"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arrows-exchange_blue.png"/>
          <p:cNvPicPr>
            <a:picLocks noChangeAspect="1"/>
          </p:cNvPicPr>
          <p:nvPr/>
        </p:nvPicPr>
        <p:blipFill>
          <a:blip r:embed="rId8"/>
          <a:stretch>
            <a:fillRect/>
          </a:stretch>
        </p:blipFill>
        <p:spPr>
          <a:xfrm>
            <a:off x="5422392" y="5495544"/>
            <a:ext cx="310896" cy="310896"/>
          </a:xfrm>
          <a:prstGeom prst="rect">
            <a:avLst/>
          </a:prstGeom>
        </p:spPr>
      </p:pic>
      <p:sp>
        <p:nvSpPr>
          <p:cNvPr id="87" name="Oval 86"/>
          <p:cNvSpPr/>
          <p:nvPr/>
        </p:nvSpPr>
        <p:spPr>
          <a:xfrm>
            <a:off x="5769864" y="5294376"/>
            <a:ext cx="713232" cy="71323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8" name="Picture 87" descr="cpu-2_white.png"/>
          <p:cNvPicPr>
            <a:picLocks noChangeAspect="1"/>
          </p:cNvPicPr>
          <p:nvPr/>
        </p:nvPicPr>
        <p:blipFill>
          <a:blip r:embed="rId9"/>
          <a:stretch>
            <a:fillRect/>
          </a:stretch>
        </p:blipFill>
        <p:spPr>
          <a:xfrm>
            <a:off x="5912510" y="5437022"/>
            <a:ext cx="427939" cy="427939"/>
          </a:xfrm>
          <a:prstGeom prst="rect">
            <a:avLst/>
          </a:prstGeom>
        </p:spPr>
      </p:pic>
      <p:sp>
        <p:nvSpPr>
          <p:cNvPr id="89" name="TextBox 88"/>
          <p:cNvSpPr txBox="1"/>
          <p:nvPr/>
        </p:nvSpPr>
        <p:spPr>
          <a:xfrm>
            <a:off x="4562856" y="6080760"/>
            <a:ext cx="932688"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메모리</a:t>
            </a:r>
          </a:p>
        </p:txBody>
      </p:sp>
      <p:sp>
        <p:nvSpPr>
          <p:cNvPr id="90" name="TextBox 89"/>
          <p:cNvSpPr txBox="1"/>
          <p:nvPr/>
        </p:nvSpPr>
        <p:spPr>
          <a:xfrm>
            <a:off x="5660136" y="6080760"/>
            <a:ext cx="932688" cy="274320"/>
          </a:xfrm>
          <a:prstGeom prst="rect">
            <a:avLst/>
          </a:prstGeom>
          <a:noFill/>
        </p:spPr>
        <p:txBody>
          <a:bodyPr wrap="square" anchor="t" lIns="0" rIns="0" tIns="0" bIns="0">
            <a:spAutoFit/>
          </a:bodyPr>
          <a:lstStyle/>
          <a:p>
            <a:pPr algn="ctr">
              <a:lnSpc>
                <a:spcPct val="110000"/>
              </a:lnSpc>
            </a:pPr>
            <a:r>
              <a:rPr sz="1600" b="1">
                <a:solidFill>
                  <a:srgbClr val="3C4FA5"/>
                </a:solidFill>
                <a:latin typeface="Arial"/>
                <a:ea typeface="Arial"/>
              </a:rPr>
              <a:t>로직 IP</a:t>
            </a:r>
          </a:p>
        </p:txBody>
      </p:sp>
      <p:sp>
        <p:nvSpPr>
          <p:cNvPr id="91" name="Rectangle 90"/>
          <p:cNvSpPr/>
          <p:nvPr/>
        </p:nvSpPr>
        <p:spPr>
          <a:xfrm>
            <a:off x="6601968"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720840"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로직 IP</a:t>
            </a:r>
          </a:p>
          <a:p>
            <a:pPr algn="l">
              <a:lnSpc>
                <a:spcPct val="105000"/>
              </a:lnSpc>
            </a:pPr>
            <a:r>
              <a:rPr sz="2000" b="1">
                <a:solidFill>
                  <a:srgbClr val="1A1A1A"/>
                </a:solidFill>
                <a:latin typeface="Arial"/>
                <a:ea typeface="Arial"/>
              </a:rPr>
              <a:t>역량 전환</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역량 · 자원을</a:t>
            </a:r>
          </a:p>
          <a:p>
            <a:pPr algn="l">
              <a:lnSpc>
                <a:spcPct val="105000"/>
              </a:lnSpc>
            </a:pPr>
            <a:r>
              <a:rPr sz="1800" b="0">
                <a:solidFill>
                  <a:srgbClr val="555555"/>
                </a:solidFill>
                <a:latin typeface="Arial"/>
                <a:ea typeface="Arial"/>
              </a:rPr>
              <a:t>로직 IP로</a:t>
            </a:r>
          </a:p>
        </p:txBody>
      </p:sp>
      <p:sp>
        <p:nvSpPr>
          <p:cNvPr id="93" name="Rounded Rectangle 92"/>
          <p:cNvSpPr/>
          <p:nvPr/>
        </p:nvSpPr>
        <p:spPr>
          <a:xfrm>
            <a:off x="8921496" y="5029200"/>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4" name="Picture 93" descr="shield-check_blue.png"/>
          <p:cNvPicPr>
            <a:picLocks noChangeAspect="1"/>
          </p:cNvPicPr>
          <p:nvPr/>
        </p:nvPicPr>
        <p:blipFill>
          <a:blip r:embed="rId10"/>
          <a:stretch>
            <a:fillRect/>
          </a:stretch>
        </p:blipFill>
        <p:spPr>
          <a:xfrm>
            <a:off x="9067800" y="5276088"/>
            <a:ext cx="694944" cy="694944"/>
          </a:xfrm>
          <a:prstGeom prst="rect">
            <a:avLst/>
          </a:prstGeom>
        </p:spPr>
      </p:pic>
      <p:sp>
        <p:nvSpPr>
          <p:cNvPr id="95" name="TextBox 94"/>
          <p:cNvSpPr txBox="1"/>
          <p:nvPr/>
        </p:nvSpPr>
        <p:spPr>
          <a:xfrm>
            <a:off x="8939784" y="6080760"/>
            <a:ext cx="950976"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검증 품질</a:t>
            </a:r>
          </a:p>
        </p:txBody>
      </p:sp>
      <p:cxnSp>
        <p:nvCxnSpPr>
          <p:cNvPr id="96" name="Connector 95"/>
          <p:cNvCxnSpPr/>
          <p:nvPr/>
        </p:nvCxnSpPr>
        <p:spPr>
          <a:xfrm>
            <a:off x="9963912" y="5623560"/>
            <a:ext cx="914400" cy="0"/>
          </a:xfrm>
          <a:prstGeom prst="line">
            <a:avLst/>
          </a:prstGeom>
          <a:ln w="25400">
            <a:solidFill>
              <a:srgbClr val="8A8A8A"/>
            </a:solidFill>
          </a:ln>
        </p:spPr>
        <p:style>
          <a:lnRef idx="2">
            <a:schemeClr val="accent1"/>
          </a:lnRef>
          <a:fillRef idx="0">
            <a:schemeClr val="accent1"/>
          </a:fillRef>
          <a:effectRef idx="1">
            <a:schemeClr val="accent1"/>
          </a:effectRef>
          <a:fontRef idx="minor">
            <a:schemeClr val="tx1"/>
          </a:fontRef>
        </p:style>
      </p:cxnSp>
      <p:sp>
        <p:nvSpPr>
          <p:cNvPr id="97" name="Diamond 96"/>
          <p:cNvSpPr/>
          <p:nvPr/>
        </p:nvSpPr>
        <p:spPr>
          <a:xfrm>
            <a:off x="9973056" y="5504688"/>
            <a:ext cx="237744" cy="237744"/>
          </a:xfrm>
          <a:prstGeom prst="diamond">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Diamond 97"/>
          <p:cNvSpPr/>
          <p:nvPr/>
        </p:nvSpPr>
        <p:spPr>
          <a:xfrm>
            <a:off x="10302240" y="5504688"/>
            <a:ext cx="237744" cy="237744"/>
          </a:xfrm>
          <a:prstGeom prst="diamond">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Diamond 98"/>
          <p:cNvSpPr/>
          <p:nvPr/>
        </p:nvSpPr>
        <p:spPr>
          <a:xfrm>
            <a:off x="10631424" y="5504688"/>
            <a:ext cx="237744" cy="237744"/>
          </a:xfrm>
          <a:prstGeom prst="diamond">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872472" y="6080760"/>
            <a:ext cx="109728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적기 공급</a:t>
            </a:r>
          </a:p>
        </p:txBody>
      </p:sp>
      <p:sp>
        <p:nvSpPr>
          <p:cNvPr id="101" name="Rectangle 100"/>
          <p:cNvSpPr/>
          <p:nvPr/>
        </p:nvSpPr>
        <p:spPr>
          <a:xfrm>
            <a:off x="10997184"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116056"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검증된 품질 ·</a:t>
            </a:r>
          </a:p>
          <a:p>
            <a:pPr algn="l">
              <a:lnSpc>
                <a:spcPct val="105000"/>
              </a:lnSpc>
            </a:pPr>
            <a:r>
              <a:rPr sz="2000" b="1">
                <a:solidFill>
                  <a:srgbClr val="1A1A1A"/>
                </a:solidFill>
                <a:latin typeface="Arial"/>
                <a:ea typeface="Arial"/>
              </a:rPr>
              <a:t>적기 공급</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양산 품질을</a:t>
            </a:r>
          </a:p>
          <a:p>
            <a:pPr algn="l">
              <a:lnSpc>
                <a:spcPct val="105000"/>
              </a:lnSpc>
            </a:pPr>
            <a:r>
              <a:rPr sz="1800" b="0">
                <a:solidFill>
                  <a:srgbClr val="555555"/>
                </a:solidFill>
                <a:latin typeface="Arial"/>
                <a:ea typeface="Arial"/>
              </a:rPr>
              <a:t>제때 공급</a:t>
            </a:r>
          </a:p>
        </p:txBody>
      </p:sp>
      <p:sp>
        <p:nvSpPr>
          <p:cNvPr id="103" name="Rounded Rectangle 102"/>
          <p:cNvSpPr/>
          <p:nvPr/>
        </p:nvSpPr>
        <p:spPr>
          <a:xfrm>
            <a:off x="13316712" y="5029200"/>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3499592"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3499592"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3499592"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3499592"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3463016" y="5824728"/>
            <a:ext cx="512064" cy="20116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3371576"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A</a:t>
            </a:r>
          </a:p>
        </p:txBody>
      </p:sp>
      <p:sp>
        <p:nvSpPr>
          <p:cNvPr id="110" name="Rectangle 109"/>
          <p:cNvSpPr/>
          <p:nvPr/>
        </p:nvSpPr>
        <p:spPr>
          <a:xfrm>
            <a:off x="14148816"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4148816"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4148816"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4148816"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4112240" y="5824728"/>
            <a:ext cx="512064" cy="201168"/>
          </a:xfrm>
          <a:prstGeom prst="rect">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4020800"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B</a:t>
            </a:r>
          </a:p>
        </p:txBody>
      </p:sp>
      <p:sp>
        <p:nvSpPr>
          <p:cNvPr id="116" name="Rectangle 115"/>
          <p:cNvSpPr/>
          <p:nvPr/>
        </p:nvSpPr>
        <p:spPr>
          <a:xfrm>
            <a:off x="14798040"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4798040"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4798040"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4798040"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4761464" y="5824728"/>
            <a:ext cx="512064" cy="20116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4670024"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C</a:t>
            </a:r>
          </a:p>
        </p:txBody>
      </p:sp>
      <p:sp>
        <p:nvSpPr>
          <p:cNvPr id="122" name="TextBox 121"/>
          <p:cNvSpPr txBox="1"/>
          <p:nvPr/>
        </p:nvSpPr>
        <p:spPr>
          <a:xfrm>
            <a:off x="13371576" y="6300216"/>
            <a:ext cx="199339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가속기별 Logic Die</a:t>
            </a:r>
          </a:p>
        </p:txBody>
      </p:sp>
      <p:sp>
        <p:nvSpPr>
          <p:cNvPr id="123" name="Rectangle 122"/>
          <p:cNvSpPr/>
          <p:nvPr/>
        </p:nvSpPr>
        <p:spPr>
          <a:xfrm>
            <a:off x="15392400"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5511272"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Custom Logic</a:t>
            </a:r>
          </a:p>
          <a:p>
            <a:pPr algn="l">
              <a:lnSpc>
                <a:spcPct val="105000"/>
              </a:lnSpc>
            </a:pPr>
            <a:r>
              <a:rPr sz="2000" b="1">
                <a:solidFill>
                  <a:srgbClr val="1A1A1A"/>
                </a:solidFill>
                <a:latin typeface="Arial"/>
                <a:ea typeface="Arial"/>
              </a:rPr>
              <a:t>협업</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가속기별 로직을</a:t>
            </a:r>
          </a:p>
          <a:p>
            <a:pPr algn="l">
              <a:lnSpc>
                <a:spcPct val="105000"/>
              </a:lnSpc>
            </a:pPr>
            <a:r>
              <a:rPr sz="1800" b="0">
                <a:solidFill>
                  <a:srgbClr val="555555"/>
                </a:solidFill>
                <a:latin typeface="Arial"/>
                <a:ea typeface="Arial"/>
              </a:rPr>
              <a:t>고객과 함께</a:t>
            </a:r>
          </a:p>
        </p:txBody>
      </p:sp>
      <p:sp>
        <p:nvSpPr>
          <p:cNvPr id="125" name="Rounded Rectangle 124"/>
          <p:cNvSpPr/>
          <p:nvPr/>
        </p:nvSpPr>
        <p:spPr>
          <a:xfrm>
            <a:off x="722376" y="6876288"/>
            <a:ext cx="3657600" cy="1719072"/>
          </a:xfrm>
          <a:prstGeom prst="roundRect">
            <a:avLst>
              <a:gd name="adj" fmla="val 425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886968" y="7040879"/>
            <a:ext cx="960120" cy="365760"/>
          </a:xfrm>
          <a:prstGeom prst="roundRect">
            <a:avLst>
              <a:gd name="adj" fmla="val 2000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41832" y="7040879"/>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3</a:t>
            </a:r>
          </a:p>
        </p:txBody>
      </p:sp>
      <p:sp>
        <p:nvSpPr>
          <p:cNvPr id="128" name="TextBox 127"/>
          <p:cNvSpPr txBox="1"/>
          <p:nvPr/>
        </p:nvSpPr>
        <p:spPr>
          <a:xfrm>
            <a:off x="886968" y="7479792"/>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고객 시스템을</a:t>
            </a:r>
          </a:p>
          <a:p>
            <a:pPr algn="l">
              <a:lnSpc>
                <a:spcPct val="100000"/>
              </a:lnSpc>
            </a:pPr>
            <a:r>
              <a:rPr sz="2000" b="1">
                <a:solidFill>
                  <a:srgbClr val="1A1A1A"/>
                </a:solidFill>
                <a:latin typeface="Arial"/>
                <a:ea typeface="Arial"/>
              </a:rPr>
              <a:t>고려한 스토리지</a:t>
            </a:r>
          </a:p>
          <a:p>
            <a:pPr algn="l">
              <a:lnSpc>
                <a:spcPct val="100000"/>
              </a:lnSpc>
            </a:pPr>
            <a:r>
              <a:rPr sz="2000" b="1">
                <a:solidFill>
                  <a:srgbClr val="1A1A1A"/>
                </a:solidFill>
                <a:latin typeface="Arial"/>
                <a:ea typeface="Arial"/>
              </a:rPr>
              <a:t>개발</a:t>
            </a:r>
          </a:p>
        </p:txBody>
      </p:sp>
      <p:pic>
        <p:nvPicPr>
          <p:cNvPr id="129" name="Picture 128" descr="render_ssd.png"/>
          <p:cNvPicPr>
            <a:picLocks noChangeAspect="1"/>
          </p:cNvPicPr>
          <p:nvPr/>
        </p:nvPicPr>
        <p:blipFill>
          <a:blip r:embed="rId11"/>
          <a:stretch>
            <a:fillRect/>
          </a:stretch>
        </p:blipFill>
        <p:spPr>
          <a:xfrm>
            <a:off x="2898648" y="7061307"/>
            <a:ext cx="1371600" cy="509247"/>
          </a:xfrm>
          <a:prstGeom prst="rect">
            <a:avLst/>
          </a:prstGeom>
        </p:spPr>
      </p:pic>
      <p:pic>
        <p:nvPicPr>
          <p:cNvPr id="130" name="Picture 129" descr="render_server.png"/>
          <p:cNvPicPr>
            <a:picLocks noChangeAspect="1"/>
          </p:cNvPicPr>
          <p:nvPr/>
        </p:nvPicPr>
        <p:blipFill>
          <a:blip r:embed="rId12"/>
          <a:stretch>
            <a:fillRect/>
          </a:stretch>
        </p:blipFill>
        <p:spPr>
          <a:xfrm>
            <a:off x="2933111" y="7718999"/>
            <a:ext cx="1302672" cy="766632"/>
          </a:xfrm>
          <a:prstGeom prst="rect">
            <a:avLst/>
          </a:prstGeom>
        </p:spPr>
      </p:pic>
      <p:sp>
        <p:nvSpPr>
          <p:cNvPr id="131" name="Rounded Rectangle 130"/>
          <p:cNvSpPr/>
          <p:nvPr/>
        </p:nvSpPr>
        <p:spPr>
          <a:xfrm>
            <a:off x="4526280" y="6876288"/>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4672584" y="7360919"/>
            <a:ext cx="640080" cy="640080"/>
          </a:xfrm>
          <a:prstGeom prst="roundRect">
            <a:avLst>
              <a:gd name="adj" fmla="val 11428"/>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727448" y="7360919"/>
            <a:ext cx="530352" cy="64008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고객</a:t>
            </a:r>
          </a:p>
        </p:txBody>
      </p:sp>
      <p:sp>
        <p:nvSpPr>
          <p:cNvPr id="134" name="Rounded Rectangle 133"/>
          <p:cNvSpPr/>
          <p:nvPr/>
        </p:nvSpPr>
        <p:spPr>
          <a:xfrm>
            <a:off x="5843016" y="7360919"/>
            <a:ext cx="640080" cy="640080"/>
          </a:xfrm>
          <a:prstGeom prst="roundRect">
            <a:avLst>
              <a:gd name="adj" fmla="val 11428"/>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897879" y="7360919"/>
            <a:ext cx="530352" cy="64008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삼성</a:t>
            </a:r>
          </a:p>
        </p:txBody>
      </p:sp>
      <p:pic>
        <p:nvPicPr>
          <p:cNvPr id="136" name="Picture 135" descr="radar_blue.png"/>
          <p:cNvPicPr>
            <a:picLocks noChangeAspect="1"/>
          </p:cNvPicPr>
          <p:nvPr/>
        </p:nvPicPr>
        <p:blipFill>
          <a:blip r:embed="rId13"/>
          <a:stretch>
            <a:fillRect/>
          </a:stretch>
        </p:blipFill>
        <p:spPr>
          <a:xfrm>
            <a:off x="5385816" y="7013448"/>
            <a:ext cx="384048" cy="384048"/>
          </a:xfrm>
          <a:prstGeom prst="rect">
            <a:avLst/>
          </a:prstGeom>
        </p:spPr>
      </p:pic>
      <p:sp>
        <p:nvSpPr>
          <p:cNvPr id="137" name="Left-Right Arrow 136"/>
          <p:cNvSpPr/>
          <p:nvPr/>
        </p:nvSpPr>
        <p:spPr>
          <a:xfrm>
            <a:off x="5367528" y="7562088"/>
            <a:ext cx="420624" cy="237744"/>
          </a:xfrm>
          <a:prstGeom prst="leftRightArrow">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581144" y="8055863"/>
            <a:ext cx="199339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감지 · 수요 공동 설계</a:t>
            </a:r>
          </a:p>
        </p:txBody>
      </p:sp>
      <p:sp>
        <p:nvSpPr>
          <p:cNvPr id="139" name="Rectangle 138"/>
          <p:cNvSpPr/>
          <p:nvPr/>
        </p:nvSpPr>
        <p:spPr>
          <a:xfrm>
            <a:off x="6601968"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720840"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기술 변화</a:t>
            </a:r>
          </a:p>
          <a:p>
            <a:pPr algn="l">
              <a:lnSpc>
                <a:spcPct val="105000"/>
              </a:lnSpc>
            </a:pPr>
            <a:r>
              <a:rPr sz="2000" b="1">
                <a:solidFill>
                  <a:srgbClr val="1A1A1A"/>
                </a:solidFill>
                <a:latin typeface="Arial"/>
                <a:ea typeface="Arial"/>
              </a:rPr>
              <a:t>조기 센싱</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고객과 먼저 감지,</a:t>
            </a:r>
          </a:p>
          <a:p>
            <a:pPr algn="l">
              <a:lnSpc>
                <a:spcPct val="105000"/>
              </a:lnSpc>
            </a:pPr>
            <a:r>
              <a:rPr sz="1800" b="0">
                <a:solidFill>
                  <a:srgbClr val="555555"/>
                </a:solidFill>
                <a:latin typeface="Arial"/>
                <a:ea typeface="Arial"/>
              </a:rPr>
              <a:t>수요를 함께 설계</a:t>
            </a:r>
          </a:p>
        </p:txBody>
      </p:sp>
      <p:sp>
        <p:nvSpPr>
          <p:cNvPr id="141" name="Rounded Rectangle 140"/>
          <p:cNvSpPr/>
          <p:nvPr/>
        </p:nvSpPr>
        <p:spPr>
          <a:xfrm>
            <a:off x="8921496" y="6876288"/>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9067800" y="8092440"/>
            <a:ext cx="566928" cy="310896"/>
          </a:xfrm>
          <a:prstGeom prst="rect">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958072" y="8092440"/>
            <a:ext cx="786384" cy="310896"/>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NAND</a:t>
            </a:r>
          </a:p>
        </p:txBody>
      </p:sp>
      <p:pic>
        <p:nvPicPr>
          <p:cNvPr id="144" name="Picture 143" descr="render_nand.png"/>
          <p:cNvPicPr>
            <a:picLocks noChangeAspect="1"/>
          </p:cNvPicPr>
          <p:nvPr/>
        </p:nvPicPr>
        <p:blipFill>
          <a:blip r:embed="rId14"/>
          <a:stretch>
            <a:fillRect/>
          </a:stretch>
        </p:blipFill>
        <p:spPr>
          <a:xfrm>
            <a:off x="9067800" y="7636229"/>
            <a:ext cx="566928" cy="418645"/>
          </a:xfrm>
          <a:prstGeom prst="rect">
            <a:avLst/>
          </a:prstGeom>
        </p:spPr>
      </p:pic>
      <p:sp>
        <p:nvSpPr>
          <p:cNvPr id="145" name="Rectangle 144"/>
          <p:cNvSpPr/>
          <p:nvPr/>
        </p:nvSpPr>
        <p:spPr>
          <a:xfrm>
            <a:off x="9689592" y="7909560"/>
            <a:ext cx="566928" cy="493776"/>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579864" y="7909560"/>
            <a:ext cx="786384" cy="493776"/>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SSD</a:t>
            </a:r>
          </a:p>
        </p:txBody>
      </p:sp>
      <p:pic>
        <p:nvPicPr>
          <p:cNvPr id="147" name="Picture 146" descr="render_ssd.png"/>
          <p:cNvPicPr>
            <a:picLocks noChangeAspect="1"/>
          </p:cNvPicPr>
          <p:nvPr/>
        </p:nvPicPr>
        <p:blipFill>
          <a:blip r:embed="rId11"/>
          <a:stretch>
            <a:fillRect/>
          </a:stretch>
        </p:blipFill>
        <p:spPr>
          <a:xfrm>
            <a:off x="9689592" y="7557427"/>
            <a:ext cx="566928" cy="210488"/>
          </a:xfrm>
          <a:prstGeom prst="rect">
            <a:avLst/>
          </a:prstGeom>
        </p:spPr>
      </p:pic>
      <p:sp>
        <p:nvSpPr>
          <p:cNvPr id="148" name="Rectangle 147"/>
          <p:cNvSpPr/>
          <p:nvPr/>
        </p:nvSpPr>
        <p:spPr>
          <a:xfrm>
            <a:off x="10311384" y="7726680"/>
            <a:ext cx="566928" cy="676656"/>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0201656" y="7726680"/>
            <a:ext cx="786384" cy="676656"/>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서버</a:t>
            </a:r>
          </a:p>
        </p:txBody>
      </p:sp>
      <p:pic>
        <p:nvPicPr>
          <p:cNvPr id="150" name="Picture 149" descr="render_server.png"/>
          <p:cNvPicPr>
            <a:picLocks noChangeAspect="1"/>
          </p:cNvPicPr>
          <p:nvPr/>
        </p:nvPicPr>
        <p:blipFill>
          <a:blip r:embed="rId12"/>
          <a:stretch>
            <a:fillRect/>
          </a:stretch>
        </p:blipFill>
        <p:spPr>
          <a:xfrm>
            <a:off x="10311384" y="7312971"/>
            <a:ext cx="566928" cy="333641"/>
          </a:xfrm>
          <a:prstGeom prst="rect">
            <a:avLst/>
          </a:prstGeom>
        </p:spPr>
      </p:pic>
      <p:sp>
        <p:nvSpPr>
          <p:cNvPr id="151" name="Rectangle 150"/>
          <p:cNvSpPr/>
          <p:nvPr/>
        </p:nvSpPr>
        <p:spPr>
          <a:xfrm>
            <a:off x="10997184"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16056"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시스템 지식</a:t>
            </a:r>
          </a:p>
          <a:p>
            <a:pPr algn="l">
              <a:lnSpc>
                <a:spcPct val="105000"/>
              </a:lnSpc>
            </a:pPr>
            <a:r>
              <a:rPr sz="2000" b="1">
                <a:solidFill>
                  <a:srgbClr val="1A1A1A"/>
                </a:solidFill>
                <a:latin typeface="Arial"/>
                <a:ea typeface="Arial"/>
              </a:rPr>
              <a:t>확장</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워크로드 연구로</a:t>
            </a:r>
          </a:p>
          <a:p>
            <a:pPr algn="l">
              <a:lnSpc>
                <a:spcPct val="105000"/>
              </a:lnSpc>
            </a:pPr>
            <a:r>
              <a:rPr sz="1800" b="0">
                <a:solidFill>
                  <a:srgbClr val="555555"/>
                </a:solidFill>
                <a:latin typeface="Arial"/>
                <a:ea typeface="Arial"/>
              </a:rPr>
              <a:t>NAND → 서버까지</a:t>
            </a:r>
          </a:p>
        </p:txBody>
      </p:sp>
      <p:sp>
        <p:nvSpPr>
          <p:cNvPr id="153" name="Rounded Rectangle 152"/>
          <p:cNvSpPr/>
          <p:nvPr/>
        </p:nvSpPr>
        <p:spPr>
          <a:xfrm>
            <a:off x="13316712" y="6876288"/>
            <a:ext cx="4248912" cy="1719072"/>
          </a:xfrm>
          <a:prstGeom prst="roundRect">
            <a:avLst>
              <a:gd name="adj" fmla="val 425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3582802" y="7306055"/>
            <a:ext cx="230428" cy="230428"/>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ound Same Side Corner Rectangle 154"/>
          <p:cNvSpPr/>
          <p:nvPr/>
        </p:nvSpPr>
        <p:spPr>
          <a:xfrm>
            <a:off x="13499592" y="7574889"/>
            <a:ext cx="396849" cy="371246"/>
          </a:xfrm>
          <a:prstGeom prst="round2SameRect">
            <a:avLst>
              <a:gd name="adj1" fmla="val 45000"/>
              <a:gd name="adj2" fmla="val 0"/>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4923312" y="7306055"/>
            <a:ext cx="230428" cy="2304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ound Same Side Corner Rectangle 156"/>
          <p:cNvSpPr/>
          <p:nvPr/>
        </p:nvSpPr>
        <p:spPr>
          <a:xfrm>
            <a:off x="14840102" y="7574889"/>
            <a:ext cx="396849" cy="371246"/>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render_server.png"/>
          <p:cNvPicPr>
            <a:picLocks noChangeAspect="1"/>
          </p:cNvPicPr>
          <p:nvPr/>
        </p:nvPicPr>
        <p:blipFill>
          <a:blip r:embed="rId12"/>
          <a:stretch>
            <a:fillRect/>
          </a:stretch>
        </p:blipFill>
        <p:spPr>
          <a:xfrm>
            <a:off x="13993368" y="7085422"/>
            <a:ext cx="749808" cy="441267"/>
          </a:xfrm>
          <a:prstGeom prst="rect">
            <a:avLst/>
          </a:prstGeom>
        </p:spPr>
      </p:pic>
      <p:pic>
        <p:nvPicPr>
          <p:cNvPr id="159" name="Picture 158" descr="refresh_blue.png"/>
          <p:cNvPicPr>
            <a:picLocks noChangeAspect="1"/>
          </p:cNvPicPr>
          <p:nvPr/>
        </p:nvPicPr>
        <p:blipFill>
          <a:blip r:embed="rId15"/>
          <a:stretch>
            <a:fillRect/>
          </a:stretch>
        </p:blipFill>
        <p:spPr>
          <a:xfrm>
            <a:off x="14167104" y="7616952"/>
            <a:ext cx="402336" cy="402336"/>
          </a:xfrm>
          <a:prstGeom prst="rect">
            <a:avLst/>
          </a:prstGeom>
        </p:spPr>
      </p:pic>
      <p:sp>
        <p:nvSpPr>
          <p:cNvPr id="160" name="TextBox 159"/>
          <p:cNvSpPr txBox="1"/>
          <p:nvPr/>
        </p:nvSpPr>
        <p:spPr>
          <a:xfrm>
            <a:off x="13316712" y="8001000"/>
            <a:ext cx="694944" cy="274320"/>
          </a:xfrm>
          <a:prstGeom prst="rect">
            <a:avLst/>
          </a:prstGeom>
          <a:noFill/>
        </p:spPr>
        <p:txBody>
          <a:bodyPr wrap="square" anchor="t" lIns="0" rIns="0" tIns="0" bIns="0">
            <a:spAutoFit/>
          </a:bodyPr>
          <a:lstStyle/>
          <a:p>
            <a:pPr algn="ctr">
              <a:lnSpc>
                <a:spcPct val="110000"/>
              </a:lnSpc>
            </a:pPr>
            <a:r>
              <a:rPr sz="1600" b="1">
                <a:solidFill>
                  <a:srgbClr val="3C4FA5"/>
                </a:solidFill>
                <a:latin typeface="Arial"/>
                <a:ea typeface="Arial"/>
              </a:rPr>
              <a:t>삼성</a:t>
            </a:r>
          </a:p>
        </p:txBody>
      </p:sp>
      <p:sp>
        <p:nvSpPr>
          <p:cNvPr id="161" name="TextBox 160"/>
          <p:cNvSpPr txBox="1"/>
          <p:nvPr/>
        </p:nvSpPr>
        <p:spPr>
          <a:xfrm>
            <a:off x="14724888" y="8001000"/>
            <a:ext cx="694944"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고객</a:t>
            </a:r>
          </a:p>
        </p:txBody>
      </p:sp>
      <p:sp>
        <p:nvSpPr>
          <p:cNvPr id="162" name="Rectangle 161"/>
          <p:cNvSpPr/>
          <p:nvPr/>
        </p:nvSpPr>
        <p:spPr>
          <a:xfrm>
            <a:off x="15392400"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5511272"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SSD · 서버</a:t>
            </a:r>
          </a:p>
          <a:p>
            <a:pPr algn="l">
              <a:lnSpc>
                <a:spcPct val="105000"/>
              </a:lnSpc>
            </a:pPr>
            <a:r>
              <a:rPr sz="2000" b="1">
                <a:solidFill>
                  <a:srgbClr val="1A1A1A"/>
                </a:solidFill>
                <a:latin typeface="Arial"/>
                <a:ea typeface="Arial"/>
              </a:rPr>
              <a:t>공동 설계</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AI 수요에 맞춘</a:t>
            </a:r>
          </a:p>
          <a:p>
            <a:pPr algn="l">
              <a:lnSpc>
                <a:spcPct val="105000"/>
              </a:lnSpc>
            </a:pPr>
            <a:r>
              <a:rPr sz="1800" b="0">
                <a:solidFill>
                  <a:srgbClr val="555555"/>
                </a:solidFill>
                <a:latin typeface="Arial"/>
                <a:ea typeface="Arial"/>
              </a:rPr>
              <a:t>기능 · 구조</a:t>
            </a:r>
          </a:p>
        </p:txBody>
      </p:sp>
      <p:sp>
        <p:nvSpPr>
          <p:cNvPr id="164" name="Rectangle 163"/>
          <p:cNvSpPr/>
          <p:nvPr/>
        </p:nvSpPr>
        <p:spPr>
          <a:xfrm>
            <a:off x="722376" y="8778240"/>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3-C</a:t>
            </a:r>
          </a:p>
        </p:txBody>
      </p:sp>
      <p:sp>
        <p:nvSpPr>
          <p:cNvPr id="166" name="TextBox 165"/>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전환하고, 기술은 연속성 있게 쌓고, 미래는 고객과 함께 설계합니다</a:t>
            </a:r>
          </a:p>
        </p:txBody>
      </p:sp>
      <p:sp>
        <p:nvSpPr>
          <p:cNvPr id="167" name="TextBox 166"/>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 수치 주장 없음). 아이콘 Tabler Icons(MIT).</a:t>
            </a:r>
          </a:p>
          <a:p>
            <a:pPr algn="l">
              <a:lnSpc>
                <a:spcPct val="105000"/>
              </a:lnSpc>
            </a:pPr>
            <a:r>
              <a:rPr sz="1500" b="0">
                <a:solidFill>
                  <a:srgbClr val="555555"/>
                </a:solidFill>
                <a:latin typeface="Arial"/>
                <a:ea typeface="Arial"/>
              </a:rPr>
              <a:t>이미지: 전략 1 Cu/SiO2 하이브리드 본딩 단면 SEM(Hsu 외, Materials 2022, CC BY 4.0, 잘라 냄), 전략 2 삼성 FMS 2026 zHBM 전시, 전략 3 3D 렌더.</a:t>
            </a:r>
          </a:p>
        </p:txBody>
      </p:sp>
      <p:sp>
        <p:nvSpPr>
          <p:cNvPr id="168" name="TextBox 167"/>
          <p:cNvSpPr txBox="1"/>
          <p:nvPr/>
        </p:nvSpPr>
        <p:spPr>
          <a:xfrm>
            <a:off x="15736824" y="9601200"/>
            <a:ext cx="182880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B  아이콘 키워드형</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03120"/>
            <a:ext cx="4023360" cy="402336"/>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수요 예측만으로는 부족</a:t>
            </a:r>
          </a:p>
        </p:txBody>
      </p:sp>
      <p:cxnSp>
        <p:nvCxnSpPr>
          <p:cNvPr id="8" name="Connector 7"/>
          <p:cNvCxnSpPr/>
          <p:nvPr/>
        </p:nvCxnSpPr>
        <p:spPr>
          <a:xfrm>
            <a:off x="813816" y="2615184"/>
            <a:ext cx="0" cy="1847088"/>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3816" y="4462272"/>
            <a:ext cx="3840480" cy="0"/>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86968" y="2578608"/>
            <a:ext cx="731520"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수요</a:t>
            </a:r>
          </a:p>
        </p:txBody>
      </p:sp>
      <p:sp>
        <p:nvSpPr>
          <p:cNvPr id="11" name="TextBox 10"/>
          <p:cNvSpPr txBox="1"/>
          <p:nvPr/>
        </p:nvSpPr>
        <p:spPr>
          <a:xfrm>
            <a:off x="3739896" y="4480559"/>
            <a:ext cx="914400" cy="274320"/>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시간 →</a:t>
            </a:r>
          </a:p>
        </p:txBody>
      </p:sp>
      <p:sp>
        <p:nvSpPr>
          <p:cNvPr id="12" name="Freeform 11"/>
          <p:cNvSpPr/>
          <p:nvPr/>
        </p:nvSpPr>
        <p:spPr>
          <a:xfrm>
            <a:off x="2350008" y="2706624"/>
            <a:ext cx="2267712" cy="1389887"/>
          </a:xfrm>
          <a:custGeom>
            <a:avLst/>
            <a:gdLst/>
            <a:ahLst/>
            <a:cxnLst/>
            <a:rect l="l" t="t" r="r" b="b"/>
            <a:pathLst>
              <a:path w="2267712" h="1389887">
                <a:moveTo>
                  <a:pt x="0" y="869045"/>
                </a:moveTo>
                <a:lnTo>
                  <a:pt x="2267712" y="0"/>
                </a:lnTo>
                <a:lnTo>
                  <a:pt x="2267712" y="1389887"/>
                </a:lnTo>
                <a:lnTo>
                  <a:pt x="0" y="869045"/>
                </a:lnTo>
                <a:close/>
              </a:path>
            </a:pathLst>
          </a:cu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350008" y="2660903"/>
            <a:ext cx="0" cy="1801369"/>
          </a:xfrm>
          <a:prstGeom prst="line">
            <a:avLst/>
          </a:prstGeom>
          <a:ln w="1270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847088" y="4480559"/>
            <a:ext cx="1005840"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지금</a:t>
            </a:r>
          </a:p>
        </p:txBody>
      </p:sp>
      <p:sp>
        <p:nvSpPr>
          <p:cNvPr id="15" name="Freeform 14"/>
          <p:cNvSpPr/>
          <p:nvPr/>
        </p:nvSpPr>
        <p:spPr>
          <a:xfrm>
            <a:off x="923544" y="3575669"/>
            <a:ext cx="1426464" cy="517185"/>
          </a:xfrm>
          <a:custGeom>
            <a:avLst/>
            <a:gdLst/>
            <a:ahLst/>
            <a:cxnLst/>
            <a:rect l="l" t="t" r="r" b="b"/>
            <a:pathLst>
              <a:path w="1426464" h="517185">
                <a:moveTo>
                  <a:pt x="0" y="517185"/>
                </a:moveTo>
                <a:lnTo>
                  <a:pt x="256032" y="332476"/>
                </a:lnTo>
                <a:lnTo>
                  <a:pt x="457200" y="443301"/>
                </a:lnTo>
                <a:lnTo>
                  <a:pt x="758951" y="147767"/>
                </a:lnTo>
                <a:lnTo>
                  <a:pt x="1005840" y="221651"/>
                </a:lnTo>
                <a:lnTo>
                  <a:pt x="1243584" y="55413"/>
                </a:lnTo>
                <a:lnTo>
                  <a:pt x="1426464" y="0"/>
                </a:lnTo>
              </a:path>
            </a:pathLst>
          </a:custGeom>
          <a:noFill/>
          <a:ln w="317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350008" y="3280135"/>
            <a:ext cx="2267712" cy="295534"/>
          </a:xfrm>
          <a:custGeom>
            <a:avLst/>
            <a:gdLst/>
            <a:ahLst/>
            <a:cxnLst/>
            <a:rect l="l" t="t" r="r" b="b"/>
            <a:pathLst>
              <a:path w="2267712" h="295534">
                <a:moveTo>
                  <a:pt x="0" y="295534"/>
                </a:moveTo>
                <a:lnTo>
                  <a:pt x="2267712" y="0"/>
                </a:lnTo>
              </a:path>
            </a:pathLst>
          </a:custGeom>
          <a:noFill/>
          <a:ln w="31750">
            <a:solidFill>
              <a:srgbClr val="3C4F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94759" y="2950951"/>
            <a:ext cx="822960" cy="274320"/>
          </a:xfrm>
          <a:prstGeom prst="rect">
            <a:avLst/>
          </a:prstGeom>
          <a:noFill/>
        </p:spPr>
        <p:txBody>
          <a:bodyPr wrap="square" anchor="t" lIns="0" rIns="0" tIns="0" bIns="0">
            <a:spAutoFit/>
          </a:bodyPr>
          <a:lstStyle/>
          <a:p>
            <a:pPr algn="r">
              <a:lnSpc>
                <a:spcPct val="110000"/>
              </a:lnSpc>
            </a:pPr>
            <a:r>
              <a:rPr sz="1600" b="1">
                <a:solidFill>
                  <a:srgbClr val="3C4FA5"/>
                </a:solidFill>
                <a:latin typeface="Arial"/>
                <a:ea typeface="Arial"/>
              </a:rPr>
              <a:t>예측</a:t>
            </a:r>
          </a:p>
        </p:txBody>
      </p:sp>
      <p:sp>
        <p:nvSpPr>
          <p:cNvPr id="18" name="Freeform 17"/>
          <p:cNvSpPr/>
          <p:nvPr/>
        </p:nvSpPr>
        <p:spPr>
          <a:xfrm>
            <a:off x="2350008" y="3575669"/>
            <a:ext cx="2176272" cy="480243"/>
          </a:xfrm>
          <a:custGeom>
            <a:avLst/>
            <a:gdLst/>
            <a:ahLst/>
            <a:cxnLst/>
            <a:rect l="l" t="t" r="r" b="b"/>
            <a:pathLst>
              <a:path w="2176272" h="480243">
                <a:moveTo>
                  <a:pt x="0" y="0"/>
                </a:moveTo>
                <a:lnTo>
                  <a:pt x="411480" y="91440"/>
                </a:lnTo>
                <a:lnTo>
                  <a:pt x="777240" y="292608"/>
                </a:lnTo>
                <a:lnTo>
                  <a:pt x="1188720" y="219456"/>
                </a:lnTo>
                <a:lnTo>
                  <a:pt x="2176272" y="480243"/>
                </a:lnTo>
              </a:path>
            </a:pathLst>
          </a:custGeom>
          <a:no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350008" y="2816352"/>
            <a:ext cx="2176272" cy="759317"/>
          </a:xfrm>
          <a:custGeom>
            <a:avLst/>
            <a:gdLst/>
            <a:ahLst/>
            <a:cxnLst/>
            <a:rect l="l" t="t" r="r" b="b"/>
            <a:pathLst>
              <a:path w="2176272" h="759317">
                <a:moveTo>
                  <a:pt x="0" y="759317"/>
                </a:moveTo>
                <a:lnTo>
                  <a:pt x="365760" y="558149"/>
                </a:lnTo>
                <a:lnTo>
                  <a:pt x="822960" y="484997"/>
                </a:lnTo>
                <a:lnTo>
                  <a:pt x="1280160" y="283829"/>
                </a:lnTo>
                <a:lnTo>
                  <a:pt x="2176272" y="0"/>
                </a:lnTo>
              </a:path>
            </a:pathLst>
          </a:custGeom>
          <a:no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9464" y="4133087"/>
            <a:ext cx="2194560"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실제는 이 범위 어디든</a:t>
            </a:r>
          </a:p>
        </p:txBody>
      </p:sp>
      <p:sp>
        <p:nvSpPr>
          <p:cNvPr id="21" name="TextBox 20"/>
          <p:cNvSpPr txBox="1"/>
          <p:nvPr/>
        </p:nvSpPr>
        <p:spPr>
          <a:xfrm>
            <a:off x="905256" y="2889503"/>
            <a:ext cx="1280160" cy="274320"/>
          </a:xfrm>
          <a:prstGeom prst="rect">
            <a:avLst/>
          </a:prstGeom>
          <a:noFill/>
        </p:spPr>
        <p:txBody>
          <a:bodyPr wrap="square" anchor="t" lIns="0" rIns="0" tIns="0" bIns="0">
            <a:spAutoFit/>
          </a:bodyPr>
          <a:lstStyle/>
          <a:p>
            <a:pPr algn="l">
              <a:lnSpc>
                <a:spcPct val="110000"/>
              </a:lnSpc>
            </a:pPr>
            <a:r>
              <a:rPr sz="1600" b="0">
                <a:solidFill>
                  <a:srgbClr val="8A8A8A"/>
                </a:solidFill>
                <a:latin typeface="Arial"/>
                <a:ea typeface="Arial"/>
              </a:rPr>
              <a:t>개념도</a:t>
            </a:r>
          </a:p>
        </p:txBody>
      </p:sp>
      <p:sp>
        <p:nvSpPr>
          <p:cNvPr id="22" name="Isosceles Triangle 21"/>
          <p:cNvSpPr/>
          <p:nvPr/>
        </p:nvSpPr>
        <p:spPr>
          <a:xfrm rot="10800000">
            <a:off x="2532888" y="4754880"/>
            <a:ext cx="402336" cy="237744"/>
          </a:xfrm>
          <a:prstGeom prst="triangl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5047488"/>
            <a:ext cx="4023360" cy="402336"/>
          </a:xfrm>
          <a:prstGeom prst="rect">
            <a:avLst/>
          </a:prstGeom>
          <a:noFill/>
        </p:spPr>
        <p:txBody>
          <a:bodyPr wrap="square" anchor="ctr" lIns="0" rIns="0" tIns="0" bIns="0">
            <a:spAutoFit/>
          </a:bodyPr>
          <a:lstStyle/>
          <a:p>
            <a:pPr algn="ctr">
              <a:lnSpc>
                <a:spcPct val="110000"/>
              </a:lnSpc>
            </a:pPr>
            <a:r>
              <a:rPr sz="2200" b="1">
                <a:solidFill>
                  <a:srgbClr val="1A1A1A"/>
                </a:solidFill>
                <a:latin typeface="Arial"/>
                <a:ea typeface="Arial"/>
              </a:rPr>
              <a:t>하나의 체계로 묶습니다</a:t>
            </a:r>
          </a:p>
        </p:txBody>
      </p:sp>
      <p:cxnSp>
        <p:nvCxnSpPr>
          <p:cNvPr id="24" name="Connector 23"/>
          <p:cNvCxnSpPr/>
          <p:nvPr/>
        </p:nvCxnSpPr>
        <p:spPr>
          <a:xfrm flipH="1">
            <a:off x="1325880" y="6089904"/>
            <a:ext cx="1408176" cy="1865375"/>
          </a:xfrm>
          <a:prstGeom prst="line">
            <a:avLst/>
          </a:prstGeom>
          <a:ln w="3810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25880" y="7955279"/>
            <a:ext cx="2816352" cy="0"/>
          </a:xfrm>
          <a:prstGeom prst="line">
            <a:avLst/>
          </a:prstGeom>
          <a:ln w="3810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734056" y="6089904"/>
            <a:ext cx="1408176" cy="1865375"/>
          </a:xfrm>
          <a:prstGeom prst="line">
            <a:avLst/>
          </a:prstGeom>
          <a:ln w="38100">
            <a:solidFill>
              <a:srgbClr val="C0CAE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221992" y="6931151"/>
            <a:ext cx="1024128" cy="804672"/>
          </a:xfrm>
          <a:prstGeom prst="roundRect">
            <a:avLst>
              <a:gd name="adj" fmla="val 9090"/>
            </a:avLst>
          </a:prstGeom>
          <a:solidFill>
            <a:srgbClr val="FFFFFF"/>
          </a:solidFill>
          <a:ln w="22225">
            <a:solidFill>
              <a:srgbClr val="3C4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21992" y="6931151"/>
            <a:ext cx="1024128" cy="804672"/>
          </a:xfrm>
          <a:prstGeom prst="rect">
            <a:avLst/>
          </a:prstGeom>
          <a:noFill/>
        </p:spPr>
        <p:txBody>
          <a:bodyPr wrap="square" anchor="ctr" lIns="0" rIns="0" tIns="0" bIns="0">
            <a:spAutoFit/>
          </a:bodyPr>
          <a:lstStyle/>
          <a:p>
            <a:pPr algn="ctr">
              <a:lnSpc>
                <a:spcPct val="100000"/>
              </a:lnSpc>
            </a:pPr>
            <a:r>
              <a:rPr sz="1800" b="1">
                <a:solidFill>
                  <a:srgbClr val="3C4FA5"/>
                </a:solidFill>
                <a:latin typeface="Arial"/>
                <a:ea typeface="Arial"/>
              </a:rPr>
              <a:t>전체</a:t>
            </a:r>
          </a:p>
          <a:p>
            <a:pPr algn="ctr">
              <a:lnSpc>
                <a:spcPct val="100000"/>
              </a:lnSpc>
            </a:pPr>
            <a:r>
              <a:rPr sz="1800" b="1">
                <a:solidFill>
                  <a:srgbClr val="3C4FA5"/>
                </a:solidFill>
                <a:latin typeface="Arial"/>
                <a:ea typeface="Arial"/>
              </a:rPr>
              <a:t>최적화</a:t>
            </a:r>
          </a:p>
        </p:txBody>
      </p:sp>
      <p:sp>
        <p:nvSpPr>
          <p:cNvPr id="29" name="Oval 28"/>
          <p:cNvSpPr/>
          <p:nvPr/>
        </p:nvSpPr>
        <p:spPr>
          <a:xfrm>
            <a:off x="2203704" y="5559552"/>
            <a:ext cx="1060704" cy="106070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rrows-exchange_white.png"/>
          <p:cNvPicPr>
            <a:picLocks noChangeAspect="1"/>
          </p:cNvPicPr>
          <p:nvPr/>
        </p:nvPicPr>
        <p:blipFill>
          <a:blip r:embed="rId2"/>
          <a:stretch>
            <a:fillRect/>
          </a:stretch>
        </p:blipFill>
        <p:spPr>
          <a:xfrm>
            <a:off x="2542032" y="5705856"/>
            <a:ext cx="384048" cy="384048"/>
          </a:xfrm>
          <a:prstGeom prst="rect">
            <a:avLst/>
          </a:prstGeom>
        </p:spPr>
      </p:pic>
      <p:sp>
        <p:nvSpPr>
          <p:cNvPr id="31" name="TextBox 30"/>
          <p:cNvSpPr txBox="1"/>
          <p:nvPr/>
        </p:nvSpPr>
        <p:spPr>
          <a:xfrm>
            <a:off x="2203704" y="6108192"/>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C1 자원</a:t>
            </a:r>
          </a:p>
        </p:txBody>
      </p:sp>
      <p:sp>
        <p:nvSpPr>
          <p:cNvPr id="32" name="Oval 31"/>
          <p:cNvSpPr/>
          <p:nvPr/>
        </p:nvSpPr>
        <p:spPr>
          <a:xfrm>
            <a:off x="795528" y="7424927"/>
            <a:ext cx="1060704" cy="106070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tack-push_white.png"/>
          <p:cNvPicPr>
            <a:picLocks noChangeAspect="1"/>
          </p:cNvPicPr>
          <p:nvPr/>
        </p:nvPicPr>
        <p:blipFill>
          <a:blip r:embed="rId3"/>
          <a:stretch>
            <a:fillRect/>
          </a:stretch>
        </p:blipFill>
        <p:spPr>
          <a:xfrm>
            <a:off x="1133856" y="7571231"/>
            <a:ext cx="384048" cy="384048"/>
          </a:xfrm>
          <a:prstGeom prst="rect">
            <a:avLst/>
          </a:prstGeom>
        </p:spPr>
      </p:pic>
      <p:sp>
        <p:nvSpPr>
          <p:cNvPr id="34" name="TextBox 33"/>
          <p:cNvSpPr txBox="1"/>
          <p:nvPr/>
        </p:nvSpPr>
        <p:spPr>
          <a:xfrm>
            <a:off x="795528" y="7973567"/>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C2 기술</a:t>
            </a:r>
          </a:p>
        </p:txBody>
      </p:sp>
      <p:sp>
        <p:nvSpPr>
          <p:cNvPr id="35" name="Oval 34"/>
          <p:cNvSpPr/>
          <p:nvPr/>
        </p:nvSpPr>
        <p:spPr>
          <a:xfrm>
            <a:off x="3611880" y="7424927"/>
            <a:ext cx="1060704" cy="106070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heart-handshake_white.png"/>
          <p:cNvPicPr>
            <a:picLocks noChangeAspect="1"/>
          </p:cNvPicPr>
          <p:nvPr/>
        </p:nvPicPr>
        <p:blipFill>
          <a:blip r:embed="rId4"/>
          <a:stretch>
            <a:fillRect/>
          </a:stretch>
        </p:blipFill>
        <p:spPr>
          <a:xfrm>
            <a:off x="3950208" y="7571231"/>
            <a:ext cx="384048" cy="384048"/>
          </a:xfrm>
          <a:prstGeom prst="rect">
            <a:avLst/>
          </a:prstGeom>
        </p:spPr>
      </p:pic>
      <p:sp>
        <p:nvSpPr>
          <p:cNvPr id="37" name="TextBox 36"/>
          <p:cNvSpPr txBox="1"/>
          <p:nvPr/>
        </p:nvSpPr>
        <p:spPr>
          <a:xfrm>
            <a:off x="3611880" y="7973567"/>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C3 고객</a:t>
            </a:r>
          </a:p>
        </p:txBody>
      </p:sp>
      <p:sp>
        <p:nvSpPr>
          <p:cNvPr id="38" name="Rectangle 37"/>
          <p:cNvSpPr/>
          <p:nvPr/>
        </p:nvSpPr>
        <p:spPr>
          <a:xfrm>
            <a:off x="4910328" y="2139696"/>
            <a:ext cx="18288" cy="645566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93208" y="2139696"/>
            <a:ext cx="2999232" cy="1188719"/>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40" name="Rounded Rectangle 39"/>
          <p:cNvSpPr/>
          <p:nvPr/>
        </p:nvSpPr>
        <p:spPr>
          <a:xfrm>
            <a:off x="8220456" y="2139696"/>
            <a:ext cx="3029712" cy="1280160"/>
          </a:xfrm>
          <a:prstGeom prst="roundRect">
            <a:avLst>
              <a:gd name="adj" fmla="val 57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arrows-exchange_white.png"/>
          <p:cNvPicPr>
            <a:picLocks noChangeAspect="1"/>
          </p:cNvPicPr>
          <p:nvPr/>
        </p:nvPicPr>
        <p:blipFill>
          <a:blip r:embed="rId2"/>
          <a:stretch>
            <a:fillRect/>
          </a:stretch>
        </p:blipFill>
        <p:spPr>
          <a:xfrm>
            <a:off x="9515856" y="2249424"/>
            <a:ext cx="438912" cy="438912"/>
          </a:xfrm>
          <a:prstGeom prst="rect">
            <a:avLst/>
          </a:prstGeom>
        </p:spPr>
      </p:pic>
      <p:sp>
        <p:nvSpPr>
          <p:cNvPr id="42" name="TextBox 41"/>
          <p:cNvSpPr txBox="1"/>
          <p:nvPr/>
        </p:nvSpPr>
        <p:spPr>
          <a:xfrm>
            <a:off x="8220456" y="2724912"/>
            <a:ext cx="3029712" cy="640080"/>
          </a:xfrm>
          <a:prstGeom prst="rect">
            <a:avLst/>
          </a:prstGeom>
          <a:noFill/>
        </p:spPr>
        <p:txBody>
          <a:bodyPr wrap="square" anchor="t" lIns="0" rIns="0" tIns="0" bIns="0">
            <a:spAutoFit/>
          </a:bodyPr>
          <a:lstStyle/>
          <a:p>
            <a:pPr algn="ctr">
              <a:lnSpc>
                <a:spcPct val="100000"/>
              </a:lnSpc>
            </a:pPr>
            <a:r>
              <a:rPr sz="2200" b="1">
                <a:solidFill>
                  <a:srgbClr val="C0CAEC"/>
                </a:solidFill>
                <a:latin typeface="Arial"/>
                <a:ea typeface="Arial"/>
              </a:rPr>
              <a:t>C1 </a:t>
            </a:r>
            <a:r>
              <a:rPr sz="2200" b="1">
                <a:solidFill>
                  <a:srgbClr val="FFFFFF"/>
                </a:solidFill>
                <a:latin typeface="Arial"/>
                <a:ea typeface="Arial"/>
              </a:rPr>
              <a:t>Convertibility</a:t>
            </a:r>
          </a:p>
          <a:p>
            <a:pPr algn="ctr">
              <a:lnSpc>
                <a:spcPct val="100000"/>
              </a:lnSpc>
            </a:pPr>
            <a:r>
              <a:rPr sz="1800" b="0">
                <a:solidFill>
                  <a:srgbClr val="FFFFFF"/>
                </a:solidFill>
                <a:latin typeface="Arial"/>
                <a:ea typeface="Arial"/>
              </a:rPr>
              <a:t>자원의 유연한 전환</a:t>
            </a:r>
          </a:p>
        </p:txBody>
      </p:sp>
      <p:sp>
        <p:nvSpPr>
          <p:cNvPr id="43" name="Rounded Rectangle 42"/>
          <p:cNvSpPr/>
          <p:nvPr/>
        </p:nvSpPr>
        <p:spPr>
          <a:xfrm>
            <a:off x="11378184" y="2139696"/>
            <a:ext cx="3029712" cy="1280160"/>
          </a:xfrm>
          <a:prstGeom prst="roundRect">
            <a:avLst>
              <a:gd name="adj" fmla="val 57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stack-push_white.png"/>
          <p:cNvPicPr>
            <a:picLocks noChangeAspect="1"/>
          </p:cNvPicPr>
          <p:nvPr/>
        </p:nvPicPr>
        <p:blipFill>
          <a:blip r:embed="rId3"/>
          <a:stretch>
            <a:fillRect/>
          </a:stretch>
        </p:blipFill>
        <p:spPr>
          <a:xfrm>
            <a:off x="12673584" y="2249424"/>
            <a:ext cx="438912" cy="438912"/>
          </a:xfrm>
          <a:prstGeom prst="rect">
            <a:avLst/>
          </a:prstGeom>
        </p:spPr>
      </p:pic>
      <p:sp>
        <p:nvSpPr>
          <p:cNvPr id="45" name="TextBox 44"/>
          <p:cNvSpPr txBox="1"/>
          <p:nvPr/>
        </p:nvSpPr>
        <p:spPr>
          <a:xfrm>
            <a:off x="11378184" y="2724912"/>
            <a:ext cx="3029712" cy="640080"/>
          </a:xfrm>
          <a:prstGeom prst="rect">
            <a:avLst/>
          </a:prstGeom>
          <a:noFill/>
        </p:spPr>
        <p:txBody>
          <a:bodyPr wrap="square" anchor="t" lIns="0" rIns="0" tIns="0" bIns="0">
            <a:spAutoFit/>
          </a:bodyPr>
          <a:lstStyle/>
          <a:p>
            <a:pPr algn="ctr">
              <a:lnSpc>
                <a:spcPct val="100000"/>
              </a:lnSpc>
            </a:pPr>
            <a:r>
              <a:rPr sz="2200" b="1">
                <a:solidFill>
                  <a:srgbClr val="C0CAEC"/>
                </a:solidFill>
                <a:latin typeface="Arial"/>
                <a:ea typeface="Arial"/>
              </a:rPr>
              <a:t>C2 </a:t>
            </a:r>
            <a:r>
              <a:rPr sz="2200" b="1">
                <a:solidFill>
                  <a:srgbClr val="FFFFFF"/>
                </a:solidFill>
                <a:latin typeface="Arial"/>
                <a:ea typeface="Arial"/>
              </a:rPr>
              <a:t>Continuity</a:t>
            </a:r>
          </a:p>
          <a:p>
            <a:pPr algn="ctr">
              <a:lnSpc>
                <a:spcPct val="100000"/>
              </a:lnSpc>
            </a:pPr>
            <a:r>
              <a:rPr sz="1800" b="0">
                <a:solidFill>
                  <a:srgbClr val="FFFFFF"/>
                </a:solidFill>
                <a:latin typeface="Arial"/>
                <a:ea typeface="Arial"/>
              </a:rPr>
              <a:t>연속성 있는 기술 축적</a:t>
            </a:r>
          </a:p>
        </p:txBody>
      </p:sp>
      <p:sp>
        <p:nvSpPr>
          <p:cNvPr id="46" name="Rounded Rectangle 45"/>
          <p:cNvSpPr/>
          <p:nvPr/>
        </p:nvSpPr>
        <p:spPr>
          <a:xfrm>
            <a:off x="14535912" y="2139696"/>
            <a:ext cx="3029712" cy="1280160"/>
          </a:xfrm>
          <a:prstGeom prst="roundRect">
            <a:avLst>
              <a:gd name="adj" fmla="val 57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heart-handshake_white.png"/>
          <p:cNvPicPr>
            <a:picLocks noChangeAspect="1"/>
          </p:cNvPicPr>
          <p:nvPr/>
        </p:nvPicPr>
        <p:blipFill>
          <a:blip r:embed="rId4"/>
          <a:stretch>
            <a:fillRect/>
          </a:stretch>
        </p:blipFill>
        <p:spPr>
          <a:xfrm>
            <a:off x="15831312" y="2249424"/>
            <a:ext cx="438912" cy="438912"/>
          </a:xfrm>
          <a:prstGeom prst="rect">
            <a:avLst/>
          </a:prstGeom>
        </p:spPr>
      </p:pic>
      <p:sp>
        <p:nvSpPr>
          <p:cNvPr id="48" name="TextBox 47"/>
          <p:cNvSpPr txBox="1"/>
          <p:nvPr/>
        </p:nvSpPr>
        <p:spPr>
          <a:xfrm>
            <a:off x="14535912" y="2724912"/>
            <a:ext cx="3029712" cy="640080"/>
          </a:xfrm>
          <a:prstGeom prst="rect">
            <a:avLst/>
          </a:prstGeom>
          <a:noFill/>
        </p:spPr>
        <p:txBody>
          <a:bodyPr wrap="square" anchor="t" lIns="0" rIns="0" tIns="0" bIns="0">
            <a:spAutoFit/>
          </a:bodyPr>
          <a:lstStyle/>
          <a:p>
            <a:pPr algn="ctr">
              <a:lnSpc>
                <a:spcPct val="100000"/>
              </a:lnSpc>
            </a:pPr>
            <a:r>
              <a:rPr sz="2200" b="1">
                <a:solidFill>
                  <a:srgbClr val="C0CAEC"/>
                </a:solidFill>
                <a:latin typeface="Arial"/>
                <a:ea typeface="Arial"/>
              </a:rPr>
              <a:t>C3 </a:t>
            </a:r>
            <a:r>
              <a:rPr sz="2200" b="1">
                <a:solidFill>
                  <a:srgbClr val="FFFFFF"/>
                </a:solidFill>
                <a:latin typeface="Arial"/>
                <a:ea typeface="Arial"/>
              </a:rPr>
              <a:t>Co-Creation</a:t>
            </a:r>
          </a:p>
          <a:p>
            <a:pPr algn="ctr">
              <a:lnSpc>
                <a:spcPct val="100000"/>
              </a:lnSpc>
            </a:pPr>
            <a:r>
              <a:rPr sz="1800" b="0">
                <a:solidFill>
                  <a:srgbClr val="FFFFFF"/>
                </a:solidFill>
                <a:latin typeface="Arial"/>
                <a:ea typeface="Arial"/>
              </a:rPr>
              <a:t>고객과 함께 미래를 설계</a:t>
            </a:r>
          </a:p>
        </p:txBody>
      </p:sp>
      <p:sp>
        <p:nvSpPr>
          <p:cNvPr id="49" name="Rounded Rectangle 48"/>
          <p:cNvSpPr/>
          <p:nvPr/>
        </p:nvSpPr>
        <p:spPr>
          <a:xfrm>
            <a:off x="5093208" y="3547872"/>
            <a:ext cx="2999232" cy="1609344"/>
          </a:xfrm>
          <a:prstGeom prst="roundRect">
            <a:avLst>
              <a:gd name="adj" fmla="val 454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bonding_sem.jpg"/>
          <p:cNvPicPr>
            <a:picLocks noChangeAspect="1"/>
          </p:cNvPicPr>
          <p:nvPr/>
        </p:nvPicPr>
        <p:blipFill>
          <a:blip r:embed="rId5"/>
          <a:stretch>
            <a:fillRect/>
          </a:stretch>
        </p:blipFill>
        <p:spPr>
          <a:xfrm>
            <a:off x="5202936" y="4062419"/>
            <a:ext cx="1024128" cy="580248"/>
          </a:xfrm>
          <a:prstGeom prst="rect">
            <a:avLst/>
          </a:prstGeom>
        </p:spPr>
      </p:pic>
      <p:sp>
        <p:nvSpPr>
          <p:cNvPr id="51" name="Rectangle 50"/>
          <p:cNvSpPr/>
          <p:nvPr/>
        </p:nvSpPr>
        <p:spPr>
          <a:xfrm>
            <a:off x="5202936" y="4062419"/>
            <a:ext cx="1024128" cy="580248"/>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18504" y="3621024"/>
            <a:ext cx="1719072" cy="1463040"/>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1</a:t>
            </a:r>
          </a:p>
          <a:p>
            <a:pPr algn="l">
              <a:lnSpc>
                <a:spcPct val="100000"/>
              </a:lnSpc>
            </a:pPr>
            <a:r>
              <a:rPr sz="1800" b="1">
                <a:solidFill>
                  <a:srgbClr val="1A1A1A"/>
                </a:solidFill>
                <a:latin typeface="Arial"/>
                <a:ea typeface="Arial"/>
              </a:rPr>
              <a:t>Bonding 기반</a:t>
            </a:r>
          </a:p>
          <a:p>
            <a:pPr algn="l">
              <a:lnSpc>
                <a:spcPct val="100000"/>
              </a:lnSpc>
            </a:pPr>
            <a:r>
              <a:rPr sz="1800" b="1">
                <a:solidFill>
                  <a:srgbClr val="1A1A1A"/>
                </a:solidFill>
                <a:latin typeface="Arial"/>
                <a:ea typeface="Arial"/>
              </a:rPr>
              <a:t>DRAM · NAND</a:t>
            </a:r>
          </a:p>
          <a:p>
            <a:pPr algn="l">
              <a:lnSpc>
                <a:spcPct val="100000"/>
              </a:lnSpc>
            </a:pPr>
            <a:r>
              <a:rPr sz="1800" b="1">
                <a:solidFill>
                  <a:srgbClr val="1A1A1A"/>
                </a:solidFill>
                <a:latin typeface="Arial"/>
                <a:ea typeface="Arial"/>
              </a:rPr>
              <a:t>통합 제조</a:t>
            </a:r>
          </a:p>
        </p:txBody>
      </p:sp>
      <p:sp>
        <p:nvSpPr>
          <p:cNvPr id="53" name="Rounded Rectangle 52"/>
          <p:cNvSpPr/>
          <p:nvPr/>
        </p:nvSpPr>
        <p:spPr>
          <a:xfrm>
            <a:off x="8220456" y="3547872"/>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385048" y="3712463"/>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building-factory-2_blue.png"/>
          <p:cNvPicPr>
            <a:picLocks noChangeAspect="1"/>
          </p:cNvPicPr>
          <p:nvPr/>
        </p:nvPicPr>
        <p:blipFill>
          <a:blip r:embed="rId6"/>
          <a:stretch>
            <a:fillRect/>
          </a:stretch>
        </p:blipFill>
        <p:spPr>
          <a:xfrm>
            <a:off x="8519464" y="3846880"/>
            <a:ext cx="371246" cy="371246"/>
          </a:xfrm>
          <a:prstGeom prst="rect">
            <a:avLst/>
          </a:prstGeom>
        </p:spPr>
      </p:pic>
      <p:sp>
        <p:nvSpPr>
          <p:cNvPr id="56" name="TextBox 55"/>
          <p:cNvSpPr txBox="1"/>
          <p:nvPr/>
        </p:nvSpPr>
        <p:spPr>
          <a:xfrm>
            <a:off x="9153144"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제조라인 공용화</a:t>
            </a:r>
          </a:p>
        </p:txBody>
      </p:sp>
      <p:sp>
        <p:nvSpPr>
          <p:cNvPr id="57" name="TextBox 56"/>
          <p:cNvSpPr txBox="1"/>
          <p:nvPr/>
        </p:nvSpPr>
        <p:spPr>
          <a:xfrm>
            <a:off x="8403336"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수요에 따라</a:t>
            </a:r>
          </a:p>
          <a:p>
            <a:pPr algn="l">
              <a:lnSpc>
                <a:spcPct val="105000"/>
              </a:lnSpc>
            </a:pPr>
            <a:r>
              <a:rPr sz="1800" b="0">
                <a:solidFill>
                  <a:srgbClr val="555555"/>
                </a:solidFill>
                <a:latin typeface="Arial"/>
                <a:ea typeface="Arial"/>
              </a:rPr>
              <a:t>DRAM ↔ NAND 전환</a:t>
            </a:r>
          </a:p>
        </p:txBody>
      </p:sp>
      <p:sp>
        <p:nvSpPr>
          <p:cNvPr id="58" name="Rounded Rectangle 57"/>
          <p:cNvSpPr/>
          <p:nvPr/>
        </p:nvSpPr>
        <p:spPr>
          <a:xfrm>
            <a:off x="11378184" y="3547872"/>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542776" y="3712463"/>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recycle_blue.png"/>
          <p:cNvPicPr>
            <a:picLocks noChangeAspect="1"/>
          </p:cNvPicPr>
          <p:nvPr/>
        </p:nvPicPr>
        <p:blipFill>
          <a:blip r:embed="rId7"/>
          <a:stretch>
            <a:fillRect/>
          </a:stretch>
        </p:blipFill>
        <p:spPr>
          <a:xfrm>
            <a:off x="11677192" y="3846880"/>
            <a:ext cx="371246" cy="371246"/>
          </a:xfrm>
          <a:prstGeom prst="rect">
            <a:avLst/>
          </a:prstGeom>
        </p:spPr>
      </p:pic>
      <p:sp>
        <p:nvSpPr>
          <p:cNvPr id="61" name="TextBox 60"/>
          <p:cNvSpPr txBox="1"/>
          <p:nvPr/>
        </p:nvSpPr>
        <p:spPr>
          <a:xfrm>
            <a:off x="12310872"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Legacy Cell</a:t>
            </a:r>
          </a:p>
          <a:p>
            <a:pPr algn="l">
              <a:lnSpc>
                <a:spcPct val="100000"/>
              </a:lnSpc>
            </a:pPr>
            <a:r>
              <a:rPr sz="2000" b="1">
                <a:solidFill>
                  <a:srgbClr val="1A1A1A"/>
                </a:solidFill>
                <a:latin typeface="Arial"/>
                <a:ea typeface="Arial"/>
              </a:rPr>
              <a:t>자산화</a:t>
            </a:r>
          </a:p>
        </p:txBody>
      </p:sp>
      <p:sp>
        <p:nvSpPr>
          <p:cNvPr id="62" name="TextBox 61"/>
          <p:cNvSpPr txBox="1"/>
          <p:nvPr/>
        </p:nvSpPr>
        <p:spPr>
          <a:xfrm>
            <a:off x="11561064"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검증된 DRAM Cell 기술을</a:t>
            </a:r>
          </a:p>
          <a:p>
            <a:pPr algn="l">
              <a:lnSpc>
                <a:spcPct val="105000"/>
              </a:lnSpc>
            </a:pPr>
            <a:r>
              <a:rPr sz="1800" b="0">
                <a:solidFill>
                  <a:srgbClr val="555555"/>
                </a:solidFill>
                <a:latin typeface="Arial"/>
                <a:ea typeface="Arial"/>
              </a:rPr>
              <a:t>그대로 활용</a:t>
            </a:r>
          </a:p>
        </p:txBody>
      </p:sp>
      <p:sp>
        <p:nvSpPr>
          <p:cNvPr id="63" name="Rounded Rectangle 62"/>
          <p:cNvSpPr/>
          <p:nvPr/>
        </p:nvSpPr>
        <p:spPr>
          <a:xfrm>
            <a:off x="14535912" y="3547872"/>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4700504" y="3712463"/>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djustments-horizontal_blue.png"/>
          <p:cNvPicPr>
            <a:picLocks noChangeAspect="1"/>
          </p:cNvPicPr>
          <p:nvPr/>
        </p:nvPicPr>
        <p:blipFill>
          <a:blip r:embed="rId8"/>
          <a:stretch>
            <a:fillRect/>
          </a:stretch>
        </p:blipFill>
        <p:spPr>
          <a:xfrm>
            <a:off x="14834920" y="3846880"/>
            <a:ext cx="371246" cy="371246"/>
          </a:xfrm>
          <a:prstGeom prst="rect">
            <a:avLst/>
          </a:prstGeom>
        </p:spPr>
      </p:pic>
      <p:sp>
        <p:nvSpPr>
          <p:cNvPr id="66" name="TextBox 65"/>
          <p:cNvSpPr txBox="1"/>
          <p:nvPr/>
        </p:nvSpPr>
        <p:spPr>
          <a:xfrm>
            <a:off x="15468600"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Peripherals</a:t>
            </a:r>
          </a:p>
          <a:p>
            <a:pPr algn="l">
              <a:lnSpc>
                <a:spcPct val="100000"/>
              </a:lnSpc>
            </a:pPr>
            <a:r>
              <a:rPr sz="2000" b="1">
                <a:solidFill>
                  <a:srgbClr val="1A1A1A"/>
                </a:solidFill>
                <a:latin typeface="Arial"/>
                <a:ea typeface="Arial"/>
              </a:rPr>
              <a:t>맞춤 제공</a:t>
            </a:r>
          </a:p>
        </p:txBody>
      </p:sp>
      <p:sp>
        <p:nvSpPr>
          <p:cNvPr id="67" name="TextBox 66"/>
          <p:cNvSpPr txBox="1"/>
          <p:nvPr/>
        </p:nvSpPr>
        <p:spPr>
          <a:xfrm>
            <a:off x="14718792"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Cell은 공통,</a:t>
            </a:r>
          </a:p>
          <a:p>
            <a:pPr algn="l">
              <a:lnSpc>
                <a:spcPct val="105000"/>
              </a:lnSpc>
            </a:pPr>
            <a:r>
              <a:rPr sz="1800" b="0">
                <a:solidFill>
                  <a:srgbClr val="555555"/>
                </a:solidFill>
                <a:latin typeface="Arial"/>
                <a:ea typeface="Arial"/>
              </a:rPr>
              <a:t>Peri는 고객별 맞춤</a:t>
            </a:r>
          </a:p>
        </p:txBody>
      </p:sp>
      <p:sp>
        <p:nvSpPr>
          <p:cNvPr id="68" name="Rounded Rectangle 67"/>
          <p:cNvSpPr/>
          <p:nvPr/>
        </p:nvSpPr>
        <p:spPr>
          <a:xfrm>
            <a:off x="5093208" y="5266944"/>
            <a:ext cx="2999232" cy="1609344"/>
          </a:xfrm>
          <a:prstGeom prst="roundRect">
            <a:avLst>
              <a:gd name="adj" fmla="val 454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zhbm.jpg"/>
          <p:cNvPicPr>
            <a:picLocks noChangeAspect="1"/>
          </p:cNvPicPr>
          <p:nvPr/>
        </p:nvPicPr>
        <p:blipFill>
          <a:blip r:embed="rId9"/>
          <a:stretch>
            <a:fillRect/>
          </a:stretch>
        </p:blipFill>
        <p:spPr>
          <a:xfrm>
            <a:off x="5202936" y="5553977"/>
            <a:ext cx="1024128" cy="1035277"/>
          </a:xfrm>
          <a:prstGeom prst="rect">
            <a:avLst/>
          </a:prstGeom>
        </p:spPr>
      </p:pic>
      <p:sp>
        <p:nvSpPr>
          <p:cNvPr id="70" name="Rectangle 69"/>
          <p:cNvSpPr/>
          <p:nvPr/>
        </p:nvSpPr>
        <p:spPr>
          <a:xfrm>
            <a:off x="5202936" y="5553977"/>
            <a:ext cx="1024128" cy="1035277"/>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18504" y="5340096"/>
            <a:ext cx="1719072" cy="1463040"/>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2</a:t>
            </a:r>
          </a:p>
          <a:p>
            <a:pPr algn="l">
              <a:lnSpc>
                <a:spcPct val="100000"/>
              </a:lnSpc>
            </a:pPr>
            <a:r>
              <a:rPr sz="1800" b="1">
                <a:solidFill>
                  <a:srgbClr val="1A1A1A"/>
                </a:solidFill>
                <a:latin typeface="Arial"/>
                <a:ea typeface="Arial"/>
              </a:rPr>
              <a:t>고객 맞춤형</a:t>
            </a:r>
          </a:p>
          <a:p>
            <a:pPr algn="l">
              <a:lnSpc>
                <a:spcPct val="100000"/>
              </a:lnSpc>
            </a:pPr>
            <a:r>
              <a:rPr sz="1800" b="1">
                <a:solidFill>
                  <a:srgbClr val="1A1A1A"/>
                </a:solidFill>
                <a:latin typeface="Arial"/>
                <a:ea typeface="Arial"/>
              </a:rPr>
              <a:t>차세대 메모리</a:t>
            </a:r>
          </a:p>
          <a:p>
            <a:pPr algn="l">
              <a:lnSpc>
                <a:spcPct val="100000"/>
              </a:lnSpc>
            </a:pPr>
            <a:r>
              <a:rPr sz="1800" b="1">
                <a:solidFill>
                  <a:srgbClr val="1A1A1A"/>
                </a:solidFill>
                <a:latin typeface="Arial"/>
                <a:ea typeface="Arial"/>
              </a:rPr>
              <a:t>개발</a:t>
            </a:r>
          </a:p>
        </p:txBody>
      </p:sp>
      <p:sp>
        <p:nvSpPr>
          <p:cNvPr id="72" name="Rounded Rectangle 71"/>
          <p:cNvSpPr/>
          <p:nvPr/>
        </p:nvSpPr>
        <p:spPr>
          <a:xfrm>
            <a:off x="8220456" y="5266944"/>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385048" y="5431536"/>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cpu-2_blue.png"/>
          <p:cNvPicPr>
            <a:picLocks noChangeAspect="1"/>
          </p:cNvPicPr>
          <p:nvPr/>
        </p:nvPicPr>
        <p:blipFill>
          <a:blip r:embed="rId10"/>
          <a:stretch>
            <a:fillRect/>
          </a:stretch>
        </p:blipFill>
        <p:spPr>
          <a:xfrm>
            <a:off x="8519464" y="5565952"/>
            <a:ext cx="371246" cy="371246"/>
          </a:xfrm>
          <a:prstGeom prst="rect">
            <a:avLst/>
          </a:prstGeom>
        </p:spPr>
      </p:pic>
      <p:sp>
        <p:nvSpPr>
          <p:cNvPr id="75" name="TextBox 74"/>
          <p:cNvSpPr txBox="1"/>
          <p:nvPr/>
        </p:nvSpPr>
        <p:spPr>
          <a:xfrm>
            <a:off x="9153144"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로직 IP</a:t>
            </a:r>
          </a:p>
          <a:p>
            <a:pPr algn="l">
              <a:lnSpc>
                <a:spcPct val="100000"/>
              </a:lnSpc>
            </a:pPr>
            <a:r>
              <a:rPr sz="2000" b="1">
                <a:solidFill>
                  <a:srgbClr val="1A1A1A"/>
                </a:solidFill>
                <a:latin typeface="Arial"/>
                <a:ea typeface="Arial"/>
              </a:rPr>
              <a:t>역량 전환</a:t>
            </a:r>
          </a:p>
        </p:txBody>
      </p:sp>
      <p:sp>
        <p:nvSpPr>
          <p:cNvPr id="76" name="TextBox 75"/>
          <p:cNvSpPr txBox="1"/>
          <p:nvPr/>
        </p:nvSpPr>
        <p:spPr>
          <a:xfrm>
            <a:off x="8403336"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설계 역량 · 자원을</a:t>
            </a:r>
          </a:p>
          <a:p>
            <a:pPr algn="l">
              <a:lnSpc>
                <a:spcPct val="105000"/>
              </a:lnSpc>
            </a:pPr>
            <a:r>
              <a:rPr sz="1800" b="0">
                <a:solidFill>
                  <a:srgbClr val="555555"/>
                </a:solidFill>
                <a:latin typeface="Arial"/>
                <a:ea typeface="Arial"/>
              </a:rPr>
              <a:t>메모리 로직 IP로</a:t>
            </a:r>
          </a:p>
        </p:txBody>
      </p:sp>
      <p:sp>
        <p:nvSpPr>
          <p:cNvPr id="77" name="Rounded Rectangle 76"/>
          <p:cNvSpPr/>
          <p:nvPr/>
        </p:nvSpPr>
        <p:spPr>
          <a:xfrm>
            <a:off x="11378184" y="5266944"/>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1542776" y="5431536"/>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shield-check_blue.png"/>
          <p:cNvPicPr>
            <a:picLocks noChangeAspect="1"/>
          </p:cNvPicPr>
          <p:nvPr/>
        </p:nvPicPr>
        <p:blipFill>
          <a:blip r:embed="rId11"/>
          <a:stretch>
            <a:fillRect/>
          </a:stretch>
        </p:blipFill>
        <p:spPr>
          <a:xfrm>
            <a:off x="11677192" y="5565952"/>
            <a:ext cx="371246" cy="371246"/>
          </a:xfrm>
          <a:prstGeom prst="rect">
            <a:avLst/>
          </a:prstGeom>
        </p:spPr>
      </p:pic>
      <p:sp>
        <p:nvSpPr>
          <p:cNvPr id="80" name="TextBox 79"/>
          <p:cNvSpPr txBox="1"/>
          <p:nvPr/>
        </p:nvSpPr>
        <p:spPr>
          <a:xfrm>
            <a:off x="12310872"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검증된 품질 ·</a:t>
            </a:r>
          </a:p>
          <a:p>
            <a:pPr algn="l">
              <a:lnSpc>
                <a:spcPct val="100000"/>
              </a:lnSpc>
            </a:pPr>
            <a:r>
              <a:rPr sz="2000" b="1">
                <a:solidFill>
                  <a:srgbClr val="1A1A1A"/>
                </a:solidFill>
                <a:latin typeface="Arial"/>
                <a:ea typeface="Arial"/>
              </a:rPr>
              <a:t>적기 공급</a:t>
            </a:r>
          </a:p>
        </p:txBody>
      </p:sp>
      <p:sp>
        <p:nvSpPr>
          <p:cNvPr id="81" name="TextBox 80"/>
          <p:cNvSpPr txBox="1"/>
          <p:nvPr/>
        </p:nvSpPr>
        <p:spPr>
          <a:xfrm>
            <a:off x="11561064"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양산으로 검증된 품질을</a:t>
            </a:r>
          </a:p>
          <a:p>
            <a:pPr algn="l">
              <a:lnSpc>
                <a:spcPct val="105000"/>
              </a:lnSpc>
            </a:pPr>
            <a:r>
              <a:rPr sz="1800" b="0">
                <a:solidFill>
                  <a:srgbClr val="555555"/>
                </a:solidFill>
                <a:latin typeface="Arial"/>
                <a:ea typeface="Arial"/>
              </a:rPr>
              <a:t>제때 공급</a:t>
            </a:r>
          </a:p>
        </p:txBody>
      </p:sp>
      <p:sp>
        <p:nvSpPr>
          <p:cNvPr id="82" name="Rounded Rectangle 81"/>
          <p:cNvSpPr/>
          <p:nvPr/>
        </p:nvSpPr>
        <p:spPr>
          <a:xfrm>
            <a:off x="14535912" y="5266944"/>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4700504" y="5431536"/>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puzzle_blue.png"/>
          <p:cNvPicPr>
            <a:picLocks noChangeAspect="1"/>
          </p:cNvPicPr>
          <p:nvPr/>
        </p:nvPicPr>
        <p:blipFill>
          <a:blip r:embed="rId12"/>
          <a:stretch>
            <a:fillRect/>
          </a:stretch>
        </p:blipFill>
        <p:spPr>
          <a:xfrm>
            <a:off x="14834920" y="5565952"/>
            <a:ext cx="371246" cy="371246"/>
          </a:xfrm>
          <a:prstGeom prst="rect">
            <a:avLst/>
          </a:prstGeom>
        </p:spPr>
      </p:pic>
      <p:sp>
        <p:nvSpPr>
          <p:cNvPr id="85" name="TextBox 84"/>
          <p:cNvSpPr txBox="1"/>
          <p:nvPr/>
        </p:nvSpPr>
        <p:spPr>
          <a:xfrm>
            <a:off x="15468600"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Custom Logic</a:t>
            </a:r>
          </a:p>
          <a:p>
            <a:pPr algn="l">
              <a:lnSpc>
                <a:spcPct val="100000"/>
              </a:lnSpc>
            </a:pPr>
            <a:r>
              <a:rPr sz="2000" b="1">
                <a:solidFill>
                  <a:srgbClr val="1A1A1A"/>
                </a:solidFill>
                <a:latin typeface="Arial"/>
                <a:ea typeface="Arial"/>
              </a:rPr>
              <a:t>협업</a:t>
            </a:r>
          </a:p>
        </p:txBody>
      </p:sp>
      <p:sp>
        <p:nvSpPr>
          <p:cNvPr id="86" name="TextBox 85"/>
          <p:cNvSpPr txBox="1"/>
          <p:nvPr/>
        </p:nvSpPr>
        <p:spPr>
          <a:xfrm>
            <a:off x="14718792"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가속기별 로직을</a:t>
            </a:r>
          </a:p>
          <a:p>
            <a:pPr algn="l">
              <a:lnSpc>
                <a:spcPct val="105000"/>
              </a:lnSpc>
            </a:pPr>
            <a:r>
              <a:rPr sz="1800" b="0">
                <a:solidFill>
                  <a:srgbClr val="555555"/>
                </a:solidFill>
                <a:latin typeface="Arial"/>
                <a:ea typeface="Arial"/>
              </a:rPr>
              <a:t>고객과 함께 설계</a:t>
            </a:r>
          </a:p>
        </p:txBody>
      </p:sp>
      <p:sp>
        <p:nvSpPr>
          <p:cNvPr id="87" name="Rounded Rectangle 86"/>
          <p:cNvSpPr/>
          <p:nvPr/>
        </p:nvSpPr>
        <p:spPr>
          <a:xfrm>
            <a:off x="5093208" y="6986016"/>
            <a:ext cx="2999232" cy="1609344"/>
          </a:xfrm>
          <a:prstGeom prst="roundRect">
            <a:avLst>
              <a:gd name="adj" fmla="val 4545"/>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8" name="Picture 87" descr="render_ssd.png"/>
          <p:cNvPicPr>
            <a:picLocks noChangeAspect="1"/>
          </p:cNvPicPr>
          <p:nvPr/>
        </p:nvPicPr>
        <p:blipFill>
          <a:blip r:embed="rId13"/>
          <a:stretch>
            <a:fillRect/>
          </a:stretch>
        </p:blipFill>
        <p:spPr>
          <a:xfrm>
            <a:off x="5202936" y="7221641"/>
            <a:ext cx="1024128" cy="380238"/>
          </a:xfrm>
          <a:prstGeom prst="rect">
            <a:avLst/>
          </a:prstGeom>
        </p:spPr>
      </p:pic>
      <p:pic>
        <p:nvPicPr>
          <p:cNvPr id="89" name="Picture 88" descr="render_server.png"/>
          <p:cNvPicPr>
            <a:picLocks noChangeAspect="1"/>
          </p:cNvPicPr>
          <p:nvPr/>
        </p:nvPicPr>
        <p:blipFill>
          <a:blip r:embed="rId14"/>
          <a:stretch>
            <a:fillRect/>
          </a:stretch>
        </p:blipFill>
        <p:spPr>
          <a:xfrm>
            <a:off x="5202936" y="7823638"/>
            <a:ext cx="1024128" cy="602707"/>
          </a:xfrm>
          <a:prstGeom prst="rect">
            <a:avLst/>
          </a:prstGeom>
        </p:spPr>
      </p:pic>
      <p:sp>
        <p:nvSpPr>
          <p:cNvPr id="90" name="TextBox 89"/>
          <p:cNvSpPr txBox="1"/>
          <p:nvPr/>
        </p:nvSpPr>
        <p:spPr>
          <a:xfrm>
            <a:off x="6318504" y="7059168"/>
            <a:ext cx="1719072" cy="1463040"/>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3</a:t>
            </a:r>
          </a:p>
          <a:p>
            <a:pPr algn="l">
              <a:lnSpc>
                <a:spcPct val="100000"/>
              </a:lnSpc>
            </a:pPr>
            <a:r>
              <a:rPr sz="1800" b="1">
                <a:solidFill>
                  <a:srgbClr val="1A1A1A"/>
                </a:solidFill>
                <a:latin typeface="Arial"/>
                <a:ea typeface="Arial"/>
              </a:rPr>
              <a:t>고객 시스템을</a:t>
            </a:r>
          </a:p>
          <a:p>
            <a:pPr algn="l">
              <a:lnSpc>
                <a:spcPct val="100000"/>
              </a:lnSpc>
            </a:pPr>
            <a:r>
              <a:rPr sz="1800" b="1">
                <a:solidFill>
                  <a:srgbClr val="1A1A1A"/>
                </a:solidFill>
                <a:latin typeface="Arial"/>
                <a:ea typeface="Arial"/>
              </a:rPr>
              <a:t>고려한 스토리지</a:t>
            </a:r>
          </a:p>
          <a:p>
            <a:pPr algn="l">
              <a:lnSpc>
                <a:spcPct val="100000"/>
              </a:lnSpc>
            </a:pPr>
            <a:r>
              <a:rPr sz="1800" b="1">
                <a:solidFill>
                  <a:srgbClr val="1A1A1A"/>
                </a:solidFill>
                <a:latin typeface="Arial"/>
                <a:ea typeface="Arial"/>
              </a:rPr>
              <a:t>개발</a:t>
            </a:r>
          </a:p>
        </p:txBody>
      </p:sp>
      <p:sp>
        <p:nvSpPr>
          <p:cNvPr id="91" name="Rounded Rectangle 90"/>
          <p:cNvSpPr/>
          <p:nvPr/>
        </p:nvSpPr>
        <p:spPr>
          <a:xfrm>
            <a:off x="8220456" y="6986016"/>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385048" y="7150607"/>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Picture 92" descr="radar_blue.png"/>
          <p:cNvPicPr>
            <a:picLocks noChangeAspect="1"/>
          </p:cNvPicPr>
          <p:nvPr/>
        </p:nvPicPr>
        <p:blipFill>
          <a:blip r:embed="rId15"/>
          <a:stretch>
            <a:fillRect/>
          </a:stretch>
        </p:blipFill>
        <p:spPr>
          <a:xfrm>
            <a:off x="8519464" y="7285024"/>
            <a:ext cx="371246" cy="371246"/>
          </a:xfrm>
          <a:prstGeom prst="rect">
            <a:avLst/>
          </a:prstGeom>
        </p:spPr>
      </p:pic>
      <p:sp>
        <p:nvSpPr>
          <p:cNvPr id="94" name="TextBox 93"/>
          <p:cNvSpPr txBox="1"/>
          <p:nvPr/>
        </p:nvSpPr>
        <p:spPr>
          <a:xfrm>
            <a:off x="9153144"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기술 변화</a:t>
            </a:r>
          </a:p>
          <a:p>
            <a:pPr algn="l">
              <a:lnSpc>
                <a:spcPct val="100000"/>
              </a:lnSpc>
            </a:pPr>
            <a:r>
              <a:rPr sz="2000" b="1">
                <a:solidFill>
                  <a:srgbClr val="1A1A1A"/>
                </a:solidFill>
                <a:latin typeface="Arial"/>
                <a:ea typeface="Arial"/>
              </a:rPr>
              <a:t>조기 센싱</a:t>
            </a:r>
          </a:p>
        </p:txBody>
      </p:sp>
      <p:sp>
        <p:nvSpPr>
          <p:cNvPr id="95" name="TextBox 94"/>
          <p:cNvSpPr txBox="1"/>
          <p:nvPr/>
        </p:nvSpPr>
        <p:spPr>
          <a:xfrm>
            <a:off x="8403336"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고객과 먼저 감지하고</a:t>
            </a:r>
          </a:p>
          <a:p>
            <a:pPr algn="l">
              <a:lnSpc>
                <a:spcPct val="105000"/>
              </a:lnSpc>
            </a:pPr>
            <a:r>
              <a:rPr sz="1800" b="0">
                <a:solidFill>
                  <a:srgbClr val="555555"/>
                </a:solidFill>
                <a:latin typeface="Arial"/>
                <a:ea typeface="Arial"/>
              </a:rPr>
              <a:t>차세대 수요를 함께 설계</a:t>
            </a:r>
          </a:p>
        </p:txBody>
      </p:sp>
      <p:sp>
        <p:nvSpPr>
          <p:cNvPr id="96" name="Rounded Rectangle 95"/>
          <p:cNvSpPr/>
          <p:nvPr/>
        </p:nvSpPr>
        <p:spPr>
          <a:xfrm>
            <a:off x="11378184" y="6986016"/>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1542776" y="7150607"/>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8" name="Picture 97" descr="sitemap_blue.png"/>
          <p:cNvPicPr>
            <a:picLocks noChangeAspect="1"/>
          </p:cNvPicPr>
          <p:nvPr/>
        </p:nvPicPr>
        <p:blipFill>
          <a:blip r:embed="rId16"/>
          <a:stretch>
            <a:fillRect/>
          </a:stretch>
        </p:blipFill>
        <p:spPr>
          <a:xfrm>
            <a:off x="11677192" y="7285024"/>
            <a:ext cx="371246" cy="371246"/>
          </a:xfrm>
          <a:prstGeom prst="rect">
            <a:avLst/>
          </a:prstGeom>
        </p:spPr>
      </p:pic>
      <p:sp>
        <p:nvSpPr>
          <p:cNvPr id="99" name="TextBox 98"/>
          <p:cNvSpPr txBox="1"/>
          <p:nvPr/>
        </p:nvSpPr>
        <p:spPr>
          <a:xfrm>
            <a:off x="12310872"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시스템 지식</a:t>
            </a:r>
          </a:p>
          <a:p>
            <a:pPr algn="l">
              <a:lnSpc>
                <a:spcPct val="100000"/>
              </a:lnSpc>
            </a:pPr>
            <a:r>
              <a:rPr sz="2000" b="1">
                <a:solidFill>
                  <a:srgbClr val="1A1A1A"/>
                </a:solidFill>
                <a:latin typeface="Arial"/>
                <a:ea typeface="Arial"/>
              </a:rPr>
              <a:t>확장</a:t>
            </a:r>
          </a:p>
        </p:txBody>
      </p:sp>
      <p:sp>
        <p:nvSpPr>
          <p:cNvPr id="100" name="TextBox 99"/>
          <p:cNvSpPr txBox="1"/>
          <p:nvPr/>
        </p:nvSpPr>
        <p:spPr>
          <a:xfrm>
            <a:off x="11561064"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워크로드 연구로</a:t>
            </a:r>
          </a:p>
          <a:p>
            <a:pPr algn="l">
              <a:lnSpc>
                <a:spcPct val="105000"/>
              </a:lnSpc>
            </a:pPr>
            <a:r>
              <a:rPr sz="1800" b="0">
                <a:solidFill>
                  <a:srgbClr val="555555"/>
                </a:solidFill>
                <a:latin typeface="Arial"/>
                <a:ea typeface="Arial"/>
              </a:rPr>
              <a:t>NAND · SSD에서 서버까지</a:t>
            </a:r>
          </a:p>
        </p:txBody>
      </p:sp>
      <p:sp>
        <p:nvSpPr>
          <p:cNvPr id="101" name="Rounded Rectangle 100"/>
          <p:cNvSpPr/>
          <p:nvPr/>
        </p:nvSpPr>
        <p:spPr>
          <a:xfrm>
            <a:off x="14535912" y="6986016"/>
            <a:ext cx="3029712" cy="1609344"/>
          </a:xfrm>
          <a:prstGeom prst="roundRect">
            <a:avLst>
              <a:gd name="adj" fmla="val 4545"/>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4700504" y="7150607"/>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3" name="Picture 102" descr="pencil-cog_blue.png"/>
          <p:cNvPicPr>
            <a:picLocks noChangeAspect="1"/>
          </p:cNvPicPr>
          <p:nvPr/>
        </p:nvPicPr>
        <p:blipFill>
          <a:blip r:embed="rId17"/>
          <a:stretch>
            <a:fillRect/>
          </a:stretch>
        </p:blipFill>
        <p:spPr>
          <a:xfrm>
            <a:off x="14834920" y="7285024"/>
            <a:ext cx="371246" cy="371246"/>
          </a:xfrm>
          <a:prstGeom prst="rect">
            <a:avLst/>
          </a:prstGeom>
        </p:spPr>
      </p:pic>
      <p:sp>
        <p:nvSpPr>
          <p:cNvPr id="104" name="TextBox 103"/>
          <p:cNvSpPr txBox="1"/>
          <p:nvPr/>
        </p:nvSpPr>
        <p:spPr>
          <a:xfrm>
            <a:off x="15468600"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SSD · 서버</a:t>
            </a:r>
          </a:p>
          <a:p>
            <a:pPr algn="l">
              <a:lnSpc>
                <a:spcPct val="100000"/>
              </a:lnSpc>
            </a:pPr>
            <a:r>
              <a:rPr sz="2000" b="1">
                <a:solidFill>
                  <a:srgbClr val="1A1A1A"/>
                </a:solidFill>
                <a:latin typeface="Arial"/>
                <a:ea typeface="Arial"/>
              </a:rPr>
              <a:t>공동 설계</a:t>
            </a:r>
          </a:p>
        </p:txBody>
      </p:sp>
      <p:sp>
        <p:nvSpPr>
          <p:cNvPr id="105" name="TextBox 104"/>
          <p:cNvSpPr txBox="1"/>
          <p:nvPr/>
        </p:nvSpPr>
        <p:spPr>
          <a:xfrm>
            <a:off x="14718792"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AI 수요에 맞춰</a:t>
            </a:r>
          </a:p>
          <a:p>
            <a:pPr algn="l">
              <a:lnSpc>
                <a:spcPct val="105000"/>
              </a:lnSpc>
            </a:pPr>
            <a:r>
              <a:rPr sz="1800" b="0">
                <a:solidFill>
                  <a:srgbClr val="555555"/>
                </a:solidFill>
                <a:latin typeface="Arial"/>
                <a:ea typeface="Arial"/>
              </a:rPr>
              <a:t>기능과 구조를 함께 설계</a:t>
            </a:r>
          </a:p>
        </p:txBody>
      </p:sp>
      <p:sp>
        <p:nvSpPr>
          <p:cNvPr id="106" name="Rectangle 105"/>
          <p:cNvSpPr/>
          <p:nvPr/>
        </p:nvSpPr>
        <p:spPr>
          <a:xfrm>
            <a:off x="722376" y="8778240"/>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3-C</a:t>
            </a:r>
          </a:p>
        </p:txBody>
      </p:sp>
      <p:sp>
        <p:nvSpPr>
          <p:cNvPr id="108" name="TextBox 107"/>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전환하고, 기술은 연속성 있게 쌓고, 미래는 고객과 함께 설계합니다</a:t>
            </a:r>
          </a:p>
        </p:txBody>
      </p:sp>
      <p:sp>
        <p:nvSpPr>
          <p:cNvPr id="109" name="TextBox 108"/>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 수치 주장 없음). 아이콘 Tabler Icons(MIT).</a:t>
            </a:r>
          </a:p>
          <a:p>
            <a:pPr algn="l">
              <a:lnSpc>
                <a:spcPct val="105000"/>
              </a:lnSpc>
            </a:pPr>
            <a:r>
              <a:rPr sz="1500" b="0">
                <a:solidFill>
                  <a:srgbClr val="555555"/>
                </a:solidFill>
                <a:latin typeface="Arial"/>
                <a:ea typeface="Arial"/>
              </a:rPr>
              <a:t>이미지: 전략 1 Cu/SiO2 하이브리드 본딩 단면 SEM(Hsu 외, Materials 2022, CC BY 4.0, 잘라 냄), 전략 2 삼성 FMS 2026 zHBM 전시, 전략 3 3D 렌더.</a:t>
            </a:r>
          </a:p>
        </p:txBody>
      </p:sp>
      <p:sp>
        <p:nvSpPr>
          <p:cNvPr id="110" name="TextBox 109"/>
          <p:cNvSpPr txBox="1"/>
          <p:nvPr/>
        </p:nvSpPr>
        <p:spPr>
          <a:xfrm>
            <a:off x="15736824" y="9601200"/>
            <a:ext cx="182880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C  3-C 기둥 구조형</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4114800" y="2084831"/>
            <a:ext cx="13450824" cy="731520"/>
          </a:xfrm>
          <a:prstGeom prst="triangl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7012" y="2414016"/>
            <a:ext cx="5486400" cy="365760"/>
          </a:xfrm>
          <a:prstGeom prst="rect">
            <a:avLst/>
          </a:prstGeom>
          <a:noFill/>
        </p:spPr>
        <p:txBody>
          <a:bodyPr wrap="square" anchor="ctr" lIns="0" rIns="0" tIns="0" bIns="0">
            <a:spAutoFit/>
          </a:bodyPr>
          <a:lstStyle/>
          <a:p>
            <a:pPr algn="ctr">
              <a:lnSpc>
                <a:spcPct val="110000"/>
              </a:lnSpc>
            </a:pPr>
            <a:r>
              <a:rPr sz="2200" b="1">
                <a:solidFill>
                  <a:srgbClr val="C0CAEC"/>
                </a:solidFill>
                <a:latin typeface="Arial"/>
                <a:ea typeface="Arial"/>
              </a:rPr>
              <a:t>3-C </a:t>
            </a:r>
            <a:r>
              <a:rPr sz="2200" b="1">
                <a:solidFill>
                  <a:srgbClr val="FFFFFF"/>
                </a:solidFill>
                <a:latin typeface="Arial"/>
                <a:ea typeface="Arial"/>
              </a:rPr>
              <a:t>전체 최적화 체계</a:t>
            </a:r>
          </a:p>
        </p:txBody>
      </p:sp>
      <p:sp>
        <p:nvSpPr>
          <p:cNvPr id="9" name="Rectangle 8"/>
          <p:cNvSpPr/>
          <p:nvPr/>
        </p:nvSpPr>
        <p:spPr>
          <a:xfrm>
            <a:off x="4114800" y="2834640"/>
            <a:ext cx="13450824" cy="9144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0" y="2999232"/>
            <a:ext cx="4337304" cy="841248"/>
          </a:xfrm>
          <a:prstGeom prst="rect">
            <a:avLst/>
          </a:pr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rrows-exchange_blue.png"/>
          <p:cNvPicPr>
            <a:picLocks noChangeAspect="1"/>
          </p:cNvPicPr>
          <p:nvPr/>
        </p:nvPicPr>
        <p:blipFill>
          <a:blip r:embed="rId2"/>
          <a:stretch>
            <a:fillRect/>
          </a:stretch>
        </p:blipFill>
        <p:spPr>
          <a:xfrm>
            <a:off x="4315968" y="3163824"/>
            <a:ext cx="512064" cy="512064"/>
          </a:xfrm>
          <a:prstGeom prst="rect">
            <a:avLst/>
          </a:prstGeom>
        </p:spPr>
      </p:pic>
      <p:sp>
        <p:nvSpPr>
          <p:cNvPr id="12" name="TextBox 11"/>
          <p:cNvSpPr txBox="1"/>
          <p:nvPr/>
        </p:nvSpPr>
        <p:spPr>
          <a:xfrm>
            <a:off x="4992624" y="2999232"/>
            <a:ext cx="3386328" cy="841248"/>
          </a:xfrm>
          <a:prstGeom prst="rect">
            <a:avLst/>
          </a:prstGeom>
          <a:noFill/>
        </p:spPr>
        <p:txBody>
          <a:bodyPr wrap="square" anchor="ctr" lIns="0" rIns="0" tIns="0" bIns="0">
            <a:spAutoFit/>
          </a:bodyPr>
          <a:lstStyle/>
          <a:p>
            <a:pPr algn="l">
              <a:lnSpc>
                <a:spcPct val="100000"/>
              </a:lnSpc>
            </a:pPr>
            <a:r>
              <a:rPr sz="2200" b="1">
                <a:solidFill>
                  <a:srgbClr val="3C4FA5"/>
                </a:solidFill>
                <a:latin typeface="Arial"/>
                <a:ea typeface="Arial"/>
              </a:rPr>
              <a:t>C1 </a:t>
            </a:r>
            <a:r>
              <a:rPr sz="2200" b="1">
                <a:solidFill>
                  <a:srgbClr val="1A1A1A"/>
                </a:solidFill>
                <a:latin typeface="Arial"/>
                <a:ea typeface="Arial"/>
              </a:rPr>
              <a:t>Convertibility</a:t>
            </a:r>
          </a:p>
          <a:p>
            <a:pPr algn="l">
              <a:lnSpc>
                <a:spcPct val="100000"/>
              </a:lnSpc>
            </a:pPr>
            <a:r>
              <a:rPr sz="1800" b="0">
                <a:solidFill>
                  <a:srgbClr val="555555"/>
                </a:solidFill>
                <a:latin typeface="Arial"/>
                <a:ea typeface="Arial"/>
              </a:rPr>
              <a:t>자원의 유연한 전환</a:t>
            </a:r>
          </a:p>
        </p:txBody>
      </p:sp>
      <p:sp>
        <p:nvSpPr>
          <p:cNvPr id="13" name="Rectangle 12"/>
          <p:cNvSpPr/>
          <p:nvPr/>
        </p:nvSpPr>
        <p:spPr>
          <a:xfrm>
            <a:off x="4261104" y="3840480"/>
            <a:ext cx="4044695" cy="4151376"/>
          </a:xfrm>
          <a:prstGeom prst="rect">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261104"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305799"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671560" y="2999232"/>
            <a:ext cx="4337304" cy="841248"/>
          </a:xfrm>
          <a:prstGeom prst="rect">
            <a:avLst/>
          </a:pr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tack-push_blue.png"/>
          <p:cNvPicPr>
            <a:picLocks noChangeAspect="1"/>
          </p:cNvPicPr>
          <p:nvPr/>
        </p:nvPicPr>
        <p:blipFill>
          <a:blip r:embed="rId3"/>
          <a:stretch>
            <a:fillRect/>
          </a:stretch>
        </p:blipFill>
        <p:spPr>
          <a:xfrm>
            <a:off x="8872728" y="3163824"/>
            <a:ext cx="512064" cy="512064"/>
          </a:xfrm>
          <a:prstGeom prst="rect">
            <a:avLst/>
          </a:prstGeom>
        </p:spPr>
      </p:pic>
      <p:sp>
        <p:nvSpPr>
          <p:cNvPr id="18" name="TextBox 17"/>
          <p:cNvSpPr txBox="1"/>
          <p:nvPr/>
        </p:nvSpPr>
        <p:spPr>
          <a:xfrm>
            <a:off x="9549384" y="2999232"/>
            <a:ext cx="3386328" cy="841248"/>
          </a:xfrm>
          <a:prstGeom prst="rect">
            <a:avLst/>
          </a:prstGeom>
          <a:noFill/>
        </p:spPr>
        <p:txBody>
          <a:bodyPr wrap="square" anchor="ctr" lIns="0" rIns="0" tIns="0" bIns="0">
            <a:spAutoFit/>
          </a:bodyPr>
          <a:lstStyle/>
          <a:p>
            <a:pPr algn="l">
              <a:lnSpc>
                <a:spcPct val="100000"/>
              </a:lnSpc>
            </a:pPr>
            <a:r>
              <a:rPr sz="2200" b="1">
                <a:solidFill>
                  <a:srgbClr val="3C4FA5"/>
                </a:solidFill>
                <a:latin typeface="Arial"/>
                <a:ea typeface="Arial"/>
              </a:rPr>
              <a:t>C2 </a:t>
            </a:r>
            <a:r>
              <a:rPr sz="2200" b="1">
                <a:solidFill>
                  <a:srgbClr val="1A1A1A"/>
                </a:solidFill>
                <a:latin typeface="Arial"/>
                <a:ea typeface="Arial"/>
              </a:rPr>
              <a:t>Continuity</a:t>
            </a:r>
          </a:p>
          <a:p>
            <a:pPr algn="l">
              <a:lnSpc>
                <a:spcPct val="100000"/>
              </a:lnSpc>
            </a:pPr>
            <a:r>
              <a:rPr sz="1800" b="0">
                <a:solidFill>
                  <a:srgbClr val="555555"/>
                </a:solidFill>
                <a:latin typeface="Arial"/>
                <a:ea typeface="Arial"/>
              </a:rPr>
              <a:t>연속성 있는 기술 축적</a:t>
            </a:r>
          </a:p>
        </p:txBody>
      </p:sp>
      <p:sp>
        <p:nvSpPr>
          <p:cNvPr id="19" name="Rectangle 18"/>
          <p:cNvSpPr/>
          <p:nvPr/>
        </p:nvSpPr>
        <p:spPr>
          <a:xfrm>
            <a:off x="8817864" y="3840480"/>
            <a:ext cx="4044695" cy="4151376"/>
          </a:xfrm>
          <a:prstGeom prst="rect">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817864"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2862560"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3228320" y="2999232"/>
            <a:ext cx="4337304" cy="841248"/>
          </a:xfrm>
          <a:prstGeom prst="rect">
            <a:avLst/>
          </a:pr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art-handshake_blue.png"/>
          <p:cNvPicPr>
            <a:picLocks noChangeAspect="1"/>
          </p:cNvPicPr>
          <p:nvPr/>
        </p:nvPicPr>
        <p:blipFill>
          <a:blip r:embed="rId4"/>
          <a:stretch>
            <a:fillRect/>
          </a:stretch>
        </p:blipFill>
        <p:spPr>
          <a:xfrm>
            <a:off x="13429488" y="3163824"/>
            <a:ext cx="512064" cy="512064"/>
          </a:xfrm>
          <a:prstGeom prst="rect">
            <a:avLst/>
          </a:prstGeom>
        </p:spPr>
      </p:pic>
      <p:sp>
        <p:nvSpPr>
          <p:cNvPr id="24" name="TextBox 23"/>
          <p:cNvSpPr txBox="1"/>
          <p:nvPr/>
        </p:nvSpPr>
        <p:spPr>
          <a:xfrm>
            <a:off x="14106144" y="2999232"/>
            <a:ext cx="3386328" cy="841248"/>
          </a:xfrm>
          <a:prstGeom prst="rect">
            <a:avLst/>
          </a:prstGeom>
          <a:noFill/>
        </p:spPr>
        <p:txBody>
          <a:bodyPr wrap="square" anchor="ctr" lIns="0" rIns="0" tIns="0" bIns="0">
            <a:spAutoFit/>
          </a:bodyPr>
          <a:lstStyle/>
          <a:p>
            <a:pPr algn="l">
              <a:lnSpc>
                <a:spcPct val="100000"/>
              </a:lnSpc>
            </a:pPr>
            <a:r>
              <a:rPr sz="2200" b="1">
                <a:solidFill>
                  <a:srgbClr val="3C4FA5"/>
                </a:solidFill>
                <a:latin typeface="Arial"/>
                <a:ea typeface="Arial"/>
              </a:rPr>
              <a:t>C3 </a:t>
            </a:r>
            <a:r>
              <a:rPr sz="2200" b="1">
                <a:solidFill>
                  <a:srgbClr val="1A1A1A"/>
                </a:solidFill>
                <a:latin typeface="Arial"/>
                <a:ea typeface="Arial"/>
              </a:rPr>
              <a:t>Co-Creation</a:t>
            </a:r>
          </a:p>
          <a:p>
            <a:pPr algn="l">
              <a:lnSpc>
                <a:spcPct val="100000"/>
              </a:lnSpc>
            </a:pPr>
            <a:r>
              <a:rPr sz="1800" b="0">
                <a:solidFill>
                  <a:srgbClr val="555555"/>
                </a:solidFill>
                <a:latin typeface="Arial"/>
                <a:ea typeface="Arial"/>
              </a:rPr>
              <a:t>고객과 함께 미래를 설계</a:t>
            </a:r>
          </a:p>
        </p:txBody>
      </p:sp>
      <p:sp>
        <p:nvSpPr>
          <p:cNvPr id="25" name="Rectangle 24"/>
          <p:cNvSpPr/>
          <p:nvPr/>
        </p:nvSpPr>
        <p:spPr>
          <a:xfrm>
            <a:off x="13374624" y="3840480"/>
            <a:ext cx="4044695" cy="4151376"/>
          </a:xfrm>
          <a:prstGeom prst="rect">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3374624"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7419320"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22376" y="2999232"/>
            <a:ext cx="3246120" cy="786384"/>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29" name="Rectangle 28"/>
          <p:cNvSpPr/>
          <p:nvPr/>
        </p:nvSpPr>
        <p:spPr>
          <a:xfrm>
            <a:off x="3877056" y="4553712"/>
            <a:ext cx="13688568" cy="5486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22376" y="3950208"/>
            <a:ext cx="3246120" cy="1261872"/>
          </a:xfrm>
          <a:prstGeom prst="roundRect">
            <a:avLst>
              <a:gd name="adj" fmla="val 5797"/>
            </a:avLst>
          </a:prstGeom>
          <a:solidFill>
            <a:srgbClr val="FFFFFF"/>
          </a:solidFill>
          <a:ln w="15875">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bonding_sem.jpg"/>
          <p:cNvPicPr>
            <a:picLocks noChangeAspect="1"/>
          </p:cNvPicPr>
          <p:nvPr/>
        </p:nvPicPr>
        <p:blipFill>
          <a:blip r:embed="rId5"/>
          <a:stretch>
            <a:fillRect/>
          </a:stretch>
        </p:blipFill>
        <p:spPr>
          <a:xfrm>
            <a:off x="832104" y="4316923"/>
            <a:ext cx="932688" cy="528440"/>
          </a:xfrm>
          <a:prstGeom prst="rect">
            <a:avLst/>
          </a:prstGeom>
        </p:spPr>
      </p:pic>
      <p:sp>
        <p:nvSpPr>
          <p:cNvPr id="32" name="Rectangle 31"/>
          <p:cNvSpPr/>
          <p:nvPr/>
        </p:nvSpPr>
        <p:spPr>
          <a:xfrm>
            <a:off x="832104" y="4316923"/>
            <a:ext cx="932688" cy="52844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74519" y="3986784"/>
            <a:ext cx="2039111" cy="1188719"/>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1</a:t>
            </a:r>
          </a:p>
          <a:p>
            <a:pPr algn="l">
              <a:lnSpc>
                <a:spcPct val="100000"/>
              </a:lnSpc>
            </a:pPr>
            <a:r>
              <a:rPr sz="2000" b="1">
                <a:solidFill>
                  <a:srgbClr val="1A1A1A"/>
                </a:solidFill>
                <a:latin typeface="Arial"/>
                <a:ea typeface="Arial"/>
              </a:rPr>
              <a:t>Bonding 기반</a:t>
            </a:r>
          </a:p>
          <a:p>
            <a:pPr algn="l">
              <a:lnSpc>
                <a:spcPct val="100000"/>
              </a:lnSpc>
            </a:pPr>
            <a:r>
              <a:rPr sz="2000" b="1">
                <a:solidFill>
                  <a:srgbClr val="1A1A1A"/>
                </a:solidFill>
                <a:latin typeface="Arial"/>
                <a:ea typeface="Arial"/>
              </a:rPr>
              <a:t>DRAM · NAND</a:t>
            </a:r>
          </a:p>
          <a:p>
            <a:pPr algn="l">
              <a:lnSpc>
                <a:spcPct val="100000"/>
              </a:lnSpc>
            </a:pPr>
            <a:r>
              <a:rPr sz="2000" b="1">
                <a:solidFill>
                  <a:srgbClr val="1A1A1A"/>
                </a:solidFill>
                <a:latin typeface="Arial"/>
                <a:ea typeface="Arial"/>
              </a:rPr>
              <a:t>통합 제조</a:t>
            </a:r>
          </a:p>
        </p:txBody>
      </p:sp>
      <p:sp>
        <p:nvSpPr>
          <p:cNvPr id="34" name="Rounded Rectangle 33"/>
          <p:cNvSpPr/>
          <p:nvPr/>
        </p:nvSpPr>
        <p:spPr>
          <a:xfrm>
            <a:off x="4352544" y="3950208"/>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building-factory-2_blue.png"/>
          <p:cNvPicPr>
            <a:picLocks noChangeAspect="1"/>
          </p:cNvPicPr>
          <p:nvPr/>
        </p:nvPicPr>
        <p:blipFill>
          <a:blip r:embed="rId6"/>
          <a:stretch>
            <a:fillRect/>
          </a:stretch>
        </p:blipFill>
        <p:spPr>
          <a:xfrm>
            <a:off x="4517136" y="4096512"/>
            <a:ext cx="493776" cy="493776"/>
          </a:xfrm>
          <a:prstGeom prst="rect">
            <a:avLst/>
          </a:prstGeom>
        </p:spPr>
      </p:pic>
      <p:sp>
        <p:nvSpPr>
          <p:cNvPr id="36" name="TextBox 35"/>
          <p:cNvSpPr txBox="1"/>
          <p:nvPr/>
        </p:nvSpPr>
        <p:spPr>
          <a:xfrm>
            <a:off x="513892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제조라인 공용화</a:t>
            </a:r>
          </a:p>
        </p:txBody>
      </p:sp>
      <p:sp>
        <p:nvSpPr>
          <p:cNvPr id="37" name="TextBox 36"/>
          <p:cNvSpPr txBox="1"/>
          <p:nvPr/>
        </p:nvSpPr>
        <p:spPr>
          <a:xfrm>
            <a:off x="453542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수요에 따라</a:t>
            </a:r>
          </a:p>
          <a:p>
            <a:pPr algn="l">
              <a:lnSpc>
                <a:spcPct val="100000"/>
              </a:lnSpc>
            </a:pPr>
            <a:r>
              <a:rPr sz="1800" b="0">
                <a:solidFill>
                  <a:srgbClr val="555555"/>
                </a:solidFill>
                <a:latin typeface="Arial"/>
                <a:ea typeface="Arial"/>
              </a:rPr>
              <a:t>DRAM ↔ NAND 전환</a:t>
            </a:r>
          </a:p>
        </p:txBody>
      </p:sp>
      <p:sp>
        <p:nvSpPr>
          <p:cNvPr id="38" name="Rounded Rectangle 37"/>
          <p:cNvSpPr/>
          <p:nvPr/>
        </p:nvSpPr>
        <p:spPr>
          <a:xfrm>
            <a:off x="8909304" y="3950208"/>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recycle_blue.png"/>
          <p:cNvPicPr>
            <a:picLocks noChangeAspect="1"/>
          </p:cNvPicPr>
          <p:nvPr/>
        </p:nvPicPr>
        <p:blipFill>
          <a:blip r:embed="rId7"/>
          <a:stretch>
            <a:fillRect/>
          </a:stretch>
        </p:blipFill>
        <p:spPr>
          <a:xfrm>
            <a:off x="9073896" y="4096512"/>
            <a:ext cx="493776" cy="493776"/>
          </a:xfrm>
          <a:prstGeom prst="rect">
            <a:avLst/>
          </a:prstGeom>
        </p:spPr>
      </p:pic>
      <p:sp>
        <p:nvSpPr>
          <p:cNvPr id="40" name="TextBox 39"/>
          <p:cNvSpPr txBox="1"/>
          <p:nvPr/>
        </p:nvSpPr>
        <p:spPr>
          <a:xfrm>
            <a:off x="969568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Legacy Cell 자산화</a:t>
            </a:r>
          </a:p>
        </p:txBody>
      </p:sp>
      <p:sp>
        <p:nvSpPr>
          <p:cNvPr id="41" name="TextBox 40"/>
          <p:cNvSpPr txBox="1"/>
          <p:nvPr/>
        </p:nvSpPr>
        <p:spPr>
          <a:xfrm>
            <a:off x="909218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검증된 DRAM Cell 기술을</a:t>
            </a:r>
          </a:p>
          <a:p>
            <a:pPr algn="l">
              <a:lnSpc>
                <a:spcPct val="100000"/>
              </a:lnSpc>
            </a:pPr>
            <a:r>
              <a:rPr sz="1800" b="0">
                <a:solidFill>
                  <a:srgbClr val="555555"/>
                </a:solidFill>
                <a:latin typeface="Arial"/>
                <a:ea typeface="Arial"/>
              </a:rPr>
              <a:t>그대로 활용</a:t>
            </a:r>
          </a:p>
        </p:txBody>
      </p:sp>
      <p:sp>
        <p:nvSpPr>
          <p:cNvPr id="42" name="Rounded Rectangle 41"/>
          <p:cNvSpPr/>
          <p:nvPr/>
        </p:nvSpPr>
        <p:spPr>
          <a:xfrm>
            <a:off x="13466064" y="3950208"/>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adjustments-horizontal_blue.png"/>
          <p:cNvPicPr>
            <a:picLocks noChangeAspect="1"/>
          </p:cNvPicPr>
          <p:nvPr/>
        </p:nvPicPr>
        <p:blipFill>
          <a:blip r:embed="rId8"/>
          <a:stretch>
            <a:fillRect/>
          </a:stretch>
        </p:blipFill>
        <p:spPr>
          <a:xfrm>
            <a:off x="13630656" y="4096512"/>
            <a:ext cx="493776" cy="493776"/>
          </a:xfrm>
          <a:prstGeom prst="rect">
            <a:avLst/>
          </a:prstGeom>
        </p:spPr>
      </p:pic>
      <p:sp>
        <p:nvSpPr>
          <p:cNvPr id="44" name="TextBox 43"/>
          <p:cNvSpPr txBox="1"/>
          <p:nvPr/>
        </p:nvSpPr>
        <p:spPr>
          <a:xfrm>
            <a:off x="1425244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Peripherals 맞춤 제공</a:t>
            </a:r>
          </a:p>
        </p:txBody>
      </p:sp>
      <p:sp>
        <p:nvSpPr>
          <p:cNvPr id="45" name="TextBox 44"/>
          <p:cNvSpPr txBox="1"/>
          <p:nvPr/>
        </p:nvSpPr>
        <p:spPr>
          <a:xfrm>
            <a:off x="1364894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Cell은 공통,</a:t>
            </a:r>
          </a:p>
          <a:p>
            <a:pPr algn="l">
              <a:lnSpc>
                <a:spcPct val="100000"/>
              </a:lnSpc>
            </a:pPr>
            <a:r>
              <a:rPr sz="1800" b="0">
                <a:solidFill>
                  <a:srgbClr val="555555"/>
                </a:solidFill>
                <a:latin typeface="Arial"/>
                <a:ea typeface="Arial"/>
              </a:rPr>
              <a:t>Peri는 고객별 맞춤</a:t>
            </a:r>
          </a:p>
        </p:txBody>
      </p:sp>
      <p:sp>
        <p:nvSpPr>
          <p:cNvPr id="46" name="Rectangle 45"/>
          <p:cNvSpPr/>
          <p:nvPr/>
        </p:nvSpPr>
        <p:spPr>
          <a:xfrm>
            <a:off x="3877056" y="5907024"/>
            <a:ext cx="13688568" cy="5486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22376" y="5303520"/>
            <a:ext cx="3246120" cy="1261872"/>
          </a:xfrm>
          <a:prstGeom prst="roundRect">
            <a:avLst>
              <a:gd name="adj" fmla="val 5797"/>
            </a:avLst>
          </a:prstGeom>
          <a:solidFill>
            <a:srgbClr val="FFFFFF"/>
          </a:solidFill>
          <a:ln w="15875">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zhbm.jpg"/>
          <p:cNvPicPr>
            <a:picLocks noChangeAspect="1"/>
          </p:cNvPicPr>
          <p:nvPr/>
        </p:nvPicPr>
        <p:blipFill>
          <a:blip r:embed="rId9"/>
          <a:stretch>
            <a:fillRect/>
          </a:stretch>
        </p:blipFill>
        <p:spPr>
          <a:xfrm>
            <a:off x="832104" y="5463035"/>
            <a:ext cx="932688" cy="942841"/>
          </a:xfrm>
          <a:prstGeom prst="rect">
            <a:avLst/>
          </a:prstGeom>
        </p:spPr>
      </p:pic>
      <p:sp>
        <p:nvSpPr>
          <p:cNvPr id="49" name="Rectangle 48"/>
          <p:cNvSpPr/>
          <p:nvPr/>
        </p:nvSpPr>
        <p:spPr>
          <a:xfrm>
            <a:off x="832104" y="5463035"/>
            <a:ext cx="932688" cy="942841"/>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874519" y="5340096"/>
            <a:ext cx="2039111" cy="1188719"/>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2</a:t>
            </a:r>
          </a:p>
          <a:p>
            <a:pPr algn="l">
              <a:lnSpc>
                <a:spcPct val="100000"/>
              </a:lnSpc>
            </a:pPr>
            <a:r>
              <a:rPr sz="2000" b="1">
                <a:solidFill>
                  <a:srgbClr val="1A1A1A"/>
                </a:solidFill>
                <a:latin typeface="Arial"/>
                <a:ea typeface="Arial"/>
              </a:rPr>
              <a:t>고객 맞춤형</a:t>
            </a:r>
          </a:p>
          <a:p>
            <a:pPr algn="l">
              <a:lnSpc>
                <a:spcPct val="100000"/>
              </a:lnSpc>
            </a:pPr>
            <a:r>
              <a:rPr sz="2000" b="1">
                <a:solidFill>
                  <a:srgbClr val="1A1A1A"/>
                </a:solidFill>
                <a:latin typeface="Arial"/>
                <a:ea typeface="Arial"/>
              </a:rPr>
              <a:t>차세대 메모리</a:t>
            </a:r>
          </a:p>
          <a:p>
            <a:pPr algn="l">
              <a:lnSpc>
                <a:spcPct val="100000"/>
              </a:lnSpc>
            </a:pPr>
            <a:r>
              <a:rPr sz="2000" b="1">
                <a:solidFill>
                  <a:srgbClr val="1A1A1A"/>
                </a:solidFill>
                <a:latin typeface="Arial"/>
                <a:ea typeface="Arial"/>
              </a:rPr>
              <a:t>개발</a:t>
            </a:r>
          </a:p>
        </p:txBody>
      </p:sp>
      <p:sp>
        <p:nvSpPr>
          <p:cNvPr id="51" name="Rounded Rectangle 50"/>
          <p:cNvSpPr/>
          <p:nvPr/>
        </p:nvSpPr>
        <p:spPr>
          <a:xfrm>
            <a:off x="4352544" y="5303520"/>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cpu-2_blue.png"/>
          <p:cNvPicPr>
            <a:picLocks noChangeAspect="1"/>
          </p:cNvPicPr>
          <p:nvPr/>
        </p:nvPicPr>
        <p:blipFill>
          <a:blip r:embed="rId10"/>
          <a:stretch>
            <a:fillRect/>
          </a:stretch>
        </p:blipFill>
        <p:spPr>
          <a:xfrm>
            <a:off x="4517136" y="5449824"/>
            <a:ext cx="493776" cy="493776"/>
          </a:xfrm>
          <a:prstGeom prst="rect">
            <a:avLst/>
          </a:prstGeom>
        </p:spPr>
      </p:pic>
      <p:sp>
        <p:nvSpPr>
          <p:cNvPr id="53" name="TextBox 52"/>
          <p:cNvSpPr txBox="1"/>
          <p:nvPr/>
        </p:nvSpPr>
        <p:spPr>
          <a:xfrm>
            <a:off x="513892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로직 IP 역량 전환</a:t>
            </a:r>
          </a:p>
        </p:txBody>
      </p:sp>
      <p:sp>
        <p:nvSpPr>
          <p:cNvPr id="54" name="TextBox 53"/>
          <p:cNvSpPr txBox="1"/>
          <p:nvPr/>
        </p:nvSpPr>
        <p:spPr>
          <a:xfrm>
            <a:off x="453542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설계 역량 · 자원을</a:t>
            </a:r>
          </a:p>
          <a:p>
            <a:pPr algn="l">
              <a:lnSpc>
                <a:spcPct val="100000"/>
              </a:lnSpc>
            </a:pPr>
            <a:r>
              <a:rPr sz="1800" b="0">
                <a:solidFill>
                  <a:srgbClr val="555555"/>
                </a:solidFill>
                <a:latin typeface="Arial"/>
                <a:ea typeface="Arial"/>
              </a:rPr>
              <a:t>메모리 로직 IP로</a:t>
            </a:r>
          </a:p>
        </p:txBody>
      </p:sp>
      <p:sp>
        <p:nvSpPr>
          <p:cNvPr id="55" name="Rounded Rectangle 54"/>
          <p:cNvSpPr/>
          <p:nvPr/>
        </p:nvSpPr>
        <p:spPr>
          <a:xfrm>
            <a:off x="8909304" y="5303520"/>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shield-check_blue.png"/>
          <p:cNvPicPr>
            <a:picLocks noChangeAspect="1"/>
          </p:cNvPicPr>
          <p:nvPr/>
        </p:nvPicPr>
        <p:blipFill>
          <a:blip r:embed="rId11"/>
          <a:stretch>
            <a:fillRect/>
          </a:stretch>
        </p:blipFill>
        <p:spPr>
          <a:xfrm>
            <a:off x="9073896" y="5449824"/>
            <a:ext cx="493776" cy="493776"/>
          </a:xfrm>
          <a:prstGeom prst="rect">
            <a:avLst/>
          </a:prstGeom>
        </p:spPr>
      </p:pic>
      <p:sp>
        <p:nvSpPr>
          <p:cNvPr id="57" name="TextBox 56"/>
          <p:cNvSpPr txBox="1"/>
          <p:nvPr/>
        </p:nvSpPr>
        <p:spPr>
          <a:xfrm>
            <a:off x="969568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검증된 품질 · 적기 공급</a:t>
            </a:r>
          </a:p>
        </p:txBody>
      </p:sp>
      <p:sp>
        <p:nvSpPr>
          <p:cNvPr id="58" name="TextBox 57"/>
          <p:cNvSpPr txBox="1"/>
          <p:nvPr/>
        </p:nvSpPr>
        <p:spPr>
          <a:xfrm>
            <a:off x="909218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양산으로 검증된 품질을</a:t>
            </a:r>
          </a:p>
          <a:p>
            <a:pPr algn="l">
              <a:lnSpc>
                <a:spcPct val="100000"/>
              </a:lnSpc>
            </a:pPr>
            <a:r>
              <a:rPr sz="1800" b="0">
                <a:solidFill>
                  <a:srgbClr val="555555"/>
                </a:solidFill>
                <a:latin typeface="Arial"/>
                <a:ea typeface="Arial"/>
              </a:rPr>
              <a:t>제때 공급</a:t>
            </a:r>
          </a:p>
        </p:txBody>
      </p:sp>
      <p:sp>
        <p:nvSpPr>
          <p:cNvPr id="59" name="Rounded Rectangle 58"/>
          <p:cNvSpPr/>
          <p:nvPr/>
        </p:nvSpPr>
        <p:spPr>
          <a:xfrm>
            <a:off x="13466064" y="5303520"/>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puzzle_blue.png"/>
          <p:cNvPicPr>
            <a:picLocks noChangeAspect="1"/>
          </p:cNvPicPr>
          <p:nvPr/>
        </p:nvPicPr>
        <p:blipFill>
          <a:blip r:embed="rId12"/>
          <a:stretch>
            <a:fillRect/>
          </a:stretch>
        </p:blipFill>
        <p:spPr>
          <a:xfrm>
            <a:off x="13630656" y="5449824"/>
            <a:ext cx="493776" cy="493776"/>
          </a:xfrm>
          <a:prstGeom prst="rect">
            <a:avLst/>
          </a:prstGeom>
        </p:spPr>
      </p:pic>
      <p:sp>
        <p:nvSpPr>
          <p:cNvPr id="61" name="TextBox 60"/>
          <p:cNvSpPr txBox="1"/>
          <p:nvPr/>
        </p:nvSpPr>
        <p:spPr>
          <a:xfrm>
            <a:off x="1425244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Custom Logic 협업</a:t>
            </a:r>
          </a:p>
        </p:txBody>
      </p:sp>
      <p:sp>
        <p:nvSpPr>
          <p:cNvPr id="62" name="TextBox 61"/>
          <p:cNvSpPr txBox="1"/>
          <p:nvPr/>
        </p:nvSpPr>
        <p:spPr>
          <a:xfrm>
            <a:off x="1364894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가속기별 로직을</a:t>
            </a:r>
          </a:p>
          <a:p>
            <a:pPr algn="l">
              <a:lnSpc>
                <a:spcPct val="100000"/>
              </a:lnSpc>
            </a:pPr>
            <a:r>
              <a:rPr sz="1800" b="0">
                <a:solidFill>
                  <a:srgbClr val="555555"/>
                </a:solidFill>
                <a:latin typeface="Arial"/>
                <a:ea typeface="Arial"/>
              </a:rPr>
              <a:t>고객과 함께 설계</a:t>
            </a:r>
          </a:p>
        </p:txBody>
      </p:sp>
      <p:sp>
        <p:nvSpPr>
          <p:cNvPr id="63" name="Rectangle 62"/>
          <p:cNvSpPr/>
          <p:nvPr/>
        </p:nvSpPr>
        <p:spPr>
          <a:xfrm>
            <a:off x="3877056" y="7260336"/>
            <a:ext cx="13688568" cy="54864"/>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22376" y="6656832"/>
            <a:ext cx="3246120" cy="1261872"/>
          </a:xfrm>
          <a:prstGeom prst="roundRect">
            <a:avLst>
              <a:gd name="adj" fmla="val 5797"/>
            </a:avLst>
          </a:prstGeom>
          <a:solidFill>
            <a:srgbClr val="FFFFFF"/>
          </a:solidFill>
          <a:ln w="15875">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render_ssd.png"/>
          <p:cNvPicPr>
            <a:picLocks noChangeAspect="1"/>
          </p:cNvPicPr>
          <p:nvPr/>
        </p:nvPicPr>
        <p:blipFill>
          <a:blip r:embed="rId13"/>
          <a:stretch>
            <a:fillRect/>
          </a:stretch>
        </p:blipFill>
        <p:spPr>
          <a:xfrm>
            <a:off x="832104" y="6822747"/>
            <a:ext cx="932688" cy="346288"/>
          </a:xfrm>
          <a:prstGeom prst="rect">
            <a:avLst/>
          </a:prstGeom>
        </p:spPr>
      </p:pic>
      <p:pic>
        <p:nvPicPr>
          <p:cNvPr id="66" name="Picture 65" descr="render_server.png"/>
          <p:cNvPicPr>
            <a:picLocks noChangeAspect="1"/>
          </p:cNvPicPr>
          <p:nvPr/>
        </p:nvPicPr>
        <p:blipFill>
          <a:blip r:embed="rId14"/>
          <a:stretch>
            <a:fillRect/>
          </a:stretch>
        </p:blipFill>
        <p:spPr>
          <a:xfrm>
            <a:off x="864638" y="7298375"/>
            <a:ext cx="867619" cy="510600"/>
          </a:xfrm>
          <a:prstGeom prst="rect">
            <a:avLst/>
          </a:prstGeom>
        </p:spPr>
      </p:pic>
      <p:sp>
        <p:nvSpPr>
          <p:cNvPr id="67" name="TextBox 66"/>
          <p:cNvSpPr txBox="1"/>
          <p:nvPr/>
        </p:nvSpPr>
        <p:spPr>
          <a:xfrm>
            <a:off x="1874519" y="6693408"/>
            <a:ext cx="2039111" cy="1188719"/>
          </a:xfrm>
          <a:prstGeom prst="rect">
            <a:avLst/>
          </a:prstGeom>
          <a:noFill/>
        </p:spPr>
        <p:txBody>
          <a:bodyPr wrap="square" anchor="ctr" lIns="0" rIns="0" tIns="0" bIns="0">
            <a:spAutoFit/>
          </a:bodyPr>
          <a:lstStyle/>
          <a:p>
            <a:pPr algn="l">
              <a:lnSpc>
                <a:spcPct val="100000"/>
              </a:lnSpc>
            </a:pPr>
            <a:r>
              <a:rPr sz="1800" b="1">
                <a:solidFill>
                  <a:srgbClr val="3C4FA5"/>
                </a:solidFill>
                <a:latin typeface="Arial"/>
                <a:ea typeface="Arial"/>
              </a:rPr>
              <a:t>전략 3</a:t>
            </a:r>
          </a:p>
          <a:p>
            <a:pPr algn="l">
              <a:lnSpc>
                <a:spcPct val="100000"/>
              </a:lnSpc>
            </a:pPr>
            <a:r>
              <a:rPr sz="2000" b="1">
                <a:solidFill>
                  <a:srgbClr val="1A1A1A"/>
                </a:solidFill>
                <a:latin typeface="Arial"/>
                <a:ea typeface="Arial"/>
              </a:rPr>
              <a:t>고객 시스템을</a:t>
            </a:r>
          </a:p>
          <a:p>
            <a:pPr algn="l">
              <a:lnSpc>
                <a:spcPct val="100000"/>
              </a:lnSpc>
            </a:pPr>
            <a:r>
              <a:rPr sz="2000" b="1">
                <a:solidFill>
                  <a:srgbClr val="1A1A1A"/>
                </a:solidFill>
                <a:latin typeface="Arial"/>
                <a:ea typeface="Arial"/>
              </a:rPr>
              <a:t>고려한 스토리지</a:t>
            </a:r>
          </a:p>
          <a:p>
            <a:pPr algn="l">
              <a:lnSpc>
                <a:spcPct val="100000"/>
              </a:lnSpc>
            </a:pPr>
            <a:r>
              <a:rPr sz="2000" b="1">
                <a:solidFill>
                  <a:srgbClr val="1A1A1A"/>
                </a:solidFill>
                <a:latin typeface="Arial"/>
                <a:ea typeface="Arial"/>
              </a:rPr>
              <a:t>개발</a:t>
            </a:r>
          </a:p>
        </p:txBody>
      </p:sp>
      <p:sp>
        <p:nvSpPr>
          <p:cNvPr id="68" name="Rounded Rectangle 67"/>
          <p:cNvSpPr/>
          <p:nvPr/>
        </p:nvSpPr>
        <p:spPr>
          <a:xfrm>
            <a:off x="4352544" y="6656832"/>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radar_blue.png"/>
          <p:cNvPicPr>
            <a:picLocks noChangeAspect="1"/>
          </p:cNvPicPr>
          <p:nvPr/>
        </p:nvPicPr>
        <p:blipFill>
          <a:blip r:embed="rId15"/>
          <a:stretch>
            <a:fillRect/>
          </a:stretch>
        </p:blipFill>
        <p:spPr>
          <a:xfrm>
            <a:off x="4517136" y="6803136"/>
            <a:ext cx="493776" cy="493776"/>
          </a:xfrm>
          <a:prstGeom prst="rect">
            <a:avLst/>
          </a:prstGeom>
        </p:spPr>
      </p:pic>
      <p:sp>
        <p:nvSpPr>
          <p:cNvPr id="70" name="TextBox 69"/>
          <p:cNvSpPr txBox="1"/>
          <p:nvPr/>
        </p:nvSpPr>
        <p:spPr>
          <a:xfrm>
            <a:off x="513892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기술 변화 조기 센싱</a:t>
            </a:r>
          </a:p>
        </p:txBody>
      </p:sp>
      <p:sp>
        <p:nvSpPr>
          <p:cNvPr id="71" name="TextBox 70"/>
          <p:cNvSpPr txBox="1"/>
          <p:nvPr/>
        </p:nvSpPr>
        <p:spPr>
          <a:xfrm>
            <a:off x="453542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고객과 먼저 감지하고</a:t>
            </a:r>
          </a:p>
          <a:p>
            <a:pPr algn="l">
              <a:lnSpc>
                <a:spcPct val="100000"/>
              </a:lnSpc>
            </a:pPr>
            <a:r>
              <a:rPr sz="1800" b="0">
                <a:solidFill>
                  <a:srgbClr val="555555"/>
                </a:solidFill>
                <a:latin typeface="Arial"/>
                <a:ea typeface="Arial"/>
              </a:rPr>
              <a:t>차세대 수요를 함께 설계</a:t>
            </a:r>
          </a:p>
        </p:txBody>
      </p:sp>
      <p:sp>
        <p:nvSpPr>
          <p:cNvPr id="72" name="Rounded Rectangle 71"/>
          <p:cNvSpPr/>
          <p:nvPr/>
        </p:nvSpPr>
        <p:spPr>
          <a:xfrm>
            <a:off x="8909304" y="6656832"/>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sitemap_blue.png"/>
          <p:cNvPicPr>
            <a:picLocks noChangeAspect="1"/>
          </p:cNvPicPr>
          <p:nvPr/>
        </p:nvPicPr>
        <p:blipFill>
          <a:blip r:embed="rId16"/>
          <a:stretch>
            <a:fillRect/>
          </a:stretch>
        </p:blipFill>
        <p:spPr>
          <a:xfrm>
            <a:off x="9073896" y="6803136"/>
            <a:ext cx="493776" cy="493776"/>
          </a:xfrm>
          <a:prstGeom prst="rect">
            <a:avLst/>
          </a:prstGeom>
        </p:spPr>
      </p:pic>
      <p:sp>
        <p:nvSpPr>
          <p:cNvPr id="74" name="TextBox 73"/>
          <p:cNvSpPr txBox="1"/>
          <p:nvPr/>
        </p:nvSpPr>
        <p:spPr>
          <a:xfrm>
            <a:off x="969568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시스템 지식 확장</a:t>
            </a:r>
          </a:p>
        </p:txBody>
      </p:sp>
      <p:sp>
        <p:nvSpPr>
          <p:cNvPr id="75" name="TextBox 74"/>
          <p:cNvSpPr txBox="1"/>
          <p:nvPr/>
        </p:nvSpPr>
        <p:spPr>
          <a:xfrm>
            <a:off x="909218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워크로드 연구로</a:t>
            </a:r>
          </a:p>
          <a:p>
            <a:pPr algn="l">
              <a:lnSpc>
                <a:spcPct val="100000"/>
              </a:lnSpc>
            </a:pPr>
            <a:r>
              <a:rPr sz="1800" b="0">
                <a:solidFill>
                  <a:srgbClr val="555555"/>
                </a:solidFill>
                <a:latin typeface="Arial"/>
                <a:ea typeface="Arial"/>
              </a:rPr>
              <a:t>NAND · SSD에서 서버까지</a:t>
            </a:r>
          </a:p>
        </p:txBody>
      </p:sp>
      <p:sp>
        <p:nvSpPr>
          <p:cNvPr id="76" name="Rounded Rectangle 75"/>
          <p:cNvSpPr/>
          <p:nvPr/>
        </p:nvSpPr>
        <p:spPr>
          <a:xfrm>
            <a:off x="13466064" y="6656832"/>
            <a:ext cx="3861815" cy="1261872"/>
          </a:xfrm>
          <a:prstGeom prst="roundRect">
            <a:avLst>
              <a:gd name="adj" fmla="val 579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pencil-cog_blue.png"/>
          <p:cNvPicPr>
            <a:picLocks noChangeAspect="1"/>
          </p:cNvPicPr>
          <p:nvPr/>
        </p:nvPicPr>
        <p:blipFill>
          <a:blip r:embed="rId17"/>
          <a:stretch>
            <a:fillRect/>
          </a:stretch>
        </p:blipFill>
        <p:spPr>
          <a:xfrm>
            <a:off x="13630656" y="6803136"/>
            <a:ext cx="493776" cy="493776"/>
          </a:xfrm>
          <a:prstGeom prst="rect">
            <a:avLst/>
          </a:prstGeom>
        </p:spPr>
      </p:pic>
      <p:sp>
        <p:nvSpPr>
          <p:cNvPr id="78" name="TextBox 77"/>
          <p:cNvSpPr txBox="1"/>
          <p:nvPr/>
        </p:nvSpPr>
        <p:spPr>
          <a:xfrm>
            <a:off x="1425244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SSD · 서버 공동 설계</a:t>
            </a:r>
          </a:p>
        </p:txBody>
      </p:sp>
      <p:sp>
        <p:nvSpPr>
          <p:cNvPr id="79" name="TextBox 78"/>
          <p:cNvSpPr txBox="1"/>
          <p:nvPr/>
        </p:nvSpPr>
        <p:spPr>
          <a:xfrm>
            <a:off x="1364894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AI 수요에 맞춰</a:t>
            </a:r>
          </a:p>
          <a:p>
            <a:pPr algn="l">
              <a:lnSpc>
                <a:spcPct val="100000"/>
              </a:lnSpc>
            </a:pPr>
            <a:r>
              <a:rPr sz="1800" b="0">
                <a:solidFill>
                  <a:srgbClr val="555555"/>
                </a:solidFill>
                <a:latin typeface="Arial"/>
                <a:ea typeface="Arial"/>
              </a:rPr>
              <a:t>기능과 구조를 함께 설계</a:t>
            </a:r>
          </a:p>
        </p:txBody>
      </p:sp>
      <p:sp>
        <p:nvSpPr>
          <p:cNvPr id="80" name="Rectangle 79"/>
          <p:cNvSpPr/>
          <p:nvPr/>
        </p:nvSpPr>
        <p:spPr>
          <a:xfrm>
            <a:off x="4005072" y="7991856"/>
            <a:ext cx="13560552"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840480" y="8119872"/>
            <a:ext cx="13725144" cy="512064"/>
          </a:xfrm>
          <a:prstGeom prst="rect">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840480" y="8119872"/>
            <a:ext cx="13725144" cy="512064"/>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토대: 수요 예측</a:t>
            </a:r>
            <a:r>
              <a:rPr sz="1800" b="0">
                <a:solidFill>
                  <a:srgbClr val="555555"/>
                </a:solidFill>
                <a:latin typeface="Arial"/>
                <a:ea typeface="Arial"/>
              </a:rPr>
              <a:t>    필요하지만, 예측 하나만으로는 불확실성에 대응할 수 없습니다</a:t>
            </a:r>
          </a:p>
        </p:txBody>
      </p:sp>
      <p:sp>
        <p:nvSpPr>
          <p:cNvPr id="83" name="Rectangle 82"/>
          <p:cNvSpPr/>
          <p:nvPr/>
        </p:nvSpPr>
        <p:spPr>
          <a:xfrm>
            <a:off x="722376" y="8778240"/>
            <a:ext cx="16843248" cy="7315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0CAEC"/>
                </a:solidFill>
                <a:latin typeface="Arial"/>
                <a:ea typeface="Arial"/>
              </a:rPr>
              <a:t>3-C</a:t>
            </a:r>
          </a:p>
        </p:txBody>
      </p:sp>
      <p:sp>
        <p:nvSpPr>
          <p:cNvPr id="85" name="TextBox 84"/>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전환하고, 기술은 연속성 있게 쌓고, 미래는 고객과 함께 설계합니다</a:t>
            </a:r>
          </a:p>
        </p:txBody>
      </p:sp>
      <p:sp>
        <p:nvSpPr>
          <p:cNvPr id="86" name="TextBox 85"/>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 수치 주장 없음). 아이콘 Tabler Icons(MIT).</a:t>
            </a:r>
          </a:p>
          <a:p>
            <a:pPr algn="l">
              <a:lnSpc>
                <a:spcPct val="105000"/>
              </a:lnSpc>
            </a:pPr>
            <a:r>
              <a:rPr sz="1500" b="0">
                <a:solidFill>
                  <a:srgbClr val="555555"/>
                </a:solidFill>
                <a:latin typeface="Arial"/>
                <a:ea typeface="Arial"/>
              </a:rPr>
              <a:t>이미지: 전략 1 Cu/SiO2 하이브리드 본딩 단면 SEM(Hsu 외, Materials 2022, CC BY 4.0, 잘라 냄), 전략 2 삼성 FMS 2026 zHBM 전시, 전략 3 3D 렌더.</a:t>
            </a:r>
          </a:p>
        </p:txBody>
      </p:sp>
      <p:sp>
        <p:nvSpPr>
          <p:cNvPr id="87" name="TextBox 86"/>
          <p:cNvSpPr txBox="1"/>
          <p:nvPr/>
        </p:nvSpPr>
        <p:spPr>
          <a:xfrm>
            <a:off x="15736824" y="9601200"/>
            <a:ext cx="182880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A  도해형 매트릭스 · 컬러</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3657600" cy="804672"/>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8" name="Rectangle 7"/>
          <p:cNvSpPr/>
          <p:nvPr/>
        </p:nvSpPr>
        <p:spPr>
          <a:xfrm>
            <a:off x="722376" y="2990088"/>
            <a:ext cx="3657600" cy="274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62856" y="2194560"/>
            <a:ext cx="731520" cy="731520"/>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rrows-exchange_white.png"/>
          <p:cNvPicPr>
            <a:picLocks noChangeAspect="1"/>
          </p:cNvPicPr>
          <p:nvPr/>
        </p:nvPicPr>
        <p:blipFill>
          <a:blip r:embed="rId2"/>
          <a:stretch>
            <a:fillRect/>
          </a:stretch>
        </p:blipFill>
        <p:spPr>
          <a:xfrm>
            <a:off x="4723790" y="2355494"/>
            <a:ext cx="409651" cy="409651"/>
          </a:xfrm>
          <a:prstGeom prst="rect">
            <a:avLst/>
          </a:prstGeom>
        </p:spPr>
      </p:pic>
      <p:sp>
        <p:nvSpPr>
          <p:cNvPr id="11" name="TextBox 10"/>
          <p:cNvSpPr txBox="1"/>
          <p:nvPr/>
        </p:nvSpPr>
        <p:spPr>
          <a:xfrm>
            <a:off x="5440680" y="2157984"/>
            <a:ext cx="3334512" cy="786384"/>
          </a:xfrm>
          <a:prstGeom prst="rect">
            <a:avLst/>
          </a:prstGeom>
          <a:noFill/>
        </p:spPr>
        <p:txBody>
          <a:bodyPr wrap="square" anchor="ctr" lIns="0" rIns="0" tIns="0" bIns="0">
            <a:spAutoFit/>
          </a:bodyPr>
          <a:lstStyle/>
          <a:p>
            <a:pPr algn="l">
              <a:lnSpc>
                <a:spcPct val="110000"/>
              </a:lnSpc>
            </a:pPr>
            <a:r>
              <a:rPr sz="2400" b="1">
                <a:solidFill>
                  <a:srgbClr val="3C4FA5"/>
                </a:solidFill>
                <a:latin typeface="Arial"/>
                <a:ea typeface="Arial"/>
              </a:rPr>
              <a:t>C1 </a:t>
            </a:r>
            <a:r>
              <a:rPr sz="2400" b="1">
                <a:solidFill>
                  <a:srgbClr val="1A1A1A"/>
                </a:solidFill>
                <a:latin typeface="Arial"/>
                <a:ea typeface="Arial"/>
              </a:rPr>
              <a:t>Convertibility</a:t>
            </a:r>
          </a:p>
          <a:p>
            <a:pPr algn="l">
              <a:lnSpc>
                <a:spcPct val="110000"/>
              </a:lnSpc>
            </a:pPr>
            <a:r>
              <a:rPr sz="2000" b="0">
                <a:solidFill>
                  <a:srgbClr val="555555"/>
                </a:solidFill>
                <a:latin typeface="Arial"/>
                <a:ea typeface="Arial"/>
              </a:rPr>
              <a:t>자원의 유연한 전환</a:t>
            </a:r>
          </a:p>
        </p:txBody>
      </p:sp>
      <p:sp>
        <p:nvSpPr>
          <p:cNvPr id="12" name="Rectangle 11"/>
          <p:cNvSpPr/>
          <p:nvPr/>
        </p:nvSpPr>
        <p:spPr>
          <a:xfrm>
            <a:off x="4526280" y="2980944"/>
            <a:ext cx="4248912" cy="45720"/>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58072" y="2194560"/>
            <a:ext cx="731520" cy="731520"/>
          </a:xfrm>
          <a:prstGeom prst="ellipse">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tack-push_white.png"/>
          <p:cNvPicPr>
            <a:picLocks noChangeAspect="1"/>
          </p:cNvPicPr>
          <p:nvPr/>
        </p:nvPicPr>
        <p:blipFill>
          <a:blip r:embed="rId3"/>
          <a:stretch>
            <a:fillRect/>
          </a:stretch>
        </p:blipFill>
        <p:spPr>
          <a:xfrm>
            <a:off x="9119006" y="2355494"/>
            <a:ext cx="409651" cy="409651"/>
          </a:xfrm>
          <a:prstGeom prst="rect">
            <a:avLst/>
          </a:prstGeom>
        </p:spPr>
      </p:pic>
      <p:sp>
        <p:nvSpPr>
          <p:cNvPr id="15" name="TextBox 14"/>
          <p:cNvSpPr txBox="1"/>
          <p:nvPr/>
        </p:nvSpPr>
        <p:spPr>
          <a:xfrm>
            <a:off x="9835896" y="2157984"/>
            <a:ext cx="3334512" cy="786384"/>
          </a:xfrm>
          <a:prstGeom prst="rect">
            <a:avLst/>
          </a:prstGeom>
          <a:noFill/>
        </p:spPr>
        <p:txBody>
          <a:bodyPr wrap="square" anchor="ctr" lIns="0" rIns="0" tIns="0" bIns="0">
            <a:spAutoFit/>
          </a:bodyPr>
          <a:lstStyle/>
          <a:p>
            <a:pPr algn="l">
              <a:lnSpc>
                <a:spcPct val="110000"/>
              </a:lnSpc>
            </a:pPr>
            <a:r>
              <a:rPr sz="2400" b="1">
                <a:solidFill>
                  <a:srgbClr val="12857A"/>
                </a:solidFill>
                <a:latin typeface="Arial"/>
                <a:ea typeface="Arial"/>
              </a:rPr>
              <a:t>C2 </a:t>
            </a:r>
            <a:r>
              <a:rPr sz="2400" b="1">
                <a:solidFill>
                  <a:srgbClr val="1A1A1A"/>
                </a:solidFill>
                <a:latin typeface="Arial"/>
                <a:ea typeface="Arial"/>
              </a:rPr>
              <a:t>Continuity</a:t>
            </a:r>
          </a:p>
          <a:p>
            <a:pPr algn="l">
              <a:lnSpc>
                <a:spcPct val="110000"/>
              </a:lnSpc>
            </a:pPr>
            <a:r>
              <a:rPr sz="2000" b="0">
                <a:solidFill>
                  <a:srgbClr val="555555"/>
                </a:solidFill>
                <a:latin typeface="Arial"/>
                <a:ea typeface="Arial"/>
              </a:rPr>
              <a:t>연속성 있는 기술 축적</a:t>
            </a:r>
          </a:p>
        </p:txBody>
      </p:sp>
      <p:sp>
        <p:nvSpPr>
          <p:cNvPr id="16" name="Rectangle 15"/>
          <p:cNvSpPr/>
          <p:nvPr/>
        </p:nvSpPr>
        <p:spPr>
          <a:xfrm>
            <a:off x="8921496" y="2980944"/>
            <a:ext cx="4248912" cy="45720"/>
          </a:xfrm>
          <a:prstGeom prst="rect">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353288" y="2194560"/>
            <a:ext cx="731520" cy="731520"/>
          </a:xfrm>
          <a:prstGeom prst="ellipse">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rt-handshake_white.png"/>
          <p:cNvPicPr>
            <a:picLocks noChangeAspect="1"/>
          </p:cNvPicPr>
          <p:nvPr/>
        </p:nvPicPr>
        <p:blipFill>
          <a:blip r:embed="rId4"/>
          <a:stretch>
            <a:fillRect/>
          </a:stretch>
        </p:blipFill>
        <p:spPr>
          <a:xfrm>
            <a:off x="13514222" y="2355494"/>
            <a:ext cx="409651" cy="409651"/>
          </a:xfrm>
          <a:prstGeom prst="rect">
            <a:avLst/>
          </a:prstGeom>
        </p:spPr>
      </p:pic>
      <p:sp>
        <p:nvSpPr>
          <p:cNvPr id="19" name="TextBox 18"/>
          <p:cNvSpPr txBox="1"/>
          <p:nvPr/>
        </p:nvSpPr>
        <p:spPr>
          <a:xfrm>
            <a:off x="14231112" y="2157984"/>
            <a:ext cx="3334512" cy="786384"/>
          </a:xfrm>
          <a:prstGeom prst="rect">
            <a:avLst/>
          </a:prstGeom>
          <a:noFill/>
        </p:spPr>
        <p:txBody>
          <a:bodyPr wrap="square" anchor="ctr" lIns="0" rIns="0" tIns="0" bIns="0">
            <a:spAutoFit/>
          </a:bodyPr>
          <a:lstStyle/>
          <a:p>
            <a:pPr algn="l">
              <a:lnSpc>
                <a:spcPct val="110000"/>
              </a:lnSpc>
            </a:pPr>
            <a:r>
              <a:rPr sz="2400" b="1">
                <a:solidFill>
                  <a:srgbClr val="D2691E"/>
                </a:solidFill>
                <a:latin typeface="Arial"/>
                <a:ea typeface="Arial"/>
              </a:rPr>
              <a:t>C3 </a:t>
            </a:r>
            <a:r>
              <a:rPr sz="2400" b="1">
                <a:solidFill>
                  <a:srgbClr val="1A1A1A"/>
                </a:solidFill>
                <a:latin typeface="Arial"/>
                <a:ea typeface="Arial"/>
              </a:rPr>
              <a:t>Co-Creation</a:t>
            </a:r>
          </a:p>
          <a:p>
            <a:pPr algn="l">
              <a:lnSpc>
                <a:spcPct val="110000"/>
              </a:lnSpc>
            </a:pPr>
            <a:r>
              <a:rPr sz="2000" b="0">
                <a:solidFill>
                  <a:srgbClr val="555555"/>
                </a:solidFill>
                <a:latin typeface="Arial"/>
                <a:ea typeface="Arial"/>
              </a:rPr>
              <a:t>고객과 함께 미래를 설계</a:t>
            </a:r>
          </a:p>
        </p:txBody>
      </p:sp>
      <p:sp>
        <p:nvSpPr>
          <p:cNvPr id="20" name="Rectangle 19"/>
          <p:cNvSpPr/>
          <p:nvPr/>
        </p:nvSpPr>
        <p:spPr>
          <a:xfrm>
            <a:off x="13316712" y="2980944"/>
            <a:ext cx="4248912" cy="45720"/>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2376" y="3182112"/>
            <a:ext cx="3657600" cy="1719072"/>
          </a:xfrm>
          <a:prstGeom prst="roundRect">
            <a:avLst>
              <a:gd name="adj" fmla="val 425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6968" y="3346704"/>
            <a:ext cx="960120" cy="365760"/>
          </a:xfrm>
          <a:prstGeom prst="roundRect">
            <a:avLst>
              <a:gd name="adj" fmla="val 2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3346704"/>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1</a:t>
            </a:r>
          </a:p>
        </p:txBody>
      </p:sp>
      <p:sp>
        <p:nvSpPr>
          <p:cNvPr id="24" name="TextBox 23"/>
          <p:cNvSpPr txBox="1"/>
          <p:nvPr/>
        </p:nvSpPr>
        <p:spPr>
          <a:xfrm>
            <a:off x="886968" y="3785615"/>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Bonding 기반</a:t>
            </a:r>
          </a:p>
          <a:p>
            <a:pPr algn="l">
              <a:lnSpc>
                <a:spcPct val="100000"/>
              </a:lnSpc>
            </a:pPr>
            <a:r>
              <a:rPr sz="2000" b="1">
                <a:solidFill>
                  <a:srgbClr val="1A1A1A"/>
                </a:solidFill>
                <a:latin typeface="Arial"/>
                <a:ea typeface="Arial"/>
              </a:rPr>
              <a:t>DRAM · NAND</a:t>
            </a:r>
          </a:p>
          <a:p>
            <a:pPr algn="l">
              <a:lnSpc>
                <a:spcPct val="100000"/>
              </a:lnSpc>
            </a:pPr>
            <a:r>
              <a:rPr sz="2000" b="1">
                <a:solidFill>
                  <a:srgbClr val="1A1A1A"/>
                </a:solidFill>
                <a:latin typeface="Arial"/>
                <a:ea typeface="Arial"/>
              </a:rPr>
              <a:t>통합 제조</a:t>
            </a:r>
          </a:p>
        </p:txBody>
      </p:sp>
      <p:pic>
        <p:nvPicPr>
          <p:cNvPr id="25" name="Picture 24" descr="bonding_sem.jpg"/>
          <p:cNvPicPr>
            <a:picLocks noChangeAspect="1"/>
          </p:cNvPicPr>
          <p:nvPr/>
        </p:nvPicPr>
        <p:blipFill>
          <a:blip r:embed="rId5"/>
          <a:stretch>
            <a:fillRect/>
          </a:stretch>
        </p:blipFill>
        <p:spPr>
          <a:xfrm>
            <a:off x="2898648" y="3470208"/>
            <a:ext cx="1371600" cy="777118"/>
          </a:xfrm>
          <a:prstGeom prst="rect">
            <a:avLst/>
          </a:prstGeom>
        </p:spPr>
      </p:pic>
      <p:sp>
        <p:nvSpPr>
          <p:cNvPr id="26" name="TextBox 25"/>
          <p:cNvSpPr txBox="1"/>
          <p:nvPr/>
        </p:nvSpPr>
        <p:spPr>
          <a:xfrm>
            <a:off x="2807208" y="4302191"/>
            <a:ext cx="1554480" cy="292608"/>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본딩 계면 SEM</a:t>
            </a:r>
          </a:p>
        </p:txBody>
      </p:sp>
      <p:sp>
        <p:nvSpPr>
          <p:cNvPr id="27" name="Rectangle 26"/>
          <p:cNvSpPr/>
          <p:nvPr/>
        </p:nvSpPr>
        <p:spPr>
          <a:xfrm>
            <a:off x="2898648" y="3470208"/>
            <a:ext cx="1371600" cy="777118"/>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26280" y="3182112"/>
            <a:ext cx="4248912" cy="1719072"/>
          </a:xfrm>
          <a:prstGeom prst="roundRect">
            <a:avLst>
              <a:gd name="adj" fmla="val 4255"/>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building-factory-2_blue.png"/>
          <p:cNvPicPr>
            <a:picLocks noChangeAspect="1"/>
          </p:cNvPicPr>
          <p:nvPr/>
        </p:nvPicPr>
        <p:blipFill>
          <a:blip r:embed="rId6"/>
          <a:stretch>
            <a:fillRect/>
          </a:stretch>
        </p:blipFill>
        <p:spPr>
          <a:xfrm>
            <a:off x="5321808" y="3337560"/>
            <a:ext cx="512064" cy="512064"/>
          </a:xfrm>
          <a:prstGeom prst="rect">
            <a:avLst/>
          </a:prstGeom>
        </p:spPr>
      </p:pic>
      <p:sp>
        <p:nvSpPr>
          <p:cNvPr id="30" name="TextBox 29"/>
          <p:cNvSpPr txBox="1"/>
          <p:nvPr/>
        </p:nvSpPr>
        <p:spPr>
          <a:xfrm>
            <a:off x="4672584" y="3886200"/>
            <a:ext cx="1810512"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공용 라인</a:t>
            </a:r>
          </a:p>
        </p:txBody>
      </p:sp>
      <p:sp>
        <p:nvSpPr>
          <p:cNvPr id="31" name="Rectangle 30"/>
          <p:cNvSpPr/>
          <p:nvPr/>
        </p:nvSpPr>
        <p:spPr>
          <a:xfrm>
            <a:off x="4672584" y="4178808"/>
            <a:ext cx="1013886" cy="384048"/>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86470" y="4178808"/>
            <a:ext cx="796625" cy="384048"/>
          </a:xfrm>
          <a:prstGeom prst="rect">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72584" y="4178808"/>
            <a:ext cx="1013886" cy="384048"/>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DRAM</a:t>
            </a:r>
          </a:p>
        </p:txBody>
      </p:sp>
      <p:sp>
        <p:nvSpPr>
          <p:cNvPr id="34" name="TextBox 33"/>
          <p:cNvSpPr txBox="1"/>
          <p:nvPr/>
        </p:nvSpPr>
        <p:spPr>
          <a:xfrm>
            <a:off x="5686470" y="4178808"/>
            <a:ext cx="796625" cy="384048"/>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NAND</a:t>
            </a:r>
          </a:p>
        </p:txBody>
      </p:sp>
      <p:sp>
        <p:nvSpPr>
          <p:cNvPr id="35" name="Left-Right Arrow 34"/>
          <p:cNvSpPr/>
          <p:nvPr/>
        </p:nvSpPr>
        <p:spPr>
          <a:xfrm>
            <a:off x="5393862" y="4599432"/>
            <a:ext cx="585216" cy="164592"/>
          </a:xfrm>
          <a:prstGeom prst="lef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01968"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제조라인 공용화</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수요에 따라</a:t>
            </a:r>
          </a:p>
          <a:p>
            <a:pPr algn="l">
              <a:lnSpc>
                <a:spcPct val="105000"/>
              </a:lnSpc>
            </a:pPr>
            <a:r>
              <a:rPr sz="1800" b="0">
                <a:solidFill>
                  <a:srgbClr val="555555"/>
                </a:solidFill>
                <a:latin typeface="Arial"/>
                <a:ea typeface="Arial"/>
              </a:rPr>
              <a:t>DRAM ↔ NAND</a:t>
            </a:r>
          </a:p>
        </p:txBody>
      </p:sp>
      <p:sp>
        <p:nvSpPr>
          <p:cNvPr id="38" name="Rounded Rectangle 37"/>
          <p:cNvSpPr/>
          <p:nvPr/>
        </p:nvSpPr>
        <p:spPr>
          <a:xfrm>
            <a:off x="8921496" y="3182112"/>
            <a:ext cx="4248912" cy="1719072"/>
          </a:xfrm>
          <a:prstGeom prst="roundRect">
            <a:avLst>
              <a:gd name="adj" fmla="val 4255"/>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214104" y="3355848"/>
            <a:ext cx="786384" cy="731520"/>
          </a:xfrm>
          <a:prstGeom prst="roundRect">
            <a:avLst>
              <a:gd name="adj" fmla="val 1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140952" y="3429000"/>
            <a:ext cx="786384" cy="731520"/>
          </a:xfrm>
          <a:prstGeom prst="roundRect">
            <a:avLst>
              <a:gd name="adj" fmla="val 1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067800" y="3502152"/>
            <a:ext cx="786384" cy="731520"/>
          </a:xfrm>
          <a:prstGeom prst="roundRect">
            <a:avLst>
              <a:gd name="adj" fmla="val 10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22664" y="3502152"/>
            <a:ext cx="676656" cy="73152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Legacy</a:t>
            </a:r>
          </a:p>
          <a:p>
            <a:pPr algn="ctr">
              <a:lnSpc>
                <a:spcPct val="110000"/>
              </a:lnSpc>
            </a:pPr>
            <a:r>
              <a:rPr sz="1600" b="1">
                <a:solidFill>
                  <a:srgbClr val="1A1A1A"/>
                </a:solidFill>
                <a:latin typeface="Arial"/>
                <a:ea typeface="Arial"/>
              </a:rPr>
              <a:t>Cell</a:t>
            </a:r>
          </a:p>
        </p:txBody>
      </p:sp>
      <p:sp>
        <p:nvSpPr>
          <p:cNvPr id="43" name="TextBox 42"/>
          <p:cNvSpPr txBox="1"/>
          <p:nvPr/>
        </p:nvSpPr>
        <p:spPr>
          <a:xfrm>
            <a:off x="9022080" y="4361688"/>
            <a:ext cx="969264"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검증 자산</a:t>
            </a:r>
          </a:p>
        </p:txBody>
      </p:sp>
      <p:sp>
        <p:nvSpPr>
          <p:cNvPr id="44" name="Right Arrow 43"/>
          <p:cNvSpPr/>
          <p:nvPr/>
        </p:nvSpPr>
        <p:spPr>
          <a:xfrm>
            <a:off x="10000488" y="3758184"/>
            <a:ext cx="23774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0201656" y="3483864"/>
            <a:ext cx="676656" cy="365760"/>
          </a:xfrm>
          <a:prstGeom prst="roundRect">
            <a:avLst>
              <a:gd name="adj" fmla="val 20000"/>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56520" y="3483864"/>
            <a:ext cx="566928"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Cell</a:t>
            </a:r>
          </a:p>
        </p:txBody>
      </p:sp>
      <p:cxnSp>
        <p:nvCxnSpPr>
          <p:cNvPr id="47" name="Connector 46"/>
          <p:cNvCxnSpPr/>
          <p:nvPr/>
        </p:nvCxnSpPr>
        <p:spPr>
          <a:xfrm>
            <a:off x="10165080" y="3904487"/>
            <a:ext cx="749808" cy="0"/>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10201656" y="3959352"/>
            <a:ext cx="676656" cy="365760"/>
          </a:xfrm>
          <a:prstGeom prst="roundRect">
            <a:avLst>
              <a:gd name="adj" fmla="val 2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56520" y="3959352"/>
            <a:ext cx="566928"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Peri</a:t>
            </a:r>
          </a:p>
        </p:txBody>
      </p:sp>
      <p:sp>
        <p:nvSpPr>
          <p:cNvPr id="50" name="TextBox 49"/>
          <p:cNvSpPr txBox="1"/>
          <p:nvPr/>
        </p:nvSpPr>
        <p:spPr>
          <a:xfrm>
            <a:off x="10018776" y="4361688"/>
            <a:ext cx="1042415"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Bonding</a:t>
            </a:r>
          </a:p>
        </p:txBody>
      </p:sp>
      <p:sp>
        <p:nvSpPr>
          <p:cNvPr id="51" name="Rectangle 50"/>
          <p:cNvSpPr/>
          <p:nvPr/>
        </p:nvSpPr>
        <p:spPr>
          <a:xfrm>
            <a:off x="10997184"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116056"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Legacy Cell</a:t>
            </a:r>
          </a:p>
          <a:p>
            <a:pPr algn="l">
              <a:lnSpc>
                <a:spcPct val="105000"/>
              </a:lnSpc>
            </a:pPr>
            <a:r>
              <a:rPr sz="2000" b="1">
                <a:solidFill>
                  <a:srgbClr val="1A1A1A"/>
                </a:solidFill>
                <a:latin typeface="Arial"/>
                <a:ea typeface="Arial"/>
              </a:rPr>
              <a:t>자산화</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검증된 Cell을</a:t>
            </a:r>
          </a:p>
          <a:p>
            <a:pPr algn="l">
              <a:lnSpc>
                <a:spcPct val="105000"/>
              </a:lnSpc>
            </a:pPr>
            <a:r>
              <a:rPr sz="1800" b="0">
                <a:solidFill>
                  <a:srgbClr val="555555"/>
                </a:solidFill>
                <a:latin typeface="Arial"/>
                <a:ea typeface="Arial"/>
              </a:rPr>
              <a:t>그대로 재활용</a:t>
            </a:r>
          </a:p>
        </p:txBody>
      </p:sp>
      <p:sp>
        <p:nvSpPr>
          <p:cNvPr id="53" name="Rounded Rectangle 52"/>
          <p:cNvSpPr/>
          <p:nvPr/>
        </p:nvSpPr>
        <p:spPr>
          <a:xfrm>
            <a:off x="13316712" y="3182112"/>
            <a:ext cx="4248912" cy="1719072"/>
          </a:xfrm>
          <a:prstGeom prst="roundRect">
            <a:avLst>
              <a:gd name="adj" fmla="val 4255"/>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3463016" y="3374136"/>
            <a:ext cx="1810512" cy="365760"/>
          </a:xfrm>
          <a:prstGeom prst="roundRect">
            <a:avLst>
              <a:gd name="adj" fmla="val 20000"/>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3517880" y="3374136"/>
            <a:ext cx="1700784"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공통 Cell</a:t>
            </a:r>
          </a:p>
        </p:txBody>
      </p:sp>
      <p:cxnSp>
        <p:nvCxnSpPr>
          <p:cNvPr id="56" name="Connector 55"/>
          <p:cNvCxnSpPr/>
          <p:nvPr/>
        </p:nvCxnSpPr>
        <p:spPr>
          <a:xfrm>
            <a:off x="13734288"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13463016" y="3922776"/>
            <a:ext cx="542544" cy="365760"/>
          </a:xfrm>
          <a:prstGeom prst="roundRect">
            <a:avLst>
              <a:gd name="adj" fmla="val 20000"/>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517880" y="3922776"/>
            <a:ext cx="432816"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a:t>
            </a:r>
          </a:p>
        </p:txBody>
      </p:sp>
      <p:cxnSp>
        <p:nvCxnSpPr>
          <p:cNvPr id="59" name="Connector 58"/>
          <p:cNvCxnSpPr/>
          <p:nvPr/>
        </p:nvCxnSpPr>
        <p:spPr>
          <a:xfrm>
            <a:off x="14368272"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4097000" y="3922776"/>
            <a:ext cx="542544" cy="365760"/>
          </a:xfrm>
          <a:prstGeom prst="roundRect">
            <a:avLst>
              <a:gd name="adj" fmla="val 20000"/>
            </a:avLst>
          </a:prstGeom>
          <a:solidFill>
            <a:srgbClr val="DA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4151864" y="3922776"/>
            <a:ext cx="432816" cy="36576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B</a:t>
            </a:r>
          </a:p>
        </p:txBody>
      </p:sp>
      <p:cxnSp>
        <p:nvCxnSpPr>
          <p:cNvPr id="62" name="Connector 61"/>
          <p:cNvCxnSpPr/>
          <p:nvPr/>
        </p:nvCxnSpPr>
        <p:spPr>
          <a:xfrm>
            <a:off x="15002256" y="3758184"/>
            <a:ext cx="0" cy="146303"/>
          </a:xfrm>
          <a:prstGeom prst="line">
            <a:avLst/>
          </a:prstGeom>
          <a:ln w="1905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14730984" y="3922776"/>
            <a:ext cx="542544" cy="365760"/>
          </a:xfrm>
          <a:prstGeom prst="roundRect">
            <a:avLst>
              <a:gd name="adj" fmla="val 20000"/>
            </a:avLst>
          </a:prstGeom>
          <a:solidFill>
            <a:srgbClr val="F6D2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4785848" y="3922776"/>
            <a:ext cx="432816" cy="36576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C</a:t>
            </a:r>
          </a:p>
        </p:txBody>
      </p:sp>
      <p:sp>
        <p:nvSpPr>
          <p:cNvPr id="65" name="TextBox 64"/>
          <p:cNvSpPr txBox="1"/>
          <p:nvPr/>
        </p:nvSpPr>
        <p:spPr>
          <a:xfrm>
            <a:off x="13463016" y="4361688"/>
            <a:ext cx="181051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고객별 Peri</a:t>
            </a:r>
          </a:p>
        </p:txBody>
      </p:sp>
      <p:sp>
        <p:nvSpPr>
          <p:cNvPr id="66" name="Rectangle 65"/>
          <p:cNvSpPr/>
          <p:nvPr/>
        </p:nvSpPr>
        <p:spPr>
          <a:xfrm>
            <a:off x="15392400" y="3456432"/>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511272" y="3291840"/>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Peripherals</a:t>
            </a:r>
          </a:p>
          <a:p>
            <a:pPr algn="l">
              <a:lnSpc>
                <a:spcPct val="105000"/>
              </a:lnSpc>
            </a:pPr>
            <a:r>
              <a:rPr sz="2000" b="1">
                <a:solidFill>
                  <a:srgbClr val="1A1A1A"/>
                </a:solidFill>
                <a:latin typeface="Arial"/>
                <a:ea typeface="Arial"/>
              </a:rPr>
              <a:t>맞춤 제공</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Cell은 공통,</a:t>
            </a:r>
          </a:p>
          <a:p>
            <a:pPr algn="l">
              <a:lnSpc>
                <a:spcPct val="105000"/>
              </a:lnSpc>
            </a:pPr>
            <a:r>
              <a:rPr sz="1800" b="0">
                <a:solidFill>
                  <a:srgbClr val="555555"/>
                </a:solidFill>
                <a:latin typeface="Arial"/>
                <a:ea typeface="Arial"/>
              </a:rPr>
              <a:t>Peri는 고객별로</a:t>
            </a:r>
          </a:p>
        </p:txBody>
      </p:sp>
      <p:sp>
        <p:nvSpPr>
          <p:cNvPr id="68" name="Rounded Rectangle 67"/>
          <p:cNvSpPr/>
          <p:nvPr/>
        </p:nvSpPr>
        <p:spPr>
          <a:xfrm>
            <a:off x="722376" y="5029200"/>
            <a:ext cx="3657600" cy="1719072"/>
          </a:xfrm>
          <a:prstGeom prst="roundRect">
            <a:avLst>
              <a:gd name="adj" fmla="val 425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886968" y="5193792"/>
            <a:ext cx="960120" cy="365760"/>
          </a:xfrm>
          <a:prstGeom prst="roundRect">
            <a:avLst>
              <a:gd name="adj" fmla="val 2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1832" y="5193792"/>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2</a:t>
            </a:r>
          </a:p>
        </p:txBody>
      </p:sp>
      <p:sp>
        <p:nvSpPr>
          <p:cNvPr id="71" name="TextBox 70"/>
          <p:cNvSpPr txBox="1"/>
          <p:nvPr/>
        </p:nvSpPr>
        <p:spPr>
          <a:xfrm>
            <a:off x="886968" y="5632704"/>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고객 맞춤형</a:t>
            </a:r>
          </a:p>
          <a:p>
            <a:pPr algn="l">
              <a:lnSpc>
                <a:spcPct val="100000"/>
              </a:lnSpc>
            </a:pPr>
            <a:r>
              <a:rPr sz="2000" b="1">
                <a:solidFill>
                  <a:srgbClr val="1A1A1A"/>
                </a:solidFill>
                <a:latin typeface="Arial"/>
                <a:ea typeface="Arial"/>
              </a:rPr>
              <a:t>차세대 메모리</a:t>
            </a:r>
          </a:p>
          <a:p>
            <a:pPr algn="l">
              <a:lnSpc>
                <a:spcPct val="100000"/>
              </a:lnSpc>
            </a:pPr>
            <a:r>
              <a:rPr sz="2000" b="1">
                <a:solidFill>
                  <a:srgbClr val="1A1A1A"/>
                </a:solidFill>
                <a:latin typeface="Arial"/>
                <a:ea typeface="Arial"/>
              </a:rPr>
              <a:t>개발</a:t>
            </a:r>
          </a:p>
        </p:txBody>
      </p:sp>
      <p:pic>
        <p:nvPicPr>
          <p:cNvPr id="72" name="Picture 71" descr="zhbm.jpg"/>
          <p:cNvPicPr>
            <a:picLocks noChangeAspect="1"/>
          </p:cNvPicPr>
          <p:nvPr/>
        </p:nvPicPr>
        <p:blipFill>
          <a:blip r:embed="rId7"/>
          <a:stretch>
            <a:fillRect/>
          </a:stretch>
        </p:blipFill>
        <p:spPr>
          <a:xfrm>
            <a:off x="3023625" y="5138928"/>
            <a:ext cx="1121645" cy="1133855"/>
          </a:xfrm>
          <a:prstGeom prst="rect">
            <a:avLst/>
          </a:prstGeom>
        </p:spPr>
      </p:pic>
      <p:sp>
        <p:nvSpPr>
          <p:cNvPr id="73" name="TextBox 72"/>
          <p:cNvSpPr txBox="1"/>
          <p:nvPr/>
        </p:nvSpPr>
        <p:spPr>
          <a:xfrm>
            <a:off x="2807208" y="6327647"/>
            <a:ext cx="1554480" cy="292608"/>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삼성 zHBM</a:t>
            </a:r>
          </a:p>
        </p:txBody>
      </p:sp>
      <p:sp>
        <p:nvSpPr>
          <p:cNvPr id="74" name="Rectangle 73"/>
          <p:cNvSpPr/>
          <p:nvPr/>
        </p:nvSpPr>
        <p:spPr>
          <a:xfrm>
            <a:off x="3023625" y="5138928"/>
            <a:ext cx="1121645" cy="1133855"/>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526280" y="5029200"/>
            <a:ext cx="4248912" cy="1719072"/>
          </a:xfrm>
          <a:prstGeom prst="roundRect">
            <a:avLst>
              <a:gd name="adj" fmla="val 4255"/>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672584" y="5294376"/>
            <a:ext cx="713232" cy="713232"/>
          </a:xfrm>
          <a:prstGeom prst="roundRect">
            <a:avLst>
              <a:gd name="adj" fmla="val 10256"/>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800600"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965192"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129784" y="5422392"/>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800600"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65192"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129784" y="5586983"/>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800600"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965192"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129784" y="5751576"/>
            <a:ext cx="118872" cy="1188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arrows-exchange_blue.png"/>
          <p:cNvPicPr>
            <a:picLocks noChangeAspect="1"/>
          </p:cNvPicPr>
          <p:nvPr/>
        </p:nvPicPr>
        <p:blipFill>
          <a:blip r:embed="rId8"/>
          <a:stretch>
            <a:fillRect/>
          </a:stretch>
        </p:blipFill>
        <p:spPr>
          <a:xfrm>
            <a:off x="5422392" y="5495544"/>
            <a:ext cx="310896" cy="310896"/>
          </a:xfrm>
          <a:prstGeom prst="rect">
            <a:avLst/>
          </a:prstGeom>
        </p:spPr>
      </p:pic>
      <p:sp>
        <p:nvSpPr>
          <p:cNvPr id="87" name="Oval 86"/>
          <p:cNvSpPr/>
          <p:nvPr/>
        </p:nvSpPr>
        <p:spPr>
          <a:xfrm>
            <a:off x="5769864" y="5294376"/>
            <a:ext cx="713232" cy="713232"/>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8" name="Picture 87" descr="cpu-2_white.png"/>
          <p:cNvPicPr>
            <a:picLocks noChangeAspect="1"/>
          </p:cNvPicPr>
          <p:nvPr/>
        </p:nvPicPr>
        <p:blipFill>
          <a:blip r:embed="rId9"/>
          <a:stretch>
            <a:fillRect/>
          </a:stretch>
        </p:blipFill>
        <p:spPr>
          <a:xfrm>
            <a:off x="5912510" y="5437022"/>
            <a:ext cx="427939" cy="427939"/>
          </a:xfrm>
          <a:prstGeom prst="rect">
            <a:avLst/>
          </a:prstGeom>
        </p:spPr>
      </p:pic>
      <p:sp>
        <p:nvSpPr>
          <p:cNvPr id="89" name="TextBox 88"/>
          <p:cNvSpPr txBox="1"/>
          <p:nvPr/>
        </p:nvSpPr>
        <p:spPr>
          <a:xfrm>
            <a:off x="4562856" y="6080760"/>
            <a:ext cx="932688"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메모리</a:t>
            </a:r>
          </a:p>
        </p:txBody>
      </p:sp>
      <p:sp>
        <p:nvSpPr>
          <p:cNvPr id="90" name="TextBox 89"/>
          <p:cNvSpPr txBox="1"/>
          <p:nvPr/>
        </p:nvSpPr>
        <p:spPr>
          <a:xfrm>
            <a:off x="5660136" y="6080760"/>
            <a:ext cx="932688" cy="274320"/>
          </a:xfrm>
          <a:prstGeom prst="rect">
            <a:avLst/>
          </a:prstGeom>
          <a:noFill/>
        </p:spPr>
        <p:txBody>
          <a:bodyPr wrap="square" anchor="t" lIns="0" rIns="0" tIns="0" bIns="0">
            <a:spAutoFit/>
          </a:bodyPr>
          <a:lstStyle/>
          <a:p>
            <a:pPr algn="ctr">
              <a:lnSpc>
                <a:spcPct val="110000"/>
              </a:lnSpc>
            </a:pPr>
            <a:r>
              <a:rPr sz="1600" b="1">
                <a:solidFill>
                  <a:srgbClr val="3C4FA5"/>
                </a:solidFill>
                <a:latin typeface="Arial"/>
                <a:ea typeface="Arial"/>
              </a:rPr>
              <a:t>로직 IP</a:t>
            </a:r>
          </a:p>
        </p:txBody>
      </p:sp>
      <p:sp>
        <p:nvSpPr>
          <p:cNvPr id="91" name="Rectangle 90"/>
          <p:cNvSpPr/>
          <p:nvPr/>
        </p:nvSpPr>
        <p:spPr>
          <a:xfrm>
            <a:off x="6601968"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720840"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로직 IP</a:t>
            </a:r>
          </a:p>
          <a:p>
            <a:pPr algn="l">
              <a:lnSpc>
                <a:spcPct val="105000"/>
              </a:lnSpc>
            </a:pPr>
            <a:r>
              <a:rPr sz="2000" b="1">
                <a:solidFill>
                  <a:srgbClr val="1A1A1A"/>
                </a:solidFill>
                <a:latin typeface="Arial"/>
                <a:ea typeface="Arial"/>
              </a:rPr>
              <a:t>역량 전환</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역량 · 자원을</a:t>
            </a:r>
          </a:p>
          <a:p>
            <a:pPr algn="l">
              <a:lnSpc>
                <a:spcPct val="105000"/>
              </a:lnSpc>
            </a:pPr>
            <a:r>
              <a:rPr sz="1800" b="0">
                <a:solidFill>
                  <a:srgbClr val="555555"/>
                </a:solidFill>
                <a:latin typeface="Arial"/>
                <a:ea typeface="Arial"/>
              </a:rPr>
              <a:t>로직 IP로</a:t>
            </a:r>
          </a:p>
        </p:txBody>
      </p:sp>
      <p:sp>
        <p:nvSpPr>
          <p:cNvPr id="93" name="Rounded Rectangle 92"/>
          <p:cNvSpPr/>
          <p:nvPr/>
        </p:nvSpPr>
        <p:spPr>
          <a:xfrm>
            <a:off x="8921496" y="5029200"/>
            <a:ext cx="4248912" cy="1719072"/>
          </a:xfrm>
          <a:prstGeom prst="roundRect">
            <a:avLst>
              <a:gd name="adj" fmla="val 4255"/>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4" name="Picture 93" descr="shield-check_teal.png"/>
          <p:cNvPicPr>
            <a:picLocks noChangeAspect="1"/>
          </p:cNvPicPr>
          <p:nvPr/>
        </p:nvPicPr>
        <p:blipFill>
          <a:blip r:embed="rId10"/>
          <a:stretch>
            <a:fillRect/>
          </a:stretch>
        </p:blipFill>
        <p:spPr>
          <a:xfrm>
            <a:off x="9067800" y="5276088"/>
            <a:ext cx="694944" cy="694944"/>
          </a:xfrm>
          <a:prstGeom prst="rect">
            <a:avLst/>
          </a:prstGeom>
        </p:spPr>
      </p:pic>
      <p:sp>
        <p:nvSpPr>
          <p:cNvPr id="95" name="TextBox 94"/>
          <p:cNvSpPr txBox="1"/>
          <p:nvPr/>
        </p:nvSpPr>
        <p:spPr>
          <a:xfrm>
            <a:off x="8939784" y="6080760"/>
            <a:ext cx="950976"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검증 품질</a:t>
            </a:r>
          </a:p>
        </p:txBody>
      </p:sp>
      <p:cxnSp>
        <p:nvCxnSpPr>
          <p:cNvPr id="96" name="Connector 95"/>
          <p:cNvCxnSpPr/>
          <p:nvPr/>
        </p:nvCxnSpPr>
        <p:spPr>
          <a:xfrm>
            <a:off x="9963912" y="5623560"/>
            <a:ext cx="914400" cy="0"/>
          </a:xfrm>
          <a:prstGeom prst="line">
            <a:avLst/>
          </a:prstGeom>
          <a:ln w="25400">
            <a:solidFill>
              <a:srgbClr val="8A8A8A"/>
            </a:solidFill>
          </a:ln>
        </p:spPr>
        <p:style>
          <a:lnRef idx="2">
            <a:schemeClr val="accent1"/>
          </a:lnRef>
          <a:fillRef idx="0">
            <a:schemeClr val="accent1"/>
          </a:fillRef>
          <a:effectRef idx="1">
            <a:schemeClr val="accent1"/>
          </a:effectRef>
          <a:fontRef idx="minor">
            <a:schemeClr val="tx1"/>
          </a:fontRef>
        </p:style>
      </p:cxnSp>
      <p:sp>
        <p:nvSpPr>
          <p:cNvPr id="97" name="Diamond 96"/>
          <p:cNvSpPr/>
          <p:nvPr/>
        </p:nvSpPr>
        <p:spPr>
          <a:xfrm>
            <a:off x="9973056" y="5504688"/>
            <a:ext cx="237744" cy="237744"/>
          </a:xfrm>
          <a:prstGeom prst="diamond">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Diamond 97"/>
          <p:cNvSpPr/>
          <p:nvPr/>
        </p:nvSpPr>
        <p:spPr>
          <a:xfrm>
            <a:off x="10302240" y="5504688"/>
            <a:ext cx="237744" cy="237744"/>
          </a:xfrm>
          <a:prstGeom prst="diamond">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Diamond 98"/>
          <p:cNvSpPr/>
          <p:nvPr/>
        </p:nvSpPr>
        <p:spPr>
          <a:xfrm>
            <a:off x="10631424" y="5504688"/>
            <a:ext cx="237744" cy="237744"/>
          </a:xfrm>
          <a:prstGeom prst="diamond">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872472" y="6080760"/>
            <a:ext cx="109728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적기 공급</a:t>
            </a:r>
          </a:p>
        </p:txBody>
      </p:sp>
      <p:sp>
        <p:nvSpPr>
          <p:cNvPr id="101" name="Rectangle 100"/>
          <p:cNvSpPr/>
          <p:nvPr/>
        </p:nvSpPr>
        <p:spPr>
          <a:xfrm>
            <a:off x="10997184"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116056"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검증된 품질 ·</a:t>
            </a:r>
          </a:p>
          <a:p>
            <a:pPr algn="l">
              <a:lnSpc>
                <a:spcPct val="105000"/>
              </a:lnSpc>
            </a:pPr>
            <a:r>
              <a:rPr sz="2000" b="1">
                <a:solidFill>
                  <a:srgbClr val="1A1A1A"/>
                </a:solidFill>
                <a:latin typeface="Arial"/>
                <a:ea typeface="Arial"/>
              </a:rPr>
              <a:t>적기 공급</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양산 품질을</a:t>
            </a:r>
          </a:p>
          <a:p>
            <a:pPr algn="l">
              <a:lnSpc>
                <a:spcPct val="105000"/>
              </a:lnSpc>
            </a:pPr>
            <a:r>
              <a:rPr sz="1800" b="0">
                <a:solidFill>
                  <a:srgbClr val="555555"/>
                </a:solidFill>
                <a:latin typeface="Arial"/>
                <a:ea typeface="Arial"/>
              </a:rPr>
              <a:t>제때 공급</a:t>
            </a:r>
          </a:p>
        </p:txBody>
      </p:sp>
      <p:sp>
        <p:nvSpPr>
          <p:cNvPr id="103" name="Rounded Rectangle 102"/>
          <p:cNvSpPr/>
          <p:nvPr/>
        </p:nvSpPr>
        <p:spPr>
          <a:xfrm>
            <a:off x="13316712" y="5029200"/>
            <a:ext cx="4248912" cy="1719072"/>
          </a:xfrm>
          <a:prstGeom prst="roundRect">
            <a:avLst>
              <a:gd name="adj" fmla="val 4255"/>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3499592"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3499592"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3499592"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3499592"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3463016" y="5824728"/>
            <a:ext cx="512064" cy="201168"/>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3371576"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A</a:t>
            </a:r>
          </a:p>
        </p:txBody>
      </p:sp>
      <p:sp>
        <p:nvSpPr>
          <p:cNvPr id="110" name="Rectangle 109"/>
          <p:cNvSpPr/>
          <p:nvPr/>
        </p:nvSpPr>
        <p:spPr>
          <a:xfrm>
            <a:off x="14148816"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4148816"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4148816"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4148816"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4112240" y="5824728"/>
            <a:ext cx="512064" cy="201168"/>
          </a:xfrm>
          <a:prstGeom prst="rect">
            <a:avLst/>
          </a:prstGeom>
          <a:solidFill>
            <a:srgbClr val="DA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4020800"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B</a:t>
            </a:r>
          </a:p>
        </p:txBody>
      </p:sp>
      <p:sp>
        <p:nvSpPr>
          <p:cNvPr id="116" name="Rectangle 115"/>
          <p:cNvSpPr/>
          <p:nvPr/>
        </p:nvSpPr>
        <p:spPr>
          <a:xfrm>
            <a:off x="14798040" y="5294376"/>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4798040" y="5422392"/>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4798040" y="5550408"/>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4798040" y="5678424"/>
            <a:ext cx="438912" cy="914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4761464" y="5824728"/>
            <a:ext cx="512064" cy="201168"/>
          </a:xfrm>
          <a:prstGeom prst="rect">
            <a:avLst/>
          </a:prstGeom>
          <a:solidFill>
            <a:srgbClr val="F6D2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4670024" y="6062472"/>
            <a:ext cx="694944"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C</a:t>
            </a:r>
          </a:p>
        </p:txBody>
      </p:sp>
      <p:sp>
        <p:nvSpPr>
          <p:cNvPr id="122" name="TextBox 121"/>
          <p:cNvSpPr txBox="1"/>
          <p:nvPr/>
        </p:nvSpPr>
        <p:spPr>
          <a:xfrm>
            <a:off x="13371576" y="6300216"/>
            <a:ext cx="199339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가속기별 Logic Die</a:t>
            </a:r>
          </a:p>
        </p:txBody>
      </p:sp>
      <p:sp>
        <p:nvSpPr>
          <p:cNvPr id="123" name="Rectangle 122"/>
          <p:cNvSpPr/>
          <p:nvPr/>
        </p:nvSpPr>
        <p:spPr>
          <a:xfrm>
            <a:off x="15392400" y="5303520"/>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5511272" y="5138928"/>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Custom Logic</a:t>
            </a:r>
          </a:p>
          <a:p>
            <a:pPr algn="l">
              <a:lnSpc>
                <a:spcPct val="105000"/>
              </a:lnSpc>
            </a:pPr>
            <a:r>
              <a:rPr sz="2000" b="1">
                <a:solidFill>
                  <a:srgbClr val="1A1A1A"/>
                </a:solidFill>
                <a:latin typeface="Arial"/>
                <a:ea typeface="Arial"/>
              </a:rPr>
              <a:t>협업</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가속기별 로직을</a:t>
            </a:r>
          </a:p>
          <a:p>
            <a:pPr algn="l">
              <a:lnSpc>
                <a:spcPct val="105000"/>
              </a:lnSpc>
            </a:pPr>
            <a:r>
              <a:rPr sz="1800" b="0">
                <a:solidFill>
                  <a:srgbClr val="555555"/>
                </a:solidFill>
                <a:latin typeface="Arial"/>
                <a:ea typeface="Arial"/>
              </a:rPr>
              <a:t>고객과 함께</a:t>
            </a:r>
          </a:p>
        </p:txBody>
      </p:sp>
      <p:sp>
        <p:nvSpPr>
          <p:cNvPr id="125" name="Rounded Rectangle 124"/>
          <p:cNvSpPr/>
          <p:nvPr/>
        </p:nvSpPr>
        <p:spPr>
          <a:xfrm>
            <a:off x="722376" y="6876288"/>
            <a:ext cx="3657600" cy="1719072"/>
          </a:xfrm>
          <a:prstGeom prst="roundRect">
            <a:avLst>
              <a:gd name="adj" fmla="val 425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886968" y="7040879"/>
            <a:ext cx="960120" cy="365760"/>
          </a:xfrm>
          <a:prstGeom prst="roundRect">
            <a:avLst>
              <a:gd name="adj" fmla="val 20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41832" y="7040879"/>
            <a:ext cx="850392" cy="36576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전략 3</a:t>
            </a:r>
          </a:p>
        </p:txBody>
      </p:sp>
      <p:sp>
        <p:nvSpPr>
          <p:cNvPr id="128" name="TextBox 127"/>
          <p:cNvSpPr txBox="1"/>
          <p:nvPr/>
        </p:nvSpPr>
        <p:spPr>
          <a:xfrm>
            <a:off x="886968" y="7479792"/>
            <a:ext cx="2048256" cy="1005840"/>
          </a:xfrm>
          <a:prstGeom prst="rect">
            <a:avLst/>
          </a:prstGeom>
          <a:noFill/>
        </p:spPr>
        <p:txBody>
          <a:bodyPr wrap="square" anchor="t" lIns="0" rIns="0" tIns="0" bIns="0">
            <a:spAutoFit/>
          </a:bodyPr>
          <a:lstStyle/>
          <a:p>
            <a:pPr algn="l">
              <a:lnSpc>
                <a:spcPct val="100000"/>
              </a:lnSpc>
            </a:pPr>
            <a:r>
              <a:rPr sz="2000" b="1">
                <a:solidFill>
                  <a:srgbClr val="1A1A1A"/>
                </a:solidFill>
                <a:latin typeface="Arial"/>
                <a:ea typeface="Arial"/>
              </a:rPr>
              <a:t>고객 시스템을</a:t>
            </a:r>
          </a:p>
          <a:p>
            <a:pPr algn="l">
              <a:lnSpc>
                <a:spcPct val="100000"/>
              </a:lnSpc>
            </a:pPr>
            <a:r>
              <a:rPr sz="2000" b="1">
                <a:solidFill>
                  <a:srgbClr val="1A1A1A"/>
                </a:solidFill>
                <a:latin typeface="Arial"/>
                <a:ea typeface="Arial"/>
              </a:rPr>
              <a:t>고려한 스토리지</a:t>
            </a:r>
          </a:p>
          <a:p>
            <a:pPr algn="l">
              <a:lnSpc>
                <a:spcPct val="100000"/>
              </a:lnSpc>
            </a:pPr>
            <a:r>
              <a:rPr sz="2000" b="1">
                <a:solidFill>
                  <a:srgbClr val="1A1A1A"/>
                </a:solidFill>
                <a:latin typeface="Arial"/>
                <a:ea typeface="Arial"/>
              </a:rPr>
              <a:t>개발</a:t>
            </a:r>
          </a:p>
        </p:txBody>
      </p:sp>
      <p:pic>
        <p:nvPicPr>
          <p:cNvPr id="129" name="Picture 128" descr="render_ssd.png"/>
          <p:cNvPicPr>
            <a:picLocks noChangeAspect="1"/>
          </p:cNvPicPr>
          <p:nvPr/>
        </p:nvPicPr>
        <p:blipFill>
          <a:blip r:embed="rId11"/>
          <a:stretch>
            <a:fillRect/>
          </a:stretch>
        </p:blipFill>
        <p:spPr>
          <a:xfrm>
            <a:off x="2898648" y="7061307"/>
            <a:ext cx="1371600" cy="509247"/>
          </a:xfrm>
          <a:prstGeom prst="rect">
            <a:avLst/>
          </a:prstGeom>
        </p:spPr>
      </p:pic>
      <p:pic>
        <p:nvPicPr>
          <p:cNvPr id="130" name="Picture 129" descr="render_server.png"/>
          <p:cNvPicPr>
            <a:picLocks noChangeAspect="1"/>
          </p:cNvPicPr>
          <p:nvPr/>
        </p:nvPicPr>
        <p:blipFill>
          <a:blip r:embed="rId12"/>
          <a:stretch>
            <a:fillRect/>
          </a:stretch>
        </p:blipFill>
        <p:spPr>
          <a:xfrm>
            <a:off x="2933111" y="7718999"/>
            <a:ext cx="1302672" cy="766632"/>
          </a:xfrm>
          <a:prstGeom prst="rect">
            <a:avLst/>
          </a:prstGeom>
        </p:spPr>
      </p:pic>
      <p:sp>
        <p:nvSpPr>
          <p:cNvPr id="131" name="Rounded Rectangle 130"/>
          <p:cNvSpPr/>
          <p:nvPr/>
        </p:nvSpPr>
        <p:spPr>
          <a:xfrm>
            <a:off x="4526280" y="6876288"/>
            <a:ext cx="4248912" cy="1719072"/>
          </a:xfrm>
          <a:prstGeom prst="roundRect">
            <a:avLst>
              <a:gd name="adj" fmla="val 4255"/>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4672584" y="7360919"/>
            <a:ext cx="640080" cy="640080"/>
          </a:xfrm>
          <a:prstGeom prst="roundRect">
            <a:avLst>
              <a:gd name="adj" fmla="val 11428"/>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727448" y="7360919"/>
            <a:ext cx="530352" cy="64008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고객</a:t>
            </a:r>
          </a:p>
        </p:txBody>
      </p:sp>
      <p:sp>
        <p:nvSpPr>
          <p:cNvPr id="134" name="Rounded Rectangle 133"/>
          <p:cNvSpPr/>
          <p:nvPr/>
        </p:nvSpPr>
        <p:spPr>
          <a:xfrm>
            <a:off x="5843016" y="7360919"/>
            <a:ext cx="640080" cy="640080"/>
          </a:xfrm>
          <a:prstGeom prst="roundRect">
            <a:avLst>
              <a:gd name="adj" fmla="val 11428"/>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897879" y="7360919"/>
            <a:ext cx="530352" cy="64008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삼성</a:t>
            </a:r>
          </a:p>
        </p:txBody>
      </p:sp>
      <p:pic>
        <p:nvPicPr>
          <p:cNvPr id="136" name="Picture 135" descr="radar_blue.png"/>
          <p:cNvPicPr>
            <a:picLocks noChangeAspect="1"/>
          </p:cNvPicPr>
          <p:nvPr/>
        </p:nvPicPr>
        <p:blipFill>
          <a:blip r:embed="rId13"/>
          <a:stretch>
            <a:fillRect/>
          </a:stretch>
        </p:blipFill>
        <p:spPr>
          <a:xfrm>
            <a:off x="5385816" y="7013448"/>
            <a:ext cx="384048" cy="384048"/>
          </a:xfrm>
          <a:prstGeom prst="rect">
            <a:avLst/>
          </a:prstGeom>
        </p:spPr>
      </p:pic>
      <p:sp>
        <p:nvSpPr>
          <p:cNvPr id="137" name="Left-Right Arrow 136"/>
          <p:cNvSpPr/>
          <p:nvPr/>
        </p:nvSpPr>
        <p:spPr>
          <a:xfrm>
            <a:off x="5367528" y="7562088"/>
            <a:ext cx="420624" cy="237744"/>
          </a:xfrm>
          <a:prstGeom prst="leftRightArrow">
            <a:avLst/>
          </a:prstGeom>
          <a:solidFill>
            <a:srgbClr val="677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581144" y="8055863"/>
            <a:ext cx="1993392"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감지 · 수요 공동 설계</a:t>
            </a:r>
          </a:p>
        </p:txBody>
      </p:sp>
      <p:sp>
        <p:nvSpPr>
          <p:cNvPr id="139" name="Rectangle 138"/>
          <p:cNvSpPr/>
          <p:nvPr/>
        </p:nvSpPr>
        <p:spPr>
          <a:xfrm>
            <a:off x="6601968"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720840"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기술 변화</a:t>
            </a:r>
          </a:p>
          <a:p>
            <a:pPr algn="l">
              <a:lnSpc>
                <a:spcPct val="105000"/>
              </a:lnSpc>
            </a:pPr>
            <a:r>
              <a:rPr sz="2000" b="1">
                <a:solidFill>
                  <a:srgbClr val="1A1A1A"/>
                </a:solidFill>
                <a:latin typeface="Arial"/>
                <a:ea typeface="Arial"/>
              </a:rPr>
              <a:t>조기 센싱</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고객과 먼저 감지,</a:t>
            </a:r>
          </a:p>
          <a:p>
            <a:pPr algn="l">
              <a:lnSpc>
                <a:spcPct val="105000"/>
              </a:lnSpc>
            </a:pPr>
            <a:r>
              <a:rPr sz="1800" b="0">
                <a:solidFill>
                  <a:srgbClr val="555555"/>
                </a:solidFill>
                <a:latin typeface="Arial"/>
                <a:ea typeface="Arial"/>
              </a:rPr>
              <a:t>수요를 함께 설계</a:t>
            </a:r>
          </a:p>
        </p:txBody>
      </p:sp>
      <p:sp>
        <p:nvSpPr>
          <p:cNvPr id="141" name="Rounded Rectangle 140"/>
          <p:cNvSpPr/>
          <p:nvPr/>
        </p:nvSpPr>
        <p:spPr>
          <a:xfrm>
            <a:off x="8921496" y="6876288"/>
            <a:ext cx="4248912" cy="1719072"/>
          </a:xfrm>
          <a:prstGeom prst="roundRect">
            <a:avLst>
              <a:gd name="adj" fmla="val 4255"/>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9067800" y="8092440"/>
            <a:ext cx="566928" cy="310896"/>
          </a:xfrm>
          <a:prstGeom prst="rect">
            <a:avLst/>
          </a:prstGeom>
          <a:solidFill>
            <a:srgbClr val="F5F5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958072" y="8092440"/>
            <a:ext cx="786384" cy="310896"/>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NAND</a:t>
            </a:r>
          </a:p>
        </p:txBody>
      </p:sp>
      <p:pic>
        <p:nvPicPr>
          <p:cNvPr id="144" name="Picture 143" descr="render_nand.png"/>
          <p:cNvPicPr>
            <a:picLocks noChangeAspect="1"/>
          </p:cNvPicPr>
          <p:nvPr/>
        </p:nvPicPr>
        <p:blipFill>
          <a:blip r:embed="rId14"/>
          <a:stretch>
            <a:fillRect/>
          </a:stretch>
        </p:blipFill>
        <p:spPr>
          <a:xfrm>
            <a:off x="9067800" y="7636229"/>
            <a:ext cx="566928" cy="418645"/>
          </a:xfrm>
          <a:prstGeom prst="rect">
            <a:avLst/>
          </a:prstGeom>
        </p:spPr>
      </p:pic>
      <p:sp>
        <p:nvSpPr>
          <p:cNvPr id="145" name="Rectangle 144"/>
          <p:cNvSpPr/>
          <p:nvPr/>
        </p:nvSpPr>
        <p:spPr>
          <a:xfrm>
            <a:off x="9689592" y="7909560"/>
            <a:ext cx="566928" cy="493776"/>
          </a:xfrm>
          <a:prstGeom prst="rect">
            <a:avLst/>
          </a:prstGeom>
          <a:solidFill>
            <a:srgbClr val="B5E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579864" y="7909560"/>
            <a:ext cx="786384" cy="493776"/>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SSD</a:t>
            </a:r>
          </a:p>
        </p:txBody>
      </p:sp>
      <p:pic>
        <p:nvPicPr>
          <p:cNvPr id="147" name="Picture 146" descr="render_ssd.png"/>
          <p:cNvPicPr>
            <a:picLocks noChangeAspect="1"/>
          </p:cNvPicPr>
          <p:nvPr/>
        </p:nvPicPr>
        <p:blipFill>
          <a:blip r:embed="rId11"/>
          <a:stretch>
            <a:fillRect/>
          </a:stretch>
        </p:blipFill>
        <p:spPr>
          <a:xfrm>
            <a:off x="9689592" y="7557427"/>
            <a:ext cx="566928" cy="210488"/>
          </a:xfrm>
          <a:prstGeom prst="rect">
            <a:avLst/>
          </a:prstGeom>
        </p:spPr>
      </p:pic>
      <p:sp>
        <p:nvSpPr>
          <p:cNvPr id="148" name="Rectangle 147"/>
          <p:cNvSpPr/>
          <p:nvPr/>
        </p:nvSpPr>
        <p:spPr>
          <a:xfrm>
            <a:off x="10311384" y="7726680"/>
            <a:ext cx="566928" cy="676656"/>
          </a:xfrm>
          <a:prstGeom prst="rect">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0201656" y="7726680"/>
            <a:ext cx="786384" cy="676656"/>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서버</a:t>
            </a:r>
          </a:p>
        </p:txBody>
      </p:sp>
      <p:pic>
        <p:nvPicPr>
          <p:cNvPr id="150" name="Picture 149" descr="render_server.png"/>
          <p:cNvPicPr>
            <a:picLocks noChangeAspect="1"/>
          </p:cNvPicPr>
          <p:nvPr/>
        </p:nvPicPr>
        <p:blipFill>
          <a:blip r:embed="rId12"/>
          <a:stretch>
            <a:fillRect/>
          </a:stretch>
        </p:blipFill>
        <p:spPr>
          <a:xfrm>
            <a:off x="10311384" y="7312971"/>
            <a:ext cx="566928" cy="333641"/>
          </a:xfrm>
          <a:prstGeom prst="rect">
            <a:avLst/>
          </a:prstGeom>
        </p:spPr>
      </p:pic>
      <p:sp>
        <p:nvSpPr>
          <p:cNvPr id="151" name="Rectangle 150"/>
          <p:cNvSpPr/>
          <p:nvPr/>
        </p:nvSpPr>
        <p:spPr>
          <a:xfrm>
            <a:off x="10997184"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16056"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시스템 지식</a:t>
            </a:r>
          </a:p>
          <a:p>
            <a:pPr algn="l">
              <a:lnSpc>
                <a:spcPct val="105000"/>
              </a:lnSpc>
            </a:pPr>
            <a:r>
              <a:rPr sz="2000" b="1">
                <a:solidFill>
                  <a:srgbClr val="1A1A1A"/>
                </a:solidFill>
                <a:latin typeface="Arial"/>
                <a:ea typeface="Arial"/>
              </a:rPr>
              <a:t>확장</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워크로드 연구로</a:t>
            </a:r>
          </a:p>
          <a:p>
            <a:pPr algn="l">
              <a:lnSpc>
                <a:spcPct val="105000"/>
              </a:lnSpc>
            </a:pPr>
            <a:r>
              <a:rPr sz="1800" b="0">
                <a:solidFill>
                  <a:srgbClr val="555555"/>
                </a:solidFill>
                <a:latin typeface="Arial"/>
                <a:ea typeface="Arial"/>
              </a:rPr>
              <a:t>NAND → 서버까지</a:t>
            </a:r>
          </a:p>
        </p:txBody>
      </p:sp>
      <p:sp>
        <p:nvSpPr>
          <p:cNvPr id="153" name="Rounded Rectangle 152"/>
          <p:cNvSpPr/>
          <p:nvPr/>
        </p:nvSpPr>
        <p:spPr>
          <a:xfrm>
            <a:off x="13316712" y="6876288"/>
            <a:ext cx="4248912" cy="1719072"/>
          </a:xfrm>
          <a:prstGeom prst="roundRect">
            <a:avLst>
              <a:gd name="adj" fmla="val 4255"/>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3582802" y="7306055"/>
            <a:ext cx="230428" cy="230428"/>
          </a:xfrm>
          <a:prstGeom prst="ellipse">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ound Same Side Corner Rectangle 154"/>
          <p:cNvSpPr/>
          <p:nvPr/>
        </p:nvSpPr>
        <p:spPr>
          <a:xfrm>
            <a:off x="13499592" y="7574889"/>
            <a:ext cx="396849" cy="371246"/>
          </a:xfrm>
          <a:prstGeom prst="round2SameRect">
            <a:avLst>
              <a:gd name="adj1" fmla="val 45000"/>
              <a:gd name="adj2" fmla="val 0"/>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4923312" y="7306055"/>
            <a:ext cx="230428" cy="23042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ound Same Side Corner Rectangle 156"/>
          <p:cNvSpPr/>
          <p:nvPr/>
        </p:nvSpPr>
        <p:spPr>
          <a:xfrm>
            <a:off x="14840102" y="7574889"/>
            <a:ext cx="396849" cy="371246"/>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render_server.png"/>
          <p:cNvPicPr>
            <a:picLocks noChangeAspect="1"/>
          </p:cNvPicPr>
          <p:nvPr/>
        </p:nvPicPr>
        <p:blipFill>
          <a:blip r:embed="rId12"/>
          <a:stretch>
            <a:fillRect/>
          </a:stretch>
        </p:blipFill>
        <p:spPr>
          <a:xfrm>
            <a:off x="13993368" y="7085422"/>
            <a:ext cx="749808" cy="441267"/>
          </a:xfrm>
          <a:prstGeom prst="rect">
            <a:avLst/>
          </a:prstGeom>
        </p:spPr>
      </p:pic>
      <p:pic>
        <p:nvPicPr>
          <p:cNvPr id="159" name="Picture 158" descr="refresh_orange.png"/>
          <p:cNvPicPr>
            <a:picLocks noChangeAspect="1"/>
          </p:cNvPicPr>
          <p:nvPr/>
        </p:nvPicPr>
        <p:blipFill>
          <a:blip r:embed="rId15"/>
          <a:stretch>
            <a:fillRect/>
          </a:stretch>
        </p:blipFill>
        <p:spPr>
          <a:xfrm>
            <a:off x="14167104" y="7616952"/>
            <a:ext cx="402336" cy="402336"/>
          </a:xfrm>
          <a:prstGeom prst="rect">
            <a:avLst/>
          </a:prstGeom>
        </p:spPr>
      </p:pic>
      <p:sp>
        <p:nvSpPr>
          <p:cNvPr id="160" name="TextBox 159"/>
          <p:cNvSpPr txBox="1"/>
          <p:nvPr/>
        </p:nvSpPr>
        <p:spPr>
          <a:xfrm>
            <a:off x="13316712" y="8001000"/>
            <a:ext cx="694944" cy="274320"/>
          </a:xfrm>
          <a:prstGeom prst="rect">
            <a:avLst/>
          </a:prstGeom>
          <a:noFill/>
        </p:spPr>
        <p:txBody>
          <a:bodyPr wrap="square" anchor="t" lIns="0" rIns="0" tIns="0" bIns="0">
            <a:spAutoFit/>
          </a:bodyPr>
          <a:lstStyle/>
          <a:p>
            <a:pPr algn="ctr">
              <a:lnSpc>
                <a:spcPct val="110000"/>
              </a:lnSpc>
            </a:pPr>
            <a:r>
              <a:rPr sz="1600" b="1">
                <a:solidFill>
                  <a:srgbClr val="D2691E"/>
                </a:solidFill>
                <a:latin typeface="Arial"/>
                <a:ea typeface="Arial"/>
              </a:rPr>
              <a:t>삼성</a:t>
            </a:r>
          </a:p>
        </p:txBody>
      </p:sp>
      <p:sp>
        <p:nvSpPr>
          <p:cNvPr id="161" name="TextBox 160"/>
          <p:cNvSpPr txBox="1"/>
          <p:nvPr/>
        </p:nvSpPr>
        <p:spPr>
          <a:xfrm>
            <a:off x="14724888" y="8001000"/>
            <a:ext cx="694944"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고객</a:t>
            </a:r>
          </a:p>
        </p:txBody>
      </p:sp>
      <p:sp>
        <p:nvSpPr>
          <p:cNvPr id="162" name="Rectangle 161"/>
          <p:cNvSpPr/>
          <p:nvPr/>
        </p:nvSpPr>
        <p:spPr>
          <a:xfrm>
            <a:off x="15392400" y="7150607"/>
            <a:ext cx="18288" cy="117043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5511272" y="6986016"/>
            <a:ext cx="1962912" cy="1499616"/>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SSD · 서버</a:t>
            </a:r>
          </a:p>
          <a:p>
            <a:pPr algn="l">
              <a:lnSpc>
                <a:spcPct val="105000"/>
              </a:lnSpc>
            </a:pPr>
            <a:r>
              <a:rPr sz="2000" b="1">
                <a:solidFill>
                  <a:srgbClr val="1A1A1A"/>
                </a:solidFill>
                <a:latin typeface="Arial"/>
                <a:ea typeface="Arial"/>
              </a:rPr>
              <a:t>공동 설계</a:t>
            </a:r>
          </a:p>
          <a:p>
            <a:pPr algn="l">
              <a:lnSpc>
                <a:spcPct val="105000"/>
              </a:lnSpc>
            </a:pPr>
            <a:r>
              <a:rPr sz="800" b="0">
                <a:solidFill>
                  <a:srgbClr val="555555"/>
                </a:solidFill>
                <a:latin typeface="Arial"/>
                <a:ea typeface="Arial"/>
              </a:rPr>
              <a:t> </a:t>
            </a:r>
          </a:p>
          <a:p>
            <a:pPr algn="l">
              <a:lnSpc>
                <a:spcPct val="105000"/>
              </a:lnSpc>
            </a:pPr>
            <a:r>
              <a:rPr sz="1800" b="0">
                <a:solidFill>
                  <a:srgbClr val="555555"/>
                </a:solidFill>
                <a:latin typeface="Arial"/>
                <a:ea typeface="Arial"/>
              </a:rPr>
              <a:t>AI 수요에 맞춘</a:t>
            </a:r>
          </a:p>
          <a:p>
            <a:pPr algn="l">
              <a:lnSpc>
                <a:spcPct val="105000"/>
              </a:lnSpc>
            </a:pPr>
            <a:r>
              <a:rPr sz="1800" b="0">
                <a:solidFill>
                  <a:srgbClr val="555555"/>
                </a:solidFill>
                <a:latin typeface="Arial"/>
                <a:ea typeface="Arial"/>
              </a:rPr>
              <a:t>기능 · 구조</a:t>
            </a:r>
          </a:p>
        </p:txBody>
      </p:sp>
      <p:sp>
        <p:nvSpPr>
          <p:cNvPr id="164" name="Rectangle 163"/>
          <p:cNvSpPr/>
          <p:nvPr/>
        </p:nvSpPr>
        <p:spPr>
          <a:xfrm>
            <a:off x="722376" y="8778240"/>
            <a:ext cx="16843248" cy="731520"/>
          </a:xfrm>
          <a:prstGeom prst="rect">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7CEDB"/>
                </a:solidFill>
                <a:latin typeface="Arial"/>
                <a:ea typeface="Arial"/>
              </a:rPr>
              <a:t>3-C</a:t>
            </a:r>
          </a:p>
        </p:txBody>
      </p:sp>
      <p:sp>
        <p:nvSpPr>
          <p:cNvPr id="166" name="TextBox 165"/>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a:t>
            </a:r>
            <a:r>
              <a:rPr sz="2400" b="1">
                <a:solidFill>
                  <a:srgbClr val="AFC0F2"/>
                </a:solidFill>
                <a:latin typeface="Arial"/>
                <a:ea typeface="Arial"/>
              </a:rPr>
              <a:t>전환</a:t>
            </a:r>
            <a:r>
              <a:rPr sz="2400" b="1">
                <a:solidFill>
                  <a:srgbClr val="FFFFFF"/>
                </a:solidFill>
                <a:latin typeface="Arial"/>
                <a:ea typeface="Arial"/>
              </a:rPr>
              <a:t>하고, 기술은 연속성 있게 </a:t>
            </a:r>
            <a:r>
              <a:rPr sz="2400" b="1">
                <a:solidFill>
                  <a:srgbClr val="8FDBD1"/>
                </a:solidFill>
                <a:latin typeface="Arial"/>
                <a:ea typeface="Arial"/>
              </a:rPr>
              <a:t>쌓고</a:t>
            </a:r>
            <a:r>
              <a:rPr sz="2400" b="1">
                <a:solidFill>
                  <a:srgbClr val="FFFFFF"/>
                </a:solidFill>
                <a:latin typeface="Arial"/>
                <a:ea typeface="Arial"/>
              </a:rPr>
              <a:t>, 미래는 고객과 함께 </a:t>
            </a:r>
            <a:r>
              <a:rPr sz="2400" b="1">
                <a:solidFill>
                  <a:srgbClr val="F7B987"/>
                </a:solidFill>
                <a:latin typeface="Arial"/>
                <a:ea typeface="Arial"/>
              </a:rPr>
              <a:t>설계</a:t>
            </a:r>
            <a:r>
              <a:rPr sz="2400" b="1">
                <a:solidFill>
                  <a:srgbClr val="FFFFFF"/>
                </a:solidFill>
                <a:latin typeface="Arial"/>
                <a:ea typeface="Arial"/>
              </a:rPr>
              <a:t>합니다</a:t>
            </a:r>
          </a:p>
        </p:txBody>
      </p:sp>
      <p:sp>
        <p:nvSpPr>
          <p:cNvPr id="167" name="TextBox 166"/>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 수치 주장 없음). 아이콘 Tabler Icons(MIT).</a:t>
            </a:r>
          </a:p>
          <a:p>
            <a:pPr algn="l">
              <a:lnSpc>
                <a:spcPct val="105000"/>
              </a:lnSpc>
            </a:pPr>
            <a:r>
              <a:rPr sz="1500" b="0">
                <a:solidFill>
                  <a:srgbClr val="555555"/>
                </a:solidFill>
                <a:latin typeface="Arial"/>
                <a:ea typeface="Arial"/>
              </a:rPr>
              <a:t>이미지: 전략 1 Cu/SiO2 하이브리드 본딩 단면 SEM(Hsu 외, Materials 2022, CC BY 4.0, 잘라 냄), 전략 2 삼성 FMS 2026 zHBM 전시, 전략 3 3D 렌더.</a:t>
            </a:r>
          </a:p>
        </p:txBody>
      </p:sp>
      <p:sp>
        <p:nvSpPr>
          <p:cNvPr id="168" name="TextBox 167"/>
          <p:cNvSpPr txBox="1"/>
          <p:nvPr/>
        </p:nvSpPr>
        <p:spPr>
          <a:xfrm>
            <a:off x="15736824" y="9601200"/>
            <a:ext cx="182880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A 컬러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B  아이콘 키워드형 · 컬러</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03120"/>
            <a:ext cx="4023360" cy="402336"/>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수요 예측만으로는 부족</a:t>
            </a:r>
          </a:p>
        </p:txBody>
      </p:sp>
      <p:cxnSp>
        <p:nvCxnSpPr>
          <p:cNvPr id="8" name="Connector 7"/>
          <p:cNvCxnSpPr/>
          <p:nvPr/>
        </p:nvCxnSpPr>
        <p:spPr>
          <a:xfrm>
            <a:off x="813816" y="2615184"/>
            <a:ext cx="0" cy="1847088"/>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3816" y="4462272"/>
            <a:ext cx="3840480" cy="0"/>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86968" y="2578608"/>
            <a:ext cx="731520"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수요</a:t>
            </a:r>
          </a:p>
        </p:txBody>
      </p:sp>
      <p:sp>
        <p:nvSpPr>
          <p:cNvPr id="11" name="TextBox 10"/>
          <p:cNvSpPr txBox="1"/>
          <p:nvPr/>
        </p:nvSpPr>
        <p:spPr>
          <a:xfrm>
            <a:off x="3739896" y="4480559"/>
            <a:ext cx="914400" cy="274320"/>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시간 →</a:t>
            </a:r>
          </a:p>
        </p:txBody>
      </p:sp>
      <p:sp>
        <p:nvSpPr>
          <p:cNvPr id="12" name="Freeform 11"/>
          <p:cNvSpPr/>
          <p:nvPr/>
        </p:nvSpPr>
        <p:spPr>
          <a:xfrm>
            <a:off x="2350008" y="2706624"/>
            <a:ext cx="2267712" cy="1389887"/>
          </a:xfrm>
          <a:custGeom>
            <a:avLst/>
            <a:gdLst/>
            <a:ahLst/>
            <a:cxnLst/>
            <a:rect l="l" t="t" r="r" b="b"/>
            <a:pathLst>
              <a:path w="2267712" h="1389887">
                <a:moveTo>
                  <a:pt x="0" y="869045"/>
                </a:moveTo>
                <a:lnTo>
                  <a:pt x="2267712" y="0"/>
                </a:lnTo>
                <a:lnTo>
                  <a:pt x="2267712" y="1389887"/>
                </a:lnTo>
                <a:lnTo>
                  <a:pt x="0" y="869045"/>
                </a:lnTo>
                <a:close/>
              </a:path>
            </a:pathLst>
          </a:cu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350008" y="2660903"/>
            <a:ext cx="0" cy="1801369"/>
          </a:xfrm>
          <a:prstGeom prst="line">
            <a:avLst/>
          </a:prstGeom>
          <a:ln w="12700">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847088" y="4480559"/>
            <a:ext cx="1005840" cy="274320"/>
          </a:xfrm>
          <a:prstGeom prst="rect">
            <a:avLst/>
          </a:prstGeom>
          <a:noFill/>
        </p:spPr>
        <p:txBody>
          <a:bodyPr wrap="square" anchor="t" lIns="0" rIns="0" tIns="0" bIns="0">
            <a:spAutoFit/>
          </a:bodyPr>
          <a:lstStyle/>
          <a:p>
            <a:pPr algn="ctr">
              <a:lnSpc>
                <a:spcPct val="110000"/>
              </a:lnSpc>
            </a:pPr>
            <a:r>
              <a:rPr sz="1600" b="1">
                <a:solidFill>
                  <a:srgbClr val="555555"/>
                </a:solidFill>
                <a:latin typeface="Arial"/>
                <a:ea typeface="Arial"/>
              </a:rPr>
              <a:t>지금</a:t>
            </a:r>
          </a:p>
        </p:txBody>
      </p:sp>
      <p:sp>
        <p:nvSpPr>
          <p:cNvPr id="15" name="Freeform 14"/>
          <p:cNvSpPr/>
          <p:nvPr/>
        </p:nvSpPr>
        <p:spPr>
          <a:xfrm>
            <a:off x="923544" y="3575669"/>
            <a:ext cx="1426464" cy="517185"/>
          </a:xfrm>
          <a:custGeom>
            <a:avLst/>
            <a:gdLst/>
            <a:ahLst/>
            <a:cxnLst/>
            <a:rect l="l" t="t" r="r" b="b"/>
            <a:pathLst>
              <a:path w="1426464" h="517185">
                <a:moveTo>
                  <a:pt x="0" y="517185"/>
                </a:moveTo>
                <a:lnTo>
                  <a:pt x="256032" y="332476"/>
                </a:lnTo>
                <a:lnTo>
                  <a:pt x="457200" y="443301"/>
                </a:lnTo>
                <a:lnTo>
                  <a:pt x="758951" y="147767"/>
                </a:lnTo>
                <a:lnTo>
                  <a:pt x="1005840" y="221651"/>
                </a:lnTo>
                <a:lnTo>
                  <a:pt x="1243584" y="55413"/>
                </a:lnTo>
                <a:lnTo>
                  <a:pt x="1426464" y="0"/>
                </a:lnTo>
              </a:path>
            </a:pathLst>
          </a:custGeom>
          <a:noFill/>
          <a:ln w="317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350008" y="3280135"/>
            <a:ext cx="2267712" cy="295534"/>
          </a:xfrm>
          <a:custGeom>
            <a:avLst/>
            <a:gdLst/>
            <a:ahLst/>
            <a:cxnLst/>
            <a:rect l="l" t="t" r="r" b="b"/>
            <a:pathLst>
              <a:path w="2267712" h="295534">
                <a:moveTo>
                  <a:pt x="0" y="295534"/>
                </a:moveTo>
                <a:lnTo>
                  <a:pt x="2267712" y="0"/>
                </a:lnTo>
              </a:path>
            </a:pathLst>
          </a:custGeom>
          <a:noFill/>
          <a:ln w="31750">
            <a:solidFill>
              <a:srgbClr val="3C4F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94759" y="2950951"/>
            <a:ext cx="822960" cy="274320"/>
          </a:xfrm>
          <a:prstGeom prst="rect">
            <a:avLst/>
          </a:prstGeom>
          <a:noFill/>
        </p:spPr>
        <p:txBody>
          <a:bodyPr wrap="square" anchor="t" lIns="0" rIns="0" tIns="0" bIns="0">
            <a:spAutoFit/>
          </a:bodyPr>
          <a:lstStyle/>
          <a:p>
            <a:pPr algn="r">
              <a:lnSpc>
                <a:spcPct val="110000"/>
              </a:lnSpc>
            </a:pPr>
            <a:r>
              <a:rPr sz="1600" b="1">
                <a:solidFill>
                  <a:srgbClr val="3C4FA5"/>
                </a:solidFill>
                <a:latin typeface="Arial"/>
                <a:ea typeface="Arial"/>
              </a:rPr>
              <a:t>예측</a:t>
            </a:r>
          </a:p>
        </p:txBody>
      </p:sp>
      <p:sp>
        <p:nvSpPr>
          <p:cNvPr id="18" name="Freeform 17"/>
          <p:cNvSpPr/>
          <p:nvPr/>
        </p:nvSpPr>
        <p:spPr>
          <a:xfrm>
            <a:off x="2350008" y="3575669"/>
            <a:ext cx="2176272" cy="480243"/>
          </a:xfrm>
          <a:custGeom>
            <a:avLst/>
            <a:gdLst/>
            <a:ahLst/>
            <a:cxnLst/>
            <a:rect l="l" t="t" r="r" b="b"/>
            <a:pathLst>
              <a:path w="2176272" h="480243">
                <a:moveTo>
                  <a:pt x="0" y="0"/>
                </a:moveTo>
                <a:lnTo>
                  <a:pt x="411480" y="91440"/>
                </a:lnTo>
                <a:lnTo>
                  <a:pt x="777240" y="292608"/>
                </a:lnTo>
                <a:lnTo>
                  <a:pt x="1188720" y="219456"/>
                </a:lnTo>
                <a:lnTo>
                  <a:pt x="2176272" y="480243"/>
                </a:lnTo>
              </a:path>
            </a:pathLst>
          </a:custGeom>
          <a:no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350008" y="2816352"/>
            <a:ext cx="2176272" cy="759317"/>
          </a:xfrm>
          <a:custGeom>
            <a:avLst/>
            <a:gdLst/>
            <a:ahLst/>
            <a:cxnLst/>
            <a:rect l="l" t="t" r="r" b="b"/>
            <a:pathLst>
              <a:path w="2176272" h="759317">
                <a:moveTo>
                  <a:pt x="0" y="759317"/>
                </a:moveTo>
                <a:lnTo>
                  <a:pt x="365760" y="558149"/>
                </a:lnTo>
                <a:lnTo>
                  <a:pt x="822960" y="484997"/>
                </a:lnTo>
                <a:lnTo>
                  <a:pt x="1280160" y="283829"/>
                </a:lnTo>
                <a:lnTo>
                  <a:pt x="2176272" y="0"/>
                </a:lnTo>
              </a:path>
            </a:pathLst>
          </a:custGeom>
          <a:no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9464" y="4133087"/>
            <a:ext cx="2194560"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실제는 이 범위 어디든</a:t>
            </a:r>
          </a:p>
        </p:txBody>
      </p:sp>
      <p:sp>
        <p:nvSpPr>
          <p:cNvPr id="21" name="TextBox 20"/>
          <p:cNvSpPr txBox="1"/>
          <p:nvPr/>
        </p:nvSpPr>
        <p:spPr>
          <a:xfrm>
            <a:off x="905256" y="2889503"/>
            <a:ext cx="1280160" cy="274320"/>
          </a:xfrm>
          <a:prstGeom prst="rect">
            <a:avLst/>
          </a:prstGeom>
          <a:noFill/>
        </p:spPr>
        <p:txBody>
          <a:bodyPr wrap="square" anchor="t" lIns="0" rIns="0" tIns="0" bIns="0">
            <a:spAutoFit/>
          </a:bodyPr>
          <a:lstStyle/>
          <a:p>
            <a:pPr algn="l">
              <a:lnSpc>
                <a:spcPct val="110000"/>
              </a:lnSpc>
            </a:pPr>
            <a:r>
              <a:rPr sz="1600" b="0">
                <a:solidFill>
                  <a:srgbClr val="8A8A8A"/>
                </a:solidFill>
                <a:latin typeface="Arial"/>
                <a:ea typeface="Arial"/>
              </a:rPr>
              <a:t>개념도</a:t>
            </a:r>
          </a:p>
        </p:txBody>
      </p:sp>
      <p:sp>
        <p:nvSpPr>
          <p:cNvPr id="22" name="Isosceles Triangle 21"/>
          <p:cNvSpPr/>
          <p:nvPr/>
        </p:nvSpPr>
        <p:spPr>
          <a:xfrm rot="10800000">
            <a:off x="2532888" y="4754880"/>
            <a:ext cx="402336" cy="237744"/>
          </a:xfrm>
          <a:prstGeom prst="triangle">
            <a:avLst/>
          </a:prstGeom>
          <a:solidFill>
            <a:srgbClr val="C0C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5047488"/>
            <a:ext cx="4023360" cy="402336"/>
          </a:xfrm>
          <a:prstGeom prst="rect">
            <a:avLst/>
          </a:prstGeom>
          <a:noFill/>
        </p:spPr>
        <p:txBody>
          <a:bodyPr wrap="square" anchor="ctr" lIns="0" rIns="0" tIns="0" bIns="0">
            <a:spAutoFit/>
          </a:bodyPr>
          <a:lstStyle/>
          <a:p>
            <a:pPr algn="ctr">
              <a:lnSpc>
                <a:spcPct val="110000"/>
              </a:lnSpc>
            </a:pPr>
            <a:r>
              <a:rPr sz="2200" b="1">
                <a:solidFill>
                  <a:srgbClr val="1A1A1A"/>
                </a:solidFill>
                <a:latin typeface="Arial"/>
                <a:ea typeface="Arial"/>
              </a:rPr>
              <a:t>하나의 체계로 묶습니다</a:t>
            </a:r>
          </a:p>
        </p:txBody>
      </p:sp>
      <p:cxnSp>
        <p:nvCxnSpPr>
          <p:cNvPr id="24" name="Connector 23"/>
          <p:cNvCxnSpPr/>
          <p:nvPr/>
        </p:nvCxnSpPr>
        <p:spPr>
          <a:xfrm flipH="1">
            <a:off x="1325880" y="6089904"/>
            <a:ext cx="1408176" cy="1865375"/>
          </a:xfrm>
          <a:prstGeom prst="line">
            <a:avLst/>
          </a:prstGeom>
          <a:ln w="381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25880" y="7955279"/>
            <a:ext cx="2816352" cy="0"/>
          </a:xfrm>
          <a:prstGeom prst="line">
            <a:avLst/>
          </a:prstGeom>
          <a:ln w="381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734056" y="6089904"/>
            <a:ext cx="1408176" cy="1865375"/>
          </a:xfrm>
          <a:prstGeom prst="line">
            <a:avLst/>
          </a:prstGeom>
          <a:ln w="38100">
            <a:solidFill>
              <a:srgbClr val="CBD5E1"/>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221992" y="6931151"/>
            <a:ext cx="1024128" cy="804672"/>
          </a:xfrm>
          <a:prstGeom prst="roundRect">
            <a:avLst>
              <a:gd name="adj" fmla="val 9090"/>
            </a:avLst>
          </a:prstGeom>
          <a:solidFill>
            <a:srgbClr val="FFFFFF"/>
          </a:solidFill>
          <a:ln w="2222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21992" y="6931151"/>
            <a:ext cx="1024128" cy="804672"/>
          </a:xfrm>
          <a:prstGeom prst="rect">
            <a:avLst/>
          </a:prstGeom>
          <a:noFill/>
        </p:spPr>
        <p:txBody>
          <a:bodyPr wrap="square" anchor="ctr" lIns="0" rIns="0" tIns="0" bIns="0">
            <a:spAutoFit/>
          </a:bodyPr>
          <a:lstStyle/>
          <a:p>
            <a:pPr algn="ctr">
              <a:lnSpc>
                <a:spcPct val="100000"/>
              </a:lnSpc>
            </a:pPr>
            <a:r>
              <a:rPr sz="1800" b="1">
                <a:solidFill>
                  <a:srgbClr val="1E2A4A"/>
                </a:solidFill>
                <a:latin typeface="Arial"/>
                <a:ea typeface="Arial"/>
              </a:rPr>
              <a:t>전체</a:t>
            </a:r>
          </a:p>
          <a:p>
            <a:pPr algn="ctr">
              <a:lnSpc>
                <a:spcPct val="100000"/>
              </a:lnSpc>
            </a:pPr>
            <a:r>
              <a:rPr sz="1800" b="1">
                <a:solidFill>
                  <a:srgbClr val="1E2A4A"/>
                </a:solidFill>
                <a:latin typeface="Arial"/>
                <a:ea typeface="Arial"/>
              </a:rPr>
              <a:t>최적화</a:t>
            </a:r>
          </a:p>
        </p:txBody>
      </p:sp>
      <p:sp>
        <p:nvSpPr>
          <p:cNvPr id="29" name="Oval 28"/>
          <p:cNvSpPr/>
          <p:nvPr/>
        </p:nvSpPr>
        <p:spPr>
          <a:xfrm>
            <a:off x="2203704" y="5559552"/>
            <a:ext cx="1060704" cy="1060704"/>
          </a:xfrm>
          <a:prstGeom prst="ellipse">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rrows-exchange_white.png"/>
          <p:cNvPicPr>
            <a:picLocks noChangeAspect="1"/>
          </p:cNvPicPr>
          <p:nvPr/>
        </p:nvPicPr>
        <p:blipFill>
          <a:blip r:embed="rId2"/>
          <a:stretch>
            <a:fillRect/>
          </a:stretch>
        </p:blipFill>
        <p:spPr>
          <a:xfrm>
            <a:off x="2542032" y="5705856"/>
            <a:ext cx="384048" cy="384048"/>
          </a:xfrm>
          <a:prstGeom prst="rect">
            <a:avLst/>
          </a:prstGeom>
        </p:spPr>
      </p:pic>
      <p:sp>
        <p:nvSpPr>
          <p:cNvPr id="31" name="TextBox 30"/>
          <p:cNvSpPr txBox="1"/>
          <p:nvPr/>
        </p:nvSpPr>
        <p:spPr>
          <a:xfrm>
            <a:off x="2203704" y="6108192"/>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C1 자원</a:t>
            </a:r>
          </a:p>
        </p:txBody>
      </p:sp>
      <p:sp>
        <p:nvSpPr>
          <p:cNvPr id="32" name="Oval 31"/>
          <p:cNvSpPr/>
          <p:nvPr/>
        </p:nvSpPr>
        <p:spPr>
          <a:xfrm>
            <a:off x="795528" y="7424927"/>
            <a:ext cx="1060704" cy="1060704"/>
          </a:xfrm>
          <a:prstGeom prst="ellipse">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tack-push_white.png"/>
          <p:cNvPicPr>
            <a:picLocks noChangeAspect="1"/>
          </p:cNvPicPr>
          <p:nvPr/>
        </p:nvPicPr>
        <p:blipFill>
          <a:blip r:embed="rId3"/>
          <a:stretch>
            <a:fillRect/>
          </a:stretch>
        </p:blipFill>
        <p:spPr>
          <a:xfrm>
            <a:off x="1133856" y="7571231"/>
            <a:ext cx="384048" cy="384048"/>
          </a:xfrm>
          <a:prstGeom prst="rect">
            <a:avLst/>
          </a:prstGeom>
        </p:spPr>
      </p:pic>
      <p:sp>
        <p:nvSpPr>
          <p:cNvPr id="34" name="TextBox 33"/>
          <p:cNvSpPr txBox="1"/>
          <p:nvPr/>
        </p:nvSpPr>
        <p:spPr>
          <a:xfrm>
            <a:off x="795528" y="7973567"/>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C2 기술</a:t>
            </a:r>
          </a:p>
        </p:txBody>
      </p:sp>
      <p:sp>
        <p:nvSpPr>
          <p:cNvPr id="35" name="Oval 34"/>
          <p:cNvSpPr/>
          <p:nvPr/>
        </p:nvSpPr>
        <p:spPr>
          <a:xfrm>
            <a:off x="3611880" y="7424927"/>
            <a:ext cx="1060704" cy="1060704"/>
          </a:xfrm>
          <a:prstGeom prst="ellipse">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heart-handshake_white.png"/>
          <p:cNvPicPr>
            <a:picLocks noChangeAspect="1"/>
          </p:cNvPicPr>
          <p:nvPr/>
        </p:nvPicPr>
        <p:blipFill>
          <a:blip r:embed="rId4"/>
          <a:stretch>
            <a:fillRect/>
          </a:stretch>
        </p:blipFill>
        <p:spPr>
          <a:xfrm>
            <a:off x="3950208" y="7571231"/>
            <a:ext cx="384048" cy="384048"/>
          </a:xfrm>
          <a:prstGeom prst="rect">
            <a:avLst/>
          </a:prstGeom>
        </p:spPr>
      </p:pic>
      <p:sp>
        <p:nvSpPr>
          <p:cNvPr id="37" name="TextBox 36"/>
          <p:cNvSpPr txBox="1"/>
          <p:nvPr/>
        </p:nvSpPr>
        <p:spPr>
          <a:xfrm>
            <a:off x="3611880" y="7973567"/>
            <a:ext cx="1060704" cy="292608"/>
          </a:xfrm>
          <a:prstGeom prst="rect">
            <a:avLst/>
          </a:prstGeom>
          <a:noFill/>
        </p:spPr>
        <p:txBody>
          <a:bodyPr wrap="square" anchor="t" lIns="0" rIns="0" tIns="0" bIns="0">
            <a:spAutoFit/>
          </a:bodyPr>
          <a:lstStyle/>
          <a:p>
            <a:pPr algn="ctr">
              <a:lnSpc>
                <a:spcPct val="110000"/>
              </a:lnSpc>
            </a:pPr>
            <a:r>
              <a:rPr sz="1800" b="1">
                <a:solidFill>
                  <a:srgbClr val="FFFFFF"/>
                </a:solidFill>
                <a:latin typeface="Arial"/>
                <a:ea typeface="Arial"/>
              </a:rPr>
              <a:t>C3 고객</a:t>
            </a:r>
          </a:p>
        </p:txBody>
      </p:sp>
      <p:sp>
        <p:nvSpPr>
          <p:cNvPr id="38" name="Rectangle 37"/>
          <p:cNvSpPr/>
          <p:nvPr/>
        </p:nvSpPr>
        <p:spPr>
          <a:xfrm>
            <a:off x="4910328" y="2139696"/>
            <a:ext cx="18288" cy="645566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93208" y="2139696"/>
            <a:ext cx="2999232" cy="1188719"/>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40" name="Rounded Rectangle 39"/>
          <p:cNvSpPr/>
          <p:nvPr/>
        </p:nvSpPr>
        <p:spPr>
          <a:xfrm>
            <a:off x="8220456" y="2139696"/>
            <a:ext cx="3029712" cy="1280160"/>
          </a:xfrm>
          <a:prstGeom prst="roundRect">
            <a:avLst>
              <a:gd name="adj" fmla="val 5714"/>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arrows-exchange_white.png"/>
          <p:cNvPicPr>
            <a:picLocks noChangeAspect="1"/>
          </p:cNvPicPr>
          <p:nvPr/>
        </p:nvPicPr>
        <p:blipFill>
          <a:blip r:embed="rId2"/>
          <a:stretch>
            <a:fillRect/>
          </a:stretch>
        </p:blipFill>
        <p:spPr>
          <a:xfrm>
            <a:off x="9515856" y="2249424"/>
            <a:ext cx="438912" cy="438912"/>
          </a:xfrm>
          <a:prstGeom prst="rect">
            <a:avLst/>
          </a:prstGeom>
        </p:spPr>
      </p:pic>
      <p:sp>
        <p:nvSpPr>
          <p:cNvPr id="42" name="TextBox 41"/>
          <p:cNvSpPr txBox="1"/>
          <p:nvPr/>
        </p:nvSpPr>
        <p:spPr>
          <a:xfrm>
            <a:off x="8220456" y="2724912"/>
            <a:ext cx="3029712" cy="640080"/>
          </a:xfrm>
          <a:prstGeom prst="rect">
            <a:avLst/>
          </a:prstGeom>
          <a:noFill/>
        </p:spPr>
        <p:txBody>
          <a:bodyPr wrap="square" anchor="t" lIns="0" rIns="0" tIns="0" bIns="0">
            <a:spAutoFit/>
          </a:bodyPr>
          <a:lstStyle/>
          <a:p>
            <a:pPr algn="ctr">
              <a:lnSpc>
                <a:spcPct val="100000"/>
              </a:lnSpc>
            </a:pPr>
            <a:r>
              <a:rPr sz="2200" b="1">
                <a:solidFill>
                  <a:srgbClr val="C0CAEC"/>
                </a:solidFill>
                <a:latin typeface="Arial"/>
                <a:ea typeface="Arial"/>
              </a:rPr>
              <a:t>C1 </a:t>
            </a:r>
            <a:r>
              <a:rPr sz="2200" b="1">
                <a:solidFill>
                  <a:srgbClr val="FFFFFF"/>
                </a:solidFill>
                <a:latin typeface="Arial"/>
                <a:ea typeface="Arial"/>
              </a:rPr>
              <a:t>Convertibility</a:t>
            </a:r>
          </a:p>
          <a:p>
            <a:pPr algn="ctr">
              <a:lnSpc>
                <a:spcPct val="100000"/>
              </a:lnSpc>
            </a:pPr>
            <a:r>
              <a:rPr sz="1800" b="0">
                <a:solidFill>
                  <a:srgbClr val="FFFFFF"/>
                </a:solidFill>
                <a:latin typeface="Arial"/>
                <a:ea typeface="Arial"/>
              </a:rPr>
              <a:t>자원의 유연한 전환</a:t>
            </a:r>
          </a:p>
        </p:txBody>
      </p:sp>
      <p:sp>
        <p:nvSpPr>
          <p:cNvPr id="43" name="Rounded Rectangle 42"/>
          <p:cNvSpPr/>
          <p:nvPr/>
        </p:nvSpPr>
        <p:spPr>
          <a:xfrm>
            <a:off x="11378184" y="2139696"/>
            <a:ext cx="3029712" cy="1280160"/>
          </a:xfrm>
          <a:prstGeom prst="roundRect">
            <a:avLst>
              <a:gd name="adj" fmla="val 5714"/>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stack-push_white.png"/>
          <p:cNvPicPr>
            <a:picLocks noChangeAspect="1"/>
          </p:cNvPicPr>
          <p:nvPr/>
        </p:nvPicPr>
        <p:blipFill>
          <a:blip r:embed="rId3"/>
          <a:stretch>
            <a:fillRect/>
          </a:stretch>
        </p:blipFill>
        <p:spPr>
          <a:xfrm>
            <a:off x="12673584" y="2249424"/>
            <a:ext cx="438912" cy="438912"/>
          </a:xfrm>
          <a:prstGeom prst="rect">
            <a:avLst/>
          </a:prstGeom>
        </p:spPr>
      </p:pic>
      <p:sp>
        <p:nvSpPr>
          <p:cNvPr id="45" name="TextBox 44"/>
          <p:cNvSpPr txBox="1"/>
          <p:nvPr/>
        </p:nvSpPr>
        <p:spPr>
          <a:xfrm>
            <a:off x="11378184" y="2724912"/>
            <a:ext cx="3029712" cy="640080"/>
          </a:xfrm>
          <a:prstGeom prst="rect">
            <a:avLst/>
          </a:prstGeom>
          <a:noFill/>
        </p:spPr>
        <p:txBody>
          <a:bodyPr wrap="square" anchor="t" lIns="0" rIns="0" tIns="0" bIns="0">
            <a:spAutoFit/>
          </a:bodyPr>
          <a:lstStyle/>
          <a:p>
            <a:pPr algn="ctr">
              <a:lnSpc>
                <a:spcPct val="100000"/>
              </a:lnSpc>
            </a:pPr>
            <a:r>
              <a:rPr sz="2200" b="1">
                <a:solidFill>
                  <a:srgbClr val="B5E0DA"/>
                </a:solidFill>
                <a:latin typeface="Arial"/>
                <a:ea typeface="Arial"/>
              </a:rPr>
              <a:t>C2 </a:t>
            </a:r>
            <a:r>
              <a:rPr sz="2200" b="1">
                <a:solidFill>
                  <a:srgbClr val="FFFFFF"/>
                </a:solidFill>
                <a:latin typeface="Arial"/>
                <a:ea typeface="Arial"/>
              </a:rPr>
              <a:t>Continuity</a:t>
            </a:r>
          </a:p>
          <a:p>
            <a:pPr algn="ctr">
              <a:lnSpc>
                <a:spcPct val="100000"/>
              </a:lnSpc>
            </a:pPr>
            <a:r>
              <a:rPr sz="1800" b="0">
                <a:solidFill>
                  <a:srgbClr val="FFFFFF"/>
                </a:solidFill>
                <a:latin typeface="Arial"/>
                <a:ea typeface="Arial"/>
              </a:rPr>
              <a:t>연속성 있는 기술 축적</a:t>
            </a:r>
          </a:p>
        </p:txBody>
      </p:sp>
      <p:sp>
        <p:nvSpPr>
          <p:cNvPr id="46" name="Rounded Rectangle 45"/>
          <p:cNvSpPr/>
          <p:nvPr/>
        </p:nvSpPr>
        <p:spPr>
          <a:xfrm>
            <a:off x="14535912" y="2139696"/>
            <a:ext cx="3029712" cy="1280160"/>
          </a:xfrm>
          <a:prstGeom prst="roundRect">
            <a:avLst>
              <a:gd name="adj" fmla="val 5714"/>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heart-handshake_white.png"/>
          <p:cNvPicPr>
            <a:picLocks noChangeAspect="1"/>
          </p:cNvPicPr>
          <p:nvPr/>
        </p:nvPicPr>
        <p:blipFill>
          <a:blip r:embed="rId4"/>
          <a:stretch>
            <a:fillRect/>
          </a:stretch>
        </p:blipFill>
        <p:spPr>
          <a:xfrm>
            <a:off x="15831312" y="2249424"/>
            <a:ext cx="438912" cy="438912"/>
          </a:xfrm>
          <a:prstGeom prst="rect">
            <a:avLst/>
          </a:prstGeom>
        </p:spPr>
      </p:pic>
      <p:sp>
        <p:nvSpPr>
          <p:cNvPr id="48" name="TextBox 47"/>
          <p:cNvSpPr txBox="1"/>
          <p:nvPr/>
        </p:nvSpPr>
        <p:spPr>
          <a:xfrm>
            <a:off x="14535912" y="2724912"/>
            <a:ext cx="3029712" cy="640080"/>
          </a:xfrm>
          <a:prstGeom prst="rect">
            <a:avLst/>
          </a:prstGeom>
          <a:noFill/>
        </p:spPr>
        <p:txBody>
          <a:bodyPr wrap="square" anchor="t" lIns="0" rIns="0" tIns="0" bIns="0">
            <a:spAutoFit/>
          </a:bodyPr>
          <a:lstStyle/>
          <a:p>
            <a:pPr algn="ctr">
              <a:lnSpc>
                <a:spcPct val="100000"/>
              </a:lnSpc>
            </a:pPr>
            <a:r>
              <a:rPr sz="2200" b="1">
                <a:solidFill>
                  <a:srgbClr val="F6D2B5"/>
                </a:solidFill>
                <a:latin typeface="Arial"/>
                <a:ea typeface="Arial"/>
              </a:rPr>
              <a:t>C3 </a:t>
            </a:r>
            <a:r>
              <a:rPr sz="2200" b="1">
                <a:solidFill>
                  <a:srgbClr val="FFFFFF"/>
                </a:solidFill>
                <a:latin typeface="Arial"/>
                <a:ea typeface="Arial"/>
              </a:rPr>
              <a:t>Co-Creation</a:t>
            </a:r>
          </a:p>
          <a:p>
            <a:pPr algn="ctr">
              <a:lnSpc>
                <a:spcPct val="100000"/>
              </a:lnSpc>
            </a:pPr>
            <a:r>
              <a:rPr sz="1800" b="0">
                <a:solidFill>
                  <a:srgbClr val="FFFFFF"/>
                </a:solidFill>
                <a:latin typeface="Arial"/>
                <a:ea typeface="Arial"/>
              </a:rPr>
              <a:t>고객과 함께 미래를 설계</a:t>
            </a:r>
          </a:p>
        </p:txBody>
      </p:sp>
      <p:sp>
        <p:nvSpPr>
          <p:cNvPr id="49" name="Rounded Rectangle 48"/>
          <p:cNvSpPr/>
          <p:nvPr/>
        </p:nvSpPr>
        <p:spPr>
          <a:xfrm>
            <a:off x="5093208" y="3547872"/>
            <a:ext cx="2999232" cy="1609344"/>
          </a:xfrm>
          <a:prstGeom prst="roundRect">
            <a:avLst>
              <a:gd name="adj" fmla="val 454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bonding_sem.jpg"/>
          <p:cNvPicPr>
            <a:picLocks noChangeAspect="1"/>
          </p:cNvPicPr>
          <p:nvPr/>
        </p:nvPicPr>
        <p:blipFill>
          <a:blip r:embed="rId5"/>
          <a:stretch>
            <a:fillRect/>
          </a:stretch>
        </p:blipFill>
        <p:spPr>
          <a:xfrm>
            <a:off x="5202936" y="4062419"/>
            <a:ext cx="1024128" cy="580248"/>
          </a:xfrm>
          <a:prstGeom prst="rect">
            <a:avLst/>
          </a:prstGeom>
        </p:spPr>
      </p:pic>
      <p:sp>
        <p:nvSpPr>
          <p:cNvPr id="51" name="Rectangle 50"/>
          <p:cNvSpPr/>
          <p:nvPr/>
        </p:nvSpPr>
        <p:spPr>
          <a:xfrm>
            <a:off x="5202936" y="4062419"/>
            <a:ext cx="1024128" cy="580248"/>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18504" y="3621024"/>
            <a:ext cx="1719072" cy="1463040"/>
          </a:xfrm>
          <a:prstGeom prst="rect">
            <a:avLst/>
          </a:prstGeom>
          <a:noFill/>
        </p:spPr>
        <p:txBody>
          <a:bodyPr wrap="square" anchor="ctr" lIns="0" rIns="0" tIns="0" bIns="0">
            <a:spAutoFit/>
          </a:bodyPr>
          <a:lstStyle/>
          <a:p>
            <a:pPr algn="l">
              <a:lnSpc>
                <a:spcPct val="100000"/>
              </a:lnSpc>
            </a:pPr>
            <a:r>
              <a:rPr sz="1800" b="1">
                <a:solidFill>
                  <a:srgbClr val="334155"/>
                </a:solidFill>
                <a:latin typeface="Arial"/>
                <a:ea typeface="Arial"/>
              </a:rPr>
              <a:t>전략 1</a:t>
            </a:r>
          </a:p>
          <a:p>
            <a:pPr algn="l">
              <a:lnSpc>
                <a:spcPct val="100000"/>
              </a:lnSpc>
            </a:pPr>
            <a:r>
              <a:rPr sz="1800" b="1">
                <a:solidFill>
                  <a:srgbClr val="1A1A1A"/>
                </a:solidFill>
                <a:latin typeface="Arial"/>
                <a:ea typeface="Arial"/>
              </a:rPr>
              <a:t>Bonding 기반</a:t>
            </a:r>
          </a:p>
          <a:p>
            <a:pPr algn="l">
              <a:lnSpc>
                <a:spcPct val="100000"/>
              </a:lnSpc>
            </a:pPr>
            <a:r>
              <a:rPr sz="1800" b="1">
                <a:solidFill>
                  <a:srgbClr val="1A1A1A"/>
                </a:solidFill>
                <a:latin typeface="Arial"/>
                <a:ea typeface="Arial"/>
              </a:rPr>
              <a:t>DRAM · NAND</a:t>
            </a:r>
          </a:p>
          <a:p>
            <a:pPr algn="l">
              <a:lnSpc>
                <a:spcPct val="100000"/>
              </a:lnSpc>
            </a:pPr>
            <a:r>
              <a:rPr sz="1800" b="1">
                <a:solidFill>
                  <a:srgbClr val="1A1A1A"/>
                </a:solidFill>
                <a:latin typeface="Arial"/>
                <a:ea typeface="Arial"/>
              </a:rPr>
              <a:t>통합 제조</a:t>
            </a:r>
          </a:p>
        </p:txBody>
      </p:sp>
      <p:sp>
        <p:nvSpPr>
          <p:cNvPr id="53" name="Rounded Rectangle 52"/>
          <p:cNvSpPr/>
          <p:nvPr/>
        </p:nvSpPr>
        <p:spPr>
          <a:xfrm>
            <a:off x="8220456" y="3547872"/>
            <a:ext cx="3029712" cy="1609344"/>
          </a:xfrm>
          <a:prstGeom prst="roundRect">
            <a:avLst>
              <a:gd name="adj" fmla="val 4545"/>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385048" y="3712463"/>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building-factory-2_blue.png"/>
          <p:cNvPicPr>
            <a:picLocks noChangeAspect="1"/>
          </p:cNvPicPr>
          <p:nvPr/>
        </p:nvPicPr>
        <p:blipFill>
          <a:blip r:embed="rId6"/>
          <a:stretch>
            <a:fillRect/>
          </a:stretch>
        </p:blipFill>
        <p:spPr>
          <a:xfrm>
            <a:off x="8519464" y="3846880"/>
            <a:ext cx="371246" cy="371246"/>
          </a:xfrm>
          <a:prstGeom prst="rect">
            <a:avLst/>
          </a:prstGeom>
        </p:spPr>
      </p:pic>
      <p:sp>
        <p:nvSpPr>
          <p:cNvPr id="56" name="TextBox 55"/>
          <p:cNvSpPr txBox="1"/>
          <p:nvPr/>
        </p:nvSpPr>
        <p:spPr>
          <a:xfrm>
            <a:off x="9153144"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제조라인 공용화</a:t>
            </a:r>
          </a:p>
        </p:txBody>
      </p:sp>
      <p:sp>
        <p:nvSpPr>
          <p:cNvPr id="57" name="TextBox 56"/>
          <p:cNvSpPr txBox="1"/>
          <p:nvPr/>
        </p:nvSpPr>
        <p:spPr>
          <a:xfrm>
            <a:off x="8403336"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수요에 따라</a:t>
            </a:r>
          </a:p>
          <a:p>
            <a:pPr algn="l">
              <a:lnSpc>
                <a:spcPct val="105000"/>
              </a:lnSpc>
            </a:pPr>
            <a:r>
              <a:rPr sz="1800" b="0">
                <a:solidFill>
                  <a:srgbClr val="555555"/>
                </a:solidFill>
                <a:latin typeface="Arial"/>
                <a:ea typeface="Arial"/>
              </a:rPr>
              <a:t>DRAM ↔ NAND 전환</a:t>
            </a:r>
          </a:p>
        </p:txBody>
      </p:sp>
      <p:sp>
        <p:nvSpPr>
          <p:cNvPr id="58" name="Rounded Rectangle 57"/>
          <p:cNvSpPr/>
          <p:nvPr/>
        </p:nvSpPr>
        <p:spPr>
          <a:xfrm>
            <a:off x="11378184" y="3547872"/>
            <a:ext cx="3029712" cy="1609344"/>
          </a:xfrm>
          <a:prstGeom prst="roundRect">
            <a:avLst>
              <a:gd name="adj" fmla="val 4545"/>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542776" y="3712463"/>
            <a:ext cx="640080" cy="640080"/>
          </a:xfrm>
          <a:prstGeom prst="ellipse">
            <a:avLst/>
          </a:prstGeom>
          <a:solidFill>
            <a:srgbClr val="EE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recycle_teal.png"/>
          <p:cNvPicPr>
            <a:picLocks noChangeAspect="1"/>
          </p:cNvPicPr>
          <p:nvPr/>
        </p:nvPicPr>
        <p:blipFill>
          <a:blip r:embed="rId7"/>
          <a:stretch>
            <a:fillRect/>
          </a:stretch>
        </p:blipFill>
        <p:spPr>
          <a:xfrm>
            <a:off x="11677192" y="3846880"/>
            <a:ext cx="371246" cy="371246"/>
          </a:xfrm>
          <a:prstGeom prst="rect">
            <a:avLst/>
          </a:prstGeom>
        </p:spPr>
      </p:pic>
      <p:sp>
        <p:nvSpPr>
          <p:cNvPr id="61" name="TextBox 60"/>
          <p:cNvSpPr txBox="1"/>
          <p:nvPr/>
        </p:nvSpPr>
        <p:spPr>
          <a:xfrm>
            <a:off x="12310872"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Legacy Cell</a:t>
            </a:r>
          </a:p>
          <a:p>
            <a:pPr algn="l">
              <a:lnSpc>
                <a:spcPct val="100000"/>
              </a:lnSpc>
            </a:pPr>
            <a:r>
              <a:rPr sz="2000" b="1">
                <a:solidFill>
                  <a:srgbClr val="1A1A1A"/>
                </a:solidFill>
                <a:latin typeface="Arial"/>
                <a:ea typeface="Arial"/>
              </a:rPr>
              <a:t>자산화</a:t>
            </a:r>
          </a:p>
        </p:txBody>
      </p:sp>
      <p:sp>
        <p:nvSpPr>
          <p:cNvPr id="62" name="TextBox 61"/>
          <p:cNvSpPr txBox="1"/>
          <p:nvPr/>
        </p:nvSpPr>
        <p:spPr>
          <a:xfrm>
            <a:off x="11561064"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검증된 DRAM Cell 기술을</a:t>
            </a:r>
          </a:p>
          <a:p>
            <a:pPr algn="l">
              <a:lnSpc>
                <a:spcPct val="105000"/>
              </a:lnSpc>
            </a:pPr>
            <a:r>
              <a:rPr sz="1800" b="0">
                <a:solidFill>
                  <a:srgbClr val="555555"/>
                </a:solidFill>
                <a:latin typeface="Arial"/>
                <a:ea typeface="Arial"/>
              </a:rPr>
              <a:t>그대로 활용</a:t>
            </a:r>
          </a:p>
        </p:txBody>
      </p:sp>
      <p:sp>
        <p:nvSpPr>
          <p:cNvPr id="63" name="Rounded Rectangle 62"/>
          <p:cNvSpPr/>
          <p:nvPr/>
        </p:nvSpPr>
        <p:spPr>
          <a:xfrm>
            <a:off x="14535912" y="3547872"/>
            <a:ext cx="3029712" cy="1609344"/>
          </a:xfrm>
          <a:prstGeom prst="roundRect">
            <a:avLst>
              <a:gd name="adj" fmla="val 4545"/>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4700504" y="3712463"/>
            <a:ext cx="640080" cy="640080"/>
          </a:xfrm>
          <a:prstGeom prst="ellipse">
            <a:avLst/>
          </a:prstGeom>
          <a:solidFill>
            <a:srgbClr val="FD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adjustments-horizontal_orange.png"/>
          <p:cNvPicPr>
            <a:picLocks noChangeAspect="1"/>
          </p:cNvPicPr>
          <p:nvPr/>
        </p:nvPicPr>
        <p:blipFill>
          <a:blip r:embed="rId8"/>
          <a:stretch>
            <a:fillRect/>
          </a:stretch>
        </p:blipFill>
        <p:spPr>
          <a:xfrm>
            <a:off x="14834920" y="3846880"/>
            <a:ext cx="371246" cy="371246"/>
          </a:xfrm>
          <a:prstGeom prst="rect">
            <a:avLst/>
          </a:prstGeom>
        </p:spPr>
      </p:pic>
      <p:sp>
        <p:nvSpPr>
          <p:cNvPr id="66" name="TextBox 65"/>
          <p:cNvSpPr txBox="1"/>
          <p:nvPr/>
        </p:nvSpPr>
        <p:spPr>
          <a:xfrm>
            <a:off x="15468600" y="3675887"/>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Peripherals</a:t>
            </a:r>
          </a:p>
          <a:p>
            <a:pPr algn="l">
              <a:lnSpc>
                <a:spcPct val="100000"/>
              </a:lnSpc>
            </a:pPr>
            <a:r>
              <a:rPr sz="2000" b="1">
                <a:solidFill>
                  <a:srgbClr val="1A1A1A"/>
                </a:solidFill>
                <a:latin typeface="Arial"/>
                <a:ea typeface="Arial"/>
              </a:rPr>
              <a:t>맞춤 제공</a:t>
            </a:r>
          </a:p>
        </p:txBody>
      </p:sp>
      <p:sp>
        <p:nvSpPr>
          <p:cNvPr id="67" name="TextBox 66"/>
          <p:cNvSpPr txBox="1"/>
          <p:nvPr/>
        </p:nvSpPr>
        <p:spPr>
          <a:xfrm>
            <a:off x="14718792" y="4462272"/>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Cell은 공통,</a:t>
            </a:r>
          </a:p>
          <a:p>
            <a:pPr algn="l">
              <a:lnSpc>
                <a:spcPct val="105000"/>
              </a:lnSpc>
            </a:pPr>
            <a:r>
              <a:rPr sz="1800" b="0">
                <a:solidFill>
                  <a:srgbClr val="555555"/>
                </a:solidFill>
                <a:latin typeface="Arial"/>
                <a:ea typeface="Arial"/>
              </a:rPr>
              <a:t>Peri는 고객별 맞춤</a:t>
            </a:r>
          </a:p>
        </p:txBody>
      </p:sp>
      <p:sp>
        <p:nvSpPr>
          <p:cNvPr id="68" name="Rounded Rectangle 67"/>
          <p:cNvSpPr/>
          <p:nvPr/>
        </p:nvSpPr>
        <p:spPr>
          <a:xfrm>
            <a:off x="5093208" y="5266944"/>
            <a:ext cx="2999232" cy="1609344"/>
          </a:xfrm>
          <a:prstGeom prst="roundRect">
            <a:avLst>
              <a:gd name="adj" fmla="val 454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zhbm.jpg"/>
          <p:cNvPicPr>
            <a:picLocks noChangeAspect="1"/>
          </p:cNvPicPr>
          <p:nvPr/>
        </p:nvPicPr>
        <p:blipFill>
          <a:blip r:embed="rId9"/>
          <a:stretch>
            <a:fillRect/>
          </a:stretch>
        </p:blipFill>
        <p:spPr>
          <a:xfrm>
            <a:off x="5202936" y="5553977"/>
            <a:ext cx="1024128" cy="1035277"/>
          </a:xfrm>
          <a:prstGeom prst="rect">
            <a:avLst/>
          </a:prstGeom>
        </p:spPr>
      </p:pic>
      <p:sp>
        <p:nvSpPr>
          <p:cNvPr id="70" name="Rectangle 69"/>
          <p:cNvSpPr/>
          <p:nvPr/>
        </p:nvSpPr>
        <p:spPr>
          <a:xfrm>
            <a:off x="5202936" y="5553977"/>
            <a:ext cx="1024128" cy="1035277"/>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18504" y="5340096"/>
            <a:ext cx="1719072" cy="1463040"/>
          </a:xfrm>
          <a:prstGeom prst="rect">
            <a:avLst/>
          </a:prstGeom>
          <a:noFill/>
        </p:spPr>
        <p:txBody>
          <a:bodyPr wrap="square" anchor="ctr" lIns="0" rIns="0" tIns="0" bIns="0">
            <a:spAutoFit/>
          </a:bodyPr>
          <a:lstStyle/>
          <a:p>
            <a:pPr algn="l">
              <a:lnSpc>
                <a:spcPct val="100000"/>
              </a:lnSpc>
            </a:pPr>
            <a:r>
              <a:rPr sz="1800" b="1">
                <a:solidFill>
                  <a:srgbClr val="334155"/>
                </a:solidFill>
                <a:latin typeface="Arial"/>
                <a:ea typeface="Arial"/>
              </a:rPr>
              <a:t>전략 2</a:t>
            </a:r>
          </a:p>
          <a:p>
            <a:pPr algn="l">
              <a:lnSpc>
                <a:spcPct val="100000"/>
              </a:lnSpc>
            </a:pPr>
            <a:r>
              <a:rPr sz="1800" b="1">
                <a:solidFill>
                  <a:srgbClr val="1A1A1A"/>
                </a:solidFill>
                <a:latin typeface="Arial"/>
                <a:ea typeface="Arial"/>
              </a:rPr>
              <a:t>고객 맞춤형</a:t>
            </a:r>
          </a:p>
          <a:p>
            <a:pPr algn="l">
              <a:lnSpc>
                <a:spcPct val="100000"/>
              </a:lnSpc>
            </a:pPr>
            <a:r>
              <a:rPr sz="1800" b="1">
                <a:solidFill>
                  <a:srgbClr val="1A1A1A"/>
                </a:solidFill>
                <a:latin typeface="Arial"/>
                <a:ea typeface="Arial"/>
              </a:rPr>
              <a:t>차세대 메모리</a:t>
            </a:r>
          </a:p>
          <a:p>
            <a:pPr algn="l">
              <a:lnSpc>
                <a:spcPct val="100000"/>
              </a:lnSpc>
            </a:pPr>
            <a:r>
              <a:rPr sz="1800" b="1">
                <a:solidFill>
                  <a:srgbClr val="1A1A1A"/>
                </a:solidFill>
                <a:latin typeface="Arial"/>
                <a:ea typeface="Arial"/>
              </a:rPr>
              <a:t>개발</a:t>
            </a:r>
          </a:p>
        </p:txBody>
      </p:sp>
      <p:sp>
        <p:nvSpPr>
          <p:cNvPr id="72" name="Rounded Rectangle 71"/>
          <p:cNvSpPr/>
          <p:nvPr/>
        </p:nvSpPr>
        <p:spPr>
          <a:xfrm>
            <a:off x="8220456" y="5266944"/>
            <a:ext cx="3029712" cy="1609344"/>
          </a:xfrm>
          <a:prstGeom prst="roundRect">
            <a:avLst>
              <a:gd name="adj" fmla="val 4545"/>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385048" y="5431536"/>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cpu-2_blue.png"/>
          <p:cNvPicPr>
            <a:picLocks noChangeAspect="1"/>
          </p:cNvPicPr>
          <p:nvPr/>
        </p:nvPicPr>
        <p:blipFill>
          <a:blip r:embed="rId10"/>
          <a:stretch>
            <a:fillRect/>
          </a:stretch>
        </p:blipFill>
        <p:spPr>
          <a:xfrm>
            <a:off x="8519464" y="5565952"/>
            <a:ext cx="371246" cy="371246"/>
          </a:xfrm>
          <a:prstGeom prst="rect">
            <a:avLst/>
          </a:prstGeom>
        </p:spPr>
      </p:pic>
      <p:sp>
        <p:nvSpPr>
          <p:cNvPr id="75" name="TextBox 74"/>
          <p:cNvSpPr txBox="1"/>
          <p:nvPr/>
        </p:nvSpPr>
        <p:spPr>
          <a:xfrm>
            <a:off x="9153144"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로직 IP</a:t>
            </a:r>
          </a:p>
          <a:p>
            <a:pPr algn="l">
              <a:lnSpc>
                <a:spcPct val="100000"/>
              </a:lnSpc>
            </a:pPr>
            <a:r>
              <a:rPr sz="2000" b="1">
                <a:solidFill>
                  <a:srgbClr val="1A1A1A"/>
                </a:solidFill>
                <a:latin typeface="Arial"/>
                <a:ea typeface="Arial"/>
              </a:rPr>
              <a:t>역량 전환</a:t>
            </a:r>
          </a:p>
        </p:txBody>
      </p:sp>
      <p:sp>
        <p:nvSpPr>
          <p:cNvPr id="76" name="TextBox 75"/>
          <p:cNvSpPr txBox="1"/>
          <p:nvPr/>
        </p:nvSpPr>
        <p:spPr>
          <a:xfrm>
            <a:off x="8403336"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설계 역량 · 자원을</a:t>
            </a:r>
          </a:p>
          <a:p>
            <a:pPr algn="l">
              <a:lnSpc>
                <a:spcPct val="105000"/>
              </a:lnSpc>
            </a:pPr>
            <a:r>
              <a:rPr sz="1800" b="0">
                <a:solidFill>
                  <a:srgbClr val="555555"/>
                </a:solidFill>
                <a:latin typeface="Arial"/>
                <a:ea typeface="Arial"/>
              </a:rPr>
              <a:t>메모리 로직 IP로</a:t>
            </a:r>
          </a:p>
        </p:txBody>
      </p:sp>
      <p:sp>
        <p:nvSpPr>
          <p:cNvPr id="77" name="Rounded Rectangle 76"/>
          <p:cNvSpPr/>
          <p:nvPr/>
        </p:nvSpPr>
        <p:spPr>
          <a:xfrm>
            <a:off x="11378184" y="5266944"/>
            <a:ext cx="3029712" cy="1609344"/>
          </a:xfrm>
          <a:prstGeom prst="roundRect">
            <a:avLst>
              <a:gd name="adj" fmla="val 4545"/>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1542776" y="5431536"/>
            <a:ext cx="640080" cy="640080"/>
          </a:xfrm>
          <a:prstGeom prst="ellipse">
            <a:avLst/>
          </a:prstGeom>
          <a:solidFill>
            <a:srgbClr val="EE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shield-check_teal.png"/>
          <p:cNvPicPr>
            <a:picLocks noChangeAspect="1"/>
          </p:cNvPicPr>
          <p:nvPr/>
        </p:nvPicPr>
        <p:blipFill>
          <a:blip r:embed="rId11"/>
          <a:stretch>
            <a:fillRect/>
          </a:stretch>
        </p:blipFill>
        <p:spPr>
          <a:xfrm>
            <a:off x="11677192" y="5565952"/>
            <a:ext cx="371246" cy="371246"/>
          </a:xfrm>
          <a:prstGeom prst="rect">
            <a:avLst/>
          </a:prstGeom>
        </p:spPr>
      </p:pic>
      <p:sp>
        <p:nvSpPr>
          <p:cNvPr id="80" name="TextBox 79"/>
          <p:cNvSpPr txBox="1"/>
          <p:nvPr/>
        </p:nvSpPr>
        <p:spPr>
          <a:xfrm>
            <a:off x="12310872"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검증된 품질 ·</a:t>
            </a:r>
          </a:p>
          <a:p>
            <a:pPr algn="l">
              <a:lnSpc>
                <a:spcPct val="100000"/>
              </a:lnSpc>
            </a:pPr>
            <a:r>
              <a:rPr sz="2000" b="1">
                <a:solidFill>
                  <a:srgbClr val="1A1A1A"/>
                </a:solidFill>
                <a:latin typeface="Arial"/>
                <a:ea typeface="Arial"/>
              </a:rPr>
              <a:t>적기 공급</a:t>
            </a:r>
          </a:p>
        </p:txBody>
      </p:sp>
      <p:sp>
        <p:nvSpPr>
          <p:cNvPr id="81" name="TextBox 80"/>
          <p:cNvSpPr txBox="1"/>
          <p:nvPr/>
        </p:nvSpPr>
        <p:spPr>
          <a:xfrm>
            <a:off x="11561064"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양산으로 검증된 품질을</a:t>
            </a:r>
          </a:p>
          <a:p>
            <a:pPr algn="l">
              <a:lnSpc>
                <a:spcPct val="105000"/>
              </a:lnSpc>
            </a:pPr>
            <a:r>
              <a:rPr sz="1800" b="0">
                <a:solidFill>
                  <a:srgbClr val="555555"/>
                </a:solidFill>
                <a:latin typeface="Arial"/>
                <a:ea typeface="Arial"/>
              </a:rPr>
              <a:t>제때 공급</a:t>
            </a:r>
          </a:p>
        </p:txBody>
      </p:sp>
      <p:sp>
        <p:nvSpPr>
          <p:cNvPr id="82" name="Rounded Rectangle 81"/>
          <p:cNvSpPr/>
          <p:nvPr/>
        </p:nvSpPr>
        <p:spPr>
          <a:xfrm>
            <a:off x="14535912" y="5266944"/>
            <a:ext cx="3029712" cy="1609344"/>
          </a:xfrm>
          <a:prstGeom prst="roundRect">
            <a:avLst>
              <a:gd name="adj" fmla="val 4545"/>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4700504" y="5431536"/>
            <a:ext cx="640080" cy="640080"/>
          </a:xfrm>
          <a:prstGeom prst="ellipse">
            <a:avLst/>
          </a:prstGeom>
          <a:solidFill>
            <a:srgbClr val="FD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puzzle_orange.png"/>
          <p:cNvPicPr>
            <a:picLocks noChangeAspect="1"/>
          </p:cNvPicPr>
          <p:nvPr/>
        </p:nvPicPr>
        <p:blipFill>
          <a:blip r:embed="rId12"/>
          <a:stretch>
            <a:fillRect/>
          </a:stretch>
        </p:blipFill>
        <p:spPr>
          <a:xfrm>
            <a:off x="14834920" y="5565952"/>
            <a:ext cx="371246" cy="371246"/>
          </a:xfrm>
          <a:prstGeom prst="rect">
            <a:avLst/>
          </a:prstGeom>
        </p:spPr>
      </p:pic>
      <p:sp>
        <p:nvSpPr>
          <p:cNvPr id="85" name="TextBox 84"/>
          <p:cNvSpPr txBox="1"/>
          <p:nvPr/>
        </p:nvSpPr>
        <p:spPr>
          <a:xfrm>
            <a:off x="15468600" y="5394959"/>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Custom Logic</a:t>
            </a:r>
          </a:p>
          <a:p>
            <a:pPr algn="l">
              <a:lnSpc>
                <a:spcPct val="100000"/>
              </a:lnSpc>
            </a:pPr>
            <a:r>
              <a:rPr sz="2000" b="1">
                <a:solidFill>
                  <a:srgbClr val="1A1A1A"/>
                </a:solidFill>
                <a:latin typeface="Arial"/>
                <a:ea typeface="Arial"/>
              </a:rPr>
              <a:t>협업</a:t>
            </a:r>
          </a:p>
        </p:txBody>
      </p:sp>
      <p:sp>
        <p:nvSpPr>
          <p:cNvPr id="86" name="TextBox 85"/>
          <p:cNvSpPr txBox="1"/>
          <p:nvPr/>
        </p:nvSpPr>
        <p:spPr>
          <a:xfrm>
            <a:off x="14718792" y="6181344"/>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가속기별 로직을</a:t>
            </a:r>
          </a:p>
          <a:p>
            <a:pPr algn="l">
              <a:lnSpc>
                <a:spcPct val="105000"/>
              </a:lnSpc>
            </a:pPr>
            <a:r>
              <a:rPr sz="1800" b="0">
                <a:solidFill>
                  <a:srgbClr val="555555"/>
                </a:solidFill>
                <a:latin typeface="Arial"/>
                <a:ea typeface="Arial"/>
              </a:rPr>
              <a:t>고객과 함께 설계</a:t>
            </a:r>
          </a:p>
        </p:txBody>
      </p:sp>
      <p:sp>
        <p:nvSpPr>
          <p:cNvPr id="87" name="Rounded Rectangle 86"/>
          <p:cNvSpPr/>
          <p:nvPr/>
        </p:nvSpPr>
        <p:spPr>
          <a:xfrm>
            <a:off x="5093208" y="6986016"/>
            <a:ext cx="2999232" cy="1609344"/>
          </a:xfrm>
          <a:prstGeom prst="roundRect">
            <a:avLst>
              <a:gd name="adj" fmla="val 4545"/>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8" name="Picture 87" descr="render_ssd.png"/>
          <p:cNvPicPr>
            <a:picLocks noChangeAspect="1"/>
          </p:cNvPicPr>
          <p:nvPr/>
        </p:nvPicPr>
        <p:blipFill>
          <a:blip r:embed="rId13"/>
          <a:stretch>
            <a:fillRect/>
          </a:stretch>
        </p:blipFill>
        <p:spPr>
          <a:xfrm>
            <a:off x="5202936" y="7221641"/>
            <a:ext cx="1024128" cy="380238"/>
          </a:xfrm>
          <a:prstGeom prst="rect">
            <a:avLst/>
          </a:prstGeom>
        </p:spPr>
      </p:pic>
      <p:pic>
        <p:nvPicPr>
          <p:cNvPr id="89" name="Picture 88" descr="render_server.png"/>
          <p:cNvPicPr>
            <a:picLocks noChangeAspect="1"/>
          </p:cNvPicPr>
          <p:nvPr/>
        </p:nvPicPr>
        <p:blipFill>
          <a:blip r:embed="rId14"/>
          <a:stretch>
            <a:fillRect/>
          </a:stretch>
        </p:blipFill>
        <p:spPr>
          <a:xfrm>
            <a:off x="5202936" y="7823638"/>
            <a:ext cx="1024128" cy="602707"/>
          </a:xfrm>
          <a:prstGeom prst="rect">
            <a:avLst/>
          </a:prstGeom>
        </p:spPr>
      </p:pic>
      <p:sp>
        <p:nvSpPr>
          <p:cNvPr id="90" name="TextBox 89"/>
          <p:cNvSpPr txBox="1"/>
          <p:nvPr/>
        </p:nvSpPr>
        <p:spPr>
          <a:xfrm>
            <a:off x="6318504" y="7059168"/>
            <a:ext cx="1719072" cy="1463040"/>
          </a:xfrm>
          <a:prstGeom prst="rect">
            <a:avLst/>
          </a:prstGeom>
          <a:noFill/>
        </p:spPr>
        <p:txBody>
          <a:bodyPr wrap="square" anchor="ctr" lIns="0" rIns="0" tIns="0" bIns="0">
            <a:spAutoFit/>
          </a:bodyPr>
          <a:lstStyle/>
          <a:p>
            <a:pPr algn="l">
              <a:lnSpc>
                <a:spcPct val="100000"/>
              </a:lnSpc>
            </a:pPr>
            <a:r>
              <a:rPr sz="1800" b="1">
                <a:solidFill>
                  <a:srgbClr val="334155"/>
                </a:solidFill>
                <a:latin typeface="Arial"/>
                <a:ea typeface="Arial"/>
              </a:rPr>
              <a:t>전략 3</a:t>
            </a:r>
          </a:p>
          <a:p>
            <a:pPr algn="l">
              <a:lnSpc>
                <a:spcPct val="100000"/>
              </a:lnSpc>
            </a:pPr>
            <a:r>
              <a:rPr sz="1800" b="1">
                <a:solidFill>
                  <a:srgbClr val="1A1A1A"/>
                </a:solidFill>
                <a:latin typeface="Arial"/>
                <a:ea typeface="Arial"/>
              </a:rPr>
              <a:t>고객 시스템을</a:t>
            </a:r>
          </a:p>
          <a:p>
            <a:pPr algn="l">
              <a:lnSpc>
                <a:spcPct val="100000"/>
              </a:lnSpc>
            </a:pPr>
            <a:r>
              <a:rPr sz="1800" b="1">
                <a:solidFill>
                  <a:srgbClr val="1A1A1A"/>
                </a:solidFill>
                <a:latin typeface="Arial"/>
                <a:ea typeface="Arial"/>
              </a:rPr>
              <a:t>고려한 스토리지</a:t>
            </a:r>
          </a:p>
          <a:p>
            <a:pPr algn="l">
              <a:lnSpc>
                <a:spcPct val="100000"/>
              </a:lnSpc>
            </a:pPr>
            <a:r>
              <a:rPr sz="1800" b="1">
                <a:solidFill>
                  <a:srgbClr val="1A1A1A"/>
                </a:solidFill>
                <a:latin typeface="Arial"/>
                <a:ea typeface="Arial"/>
              </a:rPr>
              <a:t>개발</a:t>
            </a:r>
          </a:p>
        </p:txBody>
      </p:sp>
      <p:sp>
        <p:nvSpPr>
          <p:cNvPr id="91" name="Rounded Rectangle 90"/>
          <p:cNvSpPr/>
          <p:nvPr/>
        </p:nvSpPr>
        <p:spPr>
          <a:xfrm>
            <a:off x="8220456" y="6986016"/>
            <a:ext cx="3029712" cy="1609344"/>
          </a:xfrm>
          <a:prstGeom prst="roundRect">
            <a:avLst>
              <a:gd name="adj" fmla="val 4545"/>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385048" y="7150607"/>
            <a:ext cx="640080" cy="640080"/>
          </a:xfrm>
          <a:prstGeom prst="ellipse">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Picture 92" descr="radar_blue.png"/>
          <p:cNvPicPr>
            <a:picLocks noChangeAspect="1"/>
          </p:cNvPicPr>
          <p:nvPr/>
        </p:nvPicPr>
        <p:blipFill>
          <a:blip r:embed="rId15"/>
          <a:stretch>
            <a:fillRect/>
          </a:stretch>
        </p:blipFill>
        <p:spPr>
          <a:xfrm>
            <a:off x="8519464" y="7285024"/>
            <a:ext cx="371246" cy="371246"/>
          </a:xfrm>
          <a:prstGeom prst="rect">
            <a:avLst/>
          </a:prstGeom>
        </p:spPr>
      </p:pic>
      <p:sp>
        <p:nvSpPr>
          <p:cNvPr id="94" name="TextBox 93"/>
          <p:cNvSpPr txBox="1"/>
          <p:nvPr/>
        </p:nvSpPr>
        <p:spPr>
          <a:xfrm>
            <a:off x="9153144"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기술 변화</a:t>
            </a:r>
          </a:p>
          <a:p>
            <a:pPr algn="l">
              <a:lnSpc>
                <a:spcPct val="100000"/>
              </a:lnSpc>
            </a:pPr>
            <a:r>
              <a:rPr sz="2000" b="1">
                <a:solidFill>
                  <a:srgbClr val="1A1A1A"/>
                </a:solidFill>
                <a:latin typeface="Arial"/>
                <a:ea typeface="Arial"/>
              </a:rPr>
              <a:t>조기 센싱</a:t>
            </a:r>
          </a:p>
        </p:txBody>
      </p:sp>
      <p:sp>
        <p:nvSpPr>
          <p:cNvPr id="95" name="TextBox 94"/>
          <p:cNvSpPr txBox="1"/>
          <p:nvPr/>
        </p:nvSpPr>
        <p:spPr>
          <a:xfrm>
            <a:off x="8403336"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고객과 먼저 감지하고</a:t>
            </a:r>
          </a:p>
          <a:p>
            <a:pPr algn="l">
              <a:lnSpc>
                <a:spcPct val="105000"/>
              </a:lnSpc>
            </a:pPr>
            <a:r>
              <a:rPr sz="1800" b="0">
                <a:solidFill>
                  <a:srgbClr val="555555"/>
                </a:solidFill>
                <a:latin typeface="Arial"/>
                <a:ea typeface="Arial"/>
              </a:rPr>
              <a:t>차세대 수요를 함께 설계</a:t>
            </a:r>
          </a:p>
        </p:txBody>
      </p:sp>
      <p:sp>
        <p:nvSpPr>
          <p:cNvPr id="96" name="Rounded Rectangle 95"/>
          <p:cNvSpPr/>
          <p:nvPr/>
        </p:nvSpPr>
        <p:spPr>
          <a:xfrm>
            <a:off x="11378184" y="6986016"/>
            <a:ext cx="3029712" cy="1609344"/>
          </a:xfrm>
          <a:prstGeom prst="roundRect">
            <a:avLst>
              <a:gd name="adj" fmla="val 4545"/>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1542776" y="7150607"/>
            <a:ext cx="640080" cy="640080"/>
          </a:xfrm>
          <a:prstGeom prst="ellipse">
            <a:avLst/>
          </a:prstGeom>
          <a:solidFill>
            <a:srgbClr val="EE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8" name="Picture 97" descr="sitemap_teal.png"/>
          <p:cNvPicPr>
            <a:picLocks noChangeAspect="1"/>
          </p:cNvPicPr>
          <p:nvPr/>
        </p:nvPicPr>
        <p:blipFill>
          <a:blip r:embed="rId16"/>
          <a:stretch>
            <a:fillRect/>
          </a:stretch>
        </p:blipFill>
        <p:spPr>
          <a:xfrm>
            <a:off x="11677192" y="7285024"/>
            <a:ext cx="371246" cy="371246"/>
          </a:xfrm>
          <a:prstGeom prst="rect">
            <a:avLst/>
          </a:prstGeom>
        </p:spPr>
      </p:pic>
      <p:sp>
        <p:nvSpPr>
          <p:cNvPr id="99" name="TextBox 98"/>
          <p:cNvSpPr txBox="1"/>
          <p:nvPr/>
        </p:nvSpPr>
        <p:spPr>
          <a:xfrm>
            <a:off x="12310872"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시스템 지식</a:t>
            </a:r>
          </a:p>
          <a:p>
            <a:pPr algn="l">
              <a:lnSpc>
                <a:spcPct val="100000"/>
              </a:lnSpc>
            </a:pPr>
            <a:r>
              <a:rPr sz="2000" b="1">
                <a:solidFill>
                  <a:srgbClr val="1A1A1A"/>
                </a:solidFill>
                <a:latin typeface="Arial"/>
                <a:ea typeface="Arial"/>
              </a:rPr>
              <a:t>확장</a:t>
            </a:r>
          </a:p>
        </p:txBody>
      </p:sp>
      <p:sp>
        <p:nvSpPr>
          <p:cNvPr id="100" name="TextBox 99"/>
          <p:cNvSpPr txBox="1"/>
          <p:nvPr/>
        </p:nvSpPr>
        <p:spPr>
          <a:xfrm>
            <a:off x="11561064"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워크로드 연구로</a:t>
            </a:r>
          </a:p>
          <a:p>
            <a:pPr algn="l">
              <a:lnSpc>
                <a:spcPct val="105000"/>
              </a:lnSpc>
            </a:pPr>
            <a:r>
              <a:rPr sz="1800" b="0">
                <a:solidFill>
                  <a:srgbClr val="555555"/>
                </a:solidFill>
                <a:latin typeface="Arial"/>
                <a:ea typeface="Arial"/>
              </a:rPr>
              <a:t>NAND · SSD에서 서버까지</a:t>
            </a:r>
          </a:p>
        </p:txBody>
      </p:sp>
      <p:sp>
        <p:nvSpPr>
          <p:cNvPr id="101" name="Rounded Rectangle 100"/>
          <p:cNvSpPr/>
          <p:nvPr/>
        </p:nvSpPr>
        <p:spPr>
          <a:xfrm>
            <a:off x="14535912" y="6986016"/>
            <a:ext cx="3029712" cy="1609344"/>
          </a:xfrm>
          <a:prstGeom prst="roundRect">
            <a:avLst>
              <a:gd name="adj" fmla="val 4545"/>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4700504" y="7150607"/>
            <a:ext cx="640080" cy="640080"/>
          </a:xfrm>
          <a:prstGeom prst="ellipse">
            <a:avLst/>
          </a:prstGeom>
          <a:solidFill>
            <a:srgbClr val="FD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3" name="Picture 102" descr="pencil-cog_orange.png"/>
          <p:cNvPicPr>
            <a:picLocks noChangeAspect="1"/>
          </p:cNvPicPr>
          <p:nvPr/>
        </p:nvPicPr>
        <p:blipFill>
          <a:blip r:embed="rId17"/>
          <a:stretch>
            <a:fillRect/>
          </a:stretch>
        </p:blipFill>
        <p:spPr>
          <a:xfrm>
            <a:off x="14834920" y="7285024"/>
            <a:ext cx="371246" cy="371246"/>
          </a:xfrm>
          <a:prstGeom prst="rect">
            <a:avLst/>
          </a:prstGeom>
        </p:spPr>
      </p:pic>
      <p:sp>
        <p:nvSpPr>
          <p:cNvPr id="104" name="TextBox 103"/>
          <p:cNvSpPr txBox="1"/>
          <p:nvPr/>
        </p:nvSpPr>
        <p:spPr>
          <a:xfrm>
            <a:off x="15468600" y="7114031"/>
            <a:ext cx="2005584" cy="713232"/>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SSD · 서버</a:t>
            </a:r>
          </a:p>
          <a:p>
            <a:pPr algn="l">
              <a:lnSpc>
                <a:spcPct val="100000"/>
              </a:lnSpc>
            </a:pPr>
            <a:r>
              <a:rPr sz="2000" b="1">
                <a:solidFill>
                  <a:srgbClr val="1A1A1A"/>
                </a:solidFill>
                <a:latin typeface="Arial"/>
                <a:ea typeface="Arial"/>
              </a:rPr>
              <a:t>공동 설계</a:t>
            </a:r>
          </a:p>
        </p:txBody>
      </p:sp>
      <p:sp>
        <p:nvSpPr>
          <p:cNvPr id="105" name="TextBox 104"/>
          <p:cNvSpPr txBox="1"/>
          <p:nvPr/>
        </p:nvSpPr>
        <p:spPr>
          <a:xfrm>
            <a:off x="14718792" y="7900416"/>
            <a:ext cx="2700528" cy="64008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AI 수요에 맞춰</a:t>
            </a:r>
          </a:p>
          <a:p>
            <a:pPr algn="l">
              <a:lnSpc>
                <a:spcPct val="105000"/>
              </a:lnSpc>
            </a:pPr>
            <a:r>
              <a:rPr sz="1800" b="0">
                <a:solidFill>
                  <a:srgbClr val="555555"/>
                </a:solidFill>
                <a:latin typeface="Arial"/>
                <a:ea typeface="Arial"/>
              </a:rPr>
              <a:t>기능과 구조를 함께 설계</a:t>
            </a:r>
          </a:p>
        </p:txBody>
      </p:sp>
      <p:sp>
        <p:nvSpPr>
          <p:cNvPr id="106" name="Rectangle 105"/>
          <p:cNvSpPr/>
          <p:nvPr/>
        </p:nvSpPr>
        <p:spPr>
          <a:xfrm>
            <a:off x="722376" y="8778240"/>
            <a:ext cx="16843248" cy="731520"/>
          </a:xfrm>
          <a:prstGeom prst="rect">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7CEDB"/>
                </a:solidFill>
                <a:latin typeface="Arial"/>
                <a:ea typeface="Arial"/>
              </a:rPr>
              <a:t>3-C</a:t>
            </a:r>
          </a:p>
        </p:txBody>
      </p:sp>
      <p:sp>
        <p:nvSpPr>
          <p:cNvPr id="108" name="TextBox 107"/>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a:t>
            </a:r>
            <a:r>
              <a:rPr sz="2400" b="1">
                <a:solidFill>
                  <a:srgbClr val="AFC0F2"/>
                </a:solidFill>
                <a:latin typeface="Arial"/>
                <a:ea typeface="Arial"/>
              </a:rPr>
              <a:t>전환</a:t>
            </a:r>
            <a:r>
              <a:rPr sz="2400" b="1">
                <a:solidFill>
                  <a:srgbClr val="FFFFFF"/>
                </a:solidFill>
                <a:latin typeface="Arial"/>
                <a:ea typeface="Arial"/>
              </a:rPr>
              <a:t>하고, 기술은 연속성 있게 </a:t>
            </a:r>
            <a:r>
              <a:rPr sz="2400" b="1">
                <a:solidFill>
                  <a:srgbClr val="8FDBD1"/>
                </a:solidFill>
                <a:latin typeface="Arial"/>
                <a:ea typeface="Arial"/>
              </a:rPr>
              <a:t>쌓고</a:t>
            </a:r>
            <a:r>
              <a:rPr sz="2400" b="1">
                <a:solidFill>
                  <a:srgbClr val="FFFFFF"/>
                </a:solidFill>
                <a:latin typeface="Arial"/>
                <a:ea typeface="Arial"/>
              </a:rPr>
              <a:t>, 미래는 고객과 함께 </a:t>
            </a:r>
            <a:r>
              <a:rPr sz="2400" b="1">
                <a:solidFill>
                  <a:srgbClr val="F7B987"/>
                </a:solidFill>
                <a:latin typeface="Arial"/>
                <a:ea typeface="Arial"/>
              </a:rPr>
              <a:t>설계</a:t>
            </a:r>
            <a:r>
              <a:rPr sz="2400" b="1">
                <a:solidFill>
                  <a:srgbClr val="FFFFFF"/>
                </a:solidFill>
                <a:latin typeface="Arial"/>
                <a:ea typeface="Arial"/>
              </a:rPr>
              <a:t>합니다</a:t>
            </a:r>
          </a:p>
        </p:txBody>
      </p:sp>
      <p:sp>
        <p:nvSpPr>
          <p:cNvPr id="109" name="TextBox 108"/>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 수치 주장 없음). 아이콘 Tabler Icons(MIT).</a:t>
            </a:r>
          </a:p>
          <a:p>
            <a:pPr algn="l">
              <a:lnSpc>
                <a:spcPct val="105000"/>
              </a:lnSpc>
            </a:pPr>
            <a:r>
              <a:rPr sz="1500" b="0">
                <a:solidFill>
                  <a:srgbClr val="555555"/>
                </a:solidFill>
                <a:latin typeface="Arial"/>
                <a:ea typeface="Arial"/>
              </a:rPr>
              <a:t>이미지: 전략 1 Cu/SiO2 하이브리드 본딩 단면 SEM(Hsu 외, Materials 2022, CC BY 4.0, 잘라 냄), 전략 2 삼성 FMS 2026 zHBM 전시, 전략 3 3D 렌더.</a:t>
            </a:r>
          </a:p>
        </p:txBody>
      </p:sp>
      <p:sp>
        <p:nvSpPr>
          <p:cNvPr id="110" name="TextBox 109"/>
          <p:cNvSpPr txBox="1"/>
          <p:nvPr/>
        </p:nvSpPr>
        <p:spPr>
          <a:xfrm>
            <a:off x="15736824" y="9601200"/>
            <a:ext cx="182880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B 컬러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3C4FA5"/>
                </a:solidFill>
                <a:latin typeface="Arial"/>
                <a:ea typeface="Arial"/>
              </a:rPr>
              <a:t>불확실성 대응 3-C 전략</a:t>
            </a:r>
            <a:r>
              <a:rPr sz="1800" b="0">
                <a:solidFill>
                  <a:srgbClr val="555555"/>
                </a:solidFill>
                <a:latin typeface="Arial"/>
                <a:ea typeface="Arial"/>
              </a:rPr>
              <a:t>   시안 C  3-C 기둥 구조형 · 컬러</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31520"/>
            <a:ext cx="16843248" cy="566928"/>
          </a:xfrm>
          <a:prstGeom prst="rect">
            <a:avLst/>
          </a:prstGeom>
          <a:noFill/>
        </p:spPr>
        <p:txBody>
          <a:bodyPr wrap="square" anchor="ctr" lIns="0" rIns="0" tIns="0" bIns="0">
            <a:spAutoFit/>
          </a:bodyPr>
          <a:lstStyle/>
          <a:p>
            <a:pPr algn="l">
              <a:lnSpc>
                <a:spcPct val="110000"/>
              </a:lnSpc>
            </a:pPr>
            <a:r>
              <a:rPr sz="3200" b="1">
                <a:solidFill>
                  <a:srgbClr val="1A1A1A"/>
                </a:solidFill>
                <a:latin typeface="Arial"/>
                <a:ea typeface="Arial"/>
              </a:rPr>
              <a:t>불확실성에 대응하는 전체 최적화 체계</a:t>
            </a:r>
          </a:p>
        </p:txBody>
      </p:sp>
      <p:sp>
        <p:nvSpPr>
          <p:cNvPr id="5" name="TextBox 4"/>
          <p:cNvSpPr txBox="1"/>
          <p:nvPr/>
        </p:nvSpPr>
        <p:spPr>
          <a:xfrm>
            <a:off x="722376" y="1316736"/>
            <a:ext cx="16843248" cy="420624"/>
          </a:xfrm>
          <a:prstGeom prst="rect">
            <a:avLst/>
          </a:prstGeom>
          <a:noFill/>
        </p:spPr>
        <p:txBody>
          <a:bodyPr wrap="square" anchor="ctr" lIns="0" rIns="0" tIns="0" bIns="0">
            <a:spAutoFit/>
          </a:bodyPr>
          <a:lstStyle/>
          <a:p>
            <a:pPr algn="l">
              <a:lnSpc>
                <a:spcPct val="110000"/>
              </a:lnSpc>
            </a:pPr>
            <a:r>
              <a:rPr sz="2200" b="0">
                <a:solidFill>
                  <a:srgbClr val="555555"/>
                </a:solidFill>
                <a:latin typeface="Arial"/>
                <a:ea typeface="Arial"/>
              </a:rPr>
              <a:t>수요 예측만으로는 부족합니다. 자원 · 기술 · 고객을 하나의 체계로 묶는 </a:t>
            </a:r>
            <a:r>
              <a:rPr sz="2200" b="1">
                <a:solidFill>
                  <a:srgbClr val="3C4FA5"/>
                </a:solidFill>
                <a:latin typeface="Arial"/>
                <a:ea typeface="Arial"/>
              </a:rPr>
              <a:t>3-C 전략</a:t>
            </a:r>
            <a:r>
              <a:rPr sz="2200" b="0">
                <a:solidFill>
                  <a:srgbClr val="555555"/>
                </a:solidFill>
                <a:latin typeface="Arial"/>
                <a:ea typeface="Arial"/>
              </a:rPr>
              <a:t>으로 대응합니다</a:t>
            </a:r>
          </a:p>
        </p:txBody>
      </p:sp>
      <p:sp>
        <p:nvSpPr>
          <p:cNvPr id="6" name="Rectangle 5"/>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4114800" y="2084831"/>
            <a:ext cx="13450824" cy="731520"/>
          </a:xfrm>
          <a:prstGeom prst="triangle">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7012" y="2414016"/>
            <a:ext cx="5486400" cy="365760"/>
          </a:xfrm>
          <a:prstGeom prst="rect">
            <a:avLst/>
          </a:prstGeom>
          <a:noFill/>
        </p:spPr>
        <p:txBody>
          <a:bodyPr wrap="square" anchor="ctr" lIns="0" rIns="0" tIns="0" bIns="0">
            <a:spAutoFit/>
          </a:bodyPr>
          <a:lstStyle/>
          <a:p>
            <a:pPr algn="ctr">
              <a:lnSpc>
                <a:spcPct val="110000"/>
              </a:lnSpc>
            </a:pPr>
            <a:r>
              <a:rPr sz="2200" b="1">
                <a:solidFill>
                  <a:srgbClr val="AFC0F2"/>
                </a:solidFill>
                <a:latin typeface="Arial"/>
                <a:ea typeface="Arial"/>
              </a:rPr>
              <a:t>3-C </a:t>
            </a:r>
            <a:r>
              <a:rPr sz="2200" b="1">
                <a:solidFill>
                  <a:srgbClr val="FFFFFF"/>
                </a:solidFill>
                <a:latin typeface="Arial"/>
                <a:ea typeface="Arial"/>
              </a:rPr>
              <a:t>전체 최적화 체계</a:t>
            </a:r>
          </a:p>
        </p:txBody>
      </p:sp>
      <p:sp>
        <p:nvSpPr>
          <p:cNvPr id="9" name="Rectangle 8"/>
          <p:cNvSpPr/>
          <p:nvPr/>
        </p:nvSpPr>
        <p:spPr>
          <a:xfrm>
            <a:off x="4114800" y="2834640"/>
            <a:ext cx="13450824" cy="91440"/>
          </a:xfrm>
          <a:prstGeom prst="rect">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0" y="2999232"/>
            <a:ext cx="4337304" cy="841248"/>
          </a:xfrm>
          <a:prstGeom prst="rect">
            <a:avLst/>
          </a:prstGeom>
          <a:solidFill>
            <a:srgbClr val="F0F2F8"/>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0" y="2999232"/>
            <a:ext cx="4337304" cy="73152"/>
          </a:xfrm>
          <a:prstGeom prst="rect">
            <a:avLst/>
          </a:prstGeom>
          <a:solidFill>
            <a:srgbClr val="3C4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rows-exchange_blue.png"/>
          <p:cNvPicPr>
            <a:picLocks noChangeAspect="1"/>
          </p:cNvPicPr>
          <p:nvPr/>
        </p:nvPicPr>
        <p:blipFill>
          <a:blip r:embed="rId2"/>
          <a:stretch>
            <a:fillRect/>
          </a:stretch>
        </p:blipFill>
        <p:spPr>
          <a:xfrm>
            <a:off x="4315968" y="3163824"/>
            <a:ext cx="512064" cy="512064"/>
          </a:xfrm>
          <a:prstGeom prst="rect">
            <a:avLst/>
          </a:prstGeom>
        </p:spPr>
      </p:pic>
      <p:sp>
        <p:nvSpPr>
          <p:cNvPr id="13" name="TextBox 12"/>
          <p:cNvSpPr txBox="1"/>
          <p:nvPr/>
        </p:nvSpPr>
        <p:spPr>
          <a:xfrm>
            <a:off x="4992624" y="2999232"/>
            <a:ext cx="3386328" cy="841248"/>
          </a:xfrm>
          <a:prstGeom prst="rect">
            <a:avLst/>
          </a:prstGeom>
          <a:noFill/>
        </p:spPr>
        <p:txBody>
          <a:bodyPr wrap="square" anchor="ctr" lIns="0" rIns="0" tIns="0" bIns="0">
            <a:spAutoFit/>
          </a:bodyPr>
          <a:lstStyle/>
          <a:p>
            <a:pPr algn="l">
              <a:lnSpc>
                <a:spcPct val="100000"/>
              </a:lnSpc>
            </a:pPr>
            <a:r>
              <a:rPr sz="2200" b="1">
                <a:solidFill>
                  <a:srgbClr val="3C4FA5"/>
                </a:solidFill>
                <a:latin typeface="Arial"/>
                <a:ea typeface="Arial"/>
              </a:rPr>
              <a:t>C1 </a:t>
            </a:r>
            <a:r>
              <a:rPr sz="2200" b="1">
                <a:solidFill>
                  <a:srgbClr val="1A1A1A"/>
                </a:solidFill>
                <a:latin typeface="Arial"/>
                <a:ea typeface="Arial"/>
              </a:rPr>
              <a:t>Convertibility</a:t>
            </a:r>
          </a:p>
          <a:p>
            <a:pPr algn="l">
              <a:lnSpc>
                <a:spcPct val="100000"/>
              </a:lnSpc>
            </a:pPr>
            <a:r>
              <a:rPr sz="1800" b="0">
                <a:solidFill>
                  <a:srgbClr val="555555"/>
                </a:solidFill>
                <a:latin typeface="Arial"/>
                <a:ea typeface="Arial"/>
              </a:rPr>
              <a:t>자원의 유연한 전환</a:t>
            </a:r>
          </a:p>
        </p:txBody>
      </p:sp>
      <p:sp>
        <p:nvSpPr>
          <p:cNvPr id="14" name="Rectangle 13"/>
          <p:cNvSpPr/>
          <p:nvPr/>
        </p:nvSpPr>
        <p:spPr>
          <a:xfrm>
            <a:off x="4261104" y="3840480"/>
            <a:ext cx="4044695" cy="4151376"/>
          </a:xfrm>
          <a:prstGeom prst="rect">
            <a:avLst/>
          </a:prstGeom>
          <a:solidFill>
            <a:srgbClr val="F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261104"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305799" y="3840480"/>
            <a:ext cx="0" cy="4151376"/>
          </a:xfrm>
          <a:prstGeom prst="line">
            <a:avLst/>
          </a:prstGeom>
          <a:ln w="19050">
            <a:solidFill>
              <a:srgbClr val="C0CAEC"/>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671560" y="2999232"/>
            <a:ext cx="4337304" cy="841248"/>
          </a:xfrm>
          <a:prstGeom prst="rect">
            <a:avLst/>
          </a:prstGeom>
          <a:solidFill>
            <a:srgbClr val="EEF7F6"/>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71560" y="2999232"/>
            <a:ext cx="4337304" cy="73152"/>
          </a:xfrm>
          <a:prstGeom prst="rect">
            <a:avLst/>
          </a:prstGeom>
          <a:solidFill>
            <a:srgbClr val="128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tack-push_teal.png"/>
          <p:cNvPicPr>
            <a:picLocks noChangeAspect="1"/>
          </p:cNvPicPr>
          <p:nvPr/>
        </p:nvPicPr>
        <p:blipFill>
          <a:blip r:embed="rId3"/>
          <a:stretch>
            <a:fillRect/>
          </a:stretch>
        </p:blipFill>
        <p:spPr>
          <a:xfrm>
            <a:off x="8872728" y="3163824"/>
            <a:ext cx="512064" cy="512064"/>
          </a:xfrm>
          <a:prstGeom prst="rect">
            <a:avLst/>
          </a:prstGeom>
        </p:spPr>
      </p:pic>
      <p:sp>
        <p:nvSpPr>
          <p:cNvPr id="20" name="TextBox 19"/>
          <p:cNvSpPr txBox="1"/>
          <p:nvPr/>
        </p:nvSpPr>
        <p:spPr>
          <a:xfrm>
            <a:off x="9549384" y="2999232"/>
            <a:ext cx="3386328" cy="841248"/>
          </a:xfrm>
          <a:prstGeom prst="rect">
            <a:avLst/>
          </a:prstGeom>
          <a:noFill/>
        </p:spPr>
        <p:txBody>
          <a:bodyPr wrap="square" anchor="ctr" lIns="0" rIns="0" tIns="0" bIns="0">
            <a:spAutoFit/>
          </a:bodyPr>
          <a:lstStyle/>
          <a:p>
            <a:pPr algn="l">
              <a:lnSpc>
                <a:spcPct val="100000"/>
              </a:lnSpc>
            </a:pPr>
            <a:r>
              <a:rPr sz="2200" b="1">
                <a:solidFill>
                  <a:srgbClr val="12857A"/>
                </a:solidFill>
                <a:latin typeface="Arial"/>
                <a:ea typeface="Arial"/>
              </a:rPr>
              <a:t>C2 </a:t>
            </a:r>
            <a:r>
              <a:rPr sz="2200" b="1">
                <a:solidFill>
                  <a:srgbClr val="1A1A1A"/>
                </a:solidFill>
                <a:latin typeface="Arial"/>
                <a:ea typeface="Arial"/>
              </a:rPr>
              <a:t>Continuity</a:t>
            </a:r>
          </a:p>
          <a:p>
            <a:pPr algn="l">
              <a:lnSpc>
                <a:spcPct val="100000"/>
              </a:lnSpc>
            </a:pPr>
            <a:r>
              <a:rPr sz="1800" b="0">
                <a:solidFill>
                  <a:srgbClr val="555555"/>
                </a:solidFill>
                <a:latin typeface="Arial"/>
                <a:ea typeface="Arial"/>
              </a:rPr>
              <a:t>연속성 있는 기술 축적</a:t>
            </a:r>
          </a:p>
        </p:txBody>
      </p:sp>
      <p:sp>
        <p:nvSpPr>
          <p:cNvPr id="21" name="Rectangle 20"/>
          <p:cNvSpPr/>
          <p:nvPr/>
        </p:nvSpPr>
        <p:spPr>
          <a:xfrm>
            <a:off x="8817864" y="3840480"/>
            <a:ext cx="4044695" cy="4151376"/>
          </a:xfrm>
          <a:prstGeom prst="rect">
            <a:avLst/>
          </a:prstGeom>
          <a:solidFill>
            <a:srgbClr val="EE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8817864" y="3840480"/>
            <a:ext cx="0" cy="4151376"/>
          </a:xfrm>
          <a:prstGeom prst="line">
            <a:avLst/>
          </a:prstGeom>
          <a:ln w="19050">
            <a:solidFill>
              <a:srgbClr val="B5E0D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862560" y="3840480"/>
            <a:ext cx="0" cy="4151376"/>
          </a:xfrm>
          <a:prstGeom prst="line">
            <a:avLst/>
          </a:prstGeom>
          <a:ln w="19050">
            <a:solidFill>
              <a:srgbClr val="B5E0DA"/>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3228320" y="2999232"/>
            <a:ext cx="4337304" cy="841248"/>
          </a:xfrm>
          <a:prstGeom prst="rect">
            <a:avLst/>
          </a:prstGeom>
          <a:solidFill>
            <a:srgbClr val="FDF3EC"/>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228320" y="2999232"/>
            <a:ext cx="4337304" cy="73152"/>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heart-handshake_orange.png"/>
          <p:cNvPicPr>
            <a:picLocks noChangeAspect="1"/>
          </p:cNvPicPr>
          <p:nvPr/>
        </p:nvPicPr>
        <p:blipFill>
          <a:blip r:embed="rId4"/>
          <a:stretch>
            <a:fillRect/>
          </a:stretch>
        </p:blipFill>
        <p:spPr>
          <a:xfrm>
            <a:off x="13429488" y="3163824"/>
            <a:ext cx="512064" cy="512064"/>
          </a:xfrm>
          <a:prstGeom prst="rect">
            <a:avLst/>
          </a:prstGeom>
        </p:spPr>
      </p:pic>
      <p:sp>
        <p:nvSpPr>
          <p:cNvPr id="27" name="TextBox 26"/>
          <p:cNvSpPr txBox="1"/>
          <p:nvPr/>
        </p:nvSpPr>
        <p:spPr>
          <a:xfrm>
            <a:off x="14106144" y="2999232"/>
            <a:ext cx="3386328" cy="841248"/>
          </a:xfrm>
          <a:prstGeom prst="rect">
            <a:avLst/>
          </a:prstGeom>
          <a:noFill/>
        </p:spPr>
        <p:txBody>
          <a:bodyPr wrap="square" anchor="ctr" lIns="0" rIns="0" tIns="0" bIns="0">
            <a:spAutoFit/>
          </a:bodyPr>
          <a:lstStyle/>
          <a:p>
            <a:pPr algn="l">
              <a:lnSpc>
                <a:spcPct val="100000"/>
              </a:lnSpc>
            </a:pPr>
            <a:r>
              <a:rPr sz="2200" b="1">
                <a:solidFill>
                  <a:srgbClr val="D2691E"/>
                </a:solidFill>
                <a:latin typeface="Arial"/>
                <a:ea typeface="Arial"/>
              </a:rPr>
              <a:t>C3 </a:t>
            </a:r>
            <a:r>
              <a:rPr sz="2200" b="1">
                <a:solidFill>
                  <a:srgbClr val="1A1A1A"/>
                </a:solidFill>
                <a:latin typeface="Arial"/>
                <a:ea typeface="Arial"/>
              </a:rPr>
              <a:t>Co-Creation</a:t>
            </a:r>
          </a:p>
          <a:p>
            <a:pPr algn="l">
              <a:lnSpc>
                <a:spcPct val="100000"/>
              </a:lnSpc>
            </a:pPr>
            <a:r>
              <a:rPr sz="1800" b="0">
                <a:solidFill>
                  <a:srgbClr val="555555"/>
                </a:solidFill>
                <a:latin typeface="Arial"/>
                <a:ea typeface="Arial"/>
              </a:rPr>
              <a:t>고객과 함께 미래를 설계</a:t>
            </a:r>
          </a:p>
        </p:txBody>
      </p:sp>
      <p:sp>
        <p:nvSpPr>
          <p:cNvPr id="28" name="Rectangle 27"/>
          <p:cNvSpPr/>
          <p:nvPr/>
        </p:nvSpPr>
        <p:spPr>
          <a:xfrm>
            <a:off x="13374624" y="3840480"/>
            <a:ext cx="4044695" cy="4151376"/>
          </a:xfrm>
          <a:prstGeom prst="rect">
            <a:avLst/>
          </a:prstGeom>
          <a:solidFill>
            <a:srgbClr val="FD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3374624" y="3840480"/>
            <a:ext cx="0" cy="4151376"/>
          </a:xfrm>
          <a:prstGeom prst="line">
            <a:avLst/>
          </a:prstGeom>
          <a:ln w="19050">
            <a:solidFill>
              <a:srgbClr val="F6D2B5"/>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7419320" y="3840480"/>
            <a:ext cx="0" cy="4151376"/>
          </a:xfrm>
          <a:prstGeom prst="line">
            <a:avLst/>
          </a:prstGeom>
          <a:ln w="19050">
            <a:solidFill>
              <a:srgbClr val="F6D2B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22376" y="2999232"/>
            <a:ext cx="3246120" cy="786384"/>
          </a:xfrm>
          <a:prstGeom prst="rect">
            <a:avLst/>
          </a:prstGeom>
          <a:noFill/>
        </p:spPr>
        <p:txBody>
          <a:bodyPr wrap="square" anchor="b" lIns="0" rIns="0" tIns="0" bIns="0">
            <a:spAutoFit/>
          </a:bodyPr>
          <a:lstStyle/>
          <a:p>
            <a:pPr algn="l">
              <a:lnSpc>
                <a:spcPct val="110000"/>
              </a:lnSpc>
            </a:pPr>
            <a:r>
              <a:rPr sz="2000" b="1">
                <a:solidFill>
                  <a:srgbClr val="555555"/>
                </a:solidFill>
                <a:latin typeface="Arial"/>
                <a:ea typeface="Arial"/>
              </a:rPr>
              <a:t>3대 전략</a:t>
            </a:r>
          </a:p>
        </p:txBody>
      </p:sp>
      <p:sp>
        <p:nvSpPr>
          <p:cNvPr id="32" name="Rectangle 31"/>
          <p:cNvSpPr/>
          <p:nvPr/>
        </p:nvSpPr>
        <p:spPr>
          <a:xfrm>
            <a:off x="3877056" y="4553712"/>
            <a:ext cx="13688568" cy="54864"/>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22376" y="3950208"/>
            <a:ext cx="3246120" cy="1261872"/>
          </a:xfrm>
          <a:prstGeom prst="roundRect">
            <a:avLst>
              <a:gd name="adj" fmla="val 5797"/>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bonding_sem.jpg"/>
          <p:cNvPicPr>
            <a:picLocks noChangeAspect="1"/>
          </p:cNvPicPr>
          <p:nvPr/>
        </p:nvPicPr>
        <p:blipFill>
          <a:blip r:embed="rId5"/>
          <a:stretch>
            <a:fillRect/>
          </a:stretch>
        </p:blipFill>
        <p:spPr>
          <a:xfrm>
            <a:off x="832104" y="4316923"/>
            <a:ext cx="932688" cy="528440"/>
          </a:xfrm>
          <a:prstGeom prst="rect">
            <a:avLst/>
          </a:prstGeom>
        </p:spPr>
      </p:pic>
      <p:sp>
        <p:nvSpPr>
          <p:cNvPr id="35" name="Rectangle 34"/>
          <p:cNvSpPr/>
          <p:nvPr/>
        </p:nvSpPr>
        <p:spPr>
          <a:xfrm>
            <a:off x="832104" y="4316923"/>
            <a:ext cx="932688" cy="52844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74519" y="3986784"/>
            <a:ext cx="2039111" cy="1188719"/>
          </a:xfrm>
          <a:prstGeom prst="rect">
            <a:avLst/>
          </a:prstGeom>
          <a:noFill/>
        </p:spPr>
        <p:txBody>
          <a:bodyPr wrap="square" anchor="ctr" lIns="0" rIns="0" tIns="0" bIns="0">
            <a:spAutoFit/>
          </a:bodyPr>
          <a:lstStyle/>
          <a:p>
            <a:pPr algn="l">
              <a:lnSpc>
                <a:spcPct val="100000"/>
              </a:lnSpc>
            </a:pPr>
            <a:r>
              <a:rPr sz="1800" b="1">
                <a:solidFill>
                  <a:srgbClr val="334155"/>
                </a:solidFill>
                <a:latin typeface="Arial"/>
                <a:ea typeface="Arial"/>
              </a:rPr>
              <a:t>전략 1</a:t>
            </a:r>
          </a:p>
          <a:p>
            <a:pPr algn="l">
              <a:lnSpc>
                <a:spcPct val="100000"/>
              </a:lnSpc>
            </a:pPr>
            <a:r>
              <a:rPr sz="2000" b="1">
                <a:solidFill>
                  <a:srgbClr val="1A1A1A"/>
                </a:solidFill>
                <a:latin typeface="Arial"/>
                <a:ea typeface="Arial"/>
              </a:rPr>
              <a:t>Bonding 기반</a:t>
            </a:r>
          </a:p>
          <a:p>
            <a:pPr algn="l">
              <a:lnSpc>
                <a:spcPct val="100000"/>
              </a:lnSpc>
            </a:pPr>
            <a:r>
              <a:rPr sz="2000" b="1">
                <a:solidFill>
                  <a:srgbClr val="1A1A1A"/>
                </a:solidFill>
                <a:latin typeface="Arial"/>
                <a:ea typeface="Arial"/>
              </a:rPr>
              <a:t>DRAM · NAND</a:t>
            </a:r>
          </a:p>
          <a:p>
            <a:pPr algn="l">
              <a:lnSpc>
                <a:spcPct val="100000"/>
              </a:lnSpc>
            </a:pPr>
            <a:r>
              <a:rPr sz="2000" b="1">
                <a:solidFill>
                  <a:srgbClr val="1A1A1A"/>
                </a:solidFill>
                <a:latin typeface="Arial"/>
                <a:ea typeface="Arial"/>
              </a:rPr>
              <a:t>통합 제조</a:t>
            </a:r>
          </a:p>
        </p:txBody>
      </p:sp>
      <p:sp>
        <p:nvSpPr>
          <p:cNvPr id="37" name="Rounded Rectangle 36"/>
          <p:cNvSpPr/>
          <p:nvPr/>
        </p:nvSpPr>
        <p:spPr>
          <a:xfrm>
            <a:off x="4352544" y="3950208"/>
            <a:ext cx="3861815" cy="1261872"/>
          </a:xfrm>
          <a:prstGeom prst="roundRect">
            <a:avLst>
              <a:gd name="adj" fmla="val 5797"/>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building-factory-2_blue.png"/>
          <p:cNvPicPr>
            <a:picLocks noChangeAspect="1"/>
          </p:cNvPicPr>
          <p:nvPr/>
        </p:nvPicPr>
        <p:blipFill>
          <a:blip r:embed="rId6"/>
          <a:stretch>
            <a:fillRect/>
          </a:stretch>
        </p:blipFill>
        <p:spPr>
          <a:xfrm>
            <a:off x="4517136" y="4096512"/>
            <a:ext cx="493776" cy="493776"/>
          </a:xfrm>
          <a:prstGeom prst="rect">
            <a:avLst/>
          </a:prstGeom>
        </p:spPr>
      </p:pic>
      <p:sp>
        <p:nvSpPr>
          <p:cNvPr id="39" name="TextBox 38"/>
          <p:cNvSpPr txBox="1"/>
          <p:nvPr/>
        </p:nvSpPr>
        <p:spPr>
          <a:xfrm>
            <a:off x="513892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제조라인 공용화</a:t>
            </a:r>
          </a:p>
        </p:txBody>
      </p:sp>
      <p:sp>
        <p:nvSpPr>
          <p:cNvPr id="40" name="TextBox 39"/>
          <p:cNvSpPr txBox="1"/>
          <p:nvPr/>
        </p:nvSpPr>
        <p:spPr>
          <a:xfrm>
            <a:off x="453542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수요에 따라</a:t>
            </a:r>
          </a:p>
          <a:p>
            <a:pPr algn="l">
              <a:lnSpc>
                <a:spcPct val="100000"/>
              </a:lnSpc>
            </a:pPr>
            <a:r>
              <a:rPr sz="1800" b="0">
                <a:solidFill>
                  <a:srgbClr val="555555"/>
                </a:solidFill>
                <a:latin typeface="Arial"/>
                <a:ea typeface="Arial"/>
              </a:rPr>
              <a:t>DRAM ↔ NAND 전환</a:t>
            </a:r>
          </a:p>
        </p:txBody>
      </p:sp>
      <p:sp>
        <p:nvSpPr>
          <p:cNvPr id="41" name="Rounded Rectangle 40"/>
          <p:cNvSpPr/>
          <p:nvPr/>
        </p:nvSpPr>
        <p:spPr>
          <a:xfrm>
            <a:off x="8909304" y="3950208"/>
            <a:ext cx="3861815" cy="1261872"/>
          </a:xfrm>
          <a:prstGeom prst="roundRect">
            <a:avLst>
              <a:gd name="adj" fmla="val 5797"/>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recycle_teal.png"/>
          <p:cNvPicPr>
            <a:picLocks noChangeAspect="1"/>
          </p:cNvPicPr>
          <p:nvPr/>
        </p:nvPicPr>
        <p:blipFill>
          <a:blip r:embed="rId7"/>
          <a:stretch>
            <a:fillRect/>
          </a:stretch>
        </p:blipFill>
        <p:spPr>
          <a:xfrm>
            <a:off x="9073896" y="4096512"/>
            <a:ext cx="493776" cy="493776"/>
          </a:xfrm>
          <a:prstGeom prst="rect">
            <a:avLst/>
          </a:prstGeom>
        </p:spPr>
      </p:pic>
      <p:sp>
        <p:nvSpPr>
          <p:cNvPr id="43" name="TextBox 42"/>
          <p:cNvSpPr txBox="1"/>
          <p:nvPr/>
        </p:nvSpPr>
        <p:spPr>
          <a:xfrm>
            <a:off x="969568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Legacy Cell 자산화</a:t>
            </a:r>
          </a:p>
        </p:txBody>
      </p:sp>
      <p:sp>
        <p:nvSpPr>
          <p:cNvPr id="44" name="TextBox 43"/>
          <p:cNvSpPr txBox="1"/>
          <p:nvPr/>
        </p:nvSpPr>
        <p:spPr>
          <a:xfrm>
            <a:off x="909218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검증된 DRAM Cell 기술을</a:t>
            </a:r>
          </a:p>
          <a:p>
            <a:pPr algn="l">
              <a:lnSpc>
                <a:spcPct val="100000"/>
              </a:lnSpc>
            </a:pPr>
            <a:r>
              <a:rPr sz="1800" b="0">
                <a:solidFill>
                  <a:srgbClr val="555555"/>
                </a:solidFill>
                <a:latin typeface="Arial"/>
                <a:ea typeface="Arial"/>
              </a:rPr>
              <a:t>그대로 활용</a:t>
            </a:r>
          </a:p>
        </p:txBody>
      </p:sp>
      <p:sp>
        <p:nvSpPr>
          <p:cNvPr id="45" name="Rounded Rectangle 44"/>
          <p:cNvSpPr/>
          <p:nvPr/>
        </p:nvSpPr>
        <p:spPr>
          <a:xfrm>
            <a:off x="13466064" y="3950208"/>
            <a:ext cx="3861815" cy="1261872"/>
          </a:xfrm>
          <a:prstGeom prst="roundRect">
            <a:avLst>
              <a:gd name="adj" fmla="val 5797"/>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adjustments-horizontal_orange.png"/>
          <p:cNvPicPr>
            <a:picLocks noChangeAspect="1"/>
          </p:cNvPicPr>
          <p:nvPr/>
        </p:nvPicPr>
        <p:blipFill>
          <a:blip r:embed="rId8"/>
          <a:stretch>
            <a:fillRect/>
          </a:stretch>
        </p:blipFill>
        <p:spPr>
          <a:xfrm>
            <a:off x="13630656" y="4096512"/>
            <a:ext cx="493776" cy="493776"/>
          </a:xfrm>
          <a:prstGeom prst="rect">
            <a:avLst/>
          </a:prstGeom>
        </p:spPr>
      </p:pic>
      <p:sp>
        <p:nvSpPr>
          <p:cNvPr id="47" name="TextBox 46"/>
          <p:cNvSpPr txBox="1"/>
          <p:nvPr/>
        </p:nvSpPr>
        <p:spPr>
          <a:xfrm>
            <a:off x="14252448" y="4005072"/>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Peripherals 맞춤 제공</a:t>
            </a:r>
          </a:p>
        </p:txBody>
      </p:sp>
      <p:sp>
        <p:nvSpPr>
          <p:cNvPr id="48" name="TextBox 47"/>
          <p:cNvSpPr txBox="1"/>
          <p:nvPr/>
        </p:nvSpPr>
        <p:spPr>
          <a:xfrm>
            <a:off x="13648944" y="4608576"/>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Cell은 공통,</a:t>
            </a:r>
          </a:p>
          <a:p>
            <a:pPr algn="l">
              <a:lnSpc>
                <a:spcPct val="100000"/>
              </a:lnSpc>
            </a:pPr>
            <a:r>
              <a:rPr sz="1800" b="0">
                <a:solidFill>
                  <a:srgbClr val="555555"/>
                </a:solidFill>
                <a:latin typeface="Arial"/>
                <a:ea typeface="Arial"/>
              </a:rPr>
              <a:t>Peri는 고객별 맞춤</a:t>
            </a:r>
          </a:p>
        </p:txBody>
      </p:sp>
      <p:sp>
        <p:nvSpPr>
          <p:cNvPr id="49" name="Rectangle 48"/>
          <p:cNvSpPr/>
          <p:nvPr/>
        </p:nvSpPr>
        <p:spPr>
          <a:xfrm>
            <a:off x="3877056" y="5907024"/>
            <a:ext cx="13688568" cy="54864"/>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22376" y="5303520"/>
            <a:ext cx="3246120" cy="1261872"/>
          </a:xfrm>
          <a:prstGeom prst="roundRect">
            <a:avLst>
              <a:gd name="adj" fmla="val 5797"/>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zhbm.jpg"/>
          <p:cNvPicPr>
            <a:picLocks noChangeAspect="1"/>
          </p:cNvPicPr>
          <p:nvPr/>
        </p:nvPicPr>
        <p:blipFill>
          <a:blip r:embed="rId9"/>
          <a:stretch>
            <a:fillRect/>
          </a:stretch>
        </p:blipFill>
        <p:spPr>
          <a:xfrm>
            <a:off x="832104" y="5463035"/>
            <a:ext cx="932688" cy="942841"/>
          </a:xfrm>
          <a:prstGeom prst="rect">
            <a:avLst/>
          </a:prstGeom>
        </p:spPr>
      </p:pic>
      <p:sp>
        <p:nvSpPr>
          <p:cNvPr id="52" name="Rectangle 51"/>
          <p:cNvSpPr/>
          <p:nvPr/>
        </p:nvSpPr>
        <p:spPr>
          <a:xfrm>
            <a:off x="832104" y="5463035"/>
            <a:ext cx="932688" cy="942841"/>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874519" y="5340096"/>
            <a:ext cx="2039111" cy="1188719"/>
          </a:xfrm>
          <a:prstGeom prst="rect">
            <a:avLst/>
          </a:prstGeom>
          <a:noFill/>
        </p:spPr>
        <p:txBody>
          <a:bodyPr wrap="square" anchor="ctr" lIns="0" rIns="0" tIns="0" bIns="0">
            <a:spAutoFit/>
          </a:bodyPr>
          <a:lstStyle/>
          <a:p>
            <a:pPr algn="l">
              <a:lnSpc>
                <a:spcPct val="100000"/>
              </a:lnSpc>
            </a:pPr>
            <a:r>
              <a:rPr sz="1800" b="1">
                <a:solidFill>
                  <a:srgbClr val="334155"/>
                </a:solidFill>
                <a:latin typeface="Arial"/>
                <a:ea typeface="Arial"/>
              </a:rPr>
              <a:t>전략 2</a:t>
            </a:r>
          </a:p>
          <a:p>
            <a:pPr algn="l">
              <a:lnSpc>
                <a:spcPct val="100000"/>
              </a:lnSpc>
            </a:pPr>
            <a:r>
              <a:rPr sz="2000" b="1">
                <a:solidFill>
                  <a:srgbClr val="1A1A1A"/>
                </a:solidFill>
                <a:latin typeface="Arial"/>
                <a:ea typeface="Arial"/>
              </a:rPr>
              <a:t>고객 맞춤형</a:t>
            </a:r>
          </a:p>
          <a:p>
            <a:pPr algn="l">
              <a:lnSpc>
                <a:spcPct val="100000"/>
              </a:lnSpc>
            </a:pPr>
            <a:r>
              <a:rPr sz="2000" b="1">
                <a:solidFill>
                  <a:srgbClr val="1A1A1A"/>
                </a:solidFill>
                <a:latin typeface="Arial"/>
                <a:ea typeface="Arial"/>
              </a:rPr>
              <a:t>차세대 메모리</a:t>
            </a:r>
          </a:p>
          <a:p>
            <a:pPr algn="l">
              <a:lnSpc>
                <a:spcPct val="100000"/>
              </a:lnSpc>
            </a:pPr>
            <a:r>
              <a:rPr sz="2000" b="1">
                <a:solidFill>
                  <a:srgbClr val="1A1A1A"/>
                </a:solidFill>
                <a:latin typeface="Arial"/>
                <a:ea typeface="Arial"/>
              </a:rPr>
              <a:t>개발</a:t>
            </a:r>
          </a:p>
        </p:txBody>
      </p:sp>
      <p:sp>
        <p:nvSpPr>
          <p:cNvPr id="54" name="Rounded Rectangle 53"/>
          <p:cNvSpPr/>
          <p:nvPr/>
        </p:nvSpPr>
        <p:spPr>
          <a:xfrm>
            <a:off x="4352544" y="5303520"/>
            <a:ext cx="3861815" cy="1261872"/>
          </a:xfrm>
          <a:prstGeom prst="roundRect">
            <a:avLst>
              <a:gd name="adj" fmla="val 5797"/>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cpu-2_blue.png"/>
          <p:cNvPicPr>
            <a:picLocks noChangeAspect="1"/>
          </p:cNvPicPr>
          <p:nvPr/>
        </p:nvPicPr>
        <p:blipFill>
          <a:blip r:embed="rId10"/>
          <a:stretch>
            <a:fillRect/>
          </a:stretch>
        </p:blipFill>
        <p:spPr>
          <a:xfrm>
            <a:off x="4517136" y="5449824"/>
            <a:ext cx="493776" cy="493776"/>
          </a:xfrm>
          <a:prstGeom prst="rect">
            <a:avLst/>
          </a:prstGeom>
        </p:spPr>
      </p:pic>
      <p:sp>
        <p:nvSpPr>
          <p:cNvPr id="56" name="TextBox 55"/>
          <p:cNvSpPr txBox="1"/>
          <p:nvPr/>
        </p:nvSpPr>
        <p:spPr>
          <a:xfrm>
            <a:off x="513892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로직 IP 역량 전환</a:t>
            </a:r>
          </a:p>
        </p:txBody>
      </p:sp>
      <p:sp>
        <p:nvSpPr>
          <p:cNvPr id="57" name="TextBox 56"/>
          <p:cNvSpPr txBox="1"/>
          <p:nvPr/>
        </p:nvSpPr>
        <p:spPr>
          <a:xfrm>
            <a:off x="453542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설계 역량 · 자원을</a:t>
            </a:r>
          </a:p>
          <a:p>
            <a:pPr algn="l">
              <a:lnSpc>
                <a:spcPct val="100000"/>
              </a:lnSpc>
            </a:pPr>
            <a:r>
              <a:rPr sz="1800" b="0">
                <a:solidFill>
                  <a:srgbClr val="555555"/>
                </a:solidFill>
                <a:latin typeface="Arial"/>
                <a:ea typeface="Arial"/>
              </a:rPr>
              <a:t>메모리 로직 IP로</a:t>
            </a:r>
          </a:p>
        </p:txBody>
      </p:sp>
      <p:sp>
        <p:nvSpPr>
          <p:cNvPr id="58" name="Rounded Rectangle 57"/>
          <p:cNvSpPr/>
          <p:nvPr/>
        </p:nvSpPr>
        <p:spPr>
          <a:xfrm>
            <a:off x="8909304" y="5303520"/>
            <a:ext cx="3861815" cy="1261872"/>
          </a:xfrm>
          <a:prstGeom prst="roundRect">
            <a:avLst>
              <a:gd name="adj" fmla="val 5797"/>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shield-check_teal.png"/>
          <p:cNvPicPr>
            <a:picLocks noChangeAspect="1"/>
          </p:cNvPicPr>
          <p:nvPr/>
        </p:nvPicPr>
        <p:blipFill>
          <a:blip r:embed="rId11"/>
          <a:stretch>
            <a:fillRect/>
          </a:stretch>
        </p:blipFill>
        <p:spPr>
          <a:xfrm>
            <a:off x="9073896" y="5449824"/>
            <a:ext cx="493776" cy="493776"/>
          </a:xfrm>
          <a:prstGeom prst="rect">
            <a:avLst/>
          </a:prstGeom>
        </p:spPr>
      </p:pic>
      <p:sp>
        <p:nvSpPr>
          <p:cNvPr id="60" name="TextBox 59"/>
          <p:cNvSpPr txBox="1"/>
          <p:nvPr/>
        </p:nvSpPr>
        <p:spPr>
          <a:xfrm>
            <a:off x="969568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검증된 품질 · 적기 공급</a:t>
            </a:r>
          </a:p>
        </p:txBody>
      </p:sp>
      <p:sp>
        <p:nvSpPr>
          <p:cNvPr id="61" name="TextBox 60"/>
          <p:cNvSpPr txBox="1"/>
          <p:nvPr/>
        </p:nvSpPr>
        <p:spPr>
          <a:xfrm>
            <a:off x="909218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양산으로 검증된 품질을</a:t>
            </a:r>
          </a:p>
          <a:p>
            <a:pPr algn="l">
              <a:lnSpc>
                <a:spcPct val="100000"/>
              </a:lnSpc>
            </a:pPr>
            <a:r>
              <a:rPr sz="1800" b="0">
                <a:solidFill>
                  <a:srgbClr val="555555"/>
                </a:solidFill>
                <a:latin typeface="Arial"/>
                <a:ea typeface="Arial"/>
              </a:rPr>
              <a:t>제때 공급</a:t>
            </a:r>
          </a:p>
        </p:txBody>
      </p:sp>
      <p:sp>
        <p:nvSpPr>
          <p:cNvPr id="62" name="Rounded Rectangle 61"/>
          <p:cNvSpPr/>
          <p:nvPr/>
        </p:nvSpPr>
        <p:spPr>
          <a:xfrm>
            <a:off x="13466064" y="5303520"/>
            <a:ext cx="3861815" cy="1261872"/>
          </a:xfrm>
          <a:prstGeom prst="roundRect">
            <a:avLst>
              <a:gd name="adj" fmla="val 5797"/>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puzzle_orange.png"/>
          <p:cNvPicPr>
            <a:picLocks noChangeAspect="1"/>
          </p:cNvPicPr>
          <p:nvPr/>
        </p:nvPicPr>
        <p:blipFill>
          <a:blip r:embed="rId12"/>
          <a:stretch>
            <a:fillRect/>
          </a:stretch>
        </p:blipFill>
        <p:spPr>
          <a:xfrm>
            <a:off x="13630656" y="5449824"/>
            <a:ext cx="493776" cy="493776"/>
          </a:xfrm>
          <a:prstGeom prst="rect">
            <a:avLst/>
          </a:prstGeom>
        </p:spPr>
      </p:pic>
      <p:sp>
        <p:nvSpPr>
          <p:cNvPr id="64" name="TextBox 63"/>
          <p:cNvSpPr txBox="1"/>
          <p:nvPr/>
        </p:nvSpPr>
        <p:spPr>
          <a:xfrm>
            <a:off x="14252448" y="5358384"/>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Custom Logic 협업</a:t>
            </a:r>
          </a:p>
        </p:txBody>
      </p:sp>
      <p:sp>
        <p:nvSpPr>
          <p:cNvPr id="65" name="TextBox 64"/>
          <p:cNvSpPr txBox="1"/>
          <p:nvPr/>
        </p:nvSpPr>
        <p:spPr>
          <a:xfrm>
            <a:off x="13648944" y="5961888"/>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가속기별 로직을</a:t>
            </a:r>
          </a:p>
          <a:p>
            <a:pPr algn="l">
              <a:lnSpc>
                <a:spcPct val="100000"/>
              </a:lnSpc>
            </a:pPr>
            <a:r>
              <a:rPr sz="1800" b="0">
                <a:solidFill>
                  <a:srgbClr val="555555"/>
                </a:solidFill>
                <a:latin typeface="Arial"/>
                <a:ea typeface="Arial"/>
              </a:rPr>
              <a:t>고객과 함께 설계</a:t>
            </a:r>
          </a:p>
        </p:txBody>
      </p:sp>
      <p:sp>
        <p:nvSpPr>
          <p:cNvPr id="66" name="Rectangle 65"/>
          <p:cNvSpPr/>
          <p:nvPr/>
        </p:nvSpPr>
        <p:spPr>
          <a:xfrm>
            <a:off x="3877056" y="7260336"/>
            <a:ext cx="13688568" cy="54864"/>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22376" y="6656832"/>
            <a:ext cx="3246120" cy="1261872"/>
          </a:xfrm>
          <a:prstGeom prst="roundRect">
            <a:avLst>
              <a:gd name="adj" fmla="val 5797"/>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render_ssd.png"/>
          <p:cNvPicPr>
            <a:picLocks noChangeAspect="1"/>
          </p:cNvPicPr>
          <p:nvPr/>
        </p:nvPicPr>
        <p:blipFill>
          <a:blip r:embed="rId13"/>
          <a:stretch>
            <a:fillRect/>
          </a:stretch>
        </p:blipFill>
        <p:spPr>
          <a:xfrm>
            <a:off x="832104" y="6822747"/>
            <a:ext cx="932688" cy="346288"/>
          </a:xfrm>
          <a:prstGeom prst="rect">
            <a:avLst/>
          </a:prstGeom>
        </p:spPr>
      </p:pic>
      <p:pic>
        <p:nvPicPr>
          <p:cNvPr id="69" name="Picture 68" descr="render_server.png"/>
          <p:cNvPicPr>
            <a:picLocks noChangeAspect="1"/>
          </p:cNvPicPr>
          <p:nvPr/>
        </p:nvPicPr>
        <p:blipFill>
          <a:blip r:embed="rId14"/>
          <a:stretch>
            <a:fillRect/>
          </a:stretch>
        </p:blipFill>
        <p:spPr>
          <a:xfrm>
            <a:off x="864638" y="7298375"/>
            <a:ext cx="867619" cy="510600"/>
          </a:xfrm>
          <a:prstGeom prst="rect">
            <a:avLst/>
          </a:prstGeom>
        </p:spPr>
      </p:pic>
      <p:sp>
        <p:nvSpPr>
          <p:cNvPr id="70" name="TextBox 69"/>
          <p:cNvSpPr txBox="1"/>
          <p:nvPr/>
        </p:nvSpPr>
        <p:spPr>
          <a:xfrm>
            <a:off x="1874519" y="6693408"/>
            <a:ext cx="2039111" cy="1188719"/>
          </a:xfrm>
          <a:prstGeom prst="rect">
            <a:avLst/>
          </a:prstGeom>
          <a:noFill/>
        </p:spPr>
        <p:txBody>
          <a:bodyPr wrap="square" anchor="ctr" lIns="0" rIns="0" tIns="0" bIns="0">
            <a:spAutoFit/>
          </a:bodyPr>
          <a:lstStyle/>
          <a:p>
            <a:pPr algn="l">
              <a:lnSpc>
                <a:spcPct val="100000"/>
              </a:lnSpc>
            </a:pPr>
            <a:r>
              <a:rPr sz="1800" b="1">
                <a:solidFill>
                  <a:srgbClr val="334155"/>
                </a:solidFill>
                <a:latin typeface="Arial"/>
                <a:ea typeface="Arial"/>
              </a:rPr>
              <a:t>전략 3</a:t>
            </a:r>
          </a:p>
          <a:p>
            <a:pPr algn="l">
              <a:lnSpc>
                <a:spcPct val="100000"/>
              </a:lnSpc>
            </a:pPr>
            <a:r>
              <a:rPr sz="2000" b="1">
                <a:solidFill>
                  <a:srgbClr val="1A1A1A"/>
                </a:solidFill>
                <a:latin typeface="Arial"/>
                <a:ea typeface="Arial"/>
              </a:rPr>
              <a:t>고객 시스템을</a:t>
            </a:r>
          </a:p>
          <a:p>
            <a:pPr algn="l">
              <a:lnSpc>
                <a:spcPct val="100000"/>
              </a:lnSpc>
            </a:pPr>
            <a:r>
              <a:rPr sz="2000" b="1">
                <a:solidFill>
                  <a:srgbClr val="1A1A1A"/>
                </a:solidFill>
                <a:latin typeface="Arial"/>
                <a:ea typeface="Arial"/>
              </a:rPr>
              <a:t>고려한 스토리지</a:t>
            </a:r>
          </a:p>
          <a:p>
            <a:pPr algn="l">
              <a:lnSpc>
                <a:spcPct val="100000"/>
              </a:lnSpc>
            </a:pPr>
            <a:r>
              <a:rPr sz="2000" b="1">
                <a:solidFill>
                  <a:srgbClr val="1A1A1A"/>
                </a:solidFill>
                <a:latin typeface="Arial"/>
                <a:ea typeface="Arial"/>
              </a:rPr>
              <a:t>개발</a:t>
            </a:r>
          </a:p>
        </p:txBody>
      </p:sp>
      <p:sp>
        <p:nvSpPr>
          <p:cNvPr id="71" name="Rounded Rectangle 70"/>
          <p:cNvSpPr/>
          <p:nvPr/>
        </p:nvSpPr>
        <p:spPr>
          <a:xfrm>
            <a:off x="4352544" y="6656832"/>
            <a:ext cx="3861815" cy="1261872"/>
          </a:xfrm>
          <a:prstGeom prst="roundRect">
            <a:avLst>
              <a:gd name="adj" fmla="val 5797"/>
            </a:avLst>
          </a:prstGeom>
          <a:solidFill>
            <a:srgbClr val="FFFFFF"/>
          </a:solidFill>
          <a:ln w="12700">
            <a:solidFill>
              <a:srgbClr val="C0CA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radar_blue.png"/>
          <p:cNvPicPr>
            <a:picLocks noChangeAspect="1"/>
          </p:cNvPicPr>
          <p:nvPr/>
        </p:nvPicPr>
        <p:blipFill>
          <a:blip r:embed="rId15"/>
          <a:stretch>
            <a:fillRect/>
          </a:stretch>
        </p:blipFill>
        <p:spPr>
          <a:xfrm>
            <a:off x="4517136" y="6803136"/>
            <a:ext cx="493776" cy="493776"/>
          </a:xfrm>
          <a:prstGeom prst="rect">
            <a:avLst/>
          </a:prstGeom>
        </p:spPr>
      </p:pic>
      <p:sp>
        <p:nvSpPr>
          <p:cNvPr id="73" name="TextBox 72"/>
          <p:cNvSpPr txBox="1"/>
          <p:nvPr/>
        </p:nvSpPr>
        <p:spPr>
          <a:xfrm>
            <a:off x="513892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기술 변화 조기 센싱</a:t>
            </a:r>
          </a:p>
        </p:txBody>
      </p:sp>
      <p:sp>
        <p:nvSpPr>
          <p:cNvPr id="74" name="TextBox 73"/>
          <p:cNvSpPr txBox="1"/>
          <p:nvPr/>
        </p:nvSpPr>
        <p:spPr>
          <a:xfrm>
            <a:off x="453542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고객과 먼저 감지하고</a:t>
            </a:r>
          </a:p>
          <a:p>
            <a:pPr algn="l">
              <a:lnSpc>
                <a:spcPct val="100000"/>
              </a:lnSpc>
            </a:pPr>
            <a:r>
              <a:rPr sz="1800" b="0">
                <a:solidFill>
                  <a:srgbClr val="555555"/>
                </a:solidFill>
                <a:latin typeface="Arial"/>
                <a:ea typeface="Arial"/>
              </a:rPr>
              <a:t>차세대 수요를 함께 설계</a:t>
            </a:r>
          </a:p>
        </p:txBody>
      </p:sp>
      <p:sp>
        <p:nvSpPr>
          <p:cNvPr id="75" name="Rounded Rectangle 74"/>
          <p:cNvSpPr/>
          <p:nvPr/>
        </p:nvSpPr>
        <p:spPr>
          <a:xfrm>
            <a:off x="8909304" y="6656832"/>
            <a:ext cx="3861815" cy="1261872"/>
          </a:xfrm>
          <a:prstGeom prst="roundRect">
            <a:avLst>
              <a:gd name="adj" fmla="val 5797"/>
            </a:avLst>
          </a:prstGeom>
          <a:solidFill>
            <a:srgbClr val="FFFFFF"/>
          </a:solidFill>
          <a:ln w="12700">
            <a:solidFill>
              <a:srgbClr val="B5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sitemap_teal.png"/>
          <p:cNvPicPr>
            <a:picLocks noChangeAspect="1"/>
          </p:cNvPicPr>
          <p:nvPr/>
        </p:nvPicPr>
        <p:blipFill>
          <a:blip r:embed="rId16"/>
          <a:stretch>
            <a:fillRect/>
          </a:stretch>
        </p:blipFill>
        <p:spPr>
          <a:xfrm>
            <a:off x="9073896" y="6803136"/>
            <a:ext cx="493776" cy="493776"/>
          </a:xfrm>
          <a:prstGeom prst="rect">
            <a:avLst/>
          </a:prstGeom>
        </p:spPr>
      </p:pic>
      <p:sp>
        <p:nvSpPr>
          <p:cNvPr id="77" name="TextBox 76"/>
          <p:cNvSpPr txBox="1"/>
          <p:nvPr/>
        </p:nvSpPr>
        <p:spPr>
          <a:xfrm>
            <a:off x="969568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시스템 지식 확장</a:t>
            </a:r>
          </a:p>
        </p:txBody>
      </p:sp>
      <p:sp>
        <p:nvSpPr>
          <p:cNvPr id="78" name="TextBox 77"/>
          <p:cNvSpPr txBox="1"/>
          <p:nvPr/>
        </p:nvSpPr>
        <p:spPr>
          <a:xfrm>
            <a:off x="909218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워크로드 연구로</a:t>
            </a:r>
          </a:p>
          <a:p>
            <a:pPr algn="l">
              <a:lnSpc>
                <a:spcPct val="100000"/>
              </a:lnSpc>
            </a:pPr>
            <a:r>
              <a:rPr sz="1800" b="0">
                <a:solidFill>
                  <a:srgbClr val="555555"/>
                </a:solidFill>
                <a:latin typeface="Arial"/>
                <a:ea typeface="Arial"/>
              </a:rPr>
              <a:t>NAND · SSD에서 서버까지</a:t>
            </a:r>
          </a:p>
        </p:txBody>
      </p:sp>
      <p:sp>
        <p:nvSpPr>
          <p:cNvPr id="79" name="Rounded Rectangle 78"/>
          <p:cNvSpPr/>
          <p:nvPr/>
        </p:nvSpPr>
        <p:spPr>
          <a:xfrm>
            <a:off x="13466064" y="6656832"/>
            <a:ext cx="3861815" cy="1261872"/>
          </a:xfrm>
          <a:prstGeom prst="roundRect">
            <a:avLst>
              <a:gd name="adj" fmla="val 5797"/>
            </a:avLst>
          </a:prstGeom>
          <a:solidFill>
            <a:srgbClr val="FFFFFF"/>
          </a:solidFill>
          <a:ln w="12700">
            <a:solidFill>
              <a:srgbClr val="F6D2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Picture 79" descr="pencil-cog_orange.png"/>
          <p:cNvPicPr>
            <a:picLocks noChangeAspect="1"/>
          </p:cNvPicPr>
          <p:nvPr/>
        </p:nvPicPr>
        <p:blipFill>
          <a:blip r:embed="rId17"/>
          <a:stretch>
            <a:fillRect/>
          </a:stretch>
        </p:blipFill>
        <p:spPr>
          <a:xfrm>
            <a:off x="13630656" y="6803136"/>
            <a:ext cx="493776" cy="493776"/>
          </a:xfrm>
          <a:prstGeom prst="rect">
            <a:avLst/>
          </a:prstGeom>
        </p:spPr>
      </p:pic>
      <p:sp>
        <p:nvSpPr>
          <p:cNvPr id="81" name="TextBox 80"/>
          <p:cNvSpPr txBox="1"/>
          <p:nvPr/>
        </p:nvSpPr>
        <p:spPr>
          <a:xfrm>
            <a:off x="14252448" y="6711696"/>
            <a:ext cx="2983991" cy="603504"/>
          </a:xfrm>
          <a:prstGeom prst="rect">
            <a:avLst/>
          </a:prstGeom>
          <a:noFill/>
        </p:spPr>
        <p:txBody>
          <a:bodyPr wrap="square" anchor="ctr" lIns="0" rIns="0" tIns="0" bIns="0">
            <a:spAutoFit/>
          </a:bodyPr>
          <a:lstStyle/>
          <a:p>
            <a:pPr algn="l">
              <a:lnSpc>
                <a:spcPct val="100000"/>
              </a:lnSpc>
            </a:pPr>
            <a:r>
              <a:rPr sz="2000" b="1">
                <a:solidFill>
                  <a:srgbClr val="1A1A1A"/>
                </a:solidFill>
                <a:latin typeface="Arial"/>
                <a:ea typeface="Arial"/>
              </a:rPr>
              <a:t>SSD · 서버 공동 설계</a:t>
            </a:r>
          </a:p>
        </p:txBody>
      </p:sp>
      <p:sp>
        <p:nvSpPr>
          <p:cNvPr id="82" name="TextBox 81"/>
          <p:cNvSpPr txBox="1"/>
          <p:nvPr/>
        </p:nvSpPr>
        <p:spPr>
          <a:xfrm>
            <a:off x="13648944" y="7315200"/>
            <a:ext cx="3587495" cy="566927"/>
          </a:xfrm>
          <a:prstGeom prst="rect">
            <a:avLst/>
          </a:prstGeom>
          <a:noFill/>
        </p:spPr>
        <p:txBody>
          <a:bodyPr wrap="square" anchor="t" lIns="0" rIns="0" tIns="0" bIns="0">
            <a:spAutoFit/>
          </a:bodyPr>
          <a:lstStyle/>
          <a:p>
            <a:pPr algn="l">
              <a:lnSpc>
                <a:spcPct val="100000"/>
              </a:lnSpc>
            </a:pPr>
            <a:r>
              <a:rPr sz="1800" b="0">
                <a:solidFill>
                  <a:srgbClr val="555555"/>
                </a:solidFill>
                <a:latin typeface="Arial"/>
                <a:ea typeface="Arial"/>
              </a:rPr>
              <a:t>AI 수요에 맞춰</a:t>
            </a:r>
          </a:p>
          <a:p>
            <a:pPr algn="l">
              <a:lnSpc>
                <a:spcPct val="100000"/>
              </a:lnSpc>
            </a:pPr>
            <a:r>
              <a:rPr sz="1800" b="0">
                <a:solidFill>
                  <a:srgbClr val="555555"/>
                </a:solidFill>
                <a:latin typeface="Arial"/>
                <a:ea typeface="Arial"/>
              </a:rPr>
              <a:t>기능과 구조를 함께 설계</a:t>
            </a:r>
          </a:p>
        </p:txBody>
      </p:sp>
      <p:sp>
        <p:nvSpPr>
          <p:cNvPr id="83" name="Rectangle 82"/>
          <p:cNvSpPr/>
          <p:nvPr/>
        </p:nvSpPr>
        <p:spPr>
          <a:xfrm>
            <a:off x="4005072" y="7991856"/>
            <a:ext cx="13560552"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840480" y="8119872"/>
            <a:ext cx="13725144" cy="512064"/>
          </a:xfrm>
          <a:prstGeom prst="rect">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840480" y="8119872"/>
            <a:ext cx="13725144" cy="512064"/>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토대: 수요 예측</a:t>
            </a:r>
            <a:r>
              <a:rPr sz="1800" b="0">
                <a:solidFill>
                  <a:srgbClr val="555555"/>
                </a:solidFill>
                <a:latin typeface="Arial"/>
                <a:ea typeface="Arial"/>
              </a:rPr>
              <a:t>    필요하지만, 예측 하나만으로는 불확실성에 대응할 수 없습니다</a:t>
            </a:r>
          </a:p>
        </p:txBody>
      </p:sp>
      <p:sp>
        <p:nvSpPr>
          <p:cNvPr id="86" name="Rectangle 85"/>
          <p:cNvSpPr/>
          <p:nvPr/>
        </p:nvSpPr>
        <p:spPr>
          <a:xfrm>
            <a:off x="722376" y="8778240"/>
            <a:ext cx="16843248" cy="731520"/>
          </a:xfrm>
          <a:prstGeom prst="rect">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C7CEDB"/>
                </a:solidFill>
                <a:latin typeface="Arial"/>
                <a:ea typeface="Arial"/>
              </a:rPr>
              <a:t>3-C</a:t>
            </a:r>
          </a:p>
        </p:txBody>
      </p:sp>
      <p:sp>
        <p:nvSpPr>
          <p:cNvPr id="88" name="TextBox 87"/>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자원은 유연하게 </a:t>
            </a:r>
            <a:r>
              <a:rPr sz="2400" b="1">
                <a:solidFill>
                  <a:srgbClr val="AFC0F2"/>
                </a:solidFill>
                <a:latin typeface="Arial"/>
                <a:ea typeface="Arial"/>
              </a:rPr>
              <a:t>전환</a:t>
            </a:r>
            <a:r>
              <a:rPr sz="2400" b="1">
                <a:solidFill>
                  <a:srgbClr val="FFFFFF"/>
                </a:solidFill>
                <a:latin typeface="Arial"/>
                <a:ea typeface="Arial"/>
              </a:rPr>
              <a:t>하고, 기술은 연속성 있게 </a:t>
            </a:r>
            <a:r>
              <a:rPr sz="2400" b="1">
                <a:solidFill>
                  <a:srgbClr val="8FDBD1"/>
                </a:solidFill>
                <a:latin typeface="Arial"/>
                <a:ea typeface="Arial"/>
              </a:rPr>
              <a:t>쌓고</a:t>
            </a:r>
            <a:r>
              <a:rPr sz="2400" b="1">
                <a:solidFill>
                  <a:srgbClr val="FFFFFF"/>
                </a:solidFill>
                <a:latin typeface="Arial"/>
                <a:ea typeface="Arial"/>
              </a:rPr>
              <a:t>, 미래는 고객과 함께 </a:t>
            </a:r>
            <a:r>
              <a:rPr sz="2400" b="1">
                <a:solidFill>
                  <a:srgbClr val="F7B987"/>
                </a:solidFill>
                <a:latin typeface="Arial"/>
                <a:ea typeface="Arial"/>
              </a:rPr>
              <a:t>설계</a:t>
            </a:r>
            <a:r>
              <a:rPr sz="2400" b="1">
                <a:solidFill>
                  <a:srgbClr val="FFFFFF"/>
                </a:solidFill>
                <a:latin typeface="Arial"/>
                <a:ea typeface="Arial"/>
              </a:rPr>
              <a:t>합니다</a:t>
            </a:r>
          </a:p>
        </p:txBody>
      </p:sp>
      <p:sp>
        <p:nvSpPr>
          <p:cNvPr id="89" name="TextBox 88"/>
          <p:cNvSpPr txBox="1"/>
          <p:nvPr/>
        </p:nvSpPr>
        <p:spPr>
          <a:xfrm>
            <a:off x="722376" y="9601200"/>
            <a:ext cx="15179040"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3-C: C1 Convertibility · C2 Continuity · C3 Co-Creation (전략 체계 개념도, 수치 주장 없음). 아이콘 Tabler Icons(MIT).</a:t>
            </a:r>
          </a:p>
          <a:p>
            <a:pPr algn="l">
              <a:lnSpc>
                <a:spcPct val="105000"/>
              </a:lnSpc>
            </a:pPr>
            <a:r>
              <a:rPr sz="1500" b="0">
                <a:solidFill>
                  <a:srgbClr val="555555"/>
                </a:solidFill>
                <a:latin typeface="Arial"/>
                <a:ea typeface="Arial"/>
              </a:rPr>
              <a:t>이미지: 전략 1 Cu/SiO2 하이브리드 본딩 단면 SEM(Hsu 외, Materials 2022, CC BY 4.0, 잘라 냄), 전략 2 삼성 FMS 2026 zHBM 전시, 전략 3 3D 렌더.</a:t>
            </a:r>
          </a:p>
        </p:txBody>
      </p:sp>
      <p:sp>
        <p:nvSpPr>
          <p:cNvPr id="90" name="TextBox 89"/>
          <p:cNvSpPr txBox="1"/>
          <p:nvPr/>
        </p:nvSpPr>
        <p:spPr>
          <a:xfrm>
            <a:off x="15736824" y="9601200"/>
            <a:ext cx="182880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시안 C 컬러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