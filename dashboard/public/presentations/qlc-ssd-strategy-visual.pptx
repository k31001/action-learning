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요약 장입니다. 덱 6장의 제목을 이어 읽으면 한 문단이 되며, 이 그림은 그 문단의 구조입니다. 1장 문제가 고용량화의 두 축으로 갈라집니다. 첫째 축 신뢰성은 SSD 계층에서 닫히는 문제이고(위 트랙), 둘째 축 내구성은 SSD 밖 호스트가 잔여 변수 WAF를 결정하므로 역량·실행·보증으로 이어집니다(아래 트랙). 신뢰성 축의 감량 운영 정책은 6장 보증 조항으로 연결됩니다. 판돈은 락인으로 얻는 캐시 계층 QLC 점유율(2030년 350EB 중 175EB 조건부), 비용은 개발실 개발 자원이며 별도 투자는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1장은 문제 제기입니다. 상단 타임라인의 두 다운턴(DT19 −37.6%, DT23 −45%)에서 세 교훈을 얻습니다. 요구는 발주보다 약 2년 먼저 고객 규격·코드에 나타나고(2022-12 배치 표준 비준 → 2024년 30EB), 규격 정의에 참여한 공급자가 선점했으며(Solidigm 61TB 12개월 선행), 직전 다운턴의 결정이 다음 다운턴의 초기 조건이 됩니다(차기 전환점 2027H2). 가운데는 요구의 이동입니다. 구매 기준은 TB당 TCO에서 GPU당 컨텍스트·토큰당 비용으로, 용량은 61TB에서 245TB(다이 8배)로, 요구 DWPD는 0.3~0.6에서 1~3으로 옮겨갔습니다. 오른쪽은 격차의 정직한 크기입니다. 동급 61TB QLC 0.58~1.0, 245TB QLC 0.3과 TLC 1~3 사이는 2~10배이며 극단 조합만 40배입니다. 고용량화는 두 축의 문제를 만들고, 2장과 3장이 각각을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2장은 신뢰성 축입니다. 왼쪽 픽토그램은 SSD당 다이 수가 128(2012 S3700 800GB)에서 1,024(2025 LC9 245TB)로 8배 늘었음을 보입니다. 요구 FFR ≤ 3%는 고정이므로 같은 FFR을 지키는 다이 고장률 상한은 2.4e-4에서 3.0e-5로 8배 엄격해집니다(독립 고장 모델). 오른쪽은 SSD 내부 해법입니다. 다이 패리티(XOR 스트라이프, Micron RAIN형)로 단일 다이 고장을 복구하고, 여분 다이·다이 은퇴·감량 운영(삼성 PM1733 Fail-in-Place)으로 고장 다이를 제외한 채 운영하며, 텔레메트리로 징후 다이를 사전 은퇴시킵니다. 호스트·플랫폼은 OCP SMART C0로 관측하고 감량을 수용할 뿐이며, 이 축은 호스트 협력 대상이 아닙니다. 둘째 축 DWPD는 SSD 안에서 충족되지 않았고, 어느 계층이 충족할 수 있는지가 3장입니다.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3장은 이관 사다리입니다. 1단계 컨트롤러 ECC(1비트/512B → LDPC 120비트/KB)는 RBER 100만 배 상승을 흡수해 UBER 요구를 충족했고 완결됐습니다. 2단계 SSD 단독 워크로드 최적화(2014~2019: 스트림·자동 배정·FTL 핫/콜드 추정·IO 결정성)는 QoS·성능은 개선했으나 데이터 수명을 SSD가 감지할 수 없어 WAF는 약 3에 머물렀습니다. 3단계 호스트 공동 설계는 호스트가 데이터 수명을 지정해 WAF를 약 3에서 약 1로 낮춥니다(범용 실측 3.0 → 1.0, CacheLib 3.22 → 1.03). KV 캐시 워크로드의 배치 표준 WAF는 공개 실측이 없어 검증할 가설이며 Phase 2가 그 검증입니다. 하단 산식에서 셀(P/E)·SSD(OP)·고객(보증연수)이 정하는 항을 빼면 남는 변수는 WAF뿐이고, 이는 호스트·앱이 결정합니다. 호스트 배치 하나로는 2~10배가 해소되지 않으므로 다이 세대·OP·SLC 캐시·보증연수·워크로드 재정의와 결합해야 하며, 호스트·고객 측 변수가 다수라는 점이 공동 설계의 근거입니다.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4장은 역량입니다. 상단 네 격차(내구성 2~10배, 스트림 25배, 접점 1/4, 해소 수단 실증)는 삼성과 KV 캐시 스택의 연결이 아직 좁다는 것을 보입니다. 캐시 관리자 4종 중 LMCache에만 삼성 엔지니어가 Committer로 있고 FDP 배치 코드를 머지했습니다. 왼쪽 세 Phase는 디바이스 → 워크로드 실측 → 고객 시스템 공동 설계로 역량을 확장하며, 고객 보증 범위가 정격 내 원가·전력 → 워크로드 기준 수명 → 시스템 TCO로 넓어집니다. 삼성의 현 위치는 Phase 1 진행 중(QLC 라인 RUH 2~8, DWPD 미공개, CMX 첫 공급은 TLC), Phase 2 준비(트레이스 기반 실측 미공개), Phase 3 미착수(캐시 관리자 4종 기여 0건)입니다. 오른쪽 5계층은 삼성이 닿는 층을 색으로 표시했습니다. 트레이스는 위에서 아래로 내려오고 배치 정책·규격은 관리자·앱에서 SSD로 내려옵니다. 오케스트레이션 자체는 만들지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5장은 실행입니다. 가운데 두 화살표가 진입 수단입니다. ① FDE 상주는 삼성 엔지니어가 고객 시스템(캐시 관리자·I/O·커널)에 들어가는 트랙이며, 트레이스·정책 접근을 허용하고 캐시 관리자를 자체 운영하며 파급력이 있는 고객, 즉 AI 랩과 NVIDIA 생태계 1~2사에 집중합니다. 하이퍼스케일러는 내부 코드 상주가 어려워 업스트림·OCP 규격 채널로, 자체 캐시 스택이 없는 OEM·네오클라우드는 레퍼런스 스택으로 협업합니다. ② 워크로드·규격 접근권은 협약의 공동 설계 조항으로 확보하며 계약 시한은 공급 완화 전인 2027년 상반기입니다. 선례는 Palantir FDE(Anthropic·OpenAI가 GTM으로 채택)와 Micron↔Anthropic 협약(공동 설계·다년 공급·운영 통합)이며, 삼성·SK의 Anthropic 계약에는 공동 설계 조항이 없어 선제 제안합니다. 아래는 개발실 내부 실행(조직·인사·문화, 자회사·별도 보상 없음), 통과 조건(90일·12개월·2027H1), 판돈(캐시 계층 QLC 0 → 50%)과 비용(별도 투자 없음)입니다.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6장은 수명 보증·SLA 리스크입니다. 왼쪽 차트는 유효 DWPD = 정격 × (3 ÷ WAF)입니다. 정격 0.58(61TB QLC)은 WAF 1.74에서 보증선 1.0 아래로 내려가고, 정격 0.3(245TB)은 WAF 1.0에서도 0.9에 그칩니다. WAF가 오르는 경우는 워크로드 변화, 오분류·RUH 간섭(FAST'26 WARP), 고객 스택 업데이트로 인한 힌트 손실입니다. 오른쪽 5원칙: 보증 기준은 관행대로 TBW·물리 매체 기록량 선도달로 두고 유효 DWPD는 부가 표기로만 쓰며, WAF 밴드(≤1.2 / ≤2.0 / &gt;2.0)별 조건부 등급으로 표기하고, OCP SMART C0로 양측이 같은 WAF를 관측하며, 배치 규격 준수를 조건으로 하고, 초과가 지속되면 재협상·감량 운영(2장 FIP 유사)으로 대응합니다. 12개월 통과 조건의 조건부 보증 초안이 이 장의 산출물입니다.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420624"/>
            <a:ext cx="5486400" cy="310896"/>
          </a:xfrm>
          <a:prstGeom prst="rect">
            <a:avLst/>
          </a:prstGeom>
          <a:noFill/>
        </p:spPr>
        <p:txBody>
          <a:bodyPr wrap="square" anchor="t" lIns="0" rIns="0" tIns="0" bIns="0">
            <a:spAutoFit/>
          </a:bodyPr>
          <a:lstStyle/>
          <a:p>
            <a:pPr algn="l">
              <a:lnSpc>
                <a:spcPct val="112000"/>
              </a:lnSpc>
            </a:pPr>
            <a:r>
              <a:rPr sz="1800" b="1">
                <a:solidFill>
                  <a:srgbClr val="1428A0"/>
                </a:solidFill>
                <a:latin typeface="Arial"/>
                <a:ea typeface="Arial"/>
              </a:rPr>
              <a:t>삼성전자 메모리사업부</a:t>
            </a:r>
          </a:p>
        </p:txBody>
      </p:sp>
      <p:sp>
        <p:nvSpPr>
          <p:cNvPr id="3" name="TextBox 2"/>
          <p:cNvSpPr txBox="1"/>
          <p:nvPr/>
        </p:nvSpPr>
        <p:spPr>
          <a:xfrm>
            <a:off x="12079224" y="420624"/>
            <a:ext cx="5486400" cy="310896"/>
          </a:xfrm>
          <a:prstGeom prst="rect">
            <a:avLst/>
          </a:prstGeom>
          <a:noFill/>
        </p:spPr>
        <p:txBody>
          <a:bodyPr wrap="square" anchor="t" lIns="0" rIns="0" tIns="0" bIns="0">
            <a:spAutoFit/>
          </a:bodyPr>
          <a:lstStyle/>
          <a:p>
            <a:pPr algn="r">
              <a:lnSpc>
                <a:spcPct val="112000"/>
              </a:lnSpc>
            </a:pPr>
            <a:r>
              <a:rPr sz="1800" b="0">
                <a:solidFill>
                  <a:srgbClr val="555555"/>
                </a:solidFill>
                <a:latin typeface="Arial"/>
                <a:ea typeface="Arial"/>
              </a:rPr>
              <a:t>[문서등급 표기]</a:t>
            </a:r>
          </a:p>
        </p:txBody>
      </p:sp>
      <p:sp>
        <p:nvSpPr>
          <p:cNvPr id="4" name="TextBox 3"/>
          <p:cNvSpPr txBox="1"/>
          <p:nvPr/>
        </p:nvSpPr>
        <p:spPr>
          <a:xfrm>
            <a:off x="722376" y="850392"/>
            <a:ext cx="16843248" cy="310896"/>
          </a:xfrm>
          <a:prstGeom prst="rect">
            <a:avLst/>
          </a:prstGeom>
          <a:noFill/>
        </p:spPr>
        <p:txBody>
          <a:bodyPr wrap="square" anchor="t" lIns="0" rIns="0" tIns="0" bIns="0">
            <a:spAutoFit/>
          </a:bodyPr>
          <a:lstStyle/>
          <a:p>
            <a:pPr algn="l">
              <a:lnSpc>
                <a:spcPct val="112000"/>
              </a:lnSpc>
            </a:pPr>
            <a:r>
              <a:rPr sz="1800" b="1">
                <a:solidFill>
                  <a:srgbClr val="1428A0"/>
                </a:solidFill>
                <a:latin typeface="Arial"/>
                <a:ea typeface="Arial"/>
              </a:rPr>
              <a:t>요약 · 6장을 한 장에</a:t>
            </a:r>
          </a:p>
        </p:txBody>
      </p:sp>
      <p:sp>
        <p:nvSpPr>
          <p:cNvPr id="5" name="TextBox 4"/>
          <p:cNvSpPr txBox="1"/>
          <p:nvPr/>
        </p:nvSpPr>
        <p:spPr>
          <a:xfrm>
            <a:off x="722376" y="1216152"/>
            <a:ext cx="16843248" cy="566928"/>
          </a:xfrm>
          <a:prstGeom prst="rect">
            <a:avLst/>
          </a:prstGeom>
          <a:noFill/>
        </p:spPr>
        <p:txBody>
          <a:bodyPr wrap="square" anchor="t" lIns="0" rIns="0" tIns="0" bIns="0">
            <a:spAutoFit/>
          </a:bodyPr>
          <a:lstStyle/>
          <a:p>
            <a:pPr algn="l">
              <a:lnSpc>
                <a:spcPct val="112000"/>
              </a:lnSpc>
            </a:pPr>
            <a:r>
              <a:rPr sz="3000" b="1">
                <a:solidFill>
                  <a:srgbClr val="1A1A1A"/>
                </a:solidFill>
                <a:latin typeface="Arial"/>
                <a:ea typeface="Arial"/>
              </a:rPr>
              <a:t>고용량 QLC의 두 축: 신뢰성은 SSD 안에서, 내구성은 고객 시스템과 함께 해결합니다</a:t>
            </a:r>
          </a:p>
        </p:txBody>
      </p:sp>
      <p:sp>
        <p:nvSpPr>
          <p:cNvPr id="6" name="TextBox 5"/>
          <p:cNvSpPr txBox="1"/>
          <p:nvPr/>
        </p:nvSpPr>
        <p:spPr>
          <a:xfrm>
            <a:off x="722376" y="1865376"/>
            <a:ext cx="16843248" cy="402336"/>
          </a:xfrm>
          <a:prstGeom prst="rect">
            <a:avLst/>
          </a:prstGeom>
          <a:noFill/>
        </p:spPr>
        <p:txBody>
          <a:bodyPr wrap="square" anchor="t" lIns="0" rIns="0" tIns="0" bIns="0">
            <a:spAutoFit/>
          </a:bodyPr>
          <a:lstStyle/>
          <a:p>
            <a:pPr algn="l">
              <a:lnSpc>
                <a:spcPct val="112000"/>
              </a:lnSpc>
            </a:pPr>
            <a:r>
              <a:rPr sz="2000" b="0">
                <a:solidFill>
                  <a:srgbClr val="555555"/>
                </a:solidFill>
                <a:latin typeface="Arial"/>
                <a:ea typeface="Arial"/>
              </a:rPr>
              <a:t>문제가 두 축으로 갈라지고, 신뢰성은 SSD 계층에서, 내구성은 역량 · 실행 · 보증으로 이어집니다.</a:t>
            </a:r>
          </a:p>
        </p:txBody>
      </p:sp>
      <p:sp>
        <p:nvSpPr>
          <p:cNvPr id="7" name="Rectangle 6"/>
          <p:cNvSpPr/>
          <p:nvPr/>
        </p:nvSpPr>
        <p:spPr>
          <a:xfrm>
            <a:off x="722376" y="2395728"/>
            <a:ext cx="16843248" cy="12801"/>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088136" y="4709160"/>
            <a:ext cx="2651760" cy="1371600"/>
          </a:xfrm>
          <a:prstGeom prst="roundRect">
            <a:avLst>
              <a:gd name="adj" fmla="val 4000"/>
            </a:avLst>
          </a:prstGeom>
          <a:solidFill>
            <a:srgbClr val="F4F6FC"/>
          </a:solidFill>
          <a:ln w="1905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88136" y="4709160"/>
            <a:ext cx="73152" cy="137160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261872" y="4846320"/>
            <a:ext cx="274320" cy="274320"/>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01951" y="4868037"/>
            <a:ext cx="194160" cy="230886"/>
          </a:xfrm>
          <a:prstGeom prst="rect">
            <a:avLst/>
          </a:prstGeom>
          <a:noFill/>
        </p:spPr>
        <p:txBody>
          <a:bodyPr wrap="none" anchor="t" lIns="0" rIns="0" tIns="0" bIns="0">
            <a:spAutoFit/>
          </a:bodyPr>
          <a:lstStyle/>
          <a:p>
            <a:pPr algn="ctr">
              <a:lnSpc>
                <a:spcPct val="125000"/>
              </a:lnSpc>
            </a:pPr>
            <a:r>
              <a:rPr sz="1224" b="1">
                <a:solidFill>
                  <a:srgbClr val="FFFFFF"/>
                </a:solidFill>
                <a:latin typeface="Arial"/>
                <a:ea typeface="Arial"/>
              </a:rPr>
              <a:t>1</a:t>
            </a:r>
          </a:p>
        </p:txBody>
      </p:sp>
      <p:sp>
        <p:nvSpPr>
          <p:cNvPr id="12" name="TextBox 11"/>
          <p:cNvSpPr txBox="1"/>
          <p:nvPr/>
        </p:nvSpPr>
        <p:spPr>
          <a:xfrm>
            <a:off x="1618488" y="4850892"/>
            <a:ext cx="468319" cy="265176"/>
          </a:xfrm>
          <a:prstGeom prst="rect">
            <a:avLst/>
          </a:prstGeom>
          <a:noFill/>
        </p:spPr>
        <p:txBody>
          <a:bodyPr wrap="none" anchor="t" lIns="0" rIns="0" tIns="0" bIns="0">
            <a:spAutoFit/>
          </a:bodyPr>
          <a:lstStyle/>
          <a:p>
            <a:pPr algn="l">
              <a:lnSpc>
                <a:spcPct val="125000"/>
              </a:lnSpc>
            </a:pPr>
            <a:r>
              <a:rPr sz="1439" b="1">
                <a:solidFill>
                  <a:srgbClr val="1A1A1A"/>
                </a:solidFill>
                <a:latin typeface="Arial"/>
                <a:ea typeface="Arial"/>
              </a:rPr>
              <a:t>문제</a:t>
            </a:r>
          </a:p>
        </p:txBody>
      </p:sp>
      <p:sp>
        <p:nvSpPr>
          <p:cNvPr id="13" name="TextBox 12"/>
          <p:cNvSpPr txBox="1"/>
          <p:nvPr/>
        </p:nvSpPr>
        <p:spPr>
          <a:xfrm>
            <a:off x="1307592" y="5202936"/>
            <a:ext cx="1166364" cy="402336"/>
          </a:xfrm>
          <a:prstGeom prst="rect">
            <a:avLst/>
          </a:prstGeom>
          <a:noFill/>
        </p:spPr>
        <p:txBody>
          <a:bodyPr wrap="none" anchor="t" lIns="0" rIns="0" tIns="0" bIns="0">
            <a:spAutoFit/>
          </a:bodyPr>
          <a:lstStyle/>
          <a:p>
            <a:pPr algn="l">
              <a:lnSpc>
                <a:spcPct val="125000"/>
              </a:lnSpc>
            </a:pPr>
            <a:r>
              <a:rPr sz="2304" b="1">
                <a:solidFill>
                  <a:srgbClr val="1428A0"/>
                </a:solidFill>
                <a:latin typeface="Arial"/>
                <a:ea typeface="Arial"/>
              </a:rPr>
              <a:t>2~10배</a:t>
            </a:r>
          </a:p>
        </p:txBody>
      </p:sp>
      <p:sp>
        <p:nvSpPr>
          <p:cNvPr id="14" name="TextBox 13"/>
          <p:cNvSpPr txBox="1"/>
          <p:nvPr/>
        </p:nvSpPr>
        <p:spPr>
          <a:xfrm>
            <a:off x="1307592" y="5634990"/>
            <a:ext cx="2286000" cy="356616"/>
          </a:xfrm>
          <a:prstGeom prst="rect">
            <a:avLst/>
          </a:prstGeom>
          <a:noFill/>
        </p:spPr>
        <p:txBody>
          <a:bodyPr wrap="none" anchor="t" lIns="0" rIns="0" tIns="0" bIns="0">
            <a:spAutoFit/>
          </a:bodyPr>
          <a:lstStyle/>
          <a:p>
            <a:pPr algn="l">
              <a:lnSpc>
                <a:spcPct val="125000"/>
              </a:lnSpc>
            </a:pPr>
            <a:r>
              <a:rPr sz="1008" b="0">
                <a:solidFill>
                  <a:srgbClr val="555555"/>
                </a:solidFill>
                <a:latin typeface="Arial"/>
                <a:ea typeface="Arial"/>
              </a:rPr>
              <a:t>요구 1~3 DWPD 대 동급 정격 격차 ·</a:t>
            </a:r>
          </a:p>
          <a:p>
            <a:pPr algn="l">
              <a:lnSpc>
                <a:spcPct val="125000"/>
              </a:lnSpc>
            </a:pPr>
            <a:r>
              <a:rPr sz="1008" b="0">
                <a:solidFill>
                  <a:srgbClr val="555555"/>
                </a:solidFill>
                <a:latin typeface="Arial"/>
                <a:ea typeface="Arial"/>
              </a:rPr>
              <a:t>고용량화 → 두 축</a:t>
            </a:r>
          </a:p>
        </p:txBody>
      </p:sp>
      <p:sp>
        <p:nvSpPr>
          <p:cNvPr id="15" name="Rounded Rectangle 14"/>
          <p:cNvSpPr/>
          <p:nvPr/>
        </p:nvSpPr>
        <p:spPr>
          <a:xfrm>
            <a:off x="4745736" y="2999232"/>
            <a:ext cx="2743200" cy="1371600"/>
          </a:xfrm>
          <a:prstGeom prst="roundRect">
            <a:avLst>
              <a:gd name="adj" fmla="val 4000"/>
            </a:avLst>
          </a:prstGeom>
          <a:solidFill>
            <a:srgbClr val="F4F6FC"/>
          </a:solidFill>
          <a:ln w="1905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745736" y="2999232"/>
            <a:ext cx="73152" cy="137160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919472" y="3136391"/>
            <a:ext cx="274320" cy="274320"/>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959551" y="3158109"/>
            <a:ext cx="194160" cy="230886"/>
          </a:xfrm>
          <a:prstGeom prst="rect">
            <a:avLst/>
          </a:prstGeom>
          <a:noFill/>
        </p:spPr>
        <p:txBody>
          <a:bodyPr wrap="none" anchor="t" lIns="0" rIns="0" tIns="0" bIns="0">
            <a:spAutoFit/>
          </a:bodyPr>
          <a:lstStyle/>
          <a:p>
            <a:pPr algn="ctr">
              <a:lnSpc>
                <a:spcPct val="125000"/>
              </a:lnSpc>
            </a:pPr>
            <a:r>
              <a:rPr sz="1224" b="1">
                <a:solidFill>
                  <a:srgbClr val="FFFFFF"/>
                </a:solidFill>
                <a:latin typeface="Arial"/>
                <a:ea typeface="Arial"/>
              </a:rPr>
              <a:t>2</a:t>
            </a:r>
          </a:p>
        </p:txBody>
      </p:sp>
      <p:sp>
        <p:nvSpPr>
          <p:cNvPr id="19" name="TextBox 18"/>
          <p:cNvSpPr txBox="1"/>
          <p:nvPr/>
        </p:nvSpPr>
        <p:spPr>
          <a:xfrm>
            <a:off x="5276088" y="3140963"/>
            <a:ext cx="656758" cy="265176"/>
          </a:xfrm>
          <a:prstGeom prst="rect">
            <a:avLst/>
          </a:prstGeom>
          <a:noFill/>
        </p:spPr>
        <p:txBody>
          <a:bodyPr wrap="none" anchor="t" lIns="0" rIns="0" tIns="0" bIns="0">
            <a:spAutoFit/>
          </a:bodyPr>
          <a:lstStyle/>
          <a:p>
            <a:pPr algn="l">
              <a:lnSpc>
                <a:spcPct val="125000"/>
              </a:lnSpc>
            </a:pPr>
            <a:r>
              <a:rPr sz="1439" b="1">
                <a:solidFill>
                  <a:srgbClr val="1A1A1A"/>
                </a:solidFill>
                <a:latin typeface="Arial"/>
                <a:ea typeface="Arial"/>
              </a:rPr>
              <a:t>신뢰성</a:t>
            </a:r>
          </a:p>
        </p:txBody>
      </p:sp>
      <p:sp>
        <p:nvSpPr>
          <p:cNvPr id="20" name="TextBox 19"/>
          <p:cNvSpPr txBox="1"/>
          <p:nvPr/>
        </p:nvSpPr>
        <p:spPr>
          <a:xfrm>
            <a:off x="4965192" y="3493008"/>
            <a:ext cx="1665831" cy="402336"/>
          </a:xfrm>
          <a:prstGeom prst="rect">
            <a:avLst/>
          </a:prstGeom>
          <a:noFill/>
        </p:spPr>
        <p:txBody>
          <a:bodyPr wrap="none" anchor="t" lIns="0" rIns="0" tIns="0" bIns="0">
            <a:spAutoFit/>
          </a:bodyPr>
          <a:lstStyle/>
          <a:p>
            <a:pPr algn="l">
              <a:lnSpc>
                <a:spcPct val="125000"/>
              </a:lnSpc>
            </a:pPr>
            <a:r>
              <a:rPr sz="2304" b="1">
                <a:solidFill>
                  <a:srgbClr val="1428A0"/>
                </a:solidFill>
                <a:latin typeface="Arial"/>
                <a:ea typeface="Arial"/>
              </a:rPr>
              <a:t>다이 8배 ↑</a:t>
            </a:r>
          </a:p>
        </p:txBody>
      </p:sp>
      <p:sp>
        <p:nvSpPr>
          <p:cNvPr id="21" name="TextBox 20"/>
          <p:cNvSpPr txBox="1"/>
          <p:nvPr/>
        </p:nvSpPr>
        <p:spPr>
          <a:xfrm>
            <a:off x="4965192" y="3925061"/>
            <a:ext cx="2377440" cy="356616"/>
          </a:xfrm>
          <a:prstGeom prst="rect">
            <a:avLst/>
          </a:prstGeom>
          <a:noFill/>
        </p:spPr>
        <p:txBody>
          <a:bodyPr wrap="none" anchor="t" lIns="0" rIns="0" tIns="0" bIns="0">
            <a:spAutoFit/>
          </a:bodyPr>
          <a:lstStyle/>
          <a:p>
            <a:pPr algn="l">
              <a:lnSpc>
                <a:spcPct val="125000"/>
              </a:lnSpc>
            </a:pPr>
            <a:r>
              <a:rPr sz="1008" b="0">
                <a:solidFill>
                  <a:srgbClr val="555555"/>
                </a:solidFill>
                <a:latin typeface="Arial"/>
                <a:ea typeface="Arial"/>
              </a:rPr>
              <a:t>FFR 고정 · 패리티·여분 다이·감량</a:t>
            </a:r>
          </a:p>
          <a:p>
            <a:pPr algn="l">
              <a:lnSpc>
                <a:spcPct val="125000"/>
              </a:lnSpc>
            </a:pPr>
            <a:r>
              <a:rPr sz="1008" b="0">
                <a:solidFill>
                  <a:srgbClr val="555555"/>
                </a:solidFill>
                <a:latin typeface="Arial"/>
                <a:ea typeface="Arial"/>
              </a:rPr>
              <a:t>운영으로 충족</a:t>
            </a:r>
          </a:p>
        </p:txBody>
      </p:sp>
      <p:sp>
        <p:nvSpPr>
          <p:cNvPr id="22" name="Rounded Rectangle 21"/>
          <p:cNvSpPr/>
          <p:nvPr/>
        </p:nvSpPr>
        <p:spPr>
          <a:xfrm>
            <a:off x="6941817" y="3108960"/>
            <a:ext cx="419102" cy="202082"/>
          </a:xfrm>
          <a:prstGeom prst="roundRect">
            <a:avLst>
              <a:gd name="adj" fmla="val 13574"/>
            </a:avLst>
          </a:prstGeom>
          <a:solidFill>
            <a:srgbClr val="1428A0"/>
          </a:solidFill>
          <a:ln w="1270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83163" y="3117418"/>
            <a:ext cx="336411" cy="185166"/>
          </a:xfrm>
          <a:prstGeom prst="rect">
            <a:avLst/>
          </a:prstGeom>
          <a:noFill/>
        </p:spPr>
        <p:txBody>
          <a:bodyPr wrap="none" anchor="t" lIns="0" rIns="0" tIns="0" bIns="0">
            <a:spAutoFit/>
          </a:bodyPr>
          <a:lstStyle/>
          <a:p>
            <a:pPr algn="ctr">
              <a:lnSpc>
                <a:spcPct val="125000"/>
              </a:lnSpc>
            </a:pPr>
            <a:r>
              <a:rPr sz="936" b="1">
                <a:solidFill>
                  <a:srgbClr val="FFFFFF"/>
                </a:solidFill>
                <a:latin typeface="Arial"/>
                <a:ea typeface="Arial"/>
              </a:rPr>
              <a:t>충족</a:t>
            </a:r>
          </a:p>
        </p:txBody>
      </p:sp>
      <p:sp>
        <p:nvSpPr>
          <p:cNvPr id="24" name="Rounded Rectangle 23"/>
          <p:cNvSpPr/>
          <p:nvPr/>
        </p:nvSpPr>
        <p:spPr>
          <a:xfrm>
            <a:off x="4745736" y="6309359"/>
            <a:ext cx="2743200" cy="1371600"/>
          </a:xfrm>
          <a:prstGeom prst="roundRect">
            <a:avLst>
              <a:gd name="adj" fmla="val 4000"/>
            </a:avLst>
          </a:prstGeom>
          <a:solidFill>
            <a:srgbClr val="F4F6FC"/>
          </a:solidFill>
          <a:ln w="1905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745736" y="6309359"/>
            <a:ext cx="73152" cy="137160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919472" y="6446520"/>
            <a:ext cx="274320" cy="274320"/>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959551" y="6468237"/>
            <a:ext cx="194160" cy="230886"/>
          </a:xfrm>
          <a:prstGeom prst="rect">
            <a:avLst/>
          </a:prstGeom>
          <a:noFill/>
        </p:spPr>
        <p:txBody>
          <a:bodyPr wrap="none" anchor="t" lIns="0" rIns="0" tIns="0" bIns="0">
            <a:spAutoFit/>
          </a:bodyPr>
          <a:lstStyle/>
          <a:p>
            <a:pPr algn="ctr">
              <a:lnSpc>
                <a:spcPct val="125000"/>
              </a:lnSpc>
            </a:pPr>
            <a:r>
              <a:rPr sz="1224" b="1">
                <a:solidFill>
                  <a:srgbClr val="FFFFFF"/>
                </a:solidFill>
                <a:latin typeface="Arial"/>
                <a:ea typeface="Arial"/>
              </a:rPr>
              <a:t>3</a:t>
            </a:r>
          </a:p>
        </p:txBody>
      </p:sp>
      <p:sp>
        <p:nvSpPr>
          <p:cNvPr id="28" name="TextBox 27"/>
          <p:cNvSpPr txBox="1"/>
          <p:nvPr/>
        </p:nvSpPr>
        <p:spPr>
          <a:xfrm>
            <a:off x="5276088" y="6451092"/>
            <a:ext cx="656758" cy="265176"/>
          </a:xfrm>
          <a:prstGeom prst="rect">
            <a:avLst/>
          </a:prstGeom>
          <a:noFill/>
        </p:spPr>
        <p:txBody>
          <a:bodyPr wrap="none" anchor="t" lIns="0" rIns="0" tIns="0" bIns="0">
            <a:spAutoFit/>
          </a:bodyPr>
          <a:lstStyle/>
          <a:p>
            <a:pPr algn="l">
              <a:lnSpc>
                <a:spcPct val="125000"/>
              </a:lnSpc>
            </a:pPr>
            <a:r>
              <a:rPr sz="1439" b="1">
                <a:solidFill>
                  <a:srgbClr val="1A1A1A"/>
                </a:solidFill>
                <a:latin typeface="Arial"/>
                <a:ea typeface="Arial"/>
              </a:rPr>
              <a:t>내구성</a:t>
            </a:r>
          </a:p>
        </p:txBody>
      </p:sp>
      <p:sp>
        <p:nvSpPr>
          <p:cNvPr id="29" name="TextBox 28"/>
          <p:cNvSpPr txBox="1"/>
          <p:nvPr/>
        </p:nvSpPr>
        <p:spPr>
          <a:xfrm>
            <a:off x="4965192" y="6803136"/>
            <a:ext cx="2386152" cy="402336"/>
          </a:xfrm>
          <a:prstGeom prst="rect">
            <a:avLst/>
          </a:prstGeom>
          <a:noFill/>
        </p:spPr>
        <p:txBody>
          <a:bodyPr wrap="none" anchor="t" lIns="0" rIns="0" tIns="0" bIns="0">
            <a:spAutoFit/>
          </a:bodyPr>
          <a:lstStyle/>
          <a:p>
            <a:pPr algn="l">
              <a:lnSpc>
                <a:spcPct val="125000"/>
              </a:lnSpc>
            </a:pPr>
            <a:r>
              <a:rPr sz="2304" b="1">
                <a:solidFill>
                  <a:srgbClr val="1428A0"/>
                </a:solidFill>
                <a:latin typeface="Arial"/>
                <a:ea typeface="Arial"/>
              </a:rPr>
              <a:t>WAF ≈3 → ≈1</a:t>
            </a:r>
          </a:p>
        </p:txBody>
      </p:sp>
      <p:sp>
        <p:nvSpPr>
          <p:cNvPr id="30" name="TextBox 29"/>
          <p:cNvSpPr txBox="1"/>
          <p:nvPr/>
        </p:nvSpPr>
        <p:spPr>
          <a:xfrm>
            <a:off x="4965192" y="7235190"/>
            <a:ext cx="2377440" cy="356616"/>
          </a:xfrm>
          <a:prstGeom prst="rect">
            <a:avLst/>
          </a:prstGeom>
          <a:noFill/>
        </p:spPr>
        <p:txBody>
          <a:bodyPr wrap="none" anchor="t" lIns="0" rIns="0" tIns="0" bIns="0">
            <a:spAutoFit/>
          </a:bodyPr>
          <a:lstStyle/>
          <a:p>
            <a:pPr algn="l">
              <a:lnSpc>
                <a:spcPct val="125000"/>
              </a:lnSpc>
            </a:pPr>
            <a:r>
              <a:rPr sz="1008" b="0">
                <a:solidFill>
                  <a:srgbClr val="555555"/>
                </a:solidFill>
                <a:latin typeface="Arial"/>
                <a:ea typeface="Arial"/>
              </a:rPr>
              <a:t>잔여 변수 WAF는 호스트가 결정 → 고객</a:t>
            </a:r>
          </a:p>
          <a:p>
            <a:pPr algn="l">
              <a:lnSpc>
                <a:spcPct val="125000"/>
              </a:lnSpc>
            </a:pPr>
            <a:r>
              <a:rPr sz="1008" b="0">
                <a:solidFill>
                  <a:srgbClr val="555555"/>
                </a:solidFill>
                <a:latin typeface="Arial"/>
                <a:ea typeface="Arial"/>
              </a:rPr>
              <a:t>협업</a:t>
            </a:r>
          </a:p>
        </p:txBody>
      </p:sp>
      <p:sp>
        <p:nvSpPr>
          <p:cNvPr id="31" name="Rounded Rectangle 30"/>
          <p:cNvSpPr/>
          <p:nvPr/>
        </p:nvSpPr>
        <p:spPr>
          <a:xfrm>
            <a:off x="6823706" y="6419088"/>
            <a:ext cx="537213" cy="202082"/>
          </a:xfrm>
          <a:prstGeom prst="roundRect">
            <a:avLst>
              <a:gd name="adj" fmla="val 13574"/>
            </a:avLst>
          </a:prstGeom>
          <a:solidFill>
            <a:srgbClr val="FFFFFF"/>
          </a:solidFill>
          <a:ln w="1270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62864" y="6427546"/>
            <a:ext cx="458897" cy="185166"/>
          </a:xfrm>
          <a:prstGeom prst="rect">
            <a:avLst/>
          </a:prstGeom>
          <a:noFill/>
        </p:spPr>
        <p:txBody>
          <a:bodyPr wrap="none" anchor="t" lIns="0" rIns="0" tIns="0" bIns="0">
            <a:spAutoFit/>
          </a:bodyPr>
          <a:lstStyle/>
          <a:p>
            <a:pPr algn="ctr">
              <a:lnSpc>
                <a:spcPct val="125000"/>
              </a:lnSpc>
            </a:pPr>
            <a:r>
              <a:rPr sz="936" b="1">
                <a:solidFill>
                  <a:srgbClr val="1428A0"/>
                </a:solidFill>
                <a:latin typeface="Arial"/>
                <a:ea typeface="Arial"/>
              </a:rPr>
              <a:t>미충족</a:t>
            </a:r>
          </a:p>
        </p:txBody>
      </p:sp>
      <p:sp>
        <p:nvSpPr>
          <p:cNvPr id="33" name="Rounded Rectangle 32"/>
          <p:cNvSpPr/>
          <p:nvPr/>
        </p:nvSpPr>
        <p:spPr>
          <a:xfrm>
            <a:off x="8037575" y="6309359"/>
            <a:ext cx="2743200" cy="1371600"/>
          </a:xfrm>
          <a:prstGeom prst="roundRect">
            <a:avLst>
              <a:gd name="adj" fmla="val 4000"/>
            </a:avLst>
          </a:prstGeom>
          <a:solidFill>
            <a:srgbClr val="F4F6FC"/>
          </a:solidFill>
          <a:ln w="1905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037575" y="6309359"/>
            <a:ext cx="73152" cy="137160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8211312" y="6446520"/>
            <a:ext cx="274320" cy="274320"/>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51391" y="6468237"/>
            <a:ext cx="194160" cy="230886"/>
          </a:xfrm>
          <a:prstGeom prst="rect">
            <a:avLst/>
          </a:prstGeom>
          <a:noFill/>
        </p:spPr>
        <p:txBody>
          <a:bodyPr wrap="none" anchor="t" lIns="0" rIns="0" tIns="0" bIns="0">
            <a:spAutoFit/>
          </a:bodyPr>
          <a:lstStyle/>
          <a:p>
            <a:pPr algn="ctr">
              <a:lnSpc>
                <a:spcPct val="125000"/>
              </a:lnSpc>
            </a:pPr>
            <a:r>
              <a:rPr sz="1224" b="1">
                <a:solidFill>
                  <a:srgbClr val="FFFFFF"/>
                </a:solidFill>
                <a:latin typeface="Arial"/>
                <a:ea typeface="Arial"/>
              </a:rPr>
              <a:t>4</a:t>
            </a:r>
          </a:p>
        </p:txBody>
      </p:sp>
      <p:sp>
        <p:nvSpPr>
          <p:cNvPr id="37" name="TextBox 36"/>
          <p:cNvSpPr txBox="1"/>
          <p:nvPr/>
        </p:nvSpPr>
        <p:spPr>
          <a:xfrm>
            <a:off x="8567928" y="6451092"/>
            <a:ext cx="468319" cy="265176"/>
          </a:xfrm>
          <a:prstGeom prst="rect">
            <a:avLst/>
          </a:prstGeom>
          <a:noFill/>
        </p:spPr>
        <p:txBody>
          <a:bodyPr wrap="none" anchor="t" lIns="0" rIns="0" tIns="0" bIns="0">
            <a:spAutoFit/>
          </a:bodyPr>
          <a:lstStyle/>
          <a:p>
            <a:pPr algn="l">
              <a:lnSpc>
                <a:spcPct val="125000"/>
              </a:lnSpc>
            </a:pPr>
            <a:r>
              <a:rPr sz="1439" b="1">
                <a:solidFill>
                  <a:srgbClr val="1A1A1A"/>
                </a:solidFill>
                <a:latin typeface="Arial"/>
                <a:ea typeface="Arial"/>
              </a:rPr>
              <a:t>역량</a:t>
            </a:r>
          </a:p>
        </p:txBody>
      </p:sp>
      <p:sp>
        <p:nvSpPr>
          <p:cNvPr id="38" name="TextBox 37"/>
          <p:cNvSpPr txBox="1"/>
          <p:nvPr/>
        </p:nvSpPr>
        <p:spPr>
          <a:xfrm>
            <a:off x="8257032" y="6803136"/>
            <a:ext cx="887801" cy="402336"/>
          </a:xfrm>
          <a:prstGeom prst="rect">
            <a:avLst/>
          </a:prstGeom>
          <a:noFill/>
        </p:spPr>
        <p:txBody>
          <a:bodyPr wrap="none" anchor="t" lIns="0" rIns="0" tIns="0" bIns="0">
            <a:spAutoFit/>
          </a:bodyPr>
          <a:lstStyle/>
          <a:p>
            <a:pPr algn="l">
              <a:lnSpc>
                <a:spcPct val="125000"/>
              </a:lnSpc>
            </a:pPr>
            <a:r>
              <a:rPr sz="2304" b="1">
                <a:solidFill>
                  <a:srgbClr val="1428A0"/>
                </a:solidFill>
                <a:latin typeface="Arial"/>
                <a:ea typeface="Arial"/>
              </a:rPr>
              <a:t>3단계</a:t>
            </a:r>
          </a:p>
        </p:txBody>
      </p:sp>
      <p:sp>
        <p:nvSpPr>
          <p:cNvPr id="39" name="TextBox 38"/>
          <p:cNvSpPr txBox="1"/>
          <p:nvPr/>
        </p:nvSpPr>
        <p:spPr>
          <a:xfrm>
            <a:off x="8257032" y="7235190"/>
            <a:ext cx="2377440" cy="356616"/>
          </a:xfrm>
          <a:prstGeom prst="rect">
            <a:avLst/>
          </a:prstGeom>
          <a:noFill/>
        </p:spPr>
        <p:txBody>
          <a:bodyPr wrap="none" anchor="t" lIns="0" rIns="0" tIns="0" bIns="0">
            <a:spAutoFit/>
          </a:bodyPr>
          <a:lstStyle/>
          <a:p>
            <a:pPr algn="l">
              <a:lnSpc>
                <a:spcPct val="125000"/>
              </a:lnSpc>
            </a:pPr>
            <a:r>
              <a:rPr sz="1008" b="0">
                <a:solidFill>
                  <a:srgbClr val="555555"/>
                </a:solidFill>
                <a:latin typeface="Arial"/>
                <a:ea typeface="Arial"/>
              </a:rPr>
              <a:t>디바이스 → 워크로드 → 고객 시스템 ·</a:t>
            </a:r>
          </a:p>
          <a:p>
            <a:pPr algn="l">
              <a:lnSpc>
                <a:spcPct val="125000"/>
              </a:lnSpc>
            </a:pPr>
            <a:r>
              <a:rPr sz="1008" b="0">
                <a:solidFill>
                  <a:srgbClr val="555555"/>
                </a:solidFill>
                <a:latin typeface="Arial"/>
                <a:ea typeface="Arial"/>
              </a:rPr>
              <a:t>삼성은 현재 1단계</a:t>
            </a:r>
          </a:p>
        </p:txBody>
      </p:sp>
      <p:sp>
        <p:nvSpPr>
          <p:cNvPr id="40" name="Rounded Rectangle 39"/>
          <p:cNvSpPr/>
          <p:nvPr/>
        </p:nvSpPr>
        <p:spPr>
          <a:xfrm>
            <a:off x="11329416" y="6309359"/>
            <a:ext cx="2743200" cy="1371600"/>
          </a:xfrm>
          <a:prstGeom prst="roundRect">
            <a:avLst>
              <a:gd name="adj" fmla="val 4000"/>
            </a:avLst>
          </a:prstGeom>
          <a:solidFill>
            <a:srgbClr val="F4F6FC"/>
          </a:solidFill>
          <a:ln w="1905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1329416" y="6309359"/>
            <a:ext cx="73152" cy="137160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1503151" y="6446520"/>
            <a:ext cx="274320" cy="274320"/>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1543231" y="6468237"/>
            <a:ext cx="194160" cy="230886"/>
          </a:xfrm>
          <a:prstGeom prst="rect">
            <a:avLst/>
          </a:prstGeom>
          <a:noFill/>
        </p:spPr>
        <p:txBody>
          <a:bodyPr wrap="none" anchor="t" lIns="0" rIns="0" tIns="0" bIns="0">
            <a:spAutoFit/>
          </a:bodyPr>
          <a:lstStyle/>
          <a:p>
            <a:pPr algn="ctr">
              <a:lnSpc>
                <a:spcPct val="125000"/>
              </a:lnSpc>
            </a:pPr>
            <a:r>
              <a:rPr sz="1224" b="1">
                <a:solidFill>
                  <a:srgbClr val="FFFFFF"/>
                </a:solidFill>
                <a:latin typeface="Arial"/>
                <a:ea typeface="Arial"/>
              </a:rPr>
              <a:t>5</a:t>
            </a:r>
          </a:p>
        </p:txBody>
      </p:sp>
      <p:sp>
        <p:nvSpPr>
          <p:cNvPr id="44" name="TextBox 43"/>
          <p:cNvSpPr txBox="1"/>
          <p:nvPr/>
        </p:nvSpPr>
        <p:spPr>
          <a:xfrm>
            <a:off x="11859767" y="6451092"/>
            <a:ext cx="468319" cy="265176"/>
          </a:xfrm>
          <a:prstGeom prst="rect">
            <a:avLst/>
          </a:prstGeom>
          <a:noFill/>
        </p:spPr>
        <p:txBody>
          <a:bodyPr wrap="none" anchor="t" lIns="0" rIns="0" tIns="0" bIns="0">
            <a:spAutoFit/>
          </a:bodyPr>
          <a:lstStyle/>
          <a:p>
            <a:pPr algn="l">
              <a:lnSpc>
                <a:spcPct val="125000"/>
              </a:lnSpc>
            </a:pPr>
            <a:r>
              <a:rPr sz="1439" b="1">
                <a:solidFill>
                  <a:srgbClr val="1A1A1A"/>
                </a:solidFill>
                <a:latin typeface="Arial"/>
                <a:ea typeface="Arial"/>
              </a:rPr>
              <a:t>실행</a:t>
            </a:r>
          </a:p>
        </p:txBody>
      </p:sp>
      <p:sp>
        <p:nvSpPr>
          <p:cNvPr id="45" name="TextBox 44"/>
          <p:cNvSpPr txBox="1"/>
          <p:nvPr/>
        </p:nvSpPr>
        <p:spPr>
          <a:xfrm>
            <a:off x="11548872" y="6803136"/>
            <a:ext cx="1674690" cy="402336"/>
          </a:xfrm>
          <a:prstGeom prst="rect">
            <a:avLst/>
          </a:prstGeom>
          <a:noFill/>
        </p:spPr>
        <p:txBody>
          <a:bodyPr wrap="none" anchor="t" lIns="0" rIns="0" tIns="0" bIns="0">
            <a:spAutoFit/>
          </a:bodyPr>
          <a:lstStyle/>
          <a:p>
            <a:pPr algn="l">
              <a:lnSpc>
                <a:spcPct val="125000"/>
              </a:lnSpc>
            </a:pPr>
            <a:r>
              <a:rPr sz="2304" b="1">
                <a:solidFill>
                  <a:srgbClr val="1428A0"/>
                </a:solidFill>
                <a:latin typeface="Arial"/>
                <a:ea typeface="Arial"/>
              </a:rPr>
              <a:t>FDE 1~2사</a:t>
            </a:r>
          </a:p>
        </p:txBody>
      </p:sp>
      <p:sp>
        <p:nvSpPr>
          <p:cNvPr id="46" name="TextBox 45"/>
          <p:cNvSpPr txBox="1"/>
          <p:nvPr/>
        </p:nvSpPr>
        <p:spPr>
          <a:xfrm>
            <a:off x="11548872" y="7235190"/>
            <a:ext cx="2377440" cy="356616"/>
          </a:xfrm>
          <a:prstGeom prst="rect">
            <a:avLst/>
          </a:prstGeom>
          <a:noFill/>
        </p:spPr>
        <p:txBody>
          <a:bodyPr wrap="none" anchor="t" lIns="0" rIns="0" tIns="0" bIns="0">
            <a:spAutoFit/>
          </a:bodyPr>
          <a:lstStyle/>
          <a:p>
            <a:pPr algn="l">
              <a:lnSpc>
                <a:spcPct val="125000"/>
              </a:lnSpc>
            </a:pPr>
            <a:r>
              <a:rPr sz="1008" b="0">
                <a:solidFill>
                  <a:srgbClr val="555555"/>
                </a:solidFill>
                <a:latin typeface="Arial"/>
                <a:ea typeface="Arial"/>
              </a:rPr>
              <a:t>워크로드 개방 고객 집중 · 나머지는</a:t>
            </a:r>
          </a:p>
          <a:p>
            <a:pPr algn="l">
              <a:lnSpc>
                <a:spcPct val="125000"/>
              </a:lnSpc>
            </a:pPr>
            <a:r>
              <a:rPr sz="1008" b="0">
                <a:solidFill>
                  <a:srgbClr val="555555"/>
                </a:solidFill>
                <a:latin typeface="Arial"/>
                <a:ea typeface="Arial"/>
              </a:rPr>
              <a:t>업스트림·규격</a:t>
            </a:r>
          </a:p>
        </p:txBody>
      </p:sp>
      <p:sp>
        <p:nvSpPr>
          <p:cNvPr id="47" name="Rounded Rectangle 46"/>
          <p:cNvSpPr/>
          <p:nvPr/>
        </p:nvSpPr>
        <p:spPr>
          <a:xfrm>
            <a:off x="14621255" y="6309359"/>
            <a:ext cx="2578608" cy="1371600"/>
          </a:xfrm>
          <a:prstGeom prst="roundRect">
            <a:avLst>
              <a:gd name="adj" fmla="val 4000"/>
            </a:avLst>
          </a:prstGeom>
          <a:solidFill>
            <a:srgbClr val="F4F6FC"/>
          </a:solidFill>
          <a:ln w="1905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4621255" y="6309359"/>
            <a:ext cx="73152" cy="137160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4794992" y="6446520"/>
            <a:ext cx="274320" cy="274320"/>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4835071" y="6468237"/>
            <a:ext cx="194160" cy="230886"/>
          </a:xfrm>
          <a:prstGeom prst="rect">
            <a:avLst/>
          </a:prstGeom>
          <a:noFill/>
        </p:spPr>
        <p:txBody>
          <a:bodyPr wrap="none" anchor="t" lIns="0" rIns="0" tIns="0" bIns="0">
            <a:spAutoFit/>
          </a:bodyPr>
          <a:lstStyle/>
          <a:p>
            <a:pPr algn="ctr">
              <a:lnSpc>
                <a:spcPct val="125000"/>
              </a:lnSpc>
            </a:pPr>
            <a:r>
              <a:rPr sz="1224" b="1">
                <a:solidFill>
                  <a:srgbClr val="FFFFFF"/>
                </a:solidFill>
                <a:latin typeface="Arial"/>
                <a:ea typeface="Arial"/>
              </a:rPr>
              <a:t>6</a:t>
            </a:r>
          </a:p>
        </p:txBody>
      </p:sp>
      <p:sp>
        <p:nvSpPr>
          <p:cNvPr id="51" name="TextBox 50"/>
          <p:cNvSpPr txBox="1"/>
          <p:nvPr/>
        </p:nvSpPr>
        <p:spPr>
          <a:xfrm>
            <a:off x="15151608" y="6451092"/>
            <a:ext cx="1059048" cy="265176"/>
          </a:xfrm>
          <a:prstGeom prst="rect">
            <a:avLst/>
          </a:prstGeom>
          <a:noFill/>
        </p:spPr>
        <p:txBody>
          <a:bodyPr wrap="none" anchor="t" lIns="0" rIns="0" tIns="0" bIns="0">
            <a:spAutoFit/>
          </a:bodyPr>
          <a:lstStyle/>
          <a:p>
            <a:pPr algn="l">
              <a:lnSpc>
                <a:spcPct val="125000"/>
              </a:lnSpc>
            </a:pPr>
            <a:r>
              <a:rPr sz="1439" b="1">
                <a:solidFill>
                  <a:srgbClr val="1A1A1A"/>
                </a:solidFill>
                <a:latin typeface="Arial"/>
                <a:ea typeface="Arial"/>
              </a:rPr>
              <a:t>보증 · SLA</a:t>
            </a:r>
          </a:p>
        </p:txBody>
      </p:sp>
      <p:sp>
        <p:nvSpPr>
          <p:cNvPr id="52" name="TextBox 51"/>
          <p:cNvSpPr txBox="1"/>
          <p:nvPr/>
        </p:nvSpPr>
        <p:spPr>
          <a:xfrm>
            <a:off x="14840712" y="6803136"/>
            <a:ext cx="2733280" cy="402336"/>
          </a:xfrm>
          <a:prstGeom prst="rect">
            <a:avLst/>
          </a:prstGeom>
          <a:noFill/>
        </p:spPr>
        <p:txBody>
          <a:bodyPr wrap="none" anchor="t" lIns="0" rIns="0" tIns="0" bIns="0">
            <a:spAutoFit/>
          </a:bodyPr>
          <a:lstStyle/>
          <a:p>
            <a:pPr algn="l">
              <a:lnSpc>
                <a:spcPct val="125000"/>
              </a:lnSpc>
            </a:pPr>
            <a:r>
              <a:rPr sz="2304" b="1">
                <a:solidFill>
                  <a:srgbClr val="1428A0"/>
                </a:solidFill>
                <a:latin typeface="Arial"/>
                <a:ea typeface="Arial"/>
              </a:rPr>
              <a:t>조건부 유효 DWPD</a:t>
            </a:r>
          </a:p>
        </p:txBody>
      </p:sp>
      <p:sp>
        <p:nvSpPr>
          <p:cNvPr id="53" name="TextBox 52"/>
          <p:cNvSpPr txBox="1"/>
          <p:nvPr/>
        </p:nvSpPr>
        <p:spPr>
          <a:xfrm>
            <a:off x="14840712" y="7235190"/>
            <a:ext cx="2212848" cy="196596"/>
          </a:xfrm>
          <a:prstGeom prst="rect">
            <a:avLst/>
          </a:prstGeom>
          <a:noFill/>
        </p:spPr>
        <p:txBody>
          <a:bodyPr wrap="none" anchor="t" lIns="0" rIns="0" tIns="0" bIns="0">
            <a:spAutoFit/>
          </a:bodyPr>
          <a:lstStyle/>
          <a:p>
            <a:pPr algn="l">
              <a:lnSpc>
                <a:spcPct val="125000"/>
              </a:lnSpc>
            </a:pPr>
            <a:r>
              <a:rPr sz="1008" b="0">
                <a:solidFill>
                  <a:srgbClr val="555555"/>
                </a:solidFill>
                <a:latin typeface="Arial"/>
                <a:ea typeface="Arial"/>
              </a:rPr>
              <a:t>TBW 관행 유지 · WAF 밴드 조건부 등급</a:t>
            </a:r>
          </a:p>
        </p:txBody>
      </p:sp>
      <p:cxnSp>
        <p:nvCxnSpPr>
          <p:cNvPr id="54" name="Connector 53"/>
          <p:cNvCxnSpPr/>
          <p:nvPr/>
        </p:nvCxnSpPr>
        <p:spPr>
          <a:xfrm>
            <a:off x="3739896" y="5394960"/>
            <a:ext cx="457200" cy="0"/>
          </a:xfrm>
          <a:prstGeom prst="line">
            <a:avLst/>
          </a:prstGeom>
          <a:ln w="38100">
            <a:solidFill>
              <a:srgbClr val="1428A0"/>
            </a:solidFill>
          </a:ln>
        </p:spPr>
        <p:style>
          <a:lnRef idx="2">
            <a:schemeClr val="accent1"/>
          </a:lnRef>
          <a:fillRef idx="0">
            <a:schemeClr val="accent1"/>
          </a:fillRef>
          <a:effectRef idx="1">
            <a:schemeClr val="accent1"/>
          </a:effectRef>
          <a:fontRef idx="minor">
            <a:schemeClr val="tx1"/>
          </a:fontRef>
        </p:style>
      </p:cxnSp>
      <p:sp>
        <p:nvSpPr>
          <p:cNvPr id="55" name="Oval 54"/>
          <p:cNvSpPr/>
          <p:nvPr/>
        </p:nvSpPr>
        <p:spPr>
          <a:xfrm>
            <a:off x="4133087" y="5330952"/>
            <a:ext cx="128016" cy="128016"/>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6" name="Connector 55"/>
          <p:cNvCxnSpPr/>
          <p:nvPr/>
        </p:nvCxnSpPr>
        <p:spPr>
          <a:xfrm flipV="1">
            <a:off x="4197096" y="3685031"/>
            <a:ext cx="0" cy="1709929"/>
          </a:xfrm>
          <a:prstGeom prst="line">
            <a:avLst/>
          </a:prstGeom>
          <a:ln w="38100">
            <a:solidFill>
              <a:srgbClr val="1428A0"/>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4197096" y="3685031"/>
            <a:ext cx="512064" cy="0"/>
          </a:xfrm>
          <a:prstGeom prst="line">
            <a:avLst/>
          </a:prstGeom>
          <a:ln w="38100">
            <a:solidFill>
              <a:srgbClr val="1428A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4197096" y="5394960"/>
            <a:ext cx="0" cy="1600199"/>
          </a:xfrm>
          <a:prstGeom prst="line">
            <a:avLst/>
          </a:prstGeom>
          <a:ln w="38100">
            <a:solidFill>
              <a:srgbClr val="1428A0"/>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4197096" y="6995159"/>
            <a:ext cx="512064" cy="0"/>
          </a:xfrm>
          <a:prstGeom prst="line">
            <a:avLst/>
          </a:prstGeom>
          <a:ln w="38100">
            <a:solidFill>
              <a:srgbClr val="1428A0"/>
            </a:solidFill>
            <a:tailEnd type="triangle" w="med" len="med"/>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4325112" y="4696358"/>
            <a:ext cx="1082607" cy="343814"/>
          </a:xfrm>
          <a:prstGeom prst="rect">
            <a:avLst/>
          </a:prstGeom>
          <a:noFill/>
        </p:spPr>
        <p:txBody>
          <a:bodyPr wrap="none" anchor="t" lIns="0" rIns="0" tIns="0" bIns="0">
            <a:spAutoFit/>
          </a:bodyPr>
          <a:lstStyle/>
          <a:p>
            <a:pPr algn="l">
              <a:lnSpc>
                <a:spcPct val="120000"/>
              </a:lnSpc>
            </a:pPr>
            <a:r>
              <a:rPr sz="1008" b="0">
                <a:solidFill>
                  <a:srgbClr val="8A8A8A"/>
                </a:solidFill>
                <a:latin typeface="Arial"/>
                <a:ea typeface="Arial"/>
              </a:rPr>
              <a:t>첫째 축</a:t>
            </a:r>
          </a:p>
          <a:p>
            <a:pPr algn="l">
              <a:lnSpc>
                <a:spcPct val="120000"/>
              </a:lnSpc>
            </a:pPr>
            <a:r>
              <a:rPr sz="1008" b="0">
                <a:solidFill>
                  <a:srgbClr val="8A8A8A"/>
                </a:solidFill>
                <a:latin typeface="Arial"/>
                <a:ea typeface="Arial"/>
              </a:rPr>
              <a:t>SSD 안에서 해결</a:t>
            </a:r>
          </a:p>
        </p:txBody>
      </p:sp>
      <p:sp>
        <p:nvSpPr>
          <p:cNvPr id="61" name="TextBox 60"/>
          <p:cNvSpPr txBox="1"/>
          <p:nvPr/>
        </p:nvSpPr>
        <p:spPr>
          <a:xfrm>
            <a:off x="4325112" y="5665622"/>
            <a:ext cx="1082607" cy="343814"/>
          </a:xfrm>
          <a:prstGeom prst="rect">
            <a:avLst/>
          </a:prstGeom>
          <a:noFill/>
        </p:spPr>
        <p:txBody>
          <a:bodyPr wrap="none" anchor="t" lIns="0" rIns="0" tIns="0" bIns="0">
            <a:spAutoFit/>
          </a:bodyPr>
          <a:lstStyle/>
          <a:p>
            <a:pPr algn="l">
              <a:lnSpc>
                <a:spcPct val="120000"/>
              </a:lnSpc>
            </a:pPr>
            <a:r>
              <a:rPr sz="1008" b="0">
                <a:solidFill>
                  <a:srgbClr val="8A8A8A"/>
                </a:solidFill>
                <a:latin typeface="Arial"/>
                <a:ea typeface="Arial"/>
              </a:rPr>
              <a:t>둘째 축</a:t>
            </a:r>
          </a:p>
          <a:p>
            <a:pPr algn="l">
              <a:lnSpc>
                <a:spcPct val="120000"/>
              </a:lnSpc>
            </a:pPr>
            <a:r>
              <a:rPr sz="1008" b="0">
                <a:solidFill>
                  <a:srgbClr val="8A8A8A"/>
                </a:solidFill>
                <a:latin typeface="Arial"/>
                <a:ea typeface="Arial"/>
              </a:rPr>
              <a:t>SSD 밖에서 해결</a:t>
            </a:r>
          </a:p>
        </p:txBody>
      </p:sp>
      <p:sp>
        <p:nvSpPr>
          <p:cNvPr id="62" name="TextBox 61"/>
          <p:cNvSpPr txBox="1"/>
          <p:nvPr/>
        </p:nvSpPr>
        <p:spPr>
          <a:xfrm>
            <a:off x="4745736" y="2694051"/>
            <a:ext cx="1468372" cy="208026"/>
          </a:xfrm>
          <a:prstGeom prst="rect">
            <a:avLst/>
          </a:prstGeom>
          <a:noFill/>
        </p:spPr>
        <p:txBody>
          <a:bodyPr wrap="none" anchor="t" lIns="0" rIns="0" tIns="0" bIns="0">
            <a:spAutoFit/>
          </a:bodyPr>
          <a:lstStyle/>
          <a:p>
            <a:pPr algn="l">
              <a:lnSpc>
                <a:spcPct val="125000"/>
              </a:lnSpc>
            </a:pPr>
            <a:r>
              <a:rPr sz="1080" b="1">
                <a:solidFill>
                  <a:srgbClr val="1428A0"/>
                </a:solidFill>
                <a:latin typeface="Arial"/>
                <a:ea typeface="Arial"/>
              </a:rPr>
              <a:t>신뢰성 축 · SSD 계층</a:t>
            </a:r>
          </a:p>
        </p:txBody>
      </p:sp>
      <p:sp>
        <p:nvSpPr>
          <p:cNvPr id="63" name="TextBox 62"/>
          <p:cNvSpPr txBox="1"/>
          <p:nvPr/>
        </p:nvSpPr>
        <p:spPr>
          <a:xfrm>
            <a:off x="8037575" y="6004179"/>
            <a:ext cx="2228931" cy="208026"/>
          </a:xfrm>
          <a:prstGeom prst="rect">
            <a:avLst/>
          </a:prstGeom>
          <a:noFill/>
        </p:spPr>
        <p:txBody>
          <a:bodyPr wrap="none" anchor="t" lIns="0" rIns="0" tIns="0" bIns="0">
            <a:spAutoFit/>
          </a:bodyPr>
          <a:lstStyle/>
          <a:p>
            <a:pPr algn="l">
              <a:lnSpc>
                <a:spcPct val="125000"/>
              </a:lnSpc>
            </a:pPr>
            <a:r>
              <a:rPr sz="1080" b="1">
                <a:solidFill>
                  <a:srgbClr val="1428A0"/>
                </a:solidFill>
                <a:latin typeface="Arial"/>
                <a:ea typeface="Arial"/>
              </a:rPr>
              <a:t>내구성 축 · 호스트 공동 설계 경로</a:t>
            </a:r>
          </a:p>
        </p:txBody>
      </p:sp>
      <p:cxnSp>
        <p:nvCxnSpPr>
          <p:cNvPr id="64" name="Connector 63"/>
          <p:cNvCxnSpPr/>
          <p:nvPr/>
        </p:nvCxnSpPr>
        <p:spPr>
          <a:xfrm>
            <a:off x="7488936" y="6995159"/>
            <a:ext cx="512064" cy="0"/>
          </a:xfrm>
          <a:prstGeom prst="line">
            <a:avLst/>
          </a:prstGeom>
          <a:ln w="38100">
            <a:solidFill>
              <a:srgbClr val="1428A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10780776" y="6995159"/>
            <a:ext cx="512064" cy="0"/>
          </a:xfrm>
          <a:prstGeom prst="line">
            <a:avLst/>
          </a:prstGeom>
          <a:ln w="38100">
            <a:solidFill>
              <a:srgbClr val="1428A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14072616" y="6995159"/>
            <a:ext cx="512064" cy="0"/>
          </a:xfrm>
          <a:prstGeom prst="line">
            <a:avLst/>
          </a:prstGeom>
          <a:ln w="38100">
            <a:solidFill>
              <a:srgbClr val="1428A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7123176" y="4370831"/>
            <a:ext cx="0" cy="932689"/>
          </a:xfrm>
          <a:prstGeom prst="line">
            <a:avLst/>
          </a:prstGeom>
          <a:ln w="25400">
            <a:solidFill>
              <a:srgbClr val="AAB8E8"/>
            </a:solidFill>
            <a:prstDash val="dash"/>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7123176" y="5303520"/>
            <a:ext cx="9528048" cy="0"/>
          </a:xfrm>
          <a:prstGeom prst="line">
            <a:avLst/>
          </a:prstGeom>
          <a:ln w="25400">
            <a:solidFill>
              <a:srgbClr val="AAB8E8"/>
            </a:solidFill>
            <a:prstDash val="dash"/>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16651224" y="5303520"/>
            <a:ext cx="0" cy="950976"/>
          </a:xfrm>
          <a:prstGeom prst="line">
            <a:avLst/>
          </a:prstGeom>
          <a:ln w="25400">
            <a:solidFill>
              <a:srgbClr val="AAB8E8"/>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7306056" y="5095494"/>
            <a:ext cx="1958130" cy="196596"/>
          </a:xfrm>
          <a:prstGeom prst="rect">
            <a:avLst/>
          </a:prstGeom>
          <a:noFill/>
        </p:spPr>
        <p:txBody>
          <a:bodyPr wrap="none" anchor="t" lIns="0" rIns="0" tIns="0" bIns="0">
            <a:spAutoFit/>
          </a:bodyPr>
          <a:lstStyle/>
          <a:p>
            <a:pPr algn="l">
              <a:lnSpc>
                <a:spcPct val="125000"/>
              </a:lnSpc>
            </a:pPr>
            <a:r>
              <a:rPr sz="1008" b="0">
                <a:solidFill>
                  <a:srgbClr val="555555"/>
                </a:solidFill>
                <a:latin typeface="Arial"/>
                <a:ea typeface="Arial"/>
              </a:rPr>
              <a:t>감량 운영 정책 → 6장 보증 조항</a:t>
            </a:r>
          </a:p>
        </p:txBody>
      </p:sp>
      <p:sp>
        <p:nvSpPr>
          <p:cNvPr id="71" name="Rounded Rectangle 70"/>
          <p:cNvSpPr/>
          <p:nvPr/>
        </p:nvSpPr>
        <p:spPr>
          <a:xfrm>
            <a:off x="8037575" y="2999232"/>
            <a:ext cx="9162288" cy="1371600"/>
          </a:xfrm>
          <a:prstGeom prst="roundRect">
            <a:avLst>
              <a:gd name="adj" fmla="val 4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257032" y="3163824"/>
            <a:ext cx="882399" cy="219456"/>
          </a:xfrm>
          <a:prstGeom prst="rect">
            <a:avLst/>
          </a:prstGeom>
          <a:noFill/>
        </p:spPr>
        <p:txBody>
          <a:bodyPr wrap="none" anchor="t" lIns="0" rIns="0" tIns="0" bIns="0">
            <a:spAutoFit/>
          </a:bodyPr>
          <a:lstStyle/>
          <a:p>
            <a:pPr algn="l">
              <a:lnSpc>
                <a:spcPct val="125000"/>
              </a:lnSpc>
            </a:pPr>
            <a:r>
              <a:rPr sz="1152" b="1">
                <a:solidFill>
                  <a:srgbClr val="1A1A1A"/>
                </a:solidFill>
                <a:latin typeface="Arial"/>
                <a:ea typeface="Arial"/>
              </a:rPr>
              <a:t>판돈과 비용</a:t>
            </a:r>
          </a:p>
        </p:txBody>
      </p:sp>
      <p:sp>
        <p:nvSpPr>
          <p:cNvPr id="73" name="TextBox 72"/>
          <p:cNvSpPr txBox="1"/>
          <p:nvPr/>
        </p:nvSpPr>
        <p:spPr>
          <a:xfrm>
            <a:off x="9147759" y="3184398"/>
            <a:ext cx="302922" cy="196596"/>
          </a:xfrm>
          <a:prstGeom prst="rect">
            <a:avLst/>
          </a:prstGeom>
          <a:noFill/>
        </p:spPr>
        <p:txBody>
          <a:bodyPr wrap="none" anchor="t" lIns="0" rIns="0" tIns="0" bIns="0">
            <a:spAutoFit/>
          </a:bodyPr>
          <a:lstStyle/>
          <a:p>
            <a:pPr algn="l">
              <a:lnSpc>
                <a:spcPct val="125000"/>
              </a:lnSpc>
            </a:pPr>
            <a:r>
              <a:rPr sz="1008" b="0">
                <a:solidFill>
                  <a:srgbClr val="8A8A8A"/>
                </a:solidFill>
                <a:latin typeface="Arial"/>
                <a:ea typeface="Arial"/>
              </a:rPr>
              <a:t>5장</a:t>
            </a:r>
          </a:p>
        </p:txBody>
      </p:sp>
      <p:sp>
        <p:nvSpPr>
          <p:cNvPr id="74" name="TextBox 73"/>
          <p:cNvSpPr txBox="1"/>
          <p:nvPr/>
        </p:nvSpPr>
        <p:spPr>
          <a:xfrm>
            <a:off x="8257032" y="3467862"/>
            <a:ext cx="2514997" cy="196596"/>
          </a:xfrm>
          <a:prstGeom prst="rect">
            <a:avLst/>
          </a:prstGeom>
          <a:noFill/>
        </p:spPr>
        <p:txBody>
          <a:bodyPr wrap="none" anchor="t" lIns="0" rIns="0" tIns="0" bIns="0">
            <a:spAutoFit/>
          </a:bodyPr>
          <a:lstStyle/>
          <a:p>
            <a:pPr algn="l">
              <a:lnSpc>
                <a:spcPct val="125000"/>
              </a:lnSpc>
            </a:pPr>
            <a:r>
              <a:rPr sz="1008" b="0">
                <a:solidFill>
                  <a:srgbClr val="8A8A8A"/>
                </a:solidFill>
                <a:latin typeface="Arial"/>
                <a:ea typeface="Arial"/>
              </a:rPr>
              <a:t>판돈 · 락인으로 얻는 캐시 계층 QLC 점유</a:t>
            </a:r>
          </a:p>
        </p:txBody>
      </p:sp>
      <p:sp>
        <p:nvSpPr>
          <p:cNvPr id="75" name="TextBox 74"/>
          <p:cNvSpPr txBox="1"/>
          <p:nvPr/>
        </p:nvSpPr>
        <p:spPr>
          <a:xfrm>
            <a:off x="8257032" y="3712463"/>
            <a:ext cx="1463617" cy="402336"/>
          </a:xfrm>
          <a:prstGeom prst="rect">
            <a:avLst/>
          </a:prstGeom>
          <a:noFill/>
        </p:spPr>
        <p:txBody>
          <a:bodyPr wrap="none" anchor="t" lIns="0" rIns="0" tIns="0" bIns="0">
            <a:spAutoFit/>
          </a:bodyPr>
          <a:lstStyle/>
          <a:p>
            <a:pPr algn="l">
              <a:lnSpc>
                <a:spcPct val="125000"/>
              </a:lnSpc>
            </a:pPr>
            <a:r>
              <a:rPr sz="2304" b="1">
                <a:solidFill>
                  <a:srgbClr val="1428A0"/>
                </a:solidFill>
                <a:latin typeface="Arial"/>
                <a:ea typeface="Arial"/>
              </a:rPr>
              <a:t>0 → 50%</a:t>
            </a:r>
          </a:p>
        </p:txBody>
      </p:sp>
      <p:sp>
        <p:nvSpPr>
          <p:cNvPr id="76" name="TextBox 75"/>
          <p:cNvSpPr txBox="1"/>
          <p:nvPr/>
        </p:nvSpPr>
        <p:spPr>
          <a:xfrm>
            <a:off x="8257032" y="4107941"/>
            <a:ext cx="2393282" cy="196596"/>
          </a:xfrm>
          <a:prstGeom prst="rect">
            <a:avLst/>
          </a:prstGeom>
          <a:noFill/>
        </p:spPr>
        <p:txBody>
          <a:bodyPr wrap="none" anchor="t" lIns="0" rIns="0" tIns="0" bIns="0">
            <a:spAutoFit/>
          </a:bodyPr>
          <a:lstStyle/>
          <a:p>
            <a:pPr algn="l">
              <a:lnSpc>
                <a:spcPct val="125000"/>
              </a:lnSpc>
            </a:pPr>
            <a:r>
              <a:rPr sz="1008" b="0">
                <a:solidFill>
                  <a:srgbClr val="555555"/>
                </a:solidFill>
                <a:latin typeface="Arial"/>
                <a:ea typeface="Arial"/>
              </a:rPr>
              <a:t>2030년 350EB 중 175EB(조건부 상방)</a:t>
            </a:r>
          </a:p>
        </p:txBody>
      </p:sp>
      <p:cxnSp>
        <p:nvCxnSpPr>
          <p:cNvPr id="77" name="Connector 76"/>
          <p:cNvCxnSpPr/>
          <p:nvPr/>
        </p:nvCxnSpPr>
        <p:spPr>
          <a:xfrm>
            <a:off x="12618720" y="3182112"/>
            <a:ext cx="0" cy="100584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12838176" y="3467862"/>
            <a:ext cx="1783478" cy="196596"/>
          </a:xfrm>
          <a:prstGeom prst="rect">
            <a:avLst/>
          </a:prstGeom>
          <a:noFill/>
        </p:spPr>
        <p:txBody>
          <a:bodyPr wrap="none" anchor="t" lIns="0" rIns="0" tIns="0" bIns="0">
            <a:spAutoFit/>
          </a:bodyPr>
          <a:lstStyle/>
          <a:p>
            <a:pPr algn="l">
              <a:lnSpc>
                <a:spcPct val="125000"/>
              </a:lnSpc>
            </a:pPr>
            <a:r>
              <a:rPr sz="1008" b="0">
                <a:solidFill>
                  <a:srgbClr val="8A8A8A"/>
                </a:solidFill>
                <a:latin typeface="Arial"/>
                <a:ea typeface="Arial"/>
              </a:rPr>
              <a:t>비용 · 개발실 개발 자원 투입</a:t>
            </a:r>
          </a:p>
        </p:txBody>
      </p:sp>
      <p:sp>
        <p:nvSpPr>
          <p:cNvPr id="79" name="TextBox 78"/>
          <p:cNvSpPr txBox="1"/>
          <p:nvPr/>
        </p:nvSpPr>
        <p:spPr>
          <a:xfrm>
            <a:off x="12838176" y="3712463"/>
            <a:ext cx="2049265" cy="402336"/>
          </a:xfrm>
          <a:prstGeom prst="rect">
            <a:avLst/>
          </a:prstGeom>
          <a:noFill/>
        </p:spPr>
        <p:txBody>
          <a:bodyPr wrap="none" anchor="t" lIns="0" rIns="0" tIns="0" bIns="0">
            <a:spAutoFit/>
          </a:bodyPr>
          <a:lstStyle/>
          <a:p>
            <a:pPr algn="l">
              <a:lnSpc>
                <a:spcPct val="125000"/>
              </a:lnSpc>
            </a:pPr>
            <a:r>
              <a:rPr sz="2304" b="1">
                <a:solidFill>
                  <a:srgbClr val="1428A0"/>
                </a:solidFill>
                <a:latin typeface="Arial"/>
                <a:ea typeface="Arial"/>
              </a:rPr>
              <a:t>별도 투자 없음</a:t>
            </a:r>
          </a:p>
        </p:txBody>
      </p:sp>
      <p:sp>
        <p:nvSpPr>
          <p:cNvPr id="80" name="TextBox 79"/>
          <p:cNvSpPr txBox="1"/>
          <p:nvPr/>
        </p:nvSpPr>
        <p:spPr>
          <a:xfrm>
            <a:off x="12838176" y="4107941"/>
            <a:ext cx="2079419" cy="196596"/>
          </a:xfrm>
          <a:prstGeom prst="rect">
            <a:avLst/>
          </a:prstGeom>
          <a:noFill/>
        </p:spPr>
        <p:txBody>
          <a:bodyPr wrap="none" anchor="t" lIns="0" rIns="0" tIns="0" bIns="0">
            <a:spAutoFit/>
          </a:bodyPr>
          <a:lstStyle/>
          <a:p>
            <a:pPr algn="l">
              <a:lnSpc>
                <a:spcPct val="125000"/>
              </a:lnSpc>
            </a:pPr>
            <a:r>
              <a:rPr sz="1008" b="0">
                <a:solidFill>
                  <a:srgbClr val="555555"/>
                </a:solidFill>
                <a:latin typeface="Arial"/>
                <a:ea typeface="Arial"/>
              </a:rPr>
              <a:t>개발 자원 재배치 · 채용은 정원 내</a:t>
            </a:r>
          </a:p>
        </p:txBody>
      </p:sp>
      <p:sp>
        <p:nvSpPr>
          <p:cNvPr id="81" name="Rectangle 80"/>
          <p:cNvSpPr/>
          <p:nvPr/>
        </p:nvSpPr>
        <p:spPr>
          <a:xfrm>
            <a:off x="722376" y="8467344"/>
            <a:ext cx="16843248" cy="82296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1133856" y="8467344"/>
            <a:ext cx="1463040" cy="822960"/>
          </a:xfrm>
          <a:prstGeom prst="rect">
            <a:avLst/>
          </a:prstGeom>
          <a:noFill/>
        </p:spPr>
        <p:txBody>
          <a:bodyPr wrap="square" anchor="ctr" lIns="0" rIns="0" tIns="0" bIns="0">
            <a:spAutoFit/>
          </a:bodyPr>
          <a:lstStyle/>
          <a:p>
            <a:pPr algn="l">
              <a:lnSpc>
                <a:spcPct val="112000"/>
              </a:lnSpc>
            </a:pPr>
            <a:r>
              <a:rPr sz="1800" b="0">
                <a:solidFill>
                  <a:srgbClr val="FFFFFF"/>
                </a:solidFill>
                <a:latin typeface="Arial"/>
                <a:ea typeface="Arial"/>
              </a:rPr>
              <a:t>요약</a:t>
            </a:r>
          </a:p>
        </p:txBody>
      </p:sp>
      <p:sp>
        <p:nvSpPr>
          <p:cNvPr id="83" name="TextBox 82"/>
          <p:cNvSpPr txBox="1"/>
          <p:nvPr/>
        </p:nvSpPr>
        <p:spPr>
          <a:xfrm>
            <a:off x="2551176" y="8467344"/>
            <a:ext cx="11905488" cy="822960"/>
          </a:xfrm>
          <a:prstGeom prst="rect">
            <a:avLst/>
          </a:prstGeom>
          <a:noFill/>
        </p:spPr>
        <p:txBody>
          <a:bodyPr wrap="square" anchor="ctr" lIns="0" rIns="0" tIns="0" bIns="0">
            <a:spAutoFit/>
          </a:bodyPr>
          <a:lstStyle/>
          <a:p>
            <a:pPr algn="l">
              <a:lnSpc>
                <a:spcPct val="108000"/>
              </a:lnSpc>
            </a:pPr>
            <a:r>
              <a:rPr sz="1700" b="1">
                <a:solidFill>
                  <a:srgbClr val="FFFFFF"/>
                </a:solidFill>
                <a:latin typeface="Arial"/>
                <a:ea typeface="Arial"/>
              </a:rPr>
              <a:t>잔여 변수 WAF는 호스트가 결정하므로 공동 설계 역량을 3단계로 확장하고, FDE 선별·조건부 보증으로 실행합니다</a:t>
            </a:r>
          </a:p>
        </p:txBody>
      </p:sp>
      <p:sp>
        <p:nvSpPr>
          <p:cNvPr id="84" name="Rectangle 83"/>
          <p:cNvSpPr/>
          <p:nvPr/>
        </p:nvSpPr>
        <p:spPr>
          <a:xfrm>
            <a:off x="14822424" y="8577072"/>
            <a:ext cx="2468880" cy="603504"/>
          </a:xfrm>
          <a:prstGeom prst="rect">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14822424" y="8577072"/>
            <a:ext cx="54864" cy="6035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15023592" y="8577072"/>
            <a:ext cx="2176272" cy="603504"/>
          </a:xfrm>
          <a:prstGeom prst="rect">
            <a:avLst/>
          </a:prstGeom>
          <a:noFill/>
        </p:spPr>
        <p:txBody>
          <a:bodyPr wrap="square" anchor="ctr" lIns="0" rIns="0" tIns="0" bIns="0">
            <a:spAutoFit/>
          </a:bodyPr>
          <a:lstStyle/>
          <a:p>
            <a:pPr algn="l">
              <a:lnSpc>
                <a:spcPct val="100000"/>
              </a:lnSpc>
            </a:pPr>
            <a:r>
              <a:rPr sz="1050" b="0">
                <a:solidFill>
                  <a:srgbClr val="AAB8E8"/>
                </a:solidFill>
                <a:latin typeface="Arial"/>
                <a:ea typeface="Arial"/>
              </a:rPr>
              <a:t>다음 장 →</a:t>
            </a:r>
          </a:p>
          <a:p>
            <a:pPr algn="l">
              <a:lnSpc>
                <a:spcPct val="100000"/>
              </a:lnSpc>
            </a:pPr>
            <a:r>
              <a:rPr sz="1350" b="1">
                <a:solidFill>
                  <a:srgbClr val="FFFFFF"/>
                </a:solidFill>
                <a:latin typeface="Arial"/>
                <a:ea typeface="Arial"/>
              </a:rPr>
              <a:t>1장 문제</a:t>
            </a:r>
          </a:p>
        </p:txBody>
      </p:sp>
      <p:sp>
        <p:nvSpPr>
          <p:cNvPr id="87" name="TextBox 86"/>
          <p:cNvSpPr txBox="1"/>
          <p:nvPr/>
        </p:nvSpPr>
        <p:spPr>
          <a:xfrm>
            <a:off x="722376" y="9592056"/>
            <a:ext cx="14264640" cy="310896"/>
          </a:xfrm>
          <a:prstGeom prst="rect">
            <a:avLst/>
          </a:prstGeom>
          <a:noFill/>
        </p:spPr>
        <p:txBody>
          <a:bodyPr wrap="square" anchor="t" lIns="0" rIns="0" tIns="0" bIns="0">
            <a:spAutoFit/>
          </a:bodyPr>
          <a:lstStyle/>
          <a:p>
            <a:pPr algn="l">
              <a:lnSpc>
                <a:spcPct val="112000"/>
              </a:lnSpc>
            </a:pPr>
            <a:r>
              <a:rPr sz="1600" b="0">
                <a:solidFill>
                  <a:srgbClr val="555555"/>
                </a:solidFill>
                <a:latin typeface="Arial"/>
                <a:ea typeface="Arial"/>
              </a:rPr>
              <a:t>출처: 보고서 v2.0 부록 A · 덱 v5.2와 동일 수치</a:t>
            </a:r>
          </a:p>
        </p:txBody>
      </p:sp>
      <p:sp>
        <p:nvSpPr>
          <p:cNvPr id="88" name="TextBox 87"/>
          <p:cNvSpPr txBox="1"/>
          <p:nvPr/>
        </p:nvSpPr>
        <p:spPr>
          <a:xfrm>
            <a:off x="16047720" y="9592056"/>
            <a:ext cx="1517904" cy="310896"/>
          </a:xfrm>
          <a:prstGeom prst="rect">
            <a:avLst/>
          </a:prstGeom>
          <a:noFill/>
        </p:spPr>
        <p:txBody>
          <a:bodyPr wrap="square" anchor="t" lIns="0" rIns="0" tIns="0" bIns="0">
            <a:spAutoFit/>
          </a:bodyPr>
          <a:lstStyle/>
          <a:p>
            <a:pPr algn="r">
              <a:lnSpc>
                <a:spcPct val="112000"/>
              </a:lnSpc>
            </a:pPr>
            <a:r>
              <a:rPr sz="1800" b="0">
                <a:solidFill>
                  <a:srgbClr val="555555"/>
                </a:solidFill>
                <a:latin typeface="Arial"/>
                <a:ea typeface="Arial"/>
              </a:rPr>
              <a:t>01 / 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420624"/>
            <a:ext cx="5486400" cy="310896"/>
          </a:xfrm>
          <a:prstGeom prst="rect">
            <a:avLst/>
          </a:prstGeom>
          <a:noFill/>
        </p:spPr>
        <p:txBody>
          <a:bodyPr wrap="square" anchor="t" lIns="0" rIns="0" tIns="0" bIns="0">
            <a:spAutoFit/>
          </a:bodyPr>
          <a:lstStyle/>
          <a:p>
            <a:pPr algn="l">
              <a:lnSpc>
                <a:spcPct val="112000"/>
              </a:lnSpc>
            </a:pPr>
            <a:r>
              <a:rPr sz="1800" b="1">
                <a:solidFill>
                  <a:srgbClr val="1428A0"/>
                </a:solidFill>
                <a:latin typeface="Arial"/>
                <a:ea typeface="Arial"/>
              </a:rPr>
              <a:t>삼성전자 메모리사업부</a:t>
            </a:r>
          </a:p>
        </p:txBody>
      </p:sp>
      <p:sp>
        <p:nvSpPr>
          <p:cNvPr id="3" name="TextBox 2"/>
          <p:cNvSpPr txBox="1"/>
          <p:nvPr/>
        </p:nvSpPr>
        <p:spPr>
          <a:xfrm>
            <a:off x="12079224" y="420624"/>
            <a:ext cx="5486400" cy="310896"/>
          </a:xfrm>
          <a:prstGeom prst="rect">
            <a:avLst/>
          </a:prstGeom>
          <a:noFill/>
        </p:spPr>
        <p:txBody>
          <a:bodyPr wrap="square" anchor="t" lIns="0" rIns="0" tIns="0" bIns="0">
            <a:spAutoFit/>
          </a:bodyPr>
          <a:lstStyle/>
          <a:p>
            <a:pPr algn="r">
              <a:lnSpc>
                <a:spcPct val="112000"/>
              </a:lnSpc>
            </a:pPr>
            <a:r>
              <a:rPr sz="1800" b="0">
                <a:solidFill>
                  <a:srgbClr val="555555"/>
                </a:solidFill>
                <a:latin typeface="Arial"/>
                <a:ea typeface="Arial"/>
              </a:rPr>
              <a:t>[문서등급 표기]</a:t>
            </a:r>
          </a:p>
        </p:txBody>
      </p:sp>
      <p:sp>
        <p:nvSpPr>
          <p:cNvPr id="4" name="TextBox 3"/>
          <p:cNvSpPr txBox="1"/>
          <p:nvPr/>
        </p:nvSpPr>
        <p:spPr>
          <a:xfrm>
            <a:off x="722376" y="804672"/>
            <a:ext cx="2148840" cy="274320"/>
          </a:xfrm>
          <a:prstGeom prst="rect">
            <a:avLst/>
          </a:prstGeom>
          <a:noFill/>
        </p:spPr>
        <p:txBody>
          <a:bodyPr wrap="square" anchor="ctr" lIns="0" rIns="0" tIns="0" bIns="0">
            <a:spAutoFit/>
          </a:bodyPr>
          <a:lstStyle/>
          <a:p>
            <a:pPr algn="l">
              <a:lnSpc>
                <a:spcPct val="112000"/>
              </a:lnSpc>
            </a:pPr>
            <a:r>
              <a:rPr sz="1800" b="1">
                <a:solidFill>
                  <a:srgbClr val="1428A0"/>
                </a:solidFill>
                <a:latin typeface="Arial"/>
                <a:ea typeface="Arial"/>
              </a:rPr>
              <a:t>QLC eSSD 전략</a:t>
            </a:r>
          </a:p>
        </p:txBody>
      </p:sp>
      <p:sp>
        <p:nvSpPr>
          <p:cNvPr id="5" name="Rectangle 4"/>
          <p:cNvSpPr/>
          <p:nvPr/>
        </p:nvSpPr>
        <p:spPr>
          <a:xfrm>
            <a:off x="2871216" y="1124712"/>
            <a:ext cx="2357628"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871216" y="818388"/>
            <a:ext cx="246888" cy="246888"/>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71216" y="818388"/>
            <a:ext cx="246888" cy="246888"/>
          </a:xfrm>
          <a:prstGeom prst="rect">
            <a:avLst/>
          </a:prstGeom>
          <a:noFill/>
        </p:spPr>
        <p:txBody>
          <a:bodyPr wrap="square" anchor="ctr" lIns="0" rIns="0" tIns="0" bIns="0">
            <a:spAutoFit/>
          </a:bodyPr>
          <a:lstStyle/>
          <a:p>
            <a:pPr algn="ctr">
              <a:lnSpc>
                <a:spcPct val="112000"/>
              </a:lnSpc>
            </a:pPr>
            <a:r>
              <a:rPr sz="1100" b="1">
                <a:solidFill>
                  <a:srgbClr val="FFFFFF"/>
                </a:solidFill>
                <a:latin typeface="Arial"/>
                <a:ea typeface="Arial"/>
              </a:rPr>
              <a:t>1</a:t>
            </a:r>
          </a:p>
        </p:txBody>
      </p:sp>
      <p:sp>
        <p:nvSpPr>
          <p:cNvPr id="8" name="TextBox 7"/>
          <p:cNvSpPr txBox="1"/>
          <p:nvPr/>
        </p:nvSpPr>
        <p:spPr>
          <a:xfrm>
            <a:off x="3209544" y="804672"/>
            <a:ext cx="2001011" cy="274320"/>
          </a:xfrm>
          <a:prstGeom prst="rect">
            <a:avLst/>
          </a:prstGeom>
          <a:noFill/>
        </p:spPr>
        <p:txBody>
          <a:bodyPr wrap="square" anchor="ctr" lIns="0" rIns="0" tIns="0" bIns="0">
            <a:spAutoFit/>
          </a:bodyPr>
          <a:lstStyle/>
          <a:p>
            <a:pPr algn="l">
              <a:lnSpc>
                <a:spcPct val="112000"/>
              </a:lnSpc>
            </a:pPr>
            <a:r>
              <a:rPr sz="1300" b="1">
                <a:solidFill>
                  <a:srgbClr val="1428A0"/>
                </a:solidFill>
                <a:latin typeface="Arial"/>
                <a:ea typeface="Arial"/>
              </a:rPr>
              <a:t>문제  </a:t>
            </a:r>
            <a:r>
              <a:rPr sz="1200" b="0">
                <a:solidFill>
                  <a:srgbClr val="1428A0"/>
                </a:solidFill>
                <a:latin typeface="Arial"/>
                <a:ea typeface="Arial"/>
              </a:rPr>
              <a:t/>
            </a:r>
          </a:p>
        </p:txBody>
      </p:sp>
      <p:sp>
        <p:nvSpPr>
          <p:cNvPr id="9" name="Rectangle 8"/>
          <p:cNvSpPr/>
          <p:nvPr/>
        </p:nvSpPr>
        <p:spPr>
          <a:xfrm>
            <a:off x="5320284" y="1124712"/>
            <a:ext cx="2357628"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320284"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20284"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2</a:t>
            </a:r>
          </a:p>
        </p:txBody>
      </p:sp>
      <p:sp>
        <p:nvSpPr>
          <p:cNvPr id="12" name="TextBox 11"/>
          <p:cNvSpPr txBox="1"/>
          <p:nvPr/>
        </p:nvSpPr>
        <p:spPr>
          <a:xfrm>
            <a:off x="5658611" y="804672"/>
            <a:ext cx="2001011"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신뢰성  </a:t>
            </a:r>
            <a:r>
              <a:rPr sz="1200" b="0">
                <a:solidFill>
                  <a:srgbClr val="8A8A8A"/>
                </a:solidFill>
                <a:latin typeface="Arial"/>
                <a:ea typeface="Arial"/>
              </a:rPr>
              <a:t/>
            </a:r>
          </a:p>
        </p:txBody>
      </p:sp>
      <p:sp>
        <p:nvSpPr>
          <p:cNvPr id="13" name="Rectangle 12"/>
          <p:cNvSpPr/>
          <p:nvPr/>
        </p:nvSpPr>
        <p:spPr>
          <a:xfrm>
            <a:off x="7769351" y="1124712"/>
            <a:ext cx="2357628"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769351"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69351"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3</a:t>
            </a:r>
          </a:p>
        </p:txBody>
      </p:sp>
      <p:sp>
        <p:nvSpPr>
          <p:cNvPr id="16" name="TextBox 15"/>
          <p:cNvSpPr txBox="1"/>
          <p:nvPr/>
        </p:nvSpPr>
        <p:spPr>
          <a:xfrm>
            <a:off x="8107679" y="804672"/>
            <a:ext cx="2001011"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해법 사다리  </a:t>
            </a:r>
            <a:r>
              <a:rPr sz="1200" b="0">
                <a:solidFill>
                  <a:srgbClr val="8A8A8A"/>
                </a:solidFill>
                <a:latin typeface="Arial"/>
                <a:ea typeface="Arial"/>
              </a:rPr>
              <a:t/>
            </a:r>
          </a:p>
        </p:txBody>
      </p:sp>
      <p:sp>
        <p:nvSpPr>
          <p:cNvPr id="17" name="Rectangle 16"/>
          <p:cNvSpPr/>
          <p:nvPr/>
        </p:nvSpPr>
        <p:spPr>
          <a:xfrm>
            <a:off x="10218420" y="1124712"/>
            <a:ext cx="2357628"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218420"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218420"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4</a:t>
            </a:r>
          </a:p>
        </p:txBody>
      </p:sp>
      <p:sp>
        <p:nvSpPr>
          <p:cNvPr id="20" name="TextBox 19"/>
          <p:cNvSpPr txBox="1"/>
          <p:nvPr/>
        </p:nvSpPr>
        <p:spPr>
          <a:xfrm>
            <a:off x="10556748" y="804672"/>
            <a:ext cx="2001011"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역량  </a:t>
            </a:r>
            <a:r>
              <a:rPr sz="1200" b="0">
                <a:solidFill>
                  <a:srgbClr val="8A8A8A"/>
                </a:solidFill>
                <a:latin typeface="Arial"/>
                <a:ea typeface="Arial"/>
              </a:rPr>
              <a:t/>
            </a:r>
          </a:p>
        </p:txBody>
      </p:sp>
      <p:sp>
        <p:nvSpPr>
          <p:cNvPr id="21" name="Rectangle 20"/>
          <p:cNvSpPr/>
          <p:nvPr/>
        </p:nvSpPr>
        <p:spPr>
          <a:xfrm>
            <a:off x="12667488" y="1124712"/>
            <a:ext cx="2357628"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2667488"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667488"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5</a:t>
            </a:r>
          </a:p>
        </p:txBody>
      </p:sp>
      <p:sp>
        <p:nvSpPr>
          <p:cNvPr id="24" name="TextBox 23"/>
          <p:cNvSpPr txBox="1"/>
          <p:nvPr/>
        </p:nvSpPr>
        <p:spPr>
          <a:xfrm>
            <a:off x="13005816" y="804672"/>
            <a:ext cx="2001011"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실행  </a:t>
            </a:r>
            <a:r>
              <a:rPr sz="1200" b="0">
                <a:solidFill>
                  <a:srgbClr val="8A8A8A"/>
                </a:solidFill>
                <a:latin typeface="Arial"/>
                <a:ea typeface="Arial"/>
              </a:rPr>
              <a:t/>
            </a:r>
          </a:p>
        </p:txBody>
      </p:sp>
      <p:sp>
        <p:nvSpPr>
          <p:cNvPr id="25" name="Rectangle 24"/>
          <p:cNvSpPr/>
          <p:nvPr/>
        </p:nvSpPr>
        <p:spPr>
          <a:xfrm>
            <a:off x="15116556" y="1124712"/>
            <a:ext cx="2357628"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5116556"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116556"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6</a:t>
            </a:r>
          </a:p>
        </p:txBody>
      </p:sp>
      <p:sp>
        <p:nvSpPr>
          <p:cNvPr id="28" name="TextBox 27"/>
          <p:cNvSpPr txBox="1"/>
          <p:nvPr/>
        </p:nvSpPr>
        <p:spPr>
          <a:xfrm>
            <a:off x="15454884" y="804672"/>
            <a:ext cx="2001011"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보증 · SLA  </a:t>
            </a:r>
            <a:r>
              <a:rPr sz="1200" b="0">
                <a:solidFill>
                  <a:srgbClr val="8A8A8A"/>
                </a:solidFill>
                <a:latin typeface="Arial"/>
                <a:ea typeface="Arial"/>
              </a:rPr>
              <a:t/>
            </a:r>
          </a:p>
        </p:txBody>
      </p:sp>
      <p:sp>
        <p:nvSpPr>
          <p:cNvPr id="29" name="TextBox 28"/>
          <p:cNvSpPr txBox="1"/>
          <p:nvPr/>
        </p:nvSpPr>
        <p:spPr>
          <a:xfrm>
            <a:off x="722376" y="1216152"/>
            <a:ext cx="16843248" cy="566928"/>
          </a:xfrm>
          <a:prstGeom prst="rect">
            <a:avLst/>
          </a:prstGeom>
          <a:noFill/>
        </p:spPr>
        <p:txBody>
          <a:bodyPr wrap="square" anchor="t" lIns="0" rIns="0" tIns="0" bIns="0">
            <a:spAutoFit/>
          </a:bodyPr>
          <a:lstStyle/>
          <a:p>
            <a:pPr algn="l">
              <a:lnSpc>
                <a:spcPct val="112000"/>
              </a:lnSpc>
            </a:pPr>
            <a:r>
              <a:rPr sz="3000" b="1">
                <a:solidFill>
                  <a:srgbClr val="1A1A1A"/>
                </a:solidFill>
                <a:latin typeface="Arial"/>
                <a:ea typeface="Arial"/>
              </a:rPr>
              <a:t>AI 추론 수요는 QLC에 고용량·1~3 DWPD를 요구하며, 신뢰성·내구성 두 축의 해법이 필요합니다</a:t>
            </a:r>
          </a:p>
        </p:txBody>
      </p:sp>
      <p:sp>
        <p:nvSpPr>
          <p:cNvPr id="30" name="TextBox 29"/>
          <p:cNvSpPr txBox="1"/>
          <p:nvPr/>
        </p:nvSpPr>
        <p:spPr>
          <a:xfrm>
            <a:off x="722376" y="1865376"/>
            <a:ext cx="16843248" cy="402336"/>
          </a:xfrm>
          <a:prstGeom prst="rect">
            <a:avLst/>
          </a:prstGeom>
          <a:noFill/>
        </p:spPr>
        <p:txBody>
          <a:bodyPr wrap="square" anchor="t" lIns="0" rIns="0" tIns="0" bIns="0">
            <a:spAutoFit/>
          </a:bodyPr>
          <a:lstStyle/>
          <a:p>
            <a:pPr algn="l">
              <a:lnSpc>
                <a:spcPct val="112000"/>
              </a:lnSpc>
            </a:pPr>
            <a:r>
              <a:rPr sz="2000" b="0">
                <a:solidFill>
                  <a:srgbClr val="555555"/>
                </a:solidFill>
                <a:latin typeface="Arial"/>
                <a:ea typeface="Arial"/>
              </a:rPr>
              <a:t>두 다운턴의 교훈은 요구를 고객 시스템 안에서 먼저 관측하라는 것이며, 그 요구가 대용량·높은 DWPD로 이동했습니다.</a:t>
            </a:r>
          </a:p>
        </p:txBody>
      </p:sp>
      <p:sp>
        <p:nvSpPr>
          <p:cNvPr id="31" name="Rectangle 30"/>
          <p:cNvSpPr/>
          <p:nvPr/>
        </p:nvSpPr>
        <p:spPr>
          <a:xfrm>
            <a:off x="722376" y="2395728"/>
            <a:ext cx="16843248" cy="12801"/>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002536" y="2962656"/>
            <a:ext cx="731520" cy="219456"/>
          </a:xfrm>
          <a:prstGeom prst="rect">
            <a:avLst/>
          </a:prstGeom>
          <a:solidFill>
            <a:srgbClr val="DCE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562856" y="2962656"/>
            <a:ext cx="914400" cy="219456"/>
          </a:xfrm>
          <a:prstGeom prst="rect">
            <a:avLst/>
          </a:prstGeom>
          <a:solidFill>
            <a:srgbClr val="DCE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a:off x="1271016" y="3072384"/>
            <a:ext cx="8778239" cy="0"/>
          </a:xfrm>
          <a:prstGeom prst="line">
            <a:avLst/>
          </a:prstGeom>
          <a:ln w="19050">
            <a:solidFill>
              <a:srgbClr val="8A8A8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271016" y="3035808"/>
            <a:ext cx="0" cy="73152"/>
          </a:xfrm>
          <a:prstGeom prst="line">
            <a:avLst/>
          </a:prstGeom>
          <a:ln w="12700">
            <a:solidFill>
              <a:srgbClr val="8A8A8A"/>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1077514" y="3162681"/>
            <a:ext cx="387003" cy="185166"/>
          </a:xfrm>
          <a:prstGeom prst="rect">
            <a:avLst/>
          </a:prstGeom>
          <a:noFill/>
        </p:spPr>
        <p:txBody>
          <a:bodyPr wrap="none" anchor="t" lIns="0" rIns="0" tIns="0" bIns="0">
            <a:spAutoFit/>
          </a:bodyPr>
          <a:lstStyle/>
          <a:p>
            <a:pPr algn="ctr">
              <a:lnSpc>
                <a:spcPct val="125000"/>
              </a:lnSpc>
            </a:pPr>
            <a:r>
              <a:rPr sz="936" b="0">
                <a:solidFill>
                  <a:srgbClr val="8A8A8A"/>
                </a:solidFill>
                <a:latin typeface="Arial"/>
                <a:ea typeface="Arial"/>
              </a:rPr>
              <a:t>2018</a:t>
            </a:r>
          </a:p>
        </p:txBody>
      </p:sp>
      <p:cxnSp>
        <p:nvCxnSpPr>
          <p:cNvPr id="37" name="Connector 36"/>
          <p:cNvCxnSpPr/>
          <p:nvPr/>
        </p:nvCxnSpPr>
        <p:spPr>
          <a:xfrm>
            <a:off x="2734056" y="3035808"/>
            <a:ext cx="0" cy="73152"/>
          </a:xfrm>
          <a:prstGeom prst="line">
            <a:avLst/>
          </a:prstGeom>
          <a:ln w="12700">
            <a:solidFill>
              <a:srgbClr val="8A8A8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2540554" y="3162681"/>
            <a:ext cx="387003" cy="185166"/>
          </a:xfrm>
          <a:prstGeom prst="rect">
            <a:avLst/>
          </a:prstGeom>
          <a:noFill/>
        </p:spPr>
        <p:txBody>
          <a:bodyPr wrap="none" anchor="t" lIns="0" rIns="0" tIns="0" bIns="0">
            <a:spAutoFit/>
          </a:bodyPr>
          <a:lstStyle/>
          <a:p>
            <a:pPr algn="ctr">
              <a:lnSpc>
                <a:spcPct val="125000"/>
              </a:lnSpc>
            </a:pPr>
            <a:r>
              <a:rPr sz="936" b="0">
                <a:solidFill>
                  <a:srgbClr val="8A8A8A"/>
                </a:solidFill>
                <a:latin typeface="Arial"/>
                <a:ea typeface="Arial"/>
              </a:rPr>
              <a:t>2020</a:t>
            </a:r>
          </a:p>
        </p:txBody>
      </p:sp>
      <p:cxnSp>
        <p:nvCxnSpPr>
          <p:cNvPr id="39" name="Connector 38"/>
          <p:cNvCxnSpPr/>
          <p:nvPr/>
        </p:nvCxnSpPr>
        <p:spPr>
          <a:xfrm>
            <a:off x="4197096" y="3035808"/>
            <a:ext cx="0" cy="73152"/>
          </a:xfrm>
          <a:prstGeom prst="line">
            <a:avLst/>
          </a:prstGeom>
          <a:ln w="12700">
            <a:solidFill>
              <a:srgbClr val="8A8A8A"/>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4003594" y="3162681"/>
            <a:ext cx="387003" cy="185166"/>
          </a:xfrm>
          <a:prstGeom prst="rect">
            <a:avLst/>
          </a:prstGeom>
          <a:noFill/>
        </p:spPr>
        <p:txBody>
          <a:bodyPr wrap="none" anchor="t" lIns="0" rIns="0" tIns="0" bIns="0">
            <a:spAutoFit/>
          </a:bodyPr>
          <a:lstStyle/>
          <a:p>
            <a:pPr algn="ctr">
              <a:lnSpc>
                <a:spcPct val="125000"/>
              </a:lnSpc>
            </a:pPr>
            <a:r>
              <a:rPr sz="936" b="0">
                <a:solidFill>
                  <a:srgbClr val="8A8A8A"/>
                </a:solidFill>
                <a:latin typeface="Arial"/>
                <a:ea typeface="Arial"/>
              </a:rPr>
              <a:t>2022</a:t>
            </a:r>
          </a:p>
        </p:txBody>
      </p:sp>
      <p:cxnSp>
        <p:nvCxnSpPr>
          <p:cNvPr id="41" name="Connector 40"/>
          <p:cNvCxnSpPr/>
          <p:nvPr/>
        </p:nvCxnSpPr>
        <p:spPr>
          <a:xfrm>
            <a:off x="5660136" y="3035808"/>
            <a:ext cx="0" cy="73152"/>
          </a:xfrm>
          <a:prstGeom prst="line">
            <a:avLst/>
          </a:prstGeom>
          <a:ln w="12700">
            <a:solidFill>
              <a:srgbClr val="8A8A8A"/>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5466634" y="3162681"/>
            <a:ext cx="387003" cy="185166"/>
          </a:xfrm>
          <a:prstGeom prst="rect">
            <a:avLst/>
          </a:prstGeom>
          <a:noFill/>
        </p:spPr>
        <p:txBody>
          <a:bodyPr wrap="none" anchor="t" lIns="0" rIns="0" tIns="0" bIns="0">
            <a:spAutoFit/>
          </a:bodyPr>
          <a:lstStyle/>
          <a:p>
            <a:pPr algn="ctr">
              <a:lnSpc>
                <a:spcPct val="125000"/>
              </a:lnSpc>
            </a:pPr>
            <a:r>
              <a:rPr sz="936" b="0">
                <a:solidFill>
                  <a:srgbClr val="8A8A8A"/>
                </a:solidFill>
                <a:latin typeface="Arial"/>
                <a:ea typeface="Arial"/>
              </a:rPr>
              <a:t>2024</a:t>
            </a:r>
          </a:p>
        </p:txBody>
      </p:sp>
      <p:cxnSp>
        <p:nvCxnSpPr>
          <p:cNvPr id="43" name="Connector 42"/>
          <p:cNvCxnSpPr/>
          <p:nvPr/>
        </p:nvCxnSpPr>
        <p:spPr>
          <a:xfrm>
            <a:off x="7123176" y="3035808"/>
            <a:ext cx="0" cy="73152"/>
          </a:xfrm>
          <a:prstGeom prst="line">
            <a:avLst/>
          </a:prstGeom>
          <a:ln w="12700">
            <a:solidFill>
              <a:srgbClr val="8A8A8A"/>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6929674" y="3162681"/>
            <a:ext cx="387003" cy="185166"/>
          </a:xfrm>
          <a:prstGeom prst="rect">
            <a:avLst/>
          </a:prstGeom>
          <a:noFill/>
        </p:spPr>
        <p:txBody>
          <a:bodyPr wrap="none" anchor="t" lIns="0" rIns="0" tIns="0" bIns="0">
            <a:spAutoFit/>
          </a:bodyPr>
          <a:lstStyle/>
          <a:p>
            <a:pPr algn="ctr">
              <a:lnSpc>
                <a:spcPct val="125000"/>
              </a:lnSpc>
            </a:pPr>
            <a:r>
              <a:rPr sz="936" b="0">
                <a:solidFill>
                  <a:srgbClr val="8A8A8A"/>
                </a:solidFill>
                <a:latin typeface="Arial"/>
                <a:ea typeface="Arial"/>
              </a:rPr>
              <a:t>2026</a:t>
            </a:r>
          </a:p>
        </p:txBody>
      </p:sp>
      <p:cxnSp>
        <p:nvCxnSpPr>
          <p:cNvPr id="45" name="Connector 44"/>
          <p:cNvCxnSpPr/>
          <p:nvPr/>
        </p:nvCxnSpPr>
        <p:spPr>
          <a:xfrm>
            <a:off x="8586216" y="3035808"/>
            <a:ext cx="0" cy="73152"/>
          </a:xfrm>
          <a:prstGeom prst="line">
            <a:avLst/>
          </a:prstGeom>
          <a:ln w="12700">
            <a:solidFill>
              <a:srgbClr val="8A8A8A"/>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8392714" y="3162681"/>
            <a:ext cx="387003" cy="185166"/>
          </a:xfrm>
          <a:prstGeom prst="rect">
            <a:avLst/>
          </a:prstGeom>
          <a:noFill/>
        </p:spPr>
        <p:txBody>
          <a:bodyPr wrap="none" anchor="t" lIns="0" rIns="0" tIns="0" bIns="0">
            <a:spAutoFit/>
          </a:bodyPr>
          <a:lstStyle/>
          <a:p>
            <a:pPr algn="ctr">
              <a:lnSpc>
                <a:spcPct val="125000"/>
              </a:lnSpc>
            </a:pPr>
            <a:r>
              <a:rPr sz="936" b="0">
                <a:solidFill>
                  <a:srgbClr val="8A8A8A"/>
                </a:solidFill>
                <a:latin typeface="Arial"/>
                <a:ea typeface="Arial"/>
              </a:rPr>
              <a:t>2028</a:t>
            </a:r>
          </a:p>
        </p:txBody>
      </p:sp>
      <p:cxnSp>
        <p:nvCxnSpPr>
          <p:cNvPr id="47" name="Connector 46"/>
          <p:cNvCxnSpPr/>
          <p:nvPr/>
        </p:nvCxnSpPr>
        <p:spPr>
          <a:xfrm>
            <a:off x="10049255" y="3035808"/>
            <a:ext cx="0" cy="73152"/>
          </a:xfrm>
          <a:prstGeom prst="line">
            <a:avLst/>
          </a:prstGeom>
          <a:ln w="12700">
            <a:solidFill>
              <a:srgbClr val="8A8A8A"/>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9855754" y="3162681"/>
            <a:ext cx="387003" cy="185166"/>
          </a:xfrm>
          <a:prstGeom prst="rect">
            <a:avLst/>
          </a:prstGeom>
          <a:noFill/>
        </p:spPr>
        <p:txBody>
          <a:bodyPr wrap="none" anchor="t" lIns="0" rIns="0" tIns="0" bIns="0">
            <a:spAutoFit/>
          </a:bodyPr>
          <a:lstStyle/>
          <a:p>
            <a:pPr algn="ctr">
              <a:lnSpc>
                <a:spcPct val="125000"/>
              </a:lnSpc>
            </a:pPr>
            <a:r>
              <a:rPr sz="936" b="0">
                <a:solidFill>
                  <a:srgbClr val="8A8A8A"/>
                </a:solidFill>
                <a:latin typeface="Arial"/>
                <a:ea typeface="Arial"/>
              </a:rPr>
              <a:t>2030</a:t>
            </a:r>
          </a:p>
        </p:txBody>
      </p:sp>
      <p:sp>
        <p:nvSpPr>
          <p:cNvPr id="49" name="TextBox 48"/>
          <p:cNvSpPr txBox="1"/>
          <p:nvPr/>
        </p:nvSpPr>
        <p:spPr>
          <a:xfrm>
            <a:off x="1882181" y="2754629"/>
            <a:ext cx="972228" cy="196596"/>
          </a:xfrm>
          <a:prstGeom prst="rect">
            <a:avLst/>
          </a:prstGeom>
          <a:noFill/>
        </p:spPr>
        <p:txBody>
          <a:bodyPr wrap="none" anchor="t" lIns="0" rIns="0" tIns="0" bIns="0">
            <a:spAutoFit/>
          </a:bodyPr>
          <a:lstStyle/>
          <a:p>
            <a:pPr algn="ctr">
              <a:lnSpc>
                <a:spcPct val="125000"/>
              </a:lnSpc>
            </a:pPr>
            <a:r>
              <a:rPr sz="1008" b="1">
                <a:solidFill>
                  <a:srgbClr val="1428A0"/>
                </a:solidFill>
                <a:latin typeface="Arial"/>
                <a:ea typeface="Arial"/>
              </a:rPr>
              <a:t>DT19 -37.6%</a:t>
            </a:r>
          </a:p>
        </p:txBody>
      </p:sp>
      <p:sp>
        <p:nvSpPr>
          <p:cNvPr id="50" name="TextBox 49"/>
          <p:cNvSpPr txBox="1"/>
          <p:nvPr/>
        </p:nvSpPr>
        <p:spPr>
          <a:xfrm>
            <a:off x="4581249" y="2754629"/>
            <a:ext cx="841037" cy="196596"/>
          </a:xfrm>
          <a:prstGeom prst="rect">
            <a:avLst/>
          </a:prstGeom>
          <a:noFill/>
        </p:spPr>
        <p:txBody>
          <a:bodyPr wrap="none" anchor="t" lIns="0" rIns="0" tIns="0" bIns="0">
            <a:spAutoFit/>
          </a:bodyPr>
          <a:lstStyle/>
          <a:p>
            <a:pPr algn="ctr">
              <a:lnSpc>
                <a:spcPct val="125000"/>
              </a:lnSpc>
            </a:pPr>
            <a:r>
              <a:rPr sz="1008" b="1">
                <a:solidFill>
                  <a:srgbClr val="1428A0"/>
                </a:solidFill>
                <a:latin typeface="Arial"/>
                <a:ea typeface="Arial"/>
              </a:rPr>
              <a:t>DT23 -45%</a:t>
            </a:r>
          </a:p>
        </p:txBody>
      </p:sp>
      <p:sp>
        <p:nvSpPr>
          <p:cNvPr id="51" name="Oval 50"/>
          <p:cNvSpPr/>
          <p:nvPr/>
        </p:nvSpPr>
        <p:spPr>
          <a:xfrm>
            <a:off x="4837176" y="3017520"/>
            <a:ext cx="109728" cy="109728"/>
          </a:xfrm>
          <a:prstGeom prst="ellipse">
            <a:avLst/>
          </a:prstGeom>
          <a:solidFill>
            <a:srgbClr val="1428A0"/>
          </a:solidFill>
          <a:ln w="2540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382130" y="3510153"/>
            <a:ext cx="1019818" cy="185166"/>
          </a:xfrm>
          <a:prstGeom prst="rect">
            <a:avLst/>
          </a:prstGeom>
          <a:noFill/>
        </p:spPr>
        <p:txBody>
          <a:bodyPr wrap="none" anchor="t" lIns="0" rIns="0" tIns="0" bIns="0">
            <a:spAutoFit/>
          </a:bodyPr>
          <a:lstStyle/>
          <a:p>
            <a:pPr algn="ctr">
              <a:lnSpc>
                <a:spcPct val="125000"/>
              </a:lnSpc>
            </a:pPr>
            <a:r>
              <a:rPr sz="936" b="0">
                <a:solidFill>
                  <a:srgbClr val="555555"/>
                </a:solidFill>
                <a:latin typeface="Arial"/>
                <a:ea typeface="Arial"/>
              </a:rPr>
              <a:t>'22-12 표준 비준</a:t>
            </a:r>
          </a:p>
        </p:txBody>
      </p:sp>
      <p:sp>
        <p:nvSpPr>
          <p:cNvPr id="53" name="Oval 52"/>
          <p:cNvSpPr/>
          <p:nvPr/>
        </p:nvSpPr>
        <p:spPr>
          <a:xfrm>
            <a:off x="5276087" y="3017520"/>
            <a:ext cx="109728" cy="109728"/>
          </a:xfrm>
          <a:prstGeom prst="ellipse">
            <a:avLst/>
          </a:prstGeom>
          <a:solidFill>
            <a:srgbClr val="1428A0"/>
          </a:solidFill>
          <a:ln w="2540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574729" y="3345561"/>
            <a:ext cx="1512444" cy="185166"/>
          </a:xfrm>
          <a:prstGeom prst="rect">
            <a:avLst/>
          </a:prstGeom>
          <a:noFill/>
        </p:spPr>
        <p:txBody>
          <a:bodyPr wrap="none" anchor="t" lIns="0" rIns="0" tIns="0" bIns="0">
            <a:spAutoFit/>
          </a:bodyPr>
          <a:lstStyle/>
          <a:p>
            <a:pPr algn="ctr">
              <a:lnSpc>
                <a:spcPct val="125000"/>
              </a:lnSpc>
            </a:pPr>
            <a:r>
              <a:rPr sz="936" b="0">
                <a:solidFill>
                  <a:srgbClr val="555555"/>
                </a:solidFill>
                <a:latin typeface="Arial"/>
                <a:ea typeface="Arial"/>
              </a:rPr>
              <a:t>'23-07 61TB 12개월 선행</a:t>
            </a:r>
          </a:p>
        </p:txBody>
      </p:sp>
      <p:sp>
        <p:nvSpPr>
          <p:cNvPr id="55" name="Oval 54"/>
          <p:cNvSpPr/>
          <p:nvPr/>
        </p:nvSpPr>
        <p:spPr>
          <a:xfrm>
            <a:off x="5824727" y="3017520"/>
            <a:ext cx="109728" cy="109728"/>
          </a:xfrm>
          <a:prstGeom prst="ellipse">
            <a:avLst/>
          </a:prstGeom>
          <a:solidFill>
            <a:srgbClr val="1428A0"/>
          </a:solidFill>
          <a:ln w="2540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569720" y="3510153"/>
            <a:ext cx="619742" cy="185166"/>
          </a:xfrm>
          <a:prstGeom prst="rect">
            <a:avLst/>
          </a:prstGeom>
          <a:noFill/>
        </p:spPr>
        <p:txBody>
          <a:bodyPr wrap="none" anchor="t" lIns="0" rIns="0" tIns="0" bIns="0">
            <a:spAutoFit/>
          </a:bodyPr>
          <a:lstStyle/>
          <a:p>
            <a:pPr algn="ctr">
              <a:lnSpc>
                <a:spcPct val="125000"/>
              </a:lnSpc>
            </a:pPr>
            <a:r>
              <a:rPr sz="936" b="0">
                <a:solidFill>
                  <a:srgbClr val="555555"/>
                </a:solidFill>
                <a:latin typeface="Arial"/>
                <a:ea typeface="Arial"/>
              </a:rPr>
              <a:t>'24 30EB</a:t>
            </a:r>
          </a:p>
        </p:txBody>
      </p:sp>
      <p:sp>
        <p:nvSpPr>
          <p:cNvPr id="57" name="Oval 56"/>
          <p:cNvSpPr/>
          <p:nvPr/>
        </p:nvSpPr>
        <p:spPr>
          <a:xfrm>
            <a:off x="7360920" y="3017520"/>
            <a:ext cx="109728" cy="109728"/>
          </a:xfrm>
          <a:prstGeom prst="ellipse">
            <a:avLst/>
          </a:prstGeom>
          <a:solidFill>
            <a:srgbClr val="FFFFFF"/>
          </a:solidFill>
          <a:ln w="2540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695123" y="3345561"/>
            <a:ext cx="1441320" cy="185166"/>
          </a:xfrm>
          <a:prstGeom prst="rect">
            <a:avLst/>
          </a:prstGeom>
          <a:noFill/>
        </p:spPr>
        <p:txBody>
          <a:bodyPr wrap="none" anchor="t" lIns="0" rIns="0" tIns="0" bIns="0">
            <a:spAutoFit/>
          </a:bodyPr>
          <a:lstStyle/>
          <a:p>
            <a:pPr algn="ctr">
              <a:lnSpc>
                <a:spcPct val="125000"/>
              </a:lnSpc>
            </a:pPr>
            <a:r>
              <a:rPr sz="936" b="1">
                <a:solidFill>
                  <a:srgbClr val="1428A0"/>
                </a:solidFill>
                <a:latin typeface="Arial"/>
                <a:ea typeface="Arial"/>
              </a:rPr>
              <a:t>'26 KV 캐시 규격 미정의</a:t>
            </a:r>
          </a:p>
        </p:txBody>
      </p:sp>
      <p:sp>
        <p:nvSpPr>
          <p:cNvPr id="59" name="Oval 58"/>
          <p:cNvSpPr/>
          <p:nvPr/>
        </p:nvSpPr>
        <p:spPr>
          <a:xfrm>
            <a:off x="8238743" y="3017520"/>
            <a:ext cx="109728" cy="109728"/>
          </a:xfrm>
          <a:prstGeom prst="ellipse">
            <a:avLst/>
          </a:prstGeom>
          <a:solidFill>
            <a:srgbClr val="FFFFFF"/>
          </a:solidFill>
          <a:ln w="2540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721592" y="3510153"/>
            <a:ext cx="1144030" cy="185166"/>
          </a:xfrm>
          <a:prstGeom prst="rect">
            <a:avLst/>
          </a:prstGeom>
          <a:noFill/>
        </p:spPr>
        <p:txBody>
          <a:bodyPr wrap="none" anchor="t" lIns="0" rIns="0" tIns="0" bIns="0">
            <a:spAutoFit/>
          </a:bodyPr>
          <a:lstStyle/>
          <a:p>
            <a:pPr algn="ctr">
              <a:lnSpc>
                <a:spcPct val="125000"/>
              </a:lnSpc>
            </a:pPr>
            <a:r>
              <a:rPr sz="936" b="1">
                <a:solidFill>
                  <a:srgbClr val="1428A0"/>
                </a:solidFill>
                <a:latin typeface="Arial"/>
                <a:ea typeface="Arial"/>
              </a:rPr>
              <a:t>'27H2 차기 전환점</a:t>
            </a:r>
          </a:p>
        </p:txBody>
      </p:sp>
      <p:sp>
        <p:nvSpPr>
          <p:cNvPr id="61" name="Rounded Rectangle 60"/>
          <p:cNvSpPr/>
          <p:nvPr/>
        </p:nvSpPr>
        <p:spPr>
          <a:xfrm>
            <a:off x="1088136" y="3840479"/>
            <a:ext cx="4297680" cy="4069080"/>
          </a:xfrm>
          <a:prstGeom prst="roundRect">
            <a:avLst>
              <a:gd name="adj" fmla="val 898"/>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252728" y="3982211"/>
            <a:ext cx="1482845" cy="265176"/>
          </a:xfrm>
          <a:prstGeom prst="rect">
            <a:avLst/>
          </a:prstGeom>
          <a:noFill/>
        </p:spPr>
        <p:txBody>
          <a:bodyPr wrap="none" anchor="t" lIns="0" rIns="0" tIns="0" bIns="0">
            <a:spAutoFit/>
          </a:bodyPr>
          <a:lstStyle/>
          <a:p>
            <a:pPr algn="l">
              <a:lnSpc>
                <a:spcPct val="125000"/>
              </a:lnSpc>
            </a:pPr>
            <a:r>
              <a:rPr sz="1439" b="1">
                <a:solidFill>
                  <a:srgbClr val="1A1A1A"/>
                </a:solidFill>
                <a:latin typeface="Arial"/>
                <a:ea typeface="Arial"/>
              </a:rPr>
              <a:t>교훈 · 두 다운턴</a:t>
            </a:r>
          </a:p>
        </p:txBody>
      </p:sp>
      <p:sp>
        <p:nvSpPr>
          <p:cNvPr id="63" name="TextBox 62"/>
          <p:cNvSpPr txBox="1"/>
          <p:nvPr/>
        </p:nvSpPr>
        <p:spPr>
          <a:xfrm>
            <a:off x="2722456" y="4025646"/>
            <a:ext cx="807612" cy="196596"/>
          </a:xfrm>
          <a:prstGeom prst="rect">
            <a:avLst/>
          </a:prstGeom>
          <a:noFill/>
        </p:spPr>
        <p:txBody>
          <a:bodyPr wrap="none" anchor="t" lIns="0" rIns="0" tIns="0" bIns="0">
            <a:spAutoFit/>
          </a:bodyPr>
          <a:lstStyle/>
          <a:p>
            <a:pPr algn="l">
              <a:lnSpc>
                <a:spcPct val="125000"/>
              </a:lnSpc>
            </a:pPr>
            <a:r>
              <a:rPr sz="1008" b="0">
                <a:solidFill>
                  <a:srgbClr val="8A8A8A"/>
                </a:solidFill>
                <a:latin typeface="Arial"/>
                <a:ea typeface="Arial"/>
              </a:rPr>
              <a:t>2018~2023</a:t>
            </a:r>
          </a:p>
        </p:txBody>
      </p:sp>
      <p:sp>
        <p:nvSpPr>
          <p:cNvPr id="64" name="TextBox 63"/>
          <p:cNvSpPr txBox="1"/>
          <p:nvPr/>
        </p:nvSpPr>
        <p:spPr>
          <a:xfrm>
            <a:off x="1307592" y="4473702"/>
            <a:ext cx="555369" cy="379476"/>
          </a:xfrm>
          <a:prstGeom prst="rect">
            <a:avLst/>
          </a:prstGeom>
          <a:noFill/>
        </p:spPr>
        <p:txBody>
          <a:bodyPr wrap="none" anchor="t" lIns="0" rIns="0" tIns="0" bIns="0">
            <a:spAutoFit/>
          </a:bodyPr>
          <a:lstStyle/>
          <a:p>
            <a:pPr algn="l">
              <a:lnSpc>
                <a:spcPct val="125000"/>
              </a:lnSpc>
            </a:pPr>
            <a:r>
              <a:rPr sz="2160" b="1">
                <a:solidFill>
                  <a:srgbClr val="1428A0"/>
                </a:solidFill>
                <a:latin typeface="Arial"/>
                <a:ea typeface="Arial"/>
              </a:rPr>
              <a:t>2년</a:t>
            </a:r>
          </a:p>
        </p:txBody>
      </p:sp>
      <p:sp>
        <p:nvSpPr>
          <p:cNvPr id="65" name="TextBox 64"/>
          <p:cNvSpPr txBox="1"/>
          <p:nvPr/>
        </p:nvSpPr>
        <p:spPr>
          <a:xfrm>
            <a:off x="2825496" y="4572000"/>
            <a:ext cx="1844772" cy="219456"/>
          </a:xfrm>
          <a:prstGeom prst="rect">
            <a:avLst/>
          </a:prstGeom>
          <a:noFill/>
        </p:spPr>
        <p:txBody>
          <a:bodyPr wrap="none" anchor="t" lIns="0" rIns="0" tIns="0" bIns="0">
            <a:spAutoFit/>
          </a:bodyPr>
          <a:lstStyle/>
          <a:p>
            <a:pPr algn="l">
              <a:lnSpc>
                <a:spcPct val="125000"/>
              </a:lnSpc>
            </a:pPr>
            <a:r>
              <a:rPr sz="1152" b="1">
                <a:solidFill>
                  <a:srgbClr val="1A1A1A"/>
                </a:solidFill>
                <a:latin typeface="Arial"/>
                <a:ea typeface="Arial"/>
              </a:rPr>
              <a:t>규격 · 코드가 발주에 선행</a:t>
            </a:r>
          </a:p>
        </p:txBody>
      </p:sp>
      <p:sp>
        <p:nvSpPr>
          <p:cNvPr id="66" name="Oval 65"/>
          <p:cNvSpPr/>
          <p:nvPr/>
        </p:nvSpPr>
        <p:spPr>
          <a:xfrm>
            <a:off x="4956048" y="4562856"/>
            <a:ext cx="237744" cy="237744"/>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986903" y="4583429"/>
            <a:ext cx="176032" cy="196596"/>
          </a:xfrm>
          <a:prstGeom prst="rect">
            <a:avLst/>
          </a:prstGeom>
          <a:noFill/>
        </p:spPr>
        <p:txBody>
          <a:bodyPr wrap="none" anchor="t" lIns="0" rIns="0" tIns="0" bIns="0">
            <a:spAutoFit/>
          </a:bodyPr>
          <a:lstStyle/>
          <a:p>
            <a:pPr algn="ctr">
              <a:lnSpc>
                <a:spcPct val="125000"/>
              </a:lnSpc>
            </a:pPr>
            <a:r>
              <a:rPr sz="1008" b="1">
                <a:solidFill>
                  <a:srgbClr val="1A1A1A"/>
                </a:solidFill>
                <a:latin typeface="Arial"/>
                <a:ea typeface="Arial"/>
              </a:rPr>
              <a:t>3</a:t>
            </a:r>
          </a:p>
        </p:txBody>
      </p:sp>
      <p:cxnSp>
        <p:nvCxnSpPr>
          <p:cNvPr id="68" name="Connector 67"/>
          <p:cNvCxnSpPr/>
          <p:nvPr/>
        </p:nvCxnSpPr>
        <p:spPr>
          <a:xfrm>
            <a:off x="1252728" y="5120640"/>
            <a:ext cx="3968496"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1307592" y="5388102"/>
            <a:ext cx="1019299" cy="379476"/>
          </a:xfrm>
          <a:prstGeom prst="rect">
            <a:avLst/>
          </a:prstGeom>
          <a:noFill/>
        </p:spPr>
        <p:txBody>
          <a:bodyPr wrap="none" anchor="t" lIns="0" rIns="0" tIns="0" bIns="0">
            <a:spAutoFit/>
          </a:bodyPr>
          <a:lstStyle/>
          <a:p>
            <a:pPr algn="l">
              <a:lnSpc>
                <a:spcPct val="125000"/>
              </a:lnSpc>
            </a:pPr>
            <a:r>
              <a:rPr sz="2160" b="1">
                <a:solidFill>
                  <a:srgbClr val="1428A0"/>
                </a:solidFill>
                <a:latin typeface="Arial"/>
                <a:ea typeface="Arial"/>
              </a:rPr>
              <a:t>12개월</a:t>
            </a:r>
          </a:p>
        </p:txBody>
      </p:sp>
      <p:sp>
        <p:nvSpPr>
          <p:cNvPr id="70" name="TextBox 69"/>
          <p:cNvSpPr txBox="1"/>
          <p:nvPr/>
        </p:nvSpPr>
        <p:spPr>
          <a:xfrm>
            <a:off x="2825496" y="5486400"/>
            <a:ext cx="1710560" cy="219456"/>
          </a:xfrm>
          <a:prstGeom prst="rect">
            <a:avLst/>
          </a:prstGeom>
          <a:noFill/>
        </p:spPr>
        <p:txBody>
          <a:bodyPr wrap="none" anchor="t" lIns="0" rIns="0" tIns="0" bIns="0">
            <a:spAutoFit/>
          </a:bodyPr>
          <a:lstStyle/>
          <a:p>
            <a:pPr algn="l">
              <a:lnSpc>
                <a:spcPct val="125000"/>
              </a:lnSpc>
            </a:pPr>
            <a:r>
              <a:rPr sz="1152" b="1">
                <a:solidFill>
                  <a:srgbClr val="1A1A1A"/>
                </a:solidFill>
                <a:latin typeface="Arial"/>
                <a:ea typeface="Arial"/>
              </a:rPr>
              <a:t>규격 정의 참여자가 선점</a:t>
            </a:r>
          </a:p>
        </p:txBody>
      </p:sp>
      <p:sp>
        <p:nvSpPr>
          <p:cNvPr id="71" name="Oval 70"/>
          <p:cNvSpPr/>
          <p:nvPr/>
        </p:nvSpPr>
        <p:spPr>
          <a:xfrm>
            <a:off x="4956048" y="5477256"/>
            <a:ext cx="237744" cy="237744"/>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4986903" y="5497829"/>
            <a:ext cx="176032" cy="196596"/>
          </a:xfrm>
          <a:prstGeom prst="rect">
            <a:avLst/>
          </a:prstGeom>
          <a:noFill/>
        </p:spPr>
        <p:txBody>
          <a:bodyPr wrap="none" anchor="t" lIns="0" rIns="0" tIns="0" bIns="0">
            <a:spAutoFit/>
          </a:bodyPr>
          <a:lstStyle/>
          <a:p>
            <a:pPr algn="ctr">
              <a:lnSpc>
                <a:spcPct val="125000"/>
              </a:lnSpc>
            </a:pPr>
            <a:r>
              <a:rPr sz="1008" b="1">
                <a:solidFill>
                  <a:srgbClr val="1A1A1A"/>
                </a:solidFill>
                <a:latin typeface="Arial"/>
                <a:ea typeface="Arial"/>
              </a:rPr>
              <a:t>5</a:t>
            </a:r>
          </a:p>
        </p:txBody>
      </p:sp>
      <p:cxnSp>
        <p:nvCxnSpPr>
          <p:cNvPr id="73" name="Connector 72"/>
          <p:cNvCxnSpPr/>
          <p:nvPr/>
        </p:nvCxnSpPr>
        <p:spPr>
          <a:xfrm>
            <a:off x="1252728" y="6035040"/>
            <a:ext cx="3968496"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1307592" y="6302502"/>
            <a:ext cx="1230382" cy="379476"/>
          </a:xfrm>
          <a:prstGeom prst="rect">
            <a:avLst/>
          </a:prstGeom>
          <a:noFill/>
        </p:spPr>
        <p:txBody>
          <a:bodyPr wrap="none" anchor="t" lIns="0" rIns="0" tIns="0" bIns="0">
            <a:spAutoFit/>
          </a:bodyPr>
          <a:lstStyle/>
          <a:p>
            <a:pPr algn="l">
              <a:lnSpc>
                <a:spcPct val="125000"/>
              </a:lnSpc>
            </a:pPr>
            <a:r>
              <a:rPr sz="2160" b="1">
                <a:solidFill>
                  <a:srgbClr val="1428A0"/>
                </a:solidFill>
                <a:latin typeface="Arial"/>
                <a:ea typeface="Arial"/>
              </a:rPr>
              <a:t>2027H2</a:t>
            </a:r>
          </a:p>
        </p:txBody>
      </p:sp>
      <p:sp>
        <p:nvSpPr>
          <p:cNvPr id="75" name="TextBox 74"/>
          <p:cNvSpPr txBox="1"/>
          <p:nvPr/>
        </p:nvSpPr>
        <p:spPr>
          <a:xfrm>
            <a:off x="2825496" y="6400800"/>
            <a:ext cx="1898513" cy="219456"/>
          </a:xfrm>
          <a:prstGeom prst="rect">
            <a:avLst/>
          </a:prstGeom>
          <a:noFill/>
        </p:spPr>
        <p:txBody>
          <a:bodyPr wrap="none" anchor="t" lIns="0" rIns="0" tIns="0" bIns="0">
            <a:spAutoFit/>
          </a:bodyPr>
          <a:lstStyle/>
          <a:p>
            <a:pPr algn="l">
              <a:lnSpc>
                <a:spcPct val="125000"/>
              </a:lnSpc>
            </a:pPr>
            <a:r>
              <a:rPr sz="1152" b="1">
                <a:solidFill>
                  <a:srgbClr val="1A1A1A"/>
                </a:solidFill>
                <a:latin typeface="Arial"/>
                <a:ea typeface="Arial"/>
              </a:rPr>
              <a:t>직전 결정이 다음 초기 조건</a:t>
            </a:r>
          </a:p>
        </p:txBody>
      </p:sp>
      <p:sp>
        <p:nvSpPr>
          <p:cNvPr id="76" name="Oval 75"/>
          <p:cNvSpPr/>
          <p:nvPr/>
        </p:nvSpPr>
        <p:spPr>
          <a:xfrm>
            <a:off x="4956048" y="6391656"/>
            <a:ext cx="237744" cy="237744"/>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986903" y="6412230"/>
            <a:ext cx="176032" cy="196596"/>
          </a:xfrm>
          <a:prstGeom prst="rect">
            <a:avLst/>
          </a:prstGeom>
          <a:noFill/>
        </p:spPr>
        <p:txBody>
          <a:bodyPr wrap="none" anchor="t" lIns="0" rIns="0" tIns="0" bIns="0">
            <a:spAutoFit/>
          </a:bodyPr>
          <a:lstStyle/>
          <a:p>
            <a:pPr algn="ctr">
              <a:lnSpc>
                <a:spcPct val="125000"/>
              </a:lnSpc>
            </a:pPr>
            <a:r>
              <a:rPr sz="1008" b="1">
                <a:solidFill>
                  <a:srgbClr val="1A1A1A"/>
                </a:solidFill>
                <a:latin typeface="Arial"/>
                <a:ea typeface="Arial"/>
              </a:rPr>
              <a:t>4</a:t>
            </a:r>
          </a:p>
        </p:txBody>
      </p:sp>
      <p:sp>
        <p:nvSpPr>
          <p:cNvPr id="78" name="TextBox 77"/>
          <p:cNvSpPr txBox="1"/>
          <p:nvPr/>
        </p:nvSpPr>
        <p:spPr>
          <a:xfrm>
            <a:off x="4353971" y="4031360"/>
            <a:ext cx="867252" cy="185166"/>
          </a:xfrm>
          <a:prstGeom prst="rect">
            <a:avLst/>
          </a:prstGeom>
          <a:noFill/>
        </p:spPr>
        <p:txBody>
          <a:bodyPr wrap="none" anchor="t" lIns="0" rIns="0" tIns="0" bIns="0">
            <a:spAutoFit/>
          </a:bodyPr>
          <a:lstStyle/>
          <a:p>
            <a:pPr algn="r">
              <a:lnSpc>
                <a:spcPct val="125000"/>
              </a:lnSpc>
            </a:pPr>
            <a:r>
              <a:rPr sz="936" b="0">
                <a:solidFill>
                  <a:srgbClr val="8A8A8A"/>
                </a:solidFill>
                <a:latin typeface="Arial"/>
                <a:ea typeface="Arial"/>
              </a:rPr>
              <a:t>번호 = 받는 장</a:t>
            </a:r>
          </a:p>
        </p:txBody>
      </p:sp>
      <p:sp>
        <p:nvSpPr>
          <p:cNvPr id="79" name="Rounded Rectangle 78"/>
          <p:cNvSpPr/>
          <p:nvPr/>
        </p:nvSpPr>
        <p:spPr>
          <a:xfrm>
            <a:off x="5751576" y="3840479"/>
            <a:ext cx="5120640" cy="4069080"/>
          </a:xfrm>
          <a:prstGeom prst="roundRect">
            <a:avLst>
              <a:gd name="adj" fmla="val 898"/>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5916168" y="3982211"/>
            <a:ext cx="1671285" cy="265176"/>
          </a:xfrm>
          <a:prstGeom prst="rect">
            <a:avLst/>
          </a:prstGeom>
          <a:noFill/>
        </p:spPr>
        <p:txBody>
          <a:bodyPr wrap="none" anchor="t" lIns="0" rIns="0" tIns="0" bIns="0">
            <a:spAutoFit/>
          </a:bodyPr>
          <a:lstStyle/>
          <a:p>
            <a:pPr algn="l">
              <a:lnSpc>
                <a:spcPct val="125000"/>
              </a:lnSpc>
            </a:pPr>
            <a:r>
              <a:rPr sz="1439" b="1">
                <a:solidFill>
                  <a:srgbClr val="1A1A1A"/>
                </a:solidFill>
                <a:latin typeface="Arial"/>
                <a:ea typeface="Arial"/>
              </a:rPr>
              <a:t>지금 · 요구의 이동</a:t>
            </a:r>
          </a:p>
        </p:txBody>
      </p:sp>
      <p:sp>
        <p:nvSpPr>
          <p:cNvPr id="81" name="TextBox 80"/>
          <p:cNvSpPr txBox="1"/>
          <p:nvPr/>
        </p:nvSpPr>
        <p:spPr>
          <a:xfrm>
            <a:off x="7567606" y="4025646"/>
            <a:ext cx="807612" cy="196596"/>
          </a:xfrm>
          <a:prstGeom prst="rect">
            <a:avLst/>
          </a:prstGeom>
          <a:noFill/>
        </p:spPr>
        <p:txBody>
          <a:bodyPr wrap="none" anchor="t" lIns="0" rIns="0" tIns="0" bIns="0">
            <a:spAutoFit/>
          </a:bodyPr>
          <a:lstStyle/>
          <a:p>
            <a:pPr algn="l">
              <a:lnSpc>
                <a:spcPct val="125000"/>
              </a:lnSpc>
            </a:pPr>
            <a:r>
              <a:rPr sz="1008" b="0">
                <a:solidFill>
                  <a:srgbClr val="8A8A8A"/>
                </a:solidFill>
                <a:latin typeface="Arial"/>
                <a:ea typeface="Arial"/>
              </a:rPr>
              <a:t>2024~2026</a:t>
            </a:r>
          </a:p>
        </p:txBody>
      </p:sp>
      <p:sp>
        <p:nvSpPr>
          <p:cNvPr id="82" name="TextBox 81"/>
          <p:cNvSpPr txBox="1"/>
          <p:nvPr/>
        </p:nvSpPr>
        <p:spPr>
          <a:xfrm>
            <a:off x="5934456" y="4363974"/>
            <a:ext cx="651196" cy="196596"/>
          </a:xfrm>
          <a:prstGeom prst="rect">
            <a:avLst/>
          </a:prstGeom>
          <a:noFill/>
        </p:spPr>
        <p:txBody>
          <a:bodyPr wrap="none" anchor="t" lIns="0" rIns="0" tIns="0" bIns="0">
            <a:spAutoFit/>
          </a:bodyPr>
          <a:lstStyle/>
          <a:p>
            <a:pPr algn="l">
              <a:lnSpc>
                <a:spcPct val="125000"/>
              </a:lnSpc>
            </a:pPr>
            <a:r>
              <a:rPr sz="1008" b="0">
                <a:solidFill>
                  <a:srgbClr val="8A8A8A"/>
                </a:solidFill>
                <a:latin typeface="Arial"/>
                <a:ea typeface="Arial"/>
              </a:rPr>
              <a:t>구매 기준</a:t>
            </a:r>
          </a:p>
        </p:txBody>
      </p:sp>
      <p:sp>
        <p:nvSpPr>
          <p:cNvPr id="83" name="Rounded Rectangle 82"/>
          <p:cNvSpPr/>
          <p:nvPr/>
        </p:nvSpPr>
        <p:spPr>
          <a:xfrm>
            <a:off x="5934456" y="4590288"/>
            <a:ext cx="1554480" cy="512064"/>
          </a:xfrm>
          <a:prstGeom prst="roundRect">
            <a:avLst>
              <a:gd name="adj" fmla="val 5357"/>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6211887" y="4713731"/>
            <a:ext cx="999617" cy="265176"/>
          </a:xfrm>
          <a:prstGeom prst="rect">
            <a:avLst/>
          </a:prstGeom>
          <a:noFill/>
        </p:spPr>
        <p:txBody>
          <a:bodyPr wrap="none" anchor="t" lIns="0" rIns="0" tIns="0" bIns="0">
            <a:spAutoFit/>
          </a:bodyPr>
          <a:lstStyle/>
          <a:p>
            <a:pPr algn="ctr">
              <a:lnSpc>
                <a:spcPct val="125000"/>
              </a:lnSpc>
            </a:pPr>
            <a:r>
              <a:rPr sz="1439" b="1">
                <a:solidFill>
                  <a:srgbClr val="555555"/>
                </a:solidFill>
                <a:latin typeface="Arial"/>
                <a:ea typeface="Arial"/>
              </a:rPr>
              <a:t>TB당 TCO</a:t>
            </a:r>
          </a:p>
        </p:txBody>
      </p:sp>
      <p:cxnSp>
        <p:nvCxnSpPr>
          <p:cNvPr id="85" name="Connector 84"/>
          <p:cNvCxnSpPr/>
          <p:nvPr/>
        </p:nvCxnSpPr>
        <p:spPr>
          <a:xfrm>
            <a:off x="7580375" y="4846320"/>
            <a:ext cx="329185" cy="0"/>
          </a:xfrm>
          <a:prstGeom prst="line">
            <a:avLst/>
          </a:prstGeom>
          <a:ln w="38100">
            <a:solidFill>
              <a:srgbClr val="1428A0"/>
            </a:solidFill>
            <a:tailEnd type="triangle" w="med" len="med"/>
          </a:ln>
        </p:spPr>
        <p:style>
          <a:lnRef idx="2">
            <a:schemeClr val="accent1"/>
          </a:lnRef>
          <a:fillRef idx="0">
            <a:schemeClr val="accent1"/>
          </a:fillRef>
          <a:effectRef idx="1">
            <a:schemeClr val="accent1"/>
          </a:effectRef>
          <a:fontRef idx="minor">
            <a:schemeClr val="tx1"/>
          </a:fontRef>
        </p:style>
      </p:cxnSp>
      <p:sp>
        <p:nvSpPr>
          <p:cNvPr id="86" name="Rounded Rectangle 85"/>
          <p:cNvSpPr/>
          <p:nvPr/>
        </p:nvSpPr>
        <p:spPr>
          <a:xfrm>
            <a:off x="8001000" y="4590288"/>
            <a:ext cx="2688336" cy="512064"/>
          </a:xfrm>
          <a:prstGeom prst="roundRect">
            <a:avLst>
              <a:gd name="adj" fmla="val 5357"/>
            </a:avLst>
          </a:prstGeom>
          <a:solidFill>
            <a:srgbClr val="F4F6FC"/>
          </a:solidFill>
          <a:ln w="1524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8129016" y="4725162"/>
            <a:ext cx="2456964" cy="242316"/>
          </a:xfrm>
          <a:prstGeom prst="rect">
            <a:avLst/>
          </a:prstGeom>
          <a:noFill/>
        </p:spPr>
        <p:txBody>
          <a:bodyPr wrap="none" anchor="t" lIns="0" rIns="0" tIns="0" bIns="0">
            <a:spAutoFit/>
          </a:bodyPr>
          <a:lstStyle/>
          <a:p>
            <a:pPr algn="l">
              <a:lnSpc>
                <a:spcPct val="125000"/>
              </a:lnSpc>
            </a:pPr>
            <a:r>
              <a:rPr sz="1296" b="1">
                <a:solidFill>
                  <a:srgbClr val="1428A0"/>
                </a:solidFill>
                <a:latin typeface="Arial"/>
                <a:ea typeface="Arial"/>
              </a:rPr>
              <a:t>GPU당 컨텍스트 · 토큰당 비용</a:t>
            </a:r>
          </a:p>
        </p:txBody>
      </p:sp>
      <p:sp>
        <p:nvSpPr>
          <p:cNvPr id="88" name="TextBox 87"/>
          <p:cNvSpPr txBox="1"/>
          <p:nvPr/>
        </p:nvSpPr>
        <p:spPr>
          <a:xfrm>
            <a:off x="5934456" y="5406390"/>
            <a:ext cx="915011" cy="196596"/>
          </a:xfrm>
          <a:prstGeom prst="rect">
            <a:avLst/>
          </a:prstGeom>
          <a:noFill/>
        </p:spPr>
        <p:txBody>
          <a:bodyPr wrap="none" anchor="t" lIns="0" rIns="0" tIns="0" bIns="0">
            <a:spAutoFit/>
          </a:bodyPr>
          <a:lstStyle/>
          <a:p>
            <a:pPr algn="l">
              <a:lnSpc>
                <a:spcPct val="125000"/>
              </a:lnSpc>
            </a:pPr>
            <a:r>
              <a:rPr sz="1008" b="0">
                <a:solidFill>
                  <a:srgbClr val="8A8A8A"/>
                </a:solidFill>
                <a:latin typeface="Arial"/>
                <a:ea typeface="Arial"/>
              </a:rPr>
              <a:t>드라이브 용량</a:t>
            </a:r>
          </a:p>
        </p:txBody>
      </p:sp>
      <p:sp>
        <p:nvSpPr>
          <p:cNvPr id="89" name="Rounded Rectangle 88"/>
          <p:cNvSpPr/>
          <p:nvPr/>
        </p:nvSpPr>
        <p:spPr>
          <a:xfrm>
            <a:off x="5934456" y="5632704"/>
            <a:ext cx="1554480" cy="512064"/>
          </a:xfrm>
          <a:prstGeom prst="roundRect">
            <a:avLst>
              <a:gd name="adj" fmla="val 5357"/>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6411384" y="5756148"/>
            <a:ext cx="600623" cy="265176"/>
          </a:xfrm>
          <a:prstGeom prst="rect">
            <a:avLst/>
          </a:prstGeom>
          <a:noFill/>
        </p:spPr>
        <p:txBody>
          <a:bodyPr wrap="none" anchor="t" lIns="0" rIns="0" tIns="0" bIns="0">
            <a:spAutoFit/>
          </a:bodyPr>
          <a:lstStyle/>
          <a:p>
            <a:pPr algn="ctr">
              <a:lnSpc>
                <a:spcPct val="125000"/>
              </a:lnSpc>
            </a:pPr>
            <a:r>
              <a:rPr sz="1439" b="1">
                <a:solidFill>
                  <a:srgbClr val="555555"/>
                </a:solidFill>
                <a:latin typeface="Arial"/>
                <a:ea typeface="Arial"/>
              </a:rPr>
              <a:t>61TB</a:t>
            </a:r>
          </a:p>
        </p:txBody>
      </p:sp>
      <p:cxnSp>
        <p:nvCxnSpPr>
          <p:cNvPr id="91" name="Connector 90"/>
          <p:cNvCxnSpPr/>
          <p:nvPr/>
        </p:nvCxnSpPr>
        <p:spPr>
          <a:xfrm>
            <a:off x="7580375" y="5888736"/>
            <a:ext cx="329185" cy="0"/>
          </a:xfrm>
          <a:prstGeom prst="line">
            <a:avLst/>
          </a:prstGeom>
          <a:ln w="38100">
            <a:solidFill>
              <a:srgbClr val="1428A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2" name="Rounded Rectangle 91"/>
          <p:cNvSpPr/>
          <p:nvPr/>
        </p:nvSpPr>
        <p:spPr>
          <a:xfrm>
            <a:off x="8001000" y="5632704"/>
            <a:ext cx="2688336" cy="512064"/>
          </a:xfrm>
          <a:prstGeom prst="roundRect">
            <a:avLst>
              <a:gd name="adj" fmla="val 5357"/>
            </a:avLst>
          </a:prstGeom>
          <a:solidFill>
            <a:srgbClr val="F4F6FC"/>
          </a:solidFill>
          <a:ln w="1524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8129016" y="5767577"/>
            <a:ext cx="1736903" cy="242316"/>
          </a:xfrm>
          <a:prstGeom prst="rect">
            <a:avLst/>
          </a:prstGeom>
          <a:noFill/>
        </p:spPr>
        <p:txBody>
          <a:bodyPr wrap="none" anchor="t" lIns="0" rIns="0" tIns="0" bIns="0">
            <a:spAutoFit/>
          </a:bodyPr>
          <a:lstStyle/>
          <a:p>
            <a:pPr algn="l">
              <a:lnSpc>
                <a:spcPct val="125000"/>
              </a:lnSpc>
            </a:pPr>
            <a:r>
              <a:rPr sz="1296" b="1">
                <a:solidFill>
                  <a:srgbClr val="1428A0"/>
                </a:solidFill>
                <a:latin typeface="Arial"/>
                <a:ea typeface="Arial"/>
              </a:rPr>
              <a:t>245TB · 다이 8배 ↑</a:t>
            </a:r>
          </a:p>
        </p:txBody>
      </p:sp>
      <p:sp>
        <p:nvSpPr>
          <p:cNvPr id="94" name="TextBox 93"/>
          <p:cNvSpPr txBox="1"/>
          <p:nvPr/>
        </p:nvSpPr>
        <p:spPr>
          <a:xfrm>
            <a:off x="5934456" y="6448806"/>
            <a:ext cx="800286" cy="196596"/>
          </a:xfrm>
          <a:prstGeom prst="rect">
            <a:avLst/>
          </a:prstGeom>
          <a:noFill/>
        </p:spPr>
        <p:txBody>
          <a:bodyPr wrap="none" anchor="t" lIns="0" rIns="0" tIns="0" bIns="0">
            <a:spAutoFit/>
          </a:bodyPr>
          <a:lstStyle/>
          <a:p>
            <a:pPr algn="l">
              <a:lnSpc>
                <a:spcPct val="125000"/>
              </a:lnSpc>
            </a:pPr>
            <a:r>
              <a:rPr sz="1008" b="0">
                <a:solidFill>
                  <a:srgbClr val="8A8A8A"/>
                </a:solidFill>
                <a:latin typeface="Arial"/>
                <a:ea typeface="Arial"/>
              </a:rPr>
              <a:t>요구 DWPD</a:t>
            </a:r>
          </a:p>
        </p:txBody>
      </p:sp>
      <p:sp>
        <p:nvSpPr>
          <p:cNvPr id="95" name="Rounded Rectangle 94"/>
          <p:cNvSpPr/>
          <p:nvPr/>
        </p:nvSpPr>
        <p:spPr>
          <a:xfrm>
            <a:off x="5934456" y="6675120"/>
            <a:ext cx="1554480" cy="512064"/>
          </a:xfrm>
          <a:prstGeom prst="roundRect">
            <a:avLst>
              <a:gd name="adj" fmla="val 5357"/>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6297289" y="6798564"/>
            <a:ext cx="828812" cy="265176"/>
          </a:xfrm>
          <a:prstGeom prst="rect">
            <a:avLst/>
          </a:prstGeom>
          <a:noFill/>
        </p:spPr>
        <p:txBody>
          <a:bodyPr wrap="none" anchor="t" lIns="0" rIns="0" tIns="0" bIns="0">
            <a:spAutoFit/>
          </a:bodyPr>
          <a:lstStyle/>
          <a:p>
            <a:pPr algn="ctr">
              <a:lnSpc>
                <a:spcPct val="125000"/>
              </a:lnSpc>
            </a:pPr>
            <a:r>
              <a:rPr sz="1439" b="1">
                <a:solidFill>
                  <a:srgbClr val="555555"/>
                </a:solidFill>
                <a:latin typeface="Arial"/>
                <a:ea typeface="Arial"/>
              </a:rPr>
              <a:t>0.3~0.6</a:t>
            </a:r>
          </a:p>
        </p:txBody>
      </p:sp>
      <p:cxnSp>
        <p:nvCxnSpPr>
          <p:cNvPr id="97" name="Connector 96"/>
          <p:cNvCxnSpPr/>
          <p:nvPr/>
        </p:nvCxnSpPr>
        <p:spPr>
          <a:xfrm>
            <a:off x="7580375" y="6931152"/>
            <a:ext cx="329185" cy="0"/>
          </a:xfrm>
          <a:prstGeom prst="line">
            <a:avLst/>
          </a:prstGeom>
          <a:ln w="38100">
            <a:solidFill>
              <a:srgbClr val="1428A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8" name="Rounded Rectangle 97"/>
          <p:cNvSpPr/>
          <p:nvPr/>
        </p:nvSpPr>
        <p:spPr>
          <a:xfrm>
            <a:off x="8001000" y="6675120"/>
            <a:ext cx="2688336" cy="512064"/>
          </a:xfrm>
          <a:prstGeom prst="roundRect">
            <a:avLst>
              <a:gd name="adj" fmla="val 5357"/>
            </a:avLst>
          </a:prstGeom>
          <a:solidFill>
            <a:srgbClr val="F4F6FC"/>
          </a:solidFill>
          <a:ln w="1524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8129016" y="6809994"/>
            <a:ext cx="2368278" cy="242316"/>
          </a:xfrm>
          <a:prstGeom prst="rect">
            <a:avLst/>
          </a:prstGeom>
          <a:noFill/>
        </p:spPr>
        <p:txBody>
          <a:bodyPr wrap="none" anchor="t" lIns="0" rIns="0" tIns="0" bIns="0">
            <a:spAutoFit/>
          </a:bodyPr>
          <a:lstStyle/>
          <a:p>
            <a:pPr algn="l">
              <a:lnSpc>
                <a:spcPct val="125000"/>
              </a:lnSpc>
            </a:pPr>
            <a:r>
              <a:rPr sz="1296" b="1">
                <a:solidFill>
                  <a:srgbClr val="1428A0"/>
                </a:solidFill>
                <a:latin typeface="Arial"/>
                <a:ea typeface="Arial"/>
              </a:rPr>
              <a:t>1~3 · KV 캐시 계층 TLC 정격</a:t>
            </a:r>
          </a:p>
        </p:txBody>
      </p:sp>
      <p:sp>
        <p:nvSpPr>
          <p:cNvPr id="100" name="Rounded Rectangle 99"/>
          <p:cNvSpPr/>
          <p:nvPr/>
        </p:nvSpPr>
        <p:spPr>
          <a:xfrm>
            <a:off x="11237976" y="3840479"/>
            <a:ext cx="5961888" cy="4069080"/>
          </a:xfrm>
          <a:prstGeom prst="roundRect">
            <a:avLst>
              <a:gd name="adj" fmla="val 898"/>
            </a:avLst>
          </a:prstGeom>
          <a:solidFill>
            <a:srgbClr val="FFFFFF"/>
          </a:solidFill>
          <a:ln w="1905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11237976" y="3840479"/>
            <a:ext cx="5961888" cy="54864"/>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11402567" y="3982211"/>
            <a:ext cx="1717787" cy="265176"/>
          </a:xfrm>
          <a:prstGeom prst="rect">
            <a:avLst/>
          </a:prstGeom>
          <a:noFill/>
        </p:spPr>
        <p:txBody>
          <a:bodyPr wrap="none" anchor="t" lIns="0" rIns="0" tIns="0" bIns="0">
            <a:spAutoFit/>
          </a:bodyPr>
          <a:lstStyle/>
          <a:p>
            <a:pPr algn="l">
              <a:lnSpc>
                <a:spcPct val="125000"/>
              </a:lnSpc>
            </a:pPr>
            <a:r>
              <a:rPr sz="1439" b="1">
                <a:solidFill>
                  <a:srgbClr val="1428A0"/>
                </a:solidFill>
                <a:latin typeface="Arial"/>
                <a:ea typeface="Arial"/>
              </a:rPr>
              <a:t>문제 · 격차와 두 축</a:t>
            </a:r>
          </a:p>
        </p:txBody>
      </p:sp>
      <p:sp>
        <p:nvSpPr>
          <p:cNvPr id="103" name="TextBox 102"/>
          <p:cNvSpPr txBox="1"/>
          <p:nvPr/>
        </p:nvSpPr>
        <p:spPr>
          <a:xfrm>
            <a:off x="13098847" y="4025646"/>
            <a:ext cx="807612" cy="196596"/>
          </a:xfrm>
          <a:prstGeom prst="rect">
            <a:avLst/>
          </a:prstGeom>
          <a:noFill/>
        </p:spPr>
        <p:txBody>
          <a:bodyPr wrap="none" anchor="t" lIns="0" rIns="0" tIns="0" bIns="0">
            <a:spAutoFit/>
          </a:bodyPr>
          <a:lstStyle/>
          <a:p>
            <a:pPr algn="l">
              <a:lnSpc>
                <a:spcPct val="125000"/>
              </a:lnSpc>
            </a:pPr>
            <a:r>
              <a:rPr sz="1008" b="0">
                <a:solidFill>
                  <a:srgbClr val="8A8A8A"/>
                </a:solidFill>
                <a:latin typeface="Arial"/>
                <a:ea typeface="Arial"/>
              </a:rPr>
              <a:t>2027~2030</a:t>
            </a:r>
          </a:p>
        </p:txBody>
      </p:sp>
      <p:sp>
        <p:nvSpPr>
          <p:cNvPr id="104" name="Rectangle 103"/>
          <p:cNvSpPr/>
          <p:nvPr/>
        </p:nvSpPr>
        <p:spPr>
          <a:xfrm>
            <a:off x="13358241" y="4389120"/>
            <a:ext cx="1314450" cy="1517904"/>
          </a:xfrm>
          <a:prstGeom prst="rect">
            <a:avLst/>
          </a:prstGeom>
          <a:solidFill>
            <a:srgbClr val="DCE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13499024" y="4168521"/>
            <a:ext cx="1032882" cy="185166"/>
          </a:xfrm>
          <a:prstGeom prst="rect">
            <a:avLst/>
          </a:prstGeom>
          <a:noFill/>
        </p:spPr>
        <p:txBody>
          <a:bodyPr wrap="none" anchor="t" lIns="0" rIns="0" tIns="0" bIns="0">
            <a:spAutoFit/>
          </a:bodyPr>
          <a:lstStyle/>
          <a:p>
            <a:pPr algn="ctr">
              <a:lnSpc>
                <a:spcPct val="125000"/>
              </a:lnSpc>
            </a:pPr>
            <a:r>
              <a:rPr sz="936" b="1">
                <a:solidFill>
                  <a:srgbClr val="1428A0"/>
                </a:solidFill>
                <a:latin typeface="Arial"/>
                <a:ea typeface="Arial"/>
              </a:rPr>
              <a:t>요구 1~3 DWPD</a:t>
            </a:r>
          </a:p>
        </p:txBody>
      </p:sp>
      <p:sp>
        <p:nvSpPr>
          <p:cNvPr id="106" name="TextBox 105"/>
          <p:cNvSpPr txBox="1"/>
          <p:nvPr/>
        </p:nvSpPr>
        <p:spPr>
          <a:xfrm>
            <a:off x="11512296" y="4519422"/>
            <a:ext cx="787114" cy="196596"/>
          </a:xfrm>
          <a:prstGeom prst="rect">
            <a:avLst/>
          </a:prstGeom>
          <a:noFill/>
        </p:spPr>
        <p:txBody>
          <a:bodyPr wrap="none" anchor="t" lIns="0" rIns="0" tIns="0" bIns="0">
            <a:spAutoFit/>
          </a:bodyPr>
          <a:lstStyle/>
          <a:p>
            <a:pPr algn="l">
              <a:lnSpc>
                <a:spcPct val="125000"/>
              </a:lnSpc>
            </a:pPr>
            <a:r>
              <a:rPr sz="1008" b="0">
                <a:solidFill>
                  <a:srgbClr val="1A1A1A"/>
                </a:solidFill>
                <a:latin typeface="Arial"/>
                <a:ea typeface="Arial"/>
              </a:rPr>
              <a:t>LC9 245TB</a:t>
            </a:r>
          </a:p>
        </p:txBody>
      </p:sp>
      <p:sp>
        <p:nvSpPr>
          <p:cNvPr id="107" name="Rounded Rectangle 106"/>
          <p:cNvSpPr/>
          <p:nvPr/>
        </p:nvSpPr>
        <p:spPr>
          <a:xfrm>
            <a:off x="12701016" y="4507992"/>
            <a:ext cx="197167" cy="219456"/>
          </a:xfrm>
          <a:prstGeom prst="roundRect">
            <a:avLst>
              <a:gd name="adj" fmla="val 9275"/>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12971335" y="4513706"/>
            <a:ext cx="322636" cy="208026"/>
          </a:xfrm>
          <a:prstGeom prst="rect">
            <a:avLst/>
          </a:prstGeom>
          <a:noFill/>
        </p:spPr>
        <p:txBody>
          <a:bodyPr wrap="none" anchor="t" lIns="0" rIns="0" tIns="0" bIns="0">
            <a:spAutoFit/>
          </a:bodyPr>
          <a:lstStyle/>
          <a:p>
            <a:pPr algn="l">
              <a:lnSpc>
                <a:spcPct val="125000"/>
              </a:lnSpc>
            </a:pPr>
            <a:r>
              <a:rPr sz="1080" b="1">
                <a:solidFill>
                  <a:srgbClr val="1A1A1A"/>
                </a:solidFill>
                <a:latin typeface="Arial"/>
                <a:ea typeface="Arial"/>
              </a:rPr>
              <a:t>0.3</a:t>
            </a:r>
          </a:p>
        </p:txBody>
      </p:sp>
      <p:sp>
        <p:nvSpPr>
          <p:cNvPr id="109" name="TextBox 108"/>
          <p:cNvSpPr txBox="1"/>
          <p:nvPr/>
        </p:nvSpPr>
        <p:spPr>
          <a:xfrm>
            <a:off x="11512296" y="4958333"/>
            <a:ext cx="871863" cy="196596"/>
          </a:xfrm>
          <a:prstGeom prst="rect">
            <a:avLst/>
          </a:prstGeom>
          <a:noFill/>
        </p:spPr>
        <p:txBody>
          <a:bodyPr wrap="none" anchor="t" lIns="0" rIns="0" tIns="0" bIns="0">
            <a:spAutoFit/>
          </a:bodyPr>
          <a:lstStyle/>
          <a:p>
            <a:pPr algn="l">
              <a:lnSpc>
                <a:spcPct val="125000"/>
              </a:lnSpc>
            </a:pPr>
            <a:r>
              <a:rPr sz="1008" b="0">
                <a:solidFill>
                  <a:srgbClr val="1A1A1A"/>
                </a:solidFill>
                <a:latin typeface="Arial"/>
                <a:ea typeface="Arial"/>
              </a:rPr>
              <a:t>P5336 61TB</a:t>
            </a:r>
          </a:p>
        </p:txBody>
      </p:sp>
      <p:sp>
        <p:nvSpPr>
          <p:cNvPr id="110" name="Rounded Rectangle 109"/>
          <p:cNvSpPr/>
          <p:nvPr/>
        </p:nvSpPr>
        <p:spPr>
          <a:xfrm>
            <a:off x="12701016" y="4946904"/>
            <a:ext cx="381190" cy="219456"/>
          </a:xfrm>
          <a:prstGeom prst="roundRect">
            <a:avLst>
              <a:gd name="adj" fmla="val 8333"/>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13155358" y="4952619"/>
            <a:ext cx="413272" cy="208026"/>
          </a:xfrm>
          <a:prstGeom prst="rect">
            <a:avLst/>
          </a:prstGeom>
          <a:noFill/>
        </p:spPr>
        <p:txBody>
          <a:bodyPr wrap="none" anchor="t" lIns="0" rIns="0" tIns="0" bIns="0">
            <a:spAutoFit/>
          </a:bodyPr>
          <a:lstStyle/>
          <a:p>
            <a:pPr algn="l">
              <a:lnSpc>
                <a:spcPct val="125000"/>
              </a:lnSpc>
            </a:pPr>
            <a:r>
              <a:rPr sz="1080" b="1">
                <a:solidFill>
                  <a:srgbClr val="1A1A1A"/>
                </a:solidFill>
                <a:latin typeface="Arial"/>
                <a:ea typeface="Arial"/>
              </a:rPr>
              <a:t>0.58</a:t>
            </a:r>
          </a:p>
        </p:txBody>
      </p:sp>
      <p:sp>
        <p:nvSpPr>
          <p:cNvPr id="112" name="TextBox 111"/>
          <p:cNvSpPr txBox="1"/>
          <p:nvPr/>
        </p:nvSpPr>
        <p:spPr>
          <a:xfrm>
            <a:off x="11512296" y="5397246"/>
            <a:ext cx="1065289" cy="196596"/>
          </a:xfrm>
          <a:prstGeom prst="rect">
            <a:avLst/>
          </a:prstGeom>
          <a:noFill/>
        </p:spPr>
        <p:txBody>
          <a:bodyPr wrap="none" anchor="t" lIns="0" rIns="0" tIns="0" bIns="0">
            <a:spAutoFit/>
          </a:bodyPr>
          <a:lstStyle/>
          <a:p>
            <a:pPr algn="l">
              <a:lnSpc>
                <a:spcPct val="125000"/>
              </a:lnSpc>
            </a:pPr>
            <a:r>
              <a:rPr sz="1008" b="0">
                <a:solidFill>
                  <a:srgbClr val="1A1A1A"/>
                </a:solidFill>
                <a:latin typeface="Arial"/>
                <a:ea typeface="Arial"/>
              </a:rPr>
              <a:t>6550 ION 61TB</a:t>
            </a:r>
          </a:p>
        </p:txBody>
      </p:sp>
      <p:sp>
        <p:nvSpPr>
          <p:cNvPr id="113" name="Rounded Rectangle 112"/>
          <p:cNvSpPr/>
          <p:nvPr/>
        </p:nvSpPr>
        <p:spPr>
          <a:xfrm>
            <a:off x="12701016" y="5385816"/>
            <a:ext cx="657225" cy="219456"/>
          </a:xfrm>
          <a:prstGeom prst="roundRect">
            <a:avLst>
              <a:gd name="adj" fmla="val 8333"/>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13431392" y="5391531"/>
            <a:ext cx="322636" cy="208026"/>
          </a:xfrm>
          <a:prstGeom prst="rect">
            <a:avLst/>
          </a:prstGeom>
          <a:noFill/>
        </p:spPr>
        <p:txBody>
          <a:bodyPr wrap="none" anchor="t" lIns="0" rIns="0" tIns="0" bIns="0">
            <a:spAutoFit/>
          </a:bodyPr>
          <a:lstStyle/>
          <a:p>
            <a:pPr algn="l">
              <a:lnSpc>
                <a:spcPct val="125000"/>
              </a:lnSpc>
            </a:pPr>
            <a:r>
              <a:rPr sz="1080" b="1">
                <a:solidFill>
                  <a:srgbClr val="1A1A1A"/>
                </a:solidFill>
                <a:latin typeface="Arial"/>
                <a:ea typeface="Arial"/>
              </a:rPr>
              <a:t>1.0</a:t>
            </a:r>
          </a:p>
        </p:txBody>
      </p:sp>
      <p:sp>
        <p:nvSpPr>
          <p:cNvPr id="115" name="TextBox 114"/>
          <p:cNvSpPr txBox="1"/>
          <p:nvPr/>
        </p:nvSpPr>
        <p:spPr>
          <a:xfrm>
            <a:off x="12618350" y="5924169"/>
            <a:ext cx="165330" cy="185166"/>
          </a:xfrm>
          <a:prstGeom prst="rect">
            <a:avLst/>
          </a:prstGeom>
          <a:noFill/>
        </p:spPr>
        <p:txBody>
          <a:bodyPr wrap="none" anchor="t" lIns="0" rIns="0" tIns="0" bIns="0">
            <a:spAutoFit/>
          </a:bodyPr>
          <a:lstStyle/>
          <a:p>
            <a:pPr algn="ctr">
              <a:lnSpc>
                <a:spcPct val="125000"/>
              </a:lnSpc>
            </a:pPr>
            <a:r>
              <a:rPr sz="936" b="0">
                <a:solidFill>
                  <a:srgbClr val="8A8A8A"/>
                </a:solidFill>
                <a:latin typeface="Arial"/>
                <a:ea typeface="Arial"/>
              </a:rPr>
              <a:t>0</a:t>
            </a:r>
          </a:p>
        </p:txBody>
      </p:sp>
      <p:sp>
        <p:nvSpPr>
          <p:cNvPr id="116" name="TextBox 115"/>
          <p:cNvSpPr txBox="1"/>
          <p:nvPr/>
        </p:nvSpPr>
        <p:spPr>
          <a:xfrm>
            <a:off x="13275575" y="5924169"/>
            <a:ext cx="165330" cy="185166"/>
          </a:xfrm>
          <a:prstGeom prst="rect">
            <a:avLst/>
          </a:prstGeom>
          <a:noFill/>
        </p:spPr>
        <p:txBody>
          <a:bodyPr wrap="none" anchor="t" lIns="0" rIns="0" tIns="0" bIns="0">
            <a:spAutoFit/>
          </a:bodyPr>
          <a:lstStyle/>
          <a:p>
            <a:pPr algn="ctr">
              <a:lnSpc>
                <a:spcPct val="125000"/>
              </a:lnSpc>
            </a:pPr>
            <a:r>
              <a:rPr sz="936" b="0">
                <a:solidFill>
                  <a:srgbClr val="8A8A8A"/>
                </a:solidFill>
                <a:latin typeface="Arial"/>
                <a:ea typeface="Arial"/>
              </a:rPr>
              <a:t>1</a:t>
            </a:r>
          </a:p>
        </p:txBody>
      </p:sp>
      <p:sp>
        <p:nvSpPr>
          <p:cNvPr id="117" name="TextBox 116"/>
          <p:cNvSpPr txBox="1"/>
          <p:nvPr/>
        </p:nvSpPr>
        <p:spPr>
          <a:xfrm>
            <a:off x="13932800" y="5924169"/>
            <a:ext cx="165330" cy="185166"/>
          </a:xfrm>
          <a:prstGeom prst="rect">
            <a:avLst/>
          </a:prstGeom>
          <a:noFill/>
        </p:spPr>
        <p:txBody>
          <a:bodyPr wrap="none" anchor="t" lIns="0" rIns="0" tIns="0" bIns="0">
            <a:spAutoFit/>
          </a:bodyPr>
          <a:lstStyle/>
          <a:p>
            <a:pPr algn="ctr">
              <a:lnSpc>
                <a:spcPct val="125000"/>
              </a:lnSpc>
            </a:pPr>
            <a:r>
              <a:rPr sz="936" b="0">
                <a:solidFill>
                  <a:srgbClr val="8A8A8A"/>
                </a:solidFill>
                <a:latin typeface="Arial"/>
                <a:ea typeface="Arial"/>
              </a:rPr>
              <a:t>2</a:t>
            </a:r>
          </a:p>
        </p:txBody>
      </p:sp>
      <p:sp>
        <p:nvSpPr>
          <p:cNvPr id="118" name="TextBox 117"/>
          <p:cNvSpPr txBox="1"/>
          <p:nvPr/>
        </p:nvSpPr>
        <p:spPr>
          <a:xfrm>
            <a:off x="14590025" y="5924169"/>
            <a:ext cx="165330" cy="185166"/>
          </a:xfrm>
          <a:prstGeom prst="rect">
            <a:avLst/>
          </a:prstGeom>
          <a:noFill/>
        </p:spPr>
        <p:txBody>
          <a:bodyPr wrap="none" anchor="t" lIns="0" rIns="0" tIns="0" bIns="0">
            <a:spAutoFit/>
          </a:bodyPr>
          <a:lstStyle/>
          <a:p>
            <a:pPr algn="ctr">
              <a:lnSpc>
                <a:spcPct val="125000"/>
              </a:lnSpc>
            </a:pPr>
            <a:r>
              <a:rPr sz="936" b="0">
                <a:solidFill>
                  <a:srgbClr val="8A8A8A"/>
                </a:solidFill>
                <a:latin typeface="Arial"/>
                <a:ea typeface="Arial"/>
              </a:rPr>
              <a:t>3</a:t>
            </a:r>
          </a:p>
        </p:txBody>
      </p:sp>
      <p:cxnSp>
        <p:nvCxnSpPr>
          <p:cNvPr id="119" name="Connector 118"/>
          <p:cNvCxnSpPr/>
          <p:nvPr/>
        </p:nvCxnSpPr>
        <p:spPr>
          <a:xfrm>
            <a:off x="12701016" y="4389120"/>
            <a:ext cx="0" cy="1517904"/>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11512296" y="6125337"/>
            <a:ext cx="1389251" cy="185166"/>
          </a:xfrm>
          <a:prstGeom prst="rect">
            <a:avLst/>
          </a:prstGeom>
          <a:noFill/>
        </p:spPr>
        <p:txBody>
          <a:bodyPr wrap="none" anchor="t" lIns="0" rIns="0" tIns="0" bIns="0">
            <a:spAutoFit/>
          </a:bodyPr>
          <a:lstStyle/>
          <a:p>
            <a:pPr algn="l">
              <a:lnSpc>
                <a:spcPct val="125000"/>
              </a:lnSpc>
            </a:pPr>
            <a:r>
              <a:rPr sz="936" b="0">
                <a:solidFill>
                  <a:srgbClr val="8A8A8A"/>
                </a:solidFill>
                <a:latin typeface="Arial"/>
                <a:ea typeface="Arial"/>
              </a:rPr>
              <a:t>정격 DWPD (동급 비교)</a:t>
            </a:r>
          </a:p>
        </p:txBody>
      </p:sp>
      <p:sp>
        <p:nvSpPr>
          <p:cNvPr id="121" name="TextBox 120"/>
          <p:cNvSpPr txBox="1"/>
          <p:nvPr/>
        </p:nvSpPr>
        <p:spPr>
          <a:xfrm>
            <a:off x="15169896" y="4393692"/>
            <a:ext cx="1569461" cy="539496"/>
          </a:xfrm>
          <a:prstGeom prst="rect">
            <a:avLst/>
          </a:prstGeom>
          <a:noFill/>
        </p:spPr>
        <p:txBody>
          <a:bodyPr wrap="none" anchor="t" lIns="0" rIns="0" tIns="0" bIns="0">
            <a:spAutoFit/>
          </a:bodyPr>
          <a:lstStyle/>
          <a:p>
            <a:pPr algn="l">
              <a:lnSpc>
                <a:spcPct val="125000"/>
              </a:lnSpc>
            </a:pPr>
            <a:r>
              <a:rPr sz="3168" b="1">
                <a:solidFill>
                  <a:srgbClr val="1428A0"/>
                </a:solidFill>
                <a:latin typeface="Arial"/>
                <a:ea typeface="Arial"/>
              </a:rPr>
              <a:t>2~10배</a:t>
            </a:r>
          </a:p>
        </p:txBody>
      </p:sp>
      <p:sp>
        <p:nvSpPr>
          <p:cNvPr id="122" name="TextBox 121"/>
          <p:cNvSpPr txBox="1"/>
          <p:nvPr/>
        </p:nvSpPr>
        <p:spPr>
          <a:xfrm>
            <a:off x="15169896" y="4952390"/>
            <a:ext cx="1071293" cy="343814"/>
          </a:xfrm>
          <a:prstGeom prst="rect">
            <a:avLst/>
          </a:prstGeom>
          <a:noFill/>
        </p:spPr>
        <p:txBody>
          <a:bodyPr wrap="none" anchor="t" lIns="0" rIns="0" tIns="0" bIns="0">
            <a:spAutoFit/>
          </a:bodyPr>
          <a:lstStyle/>
          <a:p>
            <a:pPr algn="l">
              <a:lnSpc>
                <a:spcPct val="120000"/>
              </a:lnSpc>
            </a:pPr>
            <a:r>
              <a:rPr sz="1008" b="0">
                <a:solidFill>
                  <a:srgbClr val="555555"/>
                </a:solidFill>
                <a:latin typeface="Arial"/>
                <a:ea typeface="Arial"/>
              </a:rPr>
              <a:t>동급 정격 대비</a:t>
            </a:r>
          </a:p>
          <a:p>
            <a:pPr algn="l">
              <a:lnSpc>
                <a:spcPct val="120000"/>
              </a:lnSpc>
            </a:pPr>
            <a:r>
              <a:rPr sz="1008" b="0">
                <a:solidFill>
                  <a:srgbClr val="555555"/>
                </a:solidFill>
                <a:latin typeface="Arial"/>
                <a:ea typeface="Arial"/>
              </a:rPr>
              <a:t>(극단 조합 40배)</a:t>
            </a:r>
          </a:p>
        </p:txBody>
      </p:sp>
      <p:sp>
        <p:nvSpPr>
          <p:cNvPr id="123" name="TextBox 122"/>
          <p:cNvSpPr txBox="1"/>
          <p:nvPr/>
        </p:nvSpPr>
        <p:spPr>
          <a:xfrm>
            <a:off x="15169896" y="5424677"/>
            <a:ext cx="1033413" cy="379476"/>
          </a:xfrm>
          <a:prstGeom prst="rect">
            <a:avLst/>
          </a:prstGeom>
          <a:noFill/>
        </p:spPr>
        <p:txBody>
          <a:bodyPr wrap="none" anchor="t" lIns="0" rIns="0" tIns="0" bIns="0">
            <a:spAutoFit/>
          </a:bodyPr>
          <a:lstStyle/>
          <a:p>
            <a:pPr algn="l">
              <a:lnSpc>
                <a:spcPct val="125000"/>
              </a:lnSpc>
            </a:pPr>
            <a:r>
              <a:rPr sz="2160" b="1">
                <a:solidFill>
                  <a:srgbClr val="1428A0"/>
                </a:solidFill>
                <a:latin typeface="Arial"/>
                <a:ea typeface="Arial"/>
              </a:rPr>
              <a:t>350EB</a:t>
            </a:r>
          </a:p>
        </p:txBody>
      </p:sp>
      <p:sp>
        <p:nvSpPr>
          <p:cNvPr id="124" name="TextBox 123"/>
          <p:cNvSpPr txBox="1"/>
          <p:nvPr/>
        </p:nvSpPr>
        <p:spPr>
          <a:xfrm>
            <a:off x="15169896" y="5814441"/>
            <a:ext cx="1375168" cy="185166"/>
          </a:xfrm>
          <a:prstGeom prst="rect">
            <a:avLst/>
          </a:prstGeom>
          <a:noFill/>
        </p:spPr>
        <p:txBody>
          <a:bodyPr wrap="none" anchor="t" lIns="0" rIns="0" tIns="0" bIns="0">
            <a:spAutoFit/>
          </a:bodyPr>
          <a:lstStyle/>
          <a:p>
            <a:pPr algn="l">
              <a:lnSpc>
                <a:spcPct val="125000"/>
              </a:lnSpc>
            </a:pPr>
            <a:r>
              <a:rPr sz="936" b="0">
                <a:solidFill>
                  <a:srgbClr val="555555"/>
                </a:solidFill>
                <a:latin typeface="Arial"/>
                <a:ea typeface="Arial"/>
              </a:rPr>
              <a:t>2030 추론 캐시 수요(e)</a:t>
            </a:r>
          </a:p>
        </p:txBody>
      </p:sp>
      <p:sp>
        <p:nvSpPr>
          <p:cNvPr id="125" name="Rounded Rectangle 124"/>
          <p:cNvSpPr/>
          <p:nvPr/>
        </p:nvSpPr>
        <p:spPr>
          <a:xfrm>
            <a:off x="11512296" y="6748272"/>
            <a:ext cx="1371600" cy="438912"/>
          </a:xfrm>
          <a:prstGeom prst="roundRect">
            <a:avLst>
              <a:gd name="adj" fmla="val 8333"/>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11813184" y="6846570"/>
            <a:ext cx="769822" cy="242316"/>
          </a:xfrm>
          <a:prstGeom prst="rect">
            <a:avLst/>
          </a:prstGeom>
          <a:noFill/>
        </p:spPr>
        <p:txBody>
          <a:bodyPr wrap="none" anchor="t" lIns="0" rIns="0" tIns="0" bIns="0">
            <a:spAutoFit/>
          </a:bodyPr>
          <a:lstStyle/>
          <a:p>
            <a:pPr algn="ctr">
              <a:lnSpc>
                <a:spcPct val="125000"/>
              </a:lnSpc>
            </a:pPr>
            <a:r>
              <a:rPr sz="1296" b="1">
                <a:solidFill>
                  <a:srgbClr val="FFFFFF"/>
                </a:solidFill>
                <a:latin typeface="Arial"/>
                <a:ea typeface="Arial"/>
              </a:rPr>
              <a:t>고용량화</a:t>
            </a:r>
          </a:p>
        </p:txBody>
      </p:sp>
      <p:cxnSp>
        <p:nvCxnSpPr>
          <p:cNvPr id="127" name="Connector 126"/>
          <p:cNvCxnSpPr/>
          <p:nvPr/>
        </p:nvCxnSpPr>
        <p:spPr>
          <a:xfrm>
            <a:off x="12883896" y="6967728"/>
            <a:ext cx="274320" cy="0"/>
          </a:xfrm>
          <a:prstGeom prst="line">
            <a:avLst/>
          </a:prstGeom>
          <a:ln w="31750">
            <a:solidFill>
              <a:srgbClr val="1428A0"/>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13158216" y="6547104"/>
            <a:ext cx="0" cy="420624"/>
          </a:xfrm>
          <a:prstGeom prst="line">
            <a:avLst/>
          </a:prstGeom>
          <a:ln w="31750">
            <a:solidFill>
              <a:srgbClr val="1428A0"/>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a:off x="13158216" y="6547104"/>
            <a:ext cx="237743" cy="0"/>
          </a:xfrm>
          <a:prstGeom prst="line">
            <a:avLst/>
          </a:prstGeom>
          <a:ln w="31750">
            <a:solidFill>
              <a:srgbClr val="1428A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0" name="Rounded Rectangle 129"/>
          <p:cNvSpPr/>
          <p:nvPr/>
        </p:nvSpPr>
        <p:spPr>
          <a:xfrm>
            <a:off x="13450824" y="6327648"/>
            <a:ext cx="3566160" cy="438912"/>
          </a:xfrm>
          <a:prstGeom prst="roundRect">
            <a:avLst>
              <a:gd name="adj" fmla="val 8333"/>
            </a:avLst>
          </a:prstGeom>
          <a:solidFill>
            <a:srgbClr val="FFFFFF"/>
          </a:solidFill>
          <a:ln w="1524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13560551" y="6419088"/>
            <a:ext cx="256032" cy="256032"/>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13597530" y="6443091"/>
            <a:ext cx="182075" cy="208026"/>
          </a:xfrm>
          <a:prstGeom prst="rect">
            <a:avLst/>
          </a:prstGeom>
          <a:noFill/>
        </p:spPr>
        <p:txBody>
          <a:bodyPr wrap="none" anchor="t" lIns="0" rIns="0" tIns="0" bIns="0">
            <a:spAutoFit/>
          </a:bodyPr>
          <a:lstStyle/>
          <a:p>
            <a:pPr algn="ctr">
              <a:lnSpc>
                <a:spcPct val="125000"/>
              </a:lnSpc>
            </a:pPr>
            <a:r>
              <a:rPr sz="1080" b="1">
                <a:solidFill>
                  <a:srgbClr val="FFFFFF"/>
                </a:solidFill>
                <a:latin typeface="Arial"/>
                <a:ea typeface="Arial"/>
              </a:rPr>
              <a:t>2</a:t>
            </a:r>
          </a:p>
        </p:txBody>
      </p:sp>
      <p:sp>
        <p:nvSpPr>
          <p:cNvPr id="133" name="TextBox 132"/>
          <p:cNvSpPr txBox="1"/>
          <p:nvPr/>
        </p:nvSpPr>
        <p:spPr>
          <a:xfrm>
            <a:off x="13908024" y="6355080"/>
            <a:ext cx="1945060" cy="219456"/>
          </a:xfrm>
          <a:prstGeom prst="rect">
            <a:avLst/>
          </a:prstGeom>
          <a:noFill/>
        </p:spPr>
        <p:txBody>
          <a:bodyPr wrap="none" anchor="t" lIns="0" rIns="0" tIns="0" bIns="0">
            <a:spAutoFit/>
          </a:bodyPr>
          <a:lstStyle/>
          <a:p>
            <a:pPr algn="l">
              <a:lnSpc>
                <a:spcPct val="125000"/>
              </a:lnSpc>
            </a:pPr>
            <a:r>
              <a:rPr sz="1152" b="1">
                <a:solidFill>
                  <a:srgbClr val="1A1A1A"/>
                </a:solidFill>
                <a:latin typeface="Arial"/>
                <a:ea typeface="Arial"/>
              </a:rPr>
              <a:t>다이 수 8배 ↑ → 신뢰성 축</a:t>
            </a:r>
          </a:p>
        </p:txBody>
      </p:sp>
      <p:sp>
        <p:nvSpPr>
          <p:cNvPr id="134" name="TextBox 133"/>
          <p:cNvSpPr txBox="1"/>
          <p:nvPr/>
        </p:nvSpPr>
        <p:spPr>
          <a:xfrm>
            <a:off x="13908024" y="6564249"/>
            <a:ext cx="889323" cy="185166"/>
          </a:xfrm>
          <a:prstGeom prst="rect">
            <a:avLst/>
          </a:prstGeom>
          <a:noFill/>
        </p:spPr>
        <p:txBody>
          <a:bodyPr wrap="none" anchor="t" lIns="0" rIns="0" tIns="0" bIns="0">
            <a:spAutoFit/>
          </a:bodyPr>
          <a:lstStyle/>
          <a:p>
            <a:pPr algn="l">
              <a:lnSpc>
                <a:spcPct val="125000"/>
              </a:lnSpc>
            </a:pPr>
            <a:r>
              <a:rPr sz="936" b="0">
                <a:solidFill>
                  <a:srgbClr val="555555"/>
                </a:solidFill>
                <a:latin typeface="Arial"/>
                <a:ea typeface="Arial"/>
              </a:rPr>
              <a:t>SSD 내부 해법</a:t>
            </a:r>
          </a:p>
        </p:txBody>
      </p:sp>
      <p:cxnSp>
        <p:nvCxnSpPr>
          <p:cNvPr id="135" name="Connector 134"/>
          <p:cNvCxnSpPr/>
          <p:nvPr/>
        </p:nvCxnSpPr>
        <p:spPr>
          <a:xfrm>
            <a:off x="12883896" y="6967728"/>
            <a:ext cx="274320" cy="0"/>
          </a:xfrm>
          <a:prstGeom prst="line">
            <a:avLst/>
          </a:prstGeom>
          <a:ln w="31750">
            <a:solidFill>
              <a:srgbClr val="1428A0"/>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a:off x="13158216" y="6967728"/>
            <a:ext cx="0" cy="420624"/>
          </a:xfrm>
          <a:prstGeom prst="line">
            <a:avLst/>
          </a:prstGeom>
          <a:ln w="31750">
            <a:solidFill>
              <a:srgbClr val="1428A0"/>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a:off x="13158216" y="7388352"/>
            <a:ext cx="237743" cy="0"/>
          </a:xfrm>
          <a:prstGeom prst="line">
            <a:avLst/>
          </a:prstGeom>
          <a:ln w="31750">
            <a:solidFill>
              <a:srgbClr val="1428A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8" name="Rounded Rectangle 137"/>
          <p:cNvSpPr/>
          <p:nvPr/>
        </p:nvSpPr>
        <p:spPr>
          <a:xfrm>
            <a:off x="13450824" y="7168896"/>
            <a:ext cx="3566160" cy="438912"/>
          </a:xfrm>
          <a:prstGeom prst="roundRect">
            <a:avLst>
              <a:gd name="adj" fmla="val 8333"/>
            </a:avLst>
          </a:prstGeom>
          <a:solidFill>
            <a:srgbClr val="FFFFFF"/>
          </a:solidFill>
          <a:ln w="1524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Oval 138"/>
          <p:cNvSpPr/>
          <p:nvPr/>
        </p:nvSpPr>
        <p:spPr>
          <a:xfrm>
            <a:off x="13560551" y="7260336"/>
            <a:ext cx="256032" cy="256032"/>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13597530" y="7284339"/>
            <a:ext cx="182075" cy="208026"/>
          </a:xfrm>
          <a:prstGeom prst="rect">
            <a:avLst/>
          </a:prstGeom>
          <a:noFill/>
        </p:spPr>
        <p:txBody>
          <a:bodyPr wrap="none" anchor="t" lIns="0" rIns="0" tIns="0" bIns="0">
            <a:spAutoFit/>
          </a:bodyPr>
          <a:lstStyle/>
          <a:p>
            <a:pPr algn="ctr">
              <a:lnSpc>
                <a:spcPct val="125000"/>
              </a:lnSpc>
            </a:pPr>
            <a:r>
              <a:rPr sz="1080" b="1">
                <a:solidFill>
                  <a:srgbClr val="FFFFFF"/>
                </a:solidFill>
                <a:latin typeface="Arial"/>
                <a:ea typeface="Arial"/>
              </a:rPr>
              <a:t>3</a:t>
            </a:r>
          </a:p>
        </p:txBody>
      </p:sp>
      <p:sp>
        <p:nvSpPr>
          <p:cNvPr id="141" name="TextBox 140"/>
          <p:cNvSpPr txBox="1"/>
          <p:nvPr/>
        </p:nvSpPr>
        <p:spPr>
          <a:xfrm>
            <a:off x="13908024" y="7196328"/>
            <a:ext cx="1801375" cy="219456"/>
          </a:xfrm>
          <a:prstGeom prst="rect">
            <a:avLst/>
          </a:prstGeom>
          <a:noFill/>
        </p:spPr>
        <p:txBody>
          <a:bodyPr wrap="none" anchor="t" lIns="0" rIns="0" tIns="0" bIns="0">
            <a:spAutoFit/>
          </a:bodyPr>
          <a:lstStyle/>
          <a:p>
            <a:pPr algn="l">
              <a:lnSpc>
                <a:spcPct val="125000"/>
              </a:lnSpc>
            </a:pPr>
            <a:r>
              <a:rPr sz="1152" b="1">
                <a:solidFill>
                  <a:srgbClr val="1A1A1A"/>
                </a:solidFill>
                <a:latin typeface="Arial"/>
                <a:ea typeface="Arial"/>
              </a:rPr>
              <a:t>DWPD 격차 → 내구성 축</a:t>
            </a:r>
          </a:p>
        </p:txBody>
      </p:sp>
      <p:sp>
        <p:nvSpPr>
          <p:cNvPr id="142" name="TextBox 141"/>
          <p:cNvSpPr txBox="1"/>
          <p:nvPr/>
        </p:nvSpPr>
        <p:spPr>
          <a:xfrm>
            <a:off x="13908024" y="7405496"/>
            <a:ext cx="856185" cy="185166"/>
          </a:xfrm>
          <a:prstGeom prst="rect">
            <a:avLst/>
          </a:prstGeom>
          <a:noFill/>
        </p:spPr>
        <p:txBody>
          <a:bodyPr wrap="none" anchor="t" lIns="0" rIns="0" tIns="0" bIns="0">
            <a:spAutoFit/>
          </a:bodyPr>
          <a:lstStyle/>
          <a:p>
            <a:pPr algn="l">
              <a:lnSpc>
                <a:spcPct val="125000"/>
              </a:lnSpc>
            </a:pPr>
            <a:r>
              <a:rPr sz="936" b="0">
                <a:solidFill>
                  <a:srgbClr val="555555"/>
                </a:solidFill>
                <a:latin typeface="Arial"/>
                <a:ea typeface="Arial"/>
              </a:rPr>
              <a:t>어느 계층인가</a:t>
            </a:r>
          </a:p>
        </p:txBody>
      </p:sp>
      <p:sp>
        <p:nvSpPr>
          <p:cNvPr id="143" name="Rectangle 142"/>
          <p:cNvSpPr/>
          <p:nvPr/>
        </p:nvSpPr>
        <p:spPr>
          <a:xfrm>
            <a:off x="722376" y="8467344"/>
            <a:ext cx="16843248" cy="82296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1133856" y="8467344"/>
            <a:ext cx="1463040" cy="822960"/>
          </a:xfrm>
          <a:prstGeom prst="rect">
            <a:avLst/>
          </a:prstGeom>
          <a:noFill/>
        </p:spPr>
        <p:txBody>
          <a:bodyPr wrap="square" anchor="ctr" lIns="0" rIns="0" tIns="0" bIns="0">
            <a:spAutoFit/>
          </a:bodyPr>
          <a:lstStyle/>
          <a:p>
            <a:pPr algn="l">
              <a:lnSpc>
                <a:spcPct val="112000"/>
              </a:lnSpc>
            </a:pPr>
            <a:r>
              <a:rPr sz="1800" b="0">
                <a:solidFill>
                  <a:srgbClr val="FFFFFF"/>
                </a:solidFill>
                <a:latin typeface="Arial"/>
                <a:ea typeface="Arial"/>
              </a:rPr>
              <a:t>문제</a:t>
            </a:r>
          </a:p>
        </p:txBody>
      </p:sp>
      <p:sp>
        <p:nvSpPr>
          <p:cNvPr id="145" name="TextBox 144"/>
          <p:cNvSpPr txBox="1"/>
          <p:nvPr/>
        </p:nvSpPr>
        <p:spPr>
          <a:xfrm>
            <a:off x="2551176" y="8467344"/>
            <a:ext cx="11905488" cy="822960"/>
          </a:xfrm>
          <a:prstGeom prst="rect">
            <a:avLst/>
          </a:prstGeom>
          <a:noFill/>
        </p:spPr>
        <p:txBody>
          <a:bodyPr wrap="square" anchor="ctr" lIns="0" rIns="0" tIns="0" bIns="0">
            <a:spAutoFit/>
          </a:bodyPr>
          <a:lstStyle/>
          <a:p>
            <a:pPr algn="l">
              <a:lnSpc>
                <a:spcPct val="108000"/>
              </a:lnSpc>
            </a:pPr>
            <a:r>
              <a:rPr sz="1700" b="1">
                <a:solidFill>
                  <a:srgbClr val="FFFFFF"/>
                </a:solidFill>
                <a:latin typeface="Arial"/>
                <a:ea typeface="Arial"/>
              </a:rPr>
              <a:t>차기 요구는 고용량(다이 8배)과 1~3 DWPD이며, 동급 정격과 2~10배 격차가 있습니다</a:t>
            </a:r>
          </a:p>
        </p:txBody>
      </p:sp>
      <p:sp>
        <p:nvSpPr>
          <p:cNvPr id="146" name="Rectangle 145"/>
          <p:cNvSpPr/>
          <p:nvPr/>
        </p:nvSpPr>
        <p:spPr>
          <a:xfrm>
            <a:off x="14822424" y="8577072"/>
            <a:ext cx="2468880" cy="603504"/>
          </a:xfrm>
          <a:prstGeom prst="rect">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Rectangle 146"/>
          <p:cNvSpPr/>
          <p:nvPr/>
        </p:nvSpPr>
        <p:spPr>
          <a:xfrm>
            <a:off x="14822424" y="8577072"/>
            <a:ext cx="54864" cy="6035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15023592" y="8577072"/>
            <a:ext cx="2176272" cy="603504"/>
          </a:xfrm>
          <a:prstGeom prst="rect">
            <a:avLst/>
          </a:prstGeom>
          <a:noFill/>
        </p:spPr>
        <p:txBody>
          <a:bodyPr wrap="square" anchor="ctr" lIns="0" rIns="0" tIns="0" bIns="0">
            <a:spAutoFit/>
          </a:bodyPr>
          <a:lstStyle/>
          <a:p>
            <a:pPr algn="l">
              <a:lnSpc>
                <a:spcPct val="100000"/>
              </a:lnSpc>
            </a:pPr>
            <a:r>
              <a:rPr sz="1050" b="0">
                <a:solidFill>
                  <a:srgbClr val="AAB8E8"/>
                </a:solidFill>
                <a:latin typeface="Arial"/>
                <a:ea typeface="Arial"/>
              </a:rPr>
              <a:t>다음 장 →</a:t>
            </a:r>
          </a:p>
          <a:p>
            <a:pPr algn="l">
              <a:lnSpc>
                <a:spcPct val="100000"/>
              </a:lnSpc>
            </a:pPr>
            <a:r>
              <a:rPr sz="1350" b="1">
                <a:solidFill>
                  <a:srgbClr val="FFFFFF"/>
                </a:solidFill>
                <a:latin typeface="Arial"/>
                <a:ea typeface="Arial"/>
              </a:rPr>
              <a:t>2장 신뢰성</a:t>
            </a:r>
          </a:p>
        </p:txBody>
      </p:sp>
      <p:sp>
        <p:nvSpPr>
          <p:cNvPr id="149" name="TextBox 148"/>
          <p:cNvSpPr txBox="1"/>
          <p:nvPr/>
        </p:nvSpPr>
        <p:spPr>
          <a:xfrm>
            <a:off x="722376" y="9592056"/>
            <a:ext cx="14264640" cy="310896"/>
          </a:xfrm>
          <a:prstGeom prst="rect">
            <a:avLst/>
          </a:prstGeom>
          <a:noFill/>
        </p:spPr>
        <p:txBody>
          <a:bodyPr wrap="square" anchor="t" lIns="0" rIns="0" tIns="0" bIns="0">
            <a:spAutoFit/>
          </a:bodyPr>
          <a:lstStyle/>
          <a:p>
            <a:pPr algn="l">
              <a:lnSpc>
                <a:spcPct val="112000"/>
              </a:lnSpc>
            </a:pPr>
            <a:r>
              <a:rPr sz="1600" b="0">
                <a:solidFill>
                  <a:srgbClr val="555555"/>
                </a:solidFill>
                <a:latin typeface="Arial"/>
                <a:ea typeface="Arial"/>
              </a:rPr>
              <a:t>출처: 보고서 v2.0 부록 A · 덱 v5.2와 동일 수치</a:t>
            </a:r>
          </a:p>
        </p:txBody>
      </p:sp>
      <p:sp>
        <p:nvSpPr>
          <p:cNvPr id="150" name="TextBox 149"/>
          <p:cNvSpPr txBox="1"/>
          <p:nvPr/>
        </p:nvSpPr>
        <p:spPr>
          <a:xfrm>
            <a:off x="16047720" y="9592056"/>
            <a:ext cx="1517904" cy="310896"/>
          </a:xfrm>
          <a:prstGeom prst="rect">
            <a:avLst/>
          </a:prstGeom>
          <a:noFill/>
        </p:spPr>
        <p:txBody>
          <a:bodyPr wrap="square" anchor="t" lIns="0" rIns="0" tIns="0" bIns="0">
            <a:spAutoFit/>
          </a:bodyPr>
          <a:lstStyle/>
          <a:p>
            <a:pPr algn="r">
              <a:lnSpc>
                <a:spcPct val="112000"/>
              </a:lnSpc>
            </a:pPr>
            <a:r>
              <a:rPr sz="1800" b="0">
                <a:solidFill>
                  <a:srgbClr val="555555"/>
                </a:solidFill>
                <a:latin typeface="Arial"/>
                <a:ea typeface="Arial"/>
              </a:rPr>
              <a:t>02 / 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420624"/>
            <a:ext cx="5486400" cy="310896"/>
          </a:xfrm>
          <a:prstGeom prst="rect">
            <a:avLst/>
          </a:prstGeom>
          <a:noFill/>
        </p:spPr>
        <p:txBody>
          <a:bodyPr wrap="square" anchor="t" lIns="0" rIns="0" tIns="0" bIns="0">
            <a:spAutoFit/>
          </a:bodyPr>
          <a:lstStyle/>
          <a:p>
            <a:pPr algn="l">
              <a:lnSpc>
                <a:spcPct val="112000"/>
              </a:lnSpc>
            </a:pPr>
            <a:r>
              <a:rPr sz="1800" b="1">
                <a:solidFill>
                  <a:srgbClr val="1428A0"/>
                </a:solidFill>
                <a:latin typeface="Arial"/>
                <a:ea typeface="Arial"/>
              </a:rPr>
              <a:t>삼성전자 메모리사업부</a:t>
            </a:r>
          </a:p>
        </p:txBody>
      </p:sp>
      <p:sp>
        <p:nvSpPr>
          <p:cNvPr id="3" name="TextBox 2"/>
          <p:cNvSpPr txBox="1"/>
          <p:nvPr/>
        </p:nvSpPr>
        <p:spPr>
          <a:xfrm>
            <a:off x="12079224" y="420624"/>
            <a:ext cx="5486400" cy="310896"/>
          </a:xfrm>
          <a:prstGeom prst="rect">
            <a:avLst/>
          </a:prstGeom>
          <a:noFill/>
        </p:spPr>
        <p:txBody>
          <a:bodyPr wrap="square" anchor="t" lIns="0" rIns="0" tIns="0" bIns="0">
            <a:spAutoFit/>
          </a:bodyPr>
          <a:lstStyle/>
          <a:p>
            <a:pPr algn="r">
              <a:lnSpc>
                <a:spcPct val="112000"/>
              </a:lnSpc>
            </a:pPr>
            <a:r>
              <a:rPr sz="1800" b="0">
                <a:solidFill>
                  <a:srgbClr val="555555"/>
                </a:solidFill>
                <a:latin typeface="Arial"/>
                <a:ea typeface="Arial"/>
              </a:rPr>
              <a:t>[문서등급 표기]</a:t>
            </a:r>
          </a:p>
        </p:txBody>
      </p:sp>
      <p:sp>
        <p:nvSpPr>
          <p:cNvPr id="4" name="TextBox 3"/>
          <p:cNvSpPr txBox="1"/>
          <p:nvPr/>
        </p:nvSpPr>
        <p:spPr>
          <a:xfrm>
            <a:off x="722376" y="804672"/>
            <a:ext cx="2148840" cy="274320"/>
          </a:xfrm>
          <a:prstGeom prst="rect">
            <a:avLst/>
          </a:prstGeom>
          <a:noFill/>
        </p:spPr>
        <p:txBody>
          <a:bodyPr wrap="square" anchor="ctr" lIns="0" rIns="0" tIns="0" bIns="0">
            <a:spAutoFit/>
          </a:bodyPr>
          <a:lstStyle/>
          <a:p>
            <a:pPr algn="l">
              <a:lnSpc>
                <a:spcPct val="112000"/>
              </a:lnSpc>
            </a:pPr>
            <a:r>
              <a:rPr sz="1800" b="1">
                <a:solidFill>
                  <a:srgbClr val="1428A0"/>
                </a:solidFill>
                <a:latin typeface="Arial"/>
                <a:ea typeface="Arial"/>
              </a:rPr>
              <a:t>QLC eSSD 전략</a:t>
            </a:r>
          </a:p>
        </p:txBody>
      </p:sp>
      <p:sp>
        <p:nvSpPr>
          <p:cNvPr id="5" name="Rectangle 4"/>
          <p:cNvSpPr/>
          <p:nvPr/>
        </p:nvSpPr>
        <p:spPr>
          <a:xfrm>
            <a:off x="2871216" y="1124712"/>
            <a:ext cx="2357628"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871216"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71216"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1</a:t>
            </a:r>
          </a:p>
        </p:txBody>
      </p:sp>
      <p:sp>
        <p:nvSpPr>
          <p:cNvPr id="8" name="TextBox 7"/>
          <p:cNvSpPr txBox="1"/>
          <p:nvPr/>
        </p:nvSpPr>
        <p:spPr>
          <a:xfrm>
            <a:off x="3209544" y="804672"/>
            <a:ext cx="2001011"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문제  </a:t>
            </a:r>
            <a:r>
              <a:rPr sz="1200" b="0">
                <a:solidFill>
                  <a:srgbClr val="555555"/>
                </a:solidFill>
                <a:latin typeface="Arial"/>
                <a:ea typeface="Arial"/>
              </a:rPr>
              <a:t/>
            </a:r>
          </a:p>
        </p:txBody>
      </p:sp>
      <p:sp>
        <p:nvSpPr>
          <p:cNvPr id="9" name="Rectangle 8"/>
          <p:cNvSpPr/>
          <p:nvPr/>
        </p:nvSpPr>
        <p:spPr>
          <a:xfrm>
            <a:off x="5320284" y="1124712"/>
            <a:ext cx="2357628"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320284" y="818388"/>
            <a:ext cx="246888" cy="246888"/>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20284" y="818388"/>
            <a:ext cx="246888" cy="246888"/>
          </a:xfrm>
          <a:prstGeom prst="rect">
            <a:avLst/>
          </a:prstGeom>
          <a:noFill/>
        </p:spPr>
        <p:txBody>
          <a:bodyPr wrap="square" anchor="ctr" lIns="0" rIns="0" tIns="0" bIns="0">
            <a:spAutoFit/>
          </a:bodyPr>
          <a:lstStyle/>
          <a:p>
            <a:pPr algn="ctr">
              <a:lnSpc>
                <a:spcPct val="112000"/>
              </a:lnSpc>
            </a:pPr>
            <a:r>
              <a:rPr sz="1100" b="1">
                <a:solidFill>
                  <a:srgbClr val="FFFFFF"/>
                </a:solidFill>
                <a:latin typeface="Arial"/>
                <a:ea typeface="Arial"/>
              </a:rPr>
              <a:t>2</a:t>
            </a:r>
          </a:p>
        </p:txBody>
      </p:sp>
      <p:sp>
        <p:nvSpPr>
          <p:cNvPr id="12" name="TextBox 11"/>
          <p:cNvSpPr txBox="1"/>
          <p:nvPr/>
        </p:nvSpPr>
        <p:spPr>
          <a:xfrm>
            <a:off x="5658611" y="804672"/>
            <a:ext cx="2001011" cy="274320"/>
          </a:xfrm>
          <a:prstGeom prst="rect">
            <a:avLst/>
          </a:prstGeom>
          <a:noFill/>
        </p:spPr>
        <p:txBody>
          <a:bodyPr wrap="square" anchor="ctr" lIns="0" rIns="0" tIns="0" bIns="0">
            <a:spAutoFit/>
          </a:bodyPr>
          <a:lstStyle/>
          <a:p>
            <a:pPr algn="l">
              <a:lnSpc>
                <a:spcPct val="112000"/>
              </a:lnSpc>
            </a:pPr>
            <a:r>
              <a:rPr sz="1300" b="1">
                <a:solidFill>
                  <a:srgbClr val="1428A0"/>
                </a:solidFill>
                <a:latin typeface="Arial"/>
                <a:ea typeface="Arial"/>
              </a:rPr>
              <a:t>신뢰성  </a:t>
            </a:r>
            <a:r>
              <a:rPr sz="1200" b="0">
                <a:solidFill>
                  <a:srgbClr val="1428A0"/>
                </a:solidFill>
                <a:latin typeface="Arial"/>
                <a:ea typeface="Arial"/>
              </a:rPr>
              <a:t/>
            </a:r>
          </a:p>
        </p:txBody>
      </p:sp>
      <p:sp>
        <p:nvSpPr>
          <p:cNvPr id="13" name="Rectangle 12"/>
          <p:cNvSpPr/>
          <p:nvPr/>
        </p:nvSpPr>
        <p:spPr>
          <a:xfrm>
            <a:off x="7769351" y="1124712"/>
            <a:ext cx="2357628"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769351"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69351"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3</a:t>
            </a:r>
          </a:p>
        </p:txBody>
      </p:sp>
      <p:sp>
        <p:nvSpPr>
          <p:cNvPr id="16" name="TextBox 15"/>
          <p:cNvSpPr txBox="1"/>
          <p:nvPr/>
        </p:nvSpPr>
        <p:spPr>
          <a:xfrm>
            <a:off x="8107679" y="804672"/>
            <a:ext cx="2001011"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해법 사다리  </a:t>
            </a:r>
            <a:r>
              <a:rPr sz="1200" b="0">
                <a:solidFill>
                  <a:srgbClr val="8A8A8A"/>
                </a:solidFill>
                <a:latin typeface="Arial"/>
                <a:ea typeface="Arial"/>
              </a:rPr>
              <a:t/>
            </a:r>
          </a:p>
        </p:txBody>
      </p:sp>
      <p:sp>
        <p:nvSpPr>
          <p:cNvPr id="17" name="Rectangle 16"/>
          <p:cNvSpPr/>
          <p:nvPr/>
        </p:nvSpPr>
        <p:spPr>
          <a:xfrm>
            <a:off x="10218420" y="1124712"/>
            <a:ext cx="2357628"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218420"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218420"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4</a:t>
            </a:r>
          </a:p>
        </p:txBody>
      </p:sp>
      <p:sp>
        <p:nvSpPr>
          <p:cNvPr id="20" name="TextBox 19"/>
          <p:cNvSpPr txBox="1"/>
          <p:nvPr/>
        </p:nvSpPr>
        <p:spPr>
          <a:xfrm>
            <a:off x="10556748" y="804672"/>
            <a:ext cx="2001011"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역량  </a:t>
            </a:r>
            <a:r>
              <a:rPr sz="1200" b="0">
                <a:solidFill>
                  <a:srgbClr val="8A8A8A"/>
                </a:solidFill>
                <a:latin typeface="Arial"/>
                <a:ea typeface="Arial"/>
              </a:rPr>
              <a:t/>
            </a:r>
          </a:p>
        </p:txBody>
      </p:sp>
      <p:sp>
        <p:nvSpPr>
          <p:cNvPr id="21" name="Rectangle 20"/>
          <p:cNvSpPr/>
          <p:nvPr/>
        </p:nvSpPr>
        <p:spPr>
          <a:xfrm>
            <a:off x="12667488" y="1124712"/>
            <a:ext cx="2357628"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2667488"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667488"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5</a:t>
            </a:r>
          </a:p>
        </p:txBody>
      </p:sp>
      <p:sp>
        <p:nvSpPr>
          <p:cNvPr id="24" name="TextBox 23"/>
          <p:cNvSpPr txBox="1"/>
          <p:nvPr/>
        </p:nvSpPr>
        <p:spPr>
          <a:xfrm>
            <a:off x="13005816" y="804672"/>
            <a:ext cx="2001011"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실행  </a:t>
            </a:r>
            <a:r>
              <a:rPr sz="1200" b="0">
                <a:solidFill>
                  <a:srgbClr val="8A8A8A"/>
                </a:solidFill>
                <a:latin typeface="Arial"/>
                <a:ea typeface="Arial"/>
              </a:rPr>
              <a:t/>
            </a:r>
          </a:p>
        </p:txBody>
      </p:sp>
      <p:sp>
        <p:nvSpPr>
          <p:cNvPr id="25" name="Rectangle 24"/>
          <p:cNvSpPr/>
          <p:nvPr/>
        </p:nvSpPr>
        <p:spPr>
          <a:xfrm>
            <a:off x="15116556" y="1124712"/>
            <a:ext cx="2357628"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5116556"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116556"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6</a:t>
            </a:r>
          </a:p>
        </p:txBody>
      </p:sp>
      <p:sp>
        <p:nvSpPr>
          <p:cNvPr id="28" name="TextBox 27"/>
          <p:cNvSpPr txBox="1"/>
          <p:nvPr/>
        </p:nvSpPr>
        <p:spPr>
          <a:xfrm>
            <a:off x="15454884" y="804672"/>
            <a:ext cx="2001011"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보증 · SLA  </a:t>
            </a:r>
            <a:r>
              <a:rPr sz="1200" b="0">
                <a:solidFill>
                  <a:srgbClr val="8A8A8A"/>
                </a:solidFill>
                <a:latin typeface="Arial"/>
                <a:ea typeface="Arial"/>
              </a:rPr>
              <a:t/>
            </a:r>
          </a:p>
        </p:txBody>
      </p:sp>
      <p:sp>
        <p:nvSpPr>
          <p:cNvPr id="29" name="TextBox 28"/>
          <p:cNvSpPr txBox="1"/>
          <p:nvPr/>
        </p:nvSpPr>
        <p:spPr>
          <a:xfrm>
            <a:off x="722376" y="1216152"/>
            <a:ext cx="16843248" cy="566928"/>
          </a:xfrm>
          <a:prstGeom prst="rect">
            <a:avLst/>
          </a:prstGeom>
          <a:noFill/>
        </p:spPr>
        <p:txBody>
          <a:bodyPr wrap="square" anchor="t" lIns="0" rIns="0" tIns="0" bIns="0">
            <a:spAutoFit/>
          </a:bodyPr>
          <a:lstStyle/>
          <a:p>
            <a:pPr algn="l">
              <a:lnSpc>
                <a:spcPct val="112000"/>
              </a:lnSpc>
            </a:pPr>
            <a:r>
              <a:rPr sz="3000" b="1">
                <a:solidFill>
                  <a:srgbClr val="1A1A1A"/>
                </a:solidFill>
                <a:latin typeface="Arial"/>
                <a:ea typeface="Arial"/>
              </a:rPr>
              <a:t>첫째 축 신뢰성은 다이 수 8배 증가로 요구가 8배 엄격해지나, SSD 내부 설계로 충족됩니다</a:t>
            </a:r>
          </a:p>
        </p:txBody>
      </p:sp>
      <p:sp>
        <p:nvSpPr>
          <p:cNvPr id="30" name="TextBox 29"/>
          <p:cNvSpPr txBox="1"/>
          <p:nvPr/>
        </p:nvSpPr>
        <p:spPr>
          <a:xfrm>
            <a:off x="722376" y="1865376"/>
            <a:ext cx="16843248" cy="402336"/>
          </a:xfrm>
          <a:prstGeom prst="rect">
            <a:avLst/>
          </a:prstGeom>
          <a:noFill/>
        </p:spPr>
        <p:txBody>
          <a:bodyPr wrap="square" anchor="t" lIns="0" rIns="0" tIns="0" bIns="0">
            <a:spAutoFit/>
          </a:bodyPr>
          <a:lstStyle/>
          <a:p>
            <a:pPr algn="l">
              <a:lnSpc>
                <a:spcPct val="112000"/>
              </a:lnSpc>
            </a:pPr>
            <a:r>
              <a:rPr sz="2000" b="0">
                <a:solidFill>
                  <a:srgbClr val="555555"/>
                </a:solidFill>
                <a:latin typeface="Arial"/>
                <a:ea typeface="Arial"/>
              </a:rPr>
              <a:t>요구 FFR ≤ 3%는 고정, SSD당 다이 수는 128 → 1,024. 호스트에는 관측 지표만 제공합니다.</a:t>
            </a:r>
          </a:p>
        </p:txBody>
      </p:sp>
      <p:sp>
        <p:nvSpPr>
          <p:cNvPr id="31" name="Rectangle 30"/>
          <p:cNvSpPr/>
          <p:nvPr/>
        </p:nvSpPr>
        <p:spPr>
          <a:xfrm>
            <a:off x="722376" y="2395728"/>
            <a:ext cx="16843248" cy="12801"/>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1088136" y="2779776"/>
            <a:ext cx="5120640" cy="5303520"/>
          </a:xfrm>
          <a:prstGeom prst="roundRect">
            <a:avLst>
              <a:gd name="adj" fmla="val 714"/>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252728" y="2921508"/>
            <a:ext cx="1967098" cy="265176"/>
          </a:xfrm>
          <a:prstGeom prst="rect">
            <a:avLst/>
          </a:prstGeom>
          <a:noFill/>
        </p:spPr>
        <p:txBody>
          <a:bodyPr wrap="none" anchor="t" lIns="0" rIns="0" tIns="0" bIns="0">
            <a:spAutoFit/>
          </a:bodyPr>
          <a:lstStyle/>
          <a:p>
            <a:pPr algn="l">
              <a:lnSpc>
                <a:spcPct val="125000"/>
              </a:lnSpc>
            </a:pPr>
            <a:r>
              <a:rPr sz="1439" b="1">
                <a:solidFill>
                  <a:srgbClr val="1A1A1A"/>
                </a:solidFill>
                <a:latin typeface="Arial"/>
                <a:ea typeface="Arial"/>
              </a:rPr>
              <a:t>SSD당 NAND 다이 수</a:t>
            </a:r>
          </a:p>
        </p:txBody>
      </p:sp>
      <p:sp>
        <p:nvSpPr>
          <p:cNvPr id="34" name="TextBox 33"/>
          <p:cNvSpPr txBox="1"/>
          <p:nvPr/>
        </p:nvSpPr>
        <p:spPr>
          <a:xfrm>
            <a:off x="3189414" y="2964941"/>
            <a:ext cx="1483818" cy="196596"/>
          </a:xfrm>
          <a:prstGeom prst="rect">
            <a:avLst/>
          </a:prstGeom>
          <a:noFill/>
        </p:spPr>
        <p:txBody>
          <a:bodyPr wrap="none" anchor="t" lIns="0" rIns="0" tIns="0" bIns="0">
            <a:spAutoFit/>
          </a:bodyPr>
          <a:lstStyle/>
          <a:p>
            <a:pPr algn="l">
              <a:lnSpc>
                <a:spcPct val="125000"/>
              </a:lnSpc>
            </a:pPr>
            <a:r>
              <a:rPr sz="1008" b="0">
                <a:solidFill>
                  <a:srgbClr val="8A8A8A"/>
                </a:solidFill>
                <a:latin typeface="Arial"/>
                <a:ea typeface="Arial"/>
              </a:rPr>
              <a:t>요구 FFR ≤ 3%는 고정</a:t>
            </a:r>
          </a:p>
        </p:txBody>
      </p:sp>
      <p:pic>
        <p:nvPicPr>
          <p:cNvPr id="35" name="Picture 34" descr="qlc_vis_dies128.png"/>
          <p:cNvPicPr>
            <a:picLocks noChangeAspect="1"/>
          </p:cNvPicPr>
          <p:nvPr/>
        </p:nvPicPr>
        <p:blipFill>
          <a:blip r:embed="rId2"/>
          <a:stretch>
            <a:fillRect/>
          </a:stretch>
        </p:blipFill>
        <p:spPr>
          <a:xfrm>
            <a:off x="1325880" y="3621024"/>
            <a:ext cx="1737360" cy="896112"/>
          </a:xfrm>
          <a:prstGeom prst="rect">
            <a:avLst/>
          </a:prstGeom>
        </p:spPr>
      </p:pic>
      <p:sp>
        <p:nvSpPr>
          <p:cNvPr id="36" name="Rounded Rectangle 35"/>
          <p:cNvSpPr/>
          <p:nvPr/>
        </p:nvSpPr>
        <p:spPr>
          <a:xfrm>
            <a:off x="1289304" y="3584448"/>
            <a:ext cx="1810512" cy="969264"/>
          </a:xfrm>
          <a:prstGeom prst="roundRect">
            <a:avLst>
              <a:gd name="adj" fmla="val 2830"/>
            </a:avLst>
          </a:prstGeom>
          <a:no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362456" y="3327273"/>
            <a:ext cx="1326968" cy="185166"/>
          </a:xfrm>
          <a:prstGeom prst="rect">
            <a:avLst/>
          </a:prstGeom>
          <a:noFill/>
        </p:spPr>
        <p:txBody>
          <a:bodyPr wrap="none" anchor="t" lIns="0" rIns="0" tIns="0" bIns="0">
            <a:spAutoFit/>
          </a:bodyPr>
          <a:lstStyle/>
          <a:p>
            <a:pPr algn="l">
              <a:lnSpc>
                <a:spcPct val="125000"/>
              </a:lnSpc>
            </a:pPr>
            <a:r>
              <a:rPr sz="936" b="0">
                <a:solidFill>
                  <a:srgbClr val="8A8A8A"/>
                </a:solidFill>
                <a:latin typeface="Arial"/>
                <a:ea typeface="Arial"/>
              </a:rPr>
              <a:t>2012 · S3700 800GB</a:t>
            </a:r>
          </a:p>
        </p:txBody>
      </p:sp>
      <p:sp>
        <p:nvSpPr>
          <p:cNvPr id="38" name="TextBox 37"/>
          <p:cNvSpPr txBox="1"/>
          <p:nvPr/>
        </p:nvSpPr>
        <p:spPr>
          <a:xfrm>
            <a:off x="1362456" y="4624577"/>
            <a:ext cx="562743" cy="333756"/>
          </a:xfrm>
          <a:prstGeom prst="rect">
            <a:avLst/>
          </a:prstGeom>
          <a:noFill/>
        </p:spPr>
        <p:txBody>
          <a:bodyPr wrap="none" anchor="t" lIns="0" rIns="0" tIns="0" bIns="0">
            <a:spAutoFit/>
          </a:bodyPr>
          <a:lstStyle/>
          <a:p>
            <a:pPr algn="l">
              <a:lnSpc>
                <a:spcPct val="125000"/>
              </a:lnSpc>
            </a:pPr>
            <a:r>
              <a:rPr sz="1872" b="1">
                <a:solidFill>
                  <a:srgbClr val="1A1A1A"/>
                </a:solidFill>
                <a:latin typeface="Arial"/>
                <a:ea typeface="Arial"/>
              </a:rPr>
              <a:t>128</a:t>
            </a:r>
          </a:p>
        </p:txBody>
      </p:sp>
      <p:pic>
        <p:nvPicPr>
          <p:cNvPr id="39" name="Picture 38" descr="qlc_vis_dies1024.png"/>
          <p:cNvPicPr>
            <a:picLocks noChangeAspect="1"/>
          </p:cNvPicPr>
          <p:nvPr/>
        </p:nvPicPr>
        <p:blipFill>
          <a:blip r:embed="rId3"/>
          <a:stretch>
            <a:fillRect/>
          </a:stretch>
        </p:blipFill>
        <p:spPr>
          <a:xfrm>
            <a:off x="3483864" y="3621024"/>
            <a:ext cx="2688336" cy="2688336"/>
          </a:xfrm>
          <a:prstGeom prst="rect">
            <a:avLst/>
          </a:prstGeom>
        </p:spPr>
      </p:pic>
      <p:sp>
        <p:nvSpPr>
          <p:cNvPr id="40" name="Rounded Rectangle 39"/>
          <p:cNvSpPr/>
          <p:nvPr/>
        </p:nvSpPr>
        <p:spPr>
          <a:xfrm>
            <a:off x="3447288" y="3584448"/>
            <a:ext cx="2761488" cy="2761488"/>
          </a:xfrm>
          <a:prstGeom prst="roundRect">
            <a:avLst>
              <a:gd name="adj" fmla="val 993"/>
            </a:avLst>
          </a:prstGeom>
          <a:noFill/>
          <a:ln w="1524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520440" y="3327273"/>
            <a:ext cx="1812397" cy="185166"/>
          </a:xfrm>
          <a:prstGeom prst="rect">
            <a:avLst/>
          </a:prstGeom>
          <a:noFill/>
        </p:spPr>
        <p:txBody>
          <a:bodyPr wrap="none" anchor="t" lIns="0" rIns="0" tIns="0" bIns="0">
            <a:spAutoFit/>
          </a:bodyPr>
          <a:lstStyle/>
          <a:p>
            <a:pPr algn="l">
              <a:lnSpc>
                <a:spcPct val="125000"/>
              </a:lnSpc>
            </a:pPr>
            <a:r>
              <a:rPr sz="936" b="0">
                <a:solidFill>
                  <a:srgbClr val="8A8A8A"/>
                </a:solidFill>
                <a:latin typeface="Arial"/>
                <a:ea typeface="Arial"/>
              </a:rPr>
              <a:t>2025 · LC9 245TB · 2Tb 다이</a:t>
            </a:r>
          </a:p>
        </p:txBody>
      </p:sp>
      <p:sp>
        <p:nvSpPr>
          <p:cNvPr id="42" name="TextBox 41"/>
          <p:cNvSpPr txBox="1"/>
          <p:nvPr/>
        </p:nvSpPr>
        <p:spPr>
          <a:xfrm>
            <a:off x="5329240" y="6416802"/>
            <a:ext cx="806383" cy="333756"/>
          </a:xfrm>
          <a:prstGeom prst="rect">
            <a:avLst/>
          </a:prstGeom>
          <a:noFill/>
        </p:spPr>
        <p:txBody>
          <a:bodyPr wrap="none" anchor="t" lIns="0" rIns="0" tIns="0" bIns="0">
            <a:spAutoFit/>
          </a:bodyPr>
          <a:lstStyle/>
          <a:p>
            <a:pPr algn="r">
              <a:lnSpc>
                <a:spcPct val="125000"/>
              </a:lnSpc>
            </a:pPr>
            <a:r>
              <a:rPr sz="1872" b="1">
                <a:solidFill>
                  <a:srgbClr val="1428A0"/>
                </a:solidFill>
                <a:latin typeface="Arial"/>
                <a:ea typeface="Arial"/>
              </a:rPr>
              <a:t>1,024</a:t>
            </a:r>
          </a:p>
        </p:txBody>
      </p:sp>
      <p:cxnSp>
        <p:nvCxnSpPr>
          <p:cNvPr id="43" name="Connector 42"/>
          <p:cNvCxnSpPr/>
          <p:nvPr/>
        </p:nvCxnSpPr>
        <p:spPr>
          <a:xfrm>
            <a:off x="3227832" y="4078224"/>
            <a:ext cx="91440" cy="0"/>
          </a:xfrm>
          <a:prstGeom prst="line">
            <a:avLst/>
          </a:prstGeom>
          <a:ln w="38100">
            <a:solidFill>
              <a:srgbClr val="1428A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3104117" y="3749039"/>
            <a:ext cx="338869" cy="219456"/>
          </a:xfrm>
          <a:prstGeom prst="rect">
            <a:avLst/>
          </a:prstGeom>
          <a:noFill/>
        </p:spPr>
        <p:txBody>
          <a:bodyPr wrap="none" anchor="t" lIns="0" rIns="0" tIns="0" bIns="0">
            <a:spAutoFit/>
          </a:bodyPr>
          <a:lstStyle/>
          <a:p>
            <a:pPr algn="ctr">
              <a:lnSpc>
                <a:spcPct val="125000"/>
              </a:lnSpc>
            </a:pPr>
            <a:r>
              <a:rPr sz="1152" b="1">
                <a:solidFill>
                  <a:srgbClr val="1428A0"/>
                </a:solidFill>
                <a:latin typeface="Arial"/>
                <a:ea typeface="Arial"/>
              </a:rPr>
              <a:t>8배</a:t>
            </a:r>
          </a:p>
        </p:txBody>
      </p:sp>
      <p:sp>
        <p:nvSpPr>
          <p:cNvPr id="45" name="TextBox 44"/>
          <p:cNvSpPr txBox="1"/>
          <p:nvPr/>
        </p:nvSpPr>
        <p:spPr>
          <a:xfrm>
            <a:off x="1362456" y="6851142"/>
            <a:ext cx="2681046" cy="196596"/>
          </a:xfrm>
          <a:prstGeom prst="rect">
            <a:avLst/>
          </a:prstGeom>
          <a:noFill/>
        </p:spPr>
        <p:txBody>
          <a:bodyPr wrap="none" anchor="t" lIns="0" rIns="0" tIns="0" bIns="0">
            <a:spAutoFit/>
          </a:bodyPr>
          <a:lstStyle/>
          <a:p>
            <a:pPr algn="l">
              <a:lnSpc>
                <a:spcPct val="125000"/>
              </a:lnSpc>
            </a:pPr>
            <a:r>
              <a:rPr sz="1008" b="0">
                <a:solidFill>
                  <a:srgbClr val="8A8A8A"/>
                </a:solidFill>
                <a:latin typeface="Arial"/>
                <a:ea typeface="Arial"/>
              </a:rPr>
              <a:t>다이 고장률 상한 (같은 FFR, 독립 고장 모델)</a:t>
            </a:r>
          </a:p>
        </p:txBody>
      </p:sp>
      <p:sp>
        <p:nvSpPr>
          <p:cNvPr id="46" name="TextBox 45"/>
          <p:cNvSpPr txBox="1"/>
          <p:nvPr/>
        </p:nvSpPr>
        <p:spPr>
          <a:xfrm>
            <a:off x="1362456" y="7159752"/>
            <a:ext cx="3182687" cy="384048"/>
          </a:xfrm>
          <a:prstGeom prst="rect">
            <a:avLst/>
          </a:prstGeom>
          <a:noFill/>
        </p:spPr>
        <p:txBody>
          <a:bodyPr wrap="none" anchor="ctr" lIns="0" rIns="0" tIns="0" bIns="0">
            <a:spAutoFit/>
          </a:bodyPr>
          <a:lstStyle/>
          <a:p>
            <a:pPr algn="l">
              <a:lnSpc>
                <a:spcPct val="112000"/>
              </a:lnSpc>
            </a:pPr>
            <a:r>
              <a:rPr sz="2160" b="1">
                <a:solidFill>
                  <a:srgbClr val="555555"/>
                </a:solidFill>
                <a:latin typeface="Arial"/>
                <a:ea typeface="Arial"/>
              </a:rPr>
              <a:t>2.4e-4</a:t>
            </a:r>
            <a:r>
              <a:rPr sz="1584" b="0">
                <a:solidFill>
                  <a:srgbClr val="8A8A8A"/>
                </a:solidFill>
                <a:latin typeface="Arial"/>
                <a:ea typeface="Arial"/>
              </a:rPr>
              <a:t>  →  </a:t>
            </a:r>
            <a:r>
              <a:rPr sz="2160" b="1">
                <a:solidFill>
                  <a:srgbClr val="1428A0"/>
                </a:solidFill>
                <a:latin typeface="Arial"/>
                <a:ea typeface="Arial"/>
              </a:rPr>
              <a:t>3.0e-5</a:t>
            </a:r>
            <a:r>
              <a:rPr sz="1296" b="1">
                <a:solidFill>
                  <a:srgbClr val="1428A0"/>
                </a:solidFill>
                <a:latin typeface="Arial"/>
                <a:ea typeface="Arial"/>
              </a:rPr>
              <a:t>   8배 엄격</a:t>
            </a:r>
          </a:p>
        </p:txBody>
      </p:sp>
      <p:sp>
        <p:nvSpPr>
          <p:cNvPr id="47" name="TextBox 46"/>
          <p:cNvSpPr txBox="1"/>
          <p:nvPr/>
        </p:nvSpPr>
        <p:spPr>
          <a:xfrm>
            <a:off x="1362456" y="7674102"/>
            <a:ext cx="2705689" cy="196596"/>
          </a:xfrm>
          <a:prstGeom prst="rect">
            <a:avLst/>
          </a:prstGeom>
          <a:noFill/>
        </p:spPr>
        <p:txBody>
          <a:bodyPr wrap="none" anchor="t" lIns="0" rIns="0" tIns="0" bIns="0">
            <a:spAutoFit/>
          </a:bodyPr>
          <a:lstStyle/>
          <a:p>
            <a:pPr algn="l">
              <a:lnSpc>
                <a:spcPct val="125000"/>
              </a:lnSpc>
            </a:pPr>
            <a:r>
              <a:rPr sz="1008" b="0">
                <a:solidFill>
                  <a:srgbClr val="555555"/>
                </a:solidFill>
                <a:latin typeface="Arial"/>
                <a:ea typeface="Arial"/>
              </a:rPr>
              <a:t>다이 고장률 개선은 한계 → 해법은 SSD 계층</a:t>
            </a:r>
          </a:p>
        </p:txBody>
      </p:sp>
      <p:sp>
        <p:nvSpPr>
          <p:cNvPr id="48" name="Rounded Rectangle 47"/>
          <p:cNvSpPr/>
          <p:nvPr/>
        </p:nvSpPr>
        <p:spPr>
          <a:xfrm>
            <a:off x="6574536" y="2779776"/>
            <a:ext cx="10625328" cy="5303520"/>
          </a:xfrm>
          <a:prstGeom prst="roundRect">
            <a:avLst>
              <a:gd name="adj" fmla="val 689"/>
            </a:avLst>
          </a:prstGeom>
          <a:solidFill>
            <a:srgbClr val="FFFFFF"/>
          </a:solidFill>
          <a:ln w="1905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574536" y="2779776"/>
            <a:ext cx="10625328" cy="54864"/>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739128" y="2921508"/>
            <a:ext cx="1503552" cy="265176"/>
          </a:xfrm>
          <a:prstGeom prst="rect">
            <a:avLst/>
          </a:prstGeom>
          <a:noFill/>
        </p:spPr>
        <p:txBody>
          <a:bodyPr wrap="none" anchor="t" lIns="0" rIns="0" tIns="0" bIns="0">
            <a:spAutoFit/>
          </a:bodyPr>
          <a:lstStyle/>
          <a:p>
            <a:pPr algn="l">
              <a:lnSpc>
                <a:spcPct val="125000"/>
              </a:lnSpc>
            </a:pPr>
            <a:r>
              <a:rPr sz="1439" b="1">
                <a:solidFill>
                  <a:srgbClr val="1428A0"/>
                </a:solidFill>
                <a:latin typeface="Arial"/>
                <a:ea typeface="Arial"/>
              </a:rPr>
              <a:t>SSD 내부 해법 3</a:t>
            </a:r>
          </a:p>
        </p:txBody>
      </p:sp>
      <p:sp>
        <p:nvSpPr>
          <p:cNvPr id="51" name="TextBox 50"/>
          <p:cNvSpPr txBox="1"/>
          <p:nvPr/>
        </p:nvSpPr>
        <p:spPr>
          <a:xfrm>
            <a:off x="8228823" y="2964941"/>
            <a:ext cx="3334402" cy="196596"/>
          </a:xfrm>
          <a:prstGeom prst="rect">
            <a:avLst/>
          </a:prstGeom>
          <a:noFill/>
        </p:spPr>
        <p:txBody>
          <a:bodyPr wrap="none" anchor="t" lIns="0" rIns="0" tIns="0" bIns="0">
            <a:spAutoFit/>
          </a:bodyPr>
          <a:lstStyle/>
          <a:p>
            <a:pPr algn="l">
              <a:lnSpc>
                <a:spcPct val="125000"/>
              </a:lnSpc>
            </a:pPr>
            <a:r>
              <a:rPr sz="1008" b="0">
                <a:solidFill>
                  <a:srgbClr val="8A8A8A"/>
                </a:solidFill>
                <a:latin typeface="Arial"/>
                <a:ea typeface="Arial"/>
              </a:rPr>
              <a:t>다이 고장을 SSD 안에서 흡수 · 호스트에는 관측 지표만</a:t>
            </a:r>
          </a:p>
        </p:txBody>
      </p:sp>
      <p:sp>
        <p:nvSpPr>
          <p:cNvPr id="52" name="Rounded Rectangle 51"/>
          <p:cNvSpPr/>
          <p:nvPr/>
        </p:nvSpPr>
        <p:spPr>
          <a:xfrm>
            <a:off x="7123176" y="3328415"/>
            <a:ext cx="9528048" cy="493776"/>
          </a:xfrm>
          <a:prstGeom prst="roundRect">
            <a:avLst>
              <a:gd name="adj" fmla="val 7407"/>
            </a:avLst>
          </a:prstGeom>
          <a:solidFill>
            <a:srgbClr val="FFFFFF"/>
          </a:solidFill>
          <a:ln w="15240">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306056" y="3454146"/>
            <a:ext cx="1301853" cy="242316"/>
          </a:xfrm>
          <a:prstGeom prst="rect">
            <a:avLst/>
          </a:prstGeom>
          <a:noFill/>
        </p:spPr>
        <p:txBody>
          <a:bodyPr wrap="none" anchor="t" lIns="0" rIns="0" tIns="0" bIns="0">
            <a:spAutoFit/>
          </a:bodyPr>
          <a:lstStyle/>
          <a:p>
            <a:pPr algn="l">
              <a:lnSpc>
                <a:spcPct val="125000"/>
              </a:lnSpc>
            </a:pPr>
            <a:r>
              <a:rPr sz="1296" b="1">
                <a:solidFill>
                  <a:srgbClr val="555555"/>
                </a:solidFill>
                <a:latin typeface="Arial"/>
                <a:ea typeface="Arial"/>
              </a:rPr>
              <a:t>호스트 · 플랫폼</a:t>
            </a:r>
          </a:p>
        </p:txBody>
      </p:sp>
      <p:sp>
        <p:nvSpPr>
          <p:cNvPr id="54" name="TextBox 53"/>
          <p:cNvSpPr txBox="1"/>
          <p:nvPr/>
        </p:nvSpPr>
        <p:spPr>
          <a:xfrm>
            <a:off x="8951976" y="3477006"/>
            <a:ext cx="3279470" cy="196596"/>
          </a:xfrm>
          <a:prstGeom prst="rect">
            <a:avLst/>
          </a:prstGeom>
          <a:noFill/>
        </p:spPr>
        <p:txBody>
          <a:bodyPr wrap="none" anchor="t" lIns="0" rIns="0" tIns="0" bIns="0">
            <a:spAutoFit/>
          </a:bodyPr>
          <a:lstStyle/>
          <a:p>
            <a:pPr algn="l">
              <a:lnSpc>
                <a:spcPct val="125000"/>
              </a:lnSpc>
            </a:pPr>
            <a:r>
              <a:rPr sz="1008" b="0">
                <a:solidFill>
                  <a:srgbClr val="555555"/>
                </a:solidFill>
                <a:latin typeface="Arial"/>
                <a:ea typeface="Arial"/>
              </a:rPr>
              <a:t>관측 · 수용만 · OCP SMART C0 · Hyrax형 감량 수용</a:t>
            </a:r>
          </a:p>
        </p:txBody>
      </p:sp>
      <p:sp>
        <p:nvSpPr>
          <p:cNvPr id="55" name="Rounded Rectangle 54"/>
          <p:cNvSpPr/>
          <p:nvPr/>
        </p:nvSpPr>
        <p:spPr>
          <a:xfrm>
            <a:off x="7123176" y="4242816"/>
            <a:ext cx="9528048" cy="3108960"/>
          </a:xfrm>
          <a:prstGeom prst="roundRect">
            <a:avLst>
              <a:gd name="adj" fmla="val 1764"/>
            </a:avLst>
          </a:prstGeom>
          <a:solidFill>
            <a:srgbClr val="F4F6FC"/>
          </a:solidFill>
          <a:ln w="1905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306056" y="4359402"/>
            <a:ext cx="2010854" cy="242316"/>
          </a:xfrm>
          <a:prstGeom prst="rect">
            <a:avLst/>
          </a:prstGeom>
          <a:noFill/>
        </p:spPr>
        <p:txBody>
          <a:bodyPr wrap="none" anchor="t" lIns="0" rIns="0" tIns="0" bIns="0">
            <a:spAutoFit/>
          </a:bodyPr>
          <a:lstStyle/>
          <a:p>
            <a:pPr algn="l">
              <a:lnSpc>
                <a:spcPct val="125000"/>
              </a:lnSpc>
            </a:pPr>
            <a:r>
              <a:rPr sz="1296" b="1">
                <a:solidFill>
                  <a:srgbClr val="1428A0"/>
                </a:solidFill>
                <a:latin typeface="Arial"/>
                <a:ea typeface="Arial"/>
              </a:rPr>
              <a:t>SSD (컨트롤러 · 펌웨어)</a:t>
            </a:r>
          </a:p>
        </p:txBody>
      </p:sp>
      <p:cxnSp>
        <p:nvCxnSpPr>
          <p:cNvPr id="57" name="Connector 56"/>
          <p:cNvCxnSpPr/>
          <p:nvPr/>
        </p:nvCxnSpPr>
        <p:spPr>
          <a:xfrm flipV="1">
            <a:off x="15553943" y="3877056"/>
            <a:ext cx="0" cy="329184"/>
          </a:xfrm>
          <a:prstGeom prst="line">
            <a:avLst/>
          </a:prstGeom>
          <a:ln w="31750">
            <a:solidFill>
              <a:srgbClr val="3C5A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14086230" y="3939921"/>
            <a:ext cx="1357985" cy="185166"/>
          </a:xfrm>
          <a:prstGeom prst="rect">
            <a:avLst/>
          </a:prstGeom>
          <a:noFill/>
        </p:spPr>
        <p:txBody>
          <a:bodyPr wrap="none" anchor="t" lIns="0" rIns="0" tIns="0" bIns="0">
            <a:spAutoFit/>
          </a:bodyPr>
          <a:lstStyle/>
          <a:p>
            <a:pPr algn="r">
              <a:lnSpc>
                <a:spcPct val="125000"/>
              </a:lnSpc>
            </a:pPr>
            <a:r>
              <a:rPr sz="936" b="0">
                <a:solidFill>
                  <a:srgbClr val="3C5AC8"/>
                </a:solidFill>
                <a:latin typeface="Arial"/>
                <a:ea typeface="Arial"/>
              </a:rPr>
              <a:t>텔레메트리 · 감량 예고</a:t>
            </a:r>
          </a:p>
        </p:txBody>
      </p:sp>
      <p:sp>
        <p:nvSpPr>
          <p:cNvPr id="59" name="Rounded Rectangle 58"/>
          <p:cNvSpPr/>
          <p:nvPr/>
        </p:nvSpPr>
        <p:spPr>
          <a:xfrm>
            <a:off x="7397496" y="5193792"/>
            <a:ext cx="493776" cy="493776"/>
          </a:xfrm>
          <a:prstGeom prst="roundRect">
            <a:avLst>
              <a:gd name="adj" fmla="val 5555"/>
            </a:avLst>
          </a:prstGeom>
          <a:solidFill>
            <a:srgbClr val="FFFFFF"/>
          </a:solidFill>
          <a:ln w="1524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509556" y="5342381"/>
            <a:ext cx="269654" cy="196596"/>
          </a:xfrm>
          <a:prstGeom prst="rect">
            <a:avLst/>
          </a:prstGeom>
          <a:noFill/>
        </p:spPr>
        <p:txBody>
          <a:bodyPr wrap="none" anchor="t" lIns="0" rIns="0" tIns="0" bIns="0">
            <a:spAutoFit/>
          </a:bodyPr>
          <a:lstStyle/>
          <a:p>
            <a:pPr algn="ctr">
              <a:lnSpc>
                <a:spcPct val="125000"/>
              </a:lnSpc>
            </a:pPr>
            <a:r>
              <a:rPr sz="1008" b="0">
                <a:solidFill>
                  <a:srgbClr val="555555"/>
                </a:solidFill>
                <a:latin typeface="Arial"/>
                <a:ea typeface="Arial"/>
              </a:rPr>
              <a:t>D1</a:t>
            </a:r>
          </a:p>
        </p:txBody>
      </p:sp>
      <p:sp>
        <p:nvSpPr>
          <p:cNvPr id="61" name="Rounded Rectangle 60"/>
          <p:cNvSpPr/>
          <p:nvPr/>
        </p:nvSpPr>
        <p:spPr>
          <a:xfrm>
            <a:off x="8019288" y="5193792"/>
            <a:ext cx="493776" cy="493776"/>
          </a:xfrm>
          <a:prstGeom prst="roundRect">
            <a:avLst>
              <a:gd name="adj" fmla="val 5555"/>
            </a:avLst>
          </a:prstGeom>
          <a:solidFill>
            <a:srgbClr val="FFFFFF"/>
          </a:solidFill>
          <a:ln w="1524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131348" y="5342381"/>
            <a:ext cx="269654" cy="196596"/>
          </a:xfrm>
          <a:prstGeom prst="rect">
            <a:avLst/>
          </a:prstGeom>
          <a:noFill/>
        </p:spPr>
        <p:txBody>
          <a:bodyPr wrap="none" anchor="t" lIns="0" rIns="0" tIns="0" bIns="0">
            <a:spAutoFit/>
          </a:bodyPr>
          <a:lstStyle/>
          <a:p>
            <a:pPr algn="ctr">
              <a:lnSpc>
                <a:spcPct val="125000"/>
              </a:lnSpc>
            </a:pPr>
            <a:r>
              <a:rPr sz="1008" b="0">
                <a:solidFill>
                  <a:srgbClr val="555555"/>
                </a:solidFill>
                <a:latin typeface="Arial"/>
                <a:ea typeface="Arial"/>
              </a:rPr>
              <a:t>D2</a:t>
            </a:r>
          </a:p>
        </p:txBody>
      </p:sp>
      <p:sp>
        <p:nvSpPr>
          <p:cNvPr id="63" name="Rounded Rectangle 62"/>
          <p:cNvSpPr/>
          <p:nvPr/>
        </p:nvSpPr>
        <p:spPr>
          <a:xfrm>
            <a:off x="8641080" y="5193792"/>
            <a:ext cx="493776" cy="493776"/>
          </a:xfrm>
          <a:prstGeom prst="roundRect">
            <a:avLst>
              <a:gd name="adj" fmla="val 5555"/>
            </a:avLst>
          </a:prstGeom>
          <a:solidFill>
            <a:srgbClr val="FFFFFF"/>
          </a:solidFill>
          <a:ln w="1524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753140" y="5342381"/>
            <a:ext cx="269654" cy="196596"/>
          </a:xfrm>
          <a:prstGeom prst="rect">
            <a:avLst/>
          </a:prstGeom>
          <a:noFill/>
        </p:spPr>
        <p:txBody>
          <a:bodyPr wrap="none" anchor="t" lIns="0" rIns="0" tIns="0" bIns="0">
            <a:spAutoFit/>
          </a:bodyPr>
          <a:lstStyle/>
          <a:p>
            <a:pPr algn="ctr">
              <a:lnSpc>
                <a:spcPct val="125000"/>
              </a:lnSpc>
            </a:pPr>
            <a:r>
              <a:rPr sz="1008" b="0">
                <a:solidFill>
                  <a:srgbClr val="555555"/>
                </a:solidFill>
                <a:latin typeface="Arial"/>
                <a:ea typeface="Arial"/>
              </a:rPr>
              <a:t>D3</a:t>
            </a:r>
          </a:p>
        </p:txBody>
      </p:sp>
      <p:sp>
        <p:nvSpPr>
          <p:cNvPr id="65" name="Rounded Rectangle 64"/>
          <p:cNvSpPr/>
          <p:nvPr/>
        </p:nvSpPr>
        <p:spPr>
          <a:xfrm>
            <a:off x="9262872" y="5193792"/>
            <a:ext cx="493776" cy="493776"/>
          </a:xfrm>
          <a:prstGeom prst="roundRect">
            <a:avLst>
              <a:gd name="adj" fmla="val 5555"/>
            </a:avLst>
          </a:prstGeom>
          <a:solidFill>
            <a:srgbClr val="FFFFFF"/>
          </a:solidFill>
          <a:ln w="1524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374932" y="5342381"/>
            <a:ext cx="269654" cy="196596"/>
          </a:xfrm>
          <a:prstGeom prst="rect">
            <a:avLst/>
          </a:prstGeom>
          <a:noFill/>
        </p:spPr>
        <p:txBody>
          <a:bodyPr wrap="none" anchor="t" lIns="0" rIns="0" tIns="0" bIns="0">
            <a:spAutoFit/>
          </a:bodyPr>
          <a:lstStyle/>
          <a:p>
            <a:pPr algn="ctr">
              <a:lnSpc>
                <a:spcPct val="125000"/>
              </a:lnSpc>
            </a:pPr>
            <a:r>
              <a:rPr sz="1008" b="0">
                <a:solidFill>
                  <a:srgbClr val="555555"/>
                </a:solidFill>
                <a:latin typeface="Arial"/>
                <a:ea typeface="Arial"/>
              </a:rPr>
              <a:t>D4</a:t>
            </a:r>
          </a:p>
        </p:txBody>
      </p:sp>
      <p:sp>
        <p:nvSpPr>
          <p:cNvPr id="67" name="Rounded Rectangle 66"/>
          <p:cNvSpPr/>
          <p:nvPr/>
        </p:nvSpPr>
        <p:spPr>
          <a:xfrm>
            <a:off x="9884663" y="5193792"/>
            <a:ext cx="493776" cy="493776"/>
          </a:xfrm>
          <a:prstGeom prst="roundRect">
            <a:avLst>
              <a:gd name="adj" fmla="val 5555"/>
            </a:avLst>
          </a:prstGeom>
          <a:solidFill>
            <a:srgbClr val="FBE9E7"/>
          </a:solidFill>
          <a:ln w="15240">
            <a:solidFill>
              <a:srgbClr val="D930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992345" y="5342381"/>
            <a:ext cx="278413" cy="196596"/>
          </a:xfrm>
          <a:prstGeom prst="rect">
            <a:avLst/>
          </a:prstGeom>
          <a:noFill/>
        </p:spPr>
        <p:txBody>
          <a:bodyPr wrap="none" anchor="t" lIns="0" rIns="0" tIns="0" bIns="0">
            <a:spAutoFit/>
          </a:bodyPr>
          <a:lstStyle/>
          <a:p>
            <a:pPr algn="ctr">
              <a:lnSpc>
                <a:spcPct val="125000"/>
              </a:lnSpc>
            </a:pPr>
            <a:r>
              <a:rPr sz="1008" b="1">
                <a:solidFill>
                  <a:srgbClr val="D93025"/>
                </a:solidFill>
                <a:latin typeface="Arial"/>
                <a:ea typeface="Arial"/>
              </a:rPr>
              <a:t>D5</a:t>
            </a:r>
          </a:p>
        </p:txBody>
      </p:sp>
      <p:cxnSp>
        <p:nvCxnSpPr>
          <p:cNvPr id="69" name="Connector 68"/>
          <p:cNvCxnSpPr/>
          <p:nvPr/>
        </p:nvCxnSpPr>
        <p:spPr>
          <a:xfrm>
            <a:off x="9994392" y="5303520"/>
            <a:ext cx="274320" cy="274320"/>
          </a:xfrm>
          <a:prstGeom prst="line">
            <a:avLst/>
          </a:prstGeom>
          <a:ln w="25400">
            <a:solidFill>
              <a:srgbClr val="D93025"/>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a:off x="9994392" y="5303520"/>
            <a:ext cx="274320" cy="274320"/>
          </a:xfrm>
          <a:prstGeom prst="line">
            <a:avLst/>
          </a:prstGeom>
          <a:ln w="25400">
            <a:solidFill>
              <a:srgbClr val="D93025"/>
            </a:solidFill>
          </a:ln>
        </p:spPr>
        <p:style>
          <a:lnRef idx="2">
            <a:schemeClr val="accent1"/>
          </a:lnRef>
          <a:fillRef idx="0">
            <a:schemeClr val="accent1"/>
          </a:fillRef>
          <a:effectRef idx="1">
            <a:schemeClr val="accent1"/>
          </a:effectRef>
          <a:fontRef idx="minor">
            <a:schemeClr val="tx1"/>
          </a:fontRef>
        </p:style>
      </p:cxnSp>
      <p:sp>
        <p:nvSpPr>
          <p:cNvPr id="71" name="Rounded Rectangle 70"/>
          <p:cNvSpPr/>
          <p:nvPr/>
        </p:nvSpPr>
        <p:spPr>
          <a:xfrm>
            <a:off x="10506455" y="5193792"/>
            <a:ext cx="493776" cy="493776"/>
          </a:xfrm>
          <a:prstGeom prst="roundRect">
            <a:avLst>
              <a:gd name="adj" fmla="val 5555"/>
            </a:avLst>
          </a:prstGeom>
          <a:solidFill>
            <a:srgbClr val="FFFFFF"/>
          </a:solidFill>
          <a:ln w="1524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10618516" y="5342381"/>
            <a:ext cx="269654" cy="196596"/>
          </a:xfrm>
          <a:prstGeom prst="rect">
            <a:avLst/>
          </a:prstGeom>
          <a:noFill/>
        </p:spPr>
        <p:txBody>
          <a:bodyPr wrap="none" anchor="t" lIns="0" rIns="0" tIns="0" bIns="0">
            <a:spAutoFit/>
          </a:bodyPr>
          <a:lstStyle/>
          <a:p>
            <a:pPr algn="ctr">
              <a:lnSpc>
                <a:spcPct val="125000"/>
              </a:lnSpc>
            </a:pPr>
            <a:r>
              <a:rPr sz="1008" b="0">
                <a:solidFill>
                  <a:srgbClr val="555555"/>
                </a:solidFill>
                <a:latin typeface="Arial"/>
                <a:ea typeface="Arial"/>
              </a:rPr>
              <a:t>D6</a:t>
            </a:r>
          </a:p>
        </p:txBody>
      </p:sp>
      <p:sp>
        <p:nvSpPr>
          <p:cNvPr id="73" name="Rounded Rectangle 72"/>
          <p:cNvSpPr/>
          <p:nvPr/>
        </p:nvSpPr>
        <p:spPr>
          <a:xfrm>
            <a:off x="11128248" y="5193792"/>
            <a:ext cx="493776" cy="493776"/>
          </a:xfrm>
          <a:prstGeom prst="roundRect">
            <a:avLst>
              <a:gd name="adj" fmla="val 5555"/>
            </a:avLst>
          </a:prstGeom>
          <a:solidFill>
            <a:srgbClr val="FFFFFF"/>
          </a:solidFill>
          <a:ln w="1524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1240308" y="5342381"/>
            <a:ext cx="269654" cy="196596"/>
          </a:xfrm>
          <a:prstGeom prst="rect">
            <a:avLst/>
          </a:prstGeom>
          <a:noFill/>
        </p:spPr>
        <p:txBody>
          <a:bodyPr wrap="none" anchor="t" lIns="0" rIns="0" tIns="0" bIns="0">
            <a:spAutoFit/>
          </a:bodyPr>
          <a:lstStyle/>
          <a:p>
            <a:pPr algn="ctr">
              <a:lnSpc>
                <a:spcPct val="125000"/>
              </a:lnSpc>
            </a:pPr>
            <a:r>
              <a:rPr sz="1008" b="0">
                <a:solidFill>
                  <a:srgbClr val="555555"/>
                </a:solidFill>
                <a:latin typeface="Arial"/>
                <a:ea typeface="Arial"/>
              </a:rPr>
              <a:t>D7</a:t>
            </a:r>
          </a:p>
        </p:txBody>
      </p:sp>
      <p:sp>
        <p:nvSpPr>
          <p:cNvPr id="75" name="Rounded Rectangle 74"/>
          <p:cNvSpPr/>
          <p:nvPr/>
        </p:nvSpPr>
        <p:spPr>
          <a:xfrm>
            <a:off x="11750040" y="5193792"/>
            <a:ext cx="493776" cy="493776"/>
          </a:xfrm>
          <a:prstGeom prst="roundRect">
            <a:avLst>
              <a:gd name="adj" fmla="val 5555"/>
            </a:avLst>
          </a:prstGeom>
          <a:solidFill>
            <a:srgbClr val="FFFFFF"/>
          </a:solidFill>
          <a:ln w="1524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11862100" y="5342381"/>
            <a:ext cx="269654" cy="196596"/>
          </a:xfrm>
          <a:prstGeom prst="rect">
            <a:avLst/>
          </a:prstGeom>
          <a:noFill/>
        </p:spPr>
        <p:txBody>
          <a:bodyPr wrap="none" anchor="t" lIns="0" rIns="0" tIns="0" bIns="0">
            <a:spAutoFit/>
          </a:bodyPr>
          <a:lstStyle/>
          <a:p>
            <a:pPr algn="ctr">
              <a:lnSpc>
                <a:spcPct val="125000"/>
              </a:lnSpc>
            </a:pPr>
            <a:r>
              <a:rPr sz="1008" b="0">
                <a:solidFill>
                  <a:srgbClr val="555555"/>
                </a:solidFill>
                <a:latin typeface="Arial"/>
                <a:ea typeface="Arial"/>
              </a:rPr>
              <a:t>D8</a:t>
            </a:r>
          </a:p>
        </p:txBody>
      </p:sp>
      <p:sp>
        <p:nvSpPr>
          <p:cNvPr id="77" name="Rounded Rectangle 76"/>
          <p:cNvSpPr/>
          <p:nvPr/>
        </p:nvSpPr>
        <p:spPr>
          <a:xfrm>
            <a:off x="12646151" y="5193792"/>
            <a:ext cx="493776" cy="493776"/>
          </a:xfrm>
          <a:prstGeom prst="roundRect">
            <a:avLst>
              <a:gd name="adj" fmla="val 5555"/>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2785838" y="5319522"/>
            <a:ext cx="214402" cy="242316"/>
          </a:xfrm>
          <a:prstGeom prst="rect">
            <a:avLst/>
          </a:prstGeom>
          <a:noFill/>
        </p:spPr>
        <p:txBody>
          <a:bodyPr wrap="none" anchor="t" lIns="0" rIns="0" tIns="0" bIns="0">
            <a:spAutoFit/>
          </a:bodyPr>
          <a:lstStyle/>
          <a:p>
            <a:pPr algn="ctr">
              <a:lnSpc>
                <a:spcPct val="125000"/>
              </a:lnSpc>
            </a:pPr>
            <a:r>
              <a:rPr sz="1296" b="1">
                <a:solidFill>
                  <a:srgbClr val="FFFFFF"/>
                </a:solidFill>
                <a:latin typeface="Arial"/>
                <a:ea typeface="Arial"/>
              </a:rPr>
              <a:t>P</a:t>
            </a:r>
          </a:p>
        </p:txBody>
      </p:sp>
      <p:sp>
        <p:nvSpPr>
          <p:cNvPr id="79" name="Rounded Rectangle 78"/>
          <p:cNvSpPr/>
          <p:nvPr/>
        </p:nvSpPr>
        <p:spPr>
          <a:xfrm>
            <a:off x="13542263" y="5193792"/>
            <a:ext cx="493776" cy="493776"/>
          </a:xfrm>
          <a:prstGeom prst="roundRect">
            <a:avLst>
              <a:gd name="adj" fmla="val 5555"/>
            </a:avLst>
          </a:prstGeom>
          <a:solidFill>
            <a:srgbClr val="FFFFFF"/>
          </a:solidFill>
          <a:ln w="15240">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13692302" y="5330952"/>
            <a:ext cx="193699" cy="219456"/>
          </a:xfrm>
          <a:prstGeom prst="rect">
            <a:avLst/>
          </a:prstGeom>
          <a:noFill/>
        </p:spPr>
        <p:txBody>
          <a:bodyPr wrap="none" anchor="t" lIns="0" rIns="0" tIns="0" bIns="0">
            <a:spAutoFit/>
          </a:bodyPr>
          <a:lstStyle/>
          <a:p>
            <a:pPr algn="ctr">
              <a:lnSpc>
                <a:spcPct val="125000"/>
              </a:lnSpc>
            </a:pPr>
            <a:r>
              <a:rPr sz="1152" b="1">
                <a:solidFill>
                  <a:srgbClr val="1428A0"/>
                </a:solidFill>
                <a:latin typeface="Arial"/>
                <a:ea typeface="Arial"/>
              </a:rPr>
              <a:t>S</a:t>
            </a:r>
          </a:p>
        </p:txBody>
      </p:sp>
      <p:sp>
        <p:nvSpPr>
          <p:cNvPr id="81" name="Rounded Rectangle 80"/>
          <p:cNvSpPr/>
          <p:nvPr/>
        </p:nvSpPr>
        <p:spPr>
          <a:xfrm>
            <a:off x="14164055" y="5193792"/>
            <a:ext cx="493776" cy="493776"/>
          </a:xfrm>
          <a:prstGeom prst="roundRect">
            <a:avLst>
              <a:gd name="adj" fmla="val 5555"/>
            </a:avLst>
          </a:prstGeom>
          <a:solidFill>
            <a:srgbClr val="FFFFFF"/>
          </a:solidFill>
          <a:ln w="15240">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14314094" y="5330952"/>
            <a:ext cx="193699" cy="219456"/>
          </a:xfrm>
          <a:prstGeom prst="rect">
            <a:avLst/>
          </a:prstGeom>
          <a:noFill/>
        </p:spPr>
        <p:txBody>
          <a:bodyPr wrap="none" anchor="t" lIns="0" rIns="0" tIns="0" bIns="0">
            <a:spAutoFit/>
          </a:bodyPr>
          <a:lstStyle/>
          <a:p>
            <a:pPr algn="ctr">
              <a:lnSpc>
                <a:spcPct val="125000"/>
              </a:lnSpc>
            </a:pPr>
            <a:r>
              <a:rPr sz="1152" b="1">
                <a:solidFill>
                  <a:srgbClr val="1428A0"/>
                </a:solidFill>
                <a:latin typeface="Arial"/>
                <a:ea typeface="Arial"/>
              </a:rPr>
              <a:t>S</a:t>
            </a:r>
          </a:p>
        </p:txBody>
      </p:sp>
      <p:cxnSp>
        <p:nvCxnSpPr>
          <p:cNvPr id="83" name="Connector 82"/>
          <p:cNvCxnSpPr/>
          <p:nvPr/>
        </p:nvCxnSpPr>
        <p:spPr>
          <a:xfrm flipV="1">
            <a:off x="7397496" y="5010912"/>
            <a:ext cx="0" cy="73152"/>
          </a:xfrm>
          <a:prstGeom prst="line">
            <a:avLst/>
          </a:prstGeom>
          <a:ln w="19050">
            <a:solidFill>
              <a:srgbClr val="1428A0"/>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7397496" y="5010912"/>
            <a:ext cx="5742432" cy="0"/>
          </a:xfrm>
          <a:prstGeom prst="line">
            <a:avLst/>
          </a:prstGeom>
          <a:ln w="19050">
            <a:solidFill>
              <a:srgbClr val="1428A0"/>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13139928" y="5010912"/>
            <a:ext cx="0" cy="73152"/>
          </a:xfrm>
          <a:prstGeom prst="line">
            <a:avLst/>
          </a:prstGeom>
          <a:ln w="19050">
            <a:solidFill>
              <a:srgbClr val="1428A0"/>
            </a:solidFill>
          </a:ln>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8654639" y="4802886"/>
            <a:ext cx="3228145" cy="196596"/>
          </a:xfrm>
          <a:prstGeom prst="rect">
            <a:avLst/>
          </a:prstGeom>
          <a:noFill/>
        </p:spPr>
        <p:txBody>
          <a:bodyPr wrap="none" anchor="t" lIns="0" rIns="0" tIns="0" bIns="0">
            <a:spAutoFit/>
          </a:bodyPr>
          <a:lstStyle/>
          <a:p>
            <a:pPr algn="ctr">
              <a:lnSpc>
                <a:spcPct val="125000"/>
              </a:lnSpc>
            </a:pPr>
            <a:r>
              <a:rPr sz="1008" b="1">
                <a:solidFill>
                  <a:srgbClr val="1428A0"/>
                </a:solidFill>
                <a:latin typeface="Arial"/>
                <a:ea typeface="Arial"/>
              </a:rPr>
              <a:t>① 다이 패리티 · XOR 스트라이프 (Micron RAIN형)</a:t>
            </a:r>
          </a:p>
        </p:txBody>
      </p:sp>
      <p:cxnSp>
        <p:nvCxnSpPr>
          <p:cNvPr id="87" name="Connector 86"/>
          <p:cNvCxnSpPr/>
          <p:nvPr/>
        </p:nvCxnSpPr>
        <p:spPr>
          <a:xfrm>
            <a:off x="10131551" y="5742431"/>
            <a:ext cx="0" cy="256033"/>
          </a:xfrm>
          <a:prstGeom prst="line">
            <a:avLst/>
          </a:prstGeom>
          <a:ln w="25400">
            <a:solidFill>
              <a:srgbClr val="1428A0"/>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10131551" y="5998464"/>
            <a:ext cx="3657600" cy="0"/>
          </a:xfrm>
          <a:prstGeom prst="line">
            <a:avLst/>
          </a:prstGeom>
          <a:ln w="25400">
            <a:solidFill>
              <a:srgbClr val="1428A0"/>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13789151" y="5779008"/>
            <a:ext cx="0" cy="219456"/>
          </a:xfrm>
          <a:prstGeom prst="line">
            <a:avLst/>
          </a:prstGeom>
          <a:ln w="25400">
            <a:solidFill>
              <a:srgbClr val="1428A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10358096" y="6064758"/>
            <a:ext cx="3204510" cy="196596"/>
          </a:xfrm>
          <a:prstGeom prst="rect">
            <a:avLst/>
          </a:prstGeom>
          <a:noFill/>
        </p:spPr>
        <p:txBody>
          <a:bodyPr wrap="none" anchor="t" lIns="0" rIns="0" tIns="0" bIns="0">
            <a:spAutoFit/>
          </a:bodyPr>
          <a:lstStyle/>
          <a:p>
            <a:pPr algn="ctr">
              <a:lnSpc>
                <a:spcPct val="125000"/>
              </a:lnSpc>
            </a:pPr>
            <a:r>
              <a:rPr sz="1008" b="1">
                <a:solidFill>
                  <a:srgbClr val="1428A0"/>
                </a:solidFill>
                <a:latin typeface="Arial"/>
                <a:ea typeface="Arial"/>
              </a:rPr>
              <a:t>② 여분 다이 · 은퇴 · 감량 운영 (삼성 PM1733 FIP)</a:t>
            </a:r>
          </a:p>
        </p:txBody>
      </p:sp>
      <p:sp>
        <p:nvSpPr>
          <p:cNvPr id="91" name="TextBox 90"/>
          <p:cNvSpPr txBox="1"/>
          <p:nvPr/>
        </p:nvSpPr>
        <p:spPr>
          <a:xfrm>
            <a:off x="7397496" y="6412230"/>
            <a:ext cx="1637076" cy="196596"/>
          </a:xfrm>
          <a:prstGeom prst="rect">
            <a:avLst/>
          </a:prstGeom>
          <a:noFill/>
        </p:spPr>
        <p:txBody>
          <a:bodyPr wrap="none" anchor="t" lIns="0" rIns="0" tIns="0" bIns="0">
            <a:spAutoFit/>
          </a:bodyPr>
          <a:lstStyle/>
          <a:p>
            <a:pPr algn="l">
              <a:lnSpc>
                <a:spcPct val="125000"/>
              </a:lnSpc>
            </a:pPr>
            <a:r>
              <a:rPr sz="1008" b="1">
                <a:solidFill>
                  <a:srgbClr val="1428A0"/>
                </a:solidFill>
                <a:latin typeface="Arial"/>
                <a:ea typeface="Arial"/>
              </a:rPr>
              <a:t>③ 텔레메트리 · 사전 예측</a:t>
            </a:r>
          </a:p>
        </p:txBody>
      </p:sp>
      <p:sp>
        <p:nvSpPr>
          <p:cNvPr id="92" name="TextBox 91"/>
          <p:cNvSpPr txBox="1"/>
          <p:nvPr/>
        </p:nvSpPr>
        <p:spPr>
          <a:xfrm>
            <a:off x="9500616" y="6412230"/>
            <a:ext cx="3120813" cy="196596"/>
          </a:xfrm>
          <a:prstGeom prst="rect">
            <a:avLst/>
          </a:prstGeom>
          <a:noFill/>
        </p:spPr>
        <p:txBody>
          <a:bodyPr wrap="none" anchor="t" lIns="0" rIns="0" tIns="0" bIns="0">
            <a:spAutoFit/>
          </a:bodyPr>
          <a:lstStyle/>
          <a:p>
            <a:pPr algn="l">
              <a:lnSpc>
                <a:spcPct val="125000"/>
              </a:lnSpc>
            </a:pPr>
            <a:r>
              <a:rPr sz="1008" b="0">
                <a:solidFill>
                  <a:srgbClr val="555555"/>
                </a:solidFill>
                <a:latin typeface="Arial"/>
                <a:ea typeface="Arial"/>
              </a:rPr>
              <a:t>RBER 추이 · XOR 복구 횟수 → 징후 다이 사전 은퇴</a:t>
            </a:r>
          </a:p>
        </p:txBody>
      </p:sp>
      <p:pic>
        <p:nvPicPr>
          <p:cNvPr id="93" name="Picture 92" descr="qlc_vis_rber.png"/>
          <p:cNvPicPr>
            <a:picLocks noChangeAspect="1"/>
          </p:cNvPicPr>
          <p:nvPr/>
        </p:nvPicPr>
        <p:blipFill>
          <a:blip r:embed="rId4"/>
          <a:stretch>
            <a:fillRect/>
          </a:stretch>
        </p:blipFill>
        <p:spPr>
          <a:xfrm>
            <a:off x="7397496" y="6711696"/>
            <a:ext cx="3657600" cy="640080"/>
          </a:xfrm>
          <a:prstGeom prst="rect">
            <a:avLst/>
          </a:prstGeom>
        </p:spPr>
      </p:pic>
      <p:sp>
        <p:nvSpPr>
          <p:cNvPr id="94" name="TextBox 93"/>
          <p:cNvSpPr txBox="1"/>
          <p:nvPr/>
        </p:nvSpPr>
        <p:spPr>
          <a:xfrm>
            <a:off x="11146536" y="6728841"/>
            <a:ext cx="611213" cy="185166"/>
          </a:xfrm>
          <a:prstGeom prst="rect">
            <a:avLst/>
          </a:prstGeom>
          <a:noFill/>
        </p:spPr>
        <p:txBody>
          <a:bodyPr wrap="none" anchor="t" lIns="0" rIns="0" tIns="0" bIns="0">
            <a:spAutoFit/>
          </a:bodyPr>
          <a:lstStyle/>
          <a:p>
            <a:pPr algn="l">
              <a:lnSpc>
                <a:spcPct val="125000"/>
              </a:lnSpc>
            </a:pPr>
            <a:r>
              <a:rPr sz="936" b="0">
                <a:solidFill>
                  <a:srgbClr val="D93025"/>
                </a:solidFill>
                <a:latin typeface="Arial"/>
                <a:ea typeface="Arial"/>
              </a:rPr>
              <a:t>은퇴 임계</a:t>
            </a:r>
          </a:p>
        </p:txBody>
      </p:sp>
      <p:sp>
        <p:nvSpPr>
          <p:cNvPr id="95" name="TextBox 94"/>
          <p:cNvSpPr txBox="1"/>
          <p:nvPr/>
        </p:nvSpPr>
        <p:spPr>
          <a:xfrm>
            <a:off x="11146536" y="7186041"/>
            <a:ext cx="701226" cy="185166"/>
          </a:xfrm>
          <a:prstGeom prst="rect">
            <a:avLst/>
          </a:prstGeom>
          <a:noFill/>
        </p:spPr>
        <p:txBody>
          <a:bodyPr wrap="none" anchor="t" lIns="0" rIns="0" tIns="0" bIns="0">
            <a:spAutoFit/>
          </a:bodyPr>
          <a:lstStyle/>
          <a:p>
            <a:pPr algn="l">
              <a:lnSpc>
                <a:spcPct val="125000"/>
              </a:lnSpc>
            </a:pPr>
            <a:r>
              <a:rPr sz="936" b="0">
                <a:solidFill>
                  <a:srgbClr val="8A8A8A"/>
                </a:solidFill>
                <a:latin typeface="Arial"/>
                <a:ea typeface="Arial"/>
              </a:rPr>
              <a:t>RBER 추이</a:t>
            </a:r>
          </a:p>
        </p:txBody>
      </p:sp>
      <p:sp>
        <p:nvSpPr>
          <p:cNvPr id="96" name="TextBox 95"/>
          <p:cNvSpPr txBox="1"/>
          <p:nvPr/>
        </p:nvSpPr>
        <p:spPr>
          <a:xfrm>
            <a:off x="9476242" y="6582537"/>
            <a:ext cx="774181" cy="185166"/>
          </a:xfrm>
          <a:prstGeom prst="rect">
            <a:avLst/>
          </a:prstGeom>
          <a:noFill/>
        </p:spPr>
        <p:txBody>
          <a:bodyPr wrap="none" anchor="t" lIns="0" rIns="0" tIns="0" bIns="0">
            <a:spAutoFit/>
          </a:bodyPr>
          <a:lstStyle/>
          <a:p>
            <a:pPr algn="r">
              <a:lnSpc>
                <a:spcPct val="125000"/>
              </a:lnSpc>
            </a:pPr>
            <a:r>
              <a:rPr sz="936" b="0">
                <a:solidFill>
                  <a:srgbClr val="1428A0"/>
                </a:solidFill>
                <a:latin typeface="Arial"/>
                <a:ea typeface="Arial"/>
              </a:rPr>
              <a:t>사전 은퇴 →</a:t>
            </a:r>
          </a:p>
        </p:txBody>
      </p:sp>
      <p:sp>
        <p:nvSpPr>
          <p:cNvPr id="97" name="Rounded Rectangle 96"/>
          <p:cNvSpPr/>
          <p:nvPr/>
        </p:nvSpPr>
        <p:spPr>
          <a:xfrm>
            <a:off x="13908024" y="6912864"/>
            <a:ext cx="2379058" cy="217627"/>
          </a:xfrm>
          <a:prstGeom prst="roundRect">
            <a:avLst>
              <a:gd name="adj" fmla="val 12605"/>
            </a:avLst>
          </a:prstGeom>
          <a:solidFill>
            <a:srgbClr val="1428A0"/>
          </a:solidFill>
          <a:ln w="1270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13951004" y="6923379"/>
            <a:ext cx="2293097" cy="196596"/>
          </a:xfrm>
          <a:prstGeom prst="rect">
            <a:avLst/>
          </a:prstGeom>
          <a:noFill/>
        </p:spPr>
        <p:txBody>
          <a:bodyPr wrap="none" anchor="t" lIns="0" rIns="0" tIns="0" bIns="0">
            <a:spAutoFit/>
          </a:bodyPr>
          <a:lstStyle/>
          <a:p>
            <a:pPr algn="ctr">
              <a:lnSpc>
                <a:spcPct val="125000"/>
              </a:lnSpc>
            </a:pPr>
            <a:r>
              <a:rPr sz="1008" b="1">
                <a:solidFill>
                  <a:srgbClr val="FFFFFF"/>
                </a:solidFill>
                <a:latin typeface="Arial"/>
                <a:ea typeface="Arial"/>
              </a:rPr>
              <a:t>SSD 고장률 p → p² 차수 · FFR 여유</a:t>
            </a:r>
          </a:p>
        </p:txBody>
      </p:sp>
      <p:sp>
        <p:nvSpPr>
          <p:cNvPr id="99" name="Rectangle 98"/>
          <p:cNvSpPr/>
          <p:nvPr/>
        </p:nvSpPr>
        <p:spPr>
          <a:xfrm>
            <a:off x="722376" y="8467344"/>
            <a:ext cx="16843248" cy="82296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1133856" y="8467344"/>
            <a:ext cx="1463040" cy="822960"/>
          </a:xfrm>
          <a:prstGeom prst="rect">
            <a:avLst/>
          </a:prstGeom>
          <a:noFill/>
        </p:spPr>
        <p:txBody>
          <a:bodyPr wrap="square" anchor="ctr" lIns="0" rIns="0" tIns="0" bIns="0">
            <a:spAutoFit/>
          </a:bodyPr>
          <a:lstStyle/>
          <a:p>
            <a:pPr algn="l">
              <a:lnSpc>
                <a:spcPct val="112000"/>
              </a:lnSpc>
            </a:pPr>
            <a:r>
              <a:rPr sz="1800" b="0">
                <a:solidFill>
                  <a:srgbClr val="FFFFFF"/>
                </a:solidFill>
                <a:latin typeface="Arial"/>
                <a:ea typeface="Arial"/>
              </a:rPr>
              <a:t>결론</a:t>
            </a:r>
          </a:p>
        </p:txBody>
      </p:sp>
      <p:sp>
        <p:nvSpPr>
          <p:cNvPr id="101" name="TextBox 100"/>
          <p:cNvSpPr txBox="1"/>
          <p:nvPr/>
        </p:nvSpPr>
        <p:spPr>
          <a:xfrm>
            <a:off x="2551176" y="8467344"/>
            <a:ext cx="11905488" cy="822960"/>
          </a:xfrm>
          <a:prstGeom prst="rect">
            <a:avLst/>
          </a:prstGeom>
          <a:noFill/>
        </p:spPr>
        <p:txBody>
          <a:bodyPr wrap="square" anchor="ctr" lIns="0" rIns="0" tIns="0" bIns="0">
            <a:spAutoFit/>
          </a:bodyPr>
          <a:lstStyle/>
          <a:p>
            <a:pPr algn="l">
              <a:lnSpc>
                <a:spcPct val="108000"/>
              </a:lnSpc>
            </a:pPr>
            <a:r>
              <a:rPr sz="1600" b="1">
                <a:solidFill>
                  <a:srgbClr val="FFFFFF"/>
                </a:solidFill>
                <a:latin typeface="Arial"/>
                <a:ea typeface="Arial"/>
              </a:rPr>
              <a:t>늘어난 다이 수는 패리티·여분 다이·감량 운영으로 SSD 안에서 흡수합니다. DWPD는 SSD 안에서 미충족입니다</a:t>
            </a:r>
          </a:p>
        </p:txBody>
      </p:sp>
      <p:sp>
        <p:nvSpPr>
          <p:cNvPr id="102" name="Rectangle 101"/>
          <p:cNvSpPr/>
          <p:nvPr/>
        </p:nvSpPr>
        <p:spPr>
          <a:xfrm>
            <a:off x="14822424" y="8577072"/>
            <a:ext cx="2468880" cy="603504"/>
          </a:xfrm>
          <a:prstGeom prst="rect">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14822424" y="8577072"/>
            <a:ext cx="54864" cy="6035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15023592" y="8577072"/>
            <a:ext cx="2176272" cy="603504"/>
          </a:xfrm>
          <a:prstGeom prst="rect">
            <a:avLst/>
          </a:prstGeom>
          <a:noFill/>
        </p:spPr>
        <p:txBody>
          <a:bodyPr wrap="square" anchor="ctr" lIns="0" rIns="0" tIns="0" bIns="0">
            <a:spAutoFit/>
          </a:bodyPr>
          <a:lstStyle/>
          <a:p>
            <a:pPr algn="l">
              <a:lnSpc>
                <a:spcPct val="100000"/>
              </a:lnSpc>
            </a:pPr>
            <a:r>
              <a:rPr sz="1050" b="0">
                <a:solidFill>
                  <a:srgbClr val="AAB8E8"/>
                </a:solidFill>
                <a:latin typeface="Arial"/>
                <a:ea typeface="Arial"/>
              </a:rPr>
              <a:t>다음 장 →</a:t>
            </a:r>
          </a:p>
          <a:p>
            <a:pPr algn="l">
              <a:lnSpc>
                <a:spcPct val="100000"/>
              </a:lnSpc>
            </a:pPr>
            <a:r>
              <a:rPr sz="1350" b="1">
                <a:solidFill>
                  <a:srgbClr val="FFFFFF"/>
                </a:solidFill>
                <a:latin typeface="Arial"/>
                <a:ea typeface="Arial"/>
              </a:rPr>
              <a:t>3장 해법 사다리</a:t>
            </a:r>
          </a:p>
        </p:txBody>
      </p:sp>
      <p:sp>
        <p:nvSpPr>
          <p:cNvPr id="105" name="TextBox 104"/>
          <p:cNvSpPr txBox="1"/>
          <p:nvPr/>
        </p:nvSpPr>
        <p:spPr>
          <a:xfrm>
            <a:off x="722376" y="9592056"/>
            <a:ext cx="14264640" cy="310896"/>
          </a:xfrm>
          <a:prstGeom prst="rect">
            <a:avLst/>
          </a:prstGeom>
          <a:noFill/>
        </p:spPr>
        <p:txBody>
          <a:bodyPr wrap="square" anchor="t" lIns="0" rIns="0" tIns="0" bIns="0">
            <a:spAutoFit/>
          </a:bodyPr>
          <a:lstStyle/>
          <a:p>
            <a:pPr algn="l">
              <a:lnSpc>
                <a:spcPct val="112000"/>
              </a:lnSpc>
            </a:pPr>
            <a:r>
              <a:rPr sz="1600" b="0">
                <a:solidFill>
                  <a:srgbClr val="555555"/>
                </a:solidFill>
                <a:latin typeface="Arial"/>
                <a:ea typeface="Arial"/>
              </a:rPr>
              <a:t>출처: 보고서 v2.0 부록 A · 덱 v5.2와 동일 수치</a:t>
            </a:r>
          </a:p>
        </p:txBody>
      </p:sp>
      <p:sp>
        <p:nvSpPr>
          <p:cNvPr id="106" name="TextBox 105"/>
          <p:cNvSpPr txBox="1"/>
          <p:nvPr/>
        </p:nvSpPr>
        <p:spPr>
          <a:xfrm>
            <a:off x="16047720" y="9592056"/>
            <a:ext cx="1517904" cy="310896"/>
          </a:xfrm>
          <a:prstGeom prst="rect">
            <a:avLst/>
          </a:prstGeom>
          <a:noFill/>
        </p:spPr>
        <p:txBody>
          <a:bodyPr wrap="square" anchor="t" lIns="0" rIns="0" tIns="0" bIns="0">
            <a:spAutoFit/>
          </a:bodyPr>
          <a:lstStyle/>
          <a:p>
            <a:pPr algn="r">
              <a:lnSpc>
                <a:spcPct val="112000"/>
              </a:lnSpc>
            </a:pPr>
            <a:r>
              <a:rPr sz="1800" b="0">
                <a:solidFill>
                  <a:srgbClr val="555555"/>
                </a:solidFill>
                <a:latin typeface="Arial"/>
                <a:ea typeface="Arial"/>
              </a:rPr>
              <a:t>03 / 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420624"/>
            <a:ext cx="5486400" cy="310896"/>
          </a:xfrm>
          <a:prstGeom prst="rect">
            <a:avLst/>
          </a:prstGeom>
          <a:noFill/>
        </p:spPr>
        <p:txBody>
          <a:bodyPr wrap="square" anchor="t" lIns="0" rIns="0" tIns="0" bIns="0">
            <a:spAutoFit/>
          </a:bodyPr>
          <a:lstStyle/>
          <a:p>
            <a:pPr algn="l">
              <a:lnSpc>
                <a:spcPct val="112000"/>
              </a:lnSpc>
            </a:pPr>
            <a:r>
              <a:rPr sz="1800" b="1">
                <a:solidFill>
                  <a:srgbClr val="1428A0"/>
                </a:solidFill>
                <a:latin typeface="Arial"/>
                <a:ea typeface="Arial"/>
              </a:rPr>
              <a:t>삼성전자 메모리사업부</a:t>
            </a:r>
          </a:p>
        </p:txBody>
      </p:sp>
      <p:sp>
        <p:nvSpPr>
          <p:cNvPr id="3" name="TextBox 2"/>
          <p:cNvSpPr txBox="1"/>
          <p:nvPr/>
        </p:nvSpPr>
        <p:spPr>
          <a:xfrm>
            <a:off x="12079224" y="420624"/>
            <a:ext cx="5486400" cy="310896"/>
          </a:xfrm>
          <a:prstGeom prst="rect">
            <a:avLst/>
          </a:prstGeom>
          <a:noFill/>
        </p:spPr>
        <p:txBody>
          <a:bodyPr wrap="square" anchor="t" lIns="0" rIns="0" tIns="0" bIns="0">
            <a:spAutoFit/>
          </a:bodyPr>
          <a:lstStyle/>
          <a:p>
            <a:pPr algn="r">
              <a:lnSpc>
                <a:spcPct val="112000"/>
              </a:lnSpc>
            </a:pPr>
            <a:r>
              <a:rPr sz="1800" b="0">
                <a:solidFill>
                  <a:srgbClr val="555555"/>
                </a:solidFill>
                <a:latin typeface="Arial"/>
                <a:ea typeface="Arial"/>
              </a:rPr>
              <a:t>[문서등급 표기]</a:t>
            </a:r>
          </a:p>
        </p:txBody>
      </p:sp>
      <p:sp>
        <p:nvSpPr>
          <p:cNvPr id="4" name="TextBox 3"/>
          <p:cNvSpPr txBox="1"/>
          <p:nvPr/>
        </p:nvSpPr>
        <p:spPr>
          <a:xfrm>
            <a:off x="722376" y="804672"/>
            <a:ext cx="2148840" cy="274320"/>
          </a:xfrm>
          <a:prstGeom prst="rect">
            <a:avLst/>
          </a:prstGeom>
          <a:noFill/>
        </p:spPr>
        <p:txBody>
          <a:bodyPr wrap="square" anchor="ctr" lIns="0" rIns="0" tIns="0" bIns="0">
            <a:spAutoFit/>
          </a:bodyPr>
          <a:lstStyle/>
          <a:p>
            <a:pPr algn="l">
              <a:lnSpc>
                <a:spcPct val="112000"/>
              </a:lnSpc>
            </a:pPr>
            <a:r>
              <a:rPr sz="1800" b="1">
                <a:solidFill>
                  <a:srgbClr val="1428A0"/>
                </a:solidFill>
                <a:latin typeface="Arial"/>
                <a:ea typeface="Arial"/>
              </a:rPr>
              <a:t>QLC eSSD 전략</a:t>
            </a:r>
          </a:p>
        </p:txBody>
      </p:sp>
      <p:sp>
        <p:nvSpPr>
          <p:cNvPr id="5" name="Rectangle 4"/>
          <p:cNvSpPr/>
          <p:nvPr/>
        </p:nvSpPr>
        <p:spPr>
          <a:xfrm>
            <a:off x="2871216" y="1124712"/>
            <a:ext cx="2357628"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871216"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71216"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1</a:t>
            </a:r>
          </a:p>
        </p:txBody>
      </p:sp>
      <p:sp>
        <p:nvSpPr>
          <p:cNvPr id="8" name="TextBox 7"/>
          <p:cNvSpPr txBox="1"/>
          <p:nvPr/>
        </p:nvSpPr>
        <p:spPr>
          <a:xfrm>
            <a:off x="3209544" y="804672"/>
            <a:ext cx="2001011"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문제  </a:t>
            </a:r>
            <a:r>
              <a:rPr sz="1200" b="0">
                <a:solidFill>
                  <a:srgbClr val="555555"/>
                </a:solidFill>
                <a:latin typeface="Arial"/>
                <a:ea typeface="Arial"/>
              </a:rPr>
              <a:t/>
            </a:r>
          </a:p>
        </p:txBody>
      </p:sp>
      <p:sp>
        <p:nvSpPr>
          <p:cNvPr id="9" name="Rectangle 8"/>
          <p:cNvSpPr/>
          <p:nvPr/>
        </p:nvSpPr>
        <p:spPr>
          <a:xfrm>
            <a:off x="5320284" y="1124712"/>
            <a:ext cx="2357628"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320284"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20284"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2</a:t>
            </a:r>
          </a:p>
        </p:txBody>
      </p:sp>
      <p:sp>
        <p:nvSpPr>
          <p:cNvPr id="12" name="TextBox 11"/>
          <p:cNvSpPr txBox="1"/>
          <p:nvPr/>
        </p:nvSpPr>
        <p:spPr>
          <a:xfrm>
            <a:off x="5658611" y="804672"/>
            <a:ext cx="2001011"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신뢰성  </a:t>
            </a:r>
            <a:r>
              <a:rPr sz="1200" b="0">
                <a:solidFill>
                  <a:srgbClr val="555555"/>
                </a:solidFill>
                <a:latin typeface="Arial"/>
                <a:ea typeface="Arial"/>
              </a:rPr>
              <a:t/>
            </a:r>
          </a:p>
        </p:txBody>
      </p:sp>
      <p:sp>
        <p:nvSpPr>
          <p:cNvPr id="13" name="Rectangle 12"/>
          <p:cNvSpPr/>
          <p:nvPr/>
        </p:nvSpPr>
        <p:spPr>
          <a:xfrm>
            <a:off x="7769351" y="1124712"/>
            <a:ext cx="2357628"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769351" y="818388"/>
            <a:ext cx="246888" cy="246888"/>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69351" y="818388"/>
            <a:ext cx="246888" cy="246888"/>
          </a:xfrm>
          <a:prstGeom prst="rect">
            <a:avLst/>
          </a:prstGeom>
          <a:noFill/>
        </p:spPr>
        <p:txBody>
          <a:bodyPr wrap="square" anchor="ctr" lIns="0" rIns="0" tIns="0" bIns="0">
            <a:spAutoFit/>
          </a:bodyPr>
          <a:lstStyle/>
          <a:p>
            <a:pPr algn="ctr">
              <a:lnSpc>
                <a:spcPct val="112000"/>
              </a:lnSpc>
            </a:pPr>
            <a:r>
              <a:rPr sz="1100" b="1">
                <a:solidFill>
                  <a:srgbClr val="FFFFFF"/>
                </a:solidFill>
                <a:latin typeface="Arial"/>
                <a:ea typeface="Arial"/>
              </a:rPr>
              <a:t>3</a:t>
            </a:r>
          </a:p>
        </p:txBody>
      </p:sp>
      <p:sp>
        <p:nvSpPr>
          <p:cNvPr id="16" name="TextBox 15"/>
          <p:cNvSpPr txBox="1"/>
          <p:nvPr/>
        </p:nvSpPr>
        <p:spPr>
          <a:xfrm>
            <a:off x="8107679" y="804672"/>
            <a:ext cx="2001011" cy="274320"/>
          </a:xfrm>
          <a:prstGeom prst="rect">
            <a:avLst/>
          </a:prstGeom>
          <a:noFill/>
        </p:spPr>
        <p:txBody>
          <a:bodyPr wrap="square" anchor="ctr" lIns="0" rIns="0" tIns="0" bIns="0">
            <a:spAutoFit/>
          </a:bodyPr>
          <a:lstStyle/>
          <a:p>
            <a:pPr algn="l">
              <a:lnSpc>
                <a:spcPct val="112000"/>
              </a:lnSpc>
            </a:pPr>
            <a:r>
              <a:rPr sz="1300" b="1">
                <a:solidFill>
                  <a:srgbClr val="1428A0"/>
                </a:solidFill>
                <a:latin typeface="Arial"/>
                <a:ea typeface="Arial"/>
              </a:rPr>
              <a:t>해법 사다리  </a:t>
            </a:r>
            <a:r>
              <a:rPr sz="1200" b="0">
                <a:solidFill>
                  <a:srgbClr val="1428A0"/>
                </a:solidFill>
                <a:latin typeface="Arial"/>
                <a:ea typeface="Arial"/>
              </a:rPr>
              <a:t/>
            </a:r>
          </a:p>
        </p:txBody>
      </p:sp>
      <p:sp>
        <p:nvSpPr>
          <p:cNvPr id="17" name="Rectangle 16"/>
          <p:cNvSpPr/>
          <p:nvPr/>
        </p:nvSpPr>
        <p:spPr>
          <a:xfrm>
            <a:off x="10218420" y="1124712"/>
            <a:ext cx="2357628"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218420"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218420"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4</a:t>
            </a:r>
          </a:p>
        </p:txBody>
      </p:sp>
      <p:sp>
        <p:nvSpPr>
          <p:cNvPr id="20" name="TextBox 19"/>
          <p:cNvSpPr txBox="1"/>
          <p:nvPr/>
        </p:nvSpPr>
        <p:spPr>
          <a:xfrm>
            <a:off x="10556748" y="804672"/>
            <a:ext cx="2001011"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역량  </a:t>
            </a:r>
            <a:r>
              <a:rPr sz="1200" b="0">
                <a:solidFill>
                  <a:srgbClr val="8A8A8A"/>
                </a:solidFill>
                <a:latin typeface="Arial"/>
                <a:ea typeface="Arial"/>
              </a:rPr>
              <a:t/>
            </a:r>
          </a:p>
        </p:txBody>
      </p:sp>
      <p:sp>
        <p:nvSpPr>
          <p:cNvPr id="21" name="Rectangle 20"/>
          <p:cNvSpPr/>
          <p:nvPr/>
        </p:nvSpPr>
        <p:spPr>
          <a:xfrm>
            <a:off x="12667488" y="1124712"/>
            <a:ext cx="2357628"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2667488"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667488"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5</a:t>
            </a:r>
          </a:p>
        </p:txBody>
      </p:sp>
      <p:sp>
        <p:nvSpPr>
          <p:cNvPr id="24" name="TextBox 23"/>
          <p:cNvSpPr txBox="1"/>
          <p:nvPr/>
        </p:nvSpPr>
        <p:spPr>
          <a:xfrm>
            <a:off x="13005816" y="804672"/>
            <a:ext cx="2001011"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실행  </a:t>
            </a:r>
            <a:r>
              <a:rPr sz="1200" b="0">
                <a:solidFill>
                  <a:srgbClr val="8A8A8A"/>
                </a:solidFill>
                <a:latin typeface="Arial"/>
                <a:ea typeface="Arial"/>
              </a:rPr>
              <a:t/>
            </a:r>
          </a:p>
        </p:txBody>
      </p:sp>
      <p:sp>
        <p:nvSpPr>
          <p:cNvPr id="25" name="Rectangle 24"/>
          <p:cNvSpPr/>
          <p:nvPr/>
        </p:nvSpPr>
        <p:spPr>
          <a:xfrm>
            <a:off x="15116556" y="1124712"/>
            <a:ext cx="2357628"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5116556"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116556"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6</a:t>
            </a:r>
          </a:p>
        </p:txBody>
      </p:sp>
      <p:sp>
        <p:nvSpPr>
          <p:cNvPr id="28" name="TextBox 27"/>
          <p:cNvSpPr txBox="1"/>
          <p:nvPr/>
        </p:nvSpPr>
        <p:spPr>
          <a:xfrm>
            <a:off x="15454884" y="804672"/>
            <a:ext cx="2001011"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보증 · SLA  </a:t>
            </a:r>
            <a:r>
              <a:rPr sz="1200" b="0">
                <a:solidFill>
                  <a:srgbClr val="8A8A8A"/>
                </a:solidFill>
                <a:latin typeface="Arial"/>
                <a:ea typeface="Arial"/>
              </a:rPr>
              <a:t/>
            </a:r>
          </a:p>
        </p:txBody>
      </p:sp>
      <p:sp>
        <p:nvSpPr>
          <p:cNvPr id="29" name="TextBox 28"/>
          <p:cNvSpPr txBox="1"/>
          <p:nvPr/>
        </p:nvSpPr>
        <p:spPr>
          <a:xfrm>
            <a:off x="722376" y="1216152"/>
            <a:ext cx="16843248" cy="566928"/>
          </a:xfrm>
          <a:prstGeom prst="rect">
            <a:avLst/>
          </a:prstGeom>
          <a:noFill/>
        </p:spPr>
        <p:txBody>
          <a:bodyPr wrap="square" anchor="t" lIns="0" rIns="0" tIns="0" bIns="0">
            <a:spAutoFit/>
          </a:bodyPr>
          <a:lstStyle/>
          <a:p>
            <a:pPr algn="l">
              <a:lnSpc>
                <a:spcPct val="112000"/>
              </a:lnSpc>
            </a:pPr>
            <a:r>
              <a:rPr sz="3000" b="1">
                <a:solidFill>
                  <a:srgbClr val="1A1A1A"/>
                </a:solidFill>
                <a:latin typeface="Arial"/>
                <a:ea typeface="Arial"/>
              </a:rPr>
              <a:t>둘째 축 내구성은 SSD 단독 최적화로 WAF ≈3에 머물렀고, 잔여 변수 WAF는 호스트가 결정합니다</a:t>
            </a:r>
          </a:p>
        </p:txBody>
      </p:sp>
      <p:sp>
        <p:nvSpPr>
          <p:cNvPr id="30" name="TextBox 29"/>
          <p:cNvSpPr txBox="1"/>
          <p:nvPr/>
        </p:nvSpPr>
        <p:spPr>
          <a:xfrm>
            <a:off x="722376" y="1865376"/>
            <a:ext cx="16843248" cy="402336"/>
          </a:xfrm>
          <a:prstGeom prst="rect">
            <a:avLst/>
          </a:prstGeom>
          <a:noFill/>
        </p:spPr>
        <p:txBody>
          <a:bodyPr wrap="square" anchor="t" lIns="0" rIns="0" tIns="0" bIns="0">
            <a:spAutoFit/>
          </a:bodyPr>
          <a:lstStyle/>
          <a:p>
            <a:pPr algn="l">
              <a:lnSpc>
                <a:spcPct val="112000"/>
              </a:lnSpc>
            </a:pPr>
            <a:r>
              <a:rPr sz="2000" b="0">
                <a:solidFill>
                  <a:srgbClr val="555555"/>
                </a:solidFill>
                <a:latin typeface="Arial"/>
                <a:ea typeface="Arial"/>
              </a:rPr>
              <a:t>요구(UBER·DWPD)는 고정, 단품 지표(RBER·P/E)는 악화, 격차는 상위 계층이 보상해 왔습니다.</a:t>
            </a:r>
          </a:p>
        </p:txBody>
      </p:sp>
      <p:sp>
        <p:nvSpPr>
          <p:cNvPr id="31" name="Rectangle 30"/>
          <p:cNvSpPr/>
          <p:nvPr/>
        </p:nvSpPr>
        <p:spPr>
          <a:xfrm>
            <a:off x="722376" y="2395728"/>
            <a:ext cx="16843248" cy="12801"/>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88136" y="2699765"/>
            <a:ext cx="748110" cy="196596"/>
          </a:xfrm>
          <a:prstGeom prst="rect">
            <a:avLst/>
          </a:prstGeom>
          <a:noFill/>
        </p:spPr>
        <p:txBody>
          <a:bodyPr wrap="none" anchor="t" lIns="0" rIns="0" tIns="0" bIns="0">
            <a:spAutoFit/>
          </a:bodyPr>
          <a:lstStyle/>
          <a:p>
            <a:pPr algn="l">
              <a:lnSpc>
                <a:spcPct val="125000"/>
              </a:lnSpc>
            </a:pPr>
            <a:r>
              <a:rPr sz="1008" b="0">
                <a:solidFill>
                  <a:srgbClr val="8A8A8A"/>
                </a:solidFill>
                <a:latin typeface="Arial"/>
                <a:ea typeface="Arial"/>
              </a:rPr>
              <a:t>요구 (고정)</a:t>
            </a:r>
          </a:p>
        </p:txBody>
      </p:sp>
      <p:sp>
        <p:nvSpPr>
          <p:cNvPr id="33" name="TextBox 32"/>
          <p:cNvSpPr txBox="1"/>
          <p:nvPr/>
        </p:nvSpPr>
        <p:spPr>
          <a:xfrm>
            <a:off x="2093976" y="2682849"/>
            <a:ext cx="2698008" cy="230428"/>
          </a:xfrm>
          <a:prstGeom prst="rect">
            <a:avLst/>
          </a:prstGeom>
          <a:noFill/>
        </p:spPr>
        <p:txBody>
          <a:bodyPr wrap="none" anchor="ctr" lIns="0" rIns="0" tIns="0" bIns="0">
            <a:spAutoFit/>
          </a:bodyPr>
          <a:lstStyle/>
          <a:p>
            <a:pPr algn="l">
              <a:lnSpc>
                <a:spcPct val="112000"/>
              </a:lnSpc>
            </a:pPr>
            <a:r>
              <a:rPr sz="1296" b="1">
                <a:solidFill>
                  <a:srgbClr val="1428A0"/>
                </a:solidFill>
                <a:latin typeface="Arial"/>
                <a:ea typeface="Arial"/>
              </a:rPr>
              <a:t>DWPD 1~3</a:t>
            </a:r>
            <a:r>
              <a:rPr sz="1152" b="0">
                <a:solidFill>
                  <a:srgbClr val="555555"/>
                </a:solidFill>
                <a:latin typeface="Arial"/>
                <a:ea typeface="Arial"/>
              </a:rPr>
              <a:t>  ·  UBER 1e-15 / 1e-16</a:t>
            </a:r>
          </a:p>
        </p:txBody>
      </p:sp>
      <p:cxnSp>
        <p:nvCxnSpPr>
          <p:cNvPr id="34" name="Connector 33"/>
          <p:cNvCxnSpPr/>
          <p:nvPr/>
        </p:nvCxnSpPr>
        <p:spPr>
          <a:xfrm>
            <a:off x="1088136" y="2980944"/>
            <a:ext cx="10881360" cy="0"/>
          </a:xfrm>
          <a:prstGeom prst="line">
            <a:avLst/>
          </a:prstGeom>
          <a:ln w="25400">
            <a:solidFill>
              <a:srgbClr val="1428A0"/>
            </a:solidFill>
            <a:prstDash val="dash"/>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1088136" y="5486400"/>
            <a:ext cx="3520440" cy="1371600"/>
          </a:xfrm>
          <a:prstGeom prst="roundRect">
            <a:avLst>
              <a:gd name="adj" fmla="val 2666"/>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88136" y="5486400"/>
            <a:ext cx="3520440" cy="73152"/>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225296" y="5715000"/>
            <a:ext cx="274320" cy="274320"/>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265375" y="5736717"/>
            <a:ext cx="194160" cy="230886"/>
          </a:xfrm>
          <a:prstGeom prst="rect">
            <a:avLst/>
          </a:prstGeom>
          <a:noFill/>
        </p:spPr>
        <p:txBody>
          <a:bodyPr wrap="none" anchor="t" lIns="0" rIns="0" tIns="0" bIns="0">
            <a:spAutoFit/>
          </a:bodyPr>
          <a:lstStyle/>
          <a:p>
            <a:pPr algn="ctr">
              <a:lnSpc>
                <a:spcPct val="125000"/>
              </a:lnSpc>
            </a:pPr>
            <a:r>
              <a:rPr sz="1224" b="1">
                <a:solidFill>
                  <a:srgbClr val="1A1A1A"/>
                </a:solidFill>
                <a:latin typeface="Arial"/>
                <a:ea typeface="Arial"/>
              </a:rPr>
              <a:t>1</a:t>
            </a:r>
          </a:p>
        </p:txBody>
      </p:sp>
      <p:sp>
        <p:nvSpPr>
          <p:cNvPr id="39" name="TextBox 38"/>
          <p:cNvSpPr txBox="1"/>
          <p:nvPr/>
        </p:nvSpPr>
        <p:spPr>
          <a:xfrm>
            <a:off x="1581912" y="5736717"/>
            <a:ext cx="1705526" cy="230886"/>
          </a:xfrm>
          <a:prstGeom prst="rect">
            <a:avLst/>
          </a:prstGeom>
          <a:noFill/>
        </p:spPr>
        <p:txBody>
          <a:bodyPr wrap="none" anchor="t" lIns="0" rIns="0" tIns="0" bIns="0">
            <a:spAutoFit/>
          </a:bodyPr>
          <a:lstStyle/>
          <a:p>
            <a:pPr algn="l">
              <a:lnSpc>
                <a:spcPct val="125000"/>
              </a:lnSpc>
            </a:pPr>
            <a:r>
              <a:rPr sz="1224" b="1">
                <a:solidFill>
                  <a:srgbClr val="1A1A1A"/>
                </a:solidFill>
                <a:latin typeface="Arial"/>
                <a:ea typeface="Arial"/>
              </a:rPr>
              <a:t>1단계 · 컨트롤러 ECC</a:t>
            </a:r>
          </a:p>
        </p:txBody>
      </p:sp>
      <p:sp>
        <p:nvSpPr>
          <p:cNvPr id="40" name="TextBox 39"/>
          <p:cNvSpPr txBox="1"/>
          <p:nvPr/>
        </p:nvSpPr>
        <p:spPr>
          <a:xfrm>
            <a:off x="1581912" y="5979033"/>
            <a:ext cx="1085180" cy="185166"/>
          </a:xfrm>
          <a:prstGeom prst="rect">
            <a:avLst/>
          </a:prstGeom>
          <a:noFill/>
        </p:spPr>
        <p:txBody>
          <a:bodyPr wrap="none" anchor="t" lIns="0" rIns="0" tIns="0" bIns="0">
            <a:spAutoFit/>
          </a:bodyPr>
          <a:lstStyle/>
          <a:p>
            <a:pPr algn="l">
              <a:lnSpc>
                <a:spcPct val="125000"/>
              </a:lnSpc>
            </a:pPr>
            <a:r>
              <a:rPr sz="936" b="0">
                <a:solidFill>
                  <a:srgbClr val="8A8A8A"/>
                </a:solidFill>
                <a:latin typeface="Arial"/>
                <a:ea typeface="Arial"/>
              </a:rPr>
              <a:t>1991~ · 컨트롤러</a:t>
            </a:r>
          </a:p>
        </p:txBody>
      </p:sp>
      <p:sp>
        <p:nvSpPr>
          <p:cNvPr id="41" name="Rounded Rectangle 40"/>
          <p:cNvSpPr/>
          <p:nvPr/>
        </p:nvSpPr>
        <p:spPr>
          <a:xfrm>
            <a:off x="4024881" y="5733288"/>
            <a:ext cx="437390" cy="237744"/>
          </a:xfrm>
          <a:prstGeom prst="roundRect">
            <a:avLst>
              <a:gd name="adj" fmla="val 50000"/>
            </a:avLst>
          </a:prstGeom>
          <a:solidFill>
            <a:srgbClr val="AAB8E8"/>
          </a:solidFill>
          <a:ln w="12700">
            <a:solidFill>
              <a:srgbClr val="AAB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075371" y="5759577"/>
            <a:ext cx="336411" cy="185166"/>
          </a:xfrm>
          <a:prstGeom prst="rect">
            <a:avLst/>
          </a:prstGeom>
          <a:noFill/>
        </p:spPr>
        <p:txBody>
          <a:bodyPr wrap="none" anchor="t" lIns="0" rIns="0" tIns="0" bIns="0">
            <a:spAutoFit/>
          </a:bodyPr>
          <a:lstStyle/>
          <a:p>
            <a:pPr algn="ctr">
              <a:lnSpc>
                <a:spcPct val="125000"/>
              </a:lnSpc>
            </a:pPr>
            <a:r>
              <a:rPr sz="936" b="1">
                <a:solidFill>
                  <a:srgbClr val="1A1A1A"/>
                </a:solidFill>
                <a:latin typeface="Arial"/>
                <a:ea typeface="Arial"/>
              </a:rPr>
              <a:t>완결</a:t>
            </a:r>
          </a:p>
        </p:txBody>
      </p:sp>
      <p:sp>
        <p:nvSpPr>
          <p:cNvPr id="43" name="TextBox 42"/>
          <p:cNvSpPr txBox="1"/>
          <p:nvPr/>
        </p:nvSpPr>
        <p:spPr>
          <a:xfrm>
            <a:off x="1362456" y="6304788"/>
            <a:ext cx="3049153" cy="265176"/>
          </a:xfrm>
          <a:prstGeom prst="rect">
            <a:avLst/>
          </a:prstGeom>
          <a:noFill/>
        </p:spPr>
        <p:txBody>
          <a:bodyPr wrap="none" anchor="t" lIns="0" rIns="0" tIns="0" bIns="0">
            <a:spAutoFit/>
          </a:bodyPr>
          <a:lstStyle/>
          <a:p>
            <a:pPr algn="l">
              <a:lnSpc>
                <a:spcPct val="125000"/>
              </a:lnSpc>
            </a:pPr>
            <a:r>
              <a:rPr sz="1439" b="1">
                <a:solidFill>
                  <a:srgbClr val="1A1A1A"/>
                </a:solidFill>
                <a:latin typeface="Arial"/>
                <a:ea typeface="Arial"/>
              </a:rPr>
              <a:t>1 bit/512B → LDPC 120 bit/KB</a:t>
            </a:r>
          </a:p>
        </p:txBody>
      </p:sp>
      <p:sp>
        <p:nvSpPr>
          <p:cNvPr id="44" name="TextBox 43"/>
          <p:cNvSpPr txBox="1"/>
          <p:nvPr/>
        </p:nvSpPr>
        <p:spPr>
          <a:xfrm>
            <a:off x="1362456" y="6610197"/>
            <a:ext cx="2971800" cy="202996"/>
          </a:xfrm>
          <a:prstGeom prst="rect">
            <a:avLst/>
          </a:prstGeom>
          <a:noFill/>
        </p:spPr>
        <p:txBody>
          <a:bodyPr wrap="none" anchor="t" lIns="0" rIns="0" tIns="0" bIns="0">
            <a:spAutoFit/>
          </a:bodyPr>
          <a:lstStyle/>
          <a:p>
            <a:pPr algn="l">
              <a:lnSpc>
                <a:spcPct val="130000"/>
              </a:lnSpc>
            </a:pPr>
            <a:r>
              <a:rPr sz="1008" b="0">
                <a:solidFill>
                  <a:srgbClr val="555555"/>
                </a:solidFill>
                <a:latin typeface="Arial"/>
                <a:ea typeface="Arial"/>
              </a:rPr>
              <a:t>RBER 10⁶배 ↑ → 60배 ECC로 흡수 → UBER 충족</a:t>
            </a:r>
          </a:p>
        </p:txBody>
      </p:sp>
      <p:cxnSp>
        <p:nvCxnSpPr>
          <p:cNvPr id="45" name="Connector 44"/>
          <p:cNvCxnSpPr/>
          <p:nvPr/>
        </p:nvCxnSpPr>
        <p:spPr>
          <a:xfrm flipV="1">
            <a:off x="4242816" y="4279392"/>
            <a:ext cx="0" cy="1115568"/>
          </a:xfrm>
          <a:prstGeom prst="line">
            <a:avLst/>
          </a:prstGeom>
          <a:ln w="25400">
            <a:solidFill>
              <a:srgbClr val="1428A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242816" y="4279392"/>
            <a:ext cx="713232" cy="0"/>
          </a:xfrm>
          <a:prstGeom prst="line">
            <a:avLst/>
          </a:prstGeom>
          <a:ln w="25400">
            <a:solidFill>
              <a:srgbClr val="1428A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4956048" y="4279392"/>
            <a:ext cx="0" cy="128016"/>
          </a:xfrm>
          <a:prstGeom prst="line">
            <a:avLst/>
          </a:prstGeom>
          <a:ln w="25400">
            <a:solidFill>
              <a:srgbClr val="1428A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4773168" y="4480560"/>
            <a:ext cx="3520440" cy="2377440"/>
          </a:xfrm>
          <a:prstGeom prst="roundRect">
            <a:avLst>
              <a:gd name="adj" fmla="val 1538"/>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4773168" y="4480560"/>
            <a:ext cx="3520440" cy="73152"/>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4910328" y="4709160"/>
            <a:ext cx="274320" cy="274320"/>
          </a:xfrm>
          <a:prstGeom prst="ellipse">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950407" y="4730877"/>
            <a:ext cx="194160" cy="230886"/>
          </a:xfrm>
          <a:prstGeom prst="rect">
            <a:avLst/>
          </a:prstGeom>
          <a:noFill/>
        </p:spPr>
        <p:txBody>
          <a:bodyPr wrap="none" anchor="t" lIns="0" rIns="0" tIns="0" bIns="0">
            <a:spAutoFit/>
          </a:bodyPr>
          <a:lstStyle/>
          <a:p>
            <a:pPr algn="ctr">
              <a:lnSpc>
                <a:spcPct val="125000"/>
              </a:lnSpc>
            </a:pPr>
            <a:r>
              <a:rPr sz="1224" b="1">
                <a:solidFill>
                  <a:srgbClr val="FFFFFF"/>
                </a:solidFill>
                <a:latin typeface="Arial"/>
                <a:ea typeface="Arial"/>
              </a:rPr>
              <a:t>2</a:t>
            </a:r>
          </a:p>
        </p:txBody>
      </p:sp>
      <p:sp>
        <p:nvSpPr>
          <p:cNvPr id="52" name="TextBox 51"/>
          <p:cNvSpPr txBox="1"/>
          <p:nvPr/>
        </p:nvSpPr>
        <p:spPr>
          <a:xfrm>
            <a:off x="5266944" y="4730877"/>
            <a:ext cx="1914856" cy="230886"/>
          </a:xfrm>
          <a:prstGeom prst="rect">
            <a:avLst/>
          </a:prstGeom>
          <a:noFill/>
        </p:spPr>
        <p:txBody>
          <a:bodyPr wrap="none" anchor="t" lIns="0" rIns="0" tIns="0" bIns="0">
            <a:spAutoFit/>
          </a:bodyPr>
          <a:lstStyle/>
          <a:p>
            <a:pPr algn="l">
              <a:lnSpc>
                <a:spcPct val="125000"/>
              </a:lnSpc>
            </a:pPr>
            <a:r>
              <a:rPr sz="1224" b="1">
                <a:solidFill>
                  <a:srgbClr val="1A1A1A"/>
                </a:solidFill>
                <a:latin typeface="Arial"/>
                <a:ea typeface="Arial"/>
              </a:rPr>
              <a:t>2단계 · SSD 단독 최적화</a:t>
            </a:r>
          </a:p>
        </p:txBody>
      </p:sp>
      <p:sp>
        <p:nvSpPr>
          <p:cNvPr id="53" name="TextBox 52"/>
          <p:cNvSpPr txBox="1"/>
          <p:nvPr/>
        </p:nvSpPr>
        <p:spPr>
          <a:xfrm>
            <a:off x="5266944" y="4973193"/>
            <a:ext cx="1291396" cy="185166"/>
          </a:xfrm>
          <a:prstGeom prst="rect">
            <a:avLst/>
          </a:prstGeom>
          <a:noFill/>
        </p:spPr>
        <p:txBody>
          <a:bodyPr wrap="none" anchor="t" lIns="0" rIns="0" tIns="0" bIns="0">
            <a:spAutoFit/>
          </a:bodyPr>
          <a:lstStyle/>
          <a:p>
            <a:pPr algn="l">
              <a:lnSpc>
                <a:spcPct val="125000"/>
              </a:lnSpc>
            </a:pPr>
            <a:r>
              <a:rPr sz="936" b="0">
                <a:solidFill>
                  <a:srgbClr val="8A8A8A"/>
                </a:solidFill>
                <a:latin typeface="Arial"/>
                <a:ea typeface="Arial"/>
              </a:rPr>
              <a:t>2014~2019 · SSD 안</a:t>
            </a:r>
          </a:p>
        </p:txBody>
      </p:sp>
      <p:sp>
        <p:nvSpPr>
          <p:cNvPr id="54" name="Rounded Rectangle 53"/>
          <p:cNvSpPr/>
          <p:nvPr/>
        </p:nvSpPr>
        <p:spPr>
          <a:xfrm>
            <a:off x="7444544" y="4727448"/>
            <a:ext cx="702759" cy="237744"/>
          </a:xfrm>
          <a:prstGeom prst="roundRect">
            <a:avLst>
              <a:gd name="adj" fmla="val 50000"/>
            </a:avLst>
          </a:prstGeom>
          <a:solidFill>
            <a:srgbClr val="FFFFFF"/>
          </a:solidFill>
          <a:ln w="12700">
            <a:solidFill>
              <a:srgbClr val="3C5A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490119" y="4753737"/>
            <a:ext cx="611609" cy="185166"/>
          </a:xfrm>
          <a:prstGeom prst="rect">
            <a:avLst/>
          </a:prstGeom>
          <a:noFill/>
        </p:spPr>
        <p:txBody>
          <a:bodyPr wrap="none" anchor="t" lIns="0" rIns="0" tIns="0" bIns="0">
            <a:spAutoFit/>
          </a:bodyPr>
          <a:lstStyle/>
          <a:p>
            <a:pPr algn="ctr">
              <a:lnSpc>
                <a:spcPct val="125000"/>
              </a:lnSpc>
            </a:pPr>
            <a:r>
              <a:rPr sz="936" b="1">
                <a:solidFill>
                  <a:srgbClr val="3C5AC8"/>
                </a:solidFill>
                <a:latin typeface="Arial"/>
                <a:ea typeface="Arial"/>
              </a:rPr>
              <a:t>부분 성공</a:t>
            </a:r>
          </a:p>
        </p:txBody>
      </p:sp>
      <p:sp>
        <p:nvSpPr>
          <p:cNvPr id="56" name="TextBox 55"/>
          <p:cNvSpPr txBox="1"/>
          <p:nvPr/>
        </p:nvSpPr>
        <p:spPr>
          <a:xfrm>
            <a:off x="5047488" y="5298948"/>
            <a:ext cx="1372016" cy="265176"/>
          </a:xfrm>
          <a:prstGeom prst="rect">
            <a:avLst/>
          </a:prstGeom>
          <a:noFill/>
        </p:spPr>
        <p:txBody>
          <a:bodyPr wrap="none" anchor="t" lIns="0" rIns="0" tIns="0" bIns="0">
            <a:spAutoFit/>
          </a:bodyPr>
          <a:lstStyle/>
          <a:p>
            <a:pPr algn="l">
              <a:lnSpc>
                <a:spcPct val="125000"/>
              </a:lnSpc>
            </a:pPr>
            <a:r>
              <a:rPr sz="1439" b="1">
                <a:solidFill>
                  <a:srgbClr val="1A1A1A"/>
                </a:solidFill>
                <a:latin typeface="Arial"/>
                <a:ea typeface="Arial"/>
              </a:rPr>
              <a:t>WAF ≈ 3 유지</a:t>
            </a:r>
          </a:p>
        </p:txBody>
      </p:sp>
      <p:sp>
        <p:nvSpPr>
          <p:cNvPr id="57" name="TextBox 56"/>
          <p:cNvSpPr txBox="1"/>
          <p:nvPr/>
        </p:nvSpPr>
        <p:spPr>
          <a:xfrm>
            <a:off x="5047488" y="5604357"/>
            <a:ext cx="2971800" cy="369417"/>
          </a:xfrm>
          <a:prstGeom prst="rect">
            <a:avLst/>
          </a:prstGeom>
          <a:noFill/>
        </p:spPr>
        <p:txBody>
          <a:bodyPr wrap="none" anchor="t" lIns="0" rIns="0" tIns="0" bIns="0">
            <a:spAutoFit/>
          </a:bodyPr>
          <a:lstStyle/>
          <a:p>
            <a:pPr algn="l">
              <a:lnSpc>
                <a:spcPct val="130000"/>
              </a:lnSpc>
            </a:pPr>
            <a:r>
              <a:rPr sz="1008" b="0">
                <a:solidFill>
                  <a:srgbClr val="555555"/>
                </a:solidFill>
                <a:latin typeface="Arial"/>
                <a:ea typeface="Arial"/>
              </a:rPr>
              <a:t>스트림 · 자동 배정 · FTL 추정 · IO 결정성 →</a:t>
            </a:r>
          </a:p>
          <a:p>
            <a:pPr algn="l">
              <a:lnSpc>
                <a:spcPct val="130000"/>
              </a:lnSpc>
            </a:pPr>
            <a:r>
              <a:rPr sz="1008" b="0">
                <a:solidFill>
                  <a:srgbClr val="555555"/>
                </a:solidFill>
                <a:latin typeface="Arial"/>
                <a:ea typeface="Arial"/>
              </a:rPr>
              <a:t>QoS·성능 개선, 수명 감지 불가</a:t>
            </a:r>
          </a:p>
        </p:txBody>
      </p:sp>
      <p:cxnSp>
        <p:nvCxnSpPr>
          <p:cNvPr id="58" name="Connector 57"/>
          <p:cNvCxnSpPr/>
          <p:nvPr/>
        </p:nvCxnSpPr>
        <p:spPr>
          <a:xfrm flipV="1">
            <a:off x="7927848" y="3090672"/>
            <a:ext cx="0" cy="1298448"/>
          </a:xfrm>
          <a:prstGeom prst="line">
            <a:avLst/>
          </a:prstGeom>
          <a:ln w="25400">
            <a:solidFill>
              <a:srgbClr val="1428A0"/>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7927848" y="3090672"/>
            <a:ext cx="713232" cy="0"/>
          </a:xfrm>
          <a:prstGeom prst="line">
            <a:avLst/>
          </a:prstGeom>
          <a:ln w="25400">
            <a:solidFill>
              <a:srgbClr val="1428A0"/>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8641080" y="3090672"/>
            <a:ext cx="0" cy="128015"/>
          </a:xfrm>
          <a:prstGeom prst="line">
            <a:avLst/>
          </a:prstGeom>
          <a:ln w="25400">
            <a:solidFill>
              <a:srgbClr val="1428A0"/>
            </a:solidFill>
            <a:tailEnd type="triangle" w="med" len="med"/>
          </a:ln>
        </p:spPr>
        <p:style>
          <a:lnRef idx="2">
            <a:schemeClr val="accent1"/>
          </a:lnRef>
          <a:fillRef idx="0">
            <a:schemeClr val="accent1"/>
          </a:fillRef>
          <a:effectRef idx="1">
            <a:schemeClr val="accent1"/>
          </a:effectRef>
          <a:fontRef idx="minor">
            <a:schemeClr val="tx1"/>
          </a:fontRef>
        </p:style>
      </p:cxnSp>
      <p:sp>
        <p:nvSpPr>
          <p:cNvPr id="61" name="Rounded Rectangle 60"/>
          <p:cNvSpPr/>
          <p:nvPr/>
        </p:nvSpPr>
        <p:spPr>
          <a:xfrm>
            <a:off x="8458200" y="3291839"/>
            <a:ext cx="3520440" cy="3566160"/>
          </a:xfrm>
          <a:prstGeom prst="roundRect">
            <a:avLst>
              <a:gd name="adj" fmla="val 1038"/>
            </a:avLst>
          </a:prstGeom>
          <a:solidFill>
            <a:srgbClr val="F4F6FC"/>
          </a:solidFill>
          <a:ln w="1905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8458200" y="3291839"/>
            <a:ext cx="3520440" cy="73152"/>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8595359" y="3520439"/>
            <a:ext cx="274320" cy="274320"/>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635439" y="3542157"/>
            <a:ext cx="194160" cy="230886"/>
          </a:xfrm>
          <a:prstGeom prst="rect">
            <a:avLst/>
          </a:prstGeom>
          <a:noFill/>
        </p:spPr>
        <p:txBody>
          <a:bodyPr wrap="none" anchor="t" lIns="0" rIns="0" tIns="0" bIns="0">
            <a:spAutoFit/>
          </a:bodyPr>
          <a:lstStyle/>
          <a:p>
            <a:pPr algn="ctr">
              <a:lnSpc>
                <a:spcPct val="125000"/>
              </a:lnSpc>
            </a:pPr>
            <a:r>
              <a:rPr sz="1224" b="1">
                <a:solidFill>
                  <a:srgbClr val="FFFFFF"/>
                </a:solidFill>
                <a:latin typeface="Arial"/>
                <a:ea typeface="Arial"/>
              </a:rPr>
              <a:t>3</a:t>
            </a:r>
          </a:p>
        </p:txBody>
      </p:sp>
      <p:sp>
        <p:nvSpPr>
          <p:cNvPr id="65" name="TextBox 64"/>
          <p:cNvSpPr txBox="1"/>
          <p:nvPr/>
        </p:nvSpPr>
        <p:spPr>
          <a:xfrm>
            <a:off x="8951976" y="3542157"/>
            <a:ext cx="1896902" cy="230886"/>
          </a:xfrm>
          <a:prstGeom prst="rect">
            <a:avLst/>
          </a:prstGeom>
          <a:noFill/>
        </p:spPr>
        <p:txBody>
          <a:bodyPr wrap="none" anchor="t" lIns="0" rIns="0" tIns="0" bIns="0">
            <a:spAutoFit/>
          </a:bodyPr>
          <a:lstStyle/>
          <a:p>
            <a:pPr algn="l">
              <a:lnSpc>
                <a:spcPct val="125000"/>
              </a:lnSpc>
            </a:pPr>
            <a:r>
              <a:rPr sz="1224" b="1">
                <a:solidFill>
                  <a:srgbClr val="1A1A1A"/>
                </a:solidFill>
                <a:latin typeface="Arial"/>
                <a:ea typeface="Arial"/>
              </a:rPr>
              <a:t>3단계 · 호스트 공동 설계</a:t>
            </a:r>
          </a:p>
        </p:txBody>
      </p:sp>
      <p:sp>
        <p:nvSpPr>
          <p:cNvPr id="66" name="TextBox 65"/>
          <p:cNvSpPr txBox="1"/>
          <p:nvPr/>
        </p:nvSpPr>
        <p:spPr>
          <a:xfrm>
            <a:off x="8951976" y="3784473"/>
            <a:ext cx="962694" cy="185166"/>
          </a:xfrm>
          <a:prstGeom prst="rect">
            <a:avLst/>
          </a:prstGeom>
          <a:noFill/>
        </p:spPr>
        <p:txBody>
          <a:bodyPr wrap="none" anchor="t" lIns="0" rIns="0" tIns="0" bIns="0">
            <a:spAutoFit/>
          </a:bodyPr>
          <a:lstStyle/>
          <a:p>
            <a:pPr algn="l">
              <a:lnSpc>
                <a:spcPct val="125000"/>
              </a:lnSpc>
            </a:pPr>
            <a:r>
              <a:rPr sz="936" b="0">
                <a:solidFill>
                  <a:srgbClr val="8A8A8A"/>
                </a:solidFill>
                <a:latin typeface="Arial"/>
                <a:ea typeface="Arial"/>
              </a:rPr>
              <a:t>2022~ · 호스트</a:t>
            </a:r>
          </a:p>
        </p:txBody>
      </p:sp>
      <p:sp>
        <p:nvSpPr>
          <p:cNvPr id="67" name="Rounded Rectangle 66"/>
          <p:cNvSpPr/>
          <p:nvPr/>
        </p:nvSpPr>
        <p:spPr>
          <a:xfrm>
            <a:off x="11276834" y="3538728"/>
            <a:ext cx="555501" cy="237744"/>
          </a:xfrm>
          <a:prstGeom prst="roundRect">
            <a:avLst>
              <a:gd name="adj" fmla="val 50000"/>
            </a:avLst>
          </a:prstGeom>
          <a:solidFill>
            <a:srgbClr val="1428A0"/>
          </a:solidFill>
          <a:ln w="1270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1325136" y="3565016"/>
            <a:ext cx="458897" cy="185166"/>
          </a:xfrm>
          <a:prstGeom prst="rect">
            <a:avLst/>
          </a:prstGeom>
          <a:noFill/>
        </p:spPr>
        <p:txBody>
          <a:bodyPr wrap="none" anchor="t" lIns="0" rIns="0" tIns="0" bIns="0">
            <a:spAutoFit/>
          </a:bodyPr>
          <a:lstStyle/>
          <a:p>
            <a:pPr algn="ctr">
              <a:lnSpc>
                <a:spcPct val="125000"/>
              </a:lnSpc>
            </a:pPr>
            <a:r>
              <a:rPr sz="936" b="1">
                <a:solidFill>
                  <a:srgbClr val="FFFFFF"/>
                </a:solidFill>
                <a:latin typeface="Arial"/>
                <a:ea typeface="Arial"/>
              </a:rPr>
              <a:t>조건부</a:t>
            </a:r>
          </a:p>
        </p:txBody>
      </p:sp>
      <p:sp>
        <p:nvSpPr>
          <p:cNvPr id="69" name="TextBox 68"/>
          <p:cNvSpPr txBox="1"/>
          <p:nvPr/>
        </p:nvSpPr>
        <p:spPr>
          <a:xfrm>
            <a:off x="8732520" y="4110228"/>
            <a:ext cx="3338821" cy="265176"/>
          </a:xfrm>
          <a:prstGeom prst="rect">
            <a:avLst/>
          </a:prstGeom>
          <a:noFill/>
        </p:spPr>
        <p:txBody>
          <a:bodyPr wrap="none" anchor="t" lIns="0" rIns="0" tIns="0" bIns="0">
            <a:spAutoFit/>
          </a:bodyPr>
          <a:lstStyle/>
          <a:p>
            <a:pPr algn="l">
              <a:lnSpc>
                <a:spcPct val="125000"/>
              </a:lnSpc>
            </a:pPr>
            <a:r>
              <a:rPr sz="1439" b="1">
                <a:solidFill>
                  <a:srgbClr val="1428A0"/>
                </a:solidFill>
                <a:latin typeface="Arial"/>
                <a:ea typeface="Arial"/>
              </a:rPr>
              <a:t>WAF ≈3 → ≈1 · 유효 DWPD ×2.9</a:t>
            </a:r>
          </a:p>
        </p:txBody>
      </p:sp>
      <p:sp>
        <p:nvSpPr>
          <p:cNvPr id="70" name="TextBox 69"/>
          <p:cNvSpPr txBox="1"/>
          <p:nvPr/>
        </p:nvSpPr>
        <p:spPr>
          <a:xfrm>
            <a:off x="8732520" y="4415637"/>
            <a:ext cx="2971800" cy="202996"/>
          </a:xfrm>
          <a:prstGeom prst="rect">
            <a:avLst/>
          </a:prstGeom>
          <a:noFill/>
        </p:spPr>
        <p:txBody>
          <a:bodyPr wrap="none" anchor="t" lIns="0" rIns="0" tIns="0" bIns="0">
            <a:spAutoFit/>
          </a:bodyPr>
          <a:lstStyle/>
          <a:p>
            <a:pPr algn="l">
              <a:lnSpc>
                <a:spcPct val="130000"/>
              </a:lnSpc>
            </a:pPr>
            <a:r>
              <a:rPr sz="1008" b="0">
                <a:solidFill>
                  <a:srgbClr val="555555"/>
                </a:solidFill>
                <a:latin typeface="Arial"/>
                <a:ea typeface="Arial"/>
              </a:rPr>
              <a:t>호스트가 수명 지정 · KV 캐시 실측은 Phase 2</a:t>
            </a:r>
          </a:p>
        </p:txBody>
      </p:sp>
      <p:cxnSp>
        <p:nvCxnSpPr>
          <p:cNvPr id="71" name="Connector 70"/>
          <p:cNvCxnSpPr/>
          <p:nvPr/>
        </p:nvCxnSpPr>
        <p:spPr>
          <a:xfrm>
            <a:off x="1088136" y="6858000"/>
            <a:ext cx="10890504" cy="0"/>
          </a:xfrm>
          <a:prstGeom prst="line">
            <a:avLst/>
          </a:prstGeom>
          <a:ln w="19050">
            <a:solidFill>
              <a:srgbClr val="8A8A8A"/>
            </a:solidFill>
          </a:ln>
        </p:spPr>
        <p:style>
          <a:lnRef idx="2">
            <a:schemeClr val="accent1"/>
          </a:lnRef>
          <a:fillRef idx="0">
            <a:schemeClr val="accent1"/>
          </a:fillRef>
          <a:effectRef idx="1">
            <a:schemeClr val="accent1"/>
          </a:effectRef>
          <a:fontRef idx="minor">
            <a:schemeClr val="tx1"/>
          </a:fontRef>
        </p:style>
      </p:cxnSp>
      <p:sp>
        <p:nvSpPr>
          <p:cNvPr id="72" name="Rounded Rectangle 71"/>
          <p:cNvSpPr/>
          <p:nvPr/>
        </p:nvSpPr>
        <p:spPr>
          <a:xfrm>
            <a:off x="1088136" y="7388352"/>
            <a:ext cx="1078992" cy="402336"/>
          </a:xfrm>
          <a:prstGeom prst="roundRect">
            <a:avLst>
              <a:gd name="adj" fmla="val 9090"/>
            </a:avLst>
          </a:prstGeom>
          <a:solidFill>
            <a:srgbClr val="FFFFFF"/>
          </a:solidFill>
          <a:ln w="1524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1273937" y="7456932"/>
            <a:ext cx="707388" cy="265176"/>
          </a:xfrm>
          <a:prstGeom prst="rect">
            <a:avLst/>
          </a:prstGeom>
          <a:noFill/>
        </p:spPr>
        <p:txBody>
          <a:bodyPr wrap="none" anchor="t" lIns="0" rIns="0" tIns="0" bIns="0">
            <a:spAutoFit/>
          </a:bodyPr>
          <a:lstStyle/>
          <a:p>
            <a:pPr algn="ctr">
              <a:lnSpc>
                <a:spcPct val="125000"/>
              </a:lnSpc>
            </a:pPr>
            <a:r>
              <a:rPr sz="1439" b="1">
                <a:solidFill>
                  <a:srgbClr val="1A1A1A"/>
                </a:solidFill>
                <a:latin typeface="Arial"/>
                <a:ea typeface="Arial"/>
              </a:rPr>
              <a:t>DWPD</a:t>
            </a:r>
          </a:p>
        </p:txBody>
      </p:sp>
      <p:sp>
        <p:nvSpPr>
          <p:cNvPr id="74" name="TextBox 73"/>
          <p:cNvSpPr txBox="1"/>
          <p:nvPr/>
        </p:nvSpPr>
        <p:spPr>
          <a:xfrm>
            <a:off x="1269768" y="7862696"/>
            <a:ext cx="715726" cy="185166"/>
          </a:xfrm>
          <a:prstGeom prst="rect">
            <a:avLst/>
          </a:prstGeom>
          <a:noFill/>
        </p:spPr>
        <p:txBody>
          <a:bodyPr wrap="none" anchor="t" lIns="0" rIns="0" tIns="0" bIns="0">
            <a:spAutoFit/>
          </a:bodyPr>
          <a:lstStyle/>
          <a:p>
            <a:pPr algn="ctr">
              <a:lnSpc>
                <a:spcPct val="125000"/>
              </a:lnSpc>
            </a:pPr>
            <a:r>
              <a:rPr sz="936" b="0">
                <a:solidFill>
                  <a:srgbClr val="8A8A8A"/>
                </a:solidFill>
                <a:latin typeface="Arial"/>
                <a:ea typeface="Arial"/>
              </a:rPr>
              <a:t>요구 · 고객</a:t>
            </a:r>
          </a:p>
        </p:txBody>
      </p:sp>
      <p:sp>
        <p:nvSpPr>
          <p:cNvPr id="75" name="TextBox 74"/>
          <p:cNvSpPr txBox="1"/>
          <p:nvPr/>
        </p:nvSpPr>
        <p:spPr>
          <a:xfrm>
            <a:off x="2260052" y="7445502"/>
            <a:ext cx="216486" cy="288036"/>
          </a:xfrm>
          <a:prstGeom prst="rect">
            <a:avLst/>
          </a:prstGeom>
          <a:noFill/>
        </p:spPr>
        <p:txBody>
          <a:bodyPr wrap="none" anchor="t" lIns="0" rIns="0" tIns="0" bIns="0">
            <a:spAutoFit/>
          </a:bodyPr>
          <a:lstStyle/>
          <a:p>
            <a:pPr algn="ctr">
              <a:lnSpc>
                <a:spcPct val="125000"/>
              </a:lnSpc>
            </a:pPr>
            <a:r>
              <a:rPr sz="1584" b="0">
                <a:solidFill>
                  <a:srgbClr val="8A8A8A"/>
                </a:solidFill>
                <a:latin typeface="Arial"/>
                <a:ea typeface="Arial"/>
              </a:rPr>
              <a:t>=</a:t>
            </a:r>
          </a:p>
        </p:txBody>
      </p:sp>
      <p:sp>
        <p:nvSpPr>
          <p:cNvPr id="76" name="Rounded Rectangle 75"/>
          <p:cNvSpPr/>
          <p:nvPr/>
        </p:nvSpPr>
        <p:spPr>
          <a:xfrm>
            <a:off x="2532888" y="7388352"/>
            <a:ext cx="1078992" cy="402336"/>
          </a:xfrm>
          <a:prstGeom prst="roundRect">
            <a:avLst>
              <a:gd name="adj" fmla="val 9090"/>
            </a:avLst>
          </a:prstGeom>
          <a:solidFill>
            <a:srgbClr val="FFFFFF"/>
          </a:solidFill>
          <a:ln w="1524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2862387" y="7456932"/>
            <a:ext cx="419993" cy="265176"/>
          </a:xfrm>
          <a:prstGeom prst="rect">
            <a:avLst/>
          </a:prstGeom>
          <a:noFill/>
        </p:spPr>
        <p:txBody>
          <a:bodyPr wrap="none" anchor="t" lIns="0" rIns="0" tIns="0" bIns="0">
            <a:spAutoFit/>
          </a:bodyPr>
          <a:lstStyle/>
          <a:p>
            <a:pPr algn="ctr">
              <a:lnSpc>
                <a:spcPct val="125000"/>
              </a:lnSpc>
            </a:pPr>
            <a:r>
              <a:rPr sz="1439" b="1">
                <a:solidFill>
                  <a:srgbClr val="1A1A1A"/>
                </a:solidFill>
                <a:latin typeface="Arial"/>
                <a:ea typeface="Arial"/>
              </a:rPr>
              <a:t>P/E</a:t>
            </a:r>
          </a:p>
        </p:txBody>
      </p:sp>
      <p:sp>
        <p:nvSpPr>
          <p:cNvPr id="78" name="TextBox 77"/>
          <p:cNvSpPr txBox="1"/>
          <p:nvPr/>
        </p:nvSpPr>
        <p:spPr>
          <a:xfrm>
            <a:off x="2965421" y="7862696"/>
            <a:ext cx="213925" cy="185166"/>
          </a:xfrm>
          <a:prstGeom prst="rect">
            <a:avLst/>
          </a:prstGeom>
          <a:noFill/>
        </p:spPr>
        <p:txBody>
          <a:bodyPr wrap="none" anchor="t" lIns="0" rIns="0" tIns="0" bIns="0">
            <a:spAutoFit/>
          </a:bodyPr>
          <a:lstStyle/>
          <a:p>
            <a:pPr algn="ctr">
              <a:lnSpc>
                <a:spcPct val="125000"/>
              </a:lnSpc>
            </a:pPr>
            <a:r>
              <a:rPr sz="936" b="0">
                <a:solidFill>
                  <a:srgbClr val="8A8A8A"/>
                </a:solidFill>
                <a:latin typeface="Arial"/>
                <a:ea typeface="Arial"/>
              </a:rPr>
              <a:t>셀</a:t>
            </a:r>
          </a:p>
        </p:txBody>
      </p:sp>
      <p:sp>
        <p:nvSpPr>
          <p:cNvPr id="79" name="TextBox 78"/>
          <p:cNvSpPr txBox="1"/>
          <p:nvPr/>
        </p:nvSpPr>
        <p:spPr>
          <a:xfrm>
            <a:off x="3654673" y="7445502"/>
            <a:ext cx="316748" cy="288036"/>
          </a:xfrm>
          <a:prstGeom prst="rect">
            <a:avLst/>
          </a:prstGeom>
          <a:noFill/>
        </p:spPr>
        <p:txBody>
          <a:bodyPr wrap="none" anchor="t" lIns="0" rIns="0" tIns="0" bIns="0">
            <a:spAutoFit/>
          </a:bodyPr>
          <a:lstStyle/>
          <a:p>
            <a:pPr algn="ctr">
              <a:lnSpc>
                <a:spcPct val="125000"/>
              </a:lnSpc>
            </a:pPr>
            <a:r>
              <a:rPr sz="1584" b="0">
                <a:solidFill>
                  <a:srgbClr val="8A8A8A"/>
                </a:solidFill>
                <a:latin typeface="Arial"/>
                <a:ea typeface="Arial"/>
              </a:rPr>
              <a:t>×</a:t>
            </a:r>
          </a:p>
        </p:txBody>
      </p:sp>
      <p:sp>
        <p:nvSpPr>
          <p:cNvPr id="80" name="Rounded Rectangle 79"/>
          <p:cNvSpPr/>
          <p:nvPr/>
        </p:nvSpPr>
        <p:spPr>
          <a:xfrm>
            <a:off x="3977639" y="7388352"/>
            <a:ext cx="1078992" cy="402336"/>
          </a:xfrm>
          <a:prstGeom prst="roundRect">
            <a:avLst>
              <a:gd name="adj" fmla="val 9090"/>
            </a:avLst>
          </a:prstGeom>
          <a:solidFill>
            <a:srgbClr val="FFFFFF"/>
          </a:solidFill>
          <a:ln w="1524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4156896" y="7456932"/>
            <a:ext cx="720478" cy="265176"/>
          </a:xfrm>
          <a:prstGeom prst="rect">
            <a:avLst/>
          </a:prstGeom>
          <a:noFill/>
        </p:spPr>
        <p:txBody>
          <a:bodyPr wrap="none" anchor="t" lIns="0" rIns="0" tIns="0" bIns="0">
            <a:spAutoFit/>
          </a:bodyPr>
          <a:lstStyle/>
          <a:p>
            <a:pPr algn="ctr">
              <a:lnSpc>
                <a:spcPct val="125000"/>
              </a:lnSpc>
            </a:pPr>
            <a:r>
              <a:rPr sz="1439" b="1">
                <a:solidFill>
                  <a:srgbClr val="1A1A1A"/>
                </a:solidFill>
                <a:latin typeface="Arial"/>
                <a:ea typeface="Arial"/>
              </a:rPr>
              <a:t>1 + OP</a:t>
            </a:r>
          </a:p>
        </p:txBody>
      </p:sp>
      <p:sp>
        <p:nvSpPr>
          <p:cNvPr id="82" name="TextBox 81"/>
          <p:cNvSpPr txBox="1"/>
          <p:nvPr/>
        </p:nvSpPr>
        <p:spPr>
          <a:xfrm>
            <a:off x="4347276" y="7862696"/>
            <a:ext cx="339719" cy="185166"/>
          </a:xfrm>
          <a:prstGeom prst="rect">
            <a:avLst/>
          </a:prstGeom>
          <a:noFill/>
        </p:spPr>
        <p:txBody>
          <a:bodyPr wrap="none" anchor="t" lIns="0" rIns="0" tIns="0" bIns="0">
            <a:spAutoFit/>
          </a:bodyPr>
          <a:lstStyle/>
          <a:p>
            <a:pPr algn="ctr">
              <a:lnSpc>
                <a:spcPct val="125000"/>
              </a:lnSpc>
            </a:pPr>
            <a:r>
              <a:rPr sz="936" b="0">
                <a:solidFill>
                  <a:srgbClr val="8A8A8A"/>
                </a:solidFill>
                <a:latin typeface="Arial"/>
                <a:ea typeface="Arial"/>
              </a:rPr>
              <a:t>SSD</a:t>
            </a:r>
          </a:p>
        </p:txBody>
      </p:sp>
      <p:sp>
        <p:nvSpPr>
          <p:cNvPr id="83" name="TextBox 82"/>
          <p:cNvSpPr txBox="1"/>
          <p:nvPr/>
        </p:nvSpPr>
        <p:spPr>
          <a:xfrm>
            <a:off x="5099425" y="7445502"/>
            <a:ext cx="316748" cy="288036"/>
          </a:xfrm>
          <a:prstGeom prst="rect">
            <a:avLst/>
          </a:prstGeom>
          <a:noFill/>
        </p:spPr>
        <p:txBody>
          <a:bodyPr wrap="none" anchor="t" lIns="0" rIns="0" tIns="0" bIns="0">
            <a:spAutoFit/>
          </a:bodyPr>
          <a:lstStyle/>
          <a:p>
            <a:pPr algn="ctr">
              <a:lnSpc>
                <a:spcPct val="125000"/>
              </a:lnSpc>
            </a:pPr>
            <a:r>
              <a:rPr sz="1584" b="0">
                <a:solidFill>
                  <a:srgbClr val="8A8A8A"/>
                </a:solidFill>
                <a:latin typeface="Arial"/>
                <a:ea typeface="Arial"/>
              </a:rPr>
              <a:t>÷</a:t>
            </a:r>
          </a:p>
        </p:txBody>
      </p:sp>
      <p:sp>
        <p:nvSpPr>
          <p:cNvPr id="84" name="Rounded Rectangle 83"/>
          <p:cNvSpPr/>
          <p:nvPr/>
        </p:nvSpPr>
        <p:spPr>
          <a:xfrm>
            <a:off x="5422392" y="7388352"/>
            <a:ext cx="1078992" cy="402336"/>
          </a:xfrm>
          <a:prstGeom prst="roundRect">
            <a:avLst>
              <a:gd name="adj" fmla="val 9090"/>
            </a:avLst>
          </a:prstGeom>
          <a:solidFill>
            <a:srgbClr val="1428A0"/>
          </a:solidFill>
          <a:ln w="1524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5696908" y="7456932"/>
            <a:ext cx="529958" cy="265176"/>
          </a:xfrm>
          <a:prstGeom prst="rect">
            <a:avLst/>
          </a:prstGeom>
          <a:noFill/>
        </p:spPr>
        <p:txBody>
          <a:bodyPr wrap="none" anchor="t" lIns="0" rIns="0" tIns="0" bIns="0">
            <a:spAutoFit/>
          </a:bodyPr>
          <a:lstStyle/>
          <a:p>
            <a:pPr algn="ctr">
              <a:lnSpc>
                <a:spcPct val="125000"/>
              </a:lnSpc>
            </a:pPr>
            <a:r>
              <a:rPr sz="1439" b="1">
                <a:solidFill>
                  <a:srgbClr val="FFFFFF"/>
                </a:solidFill>
                <a:latin typeface="Arial"/>
                <a:ea typeface="Arial"/>
              </a:rPr>
              <a:t>WAF</a:t>
            </a:r>
          </a:p>
        </p:txBody>
      </p:sp>
      <p:sp>
        <p:nvSpPr>
          <p:cNvPr id="86" name="TextBox 85"/>
          <p:cNvSpPr txBox="1"/>
          <p:nvPr/>
        </p:nvSpPr>
        <p:spPr>
          <a:xfrm>
            <a:off x="5601559" y="7862696"/>
            <a:ext cx="720656" cy="185166"/>
          </a:xfrm>
          <a:prstGeom prst="rect">
            <a:avLst/>
          </a:prstGeom>
          <a:noFill/>
        </p:spPr>
        <p:txBody>
          <a:bodyPr wrap="none" anchor="t" lIns="0" rIns="0" tIns="0" bIns="0">
            <a:spAutoFit/>
          </a:bodyPr>
          <a:lstStyle/>
          <a:p>
            <a:pPr algn="ctr">
              <a:lnSpc>
                <a:spcPct val="125000"/>
              </a:lnSpc>
            </a:pPr>
            <a:r>
              <a:rPr sz="936" b="1">
                <a:solidFill>
                  <a:srgbClr val="1428A0"/>
                </a:solidFill>
                <a:latin typeface="Arial"/>
                <a:ea typeface="Arial"/>
              </a:rPr>
              <a:t>호스트 · 앱</a:t>
            </a:r>
          </a:p>
        </p:txBody>
      </p:sp>
      <p:sp>
        <p:nvSpPr>
          <p:cNvPr id="87" name="TextBox 86"/>
          <p:cNvSpPr txBox="1"/>
          <p:nvPr/>
        </p:nvSpPr>
        <p:spPr>
          <a:xfrm>
            <a:off x="6544177" y="7445502"/>
            <a:ext cx="316748" cy="288036"/>
          </a:xfrm>
          <a:prstGeom prst="rect">
            <a:avLst/>
          </a:prstGeom>
          <a:noFill/>
        </p:spPr>
        <p:txBody>
          <a:bodyPr wrap="none" anchor="t" lIns="0" rIns="0" tIns="0" bIns="0">
            <a:spAutoFit/>
          </a:bodyPr>
          <a:lstStyle/>
          <a:p>
            <a:pPr algn="ctr">
              <a:lnSpc>
                <a:spcPct val="125000"/>
              </a:lnSpc>
            </a:pPr>
            <a:r>
              <a:rPr sz="1584" b="0">
                <a:solidFill>
                  <a:srgbClr val="8A8A8A"/>
                </a:solidFill>
                <a:latin typeface="Arial"/>
                <a:ea typeface="Arial"/>
              </a:rPr>
              <a:t>÷</a:t>
            </a:r>
          </a:p>
        </p:txBody>
      </p:sp>
      <p:sp>
        <p:nvSpPr>
          <p:cNvPr id="88" name="Rounded Rectangle 87"/>
          <p:cNvSpPr/>
          <p:nvPr/>
        </p:nvSpPr>
        <p:spPr>
          <a:xfrm>
            <a:off x="6867144" y="7388352"/>
            <a:ext cx="1092815" cy="402336"/>
          </a:xfrm>
          <a:prstGeom prst="roundRect">
            <a:avLst>
              <a:gd name="adj" fmla="val 9090"/>
            </a:avLst>
          </a:prstGeom>
          <a:solidFill>
            <a:srgbClr val="FFFFFF"/>
          </a:solidFill>
          <a:ln w="1524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6943426" y="7456932"/>
            <a:ext cx="940250" cy="265176"/>
          </a:xfrm>
          <a:prstGeom prst="rect">
            <a:avLst/>
          </a:prstGeom>
          <a:noFill/>
        </p:spPr>
        <p:txBody>
          <a:bodyPr wrap="none" anchor="t" lIns="0" rIns="0" tIns="0" bIns="0">
            <a:spAutoFit/>
          </a:bodyPr>
          <a:lstStyle/>
          <a:p>
            <a:pPr algn="ctr">
              <a:lnSpc>
                <a:spcPct val="125000"/>
              </a:lnSpc>
            </a:pPr>
            <a:r>
              <a:rPr sz="1439" b="1">
                <a:solidFill>
                  <a:srgbClr val="1A1A1A"/>
                </a:solidFill>
                <a:latin typeface="Arial"/>
                <a:ea typeface="Arial"/>
              </a:rPr>
              <a:t>365 × 년</a:t>
            </a:r>
          </a:p>
        </p:txBody>
      </p:sp>
      <p:sp>
        <p:nvSpPr>
          <p:cNvPr id="90" name="TextBox 89"/>
          <p:cNvSpPr txBox="1"/>
          <p:nvPr/>
        </p:nvSpPr>
        <p:spPr>
          <a:xfrm>
            <a:off x="6933202" y="7862696"/>
            <a:ext cx="960697" cy="185166"/>
          </a:xfrm>
          <a:prstGeom prst="rect">
            <a:avLst/>
          </a:prstGeom>
          <a:noFill/>
        </p:spPr>
        <p:txBody>
          <a:bodyPr wrap="none" anchor="t" lIns="0" rIns="0" tIns="0" bIns="0">
            <a:spAutoFit/>
          </a:bodyPr>
          <a:lstStyle/>
          <a:p>
            <a:pPr algn="ctr">
              <a:lnSpc>
                <a:spcPct val="125000"/>
              </a:lnSpc>
            </a:pPr>
            <a:r>
              <a:rPr sz="936" b="0">
                <a:solidFill>
                  <a:srgbClr val="8A8A8A"/>
                </a:solidFill>
                <a:latin typeface="Arial"/>
                <a:ea typeface="Arial"/>
              </a:rPr>
              <a:t>고객 · 보증연수</a:t>
            </a:r>
          </a:p>
        </p:txBody>
      </p:sp>
      <p:sp>
        <p:nvSpPr>
          <p:cNvPr id="91" name="Rounded Rectangle 90"/>
          <p:cNvSpPr/>
          <p:nvPr/>
        </p:nvSpPr>
        <p:spPr>
          <a:xfrm>
            <a:off x="8234279" y="7443216"/>
            <a:ext cx="1306594" cy="233172"/>
          </a:xfrm>
          <a:prstGeom prst="roundRect">
            <a:avLst>
              <a:gd name="adj" fmla="val 11764"/>
            </a:avLst>
          </a:prstGeom>
          <a:solidFill>
            <a:srgbClr val="1428A0"/>
          </a:solidFill>
          <a:ln w="1270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8297120" y="7455788"/>
            <a:ext cx="1180912" cy="208026"/>
          </a:xfrm>
          <a:prstGeom prst="rect">
            <a:avLst/>
          </a:prstGeom>
          <a:noFill/>
        </p:spPr>
        <p:txBody>
          <a:bodyPr wrap="none" anchor="t" lIns="0" rIns="0" tIns="0" bIns="0">
            <a:spAutoFit/>
          </a:bodyPr>
          <a:lstStyle/>
          <a:p>
            <a:pPr algn="ctr">
              <a:lnSpc>
                <a:spcPct val="125000"/>
              </a:lnSpc>
            </a:pPr>
            <a:r>
              <a:rPr sz="1080" b="1">
                <a:solidFill>
                  <a:srgbClr val="FFFFFF"/>
                </a:solidFill>
                <a:latin typeface="Arial"/>
                <a:ea typeface="Arial"/>
              </a:rPr>
              <a:t>잔여 변수 = WAF</a:t>
            </a:r>
          </a:p>
        </p:txBody>
      </p:sp>
      <p:sp>
        <p:nvSpPr>
          <p:cNvPr id="93" name="Rounded Rectangle 92"/>
          <p:cNvSpPr/>
          <p:nvPr/>
        </p:nvSpPr>
        <p:spPr>
          <a:xfrm>
            <a:off x="12335255" y="2743200"/>
            <a:ext cx="4864608" cy="5349240"/>
          </a:xfrm>
          <a:prstGeom prst="roundRect">
            <a:avLst>
              <a:gd name="adj" fmla="val 751"/>
            </a:avLst>
          </a:prstGeom>
          <a:solidFill>
            <a:srgbClr val="FFFFFF"/>
          </a:solidFill>
          <a:ln w="1905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12335255" y="2743200"/>
            <a:ext cx="4864608" cy="54864"/>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12499848" y="2884932"/>
            <a:ext cx="2156306" cy="265176"/>
          </a:xfrm>
          <a:prstGeom prst="rect">
            <a:avLst/>
          </a:prstGeom>
          <a:noFill/>
        </p:spPr>
        <p:txBody>
          <a:bodyPr wrap="none" anchor="t" lIns="0" rIns="0" tIns="0" bIns="0">
            <a:spAutoFit/>
          </a:bodyPr>
          <a:lstStyle/>
          <a:p>
            <a:pPr algn="l">
              <a:lnSpc>
                <a:spcPct val="125000"/>
              </a:lnSpc>
            </a:pPr>
            <a:r>
              <a:rPr sz="1439" b="1">
                <a:solidFill>
                  <a:srgbClr val="1428A0"/>
                </a:solidFill>
                <a:latin typeface="Arial"/>
                <a:ea typeface="Arial"/>
              </a:rPr>
              <a:t>WAF 실증 · 호스트 배치</a:t>
            </a:r>
          </a:p>
        </p:txBody>
      </p:sp>
      <p:sp>
        <p:nvSpPr>
          <p:cNvPr id="96" name="TextBox 95"/>
          <p:cNvSpPr txBox="1"/>
          <p:nvPr/>
        </p:nvSpPr>
        <p:spPr>
          <a:xfrm>
            <a:off x="14618984" y="2928365"/>
            <a:ext cx="744974" cy="196596"/>
          </a:xfrm>
          <a:prstGeom prst="rect">
            <a:avLst/>
          </a:prstGeom>
          <a:noFill/>
        </p:spPr>
        <p:txBody>
          <a:bodyPr wrap="none" anchor="t" lIns="0" rIns="0" tIns="0" bIns="0">
            <a:spAutoFit/>
          </a:bodyPr>
          <a:lstStyle/>
          <a:p>
            <a:pPr algn="l">
              <a:lnSpc>
                <a:spcPct val="125000"/>
              </a:lnSpc>
            </a:pPr>
            <a:r>
              <a:rPr sz="1008" b="0">
                <a:solidFill>
                  <a:srgbClr val="8A8A8A"/>
                </a:solidFill>
                <a:latin typeface="Arial"/>
                <a:ea typeface="Arial"/>
              </a:rPr>
              <a:t>≈3 → ≈1</a:t>
            </a:r>
          </a:p>
        </p:txBody>
      </p:sp>
      <p:cxnSp>
        <p:nvCxnSpPr>
          <p:cNvPr id="97" name="Connector 96"/>
          <p:cNvCxnSpPr/>
          <p:nvPr/>
        </p:nvCxnSpPr>
        <p:spPr>
          <a:xfrm>
            <a:off x="12701016" y="5212079"/>
            <a:ext cx="4133088"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98" name="Rounded Rectangle 97"/>
          <p:cNvSpPr/>
          <p:nvPr/>
        </p:nvSpPr>
        <p:spPr>
          <a:xfrm>
            <a:off x="12950952" y="3688080"/>
            <a:ext cx="402336" cy="1523999"/>
          </a:xfrm>
          <a:prstGeom prst="roundRect">
            <a:avLst>
              <a:gd name="adj" fmla="val 4545"/>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2998508" y="3480054"/>
            <a:ext cx="307223" cy="196596"/>
          </a:xfrm>
          <a:prstGeom prst="rect">
            <a:avLst/>
          </a:prstGeom>
          <a:noFill/>
        </p:spPr>
        <p:txBody>
          <a:bodyPr wrap="none" anchor="t" lIns="0" rIns="0" tIns="0" bIns="0">
            <a:spAutoFit/>
          </a:bodyPr>
          <a:lstStyle/>
          <a:p>
            <a:pPr algn="ctr">
              <a:lnSpc>
                <a:spcPct val="125000"/>
              </a:lnSpc>
            </a:pPr>
            <a:r>
              <a:rPr sz="1008" b="1">
                <a:solidFill>
                  <a:srgbClr val="1A1A1A"/>
                </a:solidFill>
                <a:latin typeface="Arial"/>
                <a:ea typeface="Arial"/>
              </a:rPr>
              <a:t>3.0</a:t>
            </a:r>
          </a:p>
        </p:txBody>
      </p:sp>
      <p:sp>
        <p:nvSpPr>
          <p:cNvPr id="100" name="Rounded Rectangle 99"/>
          <p:cNvSpPr/>
          <p:nvPr/>
        </p:nvSpPr>
        <p:spPr>
          <a:xfrm>
            <a:off x="13426440" y="4704079"/>
            <a:ext cx="402336" cy="507999"/>
          </a:xfrm>
          <a:prstGeom prst="roundRect">
            <a:avLst>
              <a:gd name="adj" fmla="val 4545"/>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3473996" y="4496054"/>
            <a:ext cx="307223" cy="196596"/>
          </a:xfrm>
          <a:prstGeom prst="rect">
            <a:avLst/>
          </a:prstGeom>
          <a:noFill/>
        </p:spPr>
        <p:txBody>
          <a:bodyPr wrap="none" anchor="t" lIns="0" rIns="0" tIns="0" bIns="0">
            <a:spAutoFit/>
          </a:bodyPr>
          <a:lstStyle/>
          <a:p>
            <a:pPr algn="ctr">
              <a:lnSpc>
                <a:spcPct val="125000"/>
              </a:lnSpc>
            </a:pPr>
            <a:r>
              <a:rPr sz="1008" b="1">
                <a:solidFill>
                  <a:srgbClr val="1428A0"/>
                </a:solidFill>
                <a:latin typeface="Arial"/>
                <a:ea typeface="Arial"/>
              </a:rPr>
              <a:t>1.0</a:t>
            </a:r>
          </a:p>
        </p:txBody>
      </p:sp>
      <p:sp>
        <p:nvSpPr>
          <p:cNvPr id="102" name="TextBox 101"/>
          <p:cNvSpPr txBox="1"/>
          <p:nvPr/>
        </p:nvSpPr>
        <p:spPr>
          <a:xfrm>
            <a:off x="13064265" y="5278374"/>
            <a:ext cx="651196" cy="196596"/>
          </a:xfrm>
          <a:prstGeom prst="rect">
            <a:avLst/>
          </a:prstGeom>
          <a:noFill/>
        </p:spPr>
        <p:txBody>
          <a:bodyPr wrap="none" anchor="t" lIns="0" rIns="0" tIns="0" bIns="0">
            <a:spAutoFit/>
          </a:bodyPr>
          <a:lstStyle/>
          <a:p>
            <a:pPr algn="ctr">
              <a:lnSpc>
                <a:spcPct val="125000"/>
              </a:lnSpc>
            </a:pPr>
            <a:r>
              <a:rPr sz="1008" b="0">
                <a:solidFill>
                  <a:srgbClr val="1A1A1A"/>
                </a:solidFill>
                <a:latin typeface="Arial"/>
                <a:ea typeface="Arial"/>
              </a:rPr>
              <a:t>범용 랜덤</a:t>
            </a:r>
          </a:p>
        </p:txBody>
      </p:sp>
      <p:sp>
        <p:nvSpPr>
          <p:cNvPr id="103" name="Rounded Rectangle 102"/>
          <p:cNvSpPr/>
          <p:nvPr/>
        </p:nvSpPr>
        <p:spPr>
          <a:xfrm>
            <a:off x="14328648" y="3576320"/>
            <a:ext cx="402336" cy="1635759"/>
          </a:xfrm>
          <a:prstGeom prst="roundRect">
            <a:avLst>
              <a:gd name="adj" fmla="val 4545"/>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14333907" y="3368294"/>
            <a:ext cx="391816" cy="196596"/>
          </a:xfrm>
          <a:prstGeom prst="rect">
            <a:avLst/>
          </a:prstGeom>
          <a:noFill/>
        </p:spPr>
        <p:txBody>
          <a:bodyPr wrap="none" anchor="t" lIns="0" rIns="0" tIns="0" bIns="0">
            <a:spAutoFit/>
          </a:bodyPr>
          <a:lstStyle/>
          <a:p>
            <a:pPr algn="ctr">
              <a:lnSpc>
                <a:spcPct val="125000"/>
              </a:lnSpc>
            </a:pPr>
            <a:r>
              <a:rPr sz="1008" b="1">
                <a:solidFill>
                  <a:srgbClr val="1A1A1A"/>
                </a:solidFill>
                <a:latin typeface="Arial"/>
                <a:ea typeface="Arial"/>
              </a:rPr>
              <a:t>3.22</a:t>
            </a:r>
          </a:p>
        </p:txBody>
      </p:sp>
      <p:sp>
        <p:nvSpPr>
          <p:cNvPr id="105" name="Rounded Rectangle 104"/>
          <p:cNvSpPr/>
          <p:nvPr/>
        </p:nvSpPr>
        <p:spPr>
          <a:xfrm>
            <a:off x="14804136" y="4688840"/>
            <a:ext cx="402336" cy="523240"/>
          </a:xfrm>
          <a:prstGeom prst="roundRect">
            <a:avLst>
              <a:gd name="adj" fmla="val 4545"/>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14809395" y="4480814"/>
            <a:ext cx="391816" cy="196596"/>
          </a:xfrm>
          <a:prstGeom prst="rect">
            <a:avLst/>
          </a:prstGeom>
          <a:noFill/>
        </p:spPr>
        <p:txBody>
          <a:bodyPr wrap="none" anchor="t" lIns="0" rIns="0" tIns="0" bIns="0">
            <a:spAutoFit/>
          </a:bodyPr>
          <a:lstStyle/>
          <a:p>
            <a:pPr algn="ctr">
              <a:lnSpc>
                <a:spcPct val="125000"/>
              </a:lnSpc>
            </a:pPr>
            <a:r>
              <a:rPr sz="1008" b="1">
                <a:solidFill>
                  <a:srgbClr val="1428A0"/>
                </a:solidFill>
                <a:latin typeface="Arial"/>
                <a:ea typeface="Arial"/>
              </a:rPr>
              <a:t>1.03</a:t>
            </a:r>
          </a:p>
        </p:txBody>
      </p:sp>
      <p:sp>
        <p:nvSpPr>
          <p:cNvPr id="107" name="TextBox 106"/>
          <p:cNvSpPr txBox="1"/>
          <p:nvPr/>
        </p:nvSpPr>
        <p:spPr>
          <a:xfrm>
            <a:off x="14413006" y="5278374"/>
            <a:ext cx="709107" cy="196596"/>
          </a:xfrm>
          <a:prstGeom prst="rect">
            <a:avLst/>
          </a:prstGeom>
          <a:noFill/>
        </p:spPr>
        <p:txBody>
          <a:bodyPr wrap="none" anchor="t" lIns="0" rIns="0" tIns="0" bIns="0">
            <a:spAutoFit/>
          </a:bodyPr>
          <a:lstStyle/>
          <a:p>
            <a:pPr algn="ctr">
              <a:lnSpc>
                <a:spcPct val="125000"/>
              </a:lnSpc>
            </a:pPr>
            <a:r>
              <a:rPr sz="1008" b="0">
                <a:solidFill>
                  <a:srgbClr val="1A1A1A"/>
                </a:solidFill>
                <a:latin typeface="Arial"/>
                <a:ea typeface="Arial"/>
              </a:rPr>
              <a:t>CacheLib</a:t>
            </a:r>
          </a:p>
        </p:txBody>
      </p:sp>
      <p:sp>
        <p:nvSpPr>
          <p:cNvPr id="108" name="Rounded Rectangle 107"/>
          <p:cNvSpPr/>
          <p:nvPr/>
        </p:nvSpPr>
        <p:spPr>
          <a:xfrm>
            <a:off x="15706344" y="3688080"/>
            <a:ext cx="402336" cy="1523999"/>
          </a:xfrm>
          <a:prstGeom prst="roundRect">
            <a:avLst>
              <a:gd name="adj" fmla="val 4545"/>
            </a:avLst>
          </a:prstGeom>
          <a:noFill/>
          <a:ln w="1524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ounded Rectangle 108"/>
          <p:cNvSpPr/>
          <p:nvPr/>
        </p:nvSpPr>
        <p:spPr>
          <a:xfrm>
            <a:off x="16181831" y="4704079"/>
            <a:ext cx="402336" cy="507999"/>
          </a:xfrm>
          <a:prstGeom prst="roundRect">
            <a:avLst>
              <a:gd name="adj" fmla="val 4545"/>
            </a:avLst>
          </a:prstGeom>
          <a:noFill/>
          <a:ln w="15240">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15723685" y="3467481"/>
            <a:ext cx="843141" cy="185166"/>
          </a:xfrm>
          <a:prstGeom prst="rect">
            <a:avLst/>
          </a:prstGeom>
          <a:noFill/>
        </p:spPr>
        <p:txBody>
          <a:bodyPr wrap="none" anchor="t" lIns="0" rIns="0" tIns="0" bIns="0">
            <a:spAutoFit/>
          </a:bodyPr>
          <a:lstStyle/>
          <a:p>
            <a:pPr algn="ctr">
              <a:lnSpc>
                <a:spcPct val="125000"/>
              </a:lnSpc>
            </a:pPr>
            <a:r>
              <a:rPr sz="936" b="1">
                <a:solidFill>
                  <a:srgbClr val="1428A0"/>
                </a:solidFill>
                <a:latin typeface="Arial"/>
                <a:ea typeface="Arial"/>
              </a:rPr>
              <a:t>미실측 · 가설</a:t>
            </a:r>
          </a:p>
        </p:txBody>
      </p:sp>
      <p:sp>
        <p:nvSpPr>
          <p:cNvPr id="111" name="TextBox 110"/>
          <p:cNvSpPr txBox="1"/>
          <p:nvPr/>
        </p:nvSpPr>
        <p:spPr>
          <a:xfrm>
            <a:off x="15865045" y="5278374"/>
            <a:ext cx="560420" cy="196596"/>
          </a:xfrm>
          <a:prstGeom prst="rect">
            <a:avLst/>
          </a:prstGeom>
          <a:noFill/>
        </p:spPr>
        <p:txBody>
          <a:bodyPr wrap="none" anchor="t" lIns="0" rIns="0" tIns="0" bIns="0">
            <a:spAutoFit/>
          </a:bodyPr>
          <a:lstStyle/>
          <a:p>
            <a:pPr algn="ctr">
              <a:lnSpc>
                <a:spcPct val="125000"/>
              </a:lnSpc>
            </a:pPr>
            <a:r>
              <a:rPr sz="1008" b="0">
                <a:solidFill>
                  <a:srgbClr val="1A1A1A"/>
                </a:solidFill>
                <a:latin typeface="Arial"/>
                <a:ea typeface="Arial"/>
              </a:rPr>
              <a:t>KV 캐시</a:t>
            </a:r>
          </a:p>
        </p:txBody>
      </p:sp>
      <p:sp>
        <p:nvSpPr>
          <p:cNvPr id="112" name="TextBox 111"/>
          <p:cNvSpPr txBox="1"/>
          <p:nvPr/>
        </p:nvSpPr>
        <p:spPr>
          <a:xfrm>
            <a:off x="12701016" y="3180969"/>
            <a:ext cx="362768" cy="185166"/>
          </a:xfrm>
          <a:prstGeom prst="rect">
            <a:avLst/>
          </a:prstGeom>
          <a:noFill/>
        </p:spPr>
        <p:txBody>
          <a:bodyPr wrap="none" anchor="t" lIns="0" rIns="0" tIns="0" bIns="0">
            <a:spAutoFit/>
          </a:bodyPr>
          <a:lstStyle/>
          <a:p>
            <a:pPr algn="l">
              <a:lnSpc>
                <a:spcPct val="125000"/>
              </a:lnSpc>
            </a:pPr>
            <a:r>
              <a:rPr sz="936" b="0">
                <a:solidFill>
                  <a:srgbClr val="8A8A8A"/>
                </a:solidFill>
                <a:latin typeface="Arial"/>
                <a:ea typeface="Arial"/>
              </a:rPr>
              <a:t>WAF</a:t>
            </a:r>
          </a:p>
        </p:txBody>
      </p:sp>
      <p:sp>
        <p:nvSpPr>
          <p:cNvPr id="113" name="Rectangle 112"/>
          <p:cNvSpPr/>
          <p:nvPr/>
        </p:nvSpPr>
        <p:spPr>
          <a:xfrm>
            <a:off x="12701016" y="5577840"/>
            <a:ext cx="109728" cy="10972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12865608" y="5540121"/>
            <a:ext cx="614521" cy="185166"/>
          </a:xfrm>
          <a:prstGeom prst="rect">
            <a:avLst/>
          </a:prstGeom>
          <a:noFill/>
        </p:spPr>
        <p:txBody>
          <a:bodyPr wrap="none" anchor="t" lIns="0" rIns="0" tIns="0" bIns="0">
            <a:spAutoFit/>
          </a:bodyPr>
          <a:lstStyle/>
          <a:p>
            <a:pPr algn="l">
              <a:lnSpc>
                <a:spcPct val="125000"/>
              </a:lnSpc>
            </a:pPr>
            <a:r>
              <a:rPr sz="936" b="0">
                <a:solidFill>
                  <a:srgbClr val="555555"/>
                </a:solidFill>
                <a:latin typeface="Arial"/>
                <a:ea typeface="Arial"/>
              </a:rPr>
              <a:t>SSD 단독</a:t>
            </a:r>
          </a:p>
        </p:txBody>
      </p:sp>
      <p:sp>
        <p:nvSpPr>
          <p:cNvPr id="115" name="Rectangle 114"/>
          <p:cNvSpPr/>
          <p:nvPr/>
        </p:nvSpPr>
        <p:spPr>
          <a:xfrm>
            <a:off x="13615416" y="5577840"/>
            <a:ext cx="109728" cy="10972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13780008" y="5540121"/>
            <a:ext cx="733699" cy="185166"/>
          </a:xfrm>
          <a:prstGeom prst="rect">
            <a:avLst/>
          </a:prstGeom>
          <a:noFill/>
        </p:spPr>
        <p:txBody>
          <a:bodyPr wrap="none" anchor="t" lIns="0" rIns="0" tIns="0" bIns="0">
            <a:spAutoFit/>
          </a:bodyPr>
          <a:lstStyle/>
          <a:p>
            <a:pPr algn="l">
              <a:lnSpc>
                <a:spcPct val="125000"/>
              </a:lnSpc>
            </a:pPr>
            <a:r>
              <a:rPr sz="936" b="0">
                <a:solidFill>
                  <a:srgbClr val="555555"/>
                </a:solidFill>
                <a:latin typeface="Arial"/>
                <a:ea typeface="Arial"/>
              </a:rPr>
              <a:t>호스트 배치</a:t>
            </a:r>
          </a:p>
        </p:txBody>
      </p:sp>
      <p:sp>
        <p:nvSpPr>
          <p:cNvPr id="117" name="TextBox 116"/>
          <p:cNvSpPr txBox="1"/>
          <p:nvPr/>
        </p:nvSpPr>
        <p:spPr>
          <a:xfrm>
            <a:off x="12701016" y="5717286"/>
            <a:ext cx="1822616" cy="196596"/>
          </a:xfrm>
          <a:prstGeom prst="rect">
            <a:avLst/>
          </a:prstGeom>
          <a:noFill/>
        </p:spPr>
        <p:txBody>
          <a:bodyPr wrap="none" anchor="t" lIns="0" rIns="0" tIns="0" bIns="0">
            <a:spAutoFit/>
          </a:bodyPr>
          <a:lstStyle/>
          <a:p>
            <a:pPr algn="l">
              <a:lnSpc>
                <a:spcPct val="125000"/>
              </a:lnSpc>
            </a:pPr>
            <a:r>
              <a:rPr sz="1008" b="1">
                <a:solidFill>
                  <a:srgbClr val="1A1A1A"/>
                </a:solidFill>
                <a:latin typeface="Arial"/>
                <a:ea typeface="Arial"/>
              </a:rPr>
              <a:t>격차 축소 변수 · 모두 병행 중</a:t>
            </a:r>
          </a:p>
        </p:txBody>
      </p:sp>
      <p:sp>
        <p:nvSpPr>
          <p:cNvPr id="118" name="Rounded Rectangle 117"/>
          <p:cNvSpPr/>
          <p:nvPr/>
        </p:nvSpPr>
        <p:spPr>
          <a:xfrm>
            <a:off x="12701016" y="6016752"/>
            <a:ext cx="1126034" cy="217627"/>
          </a:xfrm>
          <a:prstGeom prst="roundRect">
            <a:avLst>
              <a:gd name="adj" fmla="val 12605"/>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12748235" y="6027267"/>
            <a:ext cx="1031595" cy="196596"/>
          </a:xfrm>
          <a:prstGeom prst="rect">
            <a:avLst/>
          </a:prstGeom>
          <a:noFill/>
        </p:spPr>
        <p:txBody>
          <a:bodyPr wrap="none" anchor="t" lIns="0" rIns="0" tIns="0" bIns="0">
            <a:spAutoFit/>
          </a:bodyPr>
          <a:lstStyle/>
          <a:p>
            <a:pPr algn="ctr">
              <a:lnSpc>
                <a:spcPct val="125000"/>
              </a:lnSpc>
            </a:pPr>
            <a:r>
              <a:rPr sz="1008" b="1">
                <a:solidFill>
                  <a:srgbClr val="1A1A1A"/>
                </a:solidFill>
                <a:latin typeface="Arial"/>
                <a:ea typeface="Arial"/>
              </a:rPr>
              <a:t>다이 세대 · P/E</a:t>
            </a:r>
          </a:p>
        </p:txBody>
      </p:sp>
      <p:sp>
        <p:nvSpPr>
          <p:cNvPr id="120" name="Rounded Rectangle 119"/>
          <p:cNvSpPr/>
          <p:nvPr/>
        </p:nvSpPr>
        <p:spPr>
          <a:xfrm>
            <a:off x="13900202" y="6016752"/>
            <a:ext cx="418136" cy="217627"/>
          </a:xfrm>
          <a:prstGeom prst="roundRect">
            <a:avLst>
              <a:gd name="adj" fmla="val 12605"/>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13960531" y="6027267"/>
            <a:ext cx="297478" cy="196596"/>
          </a:xfrm>
          <a:prstGeom prst="rect">
            <a:avLst/>
          </a:prstGeom>
          <a:noFill/>
        </p:spPr>
        <p:txBody>
          <a:bodyPr wrap="none" anchor="t" lIns="0" rIns="0" tIns="0" bIns="0">
            <a:spAutoFit/>
          </a:bodyPr>
          <a:lstStyle/>
          <a:p>
            <a:pPr algn="ctr">
              <a:lnSpc>
                <a:spcPct val="125000"/>
              </a:lnSpc>
            </a:pPr>
            <a:r>
              <a:rPr sz="1008" b="1">
                <a:solidFill>
                  <a:srgbClr val="1A1A1A"/>
                </a:solidFill>
                <a:latin typeface="Arial"/>
                <a:ea typeface="Arial"/>
              </a:rPr>
              <a:t>OP</a:t>
            </a:r>
          </a:p>
        </p:txBody>
      </p:sp>
      <p:sp>
        <p:nvSpPr>
          <p:cNvPr id="122" name="Rounded Rectangle 121"/>
          <p:cNvSpPr/>
          <p:nvPr/>
        </p:nvSpPr>
        <p:spPr>
          <a:xfrm>
            <a:off x="14391490" y="6016752"/>
            <a:ext cx="1441671" cy="217627"/>
          </a:xfrm>
          <a:prstGeom prst="roundRect">
            <a:avLst>
              <a:gd name="adj" fmla="val 12605"/>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14432865" y="6027267"/>
            <a:ext cx="1358923" cy="196596"/>
          </a:xfrm>
          <a:prstGeom prst="rect">
            <a:avLst/>
          </a:prstGeom>
          <a:noFill/>
        </p:spPr>
        <p:txBody>
          <a:bodyPr wrap="none" anchor="t" lIns="0" rIns="0" tIns="0" bIns="0">
            <a:spAutoFit/>
          </a:bodyPr>
          <a:lstStyle/>
          <a:p>
            <a:pPr algn="ctr">
              <a:lnSpc>
                <a:spcPct val="125000"/>
              </a:lnSpc>
            </a:pPr>
            <a:r>
              <a:rPr sz="1008" b="1">
                <a:solidFill>
                  <a:srgbClr val="1A1A1A"/>
                </a:solidFill>
                <a:latin typeface="Arial"/>
                <a:ea typeface="Arial"/>
              </a:rPr>
              <a:t>SLC 캐시 · 쓰기 정형</a:t>
            </a:r>
          </a:p>
        </p:txBody>
      </p:sp>
      <p:sp>
        <p:nvSpPr>
          <p:cNvPr id="124" name="Rounded Rectangle 123"/>
          <p:cNvSpPr/>
          <p:nvPr/>
        </p:nvSpPr>
        <p:spPr>
          <a:xfrm>
            <a:off x="12701016" y="6382512"/>
            <a:ext cx="1178831" cy="217627"/>
          </a:xfrm>
          <a:prstGeom prst="roundRect">
            <a:avLst>
              <a:gd name="adj" fmla="val 12605"/>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12747257" y="6393027"/>
            <a:ext cx="1086348" cy="196596"/>
          </a:xfrm>
          <a:prstGeom prst="rect">
            <a:avLst/>
          </a:prstGeom>
          <a:noFill/>
        </p:spPr>
        <p:txBody>
          <a:bodyPr wrap="none" anchor="t" lIns="0" rIns="0" tIns="0" bIns="0">
            <a:spAutoFit/>
          </a:bodyPr>
          <a:lstStyle/>
          <a:p>
            <a:pPr algn="ctr">
              <a:lnSpc>
                <a:spcPct val="125000"/>
              </a:lnSpc>
            </a:pPr>
            <a:r>
              <a:rPr sz="1008" b="1">
                <a:solidFill>
                  <a:srgbClr val="1A1A1A"/>
                </a:solidFill>
                <a:latin typeface="Arial"/>
                <a:ea typeface="Arial"/>
              </a:rPr>
              <a:t>보증연수 · TBW</a:t>
            </a:r>
          </a:p>
        </p:txBody>
      </p:sp>
      <p:sp>
        <p:nvSpPr>
          <p:cNvPr id="126" name="Rounded Rectangle 125"/>
          <p:cNvSpPr/>
          <p:nvPr/>
        </p:nvSpPr>
        <p:spPr>
          <a:xfrm>
            <a:off x="13952999" y="6382512"/>
            <a:ext cx="1141221" cy="217627"/>
          </a:xfrm>
          <a:prstGeom prst="roundRect">
            <a:avLst>
              <a:gd name="adj" fmla="val 12605"/>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13999938" y="6393027"/>
            <a:ext cx="1047345" cy="196596"/>
          </a:xfrm>
          <a:prstGeom prst="rect">
            <a:avLst/>
          </a:prstGeom>
          <a:noFill/>
        </p:spPr>
        <p:txBody>
          <a:bodyPr wrap="none" anchor="t" lIns="0" rIns="0" tIns="0" bIns="0">
            <a:spAutoFit/>
          </a:bodyPr>
          <a:lstStyle/>
          <a:p>
            <a:pPr algn="ctr">
              <a:lnSpc>
                <a:spcPct val="125000"/>
              </a:lnSpc>
            </a:pPr>
            <a:r>
              <a:rPr sz="1008" b="1">
                <a:solidFill>
                  <a:srgbClr val="1A1A1A"/>
                </a:solidFill>
                <a:latin typeface="Arial"/>
                <a:ea typeface="Arial"/>
              </a:rPr>
              <a:t>워크로드 재정의</a:t>
            </a:r>
          </a:p>
        </p:txBody>
      </p:sp>
      <p:sp>
        <p:nvSpPr>
          <p:cNvPr id="128" name="Rounded Rectangle 127"/>
          <p:cNvSpPr/>
          <p:nvPr/>
        </p:nvSpPr>
        <p:spPr>
          <a:xfrm>
            <a:off x="15167373" y="6382512"/>
            <a:ext cx="1327458" cy="217627"/>
          </a:xfrm>
          <a:prstGeom prst="roundRect">
            <a:avLst>
              <a:gd name="adj" fmla="val 12605"/>
            </a:avLst>
          </a:prstGeom>
          <a:solidFill>
            <a:srgbClr val="1428A0"/>
          </a:solidFill>
          <a:ln w="1270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15210862" y="6393027"/>
            <a:ext cx="1240479" cy="196596"/>
          </a:xfrm>
          <a:prstGeom prst="rect">
            <a:avLst/>
          </a:prstGeom>
          <a:noFill/>
        </p:spPr>
        <p:txBody>
          <a:bodyPr wrap="none" anchor="t" lIns="0" rIns="0" tIns="0" bIns="0">
            <a:spAutoFit/>
          </a:bodyPr>
          <a:lstStyle/>
          <a:p>
            <a:pPr algn="ctr">
              <a:lnSpc>
                <a:spcPct val="125000"/>
              </a:lnSpc>
            </a:pPr>
            <a:r>
              <a:rPr sz="1008" b="1">
                <a:solidFill>
                  <a:srgbClr val="FFFFFF"/>
                </a:solidFill>
                <a:latin typeface="Arial"/>
                <a:ea typeface="Arial"/>
              </a:rPr>
              <a:t>호스트 배치 · WAF</a:t>
            </a:r>
          </a:p>
        </p:txBody>
      </p:sp>
      <p:sp>
        <p:nvSpPr>
          <p:cNvPr id="130" name="TextBox 129"/>
          <p:cNvSpPr txBox="1"/>
          <p:nvPr/>
        </p:nvSpPr>
        <p:spPr>
          <a:xfrm>
            <a:off x="12701016" y="6887718"/>
            <a:ext cx="3448275" cy="196596"/>
          </a:xfrm>
          <a:prstGeom prst="rect">
            <a:avLst/>
          </a:prstGeom>
          <a:noFill/>
        </p:spPr>
        <p:txBody>
          <a:bodyPr wrap="none" anchor="t" lIns="0" rIns="0" tIns="0" bIns="0">
            <a:spAutoFit/>
          </a:bodyPr>
          <a:lstStyle/>
          <a:p>
            <a:pPr algn="l">
              <a:lnSpc>
                <a:spcPct val="125000"/>
              </a:lnSpc>
            </a:pPr>
            <a:r>
              <a:rPr sz="1008" b="0">
                <a:solidFill>
                  <a:srgbClr val="555555"/>
                </a:solidFill>
                <a:latin typeface="Arial"/>
                <a:ea typeface="Arial"/>
              </a:rPr>
              <a:t>호스트 배치 하나로는 2~10배 미해소 → 다른 변수와 결합</a:t>
            </a:r>
          </a:p>
        </p:txBody>
      </p:sp>
      <p:sp>
        <p:nvSpPr>
          <p:cNvPr id="131" name="Rectangle 130"/>
          <p:cNvSpPr/>
          <p:nvPr/>
        </p:nvSpPr>
        <p:spPr>
          <a:xfrm>
            <a:off x="722376" y="8467344"/>
            <a:ext cx="16843248" cy="82296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1133856" y="8467344"/>
            <a:ext cx="1463040" cy="822960"/>
          </a:xfrm>
          <a:prstGeom prst="rect">
            <a:avLst/>
          </a:prstGeom>
          <a:noFill/>
        </p:spPr>
        <p:txBody>
          <a:bodyPr wrap="square" anchor="ctr" lIns="0" rIns="0" tIns="0" bIns="0">
            <a:spAutoFit/>
          </a:bodyPr>
          <a:lstStyle/>
          <a:p>
            <a:pPr algn="l">
              <a:lnSpc>
                <a:spcPct val="112000"/>
              </a:lnSpc>
            </a:pPr>
            <a:r>
              <a:rPr sz="1800" b="0">
                <a:solidFill>
                  <a:srgbClr val="FFFFFF"/>
                </a:solidFill>
                <a:latin typeface="Arial"/>
                <a:ea typeface="Arial"/>
              </a:rPr>
              <a:t>결론</a:t>
            </a:r>
          </a:p>
        </p:txBody>
      </p:sp>
      <p:sp>
        <p:nvSpPr>
          <p:cNvPr id="133" name="TextBox 132"/>
          <p:cNvSpPr txBox="1"/>
          <p:nvPr/>
        </p:nvSpPr>
        <p:spPr>
          <a:xfrm>
            <a:off x="2551176" y="8467344"/>
            <a:ext cx="11905488" cy="822960"/>
          </a:xfrm>
          <a:prstGeom prst="rect">
            <a:avLst/>
          </a:prstGeom>
          <a:noFill/>
        </p:spPr>
        <p:txBody>
          <a:bodyPr wrap="square" anchor="ctr" lIns="0" rIns="0" tIns="0" bIns="0">
            <a:spAutoFit/>
          </a:bodyPr>
          <a:lstStyle/>
          <a:p>
            <a:pPr algn="l">
              <a:lnSpc>
                <a:spcPct val="108000"/>
              </a:lnSpc>
            </a:pPr>
            <a:r>
              <a:rPr sz="1600" b="1">
                <a:solidFill>
                  <a:srgbClr val="FFFFFF"/>
                </a:solidFill>
                <a:latin typeface="Arial"/>
                <a:ea typeface="Arial"/>
              </a:rPr>
              <a:t>잔여 변수 WAF는 SSD 밖 호스트가 결정하며, 병행 축과 결합하되 고객 협업과 새로운 역량을 요구합니다</a:t>
            </a:r>
          </a:p>
        </p:txBody>
      </p:sp>
      <p:sp>
        <p:nvSpPr>
          <p:cNvPr id="134" name="Rectangle 133"/>
          <p:cNvSpPr/>
          <p:nvPr/>
        </p:nvSpPr>
        <p:spPr>
          <a:xfrm>
            <a:off x="14822424" y="8577072"/>
            <a:ext cx="2468880" cy="603504"/>
          </a:xfrm>
          <a:prstGeom prst="rect">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14822424" y="8577072"/>
            <a:ext cx="54864" cy="6035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15023592" y="8577072"/>
            <a:ext cx="2176272" cy="603504"/>
          </a:xfrm>
          <a:prstGeom prst="rect">
            <a:avLst/>
          </a:prstGeom>
          <a:noFill/>
        </p:spPr>
        <p:txBody>
          <a:bodyPr wrap="square" anchor="ctr" lIns="0" rIns="0" tIns="0" bIns="0">
            <a:spAutoFit/>
          </a:bodyPr>
          <a:lstStyle/>
          <a:p>
            <a:pPr algn="l">
              <a:lnSpc>
                <a:spcPct val="100000"/>
              </a:lnSpc>
            </a:pPr>
            <a:r>
              <a:rPr sz="1050" b="0">
                <a:solidFill>
                  <a:srgbClr val="AAB8E8"/>
                </a:solidFill>
                <a:latin typeface="Arial"/>
                <a:ea typeface="Arial"/>
              </a:rPr>
              <a:t>다음 장 →</a:t>
            </a:r>
          </a:p>
          <a:p>
            <a:pPr algn="l">
              <a:lnSpc>
                <a:spcPct val="100000"/>
              </a:lnSpc>
            </a:pPr>
            <a:r>
              <a:rPr sz="1350" b="1">
                <a:solidFill>
                  <a:srgbClr val="FFFFFF"/>
                </a:solidFill>
                <a:latin typeface="Arial"/>
                <a:ea typeface="Arial"/>
              </a:rPr>
              <a:t>4장 역량</a:t>
            </a:r>
          </a:p>
        </p:txBody>
      </p:sp>
      <p:sp>
        <p:nvSpPr>
          <p:cNvPr id="137" name="TextBox 136"/>
          <p:cNvSpPr txBox="1"/>
          <p:nvPr/>
        </p:nvSpPr>
        <p:spPr>
          <a:xfrm>
            <a:off x="722376" y="9592056"/>
            <a:ext cx="14264640" cy="310896"/>
          </a:xfrm>
          <a:prstGeom prst="rect">
            <a:avLst/>
          </a:prstGeom>
          <a:noFill/>
        </p:spPr>
        <p:txBody>
          <a:bodyPr wrap="square" anchor="t" lIns="0" rIns="0" tIns="0" bIns="0">
            <a:spAutoFit/>
          </a:bodyPr>
          <a:lstStyle/>
          <a:p>
            <a:pPr algn="l">
              <a:lnSpc>
                <a:spcPct val="112000"/>
              </a:lnSpc>
            </a:pPr>
            <a:r>
              <a:rPr sz="1600" b="0">
                <a:solidFill>
                  <a:srgbClr val="555555"/>
                </a:solidFill>
                <a:latin typeface="Arial"/>
                <a:ea typeface="Arial"/>
              </a:rPr>
              <a:t>출처: 보고서 v2.0 부록 A · 덱 v5.2와 동일 수치</a:t>
            </a:r>
          </a:p>
        </p:txBody>
      </p:sp>
      <p:sp>
        <p:nvSpPr>
          <p:cNvPr id="138" name="TextBox 137"/>
          <p:cNvSpPr txBox="1"/>
          <p:nvPr/>
        </p:nvSpPr>
        <p:spPr>
          <a:xfrm>
            <a:off x="16047720" y="9592056"/>
            <a:ext cx="1517904" cy="310896"/>
          </a:xfrm>
          <a:prstGeom prst="rect">
            <a:avLst/>
          </a:prstGeom>
          <a:noFill/>
        </p:spPr>
        <p:txBody>
          <a:bodyPr wrap="square" anchor="t" lIns="0" rIns="0" tIns="0" bIns="0">
            <a:spAutoFit/>
          </a:bodyPr>
          <a:lstStyle/>
          <a:p>
            <a:pPr algn="r">
              <a:lnSpc>
                <a:spcPct val="112000"/>
              </a:lnSpc>
            </a:pPr>
            <a:r>
              <a:rPr sz="1800" b="0">
                <a:solidFill>
                  <a:srgbClr val="555555"/>
                </a:solidFill>
                <a:latin typeface="Arial"/>
                <a:ea typeface="Arial"/>
              </a:rPr>
              <a:t>04 / 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420624"/>
            <a:ext cx="5486400" cy="310896"/>
          </a:xfrm>
          <a:prstGeom prst="rect">
            <a:avLst/>
          </a:prstGeom>
          <a:noFill/>
        </p:spPr>
        <p:txBody>
          <a:bodyPr wrap="square" anchor="t" lIns="0" rIns="0" tIns="0" bIns="0">
            <a:spAutoFit/>
          </a:bodyPr>
          <a:lstStyle/>
          <a:p>
            <a:pPr algn="l">
              <a:lnSpc>
                <a:spcPct val="112000"/>
              </a:lnSpc>
            </a:pPr>
            <a:r>
              <a:rPr sz="1800" b="1">
                <a:solidFill>
                  <a:srgbClr val="1428A0"/>
                </a:solidFill>
                <a:latin typeface="Arial"/>
                <a:ea typeface="Arial"/>
              </a:rPr>
              <a:t>삼성전자 메모리사업부</a:t>
            </a:r>
          </a:p>
        </p:txBody>
      </p:sp>
      <p:sp>
        <p:nvSpPr>
          <p:cNvPr id="3" name="TextBox 2"/>
          <p:cNvSpPr txBox="1"/>
          <p:nvPr/>
        </p:nvSpPr>
        <p:spPr>
          <a:xfrm>
            <a:off x="12079224" y="420624"/>
            <a:ext cx="5486400" cy="310896"/>
          </a:xfrm>
          <a:prstGeom prst="rect">
            <a:avLst/>
          </a:prstGeom>
          <a:noFill/>
        </p:spPr>
        <p:txBody>
          <a:bodyPr wrap="square" anchor="t" lIns="0" rIns="0" tIns="0" bIns="0">
            <a:spAutoFit/>
          </a:bodyPr>
          <a:lstStyle/>
          <a:p>
            <a:pPr algn="r">
              <a:lnSpc>
                <a:spcPct val="112000"/>
              </a:lnSpc>
            </a:pPr>
            <a:r>
              <a:rPr sz="1800" b="0">
                <a:solidFill>
                  <a:srgbClr val="555555"/>
                </a:solidFill>
                <a:latin typeface="Arial"/>
                <a:ea typeface="Arial"/>
              </a:rPr>
              <a:t>[문서등급 표기]</a:t>
            </a:r>
          </a:p>
        </p:txBody>
      </p:sp>
      <p:sp>
        <p:nvSpPr>
          <p:cNvPr id="4" name="TextBox 3"/>
          <p:cNvSpPr txBox="1"/>
          <p:nvPr/>
        </p:nvSpPr>
        <p:spPr>
          <a:xfrm>
            <a:off x="722376" y="804672"/>
            <a:ext cx="2148840" cy="274320"/>
          </a:xfrm>
          <a:prstGeom prst="rect">
            <a:avLst/>
          </a:prstGeom>
          <a:noFill/>
        </p:spPr>
        <p:txBody>
          <a:bodyPr wrap="square" anchor="ctr" lIns="0" rIns="0" tIns="0" bIns="0">
            <a:spAutoFit/>
          </a:bodyPr>
          <a:lstStyle/>
          <a:p>
            <a:pPr algn="l">
              <a:lnSpc>
                <a:spcPct val="112000"/>
              </a:lnSpc>
            </a:pPr>
            <a:r>
              <a:rPr sz="1800" b="1">
                <a:solidFill>
                  <a:srgbClr val="1428A0"/>
                </a:solidFill>
                <a:latin typeface="Arial"/>
                <a:ea typeface="Arial"/>
              </a:rPr>
              <a:t>QLC eSSD 전략</a:t>
            </a:r>
          </a:p>
        </p:txBody>
      </p:sp>
      <p:sp>
        <p:nvSpPr>
          <p:cNvPr id="5" name="Rectangle 4"/>
          <p:cNvSpPr/>
          <p:nvPr/>
        </p:nvSpPr>
        <p:spPr>
          <a:xfrm>
            <a:off x="2871216" y="1124712"/>
            <a:ext cx="2357628"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871216"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71216"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1</a:t>
            </a:r>
          </a:p>
        </p:txBody>
      </p:sp>
      <p:sp>
        <p:nvSpPr>
          <p:cNvPr id="8" name="TextBox 7"/>
          <p:cNvSpPr txBox="1"/>
          <p:nvPr/>
        </p:nvSpPr>
        <p:spPr>
          <a:xfrm>
            <a:off x="3209544" y="804672"/>
            <a:ext cx="2001011"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문제  </a:t>
            </a:r>
            <a:r>
              <a:rPr sz="1200" b="0">
                <a:solidFill>
                  <a:srgbClr val="555555"/>
                </a:solidFill>
                <a:latin typeface="Arial"/>
                <a:ea typeface="Arial"/>
              </a:rPr>
              <a:t/>
            </a:r>
          </a:p>
        </p:txBody>
      </p:sp>
      <p:sp>
        <p:nvSpPr>
          <p:cNvPr id="9" name="Rectangle 8"/>
          <p:cNvSpPr/>
          <p:nvPr/>
        </p:nvSpPr>
        <p:spPr>
          <a:xfrm>
            <a:off x="5320284" y="1124712"/>
            <a:ext cx="2357628"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320284"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20284"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2</a:t>
            </a:r>
          </a:p>
        </p:txBody>
      </p:sp>
      <p:sp>
        <p:nvSpPr>
          <p:cNvPr id="12" name="TextBox 11"/>
          <p:cNvSpPr txBox="1"/>
          <p:nvPr/>
        </p:nvSpPr>
        <p:spPr>
          <a:xfrm>
            <a:off x="5658611" y="804672"/>
            <a:ext cx="2001011"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신뢰성  </a:t>
            </a:r>
            <a:r>
              <a:rPr sz="1200" b="0">
                <a:solidFill>
                  <a:srgbClr val="555555"/>
                </a:solidFill>
                <a:latin typeface="Arial"/>
                <a:ea typeface="Arial"/>
              </a:rPr>
              <a:t/>
            </a:r>
          </a:p>
        </p:txBody>
      </p:sp>
      <p:sp>
        <p:nvSpPr>
          <p:cNvPr id="13" name="Rectangle 12"/>
          <p:cNvSpPr/>
          <p:nvPr/>
        </p:nvSpPr>
        <p:spPr>
          <a:xfrm>
            <a:off x="7769351" y="1124712"/>
            <a:ext cx="2357628"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769351"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69351"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3</a:t>
            </a:r>
          </a:p>
        </p:txBody>
      </p:sp>
      <p:sp>
        <p:nvSpPr>
          <p:cNvPr id="16" name="TextBox 15"/>
          <p:cNvSpPr txBox="1"/>
          <p:nvPr/>
        </p:nvSpPr>
        <p:spPr>
          <a:xfrm>
            <a:off x="8107679" y="804672"/>
            <a:ext cx="2001011"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해법 사다리  </a:t>
            </a:r>
            <a:r>
              <a:rPr sz="1200" b="0">
                <a:solidFill>
                  <a:srgbClr val="555555"/>
                </a:solidFill>
                <a:latin typeface="Arial"/>
                <a:ea typeface="Arial"/>
              </a:rPr>
              <a:t/>
            </a:r>
          </a:p>
        </p:txBody>
      </p:sp>
      <p:sp>
        <p:nvSpPr>
          <p:cNvPr id="17" name="Rectangle 16"/>
          <p:cNvSpPr/>
          <p:nvPr/>
        </p:nvSpPr>
        <p:spPr>
          <a:xfrm>
            <a:off x="10218420" y="1124712"/>
            <a:ext cx="2357628"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218420" y="818388"/>
            <a:ext cx="246888" cy="246888"/>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218420" y="818388"/>
            <a:ext cx="246888" cy="246888"/>
          </a:xfrm>
          <a:prstGeom prst="rect">
            <a:avLst/>
          </a:prstGeom>
          <a:noFill/>
        </p:spPr>
        <p:txBody>
          <a:bodyPr wrap="square" anchor="ctr" lIns="0" rIns="0" tIns="0" bIns="0">
            <a:spAutoFit/>
          </a:bodyPr>
          <a:lstStyle/>
          <a:p>
            <a:pPr algn="ctr">
              <a:lnSpc>
                <a:spcPct val="112000"/>
              </a:lnSpc>
            </a:pPr>
            <a:r>
              <a:rPr sz="1100" b="1">
                <a:solidFill>
                  <a:srgbClr val="FFFFFF"/>
                </a:solidFill>
                <a:latin typeface="Arial"/>
                <a:ea typeface="Arial"/>
              </a:rPr>
              <a:t>4</a:t>
            </a:r>
          </a:p>
        </p:txBody>
      </p:sp>
      <p:sp>
        <p:nvSpPr>
          <p:cNvPr id="20" name="TextBox 19"/>
          <p:cNvSpPr txBox="1"/>
          <p:nvPr/>
        </p:nvSpPr>
        <p:spPr>
          <a:xfrm>
            <a:off x="10556748" y="804672"/>
            <a:ext cx="2001011" cy="274320"/>
          </a:xfrm>
          <a:prstGeom prst="rect">
            <a:avLst/>
          </a:prstGeom>
          <a:noFill/>
        </p:spPr>
        <p:txBody>
          <a:bodyPr wrap="square" anchor="ctr" lIns="0" rIns="0" tIns="0" bIns="0">
            <a:spAutoFit/>
          </a:bodyPr>
          <a:lstStyle/>
          <a:p>
            <a:pPr algn="l">
              <a:lnSpc>
                <a:spcPct val="112000"/>
              </a:lnSpc>
            </a:pPr>
            <a:r>
              <a:rPr sz="1300" b="1">
                <a:solidFill>
                  <a:srgbClr val="1428A0"/>
                </a:solidFill>
                <a:latin typeface="Arial"/>
                <a:ea typeface="Arial"/>
              </a:rPr>
              <a:t>역량  </a:t>
            </a:r>
            <a:r>
              <a:rPr sz="1200" b="0">
                <a:solidFill>
                  <a:srgbClr val="1428A0"/>
                </a:solidFill>
                <a:latin typeface="Arial"/>
                <a:ea typeface="Arial"/>
              </a:rPr>
              <a:t/>
            </a:r>
          </a:p>
        </p:txBody>
      </p:sp>
      <p:sp>
        <p:nvSpPr>
          <p:cNvPr id="21" name="Rectangle 20"/>
          <p:cNvSpPr/>
          <p:nvPr/>
        </p:nvSpPr>
        <p:spPr>
          <a:xfrm>
            <a:off x="12667488" y="1124712"/>
            <a:ext cx="2357628"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2667488"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667488"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5</a:t>
            </a:r>
          </a:p>
        </p:txBody>
      </p:sp>
      <p:sp>
        <p:nvSpPr>
          <p:cNvPr id="24" name="TextBox 23"/>
          <p:cNvSpPr txBox="1"/>
          <p:nvPr/>
        </p:nvSpPr>
        <p:spPr>
          <a:xfrm>
            <a:off x="13005816" y="804672"/>
            <a:ext cx="2001011"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실행  </a:t>
            </a:r>
            <a:r>
              <a:rPr sz="1200" b="0">
                <a:solidFill>
                  <a:srgbClr val="8A8A8A"/>
                </a:solidFill>
                <a:latin typeface="Arial"/>
                <a:ea typeface="Arial"/>
              </a:rPr>
              <a:t/>
            </a:r>
          </a:p>
        </p:txBody>
      </p:sp>
      <p:sp>
        <p:nvSpPr>
          <p:cNvPr id="25" name="Rectangle 24"/>
          <p:cNvSpPr/>
          <p:nvPr/>
        </p:nvSpPr>
        <p:spPr>
          <a:xfrm>
            <a:off x="15116556" y="1124712"/>
            <a:ext cx="2357628"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5116556"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116556"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6</a:t>
            </a:r>
          </a:p>
        </p:txBody>
      </p:sp>
      <p:sp>
        <p:nvSpPr>
          <p:cNvPr id="28" name="TextBox 27"/>
          <p:cNvSpPr txBox="1"/>
          <p:nvPr/>
        </p:nvSpPr>
        <p:spPr>
          <a:xfrm>
            <a:off x="15454884" y="804672"/>
            <a:ext cx="2001011"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보증 · SLA  </a:t>
            </a:r>
            <a:r>
              <a:rPr sz="1200" b="0">
                <a:solidFill>
                  <a:srgbClr val="8A8A8A"/>
                </a:solidFill>
                <a:latin typeface="Arial"/>
                <a:ea typeface="Arial"/>
              </a:rPr>
              <a:t/>
            </a:r>
          </a:p>
        </p:txBody>
      </p:sp>
      <p:sp>
        <p:nvSpPr>
          <p:cNvPr id="29" name="TextBox 28"/>
          <p:cNvSpPr txBox="1"/>
          <p:nvPr/>
        </p:nvSpPr>
        <p:spPr>
          <a:xfrm>
            <a:off x="722376" y="1216152"/>
            <a:ext cx="16843248" cy="566928"/>
          </a:xfrm>
          <a:prstGeom prst="rect">
            <a:avLst/>
          </a:prstGeom>
          <a:noFill/>
        </p:spPr>
        <p:txBody>
          <a:bodyPr wrap="square" anchor="t" lIns="0" rIns="0" tIns="0" bIns="0">
            <a:spAutoFit/>
          </a:bodyPr>
          <a:lstStyle/>
          <a:p>
            <a:pPr algn="l">
              <a:lnSpc>
                <a:spcPct val="112000"/>
              </a:lnSpc>
            </a:pPr>
            <a:r>
              <a:rPr sz="3000" b="1">
                <a:solidFill>
                  <a:srgbClr val="1A1A1A"/>
                </a:solidFill>
                <a:latin typeface="Arial"/>
                <a:ea typeface="Arial"/>
              </a:rPr>
              <a:t>따라서 WAF 저감은 고객 시스템까지 3단계 공동 설계 역량을 요구하며, 삼성은 현재 1단계입니다</a:t>
            </a:r>
          </a:p>
        </p:txBody>
      </p:sp>
      <p:sp>
        <p:nvSpPr>
          <p:cNvPr id="30" name="TextBox 29"/>
          <p:cNvSpPr txBox="1"/>
          <p:nvPr/>
        </p:nvSpPr>
        <p:spPr>
          <a:xfrm>
            <a:off x="722376" y="1865376"/>
            <a:ext cx="16843248" cy="402336"/>
          </a:xfrm>
          <a:prstGeom prst="rect">
            <a:avLst/>
          </a:prstGeom>
          <a:noFill/>
        </p:spPr>
        <p:txBody>
          <a:bodyPr wrap="square" anchor="t" lIns="0" rIns="0" tIns="0" bIns="0">
            <a:spAutoFit/>
          </a:bodyPr>
          <a:lstStyle/>
          <a:p>
            <a:pPr algn="l">
              <a:lnSpc>
                <a:spcPct val="112000"/>
              </a:lnSpc>
            </a:pPr>
            <a:r>
              <a:rPr sz="1800" b="0">
                <a:solidFill>
                  <a:srgbClr val="1A1A1A"/>
                </a:solidFill>
                <a:latin typeface="Arial"/>
                <a:ea typeface="Arial"/>
              </a:rPr>
              <a:t>「승부는 칩을 많이 파는 기업이 아니라, 고객의 아키텍처 안으로 들어가 수요를 함께 설계하는 기업이 가져간다」</a:t>
            </a:r>
            <a:r>
              <a:rPr sz="1350" b="0">
                <a:solidFill>
                  <a:srgbClr val="8A8A8A"/>
                </a:solidFill>
                <a:latin typeface="Arial"/>
                <a:ea typeface="Arial"/>
              </a:rPr>
              <a:t>   신문섭 · Bain 파트너, 2026-06</a:t>
            </a:r>
          </a:p>
        </p:txBody>
      </p:sp>
      <p:sp>
        <p:nvSpPr>
          <p:cNvPr id="31" name="Rectangle 30"/>
          <p:cNvSpPr/>
          <p:nvPr/>
        </p:nvSpPr>
        <p:spPr>
          <a:xfrm>
            <a:off x="722376" y="2395728"/>
            <a:ext cx="16843248" cy="12801"/>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1088136" y="2706624"/>
            <a:ext cx="3904487" cy="585216"/>
          </a:xfrm>
          <a:prstGeom prst="roundRect">
            <a:avLst>
              <a:gd name="adj" fmla="val 625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252728" y="2832353"/>
            <a:ext cx="964816" cy="333756"/>
          </a:xfrm>
          <a:prstGeom prst="rect">
            <a:avLst/>
          </a:prstGeom>
          <a:noFill/>
        </p:spPr>
        <p:txBody>
          <a:bodyPr wrap="none" anchor="t" lIns="0" rIns="0" tIns="0" bIns="0">
            <a:spAutoFit/>
          </a:bodyPr>
          <a:lstStyle/>
          <a:p>
            <a:pPr algn="l">
              <a:lnSpc>
                <a:spcPct val="125000"/>
              </a:lnSpc>
            </a:pPr>
            <a:r>
              <a:rPr sz="1872" b="1">
                <a:solidFill>
                  <a:srgbClr val="1428A0"/>
                </a:solidFill>
                <a:latin typeface="Arial"/>
                <a:ea typeface="Arial"/>
              </a:rPr>
              <a:t>2~10배</a:t>
            </a:r>
          </a:p>
        </p:txBody>
      </p:sp>
      <p:sp>
        <p:nvSpPr>
          <p:cNvPr id="34" name="TextBox 33"/>
          <p:cNvSpPr txBox="1"/>
          <p:nvPr/>
        </p:nvSpPr>
        <p:spPr>
          <a:xfrm>
            <a:off x="2259504" y="2910077"/>
            <a:ext cx="783104" cy="196596"/>
          </a:xfrm>
          <a:prstGeom prst="rect">
            <a:avLst/>
          </a:prstGeom>
          <a:noFill/>
        </p:spPr>
        <p:txBody>
          <a:bodyPr wrap="none" anchor="t" lIns="0" rIns="0" tIns="0" bIns="0">
            <a:spAutoFit/>
          </a:bodyPr>
          <a:lstStyle/>
          <a:p>
            <a:pPr algn="l">
              <a:lnSpc>
                <a:spcPct val="125000"/>
              </a:lnSpc>
            </a:pPr>
            <a:r>
              <a:rPr sz="1008" b="0">
                <a:solidFill>
                  <a:srgbClr val="555555"/>
                </a:solidFill>
                <a:latin typeface="Arial"/>
                <a:ea typeface="Arial"/>
              </a:rPr>
              <a:t>내구성 격차</a:t>
            </a:r>
          </a:p>
        </p:txBody>
      </p:sp>
      <p:sp>
        <p:nvSpPr>
          <p:cNvPr id="35" name="Rounded Rectangle 34"/>
          <p:cNvSpPr/>
          <p:nvPr/>
        </p:nvSpPr>
        <p:spPr>
          <a:xfrm>
            <a:off x="5157216" y="2706624"/>
            <a:ext cx="3904487" cy="585216"/>
          </a:xfrm>
          <a:prstGeom prst="roundRect">
            <a:avLst>
              <a:gd name="adj" fmla="val 625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321808" y="2832353"/>
            <a:ext cx="650613" cy="333756"/>
          </a:xfrm>
          <a:prstGeom prst="rect">
            <a:avLst/>
          </a:prstGeom>
          <a:noFill/>
        </p:spPr>
        <p:txBody>
          <a:bodyPr wrap="none" anchor="t" lIns="0" rIns="0" tIns="0" bIns="0">
            <a:spAutoFit/>
          </a:bodyPr>
          <a:lstStyle/>
          <a:p>
            <a:pPr algn="l">
              <a:lnSpc>
                <a:spcPct val="125000"/>
              </a:lnSpc>
            </a:pPr>
            <a:r>
              <a:rPr sz="1872" b="1">
                <a:solidFill>
                  <a:srgbClr val="1428A0"/>
                </a:solidFill>
                <a:latin typeface="Arial"/>
                <a:ea typeface="Arial"/>
              </a:rPr>
              <a:t>25배</a:t>
            </a:r>
          </a:p>
        </p:txBody>
      </p:sp>
      <p:sp>
        <p:nvSpPr>
          <p:cNvPr id="37" name="TextBox 36"/>
          <p:cNvSpPr txBox="1"/>
          <p:nvPr/>
        </p:nvSpPr>
        <p:spPr>
          <a:xfrm>
            <a:off x="6025603" y="2910077"/>
            <a:ext cx="2021754" cy="196596"/>
          </a:xfrm>
          <a:prstGeom prst="rect">
            <a:avLst/>
          </a:prstGeom>
          <a:noFill/>
        </p:spPr>
        <p:txBody>
          <a:bodyPr wrap="none" anchor="t" lIns="0" rIns="0" tIns="0" bIns="0">
            <a:spAutoFit/>
          </a:bodyPr>
          <a:lstStyle/>
          <a:p>
            <a:pPr algn="l">
              <a:lnSpc>
                <a:spcPct val="125000"/>
              </a:lnSpc>
            </a:pPr>
            <a:r>
              <a:rPr sz="1008" b="0">
                <a:solidFill>
                  <a:srgbClr val="555555"/>
                </a:solidFill>
                <a:latin typeface="Arial"/>
                <a:ea typeface="Arial"/>
              </a:rPr>
              <a:t>스트림 격차 · RUH 2~8 vs 200+</a:t>
            </a:r>
          </a:p>
        </p:txBody>
      </p:sp>
      <p:sp>
        <p:nvSpPr>
          <p:cNvPr id="38" name="Rounded Rectangle 37"/>
          <p:cNvSpPr/>
          <p:nvPr/>
        </p:nvSpPr>
        <p:spPr>
          <a:xfrm>
            <a:off x="9226296" y="2706624"/>
            <a:ext cx="3904487" cy="585216"/>
          </a:xfrm>
          <a:prstGeom prst="roundRect">
            <a:avLst>
              <a:gd name="adj" fmla="val 625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390888" y="2832353"/>
            <a:ext cx="629603" cy="333756"/>
          </a:xfrm>
          <a:prstGeom prst="rect">
            <a:avLst/>
          </a:prstGeom>
          <a:noFill/>
        </p:spPr>
        <p:txBody>
          <a:bodyPr wrap="none" anchor="t" lIns="0" rIns="0" tIns="0" bIns="0">
            <a:spAutoFit/>
          </a:bodyPr>
          <a:lstStyle/>
          <a:p>
            <a:pPr algn="l">
              <a:lnSpc>
                <a:spcPct val="125000"/>
              </a:lnSpc>
            </a:pPr>
            <a:r>
              <a:rPr sz="1872" b="1">
                <a:solidFill>
                  <a:srgbClr val="1428A0"/>
                </a:solidFill>
                <a:latin typeface="Arial"/>
                <a:ea typeface="Arial"/>
              </a:rPr>
              <a:t>1 / 4</a:t>
            </a:r>
          </a:p>
        </p:txBody>
      </p:sp>
      <p:sp>
        <p:nvSpPr>
          <p:cNvPr id="40" name="TextBox 39"/>
          <p:cNvSpPr txBox="1"/>
          <p:nvPr/>
        </p:nvSpPr>
        <p:spPr>
          <a:xfrm>
            <a:off x="10074423" y="2910077"/>
            <a:ext cx="1834512" cy="196596"/>
          </a:xfrm>
          <a:prstGeom prst="rect">
            <a:avLst/>
          </a:prstGeom>
          <a:noFill/>
        </p:spPr>
        <p:txBody>
          <a:bodyPr wrap="none" anchor="t" lIns="0" rIns="0" tIns="0" bIns="0">
            <a:spAutoFit/>
          </a:bodyPr>
          <a:lstStyle/>
          <a:p>
            <a:pPr algn="l">
              <a:lnSpc>
                <a:spcPct val="125000"/>
              </a:lnSpc>
            </a:pPr>
            <a:r>
              <a:rPr sz="1008" b="0">
                <a:solidFill>
                  <a:srgbClr val="555555"/>
                </a:solidFill>
                <a:latin typeface="Arial"/>
                <a:ea typeface="Arial"/>
              </a:rPr>
              <a:t>접점 시작 · LMCache만 FDP</a:t>
            </a:r>
          </a:p>
        </p:txBody>
      </p:sp>
      <p:sp>
        <p:nvSpPr>
          <p:cNvPr id="41" name="Rounded Rectangle 40"/>
          <p:cNvSpPr/>
          <p:nvPr/>
        </p:nvSpPr>
        <p:spPr>
          <a:xfrm>
            <a:off x="13295376" y="2706624"/>
            <a:ext cx="3904487" cy="585216"/>
          </a:xfrm>
          <a:prstGeom prst="roundRect">
            <a:avLst>
              <a:gd name="adj" fmla="val 6250"/>
            </a:avLst>
          </a:prstGeom>
          <a:solidFill>
            <a:srgbClr val="F4F6FC"/>
          </a:solidFill>
          <a:ln w="1524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3459967" y="2832353"/>
            <a:ext cx="1325367" cy="333756"/>
          </a:xfrm>
          <a:prstGeom prst="rect">
            <a:avLst/>
          </a:prstGeom>
          <a:noFill/>
        </p:spPr>
        <p:txBody>
          <a:bodyPr wrap="none" anchor="t" lIns="0" rIns="0" tIns="0" bIns="0">
            <a:spAutoFit/>
          </a:bodyPr>
          <a:lstStyle/>
          <a:p>
            <a:pPr algn="l">
              <a:lnSpc>
                <a:spcPct val="125000"/>
              </a:lnSpc>
            </a:pPr>
            <a:r>
              <a:rPr sz="1872" b="1">
                <a:solidFill>
                  <a:srgbClr val="1428A0"/>
                </a:solidFill>
                <a:latin typeface="Arial"/>
                <a:ea typeface="Arial"/>
              </a:rPr>
              <a:t>≈3 → ≈1</a:t>
            </a:r>
          </a:p>
        </p:txBody>
      </p:sp>
      <p:sp>
        <p:nvSpPr>
          <p:cNvPr id="43" name="TextBox 42"/>
          <p:cNvSpPr txBox="1"/>
          <p:nvPr/>
        </p:nvSpPr>
        <p:spPr>
          <a:xfrm>
            <a:off x="14814418" y="2910077"/>
            <a:ext cx="1804402" cy="196596"/>
          </a:xfrm>
          <a:prstGeom prst="rect">
            <a:avLst/>
          </a:prstGeom>
          <a:noFill/>
        </p:spPr>
        <p:txBody>
          <a:bodyPr wrap="none" anchor="t" lIns="0" rIns="0" tIns="0" bIns="0">
            <a:spAutoFit/>
          </a:bodyPr>
          <a:lstStyle/>
          <a:p>
            <a:pPr algn="l">
              <a:lnSpc>
                <a:spcPct val="125000"/>
              </a:lnSpc>
            </a:pPr>
            <a:r>
              <a:rPr sz="1008" b="0">
                <a:solidFill>
                  <a:srgbClr val="555555"/>
                </a:solidFill>
                <a:latin typeface="Arial"/>
                <a:ea typeface="Arial"/>
              </a:rPr>
              <a:t>해소 수단 · KV 캐시 합성 1건</a:t>
            </a:r>
          </a:p>
        </p:txBody>
      </p:sp>
      <p:sp>
        <p:nvSpPr>
          <p:cNvPr id="44" name="TextBox 43"/>
          <p:cNvSpPr txBox="1"/>
          <p:nvPr/>
        </p:nvSpPr>
        <p:spPr>
          <a:xfrm>
            <a:off x="10140696" y="3321558"/>
            <a:ext cx="1158619" cy="196596"/>
          </a:xfrm>
          <a:prstGeom prst="rect">
            <a:avLst/>
          </a:prstGeom>
          <a:noFill/>
        </p:spPr>
        <p:txBody>
          <a:bodyPr wrap="none" anchor="t" lIns="0" rIns="0" tIns="0" bIns="0">
            <a:spAutoFit/>
          </a:bodyPr>
          <a:lstStyle/>
          <a:p>
            <a:pPr algn="l">
              <a:lnSpc>
                <a:spcPct val="125000"/>
              </a:lnSpc>
            </a:pPr>
            <a:r>
              <a:rPr sz="1008" b="0">
                <a:solidFill>
                  <a:srgbClr val="8A8A8A"/>
                </a:solidFill>
                <a:latin typeface="Arial"/>
                <a:ea typeface="Arial"/>
              </a:rPr>
              <a:t>고객 시스템 5계층</a:t>
            </a:r>
          </a:p>
        </p:txBody>
      </p:sp>
      <p:sp>
        <p:nvSpPr>
          <p:cNvPr id="45" name="Rounded Rectangle 44"/>
          <p:cNvSpPr/>
          <p:nvPr/>
        </p:nvSpPr>
        <p:spPr>
          <a:xfrm>
            <a:off x="10140696" y="3547872"/>
            <a:ext cx="6400800" cy="713232"/>
          </a:xfrm>
          <a:prstGeom prst="roundRect">
            <a:avLst>
              <a:gd name="adj" fmla="val 5128"/>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0140696" y="3547872"/>
            <a:ext cx="91440" cy="713232"/>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378440" y="3688460"/>
            <a:ext cx="1274135" cy="230886"/>
          </a:xfrm>
          <a:prstGeom prst="rect">
            <a:avLst/>
          </a:prstGeom>
          <a:noFill/>
        </p:spPr>
        <p:txBody>
          <a:bodyPr wrap="none" anchor="t" lIns="0" rIns="0" tIns="0" bIns="0">
            <a:spAutoFit/>
          </a:bodyPr>
          <a:lstStyle/>
          <a:p>
            <a:pPr algn="l">
              <a:lnSpc>
                <a:spcPct val="125000"/>
              </a:lnSpc>
            </a:pPr>
            <a:r>
              <a:rPr sz="1224" b="1">
                <a:solidFill>
                  <a:srgbClr val="1A1A1A"/>
                </a:solidFill>
                <a:latin typeface="Arial"/>
                <a:ea typeface="Arial"/>
              </a:rPr>
              <a:t>응용 · 추론 엔진</a:t>
            </a:r>
          </a:p>
        </p:txBody>
      </p:sp>
      <p:sp>
        <p:nvSpPr>
          <p:cNvPr id="48" name="TextBox 47"/>
          <p:cNvSpPr txBox="1"/>
          <p:nvPr/>
        </p:nvSpPr>
        <p:spPr>
          <a:xfrm>
            <a:off x="10378440" y="3949064"/>
            <a:ext cx="1686978" cy="185166"/>
          </a:xfrm>
          <a:prstGeom prst="rect">
            <a:avLst/>
          </a:prstGeom>
          <a:noFill/>
        </p:spPr>
        <p:txBody>
          <a:bodyPr wrap="none" anchor="t" lIns="0" rIns="0" tIns="0" bIns="0">
            <a:spAutoFit/>
          </a:bodyPr>
          <a:lstStyle/>
          <a:p>
            <a:pPr algn="l">
              <a:lnSpc>
                <a:spcPct val="125000"/>
              </a:lnSpc>
            </a:pPr>
            <a:r>
              <a:rPr sz="936" b="0">
                <a:solidFill>
                  <a:srgbClr val="555555"/>
                </a:solidFill>
                <a:latin typeface="Arial"/>
                <a:ea typeface="Arial"/>
              </a:rPr>
              <a:t>vLLM · SGLang · TRT-LLM</a:t>
            </a:r>
          </a:p>
        </p:txBody>
      </p:sp>
      <p:sp>
        <p:nvSpPr>
          <p:cNvPr id="49" name="Rounded Rectangle 48"/>
          <p:cNvSpPr/>
          <p:nvPr/>
        </p:nvSpPr>
        <p:spPr>
          <a:xfrm>
            <a:off x="15444216" y="3767328"/>
            <a:ext cx="669567" cy="202082"/>
          </a:xfrm>
          <a:prstGeom prst="roundRect">
            <a:avLst>
              <a:gd name="adj" fmla="val 13574"/>
            </a:avLst>
          </a:prstGeom>
          <a:solidFill>
            <a:srgbClr val="AAB8E8"/>
          </a:solidFill>
          <a:ln w="12700">
            <a:solidFill>
              <a:srgbClr val="AAB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5480923" y="3775786"/>
            <a:ext cx="596152" cy="185166"/>
          </a:xfrm>
          <a:prstGeom prst="rect">
            <a:avLst/>
          </a:prstGeom>
          <a:noFill/>
        </p:spPr>
        <p:txBody>
          <a:bodyPr wrap="none" anchor="t" lIns="0" rIns="0" tIns="0" bIns="0">
            <a:spAutoFit/>
          </a:bodyPr>
          <a:lstStyle/>
          <a:p>
            <a:pPr algn="ctr">
              <a:lnSpc>
                <a:spcPct val="125000"/>
              </a:lnSpc>
            </a:pPr>
            <a:r>
              <a:rPr sz="936" b="1">
                <a:solidFill>
                  <a:srgbClr val="1A1A1A"/>
                </a:solidFill>
                <a:latin typeface="Arial"/>
                <a:ea typeface="Arial"/>
              </a:rPr>
              <a:t>Phase 3</a:t>
            </a:r>
          </a:p>
        </p:txBody>
      </p:sp>
      <p:sp>
        <p:nvSpPr>
          <p:cNvPr id="51" name="Rounded Rectangle 50"/>
          <p:cNvSpPr/>
          <p:nvPr/>
        </p:nvSpPr>
        <p:spPr>
          <a:xfrm>
            <a:off x="10140696" y="4352544"/>
            <a:ext cx="6400800" cy="713232"/>
          </a:xfrm>
          <a:prstGeom prst="roundRect">
            <a:avLst>
              <a:gd name="adj" fmla="val 5128"/>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10140696" y="4352544"/>
            <a:ext cx="91440" cy="713232"/>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378440" y="4493133"/>
            <a:ext cx="1195245" cy="230886"/>
          </a:xfrm>
          <a:prstGeom prst="rect">
            <a:avLst/>
          </a:prstGeom>
          <a:noFill/>
        </p:spPr>
        <p:txBody>
          <a:bodyPr wrap="none" anchor="t" lIns="0" rIns="0" tIns="0" bIns="0">
            <a:spAutoFit/>
          </a:bodyPr>
          <a:lstStyle/>
          <a:p>
            <a:pPr algn="l">
              <a:lnSpc>
                <a:spcPct val="125000"/>
              </a:lnSpc>
            </a:pPr>
            <a:r>
              <a:rPr sz="1224" b="1">
                <a:solidFill>
                  <a:srgbClr val="1A1A1A"/>
                </a:solidFill>
                <a:latin typeface="Arial"/>
                <a:ea typeface="Arial"/>
              </a:rPr>
              <a:t>KV 캐시 관리자</a:t>
            </a:r>
          </a:p>
        </p:txBody>
      </p:sp>
      <p:sp>
        <p:nvSpPr>
          <p:cNvPr id="54" name="TextBox 53"/>
          <p:cNvSpPr txBox="1"/>
          <p:nvPr/>
        </p:nvSpPr>
        <p:spPr>
          <a:xfrm>
            <a:off x="10378440" y="4753737"/>
            <a:ext cx="1915828" cy="185166"/>
          </a:xfrm>
          <a:prstGeom prst="rect">
            <a:avLst/>
          </a:prstGeom>
          <a:noFill/>
        </p:spPr>
        <p:txBody>
          <a:bodyPr wrap="none" anchor="t" lIns="0" rIns="0" tIns="0" bIns="0">
            <a:spAutoFit/>
          </a:bodyPr>
          <a:lstStyle/>
          <a:p>
            <a:pPr algn="l">
              <a:lnSpc>
                <a:spcPct val="125000"/>
              </a:lnSpc>
            </a:pPr>
            <a:r>
              <a:rPr sz="936" b="0">
                <a:solidFill>
                  <a:srgbClr val="555555"/>
                </a:solidFill>
                <a:latin typeface="Arial"/>
                <a:ea typeface="Arial"/>
              </a:rPr>
              <a:t>KVBM · LMCache · Mooncake</a:t>
            </a:r>
          </a:p>
        </p:txBody>
      </p:sp>
      <p:sp>
        <p:nvSpPr>
          <p:cNvPr id="55" name="Rounded Rectangle 54"/>
          <p:cNvSpPr/>
          <p:nvPr/>
        </p:nvSpPr>
        <p:spPr>
          <a:xfrm>
            <a:off x="15444216" y="4572000"/>
            <a:ext cx="669567" cy="202082"/>
          </a:xfrm>
          <a:prstGeom prst="roundRect">
            <a:avLst>
              <a:gd name="adj" fmla="val 13574"/>
            </a:avLst>
          </a:prstGeom>
          <a:solidFill>
            <a:srgbClr val="AAB8E8"/>
          </a:solidFill>
          <a:ln w="12700">
            <a:solidFill>
              <a:srgbClr val="AAB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5480923" y="4580458"/>
            <a:ext cx="596152" cy="185166"/>
          </a:xfrm>
          <a:prstGeom prst="rect">
            <a:avLst/>
          </a:prstGeom>
          <a:noFill/>
        </p:spPr>
        <p:txBody>
          <a:bodyPr wrap="none" anchor="t" lIns="0" rIns="0" tIns="0" bIns="0">
            <a:spAutoFit/>
          </a:bodyPr>
          <a:lstStyle/>
          <a:p>
            <a:pPr algn="ctr">
              <a:lnSpc>
                <a:spcPct val="125000"/>
              </a:lnSpc>
            </a:pPr>
            <a:r>
              <a:rPr sz="936" b="1">
                <a:solidFill>
                  <a:srgbClr val="1A1A1A"/>
                </a:solidFill>
                <a:latin typeface="Arial"/>
                <a:ea typeface="Arial"/>
              </a:rPr>
              <a:t>Phase 3</a:t>
            </a:r>
          </a:p>
        </p:txBody>
      </p:sp>
      <p:sp>
        <p:nvSpPr>
          <p:cNvPr id="57" name="Rounded Rectangle 56"/>
          <p:cNvSpPr/>
          <p:nvPr/>
        </p:nvSpPr>
        <p:spPr>
          <a:xfrm>
            <a:off x="10140696" y="5157216"/>
            <a:ext cx="6400800" cy="713232"/>
          </a:xfrm>
          <a:prstGeom prst="roundRect">
            <a:avLst>
              <a:gd name="adj" fmla="val 5128"/>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10140696" y="5157216"/>
            <a:ext cx="91440" cy="713232"/>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0378440" y="5297804"/>
            <a:ext cx="1691108" cy="230886"/>
          </a:xfrm>
          <a:prstGeom prst="rect">
            <a:avLst/>
          </a:prstGeom>
          <a:noFill/>
        </p:spPr>
        <p:txBody>
          <a:bodyPr wrap="none" anchor="t" lIns="0" rIns="0" tIns="0" bIns="0">
            <a:spAutoFit/>
          </a:bodyPr>
          <a:lstStyle/>
          <a:p>
            <a:pPr algn="l">
              <a:lnSpc>
                <a:spcPct val="125000"/>
              </a:lnSpc>
            </a:pPr>
            <a:r>
              <a:rPr sz="1224" b="1">
                <a:solidFill>
                  <a:srgbClr val="1A1A1A"/>
                </a:solidFill>
                <a:latin typeface="Arial"/>
                <a:ea typeface="Arial"/>
              </a:rPr>
              <a:t>전송 · I/O 라이브러리</a:t>
            </a:r>
          </a:p>
        </p:txBody>
      </p:sp>
      <p:sp>
        <p:nvSpPr>
          <p:cNvPr id="60" name="TextBox 59"/>
          <p:cNvSpPr txBox="1"/>
          <p:nvPr/>
        </p:nvSpPr>
        <p:spPr>
          <a:xfrm>
            <a:off x="10378440" y="5558408"/>
            <a:ext cx="1327613" cy="185166"/>
          </a:xfrm>
          <a:prstGeom prst="rect">
            <a:avLst/>
          </a:prstGeom>
          <a:noFill/>
        </p:spPr>
        <p:txBody>
          <a:bodyPr wrap="none" anchor="t" lIns="0" rIns="0" tIns="0" bIns="0">
            <a:spAutoFit/>
          </a:bodyPr>
          <a:lstStyle/>
          <a:p>
            <a:pPr algn="l">
              <a:lnSpc>
                <a:spcPct val="125000"/>
              </a:lnSpc>
            </a:pPr>
            <a:r>
              <a:rPr sz="936" b="0">
                <a:solidFill>
                  <a:srgbClr val="555555"/>
                </a:solidFill>
                <a:latin typeface="Arial"/>
                <a:ea typeface="Arial"/>
              </a:rPr>
              <a:t>NIXL · GDS · xNVMe</a:t>
            </a:r>
          </a:p>
        </p:txBody>
      </p:sp>
      <p:sp>
        <p:nvSpPr>
          <p:cNvPr id="61" name="Rounded Rectangle 60"/>
          <p:cNvSpPr/>
          <p:nvPr/>
        </p:nvSpPr>
        <p:spPr>
          <a:xfrm>
            <a:off x="15444216" y="5376672"/>
            <a:ext cx="669567" cy="202082"/>
          </a:xfrm>
          <a:prstGeom prst="roundRect">
            <a:avLst>
              <a:gd name="adj" fmla="val 13574"/>
            </a:avLst>
          </a:prstGeom>
          <a:solidFill>
            <a:srgbClr val="3C5AC8"/>
          </a:solidFill>
          <a:ln w="12700">
            <a:solidFill>
              <a:srgbClr val="3C5A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5480923" y="5385130"/>
            <a:ext cx="596152" cy="185166"/>
          </a:xfrm>
          <a:prstGeom prst="rect">
            <a:avLst/>
          </a:prstGeom>
          <a:noFill/>
        </p:spPr>
        <p:txBody>
          <a:bodyPr wrap="none" anchor="t" lIns="0" rIns="0" tIns="0" bIns="0">
            <a:spAutoFit/>
          </a:bodyPr>
          <a:lstStyle/>
          <a:p>
            <a:pPr algn="ctr">
              <a:lnSpc>
                <a:spcPct val="125000"/>
              </a:lnSpc>
            </a:pPr>
            <a:r>
              <a:rPr sz="936" b="1">
                <a:solidFill>
                  <a:srgbClr val="FFFFFF"/>
                </a:solidFill>
                <a:latin typeface="Arial"/>
                <a:ea typeface="Arial"/>
              </a:rPr>
              <a:t>Phase 2</a:t>
            </a:r>
          </a:p>
        </p:txBody>
      </p:sp>
      <p:sp>
        <p:nvSpPr>
          <p:cNvPr id="63" name="Rounded Rectangle 62"/>
          <p:cNvSpPr/>
          <p:nvPr/>
        </p:nvSpPr>
        <p:spPr>
          <a:xfrm>
            <a:off x="10140696" y="5961888"/>
            <a:ext cx="6400800" cy="713232"/>
          </a:xfrm>
          <a:prstGeom prst="roundRect">
            <a:avLst>
              <a:gd name="adj" fmla="val 5128"/>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10140696" y="5961888"/>
            <a:ext cx="91440" cy="713232"/>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0378440" y="6102477"/>
            <a:ext cx="1074434" cy="230886"/>
          </a:xfrm>
          <a:prstGeom prst="rect">
            <a:avLst/>
          </a:prstGeom>
          <a:noFill/>
        </p:spPr>
        <p:txBody>
          <a:bodyPr wrap="none" anchor="t" lIns="0" rIns="0" tIns="0" bIns="0">
            <a:spAutoFit/>
          </a:bodyPr>
          <a:lstStyle/>
          <a:p>
            <a:pPr algn="l">
              <a:lnSpc>
                <a:spcPct val="125000"/>
              </a:lnSpc>
            </a:pPr>
            <a:r>
              <a:rPr sz="1224" b="1">
                <a:solidFill>
                  <a:srgbClr val="1A1A1A"/>
                </a:solidFill>
                <a:latin typeface="Arial"/>
                <a:ea typeface="Arial"/>
              </a:rPr>
              <a:t>커널 · 플랫폼</a:t>
            </a:r>
          </a:p>
        </p:txBody>
      </p:sp>
      <p:sp>
        <p:nvSpPr>
          <p:cNvPr id="66" name="TextBox 65"/>
          <p:cNvSpPr txBox="1"/>
          <p:nvPr/>
        </p:nvSpPr>
        <p:spPr>
          <a:xfrm>
            <a:off x="10378440" y="6363081"/>
            <a:ext cx="1694425" cy="185166"/>
          </a:xfrm>
          <a:prstGeom prst="rect">
            <a:avLst/>
          </a:prstGeom>
          <a:noFill/>
        </p:spPr>
        <p:txBody>
          <a:bodyPr wrap="none" anchor="t" lIns="0" rIns="0" tIns="0" bIns="0">
            <a:spAutoFit/>
          </a:bodyPr>
          <a:lstStyle/>
          <a:p>
            <a:pPr algn="l">
              <a:lnSpc>
                <a:spcPct val="125000"/>
              </a:lnSpc>
            </a:pPr>
            <a:r>
              <a:rPr sz="936" b="0">
                <a:solidFill>
                  <a:srgbClr val="555555"/>
                </a:solidFill>
                <a:latin typeface="Arial"/>
                <a:ea typeface="Arial"/>
              </a:rPr>
              <a:t>write streams · XFS · CMX</a:t>
            </a:r>
          </a:p>
        </p:txBody>
      </p:sp>
      <p:sp>
        <p:nvSpPr>
          <p:cNvPr id="67" name="Rounded Rectangle 66"/>
          <p:cNvSpPr/>
          <p:nvPr/>
        </p:nvSpPr>
        <p:spPr>
          <a:xfrm>
            <a:off x="15444216" y="6181344"/>
            <a:ext cx="669567" cy="202082"/>
          </a:xfrm>
          <a:prstGeom prst="roundRect">
            <a:avLst>
              <a:gd name="adj" fmla="val 13574"/>
            </a:avLst>
          </a:prstGeom>
          <a:solidFill>
            <a:srgbClr val="3C5AC8"/>
          </a:solidFill>
          <a:ln w="12700">
            <a:solidFill>
              <a:srgbClr val="3C5A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5480923" y="6189802"/>
            <a:ext cx="596152" cy="185166"/>
          </a:xfrm>
          <a:prstGeom prst="rect">
            <a:avLst/>
          </a:prstGeom>
          <a:noFill/>
        </p:spPr>
        <p:txBody>
          <a:bodyPr wrap="none" anchor="t" lIns="0" rIns="0" tIns="0" bIns="0">
            <a:spAutoFit/>
          </a:bodyPr>
          <a:lstStyle/>
          <a:p>
            <a:pPr algn="ctr">
              <a:lnSpc>
                <a:spcPct val="125000"/>
              </a:lnSpc>
            </a:pPr>
            <a:r>
              <a:rPr sz="936" b="1">
                <a:solidFill>
                  <a:srgbClr val="FFFFFF"/>
                </a:solidFill>
                <a:latin typeface="Arial"/>
                <a:ea typeface="Arial"/>
              </a:rPr>
              <a:t>Phase 2</a:t>
            </a:r>
          </a:p>
        </p:txBody>
      </p:sp>
      <p:sp>
        <p:nvSpPr>
          <p:cNvPr id="69" name="Rounded Rectangle 68"/>
          <p:cNvSpPr/>
          <p:nvPr/>
        </p:nvSpPr>
        <p:spPr>
          <a:xfrm>
            <a:off x="10140696" y="6766559"/>
            <a:ext cx="6400800" cy="713232"/>
          </a:xfrm>
          <a:prstGeom prst="roundRect">
            <a:avLst>
              <a:gd name="adj" fmla="val 5128"/>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10140696" y="6766559"/>
            <a:ext cx="91440" cy="713232"/>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0378440" y="6907149"/>
            <a:ext cx="429741" cy="230886"/>
          </a:xfrm>
          <a:prstGeom prst="rect">
            <a:avLst/>
          </a:prstGeom>
          <a:noFill/>
        </p:spPr>
        <p:txBody>
          <a:bodyPr wrap="none" anchor="t" lIns="0" rIns="0" tIns="0" bIns="0">
            <a:spAutoFit/>
          </a:bodyPr>
          <a:lstStyle/>
          <a:p>
            <a:pPr algn="l">
              <a:lnSpc>
                <a:spcPct val="125000"/>
              </a:lnSpc>
            </a:pPr>
            <a:r>
              <a:rPr sz="1224" b="1">
                <a:solidFill>
                  <a:srgbClr val="1A1A1A"/>
                </a:solidFill>
                <a:latin typeface="Arial"/>
                <a:ea typeface="Arial"/>
              </a:rPr>
              <a:t>SSD</a:t>
            </a:r>
          </a:p>
        </p:txBody>
      </p:sp>
      <p:sp>
        <p:nvSpPr>
          <p:cNvPr id="72" name="TextBox 71"/>
          <p:cNvSpPr txBox="1"/>
          <p:nvPr/>
        </p:nvSpPr>
        <p:spPr>
          <a:xfrm>
            <a:off x="10378440" y="7167753"/>
            <a:ext cx="1767900" cy="185166"/>
          </a:xfrm>
          <a:prstGeom prst="rect">
            <a:avLst/>
          </a:prstGeom>
          <a:noFill/>
        </p:spPr>
        <p:txBody>
          <a:bodyPr wrap="none" anchor="t" lIns="0" rIns="0" tIns="0" bIns="0">
            <a:spAutoFit/>
          </a:bodyPr>
          <a:lstStyle/>
          <a:p>
            <a:pPr algn="l">
              <a:lnSpc>
                <a:spcPct val="125000"/>
              </a:lnSpc>
            </a:pPr>
            <a:r>
              <a:rPr sz="936" b="0">
                <a:solidFill>
                  <a:srgbClr val="555555"/>
                </a:solidFill>
                <a:latin typeface="Arial"/>
                <a:ea typeface="Arial"/>
              </a:rPr>
              <a:t>RUH · 2Tb QLC · 텔레메트리</a:t>
            </a:r>
          </a:p>
        </p:txBody>
      </p:sp>
      <p:sp>
        <p:nvSpPr>
          <p:cNvPr id="73" name="Rounded Rectangle 72"/>
          <p:cNvSpPr/>
          <p:nvPr/>
        </p:nvSpPr>
        <p:spPr>
          <a:xfrm>
            <a:off x="15444216" y="6986016"/>
            <a:ext cx="669567" cy="202082"/>
          </a:xfrm>
          <a:prstGeom prst="roundRect">
            <a:avLst>
              <a:gd name="adj" fmla="val 13574"/>
            </a:avLst>
          </a:prstGeom>
          <a:solidFill>
            <a:srgbClr val="1428A0"/>
          </a:solidFill>
          <a:ln w="1270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5480923" y="6994474"/>
            <a:ext cx="596152" cy="185166"/>
          </a:xfrm>
          <a:prstGeom prst="rect">
            <a:avLst/>
          </a:prstGeom>
          <a:noFill/>
        </p:spPr>
        <p:txBody>
          <a:bodyPr wrap="none" anchor="t" lIns="0" rIns="0" tIns="0" bIns="0">
            <a:spAutoFit/>
          </a:bodyPr>
          <a:lstStyle/>
          <a:p>
            <a:pPr algn="ctr">
              <a:lnSpc>
                <a:spcPct val="125000"/>
              </a:lnSpc>
            </a:pPr>
            <a:r>
              <a:rPr sz="936" b="1">
                <a:solidFill>
                  <a:srgbClr val="FFFFFF"/>
                </a:solidFill>
                <a:latin typeface="Arial"/>
                <a:ea typeface="Arial"/>
              </a:rPr>
              <a:t>Phase 1</a:t>
            </a:r>
          </a:p>
        </p:txBody>
      </p:sp>
      <p:cxnSp>
        <p:nvCxnSpPr>
          <p:cNvPr id="75" name="Connector 74"/>
          <p:cNvCxnSpPr/>
          <p:nvPr/>
        </p:nvCxnSpPr>
        <p:spPr>
          <a:xfrm>
            <a:off x="16852392" y="3621024"/>
            <a:ext cx="0" cy="1819655"/>
          </a:xfrm>
          <a:prstGeom prst="line">
            <a:avLst/>
          </a:prstGeom>
          <a:ln w="31750">
            <a:solidFill>
              <a:srgbClr val="3C5A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16943831" y="3897172"/>
            <a:ext cx="581382" cy="321868"/>
          </a:xfrm>
          <a:prstGeom prst="rect">
            <a:avLst/>
          </a:prstGeom>
          <a:noFill/>
        </p:spPr>
        <p:txBody>
          <a:bodyPr wrap="none" anchor="t" lIns="0" rIns="0" tIns="0" bIns="0">
            <a:spAutoFit/>
          </a:bodyPr>
          <a:lstStyle/>
          <a:p>
            <a:pPr algn="l">
              <a:lnSpc>
                <a:spcPct val="120000"/>
              </a:lnSpc>
            </a:pPr>
            <a:r>
              <a:rPr sz="936" b="0">
                <a:solidFill>
                  <a:srgbClr val="3C5AC8"/>
                </a:solidFill>
                <a:latin typeface="Arial"/>
                <a:ea typeface="Arial"/>
              </a:rPr>
              <a:t>트레이스</a:t>
            </a:r>
          </a:p>
          <a:p>
            <a:pPr algn="l">
              <a:lnSpc>
                <a:spcPct val="120000"/>
              </a:lnSpc>
            </a:pPr>
            <a:r>
              <a:rPr sz="936" b="0">
                <a:solidFill>
                  <a:srgbClr val="3C5AC8"/>
                </a:solidFill>
                <a:latin typeface="Arial"/>
                <a:ea typeface="Arial"/>
              </a:rPr>
              <a:t>수집 ↓</a:t>
            </a:r>
          </a:p>
        </p:txBody>
      </p:sp>
      <p:cxnSp>
        <p:nvCxnSpPr>
          <p:cNvPr id="77" name="Connector 76"/>
          <p:cNvCxnSpPr/>
          <p:nvPr/>
        </p:nvCxnSpPr>
        <p:spPr>
          <a:xfrm flipV="1">
            <a:off x="16852392" y="5586983"/>
            <a:ext cx="0" cy="1819657"/>
          </a:xfrm>
          <a:prstGeom prst="line">
            <a:avLst/>
          </a:prstGeom>
          <a:ln w="31750">
            <a:solidFill>
              <a:srgbClr val="1428A0"/>
            </a:solidFill>
            <a:tailEnd type="triangle" w="med" len="med"/>
          </a:ln>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16943831" y="6804964"/>
            <a:ext cx="611213" cy="321868"/>
          </a:xfrm>
          <a:prstGeom prst="rect">
            <a:avLst/>
          </a:prstGeom>
          <a:noFill/>
        </p:spPr>
        <p:txBody>
          <a:bodyPr wrap="none" anchor="t" lIns="0" rIns="0" tIns="0" bIns="0">
            <a:spAutoFit/>
          </a:bodyPr>
          <a:lstStyle/>
          <a:p>
            <a:pPr algn="l">
              <a:lnSpc>
                <a:spcPct val="120000"/>
              </a:lnSpc>
            </a:pPr>
            <a:r>
              <a:rPr sz="936" b="0">
                <a:solidFill>
                  <a:srgbClr val="1428A0"/>
                </a:solidFill>
                <a:latin typeface="Arial"/>
                <a:ea typeface="Arial"/>
              </a:rPr>
              <a:t>배치 정책</a:t>
            </a:r>
          </a:p>
          <a:p>
            <a:pPr algn="l">
              <a:lnSpc>
                <a:spcPct val="120000"/>
              </a:lnSpc>
            </a:pPr>
            <a:r>
              <a:rPr sz="936" b="0">
                <a:solidFill>
                  <a:srgbClr val="1428A0"/>
                </a:solidFill>
                <a:latin typeface="Arial"/>
                <a:ea typeface="Arial"/>
              </a:rPr>
              <a:t>규격 ↑</a:t>
            </a:r>
          </a:p>
        </p:txBody>
      </p:sp>
      <p:sp>
        <p:nvSpPr>
          <p:cNvPr id="79" name="Rounded Rectangle 78"/>
          <p:cNvSpPr/>
          <p:nvPr/>
        </p:nvSpPr>
        <p:spPr>
          <a:xfrm>
            <a:off x="1088136" y="3547872"/>
            <a:ext cx="8686800" cy="1280160"/>
          </a:xfrm>
          <a:prstGeom prst="roundRect">
            <a:avLst>
              <a:gd name="adj" fmla="val 2857"/>
            </a:avLst>
          </a:prstGeom>
          <a:solidFill>
            <a:srgbClr val="FFFFFF"/>
          </a:solidFill>
          <a:ln w="1905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1234440" y="3694176"/>
            <a:ext cx="292608" cy="292608"/>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1283663" y="3725036"/>
            <a:ext cx="194160" cy="230886"/>
          </a:xfrm>
          <a:prstGeom prst="rect">
            <a:avLst/>
          </a:prstGeom>
          <a:noFill/>
        </p:spPr>
        <p:txBody>
          <a:bodyPr wrap="none" anchor="t" lIns="0" rIns="0" tIns="0" bIns="0">
            <a:spAutoFit/>
          </a:bodyPr>
          <a:lstStyle/>
          <a:p>
            <a:pPr algn="ctr">
              <a:lnSpc>
                <a:spcPct val="125000"/>
              </a:lnSpc>
            </a:pPr>
            <a:r>
              <a:rPr sz="1224" b="1">
                <a:solidFill>
                  <a:srgbClr val="FFFFFF"/>
                </a:solidFill>
                <a:latin typeface="Arial"/>
                <a:ea typeface="Arial"/>
              </a:rPr>
              <a:t>1</a:t>
            </a:r>
          </a:p>
        </p:txBody>
      </p:sp>
      <p:sp>
        <p:nvSpPr>
          <p:cNvPr id="82" name="TextBox 81"/>
          <p:cNvSpPr txBox="1"/>
          <p:nvPr/>
        </p:nvSpPr>
        <p:spPr>
          <a:xfrm>
            <a:off x="1618488" y="3713606"/>
            <a:ext cx="1748720" cy="253746"/>
          </a:xfrm>
          <a:prstGeom prst="rect">
            <a:avLst/>
          </a:prstGeom>
          <a:noFill/>
        </p:spPr>
        <p:txBody>
          <a:bodyPr wrap="none" anchor="t" lIns="0" rIns="0" tIns="0" bIns="0">
            <a:spAutoFit/>
          </a:bodyPr>
          <a:lstStyle/>
          <a:p>
            <a:pPr algn="l">
              <a:lnSpc>
                <a:spcPct val="125000"/>
              </a:lnSpc>
            </a:pPr>
            <a:r>
              <a:rPr sz="1368" b="1">
                <a:solidFill>
                  <a:srgbClr val="1A1A1A"/>
                </a:solidFill>
                <a:latin typeface="Arial"/>
                <a:ea typeface="Arial"/>
              </a:rPr>
              <a:t>Phase 1 · 디바이스</a:t>
            </a:r>
          </a:p>
        </p:txBody>
      </p:sp>
      <p:sp>
        <p:nvSpPr>
          <p:cNvPr id="83" name="TextBox 82"/>
          <p:cNvSpPr txBox="1"/>
          <p:nvPr/>
        </p:nvSpPr>
        <p:spPr>
          <a:xfrm>
            <a:off x="1618488" y="4016502"/>
            <a:ext cx="2181173" cy="196596"/>
          </a:xfrm>
          <a:prstGeom prst="rect">
            <a:avLst/>
          </a:prstGeom>
          <a:noFill/>
        </p:spPr>
        <p:txBody>
          <a:bodyPr wrap="none" anchor="t" lIns="0" rIns="0" tIns="0" bIns="0">
            <a:spAutoFit/>
          </a:bodyPr>
          <a:lstStyle/>
          <a:p>
            <a:pPr algn="l">
              <a:lnSpc>
                <a:spcPct val="125000"/>
              </a:lnSpc>
            </a:pPr>
            <a:r>
              <a:rPr sz="1008" b="0">
                <a:solidFill>
                  <a:srgbClr val="555555"/>
                </a:solidFill>
                <a:latin typeface="Arial"/>
                <a:ea typeface="Arial"/>
              </a:rPr>
              <a:t>RUH 200+ · 2Tb QLC · CMX/STX</a:t>
            </a:r>
          </a:p>
        </p:txBody>
      </p:sp>
      <p:sp>
        <p:nvSpPr>
          <p:cNvPr id="84" name="Rounded Rectangle 83"/>
          <p:cNvSpPr/>
          <p:nvPr/>
        </p:nvSpPr>
        <p:spPr>
          <a:xfrm>
            <a:off x="7488936" y="3694176"/>
            <a:ext cx="1572773" cy="202082"/>
          </a:xfrm>
          <a:prstGeom prst="roundRect">
            <a:avLst>
              <a:gd name="adj" fmla="val 13574"/>
            </a:avLst>
          </a:prstGeom>
          <a:solidFill>
            <a:srgbClr val="F4F6FC"/>
          </a:solidFill>
          <a:ln w="12700">
            <a:solidFill>
              <a:srgbClr val="AAB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7508917" y="3702634"/>
            <a:ext cx="1532810" cy="185166"/>
          </a:xfrm>
          <a:prstGeom prst="rect">
            <a:avLst/>
          </a:prstGeom>
          <a:noFill/>
        </p:spPr>
        <p:txBody>
          <a:bodyPr wrap="none" anchor="t" lIns="0" rIns="0" tIns="0" bIns="0">
            <a:spAutoFit/>
          </a:bodyPr>
          <a:lstStyle/>
          <a:p>
            <a:pPr algn="ctr">
              <a:lnSpc>
                <a:spcPct val="125000"/>
              </a:lnSpc>
            </a:pPr>
            <a:r>
              <a:rPr sz="936" b="1">
                <a:solidFill>
                  <a:srgbClr val="1428A0"/>
                </a:solidFill>
                <a:latin typeface="Arial"/>
                <a:ea typeface="Arial"/>
              </a:rPr>
              <a:t>보증 · 정격 내 원가 · 전력</a:t>
            </a:r>
          </a:p>
        </p:txBody>
      </p:sp>
      <p:sp>
        <p:nvSpPr>
          <p:cNvPr id="86" name="Rounded Rectangle 85"/>
          <p:cNvSpPr/>
          <p:nvPr/>
        </p:nvSpPr>
        <p:spPr>
          <a:xfrm>
            <a:off x="1618488" y="4352544"/>
            <a:ext cx="5669280" cy="164592"/>
          </a:xfrm>
          <a:prstGeom prst="roundRect">
            <a:avLst>
              <a:gd name="adj" fmla="val 16666"/>
            </a:avLst>
          </a:prstGeom>
          <a:solidFill>
            <a:srgbClr val="DCE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ounded Rectangle 86"/>
          <p:cNvSpPr/>
          <p:nvPr/>
        </p:nvSpPr>
        <p:spPr>
          <a:xfrm>
            <a:off x="1618488" y="4352544"/>
            <a:ext cx="3401568" cy="164592"/>
          </a:xfrm>
          <a:prstGeom prst="roundRect">
            <a:avLst>
              <a:gd name="adj" fmla="val 16666"/>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7415783" y="4330827"/>
            <a:ext cx="550305" cy="208026"/>
          </a:xfrm>
          <a:prstGeom prst="rect">
            <a:avLst/>
          </a:prstGeom>
          <a:noFill/>
        </p:spPr>
        <p:txBody>
          <a:bodyPr wrap="none" anchor="t" lIns="0" rIns="0" tIns="0" bIns="0">
            <a:spAutoFit/>
          </a:bodyPr>
          <a:lstStyle/>
          <a:p>
            <a:pPr algn="l">
              <a:lnSpc>
                <a:spcPct val="125000"/>
              </a:lnSpc>
            </a:pPr>
            <a:r>
              <a:rPr sz="1080" b="1">
                <a:solidFill>
                  <a:srgbClr val="1428A0"/>
                </a:solidFill>
                <a:latin typeface="Arial"/>
                <a:ea typeface="Arial"/>
              </a:rPr>
              <a:t>진행 중</a:t>
            </a:r>
          </a:p>
        </p:txBody>
      </p:sp>
      <p:sp>
        <p:nvSpPr>
          <p:cNvPr id="89" name="TextBox 88"/>
          <p:cNvSpPr txBox="1"/>
          <p:nvPr/>
        </p:nvSpPr>
        <p:spPr>
          <a:xfrm>
            <a:off x="1618488" y="4552569"/>
            <a:ext cx="3308437" cy="185166"/>
          </a:xfrm>
          <a:prstGeom prst="rect">
            <a:avLst/>
          </a:prstGeom>
          <a:noFill/>
        </p:spPr>
        <p:txBody>
          <a:bodyPr wrap="none" anchor="t" lIns="0" rIns="0" tIns="0" bIns="0">
            <a:spAutoFit/>
          </a:bodyPr>
          <a:lstStyle/>
          <a:p>
            <a:pPr algn="l">
              <a:lnSpc>
                <a:spcPct val="125000"/>
              </a:lnSpc>
            </a:pPr>
            <a:r>
              <a:rPr sz="936" b="0">
                <a:solidFill>
                  <a:srgbClr val="8A8A8A"/>
                </a:solidFill>
                <a:latin typeface="Arial"/>
                <a:ea typeface="Arial"/>
              </a:rPr>
              <a:t>QLC 라인 RUH 2~8 · DWPD 미공개 · CMX 첫 공급은 TLC</a:t>
            </a:r>
          </a:p>
        </p:txBody>
      </p:sp>
      <p:sp>
        <p:nvSpPr>
          <p:cNvPr id="90" name="Rounded Rectangle 89"/>
          <p:cNvSpPr/>
          <p:nvPr/>
        </p:nvSpPr>
        <p:spPr>
          <a:xfrm>
            <a:off x="1088136" y="4956048"/>
            <a:ext cx="8686800" cy="1280160"/>
          </a:xfrm>
          <a:prstGeom prst="roundRect">
            <a:avLst>
              <a:gd name="adj" fmla="val 2857"/>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1234440" y="5102352"/>
            <a:ext cx="292608" cy="292608"/>
          </a:xfrm>
          <a:prstGeom prst="ellipse">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1283663" y="5133213"/>
            <a:ext cx="194160" cy="230886"/>
          </a:xfrm>
          <a:prstGeom prst="rect">
            <a:avLst/>
          </a:prstGeom>
          <a:noFill/>
        </p:spPr>
        <p:txBody>
          <a:bodyPr wrap="none" anchor="t" lIns="0" rIns="0" tIns="0" bIns="0">
            <a:spAutoFit/>
          </a:bodyPr>
          <a:lstStyle/>
          <a:p>
            <a:pPr algn="ctr">
              <a:lnSpc>
                <a:spcPct val="125000"/>
              </a:lnSpc>
            </a:pPr>
            <a:r>
              <a:rPr sz="1224" b="1">
                <a:solidFill>
                  <a:srgbClr val="FFFFFF"/>
                </a:solidFill>
                <a:latin typeface="Arial"/>
                <a:ea typeface="Arial"/>
              </a:rPr>
              <a:t>2</a:t>
            </a:r>
          </a:p>
        </p:txBody>
      </p:sp>
      <p:sp>
        <p:nvSpPr>
          <p:cNvPr id="93" name="TextBox 92"/>
          <p:cNvSpPr txBox="1"/>
          <p:nvPr/>
        </p:nvSpPr>
        <p:spPr>
          <a:xfrm>
            <a:off x="1618488" y="5121783"/>
            <a:ext cx="2329950" cy="253746"/>
          </a:xfrm>
          <a:prstGeom prst="rect">
            <a:avLst/>
          </a:prstGeom>
          <a:noFill/>
        </p:spPr>
        <p:txBody>
          <a:bodyPr wrap="none" anchor="t" lIns="0" rIns="0" tIns="0" bIns="0">
            <a:spAutoFit/>
          </a:bodyPr>
          <a:lstStyle/>
          <a:p>
            <a:pPr algn="l">
              <a:lnSpc>
                <a:spcPct val="125000"/>
              </a:lnSpc>
            </a:pPr>
            <a:r>
              <a:rPr sz="1368" b="1">
                <a:solidFill>
                  <a:srgbClr val="1A1A1A"/>
                </a:solidFill>
                <a:latin typeface="Arial"/>
                <a:ea typeface="Arial"/>
              </a:rPr>
              <a:t>Phase 2 · 워크로드 최적화</a:t>
            </a:r>
          </a:p>
        </p:txBody>
      </p:sp>
      <p:sp>
        <p:nvSpPr>
          <p:cNvPr id="94" name="TextBox 93"/>
          <p:cNvSpPr txBox="1"/>
          <p:nvPr/>
        </p:nvSpPr>
        <p:spPr>
          <a:xfrm>
            <a:off x="1618488" y="5424677"/>
            <a:ext cx="2062908" cy="196596"/>
          </a:xfrm>
          <a:prstGeom prst="rect">
            <a:avLst/>
          </a:prstGeom>
          <a:noFill/>
        </p:spPr>
        <p:txBody>
          <a:bodyPr wrap="none" anchor="t" lIns="0" rIns="0" tIns="0" bIns="0">
            <a:spAutoFit/>
          </a:bodyPr>
          <a:lstStyle/>
          <a:p>
            <a:pPr algn="l">
              <a:lnSpc>
                <a:spcPct val="125000"/>
              </a:lnSpc>
            </a:pPr>
            <a:r>
              <a:rPr sz="1008" b="0">
                <a:solidFill>
                  <a:srgbClr val="555555"/>
                </a:solidFill>
                <a:latin typeface="Arial"/>
                <a:ea typeface="Arial"/>
              </a:rPr>
              <a:t>트레이스 재현 · RUH 정책 · 실측</a:t>
            </a:r>
          </a:p>
        </p:txBody>
      </p:sp>
      <p:sp>
        <p:nvSpPr>
          <p:cNvPr id="95" name="Rounded Rectangle 94"/>
          <p:cNvSpPr/>
          <p:nvPr/>
        </p:nvSpPr>
        <p:spPr>
          <a:xfrm>
            <a:off x="7488936" y="5102352"/>
            <a:ext cx="1556584" cy="202082"/>
          </a:xfrm>
          <a:prstGeom prst="roundRect">
            <a:avLst>
              <a:gd name="adj" fmla="val 13574"/>
            </a:avLst>
          </a:prstGeom>
          <a:solidFill>
            <a:srgbClr val="F4F6FC"/>
          </a:solidFill>
          <a:ln w="12700">
            <a:solidFill>
              <a:srgbClr val="AAB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7509217" y="5110810"/>
            <a:ext cx="1516022" cy="185166"/>
          </a:xfrm>
          <a:prstGeom prst="rect">
            <a:avLst/>
          </a:prstGeom>
          <a:noFill/>
        </p:spPr>
        <p:txBody>
          <a:bodyPr wrap="none" anchor="t" lIns="0" rIns="0" tIns="0" bIns="0">
            <a:spAutoFit/>
          </a:bodyPr>
          <a:lstStyle/>
          <a:p>
            <a:pPr algn="ctr">
              <a:lnSpc>
                <a:spcPct val="125000"/>
              </a:lnSpc>
            </a:pPr>
            <a:r>
              <a:rPr sz="936" b="1">
                <a:solidFill>
                  <a:srgbClr val="1428A0"/>
                </a:solidFill>
                <a:latin typeface="Arial"/>
                <a:ea typeface="Arial"/>
              </a:rPr>
              <a:t>보증 · 워크로드 기준 수명</a:t>
            </a:r>
          </a:p>
        </p:txBody>
      </p:sp>
      <p:sp>
        <p:nvSpPr>
          <p:cNvPr id="97" name="Rounded Rectangle 96"/>
          <p:cNvSpPr/>
          <p:nvPr/>
        </p:nvSpPr>
        <p:spPr>
          <a:xfrm>
            <a:off x="1618488" y="5760720"/>
            <a:ext cx="5669280" cy="164592"/>
          </a:xfrm>
          <a:prstGeom prst="roundRect">
            <a:avLst>
              <a:gd name="adj" fmla="val 16666"/>
            </a:avLst>
          </a:prstGeom>
          <a:solidFill>
            <a:srgbClr val="DCE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ounded Rectangle 97"/>
          <p:cNvSpPr/>
          <p:nvPr/>
        </p:nvSpPr>
        <p:spPr>
          <a:xfrm>
            <a:off x="1618488" y="5760720"/>
            <a:ext cx="850392" cy="164592"/>
          </a:xfrm>
          <a:prstGeom prst="roundRect">
            <a:avLst>
              <a:gd name="adj" fmla="val 16666"/>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7415783" y="5739002"/>
            <a:ext cx="374099" cy="208026"/>
          </a:xfrm>
          <a:prstGeom prst="rect">
            <a:avLst/>
          </a:prstGeom>
          <a:noFill/>
        </p:spPr>
        <p:txBody>
          <a:bodyPr wrap="none" anchor="t" lIns="0" rIns="0" tIns="0" bIns="0">
            <a:spAutoFit/>
          </a:bodyPr>
          <a:lstStyle/>
          <a:p>
            <a:pPr algn="l">
              <a:lnSpc>
                <a:spcPct val="125000"/>
              </a:lnSpc>
            </a:pPr>
            <a:r>
              <a:rPr sz="1080" b="1">
                <a:solidFill>
                  <a:srgbClr val="1428A0"/>
                </a:solidFill>
                <a:latin typeface="Arial"/>
                <a:ea typeface="Arial"/>
              </a:rPr>
              <a:t>준비</a:t>
            </a:r>
          </a:p>
        </p:txBody>
      </p:sp>
      <p:sp>
        <p:nvSpPr>
          <p:cNvPr id="100" name="TextBox 99"/>
          <p:cNvSpPr txBox="1"/>
          <p:nvPr/>
        </p:nvSpPr>
        <p:spPr>
          <a:xfrm>
            <a:off x="1618488" y="5960745"/>
            <a:ext cx="2324307" cy="185166"/>
          </a:xfrm>
          <a:prstGeom prst="rect">
            <a:avLst/>
          </a:prstGeom>
          <a:noFill/>
        </p:spPr>
        <p:txBody>
          <a:bodyPr wrap="none" anchor="t" lIns="0" rIns="0" tIns="0" bIns="0">
            <a:spAutoFit/>
          </a:bodyPr>
          <a:lstStyle/>
          <a:p>
            <a:pPr algn="l">
              <a:lnSpc>
                <a:spcPct val="125000"/>
              </a:lnSpc>
            </a:pPr>
            <a:r>
              <a:rPr sz="936" b="0">
                <a:solidFill>
                  <a:srgbClr val="8A8A8A"/>
                </a:solidFill>
                <a:latin typeface="Arial"/>
                <a:ea typeface="Arial"/>
              </a:rPr>
              <a:t>KV 백서 2종 · 트레이스 기반 실측 미공개</a:t>
            </a:r>
          </a:p>
        </p:txBody>
      </p:sp>
      <p:sp>
        <p:nvSpPr>
          <p:cNvPr id="101" name="Rounded Rectangle 100"/>
          <p:cNvSpPr/>
          <p:nvPr/>
        </p:nvSpPr>
        <p:spPr>
          <a:xfrm>
            <a:off x="1088136" y="6364224"/>
            <a:ext cx="8686800" cy="1280160"/>
          </a:xfrm>
          <a:prstGeom prst="roundRect">
            <a:avLst>
              <a:gd name="adj" fmla="val 2857"/>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1234440" y="6510528"/>
            <a:ext cx="292608" cy="29260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1283663" y="6541389"/>
            <a:ext cx="194160" cy="230886"/>
          </a:xfrm>
          <a:prstGeom prst="rect">
            <a:avLst/>
          </a:prstGeom>
          <a:noFill/>
        </p:spPr>
        <p:txBody>
          <a:bodyPr wrap="none" anchor="t" lIns="0" rIns="0" tIns="0" bIns="0">
            <a:spAutoFit/>
          </a:bodyPr>
          <a:lstStyle/>
          <a:p>
            <a:pPr algn="ctr">
              <a:lnSpc>
                <a:spcPct val="125000"/>
              </a:lnSpc>
            </a:pPr>
            <a:r>
              <a:rPr sz="1224" b="1">
                <a:solidFill>
                  <a:srgbClr val="1A1A1A"/>
                </a:solidFill>
                <a:latin typeface="Arial"/>
                <a:ea typeface="Arial"/>
              </a:rPr>
              <a:t>3</a:t>
            </a:r>
          </a:p>
        </p:txBody>
      </p:sp>
      <p:sp>
        <p:nvSpPr>
          <p:cNvPr id="104" name="TextBox 103"/>
          <p:cNvSpPr txBox="1"/>
          <p:nvPr/>
        </p:nvSpPr>
        <p:spPr>
          <a:xfrm>
            <a:off x="1618488" y="6529958"/>
            <a:ext cx="2776338" cy="253746"/>
          </a:xfrm>
          <a:prstGeom prst="rect">
            <a:avLst/>
          </a:prstGeom>
          <a:noFill/>
        </p:spPr>
        <p:txBody>
          <a:bodyPr wrap="none" anchor="t" lIns="0" rIns="0" tIns="0" bIns="0">
            <a:spAutoFit/>
          </a:bodyPr>
          <a:lstStyle/>
          <a:p>
            <a:pPr algn="l">
              <a:lnSpc>
                <a:spcPct val="125000"/>
              </a:lnSpc>
            </a:pPr>
            <a:r>
              <a:rPr sz="1368" b="1">
                <a:solidFill>
                  <a:srgbClr val="1A1A1A"/>
                </a:solidFill>
                <a:latin typeface="Arial"/>
                <a:ea typeface="Arial"/>
              </a:rPr>
              <a:t>Phase 3 · 고객 시스템 공동 설계</a:t>
            </a:r>
          </a:p>
        </p:txBody>
      </p:sp>
      <p:sp>
        <p:nvSpPr>
          <p:cNvPr id="105" name="TextBox 104"/>
          <p:cNvSpPr txBox="1"/>
          <p:nvPr/>
        </p:nvSpPr>
        <p:spPr>
          <a:xfrm>
            <a:off x="1618488" y="6832854"/>
            <a:ext cx="2110537" cy="196596"/>
          </a:xfrm>
          <a:prstGeom prst="rect">
            <a:avLst/>
          </a:prstGeom>
          <a:noFill/>
        </p:spPr>
        <p:txBody>
          <a:bodyPr wrap="none" anchor="t" lIns="0" rIns="0" tIns="0" bIns="0">
            <a:spAutoFit/>
          </a:bodyPr>
          <a:lstStyle/>
          <a:p>
            <a:pPr algn="l">
              <a:lnSpc>
                <a:spcPct val="125000"/>
              </a:lnSpc>
            </a:pPr>
            <a:r>
              <a:rPr sz="1008" b="0">
                <a:solidFill>
                  <a:srgbClr val="555555"/>
                </a:solidFill>
                <a:latin typeface="Arial"/>
                <a:ea typeface="Arial"/>
              </a:rPr>
              <a:t>관리자 플러그인 · 커널 I/O · TCO</a:t>
            </a:r>
          </a:p>
        </p:txBody>
      </p:sp>
      <p:sp>
        <p:nvSpPr>
          <p:cNvPr id="106" name="Rounded Rectangle 105"/>
          <p:cNvSpPr/>
          <p:nvPr/>
        </p:nvSpPr>
        <p:spPr>
          <a:xfrm>
            <a:off x="7488936" y="6510528"/>
            <a:ext cx="1191198" cy="202082"/>
          </a:xfrm>
          <a:prstGeom prst="roundRect">
            <a:avLst>
              <a:gd name="adj" fmla="val 13574"/>
            </a:avLst>
          </a:prstGeom>
          <a:solidFill>
            <a:srgbClr val="F4F6FC"/>
          </a:solidFill>
          <a:ln w="12700">
            <a:solidFill>
              <a:srgbClr val="AAB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7515983" y="6518986"/>
            <a:ext cx="1137103" cy="185166"/>
          </a:xfrm>
          <a:prstGeom prst="rect">
            <a:avLst/>
          </a:prstGeom>
          <a:noFill/>
        </p:spPr>
        <p:txBody>
          <a:bodyPr wrap="none" anchor="t" lIns="0" rIns="0" tIns="0" bIns="0">
            <a:spAutoFit/>
          </a:bodyPr>
          <a:lstStyle/>
          <a:p>
            <a:pPr algn="ctr">
              <a:lnSpc>
                <a:spcPct val="125000"/>
              </a:lnSpc>
            </a:pPr>
            <a:r>
              <a:rPr sz="936" b="1">
                <a:solidFill>
                  <a:srgbClr val="1428A0"/>
                </a:solidFill>
                <a:latin typeface="Arial"/>
                <a:ea typeface="Arial"/>
              </a:rPr>
              <a:t>보증 · 시스템 TCO</a:t>
            </a:r>
          </a:p>
        </p:txBody>
      </p:sp>
      <p:sp>
        <p:nvSpPr>
          <p:cNvPr id="108" name="Rounded Rectangle 107"/>
          <p:cNvSpPr/>
          <p:nvPr/>
        </p:nvSpPr>
        <p:spPr>
          <a:xfrm>
            <a:off x="1618488" y="7168896"/>
            <a:ext cx="5669280" cy="164592"/>
          </a:xfrm>
          <a:prstGeom prst="roundRect">
            <a:avLst>
              <a:gd name="adj" fmla="val 16666"/>
            </a:avLst>
          </a:prstGeom>
          <a:solidFill>
            <a:srgbClr val="DCE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ounded Rectangle 108"/>
          <p:cNvSpPr/>
          <p:nvPr/>
        </p:nvSpPr>
        <p:spPr>
          <a:xfrm>
            <a:off x="1618488" y="7168896"/>
            <a:ext cx="453542" cy="164592"/>
          </a:xfrm>
          <a:prstGeom prst="roundRect">
            <a:avLst>
              <a:gd name="adj" fmla="val 16666"/>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7415783" y="7147179"/>
            <a:ext cx="374099" cy="208026"/>
          </a:xfrm>
          <a:prstGeom prst="rect">
            <a:avLst/>
          </a:prstGeom>
          <a:noFill/>
        </p:spPr>
        <p:txBody>
          <a:bodyPr wrap="none" anchor="t" lIns="0" rIns="0" tIns="0" bIns="0">
            <a:spAutoFit/>
          </a:bodyPr>
          <a:lstStyle/>
          <a:p>
            <a:pPr algn="l">
              <a:lnSpc>
                <a:spcPct val="125000"/>
              </a:lnSpc>
            </a:pPr>
            <a:r>
              <a:rPr sz="1080" b="1">
                <a:solidFill>
                  <a:srgbClr val="1428A0"/>
                </a:solidFill>
                <a:latin typeface="Arial"/>
                <a:ea typeface="Arial"/>
              </a:rPr>
              <a:t>착수</a:t>
            </a:r>
          </a:p>
        </p:txBody>
      </p:sp>
      <p:sp>
        <p:nvSpPr>
          <p:cNvPr id="111" name="TextBox 110"/>
          <p:cNvSpPr txBox="1"/>
          <p:nvPr/>
        </p:nvSpPr>
        <p:spPr>
          <a:xfrm>
            <a:off x="1618488" y="7368921"/>
            <a:ext cx="2005716" cy="185166"/>
          </a:xfrm>
          <a:prstGeom prst="rect">
            <a:avLst/>
          </a:prstGeom>
          <a:noFill/>
        </p:spPr>
        <p:txBody>
          <a:bodyPr wrap="none" anchor="t" lIns="0" rIns="0" tIns="0" bIns="0">
            <a:spAutoFit/>
          </a:bodyPr>
          <a:lstStyle/>
          <a:p>
            <a:pPr algn="l">
              <a:lnSpc>
                <a:spcPct val="125000"/>
              </a:lnSpc>
            </a:pPr>
            <a:r>
              <a:rPr sz="936" b="0">
                <a:solidFill>
                  <a:srgbClr val="8A8A8A"/>
                </a:solidFill>
                <a:latin typeface="Arial"/>
                <a:ea typeface="Arial"/>
              </a:rPr>
              <a:t>LMCache만 기여 · 나머지 3종 0건</a:t>
            </a:r>
          </a:p>
        </p:txBody>
      </p:sp>
      <p:sp>
        <p:nvSpPr>
          <p:cNvPr id="112" name="Isosceles Triangle 111"/>
          <p:cNvSpPr/>
          <p:nvPr/>
        </p:nvSpPr>
        <p:spPr>
          <a:xfrm>
            <a:off x="4937760" y="4462272"/>
            <a:ext cx="164592" cy="91440"/>
          </a:xfrm>
          <a:prstGeom prst="triangl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5148072" y="4534281"/>
            <a:ext cx="764320" cy="185166"/>
          </a:xfrm>
          <a:prstGeom prst="rect">
            <a:avLst/>
          </a:prstGeom>
          <a:noFill/>
        </p:spPr>
        <p:txBody>
          <a:bodyPr wrap="none" anchor="t" lIns="0" rIns="0" tIns="0" bIns="0">
            <a:spAutoFit/>
          </a:bodyPr>
          <a:lstStyle/>
          <a:p>
            <a:pPr algn="l">
              <a:lnSpc>
                <a:spcPct val="125000"/>
              </a:lnSpc>
            </a:pPr>
            <a:r>
              <a:rPr sz="936" b="1">
                <a:solidFill>
                  <a:srgbClr val="1428A0"/>
                </a:solidFill>
                <a:latin typeface="Arial"/>
                <a:ea typeface="Arial"/>
              </a:rPr>
              <a:t>삼성 현 위치</a:t>
            </a:r>
          </a:p>
        </p:txBody>
      </p:sp>
      <p:sp>
        <p:nvSpPr>
          <p:cNvPr id="114" name="Rectangle 113"/>
          <p:cNvSpPr/>
          <p:nvPr/>
        </p:nvSpPr>
        <p:spPr>
          <a:xfrm>
            <a:off x="722376" y="8467344"/>
            <a:ext cx="16843248" cy="82296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1133856" y="8467344"/>
            <a:ext cx="1463040" cy="822960"/>
          </a:xfrm>
          <a:prstGeom prst="rect">
            <a:avLst/>
          </a:prstGeom>
          <a:noFill/>
        </p:spPr>
        <p:txBody>
          <a:bodyPr wrap="square" anchor="ctr" lIns="0" rIns="0" tIns="0" bIns="0">
            <a:spAutoFit/>
          </a:bodyPr>
          <a:lstStyle/>
          <a:p>
            <a:pPr algn="l">
              <a:lnSpc>
                <a:spcPct val="112000"/>
              </a:lnSpc>
            </a:pPr>
            <a:r>
              <a:rPr sz="1800" b="0">
                <a:solidFill>
                  <a:srgbClr val="FFFFFF"/>
                </a:solidFill>
                <a:latin typeface="Arial"/>
                <a:ea typeface="Arial"/>
              </a:rPr>
              <a:t>결론</a:t>
            </a:r>
          </a:p>
        </p:txBody>
      </p:sp>
      <p:sp>
        <p:nvSpPr>
          <p:cNvPr id="116" name="TextBox 115"/>
          <p:cNvSpPr txBox="1"/>
          <p:nvPr/>
        </p:nvSpPr>
        <p:spPr>
          <a:xfrm>
            <a:off x="2551176" y="8467344"/>
            <a:ext cx="11905488" cy="822960"/>
          </a:xfrm>
          <a:prstGeom prst="rect">
            <a:avLst/>
          </a:prstGeom>
          <a:noFill/>
        </p:spPr>
        <p:txBody>
          <a:bodyPr wrap="square" anchor="ctr" lIns="0" rIns="0" tIns="0" bIns="0">
            <a:spAutoFit/>
          </a:bodyPr>
          <a:lstStyle/>
          <a:p>
            <a:pPr algn="l">
              <a:lnSpc>
                <a:spcPct val="108000"/>
              </a:lnSpc>
            </a:pPr>
            <a:r>
              <a:rPr sz="1600" b="1">
                <a:solidFill>
                  <a:srgbClr val="FFFFFF"/>
                </a:solidFill>
                <a:latin typeface="Arial"/>
                <a:ea typeface="Arial"/>
              </a:rPr>
              <a:t>보증 범위가 원가·전력 → 워크로드 수명 → 시스템 TCO로 확장되며, 삼성은 1단계 진행 중입니다</a:t>
            </a:r>
          </a:p>
        </p:txBody>
      </p:sp>
      <p:sp>
        <p:nvSpPr>
          <p:cNvPr id="117" name="Rectangle 116"/>
          <p:cNvSpPr/>
          <p:nvPr/>
        </p:nvSpPr>
        <p:spPr>
          <a:xfrm>
            <a:off x="14822424" y="8577072"/>
            <a:ext cx="2468880" cy="603504"/>
          </a:xfrm>
          <a:prstGeom prst="rect">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14822424" y="8577072"/>
            <a:ext cx="54864" cy="6035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15023592" y="8577072"/>
            <a:ext cx="2176272" cy="603504"/>
          </a:xfrm>
          <a:prstGeom prst="rect">
            <a:avLst/>
          </a:prstGeom>
          <a:noFill/>
        </p:spPr>
        <p:txBody>
          <a:bodyPr wrap="square" anchor="ctr" lIns="0" rIns="0" tIns="0" bIns="0">
            <a:spAutoFit/>
          </a:bodyPr>
          <a:lstStyle/>
          <a:p>
            <a:pPr algn="l">
              <a:lnSpc>
                <a:spcPct val="100000"/>
              </a:lnSpc>
            </a:pPr>
            <a:r>
              <a:rPr sz="1050" b="0">
                <a:solidFill>
                  <a:srgbClr val="AAB8E8"/>
                </a:solidFill>
                <a:latin typeface="Arial"/>
                <a:ea typeface="Arial"/>
              </a:rPr>
              <a:t>다음 장 →</a:t>
            </a:r>
          </a:p>
          <a:p>
            <a:pPr algn="l">
              <a:lnSpc>
                <a:spcPct val="100000"/>
              </a:lnSpc>
            </a:pPr>
            <a:r>
              <a:rPr sz="1350" b="1">
                <a:solidFill>
                  <a:srgbClr val="FFFFFF"/>
                </a:solidFill>
                <a:latin typeface="Arial"/>
                <a:ea typeface="Arial"/>
              </a:rPr>
              <a:t>5장 실행</a:t>
            </a:r>
          </a:p>
        </p:txBody>
      </p:sp>
      <p:sp>
        <p:nvSpPr>
          <p:cNvPr id="120" name="TextBox 119"/>
          <p:cNvSpPr txBox="1"/>
          <p:nvPr/>
        </p:nvSpPr>
        <p:spPr>
          <a:xfrm>
            <a:off x="722376" y="9592056"/>
            <a:ext cx="14264640" cy="310896"/>
          </a:xfrm>
          <a:prstGeom prst="rect">
            <a:avLst/>
          </a:prstGeom>
          <a:noFill/>
        </p:spPr>
        <p:txBody>
          <a:bodyPr wrap="square" anchor="t" lIns="0" rIns="0" tIns="0" bIns="0">
            <a:spAutoFit/>
          </a:bodyPr>
          <a:lstStyle/>
          <a:p>
            <a:pPr algn="l">
              <a:lnSpc>
                <a:spcPct val="112000"/>
              </a:lnSpc>
            </a:pPr>
            <a:r>
              <a:rPr sz="1600" b="0">
                <a:solidFill>
                  <a:srgbClr val="555555"/>
                </a:solidFill>
                <a:latin typeface="Arial"/>
                <a:ea typeface="Arial"/>
              </a:rPr>
              <a:t>출처: 보고서 v2.0 부록 A · 덱 v5.2와 동일 수치</a:t>
            </a:r>
          </a:p>
        </p:txBody>
      </p:sp>
      <p:sp>
        <p:nvSpPr>
          <p:cNvPr id="121" name="TextBox 120"/>
          <p:cNvSpPr txBox="1"/>
          <p:nvPr/>
        </p:nvSpPr>
        <p:spPr>
          <a:xfrm>
            <a:off x="16047720" y="9592056"/>
            <a:ext cx="1517904" cy="310896"/>
          </a:xfrm>
          <a:prstGeom prst="rect">
            <a:avLst/>
          </a:prstGeom>
          <a:noFill/>
        </p:spPr>
        <p:txBody>
          <a:bodyPr wrap="square" anchor="t" lIns="0" rIns="0" tIns="0" bIns="0">
            <a:spAutoFit/>
          </a:bodyPr>
          <a:lstStyle/>
          <a:p>
            <a:pPr algn="r">
              <a:lnSpc>
                <a:spcPct val="112000"/>
              </a:lnSpc>
            </a:pPr>
            <a:r>
              <a:rPr sz="1800" b="0">
                <a:solidFill>
                  <a:srgbClr val="555555"/>
                </a:solidFill>
                <a:latin typeface="Arial"/>
                <a:ea typeface="Arial"/>
              </a:rPr>
              <a:t>05 / 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420624"/>
            <a:ext cx="5486400" cy="310896"/>
          </a:xfrm>
          <a:prstGeom prst="rect">
            <a:avLst/>
          </a:prstGeom>
          <a:noFill/>
        </p:spPr>
        <p:txBody>
          <a:bodyPr wrap="square" anchor="t" lIns="0" rIns="0" tIns="0" bIns="0">
            <a:spAutoFit/>
          </a:bodyPr>
          <a:lstStyle/>
          <a:p>
            <a:pPr algn="l">
              <a:lnSpc>
                <a:spcPct val="112000"/>
              </a:lnSpc>
            </a:pPr>
            <a:r>
              <a:rPr sz="1800" b="1">
                <a:solidFill>
                  <a:srgbClr val="1428A0"/>
                </a:solidFill>
                <a:latin typeface="Arial"/>
                <a:ea typeface="Arial"/>
              </a:rPr>
              <a:t>삼성전자 메모리사업부</a:t>
            </a:r>
          </a:p>
        </p:txBody>
      </p:sp>
      <p:sp>
        <p:nvSpPr>
          <p:cNvPr id="3" name="TextBox 2"/>
          <p:cNvSpPr txBox="1"/>
          <p:nvPr/>
        </p:nvSpPr>
        <p:spPr>
          <a:xfrm>
            <a:off x="12079224" y="420624"/>
            <a:ext cx="5486400" cy="310896"/>
          </a:xfrm>
          <a:prstGeom prst="rect">
            <a:avLst/>
          </a:prstGeom>
          <a:noFill/>
        </p:spPr>
        <p:txBody>
          <a:bodyPr wrap="square" anchor="t" lIns="0" rIns="0" tIns="0" bIns="0">
            <a:spAutoFit/>
          </a:bodyPr>
          <a:lstStyle/>
          <a:p>
            <a:pPr algn="r">
              <a:lnSpc>
                <a:spcPct val="112000"/>
              </a:lnSpc>
            </a:pPr>
            <a:r>
              <a:rPr sz="1800" b="0">
                <a:solidFill>
                  <a:srgbClr val="555555"/>
                </a:solidFill>
                <a:latin typeface="Arial"/>
                <a:ea typeface="Arial"/>
              </a:rPr>
              <a:t>[문서등급 표기]</a:t>
            </a:r>
          </a:p>
        </p:txBody>
      </p:sp>
      <p:sp>
        <p:nvSpPr>
          <p:cNvPr id="4" name="TextBox 3"/>
          <p:cNvSpPr txBox="1"/>
          <p:nvPr/>
        </p:nvSpPr>
        <p:spPr>
          <a:xfrm>
            <a:off x="722376" y="804672"/>
            <a:ext cx="2148840" cy="274320"/>
          </a:xfrm>
          <a:prstGeom prst="rect">
            <a:avLst/>
          </a:prstGeom>
          <a:noFill/>
        </p:spPr>
        <p:txBody>
          <a:bodyPr wrap="square" anchor="ctr" lIns="0" rIns="0" tIns="0" bIns="0">
            <a:spAutoFit/>
          </a:bodyPr>
          <a:lstStyle/>
          <a:p>
            <a:pPr algn="l">
              <a:lnSpc>
                <a:spcPct val="112000"/>
              </a:lnSpc>
            </a:pPr>
            <a:r>
              <a:rPr sz="1800" b="1">
                <a:solidFill>
                  <a:srgbClr val="1428A0"/>
                </a:solidFill>
                <a:latin typeface="Arial"/>
                <a:ea typeface="Arial"/>
              </a:rPr>
              <a:t>QLC eSSD 전략</a:t>
            </a:r>
          </a:p>
        </p:txBody>
      </p:sp>
      <p:sp>
        <p:nvSpPr>
          <p:cNvPr id="5" name="Rectangle 4"/>
          <p:cNvSpPr/>
          <p:nvPr/>
        </p:nvSpPr>
        <p:spPr>
          <a:xfrm>
            <a:off x="2871216" y="1124712"/>
            <a:ext cx="2357628"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871216"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71216"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1</a:t>
            </a:r>
          </a:p>
        </p:txBody>
      </p:sp>
      <p:sp>
        <p:nvSpPr>
          <p:cNvPr id="8" name="TextBox 7"/>
          <p:cNvSpPr txBox="1"/>
          <p:nvPr/>
        </p:nvSpPr>
        <p:spPr>
          <a:xfrm>
            <a:off x="3209544" y="804672"/>
            <a:ext cx="2001011"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문제  </a:t>
            </a:r>
            <a:r>
              <a:rPr sz="1200" b="0">
                <a:solidFill>
                  <a:srgbClr val="555555"/>
                </a:solidFill>
                <a:latin typeface="Arial"/>
                <a:ea typeface="Arial"/>
              </a:rPr>
              <a:t/>
            </a:r>
          </a:p>
        </p:txBody>
      </p:sp>
      <p:sp>
        <p:nvSpPr>
          <p:cNvPr id="9" name="Rectangle 8"/>
          <p:cNvSpPr/>
          <p:nvPr/>
        </p:nvSpPr>
        <p:spPr>
          <a:xfrm>
            <a:off x="5320284" y="1124712"/>
            <a:ext cx="2357628"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320284"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20284"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2</a:t>
            </a:r>
          </a:p>
        </p:txBody>
      </p:sp>
      <p:sp>
        <p:nvSpPr>
          <p:cNvPr id="12" name="TextBox 11"/>
          <p:cNvSpPr txBox="1"/>
          <p:nvPr/>
        </p:nvSpPr>
        <p:spPr>
          <a:xfrm>
            <a:off x="5658611" y="804672"/>
            <a:ext cx="2001011"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신뢰성  </a:t>
            </a:r>
            <a:r>
              <a:rPr sz="1200" b="0">
                <a:solidFill>
                  <a:srgbClr val="555555"/>
                </a:solidFill>
                <a:latin typeface="Arial"/>
                <a:ea typeface="Arial"/>
              </a:rPr>
              <a:t/>
            </a:r>
          </a:p>
        </p:txBody>
      </p:sp>
      <p:sp>
        <p:nvSpPr>
          <p:cNvPr id="13" name="Rectangle 12"/>
          <p:cNvSpPr/>
          <p:nvPr/>
        </p:nvSpPr>
        <p:spPr>
          <a:xfrm>
            <a:off x="7769351" y="1124712"/>
            <a:ext cx="2357628"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769351"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69351"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3</a:t>
            </a:r>
          </a:p>
        </p:txBody>
      </p:sp>
      <p:sp>
        <p:nvSpPr>
          <p:cNvPr id="16" name="TextBox 15"/>
          <p:cNvSpPr txBox="1"/>
          <p:nvPr/>
        </p:nvSpPr>
        <p:spPr>
          <a:xfrm>
            <a:off x="8107679" y="804672"/>
            <a:ext cx="2001011"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해법 사다리  </a:t>
            </a:r>
            <a:r>
              <a:rPr sz="1200" b="0">
                <a:solidFill>
                  <a:srgbClr val="555555"/>
                </a:solidFill>
                <a:latin typeface="Arial"/>
                <a:ea typeface="Arial"/>
              </a:rPr>
              <a:t/>
            </a:r>
          </a:p>
        </p:txBody>
      </p:sp>
      <p:sp>
        <p:nvSpPr>
          <p:cNvPr id="17" name="Rectangle 16"/>
          <p:cNvSpPr/>
          <p:nvPr/>
        </p:nvSpPr>
        <p:spPr>
          <a:xfrm>
            <a:off x="10218420" y="1124712"/>
            <a:ext cx="2357628"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218420"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218420"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4</a:t>
            </a:r>
          </a:p>
        </p:txBody>
      </p:sp>
      <p:sp>
        <p:nvSpPr>
          <p:cNvPr id="20" name="TextBox 19"/>
          <p:cNvSpPr txBox="1"/>
          <p:nvPr/>
        </p:nvSpPr>
        <p:spPr>
          <a:xfrm>
            <a:off x="10556748" y="804672"/>
            <a:ext cx="2001011"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역량  </a:t>
            </a:r>
            <a:r>
              <a:rPr sz="1200" b="0">
                <a:solidFill>
                  <a:srgbClr val="555555"/>
                </a:solidFill>
                <a:latin typeface="Arial"/>
                <a:ea typeface="Arial"/>
              </a:rPr>
              <a:t/>
            </a:r>
          </a:p>
        </p:txBody>
      </p:sp>
      <p:sp>
        <p:nvSpPr>
          <p:cNvPr id="21" name="Rectangle 20"/>
          <p:cNvSpPr/>
          <p:nvPr/>
        </p:nvSpPr>
        <p:spPr>
          <a:xfrm>
            <a:off x="12667488" y="1124712"/>
            <a:ext cx="2357628"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2667488" y="818388"/>
            <a:ext cx="246888" cy="246888"/>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667488" y="818388"/>
            <a:ext cx="246888" cy="246888"/>
          </a:xfrm>
          <a:prstGeom prst="rect">
            <a:avLst/>
          </a:prstGeom>
          <a:noFill/>
        </p:spPr>
        <p:txBody>
          <a:bodyPr wrap="square" anchor="ctr" lIns="0" rIns="0" tIns="0" bIns="0">
            <a:spAutoFit/>
          </a:bodyPr>
          <a:lstStyle/>
          <a:p>
            <a:pPr algn="ctr">
              <a:lnSpc>
                <a:spcPct val="112000"/>
              </a:lnSpc>
            </a:pPr>
            <a:r>
              <a:rPr sz="1100" b="1">
                <a:solidFill>
                  <a:srgbClr val="FFFFFF"/>
                </a:solidFill>
                <a:latin typeface="Arial"/>
                <a:ea typeface="Arial"/>
              </a:rPr>
              <a:t>5</a:t>
            </a:r>
          </a:p>
        </p:txBody>
      </p:sp>
      <p:sp>
        <p:nvSpPr>
          <p:cNvPr id="24" name="TextBox 23"/>
          <p:cNvSpPr txBox="1"/>
          <p:nvPr/>
        </p:nvSpPr>
        <p:spPr>
          <a:xfrm>
            <a:off x="13005816" y="804672"/>
            <a:ext cx="2001011" cy="274320"/>
          </a:xfrm>
          <a:prstGeom prst="rect">
            <a:avLst/>
          </a:prstGeom>
          <a:noFill/>
        </p:spPr>
        <p:txBody>
          <a:bodyPr wrap="square" anchor="ctr" lIns="0" rIns="0" tIns="0" bIns="0">
            <a:spAutoFit/>
          </a:bodyPr>
          <a:lstStyle/>
          <a:p>
            <a:pPr algn="l">
              <a:lnSpc>
                <a:spcPct val="112000"/>
              </a:lnSpc>
            </a:pPr>
            <a:r>
              <a:rPr sz="1300" b="1">
                <a:solidFill>
                  <a:srgbClr val="1428A0"/>
                </a:solidFill>
                <a:latin typeface="Arial"/>
                <a:ea typeface="Arial"/>
              </a:rPr>
              <a:t>실행  </a:t>
            </a:r>
            <a:r>
              <a:rPr sz="1200" b="0">
                <a:solidFill>
                  <a:srgbClr val="1428A0"/>
                </a:solidFill>
                <a:latin typeface="Arial"/>
                <a:ea typeface="Arial"/>
              </a:rPr>
              <a:t/>
            </a:r>
          </a:p>
        </p:txBody>
      </p:sp>
      <p:sp>
        <p:nvSpPr>
          <p:cNvPr id="25" name="Rectangle 24"/>
          <p:cNvSpPr/>
          <p:nvPr/>
        </p:nvSpPr>
        <p:spPr>
          <a:xfrm>
            <a:off x="15116556" y="1124712"/>
            <a:ext cx="2357628"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5116556"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116556"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6</a:t>
            </a:r>
          </a:p>
        </p:txBody>
      </p:sp>
      <p:sp>
        <p:nvSpPr>
          <p:cNvPr id="28" name="TextBox 27"/>
          <p:cNvSpPr txBox="1"/>
          <p:nvPr/>
        </p:nvSpPr>
        <p:spPr>
          <a:xfrm>
            <a:off x="15454884" y="804672"/>
            <a:ext cx="2001011"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보증 · SLA  </a:t>
            </a:r>
            <a:r>
              <a:rPr sz="1200" b="0">
                <a:solidFill>
                  <a:srgbClr val="8A8A8A"/>
                </a:solidFill>
                <a:latin typeface="Arial"/>
                <a:ea typeface="Arial"/>
              </a:rPr>
              <a:t/>
            </a:r>
          </a:p>
        </p:txBody>
      </p:sp>
      <p:sp>
        <p:nvSpPr>
          <p:cNvPr id="29" name="TextBox 28"/>
          <p:cNvSpPr txBox="1"/>
          <p:nvPr/>
        </p:nvSpPr>
        <p:spPr>
          <a:xfrm>
            <a:off x="722376" y="1216152"/>
            <a:ext cx="16843248" cy="566928"/>
          </a:xfrm>
          <a:prstGeom prst="rect">
            <a:avLst/>
          </a:prstGeom>
          <a:noFill/>
        </p:spPr>
        <p:txBody>
          <a:bodyPr wrap="square" anchor="t" lIns="0" rIns="0" tIns="0" bIns="0">
            <a:spAutoFit/>
          </a:bodyPr>
          <a:lstStyle/>
          <a:p>
            <a:pPr algn="l">
              <a:lnSpc>
                <a:spcPct val="112000"/>
              </a:lnSpc>
            </a:pPr>
            <a:r>
              <a:rPr sz="3000" b="1">
                <a:solidFill>
                  <a:srgbClr val="1A1A1A"/>
                </a:solidFill>
                <a:latin typeface="Arial"/>
                <a:ea typeface="Arial"/>
              </a:rPr>
              <a:t>3단계 진입은 워크로드를 개방하는 고객에 FDE를 집중하고, 그 외는 업스트림·규격으로 협업합니다</a:t>
            </a:r>
          </a:p>
        </p:txBody>
      </p:sp>
      <p:sp>
        <p:nvSpPr>
          <p:cNvPr id="30" name="TextBox 29"/>
          <p:cNvSpPr txBox="1"/>
          <p:nvPr/>
        </p:nvSpPr>
        <p:spPr>
          <a:xfrm>
            <a:off x="722376" y="1865376"/>
            <a:ext cx="16843248" cy="402336"/>
          </a:xfrm>
          <a:prstGeom prst="rect">
            <a:avLst/>
          </a:prstGeom>
          <a:noFill/>
        </p:spPr>
        <p:txBody>
          <a:bodyPr wrap="square" anchor="t" lIns="0" rIns="0" tIns="0" bIns="0">
            <a:spAutoFit/>
          </a:bodyPr>
          <a:lstStyle/>
          <a:p>
            <a:pPr algn="l">
              <a:lnSpc>
                <a:spcPct val="112000"/>
              </a:lnSpc>
            </a:pPr>
            <a:r>
              <a:rPr sz="1800" b="0">
                <a:solidFill>
                  <a:srgbClr val="1A1A1A"/>
                </a:solidFill>
                <a:latin typeface="Arial"/>
                <a:ea typeface="Arial"/>
              </a:rPr>
              <a:t>「단 한 번도 고객 지향적인 적이 없었다. 진짜 고객 지향이 뭔지 이해하고, 그것을 위한 전략이 필요한 시점이 이미 됐다」</a:t>
            </a:r>
            <a:r>
              <a:rPr sz="1350" b="0">
                <a:solidFill>
                  <a:srgbClr val="8A8A8A"/>
                </a:solidFill>
                <a:latin typeface="Arial"/>
                <a:ea typeface="Arial"/>
              </a:rPr>
              <a:t>   송용호 · AX/PI센터장, 2026-09</a:t>
            </a:r>
          </a:p>
        </p:txBody>
      </p:sp>
      <p:sp>
        <p:nvSpPr>
          <p:cNvPr id="31" name="Rectangle 30"/>
          <p:cNvSpPr/>
          <p:nvPr/>
        </p:nvSpPr>
        <p:spPr>
          <a:xfrm>
            <a:off x="722376" y="2395728"/>
            <a:ext cx="16843248" cy="12801"/>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22376" y="2560320"/>
            <a:ext cx="3383280" cy="356616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96696" y="2743200"/>
            <a:ext cx="2834640" cy="292608"/>
          </a:xfrm>
          <a:prstGeom prst="rect">
            <a:avLst/>
          </a:prstGeom>
          <a:noFill/>
        </p:spPr>
        <p:txBody>
          <a:bodyPr wrap="square" anchor="t" lIns="0" rIns="0" tIns="0" bIns="0">
            <a:spAutoFit/>
          </a:bodyPr>
          <a:lstStyle/>
          <a:p>
            <a:pPr algn="l">
              <a:lnSpc>
                <a:spcPct val="112000"/>
              </a:lnSpc>
            </a:pPr>
            <a:r>
              <a:rPr sz="1800" b="1">
                <a:solidFill>
                  <a:srgbClr val="1428A0"/>
                </a:solidFill>
                <a:latin typeface="Arial"/>
                <a:ea typeface="Arial"/>
              </a:rPr>
              <a:t>삼성 개발실</a:t>
            </a:r>
          </a:p>
        </p:txBody>
      </p:sp>
      <p:sp>
        <p:nvSpPr>
          <p:cNvPr id="34" name="TextBox 33"/>
          <p:cNvSpPr txBox="1"/>
          <p:nvPr/>
        </p:nvSpPr>
        <p:spPr>
          <a:xfrm>
            <a:off x="996696" y="3054096"/>
            <a:ext cx="2834640" cy="237744"/>
          </a:xfrm>
          <a:prstGeom prst="rect">
            <a:avLst/>
          </a:prstGeom>
          <a:noFill/>
        </p:spPr>
        <p:txBody>
          <a:bodyPr wrap="square" anchor="t" lIns="0" rIns="0" tIns="0" bIns="0">
            <a:spAutoFit/>
          </a:bodyPr>
          <a:lstStyle/>
          <a:p>
            <a:pPr algn="l">
              <a:lnSpc>
                <a:spcPct val="112000"/>
              </a:lnSpc>
            </a:pPr>
            <a:r>
              <a:rPr sz="1275" b="0">
                <a:solidFill>
                  <a:srgbClr val="8A8A8A"/>
                </a:solidFill>
                <a:latin typeface="Arial"/>
                <a:ea typeface="Arial"/>
              </a:rPr>
              <a:t>삼성이 제공하는 것</a:t>
            </a:r>
          </a:p>
        </p:txBody>
      </p:sp>
      <p:sp>
        <p:nvSpPr>
          <p:cNvPr id="35" name="Rectangle 34"/>
          <p:cNvSpPr/>
          <p:nvPr/>
        </p:nvSpPr>
        <p:spPr>
          <a:xfrm>
            <a:off x="996696" y="3584448"/>
            <a:ext cx="146304" cy="146304"/>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234440" y="3493008"/>
            <a:ext cx="2596896" cy="329184"/>
          </a:xfrm>
          <a:prstGeom prst="rect">
            <a:avLst/>
          </a:prstGeom>
          <a:noFill/>
        </p:spPr>
        <p:txBody>
          <a:bodyPr wrap="square" anchor="ctr" lIns="0" rIns="0" tIns="0" bIns="0">
            <a:spAutoFit/>
          </a:bodyPr>
          <a:lstStyle/>
          <a:p>
            <a:pPr algn="l">
              <a:lnSpc>
                <a:spcPct val="112000"/>
              </a:lnSpc>
            </a:pPr>
            <a:r>
              <a:rPr sz="1350" b="1">
                <a:solidFill>
                  <a:srgbClr val="1A1A1A"/>
                </a:solidFill>
                <a:latin typeface="Arial"/>
                <a:ea typeface="Arial"/>
              </a:rPr>
              <a:t>KV-ready QLC + 조건부 보증</a:t>
            </a:r>
          </a:p>
        </p:txBody>
      </p:sp>
      <p:sp>
        <p:nvSpPr>
          <p:cNvPr id="37" name="Rectangle 36"/>
          <p:cNvSpPr/>
          <p:nvPr/>
        </p:nvSpPr>
        <p:spPr>
          <a:xfrm>
            <a:off x="996696" y="4187951"/>
            <a:ext cx="146304" cy="146304"/>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234440" y="4096511"/>
            <a:ext cx="2596896" cy="329184"/>
          </a:xfrm>
          <a:prstGeom prst="rect">
            <a:avLst/>
          </a:prstGeom>
          <a:noFill/>
        </p:spPr>
        <p:txBody>
          <a:bodyPr wrap="square" anchor="ctr" lIns="0" rIns="0" tIns="0" bIns="0">
            <a:spAutoFit/>
          </a:bodyPr>
          <a:lstStyle/>
          <a:p>
            <a:pPr algn="l">
              <a:lnSpc>
                <a:spcPct val="112000"/>
              </a:lnSpc>
            </a:pPr>
            <a:r>
              <a:rPr sz="1350" b="1">
                <a:solidFill>
                  <a:srgbClr val="1A1A1A"/>
                </a:solidFill>
                <a:latin typeface="Arial"/>
                <a:ea typeface="Arial"/>
              </a:rPr>
              <a:t>FDE 상주 엔지니어 · Pod 3~5명</a:t>
            </a:r>
          </a:p>
        </p:txBody>
      </p:sp>
      <p:sp>
        <p:nvSpPr>
          <p:cNvPr id="39" name="Rectangle 38"/>
          <p:cNvSpPr/>
          <p:nvPr/>
        </p:nvSpPr>
        <p:spPr>
          <a:xfrm>
            <a:off x="996696" y="4791455"/>
            <a:ext cx="146304" cy="146304"/>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234440" y="4700016"/>
            <a:ext cx="2596896" cy="329184"/>
          </a:xfrm>
          <a:prstGeom prst="rect">
            <a:avLst/>
          </a:prstGeom>
          <a:noFill/>
        </p:spPr>
        <p:txBody>
          <a:bodyPr wrap="square" anchor="ctr" lIns="0" rIns="0" tIns="0" bIns="0">
            <a:spAutoFit/>
          </a:bodyPr>
          <a:lstStyle/>
          <a:p>
            <a:pPr algn="l">
              <a:lnSpc>
                <a:spcPct val="112000"/>
              </a:lnSpc>
            </a:pPr>
            <a:r>
              <a:rPr sz="1350" b="1">
                <a:solidFill>
                  <a:srgbClr val="1A1A1A"/>
                </a:solidFill>
                <a:latin typeface="Arial"/>
                <a:ea typeface="Arial"/>
              </a:rPr>
              <a:t>업스트림 코드 · 레퍼런스 스택</a:t>
            </a:r>
          </a:p>
        </p:txBody>
      </p:sp>
      <p:sp>
        <p:nvSpPr>
          <p:cNvPr id="41" name="Rectangle 40"/>
          <p:cNvSpPr/>
          <p:nvPr/>
        </p:nvSpPr>
        <p:spPr>
          <a:xfrm>
            <a:off x="996696" y="5394959"/>
            <a:ext cx="146304" cy="146304"/>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234440" y="5303520"/>
            <a:ext cx="2596896" cy="329184"/>
          </a:xfrm>
          <a:prstGeom prst="rect">
            <a:avLst/>
          </a:prstGeom>
          <a:noFill/>
        </p:spPr>
        <p:txBody>
          <a:bodyPr wrap="square" anchor="ctr" lIns="0" rIns="0" tIns="0" bIns="0">
            <a:spAutoFit/>
          </a:bodyPr>
          <a:lstStyle/>
          <a:p>
            <a:pPr algn="l">
              <a:lnSpc>
                <a:spcPct val="112000"/>
              </a:lnSpc>
            </a:pPr>
            <a:r>
              <a:rPr sz="1350" b="1">
                <a:solidFill>
                  <a:srgbClr val="1A1A1A"/>
                </a:solidFill>
                <a:latin typeface="Arial"/>
                <a:ea typeface="Arial"/>
              </a:rPr>
              <a:t>공용 TCO 모델 · 실측 공개</a:t>
            </a:r>
          </a:p>
        </p:txBody>
      </p:sp>
      <p:sp>
        <p:nvSpPr>
          <p:cNvPr id="43" name="Rectangle 42"/>
          <p:cNvSpPr/>
          <p:nvPr/>
        </p:nvSpPr>
        <p:spPr>
          <a:xfrm>
            <a:off x="13816584" y="2560320"/>
            <a:ext cx="3749039" cy="356616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4090904" y="2743200"/>
            <a:ext cx="3200399" cy="292608"/>
          </a:xfrm>
          <a:prstGeom prst="rect">
            <a:avLst/>
          </a:prstGeom>
          <a:noFill/>
        </p:spPr>
        <p:txBody>
          <a:bodyPr wrap="square" anchor="t" lIns="0" rIns="0" tIns="0" bIns="0">
            <a:spAutoFit/>
          </a:bodyPr>
          <a:lstStyle/>
          <a:p>
            <a:pPr algn="l">
              <a:lnSpc>
                <a:spcPct val="112000"/>
              </a:lnSpc>
            </a:pPr>
            <a:r>
              <a:rPr sz="1800" b="1">
                <a:solidFill>
                  <a:srgbClr val="1428A0"/>
                </a:solidFill>
                <a:latin typeface="Arial"/>
                <a:ea typeface="Arial"/>
              </a:rPr>
              <a:t>고객 시스템</a:t>
            </a:r>
          </a:p>
        </p:txBody>
      </p:sp>
      <p:sp>
        <p:nvSpPr>
          <p:cNvPr id="45" name="TextBox 44"/>
          <p:cNvSpPr txBox="1"/>
          <p:nvPr/>
        </p:nvSpPr>
        <p:spPr>
          <a:xfrm>
            <a:off x="14090904" y="3054096"/>
            <a:ext cx="3200399" cy="237744"/>
          </a:xfrm>
          <a:prstGeom prst="rect">
            <a:avLst/>
          </a:prstGeom>
          <a:noFill/>
        </p:spPr>
        <p:txBody>
          <a:bodyPr wrap="square" anchor="t" lIns="0" rIns="0" tIns="0" bIns="0">
            <a:spAutoFit/>
          </a:bodyPr>
          <a:lstStyle/>
          <a:p>
            <a:pPr algn="l">
              <a:lnSpc>
                <a:spcPct val="112000"/>
              </a:lnSpc>
            </a:pPr>
            <a:r>
              <a:rPr sz="1275" b="0">
                <a:solidFill>
                  <a:srgbClr val="8A8A8A"/>
                </a:solidFill>
                <a:latin typeface="Arial"/>
                <a:ea typeface="Arial"/>
              </a:rPr>
              <a:t>삼성 인력 · 코드의 진입 계층</a:t>
            </a:r>
          </a:p>
        </p:txBody>
      </p:sp>
      <p:sp>
        <p:nvSpPr>
          <p:cNvPr id="46" name="Rectangle 45"/>
          <p:cNvSpPr/>
          <p:nvPr/>
        </p:nvSpPr>
        <p:spPr>
          <a:xfrm>
            <a:off x="14090904" y="3401568"/>
            <a:ext cx="2240280" cy="420624"/>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4228064" y="3401568"/>
            <a:ext cx="1965960" cy="420624"/>
          </a:xfrm>
          <a:prstGeom prst="rect">
            <a:avLst/>
          </a:prstGeom>
          <a:noFill/>
        </p:spPr>
        <p:txBody>
          <a:bodyPr wrap="square" anchor="ctr" lIns="0" rIns="0" tIns="0" bIns="0">
            <a:spAutoFit/>
          </a:bodyPr>
          <a:lstStyle/>
          <a:p>
            <a:pPr algn="l">
              <a:lnSpc>
                <a:spcPct val="112000"/>
              </a:lnSpc>
            </a:pPr>
            <a:r>
              <a:rPr sz="1350" b="0">
                <a:solidFill>
                  <a:srgbClr val="555555"/>
                </a:solidFill>
                <a:latin typeface="Arial"/>
                <a:ea typeface="Arial"/>
              </a:rPr>
              <a:t>응용 · 추론 엔진</a:t>
            </a:r>
          </a:p>
        </p:txBody>
      </p:sp>
      <p:sp>
        <p:nvSpPr>
          <p:cNvPr id="48" name="Rectangle 47"/>
          <p:cNvSpPr/>
          <p:nvPr/>
        </p:nvSpPr>
        <p:spPr>
          <a:xfrm>
            <a:off x="14090904" y="3895344"/>
            <a:ext cx="2240280" cy="420624"/>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4228064" y="3895344"/>
            <a:ext cx="1965960" cy="420624"/>
          </a:xfrm>
          <a:prstGeom prst="rect">
            <a:avLst/>
          </a:prstGeom>
          <a:noFill/>
        </p:spPr>
        <p:txBody>
          <a:bodyPr wrap="square" anchor="ctr" lIns="0" rIns="0" tIns="0" bIns="0">
            <a:spAutoFit/>
          </a:bodyPr>
          <a:lstStyle/>
          <a:p>
            <a:pPr algn="l">
              <a:lnSpc>
                <a:spcPct val="112000"/>
              </a:lnSpc>
            </a:pPr>
            <a:r>
              <a:rPr sz="1350" b="1">
                <a:solidFill>
                  <a:srgbClr val="1A1A1A"/>
                </a:solidFill>
                <a:latin typeface="Arial"/>
                <a:ea typeface="Arial"/>
              </a:rPr>
              <a:t>KV 캐시 관리자</a:t>
            </a:r>
          </a:p>
        </p:txBody>
      </p:sp>
      <p:sp>
        <p:nvSpPr>
          <p:cNvPr id="50" name="Rectangle 49"/>
          <p:cNvSpPr/>
          <p:nvPr/>
        </p:nvSpPr>
        <p:spPr>
          <a:xfrm>
            <a:off x="14090904" y="4389120"/>
            <a:ext cx="2240280" cy="420624"/>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4228064" y="4389120"/>
            <a:ext cx="1965960" cy="420624"/>
          </a:xfrm>
          <a:prstGeom prst="rect">
            <a:avLst/>
          </a:prstGeom>
          <a:noFill/>
        </p:spPr>
        <p:txBody>
          <a:bodyPr wrap="square" anchor="ctr" lIns="0" rIns="0" tIns="0" bIns="0">
            <a:spAutoFit/>
          </a:bodyPr>
          <a:lstStyle/>
          <a:p>
            <a:pPr algn="l">
              <a:lnSpc>
                <a:spcPct val="112000"/>
              </a:lnSpc>
            </a:pPr>
            <a:r>
              <a:rPr sz="1350" b="1">
                <a:solidFill>
                  <a:srgbClr val="FFFFFF"/>
                </a:solidFill>
                <a:latin typeface="Arial"/>
                <a:ea typeface="Arial"/>
              </a:rPr>
              <a:t>I/O · 커널</a:t>
            </a:r>
          </a:p>
        </p:txBody>
      </p:sp>
      <p:sp>
        <p:nvSpPr>
          <p:cNvPr id="52" name="Rectangle 51"/>
          <p:cNvSpPr/>
          <p:nvPr/>
        </p:nvSpPr>
        <p:spPr>
          <a:xfrm>
            <a:off x="14090904" y="4882896"/>
            <a:ext cx="2240280" cy="420624"/>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4228064" y="4882896"/>
            <a:ext cx="1965960" cy="420624"/>
          </a:xfrm>
          <a:prstGeom prst="rect">
            <a:avLst/>
          </a:prstGeom>
          <a:noFill/>
        </p:spPr>
        <p:txBody>
          <a:bodyPr wrap="square" anchor="ctr" lIns="0" rIns="0" tIns="0" bIns="0">
            <a:spAutoFit/>
          </a:bodyPr>
          <a:lstStyle/>
          <a:p>
            <a:pPr algn="l">
              <a:lnSpc>
                <a:spcPct val="112000"/>
              </a:lnSpc>
            </a:pPr>
            <a:r>
              <a:rPr sz="1350" b="1">
                <a:solidFill>
                  <a:srgbClr val="FFFFFF"/>
                </a:solidFill>
                <a:latin typeface="Arial"/>
                <a:ea typeface="Arial"/>
              </a:rPr>
              <a:t>SSD: 삼성 QLC</a:t>
            </a:r>
          </a:p>
        </p:txBody>
      </p:sp>
      <p:sp>
        <p:nvSpPr>
          <p:cNvPr id="54" name="Oval 53"/>
          <p:cNvSpPr/>
          <p:nvPr/>
        </p:nvSpPr>
        <p:spPr>
          <a:xfrm>
            <a:off x="16536009" y="3922776"/>
            <a:ext cx="138988" cy="138988"/>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 Same Side Corner Rectangle 54"/>
          <p:cNvSpPr/>
          <p:nvPr/>
        </p:nvSpPr>
        <p:spPr>
          <a:xfrm>
            <a:off x="16477488" y="4083710"/>
            <a:ext cx="256031" cy="204825"/>
          </a:xfrm>
          <a:prstGeom prst="round2SameRect">
            <a:avLst>
              <a:gd name="adj1" fmla="val 50000"/>
              <a:gd name="adj2" fmla="val 0"/>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6788384" y="3895344"/>
            <a:ext cx="731520" cy="420624"/>
          </a:xfrm>
          <a:prstGeom prst="rect">
            <a:avLst/>
          </a:prstGeom>
          <a:noFill/>
        </p:spPr>
        <p:txBody>
          <a:bodyPr wrap="square" anchor="ctr" lIns="0" rIns="0" tIns="0" bIns="0">
            <a:spAutoFit/>
          </a:bodyPr>
          <a:lstStyle/>
          <a:p>
            <a:pPr algn="l">
              <a:lnSpc>
                <a:spcPct val="112000"/>
              </a:lnSpc>
            </a:pPr>
            <a:r>
              <a:rPr sz="1275" b="1">
                <a:solidFill>
                  <a:srgbClr val="1428A0"/>
                </a:solidFill>
                <a:latin typeface="Arial"/>
                <a:ea typeface="Arial"/>
              </a:rPr>
              <a:t>FDE</a:t>
            </a:r>
          </a:p>
        </p:txBody>
      </p:sp>
      <p:sp>
        <p:nvSpPr>
          <p:cNvPr id="57" name="TextBox 56"/>
          <p:cNvSpPr txBox="1"/>
          <p:nvPr/>
        </p:nvSpPr>
        <p:spPr>
          <a:xfrm>
            <a:off x="16477488" y="4389120"/>
            <a:ext cx="960120" cy="420624"/>
          </a:xfrm>
          <a:prstGeom prst="rect">
            <a:avLst/>
          </a:prstGeom>
          <a:noFill/>
        </p:spPr>
        <p:txBody>
          <a:bodyPr wrap="square" anchor="ctr" lIns="0" rIns="0" tIns="0" bIns="0">
            <a:spAutoFit/>
          </a:bodyPr>
          <a:lstStyle/>
          <a:p>
            <a:pPr algn="l">
              <a:lnSpc>
                <a:spcPct val="112000"/>
              </a:lnSpc>
            </a:pPr>
            <a:r>
              <a:rPr sz="1275" b="1">
                <a:solidFill>
                  <a:srgbClr val="1428A0"/>
                </a:solidFill>
                <a:latin typeface="Arial"/>
                <a:ea typeface="Arial"/>
              </a:rPr>
              <a:t>코드 머지</a:t>
            </a:r>
          </a:p>
        </p:txBody>
      </p:sp>
      <p:pic>
        <p:nvPicPr>
          <p:cNvPr id="58" name="Picture 57" descr="anthropic.png"/>
          <p:cNvPicPr>
            <a:picLocks noChangeAspect="1"/>
          </p:cNvPicPr>
          <p:nvPr/>
        </p:nvPicPr>
        <p:blipFill>
          <a:blip r:embed="rId2"/>
          <a:stretch>
            <a:fillRect/>
          </a:stretch>
        </p:blipFill>
        <p:spPr>
          <a:xfrm>
            <a:off x="14090904" y="5651571"/>
            <a:ext cx="1119326" cy="126857"/>
          </a:xfrm>
          <a:prstGeom prst="rect">
            <a:avLst/>
          </a:prstGeom>
        </p:spPr>
      </p:pic>
      <p:pic>
        <p:nvPicPr>
          <p:cNvPr id="59" name="Picture 58" descr="openai.png"/>
          <p:cNvPicPr>
            <a:picLocks noChangeAspect="1"/>
          </p:cNvPicPr>
          <p:nvPr/>
        </p:nvPicPr>
        <p:blipFill>
          <a:blip r:embed="rId3"/>
          <a:stretch>
            <a:fillRect/>
          </a:stretch>
        </p:blipFill>
        <p:spPr>
          <a:xfrm>
            <a:off x="15302493" y="5651571"/>
            <a:ext cx="516612" cy="126857"/>
          </a:xfrm>
          <a:prstGeom prst="rect">
            <a:avLst/>
          </a:prstGeom>
        </p:spPr>
      </p:pic>
      <p:pic>
        <p:nvPicPr>
          <p:cNvPr id="60" name="Picture 59" descr="nvidia.png"/>
          <p:cNvPicPr>
            <a:picLocks noChangeAspect="1"/>
          </p:cNvPicPr>
          <p:nvPr/>
        </p:nvPicPr>
        <p:blipFill>
          <a:blip r:embed="rId4"/>
          <a:stretch>
            <a:fillRect/>
          </a:stretch>
        </p:blipFill>
        <p:spPr>
          <a:xfrm>
            <a:off x="15911367" y="5651571"/>
            <a:ext cx="663787" cy="126857"/>
          </a:xfrm>
          <a:prstGeom prst="rect">
            <a:avLst/>
          </a:prstGeom>
        </p:spPr>
      </p:pic>
      <p:pic>
        <p:nvPicPr>
          <p:cNvPr id="61" name="Picture 60" descr="meta.png"/>
          <p:cNvPicPr>
            <a:picLocks noChangeAspect="1"/>
          </p:cNvPicPr>
          <p:nvPr/>
        </p:nvPicPr>
        <p:blipFill>
          <a:blip r:embed="rId5"/>
          <a:stretch>
            <a:fillRect/>
          </a:stretch>
        </p:blipFill>
        <p:spPr>
          <a:xfrm>
            <a:off x="16667415" y="5651571"/>
            <a:ext cx="623887" cy="126857"/>
          </a:xfrm>
          <a:prstGeom prst="rect">
            <a:avLst/>
          </a:prstGeom>
        </p:spPr>
      </p:pic>
      <p:sp>
        <p:nvSpPr>
          <p:cNvPr id="62" name="Right Arrow 61"/>
          <p:cNvSpPr/>
          <p:nvPr/>
        </p:nvSpPr>
        <p:spPr>
          <a:xfrm>
            <a:off x="4325112" y="2651760"/>
            <a:ext cx="9272016" cy="749808"/>
          </a:xfrm>
          <a:prstGeom prst="rightArrow">
            <a:avLst>
              <a:gd name="adj1" fmla="val 80000"/>
              <a:gd name="adj2" fmla="val 26000"/>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654296" y="2651760"/>
            <a:ext cx="8083296" cy="749808"/>
          </a:xfrm>
          <a:prstGeom prst="rect">
            <a:avLst/>
          </a:prstGeom>
          <a:noFill/>
        </p:spPr>
        <p:txBody>
          <a:bodyPr wrap="square" anchor="ctr" lIns="0" rIns="0" tIns="0" bIns="0">
            <a:spAutoFit/>
          </a:bodyPr>
          <a:lstStyle/>
          <a:p>
            <a:pPr algn="l">
              <a:lnSpc>
                <a:spcPct val="106000"/>
              </a:lnSpc>
            </a:pPr>
            <a:r>
              <a:rPr sz="1600" b="1">
                <a:solidFill>
                  <a:srgbClr val="FFFFFF"/>
                </a:solidFill>
                <a:latin typeface="Arial"/>
                <a:ea typeface="Arial"/>
              </a:rPr>
              <a:t>① FDE 상주: 워크로드를 개방하는 고객 1~2사에 집중</a:t>
            </a:r>
          </a:p>
          <a:p>
            <a:pPr algn="l">
              <a:lnSpc>
                <a:spcPct val="106000"/>
              </a:lnSpc>
            </a:pPr>
            <a:r>
              <a:rPr sz="1250" b="0">
                <a:solidFill>
                  <a:srgbClr val="FFFFFF"/>
                </a:solidFill>
                <a:latin typeface="Arial"/>
                <a:ea typeface="Arial"/>
              </a:rPr>
              <a:t>상주 조건: 트레이스·정책 접근 · 캐시 관리자 자체 운영 · 물량·규격 파급력</a:t>
            </a:r>
          </a:p>
        </p:txBody>
      </p:sp>
      <p:sp>
        <p:nvSpPr>
          <p:cNvPr id="64" name="Rectangle 63"/>
          <p:cNvSpPr/>
          <p:nvPr/>
        </p:nvSpPr>
        <p:spPr>
          <a:xfrm>
            <a:off x="4325112" y="3529584"/>
            <a:ext cx="4544568" cy="1627632"/>
          </a:xfrm>
          <a:prstGeom prst="rect">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526280" y="3621024"/>
            <a:ext cx="4142232" cy="237744"/>
          </a:xfrm>
          <a:prstGeom prst="rect">
            <a:avLst/>
          </a:prstGeom>
          <a:noFill/>
        </p:spPr>
        <p:txBody>
          <a:bodyPr wrap="square" anchor="t" lIns="0" rIns="0" tIns="0" bIns="0">
            <a:spAutoFit/>
          </a:bodyPr>
          <a:lstStyle/>
          <a:p>
            <a:pPr algn="l">
              <a:lnSpc>
                <a:spcPct val="112000"/>
              </a:lnSpc>
            </a:pPr>
            <a:r>
              <a:rPr sz="1350" b="1">
                <a:solidFill>
                  <a:srgbClr val="1428A0"/>
                </a:solidFill>
                <a:latin typeface="Arial"/>
                <a:ea typeface="Arial"/>
              </a:rPr>
              <a:t>고객 선별 · 채널</a:t>
            </a:r>
          </a:p>
        </p:txBody>
      </p:sp>
      <p:sp>
        <p:nvSpPr>
          <p:cNvPr id="66" name="Rectangle 65"/>
          <p:cNvSpPr/>
          <p:nvPr/>
        </p:nvSpPr>
        <p:spPr>
          <a:xfrm>
            <a:off x="4526280" y="3995928"/>
            <a:ext cx="73152" cy="187452"/>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690872" y="3950208"/>
            <a:ext cx="2499512" cy="278892"/>
          </a:xfrm>
          <a:prstGeom prst="rect">
            <a:avLst/>
          </a:prstGeom>
          <a:noFill/>
        </p:spPr>
        <p:txBody>
          <a:bodyPr wrap="square" anchor="ctr" lIns="0" rIns="0" tIns="0" bIns="0">
            <a:spAutoFit/>
          </a:bodyPr>
          <a:lstStyle/>
          <a:p>
            <a:pPr algn="l">
              <a:lnSpc>
                <a:spcPct val="112000"/>
              </a:lnSpc>
            </a:pPr>
            <a:r>
              <a:rPr sz="1150" b="1">
                <a:solidFill>
                  <a:srgbClr val="1A1A1A"/>
                </a:solidFill>
                <a:latin typeface="Arial"/>
                <a:ea typeface="Arial"/>
              </a:rPr>
              <a:t>AI 랩 · Anthropic·OpenAI</a:t>
            </a:r>
          </a:p>
        </p:txBody>
      </p:sp>
      <p:sp>
        <p:nvSpPr>
          <p:cNvPr id="68" name="Right Arrow 67"/>
          <p:cNvSpPr/>
          <p:nvPr/>
        </p:nvSpPr>
        <p:spPr>
          <a:xfrm>
            <a:off x="7190384" y="4025646"/>
            <a:ext cx="164592" cy="128016"/>
          </a:xfrm>
          <a:prstGeom prst="rightArrow">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409840" y="3950208"/>
            <a:ext cx="1587855" cy="278892"/>
          </a:xfrm>
          <a:prstGeom prst="rect">
            <a:avLst/>
          </a:prstGeom>
          <a:noFill/>
        </p:spPr>
        <p:txBody>
          <a:bodyPr wrap="square" anchor="ctr" lIns="0" rIns="0" tIns="0" bIns="0">
            <a:spAutoFit/>
          </a:bodyPr>
          <a:lstStyle/>
          <a:p>
            <a:pPr algn="l">
              <a:lnSpc>
                <a:spcPct val="112000"/>
              </a:lnSpc>
            </a:pPr>
            <a:r>
              <a:rPr sz="1150" b="1">
                <a:solidFill>
                  <a:srgbClr val="1428A0"/>
                </a:solidFill>
                <a:latin typeface="Arial"/>
                <a:ea typeface="Arial"/>
              </a:rPr>
              <a:t>FDE 상주 Pod 3~5명</a:t>
            </a:r>
          </a:p>
        </p:txBody>
      </p:sp>
      <p:sp>
        <p:nvSpPr>
          <p:cNvPr id="70" name="Rectangle 69"/>
          <p:cNvSpPr/>
          <p:nvPr/>
        </p:nvSpPr>
        <p:spPr>
          <a:xfrm>
            <a:off x="4526280" y="4274820"/>
            <a:ext cx="73152" cy="187452"/>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690872" y="4229100"/>
            <a:ext cx="2499512" cy="278892"/>
          </a:xfrm>
          <a:prstGeom prst="rect">
            <a:avLst/>
          </a:prstGeom>
          <a:noFill/>
        </p:spPr>
        <p:txBody>
          <a:bodyPr wrap="square" anchor="ctr" lIns="0" rIns="0" tIns="0" bIns="0">
            <a:spAutoFit/>
          </a:bodyPr>
          <a:lstStyle/>
          <a:p>
            <a:pPr algn="l">
              <a:lnSpc>
                <a:spcPct val="112000"/>
              </a:lnSpc>
            </a:pPr>
            <a:r>
              <a:rPr sz="1150" b="1">
                <a:solidFill>
                  <a:srgbClr val="1A1A1A"/>
                </a:solidFill>
                <a:latin typeface="Arial"/>
                <a:ea typeface="Arial"/>
              </a:rPr>
              <a:t>NVIDIA 생태계 · CMX·KVBM</a:t>
            </a:r>
          </a:p>
        </p:txBody>
      </p:sp>
      <p:sp>
        <p:nvSpPr>
          <p:cNvPr id="72" name="Right Arrow 71"/>
          <p:cNvSpPr/>
          <p:nvPr/>
        </p:nvSpPr>
        <p:spPr>
          <a:xfrm>
            <a:off x="7190384" y="4304538"/>
            <a:ext cx="164592" cy="128016"/>
          </a:xfrm>
          <a:prstGeom prst="rightArrow">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409840" y="4229100"/>
            <a:ext cx="1587855" cy="278892"/>
          </a:xfrm>
          <a:prstGeom prst="rect">
            <a:avLst/>
          </a:prstGeom>
          <a:noFill/>
        </p:spPr>
        <p:txBody>
          <a:bodyPr wrap="square" anchor="ctr" lIns="0" rIns="0" tIns="0" bIns="0">
            <a:spAutoFit/>
          </a:bodyPr>
          <a:lstStyle/>
          <a:p>
            <a:pPr algn="l">
              <a:lnSpc>
                <a:spcPct val="112000"/>
              </a:lnSpc>
            </a:pPr>
            <a:r>
              <a:rPr sz="1150" b="1">
                <a:solidFill>
                  <a:srgbClr val="1428A0"/>
                </a:solidFill>
                <a:latin typeface="Arial"/>
                <a:ea typeface="Arial"/>
              </a:rPr>
              <a:t>FDE 플랫폼 팀 파견</a:t>
            </a:r>
          </a:p>
        </p:txBody>
      </p:sp>
      <p:sp>
        <p:nvSpPr>
          <p:cNvPr id="74" name="Rectangle 73"/>
          <p:cNvSpPr/>
          <p:nvPr/>
        </p:nvSpPr>
        <p:spPr>
          <a:xfrm>
            <a:off x="4526280" y="4553712"/>
            <a:ext cx="73152" cy="187452"/>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4690872" y="4507992"/>
            <a:ext cx="2499512" cy="278892"/>
          </a:xfrm>
          <a:prstGeom prst="rect">
            <a:avLst/>
          </a:prstGeom>
          <a:noFill/>
        </p:spPr>
        <p:txBody>
          <a:bodyPr wrap="square" anchor="ctr" lIns="0" rIns="0" tIns="0" bIns="0">
            <a:spAutoFit/>
          </a:bodyPr>
          <a:lstStyle/>
          <a:p>
            <a:pPr algn="l">
              <a:lnSpc>
                <a:spcPct val="112000"/>
              </a:lnSpc>
            </a:pPr>
            <a:r>
              <a:rPr sz="1150" b="0">
                <a:solidFill>
                  <a:srgbClr val="1A1A1A"/>
                </a:solidFill>
                <a:latin typeface="Arial"/>
                <a:ea typeface="Arial"/>
              </a:rPr>
              <a:t>하이퍼스케일러 · 코드 상주 불가</a:t>
            </a:r>
          </a:p>
        </p:txBody>
      </p:sp>
      <p:sp>
        <p:nvSpPr>
          <p:cNvPr id="76" name="Right Arrow 75"/>
          <p:cNvSpPr/>
          <p:nvPr/>
        </p:nvSpPr>
        <p:spPr>
          <a:xfrm>
            <a:off x="7190384" y="4583429"/>
            <a:ext cx="164592" cy="128016"/>
          </a:xfrm>
          <a:prstGeom prst="rightArrow">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7409840" y="4507992"/>
            <a:ext cx="1587855" cy="278892"/>
          </a:xfrm>
          <a:prstGeom prst="rect">
            <a:avLst/>
          </a:prstGeom>
          <a:noFill/>
        </p:spPr>
        <p:txBody>
          <a:bodyPr wrap="square" anchor="ctr" lIns="0" rIns="0" tIns="0" bIns="0">
            <a:spAutoFit/>
          </a:bodyPr>
          <a:lstStyle/>
          <a:p>
            <a:pPr algn="l">
              <a:lnSpc>
                <a:spcPct val="112000"/>
              </a:lnSpc>
            </a:pPr>
            <a:r>
              <a:rPr sz="1150" b="1">
                <a:solidFill>
                  <a:srgbClr val="1A1A1A"/>
                </a:solidFill>
                <a:latin typeface="Arial"/>
                <a:ea typeface="Arial"/>
              </a:rPr>
              <a:t>업스트림 · OCP 규격</a:t>
            </a:r>
          </a:p>
        </p:txBody>
      </p:sp>
      <p:sp>
        <p:nvSpPr>
          <p:cNvPr id="78" name="Rectangle 77"/>
          <p:cNvSpPr/>
          <p:nvPr/>
        </p:nvSpPr>
        <p:spPr>
          <a:xfrm>
            <a:off x="4526280" y="4832603"/>
            <a:ext cx="73152" cy="187452"/>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4690872" y="4786883"/>
            <a:ext cx="2499512" cy="278892"/>
          </a:xfrm>
          <a:prstGeom prst="rect">
            <a:avLst/>
          </a:prstGeom>
          <a:noFill/>
        </p:spPr>
        <p:txBody>
          <a:bodyPr wrap="square" anchor="ctr" lIns="0" rIns="0" tIns="0" bIns="0">
            <a:spAutoFit/>
          </a:bodyPr>
          <a:lstStyle/>
          <a:p>
            <a:pPr algn="l">
              <a:lnSpc>
                <a:spcPct val="112000"/>
              </a:lnSpc>
            </a:pPr>
            <a:r>
              <a:rPr sz="1150" b="0">
                <a:solidFill>
                  <a:srgbClr val="1A1A1A"/>
                </a:solidFill>
                <a:latin typeface="Arial"/>
                <a:ea typeface="Arial"/>
              </a:rPr>
              <a:t>OEM · 네오클라우드</a:t>
            </a:r>
          </a:p>
        </p:txBody>
      </p:sp>
      <p:sp>
        <p:nvSpPr>
          <p:cNvPr id="80" name="Right Arrow 79"/>
          <p:cNvSpPr/>
          <p:nvPr/>
        </p:nvSpPr>
        <p:spPr>
          <a:xfrm>
            <a:off x="7190384" y="4862321"/>
            <a:ext cx="164592" cy="128016"/>
          </a:xfrm>
          <a:prstGeom prst="rightArrow">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7409840" y="4786883"/>
            <a:ext cx="1587855" cy="278892"/>
          </a:xfrm>
          <a:prstGeom prst="rect">
            <a:avLst/>
          </a:prstGeom>
          <a:noFill/>
        </p:spPr>
        <p:txBody>
          <a:bodyPr wrap="square" anchor="ctr" lIns="0" rIns="0" tIns="0" bIns="0">
            <a:spAutoFit/>
          </a:bodyPr>
          <a:lstStyle/>
          <a:p>
            <a:pPr algn="l">
              <a:lnSpc>
                <a:spcPct val="112000"/>
              </a:lnSpc>
            </a:pPr>
            <a:r>
              <a:rPr sz="1150" b="1">
                <a:solidFill>
                  <a:srgbClr val="1A1A1A"/>
                </a:solidFill>
                <a:latin typeface="Arial"/>
                <a:ea typeface="Arial"/>
              </a:rPr>
              <a:t>레퍼런스 스택</a:t>
            </a:r>
          </a:p>
        </p:txBody>
      </p:sp>
      <p:sp>
        <p:nvSpPr>
          <p:cNvPr id="82" name="Rectangle 81"/>
          <p:cNvSpPr/>
          <p:nvPr/>
        </p:nvSpPr>
        <p:spPr>
          <a:xfrm>
            <a:off x="9052560" y="3529584"/>
            <a:ext cx="4544568" cy="1627632"/>
          </a:xfrm>
          <a:prstGeom prst="rect">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9253728" y="3621024"/>
            <a:ext cx="4142232" cy="237744"/>
          </a:xfrm>
          <a:prstGeom prst="rect">
            <a:avLst/>
          </a:prstGeom>
          <a:noFill/>
        </p:spPr>
        <p:txBody>
          <a:bodyPr wrap="square" anchor="t" lIns="0" rIns="0" tIns="0" bIns="0">
            <a:spAutoFit/>
          </a:bodyPr>
          <a:lstStyle/>
          <a:p>
            <a:pPr algn="l">
              <a:lnSpc>
                <a:spcPct val="112000"/>
              </a:lnSpc>
            </a:pPr>
            <a:r>
              <a:rPr sz="1350" b="1">
                <a:solidFill>
                  <a:srgbClr val="1428A0"/>
                </a:solidFill>
                <a:latin typeface="Arial"/>
                <a:ea typeface="Arial"/>
              </a:rPr>
              <a:t>선례</a:t>
            </a:r>
            <a:r>
              <a:rPr sz="1150" b="0">
                <a:solidFill>
                  <a:srgbClr val="555555"/>
                </a:solidFill>
                <a:latin typeface="Arial"/>
                <a:ea typeface="Arial"/>
              </a:rPr>
              <a:t>   두 수단 모두 업계 선례가 있다</a:t>
            </a:r>
          </a:p>
        </p:txBody>
      </p:sp>
      <p:sp>
        <p:nvSpPr>
          <p:cNvPr id="84" name="Oval 83"/>
          <p:cNvSpPr/>
          <p:nvPr/>
        </p:nvSpPr>
        <p:spPr>
          <a:xfrm>
            <a:off x="9300545" y="4023359"/>
            <a:ext cx="111191" cy="111191"/>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ound Same Side Corner Rectangle 84"/>
          <p:cNvSpPr/>
          <p:nvPr/>
        </p:nvSpPr>
        <p:spPr>
          <a:xfrm>
            <a:off x="9253728" y="4152107"/>
            <a:ext cx="204825" cy="163860"/>
          </a:xfrm>
          <a:prstGeom prst="round2SameRect">
            <a:avLst>
              <a:gd name="adj1" fmla="val 50000"/>
              <a:gd name="adj2" fmla="val 0"/>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9547433" y="4023359"/>
            <a:ext cx="111191" cy="111191"/>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ound Same Side Corner Rectangle 86"/>
          <p:cNvSpPr/>
          <p:nvPr/>
        </p:nvSpPr>
        <p:spPr>
          <a:xfrm>
            <a:off x="9500616" y="4152107"/>
            <a:ext cx="204825" cy="163860"/>
          </a:xfrm>
          <a:prstGeom prst="round2SameRect">
            <a:avLst>
              <a:gd name="adj1" fmla="val 50000"/>
              <a:gd name="adj2" fmla="val 0"/>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9794321" y="4023359"/>
            <a:ext cx="111191" cy="111191"/>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ound Same Side Corner Rectangle 88"/>
          <p:cNvSpPr/>
          <p:nvPr/>
        </p:nvSpPr>
        <p:spPr>
          <a:xfrm>
            <a:off x="9747504" y="4152107"/>
            <a:ext cx="204825" cy="163860"/>
          </a:xfrm>
          <a:prstGeom prst="round2SameRect">
            <a:avLst>
              <a:gd name="adj1" fmla="val 50000"/>
              <a:gd name="adj2" fmla="val 0"/>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ight Arrow 89"/>
          <p:cNvSpPr/>
          <p:nvPr/>
        </p:nvSpPr>
        <p:spPr>
          <a:xfrm>
            <a:off x="10040112" y="4096511"/>
            <a:ext cx="274320" cy="128016"/>
          </a:xfrm>
          <a:prstGeom prst="rightArrow">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10369296" y="3986783"/>
            <a:ext cx="868680" cy="365760"/>
          </a:xfrm>
          <a:prstGeom prst="rect">
            <a:avLst/>
          </a:prstGeom>
          <a:solidFill>
            <a:srgbClr val="FFFFFF"/>
          </a:solidFill>
          <a:ln w="1270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10369296" y="3986783"/>
            <a:ext cx="868680" cy="365760"/>
          </a:xfrm>
          <a:prstGeom prst="rect">
            <a:avLst/>
          </a:prstGeom>
          <a:noFill/>
        </p:spPr>
        <p:txBody>
          <a:bodyPr wrap="square" anchor="ctr" lIns="0" rIns="0" tIns="0" bIns="0">
            <a:spAutoFit/>
          </a:bodyPr>
          <a:lstStyle/>
          <a:p>
            <a:pPr algn="ctr">
              <a:lnSpc>
                <a:spcPct val="112000"/>
              </a:lnSpc>
            </a:pPr>
            <a:r>
              <a:rPr sz="1150" b="1">
                <a:solidFill>
                  <a:srgbClr val="1A1A1A"/>
                </a:solidFill>
                <a:latin typeface="Arial"/>
                <a:ea typeface="Arial"/>
              </a:rPr>
              <a:t>고객 현장</a:t>
            </a:r>
          </a:p>
        </p:txBody>
      </p:sp>
      <p:sp>
        <p:nvSpPr>
          <p:cNvPr id="93" name="TextBox 92"/>
          <p:cNvSpPr txBox="1"/>
          <p:nvPr/>
        </p:nvSpPr>
        <p:spPr>
          <a:xfrm>
            <a:off x="11356848" y="3968496"/>
            <a:ext cx="2039112" cy="438912"/>
          </a:xfrm>
          <a:prstGeom prst="rect">
            <a:avLst/>
          </a:prstGeom>
          <a:noFill/>
        </p:spPr>
        <p:txBody>
          <a:bodyPr wrap="square" anchor="t" lIns="0" rIns="0" tIns="0" bIns="0">
            <a:spAutoFit/>
          </a:bodyPr>
          <a:lstStyle/>
          <a:p>
            <a:pPr algn="l">
              <a:lnSpc>
                <a:spcPct val="102000"/>
              </a:lnSpc>
            </a:pPr>
            <a:r>
              <a:rPr sz="1200" b="1">
                <a:solidFill>
                  <a:srgbClr val="1428A0"/>
                </a:solidFill>
                <a:latin typeface="Arial"/>
                <a:ea typeface="Arial"/>
              </a:rPr>
              <a:t>Palantir FDE</a:t>
            </a:r>
          </a:p>
          <a:p>
            <a:pPr algn="l">
              <a:lnSpc>
                <a:spcPct val="102000"/>
              </a:lnSpc>
            </a:pPr>
            <a:r>
              <a:rPr sz="1050" b="0">
                <a:solidFill>
                  <a:srgbClr val="555555"/>
                </a:solidFill>
                <a:latin typeface="Arial"/>
                <a:ea typeface="Arial"/>
              </a:rPr>
              <a:t>상주 · 성과 평가 · Anthropic·OpenAI GTM 채택</a:t>
            </a:r>
          </a:p>
        </p:txBody>
      </p:sp>
      <p:sp>
        <p:nvSpPr>
          <p:cNvPr id="94" name="Rectangle 93"/>
          <p:cNvSpPr/>
          <p:nvPr/>
        </p:nvSpPr>
        <p:spPr>
          <a:xfrm>
            <a:off x="9253728" y="4553712"/>
            <a:ext cx="585216" cy="237744"/>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9253728" y="4553712"/>
            <a:ext cx="585216" cy="237744"/>
          </a:xfrm>
          <a:prstGeom prst="rect">
            <a:avLst/>
          </a:prstGeom>
          <a:noFill/>
        </p:spPr>
        <p:txBody>
          <a:bodyPr wrap="square" anchor="ctr" lIns="0" rIns="0" tIns="0" bIns="0">
            <a:spAutoFit/>
          </a:bodyPr>
          <a:lstStyle/>
          <a:p>
            <a:pPr algn="ctr">
              <a:lnSpc>
                <a:spcPct val="112000"/>
              </a:lnSpc>
            </a:pPr>
            <a:r>
              <a:rPr sz="1050" b="1">
                <a:solidFill>
                  <a:srgbClr val="FFFFFF"/>
                </a:solidFill>
                <a:latin typeface="Arial"/>
                <a:ea typeface="Arial"/>
              </a:rPr>
              <a:t>공동 설계</a:t>
            </a:r>
          </a:p>
        </p:txBody>
      </p:sp>
      <p:sp>
        <p:nvSpPr>
          <p:cNvPr id="96" name="Rectangle 95"/>
          <p:cNvSpPr/>
          <p:nvPr/>
        </p:nvSpPr>
        <p:spPr>
          <a:xfrm>
            <a:off x="9893808" y="4553712"/>
            <a:ext cx="585216" cy="237744"/>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9893808" y="4553712"/>
            <a:ext cx="585216" cy="237744"/>
          </a:xfrm>
          <a:prstGeom prst="rect">
            <a:avLst/>
          </a:prstGeom>
          <a:noFill/>
        </p:spPr>
        <p:txBody>
          <a:bodyPr wrap="square" anchor="ctr" lIns="0" rIns="0" tIns="0" bIns="0">
            <a:spAutoFit/>
          </a:bodyPr>
          <a:lstStyle/>
          <a:p>
            <a:pPr algn="ctr">
              <a:lnSpc>
                <a:spcPct val="112000"/>
              </a:lnSpc>
            </a:pPr>
            <a:r>
              <a:rPr sz="1050" b="1">
                <a:solidFill>
                  <a:srgbClr val="1A1A1A"/>
                </a:solidFill>
                <a:latin typeface="Arial"/>
                <a:ea typeface="Arial"/>
              </a:rPr>
              <a:t>다년 공급</a:t>
            </a:r>
          </a:p>
        </p:txBody>
      </p:sp>
      <p:sp>
        <p:nvSpPr>
          <p:cNvPr id="98" name="Rectangle 97"/>
          <p:cNvSpPr/>
          <p:nvPr/>
        </p:nvSpPr>
        <p:spPr>
          <a:xfrm>
            <a:off x="10533888" y="4553712"/>
            <a:ext cx="585216" cy="237744"/>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0533888" y="4553712"/>
            <a:ext cx="585216" cy="237744"/>
          </a:xfrm>
          <a:prstGeom prst="rect">
            <a:avLst/>
          </a:prstGeom>
          <a:noFill/>
        </p:spPr>
        <p:txBody>
          <a:bodyPr wrap="square" anchor="ctr" lIns="0" rIns="0" tIns="0" bIns="0">
            <a:spAutoFit/>
          </a:bodyPr>
          <a:lstStyle/>
          <a:p>
            <a:pPr algn="ctr">
              <a:lnSpc>
                <a:spcPct val="112000"/>
              </a:lnSpc>
            </a:pPr>
            <a:r>
              <a:rPr sz="1050" b="1">
                <a:solidFill>
                  <a:srgbClr val="1A1A1A"/>
                </a:solidFill>
                <a:latin typeface="Arial"/>
                <a:ea typeface="Arial"/>
              </a:rPr>
              <a:t>운영 통합</a:t>
            </a:r>
          </a:p>
        </p:txBody>
      </p:sp>
      <p:sp>
        <p:nvSpPr>
          <p:cNvPr id="100" name="TextBox 99"/>
          <p:cNvSpPr txBox="1"/>
          <p:nvPr/>
        </p:nvSpPr>
        <p:spPr>
          <a:xfrm>
            <a:off x="11228832" y="4498848"/>
            <a:ext cx="2167128" cy="457200"/>
          </a:xfrm>
          <a:prstGeom prst="rect">
            <a:avLst/>
          </a:prstGeom>
          <a:noFill/>
        </p:spPr>
        <p:txBody>
          <a:bodyPr wrap="square" anchor="t" lIns="0" rIns="0" tIns="0" bIns="0">
            <a:spAutoFit/>
          </a:bodyPr>
          <a:lstStyle/>
          <a:p>
            <a:pPr algn="l">
              <a:lnSpc>
                <a:spcPct val="102000"/>
              </a:lnSpc>
            </a:pPr>
            <a:r>
              <a:rPr sz="1200" b="1">
                <a:solidFill>
                  <a:srgbClr val="1428A0"/>
                </a:solidFill>
                <a:latin typeface="Arial"/>
                <a:ea typeface="Arial"/>
              </a:rPr>
              <a:t>Micron↔Anthropic 협약 2026-06</a:t>
            </a:r>
          </a:p>
          <a:p>
            <a:pPr algn="l">
              <a:lnSpc>
                <a:spcPct val="102000"/>
              </a:lnSpc>
            </a:pPr>
            <a:r>
              <a:rPr sz="1050" b="0">
                <a:solidFill>
                  <a:srgbClr val="555555"/>
                </a:solidFill>
                <a:latin typeface="Arial"/>
                <a:ea typeface="Arial"/>
              </a:rPr>
              <a:t>삼성·SK 계약엔 조항 부재 → 선제 제안</a:t>
            </a:r>
          </a:p>
        </p:txBody>
      </p:sp>
      <p:sp>
        <p:nvSpPr>
          <p:cNvPr id="101" name="Left Arrow 100"/>
          <p:cNvSpPr/>
          <p:nvPr/>
        </p:nvSpPr>
        <p:spPr>
          <a:xfrm>
            <a:off x="4325112" y="5285231"/>
            <a:ext cx="9272016" cy="749808"/>
          </a:xfrm>
          <a:prstGeom prst="leftArrow">
            <a:avLst>
              <a:gd name="adj1" fmla="val 80000"/>
              <a:gd name="adj2" fmla="val 26000"/>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5193792" y="5285231"/>
            <a:ext cx="8083296" cy="749808"/>
          </a:xfrm>
          <a:prstGeom prst="rect">
            <a:avLst/>
          </a:prstGeom>
          <a:noFill/>
        </p:spPr>
        <p:txBody>
          <a:bodyPr wrap="square" anchor="ctr" lIns="0" rIns="0" tIns="0" bIns="0">
            <a:spAutoFit/>
          </a:bodyPr>
          <a:lstStyle/>
          <a:p>
            <a:pPr algn="l">
              <a:lnSpc>
                <a:spcPct val="106000"/>
              </a:lnSpc>
            </a:pPr>
            <a:r>
              <a:rPr sz="1600" b="1">
                <a:solidFill>
                  <a:srgbClr val="1A1A1A"/>
                </a:solidFill>
                <a:latin typeface="Arial"/>
                <a:ea typeface="Arial"/>
              </a:rPr>
              <a:t>② 워크로드 · 규격 접근권 확보</a:t>
            </a:r>
          </a:p>
          <a:p>
            <a:pPr algn="l">
              <a:lnSpc>
                <a:spcPct val="106000"/>
              </a:lnSpc>
            </a:pPr>
            <a:r>
              <a:rPr sz="1250" b="0">
                <a:solidFill>
                  <a:srgbClr val="1A1A1A"/>
                </a:solidFill>
                <a:latin typeface="Arial"/>
                <a:ea typeface="Arial"/>
              </a:rPr>
              <a:t>협약의 공동 설계 조항 · 트레이스 · KV 수명 정책 · 시한 2027H1(공급 완화 전)</a:t>
            </a:r>
          </a:p>
        </p:txBody>
      </p:sp>
      <p:sp>
        <p:nvSpPr>
          <p:cNvPr id="103" name="Rectangle 102"/>
          <p:cNvSpPr/>
          <p:nvPr/>
        </p:nvSpPr>
        <p:spPr>
          <a:xfrm>
            <a:off x="722376" y="6272783"/>
            <a:ext cx="5468112" cy="84124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722376" y="6272783"/>
            <a:ext cx="777240" cy="8412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722376" y="6272783"/>
            <a:ext cx="777240" cy="841248"/>
          </a:xfrm>
          <a:prstGeom prst="rect">
            <a:avLst/>
          </a:prstGeom>
          <a:noFill/>
        </p:spPr>
        <p:txBody>
          <a:bodyPr wrap="square" anchor="ctr" lIns="0" rIns="0" tIns="0" bIns="0">
            <a:spAutoFit/>
          </a:bodyPr>
          <a:lstStyle/>
          <a:p>
            <a:pPr algn="ctr">
              <a:lnSpc>
                <a:spcPct val="112000"/>
              </a:lnSpc>
            </a:pPr>
            <a:r>
              <a:rPr sz="1600" b="1">
                <a:solidFill>
                  <a:srgbClr val="FFFFFF"/>
                </a:solidFill>
                <a:latin typeface="Arial"/>
                <a:ea typeface="Arial"/>
              </a:rPr>
              <a:t>조직</a:t>
            </a:r>
          </a:p>
        </p:txBody>
      </p:sp>
      <p:sp>
        <p:nvSpPr>
          <p:cNvPr id="106" name="TextBox 105"/>
          <p:cNvSpPr txBox="1"/>
          <p:nvPr/>
        </p:nvSpPr>
        <p:spPr>
          <a:xfrm>
            <a:off x="1655064" y="6272783"/>
            <a:ext cx="4407408" cy="841248"/>
          </a:xfrm>
          <a:prstGeom prst="rect">
            <a:avLst/>
          </a:prstGeom>
          <a:noFill/>
        </p:spPr>
        <p:txBody>
          <a:bodyPr wrap="square" anchor="ctr" lIns="0" rIns="0" tIns="0" bIns="0">
            <a:spAutoFit/>
          </a:bodyPr>
          <a:lstStyle/>
          <a:p>
            <a:pPr algn="l">
              <a:lnSpc>
                <a:spcPct val="108000"/>
              </a:lnSpc>
            </a:pPr>
            <a:r>
              <a:rPr sz="1300" b="1">
                <a:solidFill>
                  <a:srgbClr val="1A1A1A"/>
                </a:solidFill>
                <a:latin typeface="Arial"/>
                <a:ea typeface="Arial"/>
              </a:rPr>
              <a:t>시스템 SW 조직 강화 · 개발실 소속 Pod 3~5명</a:t>
            </a:r>
          </a:p>
          <a:p>
            <a:pPr algn="l">
              <a:lnSpc>
                <a:spcPct val="108000"/>
              </a:lnSpc>
            </a:pPr>
            <a:r>
              <a:rPr sz="1200" b="0">
                <a:solidFill>
                  <a:srgbClr val="555555"/>
                </a:solidFill>
                <a:latin typeface="Arial"/>
                <a:ea typeface="Arial"/>
              </a:rPr>
              <a:t>미주 법인 협업 · 자회사·별도 보상 없음</a:t>
            </a:r>
          </a:p>
        </p:txBody>
      </p:sp>
      <p:sp>
        <p:nvSpPr>
          <p:cNvPr id="107" name="Rectangle 106"/>
          <p:cNvSpPr/>
          <p:nvPr/>
        </p:nvSpPr>
        <p:spPr>
          <a:xfrm>
            <a:off x="6409944" y="6272783"/>
            <a:ext cx="5468112" cy="84124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6409944" y="6272783"/>
            <a:ext cx="777240" cy="8412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6409944" y="6272783"/>
            <a:ext cx="777240" cy="841248"/>
          </a:xfrm>
          <a:prstGeom prst="rect">
            <a:avLst/>
          </a:prstGeom>
          <a:noFill/>
        </p:spPr>
        <p:txBody>
          <a:bodyPr wrap="square" anchor="ctr" lIns="0" rIns="0" tIns="0" bIns="0">
            <a:spAutoFit/>
          </a:bodyPr>
          <a:lstStyle/>
          <a:p>
            <a:pPr algn="ctr">
              <a:lnSpc>
                <a:spcPct val="112000"/>
              </a:lnSpc>
            </a:pPr>
            <a:r>
              <a:rPr sz="1600" b="1">
                <a:solidFill>
                  <a:srgbClr val="FFFFFF"/>
                </a:solidFill>
                <a:latin typeface="Arial"/>
                <a:ea typeface="Arial"/>
              </a:rPr>
              <a:t>인사</a:t>
            </a:r>
          </a:p>
        </p:txBody>
      </p:sp>
      <p:sp>
        <p:nvSpPr>
          <p:cNvPr id="110" name="TextBox 109"/>
          <p:cNvSpPr txBox="1"/>
          <p:nvPr/>
        </p:nvSpPr>
        <p:spPr>
          <a:xfrm>
            <a:off x="7342632" y="6272783"/>
            <a:ext cx="4407408" cy="841248"/>
          </a:xfrm>
          <a:prstGeom prst="rect">
            <a:avLst/>
          </a:prstGeom>
          <a:noFill/>
        </p:spPr>
        <p:txBody>
          <a:bodyPr wrap="square" anchor="ctr" lIns="0" rIns="0" tIns="0" bIns="0">
            <a:spAutoFit/>
          </a:bodyPr>
          <a:lstStyle/>
          <a:p>
            <a:pPr algn="l">
              <a:lnSpc>
                <a:spcPct val="108000"/>
              </a:lnSpc>
            </a:pPr>
            <a:r>
              <a:rPr sz="1300" b="1">
                <a:solidFill>
                  <a:srgbClr val="1A1A1A"/>
                </a:solidFill>
                <a:latin typeface="Arial"/>
                <a:ea typeface="Arial"/>
              </a:rPr>
              <a:t>고객 코드를 읽고 고치는 전문가 채용·양성</a:t>
            </a:r>
          </a:p>
          <a:p>
            <a:pPr algn="l">
              <a:lnSpc>
                <a:spcPct val="108000"/>
              </a:lnSpc>
            </a:pPr>
            <a:r>
              <a:rPr sz="1200" b="0">
                <a:solidFill>
                  <a:srgbClr val="555555"/>
                </a:solidFill>
                <a:latin typeface="Arial"/>
                <a:ea typeface="Arial"/>
              </a:rPr>
              <a:t>본사 엔지니어 상주 로테이션 3~6개월</a:t>
            </a:r>
          </a:p>
        </p:txBody>
      </p:sp>
      <p:sp>
        <p:nvSpPr>
          <p:cNvPr id="111" name="Rectangle 110"/>
          <p:cNvSpPr/>
          <p:nvPr/>
        </p:nvSpPr>
        <p:spPr>
          <a:xfrm>
            <a:off x="12097512" y="6272783"/>
            <a:ext cx="5468112" cy="84124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12097512" y="6272783"/>
            <a:ext cx="777240" cy="8412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12097512" y="6272783"/>
            <a:ext cx="777240" cy="841248"/>
          </a:xfrm>
          <a:prstGeom prst="rect">
            <a:avLst/>
          </a:prstGeom>
          <a:noFill/>
        </p:spPr>
        <p:txBody>
          <a:bodyPr wrap="square" anchor="ctr" lIns="0" rIns="0" tIns="0" bIns="0">
            <a:spAutoFit/>
          </a:bodyPr>
          <a:lstStyle/>
          <a:p>
            <a:pPr algn="ctr">
              <a:lnSpc>
                <a:spcPct val="112000"/>
              </a:lnSpc>
            </a:pPr>
            <a:r>
              <a:rPr sz="1600" b="1">
                <a:solidFill>
                  <a:srgbClr val="FFFFFF"/>
                </a:solidFill>
                <a:latin typeface="Arial"/>
                <a:ea typeface="Arial"/>
              </a:rPr>
              <a:t>문화</a:t>
            </a:r>
          </a:p>
        </p:txBody>
      </p:sp>
      <p:sp>
        <p:nvSpPr>
          <p:cNvPr id="114" name="TextBox 113"/>
          <p:cNvSpPr txBox="1"/>
          <p:nvPr/>
        </p:nvSpPr>
        <p:spPr>
          <a:xfrm>
            <a:off x="13030200" y="6272783"/>
            <a:ext cx="4407408" cy="841248"/>
          </a:xfrm>
          <a:prstGeom prst="rect">
            <a:avLst/>
          </a:prstGeom>
          <a:noFill/>
        </p:spPr>
        <p:txBody>
          <a:bodyPr wrap="square" anchor="ctr" lIns="0" rIns="0" tIns="0" bIns="0">
            <a:spAutoFit/>
          </a:bodyPr>
          <a:lstStyle/>
          <a:p>
            <a:pPr algn="l">
              <a:lnSpc>
                <a:spcPct val="108000"/>
              </a:lnSpc>
            </a:pPr>
            <a:r>
              <a:rPr sz="1300" b="1">
                <a:solidFill>
                  <a:srgbClr val="1A1A1A"/>
                </a:solidFill>
                <a:latin typeface="Arial"/>
                <a:ea typeface="Arial"/>
              </a:rPr>
              <a:t>메인테이너·커미터 배출 · 업스트림 우선</a:t>
            </a:r>
          </a:p>
          <a:p>
            <a:pPr algn="l">
              <a:lnSpc>
                <a:spcPct val="108000"/>
              </a:lnSpc>
            </a:pPr>
            <a:r>
              <a:rPr sz="1200" b="0">
                <a:solidFill>
                  <a:srgbClr val="555555"/>
                </a:solidFill>
                <a:latin typeface="Arial"/>
                <a:ea typeface="Arial"/>
              </a:rPr>
              <a:t>KV 캐시 실측 업계 최초 공개</a:t>
            </a:r>
          </a:p>
        </p:txBody>
      </p:sp>
      <p:sp>
        <p:nvSpPr>
          <p:cNvPr id="115" name="Rectangle 114"/>
          <p:cNvSpPr/>
          <p:nvPr/>
        </p:nvSpPr>
        <p:spPr>
          <a:xfrm>
            <a:off x="722376" y="7242047"/>
            <a:ext cx="11228832" cy="103327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923544" y="7315199"/>
            <a:ext cx="10863072" cy="237744"/>
          </a:xfrm>
          <a:prstGeom prst="rect">
            <a:avLst/>
          </a:prstGeom>
          <a:noFill/>
        </p:spPr>
        <p:txBody>
          <a:bodyPr wrap="square" anchor="t" lIns="0" rIns="0" tIns="0" bIns="0">
            <a:spAutoFit/>
          </a:bodyPr>
          <a:lstStyle/>
          <a:p>
            <a:pPr algn="l">
              <a:lnSpc>
                <a:spcPct val="112000"/>
              </a:lnSpc>
            </a:pPr>
            <a:r>
              <a:rPr sz="1350" b="1">
                <a:solidFill>
                  <a:srgbClr val="1428A0"/>
                </a:solidFill>
                <a:latin typeface="Arial"/>
                <a:ea typeface="Arial"/>
              </a:rPr>
              <a:t>단계별 통과 조건</a:t>
            </a:r>
            <a:r>
              <a:rPr sz="1150" b="0">
                <a:solidFill>
                  <a:srgbClr val="8A8A8A"/>
                </a:solidFill>
                <a:latin typeface="Arial"/>
                <a:ea typeface="Arial"/>
              </a:rPr>
              <a:t>   각 단계의 증명이 다음 승인 근거</a:t>
            </a:r>
          </a:p>
        </p:txBody>
      </p:sp>
      <p:sp>
        <p:nvSpPr>
          <p:cNvPr id="117" name="Rectangle 116"/>
          <p:cNvSpPr/>
          <p:nvPr/>
        </p:nvSpPr>
        <p:spPr>
          <a:xfrm>
            <a:off x="1106424" y="7808975"/>
            <a:ext cx="10460736" cy="27432"/>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Diamond 117"/>
          <p:cNvSpPr/>
          <p:nvPr/>
        </p:nvSpPr>
        <p:spPr>
          <a:xfrm>
            <a:off x="996696" y="7699247"/>
            <a:ext cx="237744" cy="237744"/>
          </a:xfrm>
          <a:prstGeom prst="diamond">
            <a:avLst/>
          </a:prstGeom>
          <a:solidFill>
            <a:srgbClr val="FFFFFF"/>
          </a:solidFill>
          <a:ln w="1905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1325880" y="7680959"/>
            <a:ext cx="1097280" cy="274320"/>
          </a:xfrm>
          <a:prstGeom prst="rect">
            <a:avLst/>
          </a:prstGeom>
          <a:noFill/>
        </p:spPr>
        <p:txBody>
          <a:bodyPr wrap="square" anchor="ctr" lIns="0" rIns="0" tIns="0" bIns="0">
            <a:spAutoFit/>
          </a:bodyPr>
          <a:lstStyle/>
          <a:p>
            <a:pPr algn="l">
              <a:lnSpc>
                <a:spcPct val="112000"/>
              </a:lnSpc>
            </a:pPr>
            <a:r>
              <a:rPr sz="1400" b="1">
                <a:solidFill>
                  <a:srgbClr val="1428A0"/>
                </a:solidFill>
                <a:latin typeface="Arial"/>
                <a:ea typeface="Arial"/>
              </a:rPr>
              <a:t>90일</a:t>
            </a:r>
          </a:p>
        </p:txBody>
      </p:sp>
      <p:sp>
        <p:nvSpPr>
          <p:cNvPr id="120" name="TextBox 119"/>
          <p:cNvSpPr txBox="1"/>
          <p:nvPr/>
        </p:nvSpPr>
        <p:spPr>
          <a:xfrm>
            <a:off x="996696" y="8010143"/>
            <a:ext cx="3377184" cy="274320"/>
          </a:xfrm>
          <a:prstGeom prst="rect">
            <a:avLst/>
          </a:prstGeom>
          <a:noFill/>
        </p:spPr>
        <p:txBody>
          <a:bodyPr wrap="square" anchor="ctr" lIns="0" rIns="0" tIns="0" bIns="0">
            <a:spAutoFit/>
          </a:bodyPr>
          <a:lstStyle/>
          <a:p>
            <a:pPr algn="l">
              <a:lnSpc>
                <a:spcPct val="112000"/>
              </a:lnSpc>
            </a:pPr>
            <a:r>
              <a:rPr sz="1100" b="0">
                <a:solidFill>
                  <a:srgbClr val="555555"/>
                </a:solidFill>
                <a:latin typeface="Arial"/>
                <a:ea typeface="Arial"/>
              </a:rPr>
              <a:t>트레이스 확보 · KV 캐시 실측 공개 · 플러그인 PR</a:t>
            </a:r>
          </a:p>
        </p:txBody>
      </p:sp>
      <p:sp>
        <p:nvSpPr>
          <p:cNvPr id="121" name="Diamond 120"/>
          <p:cNvSpPr/>
          <p:nvPr/>
        </p:nvSpPr>
        <p:spPr>
          <a:xfrm>
            <a:off x="4556760" y="7699247"/>
            <a:ext cx="237744" cy="237744"/>
          </a:xfrm>
          <a:prstGeom prst="diamond">
            <a:avLst/>
          </a:prstGeom>
          <a:solidFill>
            <a:srgbClr val="FFFFFF"/>
          </a:solidFill>
          <a:ln w="1905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4885944" y="7680959"/>
            <a:ext cx="1097280" cy="274320"/>
          </a:xfrm>
          <a:prstGeom prst="rect">
            <a:avLst/>
          </a:prstGeom>
          <a:noFill/>
        </p:spPr>
        <p:txBody>
          <a:bodyPr wrap="square" anchor="ctr" lIns="0" rIns="0" tIns="0" bIns="0">
            <a:spAutoFit/>
          </a:bodyPr>
          <a:lstStyle/>
          <a:p>
            <a:pPr algn="l">
              <a:lnSpc>
                <a:spcPct val="112000"/>
              </a:lnSpc>
            </a:pPr>
            <a:r>
              <a:rPr sz="1400" b="1">
                <a:solidFill>
                  <a:srgbClr val="1428A0"/>
                </a:solidFill>
                <a:latin typeface="Arial"/>
                <a:ea typeface="Arial"/>
              </a:rPr>
              <a:t>12개월</a:t>
            </a:r>
          </a:p>
        </p:txBody>
      </p:sp>
      <p:sp>
        <p:nvSpPr>
          <p:cNvPr id="123" name="TextBox 122"/>
          <p:cNvSpPr txBox="1"/>
          <p:nvPr/>
        </p:nvSpPr>
        <p:spPr>
          <a:xfrm>
            <a:off x="4556760" y="8010143"/>
            <a:ext cx="3377184" cy="274320"/>
          </a:xfrm>
          <a:prstGeom prst="rect">
            <a:avLst/>
          </a:prstGeom>
          <a:noFill/>
        </p:spPr>
        <p:txBody>
          <a:bodyPr wrap="square" anchor="ctr" lIns="0" rIns="0" tIns="0" bIns="0">
            <a:spAutoFit/>
          </a:bodyPr>
          <a:lstStyle/>
          <a:p>
            <a:pPr algn="l">
              <a:lnSpc>
                <a:spcPct val="112000"/>
              </a:lnSpc>
            </a:pPr>
            <a:r>
              <a:rPr sz="1100" b="0">
                <a:solidFill>
                  <a:srgbClr val="555555"/>
                </a:solidFill>
                <a:latin typeface="Arial"/>
                <a:ea typeface="Arial"/>
              </a:rPr>
              <a:t>메인라인 머지 · 유효 DWPD ≥ 1 실증 · 보증 초안</a:t>
            </a:r>
          </a:p>
        </p:txBody>
      </p:sp>
      <p:sp>
        <p:nvSpPr>
          <p:cNvPr id="124" name="Diamond 123"/>
          <p:cNvSpPr/>
          <p:nvPr/>
        </p:nvSpPr>
        <p:spPr>
          <a:xfrm>
            <a:off x="8116824" y="7699247"/>
            <a:ext cx="237744" cy="237744"/>
          </a:xfrm>
          <a:prstGeom prst="diamond">
            <a:avLst/>
          </a:prstGeom>
          <a:solidFill>
            <a:srgbClr val="1428A0"/>
          </a:solidFill>
          <a:ln w="1905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8446008" y="7680959"/>
            <a:ext cx="1097280" cy="274320"/>
          </a:xfrm>
          <a:prstGeom prst="rect">
            <a:avLst/>
          </a:prstGeom>
          <a:noFill/>
        </p:spPr>
        <p:txBody>
          <a:bodyPr wrap="square" anchor="ctr" lIns="0" rIns="0" tIns="0" bIns="0">
            <a:spAutoFit/>
          </a:bodyPr>
          <a:lstStyle/>
          <a:p>
            <a:pPr algn="l">
              <a:lnSpc>
                <a:spcPct val="112000"/>
              </a:lnSpc>
            </a:pPr>
            <a:r>
              <a:rPr sz="1400" b="1">
                <a:solidFill>
                  <a:srgbClr val="1428A0"/>
                </a:solidFill>
                <a:latin typeface="Arial"/>
                <a:ea typeface="Arial"/>
              </a:rPr>
              <a:t>2027H1</a:t>
            </a:r>
          </a:p>
        </p:txBody>
      </p:sp>
      <p:sp>
        <p:nvSpPr>
          <p:cNvPr id="126" name="TextBox 125"/>
          <p:cNvSpPr txBox="1"/>
          <p:nvPr/>
        </p:nvSpPr>
        <p:spPr>
          <a:xfrm>
            <a:off x="8116824" y="8010143"/>
            <a:ext cx="3377184" cy="274320"/>
          </a:xfrm>
          <a:prstGeom prst="rect">
            <a:avLst/>
          </a:prstGeom>
          <a:noFill/>
        </p:spPr>
        <p:txBody>
          <a:bodyPr wrap="square" anchor="ctr" lIns="0" rIns="0" tIns="0" bIns="0">
            <a:spAutoFit/>
          </a:bodyPr>
          <a:lstStyle/>
          <a:p>
            <a:pPr algn="l">
              <a:lnSpc>
                <a:spcPct val="112000"/>
              </a:lnSpc>
            </a:pPr>
            <a:r>
              <a:rPr sz="1100" b="0">
                <a:solidFill>
                  <a:srgbClr val="555555"/>
                </a:solidFill>
                <a:latin typeface="Arial"/>
                <a:ea typeface="Arial"/>
              </a:rPr>
              <a:t>디자인인 1사 · 공동 설계 조항 · 레퍼런스 공개</a:t>
            </a:r>
          </a:p>
        </p:txBody>
      </p:sp>
      <p:sp>
        <p:nvSpPr>
          <p:cNvPr id="127" name="Rectangle 126"/>
          <p:cNvSpPr/>
          <p:nvPr/>
        </p:nvSpPr>
        <p:spPr>
          <a:xfrm>
            <a:off x="12170664" y="7242047"/>
            <a:ext cx="5394960" cy="1033272"/>
          </a:xfrm>
          <a:prstGeom prst="rect">
            <a:avLst/>
          </a:prstGeom>
          <a:solidFill>
            <a:srgbClr val="F4F6FC"/>
          </a:solidFill>
          <a:ln w="9525">
            <a:solidFill>
              <a:srgbClr val="AAB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12170664" y="7242047"/>
            <a:ext cx="54864" cy="1033272"/>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12371832" y="7315199"/>
            <a:ext cx="2423160" cy="201168"/>
          </a:xfrm>
          <a:prstGeom prst="rect">
            <a:avLst/>
          </a:prstGeom>
          <a:noFill/>
        </p:spPr>
        <p:txBody>
          <a:bodyPr wrap="square" anchor="t" lIns="0" rIns="0" tIns="0" bIns="0">
            <a:spAutoFit/>
          </a:bodyPr>
          <a:lstStyle/>
          <a:p>
            <a:pPr algn="l">
              <a:lnSpc>
                <a:spcPct val="112000"/>
              </a:lnSpc>
            </a:pPr>
            <a:r>
              <a:rPr sz="1050" b="0">
                <a:solidFill>
                  <a:srgbClr val="8A8A8A"/>
                </a:solidFill>
                <a:latin typeface="Arial"/>
                <a:ea typeface="Arial"/>
              </a:rPr>
              <a:t>판돈 · 락인으로 얻는 점유율</a:t>
            </a:r>
          </a:p>
        </p:txBody>
      </p:sp>
      <p:sp>
        <p:nvSpPr>
          <p:cNvPr id="130" name="TextBox 129"/>
          <p:cNvSpPr txBox="1"/>
          <p:nvPr/>
        </p:nvSpPr>
        <p:spPr>
          <a:xfrm>
            <a:off x="12371832" y="7534655"/>
            <a:ext cx="2423160" cy="329184"/>
          </a:xfrm>
          <a:prstGeom prst="rect">
            <a:avLst/>
          </a:prstGeom>
          <a:noFill/>
        </p:spPr>
        <p:txBody>
          <a:bodyPr wrap="square" anchor="ctr" lIns="0" rIns="0" tIns="0" bIns="0">
            <a:spAutoFit/>
          </a:bodyPr>
          <a:lstStyle/>
          <a:p>
            <a:pPr algn="l">
              <a:lnSpc>
                <a:spcPct val="112000"/>
              </a:lnSpc>
            </a:pPr>
            <a:r>
              <a:rPr sz="1700" b="1">
                <a:solidFill>
                  <a:srgbClr val="1428A0"/>
                </a:solidFill>
                <a:latin typeface="Arial"/>
                <a:ea typeface="Arial"/>
              </a:rPr>
              <a:t>캐시 계층 QLC 0 → 50%</a:t>
            </a:r>
          </a:p>
        </p:txBody>
      </p:sp>
      <p:sp>
        <p:nvSpPr>
          <p:cNvPr id="131" name="TextBox 130"/>
          <p:cNvSpPr txBox="1"/>
          <p:nvPr/>
        </p:nvSpPr>
        <p:spPr>
          <a:xfrm>
            <a:off x="12371832" y="7882127"/>
            <a:ext cx="2423160" cy="201168"/>
          </a:xfrm>
          <a:prstGeom prst="rect">
            <a:avLst/>
          </a:prstGeom>
          <a:noFill/>
        </p:spPr>
        <p:txBody>
          <a:bodyPr wrap="square" anchor="t" lIns="0" rIns="0" tIns="0" bIns="0">
            <a:spAutoFit/>
          </a:bodyPr>
          <a:lstStyle/>
          <a:p>
            <a:pPr algn="l">
              <a:lnSpc>
                <a:spcPct val="112000"/>
              </a:lnSpc>
            </a:pPr>
            <a:r>
              <a:rPr sz="1050" b="0">
                <a:solidFill>
                  <a:srgbClr val="555555"/>
                </a:solidFill>
                <a:latin typeface="Arial"/>
                <a:ea typeface="Arial"/>
              </a:rPr>
              <a:t>2030 350EB 중 175EB(조건부)</a:t>
            </a:r>
          </a:p>
        </p:txBody>
      </p:sp>
      <p:sp>
        <p:nvSpPr>
          <p:cNvPr id="132" name="TextBox 131"/>
          <p:cNvSpPr txBox="1"/>
          <p:nvPr/>
        </p:nvSpPr>
        <p:spPr>
          <a:xfrm>
            <a:off x="14959584" y="7315199"/>
            <a:ext cx="2423160" cy="201168"/>
          </a:xfrm>
          <a:prstGeom prst="rect">
            <a:avLst/>
          </a:prstGeom>
          <a:noFill/>
        </p:spPr>
        <p:txBody>
          <a:bodyPr wrap="square" anchor="t" lIns="0" rIns="0" tIns="0" bIns="0">
            <a:spAutoFit/>
          </a:bodyPr>
          <a:lstStyle/>
          <a:p>
            <a:pPr algn="l">
              <a:lnSpc>
                <a:spcPct val="112000"/>
              </a:lnSpc>
            </a:pPr>
            <a:r>
              <a:rPr sz="1050" b="0">
                <a:solidFill>
                  <a:srgbClr val="8A8A8A"/>
                </a:solidFill>
                <a:latin typeface="Arial"/>
                <a:ea typeface="Arial"/>
              </a:rPr>
              <a:t>비용 · 개발실 자원 투입</a:t>
            </a:r>
          </a:p>
        </p:txBody>
      </p:sp>
      <p:sp>
        <p:nvSpPr>
          <p:cNvPr id="133" name="TextBox 132"/>
          <p:cNvSpPr txBox="1"/>
          <p:nvPr/>
        </p:nvSpPr>
        <p:spPr>
          <a:xfrm>
            <a:off x="14959584" y="7534655"/>
            <a:ext cx="2423160" cy="329184"/>
          </a:xfrm>
          <a:prstGeom prst="rect">
            <a:avLst/>
          </a:prstGeom>
          <a:noFill/>
        </p:spPr>
        <p:txBody>
          <a:bodyPr wrap="square" anchor="ctr" lIns="0" rIns="0" tIns="0" bIns="0">
            <a:spAutoFit/>
          </a:bodyPr>
          <a:lstStyle/>
          <a:p>
            <a:pPr algn="l">
              <a:lnSpc>
                <a:spcPct val="112000"/>
              </a:lnSpc>
            </a:pPr>
            <a:r>
              <a:rPr sz="1700" b="1">
                <a:solidFill>
                  <a:srgbClr val="1428A0"/>
                </a:solidFill>
                <a:latin typeface="Arial"/>
                <a:ea typeface="Arial"/>
              </a:rPr>
              <a:t>별도 투자 없음</a:t>
            </a:r>
          </a:p>
        </p:txBody>
      </p:sp>
      <p:sp>
        <p:nvSpPr>
          <p:cNvPr id="134" name="TextBox 133"/>
          <p:cNvSpPr txBox="1"/>
          <p:nvPr/>
        </p:nvSpPr>
        <p:spPr>
          <a:xfrm>
            <a:off x="14959584" y="7882127"/>
            <a:ext cx="2423160" cy="201168"/>
          </a:xfrm>
          <a:prstGeom prst="rect">
            <a:avLst/>
          </a:prstGeom>
          <a:noFill/>
        </p:spPr>
        <p:txBody>
          <a:bodyPr wrap="square" anchor="t" lIns="0" rIns="0" tIns="0" bIns="0">
            <a:spAutoFit/>
          </a:bodyPr>
          <a:lstStyle/>
          <a:p>
            <a:pPr algn="l">
              <a:lnSpc>
                <a:spcPct val="112000"/>
              </a:lnSpc>
            </a:pPr>
            <a:r>
              <a:rPr sz="1050" b="0">
                <a:solidFill>
                  <a:srgbClr val="555555"/>
                </a:solidFill>
                <a:latin typeface="Arial"/>
                <a:ea typeface="Arial"/>
              </a:rPr>
              <a:t>Pod 3~5명 × 1~2사 재배치</a:t>
            </a:r>
          </a:p>
        </p:txBody>
      </p:sp>
      <p:sp>
        <p:nvSpPr>
          <p:cNvPr id="135" name="Rectangle 134"/>
          <p:cNvSpPr/>
          <p:nvPr/>
        </p:nvSpPr>
        <p:spPr>
          <a:xfrm>
            <a:off x="722376" y="8467344"/>
            <a:ext cx="16843248" cy="82296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1133856" y="8467344"/>
            <a:ext cx="1463040" cy="822960"/>
          </a:xfrm>
          <a:prstGeom prst="rect">
            <a:avLst/>
          </a:prstGeom>
          <a:noFill/>
        </p:spPr>
        <p:txBody>
          <a:bodyPr wrap="square" anchor="ctr" lIns="0" rIns="0" tIns="0" bIns="0">
            <a:spAutoFit/>
          </a:bodyPr>
          <a:lstStyle/>
          <a:p>
            <a:pPr algn="l">
              <a:lnSpc>
                <a:spcPct val="112000"/>
              </a:lnSpc>
            </a:pPr>
            <a:r>
              <a:rPr sz="1800" b="0">
                <a:solidFill>
                  <a:srgbClr val="FFFFFF"/>
                </a:solidFill>
                <a:latin typeface="Arial"/>
                <a:ea typeface="Arial"/>
              </a:rPr>
              <a:t>결론</a:t>
            </a:r>
          </a:p>
        </p:txBody>
      </p:sp>
      <p:sp>
        <p:nvSpPr>
          <p:cNvPr id="137" name="TextBox 136"/>
          <p:cNvSpPr txBox="1"/>
          <p:nvPr/>
        </p:nvSpPr>
        <p:spPr>
          <a:xfrm>
            <a:off x="2551176" y="8467344"/>
            <a:ext cx="11905488" cy="822960"/>
          </a:xfrm>
          <a:prstGeom prst="rect">
            <a:avLst/>
          </a:prstGeom>
          <a:noFill/>
        </p:spPr>
        <p:txBody>
          <a:bodyPr wrap="square" anchor="ctr" lIns="0" rIns="0" tIns="0" bIns="0">
            <a:spAutoFit/>
          </a:bodyPr>
          <a:lstStyle/>
          <a:p>
            <a:pPr algn="l">
              <a:lnSpc>
                <a:spcPct val="108000"/>
              </a:lnSpc>
            </a:pPr>
            <a:r>
              <a:rPr sz="1700" b="1">
                <a:solidFill>
                  <a:srgbClr val="FFFFFF"/>
                </a:solidFill>
                <a:latin typeface="Arial"/>
                <a:ea typeface="Arial"/>
              </a:rPr>
              <a:t>FDE는 워크로드를 개방하는 1~2사에 집중하고, 나머지는 업스트림·규격·레퍼런스 채널로 넓힙니다</a:t>
            </a:r>
          </a:p>
        </p:txBody>
      </p:sp>
      <p:sp>
        <p:nvSpPr>
          <p:cNvPr id="138" name="Rectangle 137"/>
          <p:cNvSpPr/>
          <p:nvPr/>
        </p:nvSpPr>
        <p:spPr>
          <a:xfrm>
            <a:off x="14822424" y="8577072"/>
            <a:ext cx="2468880" cy="603504"/>
          </a:xfrm>
          <a:prstGeom prst="rect">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Rectangle 138"/>
          <p:cNvSpPr/>
          <p:nvPr/>
        </p:nvSpPr>
        <p:spPr>
          <a:xfrm>
            <a:off x="14822424" y="8577072"/>
            <a:ext cx="54864" cy="6035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15023592" y="8577072"/>
            <a:ext cx="2176272" cy="603504"/>
          </a:xfrm>
          <a:prstGeom prst="rect">
            <a:avLst/>
          </a:prstGeom>
          <a:noFill/>
        </p:spPr>
        <p:txBody>
          <a:bodyPr wrap="square" anchor="ctr" lIns="0" rIns="0" tIns="0" bIns="0">
            <a:spAutoFit/>
          </a:bodyPr>
          <a:lstStyle/>
          <a:p>
            <a:pPr algn="l">
              <a:lnSpc>
                <a:spcPct val="100000"/>
              </a:lnSpc>
            </a:pPr>
            <a:r>
              <a:rPr sz="1050" b="0">
                <a:solidFill>
                  <a:srgbClr val="AAB8E8"/>
                </a:solidFill>
                <a:latin typeface="Arial"/>
                <a:ea typeface="Arial"/>
              </a:rPr>
              <a:t>다음 장 →</a:t>
            </a:r>
          </a:p>
          <a:p>
            <a:pPr algn="l">
              <a:lnSpc>
                <a:spcPct val="100000"/>
              </a:lnSpc>
            </a:pPr>
            <a:r>
              <a:rPr sz="1350" b="1">
                <a:solidFill>
                  <a:srgbClr val="FFFFFF"/>
                </a:solidFill>
                <a:latin typeface="Arial"/>
                <a:ea typeface="Arial"/>
              </a:rPr>
              <a:t>6장 보증 · SLA</a:t>
            </a:r>
          </a:p>
        </p:txBody>
      </p:sp>
      <p:sp>
        <p:nvSpPr>
          <p:cNvPr id="141" name="TextBox 140"/>
          <p:cNvSpPr txBox="1"/>
          <p:nvPr/>
        </p:nvSpPr>
        <p:spPr>
          <a:xfrm>
            <a:off x="722376" y="9592056"/>
            <a:ext cx="14264640" cy="310896"/>
          </a:xfrm>
          <a:prstGeom prst="rect">
            <a:avLst/>
          </a:prstGeom>
          <a:noFill/>
        </p:spPr>
        <p:txBody>
          <a:bodyPr wrap="square" anchor="t" lIns="0" rIns="0" tIns="0" bIns="0">
            <a:spAutoFit/>
          </a:bodyPr>
          <a:lstStyle/>
          <a:p>
            <a:pPr algn="l">
              <a:lnSpc>
                <a:spcPct val="112000"/>
              </a:lnSpc>
            </a:pPr>
            <a:r>
              <a:rPr sz="1600" b="0">
                <a:solidFill>
                  <a:srgbClr val="555555"/>
                </a:solidFill>
                <a:latin typeface="Arial"/>
                <a:ea typeface="Arial"/>
              </a:rPr>
              <a:t>출처: 보고서 v2.0 부록 A · 덱 v5.2와 동일 수치</a:t>
            </a:r>
          </a:p>
        </p:txBody>
      </p:sp>
      <p:sp>
        <p:nvSpPr>
          <p:cNvPr id="142" name="TextBox 141"/>
          <p:cNvSpPr txBox="1"/>
          <p:nvPr/>
        </p:nvSpPr>
        <p:spPr>
          <a:xfrm>
            <a:off x="16047720" y="9592056"/>
            <a:ext cx="1517904" cy="310896"/>
          </a:xfrm>
          <a:prstGeom prst="rect">
            <a:avLst/>
          </a:prstGeom>
          <a:noFill/>
        </p:spPr>
        <p:txBody>
          <a:bodyPr wrap="square" anchor="t" lIns="0" rIns="0" tIns="0" bIns="0">
            <a:spAutoFit/>
          </a:bodyPr>
          <a:lstStyle/>
          <a:p>
            <a:pPr algn="r">
              <a:lnSpc>
                <a:spcPct val="112000"/>
              </a:lnSpc>
            </a:pPr>
            <a:r>
              <a:rPr sz="1800" b="0">
                <a:solidFill>
                  <a:srgbClr val="555555"/>
                </a:solidFill>
                <a:latin typeface="Arial"/>
                <a:ea typeface="Arial"/>
              </a:rPr>
              <a:t>06 / 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420624"/>
            <a:ext cx="5486400" cy="310896"/>
          </a:xfrm>
          <a:prstGeom prst="rect">
            <a:avLst/>
          </a:prstGeom>
          <a:noFill/>
        </p:spPr>
        <p:txBody>
          <a:bodyPr wrap="square" anchor="t" lIns="0" rIns="0" tIns="0" bIns="0">
            <a:spAutoFit/>
          </a:bodyPr>
          <a:lstStyle/>
          <a:p>
            <a:pPr algn="l">
              <a:lnSpc>
                <a:spcPct val="112000"/>
              </a:lnSpc>
            </a:pPr>
            <a:r>
              <a:rPr sz="1800" b="1">
                <a:solidFill>
                  <a:srgbClr val="1428A0"/>
                </a:solidFill>
                <a:latin typeface="Arial"/>
                <a:ea typeface="Arial"/>
              </a:rPr>
              <a:t>삼성전자 메모리사업부</a:t>
            </a:r>
          </a:p>
        </p:txBody>
      </p:sp>
      <p:sp>
        <p:nvSpPr>
          <p:cNvPr id="3" name="TextBox 2"/>
          <p:cNvSpPr txBox="1"/>
          <p:nvPr/>
        </p:nvSpPr>
        <p:spPr>
          <a:xfrm>
            <a:off x="12079224" y="420624"/>
            <a:ext cx="5486400" cy="310896"/>
          </a:xfrm>
          <a:prstGeom prst="rect">
            <a:avLst/>
          </a:prstGeom>
          <a:noFill/>
        </p:spPr>
        <p:txBody>
          <a:bodyPr wrap="square" anchor="t" lIns="0" rIns="0" tIns="0" bIns="0">
            <a:spAutoFit/>
          </a:bodyPr>
          <a:lstStyle/>
          <a:p>
            <a:pPr algn="r">
              <a:lnSpc>
                <a:spcPct val="112000"/>
              </a:lnSpc>
            </a:pPr>
            <a:r>
              <a:rPr sz="1800" b="0">
                <a:solidFill>
                  <a:srgbClr val="555555"/>
                </a:solidFill>
                <a:latin typeface="Arial"/>
                <a:ea typeface="Arial"/>
              </a:rPr>
              <a:t>[문서등급 표기]</a:t>
            </a:r>
          </a:p>
        </p:txBody>
      </p:sp>
      <p:sp>
        <p:nvSpPr>
          <p:cNvPr id="4" name="TextBox 3"/>
          <p:cNvSpPr txBox="1"/>
          <p:nvPr/>
        </p:nvSpPr>
        <p:spPr>
          <a:xfrm>
            <a:off x="722376" y="804672"/>
            <a:ext cx="2148840" cy="274320"/>
          </a:xfrm>
          <a:prstGeom prst="rect">
            <a:avLst/>
          </a:prstGeom>
          <a:noFill/>
        </p:spPr>
        <p:txBody>
          <a:bodyPr wrap="square" anchor="ctr" lIns="0" rIns="0" tIns="0" bIns="0">
            <a:spAutoFit/>
          </a:bodyPr>
          <a:lstStyle/>
          <a:p>
            <a:pPr algn="l">
              <a:lnSpc>
                <a:spcPct val="112000"/>
              </a:lnSpc>
            </a:pPr>
            <a:r>
              <a:rPr sz="1800" b="1">
                <a:solidFill>
                  <a:srgbClr val="1428A0"/>
                </a:solidFill>
                <a:latin typeface="Arial"/>
                <a:ea typeface="Arial"/>
              </a:rPr>
              <a:t>QLC eSSD 전략</a:t>
            </a:r>
          </a:p>
        </p:txBody>
      </p:sp>
      <p:sp>
        <p:nvSpPr>
          <p:cNvPr id="5" name="Rectangle 4"/>
          <p:cNvSpPr/>
          <p:nvPr/>
        </p:nvSpPr>
        <p:spPr>
          <a:xfrm>
            <a:off x="2871216" y="1124712"/>
            <a:ext cx="2357628"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871216"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71216"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1</a:t>
            </a:r>
          </a:p>
        </p:txBody>
      </p:sp>
      <p:sp>
        <p:nvSpPr>
          <p:cNvPr id="8" name="TextBox 7"/>
          <p:cNvSpPr txBox="1"/>
          <p:nvPr/>
        </p:nvSpPr>
        <p:spPr>
          <a:xfrm>
            <a:off x="3209544" y="804672"/>
            <a:ext cx="2001011"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문제  </a:t>
            </a:r>
            <a:r>
              <a:rPr sz="1200" b="0">
                <a:solidFill>
                  <a:srgbClr val="555555"/>
                </a:solidFill>
                <a:latin typeface="Arial"/>
                <a:ea typeface="Arial"/>
              </a:rPr>
              <a:t/>
            </a:r>
          </a:p>
        </p:txBody>
      </p:sp>
      <p:sp>
        <p:nvSpPr>
          <p:cNvPr id="9" name="Rectangle 8"/>
          <p:cNvSpPr/>
          <p:nvPr/>
        </p:nvSpPr>
        <p:spPr>
          <a:xfrm>
            <a:off x="5320284" y="1124712"/>
            <a:ext cx="2357628"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320284"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20284"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2</a:t>
            </a:r>
          </a:p>
        </p:txBody>
      </p:sp>
      <p:sp>
        <p:nvSpPr>
          <p:cNvPr id="12" name="TextBox 11"/>
          <p:cNvSpPr txBox="1"/>
          <p:nvPr/>
        </p:nvSpPr>
        <p:spPr>
          <a:xfrm>
            <a:off x="5658611" y="804672"/>
            <a:ext cx="2001011"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신뢰성  </a:t>
            </a:r>
            <a:r>
              <a:rPr sz="1200" b="0">
                <a:solidFill>
                  <a:srgbClr val="555555"/>
                </a:solidFill>
                <a:latin typeface="Arial"/>
                <a:ea typeface="Arial"/>
              </a:rPr>
              <a:t/>
            </a:r>
          </a:p>
        </p:txBody>
      </p:sp>
      <p:sp>
        <p:nvSpPr>
          <p:cNvPr id="13" name="Rectangle 12"/>
          <p:cNvSpPr/>
          <p:nvPr/>
        </p:nvSpPr>
        <p:spPr>
          <a:xfrm>
            <a:off x="7769351" y="1124712"/>
            <a:ext cx="2357628"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769351"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69351"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3</a:t>
            </a:r>
          </a:p>
        </p:txBody>
      </p:sp>
      <p:sp>
        <p:nvSpPr>
          <p:cNvPr id="16" name="TextBox 15"/>
          <p:cNvSpPr txBox="1"/>
          <p:nvPr/>
        </p:nvSpPr>
        <p:spPr>
          <a:xfrm>
            <a:off x="8107679" y="804672"/>
            <a:ext cx="2001011"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해법 사다리  </a:t>
            </a:r>
            <a:r>
              <a:rPr sz="1200" b="0">
                <a:solidFill>
                  <a:srgbClr val="555555"/>
                </a:solidFill>
                <a:latin typeface="Arial"/>
                <a:ea typeface="Arial"/>
              </a:rPr>
              <a:t/>
            </a:r>
          </a:p>
        </p:txBody>
      </p:sp>
      <p:sp>
        <p:nvSpPr>
          <p:cNvPr id="17" name="Rectangle 16"/>
          <p:cNvSpPr/>
          <p:nvPr/>
        </p:nvSpPr>
        <p:spPr>
          <a:xfrm>
            <a:off x="10218420" y="1124712"/>
            <a:ext cx="2357628"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218420"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218420"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4</a:t>
            </a:r>
          </a:p>
        </p:txBody>
      </p:sp>
      <p:sp>
        <p:nvSpPr>
          <p:cNvPr id="20" name="TextBox 19"/>
          <p:cNvSpPr txBox="1"/>
          <p:nvPr/>
        </p:nvSpPr>
        <p:spPr>
          <a:xfrm>
            <a:off x="10556748" y="804672"/>
            <a:ext cx="2001011"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역량  </a:t>
            </a:r>
            <a:r>
              <a:rPr sz="1200" b="0">
                <a:solidFill>
                  <a:srgbClr val="555555"/>
                </a:solidFill>
                <a:latin typeface="Arial"/>
                <a:ea typeface="Arial"/>
              </a:rPr>
              <a:t/>
            </a:r>
          </a:p>
        </p:txBody>
      </p:sp>
      <p:sp>
        <p:nvSpPr>
          <p:cNvPr id="21" name="Rectangle 20"/>
          <p:cNvSpPr/>
          <p:nvPr/>
        </p:nvSpPr>
        <p:spPr>
          <a:xfrm>
            <a:off x="12667488" y="1124712"/>
            <a:ext cx="2357628"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2667488"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667488"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5</a:t>
            </a:r>
          </a:p>
        </p:txBody>
      </p:sp>
      <p:sp>
        <p:nvSpPr>
          <p:cNvPr id="24" name="TextBox 23"/>
          <p:cNvSpPr txBox="1"/>
          <p:nvPr/>
        </p:nvSpPr>
        <p:spPr>
          <a:xfrm>
            <a:off x="13005816" y="804672"/>
            <a:ext cx="2001011"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실행  </a:t>
            </a:r>
            <a:r>
              <a:rPr sz="1200" b="0">
                <a:solidFill>
                  <a:srgbClr val="555555"/>
                </a:solidFill>
                <a:latin typeface="Arial"/>
                <a:ea typeface="Arial"/>
              </a:rPr>
              <a:t/>
            </a:r>
          </a:p>
        </p:txBody>
      </p:sp>
      <p:sp>
        <p:nvSpPr>
          <p:cNvPr id="25" name="Rectangle 24"/>
          <p:cNvSpPr/>
          <p:nvPr/>
        </p:nvSpPr>
        <p:spPr>
          <a:xfrm>
            <a:off x="15116556" y="1124712"/>
            <a:ext cx="2357628"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5116556" y="818388"/>
            <a:ext cx="246888" cy="246888"/>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116556" y="818388"/>
            <a:ext cx="246888" cy="246888"/>
          </a:xfrm>
          <a:prstGeom prst="rect">
            <a:avLst/>
          </a:prstGeom>
          <a:noFill/>
        </p:spPr>
        <p:txBody>
          <a:bodyPr wrap="square" anchor="ctr" lIns="0" rIns="0" tIns="0" bIns="0">
            <a:spAutoFit/>
          </a:bodyPr>
          <a:lstStyle/>
          <a:p>
            <a:pPr algn="ctr">
              <a:lnSpc>
                <a:spcPct val="112000"/>
              </a:lnSpc>
            </a:pPr>
            <a:r>
              <a:rPr sz="1100" b="1">
                <a:solidFill>
                  <a:srgbClr val="FFFFFF"/>
                </a:solidFill>
                <a:latin typeface="Arial"/>
                <a:ea typeface="Arial"/>
              </a:rPr>
              <a:t>6</a:t>
            </a:r>
          </a:p>
        </p:txBody>
      </p:sp>
      <p:sp>
        <p:nvSpPr>
          <p:cNvPr id="28" name="TextBox 27"/>
          <p:cNvSpPr txBox="1"/>
          <p:nvPr/>
        </p:nvSpPr>
        <p:spPr>
          <a:xfrm>
            <a:off x="15454884" y="804672"/>
            <a:ext cx="2001011" cy="274320"/>
          </a:xfrm>
          <a:prstGeom prst="rect">
            <a:avLst/>
          </a:prstGeom>
          <a:noFill/>
        </p:spPr>
        <p:txBody>
          <a:bodyPr wrap="square" anchor="ctr" lIns="0" rIns="0" tIns="0" bIns="0">
            <a:spAutoFit/>
          </a:bodyPr>
          <a:lstStyle/>
          <a:p>
            <a:pPr algn="l">
              <a:lnSpc>
                <a:spcPct val="112000"/>
              </a:lnSpc>
            </a:pPr>
            <a:r>
              <a:rPr sz="1300" b="1">
                <a:solidFill>
                  <a:srgbClr val="1428A0"/>
                </a:solidFill>
                <a:latin typeface="Arial"/>
                <a:ea typeface="Arial"/>
              </a:rPr>
              <a:t>보증 · SLA  </a:t>
            </a:r>
            <a:r>
              <a:rPr sz="1200" b="0">
                <a:solidFill>
                  <a:srgbClr val="1428A0"/>
                </a:solidFill>
                <a:latin typeface="Arial"/>
                <a:ea typeface="Arial"/>
              </a:rPr>
              <a:t/>
            </a:r>
          </a:p>
        </p:txBody>
      </p:sp>
      <p:sp>
        <p:nvSpPr>
          <p:cNvPr id="29" name="TextBox 28"/>
          <p:cNvSpPr txBox="1"/>
          <p:nvPr/>
        </p:nvSpPr>
        <p:spPr>
          <a:xfrm>
            <a:off x="722376" y="1216152"/>
            <a:ext cx="16843248" cy="566928"/>
          </a:xfrm>
          <a:prstGeom prst="rect">
            <a:avLst/>
          </a:prstGeom>
          <a:noFill/>
        </p:spPr>
        <p:txBody>
          <a:bodyPr wrap="square" anchor="t" lIns="0" rIns="0" tIns="0" bIns="0">
            <a:spAutoFit/>
          </a:bodyPr>
          <a:lstStyle/>
          <a:p>
            <a:pPr algn="l">
              <a:lnSpc>
                <a:spcPct val="112000"/>
              </a:lnSpc>
            </a:pPr>
            <a:r>
              <a:rPr sz="3000" b="1">
                <a:solidFill>
                  <a:srgbClr val="1A1A1A"/>
                </a:solidFill>
                <a:latin typeface="Arial"/>
                <a:ea typeface="Arial"/>
              </a:rPr>
              <a:t>유효 DWPD 보증은 WAF 변동 리스크를 수반하므로 텔레메트리 기반 조건부 보증으로 설계합니다</a:t>
            </a:r>
          </a:p>
        </p:txBody>
      </p:sp>
      <p:sp>
        <p:nvSpPr>
          <p:cNvPr id="30" name="TextBox 29"/>
          <p:cNvSpPr txBox="1"/>
          <p:nvPr/>
        </p:nvSpPr>
        <p:spPr>
          <a:xfrm>
            <a:off x="722376" y="1865376"/>
            <a:ext cx="16843248" cy="402336"/>
          </a:xfrm>
          <a:prstGeom prst="rect">
            <a:avLst/>
          </a:prstGeom>
          <a:noFill/>
        </p:spPr>
        <p:txBody>
          <a:bodyPr wrap="square" anchor="t" lIns="0" rIns="0" tIns="0" bIns="0">
            <a:spAutoFit/>
          </a:bodyPr>
          <a:lstStyle/>
          <a:p>
            <a:pPr algn="l">
              <a:lnSpc>
                <a:spcPct val="112000"/>
              </a:lnSpc>
            </a:pPr>
            <a:r>
              <a:rPr sz="2000" b="0">
                <a:solidFill>
                  <a:srgbClr val="555555"/>
                </a:solidFill>
                <a:latin typeface="Arial"/>
                <a:ea typeface="Arial"/>
              </a:rPr>
              <a:t>관행은 5년 또는 TBW·DWPD 선도달 보증입니다. 유효 DWPD는 WAF가 오르면 그대로 삼성의 보증 부담이 됩니다.</a:t>
            </a:r>
          </a:p>
        </p:txBody>
      </p:sp>
      <p:sp>
        <p:nvSpPr>
          <p:cNvPr id="31" name="Rectangle 30"/>
          <p:cNvSpPr/>
          <p:nvPr/>
        </p:nvSpPr>
        <p:spPr>
          <a:xfrm>
            <a:off x="722376" y="2395728"/>
            <a:ext cx="16843248" cy="12801"/>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1088136" y="2743200"/>
            <a:ext cx="9144000" cy="5349240"/>
          </a:xfrm>
          <a:prstGeom prst="roundRect">
            <a:avLst>
              <a:gd name="adj" fmla="val 683"/>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252728" y="2884932"/>
            <a:ext cx="3031359" cy="265176"/>
          </a:xfrm>
          <a:prstGeom prst="rect">
            <a:avLst/>
          </a:prstGeom>
          <a:noFill/>
        </p:spPr>
        <p:txBody>
          <a:bodyPr wrap="none" anchor="t" lIns="0" rIns="0" tIns="0" bIns="0">
            <a:spAutoFit/>
          </a:bodyPr>
          <a:lstStyle/>
          <a:p>
            <a:pPr algn="l">
              <a:lnSpc>
                <a:spcPct val="125000"/>
              </a:lnSpc>
            </a:pPr>
            <a:r>
              <a:rPr sz="1439" b="1">
                <a:solidFill>
                  <a:srgbClr val="1A1A1A"/>
                </a:solidFill>
                <a:latin typeface="Arial"/>
                <a:ea typeface="Arial"/>
              </a:rPr>
              <a:t>유효 DWPD = 정격 × (3 ÷ WAF)</a:t>
            </a:r>
          </a:p>
        </p:txBody>
      </p:sp>
      <p:sp>
        <p:nvSpPr>
          <p:cNvPr id="34" name="TextBox 33"/>
          <p:cNvSpPr txBox="1"/>
          <p:nvPr/>
        </p:nvSpPr>
        <p:spPr>
          <a:xfrm>
            <a:off x="4215666" y="2928365"/>
            <a:ext cx="2021754" cy="196596"/>
          </a:xfrm>
          <a:prstGeom prst="rect">
            <a:avLst/>
          </a:prstGeom>
          <a:noFill/>
        </p:spPr>
        <p:txBody>
          <a:bodyPr wrap="none" anchor="t" lIns="0" rIns="0" tIns="0" bIns="0">
            <a:spAutoFit/>
          </a:bodyPr>
          <a:lstStyle/>
          <a:p>
            <a:pPr algn="l">
              <a:lnSpc>
                <a:spcPct val="125000"/>
              </a:lnSpc>
            </a:pPr>
            <a:r>
              <a:rPr sz="1008" b="0">
                <a:solidFill>
                  <a:srgbClr val="8A8A8A"/>
                </a:solidFill>
                <a:latin typeface="Arial"/>
                <a:ea typeface="Arial"/>
              </a:rPr>
              <a:t>정격은 WAF ≈3(랜덤 4KB) 기준</a:t>
            </a:r>
          </a:p>
        </p:txBody>
      </p:sp>
      <p:pic>
        <p:nvPicPr>
          <p:cNvPr id="35" name="Picture 34" descr="qlc_vis_dwpd_curves.png"/>
          <p:cNvPicPr>
            <a:picLocks noChangeAspect="1"/>
          </p:cNvPicPr>
          <p:nvPr/>
        </p:nvPicPr>
        <p:blipFill>
          <a:blip r:embed="rId2"/>
          <a:stretch>
            <a:fillRect/>
          </a:stretch>
        </p:blipFill>
        <p:spPr>
          <a:xfrm>
            <a:off x="1271016" y="3218687"/>
            <a:ext cx="8778240" cy="4564685"/>
          </a:xfrm>
          <a:prstGeom prst="rect">
            <a:avLst/>
          </a:prstGeom>
        </p:spPr>
      </p:pic>
      <p:sp>
        <p:nvSpPr>
          <p:cNvPr id="36" name="TextBox 35"/>
          <p:cNvSpPr txBox="1"/>
          <p:nvPr/>
        </p:nvSpPr>
        <p:spPr>
          <a:xfrm>
            <a:off x="1362456" y="7853553"/>
            <a:ext cx="1171843" cy="185166"/>
          </a:xfrm>
          <a:prstGeom prst="rect">
            <a:avLst/>
          </a:prstGeom>
          <a:noFill/>
        </p:spPr>
        <p:txBody>
          <a:bodyPr wrap="none" anchor="t" lIns="0" rIns="0" tIns="0" bIns="0">
            <a:spAutoFit/>
          </a:bodyPr>
          <a:lstStyle/>
          <a:p>
            <a:pPr algn="l">
              <a:lnSpc>
                <a:spcPct val="125000"/>
              </a:lnSpc>
            </a:pPr>
            <a:r>
              <a:rPr sz="936" b="1">
                <a:solidFill>
                  <a:srgbClr val="1A1A1A"/>
                </a:solidFill>
                <a:latin typeface="Arial"/>
                <a:ea typeface="Arial"/>
              </a:rPr>
              <a:t>WAF가 오르는 경우</a:t>
            </a:r>
          </a:p>
        </p:txBody>
      </p:sp>
      <p:sp>
        <p:nvSpPr>
          <p:cNvPr id="37" name="Rounded Rectangle 36"/>
          <p:cNvSpPr/>
          <p:nvPr/>
        </p:nvSpPr>
        <p:spPr>
          <a:xfrm>
            <a:off x="2825496" y="7836408"/>
            <a:ext cx="1077460" cy="202082"/>
          </a:xfrm>
          <a:prstGeom prst="roundRect">
            <a:avLst>
              <a:gd name="adj" fmla="val 13574"/>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854649" y="7844866"/>
            <a:ext cx="1019152" cy="185166"/>
          </a:xfrm>
          <a:prstGeom prst="rect">
            <a:avLst/>
          </a:prstGeom>
          <a:noFill/>
        </p:spPr>
        <p:txBody>
          <a:bodyPr wrap="none" anchor="t" lIns="0" rIns="0" tIns="0" bIns="0">
            <a:spAutoFit/>
          </a:bodyPr>
          <a:lstStyle/>
          <a:p>
            <a:pPr algn="ctr">
              <a:lnSpc>
                <a:spcPct val="125000"/>
              </a:lnSpc>
            </a:pPr>
            <a:r>
              <a:rPr sz="936" b="0">
                <a:solidFill>
                  <a:srgbClr val="555555"/>
                </a:solidFill>
                <a:latin typeface="Arial"/>
                <a:ea typeface="Arial"/>
              </a:rPr>
              <a:t>① 워크로드 변화</a:t>
            </a:r>
          </a:p>
        </p:txBody>
      </p:sp>
      <p:sp>
        <p:nvSpPr>
          <p:cNvPr id="39" name="Rounded Rectangle 38"/>
          <p:cNvSpPr/>
          <p:nvPr/>
        </p:nvSpPr>
        <p:spPr>
          <a:xfrm>
            <a:off x="3976108" y="7836408"/>
            <a:ext cx="1825524" cy="202082"/>
          </a:xfrm>
          <a:prstGeom prst="roundRect">
            <a:avLst>
              <a:gd name="adj" fmla="val 13574"/>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991408" y="7844866"/>
            <a:ext cx="1794923" cy="185166"/>
          </a:xfrm>
          <a:prstGeom prst="rect">
            <a:avLst/>
          </a:prstGeom>
          <a:noFill/>
        </p:spPr>
        <p:txBody>
          <a:bodyPr wrap="none" anchor="t" lIns="0" rIns="0" tIns="0" bIns="0">
            <a:spAutoFit/>
          </a:bodyPr>
          <a:lstStyle/>
          <a:p>
            <a:pPr algn="ctr">
              <a:lnSpc>
                <a:spcPct val="125000"/>
              </a:lnSpc>
            </a:pPr>
            <a:r>
              <a:rPr sz="936" b="0">
                <a:solidFill>
                  <a:srgbClr val="555555"/>
                </a:solidFill>
                <a:latin typeface="Arial"/>
                <a:ea typeface="Arial"/>
              </a:rPr>
              <a:t>② 오분류 · RUH 간섭 (WARP)</a:t>
            </a:r>
          </a:p>
        </p:txBody>
      </p:sp>
      <p:sp>
        <p:nvSpPr>
          <p:cNvPr id="41" name="Rounded Rectangle 40"/>
          <p:cNvSpPr/>
          <p:nvPr/>
        </p:nvSpPr>
        <p:spPr>
          <a:xfrm>
            <a:off x="5874784" y="7836408"/>
            <a:ext cx="1764583" cy="202082"/>
          </a:xfrm>
          <a:prstGeom prst="roundRect">
            <a:avLst>
              <a:gd name="adj" fmla="val 13574"/>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891213" y="7844866"/>
            <a:ext cx="1731725" cy="185166"/>
          </a:xfrm>
          <a:prstGeom prst="rect">
            <a:avLst/>
          </a:prstGeom>
          <a:noFill/>
        </p:spPr>
        <p:txBody>
          <a:bodyPr wrap="none" anchor="t" lIns="0" rIns="0" tIns="0" bIns="0">
            <a:spAutoFit/>
          </a:bodyPr>
          <a:lstStyle/>
          <a:p>
            <a:pPr algn="ctr">
              <a:lnSpc>
                <a:spcPct val="125000"/>
              </a:lnSpc>
            </a:pPr>
            <a:r>
              <a:rPr sz="936" b="0">
                <a:solidFill>
                  <a:srgbClr val="555555"/>
                </a:solidFill>
                <a:latin typeface="Arial"/>
                <a:ea typeface="Arial"/>
              </a:rPr>
              <a:t>③ 스택 업데이트 → 힌트 손실</a:t>
            </a:r>
          </a:p>
        </p:txBody>
      </p:sp>
      <p:sp>
        <p:nvSpPr>
          <p:cNvPr id="43" name="Rounded Rectangle 42"/>
          <p:cNvSpPr/>
          <p:nvPr/>
        </p:nvSpPr>
        <p:spPr>
          <a:xfrm>
            <a:off x="10597896" y="2743200"/>
            <a:ext cx="6601968" cy="5349240"/>
          </a:xfrm>
          <a:prstGeom prst="roundRect">
            <a:avLst>
              <a:gd name="adj" fmla="val 683"/>
            </a:avLst>
          </a:prstGeom>
          <a:solidFill>
            <a:srgbClr val="FFFFFF"/>
          </a:solidFill>
          <a:ln w="1905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0597896" y="2743200"/>
            <a:ext cx="6601968" cy="54864"/>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762488" y="2884932"/>
            <a:ext cx="2215513" cy="265176"/>
          </a:xfrm>
          <a:prstGeom prst="rect">
            <a:avLst/>
          </a:prstGeom>
          <a:noFill/>
        </p:spPr>
        <p:txBody>
          <a:bodyPr wrap="none" anchor="t" lIns="0" rIns="0" tIns="0" bIns="0">
            <a:spAutoFit/>
          </a:bodyPr>
          <a:lstStyle/>
          <a:p>
            <a:pPr algn="l">
              <a:lnSpc>
                <a:spcPct val="125000"/>
              </a:lnSpc>
            </a:pPr>
            <a:r>
              <a:rPr sz="1439" b="1">
                <a:solidFill>
                  <a:srgbClr val="1428A0"/>
                </a:solidFill>
                <a:latin typeface="Arial"/>
                <a:ea typeface="Arial"/>
              </a:rPr>
              <a:t>조건부 보증 설계 · 5원칙</a:t>
            </a:r>
          </a:p>
        </p:txBody>
      </p:sp>
      <p:sp>
        <p:nvSpPr>
          <p:cNvPr id="46" name="TextBox 45"/>
          <p:cNvSpPr txBox="1"/>
          <p:nvPr/>
        </p:nvSpPr>
        <p:spPr>
          <a:xfrm>
            <a:off x="12938717" y="2928365"/>
            <a:ext cx="2387502" cy="196596"/>
          </a:xfrm>
          <a:prstGeom prst="rect">
            <a:avLst/>
          </a:prstGeom>
          <a:noFill/>
        </p:spPr>
        <p:txBody>
          <a:bodyPr wrap="none" anchor="t" lIns="0" rIns="0" tIns="0" bIns="0">
            <a:spAutoFit/>
          </a:bodyPr>
          <a:lstStyle/>
          <a:p>
            <a:pPr algn="l">
              <a:lnSpc>
                <a:spcPct val="125000"/>
              </a:lnSpc>
            </a:pPr>
            <a:r>
              <a:rPr sz="1008" b="0">
                <a:solidFill>
                  <a:srgbClr val="8A8A8A"/>
                </a:solidFill>
                <a:latin typeface="Arial"/>
                <a:ea typeface="Arial"/>
              </a:rPr>
              <a:t>관행은 유지, 유효 DWPD는 조건부로만</a:t>
            </a:r>
          </a:p>
        </p:txBody>
      </p:sp>
      <p:sp>
        <p:nvSpPr>
          <p:cNvPr id="47" name="Rounded Rectangle 46"/>
          <p:cNvSpPr/>
          <p:nvPr/>
        </p:nvSpPr>
        <p:spPr>
          <a:xfrm>
            <a:off x="10963655" y="3346703"/>
            <a:ext cx="5870448" cy="713232"/>
          </a:xfrm>
          <a:prstGeom prst="roundRect">
            <a:avLst>
              <a:gd name="adj" fmla="val 5128"/>
            </a:avLst>
          </a:prstGeom>
          <a:solidFill>
            <a:srgbClr val="FFFFFF"/>
          </a:solidFill>
          <a:ln w="15240">
            <a:solidFill>
              <a:srgbClr val="AAB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1091672" y="3557015"/>
            <a:ext cx="292608" cy="292608"/>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1115446" y="3599307"/>
            <a:ext cx="245059" cy="208026"/>
          </a:xfrm>
          <a:prstGeom prst="rect">
            <a:avLst/>
          </a:prstGeom>
          <a:noFill/>
        </p:spPr>
        <p:txBody>
          <a:bodyPr wrap="none" anchor="t" lIns="0" rIns="0" tIns="0" bIns="0">
            <a:spAutoFit/>
          </a:bodyPr>
          <a:lstStyle/>
          <a:p>
            <a:pPr algn="ctr">
              <a:lnSpc>
                <a:spcPct val="125000"/>
              </a:lnSpc>
            </a:pPr>
            <a:r>
              <a:rPr sz="1080" b="1">
                <a:solidFill>
                  <a:srgbClr val="FFFFFF"/>
                </a:solidFill>
                <a:latin typeface="Arial"/>
                <a:ea typeface="Arial"/>
              </a:rPr>
              <a:t>③</a:t>
            </a:r>
          </a:p>
        </p:txBody>
      </p:sp>
      <p:sp>
        <p:nvSpPr>
          <p:cNvPr id="50" name="TextBox 49"/>
          <p:cNvSpPr txBox="1"/>
          <p:nvPr/>
        </p:nvSpPr>
        <p:spPr>
          <a:xfrm>
            <a:off x="11512296" y="3469004"/>
            <a:ext cx="1612055" cy="230886"/>
          </a:xfrm>
          <a:prstGeom prst="rect">
            <a:avLst/>
          </a:prstGeom>
          <a:noFill/>
        </p:spPr>
        <p:txBody>
          <a:bodyPr wrap="none" anchor="t" lIns="0" rIns="0" tIns="0" bIns="0">
            <a:spAutoFit/>
          </a:bodyPr>
          <a:lstStyle/>
          <a:p>
            <a:pPr algn="l">
              <a:lnSpc>
                <a:spcPct val="125000"/>
              </a:lnSpc>
            </a:pPr>
            <a:r>
              <a:rPr sz="1224" b="1">
                <a:solidFill>
                  <a:srgbClr val="1A1A1A"/>
                </a:solidFill>
                <a:latin typeface="Arial"/>
                <a:ea typeface="Arial"/>
              </a:rPr>
              <a:t>양측 동일 텔레메트리</a:t>
            </a:r>
          </a:p>
        </p:txBody>
      </p:sp>
      <p:sp>
        <p:nvSpPr>
          <p:cNvPr id="51" name="TextBox 50"/>
          <p:cNvSpPr txBox="1"/>
          <p:nvPr/>
        </p:nvSpPr>
        <p:spPr>
          <a:xfrm>
            <a:off x="11512296" y="3729608"/>
            <a:ext cx="2620287" cy="185166"/>
          </a:xfrm>
          <a:prstGeom prst="rect">
            <a:avLst/>
          </a:prstGeom>
          <a:noFill/>
        </p:spPr>
        <p:txBody>
          <a:bodyPr wrap="none" anchor="t" lIns="0" rIns="0" tIns="0" bIns="0">
            <a:spAutoFit/>
          </a:bodyPr>
          <a:lstStyle/>
          <a:p>
            <a:pPr algn="l">
              <a:lnSpc>
                <a:spcPct val="125000"/>
              </a:lnSpc>
            </a:pPr>
            <a:r>
              <a:rPr sz="936" b="0">
                <a:solidFill>
                  <a:srgbClr val="555555"/>
                </a:solidFill>
                <a:latin typeface="Arial"/>
                <a:ea typeface="Arial"/>
              </a:rPr>
              <a:t>OCP SMART C0 · 물리 매체 ÷ 호스트 기록량</a:t>
            </a:r>
          </a:p>
        </p:txBody>
      </p:sp>
      <p:cxnSp>
        <p:nvCxnSpPr>
          <p:cNvPr id="52" name="Connector 51"/>
          <p:cNvCxnSpPr/>
          <p:nvPr/>
        </p:nvCxnSpPr>
        <p:spPr>
          <a:xfrm>
            <a:off x="13898880" y="4078224"/>
            <a:ext cx="0" cy="128016"/>
          </a:xfrm>
          <a:prstGeom prst="line">
            <a:avLst/>
          </a:prstGeom>
          <a:ln w="31750">
            <a:solidFill>
              <a:srgbClr val="1428A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3" name="Rounded Rectangle 52"/>
          <p:cNvSpPr/>
          <p:nvPr/>
        </p:nvSpPr>
        <p:spPr>
          <a:xfrm>
            <a:off x="10963655" y="4242816"/>
            <a:ext cx="5870448" cy="713232"/>
          </a:xfrm>
          <a:prstGeom prst="roundRect">
            <a:avLst>
              <a:gd name="adj" fmla="val 5128"/>
            </a:avLst>
          </a:prstGeom>
          <a:solidFill>
            <a:srgbClr val="FFFFFF"/>
          </a:solidFill>
          <a:ln w="15240">
            <a:solidFill>
              <a:srgbClr val="AAB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11091672" y="4453127"/>
            <a:ext cx="292608" cy="292608"/>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1115446" y="4495419"/>
            <a:ext cx="245059" cy="208026"/>
          </a:xfrm>
          <a:prstGeom prst="rect">
            <a:avLst/>
          </a:prstGeom>
          <a:noFill/>
        </p:spPr>
        <p:txBody>
          <a:bodyPr wrap="none" anchor="t" lIns="0" rIns="0" tIns="0" bIns="0">
            <a:spAutoFit/>
          </a:bodyPr>
          <a:lstStyle/>
          <a:p>
            <a:pPr algn="ctr">
              <a:lnSpc>
                <a:spcPct val="125000"/>
              </a:lnSpc>
            </a:pPr>
            <a:r>
              <a:rPr sz="1080" b="1">
                <a:solidFill>
                  <a:srgbClr val="FFFFFF"/>
                </a:solidFill>
                <a:latin typeface="Arial"/>
                <a:ea typeface="Arial"/>
              </a:rPr>
              <a:t>④</a:t>
            </a:r>
          </a:p>
        </p:txBody>
      </p:sp>
      <p:sp>
        <p:nvSpPr>
          <p:cNvPr id="56" name="TextBox 55"/>
          <p:cNvSpPr txBox="1"/>
          <p:nvPr/>
        </p:nvSpPr>
        <p:spPr>
          <a:xfrm>
            <a:off x="11512296" y="4365117"/>
            <a:ext cx="1491408" cy="230886"/>
          </a:xfrm>
          <a:prstGeom prst="rect">
            <a:avLst/>
          </a:prstGeom>
          <a:noFill/>
        </p:spPr>
        <p:txBody>
          <a:bodyPr wrap="none" anchor="t" lIns="0" rIns="0" tIns="0" bIns="0">
            <a:spAutoFit/>
          </a:bodyPr>
          <a:lstStyle/>
          <a:p>
            <a:pPr algn="l">
              <a:lnSpc>
                <a:spcPct val="125000"/>
              </a:lnSpc>
            </a:pPr>
            <a:r>
              <a:rPr sz="1224" b="1">
                <a:solidFill>
                  <a:srgbClr val="1A1A1A"/>
                </a:solidFill>
                <a:latin typeface="Arial"/>
                <a:ea typeface="Arial"/>
              </a:rPr>
              <a:t>배치 규격 준수 조건</a:t>
            </a:r>
          </a:p>
        </p:txBody>
      </p:sp>
      <p:sp>
        <p:nvSpPr>
          <p:cNvPr id="57" name="TextBox 56"/>
          <p:cNvSpPr txBox="1"/>
          <p:nvPr/>
        </p:nvSpPr>
        <p:spPr>
          <a:xfrm>
            <a:off x="11512296" y="4625721"/>
            <a:ext cx="1969893" cy="185166"/>
          </a:xfrm>
          <a:prstGeom prst="rect">
            <a:avLst/>
          </a:prstGeom>
          <a:noFill/>
        </p:spPr>
        <p:txBody>
          <a:bodyPr wrap="none" anchor="t" lIns="0" rIns="0" tIns="0" bIns="0">
            <a:spAutoFit/>
          </a:bodyPr>
          <a:lstStyle/>
          <a:p>
            <a:pPr algn="l">
              <a:lnSpc>
                <a:spcPct val="125000"/>
              </a:lnSpc>
            </a:pPr>
            <a:r>
              <a:rPr sz="936" b="0">
                <a:solidFill>
                  <a:srgbClr val="555555"/>
                </a:solidFill>
                <a:latin typeface="Arial"/>
                <a:ea typeface="Arial"/>
              </a:rPr>
              <a:t>RUH 매핑 · 정책 준수 시에만 적용</a:t>
            </a:r>
          </a:p>
        </p:txBody>
      </p:sp>
      <p:cxnSp>
        <p:nvCxnSpPr>
          <p:cNvPr id="58" name="Connector 57"/>
          <p:cNvCxnSpPr/>
          <p:nvPr/>
        </p:nvCxnSpPr>
        <p:spPr>
          <a:xfrm>
            <a:off x="13898880" y="4974336"/>
            <a:ext cx="0" cy="128016"/>
          </a:xfrm>
          <a:prstGeom prst="line">
            <a:avLst/>
          </a:prstGeom>
          <a:ln w="31750">
            <a:solidFill>
              <a:srgbClr val="1428A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9" name="Rounded Rectangle 58"/>
          <p:cNvSpPr/>
          <p:nvPr/>
        </p:nvSpPr>
        <p:spPr>
          <a:xfrm>
            <a:off x="10963655" y="5138927"/>
            <a:ext cx="5870448" cy="713232"/>
          </a:xfrm>
          <a:prstGeom prst="roundRect">
            <a:avLst>
              <a:gd name="adj" fmla="val 5128"/>
            </a:avLst>
          </a:prstGeom>
          <a:solidFill>
            <a:srgbClr val="FFFFFF"/>
          </a:solidFill>
          <a:ln w="15240">
            <a:solidFill>
              <a:srgbClr val="AAB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11091672" y="5349240"/>
            <a:ext cx="292608" cy="292608"/>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1115446" y="5391531"/>
            <a:ext cx="245059" cy="208026"/>
          </a:xfrm>
          <a:prstGeom prst="rect">
            <a:avLst/>
          </a:prstGeom>
          <a:noFill/>
        </p:spPr>
        <p:txBody>
          <a:bodyPr wrap="none" anchor="t" lIns="0" rIns="0" tIns="0" bIns="0">
            <a:spAutoFit/>
          </a:bodyPr>
          <a:lstStyle/>
          <a:p>
            <a:pPr algn="ctr">
              <a:lnSpc>
                <a:spcPct val="125000"/>
              </a:lnSpc>
            </a:pPr>
            <a:r>
              <a:rPr sz="1080" b="1">
                <a:solidFill>
                  <a:srgbClr val="FFFFFF"/>
                </a:solidFill>
                <a:latin typeface="Arial"/>
                <a:ea typeface="Arial"/>
              </a:rPr>
              <a:t>②</a:t>
            </a:r>
          </a:p>
        </p:txBody>
      </p:sp>
      <p:sp>
        <p:nvSpPr>
          <p:cNvPr id="62" name="TextBox 61"/>
          <p:cNvSpPr txBox="1"/>
          <p:nvPr/>
        </p:nvSpPr>
        <p:spPr>
          <a:xfrm>
            <a:off x="11512296" y="5261229"/>
            <a:ext cx="1183928" cy="230886"/>
          </a:xfrm>
          <a:prstGeom prst="rect">
            <a:avLst/>
          </a:prstGeom>
          <a:noFill/>
        </p:spPr>
        <p:txBody>
          <a:bodyPr wrap="none" anchor="t" lIns="0" rIns="0" tIns="0" bIns="0">
            <a:spAutoFit/>
          </a:bodyPr>
          <a:lstStyle/>
          <a:p>
            <a:pPr algn="l">
              <a:lnSpc>
                <a:spcPct val="125000"/>
              </a:lnSpc>
            </a:pPr>
            <a:r>
              <a:rPr sz="1224" b="1">
                <a:solidFill>
                  <a:srgbClr val="1A1A1A"/>
                </a:solidFill>
                <a:latin typeface="Arial"/>
                <a:ea typeface="Arial"/>
              </a:rPr>
              <a:t>WAF 밴드 판정</a:t>
            </a:r>
          </a:p>
        </p:txBody>
      </p:sp>
      <p:sp>
        <p:nvSpPr>
          <p:cNvPr id="63" name="TextBox 62"/>
          <p:cNvSpPr txBox="1"/>
          <p:nvPr/>
        </p:nvSpPr>
        <p:spPr>
          <a:xfrm>
            <a:off x="11512296" y="5521833"/>
            <a:ext cx="1922256" cy="185166"/>
          </a:xfrm>
          <a:prstGeom prst="rect">
            <a:avLst/>
          </a:prstGeom>
          <a:noFill/>
        </p:spPr>
        <p:txBody>
          <a:bodyPr wrap="none" anchor="t" lIns="0" rIns="0" tIns="0" bIns="0">
            <a:spAutoFit/>
          </a:bodyPr>
          <a:lstStyle/>
          <a:p>
            <a:pPr algn="l">
              <a:lnSpc>
                <a:spcPct val="125000"/>
              </a:lnSpc>
            </a:pPr>
            <a:r>
              <a:rPr sz="936" b="0">
                <a:solidFill>
                  <a:srgbClr val="555555"/>
                </a:solidFill>
                <a:latin typeface="Arial"/>
                <a:ea typeface="Arial"/>
              </a:rPr>
              <a:t>≤1.2 / ≤2.0 / &gt;2.0 밴드 → 등급</a:t>
            </a:r>
          </a:p>
        </p:txBody>
      </p:sp>
      <p:cxnSp>
        <p:nvCxnSpPr>
          <p:cNvPr id="64" name="Connector 63"/>
          <p:cNvCxnSpPr/>
          <p:nvPr/>
        </p:nvCxnSpPr>
        <p:spPr>
          <a:xfrm>
            <a:off x="13898880" y="5870448"/>
            <a:ext cx="0" cy="128016"/>
          </a:xfrm>
          <a:prstGeom prst="line">
            <a:avLst/>
          </a:prstGeom>
          <a:ln w="31750">
            <a:solidFill>
              <a:srgbClr val="1428A0"/>
            </a:solidFill>
            <a:tailEnd type="triangle" w="med" len="med"/>
          </a:ln>
        </p:spPr>
        <p:style>
          <a:lnRef idx="2">
            <a:schemeClr val="accent1"/>
          </a:lnRef>
          <a:fillRef idx="0">
            <a:schemeClr val="accent1"/>
          </a:fillRef>
          <a:effectRef idx="1">
            <a:schemeClr val="accent1"/>
          </a:effectRef>
          <a:fontRef idx="minor">
            <a:schemeClr val="tx1"/>
          </a:fontRef>
        </p:style>
      </p:cxnSp>
      <p:sp>
        <p:nvSpPr>
          <p:cNvPr id="65" name="Rounded Rectangle 64"/>
          <p:cNvSpPr/>
          <p:nvPr/>
        </p:nvSpPr>
        <p:spPr>
          <a:xfrm>
            <a:off x="10963655" y="6035040"/>
            <a:ext cx="5870448" cy="713232"/>
          </a:xfrm>
          <a:prstGeom prst="roundRect">
            <a:avLst>
              <a:gd name="adj" fmla="val 5128"/>
            </a:avLst>
          </a:prstGeom>
          <a:solidFill>
            <a:srgbClr val="FFFFFF"/>
          </a:solidFill>
          <a:ln w="15240">
            <a:solidFill>
              <a:srgbClr val="AAB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11091672" y="6245352"/>
            <a:ext cx="292608" cy="292608"/>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1115446" y="6287643"/>
            <a:ext cx="245059" cy="208026"/>
          </a:xfrm>
          <a:prstGeom prst="rect">
            <a:avLst/>
          </a:prstGeom>
          <a:noFill/>
        </p:spPr>
        <p:txBody>
          <a:bodyPr wrap="none" anchor="t" lIns="0" rIns="0" tIns="0" bIns="0">
            <a:spAutoFit/>
          </a:bodyPr>
          <a:lstStyle/>
          <a:p>
            <a:pPr algn="ctr">
              <a:lnSpc>
                <a:spcPct val="125000"/>
              </a:lnSpc>
            </a:pPr>
            <a:r>
              <a:rPr sz="1080" b="1">
                <a:solidFill>
                  <a:srgbClr val="FFFFFF"/>
                </a:solidFill>
                <a:latin typeface="Arial"/>
                <a:ea typeface="Arial"/>
              </a:rPr>
              <a:t>⑤</a:t>
            </a:r>
          </a:p>
        </p:txBody>
      </p:sp>
      <p:sp>
        <p:nvSpPr>
          <p:cNvPr id="68" name="TextBox 67"/>
          <p:cNvSpPr txBox="1"/>
          <p:nvPr/>
        </p:nvSpPr>
        <p:spPr>
          <a:xfrm>
            <a:off x="11512296" y="6157341"/>
            <a:ext cx="2353756" cy="230886"/>
          </a:xfrm>
          <a:prstGeom prst="rect">
            <a:avLst/>
          </a:prstGeom>
          <a:noFill/>
        </p:spPr>
        <p:txBody>
          <a:bodyPr wrap="none" anchor="t" lIns="0" rIns="0" tIns="0" bIns="0">
            <a:spAutoFit/>
          </a:bodyPr>
          <a:lstStyle/>
          <a:p>
            <a:pPr algn="l">
              <a:lnSpc>
                <a:spcPct val="125000"/>
              </a:lnSpc>
            </a:pPr>
            <a:r>
              <a:rPr sz="1224" b="1">
                <a:solidFill>
                  <a:srgbClr val="1A1A1A"/>
                </a:solidFill>
                <a:latin typeface="Arial"/>
                <a:ea typeface="Arial"/>
              </a:rPr>
              <a:t>초과 지속 시 재협상 · 감량 운영</a:t>
            </a:r>
          </a:p>
        </p:txBody>
      </p:sp>
      <p:sp>
        <p:nvSpPr>
          <p:cNvPr id="69" name="TextBox 68"/>
          <p:cNvSpPr txBox="1"/>
          <p:nvPr/>
        </p:nvSpPr>
        <p:spPr>
          <a:xfrm>
            <a:off x="11512296" y="6417945"/>
            <a:ext cx="1565824" cy="185166"/>
          </a:xfrm>
          <a:prstGeom prst="rect">
            <a:avLst/>
          </a:prstGeom>
          <a:noFill/>
        </p:spPr>
        <p:txBody>
          <a:bodyPr wrap="none" anchor="t" lIns="0" rIns="0" tIns="0" bIns="0">
            <a:spAutoFit/>
          </a:bodyPr>
          <a:lstStyle/>
          <a:p>
            <a:pPr algn="l">
              <a:lnSpc>
                <a:spcPct val="125000"/>
              </a:lnSpc>
            </a:pPr>
            <a:r>
              <a:rPr sz="936" b="0">
                <a:solidFill>
                  <a:srgbClr val="555555"/>
                </a:solidFill>
                <a:latin typeface="Arial"/>
                <a:ea typeface="Arial"/>
              </a:rPr>
              <a:t>2장 FIP 유사 · 조건 재설정</a:t>
            </a:r>
          </a:p>
        </p:txBody>
      </p:sp>
      <p:sp>
        <p:nvSpPr>
          <p:cNvPr id="70" name="Rounded Rectangle 69"/>
          <p:cNvSpPr/>
          <p:nvPr/>
        </p:nvSpPr>
        <p:spPr>
          <a:xfrm>
            <a:off x="10963655" y="6876288"/>
            <a:ext cx="5870448" cy="493776"/>
          </a:xfrm>
          <a:prstGeom prst="roundRect">
            <a:avLst>
              <a:gd name="adj" fmla="val 7407"/>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1115446" y="7019163"/>
            <a:ext cx="245059" cy="208026"/>
          </a:xfrm>
          <a:prstGeom prst="rect">
            <a:avLst/>
          </a:prstGeom>
          <a:noFill/>
        </p:spPr>
        <p:txBody>
          <a:bodyPr wrap="none" anchor="t" lIns="0" rIns="0" tIns="0" bIns="0">
            <a:spAutoFit/>
          </a:bodyPr>
          <a:lstStyle/>
          <a:p>
            <a:pPr algn="ctr">
              <a:lnSpc>
                <a:spcPct val="125000"/>
              </a:lnSpc>
            </a:pPr>
            <a:r>
              <a:rPr sz="1080" b="1">
                <a:solidFill>
                  <a:srgbClr val="FFFFFF"/>
                </a:solidFill>
                <a:latin typeface="Arial"/>
                <a:ea typeface="Arial"/>
              </a:rPr>
              <a:t>①</a:t>
            </a:r>
          </a:p>
        </p:txBody>
      </p:sp>
      <p:sp>
        <p:nvSpPr>
          <p:cNvPr id="72" name="TextBox 71"/>
          <p:cNvSpPr txBox="1"/>
          <p:nvPr/>
        </p:nvSpPr>
        <p:spPr>
          <a:xfrm>
            <a:off x="11512296" y="7024878"/>
            <a:ext cx="4894981" cy="196596"/>
          </a:xfrm>
          <a:prstGeom prst="rect">
            <a:avLst/>
          </a:prstGeom>
          <a:noFill/>
        </p:spPr>
        <p:txBody>
          <a:bodyPr wrap="none" anchor="t" lIns="0" rIns="0" tIns="0" bIns="0">
            <a:spAutoFit/>
          </a:bodyPr>
          <a:lstStyle/>
          <a:p>
            <a:pPr algn="l">
              <a:lnSpc>
                <a:spcPct val="125000"/>
              </a:lnSpc>
            </a:pPr>
            <a:r>
              <a:rPr sz="1008" b="1">
                <a:solidFill>
                  <a:srgbClr val="FFFFFF"/>
                </a:solidFill>
                <a:latin typeface="Arial"/>
                <a:ea typeface="Arial"/>
              </a:rPr>
              <a:t>보증 기준은 TBW · 물리 매체 기록량 선도달 관행 유지 · 유효 DWPD는 부가 표기</a:t>
            </a:r>
          </a:p>
        </p:txBody>
      </p:sp>
      <p:sp>
        <p:nvSpPr>
          <p:cNvPr id="73" name="Rectangle 72"/>
          <p:cNvSpPr/>
          <p:nvPr/>
        </p:nvSpPr>
        <p:spPr>
          <a:xfrm>
            <a:off x="722376" y="8467344"/>
            <a:ext cx="16843248" cy="82296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133856" y="8467344"/>
            <a:ext cx="1463040" cy="822960"/>
          </a:xfrm>
          <a:prstGeom prst="rect">
            <a:avLst/>
          </a:prstGeom>
          <a:noFill/>
        </p:spPr>
        <p:txBody>
          <a:bodyPr wrap="square" anchor="ctr" lIns="0" rIns="0" tIns="0" bIns="0">
            <a:spAutoFit/>
          </a:bodyPr>
          <a:lstStyle/>
          <a:p>
            <a:pPr algn="l">
              <a:lnSpc>
                <a:spcPct val="112000"/>
              </a:lnSpc>
            </a:pPr>
            <a:r>
              <a:rPr sz="1800" b="0">
                <a:solidFill>
                  <a:srgbClr val="FFFFFF"/>
                </a:solidFill>
                <a:latin typeface="Arial"/>
                <a:ea typeface="Arial"/>
              </a:rPr>
              <a:t>결론</a:t>
            </a:r>
          </a:p>
        </p:txBody>
      </p:sp>
      <p:sp>
        <p:nvSpPr>
          <p:cNvPr id="75" name="TextBox 74"/>
          <p:cNvSpPr txBox="1"/>
          <p:nvPr/>
        </p:nvSpPr>
        <p:spPr>
          <a:xfrm>
            <a:off x="2551176" y="8467344"/>
            <a:ext cx="14648688" cy="822960"/>
          </a:xfrm>
          <a:prstGeom prst="rect">
            <a:avLst/>
          </a:prstGeom>
          <a:noFill/>
        </p:spPr>
        <p:txBody>
          <a:bodyPr wrap="square" anchor="ctr" lIns="0" rIns="0" tIns="0" bIns="0">
            <a:spAutoFit/>
          </a:bodyPr>
          <a:lstStyle/>
          <a:p>
            <a:pPr algn="l">
              <a:lnSpc>
                <a:spcPct val="108000"/>
              </a:lnSpc>
            </a:pPr>
            <a:r>
              <a:rPr sz="1600" b="1">
                <a:solidFill>
                  <a:srgbClr val="FFFFFF"/>
                </a:solidFill>
                <a:latin typeface="Arial"/>
                <a:ea typeface="Arial"/>
              </a:rPr>
              <a:t>보증 기준은 TBW 선도달 관행을 유지하고, 유효 DWPD는 WAF 밴드별 조건부 등급으로만 표기합니다</a:t>
            </a:r>
          </a:p>
        </p:txBody>
      </p:sp>
      <p:sp>
        <p:nvSpPr>
          <p:cNvPr id="76" name="TextBox 75"/>
          <p:cNvSpPr txBox="1"/>
          <p:nvPr/>
        </p:nvSpPr>
        <p:spPr>
          <a:xfrm>
            <a:off x="722376" y="9592056"/>
            <a:ext cx="14264640" cy="310896"/>
          </a:xfrm>
          <a:prstGeom prst="rect">
            <a:avLst/>
          </a:prstGeom>
          <a:noFill/>
        </p:spPr>
        <p:txBody>
          <a:bodyPr wrap="square" anchor="t" lIns="0" rIns="0" tIns="0" bIns="0">
            <a:spAutoFit/>
          </a:bodyPr>
          <a:lstStyle/>
          <a:p>
            <a:pPr algn="l">
              <a:lnSpc>
                <a:spcPct val="112000"/>
              </a:lnSpc>
            </a:pPr>
            <a:r>
              <a:rPr sz="1600" b="0">
                <a:solidFill>
                  <a:srgbClr val="555555"/>
                </a:solidFill>
                <a:latin typeface="Arial"/>
                <a:ea typeface="Arial"/>
              </a:rPr>
              <a:t>출처: 보고서 v2.0 부록 A · 덱 v5.2와 동일 수치</a:t>
            </a:r>
          </a:p>
        </p:txBody>
      </p:sp>
      <p:sp>
        <p:nvSpPr>
          <p:cNvPr id="77" name="TextBox 76"/>
          <p:cNvSpPr txBox="1"/>
          <p:nvPr/>
        </p:nvSpPr>
        <p:spPr>
          <a:xfrm>
            <a:off x="16047720" y="9592056"/>
            <a:ext cx="1517904" cy="310896"/>
          </a:xfrm>
          <a:prstGeom prst="rect">
            <a:avLst/>
          </a:prstGeom>
          <a:noFill/>
        </p:spPr>
        <p:txBody>
          <a:bodyPr wrap="square" anchor="t" lIns="0" rIns="0" tIns="0" bIns="0">
            <a:spAutoFit/>
          </a:bodyPr>
          <a:lstStyle/>
          <a:p>
            <a:pPr algn="r">
              <a:lnSpc>
                <a:spcPct val="112000"/>
              </a:lnSpc>
            </a:pPr>
            <a:r>
              <a:rPr sz="1800" b="0">
                <a:solidFill>
                  <a:srgbClr val="555555"/>
                </a:solidFill>
                <a:latin typeface="Arial"/>
                <a:ea typeface="Arial"/>
              </a:rPr>
              <a:t>07 / 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