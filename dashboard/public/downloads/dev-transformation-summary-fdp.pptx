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수주산업화 — Binding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take-or-pay·선수금 수백억$ — “메모리가 처음으로 바인딩” (이창수 인터뷰)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9768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지배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하이퍼스케일러가 글로벌 enterprise SSD의 ~55% 소비 — 소수 고객이 규칙을 정한다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138160" y="877824"/>
            <a:ext cx="3602736" cy="91440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통제권 상승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완제품 → 펌웨어 → 컨트롤러 → 표준·웨이퍼로 스토리지를 내재화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9568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Captive SSD 위상 변화 — 고객 통제권의 단계 상승 (불가역)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1225296" cy="621792"/>
          </a:xfrm>
          <a:prstGeom prst="roundRect">
            <a:avLst>
              <a:gd name="adj" fmla="val 7353"/>
            </a:avLst>
          </a:prstGeom>
          <a:solidFill>
            <a:srgbClr val="C7D3D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439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41148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구매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~2016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121408" y="3785616"/>
            <a:ext cx="1225296" cy="1243584"/>
          </a:xfrm>
          <a:prstGeom prst="roundRect">
            <a:avLst>
              <a:gd name="adj" fmla="val 3731"/>
            </a:avLst>
          </a:prstGeom>
          <a:solidFill>
            <a:srgbClr val="9DBACB"/>
          </a:solidFill>
          <a:ln/>
        </p:spPr>
      </p:sp>
      <p:sp>
        <p:nvSpPr>
          <p:cNvPr id="15" name="Text 13"/>
          <p:cNvSpPr/>
          <p:nvPr/>
        </p:nvSpPr>
        <p:spPr>
          <a:xfrm>
            <a:off x="2121408" y="382219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93392" y="34930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펌웨어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2017~20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02736" y="3163824"/>
            <a:ext cx="1225296" cy="1865376"/>
          </a:xfrm>
          <a:prstGeom prst="roundRect">
            <a:avLst>
              <a:gd name="adj" fmla="val 3731"/>
            </a:avLst>
          </a:prstGeom>
          <a:solidFill>
            <a:srgbClr val="4C7C94"/>
          </a:solidFill>
          <a:ln/>
        </p:spPr>
      </p:sp>
      <p:sp>
        <p:nvSpPr>
          <p:cNvPr id="19" name="Text 17"/>
          <p:cNvSpPr/>
          <p:nvPr/>
        </p:nvSpPr>
        <p:spPr>
          <a:xfrm>
            <a:off x="3602736" y="32004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8712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컨트롤러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02736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2021~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84064" y="2542032"/>
            <a:ext cx="1225296" cy="2487168"/>
          </a:xfrm>
          <a:prstGeom prst="roundRect">
            <a:avLst>
              <a:gd name="adj" fmla="val 3731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257860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2494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표준·웨이퍼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84064" y="5084064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2022~26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6126480" cy="0"/>
          </a:xfrm>
          <a:prstGeom prst="line">
            <a:avLst/>
          </a:prstGeom>
          <a:noFill/>
          <a:ln w="19050">
            <a:solidFill>
              <a:srgbClr val="C4CF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2441448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24928" y="239572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벤더 표준품 조달 — 통제권 없음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3118104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24928" y="307238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OCP 스토리지 스펙 · 고객별 펌웨어 브랜치 관행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794760"/>
            <a:ext cx="274320" cy="274320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4928" y="374904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Nitro SSD(’21) — 자체 컨트롤러 자작 SSD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447141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24928" y="44256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비준(’23) — Meta·Google 주도·삼성 공동 · NAND 웨이퍼 다년 계약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~55%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하이퍼스케일러의 enterprise SSD 수요 비중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9768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+246%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429768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웨이퍼 가격 (vs Q1’25) — 웨이퍼 직구매 경쟁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138160" y="5541264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138160" y="5925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비준 소요 — 고객(Meta·Google) 주도 속도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교차점에서 검토한 선택지 4개 — 평가 기준: 부가가치 방어 · 펌웨어 공통화 · 통제권 흐름 정합 · 차별화 지속성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컴포넌트 후퇴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13232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NAND·웨이퍼 공급에 집중, 완제품은 고객에 위임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물량은 지키나 완제품 부가가치 영구 상실 — 커머디티 공급자 고착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90488" y="1243584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1444752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3720" y="1444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풀커스텀 대응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46520" y="193852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고객별 커스텀 SSD·펌웨어 전면 개발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2286000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제품·펌웨어 파편화 — “커스텀 소싱·컨트랙은 파운드리 모델, 우리가 안 해본 것” (최장석)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F5F7F8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3529584"/>
            <a:ext cx="365760" cy="365760"/>
          </a:xfrm>
          <a:prstGeom prst="ellipse">
            <a:avLst/>
          </a:prstGeom>
          <a:solidFill>
            <a:srgbClr val="B9C7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FDP 표준 SSD만 공급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3232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지원 하드웨어만 제공, 통합은 고객 몫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8A9B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탈락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“FDP 지원 여러 공급사 중 하나” — 차별화 없이 가격 경쟁 회귀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90488" y="3328416"/>
            <a:ext cx="5541264" cy="1938528"/>
          </a:xfrm>
          <a:prstGeom prst="roundRect">
            <a:avLst>
              <a:gd name="adj" fmla="val 4245"/>
            </a:avLst>
          </a:prstGeom>
          <a:solidFill>
            <a:srgbClr val="E8F6F0"/>
          </a:solidFill>
          <a:ln w="19050">
            <a:solidFill>
              <a:srgbClr val="02A8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3529584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3720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D. FDP 표준 + 시스템 SW 플랫폼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446520" y="402336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펌웨어 + Host SDK·Profiler·E2E 검증 제공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370832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유일하게 4개 기준 동시 충족 — 통제권 흐름 위에서 부가가치 재정의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413248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586984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52144" y="54132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논리 — 부가가치는 고객이 가져간 계층 아래(웨이퍼)가 아니라, 아직 풀지 못한 계층 위에서 만든다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↔ FDP 정책 변환이 그 계층 — 삼성은 FDP 표준의 공동 주도자로서 이 계층을 선점할 위치에 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③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59536"/>
            <a:ext cx="11274552" cy="548640"/>
          </a:xfrm>
          <a:prstGeom prst="roundRect">
            <a:avLst>
              <a:gd name="adj" fmla="val 15000"/>
            </a:avLst>
          </a:prstGeom>
          <a:solidFill>
            <a:srgbClr val="F5F7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SSD 공급자 → FDP 기반 Host–SSD 통합 솔루션 제공자   </a:t>
            </a:r>
            <a:pPr algn="ctr" indent="0" marL="0">
              <a:buNone/>
            </a:pPr>
            <a:r>
              <a:rPr lang="en-US" sz="125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“Binding으로 수요 확보 · FDP로 표준화 · 시스템 SW로 연결”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Binding 계약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물량 확보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39696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40864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 표준 SSD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인터페이스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24528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2A8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SW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워크로드→정책 변환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07024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08192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검증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TCO 개선 보장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90688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91856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공동개발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관계 구축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74352" y="1554480"/>
            <a:ext cx="2011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75520" y="1554480"/>
            <a:ext cx="1682496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텔레메트리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개선 루프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578608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2666390"/>
            <a:ext cx="190195" cy="19019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7899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Enablement Platform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008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SDK·라이브러리(Linux·SPDK) · Workload Profiler · Emulator/Digital Twin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29768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4" name="Shape 21"/>
          <p:cNvSpPr/>
          <p:nvPr/>
        </p:nvSpPr>
        <p:spPr>
          <a:xfrm>
            <a:off x="4462272" y="257860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54" y="2666390"/>
            <a:ext cx="190195" cy="19019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91947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표준 프로파일 7종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48056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Cache·KV·DB·Multi-tenant·Vector·Checkpoint·QLC — 펌웨어 공통화+고객 최적화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8138160" y="2432304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29" name="Shape 25"/>
          <p:cNvSpPr/>
          <p:nvPr/>
        </p:nvSpPr>
        <p:spPr>
          <a:xfrm>
            <a:off x="8302752" y="2578608"/>
            <a:ext cx="365760" cy="365760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4" y="2666390"/>
            <a:ext cx="190195" cy="19019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59952" y="257860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E2E 공동검증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321040" y="2999232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App→Host→SSD→NAND · WAF·p999·격리·전력 · trace의 pre/post-silicon 재사용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4" name="Shape 29"/>
          <p:cNvSpPr/>
          <p:nvPr/>
        </p:nvSpPr>
        <p:spPr>
          <a:xfrm>
            <a:off x="621792" y="4096512"/>
            <a:ext cx="365760" cy="365760"/>
          </a:xfrm>
          <a:prstGeom prst="ellipse">
            <a:avLst/>
          </a:prstGeom>
          <a:solidFill>
            <a:srgbClr val="4C7C94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4184294"/>
            <a:ext cx="190195" cy="190195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7899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고객 공동개발 조직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64008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SW·Workload Integration·Solution Eng·Validation — 제품 기획 참여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29768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39" name="Shape 33"/>
          <p:cNvSpPr/>
          <p:nvPr/>
        </p:nvSpPr>
        <p:spPr>
          <a:xfrm>
            <a:off x="4462272" y="4096512"/>
            <a:ext cx="365760" cy="365760"/>
          </a:xfrm>
          <a:prstGeom prst="ellipse">
            <a:avLst/>
          </a:prstGeom>
          <a:solidFill>
            <a:srgbClr val="0E6BA8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054" y="4184294"/>
            <a:ext cx="190195" cy="190195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91947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Binding 기술협력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448056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물량·trace·공동 로드맵 ↔ 공급능력·SDK·개선 목표 — 공동 플랫폼 계약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138160" y="3950208"/>
            <a:ext cx="3602736" cy="1389888"/>
          </a:xfrm>
          <a:prstGeom prst="roundRect">
            <a:avLst>
              <a:gd name="adj" fmla="val 5921"/>
            </a:avLst>
          </a:prstGeom>
          <a:solidFill>
            <a:srgbClr val="F5F7F8"/>
          </a:solidFill>
          <a:ln/>
        </p:spPr>
      </p:sp>
      <p:sp>
        <p:nvSpPr>
          <p:cNvPr id="44" name="Shape 37"/>
          <p:cNvSpPr/>
          <p:nvPr/>
        </p:nvSpPr>
        <p:spPr>
          <a:xfrm>
            <a:off x="8302752" y="409651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534" y="4184294"/>
            <a:ext cx="190195" cy="19019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759952" y="409651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오픈소스·차별화 경계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8321040" y="4517136"/>
            <a:ext cx="32552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공개: 라이브러리·연동·적합성 / 차별화: FTL 모델·정책 추천·예측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457200" y="5522976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E8F6F0"/>
          </a:solidFill>
          <a:ln w="15875">
            <a:solidFill>
              <a:srgbClr val="02A878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5669280"/>
            <a:ext cx="365760" cy="36576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152144" y="55229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 — 고객 시스템에서 FDP가 실제 활성화된 SSD 용량 · Captive→삼성 완제품 전환 물량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주체: 인재 축(FDE 스타)이 이 플랫폼을 들고 고객 아키텍처 안으로 들어간다 — 단계: 기본 도구 → 전략 고객 공동검증 → 상용 플랫폼화 → Host Control 확장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축: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SCA로 다가가고 · FDP로 제공하고 · FDE로 협업한다: 워크로드가 들어올수록 전환비용이 커지는 락인 플라이휠, 다운턴 피해 최소화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플라이휠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0016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SCA: Micron이 증명한 접근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9016" y="1188720"/>
            <a:ext cx="310896" cy="310896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31352" y="1170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FDP·FDE: 기술과 사람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9016" y="1627632"/>
            <a:ext cx="3602736" cy="4626864"/>
          </a:xfrm>
          <a:prstGeom prst="roundRect">
            <a:avLst>
              <a:gd name="adj" fmla="val 203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828800"/>
            <a:ext cx="877824" cy="877824"/>
          </a:xfrm>
          <a:prstGeom prst="ellipse">
            <a:avLst/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다가간다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9536" y="3456432"/>
            <a:ext cx="877824" cy="877824"/>
          </a:xfrm>
          <a:prstGeom prst="ellipse">
            <a:avLst/>
          </a:prstGeom>
          <a:solidFill>
            <a:srgbClr val="3C5AC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798064" y="3456432"/>
            <a:ext cx="877824" cy="877824"/>
          </a:xfrm>
          <a:prstGeom prst="ellipse">
            <a:avLst/>
          </a:prstGeom>
          <a:solidFill>
            <a:srgbClr val="8FA0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endParaRPr lang="en-US" sz="14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협업한다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 flipH="1">
            <a:off x="1371600" y="2706624"/>
            <a:ext cx="329184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73936" y="4059936"/>
            <a:ext cx="987552" cy="914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2834640" y="2706624"/>
            <a:ext cx="384048" cy="713232"/>
          </a:xfrm>
          <a:prstGeom prst="line">
            <a:avLst/>
          </a:prstGeom>
          <a:noFill/>
          <a:ln w="22225">
            <a:solidFill>
              <a:srgbClr val="B9C2DC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536192" y="2999232"/>
            <a:ext cx="1463040" cy="566928"/>
          </a:xfrm>
          <a:prstGeom prst="roundRect">
            <a:avLst>
              <a:gd name="adj" fmla="val 9677"/>
            </a:avLst>
          </a:prstGeom>
          <a:solidFill>
            <a:srgbClr val="EEF1FA"/>
          </a:solidFill>
          <a:ln w="12700">
            <a:solidFill>
              <a:srgbClr val="1428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락인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방어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5720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워크로드가 들어올수록 최적화가 깊어지고 전환비용이 커진다. 계약이 끝나도 갈아타기 어려운 관계가 다운턴의 방어벽이 된다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" y="5431536"/>
            <a:ext cx="320040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5229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Strategic Customer Agreement · 전략적 고객 계약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Flexible Data Placement · NVMe 데이터 배치 표준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Forward Deployed Engineer · 고객 상주 엔지니어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98848" y="179222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공급부족 협상력의 창이 열려 있을 때 워크로드 교환을 제안한다: 고객이 워크로드를 공유하면 그 워크로드에 최적화한 FDP SSD를 공급. 성능·수명 개선과 TCO 절감으로 거절하기 어려운 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하이퍼스케일러 · Pure Storage · VAST Data · DDN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3291840"/>
            <a:ext cx="3236976" cy="2798064"/>
          </a:xfrm>
          <a:prstGeom prst="roundRect">
            <a:avLst>
              <a:gd name="adj" fmla="val 2288"/>
            </a:avLst>
          </a:prstGeom>
          <a:solidFill>
            <a:srgbClr val="EEF1FA"/>
          </a:solidFill>
          <a:ln w="15875">
            <a:solidFill>
              <a:srgbClr val="142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선례: Micron ↔ Anthropic (’26.06)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00016" y="3730752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다년 공급 (HBM·DRAM·SSD 전 포트폴리오)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워크로드 공동 최적화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통합 (Micron 전사에 Claude 배치)</a:t>
            </a:r>
            <a:endParaRPr lang="en-US" sz="100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 연계 (Series H 전략 투자)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45152" y="502920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전략적 고객 계약 16건 · 최소 매출 $100B · 예치금 $22B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45152" y="554126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워크로드를 열고 공급을 잠근 계약. 우리가 맺으려는 관계의 실물 견본이다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30184" y="17739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추가로 필요한 기술 (기존 SSD 기술 대비)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2066544"/>
            <a:ext cx="3200400" cy="329184"/>
          </a:xfrm>
          <a:prstGeom prst="roundRect">
            <a:avLst>
              <a:gd name="adj" fmla="val 13889"/>
            </a:avLst>
          </a:prstGeom>
          <a:solidFill>
            <a:srgbClr val="F4F4F6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 </a:t>
            </a:r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NAND · 컨트롤러 · 펌웨어 · 수율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30184" y="2450592"/>
            <a:ext cx="3200400" cy="749808"/>
          </a:xfrm>
          <a:prstGeom prst="roundRect">
            <a:avLst>
              <a:gd name="adj" fmla="val 6098"/>
            </a:avLst>
          </a:prstGeom>
          <a:solidFill>
            <a:srgbClr val="EEF1FA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블록계층·io_uring·NVMe / SPDK / DB·캐시 내부 (RocksDB·CacheLib·Ceph) / 워크로드 분석 (fio·eBPF·WAF)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30184" y="3310128"/>
            <a:ext cx="3200400" cy="694944"/>
          </a:xfrm>
          <a:prstGeom prst="roundRect">
            <a:avLst>
              <a:gd name="adj" fmla="val 6579"/>
            </a:avLst>
          </a:prstGeom>
          <a:solidFill>
            <a:srgbClr val="EEF1FA"/>
          </a:solidFill>
          <a:ln w="12700">
            <a:solidFill>
              <a:srgbClr val="1428A0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428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 선례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Palantir가 창안한 직군 (코드명 Delta, 640% 주가 동력으로 회자) · Anthropic·OpenAI도 엔터프라이즈 GTM으로 채택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330184" y="4133088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06840" y="411480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실리콘밸리 현지, 오픈소스 스토리지 기여자 우대, 영어 필수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30184" y="4846320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006840" y="482803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본사 엔지니어 미국 로테이션 6~12개월 + 현지 FDE 멘토 페어링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30184" y="5559552"/>
            <a:ext cx="566928" cy="292608"/>
          </a:xfrm>
          <a:prstGeom prst="roundRect">
            <a:avLst>
              <a:gd name="adj" fmla="val 15625"/>
            </a:avLst>
          </a:prstGeom>
          <a:solidFill>
            <a:srgbClr val="1428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06840" y="5541264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1~2사 상주 (Pod 소속), outcome 평가 (활성화 용량), 업스트림 기여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2026-09-02T11:57:34Z</dcterms:created>
  <dcterms:modified xsi:type="dcterms:W3CDTF">2026-09-02T11:57:34Z</dcterms:modified>
</cp:coreProperties>
</file>