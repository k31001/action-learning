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수주산업화 — Binding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take-or-pay·선수금 수백억$ — “메모리가 처음으로 바인딩” (이창수 인터뷰)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지배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하이퍼스케일러가 글로벌 enterprise SSD의 ~55% 소비 — 소수 고객이 규칙을 정한다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38160" y="877824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통제권 상승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완제품 → 펌웨어 → 컨트롤러 → 표준·웨이퍼로 스토리지를 내재화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1956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Captive SSD 위상 변화 — 고객 통제권의 단계 상승 (불가역)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407408"/>
            <a:ext cx="1225296" cy="621792"/>
          </a:xfrm>
          <a:prstGeom prst="roundRect">
            <a:avLst>
              <a:gd name="adj" fmla="val 7353"/>
            </a:avLst>
          </a:prstGeom>
          <a:solidFill>
            <a:srgbClr val="C7D3D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443984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" y="411480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완제품 구매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~2016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21408" y="3785616"/>
            <a:ext cx="1225296" cy="1243584"/>
          </a:xfrm>
          <a:prstGeom prst="roundRect">
            <a:avLst>
              <a:gd name="adj" fmla="val 3731"/>
            </a:avLst>
          </a:prstGeom>
          <a:solidFill>
            <a:srgbClr val="9DBACB"/>
          </a:solidFill>
          <a:ln/>
        </p:spPr>
      </p:sp>
      <p:sp>
        <p:nvSpPr>
          <p:cNvPr id="15" name="Text 13"/>
          <p:cNvSpPr/>
          <p:nvPr/>
        </p:nvSpPr>
        <p:spPr>
          <a:xfrm>
            <a:off x="2121408" y="382219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93392" y="349300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펌웨어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21408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2017~20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02736" y="3163824"/>
            <a:ext cx="1225296" cy="1865376"/>
          </a:xfrm>
          <a:prstGeom prst="roundRect">
            <a:avLst>
              <a:gd name="adj" fmla="val 3731"/>
            </a:avLst>
          </a:prstGeom>
          <a:solidFill>
            <a:srgbClr val="4C7C94"/>
          </a:solidFill>
          <a:ln/>
        </p:spPr>
      </p:sp>
      <p:sp>
        <p:nvSpPr>
          <p:cNvPr id="19" name="Text 17"/>
          <p:cNvSpPr/>
          <p:nvPr/>
        </p:nvSpPr>
        <p:spPr>
          <a:xfrm>
            <a:off x="3602736" y="320040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28712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컨트롤러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02736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2021~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84064" y="2542032"/>
            <a:ext cx="1225296" cy="2487168"/>
          </a:xfrm>
          <a:prstGeom prst="roundRect">
            <a:avLst>
              <a:gd name="adj" fmla="val 3731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5084064" y="257860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56048" y="2249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표준·웨이퍼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84064" y="5084064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2022~26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61264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2441448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24928" y="239572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벤더 표준품 조달 — 통제권 없음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3118104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24928" y="307238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OCP 스토리지 스펙 · 고객별 펌웨어 브랜치 관행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0" y="3794760"/>
            <a:ext cx="274320" cy="274320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24928" y="37490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Nitro SSD(’21) — 자체 컨트롤러 자작 SSD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4471416"/>
            <a:ext cx="274320" cy="27432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24928" y="442569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비준(’23) — Meta·Google 주도·삼성 공동 · NAND 웨이퍼 다년 계약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~55%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5720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하이퍼스케일러의 enterprise SSD 수요 비중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29768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+246%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29768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웨이퍼 가격 (vs Q1’25) — 웨이퍼 직구매 경쟁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138160" y="5541264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8138160" y="5925312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비준 소요 — 고객(Meta·Google) 주도 속도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교차점에서 검토한 선택지 4개 — 평가 기준: 부가가치 방어 · 펌웨어 공통화 · 통제권 흐름 정합 · 차별화 지속성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컴포넌트 후퇴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NAND·웨이퍼 공급에 집중, 완제품은 고객에 위임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물량은 지키나 완제품 부가가치 영구 상실 — 커머디티 공급자 고착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243584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444752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903720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풀커스텀 대응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46520" y="19385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고객별 커스텀 SSD·펌웨어 전면 개발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제품·펌웨어 파편화 — “커스텀 소싱·컨트랙은 파운드리 모델, 우리가 안 해본 것” (최장석)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F5F7F8"/>
          </a:solidFill>
          <a:ln w="12700">
            <a:solidFill>
              <a:srgbClr val="DCE4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529584"/>
            <a:ext cx="365760" cy="365760"/>
          </a:xfrm>
          <a:prstGeom prst="ellipse">
            <a:avLst/>
          </a:prstGeom>
          <a:solidFill>
            <a:srgbClr val="B9C7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70432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FDP 표준 SSD만 공급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713232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지원 하드웨어만 제공, 통합은 고객 몫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A9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“FDP 지원 여러 공급사 중 하나” — 차별화 없이 가격 경쟁 회귀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328416"/>
            <a:ext cx="5541264" cy="1938528"/>
          </a:xfrm>
          <a:prstGeom prst="roundRect">
            <a:avLst>
              <a:gd name="adj" fmla="val 4245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3529584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03720" y="35295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FDP 표준 + 시스템 SW 플랫폼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446520" y="40233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펌웨어 + Host SDK·Profiler·E2E 검증 제공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4370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유일하게 4개 기준 동시 충족 — 통제권 흐름 위에서 부가가치 재정의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11274552" cy="713232"/>
          </a:xfrm>
          <a:prstGeom prst="roundRect">
            <a:avLst>
              <a:gd name="adj" fmla="val 1025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586984"/>
            <a:ext cx="365760" cy="36576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152144" y="54132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논리 — 부가가치는 고객이 가져간 계층 아래(웨이퍼)가 아니라, 아직 풀지 못한 계층 위에서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↔ FDP 정책 변환이 그 계층 — 삼성은 FDP 표준의 공동 주도자로서 이 계층을 선점할 위치에 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③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SSD 공급자 → FDP 기반 Host–SSD 통합 솔루션 제공자   </a:t>
            </a:r>
            <a:pPr algn="ctr" indent="0" marL="0">
              <a:buNone/>
            </a:pPr>
            <a:r>
              <a:rPr lang="en-US" sz="125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“Binding으로 수요 확보 · FDP로 표준화 · 시스템 SW로 연결”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Binding 계약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물량 확보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39696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40864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 표준 SSD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23360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24528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SW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워크로드→정책 변환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07024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08192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E2E 검증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 개선 보장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90688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91856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공동개발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관계 구축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74352" y="1554480"/>
            <a:ext cx="2011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75520" y="1554480"/>
            <a:ext cx="1682496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텔레메트리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 개선 루프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2578608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2666390"/>
            <a:ext cx="190195" cy="19019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07899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Enablement Platform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SDK·라이브러리(Linux·SPDK) · Workload Profiler · Emulator/Digital Twin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29768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4" name="Shape 21"/>
          <p:cNvSpPr/>
          <p:nvPr/>
        </p:nvSpPr>
        <p:spPr>
          <a:xfrm>
            <a:off x="4462272" y="257860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054" y="2666390"/>
            <a:ext cx="190195" cy="190195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91947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표준 프로파일 7종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48056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Cache·KV·DB·Multi-tenant·Vector·Checkpoint·QLC — 펌웨어 공통화+고객 최적화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8138160" y="2432304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29" name="Shape 25"/>
          <p:cNvSpPr/>
          <p:nvPr/>
        </p:nvSpPr>
        <p:spPr>
          <a:xfrm>
            <a:off x="8302752" y="2578608"/>
            <a:ext cx="365760" cy="36576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666390"/>
            <a:ext cx="190195" cy="19019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59952" y="25786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E2E 공동검증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8321040" y="2999232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App→Host→SSD→NAND · WAF·p999·격리·전력 · trace의 pre/post-silicon 재사용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5720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4" name="Shape 29"/>
          <p:cNvSpPr/>
          <p:nvPr/>
        </p:nvSpPr>
        <p:spPr>
          <a:xfrm>
            <a:off x="621792" y="4096512"/>
            <a:ext cx="365760" cy="365760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4184294"/>
            <a:ext cx="190195" cy="190195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7899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고객 공동개발 조직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64008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 SW·Workload Integration·Solution Eng·Validation — 제품 기획 참여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429768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39" name="Shape 33"/>
          <p:cNvSpPr/>
          <p:nvPr/>
        </p:nvSpPr>
        <p:spPr>
          <a:xfrm>
            <a:off x="4462272" y="4096512"/>
            <a:ext cx="365760" cy="365760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054" y="4184294"/>
            <a:ext cx="190195" cy="190195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491947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Binding 기술협력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448056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물량·trace·공동 로드맵 ↔ 공급능력·SDK·개선 목표 — 공동 플랫폼 계약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8138160" y="3950208"/>
            <a:ext cx="3602736" cy="1389888"/>
          </a:xfrm>
          <a:prstGeom prst="roundRect">
            <a:avLst>
              <a:gd name="adj" fmla="val 5921"/>
            </a:avLst>
          </a:prstGeom>
          <a:solidFill>
            <a:srgbClr val="F5F7F8"/>
          </a:solidFill>
          <a:ln/>
        </p:spPr>
      </p:sp>
      <p:sp>
        <p:nvSpPr>
          <p:cNvPr id="44" name="Shape 37"/>
          <p:cNvSpPr/>
          <p:nvPr/>
        </p:nvSpPr>
        <p:spPr>
          <a:xfrm>
            <a:off x="8302752" y="409651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0534" y="4184294"/>
            <a:ext cx="190195" cy="190195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8759952" y="40965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오픈소스·차별화 경계</a:t>
            </a:r>
            <a:endParaRPr lang="en-US" sz="1300" dirty="0"/>
          </a:p>
        </p:txBody>
      </p:sp>
      <p:sp>
        <p:nvSpPr>
          <p:cNvPr id="47" name="Text 39"/>
          <p:cNvSpPr/>
          <p:nvPr/>
        </p:nvSpPr>
        <p:spPr>
          <a:xfrm>
            <a:off x="8321040" y="4517136"/>
            <a:ext cx="32552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공개: 라이브러리·연동·적합성 / 차별화: FTL 모델·정책 추천·예측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457200" y="5522976"/>
            <a:ext cx="11274552" cy="658368"/>
          </a:xfrm>
          <a:prstGeom prst="roundRect">
            <a:avLst>
              <a:gd name="adj" fmla="val 111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669280"/>
            <a:ext cx="365760" cy="365760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1152144" y="552297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KPI — 고객 시스템에서 FDP가 실제 활성화된 SSD 용량 · Captive→삼성 완제품 전환 물량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주체: 인재 축(FDE 스타)이 이 플랫폼을 들고 고객 아키텍처 안으로 들어간다 — 단계: 기본 도구 → 전략 고객 공동검증 → 상용 플랫폼화 → Host Control 확장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 —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④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SCA로 다가가고 · FDP로 제공하고 · FDE로 협업한다: 워크로드가 들어올수록 전환비용이 커지는 락인 플라이휠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55648" y="1298448"/>
            <a:ext cx="1024128" cy="1024128"/>
          </a:xfrm>
          <a:prstGeom prst="ellipse">
            <a:avLst/>
          </a:prstGeom>
          <a:solidFill>
            <a:srgbClr val="5A7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다가간다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3346704"/>
            <a:ext cx="1024128" cy="1024128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제공한다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852928" y="3346704"/>
            <a:ext cx="1024128" cy="1024128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협업한다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 flipH="1">
            <a:off x="1170432" y="2304288"/>
            <a:ext cx="402336" cy="1005840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773936" y="3858768"/>
            <a:ext cx="987552" cy="914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 flipV="1">
            <a:off x="2907792" y="2286000"/>
            <a:ext cx="457200" cy="1024128"/>
          </a:xfrm>
          <a:prstGeom prst="line">
            <a:avLst/>
          </a:prstGeom>
          <a:noFill/>
          <a:ln w="25400">
            <a:solidFill>
              <a:srgbClr val="C4CFD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554480" y="2724912"/>
            <a:ext cx="1426464" cy="768096"/>
          </a:xfrm>
          <a:prstGeom prst="roundRect">
            <a:avLst>
              <a:gd name="adj" fmla="val 9524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락인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방어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754880"/>
            <a:ext cx="3785616" cy="1371600"/>
          </a:xfrm>
          <a:prstGeom prst="roundRect">
            <a:avLst>
              <a:gd name="adj" fmla="val 5333"/>
            </a:avLst>
          </a:prstGeom>
          <a:solidFill>
            <a:srgbClr val="F5F7F8"/>
          </a:solidFill>
          <a:ln/>
        </p:spPr>
        <p:txBody>
          <a:bodyPr wrap="square" lIns="1524" tIns="1524" rIns="1524" bIns="1524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락인 플라이휠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유입 → 최적화 심화 → 전환비용 증가. 계약이 끝나도 갈아타기 어려운 관계가 다운턴의 방어벽이 된다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434840" y="1207008"/>
            <a:ext cx="7296912" cy="1645920"/>
          </a:xfrm>
          <a:prstGeom prst="roundRect">
            <a:avLst>
              <a:gd name="adj" fmla="val 5000"/>
            </a:avLst>
          </a:prstGeom>
          <a:solidFill>
            <a:srgbClr val="F5F7F8"/>
          </a:solidFill>
          <a:ln/>
        </p:spPr>
      </p:sp>
      <p:sp>
        <p:nvSpPr>
          <p:cNvPr id="16" name="Text 14"/>
          <p:cNvSpPr/>
          <p:nvPr/>
        </p:nvSpPr>
        <p:spPr>
          <a:xfrm>
            <a:off x="4599432" y="135331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0056" y="132588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2228" y="1418052"/>
            <a:ext cx="199705" cy="199705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532120" y="133502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협상력의 창이 열려 있을 때 워크로드 교환을 제안한다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645152" y="1755648"/>
            <a:ext cx="6903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하이퍼스케일러 + 스토리지 박스 업체(Pure Storage·VAST Data·DDN)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딜 구조: 고객 워크로드 공유 ↔ 그 워크로드에 최적화한 FDP SSD 공급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효익: 성능·수명 개선과 TCO 절감으로 거절하기 어려운 제안 (공급부족 국면 한정의 창)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434840" y="2980944"/>
            <a:ext cx="7296912" cy="1645920"/>
          </a:xfrm>
          <a:prstGeom prst="roundRect">
            <a:avLst>
              <a:gd name="adj" fmla="val 5000"/>
            </a:avLst>
          </a:prstGeom>
          <a:solidFill>
            <a:srgbClr val="F5F7F8"/>
          </a:solidFill>
          <a:ln/>
        </p:spPr>
      </p:sp>
      <p:sp>
        <p:nvSpPr>
          <p:cNvPr id="22" name="Text 19"/>
          <p:cNvSpPr/>
          <p:nvPr/>
        </p:nvSpPr>
        <p:spPr>
          <a:xfrm>
            <a:off x="4599432" y="3127248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020056" y="3099816"/>
            <a:ext cx="384048" cy="384048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228" y="3191988"/>
            <a:ext cx="199705" cy="199705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532120" y="3108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호스트를 이해하는 최적화 개발 역량을 채용·양성으로 확보한다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4645152" y="3529584"/>
            <a:ext cx="6903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5종: ① 커널 블록계층·io_uring·NVMe ② SPDK 유저스페이스 ③ DB·캐시 내부(RocksDB·CacheLib·Ceph) ④ 성능·워크로드 분석(fio·eBPF·WAF) ⑤ FTL·미디어 모델(사내 강점 브리지)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확보: 오픈소스 커미터·하이퍼스케일러 스토리지팀 출신 채용 + 사내 FW 인력의 호스트 SW 전환 트랙(오픈소스 기여를 평가에 반영)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434840" y="4754880"/>
            <a:ext cx="7296912" cy="1645920"/>
          </a:xfrm>
          <a:prstGeom prst="roundRect">
            <a:avLst>
              <a:gd name="adj" fmla="val 5000"/>
            </a:avLst>
          </a:prstGeom>
          <a:solidFill>
            <a:srgbClr val="F5F7F8"/>
          </a:solidFill>
          <a:ln/>
        </p:spPr>
      </p:sp>
      <p:sp>
        <p:nvSpPr>
          <p:cNvPr id="28" name="Text 24"/>
          <p:cNvSpPr/>
          <p:nvPr/>
        </p:nvSpPr>
        <p:spPr>
          <a:xfrm>
            <a:off x="4599432" y="4901184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5020056" y="4873752"/>
            <a:ext cx="384048" cy="384048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228" y="4965924"/>
            <a:ext cx="199705" cy="199705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532120" y="488289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고객 옆에 두고 FDP 생태계에 함께 기여한다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4645152" y="5303520"/>
            <a:ext cx="6903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채용: 실리콘밸리 현지 중심, 오픈소스 스토리지 기여자 우대, 영어 커뮤니케이션 필수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양성: 본사 엔지니어 미국 로테이션(6~12개월) + 현지 FDE 멘토 페어링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파일럿 1~2사 상주(Pod 소속·dual-ladder), outcome 평가(FDP 활성화 용량), 커널·SPDK·CacheLib 업스트림 기여로 호명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2026-08-25T02:25:10Z</dcterms:created>
  <dcterms:modified xsi:type="dcterms:W3CDTF">2026-08-25T02:25:10Z</dcterms:modified>
</cp:coreProperties>
</file>