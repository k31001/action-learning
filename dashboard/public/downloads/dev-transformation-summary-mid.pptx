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"/>
            <a:ext cx="9994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개발실 체질 전환 — 수주 이행자에서 기술 파트너로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0497312" y="310896"/>
            <a:ext cx="1234440" cy="420624"/>
          </a:xfrm>
          <a:prstGeom prst="roundRect">
            <a:avLst>
              <a:gd name="adj" fmla="val 21739"/>
            </a:avLst>
          </a:prstGeom>
          <a:solidFill>
            <a:srgbClr val="EFF3F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디테일 중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6510528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삼성전자 메모리사업부 · 개발실 체질 전환 전략 요약 · 2026-07-24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589520" y="6510528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원천: wiki/strategies/dev-org-transformation.md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859536"/>
            <a:ext cx="11274552" cy="512064"/>
          </a:xfrm>
          <a:prstGeom prst="roundRect">
            <a:avLst>
              <a:gd name="adj" fmla="val 16071"/>
            </a:avLst>
          </a:prstGeom>
          <a:solidFill>
            <a:srgbClr val="F5F7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“고객의 아키텍처 안으로 들어가 수요를 함께 설계하는 기업이 이긴다” — 신문섭 (2026-06)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60704" y="16184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지금인가 — 계약의 진화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76656" y="2048256"/>
            <a:ext cx="1051560" cy="749808"/>
          </a:xfrm>
          <a:prstGeom prst="roundRect">
            <a:avLst>
              <a:gd name="adj" fmla="val 8537"/>
            </a:avLst>
          </a:prstGeom>
          <a:solidFill>
            <a:srgbClr val="E7ECE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Spot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현물 거래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728216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965960" y="2048256"/>
            <a:ext cx="1234440" cy="749808"/>
          </a:xfrm>
          <a:prstGeom prst="roundRect">
            <a:avLst>
              <a:gd name="adj" fmla="val 8537"/>
            </a:avLst>
          </a:prstGeom>
          <a:solidFill>
            <a:srgbClr val="CBD6D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LTA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물량·가격 락인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048256"/>
            <a:ext cx="23774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38144" y="2048256"/>
            <a:ext cx="2286000" cy="749808"/>
          </a:xfrm>
          <a:prstGeom prst="roundRect">
            <a:avLst>
              <a:gd name="adj" fmla="val 8537"/>
            </a:avLst>
          </a:prstGeom>
          <a:solidFill>
            <a:srgbClr val="02809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전략적 고객 계약</a:t>
            </a:r>
            <a:endParaRPr lang="en-US" sz="150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공동설계·자본 연계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13232" y="2944368"/>
            <a:ext cx="4965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고객이 사는 것: 납품 → 공동 기술 드라이브 (16건 · $100B)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54496" y="1517904"/>
            <a:ext cx="5477256" cy="1865376"/>
          </a:xfrm>
          <a:prstGeom prst="roundRect">
            <a:avLst>
              <a:gd name="adj" fmla="val 4412"/>
            </a:avLst>
          </a:prstGeom>
          <a:solidFill>
            <a:srgbClr val="F5F7F8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64592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618488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되나 — As-Is → To-Be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473952" y="2029968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스펙 수령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065008" y="2029968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57616" y="2029968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요구사항 공동 정의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73952" y="2468880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RFQ 응답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065008" y="2468880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8357616" y="2468880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선제 제안·기술 드라이브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473952" y="2907792"/>
            <a:ext cx="155448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부품 스펙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065008" y="29077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57616" y="2907792"/>
            <a:ext cx="310896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15875">
            <a:solidFill>
              <a:srgbClr val="02809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2809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모델 (서버→랙→DC)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57200" y="3529584"/>
            <a:ext cx="11274552" cy="1005840"/>
          </a:xfrm>
          <a:prstGeom prst="roundRect">
            <a:avLst>
              <a:gd name="adj" fmla="val 8182"/>
            </a:avLst>
          </a:prstGeom>
          <a:solidFill>
            <a:srgbClr val="F5F7F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657600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1060704" y="3630168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하나 — 4대 축</a:t>
            </a:r>
            <a:endParaRPr lang="en-US" sz="1900" dirty="0"/>
          </a:p>
        </p:txBody>
      </p:sp>
      <p:sp>
        <p:nvSpPr>
          <p:cNvPr id="31" name="Shape 29"/>
          <p:cNvSpPr/>
          <p:nvPr/>
        </p:nvSpPr>
        <p:spPr>
          <a:xfrm>
            <a:off x="411480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972" y="3749772"/>
            <a:ext cx="199705" cy="199705"/>
          </a:xfrm>
          <a:prstGeom prst="rect">
            <a:avLst/>
          </a:prstGeom>
        </p:spPr>
      </p:pic>
      <p:sp>
        <p:nvSpPr>
          <p:cNvPr id="33" name="Text 30"/>
          <p:cNvSpPr/>
          <p:nvPr/>
        </p:nvSpPr>
        <p:spPr>
          <a:xfrm>
            <a:off x="457200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457200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워크로드 랩 · 시스템 모델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603504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212" y="3749772"/>
            <a:ext cx="199705" cy="199705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49224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문화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649224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모난 놈 → 호명 문화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795528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7452" y="3749772"/>
            <a:ext cx="199705" cy="199705"/>
          </a:xfrm>
          <a:prstGeom prst="rect">
            <a:avLst/>
          </a:prstGeom>
        </p:spPr>
      </p:pic>
      <p:sp>
        <p:nvSpPr>
          <p:cNvPr id="41" name="Text 36"/>
          <p:cNvSpPr/>
          <p:nvPr/>
        </p:nvSpPr>
        <p:spPr>
          <a:xfrm>
            <a:off x="841248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</a:t>
            </a:r>
            <a:endParaRPr lang="en-US" sz="1400" dirty="0"/>
          </a:p>
        </p:txBody>
      </p:sp>
      <p:sp>
        <p:nvSpPr>
          <p:cNvPr id="42" name="Text 37"/>
          <p:cNvSpPr/>
          <p:nvPr/>
        </p:nvSpPr>
        <p:spPr>
          <a:xfrm>
            <a:off x="841248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FDE 스타 · Co-Design Pod</a:t>
            </a:r>
            <a:endParaRPr lang="en-US" sz="1000" dirty="0"/>
          </a:p>
        </p:txBody>
      </p:sp>
      <p:sp>
        <p:nvSpPr>
          <p:cNvPr id="43" name="Shape 38"/>
          <p:cNvSpPr/>
          <p:nvPr/>
        </p:nvSpPr>
        <p:spPr>
          <a:xfrm>
            <a:off x="9875520" y="3657600"/>
            <a:ext cx="384048" cy="384048"/>
          </a:xfrm>
          <a:prstGeom prst="ellipse">
            <a:avLst/>
          </a:prstGeom>
          <a:solidFill>
            <a:srgbClr val="5A7184"/>
          </a:solidFill>
          <a:ln/>
        </p:spPr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7692" y="3749772"/>
            <a:ext cx="199705" cy="199705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10332720" y="362102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400" dirty="0"/>
          </a:p>
        </p:txBody>
      </p:sp>
      <p:sp>
        <p:nvSpPr>
          <p:cNvPr id="46" name="Text 40"/>
          <p:cNvSpPr/>
          <p:nvPr/>
        </p:nvSpPr>
        <p:spPr>
          <a:xfrm>
            <a:off x="10332720" y="3895344"/>
            <a:ext cx="1463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교차 리뷰 · PoA · AI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457200" y="4645152"/>
            <a:ext cx="11274552" cy="676656"/>
          </a:xfrm>
          <a:prstGeom prst="roundRect">
            <a:avLst>
              <a:gd name="adj" fmla="val 10811"/>
            </a:avLst>
          </a:prstGeom>
          <a:solidFill>
            <a:srgbClr val="E8F6F0"/>
          </a:solidFill>
          <a:ln w="15875">
            <a:solidFill>
              <a:srgbClr val="02A878"/>
            </a:solidFill>
            <a:prstDash val="solid"/>
          </a:ln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800600"/>
            <a:ext cx="365760" cy="365760"/>
          </a:xfrm>
          <a:prstGeom prst="rect">
            <a:avLst/>
          </a:prstGeom>
        </p:spPr>
      </p:pic>
      <p:sp>
        <p:nvSpPr>
          <p:cNvPr id="49" name="Text 42"/>
          <p:cNvSpPr/>
          <p:nvPr/>
        </p:nvSpPr>
        <p:spPr>
          <a:xfrm>
            <a:off x="1133856" y="4645152"/>
            <a:ext cx="10415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— FDE(Forward Deployed Engineer)를 스타 플레이어로, 고객사와 기술 생태계를 함께 만든다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“조직 이름 뒤에 숨지 않고 자기 이름으로 불린다” — 송길영 『호명사회』 · ‘모난 놈이 정 맞는’ 문화 → 호명 문화로 · 관리 분리 + SV 영입</a:t>
            </a:r>
            <a:endParaRPr lang="en-US" sz="1400" dirty="0"/>
          </a:p>
        </p:txBody>
      </p:sp>
      <p:sp>
        <p:nvSpPr>
          <p:cNvPr id="50" name="Shape 43"/>
          <p:cNvSpPr/>
          <p:nvPr/>
        </p:nvSpPr>
        <p:spPr>
          <a:xfrm>
            <a:off x="457200" y="5449824"/>
            <a:ext cx="11274552" cy="914400"/>
          </a:xfrm>
          <a:prstGeom prst="roundRect">
            <a:avLst>
              <a:gd name="adj" fmla="val 9000"/>
            </a:avLst>
          </a:prstGeom>
          <a:solidFill>
            <a:srgbClr val="F5F7F8"/>
          </a:solidFill>
          <a:ln/>
        </p:spPr>
      </p:sp>
      <p:sp>
        <p:nvSpPr>
          <p:cNvPr id="51" name="Text 44"/>
          <p:cNvSpPr/>
          <p:nvPr/>
        </p:nvSpPr>
        <p:spPr>
          <a:xfrm>
            <a:off x="640080" y="5742432"/>
            <a:ext cx="329184" cy="329184"/>
          </a:xfrm>
          <a:prstGeom prst="ellipse">
            <a:avLst/>
          </a:prstGeom>
          <a:solidFill>
            <a:srgbClr val="17313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52" name="Text 45"/>
          <p:cNvSpPr/>
          <p:nvPr/>
        </p:nvSpPr>
        <p:spPr>
          <a:xfrm>
            <a:off x="1060704" y="5715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변화 — 영입 가능한 임금</a:t>
            </a:r>
            <a:endParaRPr lang="en-US" sz="1700" dirty="0"/>
          </a:p>
        </p:txBody>
      </p:sp>
      <p:sp>
        <p:nvSpPr>
          <p:cNvPr id="53" name="Text 46"/>
          <p:cNvSpPr/>
          <p:nvPr/>
        </p:nvSpPr>
        <p:spPr>
          <a:xfrm>
            <a:off x="4114800" y="5605272"/>
            <a:ext cx="2103120" cy="603504"/>
          </a:xfrm>
          <a:prstGeom prst="roundRect">
            <a:avLst>
              <a:gd name="adj" fmla="val 9091"/>
            </a:avLst>
          </a:prstGeom>
          <a:solidFill>
            <a:srgbClr val="E7ECE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실리콘밸리 보상 열위</a:t>
            </a:r>
            <a:endParaRPr lang="en-US" sz="1250" dirty="0"/>
          </a:p>
        </p:txBody>
      </p:sp>
      <p:sp>
        <p:nvSpPr>
          <p:cNvPr id="54" name="Text 47"/>
          <p:cNvSpPr/>
          <p:nvPr/>
        </p:nvSpPr>
        <p:spPr>
          <a:xfrm>
            <a:off x="6217920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5" name="Text 48"/>
          <p:cNvSpPr/>
          <p:nvPr/>
        </p:nvSpPr>
        <p:spPr>
          <a:xfrm>
            <a:off x="6437376" y="5605272"/>
            <a:ext cx="2651760" cy="603504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DCE4E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성과급 ~6억 · 상한 철폐</a:t>
            </a:r>
            <a:endParaRPr lang="en-US" sz="1250" dirty="0"/>
          </a:p>
        </p:txBody>
      </p:sp>
      <p:sp>
        <p:nvSpPr>
          <p:cNvPr id="56" name="Text 49"/>
          <p:cNvSpPr/>
          <p:nvPr/>
        </p:nvSpPr>
        <p:spPr>
          <a:xfrm>
            <a:off x="9089136" y="5605272"/>
            <a:ext cx="2194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200" dirty="0"/>
          </a:p>
        </p:txBody>
      </p:sp>
      <p:sp>
        <p:nvSpPr>
          <p:cNvPr id="57" name="Text 50"/>
          <p:cNvSpPr/>
          <p:nvPr/>
        </p:nvSpPr>
        <p:spPr>
          <a:xfrm>
            <a:off x="9308592" y="5605272"/>
            <a:ext cx="2286000" cy="603504"/>
          </a:xfrm>
          <a:prstGeom prst="roundRect">
            <a:avLst>
              <a:gd name="adj" fmla="val 9091"/>
            </a:avLst>
          </a:prstGeom>
          <a:solidFill>
            <a:srgbClr val="E8F6F0"/>
          </a:solidFill>
          <a:ln w="15875">
            <a:solidFill>
              <a:srgbClr val="02A87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731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선순환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5A71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영입 축적 → 조직 수준 상향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2026-08-05T00:59:16Z</dcterms:created>
  <dcterms:modified xsi:type="dcterms:W3CDTF">2026-08-05T00:59:16Z</dcterms:modified>
</cp:coreProperties>
</file>