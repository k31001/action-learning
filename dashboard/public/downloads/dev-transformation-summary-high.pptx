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994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개발실 체질 전환 — 수주 이행자에서 기술 파트너로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497312" y="310896"/>
            <a:ext cx="1234440" cy="420624"/>
          </a:xfrm>
          <a:prstGeom prst="roundRect">
            <a:avLst>
              <a:gd name="adj" fmla="val 21739"/>
            </a:avLst>
          </a:prstGeom>
          <a:solidFill>
            <a:srgbClr val="EFF3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디테일 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체질 전환 전략 요약 · 2026-07-24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6510528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원천: wiki/strategies/dev-org-transformation.md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11274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북극성  </a:t>
            </a:r>
            <a:pPr indent="0" marL="0">
              <a:buNone/>
            </a:pPr>
            <a:r>
              <a:rPr lang="en-US" sz="1300" i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“고객의 아키텍처 안으로 들어가 수요를 함께 설계하는 기업이 이긴다” — 신문섭 파트너 (2026-06)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74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A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호명사회  </a:t>
            </a:r>
            <a:pPr indent="0" marL="0">
              <a:buNone/>
            </a:pPr>
            <a:r>
              <a:rPr lang="en-US" sz="1300" i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“조직의 이름 뒤에 숨지 않고, 자신의 이름으로 불리며 책임과 결과를 마주한다” — 송길영 『시대예보: 호명사회』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89888"/>
            <a:ext cx="3602736" cy="4114800"/>
          </a:xfrm>
          <a:prstGeom prst="roundRect">
            <a:avLst>
              <a:gd name="adj" fmla="val 2284"/>
            </a:avLst>
          </a:prstGeom>
          <a:solidFill>
            <a:srgbClr val="F5F7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329184" cy="329184"/>
          </a:xfrm>
          <a:prstGeom prst="ellipse">
            <a:avLst/>
          </a:prstGeom>
          <a:solidFill>
            <a:srgbClr val="173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60704" y="152704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지금인가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297680" y="1389888"/>
            <a:ext cx="3602736" cy="4114800"/>
          </a:xfrm>
          <a:prstGeom prst="roundRect">
            <a:avLst>
              <a:gd name="adj" fmla="val 2284"/>
            </a:avLst>
          </a:prstGeom>
          <a:solidFill>
            <a:srgbClr val="F5F7F8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554480"/>
            <a:ext cx="329184" cy="329184"/>
          </a:xfrm>
          <a:prstGeom prst="ellipse">
            <a:avLst/>
          </a:prstGeom>
          <a:solidFill>
            <a:srgbClr val="173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01184" y="152704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되나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129016" y="1389888"/>
            <a:ext cx="3602736" cy="4114800"/>
          </a:xfrm>
          <a:prstGeom prst="roundRect">
            <a:avLst>
              <a:gd name="adj" fmla="val 2284"/>
            </a:avLst>
          </a:prstGeom>
          <a:solidFill>
            <a:srgbClr val="F5F7F8"/>
          </a:solidFill>
          <a:ln/>
        </p:spPr>
      </p:sp>
      <p:sp>
        <p:nvSpPr>
          <p:cNvPr id="15" name="Text 13"/>
          <p:cNvSpPr/>
          <p:nvPr/>
        </p:nvSpPr>
        <p:spPr>
          <a:xfrm>
            <a:off x="8311896" y="1554480"/>
            <a:ext cx="329184" cy="329184"/>
          </a:xfrm>
          <a:prstGeom prst="ellipse">
            <a:avLst/>
          </a:prstGeom>
          <a:solidFill>
            <a:srgbClr val="173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732520" y="152704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하나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41248" y="2084832"/>
            <a:ext cx="0" cy="2148840"/>
          </a:xfrm>
          <a:prstGeom prst="line">
            <a:avLst/>
          </a:prstGeom>
          <a:noFill/>
          <a:ln w="19050">
            <a:solidFill>
              <a:srgbClr val="C4CF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" y="2066544"/>
            <a:ext cx="146304" cy="146304"/>
          </a:xfrm>
          <a:prstGeom prst="ellipse">
            <a:avLst/>
          </a:prstGeom>
          <a:solidFill>
            <a:srgbClr val="17313B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19751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’25.06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55648" y="19659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커스텀 HBM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3사 인증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8096" y="2926080"/>
            <a:ext cx="146304" cy="146304"/>
          </a:xfrm>
          <a:prstGeom prst="ellipse">
            <a:avLst/>
          </a:prstGeom>
          <a:solidFill>
            <a:srgbClr val="17313B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28346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’25.10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755648" y="2825496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Stargate LOI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90만 장 (DRAM ~40%)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68096" y="3785616"/>
            <a:ext cx="146304" cy="146304"/>
          </a:xfrm>
          <a:prstGeom prst="ellipse">
            <a:avLst/>
          </a:prstGeom>
          <a:solidFill>
            <a:srgbClr val="17313B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69417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’26.06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755648" y="368503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Micron–Anthropic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전략적 고객 계약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16건 · $100B · $22B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590288"/>
            <a:ext cx="323697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4791456"/>
            <a:ext cx="310896" cy="3108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207008" y="4626864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납품만으로는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전략적 고객 계약 수주 불가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517136" y="1956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181344" y="1956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17136" y="2231136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수령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5888736" y="2231136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181344" y="2231136"/>
            <a:ext cx="149961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공동 정의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4517136" y="2807208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RFQ 응답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5888736" y="2807208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181344" y="2807208"/>
            <a:ext cx="149961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선제 제안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4517136" y="3383280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단품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5888736" y="3383280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181344" y="3383280"/>
            <a:ext cx="149961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모델</a:t>
            </a:r>
            <a:endParaRPr lang="en-US" sz="1350" dirty="0"/>
          </a:p>
        </p:txBody>
      </p:sp>
      <p:sp>
        <p:nvSpPr>
          <p:cNvPr id="41" name="Text 38"/>
          <p:cNvSpPr/>
          <p:nvPr/>
        </p:nvSpPr>
        <p:spPr>
          <a:xfrm>
            <a:off x="4517136" y="3959352"/>
            <a:ext cx="1371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QCD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5888736" y="3959352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181344" y="3959352"/>
            <a:ext cx="1499616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공동설계 KPI</a:t>
            </a:r>
            <a:endParaRPr lang="en-US" sz="1350" dirty="0"/>
          </a:p>
        </p:txBody>
      </p:sp>
      <p:sp>
        <p:nvSpPr>
          <p:cNvPr id="44" name="Shape 41"/>
          <p:cNvSpPr/>
          <p:nvPr/>
        </p:nvSpPr>
        <p:spPr>
          <a:xfrm>
            <a:off x="4517136" y="4700016"/>
            <a:ext cx="3163824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828032"/>
            <a:ext cx="274320" cy="274320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5029200" y="4700016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롤모델 Palantir FDE — 고객사 상주</a:t>
            </a:r>
            <a:endParaRPr lang="en-US" sz="1300" dirty="0"/>
          </a:p>
        </p:txBody>
      </p:sp>
      <p:sp>
        <p:nvSpPr>
          <p:cNvPr id="47" name="Shape 43"/>
          <p:cNvSpPr/>
          <p:nvPr/>
        </p:nvSpPr>
        <p:spPr>
          <a:xfrm>
            <a:off x="8897112" y="1956816"/>
            <a:ext cx="402336" cy="402336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3673" y="2053377"/>
            <a:ext cx="209215" cy="209215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8330184" y="237744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</a:t>
            </a:r>
            <a:endParaRPr lang="en-US" sz="1500" dirty="0"/>
          </a:p>
        </p:txBody>
      </p:sp>
      <p:sp>
        <p:nvSpPr>
          <p:cNvPr id="50" name="Text 45"/>
          <p:cNvSpPr/>
          <p:nvPr/>
        </p:nvSpPr>
        <p:spPr>
          <a:xfrm>
            <a:off x="8275320" y="26517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 랩·모델</a:t>
            </a:r>
            <a:endParaRPr lang="en-US" sz="1050" dirty="0"/>
          </a:p>
        </p:txBody>
      </p:sp>
      <p:sp>
        <p:nvSpPr>
          <p:cNvPr id="51" name="Shape 46"/>
          <p:cNvSpPr/>
          <p:nvPr/>
        </p:nvSpPr>
        <p:spPr>
          <a:xfrm>
            <a:off x="10561320" y="1956816"/>
            <a:ext cx="402336" cy="402336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7881" y="2053377"/>
            <a:ext cx="209215" cy="209215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9994392" y="237744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</a:t>
            </a:r>
            <a:endParaRPr lang="en-US" sz="1500" dirty="0"/>
          </a:p>
        </p:txBody>
      </p:sp>
      <p:sp>
        <p:nvSpPr>
          <p:cNvPr id="54" name="Text 48"/>
          <p:cNvSpPr/>
          <p:nvPr/>
        </p:nvSpPr>
        <p:spPr>
          <a:xfrm>
            <a:off x="9939528" y="26517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모난 놈 → 호명</a:t>
            </a:r>
            <a:endParaRPr lang="en-US" sz="1050" dirty="0"/>
          </a:p>
        </p:txBody>
      </p:sp>
      <p:sp>
        <p:nvSpPr>
          <p:cNvPr id="55" name="Shape 49"/>
          <p:cNvSpPr/>
          <p:nvPr/>
        </p:nvSpPr>
        <p:spPr>
          <a:xfrm>
            <a:off x="8897112" y="3017520"/>
            <a:ext cx="402336" cy="402336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5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3673" y="3114081"/>
            <a:ext cx="209215" cy="209215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8330184" y="34381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</a:t>
            </a:r>
            <a:endParaRPr lang="en-US" sz="1500" dirty="0"/>
          </a:p>
        </p:txBody>
      </p:sp>
      <p:sp>
        <p:nvSpPr>
          <p:cNvPr id="58" name="Text 51"/>
          <p:cNvSpPr/>
          <p:nvPr/>
        </p:nvSpPr>
        <p:spPr>
          <a:xfrm>
            <a:off x="8275320" y="37124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FDE 스타·Pod 상주</a:t>
            </a:r>
            <a:endParaRPr lang="en-US" sz="1050" dirty="0"/>
          </a:p>
        </p:txBody>
      </p:sp>
      <p:sp>
        <p:nvSpPr>
          <p:cNvPr id="59" name="Shape 52"/>
          <p:cNvSpPr/>
          <p:nvPr/>
        </p:nvSpPr>
        <p:spPr>
          <a:xfrm>
            <a:off x="10561320" y="3017520"/>
            <a:ext cx="402336" cy="402336"/>
          </a:xfrm>
          <a:prstGeom prst="ellipse">
            <a:avLst/>
          </a:prstGeom>
          <a:solidFill>
            <a:srgbClr val="5A7184"/>
          </a:solidFill>
          <a:ln/>
        </p:spPr>
      </p:sp>
      <p:pic>
        <p:nvPicPr>
          <p:cNvPr id="6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7881" y="3114081"/>
            <a:ext cx="209215" cy="209215"/>
          </a:xfrm>
          <a:prstGeom prst="rect">
            <a:avLst/>
          </a:prstGeom>
        </p:spPr>
      </p:pic>
      <p:sp>
        <p:nvSpPr>
          <p:cNvPr id="61" name="Text 53"/>
          <p:cNvSpPr/>
          <p:nvPr/>
        </p:nvSpPr>
        <p:spPr>
          <a:xfrm>
            <a:off x="9994392" y="34381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</a:t>
            </a:r>
            <a:endParaRPr lang="en-US" sz="1500" dirty="0"/>
          </a:p>
        </p:txBody>
      </p:sp>
      <p:sp>
        <p:nvSpPr>
          <p:cNvPr id="62" name="Text 54"/>
          <p:cNvSpPr/>
          <p:nvPr/>
        </p:nvSpPr>
        <p:spPr>
          <a:xfrm>
            <a:off x="9939528" y="37124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 리뷰·PoA</a:t>
            </a:r>
            <a:endParaRPr lang="en-US" sz="1050" dirty="0"/>
          </a:p>
        </p:txBody>
      </p:sp>
      <p:sp>
        <p:nvSpPr>
          <p:cNvPr id="63" name="Shape 55"/>
          <p:cNvSpPr/>
          <p:nvPr/>
        </p:nvSpPr>
        <p:spPr>
          <a:xfrm>
            <a:off x="8311896" y="4480560"/>
            <a:ext cx="3236976" cy="640080"/>
          </a:xfrm>
          <a:prstGeom prst="roundRect">
            <a:avLst>
              <a:gd name="adj" fmla="val 11429"/>
            </a:avLst>
          </a:prstGeom>
          <a:solidFill>
            <a:srgbClr val="E8F6F0"/>
          </a:solidFill>
          <a:ln w="15875">
            <a:solidFill>
              <a:srgbClr val="02A878"/>
            </a:solidFill>
            <a:prstDash val="solid"/>
          </a:ln>
        </p:spPr>
      </p:sp>
      <p:pic>
        <p:nvPicPr>
          <p:cNvPr id="6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4776" y="4617720"/>
            <a:ext cx="365760" cy="365760"/>
          </a:xfrm>
          <a:prstGeom prst="rect">
            <a:avLst/>
          </a:prstGeom>
        </p:spPr>
      </p:pic>
      <p:sp>
        <p:nvSpPr>
          <p:cNvPr id="65" name="Text 56"/>
          <p:cNvSpPr/>
          <p:nvPr/>
        </p:nvSpPr>
        <p:spPr>
          <a:xfrm>
            <a:off x="8988552" y="4480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FDE를 스타 플레이어로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고객과 기술 생태계 공동 설계</a:t>
            </a:r>
            <a:endParaRPr lang="en-US" sz="1350" dirty="0"/>
          </a:p>
        </p:txBody>
      </p:sp>
      <p:sp>
        <p:nvSpPr>
          <p:cNvPr id="66" name="Shape 57"/>
          <p:cNvSpPr/>
          <p:nvPr/>
        </p:nvSpPr>
        <p:spPr>
          <a:xfrm>
            <a:off x="457200" y="5559552"/>
            <a:ext cx="11274552" cy="822960"/>
          </a:xfrm>
          <a:prstGeom prst="roundRect">
            <a:avLst>
              <a:gd name="adj" fmla="val 10000"/>
            </a:avLst>
          </a:prstGeom>
          <a:solidFill>
            <a:srgbClr val="F5F7F8"/>
          </a:solidFill>
          <a:ln/>
        </p:spPr>
      </p:sp>
      <p:sp>
        <p:nvSpPr>
          <p:cNvPr id="67" name="Text 58"/>
          <p:cNvSpPr/>
          <p:nvPr/>
        </p:nvSpPr>
        <p:spPr>
          <a:xfrm>
            <a:off x="676656" y="57058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변화</a:t>
            </a:r>
            <a:endParaRPr lang="en-US" sz="1500" dirty="0"/>
          </a:p>
        </p:txBody>
      </p:sp>
      <p:sp>
        <p:nvSpPr>
          <p:cNvPr id="68" name="Text 59"/>
          <p:cNvSpPr/>
          <p:nvPr/>
        </p:nvSpPr>
        <p:spPr>
          <a:xfrm>
            <a:off x="676656" y="59984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영입 가능한 임금 수준</a:t>
            </a:r>
            <a:endParaRPr lang="en-US" sz="1050" dirty="0"/>
          </a:p>
        </p:txBody>
      </p:sp>
      <p:sp>
        <p:nvSpPr>
          <p:cNvPr id="69" name="Text 60"/>
          <p:cNvSpPr/>
          <p:nvPr/>
        </p:nvSpPr>
        <p:spPr>
          <a:xfrm>
            <a:off x="2743200" y="5669280"/>
            <a:ext cx="2331720" cy="603504"/>
          </a:xfrm>
          <a:prstGeom prst="roundRect">
            <a:avLst>
              <a:gd name="adj" fmla="val 9091"/>
            </a:avLst>
          </a:prstGeom>
          <a:solidFill>
            <a:srgbClr val="E7ECE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실리콘밸리 보상 열위</a:t>
            </a:r>
            <a:endParaRPr lang="en-US" sz="1250" dirty="0"/>
          </a:p>
        </p:txBody>
      </p:sp>
      <p:sp>
        <p:nvSpPr>
          <p:cNvPr id="70" name="Text 61"/>
          <p:cNvSpPr/>
          <p:nvPr/>
        </p:nvSpPr>
        <p:spPr>
          <a:xfrm>
            <a:off x="5074920" y="5669280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71" name="Text 62"/>
          <p:cNvSpPr/>
          <p:nvPr/>
        </p:nvSpPr>
        <p:spPr>
          <a:xfrm>
            <a:off x="5294376" y="5669280"/>
            <a:ext cx="32918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— 처우 급등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성과급 ~6억 · 상한 철폐 · 최대 12.9억 전망</a:t>
            </a:r>
            <a:endParaRPr lang="en-US" sz="1250" dirty="0"/>
          </a:p>
        </p:txBody>
      </p:sp>
      <p:sp>
        <p:nvSpPr>
          <p:cNvPr id="72" name="Text 63"/>
          <p:cNvSpPr/>
          <p:nvPr/>
        </p:nvSpPr>
        <p:spPr>
          <a:xfrm>
            <a:off x="8586216" y="5669280"/>
            <a:ext cx="2194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73" name="Text 64"/>
          <p:cNvSpPr/>
          <p:nvPr/>
        </p:nvSpPr>
        <p:spPr>
          <a:xfrm>
            <a:off x="8805672" y="5669280"/>
            <a:ext cx="2697480" cy="603504"/>
          </a:xfrm>
          <a:prstGeom prst="roundRect">
            <a:avLst>
              <a:gd name="adj" fmla="val 9091"/>
            </a:avLst>
          </a:prstGeom>
          <a:solidFill>
            <a:srgbClr val="E8F6F0"/>
          </a:solidFill>
          <a:ln w="15875">
            <a:solidFill>
              <a:srgbClr val="02A8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선순환 기대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 영입 축적 → 조직 수준 상향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2026-08-05T00:59:16Z</dcterms:created>
  <dcterms:modified xsi:type="dcterms:W3CDTF">2026-08-05T00:59:16Z</dcterms:modified>
</cp:coreProperties>
</file>