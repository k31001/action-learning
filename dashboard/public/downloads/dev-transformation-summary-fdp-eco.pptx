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 다운턴: 깊이는 고객 구조가 결정했다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노출이 큰 벤더일수록 깊게 맞았다. 총량이 아니라 수요 형태의 변화였고, 극복은 다변화가 아니라 니즈 적중이었다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낙폭과 원인: 노출 = 깊이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재배분: CapEx vs AI 인프라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적중: 대용량 QLC 경쟁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17556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매출 낙폭: 피크(2Q22)→저점(1Q23)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2340864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0848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6384" y="2340864"/>
            <a:ext cx="548640" cy="1050254"/>
          </a:xfrm>
          <a:prstGeom prst="roundRect">
            <a:avLst>
              <a:gd name="adj" fmla="val 5000"/>
            </a:avLst>
          </a:prstGeom>
          <a:solidFill>
            <a:srgbClr val="1428A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40940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-54%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35608" y="20848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SK그룹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563624" y="2340864"/>
            <a:ext cx="548640" cy="1225296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3" name="Text 21"/>
          <p:cNvSpPr/>
          <p:nvPr/>
        </p:nvSpPr>
        <p:spPr>
          <a:xfrm>
            <a:off x="1435608" y="35844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-63%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12848" y="20848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WDC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340864" y="2340864"/>
            <a:ext cx="548640" cy="875211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6" name="Text 24"/>
          <p:cNvSpPr/>
          <p:nvPr/>
        </p:nvSpPr>
        <p:spPr>
          <a:xfrm>
            <a:off x="2212848" y="3234363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-45%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990088" y="20848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18104" y="2340864"/>
            <a:ext cx="548640" cy="680720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9" name="Text 27"/>
          <p:cNvSpPr/>
          <p:nvPr/>
        </p:nvSpPr>
        <p:spPr>
          <a:xfrm>
            <a:off x="2990088" y="30398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-35%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8368" y="39136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eSSD 점유(4Q22) = 서버 노출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18795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554480" y="4206240"/>
            <a:ext cx="1554480" cy="201168"/>
          </a:xfrm>
          <a:prstGeom prst="roundRect">
            <a:avLst>
              <a:gd name="adj" fmla="val 13636"/>
            </a:avLst>
          </a:prstGeom>
          <a:solidFill>
            <a:srgbClr val="1428A0"/>
          </a:solidFill>
          <a:ln/>
        </p:spPr>
      </p:sp>
      <p:sp>
        <p:nvSpPr>
          <p:cNvPr id="33" name="Text 31"/>
          <p:cNvSpPr/>
          <p:nvPr/>
        </p:nvSpPr>
        <p:spPr>
          <a:xfrm>
            <a:off x="3163824" y="4187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46.9%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" y="44988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SK그룹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554480" y="4517136"/>
            <a:ext cx="629747" cy="201168"/>
          </a:xfrm>
          <a:prstGeom prst="roundRect">
            <a:avLst>
              <a:gd name="adj" fmla="val 13636"/>
            </a:avLst>
          </a:prstGeom>
          <a:solidFill>
            <a:srgbClr val="B9C2D0"/>
          </a:solidFill>
          <a:ln/>
        </p:spPr>
      </p:sp>
      <p:sp>
        <p:nvSpPr>
          <p:cNvPr id="36" name="Text 34"/>
          <p:cNvSpPr/>
          <p:nvPr/>
        </p:nvSpPr>
        <p:spPr>
          <a:xfrm>
            <a:off x="2239091" y="449884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" y="480974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554480" y="4828032"/>
            <a:ext cx="430879" cy="201168"/>
          </a:xfrm>
          <a:prstGeom prst="roundRect">
            <a:avLst>
              <a:gd name="adj" fmla="val 13636"/>
            </a:avLst>
          </a:prstGeom>
          <a:solidFill>
            <a:srgbClr val="B9C2D0"/>
          </a:solidFill>
          <a:ln/>
        </p:spPr>
      </p:sp>
      <p:sp>
        <p:nvSpPr>
          <p:cNvPr id="39" name="Text 37"/>
          <p:cNvSpPr/>
          <p:nvPr/>
        </p:nvSpPr>
        <p:spPr>
          <a:xfrm>
            <a:off x="2040223" y="48097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8368" y="5193792"/>
            <a:ext cx="3200400" cy="658368"/>
          </a:xfrm>
          <a:prstGeom prst="roundRect">
            <a:avLst>
              <a:gd name="adj" fmla="val 6944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순위 = 낙폭 순위.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진앙은 SSD(산업 매출 기여 50%+→20~25% 붕괴), 삼성은 eSSD 1위로 노출 최대. SK -63%엔 서버 100% Solidigm 포함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8368" y="5943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TrendForce 분기 데이터 합성(Micron 회계분기 차이 제외) · Blocks &amp; Files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498848" y="17556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 CapEx ($B, 각사 10-K)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498848" y="3200400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45152" y="2152841"/>
            <a:ext cx="256032" cy="1047559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45" name="Shape 43"/>
          <p:cNvSpPr/>
          <p:nvPr/>
        </p:nvSpPr>
        <p:spPr>
          <a:xfrm>
            <a:off x="4937760" y="2109978"/>
            <a:ext cx="256032" cy="1090422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46" name="Shape 44"/>
          <p:cNvSpPr/>
          <p:nvPr/>
        </p:nvSpPr>
        <p:spPr>
          <a:xfrm>
            <a:off x="5230368" y="2296859"/>
            <a:ext cx="256032" cy="90354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7" name="Text 45"/>
          <p:cNvSpPr/>
          <p:nvPr/>
        </p:nvSpPr>
        <p:spPr>
          <a:xfrm>
            <a:off x="4507992" y="322783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687568" y="2871216"/>
            <a:ext cx="256032" cy="329184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49" name="Shape 47"/>
          <p:cNvSpPr/>
          <p:nvPr/>
        </p:nvSpPr>
        <p:spPr>
          <a:xfrm>
            <a:off x="5980176" y="2662047"/>
            <a:ext cx="256032" cy="538353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0" name="Shape 48"/>
          <p:cNvSpPr/>
          <p:nvPr/>
        </p:nvSpPr>
        <p:spPr>
          <a:xfrm>
            <a:off x="6272784" y="2718626"/>
            <a:ext cx="256032" cy="481775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1" name="Text 49"/>
          <p:cNvSpPr/>
          <p:nvPr/>
        </p:nvSpPr>
        <p:spPr>
          <a:xfrm>
            <a:off x="5550408" y="322783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729984" y="2778633"/>
            <a:ext cx="256032" cy="421767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53" name="Shape 51"/>
          <p:cNvSpPr/>
          <p:nvPr/>
        </p:nvSpPr>
        <p:spPr>
          <a:xfrm>
            <a:off x="7022592" y="2660333"/>
            <a:ext cx="256032" cy="540068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4" name="Shape 52"/>
          <p:cNvSpPr/>
          <p:nvPr/>
        </p:nvSpPr>
        <p:spPr>
          <a:xfrm>
            <a:off x="7315200" y="2646617"/>
            <a:ext cx="256032" cy="553784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5" name="Text 53"/>
          <p:cNvSpPr/>
          <p:nvPr/>
        </p:nvSpPr>
        <p:spPr>
          <a:xfrm>
            <a:off x="6592824" y="322783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Alphabet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498848" y="34930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’21  ’22  ’23 · Amazon 창사 최초 -17%, Meta -11%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498848" y="3858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그중 AI 인프라: AI 서버 시장 가치 ($B)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498848" y="416966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919472" y="4187952"/>
            <a:ext cx="525658" cy="237744"/>
          </a:xfrm>
          <a:prstGeom prst="roundRect">
            <a:avLst>
              <a:gd name="adj" fmla="val 11538"/>
            </a:avLst>
          </a:prstGeom>
          <a:solidFill>
            <a:srgbClr val="8FA0DC"/>
          </a:solidFill>
          <a:ln/>
        </p:spPr>
      </p:sp>
      <p:sp>
        <p:nvSpPr>
          <p:cNvPr id="60" name="Text 58"/>
          <p:cNvSpPr/>
          <p:nvPr/>
        </p:nvSpPr>
        <p:spPr>
          <a:xfrm>
            <a:off x="5499994" y="41696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~50 · 서버 가치의 23%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498848" y="453542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’24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919472" y="4553712"/>
            <a:ext cx="1965960" cy="237744"/>
          </a:xfrm>
          <a:prstGeom prst="roundRect">
            <a:avLst>
              <a:gd name="adj" fmla="val 11538"/>
            </a:avLst>
          </a:prstGeom>
          <a:solidFill>
            <a:srgbClr val="1428A0"/>
          </a:solidFill>
          <a:ln/>
        </p:spPr>
      </p:sp>
      <p:sp>
        <p:nvSpPr>
          <p:cNvPr id="63" name="Text 61"/>
          <p:cNvSpPr/>
          <p:nvPr/>
        </p:nvSpPr>
        <p:spPr>
          <a:xfrm>
            <a:off x="4992624" y="4535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187 · 65%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498848" y="5193792"/>
            <a:ext cx="3200400" cy="658368"/>
          </a:xfrm>
          <a:prstGeom prst="roundRect">
            <a:avLst>
              <a:gd name="adj" fmla="val 6944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총량이 아니라 재배분.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CapEx가 깎인 ’23에도 AI 서버 가치는 ~$50B(23%), ’24 $187B(65%)로 폭증. 일반 서버·스토리지향 수요만 꺼졌다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498848" y="5943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각사 10-K · Platformonomics · TrendForce(’24.07)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8330184" y="17556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QLC eSSD: 용량 × 출시 시점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302752" y="20939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Solidigm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052560" y="2212848"/>
            <a:ext cx="2377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02752" y="264261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9052560" y="2761488"/>
            <a:ext cx="2377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302752" y="31912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9052560" y="3310128"/>
            <a:ext cx="2377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02752" y="37398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9052560" y="3858768"/>
            <a:ext cx="2377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69680" y="4023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’23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9464040" y="4023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’24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0058400" y="4023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10652760" y="4023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9314078" y="2153412"/>
            <a:ext cx="118872" cy="118872"/>
          </a:xfrm>
          <a:prstGeom prst="ellipse">
            <a:avLst/>
          </a:prstGeom>
          <a:solidFill>
            <a:srgbClr val="555555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053474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61T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9053474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’23.07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0104577" y="2153412"/>
            <a:ext cx="118872" cy="118872"/>
          </a:xfrm>
          <a:prstGeom prst="ellipse">
            <a:avLst/>
          </a:prstGeom>
          <a:solidFill>
            <a:srgbClr val="555555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843973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122T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11192256" y="2153412"/>
            <a:ext cx="118872" cy="1188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931652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245T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9884664" y="2702052"/>
            <a:ext cx="118872" cy="118872"/>
          </a:xfrm>
          <a:prstGeom prst="ellipse">
            <a:avLst/>
          </a:prstGeom>
          <a:solidFill>
            <a:srgbClr val="1428A0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24060" y="245059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61T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10092690" y="2702052"/>
            <a:ext cx="118872" cy="1188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832086" y="28346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122T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10597896" y="3250692"/>
            <a:ext cx="118872" cy="1188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0337292" y="299923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122T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10984230" y="3250692"/>
            <a:ext cx="118872" cy="118872"/>
          </a:xfrm>
          <a:prstGeom prst="ellipse">
            <a:avLst/>
          </a:prstGeom>
          <a:solidFill>
            <a:srgbClr val="555555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723626" y="33832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245T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10723626" y="35478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’26.05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10479024" y="3799332"/>
            <a:ext cx="118872" cy="1188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218420" y="35478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245T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8330184" y="42611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출하    </a:t>
            </a:r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샘플·전시·예정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8311896" y="4553712"/>
            <a:ext cx="3236976" cy="1335024"/>
          </a:xfrm>
          <a:prstGeom prst="roundRect">
            <a:avLst>
              <a:gd name="adj" fmla="val 4795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476488" y="4645152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적중의 실증, 그리고 삼성의 갭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Solidigm은 61TB를 12개월 선행하며 최심부에서 2024 흑자 전환. 삼성은 61TB 1년 후발에 122TB는 전시 단계, 245TB 첫 출하도 Micron. 다음 니즈(KV cache)는 선행해야 한다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8330184" y="596188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Blocks &amp; Files · AnandTech · TechPowerUp · TechRadar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Cache: RUH 25배·내구성 2~10배 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스토리지가 추론의 캐시 계층으로 승격된다: 수요는 폭증하고, 스트림 분리(RUH)·쓰기 내구성 요구는 현행 제품군을 넘는다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수요: KV Cache Offloading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RUH 갭: 현행 2~8 vs 요구 200+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DWPD 갭: 새 전략의 근거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7008" y="1792224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17922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21408" y="206654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07008" y="2194560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E5E9F2"/>
          </a:solidFill>
          <a:ln/>
        </p:spPr>
      </p:sp>
      <p:sp>
        <p:nvSpPr>
          <p:cNvPr id="20" name="Text 18"/>
          <p:cNvSpPr/>
          <p:nvPr/>
        </p:nvSpPr>
        <p:spPr>
          <a:xfrm>
            <a:off x="1207008" y="21945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DRAM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21408" y="24688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207008" y="2596896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1428A0"/>
          </a:solidFill>
          <a:ln/>
        </p:spPr>
      </p:sp>
      <p:sp>
        <p:nvSpPr>
          <p:cNvPr id="23" name="Text 21"/>
          <p:cNvSpPr/>
          <p:nvPr/>
        </p:nvSpPr>
        <p:spPr>
          <a:xfrm>
            <a:off x="1207008" y="25968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SSD: KV 캐시 계층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30540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Dynamo·CMX·LMCache·Mooncake가 SSD 계층 공식 지원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265176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34440" y="4325112"/>
            <a:ext cx="640080" cy="125730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34440" y="4450842"/>
            <a:ext cx="640080" cy="37719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0690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75~100EB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97280" y="4864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468880" y="3822192"/>
            <a:ext cx="640080" cy="251460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2468880" y="4073652"/>
            <a:ext cx="640080" cy="75438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2" name="Text 30"/>
          <p:cNvSpPr/>
          <p:nvPr/>
        </p:nvSpPr>
        <p:spPr>
          <a:xfrm>
            <a:off x="2148840" y="35661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150~200EB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31720" y="4864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" y="321868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단독 NAND 추가 수요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58368" y="5230368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2030년 AI DC NAND 워크로드 중 KV cache 비중 (SanDisk, FMS 2026) · NVL144 랙 연 5만 대 기준 연 ~0.44EB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498848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쓰기 스트림(RUH) 수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98848" y="4206240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92040" y="4129430"/>
            <a:ext cx="777240" cy="76810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39" name="Text 37"/>
          <p:cNvSpPr/>
          <p:nvPr/>
        </p:nvSpPr>
        <p:spPr>
          <a:xfrm>
            <a:off x="4663440" y="383682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2~8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572000" y="426110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FDP SSD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46520" y="2286000"/>
            <a:ext cx="777240" cy="192024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2" name="Text 40"/>
          <p:cNvSpPr/>
          <p:nvPr/>
        </p:nvSpPr>
        <p:spPr>
          <a:xfrm>
            <a:off x="6217920" y="199339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200+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126480" y="426110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CMX 오프로드 요구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34924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≈25배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98848" y="4626864"/>
            <a:ext cx="3200400" cy="768096"/>
          </a:xfrm>
          <a:prstGeom prst="roundRect">
            <a:avLst>
              <a:gd name="adj" fmla="val 5952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200+인가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세션·테넌트·공유 프리픽스·수명 등급별로 스트림을 분리해야 hot/cold 혼재로 인한 GC 증폭이 끊긴다. 소수 RUH로는 WAF 문제 지속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98848" y="548640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RUH(Reclaim Unit Handle): 수명이 같은 데이터를 같은 소거 단위에 모으는 FDP 스트림 핸들 · 요구 수준은 NVIDIA CMX 타깃 ScaleFlux 플랫폼 스펙 기준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498848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StorageReview ’26.07 · Blocks &amp; Files ’26.01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대비 2~10배 갭 (5년 보증 기준 DWPD)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275320" y="4370832"/>
            <a:ext cx="324612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0" y="4244645"/>
            <a:ext cx="566928" cy="126187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1" name="Text 49"/>
          <p:cNvSpPr/>
          <p:nvPr/>
        </p:nvSpPr>
        <p:spPr>
          <a:xfrm>
            <a:off x="8229600" y="3988613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0.6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211312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고용량 QLC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208008" y="4160520"/>
            <a:ext cx="566928" cy="210312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4" name="Text 52"/>
          <p:cNvSpPr/>
          <p:nvPr/>
        </p:nvSpPr>
        <p:spPr>
          <a:xfrm>
            <a:off x="9025128" y="39044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006840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TLC RI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0003536" y="3739896"/>
            <a:ext cx="566928" cy="630936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7" name="Text 55"/>
          <p:cNvSpPr/>
          <p:nvPr/>
        </p:nvSpPr>
        <p:spPr>
          <a:xfrm>
            <a:off x="9820656" y="34838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802368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TLC MU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10799064" y="2267712"/>
            <a:ext cx="566928" cy="630936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60" name="Shape 58"/>
          <p:cNvSpPr/>
          <p:nvPr/>
        </p:nvSpPr>
        <p:spPr>
          <a:xfrm>
            <a:off x="10799064" y="2898648"/>
            <a:ext cx="566928" cy="1472184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61" name="Text 59"/>
          <p:cNvSpPr/>
          <p:nvPr/>
        </p:nvSpPr>
        <p:spPr>
          <a:xfrm>
            <a:off x="10616184" y="20116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7~10+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0597896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요구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8311896" y="5029200"/>
            <a:ext cx="3236976" cy="1225296"/>
          </a:xfrm>
          <a:prstGeom prst="roundRect">
            <a:avLst>
              <a:gd name="adj" fmla="val 5224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476488" y="510235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실증: ScaleFlux, NVIDIA CMX 타깃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200+ FDP 스트림으로 KV 블록을 수명별 분리, WAF를 낮춰 유효 7~10+ DWPD(5년) 달성 발표(StorageReview ’26.07.30). RUH 분리 + 고내구 설계가 갭의 해법, 곧 본 전략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플라이휠, 다운턴 피해 최소화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SCA: Micron이 증명한 접근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FDP·FDE: 기술과 사람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1828800"/>
            <a:ext cx="877824" cy="877824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9536" y="3456432"/>
            <a:ext cx="877824" cy="877824"/>
          </a:xfrm>
          <a:prstGeom prst="ellipse">
            <a:avLst/>
          </a:prstGeom>
          <a:solidFill>
            <a:srgbClr val="3C5AC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798064" y="3456432"/>
            <a:ext cx="877824" cy="877824"/>
          </a:xfrm>
          <a:prstGeom prst="ellipse">
            <a:avLst/>
          </a:prstGeom>
          <a:solidFill>
            <a:srgbClr val="8FA0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 flipH="1">
            <a:off x="1371600" y="2706624"/>
            <a:ext cx="329184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773936" y="4059936"/>
            <a:ext cx="987552" cy="914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 flipV="1">
            <a:off x="2834640" y="2706624"/>
            <a:ext cx="384048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536192" y="29992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워크로드가 들어올수록 최적화가 깊어지고 전환비용이 커진다. 계약이 끝나도 갈아타기 어려운 관계가 다운턴의 방어벽이 된다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" y="5431536"/>
            <a:ext cx="3200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522976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Strategic Customer Agreement · 전략적 고객 계약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Flexible Data Placement · NVMe 데이터 배치 표준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Forward Deployed Engineer · 고객 상주 엔지니어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98848" y="179222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공급부족 협상력의 창이 열려 있을 때 워크로드 교환을 제안한다: 고객이 워크로드를 공유하면 그 워크로드에 최적화한 FDP SSD를 공급. 성능·수명 개선과 TCO 절감으로 거절하기 어려운 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98848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· Pure Storage · VAST Data · DDN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80560" y="3291840"/>
            <a:ext cx="3236976" cy="2798064"/>
          </a:xfrm>
          <a:prstGeom prst="roundRect">
            <a:avLst>
              <a:gd name="adj" fmla="val 2288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34198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선례: Micron ↔ Anthropic (’26.06)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00016" y="3730752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다년 공급 (HBM·DRAM·SSD 전 포트폴리오)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워크로드 공동 최적화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통합 (Micron 전사에 Claude 배치)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 연계 (Series H 전략 투자)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5029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16건 · 최소 매출 $100B · 예치금 $22B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45152" y="5541264"/>
            <a:ext cx="2999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워크로드를 열고 공급을 잠근 계약. 우리가 맺으려는 관계의 실물 견본이다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필요한 기술 (기존 SSD 기술 대비)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30184" y="2066544"/>
            <a:ext cx="3200400" cy="329184"/>
          </a:xfrm>
          <a:prstGeom prst="roundRect">
            <a:avLst>
              <a:gd name="adj" fmla="val 13889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· 컨트롤러 · 펌웨어 · 수율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30184" y="2450592"/>
            <a:ext cx="3200400" cy="749808"/>
          </a:xfrm>
          <a:prstGeom prst="roundRect">
            <a:avLst>
              <a:gd name="adj" fmla="val 6098"/>
            </a:avLst>
          </a:prstGeom>
          <a:solidFill>
            <a:srgbClr val="EEF1FA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블록계층·io_uring·NVMe / SPDK / DB·캐시 내부 (RocksDB·CacheLib·Ceph) / 워크로드 분석 (fio·eBPF·WAF)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30184" y="3310128"/>
            <a:ext cx="3200400" cy="694944"/>
          </a:xfrm>
          <a:prstGeom prst="roundRect">
            <a:avLst>
              <a:gd name="adj" fmla="val 6579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선례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Palantir가 창안한 직군 (코드명 Delta, 640% 주가 동력으로 회자) · Anthropic·OpenAI도 엔터프라이즈 GTM으로 채택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30184" y="4133088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06840" y="411480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현지, 오픈소스 스토리지 기여자 우대, 영어 필수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30184" y="4846320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06840" y="4828032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엔지니어 미국 로테이션 6~12개월 + 현지 FDE 멘토 페어링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30184" y="5559552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006840" y="5541264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1~2사 상주 (Pod 소속), outcome 평가 (활성화 용량), 업스트림 기여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2026-09-02T11:57:34Z</dcterms:created>
  <dcterms:modified xsi:type="dcterms:W3CDTF">2026-09-02T11:57:34Z</dcterms:modified>
</cp:coreProperties>
</file>