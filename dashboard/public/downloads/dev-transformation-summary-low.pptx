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99943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개발실 체질 전환 — 수주 이행자에서 기술 파트너로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0497312" y="310896"/>
            <a:ext cx="1234440" cy="420624"/>
          </a:xfrm>
          <a:prstGeom prst="roundRect">
            <a:avLst>
              <a:gd name="adj" fmla="val 21739"/>
            </a:avLst>
          </a:prstGeom>
          <a:solidFill>
            <a:srgbClr val="EFF3F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디테일 하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6510528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삼성전자 메모리사업부 · 개발실 체질 전환 전략 요약 · 2026-07-24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589520" y="6510528"/>
            <a:ext cx="4142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원천: wiki/strategies/dev-org-transformation.md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932688"/>
            <a:ext cx="5541264" cy="859536"/>
          </a:xfrm>
          <a:prstGeom prst="roundRect">
            <a:avLst>
              <a:gd name="adj" fmla="val 9574"/>
            </a:avLst>
          </a:prstGeom>
          <a:solidFill>
            <a:srgbClr val="F5F7F8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005840"/>
            <a:ext cx="5175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450" b="1" i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“고객의 아키텍처 안으로 들어가 수요를 함께 설계하는 기업이 이긴다”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640080" y="1490472"/>
            <a:ext cx="5175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신문섭 파트너, AI 인프라 슈퍼사이클 인터뷰 (2026-06)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190488" y="932688"/>
            <a:ext cx="5541264" cy="859536"/>
          </a:xfrm>
          <a:prstGeom prst="roundRect">
            <a:avLst>
              <a:gd name="adj" fmla="val 9574"/>
            </a:avLst>
          </a:prstGeom>
          <a:solidFill>
            <a:srgbClr val="F5F7F8"/>
          </a:solidFill>
          <a:ln/>
        </p:spPr>
      </p:sp>
      <p:sp>
        <p:nvSpPr>
          <p:cNvPr id="10" name="Text 8"/>
          <p:cNvSpPr/>
          <p:nvPr/>
        </p:nvSpPr>
        <p:spPr>
          <a:xfrm>
            <a:off x="6373368" y="1005840"/>
            <a:ext cx="5175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450" b="1" i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“조직의 이름 뒤에 숨지 않고, 자신의 이름으로 불리며 책임과 결과를 마주한다”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6373368" y="1490472"/>
            <a:ext cx="5175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송길영, 『시대예보: 호명사회』 (2024)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2011680" y="1920240"/>
            <a:ext cx="3200400" cy="1554480"/>
          </a:xfrm>
          <a:prstGeom prst="roundRect">
            <a:avLst>
              <a:gd name="adj" fmla="val 5882"/>
            </a:avLst>
          </a:prstGeom>
          <a:solidFill>
            <a:srgbClr val="F5F7F8"/>
          </a:solidFill>
          <a:ln w="15875">
            <a:solidFill>
              <a:srgbClr val="DCE4E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383280" y="2066544"/>
            <a:ext cx="457200" cy="457200"/>
          </a:xfrm>
          <a:prstGeom prst="ellipse">
            <a:avLst/>
          </a:prstGeom>
          <a:solidFill>
            <a:srgbClr val="5A7184"/>
          </a:solidFill>
          <a:ln/>
        </p:spPr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93008" y="2176272"/>
            <a:ext cx="237744" cy="237744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2103120" y="2560320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수주 이행자</a:t>
            </a:r>
            <a:endParaRPr lang="en-US" sz="2100" dirty="0"/>
          </a:p>
        </p:txBody>
      </p:sp>
      <p:sp>
        <p:nvSpPr>
          <p:cNvPr id="16" name="Text 13"/>
          <p:cNvSpPr/>
          <p:nvPr/>
        </p:nvSpPr>
        <p:spPr>
          <a:xfrm>
            <a:off x="2103120" y="2962656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스펙 수령 · RFQ 응답 · QCD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5285232" y="2286000"/>
            <a:ext cx="1591056" cy="822960"/>
          </a:xfrm>
          <a:prstGeom prst="rightArrow">
            <a:avLst/>
          </a:prstGeom>
          <a:solidFill>
            <a:srgbClr val="02809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LTA →</a:t>
            </a:r>
            <a:endParaRPr lang="en-US" sz="11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전략적 고객 계약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949440" y="1920240"/>
            <a:ext cx="3200400" cy="1554480"/>
          </a:xfrm>
          <a:prstGeom prst="roundRect">
            <a:avLst>
              <a:gd name="adj" fmla="val 5882"/>
            </a:avLst>
          </a:prstGeom>
          <a:solidFill>
            <a:srgbClr val="E8F6F0"/>
          </a:solidFill>
          <a:ln w="19050">
            <a:solidFill>
              <a:srgbClr val="02A878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321040" y="2066544"/>
            <a:ext cx="457200" cy="457200"/>
          </a:xfrm>
          <a:prstGeom prst="ellipse">
            <a:avLst/>
          </a:prstGeom>
          <a:solidFill>
            <a:srgbClr val="02A878"/>
          </a:solidFill>
          <a:ln/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30768" y="2176272"/>
            <a:ext cx="237744" cy="237744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7040880" y="2560320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02A8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 파트너</a:t>
            </a:r>
            <a:endParaRPr lang="en-US" sz="2100" dirty="0"/>
          </a:p>
        </p:txBody>
      </p:sp>
      <p:sp>
        <p:nvSpPr>
          <p:cNvPr id="22" name="Text 18"/>
          <p:cNvSpPr/>
          <p:nvPr/>
        </p:nvSpPr>
        <p:spPr>
          <a:xfrm>
            <a:off x="6949440" y="2962656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 공동 정의 · 선제 제안 · 시스템 모델</a:t>
            </a:r>
            <a:endParaRPr lang="en-US" sz="1250" dirty="0"/>
          </a:p>
        </p:txBody>
      </p:sp>
      <p:sp>
        <p:nvSpPr>
          <p:cNvPr id="23" name="Shape 19"/>
          <p:cNvSpPr/>
          <p:nvPr/>
        </p:nvSpPr>
        <p:spPr>
          <a:xfrm>
            <a:off x="1463040" y="3675888"/>
            <a:ext cx="9262872" cy="731520"/>
          </a:xfrm>
          <a:prstGeom prst="roundRect">
            <a:avLst>
              <a:gd name="adj" fmla="val 10000"/>
            </a:avLst>
          </a:prstGeom>
          <a:solidFill>
            <a:srgbClr val="E8F6F0"/>
          </a:solidFill>
          <a:ln w="15875">
            <a:solidFill>
              <a:srgbClr val="02A878"/>
            </a:solidFill>
            <a:prstDash val="solid"/>
          </a:ln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5920" y="3858768"/>
            <a:ext cx="365760" cy="365760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2139696" y="3675888"/>
            <a:ext cx="840333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전략 — FDE(Forward Deployed Engineer)를 스타 플레이어로, 고객사와 기술 생태계를 함께 만든다</a:t>
            </a: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‘모난 놈이 정 맞는’ 기존 문화에서 → 스타를 호명하고 드러내는 문화로</a:t>
            </a:r>
            <a:endParaRPr lang="en-US" sz="1450" dirty="0"/>
          </a:p>
        </p:txBody>
      </p:sp>
      <p:sp>
        <p:nvSpPr>
          <p:cNvPr id="26" name="Text 21"/>
          <p:cNvSpPr/>
          <p:nvPr/>
        </p:nvSpPr>
        <p:spPr>
          <a:xfrm>
            <a:off x="457200" y="4773168"/>
            <a:ext cx="11274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환경도 바뀌었다 — 스타를 영입할 수 있는 임금 수준</a:t>
            </a:r>
            <a:endParaRPr lang="en-US" sz="1500" dirty="0"/>
          </a:p>
        </p:txBody>
      </p:sp>
      <p:sp>
        <p:nvSpPr>
          <p:cNvPr id="27" name="Text 22"/>
          <p:cNvSpPr/>
          <p:nvPr/>
        </p:nvSpPr>
        <p:spPr>
          <a:xfrm>
            <a:off x="749808" y="5157216"/>
            <a:ext cx="3108960" cy="804672"/>
          </a:xfrm>
          <a:prstGeom prst="roundRect">
            <a:avLst>
              <a:gd name="adj" fmla="val 9091"/>
            </a:avLst>
          </a:prstGeom>
          <a:solidFill>
            <a:srgbClr val="E7ECEF"/>
          </a:solidFill>
          <a:ln w="15875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과거</a:t>
            </a:r>
            <a:endParaRPr lang="en-US" sz="135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실리콘밸리 수준에 못 미친 보상</a:t>
            </a:r>
            <a:endParaRPr lang="en-US" sz="1350" dirty="0"/>
          </a:p>
        </p:txBody>
      </p:sp>
      <p:sp>
        <p:nvSpPr>
          <p:cNvPr id="28" name="Text 23"/>
          <p:cNvSpPr/>
          <p:nvPr/>
        </p:nvSpPr>
        <p:spPr>
          <a:xfrm>
            <a:off x="3858768" y="5157216"/>
            <a:ext cx="2743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400" dirty="0"/>
          </a:p>
        </p:txBody>
      </p:sp>
      <p:sp>
        <p:nvSpPr>
          <p:cNvPr id="29" name="Text 24"/>
          <p:cNvSpPr/>
          <p:nvPr/>
        </p:nvSpPr>
        <p:spPr>
          <a:xfrm>
            <a:off x="4133088" y="5157216"/>
            <a:ext cx="3383280" cy="804672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5875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</a:t>
            </a:r>
            <a:endParaRPr lang="en-US" sz="135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성과급 ~6억 · 상한 철폐 · 영입 가능 수준</a:t>
            </a:r>
            <a:endParaRPr lang="en-US" sz="1350" dirty="0"/>
          </a:p>
        </p:txBody>
      </p:sp>
      <p:sp>
        <p:nvSpPr>
          <p:cNvPr id="30" name="Text 25"/>
          <p:cNvSpPr/>
          <p:nvPr/>
        </p:nvSpPr>
        <p:spPr>
          <a:xfrm>
            <a:off x="7516368" y="5157216"/>
            <a:ext cx="2743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400" dirty="0"/>
          </a:p>
        </p:txBody>
      </p:sp>
      <p:sp>
        <p:nvSpPr>
          <p:cNvPr id="31" name="Text 26"/>
          <p:cNvSpPr/>
          <p:nvPr/>
        </p:nvSpPr>
        <p:spPr>
          <a:xfrm>
            <a:off x="7790688" y="5157216"/>
            <a:ext cx="3657600" cy="804672"/>
          </a:xfrm>
          <a:prstGeom prst="roundRect">
            <a:avLst>
              <a:gd name="adj" fmla="val 9091"/>
            </a:avLst>
          </a:prstGeom>
          <a:solidFill>
            <a:srgbClr val="E8F6F0"/>
          </a:solidFill>
          <a:ln w="19050">
            <a:solidFill>
              <a:srgbClr val="02A87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선순환 기대</a:t>
            </a:r>
            <a:endParaRPr lang="en-US" sz="135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스타 영입 축적 → 조직 전반 수준 상향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2026-09-01T11:00:34Z</dcterms:created>
  <dcterms:modified xsi:type="dcterms:W3CDTF">2026-09-01T11:00:34Z</dcterms:modified>
</cp:coreProperties>
</file>