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단독 열람용 요약입니다. 무엇을: FDP로 판매되는 SSD 비중을 늘리는 세 번째 비중 전환. 왜: 최대 고객의 자체 SSD 이동과 하강기 완충재 방어, 그리고 공급자 우위라는 지렛대의 시한. 어떻게: 물량과 워크로드를 교환하는 제휴 패키지, 제품(기존 조직)과 생태계(오픈소스 증원)의 두 트랙. 결정 요청 두 가지와 성과 지표를 하단에 명시했습니다.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삼성 SSD 20년은 우연이 아니라 같은 패턴의 세 번 반복입니다. 자기잠식을 무릅쓴 선제 결단, 표준 주도자보다 빠른 실행, 솔루션 부가가치. 세 선택 모두 목적은 메모리 사이클의 진폭을 줄이는 것이었고, 2019년 하강기에 완충 효과가 실측됐습니다.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쏠림 자체가 아니라 되돌릴 수 없는 방식의 쏠림이 문제이며, 소비자 채널은 외주 생산 활용으로 유지 비용을 낮추는 별도 트랙이 진행 중입니다(복귀 통로 유지). 통제권 상승은 10년간 한 방향이었지만, 되돌아오지 않는 것은 역량이고 물량 배분은 TCO가 결정하는 가역 영역입니다 — 우리의 싸움은 배분의 방어입니다. 가트너 전망의 원 수치는 2023년 5% 미만에서 2026년 30% 초과이며 기업(온프레미스) 저장 인프라 기준입니다. 대형 클라우드 자체 설계 비중의 공식 통계는 없어 정황 지표(웨이퍼 직구매 +246%, 아마존 Nitro, 구글 Titanium)를 주근거로 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풀커스텀은 고객당 부채를 쌓는 구조라 지속 불가능합니다. 왜 이번에는 다른가: 앞 세대 배치 표준(Streams·ZNS)은 호스트 소프트웨어 부담으로 실패했지만, FDP는 힌트를 주지 않아도 동작하는 하위 호환 설계라 호스트 복잡도가 구조적으로 낮고, 수요자(구글·메타)가 설계했으며, 리눅스 커널 6.16이 블록 write streams로 수용해 메인라인 진입을 시작했습니다. 남은 공백은 응용·AI 계층(LMCache 등) — 오픈소스 조직 투자의 표적입니다. 효과가 워크로드 의존적이라는 한계는 곧 고객 협업이 전략의 핵심 부품이라는 증거입니다. NVIDIA의 CMX·SCADA는 GPU 직결 스토리지라는 다른 응용 분야로, 호스트 경로 표준인 FDP와 구분해 병행합니다.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워크로드 정보는 전략의 원료인데 고객은 쉽게 내주지 않습니다. 공급 부족인 지금이 물량과 맞바꿀 유일한 계절이며, 체결 데드라인은 다운턴 조기경보와 연동해 관리합니다. 마이크론 앤트로픽 계약은 구조의 선례이고(워크로드 공유 깊이는 비공개), 고객 유형에 따라 구글형(직접 계약)과 AI 네이티브형(3자 구조)으로 설계가 갈립니다. 수익화 원칙: 소프트웨어는 기본 탑재 무과금, 회수는 하드웨어 점유율과 가격 결정력. 결정 요청 두 가지와 실행 과제 6건(KV Cache FDP 업스트림 1호 과제 포함)은 보고서 부록 D를 참조합니다.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삼성 SSD 전략적 방향성 · 요약</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5000"/>
              </a:lnSpc>
            </a:pPr>
            <a:r>
              <a:rPr sz="3300" b="1">
                <a:solidFill>
                  <a:srgbClr val="1A1A1A"/>
                </a:solidFill>
                <a:latin typeface="Arial"/>
                <a:ea typeface="Arial"/>
              </a:rPr>
              <a:t>커스텀 요구를 표준(FDP)으로 흡수하는 세 번째 비중 전환을 시작합니다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5000"/>
              </a:lnSpc>
            </a:pPr>
            <a:r>
              <a:rPr sz="2100" b="0">
                <a:solidFill>
                  <a:srgbClr val="555555"/>
                </a:solidFill>
                <a:latin typeface="Arial"/>
                <a:ea typeface="Arial"/>
              </a:rPr>
              <a:t>이 장은 무엇을, 왜, 어떻게만 요약합니다. 배경과 근거는 본편 4장에 있습니다.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 y="2697480"/>
            <a:ext cx="5413248" cy="4315968"/>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0088"/>
            <a:ext cx="4754880"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무엇을 합니까</a:t>
            </a:r>
          </a:p>
        </p:txBody>
      </p:sp>
      <p:sp>
        <p:nvSpPr>
          <p:cNvPr id="10" name="TextBox 9"/>
          <p:cNvSpPr txBox="1"/>
          <p:nvPr/>
        </p:nvSpPr>
        <p:spPr>
          <a:xfrm>
            <a:off x="1051560" y="3429000"/>
            <a:ext cx="4754880" cy="93268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FDP로 판매되는 SSD 비중을 늘립니다</a:t>
            </a:r>
          </a:p>
        </p:txBody>
      </p:sp>
      <p:sp>
        <p:nvSpPr>
          <p:cNvPr id="11" name="TextBox 10"/>
          <p:cNvSpPr txBox="1"/>
          <p:nvPr/>
        </p:nvSpPr>
        <p:spPr>
          <a:xfrm>
            <a:off x="1051560" y="4489703"/>
            <a:ext cx="4754880" cy="2267711"/>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낸드를 SSD로(2005), SSD를 서버 SSD로(2017)에 이은 세 번째 비중 전환입니다. FDP 표준 제품 위에 시스템 소프트웨어 생태계를 얹어, 고객별 커스텀 개발 없이 워크로드 최적화를 제공합니다.</a:t>
            </a:r>
          </a:p>
        </p:txBody>
      </p:sp>
      <p:sp>
        <p:nvSpPr>
          <p:cNvPr id="12" name="Rectangle 11"/>
          <p:cNvSpPr/>
          <p:nvPr/>
        </p:nvSpPr>
        <p:spPr>
          <a:xfrm>
            <a:off x="6437376" y="2697480"/>
            <a:ext cx="5413248" cy="4315968"/>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2990088"/>
            <a:ext cx="4754880"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왜 지금입니까</a:t>
            </a:r>
          </a:p>
        </p:txBody>
      </p:sp>
      <p:sp>
        <p:nvSpPr>
          <p:cNvPr id="14" name="TextBox 13"/>
          <p:cNvSpPr txBox="1"/>
          <p:nvPr/>
        </p:nvSpPr>
        <p:spPr>
          <a:xfrm>
            <a:off x="6766560" y="3429000"/>
            <a:ext cx="4754880" cy="93268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최대 고객이 자체 SSD로 이동 중이고, 지렛대는 지금뿐입니다</a:t>
            </a:r>
          </a:p>
        </p:txBody>
      </p:sp>
      <p:sp>
        <p:nvSpPr>
          <p:cNvPr id="15" name="TextBox 14"/>
          <p:cNvSpPr txBox="1"/>
          <p:nvPr/>
        </p:nvSpPr>
        <p:spPr>
          <a:xfrm>
            <a:off x="6766560" y="4489703"/>
            <a:ext cx="4754880" cy="2267711"/>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대형 클라우드 사업자가 낸드 웨이퍼를 직접 사서(1년 새 +246%) 자체 SSD를 만듭니다. 하강기 완충재인 SSD 사업을 지키려면, 고객이 물량을 아쉬워하는 공급자 우위 국면에 워크로드 협력을 얻어야 합니다.</a:t>
            </a:r>
          </a:p>
        </p:txBody>
      </p:sp>
      <p:sp>
        <p:nvSpPr>
          <p:cNvPr id="16" name="Rectangle 15"/>
          <p:cNvSpPr/>
          <p:nvPr/>
        </p:nvSpPr>
        <p:spPr>
          <a:xfrm>
            <a:off x="12152376" y="2697480"/>
            <a:ext cx="5413248" cy="4315968"/>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81559" y="2990088"/>
            <a:ext cx="4754880"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어떻게 합니까</a:t>
            </a:r>
          </a:p>
        </p:txBody>
      </p:sp>
      <p:sp>
        <p:nvSpPr>
          <p:cNvPr id="18" name="TextBox 17"/>
          <p:cNvSpPr txBox="1"/>
          <p:nvPr/>
        </p:nvSpPr>
        <p:spPr>
          <a:xfrm>
            <a:off x="12481559" y="3429000"/>
            <a:ext cx="4754880" cy="93268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물량을 주고 워크로드를 받고, 생태계로 잠급니다</a:t>
            </a:r>
          </a:p>
        </p:txBody>
      </p:sp>
      <p:sp>
        <p:nvSpPr>
          <p:cNvPr id="19" name="TextBox 18"/>
          <p:cNvSpPr txBox="1"/>
          <p:nvPr/>
        </p:nvSpPr>
        <p:spPr>
          <a:xfrm>
            <a:off x="12481559" y="4489703"/>
            <a:ext cx="4754880" cy="2267711"/>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장기 물량과 워크로드 협력을 한 계약으로 묶고(1순위 구글, 선례 마이크론과 앤트로픽), FDP 제품은 기존 조직으로, 생태계는 오픈소스 조직 증원으로 갑니다. 리눅스 커널 6.16의 FDP 수용으로 생태계의 문이 열렸습니다.</a:t>
            </a:r>
          </a:p>
        </p:txBody>
      </p:sp>
      <p:sp>
        <p:nvSpPr>
          <p:cNvPr id="20" name="Rectangle 19"/>
          <p:cNvSpPr/>
          <p:nvPr/>
        </p:nvSpPr>
        <p:spPr>
          <a:xfrm>
            <a:off x="722376" y="7269480"/>
            <a:ext cx="16843248" cy="20116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79576" y="7507224"/>
            <a:ext cx="15928848" cy="292608"/>
          </a:xfrm>
          <a:prstGeom prst="rect">
            <a:avLst/>
          </a:prstGeom>
          <a:noFill/>
        </p:spPr>
        <p:txBody>
          <a:bodyPr wrap="square" anchor="t" lIns="0" rIns="0" tIns="0" bIns="0">
            <a:spAutoFit/>
          </a:bodyPr>
          <a:lstStyle/>
          <a:p>
            <a:pPr algn="l">
              <a:lnSpc>
                <a:spcPct val="115000"/>
              </a:lnSpc>
            </a:pPr>
            <a:r>
              <a:rPr sz="1875" b="0">
                <a:solidFill>
                  <a:srgbClr val="FFFFFF"/>
                </a:solidFill>
                <a:latin typeface="Arial"/>
                <a:ea typeface="Arial"/>
              </a:rPr>
              <a:t>결정 요청</a:t>
            </a:r>
          </a:p>
        </p:txBody>
      </p:sp>
      <p:sp>
        <p:nvSpPr>
          <p:cNvPr id="22" name="TextBox 21"/>
          <p:cNvSpPr txBox="1"/>
          <p:nvPr/>
        </p:nvSpPr>
        <p:spPr>
          <a:xfrm>
            <a:off x="1179576" y="7872983"/>
            <a:ext cx="15928848" cy="548640"/>
          </a:xfrm>
          <a:prstGeom prst="rect">
            <a:avLst/>
          </a:prstGeom>
          <a:noFill/>
        </p:spPr>
        <p:txBody>
          <a:bodyPr wrap="square" anchor="t" lIns="0" rIns="0" tIns="0" bIns="0">
            <a:spAutoFit/>
          </a:bodyPr>
          <a:lstStyle/>
          <a:p>
            <a:pPr algn="l">
              <a:lnSpc>
                <a:spcPct val="115000"/>
              </a:lnSpc>
            </a:pPr>
            <a:r>
              <a:rPr sz="2550" b="1">
                <a:solidFill>
                  <a:srgbClr val="FFFFFF"/>
                </a:solidFill>
                <a:latin typeface="Arial"/>
                <a:ea typeface="Arial"/>
              </a:rPr>
              <a:t>1순위 고객 제휴 패키지 추진과 오픈소스 생태계 조직 증원, 두 가지를 요청드립니다</a:t>
            </a:r>
          </a:p>
        </p:txBody>
      </p:sp>
      <p:sp>
        <p:nvSpPr>
          <p:cNvPr id="23" name="TextBox 22"/>
          <p:cNvSpPr txBox="1"/>
          <p:nvPr/>
        </p:nvSpPr>
        <p:spPr>
          <a:xfrm>
            <a:off x="1179576" y="8494776"/>
            <a:ext cx="15928848" cy="658368"/>
          </a:xfrm>
          <a:prstGeom prst="rect">
            <a:avLst/>
          </a:prstGeom>
          <a:noFill/>
        </p:spPr>
        <p:txBody>
          <a:bodyPr wrap="square" anchor="t" lIns="0" rIns="0" tIns="0" bIns="0">
            <a:spAutoFit/>
          </a:bodyPr>
          <a:lstStyle/>
          <a:p>
            <a:pPr algn="l">
              <a:lnSpc>
                <a:spcPct val="115000"/>
              </a:lnSpc>
            </a:pPr>
            <a:r>
              <a:rPr sz="1875" b="0">
                <a:solidFill>
                  <a:srgbClr val="AAB8E8"/>
                </a:solidFill>
                <a:latin typeface="Arial"/>
                <a:ea typeface="Arial"/>
              </a:rPr>
              <a:t>성과 지표: 고객 시스템에서 실제 활성화된 FDP 용량 · 자체 설계 계획에서 완제품으로 돌아온 물량</a:t>
            </a:r>
          </a:p>
        </p:txBody>
      </p:sp>
      <p:sp>
        <p:nvSpPr>
          <p:cNvPr id="24" name="TextBox 23"/>
          <p:cNvSpPr txBox="1"/>
          <p:nvPr/>
        </p:nvSpPr>
        <p:spPr>
          <a:xfrm>
            <a:off x="722376" y="9592056"/>
            <a:ext cx="14264640"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출처: 삼성 SSD 전략적 방향성 보고서 v1.1 (2026년 8월) · 상세 근거는 본편 4장</a:t>
            </a:r>
          </a:p>
        </p:txBody>
      </p:sp>
      <p:sp>
        <p:nvSpPr>
          <p:cNvPr id="25" name="TextBox 24"/>
          <p:cNvSpPr txBox="1"/>
          <p:nvPr/>
        </p:nvSpPr>
        <p:spPr>
          <a:xfrm>
            <a:off x="16047720" y="9592056"/>
            <a:ext cx="1517904"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01 /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역사</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5000"/>
              </a:lnSpc>
            </a:pPr>
            <a:r>
              <a:rPr sz="3300" b="1">
                <a:solidFill>
                  <a:srgbClr val="1A1A1A"/>
                </a:solidFill>
                <a:latin typeface="Arial"/>
                <a:ea typeface="Arial"/>
              </a:rPr>
              <a:t>지난 20년, 사이클의 진폭을 줄이는 같은 선택을 세 번 반복했습니다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5000"/>
              </a:lnSpc>
            </a:pPr>
            <a:r>
              <a:rPr sz="2100" b="0">
                <a:solidFill>
                  <a:srgbClr val="555555"/>
                </a:solidFill>
                <a:latin typeface="Arial"/>
                <a:ea typeface="Arial"/>
              </a:rPr>
              <a:t>자기잠식을 무릅쓴 진출과 표준보다 빠른 실행, 데이터센터 집중이 오늘의 1위를 만들었습니다. 목적은 늘 하나였습니다.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 y="2697480"/>
            <a:ext cx="5413248" cy="4133087"/>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0088"/>
            <a:ext cx="4754880"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첫 번째 선택 · 2005 진출</a:t>
            </a:r>
          </a:p>
        </p:txBody>
      </p:sp>
      <p:sp>
        <p:nvSpPr>
          <p:cNvPr id="10" name="TextBox 9"/>
          <p:cNvSpPr txBox="1"/>
          <p:nvPr/>
        </p:nvSpPr>
        <p:spPr>
          <a:xfrm>
            <a:off x="1051560" y="3429000"/>
            <a:ext cx="4754880" cy="93268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HDD를 지키는 대신, HDD를 대체할 SSD를 먼저 만들었습니다</a:t>
            </a:r>
          </a:p>
        </p:txBody>
      </p:sp>
      <p:sp>
        <p:nvSpPr>
          <p:cNvPr id="11" name="TextBox 10"/>
          <p:cNvSpPr txBox="1"/>
          <p:nvPr/>
        </p:nvSpPr>
        <p:spPr>
          <a:xfrm>
            <a:off x="1051560" y="4489703"/>
            <a:ext cx="4754880" cy="2084831"/>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2006년 세계 최초 SSD 양산으로 낸드의 초장기 수요처를 열었고, 2011년 HDD 사업을 약 14억 달러에 매각해 SSD로 일원화했습니다. 2013년 점유율 28.5%로 1위에 올랐습니다.</a:t>
            </a:r>
          </a:p>
        </p:txBody>
      </p:sp>
      <p:sp>
        <p:nvSpPr>
          <p:cNvPr id="12" name="Rectangle 11"/>
          <p:cNvSpPr/>
          <p:nvPr/>
        </p:nvSpPr>
        <p:spPr>
          <a:xfrm>
            <a:off x="6437376" y="2697480"/>
            <a:ext cx="5413248" cy="4133087"/>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0" y="2990088"/>
            <a:ext cx="4754880"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두 번째 선택 · 2013 표준 선행</a:t>
            </a:r>
          </a:p>
        </p:txBody>
      </p:sp>
      <p:sp>
        <p:nvSpPr>
          <p:cNvPr id="14" name="TextBox 13"/>
          <p:cNvSpPr txBox="1"/>
          <p:nvPr/>
        </p:nvSpPr>
        <p:spPr>
          <a:xfrm>
            <a:off x="6766560" y="3429000"/>
            <a:ext cx="4754880" cy="93268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표준은 인텔이 주도했지만, 첫 제품은 삼성이 냈습니다</a:t>
            </a:r>
          </a:p>
        </p:txBody>
      </p:sp>
      <p:sp>
        <p:nvSpPr>
          <p:cNvPr id="15" name="TextBox 14"/>
          <p:cNvSpPr txBox="1"/>
          <p:nvPr/>
        </p:nvSpPr>
        <p:spPr>
          <a:xfrm>
            <a:off x="6766560" y="4489703"/>
            <a:ext cx="4754880" cy="2084831"/>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업계 최초 NVMe SSD(XS1715)를 표준 주도자 인텔보다 약 1년 먼저 냈습니다. 빠른 결단과 실행의 동시 증명이며, 인텔은 이후 스토리지에서 퇴장했습니다.</a:t>
            </a:r>
          </a:p>
        </p:txBody>
      </p:sp>
      <p:sp>
        <p:nvSpPr>
          <p:cNvPr id="16" name="Rectangle 15"/>
          <p:cNvSpPr/>
          <p:nvPr/>
        </p:nvSpPr>
        <p:spPr>
          <a:xfrm>
            <a:off x="12152376" y="2697480"/>
            <a:ext cx="5413248" cy="4133087"/>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481559" y="2990088"/>
            <a:ext cx="4754880"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세 번째 선택 · 2017 데이터센터 집중</a:t>
            </a:r>
          </a:p>
        </p:txBody>
      </p:sp>
      <p:sp>
        <p:nvSpPr>
          <p:cNvPr id="18" name="TextBox 17"/>
          <p:cNvSpPr txBox="1"/>
          <p:nvPr/>
        </p:nvSpPr>
        <p:spPr>
          <a:xfrm>
            <a:off x="12481559" y="3429000"/>
            <a:ext cx="4754880" cy="93268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전담 조직과 기술 내재화로 서버 1위를 지키고 있습니다</a:t>
            </a:r>
          </a:p>
        </p:txBody>
      </p:sp>
      <p:sp>
        <p:nvSpPr>
          <p:cNvPr id="19" name="TextBox 18"/>
          <p:cNvSpPr txBox="1"/>
          <p:nvPr/>
        </p:nvSpPr>
        <p:spPr>
          <a:xfrm>
            <a:off x="12481559" y="4489703"/>
            <a:ext cx="4754880" cy="2084831"/>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데이터센터 전용 기술 내재화와 전담 개발 조직의 결과로, 2026년 1분기 기업용 SSD 38.2% 1위와 엔비디아 인공지능 PC · GPU 서버 동시 채용으로 이어졌습니다.</a:t>
            </a:r>
          </a:p>
        </p:txBody>
      </p:sp>
      <p:sp>
        <p:nvSpPr>
          <p:cNvPr id="20" name="Rectangle 19"/>
          <p:cNvSpPr/>
          <p:nvPr/>
        </p:nvSpPr>
        <p:spPr>
          <a:xfrm>
            <a:off x="722376" y="7123176"/>
            <a:ext cx="16843248" cy="215798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79576" y="7360920"/>
            <a:ext cx="15928848" cy="292608"/>
          </a:xfrm>
          <a:prstGeom prst="rect">
            <a:avLst/>
          </a:prstGeom>
          <a:noFill/>
        </p:spPr>
        <p:txBody>
          <a:bodyPr wrap="square" anchor="t" lIns="0" rIns="0" tIns="0" bIns="0">
            <a:spAutoFit/>
          </a:bodyPr>
          <a:lstStyle/>
          <a:p>
            <a:pPr algn="l">
              <a:lnSpc>
                <a:spcPct val="115000"/>
              </a:lnSpc>
            </a:pPr>
            <a:r>
              <a:rPr sz="1875" b="0">
                <a:solidFill>
                  <a:srgbClr val="FFFFFF"/>
                </a:solidFill>
                <a:latin typeface="Arial"/>
                <a:ea typeface="Arial"/>
              </a:rPr>
              <a:t>공통 구조</a:t>
            </a:r>
          </a:p>
        </p:txBody>
      </p:sp>
      <p:sp>
        <p:nvSpPr>
          <p:cNvPr id="22" name="TextBox 21"/>
          <p:cNvSpPr txBox="1"/>
          <p:nvPr/>
        </p:nvSpPr>
        <p:spPr>
          <a:xfrm>
            <a:off x="1179576" y="7726679"/>
            <a:ext cx="15928848" cy="548640"/>
          </a:xfrm>
          <a:prstGeom prst="rect">
            <a:avLst/>
          </a:prstGeom>
          <a:noFill/>
        </p:spPr>
        <p:txBody>
          <a:bodyPr wrap="square" anchor="t" lIns="0" rIns="0" tIns="0" bIns="0">
            <a:spAutoFit/>
          </a:bodyPr>
          <a:lstStyle/>
          <a:p>
            <a:pPr algn="l">
              <a:lnSpc>
                <a:spcPct val="115000"/>
              </a:lnSpc>
            </a:pPr>
            <a:r>
              <a:rPr sz="2550" b="1">
                <a:solidFill>
                  <a:srgbClr val="FFFFFF"/>
                </a:solidFill>
                <a:latin typeface="Arial"/>
                <a:ea typeface="Arial"/>
              </a:rPr>
              <a:t>아직 아프지 않을 때 결단하고, 남보다 빨리 실행해, 부가가치를 한 계층 위로 옮겼습니다</a:t>
            </a:r>
          </a:p>
        </p:txBody>
      </p:sp>
      <p:sp>
        <p:nvSpPr>
          <p:cNvPr id="23" name="TextBox 22"/>
          <p:cNvSpPr txBox="1"/>
          <p:nvPr/>
        </p:nvSpPr>
        <p:spPr>
          <a:xfrm>
            <a:off x="1179576" y="8494776"/>
            <a:ext cx="15928848" cy="658368"/>
          </a:xfrm>
          <a:prstGeom prst="rect">
            <a:avLst/>
          </a:prstGeom>
          <a:noFill/>
        </p:spPr>
        <p:txBody>
          <a:bodyPr wrap="square" anchor="t" lIns="0" rIns="0" tIns="0" bIns="0">
            <a:spAutoFit/>
          </a:bodyPr>
          <a:lstStyle/>
          <a:p>
            <a:pPr algn="l">
              <a:lnSpc>
                <a:spcPct val="115000"/>
              </a:lnSpc>
            </a:pPr>
            <a:r>
              <a:rPr sz="1875" b="0">
                <a:solidFill>
                  <a:srgbClr val="AAB8E8"/>
                </a:solidFill>
                <a:latin typeface="Arial"/>
                <a:ea typeface="Arial"/>
              </a:rPr>
              <a:t>실증: 2019년 하강기에 반도체 영업이익이 69% 급감하는 동안, 스토리지 솔루션은 약 0.9조 원 적자(추정)에 그쳤습니다. 믹스가 완충재였습니다.</a:t>
            </a:r>
          </a:p>
        </p:txBody>
      </p:sp>
      <p:sp>
        <p:nvSpPr>
          <p:cNvPr id="24" name="TextBox 23"/>
          <p:cNvSpPr txBox="1"/>
          <p:nvPr/>
        </p:nvSpPr>
        <p:spPr>
          <a:xfrm>
            <a:off x="722376" y="9592056"/>
            <a:ext cx="14264640"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출처: 스토리지 솔루션 사업사 리서치 · SSD 시장 전환기 리서치 · 기업용 SSD 2026년 1분기 집계 (2026년 8월)</a:t>
            </a:r>
          </a:p>
        </p:txBody>
      </p:sp>
      <p:sp>
        <p:nvSpPr>
          <p:cNvPr id="25" name="TextBox 24"/>
          <p:cNvSpPr txBox="1"/>
          <p:nvPr/>
        </p:nvSpPr>
        <p:spPr>
          <a:xfrm>
            <a:off x="16047720" y="9592056"/>
            <a:ext cx="1517904"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02 / 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균열</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5000"/>
              </a:lnSpc>
            </a:pPr>
            <a:r>
              <a:rPr sz="3300" b="1">
                <a:solidFill>
                  <a:srgbClr val="1A1A1A"/>
                </a:solidFill>
                <a:latin typeface="Arial"/>
                <a:ea typeface="Arial"/>
              </a:rPr>
              <a:t>호황이 완충재를 줄이게 하고, 최대 고객을 경쟁자로 만들고 있습니다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5000"/>
              </a:lnSpc>
            </a:pPr>
            <a:r>
              <a:rPr sz="2100" b="0">
                <a:solidFill>
                  <a:srgbClr val="555555"/>
                </a:solidFill>
                <a:latin typeface="Arial"/>
                <a:ea typeface="Arial"/>
              </a:rPr>
              <a:t>믹스는 서버로 쏠리고, 대형 클라우드 사업자는 낸드를 직접 사서 자체 SSD를 만듭니다. 하강기에는 두 균열이 동시에 작동합니다.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 y="2697480"/>
            <a:ext cx="8266175" cy="49560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0088"/>
            <a:ext cx="7607807"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균열 1 · 믹스 쏠림</a:t>
            </a:r>
          </a:p>
        </p:txBody>
      </p:sp>
      <p:sp>
        <p:nvSpPr>
          <p:cNvPr id="10" name="TextBox 9"/>
          <p:cNvSpPr txBox="1"/>
          <p:nvPr/>
        </p:nvSpPr>
        <p:spPr>
          <a:xfrm>
            <a:off x="1051560" y="3429000"/>
            <a:ext cx="7607807" cy="38404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이익을 좇는 쏠림이 하강기의 완충재를 지웁니다</a:t>
            </a:r>
          </a:p>
        </p:txBody>
      </p:sp>
      <p:sp>
        <p:nvSpPr>
          <p:cNvPr id="11" name="TextBox 10"/>
          <p:cNvSpPr txBox="1"/>
          <p:nvPr/>
        </p:nvSpPr>
        <p:spPr>
          <a:xfrm>
            <a:off x="1051560" y="3941063"/>
            <a:ext cx="7607807" cy="3456432"/>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기업용 SSD 계약가가 한 분기에 80% 오르자 산업 전체가 서버로 쏠리고, 마이크론은 소비자 시장에서 철수했습니다. 그런데 지금 줄이는 소비자 채널은 지난 하강기(2012년)에 심어 2013년 1위의 발판이 된 채널입니다.</a:t>
            </a:r>
          </a:p>
        </p:txBody>
      </p:sp>
      <p:sp>
        <p:nvSpPr>
          <p:cNvPr id="12" name="TextBox 11"/>
          <p:cNvSpPr txBox="1"/>
          <p:nvPr/>
        </p:nvSpPr>
        <p:spPr>
          <a:xfrm>
            <a:off x="1051560" y="6556248"/>
            <a:ext cx="3566160" cy="420624"/>
          </a:xfrm>
          <a:prstGeom prst="rect">
            <a:avLst/>
          </a:prstGeom>
          <a:noFill/>
        </p:spPr>
        <p:txBody>
          <a:bodyPr wrap="square" anchor="t" lIns="0" rIns="0" tIns="0" bIns="0">
            <a:spAutoFit/>
          </a:bodyPr>
          <a:lstStyle/>
          <a:p>
            <a:pPr algn="l">
              <a:lnSpc>
                <a:spcPct val="115000"/>
              </a:lnSpc>
            </a:pPr>
            <a:r>
              <a:rPr sz="2550" b="1">
                <a:solidFill>
                  <a:srgbClr val="1428A0"/>
                </a:solidFill>
                <a:latin typeface="Arial"/>
                <a:ea typeface="Arial"/>
              </a:rPr>
              <a:t>+80%</a:t>
            </a:r>
          </a:p>
        </p:txBody>
      </p:sp>
      <p:sp>
        <p:nvSpPr>
          <p:cNvPr id="13" name="TextBox 12"/>
          <p:cNvSpPr txBox="1"/>
          <p:nvPr/>
        </p:nvSpPr>
        <p:spPr>
          <a:xfrm>
            <a:off x="1051560" y="7031736"/>
            <a:ext cx="3566160" cy="60350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기업용 SSD 계약가, 분기 상승률</a:t>
            </a:r>
          </a:p>
        </p:txBody>
      </p:sp>
      <p:sp>
        <p:nvSpPr>
          <p:cNvPr id="14" name="TextBox 13"/>
          <p:cNvSpPr txBox="1"/>
          <p:nvPr/>
        </p:nvSpPr>
        <p:spPr>
          <a:xfrm>
            <a:off x="4928616" y="6556248"/>
            <a:ext cx="3657600" cy="420624"/>
          </a:xfrm>
          <a:prstGeom prst="rect">
            <a:avLst/>
          </a:prstGeom>
          <a:noFill/>
        </p:spPr>
        <p:txBody>
          <a:bodyPr wrap="square" anchor="t" lIns="0" rIns="0" tIns="0" bIns="0">
            <a:spAutoFit/>
          </a:bodyPr>
          <a:lstStyle/>
          <a:p>
            <a:pPr algn="l">
              <a:lnSpc>
                <a:spcPct val="115000"/>
              </a:lnSpc>
            </a:pPr>
            <a:r>
              <a:rPr sz="2550" b="1">
                <a:solidFill>
                  <a:srgbClr val="1A1A1A"/>
                </a:solidFill>
                <a:latin typeface="Arial"/>
                <a:ea typeface="Arial"/>
              </a:rPr>
              <a:t>철수</a:t>
            </a:r>
          </a:p>
        </p:txBody>
      </p:sp>
      <p:sp>
        <p:nvSpPr>
          <p:cNvPr id="15" name="TextBox 14"/>
          <p:cNvSpPr txBox="1"/>
          <p:nvPr/>
        </p:nvSpPr>
        <p:spPr>
          <a:xfrm>
            <a:off x="4928616" y="7031736"/>
            <a:ext cx="3657600" cy="60350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마이크론 소비자 브랜드(크루셜)</a:t>
            </a:r>
          </a:p>
        </p:txBody>
      </p:sp>
      <p:sp>
        <p:nvSpPr>
          <p:cNvPr id="16" name="Rectangle 15"/>
          <p:cNvSpPr/>
          <p:nvPr/>
        </p:nvSpPr>
        <p:spPr>
          <a:xfrm>
            <a:off x="9299448" y="2697480"/>
            <a:ext cx="8266175" cy="49560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28632" y="2990088"/>
            <a:ext cx="7607807"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균열 2 · 자체 설계 SSD(Captive)의 확대</a:t>
            </a:r>
          </a:p>
        </p:txBody>
      </p:sp>
      <p:sp>
        <p:nvSpPr>
          <p:cNvPr id="18" name="TextBox 17"/>
          <p:cNvSpPr txBox="1"/>
          <p:nvPr/>
        </p:nvSpPr>
        <p:spPr>
          <a:xfrm>
            <a:off x="9628632" y="3429000"/>
            <a:ext cx="7607807" cy="38404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통제권은 10년째 한 방향으로만 움직였습니다</a:t>
            </a:r>
          </a:p>
        </p:txBody>
      </p:sp>
      <p:sp>
        <p:nvSpPr>
          <p:cNvPr id="19" name="TextBox 18"/>
          <p:cNvSpPr txBox="1"/>
          <p:nvPr/>
        </p:nvSpPr>
        <p:spPr>
          <a:xfrm>
            <a:off x="9774936" y="3977639"/>
            <a:ext cx="1783080" cy="329184"/>
          </a:xfrm>
          <a:prstGeom prst="rect">
            <a:avLst/>
          </a:prstGeom>
          <a:noFill/>
        </p:spPr>
        <p:txBody>
          <a:bodyPr wrap="square" anchor="t" lIns="0" rIns="0" tIns="0" bIns="0">
            <a:spAutoFit/>
          </a:bodyPr>
          <a:lstStyle/>
          <a:p>
            <a:pPr algn="l">
              <a:lnSpc>
                <a:spcPct val="115000"/>
              </a:lnSpc>
            </a:pPr>
            <a:r>
              <a:rPr sz="1875" b="1">
                <a:solidFill>
                  <a:srgbClr val="1428A0"/>
                </a:solidFill>
                <a:latin typeface="Arial"/>
                <a:ea typeface="Arial"/>
              </a:rPr>
              <a:t>2016년까지</a:t>
            </a:r>
          </a:p>
        </p:txBody>
      </p:sp>
      <p:sp>
        <p:nvSpPr>
          <p:cNvPr id="20" name="TextBox 19"/>
          <p:cNvSpPr txBox="1"/>
          <p:nvPr/>
        </p:nvSpPr>
        <p:spPr>
          <a:xfrm>
            <a:off x="11631167" y="3977639"/>
            <a:ext cx="5568695" cy="32918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벤더 표준품을 그대로 구매했습니다</a:t>
            </a:r>
          </a:p>
        </p:txBody>
      </p:sp>
      <p:sp>
        <p:nvSpPr>
          <p:cNvPr id="21" name="TextBox 20"/>
          <p:cNvSpPr txBox="1"/>
          <p:nvPr/>
        </p:nvSpPr>
        <p:spPr>
          <a:xfrm>
            <a:off x="9774936" y="4507992"/>
            <a:ext cx="1783080" cy="329184"/>
          </a:xfrm>
          <a:prstGeom prst="rect">
            <a:avLst/>
          </a:prstGeom>
          <a:noFill/>
        </p:spPr>
        <p:txBody>
          <a:bodyPr wrap="square" anchor="t" lIns="0" rIns="0" tIns="0" bIns="0">
            <a:spAutoFit/>
          </a:bodyPr>
          <a:lstStyle/>
          <a:p>
            <a:pPr algn="l">
              <a:lnSpc>
                <a:spcPct val="115000"/>
              </a:lnSpc>
            </a:pPr>
            <a:r>
              <a:rPr sz="1875" b="1">
                <a:solidFill>
                  <a:srgbClr val="1428A0"/>
                </a:solidFill>
                <a:latin typeface="Arial"/>
                <a:ea typeface="Arial"/>
              </a:rPr>
              <a:t>2017년부터</a:t>
            </a:r>
          </a:p>
        </p:txBody>
      </p:sp>
      <p:sp>
        <p:nvSpPr>
          <p:cNvPr id="22" name="TextBox 21"/>
          <p:cNvSpPr txBox="1"/>
          <p:nvPr/>
        </p:nvSpPr>
        <p:spPr>
          <a:xfrm>
            <a:off x="11631167" y="4507992"/>
            <a:ext cx="5568695" cy="32918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펌웨어를 직접 규정하기 시작했습니다</a:t>
            </a:r>
          </a:p>
        </p:txBody>
      </p:sp>
      <p:sp>
        <p:nvSpPr>
          <p:cNvPr id="23" name="TextBox 22"/>
          <p:cNvSpPr txBox="1"/>
          <p:nvPr/>
        </p:nvSpPr>
        <p:spPr>
          <a:xfrm>
            <a:off x="9774936" y="5038344"/>
            <a:ext cx="1783080" cy="329184"/>
          </a:xfrm>
          <a:prstGeom prst="rect">
            <a:avLst/>
          </a:prstGeom>
          <a:noFill/>
        </p:spPr>
        <p:txBody>
          <a:bodyPr wrap="square" anchor="t" lIns="0" rIns="0" tIns="0" bIns="0">
            <a:spAutoFit/>
          </a:bodyPr>
          <a:lstStyle/>
          <a:p>
            <a:pPr algn="l">
              <a:lnSpc>
                <a:spcPct val="115000"/>
              </a:lnSpc>
            </a:pPr>
            <a:r>
              <a:rPr sz="1875" b="1">
                <a:solidFill>
                  <a:srgbClr val="1428A0"/>
                </a:solidFill>
                <a:latin typeface="Arial"/>
                <a:ea typeface="Arial"/>
              </a:rPr>
              <a:t>2021년부터</a:t>
            </a:r>
          </a:p>
        </p:txBody>
      </p:sp>
      <p:sp>
        <p:nvSpPr>
          <p:cNvPr id="24" name="TextBox 23"/>
          <p:cNvSpPr txBox="1"/>
          <p:nvPr/>
        </p:nvSpPr>
        <p:spPr>
          <a:xfrm>
            <a:off x="11631167" y="5038344"/>
            <a:ext cx="5568695" cy="32918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컨트롤러를 자체 설계했습니다 (아마존)</a:t>
            </a:r>
          </a:p>
        </p:txBody>
      </p:sp>
      <p:sp>
        <p:nvSpPr>
          <p:cNvPr id="25" name="Rectangle 24"/>
          <p:cNvSpPr/>
          <p:nvPr/>
        </p:nvSpPr>
        <p:spPr>
          <a:xfrm>
            <a:off x="9628632" y="5513832"/>
            <a:ext cx="7607807" cy="713232"/>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74936" y="5605272"/>
            <a:ext cx="1783080" cy="329184"/>
          </a:xfrm>
          <a:prstGeom prst="rect">
            <a:avLst/>
          </a:prstGeom>
          <a:noFill/>
        </p:spPr>
        <p:txBody>
          <a:bodyPr wrap="square" anchor="t" lIns="0" rIns="0" tIns="0" bIns="0">
            <a:spAutoFit/>
          </a:bodyPr>
          <a:lstStyle/>
          <a:p>
            <a:pPr algn="l">
              <a:lnSpc>
                <a:spcPct val="115000"/>
              </a:lnSpc>
            </a:pPr>
            <a:r>
              <a:rPr sz="1875" b="1">
                <a:solidFill>
                  <a:srgbClr val="1428A0"/>
                </a:solidFill>
                <a:latin typeface="Arial"/>
                <a:ea typeface="Arial"/>
              </a:rPr>
              <a:t>2022년부터</a:t>
            </a:r>
          </a:p>
        </p:txBody>
      </p:sp>
      <p:sp>
        <p:nvSpPr>
          <p:cNvPr id="27" name="TextBox 26"/>
          <p:cNvSpPr txBox="1"/>
          <p:nvPr/>
        </p:nvSpPr>
        <p:spPr>
          <a:xfrm>
            <a:off x="11631167" y="5605272"/>
            <a:ext cx="5477255" cy="603504"/>
          </a:xfrm>
          <a:prstGeom prst="rect">
            <a:avLst/>
          </a:prstGeom>
          <a:noFill/>
        </p:spPr>
        <p:txBody>
          <a:bodyPr wrap="square" anchor="t" lIns="0" rIns="0" tIns="0" bIns="0">
            <a:spAutoFit/>
          </a:bodyPr>
          <a:lstStyle/>
          <a:p>
            <a:pPr algn="l">
              <a:lnSpc>
                <a:spcPct val="115000"/>
              </a:lnSpc>
            </a:pPr>
            <a:r>
              <a:rPr sz="1875" b="1">
                <a:solidFill>
                  <a:srgbClr val="1A1A1A"/>
                </a:solidFill>
                <a:latin typeface="Arial"/>
                <a:ea typeface="Arial"/>
              </a:rPr>
              <a:t>표준을 함께 만들고 웨이퍼를 직접 삽니다 (구글 · 메타)</a:t>
            </a:r>
          </a:p>
        </p:txBody>
      </p:sp>
      <p:sp>
        <p:nvSpPr>
          <p:cNvPr id="28" name="TextBox 27"/>
          <p:cNvSpPr txBox="1"/>
          <p:nvPr/>
        </p:nvSpPr>
        <p:spPr>
          <a:xfrm>
            <a:off x="9628632" y="6556248"/>
            <a:ext cx="3566160" cy="420624"/>
          </a:xfrm>
          <a:prstGeom prst="rect">
            <a:avLst/>
          </a:prstGeom>
          <a:noFill/>
        </p:spPr>
        <p:txBody>
          <a:bodyPr wrap="square" anchor="t" lIns="0" rIns="0" tIns="0" bIns="0">
            <a:spAutoFit/>
          </a:bodyPr>
          <a:lstStyle/>
          <a:p>
            <a:pPr algn="l">
              <a:lnSpc>
                <a:spcPct val="115000"/>
              </a:lnSpc>
            </a:pPr>
            <a:r>
              <a:rPr sz="2550" b="1">
                <a:solidFill>
                  <a:srgbClr val="1428A0"/>
                </a:solidFill>
                <a:latin typeface="Arial"/>
                <a:ea typeface="Arial"/>
              </a:rPr>
              <a:t>+246%</a:t>
            </a:r>
          </a:p>
        </p:txBody>
      </p:sp>
      <p:sp>
        <p:nvSpPr>
          <p:cNvPr id="29" name="TextBox 28"/>
          <p:cNvSpPr txBox="1"/>
          <p:nvPr/>
        </p:nvSpPr>
        <p:spPr>
          <a:xfrm>
            <a:off x="9628632" y="7031736"/>
            <a:ext cx="3566160" cy="60350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낸드 웨이퍼 계약가, 2025년 1분기 대비</a:t>
            </a:r>
          </a:p>
        </p:txBody>
      </p:sp>
      <p:sp>
        <p:nvSpPr>
          <p:cNvPr id="30" name="TextBox 29"/>
          <p:cNvSpPr txBox="1"/>
          <p:nvPr/>
        </p:nvSpPr>
        <p:spPr>
          <a:xfrm>
            <a:off x="13505688" y="6556248"/>
            <a:ext cx="3749039" cy="420624"/>
          </a:xfrm>
          <a:prstGeom prst="rect">
            <a:avLst/>
          </a:prstGeom>
          <a:noFill/>
        </p:spPr>
        <p:txBody>
          <a:bodyPr wrap="square" anchor="t" lIns="0" rIns="0" tIns="0" bIns="0">
            <a:spAutoFit/>
          </a:bodyPr>
          <a:lstStyle/>
          <a:p>
            <a:pPr algn="l">
              <a:lnSpc>
                <a:spcPct val="115000"/>
              </a:lnSpc>
            </a:pPr>
            <a:r>
              <a:rPr sz="2550" b="1">
                <a:solidFill>
                  <a:srgbClr val="1428A0"/>
                </a:solidFill>
                <a:latin typeface="Arial"/>
                <a:ea typeface="Arial"/>
              </a:rPr>
              <a:t>30% 초과</a:t>
            </a:r>
          </a:p>
        </p:txBody>
      </p:sp>
      <p:sp>
        <p:nvSpPr>
          <p:cNvPr id="31" name="TextBox 30"/>
          <p:cNvSpPr txBox="1"/>
          <p:nvPr/>
        </p:nvSpPr>
        <p:spPr>
          <a:xfrm>
            <a:off x="13505688" y="7031736"/>
            <a:ext cx="3749039" cy="60350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자체 설계 SSD 비중 전망 (가트너 · 기업 저장 인프라 기준)</a:t>
            </a:r>
          </a:p>
        </p:txBody>
      </p:sp>
      <p:sp>
        <p:nvSpPr>
          <p:cNvPr id="32" name="Rectangle 31"/>
          <p:cNvSpPr/>
          <p:nvPr/>
        </p:nvSpPr>
        <p:spPr>
          <a:xfrm>
            <a:off x="722376" y="7973568"/>
            <a:ext cx="16843248" cy="12984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79576" y="8211312"/>
            <a:ext cx="15928848" cy="292608"/>
          </a:xfrm>
          <a:prstGeom prst="rect">
            <a:avLst/>
          </a:prstGeom>
          <a:noFill/>
        </p:spPr>
        <p:txBody>
          <a:bodyPr wrap="square" anchor="t" lIns="0" rIns="0" tIns="0" bIns="0">
            <a:spAutoFit/>
          </a:bodyPr>
          <a:lstStyle/>
          <a:p>
            <a:pPr algn="l">
              <a:lnSpc>
                <a:spcPct val="115000"/>
              </a:lnSpc>
            </a:pPr>
            <a:r>
              <a:rPr sz="1875" b="0">
                <a:solidFill>
                  <a:srgbClr val="FFFFFF"/>
                </a:solidFill>
                <a:latin typeface="Arial"/>
                <a:ea typeface="Arial"/>
              </a:rPr>
              <a:t>이중 리스크</a:t>
            </a:r>
          </a:p>
        </p:txBody>
      </p:sp>
      <p:sp>
        <p:nvSpPr>
          <p:cNvPr id="34" name="TextBox 33"/>
          <p:cNvSpPr txBox="1"/>
          <p:nvPr/>
        </p:nvSpPr>
        <p:spPr>
          <a:xfrm>
            <a:off x="1179576" y="8577072"/>
            <a:ext cx="15928848" cy="548640"/>
          </a:xfrm>
          <a:prstGeom prst="rect">
            <a:avLst/>
          </a:prstGeom>
          <a:noFill/>
        </p:spPr>
        <p:txBody>
          <a:bodyPr wrap="square" anchor="t" lIns="0" rIns="0" tIns="0" bIns="0">
            <a:spAutoFit/>
          </a:bodyPr>
          <a:lstStyle/>
          <a:p>
            <a:pPr algn="l">
              <a:lnSpc>
                <a:spcPct val="115000"/>
              </a:lnSpc>
            </a:pPr>
            <a:r>
              <a:rPr sz="2550" b="1">
                <a:solidFill>
                  <a:srgbClr val="FFFFFF"/>
                </a:solidFill>
                <a:latin typeface="Arial"/>
                <a:ea typeface="Arial"/>
              </a:rPr>
              <a:t>하강기에는 돌아갈 소비자 시장이 줄어 있고, 자체 설계로 간 물량은 돌아오지 않습니다</a:t>
            </a:r>
          </a:p>
        </p:txBody>
      </p:sp>
      <p:sp>
        <p:nvSpPr>
          <p:cNvPr id="35" name="TextBox 34"/>
          <p:cNvSpPr txBox="1"/>
          <p:nvPr/>
        </p:nvSpPr>
        <p:spPr>
          <a:xfrm>
            <a:off x="722376" y="9592056"/>
            <a:ext cx="14264640"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출처: Captive SSD 리서치 · 가트너 재인용 검증, 기업 저장 인프라 기준 (2026년 8월)</a:t>
            </a:r>
          </a:p>
        </p:txBody>
      </p:sp>
      <p:sp>
        <p:nvSpPr>
          <p:cNvPr id="36" name="TextBox 35"/>
          <p:cNvSpPr txBox="1"/>
          <p:nvPr/>
        </p:nvSpPr>
        <p:spPr>
          <a:xfrm>
            <a:off x="16047720" y="9592056"/>
            <a:ext cx="1517904"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03 / 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네 번째 방향성</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5000"/>
              </a:lnSpc>
            </a:pPr>
            <a:r>
              <a:rPr sz="3300" b="1">
                <a:solidFill>
                  <a:srgbClr val="1A1A1A"/>
                </a:solidFill>
                <a:latin typeface="Arial"/>
                <a:ea typeface="Arial"/>
              </a:rPr>
              <a:t>모든 커스텀을 받아주는 대신, 커스텀 요구를 표준으로 흡수합니다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5000"/>
              </a:lnSpc>
            </a:pPr>
            <a:r>
              <a:rPr sz="2100" b="0">
                <a:solidFill>
                  <a:srgbClr val="555555"/>
                </a:solidFill>
                <a:latin typeface="Arial"/>
                <a:ea typeface="Arial"/>
              </a:rPr>
              <a:t>고객이 원하는 것은 자기 워크로드 최적화입니다. 그 요구를 표준(FDP)으로 받고, 시스템 소프트웨어 생태계로 완성합니다.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 y="2697480"/>
            <a:ext cx="8266175" cy="251460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0088"/>
            <a:ext cx="6053327" cy="329184"/>
          </a:xfrm>
          <a:prstGeom prst="rect">
            <a:avLst/>
          </a:prstGeom>
          <a:noFill/>
        </p:spPr>
        <p:txBody>
          <a:bodyPr wrap="square" anchor="t" lIns="0" rIns="0" tIns="0" bIns="0">
            <a:spAutoFit/>
          </a:bodyPr>
          <a:lstStyle/>
          <a:p>
            <a:pPr algn="l">
              <a:lnSpc>
                <a:spcPct val="115000"/>
              </a:lnSpc>
            </a:pPr>
            <a:r>
              <a:rPr sz="2025" b="1">
                <a:solidFill>
                  <a:srgbClr val="555555"/>
                </a:solidFill>
                <a:latin typeface="Arial"/>
                <a:ea typeface="Arial"/>
              </a:rPr>
              <a:t>길 1 · 풀커스텀 대행</a:t>
            </a:r>
          </a:p>
        </p:txBody>
      </p:sp>
      <p:sp>
        <p:nvSpPr>
          <p:cNvPr id="10" name="TextBox 9"/>
          <p:cNvSpPr txBox="1"/>
          <p:nvPr/>
        </p:nvSpPr>
        <p:spPr>
          <a:xfrm>
            <a:off x="7104887" y="2990088"/>
            <a:ext cx="1554480" cy="329184"/>
          </a:xfrm>
          <a:prstGeom prst="rect">
            <a:avLst/>
          </a:prstGeom>
          <a:noFill/>
        </p:spPr>
        <p:txBody>
          <a:bodyPr wrap="square" anchor="t" lIns="0" rIns="0" tIns="0" bIns="0">
            <a:spAutoFit/>
          </a:bodyPr>
          <a:lstStyle/>
          <a:p>
            <a:pPr algn="r">
              <a:lnSpc>
                <a:spcPct val="115000"/>
              </a:lnSpc>
            </a:pPr>
            <a:r>
              <a:rPr sz="1875" b="1">
                <a:solidFill>
                  <a:srgbClr val="D93025"/>
                </a:solidFill>
                <a:latin typeface="Arial"/>
                <a:ea typeface="Arial"/>
              </a:rPr>
              <a:t>지속 불가</a:t>
            </a:r>
          </a:p>
        </p:txBody>
      </p:sp>
      <p:sp>
        <p:nvSpPr>
          <p:cNvPr id="11" name="TextBox 10"/>
          <p:cNvSpPr txBox="1"/>
          <p:nvPr/>
        </p:nvSpPr>
        <p:spPr>
          <a:xfrm>
            <a:off x="1051560" y="3429000"/>
            <a:ext cx="7607807" cy="38404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고객마다 만들면 개발과 평가, 유지보수가 발산합니다</a:t>
            </a:r>
          </a:p>
        </p:txBody>
      </p:sp>
      <p:sp>
        <p:nvSpPr>
          <p:cNvPr id="12" name="TextBox 11"/>
          <p:cNvSpPr txBox="1"/>
          <p:nvPr/>
        </p:nvSpPr>
        <p:spPr>
          <a:xfrm>
            <a:off x="1051560" y="3941063"/>
            <a:ext cx="7607807" cy="101498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고객 수만큼 펌웨어가 갈라지고 검증 부담이 곱으로 늘어납니다. 커스텀은 계약 체질부터 다른 사업이며, 보상 계약 없이 비용을 떠안은 수업료가 이미 있습니다(사내 확인).</a:t>
            </a:r>
          </a:p>
        </p:txBody>
      </p:sp>
      <p:sp>
        <p:nvSpPr>
          <p:cNvPr id="13" name="Rectangle 12"/>
          <p:cNvSpPr/>
          <p:nvPr/>
        </p:nvSpPr>
        <p:spPr>
          <a:xfrm>
            <a:off x="722376" y="5394960"/>
            <a:ext cx="8266175" cy="251460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5687568"/>
            <a:ext cx="6053327"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길 2 · 표준화된 유연성</a:t>
            </a:r>
          </a:p>
        </p:txBody>
      </p:sp>
      <p:sp>
        <p:nvSpPr>
          <p:cNvPr id="15" name="TextBox 14"/>
          <p:cNvSpPr txBox="1"/>
          <p:nvPr/>
        </p:nvSpPr>
        <p:spPr>
          <a:xfrm>
            <a:off x="7104887" y="5687568"/>
            <a:ext cx="1554480" cy="329184"/>
          </a:xfrm>
          <a:prstGeom prst="rect">
            <a:avLst/>
          </a:prstGeom>
          <a:noFill/>
        </p:spPr>
        <p:txBody>
          <a:bodyPr wrap="square" anchor="t" lIns="0" rIns="0" tIns="0" bIns="0">
            <a:spAutoFit/>
          </a:bodyPr>
          <a:lstStyle/>
          <a:p>
            <a:pPr algn="r">
              <a:lnSpc>
                <a:spcPct val="115000"/>
              </a:lnSpc>
            </a:pPr>
            <a:r>
              <a:rPr sz="1875" b="1">
                <a:solidFill>
                  <a:srgbClr val="1428A0"/>
                </a:solidFill>
                <a:latin typeface="Arial"/>
                <a:ea typeface="Arial"/>
              </a:rPr>
              <a:t>선택</a:t>
            </a:r>
          </a:p>
        </p:txBody>
      </p:sp>
      <p:sp>
        <p:nvSpPr>
          <p:cNvPr id="16" name="TextBox 15"/>
          <p:cNvSpPr txBox="1"/>
          <p:nvPr/>
        </p:nvSpPr>
        <p:spPr>
          <a:xfrm>
            <a:off x="1051560" y="6126480"/>
            <a:ext cx="7607807" cy="38404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FDP 표준 제품 하나로 고객별 최적화를 받아냅니다</a:t>
            </a:r>
          </a:p>
        </p:txBody>
      </p:sp>
      <p:sp>
        <p:nvSpPr>
          <p:cNvPr id="17" name="TextBox 16"/>
          <p:cNvSpPr txBox="1"/>
          <p:nvPr/>
        </p:nvSpPr>
        <p:spPr>
          <a:xfrm>
            <a:off x="1051560" y="6638544"/>
            <a:ext cx="7607807" cy="101498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펌웨어는 공통으로 지키고, 고객별 차이는 설정과 소프트웨어로 받습니다. FDP는 메타와 구글이 요구하고 삼성이 함께 완성해 2023년 비준한, 고객이 설계한 표준입니다.</a:t>
            </a:r>
          </a:p>
        </p:txBody>
      </p:sp>
      <p:sp>
        <p:nvSpPr>
          <p:cNvPr id="18" name="TextBox 17"/>
          <p:cNvSpPr txBox="1"/>
          <p:nvPr/>
        </p:nvSpPr>
        <p:spPr>
          <a:xfrm>
            <a:off x="722376" y="8092440"/>
            <a:ext cx="8266175" cy="731520"/>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성립 조건: 리눅스와 오픈소스 응용 계층에 FDP 지원을 심는 시스템 소프트웨어 생태계 확산이 함께 가야 합니다.</a:t>
            </a:r>
          </a:p>
        </p:txBody>
      </p:sp>
      <p:sp>
        <p:nvSpPr>
          <p:cNvPr id="19" name="TextBox 18"/>
          <p:cNvSpPr txBox="1"/>
          <p:nvPr/>
        </p:nvSpPr>
        <p:spPr>
          <a:xfrm>
            <a:off x="9299448" y="2697480"/>
            <a:ext cx="8266175"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부가가치는 표준 위 계층으로 옮겨 갑니다</a:t>
            </a:r>
          </a:p>
        </p:txBody>
      </p:sp>
      <p:sp>
        <p:nvSpPr>
          <p:cNvPr id="20" name="Rectangle 19"/>
          <p:cNvSpPr/>
          <p:nvPr/>
        </p:nvSpPr>
        <p:spPr>
          <a:xfrm>
            <a:off x="9299448" y="3246120"/>
            <a:ext cx="6903720" cy="93268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28632" y="3374136"/>
            <a:ext cx="6245352" cy="347472"/>
          </a:xfrm>
          <a:prstGeom prst="rect">
            <a:avLst/>
          </a:prstGeom>
          <a:noFill/>
        </p:spPr>
        <p:txBody>
          <a:bodyPr wrap="square" anchor="t" lIns="0" rIns="0" tIns="0" bIns="0">
            <a:spAutoFit/>
          </a:bodyPr>
          <a:lstStyle/>
          <a:p>
            <a:pPr algn="l">
              <a:lnSpc>
                <a:spcPct val="115000"/>
              </a:lnSpc>
            </a:pPr>
            <a:r>
              <a:rPr sz="1950" b="1">
                <a:solidFill>
                  <a:srgbClr val="FFFFFF"/>
                </a:solidFill>
                <a:latin typeface="Arial"/>
                <a:ea typeface="Arial"/>
              </a:rPr>
              <a:t>시스템 소프트웨어 · 생태계</a:t>
            </a:r>
          </a:p>
        </p:txBody>
      </p:sp>
      <p:sp>
        <p:nvSpPr>
          <p:cNvPr id="22" name="TextBox 21"/>
          <p:cNvSpPr txBox="1"/>
          <p:nvPr/>
        </p:nvSpPr>
        <p:spPr>
          <a:xfrm>
            <a:off x="9628632" y="3749039"/>
            <a:ext cx="6245352" cy="310896"/>
          </a:xfrm>
          <a:prstGeom prst="rect">
            <a:avLst/>
          </a:prstGeom>
          <a:noFill/>
        </p:spPr>
        <p:txBody>
          <a:bodyPr wrap="square" anchor="t" lIns="0" rIns="0" tIns="0" bIns="0">
            <a:spAutoFit/>
          </a:bodyPr>
          <a:lstStyle/>
          <a:p>
            <a:pPr algn="l">
              <a:lnSpc>
                <a:spcPct val="115000"/>
              </a:lnSpc>
            </a:pPr>
            <a:r>
              <a:rPr sz="1800" b="0">
                <a:solidFill>
                  <a:srgbClr val="FFFFFF"/>
                </a:solidFill>
                <a:latin typeface="Arial"/>
                <a:ea typeface="Arial"/>
              </a:rPr>
              <a:t>부가가치의 새 자리, 우리가 만들 층</a:t>
            </a:r>
          </a:p>
        </p:txBody>
      </p:sp>
      <p:sp>
        <p:nvSpPr>
          <p:cNvPr id="23" name="Rectangle 22"/>
          <p:cNvSpPr/>
          <p:nvPr/>
        </p:nvSpPr>
        <p:spPr>
          <a:xfrm>
            <a:off x="9299448" y="4306824"/>
            <a:ext cx="6903720" cy="9326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28632" y="4434840"/>
            <a:ext cx="6245352" cy="347472"/>
          </a:xfrm>
          <a:prstGeom prst="rect">
            <a:avLst/>
          </a:prstGeom>
          <a:noFill/>
        </p:spPr>
        <p:txBody>
          <a:bodyPr wrap="square" anchor="t" lIns="0" rIns="0" tIns="0" bIns="0">
            <a:spAutoFit/>
          </a:bodyPr>
          <a:lstStyle/>
          <a:p>
            <a:pPr algn="l">
              <a:lnSpc>
                <a:spcPct val="115000"/>
              </a:lnSpc>
            </a:pPr>
            <a:r>
              <a:rPr sz="1950" b="1">
                <a:solidFill>
                  <a:srgbClr val="1A1A1A"/>
                </a:solidFill>
                <a:latin typeface="Arial"/>
                <a:ea typeface="Arial"/>
              </a:rPr>
              <a:t>FDP 표준</a:t>
            </a:r>
          </a:p>
        </p:txBody>
      </p:sp>
      <p:sp>
        <p:nvSpPr>
          <p:cNvPr id="25" name="TextBox 24"/>
          <p:cNvSpPr txBox="1"/>
          <p:nvPr/>
        </p:nvSpPr>
        <p:spPr>
          <a:xfrm>
            <a:off x="9628632" y="4809744"/>
            <a:ext cx="6245352" cy="310896"/>
          </a:xfrm>
          <a:prstGeom prst="rect">
            <a:avLst/>
          </a:prstGeom>
          <a:noFill/>
        </p:spPr>
        <p:txBody>
          <a:bodyPr wrap="square" anchor="t" lIns="0" rIns="0" tIns="0" bIns="0">
            <a:spAutoFit/>
          </a:bodyPr>
          <a:lstStyle/>
          <a:p>
            <a:pPr algn="l">
              <a:lnSpc>
                <a:spcPct val="115000"/>
              </a:lnSpc>
            </a:pPr>
            <a:r>
              <a:rPr sz="1800" b="0">
                <a:solidFill>
                  <a:srgbClr val="1A1A1A"/>
                </a:solidFill>
                <a:latin typeface="Arial"/>
                <a:ea typeface="Arial"/>
              </a:rPr>
              <a:t>고객과 공동 설계, 2023년 비준</a:t>
            </a:r>
          </a:p>
        </p:txBody>
      </p:sp>
      <p:sp>
        <p:nvSpPr>
          <p:cNvPr id="26" name="Rectangle 25"/>
          <p:cNvSpPr/>
          <p:nvPr/>
        </p:nvSpPr>
        <p:spPr>
          <a:xfrm>
            <a:off x="9299448" y="5367528"/>
            <a:ext cx="6903720" cy="93268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28632" y="5495544"/>
            <a:ext cx="6245352" cy="347472"/>
          </a:xfrm>
          <a:prstGeom prst="rect">
            <a:avLst/>
          </a:prstGeom>
          <a:noFill/>
        </p:spPr>
        <p:txBody>
          <a:bodyPr wrap="square" anchor="t" lIns="0" rIns="0" tIns="0" bIns="0">
            <a:spAutoFit/>
          </a:bodyPr>
          <a:lstStyle/>
          <a:p>
            <a:pPr algn="l">
              <a:lnSpc>
                <a:spcPct val="115000"/>
              </a:lnSpc>
            </a:pPr>
            <a:r>
              <a:rPr sz="1950" b="1">
                <a:solidFill>
                  <a:srgbClr val="1A1A1A"/>
                </a:solidFill>
                <a:latin typeface="Arial"/>
                <a:ea typeface="Arial"/>
              </a:rPr>
              <a:t>SSD 하드웨어</a:t>
            </a:r>
          </a:p>
        </p:txBody>
      </p:sp>
      <p:sp>
        <p:nvSpPr>
          <p:cNvPr id="28" name="TextBox 27"/>
          <p:cNvSpPr txBox="1"/>
          <p:nvPr/>
        </p:nvSpPr>
        <p:spPr>
          <a:xfrm>
            <a:off x="9628632" y="5870448"/>
            <a:ext cx="6245352"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여러 공급사가 함께 서는 층</a:t>
            </a:r>
          </a:p>
        </p:txBody>
      </p:sp>
      <p:sp>
        <p:nvSpPr>
          <p:cNvPr id="29" name="Rectangle 28"/>
          <p:cNvSpPr/>
          <p:nvPr/>
        </p:nvSpPr>
        <p:spPr>
          <a:xfrm>
            <a:off x="9299448" y="6428232"/>
            <a:ext cx="6903720" cy="93268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28632" y="6556248"/>
            <a:ext cx="6245352" cy="347472"/>
          </a:xfrm>
          <a:prstGeom prst="rect">
            <a:avLst/>
          </a:prstGeom>
          <a:noFill/>
        </p:spPr>
        <p:txBody>
          <a:bodyPr wrap="square" anchor="t" lIns="0" rIns="0" tIns="0" bIns="0">
            <a:spAutoFit/>
          </a:bodyPr>
          <a:lstStyle/>
          <a:p>
            <a:pPr algn="l">
              <a:lnSpc>
                <a:spcPct val="115000"/>
              </a:lnSpc>
            </a:pPr>
            <a:r>
              <a:rPr sz="1950" b="1">
                <a:solidFill>
                  <a:srgbClr val="1A1A1A"/>
                </a:solidFill>
                <a:latin typeface="Arial"/>
                <a:ea typeface="Arial"/>
              </a:rPr>
              <a:t>낸드 웨이퍼</a:t>
            </a:r>
          </a:p>
        </p:txBody>
      </p:sp>
      <p:sp>
        <p:nvSpPr>
          <p:cNvPr id="31" name="TextBox 30"/>
          <p:cNvSpPr txBox="1"/>
          <p:nvPr/>
        </p:nvSpPr>
        <p:spPr>
          <a:xfrm>
            <a:off x="9628632" y="6931152"/>
            <a:ext cx="6245352"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고객 직구매가 늘어나는 층</a:t>
            </a:r>
          </a:p>
        </p:txBody>
      </p:sp>
      <p:sp>
        <p:nvSpPr>
          <p:cNvPr id="32" name="Up Arrow 31"/>
          <p:cNvSpPr/>
          <p:nvPr/>
        </p:nvSpPr>
        <p:spPr>
          <a:xfrm>
            <a:off x="16587216" y="3749039"/>
            <a:ext cx="475488" cy="3108960"/>
          </a:xfrm>
          <a:prstGeom prst="up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294608" y="7040880"/>
            <a:ext cx="1188720" cy="640080"/>
          </a:xfrm>
          <a:prstGeom prst="rect">
            <a:avLst/>
          </a:prstGeom>
          <a:noFill/>
        </p:spPr>
        <p:txBody>
          <a:bodyPr wrap="square" anchor="t" lIns="0" rIns="0" tIns="0" bIns="0">
            <a:spAutoFit/>
          </a:bodyPr>
          <a:lstStyle/>
          <a:p>
            <a:pPr algn="ctr">
              <a:lnSpc>
                <a:spcPct val="115000"/>
              </a:lnSpc>
            </a:pPr>
            <a:r>
              <a:rPr sz="1800" b="0">
                <a:solidFill>
                  <a:srgbClr val="555555"/>
                </a:solidFill>
                <a:latin typeface="Arial"/>
                <a:ea typeface="Arial"/>
              </a:rPr>
              <a:t>부가가치</a:t>
            </a:r>
          </a:p>
          <a:p>
            <a:pPr algn="ctr">
              <a:lnSpc>
                <a:spcPct val="115000"/>
              </a:lnSpc>
            </a:pPr>
            <a:r>
              <a:rPr sz="1800" b="0">
                <a:solidFill>
                  <a:srgbClr val="555555"/>
                </a:solidFill>
                <a:latin typeface="Arial"/>
                <a:ea typeface="Arial"/>
              </a:rPr>
              <a:t>이동</a:t>
            </a:r>
          </a:p>
        </p:txBody>
      </p:sp>
      <p:sp>
        <p:nvSpPr>
          <p:cNvPr id="34" name="TextBox 33"/>
          <p:cNvSpPr txBox="1"/>
          <p:nvPr/>
        </p:nvSpPr>
        <p:spPr>
          <a:xfrm>
            <a:off x="9299448" y="7918704"/>
            <a:ext cx="8266175" cy="1005840"/>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FDP 지원만으로는 여러 공급사 중 하나입니다. 마이크론과 키옥시아도 이미 지원합니다. 차별화는 워크로드를 표준 정책으로 바꿔 주는 소프트웨어와 현장 엔지니어링에서 생깁니다.</a:t>
            </a:r>
          </a:p>
        </p:txBody>
      </p:sp>
      <p:sp>
        <p:nvSpPr>
          <p:cNvPr id="35" name="TextBox 34"/>
          <p:cNvSpPr txBox="1"/>
          <p:nvPr/>
        </p:nvSpPr>
        <p:spPr>
          <a:xfrm>
            <a:off x="722376" y="9592056"/>
            <a:ext cx="14264640"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출처: FDP 플랫폼 전략 · 구글 Captive와 FDP 팩트체크 · FDP 오픈소스 생태계 리서치 (2026년 8월)</a:t>
            </a:r>
          </a:p>
        </p:txBody>
      </p:sp>
      <p:sp>
        <p:nvSpPr>
          <p:cNvPr id="36" name="TextBox 35"/>
          <p:cNvSpPr txBox="1"/>
          <p:nvPr/>
        </p:nvSpPr>
        <p:spPr>
          <a:xfrm>
            <a:off x="16047720" y="9592056"/>
            <a:ext cx="1517904"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04 / 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[문서등급 표기]</a:t>
            </a:r>
          </a:p>
        </p:txBody>
      </p:sp>
      <p:sp>
        <p:nvSpPr>
          <p:cNvPr id="4" name="TextBox 3"/>
          <p:cNvSpPr txBox="1"/>
          <p:nvPr/>
        </p:nvSpPr>
        <p:spPr>
          <a:xfrm>
            <a:off x="722376" y="850392"/>
            <a:ext cx="16843248" cy="310896"/>
          </a:xfrm>
          <a:prstGeom prst="rect">
            <a:avLst/>
          </a:prstGeom>
          <a:noFill/>
        </p:spPr>
        <p:txBody>
          <a:bodyPr wrap="square" anchor="t" lIns="0" rIns="0" tIns="0" bIns="0">
            <a:spAutoFit/>
          </a:bodyPr>
          <a:lstStyle/>
          <a:p>
            <a:pPr algn="l">
              <a:lnSpc>
                <a:spcPct val="115000"/>
              </a:lnSpc>
            </a:pPr>
            <a:r>
              <a:rPr sz="1800" b="1">
                <a:solidFill>
                  <a:srgbClr val="1428A0"/>
                </a:solidFill>
                <a:latin typeface="Arial"/>
                <a:ea typeface="Arial"/>
              </a:rPr>
              <a:t>실행과 결론</a:t>
            </a:r>
          </a:p>
        </p:txBody>
      </p:sp>
      <p:sp>
        <p:nvSpPr>
          <p:cNvPr id="5" name="TextBox 4"/>
          <p:cNvSpPr txBox="1"/>
          <p:nvPr/>
        </p:nvSpPr>
        <p:spPr>
          <a:xfrm>
            <a:off x="722376" y="1216152"/>
            <a:ext cx="16843248" cy="566928"/>
          </a:xfrm>
          <a:prstGeom prst="rect">
            <a:avLst/>
          </a:prstGeom>
          <a:noFill/>
        </p:spPr>
        <p:txBody>
          <a:bodyPr wrap="square" anchor="t" lIns="0" rIns="0" tIns="0" bIns="0">
            <a:spAutoFit/>
          </a:bodyPr>
          <a:lstStyle/>
          <a:p>
            <a:pPr algn="l">
              <a:lnSpc>
                <a:spcPct val="115000"/>
              </a:lnSpc>
            </a:pPr>
            <a:r>
              <a:rPr sz="3300" b="1">
                <a:solidFill>
                  <a:srgbClr val="1A1A1A"/>
                </a:solidFill>
                <a:latin typeface="Arial"/>
                <a:ea typeface="Arial"/>
              </a:rPr>
              <a:t>공급자 우위인 지금, 물량 계약을 공동 플랫폼 계약으로 격상합니다</a:t>
            </a:r>
          </a:p>
        </p:txBody>
      </p:sp>
      <p:sp>
        <p:nvSpPr>
          <p:cNvPr id="6" name="TextBox 5"/>
          <p:cNvSpPr txBox="1"/>
          <p:nvPr/>
        </p:nvSpPr>
        <p:spPr>
          <a:xfrm>
            <a:off x="722376" y="1865376"/>
            <a:ext cx="16843248" cy="402336"/>
          </a:xfrm>
          <a:prstGeom prst="rect">
            <a:avLst/>
          </a:prstGeom>
          <a:noFill/>
        </p:spPr>
        <p:txBody>
          <a:bodyPr wrap="square" anchor="t" lIns="0" rIns="0" tIns="0" bIns="0">
            <a:spAutoFit/>
          </a:bodyPr>
          <a:lstStyle/>
          <a:p>
            <a:pPr algn="l">
              <a:lnSpc>
                <a:spcPct val="115000"/>
              </a:lnSpc>
            </a:pPr>
            <a:r>
              <a:rPr sz="2100" b="0">
                <a:solidFill>
                  <a:srgbClr val="555555"/>
                </a:solidFill>
                <a:latin typeface="Arial"/>
                <a:ea typeface="Arial"/>
              </a:rPr>
              <a:t>장기 물량과 워크로드 협력을 한 계약으로 묶고, 생태계 조직을 강화합니다. 목표는 세 번째 비중 전환입니다.</a:t>
            </a:r>
          </a:p>
        </p:txBody>
      </p:sp>
      <p:sp>
        <p:nvSpPr>
          <p:cNvPr id="7" name="Rectangle 6"/>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22376" y="2697480"/>
            <a:ext cx="10058400" cy="274320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990088"/>
            <a:ext cx="9400032"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제휴 패키지 · 문을 여는 법</a:t>
            </a:r>
          </a:p>
        </p:txBody>
      </p:sp>
      <p:sp>
        <p:nvSpPr>
          <p:cNvPr id="10" name="TextBox 9"/>
          <p:cNvSpPr txBox="1"/>
          <p:nvPr/>
        </p:nvSpPr>
        <p:spPr>
          <a:xfrm>
            <a:off x="1051560" y="3429000"/>
            <a:ext cx="9400032" cy="38404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물량을 주고, 워크로드를 받습니다</a:t>
            </a:r>
          </a:p>
        </p:txBody>
      </p:sp>
      <p:sp>
        <p:nvSpPr>
          <p:cNvPr id="11" name="TextBox 10"/>
          <p:cNvSpPr txBox="1"/>
          <p:nvPr/>
        </p:nvSpPr>
        <p:spPr>
          <a:xfrm>
            <a:off x="1051560" y="3941063"/>
            <a:ext cx="9400032" cy="124358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공급 부족 국면에 장기 물량과 가격 확약을 주고, 워크로드 정보와 공동 로드맵을 계약된 권리로 받습니다. 마이크론과 앤트로픽이 2026년 6월 같은 구조의 계약을 맺었고, 삼성도 앤트로픽 투자에 이미 참여하고 있습니다. 1순위는 FDP를 함께 설계해 온 구글입니다.</a:t>
            </a:r>
          </a:p>
        </p:txBody>
      </p:sp>
      <p:sp>
        <p:nvSpPr>
          <p:cNvPr id="12" name="Rectangle 11"/>
          <p:cNvSpPr/>
          <p:nvPr/>
        </p:nvSpPr>
        <p:spPr>
          <a:xfrm>
            <a:off x="722376" y="5623560"/>
            <a:ext cx="10058400" cy="246888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5916168"/>
            <a:ext cx="9400032"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조직 · 두 트랙과 결정 요청</a:t>
            </a:r>
          </a:p>
        </p:txBody>
      </p:sp>
      <p:sp>
        <p:nvSpPr>
          <p:cNvPr id="14" name="TextBox 13"/>
          <p:cNvSpPr txBox="1"/>
          <p:nvPr/>
        </p:nvSpPr>
        <p:spPr>
          <a:xfrm>
            <a:off x="1051560" y="6355080"/>
            <a:ext cx="9400032" cy="384048"/>
          </a:xfrm>
          <a:prstGeom prst="rect">
            <a:avLst/>
          </a:prstGeom>
          <a:noFill/>
        </p:spPr>
        <p:txBody>
          <a:bodyPr wrap="square" anchor="t" lIns="0" rIns="0" tIns="0" bIns="0">
            <a:spAutoFit/>
          </a:bodyPr>
          <a:lstStyle/>
          <a:p>
            <a:pPr algn="l">
              <a:lnSpc>
                <a:spcPct val="115000"/>
              </a:lnSpc>
            </a:pPr>
            <a:r>
              <a:rPr sz="2175" b="1">
                <a:solidFill>
                  <a:srgbClr val="1A1A1A"/>
                </a:solidFill>
                <a:latin typeface="Arial"/>
                <a:ea typeface="Arial"/>
              </a:rPr>
              <a:t>제품은 기존 조직으로, 생태계는 새 조직으로 갑니다</a:t>
            </a:r>
          </a:p>
        </p:txBody>
      </p:sp>
      <p:sp>
        <p:nvSpPr>
          <p:cNvPr id="15" name="TextBox 14"/>
          <p:cNvSpPr txBox="1"/>
          <p:nvPr/>
        </p:nvSpPr>
        <p:spPr>
          <a:xfrm>
            <a:off x="1051560" y="6867144"/>
            <a:ext cx="9400032" cy="96926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FDP 제품 개발은 데이터센터 전담 조직의 강점을 그대로 씁니다. 오픈소스 기여자와 메인테이너, 고객 현장 상주 엔지니어는 새로 키워야 하며, 이 증원이 이번 보고의 결정 요청입니다.</a:t>
            </a:r>
          </a:p>
        </p:txBody>
      </p:sp>
      <p:sp>
        <p:nvSpPr>
          <p:cNvPr id="16" name="TextBox 15"/>
          <p:cNvSpPr txBox="1"/>
          <p:nvPr/>
        </p:nvSpPr>
        <p:spPr>
          <a:xfrm>
            <a:off x="11082528" y="2697480"/>
            <a:ext cx="6483096" cy="329184"/>
          </a:xfrm>
          <a:prstGeom prst="rect">
            <a:avLst/>
          </a:prstGeom>
          <a:noFill/>
        </p:spPr>
        <p:txBody>
          <a:bodyPr wrap="square" anchor="t" lIns="0" rIns="0" tIns="0" bIns="0">
            <a:spAutoFit/>
          </a:bodyPr>
          <a:lstStyle/>
          <a:p>
            <a:pPr algn="l">
              <a:lnSpc>
                <a:spcPct val="115000"/>
              </a:lnSpc>
            </a:pPr>
            <a:r>
              <a:rPr sz="2025" b="1">
                <a:solidFill>
                  <a:srgbClr val="1428A0"/>
                </a:solidFill>
                <a:latin typeface="Arial"/>
                <a:ea typeface="Arial"/>
              </a:rPr>
              <a:t>세 번째 비중 전환</a:t>
            </a:r>
          </a:p>
        </p:txBody>
      </p:sp>
      <p:sp>
        <p:nvSpPr>
          <p:cNvPr id="17" name="Rectangle 16"/>
          <p:cNvSpPr/>
          <p:nvPr/>
        </p:nvSpPr>
        <p:spPr>
          <a:xfrm>
            <a:off x="11082528" y="3182112"/>
            <a:ext cx="6483096" cy="8961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11711" y="3291840"/>
            <a:ext cx="5824728" cy="347472"/>
          </a:xfrm>
          <a:prstGeom prst="rect">
            <a:avLst/>
          </a:prstGeom>
          <a:noFill/>
        </p:spPr>
        <p:txBody>
          <a:bodyPr wrap="square" anchor="t" lIns="0" rIns="0" tIns="0" bIns="0">
            <a:spAutoFit/>
          </a:bodyPr>
          <a:lstStyle/>
          <a:p>
            <a:pPr algn="l">
              <a:lnSpc>
                <a:spcPct val="115000"/>
              </a:lnSpc>
            </a:pPr>
            <a:r>
              <a:rPr sz="1950" b="1">
                <a:solidFill>
                  <a:srgbClr val="1A1A1A"/>
                </a:solidFill>
                <a:latin typeface="Arial"/>
                <a:ea typeface="Arial"/>
              </a:rPr>
              <a:t>① 낸드를 SSD로</a:t>
            </a:r>
          </a:p>
        </p:txBody>
      </p:sp>
      <p:sp>
        <p:nvSpPr>
          <p:cNvPr id="19" name="TextBox 18"/>
          <p:cNvSpPr txBox="1"/>
          <p:nvPr/>
        </p:nvSpPr>
        <p:spPr>
          <a:xfrm>
            <a:off x="11411711" y="3666744"/>
            <a:ext cx="5824728"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2005년부터 · 완제품으로 올라섰습니다</a:t>
            </a:r>
          </a:p>
        </p:txBody>
      </p:sp>
      <p:sp>
        <p:nvSpPr>
          <p:cNvPr id="20" name="Down Arrow 19"/>
          <p:cNvSpPr/>
          <p:nvPr/>
        </p:nvSpPr>
        <p:spPr>
          <a:xfrm>
            <a:off x="14205203" y="4123944"/>
            <a:ext cx="237744"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082528" y="4389120"/>
            <a:ext cx="6483096" cy="8961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411711" y="4498848"/>
            <a:ext cx="5824728" cy="347472"/>
          </a:xfrm>
          <a:prstGeom prst="rect">
            <a:avLst/>
          </a:prstGeom>
          <a:noFill/>
        </p:spPr>
        <p:txBody>
          <a:bodyPr wrap="square" anchor="t" lIns="0" rIns="0" tIns="0" bIns="0">
            <a:spAutoFit/>
          </a:bodyPr>
          <a:lstStyle/>
          <a:p>
            <a:pPr algn="l">
              <a:lnSpc>
                <a:spcPct val="115000"/>
              </a:lnSpc>
            </a:pPr>
            <a:r>
              <a:rPr sz="1950" b="1">
                <a:solidFill>
                  <a:srgbClr val="1A1A1A"/>
                </a:solidFill>
                <a:latin typeface="Arial"/>
                <a:ea typeface="Arial"/>
              </a:rPr>
              <a:t>② SSD를 서버 SSD로</a:t>
            </a:r>
          </a:p>
        </p:txBody>
      </p:sp>
      <p:sp>
        <p:nvSpPr>
          <p:cNvPr id="23" name="TextBox 22"/>
          <p:cNvSpPr txBox="1"/>
          <p:nvPr/>
        </p:nvSpPr>
        <p:spPr>
          <a:xfrm>
            <a:off x="11411711" y="4873752"/>
            <a:ext cx="5824728"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2017년부터 · 점유율 38.2% 1위</a:t>
            </a:r>
          </a:p>
        </p:txBody>
      </p:sp>
      <p:sp>
        <p:nvSpPr>
          <p:cNvPr id="24" name="Down Arrow 23"/>
          <p:cNvSpPr/>
          <p:nvPr/>
        </p:nvSpPr>
        <p:spPr>
          <a:xfrm>
            <a:off x="14205203" y="5330951"/>
            <a:ext cx="237744"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082528" y="5596128"/>
            <a:ext cx="6483096" cy="89611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411711" y="5705856"/>
            <a:ext cx="5824728" cy="347472"/>
          </a:xfrm>
          <a:prstGeom prst="rect">
            <a:avLst/>
          </a:prstGeom>
          <a:noFill/>
        </p:spPr>
        <p:txBody>
          <a:bodyPr wrap="square" anchor="t" lIns="0" rIns="0" tIns="0" bIns="0">
            <a:spAutoFit/>
          </a:bodyPr>
          <a:lstStyle/>
          <a:p>
            <a:pPr algn="l">
              <a:lnSpc>
                <a:spcPct val="115000"/>
              </a:lnSpc>
            </a:pPr>
            <a:r>
              <a:rPr sz="1950" b="1">
                <a:solidFill>
                  <a:srgbClr val="FFFFFF"/>
                </a:solidFill>
                <a:latin typeface="Arial"/>
                <a:ea typeface="Arial"/>
              </a:rPr>
              <a:t>③ 서버 SSD를 FDP SSD로</a:t>
            </a:r>
          </a:p>
        </p:txBody>
      </p:sp>
      <p:sp>
        <p:nvSpPr>
          <p:cNvPr id="27" name="TextBox 26"/>
          <p:cNvSpPr txBox="1"/>
          <p:nvPr/>
        </p:nvSpPr>
        <p:spPr>
          <a:xfrm>
            <a:off x="11411711" y="6080760"/>
            <a:ext cx="5824728" cy="310896"/>
          </a:xfrm>
          <a:prstGeom prst="rect">
            <a:avLst/>
          </a:prstGeom>
          <a:noFill/>
        </p:spPr>
        <p:txBody>
          <a:bodyPr wrap="square" anchor="t" lIns="0" rIns="0" tIns="0" bIns="0">
            <a:spAutoFit/>
          </a:bodyPr>
          <a:lstStyle/>
          <a:p>
            <a:pPr algn="l">
              <a:lnSpc>
                <a:spcPct val="115000"/>
              </a:lnSpc>
            </a:pPr>
            <a:r>
              <a:rPr sz="1800" b="0">
                <a:solidFill>
                  <a:srgbClr val="FFFFFF"/>
                </a:solidFill>
                <a:latin typeface="Arial"/>
                <a:ea typeface="Arial"/>
              </a:rPr>
              <a:t>지금 · 표준과 생태계로 지킵니다</a:t>
            </a:r>
          </a:p>
        </p:txBody>
      </p:sp>
      <p:sp>
        <p:nvSpPr>
          <p:cNvPr id="28" name="TextBox 27"/>
          <p:cNvSpPr txBox="1"/>
          <p:nvPr/>
        </p:nvSpPr>
        <p:spPr>
          <a:xfrm>
            <a:off x="11082528" y="6903720"/>
            <a:ext cx="6483096" cy="420624"/>
          </a:xfrm>
          <a:prstGeom prst="rect">
            <a:avLst/>
          </a:prstGeom>
          <a:noFill/>
        </p:spPr>
        <p:txBody>
          <a:bodyPr wrap="square" anchor="t" lIns="0" rIns="0" tIns="0" bIns="0">
            <a:spAutoFit/>
          </a:bodyPr>
          <a:lstStyle/>
          <a:p>
            <a:pPr algn="l">
              <a:lnSpc>
                <a:spcPct val="115000"/>
              </a:lnSpc>
            </a:pPr>
            <a:r>
              <a:rPr sz="2550" b="1">
                <a:solidFill>
                  <a:srgbClr val="1A1A1A"/>
                </a:solidFill>
                <a:latin typeface="Arial"/>
                <a:ea typeface="Arial"/>
              </a:rPr>
              <a:t>2027년 이전</a:t>
            </a:r>
          </a:p>
        </p:txBody>
      </p:sp>
      <p:sp>
        <p:nvSpPr>
          <p:cNvPr id="29" name="TextBox 28"/>
          <p:cNvSpPr txBox="1"/>
          <p:nvPr/>
        </p:nvSpPr>
        <p:spPr>
          <a:xfrm>
            <a:off x="11082528" y="7379208"/>
            <a:ext cx="6483096" cy="603504"/>
          </a:xfrm>
          <a:prstGeom prst="rect">
            <a:avLst/>
          </a:prstGeom>
          <a:noFill/>
        </p:spPr>
        <p:txBody>
          <a:bodyPr wrap="square" anchor="t" lIns="0" rIns="0" tIns="0" bIns="0">
            <a:spAutoFit/>
          </a:bodyPr>
          <a:lstStyle/>
          <a:p>
            <a:pPr algn="l">
              <a:lnSpc>
                <a:spcPct val="115000"/>
              </a:lnSpc>
            </a:pPr>
            <a:r>
              <a:rPr sz="1875" b="0">
                <a:solidFill>
                  <a:srgbClr val="555555"/>
                </a:solidFill>
                <a:latin typeface="Arial"/>
                <a:ea typeface="Arial"/>
              </a:rPr>
              <a:t>실행 창 · 경쟁사가 생태계 자리를 선점하기 전</a:t>
            </a:r>
          </a:p>
        </p:txBody>
      </p:sp>
      <p:sp>
        <p:nvSpPr>
          <p:cNvPr id="30" name="Rectangle 29"/>
          <p:cNvSpPr/>
          <p:nvPr/>
        </p:nvSpPr>
        <p:spPr>
          <a:xfrm>
            <a:off x="722376" y="8247888"/>
            <a:ext cx="16843248" cy="11704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79576" y="8485632"/>
            <a:ext cx="15928848" cy="292608"/>
          </a:xfrm>
          <a:prstGeom prst="rect">
            <a:avLst/>
          </a:prstGeom>
          <a:noFill/>
        </p:spPr>
        <p:txBody>
          <a:bodyPr wrap="square" anchor="t" lIns="0" rIns="0" tIns="0" bIns="0">
            <a:spAutoFit/>
          </a:bodyPr>
          <a:lstStyle/>
          <a:p>
            <a:pPr algn="l">
              <a:lnSpc>
                <a:spcPct val="115000"/>
              </a:lnSpc>
            </a:pPr>
            <a:r>
              <a:rPr sz="1875" b="0">
                <a:solidFill>
                  <a:srgbClr val="FFFFFF"/>
                </a:solidFill>
                <a:latin typeface="Arial"/>
                <a:ea typeface="Arial"/>
              </a:rPr>
              <a:t>결론</a:t>
            </a:r>
          </a:p>
        </p:txBody>
      </p:sp>
      <p:sp>
        <p:nvSpPr>
          <p:cNvPr id="32" name="TextBox 31"/>
          <p:cNvSpPr txBox="1"/>
          <p:nvPr/>
        </p:nvSpPr>
        <p:spPr>
          <a:xfrm>
            <a:off x="1179576" y="8851392"/>
            <a:ext cx="15928848" cy="548640"/>
          </a:xfrm>
          <a:prstGeom prst="rect">
            <a:avLst/>
          </a:prstGeom>
          <a:noFill/>
        </p:spPr>
        <p:txBody>
          <a:bodyPr wrap="square" anchor="t" lIns="0" rIns="0" tIns="0" bIns="0">
            <a:spAutoFit/>
          </a:bodyPr>
          <a:lstStyle/>
          <a:p>
            <a:pPr algn="l">
              <a:lnSpc>
                <a:spcPct val="115000"/>
              </a:lnSpc>
            </a:pPr>
            <a:r>
              <a:rPr sz="2400" b="1">
                <a:solidFill>
                  <a:srgbClr val="FFFFFF"/>
                </a:solidFill>
                <a:latin typeface="Arial"/>
                <a:ea typeface="Arial"/>
              </a:rPr>
              <a:t>혼자 잘하는 회사에서 고객과 함께 잘하는 회사로, 지금 심어야 다음 하강기에 부드럽게 내려갑니다</a:t>
            </a:r>
          </a:p>
        </p:txBody>
      </p:sp>
      <p:sp>
        <p:nvSpPr>
          <p:cNvPr id="33" name="TextBox 32"/>
          <p:cNvSpPr txBox="1"/>
          <p:nvPr/>
        </p:nvSpPr>
        <p:spPr>
          <a:xfrm>
            <a:off x="722376" y="9592056"/>
            <a:ext cx="14264640" cy="310896"/>
          </a:xfrm>
          <a:prstGeom prst="rect">
            <a:avLst/>
          </a:prstGeom>
          <a:noFill/>
        </p:spPr>
        <p:txBody>
          <a:bodyPr wrap="square" anchor="t" lIns="0" rIns="0" tIns="0" bIns="0">
            <a:spAutoFit/>
          </a:bodyPr>
          <a:lstStyle/>
          <a:p>
            <a:pPr algn="l">
              <a:lnSpc>
                <a:spcPct val="115000"/>
              </a:lnSpc>
            </a:pPr>
            <a:r>
              <a:rPr sz="1800" b="0">
                <a:solidFill>
                  <a:srgbClr val="555555"/>
                </a:solidFill>
                <a:latin typeface="Arial"/>
                <a:ea typeface="Arial"/>
              </a:rPr>
              <a:t>출처: 삼성 SSD 전략적 방향성 보고서 v1.1 · 마이크론 앤트로픽 계약 공시 (2026년 8월)</a:t>
            </a:r>
          </a:p>
        </p:txBody>
      </p:sp>
      <p:sp>
        <p:nvSpPr>
          <p:cNvPr id="34" name="TextBox 33"/>
          <p:cNvSpPr txBox="1"/>
          <p:nvPr/>
        </p:nvSpPr>
        <p:spPr>
          <a:xfrm>
            <a:off x="16047720" y="9592056"/>
            <a:ext cx="1517904" cy="310896"/>
          </a:xfrm>
          <a:prstGeom prst="rect">
            <a:avLst/>
          </a:prstGeom>
          <a:noFill/>
        </p:spPr>
        <p:txBody>
          <a:bodyPr wrap="square" anchor="t" lIns="0" rIns="0" tIns="0" bIns="0">
            <a:spAutoFit/>
          </a:bodyPr>
          <a:lstStyle/>
          <a:p>
            <a:pPr algn="r">
              <a:lnSpc>
                <a:spcPct val="115000"/>
              </a:lnSpc>
            </a:pPr>
            <a:r>
              <a:rPr sz="1800" b="0">
                <a:solidFill>
                  <a:srgbClr val="555555"/>
                </a:solidFill>
                <a:latin typeface="Arial"/>
                <a:ea typeface="Arial"/>
              </a:rPr>
              <a:t>05 / 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