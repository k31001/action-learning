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시안 A 평면도형. 위 60%는 세 효과를 Fab 바닥에서 일어나는 일로 그렸습니다. 1 공간: 분리 Fab은 모델이 섞이고 빈 공간이 생기지만, 통합 Fab은 같은 모델을 줄지어 놓아 공간이 남습니다. 2 대응력: 시황이 DRAM과 NAND 사이를 오갈 때 분리 Fab은 한쪽이 놀고 한쪽이 막히지만, 통합 Fab은 설비를 돌려 써서 전량 가동합니다. 3 통일성: 라인마다 다른 모델을 공용 모델로 모으면 모델당 발주 물량이 커져 구매 협상력이 생깁니다. 아래 40%는 DRAM과 NAND의 BEOL 조직을 반도체연구소 · MTC 산하 하나의 조직으로 합치고, 그 조직이 세 효과를 각각 책임지는 구조입니다.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시안 B 차트형. 왼쪽 60%는 효과마다 개념 차트 하나로 원리를 보입니다. 1 공간: 같은 바닥 면적에서 Dead Space가 줄어든 만큼 설비를 더 놓습니다. 2 대응력: DRAM과 NAND의 수요 피크가 엇갈리므로, 합산 수요의 피크는 각 피크의 합보다 낮습니다. 그 차이만큼 유휴 설비가 줄어듭니다. 3 통일성: 설비 모델 수는 줄고 모델당 구매 물량은 늘어 협상력이 생깁니다. 차트는 방향만 보이는 개념도이며 수치는 Fab별 검증 후 채웁니다. 오른쪽 40%는 반도체연구소와 MTC 산하에 DRAM · NAND BEOL을 합친 통합조직을 두고, 세 효과에 대응하는 기능 셋을 둔 조직도입니다.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시안 C 건축형. 슬라이드 전체를 한 채의 건물로 읽습니다. 지붕은 결론, 즉 종합 반도체로서 기술 · 생산 경쟁력에 효율 · 유연성과 Buying Power를 더한다는 것입니다. 지붕을 받치는 기둥 셋이 기대 효과이고, 각 기둥의 벽돌 세 장이 효과의 구체 항목입니다. 기둥은 Common Platform이라는 기초 위에 서 있고, 기초 윗면의 패드 줄은 Bonding 계면을 뜻합니다. 맨 아래 운영 제언은 DRAM과 NAND의 BEOL 조직을 웨이퍼처럼 Bonding해 하나의 통합조직으로 만들고, 그 조직이 반도체연구소 / MTC 산하에서 기초를 운영한다는 그림입니다.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1 / 3  시안 A · 평면도형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2157984"/>
            <a:ext cx="420624" cy="420624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1579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103120"/>
            <a:ext cx="480974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Space Efficiency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4928616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882896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5330952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5285232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" y="5733288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5687568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15" name="Oval 14"/>
          <p:cNvSpPr/>
          <p:nvPr/>
        </p:nvSpPr>
        <p:spPr>
          <a:xfrm>
            <a:off x="6464808" y="2157984"/>
            <a:ext cx="420624" cy="420624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21579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3448" y="2103120"/>
            <a:ext cx="480974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Market Agility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4808" y="4928616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84264" y="4882896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4808" y="5330952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5285232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64808" y="5733288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5687568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24" name="Oval 23"/>
          <p:cNvSpPr/>
          <p:nvPr/>
        </p:nvSpPr>
        <p:spPr>
          <a:xfrm>
            <a:off x="12207240" y="2157984"/>
            <a:ext cx="420624" cy="420624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207240" y="21579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55880" y="2103120"/>
            <a:ext cx="480974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Equipment Unif.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207240" y="4928616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426696" y="4882896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207240" y="5330952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26696" y="5285232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07240" y="5733288"/>
            <a:ext cx="64008" cy="2743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26696" y="5687568"/>
            <a:ext cx="5138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2724912"/>
            <a:ext cx="22860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865376" y="2724912"/>
            <a:ext cx="0" cy="1627632"/>
          </a:xfrm>
          <a:prstGeom prst="line">
            <a:avLst/>
          </a:prstGeom>
          <a:ln w="25400">
            <a:solidFill>
              <a:srgbClr val="8A8A8A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795528" y="27614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DRAM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38528" y="27614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NAND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0392" y="3127248"/>
            <a:ext cx="219456" cy="21945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88720" y="3127248"/>
            <a:ext cx="219456" cy="219456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90472" y="3090672"/>
            <a:ext cx="292608" cy="292608"/>
          </a:xfrm>
          <a:prstGeom prst="rect">
            <a:avLst/>
          </a:prstGeom>
          <a:pattFill prst="wdUpDiag">
            <a:fgClr>
              <a:srgbClr val="B4B4B4"/>
            </a:fgClr>
            <a:bgClr>
              <a:srgbClr val="FFFFFF"/>
            </a:bgClr>
          </a:pattFill>
          <a:ln w="9525">
            <a:solidFill>
              <a:srgbClr val="B4B4B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3816" y="3493008"/>
            <a:ext cx="292608" cy="292608"/>
          </a:xfrm>
          <a:prstGeom prst="rect">
            <a:avLst/>
          </a:prstGeom>
          <a:pattFill prst="wdUpDiag">
            <a:fgClr>
              <a:srgbClr val="B4B4B4"/>
            </a:fgClr>
            <a:bgClr>
              <a:srgbClr val="FFFFFF"/>
            </a:bgClr>
          </a:pattFill>
          <a:ln w="9525">
            <a:solidFill>
              <a:srgbClr val="B4B4B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>
            <a:off x="1188720" y="3529584"/>
            <a:ext cx="219456" cy="219456"/>
          </a:xfrm>
          <a:prstGeom prst="triangl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27048" y="3529584"/>
            <a:ext cx="219456" cy="21945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850392" y="3931920"/>
            <a:ext cx="219456" cy="219456"/>
          </a:xfrm>
          <a:prstGeom prst="diamond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52144" y="3895344"/>
            <a:ext cx="292608" cy="292608"/>
          </a:xfrm>
          <a:prstGeom prst="rect">
            <a:avLst/>
          </a:prstGeom>
          <a:pattFill prst="wdUpDiag">
            <a:fgClr>
              <a:srgbClr val="B4B4B4"/>
            </a:fgClr>
            <a:bgClr>
              <a:srgbClr val="FFFFFF"/>
            </a:bgClr>
          </a:pattFill>
          <a:ln w="9525">
            <a:solidFill>
              <a:srgbClr val="B4B4B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27048" y="3931920"/>
            <a:ext cx="219456" cy="219456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93392" y="3127248"/>
            <a:ext cx="219456" cy="219456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95144" y="3090672"/>
            <a:ext cx="292608" cy="292608"/>
          </a:xfrm>
          <a:prstGeom prst="rect">
            <a:avLst/>
          </a:prstGeom>
          <a:pattFill prst="wdUpDiag">
            <a:fgClr>
              <a:srgbClr val="B4B4B4"/>
            </a:fgClr>
            <a:bgClr>
              <a:srgbClr val="FFFFFF"/>
            </a:bgClr>
          </a:pattFill>
          <a:ln w="9525">
            <a:solidFill>
              <a:srgbClr val="B4B4B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2670048" y="3127248"/>
            <a:ext cx="219456" cy="219456"/>
          </a:xfrm>
          <a:prstGeom prst="hexagon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993392" y="3529584"/>
            <a:ext cx="219456" cy="21945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2331720" y="3529584"/>
            <a:ext cx="219456" cy="219456"/>
          </a:xfrm>
          <a:prstGeom prst="diamond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33472" y="3493008"/>
            <a:ext cx="292608" cy="292608"/>
          </a:xfrm>
          <a:prstGeom prst="rect">
            <a:avLst/>
          </a:prstGeom>
          <a:pattFill prst="wdUpDiag">
            <a:fgClr>
              <a:srgbClr val="B4B4B4"/>
            </a:fgClr>
            <a:bgClr>
              <a:srgbClr val="FFFFFF"/>
            </a:bgClr>
          </a:pattFill>
          <a:ln w="9525">
            <a:solidFill>
              <a:srgbClr val="B4B4B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56816" y="3895344"/>
            <a:ext cx="292608" cy="292608"/>
          </a:xfrm>
          <a:prstGeom prst="rect">
            <a:avLst/>
          </a:prstGeom>
          <a:pattFill prst="wdUpDiag">
            <a:fgClr>
              <a:srgbClr val="B4B4B4"/>
            </a:fgClr>
            <a:bgClr>
              <a:srgbClr val="FFFFFF"/>
            </a:bgClr>
          </a:pattFill>
          <a:ln w="9525">
            <a:solidFill>
              <a:srgbClr val="B4B4B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331720" y="3931920"/>
            <a:ext cx="219456" cy="21945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sosceles Triangle 53"/>
          <p:cNvSpPr/>
          <p:nvPr/>
        </p:nvSpPr>
        <p:spPr>
          <a:xfrm>
            <a:off x="2670048" y="3931920"/>
            <a:ext cx="219456" cy="219456"/>
          </a:xfrm>
          <a:prstGeom prst="triangl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ight Arrow 54"/>
          <p:cNvSpPr/>
          <p:nvPr/>
        </p:nvSpPr>
        <p:spPr>
          <a:xfrm>
            <a:off x="3099816" y="3392424"/>
            <a:ext cx="438912" cy="292608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30168" y="2724912"/>
            <a:ext cx="2286000" cy="1627632"/>
          </a:xfrm>
          <a:prstGeom prst="rect">
            <a:avLst/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03320" y="27614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DRAM + NAND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39896" y="3127248"/>
            <a:ext cx="219456" cy="21945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14215" y="3127248"/>
            <a:ext cx="219456" cy="21945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88536" y="3127248"/>
            <a:ext cx="219456" cy="21945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856" y="3127248"/>
            <a:ext cx="219456" cy="21945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37176" y="3127248"/>
            <a:ext cx="219456" cy="21945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39896" y="3511296"/>
            <a:ext cx="219456" cy="219456"/>
          </a:xfrm>
          <a:prstGeom prst="ellipse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14215" y="3511296"/>
            <a:ext cx="219456" cy="219456"/>
          </a:xfrm>
          <a:prstGeom prst="ellipse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88536" y="3511296"/>
            <a:ext cx="219456" cy="219456"/>
          </a:xfrm>
          <a:prstGeom prst="ellipse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62856" y="3511296"/>
            <a:ext cx="219456" cy="219456"/>
          </a:xfrm>
          <a:prstGeom prst="ellipse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837176" y="3511296"/>
            <a:ext cx="219456" cy="219456"/>
          </a:xfrm>
          <a:prstGeom prst="ellipse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3739896" y="3895344"/>
            <a:ext cx="219456" cy="219456"/>
          </a:xfrm>
          <a:prstGeom prst="diamond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Diamond 68"/>
          <p:cNvSpPr/>
          <p:nvPr/>
        </p:nvSpPr>
        <p:spPr>
          <a:xfrm>
            <a:off x="4014215" y="3895344"/>
            <a:ext cx="219456" cy="219456"/>
          </a:xfrm>
          <a:prstGeom prst="diamond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4288536" y="3895344"/>
            <a:ext cx="219456" cy="219456"/>
          </a:xfrm>
          <a:prstGeom prst="diamond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4562856" y="3895344"/>
            <a:ext cx="219456" cy="219456"/>
          </a:xfrm>
          <a:prstGeom prst="diamond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4837176" y="3895344"/>
            <a:ext cx="219456" cy="219456"/>
          </a:xfrm>
          <a:prstGeom prst="diamond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166360" y="3108960"/>
            <a:ext cx="640080" cy="1115568"/>
          </a:xfrm>
          <a:prstGeom prst="rect">
            <a:avLst/>
          </a:prstGeom>
          <a:solidFill>
            <a:srgbClr val="F0F2F8"/>
          </a:solidFill>
          <a:ln w="12700">
            <a:solidFill>
              <a:srgbClr val="3C4FA5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66360" y="3108960"/>
            <a:ext cx="640080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확보</a:t>
            </a:r>
          </a:p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공간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2376" y="4425696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Fab 분리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30168" y="4425696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Common Platform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64808" y="2724912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시황 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53528" y="2724912"/>
            <a:ext cx="13898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DRAM 강세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43416" y="2724912"/>
            <a:ext cx="13898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NAND 강세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33304" y="2724912"/>
            <a:ext cx="13898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DRAM 강세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653528" y="3090672"/>
            <a:ext cx="4169664" cy="0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6464808" y="3163824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Fab 분리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76972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078724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380476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82228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76972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78724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380476" y="3515868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82228" y="3515868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31252" y="3168396"/>
            <a:ext cx="1234440" cy="329184"/>
          </a:xfrm>
          <a:prstGeom prst="rect">
            <a:avLst/>
          </a:prstGeom>
          <a:noFill/>
          <a:ln w="25400">
            <a:solidFill>
              <a:srgbClr val="D930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66860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468612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770364" y="3214115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072116" y="3214115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166860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468612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770364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072116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121140" y="3470148"/>
            <a:ext cx="1234440" cy="329184"/>
          </a:xfrm>
          <a:prstGeom prst="rect">
            <a:avLst/>
          </a:prstGeom>
          <a:noFill/>
          <a:ln w="25400">
            <a:solidFill>
              <a:srgbClr val="D930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56748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58500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160252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462004" y="3214115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56748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858500" y="351586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160252" y="3515868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462004" y="3515868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11028" y="3168396"/>
            <a:ext cx="1234440" cy="329184"/>
          </a:xfrm>
          <a:prstGeom prst="rect">
            <a:avLst/>
          </a:prstGeom>
          <a:noFill/>
          <a:ln w="25400">
            <a:solidFill>
              <a:srgbClr val="D930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64808" y="3877056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Common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776972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78724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380476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682228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76972" y="4229100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078724" y="4229100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380476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682228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166860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468612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770364" y="392734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072116" y="3927348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66860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468612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770364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072116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556748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858500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160252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462004" y="3927348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0556748" y="4229100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0858500" y="4229100"/>
            <a:ext cx="237744" cy="23774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60252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462004" y="4229100"/>
            <a:ext cx="237744" cy="23774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653528" y="4626864"/>
            <a:ext cx="182880" cy="18288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891272" y="457200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DRAM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59368" y="4626864"/>
            <a:ext cx="182880" cy="18288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897112" y="457200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NAND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665208" y="4626864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902952" y="457200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유휴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671048" y="4626864"/>
            <a:ext cx="182880" cy="182880"/>
          </a:xfrm>
          <a:prstGeom prst="rect">
            <a:avLst/>
          </a:prstGeom>
          <a:noFill/>
          <a:ln w="25400">
            <a:solidFill>
              <a:srgbClr val="D930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908792" y="457200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병목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207240" y="2816352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DRAM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2975336" y="2843784"/>
            <a:ext cx="310896" cy="3108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Isosceles Triangle 144"/>
          <p:cNvSpPr/>
          <p:nvPr/>
        </p:nvSpPr>
        <p:spPr>
          <a:xfrm>
            <a:off x="13359384" y="2843784"/>
            <a:ext cx="310896" cy="310896"/>
          </a:xfrm>
          <a:prstGeom prst="triangle">
            <a:avLst/>
          </a:prstGeom>
          <a:solidFill>
            <a:srgbClr val="5555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3743432" y="2843784"/>
            <a:ext cx="310896" cy="310896"/>
          </a:xfrm>
          <a:prstGeom prst="ellipse">
            <a:avLst/>
          </a:prstGeom>
          <a:solidFill>
            <a:srgbClr val="B4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Hexagon 146"/>
          <p:cNvSpPr/>
          <p:nvPr/>
        </p:nvSpPr>
        <p:spPr>
          <a:xfrm>
            <a:off x="14127480" y="2843784"/>
            <a:ext cx="310896" cy="310896"/>
          </a:xfrm>
          <a:prstGeom prst="hexagon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2207240" y="3383280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NAND</a:t>
            </a:r>
          </a:p>
        </p:txBody>
      </p:sp>
      <p:sp>
        <p:nvSpPr>
          <p:cNvPr id="149" name="Diamond 148"/>
          <p:cNvSpPr/>
          <p:nvPr/>
        </p:nvSpPr>
        <p:spPr>
          <a:xfrm>
            <a:off x="12975336" y="3410712"/>
            <a:ext cx="310896" cy="310896"/>
          </a:xfrm>
          <a:prstGeom prst="diamond">
            <a:avLst/>
          </a:prstGeom>
          <a:solidFill>
            <a:srgbClr val="5555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359384" y="3410712"/>
            <a:ext cx="310896" cy="310896"/>
          </a:xfrm>
          <a:prstGeom prst="rect">
            <a:avLst/>
          </a:prstGeom>
          <a:solidFill>
            <a:srgbClr val="B4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Hexagon 150"/>
          <p:cNvSpPr/>
          <p:nvPr/>
        </p:nvSpPr>
        <p:spPr>
          <a:xfrm>
            <a:off x="13743432" y="3410712"/>
            <a:ext cx="310896" cy="310896"/>
          </a:xfrm>
          <a:prstGeom prst="hexagon">
            <a:avLst/>
          </a:prstGeom>
          <a:solidFill>
            <a:srgbClr val="5555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4127480" y="3410712"/>
            <a:ext cx="310896" cy="310896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ight Arrow 152"/>
          <p:cNvSpPr/>
          <p:nvPr/>
        </p:nvSpPr>
        <p:spPr>
          <a:xfrm>
            <a:off x="14602968" y="3108960"/>
            <a:ext cx="438912" cy="292608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224760" y="2798064"/>
            <a:ext cx="457200" cy="457200"/>
          </a:xfrm>
          <a:prstGeom prst="rect">
            <a:avLst/>
          </a:prstGeom>
          <a:solidFill>
            <a:srgbClr val="C0CAEC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316200" y="2944368"/>
            <a:ext cx="457200" cy="457200"/>
          </a:xfrm>
          <a:prstGeom prst="rect">
            <a:avLst/>
          </a:prstGeom>
          <a:solidFill>
            <a:srgbClr val="677ECD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5407640" y="3090672"/>
            <a:ext cx="457200" cy="457200"/>
          </a:xfrm>
          <a:prstGeom prst="rect">
            <a:avLst/>
          </a:prstGeom>
          <a:solidFill>
            <a:srgbClr val="3C4FA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6011144" y="2798064"/>
            <a:ext cx="457200" cy="457200"/>
          </a:xfrm>
          <a:prstGeom prst="ellipse">
            <a:avLst/>
          </a:prstGeom>
          <a:solidFill>
            <a:srgbClr val="C0CAEC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102584" y="2944368"/>
            <a:ext cx="457200" cy="457200"/>
          </a:xfrm>
          <a:prstGeom prst="ellipse">
            <a:avLst/>
          </a:prstGeom>
          <a:solidFill>
            <a:srgbClr val="677ECD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194024" y="3090672"/>
            <a:ext cx="457200" cy="457200"/>
          </a:xfrm>
          <a:prstGeom prst="ellipse">
            <a:avLst/>
          </a:prstGeom>
          <a:solidFill>
            <a:srgbClr val="3C4FA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Diamond 159"/>
          <p:cNvSpPr/>
          <p:nvPr/>
        </p:nvSpPr>
        <p:spPr>
          <a:xfrm>
            <a:off x="16797528" y="2798064"/>
            <a:ext cx="457200" cy="457200"/>
          </a:xfrm>
          <a:prstGeom prst="diamond">
            <a:avLst/>
          </a:prstGeom>
          <a:solidFill>
            <a:srgbClr val="C0CAEC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Diamond 160"/>
          <p:cNvSpPr/>
          <p:nvPr/>
        </p:nvSpPr>
        <p:spPr>
          <a:xfrm>
            <a:off x="16888968" y="2944368"/>
            <a:ext cx="457200" cy="457200"/>
          </a:xfrm>
          <a:prstGeom prst="diamond">
            <a:avLst/>
          </a:prstGeom>
          <a:solidFill>
            <a:srgbClr val="677ECD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Diamond 161"/>
          <p:cNvSpPr/>
          <p:nvPr/>
        </p:nvSpPr>
        <p:spPr>
          <a:xfrm>
            <a:off x="16980408" y="3090672"/>
            <a:ext cx="457200" cy="457200"/>
          </a:xfrm>
          <a:prstGeom prst="diamond">
            <a:avLst/>
          </a:prstGeom>
          <a:solidFill>
            <a:srgbClr val="3C4FA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2207240" y="3968496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라인별 모델 혼재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041880" y="3968496"/>
            <a:ext cx="2523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공용 모델 집중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2207240" y="4370832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모델당 발주 물량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3990320" y="4462272"/>
            <a:ext cx="502920" cy="18288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ight Arrow 166"/>
          <p:cNvSpPr/>
          <p:nvPr/>
        </p:nvSpPr>
        <p:spPr>
          <a:xfrm>
            <a:off x="14602968" y="4443984"/>
            <a:ext cx="329184" cy="219456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5041880" y="4462272"/>
            <a:ext cx="2523744" cy="18288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22376" y="6254496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722376" y="647395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22376" y="647395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22376" y="70408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22376" y="80467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반도체연구소 / MTC 산하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97680" y="6492240"/>
            <a:ext cx="3017520" cy="841248"/>
          </a:xfrm>
          <a:prstGeom prst="roundRect">
            <a:avLst>
              <a:gd name="adj" fmla="val 8695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4560661" y="6675120"/>
            <a:ext cx="171175" cy="171175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ound Same Side Corner Rectangle 175"/>
          <p:cNvSpPr/>
          <p:nvPr/>
        </p:nvSpPr>
        <p:spPr>
          <a:xfrm>
            <a:off x="4498848" y="6874824"/>
            <a:ext cx="294802" cy="275783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946903" y="6675120"/>
            <a:ext cx="171175" cy="171175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ound Same Side Corner Rectangle 177"/>
          <p:cNvSpPr/>
          <p:nvPr/>
        </p:nvSpPr>
        <p:spPr>
          <a:xfrm>
            <a:off x="4885090" y="6874824"/>
            <a:ext cx="294802" cy="275783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5333146" y="6675120"/>
            <a:ext cx="171175" cy="171175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ound Same Side Corner Rectangle 179"/>
          <p:cNvSpPr/>
          <p:nvPr/>
        </p:nvSpPr>
        <p:spPr>
          <a:xfrm>
            <a:off x="5271333" y="6874824"/>
            <a:ext cx="294802" cy="275783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760720" y="6492240"/>
            <a:ext cx="14813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Fab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BEOL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297680" y="7699248"/>
            <a:ext cx="3017520" cy="841248"/>
          </a:xfrm>
          <a:prstGeom prst="roundRect">
            <a:avLst>
              <a:gd name="adj" fmla="val 8695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4560661" y="7882127"/>
            <a:ext cx="171175" cy="171175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ound Same Side Corner Rectangle 183"/>
          <p:cNvSpPr/>
          <p:nvPr/>
        </p:nvSpPr>
        <p:spPr>
          <a:xfrm>
            <a:off x="4498848" y="8081832"/>
            <a:ext cx="294802" cy="275783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946903" y="7882127"/>
            <a:ext cx="171175" cy="171175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ound Same Side Corner Rectangle 185"/>
          <p:cNvSpPr/>
          <p:nvPr/>
        </p:nvSpPr>
        <p:spPr>
          <a:xfrm>
            <a:off x="4885090" y="8081832"/>
            <a:ext cx="294802" cy="275783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5333146" y="7882127"/>
            <a:ext cx="171175" cy="171175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ound Same Side Corner Rectangle 187"/>
          <p:cNvSpPr/>
          <p:nvPr/>
        </p:nvSpPr>
        <p:spPr>
          <a:xfrm>
            <a:off x="5271333" y="8081832"/>
            <a:ext cx="294802" cy="275783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5760720" y="7699248"/>
            <a:ext cx="148132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Fab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BEOL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7315200" y="6912864"/>
            <a:ext cx="685800" cy="0"/>
          </a:xfrm>
          <a:prstGeom prst="line">
            <a:avLst/>
          </a:prstGeom>
          <a:ln w="25400">
            <a:solidFill>
              <a:srgbClr val="8A8A8A"/>
            </a:solidFill>
          </a:ln>
        </p:spPr>
      </p:cxnSp>
      <p:cxnSp>
        <p:nvCxnSpPr>
          <p:cNvPr id="191" name="Connector 190"/>
          <p:cNvCxnSpPr/>
          <p:nvPr/>
        </p:nvCxnSpPr>
        <p:spPr>
          <a:xfrm>
            <a:off x="7315200" y="8119872"/>
            <a:ext cx="685800" cy="0"/>
          </a:xfrm>
          <a:prstGeom prst="line">
            <a:avLst/>
          </a:prstGeom>
          <a:ln w="25400">
            <a:solidFill>
              <a:srgbClr val="8A8A8A"/>
            </a:solidFill>
          </a:ln>
        </p:spPr>
      </p:cxnSp>
      <p:cxnSp>
        <p:nvCxnSpPr>
          <p:cNvPr id="192" name="Connector 191"/>
          <p:cNvCxnSpPr/>
          <p:nvPr/>
        </p:nvCxnSpPr>
        <p:spPr>
          <a:xfrm>
            <a:off x="8001000" y="6912864"/>
            <a:ext cx="0" cy="1207008"/>
          </a:xfrm>
          <a:prstGeom prst="line">
            <a:avLst/>
          </a:prstGeom>
          <a:ln w="25400">
            <a:solidFill>
              <a:srgbClr val="8A8A8A"/>
            </a:solidFill>
          </a:ln>
        </p:spPr>
      </p:cxnSp>
      <p:cxnSp>
        <p:nvCxnSpPr>
          <p:cNvPr id="193" name="Connector 192"/>
          <p:cNvCxnSpPr/>
          <p:nvPr/>
        </p:nvCxnSpPr>
        <p:spPr>
          <a:xfrm>
            <a:off x="8001000" y="7516368"/>
            <a:ext cx="612648" cy="0"/>
          </a:xfrm>
          <a:prstGeom prst="line">
            <a:avLst/>
          </a:prstGeom>
          <a:ln w="38100">
            <a:solidFill>
              <a:srgbClr val="3C4FA5"/>
            </a:solidFill>
            <a:tailEnd type="triangle" w="med" len="med"/>
          </a:ln>
        </p:spPr>
      </p:cxnSp>
      <p:sp>
        <p:nvSpPr>
          <p:cNvPr id="194" name="TextBox 193"/>
          <p:cNvSpPr txBox="1"/>
          <p:nvPr/>
        </p:nvSpPr>
        <p:spPr>
          <a:xfrm>
            <a:off x="8119872" y="7132320"/>
            <a:ext cx="640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통합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9189720" y="6382512"/>
            <a:ext cx="2926080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189720" y="6382512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555555"/>
                </a:solidFill>
                <a:latin typeface="Arial"/>
                <a:ea typeface="Arial"/>
              </a:rPr>
              <a:t>반도체연구소 · MTC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10652760" y="6766560"/>
            <a:ext cx="0" cy="18288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98" name="Rounded Rectangle 197"/>
          <p:cNvSpPr/>
          <p:nvPr/>
        </p:nvSpPr>
        <p:spPr>
          <a:xfrm>
            <a:off x="8686800" y="694944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686800" y="7040879"/>
            <a:ext cx="39319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200" name="Oval 199"/>
          <p:cNvSpPr/>
          <p:nvPr/>
        </p:nvSpPr>
        <p:spPr>
          <a:xfrm>
            <a:off x="9633204" y="7516367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ound Same Side Corner Rectangle 200"/>
          <p:cNvSpPr/>
          <p:nvPr/>
        </p:nvSpPr>
        <p:spPr>
          <a:xfrm>
            <a:off x="9573768" y="7708392"/>
            <a:ext cx="283464" cy="26517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0008108" y="7516367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ound Same Side Corner Rectangle 202"/>
          <p:cNvSpPr/>
          <p:nvPr/>
        </p:nvSpPr>
        <p:spPr>
          <a:xfrm>
            <a:off x="9948672" y="7708392"/>
            <a:ext cx="283464" cy="26517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0383012" y="7516367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ound Same Side Corner Rectangle 204"/>
          <p:cNvSpPr/>
          <p:nvPr/>
        </p:nvSpPr>
        <p:spPr>
          <a:xfrm>
            <a:off x="10323576" y="7708392"/>
            <a:ext cx="283464" cy="26517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0757916" y="7516367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ound Same Side Corner Rectangle 206"/>
          <p:cNvSpPr/>
          <p:nvPr/>
        </p:nvSpPr>
        <p:spPr>
          <a:xfrm>
            <a:off x="10698480" y="7708392"/>
            <a:ext cx="283464" cy="26517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1132820" y="7516367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ound Same Side Corner Rectangle 208"/>
          <p:cNvSpPr/>
          <p:nvPr/>
        </p:nvSpPr>
        <p:spPr>
          <a:xfrm>
            <a:off x="11073384" y="7708392"/>
            <a:ext cx="283464" cy="26517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1507724" y="7516367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ound Same Side Corner Rectangle 210"/>
          <p:cNvSpPr/>
          <p:nvPr/>
        </p:nvSpPr>
        <p:spPr>
          <a:xfrm>
            <a:off x="11448288" y="7708392"/>
            <a:ext cx="283464" cy="26517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2" name="Connector 211"/>
          <p:cNvCxnSpPr/>
          <p:nvPr/>
        </p:nvCxnSpPr>
        <p:spPr>
          <a:xfrm flipV="1">
            <a:off x="12618720" y="6729983"/>
            <a:ext cx="868680" cy="790957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213" name="Rounded Rectangle 212"/>
          <p:cNvSpPr/>
          <p:nvPr/>
        </p:nvSpPr>
        <p:spPr>
          <a:xfrm>
            <a:off x="13487400" y="6455664"/>
            <a:ext cx="4078224" cy="548640"/>
          </a:xfrm>
          <a:prstGeom prst="roundRect">
            <a:avLst>
              <a:gd name="adj" fmla="val 13333"/>
            </a:avLst>
          </a:prstGeom>
          <a:solidFill>
            <a:srgbClr val="F0F2F8"/>
          </a:solidFill>
          <a:ln w="12700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3587984" y="6547103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3587984" y="654710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4081760" y="6455664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공용 Layout 표준</a:t>
            </a:r>
          </a:p>
        </p:txBody>
      </p:sp>
      <p:cxnSp>
        <p:nvCxnSpPr>
          <p:cNvPr id="217" name="Connector 216"/>
          <p:cNvCxnSpPr/>
          <p:nvPr/>
        </p:nvCxnSpPr>
        <p:spPr>
          <a:xfrm flipV="1">
            <a:off x="12618720" y="7461504"/>
            <a:ext cx="868680" cy="59436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218" name="Rounded Rectangle 217"/>
          <p:cNvSpPr/>
          <p:nvPr/>
        </p:nvSpPr>
        <p:spPr>
          <a:xfrm>
            <a:off x="13487400" y="7187183"/>
            <a:ext cx="4078224" cy="548640"/>
          </a:xfrm>
          <a:prstGeom prst="roundRect">
            <a:avLst>
              <a:gd name="adj" fmla="val 13333"/>
            </a:avLst>
          </a:prstGeom>
          <a:solidFill>
            <a:srgbClr val="F0F2F8"/>
          </a:solidFill>
          <a:ln w="12700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3587984" y="7278623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3587984" y="727862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4081760" y="7187183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설비 Pool 통합 운영</a:t>
            </a:r>
          </a:p>
        </p:txBody>
      </p:sp>
      <p:cxnSp>
        <p:nvCxnSpPr>
          <p:cNvPr id="222" name="Connector 221"/>
          <p:cNvCxnSpPr/>
          <p:nvPr/>
        </p:nvCxnSpPr>
        <p:spPr>
          <a:xfrm>
            <a:off x="12618720" y="7520940"/>
            <a:ext cx="868680" cy="672084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223" name="Rounded Rectangle 222"/>
          <p:cNvSpPr/>
          <p:nvPr/>
        </p:nvSpPr>
        <p:spPr>
          <a:xfrm>
            <a:off x="13487400" y="7918704"/>
            <a:ext cx="4078224" cy="548640"/>
          </a:xfrm>
          <a:prstGeom prst="roundRect">
            <a:avLst>
              <a:gd name="adj" fmla="val 13333"/>
            </a:avLst>
          </a:prstGeom>
          <a:solidFill>
            <a:srgbClr val="F0F2F8"/>
          </a:solidFill>
          <a:ln w="12700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3587984" y="8010144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3587984" y="80101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4081760" y="7918704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설비 표준·통합 구매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722376" y="8778240"/>
            <a:ext cx="16843248" cy="7315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088136" y="8778240"/>
            <a:ext cx="1234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0CAEC"/>
                </a:solidFill>
                <a:latin typeface="Arial"/>
                <a:ea typeface="Arial"/>
              </a:rPr>
              <a:t>결론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2322576" y="8778240"/>
            <a:ext cx="150601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종합 반도체로서 기술·생산 경쟁력에 효율·유연성과 Buying Power를 더합니다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2 / 3  시안 B · 차트형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212140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2103120"/>
            <a:ext cx="27706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Space Efficiency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56032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</a:p>
        </p:txBody>
      </p:sp>
      <p:pic>
        <p:nvPicPr>
          <p:cNvPr id="10" name="Picture 9" descr="b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27248"/>
            <a:ext cx="3246120" cy="246887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22376" y="5669280"/>
            <a:ext cx="3246120" cy="566928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669280"/>
            <a:ext cx="299008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같은 면적에 더 많은 설비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640080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7095744"/>
            <a:ext cx="324612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713232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7827264"/>
            <a:ext cx="324612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786384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18" name="Oval 17"/>
          <p:cNvSpPr/>
          <p:nvPr/>
        </p:nvSpPr>
        <p:spPr>
          <a:xfrm>
            <a:off x="4151376" y="212140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1376" y="212140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2103120"/>
            <a:ext cx="27706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Market Agility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256032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</a:p>
        </p:txBody>
      </p:sp>
      <p:pic>
        <p:nvPicPr>
          <p:cNvPr id="22" name="Picture 21" descr="b2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1376" y="3127248"/>
            <a:ext cx="3246120" cy="2468879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151376" y="5669280"/>
            <a:ext cx="3246120" cy="566928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5669280"/>
            <a:ext cx="299008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합산 수요의 피크가 낮아 설비가 덜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1376" y="640080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51376" y="7095744"/>
            <a:ext cx="324612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713232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51376" y="7827264"/>
            <a:ext cx="324612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51376" y="786384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0" name="Oval 29"/>
          <p:cNvSpPr/>
          <p:nvPr/>
        </p:nvSpPr>
        <p:spPr>
          <a:xfrm>
            <a:off x="7580375" y="212140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0375" y="212140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5863" y="2103120"/>
            <a:ext cx="27706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Equipment Unif.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256032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</a:p>
        </p:txBody>
      </p:sp>
      <p:pic>
        <p:nvPicPr>
          <p:cNvPr id="34" name="Picture 33" descr="b3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5" y="3127248"/>
            <a:ext cx="3246120" cy="2468879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7580375" y="5669280"/>
            <a:ext cx="3246120" cy="566928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08392" y="5669280"/>
            <a:ext cx="299008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모델은 줄고 모델당 물량은 늘어남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0375" y="640080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0375" y="7095744"/>
            <a:ext cx="324612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0375" y="713232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0375" y="7827264"/>
            <a:ext cx="324612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0375" y="786384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000232" y="2139696"/>
            <a:ext cx="18288" cy="645566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92256" y="2103120"/>
            <a:ext cx="637336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Organization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92256" y="2560320"/>
            <a:ext cx="63733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운영 제언: 메모리 BEOL 통합조직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603736" y="324612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03736" y="324612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2792456" y="3813048"/>
            <a:ext cx="0" cy="22860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48" name="Rounded Rectangle 47"/>
          <p:cNvSpPr/>
          <p:nvPr/>
        </p:nvSpPr>
        <p:spPr>
          <a:xfrm>
            <a:off x="14776704" y="324612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776704" y="324612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A1A1A"/>
                </a:solidFill>
                <a:latin typeface="Arial"/>
                <a:ea typeface="Arial"/>
              </a:rPr>
              <a:t>MTC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5965424" y="3813048"/>
            <a:ext cx="0" cy="22860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2792456" y="4041648"/>
            <a:ext cx="3172968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14378940" y="4041648"/>
            <a:ext cx="0" cy="256032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14470380" y="4023360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15900" y="429768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15900" y="4370832"/>
            <a:ext cx="2926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메모리 BEOL</a:t>
            </a:r>
          </a:p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통합조직</a:t>
            </a:r>
          </a:p>
        </p:txBody>
      </p:sp>
      <p:sp>
        <p:nvSpPr>
          <p:cNvPr id="56" name="Oval 55"/>
          <p:cNvSpPr/>
          <p:nvPr/>
        </p:nvSpPr>
        <p:spPr>
          <a:xfrm>
            <a:off x="13687287" y="5138928"/>
            <a:ext cx="138257" cy="13825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13637361" y="5300228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998549" y="5138928"/>
            <a:ext cx="138257" cy="13825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13948623" y="5300228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4309811" y="5138928"/>
            <a:ext cx="138257" cy="13825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14259885" y="5300228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4621073" y="5138928"/>
            <a:ext cx="138257" cy="13825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14571146" y="5300228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932334" y="5138928"/>
            <a:ext cx="138257" cy="13825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 Same Side Corner Rectangle 64"/>
          <p:cNvSpPr/>
          <p:nvPr/>
        </p:nvSpPr>
        <p:spPr>
          <a:xfrm>
            <a:off x="14882408" y="5300228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1192256" y="4498848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192256" y="4498848"/>
            <a:ext cx="1280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555555"/>
                </a:solidFill>
                <a:latin typeface="Arial"/>
                <a:ea typeface="Arial"/>
              </a:rPr>
              <a:t>DRAM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555555"/>
                </a:solidFill>
                <a:latin typeface="Arial"/>
                <a:ea typeface="Arial"/>
              </a:rPr>
              <a:t>BEOL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2508992" y="4960620"/>
            <a:ext cx="352044" cy="0"/>
          </a:xfrm>
          <a:prstGeom prst="line">
            <a:avLst/>
          </a:prstGeom>
          <a:ln w="31750">
            <a:solidFill>
              <a:srgbClr val="3C4FA5"/>
            </a:solidFill>
            <a:tailEnd type="triangle" w="med" len="med"/>
          </a:ln>
        </p:spPr>
      </p:cxnSp>
      <p:sp>
        <p:nvSpPr>
          <p:cNvPr id="69" name="Rounded Rectangle 68"/>
          <p:cNvSpPr/>
          <p:nvPr/>
        </p:nvSpPr>
        <p:spPr>
          <a:xfrm>
            <a:off x="16285464" y="4498848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12700">
            <a:solidFill>
              <a:srgbClr val="8A8A8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285464" y="4498848"/>
            <a:ext cx="1280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555555"/>
                </a:solidFill>
                <a:latin typeface="Arial"/>
                <a:ea typeface="Arial"/>
              </a:rPr>
              <a:t>NAND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555555"/>
                </a:solidFill>
                <a:latin typeface="Arial"/>
                <a:ea typeface="Arial"/>
              </a:rPr>
              <a:t>BEOL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15896844" y="4960620"/>
            <a:ext cx="352044" cy="0"/>
          </a:xfrm>
          <a:prstGeom prst="line">
            <a:avLst/>
          </a:prstGeom>
          <a:ln w="31750">
            <a:solidFill>
              <a:srgbClr val="3C4FA5"/>
            </a:solidFill>
            <a:tailEnd type="triangle" w="med" len="med"/>
          </a:ln>
        </p:spPr>
      </p:cxnSp>
      <p:cxnSp>
        <p:nvCxnSpPr>
          <p:cNvPr id="72" name="Connector 71"/>
          <p:cNvCxnSpPr/>
          <p:nvPr/>
        </p:nvCxnSpPr>
        <p:spPr>
          <a:xfrm>
            <a:off x="14378940" y="5623560"/>
            <a:ext cx="0" cy="27432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12166092" y="5897880"/>
            <a:ext cx="4425695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cxnSp>
        <p:nvCxnSpPr>
          <p:cNvPr id="74" name="Connector 73"/>
          <p:cNvCxnSpPr/>
          <p:nvPr/>
        </p:nvCxnSpPr>
        <p:spPr>
          <a:xfrm>
            <a:off x="12166092" y="5897880"/>
            <a:ext cx="0" cy="27432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75" name="Rounded Rectangle 74"/>
          <p:cNvSpPr/>
          <p:nvPr/>
        </p:nvSpPr>
        <p:spPr>
          <a:xfrm>
            <a:off x="11196828" y="6172200"/>
            <a:ext cx="1938528" cy="1051560"/>
          </a:xfrm>
          <a:prstGeom prst="roundRect">
            <a:avLst>
              <a:gd name="adj" fmla="val 6956"/>
            </a:avLst>
          </a:prstGeom>
          <a:solidFill>
            <a:srgbClr val="F0F2F8"/>
          </a:solidFill>
          <a:ln w="12700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196828" y="6245352"/>
            <a:ext cx="1938528" cy="978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공용 Layout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표준</a:t>
            </a:r>
          </a:p>
        </p:txBody>
      </p:sp>
      <p:sp>
        <p:nvSpPr>
          <p:cNvPr id="77" name="Oval 76"/>
          <p:cNvSpPr/>
          <p:nvPr/>
        </p:nvSpPr>
        <p:spPr>
          <a:xfrm>
            <a:off x="11087100" y="6025896"/>
            <a:ext cx="347472" cy="347472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087100" y="6025896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4378940" y="5897880"/>
            <a:ext cx="0" cy="27432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80" name="Rounded Rectangle 79"/>
          <p:cNvSpPr/>
          <p:nvPr/>
        </p:nvSpPr>
        <p:spPr>
          <a:xfrm>
            <a:off x="13409676" y="6172200"/>
            <a:ext cx="1938528" cy="1051560"/>
          </a:xfrm>
          <a:prstGeom prst="roundRect">
            <a:avLst>
              <a:gd name="adj" fmla="val 6956"/>
            </a:avLst>
          </a:prstGeom>
          <a:solidFill>
            <a:srgbClr val="F0F2F8"/>
          </a:solidFill>
          <a:ln w="12700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409676" y="6245352"/>
            <a:ext cx="1938528" cy="978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설비 Pool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통합 운영</a:t>
            </a:r>
          </a:p>
        </p:txBody>
      </p:sp>
      <p:sp>
        <p:nvSpPr>
          <p:cNvPr id="82" name="Oval 81"/>
          <p:cNvSpPr/>
          <p:nvPr/>
        </p:nvSpPr>
        <p:spPr>
          <a:xfrm>
            <a:off x="13299948" y="6025896"/>
            <a:ext cx="347472" cy="347472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299948" y="6025896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6591787" y="5897880"/>
            <a:ext cx="0" cy="27432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85" name="Rounded Rectangle 84"/>
          <p:cNvSpPr/>
          <p:nvPr/>
        </p:nvSpPr>
        <p:spPr>
          <a:xfrm>
            <a:off x="15622523" y="6172200"/>
            <a:ext cx="1938528" cy="1051560"/>
          </a:xfrm>
          <a:prstGeom prst="roundRect">
            <a:avLst>
              <a:gd name="adj" fmla="val 6956"/>
            </a:avLst>
          </a:prstGeom>
          <a:solidFill>
            <a:srgbClr val="F0F2F8"/>
          </a:solidFill>
          <a:ln w="12700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622523" y="6245352"/>
            <a:ext cx="1938528" cy="978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설비 표준·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87" name="Oval 86"/>
          <p:cNvSpPr/>
          <p:nvPr/>
        </p:nvSpPr>
        <p:spPr>
          <a:xfrm>
            <a:off x="15512795" y="6025896"/>
            <a:ext cx="347472" cy="347472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5512795" y="6025896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192256" y="7498079"/>
            <a:ext cx="63733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DRAM·NAND BEOL의 공정·설비·구매를</a:t>
            </a:r>
          </a:p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한 조직이 공통으로 운영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" y="8778240"/>
            <a:ext cx="16843248" cy="7315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88136" y="8778240"/>
            <a:ext cx="1234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0CAEC"/>
                </a:solidFill>
                <a:latin typeface="Arial"/>
                <a:ea typeface="Arial"/>
              </a:rPr>
              <a:t>결론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22576" y="8778240"/>
            <a:ext cx="150601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종합 반도체로서 기술·생산 경쟁력에 효율·유연성과 Buying Power를 더합니다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3 / 3  시안 C · 건축형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103120"/>
            <a:ext cx="16843248" cy="749808"/>
          </a:xfrm>
          <a:prstGeom prst="trapezoid">
            <a:avLst>
              <a:gd name="adj" fmla="val 550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103120"/>
            <a:ext cx="1391716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C0CAEC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962656"/>
            <a:ext cx="5175504" cy="1078992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962656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16152" y="3200400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08176" y="3200400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00200" y="3200400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6152" y="3392424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08176" y="3392424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00200" y="3392424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16152" y="3584448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8176" y="3584448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00200" y="3584448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92224" y="3584448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6152" y="3776472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08176" y="3776472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00200" y="3776472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92224" y="3776472"/>
            <a:ext cx="155448" cy="15544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92224" y="3200400"/>
            <a:ext cx="155448" cy="347472"/>
          </a:xfrm>
          <a:prstGeom prst="rect">
            <a:avLst/>
          </a:prstGeom>
          <a:solidFill>
            <a:srgbClr val="F0F2F8"/>
          </a:solidFill>
          <a:ln w="12700">
            <a:solidFill>
              <a:srgbClr val="3C4FA5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9464" y="3072384"/>
            <a:ext cx="3529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9464" y="3511296"/>
            <a:ext cx="35295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C4FA5"/>
                </a:solidFill>
                <a:latin typeface="Arial"/>
                <a:ea typeface="Arial"/>
              </a:rPr>
              <a:t>1  Space 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" y="413308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97864" y="413308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6696" y="486460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97864" y="486460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6696" y="559612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97864" y="559612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56248" y="2962656"/>
            <a:ext cx="5175504" cy="1078992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6248" y="2962656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775704" y="336499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33649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D</a:t>
            </a:r>
          </a:p>
        </p:txBody>
      </p:sp>
      <p:sp>
        <p:nvSpPr>
          <p:cNvPr id="37" name="Left-Right Arrow 36"/>
          <p:cNvSpPr/>
          <p:nvPr/>
        </p:nvSpPr>
        <p:spPr>
          <a:xfrm>
            <a:off x="7232904" y="3474720"/>
            <a:ext cx="329184" cy="201168"/>
          </a:xfrm>
          <a:prstGeom prst="leftRightArrow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98664" y="336499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8664" y="33649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072384"/>
            <a:ext cx="3529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9016" y="3511296"/>
            <a:ext cx="35295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C4FA5"/>
                </a:solidFill>
                <a:latin typeface="Arial"/>
                <a:ea typeface="Arial"/>
              </a:rPr>
              <a:t>2  Market Agility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56248" y="413308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57416" y="413308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56248" y="486460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57416" y="486460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6248" y="559612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57416" y="559612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115800" y="2962656"/>
            <a:ext cx="5175504" cy="1078992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115800" y="2962656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2408408" y="3236976"/>
            <a:ext cx="475488" cy="475488"/>
          </a:xfrm>
          <a:prstGeom prst="roundRect">
            <a:avLst>
              <a:gd name="adj" fmla="val 15384"/>
            </a:avLst>
          </a:prstGeom>
          <a:solidFill>
            <a:srgbClr val="C0CAEC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2563856" y="3355848"/>
            <a:ext cx="475488" cy="475488"/>
          </a:xfrm>
          <a:prstGeom prst="roundRect">
            <a:avLst>
              <a:gd name="adj" fmla="val 15384"/>
            </a:avLst>
          </a:prstGeom>
          <a:solidFill>
            <a:srgbClr val="677ECD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2719304" y="3474720"/>
            <a:ext cx="475488" cy="475488"/>
          </a:xfrm>
          <a:prstGeom prst="roundRect">
            <a:avLst>
              <a:gd name="adj" fmla="val 15384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688568" y="3072384"/>
            <a:ext cx="3529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688568" y="3511296"/>
            <a:ext cx="35295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3C4FA5"/>
                </a:solidFill>
                <a:latin typeface="Arial"/>
                <a:ea typeface="Arial"/>
              </a:rPr>
              <a:t>3  Equipment Unif.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115800" y="413308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16968" y="413308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115800" y="486460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316968" y="486460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115800" y="5596127"/>
            <a:ext cx="5175504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316968" y="5596127"/>
            <a:ext cx="4846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88136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60275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32415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04554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76694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948833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320973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693112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65252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37391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809531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181670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553810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25949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98089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70229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042368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14508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86647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158787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530926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903066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275205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47345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019484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91624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763763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135903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508042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880182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2252322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624461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2996601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368740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3740880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4113019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4485159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4857298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229438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5601577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973717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345856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6717996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090136" y="6400800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96696" y="6492240"/>
            <a:ext cx="16294608" cy="566928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271016" y="6492240"/>
            <a:ext cx="1574596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22376" y="7443216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22376" y="744321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C4FA5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2376" y="7991856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480560" y="7443216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734031" y="7571232"/>
            <a:ext cx="144840" cy="1448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ound Same Side Corner Rectangle 111"/>
          <p:cNvSpPr/>
          <p:nvPr/>
        </p:nvSpPr>
        <p:spPr>
          <a:xfrm>
            <a:off x="4681728" y="7740213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056632" y="7571232"/>
            <a:ext cx="144840" cy="1448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ound Same Side Corner Rectangle 113"/>
          <p:cNvSpPr/>
          <p:nvPr/>
        </p:nvSpPr>
        <p:spPr>
          <a:xfrm>
            <a:off x="5004328" y="7740213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379232" y="7571232"/>
            <a:ext cx="144840" cy="1448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ound Same Side Corner Rectangle 115"/>
          <p:cNvSpPr/>
          <p:nvPr/>
        </p:nvSpPr>
        <p:spPr>
          <a:xfrm>
            <a:off x="5326928" y="7740213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60720" y="7443216"/>
            <a:ext cx="2651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480560" y="850392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734031" y="8631936"/>
            <a:ext cx="144840" cy="1448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ound Same Side Corner Rectangle 119"/>
          <p:cNvSpPr/>
          <p:nvPr/>
        </p:nvSpPr>
        <p:spPr>
          <a:xfrm>
            <a:off x="4681728" y="8800917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056632" y="8631936"/>
            <a:ext cx="144840" cy="1448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ound Same Side Corner Rectangle 121"/>
          <p:cNvSpPr/>
          <p:nvPr/>
        </p:nvSpPr>
        <p:spPr>
          <a:xfrm>
            <a:off x="5004328" y="8800917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379232" y="8631936"/>
            <a:ext cx="144840" cy="1448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ound Same Side Corner Rectangle 123"/>
          <p:cNvSpPr/>
          <p:nvPr/>
        </p:nvSpPr>
        <p:spPr>
          <a:xfrm>
            <a:off x="5326928" y="8800917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760720" y="8503920"/>
            <a:ext cx="2651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754880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060788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366696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672605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978513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284421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90330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896238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202146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508055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813963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8119872" y="8174736"/>
            <a:ext cx="109728" cy="25603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613648" y="8129016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39" name="Right Arrow 138"/>
          <p:cNvSpPr/>
          <p:nvPr/>
        </p:nvSpPr>
        <p:spPr>
          <a:xfrm>
            <a:off x="9747504" y="8138160"/>
            <a:ext cx="566928" cy="329184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0424160" y="7443216"/>
            <a:ext cx="4663440" cy="1719072"/>
          </a:xfrm>
          <a:prstGeom prst="roundRect">
            <a:avLst>
              <a:gd name="adj" fmla="val 4255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424160" y="7589520"/>
            <a:ext cx="4663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42" name="Oval 141"/>
          <p:cNvSpPr/>
          <p:nvPr/>
        </p:nvSpPr>
        <p:spPr>
          <a:xfrm>
            <a:off x="11437498" y="8247888"/>
            <a:ext cx="217261" cy="2172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ound Same Side Corner Rectangle 142"/>
          <p:cNvSpPr/>
          <p:nvPr/>
        </p:nvSpPr>
        <p:spPr>
          <a:xfrm>
            <a:off x="11359042" y="8501359"/>
            <a:ext cx="374172" cy="35003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921398" y="8247888"/>
            <a:ext cx="217261" cy="2172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ound Same Side Corner Rectangle 144"/>
          <p:cNvSpPr/>
          <p:nvPr/>
        </p:nvSpPr>
        <p:spPr>
          <a:xfrm>
            <a:off x="11842943" y="8501359"/>
            <a:ext cx="374172" cy="35003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2405299" y="8247888"/>
            <a:ext cx="217261" cy="2172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ound Same Side Corner Rectangle 146"/>
          <p:cNvSpPr/>
          <p:nvPr/>
        </p:nvSpPr>
        <p:spPr>
          <a:xfrm>
            <a:off x="12326843" y="8501359"/>
            <a:ext cx="374172" cy="35003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2889199" y="8247888"/>
            <a:ext cx="217261" cy="2172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ound Same Side Corner Rectangle 148"/>
          <p:cNvSpPr/>
          <p:nvPr/>
        </p:nvSpPr>
        <p:spPr>
          <a:xfrm>
            <a:off x="12810744" y="8501359"/>
            <a:ext cx="374172" cy="35003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373100" y="8247888"/>
            <a:ext cx="217261" cy="2172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ound Same Side Corner Rectangle 150"/>
          <p:cNvSpPr/>
          <p:nvPr/>
        </p:nvSpPr>
        <p:spPr>
          <a:xfrm>
            <a:off x="13294644" y="8501359"/>
            <a:ext cx="374172" cy="35003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3857000" y="8247888"/>
            <a:ext cx="217261" cy="2172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ound Same Side Corner Rectangle 152"/>
          <p:cNvSpPr/>
          <p:nvPr/>
        </p:nvSpPr>
        <p:spPr>
          <a:xfrm>
            <a:off x="13778544" y="8501359"/>
            <a:ext cx="374172" cy="35003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Up Arrow 153"/>
          <p:cNvSpPr/>
          <p:nvPr/>
        </p:nvSpPr>
        <p:spPr>
          <a:xfrm>
            <a:off x="11365992" y="7114032"/>
            <a:ext cx="310896" cy="292608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Up Arrow 154"/>
          <p:cNvSpPr/>
          <p:nvPr/>
        </p:nvSpPr>
        <p:spPr>
          <a:xfrm>
            <a:off x="13834872" y="7114032"/>
            <a:ext cx="310896" cy="292608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1795760" y="7114032"/>
            <a:ext cx="192023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5087600" y="8302752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58" name="Rounded Rectangle 157"/>
          <p:cNvSpPr/>
          <p:nvPr/>
        </p:nvSpPr>
        <p:spPr>
          <a:xfrm>
            <a:off x="15361920" y="7772400"/>
            <a:ext cx="2203704" cy="1060704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5361920" y="7772400"/>
            <a:ext cx="2203704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