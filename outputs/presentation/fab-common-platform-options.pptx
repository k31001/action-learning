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기둥 그림은 3D 느낌의 Fab 바닥입니다. 1 공간: 분리 Fab은 DRAM과 NAND 사이에 벽이 있고 모델이 제각각이며 빈 칸이 생기지만, 통합 Fab은 같은 모델을 줄지어 놓아 한 줄이 통째로 남습니다. 2 대응력: 공용 설비가 DRAM과 NAND 사이를 오가며, 수요 곡선이 엇갈리는 대로 설비 배분이 따라갑니다. 3 통일성: 높이와 크기가 제각각인 모델을 같은 모델로 모으면 모델당 발주가 한 단에서 여러 단으로 쌓입니다.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기둥 그림은 원리를 보이는 개념 차트입니다. 1 공간: 같은 Fab 면적을 칸으로 나누면 분리 Fab의 Dead Space 칸이 통합 후 추가 설비 칸이 됩니다. 2 대응력: DRAM과 NAND의 수요 피크가 엇갈려 합산 피크가 각 피크의 합보다 낮고, 그 차이가 유휴 설비 감소입니다. 설비 전환 시간과 Bottleneck 대기도 줄어듭니다. 3 통일성: 설비 모델 수는 줄고 모델당 발주 물량은 늘어 구매 협상력이 생깁니다. 수치는 Fab별 검증 후 채웁니다.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기둥 그림은 엔지니어링 도면 언어입니다. 1 공간: 위에서 본 Fab에서 분리 시 OHT 루프 2개와 제각각인 설비 Footprint, 빈 Bay가 생기지만, 통합 시 OHT 루프 하나에 같은 모델 줄 배치로 Bay 하나가 남습니다. 2 대응력: DRAM과 NAND 웨이퍼 Lot이 공용 BEOL 설비 Pool의 어느 설비로든 들어가고, 결과물은 Bonding으로 이어집니다. 3 통일성: 공정 단계마다 DRAM 모델 둘, NAND 모델 둘이던 것을 공용 모델 하나로 모아 레시피 · 부품 · 물량을 공유합니다. 모델 코드는 예시입니다.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버전입니다. 색에 뜻이 있습니다: DRAM = Blue, NAND = Teal, 통합 후 같은 색 = 같은 설비 모델, 공용 모델 = Purple, 개선(확보 · 추가 · 협상력) = Amber, 효과 ① Blue ② Teal ③ Purple. 기둥 그림은 3D 느낌의 Fab 바닥입니다. 1 공간: 분리 Fab은 DRAM과 NAND 사이에 벽이 있고 모델이 제각각이며 빈 칸이 생기지만, 통합 Fab은 같은 모델을 줄지어 놓아 한 줄이 통째로 남습니다. 2 대응력: 공용 설비가 DRAM과 NAND 사이를 오가며, 수요 곡선이 엇갈리는 대로 설비 배분이 따라갑니다. 3 통일성: 높이와 크기가 제각각인 모델을 같은 모델로 모으면 모델당 발주가 한 단에서 여러 단으로 쌓입니다.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버전입니다. 색에 뜻이 있습니다: DRAM = Blue, NAND = Teal, 통합 후 같은 색 = 같은 설비 모델, 공용 모델 = Purple, 개선(확보 · 추가 · 협상력) = Amber, 효과 ① Blue ② Teal ③ Purple. 기둥 그림은 원리를 보이는 개념 차트입니다. 1 공간: 같은 Fab 면적을 칸으로 나누면 분리 Fab의 Dead Space 칸이 통합 후 추가 설비 칸이 됩니다. 2 대응력: DRAM과 NAND의 수요 피크가 엇갈려 합산 피크가 각 피크의 합보다 낮고, 그 차이가 유휴 설비 감소입니다. 설비 전환 시간과 Bottleneck 대기도 줄어듭니다. 3 통일성: 설비 모델 수는 줄고 모델당 발주 물량은 늘어 구매 협상력이 생깁니다. 수치는 Fab별 검증 후 채웁니다.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버전입니다. 색에 뜻이 있습니다: DRAM = Blue, NAND = Teal, 통합 후 같은 색 = 같은 설비 모델, 공용 모델 = Purple, 개선(확보 · 추가 · 협상력) = Amber, 효과 ① Blue ② Teal ③ Purple. 기둥 그림은 엔지니어링 도면 언어입니다. 1 공간: 위에서 본 Fab에서 분리 시 OHT 루프 2개와 제각각인 설비 Footprint, 빈 Bay가 생기지만, 통합 시 OHT 루프 하나에 같은 모델 줄 배치로 Bay 하나가 남습니다. 2 대응력: DRAM과 NAND 웨이퍼 Lot이 공용 BEOL 설비 Pool의 어느 설비로든 들어가고, 결과물은 Bonding으로 이어집니다. 3 통일성: 공정 단계마다 DRAM 모델 둘, NAND 모델 둘이던 것을 공용 모델 하나로 모아 레시피 · 부품 · 물량을 공유합니다. 모델 코드는 예시입니다. 지붕은 결론, 기초는 Common Platform, 맨 아래는 DRAM과 NAND의 BEOL 조직을 Bonding해 만든 통합조직이 반도체연구소 / MTC 산하에서 기초를 운영하는 그림입니다. 통합조직 안의 세 기능(표준 Layout · 설비 Pool · 통합 구매)은 효과 1 · 2 · 3과 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1 / 6  시안 1 · 아이소메트릭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C0CAEC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v1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v1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v1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C4FA5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2 / 6  시안 2 · 메커니즘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C0CAEC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v2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v2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v2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C4FA5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3 / 6  시안 3 · Fab 도면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C0CAEC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v3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v3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v3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3C4FA5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F5F5F5"/>
          </a:solidFill>
          <a:ln w="12700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8A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677EC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C4FA5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확인]. 설비 모델 코드는 예시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4 / 6  시안 4 · 아이소메트릭 컬러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AEB8E0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6C46B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c1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E8F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1E8C8C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c1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1EE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6E56B0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c1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26336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26336E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9ECF8"/>
          </a:solidFill>
          <a:ln w="1270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3F3F1"/>
          </a:solidFill>
          <a:ln w="12700">
            <a:solidFill>
              <a:srgbClr val="1E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36E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1E8C8C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6E56B0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86E00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5 / 6  시안 5 · 메커니즘 컬러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AEB8E0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6C46B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pic>
        <p:nvPicPr>
          <p:cNvPr id="13" name="Picture 12" descr="c2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364992"/>
            <a:ext cx="4846320" cy="1645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E8F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1E8C8C"/>
                </a:solidFill>
                <a:latin typeface="Arial"/>
                <a:ea typeface="Arial"/>
              </a:rPr>
              <a:t>  Market Agility</a:t>
            </a:r>
          </a:p>
        </p:txBody>
      </p:sp>
      <p:pic>
        <p:nvPicPr>
          <p:cNvPr id="25" name="Picture 24" descr="c2_ag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3364992"/>
            <a:ext cx="4846320" cy="1645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1EE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6E56B0"/>
                </a:solidFill>
                <a:latin typeface="Arial"/>
                <a:ea typeface="Arial"/>
              </a:rPr>
              <a:t>  Equipment Unif.</a:t>
            </a:r>
          </a:p>
        </p:txBody>
      </p:sp>
      <p:pic>
        <p:nvPicPr>
          <p:cNvPr id="37" name="Picture 36" descr="c2_un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2" y="3364992"/>
            <a:ext cx="4846320" cy="16459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26336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26336E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9ECF8"/>
          </a:solidFill>
          <a:ln w="1270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 Same Side Corner Rectangle 9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ound Same Side Corner Rectangle 9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 Same Side Corner Rectangle 9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3F3F1"/>
          </a:solidFill>
          <a:ln w="12700">
            <a:solidFill>
              <a:srgbClr val="1E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ound Same Side Corner Rectangle 10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ound Same Side Corner Rectangle 10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 Same Side Corner Rectangle 10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36E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125" name="Oval 12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ound Same Side Corner Rectangle 12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ound Same Side Corner Rectangle 12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ound Same Side Corner Rectangle 12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 Same Side Corner Rectangle 13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ound Same Side Corner Rectangle 13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ound Same Side Corner Rectangle 13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1E8C8C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6E56B0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143" name="Up Arrow 14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Up Arrow 14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86E00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147" name="Rounded Rectangle 14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Fab 통합 운영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6 / 6  시안 6 · Fab 도면 컬러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DRAM/NAND Fab 통합 운영: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Bonding 시대에 맞는 Common Platform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rapezoid 5"/>
          <p:cNvSpPr/>
          <p:nvPr/>
        </p:nvSpPr>
        <p:spPr>
          <a:xfrm>
            <a:off x="722376" y="2084831"/>
            <a:ext cx="16843248" cy="640080"/>
          </a:xfrm>
          <a:prstGeom prst="trapezoid">
            <a:avLst>
              <a:gd name="adj" fmla="val 55000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2084831"/>
            <a:ext cx="1391716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AEB8E0"/>
                </a:solidFill>
                <a:latin typeface="Arial"/>
                <a:ea typeface="Arial"/>
              </a:rPr>
              <a:t>종합 반도체 경쟁력  </a:t>
            </a: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기술·생산 경쟁력 + 효율·유연성 + </a:t>
            </a:r>
            <a:r>
              <a:rPr sz="2400" b="1">
                <a:solidFill>
                  <a:srgbClr val="F6C46B"/>
                </a:solidFill>
                <a:latin typeface="Arial"/>
                <a:ea typeface="Arial"/>
              </a:rPr>
              <a:t>Buying 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" y="2816352"/>
            <a:ext cx="5175504" cy="2231136"/>
          </a:xfrm>
          <a:prstGeom prst="rect">
            <a:avLst/>
          </a:prstGeom>
          <a:solidFill>
            <a:srgbClr val="F0F2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" y="2816352"/>
            <a:ext cx="5175504" cy="54864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" y="2944368"/>
            <a:ext cx="365760" cy="365760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6776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공간 효율성</a:t>
            </a:r>
            <a:r>
              <a:rPr sz="1600" b="0">
                <a:solidFill>
                  <a:srgbClr val="3C4FA5"/>
                </a:solidFill>
                <a:latin typeface="Arial"/>
                <a:ea typeface="Arial"/>
              </a:rPr>
              <a:t>  Space Efficiency</a:t>
            </a:r>
          </a:p>
        </p:txBody>
      </p:sp>
      <p:grpSp>
        <p:nvGrpSpPr>
          <p:cNvPr id="13" name="그림 1 공간 효율성 (도형)"/>
          <p:cNvGrpSpPr/>
          <p:nvPr/>
        </p:nvGrpSpPr>
        <p:grpSpPr>
          <a:xfrm>
            <a:off x="1197864" y="3355848"/>
            <a:ext cx="4873752" cy="1600200"/>
            <a:chOff x="1197864" y="3355848"/>
            <a:chExt cx="4873752" cy="1600200"/>
          </a:xfrm>
        </p:grpSpPr>
        <p:sp>
          <p:nvSpPr>
            <p:cNvPr id="14" name="Rectangle 13"/>
            <p:cNvSpPr/>
            <p:nvPr/>
          </p:nvSpPr>
          <p:spPr>
            <a:xfrm>
              <a:off x="1197864" y="3657600"/>
              <a:ext cx="2249424" cy="12984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8A8A8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2322576" y="3657600"/>
              <a:ext cx="0" cy="1298448"/>
            </a:xfrm>
            <a:prstGeom prst="line">
              <a:avLst/>
            </a:prstGeom>
            <a:ln w="30480">
              <a:solidFill>
                <a:srgbClr val="555555"/>
              </a:solidFill>
            </a:ln>
          </p:spPr>
        </p:cxnSp>
        <p:sp>
          <p:nvSpPr>
            <p:cNvPr id="16" name="Rounded Rectangle 15"/>
            <p:cNvSpPr/>
            <p:nvPr/>
          </p:nvSpPr>
          <p:spPr>
            <a:xfrm>
              <a:off x="1289304" y="4206240"/>
              <a:ext cx="941832" cy="201168"/>
            </a:xfrm>
            <a:prstGeom prst="roundRect">
              <a:avLst>
                <a:gd name="adj" fmla="val 45454"/>
              </a:avLst>
            </a:prstGeom>
            <a:noFill/>
            <a:ln w="20320">
              <a:solidFill>
                <a:srgbClr val="8A8A8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476756" y="4366260"/>
              <a:ext cx="82296" cy="82296"/>
            </a:xfrm>
            <a:prstGeom prst="rect">
              <a:avLst/>
            </a:prstGeom>
            <a:solidFill>
              <a:srgbClr val="8A8A8A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33956" y="4165092"/>
              <a:ext cx="82296" cy="82296"/>
            </a:xfrm>
            <a:prstGeom prst="rect">
              <a:avLst/>
            </a:prstGeom>
            <a:solidFill>
              <a:srgbClr val="8A8A8A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414016" y="4206240"/>
              <a:ext cx="941832" cy="201168"/>
            </a:xfrm>
            <a:prstGeom prst="roundRect">
              <a:avLst>
                <a:gd name="adj" fmla="val 45454"/>
              </a:avLst>
            </a:prstGeom>
            <a:noFill/>
            <a:ln w="20320">
              <a:solidFill>
                <a:srgbClr val="8A8A8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601468" y="4366260"/>
              <a:ext cx="82296" cy="82296"/>
            </a:xfrm>
            <a:prstGeom prst="rect">
              <a:avLst/>
            </a:prstGeom>
            <a:solidFill>
              <a:srgbClr val="8A8A8A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058668" y="4165092"/>
              <a:ext cx="82296" cy="82296"/>
            </a:xfrm>
            <a:prstGeom prst="rect">
              <a:avLst/>
            </a:prstGeom>
            <a:solidFill>
              <a:srgbClr val="8A8A8A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252728" y="4553712"/>
              <a:ext cx="274320" cy="347472"/>
            </a:xfrm>
            <a:prstGeom prst="rect">
              <a:avLst/>
            </a:prstGeom>
            <a:solidFill>
              <a:srgbClr val="8E9DD6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581912" y="4553712"/>
              <a:ext cx="201168" cy="347472"/>
            </a:xfrm>
            <a:prstGeom prst="rect">
              <a:avLst/>
            </a:prstGeom>
            <a:pattFill prst="wdUpDiag">
              <a:fgClr>
                <a:srgbClr val="B4B4B4"/>
              </a:fgClr>
              <a:bgClr>
                <a:srgbClr val="FFFFFF"/>
              </a:bgClr>
            </a:pattFill>
            <a:ln w="10160">
              <a:solidFill>
                <a:srgbClr val="B4B4B4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1837944" y="4626864"/>
              <a:ext cx="365760" cy="274320"/>
            </a:xfrm>
            <a:prstGeom prst="rect">
              <a:avLst/>
            </a:prstGeom>
            <a:solidFill>
              <a:srgbClr val="8E9DD6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252728" y="3767328"/>
              <a:ext cx="201168" cy="402336"/>
            </a:xfrm>
            <a:prstGeom prst="rect">
              <a:avLst/>
            </a:prstGeom>
            <a:solidFill>
              <a:srgbClr val="8E9DD6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508760" y="3767328"/>
              <a:ext cx="329184" cy="402336"/>
            </a:xfrm>
            <a:prstGeom prst="rect">
              <a:avLst/>
            </a:prstGeom>
            <a:pattFill prst="wdUpDiag">
              <a:fgClr>
                <a:srgbClr val="B4B4B4"/>
              </a:fgClr>
              <a:bgClr>
                <a:srgbClr val="FFFFFF"/>
              </a:bgClr>
            </a:pattFill>
            <a:ln w="10160">
              <a:solidFill>
                <a:srgbClr val="B4B4B4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892808" y="3840480"/>
              <a:ext cx="292608" cy="329184"/>
            </a:xfrm>
            <a:prstGeom prst="rect">
              <a:avLst/>
            </a:prstGeom>
            <a:solidFill>
              <a:srgbClr val="8E9DD6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377440" y="4590288"/>
              <a:ext cx="329184" cy="310896"/>
            </a:xfrm>
            <a:prstGeom prst="rect">
              <a:avLst/>
            </a:prstGeom>
            <a:solidFill>
              <a:srgbClr val="7CC5BE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761488" y="4553712"/>
              <a:ext cx="274320" cy="347472"/>
            </a:xfrm>
            <a:prstGeom prst="rect">
              <a:avLst/>
            </a:prstGeom>
            <a:pattFill prst="wdUpDiag">
              <a:fgClr>
                <a:srgbClr val="B4B4B4"/>
              </a:fgClr>
              <a:bgClr>
                <a:srgbClr val="FFFFFF"/>
              </a:bgClr>
            </a:pattFill>
            <a:ln w="10160">
              <a:solidFill>
                <a:srgbClr val="B4B4B4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081528" y="4553712"/>
              <a:ext cx="292608" cy="347472"/>
            </a:xfrm>
            <a:prstGeom prst="rect">
              <a:avLst/>
            </a:prstGeom>
            <a:solidFill>
              <a:srgbClr val="7CC5BE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377440" y="3803904"/>
              <a:ext cx="237744" cy="365760"/>
            </a:xfrm>
            <a:prstGeom prst="rect">
              <a:avLst/>
            </a:prstGeom>
            <a:pattFill prst="wdUpDiag">
              <a:fgClr>
                <a:srgbClr val="B4B4B4"/>
              </a:fgClr>
              <a:bgClr>
                <a:srgbClr val="FFFFFF"/>
              </a:bgClr>
            </a:pattFill>
            <a:ln w="10160">
              <a:solidFill>
                <a:srgbClr val="B4B4B4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2670048" y="3767328"/>
              <a:ext cx="347472" cy="402336"/>
            </a:xfrm>
            <a:prstGeom prst="rect">
              <a:avLst/>
            </a:prstGeom>
            <a:solidFill>
              <a:srgbClr val="7CC5BE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081528" y="3895344"/>
              <a:ext cx="292608" cy="274320"/>
            </a:xfrm>
            <a:prstGeom prst="rect">
              <a:avLst/>
            </a:prstGeom>
            <a:solidFill>
              <a:srgbClr val="7CC5BE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97864" y="3355848"/>
              <a:ext cx="193852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555555"/>
                  </a:solidFill>
                  <a:latin typeface="Arial"/>
                  <a:ea typeface="Arial"/>
                </a:rPr>
                <a:t>Fab 분리: OHT 2개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721608" y="3657600"/>
              <a:ext cx="2249424" cy="1298448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813048" y="4517136"/>
              <a:ext cx="292608" cy="365760"/>
            </a:xfrm>
            <a:prstGeom prst="rect">
              <a:avLst/>
            </a:prstGeom>
            <a:solidFill>
              <a:srgbClr val="3C4FA5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160520" y="4517136"/>
              <a:ext cx="292608" cy="365760"/>
            </a:xfrm>
            <a:prstGeom prst="rect">
              <a:avLst/>
            </a:prstGeom>
            <a:solidFill>
              <a:srgbClr val="3C4FA5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07992" y="4517136"/>
              <a:ext cx="292608" cy="365760"/>
            </a:xfrm>
            <a:prstGeom prst="rect">
              <a:avLst/>
            </a:prstGeom>
            <a:solidFill>
              <a:srgbClr val="3C4FA5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855464" y="4517136"/>
              <a:ext cx="292608" cy="365760"/>
            </a:xfrm>
            <a:prstGeom prst="rect">
              <a:avLst/>
            </a:prstGeom>
            <a:solidFill>
              <a:srgbClr val="3C4FA5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202936" y="4517136"/>
              <a:ext cx="292608" cy="365760"/>
            </a:xfrm>
            <a:prstGeom prst="rect">
              <a:avLst/>
            </a:prstGeom>
            <a:solidFill>
              <a:srgbClr val="3C4FA5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813048" y="3767328"/>
              <a:ext cx="292608" cy="365760"/>
            </a:xfrm>
            <a:prstGeom prst="rect">
              <a:avLst/>
            </a:prstGeom>
            <a:solidFill>
              <a:srgbClr val="6E56B0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160520" y="3767328"/>
              <a:ext cx="292608" cy="365760"/>
            </a:xfrm>
            <a:prstGeom prst="rect">
              <a:avLst/>
            </a:prstGeom>
            <a:solidFill>
              <a:srgbClr val="6E56B0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507992" y="3767328"/>
              <a:ext cx="292608" cy="365760"/>
            </a:xfrm>
            <a:prstGeom prst="rect">
              <a:avLst/>
            </a:prstGeom>
            <a:solidFill>
              <a:srgbClr val="6E56B0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855464" y="3767328"/>
              <a:ext cx="292608" cy="365760"/>
            </a:xfrm>
            <a:prstGeom prst="rect">
              <a:avLst/>
            </a:prstGeom>
            <a:solidFill>
              <a:srgbClr val="6E56B0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202936" y="3767328"/>
              <a:ext cx="292608" cy="365760"/>
            </a:xfrm>
            <a:prstGeom prst="rect">
              <a:avLst/>
            </a:prstGeom>
            <a:solidFill>
              <a:srgbClr val="6E56B0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3813048" y="4206240"/>
              <a:ext cx="1700784" cy="201168"/>
            </a:xfrm>
            <a:prstGeom prst="roundRect">
              <a:avLst>
                <a:gd name="adj" fmla="val 45454"/>
              </a:avLst>
            </a:prstGeom>
            <a:noFill/>
            <a:ln w="27940">
              <a:solidFill>
                <a:srgbClr val="26336E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046220" y="4366260"/>
              <a:ext cx="82296" cy="82296"/>
            </a:xfrm>
            <a:prstGeom prst="rect">
              <a:avLst/>
            </a:prstGeom>
            <a:solidFill>
              <a:srgbClr val="26336E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594860" y="4165092"/>
              <a:ext cx="82296" cy="82296"/>
            </a:xfrm>
            <a:prstGeom prst="rect">
              <a:avLst/>
            </a:prstGeom>
            <a:solidFill>
              <a:srgbClr val="26336E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097780" y="4366260"/>
              <a:ext cx="82296" cy="82296"/>
            </a:xfrm>
            <a:prstGeom prst="rect">
              <a:avLst/>
            </a:prstGeom>
            <a:solidFill>
              <a:srgbClr val="26336E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586984" y="3730752"/>
              <a:ext cx="329184" cy="1152144"/>
            </a:xfrm>
            <a:prstGeom prst="rect">
              <a:avLst/>
            </a:prstGeom>
            <a:solidFill>
              <a:srgbClr val="FCEFD9"/>
            </a:solidFill>
            <a:ln w="12700">
              <a:solidFill>
                <a:srgbClr val="E39B2D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 rot="16200000">
              <a:off x="5431536" y="4169664"/>
              <a:ext cx="64008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B86E00"/>
                  </a:solidFill>
                  <a:latin typeface="Arial"/>
                  <a:ea typeface="Arial"/>
                </a:rPr>
                <a:t>확보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3721608" y="3355848"/>
              <a:ext cx="193852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3C4FA5"/>
                  </a:solidFill>
                  <a:latin typeface="Arial"/>
                  <a:ea typeface="Arial"/>
                </a:rPr>
                <a:t>Common: OHT 1개</a:t>
              </a:r>
            </a:p>
          </p:txBody>
        </p:sp>
      </p:grpSp>
      <p:sp>
        <p:nvSpPr>
          <p:cNvPr id="53" name="Rectangle 52"/>
          <p:cNvSpPr/>
          <p:nvPr/>
        </p:nvSpPr>
        <p:spPr>
          <a:xfrm>
            <a:off x="996696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97864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설비 밀집도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Dead Space 최소화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6696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97864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동일 모델 군집화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시너지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96696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CA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97864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단위 면적당 생산성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극대화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56248" y="2816352"/>
            <a:ext cx="5175504" cy="2231136"/>
          </a:xfrm>
          <a:prstGeom prst="rect">
            <a:avLst/>
          </a:prstGeom>
          <a:solidFill>
            <a:srgbClr val="E8F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56248" y="2816352"/>
            <a:ext cx="5175504" cy="54864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720840" y="2944368"/>
            <a:ext cx="365760" cy="365760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20840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96328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시황 변화 대응력</a:t>
            </a:r>
            <a:r>
              <a:rPr sz="1600" b="0">
                <a:solidFill>
                  <a:srgbClr val="1E8C8C"/>
                </a:solidFill>
                <a:latin typeface="Arial"/>
                <a:ea typeface="Arial"/>
              </a:rPr>
              <a:t>  Market Agility</a:t>
            </a:r>
          </a:p>
        </p:txBody>
      </p:sp>
      <p:grpSp>
        <p:nvGrpSpPr>
          <p:cNvPr id="64" name="그림 2 시황 변화 대응력 (도형)"/>
          <p:cNvGrpSpPr/>
          <p:nvPr/>
        </p:nvGrpSpPr>
        <p:grpSpPr>
          <a:xfrm>
            <a:off x="6812279" y="3355848"/>
            <a:ext cx="4686301" cy="1572768"/>
            <a:chOff x="6812279" y="3355848"/>
            <a:chExt cx="4686301" cy="1572768"/>
          </a:xfrm>
        </p:grpSpPr>
        <p:sp>
          <p:nvSpPr>
            <p:cNvPr id="65" name="Rounded Rectangle 64"/>
            <p:cNvSpPr/>
            <p:nvPr/>
          </p:nvSpPr>
          <p:spPr>
            <a:xfrm>
              <a:off x="7982712" y="3621024"/>
              <a:ext cx="2011680" cy="1298448"/>
            </a:xfrm>
            <a:prstGeom prst="roundRect">
              <a:avLst>
                <a:gd name="adj" fmla="val 5633"/>
              </a:avLst>
            </a:prstGeom>
            <a:solidFill>
              <a:srgbClr val="E8F5F4"/>
            </a:solidFill>
            <a:ln w="15240">
              <a:solidFill>
                <a:srgbClr val="1E8C8C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7196327" y="3895344"/>
              <a:ext cx="768096" cy="109728"/>
            </a:xfrm>
            <a:prstGeom prst="line">
              <a:avLst/>
            </a:prstGeom>
            <a:ln w="20320">
              <a:solidFill>
                <a:srgbClr val="3C4FA5"/>
              </a:solidFill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7196327" y="3895344"/>
              <a:ext cx="768096" cy="676656"/>
            </a:xfrm>
            <a:prstGeom prst="line">
              <a:avLst/>
            </a:prstGeom>
            <a:ln w="20320">
              <a:solidFill>
                <a:srgbClr val="3C4FA5"/>
              </a:solidFill>
              <a:tailEnd type="triangle" w="med" len="med"/>
            </a:ln>
          </p:spPr>
        </p:cxnSp>
        <p:cxnSp>
          <p:nvCxnSpPr>
            <p:cNvPr id="68" name="Connector 67"/>
            <p:cNvCxnSpPr/>
            <p:nvPr/>
          </p:nvCxnSpPr>
          <p:spPr>
            <a:xfrm flipV="1">
              <a:off x="7196327" y="4133088"/>
              <a:ext cx="768096" cy="457200"/>
            </a:xfrm>
            <a:prstGeom prst="line">
              <a:avLst/>
            </a:prstGeom>
            <a:ln w="20320">
              <a:solidFill>
                <a:srgbClr val="1E8C8C"/>
              </a:solidFill>
              <a:tailEnd type="triangle" w="med" len="med"/>
            </a:ln>
          </p:spPr>
        </p:cxnSp>
        <p:cxnSp>
          <p:nvCxnSpPr>
            <p:cNvPr id="69" name="Connector 68"/>
            <p:cNvCxnSpPr/>
            <p:nvPr/>
          </p:nvCxnSpPr>
          <p:spPr>
            <a:xfrm>
              <a:off x="7196327" y="4590288"/>
              <a:ext cx="768096" cy="109728"/>
            </a:xfrm>
            <a:prstGeom prst="line">
              <a:avLst/>
            </a:prstGeom>
            <a:ln w="20320">
              <a:solidFill>
                <a:srgbClr val="1E8C8C"/>
              </a:solidFill>
              <a:tailEnd type="triangle" w="med" len="med"/>
            </a:ln>
          </p:spPr>
        </p:cxnSp>
        <p:sp>
          <p:nvSpPr>
            <p:cNvPr id="70" name="Rectangle 69"/>
            <p:cNvSpPr/>
            <p:nvPr/>
          </p:nvSpPr>
          <p:spPr>
            <a:xfrm>
              <a:off x="7424927" y="3895344"/>
              <a:ext cx="91440" cy="91440"/>
            </a:xfrm>
            <a:prstGeom prst="rect">
              <a:avLst/>
            </a:prstGeom>
            <a:solidFill>
              <a:srgbClr val="3C4FA5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7644383" y="3986784"/>
              <a:ext cx="91440" cy="91440"/>
            </a:xfrm>
            <a:prstGeom prst="rect">
              <a:avLst/>
            </a:prstGeom>
            <a:solidFill>
              <a:srgbClr val="3C4FA5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7443215" y="4507992"/>
              <a:ext cx="91440" cy="91440"/>
            </a:xfrm>
            <a:prstGeom prst="rect">
              <a:avLst/>
            </a:prstGeom>
            <a:solidFill>
              <a:srgbClr val="1E8C8C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7680960" y="4535424"/>
              <a:ext cx="91440" cy="91440"/>
            </a:xfrm>
            <a:prstGeom prst="rect">
              <a:avLst/>
            </a:prstGeom>
            <a:solidFill>
              <a:srgbClr val="1E8C8C"/>
            </a:solidFill>
            <a:ln w="762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Oval 73"/>
            <p:cNvSpPr/>
            <p:nvPr/>
          </p:nvSpPr>
          <p:spPr>
            <a:xfrm>
              <a:off x="6812279" y="3712464"/>
              <a:ext cx="365760" cy="365760"/>
            </a:xfrm>
            <a:prstGeom prst="ellipse">
              <a:avLst/>
            </a:prstGeom>
            <a:solidFill>
              <a:srgbClr val="3C4FA5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5" name="Connector 74"/>
            <p:cNvCxnSpPr/>
            <p:nvPr/>
          </p:nvCxnSpPr>
          <p:spPr>
            <a:xfrm>
              <a:off x="6858000" y="3964838"/>
              <a:ext cx="274320" cy="0"/>
            </a:xfrm>
            <a:prstGeom prst="line">
              <a:avLst/>
            </a:prstGeom>
            <a:ln w="8890">
              <a:solidFill>
                <a:srgbClr val="808DC4"/>
              </a:solidFill>
            </a:ln>
          </p:spPr>
        </p:cxnSp>
        <p:cxnSp>
          <p:nvCxnSpPr>
            <p:cNvPr id="76" name="Connector 75"/>
            <p:cNvCxnSpPr/>
            <p:nvPr/>
          </p:nvCxnSpPr>
          <p:spPr>
            <a:xfrm flipV="1">
              <a:off x="6925665" y="3758184"/>
              <a:ext cx="0" cy="274320"/>
            </a:xfrm>
            <a:prstGeom prst="line">
              <a:avLst/>
            </a:prstGeom>
            <a:ln w="8890">
              <a:solidFill>
                <a:srgbClr val="808DC4"/>
              </a:solidFill>
            </a:ln>
          </p:spPr>
        </p:cxnSp>
        <p:cxnSp>
          <p:nvCxnSpPr>
            <p:cNvPr id="77" name="Connector 76"/>
            <p:cNvCxnSpPr/>
            <p:nvPr/>
          </p:nvCxnSpPr>
          <p:spPr>
            <a:xfrm>
              <a:off x="6858000" y="3895344"/>
              <a:ext cx="274320" cy="0"/>
            </a:xfrm>
            <a:prstGeom prst="line">
              <a:avLst/>
            </a:prstGeom>
            <a:ln w="8890">
              <a:solidFill>
                <a:srgbClr val="808DC4"/>
              </a:solidFill>
            </a:ln>
          </p:spPr>
        </p:cxnSp>
        <p:cxnSp>
          <p:nvCxnSpPr>
            <p:cNvPr id="78" name="Connector 77"/>
            <p:cNvCxnSpPr/>
            <p:nvPr/>
          </p:nvCxnSpPr>
          <p:spPr>
            <a:xfrm flipV="1">
              <a:off x="6995159" y="3758184"/>
              <a:ext cx="0" cy="274320"/>
            </a:xfrm>
            <a:prstGeom prst="line">
              <a:avLst/>
            </a:prstGeom>
            <a:ln w="8890">
              <a:solidFill>
                <a:srgbClr val="808DC4"/>
              </a:solidFill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6858000" y="3825849"/>
              <a:ext cx="274320" cy="0"/>
            </a:xfrm>
            <a:prstGeom prst="line">
              <a:avLst/>
            </a:prstGeom>
            <a:ln w="8890">
              <a:solidFill>
                <a:srgbClr val="808DC4"/>
              </a:solidFill>
            </a:ln>
          </p:spPr>
        </p:cxnSp>
        <p:cxnSp>
          <p:nvCxnSpPr>
            <p:cNvPr id="80" name="Connector 79"/>
            <p:cNvCxnSpPr/>
            <p:nvPr/>
          </p:nvCxnSpPr>
          <p:spPr>
            <a:xfrm flipV="1">
              <a:off x="7064654" y="3758184"/>
              <a:ext cx="0" cy="274320"/>
            </a:xfrm>
            <a:prstGeom prst="line">
              <a:avLst/>
            </a:prstGeom>
            <a:ln w="8890">
              <a:solidFill>
                <a:srgbClr val="808DC4"/>
              </a:solidFill>
            </a:ln>
          </p:spPr>
        </p:cxnSp>
        <p:sp>
          <p:nvSpPr>
            <p:cNvPr id="81" name="Rectangle 80"/>
            <p:cNvSpPr/>
            <p:nvPr/>
          </p:nvSpPr>
          <p:spPr>
            <a:xfrm>
              <a:off x="6962241" y="4055364"/>
              <a:ext cx="65836" cy="320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Oval 81"/>
            <p:cNvSpPr/>
            <p:nvPr/>
          </p:nvSpPr>
          <p:spPr>
            <a:xfrm>
              <a:off x="6812279" y="4407408"/>
              <a:ext cx="365760" cy="365760"/>
            </a:xfrm>
            <a:prstGeom prst="ellipse">
              <a:avLst/>
            </a:prstGeom>
            <a:solidFill>
              <a:srgbClr val="1E8C8C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3" name="Connector 82"/>
            <p:cNvCxnSpPr/>
            <p:nvPr/>
          </p:nvCxnSpPr>
          <p:spPr>
            <a:xfrm>
              <a:off x="6858000" y="4659782"/>
              <a:ext cx="274320" cy="0"/>
            </a:xfrm>
            <a:prstGeom prst="line">
              <a:avLst/>
            </a:prstGeom>
            <a:ln w="8890">
              <a:solidFill>
                <a:srgbClr val="6DB4B4"/>
              </a:solidFill>
            </a:ln>
          </p:spPr>
        </p:cxnSp>
        <p:cxnSp>
          <p:nvCxnSpPr>
            <p:cNvPr id="84" name="Connector 83"/>
            <p:cNvCxnSpPr/>
            <p:nvPr/>
          </p:nvCxnSpPr>
          <p:spPr>
            <a:xfrm flipV="1">
              <a:off x="6925665" y="4453128"/>
              <a:ext cx="0" cy="274320"/>
            </a:xfrm>
            <a:prstGeom prst="line">
              <a:avLst/>
            </a:prstGeom>
            <a:ln w="8890">
              <a:solidFill>
                <a:srgbClr val="6DB4B4"/>
              </a:solidFill>
            </a:ln>
          </p:spPr>
        </p:cxnSp>
        <p:cxnSp>
          <p:nvCxnSpPr>
            <p:cNvPr id="85" name="Connector 84"/>
            <p:cNvCxnSpPr/>
            <p:nvPr/>
          </p:nvCxnSpPr>
          <p:spPr>
            <a:xfrm>
              <a:off x="6858000" y="4590288"/>
              <a:ext cx="274320" cy="0"/>
            </a:xfrm>
            <a:prstGeom prst="line">
              <a:avLst/>
            </a:prstGeom>
            <a:ln w="8890">
              <a:solidFill>
                <a:srgbClr val="6DB4B4"/>
              </a:solidFill>
            </a:ln>
          </p:spPr>
        </p:cxnSp>
        <p:cxnSp>
          <p:nvCxnSpPr>
            <p:cNvPr id="86" name="Connector 85"/>
            <p:cNvCxnSpPr/>
            <p:nvPr/>
          </p:nvCxnSpPr>
          <p:spPr>
            <a:xfrm flipV="1">
              <a:off x="6995159" y="4453128"/>
              <a:ext cx="0" cy="274320"/>
            </a:xfrm>
            <a:prstGeom prst="line">
              <a:avLst/>
            </a:prstGeom>
            <a:ln w="8890">
              <a:solidFill>
                <a:srgbClr val="6DB4B4"/>
              </a:solidFill>
            </a:ln>
          </p:spPr>
        </p:cxnSp>
        <p:cxnSp>
          <p:nvCxnSpPr>
            <p:cNvPr id="87" name="Connector 86"/>
            <p:cNvCxnSpPr/>
            <p:nvPr/>
          </p:nvCxnSpPr>
          <p:spPr>
            <a:xfrm>
              <a:off x="6858000" y="4520793"/>
              <a:ext cx="274320" cy="0"/>
            </a:xfrm>
            <a:prstGeom prst="line">
              <a:avLst/>
            </a:prstGeom>
            <a:ln w="8890">
              <a:solidFill>
                <a:srgbClr val="6DB4B4"/>
              </a:solidFill>
            </a:ln>
          </p:spPr>
        </p:cxnSp>
        <p:cxnSp>
          <p:nvCxnSpPr>
            <p:cNvPr id="88" name="Connector 87"/>
            <p:cNvCxnSpPr/>
            <p:nvPr/>
          </p:nvCxnSpPr>
          <p:spPr>
            <a:xfrm flipV="1">
              <a:off x="7064654" y="4453128"/>
              <a:ext cx="0" cy="274320"/>
            </a:xfrm>
            <a:prstGeom prst="line">
              <a:avLst/>
            </a:prstGeom>
            <a:ln w="8890">
              <a:solidFill>
                <a:srgbClr val="6DB4B4"/>
              </a:solidFill>
            </a:ln>
          </p:spPr>
        </p:cxnSp>
        <p:sp>
          <p:nvSpPr>
            <p:cNvPr id="89" name="Rectangle 88"/>
            <p:cNvSpPr/>
            <p:nvPr/>
          </p:nvSpPr>
          <p:spPr>
            <a:xfrm>
              <a:off x="6962241" y="4750308"/>
              <a:ext cx="65836" cy="320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7251192" y="3557016"/>
              <a:ext cx="74980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3C4FA5"/>
                  </a:solidFill>
                  <a:latin typeface="Arial"/>
                  <a:ea typeface="Arial"/>
                </a:rPr>
                <a:t>DRAM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251192" y="4654296"/>
              <a:ext cx="74980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146B6B"/>
                  </a:solidFill>
                  <a:latin typeface="Arial"/>
                  <a:ea typeface="Arial"/>
                </a:rPr>
                <a:t>NAND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7891271" y="3355848"/>
              <a:ext cx="21945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1E8C8C"/>
                  </a:solidFill>
                  <a:latin typeface="Arial"/>
                  <a:ea typeface="Arial"/>
                </a:rPr>
                <a:t>공용 BEOL 설비 Pool</a:t>
              </a:r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8129015" y="3785616"/>
              <a:ext cx="365760" cy="402336"/>
            </a:xfrm>
            <a:prstGeom prst="roundRect">
              <a:avLst>
                <a:gd name="adj" fmla="val 10000"/>
              </a:avLst>
            </a:prstGeom>
            <a:solidFill>
              <a:srgbClr val="3C4FA5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8586216" y="3785616"/>
              <a:ext cx="365760" cy="402336"/>
            </a:xfrm>
            <a:prstGeom prst="roundRect">
              <a:avLst>
                <a:gd name="adj" fmla="val 10000"/>
              </a:avLst>
            </a:prstGeom>
            <a:solidFill>
              <a:srgbClr val="3C4FA5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Rounded Rectangle 94"/>
            <p:cNvSpPr/>
            <p:nvPr/>
          </p:nvSpPr>
          <p:spPr>
            <a:xfrm>
              <a:off x="9043416" y="3785616"/>
              <a:ext cx="365760" cy="402336"/>
            </a:xfrm>
            <a:prstGeom prst="roundRect">
              <a:avLst>
                <a:gd name="adj" fmla="val 10000"/>
              </a:avLst>
            </a:prstGeom>
            <a:solidFill>
              <a:srgbClr val="1E8C8C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9043416" y="3785616"/>
              <a:ext cx="365760" cy="201168"/>
            </a:xfrm>
            <a:prstGeom prst="rect">
              <a:avLst/>
            </a:prstGeom>
            <a:solidFill>
              <a:srgbClr val="3C4FA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Curved Down Arrow 96"/>
            <p:cNvSpPr/>
            <p:nvPr/>
          </p:nvSpPr>
          <p:spPr>
            <a:xfrm>
              <a:off x="9098280" y="3657600"/>
              <a:ext cx="237744" cy="109728"/>
            </a:xfrm>
            <a:prstGeom prst="curvedDownArrow">
              <a:avLst/>
            </a:prstGeom>
            <a:solidFill>
              <a:srgbClr val="1A1A1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9500616" y="3785616"/>
              <a:ext cx="365760" cy="402336"/>
            </a:xfrm>
            <a:prstGeom prst="roundRect">
              <a:avLst>
                <a:gd name="adj" fmla="val 10000"/>
              </a:avLst>
            </a:prstGeom>
            <a:solidFill>
              <a:srgbClr val="1E8C8C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8129015" y="4352544"/>
              <a:ext cx="365760" cy="402336"/>
            </a:xfrm>
            <a:prstGeom prst="roundRect">
              <a:avLst>
                <a:gd name="adj" fmla="val 10000"/>
              </a:avLst>
            </a:prstGeom>
            <a:solidFill>
              <a:srgbClr val="3C4FA5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Rounded Rectangle 99"/>
            <p:cNvSpPr/>
            <p:nvPr/>
          </p:nvSpPr>
          <p:spPr>
            <a:xfrm>
              <a:off x="8586216" y="4352544"/>
              <a:ext cx="365760" cy="402336"/>
            </a:xfrm>
            <a:prstGeom prst="roundRect">
              <a:avLst>
                <a:gd name="adj" fmla="val 10000"/>
              </a:avLst>
            </a:prstGeom>
            <a:solidFill>
              <a:srgbClr val="1E8C8C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8586216" y="4352544"/>
              <a:ext cx="365760" cy="201168"/>
            </a:xfrm>
            <a:prstGeom prst="rect">
              <a:avLst/>
            </a:prstGeom>
            <a:solidFill>
              <a:srgbClr val="3C4FA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Curved Down Arrow 101"/>
            <p:cNvSpPr/>
            <p:nvPr/>
          </p:nvSpPr>
          <p:spPr>
            <a:xfrm>
              <a:off x="8641080" y="4224528"/>
              <a:ext cx="237744" cy="109728"/>
            </a:xfrm>
            <a:prstGeom prst="curvedDownArrow">
              <a:avLst/>
            </a:prstGeom>
            <a:solidFill>
              <a:srgbClr val="1A1A1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ounded Rectangle 102"/>
            <p:cNvSpPr/>
            <p:nvPr/>
          </p:nvSpPr>
          <p:spPr>
            <a:xfrm>
              <a:off x="9043416" y="4352544"/>
              <a:ext cx="365760" cy="402336"/>
            </a:xfrm>
            <a:prstGeom prst="roundRect">
              <a:avLst>
                <a:gd name="adj" fmla="val 10000"/>
              </a:avLst>
            </a:prstGeom>
            <a:solidFill>
              <a:srgbClr val="1E8C8C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9500616" y="4352544"/>
              <a:ext cx="365760" cy="402336"/>
            </a:xfrm>
            <a:prstGeom prst="roundRect">
              <a:avLst>
                <a:gd name="adj" fmla="val 10000"/>
              </a:avLst>
            </a:prstGeom>
            <a:solidFill>
              <a:srgbClr val="1E8C8C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5" name="Connector 104"/>
            <p:cNvCxnSpPr/>
            <p:nvPr/>
          </p:nvCxnSpPr>
          <p:spPr>
            <a:xfrm>
              <a:off x="10030967" y="4261104"/>
              <a:ext cx="438913" cy="0"/>
            </a:xfrm>
            <a:prstGeom prst="line">
              <a:avLst/>
            </a:prstGeom>
            <a:ln w="30480">
              <a:solidFill>
                <a:srgbClr val="1E8C8C"/>
              </a:solidFill>
              <a:tailEnd type="triangle" w="med" len="med"/>
            </a:ln>
          </p:spPr>
        </p:cxnSp>
        <p:sp>
          <p:nvSpPr>
            <p:cNvPr id="106" name="Oval 105"/>
            <p:cNvSpPr/>
            <p:nvPr/>
          </p:nvSpPr>
          <p:spPr>
            <a:xfrm>
              <a:off x="10506456" y="4306824"/>
              <a:ext cx="877824" cy="274320"/>
            </a:xfrm>
            <a:prstGeom prst="ellipse">
              <a:avLst/>
            </a:prstGeom>
            <a:solidFill>
              <a:srgbClr val="1E8C8C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Oval 106"/>
            <p:cNvSpPr/>
            <p:nvPr/>
          </p:nvSpPr>
          <p:spPr>
            <a:xfrm>
              <a:off x="10506456" y="4160520"/>
              <a:ext cx="877824" cy="274320"/>
            </a:xfrm>
            <a:prstGeom prst="ellipse">
              <a:avLst/>
            </a:prstGeom>
            <a:solidFill>
              <a:srgbClr val="3C4FA5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>
              <a:off x="10506456" y="4014216"/>
              <a:ext cx="877824" cy="274320"/>
            </a:xfrm>
            <a:prstGeom prst="ellipse">
              <a:avLst/>
            </a:prstGeom>
            <a:solidFill>
              <a:srgbClr val="6E56B0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10392156" y="3593592"/>
              <a:ext cx="1106424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1E8C8C"/>
                  </a:solidFill>
                  <a:latin typeface="Arial"/>
                  <a:ea typeface="Arial"/>
                </a:rPr>
                <a:t>Bonding</a:t>
              </a:r>
            </a:p>
          </p:txBody>
        </p:sp>
      </p:grpSp>
      <p:sp>
        <p:nvSpPr>
          <p:cNvPr id="110" name="Rectangle 109"/>
          <p:cNvSpPr/>
          <p:nvPr/>
        </p:nvSpPr>
        <p:spPr>
          <a:xfrm>
            <a:off x="6556248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757416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DRAM/NAND 설비 전환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속도 증가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556248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757416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생산 Bottleneck 해소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로 생산성 증가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556248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9DC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57416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E8C8C"/>
                </a:solidFill>
                <a:latin typeface="Arial"/>
                <a:ea typeface="Arial"/>
              </a:rPr>
              <a:t>유휴 설비 최소화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투자 회수 기간 단축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2115800" y="2816352"/>
            <a:ext cx="5175504" cy="2231136"/>
          </a:xfrm>
          <a:prstGeom prst="rect">
            <a:avLst/>
          </a:prstGeom>
          <a:solidFill>
            <a:srgbClr val="F1EE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2115800" y="2816352"/>
            <a:ext cx="5175504" cy="54864"/>
          </a:xfrm>
          <a:prstGeom prst="rect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2280392" y="2944368"/>
            <a:ext cx="365760" cy="365760"/>
          </a:xfrm>
          <a:prstGeom prst="ellipse">
            <a:avLst/>
          </a:prstGeom>
          <a:solidFill>
            <a:srgbClr val="6E56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280392" y="294436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755880" y="2907792"/>
            <a:ext cx="43891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설비 통일성·선단화</a:t>
            </a:r>
            <a:r>
              <a:rPr sz="1600" b="0">
                <a:solidFill>
                  <a:srgbClr val="6E56B0"/>
                </a:solidFill>
                <a:latin typeface="Arial"/>
                <a:ea typeface="Arial"/>
              </a:rPr>
              <a:t>  Equipment Unif.</a:t>
            </a:r>
          </a:p>
        </p:txBody>
      </p:sp>
      <p:grpSp>
        <p:nvGrpSpPr>
          <p:cNvPr id="121" name="그림 3 설비 통일성 (도형)"/>
          <p:cNvGrpSpPr/>
          <p:nvPr/>
        </p:nvGrpSpPr>
        <p:grpSpPr>
          <a:xfrm>
            <a:off x="12298680" y="3355848"/>
            <a:ext cx="4809744" cy="1565910"/>
            <a:chOff x="12298680" y="3355848"/>
            <a:chExt cx="4809744" cy="1565910"/>
          </a:xfrm>
        </p:grpSpPr>
        <p:sp>
          <p:nvSpPr>
            <p:cNvPr id="122" name="TextBox 121"/>
            <p:cNvSpPr txBox="1"/>
            <p:nvPr/>
          </p:nvSpPr>
          <p:spPr>
            <a:xfrm>
              <a:off x="12897612" y="3355848"/>
              <a:ext cx="74980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3C4FA5"/>
                  </a:solidFill>
                  <a:latin typeface="Arial"/>
                  <a:ea typeface="Arial"/>
                </a:rPr>
                <a:t>DRAM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13775436" y="3355848"/>
              <a:ext cx="74980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146B6B"/>
                  </a:solidFill>
                  <a:latin typeface="Arial"/>
                  <a:ea typeface="Arial"/>
                </a:rPr>
                <a:t>NAND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15041880" y="3355848"/>
              <a:ext cx="512064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6E56B0"/>
                  </a:solidFill>
                  <a:latin typeface="Arial"/>
                  <a:ea typeface="Arial"/>
                </a:rPr>
                <a:t>공용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12298680" y="3728466"/>
              <a:ext cx="74980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1A1A1A"/>
                  </a:solidFill>
                  <a:latin typeface="Arial"/>
                  <a:ea typeface="Arial"/>
                </a:rPr>
                <a:t>Depo</a:t>
              </a:r>
            </a:p>
          </p:txBody>
        </p:sp>
        <p:sp>
          <p:nvSpPr>
            <p:cNvPr id="126" name="Rounded Rectangle 125"/>
            <p:cNvSpPr/>
            <p:nvPr/>
          </p:nvSpPr>
          <p:spPr>
            <a:xfrm>
              <a:off x="12883896" y="3751326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9ECF8"/>
            </a:solidFill>
            <a:ln w="1143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12883896" y="3728466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3C4FA5"/>
                  </a:solidFill>
                  <a:latin typeface="Arial"/>
                  <a:ea typeface="Arial"/>
                </a:rPr>
                <a:t>A1</a:t>
              </a:r>
            </a:p>
          </p:txBody>
        </p:sp>
        <p:sp>
          <p:nvSpPr>
            <p:cNvPr id="128" name="Rounded Rectangle 127"/>
            <p:cNvSpPr/>
            <p:nvPr/>
          </p:nvSpPr>
          <p:spPr>
            <a:xfrm>
              <a:off x="13295376" y="3751326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9ECF8"/>
            </a:solidFill>
            <a:ln w="1143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13295376" y="3728466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3C4FA5"/>
                  </a:solidFill>
                  <a:latin typeface="Arial"/>
                  <a:ea typeface="Arial"/>
                </a:rPr>
                <a:t>B4</a:t>
              </a:r>
            </a:p>
          </p:txBody>
        </p:sp>
        <p:sp>
          <p:nvSpPr>
            <p:cNvPr id="130" name="Rounded Rectangle 129"/>
            <p:cNvSpPr/>
            <p:nvPr/>
          </p:nvSpPr>
          <p:spPr>
            <a:xfrm>
              <a:off x="13761720" y="3751326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3F3F1"/>
            </a:solidFill>
            <a:ln w="11430">
              <a:solidFill>
                <a:srgbClr val="1E8C8C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13761720" y="3728466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146B6B"/>
                  </a:solidFill>
                  <a:latin typeface="Arial"/>
                  <a:ea typeface="Arial"/>
                </a:rPr>
                <a:t>K3</a:t>
              </a:r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14173200" y="3751326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3F3F1"/>
            </a:solidFill>
            <a:ln w="11430">
              <a:solidFill>
                <a:srgbClr val="1E8C8C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14173200" y="3728466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146B6B"/>
                  </a:solidFill>
                  <a:latin typeface="Arial"/>
                  <a:ea typeface="Arial"/>
                </a:rPr>
                <a:t>A2</a:t>
              </a:r>
            </a:p>
          </p:txBody>
        </p:sp>
        <p:sp>
          <p:nvSpPr>
            <p:cNvPr id="134" name="Right Arrow 133"/>
            <p:cNvSpPr/>
            <p:nvPr/>
          </p:nvSpPr>
          <p:spPr>
            <a:xfrm>
              <a:off x="14639543" y="3774186"/>
              <a:ext cx="329184" cy="182880"/>
            </a:xfrm>
            <a:prstGeom prst="rightArrow">
              <a:avLst/>
            </a:prstGeom>
            <a:solidFill>
              <a:srgbClr val="D3CAE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>
              <a:off x="15169896" y="3687318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D3CAEE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Rounded Rectangle 135"/>
            <p:cNvSpPr/>
            <p:nvPr/>
          </p:nvSpPr>
          <p:spPr>
            <a:xfrm>
              <a:off x="15115032" y="3719322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A797D6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15060167" y="3751326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6E56B0"/>
            </a:solidFill>
            <a:ln w="1143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15060167" y="3728466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Arial"/>
                  <a:ea typeface="Arial"/>
                </a:rPr>
                <a:t>P1</a:t>
              </a: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15736824" y="3728466"/>
              <a:ext cx="987552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6E56B0"/>
                  </a:solidFill>
                  <a:latin typeface="Arial"/>
                  <a:ea typeface="Arial"/>
                </a:rPr>
                <a:t>레시피 공유</a:t>
              </a:r>
            </a:p>
          </p:txBody>
        </p:sp>
        <p:cxnSp>
          <p:nvCxnSpPr>
            <p:cNvPr id="140" name="Connector 139"/>
            <p:cNvCxnSpPr/>
            <p:nvPr/>
          </p:nvCxnSpPr>
          <p:spPr>
            <a:xfrm>
              <a:off x="12298680" y="4018788"/>
              <a:ext cx="4809744" cy="0"/>
            </a:xfrm>
            <a:prstGeom prst="line">
              <a:avLst/>
            </a:prstGeom>
            <a:ln w="8890">
              <a:solidFill>
                <a:srgbClr val="D9D9D9"/>
              </a:solidFill>
            </a:ln>
          </p:spPr>
        </p:cxnSp>
        <p:sp>
          <p:nvSpPr>
            <p:cNvPr id="141" name="TextBox 140"/>
            <p:cNvSpPr txBox="1"/>
            <p:nvPr/>
          </p:nvSpPr>
          <p:spPr>
            <a:xfrm>
              <a:off x="12298680" y="4034790"/>
              <a:ext cx="74980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1A1A1A"/>
                  </a:solidFill>
                  <a:latin typeface="Arial"/>
                  <a:ea typeface="Arial"/>
                </a:rPr>
                <a:t>Etch</a:t>
              </a:r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12883896" y="4057650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9ECF8"/>
            </a:solidFill>
            <a:ln w="1143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12883896" y="4034790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3C4FA5"/>
                  </a:solidFill>
                  <a:latin typeface="Arial"/>
                  <a:ea typeface="Arial"/>
                </a:rPr>
                <a:t>C2</a:t>
              </a:r>
            </a:p>
          </p:txBody>
        </p:sp>
        <p:sp>
          <p:nvSpPr>
            <p:cNvPr id="144" name="Rounded Rectangle 143"/>
            <p:cNvSpPr/>
            <p:nvPr/>
          </p:nvSpPr>
          <p:spPr>
            <a:xfrm>
              <a:off x="13295376" y="4057650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9ECF8"/>
            </a:solidFill>
            <a:ln w="1143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13295376" y="4034790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3C4FA5"/>
                  </a:solidFill>
                  <a:latin typeface="Arial"/>
                  <a:ea typeface="Arial"/>
                </a:rPr>
                <a:t>D3</a:t>
              </a:r>
            </a:p>
          </p:txBody>
        </p:sp>
        <p:sp>
          <p:nvSpPr>
            <p:cNvPr id="146" name="Rounded Rectangle 145"/>
            <p:cNvSpPr/>
            <p:nvPr/>
          </p:nvSpPr>
          <p:spPr>
            <a:xfrm>
              <a:off x="13761720" y="4057650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3F3F1"/>
            </a:solidFill>
            <a:ln w="11430">
              <a:solidFill>
                <a:srgbClr val="1E8C8C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13761720" y="4034790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146B6B"/>
                  </a:solidFill>
                  <a:latin typeface="Arial"/>
                  <a:ea typeface="Arial"/>
                </a:rPr>
                <a:t>L1</a:t>
              </a:r>
            </a:p>
          </p:txBody>
        </p:sp>
        <p:sp>
          <p:nvSpPr>
            <p:cNvPr id="148" name="Rounded Rectangle 147"/>
            <p:cNvSpPr/>
            <p:nvPr/>
          </p:nvSpPr>
          <p:spPr>
            <a:xfrm>
              <a:off x="14173200" y="4057650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3F3F1"/>
            </a:solidFill>
            <a:ln w="11430">
              <a:solidFill>
                <a:srgbClr val="1E8C8C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14173200" y="4034790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146B6B"/>
                  </a:solidFill>
                  <a:latin typeface="Arial"/>
                  <a:ea typeface="Arial"/>
                </a:rPr>
                <a:t>C6</a:t>
              </a:r>
            </a:p>
          </p:txBody>
        </p:sp>
        <p:sp>
          <p:nvSpPr>
            <p:cNvPr id="150" name="Right Arrow 149"/>
            <p:cNvSpPr/>
            <p:nvPr/>
          </p:nvSpPr>
          <p:spPr>
            <a:xfrm>
              <a:off x="14639543" y="4080510"/>
              <a:ext cx="329184" cy="182880"/>
            </a:xfrm>
            <a:prstGeom prst="rightArrow">
              <a:avLst/>
            </a:prstGeom>
            <a:solidFill>
              <a:srgbClr val="D3CAE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Rounded Rectangle 150"/>
            <p:cNvSpPr/>
            <p:nvPr/>
          </p:nvSpPr>
          <p:spPr>
            <a:xfrm>
              <a:off x="15169896" y="3993642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D3CAEE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15115032" y="4025646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A797D6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ounded Rectangle 152"/>
            <p:cNvSpPr/>
            <p:nvPr/>
          </p:nvSpPr>
          <p:spPr>
            <a:xfrm>
              <a:off x="15060167" y="4057650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6E56B0"/>
            </a:solidFill>
            <a:ln w="1143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15060167" y="4034790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Arial"/>
                  <a:ea typeface="Arial"/>
                </a:rPr>
                <a:t>P2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15736824" y="4034790"/>
              <a:ext cx="86868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6E56B0"/>
                  </a:solidFill>
                  <a:latin typeface="Arial"/>
                  <a:ea typeface="Arial"/>
                </a:rPr>
                <a:t>부품 공용</a:t>
              </a:r>
            </a:p>
          </p:txBody>
        </p:sp>
        <p:cxnSp>
          <p:nvCxnSpPr>
            <p:cNvPr id="156" name="Connector 155"/>
            <p:cNvCxnSpPr/>
            <p:nvPr/>
          </p:nvCxnSpPr>
          <p:spPr>
            <a:xfrm>
              <a:off x="12298680" y="4325112"/>
              <a:ext cx="4809744" cy="0"/>
            </a:xfrm>
            <a:prstGeom prst="line">
              <a:avLst/>
            </a:prstGeom>
            <a:ln w="8890">
              <a:solidFill>
                <a:srgbClr val="D9D9D9"/>
              </a:solidFill>
            </a:ln>
          </p:spPr>
        </p:cxnSp>
        <p:sp>
          <p:nvSpPr>
            <p:cNvPr id="157" name="TextBox 156"/>
            <p:cNvSpPr txBox="1"/>
            <p:nvPr/>
          </p:nvSpPr>
          <p:spPr>
            <a:xfrm>
              <a:off x="12298680" y="4341114"/>
              <a:ext cx="630936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1A1A1A"/>
                  </a:solidFill>
                  <a:latin typeface="Arial"/>
                  <a:ea typeface="Arial"/>
                </a:rPr>
                <a:t>CMP</a:t>
              </a:r>
            </a:p>
          </p:txBody>
        </p:sp>
        <p:sp>
          <p:nvSpPr>
            <p:cNvPr id="158" name="Rounded Rectangle 157"/>
            <p:cNvSpPr/>
            <p:nvPr/>
          </p:nvSpPr>
          <p:spPr>
            <a:xfrm>
              <a:off x="12883896" y="4363974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9ECF8"/>
            </a:solidFill>
            <a:ln w="1143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12883896" y="4341114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3C4FA5"/>
                  </a:solidFill>
                  <a:latin typeface="Arial"/>
                  <a:ea typeface="Arial"/>
                </a:rPr>
                <a:t>E1</a:t>
              </a:r>
            </a:p>
          </p:txBody>
        </p:sp>
        <p:sp>
          <p:nvSpPr>
            <p:cNvPr id="160" name="Rounded Rectangle 159"/>
            <p:cNvSpPr/>
            <p:nvPr/>
          </p:nvSpPr>
          <p:spPr>
            <a:xfrm>
              <a:off x="13295376" y="4363974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9ECF8"/>
            </a:solidFill>
            <a:ln w="1143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13295376" y="4341114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3C4FA5"/>
                  </a:solidFill>
                  <a:latin typeface="Arial"/>
                  <a:ea typeface="Arial"/>
                </a:rPr>
                <a:t>F5</a:t>
              </a:r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13761720" y="4363974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3F3F1"/>
            </a:solidFill>
            <a:ln w="11430">
              <a:solidFill>
                <a:srgbClr val="1E8C8C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13761720" y="4341114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146B6B"/>
                  </a:solidFill>
                  <a:latin typeface="Arial"/>
                  <a:ea typeface="Arial"/>
                </a:rPr>
                <a:t>M4</a:t>
              </a:r>
            </a:p>
          </p:txBody>
        </p:sp>
        <p:sp>
          <p:nvSpPr>
            <p:cNvPr id="164" name="Rounded Rectangle 163"/>
            <p:cNvSpPr/>
            <p:nvPr/>
          </p:nvSpPr>
          <p:spPr>
            <a:xfrm>
              <a:off x="14173200" y="4363974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3F3F1"/>
            </a:solidFill>
            <a:ln w="11430">
              <a:solidFill>
                <a:srgbClr val="1E8C8C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5" name="TextBox 164"/>
            <p:cNvSpPr txBox="1"/>
            <p:nvPr/>
          </p:nvSpPr>
          <p:spPr>
            <a:xfrm>
              <a:off x="14173200" y="4341114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146B6B"/>
                  </a:solidFill>
                  <a:latin typeface="Arial"/>
                  <a:ea typeface="Arial"/>
                </a:rPr>
                <a:t>E2</a:t>
              </a:r>
            </a:p>
          </p:txBody>
        </p:sp>
        <p:sp>
          <p:nvSpPr>
            <p:cNvPr id="166" name="Right Arrow 165"/>
            <p:cNvSpPr/>
            <p:nvPr/>
          </p:nvSpPr>
          <p:spPr>
            <a:xfrm>
              <a:off x="14639543" y="4386834"/>
              <a:ext cx="329184" cy="182880"/>
            </a:xfrm>
            <a:prstGeom prst="rightArrow">
              <a:avLst/>
            </a:prstGeom>
            <a:solidFill>
              <a:srgbClr val="D3CAE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15169896" y="4299966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D3CAEE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ounded Rectangle 167"/>
            <p:cNvSpPr/>
            <p:nvPr/>
          </p:nvSpPr>
          <p:spPr>
            <a:xfrm>
              <a:off x="15115032" y="4331970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A797D6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ounded Rectangle 168"/>
            <p:cNvSpPr/>
            <p:nvPr/>
          </p:nvSpPr>
          <p:spPr>
            <a:xfrm>
              <a:off x="15060167" y="4363974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6E56B0"/>
            </a:solidFill>
            <a:ln w="1143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TextBox 169"/>
            <p:cNvSpPr txBox="1"/>
            <p:nvPr/>
          </p:nvSpPr>
          <p:spPr>
            <a:xfrm>
              <a:off x="15060167" y="4341114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Arial"/>
                  <a:ea typeface="Arial"/>
                </a:rPr>
                <a:t>P3</a:t>
              </a:r>
            </a:p>
          </p:txBody>
        </p:sp>
        <p:sp>
          <p:nvSpPr>
            <p:cNvPr id="171" name="TextBox 170"/>
            <p:cNvSpPr txBox="1"/>
            <p:nvPr/>
          </p:nvSpPr>
          <p:spPr>
            <a:xfrm>
              <a:off x="15736824" y="4341114"/>
              <a:ext cx="86868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6E56B0"/>
                  </a:solidFill>
                  <a:latin typeface="Arial"/>
                  <a:ea typeface="Arial"/>
                </a:rPr>
                <a:t>물량 집중</a:t>
              </a:r>
            </a:p>
          </p:txBody>
        </p:sp>
        <p:cxnSp>
          <p:nvCxnSpPr>
            <p:cNvPr id="172" name="Connector 171"/>
            <p:cNvCxnSpPr/>
            <p:nvPr/>
          </p:nvCxnSpPr>
          <p:spPr>
            <a:xfrm>
              <a:off x="12298680" y="4631436"/>
              <a:ext cx="4809744" cy="0"/>
            </a:xfrm>
            <a:prstGeom prst="line">
              <a:avLst/>
            </a:prstGeom>
            <a:ln w="8890">
              <a:solidFill>
                <a:srgbClr val="D9D9D9"/>
              </a:solidFill>
            </a:ln>
          </p:spPr>
        </p:cxnSp>
        <p:sp>
          <p:nvSpPr>
            <p:cNvPr id="173" name="TextBox 172"/>
            <p:cNvSpPr txBox="1"/>
            <p:nvPr/>
          </p:nvSpPr>
          <p:spPr>
            <a:xfrm>
              <a:off x="12298680" y="4647438"/>
              <a:ext cx="749808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1A1A1A"/>
                  </a:solidFill>
                  <a:latin typeface="Arial"/>
                  <a:ea typeface="Arial"/>
                </a:rPr>
                <a:t>Bond</a:t>
              </a:r>
            </a:p>
          </p:txBody>
        </p:sp>
        <p:sp>
          <p:nvSpPr>
            <p:cNvPr id="174" name="Rounded Rectangle 173"/>
            <p:cNvSpPr/>
            <p:nvPr/>
          </p:nvSpPr>
          <p:spPr>
            <a:xfrm>
              <a:off x="12883896" y="4670298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9ECF8"/>
            </a:solidFill>
            <a:ln w="1143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12883896" y="4647438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3C4FA5"/>
                  </a:solidFill>
                  <a:latin typeface="Arial"/>
                  <a:ea typeface="Arial"/>
                </a:rPr>
                <a:t>G2</a:t>
              </a:r>
            </a:p>
          </p:txBody>
        </p:sp>
        <p:sp>
          <p:nvSpPr>
            <p:cNvPr id="176" name="Rounded Rectangle 175"/>
            <p:cNvSpPr/>
            <p:nvPr/>
          </p:nvSpPr>
          <p:spPr>
            <a:xfrm>
              <a:off x="13295376" y="4670298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9ECF8"/>
            </a:solidFill>
            <a:ln w="11430">
              <a:solidFill>
                <a:srgbClr val="3C4FA5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13295376" y="4647438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3C4FA5"/>
                  </a:solidFill>
                  <a:latin typeface="Arial"/>
                  <a:ea typeface="Arial"/>
                </a:rPr>
                <a:t>H1</a:t>
              </a:r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13761720" y="4670298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3F3F1"/>
            </a:solidFill>
            <a:ln w="11430">
              <a:solidFill>
                <a:srgbClr val="1E8C8C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TextBox 178"/>
            <p:cNvSpPr txBox="1"/>
            <p:nvPr/>
          </p:nvSpPr>
          <p:spPr>
            <a:xfrm>
              <a:off x="13761720" y="4647438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146B6B"/>
                  </a:solidFill>
                  <a:latin typeface="Arial"/>
                  <a:ea typeface="Arial"/>
                </a:rPr>
                <a:t>N2</a:t>
              </a:r>
            </a:p>
          </p:txBody>
        </p:sp>
        <p:sp>
          <p:nvSpPr>
            <p:cNvPr id="180" name="Rounded Rectangle 179"/>
            <p:cNvSpPr/>
            <p:nvPr/>
          </p:nvSpPr>
          <p:spPr>
            <a:xfrm>
              <a:off x="14173200" y="4670298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E3F3F1"/>
            </a:solidFill>
            <a:ln w="11430">
              <a:solidFill>
                <a:srgbClr val="1E8C8C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TextBox 180"/>
            <p:cNvSpPr txBox="1"/>
            <p:nvPr/>
          </p:nvSpPr>
          <p:spPr>
            <a:xfrm>
              <a:off x="14173200" y="4647438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0">
                  <a:solidFill>
                    <a:srgbClr val="146B6B"/>
                  </a:solidFill>
                  <a:latin typeface="Arial"/>
                  <a:ea typeface="Arial"/>
                </a:rPr>
                <a:t>G7</a:t>
              </a:r>
            </a:p>
          </p:txBody>
        </p:sp>
        <p:sp>
          <p:nvSpPr>
            <p:cNvPr id="182" name="Right Arrow 181"/>
            <p:cNvSpPr/>
            <p:nvPr/>
          </p:nvSpPr>
          <p:spPr>
            <a:xfrm>
              <a:off x="14639543" y="4693158"/>
              <a:ext cx="329184" cy="182880"/>
            </a:xfrm>
            <a:prstGeom prst="rightArrow">
              <a:avLst/>
            </a:prstGeom>
            <a:solidFill>
              <a:srgbClr val="D3CAE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ounded Rectangle 182"/>
            <p:cNvSpPr/>
            <p:nvPr/>
          </p:nvSpPr>
          <p:spPr>
            <a:xfrm>
              <a:off x="15169896" y="4606290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D3CAEE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ounded Rectangle 183"/>
            <p:cNvSpPr/>
            <p:nvPr/>
          </p:nvSpPr>
          <p:spPr>
            <a:xfrm>
              <a:off x="15115032" y="4638294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A797D6"/>
            </a:solidFill>
            <a:ln w="1016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5" name="Rounded Rectangle 184"/>
            <p:cNvSpPr/>
            <p:nvPr/>
          </p:nvSpPr>
          <p:spPr>
            <a:xfrm>
              <a:off x="15060167" y="4670298"/>
              <a:ext cx="365760" cy="228600"/>
            </a:xfrm>
            <a:prstGeom prst="roundRect">
              <a:avLst>
                <a:gd name="adj" fmla="val 16000"/>
              </a:avLst>
            </a:prstGeom>
            <a:solidFill>
              <a:srgbClr val="6E56B0"/>
            </a:solidFill>
            <a:ln w="1143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6" name="TextBox 185"/>
            <p:cNvSpPr txBox="1"/>
            <p:nvPr/>
          </p:nvSpPr>
          <p:spPr>
            <a:xfrm>
              <a:off x="15060167" y="4647438"/>
              <a:ext cx="36576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Arial"/>
                  <a:ea typeface="Arial"/>
                </a:rPr>
                <a:t>P4</a:t>
              </a:r>
            </a:p>
          </p:txBody>
        </p:sp>
        <p:sp>
          <p:nvSpPr>
            <p:cNvPr id="187" name="TextBox 186"/>
            <p:cNvSpPr txBox="1"/>
            <p:nvPr/>
          </p:nvSpPr>
          <p:spPr>
            <a:xfrm>
              <a:off x="15736824" y="4647438"/>
              <a:ext cx="868680" cy="274320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600" b="1">
                  <a:solidFill>
                    <a:srgbClr val="B86E00"/>
                  </a:solidFill>
                  <a:latin typeface="Arial"/>
                  <a:ea typeface="Arial"/>
                </a:rPr>
                <a:t>협상력 ↑</a:t>
              </a:r>
            </a:p>
          </p:txBody>
        </p:sp>
      </p:grpSp>
      <p:sp>
        <p:nvSpPr>
          <p:cNvPr id="188" name="Rectangle 187"/>
          <p:cNvSpPr/>
          <p:nvPr/>
        </p:nvSpPr>
        <p:spPr>
          <a:xfrm>
            <a:off x="12115800" y="5120640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2316968" y="512064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P-Mix 관점 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투자·전환 Loss 감소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12115800" y="5632704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2316968" y="563270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생산성 향상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, 수율 안정화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2115800" y="6144768"/>
            <a:ext cx="5175504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3CA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2316968" y="614476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E56B0"/>
                </a:solidFill>
                <a:latin typeface="Arial"/>
                <a:ea typeface="Arial"/>
              </a:rPr>
              <a:t>강력한 구매 협상력</a:t>
            </a: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 확보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108813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46027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83241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20455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57669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94883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32097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69311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06525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43739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80953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18167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55381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92594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29808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67022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04236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41450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778664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15878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53092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90306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9275205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9647345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0019484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0391624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10763763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11135903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1150804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1880182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2252322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624461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2996601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3368740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3740880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4113019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4485159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4857298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5229438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5601577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5973717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634585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6717996" y="6711696"/>
            <a:ext cx="109728" cy="73152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7090136" y="6711696"/>
            <a:ext cx="109728" cy="73152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996696" y="6803136"/>
            <a:ext cx="16294608" cy="512064"/>
          </a:xfrm>
          <a:prstGeom prst="rect">
            <a:avLst/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271016" y="6803136"/>
            <a:ext cx="1574596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Common Platform   </a:t>
            </a:r>
            <a:r>
              <a:rPr sz="2000" b="0">
                <a:solidFill>
                  <a:srgbClr val="FFFFFF"/>
                </a:solidFill>
                <a:latin typeface="Arial"/>
                <a:ea typeface="Arial"/>
              </a:rPr>
              <a:t>DRAM·NAND 공용 BEOL · Bonding 공정 · 설비 Pool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722376" y="7662672"/>
            <a:ext cx="1554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9050">
            <a:solidFill>
              <a:srgbClr val="26336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722376" y="766267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26336E"/>
                </a:solidFill>
                <a:latin typeface="Arial"/>
                <a:ea typeface="Arial"/>
              </a:rPr>
              <a:t>운영 제언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22376" y="8211312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메모리 BEOL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통합조직 구성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4480560" y="7644383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9ECF8"/>
          </a:solidFill>
          <a:ln w="12700">
            <a:solidFill>
              <a:srgbClr val="3C4FA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731654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ound Same Side Corner Rectangle 244"/>
          <p:cNvSpPr/>
          <p:nvPr/>
        </p:nvSpPr>
        <p:spPr>
          <a:xfrm>
            <a:off x="4681728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5042916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ound Same Side Corner Rectangle 246"/>
          <p:cNvSpPr/>
          <p:nvPr/>
        </p:nvSpPr>
        <p:spPr>
          <a:xfrm>
            <a:off x="4992989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354177" y="7754111"/>
            <a:ext cx="138257" cy="138257"/>
          </a:xfrm>
          <a:prstGeom prst="ellipse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ound Same Side Corner Rectangle 248"/>
          <p:cNvSpPr/>
          <p:nvPr/>
        </p:nvSpPr>
        <p:spPr>
          <a:xfrm>
            <a:off x="5304251" y="7915412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5760720" y="7644383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DRAM BEOL 조직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4480560" y="8723376"/>
            <a:ext cx="4023360" cy="585216"/>
          </a:xfrm>
          <a:prstGeom prst="roundRect">
            <a:avLst>
              <a:gd name="adj" fmla="val 12500"/>
            </a:avLst>
          </a:prstGeom>
          <a:solidFill>
            <a:srgbClr val="E3F3F1"/>
          </a:solidFill>
          <a:ln w="12700">
            <a:solidFill>
              <a:srgbClr val="1E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731654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ound Same Side Corner Rectangle 252"/>
          <p:cNvSpPr/>
          <p:nvPr/>
        </p:nvSpPr>
        <p:spPr>
          <a:xfrm>
            <a:off x="4681728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042916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ound Same Side Corner Rectangle 254"/>
          <p:cNvSpPr/>
          <p:nvPr/>
        </p:nvSpPr>
        <p:spPr>
          <a:xfrm>
            <a:off x="4992989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5354177" y="8833103"/>
            <a:ext cx="138257" cy="138257"/>
          </a:xfrm>
          <a:prstGeom prst="ellipse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ound Same Side Corner Rectangle 256"/>
          <p:cNvSpPr/>
          <p:nvPr/>
        </p:nvSpPr>
        <p:spPr>
          <a:xfrm>
            <a:off x="5304251" y="8994404"/>
            <a:ext cx="238109" cy="222747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5760720" y="8723376"/>
            <a:ext cx="265176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NAND BEOL 조직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475488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506078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536669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67260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97851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284421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590330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896238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7202146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508055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813963" y="8321040"/>
            <a:ext cx="109728" cy="310896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8119872" y="8321040"/>
            <a:ext cx="109728" cy="310896"/>
          </a:xfrm>
          <a:prstGeom prst="rect">
            <a:avLst/>
          </a:prstGeom>
          <a:solidFill>
            <a:srgbClr val="1E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8613648" y="8302752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36E"/>
                </a:solidFill>
                <a:latin typeface="Arial"/>
                <a:ea typeface="Arial"/>
              </a:rPr>
              <a:t>Bonding</a:t>
            </a:r>
          </a:p>
        </p:txBody>
      </p:sp>
      <p:sp>
        <p:nvSpPr>
          <p:cNvPr id="272" name="Right Arrow 271"/>
          <p:cNvSpPr/>
          <p:nvPr/>
        </p:nvSpPr>
        <p:spPr>
          <a:xfrm>
            <a:off x="9747504" y="8311896"/>
            <a:ext cx="566928" cy="329184"/>
          </a:xfrm>
          <a:prstGeom prst="right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ounded Rectangle 272"/>
          <p:cNvSpPr/>
          <p:nvPr/>
        </p:nvSpPr>
        <p:spPr>
          <a:xfrm>
            <a:off x="10424160" y="7644383"/>
            <a:ext cx="4663440" cy="1664208"/>
          </a:xfrm>
          <a:prstGeom prst="roundRect">
            <a:avLst>
              <a:gd name="adj" fmla="val 4395"/>
            </a:avLst>
          </a:prstGeom>
          <a:solidFill>
            <a:srgbClr val="2633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10424160" y="7717536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메모리 BEOL 통합조직</a:t>
            </a:r>
          </a:p>
        </p:txBody>
      </p:sp>
      <p:sp>
        <p:nvSpPr>
          <p:cNvPr id="275" name="Oval 274"/>
          <p:cNvSpPr/>
          <p:nvPr/>
        </p:nvSpPr>
        <p:spPr>
          <a:xfrm>
            <a:off x="11785518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ound Same Side Corner Rectangle 275"/>
          <p:cNvSpPr/>
          <p:nvPr/>
        </p:nvSpPr>
        <p:spPr>
          <a:xfrm>
            <a:off x="11733215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2144695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ound Same Side Corner Rectangle 277"/>
          <p:cNvSpPr/>
          <p:nvPr/>
        </p:nvSpPr>
        <p:spPr>
          <a:xfrm>
            <a:off x="12092391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2503871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ound Same Side Corner Rectangle 279"/>
          <p:cNvSpPr/>
          <p:nvPr/>
        </p:nvSpPr>
        <p:spPr>
          <a:xfrm>
            <a:off x="12451567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2863047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ound Same Side Corner Rectangle 281"/>
          <p:cNvSpPr/>
          <p:nvPr/>
        </p:nvSpPr>
        <p:spPr>
          <a:xfrm>
            <a:off x="12810744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3222224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ound Same Side Corner Rectangle 283"/>
          <p:cNvSpPr/>
          <p:nvPr/>
        </p:nvSpPr>
        <p:spPr>
          <a:xfrm>
            <a:off x="13169920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3581400" y="8193023"/>
            <a:ext cx="144840" cy="14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ound Same Side Corner Rectangle 285"/>
          <p:cNvSpPr/>
          <p:nvPr/>
        </p:nvSpPr>
        <p:spPr>
          <a:xfrm>
            <a:off x="13529096" y="8362005"/>
            <a:ext cx="249448" cy="233354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ounded Rectangle 286"/>
          <p:cNvSpPr/>
          <p:nvPr/>
        </p:nvSpPr>
        <p:spPr>
          <a:xfrm>
            <a:off x="10588752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3C4FA5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10588752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표준 Layout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12070080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1E8C8C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2070080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설비 Pool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13551408" y="8723376"/>
            <a:ext cx="1371600" cy="438912"/>
          </a:xfrm>
          <a:prstGeom prst="roundRect">
            <a:avLst>
              <a:gd name="adj" fmla="val 16666"/>
            </a:avLst>
          </a:prstGeom>
          <a:solidFill>
            <a:srgbClr val="6E56B0"/>
          </a:solidFill>
          <a:ln w="1587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13551408" y="8723376"/>
            <a:ext cx="1371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통합 구매</a:t>
            </a:r>
          </a:p>
        </p:txBody>
      </p:sp>
      <p:sp>
        <p:nvSpPr>
          <p:cNvPr id="293" name="Up Arrow 292"/>
          <p:cNvSpPr/>
          <p:nvPr/>
        </p:nvSpPr>
        <p:spPr>
          <a:xfrm>
            <a:off x="1136599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Up Arrow 293"/>
          <p:cNvSpPr/>
          <p:nvPr/>
        </p:nvSpPr>
        <p:spPr>
          <a:xfrm>
            <a:off x="13834872" y="7370064"/>
            <a:ext cx="310896" cy="237744"/>
          </a:xfrm>
          <a:prstGeom prst="upArrow">
            <a:avLst/>
          </a:prstGeom>
          <a:solidFill>
            <a:srgbClr val="E39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11795760" y="7360920"/>
            <a:ext cx="19202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86E00"/>
                </a:solidFill>
                <a:latin typeface="Arial"/>
                <a:ea typeface="Arial"/>
              </a:rPr>
              <a:t>운영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15087600" y="8476488"/>
            <a:ext cx="274320" cy="0"/>
          </a:xfrm>
          <a:prstGeom prst="line">
            <a:avLst/>
          </a:prstGeom>
          <a:ln w="19050">
            <a:solidFill>
              <a:srgbClr val="8A8A8A"/>
            </a:solidFill>
          </a:ln>
        </p:spPr>
      </p:cxnSp>
      <p:sp>
        <p:nvSpPr>
          <p:cNvPr id="297" name="Rounded Rectangle 296"/>
          <p:cNvSpPr/>
          <p:nvPr/>
        </p:nvSpPr>
        <p:spPr>
          <a:xfrm>
            <a:off x="15361920" y="7955279"/>
            <a:ext cx="2203704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5361920" y="7955279"/>
            <a:ext cx="2203704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산하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반도체연구소</a:t>
            </a:r>
          </a:p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/ MTC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주: 효과 그림은 방향을 보여 주는 개념도이며 수치는 표기하지 않음. 정량 효과는 Fab별 검증 후 확정 [사내 확인]. 설비 모델 코드는 예시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6468344" y="96012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