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기둥 그림은 3D 느낌의 Fab 바닥입니다. 1 공간: 분리 Fab은 DRAM과 NAND 사이에 벽이 있고 모델이 제각각이며 빈 칸이 생기지만, 통합 Fab은 같은 모델을 줄지어 놓아 한 줄이 통째로 남습니다. 2 대응력: 공용 설비가 DRAM과 NAND 사이를 오가며, 수요 곡선이 엇갈리는 대로 설비 배분이 따라갑니다. 3 통일성: 높이와 크기가 제각각인 모델을 같은 모델로 모으면 모델당 발주가 한 단에서 여러 단으로 쌓입니다. 지붕은 결론, 기초는 Common Platform, 맨 아래는 DRAM과 NAND의 BEOL 조직을 Bonding해 만든 통합조직이 반도체연구소 / MTC 산하에서 기초를 운영하는 그림입니다. 통합조직 안의 세 기능(표준 Layout · 설비 Pool · 통합 구매)은 효과 1 · 2 · 3과 짝입니다.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기둥 그림은 원리를 보이는 개념 차트입니다. 1 공간: 같은 Fab 면적을 칸으로 나누면 분리 Fab의 Dead Space 칸이 통합 후 추가 설비 칸이 됩니다. 2 대응력: DRAM과 NAND의 수요 피크가 엇갈려 합산 피크가 각 피크의 합보다 낮고, 그 차이가 유휴 설비 감소입니다. 설비 전환 시간과 Bottleneck 대기도 줄어듭니다. 3 통일성: 설비 모델 수는 줄고 모델당 발주 물량은 늘어 구매 협상력이 생깁니다. 수치는 Fab별 검증 후 채웁니다. 지붕은 결론, 기초는 Common Platform, 맨 아래는 DRAM과 NAND의 BEOL 조직을 Bonding해 만든 통합조직이 반도체연구소 / MTC 산하에서 기초를 운영하는 그림입니다. 통합조직 안의 세 기능(표준 Layout · 설비 Pool · 통합 구매)은 효과 1 · 2 · 3과 짝입니다.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기둥 그림은 엔지니어링 도면 언어입니다. 1 공간: 위에서 본 Fab에서 분리 시 OHT 루프 2개와 제각각인 설비 Footprint, 빈 Bay가 생기지만, 통합 시 OHT 루프 하나에 같은 모델 줄 배치로 Bay 하나가 남습니다. 2 대응력: DRAM과 NAND 웨이퍼 Lot이 공용 BEOL 설비 Pool의 어느 설비로든 들어가고, 결과물은 Bonding으로 이어집니다. 3 통일성: 공정 단계마다 DRAM 모델 둘, NAND 모델 둘이던 것을 공용 모델 하나로 모아 레시피 · 부품 · 물량을 공유합니다. 모델 코드는 예시입니다. 지붕은 결론, 기초는 Common Platform, 맨 아래는 DRAM과 NAND의 BEOL 조직을 Bonding해 만든 통합조직이 반도체연구소 / MTC 산하에서 기초를 운영하는 그림입니다. 통합조직 안의 세 기능(표준 Layout · 설비 Pool · 통합 구매)은 효과 1 · 2 · 3과 짝입니다.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컬러 버전입니다. 색에 뜻이 있습니다: DRAM = Blue, NAND = Teal, 통합 후 같은 색 = 같은 설비 모델, 공용 모델 = Purple, 개선(확보 · 추가 · 협상력) = Amber, 효과 ① Blue ② Teal ③ Purple. 기둥 그림은 3D 느낌의 Fab 바닥입니다. 1 공간: 분리 Fab은 DRAM과 NAND 사이에 벽이 있고 모델이 제각각이며 빈 칸이 생기지만, 통합 Fab은 같은 모델을 줄지어 놓아 한 줄이 통째로 남습니다. 2 대응력: 공용 설비가 DRAM과 NAND 사이를 오가며, 수요 곡선이 엇갈리는 대로 설비 배분이 따라갑니다. 3 통일성: 높이와 크기가 제각각인 모델을 같은 모델로 모으면 모델당 발주가 한 단에서 여러 단으로 쌓입니다. 지붕은 결론, 기초는 Common Platform, 맨 아래는 DRAM과 NAND의 BEOL 조직을 Bonding해 만든 통합조직이 반도체연구소 / MTC 산하에서 기초를 운영하는 그림입니다. 통합조직 안의 세 기능(표준 Layout · 설비 Pool · 통합 구매)은 효과 1 · 2 · 3과 짝입니다.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컬러 버전입니다. 색에 뜻이 있습니다: DRAM = Blue, NAND = Teal, 통합 후 같은 색 = 같은 설비 모델, 공용 모델 = Purple, 개선(확보 · 추가 · 협상력) = Amber, 효과 ① Blue ② Teal ③ Purple. 기둥 그림은 원리를 보이는 개념 차트입니다. 1 공간: 같은 Fab 면적을 칸으로 나누면 분리 Fab의 Dead Space 칸이 통합 후 추가 설비 칸이 됩니다. 2 대응력: DRAM과 NAND의 수요 피크가 엇갈려 합산 피크가 각 피크의 합보다 낮고, 그 차이가 유휴 설비 감소입니다. 설비 전환 시간과 Bottleneck 대기도 줄어듭니다. 3 통일성: 설비 모델 수는 줄고 모델당 발주 물량은 늘어 구매 협상력이 생깁니다. 수치는 Fab별 검증 후 채웁니다. 지붕은 결론, 기초는 Common Platform, 맨 아래는 DRAM과 NAND의 BEOL 조직을 Bonding해 만든 통합조직이 반도체연구소 / MTC 산하에서 기초를 운영하는 그림입니다. 통합조직 안의 세 기능(표준 Layout · 설비 Pool · 통합 구매)은 효과 1 · 2 · 3과 짝입니다.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컬러 버전입니다. 색에 뜻이 있습니다: DRAM = Blue, NAND = Teal, 통합 후 같은 색 = 같은 설비 모델, 공용 모델 = Purple, 개선(확보 · 추가 · 협상력) = Amber, 효과 ① Blue ② Teal ③ Purple. 기둥 그림은 엔지니어링 도면 언어입니다. 1 공간: 위에서 본 Fab에서 분리 시 OHT 루프 2개와 제각각인 설비 Footprint, 빈 Bay가 생기지만, 통합 시 OHT 루프 하나에 같은 모델 줄 배치로 Bay 하나가 남습니다. 2 대응력: DRAM과 NAND 웨이퍼 Lot이 공용 BEOL 설비 Pool의 어느 설비로든 들어가고, 결과물은 Bonding으로 이어집니다. 3 통일성: 공정 단계마다 DRAM 모델 둘, NAND 모델 둘이던 것을 공용 모델 하나로 모아 레시피 · 부품 · 물량을 공유합니다. 모델 코드는 예시입니다. 지붕은 결론, 기초는 Common Platform, 맨 아래는 DRAM과 NAND의 BEOL 조직을 Bonding해 만든 통합조직이 반도체연구소 / MTC 산하에서 기초를 운영하는 그림입니다. 통합조직 안의 세 기능(표준 Layout · 설비 Pool · 통합 구매)은 효과 1 · 2 · 3과 짝입니다.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2376" y="365760"/>
            <a:ext cx="109728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3C4FA5"/>
                </a:solidFill>
                <a:latin typeface="Arial"/>
                <a:ea typeface="Arial"/>
              </a:rPr>
              <a:t>Fab 통합 운영</a:t>
            </a:r>
            <a:r>
              <a:rPr sz="1800" b="0">
                <a:solidFill>
                  <a:srgbClr val="555555"/>
                </a:solidFill>
                <a:latin typeface="Arial"/>
                <a:ea typeface="Arial"/>
              </a:rPr>
              <a:t>   1 / 6  시안 1 · 아이소메트릭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9224" y="365760"/>
            <a:ext cx="54864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1800" b="0">
                <a:solidFill>
                  <a:srgbClr val="555555"/>
                </a:solidFill>
                <a:latin typeface="Arial"/>
                <a:ea typeface="Arial"/>
              </a:rPr>
              <a:t>[문서등급 표기]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2376" y="786384"/>
            <a:ext cx="16843248" cy="10241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1A1A1A"/>
                </a:solidFill>
                <a:latin typeface="Arial"/>
                <a:ea typeface="Arial"/>
              </a:rPr>
              <a:t>DRAM/NAND Fab 통합 운영:</a:t>
            </a:r>
          </a:p>
          <a:p>
            <a:pPr algn="l">
              <a:lnSpc>
                <a:spcPct val="105000"/>
              </a:lnSpc>
            </a:pPr>
            <a:r>
              <a:rPr sz="3200" b="1">
                <a:solidFill>
                  <a:srgbClr val="1A1A1A"/>
                </a:solidFill>
                <a:latin typeface="Arial"/>
                <a:ea typeface="Arial"/>
              </a:rPr>
              <a:t>Bonding 시대에 맞는 Common Platform 구성</a:t>
            </a:r>
          </a:p>
        </p:txBody>
      </p:sp>
      <p:sp>
        <p:nvSpPr>
          <p:cNvPr id="5" name="Rectangle 4"/>
          <p:cNvSpPr/>
          <p:nvPr/>
        </p:nvSpPr>
        <p:spPr>
          <a:xfrm>
            <a:off x="722376" y="1938528"/>
            <a:ext cx="16843248" cy="18288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rapezoid 5"/>
          <p:cNvSpPr/>
          <p:nvPr/>
        </p:nvSpPr>
        <p:spPr>
          <a:xfrm>
            <a:off x="722376" y="2084831"/>
            <a:ext cx="16843248" cy="640080"/>
          </a:xfrm>
          <a:prstGeom prst="trapezoid">
            <a:avLst>
              <a:gd name="adj" fmla="val 55000"/>
            </a:avLst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185416" y="2084831"/>
            <a:ext cx="13917168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800" b="0">
                <a:solidFill>
                  <a:srgbClr val="C0CAEC"/>
                </a:solidFill>
                <a:latin typeface="Arial"/>
                <a:ea typeface="Arial"/>
              </a:rPr>
              <a:t>종합 반도체 경쟁력  </a:t>
            </a:r>
            <a:r>
              <a:rPr sz="2400" b="1">
                <a:solidFill>
                  <a:srgbClr val="FFFFFF"/>
                </a:solidFill>
                <a:latin typeface="Arial"/>
                <a:ea typeface="Arial"/>
              </a:rPr>
              <a:t>기술·생산 경쟁력 + 효율·유연성 + </a:t>
            </a:r>
            <a:r>
              <a:rPr sz="2400" b="1">
                <a:solidFill>
                  <a:srgbClr val="FFFFFF"/>
                </a:solidFill>
                <a:latin typeface="Arial"/>
                <a:ea typeface="Arial"/>
              </a:rPr>
              <a:t>Buying Power</a:t>
            </a:r>
          </a:p>
        </p:txBody>
      </p:sp>
      <p:sp>
        <p:nvSpPr>
          <p:cNvPr id="8" name="Rectangle 7"/>
          <p:cNvSpPr/>
          <p:nvPr/>
        </p:nvSpPr>
        <p:spPr>
          <a:xfrm>
            <a:off x="996696" y="2816352"/>
            <a:ext cx="5175504" cy="2231136"/>
          </a:xfrm>
          <a:prstGeom prst="rect">
            <a:avLst/>
          </a:prstGeom>
          <a:solidFill>
            <a:srgbClr val="F0F2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96696" y="2816352"/>
            <a:ext cx="5175504" cy="54864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61288" y="2944368"/>
            <a:ext cx="365760" cy="365760"/>
          </a:xfrm>
          <a:prstGeom prst="ellipse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61288" y="2944368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36776" y="2907792"/>
            <a:ext cx="438912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1A1A1A"/>
                </a:solidFill>
                <a:latin typeface="Arial"/>
                <a:ea typeface="Arial"/>
              </a:rPr>
              <a:t>공간 효율성</a:t>
            </a:r>
            <a:r>
              <a:rPr sz="1600" b="0">
                <a:solidFill>
                  <a:srgbClr val="3C4FA5"/>
                </a:solidFill>
                <a:latin typeface="Arial"/>
                <a:ea typeface="Arial"/>
              </a:rPr>
              <a:t>  Space Efficiency</a:t>
            </a:r>
          </a:p>
        </p:txBody>
      </p:sp>
      <p:pic>
        <p:nvPicPr>
          <p:cNvPr id="13" name="Picture 12" descr="v1_spa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1288" y="3364992"/>
            <a:ext cx="4846320" cy="1645919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996696" y="5120640"/>
            <a:ext cx="5175504" cy="457200"/>
          </a:xfrm>
          <a:prstGeom prst="rect">
            <a:avLst/>
          </a:prstGeom>
          <a:solidFill>
            <a:srgbClr val="FFFFFF"/>
          </a:solidFill>
          <a:ln w="15875">
            <a:solidFill>
              <a:srgbClr val="C0CAE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97864" y="5120640"/>
            <a:ext cx="48463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3C4FA5"/>
                </a:solidFill>
                <a:latin typeface="Arial"/>
                <a:ea typeface="Arial"/>
              </a:rPr>
              <a:t>설비 밀집도 향상</a:t>
            </a:r>
            <a:r>
              <a:rPr sz="1800" b="0">
                <a:solidFill>
                  <a:srgbClr val="1A1A1A"/>
                </a:solidFill>
                <a:latin typeface="Arial"/>
                <a:ea typeface="Arial"/>
              </a:rPr>
              <a:t>, Dead Space 최소화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96696" y="5632704"/>
            <a:ext cx="5175504" cy="457200"/>
          </a:xfrm>
          <a:prstGeom prst="rect">
            <a:avLst/>
          </a:prstGeom>
          <a:solidFill>
            <a:srgbClr val="FFFFFF"/>
          </a:solidFill>
          <a:ln w="15875">
            <a:solidFill>
              <a:srgbClr val="C0CAE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97864" y="5632704"/>
            <a:ext cx="48463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3C4FA5"/>
                </a:solidFill>
                <a:latin typeface="Arial"/>
                <a:ea typeface="Arial"/>
              </a:rPr>
              <a:t>동일 모델 군집화</a:t>
            </a:r>
            <a:r>
              <a:rPr sz="1800" b="0">
                <a:solidFill>
                  <a:srgbClr val="1A1A1A"/>
                </a:solidFill>
                <a:latin typeface="Arial"/>
                <a:ea typeface="Arial"/>
              </a:rPr>
              <a:t> 시너지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96696" y="6144768"/>
            <a:ext cx="5175504" cy="457200"/>
          </a:xfrm>
          <a:prstGeom prst="rect">
            <a:avLst/>
          </a:prstGeom>
          <a:solidFill>
            <a:srgbClr val="FFFFFF"/>
          </a:solidFill>
          <a:ln w="15875">
            <a:solidFill>
              <a:srgbClr val="C0CAE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97864" y="6144768"/>
            <a:ext cx="48463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3C4FA5"/>
                </a:solidFill>
                <a:latin typeface="Arial"/>
                <a:ea typeface="Arial"/>
              </a:rPr>
              <a:t>단위 면적당 생산성</a:t>
            </a:r>
            <a:r>
              <a:rPr sz="1800" b="0">
                <a:solidFill>
                  <a:srgbClr val="1A1A1A"/>
                </a:solidFill>
                <a:latin typeface="Arial"/>
                <a:ea typeface="Arial"/>
              </a:rPr>
              <a:t> 극대화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56248" y="2816352"/>
            <a:ext cx="5175504" cy="2231136"/>
          </a:xfrm>
          <a:prstGeom prst="rect">
            <a:avLst/>
          </a:prstGeom>
          <a:solidFill>
            <a:srgbClr val="F0F2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56248" y="2816352"/>
            <a:ext cx="5175504" cy="54864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720840" y="2944368"/>
            <a:ext cx="365760" cy="365760"/>
          </a:xfrm>
          <a:prstGeom prst="ellipse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20840" y="2944368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96328" y="2907792"/>
            <a:ext cx="438912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1A1A1A"/>
                </a:solidFill>
                <a:latin typeface="Arial"/>
                <a:ea typeface="Arial"/>
              </a:rPr>
              <a:t>시황 변화 대응력</a:t>
            </a:r>
            <a:r>
              <a:rPr sz="1600" b="0">
                <a:solidFill>
                  <a:srgbClr val="3C4FA5"/>
                </a:solidFill>
                <a:latin typeface="Arial"/>
                <a:ea typeface="Arial"/>
              </a:rPr>
              <a:t>  Market Agility</a:t>
            </a:r>
          </a:p>
        </p:txBody>
      </p:sp>
      <p:pic>
        <p:nvPicPr>
          <p:cNvPr id="25" name="Picture 24" descr="v1_agil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3364992"/>
            <a:ext cx="4846320" cy="1645919"/>
          </a:xfrm>
          <a:prstGeom prst="rect">
            <a:avLst/>
          </a:prstGeom>
        </p:spPr>
      </p:pic>
      <p:sp>
        <p:nvSpPr>
          <p:cNvPr id="26" name="Rectangle 25"/>
          <p:cNvSpPr/>
          <p:nvPr/>
        </p:nvSpPr>
        <p:spPr>
          <a:xfrm>
            <a:off x="6556248" y="5120640"/>
            <a:ext cx="5175504" cy="457200"/>
          </a:xfrm>
          <a:prstGeom prst="rect">
            <a:avLst/>
          </a:prstGeom>
          <a:solidFill>
            <a:srgbClr val="FFFFFF"/>
          </a:solidFill>
          <a:ln w="15875">
            <a:solidFill>
              <a:srgbClr val="C0CAE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57416" y="5120640"/>
            <a:ext cx="48463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3C4FA5"/>
                </a:solidFill>
                <a:latin typeface="Arial"/>
                <a:ea typeface="Arial"/>
              </a:rPr>
              <a:t>DRAM/NAND 설비 전환</a:t>
            </a:r>
            <a:r>
              <a:rPr sz="1800" b="0">
                <a:solidFill>
                  <a:srgbClr val="1A1A1A"/>
                </a:solidFill>
                <a:latin typeface="Arial"/>
                <a:ea typeface="Arial"/>
              </a:rPr>
              <a:t> 속도 증가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56248" y="5632704"/>
            <a:ext cx="5175504" cy="457200"/>
          </a:xfrm>
          <a:prstGeom prst="rect">
            <a:avLst/>
          </a:prstGeom>
          <a:solidFill>
            <a:srgbClr val="FFFFFF"/>
          </a:solidFill>
          <a:ln w="15875">
            <a:solidFill>
              <a:srgbClr val="C0CAE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57416" y="5632704"/>
            <a:ext cx="48463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3C4FA5"/>
                </a:solidFill>
                <a:latin typeface="Arial"/>
                <a:ea typeface="Arial"/>
              </a:rPr>
              <a:t>생산 Bottleneck 해소</a:t>
            </a:r>
            <a:r>
              <a:rPr sz="1800" b="0">
                <a:solidFill>
                  <a:srgbClr val="1A1A1A"/>
                </a:solidFill>
                <a:latin typeface="Arial"/>
                <a:ea typeface="Arial"/>
              </a:rPr>
              <a:t>로 생산성 증가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56248" y="6144768"/>
            <a:ext cx="5175504" cy="457200"/>
          </a:xfrm>
          <a:prstGeom prst="rect">
            <a:avLst/>
          </a:prstGeom>
          <a:solidFill>
            <a:srgbClr val="FFFFFF"/>
          </a:solidFill>
          <a:ln w="15875">
            <a:solidFill>
              <a:srgbClr val="C0CAE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757416" y="6144768"/>
            <a:ext cx="48463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3C4FA5"/>
                </a:solidFill>
                <a:latin typeface="Arial"/>
                <a:ea typeface="Arial"/>
              </a:rPr>
              <a:t>유휴 설비 최소화</a:t>
            </a:r>
            <a:r>
              <a:rPr sz="1800" b="0">
                <a:solidFill>
                  <a:srgbClr val="1A1A1A"/>
                </a:solidFill>
                <a:latin typeface="Arial"/>
                <a:ea typeface="Arial"/>
              </a:rPr>
              <a:t>, 투자 회수 기간 단축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2115800" y="2816352"/>
            <a:ext cx="5175504" cy="2231136"/>
          </a:xfrm>
          <a:prstGeom prst="rect">
            <a:avLst/>
          </a:prstGeom>
          <a:solidFill>
            <a:srgbClr val="F0F2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2115800" y="2816352"/>
            <a:ext cx="5175504" cy="54864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2280392" y="2944368"/>
            <a:ext cx="365760" cy="365760"/>
          </a:xfrm>
          <a:prstGeom prst="ellipse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2280392" y="2944368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755880" y="2907792"/>
            <a:ext cx="438912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1A1A1A"/>
                </a:solidFill>
                <a:latin typeface="Arial"/>
                <a:ea typeface="Arial"/>
              </a:rPr>
              <a:t>설비 통일성·선단화</a:t>
            </a:r>
            <a:r>
              <a:rPr sz="1600" b="0">
                <a:solidFill>
                  <a:srgbClr val="3C4FA5"/>
                </a:solidFill>
                <a:latin typeface="Arial"/>
                <a:ea typeface="Arial"/>
              </a:rPr>
              <a:t>  Equipment Unif.</a:t>
            </a:r>
          </a:p>
        </p:txBody>
      </p:sp>
      <p:pic>
        <p:nvPicPr>
          <p:cNvPr id="37" name="Picture 36" descr="v1_uni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280392" y="3364992"/>
            <a:ext cx="4846320" cy="1645919"/>
          </a:xfrm>
          <a:prstGeom prst="rect">
            <a:avLst/>
          </a:prstGeom>
        </p:spPr>
      </p:pic>
      <p:sp>
        <p:nvSpPr>
          <p:cNvPr id="38" name="Rectangle 37"/>
          <p:cNvSpPr/>
          <p:nvPr/>
        </p:nvSpPr>
        <p:spPr>
          <a:xfrm>
            <a:off x="12115800" y="5120640"/>
            <a:ext cx="5175504" cy="457200"/>
          </a:xfrm>
          <a:prstGeom prst="rect">
            <a:avLst/>
          </a:prstGeom>
          <a:solidFill>
            <a:srgbClr val="FFFFFF"/>
          </a:solidFill>
          <a:ln w="15875">
            <a:solidFill>
              <a:srgbClr val="C0CAE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16968" y="5120640"/>
            <a:ext cx="48463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3C4FA5"/>
                </a:solidFill>
                <a:latin typeface="Arial"/>
                <a:ea typeface="Arial"/>
              </a:rPr>
              <a:t>P-Mix 관점 </a:t>
            </a:r>
            <a:r>
              <a:rPr sz="1800" b="0">
                <a:solidFill>
                  <a:srgbClr val="1A1A1A"/>
                </a:solidFill>
                <a:latin typeface="Arial"/>
                <a:ea typeface="Arial"/>
              </a:rPr>
              <a:t>투자·전환 Loss 감소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2115800" y="5632704"/>
            <a:ext cx="5175504" cy="457200"/>
          </a:xfrm>
          <a:prstGeom prst="rect">
            <a:avLst/>
          </a:prstGeom>
          <a:solidFill>
            <a:srgbClr val="FFFFFF"/>
          </a:solidFill>
          <a:ln w="15875">
            <a:solidFill>
              <a:srgbClr val="C0CAE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2316968" y="5632704"/>
            <a:ext cx="48463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3C4FA5"/>
                </a:solidFill>
                <a:latin typeface="Arial"/>
                <a:ea typeface="Arial"/>
              </a:rPr>
              <a:t>생산성 향상</a:t>
            </a:r>
            <a:r>
              <a:rPr sz="1800" b="0">
                <a:solidFill>
                  <a:srgbClr val="1A1A1A"/>
                </a:solidFill>
                <a:latin typeface="Arial"/>
                <a:ea typeface="Arial"/>
              </a:rPr>
              <a:t>, 수율 안정화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2115800" y="6144768"/>
            <a:ext cx="5175504" cy="457200"/>
          </a:xfrm>
          <a:prstGeom prst="rect">
            <a:avLst/>
          </a:prstGeom>
          <a:solidFill>
            <a:srgbClr val="FFFFFF"/>
          </a:solidFill>
          <a:ln w="15875">
            <a:solidFill>
              <a:srgbClr val="C0CAE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2316968" y="6144768"/>
            <a:ext cx="48463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3C4FA5"/>
                </a:solidFill>
                <a:latin typeface="Arial"/>
                <a:ea typeface="Arial"/>
              </a:rPr>
              <a:t>강력한 구매 협상력</a:t>
            </a:r>
            <a:r>
              <a:rPr sz="1800" b="0">
                <a:solidFill>
                  <a:srgbClr val="1A1A1A"/>
                </a:solidFill>
                <a:latin typeface="Arial"/>
                <a:ea typeface="Arial"/>
              </a:rPr>
              <a:t> 확보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88136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460275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832415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2204554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2576694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2948833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3320973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3693112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4065252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437391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4809531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181670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5553810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5925949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6298089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6670229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042368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414508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786647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8158787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8530926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8903066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9275205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9647345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0019484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10391624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10763763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11135903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11508042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11880182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12252322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12624461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2996601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13368740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13740880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14113019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14485159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14857298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15229438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15601577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5973717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6345856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6717996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17090136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996696" y="6803136"/>
            <a:ext cx="16294608" cy="512064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271016" y="6803136"/>
            <a:ext cx="15745967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2200" b="1">
                <a:solidFill>
                  <a:srgbClr val="FFFFFF"/>
                </a:solidFill>
                <a:latin typeface="Arial"/>
                <a:ea typeface="Arial"/>
              </a:rPr>
              <a:t>Common Platform   </a:t>
            </a:r>
            <a:r>
              <a:rPr sz="2000" b="0">
                <a:solidFill>
                  <a:srgbClr val="FFFFFF"/>
                </a:solidFill>
                <a:latin typeface="Arial"/>
                <a:ea typeface="Arial"/>
              </a:rPr>
              <a:t>DRAM·NAND 공용 BEOL · Bonding 공정 · 설비 Pool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722376" y="7662672"/>
            <a:ext cx="1554480" cy="420624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 w="19050">
            <a:solidFill>
              <a:srgbClr val="3C4FA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722376" y="7662672"/>
            <a:ext cx="15544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>
                <a:solidFill>
                  <a:srgbClr val="3C4FA5"/>
                </a:solidFill>
                <a:latin typeface="Arial"/>
                <a:ea typeface="Arial"/>
              </a:rPr>
              <a:t>운영 제언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" y="8211312"/>
            <a:ext cx="3383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>
                <a:solidFill>
                  <a:srgbClr val="1A1A1A"/>
                </a:solidFill>
                <a:latin typeface="Arial"/>
                <a:ea typeface="Arial"/>
              </a:rPr>
              <a:t>메모리 BEOL</a:t>
            </a:r>
          </a:p>
          <a:p>
            <a:pPr algn="l">
              <a:lnSpc>
                <a:spcPct val="105000"/>
              </a:lnSpc>
            </a:pPr>
            <a:r>
              <a:rPr sz="2600" b="1">
                <a:solidFill>
                  <a:srgbClr val="1A1A1A"/>
                </a:solidFill>
                <a:latin typeface="Arial"/>
                <a:ea typeface="Arial"/>
              </a:rPr>
              <a:t>통합조직 구성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4480560" y="7644383"/>
            <a:ext cx="4023360" cy="585216"/>
          </a:xfrm>
          <a:prstGeom prst="roundRect">
            <a:avLst>
              <a:gd name="adj" fmla="val 12500"/>
            </a:avLst>
          </a:prstGeom>
          <a:solidFill>
            <a:srgbClr val="F5F5F5"/>
          </a:solidFill>
          <a:ln w="12700">
            <a:solidFill>
              <a:srgbClr val="8A8A8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4731654" y="7754111"/>
            <a:ext cx="138257" cy="138257"/>
          </a:xfrm>
          <a:prstGeom prst="ellipse">
            <a:avLst/>
          </a:prstGeom>
          <a:solidFill>
            <a:srgbClr val="8A8A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5" name="Round Same Side Corner Rectangle 94"/>
          <p:cNvSpPr/>
          <p:nvPr/>
        </p:nvSpPr>
        <p:spPr>
          <a:xfrm>
            <a:off x="4681728" y="7915412"/>
            <a:ext cx="238109" cy="222747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8A8A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5042916" y="7754111"/>
            <a:ext cx="138257" cy="138257"/>
          </a:xfrm>
          <a:prstGeom prst="ellipse">
            <a:avLst/>
          </a:prstGeom>
          <a:solidFill>
            <a:srgbClr val="8A8A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7" name="Round Same Side Corner Rectangle 96"/>
          <p:cNvSpPr/>
          <p:nvPr/>
        </p:nvSpPr>
        <p:spPr>
          <a:xfrm>
            <a:off x="4992989" y="7915412"/>
            <a:ext cx="238109" cy="222747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8A8A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5354177" y="7754111"/>
            <a:ext cx="138257" cy="138257"/>
          </a:xfrm>
          <a:prstGeom prst="ellipse">
            <a:avLst/>
          </a:prstGeom>
          <a:solidFill>
            <a:srgbClr val="8A8A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9" name="Round Same Side Corner Rectangle 98"/>
          <p:cNvSpPr/>
          <p:nvPr/>
        </p:nvSpPr>
        <p:spPr>
          <a:xfrm>
            <a:off x="5304251" y="7915412"/>
            <a:ext cx="238109" cy="222747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8A8A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5760720" y="7644383"/>
            <a:ext cx="265176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A1A1A"/>
                </a:solidFill>
                <a:latin typeface="Arial"/>
                <a:ea typeface="Arial"/>
              </a:rPr>
              <a:t>DRAM BEOL 조직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4480560" y="8723376"/>
            <a:ext cx="4023360" cy="585216"/>
          </a:xfrm>
          <a:prstGeom prst="roundRect">
            <a:avLst>
              <a:gd name="adj" fmla="val 12500"/>
            </a:avLst>
          </a:prstGeom>
          <a:solidFill>
            <a:srgbClr val="F5F5F5"/>
          </a:solidFill>
          <a:ln w="12700">
            <a:solidFill>
              <a:srgbClr val="8A8A8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4731654" y="8833103"/>
            <a:ext cx="138257" cy="138257"/>
          </a:xfrm>
          <a:prstGeom prst="ellipse">
            <a:avLst/>
          </a:prstGeom>
          <a:solidFill>
            <a:srgbClr val="8A8A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3" name="Round Same Side Corner Rectangle 102"/>
          <p:cNvSpPr/>
          <p:nvPr/>
        </p:nvSpPr>
        <p:spPr>
          <a:xfrm>
            <a:off x="4681728" y="8994404"/>
            <a:ext cx="238109" cy="222747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8A8A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5042916" y="8833103"/>
            <a:ext cx="138257" cy="138257"/>
          </a:xfrm>
          <a:prstGeom prst="ellipse">
            <a:avLst/>
          </a:prstGeom>
          <a:solidFill>
            <a:srgbClr val="8A8A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5" name="Round Same Side Corner Rectangle 104"/>
          <p:cNvSpPr/>
          <p:nvPr/>
        </p:nvSpPr>
        <p:spPr>
          <a:xfrm>
            <a:off x="4992989" y="8994404"/>
            <a:ext cx="238109" cy="222747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8A8A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5354177" y="8833103"/>
            <a:ext cx="138257" cy="138257"/>
          </a:xfrm>
          <a:prstGeom prst="ellipse">
            <a:avLst/>
          </a:prstGeom>
          <a:solidFill>
            <a:srgbClr val="8A8A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7" name="Round Same Side Corner Rectangle 106"/>
          <p:cNvSpPr/>
          <p:nvPr/>
        </p:nvSpPr>
        <p:spPr>
          <a:xfrm>
            <a:off x="5304251" y="8994404"/>
            <a:ext cx="238109" cy="222747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8A8A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5760720" y="8723376"/>
            <a:ext cx="265176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A1A1A"/>
                </a:solidFill>
                <a:latin typeface="Arial"/>
                <a:ea typeface="Arial"/>
              </a:rPr>
              <a:t>NAND BEOL 조직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4754880" y="8321040"/>
            <a:ext cx="109728" cy="310896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5060788" y="8321040"/>
            <a:ext cx="109728" cy="310896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5366696" y="8321040"/>
            <a:ext cx="109728" cy="310896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5672605" y="8321040"/>
            <a:ext cx="109728" cy="310896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5978513" y="8321040"/>
            <a:ext cx="109728" cy="310896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6284421" y="8321040"/>
            <a:ext cx="109728" cy="310896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6590330" y="8321040"/>
            <a:ext cx="109728" cy="310896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6896238" y="8321040"/>
            <a:ext cx="109728" cy="310896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7202146" y="8321040"/>
            <a:ext cx="109728" cy="310896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7508055" y="8321040"/>
            <a:ext cx="109728" cy="310896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7813963" y="8321040"/>
            <a:ext cx="109728" cy="310896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8119872" y="8321040"/>
            <a:ext cx="109728" cy="310896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8613648" y="8302752"/>
            <a:ext cx="109728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3C4FA5"/>
                </a:solidFill>
                <a:latin typeface="Arial"/>
                <a:ea typeface="Arial"/>
              </a:rPr>
              <a:t>Bonding</a:t>
            </a:r>
          </a:p>
        </p:txBody>
      </p:sp>
      <p:sp>
        <p:nvSpPr>
          <p:cNvPr id="122" name="Right Arrow 121"/>
          <p:cNvSpPr/>
          <p:nvPr/>
        </p:nvSpPr>
        <p:spPr>
          <a:xfrm>
            <a:off x="9747504" y="8311896"/>
            <a:ext cx="566928" cy="329184"/>
          </a:xfrm>
          <a:prstGeom prst="rightArrow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3" name="Rounded Rectangle 122"/>
          <p:cNvSpPr/>
          <p:nvPr/>
        </p:nvSpPr>
        <p:spPr>
          <a:xfrm>
            <a:off x="10424160" y="7644383"/>
            <a:ext cx="4663440" cy="1664208"/>
          </a:xfrm>
          <a:prstGeom prst="roundRect">
            <a:avLst>
              <a:gd name="adj" fmla="val 4395"/>
            </a:avLst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10424160" y="7717536"/>
            <a:ext cx="46634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2400" b="1">
                <a:solidFill>
                  <a:srgbClr val="FFFFFF"/>
                </a:solidFill>
                <a:latin typeface="Arial"/>
                <a:ea typeface="Arial"/>
              </a:rPr>
              <a:t>메모리 BEOL 통합조직</a:t>
            </a:r>
          </a:p>
        </p:txBody>
      </p:sp>
      <p:sp>
        <p:nvSpPr>
          <p:cNvPr id="125" name="Oval 124"/>
          <p:cNvSpPr/>
          <p:nvPr/>
        </p:nvSpPr>
        <p:spPr>
          <a:xfrm>
            <a:off x="11785518" y="8193023"/>
            <a:ext cx="144840" cy="1448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6" name="Round Same Side Corner Rectangle 125"/>
          <p:cNvSpPr/>
          <p:nvPr/>
        </p:nvSpPr>
        <p:spPr>
          <a:xfrm>
            <a:off x="11733215" y="8362005"/>
            <a:ext cx="249448" cy="233354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12144695" y="8193023"/>
            <a:ext cx="144840" cy="1448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8" name="Round Same Side Corner Rectangle 127"/>
          <p:cNvSpPr/>
          <p:nvPr/>
        </p:nvSpPr>
        <p:spPr>
          <a:xfrm>
            <a:off x="12092391" y="8362005"/>
            <a:ext cx="249448" cy="233354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12503871" y="8193023"/>
            <a:ext cx="144840" cy="1448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0" name="Round Same Side Corner Rectangle 129"/>
          <p:cNvSpPr/>
          <p:nvPr/>
        </p:nvSpPr>
        <p:spPr>
          <a:xfrm>
            <a:off x="12451567" y="8362005"/>
            <a:ext cx="249448" cy="233354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12863047" y="8193023"/>
            <a:ext cx="144840" cy="1448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2" name="Round Same Side Corner Rectangle 131"/>
          <p:cNvSpPr/>
          <p:nvPr/>
        </p:nvSpPr>
        <p:spPr>
          <a:xfrm>
            <a:off x="12810744" y="8362005"/>
            <a:ext cx="249448" cy="233354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13222224" y="8193023"/>
            <a:ext cx="144840" cy="1448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4" name="Round Same Side Corner Rectangle 133"/>
          <p:cNvSpPr/>
          <p:nvPr/>
        </p:nvSpPr>
        <p:spPr>
          <a:xfrm>
            <a:off x="13169920" y="8362005"/>
            <a:ext cx="249448" cy="233354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13581400" y="8193023"/>
            <a:ext cx="144840" cy="1448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6" name="Round Same Side Corner Rectangle 135"/>
          <p:cNvSpPr/>
          <p:nvPr/>
        </p:nvSpPr>
        <p:spPr>
          <a:xfrm>
            <a:off x="13529096" y="8362005"/>
            <a:ext cx="249448" cy="233354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7" name="Rounded Rectangle 136"/>
          <p:cNvSpPr/>
          <p:nvPr/>
        </p:nvSpPr>
        <p:spPr>
          <a:xfrm>
            <a:off x="10588752" y="8723376"/>
            <a:ext cx="1371600" cy="438912"/>
          </a:xfrm>
          <a:prstGeom prst="roundRect">
            <a:avLst>
              <a:gd name="adj" fmla="val 16666"/>
            </a:avLst>
          </a:prstGeom>
          <a:solidFill>
            <a:srgbClr val="3C4FA5"/>
          </a:solidFill>
          <a:ln w="15875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10588752" y="8723376"/>
            <a:ext cx="13716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</a:rPr>
              <a:t>표준 Layout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12070080" y="8723376"/>
            <a:ext cx="1371600" cy="438912"/>
          </a:xfrm>
          <a:prstGeom prst="roundRect">
            <a:avLst>
              <a:gd name="adj" fmla="val 16666"/>
            </a:avLst>
          </a:prstGeom>
          <a:solidFill>
            <a:srgbClr val="3C4FA5"/>
          </a:solidFill>
          <a:ln w="15875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12070080" y="8723376"/>
            <a:ext cx="13716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</a:rPr>
              <a:t>설비 Pool</a:t>
            </a:r>
          </a:p>
        </p:txBody>
      </p:sp>
      <p:sp>
        <p:nvSpPr>
          <p:cNvPr id="141" name="Rounded Rectangle 140"/>
          <p:cNvSpPr/>
          <p:nvPr/>
        </p:nvSpPr>
        <p:spPr>
          <a:xfrm>
            <a:off x="13551408" y="8723376"/>
            <a:ext cx="1371600" cy="438912"/>
          </a:xfrm>
          <a:prstGeom prst="roundRect">
            <a:avLst>
              <a:gd name="adj" fmla="val 16666"/>
            </a:avLst>
          </a:prstGeom>
          <a:solidFill>
            <a:srgbClr val="3C4FA5"/>
          </a:solidFill>
          <a:ln w="15875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13551408" y="8723376"/>
            <a:ext cx="13716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</a:rPr>
              <a:t>통합 구매</a:t>
            </a:r>
          </a:p>
        </p:txBody>
      </p:sp>
      <p:sp>
        <p:nvSpPr>
          <p:cNvPr id="143" name="Up Arrow 142"/>
          <p:cNvSpPr/>
          <p:nvPr/>
        </p:nvSpPr>
        <p:spPr>
          <a:xfrm>
            <a:off x="11365992" y="7370064"/>
            <a:ext cx="310896" cy="237744"/>
          </a:xfrm>
          <a:prstGeom prst="upArrow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4" name="Up Arrow 143"/>
          <p:cNvSpPr/>
          <p:nvPr/>
        </p:nvSpPr>
        <p:spPr>
          <a:xfrm>
            <a:off x="13834872" y="7370064"/>
            <a:ext cx="310896" cy="237744"/>
          </a:xfrm>
          <a:prstGeom prst="upArrow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11795760" y="7360920"/>
            <a:ext cx="1920239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3C4FA5"/>
                </a:solidFill>
                <a:latin typeface="Arial"/>
                <a:ea typeface="Arial"/>
              </a:rPr>
              <a:t>운영</a:t>
            </a:r>
          </a:p>
        </p:txBody>
      </p:sp>
      <p:cxnSp>
        <p:nvCxnSpPr>
          <p:cNvPr id="146" name="Connector 145"/>
          <p:cNvCxnSpPr/>
          <p:nvPr/>
        </p:nvCxnSpPr>
        <p:spPr>
          <a:xfrm>
            <a:off x="15087600" y="8476488"/>
            <a:ext cx="274320" cy="0"/>
          </a:xfrm>
          <a:prstGeom prst="line">
            <a:avLst/>
          </a:prstGeom>
          <a:ln w="19050">
            <a:solidFill>
              <a:srgbClr val="8A8A8A"/>
            </a:solidFill>
          </a:ln>
        </p:spPr>
      </p:cxnSp>
      <p:sp>
        <p:nvSpPr>
          <p:cNvPr id="147" name="Rounded Rectangle 146"/>
          <p:cNvSpPr/>
          <p:nvPr/>
        </p:nvSpPr>
        <p:spPr>
          <a:xfrm>
            <a:off x="15361920" y="7955279"/>
            <a:ext cx="2203704" cy="1042415"/>
          </a:xfrm>
          <a:prstGeom prst="roundRect">
            <a:avLst>
              <a:gd name="adj" fmla="val 7017"/>
            </a:avLst>
          </a:prstGeom>
          <a:solidFill>
            <a:srgbClr val="FFFFFF"/>
          </a:solidFill>
          <a:ln w="15875">
            <a:solidFill>
              <a:srgbClr val="8A8A8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15361920" y="7955279"/>
            <a:ext cx="2203704" cy="104241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>
                <a:solidFill>
                  <a:srgbClr val="555555"/>
                </a:solidFill>
                <a:latin typeface="Arial"/>
                <a:ea typeface="Arial"/>
              </a:rPr>
              <a:t>산하</a:t>
            </a:r>
          </a:p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1A1A1A"/>
                </a:solidFill>
                <a:latin typeface="Arial"/>
                <a:ea typeface="Arial"/>
              </a:rPr>
              <a:t>반도체연구소</a:t>
            </a:r>
          </a:p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1A1A1A"/>
                </a:solidFill>
                <a:latin typeface="Arial"/>
                <a:ea typeface="Arial"/>
              </a:rPr>
              <a:t>/ MTC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722376" y="9601200"/>
            <a:ext cx="1545335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주: 효과 그림은 방향을 보여 주는 개념도이며 수치는 표기하지 않음. 정량 효과는 Fab별 검증 후 확정 [사내 확인]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6468344" y="9601200"/>
            <a:ext cx="10972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1600" b="0">
                <a:solidFill>
                  <a:srgbClr val="555555"/>
                </a:solidFill>
                <a:latin typeface="Arial"/>
                <a:ea typeface="Arial"/>
              </a:rPr>
              <a:t>1 / 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2376" y="365760"/>
            <a:ext cx="109728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3C4FA5"/>
                </a:solidFill>
                <a:latin typeface="Arial"/>
                <a:ea typeface="Arial"/>
              </a:rPr>
              <a:t>Fab 통합 운영</a:t>
            </a:r>
            <a:r>
              <a:rPr sz="1800" b="0">
                <a:solidFill>
                  <a:srgbClr val="555555"/>
                </a:solidFill>
                <a:latin typeface="Arial"/>
                <a:ea typeface="Arial"/>
              </a:rPr>
              <a:t>   2 / 6  시안 2 · 메커니즘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9224" y="365760"/>
            <a:ext cx="54864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1800" b="0">
                <a:solidFill>
                  <a:srgbClr val="555555"/>
                </a:solidFill>
                <a:latin typeface="Arial"/>
                <a:ea typeface="Arial"/>
              </a:rPr>
              <a:t>[문서등급 표기]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2376" y="786384"/>
            <a:ext cx="16843248" cy="10241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1A1A1A"/>
                </a:solidFill>
                <a:latin typeface="Arial"/>
                <a:ea typeface="Arial"/>
              </a:rPr>
              <a:t>DRAM/NAND Fab 통합 운영:</a:t>
            </a:r>
          </a:p>
          <a:p>
            <a:pPr algn="l">
              <a:lnSpc>
                <a:spcPct val="105000"/>
              </a:lnSpc>
            </a:pPr>
            <a:r>
              <a:rPr sz="3200" b="1">
                <a:solidFill>
                  <a:srgbClr val="1A1A1A"/>
                </a:solidFill>
                <a:latin typeface="Arial"/>
                <a:ea typeface="Arial"/>
              </a:rPr>
              <a:t>Bonding 시대에 맞는 Common Platform 구성</a:t>
            </a:r>
          </a:p>
        </p:txBody>
      </p:sp>
      <p:sp>
        <p:nvSpPr>
          <p:cNvPr id="5" name="Rectangle 4"/>
          <p:cNvSpPr/>
          <p:nvPr/>
        </p:nvSpPr>
        <p:spPr>
          <a:xfrm>
            <a:off x="722376" y="1938528"/>
            <a:ext cx="16843248" cy="18288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rapezoid 5"/>
          <p:cNvSpPr/>
          <p:nvPr/>
        </p:nvSpPr>
        <p:spPr>
          <a:xfrm>
            <a:off x="722376" y="2084831"/>
            <a:ext cx="16843248" cy="640080"/>
          </a:xfrm>
          <a:prstGeom prst="trapezoid">
            <a:avLst>
              <a:gd name="adj" fmla="val 55000"/>
            </a:avLst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185416" y="2084831"/>
            <a:ext cx="13917168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800" b="0">
                <a:solidFill>
                  <a:srgbClr val="C0CAEC"/>
                </a:solidFill>
                <a:latin typeface="Arial"/>
                <a:ea typeface="Arial"/>
              </a:rPr>
              <a:t>종합 반도체 경쟁력  </a:t>
            </a:r>
            <a:r>
              <a:rPr sz="2400" b="1">
                <a:solidFill>
                  <a:srgbClr val="FFFFFF"/>
                </a:solidFill>
                <a:latin typeface="Arial"/>
                <a:ea typeface="Arial"/>
              </a:rPr>
              <a:t>기술·생산 경쟁력 + 효율·유연성 + </a:t>
            </a:r>
            <a:r>
              <a:rPr sz="2400" b="1">
                <a:solidFill>
                  <a:srgbClr val="FFFFFF"/>
                </a:solidFill>
                <a:latin typeface="Arial"/>
                <a:ea typeface="Arial"/>
              </a:rPr>
              <a:t>Buying Power</a:t>
            </a:r>
          </a:p>
        </p:txBody>
      </p:sp>
      <p:sp>
        <p:nvSpPr>
          <p:cNvPr id="8" name="Rectangle 7"/>
          <p:cNvSpPr/>
          <p:nvPr/>
        </p:nvSpPr>
        <p:spPr>
          <a:xfrm>
            <a:off x="996696" y="2816352"/>
            <a:ext cx="5175504" cy="2231136"/>
          </a:xfrm>
          <a:prstGeom prst="rect">
            <a:avLst/>
          </a:prstGeom>
          <a:solidFill>
            <a:srgbClr val="F0F2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96696" y="2816352"/>
            <a:ext cx="5175504" cy="54864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61288" y="2944368"/>
            <a:ext cx="365760" cy="365760"/>
          </a:xfrm>
          <a:prstGeom prst="ellipse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61288" y="2944368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36776" y="2907792"/>
            <a:ext cx="438912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1A1A1A"/>
                </a:solidFill>
                <a:latin typeface="Arial"/>
                <a:ea typeface="Arial"/>
              </a:rPr>
              <a:t>공간 효율성</a:t>
            </a:r>
            <a:r>
              <a:rPr sz="1600" b="0">
                <a:solidFill>
                  <a:srgbClr val="3C4FA5"/>
                </a:solidFill>
                <a:latin typeface="Arial"/>
                <a:ea typeface="Arial"/>
              </a:rPr>
              <a:t>  Space Efficiency</a:t>
            </a:r>
          </a:p>
        </p:txBody>
      </p:sp>
      <p:pic>
        <p:nvPicPr>
          <p:cNvPr id="13" name="Picture 12" descr="v2_spa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1288" y="3364992"/>
            <a:ext cx="4846320" cy="1645919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996696" y="5120640"/>
            <a:ext cx="5175504" cy="457200"/>
          </a:xfrm>
          <a:prstGeom prst="rect">
            <a:avLst/>
          </a:prstGeom>
          <a:solidFill>
            <a:srgbClr val="FFFFFF"/>
          </a:solidFill>
          <a:ln w="15875">
            <a:solidFill>
              <a:srgbClr val="C0CAE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97864" y="5120640"/>
            <a:ext cx="48463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3C4FA5"/>
                </a:solidFill>
                <a:latin typeface="Arial"/>
                <a:ea typeface="Arial"/>
              </a:rPr>
              <a:t>설비 밀집도 향상</a:t>
            </a:r>
            <a:r>
              <a:rPr sz="1800" b="0">
                <a:solidFill>
                  <a:srgbClr val="1A1A1A"/>
                </a:solidFill>
                <a:latin typeface="Arial"/>
                <a:ea typeface="Arial"/>
              </a:rPr>
              <a:t>, Dead Space 최소화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96696" y="5632704"/>
            <a:ext cx="5175504" cy="457200"/>
          </a:xfrm>
          <a:prstGeom prst="rect">
            <a:avLst/>
          </a:prstGeom>
          <a:solidFill>
            <a:srgbClr val="FFFFFF"/>
          </a:solidFill>
          <a:ln w="15875">
            <a:solidFill>
              <a:srgbClr val="C0CAE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97864" y="5632704"/>
            <a:ext cx="48463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3C4FA5"/>
                </a:solidFill>
                <a:latin typeface="Arial"/>
                <a:ea typeface="Arial"/>
              </a:rPr>
              <a:t>동일 모델 군집화</a:t>
            </a:r>
            <a:r>
              <a:rPr sz="1800" b="0">
                <a:solidFill>
                  <a:srgbClr val="1A1A1A"/>
                </a:solidFill>
                <a:latin typeface="Arial"/>
                <a:ea typeface="Arial"/>
              </a:rPr>
              <a:t> 시너지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96696" y="6144768"/>
            <a:ext cx="5175504" cy="457200"/>
          </a:xfrm>
          <a:prstGeom prst="rect">
            <a:avLst/>
          </a:prstGeom>
          <a:solidFill>
            <a:srgbClr val="FFFFFF"/>
          </a:solidFill>
          <a:ln w="15875">
            <a:solidFill>
              <a:srgbClr val="C0CAE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97864" y="6144768"/>
            <a:ext cx="48463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3C4FA5"/>
                </a:solidFill>
                <a:latin typeface="Arial"/>
                <a:ea typeface="Arial"/>
              </a:rPr>
              <a:t>단위 면적당 생산성</a:t>
            </a:r>
            <a:r>
              <a:rPr sz="1800" b="0">
                <a:solidFill>
                  <a:srgbClr val="1A1A1A"/>
                </a:solidFill>
                <a:latin typeface="Arial"/>
                <a:ea typeface="Arial"/>
              </a:rPr>
              <a:t> 극대화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56248" y="2816352"/>
            <a:ext cx="5175504" cy="2231136"/>
          </a:xfrm>
          <a:prstGeom prst="rect">
            <a:avLst/>
          </a:prstGeom>
          <a:solidFill>
            <a:srgbClr val="F0F2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56248" y="2816352"/>
            <a:ext cx="5175504" cy="54864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720840" y="2944368"/>
            <a:ext cx="365760" cy="365760"/>
          </a:xfrm>
          <a:prstGeom prst="ellipse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20840" y="2944368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96328" y="2907792"/>
            <a:ext cx="438912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1A1A1A"/>
                </a:solidFill>
                <a:latin typeface="Arial"/>
                <a:ea typeface="Arial"/>
              </a:rPr>
              <a:t>시황 변화 대응력</a:t>
            </a:r>
            <a:r>
              <a:rPr sz="1600" b="0">
                <a:solidFill>
                  <a:srgbClr val="3C4FA5"/>
                </a:solidFill>
                <a:latin typeface="Arial"/>
                <a:ea typeface="Arial"/>
              </a:rPr>
              <a:t>  Market Agility</a:t>
            </a:r>
          </a:p>
        </p:txBody>
      </p:sp>
      <p:pic>
        <p:nvPicPr>
          <p:cNvPr id="25" name="Picture 24" descr="v2_agil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3364992"/>
            <a:ext cx="4846320" cy="1645919"/>
          </a:xfrm>
          <a:prstGeom prst="rect">
            <a:avLst/>
          </a:prstGeom>
        </p:spPr>
      </p:pic>
      <p:sp>
        <p:nvSpPr>
          <p:cNvPr id="26" name="Rectangle 25"/>
          <p:cNvSpPr/>
          <p:nvPr/>
        </p:nvSpPr>
        <p:spPr>
          <a:xfrm>
            <a:off x="6556248" y="5120640"/>
            <a:ext cx="5175504" cy="457200"/>
          </a:xfrm>
          <a:prstGeom prst="rect">
            <a:avLst/>
          </a:prstGeom>
          <a:solidFill>
            <a:srgbClr val="FFFFFF"/>
          </a:solidFill>
          <a:ln w="15875">
            <a:solidFill>
              <a:srgbClr val="C0CAE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57416" y="5120640"/>
            <a:ext cx="48463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3C4FA5"/>
                </a:solidFill>
                <a:latin typeface="Arial"/>
                <a:ea typeface="Arial"/>
              </a:rPr>
              <a:t>DRAM/NAND 설비 전환</a:t>
            </a:r>
            <a:r>
              <a:rPr sz="1800" b="0">
                <a:solidFill>
                  <a:srgbClr val="1A1A1A"/>
                </a:solidFill>
                <a:latin typeface="Arial"/>
                <a:ea typeface="Arial"/>
              </a:rPr>
              <a:t> 속도 증가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56248" y="5632704"/>
            <a:ext cx="5175504" cy="457200"/>
          </a:xfrm>
          <a:prstGeom prst="rect">
            <a:avLst/>
          </a:prstGeom>
          <a:solidFill>
            <a:srgbClr val="FFFFFF"/>
          </a:solidFill>
          <a:ln w="15875">
            <a:solidFill>
              <a:srgbClr val="C0CAE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57416" y="5632704"/>
            <a:ext cx="48463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3C4FA5"/>
                </a:solidFill>
                <a:latin typeface="Arial"/>
                <a:ea typeface="Arial"/>
              </a:rPr>
              <a:t>생산 Bottleneck 해소</a:t>
            </a:r>
            <a:r>
              <a:rPr sz="1800" b="0">
                <a:solidFill>
                  <a:srgbClr val="1A1A1A"/>
                </a:solidFill>
                <a:latin typeface="Arial"/>
                <a:ea typeface="Arial"/>
              </a:rPr>
              <a:t>로 생산성 증가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56248" y="6144768"/>
            <a:ext cx="5175504" cy="457200"/>
          </a:xfrm>
          <a:prstGeom prst="rect">
            <a:avLst/>
          </a:prstGeom>
          <a:solidFill>
            <a:srgbClr val="FFFFFF"/>
          </a:solidFill>
          <a:ln w="15875">
            <a:solidFill>
              <a:srgbClr val="C0CAE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757416" y="6144768"/>
            <a:ext cx="48463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3C4FA5"/>
                </a:solidFill>
                <a:latin typeface="Arial"/>
                <a:ea typeface="Arial"/>
              </a:rPr>
              <a:t>유휴 설비 최소화</a:t>
            </a:r>
            <a:r>
              <a:rPr sz="1800" b="0">
                <a:solidFill>
                  <a:srgbClr val="1A1A1A"/>
                </a:solidFill>
                <a:latin typeface="Arial"/>
                <a:ea typeface="Arial"/>
              </a:rPr>
              <a:t>, 투자 회수 기간 단축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2115800" y="2816352"/>
            <a:ext cx="5175504" cy="2231136"/>
          </a:xfrm>
          <a:prstGeom prst="rect">
            <a:avLst/>
          </a:prstGeom>
          <a:solidFill>
            <a:srgbClr val="F0F2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2115800" y="2816352"/>
            <a:ext cx="5175504" cy="54864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2280392" y="2944368"/>
            <a:ext cx="365760" cy="365760"/>
          </a:xfrm>
          <a:prstGeom prst="ellipse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2280392" y="2944368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755880" y="2907792"/>
            <a:ext cx="438912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1A1A1A"/>
                </a:solidFill>
                <a:latin typeface="Arial"/>
                <a:ea typeface="Arial"/>
              </a:rPr>
              <a:t>설비 통일성·선단화</a:t>
            </a:r>
            <a:r>
              <a:rPr sz="1600" b="0">
                <a:solidFill>
                  <a:srgbClr val="3C4FA5"/>
                </a:solidFill>
                <a:latin typeface="Arial"/>
                <a:ea typeface="Arial"/>
              </a:rPr>
              <a:t>  Equipment Unif.</a:t>
            </a:r>
          </a:p>
        </p:txBody>
      </p:sp>
      <p:pic>
        <p:nvPicPr>
          <p:cNvPr id="37" name="Picture 36" descr="v2_uni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280392" y="3364992"/>
            <a:ext cx="4846320" cy="1645919"/>
          </a:xfrm>
          <a:prstGeom prst="rect">
            <a:avLst/>
          </a:prstGeom>
        </p:spPr>
      </p:pic>
      <p:sp>
        <p:nvSpPr>
          <p:cNvPr id="38" name="Rectangle 37"/>
          <p:cNvSpPr/>
          <p:nvPr/>
        </p:nvSpPr>
        <p:spPr>
          <a:xfrm>
            <a:off x="12115800" y="5120640"/>
            <a:ext cx="5175504" cy="457200"/>
          </a:xfrm>
          <a:prstGeom prst="rect">
            <a:avLst/>
          </a:prstGeom>
          <a:solidFill>
            <a:srgbClr val="FFFFFF"/>
          </a:solidFill>
          <a:ln w="15875">
            <a:solidFill>
              <a:srgbClr val="C0CAE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16968" y="5120640"/>
            <a:ext cx="48463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3C4FA5"/>
                </a:solidFill>
                <a:latin typeface="Arial"/>
                <a:ea typeface="Arial"/>
              </a:rPr>
              <a:t>P-Mix 관점 </a:t>
            </a:r>
            <a:r>
              <a:rPr sz="1800" b="0">
                <a:solidFill>
                  <a:srgbClr val="1A1A1A"/>
                </a:solidFill>
                <a:latin typeface="Arial"/>
                <a:ea typeface="Arial"/>
              </a:rPr>
              <a:t>투자·전환 Loss 감소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2115800" y="5632704"/>
            <a:ext cx="5175504" cy="457200"/>
          </a:xfrm>
          <a:prstGeom prst="rect">
            <a:avLst/>
          </a:prstGeom>
          <a:solidFill>
            <a:srgbClr val="FFFFFF"/>
          </a:solidFill>
          <a:ln w="15875">
            <a:solidFill>
              <a:srgbClr val="C0CAE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2316968" y="5632704"/>
            <a:ext cx="48463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3C4FA5"/>
                </a:solidFill>
                <a:latin typeface="Arial"/>
                <a:ea typeface="Arial"/>
              </a:rPr>
              <a:t>생산성 향상</a:t>
            </a:r>
            <a:r>
              <a:rPr sz="1800" b="0">
                <a:solidFill>
                  <a:srgbClr val="1A1A1A"/>
                </a:solidFill>
                <a:latin typeface="Arial"/>
                <a:ea typeface="Arial"/>
              </a:rPr>
              <a:t>, 수율 안정화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2115800" y="6144768"/>
            <a:ext cx="5175504" cy="457200"/>
          </a:xfrm>
          <a:prstGeom prst="rect">
            <a:avLst/>
          </a:prstGeom>
          <a:solidFill>
            <a:srgbClr val="FFFFFF"/>
          </a:solidFill>
          <a:ln w="15875">
            <a:solidFill>
              <a:srgbClr val="C0CAE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2316968" y="6144768"/>
            <a:ext cx="48463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3C4FA5"/>
                </a:solidFill>
                <a:latin typeface="Arial"/>
                <a:ea typeface="Arial"/>
              </a:rPr>
              <a:t>강력한 구매 협상력</a:t>
            </a:r>
            <a:r>
              <a:rPr sz="1800" b="0">
                <a:solidFill>
                  <a:srgbClr val="1A1A1A"/>
                </a:solidFill>
                <a:latin typeface="Arial"/>
                <a:ea typeface="Arial"/>
              </a:rPr>
              <a:t> 확보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88136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460275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832415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2204554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2576694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2948833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3320973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3693112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4065252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437391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4809531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181670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5553810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5925949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6298089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6670229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042368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414508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786647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8158787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8530926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8903066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9275205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9647345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0019484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10391624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10763763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11135903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11508042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11880182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12252322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12624461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2996601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13368740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13740880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14113019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14485159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14857298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15229438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15601577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5973717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6345856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6717996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17090136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996696" y="6803136"/>
            <a:ext cx="16294608" cy="512064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271016" y="6803136"/>
            <a:ext cx="15745967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2200" b="1">
                <a:solidFill>
                  <a:srgbClr val="FFFFFF"/>
                </a:solidFill>
                <a:latin typeface="Arial"/>
                <a:ea typeface="Arial"/>
              </a:rPr>
              <a:t>Common Platform   </a:t>
            </a:r>
            <a:r>
              <a:rPr sz="2000" b="0">
                <a:solidFill>
                  <a:srgbClr val="FFFFFF"/>
                </a:solidFill>
                <a:latin typeface="Arial"/>
                <a:ea typeface="Arial"/>
              </a:rPr>
              <a:t>DRAM·NAND 공용 BEOL · Bonding 공정 · 설비 Pool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722376" y="7662672"/>
            <a:ext cx="1554480" cy="420624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 w="19050">
            <a:solidFill>
              <a:srgbClr val="3C4FA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722376" y="7662672"/>
            <a:ext cx="15544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>
                <a:solidFill>
                  <a:srgbClr val="3C4FA5"/>
                </a:solidFill>
                <a:latin typeface="Arial"/>
                <a:ea typeface="Arial"/>
              </a:rPr>
              <a:t>운영 제언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" y="8211312"/>
            <a:ext cx="3383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>
                <a:solidFill>
                  <a:srgbClr val="1A1A1A"/>
                </a:solidFill>
                <a:latin typeface="Arial"/>
                <a:ea typeface="Arial"/>
              </a:rPr>
              <a:t>메모리 BEOL</a:t>
            </a:r>
          </a:p>
          <a:p>
            <a:pPr algn="l">
              <a:lnSpc>
                <a:spcPct val="105000"/>
              </a:lnSpc>
            </a:pPr>
            <a:r>
              <a:rPr sz="2600" b="1">
                <a:solidFill>
                  <a:srgbClr val="1A1A1A"/>
                </a:solidFill>
                <a:latin typeface="Arial"/>
                <a:ea typeface="Arial"/>
              </a:rPr>
              <a:t>통합조직 구성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4480560" y="7644383"/>
            <a:ext cx="4023360" cy="585216"/>
          </a:xfrm>
          <a:prstGeom prst="roundRect">
            <a:avLst>
              <a:gd name="adj" fmla="val 12500"/>
            </a:avLst>
          </a:prstGeom>
          <a:solidFill>
            <a:srgbClr val="F5F5F5"/>
          </a:solidFill>
          <a:ln w="12700">
            <a:solidFill>
              <a:srgbClr val="8A8A8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4731654" y="7754111"/>
            <a:ext cx="138257" cy="138257"/>
          </a:xfrm>
          <a:prstGeom prst="ellipse">
            <a:avLst/>
          </a:prstGeom>
          <a:solidFill>
            <a:srgbClr val="8A8A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5" name="Round Same Side Corner Rectangle 94"/>
          <p:cNvSpPr/>
          <p:nvPr/>
        </p:nvSpPr>
        <p:spPr>
          <a:xfrm>
            <a:off x="4681728" y="7915412"/>
            <a:ext cx="238109" cy="222747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8A8A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5042916" y="7754111"/>
            <a:ext cx="138257" cy="138257"/>
          </a:xfrm>
          <a:prstGeom prst="ellipse">
            <a:avLst/>
          </a:prstGeom>
          <a:solidFill>
            <a:srgbClr val="8A8A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7" name="Round Same Side Corner Rectangle 96"/>
          <p:cNvSpPr/>
          <p:nvPr/>
        </p:nvSpPr>
        <p:spPr>
          <a:xfrm>
            <a:off x="4992989" y="7915412"/>
            <a:ext cx="238109" cy="222747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8A8A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5354177" y="7754111"/>
            <a:ext cx="138257" cy="138257"/>
          </a:xfrm>
          <a:prstGeom prst="ellipse">
            <a:avLst/>
          </a:prstGeom>
          <a:solidFill>
            <a:srgbClr val="8A8A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9" name="Round Same Side Corner Rectangle 98"/>
          <p:cNvSpPr/>
          <p:nvPr/>
        </p:nvSpPr>
        <p:spPr>
          <a:xfrm>
            <a:off x="5304251" y="7915412"/>
            <a:ext cx="238109" cy="222747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8A8A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5760720" y="7644383"/>
            <a:ext cx="265176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A1A1A"/>
                </a:solidFill>
                <a:latin typeface="Arial"/>
                <a:ea typeface="Arial"/>
              </a:rPr>
              <a:t>DRAM BEOL 조직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4480560" y="8723376"/>
            <a:ext cx="4023360" cy="585216"/>
          </a:xfrm>
          <a:prstGeom prst="roundRect">
            <a:avLst>
              <a:gd name="adj" fmla="val 12500"/>
            </a:avLst>
          </a:prstGeom>
          <a:solidFill>
            <a:srgbClr val="F5F5F5"/>
          </a:solidFill>
          <a:ln w="12700">
            <a:solidFill>
              <a:srgbClr val="8A8A8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4731654" y="8833103"/>
            <a:ext cx="138257" cy="138257"/>
          </a:xfrm>
          <a:prstGeom prst="ellipse">
            <a:avLst/>
          </a:prstGeom>
          <a:solidFill>
            <a:srgbClr val="8A8A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3" name="Round Same Side Corner Rectangle 102"/>
          <p:cNvSpPr/>
          <p:nvPr/>
        </p:nvSpPr>
        <p:spPr>
          <a:xfrm>
            <a:off x="4681728" y="8994404"/>
            <a:ext cx="238109" cy="222747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8A8A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5042916" y="8833103"/>
            <a:ext cx="138257" cy="138257"/>
          </a:xfrm>
          <a:prstGeom prst="ellipse">
            <a:avLst/>
          </a:prstGeom>
          <a:solidFill>
            <a:srgbClr val="8A8A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5" name="Round Same Side Corner Rectangle 104"/>
          <p:cNvSpPr/>
          <p:nvPr/>
        </p:nvSpPr>
        <p:spPr>
          <a:xfrm>
            <a:off x="4992989" y="8994404"/>
            <a:ext cx="238109" cy="222747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8A8A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5354177" y="8833103"/>
            <a:ext cx="138257" cy="138257"/>
          </a:xfrm>
          <a:prstGeom prst="ellipse">
            <a:avLst/>
          </a:prstGeom>
          <a:solidFill>
            <a:srgbClr val="8A8A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7" name="Round Same Side Corner Rectangle 106"/>
          <p:cNvSpPr/>
          <p:nvPr/>
        </p:nvSpPr>
        <p:spPr>
          <a:xfrm>
            <a:off x="5304251" y="8994404"/>
            <a:ext cx="238109" cy="222747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8A8A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5760720" y="8723376"/>
            <a:ext cx="265176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A1A1A"/>
                </a:solidFill>
                <a:latin typeface="Arial"/>
                <a:ea typeface="Arial"/>
              </a:rPr>
              <a:t>NAND BEOL 조직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4754880" y="8321040"/>
            <a:ext cx="109728" cy="310896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5060788" y="8321040"/>
            <a:ext cx="109728" cy="310896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5366696" y="8321040"/>
            <a:ext cx="109728" cy="310896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5672605" y="8321040"/>
            <a:ext cx="109728" cy="310896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5978513" y="8321040"/>
            <a:ext cx="109728" cy="310896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6284421" y="8321040"/>
            <a:ext cx="109728" cy="310896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6590330" y="8321040"/>
            <a:ext cx="109728" cy="310896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6896238" y="8321040"/>
            <a:ext cx="109728" cy="310896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7202146" y="8321040"/>
            <a:ext cx="109728" cy="310896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7508055" y="8321040"/>
            <a:ext cx="109728" cy="310896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7813963" y="8321040"/>
            <a:ext cx="109728" cy="310896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8119872" y="8321040"/>
            <a:ext cx="109728" cy="310896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8613648" y="8302752"/>
            <a:ext cx="109728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3C4FA5"/>
                </a:solidFill>
                <a:latin typeface="Arial"/>
                <a:ea typeface="Arial"/>
              </a:rPr>
              <a:t>Bonding</a:t>
            </a:r>
          </a:p>
        </p:txBody>
      </p:sp>
      <p:sp>
        <p:nvSpPr>
          <p:cNvPr id="122" name="Right Arrow 121"/>
          <p:cNvSpPr/>
          <p:nvPr/>
        </p:nvSpPr>
        <p:spPr>
          <a:xfrm>
            <a:off x="9747504" y="8311896"/>
            <a:ext cx="566928" cy="329184"/>
          </a:xfrm>
          <a:prstGeom prst="rightArrow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3" name="Rounded Rectangle 122"/>
          <p:cNvSpPr/>
          <p:nvPr/>
        </p:nvSpPr>
        <p:spPr>
          <a:xfrm>
            <a:off x="10424160" y="7644383"/>
            <a:ext cx="4663440" cy="1664208"/>
          </a:xfrm>
          <a:prstGeom prst="roundRect">
            <a:avLst>
              <a:gd name="adj" fmla="val 4395"/>
            </a:avLst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10424160" y="7717536"/>
            <a:ext cx="46634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2400" b="1">
                <a:solidFill>
                  <a:srgbClr val="FFFFFF"/>
                </a:solidFill>
                <a:latin typeface="Arial"/>
                <a:ea typeface="Arial"/>
              </a:rPr>
              <a:t>메모리 BEOL 통합조직</a:t>
            </a:r>
          </a:p>
        </p:txBody>
      </p:sp>
      <p:sp>
        <p:nvSpPr>
          <p:cNvPr id="125" name="Oval 124"/>
          <p:cNvSpPr/>
          <p:nvPr/>
        </p:nvSpPr>
        <p:spPr>
          <a:xfrm>
            <a:off x="11785518" y="8193023"/>
            <a:ext cx="144840" cy="1448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6" name="Round Same Side Corner Rectangle 125"/>
          <p:cNvSpPr/>
          <p:nvPr/>
        </p:nvSpPr>
        <p:spPr>
          <a:xfrm>
            <a:off x="11733215" y="8362005"/>
            <a:ext cx="249448" cy="233354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12144695" y="8193023"/>
            <a:ext cx="144840" cy="1448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8" name="Round Same Side Corner Rectangle 127"/>
          <p:cNvSpPr/>
          <p:nvPr/>
        </p:nvSpPr>
        <p:spPr>
          <a:xfrm>
            <a:off x="12092391" y="8362005"/>
            <a:ext cx="249448" cy="233354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12503871" y="8193023"/>
            <a:ext cx="144840" cy="1448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0" name="Round Same Side Corner Rectangle 129"/>
          <p:cNvSpPr/>
          <p:nvPr/>
        </p:nvSpPr>
        <p:spPr>
          <a:xfrm>
            <a:off x="12451567" y="8362005"/>
            <a:ext cx="249448" cy="233354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12863047" y="8193023"/>
            <a:ext cx="144840" cy="1448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2" name="Round Same Side Corner Rectangle 131"/>
          <p:cNvSpPr/>
          <p:nvPr/>
        </p:nvSpPr>
        <p:spPr>
          <a:xfrm>
            <a:off x="12810744" y="8362005"/>
            <a:ext cx="249448" cy="233354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13222224" y="8193023"/>
            <a:ext cx="144840" cy="1448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4" name="Round Same Side Corner Rectangle 133"/>
          <p:cNvSpPr/>
          <p:nvPr/>
        </p:nvSpPr>
        <p:spPr>
          <a:xfrm>
            <a:off x="13169920" y="8362005"/>
            <a:ext cx="249448" cy="233354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13581400" y="8193023"/>
            <a:ext cx="144840" cy="1448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6" name="Round Same Side Corner Rectangle 135"/>
          <p:cNvSpPr/>
          <p:nvPr/>
        </p:nvSpPr>
        <p:spPr>
          <a:xfrm>
            <a:off x="13529096" y="8362005"/>
            <a:ext cx="249448" cy="233354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7" name="Rounded Rectangle 136"/>
          <p:cNvSpPr/>
          <p:nvPr/>
        </p:nvSpPr>
        <p:spPr>
          <a:xfrm>
            <a:off x="10588752" y="8723376"/>
            <a:ext cx="1371600" cy="438912"/>
          </a:xfrm>
          <a:prstGeom prst="roundRect">
            <a:avLst>
              <a:gd name="adj" fmla="val 16666"/>
            </a:avLst>
          </a:prstGeom>
          <a:solidFill>
            <a:srgbClr val="3C4FA5"/>
          </a:solidFill>
          <a:ln w="15875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10588752" y="8723376"/>
            <a:ext cx="13716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</a:rPr>
              <a:t>표준 Layout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12070080" y="8723376"/>
            <a:ext cx="1371600" cy="438912"/>
          </a:xfrm>
          <a:prstGeom prst="roundRect">
            <a:avLst>
              <a:gd name="adj" fmla="val 16666"/>
            </a:avLst>
          </a:prstGeom>
          <a:solidFill>
            <a:srgbClr val="3C4FA5"/>
          </a:solidFill>
          <a:ln w="15875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12070080" y="8723376"/>
            <a:ext cx="13716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</a:rPr>
              <a:t>설비 Pool</a:t>
            </a:r>
          </a:p>
        </p:txBody>
      </p:sp>
      <p:sp>
        <p:nvSpPr>
          <p:cNvPr id="141" name="Rounded Rectangle 140"/>
          <p:cNvSpPr/>
          <p:nvPr/>
        </p:nvSpPr>
        <p:spPr>
          <a:xfrm>
            <a:off x="13551408" y="8723376"/>
            <a:ext cx="1371600" cy="438912"/>
          </a:xfrm>
          <a:prstGeom prst="roundRect">
            <a:avLst>
              <a:gd name="adj" fmla="val 16666"/>
            </a:avLst>
          </a:prstGeom>
          <a:solidFill>
            <a:srgbClr val="3C4FA5"/>
          </a:solidFill>
          <a:ln w="15875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13551408" y="8723376"/>
            <a:ext cx="13716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</a:rPr>
              <a:t>통합 구매</a:t>
            </a:r>
          </a:p>
        </p:txBody>
      </p:sp>
      <p:sp>
        <p:nvSpPr>
          <p:cNvPr id="143" name="Up Arrow 142"/>
          <p:cNvSpPr/>
          <p:nvPr/>
        </p:nvSpPr>
        <p:spPr>
          <a:xfrm>
            <a:off x="11365992" y="7370064"/>
            <a:ext cx="310896" cy="237744"/>
          </a:xfrm>
          <a:prstGeom prst="upArrow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4" name="Up Arrow 143"/>
          <p:cNvSpPr/>
          <p:nvPr/>
        </p:nvSpPr>
        <p:spPr>
          <a:xfrm>
            <a:off x="13834872" y="7370064"/>
            <a:ext cx="310896" cy="237744"/>
          </a:xfrm>
          <a:prstGeom prst="upArrow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11795760" y="7360920"/>
            <a:ext cx="1920239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3C4FA5"/>
                </a:solidFill>
                <a:latin typeface="Arial"/>
                <a:ea typeface="Arial"/>
              </a:rPr>
              <a:t>운영</a:t>
            </a:r>
          </a:p>
        </p:txBody>
      </p:sp>
      <p:cxnSp>
        <p:nvCxnSpPr>
          <p:cNvPr id="146" name="Connector 145"/>
          <p:cNvCxnSpPr/>
          <p:nvPr/>
        </p:nvCxnSpPr>
        <p:spPr>
          <a:xfrm>
            <a:off x="15087600" y="8476488"/>
            <a:ext cx="274320" cy="0"/>
          </a:xfrm>
          <a:prstGeom prst="line">
            <a:avLst/>
          </a:prstGeom>
          <a:ln w="19050">
            <a:solidFill>
              <a:srgbClr val="8A8A8A"/>
            </a:solidFill>
          </a:ln>
        </p:spPr>
      </p:cxnSp>
      <p:sp>
        <p:nvSpPr>
          <p:cNvPr id="147" name="Rounded Rectangle 146"/>
          <p:cNvSpPr/>
          <p:nvPr/>
        </p:nvSpPr>
        <p:spPr>
          <a:xfrm>
            <a:off x="15361920" y="7955279"/>
            <a:ext cx="2203704" cy="1042415"/>
          </a:xfrm>
          <a:prstGeom prst="roundRect">
            <a:avLst>
              <a:gd name="adj" fmla="val 7017"/>
            </a:avLst>
          </a:prstGeom>
          <a:solidFill>
            <a:srgbClr val="FFFFFF"/>
          </a:solidFill>
          <a:ln w="15875">
            <a:solidFill>
              <a:srgbClr val="8A8A8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15361920" y="7955279"/>
            <a:ext cx="2203704" cy="104241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>
                <a:solidFill>
                  <a:srgbClr val="555555"/>
                </a:solidFill>
                <a:latin typeface="Arial"/>
                <a:ea typeface="Arial"/>
              </a:rPr>
              <a:t>산하</a:t>
            </a:r>
          </a:p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1A1A1A"/>
                </a:solidFill>
                <a:latin typeface="Arial"/>
                <a:ea typeface="Arial"/>
              </a:rPr>
              <a:t>반도체연구소</a:t>
            </a:r>
          </a:p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1A1A1A"/>
                </a:solidFill>
                <a:latin typeface="Arial"/>
                <a:ea typeface="Arial"/>
              </a:rPr>
              <a:t>/ MTC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722376" y="9601200"/>
            <a:ext cx="1545335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주: 효과 그림은 방향을 보여 주는 개념도이며 수치는 표기하지 않음. 정량 효과는 Fab별 검증 후 확정 [사내 확인]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6468344" y="9601200"/>
            <a:ext cx="10972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1600" b="0">
                <a:solidFill>
                  <a:srgbClr val="555555"/>
                </a:solidFill>
                <a:latin typeface="Arial"/>
                <a:ea typeface="Arial"/>
              </a:rPr>
              <a:t>2 / 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2376" y="365760"/>
            <a:ext cx="109728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3C4FA5"/>
                </a:solidFill>
                <a:latin typeface="Arial"/>
                <a:ea typeface="Arial"/>
              </a:rPr>
              <a:t>Fab 통합 운영</a:t>
            </a:r>
            <a:r>
              <a:rPr sz="1800" b="0">
                <a:solidFill>
                  <a:srgbClr val="555555"/>
                </a:solidFill>
                <a:latin typeface="Arial"/>
                <a:ea typeface="Arial"/>
              </a:rPr>
              <a:t>   3 / 6  시안 3 · Fab 도면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9224" y="365760"/>
            <a:ext cx="54864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1800" b="0">
                <a:solidFill>
                  <a:srgbClr val="555555"/>
                </a:solidFill>
                <a:latin typeface="Arial"/>
                <a:ea typeface="Arial"/>
              </a:rPr>
              <a:t>[문서등급 표기]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2376" y="786384"/>
            <a:ext cx="16843248" cy="10241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1A1A1A"/>
                </a:solidFill>
                <a:latin typeface="Arial"/>
                <a:ea typeface="Arial"/>
              </a:rPr>
              <a:t>DRAM/NAND Fab 통합 운영:</a:t>
            </a:r>
          </a:p>
          <a:p>
            <a:pPr algn="l">
              <a:lnSpc>
                <a:spcPct val="105000"/>
              </a:lnSpc>
            </a:pPr>
            <a:r>
              <a:rPr sz="3200" b="1">
                <a:solidFill>
                  <a:srgbClr val="1A1A1A"/>
                </a:solidFill>
                <a:latin typeface="Arial"/>
                <a:ea typeface="Arial"/>
              </a:rPr>
              <a:t>Bonding 시대에 맞는 Common Platform 구성</a:t>
            </a:r>
          </a:p>
        </p:txBody>
      </p:sp>
      <p:sp>
        <p:nvSpPr>
          <p:cNvPr id="5" name="Rectangle 4"/>
          <p:cNvSpPr/>
          <p:nvPr/>
        </p:nvSpPr>
        <p:spPr>
          <a:xfrm>
            <a:off x="722376" y="1938528"/>
            <a:ext cx="16843248" cy="18288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rapezoid 5"/>
          <p:cNvSpPr/>
          <p:nvPr/>
        </p:nvSpPr>
        <p:spPr>
          <a:xfrm>
            <a:off x="722376" y="2084831"/>
            <a:ext cx="16843248" cy="640080"/>
          </a:xfrm>
          <a:prstGeom prst="trapezoid">
            <a:avLst>
              <a:gd name="adj" fmla="val 55000"/>
            </a:avLst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185416" y="2084831"/>
            <a:ext cx="13917168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800" b="0">
                <a:solidFill>
                  <a:srgbClr val="C0CAEC"/>
                </a:solidFill>
                <a:latin typeface="Arial"/>
                <a:ea typeface="Arial"/>
              </a:rPr>
              <a:t>종합 반도체 경쟁력  </a:t>
            </a:r>
            <a:r>
              <a:rPr sz="2400" b="1">
                <a:solidFill>
                  <a:srgbClr val="FFFFFF"/>
                </a:solidFill>
                <a:latin typeface="Arial"/>
                <a:ea typeface="Arial"/>
              </a:rPr>
              <a:t>기술·생산 경쟁력 + 효율·유연성 + </a:t>
            </a:r>
            <a:r>
              <a:rPr sz="2400" b="1">
                <a:solidFill>
                  <a:srgbClr val="FFFFFF"/>
                </a:solidFill>
                <a:latin typeface="Arial"/>
                <a:ea typeface="Arial"/>
              </a:rPr>
              <a:t>Buying Power</a:t>
            </a:r>
          </a:p>
        </p:txBody>
      </p:sp>
      <p:sp>
        <p:nvSpPr>
          <p:cNvPr id="8" name="Rectangle 7"/>
          <p:cNvSpPr/>
          <p:nvPr/>
        </p:nvSpPr>
        <p:spPr>
          <a:xfrm>
            <a:off x="996696" y="2816352"/>
            <a:ext cx="5175504" cy="2231136"/>
          </a:xfrm>
          <a:prstGeom prst="rect">
            <a:avLst/>
          </a:prstGeom>
          <a:solidFill>
            <a:srgbClr val="F0F2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96696" y="2816352"/>
            <a:ext cx="5175504" cy="54864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61288" y="2944368"/>
            <a:ext cx="365760" cy="365760"/>
          </a:xfrm>
          <a:prstGeom prst="ellipse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61288" y="2944368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36776" y="2907792"/>
            <a:ext cx="438912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1A1A1A"/>
                </a:solidFill>
                <a:latin typeface="Arial"/>
                <a:ea typeface="Arial"/>
              </a:rPr>
              <a:t>공간 효율성</a:t>
            </a:r>
            <a:r>
              <a:rPr sz="1600" b="0">
                <a:solidFill>
                  <a:srgbClr val="3C4FA5"/>
                </a:solidFill>
                <a:latin typeface="Arial"/>
                <a:ea typeface="Arial"/>
              </a:rPr>
              <a:t>  Space Efficiency</a:t>
            </a:r>
          </a:p>
        </p:txBody>
      </p:sp>
      <p:pic>
        <p:nvPicPr>
          <p:cNvPr id="13" name="Picture 12" descr="v3_spa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1288" y="3364992"/>
            <a:ext cx="4846320" cy="1645919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996696" y="5120640"/>
            <a:ext cx="5175504" cy="457200"/>
          </a:xfrm>
          <a:prstGeom prst="rect">
            <a:avLst/>
          </a:prstGeom>
          <a:solidFill>
            <a:srgbClr val="FFFFFF"/>
          </a:solidFill>
          <a:ln w="15875">
            <a:solidFill>
              <a:srgbClr val="C0CAE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97864" y="5120640"/>
            <a:ext cx="48463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3C4FA5"/>
                </a:solidFill>
                <a:latin typeface="Arial"/>
                <a:ea typeface="Arial"/>
              </a:rPr>
              <a:t>설비 밀집도 향상</a:t>
            </a:r>
            <a:r>
              <a:rPr sz="1800" b="0">
                <a:solidFill>
                  <a:srgbClr val="1A1A1A"/>
                </a:solidFill>
                <a:latin typeface="Arial"/>
                <a:ea typeface="Arial"/>
              </a:rPr>
              <a:t>, Dead Space 최소화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96696" y="5632704"/>
            <a:ext cx="5175504" cy="457200"/>
          </a:xfrm>
          <a:prstGeom prst="rect">
            <a:avLst/>
          </a:prstGeom>
          <a:solidFill>
            <a:srgbClr val="FFFFFF"/>
          </a:solidFill>
          <a:ln w="15875">
            <a:solidFill>
              <a:srgbClr val="C0CAE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97864" y="5632704"/>
            <a:ext cx="48463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3C4FA5"/>
                </a:solidFill>
                <a:latin typeface="Arial"/>
                <a:ea typeface="Arial"/>
              </a:rPr>
              <a:t>동일 모델 군집화</a:t>
            </a:r>
            <a:r>
              <a:rPr sz="1800" b="0">
                <a:solidFill>
                  <a:srgbClr val="1A1A1A"/>
                </a:solidFill>
                <a:latin typeface="Arial"/>
                <a:ea typeface="Arial"/>
              </a:rPr>
              <a:t> 시너지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96696" y="6144768"/>
            <a:ext cx="5175504" cy="457200"/>
          </a:xfrm>
          <a:prstGeom prst="rect">
            <a:avLst/>
          </a:prstGeom>
          <a:solidFill>
            <a:srgbClr val="FFFFFF"/>
          </a:solidFill>
          <a:ln w="15875">
            <a:solidFill>
              <a:srgbClr val="C0CAE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97864" y="6144768"/>
            <a:ext cx="48463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3C4FA5"/>
                </a:solidFill>
                <a:latin typeface="Arial"/>
                <a:ea typeface="Arial"/>
              </a:rPr>
              <a:t>단위 면적당 생산성</a:t>
            </a:r>
            <a:r>
              <a:rPr sz="1800" b="0">
                <a:solidFill>
                  <a:srgbClr val="1A1A1A"/>
                </a:solidFill>
                <a:latin typeface="Arial"/>
                <a:ea typeface="Arial"/>
              </a:rPr>
              <a:t> 극대화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56248" y="2816352"/>
            <a:ext cx="5175504" cy="2231136"/>
          </a:xfrm>
          <a:prstGeom prst="rect">
            <a:avLst/>
          </a:prstGeom>
          <a:solidFill>
            <a:srgbClr val="F0F2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56248" y="2816352"/>
            <a:ext cx="5175504" cy="54864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720840" y="2944368"/>
            <a:ext cx="365760" cy="365760"/>
          </a:xfrm>
          <a:prstGeom prst="ellipse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20840" y="2944368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96328" y="2907792"/>
            <a:ext cx="438912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1A1A1A"/>
                </a:solidFill>
                <a:latin typeface="Arial"/>
                <a:ea typeface="Arial"/>
              </a:rPr>
              <a:t>시황 변화 대응력</a:t>
            </a:r>
            <a:r>
              <a:rPr sz="1600" b="0">
                <a:solidFill>
                  <a:srgbClr val="3C4FA5"/>
                </a:solidFill>
                <a:latin typeface="Arial"/>
                <a:ea typeface="Arial"/>
              </a:rPr>
              <a:t>  Market Agility</a:t>
            </a:r>
          </a:p>
        </p:txBody>
      </p:sp>
      <p:pic>
        <p:nvPicPr>
          <p:cNvPr id="25" name="Picture 24" descr="v3_agil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3364992"/>
            <a:ext cx="4846320" cy="1645919"/>
          </a:xfrm>
          <a:prstGeom prst="rect">
            <a:avLst/>
          </a:prstGeom>
        </p:spPr>
      </p:pic>
      <p:sp>
        <p:nvSpPr>
          <p:cNvPr id="26" name="Rectangle 25"/>
          <p:cNvSpPr/>
          <p:nvPr/>
        </p:nvSpPr>
        <p:spPr>
          <a:xfrm>
            <a:off x="6556248" y="5120640"/>
            <a:ext cx="5175504" cy="457200"/>
          </a:xfrm>
          <a:prstGeom prst="rect">
            <a:avLst/>
          </a:prstGeom>
          <a:solidFill>
            <a:srgbClr val="FFFFFF"/>
          </a:solidFill>
          <a:ln w="15875">
            <a:solidFill>
              <a:srgbClr val="C0CAE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57416" y="5120640"/>
            <a:ext cx="48463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3C4FA5"/>
                </a:solidFill>
                <a:latin typeface="Arial"/>
                <a:ea typeface="Arial"/>
              </a:rPr>
              <a:t>DRAM/NAND 설비 전환</a:t>
            </a:r>
            <a:r>
              <a:rPr sz="1800" b="0">
                <a:solidFill>
                  <a:srgbClr val="1A1A1A"/>
                </a:solidFill>
                <a:latin typeface="Arial"/>
                <a:ea typeface="Arial"/>
              </a:rPr>
              <a:t> 속도 증가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56248" y="5632704"/>
            <a:ext cx="5175504" cy="457200"/>
          </a:xfrm>
          <a:prstGeom prst="rect">
            <a:avLst/>
          </a:prstGeom>
          <a:solidFill>
            <a:srgbClr val="FFFFFF"/>
          </a:solidFill>
          <a:ln w="15875">
            <a:solidFill>
              <a:srgbClr val="C0CAE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57416" y="5632704"/>
            <a:ext cx="48463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3C4FA5"/>
                </a:solidFill>
                <a:latin typeface="Arial"/>
                <a:ea typeface="Arial"/>
              </a:rPr>
              <a:t>생산 Bottleneck 해소</a:t>
            </a:r>
            <a:r>
              <a:rPr sz="1800" b="0">
                <a:solidFill>
                  <a:srgbClr val="1A1A1A"/>
                </a:solidFill>
                <a:latin typeface="Arial"/>
                <a:ea typeface="Arial"/>
              </a:rPr>
              <a:t>로 생산성 증가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56248" y="6144768"/>
            <a:ext cx="5175504" cy="457200"/>
          </a:xfrm>
          <a:prstGeom prst="rect">
            <a:avLst/>
          </a:prstGeom>
          <a:solidFill>
            <a:srgbClr val="FFFFFF"/>
          </a:solidFill>
          <a:ln w="15875">
            <a:solidFill>
              <a:srgbClr val="C0CAE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757416" y="6144768"/>
            <a:ext cx="48463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3C4FA5"/>
                </a:solidFill>
                <a:latin typeface="Arial"/>
                <a:ea typeface="Arial"/>
              </a:rPr>
              <a:t>유휴 설비 최소화</a:t>
            </a:r>
            <a:r>
              <a:rPr sz="1800" b="0">
                <a:solidFill>
                  <a:srgbClr val="1A1A1A"/>
                </a:solidFill>
                <a:latin typeface="Arial"/>
                <a:ea typeface="Arial"/>
              </a:rPr>
              <a:t>, 투자 회수 기간 단축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2115800" y="2816352"/>
            <a:ext cx="5175504" cy="2231136"/>
          </a:xfrm>
          <a:prstGeom prst="rect">
            <a:avLst/>
          </a:prstGeom>
          <a:solidFill>
            <a:srgbClr val="F0F2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2115800" y="2816352"/>
            <a:ext cx="5175504" cy="54864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2280392" y="2944368"/>
            <a:ext cx="365760" cy="365760"/>
          </a:xfrm>
          <a:prstGeom prst="ellipse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2280392" y="2944368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755880" y="2907792"/>
            <a:ext cx="438912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1A1A1A"/>
                </a:solidFill>
                <a:latin typeface="Arial"/>
                <a:ea typeface="Arial"/>
              </a:rPr>
              <a:t>설비 통일성·선단화</a:t>
            </a:r>
            <a:r>
              <a:rPr sz="1600" b="0">
                <a:solidFill>
                  <a:srgbClr val="3C4FA5"/>
                </a:solidFill>
                <a:latin typeface="Arial"/>
                <a:ea typeface="Arial"/>
              </a:rPr>
              <a:t>  Equipment Unif.</a:t>
            </a:r>
          </a:p>
        </p:txBody>
      </p:sp>
      <p:pic>
        <p:nvPicPr>
          <p:cNvPr id="37" name="Picture 36" descr="v3_uni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280392" y="3364992"/>
            <a:ext cx="4846320" cy="1645919"/>
          </a:xfrm>
          <a:prstGeom prst="rect">
            <a:avLst/>
          </a:prstGeom>
        </p:spPr>
      </p:pic>
      <p:sp>
        <p:nvSpPr>
          <p:cNvPr id="38" name="Rectangle 37"/>
          <p:cNvSpPr/>
          <p:nvPr/>
        </p:nvSpPr>
        <p:spPr>
          <a:xfrm>
            <a:off x="12115800" y="5120640"/>
            <a:ext cx="5175504" cy="457200"/>
          </a:xfrm>
          <a:prstGeom prst="rect">
            <a:avLst/>
          </a:prstGeom>
          <a:solidFill>
            <a:srgbClr val="FFFFFF"/>
          </a:solidFill>
          <a:ln w="15875">
            <a:solidFill>
              <a:srgbClr val="C0CAE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16968" y="5120640"/>
            <a:ext cx="48463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3C4FA5"/>
                </a:solidFill>
                <a:latin typeface="Arial"/>
                <a:ea typeface="Arial"/>
              </a:rPr>
              <a:t>P-Mix 관점 </a:t>
            </a:r>
            <a:r>
              <a:rPr sz="1800" b="0">
                <a:solidFill>
                  <a:srgbClr val="1A1A1A"/>
                </a:solidFill>
                <a:latin typeface="Arial"/>
                <a:ea typeface="Arial"/>
              </a:rPr>
              <a:t>투자·전환 Loss 감소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2115800" y="5632704"/>
            <a:ext cx="5175504" cy="457200"/>
          </a:xfrm>
          <a:prstGeom prst="rect">
            <a:avLst/>
          </a:prstGeom>
          <a:solidFill>
            <a:srgbClr val="FFFFFF"/>
          </a:solidFill>
          <a:ln w="15875">
            <a:solidFill>
              <a:srgbClr val="C0CAE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2316968" y="5632704"/>
            <a:ext cx="48463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3C4FA5"/>
                </a:solidFill>
                <a:latin typeface="Arial"/>
                <a:ea typeface="Arial"/>
              </a:rPr>
              <a:t>생산성 향상</a:t>
            </a:r>
            <a:r>
              <a:rPr sz="1800" b="0">
                <a:solidFill>
                  <a:srgbClr val="1A1A1A"/>
                </a:solidFill>
                <a:latin typeface="Arial"/>
                <a:ea typeface="Arial"/>
              </a:rPr>
              <a:t>, 수율 안정화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2115800" y="6144768"/>
            <a:ext cx="5175504" cy="457200"/>
          </a:xfrm>
          <a:prstGeom prst="rect">
            <a:avLst/>
          </a:prstGeom>
          <a:solidFill>
            <a:srgbClr val="FFFFFF"/>
          </a:solidFill>
          <a:ln w="15875">
            <a:solidFill>
              <a:srgbClr val="C0CAE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2316968" y="6144768"/>
            <a:ext cx="48463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3C4FA5"/>
                </a:solidFill>
                <a:latin typeface="Arial"/>
                <a:ea typeface="Arial"/>
              </a:rPr>
              <a:t>강력한 구매 협상력</a:t>
            </a:r>
            <a:r>
              <a:rPr sz="1800" b="0">
                <a:solidFill>
                  <a:srgbClr val="1A1A1A"/>
                </a:solidFill>
                <a:latin typeface="Arial"/>
                <a:ea typeface="Arial"/>
              </a:rPr>
              <a:t> 확보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88136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460275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832415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2204554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2576694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2948833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3320973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3693112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4065252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437391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4809531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181670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5553810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5925949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6298089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6670229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042368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414508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786647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8158787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8530926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8903066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9275205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9647345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0019484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10391624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10763763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11135903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11508042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11880182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12252322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12624461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2996601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13368740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13740880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14113019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14485159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14857298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15229438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15601577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5973717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6345856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6717996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17090136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996696" y="6803136"/>
            <a:ext cx="16294608" cy="512064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271016" y="6803136"/>
            <a:ext cx="15745967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2200" b="1">
                <a:solidFill>
                  <a:srgbClr val="FFFFFF"/>
                </a:solidFill>
                <a:latin typeface="Arial"/>
                <a:ea typeface="Arial"/>
              </a:rPr>
              <a:t>Common Platform   </a:t>
            </a:r>
            <a:r>
              <a:rPr sz="2000" b="0">
                <a:solidFill>
                  <a:srgbClr val="FFFFFF"/>
                </a:solidFill>
                <a:latin typeface="Arial"/>
                <a:ea typeface="Arial"/>
              </a:rPr>
              <a:t>DRAM·NAND 공용 BEOL · Bonding 공정 · 설비 Pool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722376" y="7662672"/>
            <a:ext cx="1554480" cy="420624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 w="19050">
            <a:solidFill>
              <a:srgbClr val="3C4FA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722376" y="7662672"/>
            <a:ext cx="15544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>
                <a:solidFill>
                  <a:srgbClr val="3C4FA5"/>
                </a:solidFill>
                <a:latin typeface="Arial"/>
                <a:ea typeface="Arial"/>
              </a:rPr>
              <a:t>운영 제언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" y="8211312"/>
            <a:ext cx="3383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>
                <a:solidFill>
                  <a:srgbClr val="1A1A1A"/>
                </a:solidFill>
                <a:latin typeface="Arial"/>
                <a:ea typeface="Arial"/>
              </a:rPr>
              <a:t>메모리 BEOL</a:t>
            </a:r>
          </a:p>
          <a:p>
            <a:pPr algn="l">
              <a:lnSpc>
                <a:spcPct val="105000"/>
              </a:lnSpc>
            </a:pPr>
            <a:r>
              <a:rPr sz="2600" b="1">
                <a:solidFill>
                  <a:srgbClr val="1A1A1A"/>
                </a:solidFill>
                <a:latin typeface="Arial"/>
                <a:ea typeface="Arial"/>
              </a:rPr>
              <a:t>통합조직 구성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4480560" y="7644383"/>
            <a:ext cx="4023360" cy="585216"/>
          </a:xfrm>
          <a:prstGeom prst="roundRect">
            <a:avLst>
              <a:gd name="adj" fmla="val 12500"/>
            </a:avLst>
          </a:prstGeom>
          <a:solidFill>
            <a:srgbClr val="F5F5F5"/>
          </a:solidFill>
          <a:ln w="12700">
            <a:solidFill>
              <a:srgbClr val="8A8A8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4731654" y="7754111"/>
            <a:ext cx="138257" cy="138257"/>
          </a:xfrm>
          <a:prstGeom prst="ellipse">
            <a:avLst/>
          </a:prstGeom>
          <a:solidFill>
            <a:srgbClr val="8A8A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5" name="Round Same Side Corner Rectangle 94"/>
          <p:cNvSpPr/>
          <p:nvPr/>
        </p:nvSpPr>
        <p:spPr>
          <a:xfrm>
            <a:off x="4681728" y="7915412"/>
            <a:ext cx="238109" cy="222747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8A8A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5042916" y="7754111"/>
            <a:ext cx="138257" cy="138257"/>
          </a:xfrm>
          <a:prstGeom prst="ellipse">
            <a:avLst/>
          </a:prstGeom>
          <a:solidFill>
            <a:srgbClr val="8A8A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7" name="Round Same Side Corner Rectangle 96"/>
          <p:cNvSpPr/>
          <p:nvPr/>
        </p:nvSpPr>
        <p:spPr>
          <a:xfrm>
            <a:off x="4992989" y="7915412"/>
            <a:ext cx="238109" cy="222747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8A8A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5354177" y="7754111"/>
            <a:ext cx="138257" cy="138257"/>
          </a:xfrm>
          <a:prstGeom prst="ellipse">
            <a:avLst/>
          </a:prstGeom>
          <a:solidFill>
            <a:srgbClr val="8A8A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9" name="Round Same Side Corner Rectangle 98"/>
          <p:cNvSpPr/>
          <p:nvPr/>
        </p:nvSpPr>
        <p:spPr>
          <a:xfrm>
            <a:off x="5304251" y="7915412"/>
            <a:ext cx="238109" cy="222747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8A8A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5760720" y="7644383"/>
            <a:ext cx="265176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A1A1A"/>
                </a:solidFill>
                <a:latin typeface="Arial"/>
                <a:ea typeface="Arial"/>
              </a:rPr>
              <a:t>DRAM BEOL 조직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4480560" y="8723376"/>
            <a:ext cx="4023360" cy="585216"/>
          </a:xfrm>
          <a:prstGeom prst="roundRect">
            <a:avLst>
              <a:gd name="adj" fmla="val 12500"/>
            </a:avLst>
          </a:prstGeom>
          <a:solidFill>
            <a:srgbClr val="F5F5F5"/>
          </a:solidFill>
          <a:ln w="12700">
            <a:solidFill>
              <a:srgbClr val="8A8A8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4731654" y="8833103"/>
            <a:ext cx="138257" cy="138257"/>
          </a:xfrm>
          <a:prstGeom prst="ellipse">
            <a:avLst/>
          </a:prstGeom>
          <a:solidFill>
            <a:srgbClr val="8A8A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3" name="Round Same Side Corner Rectangle 102"/>
          <p:cNvSpPr/>
          <p:nvPr/>
        </p:nvSpPr>
        <p:spPr>
          <a:xfrm>
            <a:off x="4681728" y="8994404"/>
            <a:ext cx="238109" cy="222747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8A8A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5042916" y="8833103"/>
            <a:ext cx="138257" cy="138257"/>
          </a:xfrm>
          <a:prstGeom prst="ellipse">
            <a:avLst/>
          </a:prstGeom>
          <a:solidFill>
            <a:srgbClr val="8A8A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5" name="Round Same Side Corner Rectangle 104"/>
          <p:cNvSpPr/>
          <p:nvPr/>
        </p:nvSpPr>
        <p:spPr>
          <a:xfrm>
            <a:off x="4992989" y="8994404"/>
            <a:ext cx="238109" cy="222747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8A8A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5354177" y="8833103"/>
            <a:ext cx="138257" cy="138257"/>
          </a:xfrm>
          <a:prstGeom prst="ellipse">
            <a:avLst/>
          </a:prstGeom>
          <a:solidFill>
            <a:srgbClr val="8A8A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7" name="Round Same Side Corner Rectangle 106"/>
          <p:cNvSpPr/>
          <p:nvPr/>
        </p:nvSpPr>
        <p:spPr>
          <a:xfrm>
            <a:off x="5304251" y="8994404"/>
            <a:ext cx="238109" cy="222747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8A8A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5760720" y="8723376"/>
            <a:ext cx="265176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A1A1A"/>
                </a:solidFill>
                <a:latin typeface="Arial"/>
                <a:ea typeface="Arial"/>
              </a:rPr>
              <a:t>NAND BEOL 조직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4754880" y="8321040"/>
            <a:ext cx="109728" cy="310896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5060788" y="8321040"/>
            <a:ext cx="109728" cy="310896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5366696" y="8321040"/>
            <a:ext cx="109728" cy="310896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5672605" y="8321040"/>
            <a:ext cx="109728" cy="310896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5978513" y="8321040"/>
            <a:ext cx="109728" cy="310896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6284421" y="8321040"/>
            <a:ext cx="109728" cy="310896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6590330" y="8321040"/>
            <a:ext cx="109728" cy="310896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6896238" y="8321040"/>
            <a:ext cx="109728" cy="310896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7202146" y="8321040"/>
            <a:ext cx="109728" cy="310896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7508055" y="8321040"/>
            <a:ext cx="109728" cy="310896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7813963" y="8321040"/>
            <a:ext cx="109728" cy="310896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8119872" y="8321040"/>
            <a:ext cx="109728" cy="310896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8613648" y="8302752"/>
            <a:ext cx="109728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3C4FA5"/>
                </a:solidFill>
                <a:latin typeface="Arial"/>
                <a:ea typeface="Arial"/>
              </a:rPr>
              <a:t>Bonding</a:t>
            </a:r>
          </a:p>
        </p:txBody>
      </p:sp>
      <p:sp>
        <p:nvSpPr>
          <p:cNvPr id="122" name="Right Arrow 121"/>
          <p:cNvSpPr/>
          <p:nvPr/>
        </p:nvSpPr>
        <p:spPr>
          <a:xfrm>
            <a:off x="9747504" y="8311896"/>
            <a:ext cx="566928" cy="329184"/>
          </a:xfrm>
          <a:prstGeom prst="rightArrow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3" name="Rounded Rectangle 122"/>
          <p:cNvSpPr/>
          <p:nvPr/>
        </p:nvSpPr>
        <p:spPr>
          <a:xfrm>
            <a:off x="10424160" y="7644383"/>
            <a:ext cx="4663440" cy="1664208"/>
          </a:xfrm>
          <a:prstGeom prst="roundRect">
            <a:avLst>
              <a:gd name="adj" fmla="val 4395"/>
            </a:avLst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10424160" y="7717536"/>
            <a:ext cx="46634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2400" b="1">
                <a:solidFill>
                  <a:srgbClr val="FFFFFF"/>
                </a:solidFill>
                <a:latin typeface="Arial"/>
                <a:ea typeface="Arial"/>
              </a:rPr>
              <a:t>메모리 BEOL 통합조직</a:t>
            </a:r>
          </a:p>
        </p:txBody>
      </p:sp>
      <p:sp>
        <p:nvSpPr>
          <p:cNvPr id="125" name="Oval 124"/>
          <p:cNvSpPr/>
          <p:nvPr/>
        </p:nvSpPr>
        <p:spPr>
          <a:xfrm>
            <a:off x="11785518" y="8193023"/>
            <a:ext cx="144840" cy="1448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6" name="Round Same Side Corner Rectangle 125"/>
          <p:cNvSpPr/>
          <p:nvPr/>
        </p:nvSpPr>
        <p:spPr>
          <a:xfrm>
            <a:off x="11733215" y="8362005"/>
            <a:ext cx="249448" cy="233354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12144695" y="8193023"/>
            <a:ext cx="144840" cy="1448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8" name="Round Same Side Corner Rectangle 127"/>
          <p:cNvSpPr/>
          <p:nvPr/>
        </p:nvSpPr>
        <p:spPr>
          <a:xfrm>
            <a:off x="12092391" y="8362005"/>
            <a:ext cx="249448" cy="233354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12503871" y="8193023"/>
            <a:ext cx="144840" cy="1448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0" name="Round Same Side Corner Rectangle 129"/>
          <p:cNvSpPr/>
          <p:nvPr/>
        </p:nvSpPr>
        <p:spPr>
          <a:xfrm>
            <a:off x="12451567" y="8362005"/>
            <a:ext cx="249448" cy="233354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12863047" y="8193023"/>
            <a:ext cx="144840" cy="1448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2" name="Round Same Side Corner Rectangle 131"/>
          <p:cNvSpPr/>
          <p:nvPr/>
        </p:nvSpPr>
        <p:spPr>
          <a:xfrm>
            <a:off x="12810744" y="8362005"/>
            <a:ext cx="249448" cy="233354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13222224" y="8193023"/>
            <a:ext cx="144840" cy="1448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4" name="Round Same Side Corner Rectangle 133"/>
          <p:cNvSpPr/>
          <p:nvPr/>
        </p:nvSpPr>
        <p:spPr>
          <a:xfrm>
            <a:off x="13169920" y="8362005"/>
            <a:ext cx="249448" cy="233354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13581400" y="8193023"/>
            <a:ext cx="144840" cy="1448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6" name="Round Same Side Corner Rectangle 135"/>
          <p:cNvSpPr/>
          <p:nvPr/>
        </p:nvSpPr>
        <p:spPr>
          <a:xfrm>
            <a:off x="13529096" y="8362005"/>
            <a:ext cx="249448" cy="233354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7" name="Rounded Rectangle 136"/>
          <p:cNvSpPr/>
          <p:nvPr/>
        </p:nvSpPr>
        <p:spPr>
          <a:xfrm>
            <a:off x="10588752" y="8723376"/>
            <a:ext cx="1371600" cy="438912"/>
          </a:xfrm>
          <a:prstGeom prst="roundRect">
            <a:avLst>
              <a:gd name="adj" fmla="val 16666"/>
            </a:avLst>
          </a:prstGeom>
          <a:solidFill>
            <a:srgbClr val="3C4FA5"/>
          </a:solidFill>
          <a:ln w="15875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10588752" y="8723376"/>
            <a:ext cx="13716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</a:rPr>
              <a:t>표준 Layout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12070080" y="8723376"/>
            <a:ext cx="1371600" cy="438912"/>
          </a:xfrm>
          <a:prstGeom prst="roundRect">
            <a:avLst>
              <a:gd name="adj" fmla="val 16666"/>
            </a:avLst>
          </a:prstGeom>
          <a:solidFill>
            <a:srgbClr val="3C4FA5"/>
          </a:solidFill>
          <a:ln w="15875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12070080" y="8723376"/>
            <a:ext cx="13716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</a:rPr>
              <a:t>설비 Pool</a:t>
            </a:r>
          </a:p>
        </p:txBody>
      </p:sp>
      <p:sp>
        <p:nvSpPr>
          <p:cNvPr id="141" name="Rounded Rectangle 140"/>
          <p:cNvSpPr/>
          <p:nvPr/>
        </p:nvSpPr>
        <p:spPr>
          <a:xfrm>
            <a:off x="13551408" y="8723376"/>
            <a:ext cx="1371600" cy="438912"/>
          </a:xfrm>
          <a:prstGeom prst="roundRect">
            <a:avLst>
              <a:gd name="adj" fmla="val 16666"/>
            </a:avLst>
          </a:prstGeom>
          <a:solidFill>
            <a:srgbClr val="3C4FA5"/>
          </a:solidFill>
          <a:ln w="15875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13551408" y="8723376"/>
            <a:ext cx="13716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</a:rPr>
              <a:t>통합 구매</a:t>
            </a:r>
          </a:p>
        </p:txBody>
      </p:sp>
      <p:sp>
        <p:nvSpPr>
          <p:cNvPr id="143" name="Up Arrow 142"/>
          <p:cNvSpPr/>
          <p:nvPr/>
        </p:nvSpPr>
        <p:spPr>
          <a:xfrm>
            <a:off x="11365992" y="7370064"/>
            <a:ext cx="310896" cy="237744"/>
          </a:xfrm>
          <a:prstGeom prst="upArrow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4" name="Up Arrow 143"/>
          <p:cNvSpPr/>
          <p:nvPr/>
        </p:nvSpPr>
        <p:spPr>
          <a:xfrm>
            <a:off x="13834872" y="7370064"/>
            <a:ext cx="310896" cy="237744"/>
          </a:xfrm>
          <a:prstGeom prst="upArrow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11795760" y="7360920"/>
            <a:ext cx="1920239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3C4FA5"/>
                </a:solidFill>
                <a:latin typeface="Arial"/>
                <a:ea typeface="Arial"/>
              </a:rPr>
              <a:t>운영</a:t>
            </a:r>
          </a:p>
        </p:txBody>
      </p:sp>
      <p:cxnSp>
        <p:nvCxnSpPr>
          <p:cNvPr id="146" name="Connector 145"/>
          <p:cNvCxnSpPr/>
          <p:nvPr/>
        </p:nvCxnSpPr>
        <p:spPr>
          <a:xfrm>
            <a:off x="15087600" y="8476488"/>
            <a:ext cx="274320" cy="0"/>
          </a:xfrm>
          <a:prstGeom prst="line">
            <a:avLst/>
          </a:prstGeom>
          <a:ln w="19050">
            <a:solidFill>
              <a:srgbClr val="8A8A8A"/>
            </a:solidFill>
          </a:ln>
        </p:spPr>
      </p:cxnSp>
      <p:sp>
        <p:nvSpPr>
          <p:cNvPr id="147" name="Rounded Rectangle 146"/>
          <p:cNvSpPr/>
          <p:nvPr/>
        </p:nvSpPr>
        <p:spPr>
          <a:xfrm>
            <a:off x="15361920" y="7955279"/>
            <a:ext cx="2203704" cy="1042415"/>
          </a:xfrm>
          <a:prstGeom prst="roundRect">
            <a:avLst>
              <a:gd name="adj" fmla="val 7017"/>
            </a:avLst>
          </a:prstGeom>
          <a:solidFill>
            <a:srgbClr val="FFFFFF"/>
          </a:solidFill>
          <a:ln w="15875">
            <a:solidFill>
              <a:srgbClr val="8A8A8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15361920" y="7955279"/>
            <a:ext cx="2203704" cy="104241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>
                <a:solidFill>
                  <a:srgbClr val="555555"/>
                </a:solidFill>
                <a:latin typeface="Arial"/>
                <a:ea typeface="Arial"/>
              </a:rPr>
              <a:t>산하</a:t>
            </a:r>
          </a:p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1A1A1A"/>
                </a:solidFill>
                <a:latin typeface="Arial"/>
                <a:ea typeface="Arial"/>
              </a:rPr>
              <a:t>반도체연구소</a:t>
            </a:r>
          </a:p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1A1A1A"/>
                </a:solidFill>
                <a:latin typeface="Arial"/>
                <a:ea typeface="Arial"/>
              </a:rPr>
              <a:t>/ MTC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722376" y="9601200"/>
            <a:ext cx="1545335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주: 효과 그림은 방향을 보여 주는 개념도이며 수치는 표기하지 않음. 정량 효과는 Fab별 검증 후 확정 [사내 확인]. 설비 모델 코드는 예시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6468344" y="9601200"/>
            <a:ext cx="10972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1600" b="0">
                <a:solidFill>
                  <a:srgbClr val="555555"/>
                </a:solidFill>
                <a:latin typeface="Arial"/>
                <a:ea typeface="Arial"/>
              </a:rPr>
              <a:t>3 / 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2376" y="365760"/>
            <a:ext cx="109728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3C4FA5"/>
                </a:solidFill>
                <a:latin typeface="Arial"/>
                <a:ea typeface="Arial"/>
              </a:rPr>
              <a:t>Fab 통합 운영</a:t>
            </a:r>
            <a:r>
              <a:rPr sz="1800" b="0">
                <a:solidFill>
                  <a:srgbClr val="555555"/>
                </a:solidFill>
                <a:latin typeface="Arial"/>
                <a:ea typeface="Arial"/>
              </a:rPr>
              <a:t>   4 / 6  시안 4 · 아이소메트릭 컬러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9224" y="365760"/>
            <a:ext cx="54864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1800" b="0">
                <a:solidFill>
                  <a:srgbClr val="555555"/>
                </a:solidFill>
                <a:latin typeface="Arial"/>
                <a:ea typeface="Arial"/>
              </a:rPr>
              <a:t>[문서등급 표기]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2376" y="786384"/>
            <a:ext cx="16843248" cy="10241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1A1A1A"/>
                </a:solidFill>
                <a:latin typeface="Arial"/>
                <a:ea typeface="Arial"/>
              </a:rPr>
              <a:t>DRAM/NAND Fab 통합 운영:</a:t>
            </a:r>
          </a:p>
          <a:p>
            <a:pPr algn="l">
              <a:lnSpc>
                <a:spcPct val="105000"/>
              </a:lnSpc>
            </a:pPr>
            <a:r>
              <a:rPr sz="3200" b="1">
                <a:solidFill>
                  <a:srgbClr val="1A1A1A"/>
                </a:solidFill>
                <a:latin typeface="Arial"/>
                <a:ea typeface="Arial"/>
              </a:rPr>
              <a:t>Bonding 시대에 맞는 Common Platform 구성</a:t>
            </a:r>
          </a:p>
        </p:txBody>
      </p:sp>
      <p:sp>
        <p:nvSpPr>
          <p:cNvPr id="5" name="Rectangle 4"/>
          <p:cNvSpPr/>
          <p:nvPr/>
        </p:nvSpPr>
        <p:spPr>
          <a:xfrm>
            <a:off x="722376" y="1938528"/>
            <a:ext cx="16843248" cy="18288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rapezoid 5"/>
          <p:cNvSpPr/>
          <p:nvPr/>
        </p:nvSpPr>
        <p:spPr>
          <a:xfrm>
            <a:off x="722376" y="2084831"/>
            <a:ext cx="16843248" cy="640080"/>
          </a:xfrm>
          <a:prstGeom prst="trapezoid">
            <a:avLst>
              <a:gd name="adj" fmla="val 55000"/>
            </a:avLst>
          </a:prstGeom>
          <a:solidFill>
            <a:srgbClr val="2633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185416" y="2084831"/>
            <a:ext cx="13917168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800" b="0">
                <a:solidFill>
                  <a:srgbClr val="AEB8E0"/>
                </a:solidFill>
                <a:latin typeface="Arial"/>
                <a:ea typeface="Arial"/>
              </a:rPr>
              <a:t>종합 반도체 경쟁력  </a:t>
            </a:r>
            <a:r>
              <a:rPr sz="2400" b="1">
                <a:solidFill>
                  <a:srgbClr val="FFFFFF"/>
                </a:solidFill>
                <a:latin typeface="Arial"/>
                <a:ea typeface="Arial"/>
              </a:rPr>
              <a:t>기술·생산 경쟁력 + 효율·유연성 + </a:t>
            </a:r>
            <a:r>
              <a:rPr sz="2400" b="1">
                <a:solidFill>
                  <a:srgbClr val="F6C46B"/>
                </a:solidFill>
                <a:latin typeface="Arial"/>
                <a:ea typeface="Arial"/>
              </a:rPr>
              <a:t>Buying Power</a:t>
            </a:r>
          </a:p>
        </p:txBody>
      </p:sp>
      <p:sp>
        <p:nvSpPr>
          <p:cNvPr id="8" name="Rectangle 7"/>
          <p:cNvSpPr/>
          <p:nvPr/>
        </p:nvSpPr>
        <p:spPr>
          <a:xfrm>
            <a:off x="996696" y="2816352"/>
            <a:ext cx="5175504" cy="2231136"/>
          </a:xfrm>
          <a:prstGeom prst="rect">
            <a:avLst/>
          </a:prstGeom>
          <a:solidFill>
            <a:srgbClr val="F0F2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96696" y="2816352"/>
            <a:ext cx="5175504" cy="54864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61288" y="2944368"/>
            <a:ext cx="365760" cy="365760"/>
          </a:xfrm>
          <a:prstGeom prst="ellipse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61288" y="2944368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36776" y="2907792"/>
            <a:ext cx="438912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1A1A1A"/>
                </a:solidFill>
                <a:latin typeface="Arial"/>
                <a:ea typeface="Arial"/>
              </a:rPr>
              <a:t>공간 효율성</a:t>
            </a:r>
            <a:r>
              <a:rPr sz="1600" b="0">
                <a:solidFill>
                  <a:srgbClr val="3C4FA5"/>
                </a:solidFill>
                <a:latin typeface="Arial"/>
                <a:ea typeface="Arial"/>
              </a:rPr>
              <a:t>  Space Efficiency</a:t>
            </a:r>
          </a:p>
        </p:txBody>
      </p:sp>
      <p:pic>
        <p:nvPicPr>
          <p:cNvPr id="13" name="Picture 12" descr="c1_spa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1288" y="3364992"/>
            <a:ext cx="4846320" cy="1645919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996696" y="5120640"/>
            <a:ext cx="5175504" cy="457200"/>
          </a:xfrm>
          <a:prstGeom prst="rect">
            <a:avLst/>
          </a:prstGeom>
          <a:solidFill>
            <a:srgbClr val="FFFFFF"/>
          </a:solidFill>
          <a:ln w="15875">
            <a:solidFill>
              <a:srgbClr val="C0CAE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97864" y="5120640"/>
            <a:ext cx="48463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3C4FA5"/>
                </a:solidFill>
                <a:latin typeface="Arial"/>
                <a:ea typeface="Arial"/>
              </a:rPr>
              <a:t>설비 밀집도 향상</a:t>
            </a:r>
            <a:r>
              <a:rPr sz="1800" b="0">
                <a:solidFill>
                  <a:srgbClr val="1A1A1A"/>
                </a:solidFill>
                <a:latin typeface="Arial"/>
                <a:ea typeface="Arial"/>
              </a:rPr>
              <a:t>, Dead Space 최소화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96696" y="5632704"/>
            <a:ext cx="5175504" cy="457200"/>
          </a:xfrm>
          <a:prstGeom prst="rect">
            <a:avLst/>
          </a:prstGeom>
          <a:solidFill>
            <a:srgbClr val="FFFFFF"/>
          </a:solidFill>
          <a:ln w="15875">
            <a:solidFill>
              <a:srgbClr val="C0CAE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97864" y="5632704"/>
            <a:ext cx="48463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3C4FA5"/>
                </a:solidFill>
                <a:latin typeface="Arial"/>
                <a:ea typeface="Arial"/>
              </a:rPr>
              <a:t>동일 모델 군집화</a:t>
            </a:r>
            <a:r>
              <a:rPr sz="1800" b="0">
                <a:solidFill>
                  <a:srgbClr val="1A1A1A"/>
                </a:solidFill>
                <a:latin typeface="Arial"/>
                <a:ea typeface="Arial"/>
              </a:rPr>
              <a:t> 시너지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96696" y="6144768"/>
            <a:ext cx="5175504" cy="457200"/>
          </a:xfrm>
          <a:prstGeom prst="rect">
            <a:avLst/>
          </a:prstGeom>
          <a:solidFill>
            <a:srgbClr val="FFFFFF"/>
          </a:solidFill>
          <a:ln w="15875">
            <a:solidFill>
              <a:srgbClr val="C0CAE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97864" y="6144768"/>
            <a:ext cx="48463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3C4FA5"/>
                </a:solidFill>
                <a:latin typeface="Arial"/>
                <a:ea typeface="Arial"/>
              </a:rPr>
              <a:t>단위 면적당 생산성</a:t>
            </a:r>
            <a:r>
              <a:rPr sz="1800" b="0">
                <a:solidFill>
                  <a:srgbClr val="1A1A1A"/>
                </a:solidFill>
                <a:latin typeface="Arial"/>
                <a:ea typeface="Arial"/>
              </a:rPr>
              <a:t> 극대화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56248" y="2816352"/>
            <a:ext cx="5175504" cy="2231136"/>
          </a:xfrm>
          <a:prstGeom prst="rect">
            <a:avLst/>
          </a:prstGeom>
          <a:solidFill>
            <a:srgbClr val="E8F5F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56248" y="2816352"/>
            <a:ext cx="5175504" cy="54864"/>
          </a:xfrm>
          <a:prstGeom prst="rect">
            <a:avLst/>
          </a:prstGeom>
          <a:solidFill>
            <a:srgbClr val="1E8C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720840" y="2944368"/>
            <a:ext cx="365760" cy="365760"/>
          </a:xfrm>
          <a:prstGeom prst="ellipse">
            <a:avLst/>
          </a:prstGeom>
          <a:solidFill>
            <a:srgbClr val="1E8C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20840" y="2944368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96328" y="2907792"/>
            <a:ext cx="438912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1A1A1A"/>
                </a:solidFill>
                <a:latin typeface="Arial"/>
                <a:ea typeface="Arial"/>
              </a:rPr>
              <a:t>시황 변화 대응력</a:t>
            </a:r>
            <a:r>
              <a:rPr sz="1600" b="0">
                <a:solidFill>
                  <a:srgbClr val="1E8C8C"/>
                </a:solidFill>
                <a:latin typeface="Arial"/>
                <a:ea typeface="Arial"/>
              </a:rPr>
              <a:t>  Market Agility</a:t>
            </a:r>
          </a:p>
        </p:txBody>
      </p:sp>
      <p:pic>
        <p:nvPicPr>
          <p:cNvPr id="25" name="Picture 24" descr="c1_agil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3364992"/>
            <a:ext cx="4846320" cy="1645919"/>
          </a:xfrm>
          <a:prstGeom prst="rect">
            <a:avLst/>
          </a:prstGeom>
        </p:spPr>
      </p:pic>
      <p:sp>
        <p:nvSpPr>
          <p:cNvPr id="26" name="Rectangle 25"/>
          <p:cNvSpPr/>
          <p:nvPr/>
        </p:nvSpPr>
        <p:spPr>
          <a:xfrm>
            <a:off x="6556248" y="5120640"/>
            <a:ext cx="5175504" cy="457200"/>
          </a:xfrm>
          <a:prstGeom prst="rect">
            <a:avLst/>
          </a:prstGeom>
          <a:solidFill>
            <a:srgbClr val="FFFFFF"/>
          </a:solidFill>
          <a:ln w="15875">
            <a:solidFill>
              <a:srgbClr val="A9DCD7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57416" y="5120640"/>
            <a:ext cx="48463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E8C8C"/>
                </a:solidFill>
                <a:latin typeface="Arial"/>
                <a:ea typeface="Arial"/>
              </a:rPr>
              <a:t>DRAM/NAND 설비 전환</a:t>
            </a:r>
            <a:r>
              <a:rPr sz="1800" b="0">
                <a:solidFill>
                  <a:srgbClr val="1A1A1A"/>
                </a:solidFill>
                <a:latin typeface="Arial"/>
                <a:ea typeface="Arial"/>
              </a:rPr>
              <a:t> 속도 증가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56248" y="5632704"/>
            <a:ext cx="5175504" cy="457200"/>
          </a:xfrm>
          <a:prstGeom prst="rect">
            <a:avLst/>
          </a:prstGeom>
          <a:solidFill>
            <a:srgbClr val="FFFFFF"/>
          </a:solidFill>
          <a:ln w="15875">
            <a:solidFill>
              <a:srgbClr val="A9DCD7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57416" y="5632704"/>
            <a:ext cx="48463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E8C8C"/>
                </a:solidFill>
                <a:latin typeface="Arial"/>
                <a:ea typeface="Arial"/>
              </a:rPr>
              <a:t>생산 Bottleneck 해소</a:t>
            </a:r>
            <a:r>
              <a:rPr sz="1800" b="0">
                <a:solidFill>
                  <a:srgbClr val="1A1A1A"/>
                </a:solidFill>
                <a:latin typeface="Arial"/>
                <a:ea typeface="Arial"/>
              </a:rPr>
              <a:t>로 생산성 증가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56248" y="6144768"/>
            <a:ext cx="5175504" cy="457200"/>
          </a:xfrm>
          <a:prstGeom prst="rect">
            <a:avLst/>
          </a:prstGeom>
          <a:solidFill>
            <a:srgbClr val="FFFFFF"/>
          </a:solidFill>
          <a:ln w="15875">
            <a:solidFill>
              <a:srgbClr val="A9DCD7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757416" y="6144768"/>
            <a:ext cx="48463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E8C8C"/>
                </a:solidFill>
                <a:latin typeface="Arial"/>
                <a:ea typeface="Arial"/>
              </a:rPr>
              <a:t>유휴 설비 최소화</a:t>
            </a:r>
            <a:r>
              <a:rPr sz="1800" b="0">
                <a:solidFill>
                  <a:srgbClr val="1A1A1A"/>
                </a:solidFill>
                <a:latin typeface="Arial"/>
                <a:ea typeface="Arial"/>
              </a:rPr>
              <a:t>, 투자 회수 기간 단축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2115800" y="2816352"/>
            <a:ext cx="5175504" cy="2231136"/>
          </a:xfrm>
          <a:prstGeom prst="rect">
            <a:avLst/>
          </a:prstGeom>
          <a:solidFill>
            <a:srgbClr val="F1EE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2115800" y="2816352"/>
            <a:ext cx="5175504" cy="54864"/>
          </a:xfrm>
          <a:prstGeom prst="rect">
            <a:avLst/>
          </a:prstGeom>
          <a:solidFill>
            <a:srgbClr val="6E56B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2280392" y="2944368"/>
            <a:ext cx="365760" cy="365760"/>
          </a:xfrm>
          <a:prstGeom prst="ellipse">
            <a:avLst/>
          </a:prstGeom>
          <a:solidFill>
            <a:srgbClr val="6E56B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2280392" y="2944368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755880" y="2907792"/>
            <a:ext cx="438912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1A1A1A"/>
                </a:solidFill>
                <a:latin typeface="Arial"/>
                <a:ea typeface="Arial"/>
              </a:rPr>
              <a:t>설비 통일성·선단화</a:t>
            </a:r>
            <a:r>
              <a:rPr sz="1600" b="0">
                <a:solidFill>
                  <a:srgbClr val="6E56B0"/>
                </a:solidFill>
                <a:latin typeface="Arial"/>
                <a:ea typeface="Arial"/>
              </a:rPr>
              <a:t>  Equipment Unif.</a:t>
            </a:r>
          </a:p>
        </p:txBody>
      </p:sp>
      <p:pic>
        <p:nvPicPr>
          <p:cNvPr id="37" name="Picture 36" descr="c1_uni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280392" y="3364992"/>
            <a:ext cx="4846320" cy="1645919"/>
          </a:xfrm>
          <a:prstGeom prst="rect">
            <a:avLst/>
          </a:prstGeom>
        </p:spPr>
      </p:pic>
      <p:sp>
        <p:nvSpPr>
          <p:cNvPr id="38" name="Rectangle 37"/>
          <p:cNvSpPr/>
          <p:nvPr/>
        </p:nvSpPr>
        <p:spPr>
          <a:xfrm>
            <a:off x="12115800" y="5120640"/>
            <a:ext cx="5175504" cy="457200"/>
          </a:xfrm>
          <a:prstGeom prst="rect">
            <a:avLst/>
          </a:prstGeom>
          <a:solidFill>
            <a:srgbClr val="FFFFFF"/>
          </a:solidFill>
          <a:ln w="15875">
            <a:solidFill>
              <a:srgbClr val="D3CAE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16968" y="5120640"/>
            <a:ext cx="48463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6E56B0"/>
                </a:solidFill>
                <a:latin typeface="Arial"/>
                <a:ea typeface="Arial"/>
              </a:rPr>
              <a:t>P-Mix 관점 </a:t>
            </a:r>
            <a:r>
              <a:rPr sz="1800" b="0">
                <a:solidFill>
                  <a:srgbClr val="1A1A1A"/>
                </a:solidFill>
                <a:latin typeface="Arial"/>
                <a:ea typeface="Arial"/>
              </a:rPr>
              <a:t>투자·전환 Loss 감소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2115800" y="5632704"/>
            <a:ext cx="5175504" cy="457200"/>
          </a:xfrm>
          <a:prstGeom prst="rect">
            <a:avLst/>
          </a:prstGeom>
          <a:solidFill>
            <a:srgbClr val="FFFFFF"/>
          </a:solidFill>
          <a:ln w="15875">
            <a:solidFill>
              <a:srgbClr val="D3CAE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2316968" y="5632704"/>
            <a:ext cx="48463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6E56B0"/>
                </a:solidFill>
                <a:latin typeface="Arial"/>
                <a:ea typeface="Arial"/>
              </a:rPr>
              <a:t>생산성 향상</a:t>
            </a:r>
            <a:r>
              <a:rPr sz="1800" b="0">
                <a:solidFill>
                  <a:srgbClr val="1A1A1A"/>
                </a:solidFill>
                <a:latin typeface="Arial"/>
                <a:ea typeface="Arial"/>
              </a:rPr>
              <a:t>, 수율 안정화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2115800" y="6144768"/>
            <a:ext cx="5175504" cy="457200"/>
          </a:xfrm>
          <a:prstGeom prst="rect">
            <a:avLst/>
          </a:prstGeom>
          <a:solidFill>
            <a:srgbClr val="FFFFFF"/>
          </a:solidFill>
          <a:ln w="15875">
            <a:solidFill>
              <a:srgbClr val="D3CAE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2316968" y="6144768"/>
            <a:ext cx="48463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6E56B0"/>
                </a:solidFill>
                <a:latin typeface="Arial"/>
                <a:ea typeface="Arial"/>
              </a:rPr>
              <a:t>강력한 구매 협상력</a:t>
            </a:r>
            <a:r>
              <a:rPr sz="1800" b="0">
                <a:solidFill>
                  <a:srgbClr val="1A1A1A"/>
                </a:solidFill>
                <a:latin typeface="Arial"/>
                <a:ea typeface="Arial"/>
              </a:rPr>
              <a:t> 확보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88136" y="6711696"/>
            <a:ext cx="109728" cy="73152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460275" y="6711696"/>
            <a:ext cx="109728" cy="73152"/>
          </a:xfrm>
          <a:prstGeom prst="rect">
            <a:avLst/>
          </a:prstGeom>
          <a:solidFill>
            <a:srgbClr val="1E8C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832415" y="6711696"/>
            <a:ext cx="109728" cy="73152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2204554" y="6711696"/>
            <a:ext cx="109728" cy="73152"/>
          </a:xfrm>
          <a:prstGeom prst="rect">
            <a:avLst/>
          </a:prstGeom>
          <a:solidFill>
            <a:srgbClr val="1E8C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2576694" y="6711696"/>
            <a:ext cx="109728" cy="73152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2948833" y="6711696"/>
            <a:ext cx="109728" cy="73152"/>
          </a:xfrm>
          <a:prstGeom prst="rect">
            <a:avLst/>
          </a:prstGeom>
          <a:solidFill>
            <a:srgbClr val="1E8C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3320973" y="6711696"/>
            <a:ext cx="109728" cy="73152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3693112" y="6711696"/>
            <a:ext cx="109728" cy="73152"/>
          </a:xfrm>
          <a:prstGeom prst="rect">
            <a:avLst/>
          </a:prstGeom>
          <a:solidFill>
            <a:srgbClr val="1E8C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4065252" y="6711696"/>
            <a:ext cx="109728" cy="73152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437391" y="6711696"/>
            <a:ext cx="109728" cy="73152"/>
          </a:xfrm>
          <a:prstGeom prst="rect">
            <a:avLst/>
          </a:prstGeom>
          <a:solidFill>
            <a:srgbClr val="1E8C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4809531" y="6711696"/>
            <a:ext cx="109728" cy="73152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181670" y="6711696"/>
            <a:ext cx="109728" cy="73152"/>
          </a:xfrm>
          <a:prstGeom prst="rect">
            <a:avLst/>
          </a:prstGeom>
          <a:solidFill>
            <a:srgbClr val="1E8C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5553810" y="6711696"/>
            <a:ext cx="109728" cy="73152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5925949" y="6711696"/>
            <a:ext cx="109728" cy="73152"/>
          </a:xfrm>
          <a:prstGeom prst="rect">
            <a:avLst/>
          </a:prstGeom>
          <a:solidFill>
            <a:srgbClr val="1E8C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6298089" y="6711696"/>
            <a:ext cx="109728" cy="73152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6670229" y="6711696"/>
            <a:ext cx="109728" cy="73152"/>
          </a:xfrm>
          <a:prstGeom prst="rect">
            <a:avLst/>
          </a:prstGeom>
          <a:solidFill>
            <a:srgbClr val="1E8C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042368" y="6711696"/>
            <a:ext cx="109728" cy="73152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414508" y="6711696"/>
            <a:ext cx="109728" cy="73152"/>
          </a:xfrm>
          <a:prstGeom prst="rect">
            <a:avLst/>
          </a:prstGeom>
          <a:solidFill>
            <a:srgbClr val="1E8C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786647" y="6711696"/>
            <a:ext cx="109728" cy="73152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8158787" y="6711696"/>
            <a:ext cx="109728" cy="73152"/>
          </a:xfrm>
          <a:prstGeom prst="rect">
            <a:avLst/>
          </a:prstGeom>
          <a:solidFill>
            <a:srgbClr val="1E8C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8530926" y="6711696"/>
            <a:ext cx="109728" cy="73152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8903066" y="6711696"/>
            <a:ext cx="109728" cy="73152"/>
          </a:xfrm>
          <a:prstGeom prst="rect">
            <a:avLst/>
          </a:prstGeom>
          <a:solidFill>
            <a:srgbClr val="1E8C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9275205" y="6711696"/>
            <a:ext cx="109728" cy="73152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9647345" y="6711696"/>
            <a:ext cx="109728" cy="73152"/>
          </a:xfrm>
          <a:prstGeom prst="rect">
            <a:avLst/>
          </a:prstGeom>
          <a:solidFill>
            <a:srgbClr val="1E8C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0019484" y="6711696"/>
            <a:ext cx="109728" cy="73152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10391624" y="6711696"/>
            <a:ext cx="109728" cy="73152"/>
          </a:xfrm>
          <a:prstGeom prst="rect">
            <a:avLst/>
          </a:prstGeom>
          <a:solidFill>
            <a:srgbClr val="1E8C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10763763" y="6711696"/>
            <a:ext cx="109728" cy="73152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11135903" y="6711696"/>
            <a:ext cx="109728" cy="73152"/>
          </a:xfrm>
          <a:prstGeom prst="rect">
            <a:avLst/>
          </a:prstGeom>
          <a:solidFill>
            <a:srgbClr val="1E8C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11508042" y="6711696"/>
            <a:ext cx="109728" cy="73152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11880182" y="6711696"/>
            <a:ext cx="109728" cy="73152"/>
          </a:xfrm>
          <a:prstGeom prst="rect">
            <a:avLst/>
          </a:prstGeom>
          <a:solidFill>
            <a:srgbClr val="1E8C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12252322" y="6711696"/>
            <a:ext cx="109728" cy="73152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12624461" y="6711696"/>
            <a:ext cx="109728" cy="73152"/>
          </a:xfrm>
          <a:prstGeom prst="rect">
            <a:avLst/>
          </a:prstGeom>
          <a:solidFill>
            <a:srgbClr val="1E8C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2996601" y="6711696"/>
            <a:ext cx="109728" cy="73152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13368740" y="6711696"/>
            <a:ext cx="109728" cy="73152"/>
          </a:xfrm>
          <a:prstGeom prst="rect">
            <a:avLst/>
          </a:prstGeom>
          <a:solidFill>
            <a:srgbClr val="1E8C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13740880" y="6711696"/>
            <a:ext cx="109728" cy="73152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14113019" y="6711696"/>
            <a:ext cx="109728" cy="73152"/>
          </a:xfrm>
          <a:prstGeom prst="rect">
            <a:avLst/>
          </a:prstGeom>
          <a:solidFill>
            <a:srgbClr val="1E8C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14485159" y="6711696"/>
            <a:ext cx="109728" cy="73152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14857298" y="6711696"/>
            <a:ext cx="109728" cy="73152"/>
          </a:xfrm>
          <a:prstGeom prst="rect">
            <a:avLst/>
          </a:prstGeom>
          <a:solidFill>
            <a:srgbClr val="1E8C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15229438" y="6711696"/>
            <a:ext cx="109728" cy="73152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15601577" y="6711696"/>
            <a:ext cx="109728" cy="73152"/>
          </a:xfrm>
          <a:prstGeom prst="rect">
            <a:avLst/>
          </a:prstGeom>
          <a:solidFill>
            <a:srgbClr val="1E8C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5973717" y="6711696"/>
            <a:ext cx="109728" cy="73152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6345856" y="6711696"/>
            <a:ext cx="109728" cy="73152"/>
          </a:xfrm>
          <a:prstGeom prst="rect">
            <a:avLst/>
          </a:prstGeom>
          <a:solidFill>
            <a:srgbClr val="1E8C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6717996" y="6711696"/>
            <a:ext cx="109728" cy="73152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17090136" y="6711696"/>
            <a:ext cx="109728" cy="73152"/>
          </a:xfrm>
          <a:prstGeom prst="rect">
            <a:avLst/>
          </a:prstGeom>
          <a:solidFill>
            <a:srgbClr val="1E8C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996696" y="6803136"/>
            <a:ext cx="16294608" cy="512064"/>
          </a:xfrm>
          <a:prstGeom prst="rect">
            <a:avLst/>
          </a:prstGeom>
          <a:solidFill>
            <a:srgbClr val="2633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271016" y="6803136"/>
            <a:ext cx="15745967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2200" b="1">
                <a:solidFill>
                  <a:srgbClr val="FFFFFF"/>
                </a:solidFill>
                <a:latin typeface="Arial"/>
                <a:ea typeface="Arial"/>
              </a:rPr>
              <a:t>Common Platform   </a:t>
            </a:r>
            <a:r>
              <a:rPr sz="2000" b="0">
                <a:solidFill>
                  <a:srgbClr val="FFFFFF"/>
                </a:solidFill>
                <a:latin typeface="Arial"/>
                <a:ea typeface="Arial"/>
              </a:rPr>
              <a:t>DRAM·NAND 공용 BEOL · Bonding 공정 · 설비 Pool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722376" y="7662672"/>
            <a:ext cx="1554480" cy="420624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 w="19050">
            <a:solidFill>
              <a:srgbClr val="26336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722376" y="7662672"/>
            <a:ext cx="15544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>
                <a:solidFill>
                  <a:srgbClr val="26336E"/>
                </a:solidFill>
                <a:latin typeface="Arial"/>
                <a:ea typeface="Arial"/>
              </a:rPr>
              <a:t>운영 제언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" y="8211312"/>
            <a:ext cx="3383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>
                <a:solidFill>
                  <a:srgbClr val="1A1A1A"/>
                </a:solidFill>
                <a:latin typeface="Arial"/>
                <a:ea typeface="Arial"/>
              </a:rPr>
              <a:t>메모리 BEOL</a:t>
            </a:r>
          </a:p>
          <a:p>
            <a:pPr algn="l">
              <a:lnSpc>
                <a:spcPct val="105000"/>
              </a:lnSpc>
            </a:pPr>
            <a:r>
              <a:rPr sz="2600" b="1">
                <a:solidFill>
                  <a:srgbClr val="1A1A1A"/>
                </a:solidFill>
                <a:latin typeface="Arial"/>
                <a:ea typeface="Arial"/>
              </a:rPr>
              <a:t>통합조직 구성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4480560" y="7644383"/>
            <a:ext cx="4023360" cy="585216"/>
          </a:xfrm>
          <a:prstGeom prst="roundRect">
            <a:avLst>
              <a:gd name="adj" fmla="val 12500"/>
            </a:avLst>
          </a:prstGeom>
          <a:solidFill>
            <a:srgbClr val="E9ECF8"/>
          </a:solidFill>
          <a:ln w="12700">
            <a:solidFill>
              <a:srgbClr val="3C4FA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4731654" y="7754111"/>
            <a:ext cx="138257" cy="138257"/>
          </a:xfrm>
          <a:prstGeom prst="ellipse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5" name="Round Same Side Corner Rectangle 94"/>
          <p:cNvSpPr/>
          <p:nvPr/>
        </p:nvSpPr>
        <p:spPr>
          <a:xfrm>
            <a:off x="4681728" y="7915412"/>
            <a:ext cx="238109" cy="222747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5042916" y="7754111"/>
            <a:ext cx="138257" cy="138257"/>
          </a:xfrm>
          <a:prstGeom prst="ellipse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7" name="Round Same Side Corner Rectangle 96"/>
          <p:cNvSpPr/>
          <p:nvPr/>
        </p:nvSpPr>
        <p:spPr>
          <a:xfrm>
            <a:off x="4992989" y="7915412"/>
            <a:ext cx="238109" cy="222747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5354177" y="7754111"/>
            <a:ext cx="138257" cy="138257"/>
          </a:xfrm>
          <a:prstGeom prst="ellipse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9" name="Round Same Side Corner Rectangle 98"/>
          <p:cNvSpPr/>
          <p:nvPr/>
        </p:nvSpPr>
        <p:spPr>
          <a:xfrm>
            <a:off x="5304251" y="7915412"/>
            <a:ext cx="238109" cy="222747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5760720" y="7644383"/>
            <a:ext cx="265176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A1A1A"/>
                </a:solidFill>
                <a:latin typeface="Arial"/>
                <a:ea typeface="Arial"/>
              </a:rPr>
              <a:t>DRAM BEOL 조직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4480560" y="8723376"/>
            <a:ext cx="4023360" cy="585216"/>
          </a:xfrm>
          <a:prstGeom prst="roundRect">
            <a:avLst>
              <a:gd name="adj" fmla="val 12500"/>
            </a:avLst>
          </a:prstGeom>
          <a:solidFill>
            <a:srgbClr val="E3F3F1"/>
          </a:solidFill>
          <a:ln w="12700">
            <a:solidFill>
              <a:srgbClr val="1E8C8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4731654" y="8833103"/>
            <a:ext cx="138257" cy="138257"/>
          </a:xfrm>
          <a:prstGeom prst="ellipse">
            <a:avLst/>
          </a:prstGeom>
          <a:solidFill>
            <a:srgbClr val="1E8C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3" name="Round Same Side Corner Rectangle 102"/>
          <p:cNvSpPr/>
          <p:nvPr/>
        </p:nvSpPr>
        <p:spPr>
          <a:xfrm>
            <a:off x="4681728" y="8994404"/>
            <a:ext cx="238109" cy="222747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1E8C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5042916" y="8833103"/>
            <a:ext cx="138257" cy="138257"/>
          </a:xfrm>
          <a:prstGeom prst="ellipse">
            <a:avLst/>
          </a:prstGeom>
          <a:solidFill>
            <a:srgbClr val="1E8C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5" name="Round Same Side Corner Rectangle 104"/>
          <p:cNvSpPr/>
          <p:nvPr/>
        </p:nvSpPr>
        <p:spPr>
          <a:xfrm>
            <a:off x="4992989" y="8994404"/>
            <a:ext cx="238109" cy="222747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1E8C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5354177" y="8833103"/>
            <a:ext cx="138257" cy="138257"/>
          </a:xfrm>
          <a:prstGeom prst="ellipse">
            <a:avLst/>
          </a:prstGeom>
          <a:solidFill>
            <a:srgbClr val="1E8C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7" name="Round Same Side Corner Rectangle 106"/>
          <p:cNvSpPr/>
          <p:nvPr/>
        </p:nvSpPr>
        <p:spPr>
          <a:xfrm>
            <a:off x="5304251" y="8994404"/>
            <a:ext cx="238109" cy="222747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1E8C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5760720" y="8723376"/>
            <a:ext cx="265176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A1A1A"/>
                </a:solidFill>
                <a:latin typeface="Arial"/>
                <a:ea typeface="Arial"/>
              </a:rPr>
              <a:t>NAND BEOL 조직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4754880" y="8321040"/>
            <a:ext cx="109728" cy="310896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5060788" y="8321040"/>
            <a:ext cx="109728" cy="310896"/>
          </a:xfrm>
          <a:prstGeom prst="rect">
            <a:avLst/>
          </a:prstGeom>
          <a:solidFill>
            <a:srgbClr val="1E8C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5366696" y="8321040"/>
            <a:ext cx="109728" cy="310896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5672605" y="8321040"/>
            <a:ext cx="109728" cy="310896"/>
          </a:xfrm>
          <a:prstGeom prst="rect">
            <a:avLst/>
          </a:prstGeom>
          <a:solidFill>
            <a:srgbClr val="1E8C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5978513" y="8321040"/>
            <a:ext cx="109728" cy="310896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6284421" y="8321040"/>
            <a:ext cx="109728" cy="310896"/>
          </a:xfrm>
          <a:prstGeom prst="rect">
            <a:avLst/>
          </a:prstGeom>
          <a:solidFill>
            <a:srgbClr val="1E8C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6590330" y="8321040"/>
            <a:ext cx="109728" cy="310896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6896238" y="8321040"/>
            <a:ext cx="109728" cy="310896"/>
          </a:xfrm>
          <a:prstGeom prst="rect">
            <a:avLst/>
          </a:prstGeom>
          <a:solidFill>
            <a:srgbClr val="1E8C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7202146" y="8321040"/>
            <a:ext cx="109728" cy="310896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7508055" y="8321040"/>
            <a:ext cx="109728" cy="310896"/>
          </a:xfrm>
          <a:prstGeom prst="rect">
            <a:avLst/>
          </a:prstGeom>
          <a:solidFill>
            <a:srgbClr val="1E8C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7813963" y="8321040"/>
            <a:ext cx="109728" cy="310896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8119872" y="8321040"/>
            <a:ext cx="109728" cy="310896"/>
          </a:xfrm>
          <a:prstGeom prst="rect">
            <a:avLst/>
          </a:prstGeom>
          <a:solidFill>
            <a:srgbClr val="1E8C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8613648" y="8302752"/>
            <a:ext cx="109728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26336E"/>
                </a:solidFill>
                <a:latin typeface="Arial"/>
                <a:ea typeface="Arial"/>
              </a:rPr>
              <a:t>Bonding</a:t>
            </a:r>
          </a:p>
        </p:txBody>
      </p:sp>
      <p:sp>
        <p:nvSpPr>
          <p:cNvPr id="122" name="Right Arrow 121"/>
          <p:cNvSpPr/>
          <p:nvPr/>
        </p:nvSpPr>
        <p:spPr>
          <a:xfrm>
            <a:off x="9747504" y="8311896"/>
            <a:ext cx="566928" cy="329184"/>
          </a:xfrm>
          <a:prstGeom prst="rightArrow">
            <a:avLst/>
          </a:prstGeom>
          <a:solidFill>
            <a:srgbClr val="E39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3" name="Rounded Rectangle 122"/>
          <p:cNvSpPr/>
          <p:nvPr/>
        </p:nvSpPr>
        <p:spPr>
          <a:xfrm>
            <a:off x="10424160" y="7644383"/>
            <a:ext cx="4663440" cy="1664208"/>
          </a:xfrm>
          <a:prstGeom prst="roundRect">
            <a:avLst>
              <a:gd name="adj" fmla="val 4395"/>
            </a:avLst>
          </a:prstGeom>
          <a:solidFill>
            <a:srgbClr val="2633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10424160" y="7717536"/>
            <a:ext cx="46634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2400" b="1">
                <a:solidFill>
                  <a:srgbClr val="FFFFFF"/>
                </a:solidFill>
                <a:latin typeface="Arial"/>
                <a:ea typeface="Arial"/>
              </a:rPr>
              <a:t>메모리 BEOL 통합조직</a:t>
            </a:r>
          </a:p>
        </p:txBody>
      </p:sp>
      <p:sp>
        <p:nvSpPr>
          <p:cNvPr id="125" name="Oval 124"/>
          <p:cNvSpPr/>
          <p:nvPr/>
        </p:nvSpPr>
        <p:spPr>
          <a:xfrm>
            <a:off x="11785518" y="8193023"/>
            <a:ext cx="144840" cy="1448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6" name="Round Same Side Corner Rectangle 125"/>
          <p:cNvSpPr/>
          <p:nvPr/>
        </p:nvSpPr>
        <p:spPr>
          <a:xfrm>
            <a:off x="11733215" y="8362005"/>
            <a:ext cx="249448" cy="233354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12144695" y="8193023"/>
            <a:ext cx="144840" cy="1448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8" name="Round Same Side Corner Rectangle 127"/>
          <p:cNvSpPr/>
          <p:nvPr/>
        </p:nvSpPr>
        <p:spPr>
          <a:xfrm>
            <a:off x="12092391" y="8362005"/>
            <a:ext cx="249448" cy="233354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12503871" y="8193023"/>
            <a:ext cx="144840" cy="1448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0" name="Round Same Side Corner Rectangle 129"/>
          <p:cNvSpPr/>
          <p:nvPr/>
        </p:nvSpPr>
        <p:spPr>
          <a:xfrm>
            <a:off x="12451567" y="8362005"/>
            <a:ext cx="249448" cy="233354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12863047" y="8193023"/>
            <a:ext cx="144840" cy="1448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2" name="Round Same Side Corner Rectangle 131"/>
          <p:cNvSpPr/>
          <p:nvPr/>
        </p:nvSpPr>
        <p:spPr>
          <a:xfrm>
            <a:off x="12810744" y="8362005"/>
            <a:ext cx="249448" cy="233354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13222224" y="8193023"/>
            <a:ext cx="144840" cy="1448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4" name="Round Same Side Corner Rectangle 133"/>
          <p:cNvSpPr/>
          <p:nvPr/>
        </p:nvSpPr>
        <p:spPr>
          <a:xfrm>
            <a:off x="13169920" y="8362005"/>
            <a:ext cx="249448" cy="233354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13581400" y="8193023"/>
            <a:ext cx="144840" cy="1448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6" name="Round Same Side Corner Rectangle 135"/>
          <p:cNvSpPr/>
          <p:nvPr/>
        </p:nvSpPr>
        <p:spPr>
          <a:xfrm>
            <a:off x="13529096" y="8362005"/>
            <a:ext cx="249448" cy="233354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7" name="Rounded Rectangle 136"/>
          <p:cNvSpPr/>
          <p:nvPr/>
        </p:nvSpPr>
        <p:spPr>
          <a:xfrm>
            <a:off x="10588752" y="8723376"/>
            <a:ext cx="1371600" cy="438912"/>
          </a:xfrm>
          <a:prstGeom prst="roundRect">
            <a:avLst>
              <a:gd name="adj" fmla="val 16666"/>
            </a:avLst>
          </a:prstGeom>
          <a:solidFill>
            <a:srgbClr val="3C4FA5"/>
          </a:solidFill>
          <a:ln w="15875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10588752" y="8723376"/>
            <a:ext cx="13716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</a:rPr>
              <a:t>표준 Layout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12070080" y="8723376"/>
            <a:ext cx="1371600" cy="438912"/>
          </a:xfrm>
          <a:prstGeom prst="roundRect">
            <a:avLst>
              <a:gd name="adj" fmla="val 16666"/>
            </a:avLst>
          </a:prstGeom>
          <a:solidFill>
            <a:srgbClr val="1E8C8C"/>
          </a:solidFill>
          <a:ln w="15875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12070080" y="8723376"/>
            <a:ext cx="13716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</a:rPr>
              <a:t>설비 Pool</a:t>
            </a:r>
          </a:p>
        </p:txBody>
      </p:sp>
      <p:sp>
        <p:nvSpPr>
          <p:cNvPr id="141" name="Rounded Rectangle 140"/>
          <p:cNvSpPr/>
          <p:nvPr/>
        </p:nvSpPr>
        <p:spPr>
          <a:xfrm>
            <a:off x="13551408" y="8723376"/>
            <a:ext cx="1371600" cy="438912"/>
          </a:xfrm>
          <a:prstGeom prst="roundRect">
            <a:avLst>
              <a:gd name="adj" fmla="val 16666"/>
            </a:avLst>
          </a:prstGeom>
          <a:solidFill>
            <a:srgbClr val="6E56B0"/>
          </a:solidFill>
          <a:ln w="15875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13551408" y="8723376"/>
            <a:ext cx="13716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</a:rPr>
              <a:t>통합 구매</a:t>
            </a:r>
          </a:p>
        </p:txBody>
      </p:sp>
      <p:sp>
        <p:nvSpPr>
          <p:cNvPr id="143" name="Up Arrow 142"/>
          <p:cNvSpPr/>
          <p:nvPr/>
        </p:nvSpPr>
        <p:spPr>
          <a:xfrm>
            <a:off x="11365992" y="7370064"/>
            <a:ext cx="310896" cy="237744"/>
          </a:xfrm>
          <a:prstGeom prst="upArrow">
            <a:avLst/>
          </a:prstGeom>
          <a:solidFill>
            <a:srgbClr val="E39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4" name="Up Arrow 143"/>
          <p:cNvSpPr/>
          <p:nvPr/>
        </p:nvSpPr>
        <p:spPr>
          <a:xfrm>
            <a:off x="13834872" y="7370064"/>
            <a:ext cx="310896" cy="237744"/>
          </a:xfrm>
          <a:prstGeom prst="upArrow">
            <a:avLst/>
          </a:prstGeom>
          <a:solidFill>
            <a:srgbClr val="E39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11795760" y="7360920"/>
            <a:ext cx="1920239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B86E00"/>
                </a:solidFill>
                <a:latin typeface="Arial"/>
                <a:ea typeface="Arial"/>
              </a:rPr>
              <a:t>운영</a:t>
            </a:r>
          </a:p>
        </p:txBody>
      </p:sp>
      <p:cxnSp>
        <p:nvCxnSpPr>
          <p:cNvPr id="146" name="Connector 145"/>
          <p:cNvCxnSpPr/>
          <p:nvPr/>
        </p:nvCxnSpPr>
        <p:spPr>
          <a:xfrm>
            <a:off x="15087600" y="8476488"/>
            <a:ext cx="274320" cy="0"/>
          </a:xfrm>
          <a:prstGeom prst="line">
            <a:avLst/>
          </a:prstGeom>
          <a:ln w="19050">
            <a:solidFill>
              <a:srgbClr val="8A8A8A"/>
            </a:solidFill>
          </a:ln>
        </p:spPr>
      </p:cxnSp>
      <p:sp>
        <p:nvSpPr>
          <p:cNvPr id="147" name="Rounded Rectangle 146"/>
          <p:cNvSpPr/>
          <p:nvPr/>
        </p:nvSpPr>
        <p:spPr>
          <a:xfrm>
            <a:off x="15361920" y="7955279"/>
            <a:ext cx="2203704" cy="1042415"/>
          </a:xfrm>
          <a:prstGeom prst="roundRect">
            <a:avLst>
              <a:gd name="adj" fmla="val 7017"/>
            </a:avLst>
          </a:prstGeom>
          <a:solidFill>
            <a:srgbClr val="FFFFFF"/>
          </a:solidFill>
          <a:ln w="15875">
            <a:solidFill>
              <a:srgbClr val="8A8A8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15361920" y="7955279"/>
            <a:ext cx="2203704" cy="104241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>
                <a:solidFill>
                  <a:srgbClr val="555555"/>
                </a:solidFill>
                <a:latin typeface="Arial"/>
                <a:ea typeface="Arial"/>
              </a:rPr>
              <a:t>산하</a:t>
            </a:r>
          </a:p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1A1A1A"/>
                </a:solidFill>
                <a:latin typeface="Arial"/>
                <a:ea typeface="Arial"/>
              </a:rPr>
              <a:t>반도체연구소</a:t>
            </a:r>
          </a:p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1A1A1A"/>
                </a:solidFill>
                <a:latin typeface="Arial"/>
                <a:ea typeface="Arial"/>
              </a:rPr>
              <a:t>/ MTC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722376" y="9601200"/>
            <a:ext cx="1545335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주: 효과 그림은 방향을 보여 주는 개념도이며 수치는 표기하지 않음. 정량 효과는 Fab별 검증 후 확정 [사내 확인]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6468344" y="9601200"/>
            <a:ext cx="10972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1600" b="0">
                <a:solidFill>
                  <a:srgbClr val="555555"/>
                </a:solidFill>
                <a:latin typeface="Arial"/>
                <a:ea typeface="Arial"/>
              </a:rPr>
              <a:t>4 / 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2376" y="365760"/>
            <a:ext cx="109728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3C4FA5"/>
                </a:solidFill>
                <a:latin typeface="Arial"/>
                <a:ea typeface="Arial"/>
              </a:rPr>
              <a:t>Fab 통합 운영</a:t>
            </a:r>
            <a:r>
              <a:rPr sz="1800" b="0">
                <a:solidFill>
                  <a:srgbClr val="555555"/>
                </a:solidFill>
                <a:latin typeface="Arial"/>
                <a:ea typeface="Arial"/>
              </a:rPr>
              <a:t>   5 / 6  시안 5 · 메커니즘 컬러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9224" y="365760"/>
            <a:ext cx="54864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1800" b="0">
                <a:solidFill>
                  <a:srgbClr val="555555"/>
                </a:solidFill>
                <a:latin typeface="Arial"/>
                <a:ea typeface="Arial"/>
              </a:rPr>
              <a:t>[문서등급 표기]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2376" y="786384"/>
            <a:ext cx="16843248" cy="10241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1A1A1A"/>
                </a:solidFill>
                <a:latin typeface="Arial"/>
                <a:ea typeface="Arial"/>
              </a:rPr>
              <a:t>DRAM/NAND Fab 통합 운영:</a:t>
            </a:r>
          </a:p>
          <a:p>
            <a:pPr algn="l">
              <a:lnSpc>
                <a:spcPct val="105000"/>
              </a:lnSpc>
            </a:pPr>
            <a:r>
              <a:rPr sz="3200" b="1">
                <a:solidFill>
                  <a:srgbClr val="1A1A1A"/>
                </a:solidFill>
                <a:latin typeface="Arial"/>
                <a:ea typeface="Arial"/>
              </a:rPr>
              <a:t>Bonding 시대에 맞는 Common Platform 구성</a:t>
            </a:r>
          </a:p>
        </p:txBody>
      </p:sp>
      <p:sp>
        <p:nvSpPr>
          <p:cNvPr id="5" name="Rectangle 4"/>
          <p:cNvSpPr/>
          <p:nvPr/>
        </p:nvSpPr>
        <p:spPr>
          <a:xfrm>
            <a:off x="722376" y="1938528"/>
            <a:ext cx="16843248" cy="18288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rapezoid 5"/>
          <p:cNvSpPr/>
          <p:nvPr/>
        </p:nvSpPr>
        <p:spPr>
          <a:xfrm>
            <a:off x="722376" y="2084831"/>
            <a:ext cx="16843248" cy="640080"/>
          </a:xfrm>
          <a:prstGeom prst="trapezoid">
            <a:avLst>
              <a:gd name="adj" fmla="val 55000"/>
            </a:avLst>
          </a:prstGeom>
          <a:solidFill>
            <a:srgbClr val="2633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185416" y="2084831"/>
            <a:ext cx="13917168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800" b="0">
                <a:solidFill>
                  <a:srgbClr val="AEB8E0"/>
                </a:solidFill>
                <a:latin typeface="Arial"/>
                <a:ea typeface="Arial"/>
              </a:rPr>
              <a:t>종합 반도체 경쟁력  </a:t>
            </a:r>
            <a:r>
              <a:rPr sz="2400" b="1">
                <a:solidFill>
                  <a:srgbClr val="FFFFFF"/>
                </a:solidFill>
                <a:latin typeface="Arial"/>
                <a:ea typeface="Arial"/>
              </a:rPr>
              <a:t>기술·생산 경쟁력 + 효율·유연성 + </a:t>
            </a:r>
            <a:r>
              <a:rPr sz="2400" b="1">
                <a:solidFill>
                  <a:srgbClr val="F6C46B"/>
                </a:solidFill>
                <a:latin typeface="Arial"/>
                <a:ea typeface="Arial"/>
              </a:rPr>
              <a:t>Buying Power</a:t>
            </a:r>
          </a:p>
        </p:txBody>
      </p:sp>
      <p:sp>
        <p:nvSpPr>
          <p:cNvPr id="8" name="Rectangle 7"/>
          <p:cNvSpPr/>
          <p:nvPr/>
        </p:nvSpPr>
        <p:spPr>
          <a:xfrm>
            <a:off x="996696" y="2816352"/>
            <a:ext cx="5175504" cy="2231136"/>
          </a:xfrm>
          <a:prstGeom prst="rect">
            <a:avLst/>
          </a:prstGeom>
          <a:solidFill>
            <a:srgbClr val="F0F2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96696" y="2816352"/>
            <a:ext cx="5175504" cy="54864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61288" y="2944368"/>
            <a:ext cx="365760" cy="365760"/>
          </a:xfrm>
          <a:prstGeom prst="ellipse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61288" y="2944368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36776" y="2907792"/>
            <a:ext cx="438912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1A1A1A"/>
                </a:solidFill>
                <a:latin typeface="Arial"/>
                <a:ea typeface="Arial"/>
              </a:rPr>
              <a:t>공간 효율성</a:t>
            </a:r>
            <a:r>
              <a:rPr sz="1600" b="0">
                <a:solidFill>
                  <a:srgbClr val="3C4FA5"/>
                </a:solidFill>
                <a:latin typeface="Arial"/>
                <a:ea typeface="Arial"/>
              </a:rPr>
              <a:t>  Space Efficiency</a:t>
            </a:r>
          </a:p>
        </p:txBody>
      </p:sp>
      <p:pic>
        <p:nvPicPr>
          <p:cNvPr id="13" name="Picture 12" descr="c2_spa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1288" y="3364992"/>
            <a:ext cx="4846320" cy="1645919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996696" y="5120640"/>
            <a:ext cx="5175504" cy="457200"/>
          </a:xfrm>
          <a:prstGeom prst="rect">
            <a:avLst/>
          </a:prstGeom>
          <a:solidFill>
            <a:srgbClr val="FFFFFF"/>
          </a:solidFill>
          <a:ln w="15875">
            <a:solidFill>
              <a:srgbClr val="C0CAE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97864" y="5120640"/>
            <a:ext cx="48463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3C4FA5"/>
                </a:solidFill>
                <a:latin typeface="Arial"/>
                <a:ea typeface="Arial"/>
              </a:rPr>
              <a:t>설비 밀집도 향상</a:t>
            </a:r>
            <a:r>
              <a:rPr sz="1800" b="0">
                <a:solidFill>
                  <a:srgbClr val="1A1A1A"/>
                </a:solidFill>
                <a:latin typeface="Arial"/>
                <a:ea typeface="Arial"/>
              </a:rPr>
              <a:t>, Dead Space 최소화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96696" y="5632704"/>
            <a:ext cx="5175504" cy="457200"/>
          </a:xfrm>
          <a:prstGeom prst="rect">
            <a:avLst/>
          </a:prstGeom>
          <a:solidFill>
            <a:srgbClr val="FFFFFF"/>
          </a:solidFill>
          <a:ln w="15875">
            <a:solidFill>
              <a:srgbClr val="C0CAE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97864" y="5632704"/>
            <a:ext cx="48463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3C4FA5"/>
                </a:solidFill>
                <a:latin typeface="Arial"/>
                <a:ea typeface="Arial"/>
              </a:rPr>
              <a:t>동일 모델 군집화</a:t>
            </a:r>
            <a:r>
              <a:rPr sz="1800" b="0">
                <a:solidFill>
                  <a:srgbClr val="1A1A1A"/>
                </a:solidFill>
                <a:latin typeface="Arial"/>
                <a:ea typeface="Arial"/>
              </a:rPr>
              <a:t> 시너지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96696" y="6144768"/>
            <a:ext cx="5175504" cy="457200"/>
          </a:xfrm>
          <a:prstGeom prst="rect">
            <a:avLst/>
          </a:prstGeom>
          <a:solidFill>
            <a:srgbClr val="FFFFFF"/>
          </a:solidFill>
          <a:ln w="15875">
            <a:solidFill>
              <a:srgbClr val="C0CAE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97864" y="6144768"/>
            <a:ext cx="48463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3C4FA5"/>
                </a:solidFill>
                <a:latin typeface="Arial"/>
                <a:ea typeface="Arial"/>
              </a:rPr>
              <a:t>단위 면적당 생산성</a:t>
            </a:r>
            <a:r>
              <a:rPr sz="1800" b="0">
                <a:solidFill>
                  <a:srgbClr val="1A1A1A"/>
                </a:solidFill>
                <a:latin typeface="Arial"/>
                <a:ea typeface="Arial"/>
              </a:rPr>
              <a:t> 극대화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56248" y="2816352"/>
            <a:ext cx="5175504" cy="2231136"/>
          </a:xfrm>
          <a:prstGeom prst="rect">
            <a:avLst/>
          </a:prstGeom>
          <a:solidFill>
            <a:srgbClr val="E8F5F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56248" y="2816352"/>
            <a:ext cx="5175504" cy="54864"/>
          </a:xfrm>
          <a:prstGeom prst="rect">
            <a:avLst/>
          </a:prstGeom>
          <a:solidFill>
            <a:srgbClr val="1E8C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720840" y="2944368"/>
            <a:ext cx="365760" cy="365760"/>
          </a:xfrm>
          <a:prstGeom prst="ellipse">
            <a:avLst/>
          </a:prstGeom>
          <a:solidFill>
            <a:srgbClr val="1E8C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20840" y="2944368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96328" y="2907792"/>
            <a:ext cx="438912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1A1A1A"/>
                </a:solidFill>
                <a:latin typeface="Arial"/>
                <a:ea typeface="Arial"/>
              </a:rPr>
              <a:t>시황 변화 대응력</a:t>
            </a:r>
            <a:r>
              <a:rPr sz="1600" b="0">
                <a:solidFill>
                  <a:srgbClr val="1E8C8C"/>
                </a:solidFill>
                <a:latin typeface="Arial"/>
                <a:ea typeface="Arial"/>
              </a:rPr>
              <a:t>  Market Agility</a:t>
            </a:r>
          </a:p>
        </p:txBody>
      </p:sp>
      <p:pic>
        <p:nvPicPr>
          <p:cNvPr id="25" name="Picture 24" descr="c2_agil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3364992"/>
            <a:ext cx="4846320" cy="1645919"/>
          </a:xfrm>
          <a:prstGeom prst="rect">
            <a:avLst/>
          </a:prstGeom>
        </p:spPr>
      </p:pic>
      <p:sp>
        <p:nvSpPr>
          <p:cNvPr id="26" name="Rectangle 25"/>
          <p:cNvSpPr/>
          <p:nvPr/>
        </p:nvSpPr>
        <p:spPr>
          <a:xfrm>
            <a:off x="6556248" y="5120640"/>
            <a:ext cx="5175504" cy="457200"/>
          </a:xfrm>
          <a:prstGeom prst="rect">
            <a:avLst/>
          </a:prstGeom>
          <a:solidFill>
            <a:srgbClr val="FFFFFF"/>
          </a:solidFill>
          <a:ln w="15875">
            <a:solidFill>
              <a:srgbClr val="A9DCD7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57416" y="5120640"/>
            <a:ext cx="48463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E8C8C"/>
                </a:solidFill>
                <a:latin typeface="Arial"/>
                <a:ea typeface="Arial"/>
              </a:rPr>
              <a:t>DRAM/NAND 설비 전환</a:t>
            </a:r>
            <a:r>
              <a:rPr sz="1800" b="0">
                <a:solidFill>
                  <a:srgbClr val="1A1A1A"/>
                </a:solidFill>
                <a:latin typeface="Arial"/>
                <a:ea typeface="Arial"/>
              </a:rPr>
              <a:t> 속도 증가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56248" y="5632704"/>
            <a:ext cx="5175504" cy="457200"/>
          </a:xfrm>
          <a:prstGeom prst="rect">
            <a:avLst/>
          </a:prstGeom>
          <a:solidFill>
            <a:srgbClr val="FFFFFF"/>
          </a:solidFill>
          <a:ln w="15875">
            <a:solidFill>
              <a:srgbClr val="A9DCD7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57416" y="5632704"/>
            <a:ext cx="48463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E8C8C"/>
                </a:solidFill>
                <a:latin typeface="Arial"/>
                <a:ea typeface="Arial"/>
              </a:rPr>
              <a:t>생산 Bottleneck 해소</a:t>
            </a:r>
            <a:r>
              <a:rPr sz="1800" b="0">
                <a:solidFill>
                  <a:srgbClr val="1A1A1A"/>
                </a:solidFill>
                <a:latin typeface="Arial"/>
                <a:ea typeface="Arial"/>
              </a:rPr>
              <a:t>로 생산성 증가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56248" y="6144768"/>
            <a:ext cx="5175504" cy="457200"/>
          </a:xfrm>
          <a:prstGeom prst="rect">
            <a:avLst/>
          </a:prstGeom>
          <a:solidFill>
            <a:srgbClr val="FFFFFF"/>
          </a:solidFill>
          <a:ln w="15875">
            <a:solidFill>
              <a:srgbClr val="A9DCD7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757416" y="6144768"/>
            <a:ext cx="48463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E8C8C"/>
                </a:solidFill>
                <a:latin typeface="Arial"/>
                <a:ea typeface="Arial"/>
              </a:rPr>
              <a:t>유휴 설비 최소화</a:t>
            </a:r>
            <a:r>
              <a:rPr sz="1800" b="0">
                <a:solidFill>
                  <a:srgbClr val="1A1A1A"/>
                </a:solidFill>
                <a:latin typeface="Arial"/>
                <a:ea typeface="Arial"/>
              </a:rPr>
              <a:t>, 투자 회수 기간 단축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2115800" y="2816352"/>
            <a:ext cx="5175504" cy="2231136"/>
          </a:xfrm>
          <a:prstGeom prst="rect">
            <a:avLst/>
          </a:prstGeom>
          <a:solidFill>
            <a:srgbClr val="F1EE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2115800" y="2816352"/>
            <a:ext cx="5175504" cy="54864"/>
          </a:xfrm>
          <a:prstGeom prst="rect">
            <a:avLst/>
          </a:prstGeom>
          <a:solidFill>
            <a:srgbClr val="6E56B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2280392" y="2944368"/>
            <a:ext cx="365760" cy="365760"/>
          </a:xfrm>
          <a:prstGeom prst="ellipse">
            <a:avLst/>
          </a:prstGeom>
          <a:solidFill>
            <a:srgbClr val="6E56B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2280392" y="2944368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755880" y="2907792"/>
            <a:ext cx="438912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1A1A1A"/>
                </a:solidFill>
                <a:latin typeface="Arial"/>
                <a:ea typeface="Arial"/>
              </a:rPr>
              <a:t>설비 통일성·선단화</a:t>
            </a:r>
            <a:r>
              <a:rPr sz="1600" b="0">
                <a:solidFill>
                  <a:srgbClr val="6E56B0"/>
                </a:solidFill>
                <a:latin typeface="Arial"/>
                <a:ea typeface="Arial"/>
              </a:rPr>
              <a:t>  Equipment Unif.</a:t>
            </a:r>
          </a:p>
        </p:txBody>
      </p:sp>
      <p:pic>
        <p:nvPicPr>
          <p:cNvPr id="37" name="Picture 36" descr="c2_uni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280392" y="3364992"/>
            <a:ext cx="4846320" cy="1645919"/>
          </a:xfrm>
          <a:prstGeom prst="rect">
            <a:avLst/>
          </a:prstGeom>
        </p:spPr>
      </p:pic>
      <p:sp>
        <p:nvSpPr>
          <p:cNvPr id="38" name="Rectangle 37"/>
          <p:cNvSpPr/>
          <p:nvPr/>
        </p:nvSpPr>
        <p:spPr>
          <a:xfrm>
            <a:off x="12115800" y="5120640"/>
            <a:ext cx="5175504" cy="457200"/>
          </a:xfrm>
          <a:prstGeom prst="rect">
            <a:avLst/>
          </a:prstGeom>
          <a:solidFill>
            <a:srgbClr val="FFFFFF"/>
          </a:solidFill>
          <a:ln w="15875">
            <a:solidFill>
              <a:srgbClr val="D3CAE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16968" y="5120640"/>
            <a:ext cx="48463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6E56B0"/>
                </a:solidFill>
                <a:latin typeface="Arial"/>
                <a:ea typeface="Arial"/>
              </a:rPr>
              <a:t>P-Mix 관점 </a:t>
            </a:r>
            <a:r>
              <a:rPr sz="1800" b="0">
                <a:solidFill>
                  <a:srgbClr val="1A1A1A"/>
                </a:solidFill>
                <a:latin typeface="Arial"/>
                <a:ea typeface="Arial"/>
              </a:rPr>
              <a:t>투자·전환 Loss 감소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2115800" y="5632704"/>
            <a:ext cx="5175504" cy="457200"/>
          </a:xfrm>
          <a:prstGeom prst="rect">
            <a:avLst/>
          </a:prstGeom>
          <a:solidFill>
            <a:srgbClr val="FFFFFF"/>
          </a:solidFill>
          <a:ln w="15875">
            <a:solidFill>
              <a:srgbClr val="D3CAE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2316968" y="5632704"/>
            <a:ext cx="48463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6E56B0"/>
                </a:solidFill>
                <a:latin typeface="Arial"/>
                <a:ea typeface="Arial"/>
              </a:rPr>
              <a:t>생산성 향상</a:t>
            </a:r>
            <a:r>
              <a:rPr sz="1800" b="0">
                <a:solidFill>
                  <a:srgbClr val="1A1A1A"/>
                </a:solidFill>
                <a:latin typeface="Arial"/>
                <a:ea typeface="Arial"/>
              </a:rPr>
              <a:t>, 수율 안정화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2115800" y="6144768"/>
            <a:ext cx="5175504" cy="457200"/>
          </a:xfrm>
          <a:prstGeom prst="rect">
            <a:avLst/>
          </a:prstGeom>
          <a:solidFill>
            <a:srgbClr val="FFFFFF"/>
          </a:solidFill>
          <a:ln w="15875">
            <a:solidFill>
              <a:srgbClr val="D3CAE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2316968" y="6144768"/>
            <a:ext cx="48463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6E56B0"/>
                </a:solidFill>
                <a:latin typeface="Arial"/>
                <a:ea typeface="Arial"/>
              </a:rPr>
              <a:t>강력한 구매 협상력</a:t>
            </a:r>
            <a:r>
              <a:rPr sz="1800" b="0">
                <a:solidFill>
                  <a:srgbClr val="1A1A1A"/>
                </a:solidFill>
                <a:latin typeface="Arial"/>
                <a:ea typeface="Arial"/>
              </a:rPr>
              <a:t> 확보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88136" y="6711696"/>
            <a:ext cx="109728" cy="73152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460275" y="6711696"/>
            <a:ext cx="109728" cy="73152"/>
          </a:xfrm>
          <a:prstGeom prst="rect">
            <a:avLst/>
          </a:prstGeom>
          <a:solidFill>
            <a:srgbClr val="1E8C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832415" y="6711696"/>
            <a:ext cx="109728" cy="73152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2204554" y="6711696"/>
            <a:ext cx="109728" cy="73152"/>
          </a:xfrm>
          <a:prstGeom prst="rect">
            <a:avLst/>
          </a:prstGeom>
          <a:solidFill>
            <a:srgbClr val="1E8C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2576694" y="6711696"/>
            <a:ext cx="109728" cy="73152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2948833" y="6711696"/>
            <a:ext cx="109728" cy="73152"/>
          </a:xfrm>
          <a:prstGeom prst="rect">
            <a:avLst/>
          </a:prstGeom>
          <a:solidFill>
            <a:srgbClr val="1E8C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3320973" y="6711696"/>
            <a:ext cx="109728" cy="73152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3693112" y="6711696"/>
            <a:ext cx="109728" cy="73152"/>
          </a:xfrm>
          <a:prstGeom prst="rect">
            <a:avLst/>
          </a:prstGeom>
          <a:solidFill>
            <a:srgbClr val="1E8C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4065252" y="6711696"/>
            <a:ext cx="109728" cy="73152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437391" y="6711696"/>
            <a:ext cx="109728" cy="73152"/>
          </a:xfrm>
          <a:prstGeom prst="rect">
            <a:avLst/>
          </a:prstGeom>
          <a:solidFill>
            <a:srgbClr val="1E8C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4809531" y="6711696"/>
            <a:ext cx="109728" cy="73152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181670" y="6711696"/>
            <a:ext cx="109728" cy="73152"/>
          </a:xfrm>
          <a:prstGeom prst="rect">
            <a:avLst/>
          </a:prstGeom>
          <a:solidFill>
            <a:srgbClr val="1E8C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5553810" y="6711696"/>
            <a:ext cx="109728" cy="73152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5925949" y="6711696"/>
            <a:ext cx="109728" cy="73152"/>
          </a:xfrm>
          <a:prstGeom prst="rect">
            <a:avLst/>
          </a:prstGeom>
          <a:solidFill>
            <a:srgbClr val="1E8C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6298089" y="6711696"/>
            <a:ext cx="109728" cy="73152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6670229" y="6711696"/>
            <a:ext cx="109728" cy="73152"/>
          </a:xfrm>
          <a:prstGeom prst="rect">
            <a:avLst/>
          </a:prstGeom>
          <a:solidFill>
            <a:srgbClr val="1E8C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042368" y="6711696"/>
            <a:ext cx="109728" cy="73152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414508" y="6711696"/>
            <a:ext cx="109728" cy="73152"/>
          </a:xfrm>
          <a:prstGeom prst="rect">
            <a:avLst/>
          </a:prstGeom>
          <a:solidFill>
            <a:srgbClr val="1E8C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786647" y="6711696"/>
            <a:ext cx="109728" cy="73152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8158787" y="6711696"/>
            <a:ext cx="109728" cy="73152"/>
          </a:xfrm>
          <a:prstGeom prst="rect">
            <a:avLst/>
          </a:prstGeom>
          <a:solidFill>
            <a:srgbClr val="1E8C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8530926" y="6711696"/>
            <a:ext cx="109728" cy="73152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8903066" y="6711696"/>
            <a:ext cx="109728" cy="73152"/>
          </a:xfrm>
          <a:prstGeom prst="rect">
            <a:avLst/>
          </a:prstGeom>
          <a:solidFill>
            <a:srgbClr val="1E8C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9275205" y="6711696"/>
            <a:ext cx="109728" cy="73152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9647345" y="6711696"/>
            <a:ext cx="109728" cy="73152"/>
          </a:xfrm>
          <a:prstGeom prst="rect">
            <a:avLst/>
          </a:prstGeom>
          <a:solidFill>
            <a:srgbClr val="1E8C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0019484" y="6711696"/>
            <a:ext cx="109728" cy="73152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10391624" y="6711696"/>
            <a:ext cx="109728" cy="73152"/>
          </a:xfrm>
          <a:prstGeom prst="rect">
            <a:avLst/>
          </a:prstGeom>
          <a:solidFill>
            <a:srgbClr val="1E8C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10763763" y="6711696"/>
            <a:ext cx="109728" cy="73152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11135903" y="6711696"/>
            <a:ext cx="109728" cy="73152"/>
          </a:xfrm>
          <a:prstGeom prst="rect">
            <a:avLst/>
          </a:prstGeom>
          <a:solidFill>
            <a:srgbClr val="1E8C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11508042" y="6711696"/>
            <a:ext cx="109728" cy="73152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11880182" y="6711696"/>
            <a:ext cx="109728" cy="73152"/>
          </a:xfrm>
          <a:prstGeom prst="rect">
            <a:avLst/>
          </a:prstGeom>
          <a:solidFill>
            <a:srgbClr val="1E8C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12252322" y="6711696"/>
            <a:ext cx="109728" cy="73152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12624461" y="6711696"/>
            <a:ext cx="109728" cy="73152"/>
          </a:xfrm>
          <a:prstGeom prst="rect">
            <a:avLst/>
          </a:prstGeom>
          <a:solidFill>
            <a:srgbClr val="1E8C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2996601" y="6711696"/>
            <a:ext cx="109728" cy="73152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13368740" y="6711696"/>
            <a:ext cx="109728" cy="73152"/>
          </a:xfrm>
          <a:prstGeom prst="rect">
            <a:avLst/>
          </a:prstGeom>
          <a:solidFill>
            <a:srgbClr val="1E8C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13740880" y="6711696"/>
            <a:ext cx="109728" cy="73152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14113019" y="6711696"/>
            <a:ext cx="109728" cy="73152"/>
          </a:xfrm>
          <a:prstGeom prst="rect">
            <a:avLst/>
          </a:prstGeom>
          <a:solidFill>
            <a:srgbClr val="1E8C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14485159" y="6711696"/>
            <a:ext cx="109728" cy="73152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14857298" y="6711696"/>
            <a:ext cx="109728" cy="73152"/>
          </a:xfrm>
          <a:prstGeom prst="rect">
            <a:avLst/>
          </a:prstGeom>
          <a:solidFill>
            <a:srgbClr val="1E8C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15229438" y="6711696"/>
            <a:ext cx="109728" cy="73152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15601577" y="6711696"/>
            <a:ext cx="109728" cy="73152"/>
          </a:xfrm>
          <a:prstGeom prst="rect">
            <a:avLst/>
          </a:prstGeom>
          <a:solidFill>
            <a:srgbClr val="1E8C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5973717" y="6711696"/>
            <a:ext cx="109728" cy="73152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6345856" y="6711696"/>
            <a:ext cx="109728" cy="73152"/>
          </a:xfrm>
          <a:prstGeom prst="rect">
            <a:avLst/>
          </a:prstGeom>
          <a:solidFill>
            <a:srgbClr val="1E8C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6717996" y="6711696"/>
            <a:ext cx="109728" cy="73152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17090136" y="6711696"/>
            <a:ext cx="109728" cy="73152"/>
          </a:xfrm>
          <a:prstGeom prst="rect">
            <a:avLst/>
          </a:prstGeom>
          <a:solidFill>
            <a:srgbClr val="1E8C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996696" y="6803136"/>
            <a:ext cx="16294608" cy="512064"/>
          </a:xfrm>
          <a:prstGeom prst="rect">
            <a:avLst/>
          </a:prstGeom>
          <a:solidFill>
            <a:srgbClr val="2633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271016" y="6803136"/>
            <a:ext cx="15745967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2200" b="1">
                <a:solidFill>
                  <a:srgbClr val="FFFFFF"/>
                </a:solidFill>
                <a:latin typeface="Arial"/>
                <a:ea typeface="Arial"/>
              </a:rPr>
              <a:t>Common Platform   </a:t>
            </a:r>
            <a:r>
              <a:rPr sz="2000" b="0">
                <a:solidFill>
                  <a:srgbClr val="FFFFFF"/>
                </a:solidFill>
                <a:latin typeface="Arial"/>
                <a:ea typeface="Arial"/>
              </a:rPr>
              <a:t>DRAM·NAND 공용 BEOL · Bonding 공정 · 설비 Pool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722376" y="7662672"/>
            <a:ext cx="1554480" cy="420624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 w="19050">
            <a:solidFill>
              <a:srgbClr val="26336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722376" y="7662672"/>
            <a:ext cx="15544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>
                <a:solidFill>
                  <a:srgbClr val="26336E"/>
                </a:solidFill>
                <a:latin typeface="Arial"/>
                <a:ea typeface="Arial"/>
              </a:rPr>
              <a:t>운영 제언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" y="8211312"/>
            <a:ext cx="3383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>
                <a:solidFill>
                  <a:srgbClr val="1A1A1A"/>
                </a:solidFill>
                <a:latin typeface="Arial"/>
                <a:ea typeface="Arial"/>
              </a:rPr>
              <a:t>메모리 BEOL</a:t>
            </a:r>
          </a:p>
          <a:p>
            <a:pPr algn="l">
              <a:lnSpc>
                <a:spcPct val="105000"/>
              </a:lnSpc>
            </a:pPr>
            <a:r>
              <a:rPr sz="2600" b="1">
                <a:solidFill>
                  <a:srgbClr val="1A1A1A"/>
                </a:solidFill>
                <a:latin typeface="Arial"/>
                <a:ea typeface="Arial"/>
              </a:rPr>
              <a:t>통합조직 구성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4480560" y="7644383"/>
            <a:ext cx="4023360" cy="585216"/>
          </a:xfrm>
          <a:prstGeom prst="roundRect">
            <a:avLst>
              <a:gd name="adj" fmla="val 12500"/>
            </a:avLst>
          </a:prstGeom>
          <a:solidFill>
            <a:srgbClr val="E9ECF8"/>
          </a:solidFill>
          <a:ln w="12700">
            <a:solidFill>
              <a:srgbClr val="3C4FA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4731654" y="7754111"/>
            <a:ext cx="138257" cy="138257"/>
          </a:xfrm>
          <a:prstGeom prst="ellipse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5" name="Round Same Side Corner Rectangle 94"/>
          <p:cNvSpPr/>
          <p:nvPr/>
        </p:nvSpPr>
        <p:spPr>
          <a:xfrm>
            <a:off x="4681728" y="7915412"/>
            <a:ext cx="238109" cy="222747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5042916" y="7754111"/>
            <a:ext cx="138257" cy="138257"/>
          </a:xfrm>
          <a:prstGeom prst="ellipse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7" name="Round Same Side Corner Rectangle 96"/>
          <p:cNvSpPr/>
          <p:nvPr/>
        </p:nvSpPr>
        <p:spPr>
          <a:xfrm>
            <a:off x="4992989" y="7915412"/>
            <a:ext cx="238109" cy="222747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5354177" y="7754111"/>
            <a:ext cx="138257" cy="138257"/>
          </a:xfrm>
          <a:prstGeom prst="ellipse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9" name="Round Same Side Corner Rectangle 98"/>
          <p:cNvSpPr/>
          <p:nvPr/>
        </p:nvSpPr>
        <p:spPr>
          <a:xfrm>
            <a:off x="5304251" y="7915412"/>
            <a:ext cx="238109" cy="222747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5760720" y="7644383"/>
            <a:ext cx="265176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A1A1A"/>
                </a:solidFill>
                <a:latin typeface="Arial"/>
                <a:ea typeface="Arial"/>
              </a:rPr>
              <a:t>DRAM BEOL 조직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4480560" y="8723376"/>
            <a:ext cx="4023360" cy="585216"/>
          </a:xfrm>
          <a:prstGeom prst="roundRect">
            <a:avLst>
              <a:gd name="adj" fmla="val 12500"/>
            </a:avLst>
          </a:prstGeom>
          <a:solidFill>
            <a:srgbClr val="E3F3F1"/>
          </a:solidFill>
          <a:ln w="12700">
            <a:solidFill>
              <a:srgbClr val="1E8C8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4731654" y="8833103"/>
            <a:ext cx="138257" cy="138257"/>
          </a:xfrm>
          <a:prstGeom prst="ellipse">
            <a:avLst/>
          </a:prstGeom>
          <a:solidFill>
            <a:srgbClr val="1E8C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3" name="Round Same Side Corner Rectangle 102"/>
          <p:cNvSpPr/>
          <p:nvPr/>
        </p:nvSpPr>
        <p:spPr>
          <a:xfrm>
            <a:off x="4681728" y="8994404"/>
            <a:ext cx="238109" cy="222747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1E8C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5042916" y="8833103"/>
            <a:ext cx="138257" cy="138257"/>
          </a:xfrm>
          <a:prstGeom prst="ellipse">
            <a:avLst/>
          </a:prstGeom>
          <a:solidFill>
            <a:srgbClr val="1E8C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5" name="Round Same Side Corner Rectangle 104"/>
          <p:cNvSpPr/>
          <p:nvPr/>
        </p:nvSpPr>
        <p:spPr>
          <a:xfrm>
            <a:off x="4992989" y="8994404"/>
            <a:ext cx="238109" cy="222747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1E8C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5354177" y="8833103"/>
            <a:ext cx="138257" cy="138257"/>
          </a:xfrm>
          <a:prstGeom prst="ellipse">
            <a:avLst/>
          </a:prstGeom>
          <a:solidFill>
            <a:srgbClr val="1E8C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7" name="Round Same Side Corner Rectangle 106"/>
          <p:cNvSpPr/>
          <p:nvPr/>
        </p:nvSpPr>
        <p:spPr>
          <a:xfrm>
            <a:off x="5304251" y="8994404"/>
            <a:ext cx="238109" cy="222747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1E8C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5760720" y="8723376"/>
            <a:ext cx="265176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A1A1A"/>
                </a:solidFill>
                <a:latin typeface="Arial"/>
                <a:ea typeface="Arial"/>
              </a:rPr>
              <a:t>NAND BEOL 조직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4754880" y="8321040"/>
            <a:ext cx="109728" cy="310896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5060788" y="8321040"/>
            <a:ext cx="109728" cy="310896"/>
          </a:xfrm>
          <a:prstGeom prst="rect">
            <a:avLst/>
          </a:prstGeom>
          <a:solidFill>
            <a:srgbClr val="1E8C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5366696" y="8321040"/>
            <a:ext cx="109728" cy="310896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5672605" y="8321040"/>
            <a:ext cx="109728" cy="310896"/>
          </a:xfrm>
          <a:prstGeom prst="rect">
            <a:avLst/>
          </a:prstGeom>
          <a:solidFill>
            <a:srgbClr val="1E8C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5978513" y="8321040"/>
            <a:ext cx="109728" cy="310896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6284421" y="8321040"/>
            <a:ext cx="109728" cy="310896"/>
          </a:xfrm>
          <a:prstGeom prst="rect">
            <a:avLst/>
          </a:prstGeom>
          <a:solidFill>
            <a:srgbClr val="1E8C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6590330" y="8321040"/>
            <a:ext cx="109728" cy="310896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6896238" y="8321040"/>
            <a:ext cx="109728" cy="310896"/>
          </a:xfrm>
          <a:prstGeom prst="rect">
            <a:avLst/>
          </a:prstGeom>
          <a:solidFill>
            <a:srgbClr val="1E8C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7202146" y="8321040"/>
            <a:ext cx="109728" cy="310896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7508055" y="8321040"/>
            <a:ext cx="109728" cy="310896"/>
          </a:xfrm>
          <a:prstGeom prst="rect">
            <a:avLst/>
          </a:prstGeom>
          <a:solidFill>
            <a:srgbClr val="1E8C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7813963" y="8321040"/>
            <a:ext cx="109728" cy="310896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8119872" y="8321040"/>
            <a:ext cx="109728" cy="310896"/>
          </a:xfrm>
          <a:prstGeom prst="rect">
            <a:avLst/>
          </a:prstGeom>
          <a:solidFill>
            <a:srgbClr val="1E8C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8613648" y="8302752"/>
            <a:ext cx="109728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26336E"/>
                </a:solidFill>
                <a:latin typeface="Arial"/>
                <a:ea typeface="Arial"/>
              </a:rPr>
              <a:t>Bonding</a:t>
            </a:r>
          </a:p>
        </p:txBody>
      </p:sp>
      <p:sp>
        <p:nvSpPr>
          <p:cNvPr id="122" name="Right Arrow 121"/>
          <p:cNvSpPr/>
          <p:nvPr/>
        </p:nvSpPr>
        <p:spPr>
          <a:xfrm>
            <a:off x="9747504" y="8311896"/>
            <a:ext cx="566928" cy="329184"/>
          </a:xfrm>
          <a:prstGeom prst="rightArrow">
            <a:avLst/>
          </a:prstGeom>
          <a:solidFill>
            <a:srgbClr val="E39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3" name="Rounded Rectangle 122"/>
          <p:cNvSpPr/>
          <p:nvPr/>
        </p:nvSpPr>
        <p:spPr>
          <a:xfrm>
            <a:off x="10424160" y="7644383"/>
            <a:ext cx="4663440" cy="1664208"/>
          </a:xfrm>
          <a:prstGeom prst="roundRect">
            <a:avLst>
              <a:gd name="adj" fmla="val 4395"/>
            </a:avLst>
          </a:prstGeom>
          <a:solidFill>
            <a:srgbClr val="2633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10424160" y="7717536"/>
            <a:ext cx="46634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2400" b="1">
                <a:solidFill>
                  <a:srgbClr val="FFFFFF"/>
                </a:solidFill>
                <a:latin typeface="Arial"/>
                <a:ea typeface="Arial"/>
              </a:rPr>
              <a:t>메모리 BEOL 통합조직</a:t>
            </a:r>
          </a:p>
        </p:txBody>
      </p:sp>
      <p:sp>
        <p:nvSpPr>
          <p:cNvPr id="125" name="Oval 124"/>
          <p:cNvSpPr/>
          <p:nvPr/>
        </p:nvSpPr>
        <p:spPr>
          <a:xfrm>
            <a:off x="11785518" y="8193023"/>
            <a:ext cx="144840" cy="1448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6" name="Round Same Side Corner Rectangle 125"/>
          <p:cNvSpPr/>
          <p:nvPr/>
        </p:nvSpPr>
        <p:spPr>
          <a:xfrm>
            <a:off x="11733215" y="8362005"/>
            <a:ext cx="249448" cy="233354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12144695" y="8193023"/>
            <a:ext cx="144840" cy="1448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8" name="Round Same Side Corner Rectangle 127"/>
          <p:cNvSpPr/>
          <p:nvPr/>
        </p:nvSpPr>
        <p:spPr>
          <a:xfrm>
            <a:off x="12092391" y="8362005"/>
            <a:ext cx="249448" cy="233354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12503871" y="8193023"/>
            <a:ext cx="144840" cy="1448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0" name="Round Same Side Corner Rectangle 129"/>
          <p:cNvSpPr/>
          <p:nvPr/>
        </p:nvSpPr>
        <p:spPr>
          <a:xfrm>
            <a:off x="12451567" y="8362005"/>
            <a:ext cx="249448" cy="233354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12863047" y="8193023"/>
            <a:ext cx="144840" cy="1448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2" name="Round Same Side Corner Rectangle 131"/>
          <p:cNvSpPr/>
          <p:nvPr/>
        </p:nvSpPr>
        <p:spPr>
          <a:xfrm>
            <a:off x="12810744" y="8362005"/>
            <a:ext cx="249448" cy="233354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13222224" y="8193023"/>
            <a:ext cx="144840" cy="1448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4" name="Round Same Side Corner Rectangle 133"/>
          <p:cNvSpPr/>
          <p:nvPr/>
        </p:nvSpPr>
        <p:spPr>
          <a:xfrm>
            <a:off x="13169920" y="8362005"/>
            <a:ext cx="249448" cy="233354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13581400" y="8193023"/>
            <a:ext cx="144840" cy="1448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6" name="Round Same Side Corner Rectangle 135"/>
          <p:cNvSpPr/>
          <p:nvPr/>
        </p:nvSpPr>
        <p:spPr>
          <a:xfrm>
            <a:off x="13529096" y="8362005"/>
            <a:ext cx="249448" cy="233354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7" name="Rounded Rectangle 136"/>
          <p:cNvSpPr/>
          <p:nvPr/>
        </p:nvSpPr>
        <p:spPr>
          <a:xfrm>
            <a:off x="10588752" y="8723376"/>
            <a:ext cx="1371600" cy="438912"/>
          </a:xfrm>
          <a:prstGeom prst="roundRect">
            <a:avLst>
              <a:gd name="adj" fmla="val 16666"/>
            </a:avLst>
          </a:prstGeom>
          <a:solidFill>
            <a:srgbClr val="3C4FA5"/>
          </a:solidFill>
          <a:ln w="15875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10588752" y="8723376"/>
            <a:ext cx="13716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</a:rPr>
              <a:t>표준 Layout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12070080" y="8723376"/>
            <a:ext cx="1371600" cy="438912"/>
          </a:xfrm>
          <a:prstGeom prst="roundRect">
            <a:avLst>
              <a:gd name="adj" fmla="val 16666"/>
            </a:avLst>
          </a:prstGeom>
          <a:solidFill>
            <a:srgbClr val="1E8C8C"/>
          </a:solidFill>
          <a:ln w="15875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12070080" y="8723376"/>
            <a:ext cx="13716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</a:rPr>
              <a:t>설비 Pool</a:t>
            </a:r>
          </a:p>
        </p:txBody>
      </p:sp>
      <p:sp>
        <p:nvSpPr>
          <p:cNvPr id="141" name="Rounded Rectangle 140"/>
          <p:cNvSpPr/>
          <p:nvPr/>
        </p:nvSpPr>
        <p:spPr>
          <a:xfrm>
            <a:off x="13551408" y="8723376"/>
            <a:ext cx="1371600" cy="438912"/>
          </a:xfrm>
          <a:prstGeom prst="roundRect">
            <a:avLst>
              <a:gd name="adj" fmla="val 16666"/>
            </a:avLst>
          </a:prstGeom>
          <a:solidFill>
            <a:srgbClr val="6E56B0"/>
          </a:solidFill>
          <a:ln w="15875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13551408" y="8723376"/>
            <a:ext cx="13716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</a:rPr>
              <a:t>통합 구매</a:t>
            </a:r>
          </a:p>
        </p:txBody>
      </p:sp>
      <p:sp>
        <p:nvSpPr>
          <p:cNvPr id="143" name="Up Arrow 142"/>
          <p:cNvSpPr/>
          <p:nvPr/>
        </p:nvSpPr>
        <p:spPr>
          <a:xfrm>
            <a:off x="11365992" y="7370064"/>
            <a:ext cx="310896" cy="237744"/>
          </a:xfrm>
          <a:prstGeom prst="upArrow">
            <a:avLst/>
          </a:prstGeom>
          <a:solidFill>
            <a:srgbClr val="E39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4" name="Up Arrow 143"/>
          <p:cNvSpPr/>
          <p:nvPr/>
        </p:nvSpPr>
        <p:spPr>
          <a:xfrm>
            <a:off x="13834872" y="7370064"/>
            <a:ext cx="310896" cy="237744"/>
          </a:xfrm>
          <a:prstGeom prst="upArrow">
            <a:avLst/>
          </a:prstGeom>
          <a:solidFill>
            <a:srgbClr val="E39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11795760" y="7360920"/>
            <a:ext cx="1920239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B86E00"/>
                </a:solidFill>
                <a:latin typeface="Arial"/>
                <a:ea typeface="Arial"/>
              </a:rPr>
              <a:t>운영</a:t>
            </a:r>
          </a:p>
        </p:txBody>
      </p:sp>
      <p:cxnSp>
        <p:nvCxnSpPr>
          <p:cNvPr id="146" name="Connector 145"/>
          <p:cNvCxnSpPr/>
          <p:nvPr/>
        </p:nvCxnSpPr>
        <p:spPr>
          <a:xfrm>
            <a:off x="15087600" y="8476488"/>
            <a:ext cx="274320" cy="0"/>
          </a:xfrm>
          <a:prstGeom prst="line">
            <a:avLst/>
          </a:prstGeom>
          <a:ln w="19050">
            <a:solidFill>
              <a:srgbClr val="8A8A8A"/>
            </a:solidFill>
          </a:ln>
        </p:spPr>
      </p:cxnSp>
      <p:sp>
        <p:nvSpPr>
          <p:cNvPr id="147" name="Rounded Rectangle 146"/>
          <p:cNvSpPr/>
          <p:nvPr/>
        </p:nvSpPr>
        <p:spPr>
          <a:xfrm>
            <a:off x="15361920" y="7955279"/>
            <a:ext cx="2203704" cy="1042415"/>
          </a:xfrm>
          <a:prstGeom prst="roundRect">
            <a:avLst>
              <a:gd name="adj" fmla="val 7017"/>
            </a:avLst>
          </a:prstGeom>
          <a:solidFill>
            <a:srgbClr val="FFFFFF"/>
          </a:solidFill>
          <a:ln w="15875">
            <a:solidFill>
              <a:srgbClr val="8A8A8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15361920" y="7955279"/>
            <a:ext cx="2203704" cy="104241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>
                <a:solidFill>
                  <a:srgbClr val="555555"/>
                </a:solidFill>
                <a:latin typeface="Arial"/>
                <a:ea typeface="Arial"/>
              </a:rPr>
              <a:t>산하</a:t>
            </a:r>
          </a:p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1A1A1A"/>
                </a:solidFill>
                <a:latin typeface="Arial"/>
                <a:ea typeface="Arial"/>
              </a:rPr>
              <a:t>반도체연구소</a:t>
            </a:r>
          </a:p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1A1A1A"/>
                </a:solidFill>
                <a:latin typeface="Arial"/>
                <a:ea typeface="Arial"/>
              </a:rPr>
              <a:t>/ MTC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722376" y="9601200"/>
            <a:ext cx="1545335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주: 효과 그림은 방향을 보여 주는 개념도이며 수치는 표기하지 않음. 정량 효과는 Fab별 검증 후 확정 [사내 확인]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6468344" y="9601200"/>
            <a:ext cx="10972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1600" b="0">
                <a:solidFill>
                  <a:srgbClr val="555555"/>
                </a:solidFill>
                <a:latin typeface="Arial"/>
                <a:ea typeface="Arial"/>
              </a:rPr>
              <a:t>5 /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2376" y="365760"/>
            <a:ext cx="109728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3C4FA5"/>
                </a:solidFill>
                <a:latin typeface="Arial"/>
                <a:ea typeface="Arial"/>
              </a:rPr>
              <a:t>Fab 통합 운영</a:t>
            </a:r>
            <a:r>
              <a:rPr sz="1800" b="0">
                <a:solidFill>
                  <a:srgbClr val="555555"/>
                </a:solidFill>
                <a:latin typeface="Arial"/>
                <a:ea typeface="Arial"/>
              </a:rPr>
              <a:t>   6 / 6  시안 6 · Fab 도면 컬러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9224" y="365760"/>
            <a:ext cx="54864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1800" b="0">
                <a:solidFill>
                  <a:srgbClr val="555555"/>
                </a:solidFill>
                <a:latin typeface="Arial"/>
                <a:ea typeface="Arial"/>
              </a:rPr>
              <a:t>[문서등급 표기]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2376" y="786384"/>
            <a:ext cx="16843248" cy="10241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1A1A1A"/>
                </a:solidFill>
                <a:latin typeface="Arial"/>
                <a:ea typeface="Arial"/>
              </a:rPr>
              <a:t>DRAM/NAND Fab 통합 운영:</a:t>
            </a:r>
          </a:p>
          <a:p>
            <a:pPr algn="l">
              <a:lnSpc>
                <a:spcPct val="105000"/>
              </a:lnSpc>
            </a:pPr>
            <a:r>
              <a:rPr sz="3200" b="1">
                <a:solidFill>
                  <a:srgbClr val="1A1A1A"/>
                </a:solidFill>
                <a:latin typeface="Arial"/>
                <a:ea typeface="Arial"/>
              </a:rPr>
              <a:t>Bonding 시대에 맞는 Common Platform 구성</a:t>
            </a:r>
          </a:p>
        </p:txBody>
      </p:sp>
      <p:sp>
        <p:nvSpPr>
          <p:cNvPr id="5" name="Rectangle 4"/>
          <p:cNvSpPr/>
          <p:nvPr/>
        </p:nvSpPr>
        <p:spPr>
          <a:xfrm>
            <a:off x="722376" y="1938528"/>
            <a:ext cx="16843248" cy="18288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rapezoid 5"/>
          <p:cNvSpPr/>
          <p:nvPr/>
        </p:nvSpPr>
        <p:spPr>
          <a:xfrm>
            <a:off x="722376" y="2084831"/>
            <a:ext cx="16843248" cy="640080"/>
          </a:xfrm>
          <a:prstGeom prst="trapezoid">
            <a:avLst>
              <a:gd name="adj" fmla="val 55000"/>
            </a:avLst>
          </a:prstGeom>
          <a:solidFill>
            <a:srgbClr val="2633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185416" y="2084831"/>
            <a:ext cx="13917168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800" b="0">
                <a:solidFill>
                  <a:srgbClr val="AEB8E0"/>
                </a:solidFill>
                <a:latin typeface="Arial"/>
                <a:ea typeface="Arial"/>
              </a:rPr>
              <a:t>종합 반도체 경쟁력  </a:t>
            </a:r>
            <a:r>
              <a:rPr sz="2400" b="1">
                <a:solidFill>
                  <a:srgbClr val="FFFFFF"/>
                </a:solidFill>
                <a:latin typeface="Arial"/>
                <a:ea typeface="Arial"/>
              </a:rPr>
              <a:t>기술·생산 경쟁력 + 효율·유연성 + </a:t>
            </a:r>
            <a:r>
              <a:rPr sz="2400" b="1">
                <a:solidFill>
                  <a:srgbClr val="F6C46B"/>
                </a:solidFill>
                <a:latin typeface="Arial"/>
                <a:ea typeface="Arial"/>
              </a:rPr>
              <a:t>Buying Power</a:t>
            </a:r>
          </a:p>
        </p:txBody>
      </p:sp>
      <p:sp>
        <p:nvSpPr>
          <p:cNvPr id="8" name="Rectangle 7"/>
          <p:cNvSpPr/>
          <p:nvPr/>
        </p:nvSpPr>
        <p:spPr>
          <a:xfrm>
            <a:off x="996696" y="2816352"/>
            <a:ext cx="5175504" cy="2231136"/>
          </a:xfrm>
          <a:prstGeom prst="rect">
            <a:avLst/>
          </a:prstGeom>
          <a:solidFill>
            <a:srgbClr val="F0F2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96696" y="2816352"/>
            <a:ext cx="5175504" cy="54864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61288" y="2944368"/>
            <a:ext cx="365760" cy="365760"/>
          </a:xfrm>
          <a:prstGeom prst="ellipse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61288" y="2944368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36776" y="2907792"/>
            <a:ext cx="438912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1A1A1A"/>
                </a:solidFill>
                <a:latin typeface="Arial"/>
                <a:ea typeface="Arial"/>
              </a:rPr>
              <a:t>공간 효율성</a:t>
            </a:r>
            <a:r>
              <a:rPr sz="1600" b="0">
                <a:solidFill>
                  <a:srgbClr val="3C4FA5"/>
                </a:solidFill>
                <a:latin typeface="Arial"/>
                <a:ea typeface="Arial"/>
              </a:rPr>
              <a:t>  Space Efficiency</a:t>
            </a:r>
          </a:p>
        </p:txBody>
      </p:sp>
      <p:pic>
        <p:nvPicPr>
          <p:cNvPr id="13" name="Picture 12" descr="c3_spa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1288" y="3364992"/>
            <a:ext cx="4846320" cy="1645919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996696" y="5120640"/>
            <a:ext cx="5175504" cy="457200"/>
          </a:xfrm>
          <a:prstGeom prst="rect">
            <a:avLst/>
          </a:prstGeom>
          <a:solidFill>
            <a:srgbClr val="FFFFFF"/>
          </a:solidFill>
          <a:ln w="15875">
            <a:solidFill>
              <a:srgbClr val="C0CAE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97864" y="5120640"/>
            <a:ext cx="48463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3C4FA5"/>
                </a:solidFill>
                <a:latin typeface="Arial"/>
                <a:ea typeface="Arial"/>
              </a:rPr>
              <a:t>설비 밀집도 향상</a:t>
            </a:r>
            <a:r>
              <a:rPr sz="1800" b="0">
                <a:solidFill>
                  <a:srgbClr val="1A1A1A"/>
                </a:solidFill>
                <a:latin typeface="Arial"/>
                <a:ea typeface="Arial"/>
              </a:rPr>
              <a:t>, Dead Space 최소화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96696" y="5632704"/>
            <a:ext cx="5175504" cy="457200"/>
          </a:xfrm>
          <a:prstGeom prst="rect">
            <a:avLst/>
          </a:prstGeom>
          <a:solidFill>
            <a:srgbClr val="FFFFFF"/>
          </a:solidFill>
          <a:ln w="15875">
            <a:solidFill>
              <a:srgbClr val="C0CAE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97864" y="5632704"/>
            <a:ext cx="48463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3C4FA5"/>
                </a:solidFill>
                <a:latin typeface="Arial"/>
                <a:ea typeface="Arial"/>
              </a:rPr>
              <a:t>동일 모델 군집화</a:t>
            </a:r>
            <a:r>
              <a:rPr sz="1800" b="0">
                <a:solidFill>
                  <a:srgbClr val="1A1A1A"/>
                </a:solidFill>
                <a:latin typeface="Arial"/>
                <a:ea typeface="Arial"/>
              </a:rPr>
              <a:t> 시너지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96696" y="6144768"/>
            <a:ext cx="5175504" cy="457200"/>
          </a:xfrm>
          <a:prstGeom prst="rect">
            <a:avLst/>
          </a:prstGeom>
          <a:solidFill>
            <a:srgbClr val="FFFFFF"/>
          </a:solidFill>
          <a:ln w="15875">
            <a:solidFill>
              <a:srgbClr val="C0CAE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97864" y="6144768"/>
            <a:ext cx="48463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3C4FA5"/>
                </a:solidFill>
                <a:latin typeface="Arial"/>
                <a:ea typeface="Arial"/>
              </a:rPr>
              <a:t>단위 면적당 생산성</a:t>
            </a:r>
            <a:r>
              <a:rPr sz="1800" b="0">
                <a:solidFill>
                  <a:srgbClr val="1A1A1A"/>
                </a:solidFill>
                <a:latin typeface="Arial"/>
                <a:ea typeface="Arial"/>
              </a:rPr>
              <a:t> 극대화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56248" y="2816352"/>
            <a:ext cx="5175504" cy="2231136"/>
          </a:xfrm>
          <a:prstGeom prst="rect">
            <a:avLst/>
          </a:prstGeom>
          <a:solidFill>
            <a:srgbClr val="E8F5F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56248" y="2816352"/>
            <a:ext cx="5175504" cy="54864"/>
          </a:xfrm>
          <a:prstGeom prst="rect">
            <a:avLst/>
          </a:prstGeom>
          <a:solidFill>
            <a:srgbClr val="1E8C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720840" y="2944368"/>
            <a:ext cx="365760" cy="365760"/>
          </a:xfrm>
          <a:prstGeom prst="ellipse">
            <a:avLst/>
          </a:prstGeom>
          <a:solidFill>
            <a:srgbClr val="1E8C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20840" y="2944368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96328" y="2907792"/>
            <a:ext cx="438912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1A1A1A"/>
                </a:solidFill>
                <a:latin typeface="Arial"/>
                <a:ea typeface="Arial"/>
              </a:rPr>
              <a:t>시황 변화 대응력</a:t>
            </a:r>
            <a:r>
              <a:rPr sz="1600" b="0">
                <a:solidFill>
                  <a:srgbClr val="1E8C8C"/>
                </a:solidFill>
                <a:latin typeface="Arial"/>
                <a:ea typeface="Arial"/>
              </a:rPr>
              <a:t>  Market Agility</a:t>
            </a:r>
          </a:p>
        </p:txBody>
      </p:sp>
      <p:pic>
        <p:nvPicPr>
          <p:cNvPr id="25" name="Picture 24" descr="c3_agil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3364992"/>
            <a:ext cx="4846320" cy="1645919"/>
          </a:xfrm>
          <a:prstGeom prst="rect">
            <a:avLst/>
          </a:prstGeom>
        </p:spPr>
      </p:pic>
      <p:sp>
        <p:nvSpPr>
          <p:cNvPr id="26" name="Rectangle 25"/>
          <p:cNvSpPr/>
          <p:nvPr/>
        </p:nvSpPr>
        <p:spPr>
          <a:xfrm>
            <a:off x="6556248" y="5120640"/>
            <a:ext cx="5175504" cy="457200"/>
          </a:xfrm>
          <a:prstGeom prst="rect">
            <a:avLst/>
          </a:prstGeom>
          <a:solidFill>
            <a:srgbClr val="FFFFFF"/>
          </a:solidFill>
          <a:ln w="15875">
            <a:solidFill>
              <a:srgbClr val="A9DCD7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57416" y="5120640"/>
            <a:ext cx="48463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E8C8C"/>
                </a:solidFill>
                <a:latin typeface="Arial"/>
                <a:ea typeface="Arial"/>
              </a:rPr>
              <a:t>DRAM/NAND 설비 전환</a:t>
            </a:r>
            <a:r>
              <a:rPr sz="1800" b="0">
                <a:solidFill>
                  <a:srgbClr val="1A1A1A"/>
                </a:solidFill>
                <a:latin typeface="Arial"/>
                <a:ea typeface="Arial"/>
              </a:rPr>
              <a:t> 속도 증가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56248" y="5632704"/>
            <a:ext cx="5175504" cy="457200"/>
          </a:xfrm>
          <a:prstGeom prst="rect">
            <a:avLst/>
          </a:prstGeom>
          <a:solidFill>
            <a:srgbClr val="FFFFFF"/>
          </a:solidFill>
          <a:ln w="15875">
            <a:solidFill>
              <a:srgbClr val="A9DCD7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57416" y="5632704"/>
            <a:ext cx="48463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E8C8C"/>
                </a:solidFill>
                <a:latin typeface="Arial"/>
                <a:ea typeface="Arial"/>
              </a:rPr>
              <a:t>생산 Bottleneck 해소</a:t>
            </a:r>
            <a:r>
              <a:rPr sz="1800" b="0">
                <a:solidFill>
                  <a:srgbClr val="1A1A1A"/>
                </a:solidFill>
                <a:latin typeface="Arial"/>
                <a:ea typeface="Arial"/>
              </a:rPr>
              <a:t>로 생산성 증가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56248" y="6144768"/>
            <a:ext cx="5175504" cy="457200"/>
          </a:xfrm>
          <a:prstGeom prst="rect">
            <a:avLst/>
          </a:prstGeom>
          <a:solidFill>
            <a:srgbClr val="FFFFFF"/>
          </a:solidFill>
          <a:ln w="15875">
            <a:solidFill>
              <a:srgbClr val="A9DCD7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757416" y="6144768"/>
            <a:ext cx="48463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E8C8C"/>
                </a:solidFill>
                <a:latin typeface="Arial"/>
                <a:ea typeface="Arial"/>
              </a:rPr>
              <a:t>유휴 설비 최소화</a:t>
            </a:r>
            <a:r>
              <a:rPr sz="1800" b="0">
                <a:solidFill>
                  <a:srgbClr val="1A1A1A"/>
                </a:solidFill>
                <a:latin typeface="Arial"/>
                <a:ea typeface="Arial"/>
              </a:rPr>
              <a:t>, 투자 회수 기간 단축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2115800" y="2816352"/>
            <a:ext cx="5175504" cy="2231136"/>
          </a:xfrm>
          <a:prstGeom prst="rect">
            <a:avLst/>
          </a:prstGeom>
          <a:solidFill>
            <a:srgbClr val="F1EE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2115800" y="2816352"/>
            <a:ext cx="5175504" cy="54864"/>
          </a:xfrm>
          <a:prstGeom prst="rect">
            <a:avLst/>
          </a:prstGeom>
          <a:solidFill>
            <a:srgbClr val="6E56B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2280392" y="2944368"/>
            <a:ext cx="365760" cy="365760"/>
          </a:xfrm>
          <a:prstGeom prst="ellipse">
            <a:avLst/>
          </a:prstGeom>
          <a:solidFill>
            <a:srgbClr val="6E56B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2280392" y="2944368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755880" y="2907792"/>
            <a:ext cx="438912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1A1A1A"/>
                </a:solidFill>
                <a:latin typeface="Arial"/>
                <a:ea typeface="Arial"/>
              </a:rPr>
              <a:t>설비 통일성·선단화</a:t>
            </a:r>
            <a:r>
              <a:rPr sz="1600" b="0">
                <a:solidFill>
                  <a:srgbClr val="6E56B0"/>
                </a:solidFill>
                <a:latin typeface="Arial"/>
                <a:ea typeface="Arial"/>
              </a:rPr>
              <a:t>  Equipment Unif.</a:t>
            </a:r>
          </a:p>
        </p:txBody>
      </p:sp>
      <p:pic>
        <p:nvPicPr>
          <p:cNvPr id="37" name="Picture 36" descr="c3_uni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280392" y="3364992"/>
            <a:ext cx="4846320" cy="1645919"/>
          </a:xfrm>
          <a:prstGeom prst="rect">
            <a:avLst/>
          </a:prstGeom>
        </p:spPr>
      </p:pic>
      <p:sp>
        <p:nvSpPr>
          <p:cNvPr id="38" name="Rectangle 37"/>
          <p:cNvSpPr/>
          <p:nvPr/>
        </p:nvSpPr>
        <p:spPr>
          <a:xfrm>
            <a:off x="12115800" y="5120640"/>
            <a:ext cx="5175504" cy="457200"/>
          </a:xfrm>
          <a:prstGeom prst="rect">
            <a:avLst/>
          </a:prstGeom>
          <a:solidFill>
            <a:srgbClr val="FFFFFF"/>
          </a:solidFill>
          <a:ln w="15875">
            <a:solidFill>
              <a:srgbClr val="D3CAE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16968" y="5120640"/>
            <a:ext cx="48463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6E56B0"/>
                </a:solidFill>
                <a:latin typeface="Arial"/>
                <a:ea typeface="Arial"/>
              </a:rPr>
              <a:t>P-Mix 관점 </a:t>
            </a:r>
            <a:r>
              <a:rPr sz="1800" b="0">
                <a:solidFill>
                  <a:srgbClr val="1A1A1A"/>
                </a:solidFill>
                <a:latin typeface="Arial"/>
                <a:ea typeface="Arial"/>
              </a:rPr>
              <a:t>투자·전환 Loss 감소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2115800" y="5632704"/>
            <a:ext cx="5175504" cy="457200"/>
          </a:xfrm>
          <a:prstGeom prst="rect">
            <a:avLst/>
          </a:prstGeom>
          <a:solidFill>
            <a:srgbClr val="FFFFFF"/>
          </a:solidFill>
          <a:ln w="15875">
            <a:solidFill>
              <a:srgbClr val="D3CAE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2316968" y="5632704"/>
            <a:ext cx="48463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6E56B0"/>
                </a:solidFill>
                <a:latin typeface="Arial"/>
                <a:ea typeface="Arial"/>
              </a:rPr>
              <a:t>생산성 향상</a:t>
            </a:r>
            <a:r>
              <a:rPr sz="1800" b="0">
                <a:solidFill>
                  <a:srgbClr val="1A1A1A"/>
                </a:solidFill>
                <a:latin typeface="Arial"/>
                <a:ea typeface="Arial"/>
              </a:rPr>
              <a:t>, 수율 안정화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2115800" y="6144768"/>
            <a:ext cx="5175504" cy="457200"/>
          </a:xfrm>
          <a:prstGeom prst="rect">
            <a:avLst/>
          </a:prstGeom>
          <a:solidFill>
            <a:srgbClr val="FFFFFF"/>
          </a:solidFill>
          <a:ln w="15875">
            <a:solidFill>
              <a:srgbClr val="D3CAE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2316968" y="6144768"/>
            <a:ext cx="48463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6E56B0"/>
                </a:solidFill>
                <a:latin typeface="Arial"/>
                <a:ea typeface="Arial"/>
              </a:rPr>
              <a:t>강력한 구매 협상력</a:t>
            </a:r>
            <a:r>
              <a:rPr sz="1800" b="0">
                <a:solidFill>
                  <a:srgbClr val="1A1A1A"/>
                </a:solidFill>
                <a:latin typeface="Arial"/>
                <a:ea typeface="Arial"/>
              </a:rPr>
              <a:t> 확보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88136" y="6711696"/>
            <a:ext cx="109728" cy="73152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460275" y="6711696"/>
            <a:ext cx="109728" cy="73152"/>
          </a:xfrm>
          <a:prstGeom prst="rect">
            <a:avLst/>
          </a:prstGeom>
          <a:solidFill>
            <a:srgbClr val="1E8C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832415" y="6711696"/>
            <a:ext cx="109728" cy="73152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2204554" y="6711696"/>
            <a:ext cx="109728" cy="73152"/>
          </a:xfrm>
          <a:prstGeom prst="rect">
            <a:avLst/>
          </a:prstGeom>
          <a:solidFill>
            <a:srgbClr val="1E8C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2576694" y="6711696"/>
            <a:ext cx="109728" cy="73152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2948833" y="6711696"/>
            <a:ext cx="109728" cy="73152"/>
          </a:xfrm>
          <a:prstGeom prst="rect">
            <a:avLst/>
          </a:prstGeom>
          <a:solidFill>
            <a:srgbClr val="1E8C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3320973" y="6711696"/>
            <a:ext cx="109728" cy="73152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3693112" y="6711696"/>
            <a:ext cx="109728" cy="73152"/>
          </a:xfrm>
          <a:prstGeom prst="rect">
            <a:avLst/>
          </a:prstGeom>
          <a:solidFill>
            <a:srgbClr val="1E8C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4065252" y="6711696"/>
            <a:ext cx="109728" cy="73152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437391" y="6711696"/>
            <a:ext cx="109728" cy="73152"/>
          </a:xfrm>
          <a:prstGeom prst="rect">
            <a:avLst/>
          </a:prstGeom>
          <a:solidFill>
            <a:srgbClr val="1E8C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4809531" y="6711696"/>
            <a:ext cx="109728" cy="73152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181670" y="6711696"/>
            <a:ext cx="109728" cy="73152"/>
          </a:xfrm>
          <a:prstGeom prst="rect">
            <a:avLst/>
          </a:prstGeom>
          <a:solidFill>
            <a:srgbClr val="1E8C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5553810" y="6711696"/>
            <a:ext cx="109728" cy="73152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5925949" y="6711696"/>
            <a:ext cx="109728" cy="73152"/>
          </a:xfrm>
          <a:prstGeom prst="rect">
            <a:avLst/>
          </a:prstGeom>
          <a:solidFill>
            <a:srgbClr val="1E8C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6298089" y="6711696"/>
            <a:ext cx="109728" cy="73152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6670229" y="6711696"/>
            <a:ext cx="109728" cy="73152"/>
          </a:xfrm>
          <a:prstGeom prst="rect">
            <a:avLst/>
          </a:prstGeom>
          <a:solidFill>
            <a:srgbClr val="1E8C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042368" y="6711696"/>
            <a:ext cx="109728" cy="73152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414508" y="6711696"/>
            <a:ext cx="109728" cy="73152"/>
          </a:xfrm>
          <a:prstGeom prst="rect">
            <a:avLst/>
          </a:prstGeom>
          <a:solidFill>
            <a:srgbClr val="1E8C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786647" y="6711696"/>
            <a:ext cx="109728" cy="73152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8158787" y="6711696"/>
            <a:ext cx="109728" cy="73152"/>
          </a:xfrm>
          <a:prstGeom prst="rect">
            <a:avLst/>
          </a:prstGeom>
          <a:solidFill>
            <a:srgbClr val="1E8C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8530926" y="6711696"/>
            <a:ext cx="109728" cy="73152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8903066" y="6711696"/>
            <a:ext cx="109728" cy="73152"/>
          </a:xfrm>
          <a:prstGeom prst="rect">
            <a:avLst/>
          </a:prstGeom>
          <a:solidFill>
            <a:srgbClr val="1E8C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9275205" y="6711696"/>
            <a:ext cx="109728" cy="73152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9647345" y="6711696"/>
            <a:ext cx="109728" cy="73152"/>
          </a:xfrm>
          <a:prstGeom prst="rect">
            <a:avLst/>
          </a:prstGeom>
          <a:solidFill>
            <a:srgbClr val="1E8C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0019484" y="6711696"/>
            <a:ext cx="109728" cy="73152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10391624" y="6711696"/>
            <a:ext cx="109728" cy="73152"/>
          </a:xfrm>
          <a:prstGeom prst="rect">
            <a:avLst/>
          </a:prstGeom>
          <a:solidFill>
            <a:srgbClr val="1E8C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10763763" y="6711696"/>
            <a:ext cx="109728" cy="73152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11135903" y="6711696"/>
            <a:ext cx="109728" cy="73152"/>
          </a:xfrm>
          <a:prstGeom prst="rect">
            <a:avLst/>
          </a:prstGeom>
          <a:solidFill>
            <a:srgbClr val="1E8C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11508042" y="6711696"/>
            <a:ext cx="109728" cy="73152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11880182" y="6711696"/>
            <a:ext cx="109728" cy="73152"/>
          </a:xfrm>
          <a:prstGeom prst="rect">
            <a:avLst/>
          </a:prstGeom>
          <a:solidFill>
            <a:srgbClr val="1E8C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12252322" y="6711696"/>
            <a:ext cx="109728" cy="73152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12624461" y="6711696"/>
            <a:ext cx="109728" cy="73152"/>
          </a:xfrm>
          <a:prstGeom prst="rect">
            <a:avLst/>
          </a:prstGeom>
          <a:solidFill>
            <a:srgbClr val="1E8C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2996601" y="6711696"/>
            <a:ext cx="109728" cy="73152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13368740" y="6711696"/>
            <a:ext cx="109728" cy="73152"/>
          </a:xfrm>
          <a:prstGeom prst="rect">
            <a:avLst/>
          </a:prstGeom>
          <a:solidFill>
            <a:srgbClr val="1E8C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13740880" y="6711696"/>
            <a:ext cx="109728" cy="73152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14113019" y="6711696"/>
            <a:ext cx="109728" cy="73152"/>
          </a:xfrm>
          <a:prstGeom prst="rect">
            <a:avLst/>
          </a:prstGeom>
          <a:solidFill>
            <a:srgbClr val="1E8C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14485159" y="6711696"/>
            <a:ext cx="109728" cy="73152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14857298" y="6711696"/>
            <a:ext cx="109728" cy="73152"/>
          </a:xfrm>
          <a:prstGeom prst="rect">
            <a:avLst/>
          </a:prstGeom>
          <a:solidFill>
            <a:srgbClr val="1E8C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15229438" y="6711696"/>
            <a:ext cx="109728" cy="73152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15601577" y="6711696"/>
            <a:ext cx="109728" cy="73152"/>
          </a:xfrm>
          <a:prstGeom prst="rect">
            <a:avLst/>
          </a:prstGeom>
          <a:solidFill>
            <a:srgbClr val="1E8C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5973717" y="6711696"/>
            <a:ext cx="109728" cy="73152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6345856" y="6711696"/>
            <a:ext cx="109728" cy="73152"/>
          </a:xfrm>
          <a:prstGeom prst="rect">
            <a:avLst/>
          </a:prstGeom>
          <a:solidFill>
            <a:srgbClr val="1E8C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6717996" y="6711696"/>
            <a:ext cx="109728" cy="73152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17090136" y="6711696"/>
            <a:ext cx="109728" cy="73152"/>
          </a:xfrm>
          <a:prstGeom prst="rect">
            <a:avLst/>
          </a:prstGeom>
          <a:solidFill>
            <a:srgbClr val="1E8C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996696" y="6803136"/>
            <a:ext cx="16294608" cy="512064"/>
          </a:xfrm>
          <a:prstGeom prst="rect">
            <a:avLst/>
          </a:prstGeom>
          <a:solidFill>
            <a:srgbClr val="2633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271016" y="6803136"/>
            <a:ext cx="15745967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2200" b="1">
                <a:solidFill>
                  <a:srgbClr val="FFFFFF"/>
                </a:solidFill>
                <a:latin typeface="Arial"/>
                <a:ea typeface="Arial"/>
              </a:rPr>
              <a:t>Common Platform   </a:t>
            </a:r>
            <a:r>
              <a:rPr sz="2000" b="0">
                <a:solidFill>
                  <a:srgbClr val="FFFFFF"/>
                </a:solidFill>
                <a:latin typeface="Arial"/>
                <a:ea typeface="Arial"/>
              </a:rPr>
              <a:t>DRAM·NAND 공용 BEOL · Bonding 공정 · 설비 Pool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722376" y="7662672"/>
            <a:ext cx="1554480" cy="420624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 w="19050">
            <a:solidFill>
              <a:srgbClr val="26336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722376" y="7662672"/>
            <a:ext cx="15544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>
                <a:solidFill>
                  <a:srgbClr val="26336E"/>
                </a:solidFill>
                <a:latin typeface="Arial"/>
                <a:ea typeface="Arial"/>
              </a:rPr>
              <a:t>운영 제언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" y="8211312"/>
            <a:ext cx="3383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>
                <a:solidFill>
                  <a:srgbClr val="1A1A1A"/>
                </a:solidFill>
                <a:latin typeface="Arial"/>
                <a:ea typeface="Arial"/>
              </a:rPr>
              <a:t>메모리 BEOL</a:t>
            </a:r>
          </a:p>
          <a:p>
            <a:pPr algn="l">
              <a:lnSpc>
                <a:spcPct val="105000"/>
              </a:lnSpc>
            </a:pPr>
            <a:r>
              <a:rPr sz="2600" b="1">
                <a:solidFill>
                  <a:srgbClr val="1A1A1A"/>
                </a:solidFill>
                <a:latin typeface="Arial"/>
                <a:ea typeface="Arial"/>
              </a:rPr>
              <a:t>통합조직 구성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4480560" y="7644383"/>
            <a:ext cx="4023360" cy="585216"/>
          </a:xfrm>
          <a:prstGeom prst="roundRect">
            <a:avLst>
              <a:gd name="adj" fmla="val 12500"/>
            </a:avLst>
          </a:prstGeom>
          <a:solidFill>
            <a:srgbClr val="E9ECF8"/>
          </a:solidFill>
          <a:ln w="12700">
            <a:solidFill>
              <a:srgbClr val="3C4FA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4731654" y="7754111"/>
            <a:ext cx="138257" cy="138257"/>
          </a:xfrm>
          <a:prstGeom prst="ellipse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5" name="Round Same Side Corner Rectangle 94"/>
          <p:cNvSpPr/>
          <p:nvPr/>
        </p:nvSpPr>
        <p:spPr>
          <a:xfrm>
            <a:off x="4681728" y="7915412"/>
            <a:ext cx="238109" cy="222747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5042916" y="7754111"/>
            <a:ext cx="138257" cy="138257"/>
          </a:xfrm>
          <a:prstGeom prst="ellipse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7" name="Round Same Side Corner Rectangle 96"/>
          <p:cNvSpPr/>
          <p:nvPr/>
        </p:nvSpPr>
        <p:spPr>
          <a:xfrm>
            <a:off x="4992989" y="7915412"/>
            <a:ext cx="238109" cy="222747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5354177" y="7754111"/>
            <a:ext cx="138257" cy="138257"/>
          </a:xfrm>
          <a:prstGeom prst="ellipse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9" name="Round Same Side Corner Rectangle 98"/>
          <p:cNvSpPr/>
          <p:nvPr/>
        </p:nvSpPr>
        <p:spPr>
          <a:xfrm>
            <a:off x="5304251" y="7915412"/>
            <a:ext cx="238109" cy="222747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5760720" y="7644383"/>
            <a:ext cx="265176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A1A1A"/>
                </a:solidFill>
                <a:latin typeface="Arial"/>
                <a:ea typeface="Arial"/>
              </a:rPr>
              <a:t>DRAM BEOL 조직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4480560" y="8723376"/>
            <a:ext cx="4023360" cy="585216"/>
          </a:xfrm>
          <a:prstGeom prst="roundRect">
            <a:avLst>
              <a:gd name="adj" fmla="val 12500"/>
            </a:avLst>
          </a:prstGeom>
          <a:solidFill>
            <a:srgbClr val="E3F3F1"/>
          </a:solidFill>
          <a:ln w="12700">
            <a:solidFill>
              <a:srgbClr val="1E8C8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4731654" y="8833103"/>
            <a:ext cx="138257" cy="138257"/>
          </a:xfrm>
          <a:prstGeom prst="ellipse">
            <a:avLst/>
          </a:prstGeom>
          <a:solidFill>
            <a:srgbClr val="1E8C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3" name="Round Same Side Corner Rectangle 102"/>
          <p:cNvSpPr/>
          <p:nvPr/>
        </p:nvSpPr>
        <p:spPr>
          <a:xfrm>
            <a:off x="4681728" y="8994404"/>
            <a:ext cx="238109" cy="222747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1E8C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5042916" y="8833103"/>
            <a:ext cx="138257" cy="138257"/>
          </a:xfrm>
          <a:prstGeom prst="ellipse">
            <a:avLst/>
          </a:prstGeom>
          <a:solidFill>
            <a:srgbClr val="1E8C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5" name="Round Same Side Corner Rectangle 104"/>
          <p:cNvSpPr/>
          <p:nvPr/>
        </p:nvSpPr>
        <p:spPr>
          <a:xfrm>
            <a:off x="4992989" y="8994404"/>
            <a:ext cx="238109" cy="222747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1E8C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5354177" y="8833103"/>
            <a:ext cx="138257" cy="138257"/>
          </a:xfrm>
          <a:prstGeom prst="ellipse">
            <a:avLst/>
          </a:prstGeom>
          <a:solidFill>
            <a:srgbClr val="1E8C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7" name="Round Same Side Corner Rectangle 106"/>
          <p:cNvSpPr/>
          <p:nvPr/>
        </p:nvSpPr>
        <p:spPr>
          <a:xfrm>
            <a:off x="5304251" y="8994404"/>
            <a:ext cx="238109" cy="222747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1E8C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5760720" y="8723376"/>
            <a:ext cx="265176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A1A1A"/>
                </a:solidFill>
                <a:latin typeface="Arial"/>
                <a:ea typeface="Arial"/>
              </a:rPr>
              <a:t>NAND BEOL 조직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4754880" y="8321040"/>
            <a:ext cx="109728" cy="310896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5060788" y="8321040"/>
            <a:ext cx="109728" cy="310896"/>
          </a:xfrm>
          <a:prstGeom prst="rect">
            <a:avLst/>
          </a:prstGeom>
          <a:solidFill>
            <a:srgbClr val="1E8C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5366696" y="8321040"/>
            <a:ext cx="109728" cy="310896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5672605" y="8321040"/>
            <a:ext cx="109728" cy="310896"/>
          </a:xfrm>
          <a:prstGeom prst="rect">
            <a:avLst/>
          </a:prstGeom>
          <a:solidFill>
            <a:srgbClr val="1E8C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5978513" y="8321040"/>
            <a:ext cx="109728" cy="310896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6284421" y="8321040"/>
            <a:ext cx="109728" cy="310896"/>
          </a:xfrm>
          <a:prstGeom prst="rect">
            <a:avLst/>
          </a:prstGeom>
          <a:solidFill>
            <a:srgbClr val="1E8C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6590330" y="8321040"/>
            <a:ext cx="109728" cy="310896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6896238" y="8321040"/>
            <a:ext cx="109728" cy="310896"/>
          </a:xfrm>
          <a:prstGeom prst="rect">
            <a:avLst/>
          </a:prstGeom>
          <a:solidFill>
            <a:srgbClr val="1E8C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7202146" y="8321040"/>
            <a:ext cx="109728" cy="310896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7508055" y="8321040"/>
            <a:ext cx="109728" cy="310896"/>
          </a:xfrm>
          <a:prstGeom prst="rect">
            <a:avLst/>
          </a:prstGeom>
          <a:solidFill>
            <a:srgbClr val="1E8C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7813963" y="8321040"/>
            <a:ext cx="109728" cy="310896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8119872" y="8321040"/>
            <a:ext cx="109728" cy="310896"/>
          </a:xfrm>
          <a:prstGeom prst="rect">
            <a:avLst/>
          </a:prstGeom>
          <a:solidFill>
            <a:srgbClr val="1E8C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8613648" y="8302752"/>
            <a:ext cx="109728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26336E"/>
                </a:solidFill>
                <a:latin typeface="Arial"/>
                <a:ea typeface="Arial"/>
              </a:rPr>
              <a:t>Bonding</a:t>
            </a:r>
          </a:p>
        </p:txBody>
      </p:sp>
      <p:sp>
        <p:nvSpPr>
          <p:cNvPr id="122" name="Right Arrow 121"/>
          <p:cNvSpPr/>
          <p:nvPr/>
        </p:nvSpPr>
        <p:spPr>
          <a:xfrm>
            <a:off x="9747504" y="8311896"/>
            <a:ext cx="566928" cy="329184"/>
          </a:xfrm>
          <a:prstGeom prst="rightArrow">
            <a:avLst/>
          </a:prstGeom>
          <a:solidFill>
            <a:srgbClr val="E39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3" name="Rounded Rectangle 122"/>
          <p:cNvSpPr/>
          <p:nvPr/>
        </p:nvSpPr>
        <p:spPr>
          <a:xfrm>
            <a:off x="10424160" y="7644383"/>
            <a:ext cx="4663440" cy="1664208"/>
          </a:xfrm>
          <a:prstGeom prst="roundRect">
            <a:avLst>
              <a:gd name="adj" fmla="val 4395"/>
            </a:avLst>
          </a:prstGeom>
          <a:solidFill>
            <a:srgbClr val="2633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10424160" y="7717536"/>
            <a:ext cx="46634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2400" b="1">
                <a:solidFill>
                  <a:srgbClr val="FFFFFF"/>
                </a:solidFill>
                <a:latin typeface="Arial"/>
                <a:ea typeface="Arial"/>
              </a:rPr>
              <a:t>메모리 BEOL 통합조직</a:t>
            </a:r>
          </a:p>
        </p:txBody>
      </p:sp>
      <p:sp>
        <p:nvSpPr>
          <p:cNvPr id="125" name="Oval 124"/>
          <p:cNvSpPr/>
          <p:nvPr/>
        </p:nvSpPr>
        <p:spPr>
          <a:xfrm>
            <a:off x="11785518" y="8193023"/>
            <a:ext cx="144840" cy="1448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6" name="Round Same Side Corner Rectangle 125"/>
          <p:cNvSpPr/>
          <p:nvPr/>
        </p:nvSpPr>
        <p:spPr>
          <a:xfrm>
            <a:off x="11733215" y="8362005"/>
            <a:ext cx="249448" cy="233354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12144695" y="8193023"/>
            <a:ext cx="144840" cy="1448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8" name="Round Same Side Corner Rectangle 127"/>
          <p:cNvSpPr/>
          <p:nvPr/>
        </p:nvSpPr>
        <p:spPr>
          <a:xfrm>
            <a:off x="12092391" y="8362005"/>
            <a:ext cx="249448" cy="233354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12503871" y="8193023"/>
            <a:ext cx="144840" cy="1448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0" name="Round Same Side Corner Rectangle 129"/>
          <p:cNvSpPr/>
          <p:nvPr/>
        </p:nvSpPr>
        <p:spPr>
          <a:xfrm>
            <a:off x="12451567" y="8362005"/>
            <a:ext cx="249448" cy="233354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12863047" y="8193023"/>
            <a:ext cx="144840" cy="1448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2" name="Round Same Side Corner Rectangle 131"/>
          <p:cNvSpPr/>
          <p:nvPr/>
        </p:nvSpPr>
        <p:spPr>
          <a:xfrm>
            <a:off x="12810744" y="8362005"/>
            <a:ext cx="249448" cy="233354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13222224" y="8193023"/>
            <a:ext cx="144840" cy="1448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4" name="Round Same Side Corner Rectangle 133"/>
          <p:cNvSpPr/>
          <p:nvPr/>
        </p:nvSpPr>
        <p:spPr>
          <a:xfrm>
            <a:off x="13169920" y="8362005"/>
            <a:ext cx="249448" cy="233354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13581400" y="8193023"/>
            <a:ext cx="144840" cy="1448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6" name="Round Same Side Corner Rectangle 135"/>
          <p:cNvSpPr/>
          <p:nvPr/>
        </p:nvSpPr>
        <p:spPr>
          <a:xfrm>
            <a:off x="13529096" y="8362005"/>
            <a:ext cx="249448" cy="233354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7" name="Rounded Rectangle 136"/>
          <p:cNvSpPr/>
          <p:nvPr/>
        </p:nvSpPr>
        <p:spPr>
          <a:xfrm>
            <a:off x="10588752" y="8723376"/>
            <a:ext cx="1371600" cy="438912"/>
          </a:xfrm>
          <a:prstGeom prst="roundRect">
            <a:avLst>
              <a:gd name="adj" fmla="val 16666"/>
            </a:avLst>
          </a:prstGeom>
          <a:solidFill>
            <a:srgbClr val="3C4FA5"/>
          </a:solidFill>
          <a:ln w="15875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10588752" y="8723376"/>
            <a:ext cx="13716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</a:rPr>
              <a:t>표준 Layout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12070080" y="8723376"/>
            <a:ext cx="1371600" cy="438912"/>
          </a:xfrm>
          <a:prstGeom prst="roundRect">
            <a:avLst>
              <a:gd name="adj" fmla="val 16666"/>
            </a:avLst>
          </a:prstGeom>
          <a:solidFill>
            <a:srgbClr val="1E8C8C"/>
          </a:solidFill>
          <a:ln w="15875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12070080" y="8723376"/>
            <a:ext cx="13716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</a:rPr>
              <a:t>설비 Pool</a:t>
            </a:r>
          </a:p>
        </p:txBody>
      </p:sp>
      <p:sp>
        <p:nvSpPr>
          <p:cNvPr id="141" name="Rounded Rectangle 140"/>
          <p:cNvSpPr/>
          <p:nvPr/>
        </p:nvSpPr>
        <p:spPr>
          <a:xfrm>
            <a:off x="13551408" y="8723376"/>
            <a:ext cx="1371600" cy="438912"/>
          </a:xfrm>
          <a:prstGeom prst="roundRect">
            <a:avLst>
              <a:gd name="adj" fmla="val 16666"/>
            </a:avLst>
          </a:prstGeom>
          <a:solidFill>
            <a:srgbClr val="6E56B0"/>
          </a:solidFill>
          <a:ln w="15875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13551408" y="8723376"/>
            <a:ext cx="13716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</a:rPr>
              <a:t>통합 구매</a:t>
            </a:r>
          </a:p>
        </p:txBody>
      </p:sp>
      <p:sp>
        <p:nvSpPr>
          <p:cNvPr id="143" name="Up Arrow 142"/>
          <p:cNvSpPr/>
          <p:nvPr/>
        </p:nvSpPr>
        <p:spPr>
          <a:xfrm>
            <a:off x="11365992" y="7370064"/>
            <a:ext cx="310896" cy="237744"/>
          </a:xfrm>
          <a:prstGeom prst="upArrow">
            <a:avLst/>
          </a:prstGeom>
          <a:solidFill>
            <a:srgbClr val="E39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4" name="Up Arrow 143"/>
          <p:cNvSpPr/>
          <p:nvPr/>
        </p:nvSpPr>
        <p:spPr>
          <a:xfrm>
            <a:off x="13834872" y="7370064"/>
            <a:ext cx="310896" cy="237744"/>
          </a:xfrm>
          <a:prstGeom prst="upArrow">
            <a:avLst/>
          </a:prstGeom>
          <a:solidFill>
            <a:srgbClr val="E39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11795760" y="7360920"/>
            <a:ext cx="1920239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B86E00"/>
                </a:solidFill>
                <a:latin typeface="Arial"/>
                <a:ea typeface="Arial"/>
              </a:rPr>
              <a:t>운영</a:t>
            </a:r>
          </a:p>
        </p:txBody>
      </p:sp>
      <p:cxnSp>
        <p:nvCxnSpPr>
          <p:cNvPr id="146" name="Connector 145"/>
          <p:cNvCxnSpPr/>
          <p:nvPr/>
        </p:nvCxnSpPr>
        <p:spPr>
          <a:xfrm>
            <a:off x="15087600" y="8476488"/>
            <a:ext cx="274320" cy="0"/>
          </a:xfrm>
          <a:prstGeom prst="line">
            <a:avLst/>
          </a:prstGeom>
          <a:ln w="19050">
            <a:solidFill>
              <a:srgbClr val="8A8A8A"/>
            </a:solidFill>
          </a:ln>
        </p:spPr>
      </p:cxnSp>
      <p:sp>
        <p:nvSpPr>
          <p:cNvPr id="147" name="Rounded Rectangle 146"/>
          <p:cNvSpPr/>
          <p:nvPr/>
        </p:nvSpPr>
        <p:spPr>
          <a:xfrm>
            <a:off x="15361920" y="7955279"/>
            <a:ext cx="2203704" cy="1042415"/>
          </a:xfrm>
          <a:prstGeom prst="roundRect">
            <a:avLst>
              <a:gd name="adj" fmla="val 7017"/>
            </a:avLst>
          </a:prstGeom>
          <a:solidFill>
            <a:srgbClr val="FFFFFF"/>
          </a:solidFill>
          <a:ln w="15875">
            <a:solidFill>
              <a:srgbClr val="8A8A8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15361920" y="7955279"/>
            <a:ext cx="2203704" cy="104241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>
                <a:solidFill>
                  <a:srgbClr val="555555"/>
                </a:solidFill>
                <a:latin typeface="Arial"/>
                <a:ea typeface="Arial"/>
              </a:rPr>
              <a:t>산하</a:t>
            </a:r>
          </a:p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1A1A1A"/>
                </a:solidFill>
                <a:latin typeface="Arial"/>
                <a:ea typeface="Arial"/>
              </a:rPr>
              <a:t>반도체연구소</a:t>
            </a:r>
          </a:p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1A1A1A"/>
                </a:solidFill>
                <a:latin typeface="Arial"/>
                <a:ea typeface="Arial"/>
              </a:rPr>
              <a:t>/ MTC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722376" y="9601200"/>
            <a:ext cx="1545335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주: 효과 그림은 방향을 보여 주는 개념도이며 수치는 표기하지 않음. 정량 효과는 Fab별 검증 후 확정 [사내 확인]. 설비 모델 코드는 예시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6468344" y="9601200"/>
            <a:ext cx="10972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1600" b="0">
                <a:solidFill>
                  <a:srgbClr val="555555"/>
                </a:solidFill>
                <a:latin typeface="Arial"/>
                <a:ea typeface="Arial"/>
              </a:rPr>
              <a:t>6 / 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