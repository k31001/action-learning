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내부 인터뷰 핵심 인용문 1장.</a:t>
            </a:r>
          </a:p>
          <a:p/>
          <a:p>
            <a:r>
              <a:t>세 발언을 이 순서로 놓은 이유: 최장석(상품기획)은 다운턴이 어떤 메커니즘으로 오는지(HBM 캐파 상쇄가 반전되는 지점), 이창수(영업)는 그 다운턴에서 회사가 이미 세운 1차 저지선(take-or-pay 멀티이어 계약)과 이 과제의 자리(2차 저지선), 송용호(AX/PI)는 2차 저지선에 빠져 있던 기본(품질·원가)을 말한다. 타이틀만 읽어도 과제의 3단 논증이 이어진다.</a:t>
            </a:r>
          </a:p>
          <a:p/>
          <a:p>
            <a:r>
              <a:t>외부 전문가(신문섭·크리스 밀러·Sachin Katti) 발언은 이 장에서 제외했다. 내부 인터뷰 대상자 3인만 담는다.</a:t>
            </a:r>
          </a:p>
          <a:p/>
          <a:p>
            <a:r>
              <a:t>인용문은 dashboard/src/data/interviews.js 의 keyQuotes 원문이며 em-dash만 마침표·쉼표로 치환했다. 수치(4~5개, 60~70%)는 발언자 표현 그대로.</a:t>
            </a:r>
          </a:p>
          <a:p/>
          <a:p>
            <a:r>
              <a:t>각 발언의 과제 반영(장표에서는 제외, 구두 설명용):</a:t>
            </a:r>
          </a:p>
          <a:p>
            <a:r>
              <a:t>- 1. 최장석 상무 (다운사이드의 실체): "수요 감소"를 가속기 → HBM → DDR의 제품 단위 인과로 정의. 쇼티지가 오버서플라이로 반전되는 지점이 과제의 문제 정의다.</a:t>
            </a:r>
          </a:p>
          <a:p>
            <a:r>
              <a:t>- 2. 이창수 부사장 (1차 저지선과 과제의 자리): 계약(LTA·take-or-pay)이 다운턴 물량의 바닥을 만드는 1차 저지선. 계약이 뚫리는 극한 국면을 대비하는 2차 저지선이 이 과제의 정체성이다.</a:t>
            </a:r>
          </a:p>
          <a:p>
            <a:r>
              <a:t>- 3. 송용호 부사장 (2차 저지선의 기본): 고객은 재고 대신 반품으로 대응한다. 새로운 것(전환 TAT·라인 일체화·본딩)에 앞서 품질·원가라는 기본을 2차 저지선의 별도 축으로 세운다.</a:t>
            </a:r>
          </a:p>
          <a:p/>
          <a:p>
            <a:r>
              <a:t>문서등급은 플레이스홀더. 사내 인물 실명·직책이 들어가므로 배포 범위 확인 후 등급 표기.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3570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A1A1A"/>
                </a:solidFill>
                <a:latin typeface="SamsungOneKorean"/>
                <a:ea typeface="SamsungOneKorean"/>
                <a:cs typeface="SamsungOneKorean"/>
              </a:rPr>
              <a:t>내부 임원 3인의 증언: 다운사이드는 캐파 반전으로 오고, 계약은 1차 저지선일 뿐, 2차 저지선의 기본은 품질이다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80015" y="457200"/>
            <a:ext cx="1371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SamsungOneKorean"/>
                <a:ea typeface="SamsungOneKorean"/>
                <a:cs typeface="SamsungOneKorean"/>
              </a:rPr>
              <a:t>[문서등급 표기]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55555"/>
                </a:solidFill>
                <a:latin typeface="SamsungOneKorean"/>
                <a:ea typeface="SamsungOneKorean"/>
                <a:cs typeface="SamsungOneKorean"/>
              </a:rPr>
              <a:t>내부 인터뷰 3건(2026-07~09) · 발언 순서가 곧 과제의 논증 순서: 문제 정의 → 1차 저지선 → 2차 저지선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3" y="1856231"/>
            <a:ext cx="914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5000"/>
              </a:lnSpc>
            </a:pPr>
            <a:r>
              <a:rPr sz="7200" b="1" i="0">
                <a:solidFill>
                  <a:srgbClr val="1428A0"/>
                </a:solidFill>
                <a:latin typeface="SamsungOneKorean"/>
                <a:ea typeface="SamsungOneKorean"/>
                <a:cs typeface="SamsungOneKorean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3301898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A1A1A"/>
                </a:solidFill>
                <a:latin typeface="SamsungOneKorean"/>
                <a:ea typeface="SamsungOneKorean"/>
                <a:cs typeface="SamsungOneKorean"/>
              </a:rPr>
              <a:t>HBM 하나 만들면 DDR을 4~5개 더 만들 수 있는데 그걸 희생하면서 HBM을 만드는 거다. 디맨드 대비 서플라이가 60~70% 수준인데, HBM이 무너지는 순간 그 갭이 확 줄어들어 쇼티지가 바로 오버서플라이가 될 수 있다.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5093208"/>
            <a:ext cx="3301898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40080" y="5257800"/>
            <a:ext cx="420624" cy="420624"/>
          </a:xfrm>
          <a:prstGeom prst="ellipse">
            <a:avLst/>
          </a:prstGeom>
          <a:solidFill>
            <a:srgbClr val="E9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1428A0"/>
                </a:solidFill>
                <a:latin typeface="SamsungOneKorean"/>
                <a:ea typeface="SamsungOneKorean"/>
                <a:cs typeface="SamsungOneKorean"/>
              </a:rPr>
              <a:t>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19" y="5239512"/>
            <a:ext cx="275325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A1A1A"/>
                </a:solidFill>
                <a:latin typeface="SamsungOneKorean"/>
                <a:ea typeface="SamsungOneKorean"/>
                <a:cs typeface="SamsungOneKorean"/>
              </a:rPr>
              <a:t>최장석 상무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5504688"/>
            <a:ext cx="275325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55555"/>
                </a:solidFill>
                <a:latin typeface="SamsungOneKorean"/>
                <a:ea typeface="SamsungOneKorean"/>
                <a:cs typeface="SamsungOneKorean"/>
              </a:rPr>
              <a:t>메모리사업부 상품기획팀장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5724144"/>
            <a:ext cx="275325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8A8A8E"/>
                </a:solidFill>
                <a:latin typeface="SamsungOneKorean"/>
                <a:ea typeface="SamsungOneKorean"/>
                <a:cs typeface="SamsungOneKorean"/>
              </a:rPr>
              <a:t>2026-07-29 인터뷰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93438" y="2057400"/>
            <a:ext cx="0" cy="3904488"/>
          </a:xfrm>
          <a:prstGeom prst="line">
            <a:avLst/>
          </a:prstGeom>
          <a:ln w="63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408322" y="1856231"/>
            <a:ext cx="914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5000"/>
              </a:lnSpc>
            </a:pPr>
            <a:r>
              <a:rPr sz="7200" b="1" i="0">
                <a:solidFill>
                  <a:srgbClr val="1428A0"/>
                </a:solidFill>
                <a:latin typeface="SamsungOneKorean"/>
                <a:ea typeface="SamsungOneKorean"/>
                <a:cs typeface="SamsungOneKorean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4898" y="2743200"/>
            <a:ext cx="3301898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A1A1A"/>
                </a:solidFill>
                <a:latin typeface="SamsungOneKorean"/>
                <a:ea typeface="SamsungOneKorean"/>
                <a:cs typeface="SamsungOneKorean"/>
              </a:rPr>
              <a:t>선수금을 받아놓고 구매 의무를 저버리면 그만큼 차감한다. 메모리 최초의 take-or-pay 바인딩에 NTB 가격 하한까지. 이게 1차 방어선이고, 여러분들의 이 과제가 2차 방어선이다.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444898" y="5093208"/>
            <a:ext cx="3301898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444898" y="5257800"/>
            <a:ext cx="420624" cy="420624"/>
          </a:xfrm>
          <a:prstGeom prst="ellipse">
            <a:avLst/>
          </a:prstGeom>
          <a:solidFill>
            <a:srgbClr val="E9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1428A0"/>
                </a:solidFill>
                <a:latin typeface="SamsungOneKorean"/>
                <a:ea typeface="SamsungOneKorean"/>
                <a:cs typeface="SamsungOneKorean"/>
              </a:rPr>
              <a:t>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93538" y="5239512"/>
            <a:ext cx="275325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A1A1A"/>
                </a:solidFill>
                <a:latin typeface="SamsungOneKorean"/>
                <a:ea typeface="SamsungOneKorean"/>
                <a:cs typeface="SamsungOneKorean"/>
              </a:rPr>
              <a:t>이창수 부사장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93538" y="5504688"/>
            <a:ext cx="275325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55555"/>
                </a:solidFill>
                <a:latin typeface="SamsungOneKorean"/>
                <a:ea typeface="SamsungOneKorean"/>
                <a:cs typeface="SamsungOneKorean"/>
              </a:rPr>
              <a:t>메모리사업부 영업팀장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93538" y="5724144"/>
            <a:ext cx="275325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8A8A8E"/>
                </a:solidFill>
                <a:latin typeface="SamsungOneKorean"/>
                <a:ea typeface="SamsungOneKorean"/>
                <a:cs typeface="SamsungOneKorean"/>
              </a:rPr>
              <a:t>2026-08-03 인터뷰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998256" y="2057400"/>
            <a:ext cx="0" cy="3904488"/>
          </a:xfrm>
          <a:prstGeom prst="line">
            <a:avLst/>
          </a:prstGeom>
          <a:ln w="63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13140" y="1856231"/>
            <a:ext cx="914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5000"/>
              </a:lnSpc>
            </a:pPr>
            <a:r>
              <a:rPr sz="7200" b="1" i="0">
                <a:solidFill>
                  <a:srgbClr val="1428A0"/>
                </a:solidFill>
                <a:latin typeface="SamsungOneKorean"/>
                <a:ea typeface="SamsungOneKorean"/>
                <a:cs typeface="SamsungOneKorean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9716" y="2743200"/>
            <a:ext cx="3301898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A1A1A"/>
                </a:solidFill>
                <a:latin typeface="SamsungOneKorean"/>
                <a:ea typeface="SamsungOneKorean"/>
                <a:cs typeface="SamsungOneKorean"/>
              </a:rPr>
              <a:t>다음 다운턴이 시작됐다고 가정해 보자. 가격이 빠지고 주문이 슬로우해지고 재고가 쌓이면 무슨 일이 벌어질까. 첫 번째는 대규모 RMA다. 그리고 대규모 RMA가 시작될 때 빌미는 품질이다.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249716" y="5093208"/>
            <a:ext cx="3301899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8249716" y="5257800"/>
            <a:ext cx="420624" cy="420624"/>
          </a:xfrm>
          <a:prstGeom prst="ellipse">
            <a:avLst/>
          </a:prstGeom>
          <a:solidFill>
            <a:srgbClr val="E9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1428A0"/>
                </a:solidFill>
                <a:latin typeface="SamsungOneKorean"/>
                <a:ea typeface="SamsungOneKorean"/>
                <a:cs typeface="SamsungOneKorean"/>
              </a:rPr>
              <a:t>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98356" y="5239512"/>
            <a:ext cx="275325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A1A1A"/>
                </a:solidFill>
                <a:latin typeface="SamsungOneKorean"/>
                <a:ea typeface="SamsungOneKorean"/>
                <a:cs typeface="SamsungOneKorean"/>
              </a:rPr>
              <a:t>송용호 부사장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98356" y="5504688"/>
            <a:ext cx="275325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55555"/>
                </a:solidFill>
                <a:latin typeface="SamsungOneKorean"/>
                <a:ea typeface="SamsungOneKorean"/>
                <a:cs typeface="SamsungOneKorean"/>
              </a:rPr>
              <a:t>AX/PI센터장 (前 솔루션개발실장)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98356" y="5724144"/>
            <a:ext cx="275325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8A8A8E"/>
                </a:solidFill>
                <a:latin typeface="SamsungOneKorean"/>
                <a:ea typeface="SamsungOneKorean"/>
                <a:cs typeface="SamsungOneKorean"/>
              </a:rPr>
              <a:t>2026-09-03 인터뷰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40080" y="6291072"/>
            <a:ext cx="10911535" cy="0"/>
          </a:xfrm>
          <a:prstGeom prst="line">
            <a:avLst/>
          </a:prstGeom>
          <a:ln w="63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40080" y="6355080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8A8A8E"/>
                </a:solidFill>
                <a:latin typeface="SamsungOneKorean"/>
                <a:ea typeface="SamsungOneKorean"/>
                <a:cs typeface="SamsungOneKorean"/>
              </a:rPr>
              <a:t>출처: 사내 인터뷰 녹취(Clova Note 자동 전사) 정리본. sources/raw-notes/choi-jangseok-product-planning-interview-2026-07-29.md · lee-changsoo-memory-sales-interview-2026-08-03.md · song-yongho-ax-pi-interview-2026-09-03.md. 인용문은 대시보드 인터뷰 메뉴 keyQuotes 원문(문장부호만 정리). 수치는 발언자 표현 그대로이며 별도 검증치가 아니다.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94415" y="6355080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A8E"/>
                </a:solidFill>
                <a:latin typeface="SamsungOneKorean"/>
                <a:ea typeface="SamsungOneKorean"/>
                <a:cs typeface="SamsungOneKorean"/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