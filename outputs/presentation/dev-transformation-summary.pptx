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(2026-06)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호명사회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 — 송길영 『시대예보: 호명사회』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070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29768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129016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5" name="Text 13"/>
          <p:cNvSpPr/>
          <p:nvPr/>
        </p:nvSpPr>
        <p:spPr>
          <a:xfrm>
            <a:off x="8311896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732520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41248" y="2084832"/>
            <a:ext cx="0" cy="214884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" y="2066544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55648" y="19659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커스텀 HBM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인증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8096" y="2926080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55648" y="28254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Stargate LOI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90만 장 (DRAM ~40%)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8096" y="3785616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694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755648" y="368503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16건 · $100B · $22B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590288"/>
            <a:ext cx="3236976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791456"/>
            <a:ext cx="310896" cy="31089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207008" y="4626864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납품만으로는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수주 불가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517136" y="19568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1956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17136" y="223113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5888736" y="223113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181344" y="2231136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17136" y="28072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5888736" y="2807208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181344" y="2807208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17136" y="3383280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단품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888736" y="3383280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181344" y="3383280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4517136" y="395935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5888736" y="3959352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6181344" y="3959352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KPI</a:t>
            </a:r>
            <a:endParaRPr lang="en-US" sz="1350" dirty="0"/>
          </a:p>
        </p:txBody>
      </p:sp>
      <p:sp>
        <p:nvSpPr>
          <p:cNvPr id="44" name="Shape 41"/>
          <p:cNvSpPr/>
          <p:nvPr/>
        </p:nvSpPr>
        <p:spPr>
          <a:xfrm>
            <a:off x="4517136" y="4700016"/>
            <a:ext cx="31638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828032"/>
            <a:ext cx="274320" cy="274320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5029200" y="4700016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 Palantir FDE — 고객사 상주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8897112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3673" y="2053377"/>
            <a:ext cx="209215" cy="209215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8330184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500" dirty="0"/>
          </a:p>
        </p:txBody>
      </p:sp>
      <p:sp>
        <p:nvSpPr>
          <p:cNvPr id="50" name="Text 45"/>
          <p:cNvSpPr/>
          <p:nvPr/>
        </p:nvSpPr>
        <p:spPr>
          <a:xfrm>
            <a:off x="8275320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랩·모델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10561320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7881" y="2053377"/>
            <a:ext cx="209215" cy="209215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9994392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500" dirty="0"/>
          </a:p>
        </p:txBody>
      </p:sp>
      <p:sp>
        <p:nvSpPr>
          <p:cNvPr id="54" name="Text 48"/>
          <p:cNvSpPr/>
          <p:nvPr/>
        </p:nvSpPr>
        <p:spPr>
          <a:xfrm>
            <a:off x="9939528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8897112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3673" y="3114081"/>
            <a:ext cx="209215" cy="209215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8330184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500" dirty="0"/>
          </a:p>
        </p:txBody>
      </p:sp>
      <p:sp>
        <p:nvSpPr>
          <p:cNvPr id="58" name="Text 51"/>
          <p:cNvSpPr/>
          <p:nvPr/>
        </p:nvSpPr>
        <p:spPr>
          <a:xfrm>
            <a:off x="8275320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스타·Pod 상주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10561320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7881" y="3114081"/>
            <a:ext cx="209215" cy="209215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9994392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500" dirty="0"/>
          </a:p>
        </p:txBody>
      </p:sp>
      <p:sp>
        <p:nvSpPr>
          <p:cNvPr id="62" name="Text 54"/>
          <p:cNvSpPr/>
          <p:nvPr/>
        </p:nvSpPr>
        <p:spPr>
          <a:xfrm>
            <a:off x="9939528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311896" y="4480560"/>
            <a:ext cx="3236976" cy="640080"/>
          </a:xfrm>
          <a:prstGeom prst="roundRect">
            <a:avLst>
              <a:gd name="adj" fmla="val 11429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6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617720"/>
            <a:ext cx="365760" cy="365760"/>
          </a:xfrm>
          <a:prstGeom prst="rect">
            <a:avLst/>
          </a:prstGeom>
        </p:spPr>
      </p:pic>
      <p:sp>
        <p:nvSpPr>
          <p:cNvPr id="65" name="Text 56"/>
          <p:cNvSpPr/>
          <p:nvPr/>
        </p:nvSpPr>
        <p:spPr>
          <a:xfrm>
            <a:off x="8988552" y="4480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FDE를 스타 플레이어로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고객과 기술 생태계 공동 설계</a:t>
            </a:r>
            <a:endParaRPr lang="en-US" sz="1350" dirty="0"/>
          </a:p>
        </p:txBody>
      </p:sp>
      <p:sp>
        <p:nvSpPr>
          <p:cNvPr id="66" name="Shape 57"/>
          <p:cNvSpPr/>
          <p:nvPr/>
        </p:nvSpPr>
        <p:spPr>
          <a:xfrm>
            <a:off x="457200" y="5559552"/>
            <a:ext cx="11274552" cy="82296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/>
        </p:spPr>
      </p:sp>
      <p:sp>
        <p:nvSpPr>
          <p:cNvPr id="67" name="Text 58"/>
          <p:cNvSpPr/>
          <p:nvPr/>
        </p:nvSpPr>
        <p:spPr>
          <a:xfrm>
            <a:off x="676656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</a:t>
            </a:r>
            <a:endParaRPr lang="en-US" sz="1500" dirty="0"/>
          </a:p>
        </p:txBody>
      </p:sp>
      <p:sp>
        <p:nvSpPr>
          <p:cNvPr id="68" name="Text 59"/>
          <p:cNvSpPr/>
          <p:nvPr/>
        </p:nvSpPr>
        <p:spPr>
          <a:xfrm>
            <a:off x="676656" y="59984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가능한 임금 수준</a:t>
            </a:r>
            <a:endParaRPr lang="en-US" sz="1050" dirty="0"/>
          </a:p>
        </p:txBody>
      </p:sp>
      <p:sp>
        <p:nvSpPr>
          <p:cNvPr id="69" name="Text 60"/>
          <p:cNvSpPr/>
          <p:nvPr/>
        </p:nvSpPr>
        <p:spPr>
          <a:xfrm>
            <a:off x="2743200" y="5669280"/>
            <a:ext cx="23317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70" name="Text 61"/>
          <p:cNvSpPr/>
          <p:nvPr/>
        </p:nvSpPr>
        <p:spPr>
          <a:xfrm>
            <a:off x="5074920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1" name="Text 62"/>
          <p:cNvSpPr/>
          <p:nvPr/>
        </p:nvSpPr>
        <p:spPr>
          <a:xfrm>
            <a:off x="5294376" y="5669280"/>
            <a:ext cx="329184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— 처우 급등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최대 12.9억 전망</a:t>
            </a:r>
            <a:endParaRPr lang="en-US" sz="1250" dirty="0"/>
          </a:p>
        </p:txBody>
      </p:sp>
      <p:sp>
        <p:nvSpPr>
          <p:cNvPr id="72" name="Text 63"/>
          <p:cNvSpPr/>
          <p:nvPr/>
        </p:nvSpPr>
        <p:spPr>
          <a:xfrm>
            <a:off x="8586216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3" name="Text 64"/>
          <p:cNvSpPr/>
          <p:nvPr/>
        </p:nvSpPr>
        <p:spPr>
          <a:xfrm>
            <a:off x="8805672" y="5669280"/>
            <a:ext cx="269748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618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계약의 진화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76656" y="2048256"/>
            <a:ext cx="1051560" cy="749808"/>
          </a:xfrm>
          <a:prstGeom prst="roundRect">
            <a:avLst>
              <a:gd name="adj" fmla="val 8537"/>
            </a:avLst>
          </a:prstGeom>
          <a:solidFill>
            <a:srgbClr val="E7EC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현물 거래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28216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65960" y="2048256"/>
            <a:ext cx="1234440" cy="749808"/>
          </a:xfrm>
          <a:prstGeom prst="roundRect">
            <a:avLst>
              <a:gd name="adj" fmla="val 8537"/>
            </a:avLst>
          </a:prstGeom>
          <a:solidFill>
            <a:srgbClr val="CBD6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물량·가격 락인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0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38144" y="2048256"/>
            <a:ext cx="2286000" cy="749808"/>
          </a:xfrm>
          <a:prstGeom prst="roundRect">
            <a:avLst>
              <a:gd name="adj" fmla="val 8537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공동설계·자본 연계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2944368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납품 → 공동 기술 드라이브 (16건 · $100B)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618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— As-Is → To-Be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029968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65008" y="202996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2029968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공동 정의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73952" y="2468880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65008" y="24688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2468880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제안·기술 드라이브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73952" y="2907792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065008" y="29077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57616" y="2907792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 (서버→랙→DC)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529584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F5F7F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657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60704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11480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972" y="3749772"/>
            <a:ext cx="199705" cy="199705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57200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03504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212" y="3749772"/>
            <a:ext cx="199705" cy="199705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49224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49224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 문화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95528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452" y="3749772"/>
            <a:ext cx="199705" cy="199705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841248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400" dirty="0"/>
          </a:p>
        </p:txBody>
      </p:sp>
      <p:sp>
        <p:nvSpPr>
          <p:cNvPr id="42" name="Text 37"/>
          <p:cNvSpPr/>
          <p:nvPr/>
        </p:nvSpPr>
        <p:spPr>
          <a:xfrm>
            <a:off x="841248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 · Co-Design Pod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987552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692" y="3749772"/>
            <a:ext cx="199705" cy="199705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33272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46" name="Text 40"/>
          <p:cNvSpPr/>
          <p:nvPr/>
        </p:nvSpPr>
        <p:spPr>
          <a:xfrm>
            <a:off x="1033272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457200" y="464515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00600"/>
            <a:ext cx="365760" cy="365760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1133856" y="4645152"/>
            <a:ext cx="10415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FDE(Forward Deployed Engineer)를 스타 플레이어로, 고객사와 기술 생태계를 함께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 이름 뒤에 숨지 않고 자기 이름으로 불린다” — 송길영 『호명사회』 · ‘모난 놈이 정 맞는’ 문화 → 호명 문화로 · 관리 분리 + SV 영입</a:t>
            </a:r>
            <a:endParaRPr lang="en-US" sz="1400" dirty="0"/>
          </a:p>
        </p:txBody>
      </p:sp>
      <p:sp>
        <p:nvSpPr>
          <p:cNvPr id="50" name="Shape 43"/>
          <p:cNvSpPr/>
          <p:nvPr/>
        </p:nvSpPr>
        <p:spPr>
          <a:xfrm>
            <a:off x="457200" y="5449824"/>
            <a:ext cx="11274552" cy="914400"/>
          </a:xfrm>
          <a:prstGeom prst="roundRect">
            <a:avLst>
              <a:gd name="adj" fmla="val 9000"/>
            </a:avLst>
          </a:prstGeom>
          <a:solidFill>
            <a:srgbClr val="F5F7F8"/>
          </a:solidFill>
          <a:ln/>
        </p:spPr>
      </p:sp>
      <p:sp>
        <p:nvSpPr>
          <p:cNvPr id="51" name="Text 44"/>
          <p:cNvSpPr/>
          <p:nvPr/>
        </p:nvSpPr>
        <p:spPr>
          <a:xfrm>
            <a:off x="640080" y="5742432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52" name="Text 45"/>
          <p:cNvSpPr/>
          <p:nvPr/>
        </p:nvSpPr>
        <p:spPr>
          <a:xfrm>
            <a:off x="1060704" y="5715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 — 영입 가능한 임금</a:t>
            </a:r>
            <a:endParaRPr lang="en-US" sz="1700" dirty="0"/>
          </a:p>
        </p:txBody>
      </p:sp>
      <p:sp>
        <p:nvSpPr>
          <p:cNvPr id="53" name="Text 46"/>
          <p:cNvSpPr/>
          <p:nvPr/>
        </p:nvSpPr>
        <p:spPr>
          <a:xfrm>
            <a:off x="4114800" y="5605272"/>
            <a:ext cx="21031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54" name="Text 47"/>
          <p:cNvSpPr/>
          <p:nvPr/>
        </p:nvSpPr>
        <p:spPr>
          <a:xfrm>
            <a:off x="6217920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5" name="Text 48"/>
          <p:cNvSpPr/>
          <p:nvPr/>
        </p:nvSpPr>
        <p:spPr>
          <a:xfrm>
            <a:off x="6437376" y="5605272"/>
            <a:ext cx="265176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</a:t>
            </a:r>
            <a:endParaRPr lang="en-US" sz="1250" dirty="0"/>
          </a:p>
        </p:txBody>
      </p:sp>
      <p:sp>
        <p:nvSpPr>
          <p:cNvPr id="56" name="Text 49"/>
          <p:cNvSpPr/>
          <p:nvPr/>
        </p:nvSpPr>
        <p:spPr>
          <a:xfrm>
            <a:off x="9089136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7" name="Text 50"/>
          <p:cNvSpPr/>
          <p:nvPr/>
        </p:nvSpPr>
        <p:spPr>
          <a:xfrm>
            <a:off x="9308592" y="5605272"/>
            <a:ext cx="228600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73368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송길영, 『시대예보: 호명사회』 (2024)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1168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066544"/>
            <a:ext cx="457200" cy="457200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3008" y="2176272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10312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103120" y="29626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· RFQ 응답 · QCD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285232" y="2286000"/>
            <a:ext cx="1591056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→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4944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21040" y="2066544"/>
            <a:ext cx="457200" cy="45720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2176272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40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파트너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6949440" y="29626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 · 선제 제안 · 시스템 모델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1463040" y="3675888"/>
            <a:ext cx="9262872" cy="731520"/>
          </a:xfrm>
          <a:prstGeom prst="roundRect">
            <a:avLst>
              <a:gd name="adj" fmla="val 10000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3858768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2139696" y="3675888"/>
            <a:ext cx="84033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전략 — FDE(Forward Deployed Engineer)를 스타 플레이어로, 고객사와 기술 생태계를 함께 만든다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문화에서 → 스타를 호명하고 드러내는 문화로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7200" y="4773168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환경도 바뀌었다 — 스타를 영입할 수 있는 임금 수준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749808" y="5157216"/>
            <a:ext cx="3108960" cy="804672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수준에 못 미친 보상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38587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4133088" y="5157216"/>
            <a:ext cx="33832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영입 가능 수준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75163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7790688" y="5157216"/>
            <a:ext cx="3657600" cy="804672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9050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전반 수준 상향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수주산업화 — Binding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take-or-pay·선수금 수백억$ — “메모리가 처음으로 바인딩” (이창수 인터뷰)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9768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 지배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하이퍼스케일러가 글로벌 enterprise SSD의 ~55% 소비 — 소수 고객이 규칙을 정한다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13816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통제권 상승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완제품 → 펌웨어 → 컨트롤러 → 표준·웨이퍼로 스토리지를 내재화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1956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Captive SSD 위상 변화 — 고객 통제권의 단계 상승 (불가역)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407408"/>
            <a:ext cx="1225296" cy="621792"/>
          </a:xfrm>
          <a:prstGeom prst="roundRect">
            <a:avLst>
              <a:gd name="adj" fmla="val 7353"/>
            </a:avLst>
          </a:prstGeom>
          <a:solidFill>
            <a:srgbClr val="C7D3D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443984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2064" y="411480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완제품 구매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~2016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121408" y="3785616"/>
            <a:ext cx="1225296" cy="1243584"/>
          </a:xfrm>
          <a:prstGeom prst="roundRect">
            <a:avLst>
              <a:gd name="adj" fmla="val 3731"/>
            </a:avLst>
          </a:prstGeom>
          <a:solidFill>
            <a:srgbClr val="9DBACB"/>
          </a:solidFill>
          <a:ln/>
        </p:spPr>
      </p:sp>
      <p:sp>
        <p:nvSpPr>
          <p:cNvPr id="15" name="Text 13"/>
          <p:cNvSpPr/>
          <p:nvPr/>
        </p:nvSpPr>
        <p:spPr>
          <a:xfrm>
            <a:off x="2121408" y="3822192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993392" y="349300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펌웨어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21408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2017~20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02736" y="3163824"/>
            <a:ext cx="1225296" cy="1865376"/>
          </a:xfrm>
          <a:prstGeom prst="roundRect">
            <a:avLst>
              <a:gd name="adj" fmla="val 3731"/>
            </a:avLst>
          </a:prstGeom>
          <a:solidFill>
            <a:srgbClr val="4C7C94"/>
          </a:solidFill>
          <a:ln/>
        </p:spPr>
      </p:sp>
      <p:sp>
        <p:nvSpPr>
          <p:cNvPr id="19" name="Text 17"/>
          <p:cNvSpPr/>
          <p:nvPr/>
        </p:nvSpPr>
        <p:spPr>
          <a:xfrm>
            <a:off x="3602736" y="3200400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287121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컨트롤러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02736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2021~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84064" y="2542032"/>
            <a:ext cx="1225296" cy="2487168"/>
          </a:xfrm>
          <a:prstGeom prst="roundRect">
            <a:avLst>
              <a:gd name="adj" fmla="val 3731"/>
            </a:avLst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5084064" y="257860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56048" y="22494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표준·웨이퍼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84064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2022~26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5029200"/>
            <a:ext cx="6126480" cy="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2441448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24928" y="239572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벤더 표준품 조달 — 통제권 없음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040880" y="3118104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424928" y="3072384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OCP 스토리지 스펙 · 고객별 펌웨어 브랜치 관행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040880" y="3794760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424928" y="374904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Nitro SSD(’21) — 자체 컨트롤러 자작 SSD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40880" y="4471416"/>
            <a:ext cx="274320" cy="274320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424928" y="4425696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비준(’23) — Meta·Google 주도·삼성 공동 · NAND 웨이퍼 다년 계약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~55%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5720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하이퍼스케일러의 enterprise SSD 수요 비중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29768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+246%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29768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웨이퍼 가격 (vs Q1’25) — 웨이퍼 직구매 경쟁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13816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813816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비준 소요 — 고객(Meta·Google) 주도 속도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412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교차점에서 검토한 선택지 4개 — 평가 기준: 부가가치 방어 · 펌웨어 공통화 · 통제권 흐름 정합 · 차별화 지속성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43584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1444752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70432" y="1444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컴포넌트 후퇴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713232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NAND·웨이퍼 공급에 집중, 완제품은 고객에 위임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3232" y="2286000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물량은 지키나 완제품 부가가치 영구 상실 — 커머디티 공급자 고착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243584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9944" y="1444752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903720" y="1444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풀커스텀 대응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446520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고객별 커스텀 SSD·펌웨어 전면 개발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2286000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제품·펌웨어 파편화 — “커스텀 소싱·컨트랙은 파운드리 모델, 우리가 안 해본 것” (최장석)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328416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" y="3529584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70432" y="35295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C. FDP 표준 SSD만 공급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713232" y="40233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지원 하드웨어만 제공, 통합은 고객 몫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3232" y="437083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“FDP 지원 여러 공급사 중 하나” — 차별화 없이 가격 경쟁 회귀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328416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3529584"/>
            <a:ext cx="365760" cy="365760"/>
          </a:xfrm>
          <a:prstGeom prst="ellipse">
            <a:avLst/>
          </a:prstGeom>
          <a:solidFill>
            <a:srgbClr val="02A87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903720" y="35295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D. FDP 표준 + 시스템 SW 플랫폼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6446520" y="40233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펌웨어 + Host SDK·Profiler·E2E 검증 제공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437083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유일하게 4개 기준 동시 충족 — 통제권 흐름 위에서 부가가치 재정의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413248"/>
            <a:ext cx="11274552" cy="713232"/>
          </a:xfrm>
          <a:prstGeom prst="roundRect">
            <a:avLst>
              <a:gd name="adj" fmla="val 10256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586984"/>
            <a:ext cx="365760" cy="36576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152144" y="54132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논리 — 부가가치는 고객이 가져간 계층 아래(웨이퍼)가 아니라, 아직 풀지 못한 계층 위에서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↔ FDP 정책 변환이 그 계층 — 삼성은 FDP 표준의 공동 주도자로서 이 계층을 선점할 위치에 있다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③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48640"/>
          </a:xfrm>
          <a:prstGeom prst="roundRect">
            <a:avLst>
              <a:gd name="adj" fmla="val 15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SSD 공급자 → FDP 기반 Host–SSD 통합 솔루션 제공자   </a:t>
            </a:r>
            <a:pPr algn="ctr" indent="0" marL="0">
              <a:buNone/>
            </a:pPr>
            <a:r>
              <a:rPr lang="en-US" sz="125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“Binding으로 수요 확보 · FDP로 표준화 · 시스템 SW로 연결”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Binding 계약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물량 확보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39696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340864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SSD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인터페이스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23360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24528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SW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워크로드→정책 변환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07024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108192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E2E 검증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 개선 보장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90688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91856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공동개발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관계 구축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74352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875520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텔레메트리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 개선 루프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2578608"/>
            <a:ext cx="365760" cy="365760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2666390"/>
            <a:ext cx="190195" cy="190195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07899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Enablement Platform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4008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SDK·라이브러리(Linux·SPDK) · Workload Profiler · Emulator/Digital Twin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29768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24" name="Shape 21"/>
          <p:cNvSpPr/>
          <p:nvPr/>
        </p:nvSpPr>
        <p:spPr>
          <a:xfrm>
            <a:off x="4462272" y="2578608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054" y="2666390"/>
            <a:ext cx="190195" cy="190195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491947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표준 프로파일 7종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48056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Cache·KV·DB·Multi-tenant·Vector·Checkpoint·QLC — 펌웨어 공통화+고객 최적화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813816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29" name="Shape 25"/>
          <p:cNvSpPr/>
          <p:nvPr/>
        </p:nvSpPr>
        <p:spPr>
          <a:xfrm>
            <a:off x="8302752" y="2578608"/>
            <a:ext cx="365760" cy="36576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0534" y="2666390"/>
            <a:ext cx="190195" cy="190195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75995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E2E 공동검증</a:t>
            </a:r>
            <a:endParaRPr lang="en-US" sz="1300" dirty="0"/>
          </a:p>
        </p:txBody>
      </p:sp>
      <p:sp>
        <p:nvSpPr>
          <p:cNvPr id="32" name="Text 27"/>
          <p:cNvSpPr/>
          <p:nvPr/>
        </p:nvSpPr>
        <p:spPr>
          <a:xfrm>
            <a:off x="832104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App→Host→SSD→NAND · WAF·p999·격리·전력 · trace의 pre/post-silicon 재사용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45720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34" name="Shape 29"/>
          <p:cNvSpPr/>
          <p:nvPr/>
        </p:nvSpPr>
        <p:spPr>
          <a:xfrm>
            <a:off x="621792" y="4096512"/>
            <a:ext cx="365760" cy="365760"/>
          </a:xfrm>
          <a:prstGeom prst="ellipse">
            <a:avLst/>
          </a:prstGeom>
          <a:solidFill>
            <a:srgbClr val="4C7C94"/>
          </a:solidFill>
          <a:ln/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74" y="4184294"/>
            <a:ext cx="190195" cy="190195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07899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고객 공동개발 조직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64008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Host SW·Workload Integration·Solution Eng·Validation — 제품 기획 참여</a:t>
            </a:r>
            <a:endParaRPr lang="en-US" sz="1000" dirty="0"/>
          </a:p>
        </p:txBody>
      </p:sp>
      <p:sp>
        <p:nvSpPr>
          <p:cNvPr id="38" name="Shape 32"/>
          <p:cNvSpPr/>
          <p:nvPr/>
        </p:nvSpPr>
        <p:spPr>
          <a:xfrm>
            <a:off x="429768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39" name="Shape 33"/>
          <p:cNvSpPr/>
          <p:nvPr/>
        </p:nvSpPr>
        <p:spPr>
          <a:xfrm>
            <a:off x="4462272" y="4096512"/>
            <a:ext cx="365760" cy="365760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0054" y="4184294"/>
            <a:ext cx="190195" cy="190195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491947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Binding 기술협력</a:t>
            </a:r>
            <a:endParaRPr lang="en-US" sz="1300" dirty="0"/>
          </a:p>
        </p:txBody>
      </p:sp>
      <p:sp>
        <p:nvSpPr>
          <p:cNvPr id="42" name="Text 35"/>
          <p:cNvSpPr/>
          <p:nvPr/>
        </p:nvSpPr>
        <p:spPr>
          <a:xfrm>
            <a:off x="448056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물량·trace·공동 로드맵 ↔ 공급능력·SDK·개선 목표 — 공동 플랫폼 계약</a:t>
            </a:r>
            <a:endParaRPr lang="en-US" sz="1000" dirty="0"/>
          </a:p>
        </p:txBody>
      </p:sp>
      <p:sp>
        <p:nvSpPr>
          <p:cNvPr id="43" name="Shape 36"/>
          <p:cNvSpPr/>
          <p:nvPr/>
        </p:nvSpPr>
        <p:spPr>
          <a:xfrm>
            <a:off x="813816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44" name="Shape 37"/>
          <p:cNvSpPr/>
          <p:nvPr/>
        </p:nvSpPr>
        <p:spPr>
          <a:xfrm>
            <a:off x="8302752" y="4096512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0534" y="4184294"/>
            <a:ext cx="190195" cy="190195"/>
          </a:xfrm>
          <a:prstGeom prst="rect">
            <a:avLst/>
          </a:prstGeom>
        </p:spPr>
      </p:pic>
      <p:sp>
        <p:nvSpPr>
          <p:cNvPr id="46" name="Text 38"/>
          <p:cNvSpPr/>
          <p:nvPr/>
        </p:nvSpPr>
        <p:spPr>
          <a:xfrm>
            <a:off x="875995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오픈소스·차별화 경계</a:t>
            </a:r>
            <a:endParaRPr lang="en-US" sz="1300" dirty="0"/>
          </a:p>
        </p:txBody>
      </p:sp>
      <p:sp>
        <p:nvSpPr>
          <p:cNvPr id="47" name="Text 39"/>
          <p:cNvSpPr/>
          <p:nvPr/>
        </p:nvSpPr>
        <p:spPr>
          <a:xfrm>
            <a:off x="832104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공개: 라이브러리·연동·적합성 / 차별화: FTL 모델·정책 추천·예측</a:t>
            </a:r>
            <a:endParaRPr lang="en-US" sz="1000" dirty="0"/>
          </a:p>
        </p:txBody>
      </p:sp>
      <p:sp>
        <p:nvSpPr>
          <p:cNvPr id="48" name="Shape 40"/>
          <p:cNvSpPr/>
          <p:nvPr/>
        </p:nvSpPr>
        <p:spPr>
          <a:xfrm>
            <a:off x="457200" y="5522976"/>
            <a:ext cx="11274552" cy="658368"/>
          </a:xfrm>
          <a:prstGeom prst="roundRect">
            <a:avLst>
              <a:gd name="adj" fmla="val 111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5669280"/>
            <a:ext cx="365760" cy="365760"/>
          </a:xfrm>
          <a:prstGeom prst="rect">
            <a:avLst/>
          </a:prstGeom>
        </p:spPr>
      </p:pic>
      <p:sp>
        <p:nvSpPr>
          <p:cNvPr id="50" name="Text 41"/>
          <p:cNvSpPr/>
          <p:nvPr/>
        </p:nvSpPr>
        <p:spPr>
          <a:xfrm>
            <a:off x="1152144" y="552297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KPI — 고객 시스템에서 FDP가 실제 활성화된 SSD 용량 · Captive→삼성 완제품 전환 물량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주체: 인재 축(FDE 스타)이 이 플랫폼을 들고 고객 아키텍처 안으로 들어간다 — 단계: 기본 도구 → 전략 고객 공동검증 → 상용 플랫폼화 → Host Control 확장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 다운턴: 깊이는 고객 구조가 결정했다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 </a:t>
            </a:r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노출이 큰 벤더일수록 깊게 맞았다: 문제는 총수요가 아니라 수요의 형태 변화, 답은 다변화가 아니라 니즈 적중 (Solidigm)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953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낙폭: 피크(2Q22)→저점(1Q23)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001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원인: 서버·고객 노출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29768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29016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31352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재배분, 그리고 반증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29016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212848"/>
            <a:ext cx="3200400" cy="0"/>
          </a:xfrm>
          <a:prstGeom prst="line">
            <a:avLst/>
          </a:prstGeom>
          <a:noFill/>
          <a:ln w="12700">
            <a:solidFill>
              <a:srgbClr val="5555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93852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86384" y="2212848"/>
            <a:ext cx="548640" cy="1685109"/>
          </a:xfrm>
          <a:prstGeom prst="roundRect">
            <a:avLst>
              <a:gd name="adj" fmla="val 5000"/>
            </a:avLst>
          </a:prstGeom>
          <a:solidFill>
            <a:srgbClr val="1428A0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3925389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-54%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435608" y="193852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SK그룹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563624" y="2212848"/>
            <a:ext cx="548640" cy="1965960"/>
          </a:xfrm>
          <a:prstGeom prst="roundRect">
            <a:avLst>
              <a:gd name="adj" fmla="val 5000"/>
            </a:avLst>
          </a:prstGeom>
          <a:solidFill>
            <a:srgbClr val="B9C2D0"/>
          </a:solidFill>
          <a:ln/>
        </p:spPr>
      </p:sp>
      <p:sp>
        <p:nvSpPr>
          <p:cNvPr id="22" name="Text 20"/>
          <p:cNvSpPr/>
          <p:nvPr/>
        </p:nvSpPr>
        <p:spPr>
          <a:xfrm>
            <a:off x="1435608" y="420624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-63%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212848" y="193852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WDC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340864" y="2212848"/>
            <a:ext cx="548640" cy="1404257"/>
          </a:xfrm>
          <a:prstGeom prst="roundRect">
            <a:avLst>
              <a:gd name="adj" fmla="val 5000"/>
            </a:avLst>
          </a:prstGeom>
          <a:solidFill>
            <a:srgbClr val="B9C2D0"/>
          </a:solidFill>
          <a:ln/>
        </p:spPr>
      </p:sp>
      <p:sp>
        <p:nvSpPr>
          <p:cNvPr id="25" name="Text 23"/>
          <p:cNvSpPr/>
          <p:nvPr/>
        </p:nvSpPr>
        <p:spPr>
          <a:xfrm>
            <a:off x="2212848" y="3644537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-45%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990088" y="193852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Kioxia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118104" y="2212848"/>
            <a:ext cx="548640" cy="1092200"/>
          </a:xfrm>
          <a:prstGeom prst="roundRect">
            <a:avLst>
              <a:gd name="adj" fmla="val 5000"/>
            </a:avLst>
          </a:prstGeom>
          <a:solidFill>
            <a:srgbClr val="B9C2D0"/>
          </a:solidFill>
          <a:ln/>
        </p:spPr>
      </p:sp>
      <p:sp>
        <p:nvSpPr>
          <p:cNvPr id="28" name="Text 26"/>
          <p:cNvSpPr/>
          <p:nvPr/>
        </p:nvSpPr>
        <p:spPr>
          <a:xfrm>
            <a:off x="2990088" y="33324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-35%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8368" y="4864608"/>
            <a:ext cx="3200400" cy="566928"/>
          </a:xfrm>
          <a:prstGeom prst="roundRect">
            <a:avLst>
              <a:gd name="adj" fmla="val 8065"/>
            </a:avLst>
          </a:prstGeom>
          <a:solidFill>
            <a:srgbClr val="F4F4F6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진앙은 SSD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 매출 중 SSD 기여 50%+ → 20~25% (4Q22→1Q23)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58368" y="55412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매출 피크·저점 기준, TrendForce 분기 데이터 합성. Micron은 회계분기 차이로 제외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498848" y="17739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Enterprise SSD 매출 점유, 4Q22 (시장 $3.79B)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498848" y="21579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13248" y="2139696"/>
            <a:ext cx="1828800" cy="292608"/>
          </a:xfrm>
          <a:prstGeom prst="roundRect">
            <a:avLst>
              <a:gd name="adj" fmla="val 9375"/>
            </a:avLst>
          </a:prstGeom>
          <a:solidFill>
            <a:srgbClr val="1428A0"/>
          </a:solidFill>
          <a:ln/>
        </p:spPr>
      </p:sp>
      <p:sp>
        <p:nvSpPr>
          <p:cNvPr id="34" name="Text 32"/>
          <p:cNvSpPr/>
          <p:nvPr/>
        </p:nvSpPr>
        <p:spPr>
          <a:xfrm>
            <a:off x="7296912" y="215798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46.9%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498848" y="26517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SK그룹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413248" y="2633472"/>
            <a:ext cx="740878" cy="292608"/>
          </a:xfrm>
          <a:prstGeom prst="roundRect">
            <a:avLst>
              <a:gd name="adj" fmla="val 9375"/>
            </a:avLst>
          </a:prstGeom>
          <a:solidFill>
            <a:srgbClr val="B9C2D0"/>
          </a:solidFill>
          <a:ln/>
        </p:spPr>
      </p:sp>
      <p:sp>
        <p:nvSpPr>
          <p:cNvPr id="37" name="Text 35"/>
          <p:cNvSpPr/>
          <p:nvPr/>
        </p:nvSpPr>
        <p:spPr>
          <a:xfrm>
            <a:off x="6208990" y="26517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19%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498848" y="314553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Kioxia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413248" y="3127248"/>
            <a:ext cx="506917" cy="292608"/>
          </a:xfrm>
          <a:prstGeom prst="roundRect">
            <a:avLst>
              <a:gd name="adj" fmla="val 9375"/>
            </a:avLst>
          </a:prstGeom>
          <a:solidFill>
            <a:srgbClr val="B9C2D0"/>
          </a:solidFill>
          <a:ln/>
        </p:spPr>
      </p:sp>
      <p:sp>
        <p:nvSpPr>
          <p:cNvPr id="40" name="Text 38"/>
          <p:cNvSpPr/>
          <p:nvPr/>
        </p:nvSpPr>
        <p:spPr>
          <a:xfrm>
            <a:off x="5975029" y="31455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13%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498848" y="374904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 순위 = 낙폭 순위. 삼성은 enterprise SSD 1위로 하이퍼스케일러 노출 최대, SK그룹 -63%에는 서버 100%인 Solidigm 포함. 반면 Kioxia(모바일 중심)·WDC(리테일 중심)는 얕게 맞았다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498848" y="5870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TrendForce enterprise SSD 4Q22 · Blocks &amp; Files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330184" y="17739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 CapEx ($B, 각사 10-K)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330184" y="3346704"/>
            <a:ext cx="3200400" cy="0"/>
          </a:xfrm>
          <a:prstGeom prst="line">
            <a:avLst/>
          </a:prstGeom>
          <a:noFill/>
          <a:ln w="12700">
            <a:solidFill>
              <a:srgbClr val="55555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76488" y="2211848"/>
            <a:ext cx="256032" cy="1134856"/>
          </a:xfrm>
          <a:prstGeom prst="rect">
            <a:avLst/>
          </a:prstGeom>
          <a:solidFill>
            <a:srgbClr val="D6DCE8"/>
          </a:solidFill>
          <a:ln/>
        </p:spPr>
      </p:sp>
      <p:sp>
        <p:nvSpPr>
          <p:cNvPr id="46" name="Shape 44"/>
          <p:cNvSpPr/>
          <p:nvPr/>
        </p:nvSpPr>
        <p:spPr>
          <a:xfrm>
            <a:off x="8769096" y="2165414"/>
            <a:ext cx="256032" cy="1181291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47" name="Shape 45"/>
          <p:cNvSpPr/>
          <p:nvPr/>
        </p:nvSpPr>
        <p:spPr>
          <a:xfrm>
            <a:off x="9061704" y="2367867"/>
            <a:ext cx="256032" cy="978837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48" name="Text 46"/>
          <p:cNvSpPr/>
          <p:nvPr/>
        </p:nvSpPr>
        <p:spPr>
          <a:xfrm>
            <a:off x="8339328" y="3383280"/>
            <a:ext cx="115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Amazon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9518904" y="2990088"/>
            <a:ext cx="256032" cy="356616"/>
          </a:xfrm>
          <a:prstGeom prst="rect">
            <a:avLst/>
          </a:prstGeom>
          <a:solidFill>
            <a:srgbClr val="D6DCE8"/>
          </a:solidFill>
          <a:ln/>
        </p:spPr>
      </p:sp>
      <p:sp>
        <p:nvSpPr>
          <p:cNvPr id="50" name="Shape 48"/>
          <p:cNvSpPr/>
          <p:nvPr/>
        </p:nvSpPr>
        <p:spPr>
          <a:xfrm>
            <a:off x="9811512" y="2763488"/>
            <a:ext cx="256032" cy="583216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51" name="Shape 49"/>
          <p:cNvSpPr/>
          <p:nvPr/>
        </p:nvSpPr>
        <p:spPr>
          <a:xfrm>
            <a:off x="10104120" y="2824782"/>
            <a:ext cx="256032" cy="52192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52" name="Text 50"/>
          <p:cNvSpPr/>
          <p:nvPr/>
        </p:nvSpPr>
        <p:spPr>
          <a:xfrm>
            <a:off x="9381744" y="3383280"/>
            <a:ext cx="115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Meta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10561320" y="2889790"/>
            <a:ext cx="256032" cy="456914"/>
          </a:xfrm>
          <a:prstGeom prst="rect">
            <a:avLst/>
          </a:prstGeom>
          <a:solidFill>
            <a:srgbClr val="D6DCE8"/>
          </a:solidFill>
          <a:ln/>
        </p:spPr>
      </p:sp>
      <p:sp>
        <p:nvSpPr>
          <p:cNvPr id="54" name="Shape 52"/>
          <p:cNvSpPr/>
          <p:nvPr/>
        </p:nvSpPr>
        <p:spPr>
          <a:xfrm>
            <a:off x="10853928" y="2761631"/>
            <a:ext cx="256032" cy="585073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55" name="Shape 53"/>
          <p:cNvSpPr/>
          <p:nvPr/>
        </p:nvSpPr>
        <p:spPr>
          <a:xfrm>
            <a:off x="11146536" y="2746772"/>
            <a:ext cx="256032" cy="5999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56" name="Text 54"/>
          <p:cNvSpPr/>
          <p:nvPr/>
        </p:nvSpPr>
        <p:spPr>
          <a:xfrm>
            <a:off x="10424160" y="3383280"/>
            <a:ext cx="115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Alphabet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8330184" y="3675888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’21  ’22  ’23  ·  Amazon 창사 최초 감소(-17%), Meta -11%. 반면 AI 서버는 ’23 ~$50B로 서버 시장 가치의 ~23%: 총량이 아니라 재배분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8311896" y="4498848"/>
            <a:ext cx="3236976" cy="1536192"/>
          </a:xfrm>
          <a:prstGeom prst="roundRect">
            <a:avLst>
              <a:gd name="adj" fmla="val 4167"/>
            </a:avLst>
          </a:prstGeom>
          <a:solidFill>
            <a:srgbClr val="EEF1FA"/>
          </a:solidFill>
          <a:ln w="15875">
            <a:solidFill>
              <a:srgbClr val="1428A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476488" y="4590288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반증: Solidigm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낙폭 최심부(SK그룹)에서 ’23.07 61.44TB QLC 출시로 AI 스토리지 수요 적중, ’24 흑자 전환. 다변화(방어)가 아니라 니즈 적중(공격)이 다운턴을 이긴다</a:t>
            </a:r>
            <a:endParaRPr lang="en-US" sz="1150" dirty="0"/>
          </a:p>
        </p:txBody>
      </p:sp>
      <p:sp>
        <p:nvSpPr>
          <p:cNvPr id="60" name="Text 58"/>
          <p:cNvSpPr/>
          <p:nvPr/>
        </p:nvSpPr>
        <p:spPr>
          <a:xfrm>
            <a:off x="8330184" y="60533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각사 10-K · Platformonomics · TrendForce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Cache: 요구 내구성은 현 제품의 2~10배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 </a:t>
            </a:r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스토리지가 추론의 캐시 계층으로 승격된다: 수요는 폭증하고, 쓰기 내구성 요구는 현행 TLC·QLC 제품군을 넘는다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953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수요: KV Cache Offloading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001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write-intensive인가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29768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29016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31352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DWPD 갭: 새 전략의 근거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29016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7008" y="1792224"/>
            <a:ext cx="2103120" cy="292608"/>
          </a:xfrm>
          <a:prstGeom prst="roundRect">
            <a:avLst>
              <a:gd name="adj" fmla="val 12500"/>
            </a:avLst>
          </a:prstGeom>
          <a:solidFill>
            <a:srgbClr val="F4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1207008" y="17922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HBM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121408" y="206654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207008" y="2194560"/>
            <a:ext cx="2103120" cy="292608"/>
          </a:xfrm>
          <a:prstGeom prst="roundRect">
            <a:avLst>
              <a:gd name="adj" fmla="val 12500"/>
            </a:avLst>
          </a:prstGeom>
          <a:solidFill>
            <a:srgbClr val="E5E9F2"/>
          </a:solidFill>
          <a:ln/>
        </p:spPr>
      </p:sp>
      <p:sp>
        <p:nvSpPr>
          <p:cNvPr id="20" name="Text 18"/>
          <p:cNvSpPr/>
          <p:nvPr/>
        </p:nvSpPr>
        <p:spPr>
          <a:xfrm>
            <a:off x="1207008" y="21945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DRAM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21408" y="246888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207008" y="2596896"/>
            <a:ext cx="2103120" cy="292608"/>
          </a:xfrm>
          <a:prstGeom prst="roundRect">
            <a:avLst>
              <a:gd name="adj" fmla="val 12500"/>
            </a:avLst>
          </a:prstGeom>
          <a:solidFill>
            <a:srgbClr val="1428A0"/>
          </a:solidFill>
          <a:ln/>
        </p:spPr>
      </p:sp>
      <p:sp>
        <p:nvSpPr>
          <p:cNvPr id="23" name="Text 21"/>
          <p:cNvSpPr/>
          <p:nvPr/>
        </p:nvSpPr>
        <p:spPr>
          <a:xfrm>
            <a:off x="1207008" y="259689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SSD: KV 캐시 계층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" y="30540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Dynamo·CMX·LMCache·Mooncake가 SSD 계층 공식 지원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41248" y="4828032"/>
            <a:ext cx="2651760" cy="0"/>
          </a:xfrm>
          <a:prstGeom prst="line">
            <a:avLst/>
          </a:prstGeom>
          <a:noFill/>
          <a:ln w="12700">
            <a:solidFill>
              <a:srgbClr val="5555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34440" y="4325112"/>
            <a:ext cx="640080" cy="125730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34440" y="4450842"/>
            <a:ext cx="640080" cy="37719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40690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75~100EB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097280" y="48646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468880" y="3822192"/>
            <a:ext cx="640080" cy="251460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31" name="Shape 29"/>
          <p:cNvSpPr/>
          <p:nvPr/>
        </p:nvSpPr>
        <p:spPr>
          <a:xfrm>
            <a:off x="2468880" y="4073652"/>
            <a:ext cx="640080" cy="754380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2" name="Text 30"/>
          <p:cNvSpPr/>
          <p:nvPr/>
        </p:nvSpPr>
        <p:spPr>
          <a:xfrm>
            <a:off x="2148840" y="356616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150~200EB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31720" y="48646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8368" y="321868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단독 NAND 추가 수요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58368" y="5230368"/>
            <a:ext cx="3200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  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2030년 AI DC NAND 워크로드 중 KV cache 비중 (SanDisk, FMS 2026) · NVL144 랙 연 5만 대 기준 연 ~0.44EB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4498848" y="1856232"/>
            <a:ext cx="128016" cy="128016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7" name="Text 35"/>
          <p:cNvSpPr/>
          <p:nvPr/>
        </p:nvSpPr>
        <p:spPr>
          <a:xfrm>
            <a:off x="4736592" y="17556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세션마다 생성·갱신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요청이 곧 쓰기: 연속적 쓰기 부하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498848" y="2642616"/>
            <a:ext cx="128016" cy="128016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9" name="Text 37"/>
          <p:cNvSpPr/>
          <p:nvPr/>
        </p:nvSpPr>
        <p:spPr>
          <a:xfrm>
            <a:off x="4736592" y="254203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짧고 제각각인 수명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블록별 라이프사이클이 모두 다르다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498848" y="3429000"/>
            <a:ext cx="128016" cy="128016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41" name="Text 39"/>
          <p:cNvSpPr/>
          <p:nvPr/>
        </p:nvSpPr>
        <p:spPr>
          <a:xfrm>
            <a:off x="4736592" y="3328416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무효화·재적재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퇴출과 재활성이 상시 반복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498848" y="4215384"/>
            <a:ext cx="128016" cy="128016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43" name="Text 41"/>
          <p:cNvSpPr/>
          <p:nvPr/>
        </p:nvSpPr>
        <p:spPr>
          <a:xfrm>
            <a:off x="4736592" y="4114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멀티테넌트 혼합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GC 간섭으로 WAF 증폭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498848" y="5029200"/>
            <a:ext cx="3200400" cy="566928"/>
          </a:xfrm>
          <a:prstGeom prst="roundRect">
            <a:avLst>
              <a:gd name="adj" fmla="val 8065"/>
            </a:avLst>
          </a:prstGeom>
          <a:solidFill>
            <a:srgbClr val="F4F4F6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서버 앱 대비 월등한 쓰기 밀도: mixed-use 등급을 넘는 내구성 요구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498848" y="58704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ScaleFlux 발표 · NVIDIA Dynamo 문서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330184" y="17739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대비 2~10배 갭 (5년 보증 기준 DWPD)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8275320" y="4370832"/>
            <a:ext cx="3246120" cy="0"/>
          </a:xfrm>
          <a:prstGeom prst="line">
            <a:avLst/>
          </a:prstGeom>
          <a:noFill/>
          <a:ln w="12700">
            <a:solidFill>
              <a:srgbClr val="55555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412480" y="4244645"/>
            <a:ext cx="566928" cy="126187"/>
          </a:xfrm>
          <a:prstGeom prst="rect">
            <a:avLst/>
          </a:prstGeom>
          <a:solidFill>
            <a:srgbClr val="B9C2D0"/>
          </a:solidFill>
          <a:ln/>
        </p:spPr>
      </p:sp>
      <p:sp>
        <p:nvSpPr>
          <p:cNvPr id="49" name="Text 47"/>
          <p:cNvSpPr/>
          <p:nvPr/>
        </p:nvSpPr>
        <p:spPr>
          <a:xfrm>
            <a:off x="8229600" y="3988613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0.6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211312" y="4407408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고용량 QLC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9208008" y="4160520"/>
            <a:ext cx="566928" cy="210312"/>
          </a:xfrm>
          <a:prstGeom prst="rect">
            <a:avLst/>
          </a:prstGeom>
          <a:solidFill>
            <a:srgbClr val="B9C2D0"/>
          </a:solidFill>
          <a:ln/>
        </p:spPr>
      </p:sp>
      <p:sp>
        <p:nvSpPr>
          <p:cNvPr id="52" name="Text 50"/>
          <p:cNvSpPr/>
          <p:nvPr/>
        </p:nvSpPr>
        <p:spPr>
          <a:xfrm>
            <a:off x="9025128" y="390448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006840" y="4407408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TLC RI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10003536" y="3739896"/>
            <a:ext cx="566928" cy="630936"/>
          </a:xfrm>
          <a:prstGeom prst="rect">
            <a:avLst/>
          </a:prstGeom>
          <a:solidFill>
            <a:srgbClr val="B9C2D0"/>
          </a:solidFill>
          <a:ln/>
        </p:spPr>
      </p:sp>
      <p:sp>
        <p:nvSpPr>
          <p:cNvPr id="55" name="Text 53"/>
          <p:cNvSpPr/>
          <p:nvPr/>
        </p:nvSpPr>
        <p:spPr>
          <a:xfrm>
            <a:off x="9820656" y="34838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802368" y="4407408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TLC MU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0799064" y="2267712"/>
            <a:ext cx="566928" cy="630936"/>
          </a:xfrm>
          <a:prstGeom prst="rect">
            <a:avLst/>
          </a:prstGeom>
          <a:solidFill>
            <a:srgbClr val="8FA0DC"/>
          </a:solidFill>
          <a:ln/>
        </p:spPr>
      </p:sp>
      <p:sp>
        <p:nvSpPr>
          <p:cNvPr id="58" name="Shape 56"/>
          <p:cNvSpPr/>
          <p:nvPr/>
        </p:nvSpPr>
        <p:spPr>
          <a:xfrm>
            <a:off x="10799064" y="2898648"/>
            <a:ext cx="566928" cy="1472184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59" name="Text 57"/>
          <p:cNvSpPr/>
          <p:nvPr/>
        </p:nvSpPr>
        <p:spPr>
          <a:xfrm>
            <a:off x="10616184" y="20116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7~10+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0597896" y="4407408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요구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8311896" y="5029200"/>
            <a:ext cx="3236976" cy="1225296"/>
          </a:xfrm>
          <a:prstGeom prst="roundRect">
            <a:avLst>
              <a:gd name="adj" fmla="val 5224"/>
            </a:avLst>
          </a:prstGeom>
          <a:solidFill>
            <a:srgbClr val="EEF1FA"/>
          </a:solidFill>
          <a:ln w="15875">
            <a:solidFill>
              <a:srgbClr val="1428A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476488" y="5102352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갭의 해법이 곧 전략</a:t>
            </a:r>
            <a:endParaRPr lang="en-US" sz="11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FDP로 수명별 RUH 분리·WAF 절감 = 유효 DWPD 확보 (ScaleFlux도 FDP 200+ 스트림으로 7~10 DWPD 달성) + 고내구 설계. NVIDIA CMX 생태계와 직결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④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실행전략  </a:t>
            </a:r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SCA로 다가가고 · FDP로 제공하고 · FDE로 협업한다: 워크로드가 들어올수록 전환비용이 커지는 락인 플라이휠, 다운턴 피해 최소화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953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락인 플라이휠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001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SCA: Micron이 증명한 접근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29016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31352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FDP·FDE: 기술과 사람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29016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1828800"/>
            <a:ext cx="877824" cy="877824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다가간다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59536" y="3456432"/>
            <a:ext cx="877824" cy="877824"/>
          </a:xfrm>
          <a:prstGeom prst="ellipse">
            <a:avLst/>
          </a:prstGeom>
          <a:solidFill>
            <a:srgbClr val="3C5AC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제공한다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798064" y="3456432"/>
            <a:ext cx="877824" cy="877824"/>
          </a:xfrm>
          <a:prstGeom prst="ellipse">
            <a:avLst/>
          </a:prstGeom>
          <a:solidFill>
            <a:srgbClr val="8FA0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협업한다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 flipH="1">
            <a:off x="1371600" y="2706624"/>
            <a:ext cx="329184" cy="713232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773936" y="4059936"/>
            <a:ext cx="987552" cy="914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 flipV="1">
            <a:off x="2834640" y="2706624"/>
            <a:ext cx="384048" cy="713232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536192" y="2999232"/>
            <a:ext cx="1463040" cy="566928"/>
          </a:xfrm>
          <a:prstGeom prst="roundRect">
            <a:avLst>
              <a:gd name="adj" fmla="val 9677"/>
            </a:avLst>
          </a:prstGeom>
          <a:solidFill>
            <a:srgbClr val="EEF1FA"/>
          </a:solidFill>
          <a:ln w="12700">
            <a:solidFill>
              <a:srgbClr val="1428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락인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다운턴 방어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워크로드가 들어올수록 최적화가 깊어지고 전환비용이 커진다. 계약이 끝나도 갈아타기 어려운 관계가 다운턴의 방어벽이 된다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58368" y="5431536"/>
            <a:ext cx="32004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5522976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Strategic Customer Agreement · 전략적 고객 계약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Flexible Data Placement · NVMe 데이터 배치 표준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Forward Deployed Engineer · 고객 상주 엔지니어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98848" y="179222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공급부족 협상력의 창이 열려 있을 때 워크로드 교환을 제안한다: 고객이 워크로드를 공유하면 그 워크로드에 최적화한 FDP SSD를 공급. 성능·수명 개선과 TCO 절감으로 거절하기 어려운 딜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498848" y="2926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대상: 하이퍼스케일러 · Pure Storage · VAST Data · DDN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80560" y="3291840"/>
            <a:ext cx="3236976" cy="2798064"/>
          </a:xfrm>
          <a:prstGeom prst="roundRect">
            <a:avLst>
              <a:gd name="adj" fmla="val 2288"/>
            </a:avLst>
          </a:prstGeom>
          <a:solidFill>
            <a:srgbClr val="EEF1FA"/>
          </a:solidFill>
          <a:ln w="15875">
            <a:solidFill>
              <a:srgbClr val="1428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34198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선례: Micron ↔ Anthropic (’26.06)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700016" y="3730752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다년 공급 (HBM·DRAM·SSD 전 포트폴리오)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워크로드 공동 최적화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통합 (Micron 전사에 Claude 배치)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자본 연계 (Series H 전략 투자)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45152" y="502920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16건 · 최소 매출 $100B · 예치금 $22B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645152" y="5541264"/>
            <a:ext cx="2999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워크로드를 열고 공급을 잠근 계약. 우리가 맺으려는 관계의 실물 견본이다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30184" y="17739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추가로 필요한 기술 (기존 SSD 기술 대비)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330184" y="2066544"/>
            <a:ext cx="3200400" cy="329184"/>
          </a:xfrm>
          <a:prstGeom prst="roundRect">
            <a:avLst>
              <a:gd name="adj" fmla="val 13889"/>
            </a:avLst>
          </a:prstGeom>
          <a:solidFill>
            <a:srgbClr val="F4F4F6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 </a:t>
            </a:r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· 컨트롤러 · 펌웨어 · 수율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330184" y="2450592"/>
            <a:ext cx="3200400" cy="749808"/>
          </a:xfrm>
          <a:prstGeom prst="roundRect">
            <a:avLst>
              <a:gd name="adj" fmla="val 6098"/>
            </a:avLst>
          </a:prstGeom>
          <a:solidFill>
            <a:srgbClr val="EEF1FA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 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블록계층·io_uring·NVMe / SPDK / DB·캐시 내부 (RocksDB·CacheLib·Ceph) / 워크로드 분석 (fio·eBPF·WAF)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330184" y="3310128"/>
            <a:ext cx="3200400" cy="694944"/>
          </a:xfrm>
          <a:prstGeom prst="roundRect">
            <a:avLst>
              <a:gd name="adj" fmla="val 6579"/>
            </a:avLst>
          </a:prstGeom>
          <a:solidFill>
            <a:srgbClr val="EEF1FA"/>
          </a:solidFill>
          <a:ln w="12700">
            <a:solidFill>
              <a:srgbClr val="1428A0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선례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Palantir가 창안한 직군 (코드명 Delta, 640% 주가 동력으로 회자) · Anthropic·OpenAI도 엔터프라이즈 GTM으로 채택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330184" y="4133088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006840" y="4114800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현지, 오픈소스 스토리지 기여자 우대, 영어 필수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30184" y="4846320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006840" y="4828032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엔지니어 미국 로테이션 6~12개월 + 현지 FDE 멘토 페어링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30184" y="5559552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006840" y="5541264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 1~2사 상주 (Pod 소속), outcome 평가 (활성화 용량), 업스트림 기여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2026-09-01T11:00:34Z</dcterms:created>
  <dcterms:modified xsi:type="dcterms:W3CDTF">2026-09-01T11:00:34Z</dcterms:modified>
</cp:coreProperties>
</file>