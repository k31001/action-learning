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북극성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파트너 (2026-06)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호명사회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 — 송길영 『시대예보: 호명사회』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070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429768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2" name="Text 10"/>
          <p:cNvSpPr/>
          <p:nvPr/>
        </p:nvSpPr>
        <p:spPr>
          <a:xfrm>
            <a:off x="448056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8129016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5" name="Text 13"/>
          <p:cNvSpPr/>
          <p:nvPr/>
        </p:nvSpPr>
        <p:spPr>
          <a:xfrm>
            <a:off x="8311896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732520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841248" y="2084832"/>
            <a:ext cx="0" cy="2148840"/>
          </a:xfrm>
          <a:prstGeom prst="line">
            <a:avLst/>
          </a:prstGeom>
          <a:noFill/>
          <a:ln w="19050">
            <a:solidFill>
              <a:srgbClr val="C4CF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8096" y="2066544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19751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’25.06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755648" y="19659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SK하이닉스 커스텀 HBM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인증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68096" y="2926080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28346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’25.10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755648" y="2825496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Stargate LOI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90만 장 (DRAM ~40%)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68096" y="3785616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369417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’26.06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755648" y="368503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Micron–Anthropic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16건 · $100B · $22B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590288"/>
            <a:ext cx="3236976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4791456"/>
            <a:ext cx="310896" cy="310896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207008" y="4626864"/>
            <a:ext cx="2633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정확한 납품만으로는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 수주 불가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4517136" y="19568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As-Is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181344" y="19568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To-Be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517136" y="2231136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5888736" y="2231136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6181344" y="2231136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4517136" y="2807208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350" dirty="0"/>
          </a:p>
        </p:txBody>
      </p:sp>
      <p:sp>
        <p:nvSpPr>
          <p:cNvPr id="36" name="Text 33"/>
          <p:cNvSpPr/>
          <p:nvPr/>
        </p:nvSpPr>
        <p:spPr>
          <a:xfrm>
            <a:off x="5888736" y="2807208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6181344" y="2807208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4517136" y="3383280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단품</a:t>
            </a:r>
            <a:endParaRPr lang="en-US" sz="1350" dirty="0"/>
          </a:p>
        </p:txBody>
      </p:sp>
      <p:sp>
        <p:nvSpPr>
          <p:cNvPr id="39" name="Text 36"/>
          <p:cNvSpPr/>
          <p:nvPr/>
        </p:nvSpPr>
        <p:spPr>
          <a:xfrm>
            <a:off x="5888736" y="3383280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6181344" y="3383280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4517136" y="3959352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QCD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5888736" y="3959352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6181344" y="3959352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 KPI</a:t>
            </a:r>
            <a:endParaRPr lang="en-US" sz="1350" dirty="0"/>
          </a:p>
        </p:txBody>
      </p:sp>
      <p:sp>
        <p:nvSpPr>
          <p:cNvPr id="44" name="Shape 41"/>
          <p:cNvSpPr/>
          <p:nvPr/>
        </p:nvSpPr>
        <p:spPr>
          <a:xfrm>
            <a:off x="4517136" y="4700016"/>
            <a:ext cx="3163824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4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4828032"/>
            <a:ext cx="274320" cy="274320"/>
          </a:xfrm>
          <a:prstGeom prst="rect">
            <a:avLst/>
          </a:prstGeom>
        </p:spPr>
      </p:pic>
      <p:sp>
        <p:nvSpPr>
          <p:cNvPr id="46" name="Text 42"/>
          <p:cNvSpPr/>
          <p:nvPr/>
        </p:nvSpPr>
        <p:spPr>
          <a:xfrm>
            <a:off x="5029200" y="4700016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롤모델 Palantir FDE — 고객사 상주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8897112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3673" y="2053377"/>
            <a:ext cx="209215" cy="209215"/>
          </a:xfrm>
          <a:prstGeom prst="rect">
            <a:avLst/>
          </a:prstGeom>
        </p:spPr>
      </p:pic>
      <p:sp>
        <p:nvSpPr>
          <p:cNvPr id="49" name="Text 44"/>
          <p:cNvSpPr/>
          <p:nvPr/>
        </p:nvSpPr>
        <p:spPr>
          <a:xfrm>
            <a:off x="8330184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500" dirty="0"/>
          </a:p>
        </p:txBody>
      </p:sp>
      <p:sp>
        <p:nvSpPr>
          <p:cNvPr id="50" name="Text 45"/>
          <p:cNvSpPr/>
          <p:nvPr/>
        </p:nvSpPr>
        <p:spPr>
          <a:xfrm>
            <a:off x="8275320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랩·모델</a:t>
            </a:r>
            <a:endParaRPr lang="en-US" sz="1050" dirty="0"/>
          </a:p>
        </p:txBody>
      </p:sp>
      <p:sp>
        <p:nvSpPr>
          <p:cNvPr id="51" name="Shape 46"/>
          <p:cNvSpPr/>
          <p:nvPr/>
        </p:nvSpPr>
        <p:spPr>
          <a:xfrm>
            <a:off x="10561320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7881" y="2053377"/>
            <a:ext cx="209215" cy="209215"/>
          </a:xfrm>
          <a:prstGeom prst="rect">
            <a:avLst/>
          </a:prstGeom>
        </p:spPr>
      </p:pic>
      <p:sp>
        <p:nvSpPr>
          <p:cNvPr id="53" name="Text 47"/>
          <p:cNvSpPr/>
          <p:nvPr/>
        </p:nvSpPr>
        <p:spPr>
          <a:xfrm>
            <a:off x="9994392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500" dirty="0"/>
          </a:p>
        </p:txBody>
      </p:sp>
      <p:sp>
        <p:nvSpPr>
          <p:cNvPr id="54" name="Text 48"/>
          <p:cNvSpPr/>
          <p:nvPr/>
        </p:nvSpPr>
        <p:spPr>
          <a:xfrm>
            <a:off x="9939528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</a:t>
            </a:r>
            <a:endParaRPr lang="en-US" sz="1050" dirty="0"/>
          </a:p>
        </p:txBody>
      </p:sp>
      <p:sp>
        <p:nvSpPr>
          <p:cNvPr id="55" name="Shape 49"/>
          <p:cNvSpPr/>
          <p:nvPr/>
        </p:nvSpPr>
        <p:spPr>
          <a:xfrm>
            <a:off x="8897112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3673" y="3114081"/>
            <a:ext cx="209215" cy="209215"/>
          </a:xfrm>
          <a:prstGeom prst="rect">
            <a:avLst/>
          </a:prstGeom>
        </p:spPr>
      </p:pic>
      <p:sp>
        <p:nvSpPr>
          <p:cNvPr id="57" name="Text 50"/>
          <p:cNvSpPr/>
          <p:nvPr/>
        </p:nvSpPr>
        <p:spPr>
          <a:xfrm>
            <a:off x="8330184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500" dirty="0"/>
          </a:p>
        </p:txBody>
      </p:sp>
      <p:sp>
        <p:nvSpPr>
          <p:cNvPr id="58" name="Text 51"/>
          <p:cNvSpPr/>
          <p:nvPr/>
        </p:nvSpPr>
        <p:spPr>
          <a:xfrm>
            <a:off x="8275320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스타·Pod 상주</a:t>
            </a:r>
            <a:endParaRPr lang="en-US" sz="1050" dirty="0"/>
          </a:p>
        </p:txBody>
      </p:sp>
      <p:sp>
        <p:nvSpPr>
          <p:cNvPr id="59" name="Shape 52"/>
          <p:cNvSpPr/>
          <p:nvPr/>
        </p:nvSpPr>
        <p:spPr>
          <a:xfrm>
            <a:off x="10561320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6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7881" y="3114081"/>
            <a:ext cx="209215" cy="209215"/>
          </a:xfrm>
          <a:prstGeom prst="rect">
            <a:avLst/>
          </a:prstGeom>
        </p:spPr>
      </p:pic>
      <p:sp>
        <p:nvSpPr>
          <p:cNvPr id="61" name="Text 53"/>
          <p:cNvSpPr/>
          <p:nvPr/>
        </p:nvSpPr>
        <p:spPr>
          <a:xfrm>
            <a:off x="9994392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500" dirty="0"/>
          </a:p>
        </p:txBody>
      </p:sp>
      <p:sp>
        <p:nvSpPr>
          <p:cNvPr id="62" name="Text 54"/>
          <p:cNvSpPr/>
          <p:nvPr/>
        </p:nvSpPr>
        <p:spPr>
          <a:xfrm>
            <a:off x="9939528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리뷰·PoA</a:t>
            </a:r>
            <a:endParaRPr lang="en-US" sz="1050" dirty="0"/>
          </a:p>
        </p:txBody>
      </p:sp>
      <p:sp>
        <p:nvSpPr>
          <p:cNvPr id="63" name="Shape 55"/>
          <p:cNvSpPr/>
          <p:nvPr/>
        </p:nvSpPr>
        <p:spPr>
          <a:xfrm>
            <a:off x="8311896" y="4480560"/>
            <a:ext cx="3236976" cy="640080"/>
          </a:xfrm>
          <a:prstGeom prst="roundRect">
            <a:avLst>
              <a:gd name="adj" fmla="val 11429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6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776" y="4617720"/>
            <a:ext cx="365760" cy="365760"/>
          </a:xfrm>
          <a:prstGeom prst="rect">
            <a:avLst/>
          </a:prstGeom>
        </p:spPr>
      </p:pic>
      <p:sp>
        <p:nvSpPr>
          <p:cNvPr id="65" name="Text 56"/>
          <p:cNvSpPr/>
          <p:nvPr/>
        </p:nvSpPr>
        <p:spPr>
          <a:xfrm>
            <a:off x="8988552" y="4480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FDE를 스타 플레이어로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고객과 기술 생태계 공동 설계</a:t>
            </a:r>
            <a:endParaRPr lang="en-US" sz="1350" dirty="0"/>
          </a:p>
        </p:txBody>
      </p:sp>
      <p:sp>
        <p:nvSpPr>
          <p:cNvPr id="66" name="Shape 57"/>
          <p:cNvSpPr/>
          <p:nvPr/>
        </p:nvSpPr>
        <p:spPr>
          <a:xfrm>
            <a:off x="457200" y="5559552"/>
            <a:ext cx="11274552" cy="822960"/>
          </a:xfrm>
          <a:prstGeom prst="roundRect">
            <a:avLst>
              <a:gd name="adj" fmla="val 10000"/>
            </a:avLst>
          </a:prstGeom>
          <a:solidFill>
            <a:srgbClr val="F5F7F8"/>
          </a:solidFill>
          <a:ln/>
        </p:spPr>
      </p:sp>
      <p:sp>
        <p:nvSpPr>
          <p:cNvPr id="67" name="Text 58"/>
          <p:cNvSpPr/>
          <p:nvPr/>
        </p:nvSpPr>
        <p:spPr>
          <a:xfrm>
            <a:off x="676656" y="57058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변화</a:t>
            </a:r>
            <a:endParaRPr lang="en-US" sz="1500" dirty="0"/>
          </a:p>
        </p:txBody>
      </p:sp>
      <p:sp>
        <p:nvSpPr>
          <p:cNvPr id="68" name="Text 59"/>
          <p:cNvSpPr/>
          <p:nvPr/>
        </p:nvSpPr>
        <p:spPr>
          <a:xfrm>
            <a:off x="676656" y="59984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영입 가능한 임금 수준</a:t>
            </a:r>
            <a:endParaRPr lang="en-US" sz="1050" dirty="0"/>
          </a:p>
        </p:txBody>
      </p:sp>
      <p:sp>
        <p:nvSpPr>
          <p:cNvPr id="69" name="Text 60"/>
          <p:cNvSpPr/>
          <p:nvPr/>
        </p:nvSpPr>
        <p:spPr>
          <a:xfrm>
            <a:off x="2743200" y="5669280"/>
            <a:ext cx="2331720" cy="603504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보상 열위</a:t>
            </a:r>
            <a:endParaRPr lang="en-US" sz="1250" dirty="0"/>
          </a:p>
        </p:txBody>
      </p:sp>
      <p:sp>
        <p:nvSpPr>
          <p:cNvPr id="70" name="Text 61"/>
          <p:cNvSpPr/>
          <p:nvPr/>
        </p:nvSpPr>
        <p:spPr>
          <a:xfrm>
            <a:off x="5074920" y="5669280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71" name="Text 62"/>
          <p:cNvSpPr/>
          <p:nvPr/>
        </p:nvSpPr>
        <p:spPr>
          <a:xfrm>
            <a:off x="5294376" y="5669280"/>
            <a:ext cx="329184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— 처우 급등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 · 최대 12.9억 전망</a:t>
            </a:r>
            <a:endParaRPr lang="en-US" sz="1250" dirty="0"/>
          </a:p>
        </p:txBody>
      </p:sp>
      <p:sp>
        <p:nvSpPr>
          <p:cNvPr id="72" name="Text 63"/>
          <p:cNvSpPr/>
          <p:nvPr/>
        </p:nvSpPr>
        <p:spPr>
          <a:xfrm>
            <a:off x="8586216" y="5669280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73" name="Text 64"/>
          <p:cNvSpPr/>
          <p:nvPr/>
        </p:nvSpPr>
        <p:spPr>
          <a:xfrm>
            <a:off x="8805672" y="5669280"/>
            <a:ext cx="2697480" cy="603504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 기대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 영입 축적 → 조직 수준 상향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중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11274552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(2026-06)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60704" y="16184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 — 계약의 진화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76656" y="2048256"/>
            <a:ext cx="1051560" cy="749808"/>
          </a:xfrm>
          <a:prstGeom prst="roundRect">
            <a:avLst>
              <a:gd name="adj" fmla="val 8537"/>
            </a:avLst>
          </a:prstGeom>
          <a:solidFill>
            <a:srgbClr val="E7ECE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Spot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현물 거래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728216" y="2048256"/>
            <a:ext cx="2377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965960" y="2048256"/>
            <a:ext cx="1234440" cy="749808"/>
          </a:xfrm>
          <a:prstGeom prst="roundRect">
            <a:avLst>
              <a:gd name="adj" fmla="val 8537"/>
            </a:avLst>
          </a:prstGeom>
          <a:solidFill>
            <a:srgbClr val="CBD6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물량·가격 락인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200400" y="2048256"/>
            <a:ext cx="2377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38144" y="2048256"/>
            <a:ext cx="2286000" cy="749808"/>
          </a:xfrm>
          <a:prstGeom prst="roundRect">
            <a:avLst>
              <a:gd name="adj" fmla="val 8537"/>
            </a:avLst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공동설계·자본 연계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2944368"/>
            <a:ext cx="4965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사는 것: 납품 → 공동 기술 드라이브 (16건 · $100B)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54496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17" name="Text 15"/>
          <p:cNvSpPr/>
          <p:nvPr/>
        </p:nvSpPr>
        <p:spPr>
          <a:xfrm>
            <a:off x="6437376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16184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 — As-Is → To-Be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473952" y="2029968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065008" y="2029968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57616" y="2029968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공동 정의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73952" y="2468880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065008" y="246888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357616" y="2468880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제안·기술 드라이브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73952" y="2907792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스펙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065008" y="2907792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57616" y="2907792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 (서버→랙→DC)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57200" y="3529584"/>
            <a:ext cx="11274552" cy="1005840"/>
          </a:xfrm>
          <a:prstGeom prst="roundRect">
            <a:avLst>
              <a:gd name="adj" fmla="val 8182"/>
            </a:avLst>
          </a:prstGeom>
          <a:solidFill>
            <a:srgbClr val="F5F7F8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65760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60704" y="36301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 — 4대 축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411480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972" y="3749772"/>
            <a:ext cx="199705" cy="199705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57200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 · 시스템 모델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03504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212" y="3749772"/>
            <a:ext cx="199705" cy="199705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649224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400" dirty="0"/>
          </a:p>
        </p:txBody>
      </p:sp>
      <p:sp>
        <p:nvSpPr>
          <p:cNvPr id="38" name="Text 34"/>
          <p:cNvSpPr/>
          <p:nvPr/>
        </p:nvSpPr>
        <p:spPr>
          <a:xfrm>
            <a:off x="649224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 문화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795528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7452" y="3749772"/>
            <a:ext cx="199705" cy="199705"/>
          </a:xfrm>
          <a:prstGeom prst="rect">
            <a:avLst/>
          </a:prstGeom>
        </p:spPr>
      </p:pic>
      <p:sp>
        <p:nvSpPr>
          <p:cNvPr id="41" name="Text 36"/>
          <p:cNvSpPr/>
          <p:nvPr/>
        </p:nvSpPr>
        <p:spPr>
          <a:xfrm>
            <a:off x="841248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400" dirty="0"/>
          </a:p>
        </p:txBody>
      </p:sp>
      <p:sp>
        <p:nvSpPr>
          <p:cNvPr id="42" name="Text 37"/>
          <p:cNvSpPr/>
          <p:nvPr/>
        </p:nvSpPr>
        <p:spPr>
          <a:xfrm>
            <a:off x="841248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스타 · Co-Design Pod</a:t>
            </a:r>
            <a:endParaRPr lang="en-US" sz="1000" dirty="0"/>
          </a:p>
        </p:txBody>
      </p:sp>
      <p:sp>
        <p:nvSpPr>
          <p:cNvPr id="43" name="Shape 38"/>
          <p:cNvSpPr/>
          <p:nvPr/>
        </p:nvSpPr>
        <p:spPr>
          <a:xfrm>
            <a:off x="987552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7692" y="3749772"/>
            <a:ext cx="199705" cy="199705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1033272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400" dirty="0"/>
          </a:p>
        </p:txBody>
      </p:sp>
      <p:sp>
        <p:nvSpPr>
          <p:cNvPr id="46" name="Text 40"/>
          <p:cNvSpPr/>
          <p:nvPr/>
        </p:nvSpPr>
        <p:spPr>
          <a:xfrm>
            <a:off x="1033272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 · PoA · AI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457200" y="4645152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800600"/>
            <a:ext cx="365760" cy="365760"/>
          </a:xfrm>
          <a:prstGeom prst="rect">
            <a:avLst/>
          </a:prstGeom>
        </p:spPr>
      </p:pic>
      <p:sp>
        <p:nvSpPr>
          <p:cNvPr id="49" name="Text 42"/>
          <p:cNvSpPr/>
          <p:nvPr/>
        </p:nvSpPr>
        <p:spPr>
          <a:xfrm>
            <a:off x="1133856" y="4645152"/>
            <a:ext cx="104150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FDE(Forward Deployed Engineer)를 스타 플레이어로, 고객사와 기술 생태계를 함께 만든다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 이름 뒤에 숨지 않고 자기 이름으로 불린다” — 송길영 『호명사회』 · ‘모난 놈이 정 맞는’ 문화 → 호명 문화로 · 관리 분리 + SV 영입</a:t>
            </a:r>
            <a:endParaRPr lang="en-US" sz="1400" dirty="0"/>
          </a:p>
        </p:txBody>
      </p:sp>
      <p:sp>
        <p:nvSpPr>
          <p:cNvPr id="50" name="Shape 43"/>
          <p:cNvSpPr/>
          <p:nvPr/>
        </p:nvSpPr>
        <p:spPr>
          <a:xfrm>
            <a:off x="457200" y="5449824"/>
            <a:ext cx="11274552" cy="914400"/>
          </a:xfrm>
          <a:prstGeom prst="roundRect">
            <a:avLst>
              <a:gd name="adj" fmla="val 9000"/>
            </a:avLst>
          </a:prstGeom>
          <a:solidFill>
            <a:srgbClr val="F5F7F8"/>
          </a:solidFill>
          <a:ln/>
        </p:spPr>
      </p:sp>
      <p:sp>
        <p:nvSpPr>
          <p:cNvPr id="51" name="Text 44"/>
          <p:cNvSpPr/>
          <p:nvPr/>
        </p:nvSpPr>
        <p:spPr>
          <a:xfrm>
            <a:off x="640080" y="5742432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52" name="Text 45"/>
          <p:cNvSpPr/>
          <p:nvPr/>
        </p:nvSpPr>
        <p:spPr>
          <a:xfrm>
            <a:off x="1060704" y="5715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변화 — 영입 가능한 임금</a:t>
            </a:r>
            <a:endParaRPr lang="en-US" sz="1700" dirty="0"/>
          </a:p>
        </p:txBody>
      </p:sp>
      <p:sp>
        <p:nvSpPr>
          <p:cNvPr id="53" name="Text 46"/>
          <p:cNvSpPr/>
          <p:nvPr/>
        </p:nvSpPr>
        <p:spPr>
          <a:xfrm>
            <a:off x="4114800" y="5605272"/>
            <a:ext cx="2103120" cy="603504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보상 열위</a:t>
            </a:r>
            <a:endParaRPr lang="en-US" sz="1250" dirty="0"/>
          </a:p>
        </p:txBody>
      </p:sp>
      <p:sp>
        <p:nvSpPr>
          <p:cNvPr id="54" name="Text 47"/>
          <p:cNvSpPr/>
          <p:nvPr/>
        </p:nvSpPr>
        <p:spPr>
          <a:xfrm>
            <a:off x="6217920" y="5605272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55" name="Text 48"/>
          <p:cNvSpPr/>
          <p:nvPr/>
        </p:nvSpPr>
        <p:spPr>
          <a:xfrm>
            <a:off x="6437376" y="5605272"/>
            <a:ext cx="265176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</a:t>
            </a:r>
            <a:endParaRPr lang="en-US" sz="1250" dirty="0"/>
          </a:p>
        </p:txBody>
      </p:sp>
      <p:sp>
        <p:nvSpPr>
          <p:cNvPr id="56" name="Text 49"/>
          <p:cNvSpPr/>
          <p:nvPr/>
        </p:nvSpPr>
        <p:spPr>
          <a:xfrm>
            <a:off x="9089136" y="5605272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57" name="Text 50"/>
          <p:cNvSpPr/>
          <p:nvPr/>
        </p:nvSpPr>
        <p:spPr>
          <a:xfrm>
            <a:off x="9308592" y="5605272"/>
            <a:ext cx="2286000" cy="603504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영입 축적 → 조직 수준 상향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0080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신문섭 파트너, AI 인프라 슈퍼사이클 인터뷰 (2026-06)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90488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10" name="Text 8"/>
          <p:cNvSpPr/>
          <p:nvPr/>
        </p:nvSpPr>
        <p:spPr>
          <a:xfrm>
            <a:off x="6373368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73368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송길영, 『시대예보: 호명사회』 (2024)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01168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F5F7F8"/>
          </a:solidFill>
          <a:ln w="15875">
            <a:solidFill>
              <a:srgbClr val="DCE4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2066544"/>
            <a:ext cx="457200" cy="457200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3008" y="2176272"/>
            <a:ext cx="237744" cy="23774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210312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수주 이행자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2103120" y="29626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 · RFQ 응답 · QCD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285232" y="2286000"/>
            <a:ext cx="1591056" cy="822960"/>
          </a:xfrm>
          <a:prstGeom prst="rightArrow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 →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94944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E8F6F0"/>
          </a:solidFill>
          <a:ln w="19050">
            <a:solidFill>
              <a:srgbClr val="02A87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321040" y="2066544"/>
            <a:ext cx="457200" cy="457200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0768" y="2176272"/>
            <a:ext cx="237744" cy="23774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04088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파트너</a:t>
            </a:r>
            <a:endParaRPr lang="en-US" sz="2100" dirty="0"/>
          </a:p>
        </p:txBody>
      </p:sp>
      <p:sp>
        <p:nvSpPr>
          <p:cNvPr id="22" name="Text 18"/>
          <p:cNvSpPr/>
          <p:nvPr/>
        </p:nvSpPr>
        <p:spPr>
          <a:xfrm>
            <a:off x="6949440" y="29626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 · 선제 제안 · 시스템 모델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1463040" y="3675888"/>
            <a:ext cx="9262872" cy="731520"/>
          </a:xfrm>
          <a:prstGeom prst="roundRect">
            <a:avLst>
              <a:gd name="adj" fmla="val 10000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3858768"/>
            <a:ext cx="365760" cy="36576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2139696" y="3675888"/>
            <a:ext cx="84033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전략 — FDE(Forward Deployed Engineer)를 스타 플레이어로, 고객사와 기술 생태계를 함께 만든다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‘모난 놈이 정 맞는’ 기존 문화에서 → 스타를 호명하고 드러내는 문화로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457200" y="4773168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환경도 바뀌었다 — 스타를 영입할 수 있는 임금 수준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749808" y="5157216"/>
            <a:ext cx="3108960" cy="804672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5875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수준에 못 미친 보상</a:t>
            </a:r>
            <a:endParaRPr lang="en-US" sz="1350" dirty="0"/>
          </a:p>
        </p:txBody>
      </p:sp>
      <p:sp>
        <p:nvSpPr>
          <p:cNvPr id="28" name="Text 23"/>
          <p:cNvSpPr/>
          <p:nvPr/>
        </p:nvSpPr>
        <p:spPr>
          <a:xfrm>
            <a:off x="3858768" y="5157216"/>
            <a:ext cx="274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4133088" y="5157216"/>
            <a:ext cx="338328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 · 영입 가능 수준</a:t>
            </a:r>
            <a:endParaRPr lang="en-US" sz="1350" dirty="0"/>
          </a:p>
        </p:txBody>
      </p:sp>
      <p:sp>
        <p:nvSpPr>
          <p:cNvPr id="30" name="Text 25"/>
          <p:cNvSpPr/>
          <p:nvPr/>
        </p:nvSpPr>
        <p:spPr>
          <a:xfrm>
            <a:off x="7516368" y="5157216"/>
            <a:ext cx="274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7790688" y="5157216"/>
            <a:ext cx="3657600" cy="804672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9050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 기대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 영입 축적 → 조직 전반 수준 상향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2026-07-24T03:30:19Z</dcterms:created>
  <dcterms:modified xsi:type="dcterms:W3CDTF">2026-07-24T03:30:19Z</dcterms:modified>
</cp:coreProperties>
</file>