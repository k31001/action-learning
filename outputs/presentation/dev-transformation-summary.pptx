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07008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71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344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4297680" y="1207008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371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01184" y="1344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129016" y="1207008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4" name="Text 12"/>
          <p:cNvSpPr/>
          <p:nvPr/>
        </p:nvSpPr>
        <p:spPr>
          <a:xfrm>
            <a:off x="8311896" y="1371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732520" y="1344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 SCA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 정확성만으론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 테이블에 못 앉는다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517136" y="1883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181344" y="18836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517136" y="2157984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5888736" y="2157984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181344" y="2157984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517136" y="276148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5888736" y="276148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181344" y="276148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4517136" y="336499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5888736" y="336499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6181344" y="336499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4517136" y="396849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5888736" y="396849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6181344" y="396849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5" name="Text 41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8897112" y="1847088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1943649"/>
            <a:ext cx="209215" cy="209215"/>
          </a:xfrm>
          <a:prstGeom prst="rect">
            <a:avLst/>
          </a:prstGeom>
        </p:spPr>
      </p:pic>
      <p:sp>
        <p:nvSpPr>
          <p:cNvPr id="48" name="Text 43"/>
          <p:cNvSpPr/>
          <p:nvPr/>
        </p:nvSpPr>
        <p:spPr>
          <a:xfrm>
            <a:off x="8330184" y="226771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49" name="Text 44"/>
          <p:cNvSpPr/>
          <p:nvPr/>
        </p:nvSpPr>
        <p:spPr>
          <a:xfrm>
            <a:off x="8275320" y="254203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0" name="Shape 45"/>
          <p:cNvSpPr/>
          <p:nvPr/>
        </p:nvSpPr>
        <p:spPr>
          <a:xfrm>
            <a:off x="10561320" y="1847088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1943649"/>
            <a:ext cx="209215" cy="209215"/>
          </a:xfrm>
          <a:prstGeom prst="rect">
            <a:avLst/>
          </a:prstGeom>
        </p:spPr>
      </p:pic>
      <p:sp>
        <p:nvSpPr>
          <p:cNvPr id="52" name="Text 46"/>
          <p:cNvSpPr/>
          <p:nvPr/>
        </p:nvSpPr>
        <p:spPr>
          <a:xfrm>
            <a:off x="9994392" y="226771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3" name="Text 47"/>
          <p:cNvSpPr/>
          <p:nvPr/>
        </p:nvSpPr>
        <p:spPr>
          <a:xfrm>
            <a:off x="9939528" y="254203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4" name="Shape 48"/>
          <p:cNvSpPr/>
          <p:nvPr/>
        </p:nvSpPr>
        <p:spPr>
          <a:xfrm>
            <a:off x="8897112" y="2907792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004353"/>
            <a:ext cx="209215" cy="209215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330184" y="332841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7" name="Text 50"/>
          <p:cNvSpPr/>
          <p:nvPr/>
        </p:nvSpPr>
        <p:spPr>
          <a:xfrm>
            <a:off x="8275320" y="360273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 스타·Pod 상주</a:t>
            </a:r>
            <a:endParaRPr lang="en-US" sz="1050" dirty="0"/>
          </a:p>
        </p:txBody>
      </p:sp>
      <p:sp>
        <p:nvSpPr>
          <p:cNvPr id="58" name="Shape 51"/>
          <p:cNvSpPr/>
          <p:nvPr/>
        </p:nvSpPr>
        <p:spPr>
          <a:xfrm>
            <a:off x="10561320" y="2907792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004353"/>
            <a:ext cx="209215" cy="209215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9994392" y="332841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1" name="Text 53"/>
          <p:cNvSpPr/>
          <p:nvPr/>
        </p:nvSpPr>
        <p:spPr>
          <a:xfrm>
            <a:off x="9939528" y="360273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2" name="Shape 54"/>
          <p:cNvSpPr/>
          <p:nvPr/>
        </p:nvSpPr>
        <p:spPr>
          <a:xfrm>
            <a:off x="8695944" y="4206240"/>
            <a:ext cx="24688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63" name="Shape 55"/>
          <p:cNvSpPr/>
          <p:nvPr/>
        </p:nvSpPr>
        <p:spPr>
          <a:xfrm>
            <a:off x="863193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4" name="Text 56"/>
          <p:cNvSpPr/>
          <p:nvPr/>
        </p:nvSpPr>
        <p:spPr>
          <a:xfrm>
            <a:off x="814730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</a:t>
            </a:r>
            <a:endParaRPr lang="en-US" sz="1150" dirty="0"/>
          </a:p>
        </p:txBody>
      </p:sp>
      <p:sp>
        <p:nvSpPr>
          <p:cNvPr id="65" name="Shape 57"/>
          <p:cNvSpPr/>
          <p:nvPr/>
        </p:nvSpPr>
        <p:spPr>
          <a:xfrm>
            <a:off x="986637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6" name="Text 58"/>
          <p:cNvSpPr/>
          <p:nvPr/>
        </p:nvSpPr>
        <p:spPr>
          <a:xfrm>
            <a:off x="938174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제도화</a:t>
            </a:r>
            <a:endParaRPr lang="en-US" sz="1150" dirty="0"/>
          </a:p>
        </p:txBody>
      </p:sp>
      <p:sp>
        <p:nvSpPr>
          <p:cNvPr id="67" name="Shape 59"/>
          <p:cNvSpPr/>
          <p:nvPr/>
        </p:nvSpPr>
        <p:spPr>
          <a:xfrm>
            <a:off x="1110081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8" name="Text 60"/>
          <p:cNvSpPr/>
          <p:nvPr/>
        </p:nvSpPr>
        <p:spPr>
          <a:xfrm>
            <a:off x="1061618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1150" dirty="0"/>
          </a:p>
        </p:txBody>
      </p:sp>
      <p:sp>
        <p:nvSpPr>
          <p:cNvPr id="69" name="Shape 61"/>
          <p:cNvSpPr/>
          <p:nvPr/>
        </p:nvSpPr>
        <p:spPr>
          <a:xfrm>
            <a:off x="8311896" y="4864608"/>
            <a:ext cx="3236976" cy="512064"/>
          </a:xfrm>
          <a:prstGeom prst="roundRect">
            <a:avLst>
              <a:gd name="adj" fmla="val 1428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7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937760"/>
            <a:ext cx="365760" cy="365760"/>
          </a:xfrm>
          <a:prstGeom prst="rect">
            <a:avLst/>
          </a:prstGeom>
        </p:spPr>
      </p:pic>
      <p:sp>
        <p:nvSpPr>
          <p:cNvPr id="71" name="Text 62"/>
          <p:cNvSpPr/>
          <p:nvPr/>
        </p:nvSpPr>
        <p:spPr>
          <a:xfrm>
            <a:off x="8988552" y="486460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DE를 스타 플레이어로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00" dirty="0"/>
          </a:p>
        </p:txBody>
      </p:sp>
      <p:sp>
        <p:nvSpPr>
          <p:cNvPr id="72" name="Text 63"/>
          <p:cNvSpPr/>
          <p:nvPr/>
        </p:nvSpPr>
        <p:spPr>
          <a:xfrm>
            <a:off x="457200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40건/년</a:t>
            </a:r>
            <a:endParaRPr lang="en-US" sz="2400" dirty="0"/>
          </a:p>
        </p:txBody>
      </p:sp>
      <p:sp>
        <p:nvSpPr>
          <p:cNvPr id="73" name="Text 64"/>
          <p:cNvSpPr/>
          <p:nvPr/>
        </p:nvSpPr>
        <p:spPr>
          <a:xfrm>
            <a:off x="457200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 (현재 ~0)</a:t>
            </a:r>
            <a:endParaRPr lang="en-US" sz="1200" dirty="0"/>
          </a:p>
        </p:txBody>
      </p:sp>
      <p:sp>
        <p:nvSpPr>
          <p:cNvPr id="74" name="Text 65"/>
          <p:cNvSpPr/>
          <p:nvPr/>
        </p:nvSpPr>
        <p:spPr>
          <a:xfrm>
            <a:off x="2715768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en-US" sz="2400" dirty="0"/>
          </a:p>
        </p:txBody>
      </p:sp>
      <p:sp>
        <p:nvSpPr>
          <p:cNvPr id="75" name="Text 66"/>
          <p:cNvSpPr/>
          <p:nvPr/>
        </p:nvSpPr>
        <p:spPr>
          <a:xfrm>
            <a:off x="2715768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채택률</a:t>
            </a:r>
            <a:endParaRPr lang="en-US" sz="1200" dirty="0"/>
          </a:p>
        </p:txBody>
      </p:sp>
      <p:sp>
        <p:nvSpPr>
          <p:cNvPr id="76" name="Text 67"/>
          <p:cNvSpPr/>
          <p:nvPr/>
        </p:nvSpPr>
        <p:spPr>
          <a:xfrm>
            <a:off x="4974336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2400" dirty="0"/>
          </a:p>
        </p:txBody>
      </p:sp>
      <p:sp>
        <p:nvSpPr>
          <p:cNvPr id="77" name="Text 68"/>
          <p:cNvSpPr/>
          <p:nvPr/>
        </p:nvSpPr>
        <p:spPr>
          <a:xfrm>
            <a:off x="4974336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매출 비중</a:t>
            </a:r>
            <a:endParaRPr lang="en-US" sz="1200" dirty="0"/>
          </a:p>
        </p:txBody>
      </p:sp>
      <p:sp>
        <p:nvSpPr>
          <p:cNvPr id="78" name="Text 69"/>
          <p:cNvSpPr/>
          <p:nvPr/>
        </p:nvSpPr>
        <p:spPr>
          <a:xfrm>
            <a:off x="7232904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25%</a:t>
            </a:r>
            <a:endParaRPr lang="en-US" sz="2400" dirty="0"/>
          </a:p>
        </p:txBody>
      </p:sp>
      <p:sp>
        <p:nvSpPr>
          <p:cNvPr id="79" name="Text 70"/>
          <p:cNvSpPr/>
          <p:nvPr/>
        </p:nvSpPr>
        <p:spPr>
          <a:xfrm>
            <a:off x="7232904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교류 시간</a:t>
            </a:r>
            <a:endParaRPr lang="en-US" sz="1200" dirty="0"/>
          </a:p>
        </p:txBody>
      </p:sp>
      <p:sp>
        <p:nvSpPr>
          <p:cNvPr id="80" name="Text 71"/>
          <p:cNvSpPr/>
          <p:nvPr/>
        </p:nvSpPr>
        <p:spPr>
          <a:xfrm>
            <a:off x="9491472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5명+</a:t>
            </a:r>
            <a:endParaRPr lang="en-US" sz="2400" dirty="0"/>
          </a:p>
        </p:txBody>
      </p:sp>
      <p:sp>
        <p:nvSpPr>
          <p:cNvPr id="81" name="Text 72"/>
          <p:cNvSpPr/>
          <p:nvPr/>
        </p:nvSpPr>
        <p:spPr>
          <a:xfrm>
            <a:off x="9491472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스타 영입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157984" y="2048256"/>
            <a:ext cx="274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14016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58768" y="2048256"/>
            <a:ext cx="274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· SCA 16건 · $100B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DE(Distinguished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 → 스타를 호명하고 드러내는 문화로 (호명사회) · 관리 보직 분리 + 실리콘밸리 현역 스타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1463040" y="5797296"/>
            <a:ext cx="926287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1380744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2" name="Text 45"/>
          <p:cNvSpPr/>
          <p:nvPr/>
        </p:nvSpPr>
        <p:spPr>
          <a:xfrm>
            <a:off x="45720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· 증명</a:t>
            </a:r>
            <a:endParaRPr lang="en-US" sz="1450" dirty="0"/>
          </a:p>
        </p:txBody>
      </p:sp>
      <p:sp>
        <p:nvSpPr>
          <p:cNvPr id="53" name="Text 46"/>
          <p:cNvSpPr/>
          <p:nvPr/>
        </p:nvSpPr>
        <p:spPr>
          <a:xfrm>
            <a:off x="-137160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1호 · 시스템 모델 v0.1</a:t>
            </a:r>
            <a:endParaRPr lang="en-US" sz="1100" dirty="0"/>
          </a:p>
        </p:txBody>
      </p:sp>
      <p:sp>
        <p:nvSpPr>
          <p:cNvPr id="54" name="Shape 47"/>
          <p:cNvSpPr/>
          <p:nvPr/>
        </p:nvSpPr>
        <p:spPr>
          <a:xfrm>
            <a:off x="6016752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5" name="Text 48"/>
          <p:cNvSpPr/>
          <p:nvPr/>
        </p:nvSpPr>
        <p:spPr>
          <a:xfrm>
            <a:off x="4681728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· 제도화</a:t>
            </a:r>
            <a:endParaRPr lang="en-US" sz="1450" dirty="0"/>
          </a:p>
        </p:txBody>
      </p:sp>
      <p:sp>
        <p:nvSpPr>
          <p:cNvPr id="56" name="Text 49"/>
          <p:cNvSpPr/>
          <p:nvPr/>
        </p:nvSpPr>
        <p:spPr>
          <a:xfrm>
            <a:off x="4498848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3~5개 · SCA형 계약 1건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10643616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8" name="Text 51"/>
          <p:cNvSpPr/>
          <p:nvPr/>
        </p:nvSpPr>
        <p:spPr>
          <a:xfrm>
            <a:off x="9308592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· 표준화</a:t>
            </a:r>
            <a:endParaRPr lang="en-US" sz="1450" dirty="0"/>
          </a:p>
        </p:txBody>
      </p:sp>
      <p:sp>
        <p:nvSpPr>
          <p:cNvPr id="59" name="Text 52"/>
          <p:cNvSpPr/>
          <p:nvPr/>
        </p:nvSpPr>
        <p:spPr>
          <a:xfrm>
            <a:off x="9125712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플랫폼 · 커스텀 매출 30%+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932688"/>
            <a:ext cx="10360152" cy="822960"/>
          </a:xfrm>
          <a:prstGeom prst="roundRect">
            <a:avLst>
              <a:gd name="adj" fmla="val 11111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005840"/>
            <a:ext cx="9994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1426464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349240" y="2286000"/>
            <a:ext cx="1463040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 SCA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19" name="Text 15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Distinguished Engineer를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2468880" y="4974336"/>
            <a:ext cx="725119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2377440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0"/>
          <p:cNvSpPr/>
          <p:nvPr/>
        </p:nvSpPr>
        <p:spPr>
          <a:xfrm>
            <a:off x="1188720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증명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1097280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1호 · 모델 v0.1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6007608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8" name="Text 23"/>
          <p:cNvSpPr/>
          <p:nvPr/>
        </p:nvSpPr>
        <p:spPr>
          <a:xfrm>
            <a:off x="4818888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제도화</a:t>
            </a:r>
            <a:endParaRPr lang="en-US" sz="1550" dirty="0"/>
          </a:p>
        </p:txBody>
      </p:sp>
      <p:sp>
        <p:nvSpPr>
          <p:cNvPr id="29" name="Text 24"/>
          <p:cNvSpPr/>
          <p:nvPr/>
        </p:nvSpPr>
        <p:spPr>
          <a:xfrm>
            <a:off x="4727448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 · SCA 1건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9628632" y="4882896"/>
            <a:ext cx="182880" cy="182880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31" name="Text 26"/>
          <p:cNvSpPr/>
          <p:nvPr/>
        </p:nvSpPr>
        <p:spPr>
          <a:xfrm>
            <a:off x="8439912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표준화</a:t>
            </a:r>
            <a:endParaRPr lang="en-US" sz="1550" dirty="0"/>
          </a:p>
        </p:txBody>
      </p:sp>
      <p:sp>
        <p:nvSpPr>
          <p:cNvPr id="32" name="Text 27"/>
          <p:cNvSpPr/>
          <p:nvPr/>
        </p:nvSpPr>
        <p:spPr>
          <a:xfrm>
            <a:off x="8348472" y="5138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· 커스텀 30%+</a:t>
            </a:r>
            <a:endParaRPr lang="en-US" sz="1150" dirty="0"/>
          </a:p>
        </p:txBody>
      </p:sp>
      <p:sp>
        <p:nvSpPr>
          <p:cNvPr id="33" name="Text 28"/>
          <p:cNvSpPr/>
          <p:nvPr/>
        </p:nvSpPr>
        <p:spPr>
          <a:xfrm>
            <a:off x="457200" y="559612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$100B</a:t>
            </a:r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SCA 최소 계약매출 — 공동설계 없이는 참여할 수 없는 시장 (Micron IR, 2026-06)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2026-07-24T01:10:44Z</dcterms:created>
  <dcterms:modified xsi:type="dcterms:W3CDTF">2026-07-24T01:10:44Z</dcterms:modified>
</cp:coreProperties>
</file>