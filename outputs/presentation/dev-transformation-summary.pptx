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북극성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파트너 (2026-06)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호명사회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 — 송길영 『시대예보: 호명사회』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070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429768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129016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5" name="Text 13"/>
          <p:cNvSpPr/>
          <p:nvPr/>
        </p:nvSpPr>
        <p:spPr>
          <a:xfrm>
            <a:off x="8311896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732520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41248" y="2084832"/>
            <a:ext cx="0" cy="214884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8096" y="2066544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19751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755648" y="19659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 커스텀 HBM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인증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8096" y="2926080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’25.10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755648" y="2825496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Stargate LOI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90만 장 (DRAM ~40%)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68096" y="3785616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369417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’26.06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755648" y="368503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Micron–Anthropic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16건 · $100B · $22B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590288"/>
            <a:ext cx="3236976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791456"/>
            <a:ext cx="310896" cy="310896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207008" y="4626864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정확한 납품만으로는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 수주 불가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4517136" y="19568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As-Is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1956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To-Be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17136" y="2231136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5888736" y="2231136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6181344" y="2231136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17136" y="280720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5888736" y="2807208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6181344" y="2807208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17136" y="3383280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단품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5888736" y="3383280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6181344" y="3383280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4517136" y="3959352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QCD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5888736" y="3959352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6181344" y="3959352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 KPI</a:t>
            </a:r>
            <a:endParaRPr lang="en-US" sz="1350" dirty="0"/>
          </a:p>
        </p:txBody>
      </p:sp>
      <p:sp>
        <p:nvSpPr>
          <p:cNvPr id="44" name="Shape 41"/>
          <p:cNvSpPr/>
          <p:nvPr/>
        </p:nvSpPr>
        <p:spPr>
          <a:xfrm>
            <a:off x="4517136" y="4700016"/>
            <a:ext cx="3163824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4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4828032"/>
            <a:ext cx="274320" cy="274320"/>
          </a:xfrm>
          <a:prstGeom prst="rect">
            <a:avLst/>
          </a:prstGeom>
        </p:spPr>
      </p:pic>
      <p:sp>
        <p:nvSpPr>
          <p:cNvPr id="46" name="Text 42"/>
          <p:cNvSpPr/>
          <p:nvPr/>
        </p:nvSpPr>
        <p:spPr>
          <a:xfrm>
            <a:off x="5029200" y="4700016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롤모델 Palantir FDE — 고객사 상주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8897112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3673" y="2053377"/>
            <a:ext cx="209215" cy="209215"/>
          </a:xfrm>
          <a:prstGeom prst="rect">
            <a:avLst/>
          </a:prstGeom>
        </p:spPr>
      </p:pic>
      <p:sp>
        <p:nvSpPr>
          <p:cNvPr id="49" name="Text 44"/>
          <p:cNvSpPr/>
          <p:nvPr/>
        </p:nvSpPr>
        <p:spPr>
          <a:xfrm>
            <a:off x="8330184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500" dirty="0"/>
          </a:p>
        </p:txBody>
      </p:sp>
      <p:sp>
        <p:nvSpPr>
          <p:cNvPr id="50" name="Text 45"/>
          <p:cNvSpPr/>
          <p:nvPr/>
        </p:nvSpPr>
        <p:spPr>
          <a:xfrm>
            <a:off x="8275320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랩·모델</a:t>
            </a:r>
            <a:endParaRPr lang="en-US" sz="1050" dirty="0"/>
          </a:p>
        </p:txBody>
      </p:sp>
      <p:sp>
        <p:nvSpPr>
          <p:cNvPr id="51" name="Shape 46"/>
          <p:cNvSpPr/>
          <p:nvPr/>
        </p:nvSpPr>
        <p:spPr>
          <a:xfrm>
            <a:off x="10561320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7881" y="2053377"/>
            <a:ext cx="209215" cy="209215"/>
          </a:xfrm>
          <a:prstGeom prst="rect">
            <a:avLst/>
          </a:prstGeom>
        </p:spPr>
      </p:pic>
      <p:sp>
        <p:nvSpPr>
          <p:cNvPr id="53" name="Text 47"/>
          <p:cNvSpPr/>
          <p:nvPr/>
        </p:nvSpPr>
        <p:spPr>
          <a:xfrm>
            <a:off x="9994392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500" dirty="0"/>
          </a:p>
        </p:txBody>
      </p:sp>
      <p:sp>
        <p:nvSpPr>
          <p:cNvPr id="54" name="Text 48"/>
          <p:cNvSpPr/>
          <p:nvPr/>
        </p:nvSpPr>
        <p:spPr>
          <a:xfrm>
            <a:off x="9939528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8897112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3673" y="3114081"/>
            <a:ext cx="209215" cy="209215"/>
          </a:xfrm>
          <a:prstGeom prst="rect">
            <a:avLst/>
          </a:prstGeom>
        </p:spPr>
      </p:pic>
      <p:sp>
        <p:nvSpPr>
          <p:cNvPr id="57" name="Text 50"/>
          <p:cNvSpPr/>
          <p:nvPr/>
        </p:nvSpPr>
        <p:spPr>
          <a:xfrm>
            <a:off x="8330184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500" dirty="0"/>
          </a:p>
        </p:txBody>
      </p:sp>
      <p:sp>
        <p:nvSpPr>
          <p:cNvPr id="58" name="Text 51"/>
          <p:cNvSpPr/>
          <p:nvPr/>
        </p:nvSpPr>
        <p:spPr>
          <a:xfrm>
            <a:off x="8275320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스타·Pod 상주</a:t>
            </a:r>
            <a:endParaRPr lang="en-US" sz="1050" dirty="0"/>
          </a:p>
        </p:txBody>
      </p:sp>
      <p:sp>
        <p:nvSpPr>
          <p:cNvPr id="59" name="Shape 52"/>
          <p:cNvSpPr/>
          <p:nvPr/>
        </p:nvSpPr>
        <p:spPr>
          <a:xfrm>
            <a:off x="10561320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6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7881" y="3114081"/>
            <a:ext cx="209215" cy="209215"/>
          </a:xfrm>
          <a:prstGeom prst="rect">
            <a:avLst/>
          </a:prstGeom>
        </p:spPr>
      </p:pic>
      <p:sp>
        <p:nvSpPr>
          <p:cNvPr id="61" name="Text 53"/>
          <p:cNvSpPr/>
          <p:nvPr/>
        </p:nvSpPr>
        <p:spPr>
          <a:xfrm>
            <a:off x="9994392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500" dirty="0"/>
          </a:p>
        </p:txBody>
      </p:sp>
      <p:sp>
        <p:nvSpPr>
          <p:cNvPr id="62" name="Text 54"/>
          <p:cNvSpPr/>
          <p:nvPr/>
        </p:nvSpPr>
        <p:spPr>
          <a:xfrm>
            <a:off x="9939528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리뷰·PoA</a:t>
            </a:r>
            <a:endParaRPr lang="en-US" sz="1050" dirty="0"/>
          </a:p>
        </p:txBody>
      </p:sp>
      <p:sp>
        <p:nvSpPr>
          <p:cNvPr id="63" name="Shape 55"/>
          <p:cNvSpPr/>
          <p:nvPr/>
        </p:nvSpPr>
        <p:spPr>
          <a:xfrm>
            <a:off x="8311896" y="4480560"/>
            <a:ext cx="3236976" cy="640080"/>
          </a:xfrm>
          <a:prstGeom prst="roundRect">
            <a:avLst>
              <a:gd name="adj" fmla="val 11429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6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4617720"/>
            <a:ext cx="365760" cy="365760"/>
          </a:xfrm>
          <a:prstGeom prst="rect">
            <a:avLst/>
          </a:prstGeom>
        </p:spPr>
      </p:pic>
      <p:sp>
        <p:nvSpPr>
          <p:cNvPr id="65" name="Text 56"/>
          <p:cNvSpPr/>
          <p:nvPr/>
        </p:nvSpPr>
        <p:spPr>
          <a:xfrm>
            <a:off x="8988552" y="4480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FDE를 스타 플레이어로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고객과 기술 생태계 공동 설계</a:t>
            </a:r>
            <a:endParaRPr lang="en-US" sz="1350" dirty="0"/>
          </a:p>
        </p:txBody>
      </p:sp>
      <p:sp>
        <p:nvSpPr>
          <p:cNvPr id="66" name="Shape 57"/>
          <p:cNvSpPr/>
          <p:nvPr/>
        </p:nvSpPr>
        <p:spPr>
          <a:xfrm>
            <a:off x="457200" y="5559552"/>
            <a:ext cx="11274552" cy="82296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/>
        </p:spPr>
      </p:sp>
      <p:sp>
        <p:nvSpPr>
          <p:cNvPr id="67" name="Text 58"/>
          <p:cNvSpPr/>
          <p:nvPr/>
        </p:nvSpPr>
        <p:spPr>
          <a:xfrm>
            <a:off x="676656" y="57058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변화</a:t>
            </a:r>
            <a:endParaRPr lang="en-US" sz="1500" dirty="0"/>
          </a:p>
        </p:txBody>
      </p:sp>
      <p:sp>
        <p:nvSpPr>
          <p:cNvPr id="68" name="Text 59"/>
          <p:cNvSpPr/>
          <p:nvPr/>
        </p:nvSpPr>
        <p:spPr>
          <a:xfrm>
            <a:off x="676656" y="59984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영입 가능한 임금 수준</a:t>
            </a:r>
            <a:endParaRPr lang="en-US" sz="1050" dirty="0"/>
          </a:p>
        </p:txBody>
      </p:sp>
      <p:sp>
        <p:nvSpPr>
          <p:cNvPr id="69" name="Text 60"/>
          <p:cNvSpPr/>
          <p:nvPr/>
        </p:nvSpPr>
        <p:spPr>
          <a:xfrm>
            <a:off x="2743200" y="5669280"/>
            <a:ext cx="2331720" cy="603504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보상 열위</a:t>
            </a:r>
            <a:endParaRPr lang="en-US" sz="1250" dirty="0"/>
          </a:p>
        </p:txBody>
      </p:sp>
      <p:sp>
        <p:nvSpPr>
          <p:cNvPr id="70" name="Text 61"/>
          <p:cNvSpPr/>
          <p:nvPr/>
        </p:nvSpPr>
        <p:spPr>
          <a:xfrm>
            <a:off x="5074920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1" name="Text 62"/>
          <p:cNvSpPr/>
          <p:nvPr/>
        </p:nvSpPr>
        <p:spPr>
          <a:xfrm>
            <a:off x="5294376" y="5669280"/>
            <a:ext cx="329184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— 처우 급등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최대 12.9억 전망</a:t>
            </a:r>
            <a:endParaRPr lang="en-US" sz="1250" dirty="0"/>
          </a:p>
        </p:txBody>
      </p:sp>
      <p:sp>
        <p:nvSpPr>
          <p:cNvPr id="72" name="Text 63"/>
          <p:cNvSpPr/>
          <p:nvPr/>
        </p:nvSpPr>
        <p:spPr>
          <a:xfrm>
            <a:off x="8586216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3" name="Text 64"/>
          <p:cNvSpPr/>
          <p:nvPr/>
        </p:nvSpPr>
        <p:spPr>
          <a:xfrm>
            <a:off x="8805672" y="5669280"/>
            <a:ext cx="2697480" cy="603504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수준 상향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(2026-06)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0704" y="16184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 — 계약의 진화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76656" y="2048256"/>
            <a:ext cx="1051560" cy="749808"/>
          </a:xfrm>
          <a:prstGeom prst="roundRect">
            <a:avLst>
              <a:gd name="adj" fmla="val 8537"/>
            </a:avLst>
          </a:prstGeom>
          <a:solidFill>
            <a:srgbClr val="E7EC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Spot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현물 거래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28216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65960" y="2048256"/>
            <a:ext cx="1234440" cy="749808"/>
          </a:xfrm>
          <a:prstGeom prst="roundRect">
            <a:avLst>
              <a:gd name="adj" fmla="val 8537"/>
            </a:avLst>
          </a:prstGeom>
          <a:solidFill>
            <a:srgbClr val="CBD6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물량·가격 락인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00400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38144" y="2048256"/>
            <a:ext cx="2286000" cy="749808"/>
          </a:xfrm>
          <a:prstGeom prst="roundRect">
            <a:avLst>
              <a:gd name="adj" fmla="val 8537"/>
            </a:avLst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공동설계·자본 연계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2944368"/>
            <a:ext cx="4965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사는 것: 납품 → 공동 기술 드라이브 (16건 · $100B)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4496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17" name="Text 15"/>
          <p:cNvSpPr/>
          <p:nvPr/>
        </p:nvSpPr>
        <p:spPr>
          <a:xfrm>
            <a:off x="6437376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1618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 — As-Is → To-Be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73952" y="2029968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065008" y="2029968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57616" y="2029968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공동 정의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73952" y="2468880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65008" y="24688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57616" y="2468880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제안·기술 드라이브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73952" y="2907792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스펙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065008" y="2907792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57616" y="2907792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 (서버→랙→DC)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3529584"/>
            <a:ext cx="11274552" cy="1005840"/>
          </a:xfrm>
          <a:prstGeom prst="roundRect">
            <a:avLst>
              <a:gd name="adj" fmla="val 8182"/>
            </a:avLst>
          </a:prstGeom>
          <a:solidFill>
            <a:srgbClr val="F5F7F8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65760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60704" y="3630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 — 4대 축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411480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972" y="3749772"/>
            <a:ext cx="199705" cy="199705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57200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 · 시스템 모델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03504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212" y="3749772"/>
            <a:ext cx="199705" cy="199705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649224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649224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 문화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795528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7452" y="3749772"/>
            <a:ext cx="199705" cy="199705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841248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400" dirty="0"/>
          </a:p>
        </p:txBody>
      </p:sp>
      <p:sp>
        <p:nvSpPr>
          <p:cNvPr id="42" name="Text 37"/>
          <p:cNvSpPr/>
          <p:nvPr/>
        </p:nvSpPr>
        <p:spPr>
          <a:xfrm>
            <a:off x="841248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 · Co-Design Pod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987552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7692" y="3749772"/>
            <a:ext cx="199705" cy="199705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1033272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400" dirty="0"/>
          </a:p>
        </p:txBody>
      </p:sp>
      <p:sp>
        <p:nvSpPr>
          <p:cNvPr id="46" name="Text 40"/>
          <p:cNvSpPr/>
          <p:nvPr/>
        </p:nvSpPr>
        <p:spPr>
          <a:xfrm>
            <a:off x="1033272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 · PoA · AI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457200" y="4645152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800600"/>
            <a:ext cx="365760" cy="365760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1133856" y="4645152"/>
            <a:ext cx="104150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FDE(Forward Deployed Engineer)를 스타 플레이어로, 고객사와 기술 생태계를 함께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 이름 뒤에 숨지 않고 자기 이름으로 불린다” — 송길영 『호명사회』 · ‘모난 놈이 정 맞는’ 문화 → 호명 문화로 · 관리 분리 + SV 영입</a:t>
            </a:r>
            <a:endParaRPr lang="en-US" sz="1400" dirty="0"/>
          </a:p>
        </p:txBody>
      </p:sp>
      <p:sp>
        <p:nvSpPr>
          <p:cNvPr id="50" name="Shape 43"/>
          <p:cNvSpPr/>
          <p:nvPr/>
        </p:nvSpPr>
        <p:spPr>
          <a:xfrm>
            <a:off x="457200" y="5449824"/>
            <a:ext cx="11274552" cy="914400"/>
          </a:xfrm>
          <a:prstGeom prst="roundRect">
            <a:avLst>
              <a:gd name="adj" fmla="val 9000"/>
            </a:avLst>
          </a:prstGeom>
          <a:solidFill>
            <a:srgbClr val="F5F7F8"/>
          </a:solidFill>
          <a:ln/>
        </p:spPr>
      </p:sp>
      <p:sp>
        <p:nvSpPr>
          <p:cNvPr id="51" name="Text 44"/>
          <p:cNvSpPr/>
          <p:nvPr/>
        </p:nvSpPr>
        <p:spPr>
          <a:xfrm>
            <a:off x="640080" y="5742432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52" name="Text 45"/>
          <p:cNvSpPr/>
          <p:nvPr/>
        </p:nvSpPr>
        <p:spPr>
          <a:xfrm>
            <a:off x="1060704" y="5715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변화 — 영입 가능한 임금</a:t>
            </a:r>
            <a:endParaRPr lang="en-US" sz="1700" dirty="0"/>
          </a:p>
        </p:txBody>
      </p:sp>
      <p:sp>
        <p:nvSpPr>
          <p:cNvPr id="53" name="Text 46"/>
          <p:cNvSpPr/>
          <p:nvPr/>
        </p:nvSpPr>
        <p:spPr>
          <a:xfrm>
            <a:off x="4114800" y="5605272"/>
            <a:ext cx="2103120" cy="603504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보상 열위</a:t>
            </a:r>
            <a:endParaRPr lang="en-US" sz="1250" dirty="0"/>
          </a:p>
        </p:txBody>
      </p:sp>
      <p:sp>
        <p:nvSpPr>
          <p:cNvPr id="54" name="Text 47"/>
          <p:cNvSpPr/>
          <p:nvPr/>
        </p:nvSpPr>
        <p:spPr>
          <a:xfrm>
            <a:off x="6217920" y="560527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55" name="Text 48"/>
          <p:cNvSpPr/>
          <p:nvPr/>
        </p:nvSpPr>
        <p:spPr>
          <a:xfrm>
            <a:off x="6437376" y="5605272"/>
            <a:ext cx="265176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</a:t>
            </a:r>
            <a:endParaRPr lang="en-US" sz="1250" dirty="0"/>
          </a:p>
        </p:txBody>
      </p:sp>
      <p:sp>
        <p:nvSpPr>
          <p:cNvPr id="56" name="Text 49"/>
          <p:cNvSpPr/>
          <p:nvPr/>
        </p:nvSpPr>
        <p:spPr>
          <a:xfrm>
            <a:off x="9089136" y="560527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57" name="Text 50"/>
          <p:cNvSpPr/>
          <p:nvPr/>
        </p:nvSpPr>
        <p:spPr>
          <a:xfrm>
            <a:off x="9308592" y="5605272"/>
            <a:ext cx="2286000" cy="603504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영입 축적 → 조직 수준 상향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신문섭 파트너, AI 인프라 슈퍼사이클 인터뷰 (2026-06)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90488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10" name="Text 8"/>
          <p:cNvSpPr/>
          <p:nvPr/>
        </p:nvSpPr>
        <p:spPr>
          <a:xfrm>
            <a:off x="6373368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73368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송길영, 『시대예보: 호명사회』 (2024)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01168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F5F7F8"/>
          </a:solidFill>
          <a:ln w="15875">
            <a:solidFill>
              <a:srgbClr val="DCE4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066544"/>
            <a:ext cx="457200" cy="457200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3008" y="2176272"/>
            <a:ext cx="237744" cy="23774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10312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 이행자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103120" y="29626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 · RFQ 응답 · QCD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285232" y="2286000"/>
            <a:ext cx="1591056" cy="822960"/>
          </a:xfrm>
          <a:prstGeom prst="rightArrow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 →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4944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21040" y="2066544"/>
            <a:ext cx="457200" cy="45720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768" y="2176272"/>
            <a:ext cx="237744" cy="23774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04088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파트너</a:t>
            </a:r>
            <a:endParaRPr lang="en-US" sz="2100" dirty="0"/>
          </a:p>
        </p:txBody>
      </p:sp>
      <p:sp>
        <p:nvSpPr>
          <p:cNvPr id="22" name="Text 18"/>
          <p:cNvSpPr/>
          <p:nvPr/>
        </p:nvSpPr>
        <p:spPr>
          <a:xfrm>
            <a:off x="6949440" y="29626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 · 선제 제안 · 시스템 모델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1463040" y="3675888"/>
            <a:ext cx="9262872" cy="731520"/>
          </a:xfrm>
          <a:prstGeom prst="roundRect">
            <a:avLst>
              <a:gd name="adj" fmla="val 10000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3858768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2139696" y="3675888"/>
            <a:ext cx="84033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전략 — FDE(Forward Deployed Engineer)를 스타 플레이어로, 고객사와 기술 생태계를 함께 만든다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‘모난 놈이 정 맞는’ 기존 문화에서 → 스타를 호명하고 드러내는 문화로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7200" y="4773168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환경도 바뀌었다 — 스타를 영입할 수 있는 임금 수준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749808" y="5157216"/>
            <a:ext cx="3108960" cy="804672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수준에 못 미친 보상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38587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4133088" y="5157216"/>
            <a:ext cx="338328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영입 가능 수준</a:t>
            </a:r>
            <a:endParaRPr lang="en-US" sz="1350" dirty="0"/>
          </a:p>
        </p:txBody>
      </p:sp>
      <p:sp>
        <p:nvSpPr>
          <p:cNvPr id="30" name="Text 25"/>
          <p:cNvSpPr/>
          <p:nvPr/>
        </p:nvSpPr>
        <p:spPr>
          <a:xfrm>
            <a:off x="75163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7790688" y="5157216"/>
            <a:ext cx="3657600" cy="804672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9050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전반 수준 상향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 —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①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“Binding으로 수요를 확보하고, FDP로 제품을 표준화하며, 시스템 소프트웨어로 고객 워크로드를 연결한다”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2011680" y="1517904"/>
            <a:ext cx="3200400" cy="1371600"/>
          </a:xfrm>
          <a:prstGeom prst="roundRect">
            <a:avLst>
              <a:gd name="adj" fmla="val 6667"/>
            </a:avLst>
          </a:prstGeom>
          <a:solidFill>
            <a:srgbClr val="F5F7F8"/>
          </a:solidFill>
          <a:ln w="15875">
            <a:solidFill>
              <a:srgbClr val="DCE4E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1645920"/>
            <a:ext cx="420624" cy="420624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02518" y="1746870"/>
            <a:ext cx="218724" cy="21872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103120" y="210312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SSD 공급자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2103120" y="246888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공급사 중 하나 · 가격 경쟁 노출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285232" y="1792224"/>
            <a:ext cx="1591056" cy="822960"/>
          </a:xfrm>
          <a:prstGeom prst="rightArrow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시스템 SW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949440" y="1517904"/>
            <a:ext cx="3200400" cy="1371600"/>
          </a:xfrm>
          <a:prstGeom prst="roundRect">
            <a:avLst>
              <a:gd name="adj" fmla="val 6667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339328" y="1645920"/>
            <a:ext cx="420624" cy="420624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0278" y="1746870"/>
            <a:ext cx="218724" cy="21872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040880" y="210312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솔루션 제공자</a:t>
            </a:r>
            <a:endParaRPr lang="en-US" sz="1900" dirty="0"/>
          </a:p>
        </p:txBody>
      </p:sp>
      <p:sp>
        <p:nvSpPr>
          <p:cNvPr id="17" name="Text 13"/>
          <p:cNvSpPr/>
          <p:nvPr/>
        </p:nvSpPr>
        <p:spPr>
          <a:xfrm>
            <a:off x="6949440" y="24688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Host SDK · Profiler · End-to-End 검증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457200" y="30358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시스템 소프트웨어인가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57200" y="3328416"/>
            <a:ext cx="3602736" cy="877824"/>
          </a:xfrm>
          <a:prstGeom prst="roundRect">
            <a:avLst>
              <a:gd name="adj" fmla="val 8333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FDP는 인터페이스일 뿐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SSD는 hot/cold·수명·테넌트를 모른다 — 정보는 DB·캐시 등 상위 SW에 있다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4297680" y="3328416"/>
            <a:ext cx="3602736" cy="877824"/>
          </a:xfrm>
          <a:prstGeom prst="roundRect">
            <a:avLst>
              <a:gd name="adj" fmla="val 8333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Captive SSD 확대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 공급에만 머물면 완제품 SSD의 부가가치를 잃는다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8138160" y="3328416"/>
            <a:ext cx="3602736" cy="877824"/>
          </a:xfrm>
          <a:prstGeom prst="roundRect">
            <a:avLst>
              <a:gd name="adj" fmla="val 8333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파편화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고객별 커스텀 SSD 개발은 제품·펌웨어를 파편화시킨다</a:t>
            </a:r>
            <a:endParaRPr lang="en-US" sz="1350" dirty="0"/>
          </a:p>
        </p:txBody>
      </p:sp>
      <p:sp>
        <p:nvSpPr>
          <p:cNvPr id="22" name="Text 18"/>
          <p:cNvSpPr/>
          <p:nvPr/>
        </p:nvSpPr>
        <p:spPr>
          <a:xfrm>
            <a:off x="457200" y="442569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전략 구조 — 6요소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457200" y="4718304"/>
            <a:ext cx="1682496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Binding 계약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물량 확보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2139696" y="4718304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2340864" y="4718304"/>
            <a:ext cx="1682496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SSD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인터페이스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4023360" y="4718304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4224528" y="4718304"/>
            <a:ext cx="1682496" cy="731520"/>
          </a:xfrm>
          <a:prstGeom prst="roundRect">
            <a:avLst>
              <a:gd name="adj" fmla="val 8750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SW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워크로드→정책 변환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5907024" y="4718304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6108192" y="4718304"/>
            <a:ext cx="1682496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E2E 검증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TCO 개선 보장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7790688" y="4718304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7991856" y="4718304"/>
            <a:ext cx="1682496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공동개발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관계 구축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9674352" y="4718304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9875520" y="4718304"/>
            <a:ext cx="1682496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텔레메트리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 개선 루프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457200" y="574243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Captive 고객의 요구를 삼성 완제품 생태계 안에 수용한다 — Binding secures demand · FDP standardizes · System SW creates value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 —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실행전략 6종 — Samsung FDP Enablement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3602736" cy="1737360"/>
          </a:xfrm>
          <a:prstGeom prst="roundRect">
            <a:avLst>
              <a:gd name="adj" fmla="val 4737"/>
            </a:avLst>
          </a:prstGeom>
          <a:solidFill>
            <a:srgbClr val="F5F7F8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444752"/>
            <a:ext cx="402336" cy="402336"/>
          </a:xfrm>
          <a:prstGeom prst="ellipse">
            <a:avLst/>
          </a:prstGeom>
          <a:solidFill>
            <a:srgbClr val="0E6BA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641" y="1541313"/>
            <a:ext cx="209215" cy="2092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52144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Enablement Platform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58368" y="1956816"/>
            <a:ext cx="3200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SDK·공통 라이브러리 (Linux·io_uring·SPDK) · Workload Profiler(trace→추천 RUH·예상 WAF) · Emulator/Digital Twin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297680" y="1280160"/>
            <a:ext cx="3602736" cy="1737360"/>
          </a:xfrm>
          <a:prstGeom prst="roundRect">
            <a:avLst>
              <a:gd name="adj" fmla="val 4737"/>
            </a:avLst>
          </a:prstGeom>
          <a:solidFill>
            <a:srgbClr val="F5F7F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444752"/>
            <a:ext cx="402336" cy="402336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121" y="1541313"/>
            <a:ext cx="209215" cy="20921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992624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표준 워크로드 프로파일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498848" y="1956816"/>
            <a:ext cx="3200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Cache·KV·DB·Multi-tenant·Vector·Checkpoint·QLC 7종 — 펌웨어 공통화와 고객별 최적화 양립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8138160" y="1280160"/>
            <a:ext cx="3602736" cy="1737360"/>
          </a:xfrm>
          <a:prstGeom prst="roundRect">
            <a:avLst>
              <a:gd name="adj" fmla="val 4737"/>
            </a:avLst>
          </a:prstGeom>
          <a:solidFill>
            <a:srgbClr val="F5F7F8"/>
          </a:solidFill>
          <a:ln/>
        </p:spPr>
      </p:sp>
      <p:sp>
        <p:nvSpPr>
          <p:cNvPr id="18" name="Shape 14"/>
          <p:cNvSpPr/>
          <p:nvPr/>
        </p:nvSpPr>
        <p:spPr>
          <a:xfrm>
            <a:off x="8321040" y="1444752"/>
            <a:ext cx="402336" cy="402336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601" y="1541313"/>
            <a:ext cx="209215" cy="20921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833104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End-to-End 공동검증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339328" y="1956816"/>
            <a:ext cx="3200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App→Host→SSD→NAND→텔레메트리 · 시스템 성과 지표(WAF·p999·격리·전력) · 고객 trace의 pre/post-silicon 재사용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3163824"/>
            <a:ext cx="3602736" cy="1737360"/>
          </a:xfrm>
          <a:prstGeom prst="roundRect">
            <a:avLst>
              <a:gd name="adj" fmla="val 4737"/>
            </a:avLst>
          </a:prstGeom>
          <a:solidFill>
            <a:srgbClr val="F5F7F8"/>
          </a:solidFill>
          <a:ln/>
        </p:spPr>
      </p:sp>
      <p:sp>
        <p:nvSpPr>
          <p:cNvPr id="23" name="Shape 18"/>
          <p:cNvSpPr/>
          <p:nvPr/>
        </p:nvSpPr>
        <p:spPr>
          <a:xfrm>
            <a:off x="640080" y="3328416"/>
            <a:ext cx="402336" cy="402336"/>
          </a:xfrm>
          <a:prstGeom prst="ellipse">
            <a:avLst/>
          </a:prstGeom>
          <a:solidFill>
            <a:srgbClr val="4C7C94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41" y="3424977"/>
            <a:ext cx="209215" cy="209215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152144" y="33467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고객 공동개발 조직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658368" y="3840480"/>
            <a:ext cx="3200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Host SW · Workload Integration · Solution Engineering · E2E Validation — 기술지원이 아니라 제품 기획·개발 참여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4297680" y="3163824"/>
            <a:ext cx="3602736" cy="1737360"/>
          </a:xfrm>
          <a:prstGeom prst="roundRect">
            <a:avLst>
              <a:gd name="adj" fmla="val 4737"/>
            </a:avLst>
          </a:prstGeom>
          <a:solidFill>
            <a:srgbClr val="F5F7F8"/>
          </a:solidFill>
          <a:ln/>
        </p:spPr>
      </p:sp>
      <p:sp>
        <p:nvSpPr>
          <p:cNvPr id="28" name="Shape 22"/>
          <p:cNvSpPr/>
          <p:nvPr/>
        </p:nvSpPr>
        <p:spPr>
          <a:xfrm>
            <a:off x="4480560" y="3328416"/>
            <a:ext cx="402336" cy="402336"/>
          </a:xfrm>
          <a:prstGeom prst="ellipse">
            <a:avLst/>
          </a:prstGeom>
          <a:solidFill>
            <a:srgbClr val="0E6BA8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7121" y="3424977"/>
            <a:ext cx="209215" cy="209215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4992624" y="33467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Binding 계약 기술협력</a:t>
            </a:r>
            <a:endParaRPr lang="en-US" sz="1400" dirty="0"/>
          </a:p>
        </p:txBody>
      </p:sp>
      <p:sp>
        <p:nvSpPr>
          <p:cNvPr id="31" name="Text 24"/>
          <p:cNvSpPr/>
          <p:nvPr/>
        </p:nvSpPr>
        <p:spPr>
          <a:xfrm>
            <a:off x="4498848" y="3840480"/>
            <a:ext cx="3200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고객: 물량·trace 제공·공동 로드맵 ↔ 삼성: 공급능력·SDK·개선 목표 — 공동 플랫폼 계약으로 확장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8138160" y="3163824"/>
            <a:ext cx="3602736" cy="1737360"/>
          </a:xfrm>
          <a:prstGeom prst="roundRect">
            <a:avLst>
              <a:gd name="adj" fmla="val 4737"/>
            </a:avLst>
          </a:prstGeom>
          <a:solidFill>
            <a:srgbClr val="F5F7F8"/>
          </a:solidFill>
          <a:ln/>
        </p:spPr>
      </p:sp>
      <p:sp>
        <p:nvSpPr>
          <p:cNvPr id="33" name="Shape 26"/>
          <p:cNvSpPr/>
          <p:nvPr/>
        </p:nvSpPr>
        <p:spPr>
          <a:xfrm>
            <a:off x="8321040" y="3328416"/>
            <a:ext cx="402336" cy="402336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601" y="3424977"/>
            <a:ext cx="209215" cy="209215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833104" y="33467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오픈소스·차별화 경계</a:t>
            </a:r>
            <a:endParaRPr lang="en-US" sz="1400" dirty="0"/>
          </a:p>
        </p:txBody>
      </p:sp>
      <p:sp>
        <p:nvSpPr>
          <p:cNvPr id="36" name="Text 28"/>
          <p:cNvSpPr/>
          <p:nvPr/>
        </p:nvSpPr>
        <p:spPr>
          <a:xfrm>
            <a:off x="8339328" y="3840480"/>
            <a:ext cx="3200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공개: 기본 라이브러리·연동·적합성 테스트 / 차별화: NAND·FTL 모델·정책 추천·예측 모델 — lock-in 우려 해소</a:t>
            </a:r>
            <a:endParaRPr 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457200" y="5175504"/>
            <a:ext cx="11274552" cy="822960"/>
          </a:xfrm>
          <a:prstGeom prst="roundRect">
            <a:avLst>
              <a:gd name="adj" fmla="val 8889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5404104"/>
            <a:ext cx="365760" cy="365760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1152144" y="5175504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KPI — 고객 시스템에서 FDP가 실제 활성화된 SSD 용량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 SSD 출하량만 세면 미사용 기능이 된다 · Captive SSD 계획에서 삼성 완제품으로 전환된 물량을 병행 추적 · WAF·p999·usable capacity 개선율</a:t>
            </a:r>
            <a:endParaRPr lang="en-US" sz="1450" dirty="0"/>
          </a:p>
        </p:txBody>
      </p:sp>
      <p:sp>
        <p:nvSpPr>
          <p:cNvPr id="40" name="Text 31"/>
          <p:cNvSpPr/>
          <p:nvPr/>
        </p:nvSpPr>
        <p:spPr>
          <a:xfrm>
            <a:off x="457200" y="6108192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주체: 인재 축(FDE 스타)이 이 플랫폼을 들고 고객 아키텍처 안으로 들어간다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2026-08-05T00:59:16Z</dcterms:created>
  <dcterms:modified xsi:type="dcterms:W3CDTF">2026-08-05T00:59:16Z</dcterms:modified>
</cp:coreProperties>
</file>