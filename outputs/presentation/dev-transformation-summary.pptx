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AF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인터뷰 (2026-06)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3602736" cy="4370832"/>
          </a:xfrm>
          <a:prstGeom prst="roundRect">
            <a:avLst>
              <a:gd name="adj" fmla="val 2284"/>
            </a:avLst>
          </a:prstGeom>
          <a:solidFill>
            <a:srgbClr val="EAF3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08176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380744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297680" y="1243584"/>
            <a:ext cx="3602736" cy="4370832"/>
          </a:xfrm>
          <a:prstGeom prst="roundRect">
            <a:avLst>
              <a:gd name="adj" fmla="val 2284"/>
            </a:avLst>
          </a:prstGeom>
          <a:solidFill>
            <a:srgbClr val="E6F4F4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408176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380744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129016" y="1243584"/>
            <a:ext cx="3602736" cy="4370832"/>
          </a:xfrm>
          <a:prstGeom prst="roundRect">
            <a:avLst>
              <a:gd name="adj" fmla="val 2284"/>
            </a:avLst>
          </a:prstGeom>
          <a:solidFill>
            <a:srgbClr val="E8F6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11896" y="1408176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32520" y="1380744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8368" y="1901952"/>
            <a:ext cx="3218688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 SK하이닉스 커스텀 HBM 3사 인증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 Stargate LOI — 월 90만 장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 SCA 16건·$100B·$22B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 정확성만으론 SCA 못 앉는다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498848" y="1901952"/>
            <a:ext cx="3218688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→ 요구 공동 정의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 → 선제 제안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→ 시스템 모델 (서버→랙→DC)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 → 공동설계·채택률 KPI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롤모델: Palantir FDE (고객사 상주)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30184" y="1901952"/>
            <a:ext cx="3218688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</a:t>
            </a:r>
            <a:pPr indent="0" marL="0">
              <a:spcAft>
                <a:spcPts val="700"/>
              </a:spcAft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랩·시스템 모델</a:t>
            </a:r>
            <a:endParaRPr lang="en-US" sz="2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 </a:t>
            </a:r>
            <a:pPr indent="0" marL="0">
              <a:spcAft>
                <a:spcPts val="700"/>
              </a:spcAft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제안 KPI·스타 호명</a:t>
            </a:r>
            <a:endParaRPr lang="en-US" sz="2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 </a:t>
            </a:r>
            <a:pPr indent="0" marL="0">
              <a:spcAft>
                <a:spcPts val="700"/>
              </a:spcAft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Pod·DE 재정의</a:t>
            </a:r>
            <a:endParaRPr lang="en-US" sz="2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indent="0" marL="0">
              <a:spcAft>
                <a:spcPts val="700"/>
              </a:spcAft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리뷰·PoA·AI 내재화</a:t>
            </a:r>
            <a:endParaRPr lang="en-US" sz="2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 → 1년 제도화 → 3년 표준화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57200" y="5724144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57200" y="612648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15768" y="5724144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715768" y="612648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74336" y="5724144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74336" y="612648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32904" y="5724144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232904" y="612648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91472" y="5724144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491472" y="6126480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6F4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11274552" cy="603504"/>
          </a:xfrm>
          <a:prstGeom prst="roundRect">
            <a:avLst>
              <a:gd name="adj" fmla="val 13636"/>
            </a:avLst>
          </a:prstGeom>
          <a:solidFill>
            <a:srgbClr val="E8F6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5477256" cy="2542032"/>
          </a:xfrm>
          <a:prstGeom prst="roundRect">
            <a:avLst>
              <a:gd name="adj" fmla="val 3237"/>
            </a:avLst>
          </a:prstGeom>
          <a:solidFill>
            <a:srgbClr val="EAF3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47088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8196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" y="2304288"/>
            <a:ext cx="5074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(LTA→SCA)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 등 SCA 16건 · $100B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역량 없으면 SCA에서 배제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254496" y="1682496"/>
            <a:ext cx="5477256" cy="2542032"/>
          </a:xfrm>
          <a:prstGeom prst="roundRect">
            <a:avLst>
              <a:gd name="adj" fmla="val 3237"/>
            </a:avLst>
          </a:prstGeom>
          <a:solidFill>
            <a:srgbClr val="E6F4F4"/>
          </a:solidFill>
          <a:ln/>
        </p:spPr>
      </p:sp>
      <p:sp>
        <p:nvSpPr>
          <p:cNvPr id="12" name="Text 10"/>
          <p:cNvSpPr/>
          <p:nvPr/>
        </p:nvSpPr>
        <p:spPr>
          <a:xfrm>
            <a:off x="6437376" y="1847088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0" y="18196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(As-Is → To-Be)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455664" y="2304288"/>
            <a:ext cx="5074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→ 요구사항 공동 정의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 → 선제 제안·기술 드라이브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 → 시스템 모델 (서버→랙→데이터센터)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40080" y="4379976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60704" y="435254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 · 3-Phase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457200" y="4828032"/>
            <a:ext cx="2724912" cy="786384"/>
          </a:xfrm>
          <a:prstGeom prst="roundRect">
            <a:avLst>
              <a:gd name="adj" fmla="val 10465"/>
            </a:avLst>
          </a:prstGeom>
          <a:solidFill>
            <a:srgbClr val="E8F6F0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" y="489204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03504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19272" y="4828032"/>
            <a:ext cx="2724912" cy="786384"/>
          </a:xfrm>
          <a:prstGeom prst="roundRect">
            <a:avLst>
              <a:gd name="adj" fmla="val 10465"/>
            </a:avLst>
          </a:prstGeom>
          <a:solidFill>
            <a:srgbClr val="E8F6F0"/>
          </a:solidFill>
          <a:ln/>
        </p:spPr>
      </p:sp>
      <p:sp>
        <p:nvSpPr>
          <p:cNvPr id="21" name="Text 19"/>
          <p:cNvSpPr/>
          <p:nvPr/>
        </p:nvSpPr>
        <p:spPr>
          <a:xfrm>
            <a:off x="3465576" y="489204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3465576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제안 KPI · 스타 호명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81344" y="4828032"/>
            <a:ext cx="2724912" cy="786384"/>
          </a:xfrm>
          <a:prstGeom prst="roundRect">
            <a:avLst>
              <a:gd name="adj" fmla="val 10465"/>
            </a:avLst>
          </a:prstGeom>
          <a:solidFill>
            <a:srgbClr val="E8F6F0"/>
          </a:solidFill>
          <a:ln/>
        </p:spPr>
      </p:sp>
      <p:sp>
        <p:nvSpPr>
          <p:cNvPr id="24" name="Text 22"/>
          <p:cNvSpPr/>
          <p:nvPr/>
        </p:nvSpPr>
        <p:spPr>
          <a:xfrm>
            <a:off x="6327648" y="489204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327648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· DE 트랙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043416" y="4828032"/>
            <a:ext cx="2724912" cy="786384"/>
          </a:xfrm>
          <a:prstGeom prst="roundRect">
            <a:avLst>
              <a:gd name="adj" fmla="val 10465"/>
            </a:avLst>
          </a:prstGeom>
          <a:solidFill>
            <a:srgbClr val="E8F6F0"/>
          </a:solidFill>
          <a:ln/>
        </p:spPr>
      </p:sp>
      <p:sp>
        <p:nvSpPr>
          <p:cNvPr id="27" name="Text 25"/>
          <p:cNvSpPr/>
          <p:nvPr/>
        </p:nvSpPr>
        <p:spPr>
          <a:xfrm>
            <a:off x="9189720" y="489204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일하는 방식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89720" y="523951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 내재화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5742432"/>
            <a:ext cx="3511296" cy="658368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" y="574243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  </a:t>
            </a:r>
            <a:pPr indent="0" marL="0">
              <a:buNone/>
            </a:pPr>
            <a:r>
              <a:rPr lang="en-US" sz="15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시스템 모델 v0.1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3968496" y="5742432"/>
            <a:ext cx="374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43400" y="5742432"/>
            <a:ext cx="3511296" cy="658368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/>
        </p:spPr>
      </p:sp>
      <p:sp>
        <p:nvSpPr>
          <p:cNvPr id="33" name="Text 31"/>
          <p:cNvSpPr/>
          <p:nvPr/>
        </p:nvSpPr>
        <p:spPr>
          <a:xfrm>
            <a:off x="4489704" y="574243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  </a:t>
            </a:r>
            <a:pPr indent="0" marL="0">
              <a:buNone/>
            </a:pPr>
            <a:r>
              <a:rPr lang="en-US" sz="15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854696" y="5742432"/>
            <a:ext cx="374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229600" y="5742432"/>
            <a:ext cx="3511296" cy="658368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574243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  </a:t>
            </a:r>
            <a:pPr indent="0" marL="0">
              <a:buNone/>
            </a:pPr>
            <a:r>
              <a:rPr lang="en-US" sz="15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8F6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1042416"/>
            <a:ext cx="10360152" cy="969264"/>
          </a:xfrm>
          <a:prstGeom prst="roundRect">
            <a:avLst>
              <a:gd name="adj" fmla="val 9434"/>
            </a:avLst>
          </a:prstGeom>
          <a:solidFill>
            <a:srgbClr val="E8F6F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152144"/>
            <a:ext cx="9994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1627632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40864"/>
            <a:ext cx="3602736" cy="2743200"/>
          </a:xfrm>
          <a:prstGeom prst="roundRect">
            <a:avLst>
              <a:gd name="adj" fmla="val 3000"/>
            </a:avLst>
          </a:prstGeom>
          <a:solidFill>
            <a:srgbClr val="EAF3F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542032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51460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94944" y="3072384"/>
            <a:ext cx="3127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LTA→SCA로 진화 — 물량·가격이 아니라 공동설계 역량이 수주를 결정한다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4297680" y="2340864"/>
            <a:ext cx="3602736" cy="2743200"/>
          </a:xfrm>
          <a:prstGeom prst="roundRect">
            <a:avLst>
              <a:gd name="adj" fmla="val 3000"/>
            </a:avLst>
          </a:prstGeom>
          <a:solidFill>
            <a:srgbClr val="E6F4F4"/>
          </a:solidFill>
          <a:ln/>
        </p:spPr>
      </p:sp>
      <p:sp>
        <p:nvSpPr>
          <p:cNvPr id="14" name="Text 12"/>
          <p:cNvSpPr/>
          <p:nvPr/>
        </p:nvSpPr>
        <p:spPr>
          <a:xfrm>
            <a:off x="4498848" y="2542032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251460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535424" y="3072384"/>
            <a:ext cx="3127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 → 기술 파트너 — 요구사항을 공동 정의하고, 먼저 제안한다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138160" y="2340864"/>
            <a:ext cx="3602736" cy="2743200"/>
          </a:xfrm>
          <a:prstGeom prst="roundRect">
            <a:avLst>
              <a:gd name="adj" fmla="val 3000"/>
            </a:avLst>
          </a:prstGeom>
          <a:solidFill>
            <a:srgbClr val="E8F6F0"/>
          </a:solidFill>
          <a:ln/>
        </p:spPr>
      </p:sp>
      <p:sp>
        <p:nvSpPr>
          <p:cNvPr id="18" name="Text 16"/>
          <p:cNvSpPr/>
          <p:nvPr/>
        </p:nvSpPr>
        <p:spPr>
          <a:xfrm>
            <a:off x="8339328" y="2542032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8240" y="2514600"/>
            <a:ext cx="2779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375904" y="3072384"/>
            <a:ext cx="3127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기술·문화·조직·일하는 방식 4대 축 — 90일 증명 → 1년 제도화 → 3년 표준화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57200" y="5541264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2026-07-24T00:53:30Z</dcterms:created>
  <dcterms:modified xsi:type="dcterms:W3CDTF">2026-07-24T00:53:30Z</dcterms:modified>
</cp:coreProperties>
</file>