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개발실 체질 전환 — 수주 이행자에서 기술 파트너로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497312" y="310896"/>
            <a:ext cx="12344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디테일 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wiki/strategies/dev-org-transformation.md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11274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 </a:t>
            </a:r>
            <a:pPr indent="0" marL="0">
              <a:buNone/>
            </a:pPr>
            <a:r>
              <a:rPr lang="en-US" sz="1300" i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“고객의 아키텍처 안으로 들어가 수요를 함께 설계하는 기업이 이긴다” — 신문섭 파트너 (2026-06)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74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호명사회  </a:t>
            </a:r>
            <a:pPr indent="0" marL="0">
              <a:buNone/>
            </a:pPr>
            <a:r>
              <a:rPr lang="en-US" sz="1300" i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“조직의 이름 뒤에 숨지 않고, 자신의 이름으로 불리며 책임과 결과를 마주한다” — 송길영 『시대예보: 호명사회』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3602736" cy="4114800"/>
          </a:xfrm>
          <a:prstGeom prst="roundRect">
            <a:avLst>
              <a:gd name="adj" fmla="val 2284"/>
            </a:avLst>
          </a:prstGeom>
          <a:solidFill>
            <a:srgbClr val="F5F7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0704" y="152704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297680" y="1389888"/>
            <a:ext cx="3602736" cy="4114800"/>
          </a:xfrm>
          <a:prstGeom prst="roundRect">
            <a:avLst>
              <a:gd name="adj" fmla="val 2284"/>
            </a:avLst>
          </a:prstGeom>
          <a:solidFill>
            <a:srgbClr val="F5F7F8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55448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1184" y="152704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되나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29016" y="1389888"/>
            <a:ext cx="3602736" cy="4114800"/>
          </a:xfrm>
          <a:prstGeom prst="roundRect">
            <a:avLst>
              <a:gd name="adj" fmla="val 2284"/>
            </a:avLst>
          </a:prstGeom>
          <a:solidFill>
            <a:srgbClr val="F5F7F8"/>
          </a:solidFill>
          <a:ln/>
        </p:spPr>
      </p:sp>
      <p:sp>
        <p:nvSpPr>
          <p:cNvPr id="15" name="Text 13"/>
          <p:cNvSpPr/>
          <p:nvPr/>
        </p:nvSpPr>
        <p:spPr>
          <a:xfrm>
            <a:off x="8311896" y="155448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32520" y="152704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하나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41248" y="2084832"/>
            <a:ext cx="0" cy="2148840"/>
          </a:xfrm>
          <a:prstGeom prst="line">
            <a:avLst/>
          </a:prstGeom>
          <a:noFill/>
          <a:ln w="19050">
            <a:solidFill>
              <a:srgbClr val="C4C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2066544"/>
            <a:ext cx="146304" cy="146304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1975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’25.06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1965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커스텀 HBM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3사 인증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" y="2926080"/>
            <a:ext cx="146304" cy="146304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834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’25.10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55648" y="282549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Stargate LOI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90만 장 (DRAM ~40%)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" y="3785616"/>
            <a:ext cx="146304" cy="146304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6941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’26.06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55648" y="36850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Micron–Anthropic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16건 · $100B · $22B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590288"/>
            <a:ext cx="323697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791456"/>
            <a:ext cx="310896" cy="3108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07008" y="462686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납품만으로는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 수주 불가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17136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181344" y="1956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17136" y="2231136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수령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5888736" y="2231136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181344" y="2231136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공동 정의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4517136" y="2807208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RFQ 응답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5888736" y="2807208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181344" y="2807208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 제안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4517136" y="3383280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단품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5888736" y="3383280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181344" y="3383280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모델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4517136" y="3959352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QCD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5888736" y="395935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181344" y="3959352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공동설계 KPI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4517136" y="4700016"/>
            <a:ext cx="316382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828032"/>
            <a:ext cx="274320" cy="27432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029200" y="470001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롤모델 Palantir FDE — 고객사 상주</a:t>
            </a:r>
            <a:endParaRPr lang="en-US" sz="1300" dirty="0"/>
          </a:p>
        </p:txBody>
      </p:sp>
      <p:sp>
        <p:nvSpPr>
          <p:cNvPr id="47" name="Shape 43"/>
          <p:cNvSpPr/>
          <p:nvPr/>
        </p:nvSpPr>
        <p:spPr>
          <a:xfrm>
            <a:off x="8897112" y="1956816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673" y="2053377"/>
            <a:ext cx="209215" cy="209215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8330184" y="23774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1500" dirty="0"/>
          </a:p>
        </p:txBody>
      </p:sp>
      <p:sp>
        <p:nvSpPr>
          <p:cNvPr id="50" name="Text 45"/>
          <p:cNvSpPr/>
          <p:nvPr/>
        </p:nvSpPr>
        <p:spPr>
          <a:xfrm>
            <a:off x="8275320" y="26517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랩·모델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10561320" y="1956816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7881" y="2053377"/>
            <a:ext cx="209215" cy="209215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9994392" y="23774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</a:t>
            </a:r>
            <a:endParaRPr lang="en-US" sz="1500" dirty="0"/>
          </a:p>
        </p:txBody>
      </p:sp>
      <p:sp>
        <p:nvSpPr>
          <p:cNvPr id="54" name="Text 48"/>
          <p:cNvSpPr/>
          <p:nvPr/>
        </p:nvSpPr>
        <p:spPr>
          <a:xfrm>
            <a:off x="9939528" y="26517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모난 놈 → 호명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8897112" y="3017520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3673" y="3114081"/>
            <a:ext cx="209215" cy="209215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8330184" y="34381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</a:t>
            </a:r>
            <a:endParaRPr lang="en-US" sz="1500" dirty="0"/>
          </a:p>
        </p:txBody>
      </p:sp>
      <p:sp>
        <p:nvSpPr>
          <p:cNvPr id="58" name="Text 51"/>
          <p:cNvSpPr/>
          <p:nvPr/>
        </p:nvSpPr>
        <p:spPr>
          <a:xfrm>
            <a:off x="8275320" y="3712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 스타·Pod 상주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10561320" y="3017520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7881" y="3114081"/>
            <a:ext cx="209215" cy="209215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9994392" y="34381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500" dirty="0"/>
          </a:p>
        </p:txBody>
      </p:sp>
      <p:sp>
        <p:nvSpPr>
          <p:cNvPr id="62" name="Text 54"/>
          <p:cNvSpPr/>
          <p:nvPr/>
        </p:nvSpPr>
        <p:spPr>
          <a:xfrm>
            <a:off x="9939528" y="3712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리뷰·PoA</a:t>
            </a:r>
            <a:endParaRPr lang="en-US" sz="1050" dirty="0"/>
          </a:p>
        </p:txBody>
      </p:sp>
      <p:sp>
        <p:nvSpPr>
          <p:cNvPr id="63" name="Shape 55"/>
          <p:cNvSpPr/>
          <p:nvPr/>
        </p:nvSpPr>
        <p:spPr>
          <a:xfrm>
            <a:off x="8311896" y="4480560"/>
            <a:ext cx="3236976" cy="640080"/>
          </a:xfrm>
          <a:prstGeom prst="roundRect">
            <a:avLst>
              <a:gd name="adj" fmla="val 11429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4617720"/>
            <a:ext cx="365760" cy="365760"/>
          </a:xfrm>
          <a:prstGeom prst="rect">
            <a:avLst/>
          </a:prstGeom>
        </p:spPr>
      </p:pic>
      <p:sp>
        <p:nvSpPr>
          <p:cNvPr id="65" name="Text 56"/>
          <p:cNvSpPr/>
          <p:nvPr/>
        </p:nvSpPr>
        <p:spPr>
          <a:xfrm>
            <a:off x="8988552" y="4480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FDE를 스타 플레이어로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고객과 기술 생태계 공동 설계</a:t>
            </a:r>
            <a:endParaRPr lang="en-US" sz="1350" dirty="0"/>
          </a:p>
        </p:txBody>
      </p:sp>
      <p:sp>
        <p:nvSpPr>
          <p:cNvPr id="66" name="Shape 57"/>
          <p:cNvSpPr/>
          <p:nvPr/>
        </p:nvSpPr>
        <p:spPr>
          <a:xfrm>
            <a:off x="457200" y="5559552"/>
            <a:ext cx="11274552" cy="822960"/>
          </a:xfrm>
          <a:prstGeom prst="roundRect">
            <a:avLst>
              <a:gd name="adj" fmla="val 10000"/>
            </a:avLst>
          </a:prstGeom>
          <a:solidFill>
            <a:srgbClr val="F5F7F8"/>
          </a:solidFill>
          <a:ln/>
        </p:spPr>
      </p:sp>
      <p:sp>
        <p:nvSpPr>
          <p:cNvPr id="67" name="Text 58"/>
          <p:cNvSpPr/>
          <p:nvPr/>
        </p:nvSpPr>
        <p:spPr>
          <a:xfrm>
            <a:off x="676656" y="5705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변화</a:t>
            </a:r>
            <a:endParaRPr lang="en-US" sz="1500" dirty="0"/>
          </a:p>
        </p:txBody>
      </p:sp>
      <p:sp>
        <p:nvSpPr>
          <p:cNvPr id="68" name="Text 59"/>
          <p:cNvSpPr/>
          <p:nvPr/>
        </p:nvSpPr>
        <p:spPr>
          <a:xfrm>
            <a:off x="676656" y="5998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영입 가능한 임금 수준</a:t>
            </a:r>
            <a:endParaRPr lang="en-US" sz="1050" dirty="0"/>
          </a:p>
        </p:txBody>
      </p:sp>
      <p:sp>
        <p:nvSpPr>
          <p:cNvPr id="69" name="Text 60"/>
          <p:cNvSpPr/>
          <p:nvPr/>
        </p:nvSpPr>
        <p:spPr>
          <a:xfrm>
            <a:off x="2743200" y="5669280"/>
            <a:ext cx="2331720" cy="603504"/>
          </a:xfrm>
          <a:prstGeom prst="roundRect">
            <a:avLst>
              <a:gd name="adj" fmla="val 9091"/>
            </a:avLst>
          </a:prstGeom>
          <a:solidFill>
            <a:srgbClr val="E7ECE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보상 열위</a:t>
            </a:r>
            <a:endParaRPr lang="en-US" sz="1250" dirty="0"/>
          </a:p>
        </p:txBody>
      </p:sp>
      <p:sp>
        <p:nvSpPr>
          <p:cNvPr id="70" name="Text 61"/>
          <p:cNvSpPr/>
          <p:nvPr/>
        </p:nvSpPr>
        <p:spPr>
          <a:xfrm>
            <a:off x="5074920" y="566928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71" name="Text 62"/>
          <p:cNvSpPr/>
          <p:nvPr/>
        </p:nvSpPr>
        <p:spPr>
          <a:xfrm>
            <a:off x="5294376" y="5669280"/>
            <a:ext cx="32918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— 처우 급등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성과급 ~6억 · 상한 철폐 · 최대 12.9억 전망</a:t>
            </a:r>
            <a:endParaRPr lang="en-US" sz="1250" dirty="0"/>
          </a:p>
        </p:txBody>
      </p:sp>
      <p:sp>
        <p:nvSpPr>
          <p:cNvPr id="72" name="Text 63"/>
          <p:cNvSpPr/>
          <p:nvPr/>
        </p:nvSpPr>
        <p:spPr>
          <a:xfrm>
            <a:off x="8586216" y="566928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73" name="Text 64"/>
          <p:cNvSpPr/>
          <p:nvPr/>
        </p:nvSpPr>
        <p:spPr>
          <a:xfrm>
            <a:off x="8805672" y="5669280"/>
            <a:ext cx="2697480" cy="603504"/>
          </a:xfrm>
          <a:prstGeom prst="roundRect">
            <a:avLst>
              <a:gd name="adj" fmla="val 9091"/>
            </a:avLst>
          </a:prstGeom>
          <a:solidFill>
            <a:srgbClr val="E8F6F0"/>
          </a:solidFill>
          <a:ln w="15875">
            <a:solidFill>
              <a:srgbClr val="02A8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선순환 기대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 영입 축적 → 조직 수준 상향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개발실 체질 전환 — 수주 이행자에서 기술 파트너로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497312" y="310896"/>
            <a:ext cx="12344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디테일 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wiki/strategies/dev-org-transformation.md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59536"/>
            <a:ext cx="11274552" cy="512064"/>
          </a:xfrm>
          <a:prstGeom prst="roundRect">
            <a:avLst>
              <a:gd name="adj" fmla="val 16071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“고객의 아키텍처 안으로 들어가 수요를 함께 설계하는 기업이 이긴다” — 신문섭 (2026-06)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5477256" cy="1865376"/>
          </a:xfrm>
          <a:prstGeom prst="roundRect">
            <a:avLst>
              <a:gd name="adj" fmla="val 4412"/>
            </a:avLst>
          </a:prstGeom>
          <a:solidFill>
            <a:srgbClr val="F5F7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0704" y="16184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 — 계약의 진화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" y="2048256"/>
            <a:ext cx="1051560" cy="749808"/>
          </a:xfrm>
          <a:prstGeom prst="roundRect">
            <a:avLst>
              <a:gd name="adj" fmla="val 8537"/>
            </a:avLst>
          </a:prstGeom>
          <a:solidFill>
            <a:srgbClr val="E7EC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현물 거래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28216" y="2048256"/>
            <a:ext cx="237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2048256"/>
            <a:ext cx="1234440" cy="749808"/>
          </a:xfrm>
          <a:prstGeom prst="roundRect">
            <a:avLst>
              <a:gd name="adj" fmla="val 8537"/>
            </a:avLst>
          </a:prstGeom>
          <a:solidFill>
            <a:srgbClr val="CBD6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LTA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물량·가격 락인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048256"/>
            <a:ext cx="237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38144" y="2048256"/>
            <a:ext cx="2286000" cy="749808"/>
          </a:xfrm>
          <a:prstGeom prst="roundRect">
            <a:avLst>
              <a:gd name="adj" fmla="val 8537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공동설계·자본 연계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2944368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사는 것: 납품 → 공동 기술 드라이브 (16건 · $100B)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1517904"/>
            <a:ext cx="5477256" cy="1865376"/>
          </a:xfrm>
          <a:prstGeom prst="roundRect">
            <a:avLst>
              <a:gd name="adj" fmla="val 4412"/>
            </a:avLst>
          </a:prstGeom>
          <a:solidFill>
            <a:srgbClr val="F5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64592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618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되나 — As-Is → To-Be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029968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수령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65008" y="202996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57616" y="2029968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공동 정의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73952" y="246888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RFQ 응답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65008" y="24688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57616" y="2468880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 제안·기술 드라이브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73952" y="290779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스펙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65008" y="29077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57616" y="2907792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모델 (서버→랙→DC)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529584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F5F7F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5760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60704" y="3630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하나 — 4대 축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411480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972" y="3749772"/>
            <a:ext cx="199705" cy="19970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57200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7200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랩 · 시스템 모델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03504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212" y="3749772"/>
            <a:ext cx="199705" cy="199705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49224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49224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모난 놈 → 호명 문화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95528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452" y="3749772"/>
            <a:ext cx="199705" cy="199705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841248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841248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 스타 · Co-Design Pod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987552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7692" y="3749772"/>
            <a:ext cx="199705" cy="199705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033272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1033272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리뷰 · PoA · AI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457200" y="4645152"/>
            <a:ext cx="11274552" cy="676656"/>
          </a:xfrm>
          <a:prstGeom prst="roundRect">
            <a:avLst>
              <a:gd name="adj" fmla="val 10811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800600"/>
            <a:ext cx="365760" cy="36576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1133856" y="4645152"/>
            <a:ext cx="10415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FDE(Forward Deployed Engineer)를 스타 플레이어로, 고객사와 기술 생태계를 함께 만든다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“조직 이름 뒤에 숨지 않고 자기 이름으로 불린다” — 송길영 『호명사회』 · ‘모난 놈이 정 맞는’ 문화 → 호명 문화로 · 관리 분리 + SV 영입</a:t>
            </a:r>
            <a:endParaRPr lang="en-US" sz="1400" dirty="0"/>
          </a:p>
        </p:txBody>
      </p:sp>
      <p:sp>
        <p:nvSpPr>
          <p:cNvPr id="50" name="Shape 43"/>
          <p:cNvSpPr/>
          <p:nvPr/>
        </p:nvSpPr>
        <p:spPr>
          <a:xfrm>
            <a:off x="457200" y="5449824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/>
        </p:spPr>
      </p:sp>
      <p:sp>
        <p:nvSpPr>
          <p:cNvPr id="51" name="Text 44"/>
          <p:cNvSpPr/>
          <p:nvPr/>
        </p:nvSpPr>
        <p:spPr>
          <a:xfrm>
            <a:off x="640080" y="5742432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52" name="Text 45"/>
          <p:cNvSpPr/>
          <p:nvPr/>
        </p:nvSpPr>
        <p:spPr>
          <a:xfrm>
            <a:off x="1060704" y="5715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변화 — 영입 가능한 임금</a:t>
            </a:r>
            <a:endParaRPr lang="en-US" sz="1700" dirty="0"/>
          </a:p>
        </p:txBody>
      </p:sp>
      <p:sp>
        <p:nvSpPr>
          <p:cNvPr id="53" name="Text 46"/>
          <p:cNvSpPr/>
          <p:nvPr/>
        </p:nvSpPr>
        <p:spPr>
          <a:xfrm>
            <a:off x="4114800" y="5605272"/>
            <a:ext cx="2103120" cy="603504"/>
          </a:xfrm>
          <a:prstGeom prst="roundRect">
            <a:avLst>
              <a:gd name="adj" fmla="val 9091"/>
            </a:avLst>
          </a:prstGeom>
          <a:solidFill>
            <a:srgbClr val="E7ECE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보상 열위</a:t>
            </a:r>
            <a:endParaRPr lang="en-US" sz="1250" dirty="0"/>
          </a:p>
        </p:txBody>
      </p:sp>
      <p:sp>
        <p:nvSpPr>
          <p:cNvPr id="54" name="Text 47"/>
          <p:cNvSpPr/>
          <p:nvPr/>
        </p:nvSpPr>
        <p:spPr>
          <a:xfrm>
            <a:off x="6217920" y="560527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55" name="Text 48"/>
          <p:cNvSpPr/>
          <p:nvPr/>
        </p:nvSpPr>
        <p:spPr>
          <a:xfrm>
            <a:off x="6437376" y="5605272"/>
            <a:ext cx="26517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성과급 ~6억 · 상한 철폐</a:t>
            </a:r>
            <a:endParaRPr lang="en-US" sz="1250" dirty="0"/>
          </a:p>
        </p:txBody>
      </p:sp>
      <p:sp>
        <p:nvSpPr>
          <p:cNvPr id="56" name="Text 49"/>
          <p:cNvSpPr/>
          <p:nvPr/>
        </p:nvSpPr>
        <p:spPr>
          <a:xfrm>
            <a:off x="9089136" y="560527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57" name="Text 50"/>
          <p:cNvSpPr/>
          <p:nvPr/>
        </p:nvSpPr>
        <p:spPr>
          <a:xfrm>
            <a:off x="9308592" y="5605272"/>
            <a:ext cx="2286000" cy="603504"/>
          </a:xfrm>
          <a:prstGeom prst="roundRect">
            <a:avLst>
              <a:gd name="adj" fmla="val 9091"/>
            </a:avLst>
          </a:prstGeom>
          <a:solidFill>
            <a:srgbClr val="E8F6F0"/>
          </a:solidFill>
          <a:ln w="15875">
            <a:solidFill>
              <a:srgbClr val="02A8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선순환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영입 축적 → 조직 수준 상향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개발실 체질 전환 — 수주 이행자에서 기술 파트너로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497312" y="310896"/>
            <a:ext cx="12344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디테일 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wiki/strategies/dev-org-transformation.md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5541264" cy="859536"/>
          </a:xfrm>
          <a:prstGeom prst="roundRect">
            <a:avLst>
              <a:gd name="adj" fmla="val 9574"/>
            </a:avLst>
          </a:prstGeom>
          <a:solidFill>
            <a:srgbClr val="F5F7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517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i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“고객의 아키텍처 안으로 들어가 수요를 함께 설계하는 기업이 이긴다”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1490472"/>
            <a:ext cx="5175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신문섭 파트너, AI 인프라 슈퍼사이클 인터뷰 (2026-06)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932688"/>
            <a:ext cx="5541264" cy="859536"/>
          </a:xfrm>
          <a:prstGeom prst="roundRect">
            <a:avLst>
              <a:gd name="adj" fmla="val 9574"/>
            </a:avLst>
          </a:prstGeom>
          <a:solidFill>
            <a:srgbClr val="F5F7F8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005840"/>
            <a:ext cx="517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i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“조직의 이름 뒤에 숨지 않고, 자신의 이름으로 불리며 책임과 결과를 마주한다”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73368" y="1490472"/>
            <a:ext cx="5175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송길영, 『시대예보: 호명사회』 (2024)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0" y="19202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F5F7F8"/>
          </a:solidFill>
          <a:ln w="15875">
            <a:solidFill>
              <a:srgbClr val="DCE4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066544"/>
            <a:ext cx="457200" cy="457200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3008" y="217627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103120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이행자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103120" y="29626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수령 · RFQ 응답 · QCD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285232" y="2286000"/>
            <a:ext cx="1591056" cy="822960"/>
          </a:xfrm>
          <a:prstGeom prst="rightArrow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LTA →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49440" y="19202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E8F6F0"/>
          </a:solidFill>
          <a:ln w="19050">
            <a:solidFill>
              <a:srgbClr val="02A87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066544"/>
            <a:ext cx="457200" cy="457200"/>
          </a:xfrm>
          <a:prstGeom prst="ellipse">
            <a:avLst/>
          </a:prstGeom>
          <a:solidFill>
            <a:srgbClr val="02A878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2176272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40880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파트너</a:t>
            </a:r>
            <a:endParaRPr lang="en-US" sz="2100" dirty="0"/>
          </a:p>
        </p:txBody>
      </p:sp>
      <p:sp>
        <p:nvSpPr>
          <p:cNvPr id="22" name="Text 18"/>
          <p:cNvSpPr/>
          <p:nvPr/>
        </p:nvSpPr>
        <p:spPr>
          <a:xfrm>
            <a:off x="6949440" y="2962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공동 정의 · 선제 제안 · 시스템 모델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1463040" y="3675888"/>
            <a:ext cx="9262872" cy="731520"/>
          </a:xfrm>
          <a:prstGeom prst="roundRect">
            <a:avLst>
              <a:gd name="adj" fmla="val 10000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858768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139696" y="3675888"/>
            <a:ext cx="8403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전략 — FDE(Forward Deployed Engineer)를 스타 플레이어로, 고객사와 기술 생태계를 함께 만든다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‘모난 놈이 정 맞는’ 기존 문화에서 → 스타를 호명하고 드러내는 문화로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457200" y="477316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환경도 바뀌었다 — 스타를 영입할 수 있는 임금 수준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749808" y="5157216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E7ECEF"/>
          </a:solidFill>
          <a:ln w="15875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13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수준에 못 미친 보상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3858768" y="5157216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133088" y="5157216"/>
            <a:ext cx="33832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3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성과급 ~6억 · 상한 철폐 · 영입 가능 수준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7516368" y="5157216"/>
            <a:ext cx="27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7790688" y="5157216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E8F6F0"/>
          </a:solidFill>
          <a:ln w="19050">
            <a:solidFill>
              <a:srgbClr val="02A8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선순환 기대</a:t>
            </a:r>
            <a:endParaRPr lang="en-US" sz="13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 영입 축적 → 조직 전반 수준 상향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수주산업화 — Binding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take-or-pay·선수금 수백억$ — “메모리가 처음으로 바인딩” (이창수 인터뷰)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97680" y="877824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지배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하이퍼스케일러가 글로벌 enterprise SSD의 ~55% 소비 — 소수 고객이 규칙을 정한다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38160" y="877824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 상승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완제품 → 펌웨어 → 컨트롤러 → 표준·웨이퍼로 스토리지를 내재화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Captive SSD 위상 변화 — 고객 통제권의 단계 상승 (불가역)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407408"/>
            <a:ext cx="1225296" cy="621792"/>
          </a:xfrm>
          <a:prstGeom prst="roundRect">
            <a:avLst>
              <a:gd name="adj" fmla="val 7353"/>
            </a:avLst>
          </a:prstGeom>
          <a:solidFill>
            <a:srgbClr val="C7D3D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4439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41148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 구매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~2016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21408" y="3785616"/>
            <a:ext cx="1225296" cy="1243584"/>
          </a:xfrm>
          <a:prstGeom prst="roundRect">
            <a:avLst>
              <a:gd name="adj" fmla="val 3731"/>
            </a:avLst>
          </a:prstGeom>
          <a:solidFill>
            <a:srgbClr val="9DBACB"/>
          </a:solidFill>
          <a:ln/>
        </p:spPr>
      </p:sp>
      <p:sp>
        <p:nvSpPr>
          <p:cNvPr id="15" name="Text 13"/>
          <p:cNvSpPr/>
          <p:nvPr/>
        </p:nvSpPr>
        <p:spPr>
          <a:xfrm>
            <a:off x="2121408" y="382219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93392" y="34930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펌웨어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21408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2017~20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02736" y="3163824"/>
            <a:ext cx="1225296" cy="1865376"/>
          </a:xfrm>
          <a:prstGeom prst="roundRect">
            <a:avLst>
              <a:gd name="adj" fmla="val 3731"/>
            </a:avLst>
          </a:prstGeom>
          <a:solidFill>
            <a:srgbClr val="4C7C94"/>
          </a:solidFill>
          <a:ln/>
        </p:spPr>
      </p:sp>
      <p:sp>
        <p:nvSpPr>
          <p:cNvPr id="19" name="Text 17"/>
          <p:cNvSpPr/>
          <p:nvPr/>
        </p:nvSpPr>
        <p:spPr>
          <a:xfrm>
            <a:off x="3602736" y="32004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8712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컨트롤러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02736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2021~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84064" y="2542032"/>
            <a:ext cx="1225296" cy="2487168"/>
          </a:xfrm>
          <a:prstGeom prst="roundRect">
            <a:avLst>
              <a:gd name="adj" fmla="val 3731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084064" y="25786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56048" y="22494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표준·웨이퍼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84064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2022~26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6126480" cy="0"/>
          </a:xfrm>
          <a:prstGeom prst="line">
            <a:avLst/>
          </a:prstGeom>
          <a:noFill/>
          <a:ln w="19050">
            <a:solidFill>
              <a:srgbClr val="C4CF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441448"/>
            <a:ext cx="274320" cy="274320"/>
          </a:xfrm>
          <a:prstGeom prst="ellipse">
            <a:avLst/>
          </a:prstGeom>
          <a:solidFill>
            <a:srgbClr val="5A7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24928" y="239572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벤더 표준품 조달 — 통제권 없음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3118104"/>
            <a:ext cx="274320" cy="274320"/>
          </a:xfrm>
          <a:prstGeom prst="ellipse">
            <a:avLst/>
          </a:prstGeom>
          <a:solidFill>
            <a:srgbClr val="5A7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24928" y="307238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OCP 스토리지 스펙 · 고객별 펌웨어 브랜치 관행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3794760"/>
            <a:ext cx="274320" cy="274320"/>
          </a:xfrm>
          <a:prstGeom prst="ellipse">
            <a:avLst/>
          </a:prstGeom>
          <a:solidFill>
            <a:srgbClr val="5A7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24928" y="37490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Nitro SSD(’21) — 자체 컨트롤러 자작 SSD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447141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24928" y="442569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표준 비준(’23) — Meta·Google 주도·삼성 공동 · NAND 웨이퍼 다년 계약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54126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~55%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7200" y="5925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하이퍼스케일러의 enterprise SSD 수요 비중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297680" y="554126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+246%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297680" y="5925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 웨이퍼 가격 (vs Q1’25) — 웨이퍼 직구매 경쟁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38160" y="554126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138160" y="5925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표준 비준 소요 — 고객(Meta·Google) 주도 속도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교차점에서 검토한 선택지 4개 — 평가 기준: 부가가치 방어 · 펌웨어 공통화 · 통제권 흐름 정합 · 차별화 지속성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F5F7F8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444752"/>
            <a:ext cx="365760" cy="365760"/>
          </a:xfrm>
          <a:prstGeom prst="ellipse">
            <a:avLst/>
          </a:prstGeom>
          <a:solidFill>
            <a:srgbClr val="B9C7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1444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컴포넌트 후퇴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NAND·웨이퍼 공급에 집중, 완제품은 고객에 위임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2286000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A9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물량은 지키나 완제품 부가가치 영구 상실 — 커머디티 공급자 고착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0488" y="1243584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F5F7F8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444752"/>
            <a:ext cx="365760" cy="365760"/>
          </a:xfrm>
          <a:prstGeom prst="ellipse">
            <a:avLst/>
          </a:prstGeom>
          <a:solidFill>
            <a:srgbClr val="B9C7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3720" y="1444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풀커스텀 대응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46520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고객별 커스텀 SSD·펌웨어 전면 개발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A9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제품·펌웨어 파편화 — “커스텀 소싱·컨트랙은 파운드리 모델, 우리가 안 해본 것” (최장석)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F5F7F8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529584"/>
            <a:ext cx="365760" cy="365760"/>
          </a:xfrm>
          <a:prstGeom prst="ellipse">
            <a:avLst/>
          </a:prstGeom>
          <a:solidFill>
            <a:srgbClr val="B9C7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3529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FDP 표준 SSD만 공급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13232" y="40233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지원 하드웨어만 제공, 통합은 고객 몫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37083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A9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“FDP 지원 여러 공급사 중 하나” — 차별화 없이 가격 경쟁 회귀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3328416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E8F6F0"/>
          </a:solidFill>
          <a:ln w="19050">
            <a:solidFill>
              <a:srgbClr val="02A8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3529584"/>
            <a:ext cx="365760" cy="365760"/>
          </a:xfrm>
          <a:prstGeom prst="ellipse">
            <a:avLst/>
          </a:prstGeom>
          <a:solidFill>
            <a:srgbClr val="02A8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3529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D. FDP 표준 + 시스템 SW 플랫폼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446520" y="40233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펌웨어 + Host SDK·Profiler·E2E 검증 제공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437083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유일하게 4개 기준 동시 충족 — 통제권 흐름 위에서 부가가치 재정의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413248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586984"/>
            <a:ext cx="365760" cy="3657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52144" y="54132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논리 — 부가가치는 고객이 가져간 계층 아래(웨이퍼)가 아니라, 아직 풀지 못한 계층 위에서 만든다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↔ FDP 정책 변환이 그 계층 — 삼성은 FDP 표준의 공동 주도자로서 이 계층을 선점할 위치에 있다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③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59536"/>
            <a:ext cx="11274552" cy="548640"/>
          </a:xfrm>
          <a:prstGeom prst="roundRect">
            <a:avLst>
              <a:gd name="adj" fmla="val 15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SSD 공급자 → FDP 기반 Host–SSD 통합 솔루션 제공자   </a:t>
            </a:r>
            <a:pPr algn="ctr" indent="0" marL="0">
              <a:buNone/>
            </a:pPr>
            <a:r>
              <a:rPr lang="en-US" sz="1250" i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“Binding으로 수요 확보 · FDP로 표준화 · 시스템 SW로 연결”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Binding 계약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물량 확보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39696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40864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표준 SSD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인터페이스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24528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E8F6F0"/>
          </a:solidFill>
          <a:ln w="15875">
            <a:solidFill>
              <a:srgbClr val="02A8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SW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워크로드→정책 변환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07024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08192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검증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TCO 개선 보장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90688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91856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공동개발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관계 구축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74352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0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텔레메트리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개선 루프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2578608"/>
            <a:ext cx="365760" cy="36576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2666390"/>
            <a:ext cx="190195" cy="19019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78992" y="2578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Enablement Platform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29992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SDK·라이브러리(Linux·SPDK) · Workload Profiler · Emulator/Digital Twin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297680" y="2432304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24" name="Shape 21"/>
          <p:cNvSpPr/>
          <p:nvPr/>
        </p:nvSpPr>
        <p:spPr>
          <a:xfrm>
            <a:off x="4462272" y="257860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54" y="2666390"/>
            <a:ext cx="190195" cy="19019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919472" y="2578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표준 프로파일 7종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480560" y="29992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Cache·KV·DB·Multi-tenant·Vector·Checkpoint·QLC — 펌웨어 공통화+고객 최적화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138160" y="2432304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29" name="Shape 25"/>
          <p:cNvSpPr/>
          <p:nvPr/>
        </p:nvSpPr>
        <p:spPr>
          <a:xfrm>
            <a:off x="8302752" y="2578608"/>
            <a:ext cx="365760" cy="365760"/>
          </a:xfrm>
          <a:prstGeom prst="ellipse">
            <a:avLst/>
          </a:prstGeom>
          <a:solidFill>
            <a:srgbClr val="02A878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4" y="2666390"/>
            <a:ext cx="190195" cy="19019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59952" y="2578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E2E 공동검증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321040" y="29992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App→Host→SSD→NAND · WAF·p999·격리·전력 · trace의 pre/post-silicon 재사용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57200" y="3950208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34" name="Shape 29"/>
          <p:cNvSpPr/>
          <p:nvPr/>
        </p:nvSpPr>
        <p:spPr>
          <a:xfrm>
            <a:off x="621792" y="4096512"/>
            <a:ext cx="365760" cy="365760"/>
          </a:xfrm>
          <a:prstGeom prst="ellipse">
            <a:avLst/>
          </a:prstGeom>
          <a:solidFill>
            <a:srgbClr val="4C7C94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4184294"/>
            <a:ext cx="190195" cy="190195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78992" y="40965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고객 공동개발 조직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40080" y="4517136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 SW·Workload Integration·Solution Eng·Validation — 제품 기획 참여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4297680" y="3950208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39" name="Shape 33"/>
          <p:cNvSpPr/>
          <p:nvPr/>
        </p:nvSpPr>
        <p:spPr>
          <a:xfrm>
            <a:off x="4462272" y="4096512"/>
            <a:ext cx="365760" cy="36576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054" y="4184294"/>
            <a:ext cx="190195" cy="19019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919472" y="40965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Binding 기술협력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4480560" y="4517136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물량·trace·공동 로드맵 ↔ 공급능력·SDK·개선 목표 — 공동 플랫폼 계약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8138160" y="3950208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44" name="Shape 37"/>
          <p:cNvSpPr/>
          <p:nvPr/>
        </p:nvSpPr>
        <p:spPr>
          <a:xfrm>
            <a:off x="8302752" y="409651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0534" y="4184294"/>
            <a:ext cx="190195" cy="19019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759952" y="40965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오픈소스·차별화 경계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8321040" y="4517136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공개: 라이브러리·연동·적합성 / 차별화: FTL 모델·정책 추천·예측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457200" y="5522976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669280"/>
            <a:ext cx="365760" cy="36576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152144" y="552297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 — 고객 시스템에서 FDP가 실제 활성화된 SSD 용량 · Captive→삼성 완제품 전환 물량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주체: 인재 축(FDE 스타)이 이 플랫폼을 들고 고객 아키텍처 안으로 들어간다 — 단계: 기본 도구 → 전략 고객 공동검증 → 상용 플랫폼화 → Host Control 확장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④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실행전략  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SCA로 다가가고 · FDP로 제공하고 · FDE로 협업한다: 워크로드가 들어올수록 전환비용이 커지는 락인 플라이휠, 다운턴 피해 최소화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락인 플라이휠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0016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SCA: Micron이 증명한 접근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9016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31352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FDP·FDE: 기술과 사람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9016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828800"/>
            <a:ext cx="877824" cy="877824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다가간다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9536" y="3456432"/>
            <a:ext cx="877824" cy="877824"/>
          </a:xfrm>
          <a:prstGeom prst="ellipse">
            <a:avLst/>
          </a:prstGeom>
          <a:solidFill>
            <a:srgbClr val="3C5A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제공한다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798064" y="3456432"/>
            <a:ext cx="877824" cy="877824"/>
          </a:xfrm>
          <a:prstGeom prst="ellipse">
            <a:avLst/>
          </a:prstGeom>
          <a:solidFill>
            <a:srgbClr val="8FA0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협업한다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 flipH="1">
            <a:off x="1371600" y="2706624"/>
            <a:ext cx="329184" cy="713232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773936" y="4059936"/>
            <a:ext cx="987552" cy="914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 flipV="1">
            <a:off x="2834640" y="2706624"/>
            <a:ext cx="384048" cy="713232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536192" y="2999232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EEF1FA"/>
          </a:solidFill>
          <a:ln w="12700">
            <a:solidFill>
              <a:srgbClr val="1428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락인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방어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4572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워크로드가 들어올수록 최적화가 깊어지고 전환비용이 커진다. 계약이 끝나도 갈아타기 어려운 관계가 다운턴의 방어벽이 된다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5431536"/>
            <a:ext cx="32004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52297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Strategic Customer Agreement · 전략적 고객 계약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Flexible Data Placement · NVMe 데이터 배치 표준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Forward Deployed Engineer · 고객 상주 엔지니어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98848" y="179222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공급부족 협상력의 창이 열려 있을 때 워크로드 교환을 제안한다: 고객이 워크로드를 공유하면 그 워크로드에 최적화한 FDP SSD를 공급. 성능·수명 개선과 TCO 절감으로 거절하기 어려운 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하이퍼스케일러 · Pure Storage · VAST Data · DDN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3291840"/>
            <a:ext cx="3236976" cy="2798064"/>
          </a:xfrm>
          <a:prstGeom prst="roundRect">
            <a:avLst>
              <a:gd name="adj" fmla="val 2288"/>
            </a:avLst>
          </a:prstGeom>
          <a:solidFill>
            <a:srgbClr val="EEF1FA"/>
          </a:solidFill>
          <a:ln w="15875">
            <a:solidFill>
              <a:srgbClr val="142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선례: Micron ↔ Anthropic (’26.06)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00016" y="3730752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 공급 (HBM·DRAM·SSD 전 포트폴리오)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워크로드 공동 최적화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통합 (Micron 전사에 Claude 배치)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 연계 (Series H 전략 투자)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5152" y="50292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 16건 · 최소 매출 $100B · 예치금 $22B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45152" y="554126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워크로드를 열고 공급을 잠근 계약. 우리가 맺으려는 관계의 실물 견본이다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30184" y="17739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추가로 필요한 기술 (기존 SSD 기술 대비)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30184" y="2066544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F4F4F6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 · 컨트롤러 · 펌웨어 · 수율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30184" y="2450592"/>
            <a:ext cx="3200400" cy="749808"/>
          </a:xfrm>
          <a:prstGeom prst="roundRect">
            <a:avLst>
              <a:gd name="adj" fmla="val 6098"/>
            </a:avLst>
          </a:prstGeom>
          <a:solidFill>
            <a:srgbClr val="EEF1FA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블록계층·io_uring·NVMe / SPDK / DB·캐시 내부 (RocksDB·CacheLib·Ceph) / 워크로드 분석 (fio·eBPF·WAF)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30184" y="340156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06840" y="3383280"/>
            <a:ext cx="2578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현지 중심, 오픈소스 스토리지 기여자 우대, 영어 커뮤니케이션 필수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30184" y="431596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06840" y="4297680"/>
            <a:ext cx="2578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엔지니어 미국 로테이션 6~12개월 + 현지 FDE 멘토 페어링, 사내 FW 인력의 호스트 SW 전환 트랙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30184" y="523036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06840" y="5212080"/>
            <a:ext cx="2578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1~2사 상주 (Pod 소속·dual-ladder), 평가는 outcome (FDP 활성화 용량), 커널·SPDK·CacheLib 업스트림 기여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2026-08-25T02:42:53Z</dcterms:created>
  <dcterms:modified xsi:type="dcterms:W3CDTF">2026-08-25T02:42:53Z</dcterms:modified>
</cp:coreProperties>
</file>