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납품만으로는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수주 불가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1896" y="4480560"/>
            <a:ext cx="3236976" cy="640080"/>
          </a:xfrm>
          <a:prstGeom prst="roundRect">
            <a:avLst>
              <a:gd name="adj" fmla="val 11429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6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617720"/>
            <a:ext cx="365760" cy="365760"/>
          </a:xfrm>
          <a:prstGeom prst="rect">
            <a:avLst/>
          </a:prstGeom>
        </p:spPr>
      </p:pic>
      <p:sp>
        <p:nvSpPr>
          <p:cNvPr id="65" name="Text 56"/>
          <p:cNvSpPr/>
          <p:nvPr/>
        </p:nvSpPr>
        <p:spPr>
          <a:xfrm>
            <a:off x="8988552" y="4480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스타 플레이어로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50" dirty="0"/>
          </a:p>
        </p:txBody>
      </p:sp>
      <p:sp>
        <p:nvSpPr>
          <p:cNvPr id="66" name="Shape 57"/>
          <p:cNvSpPr/>
          <p:nvPr/>
        </p:nvSpPr>
        <p:spPr>
          <a:xfrm>
            <a:off x="457200" y="5559552"/>
            <a:ext cx="11274552" cy="82296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/>
        </p:spPr>
      </p:sp>
      <p:sp>
        <p:nvSpPr>
          <p:cNvPr id="67" name="Text 58"/>
          <p:cNvSpPr/>
          <p:nvPr/>
        </p:nvSpPr>
        <p:spPr>
          <a:xfrm>
            <a:off x="676656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</a:t>
            </a:r>
            <a:endParaRPr lang="en-US" sz="1500" dirty="0"/>
          </a:p>
        </p:txBody>
      </p:sp>
      <p:sp>
        <p:nvSpPr>
          <p:cNvPr id="68" name="Text 59"/>
          <p:cNvSpPr/>
          <p:nvPr/>
        </p:nvSpPr>
        <p:spPr>
          <a:xfrm>
            <a:off x="676656" y="59984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가능한 임금 수준</a:t>
            </a:r>
            <a:endParaRPr lang="en-US" sz="1050" dirty="0"/>
          </a:p>
        </p:txBody>
      </p:sp>
      <p:sp>
        <p:nvSpPr>
          <p:cNvPr id="69" name="Text 60"/>
          <p:cNvSpPr/>
          <p:nvPr/>
        </p:nvSpPr>
        <p:spPr>
          <a:xfrm>
            <a:off x="2743200" y="5669280"/>
            <a:ext cx="23317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70" name="Text 61"/>
          <p:cNvSpPr/>
          <p:nvPr/>
        </p:nvSpPr>
        <p:spPr>
          <a:xfrm>
            <a:off x="5074920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1" name="Text 62"/>
          <p:cNvSpPr/>
          <p:nvPr/>
        </p:nvSpPr>
        <p:spPr>
          <a:xfrm>
            <a:off x="5294376" y="5669280"/>
            <a:ext cx="329184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— 처우 급등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최대 12.9억 전망</a:t>
            </a:r>
            <a:endParaRPr lang="en-US" sz="1250" dirty="0"/>
          </a:p>
        </p:txBody>
      </p:sp>
      <p:sp>
        <p:nvSpPr>
          <p:cNvPr id="72" name="Text 63"/>
          <p:cNvSpPr/>
          <p:nvPr/>
        </p:nvSpPr>
        <p:spPr>
          <a:xfrm>
            <a:off x="8586216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3" name="Text 64"/>
          <p:cNvSpPr/>
          <p:nvPr/>
        </p:nvSpPr>
        <p:spPr>
          <a:xfrm>
            <a:off x="8805672" y="5669280"/>
            <a:ext cx="269748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76656" y="2048256"/>
            <a:ext cx="105156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28216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65960" y="2048256"/>
            <a:ext cx="12344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38144" y="2048256"/>
            <a:ext cx="228600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(16건 · $100B)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FDE(Forward Deployed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 이름 뒤에 숨지 않고 자기 이름으로 불린다” — 송길영 『호명사회』 · ‘모난 놈이 정 맞는’ 문화 → 호명 문화로 · 관리 분리 + SV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457200" y="5449824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F5F7F8"/>
          </a:solidFill>
          <a:ln/>
        </p:spPr>
      </p:sp>
      <p:sp>
        <p:nvSpPr>
          <p:cNvPr id="51" name="Text 44"/>
          <p:cNvSpPr/>
          <p:nvPr/>
        </p:nvSpPr>
        <p:spPr>
          <a:xfrm>
            <a:off x="640080" y="5742432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52" name="Text 45"/>
          <p:cNvSpPr/>
          <p:nvPr/>
        </p:nvSpPr>
        <p:spPr>
          <a:xfrm>
            <a:off x="1060704" y="5715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 — 영입 가능한 임금</a:t>
            </a:r>
            <a:endParaRPr lang="en-US" sz="1700" dirty="0"/>
          </a:p>
        </p:txBody>
      </p:sp>
      <p:sp>
        <p:nvSpPr>
          <p:cNvPr id="53" name="Text 46"/>
          <p:cNvSpPr/>
          <p:nvPr/>
        </p:nvSpPr>
        <p:spPr>
          <a:xfrm>
            <a:off x="4114800" y="5605272"/>
            <a:ext cx="21031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54" name="Text 47"/>
          <p:cNvSpPr/>
          <p:nvPr/>
        </p:nvSpPr>
        <p:spPr>
          <a:xfrm>
            <a:off x="6217920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5" name="Text 48"/>
          <p:cNvSpPr/>
          <p:nvPr/>
        </p:nvSpPr>
        <p:spPr>
          <a:xfrm>
            <a:off x="6437376" y="5605272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</a:t>
            </a:r>
            <a:endParaRPr lang="en-US" sz="1250" dirty="0"/>
          </a:p>
        </p:txBody>
      </p:sp>
      <p:sp>
        <p:nvSpPr>
          <p:cNvPr id="56" name="Text 49"/>
          <p:cNvSpPr/>
          <p:nvPr/>
        </p:nvSpPr>
        <p:spPr>
          <a:xfrm>
            <a:off x="9089136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7" name="Text 50"/>
          <p:cNvSpPr/>
          <p:nvPr/>
        </p:nvSpPr>
        <p:spPr>
          <a:xfrm>
            <a:off x="9308592" y="5605272"/>
            <a:ext cx="228600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85232" y="2286000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FDE(Forward Deployed Engineer)를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7200" y="477316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환경도 바뀌었다 — 스타를 영입할 수 있는 임금 수준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49808" y="5157216"/>
            <a:ext cx="3108960" cy="804672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수준에 못 미친 보상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38587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133088" y="5157216"/>
            <a:ext cx="33832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영입 가능 수준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75163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790688" y="5157216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9050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전반 수준 상향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수주산업화 — Binding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take-or-pay·선수금 수백억$ — “메모리가 처음으로 바인딩” (이창수 인터뷰)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지배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하이퍼스케일러가 글로벌 enterprise SSD의 ~55% 소비 — 소수 고객이 규칙을 정한다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13816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 상승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완제품 → 펌웨어 → 컨트롤러 → 표준·웨이퍼로 스토리지를 내재화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1956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Captive SSD 위상 변화 — 고객 통제권의 단계 상승 (불가역)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407408"/>
            <a:ext cx="1225296" cy="621792"/>
          </a:xfrm>
          <a:prstGeom prst="roundRect">
            <a:avLst>
              <a:gd name="adj" fmla="val 7353"/>
            </a:avLst>
          </a:prstGeom>
          <a:solidFill>
            <a:srgbClr val="C7D3D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443984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" y="411480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완제품 구매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~2016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21408" y="3785616"/>
            <a:ext cx="1225296" cy="1243584"/>
          </a:xfrm>
          <a:prstGeom prst="roundRect">
            <a:avLst>
              <a:gd name="adj" fmla="val 3731"/>
            </a:avLst>
          </a:prstGeom>
          <a:solidFill>
            <a:srgbClr val="9DBACB"/>
          </a:solidFill>
          <a:ln/>
        </p:spPr>
      </p:sp>
      <p:sp>
        <p:nvSpPr>
          <p:cNvPr id="15" name="Text 13"/>
          <p:cNvSpPr/>
          <p:nvPr/>
        </p:nvSpPr>
        <p:spPr>
          <a:xfrm>
            <a:off x="2121408" y="3822192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93392" y="349300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펌웨어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21408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2017~20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02736" y="3163824"/>
            <a:ext cx="1225296" cy="1865376"/>
          </a:xfrm>
          <a:prstGeom prst="roundRect">
            <a:avLst>
              <a:gd name="adj" fmla="val 3731"/>
            </a:avLst>
          </a:prstGeom>
          <a:solidFill>
            <a:srgbClr val="4C7C94"/>
          </a:solidFill>
          <a:ln/>
        </p:spPr>
      </p:sp>
      <p:sp>
        <p:nvSpPr>
          <p:cNvPr id="19" name="Text 17"/>
          <p:cNvSpPr/>
          <p:nvPr/>
        </p:nvSpPr>
        <p:spPr>
          <a:xfrm>
            <a:off x="3602736" y="3200400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287121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컨트롤러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02736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2021~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84064" y="2542032"/>
            <a:ext cx="1225296" cy="2487168"/>
          </a:xfrm>
          <a:prstGeom prst="roundRect">
            <a:avLst>
              <a:gd name="adj" fmla="val 3731"/>
            </a:avLst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5084064" y="257860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56048" y="22494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표준·웨이퍼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84064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2022~26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5029200"/>
            <a:ext cx="6126480" cy="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2441448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24928" y="239572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벤더 표준품 조달 — 통제권 없음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40880" y="3118104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424928" y="307238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OCP 스토리지 스펙 · 고객별 펌웨어 브랜치 관행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40880" y="3794760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24928" y="374904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Nitro SSD(’21) — 자체 컨트롤러 자작 SSD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0" y="4471416"/>
            <a:ext cx="274320" cy="274320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424928" y="442569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비준(’23) — Meta·Google 주도·삼성 공동 · NAND 웨이퍼 다년 계약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~55%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5720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하이퍼스케일러의 enterprise SSD 수요 비중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29768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+246%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29768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웨이퍼 가격 (vs Q1’25) — 웨이퍼 직구매 경쟁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13816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813816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 소요 — 고객(Meta·Google) 주도 속도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교차점에서 검토한 선택지 4개 — 평가 기준: 부가가치 방어 · 펌웨어 공통화 · 통제권 흐름 정합 · 차별화 지속성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컴포넌트 후퇴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NAND·웨이퍼 공급에 집중, 완제품은 고객에 위임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물량은 지키나 완제품 부가가치 영구 상실 — 커머디티 공급자 고착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9944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903720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풀커스텀 대응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446520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고객별 커스텀 SSD·펌웨어 전면 개발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제품·펌웨어 파편화 — “커스텀 소싱·컨트랙은 파운드리 모델, 우리가 안 해본 것” (최장석)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3529584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70432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FDP 표준 SSD만 공급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713232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지원 하드웨어만 제공, 통합은 고객 몫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3232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“FDP 지원 여러 공급사 중 하나” — 차별화 없이 가격 경쟁 회귀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3529584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03720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D. FDP 표준 + 시스템 SW 플랫폼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6446520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펌웨어 + Host SDK·Profiler·E2E 검증 제공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유일하게 4개 기준 동시 충족 — 통제권 흐름 위에서 부가가치 재정의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413248"/>
            <a:ext cx="11274552" cy="713232"/>
          </a:xfrm>
          <a:prstGeom prst="roundRect">
            <a:avLst>
              <a:gd name="adj" fmla="val 10256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586984"/>
            <a:ext cx="365760" cy="36576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152144" y="54132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논리 — 부가가치는 고객이 가져간 계층 아래(웨이퍼)가 아니라, 아직 풀지 못한 계층 위에서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↔ FDP 정책 변환이 그 계층 — 삼성은 FDP 표준의 공동 주도자로서 이 계층을 선점할 위치에 있다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③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48640"/>
          </a:xfrm>
          <a:prstGeom prst="roundRect">
            <a:avLst>
              <a:gd name="adj" fmla="val 15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SSD 공급자 → FDP 기반 Host–SSD 통합 솔루션 제공자   </a:t>
            </a:r>
            <a:pPr algn="ctr" indent="0" marL="0">
              <a:buNone/>
            </a:pPr>
            <a:r>
              <a:rPr lang="en-US" sz="125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“Binding으로 수요 확보 · FDP로 표준화 · 시스템 SW로 연결”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Binding 계약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물량 확보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39696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340864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SSD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인터페이스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23360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24528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SW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워크로드→정책 변환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07024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108192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E2E 검증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 개선 보장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90688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91856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공동개발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관계 구축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74352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87552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텔레메트리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 개선 루프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2578608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2666390"/>
            <a:ext cx="190195" cy="190195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07899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Enablement Platform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4008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SDK·라이브러리(Linux·SPDK) · Workload Profiler · Emulator/Digital Twin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29768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4" name="Shape 21"/>
          <p:cNvSpPr/>
          <p:nvPr/>
        </p:nvSpPr>
        <p:spPr>
          <a:xfrm>
            <a:off x="4462272" y="2578608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054" y="2666390"/>
            <a:ext cx="190195" cy="190195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491947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표준 프로파일 7종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48056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Cache·KV·DB·Multi-tenant·Vector·Checkpoint·QLC — 펌웨어 공통화+고객 최적화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813816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9" name="Shape 25"/>
          <p:cNvSpPr/>
          <p:nvPr/>
        </p:nvSpPr>
        <p:spPr>
          <a:xfrm>
            <a:off x="8302752" y="2578608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0534" y="2666390"/>
            <a:ext cx="190195" cy="190195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75995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E2E 공동검증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832104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App→Host→SSD→NAND · WAF·p999·격리·전력 · trace의 pre/post-silicon 재사용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45720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4" name="Shape 29"/>
          <p:cNvSpPr/>
          <p:nvPr/>
        </p:nvSpPr>
        <p:spPr>
          <a:xfrm>
            <a:off x="621792" y="4096512"/>
            <a:ext cx="365760" cy="365760"/>
          </a:xfrm>
          <a:prstGeom prst="ellipse">
            <a:avLst/>
          </a:prstGeom>
          <a:solidFill>
            <a:srgbClr val="4C7C94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" y="4184294"/>
            <a:ext cx="190195" cy="190195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7899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고객 공동개발 조직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64008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Host SW·Workload Integration·Solution Eng·Validation — 제품 기획 참여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429768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9" name="Shape 33"/>
          <p:cNvSpPr/>
          <p:nvPr/>
        </p:nvSpPr>
        <p:spPr>
          <a:xfrm>
            <a:off x="4462272" y="4096512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0054" y="4184294"/>
            <a:ext cx="190195" cy="190195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491947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Binding 기술협력</a:t>
            </a:r>
            <a:endParaRPr lang="en-US" sz="1300" dirty="0"/>
          </a:p>
        </p:txBody>
      </p:sp>
      <p:sp>
        <p:nvSpPr>
          <p:cNvPr id="42" name="Text 35"/>
          <p:cNvSpPr/>
          <p:nvPr/>
        </p:nvSpPr>
        <p:spPr>
          <a:xfrm>
            <a:off x="448056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물량·trace·공동 로드맵 ↔ 공급능력·SDK·개선 목표 — 공동 플랫폼 계약</a:t>
            </a:r>
            <a:endParaRPr lang="en-US" sz="1000" dirty="0"/>
          </a:p>
        </p:txBody>
      </p:sp>
      <p:sp>
        <p:nvSpPr>
          <p:cNvPr id="43" name="Shape 36"/>
          <p:cNvSpPr/>
          <p:nvPr/>
        </p:nvSpPr>
        <p:spPr>
          <a:xfrm>
            <a:off x="813816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44" name="Shape 37"/>
          <p:cNvSpPr/>
          <p:nvPr/>
        </p:nvSpPr>
        <p:spPr>
          <a:xfrm>
            <a:off x="8302752" y="4096512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0534" y="4184294"/>
            <a:ext cx="190195" cy="190195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875995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오픈소스·차별화 경계</a:t>
            </a:r>
            <a:endParaRPr lang="en-US" sz="1300" dirty="0"/>
          </a:p>
        </p:txBody>
      </p:sp>
      <p:sp>
        <p:nvSpPr>
          <p:cNvPr id="47" name="Text 39"/>
          <p:cNvSpPr/>
          <p:nvPr/>
        </p:nvSpPr>
        <p:spPr>
          <a:xfrm>
            <a:off x="832104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공개: 라이브러리·연동·적합성 / 차별화: FTL 모델·정책 추천·예측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457200" y="5522976"/>
            <a:ext cx="11274552" cy="658368"/>
          </a:xfrm>
          <a:prstGeom prst="roundRect">
            <a:avLst>
              <a:gd name="adj" fmla="val 111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669280"/>
            <a:ext cx="365760" cy="365760"/>
          </a:xfrm>
          <a:prstGeom prst="rect">
            <a:avLst/>
          </a:prstGeom>
        </p:spPr>
      </p:pic>
      <p:sp>
        <p:nvSpPr>
          <p:cNvPr id="50" name="Text 41"/>
          <p:cNvSpPr/>
          <p:nvPr/>
        </p:nvSpPr>
        <p:spPr>
          <a:xfrm>
            <a:off x="1152144" y="552297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KPI — 고객 시스템에서 FDP가 실제 활성화된 SSD 용량 · Captive→삼성 완제품 전환 물량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주체: 인재 축(FDE 스타)이 이 플랫폼을 들고 고객 아키텍처 안으로 들어간다 — 단계: 기본 도구 → 전략 고객 공동검증 → 상용 플랫폼화 → Host Control 확장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 다운턴: 깊이는 고객 구조가 결정했다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 </a:t>
            </a:r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노출이 큰 벤더일수록 깊게 맞았다. 총량이 아니라 수요 형태의 변화였고, 극복은 다변화가 아니라 니즈 적중이었다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낙폭과 원인: 노출 = 깊이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001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재배분: CapEx vs AI 인프라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29768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9016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3135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적중: 대용량 QLC 경쟁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29016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17556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매출 낙폭: 피크(2Q22)→저점(1Q23)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" y="2340864"/>
            <a:ext cx="320040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20848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86384" y="2340864"/>
            <a:ext cx="548640" cy="1050254"/>
          </a:xfrm>
          <a:prstGeom prst="roundRect">
            <a:avLst>
              <a:gd name="adj" fmla="val 5000"/>
            </a:avLst>
          </a:prstGeom>
          <a:solidFill>
            <a:srgbClr val="1428A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40940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-54%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435608" y="20848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SK그룹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563624" y="2340864"/>
            <a:ext cx="548640" cy="1225296"/>
          </a:xfrm>
          <a:prstGeom prst="roundRect">
            <a:avLst>
              <a:gd name="adj" fmla="val 5000"/>
            </a:avLst>
          </a:prstGeom>
          <a:solidFill>
            <a:srgbClr val="B9C2D0"/>
          </a:solidFill>
          <a:ln/>
        </p:spPr>
      </p:sp>
      <p:sp>
        <p:nvSpPr>
          <p:cNvPr id="23" name="Text 21"/>
          <p:cNvSpPr/>
          <p:nvPr/>
        </p:nvSpPr>
        <p:spPr>
          <a:xfrm>
            <a:off x="1435608" y="358444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-63%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212848" y="20848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WDC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340864" y="2340864"/>
            <a:ext cx="548640" cy="875211"/>
          </a:xfrm>
          <a:prstGeom prst="roundRect">
            <a:avLst>
              <a:gd name="adj" fmla="val 5000"/>
            </a:avLst>
          </a:prstGeom>
          <a:solidFill>
            <a:srgbClr val="B9C2D0"/>
          </a:solidFill>
          <a:ln/>
        </p:spPr>
      </p:sp>
      <p:sp>
        <p:nvSpPr>
          <p:cNvPr id="26" name="Text 24"/>
          <p:cNvSpPr/>
          <p:nvPr/>
        </p:nvSpPr>
        <p:spPr>
          <a:xfrm>
            <a:off x="2212848" y="3234363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-45%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990088" y="20848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Kioxia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18104" y="2340864"/>
            <a:ext cx="548640" cy="680720"/>
          </a:xfrm>
          <a:prstGeom prst="roundRect">
            <a:avLst>
              <a:gd name="adj" fmla="val 5000"/>
            </a:avLst>
          </a:prstGeom>
          <a:solidFill>
            <a:srgbClr val="B9C2D0"/>
          </a:solidFill>
          <a:ln/>
        </p:spPr>
      </p:sp>
      <p:sp>
        <p:nvSpPr>
          <p:cNvPr id="29" name="Text 27"/>
          <p:cNvSpPr/>
          <p:nvPr/>
        </p:nvSpPr>
        <p:spPr>
          <a:xfrm>
            <a:off x="2990088" y="303987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-35%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58368" y="39136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원인: eSSD 점유(4Q22) = 서버 노출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18795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554480" y="4206240"/>
            <a:ext cx="1554480" cy="201168"/>
          </a:xfrm>
          <a:prstGeom prst="roundRect">
            <a:avLst>
              <a:gd name="adj" fmla="val 13636"/>
            </a:avLst>
          </a:prstGeom>
          <a:solidFill>
            <a:srgbClr val="1428A0"/>
          </a:solidFill>
          <a:ln/>
        </p:spPr>
      </p:sp>
      <p:sp>
        <p:nvSpPr>
          <p:cNvPr id="33" name="Text 31"/>
          <p:cNvSpPr/>
          <p:nvPr/>
        </p:nvSpPr>
        <p:spPr>
          <a:xfrm>
            <a:off x="3163824" y="4187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46.9%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8368" y="449884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SK그룹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1554480" y="4517136"/>
            <a:ext cx="629747" cy="201168"/>
          </a:xfrm>
          <a:prstGeom prst="roundRect">
            <a:avLst>
              <a:gd name="adj" fmla="val 13636"/>
            </a:avLst>
          </a:prstGeom>
          <a:solidFill>
            <a:srgbClr val="B9C2D0"/>
          </a:solidFill>
          <a:ln/>
        </p:spPr>
      </p:sp>
      <p:sp>
        <p:nvSpPr>
          <p:cNvPr id="36" name="Text 34"/>
          <p:cNvSpPr/>
          <p:nvPr/>
        </p:nvSpPr>
        <p:spPr>
          <a:xfrm>
            <a:off x="2239091" y="449884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8368" y="480974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Kioxia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554480" y="4828032"/>
            <a:ext cx="430879" cy="201168"/>
          </a:xfrm>
          <a:prstGeom prst="roundRect">
            <a:avLst>
              <a:gd name="adj" fmla="val 13636"/>
            </a:avLst>
          </a:prstGeom>
          <a:solidFill>
            <a:srgbClr val="B9C2D0"/>
          </a:solidFill>
          <a:ln/>
        </p:spPr>
      </p:sp>
      <p:sp>
        <p:nvSpPr>
          <p:cNvPr id="39" name="Text 37"/>
          <p:cNvSpPr/>
          <p:nvPr/>
        </p:nvSpPr>
        <p:spPr>
          <a:xfrm>
            <a:off x="2040223" y="48097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8368" y="5193792"/>
            <a:ext cx="3200400" cy="658368"/>
          </a:xfrm>
          <a:prstGeom prst="roundRect">
            <a:avLst>
              <a:gd name="adj" fmla="val 6944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 순위 = 낙폭 순위.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진앙은 SSD(산업 매출 기여 50%+→20~25% 붕괴), 삼성은 eSSD 1위로 노출 최대. SK -63%엔 서버 100% Solidigm 포함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8368" y="5943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TrendForce 분기 데이터 합성(Micron 회계분기 차이 제외) · Blocks &amp; Files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498848" y="17556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 CapEx ($B, 각사 10-K)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498848" y="3200400"/>
            <a:ext cx="320040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645152" y="2152841"/>
            <a:ext cx="256032" cy="1047559"/>
          </a:xfrm>
          <a:prstGeom prst="rect">
            <a:avLst/>
          </a:prstGeom>
          <a:solidFill>
            <a:srgbClr val="D6DCE8"/>
          </a:solidFill>
          <a:ln/>
        </p:spPr>
      </p:sp>
      <p:sp>
        <p:nvSpPr>
          <p:cNvPr id="45" name="Shape 43"/>
          <p:cNvSpPr/>
          <p:nvPr/>
        </p:nvSpPr>
        <p:spPr>
          <a:xfrm>
            <a:off x="4937760" y="2109978"/>
            <a:ext cx="256032" cy="1090422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46" name="Shape 44"/>
          <p:cNvSpPr/>
          <p:nvPr/>
        </p:nvSpPr>
        <p:spPr>
          <a:xfrm>
            <a:off x="5230368" y="2296859"/>
            <a:ext cx="256032" cy="90354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47" name="Text 45"/>
          <p:cNvSpPr/>
          <p:nvPr/>
        </p:nvSpPr>
        <p:spPr>
          <a:xfrm>
            <a:off x="4507992" y="322783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Amazon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687568" y="2871216"/>
            <a:ext cx="256032" cy="329184"/>
          </a:xfrm>
          <a:prstGeom prst="rect">
            <a:avLst/>
          </a:prstGeom>
          <a:solidFill>
            <a:srgbClr val="D6DCE8"/>
          </a:solidFill>
          <a:ln/>
        </p:spPr>
      </p:sp>
      <p:sp>
        <p:nvSpPr>
          <p:cNvPr id="49" name="Shape 47"/>
          <p:cNvSpPr/>
          <p:nvPr/>
        </p:nvSpPr>
        <p:spPr>
          <a:xfrm>
            <a:off x="5980176" y="2662047"/>
            <a:ext cx="256032" cy="538353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50" name="Shape 48"/>
          <p:cNvSpPr/>
          <p:nvPr/>
        </p:nvSpPr>
        <p:spPr>
          <a:xfrm>
            <a:off x="6272784" y="2718626"/>
            <a:ext cx="256032" cy="481775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51" name="Text 49"/>
          <p:cNvSpPr/>
          <p:nvPr/>
        </p:nvSpPr>
        <p:spPr>
          <a:xfrm>
            <a:off x="5550408" y="322783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729984" y="2778633"/>
            <a:ext cx="256032" cy="421767"/>
          </a:xfrm>
          <a:prstGeom prst="rect">
            <a:avLst/>
          </a:prstGeom>
          <a:solidFill>
            <a:srgbClr val="D6DCE8"/>
          </a:solidFill>
          <a:ln/>
        </p:spPr>
      </p:sp>
      <p:sp>
        <p:nvSpPr>
          <p:cNvPr id="53" name="Shape 51"/>
          <p:cNvSpPr/>
          <p:nvPr/>
        </p:nvSpPr>
        <p:spPr>
          <a:xfrm>
            <a:off x="7022592" y="2660333"/>
            <a:ext cx="256032" cy="540068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54" name="Shape 52"/>
          <p:cNvSpPr/>
          <p:nvPr/>
        </p:nvSpPr>
        <p:spPr>
          <a:xfrm>
            <a:off x="7315200" y="2646617"/>
            <a:ext cx="256032" cy="553784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55" name="Text 53"/>
          <p:cNvSpPr/>
          <p:nvPr/>
        </p:nvSpPr>
        <p:spPr>
          <a:xfrm>
            <a:off x="6592824" y="322783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Alphabet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498848" y="34930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’21  ’22  ’23 · Amazon 창사 최초 -17%, Meta -11%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498848" y="38587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그중 AI 인프라: AI 서버 시장 가치 ($B)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498848" y="416966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919472" y="4187952"/>
            <a:ext cx="525658" cy="237744"/>
          </a:xfrm>
          <a:prstGeom prst="roundRect">
            <a:avLst>
              <a:gd name="adj" fmla="val 11538"/>
            </a:avLst>
          </a:prstGeom>
          <a:solidFill>
            <a:srgbClr val="8FA0DC"/>
          </a:solidFill>
          <a:ln/>
        </p:spPr>
      </p:sp>
      <p:sp>
        <p:nvSpPr>
          <p:cNvPr id="60" name="Text 58"/>
          <p:cNvSpPr/>
          <p:nvPr/>
        </p:nvSpPr>
        <p:spPr>
          <a:xfrm>
            <a:off x="5499994" y="41696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~50 · 서버 가치의 23%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4498848" y="453542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’24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4919472" y="4553712"/>
            <a:ext cx="1965960" cy="237744"/>
          </a:xfrm>
          <a:prstGeom prst="roundRect">
            <a:avLst>
              <a:gd name="adj" fmla="val 11538"/>
            </a:avLst>
          </a:prstGeom>
          <a:solidFill>
            <a:srgbClr val="1428A0"/>
          </a:solidFill>
          <a:ln/>
        </p:spPr>
      </p:sp>
      <p:sp>
        <p:nvSpPr>
          <p:cNvPr id="63" name="Text 61"/>
          <p:cNvSpPr/>
          <p:nvPr/>
        </p:nvSpPr>
        <p:spPr>
          <a:xfrm>
            <a:off x="4992624" y="4535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187 · 65%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4498848" y="5193792"/>
            <a:ext cx="3200400" cy="658368"/>
          </a:xfrm>
          <a:prstGeom prst="roundRect">
            <a:avLst>
              <a:gd name="adj" fmla="val 6944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총량이 아니라 재배분.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CapEx가 깎인 ’23에도 AI 서버 가치는 ~$50B(23%), ’24 $187B(65%)로 폭증. 일반 서버·스토리지향 수요만 꺼졌다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4498848" y="5943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각사 10-K · Platformonomics · TrendForce(’24.07)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8330184" y="17556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대용량 QLC eSSD: 용량 × 출시 시점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302752" y="209397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Solidigm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052560" y="2212848"/>
            <a:ext cx="2377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302752" y="264261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9052560" y="2761488"/>
            <a:ext cx="2377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302752" y="319125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9052560" y="3310128"/>
            <a:ext cx="2377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302752" y="373989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Kioxia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9052560" y="3858768"/>
            <a:ext cx="2377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869680" y="40233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’23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9464040" y="40233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’24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10058400" y="40233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10652760" y="40233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9314078" y="2153412"/>
            <a:ext cx="118872" cy="118872"/>
          </a:xfrm>
          <a:prstGeom prst="ellipse">
            <a:avLst/>
          </a:prstGeom>
          <a:solidFill>
            <a:srgbClr val="555555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053474" y="190195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61T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9053474" y="22860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’23.07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0104577" y="2153412"/>
            <a:ext cx="118872" cy="118872"/>
          </a:xfrm>
          <a:prstGeom prst="ellipse">
            <a:avLst/>
          </a:prstGeom>
          <a:solidFill>
            <a:srgbClr val="555555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843973" y="190195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122T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11192256" y="2153412"/>
            <a:ext cx="118872" cy="1188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931652" y="190195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245T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9884664" y="2702052"/>
            <a:ext cx="118872" cy="118872"/>
          </a:xfrm>
          <a:prstGeom prst="ellipse">
            <a:avLst/>
          </a:prstGeom>
          <a:solidFill>
            <a:srgbClr val="1428A0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624060" y="245059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61T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10092690" y="2702052"/>
            <a:ext cx="118872" cy="1188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832086" y="283464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122T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10597896" y="3250692"/>
            <a:ext cx="118872" cy="1188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0337292" y="299923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122T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10984230" y="3250692"/>
            <a:ext cx="118872" cy="118872"/>
          </a:xfrm>
          <a:prstGeom prst="ellipse">
            <a:avLst/>
          </a:prstGeom>
          <a:solidFill>
            <a:srgbClr val="555555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723626" y="33832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245T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10723626" y="35478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’26.05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10479024" y="3799332"/>
            <a:ext cx="118872" cy="1188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0218420" y="35478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245T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8330184" y="426110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출하    </a:t>
            </a:r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샘플·전시·예정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8311896" y="4553712"/>
            <a:ext cx="3236976" cy="1335024"/>
          </a:xfrm>
          <a:prstGeom prst="roundRect">
            <a:avLst>
              <a:gd name="adj" fmla="val 4795"/>
            </a:avLst>
          </a:prstGeom>
          <a:solidFill>
            <a:srgbClr val="EEF1FA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8476488" y="4645152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적중의 실증, 그리고 삼성의 갭</a:t>
            </a:r>
            <a:endParaRPr lang="en-US" sz="11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Solidigm은 61TB를 12개월 선행하며 최심부에서 2024 흑자 전환. 삼성은 61TB 1년 후발에 122TB는 전시 단계, 245TB 첫 출하도 Micron. 다음 니즈(KV cache)는 선행해야 한다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8330184" y="596188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Blocks &amp; Files · AnandTech · TechPowerUp · TechRadar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Cache: RUH 25배·내구성 2~10배 갭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 </a:t>
            </a:r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스토리지가 추론의 캐시 계층으로 승격된다: 수요는 폭증하고, 스트림 분리(RUH)·쓰기 내구성 요구는 현행 제품군을 넘는다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수요: KV Cache Offloading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001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RUH 갭: 현행 2~8 vs 요구 200+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29768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9016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3135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DWPD 갭: 새 전략의 근거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29016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7008" y="1792224"/>
            <a:ext cx="2103120" cy="292608"/>
          </a:xfrm>
          <a:prstGeom prst="roundRect">
            <a:avLst>
              <a:gd name="adj" fmla="val 12500"/>
            </a:avLst>
          </a:prstGeom>
          <a:solidFill>
            <a:srgbClr val="F4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1207008" y="17922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HBM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21408" y="206654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207008" y="2194560"/>
            <a:ext cx="2103120" cy="292608"/>
          </a:xfrm>
          <a:prstGeom prst="roundRect">
            <a:avLst>
              <a:gd name="adj" fmla="val 12500"/>
            </a:avLst>
          </a:prstGeom>
          <a:solidFill>
            <a:srgbClr val="E5E9F2"/>
          </a:solidFill>
          <a:ln/>
        </p:spPr>
      </p:sp>
      <p:sp>
        <p:nvSpPr>
          <p:cNvPr id="20" name="Text 18"/>
          <p:cNvSpPr/>
          <p:nvPr/>
        </p:nvSpPr>
        <p:spPr>
          <a:xfrm>
            <a:off x="1207008" y="21945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DRAM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21408" y="24688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207008" y="2596896"/>
            <a:ext cx="2103120" cy="292608"/>
          </a:xfrm>
          <a:prstGeom prst="roundRect">
            <a:avLst>
              <a:gd name="adj" fmla="val 12500"/>
            </a:avLst>
          </a:prstGeom>
          <a:solidFill>
            <a:srgbClr val="1428A0"/>
          </a:solidFill>
          <a:ln/>
        </p:spPr>
      </p:sp>
      <p:sp>
        <p:nvSpPr>
          <p:cNvPr id="23" name="Text 21"/>
          <p:cNvSpPr/>
          <p:nvPr/>
        </p:nvSpPr>
        <p:spPr>
          <a:xfrm>
            <a:off x="1207008" y="259689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SSD: KV 캐시 계층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" y="30540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Dynamo·CMX·LMCache·Mooncake가 SSD 계층 공식 지원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41248" y="4828032"/>
            <a:ext cx="265176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34440" y="4325112"/>
            <a:ext cx="640080" cy="125730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34440" y="4450842"/>
            <a:ext cx="640080" cy="37719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40690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75~100EB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097280" y="48646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468880" y="3822192"/>
            <a:ext cx="640080" cy="251460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31" name="Shape 29"/>
          <p:cNvSpPr/>
          <p:nvPr/>
        </p:nvSpPr>
        <p:spPr>
          <a:xfrm>
            <a:off x="2468880" y="4073652"/>
            <a:ext cx="640080" cy="75438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2" name="Text 30"/>
          <p:cNvSpPr/>
          <p:nvPr/>
        </p:nvSpPr>
        <p:spPr>
          <a:xfrm>
            <a:off x="2148840" y="356616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150~200EB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31720" y="48646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8368" y="321868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단독 NAND 추가 수요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58368" y="5230368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2030년 AI DC NAND 워크로드 중 KV cache 비중 (SanDisk, FMS 2026) · NVL144 랙 연 5만 대 기준 연 ~0.44EB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498848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쓰기 스트림(RUH) 수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498848" y="4206240"/>
            <a:ext cx="320040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92040" y="4129430"/>
            <a:ext cx="777240" cy="76810"/>
          </a:xfrm>
          <a:prstGeom prst="rect">
            <a:avLst/>
          </a:prstGeom>
          <a:solidFill>
            <a:srgbClr val="B9C2D0"/>
          </a:solidFill>
          <a:ln/>
        </p:spPr>
      </p:sp>
      <p:sp>
        <p:nvSpPr>
          <p:cNvPr id="39" name="Text 37"/>
          <p:cNvSpPr/>
          <p:nvPr/>
        </p:nvSpPr>
        <p:spPr>
          <a:xfrm>
            <a:off x="4663440" y="383682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2~8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4572000" y="426110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 FDP SSD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446520" y="2286000"/>
            <a:ext cx="777240" cy="192024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42" name="Text 40"/>
          <p:cNvSpPr/>
          <p:nvPr/>
        </p:nvSpPr>
        <p:spPr>
          <a:xfrm>
            <a:off x="6217920" y="199339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200+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126480" y="426110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CMX 오프로드 요구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34924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≈25배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498848" y="4626864"/>
            <a:ext cx="3200400" cy="768096"/>
          </a:xfrm>
          <a:prstGeom prst="roundRect">
            <a:avLst>
              <a:gd name="adj" fmla="val 5952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200+인가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세션·테넌트·공유 프리픽스·수명 등급별로 스트림을 분리해야 hot/cold 혼재로 인한 GC 증폭이 끊긴다. 소수 RUH로는 WAF 문제 지속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498848" y="5486400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RUH(Reclaim Unit Handle): 수명이 같은 데이터를 같은 소거 단위에 모으는 FDP 스트림 핸들 · 요구 수준은 NVIDIA CMX 타깃 ScaleFlux 플랫폼 스펙 기준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498848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StorageReview ’26.07 · Blocks &amp; Files ’26.01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330184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대비 2~10배 갭 (5년 보증 기준 DWPD)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275320" y="4370832"/>
            <a:ext cx="324612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412480" y="4244645"/>
            <a:ext cx="566928" cy="126187"/>
          </a:xfrm>
          <a:prstGeom prst="rect">
            <a:avLst/>
          </a:prstGeom>
          <a:solidFill>
            <a:srgbClr val="B9C2D0"/>
          </a:solidFill>
          <a:ln/>
        </p:spPr>
      </p:sp>
      <p:sp>
        <p:nvSpPr>
          <p:cNvPr id="51" name="Text 49"/>
          <p:cNvSpPr/>
          <p:nvPr/>
        </p:nvSpPr>
        <p:spPr>
          <a:xfrm>
            <a:off x="8229600" y="3988613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0.6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211312" y="440740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고용량 QLC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9208008" y="4160520"/>
            <a:ext cx="566928" cy="210312"/>
          </a:xfrm>
          <a:prstGeom prst="rect">
            <a:avLst/>
          </a:prstGeom>
          <a:solidFill>
            <a:srgbClr val="B9C2D0"/>
          </a:solidFill>
          <a:ln/>
        </p:spPr>
      </p:sp>
      <p:sp>
        <p:nvSpPr>
          <p:cNvPr id="54" name="Text 52"/>
          <p:cNvSpPr/>
          <p:nvPr/>
        </p:nvSpPr>
        <p:spPr>
          <a:xfrm>
            <a:off x="9025128" y="390448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006840" y="440740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TLC RI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10003536" y="3739896"/>
            <a:ext cx="566928" cy="630936"/>
          </a:xfrm>
          <a:prstGeom prst="rect">
            <a:avLst/>
          </a:prstGeom>
          <a:solidFill>
            <a:srgbClr val="B9C2D0"/>
          </a:solidFill>
          <a:ln/>
        </p:spPr>
      </p:sp>
      <p:sp>
        <p:nvSpPr>
          <p:cNvPr id="57" name="Text 55"/>
          <p:cNvSpPr/>
          <p:nvPr/>
        </p:nvSpPr>
        <p:spPr>
          <a:xfrm>
            <a:off x="9820656" y="34838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802368" y="440740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TLC MU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10799064" y="2267712"/>
            <a:ext cx="566928" cy="630936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60" name="Shape 58"/>
          <p:cNvSpPr/>
          <p:nvPr/>
        </p:nvSpPr>
        <p:spPr>
          <a:xfrm>
            <a:off x="10799064" y="2898648"/>
            <a:ext cx="566928" cy="1472184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61" name="Text 59"/>
          <p:cNvSpPr/>
          <p:nvPr/>
        </p:nvSpPr>
        <p:spPr>
          <a:xfrm>
            <a:off x="10616184" y="20116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7~10+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10597896" y="440740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요구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8311896" y="5029200"/>
            <a:ext cx="3236976" cy="1225296"/>
          </a:xfrm>
          <a:prstGeom prst="roundRect">
            <a:avLst>
              <a:gd name="adj" fmla="val 5224"/>
            </a:avLst>
          </a:prstGeom>
          <a:solidFill>
            <a:srgbClr val="EEF1FA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476488" y="510235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실증: ScaleFlux, NVIDIA CMX 타깃</a:t>
            </a:r>
            <a:endParaRPr lang="en-US" sz="11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200+ FDP 스트림으로 KV 블록을 수명별 분리, WAF를 낮춰 유효 7~10+ DWPD(5년) 달성 발표(StorageReview ’26.07.30). RUH 분리 + 고내구 설계가 갭의 해법, 곧 본 전략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④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실행전략  </a:t>
            </a:r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SCA로 다가가고 · FDP로 제공하고 · FDE로 협업한다: 워크로드가 들어올수록 전환비용이 커지는 락인 플라이휠, 다운턴 피해 최소화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락인 플라이휠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001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SCA: Micron이 증명한 접근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9016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3135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FDP·FDE: 기술과 사람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29016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1828800"/>
            <a:ext cx="877824" cy="877824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다가간다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59536" y="3456432"/>
            <a:ext cx="877824" cy="877824"/>
          </a:xfrm>
          <a:prstGeom prst="ellipse">
            <a:avLst/>
          </a:prstGeom>
          <a:solidFill>
            <a:srgbClr val="3C5AC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제공한다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798064" y="3456432"/>
            <a:ext cx="877824" cy="877824"/>
          </a:xfrm>
          <a:prstGeom prst="ellipse">
            <a:avLst/>
          </a:prstGeom>
          <a:solidFill>
            <a:srgbClr val="8FA0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협업한다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 flipH="1">
            <a:off x="1371600" y="2706624"/>
            <a:ext cx="329184" cy="713232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773936" y="4059936"/>
            <a:ext cx="987552" cy="914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 flipV="1">
            <a:off x="2834640" y="2706624"/>
            <a:ext cx="384048" cy="713232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536192" y="2999232"/>
            <a:ext cx="1463040" cy="566928"/>
          </a:xfrm>
          <a:prstGeom prst="roundRect">
            <a:avLst>
              <a:gd name="adj" fmla="val 9677"/>
            </a:avLst>
          </a:prstGeom>
          <a:solidFill>
            <a:srgbClr val="EEF1FA"/>
          </a:solidFill>
          <a:ln w="12700">
            <a:solidFill>
              <a:srgbClr val="1428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락인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방어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워크로드가 들어올수록 최적화가 깊어지고 전환비용이 커진다. 계약이 끝나도 갈아타기 어려운 관계가 다운턴의 방어벽이 된다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8368" y="5431536"/>
            <a:ext cx="32004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5522976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Strategic Customer Agreement · 전략적 고객 계약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Flexible Data Placement · NVMe 데이터 배치 표준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Forward Deployed Engineer · 고객 상주 엔지니어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98848" y="179222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공급부족 협상력의 창이 열려 있을 때 워크로드 교환을 제안한다: 고객이 워크로드를 공유하면 그 워크로드에 최적화한 FDP SSD를 공급. 성능·수명 개선과 TCO 절감으로 거절하기 어려운 딜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98848" y="2926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대상: 하이퍼스케일러 · Pure Storage · VAST Data · DDN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80560" y="3291840"/>
            <a:ext cx="3236976" cy="2798064"/>
          </a:xfrm>
          <a:prstGeom prst="roundRect">
            <a:avLst>
              <a:gd name="adj" fmla="val 2288"/>
            </a:avLst>
          </a:prstGeom>
          <a:solidFill>
            <a:srgbClr val="EEF1FA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34198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선례: Micron ↔ Anthropic (’26.06)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700016" y="3730752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다년 공급 (HBM·DRAM·SSD 전 포트폴리오)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워크로드 공동 최적화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통합 (Micron 전사에 Claude 배치)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자본 연계 (Series H 전략 투자)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45152" y="502920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16건 · 최소 매출 $100B · 예치금 $22B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45152" y="5541264"/>
            <a:ext cx="2999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워크로드를 열고 공급을 잠근 계약. 우리가 맺으려는 관계의 실물 견본이다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30184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필요한 기술 (기존 SSD 기술 대비)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330184" y="2066544"/>
            <a:ext cx="3200400" cy="329184"/>
          </a:xfrm>
          <a:prstGeom prst="roundRect">
            <a:avLst>
              <a:gd name="adj" fmla="val 13889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 </a:t>
            </a:r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· 컨트롤러 · 펌웨어 · 수율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330184" y="2450592"/>
            <a:ext cx="3200400" cy="749808"/>
          </a:xfrm>
          <a:prstGeom prst="roundRect">
            <a:avLst>
              <a:gd name="adj" fmla="val 6098"/>
            </a:avLst>
          </a:prstGeom>
          <a:solidFill>
            <a:srgbClr val="EEF1FA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블록계층·io_uring·NVMe / SPDK / DB·캐시 내부 (RocksDB·CacheLib·Ceph) / 워크로드 분석 (fio·eBPF·WAF)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330184" y="3310128"/>
            <a:ext cx="3200400" cy="694944"/>
          </a:xfrm>
          <a:prstGeom prst="roundRect">
            <a:avLst>
              <a:gd name="adj" fmla="val 6579"/>
            </a:avLst>
          </a:prstGeom>
          <a:solidFill>
            <a:srgbClr val="EEF1FA"/>
          </a:solidFill>
          <a:ln w="12700">
            <a:solidFill>
              <a:srgbClr val="1428A0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선례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Palantir가 창안한 직군 (코드명 Delta, 640% 주가 동력으로 회자) · Anthropic·OpenAI도 엔터프라이즈 GTM으로 채택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330184" y="4133088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006840" y="4114800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현지, 오픈소스 스토리지 기여자 우대, 영어 필수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30184" y="4846320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006840" y="4828032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엔지니어 미국 로테이션 6~12개월 + 현지 FDE 멘토 페어링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30184" y="5559552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006840" y="5541264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1~2사 상주 (Pod 소속), outcome 평가 (활성화 용량), 업스트림 기여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2026-09-02T11:57:34Z</dcterms:created>
  <dcterms:modified xsi:type="dcterms:W3CDTF">2026-09-02T11:57:34Z</dcterms:modified>
</cp:coreProperties>
</file>