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AF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상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41248"/>
            <a:ext cx="11274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북극성  </a:t>
            </a:r>
            <a:pPr indent="0" marL="0">
              <a:buNone/>
            </a:pPr>
            <a:r>
              <a:rPr lang="en-US" sz="1300" i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파트너 (2026-06)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207008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EAF3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71600"/>
            <a:ext cx="329184" cy="329184"/>
          </a:xfrm>
          <a:prstGeom prst="ellipse">
            <a:avLst/>
          </a:prstGeom>
          <a:solidFill>
            <a:srgbClr val="0E6B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344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4297680" y="1207008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E6F4F4"/>
          </a:solidFill>
          <a:ln/>
        </p:spPr>
      </p:sp>
      <p:sp>
        <p:nvSpPr>
          <p:cNvPr id="11" name="Text 9"/>
          <p:cNvSpPr/>
          <p:nvPr/>
        </p:nvSpPr>
        <p:spPr>
          <a:xfrm>
            <a:off x="4480560" y="1371600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01184" y="1344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129016" y="1207008"/>
            <a:ext cx="3602736" cy="4297680"/>
          </a:xfrm>
          <a:prstGeom prst="roundRect">
            <a:avLst>
              <a:gd name="adj" fmla="val 2284"/>
            </a:avLst>
          </a:prstGeom>
          <a:solidFill>
            <a:srgbClr val="E8F6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11896" y="1371600"/>
            <a:ext cx="329184" cy="329184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732520" y="134416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841248" y="2084832"/>
            <a:ext cx="0" cy="2148840"/>
          </a:xfrm>
          <a:prstGeom prst="line">
            <a:avLst/>
          </a:prstGeom>
          <a:noFill/>
          <a:ln w="19050">
            <a:solidFill>
              <a:srgbClr val="0E6B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066544"/>
            <a:ext cx="146304" cy="146304"/>
          </a:xfrm>
          <a:prstGeom prst="ellipse">
            <a:avLst/>
          </a:prstGeom>
          <a:solidFill>
            <a:srgbClr val="0E6BA8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197510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’25.06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55648" y="19659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SK하이닉스 커스텀 HBM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3사 인증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68096" y="2926080"/>
            <a:ext cx="146304" cy="146304"/>
          </a:xfrm>
          <a:prstGeom prst="ellipse">
            <a:avLst/>
          </a:prstGeom>
          <a:solidFill>
            <a:srgbClr val="0E6BA8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28346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’25.10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755648" y="2825496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Stargate LOI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90만 장 (DRAM ~40%)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68096" y="3785616"/>
            <a:ext cx="146304" cy="146304"/>
          </a:xfrm>
          <a:prstGeom prst="ellipse">
            <a:avLst/>
          </a:prstGeom>
          <a:solidFill>
            <a:srgbClr val="0E6BA8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369417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’26.06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755648" y="3685032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Micron–Anthropic SCA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16건 · $100B · $22B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4590288"/>
            <a:ext cx="3236976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0E6BA8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4791456"/>
            <a:ext cx="310896" cy="310896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207008" y="4626864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납품 정확성만으론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 테이블에 못 앉는다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4517136" y="188366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As-Is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181344" y="188366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To-Be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517136" y="2157984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5888736" y="2157984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181344" y="2157984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4517136" y="2761488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5888736" y="2761488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6181344" y="2761488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4517136" y="3364992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단품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5888736" y="3364992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6181344" y="3364992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</a:t>
            </a:r>
            <a:endParaRPr lang="en-US" sz="1350" dirty="0"/>
          </a:p>
        </p:txBody>
      </p:sp>
      <p:sp>
        <p:nvSpPr>
          <p:cNvPr id="40" name="Text 37"/>
          <p:cNvSpPr/>
          <p:nvPr/>
        </p:nvSpPr>
        <p:spPr>
          <a:xfrm>
            <a:off x="4517136" y="3968496"/>
            <a:ext cx="1371600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QCD</a:t>
            </a:r>
            <a:endParaRPr lang="en-US" sz="1350" dirty="0"/>
          </a:p>
        </p:txBody>
      </p:sp>
      <p:sp>
        <p:nvSpPr>
          <p:cNvPr id="41" name="Text 38"/>
          <p:cNvSpPr/>
          <p:nvPr/>
        </p:nvSpPr>
        <p:spPr>
          <a:xfrm>
            <a:off x="5888736" y="3968496"/>
            <a:ext cx="29260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42" name="Text 39"/>
          <p:cNvSpPr/>
          <p:nvPr/>
        </p:nvSpPr>
        <p:spPr>
          <a:xfrm>
            <a:off x="6181344" y="3968496"/>
            <a:ext cx="1499616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 KPI</a:t>
            </a:r>
            <a:endParaRPr lang="en-US" sz="1350" dirty="0"/>
          </a:p>
        </p:txBody>
      </p:sp>
      <p:sp>
        <p:nvSpPr>
          <p:cNvPr id="43" name="Shape 40"/>
          <p:cNvSpPr/>
          <p:nvPr/>
        </p:nvSpPr>
        <p:spPr>
          <a:xfrm>
            <a:off x="4517136" y="4700016"/>
            <a:ext cx="3163824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4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4828032"/>
            <a:ext cx="274320" cy="274320"/>
          </a:xfrm>
          <a:prstGeom prst="rect">
            <a:avLst/>
          </a:prstGeom>
        </p:spPr>
      </p:pic>
      <p:sp>
        <p:nvSpPr>
          <p:cNvPr id="45" name="Text 41"/>
          <p:cNvSpPr/>
          <p:nvPr/>
        </p:nvSpPr>
        <p:spPr>
          <a:xfrm>
            <a:off x="5029200" y="4700016"/>
            <a:ext cx="25968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롤모델 Palantir FDE — 고객사 상주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8842248" y="1956816"/>
            <a:ext cx="475488" cy="475488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4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6365" y="2070933"/>
            <a:ext cx="247254" cy="247254"/>
          </a:xfrm>
          <a:prstGeom prst="rect">
            <a:avLst/>
          </a:prstGeom>
        </p:spPr>
      </p:pic>
      <p:sp>
        <p:nvSpPr>
          <p:cNvPr id="48" name="Text 43"/>
          <p:cNvSpPr/>
          <p:nvPr/>
        </p:nvSpPr>
        <p:spPr>
          <a:xfrm>
            <a:off x="8330184" y="2468880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600" dirty="0"/>
          </a:p>
        </p:txBody>
      </p:sp>
      <p:sp>
        <p:nvSpPr>
          <p:cNvPr id="49" name="Text 44"/>
          <p:cNvSpPr/>
          <p:nvPr/>
        </p:nvSpPr>
        <p:spPr>
          <a:xfrm>
            <a:off x="8275320" y="276148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랩·모델</a:t>
            </a:r>
            <a:endParaRPr lang="en-US" sz="1100" dirty="0"/>
          </a:p>
        </p:txBody>
      </p:sp>
      <p:sp>
        <p:nvSpPr>
          <p:cNvPr id="50" name="Shape 45"/>
          <p:cNvSpPr/>
          <p:nvPr/>
        </p:nvSpPr>
        <p:spPr>
          <a:xfrm>
            <a:off x="10506456" y="1956816"/>
            <a:ext cx="475488" cy="475488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5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20573" y="2070933"/>
            <a:ext cx="247254" cy="247254"/>
          </a:xfrm>
          <a:prstGeom prst="rect">
            <a:avLst/>
          </a:prstGeom>
        </p:spPr>
      </p:pic>
      <p:sp>
        <p:nvSpPr>
          <p:cNvPr id="52" name="Text 46"/>
          <p:cNvSpPr/>
          <p:nvPr/>
        </p:nvSpPr>
        <p:spPr>
          <a:xfrm>
            <a:off x="9994392" y="2468880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600" dirty="0"/>
          </a:p>
        </p:txBody>
      </p:sp>
      <p:sp>
        <p:nvSpPr>
          <p:cNvPr id="53" name="Text 47"/>
          <p:cNvSpPr/>
          <p:nvPr/>
        </p:nvSpPr>
        <p:spPr>
          <a:xfrm>
            <a:off x="9939528" y="2761488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제안·호명</a:t>
            </a:r>
            <a:endParaRPr lang="en-US" sz="1100" dirty="0"/>
          </a:p>
        </p:txBody>
      </p:sp>
      <p:sp>
        <p:nvSpPr>
          <p:cNvPr id="54" name="Shape 48"/>
          <p:cNvSpPr/>
          <p:nvPr/>
        </p:nvSpPr>
        <p:spPr>
          <a:xfrm>
            <a:off x="8842248" y="3200400"/>
            <a:ext cx="475488" cy="475488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6365" y="3314517"/>
            <a:ext cx="247254" cy="247254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330184" y="3712464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600" dirty="0"/>
          </a:p>
        </p:txBody>
      </p:sp>
      <p:sp>
        <p:nvSpPr>
          <p:cNvPr id="57" name="Text 50"/>
          <p:cNvSpPr/>
          <p:nvPr/>
        </p:nvSpPr>
        <p:spPr>
          <a:xfrm>
            <a:off x="8275320" y="4005072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Pod·DE 트랙</a:t>
            </a:r>
            <a:endParaRPr lang="en-US" sz="1100" dirty="0"/>
          </a:p>
        </p:txBody>
      </p:sp>
      <p:sp>
        <p:nvSpPr>
          <p:cNvPr id="58" name="Shape 51"/>
          <p:cNvSpPr/>
          <p:nvPr/>
        </p:nvSpPr>
        <p:spPr>
          <a:xfrm>
            <a:off x="10506456" y="3200400"/>
            <a:ext cx="475488" cy="475488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5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20573" y="3314517"/>
            <a:ext cx="247254" cy="247254"/>
          </a:xfrm>
          <a:prstGeom prst="rect">
            <a:avLst/>
          </a:prstGeom>
        </p:spPr>
      </p:pic>
      <p:sp>
        <p:nvSpPr>
          <p:cNvPr id="60" name="Text 52"/>
          <p:cNvSpPr/>
          <p:nvPr/>
        </p:nvSpPr>
        <p:spPr>
          <a:xfrm>
            <a:off x="9994392" y="3712464"/>
            <a:ext cx="14996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600" dirty="0"/>
          </a:p>
        </p:txBody>
      </p:sp>
      <p:sp>
        <p:nvSpPr>
          <p:cNvPr id="61" name="Text 53"/>
          <p:cNvSpPr/>
          <p:nvPr/>
        </p:nvSpPr>
        <p:spPr>
          <a:xfrm>
            <a:off x="9939528" y="4005072"/>
            <a:ext cx="16093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리뷰·PoA</a:t>
            </a:r>
            <a:endParaRPr lang="en-US" sz="1100" dirty="0"/>
          </a:p>
        </p:txBody>
      </p:sp>
      <p:sp>
        <p:nvSpPr>
          <p:cNvPr id="62" name="Shape 54"/>
          <p:cNvSpPr/>
          <p:nvPr/>
        </p:nvSpPr>
        <p:spPr>
          <a:xfrm>
            <a:off x="8695944" y="4828032"/>
            <a:ext cx="2468880" cy="0"/>
          </a:xfrm>
          <a:prstGeom prst="line">
            <a:avLst/>
          </a:prstGeom>
          <a:noFill/>
          <a:ln w="19050">
            <a:solidFill>
              <a:srgbClr val="02A878"/>
            </a:solidFill>
            <a:prstDash val="solid"/>
          </a:ln>
        </p:spPr>
      </p:sp>
      <p:sp>
        <p:nvSpPr>
          <p:cNvPr id="63" name="Shape 55"/>
          <p:cNvSpPr/>
          <p:nvPr/>
        </p:nvSpPr>
        <p:spPr>
          <a:xfrm>
            <a:off x="8631936" y="4764024"/>
            <a:ext cx="128016" cy="128016"/>
          </a:xfrm>
          <a:prstGeom prst="ellipse">
            <a:avLst/>
          </a:prstGeom>
          <a:solidFill>
            <a:srgbClr val="02A878"/>
          </a:solidFill>
          <a:ln/>
        </p:spPr>
      </p:sp>
      <p:sp>
        <p:nvSpPr>
          <p:cNvPr id="64" name="Text 56"/>
          <p:cNvSpPr/>
          <p:nvPr/>
        </p:nvSpPr>
        <p:spPr>
          <a:xfrm>
            <a:off x="8147304" y="495604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증명</a:t>
            </a:r>
            <a:endParaRPr lang="en-US" sz="1200" dirty="0"/>
          </a:p>
        </p:txBody>
      </p:sp>
      <p:sp>
        <p:nvSpPr>
          <p:cNvPr id="65" name="Shape 57"/>
          <p:cNvSpPr/>
          <p:nvPr/>
        </p:nvSpPr>
        <p:spPr>
          <a:xfrm>
            <a:off x="9866376" y="4764024"/>
            <a:ext cx="128016" cy="128016"/>
          </a:xfrm>
          <a:prstGeom prst="ellipse">
            <a:avLst/>
          </a:prstGeom>
          <a:solidFill>
            <a:srgbClr val="02A878"/>
          </a:solidFill>
          <a:ln/>
        </p:spPr>
      </p:sp>
      <p:sp>
        <p:nvSpPr>
          <p:cNvPr id="66" name="Text 58"/>
          <p:cNvSpPr/>
          <p:nvPr/>
        </p:nvSpPr>
        <p:spPr>
          <a:xfrm>
            <a:off x="9381744" y="495604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제도화</a:t>
            </a:r>
            <a:endParaRPr lang="en-US" sz="1200" dirty="0"/>
          </a:p>
        </p:txBody>
      </p:sp>
      <p:sp>
        <p:nvSpPr>
          <p:cNvPr id="67" name="Shape 59"/>
          <p:cNvSpPr/>
          <p:nvPr/>
        </p:nvSpPr>
        <p:spPr>
          <a:xfrm>
            <a:off x="11100816" y="4764024"/>
            <a:ext cx="128016" cy="128016"/>
          </a:xfrm>
          <a:prstGeom prst="ellipse">
            <a:avLst/>
          </a:prstGeom>
          <a:solidFill>
            <a:srgbClr val="02A878"/>
          </a:solidFill>
          <a:ln/>
        </p:spPr>
      </p:sp>
      <p:sp>
        <p:nvSpPr>
          <p:cNvPr id="68" name="Text 60"/>
          <p:cNvSpPr/>
          <p:nvPr/>
        </p:nvSpPr>
        <p:spPr>
          <a:xfrm>
            <a:off x="10616184" y="4956048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</a:t>
            </a:r>
            <a:endParaRPr lang="en-US" sz="12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표준화</a:t>
            </a:r>
            <a:endParaRPr lang="en-US" sz="1200" dirty="0"/>
          </a:p>
        </p:txBody>
      </p:sp>
      <p:sp>
        <p:nvSpPr>
          <p:cNvPr id="69" name="Text 61"/>
          <p:cNvSpPr/>
          <p:nvPr/>
        </p:nvSpPr>
        <p:spPr>
          <a:xfrm>
            <a:off x="457200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40건/년</a:t>
            </a:r>
            <a:endParaRPr lang="en-US" sz="2400" dirty="0"/>
          </a:p>
        </p:txBody>
      </p:sp>
      <p:sp>
        <p:nvSpPr>
          <p:cNvPr id="70" name="Text 62"/>
          <p:cNvSpPr/>
          <p:nvPr/>
        </p:nvSpPr>
        <p:spPr>
          <a:xfrm>
            <a:off x="457200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 (현재 ~0)</a:t>
            </a:r>
            <a:endParaRPr lang="en-US" sz="1200" dirty="0"/>
          </a:p>
        </p:txBody>
      </p:sp>
      <p:sp>
        <p:nvSpPr>
          <p:cNvPr id="71" name="Text 63"/>
          <p:cNvSpPr/>
          <p:nvPr/>
        </p:nvSpPr>
        <p:spPr>
          <a:xfrm>
            <a:off x="2715768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en-US" sz="2400" dirty="0"/>
          </a:p>
        </p:txBody>
      </p:sp>
      <p:sp>
        <p:nvSpPr>
          <p:cNvPr id="72" name="Text 64"/>
          <p:cNvSpPr/>
          <p:nvPr/>
        </p:nvSpPr>
        <p:spPr>
          <a:xfrm>
            <a:off x="2715768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로드맵 채택률</a:t>
            </a:r>
            <a:endParaRPr lang="en-US" sz="1200" dirty="0"/>
          </a:p>
        </p:txBody>
      </p:sp>
      <p:sp>
        <p:nvSpPr>
          <p:cNvPr id="73" name="Text 65"/>
          <p:cNvSpPr/>
          <p:nvPr/>
        </p:nvSpPr>
        <p:spPr>
          <a:xfrm>
            <a:off x="4974336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30%+</a:t>
            </a:r>
            <a:endParaRPr lang="en-US" sz="2400" dirty="0"/>
          </a:p>
        </p:txBody>
      </p:sp>
      <p:sp>
        <p:nvSpPr>
          <p:cNvPr id="74" name="Text 66"/>
          <p:cNvSpPr/>
          <p:nvPr/>
        </p:nvSpPr>
        <p:spPr>
          <a:xfrm>
            <a:off x="4974336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매출 비중</a:t>
            </a:r>
            <a:endParaRPr lang="en-US" sz="1200" dirty="0"/>
          </a:p>
        </p:txBody>
      </p:sp>
      <p:sp>
        <p:nvSpPr>
          <p:cNvPr id="75" name="Text 67"/>
          <p:cNvSpPr/>
          <p:nvPr/>
        </p:nvSpPr>
        <p:spPr>
          <a:xfrm>
            <a:off x="7232904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25%</a:t>
            </a:r>
            <a:endParaRPr lang="en-US" sz="2400" dirty="0"/>
          </a:p>
        </p:txBody>
      </p:sp>
      <p:sp>
        <p:nvSpPr>
          <p:cNvPr id="76" name="Text 68"/>
          <p:cNvSpPr/>
          <p:nvPr/>
        </p:nvSpPr>
        <p:spPr>
          <a:xfrm>
            <a:off x="7232904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직접 교류 시간</a:t>
            </a:r>
            <a:endParaRPr lang="en-US" sz="1200" dirty="0"/>
          </a:p>
        </p:txBody>
      </p:sp>
      <p:sp>
        <p:nvSpPr>
          <p:cNvPr id="77" name="Text 69"/>
          <p:cNvSpPr/>
          <p:nvPr/>
        </p:nvSpPr>
        <p:spPr>
          <a:xfrm>
            <a:off x="9491472" y="5687568"/>
            <a:ext cx="2167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5명+</a:t>
            </a:r>
            <a:endParaRPr lang="en-US" sz="2400" dirty="0"/>
          </a:p>
        </p:txBody>
      </p:sp>
      <p:sp>
        <p:nvSpPr>
          <p:cNvPr id="78" name="Text 70"/>
          <p:cNvSpPr/>
          <p:nvPr/>
        </p:nvSpPr>
        <p:spPr>
          <a:xfrm>
            <a:off x="9491472" y="6089904"/>
            <a:ext cx="2167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스타 영입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6F4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30352"/>
          </a:xfrm>
          <a:prstGeom prst="roundRect">
            <a:avLst>
              <a:gd name="adj" fmla="val 15517"/>
            </a:avLst>
          </a:prstGeom>
          <a:solidFill>
            <a:srgbClr val="E8F6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5477256" cy="2011680"/>
          </a:xfrm>
          <a:prstGeom prst="roundRect">
            <a:avLst>
              <a:gd name="adj" fmla="val 4091"/>
            </a:avLst>
          </a:prstGeom>
          <a:solidFill>
            <a:srgbClr val="EAF3FA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00784"/>
            <a:ext cx="329184" cy="329184"/>
          </a:xfrm>
          <a:prstGeom prst="ellipse">
            <a:avLst/>
          </a:prstGeom>
          <a:solidFill>
            <a:srgbClr val="0E6B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733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13232" y="2157984"/>
            <a:ext cx="1463040" cy="786384"/>
          </a:xfrm>
          <a:prstGeom prst="roundRect">
            <a:avLst>
              <a:gd name="adj" fmla="val 8140"/>
            </a:avLst>
          </a:prstGeom>
          <a:solidFill>
            <a:srgbClr val="C7D5D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2157984" y="2157984"/>
            <a:ext cx="274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414016" y="2157984"/>
            <a:ext cx="1463040" cy="786384"/>
          </a:xfrm>
          <a:prstGeom prst="roundRect">
            <a:avLst>
              <a:gd name="adj" fmla="val 8140"/>
            </a:avLst>
          </a:prstGeom>
          <a:solidFill>
            <a:srgbClr val="7FB3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58768" y="2157984"/>
            <a:ext cx="2743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E6BA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0" y="2157984"/>
            <a:ext cx="1463040" cy="786384"/>
          </a:xfrm>
          <a:prstGeom prst="roundRect">
            <a:avLst>
              <a:gd name="adj" fmla="val 8140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7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13232" y="3108960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정확한 납품 → 공동 기술 드라이브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54496" y="1554480"/>
            <a:ext cx="5477256" cy="2011680"/>
          </a:xfrm>
          <a:prstGeom prst="roundRect">
            <a:avLst>
              <a:gd name="adj" fmla="val 4091"/>
            </a:avLst>
          </a:prstGeom>
          <a:solidFill>
            <a:srgbClr val="E6F4F4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700784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733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139696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1396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139696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596896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5968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596896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3054096"/>
            <a:ext cx="155448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E6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305409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3054096"/>
            <a:ext cx="31089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730752"/>
            <a:ext cx="11274552" cy="1133856"/>
          </a:xfrm>
          <a:prstGeom prst="roundRect">
            <a:avLst>
              <a:gd name="adj" fmla="val 7258"/>
            </a:avLst>
          </a:prstGeom>
          <a:solidFill>
            <a:srgbClr val="E8F6F0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877056"/>
            <a:ext cx="329184" cy="329184"/>
          </a:xfrm>
          <a:prstGeom prst="ellipse">
            <a:avLst/>
          </a:prstGeom>
          <a:solidFill>
            <a:srgbClr val="02A87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849624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224528" y="3913632"/>
            <a:ext cx="420624" cy="420624"/>
          </a:xfrm>
          <a:prstGeom prst="ellipse">
            <a:avLst/>
          </a:prstGeom>
          <a:solidFill>
            <a:srgbClr val="0E6BA8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25478" y="4014582"/>
            <a:ext cx="218724" cy="218724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718304" y="38953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4718304" y="4169664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108192" y="3913632"/>
            <a:ext cx="420624" cy="420624"/>
          </a:xfrm>
          <a:prstGeom prst="ellipse">
            <a:avLst/>
          </a:prstGeom>
          <a:solidFill>
            <a:srgbClr val="028090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9142" y="4014582"/>
            <a:ext cx="218724" cy="218724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601968" y="38953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50" dirty="0"/>
          </a:p>
        </p:txBody>
      </p:sp>
      <p:sp>
        <p:nvSpPr>
          <p:cNvPr id="38" name="Text 34"/>
          <p:cNvSpPr/>
          <p:nvPr/>
        </p:nvSpPr>
        <p:spPr>
          <a:xfrm>
            <a:off x="6601968" y="4169664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 제안 KPI · 스타 호명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91856" y="3913632"/>
            <a:ext cx="420624" cy="420624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806" y="4014582"/>
            <a:ext cx="218724" cy="218724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85632" y="38953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50" dirty="0"/>
          </a:p>
        </p:txBody>
      </p:sp>
      <p:sp>
        <p:nvSpPr>
          <p:cNvPr id="42" name="Text 37"/>
          <p:cNvSpPr/>
          <p:nvPr/>
        </p:nvSpPr>
        <p:spPr>
          <a:xfrm>
            <a:off x="8485632" y="4169664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· DE 트랙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913632"/>
            <a:ext cx="420624" cy="420624"/>
          </a:xfrm>
          <a:prstGeom prst="ellipse">
            <a:avLst/>
          </a:prstGeom>
          <a:solidFill>
            <a:srgbClr val="4C7C9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76470" y="4014582"/>
            <a:ext cx="218724" cy="218724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69296" y="389534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50" dirty="0"/>
          </a:p>
        </p:txBody>
      </p:sp>
      <p:sp>
        <p:nvSpPr>
          <p:cNvPr id="46" name="Text 40"/>
          <p:cNvSpPr/>
          <p:nvPr/>
        </p:nvSpPr>
        <p:spPr>
          <a:xfrm>
            <a:off x="10369296" y="4169664"/>
            <a:ext cx="1426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 내재화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1463040" y="5431536"/>
            <a:ext cx="926287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1380744" y="534924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9" name="Text 43"/>
          <p:cNvSpPr/>
          <p:nvPr/>
        </p:nvSpPr>
        <p:spPr>
          <a:xfrm>
            <a:off x="45720" y="5047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· 증명</a:t>
            </a:r>
            <a:endParaRPr lang="en-US" sz="1500" dirty="0"/>
          </a:p>
        </p:txBody>
      </p:sp>
      <p:sp>
        <p:nvSpPr>
          <p:cNvPr id="50" name="Text 44"/>
          <p:cNvSpPr/>
          <p:nvPr/>
        </p:nvSpPr>
        <p:spPr>
          <a:xfrm>
            <a:off x="-137160" y="5596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Co-Design Pod 1호 · 시스템 모델 v0.1</a:t>
            </a:r>
            <a:endParaRPr lang="en-US" sz="1150" dirty="0"/>
          </a:p>
        </p:txBody>
      </p:sp>
      <p:sp>
        <p:nvSpPr>
          <p:cNvPr id="51" name="Shape 45"/>
          <p:cNvSpPr/>
          <p:nvPr/>
        </p:nvSpPr>
        <p:spPr>
          <a:xfrm>
            <a:off x="6016752" y="534924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2" name="Text 46"/>
          <p:cNvSpPr/>
          <p:nvPr/>
        </p:nvSpPr>
        <p:spPr>
          <a:xfrm>
            <a:off x="4681728" y="5047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· 제도화</a:t>
            </a:r>
            <a:endParaRPr lang="en-US" sz="1500" dirty="0"/>
          </a:p>
        </p:txBody>
      </p:sp>
      <p:sp>
        <p:nvSpPr>
          <p:cNvPr id="53" name="Text 47"/>
          <p:cNvSpPr/>
          <p:nvPr/>
        </p:nvSpPr>
        <p:spPr>
          <a:xfrm>
            <a:off x="4498848" y="5596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3~5개 · SCA형 계약 1건</a:t>
            </a:r>
            <a:endParaRPr lang="en-US" sz="1150" dirty="0"/>
          </a:p>
        </p:txBody>
      </p:sp>
      <p:sp>
        <p:nvSpPr>
          <p:cNvPr id="54" name="Shape 48"/>
          <p:cNvSpPr/>
          <p:nvPr/>
        </p:nvSpPr>
        <p:spPr>
          <a:xfrm>
            <a:off x="10643616" y="5349240"/>
            <a:ext cx="164592" cy="164592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5" name="Text 49"/>
          <p:cNvSpPr/>
          <p:nvPr/>
        </p:nvSpPr>
        <p:spPr>
          <a:xfrm>
            <a:off x="9308592" y="50474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· 표준화</a:t>
            </a:r>
            <a:endParaRPr lang="en-US" sz="1500" dirty="0"/>
          </a:p>
        </p:txBody>
      </p:sp>
      <p:sp>
        <p:nvSpPr>
          <p:cNvPr id="56" name="Text 50"/>
          <p:cNvSpPr/>
          <p:nvPr/>
        </p:nvSpPr>
        <p:spPr>
          <a:xfrm>
            <a:off x="9125712" y="55961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플랫폼 · 커스텀 매출 30%+</a:t>
            </a:r>
            <a:endParaRPr lang="en-US" sz="1150" dirty="0"/>
          </a:p>
        </p:txBody>
      </p:sp>
      <p:sp>
        <p:nvSpPr>
          <p:cNvPr id="57" name="Text 51"/>
          <p:cNvSpPr/>
          <p:nvPr/>
        </p:nvSpPr>
        <p:spPr>
          <a:xfrm>
            <a:off x="457200" y="605332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 16건 · 최소 계약매출 $100B · 예치금 $22B — Micron IR (2026-06)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692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8F6F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14400" y="987552"/>
            <a:ext cx="10360152" cy="932688"/>
          </a:xfrm>
          <a:prstGeom prst="roundRect">
            <a:avLst>
              <a:gd name="adj" fmla="val 9804"/>
            </a:avLst>
          </a:prstGeom>
          <a:solidFill>
            <a:srgbClr val="E8F6F0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078992"/>
            <a:ext cx="99943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97280" y="1554480"/>
            <a:ext cx="9994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신문섭 파트너, AI 인프라 슈퍼사이클 인터뷰 (2026-06)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011680" y="2286000"/>
            <a:ext cx="3200400" cy="1773936"/>
          </a:xfrm>
          <a:prstGeom prst="roundRect">
            <a:avLst>
              <a:gd name="adj" fmla="val 5155"/>
            </a:avLst>
          </a:prstGeom>
          <a:solidFill>
            <a:srgbClr val="F3F6F8"/>
          </a:solidFill>
          <a:ln w="15875">
            <a:solidFill>
              <a:srgbClr val="D9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64992" y="2487168"/>
            <a:ext cx="493776" cy="493776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3498" y="2605674"/>
            <a:ext cx="256764" cy="2567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2103120" y="30540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수주 이행자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2103120" y="34747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 · RFQ 응답 · QCD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349240" y="2761488"/>
            <a:ext cx="1463040" cy="822960"/>
          </a:xfrm>
          <a:prstGeom prst="rightArrow">
            <a:avLst/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 → SCA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949440" y="2286000"/>
            <a:ext cx="3200400" cy="1773936"/>
          </a:xfrm>
          <a:prstGeom prst="roundRect">
            <a:avLst>
              <a:gd name="adj" fmla="val 5155"/>
            </a:avLst>
          </a:prstGeom>
          <a:solidFill>
            <a:srgbClr val="E8F6F0"/>
          </a:solidFill>
          <a:ln w="19050">
            <a:solidFill>
              <a:srgbClr val="02A87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02752" y="2487168"/>
            <a:ext cx="493776" cy="493776"/>
          </a:xfrm>
          <a:prstGeom prst="ellipse">
            <a:avLst/>
          </a:prstGeom>
          <a:solidFill>
            <a:srgbClr val="02A87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21258" y="2605674"/>
            <a:ext cx="256764" cy="25676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040880" y="30540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A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파트너</a:t>
            </a:r>
            <a:endParaRPr lang="en-US" sz="2200" dirty="0"/>
          </a:p>
        </p:txBody>
      </p:sp>
      <p:sp>
        <p:nvSpPr>
          <p:cNvPr id="19" name="Text 15"/>
          <p:cNvSpPr/>
          <p:nvPr/>
        </p:nvSpPr>
        <p:spPr>
          <a:xfrm>
            <a:off x="6949440" y="3474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 공동 정의 · 선제 제안 · 시스템 모델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2468880" y="4901184"/>
            <a:ext cx="7251192" cy="0"/>
          </a:xfrm>
          <a:prstGeom prst="line">
            <a:avLst/>
          </a:prstGeom>
          <a:noFill/>
          <a:ln w="25400">
            <a:solidFill>
              <a:srgbClr val="02A87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2377440" y="4809744"/>
            <a:ext cx="182880" cy="182880"/>
          </a:xfrm>
          <a:prstGeom prst="ellipse">
            <a:avLst/>
          </a:prstGeom>
          <a:solidFill>
            <a:srgbClr val="02A878"/>
          </a:solidFill>
          <a:ln/>
        </p:spPr>
      </p:sp>
      <p:sp>
        <p:nvSpPr>
          <p:cNvPr id="22" name="Text 18"/>
          <p:cNvSpPr/>
          <p:nvPr/>
        </p:nvSpPr>
        <p:spPr>
          <a:xfrm>
            <a:off x="1188720" y="4480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증명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1097280" y="50840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1호 · 모델 v0.1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007608" y="4809744"/>
            <a:ext cx="182880" cy="182880"/>
          </a:xfrm>
          <a:prstGeom prst="ellipse">
            <a:avLst/>
          </a:prstGeom>
          <a:solidFill>
            <a:srgbClr val="02A878"/>
          </a:solidFill>
          <a:ln/>
        </p:spPr>
      </p:sp>
      <p:sp>
        <p:nvSpPr>
          <p:cNvPr id="25" name="Text 21"/>
          <p:cNvSpPr/>
          <p:nvPr/>
        </p:nvSpPr>
        <p:spPr>
          <a:xfrm>
            <a:off x="4818888" y="4480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제도화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4727448" y="50840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Pod 3~5 · SCA 1건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9628632" y="4809744"/>
            <a:ext cx="182880" cy="182880"/>
          </a:xfrm>
          <a:prstGeom prst="ellipse">
            <a:avLst/>
          </a:prstGeom>
          <a:solidFill>
            <a:srgbClr val="02A878"/>
          </a:solidFill>
          <a:ln/>
        </p:spPr>
      </p:sp>
      <p:sp>
        <p:nvSpPr>
          <p:cNvPr id="28" name="Text 24"/>
          <p:cNvSpPr/>
          <p:nvPr/>
        </p:nvSpPr>
        <p:spPr>
          <a:xfrm>
            <a:off x="8439912" y="4480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3년 표준화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348472" y="50840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· 커스텀 30%+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57200" y="5650992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$100B</a:t>
            </a:r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SCA 최소 계약매출 — 공동설계 없이는 참여할 수 없는 시장 (Micron IR, 2026-06)</a:t>
            </a:r>
            <a:endParaRPr lang="en-US" sz="3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2026-07-24T01:01:51Z</dcterms:created>
  <dcterms:modified xsi:type="dcterms:W3CDTF">2026-07-24T01:01:51Z</dcterms:modified>
</cp:coreProperties>
</file>