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1장입니다. 지난 다운턴에서 HBM을 늦게 읽은 대가로 삼성의 HBM 점유율은 2022년 40퍼센트에서 2025년 2분기 17퍼센트로 내려왔고, SK하이닉스는 50에서 62퍼센트로 올랐습니다. 고객 수요를 읽어야 한다는 교훈입니다. Bain의 신문섭 파트너는 여기서 한 걸음 더 나아가, 고객의 아키텍처 안으로 들어가 수요를 함께 설계하는 기업이 승부를 가져갈 것이라고 했습니다. 2023년 다운턴에서도 같은 일이 있었습니다. 낙폭이 가장 깊었던 SK그룹의 Solidigm은 61테라바이트 QLC를 삼성보다 12개월 먼저 내놓았고, 2024년 eSSD 수요 급증의 최대 수혜를 입어 흑자로 돌아섰습니다. 지금 고객의 니즈는 분명합니다. SK하이닉스는 PCIe eSSD 수요가 2026년 509엑사바이트에서 2030년 1,933엑사바이트로 약 3.8배 늘어난다고 봅니다. 동시에 Azure의 범용 클라우드에서 스토리지는 운영 탄소 배출의 33퍼센트를 차지합니다. 고객은 더 많은 데이터를, 더 낮은 TB당 비용과 전력으로 저장하길 원합니다. 그러나 현실은 반대였습니다. 6개 업체 226개 등급의 정격 DWPD 중앙값은 2014년까지 9.6, 2018년까지 2, 그 뒤로는 1입니다. 고객은 더 많이 쓰고 싶어 하는데 SSD가 견디는 쓰기는 줄어 왔습니다. 그래서 고객 니즈를 읽고 고객과 함께 수요를 만드는 체질, 곧 기술과 역량과 고객 관계를 바꿔야 다음 다운턴에 대비할 수 있습니다. 신문섭 파트너의 발언에 다운턴이라는 표현은 없고, 다운턴과의 연결은 2023년 사례로 받쳤습니다.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2장입니다. DWPD가 내려온 이유부터 보겠습니다. 셀이 견디는 쓰기, 곧 P/E는 SLC 3만에서 10만 회에서 QLC 약 1천 회로 약 100배 줄었습니다. DWPD는 P/E 곱하기 1 더하기 OP를, 일수 곱하기 WAF로 나눈 값입니다. P/E가 줄었으니 WAF를 낮춰야 하는데, SSD 혼자서는 이 값을 낮추지 못했습니다. 4킬로바이트 랜덤 쓰기로 드라이브를 가득 채운 실측에서 SSD 혼자 낸 WAF는 1.89에서 4.40이었습니다. 우리 PM9A3도 4.20입니다. 게다가 고밀도 QLC는 매핑 단위를 16킬로바이트 이상으로 키워, 4킬로바이트 쓰기 정격이 16킬로바이트 정격의 4분의 1입니다. 반대 근거도 있습니다. Micron은 실제 애플리케이션에서 매핑 단위 증폭이 5퍼센트 미만이라고 주장하고, 쓰기가 편중된 워크로드에서는 SSD 안의 GC 개선만으로도 WAF가 크게 줄어듭니다. 그러나 WAF를 1 가까이 낮춘 공개 결과는 모두 고객 호스트가 데이터 수명을 알려 줄 때 나왔습니다. Meta CacheLib에 삼성 엔지니어가 FDP를 넣자 WAF가 3.22에서 1.03이 됐습니다. 삼성 PM9D3a에서 FDP 분류를 최적화하자 WAF가 30퍼센트, p99.9 테일 지연이 55퍼센트 줄었고, ZNS를 쓴 RocksDB는 p99.9 읽기 지연이 2에서 4배 낮았습니다. 다만 이 지연 실측은 모두 TLC이고, QLC에서의 실측은 아직 없습니다. 이것이 고객과 함께 할 첫 검증 과제입니다. Google, Alibaba, AWS 같은 주요 데이터센터 기업은 이미 SSD를 직접 설계해 자기 시스템과 맞추고 있습니다. 우리는 지금까지 이 협력에 적극적이지 않았습니다. 이제 이것을 전략으로 바꿔야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 사업적으로 임팩트가 가장 큰 부분입니다. 2030년 eSSD 수요는 전망에 따라 1,078에서 1,933엑사바이트입니다. QLC 비중을 38에서 50퍼센트로 보면 TLC는 약 540에서 1,200엑사바이트이고, eSSD의 75에서 91퍼센트가 1 DWPD 이하라는 조사를 적용하면 약 400에서 1,140엑사바이트가 1 DWPD 이하의 TLC입니다. 이 가운데 쓰기 대역이나 꼬리 지연 때문에 TLC를 고른 몫을 빼야 하는데, 이 비율을 정량화한 자료는 없습니다. 30에서 70퍼센트로 가정하면 QLC가 들어갈 수 있는 시장은 약 120에서 800엑사바이트이고, 50퍼센트면 약 200에서 570엑사바이트입니다. 내구는 넘습니다. Microsoft와 NetApp 플릿의 실사용은 0.07에서 0.36 DWPD입니다. QLC는 지금 WAF 2 수준에서 약 0.29 DWPD이지만, 고객과 함께 WAF를 1로 낮추면 0.59에서 0.70 DWPD까지 올라 실사용을 덮습니다. 원가는 같은 세대에서 우위입니다. 30테라바이트급에서 QLC 가격은 TLC의 약 80퍼센트이고, 같은 세대 다이의 비트 밀도는 약 1.25배입니다. 웨이퍼 원가가 같다고 보면 웨이퍼당 매출총이익은 0에서 16퍼센트 높습니다. 남은 문은 성능입니다. 같은 세대 데이터시트로 보면 QLC의 읽기 지연은 TLC의 1.7에서 1.8배, 랜덤 쓰기 대역은 3분의 1에서 2.3분의 1입니다. 이 꼬리 지연을 고객 시스템과 함께 숨기는 것이 핵심입니다. 반대 근거도 말씀드립니다. Meta는 QLC가 아직 넓게 배치할 만큼 가격 경쟁력이 없다고 했고, Micron은 TLC로 QLC 가격대 제품을 냈으며, SanDisk는 2030년에도 TLC가 주력이라고 봅니다. 그래서 원가 우위는 최신 세대 QLC에서만 확실합니다. 같은 기술은 TLC에도 효과가 있습니다. 같은 NAND로 3 DWPD 제품은 3.2테라바이트, 1 DWPD 제품은 3.84테라바이트를 팝니다. WAF를 낮춰 OP를 28에서 7퍼센트로 줄이면 판매 용량이 약 20퍼센트 늘어납니다. 다만 데이터 수명이 갈리는 워크로드에서만 효과가 있습니다. 또 pSLC에서 WAF를 3에서 1로 낮추면 7에서 21 DWPD가 되어, 새로 열리는 초고DWPD 시장에 들어갈 기술 기반이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 실행입니다. 고객 협력을 이끌어 내고 실행하는 방식은 기존 전략과 같습니다. 첫째, 계약입니다. 지금의 Multi-Year Deal 위에 공동 설계와 최적화, 운영 통합을 쌓습니다. Micron은 Anthropic과의 전략적 계약에서 다년 공급 위에 공동 설계를 묶었습니다. 둘째, 사람입니다. Palantir의 FDE처럼 고객 AI 데이터센터 안에 상주하며 세 가지를 합니다. 고객 워크로드의 쓰기 크기와 데이터 수명을 재고, 호스트 소프트웨어와 SSD를 함께 최적화해 WAF와 p99.9 지연으로 평가하고, 그 결과를 차세대 제품 사양과 RFQ로 굳힙니다. 셋째, 역량입니다. NAND와 SSD 펌웨어는 강점이고, 비어 있는 곳은 그 위의 KV 캐시 소프트웨어, 커널과 I/O, 데이터센터 운영입니다. 엔지니어 수준의 고객 관계까지 넓혀야 합니다. 시점은 둘로 나눕니다. 공급이 부족한 2026년과 2027년에는 QLC가 비싸 전환을 설득하기 어렵습니다. 이때 고객과 함께 QLC의 FDP 꼬리 지연을 실측해 레퍼런스를 만듭니다. 공급이 풀리는 2028년 전후에 TLC 시장의 QLC 전환을 본격화하고 TCO 기반 장기 계약과 묶습니다. 성과는 NAND 생산자원당 공헌이익으로 봅니다. 공급이 제약될 때는 웨이퍼가 병목이기 때문입니다. 여기에 QLC 전환율, WAF, p99.9 지연을 함께 봅니다. 고객과 함께 수요를 만드는 체질이 다음 다운턴을 버티는 힘입니다.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별첨 1은 시장과 경제성 데이터입니다. 첫째, 수요는 SK하이닉스 기준 PCIe eSSD가 2026년 509에서 2030년 1,933엑사바이트, McKinsey 기준 eSSD가 2024년 181에서 2030년 1,078엑사바이트입니다. TrendForce는 eSSD 용량 중 QLC가 2026년 18퍼센트에서 2027년 38퍼센트로 오른다고 봅니다. 둘째, Forward Insights 조사를 업체들이 재인용한 값으로, 출하나 배치의 75에서 91퍼센트가 1 DWPD 이하입니다. 다만 91퍼센트는 QLC 업체가 인용했고, Solidigm은 85퍼센트가 1 DWPD 이상이라는 다른 인용을 써서 충돌이 있습니다. 실사용은 Microsoft 플릿 0.07에서 0.23, NetApp 중앙값 0.36 DWPD입니다. 셋째, 전환 가능 시장은 1 DWPD 이하 TLC에 전환율을 곱한 과제팀 산술입니다. 전환율을 정량화한 자료가 없어 30, 50, 70퍼센트로 민감도를 보였습니다. 2030년 50퍼센트 가정이면 약 200에서 570엑사바이트입니다. 넷째, 30테라바이트 드라이브 가격은 2026년 2분기 TLC 약 1만 8,900달러, QLC 약 1만 5,120달러입니다. 같은 BiCS8 세대 다이 밀도는 TLC 18.3, QLC 22.9로 약 1.25배이고, BiCS10 QLC는 37입니다. 반대 근거로 Meta, Micron, SanDisk의 견해를 함께 적었습니다.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별첨 2는 기술 근거입니다. 첫째, 같은 세대 데이터시트로 보면 QLC의 읽기 지연은 TLC의 약 1.7에서 1.8배이고, 랜덤 쓰기 대역은 3분의 1에서 2.3분의 1입니다. 프로그램 시간도 QLC가 2에서 3밀리초로 깁니다. 매핑 단위 때문에 4킬로바이트 쓰기 정격은 16킬로바이트 정격의 4분의 1입니다. 둘째, SSD 혼자 낸 WAF는 1.89에서 4.40이고, 쓰기가 편중된 경우 GC 개선만으로 5.90에서 2.06까지 내려갑니다. 호스트가 수명을 알려 주는 CacheLib FDP는 3.22에서 1.03입니다. 테일 지연은 PM9D3a FDP에서 p99.9가 55퍼센트, ZNS에서 2에서 4배, Valet에서 최대 6배 줄었습니다. 모두 TLC 실측입니다. 반대로 FDP는 적대적 부하에서 4.49배 나빠질 수 있고, GC가 테일 지연의 주원인이 아니라는 연구도 있습니다. 셋째, 균일 랜덤 모델로 OP 7퍼센트의 WAF는 7.82, 28퍼센트는 2.48입니다. 같은 NAND로 1 DWPD 제품은 3 DWPD 제품보다 약 20퍼센트 더 많은 용량을 팝니다. 호스트 협력 없이 OP만 줄이면 수명이 60퍼센트 줄고, pSLC에서는 WAF를 3에서 1로 낮추면 7에서 21 DWPD가 됩니다. 아직 확보하지 못한 데이터는 QLC에서의 FDP 전후 지연 실측, 하이퍼스케일러의 TLC에서 QLC 전환 수치, QLC와 TLC 계약가, 그리고 사내 원가입니다.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고객과 함께 WAF를 낮춰, TLC 시장을 QLC로</a:t>
            </a:r>
            <a:r>
              <a:rPr sz="1800" b="0">
                <a:solidFill>
                  <a:srgbClr val="555555"/>
                </a:solidFill>
                <a:latin typeface="Arial"/>
                <a:ea typeface="Arial"/>
              </a:rPr>
              <a:t>   1 / 6  배경</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고객은 더 많은 데이터를 더 낮은 TCO로 저장하길 원하지만,</a:t>
            </a:r>
          </a:p>
          <a:p>
            <a:pPr algn="l">
              <a:lnSpc>
                <a:spcPct val="105000"/>
              </a:lnSpc>
            </a:pPr>
            <a:r>
              <a:rPr sz="3200" b="1">
                <a:solidFill>
                  <a:srgbClr val="1A1A1A"/>
                </a:solidFill>
                <a:latin typeface="Arial"/>
                <a:ea typeface="Arial"/>
              </a:rPr>
              <a:t>정격 DWPD는 계속 내려왔습니다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53542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교훈: 수요를 함께 만든다</a:t>
            </a:r>
          </a:p>
        </p:txBody>
      </p:sp>
      <p:sp>
        <p:nvSpPr>
          <p:cNvPr id="9" name="Rounded Rectangle 8"/>
          <p:cNvSpPr/>
          <p:nvPr/>
        </p:nvSpPr>
        <p:spPr>
          <a:xfrm>
            <a:off x="722376" y="2743200"/>
            <a:ext cx="5120640" cy="5669279"/>
          </a:xfrm>
          <a:prstGeom prst="roundRect">
            <a:avLst>
              <a:gd name="adj" fmla="val 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834640"/>
            <a:ext cx="4681727"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HBM 점유율, 수요를 늦게 읽은 대가</a:t>
            </a:r>
          </a:p>
        </p:txBody>
      </p:sp>
      <p:cxnSp>
        <p:nvCxnSpPr>
          <p:cNvPr id="11" name="Connector 10"/>
          <p:cNvCxnSpPr/>
          <p:nvPr/>
        </p:nvCxnSpPr>
        <p:spPr>
          <a:xfrm flipV="1">
            <a:off x="1819656" y="3439806"/>
            <a:ext cx="1371600" cy="259357"/>
          </a:xfrm>
          <a:prstGeom prst="line">
            <a:avLst/>
          </a:prstGeom>
          <a:ln w="38100">
            <a:solidFill>
              <a:srgbClr val="8A8A8A"/>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755648" y="3635155"/>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127248" y="3375798"/>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8136" y="3452275"/>
            <a:ext cx="621792" cy="310896"/>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50%</a:t>
            </a:r>
          </a:p>
        </p:txBody>
      </p:sp>
      <p:sp>
        <p:nvSpPr>
          <p:cNvPr id="15" name="TextBox 14"/>
          <p:cNvSpPr txBox="1"/>
          <p:nvPr/>
        </p:nvSpPr>
        <p:spPr>
          <a:xfrm>
            <a:off x="3300984" y="3284358"/>
            <a:ext cx="640080" cy="310896"/>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62%</a:t>
            </a:r>
          </a:p>
        </p:txBody>
      </p:sp>
      <p:pic>
        <p:nvPicPr>
          <p:cNvPr id="16" name="Picture 15" descr="sk-hynix.png"/>
          <p:cNvPicPr>
            <a:picLocks noChangeAspect="1"/>
          </p:cNvPicPr>
          <p:nvPr/>
        </p:nvPicPr>
        <p:blipFill>
          <a:blip r:embed="rId2"/>
          <a:stretch>
            <a:fillRect/>
          </a:stretch>
        </p:blipFill>
        <p:spPr>
          <a:xfrm>
            <a:off x="3959352" y="3320934"/>
            <a:ext cx="452374" cy="237744"/>
          </a:xfrm>
          <a:prstGeom prst="rect">
            <a:avLst/>
          </a:prstGeom>
        </p:spPr>
      </p:pic>
      <p:cxnSp>
        <p:nvCxnSpPr>
          <p:cNvPr id="17" name="Connector 16"/>
          <p:cNvCxnSpPr/>
          <p:nvPr/>
        </p:nvCxnSpPr>
        <p:spPr>
          <a:xfrm>
            <a:off x="1819656" y="3915294"/>
            <a:ext cx="1371600" cy="497101"/>
          </a:xfrm>
          <a:prstGeom prst="line">
            <a:avLst/>
          </a:prstGeom>
          <a:ln w="38100">
            <a:solidFill>
              <a:srgbClr val="1428A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755648" y="3851286"/>
            <a:ext cx="128016" cy="12801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127248" y="4348387"/>
            <a:ext cx="128016" cy="12801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 y="3851286"/>
            <a:ext cx="621792" cy="310896"/>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40%</a:t>
            </a:r>
          </a:p>
        </p:txBody>
      </p:sp>
      <p:sp>
        <p:nvSpPr>
          <p:cNvPr id="21" name="TextBox 20"/>
          <p:cNvSpPr txBox="1"/>
          <p:nvPr/>
        </p:nvSpPr>
        <p:spPr>
          <a:xfrm>
            <a:off x="3300984" y="4256947"/>
            <a:ext cx="640080" cy="310896"/>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17%</a:t>
            </a:r>
          </a:p>
        </p:txBody>
      </p:sp>
      <p:pic>
        <p:nvPicPr>
          <p:cNvPr id="22" name="Picture 21" descr="samsung.png"/>
          <p:cNvPicPr>
            <a:picLocks noChangeAspect="1"/>
          </p:cNvPicPr>
          <p:nvPr/>
        </p:nvPicPr>
        <p:blipFill>
          <a:blip r:embed="rId3"/>
          <a:stretch>
            <a:fillRect/>
          </a:stretch>
        </p:blipFill>
        <p:spPr>
          <a:xfrm>
            <a:off x="3959352" y="4341846"/>
            <a:ext cx="914400" cy="141099"/>
          </a:xfrm>
          <a:prstGeom prst="rect">
            <a:avLst/>
          </a:prstGeom>
        </p:spPr>
      </p:pic>
      <p:sp>
        <p:nvSpPr>
          <p:cNvPr id="23" name="TextBox 22"/>
          <p:cNvSpPr txBox="1"/>
          <p:nvPr/>
        </p:nvSpPr>
        <p:spPr>
          <a:xfrm>
            <a:off x="1408176" y="4553712"/>
            <a:ext cx="82296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2022</a:t>
            </a:r>
          </a:p>
        </p:txBody>
      </p:sp>
      <p:sp>
        <p:nvSpPr>
          <p:cNvPr id="24" name="TextBox 23"/>
          <p:cNvSpPr txBox="1"/>
          <p:nvPr/>
        </p:nvSpPr>
        <p:spPr>
          <a:xfrm>
            <a:off x="2779776" y="4553712"/>
            <a:ext cx="82296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2Q25</a:t>
            </a:r>
          </a:p>
        </p:txBody>
      </p:sp>
      <p:sp>
        <p:nvSpPr>
          <p:cNvPr id="25" name="Rectangle 24"/>
          <p:cNvSpPr/>
          <p:nvPr/>
        </p:nvSpPr>
        <p:spPr>
          <a:xfrm>
            <a:off x="941832" y="5029200"/>
            <a:ext cx="54864" cy="15544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4712" y="5010912"/>
            <a:ext cx="4480559" cy="1188720"/>
          </a:xfrm>
          <a:prstGeom prst="rect">
            <a:avLst/>
          </a:prstGeom>
          <a:noFill/>
        </p:spPr>
        <p:txBody>
          <a:bodyPr wrap="square" anchor="t" lIns="0" rIns="0" tIns="0" bIns="0">
            <a:spAutoFit/>
          </a:bodyPr>
          <a:lstStyle/>
          <a:p>
            <a:pPr algn="l">
              <a:lnSpc>
                <a:spcPct val="108000"/>
              </a:lnSpc>
            </a:pPr>
            <a:r>
              <a:rPr sz="2000" b="1">
                <a:solidFill>
                  <a:srgbClr val="1A1A1A"/>
                </a:solidFill>
                <a:latin typeface="Arial"/>
                <a:ea typeface="Arial"/>
              </a:rPr>
              <a:t>“고객의 아키텍처 안으로 들어가</a:t>
            </a:r>
          </a:p>
          <a:p>
            <a:pPr algn="l">
              <a:lnSpc>
                <a:spcPct val="108000"/>
              </a:lnSpc>
            </a:pPr>
            <a:r>
              <a:rPr sz="2000" b="1">
                <a:solidFill>
                  <a:srgbClr val="1A1A1A"/>
                </a:solidFill>
                <a:latin typeface="Arial"/>
                <a:ea typeface="Arial"/>
              </a:rPr>
              <a:t>수요를 함께 설계하는 기업이</a:t>
            </a:r>
          </a:p>
          <a:p>
            <a:pPr algn="l">
              <a:lnSpc>
                <a:spcPct val="108000"/>
              </a:lnSpc>
            </a:pPr>
            <a:r>
              <a:rPr sz="2000" b="1">
                <a:solidFill>
                  <a:srgbClr val="1428A0"/>
                </a:solidFill>
                <a:latin typeface="Arial"/>
                <a:ea typeface="Arial"/>
              </a:rPr>
              <a:t>승부를 가져갈 것이다”</a:t>
            </a:r>
          </a:p>
        </p:txBody>
      </p:sp>
      <p:sp>
        <p:nvSpPr>
          <p:cNvPr id="27" name="TextBox 26"/>
          <p:cNvSpPr txBox="1"/>
          <p:nvPr/>
        </p:nvSpPr>
        <p:spPr>
          <a:xfrm>
            <a:off x="1124712" y="6217920"/>
            <a:ext cx="4480559"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신문섭 파트너 · Bain &amp; Company, 2026-06</a:t>
            </a:r>
          </a:p>
        </p:txBody>
      </p:sp>
      <p:sp>
        <p:nvSpPr>
          <p:cNvPr id="28" name="TextBox 27"/>
          <p:cNvSpPr txBox="1"/>
          <p:nvPr/>
        </p:nvSpPr>
        <p:spPr>
          <a:xfrm>
            <a:off x="941832" y="6821424"/>
            <a:ext cx="4681727"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2023 다운턴: 니즈 적중이 회복을 갈랐다</a:t>
            </a:r>
          </a:p>
        </p:txBody>
      </p:sp>
      <p:sp>
        <p:nvSpPr>
          <p:cNvPr id="29" name="Rounded Rectangle 28"/>
          <p:cNvSpPr/>
          <p:nvPr/>
        </p:nvSpPr>
        <p:spPr>
          <a:xfrm>
            <a:off x="941832" y="7278624"/>
            <a:ext cx="1406144" cy="365760"/>
          </a:xfrm>
          <a:prstGeom prst="roundRect">
            <a:avLst>
              <a:gd name="adj" fmla="val 20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7278624"/>
            <a:ext cx="1406144"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Solidigm</a:t>
            </a:r>
          </a:p>
        </p:txBody>
      </p:sp>
      <p:sp>
        <p:nvSpPr>
          <p:cNvPr id="31" name="Rounded Rectangle 30"/>
          <p:cNvSpPr/>
          <p:nvPr/>
        </p:nvSpPr>
        <p:spPr>
          <a:xfrm>
            <a:off x="2441448" y="7260336"/>
            <a:ext cx="1463040" cy="402336"/>
          </a:xfrm>
          <a:prstGeom prst="roundRect">
            <a:avLst>
              <a:gd name="adj" fmla="val 18181"/>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96312" y="7260336"/>
            <a:ext cx="1353312" cy="402336"/>
          </a:xfrm>
          <a:prstGeom prst="rect">
            <a:avLst/>
          </a:prstGeom>
          <a:noFill/>
        </p:spPr>
        <p:txBody>
          <a:bodyPr wrap="square" anchor="ctr" lIns="0" rIns="0" tIns="0" bIns="0">
            <a:spAutoFit/>
          </a:bodyPr>
          <a:lstStyle/>
          <a:p>
            <a:pPr algn="ctr">
              <a:lnSpc>
                <a:spcPct val="110000"/>
              </a:lnSpc>
            </a:pPr>
            <a:r>
              <a:rPr sz="1500" b="1">
                <a:solidFill>
                  <a:srgbClr val="1A1A1A"/>
                </a:solidFill>
                <a:latin typeface="Arial"/>
                <a:ea typeface="Arial"/>
              </a:rPr>
              <a:t>61TB QLC 선행</a:t>
            </a:r>
          </a:p>
        </p:txBody>
      </p:sp>
      <p:sp>
        <p:nvSpPr>
          <p:cNvPr id="33" name="Right Arrow 32"/>
          <p:cNvSpPr/>
          <p:nvPr/>
        </p:nvSpPr>
        <p:spPr>
          <a:xfrm>
            <a:off x="3922775" y="7370064"/>
            <a:ext cx="91440" cy="18288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032504" y="7260336"/>
            <a:ext cx="1591056" cy="402336"/>
          </a:xfrm>
          <a:prstGeom prst="roundRect">
            <a:avLst>
              <a:gd name="adj" fmla="val 18181"/>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87368" y="7260336"/>
            <a:ext cx="1481328" cy="402336"/>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2024 흑자 전환</a:t>
            </a:r>
          </a:p>
        </p:txBody>
      </p:sp>
      <p:sp>
        <p:nvSpPr>
          <p:cNvPr id="36" name="TextBox 35"/>
          <p:cNvSpPr txBox="1"/>
          <p:nvPr/>
        </p:nvSpPr>
        <p:spPr>
          <a:xfrm>
            <a:off x="941832" y="7754112"/>
            <a:ext cx="4681727"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낙폭이 가장 깊었던 SK그룹 안에서 일어난 반등</a:t>
            </a:r>
          </a:p>
        </p:txBody>
      </p:sp>
      <p:sp>
        <p:nvSpPr>
          <p:cNvPr id="37" name="Chevron 36"/>
          <p:cNvSpPr/>
          <p:nvPr/>
        </p:nvSpPr>
        <p:spPr>
          <a:xfrm>
            <a:off x="5861304" y="512064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02589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2589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40" name="TextBox 39"/>
          <p:cNvSpPr txBox="1"/>
          <p:nvPr/>
        </p:nvSpPr>
        <p:spPr>
          <a:xfrm>
            <a:off x="6611112" y="2103120"/>
            <a:ext cx="416966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니즈: 더 많이, 더 싸게</a:t>
            </a:r>
          </a:p>
        </p:txBody>
      </p:sp>
      <p:sp>
        <p:nvSpPr>
          <p:cNvPr id="41" name="TextBox 40"/>
          <p:cNvSpPr txBox="1"/>
          <p:nvPr/>
        </p:nvSpPr>
        <p:spPr>
          <a:xfrm>
            <a:off x="6025896" y="2798064"/>
            <a:ext cx="475488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PCIe eSSD 수요 </a:t>
            </a:r>
            <a:r>
              <a:rPr sz="1600" b="0">
                <a:solidFill>
                  <a:srgbClr val="555555"/>
                </a:solidFill>
                <a:latin typeface="Arial"/>
                <a:ea typeface="Arial"/>
              </a:rPr>
              <a:t>EB/년</a:t>
            </a:r>
          </a:p>
        </p:txBody>
      </p:sp>
      <p:sp>
        <p:nvSpPr>
          <p:cNvPr id="42" name="Rectangle 41"/>
          <p:cNvSpPr/>
          <p:nvPr/>
        </p:nvSpPr>
        <p:spPr>
          <a:xfrm>
            <a:off x="6665976" y="5067327"/>
            <a:ext cx="1097280" cy="60195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91656" y="4646703"/>
            <a:ext cx="1645920" cy="384048"/>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509</a:t>
            </a:r>
          </a:p>
        </p:txBody>
      </p:sp>
      <p:sp>
        <p:nvSpPr>
          <p:cNvPr id="44" name="TextBox 43"/>
          <p:cNvSpPr txBox="1"/>
          <p:nvPr/>
        </p:nvSpPr>
        <p:spPr>
          <a:xfrm>
            <a:off x="6391656" y="5724144"/>
            <a:ext cx="1645920" cy="292608"/>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2026</a:t>
            </a:r>
          </a:p>
        </p:txBody>
      </p:sp>
      <p:sp>
        <p:nvSpPr>
          <p:cNvPr id="45" name="Rectangle 44"/>
          <p:cNvSpPr/>
          <p:nvPr/>
        </p:nvSpPr>
        <p:spPr>
          <a:xfrm>
            <a:off x="8586216" y="3383280"/>
            <a:ext cx="1097280" cy="22860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11896" y="2962656"/>
            <a:ext cx="1645920" cy="384048"/>
          </a:xfrm>
          <a:prstGeom prst="rect">
            <a:avLst/>
          </a:prstGeom>
          <a:noFill/>
        </p:spPr>
        <p:txBody>
          <a:bodyPr wrap="square" anchor="ctr" lIns="0" rIns="0" tIns="0" bIns="0">
            <a:spAutoFit/>
          </a:bodyPr>
          <a:lstStyle/>
          <a:p>
            <a:pPr algn="ctr">
              <a:lnSpc>
                <a:spcPct val="110000"/>
              </a:lnSpc>
            </a:pPr>
            <a:r>
              <a:rPr sz="2400" b="1">
                <a:solidFill>
                  <a:srgbClr val="1428A0"/>
                </a:solidFill>
                <a:latin typeface="Arial"/>
                <a:ea typeface="Arial"/>
              </a:rPr>
              <a:t>1,933</a:t>
            </a:r>
          </a:p>
        </p:txBody>
      </p:sp>
      <p:sp>
        <p:nvSpPr>
          <p:cNvPr id="47" name="TextBox 46"/>
          <p:cNvSpPr txBox="1"/>
          <p:nvPr/>
        </p:nvSpPr>
        <p:spPr>
          <a:xfrm>
            <a:off x="8311896" y="5724144"/>
            <a:ext cx="1645920" cy="292608"/>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2030</a:t>
            </a:r>
          </a:p>
        </p:txBody>
      </p:sp>
      <p:sp>
        <p:nvSpPr>
          <p:cNvPr id="48" name="TextBox 47"/>
          <p:cNvSpPr txBox="1"/>
          <p:nvPr/>
        </p:nvSpPr>
        <p:spPr>
          <a:xfrm>
            <a:off x="6483096" y="3931920"/>
            <a:ext cx="1463040" cy="457200"/>
          </a:xfrm>
          <a:prstGeom prst="rect">
            <a:avLst/>
          </a:prstGeom>
          <a:noFill/>
        </p:spPr>
        <p:txBody>
          <a:bodyPr wrap="square" anchor="ctr" lIns="0" rIns="0" tIns="0" bIns="0">
            <a:spAutoFit/>
          </a:bodyPr>
          <a:lstStyle/>
          <a:p>
            <a:pPr algn="ctr">
              <a:lnSpc>
                <a:spcPct val="110000"/>
              </a:lnSpc>
            </a:pPr>
            <a:r>
              <a:rPr sz="2600" b="1">
                <a:solidFill>
                  <a:srgbClr val="1428A0"/>
                </a:solidFill>
                <a:latin typeface="Arial"/>
                <a:ea typeface="Arial"/>
              </a:rPr>
              <a:t>×3.8</a:t>
            </a:r>
          </a:p>
        </p:txBody>
      </p:sp>
      <p:sp>
        <p:nvSpPr>
          <p:cNvPr id="49" name="Rectangle 48"/>
          <p:cNvSpPr/>
          <p:nvPr/>
        </p:nvSpPr>
        <p:spPr>
          <a:xfrm>
            <a:off x="6025896" y="6327648"/>
            <a:ext cx="475488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25896" y="6455664"/>
            <a:ext cx="475488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스토리지가 차지하는 비중</a:t>
            </a:r>
          </a:p>
        </p:txBody>
      </p:sp>
      <p:sp>
        <p:nvSpPr>
          <p:cNvPr id="51" name="TextBox 50"/>
          <p:cNvSpPr txBox="1"/>
          <p:nvPr/>
        </p:nvSpPr>
        <p:spPr>
          <a:xfrm>
            <a:off x="6025896" y="6784848"/>
            <a:ext cx="4754880" cy="731520"/>
          </a:xfrm>
          <a:prstGeom prst="rect">
            <a:avLst/>
          </a:prstGeom>
          <a:noFill/>
        </p:spPr>
        <p:txBody>
          <a:bodyPr wrap="square" anchor="ctr" lIns="0" rIns="0" tIns="0" bIns="0">
            <a:spAutoFit/>
          </a:bodyPr>
          <a:lstStyle/>
          <a:p>
            <a:pPr algn="l">
              <a:lnSpc>
                <a:spcPct val="110000"/>
              </a:lnSpc>
            </a:pPr>
            <a:r>
              <a:rPr sz="2600" b="1">
                <a:solidFill>
                  <a:srgbClr val="1428A0"/>
                </a:solidFill>
                <a:latin typeface="Arial"/>
                <a:ea typeface="Arial"/>
              </a:rPr>
              <a:t/>
            </a:r>
            <a:r>
              <a:rPr sz="4800" b="1">
                <a:solidFill>
                  <a:srgbClr val="1428A0"/>
                </a:solidFill>
                <a:latin typeface="Arial"/>
                <a:ea typeface="Arial"/>
              </a:rPr>
              <a:t>33</a:t>
            </a:r>
            <a:r>
              <a:rPr sz="2600" b="1">
                <a:solidFill>
                  <a:srgbClr val="1428A0"/>
                </a:solidFill>
                <a:latin typeface="Arial"/>
                <a:ea typeface="Arial"/>
              </a:rPr>
              <a:t>%</a:t>
            </a:r>
          </a:p>
        </p:txBody>
      </p:sp>
      <p:sp>
        <p:nvSpPr>
          <p:cNvPr id="52" name="TextBox 51"/>
          <p:cNvSpPr txBox="1"/>
          <p:nvPr/>
        </p:nvSpPr>
        <p:spPr>
          <a:xfrm>
            <a:off x="6025896" y="7498079"/>
            <a:ext cx="4754880" cy="329184"/>
          </a:xfrm>
          <a:prstGeom prst="rect">
            <a:avLst/>
          </a:prstGeom>
          <a:noFill/>
        </p:spPr>
        <p:txBody>
          <a:bodyPr wrap="square" anchor="t" lIns="0" rIns="0" tIns="0" bIns="0">
            <a:spAutoFit/>
          </a:bodyPr>
          <a:lstStyle/>
          <a:p>
            <a:pPr algn="l">
              <a:lnSpc>
                <a:spcPct val="110000"/>
              </a:lnSpc>
            </a:pPr>
            <a:r>
              <a:rPr sz="1800" b="0">
                <a:solidFill>
                  <a:srgbClr val="555555"/>
                </a:solidFill>
                <a:latin typeface="Arial"/>
                <a:ea typeface="Arial"/>
              </a:rPr>
              <a:t>범용 클라우드 운영 탄소 배출 중 (Azure)</a:t>
            </a:r>
          </a:p>
        </p:txBody>
      </p:sp>
      <p:sp>
        <p:nvSpPr>
          <p:cNvPr id="53" name="TextBox 52"/>
          <p:cNvSpPr txBox="1"/>
          <p:nvPr/>
        </p:nvSpPr>
        <p:spPr>
          <a:xfrm>
            <a:off x="6025896" y="7918704"/>
            <a:ext cx="4754880" cy="36576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더 많이, 더 낮은 비용 · 전력으로</a:t>
            </a:r>
          </a:p>
        </p:txBody>
      </p:sp>
      <p:sp>
        <p:nvSpPr>
          <p:cNvPr id="54" name="Chevron 53"/>
          <p:cNvSpPr/>
          <p:nvPr/>
        </p:nvSpPr>
        <p:spPr>
          <a:xfrm>
            <a:off x="10799063" y="512064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963655"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963655"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57" name="TextBox 56"/>
          <p:cNvSpPr txBox="1"/>
          <p:nvPr/>
        </p:nvSpPr>
        <p:spPr>
          <a:xfrm>
            <a:off x="11548872" y="2103120"/>
            <a:ext cx="6016752"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현실: 정격 DWPD는 하락</a:t>
            </a:r>
          </a:p>
        </p:txBody>
      </p:sp>
      <p:sp>
        <p:nvSpPr>
          <p:cNvPr id="58" name="TextBox 57"/>
          <p:cNvSpPr txBox="1"/>
          <p:nvPr/>
        </p:nvSpPr>
        <p:spPr>
          <a:xfrm>
            <a:off x="10963655" y="2798064"/>
            <a:ext cx="6601968"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출시 SSD 정격 DWPD  </a:t>
            </a:r>
            <a:r>
              <a:rPr sz="1600" b="0">
                <a:solidFill>
                  <a:srgbClr val="555555"/>
                </a:solidFill>
                <a:latin typeface="Arial"/>
                <a:ea typeface="Arial"/>
              </a:rPr>
              <a:t>● 삼성  ● 타사 대표 제품  ○ QLC</a:t>
            </a:r>
          </a:p>
        </p:txBody>
      </p:sp>
      <p:sp>
        <p:nvSpPr>
          <p:cNvPr id="59" name="Rectangle 58"/>
          <p:cNvSpPr/>
          <p:nvPr/>
        </p:nvSpPr>
        <p:spPr>
          <a:xfrm>
            <a:off x="11530583" y="7675473"/>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63655" y="7543800"/>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0</a:t>
            </a:r>
          </a:p>
        </p:txBody>
      </p:sp>
      <p:sp>
        <p:nvSpPr>
          <p:cNvPr id="61" name="Rectangle 60"/>
          <p:cNvSpPr/>
          <p:nvPr/>
        </p:nvSpPr>
        <p:spPr>
          <a:xfrm>
            <a:off x="11530583" y="6815937"/>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63655" y="6684264"/>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2</a:t>
            </a:r>
          </a:p>
        </p:txBody>
      </p:sp>
      <p:sp>
        <p:nvSpPr>
          <p:cNvPr id="63" name="Rectangle 62"/>
          <p:cNvSpPr/>
          <p:nvPr/>
        </p:nvSpPr>
        <p:spPr>
          <a:xfrm>
            <a:off x="11530583" y="5956401"/>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963655" y="5824728"/>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a:t>
            </a:r>
          </a:p>
        </p:txBody>
      </p:sp>
      <p:sp>
        <p:nvSpPr>
          <p:cNvPr id="65" name="Rectangle 64"/>
          <p:cNvSpPr/>
          <p:nvPr/>
        </p:nvSpPr>
        <p:spPr>
          <a:xfrm>
            <a:off x="11530583" y="5096865"/>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963655" y="4965192"/>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6</a:t>
            </a:r>
          </a:p>
        </p:txBody>
      </p:sp>
      <p:sp>
        <p:nvSpPr>
          <p:cNvPr id="67" name="Rectangle 66"/>
          <p:cNvSpPr/>
          <p:nvPr/>
        </p:nvSpPr>
        <p:spPr>
          <a:xfrm>
            <a:off x="11530583" y="4237329"/>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963655" y="4105656"/>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8</a:t>
            </a:r>
          </a:p>
        </p:txBody>
      </p:sp>
      <p:sp>
        <p:nvSpPr>
          <p:cNvPr id="69" name="Rectangle 68"/>
          <p:cNvSpPr/>
          <p:nvPr/>
        </p:nvSpPr>
        <p:spPr>
          <a:xfrm>
            <a:off x="11530583" y="3377793"/>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963655" y="3246120"/>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10</a:t>
            </a:r>
          </a:p>
        </p:txBody>
      </p:sp>
      <p:sp>
        <p:nvSpPr>
          <p:cNvPr id="71" name="TextBox 70"/>
          <p:cNvSpPr txBox="1"/>
          <p:nvPr/>
        </p:nvSpPr>
        <p:spPr>
          <a:xfrm>
            <a:off x="11381570" y="7717536"/>
            <a:ext cx="73152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2011</a:t>
            </a:r>
          </a:p>
        </p:txBody>
      </p:sp>
      <p:sp>
        <p:nvSpPr>
          <p:cNvPr id="72" name="TextBox 71"/>
          <p:cNvSpPr txBox="1"/>
          <p:nvPr/>
        </p:nvSpPr>
        <p:spPr>
          <a:xfrm>
            <a:off x="13187792" y="7717536"/>
            <a:ext cx="73152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2016</a:t>
            </a:r>
          </a:p>
        </p:txBody>
      </p:sp>
      <p:sp>
        <p:nvSpPr>
          <p:cNvPr id="73" name="TextBox 72"/>
          <p:cNvSpPr txBox="1"/>
          <p:nvPr/>
        </p:nvSpPr>
        <p:spPr>
          <a:xfrm>
            <a:off x="14994015" y="7717536"/>
            <a:ext cx="73152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2021</a:t>
            </a:r>
          </a:p>
        </p:txBody>
      </p:sp>
      <p:sp>
        <p:nvSpPr>
          <p:cNvPr id="74" name="TextBox 73"/>
          <p:cNvSpPr txBox="1"/>
          <p:nvPr/>
        </p:nvSpPr>
        <p:spPr>
          <a:xfrm>
            <a:off x="16800237" y="7717536"/>
            <a:ext cx="73152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2026</a:t>
            </a:r>
          </a:p>
        </p:txBody>
      </p:sp>
      <p:sp>
        <p:nvSpPr>
          <p:cNvPr id="75" name="Oval 74"/>
          <p:cNvSpPr/>
          <p:nvPr/>
        </p:nvSpPr>
        <p:spPr>
          <a:xfrm>
            <a:off x="12053711"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2776199"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3859933" y="6379768"/>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4943666"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5666155"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6388644"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4221177" y="7540142"/>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5304911" y="7449891"/>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6027400" y="7376830"/>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2414955"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3498688" y="547725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4582422"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5304911"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6027400"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6749888"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6749888" y="7497165"/>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053711"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3859933"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4943666"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5666155"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6749888"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6749888" y="7497165"/>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4582422"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4943666"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1692466"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3859933"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4943666"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6388644"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6749888" y="7475677"/>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2053711" y="3328416"/>
            <a:ext cx="109728" cy="10972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2776199" y="3328416"/>
            <a:ext cx="109728" cy="10972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3137444" y="5477256"/>
            <a:ext cx="109728" cy="10972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3859933" y="5477256"/>
            <a:ext cx="109728" cy="10972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4582422" y="6336792"/>
            <a:ext cx="109728" cy="10972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15666155" y="6336792"/>
            <a:ext cx="109728" cy="10972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16388644" y="6336792"/>
            <a:ext cx="109728" cy="10972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4943666" y="7548737"/>
            <a:ext cx="109728" cy="109728"/>
          </a:xfrm>
          <a:prstGeom prst="ellipse">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6388644" y="7514356"/>
            <a:ext cx="109728" cy="109728"/>
          </a:xfrm>
          <a:prstGeom prst="ellipse">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30583" y="3527755"/>
            <a:ext cx="1658111" cy="548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810999" y="3628339"/>
            <a:ext cx="1097280" cy="365760"/>
          </a:xfrm>
          <a:prstGeom prst="rect">
            <a:avLst/>
          </a:prstGeom>
          <a:noFill/>
        </p:spPr>
        <p:txBody>
          <a:bodyPr wrap="square" anchor="ctr" lIns="0" rIns="0" tIns="0" bIns="0">
            <a:spAutoFit/>
          </a:bodyPr>
          <a:lstStyle/>
          <a:p>
            <a:pPr algn="ctr">
              <a:lnSpc>
                <a:spcPct val="110000"/>
              </a:lnSpc>
            </a:pPr>
            <a:r>
              <a:rPr sz="2400" b="1">
                <a:solidFill>
                  <a:srgbClr val="1428A0"/>
                </a:solidFill>
                <a:latin typeface="Arial"/>
                <a:ea typeface="Arial"/>
              </a:rPr>
              <a:t>9.6</a:t>
            </a:r>
          </a:p>
        </p:txBody>
      </p:sp>
      <p:sp>
        <p:nvSpPr>
          <p:cNvPr id="115" name="Rectangle 114"/>
          <p:cNvSpPr/>
          <p:nvPr/>
        </p:nvSpPr>
        <p:spPr>
          <a:xfrm>
            <a:off x="13192308" y="6793992"/>
            <a:ext cx="1441365" cy="548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3164876" y="3555187"/>
            <a:ext cx="54864" cy="326623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3364351" y="6894576"/>
            <a:ext cx="1097280" cy="365760"/>
          </a:xfrm>
          <a:prstGeom prst="rect">
            <a:avLst/>
          </a:prstGeom>
          <a:noFill/>
        </p:spPr>
        <p:txBody>
          <a:bodyPr wrap="square" anchor="ctr" lIns="0" rIns="0" tIns="0" bIns="0">
            <a:spAutoFit/>
          </a:bodyPr>
          <a:lstStyle/>
          <a:p>
            <a:pPr algn="ctr">
              <a:lnSpc>
                <a:spcPct val="110000"/>
              </a:lnSpc>
            </a:pPr>
            <a:r>
              <a:rPr sz="2400" b="1">
                <a:solidFill>
                  <a:srgbClr val="1428A0"/>
                </a:solidFill>
                <a:latin typeface="Arial"/>
                <a:ea typeface="Arial"/>
              </a:rPr>
              <a:t>2</a:t>
            </a:r>
          </a:p>
        </p:txBody>
      </p:sp>
      <p:sp>
        <p:nvSpPr>
          <p:cNvPr id="118" name="Rectangle 117"/>
          <p:cNvSpPr/>
          <p:nvPr/>
        </p:nvSpPr>
        <p:spPr>
          <a:xfrm>
            <a:off x="14637286" y="7223760"/>
            <a:ext cx="2709333" cy="548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4609854" y="6821424"/>
            <a:ext cx="54864" cy="42976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5443312" y="6793992"/>
            <a:ext cx="1097280" cy="365760"/>
          </a:xfrm>
          <a:prstGeom prst="rect">
            <a:avLst/>
          </a:prstGeom>
          <a:noFill/>
        </p:spPr>
        <p:txBody>
          <a:bodyPr wrap="square" anchor="ctr" lIns="0" rIns="0" tIns="0" bIns="0">
            <a:spAutoFit/>
          </a:bodyPr>
          <a:lstStyle/>
          <a:p>
            <a:pPr algn="ctr">
              <a:lnSpc>
                <a:spcPct val="110000"/>
              </a:lnSpc>
            </a:pPr>
            <a:r>
              <a:rPr sz="2400" b="1">
                <a:solidFill>
                  <a:srgbClr val="1428A0"/>
                </a:solidFill>
                <a:latin typeface="Arial"/>
                <a:ea typeface="Arial"/>
              </a:rPr>
              <a:t>1</a:t>
            </a:r>
          </a:p>
        </p:txBody>
      </p:sp>
      <p:sp>
        <p:nvSpPr>
          <p:cNvPr id="121" name="TextBox 120"/>
          <p:cNvSpPr txBox="1"/>
          <p:nvPr/>
        </p:nvSpPr>
        <p:spPr>
          <a:xfrm>
            <a:off x="14709535" y="5704027"/>
            <a:ext cx="2637084" cy="548640"/>
          </a:xfrm>
          <a:prstGeom prst="rect">
            <a:avLst/>
          </a:prstGeom>
          <a:noFill/>
        </p:spPr>
        <p:txBody>
          <a:bodyPr wrap="square" anchor="t" lIns="0" rIns="0" tIns="0" bIns="0">
            <a:spAutoFit/>
          </a:bodyPr>
          <a:lstStyle/>
          <a:p>
            <a:pPr algn="ctr">
              <a:lnSpc>
                <a:spcPct val="100000"/>
              </a:lnSpc>
            </a:pPr>
            <a:r>
              <a:rPr sz="1600" b="1">
                <a:solidFill>
                  <a:srgbClr val="1428A0"/>
                </a:solidFill>
                <a:latin typeface="Arial"/>
                <a:ea typeface="Arial"/>
              </a:rPr>
              <a:t>전체 제품 중앙값</a:t>
            </a:r>
          </a:p>
          <a:p>
            <a:pPr algn="ctr">
              <a:lnSpc>
                <a:spcPct val="100000"/>
              </a:lnSpc>
            </a:pPr>
            <a:r>
              <a:rPr sz="1500" b="0">
                <a:solidFill>
                  <a:srgbClr val="555555"/>
                </a:solidFill>
                <a:latin typeface="Arial"/>
                <a:ea typeface="Arial"/>
              </a:rPr>
              <a:t>226개 등급, 특수 제외</a:t>
            </a:r>
          </a:p>
        </p:txBody>
      </p:sp>
      <p:sp>
        <p:nvSpPr>
          <p:cNvPr id="122" name="Rectangle 121"/>
          <p:cNvSpPr/>
          <p:nvPr/>
        </p:nvSpPr>
        <p:spPr>
          <a:xfrm>
            <a:off x="722376" y="8631936"/>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명제</a:t>
            </a:r>
          </a:p>
        </p:txBody>
      </p:sp>
      <p:sp>
        <p:nvSpPr>
          <p:cNvPr id="124" name="TextBox 123"/>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300" b="1">
                <a:solidFill>
                  <a:srgbClr val="FFFFFF"/>
                </a:solidFill>
                <a:latin typeface="Arial"/>
                <a:ea typeface="Arial"/>
              </a:rPr>
              <a:t>고객 니즈를 읽고 함께 수요를 만드는 체질로 바꿔야 다음 다운턴에 대비할 수 있습니다</a:t>
            </a:r>
          </a:p>
        </p:txBody>
      </p:sp>
      <p:sp>
        <p:nvSpPr>
          <p:cNvPr id="125" name="TextBox 124"/>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HBM 과제팀 집계 · 신문섭 인터뷰(2026-06-18) · Solidigm D5-P5336(2023-07) · PCIe eSSD SK hynix(TSMC OIP 2026-09) · Azure 배출(HotCarbon'24) · 정격 DWPD 원장(6개 업체 226개 등급, 5년 보증 환산, 10 초과 제외) · 일부 수치 검색 확인</a:t>
            </a:r>
          </a:p>
        </p:txBody>
      </p:sp>
      <p:sp>
        <p:nvSpPr>
          <p:cNvPr id="126" name="TextBox 125"/>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고객과 함께 WAF를 낮춰, TLC 시장을 QLC로</a:t>
            </a:r>
            <a:r>
              <a:rPr sz="1800" b="0">
                <a:solidFill>
                  <a:srgbClr val="555555"/>
                </a:solidFill>
                <a:latin typeface="Arial"/>
                <a:ea typeface="Arial"/>
              </a:rPr>
              <a:t>   2 / 6  원인 · 해법</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P/E는 100배 줄었는데 WAF는 SSD 혼자 낮추지 못했고,</a:t>
            </a:r>
          </a:p>
          <a:p>
            <a:pPr algn="l">
              <a:lnSpc>
                <a:spcPct val="105000"/>
              </a:lnSpc>
            </a:pPr>
            <a:r>
              <a:rPr sz="3200" b="1">
                <a:solidFill>
                  <a:srgbClr val="1A1A1A"/>
                </a:solidFill>
                <a:latin typeface="Arial"/>
                <a:ea typeface="Arial"/>
              </a:rPr>
              <a:t>고객 시스템과 함께 설계해야 1에 가까워집니다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70957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원인: SSD 혼자의 한계</a:t>
            </a:r>
          </a:p>
        </p:txBody>
      </p:sp>
      <p:sp>
        <p:nvSpPr>
          <p:cNvPr id="9" name="TextBox 8"/>
          <p:cNvSpPr txBox="1"/>
          <p:nvPr/>
        </p:nvSpPr>
        <p:spPr>
          <a:xfrm>
            <a:off x="722376" y="2779776"/>
            <a:ext cx="76809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셀이 견디는 쓰기 (P/E)  </a:t>
            </a:r>
            <a:r>
              <a:rPr sz="1600" b="0">
                <a:solidFill>
                  <a:srgbClr val="555555"/>
                </a:solidFill>
                <a:latin typeface="Arial"/>
                <a:ea typeface="Arial"/>
              </a:rPr>
              <a:t>로그 축</a:t>
            </a:r>
          </a:p>
        </p:txBody>
      </p:sp>
      <p:sp>
        <p:nvSpPr>
          <p:cNvPr id="10" name="Rectangle 9"/>
          <p:cNvSpPr/>
          <p:nvPr/>
        </p:nvSpPr>
        <p:spPr>
          <a:xfrm>
            <a:off x="2174877" y="3163824"/>
            <a:ext cx="9144" cy="17007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13689" y="4864608"/>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100</a:t>
            </a:r>
          </a:p>
        </p:txBody>
      </p:sp>
      <p:sp>
        <p:nvSpPr>
          <p:cNvPr id="12" name="Rectangle 11"/>
          <p:cNvSpPr/>
          <p:nvPr/>
        </p:nvSpPr>
        <p:spPr>
          <a:xfrm>
            <a:off x="3673841" y="3163824"/>
            <a:ext cx="9144" cy="17007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2653" y="4864608"/>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1천</a:t>
            </a:r>
          </a:p>
        </p:txBody>
      </p:sp>
      <p:sp>
        <p:nvSpPr>
          <p:cNvPr id="14" name="Rectangle 13"/>
          <p:cNvSpPr/>
          <p:nvPr/>
        </p:nvSpPr>
        <p:spPr>
          <a:xfrm>
            <a:off x="5172805" y="3163824"/>
            <a:ext cx="9144" cy="17007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11617" y="4864608"/>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1만</a:t>
            </a:r>
          </a:p>
        </p:txBody>
      </p:sp>
      <p:sp>
        <p:nvSpPr>
          <p:cNvPr id="16" name="Rectangle 15"/>
          <p:cNvSpPr/>
          <p:nvPr/>
        </p:nvSpPr>
        <p:spPr>
          <a:xfrm>
            <a:off x="6671769" y="3163824"/>
            <a:ext cx="9144" cy="17007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0581" y="4864608"/>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10만</a:t>
            </a:r>
          </a:p>
        </p:txBody>
      </p:sp>
      <p:sp>
        <p:nvSpPr>
          <p:cNvPr id="18" name="TextBox 17"/>
          <p:cNvSpPr txBox="1"/>
          <p:nvPr/>
        </p:nvSpPr>
        <p:spPr>
          <a:xfrm>
            <a:off x="722376" y="3200400"/>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SLC</a:t>
            </a:r>
          </a:p>
        </p:txBody>
      </p:sp>
      <p:sp>
        <p:nvSpPr>
          <p:cNvPr id="19" name="Rectangle 18"/>
          <p:cNvSpPr/>
          <p:nvPr/>
        </p:nvSpPr>
        <p:spPr>
          <a:xfrm>
            <a:off x="1728216" y="3273552"/>
            <a:ext cx="4164349"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92565" y="3273552"/>
            <a:ext cx="783776"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49493" y="3200400"/>
            <a:ext cx="1463040"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3만~10만</a:t>
            </a:r>
          </a:p>
        </p:txBody>
      </p:sp>
      <p:sp>
        <p:nvSpPr>
          <p:cNvPr id="22" name="TextBox 21"/>
          <p:cNvSpPr txBox="1"/>
          <p:nvPr/>
        </p:nvSpPr>
        <p:spPr>
          <a:xfrm>
            <a:off x="722376" y="3611880"/>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MLC</a:t>
            </a:r>
          </a:p>
        </p:txBody>
      </p:sp>
      <p:sp>
        <p:nvSpPr>
          <p:cNvPr id="23" name="Rectangle 22"/>
          <p:cNvSpPr/>
          <p:nvPr/>
        </p:nvSpPr>
        <p:spPr>
          <a:xfrm>
            <a:off x="1728216" y="3685032"/>
            <a:ext cx="2665384"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3600" y="3685032"/>
            <a:ext cx="783776"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529" y="3611880"/>
            <a:ext cx="1463040"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3천~1만</a:t>
            </a:r>
          </a:p>
        </p:txBody>
      </p:sp>
      <p:sp>
        <p:nvSpPr>
          <p:cNvPr id="26" name="TextBox 25"/>
          <p:cNvSpPr txBox="1"/>
          <p:nvPr/>
        </p:nvSpPr>
        <p:spPr>
          <a:xfrm>
            <a:off x="722376" y="4023360"/>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TLC</a:t>
            </a:r>
          </a:p>
        </p:txBody>
      </p:sp>
      <p:sp>
        <p:nvSpPr>
          <p:cNvPr id="27" name="Rectangle 26"/>
          <p:cNvSpPr/>
          <p:nvPr/>
        </p:nvSpPr>
        <p:spPr>
          <a:xfrm>
            <a:off x="1728216" y="4096512"/>
            <a:ext cx="1804932"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33148" y="4096512"/>
            <a:ext cx="860452"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6752" y="4023360"/>
            <a:ext cx="1463040"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800~3천</a:t>
            </a:r>
          </a:p>
        </p:txBody>
      </p:sp>
      <p:sp>
        <p:nvSpPr>
          <p:cNvPr id="30" name="TextBox 29"/>
          <p:cNvSpPr txBox="1"/>
          <p:nvPr/>
        </p:nvSpPr>
        <p:spPr>
          <a:xfrm>
            <a:off x="722376" y="4434840"/>
            <a:ext cx="914400" cy="329184"/>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QLC</a:t>
            </a:r>
          </a:p>
        </p:txBody>
      </p:sp>
      <p:sp>
        <p:nvSpPr>
          <p:cNvPr id="31" name="Rectangle 30"/>
          <p:cNvSpPr/>
          <p:nvPr/>
        </p:nvSpPr>
        <p:spPr>
          <a:xfrm>
            <a:off x="1728216" y="4507992"/>
            <a:ext cx="451233"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179449" y="4507992"/>
            <a:ext cx="1498964"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51565" y="4434840"/>
            <a:ext cx="1463040" cy="329184"/>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100~1천</a:t>
            </a:r>
          </a:p>
        </p:txBody>
      </p:sp>
      <p:sp>
        <p:nvSpPr>
          <p:cNvPr id="34" name="TextBox 33"/>
          <p:cNvSpPr txBox="1"/>
          <p:nvPr/>
        </p:nvSpPr>
        <p:spPr>
          <a:xfrm>
            <a:off x="6986016" y="2779776"/>
            <a:ext cx="1417320" cy="329184"/>
          </a:xfrm>
          <a:prstGeom prst="rect">
            <a:avLst/>
          </a:prstGeom>
          <a:noFill/>
        </p:spPr>
        <p:txBody>
          <a:bodyPr wrap="square" anchor="ctr" lIns="0" rIns="0" tIns="0" bIns="0">
            <a:spAutoFit/>
          </a:bodyPr>
          <a:lstStyle/>
          <a:p>
            <a:pPr algn="r">
              <a:lnSpc>
                <a:spcPct val="110000"/>
              </a:lnSpc>
            </a:pPr>
            <a:r>
              <a:rPr sz="2000" b="1">
                <a:solidFill>
                  <a:srgbClr val="1428A0"/>
                </a:solidFill>
                <a:latin typeface="Arial"/>
                <a:ea typeface="Arial"/>
              </a:rPr>
              <a:t>약 100배 ↓</a:t>
            </a:r>
          </a:p>
        </p:txBody>
      </p:sp>
      <p:sp>
        <p:nvSpPr>
          <p:cNvPr id="35" name="Rectangle 34"/>
          <p:cNvSpPr/>
          <p:nvPr/>
        </p:nvSpPr>
        <p:spPr>
          <a:xfrm>
            <a:off x="722376" y="5285232"/>
            <a:ext cx="76809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2376" y="5394960"/>
            <a:ext cx="76809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SSD 혼자 낸 WAF  </a:t>
            </a:r>
            <a:r>
              <a:rPr sz="1600" b="0">
                <a:solidFill>
                  <a:srgbClr val="555555"/>
                </a:solidFill>
                <a:latin typeface="Arial"/>
                <a:ea typeface="Arial"/>
              </a:rPr>
              <a:t>4KB 랜덤 쓰기, 100% 채움 실측</a:t>
            </a:r>
          </a:p>
        </p:txBody>
      </p:sp>
      <p:sp>
        <p:nvSpPr>
          <p:cNvPr id="37" name="TextBox 36"/>
          <p:cNvSpPr txBox="1"/>
          <p:nvPr/>
        </p:nvSpPr>
        <p:spPr>
          <a:xfrm>
            <a:off x="722376" y="5815584"/>
            <a:ext cx="2377440" cy="347472"/>
          </a:xfrm>
          <a:prstGeom prst="rect">
            <a:avLst/>
          </a:prstGeom>
          <a:noFill/>
        </p:spPr>
        <p:txBody>
          <a:bodyPr wrap="square" anchor="ctr" lIns="0" rIns="0" tIns="0" bIns="0">
            <a:spAutoFit/>
          </a:bodyPr>
          <a:lstStyle/>
          <a:p>
            <a:pPr algn="l">
              <a:lnSpc>
                <a:spcPct val="110000"/>
              </a:lnSpc>
            </a:pPr>
            <a:r>
              <a:rPr sz="1800" b="0">
                <a:solidFill>
                  <a:srgbClr val="1A1A1A"/>
                </a:solidFill>
                <a:latin typeface="Arial"/>
                <a:ea typeface="Arial"/>
              </a:rPr>
              <a:t>Kioxia CM7-R</a:t>
            </a:r>
          </a:p>
        </p:txBody>
      </p:sp>
      <p:sp>
        <p:nvSpPr>
          <p:cNvPr id="38" name="Rectangle 37"/>
          <p:cNvSpPr/>
          <p:nvPr/>
        </p:nvSpPr>
        <p:spPr>
          <a:xfrm>
            <a:off x="3191256" y="5879592"/>
            <a:ext cx="4285753"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50161" y="5815584"/>
            <a:ext cx="731520"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4.40</a:t>
            </a:r>
          </a:p>
        </p:txBody>
      </p:sp>
      <p:sp>
        <p:nvSpPr>
          <p:cNvPr id="40" name="TextBox 39"/>
          <p:cNvSpPr txBox="1"/>
          <p:nvPr/>
        </p:nvSpPr>
        <p:spPr>
          <a:xfrm>
            <a:off x="722376" y="6236208"/>
            <a:ext cx="2377440" cy="347472"/>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Samsung PM9A3</a:t>
            </a:r>
          </a:p>
        </p:txBody>
      </p:sp>
      <p:sp>
        <p:nvSpPr>
          <p:cNvPr id="41" name="Rectangle 40"/>
          <p:cNvSpPr/>
          <p:nvPr/>
        </p:nvSpPr>
        <p:spPr>
          <a:xfrm>
            <a:off x="3191256" y="6300216"/>
            <a:ext cx="4090946" cy="2194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55354" y="6236208"/>
            <a:ext cx="731520" cy="347472"/>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4.20</a:t>
            </a:r>
          </a:p>
        </p:txBody>
      </p:sp>
      <p:sp>
        <p:nvSpPr>
          <p:cNvPr id="43" name="TextBox 42"/>
          <p:cNvSpPr txBox="1"/>
          <p:nvPr/>
        </p:nvSpPr>
        <p:spPr>
          <a:xfrm>
            <a:off x="722376" y="6656832"/>
            <a:ext cx="2377440" cy="347472"/>
          </a:xfrm>
          <a:prstGeom prst="rect">
            <a:avLst/>
          </a:prstGeom>
          <a:noFill/>
        </p:spPr>
        <p:txBody>
          <a:bodyPr wrap="square" anchor="ctr" lIns="0" rIns="0" tIns="0" bIns="0">
            <a:spAutoFit/>
          </a:bodyPr>
          <a:lstStyle/>
          <a:p>
            <a:pPr algn="l">
              <a:lnSpc>
                <a:spcPct val="110000"/>
              </a:lnSpc>
            </a:pPr>
            <a:r>
              <a:rPr sz="1800" b="0">
                <a:solidFill>
                  <a:srgbClr val="1A1A1A"/>
                </a:solidFill>
                <a:latin typeface="Arial"/>
                <a:ea typeface="Arial"/>
              </a:rPr>
              <a:t>Micron 7450 PRO</a:t>
            </a:r>
          </a:p>
        </p:txBody>
      </p:sp>
      <p:sp>
        <p:nvSpPr>
          <p:cNvPr id="44" name="Rectangle 43"/>
          <p:cNvSpPr/>
          <p:nvPr/>
        </p:nvSpPr>
        <p:spPr>
          <a:xfrm>
            <a:off x="3191256" y="6720840"/>
            <a:ext cx="310717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1578" y="6656832"/>
            <a:ext cx="731520"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3.19</a:t>
            </a:r>
          </a:p>
        </p:txBody>
      </p:sp>
      <p:sp>
        <p:nvSpPr>
          <p:cNvPr id="46" name="TextBox 45"/>
          <p:cNvSpPr txBox="1"/>
          <p:nvPr/>
        </p:nvSpPr>
        <p:spPr>
          <a:xfrm>
            <a:off x="722376" y="7077456"/>
            <a:ext cx="2377440" cy="347472"/>
          </a:xfrm>
          <a:prstGeom prst="rect">
            <a:avLst/>
          </a:prstGeom>
          <a:noFill/>
        </p:spPr>
        <p:txBody>
          <a:bodyPr wrap="square" anchor="ctr" lIns="0" rIns="0" tIns="0" bIns="0">
            <a:spAutoFit/>
          </a:bodyPr>
          <a:lstStyle/>
          <a:p>
            <a:pPr algn="l">
              <a:lnSpc>
                <a:spcPct val="110000"/>
              </a:lnSpc>
            </a:pPr>
            <a:r>
              <a:rPr sz="1800" b="0">
                <a:solidFill>
                  <a:srgbClr val="1A1A1A"/>
                </a:solidFill>
                <a:latin typeface="Arial"/>
                <a:ea typeface="Arial"/>
              </a:rPr>
              <a:t>Micron 7450 MAX</a:t>
            </a:r>
          </a:p>
        </p:txBody>
      </p:sp>
      <p:sp>
        <p:nvSpPr>
          <p:cNvPr id="47" name="Rectangle 46"/>
          <p:cNvSpPr/>
          <p:nvPr/>
        </p:nvSpPr>
        <p:spPr>
          <a:xfrm>
            <a:off x="3191256" y="7141464"/>
            <a:ext cx="1840925"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05333" y="7077456"/>
            <a:ext cx="731520"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1.89</a:t>
            </a:r>
          </a:p>
        </p:txBody>
      </p:sp>
      <p:sp>
        <p:nvSpPr>
          <p:cNvPr id="49" name="Rounded Rectangle 48"/>
          <p:cNvSpPr/>
          <p:nvPr/>
        </p:nvSpPr>
        <p:spPr>
          <a:xfrm>
            <a:off x="722376" y="7589520"/>
            <a:ext cx="7680960" cy="512064"/>
          </a:xfrm>
          <a:prstGeom prst="roundRect">
            <a:avLst>
              <a:gd name="adj" fmla="val 1428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7589520"/>
            <a:ext cx="7571232" cy="512064"/>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QLC는 매핑 단위 증폭이 더해짐  </a:t>
            </a:r>
            <a:r>
              <a:rPr sz="1800" b="1">
                <a:solidFill>
                  <a:srgbClr val="1428A0"/>
                </a:solidFill>
                <a:latin typeface="Arial"/>
                <a:ea typeface="Arial"/>
              </a:rPr>
              <a:t>4KB 쓰기 정격 = 16KB 정격의 1/4</a:t>
            </a:r>
          </a:p>
        </p:txBody>
      </p:sp>
      <p:sp>
        <p:nvSpPr>
          <p:cNvPr id="51" name="Right Arrow 50"/>
          <p:cNvSpPr/>
          <p:nvPr/>
        </p:nvSpPr>
        <p:spPr>
          <a:xfrm>
            <a:off x="8494776" y="4937760"/>
            <a:ext cx="365760" cy="457200"/>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9519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9519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54" name="TextBox 53"/>
          <p:cNvSpPr txBox="1"/>
          <p:nvPr/>
        </p:nvSpPr>
        <p:spPr>
          <a:xfrm>
            <a:off x="9537192" y="2103120"/>
            <a:ext cx="8028431"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해법: 고객 시스템과 함께</a:t>
            </a:r>
          </a:p>
        </p:txBody>
      </p:sp>
      <p:sp>
        <p:nvSpPr>
          <p:cNvPr id="55" name="Rounded Rectangle 54"/>
          <p:cNvSpPr/>
          <p:nvPr/>
        </p:nvSpPr>
        <p:spPr>
          <a:xfrm>
            <a:off x="8951976" y="2779776"/>
            <a:ext cx="2651760" cy="731520"/>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06840" y="2779776"/>
            <a:ext cx="2542032" cy="731520"/>
          </a:xfrm>
          <a:prstGeom prst="rect">
            <a:avLst/>
          </a:prstGeom>
          <a:noFill/>
        </p:spPr>
        <p:txBody>
          <a:bodyPr wrap="square" anchor="ctr" lIns="0" rIns="0" tIns="0" bIns="0">
            <a:spAutoFit/>
          </a:bodyPr>
          <a:lstStyle/>
          <a:p>
            <a:pPr algn="ctr">
              <a:lnSpc>
                <a:spcPct val="110000"/>
              </a:lnSpc>
            </a:pPr>
            <a:r>
              <a:rPr sz="1900" b="1">
                <a:solidFill>
                  <a:srgbClr val="1A1A1A"/>
                </a:solidFill>
                <a:latin typeface="Arial"/>
                <a:ea typeface="Arial"/>
              </a:rPr>
              <a:t>고객 호스트</a:t>
            </a:r>
          </a:p>
          <a:p>
            <a:pPr algn="ctr">
              <a:lnSpc>
                <a:spcPct val="110000"/>
              </a:lnSpc>
            </a:pPr>
            <a:r>
              <a:rPr sz="1600" b="0">
                <a:solidFill>
                  <a:srgbClr val="555555"/>
                </a:solidFill>
                <a:latin typeface="Arial"/>
                <a:ea typeface="Arial"/>
              </a:rPr>
              <a:t>데이터 수명을 안다</a:t>
            </a:r>
          </a:p>
        </p:txBody>
      </p:sp>
      <p:sp>
        <p:nvSpPr>
          <p:cNvPr id="57" name="Right Arrow 56"/>
          <p:cNvSpPr/>
          <p:nvPr/>
        </p:nvSpPr>
        <p:spPr>
          <a:xfrm>
            <a:off x="11649456" y="3035808"/>
            <a:ext cx="237744" cy="219456"/>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11932920" y="2779776"/>
            <a:ext cx="2651760" cy="731520"/>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987784" y="2779776"/>
            <a:ext cx="2542032" cy="731520"/>
          </a:xfrm>
          <a:prstGeom prst="rect">
            <a:avLst/>
          </a:prstGeom>
          <a:noFill/>
        </p:spPr>
        <p:txBody>
          <a:bodyPr wrap="square" anchor="ctr" lIns="0" rIns="0" tIns="0" bIns="0">
            <a:spAutoFit/>
          </a:bodyPr>
          <a:lstStyle/>
          <a:p>
            <a:pPr algn="ctr">
              <a:lnSpc>
                <a:spcPct val="110000"/>
              </a:lnSpc>
            </a:pPr>
            <a:r>
              <a:rPr sz="1900" b="1">
                <a:solidFill>
                  <a:srgbClr val="1A1A1A"/>
                </a:solidFill>
                <a:latin typeface="Arial"/>
                <a:ea typeface="Arial"/>
              </a:rPr>
              <a:t>배치 힌트</a:t>
            </a:r>
          </a:p>
          <a:p>
            <a:pPr algn="ctr">
              <a:lnSpc>
                <a:spcPct val="110000"/>
              </a:lnSpc>
            </a:pPr>
            <a:r>
              <a:rPr sz="1600" b="0">
                <a:solidFill>
                  <a:srgbClr val="555555"/>
                </a:solidFill>
                <a:latin typeface="Arial"/>
                <a:ea typeface="Arial"/>
              </a:rPr>
              <a:t>FDP</a:t>
            </a:r>
          </a:p>
        </p:txBody>
      </p:sp>
      <p:sp>
        <p:nvSpPr>
          <p:cNvPr id="60" name="Right Arrow 59"/>
          <p:cNvSpPr/>
          <p:nvPr/>
        </p:nvSpPr>
        <p:spPr>
          <a:xfrm>
            <a:off x="14630400" y="3035808"/>
            <a:ext cx="237744" cy="219456"/>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4913864" y="2779776"/>
            <a:ext cx="2651760" cy="731520"/>
          </a:xfrm>
          <a:prstGeom prst="roundRect">
            <a:avLst>
              <a:gd name="adj" fmla="val 1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4968728" y="2779776"/>
            <a:ext cx="2542032" cy="731520"/>
          </a:xfrm>
          <a:prstGeom prst="rect">
            <a:avLst/>
          </a:prstGeom>
          <a:noFill/>
        </p:spPr>
        <p:txBody>
          <a:bodyPr wrap="square" anchor="ctr" lIns="0" rIns="0" tIns="0" bIns="0">
            <a:spAutoFit/>
          </a:bodyPr>
          <a:lstStyle/>
          <a:p>
            <a:pPr algn="ctr">
              <a:lnSpc>
                <a:spcPct val="110000"/>
              </a:lnSpc>
            </a:pPr>
            <a:r>
              <a:rPr sz="1900" b="1">
                <a:solidFill>
                  <a:srgbClr val="FFFFFF"/>
                </a:solidFill>
                <a:latin typeface="Arial"/>
                <a:ea typeface="Arial"/>
              </a:rPr>
              <a:t>SSD</a:t>
            </a:r>
          </a:p>
          <a:p>
            <a:pPr algn="ctr">
              <a:lnSpc>
                <a:spcPct val="110000"/>
              </a:lnSpc>
            </a:pPr>
            <a:r>
              <a:rPr sz="1600" b="0">
                <a:solidFill>
                  <a:srgbClr val="AAB8E8"/>
                </a:solidFill>
                <a:latin typeface="Arial"/>
                <a:ea typeface="Arial"/>
              </a:rPr>
              <a:t>GC 감소</a:t>
            </a:r>
          </a:p>
        </p:txBody>
      </p:sp>
      <p:sp>
        <p:nvSpPr>
          <p:cNvPr id="63" name="TextBox 62"/>
          <p:cNvSpPr txBox="1"/>
          <p:nvPr/>
        </p:nvSpPr>
        <p:spPr>
          <a:xfrm>
            <a:off x="8951976" y="3749039"/>
            <a:ext cx="8613648"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전후 실측  </a:t>
            </a:r>
            <a:r>
              <a:rPr sz="1600" b="0">
                <a:solidFill>
                  <a:srgbClr val="555555"/>
                </a:solidFill>
                <a:latin typeface="Arial"/>
                <a:ea typeface="Arial"/>
              </a:rPr>
              <a:t>SSD 혼자 → 고객과 함께</a:t>
            </a:r>
          </a:p>
        </p:txBody>
      </p:sp>
      <p:sp>
        <p:nvSpPr>
          <p:cNvPr id="64" name="TextBox 63"/>
          <p:cNvSpPr txBox="1"/>
          <p:nvPr/>
        </p:nvSpPr>
        <p:spPr>
          <a:xfrm>
            <a:off x="8951976" y="4187952"/>
            <a:ext cx="2395728"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CacheLib WAF</a:t>
            </a:r>
          </a:p>
        </p:txBody>
      </p:sp>
      <p:sp>
        <p:nvSpPr>
          <p:cNvPr id="65" name="TextBox 64"/>
          <p:cNvSpPr txBox="1"/>
          <p:nvPr/>
        </p:nvSpPr>
        <p:spPr>
          <a:xfrm>
            <a:off x="8951976" y="4535424"/>
            <a:ext cx="2395728"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Meta · 삼성</a:t>
            </a:r>
          </a:p>
        </p:txBody>
      </p:sp>
      <p:sp>
        <p:nvSpPr>
          <p:cNvPr id="66" name="Rectangle 65"/>
          <p:cNvSpPr/>
          <p:nvPr/>
        </p:nvSpPr>
        <p:spPr>
          <a:xfrm>
            <a:off x="11420856" y="4224528"/>
            <a:ext cx="5321807" cy="2743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6797528" y="4206240"/>
            <a:ext cx="786384" cy="310896"/>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3.22</a:t>
            </a:r>
          </a:p>
        </p:txBody>
      </p:sp>
      <p:sp>
        <p:nvSpPr>
          <p:cNvPr id="68" name="Rectangle 67"/>
          <p:cNvSpPr/>
          <p:nvPr/>
        </p:nvSpPr>
        <p:spPr>
          <a:xfrm>
            <a:off x="11420856" y="4553712"/>
            <a:ext cx="1702317" cy="2743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3178037" y="4535424"/>
            <a:ext cx="1463040" cy="310896"/>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1.03</a:t>
            </a:r>
          </a:p>
        </p:txBody>
      </p:sp>
      <p:sp>
        <p:nvSpPr>
          <p:cNvPr id="70" name="TextBox 69"/>
          <p:cNvSpPr txBox="1"/>
          <p:nvPr/>
        </p:nvSpPr>
        <p:spPr>
          <a:xfrm>
            <a:off x="8951976" y="5029200"/>
            <a:ext cx="2395728"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p99.9 테일 지연</a:t>
            </a:r>
          </a:p>
        </p:txBody>
      </p:sp>
      <p:sp>
        <p:nvSpPr>
          <p:cNvPr id="71" name="TextBox 70"/>
          <p:cNvSpPr txBox="1"/>
          <p:nvPr/>
        </p:nvSpPr>
        <p:spPr>
          <a:xfrm>
            <a:off x="8951976" y="5376672"/>
            <a:ext cx="2395728"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PM9D3a FDP</a:t>
            </a:r>
          </a:p>
        </p:txBody>
      </p:sp>
      <p:sp>
        <p:nvSpPr>
          <p:cNvPr id="72" name="Rectangle 71"/>
          <p:cNvSpPr/>
          <p:nvPr/>
        </p:nvSpPr>
        <p:spPr>
          <a:xfrm>
            <a:off x="11420856" y="5065776"/>
            <a:ext cx="5321807" cy="2743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6797528" y="5047488"/>
            <a:ext cx="786384" cy="310896"/>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100</a:t>
            </a:r>
          </a:p>
        </p:txBody>
      </p:sp>
      <p:sp>
        <p:nvSpPr>
          <p:cNvPr id="74" name="Rectangle 73"/>
          <p:cNvSpPr/>
          <p:nvPr/>
        </p:nvSpPr>
        <p:spPr>
          <a:xfrm>
            <a:off x="11420856" y="5394960"/>
            <a:ext cx="2394813" cy="2743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3870533" y="5376672"/>
            <a:ext cx="1463040" cy="310896"/>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45</a:t>
            </a:r>
          </a:p>
        </p:txBody>
      </p:sp>
      <p:sp>
        <p:nvSpPr>
          <p:cNvPr id="76" name="TextBox 75"/>
          <p:cNvSpPr txBox="1"/>
          <p:nvPr/>
        </p:nvSpPr>
        <p:spPr>
          <a:xfrm>
            <a:off x="8951976" y="5870448"/>
            <a:ext cx="2395728"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p99.9 읽기 지연</a:t>
            </a:r>
          </a:p>
        </p:txBody>
      </p:sp>
      <p:sp>
        <p:nvSpPr>
          <p:cNvPr id="77" name="TextBox 76"/>
          <p:cNvSpPr txBox="1"/>
          <p:nvPr/>
        </p:nvSpPr>
        <p:spPr>
          <a:xfrm>
            <a:off x="8951976" y="6217920"/>
            <a:ext cx="2395728"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ZNS RocksDB</a:t>
            </a:r>
          </a:p>
        </p:txBody>
      </p:sp>
      <p:sp>
        <p:nvSpPr>
          <p:cNvPr id="78" name="Rectangle 77"/>
          <p:cNvSpPr/>
          <p:nvPr/>
        </p:nvSpPr>
        <p:spPr>
          <a:xfrm>
            <a:off x="11420856" y="5907024"/>
            <a:ext cx="5321807" cy="2743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6797528" y="5888736"/>
            <a:ext cx="786384" cy="310896"/>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a:t>
            </a:r>
          </a:p>
        </p:txBody>
      </p:sp>
      <p:sp>
        <p:nvSpPr>
          <p:cNvPr id="80" name="Rectangle 79"/>
          <p:cNvSpPr/>
          <p:nvPr/>
        </p:nvSpPr>
        <p:spPr>
          <a:xfrm>
            <a:off x="11420856" y="6236208"/>
            <a:ext cx="1756196" cy="2743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3231916" y="6217920"/>
            <a:ext cx="1463040" cy="310896"/>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1/2~1/4</a:t>
            </a:r>
          </a:p>
        </p:txBody>
      </p:sp>
      <p:sp>
        <p:nvSpPr>
          <p:cNvPr id="82" name="Rectangle 81"/>
          <p:cNvSpPr/>
          <p:nvPr/>
        </p:nvSpPr>
        <p:spPr>
          <a:xfrm>
            <a:off x="8951976" y="6766560"/>
            <a:ext cx="8613648"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951976" y="6876288"/>
            <a:ext cx="8613648"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주요 DC 기업은 이미 SSD를 직접 설계해 시스템과 맞춘다</a:t>
            </a:r>
          </a:p>
        </p:txBody>
      </p:sp>
      <p:pic>
        <p:nvPicPr>
          <p:cNvPr id="84" name="Picture 83" descr="google.png"/>
          <p:cNvPicPr>
            <a:picLocks noChangeAspect="1"/>
          </p:cNvPicPr>
          <p:nvPr/>
        </p:nvPicPr>
        <p:blipFill>
          <a:blip r:embed="rId2"/>
          <a:stretch>
            <a:fillRect/>
          </a:stretch>
        </p:blipFill>
        <p:spPr>
          <a:xfrm>
            <a:off x="8951976" y="7296912"/>
            <a:ext cx="836908" cy="274320"/>
          </a:xfrm>
          <a:prstGeom prst="rect">
            <a:avLst/>
          </a:prstGeom>
        </p:spPr>
      </p:pic>
      <p:sp>
        <p:nvSpPr>
          <p:cNvPr id="85" name="TextBox 84"/>
          <p:cNvSpPr txBox="1"/>
          <p:nvPr/>
        </p:nvSpPr>
        <p:spPr>
          <a:xfrm>
            <a:off x="9880324" y="7278624"/>
            <a:ext cx="731520" cy="38404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2016</a:t>
            </a:r>
          </a:p>
        </p:txBody>
      </p:sp>
      <p:pic>
        <p:nvPicPr>
          <p:cNvPr id="86" name="Picture 85" descr="alibabacloud.png"/>
          <p:cNvPicPr>
            <a:picLocks noChangeAspect="1"/>
          </p:cNvPicPr>
          <p:nvPr/>
        </p:nvPicPr>
        <p:blipFill>
          <a:blip r:embed="rId3"/>
          <a:stretch>
            <a:fillRect/>
          </a:stretch>
        </p:blipFill>
        <p:spPr>
          <a:xfrm>
            <a:off x="10703284" y="7315200"/>
            <a:ext cx="310896" cy="310896"/>
          </a:xfrm>
          <a:prstGeom prst="rect">
            <a:avLst/>
          </a:prstGeom>
        </p:spPr>
      </p:pic>
      <p:sp>
        <p:nvSpPr>
          <p:cNvPr id="87" name="TextBox 86"/>
          <p:cNvSpPr txBox="1"/>
          <p:nvPr/>
        </p:nvSpPr>
        <p:spPr>
          <a:xfrm>
            <a:off x="11069044" y="7278624"/>
            <a:ext cx="1005840" cy="38404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Alibaba</a:t>
            </a:r>
          </a:p>
        </p:txBody>
      </p:sp>
      <p:sp>
        <p:nvSpPr>
          <p:cNvPr id="88" name="TextBox 87"/>
          <p:cNvSpPr txBox="1"/>
          <p:nvPr/>
        </p:nvSpPr>
        <p:spPr>
          <a:xfrm>
            <a:off x="12074884" y="7278624"/>
            <a:ext cx="731520" cy="38404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2016</a:t>
            </a:r>
          </a:p>
        </p:txBody>
      </p:sp>
      <p:pic>
        <p:nvPicPr>
          <p:cNvPr id="89" name="Picture 88" descr="aws.png"/>
          <p:cNvPicPr>
            <a:picLocks noChangeAspect="1"/>
          </p:cNvPicPr>
          <p:nvPr/>
        </p:nvPicPr>
        <p:blipFill>
          <a:blip r:embed="rId4"/>
          <a:stretch>
            <a:fillRect/>
          </a:stretch>
        </p:blipFill>
        <p:spPr>
          <a:xfrm>
            <a:off x="12897844" y="7296912"/>
            <a:ext cx="581272" cy="347472"/>
          </a:xfrm>
          <a:prstGeom prst="rect">
            <a:avLst/>
          </a:prstGeom>
        </p:spPr>
      </p:pic>
      <p:sp>
        <p:nvSpPr>
          <p:cNvPr id="90" name="TextBox 89"/>
          <p:cNvSpPr txBox="1"/>
          <p:nvPr/>
        </p:nvSpPr>
        <p:spPr>
          <a:xfrm>
            <a:off x="13570557" y="7278624"/>
            <a:ext cx="731520" cy="38404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2020</a:t>
            </a:r>
          </a:p>
        </p:txBody>
      </p:sp>
      <p:sp>
        <p:nvSpPr>
          <p:cNvPr id="91" name="Rounded Rectangle 90"/>
          <p:cNvSpPr/>
          <p:nvPr/>
        </p:nvSpPr>
        <p:spPr>
          <a:xfrm>
            <a:off x="8951976" y="7790688"/>
            <a:ext cx="8613648" cy="438912"/>
          </a:xfrm>
          <a:prstGeom prst="roundRect">
            <a:avLst>
              <a:gd name="adj" fmla="val 16666"/>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006840" y="7790688"/>
            <a:ext cx="8503920" cy="438912"/>
          </a:xfrm>
          <a:prstGeom prst="rect">
            <a:avLst/>
          </a:prstGeom>
          <a:noFill/>
        </p:spPr>
        <p:txBody>
          <a:bodyPr wrap="square" anchor="ctr" lIns="0" rIns="0" tIns="0" bIns="0">
            <a:spAutoFit/>
          </a:bodyPr>
          <a:lstStyle/>
          <a:p>
            <a:pPr algn="ctr">
              <a:lnSpc>
                <a:spcPct val="110000"/>
              </a:lnSpc>
            </a:pPr>
            <a:r>
              <a:rPr sz="1600" b="0">
                <a:solidFill>
                  <a:srgbClr val="555555"/>
                </a:solidFill>
                <a:latin typeface="Arial"/>
                <a:ea typeface="Arial"/>
              </a:rPr>
              <a:t>테일 지연 실측은 TLC 기준.  </a:t>
            </a:r>
            <a:r>
              <a:rPr sz="1600" b="1">
                <a:solidFill>
                  <a:srgbClr val="1428A0"/>
                </a:solidFill>
                <a:latin typeface="Arial"/>
                <a:ea typeface="Arial"/>
              </a:rPr>
              <a:t>QLC 실측이 첫 공동 검증 과제</a:t>
            </a:r>
          </a:p>
        </p:txBody>
      </p:sp>
      <p:sp>
        <p:nvSpPr>
          <p:cNvPr id="93" name="Rectangle 92"/>
          <p:cNvSpPr/>
          <p:nvPr/>
        </p:nvSpPr>
        <p:spPr>
          <a:xfrm>
            <a:off x="722376" y="8631936"/>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결론</a:t>
            </a:r>
          </a:p>
        </p:txBody>
      </p:sp>
      <p:sp>
        <p:nvSpPr>
          <p:cNvPr id="95" name="TextBox 94"/>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지금까지 소극적이던 고객 시스템 협력을 전략으로 바꿔야 합니다</a:t>
            </a:r>
          </a:p>
        </p:txBody>
      </p:sp>
      <p:sp>
        <p:nvSpPr>
          <p:cNvPr id="96" name="TextBox 95"/>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P/E 범위(공개 문헌) · SSD 단독 WAF(SSD-iq PVLDB'25 저자 데이터, 과제팀 집계) · IU 정격 비(Micron 6600 · 6550 ION, Kioxia LC9) · CacheLib FDP(삼성 · Meta, EuroSys'25) · PM9D3a FDP(삼성 기술 블로그) · ZNS(USENIX ATC'21) · 자체 설계 원장 · 일부 수치 검색 확인</a:t>
            </a:r>
          </a:p>
        </p:txBody>
      </p:sp>
      <p:sp>
        <p:nvSpPr>
          <p:cNvPr id="97" name="TextBox 96"/>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고객과 함께 WAF를 낮춰, TLC 시장을 QLC로</a:t>
            </a:r>
            <a:r>
              <a:rPr sz="1800" b="0">
                <a:solidFill>
                  <a:srgbClr val="555555"/>
                </a:solidFill>
                <a:latin typeface="Arial"/>
                <a:ea typeface="Arial"/>
              </a:rPr>
              <a:t>   3 / 6  기회</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eSSD 수요의 대부분은 1 DWPD 이하의 TLC이므로,</a:t>
            </a:r>
          </a:p>
          <a:p>
            <a:pPr algn="l">
              <a:lnSpc>
                <a:spcPct val="105000"/>
              </a:lnSpc>
            </a:pPr>
            <a:r>
              <a:rPr sz="3200" b="1">
                <a:solidFill>
                  <a:srgbClr val="1A1A1A"/>
                </a:solidFill>
                <a:latin typeface="Arial"/>
                <a:ea typeface="Arial"/>
              </a:rPr>
              <a:t>QLC가 꼬리 지연을 넘으면 원가 우위로 이 시장에 들어갑니다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52669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시장: 2030 전환 가능 규모</a:t>
            </a:r>
          </a:p>
        </p:txBody>
      </p:sp>
      <p:sp>
        <p:nvSpPr>
          <p:cNvPr id="9" name="TextBox 8"/>
          <p:cNvSpPr txBox="1"/>
          <p:nvPr/>
        </p:nvSpPr>
        <p:spPr>
          <a:xfrm>
            <a:off x="722376" y="2779776"/>
            <a:ext cx="58521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EB/년, 2030  </a:t>
            </a:r>
            <a:r>
              <a:rPr sz="1600" b="0">
                <a:solidFill>
                  <a:srgbClr val="555555"/>
                </a:solidFill>
                <a:latin typeface="Arial"/>
                <a:ea typeface="Arial"/>
              </a:rPr>
              <a:t>진한 = 하단, 연한 = 상단</a:t>
            </a:r>
          </a:p>
        </p:txBody>
      </p:sp>
      <p:sp>
        <p:nvSpPr>
          <p:cNvPr id="10" name="TextBox 9"/>
          <p:cNvSpPr txBox="1"/>
          <p:nvPr/>
        </p:nvSpPr>
        <p:spPr>
          <a:xfrm>
            <a:off x="722376" y="3255264"/>
            <a:ext cx="1938528" cy="45720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eSSD 전체</a:t>
            </a:r>
          </a:p>
        </p:txBody>
      </p:sp>
      <p:sp>
        <p:nvSpPr>
          <p:cNvPr id="11" name="Rectangle 10"/>
          <p:cNvSpPr/>
          <p:nvPr/>
        </p:nvSpPr>
        <p:spPr>
          <a:xfrm>
            <a:off x="2734056" y="3328416"/>
            <a:ext cx="1232154" cy="3291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6210" y="3328416"/>
            <a:ext cx="977265" cy="3291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98339" y="3255264"/>
            <a:ext cx="155448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1,078~1,933</a:t>
            </a:r>
          </a:p>
        </p:txBody>
      </p:sp>
      <p:sp>
        <p:nvSpPr>
          <p:cNvPr id="14" name="TextBox 13"/>
          <p:cNvSpPr txBox="1"/>
          <p:nvPr/>
        </p:nvSpPr>
        <p:spPr>
          <a:xfrm>
            <a:off x="2642616" y="3712464"/>
            <a:ext cx="548640" cy="365760"/>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a:t>
            </a:r>
          </a:p>
        </p:txBody>
      </p:sp>
      <p:sp>
        <p:nvSpPr>
          <p:cNvPr id="15" name="TextBox 14"/>
          <p:cNvSpPr txBox="1"/>
          <p:nvPr/>
        </p:nvSpPr>
        <p:spPr>
          <a:xfrm>
            <a:off x="722376" y="4096512"/>
            <a:ext cx="1938528" cy="45720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TLC</a:t>
            </a:r>
          </a:p>
        </p:txBody>
      </p:sp>
      <p:sp>
        <p:nvSpPr>
          <p:cNvPr id="16" name="Rectangle 15"/>
          <p:cNvSpPr/>
          <p:nvPr/>
        </p:nvSpPr>
        <p:spPr>
          <a:xfrm>
            <a:off x="2734056" y="4169664"/>
            <a:ext cx="617220" cy="3291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51276" y="4169664"/>
            <a:ext cx="754380" cy="3291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60520" y="4096512"/>
            <a:ext cx="155448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540~1,200</a:t>
            </a:r>
          </a:p>
        </p:txBody>
      </p:sp>
      <p:sp>
        <p:nvSpPr>
          <p:cNvPr id="19" name="TextBox 18"/>
          <p:cNvSpPr txBox="1"/>
          <p:nvPr/>
        </p:nvSpPr>
        <p:spPr>
          <a:xfrm>
            <a:off x="2642616" y="4553712"/>
            <a:ext cx="548640" cy="365760"/>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a:t>
            </a:r>
          </a:p>
        </p:txBody>
      </p:sp>
      <p:sp>
        <p:nvSpPr>
          <p:cNvPr id="20" name="TextBox 19"/>
          <p:cNvSpPr txBox="1"/>
          <p:nvPr/>
        </p:nvSpPr>
        <p:spPr>
          <a:xfrm>
            <a:off x="722376" y="4937760"/>
            <a:ext cx="1938528" cy="45720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1 DWPD 이하</a:t>
            </a:r>
          </a:p>
        </p:txBody>
      </p:sp>
      <p:sp>
        <p:nvSpPr>
          <p:cNvPr id="21" name="Rectangle 20"/>
          <p:cNvSpPr/>
          <p:nvPr/>
        </p:nvSpPr>
        <p:spPr>
          <a:xfrm>
            <a:off x="2734056" y="5010912"/>
            <a:ext cx="457200" cy="3291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91256" y="5010912"/>
            <a:ext cx="845820" cy="3291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91939" y="4937760"/>
            <a:ext cx="155448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400~1,140</a:t>
            </a:r>
          </a:p>
        </p:txBody>
      </p:sp>
      <p:sp>
        <p:nvSpPr>
          <p:cNvPr id="24" name="TextBox 23"/>
          <p:cNvSpPr txBox="1"/>
          <p:nvPr/>
        </p:nvSpPr>
        <p:spPr>
          <a:xfrm>
            <a:off x="2642616" y="5394960"/>
            <a:ext cx="548640" cy="365760"/>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a:t>
            </a:r>
          </a:p>
        </p:txBody>
      </p:sp>
      <p:sp>
        <p:nvSpPr>
          <p:cNvPr id="25" name="TextBox 24"/>
          <p:cNvSpPr txBox="1"/>
          <p:nvPr/>
        </p:nvSpPr>
        <p:spPr>
          <a:xfrm>
            <a:off x="722376" y="5779008"/>
            <a:ext cx="1938528" cy="457200"/>
          </a:xfrm>
          <a:prstGeom prst="rect">
            <a:avLst/>
          </a:prstGeom>
          <a:noFill/>
        </p:spPr>
        <p:txBody>
          <a:bodyPr wrap="square" anchor="ctr" lIns="0" rIns="0" tIns="0" bIns="0">
            <a:spAutoFit/>
          </a:bodyPr>
          <a:lstStyle/>
          <a:p>
            <a:pPr algn="l">
              <a:lnSpc>
                <a:spcPct val="110000"/>
              </a:lnSpc>
            </a:pPr>
            <a:r>
              <a:rPr sz="1900" b="1">
                <a:solidFill>
                  <a:srgbClr val="1428A0"/>
                </a:solidFill>
                <a:latin typeface="Arial"/>
                <a:ea typeface="Arial"/>
              </a:rPr>
              <a:t>QLC 전환 가능</a:t>
            </a:r>
          </a:p>
        </p:txBody>
      </p:sp>
      <p:sp>
        <p:nvSpPr>
          <p:cNvPr id="26" name="Rectangle 25"/>
          <p:cNvSpPr/>
          <p:nvPr/>
        </p:nvSpPr>
        <p:spPr>
          <a:xfrm>
            <a:off x="2734056" y="5852160"/>
            <a:ext cx="137160" cy="32918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871216" y="5852160"/>
            <a:ext cx="777240" cy="32918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03320" y="5779008"/>
            <a:ext cx="1554480" cy="45720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120~800</a:t>
            </a:r>
          </a:p>
        </p:txBody>
      </p:sp>
      <p:sp>
        <p:nvSpPr>
          <p:cNvPr id="29" name="Rectangle 28"/>
          <p:cNvSpPr/>
          <p:nvPr/>
        </p:nvSpPr>
        <p:spPr>
          <a:xfrm>
            <a:off x="2962656" y="5797296"/>
            <a:ext cx="22860" cy="43891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85566" y="5797296"/>
            <a:ext cx="22860" cy="43891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 y="6437376"/>
            <a:ext cx="585216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전환율 30~70% 가정(근거 없음), 50%면 약 200~570EB</a:t>
            </a:r>
          </a:p>
        </p:txBody>
      </p:sp>
      <p:sp>
        <p:nvSpPr>
          <p:cNvPr id="32" name="Oval 31"/>
          <p:cNvSpPr/>
          <p:nvPr/>
        </p:nvSpPr>
        <p:spPr>
          <a:xfrm>
            <a:off x="684885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4885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4" name="TextBox 33"/>
          <p:cNvSpPr txBox="1"/>
          <p:nvPr/>
        </p:nvSpPr>
        <p:spPr>
          <a:xfrm>
            <a:off x="7434072" y="2103120"/>
            <a:ext cx="462686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내구: QLC로 충분</a:t>
            </a:r>
          </a:p>
        </p:txBody>
      </p:sp>
      <p:sp>
        <p:nvSpPr>
          <p:cNvPr id="35" name="TextBox 34"/>
          <p:cNvSpPr txBox="1"/>
          <p:nvPr/>
        </p:nvSpPr>
        <p:spPr>
          <a:xfrm>
            <a:off x="6848856" y="2779776"/>
            <a:ext cx="521208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DWPD  </a:t>
            </a:r>
            <a:r>
              <a:rPr sz="1600" b="0">
                <a:solidFill>
                  <a:srgbClr val="555555"/>
                </a:solidFill>
                <a:latin typeface="Arial"/>
                <a:ea typeface="Arial"/>
              </a:rPr>
              <a:t>5년 보증 기준</a:t>
            </a:r>
          </a:p>
        </p:txBody>
      </p:sp>
      <p:sp>
        <p:nvSpPr>
          <p:cNvPr id="36" name="Rectangle 35"/>
          <p:cNvSpPr/>
          <p:nvPr/>
        </p:nvSpPr>
        <p:spPr>
          <a:xfrm>
            <a:off x="8947403" y="3200400"/>
            <a:ext cx="9144" cy="30175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86215" y="6217920"/>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0</a:t>
            </a:r>
          </a:p>
        </p:txBody>
      </p:sp>
      <p:sp>
        <p:nvSpPr>
          <p:cNvPr id="38" name="Rectangle 37"/>
          <p:cNvSpPr/>
          <p:nvPr/>
        </p:nvSpPr>
        <p:spPr>
          <a:xfrm>
            <a:off x="9778676" y="3200400"/>
            <a:ext cx="9144" cy="30175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17488" y="6217920"/>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0.5</a:t>
            </a:r>
          </a:p>
        </p:txBody>
      </p:sp>
      <p:sp>
        <p:nvSpPr>
          <p:cNvPr id="40" name="Rectangle 39"/>
          <p:cNvSpPr/>
          <p:nvPr/>
        </p:nvSpPr>
        <p:spPr>
          <a:xfrm>
            <a:off x="10609949" y="3200400"/>
            <a:ext cx="9144" cy="30175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48761" y="6217920"/>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a:t>
            </a:r>
          </a:p>
        </p:txBody>
      </p:sp>
      <p:sp>
        <p:nvSpPr>
          <p:cNvPr id="42" name="TextBox 41"/>
          <p:cNvSpPr txBox="1"/>
          <p:nvPr/>
        </p:nvSpPr>
        <p:spPr>
          <a:xfrm>
            <a:off x="6848856" y="3255264"/>
            <a:ext cx="2048256" cy="38404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고객 실사용</a:t>
            </a:r>
          </a:p>
        </p:txBody>
      </p:sp>
      <p:sp>
        <p:nvSpPr>
          <p:cNvPr id="43" name="TextBox 42"/>
          <p:cNvSpPr txBox="1"/>
          <p:nvPr/>
        </p:nvSpPr>
        <p:spPr>
          <a:xfrm>
            <a:off x="6848856" y="3584448"/>
            <a:ext cx="2048256"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Microsoft · NetApp</a:t>
            </a:r>
          </a:p>
        </p:txBody>
      </p:sp>
      <p:sp>
        <p:nvSpPr>
          <p:cNvPr id="44" name="Rectangle 43"/>
          <p:cNvSpPr/>
          <p:nvPr/>
        </p:nvSpPr>
        <p:spPr>
          <a:xfrm>
            <a:off x="9068354" y="3346704"/>
            <a:ext cx="482138" cy="2926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05356" y="3291840"/>
            <a:ext cx="1280160" cy="365760"/>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0.07~0.36</a:t>
            </a:r>
          </a:p>
        </p:txBody>
      </p:sp>
      <p:sp>
        <p:nvSpPr>
          <p:cNvPr id="46" name="TextBox 45"/>
          <p:cNvSpPr txBox="1"/>
          <p:nvPr/>
        </p:nvSpPr>
        <p:spPr>
          <a:xfrm>
            <a:off x="6848856" y="3986784"/>
            <a:ext cx="2048256" cy="38404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TLC 범용 정격</a:t>
            </a:r>
          </a:p>
        </p:txBody>
      </p:sp>
      <p:sp>
        <p:nvSpPr>
          <p:cNvPr id="47" name="Rectangle 46"/>
          <p:cNvSpPr/>
          <p:nvPr/>
        </p:nvSpPr>
        <p:spPr>
          <a:xfrm>
            <a:off x="8951976" y="4078224"/>
            <a:ext cx="1662545" cy="2926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69385" y="4023360"/>
            <a:ext cx="1280160" cy="365760"/>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a:t>
            </a:r>
          </a:p>
        </p:txBody>
      </p:sp>
      <p:sp>
        <p:nvSpPr>
          <p:cNvPr id="49" name="TextBox 48"/>
          <p:cNvSpPr txBox="1"/>
          <p:nvPr/>
        </p:nvSpPr>
        <p:spPr>
          <a:xfrm>
            <a:off x="6848856" y="4718304"/>
            <a:ext cx="2048256" cy="38404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QLC 정격</a:t>
            </a:r>
          </a:p>
        </p:txBody>
      </p:sp>
      <p:sp>
        <p:nvSpPr>
          <p:cNvPr id="50" name="TextBox 49"/>
          <p:cNvSpPr txBox="1"/>
          <p:nvPr/>
        </p:nvSpPr>
        <p:spPr>
          <a:xfrm>
            <a:off x="6848856" y="5047488"/>
            <a:ext cx="2048256"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WAF 2</a:t>
            </a:r>
          </a:p>
        </p:txBody>
      </p:sp>
      <p:sp>
        <p:nvSpPr>
          <p:cNvPr id="51" name="Rectangle 50"/>
          <p:cNvSpPr/>
          <p:nvPr/>
        </p:nvSpPr>
        <p:spPr>
          <a:xfrm>
            <a:off x="8951976" y="4809744"/>
            <a:ext cx="482138" cy="2926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488978" y="4754880"/>
            <a:ext cx="1280160" cy="365760"/>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0.29</a:t>
            </a:r>
          </a:p>
        </p:txBody>
      </p:sp>
      <p:sp>
        <p:nvSpPr>
          <p:cNvPr id="53" name="TextBox 52"/>
          <p:cNvSpPr txBox="1"/>
          <p:nvPr/>
        </p:nvSpPr>
        <p:spPr>
          <a:xfrm>
            <a:off x="6848856" y="5449824"/>
            <a:ext cx="2048256" cy="384048"/>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QLC + 고객 협력</a:t>
            </a:r>
          </a:p>
        </p:txBody>
      </p:sp>
      <p:sp>
        <p:nvSpPr>
          <p:cNvPr id="54" name="TextBox 53"/>
          <p:cNvSpPr txBox="1"/>
          <p:nvPr/>
        </p:nvSpPr>
        <p:spPr>
          <a:xfrm>
            <a:off x="6848856" y="5779008"/>
            <a:ext cx="2048256"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WAF 1</a:t>
            </a:r>
          </a:p>
        </p:txBody>
      </p:sp>
      <p:sp>
        <p:nvSpPr>
          <p:cNvPr id="55" name="Rectangle 54"/>
          <p:cNvSpPr/>
          <p:nvPr/>
        </p:nvSpPr>
        <p:spPr>
          <a:xfrm>
            <a:off x="8951976" y="5541264"/>
            <a:ext cx="980901" cy="2926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932877" y="5541264"/>
            <a:ext cx="182880" cy="29260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170621" y="5486400"/>
            <a:ext cx="1280160" cy="36576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0.59~0.70</a:t>
            </a:r>
          </a:p>
        </p:txBody>
      </p:sp>
      <p:sp>
        <p:nvSpPr>
          <p:cNvPr id="58" name="TextBox 57"/>
          <p:cNvSpPr txBox="1"/>
          <p:nvPr/>
        </p:nvSpPr>
        <p:spPr>
          <a:xfrm>
            <a:off x="6848856" y="6437376"/>
            <a:ext cx="5212080" cy="45720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실사용은 QLC 천장 안, 남은 문은 꼬리 지연</a:t>
            </a:r>
          </a:p>
        </p:txBody>
      </p:sp>
      <p:sp>
        <p:nvSpPr>
          <p:cNvPr id="59" name="Oval 58"/>
          <p:cNvSpPr/>
          <p:nvPr/>
        </p:nvSpPr>
        <p:spPr>
          <a:xfrm>
            <a:off x="1233525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33525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61" name="TextBox 60"/>
          <p:cNvSpPr txBox="1"/>
          <p:nvPr/>
        </p:nvSpPr>
        <p:spPr>
          <a:xfrm>
            <a:off x="12920472" y="2103120"/>
            <a:ext cx="4645151"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원가: 같은 세대 우위</a:t>
            </a:r>
          </a:p>
        </p:txBody>
      </p:sp>
      <p:sp>
        <p:nvSpPr>
          <p:cNvPr id="62" name="TextBox 61"/>
          <p:cNvSpPr txBox="1"/>
          <p:nvPr/>
        </p:nvSpPr>
        <p:spPr>
          <a:xfrm>
            <a:off x="12335256" y="2779776"/>
            <a:ext cx="2615183" cy="310896"/>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가격</a:t>
            </a:r>
          </a:p>
        </p:txBody>
      </p:sp>
      <p:sp>
        <p:nvSpPr>
          <p:cNvPr id="63" name="TextBox 62"/>
          <p:cNvSpPr txBox="1"/>
          <p:nvPr/>
        </p:nvSpPr>
        <p:spPr>
          <a:xfrm>
            <a:off x="12335256" y="3072384"/>
            <a:ext cx="2615183" cy="603504"/>
          </a:xfrm>
          <a:prstGeom prst="rect">
            <a:avLst/>
          </a:prstGeom>
          <a:noFill/>
        </p:spPr>
        <p:txBody>
          <a:bodyPr wrap="square" anchor="ctr" lIns="0" rIns="0" tIns="0" bIns="0">
            <a:spAutoFit/>
          </a:bodyPr>
          <a:lstStyle/>
          <a:p>
            <a:pPr algn="l">
              <a:lnSpc>
                <a:spcPct val="110000"/>
              </a:lnSpc>
            </a:pPr>
            <a:r>
              <a:rPr sz="4000" b="1">
                <a:solidFill>
                  <a:srgbClr val="1A1A1A"/>
                </a:solidFill>
                <a:latin typeface="Arial"/>
                <a:ea typeface="Arial"/>
              </a:rPr>
              <a:t>0.80</a:t>
            </a:r>
            <a:r>
              <a:rPr sz="2200" b="1">
                <a:solidFill>
                  <a:srgbClr val="1A1A1A"/>
                </a:solidFill>
                <a:latin typeface="Arial"/>
                <a:ea typeface="Arial"/>
              </a:rPr>
              <a:t/>
            </a:r>
          </a:p>
        </p:txBody>
      </p:sp>
      <p:sp>
        <p:nvSpPr>
          <p:cNvPr id="64" name="TextBox 63"/>
          <p:cNvSpPr txBox="1"/>
          <p:nvPr/>
        </p:nvSpPr>
        <p:spPr>
          <a:xfrm>
            <a:off x="12335256" y="3657600"/>
            <a:ext cx="2615183"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QLC/TLC, 30TB 2Q26</a:t>
            </a:r>
          </a:p>
        </p:txBody>
      </p:sp>
      <p:sp>
        <p:nvSpPr>
          <p:cNvPr id="65" name="TextBox 64"/>
          <p:cNvSpPr txBox="1"/>
          <p:nvPr/>
        </p:nvSpPr>
        <p:spPr>
          <a:xfrm>
            <a:off x="14950440" y="2779776"/>
            <a:ext cx="2615183" cy="310896"/>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비트 밀도</a:t>
            </a:r>
          </a:p>
        </p:txBody>
      </p:sp>
      <p:sp>
        <p:nvSpPr>
          <p:cNvPr id="66" name="TextBox 65"/>
          <p:cNvSpPr txBox="1"/>
          <p:nvPr/>
        </p:nvSpPr>
        <p:spPr>
          <a:xfrm>
            <a:off x="14950440" y="3072384"/>
            <a:ext cx="2615183" cy="603504"/>
          </a:xfrm>
          <a:prstGeom prst="rect">
            <a:avLst/>
          </a:prstGeom>
          <a:noFill/>
        </p:spPr>
        <p:txBody>
          <a:bodyPr wrap="square" anchor="ctr" lIns="0" rIns="0" tIns="0" bIns="0">
            <a:spAutoFit/>
          </a:bodyPr>
          <a:lstStyle/>
          <a:p>
            <a:pPr algn="l">
              <a:lnSpc>
                <a:spcPct val="110000"/>
              </a:lnSpc>
            </a:pPr>
            <a:r>
              <a:rPr sz="4000" b="1">
                <a:solidFill>
                  <a:srgbClr val="1428A0"/>
                </a:solidFill>
                <a:latin typeface="Arial"/>
                <a:ea typeface="Arial"/>
              </a:rPr>
              <a:t>1.25</a:t>
            </a:r>
            <a:r>
              <a:rPr sz="2200" b="1">
                <a:solidFill>
                  <a:srgbClr val="1428A0"/>
                </a:solidFill>
                <a:latin typeface="Arial"/>
                <a:ea typeface="Arial"/>
              </a:rPr>
              <a:t>배</a:t>
            </a:r>
          </a:p>
        </p:txBody>
      </p:sp>
      <p:sp>
        <p:nvSpPr>
          <p:cNvPr id="67" name="TextBox 66"/>
          <p:cNvSpPr txBox="1"/>
          <p:nvPr/>
        </p:nvSpPr>
        <p:spPr>
          <a:xfrm>
            <a:off x="14950440" y="3657600"/>
            <a:ext cx="2615183"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같은 세대 다이, BiCS8</a:t>
            </a:r>
          </a:p>
        </p:txBody>
      </p:sp>
      <p:sp>
        <p:nvSpPr>
          <p:cNvPr id="68" name="Rounded Rectangle 67"/>
          <p:cNvSpPr/>
          <p:nvPr/>
        </p:nvSpPr>
        <p:spPr>
          <a:xfrm>
            <a:off x="12335256" y="4041648"/>
            <a:ext cx="5230367" cy="457200"/>
          </a:xfrm>
          <a:prstGeom prst="roundRect">
            <a:avLst>
              <a:gd name="adj" fmla="val 16000"/>
            </a:avLst>
          </a:prstGeom>
          <a:solidFill>
            <a:srgbClr val="EE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390120" y="4041648"/>
            <a:ext cx="5120639" cy="457200"/>
          </a:xfrm>
          <a:prstGeom prst="rect">
            <a:avLst/>
          </a:prstGeom>
          <a:noFill/>
        </p:spPr>
        <p:txBody>
          <a:bodyPr wrap="square" anchor="ctr" lIns="0" rIns="0" tIns="0" bIns="0">
            <a:spAutoFit/>
          </a:bodyPr>
          <a:lstStyle/>
          <a:p>
            <a:pPr algn="ctr">
              <a:lnSpc>
                <a:spcPct val="110000"/>
              </a:lnSpc>
            </a:pPr>
            <a:r>
              <a:rPr sz="1600" b="0">
                <a:solidFill>
                  <a:srgbClr val="1A1A1A"/>
                </a:solidFill>
                <a:latin typeface="Arial"/>
                <a:ea typeface="Arial"/>
              </a:rPr>
              <a:t>웨이퍼당 매출총이익 </a:t>
            </a:r>
            <a:r>
              <a:rPr sz="2000" b="1">
                <a:solidFill>
                  <a:srgbClr val="1428A0"/>
                </a:solidFill>
                <a:latin typeface="Arial"/>
                <a:ea typeface="Arial"/>
              </a:rPr>
              <a:t>+0~16%</a:t>
            </a:r>
            <a:r>
              <a:rPr sz="1500" b="0">
                <a:solidFill>
                  <a:srgbClr val="555555"/>
                </a:solidFill>
                <a:latin typeface="Arial"/>
                <a:ea typeface="Arial"/>
              </a:rPr>
              <a:t>  산술</a:t>
            </a:r>
          </a:p>
        </p:txBody>
      </p:sp>
      <p:sp>
        <p:nvSpPr>
          <p:cNvPr id="70" name="Rectangle 69"/>
          <p:cNvSpPr/>
          <p:nvPr/>
        </p:nvSpPr>
        <p:spPr>
          <a:xfrm>
            <a:off x="12335256" y="4663440"/>
            <a:ext cx="5230367"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2335256" y="4754880"/>
            <a:ext cx="5230367"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넘어야 할 문  </a:t>
            </a:r>
            <a:r>
              <a:rPr sz="1600" b="0">
                <a:solidFill>
                  <a:srgbClr val="555555"/>
                </a:solidFill>
                <a:latin typeface="Arial"/>
                <a:ea typeface="Arial"/>
              </a:rPr>
              <a:t>TLC = 1</a:t>
            </a:r>
          </a:p>
        </p:txBody>
      </p:sp>
      <p:sp>
        <p:nvSpPr>
          <p:cNvPr id="72" name="TextBox 71"/>
          <p:cNvSpPr txBox="1"/>
          <p:nvPr/>
        </p:nvSpPr>
        <p:spPr>
          <a:xfrm>
            <a:off x="12335256" y="5175504"/>
            <a:ext cx="1783080"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읽기 지연</a:t>
            </a:r>
          </a:p>
        </p:txBody>
      </p:sp>
      <p:sp>
        <p:nvSpPr>
          <p:cNvPr id="73" name="Rectangle 72"/>
          <p:cNvSpPr/>
          <p:nvPr/>
        </p:nvSpPr>
        <p:spPr>
          <a:xfrm>
            <a:off x="13889736" y="5193792"/>
            <a:ext cx="1197863" cy="1463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3889736" y="5376672"/>
            <a:ext cx="2156155"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6100755" y="5175504"/>
            <a:ext cx="1280160" cy="36576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1.7~1.8배</a:t>
            </a:r>
          </a:p>
        </p:txBody>
      </p:sp>
      <p:sp>
        <p:nvSpPr>
          <p:cNvPr id="76" name="TextBox 75"/>
          <p:cNvSpPr txBox="1"/>
          <p:nvPr/>
        </p:nvSpPr>
        <p:spPr>
          <a:xfrm>
            <a:off x="12335256" y="5815584"/>
            <a:ext cx="1783080"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랜덤 쓰기</a:t>
            </a:r>
          </a:p>
        </p:txBody>
      </p:sp>
      <p:sp>
        <p:nvSpPr>
          <p:cNvPr id="77" name="Rectangle 76"/>
          <p:cNvSpPr/>
          <p:nvPr/>
        </p:nvSpPr>
        <p:spPr>
          <a:xfrm>
            <a:off x="13889736" y="5833872"/>
            <a:ext cx="1197863" cy="1463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3889736" y="6016752"/>
            <a:ext cx="515081"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5142463" y="5815584"/>
            <a:ext cx="1280160" cy="36576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1/3~1/2.3</a:t>
            </a:r>
          </a:p>
        </p:txBody>
      </p:sp>
      <p:sp>
        <p:nvSpPr>
          <p:cNvPr id="80" name="TextBox 79"/>
          <p:cNvSpPr txBox="1"/>
          <p:nvPr/>
        </p:nvSpPr>
        <p:spPr>
          <a:xfrm>
            <a:off x="12335256" y="6437376"/>
            <a:ext cx="5230367" cy="45720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QLC 고유 지연은 고객 시스템과 함께 숨긴다</a:t>
            </a:r>
          </a:p>
        </p:txBody>
      </p:sp>
      <p:sp>
        <p:nvSpPr>
          <p:cNvPr id="81" name="Rounded Rectangle 80"/>
          <p:cNvSpPr/>
          <p:nvPr/>
        </p:nvSpPr>
        <p:spPr>
          <a:xfrm>
            <a:off x="722376" y="7004304"/>
            <a:ext cx="16843248" cy="1481328"/>
          </a:xfrm>
          <a:prstGeom prst="roundRect">
            <a:avLst>
              <a:gd name="adj" fmla="val 493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96696" y="7095744"/>
            <a:ext cx="3657600"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같은 기술의 추가 효과</a:t>
            </a:r>
          </a:p>
        </p:txBody>
      </p:sp>
      <p:sp>
        <p:nvSpPr>
          <p:cNvPr id="83" name="TextBox 82"/>
          <p:cNvSpPr txBox="1"/>
          <p:nvPr/>
        </p:nvSpPr>
        <p:spPr>
          <a:xfrm>
            <a:off x="996696" y="7534656"/>
            <a:ext cx="3840480" cy="36576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TLC 원가  </a:t>
            </a:r>
            <a:r>
              <a:rPr sz="1600" b="0">
                <a:solidFill>
                  <a:srgbClr val="555555"/>
                </a:solidFill>
                <a:latin typeface="Arial"/>
                <a:ea typeface="Arial"/>
              </a:rPr>
              <a:t>같은 NAND, OP 28 → 7%</a:t>
            </a:r>
          </a:p>
        </p:txBody>
      </p:sp>
      <p:sp>
        <p:nvSpPr>
          <p:cNvPr id="84" name="TextBox 83"/>
          <p:cNvSpPr txBox="1"/>
          <p:nvPr/>
        </p:nvSpPr>
        <p:spPr>
          <a:xfrm>
            <a:off x="5020056" y="7187184"/>
            <a:ext cx="2103120" cy="438912"/>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3 DWPD (OP 28%)</a:t>
            </a:r>
          </a:p>
        </p:txBody>
      </p:sp>
      <p:sp>
        <p:nvSpPr>
          <p:cNvPr id="85" name="Rectangle 84"/>
          <p:cNvSpPr/>
          <p:nvPr/>
        </p:nvSpPr>
        <p:spPr>
          <a:xfrm>
            <a:off x="7214616" y="7260336"/>
            <a:ext cx="1981200" cy="2926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250680" y="7187184"/>
            <a:ext cx="1005840" cy="43891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3.2TB</a:t>
            </a:r>
          </a:p>
        </p:txBody>
      </p:sp>
      <p:sp>
        <p:nvSpPr>
          <p:cNvPr id="87" name="TextBox 86"/>
          <p:cNvSpPr txBox="1"/>
          <p:nvPr/>
        </p:nvSpPr>
        <p:spPr>
          <a:xfrm>
            <a:off x="5020056" y="7754112"/>
            <a:ext cx="2103120" cy="438912"/>
          </a:xfrm>
          <a:prstGeom prst="rect">
            <a:avLst/>
          </a:prstGeom>
          <a:noFill/>
        </p:spPr>
        <p:txBody>
          <a:bodyPr wrap="square" anchor="ctr" lIns="0" rIns="0" tIns="0" bIns="0">
            <a:spAutoFit/>
          </a:bodyPr>
          <a:lstStyle/>
          <a:p>
            <a:pPr algn="r">
              <a:lnSpc>
                <a:spcPct val="110000"/>
              </a:lnSpc>
            </a:pPr>
            <a:r>
              <a:rPr sz="1600" b="1">
                <a:solidFill>
                  <a:srgbClr val="1428A0"/>
                </a:solidFill>
                <a:latin typeface="Arial"/>
                <a:ea typeface="Arial"/>
              </a:rPr>
              <a:t>1 DWPD (OP 7%)</a:t>
            </a:r>
          </a:p>
        </p:txBody>
      </p:sp>
      <p:sp>
        <p:nvSpPr>
          <p:cNvPr id="88" name="Rectangle 87"/>
          <p:cNvSpPr/>
          <p:nvPr/>
        </p:nvSpPr>
        <p:spPr>
          <a:xfrm>
            <a:off x="7214616" y="7827264"/>
            <a:ext cx="2377440" cy="2926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646920" y="7754112"/>
            <a:ext cx="1005840" cy="438912"/>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3.84TB</a:t>
            </a:r>
          </a:p>
        </p:txBody>
      </p:sp>
      <p:sp>
        <p:nvSpPr>
          <p:cNvPr id="90" name="TextBox 89"/>
          <p:cNvSpPr txBox="1"/>
          <p:nvPr/>
        </p:nvSpPr>
        <p:spPr>
          <a:xfrm>
            <a:off x="10643616" y="7370064"/>
            <a:ext cx="1280160" cy="731520"/>
          </a:xfrm>
          <a:prstGeom prst="rect">
            <a:avLst/>
          </a:prstGeom>
          <a:noFill/>
        </p:spPr>
        <p:txBody>
          <a:bodyPr wrap="square" anchor="ctr" lIns="0" rIns="0" tIns="0" bIns="0">
            <a:spAutoFit/>
          </a:bodyPr>
          <a:lstStyle/>
          <a:p>
            <a:pPr algn="l">
              <a:lnSpc>
                <a:spcPct val="110000"/>
              </a:lnSpc>
            </a:pPr>
            <a:r>
              <a:rPr sz="3200" b="1">
                <a:solidFill>
                  <a:srgbClr val="1428A0"/>
                </a:solidFill>
                <a:latin typeface="Arial"/>
                <a:ea typeface="Arial"/>
              </a:rPr>
              <a:t>+20%</a:t>
            </a:r>
          </a:p>
        </p:txBody>
      </p:sp>
      <p:sp>
        <p:nvSpPr>
          <p:cNvPr id="91" name="TextBox 90"/>
          <p:cNvSpPr txBox="1"/>
          <p:nvPr/>
        </p:nvSpPr>
        <p:spPr>
          <a:xfrm>
            <a:off x="996696" y="7936992"/>
            <a:ext cx="3840480" cy="36576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WAF가 내려가야 수명이 유지</a:t>
            </a:r>
          </a:p>
        </p:txBody>
      </p:sp>
      <p:sp>
        <p:nvSpPr>
          <p:cNvPr id="92" name="Rectangle 91"/>
          <p:cNvSpPr/>
          <p:nvPr/>
        </p:nvSpPr>
        <p:spPr>
          <a:xfrm>
            <a:off x="11969496" y="7223760"/>
            <a:ext cx="10972" cy="10424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2198096" y="7095744"/>
            <a:ext cx="5120640" cy="36576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초고DWPD 기반  </a:t>
            </a:r>
            <a:r>
              <a:rPr sz="1600" b="0">
                <a:solidFill>
                  <a:srgbClr val="555555"/>
                </a:solidFill>
                <a:latin typeface="Arial"/>
                <a:ea typeface="Arial"/>
              </a:rPr>
              <a:t>pSLC, WAF 3 → 1</a:t>
            </a:r>
          </a:p>
        </p:txBody>
      </p:sp>
      <p:sp>
        <p:nvSpPr>
          <p:cNvPr id="94" name="TextBox 93"/>
          <p:cNvSpPr txBox="1"/>
          <p:nvPr/>
        </p:nvSpPr>
        <p:spPr>
          <a:xfrm>
            <a:off x="12198096" y="7516368"/>
            <a:ext cx="914400" cy="36576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WAF 3</a:t>
            </a:r>
          </a:p>
        </p:txBody>
      </p:sp>
      <p:sp>
        <p:nvSpPr>
          <p:cNvPr id="95" name="Rectangle 94"/>
          <p:cNvSpPr/>
          <p:nvPr/>
        </p:nvSpPr>
        <p:spPr>
          <a:xfrm>
            <a:off x="13158216" y="7589520"/>
            <a:ext cx="1097280" cy="23774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4310359" y="7516368"/>
            <a:ext cx="109728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7 DWPD</a:t>
            </a:r>
          </a:p>
        </p:txBody>
      </p:sp>
      <p:sp>
        <p:nvSpPr>
          <p:cNvPr id="97" name="TextBox 96"/>
          <p:cNvSpPr txBox="1"/>
          <p:nvPr/>
        </p:nvSpPr>
        <p:spPr>
          <a:xfrm>
            <a:off x="12198096" y="7955280"/>
            <a:ext cx="914400" cy="36576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WAF 1</a:t>
            </a:r>
          </a:p>
        </p:txBody>
      </p:sp>
      <p:sp>
        <p:nvSpPr>
          <p:cNvPr id="98" name="Rectangle 97"/>
          <p:cNvSpPr/>
          <p:nvPr/>
        </p:nvSpPr>
        <p:spPr>
          <a:xfrm>
            <a:off x="13158216" y="8028432"/>
            <a:ext cx="3291840" cy="23774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6504920" y="7955280"/>
            <a:ext cx="1097280" cy="36576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21 DWPD</a:t>
            </a:r>
          </a:p>
        </p:txBody>
      </p:sp>
      <p:sp>
        <p:nvSpPr>
          <p:cNvPr id="100" name="Rectangle 99"/>
          <p:cNvSpPr/>
          <p:nvPr/>
        </p:nvSpPr>
        <p:spPr>
          <a:xfrm>
            <a:off x="722376" y="8631936"/>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결론</a:t>
            </a:r>
          </a:p>
        </p:txBody>
      </p:sp>
      <p:sp>
        <p:nvSpPr>
          <p:cNvPr id="102" name="TextBox 101"/>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300" b="1">
                <a:solidFill>
                  <a:srgbClr val="FFFFFF"/>
                </a:solidFill>
                <a:latin typeface="Arial"/>
                <a:ea typeface="Arial"/>
              </a:rPr>
              <a:t>고객과 함께 QLC의 꼬리 지연을 TLC 수준으로 맞추는 것이 가장 큰 수익성 지렛대입니다</a:t>
            </a:r>
          </a:p>
        </p:txBody>
      </p:sp>
      <p:sp>
        <p:nvSpPr>
          <p:cNvPr id="103" name="TextBox 102"/>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eSSD SK hynix · McKinsey, QLC 비중 TrendForce · 1 DWPD 이하 Forward Insights(재인용) · 실사용 Microsoft · NetApp · 가격 VDURA(2Q26) · 다이 밀도 Kioxia · TechInsights · 성능 각 사 데이터시트(같은 세대) · OP Solidigm D7-P5520/P5620 · 전환 가능 규모와 이익률은 과제팀 산술(별첨 A1) · 일부 수치 검색 확인</a:t>
            </a:r>
          </a:p>
        </p:txBody>
      </p:sp>
      <p:sp>
        <p:nvSpPr>
          <p:cNvPr id="104" name="TextBox 103"/>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고객과 함께 WAF를 낮춰, TLC 시장을 QLC로</a:t>
            </a:r>
            <a:r>
              <a:rPr sz="1800" b="0">
                <a:solidFill>
                  <a:srgbClr val="555555"/>
                </a:solidFill>
                <a:latin typeface="Arial"/>
                <a:ea typeface="Arial"/>
              </a:rPr>
              <a:t>   4 / 6  실행</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고객 협력은 계약 · 사람 · 역량으로 실행하고,</a:t>
            </a:r>
          </a:p>
          <a:p>
            <a:pPr algn="l">
              <a:lnSpc>
                <a:spcPct val="105000"/>
              </a:lnSpc>
            </a:pPr>
            <a:r>
              <a:rPr sz="3200" b="1">
                <a:solidFill>
                  <a:srgbClr val="1A1A1A"/>
                </a:solidFill>
                <a:latin typeface="Arial"/>
                <a:ea typeface="Arial"/>
              </a:rPr>
              <a:t>생산자원당 공헌이익으로 성과를 봅니다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4897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계약: 물량에 기술 협력을</a:t>
            </a:r>
          </a:p>
        </p:txBody>
      </p:sp>
      <p:pic>
        <p:nvPicPr>
          <p:cNvPr id="9" name="Picture 8" descr="micron.png"/>
          <p:cNvPicPr>
            <a:picLocks noChangeAspect="1"/>
          </p:cNvPicPr>
          <p:nvPr/>
        </p:nvPicPr>
        <p:blipFill>
          <a:blip r:embed="rId2"/>
          <a:stretch>
            <a:fillRect/>
          </a:stretch>
        </p:blipFill>
        <p:spPr>
          <a:xfrm>
            <a:off x="722376" y="2743200"/>
            <a:ext cx="1151291" cy="246888"/>
          </a:xfrm>
          <a:prstGeom prst="rect">
            <a:avLst/>
          </a:prstGeom>
        </p:spPr>
      </p:pic>
      <p:sp>
        <p:nvSpPr>
          <p:cNvPr id="10" name="TextBox 9"/>
          <p:cNvSpPr txBox="1"/>
          <p:nvPr/>
        </p:nvSpPr>
        <p:spPr>
          <a:xfrm>
            <a:off x="1946819" y="2688336"/>
            <a:ext cx="365760" cy="347472"/>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a:t>
            </a:r>
          </a:p>
        </p:txBody>
      </p:sp>
      <p:pic>
        <p:nvPicPr>
          <p:cNvPr id="11" name="Picture 10" descr="anthropic.png"/>
          <p:cNvPicPr>
            <a:picLocks noChangeAspect="1"/>
          </p:cNvPicPr>
          <p:nvPr/>
        </p:nvPicPr>
        <p:blipFill>
          <a:blip r:embed="rId3"/>
          <a:stretch>
            <a:fillRect/>
          </a:stretch>
        </p:blipFill>
        <p:spPr>
          <a:xfrm>
            <a:off x="2385731" y="2779776"/>
            <a:ext cx="1532964" cy="173736"/>
          </a:xfrm>
          <a:prstGeom prst="rect">
            <a:avLst/>
          </a:prstGeom>
        </p:spPr>
      </p:pic>
      <p:sp>
        <p:nvSpPr>
          <p:cNvPr id="12" name="TextBox 11"/>
          <p:cNvSpPr txBox="1"/>
          <p:nvPr/>
        </p:nvSpPr>
        <p:spPr>
          <a:xfrm>
            <a:off x="4046711" y="2688336"/>
            <a:ext cx="109728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2026-06</a:t>
            </a:r>
          </a:p>
        </p:txBody>
      </p:sp>
      <p:sp>
        <p:nvSpPr>
          <p:cNvPr id="13" name="Rounded Rectangle 12"/>
          <p:cNvSpPr/>
          <p:nvPr/>
        </p:nvSpPr>
        <p:spPr>
          <a:xfrm>
            <a:off x="722376" y="3218688"/>
            <a:ext cx="4114800" cy="493776"/>
          </a:xfrm>
          <a:prstGeom prst="roundRect">
            <a:avLst>
              <a:gd name="adj" fmla="val 148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18688"/>
            <a:ext cx="4005072" cy="493776"/>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자본 연계 (선택)</a:t>
            </a:r>
          </a:p>
        </p:txBody>
      </p:sp>
      <p:sp>
        <p:nvSpPr>
          <p:cNvPr id="15" name="Rounded Rectangle 14"/>
          <p:cNvSpPr/>
          <p:nvPr/>
        </p:nvSpPr>
        <p:spPr>
          <a:xfrm>
            <a:off x="722376" y="3803904"/>
            <a:ext cx="4114800" cy="493776"/>
          </a:xfrm>
          <a:prstGeom prst="roundRect">
            <a:avLst>
              <a:gd name="adj" fmla="val 14814"/>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803904"/>
            <a:ext cx="40050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운영 통합</a:t>
            </a:r>
          </a:p>
        </p:txBody>
      </p:sp>
      <p:sp>
        <p:nvSpPr>
          <p:cNvPr id="17" name="Rounded Rectangle 16"/>
          <p:cNvSpPr/>
          <p:nvPr/>
        </p:nvSpPr>
        <p:spPr>
          <a:xfrm>
            <a:off x="722376" y="4389120"/>
            <a:ext cx="4114800" cy="493776"/>
          </a:xfrm>
          <a:prstGeom prst="roundRect">
            <a:avLst>
              <a:gd name="adj" fmla="val 14814"/>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389120"/>
            <a:ext cx="40050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공동 설계 · 최적화</a:t>
            </a:r>
          </a:p>
        </p:txBody>
      </p:sp>
      <p:sp>
        <p:nvSpPr>
          <p:cNvPr id="19" name="Rounded Rectangle 18"/>
          <p:cNvSpPr/>
          <p:nvPr/>
        </p:nvSpPr>
        <p:spPr>
          <a:xfrm>
            <a:off x="722376" y="4974336"/>
            <a:ext cx="4114800" cy="493776"/>
          </a:xfrm>
          <a:prstGeom prst="roundRect">
            <a:avLst>
              <a:gd name="adj" fmla="val 14814"/>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74336"/>
            <a:ext cx="40050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MYD (다년 물량)</a:t>
            </a:r>
          </a:p>
        </p:txBody>
      </p:sp>
      <p:sp>
        <p:nvSpPr>
          <p:cNvPr id="21" name="Rectangle 20"/>
          <p:cNvSpPr/>
          <p:nvPr/>
        </p:nvSpPr>
        <p:spPr>
          <a:xfrm>
            <a:off x="4928616" y="3803904"/>
            <a:ext cx="32004" cy="1078991"/>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55464" y="3803904"/>
            <a:ext cx="91440"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855464" y="4850892"/>
            <a:ext cx="91440"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0056" y="3803904"/>
            <a:ext cx="777240" cy="1078991"/>
          </a:xfrm>
          <a:prstGeom prst="rect">
            <a:avLst/>
          </a:prstGeom>
          <a:noFill/>
        </p:spPr>
        <p:txBody>
          <a:bodyPr wrap="square" anchor="ctr" lIns="0" rIns="0" tIns="0" bIns="0">
            <a:spAutoFit/>
          </a:bodyPr>
          <a:lstStyle/>
          <a:p>
            <a:pPr algn="l">
              <a:lnSpc>
                <a:spcPct val="100000"/>
              </a:lnSpc>
            </a:pPr>
            <a:r>
              <a:rPr sz="1800" b="1">
                <a:solidFill>
                  <a:srgbClr val="1428A0"/>
                </a:solidFill>
                <a:latin typeface="Arial"/>
                <a:ea typeface="Arial"/>
              </a:rPr>
              <a:t>기술</a:t>
            </a:r>
          </a:p>
          <a:p>
            <a:pPr algn="l">
              <a:lnSpc>
                <a:spcPct val="100000"/>
              </a:lnSpc>
            </a:pPr>
            <a:r>
              <a:rPr sz="1800" b="1">
                <a:solidFill>
                  <a:srgbClr val="1428A0"/>
                </a:solidFill>
                <a:latin typeface="Arial"/>
                <a:ea typeface="Arial"/>
              </a:rPr>
              <a:t>협력</a:t>
            </a:r>
          </a:p>
        </p:txBody>
      </p:sp>
      <p:sp>
        <p:nvSpPr>
          <p:cNvPr id="25" name="TextBox 24"/>
          <p:cNvSpPr txBox="1"/>
          <p:nvPr/>
        </p:nvSpPr>
        <p:spPr>
          <a:xfrm>
            <a:off x="722376" y="6345936"/>
            <a:ext cx="5074920" cy="402336"/>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MYD 위에 기술 협력을 쌓습니다</a:t>
            </a:r>
          </a:p>
        </p:txBody>
      </p:sp>
      <p:sp>
        <p:nvSpPr>
          <p:cNvPr id="26" name="Oval 25"/>
          <p:cNvSpPr/>
          <p:nvPr/>
        </p:nvSpPr>
        <p:spPr>
          <a:xfrm>
            <a:off x="5989320"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28" name="TextBox 27"/>
          <p:cNvSpPr txBox="1"/>
          <p:nvPr/>
        </p:nvSpPr>
        <p:spPr>
          <a:xfrm>
            <a:off x="6574536" y="2103120"/>
            <a:ext cx="57241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사람: 고객 안에 상주</a:t>
            </a:r>
          </a:p>
        </p:txBody>
      </p:sp>
      <p:pic>
        <p:nvPicPr>
          <p:cNvPr id="29" name="Picture 28" descr="palantir.png"/>
          <p:cNvPicPr>
            <a:picLocks noChangeAspect="1"/>
          </p:cNvPicPr>
          <p:nvPr/>
        </p:nvPicPr>
        <p:blipFill>
          <a:blip r:embed="rId4"/>
          <a:stretch>
            <a:fillRect/>
          </a:stretch>
        </p:blipFill>
        <p:spPr>
          <a:xfrm>
            <a:off x="5989320" y="2715768"/>
            <a:ext cx="310896" cy="310896"/>
          </a:xfrm>
          <a:prstGeom prst="rect">
            <a:avLst/>
          </a:prstGeom>
        </p:spPr>
      </p:pic>
      <p:sp>
        <p:nvSpPr>
          <p:cNvPr id="30" name="TextBox 29"/>
          <p:cNvSpPr txBox="1"/>
          <p:nvPr/>
        </p:nvSpPr>
        <p:spPr>
          <a:xfrm>
            <a:off x="6391656" y="2688336"/>
            <a:ext cx="5907024"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Palantir FDE</a:t>
            </a:r>
            <a:r>
              <a:rPr sz="1600" b="0">
                <a:solidFill>
                  <a:srgbClr val="555555"/>
                </a:solidFill>
                <a:latin typeface="Arial"/>
                <a:ea typeface="Arial"/>
              </a:rPr>
              <a:t>   Anthropic · OpenAI도 채택</a:t>
            </a:r>
          </a:p>
        </p:txBody>
      </p:sp>
      <p:sp>
        <p:nvSpPr>
          <p:cNvPr id="31" name="Rounded Rectangle 30"/>
          <p:cNvSpPr/>
          <p:nvPr/>
        </p:nvSpPr>
        <p:spPr>
          <a:xfrm>
            <a:off x="5989320" y="3218688"/>
            <a:ext cx="6309360" cy="3035808"/>
          </a:xfrm>
          <a:prstGeom prst="roundRect">
            <a:avLst>
              <a:gd name="adj" fmla="val 2409"/>
            </a:avLst>
          </a:prstGeom>
          <a:solidFill>
            <a:srgbClr val="EEF1FA"/>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59" y="3273552"/>
            <a:ext cx="2834640" cy="292608"/>
          </a:xfrm>
          <a:prstGeom prst="rect">
            <a:avLst/>
          </a:prstGeom>
          <a:noFill/>
        </p:spPr>
        <p:txBody>
          <a:bodyPr wrap="square" anchor="ctr" lIns="0" rIns="0" tIns="0" bIns="0">
            <a:spAutoFit/>
          </a:bodyPr>
          <a:lstStyle/>
          <a:p>
            <a:pPr algn="r">
              <a:lnSpc>
                <a:spcPct val="110000"/>
              </a:lnSpc>
            </a:pPr>
            <a:r>
              <a:rPr sz="1600" b="1">
                <a:solidFill>
                  <a:srgbClr val="1428A0"/>
                </a:solidFill>
                <a:latin typeface="Arial"/>
                <a:ea typeface="Arial"/>
              </a:rPr>
              <a:t>고객 AI 데이터센터 안에서</a:t>
            </a:r>
          </a:p>
        </p:txBody>
      </p:sp>
      <p:sp>
        <p:nvSpPr>
          <p:cNvPr id="33" name="Rounded Rectangle 32"/>
          <p:cNvSpPr/>
          <p:nvPr/>
        </p:nvSpPr>
        <p:spPr>
          <a:xfrm>
            <a:off x="6153912" y="3621024"/>
            <a:ext cx="1810512" cy="2505456"/>
          </a:xfrm>
          <a:prstGeom prst="roundRect">
            <a:avLst>
              <a:gd name="adj" fmla="val 404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263640" y="3730752"/>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3730752"/>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36" name="TextBox 35"/>
          <p:cNvSpPr txBox="1"/>
          <p:nvPr/>
        </p:nvSpPr>
        <p:spPr>
          <a:xfrm>
            <a:off x="6227064" y="4169663"/>
            <a:ext cx="1664208" cy="1005840"/>
          </a:xfrm>
          <a:prstGeom prst="rect">
            <a:avLst/>
          </a:prstGeom>
          <a:noFill/>
        </p:spPr>
        <p:txBody>
          <a:bodyPr wrap="square" anchor="ctr" lIns="0" rIns="0" tIns="0" bIns="0">
            <a:spAutoFit/>
          </a:bodyPr>
          <a:lstStyle/>
          <a:p>
            <a:pPr algn="ctr">
              <a:lnSpc>
                <a:spcPct val="105000"/>
              </a:lnSpc>
            </a:pPr>
            <a:r>
              <a:rPr sz="1600" b="0">
                <a:solidFill>
                  <a:srgbClr val="555555"/>
                </a:solidFill>
                <a:latin typeface="Arial"/>
                <a:ea typeface="Arial"/>
              </a:rPr>
              <a:t>고객 워크로드</a:t>
            </a:r>
          </a:p>
          <a:p>
            <a:pPr algn="ctr">
              <a:lnSpc>
                <a:spcPct val="105000"/>
              </a:lnSpc>
            </a:pPr>
            <a:r>
              <a:rPr sz="1900" b="1">
                <a:solidFill>
                  <a:srgbClr val="1428A0"/>
                </a:solidFill>
                <a:latin typeface="Arial"/>
                <a:ea typeface="Arial"/>
              </a:rPr>
              <a:t>측정 · 분석</a:t>
            </a:r>
          </a:p>
          <a:p>
            <a:pPr algn="ctr">
              <a:lnSpc>
                <a:spcPct val="105000"/>
              </a:lnSpc>
            </a:pPr>
            <a:r>
              <a:rPr sz="1500" b="0">
                <a:solidFill>
                  <a:srgbClr val="555555"/>
                </a:solidFill>
                <a:latin typeface="Arial"/>
                <a:ea typeface="Arial"/>
              </a:rPr>
              <a:t>쓰기 크기 · 수명</a:t>
            </a:r>
          </a:p>
        </p:txBody>
      </p:sp>
      <p:sp>
        <p:nvSpPr>
          <p:cNvPr id="37" name="Chevron 36"/>
          <p:cNvSpPr/>
          <p:nvPr/>
        </p:nvSpPr>
        <p:spPr>
          <a:xfrm>
            <a:off x="8028431" y="4645152"/>
            <a:ext cx="146304" cy="457200"/>
          </a:xfrm>
          <a:prstGeom prst="chevron">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38744" y="3621024"/>
            <a:ext cx="1810512" cy="2505456"/>
          </a:xfrm>
          <a:prstGeom prst="roundRect">
            <a:avLst>
              <a:gd name="adj" fmla="val 404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471" y="3730752"/>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48471" y="3730752"/>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41" name="TextBox 40"/>
          <p:cNvSpPr txBox="1"/>
          <p:nvPr/>
        </p:nvSpPr>
        <p:spPr>
          <a:xfrm>
            <a:off x="8311896" y="4169663"/>
            <a:ext cx="1664208" cy="1005840"/>
          </a:xfrm>
          <a:prstGeom prst="rect">
            <a:avLst/>
          </a:prstGeom>
          <a:noFill/>
        </p:spPr>
        <p:txBody>
          <a:bodyPr wrap="square" anchor="ctr" lIns="0" rIns="0" tIns="0" bIns="0">
            <a:spAutoFit/>
          </a:bodyPr>
          <a:lstStyle/>
          <a:p>
            <a:pPr algn="ctr">
              <a:lnSpc>
                <a:spcPct val="105000"/>
              </a:lnSpc>
            </a:pPr>
            <a:r>
              <a:rPr sz="1600" b="0">
                <a:solidFill>
                  <a:srgbClr val="555555"/>
                </a:solidFill>
                <a:latin typeface="Arial"/>
                <a:ea typeface="Arial"/>
              </a:rPr>
              <a:t>호스트 SW</a:t>
            </a:r>
          </a:p>
          <a:p>
            <a:pPr algn="ctr">
              <a:lnSpc>
                <a:spcPct val="105000"/>
              </a:lnSpc>
            </a:pPr>
            <a:r>
              <a:rPr sz="1900" b="1">
                <a:solidFill>
                  <a:srgbClr val="1428A0"/>
                </a:solidFill>
                <a:latin typeface="Arial"/>
                <a:ea typeface="Arial"/>
              </a:rPr>
              <a:t>최적화 · 평가</a:t>
            </a:r>
          </a:p>
          <a:p>
            <a:pPr algn="ctr">
              <a:lnSpc>
                <a:spcPct val="105000"/>
              </a:lnSpc>
            </a:pPr>
            <a:r>
              <a:rPr sz="1500" b="0">
                <a:solidFill>
                  <a:srgbClr val="555555"/>
                </a:solidFill>
                <a:latin typeface="Arial"/>
                <a:ea typeface="Arial"/>
              </a:rPr>
              <a:t>WAF · p99.9</a:t>
            </a:r>
          </a:p>
        </p:txBody>
      </p:sp>
      <p:sp>
        <p:nvSpPr>
          <p:cNvPr id="42" name="Chevron 41"/>
          <p:cNvSpPr/>
          <p:nvPr/>
        </p:nvSpPr>
        <p:spPr>
          <a:xfrm>
            <a:off x="10113264" y="4645152"/>
            <a:ext cx="146304" cy="457200"/>
          </a:xfrm>
          <a:prstGeom prst="chevron">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323576" y="3621024"/>
            <a:ext cx="1810512" cy="2505456"/>
          </a:xfrm>
          <a:prstGeom prst="roundRect">
            <a:avLst>
              <a:gd name="adj" fmla="val 404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33303" y="3730752"/>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33303" y="3730752"/>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46" name="TextBox 45"/>
          <p:cNvSpPr txBox="1"/>
          <p:nvPr/>
        </p:nvSpPr>
        <p:spPr>
          <a:xfrm>
            <a:off x="10396728" y="4169663"/>
            <a:ext cx="1664208" cy="1005840"/>
          </a:xfrm>
          <a:prstGeom prst="rect">
            <a:avLst/>
          </a:prstGeom>
          <a:noFill/>
        </p:spPr>
        <p:txBody>
          <a:bodyPr wrap="square" anchor="ctr" lIns="0" rIns="0" tIns="0" bIns="0">
            <a:spAutoFit/>
          </a:bodyPr>
          <a:lstStyle/>
          <a:p>
            <a:pPr algn="ctr">
              <a:lnSpc>
                <a:spcPct val="105000"/>
              </a:lnSpc>
            </a:pPr>
            <a:r>
              <a:rPr sz="1600" b="0">
                <a:solidFill>
                  <a:srgbClr val="555555"/>
                </a:solidFill>
                <a:latin typeface="Arial"/>
                <a:ea typeface="Arial"/>
              </a:rPr>
              <a:t>차세대 제품</a:t>
            </a:r>
          </a:p>
          <a:p>
            <a:pPr algn="ctr">
              <a:lnSpc>
                <a:spcPct val="105000"/>
              </a:lnSpc>
            </a:pPr>
            <a:r>
              <a:rPr sz="1900" b="1">
                <a:solidFill>
                  <a:srgbClr val="1428A0"/>
                </a:solidFill>
                <a:latin typeface="Arial"/>
                <a:ea typeface="Arial"/>
              </a:rPr>
              <a:t>기술 교류</a:t>
            </a:r>
          </a:p>
          <a:p>
            <a:pPr algn="ctr">
              <a:lnSpc>
                <a:spcPct val="105000"/>
              </a:lnSpc>
            </a:pPr>
            <a:r>
              <a:rPr sz="1500" b="0">
                <a:solidFill>
                  <a:srgbClr val="555555"/>
                </a:solidFill>
                <a:latin typeface="Arial"/>
                <a:ea typeface="Arial"/>
              </a:rPr>
              <a:t>사양 · RFQ</a:t>
            </a:r>
          </a:p>
        </p:txBody>
      </p:sp>
      <p:sp>
        <p:nvSpPr>
          <p:cNvPr id="47" name="TextBox 46"/>
          <p:cNvSpPr txBox="1"/>
          <p:nvPr/>
        </p:nvSpPr>
        <p:spPr>
          <a:xfrm>
            <a:off x="5989320" y="6345936"/>
            <a:ext cx="6309360" cy="402336"/>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고객 안에서 요구를 찾고 수요를 함께 만듭니다</a:t>
            </a:r>
          </a:p>
        </p:txBody>
      </p:sp>
      <p:sp>
        <p:nvSpPr>
          <p:cNvPr id="48" name="Oval 47"/>
          <p:cNvSpPr/>
          <p:nvPr/>
        </p:nvSpPr>
        <p:spPr>
          <a:xfrm>
            <a:off x="12490704"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490704"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50" name="TextBox 49"/>
          <p:cNvSpPr txBox="1"/>
          <p:nvPr/>
        </p:nvSpPr>
        <p:spPr>
          <a:xfrm>
            <a:off x="13075920" y="2103120"/>
            <a:ext cx="44897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역량: 고객처럼 보는 눈</a:t>
            </a:r>
          </a:p>
        </p:txBody>
      </p:sp>
      <p:sp>
        <p:nvSpPr>
          <p:cNvPr id="51" name="TextBox 50"/>
          <p:cNvSpPr txBox="1"/>
          <p:nvPr/>
        </p:nvSpPr>
        <p:spPr>
          <a:xfrm>
            <a:off x="14045184" y="2706624"/>
            <a:ext cx="1097280" cy="329184"/>
          </a:xfrm>
          <a:prstGeom prst="rect">
            <a:avLst/>
          </a:prstGeom>
          <a:noFill/>
        </p:spPr>
        <p:txBody>
          <a:bodyPr wrap="square" anchor="t" lIns="0" rIns="0" tIns="0" bIns="0">
            <a:spAutoFit/>
          </a:bodyPr>
          <a:lstStyle/>
          <a:p>
            <a:pPr algn="ctr">
              <a:lnSpc>
                <a:spcPct val="110000"/>
              </a:lnSpc>
            </a:pPr>
            <a:r>
              <a:rPr sz="1800" b="1">
                <a:solidFill>
                  <a:srgbClr val="8A8A8A"/>
                </a:solidFill>
                <a:latin typeface="Arial"/>
                <a:ea typeface="Arial"/>
              </a:rPr>
              <a:t>지금</a:t>
            </a:r>
          </a:p>
        </p:txBody>
      </p:sp>
      <p:sp>
        <p:nvSpPr>
          <p:cNvPr id="52" name="TextBox 51"/>
          <p:cNvSpPr txBox="1"/>
          <p:nvPr/>
        </p:nvSpPr>
        <p:spPr>
          <a:xfrm>
            <a:off x="15233904" y="2706624"/>
            <a:ext cx="2331720" cy="329184"/>
          </a:xfrm>
          <a:prstGeom prst="rect">
            <a:avLst/>
          </a:prstGeom>
          <a:noFill/>
        </p:spPr>
        <p:txBody>
          <a:bodyPr wrap="square" anchor="t" lIns="0" rIns="0" tIns="0" bIns="0">
            <a:spAutoFit/>
          </a:bodyPr>
          <a:lstStyle/>
          <a:p>
            <a:pPr algn="ctr">
              <a:lnSpc>
                <a:spcPct val="110000"/>
              </a:lnSpc>
            </a:pPr>
            <a:r>
              <a:rPr sz="1800" b="1">
                <a:solidFill>
                  <a:srgbClr val="1428A0"/>
                </a:solidFill>
                <a:latin typeface="Arial"/>
                <a:ea typeface="Arial"/>
              </a:rPr>
              <a:t>필요한 기술</a:t>
            </a:r>
          </a:p>
        </p:txBody>
      </p:sp>
      <p:sp>
        <p:nvSpPr>
          <p:cNvPr id="53" name="TextBox 52"/>
          <p:cNvSpPr txBox="1"/>
          <p:nvPr/>
        </p:nvSpPr>
        <p:spPr>
          <a:xfrm>
            <a:off x="12490704" y="3108960"/>
            <a:ext cx="1481328" cy="438912"/>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AI DC 운영</a:t>
            </a:r>
          </a:p>
        </p:txBody>
      </p:sp>
      <p:sp>
        <p:nvSpPr>
          <p:cNvPr id="54" name="Rounded Rectangle 53"/>
          <p:cNvSpPr/>
          <p:nvPr/>
        </p:nvSpPr>
        <p:spPr>
          <a:xfrm>
            <a:off x="14045184" y="3108960"/>
            <a:ext cx="1097280" cy="438912"/>
          </a:xfrm>
          <a:prstGeom prst="roundRect">
            <a:avLst>
              <a:gd name="adj" fmla="val 16666"/>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4100048" y="3108960"/>
            <a:ext cx="987552" cy="438912"/>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없음</a:t>
            </a:r>
          </a:p>
        </p:txBody>
      </p:sp>
      <p:sp>
        <p:nvSpPr>
          <p:cNvPr id="56" name="Rounded Rectangle 55"/>
          <p:cNvSpPr/>
          <p:nvPr/>
        </p:nvSpPr>
        <p:spPr>
          <a:xfrm>
            <a:off x="15233904" y="3108960"/>
            <a:ext cx="233172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288767" y="3108960"/>
            <a:ext cx="2221991" cy="438912"/>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TCO · 추론 SLO</a:t>
            </a:r>
          </a:p>
        </p:txBody>
      </p:sp>
      <p:sp>
        <p:nvSpPr>
          <p:cNvPr id="58" name="TextBox 57"/>
          <p:cNvSpPr txBox="1"/>
          <p:nvPr/>
        </p:nvSpPr>
        <p:spPr>
          <a:xfrm>
            <a:off x="12490704" y="3621024"/>
            <a:ext cx="1481328" cy="438912"/>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KV 캐시 SW</a:t>
            </a:r>
          </a:p>
        </p:txBody>
      </p:sp>
      <p:sp>
        <p:nvSpPr>
          <p:cNvPr id="59" name="Rounded Rectangle 58"/>
          <p:cNvSpPr/>
          <p:nvPr/>
        </p:nvSpPr>
        <p:spPr>
          <a:xfrm>
            <a:off x="14045184" y="3621024"/>
            <a:ext cx="109728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4100048" y="3621024"/>
            <a:ext cx="987552" cy="438912"/>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LMCache</a:t>
            </a:r>
          </a:p>
        </p:txBody>
      </p:sp>
      <p:sp>
        <p:nvSpPr>
          <p:cNvPr id="61" name="Rounded Rectangle 60"/>
          <p:cNvSpPr/>
          <p:nvPr/>
        </p:nvSpPr>
        <p:spPr>
          <a:xfrm>
            <a:off x="15233904" y="3621024"/>
            <a:ext cx="233172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5288767" y="3621024"/>
            <a:ext cx="2221991" cy="438912"/>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Dynamo · Mooncake</a:t>
            </a:r>
          </a:p>
        </p:txBody>
      </p:sp>
      <p:sp>
        <p:nvSpPr>
          <p:cNvPr id="63" name="TextBox 62"/>
          <p:cNvSpPr txBox="1"/>
          <p:nvPr/>
        </p:nvSpPr>
        <p:spPr>
          <a:xfrm>
            <a:off x="12490704" y="4133087"/>
            <a:ext cx="1481328" cy="438912"/>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커널 · I/O</a:t>
            </a:r>
          </a:p>
        </p:txBody>
      </p:sp>
      <p:sp>
        <p:nvSpPr>
          <p:cNvPr id="64" name="Rounded Rectangle 63"/>
          <p:cNvSpPr/>
          <p:nvPr/>
        </p:nvSpPr>
        <p:spPr>
          <a:xfrm>
            <a:off x="14045184" y="4133087"/>
            <a:ext cx="109728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4100048" y="4133087"/>
            <a:ext cx="987552" cy="438912"/>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일부</a:t>
            </a:r>
          </a:p>
        </p:txBody>
      </p:sp>
      <p:sp>
        <p:nvSpPr>
          <p:cNvPr id="66" name="Rounded Rectangle 65"/>
          <p:cNvSpPr/>
          <p:nvPr/>
        </p:nvSpPr>
        <p:spPr>
          <a:xfrm>
            <a:off x="15233904" y="4133087"/>
            <a:ext cx="233172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288767" y="4133087"/>
            <a:ext cx="2221991" cy="438912"/>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io_uring · NIXL</a:t>
            </a:r>
          </a:p>
        </p:txBody>
      </p:sp>
      <p:sp>
        <p:nvSpPr>
          <p:cNvPr id="68" name="TextBox 67"/>
          <p:cNvSpPr txBox="1"/>
          <p:nvPr/>
        </p:nvSpPr>
        <p:spPr>
          <a:xfrm>
            <a:off x="12490704" y="4645152"/>
            <a:ext cx="1481328"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SSD FW</a:t>
            </a:r>
          </a:p>
        </p:txBody>
      </p:sp>
      <p:sp>
        <p:nvSpPr>
          <p:cNvPr id="69" name="Rounded Rectangle 68"/>
          <p:cNvSpPr/>
          <p:nvPr/>
        </p:nvSpPr>
        <p:spPr>
          <a:xfrm>
            <a:off x="14045184" y="4645152"/>
            <a:ext cx="109728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4100048" y="4645152"/>
            <a:ext cx="987552"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강점</a:t>
            </a:r>
          </a:p>
        </p:txBody>
      </p:sp>
      <p:sp>
        <p:nvSpPr>
          <p:cNvPr id="71" name="Rounded Rectangle 70"/>
          <p:cNvSpPr/>
          <p:nvPr/>
        </p:nvSpPr>
        <p:spPr>
          <a:xfrm>
            <a:off x="15233904" y="4645152"/>
            <a:ext cx="2331720" cy="438912"/>
          </a:xfrm>
          <a:prstGeom prst="roundRect">
            <a:avLst>
              <a:gd name="adj" fmla="val 16666"/>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5288767" y="4645152"/>
            <a:ext cx="2221991" cy="438912"/>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FDP · QoS</a:t>
            </a:r>
          </a:p>
        </p:txBody>
      </p:sp>
      <p:sp>
        <p:nvSpPr>
          <p:cNvPr id="73" name="TextBox 72"/>
          <p:cNvSpPr txBox="1"/>
          <p:nvPr/>
        </p:nvSpPr>
        <p:spPr>
          <a:xfrm>
            <a:off x="12490704" y="5157216"/>
            <a:ext cx="1481328"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NAND</a:t>
            </a:r>
          </a:p>
        </p:txBody>
      </p:sp>
      <p:sp>
        <p:nvSpPr>
          <p:cNvPr id="74" name="Rounded Rectangle 73"/>
          <p:cNvSpPr/>
          <p:nvPr/>
        </p:nvSpPr>
        <p:spPr>
          <a:xfrm>
            <a:off x="14045184" y="5157216"/>
            <a:ext cx="109728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4100048" y="5157216"/>
            <a:ext cx="987552"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강점</a:t>
            </a:r>
          </a:p>
        </p:txBody>
      </p:sp>
      <p:sp>
        <p:nvSpPr>
          <p:cNvPr id="76" name="Rounded Rectangle 75"/>
          <p:cNvSpPr/>
          <p:nvPr/>
        </p:nvSpPr>
        <p:spPr>
          <a:xfrm>
            <a:off x="15233904" y="5157216"/>
            <a:ext cx="2331720" cy="438912"/>
          </a:xfrm>
          <a:prstGeom prst="roundRect">
            <a:avLst>
              <a:gd name="adj" fmla="val 16666"/>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288767" y="5157216"/>
            <a:ext cx="2221991" cy="438912"/>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최신 세대 QLC</a:t>
            </a:r>
          </a:p>
        </p:txBody>
      </p:sp>
      <p:sp>
        <p:nvSpPr>
          <p:cNvPr id="78" name="TextBox 77"/>
          <p:cNvSpPr txBox="1"/>
          <p:nvPr/>
        </p:nvSpPr>
        <p:spPr>
          <a:xfrm>
            <a:off x="12490704" y="6345936"/>
            <a:ext cx="5074920" cy="402336"/>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엔지니어 수준의 고객 관계까지</a:t>
            </a:r>
          </a:p>
        </p:txBody>
      </p:sp>
      <p:sp>
        <p:nvSpPr>
          <p:cNvPr id="79" name="Rectangle 78"/>
          <p:cNvSpPr/>
          <p:nvPr/>
        </p:nvSpPr>
        <p:spPr>
          <a:xfrm>
            <a:off x="722376" y="6876288"/>
            <a:ext cx="16843248"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22376" y="6986016"/>
            <a:ext cx="1828800"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시점</a:t>
            </a:r>
          </a:p>
        </p:txBody>
      </p:sp>
      <p:sp>
        <p:nvSpPr>
          <p:cNvPr id="81" name="Pentagon 80"/>
          <p:cNvSpPr/>
          <p:nvPr/>
        </p:nvSpPr>
        <p:spPr>
          <a:xfrm>
            <a:off x="1911095" y="6986016"/>
            <a:ext cx="7735824" cy="475488"/>
          </a:xfrm>
          <a:prstGeom prst="homePlate">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185415" y="6986016"/>
            <a:ext cx="7187184" cy="47548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2026~27 공급 부족기  </a:t>
            </a:r>
            <a:r>
              <a:rPr sz="1600" b="0">
                <a:solidFill>
                  <a:srgbClr val="555555"/>
                </a:solidFill>
                <a:latin typeface="Arial"/>
                <a:ea typeface="Arial"/>
              </a:rPr>
              <a:t>공동 검증: QLC 꼬리 지연 실측 · 레퍼런스</a:t>
            </a:r>
          </a:p>
        </p:txBody>
      </p:sp>
      <p:sp>
        <p:nvSpPr>
          <p:cNvPr id="83" name="Chevron 82"/>
          <p:cNvSpPr/>
          <p:nvPr/>
        </p:nvSpPr>
        <p:spPr>
          <a:xfrm>
            <a:off x="9829800" y="6986016"/>
            <a:ext cx="7735824" cy="475488"/>
          </a:xfrm>
          <a:prstGeom prst="chevron">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104120" y="6986016"/>
            <a:ext cx="7187184" cy="475488"/>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2028~ 공급 완화  </a:t>
            </a:r>
            <a:r>
              <a:rPr sz="1600" b="0">
                <a:solidFill>
                  <a:srgbClr val="FFFFFF"/>
                </a:solidFill>
                <a:latin typeface="Arial"/>
                <a:ea typeface="Arial"/>
              </a:rPr>
              <a:t>TLC 시장의 QLC 본격 전환, TCO 기반 장기 계약</a:t>
            </a:r>
          </a:p>
        </p:txBody>
      </p:sp>
      <p:sp>
        <p:nvSpPr>
          <p:cNvPr id="85" name="TextBox 84"/>
          <p:cNvSpPr txBox="1"/>
          <p:nvPr/>
        </p:nvSpPr>
        <p:spPr>
          <a:xfrm>
            <a:off x="722376" y="7717536"/>
            <a:ext cx="1828800"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KPI</a:t>
            </a:r>
          </a:p>
        </p:txBody>
      </p:sp>
      <p:sp>
        <p:nvSpPr>
          <p:cNvPr id="86" name="Rounded Rectangle 85"/>
          <p:cNvSpPr/>
          <p:nvPr/>
        </p:nvSpPr>
        <p:spPr>
          <a:xfrm>
            <a:off x="1911095" y="7680960"/>
            <a:ext cx="3886200" cy="457200"/>
          </a:xfrm>
          <a:prstGeom prst="roundRect">
            <a:avLst>
              <a:gd name="adj" fmla="val 16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965960" y="7680960"/>
            <a:ext cx="3776472" cy="45720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NAND 생산자원당 공헌이익</a:t>
            </a:r>
          </a:p>
        </p:txBody>
      </p:sp>
      <p:sp>
        <p:nvSpPr>
          <p:cNvPr id="88" name="Rounded Rectangle 87"/>
          <p:cNvSpPr/>
          <p:nvPr/>
        </p:nvSpPr>
        <p:spPr>
          <a:xfrm>
            <a:off x="5961888" y="7680960"/>
            <a:ext cx="2057400" cy="457200"/>
          </a:xfrm>
          <a:prstGeom prst="roundRect">
            <a:avLst>
              <a:gd name="adj" fmla="val 16000"/>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016751" y="7680960"/>
            <a:ext cx="1947672" cy="457200"/>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QLC 전환율</a:t>
            </a:r>
          </a:p>
        </p:txBody>
      </p:sp>
      <p:sp>
        <p:nvSpPr>
          <p:cNvPr id="90" name="Rounded Rectangle 89"/>
          <p:cNvSpPr/>
          <p:nvPr/>
        </p:nvSpPr>
        <p:spPr>
          <a:xfrm>
            <a:off x="8183879" y="7680960"/>
            <a:ext cx="1143000" cy="457200"/>
          </a:xfrm>
          <a:prstGeom prst="roundRect">
            <a:avLst>
              <a:gd name="adj" fmla="val 16000"/>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238744" y="7680960"/>
            <a:ext cx="1033271" cy="457200"/>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WAF</a:t>
            </a:r>
          </a:p>
        </p:txBody>
      </p:sp>
      <p:sp>
        <p:nvSpPr>
          <p:cNvPr id="92" name="Rounded Rectangle 91"/>
          <p:cNvSpPr/>
          <p:nvPr/>
        </p:nvSpPr>
        <p:spPr>
          <a:xfrm>
            <a:off x="9491472" y="7680960"/>
            <a:ext cx="2286000" cy="457200"/>
          </a:xfrm>
          <a:prstGeom prst="roundRect">
            <a:avLst>
              <a:gd name="adj" fmla="val 16000"/>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546336" y="7680960"/>
            <a:ext cx="2176272" cy="457200"/>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p99.9 지연</a:t>
            </a:r>
          </a:p>
        </p:txBody>
      </p:sp>
      <p:sp>
        <p:nvSpPr>
          <p:cNvPr id="94" name="TextBox 93"/>
          <p:cNvSpPr txBox="1"/>
          <p:nvPr/>
        </p:nvSpPr>
        <p:spPr>
          <a:xfrm>
            <a:off x="12033503" y="7680960"/>
            <a:ext cx="553212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기존 고객 협력 전략과 같은 방식, 성과 지표만 더합니다</a:t>
            </a:r>
          </a:p>
        </p:txBody>
      </p:sp>
      <p:sp>
        <p:nvSpPr>
          <p:cNvPr id="95" name="Rectangle 94"/>
          <p:cNvSpPr/>
          <p:nvPr/>
        </p:nvSpPr>
        <p:spPr>
          <a:xfrm>
            <a:off x="722376" y="8631936"/>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결론</a:t>
            </a:r>
          </a:p>
        </p:txBody>
      </p:sp>
      <p:sp>
        <p:nvSpPr>
          <p:cNvPr id="97" name="TextBox 96"/>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고객과 함께 수요를 만드는 체질이 다음 다운턴을 버티는 힘입니다</a:t>
            </a:r>
          </a:p>
        </p:txBody>
      </p:sp>
      <p:sp>
        <p:nvSpPr>
          <p:cNvPr id="98" name="TextBox 97"/>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벤치마크: Micron ↔ Anthropic 전략적 계약(2026-06-22) · Palantir · OpenAI FDE(고객 상주) · LMCache FDP 머지(2026-08) · 공급 완화 시점 TrendForce · Gartner(2H27) · KPI는 과제팀 제안 · 로고는 식별 표시</a:t>
            </a:r>
          </a:p>
        </p:txBody>
      </p:sp>
      <p:sp>
        <p:nvSpPr>
          <p:cNvPr id="99" name="TextBox 98"/>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고객과 함께 WAF를 낮춰, TLC 시장을 QLC로</a:t>
            </a:r>
            <a:r>
              <a:rPr sz="1800" b="0">
                <a:solidFill>
                  <a:srgbClr val="555555"/>
                </a:solidFill>
                <a:latin typeface="Arial"/>
                <a:ea typeface="Arial"/>
              </a:rPr>
              <a:t>   5 / 6  별첨 1</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QLC가 들어갈 TLC 시장은 2030년 약 120~800EB이고,</a:t>
            </a:r>
          </a:p>
          <a:p>
            <a:pPr algn="l">
              <a:lnSpc>
                <a:spcPct val="105000"/>
              </a:lnSpc>
            </a:pPr>
            <a:r>
              <a:rPr sz="3200" b="1">
                <a:solidFill>
                  <a:srgbClr val="1A1A1A"/>
                </a:solidFill>
                <a:latin typeface="Arial"/>
                <a:ea typeface="Arial"/>
              </a:rPr>
              <a:t>같은 세대에서 QLC의 비트 밀도는 TLC의 약 1.25배입니다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365760" cy="36576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8" name="TextBox 7"/>
          <p:cNvSpPr txBox="1"/>
          <p:nvPr/>
        </p:nvSpPr>
        <p:spPr>
          <a:xfrm>
            <a:off x="1197864" y="2121408"/>
            <a:ext cx="7763256"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수요는 늘고 QLC 비중이 오른다</a:t>
            </a:r>
          </a:p>
        </p:txBody>
      </p:sp>
      <p:sp>
        <p:nvSpPr>
          <p:cNvPr id="9" name="TextBox 8"/>
          <p:cNvSpPr txBox="1"/>
          <p:nvPr/>
        </p:nvSpPr>
        <p:spPr>
          <a:xfrm>
            <a:off x="813816" y="2633472"/>
            <a:ext cx="283464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PCIe eSSD · SK hynix</a:t>
            </a:r>
          </a:p>
        </p:txBody>
      </p:sp>
      <p:sp>
        <p:nvSpPr>
          <p:cNvPr id="10" name="Rectangle 9"/>
          <p:cNvSpPr/>
          <p:nvPr/>
        </p:nvSpPr>
        <p:spPr>
          <a:xfrm>
            <a:off x="1088136" y="4449490"/>
            <a:ext cx="731520" cy="43340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5" y="4120306"/>
            <a:ext cx="128016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509</a:t>
            </a:r>
          </a:p>
        </p:txBody>
      </p:sp>
      <p:sp>
        <p:nvSpPr>
          <p:cNvPr id="12" name="TextBox 11"/>
          <p:cNvSpPr txBox="1"/>
          <p:nvPr/>
        </p:nvSpPr>
        <p:spPr>
          <a:xfrm>
            <a:off x="813815" y="4901183"/>
            <a:ext cx="128016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2026</a:t>
            </a:r>
          </a:p>
        </p:txBody>
      </p:sp>
      <p:sp>
        <p:nvSpPr>
          <p:cNvPr id="13" name="Rectangle 12"/>
          <p:cNvSpPr/>
          <p:nvPr/>
        </p:nvSpPr>
        <p:spPr>
          <a:xfrm>
            <a:off x="2276856" y="3236976"/>
            <a:ext cx="731520" cy="16459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02536" y="2907792"/>
            <a:ext cx="1280160" cy="310896"/>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1,933</a:t>
            </a:r>
          </a:p>
        </p:txBody>
      </p:sp>
      <p:sp>
        <p:nvSpPr>
          <p:cNvPr id="15" name="TextBox 14"/>
          <p:cNvSpPr txBox="1"/>
          <p:nvPr/>
        </p:nvSpPr>
        <p:spPr>
          <a:xfrm>
            <a:off x="2002536" y="4901183"/>
            <a:ext cx="128016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2030</a:t>
            </a:r>
          </a:p>
        </p:txBody>
      </p:sp>
      <p:sp>
        <p:nvSpPr>
          <p:cNvPr id="16" name="TextBox 15"/>
          <p:cNvSpPr txBox="1"/>
          <p:nvPr/>
        </p:nvSpPr>
        <p:spPr>
          <a:xfrm>
            <a:off x="3831335" y="2633472"/>
            <a:ext cx="283464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eSSD · McKinsey</a:t>
            </a:r>
          </a:p>
        </p:txBody>
      </p:sp>
      <p:sp>
        <p:nvSpPr>
          <p:cNvPr id="17" name="Rectangle 16"/>
          <p:cNvSpPr/>
          <p:nvPr/>
        </p:nvSpPr>
        <p:spPr>
          <a:xfrm>
            <a:off x="4105655" y="4728777"/>
            <a:ext cx="731520" cy="15411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31335" y="4399593"/>
            <a:ext cx="128016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181</a:t>
            </a:r>
          </a:p>
        </p:txBody>
      </p:sp>
      <p:sp>
        <p:nvSpPr>
          <p:cNvPr id="19" name="TextBox 18"/>
          <p:cNvSpPr txBox="1"/>
          <p:nvPr/>
        </p:nvSpPr>
        <p:spPr>
          <a:xfrm>
            <a:off x="3831335" y="4901183"/>
            <a:ext cx="128016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2024</a:t>
            </a:r>
          </a:p>
        </p:txBody>
      </p:sp>
      <p:sp>
        <p:nvSpPr>
          <p:cNvPr id="20" name="Rectangle 19"/>
          <p:cNvSpPr/>
          <p:nvPr/>
        </p:nvSpPr>
        <p:spPr>
          <a:xfrm>
            <a:off x="5294375" y="3964995"/>
            <a:ext cx="731520" cy="9179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0055" y="3635811"/>
            <a:ext cx="1280160" cy="310896"/>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1,078</a:t>
            </a:r>
          </a:p>
        </p:txBody>
      </p:sp>
      <p:sp>
        <p:nvSpPr>
          <p:cNvPr id="22" name="TextBox 21"/>
          <p:cNvSpPr txBox="1"/>
          <p:nvPr/>
        </p:nvSpPr>
        <p:spPr>
          <a:xfrm>
            <a:off x="5020055" y="4901183"/>
            <a:ext cx="128016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2030</a:t>
            </a:r>
          </a:p>
        </p:txBody>
      </p:sp>
      <p:sp>
        <p:nvSpPr>
          <p:cNvPr id="23" name="TextBox 22"/>
          <p:cNvSpPr txBox="1"/>
          <p:nvPr/>
        </p:nvSpPr>
        <p:spPr>
          <a:xfrm>
            <a:off x="6940296" y="2633472"/>
            <a:ext cx="2020824"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eSSD 용량 중 QLC</a:t>
            </a:r>
          </a:p>
        </p:txBody>
      </p:sp>
      <p:sp>
        <p:nvSpPr>
          <p:cNvPr id="24" name="Rectangle 23"/>
          <p:cNvSpPr/>
          <p:nvPr/>
        </p:nvSpPr>
        <p:spPr>
          <a:xfrm>
            <a:off x="7123176" y="4290364"/>
            <a:ext cx="640080" cy="59253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48856" y="3961180"/>
            <a:ext cx="118872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18%</a:t>
            </a:r>
          </a:p>
        </p:txBody>
      </p:sp>
      <p:sp>
        <p:nvSpPr>
          <p:cNvPr id="26" name="TextBox 25"/>
          <p:cNvSpPr txBox="1"/>
          <p:nvPr/>
        </p:nvSpPr>
        <p:spPr>
          <a:xfrm>
            <a:off x="6848856" y="4901183"/>
            <a:ext cx="11887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2026</a:t>
            </a:r>
          </a:p>
        </p:txBody>
      </p:sp>
      <p:sp>
        <p:nvSpPr>
          <p:cNvPr id="27" name="Rectangle 26"/>
          <p:cNvSpPr/>
          <p:nvPr/>
        </p:nvSpPr>
        <p:spPr>
          <a:xfrm>
            <a:off x="8129016" y="3631996"/>
            <a:ext cx="640080" cy="1250899"/>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54696" y="3302812"/>
            <a:ext cx="1188720" cy="310896"/>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38%</a:t>
            </a:r>
          </a:p>
        </p:txBody>
      </p:sp>
      <p:sp>
        <p:nvSpPr>
          <p:cNvPr id="29" name="TextBox 28"/>
          <p:cNvSpPr txBox="1"/>
          <p:nvPr/>
        </p:nvSpPr>
        <p:spPr>
          <a:xfrm>
            <a:off x="7854696" y="4901183"/>
            <a:ext cx="11887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2027</a:t>
            </a:r>
          </a:p>
        </p:txBody>
      </p:sp>
      <p:sp>
        <p:nvSpPr>
          <p:cNvPr id="30" name="Oval 29"/>
          <p:cNvSpPr/>
          <p:nvPr/>
        </p:nvSpPr>
        <p:spPr>
          <a:xfrm>
            <a:off x="9326880" y="2139696"/>
            <a:ext cx="365760" cy="36576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0"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32" name="TextBox 31"/>
          <p:cNvSpPr txBox="1"/>
          <p:nvPr/>
        </p:nvSpPr>
        <p:spPr>
          <a:xfrm>
            <a:off x="9802368" y="2121408"/>
            <a:ext cx="7763256"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eSSD 대부분은 1 DWPD 이하로 쓰인다</a:t>
            </a:r>
          </a:p>
        </p:txBody>
      </p:sp>
      <p:sp>
        <p:nvSpPr>
          <p:cNvPr id="33" name="TextBox 32"/>
          <p:cNvSpPr txBox="1"/>
          <p:nvPr/>
        </p:nvSpPr>
        <p:spPr>
          <a:xfrm>
            <a:off x="9326880" y="2633472"/>
            <a:ext cx="512064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 DWPD 이하 비중, Forward Insights 재인용</a:t>
            </a:r>
          </a:p>
        </p:txBody>
      </p:sp>
      <p:sp>
        <p:nvSpPr>
          <p:cNvPr id="34" name="TextBox 33"/>
          <p:cNvSpPr txBox="1"/>
          <p:nvPr/>
        </p:nvSpPr>
        <p:spPr>
          <a:xfrm>
            <a:off x="9326880" y="3017520"/>
            <a:ext cx="1280160" cy="365760"/>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2017 출하</a:t>
            </a:r>
          </a:p>
        </p:txBody>
      </p:sp>
      <p:sp>
        <p:nvSpPr>
          <p:cNvPr id="35" name="Rectangle 34"/>
          <p:cNvSpPr/>
          <p:nvPr/>
        </p:nvSpPr>
        <p:spPr>
          <a:xfrm>
            <a:off x="10652760" y="3090672"/>
            <a:ext cx="219456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893040" y="3017520"/>
            <a:ext cx="82296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75%</a:t>
            </a:r>
          </a:p>
        </p:txBody>
      </p:sp>
      <p:sp>
        <p:nvSpPr>
          <p:cNvPr id="37" name="TextBox 36"/>
          <p:cNvSpPr txBox="1"/>
          <p:nvPr/>
        </p:nvSpPr>
        <p:spPr>
          <a:xfrm>
            <a:off x="9326880" y="3456432"/>
            <a:ext cx="1280160" cy="365760"/>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2019 배치</a:t>
            </a:r>
          </a:p>
        </p:txBody>
      </p:sp>
      <p:sp>
        <p:nvSpPr>
          <p:cNvPr id="38" name="Rectangle 37"/>
          <p:cNvSpPr/>
          <p:nvPr/>
        </p:nvSpPr>
        <p:spPr>
          <a:xfrm>
            <a:off x="10652760" y="3529584"/>
            <a:ext cx="2340864"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039344" y="3456432"/>
            <a:ext cx="82296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80%</a:t>
            </a:r>
          </a:p>
        </p:txBody>
      </p:sp>
      <p:sp>
        <p:nvSpPr>
          <p:cNvPr id="40" name="TextBox 39"/>
          <p:cNvSpPr txBox="1"/>
          <p:nvPr/>
        </p:nvSpPr>
        <p:spPr>
          <a:xfrm>
            <a:off x="9326880" y="3895344"/>
            <a:ext cx="1280160" cy="365760"/>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SATA</a:t>
            </a:r>
          </a:p>
        </p:txBody>
      </p:sp>
      <p:sp>
        <p:nvSpPr>
          <p:cNvPr id="41" name="Rectangle 40"/>
          <p:cNvSpPr/>
          <p:nvPr/>
        </p:nvSpPr>
        <p:spPr>
          <a:xfrm>
            <a:off x="10652760" y="3968496"/>
            <a:ext cx="2408163"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106643" y="3895344"/>
            <a:ext cx="82296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82.3%</a:t>
            </a:r>
          </a:p>
        </p:txBody>
      </p:sp>
      <p:sp>
        <p:nvSpPr>
          <p:cNvPr id="43" name="TextBox 42"/>
          <p:cNvSpPr txBox="1"/>
          <p:nvPr/>
        </p:nvSpPr>
        <p:spPr>
          <a:xfrm>
            <a:off x="9326880" y="4334256"/>
            <a:ext cx="1280160" cy="365760"/>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PCIe</a:t>
            </a:r>
          </a:p>
        </p:txBody>
      </p:sp>
      <p:sp>
        <p:nvSpPr>
          <p:cNvPr id="44" name="Rectangle 43"/>
          <p:cNvSpPr/>
          <p:nvPr/>
        </p:nvSpPr>
        <p:spPr>
          <a:xfrm>
            <a:off x="10652760" y="4407408"/>
            <a:ext cx="2662732" cy="2194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361212" y="4334256"/>
            <a:ext cx="822960" cy="36576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91%</a:t>
            </a:r>
          </a:p>
        </p:txBody>
      </p:sp>
      <p:sp>
        <p:nvSpPr>
          <p:cNvPr id="46" name="TextBox 45"/>
          <p:cNvSpPr txBox="1"/>
          <p:nvPr/>
        </p:nvSpPr>
        <p:spPr>
          <a:xfrm>
            <a:off x="14538960" y="2633472"/>
            <a:ext cx="3026664"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실사용 DWPD</a:t>
            </a:r>
          </a:p>
        </p:txBody>
      </p:sp>
      <p:sp>
        <p:nvSpPr>
          <p:cNvPr id="47" name="TextBox 46"/>
          <p:cNvSpPr txBox="1"/>
          <p:nvPr/>
        </p:nvSpPr>
        <p:spPr>
          <a:xfrm>
            <a:off x="14538960" y="3017520"/>
            <a:ext cx="3026664"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Microsoft 플릿</a:t>
            </a:r>
          </a:p>
        </p:txBody>
      </p:sp>
      <p:sp>
        <p:nvSpPr>
          <p:cNvPr id="48" name="TextBox 47"/>
          <p:cNvSpPr txBox="1"/>
          <p:nvPr/>
        </p:nvSpPr>
        <p:spPr>
          <a:xfrm>
            <a:off x="14538960" y="3255263"/>
            <a:ext cx="3026664"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0.07~0.23</a:t>
            </a:r>
          </a:p>
        </p:txBody>
      </p:sp>
      <p:sp>
        <p:nvSpPr>
          <p:cNvPr id="49" name="TextBox 48"/>
          <p:cNvSpPr txBox="1"/>
          <p:nvPr/>
        </p:nvSpPr>
        <p:spPr>
          <a:xfrm>
            <a:off x="14538960" y="3584448"/>
            <a:ext cx="3026664"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NetApp 중앙값</a:t>
            </a:r>
          </a:p>
        </p:txBody>
      </p:sp>
      <p:sp>
        <p:nvSpPr>
          <p:cNvPr id="50" name="TextBox 49"/>
          <p:cNvSpPr txBox="1"/>
          <p:nvPr/>
        </p:nvSpPr>
        <p:spPr>
          <a:xfrm>
            <a:off x="14538960" y="3822191"/>
            <a:ext cx="3026664"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0.36</a:t>
            </a:r>
          </a:p>
        </p:txBody>
      </p:sp>
      <p:sp>
        <p:nvSpPr>
          <p:cNvPr id="51" name="TextBox 50"/>
          <p:cNvSpPr txBox="1"/>
          <p:nvPr/>
        </p:nvSpPr>
        <p:spPr>
          <a:xfrm>
            <a:off x="14538960" y="4151376"/>
            <a:ext cx="3026664"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NetApp 3 초과</a:t>
            </a:r>
          </a:p>
        </p:txBody>
      </p:sp>
      <p:sp>
        <p:nvSpPr>
          <p:cNvPr id="52" name="TextBox 51"/>
          <p:cNvSpPr txBox="1"/>
          <p:nvPr/>
        </p:nvSpPr>
        <p:spPr>
          <a:xfrm>
            <a:off x="14538960" y="4389120"/>
            <a:ext cx="3026664"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7%</a:t>
            </a:r>
          </a:p>
        </p:txBody>
      </p:sp>
      <p:sp>
        <p:nvSpPr>
          <p:cNvPr id="53" name="TextBox 52"/>
          <p:cNvSpPr txBox="1"/>
          <p:nvPr/>
        </p:nvSpPr>
        <p:spPr>
          <a:xfrm>
            <a:off x="9326880" y="4809744"/>
            <a:ext cx="8238744"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91%는 QLC 업체(DapuStor) 인용, 반대로 Solidigm은 '85%가 1 DWPD 이상' 인용(충돌)</a:t>
            </a:r>
          </a:p>
        </p:txBody>
      </p:sp>
      <p:sp>
        <p:nvSpPr>
          <p:cNvPr id="54" name="Oval 53"/>
          <p:cNvSpPr/>
          <p:nvPr/>
        </p:nvSpPr>
        <p:spPr>
          <a:xfrm>
            <a:off x="722376" y="5541264"/>
            <a:ext cx="365760" cy="36576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2376" y="5541264"/>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56" name="TextBox 55"/>
          <p:cNvSpPr txBox="1"/>
          <p:nvPr/>
        </p:nvSpPr>
        <p:spPr>
          <a:xfrm>
            <a:off x="1197864" y="5522976"/>
            <a:ext cx="7763256"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전환 가능 시장: 전환율 가정에 따라 넓다</a:t>
            </a:r>
          </a:p>
        </p:txBody>
      </p:sp>
      <p:sp>
        <p:nvSpPr>
          <p:cNvPr id="57" name="TextBox 56"/>
          <p:cNvSpPr txBox="1"/>
          <p:nvPr/>
        </p:nvSpPr>
        <p:spPr>
          <a:xfrm>
            <a:off x="722376" y="6035040"/>
            <a:ext cx="8238744"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 DWPD 이하 TLC × 전환율  </a:t>
            </a:r>
            <a:r>
              <a:rPr sz="1500" b="0">
                <a:solidFill>
                  <a:srgbClr val="555555"/>
                </a:solidFill>
                <a:latin typeface="Arial"/>
                <a:ea typeface="Arial"/>
              </a:rPr>
              <a:t>EB, 과제팀 산술</a:t>
            </a:r>
          </a:p>
        </p:txBody>
      </p:sp>
      <p:sp>
        <p:nvSpPr>
          <p:cNvPr id="58" name="TextBox 57"/>
          <p:cNvSpPr txBox="1"/>
          <p:nvPr/>
        </p:nvSpPr>
        <p:spPr>
          <a:xfrm>
            <a:off x="722376" y="6419088"/>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2026</a:t>
            </a:r>
          </a:p>
        </p:txBody>
      </p:sp>
      <p:sp>
        <p:nvSpPr>
          <p:cNvPr id="59" name="TextBox 58"/>
          <p:cNvSpPr txBox="1"/>
          <p:nvPr/>
        </p:nvSpPr>
        <p:spPr>
          <a:xfrm>
            <a:off x="1545336" y="6419088"/>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30%</a:t>
            </a:r>
          </a:p>
        </p:txBody>
      </p:sp>
      <p:sp>
        <p:nvSpPr>
          <p:cNvPr id="60" name="Rectangle 59"/>
          <p:cNvSpPr/>
          <p:nvPr/>
        </p:nvSpPr>
        <p:spPr>
          <a:xfrm>
            <a:off x="2731535" y="6473951"/>
            <a:ext cx="269968"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056368" y="6419088"/>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80~119</a:t>
            </a:r>
          </a:p>
        </p:txBody>
      </p:sp>
      <p:sp>
        <p:nvSpPr>
          <p:cNvPr id="62" name="TextBox 61"/>
          <p:cNvSpPr txBox="1"/>
          <p:nvPr/>
        </p:nvSpPr>
        <p:spPr>
          <a:xfrm>
            <a:off x="1545336" y="6748272"/>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50%</a:t>
            </a:r>
          </a:p>
        </p:txBody>
      </p:sp>
      <p:sp>
        <p:nvSpPr>
          <p:cNvPr id="63" name="Rectangle 62"/>
          <p:cNvSpPr/>
          <p:nvPr/>
        </p:nvSpPr>
        <p:spPr>
          <a:xfrm>
            <a:off x="3095615" y="6803136"/>
            <a:ext cx="449947"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00427" y="6748272"/>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132~198</a:t>
            </a:r>
          </a:p>
        </p:txBody>
      </p:sp>
      <p:sp>
        <p:nvSpPr>
          <p:cNvPr id="65" name="TextBox 64"/>
          <p:cNvSpPr txBox="1"/>
          <p:nvPr/>
        </p:nvSpPr>
        <p:spPr>
          <a:xfrm>
            <a:off x="1545336" y="7077455"/>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70%</a:t>
            </a:r>
          </a:p>
        </p:txBody>
      </p:sp>
      <p:sp>
        <p:nvSpPr>
          <p:cNvPr id="66" name="Rectangle 65"/>
          <p:cNvSpPr/>
          <p:nvPr/>
        </p:nvSpPr>
        <p:spPr>
          <a:xfrm>
            <a:off x="3459695" y="7132319"/>
            <a:ext cx="629926"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144485" y="7077455"/>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186~277</a:t>
            </a:r>
          </a:p>
        </p:txBody>
      </p:sp>
      <p:sp>
        <p:nvSpPr>
          <p:cNvPr id="68" name="TextBox 67"/>
          <p:cNvSpPr txBox="1"/>
          <p:nvPr/>
        </p:nvSpPr>
        <p:spPr>
          <a:xfrm>
            <a:off x="722376" y="7516367"/>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2030</a:t>
            </a:r>
          </a:p>
        </p:txBody>
      </p:sp>
      <p:sp>
        <p:nvSpPr>
          <p:cNvPr id="69" name="TextBox 68"/>
          <p:cNvSpPr txBox="1"/>
          <p:nvPr/>
        </p:nvSpPr>
        <p:spPr>
          <a:xfrm>
            <a:off x="1545336" y="7516367"/>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30%</a:t>
            </a:r>
          </a:p>
        </p:txBody>
      </p:sp>
      <p:sp>
        <p:nvSpPr>
          <p:cNvPr id="70" name="Rectangle 69"/>
          <p:cNvSpPr/>
          <p:nvPr/>
        </p:nvSpPr>
        <p:spPr>
          <a:xfrm>
            <a:off x="3009747" y="7571231"/>
            <a:ext cx="1525013" cy="20116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89625" y="7516367"/>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120~342</a:t>
            </a:r>
          </a:p>
        </p:txBody>
      </p:sp>
      <p:sp>
        <p:nvSpPr>
          <p:cNvPr id="72" name="TextBox 71"/>
          <p:cNvSpPr txBox="1"/>
          <p:nvPr/>
        </p:nvSpPr>
        <p:spPr>
          <a:xfrm>
            <a:off x="1545336" y="7845551"/>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50%</a:t>
            </a:r>
          </a:p>
        </p:txBody>
      </p:sp>
      <p:sp>
        <p:nvSpPr>
          <p:cNvPr id="73" name="Rectangle 72"/>
          <p:cNvSpPr/>
          <p:nvPr/>
        </p:nvSpPr>
        <p:spPr>
          <a:xfrm>
            <a:off x="3559302" y="7900415"/>
            <a:ext cx="2541689" cy="20116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55855" y="7845551"/>
            <a:ext cx="128016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200~570</a:t>
            </a:r>
          </a:p>
        </p:txBody>
      </p:sp>
      <p:sp>
        <p:nvSpPr>
          <p:cNvPr id="75" name="TextBox 74"/>
          <p:cNvSpPr txBox="1"/>
          <p:nvPr/>
        </p:nvSpPr>
        <p:spPr>
          <a:xfrm>
            <a:off x="1545336" y="8174736"/>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70%</a:t>
            </a:r>
          </a:p>
        </p:txBody>
      </p:sp>
      <p:sp>
        <p:nvSpPr>
          <p:cNvPr id="76" name="Rectangle 75"/>
          <p:cNvSpPr/>
          <p:nvPr/>
        </p:nvSpPr>
        <p:spPr>
          <a:xfrm>
            <a:off x="4108856" y="8229600"/>
            <a:ext cx="3558364" cy="20116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22085" y="8174736"/>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280~798</a:t>
            </a:r>
          </a:p>
        </p:txBody>
      </p:sp>
      <p:sp>
        <p:nvSpPr>
          <p:cNvPr id="78" name="Oval 77"/>
          <p:cNvSpPr/>
          <p:nvPr/>
        </p:nvSpPr>
        <p:spPr>
          <a:xfrm>
            <a:off x="9326880" y="5541264"/>
            <a:ext cx="365760" cy="36576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326880" y="5541264"/>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4</a:t>
            </a:r>
          </a:p>
        </p:txBody>
      </p:sp>
      <p:sp>
        <p:nvSpPr>
          <p:cNvPr id="80" name="TextBox 79"/>
          <p:cNvSpPr txBox="1"/>
          <p:nvPr/>
        </p:nvSpPr>
        <p:spPr>
          <a:xfrm>
            <a:off x="9802368" y="5522976"/>
            <a:ext cx="7763256"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원가 우위는 같은 세대에서만 확실하다</a:t>
            </a:r>
          </a:p>
        </p:txBody>
      </p:sp>
      <p:sp>
        <p:nvSpPr>
          <p:cNvPr id="81" name="TextBox 80"/>
          <p:cNvSpPr txBox="1"/>
          <p:nvPr/>
        </p:nvSpPr>
        <p:spPr>
          <a:xfrm>
            <a:off x="9326880" y="6035040"/>
            <a:ext cx="274320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30TB 드라이브 가격, 2Q26</a:t>
            </a:r>
          </a:p>
        </p:txBody>
      </p:sp>
      <p:sp>
        <p:nvSpPr>
          <p:cNvPr id="82" name="TextBox 81"/>
          <p:cNvSpPr txBox="1"/>
          <p:nvPr/>
        </p:nvSpPr>
        <p:spPr>
          <a:xfrm>
            <a:off x="9326880" y="6400800"/>
            <a:ext cx="64008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TLC</a:t>
            </a:r>
          </a:p>
        </p:txBody>
      </p:sp>
      <p:sp>
        <p:nvSpPr>
          <p:cNvPr id="83" name="Rectangle 82"/>
          <p:cNvSpPr/>
          <p:nvPr/>
        </p:nvSpPr>
        <p:spPr>
          <a:xfrm>
            <a:off x="9985248" y="6473952"/>
            <a:ext cx="173736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777472" y="6400800"/>
            <a:ext cx="91440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$18.9K</a:t>
            </a:r>
          </a:p>
        </p:txBody>
      </p:sp>
      <p:sp>
        <p:nvSpPr>
          <p:cNvPr id="85" name="TextBox 84"/>
          <p:cNvSpPr txBox="1"/>
          <p:nvPr/>
        </p:nvSpPr>
        <p:spPr>
          <a:xfrm>
            <a:off x="9326880" y="6839712"/>
            <a:ext cx="640080" cy="36576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QLC</a:t>
            </a:r>
          </a:p>
        </p:txBody>
      </p:sp>
      <p:sp>
        <p:nvSpPr>
          <p:cNvPr id="86" name="Rectangle 85"/>
          <p:cNvSpPr/>
          <p:nvPr/>
        </p:nvSpPr>
        <p:spPr>
          <a:xfrm>
            <a:off x="9985248" y="6912864"/>
            <a:ext cx="1389888" cy="2194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430000" y="6839712"/>
            <a:ext cx="914400" cy="365760"/>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$15.1K</a:t>
            </a:r>
          </a:p>
        </p:txBody>
      </p:sp>
      <p:sp>
        <p:nvSpPr>
          <p:cNvPr id="88" name="TextBox 87"/>
          <p:cNvSpPr txBox="1"/>
          <p:nvPr/>
        </p:nvSpPr>
        <p:spPr>
          <a:xfrm>
            <a:off x="13075920" y="6035040"/>
            <a:ext cx="4489704"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다이 밀도 Gb/mm²</a:t>
            </a:r>
          </a:p>
        </p:txBody>
      </p:sp>
      <p:sp>
        <p:nvSpPr>
          <p:cNvPr id="89" name="TextBox 88"/>
          <p:cNvSpPr txBox="1"/>
          <p:nvPr/>
        </p:nvSpPr>
        <p:spPr>
          <a:xfrm>
            <a:off x="13075920" y="6400800"/>
            <a:ext cx="1280160" cy="329184"/>
          </a:xfrm>
          <a:prstGeom prst="rect">
            <a:avLst/>
          </a:prstGeom>
          <a:noFill/>
        </p:spPr>
        <p:txBody>
          <a:bodyPr wrap="square" anchor="ctr" lIns="0" rIns="0" tIns="0" bIns="0">
            <a:spAutoFit/>
          </a:bodyPr>
          <a:lstStyle/>
          <a:p>
            <a:pPr algn="l">
              <a:lnSpc>
                <a:spcPct val="110000"/>
              </a:lnSpc>
            </a:pPr>
            <a:r>
              <a:rPr sz="1500" b="0">
                <a:solidFill>
                  <a:srgbClr val="1A1A1A"/>
                </a:solidFill>
                <a:latin typeface="Arial"/>
                <a:ea typeface="Arial"/>
              </a:rPr>
              <a:t>BiCS8 TLC</a:t>
            </a:r>
          </a:p>
        </p:txBody>
      </p:sp>
      <p:sp>
        <p:nvSpPr>
          <p:cNvPr id="90" name="Rectangle 89"/>
          <p:cNvSpPr/>
          <p:nvPr/>
        </p:nvSpPr>
        <p:spPr>
          <a:xfrm>
            <a:off x="14401800" y="6473952"/>
            <a:ext cx="904514"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5352034" y="6400800"/>
            <a:ext cx="731520" cy="329184"/>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18.3</a:t>
            </a:r>
          </a:p>
        </p:txBody>
      </p:sp>
      <p:sp>
        <p:nvSpPr>
          <p:cNvPr id="92" name="TextBox 91"/>
          <p:cNvSpPr txBox="1"/>
          <p:nvPr/>
        </p:nvSpPr>
        <p:spPr>
          <a:xfrm>
            <a:off x="13075920" y="6784848"/>
            <a:ext cx="1280160" cy="329184"/>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BiCS8 QLC</a:t>
            </a:r>
          </a:p>
        </p:txBody>
      </p:sp>
      <p:sp>
        <p:nvSpPr>
          <p:cNvPr id="93" name="Rectangle 92"/>
          <p:cNvSpPr/>
          <p:nvPr/>
        </p:nvSpPr>
        <p:spPr>
          <a:xfrm>
            <a:off x="14401800" y="6858000"/>
            <a:ext cx="1131878"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5579398" y="6784848"/>
            <a:ext cx="731520" cy="329184"/>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22.9</a:t>
            </a:r>
          </a:p>
        </p:txBody>
      </p:sp>
      <p:sp>
        <p:nvSpPr>
          <p:cNvPr id="95" name="TextBox 94"/>
          <p:cNvSpPr txBox="1"/>
          <p:nvPr/>
        </p:nvSpPr>
        <p:spPr>
          <a:xfrm>
            <a:off x="13075920" y="7168896"/>
            <a:ext cx="1280160" cy="329184"/>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BiCS10 QLC</a:t>
            </a:r>
          </a:p>
        </p:txBody>
      </p:sp>
      <p:sp>
        <p:nvSpPr>
          <p:cNvPr id="96" name="Rectangle 95"/>
          <p:cNvSpPr/>
          <p:nvPr/>
        </p:nvSpPr>
        <p:spPr>
          <a:xfrm>
            <a:off x="14401800" y="7242048"/>
            <a:ext cx="1828800"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6276320" y="7168896"/>
            <a:ext cx="731520" cy="329184"/>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37</a:t>
            </a:r>
          </a:p>
        </p:txBody>
      </p:sp>
      <p:sp>
        <p:nvSpPr>
          <p:cNvPr id="98" name="Rounded Rectangle 97"/>
          <p:cNvSpPr/>
          <p:nvPr/>
        </p:nvSpPr>
        <p:spPr>
          <a:xfrm>
            <a:off x="9326880" y="7699248"/>
            <a:ext cx="8238744" cy="731520"/>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454896" y="7699248"/>
            <a:ext cx="7982712" cy="73152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반증  </a:t>
            </a:r>
            <a:r>
              <a:rPr sz="1500" b="0">
                <a:solidFill>
                  <a:srgbClr val="555555"/>
                </a:solidFill>
                <a:latin typeface="Arial"/>
                <a:ea typeface="Arial"/>
              </a:rPr>
              <a:t>Meta: 아직 넓게 배치할 가격 경쟁력 아님 · Micron 6500 ION(TLC)이 QLC 가격대 · SanDisk: 2030년에도 TLC 주력(재확인 필요)</a:t>
            </a:r>
          </a:p>
        </p:txBody>
      </p:sp>
      <p:sp>
        <p:nvSpPr>
          <p:cNvPr id="100" name="TextBox 99"/>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SK hynix(TSMC OIP 2026-09) · McKinsey(2024-12) · TrendForce(2026-09) · Forward Insights(Micron · Kingston · DapuStor · Solidigm 재인용) · Microsoft · NetApp 플릿 · VDURA 지수(2Q26) · Kioxia · TechInsights · SanDisk(2026-08) · Meta(2025-03) · 전환 가능 시장은 과제팀 산술 · 모두 검색 확인 등급</a:t>
            </a:r>
          </a:p>
        </p:txBody>
      </p:sp>
      <p:sp>
        <p:nvSpPr>
          <p:cNvPr id="101" name="TextBox 100"/>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고객과 함께 WAF를 낮춰, TLC 시장을 QLC로</a:t>
            </a:r>
            <a:r>
              <a:rPr sz="1800" b="0">
                <a:solidFill>
                  <a:srgbClr val="555555"/>
                </a:solidFill>
                <a:latin typeface="Arial"/>
                <a:ea typeface="Arial"/>
              </a:rPr>
              <a:t>   6 / 6  별첨 2</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WAF와 꼬리 지연은 호스트 협력에서 크게 줄고,</a:t>
            </a:r>
          </a:p>
          <a:p>
            <a:pPr algn="l">
              <a:lnSpc>
                <a:spcPct val="105000"/>
              </a:lnSpc>
            </a:pPr>
            <a:r>
              <a:rPr sz="3200" b="1">
                <a:solidFill>
                  <a:srgbClr val="1A1A1A"/>
                </a:solidFill>
                <a:latin typeface="Arial"/>
                <a:ea typeface="Arial"/>
              </a:rPr>
              <a:t>줄어든 WAF는 OP를 줄여 판매 용량으로 돌아옵니다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365760" cy="36576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8" name="TextBox 7"/>
          <p:cNvSpPr txBox="1"/>
          <p:nvPr/>
        </p:nvSpPr>
        <p:spPr>
          <a:xfrm>
            <a:off x="1197864" y="2121408"/>
            <a:ext cx="4919472"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QLC가 넘어야 할 성능 격차</a:t>
            </a:r>
          </a:p>
        </p:txBody>
      </p:sp>
      <p:sp>
        <p:nvSpPr>
          <p:cNvPr id="9" name="TextBox 8"/>
          <p:cNvSpPr txBox="1"/>
          <p:nvPr/>
        </p:nvSpPr>
        <p:spPr>
          <a:xfrm>
            <a:off x="722376" y="2670048"/>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같은 세대 데이터시트, TLC 대 QLC</a:t>
            </a:r>
          </a:p>
        </p:txBody>
      </p:sp>
      <p:sp>
        <p:nvSpPr>
          <p:cNvPr id="10" name="TextBox 9"/>
          <p:cNvSpPr txBox="1"/>
          <p:nvPr/>
        </p:nvSpPr>
        <p:spPr>
          <a:xfrm>
            <a:off x="722376" y="3035808"/>
            <a:ext cx="5394960" cy="292608"/>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읽기 지연 µs</a:t>
            </a:r>
          </a:p>
        </p:txBody>
      </p:sp>
      <p:sp>
        <p:nvSpPr>
          <p:cNvPr id="11" name="TextBox 10"/>
          <p:cNvSpPr txBox="1"/>
          <p:nvPr/>
        </p:nvSpPr>
        <p:spPr>
          <a:xfrm>
            <a:off x="722376" y="3364991"/>
            <a:ext cx="210312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Solidigm PS1010</a:t>
            </a:r>
          </a:p>
        </p:txBody>
      </p:sp>
      <p:sp>
        <p:nvSpPr>
          <p:cNvPr id="12" name="Rectangle 11"/>
          <p:cNvSpPr/>
          <p:nvPr/>
        </p:nvSpPr>
        <p:spPr>
          <a:xfrm>
            <a:off x="2862072" y="3428999"/>
            <a:ext cx="1280160" cy="1645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97096" y="3364991"/>
            <a:ext cx="731520" cy="292608"/>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60</a:t>
            </a:r>
          </a:p>
        </p:txBody>
      </p:sp>
      <p:sp>
        <p:nvSpPr>
          <p:cNvPr id="14" name="TextBox 13"/>
          <p:cNvSpPr txBox="1"/>
          <p:nvPr/>
        </p:nvSpPr>
        <p:spPr>
          <a:xfrm>
            <a:off x="722376" y="3675887"/>
            <a:ext cx="210312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Solidigm P5336</a:t>
            </a:r>
          </a:p>
        </p:txBody>
      </p:sp>
      <p:sp>
        <p:nvSpPr>
          <p:cNvPr id="15" name="Rectangle 14"/>
          <p:cNvSpPr/>
          <p:nvPr/>
        </p:nvSpPr>
        <p:spPr>
          <a:xfrm>
            <a:off x="2862072" y="3739896"/>
            <a:ext cx="2346960" cy="16459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3896" y="3675887"/>
            <a:ext cx="73152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110</a:t>
            </a:r>
          </a:p>
        </p:txBody>
      </p:sp>
      <p:sp>
        <p:nvSpPr>
          <p:cNvPr id="17" name="TextBox 16"/>
          <p:cNvSpPr txBox="1"/>
          <p:nvPr/>
        </p:nvSpPr>
        <p:spPr>
          <a:xfrm>
            <a:off x="722376" y="3986783"/>
            <a:ext cx="210312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Micron 9550</a:t>
            </a:r>
          </a:p>
        </p:txBody>
      </p:sp>
      <p:sp>
        <p:nvSpPr>
          <p:cNvPr id="18" name="Rectangle 17"/>
          <p:cNvSpPr/>
          <p:nvPr/>
        </p:nvSpPr>
        <p:spPr>
          <a:xfrm>
            <a:off x="2862072" y="4050791"/>
            <a:ext cx="1280160" cy="1645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97096" y="3986783"/>
            <a:ext cx="731520" cy="292608"/>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60</a:t>
            </a:r>
          </a:p>
        </p:txBody>
      </p:sp>
      <p:sp>
        <p:nvSpPr>
          <p:cNvPr id="20" name="TextBox 19"/>
          <p:cNvSpPr txBox="1"/>
          <p:nvPr/>
        </p:nvSpPr>
        <p:spPr>
          <a:xfrm>
            <a:off x="722376" y="4297679"/>
            <a:ext cx="210312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Micron 6600 ION</a:t>
            </a:r>
          </a:p>
        </p:txBody>
      </p:sp>
      <p:sp>
        <p:nvSpPr>
          <p:cNvPr id="21" name="Rectangle 20"/>
          <p:cNvSpPr/>
          <p:nvPr/>
        </p:nvSpPr>
        <p:spPr>
          <a:xfrm>
            <a:off x="2862072" y="4361688"/>
            <a:ext cx="2133600" cy="16459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50536" y="4297679"/>
            <a:ext cx="73152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100</a:t>
            </a:r>
          </a:p>
        </p:txBody>
      </p:sp>
      <p:sp>
        <p:nvSpPr>
          <p:cNvPr id="23" name="TextBox 22"/>
          <p:cNvSpPr txBox="1"/>
          <p:nvPr/>
        </p:nvSpPr>
        <p:spPr>
          <a:xfrm>
            <a:off x="722376" y="4718303"/>
            <a:ext cx="5394960" cy="292608"/>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랜덤 쓰기 GB/s</a:t>
            </a:r>
          </a:p>
        </p:txBody>
      </p:sp>
      <p:sp>
        <p:nvSpPr>
          <p:cNvPr id="24" name="TextBox 23"/>
          <p:cNvSpPr txBox="1"/>
          <p:nvPr/>
        </p:nvSpPr>
        <p:spPr>
          <a:xfrm>
            <a:off x="722376" y="5047488"/>
            <a:ext cx="210312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Solidigm PS1010</a:t>
            </a:r>
          </a:p>
        </p:txBody>
      </p:sp>
      <p:sp>
        <p:nvSpPr>
          <p:cNvPr id="25" name="Rectangle 24"/>
          <p:cNvSpPr/>
          <p:nvPr/>
        </p:nvSpPr>
        <p:spPr>
          <a:xfrm>
            <a:off x="2862072" y="5111496"/>
            <a:ext cx="1749552" cy="1645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6488" y="5047488"/>
            <a:ext cx="731520" cy="292608"/>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1.64</a:t>
            </a:r>
          </a:p>
        </p:txBody>
      </p:sp>
      <p:sp>
        <p:nvSpPr>
          <p:cNvPr id="27" name="TextBox 26"/>
          <p:cNvSpPr txBox="1"/>
          <p:nvPr/>
        </p:nvSpPr>
        <p:spPr>
          <a:xfrm>
            <a:off x="722376" y="5358383"/>
            <a:ext cx="210312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Solidigm P5336</a:t>
            </a:r>
          </a:p>
        </p:txBody>
      </p:sp>
      <p:sp>
        <p:nvSpPr>
          <p:cNvPr id="28" name="Rectangle 27"/>
          <p:cNvSpPr/>
          <p:nvPr/>
        </p:nvSpPr>
        <p:spPr>
          <a:xfrm>
            <a:off x="2862072" y="5422392"/>
            <a:ext cx="746760" cy="16459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63696" y="5358383"/>
            <a:ext cx="73152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0.7</a:t>
            </a:r>
          </a:p>
        </p:txBody>
      </p:sp>
      <p:sp>
        <p:nvSpPr>
          <p:cNvPr id="30" name="TextBox 29"/>
          <p:cNvSpPr txBox="1"/>
          <p:nvPr/>
        </p:nvSpPr>
        <p:spPr>
          <a:xfrm>
            <a:off x="722376" y="5669279"/>
            <a:ext cx="210312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Kioxia CM9-R</a:t>
            </a:r>
          </a:p>
        </p:txBody>
      </p:sp>
      <p:sp>
        <p:nvSpPr>
          <p:cNvPr id="31" name="Rectangle 30"/>
          <p:cNvSpPr/>
          <p:nvPr/>
        </p:nvSpPr>
        <p:spPr>
          <a:xfrm>
            <a:off x="2862072" y="5733288"/>
            <a:ext cx="2357628" cy="1645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4564" y="5669279"/>
            <a:ext cx="731520" cy="292608"/>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2.21</a:t>
            </a:r>
          </a:p>
        </p:txBody>
      </p:sp>
      <p:sp>
        <p:nvSpPr>
          <p:cNvPr id="33" name="TextBox 32"/>
          <p:cNvSpPr txBox="1"/>
          <p:nvPr/>
        </p:nvSpPr>
        <p:spPr>
          <a:xfrm>
            <a:off x="722376" y="5980175"/>
            <a:ext cx="210312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Kioxia LC9</a:t>
            </a:r>
          </a:p>
        </p:txBody>
      </p:sp>
      <p:sp>
        <p:nvSpPr>
          <p:cNvPr id="34" name="Rectangle 33"/>
          <p:cNvSpPr/>
          <p:nvPr/>
        </p:nvSpPr>
        <p:spPr>
          <a:xfrm>
            <a:off x="2862072" y="6044183"/>
            <a:ext cx="789432" cy="16459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06368" y="5980175"/>
            <a:ext cx="73152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0.74</a:t>
            </a:r>
          </a:p>
        </p:txBody>
      </p:sp>
      <p:sp>
        <p:nvSpPr>
          <p:cNvPr id="36" name="Rounded Rectangle 35"/>
          <p:cNvSpPr/>
          <p:nvPr/>
        </p:nvSpPr>
        <p:spPr>
          <a:xfrm>
            <a:off x="722376" y="6620256"/>
            <a:ext cx="539496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6620256"/>
            <a:ext cx="5285232" cy="87782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프로그램 시간 TLC 0.8~2ms 대 QLC 2~3ms</a:t>
            </a:r>
          </a:p>
          <a:p>
            <a:pPr algn="ctr">
              <a:lnSpc>
                <a:spcPct val="110000"/>
              </a:lnSpc>
            </a:pPr>
            <a:r>
              <a:rPr sz="1500" b="0">
                <a:solidFill>
                  <a:srgbClr val="555555"/>
                </a:solidFill>
                <a:latin typeface="Arial"/>
                <a:ea typeface="Arial"/>
              </a:rPr>
              <a:t>4KB 쓰기 정격 = 16KB 정격의 1/4 (6600 · 6550 ION · LC9)</a:t>
            </a:r>
          </a:p>
        </p:txBody>
      </p:sp>
      <p:sp>
        <p:nvSpPr>
          <p:cNvPr id="38" name="Oval 37"/>
          <p:cNvSpPr/>
          <p:nvPr/>
        </p:nvSpPr>
        <p:spPr>
          <a:xfrm>
            <a:off x="6446520" y="2139696"/>
            <a:ext cx="365760" cy="36576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40" name="TextBox 39"/>
          <p:cNvSpPr txBox="1"/>
          <p:nvPr/>
        </p:nvSpPr>
        <p:spPr>
          <a:xfrm>
            <a:off x="6922008" y="2121408"/>
            <a:ext cx="4919472"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WAF · 지연은 호스트 협력에서 크게 준다</a:t>
            </a:r>
          </a:p>
        </p:txBody>
      </p:sp>
      <p:sp>
        <p:nvSpPr>
          <p:cNvPr id="41" name="TextBox 40"/>
          <p:cNvSpPr txBox="1"/>
          <p:nvPr/>
        </p:nvSpPr>
        <p:spPr>
          <a:xfrm>
            <a:off x="6446520" y="2670048"/>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WAF, 같은 조건 전후</a:t>
            </a:r>
          </a:p>
        </p:txBody>
      </p:sp>
      <p:sp>
        <p:nvSpPr>
          <p:cNvPr id="42" name="TextBox 41"/>
          <p:cNvSpPr txBox="1"/>
          <p:nvPr/>
        </p:nvSpPr>
        <p:spPr>
          <a:xfrm>
            <a:off x="6446520" y="3035808"/>
            <a:ext cx="5394960" cy="256032"/>
          </a:xfrm>
          <a:prstGeom prst="rect">
            <a:avLst/>
          </a:prstGeom>
          <a:noFill/>
        </p:spPr>
        <p:txBody>
          <a:bodyPr wrap="square" anchor="ctr" lIns="0" rIns="0" tIns="0" bIns="0">
            <a:spAutoFit/>
          </a:bodyPr>
          <a:lstStyle/>
          <a:p>
            <a:pPr algn="l">
              <a:lnSpc>
                <a:spcPct val="110000"/>
              </a:lnSpc>
            </a:pPr>
            <a:r>
              <a:rPr sz="1500" b="0">
                <a:solidFill>
                  <a:srgbClr val="1A1A1A"/>
                </a:solidFill>
                <a:latin typeface="Arial"/>
                <a:ea typeface="Arial"/>
              </a:rPr>
              <a:t>SSD 단독 4종</a:t>
            </a:r>
          </a:p>
        </p:txBody>
      </p:sp>
      <p:sp>
        <p:nvSpPr>
          <p:cNvPr id="43" name="Rectangle 42"/>
          <p:cNvSpPr/>
          <p:nvPr/>
        </p:nvSpPr>
        <p:spPr>
          <a:xfrm>
            <a:off x="6446520" y="3310127"/>
            <a:ext cx="3017520"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46520" y="3310127"/>
            <a:ext cx="1296162"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18904" y="3236976"/>
            <a:ext cx="1280160" cy="310896"/>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1.89~4.40</a:t>
            </a:r>
          </a:p>
        </p:txBody>
      </p:sp>
      <p:sp>
        <p:nvSpPr>
          <p:cNvPr id="46" name="TextBox 45"/>
          <p:cNvSpPr txBox="1"/>
          <p:nvPr/>
        </p:nvSpPr>
        <p:spPr>
          <a:xfrm>
            <a:off x="6446520" y="3602736"/>
            <a:ext cx="5394960" cy="256032"/>
          </a:xfrm>
          <a:prstGeom prst="rect">
            <a:avLst/>
          </a:prstGeom>
          <a:noFill/>
        </p:spPr>
        <p:txBody>
          <a:bodyPr wrap="square" anchor="ctr" lIns="0" rIns="0" tIns="0" bIns="0">
            <a:spAutoFit/>
          </a:bodyPr>
          <a:lstStyle/>
          <a:p>
            <a:pPr algn="l">
              <a:lnSpc>
                <a:spcPct val="110000"/>
              </a:lnSpc>
            </a:pPr>
            <a:r>
              <a:rPr sz="1500" b="0">
                <a:solidFill>
                  <a:srgbClr val="1A1A1A"/>
                </a:solidFill>
                <a:latin typeface="Arial"/>
                <a:ea typeface="Arial"/>
              </a:rPr>
              <a:t>SSD GC 개선, 편중 부하</a:t>
            </a:r>
          </a:p>
        </p:txBody>
      </p:sp>
      <p:sp>
        <p:nvSpPr>
          <p:cNvPr id="47" name="Rectangle 46"/>
          <p:cNvSpPr/>
          <p:nvPr/>
        </p:nvSpPr>
        <p:spPr>
          <a:xfrm>
            <a:off x="6446520" y="3877056"/>
            <a:ext cx="4046220"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46520" y="3877056"/>
            <a:ext cx="1412748"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47604" y="3803904"/>
            <a:ext cx="1280160" cy="310896"/>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5.90 → 2.06</a:t>
            </a:r>
          </a:p>
        </p:txBody>
      </p:sp>
      <p:sp>
        <p:nvSpPr>
          <p:cNvPr id="50" name="TextBox 49"/>
          <p:cNvSpPr txBox="1"/>
          <p:nvPr/>
        </p:nvSpPr>
        <p:spPr>
          <a:xfrm>
            <a:off x="6446520" y="4169663"/>
            <a:ext cx="5394960" cy="256032"/>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CacheLib + FDP</a:t>
            </a:r>
          </a:p>
        </p:txBody>
      </p:sp>
      <p:sp>
        <p:nvSpPr>
          <p:cNvPr id="51" name="Rectangle 50"/>
          <p:cNvSpPr/>
          <p:nvPr/>
        </p:nvSpPr>
        <p:spPr>
          <a:xfrm>
            <a:off x="6446520" y="4443983"/>
            <a:ext cx="220827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46520" y="4443983"/>
            <a:ext cx="706374"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709660" y="4370831"/>
            <a:ext cx="1280160" cy="310896"/>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3.22 → 1.03</a:t>
            </a:r>
          </a:p>
        </p:txBody>
      </p:sp>
      <p:sp>
        <p:nvSpPr>
          <p:cNvPr id="54" name="TextBox 53"/>
          <p:cNvSpPr txBox="1"/>
          <p:nvPr/>
        </p:nvSpPr>
        <p:spPr>
          <a:xfrm>
            <a:off x="6446520" y="4809744"/>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테일 지연 개선 (모두 TLC)</a:t>
            </a:r>
          </a:p>
        </p:txBody>
      </p:sp>
      <p:sp>
        <p:nvSpPr>
          <p:cNvPr id="55" name="TextBox 54"/>
          <p:cNvSpPr txBox="1"/>
          <p:nvPr/>
        </p:nvSpPr>
        <p:spPr>
          <a:xfrm>
            <a:off x="6446520" y="5138928"/>
            <a:ext cx="4114800" cy="329184"/>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PM9D3a FDP p99.9</a:t>
            </a:r>
          </a:p>
        </p:txBody>
      </p:sp>
      <p:sp>
        <p:nvSpPr>
          <p:cNvPr id="56" name="TextBox 55"/>
          <p:cNvSpPr txBox="1"/>
          <p:nvPr/>
        </p:nvSpPr>
        <p:spPr>
          <a:xfrm>
            <a:off x="10561320" y="5138928"/>
            <a:ext cx="1280160" cy="329184"/>
          </a:xfrm>
          <a:prstGeom prst="rect">
            <a:avLst/>
          </a:prstGeom>
          <a:noFill/>
        </p:spPr>
        <p:txBody>
          <a:bodyPr wrap="square" anchor="ctr" lIns="0" rIns="0" tIns="0" bIns="0">
            <a:spAutoFit/>
          </a:bodyPr>
          <a:lstStyle/>
          <a:p>
            <a:pPr algn="r">
              <a:lnSpc>
                <a:spcPct val="110000"/>
              </a:lnSpc>
            </a:pPr>
            <a:r>
              <a:rPr sz="1800" b="1">
                <a:solidFill>
                  <a:srgbClr val="1428A0"/>
                </a:solidFill>
                <a:latin typeface="Arial"/>
                <a:ea typeface="Arial"/>
              </a:rPr>
              <a:t>-55%</a:t>
            </a:r>
          </a:p>
        </p:txBody>
      </p:sp>
      <p:sp>
        <p:nvSpPr>
          <p:cNvPr id="57" name="TextBox 56"/>
          <p:cNvSpPr txBox="1"/>
          <p:nvPr/>
        </p:nvSpPr>
        <p:spPr>
          <a:xfrm>
            <a:off x="6446520" y="5522976"/>
            <a:ext cx="4114800" cy="329184"/>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ZNS RocksDB p99.9</a:t>
            </a:r>
          </a:p>
        </p:txBody>
      </p:sp>
      <p:sp>
        <p:nvSpPr>
          <p:cNvPr id="58" name="TextBox 57"/>
          <p:cNvSpPr txBox="1"/>
          <p:nvPr/>
        </p:nvSpPr>
        <p:spPr>
          <a:xfrm>
            <a:off x="10561320" y="5522976"/>
            <a:ext cx="1280160" cy="329184"/>
          </a:xfrm>
          <a:prstGeom prst="rect">
            <a:avLst/>
          </a:prstGeom>
          <a:noFill/>
        </p:spPr>
        <p:txBody>
          <a:bodyPr wrap="square" anchor="ctr" lIns="0" rIns="0" tIns="0" bIns="0">
            <a:spAutoFit/>
          </a:bodyPr>
          <a:lstStyle/>
          <a:p>
            <a:pPr algn="r">
              <a:lnSpc>
                <a:spcPct val="110000"/>
              </a:lnSpc>
            </a:pPr>
            <a:r>
              <a:rPr sz="1800" b="1">
                <a:solidFill>
                  <a:srgbClr val="1428A0"/>
                </a:solidFill>
                <a:latin typeface="Arial"/>
                <a:ea typeface="Arial"/>
              </a:rPr>
              <a:t>2~4× ↓</a:t>
            </a:r>
          </a:p>
        </p:txBody>
      </p:sp>
      <p:sp>
        <p:nvSpPr>
          <p:cNvPr id="59" name="TextBox 58"/>
          <p:cNvSpPr txBox="1"/>
          <p:nvPr/>
        </p:nvSpPr>
        <p:spPr>
          <a:xfrm>
            <a:off x="6446520" y="5907024"/>
            <a:ext cx="4114800" cy="329184"/>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Valet 동적 배치</a:t>
            </a:r>
          </a:p>
        </p:txBody>
      </p:sp>
      <p:sp>
        <p:nvSpPr>
          <p:cNvPr id="60" name="TextBox 59"/>
          <p:cNvSpPr txBox="1"/>
          <p:nvPr/>
        </p:nvSpPr>
        <p:spPr>
          <a:xfrm>
            <a:off x="10561320" y="5907024"/>
            <a:ext cx="1280160" cy="329184"/>
          </a:xfrm>
          <a:prstGeom prst="rect">
            <a:avLst/>
          </a:prstGeom>
          <a:noFill/>
        </p:spPr>
        <p:txBody>
          <a:bodyPr wrap="square" anchor="ctr" lIns="0" rIns="0" tIns="0" bIns="0">
            <a:spAutoFit/>
          </a:bodyPr>
          <a:lstStyle/>
          <a:p>
            <a:pPr algn="r">
              <a:lnSpc>
                <a:spcPct val="110000"/>
              </a:lnSpc>
            </a:pPr>
            <a:r>
              <a:rPr sz="1800" b="1">
                <a:solidFill>
                  <a:srgbClr val="1428A0"/>
                </a:solidFill>
                <a:latin typeface="Arial"/>
                <a:ea typeface="Arial"/>
              </a:rPr>
              <a:t>최대 6× ↓</a:t>
            </a:r>
          </a:p>
        </p:txBody>
      </p:sp>
      <p:sp>
        <p:nvSpPr>
          <p:cNvPr id="61" name="Rounded Rectangle 60"/>
          <p:cNvSpPr/>
          <p:nvPr/>
        </p:nvSpPr>
        <p:spPr>
          <a:xfrm>
            <a:off x="6446520" y="6620256"/>
            <a:ext cx="539496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01384" y="6620256"/>
            <a:ext cx="5285232" cy="87782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반대 근거</a:t>
            </a:r>
          </a:p>
          <a:p>
            <a:pPr algn="ctr">
              <a:lnSpc>
                <a:spcPct val="110000"/>
              </a:lnSpc>
            </a:pPr>
            <a:r>
              <a:rPr sz="1500" b="0">
                <a:solidFill>
                  <a:srgbClr val="555555"/>
                </a:solidFill>
                <a:latin typeface="Arial"/>
                <a:ea typeface="Arial"/>
              </a:rPr>
              <a:t>FDP 적대 부하 4.49× 악화 · GC 비주원인 연구</a:t>
            </a:r>
          </a:p>
        </p:txBody>
      </p:sp>
      <p:sp>
        <p:nvSpPr>
          <p:cNvPr id="63" name="Oval 62"/>
          <p:cNvSpPr/>
          <p:nvPr/>
        </p:nvSpPr>
        <p:spPr>
          <a:xfrm>
            <a:off x="12170664" y="2139696"/>
            <a:ext cx="365760" cy="36576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170664"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65" name="TextBox 64"/>
          <p:cNvSpPr txBox="1"/>
          <p:nvPr/>
        </p:nvSpPr>
        <p:spPr>
          <a:xfrm>
            <a:off x="12646152" y="2121408"/>
            <a:ext cx="4919472"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OP · 용량 · 수명의 교환</a:t>
            </a:r>
          </a:p>
        </p:txBody>
      </p:sp>
      <p:sp>
        <p:nvSpPr>
          <p:cNvPr id="66" name="TextBox 65"/>
          <p:cNvSpPr txBox="1"/>
          <p:nvPr/>
        </p:nvSpPr>
        <p:spPr>
          <a:xfrm>
            <a:off x="12170664" y="2670048"/>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모델 WAF (균일 랜덤, greedy GC)</a:t>
            </a:r>
          </a:p>
        </p:txBody>
      </p:sp>
      <p:sp>
        <p:nvSpPr>
          <p:cNvPr id="67" name="Rectangle 66"/>
          <p:cNvSpPr/>
          <p:nvPr/>
        </p:nvSpPr>
        <p:spPr>
          <a:xfrm>
            <a:off x="12627864" y="4658868"/>
            <a:ext cx="475488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2170664" y="4535424"/>
            <a:ext cx="384048" cy="256032"/>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0</a:t>
            </a:r>
          </a:p>
        </p:txBody>
      </p:sp>
      <p:sp>
        <p:nvSpPr>
          <p:cNvPr id="69" name="Rectangle 68"/>
          <p:cNvSpPr/>
          <p:nvPr/>
        </p:nvSpPr>
        <p:spPr>
          <a:xfrm>
            <a:off x="12627864" y="3845052"/>
            <a:ext cx="475488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2170664" y="3721608"/>
            <a:ext cx="384048" cy="256032"/>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4</a:t>
            </a:r>
          </a:p>
        </p:txBody>
      </p:sp>
      <p:sp>
        <p:nvSpPr>
          <p:cNvPr id="71" name="Rectangle 70"/>
          <p:cNvSpPr/>
          <p:nvPr/>
        </p:nvSpPr>
        <p:spPr>
          <a:xfrm>
            <a:off x="12627864" y="3031236"/>
            <a:ext cx="475488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2170664" y="2907791"/>
            <a:ext cx="384048" cy="256032"/>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8</a:t>
            </a:r>
          </a:p>
        </p:txBody>
      </p:sp>
      <p:sp>
        <p:nvSpPr>
          <p:cNvPr id="73" name="TextBox 72"/>
          <p:cNvSpPr txBox="1"/>
          <p:nvPr/>
        </p:nvSpPr>
        <p:spPr>
          <a:xfrm>
            <a:off x="12867270" y="4681727"/>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7%</a:t>
            </a:r>
          </a:p>
        </p:txBody>
      </p:sp>
      <p:sp>
        <p:nvSpPr>
          <p:cNvPr id="74" name="TextBox 73"/>
          <p:cNvSpPr txBox="1"/>
          <p:nvPr/>
        </p:nvSpPr>
        <p:spPr>
          <a:xfrm>
            <a:off x="14682770" y="4681727"/>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28%</a:t>
            </a:r>
          </a:p>
        </p:txBody>
      </p:sp>
      <p:sp>
        <p:nvSpPr>
          <p:cNvPr id="75" name="TextBox 74"/>
          <p:cNvSpPr txBox="1"/>
          <p:nvPr/>
        </p:nvSpPr>
        <p:spPr>
          <a:xfrm>
            <a:off x="16584722" y="4681727"/>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50%</a:t>
            </a:r>
          </a:p>
        </p:txBody>
      </p:sp>
      <p:cxnSp>
        <p:nvCxnSpPr>
          <p:cNvPr id="76" name="Connector 75"/>
          <p:cNvCxnSpPr/>
          <p:nvPr/>
        </p:nvCxnSpPr>
        <p:spPr>
          <a:xfrm>
            <a:off x="13233030" y="3072429"/>
            <a:ext cx="345810" cy="528981"/>
          </a:xfrm>
          <a:prstGeom prst="line">
            <a:avLst/>
          </a:prstGeom>
          <a:ln w="317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578840" y="3601410"/>
            <a:ext cx="259357" cy="197350"/>
          </a:xfrm>
          <a:prstGeom prst="line">
            <a:avLst/>
          </a:prstGeom>
          <a:ln w="317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838197" y="3798760"/>
            <a:ext cx="518714" cy="215661"/>
          </a:xfrm>
          <a:prstGeom prst="line">
            <a:avLst/>
          </a:prstGeom>
          <a:ln w="317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4356911" y="4014421"/>
            <a:ext cx="691619" cy="144453"/>
          </a:xfrm>
          <a:prstGeom prst="line">
            <a:avLst/>
          </a:prstGeom>
          <a:ln w="317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5048530" y="4158874"/>
            <a:ext cx="1901952" cy="154625"/>
          </a:xfrm>
          <a:prstGeom prst="line">
            <a:avLst/>
          </a:prstGeom>
          <a:ln w="31750">
            <a:solidFill>
              <a:srgbClr val="1428A0"/>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13169022" y="3008421"/>
            <a:ext cx="128016" cy="12801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3361046" y="3090717"/>
            <a:ext cx="731520" cy="310896"/>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7.82</a:t>
            </a:r>
          </a:p>
        </p:txBody>
      </p:sp>
      <p:sp>
        <p:nvSpPr>
          <p:cNvPr id="83" name="Oval 82"/>
          <p:cNvSpPr/>
          <p:nvPr/>
        </p:nvSpPr>
        <p:spPr>
          <a:xfrm>
            <a:off x="14984522" y="4094866"/>
            <a:ext cx="128016" cy="12801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5176546" y="4213738"/>
            <a:ext cx="731520" cy="310896"/>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2.48</a:t>
            </a:r>
          </a:p>
        </p:txBody>
      </p:sp>
      <p:sp>
        <p:nvSpPr>
          <p:cNvPr id="85" name="TextBox 84"/>
          <p:cNvSpPr txBox="1"/>
          <p:nvPr/>
        </p:nvSpPr>
        <p:spPr>
          <a:xfrm>
            <a:off x="12170664" y="5010912"/>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같은 NAND, RI 대 MU 판매 용량 TB</a:t>
            </a:r>
          </a:p>
        </p:txBody>
      </p:sp>
      <p:sp>
        <p:nvSpPr>
          <p:cNvPr id="86" name="Rectangle 85"/>
          <p:cNvSpPr/>
          <p:nvPr/>
        </p:nvSpPr>
        <p:spPr>
          <a:xfrm>
            <a:off x="12170664" y="5394959"/>
            <a:ext cx="960120"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2170664" y="5394959"/>
            <a:ext cx="80010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3185648" y="5340096"/>
            <a:ext cx="1554480" cy="329184"/>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3.2 → 3.84</a:t>
            </a:r>
          </a:p>
        </p:txBody>
      </p:sp>
      <p:sp>
        <p:nvSpPr>
          <p:cNvPr id="89" name="Rectangle 88"/>
          <p:cNvSpPr/>
          <p:nvPr/>
        </p:nvSpPr>
        <p:spPr>
          <a:xfrm>
            <a:off x="12170664" y="5760720"/>
            <a:ext cx="1920240"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2170664" y="5760720"/>
            <a:ext cx="160020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4145768" y="5705856"/>
            <a:ext cx="1554480" cy="329184"/>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6.4 → 7.68</a:t>
            </a:r>
          </a:p>
        </p:txBody>
      </p:sp>
      <p:sp>
        <p:nvSpPr>
          <p:cNvPr id="92" name="Rectangle 91"/>
          <p:cNvSpPr/>
          <p:nvPr/>
        </p:nvSpPr>
        <p:spPr>
          <a:xfrm>
            <a:off x="12170664" y="6126479"/>
            <a:ext cx="3840480"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2170664" y="6126479"/>
            <a:ext cx="320040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6066008" y="6071616"/>
            <a:ext cx="1554480" cy="329184"/>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12.8 → 15.36</a:t>
            </a:r>
          </a:p>
        </p:txBody>
      </p:sp>
      <p:sp>
        <p:nvSpPr>
          <p:cNvPr id="95" name="Rounded Rectangle 94"/>
          <p:cNvSpPr/>
          <p:nvPr/>
        </p:nvSpPr>
        <p:spPr>
          <a:xfrm>
            <a:off x="12170664" y="6620256"/>
            <a:ext cx="539496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2225528" y="6620256"/>
            <a:ext cx="5285232" cy="87782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OP만 줄이면 수명 -60% (845DC)</a:t>
            </a:r>
          </a:p>
          <a:p>
            <a:pPr algn="ctr">
              <a:lnSpc>
                <a:spcPct val="110000"/>
              </a:lnSpc>
            </a:pPr>
            <a:r>
              <a:rPr sz="1500" b="0">
                <a:solidFill>
                  <a:srgbClr val="555555"/>
                </a:solidFill>
                <a:latin typeface="Arial"/>
                <a:ea typeface="Arial"/>
              </a:rPr>
              <a:t>pSLC는 WAF 3 → 1에서 7 → 21 DWPD</a:t>
            </a:r>
          </a:p>
        </p:txBody>
      </p:sp>
      <p:sp>
        <p:nvSpPr>
          <p:cNvPr id="97" name="Rounded Rectangle 96"/>
          <p:cNvSpPr/>
          <p:nvPr/>
        </p:nvSpPr>
        <p:spPr>
          <a:xfrm>
            <a:off x="722376" y="7717536"/>
            <a:ext cx="16843248" cy="566928"/>
          </a:xfrm>
          <a:prstGeom prst="roundRect">
            <a:avLst>
              <a:gd name="adj" fmla="val 12903"/>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50392" y="7717536"/>
            <a:ext cx="16587216" cy="566928"/>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공백  </a:t>
            </a:r>
            <a:r>
              <a:rPr sz="1600" b="0">
                <a:solidFill>
                  <a:srgbClr val="555555"/>
                </a:solidFill>
                <a:latin typeface="Arial"/>
                <a:ea typeface="Arial"/>
              </a:rPr>
              <a:t>QLC에서 FDP · ZNS 전후 p99 이상 지연 실측 · 하이퍼스케일러 TLC → QLC 전환 수치 · QLC/TLC 계약가 분리 공개 · 사내 원가</a:t>
            </a:r>
          </a:p>
        </p:txBody>
      </p:sp>
      <p:sp>
        <p:nvSpPr>
          <p:cNvPr id="99" name="TextBox 98"/>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각 사 데이터시트(같은 세대, 조건 상이) · 셀 동작 시간 서베이(arXiv 2025) · SSD-iq(PVLDB'25) 저자 데이터 · CacheLib FDP · 삼성 PM9D3a 블로그 · ZNS(ATC'21) · Valet(SoCC'25) · FDP 한계(FAST'26) · Elyasi 외 · Solidigm D7-P5520/P5620 · 삼성 845DC OP 노트 · 모델 WAF 과제팀 산술</a:t>
            </a:r>
          </a:p>
        </p:txBody>
      </p:sp>
      <p:sp>
        <p:nvSpPr>
          <p:cNvPr id="100" name="TextBox 99"/>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