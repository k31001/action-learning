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Lst>
  <p:sldSz cx="18288000" cy="10287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1장 배경입니다. 왼쪽은 HBM의 교훈입니다. 2022년 HBM 점유율은 SK하이닉스 50%, 삼성 40%였고 2023년 다운턴을 지나며 격차가 벌어져 2025년 2분기에는 62% 대 17%, 45%포인트까지 벌어졌습니다. 2025년 1분기에는 DRAM 점유율 1위도 33년 만에 바뀌었습니다(TrendForce·Korea Herald, 삼성은 2025년 4분기에 1위를 되찾았습니다). 과제팀의 복기는 세 단계입니다. 시장 규모를 작게 봤고, 그래서 개발 리소스를 적극적으로 투입하지 않았고, AI 첫 호황에서 선두를 내주었습니다. NVIDIA 같은 고객과 긴밀하게 협업했다면 AI 수요를 더 일찍 읽었을 것입니다. 신문섭 파트너(Bain) 인터뷰의 표현으로는 앞으로의 승부는 칩을 많이 파는 기업이 아니라 고객의 아키텍처 안으로 들어가 수요를 함께 설계하는 기업이 가져갑니다. 송용호 부사장 인터뷰도 같은 진단입니다. 부품이 어떻게 쓰일지는 시스템을 설계하는 사람 마음에 있고, 그걸 알았으면 HBM을 진작 준비했을 것이라고 했습니다. 가운데는 다음 수요입니다. 추론 중 KV 캐시가 GPU HBM을 넘어 서버 DRAM, 그리고 NVMe SSD로 내려옵니다. HBM을 대체하는 것이 아니라 그 아래에 계층이 더해지는 것입니다. eSSD 수요는 과제팀 모델로 2025년 265EB에서 2030년 1,000EB, 그중 AI 추론 KV 캐시가 350EB입니다. 고객은 랙 공간 제약 때문에 고용량을 원하고, QLC 비중은 2024년 14%에서 2030년 55%로 오릅니다. 오른쪽이 결정적인 차이입니다. 기존 SSD는 TLC 1, QLC 0.3에서 0.6 DWPD인데, AI 스토리지는 3에서 30을 요구합니다. KV 캐시용으로 나온 TLC SSD 정격이 3이고, 30은 고객 요구입니다. 30 이상은 지금 SLC급 매체만 닿습니다. 모든 요구를 TLC나 QLC로 풀자는 것이 아니라, 고객이 높은 DWPD를 요구하기 시작했다는 사실이 중요합니다. 이 갭을 메우는 기업이 AI 스토리지 시장을 가져갑니다.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2장 솔루션입니다. 위쪽이 솔루션의 범위입니다. 지금까지 NAND 솔루션은 NAND 플래시의 한계를 SSD 안에서 극복해 왔습니다. 비트 에러는 ECC로, 쓰기 전에 지워야 하는 문제와 수명 편차는 FTL로 풀어 여러 NAND를 하나의 SSD로 만들었고, 그다음에는 QoS 간섭을 멀티테넌트 기술로, 데이터 보호를 보안 기능으로 풀었습니다. 여기까지는 SSD를 고객 스펙대로 잘 만들면 되었습니다. 그런데 높은 DWPD라는 장벽을 만났습니다. 길은 세 가지입니다. SLC 같은 비싼 셀을 쓰거나, OP를 크게 늘려 판매 용량을 줄이거나, WAF를 줄이는 것입니다. 고객은 여전히 TCO 절감을 원하므로 WAF를 줄이는 방향이 가장 적절합니다. WAF를 줄이려면 수명이 다른 데이터가 한 블록에 섞이는 문제를 풀어야 하는데, 데이터가 언제 지워질지는 SSD가 아니라 호스트가 압니다. 그래서 고객 시스템이 배치 정보를 주는 방법이 가장 효과적입니다. 아래쪽이 기술 스택의 진화입니다. 1단계는 컨트롤러와 펌웨어가 NAND의 한계를 흡수했고, 2단계는 NVMe와 QoS, 보안 같은 기능을 더했지만 WAF의 근본 한계는 그대로였습니다. 3단계에서 해법이 서버로 올라갑니다. Open-Channel SSD와 ZNS를 거쳐 FDP가 가장 실질적인 대안으로 떠올라 상용화되고 있고, Linux 커널에 write stream 경로가 열렸습니다. AI 스토리지에서는 LMCache, vLLM, Dynamo 같은 오픈 생태계와 협업해야 FDP를 적용할 수 있고, 고객마다 다른 워크로드에 맞추려면 워크로드 구성형 SSD가 필요합니다. 범용 실측에서 FDP는 WAF를 약 3에서 약 1로 낮췄고, CacheLib에서는 3.22에서 1.03이었습니다. 결론입니다. 이제는 NAND나 SSD만 잘 만들어서는 안 되고, 서버와의 협력이 필수이며, 그것을 위한 기술과 인재와 고객 협력이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3장 실행 전략입니다. 2장의 결론인 기술, 인재, 고객 협력 세 축을 세 단계로 쌓습니다. 기술은 계단입니다. 1단계는 출하 시 구성 SKU로 OP와 SLC 비율, 배치 핸들 16개 이상을 고객이 고르게 합니다. 2단계는 운영 중 조정으로 배치 정책과 GC 강도를 조절하고 WAF를 감시합니다. 3단계가 워크로드 구성형 플랫폼으로, 런타임 WAF 대응과 고객별 운영점을 제공합니다. 용량과 내구성까지 운영 중에 바꾸는 워크로드 적응형은 그 다음의 장기 과제입니다. 인재는 고객 시스템을 아는 시스템 소프트웨어 전문가를 미주 현지에서 뽑고, 펌웨어와 FTL 엔지니어를 호스트 소프트웨어로 전환시키며, 오픈소스 메인테이너와 고객이 이름으로 부르는 아키텍트를 만듭니다. 고객 협력은 워크로드를 여는 등대 고객 한두 곳을 골라 Co-Design Pod를 상주시키고, LMCache, vLLM, Dynamo에 FDP 경로를 업스트림으로 넣고, 공동 설계와 다년 공급, 워크로드 접근을 한 계약에 묶는 전략적 협약으로 갑니다. 시계가 중요합니다. 공급자 우위는 2027년 하반기 공급 완화 전까지이므로, 워크로드 접근권을 계약으로 고정할 창은 2026년 4분기부터 2027년 상반기입니다. 첫 90일은 KV-ready SSD 정의, 등대 고객 선정, Co-Design Pod 구성입니다. HBM에서 배운 것처럼, 이번에는 고객과 함께 수요를 만듭니다.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다운턴에서 배운 SSD 생존 전략</a:t>
            </a:r>
            <a:r>
              <a:rPr sz="1800" b="0">
                <a:solidFill>
                  <a:srgbClr val="555555"/>
                </a:solidFill>
                <a:latin typeface="Arial"/>
                <a:ea typeface="Arial"/>
              </a:rPr>
              <a:t>   1 / 3  배경</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HBM의 교훈은 고객과 함께 수요를 읽는 것이며,</a:t>
            </a:r>
          </a:p>
          <a:p>
            <a:pPr algn="l">
              <a:lnSpc>
                <a:spcPct val="105000"/>
              </a:lnSpc>
            </a:pPr>
            <a:r>
              <a:rPr sz="3200" b="1">
                <a:solidFill>
                  <a:srgbClr val="1A1A1A"/>
                </a:solidFill>
                <a:latin typeface="Arial"/>
                <a:ea typeface="Arial"/>
              </a:rPr>
              <a:t>다음 수요인 AI 스토리지는 높은 DWPD를 요구합니다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22376"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8" name="TextBox 7"/>
          <p:cNvSpPr txBox="1"/>
          <p:nvPr/>
        </p:nvSpPr>
        <p:spPr>
          <a:xfrm>
            <a:off x="1307592" y="2103120"/>
            <a:ext cx="453542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교훈: HBM 수요를 늦게 읽었다</a:t>
            </a:r>
          </a:p>
        </p:txBody>
      </p:sp>
      <p:sp>
        <p:nvSpPr>
          <p:cNvPr id="9" name="TextBox 8"/>
          <p:cNvSpPr txBox="1"/>
          <p:nvPr/>
        </p:nvSpPr>
        <p:spPr>
          <a:xfrm>
            <a:off x="722376" y="2724912"/>
            <a:ext cx="1325880" cy="347472"/>
          </a:xfrm>
          <a:prstGeom prst="rect">
            <a:avLst/>
          </a:prstGeom>
          <a:noFill/>
        </p:spPr>
        <p:txBody>
          <a:bodyPr wrap="square" anchor="ctr" lIns="0" rIns="0" tIns="0" bIns="0">
            <a:spAutoFit/>
          </a:bodyPr>
          <a:lstStyle/>
          <a:p>
            <a:pPr algn="l">
              <a:lnSpc>
                <a:spcPct val="110000"/>
              </a:lnSpc>
            </a:pPr>
            <a:r>
              <a:rPr sz="1600" b="0">
                <a:solidFill>
                  <a:srgbClr val="555555"/>
                </a:solidFill>
                <a:latin typeface="Arial"/>
                <a:ea typeface="Arial"/>
              </a:rPr>
              <a:t>HBM 점유율</a:t>
            </a:r>
          </a:p>
        </p:txBody>
      </p:sp>
      <p:sp>
        <p:nvSpPr>
          <p:cNvPr id="10" name="Rectangle 9"/>
          <p:cNvSpPr/>
          <p:nvPr/>
        </p:nvSpPr>
        <p:spPr>
          <a:xfrm>
            <a:off x="2048256" y="2871216"/>
            <a:ext cx="329184" cy="6400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amsung.png"/>
          <p:cNvPicPr>
            <a:picLocks noChangeAspect="1"/>
          </p:cNvPicPr>
          <p:nvPr/>
        </p:nvPicPr>
        <p:blipFill>
          <a:blip r:embed="rId2"/>
          <a:stretch>
            <a:fillRect/>
          </a:stretch>
        </p:blipFill>
        <p:spPr>
          <a:xfrm>
            <a:off x="2450592" y="2779776"/>
            <a:ext cx="1481455" cy="228600"/>
          </a:xfrm>
          <a:prstGeom prst="rect">
            <a:avLst/>
          </a:prstGeom>
        </p:spPr>
      </p:pic>
      <p:sp>
        <p:nvSpPr>
          <p:cNvPr id="12" name="Rectangle 11"/>
          <p:cNvSpPr/>
          <p:nvPr/>
        </p:nvSpPr>
        <p:spPr>
          <a:xfrm>
            <a:off x="4206367" y="2871216"/>
            <a:ext cx="329184" cy="64008"/>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k-hynix.png"/>
          <p:cNvPicPr>
            <a:picLocks noChangeAspect="1"/>
          </p:cNvPicPr>
          <p:nvPr/>
        </p:nvPicPr>
        <p:blipFill>
          <a:blip r:embed="rId3"/>
          <a:stretch>
            <a:fillRect/>
          </a:stretch>
        </p:blipFill>
        <p:spPr>
          <a:xfrm>
            <a:off x="4608703" y="2679192"/>
            <a:ext cx="765556" cy="402336"/>
          </a:xfrm>
          <a:prstGeom prst="rect">
            <a:avLst/>
          </a:prstGeom>
        </p:spPr>
      </p:pic>
      <p:pic>
        <p:nvPicPr>
          <p:cNvPr id="14" name="Picture 13" descr="chart_hbm_share.png"/>
          <p:cNvPicPr>
            <a:picLocks noChangeAspect="1"/>
          </p:cNvPicPr>
          <p:nvPr/>
        </p:nvPicPr>
        <p:blipFill>
          <a:blip r:embed="rId4"/>
          <a:stretch>
            <a:fillRect/>
          </a:stretch>
        </p:blipFill>
        <p:spPr>
          <a:xfrm>
            <a:off x="722376" y="3108960"/>
            <a:ext cx="5120640" cy="2788920"/>
          </a:xfrm>
          <a:prstGeom prst="rect">
            <a:avLst/>
          </a:prstGeom>
        </p:spPr>
      </p:pic>
      <p:sp>
        <p:nvSpPr>
          <p:cNvPr id="15" name="TextBox 14"/>
          <p:cNvSpPr txBox="1"/>
          <p:nvPr/>
        </p:nvSpPr>
        <p:spPr>
          <a:xfrm>
            <a:off x="722376" y="5989320"/>
            <a:ext cx="1828800" cy="310896"/>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복기</a:t>
            </a:r>
          </a:p>
        </p:txBody>
      </p:sp>
      <p:sp>
        <p:nvSpPr>
          <p:cNvPr id="16" name="Rounded Rectangle 15"/>
          <p:cNvSpPr/>
          <p:nvPr/>
        </p:nvSpPr>
        <p:spPr>
          <a:xfrm>
            <a:off x="722376" y="6336792"/>
            <a:ext cx="1463040" cy="877824"/>
          </a:xfrm>
          <a:prstGeom prst="roundRect">
            <a:avLst>
              <a:gd name="adj" fmla="val 8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6336792"/>
            <a:ext cx="1353312" cy="877824"/>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시장 규모를</a:t>
            </a:r>
          </a:p>
          <a:p>
            <a:pPr algn="ctr">
              <a:lnSpc>
                <a:spcPct val="110000"/>
              </a:lnSpc>
            </a:pPr>
            <a:r>
              <a:rPr sz="1800" b="1">
                <a:solidFill>
                  <a:srgbClr val="1A1A1A"/>
                </a:solidFill>
                <a:latin typeface="Arial"/>
                <a:ea typeface="Arial"/>
              </a:rPr>
              <a:t>작게 봄</a:t>
            </a:r>
          </a:p>
        </p:txBody>
      </p:sp>
      <p:sp>
        <p:nvSpPr>
          <p:cNvPr id="18" name="Right Arrow 17"/>
          <p:cNvSpPr/>
          <p:nvPr/>
        </p:nvSpPr>
        <p:spPr>
          <a:xfrm>
            <a:off x="2249424" y="6656832"/>
            <a:ext cx="237744" cy="23774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551176" y="6336792"/>
            <a:ext cx="1463040" cy="877824"/>
          </a:xfrm>
          <a:prstGeom prst="roundRect">
            <a:avLst>
              <a:gd name="adj" fmla="val 8333"/>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606040" y="6336792"/>
            <a:ext cx="1353312" cy="877824"/>
          </a:xfrm>
          <a:prstGeom prst="rect">
            <a:avLst/>
          </a:prstGeom>
          <a:noFill/>
        </p:spPr>
        <p:txBody>
          <a:bodyPr wrap="square" anchor="ctr" lIns="0" rIns="0" tIns="0" bIns="0">
            <a:spAutoFit/>
          </a:bodyPr>
          <a:lstStyle/>
          <a:p>
            <a:pPr algn="ctr">
              <a:lnSpc>
                <a:spcPct val="110000"/>
              </a:lnSpc>
            </a:pPr>
            <a:r>
              <a:rPr sz="1800" b="1">
                <a:solidFill>
                  <a:srgbClr val="1A1A1A"/>
                </a:solidFill>
                <a:latin typeface="Arial"/>
                <a:ea typeface="Arial"/>
              </a:rPr>
              <a:t>개발 리소스</a:t>
            </a:r>
          </a:p>
          <a:p>
            <a:pPr algn="ctr">
              <a:lnSpc>
                <a:spcPct val="110000"/>
              </a:lnSpc>
            </a:pPr>
            <a:r>
              <a:rPr sz="1800" b="1">
                <a:solidFill>
                  <a:srgbClr val="1A1A1A"/>
                </a:solidFill>
                <a:latin typeface="Arial"/>
                <a:ea typeface="Arial"/>
              </a:rPr>
              <a:t>투입 지연</a:t>
            </a:r>
          </a:p>
        </p:txBody>
      </p:sp>
      <p:sp>
        <p:nvSpPr>
          <p:cNvPr id="21" name="Right Arrow 20"/>
          <p:cNvSpPr/>
          <p:nvPr/>
        </p:nvSpPr>
        <p:spPr>
          <a:xfrm>
            <a:off x="4078224" y="6656832"/>
            <a:ext cx="237744" cy="237744"/>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379976" y="6336792"/>
            <a:ext cx="1463040" cy="877824"/>
          </a:xfrm>
          <a:prstGeom prst="roundRect">
            <a:avLst>
              <a:gd name="adj" fmla="val 8333"/>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34840" y="6336792"/>
            <a:ext cx="1353312" cy="877824"/>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AI 첫 호황</a:t>
            </a:r>
          </a:p>
          <a:p>
            <a:pPr algn="ctr">
              <a:lnSpc>
                <a:spcPct val="110000"/>
              </a:lnSpc>
            </a:pPr>
            <a:r>
              <a:rPr sz="1800" b="1">
                <a:solidFill>
                  <a:srgbClr val="FFFFFF"/>
                </a:solidFill>
                <a:latin typeface="Arial"/>
                <a:ea typeface="Arial"/>
              </a:rPr>
              <a:t>선두 상실</a:t>
            </a:r>
          </a:p>
        </p:txBody>
      </p:sp>
      <p:sp>
        <p:nvSpPr>
          <p:cNvPr id="24" name="Rounded Rectangle 23"/>
          <p:cNvSpPr/>
          <p:nvPr/>
        </p:nvSpPr>
        <p:spPr>
          <a:xfrm>
            <a:off x="722376" y="7406640"/>
            <a:ext cx="5120640" cy="1243584"/>
          </a:xfrm>
          <a:prstGeom prst="roundRect">
            <a:avLst>
              <a:gd name="adj" fmla="val 5882"/>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nvidia.png"/>
          <p:cNvPicPr>
            <a:picLocks noChangeAspect="1"/>
          </p:cNvPicPr>
          <p:nvPr/>
        </p:nvPicPr>
        <p:blipFill>
          <a:blip r:embed="rId5"/>
          <a:stretch>
            <a:fillRect/>
          </a:stretch>
        </p:blipFill>
        <p:spPr>
          <a:xfrm>
            <a:off x="923544" y="7562088"/>
            <a:ext cx="1435395" cy="274320"/>
          </a:xfrm>
          <a:prstGeom prst="rect">
            <a:avLst/>
          </a:prstGeom>
        </p:spPr>
      </p:pic>
      <p:sp>
        <p:nvSpPr>
          <p:cNvPr id="26" name="TextBox 25"/>
          <p:cNvSpPr txBox="1"/>
          <p:nvPr/>
        </p:nvSpPr>
        <p:spPr>
          <a:xfrm>
            <a:off x="2484742" y="7516367"/>
            <a:ext cx="3108959" cy="365760"/>
          </a:xfrm>
          <a:prstGeom prst="rect">
            <a:avLst/>
          </a:prstGeom>
          <a:noFill/>
        </p:spPr>
        <p:txBody>
          <a:bodyPr wrap="square" anchor="ctr" lIns="0" rIns="0" tIns="0" bIns="0">
            <a:spAutoFit/>
          </a:bodyPr>
          <a:lstStyle/>
          <a:p>
            <a:pPr algn="l">
              <a:lnSpc>
                <a:spcPct val="110000"/>
              </a:lnSpc>
            </a:pPr>
            <a:r>
              <a:rPr sz="1800" b="0">
                <a:solidFill>
                  <a:srgbClr val="555555"/>
                </a:solidFill>
                <a:latin typeface="Arial"/>
                <a:ea typeface="Arial"/>
              </a:rPr>
              <a:t>같은 고객과 함께였다면</a:t>
            </a:r>
          </a:p>
        </p:txBody>
      </p:sp>
      <p:sp>
        <p:nvSpPr>
          <p:cNvPr id="27" name="TextBox 26"/>
          <p:cNvSpPr txBox="1"/>
          <p:nvPr/>
        </p:nvSpPr>
        <p:spPr>
          <a:xfrm>
            <a:off x="923544" y="7918704"/>
            <a:ext cx="4718303" cy="694944"/>
          </a:xfrm>
          <a:prstGeom prst="rect">
            <a:avLst/>
          </a:prstGeom>
          <a:noFill/>
        </p:spPr>
        <p:txBody>
          <a:bodyPr wrap="square" anchor="ctr" lIns="0" rIns="0" tIns="0" bIns="0">
            <a:spAutoFit/>
          </a:bodyPr>
          <a:lstStyle/>
          <a:p>
            <a:pPr algn="l">
              <a:lnSpc>
                <a:spcPct val="100000"/>
              </a:lnSpc>
            </a:pPr>
            <a:r>
              <a:rPr sz="2000" b="1">
                <a:solidFill>
                  <a:srgbClr val="1428A0"/>
                </a:solidFill>
                <a:latin typeface="Arial"/>
                <a:ea typeface="Arial"/>
              </a:rPr>
              <a:t>고객과 함께 수요를 만드는 기업이 미래를 선점합니다</a:t>
            </a:r>
          </a:p>
        </p:txBody>
      </p:sp>
      <p:sp>
        <p:nvSpPr>
          <p:cNvPr id="28" name="Chevron 27"/>
          <p:cNvSpPr/>
          <p:nvPr/>
        </p:nvSpPr>
        <p:spPr>
          <a:xfrm>
            <a:off x="5916168" y="4983480"/>
            <a:ext cx="237744" cy="50292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217920"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31" name="TextBox 30"/>
          <p:cNvSpPr txBox="1"/>
          <p:nvPr/>
        </p:nvSpPr>
        <p:spPr>
          <a:xfrm>
            <a:off x="6803136" y="2103120"/>
            <a:ext cx="5449823"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다음 수요: KV 캐시가 SSD로</a:t>
            </a:r>
          </a:p>
        </p:txBody>
      </p:sp>
      <p:pic>
        <p:nvPicPr>
          <p:cNvPr id="32" name="Picture 31" descr="render_hbm.png"/>
          <p:cNvPicPr>
            <a:picLocks noChangeAspect="1"/>
          </p:cNvPicPr>
          <p:nvPr/>
        </p:nvPicPr>
        <p:blipFill>
          <a:blip r:embed="rId6"/>
          <a:stretch>
            <a:fillRect/>
          </a:stretch>
        </p:blipFill>
        <p:spPr>
          <a:xfrm>
            <a:off x="6482997" y="2724912"/>
            <a:ext cx="1225493" cy="896112"/>
          </a:xfrm>
          <a:prstGeom prst="rect">
            <a:avLst/>
          </a:prstGeom>
        </p:spPr>
      </p:pic>
      <p:sp>
        <p:nvSpPr>
          <p:cNvPr id="33" name="TextBox 32"/>
          <p:cNvSpPr txBox="1"/>
          <p:nvPr/>
        </p:nvSpPr>
        <p:spPr>
          <a:xfrm>
            <a:off x="6217920" y="3657600"/>
            <a:ext cx="1755648" cy="310896"/>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GPU HBM</a:t>
            </a:r>
          </a:p>
        </p:txBody>
      </p:sp>
      <p:sp>
        <p:nvSpPr>
          <p:cNvPr id="34" name="Chevron 33"/>
          <p:cNvSpPr/>
          <p:nvPr/>
        </p:nvSpPr>
        <p:spPr>
          <a:xfrm>
            <a:off x="8065007" y="2999232"/>
            <a:ext cx="201168" cy="384048"/>
          </a:xfrm>
          <a:prstGeom prst="chevron">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render_dram.png"/>
          <p:cNvPicPr>
            <a:picLocks noChangeAspect="1"/>
          </p:cNvPicPr>
          <p:nvPr/>
        </p:nvPicPr>
        <p:blipFill>
          <a:blip r:embed="rId7"/>
          <a:stretch>
            <a:fillRect/>
          </a:stretch>
        </p:blipFill>
        <p:spPr>
          <a:xfrm>
            <a:off x="8357616" y="2843366"/>
            <a:ext cx="1755648" cy="659203"/>
          </a:xfrm>
          <a:prstGeom prst="rect">
            <a:avLst/>
          </a:prstGeom>
        </p:spPr>
      </p:pic>
      <p:sp>
        <p:nvSpPr>
          <p:cNvPr id="36" name="TextBox 35"/>
          <p:cNvSpPr txBox="1"/>
          <p:nvPr/>
        </p:nvSpPr>
        <p:spPr>
          <a:xfrm>
            <a:off x="8357616" y="3657600"/>
            <a:ext cx="1755648" cy="310896"/>
          </a:xfrm>
          <a:prstGeom prst="rect">
            <a:avLst/>
          </a:prstGeom>
          <a:noFill/>
        </p:spPr>
        <p:txBody>
          <a:bodyPr wrap="square" anchor="t" lIns="0" rIns="0" tIns="0" bIns="0">
            <a:spAutoFit/>
          </a:bodyPr>
          <a:lstStyle/>
          <a:p>
            <a:pPr algn="ctr">
              <a:lnSpc>
                <a:spcPct val="110000"/>
              </a:lnSpc>
            </a:pPr>
            <a:r>
              <a:rPr sz="1800" b="1">
                <a:solidFill>
                  <a:srgbClr val="1A1A1A"/>
                </a:solidFill>
                <a:latin typeface="Arial"/>
                <a:ea typeface="Arial"/>
              </a:rPr>
              <a:t>서버 DRAM</a:t>
            </a:r>
          </a:p>
        </p:txBody>
      </p:sp>
      <p:sp>
        <p:nvSpPr>
          <p:cNvPr id="37" name="Chevron 36"/>
          <p:cNvSpPr/>
          <p:nvPr/>
        </p:nvSpPr>
        <p:spPr>
          <a:xfrm>
            <a:off x="10204704" y="2999232"/>
            <a:ext cx="201168" cy="384048"/>
          </a:xfrm>
          <a:prstGeom prst="chevron">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8" name="Picture 37" descr="render_ssd.png"/>
          <p:cNvPicPr>
            <a:picLocks noChangeAspect="1"/>
          </p:cNvPicPr>
          <p:nvPr/>
        </p:nvPicPr>
        <p:blipFill>
          <a:blip r:embed="rId8"/>
          <a:stretch>
            <a:fillRect/>
          </a:stretch>
        </p:blipFill>
        <p:spPr>
          <a:xfrm>
            <a:off x="10497312" y="2847049"/>
            <a:ext cx="1755648" cy="651836"/>
          </a:xfrm>
          <a:prstGeom prst="rect">
            <a:avLst/>
          </a:prstGeom>
        </p:spPr>
      </p:pic>
      <p:sp>
        <p:nvSpPr>
          <p:cNvPr id="39" name="TextBox 38"/>
          <p:cNvSpPr txBox="1"/>
          <p:nvPr/>
        </p:nvSpPr>
        <p:spPr>
          <a:xfrm>
            <a:off x="10497312" y="3657600"/>
            <a:ext cx="1755648" cy="310896"/>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NVMe SSD</a:t>
            </a:r>
          </a:p>
        </p:txBody>
      </p:sp>
      <p:sp>
        <p:nvSpPr>
          <p:cNvPr id="40" name="Rounded Rectangle 39"/>
          <p:cNvSpPr/>
          <p:nvPr/>
        </p:nvSpPr>
        <p:spPr>
          <a:xfrm>
            <a:off x="6217920" y="4041648"/>
            <a:ext cx="6035040" cy="402336"/>
          </a:xfrm>
          <a:prstGeom prst="roundRect">
            <a:avLst>
              <a:gd name="adj" fmla="val 18181"/>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17920" y="4041648"/>
            <a:ext cx="6035040" cy="402336"/>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KV 캐시 오프로딩: 넘치는 KV 캐시를 SSD가 받습니다</a:t>
            </a:r>
          </a:p>
        </p:txBody>
      </p:sp>
      <p:pic>
        <p:nvPicPr>
          <p:cNvPr id="42" name="Picture 41" descr="chart_essd_ai_qlc.png"/>
          <p:cNvPicPr>
            <a:picLocks noChangeAspect="1"/>
          </p:cNvPicPr>
          <p:nvPr/>
        </p:nvPicPr>
        <p:blipFill>
          <a:blip r:embed="rId9"/>
          <a:stretch>
            <a:fillRect/>
          </a:stretch>
        </p:blipFill>
        <p:spPr>
          <a:xfrm>
            <a:off x="6217920" y="4553712"/>
            <a:ext cx="6035040" cy="3383279"/>
          </a:xfrm>
          <a:prstGeom prst="rect">
            <a:avLst/>
          </a:prstGeom>
        </p:spPr>
      </p:pic>
      <p:pic>
        <p:nvPicPr>
          <p:cNvPr id="43" name="Picture 42" descr="render_server.png"/>
          <p:cNvPicPr>
            <a:picLocks noChangeAspect="1"/>
          </p:cNvPicPr>
          <p:nvPr/>
        </p:nvPicPr>
        <p:blipFill>
          <a:blip r:embed="rId10"/>
          <a:stretch>
            <a:fillRect/>
          </a:stretch>
        </p:blipFill>
        <p:spPr>
          <a:xfrm>
            <a:off x="6217920" y="8047664"/>
            <a:ext cx="960120" cy="565038"/>
          </a:xfrm>
          <a:prstGeom prst="rect">
            <a:avLst/>
          </a:prstGeom>
        </p:spPr>
      </p:pic>
      <p:sp>
        <p:nvSpPr>
          <p:cNvPr id="44" name="TextBox 43"/>
          <p:cNvSpPr txBox="1"/>
          <p:nvPr/>
        </p:nvSpPr>
        <p:spPr>
          <a:xfrm>
            <a:off x="7315200" y="8010144"/>
            <a:ext cx="4937759" cy="658368"/>
          </a:xfrm>
          <a:prstGeom prst="rect">
            <a:avLst/>
          </a:prstGeom>
          <a:noFill/>
        </p:spPr>
        <p:txBody>
          <a:bodyPr wrap="square" anchor="ctr" lIns="0" rIns="0" tIns="0" bIns="0">
            <a:spAutoFit/>
          </a:bodyPr>
          <a:lstStyle/>
          <a:p>
            <a:pPr algn="l">
              <a:lnSpc>
                <a:spcPct val="100000"/>
              </a:lnSpc>
            </a:pPr>
            <a:r>
              <a:rPr sz="1800" b="1">
                <a:solidFill>
                  <a:srgbClr val="1A1A1A"/>
                </a:solidFill>
                <a:latin typeface="Arial"/>
                <a:ea typeface="Arial"/>
              </a:rPr>
              <a:t>랙 공간 제약 → 고용량 QLC 선호</a:t>
            </a:r>
          </a:p>
          <a:p>
            <a:pPr algn="l">
              <a:lnSpc>
                <a:spcPct val="100000"/>
              </a:lnSpc>
            </a:pPr>
            <a:r>
              <a:rPr sz="1800" b="0">
                <a:solidFill>
                  <a:srgbClr val="555555"/>
                </a:solidFill>
                <a:latin typeface="Arial"/>
                <a:ea typeface="Arial"/>
              </a:rPr>
              <a:t>Meta: QLC 서버 바이트 밀도 목표 TLC의 6배</a:t>
            </a:r>
          </a:p>
        </p:txBody>
      </p:sp>
      <p:sp>
        <p:nvSpPr>
          <p:cNvPr id="45" name="Chevron 44"/>
          <p:cNvSpPr/>
          <p:nvPr/>
        </p:nvSpPr>
        <p:spPr>
          <a:xfrm>
            <a:off x="12326112" y="4983480"/>
            <a:ext cx="237744" cy="502920"/>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2627864" y="2139696"/>
            <a:ext cx="438912" cy="438912"/>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2627864" y="2139696"/>
            <a:ext cx="438912" cy="438912"/>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48" name="TextBox 47"/>
          <p:cNvSpPr txBox="1"/>
          <p:nvPr/>
        </p:nvSpPr>
        <p:spPr>
          <a:xfrm>
            <a:off x="13213080" y="2103120"/>
            <a:ext cx="4352544" cy="512063"/>
          </a:xfrm>
          <a:prstGeom prst="rect">
            <a:avLst/>
          </a:prstGeom>
          <a:noFill/>
        </p:spPr>
        <p:txBody>
          <a:bodyPr wrap="square" anchor="ctr" lIns="0" rIns="0" tIns="0" bIns="0">
            <a:spAutoFit/>
          </a:bodyPr>
          <a:lstStyle/>
          <a:p>
            <a:pPr algn="l">
              <a:lnSpc>
                <a:spcPct val="110000"/>
              </a:lnSpc>
            </a:pPr>
            <a:r>
              <a:rPr sz="2400" b="1">
                <a:solidFill>
                  <a:srgbClr val="1A1A1A"/>
                </a:solidFill>
                <a:latin typeface="Arial"/>
                <a:ea typeface="Arial"/>
              </a:rPr>
              <a:t>새 요구: 높은 DWPD</a:t>
            </a:r>
          </a:p>
        </p:txBody>
      </p:sp>
      <p:pic>
        <p:nvPicPr>
          <p:cNvPr id="49" name="Picture 48" descr="chart_dwpd_gap.png"/>
          <p:cNvPicPr>
            <a:picLocks noChangeAspect="1"/>
          </p:cNvPicPr>
          <p:nvPr/>
        </p:nvPicPr>
        <p:blipFill>
          <a:blip r:embed="rId11"/>
          <a:stretch>
            <a:fillRect/>
          </a:stretch>
        </p:blipFill>
        <p:spPr>
          <a:xfrm>
            <a:off x="12627864" y="2724912"/>
            <a:ext cx="4937760" cy="3246120"/>
          </a:xfrm>
          <a:prstGeom prst="rect">
            <a:avLst/>
          </a:prstGeom>
        </p:spPr>
      </p:pic>
      <p:sp>
        <p:nvSpPr>
          <p:cNvPr id="50" name="TextBox 49"/>
          <p:cNvSpPr txBox="1"/>
          <p:nvPr/>
        </p:nvSpPr>
        <p:spPr>
          <a:xfrm>
            <a:off x="12627864" y="6144768"/>
            <a:ext cx="4937760" cy="731520"/>
          </a:xfrm>
          <a:prstGeom prst="rect">
            <a:avLst/>
          </a:prstGeom>
          <a:noFill/>
        </p:spPr>
        <p:txBody>
          <a:bodyPr wrap="square" anchor="ctr" lIns="0" rIns="0" tIns="0" bIns="0">
            <a:spAutoFit/>
          </a:bodyPr>
          <a:lstStyle/>
          <a:p>
            <a:pPr algn="l">
              <a:lnSpc>
                <a:spcPct val="110000"/>
              </a:lnSpc>
            </a:pPr>
            <a:r>
              <a:rPr sz="2600" b="1">
                <a:solidFill>
                  <a:srgbClr val="1428A0"/>
                </a:solidFill>
                <a:latin typeface="Arial"/>
                <a:ea typeface="Arial"/>
              </a:rPr>
              <a:t>최대 </a:t>
            </a:r>
            <a:r>
              <a:rPr sz="4800" b="1">
                <a:solidFill>
                  <a:srgbClr val="1428A0"/>
                </a:solidFill>
                <a:latin typeface="Arial"/>
                <a:ea typeface="Arial"/>
              </a:rPr>
              <a:t>100</a:t>
            </a:r>
            <a:r>
              <a:rPr sz="2600" b="1">
                <a:solidFill>
                  <a:srgbClr val="1428A0"/>
                </a:solidFill>
                <a:latin typeface="Arial"/>
                <a:ea typeface="Arial"/>
              </a:rPr>
              <a:t>배</a:t>
            </a:r>
          </a:p>
        </p:txBody>
      </p:sp>
      <p:sp>
        <p:nvSpPr>
          <p:cNvPr id="51" name="TextBox 50"/>
          <p:cNvSpPr txBox="1"/>
          <p:nvPr/>
        </p:nvSpPr>
        <p:spPr>
          <a:xfrm>
            <a:off x="12627864" y="6858000"/>
            <a:ext cx="4937760" cy="329184"/>
          </a:xfrm>
          <a:prstGeom prst="rect">
            <a:avLst/>
          </a:prstGeom>
          <a:noFill/>
        </p:spPr>
        <p:txBody>
          <a:bodyPr wrap="square" anchor="t" lIns="0" rIns="0" tIns="0" bIns="0">
            <a:spAutoFit/>
          </a:bodyPr>
          <a:lstStyle/>
          <a:p>
            <a:pPr algn="l">
              <a:lnSpc>
                <a:spcPct val="110000"/>
              </a:lnSpc>
            </a:pPr>
            <a:r>
              <a:rPr sz="1800" b="0">
                <a:solidFill>
                  <a:srgbClr val="555555"/>
                </a:solidFill>
                <a:latin typeface="Arial"/>
                <a:ea typeface="Arial"/>
              </a:rPr>
              <a:t>현 QLC 0.3 대비 요구 30 DWPD</a:t>
            </a:r>
          </a:p>
        </p:txBody>
      </p:sp>
      <p:sp>
        <p:nvSpPr>
          <p:cNvPr id="52" name="Rectangle 51"/>
          <p:cNvSpPr/>
          <p:nvPr/>
        </p:nvSpPr>
        <p:spPr>
          <a:xfrm>
            <a:off x="12627864" y="7333488"/>
            <a:ext cx="4937760"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3" name="Picture 52" descr="render_ssd.png"/>
          <p:cNvPicPr>
            <a:picLocks noChangeAspect="1"/>
          </p:cNvPicPr>
          <p:nvPr/>
        </p:nvPicPr>
        <p:blipFill>
          <a:blip r:embed="rId8"/>
          <a:stretch>
            <a:fillRect/>
          </a:stretch>
        </p:blipFill>
        <p:spPr>
          <a:xfrm>
            <a:off x="12627864" y="7771838"/>
            <a:ext cx="1234440" cy="458322"/>
          </a:xfrm>
          <a:prstGeom prst="rect">
            <a:avLst/>
          </a:prstGeom>
        </p:spPr>
      </p:pic>
      <p:sp>
        <p:nvSpPr>
          <p:cNvPr id="54" name="TextBox 53"/>
          <p:cNvSpPr txBox="1"/>
          <p:nvPr/>
        </p:nvSpPr>
        <p:spPr>
          <a:xfrm>
            <a:off x="13999464" y="7424927"/>
            <a:ext cx="3566160" cy="1188720"/>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고객이 높은 DWPD를</a:t>
            </a:r>
          </a:p>
          <a:p>
            <a:pPr algn="l">
              <a:lnSpc>
                <a:spcPct val="105000"/>
              </a:lnSpc>
            </a:pPr>
            <a:r>
              <a:rPr sz="2000" b="1">
                <a:solidFill>
                  <a:srgbClr val="1A1A1A"/>
                </a:solidFill>
                <a:latin typeface="Arial"/>
                <a:ea typeface="Arial"/>
              </a:rPr>
              <a:t>요구하기 시작했습니다</a:t>
            </a:r>
          </a:p>
          <a:p>
            <a:pPr algn="l">
              <a:lnSpc>
                <a:spcPct val="105000"/>
              </a:lnSpc>
            </a:pPr>
            <a:r>
              <a:rPr sz="1800" b="0">
                <a:solidFill>
                  <a:srgbClr val="555555"/>
                </a:solidFill>
                <a:latin typeface="Arial"/>
                <a:ea typeface="Arial"/>
              </a:rPr>
              <a:t>30 DWPD 이상은 지금 SLC급만</a:t>
            </a:r>
          </a:p>
        </p:txBody>
      </p:sp>
      <p:sp>
        <p:nvSpPr>
          <p:cNvPr id="55" name="Rectangle 54"/>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명제</a:t>
            </a:r>
          </a:p>
        </p:txBody>
      </p:sp>
      <p:sp>
        <p:nvSpPr>
          <p:cNvPr id="57" name="TextBox 56"/>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600" b="1">
                <a:solidFill>
                  <a:srgbClr val="FFFFFF"/>
                </a:solidFill>
                <a:latin typeface="Arial"/>
                <a:ea typeface="Arial"/>
              </a:rPr>
              <a:t>DWPD 갭을 메우는 기업이 AI 스토리지 시장을 가져갑니다</a:t>
            </a:r>
          </a:p>
        </p:txBody>
      </p:sp>
      <p:sp>
        <p:nvSpPr>
          <p:cNvPr id="58" name="TextBox 57"/>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HBM 점유율 TrendForce(2022~2024), Counterpoint(2025~1Q26) · eSSD 수요는 과제팀 모델(TrendForce·TechInsights·SanDisk 기반, 2026년 이후 전망) · DWPD 정격 Kioxia LC9·CM10, Solidigm D7-PS1030, 30은 고객 요구 [사내 확인] · Meta 2025-03 · 부품 이미지는 3D 렌더</a:t>
            </a:r>
          </a:p>
        </p:txBody>
      </p:sp>
      <p:sp>
        <p:nvSpPr>
          <p:cNvPr id="59" name="TextBox 58"/>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1 /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다운턴에서 배운 SSD 생존 전략</a:t>
            </a:r>
            <a:r>
              <a:rPr sz="1800" b="0">
                <a:solidFill>
                  <a:srgbClr val="555555"/>
                </a:solidFill>
                <a:latin typeface="Arial"/>
                <a:ea typeface="Arial"/>
              </a:rPr>
              <a:t>   2 / 3  솔루션</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NAND의 한계는 SSD 안에서 풀어 왔지만,</a:t>
            </a:r>
          </a:p>
          <a:p>
            <a:pPr algn="l">
              <a:lnSpc>
                <a:spcPct val="105000"/>
              </a:lnSpc>
            </a:pPr>
            <a:r>
              <a:rPr sz="3200" b="1">
                <a:solidFill>
                  <a:srgbClr val="1A1A1A"/>
                </a:solidFill>
                <a:latin typeface="Arial"/>
                <a:ea typeface="Arial"/>
              </a:rPr>
              <a:t>DWPD 장벽은 서버와 함께 WAF를 낮춰야 풀립니다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914400" y="2468879"/>
            <a:ext cx="8092440" cy="320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14400" y="2468879"/>
            <a:ext cx="320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974836" y="2468879"/>
            <a:ext cx="32004" cy="146304"/>
          </a:xfrm>
          <a:prstGeom prst="rect">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121408"/>
            <a:ext cx="8092440" cy="329184"/>
          </a:xfrm>
          <a:prstGeom prst="rect">
            <a:avLst/>
          </a:prstGeom>
          <a:noFill/>
        </p:spPr>
        <p:txBody>
          <a:bodyPr wrap="square" anchor="t" lIns="0" rIns="0" tIns="0" bIns="0">
            <a:spAutoFit/>
          </a:bodyPr>
          <a:lstStyle/>
          <a:p>
            <a:pPr algn="ctr">
              <a:lnSpc>
                <a:spcPct val="110000"/>
              </a:lnSpc>
            </a:pPr>
            <a:r>
              <a:rPr sz="1800" b="1">
                <a:solidFill>
                  <a:srgbClr val="8A8A8A"/>
                </a:solidFill>
                <a:latin typeface="Arial"/>
                <a:ea typeface="Arial"/>
              </a:rPr>
              <a:t>지금까지: SSD 안에서 해결</a:t>
            </a:r>
          </a:p>
        </p:txBody>
      </p:sp>
      <p:sp>
        <p:nvSpPr>
          <p:cNvPr id="10" name="Rectangle 9"/>
          <p:cNvSpPr/>
          <p:nvPr/>
        </p:nvSpPr>
        <p:spPr>
          <a:xfrm>
            <a:off x="9116567" y="2468879"/>
            <a:ext cx="4416552" cy="320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116567" y="2468879"/>
            <a:ext cx="320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3501116" y="2468879"/>
            <a:ext cx="32004" cy="146304"/>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16567" y="2121408"/>
            <a:ext cx="4416552"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이제: 서버와 함께</a:t>
            </a:r>
          </a:p>
        </p:txBody>
      </p:sp>
      <p:pic>
        <p:nvPicPr>
          <p:cNvPr id="14" name="Picture 13" descr="render_nand.png"/>
          <p:cNvPicPr>
            <a:picLocks noChangeAspect="1"/>
          </p:cNvPicPr>
          <p:nvPr/>
        </p:nvPicPr>
        <p:blipFill>
          <a:blip r:embed="rId2"/>
          <a:stretch>
            <a:fillRect/>
          </a:stretch>
        </p:blipFill>
        <p:spPr>
          <a:xfrm>
            <a:off x="2078342" y="2706624"/>
            <a:ext cx="1238275" cy="914400"/>
          </a:xfrm>
          <a:prstGeom prst="rect">
            <a:avLst/>
          </a:prstGeom>
        </p:spPr>
      </p:pic>
      <p:sp>
        <p:nvSpPr>
          <p:cNvPr id="15" name="TextBox 14"/>
          <p:cNvSpPr txBox="1"/>
          <p:nvPr/>
        </p:nvSpPr>
        <p:spPr>
          <a:xfrm>
            <a:off x="914400" y="3639312"/>
            <a:ext cx="3566160" cy="329184"/>
          </a:xfrm>
          <a:prstGeom prst="rect">
            <a:avLst/>
          </a:prstGeom>
          <a:noFill/>
        </p:spPr>
        <p:txBody>
          <a:bodyPr wrap="square" anchor="t" lIns="0" rIns="0" tIns="0" bIns="0">
            <a:spAutoFit/>
          </a:bodyPr>
          <a:lstStyle/>
          <a:p>
            <a:pPr algn="ctr">
              <a:lnSpc>
                <a:spcPct val="110000"/>
              </a:lnSpc>
            </a:pPr>
            <a:r>
              <a:rPr sz="2000" b="1">
                <a:solidFill>
                  <a:srgbClr val="1A1A1A"/>
                </a:solidFill>
                <a:latin typeface="Arial"/>
                <a:ea typeface="Arial"/>
              </a:rPr>
              <a:t>NAND</a:t>
            </a:r>
          </a:p>
        </p:txBody>
      </p:sp>
      <p:sp>
        <p:nvSpPr>
          <p:cNvPr id="16" name="TextBox 15"/>
          <p:cNvSpPr txBox="1"/>
          <p:nvPr/>
        </p:nvSpPr>
        <p:spPr>
          <a:xfrm>
            <a:off x="914400" y="4005072"/>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비트 에러</a:t>
            </a:r>
            <a:r>
              <a:rPr sz="1800" b="0">
                <a:solidFill>
                  <a:srgbClr val="8A8A8A"/>
                </a:solidFill>
                <a:latin typeface="Arial"/>
                <a:ea typeface="Arial"/>
              </a:rPr>
              <a:t>  →  </a:t>
            </a:r>
            <a:r>
              <a:rPr sz="1800" b="1">
                <a:solidFill>
                  <a:srgbClr val="1A1A1A"/>
                </a:solidFill>
                <a:latin typeface="Arial"/>
                <a:ea typeface="Arial"/>
              </a:rPr>
              <a:t>ECC</a:t>
            </a:r>
          </a:p>
        </p:txBody>
      </p:sp>
      <p:sp>
        <p:nvSpPr>
          <p:cNvPr id="17" name="TextBox 16"/>
          <p:cNvSpPr txBox="1"/>
          <p:nvPr/>
        </p:nvSpPr>
        <p:spPr>
          <a:xfrm>
            <a:off x="914400" y="4389120"/>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쓰기 전 소거</a:t>
            </a:r>
            <a:r>
              <a:rPr sz="1800" b="0">
                <a:solidFill>
                  <a:srgbClr val="8A8A8A"/>
                </a:solidFill>
                <a:latin typeface="Arial"/>
                <a:ea typeface="Arial"/>
              </a:rPr>
              <a:t>  →  </a:t>
            </a:r>
            <a:r>
              <a:rPr sz="1800" b="1">
                <a:solidFill>
                  <a:srgbClr val="1A1A1A"/>
                </a:solidFill>
                <a:latin typeface="Arial"/>
                <a:ea typeface="Arial"/>
              </a:rPr>
              <a:t>FTL</a:t>
            </a:r>
          </a:p>
        </p:txBody>
      </p:sp>
      <p:sp>
        <p:nvSpPr>
          <p:cNvPr id="18" name="Right Arrow 17"/>
          <p:cNvSpPr/>
          <p:nvPr/>
        </p:nvSpPr>
        <p:spPr>
          <a:xfrm>
            <a:off x="4663440" y="2980944"/>
            <a:ext cx="594360" cy="365760"/>
          </a:xfrm>
          <a:prstGeom prst="rightArrow">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render_ssd.png"/>
          <p:cNvPicPr>
            <a:picLocks noChangeAspect="1"/>
          </p:cNvPicPr>
          <p:nvPr/>
        </p:nvPicPr>
        <p:blipFill>
          <a:blip r:embed="rId3"/>
          <a:stretch>
            <a:fillRect/>
          </a:stretch>
        </p:blipFill>
        <p:spPr>
          <a:xfrm>
            <a:off x="5992343" y="2706624"/>
            <a:ext cx="2462832" cy="914400"/>
          </a:xfrm>
          <a:prstGeom prst="rect">
            <a:avLst/>
          </a:prstGeom>
        </p:spPr>
      </p:pic>
      <p:sp>
        <p:nvSpPr>
          <p:cNvPr id="20" name="TextBox 19"/>
          <p:cNvSpPr txBox="1"/>
          <p:nvPr/>
        </p:nvSpPr>
        <p:spPr>
          <a:xfrm>
            <a:off x="5440680" y="3639312"/>
            <a:ext cx="3566160" cy="329184"/>
          </a:xfrm>
          <a:prstGeom prst="rect">
            <a:avLst/>
          </a:prstGeom>
          <a:noFill/>
        </p:spPr>
        <p:txBody>
          <a:bodyPr wrap="square" anchor="t" lIns="0" rIns="0" tIns="0" bIns="0">
            <a:spAutoFit/>
          </a:bodyPr>
          <a:lstStyle/>
          <a:p>
            <a:pPr algn="ctr">
              <a:lnSpc>
                <a:spcPct val="110000"/>
              </a:lnSpc>
            </a:pPr>
            <a:r>
              <a:rPr sz="2000" b="1">
                <a:solidFill>
                  <a:srgbClr val="1A1A1A"/>
                </a:solidFill>
                <a:latin typeface="Arial"/>
                <a:ea typeface="Arial"/>
              </a:rPr>
              <a:t>SSD</a:t>
            </a:r>
          </a:p>
        </p:txBody>
      </p:sp>
      <p:sp>
        <p:nvSpPr>
          <p:cNvPr id="21" name="TextBox 20"/>
          <p:cNvSpPr txBox="1"/>
          <p:nvPr/>
        </p:nvSpPr>
        <p:spPr>
          <a:xfrm>
            <a:off x="5440680" y="4005072"/>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QoS 간섭</a:t>
            </a:r>
            <a:r>
              <a:rPr sz="1800" b="0">
                <a:solidFill>
                  <a:srgbClr val="8A8A8A"/>
                </a:solidFill>
                <a:latin typeface="Arial"/>
                <a:ea typeface="Arial"/>
              </a:rPr>
              <a:t>  →  </a:t>
            </a:r>
            <a:r>
              <a:rPr sz="1800" b="1">
                <a:solidFill>
                  <a:srgbClr val="1A1A1A"/>
                </a:solidFill>
                <a:latin typeface="Arial"/>
                <a:ea typeface="Arial"/>
              </a:rPr>
              <a:t>멀티테넌트</a:t>
            </a:r>
          </a:p>
        </p:txBody>
      </p:sp>
      <p:sp>
        <p:nvSpPr>
          <p:cNvPr id="22" name="TextBox 21"/>
          <p:cNvSpPr txBox="1"/>
          <p:nvPr/>
        </p:nvSpPr>
        <p:spPr>
          <a:xfrm>
            <a:off x="5440680" y="4389120"/>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데이터 보호</a:t>
            </a:r>
            <a:r>
              <a:rPr sz="1800" b="0">
                <a:solidFill>
                  <a:srgbClr val="8A8A8A"/>
                </a:solidFill>
                <a:latin typeface="Arial"/>
                <a:ea typeface="Arial"/>
              </a:rPr>
              <a:t>  →  </a:t>
            </a:r>
            <a:r>
              <a:rPr sz="1800" b="1">
                <a:solidFill>
                  <a:srgbClr val="1A1A1A"/>
                </a:solidFill>
                <a:latin typeface="Arial"/>
                <a:ea typeface="Arial"/>
              </a:rPr>
              <a:t>보안</a:t>
            </a:r>
          </a:p>
        </p:txBody>
      </p:sp>
      <p:sp>
        <p:nvSpPr>
          <p:cNvPr id="23" name="Right Arrow 22"/>
          <p:cNvSpPr/>
          <p:nvPr/>
        </p:nvSpPr>
        <p:spPr>
          <a:xfrm>
            <a:off x="9189719" y="2980944"/>
            <a:ext cx="594360" cy="365760"/>
          </a:xfrm>
          <a:prstGeom prst="rightArrow">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ender_server.png"/>
          <p:cNvPicPr>
            <a:picLocks noChangeAspect="1"/>
          </p:cNvPicPr>
          <p:nvPr/>
        </p:nvPicPr>
        <p:blipFill>
          <a:blip r:embed="rId4"/>
          <a:stretch>
            <a:fillRect/>
          </a:stretch>
        </p:blipFill>
        <p:spPr>
          <a:xfrm>
            <a:off x="10973160" y="2706624"/>
            <a:ext cx="1553760" cy="914400"/>
          </a:xfrm>
          <a:prstGeom prst="rect">
            <a:avLst/>
          </a:prstGeom>
        </p:spPr>
      </p:pic>
      <p:sp>
        <p:nvSpPr>
          <p:cNvPr id="25" name="TextBox 24"/>
          <p:cNvSpPr txBox="1"/>
          <p:nvPr/>
        </p:nvSpPr>
        <p:spPr>
          <a:xfrm>
            <a:off x="9966960" y="3639312"/>
            <a:ext cx="3566160" cy="329184"/>
          </a:xfrm>
          <a:prstGeom prst="rect">
            <a:avLst/>
          </a:prstGeom>
          <a:noFill/>
        </p:spPr>
        <p:txBody>
          <a:bodyPr wrap="square" anchor="t" lIns="0" rIns="0" tIns="0" bIns="0">
            <a:spAutoFit/>
          </a:bodyPr>
          <a:lstStyle/>
          <a:p>
            <a:pPr algn="ctr">
              <a:lnSpc>
                <a:spcPct val="110000"/>
              </a:lnSpc>
            </a:pPr>
            <a:r>
              <a:rPr sz="2000" b="1">
                <a:solidFill>
                  <a:srgbClr val="1428A0"/>
                </a:solidFill>
                <a:latin typeface="Arial"/>
                <a:ea typeface="Arial"/>
              </a:rPr>
              <a:t>서버</a:t>
            </a:r>
          </a:p>
        </p:txBody>
      </p:sp>
      <p:sp>
        <p:nvSpPr>
          <p:cNvPr id="26" name="TextBox 25"/>
          <p:cNvSpPr txBox="1"/>
          <p:nvPr/>
        </p:nvSpPr>
        <p:spPr>
          <a:xfrm>
            <a:off x="9966960" y="4005072"/>
            <a:ext cx="3566160" cy="365760"/>
          </a:xfrm>
          <a:prstGeom prst="rect">
            <a:avLst/>
          </a:prstGeom>
          <a:noFill/>
        </p:spPr>
        <p:txBody>
          <a:bodyPr wrap="square" anchor="ctr" lIns="0" rIns="0" tIns="0" bIns="0">
            <a:spAutoFit/>
          </a:bodyPr>
          <a:lstStyle/>
          <a:p>
            <a:pPr algn="ctr">
              <a:lnSpc>
                <a:spcPct val="110000"/>
              </a:lnSpc>
            </a:pPr>
            <a:r>
              <a:rPr sz="1800" b="0">
                <a:solidFill>
                  <a:srgbClr val="555555"/>
                </a:solidFill>
                <a:latin typeface="Arial"/>
                <a:ea typeface="Arial"/>
              </a:rPr>
              <a:t>데이터 수명 혼재</a:t>
            </a:r>
            <a:r>
              <a:rPr sz="1800" b="0">
                <a:solidFill>
                  <a:srgbClr val="8A8A8A"/>
                </a:solidFill>
                <a:latin typeface="Arial"/>
                <a:ea typeface="Arial"/>
              </a:rPr>
              <a:t>  →  </a:t>
            </a:r>
            <a:r>
              <a:rPr sz="1800" b="1">
                <a:solidFill>
                  <a:srgbClr val="1428A0"/>
                </a:solidFill>
                <a:latin typeface="Arial"/>
                <a:ea typeface="Arial"/>
              </a:rPr>
              <a:t>배치 정보 FDP</a:t>
            </a:r>
          </a:p>
        </p:txBody>
      </p:sp>
      <p:sp>
        <p:nvSpPr>
          <p:cNvPr id="27" name="Rounded Rectangle 26"/>
          <p:cNvSpPr/>
          <p:nvPr/>
        </p:nvSpPr>
        <p:spPr>
          <a:xfrm>
            <a:off x="14036040" y="2194560"/>
            <a:ext cx="3529584" cy="2487168"/>
          </a:xfrm>
          <a:prstGeom prst="roundRect">
            <a:avLst>
              <a:gd name="adj" fmla="val 2941"/>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4264640" y="2286000"/>
            <a:ext cx="3072384" cy="384048"/>
          </a:xfrm>
          <a:prstGeom prst="rect">
            <a:avLst/>
          </a:prstGeom>
          <a:noFill/>
        </p:spPr>
        <p:txBody>
          <a:bodyPr wrap="square" anchor="t" lIns="0" rIns="0" tIns="0" bIns="0">
            <a:spAutoFit/>
          </a:bodyPr>
          <a:lstStyle/>
          <a:p>
            <a:pPr algn="l">
              <a:lnSpc>
                <a:spcPct val="110000"/>
              </a:lnSpc>
            </a:pPr>
            <a:r>
              <a:rPr sz="2000" b="1">
                <a:solidFill>
                  <a:srgbClr val="1A1A1A"/>
                </a:solidFill>
                <a:latin typeface="Arial"/>
                <a:ea typeface="Arial"/>
              </a:rPr>
              <a:t>높은 DWPD, 세 갈래</a:t>
            </a:r>
          </a:p>
        </p:txBody>
      </p:sp>
      <p:sp>
        <p:nvSpPr>
          <p:cNvPr id="29" name="Rounded Rectangle 28"/>
          <p:cNvSpPr/>
          <p:nvPr/>
        </p:nvSpPr>
        <p:spPr>
          <a:xfrm>
            <a:off x="14237208" y="2761488"/>
            <a:ext cx="3127248" cy="493776"/>
          </a:xfrm>
          <a:prstGeom prst="roundRect">
            <a:avLst>
              <a:gd name="adj" fmla="val 148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4420088" y="2761488"/>
            <a:ext cx="1554480" cy="49377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SLC 매체</a:t>
            </a:r>
          </a:p>
        </p:txBody>
      </p:sp>
      <p:sp>
        <p:nvSpPr>
          <p:cNvPr id="31" name="TextBox 30"/>
          <p:cNvSpPr txBox="1"/>
          <p:nvPr/>
        </p:nvSpPr>
        <p:spPr>
          <a:xfrm>
            <a:off x="15910559" y="2761488"/>
            <a:ext cx="1243584" cy="493776"/>
          </a:xfrm>
          <a:prstGeom prst="rect">
            <a:avLst/>
          </a:prstGeom>
          <a:noFill/>
        </p:spPr>
        <p:txBody>
          <a:bodyPr wrap="square" anchor="ctr" lIns="0" rIns="0" tIns="0" bIns="0">
            <a:spAutoFit/>
          </a:bodyPr>
          <a:lstStyle/>
          <a:p>
            <a:pPr algn="r">
              <a:lnSpc>
                <a:spcPct val="110000"/>
              </a:lnSpc>
            </a:pPr>
            <a:r>
              <a:rPr sz="2000" b="0">
                <a:solidFill>
                  <a:srgbClr val="555555"/>
                </a:solidFill>
                <a:latin typeface="Arial"/>
                <a:ea typeface="Arial"/>
              </a:rPr>
              <a:t>비용 ↑</a:t>
            </a:r>
          </a:p>
        </p:txBody>
      </p:sp>
      <p:sp>
        <p:nvSpPr>
          <p:cNvPr id="32" name="Rounded Rectangle 31"/>
          <p:cNvSpPr/>
          <p:nvPr/>
        </p:nvSpPr>
        <p:spPr>
          <a:xfrm>
            <a:off x="14237208" y="3364992"/>
            <a:ext cx="3127248" cy="493776"/>
          </a:xfrm>
          <a:prstGeom prst="roundRect">
            <a:avLst>
              <a:gd name="adj" fmla="val 14814"/>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4420088" y="3364992"/>
            <a:ext cx="1554480" cy="493776"/>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OP 확대</a:t>
            </a:r>
          </a:p>
        </p:txBody>
      </p:sp>
      <p:sp>
        <p:nvSpPr>
          <p:cNvPr id="34" name="TextBox 33"/>
          <p:cNvSpPr txBox="1"/>
          <p:nvPr/>
        </p:nvSpPr>
        <p:spPr>
          <a:xfrm>
            <a:off x="15910559" y="3364992"/>
            <a:ext cx="1243584" cy="493776"/>
          </a:xfrm>
          <a:prstGeom prst="rect">
            <a:avLst/>
          </a:prstGeom>
          <a:noFill/>
        </p:spPr>
        <p:txBody>
          <a:bodyPr wrap="square" anchor="ctr" lIns="0" rIns="0" tIns="0" bIns="0">
            <a:spAutoFit/>
          </a:bodyPr>
          <a:lstStyle/>
          <a:p>
            <a:pPr algn="r">
              <a:lnSpc>
                <a:spcPct val="110000"/>
              </a:lnSpc>
            </a:pPr>
            <a:r>
              <a:rPr sz="2000" b="0">
                <a:solidFill>
                  <a:srgbClr val="555555"/>
                </a:solidFill>
                <a:latin typeface="Arial"/>
                <a:ea typeface="Arial"/>
              </a:rPr>
              <a:t>용량 ↓</a:t>
            </a:r>
          </a:p>
        </p:txBody>
      </p:sp>
      <p:sp>
        <p:nvSpPr>
          <p:cNvPr id="35" name="Rounded Rectangle 34"/>
          <p:cNvSpPr/>
          <p:nvPr/>
        </p:nvSpPr>
        <p:spPr>
          <a:xfrm>
            <a:off x="14237208" y="3968496"/>
            <a:ext cx="3127248" cy="493776"/>
          </a:xfrm>
          <a:prstGeom prst="roundRect">
            <a:avLst>
              <a:gd name="adj" fmla="val 14814"/>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4420088" y="3968496"/>
            <a:ext cx="1554480" cy="493776"/>
          </a:xfrm>
          <a:prstGeom prst="rect">
            <a:avLst/>
          </a:prstGeom>
          <a:noFill/>
        </p:spPr>
        <p:txBody>
          <a:bodyPr wrap="square" anchor="ctr" lIns="0" rIns="0" tIns="0" bIns="0">
            <a:spAutoFit/>
          </a:bodyPr>
          <a:lstStyle/>
          <a:p>
            <a:pPr algn="l">
              <a:lnSpc>
                <a:spcPct val="110000"/>
              </a:lnSpc>
            </a:pPr>
            <a:r>
              <a:rPr sz="2000" b="1">
                <a:solidFill>
                  <a:srgbClr val="FFFFFF"/>
                </a:solidFill>
                <a:latin typeface="Arial"/>
                <a:ea typeface="Arial"/>
              </a:rPr>
              <a:t>WAF 저감</a:t>
            </a:r>
          </a:p>
        </p:txBody>
      </p:sp>
      <p:sp>
        <p:nvSpPr>
          <p:cNvPr id="37" name="TextBox 36"/>
          <p:cNvSpPr txBox="1"/>
          <p:nvPr/>
        </p:nvSpPr>
        <p:spPr>
          <a:xfrm>
            <a:off x="15910559" y="3968496"/>
            <a:ext cx="1243584" cy="493776"/>
          </a:xfrm>
          <a:prstGeom prst="rect">
            <a:avLst/>
          </a:prstGeom>
          <a:noFill/>
        </p:spPr>
        <p:txBody>
          <a:bodyPr wrap="square" anchor="ctr" lIns="0" rIns="0" tIns="0" bIns="0">
            <a:spAutoFit/>
          </a:bodyPr>
          <a:lstStyle/>
          <a:p>
            <a:pPr algn="r">
              <a:lnSpc>
                <a:spcPct val="110000"/>
              </a:lnSpc>
            </a:pPr>
            <a:r>
              <a:rPr sz="2000" b="1">
                <a:solidFill>
                  <a:srgbClr val="FFFFFF"/>
                </a:solidFill>
                <a:latin typeface="Arial"/>
                <a:ea typeface="Arial"/>
              </a:rPr>
              <a:t>TCO 유지</a:t>
            </a:r>
          </a:p>
        </p:txBody>
      </p:sp>
      <p:sp>
        <p:nvSpPr>
          <p:cNvPr id="38" name="Rectangle 37"/>
          <p:cNvSpPr/>
          <p:nvPr/>
        </p:nvSpPr>
        <p:spPr>
          <a:xfrm>
            <a:off x="722376" y="4828032"/>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63240" y="4992624"/>
            <a:ext cx="420624" cy="42062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063240" y="4992624"/>
            <a:ext cx="420624" cy="42062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1</a:t>
            </a:r>
          </a:p>
        </p:txBody>
      </p:sp>
      <p:sp>
        <p:nvSpPr>
          <p:cNvPr id="41" name="TextBox 40"/>
          <p:cNvSpPr txBox="1"/>
          <p:nvPr/>
        </p:nvSpPr>
        <p:spPr>
          <a:xfrm>
            <a:off x="3611880" y="4946904"/>
            <a:ext cx="4114800" cy="512064"/>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NAND를 SSD로</a:t>
            </a:r>
            <a:r>
              <a:rPr sz="1800" b="0">
                <a:solidFill>
                  <a:srgbClr val="555555"/>
                </a:solidFill>
                <a:latin typeface="Arial"/>
                <a:ea typeface="Arial"/>
              </a:rPr>
              <a:t>   2000년대~</a:t>
            </a:r>
          </a:p>
        </p:txBody>
      </p:sp>
      <p:sp>
        <p:nvSpPr>
          <p:cNvPr id="42" name="Oval 41"/>
          <p:cNvSpPr/>
          <p:nvPr/>
        </p:nvSpPr>
        <p:spPr>
          <a:xfrm>
            <a:off x="7982712" y="4992624"/>
            <a:ext cx="420624" cy="420624"/>
          </a:xfrm>
          <a:prstGeom prst="ellipse">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82712" y="4992624"/>
            <a:ext cx="420624" cy="42062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2</a:t>
            </a:r>
          </a:p>
        </p:txBody>
      </p:sp>
      <p:sp>
        <p:nvSpPr>
          <p:cNvPr id="44" name="TextBox 43"/>
          <p:cNvSpPr txBox="1"/>
          <p:nvPr/>
        </p:nvSpPr>
        <p:spPr>
          <a:xfrm>
            <a:off x="8531352" y="4946904"/>
            <a:ext cx="4114800" cy="512064"/>
          </a:xfrm>
          <a:prstGeom prst="rect">
            <a:avLst/>
          </a:prstGeom>
          <a:noFill/>
        </p:spPr>
        <p:txBody>
          <a:bodyPr wrap="square" anchor="ctr" lIns="0" rIns="0" tIns="0" bIns="0">
            <a:spAutoFit/>
          </a:bodyPr>
          <a:lstStyle/>
          <a:p>
            <a:pPr algn="l">
              <a:lnSpc>
                <a:spcPct val="110000"/>
              </a:lnSpc>
            </a:pPr>
            <a:r>
              <a:rPr sz="2200" b="1">
                <a:solidFill>
                  <a:srgbClr val="1A1A1A"/>
                </a:solidFill>
                <a:latin typeface="Arial"/>
                <a:ea typeface="Arial"/>
              </a:rPr>
              <a:t>SSD 기능 고도화</a:t>
            </a:r>
            <a:r>
              <a:rPr sz="1800" b="0">
                <a:solidFill>
                  <a:srgbClr val="555555"/>
                </a:solidFill>
                <a:latin typeface="Arial"/>
                <a:ea typeface="Arial"/>
              </a:rPr>
              <a:t>   2010년대~</a:t>
            </a:r>
          </a:p>
        </p:txBody>
      </p:sp>
      <p:sp>
        <p:nvSpPr>
          <p:cNvPr id="45" name="Oval 44"/>
          <p:cNvSpPr/>
          <p:nvPr/>
        </p:nvSpPr>
        <p:spPr>
          <a:xfrm>
            <a:off x="12902184" y="4992624"/>
            <a:ext cx="420624" cy="420624"/>
          </a:xfrm>
          <a:prstGeom prst="ellipse">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12902184" y="4992624"/>
            <a:ext cx="420624" cy="420624"/>
          </a:xfrm>
          <a:prstGeom prst="rect">
            <a:avLst/>
          </a:prstGeom>
          <a:noFill/>
        </p:spPr>
        <p:txBody>
          <a:bodyPr wrap="square" anchor="ctr" lIns="0" rIns="0" tIns="0" bIns="0">
            <a:spAutoFit/>
          </a:bodyPr>
          <a:lstStyle/>
          <a:p>
            <a:pPr algn="ctr">
              <a:lnSpc>
                <a:spcPct val="110000"/>
              </a:lnSpc>
            </a:pPr>
            <a:r>
              <a:rPr sz="2000" b="1">
                <a:solidFill>
                  <a:srgbClr val="FFFFFF"/>
                </a:solidFill>
                <a:latin typeface="Arial"/>
                <a:ea typeface="Arial"/>
              </a:rPr>
              <a:t>3</a:t>
            </a:r>
          </a:p>
        </p:txBody>
      </p:sp>
      <p:sp>
        <p:nvSpPr>
          <p:cNvPr id="47" name="TextBox 46"/>
          <p:cNvSpPr txBox="1"/>
          <p:nvPr/>
        </p:nvSpPr>
        <p:spPr>
          <a:xfrm>
            <a:off x="13450824" y="4946904"/>
            <a:ext cx="4114800" cy="512064"/>
          </a:xfrm>
          <a:prstGeom prst="rect">
            <a:avLst/>
          </a:prstGeom>
          <a:noFill/>
        </p:spPr>
        <p:txBody>
          <a:bodyPr wrap="square" anchor="ctr" lIns="0" rIns="0" tIns="0" bIns="0">
            <a:spAutoFit/>
          </a:bodyPr>
          <a:lstStyle/>
          <a:p>
            <a:pPr algn="l">
              <a:lnSpc>
                <a:spcPct val="110000"/>
              </a:lnSpc>
            </a:pPr>
            <a:r>
              <a:rPr sz="2200" b="1">
                <a:solidFill>
                  <a:srgbClr val="1428A0"/>
                </a:solidFill>
                <a:latin typeface="Arial"/>
                <a:ea typeface="Arial"/>
              </a:rPr>
              <a:t>서버와 함께</a:t>
            </a:r>
            <a:r>
              <a:rPr sz="1800" b="0">
                <a:solidFill>
                  <a:srgbClr val="555555"/>
                </a:solidFill>
                <a:latin typeface="Arial"/>
                <a:ea typeface="Arial"/>
              </a:rPr>
              <a:t>   2020년대~</a:t>
            </a:r>
          </a:p>
        </p:txBody>
      </p:sp>
      <p:sp>
        <p:nvSpPr>
          <p:cNvPr id="48" name="TextBox 47"/>
          <p:cNvSpPr txBox="1"/>
          <p:nvPr/>
        </p:nvSpPr>
        <p:spPr>
          <a:xfrm>
            <a:off x="722376" y="5724144"/>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AI 프레임워크</a:t>
            </a:r>
          </a:p>
        </p:txBody>
      </p:sp>
      <p:sp>
        <p:nvSpPr>
          <p:cNvPr id="49" name="TextBox 48"/>
          <p:cNvSpPr txBox="1"/>
          <p:nvPr/>
        </p:nvSpPr>
        <p:spPr>
          <a:xfrm>
            <a:off x="722376" y="6236208"/>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호스트 OS · 커널</a:t>
            </a:r>
          </a:p>
        </p:txBody>
      </p:sp>
      <p:sp>
        <p:nvSpPr>
          <p:cNvPr id="50" name="TextBox 49"/>
          <p:cNvSpPr txBox="1"/>
          <p:nvPr/>
        </p:nvSpPr>
        <p:spPr>
          <a:xfrm>
            <a:off x="722376" y="6748272"/>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NVMe 인터페이스</a:t>
            </a:r>
          </a:p>
        </p:txBody>
      </p:sp>
      <p:sp>
        <p:nvSpPr>
          <p:cNvPr id="51" name="TextBox 50"/>
          <p:cNvSpPr txBox="1"/>
          <p:nvPr/>
        </p:nvSpPr>
        <p:spPr>
          <a:xfrm>
            <a:off x="722376" y="7260336"/>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SSD 컨트롤러 · FW</a:t>
            </a:r>
          </a:p>
        </p:txBody>
      </p:sp>
      <p:sp>
        <p:nvSpPr>
          <p:cNvPr id="52" name="TextBox 51"/>
          <p:cNvSpPr txBox="1"/>
          <p:nvPr/>
        </p:nvSpPr>
        <p:spPr>
          <a:xfrm>
            <a:off x="722376" y="7772400"/>
            <a:ext cx="2240280" cy="438912"/>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NAND</a:t>
            </a:r>
          </a:p>
        </p:txBody>
      </p:sp>
      <p:sp>
        <p:nvSpPr>
          <p:cNvPr id="53" name="Rounded Rectangle 52"/>
          <p:cNvSpPr/>
          <p:nvPr/>
        </p:nvSpPr>
        <p:spPr>
          <a:xfrm>
            <a:off x="3063240" y="5724144"/>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ounded Rectangle 53"/>
          <p:cNvSpPr/>
          <p:nvPr/>
        </p:nvSpPr>
        <p:spPr>
          <a:xfrm>
            <a:off x="3063240" y="6236208"/>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ounded Rectangle 54"/>
          <p:cNvSpPr/>
          <p:nvPr/>
        </p:nvSpPr>
        <p:spPr>
          <a:xfrm>
            <a:off x="3063240" y="6748272"/>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ounded Rectangle 55"/>
          <p:cNvSpPr/>
          <p:nvPr/>
        </p:nvSpPr>
        <p:spPr>
          <a:xfrm>
            <a:off x="3063240" y="7260336"/>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3063240" y="7260336"/>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ECC · FTL · 웨어 레벨링</a:t>
            </a:r>
          </a:p>
        </p:txBody>
      </p:sp>
      <p:sp>
        <p:nvSpPr>
          <p:cNvPr id="58" name="Rounded Rectangle 57"/>
          <p:cNvSpPr/>
          <p:nvPr/>
        </p:nvSpPr>
        <p:spPr>
          <a:xfrm>
            <a:off x="3063240" y="7772400"/>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063240" y="7772400"/>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여러 NAND를 하나로</a:t>
            </a:r>
          </a:p>
        </p:txBody>
      </p:sp>
      <p:sp>
        <p:nvSpPr>
          <p:cNvPr id="60" name="Rounded Rectangle 59"/>
          <p:cNvSpPr/>
          <p:nvPr/>
        </p:nvSpPr>
        <p:spPr>
          <a:xfrm>
            <a:off x="7982712" y="5724144"/>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ounded Rectangle 60"/>
          <p:cNvSpPr/>
          <p:nvPr/>
        </p:nvSpPr>
        <p:spPr>
          <a:xfrm>
            <a:off x="7982712" y="6236208"/>
            <a:ext cx="4663440" cy="438912"/>
          </a:xfrm>
          <a:prstGeom prst="roundRect">
            <a:avLst>
              <a:gd name="adj" fmla="val 16666"/>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Rounded Rectangle 61"/>
          <p:cNvSpPr/>
          <p:nvPr/>
        </p:nvSpPr>
        <p:spPr>
          <a:xfrm>
            <a:off x="7982712" y="6748272"/>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7982712" y="6748272"/>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NVMe · 멀티 큐</a:t>
            </a:r>
          </a:p>
        </p:txBody>
      </p:sp>
      <p:sp>
        <p:nvSpPr>
          <p:cNvPr id="64" name="Rounded Rectangle 63"/>
          <p:cNvSpPr/>
          <p:nvPr/>
        </p:nvSpPr>
        <p:spPr>
          <a:xfrm>
            <a:off x="7982712" y="7260336"/>
            <a:ext cx="4663440" cy="438912"/>
          </a:xfrm>
          <a:prstGeom prst="roundRect">
            <a:avLst>
              <a:gd name="adj" fmla="val 16666"/>
            </a:avLst>
          </a:prstGeom>
          <a:solidFill>
            <a:srgbClr val="8A8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982712" y="7260336"/>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QoS · 멀티테넌트 · 보안</a:t>
            </a:r>
          </a:p>
        </p:txBody>
      </p:sp>
      <p:sp>
        <p:nvSpPr>
          <p:cNvPr id="66" name="Rounded Rectangle 65"/>
          <p:cNvSpPr/>
          <p:nvPr/>
        </p:nvSpPr>
        <p:spPr>
          <a:xfrm>
            <a:off x="7982712" y="7772400"/>
            <a:ext cx="466344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ounded Rectangle 66"/>
          <p:cNvSpPr/>
          <p:nvPr/>
        </p:nvSpPr>
        <p:spPr>
          <a:xfrm>
            <a:off x="12902184" y="5724144"/>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2902184" y="5724144"/>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LMCache · vLLM · Dynamo</a:t>
            </a:r>
          </a:p>
        </p:txBody>
      </p:sp>
      <p:sp>
        <p:nvSpPr>
          <p:cNvPr id="69" name="Rounded Rectangle 68"/>
          <p:cNvSpPr/>
          <p:nvPr/>
        </p:nvSpPr>
        <p:spPr>
          <a:xfrm>
            <a:off x="12902184" y="6236208"/>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2902184" y="6236208"/>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Linux write stream</a:t>
            </a:r>
          </a:p>
        </p:txBody>
      </p:sp>
      <p:sp>
        <p:nvSpPr>
          <p:cNvPr id="71" name="Rounded Rectangle 70"/>
          <p:cNvSpPr/>
          <p:nvPr/>
        </p:nvSpPr>
        <p:spPr>
          <a:xfrm>
            <a:off x="12902184" y="6748272"/>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2902184" y="6748272"/>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FDP  (OC-SSD · ZNS 이후)</a:t>
            </a:r>
          </a:p>
        </p:txBody>
      </p:sp>
      <p:sp>
        <p:nvSpPr>
          <p:cNvPr id="73" name="Rounded Rectangle 72"/>
          <p:cNvSpPr/>
          <p:nvPr/>
        </p:nvSpPr>
        <p:spPr>
          <a:xfrm>
            <a:off x="12902184" y="7260336"/>
            <a:ext cx="4663440" cy="438912"/>
          </a:xfrm>
          <a:prstGeom prst="roundRect">
            <a:avLst>
              <a:gd name="adj" fmla="val 16666"/>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12902184" y="7260336"/>
            <a:ext cx="4663440" cy="438912"/>
          </a:xfrm>
          <a:prstGeom prst="rect">
            <a:avLst/>
          </a:prstGeom>
          <a:noFill/>
        </p:spPr>
        <p:txBody>
          <a:bodyPr wrap="square" anchor="ctr" lIns="0" rIns="0" tIns="0" bIns="0">
            <a:spAutoFit/>
          </a:bodyPr>
          <a:lstStyle/>
          <a:p>
            <a:pPr algn="ctr">
              <a:lnSpc>
                <a:spcPct val="110000"/>
              </a:lnSpc>
            </a:pPr>
            <a:r>
              <a:rPr sz="1800" b="1">
                <a:solidFill>
                  <a:srgbClr val="FFFFFF"/>
                </a:solidFill>
                <a:latin typeface="Arial"/>
                <a:ea typeface="Arial"/>
              </a:rPr>
              <a:t>워크로드 구성형 SSD</a:t>
            </a:r>
          </a:p>
        </p:txBody>
      </p:sp>
      <p:sp>
        <p:nvSpPr>
          <p:cNvPr id="75" name="Rounded Rectangle 74"/>
          <p:cNvSpPr/>
          <p:nvPr/>
        </p:nvSpPr>
        <p:spPr>
          <a:xfrm>
            <a:off x="12902184" y="7772400"/>
            <a:ext cx="4663440" cy="438912"/>
          </a:xfrm>
          <a:prstGeom prst="roundRect">
            <a:avLst>
              <a:gd name="adj" fmla="val 16666"/>
            </a:avLst>
          </a:prstGeom>
          <a:solidFill>
            <a:srgbClr val="F5F5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Chevron 75"/>
          <p:cNvSpPr/>
          <p:nvPr/>
        </p:nvSpPr>
        <p:spPr>
          <a:xfrm>
            <a:off x="7781544" y="6729984"/>
            <a:ext cx="146304" cy="475488"/>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Chevron 76"/>
          <p:cNvSpPr/>
          <p:nvPr/>
        </p:nvSpPr>
        <p:spPr>
          <a:xfrm>
            <a:off x="12701016" y="6729984"/>
            <a:ext cx="146304" cy="475488"/>
          </a:xfrm>
          <a:prstGeom prst="chevron">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722376" y="8321040"/>
            <a:ext cx="2240280" cy="457200"/>
          </a:xfrm>
          <a:prstGeom prst="rect">
            <a:avLst/>
          </a:prstGeom>
          <a:noFill/>
        </p:spPr>
        <p:txBody>
          <a:bodyPr wrap="square" anchor="ctr" lIns="0" rIns="0" tIns="0" bIns="0">
            <a:spAutoFit/>
          </a:bodyPr>
          <a:lstStyle/>
          <a:p>
            <a:pPr algn="l">
              <a:lnSpc>
                <a:spcPct val="110000"/>
              </a:lnSpc>
            </a:pPr>
            <a:r>
              <a:rPr sz="2000" b="1">
                <a:solidFill>
                  <a:srgbClr val="1A1A1A"/>
                </a:solidFill>
                <a:latin typeface="Arial"/>
                <a:ea typeface="Arial"/>
              </a:rPr>
              <a:t>WAF</a:t>
            </a:r>
          </a:p>
        </p:txBody>
      </p:sp>
      <p:sp>
        <p:nvSpPr>
          <p:cNvPr id="79" name="TextBox 78"/>
          <p:cNvSpPr txBox="1"/>
          <p:nvPr/>
        </p:nvSpPr>
        <p:spPr>
          <a:xfrm>
            <a:off x="3063240" y="8321040"/>
            <a:ext cx="4663440" cy="457200"/>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 3</a:t>
            </a:r>
          </a:p>
        </p:txBody>
      </p:sp>
      <p:sp>
        <p:nvSpPr>
          <p:cNvPr id="80" name="TextBox 79"/>
          <p:cNvSpPr txBox="1"/>
          <p:nvPr/>
        </p:nvSpPr>
        <p:spPr>
          <a:xfrm>
            <a:off x="7982712" y="8321040"/>
            <a:ext cx="4663440" cy="457200"/>
          </a:xfrm>
          <a:prstGeom prst="rect">
            <a:avLst/>
          </a:prstGeom>
          <a:noFill/>
        </p:spPr>
        <p:txBody>
          <a:bodyPr wrap="square" anchor="ctr" lIns="0" rIns="0" tIns="0" bIns="0">
            <a:spAutoFit/>
          </a:bodyPr>
          <a:lstStyle/>
          <a:p>
            <a:pPr algn="ctr">
              <a:lnSpc>
                <a:spcPct val="110000"/>
              </a:lnSpc>
            </a:pPr>
            <a:r>
              <a:rPr sz="2000" b="1">
                <a:solidFill>
                  <a:srgbClr val="555555"/>
                </a:solidFill>
                <a:latin typeface="Arial"/>
                <a:ea typeface="Arial"/>
              </a:rPr>
              <a:t>≈ 3  근본 한계는 그대로</a:t>
            </a:r>
          </a:p>
        </p:txBody>
      </p:sp>
      <p:sp>
        <p:nvSpPr>
          <p:cNvPr id="81" name="TextBox 80"/>
          <p:cNvSpPr txBox="1"/>
          <p:nvPr/>
        </p:nvSpPr>
        <p:spPr>
          <a:xfrm>
            <a:off x="12902184" y="8321040"/>
            <a:ext cx="4663440" cy="457200"/>
          </a:xfrm>
          <a:prstGeom prst="rect">
            <a:avLst/>
          </a:prstGeom>
          <a:noFill/>
        </p:spPr>
        <p:txBody>
          <a:bodyPr wrap="square" anchor="ctr" lIns="0" rIns="0" tIns="0" bIns="0">
            <a:spAutoFit/>
          </a:bodyPr>
          <a:lstStyle/>
          <a:p>
            <a:pPr algn="ctr">
              <a:lnSpc>
                <a:spcPct val="110000"/>
              </a:lnSpc>
            </a:pPr>
            <a:r>
              <a:rPr sz="2200" b="1">
                <a:solidFill>
                  <a:srgbClr val="1428A0"/>
                </a:solidFill>
                <a:latin typeface="Arial"/>
                <a:ea typeface="Arial"/>
              </a:rPr>
              <a:t>3 → 1</a:t>
            </a:r>
          </a:p>
        </p:txBody>
      </p:sp>
      <p:sp>
        <p:nvSpPr>
          <p:cNvPr id="82" name="Rectangle 81"/>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결론</a:t>
            </a:r>
          </a:p>
        </p:txBody>
      </p:sp>
      <p:sp>
        <p:nvSpPr>
          <p:cNvPr id="84" name="TextBox 83"/>
          <p:cNvSpPr txBox="1"/>
          <p:nvPr/>
        </p:nvSpPr>
        <p:spPr>
          <a:xfrm>
            <a:off x="2322576" y="8778240"/>
            <a:ext cx="11009376"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NAND·SSD만 잘 만들어서는 안 됩니다. 서버와의 협력이 필수입니다</a:t>
            </a:r>
          </a:p>
        </p:txBody>
      </p:sp>
      <p:sp>
        <p:nvSpPr>
          <p:cNvPr id="85" name="Rounded Rectangle 84"/>
          <p:cNvSpPr/>
          <p:nvPr/>
        </p:nvSpPr>
        <p:spPr>
          <a:xfrm>
            <a:off x="13560552" y="8906256"/>
            <a:ext cx="877824" cy="475488"/>
          </a:xfrm>
          <a:prstGeom prst="roundRect">
            <a:avLst>
              <a:gd name="adj" fmla="val 1538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13560552" y="8906256"/>
            <a:ext cx="877824" cy="475488"/>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기술</a:t>
            </a:r>
          </a:p>
        </p:txBody>
      </p:sp>
      <p:sp>
        <p:nvSpPr>
          <p:cNvPr id="87" name="Rounded Rectangle 86"/>
          <p:cNvSpPr/>
          <p:nvPr/>
        </p:nvSpPr>
        <p:spPr>
          <a:xfrm>
            <a:off x="14602968" y="8906256"/>
            <a:ext cx="877824" cy="475488"/>
          </a:xfrm>
          <a:prstGeom prst="roundRect">
            <a:avLst>
              <a:gd name="adj" fmla="val 1538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14602968" y="8906256"/>
            <a:ext cx="877824" cy="475488"/>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인재</a:t>
            </a:r>
          </a:p>
        </p:txBody>
      </p:sp>
      <p:sp>
        <p:nvSpPr>
          <p:cNvPr id="89" name="Rounded Rectangle 88"/>
          <p:cNvSpPr/>
          <p:nvPr/>
        </p:nvSpPr>
        <p:spPr>
          <a:xfrm>
            <a:off x="15645384" y="8906256"/>
            <a:ext cx="1645920" cy="475488"/>
          </a:xfrm>
          <a:prstGeom prst="roundRect">
            <a:avLst>
              <a:gd name="adj" fmla="val 1538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15645384" y="8906256"/>
            <a:ext cx="1645920" cy="475488"/>
          </a:xfrm>
          <a:prstGeom prst="rect">
            <a:avLst/>
          </a:prstGeom>
          <a:noFill/>
        </p:spPr>
        <p:txBody>
          <a:bodyPr wrap="square" anchor="ctr" lIns="0" rIns="0" tIns="0" bIns="0">
            <a:spAutoFit/>
          </a:bodyPr>
          <a:lstStyle/>
          <a:p>
            <a:pPr algn="ctr">
              <a:lnSpc>
                <a:spcPct val="110000"/>
              </a:lnSpc>
            </a:pPr>
            <a:r>
              <a:rPr sz="2000" b="1">
                <a:solidFill>
                  <a:srgbClr val="1428A0"/>
                </a:solidFill>
                <a:latin typeface="Arial"/>
                <a:ea typeface="Arial"/>
              </a:rPr>
              <a:t>고객 협력</a:t>
            </a:r>
          </a:p>
        </p:txBody>
      </p:sp>
      <p:sp>
        <p:nvSpPr>
          <p:cNvPr id="91" name="TextBox 90"/>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출처: 호스트 협력 규격 연혁 Open-Channel(LightNVM, FAST'17) · ZNS(NVMe TP4053, 2020-06) · FDP(NVMe TP4146, 2022-11) · Linux 6.16 write stream(2025) · WAF: 삼성·NVM Express FDP 실측(랜덤 50% 사용률 약 3 → 약 1), CacheLib+FDP 3.22 → 1.03(EuroSys'25) · 부품 이미지는 3D 렌더</a:t>
            </a:r>
          </a:p>
        </p:txBody>
      </p:sp>
      <p:sp>
        <p:nvSpPr>
          <p:cNvPr id="92" name="TextBox 91"/>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2 /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22376" y="365760"/>
            <a:ext cx="10972800" cy="329184"/>
          </a:xfrm>
          <a:prstGeom prst="rect">
            <a:avLst/>
          </a:prstGeom>
          <a:noFill/>
        </p:spPr>
        <p:txBody>
          <a:bodyPr wrap="square" anchor="t" lIns="0" rIns="0" tIns="0" bIns="0">
            <a:spAutoFit/>
          </a:bodyPr>
          <a:lstStyle/>
          <a:p>
            <a:pPr algn="l">
              <a:lnSpc>
                <a:spcPct val="110000"/>
              </a:lnSpc>
            </a:pPr>
            <a:r>
              <a:rPr sz="1800" b="1">
                <a:solidFill>
                  <a:srgbClr val="1428A0"/>
                </a:solidFill>
                <a:latin typeface="Arial"/>
                <a:ea typeface="Arial"/>
              </a:rPr>
              <a:t>다운턴에서 배운 SSD 생존 전략</a:t>
            </a:r>
            <a:r>
              <a:rPr sz="1800" b="0">
                <a:solidFill>
                  <a:srgbClr val="555555"/>
                </a:solidFill>
                <a:latin typeface="Arial"/>
                <a:ea typeface="Arial"/>
              </a:rPr>
              <a:t>   3 / 3  실행 전략</a:t>
            </a:r>
          </a:p>
        </p:txBody>
      </p:sp>
      <p:sp>
        <p:nvSpPr>
          <p:cNvPr id="3" name="TextBox 2"/>
          <p:cNvSpPr txBox="1"/>
          <p:nvPr/>
        </p:nvSpPr>
        <p:spPr>
          <a:xfrm>
            <a:off x="12079224" y="365760"/>
            <a:ext cx="5486400" cy="329184"/>
          </a:xfrm>
          <a:prstGeom prst="rect">
            <a:avLst/>
          </a:prstGeom>
          <a:noFill/>
        </p:spPr>
        <p:txBody>
          <a:bodyPr wrap="square" anchor="t" lIns="0" rIns="0" tIns="0" bIns="0">
            <a:spAutoFit/>
          </a:bodyPr>
          <a:lstStyle/>
          <a:p>
            <a:pPr algn="r">
              <a:lnSpc>
                <a:spcPct val="110000"/>
              </a:lnSpc>
            </a:pPr>
            <a:r>
              <a:rPr sz="1800" b="0">
                <a:solidFill>
                  <a:srgbClr val="555555"/>
                </a:solidFill>
                <a:latin typeface="Arial"/>
                <a:ea typeface="Arial"/>
              </a:rPr>
              <a:t>[문서등급 표기]</a:t>
            </a:r>
          </a:p>
        </p:txBody>
      </p:sp>
      <p:sp>
        <p:nvSpPr>
          <p:cNvPr id="4" name="TextBox 3"/>
          <p:cNvSpPr txBox="1"/>
          <p:nvPr/>
        </p:nvSpPr>
        <p:spPr>
          <a:xfrm>
            <a:off x="722376" y="786384"/>
            <a:ext cx="16843248" cy="1024128"/>
          </a:xfrm>
          <a:prstGeom prst="rect">
            <a:avLst/>
          </a:prstGeom>
          <a:noFill/>
        </p:spPr>
        <p:txBody>
          <a:bodyPr wrap="square" anchor="ctr" lIns="0" rIns="0" tIns="0" bIns="0">
            <a:spAutoFit/>
          </a:bodyPr>
          <a:lstStyle/>
          <a:p>
            <a:pPr algn="l">
              <a:lnSpc>
                <a:spcPct val="105000"/>
              </a:lnSpc>
            </a:pPr>
            <a:r>
              <a:rPr sz="3200" b="1">
                <a:solidFill>
                  <a:srgbClr val="1A1A1A"/>
                </a:solidFill>
                <a:latin typeface="Arial"/>
                <a:ea typeface="Arial"/>
              </a:rPr>
              <a:t>기술 · 인재 · 고객 협력을 3단계로 쌓아,</a:t>
            </a:r>
          </a:p>
          <a:p>
            <a:pPr algn="l">
              <a:lnSpc>
                <a:spcPct val="105000"/>
              </a:lnSpc>
            </a:pPr>
            <a:r>
              <a:rPr sz="3200" b="1">
                <a:solidFill>
                  <a:srgbClr val="1A1A1A"/>
                </a:solidFill>
                <a:latin typeface="Arial"/>
                <a:ea typeface="Arial"/>
              </a:rPr>
              <a:t>워크로드 구성형 SSD로 AI 스토리지를 선점합니다</a:t>
            </a:r>
          </a:p>
        </p:txBody>
      </p:sp>
      <p:sp>
        <p:nvSpPr>
          <p:cNvPr id="5" name="Rectangle 4"/>
          <p:cNvSpPr/>
          <p:nvPr/>
        </p:nvSpPr>
        <p:spPr>
          <a:xfrm>
            <a:off x="722376" y="1938528"/>
            <a:ext cx="16843248" cy="18288"/>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entagon 5"/>
          <p:cNvSpPr/>
          <p:nvPr/>
        </p:nvSpPr>
        <p:spPr>
          <a:xfrm>
            <a:off x="3063240" y="2157984"/>
            <a:ext cx="4846320" cy="841248"/>
          </a:xfrm>
          <a:prstGeom prst="homePlate">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91840" y="2157984"/>
            <a:ext cx="4297679" cy="841248"/>
          </a:xfrm>
          <a:prstGeom prst="rect">
            <a:avLst/>
          </a:prstGeom>
          <a:noFill/>
        </p:spPr>
        <p:txBody>
          <a:bodyPr wrap="square" anchor="ctr" lIns="0" rIns="0" tIns="0" bIns="0">
            <a:spAutoFit/>
          </a:bodyPr>
          <a:lstStyle/>
          <a:p>
            <a:pPr algn="l">
              <a:lnSpc>
                <a:spcPct val="100000"/>
              </a:lnSpc>
            </a:pPr>
            <a:r>
              <a:rPr sz="2000" b="1">
                <a:solidFill>
                  <a:srgbClr val="1A1A1A"/>
                </a:solidFill>
                <a:latin typeface="Arial"/>
                <a:ea typeface="Arial"/>
              </a:rPr>
              <a:t>1단계  </a:t>
            </a:r>
            <a:r>
              <a:rPr sz="1800" b="0">
                <a:solidFill>
                  <a:srgbClr val="1A1A1A"/>
                </a:solidFill>
                <a:latin typeface="Arial"/>
                <a:ea typeface="Arial"/>
              </a:rPr>
              <a:t>2026 하반기</a:t>
            </a:r>
          </a:p>
          <a:p>
            <a:pPr algn="l">
              <a:lnSpc>
                <a:spcPct val="100000"/>
              </a:lnSpc>
            </a:pPr>
            <a:r>
              <a:rPr sz="2000" b="1">
                <a:solidFill>
                  <a:srgbClr val="1A1A1A"/>
                </a:solidFill>
                <a:latin typeface="Arial"/>
                <a:ea typeface="Arial"/>
              </a:rPr>
              <a:t>디바이스를 준비합니다</a:t>
            </a:r>
          </a:p>
        </p:txBody>
      </p:sp>
      <p:sp>
        <p:nvSpPr>
          <p:cNvPr id="8" name="Pentagon 7"/>
          <p:cNvSpPr/>
          <p:nvPr/>
        </p:nvSpPr>
        <p:spPr>
          <a:xfrm>
            <a:off x="7982712" y="2157984"/>
            <a:ext cx="4846320" cy="841248"/>
          </a:xfrm>
          <a:prstGeom prst="homePlate">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11312" y="2157984"/>
            <a:ext cx="4297679" cy="841248"/>
          </a:xfrm>
          <a:prstGeom prst="rect">
            <a:avLst/>
          </a:prstGeom>
          <a:noFill/>
        </p:spPr>
        <p:txBody>
          <a:bodyPr wrap="square" anchor="ctr" lIns="0" rIns="0" tIns="0" bIns="0">
            <a:spAutoFit/>
          </a:bodyPr>
          <a:lstStyle/>
          <a:p>
            <a:pPr algn="l">
              <a:lnSpc>
                <a:spcPct val="100000"/>
              </a:lnSpc>
            </a:pPr>
            <a:r>
              <a:rPr sz="2000" b="1">
                <a:solidFill>
                  <a:srgbClr val="FFFFFF"/>
                </a:solidFill>
                <a:latin typeface="Arial"/>
                <a:ea typeface="Arial"/>
              </a:rPr>
              <a:t>2단계  </a:t>
            </a:r>
            <a:r>
              <a:rPr sz="1800" b="0">
                <a:solidFill>
                  <a:srgbClr val="FFFFFF"/>
                </a:solidFill>
                <a:latin typeface="Arial"/>
                <a:ea typeface="Arial"/>
              </a:rPr>
              <a:t>2027</a:t>
            </a:r>
          </a:p>
          <a:p>
            <a:pPr algn="l">
              <a:lnSpc>
                <a:spcPct val="100000"/>
              </a:lnSpc>
            </a:pPr>
            <a:r>
              <a:rPr sz="2000" b="1">
                <a:solidFill>
                  <a:srgbClr val="FFFFFF"/>
                </a:solidFill>
                <a:latin typeface="Arial"/>
                <a:ea typeface="Arial"/>
              </a:rPr>
              <a:t>워크로드로 최적화합니다</a:t>
            </a:r>
          </a:p>
        </p:txBody>
      </p:sp>
      <p:sp>
        <p:nvSpPr>
          <p:cNvPr id="10" name="Rectangle 9"/>
          <p:cNvSpPr/>
          <p:nvPr/>
        </p:nvSpPr>
        <p:spPr>
          <a:xfrm>
            <a:off x="12902184" y="2157984"/>
            <a:ext cx="4663440" cy="841248"/>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130784" y="2157984"/>
            <a:ext cx="4297679" cy="841248"/>
          </a:xfrm>
          <a:prstGeom prst="rect">
            <a:avLst/>
          </a:prstGeom>
          <a:noFill/>
        </p:spPr>
        <p:txBody>
          <a:bodyPr wrap="square" anchor="ctr" lIns="0" rIns="0" tIns="0" bIns="0">
            <a:spAutoFit/>
          </a:bodyPr>
          <a:lstStyle/>
          <a:p>
            <a:pPr algn="l">
              <a:lnSpc>
                <a:spcPct val="100000"/>
              </a:lnSpc>
            </a:pPr>
            <a:r>
              <a:rPr sz="2000" b="1">
                <a:solidFill>
                  <a:srgbClr val="FFFFFF"/>
                </a:solidFill>
                <a:latin typeface="Arial"/>
                <a:ea typeface="Arial"/>
              </a:rPr>
              <a:t>3단계  </a:t>
            </a:r>
            <a:r>
              <a:rPr sz="1800" b="0">
                <a:solidFill>
                  <a:srgbClr val="FFFFFF"/>
                </a:solidFill>
                <a:latin typeface="Arial"/>
                <a:ea typeface="Arial"/>
              </a:rPr>
              <a:t>2028~</a:t>
            </a:r>
          </a:p>
          <a:p>
            <a:pPr algn="l">
              <a:lnSpc>
                <a:spcPct val="100000"/>
              </a:lnSpc>
            </a:pPr>
            <a:r>
              <a:rPr sz="2000" b="1">
                <a:solidFill>
                  <a:srgbClr val="FFFFFF"/>
                </a:solidFill>
                <a:latin typeface="Arial"/>
                <a:ea typeface="Arial"/>
              </a:rPr>
              <a:t>고객 시스템과 함께 설계합니다</a:t>
            </a:r>
          </a:p>
        </p:txBody>
      </p:sp>
      <p:sp>
        <p:nvSpPr>
          <p:cNvPr id="12" name="Rectangle 11"/>
          <p:cNvSpPr/>
          <p:nvPr/>
        </p:nvSpPr>
        <p:spPr>
          <a:xfrm>
            <a:off x="5161788" y="3072384"/>
            <a:ext cx="5385816" cy="457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704588" y="3145536"/>
            <a:ext cx="6300216" cy="329184"/>
          </a:xfrm>
          <a:prstGeom prst="rect">
            <a:avLst/>
          </a:prstGeom>
          <a:noFill/>
        </p:spPr>
        <p:txBody>
          <a:bodyPr wrap="square" anchor="t" lIns="0" rIns="0" tIns="0" bIns="0">
            <a:spAutoFit/>
          </a:bodyPr>
          <a:lstStyle/>
          <a:p>
            <a:pPr algn="ctr">
              <a:lnSpc>
                <a:spcPct val="110000"/>
              </a:lnSpc>
            </a:pPr>
            <a:r>
              <a:rPr sz="1800" b="1">
                <a:solidFill>
                  <a:srgbClr val="1428A0"/>
                </a:solidFill>
                <a:latin typeface="Arial"/>
                <a:ea typeface="Arial"/>
              </a:rPr>
              <a:t>계약의 창: 2026 4분기 ~ 2027 상반기</a:t>
            </a:r>
          </a:p>
        </p:txBody>
      </p:sp>
      <p:sp>
        <p:nvSpPr>
          <p:cNvPr id="14" name="Rounded Rectangle 13"/>
          <p:cNvSpPr/>
          <p:nvPr/>
        </p:nvSpPr>
        <p:spPr>
          <a:xfrm>
            <a:off x="722376" y="3584448"/>
            <a:ext cx="2194560" cy="1426464"/>
          </a:xfrm>
          <a:prstGeom prst="roundRect">
            <a:avLst>
              <a:gd name="adj" fmla="val 5128"/>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 y="3712463"/>
            <a:ext cx="1920240" cy="457200"/>
          </a:xfrm>
          <a:prstGeom prst="rect">
            <a:avLst/>
          </a:prstGeom>
          <a:noFill/>
        </p:spPr>
        <p:txBody>
          <a:bodyPr wrap="square" anchor="t" lIns="0" rIns="0" tIns="0" bIns="0">
            <a:spAutoFit/>
          </a:bodyPr>
          <a:lstStyle/>
          <a:p>
            <a:pPr algn="l">
              <a:lnSpc>
                <a:spcPct val="110000"/>
              </a:lnSpc>
            </a:pPr>
            <a:r>
              <a:rPr sz="2400" b="1">
                <a:solidFill>
                  <a:srgbClr val="1428A0"/>
                </a:solidFill>
                <a:latin typeface="Arial"/>
                <a:ea typeface="Arial"/>
              </a:rPr>
              <a:t>기술</a:t>
            </a:r>
          </a:p>
        </p:txBody>
      </p:sp>
      <p:sp>
        <p:nvSpPr>
          <p:cNvPr id="16" name="TextBox 15"/>
          <p:cNvSpPr txBox="1"/>
          <p:nvPr/>
        </p:nvSpPr>
        <p:spPr>
          <a:xfrm>
            <a:off x="886968" y="4187952"/>
            <a:ext cx="1920240" cy="768096"/>
          </a:xfrm>
          <a:prstGeom prst="rect">
            <a:avLst/>
          </a:prstGeom>
          <a:noFill/>
        </p:spPr>
        <p:txBody>
          <a:bodyPr wrap="square" anchor="t" lIns="0" rIns="0" tIns="0" bIns="0">
            <a:spAutoFit/>
          </a:bodyPr>
          <a:lstStyle/>
          <a:p>
            <a:pPr algn="l">
              <a:lnSpc>
                <a:spcPct val="100000"/>
              </a:lnSpc>
            </a:pPr>
            <a:r>
              <a:rPr sz="1600" b="0">
                <a:solidFill>
                  <a:srgbClr val="555555"/>
                </a:solidFill>
                <a:latin typeface="Arial"/>
                <a:ea typeface="Arial"/>
              </a:rPr>
              <a:t>지표: 고객 시스템의 FDP 활성 용량</a:t>
            </a:r>
          </a:p>
        </p:txBody>
      </p:sp>
      <p:sp>
        <p:nvSpPr>
          <p:cNvPr id="17" name="Rounded Rectangle 16"/>
          <p:cNvSpPr/>
          <p:nvPr/>
        </p:nvSpPr>
        <p:spPr>
          <a:xfrm>
            <a:off x="722376" y="5120640"/>
            <a:ext cx="2194560" cy="1426464"/>
          </a:xfrm>
          <a:prstGeom prst="roundRect">
            <a:avLst>
              <a:gd name="adj" fmla="val 5128"/>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5248655"/>
            <a:ext cx="1920240" cy="457200"/>
          </a:xfrm>
          <a:prstGeom prst="rect">
            <a:avLst/>
          </a:prstGeom>
          <a:noFill/>
        </p:spPr>
        <p:txBody>
          <a:bodyPr wrap="square" anchor="t" lIns="0" rIns="0" tIns="0" bIns="0">
            <a:spAutoFit/>
          </a:bodyPr>
          <a:lstStyle/>
          <a:p>
            <a:pPr algn="l">
              <a:lnSpc>
                <a:spcPct val="110000"/>
              </a:lnSpc>
            </a:pPr>
            <a:r>
              <a:rPr sz="2400" b="1">
                <a:solidFill>
                  <a:srgbClr val="1428A0"/>
                </a:solidFill>
                <a:latin typeface="Arial"/>
                <a:ea typeface="Arial"/>
              </a:rPr>
              <a:t>인재</a:t>
            </a:r>
          </a:p>
        </p:txBody>
      </p:sp>
      <p:sp>
        <p:nvSpPr>
          <p:cNvPr id="19" name="TextBox 18"/>
          <p:cNvSpPr txBox="1"/>
          <p:nvPr/>
        </p:nvSpPr>
        <p:spPr>
          <a:xfrm>
            <a:off x="886968" y="5724144"/>
            <a:ext cx="1920240" cy="768096"/>
          </a:xfrm>
          <a:prstGeom prst="rect">
            <a:avLst/>
          </a:prstGeom>
          <a:noFill/>
        </p:spPr>
        <p:txBody>
          <a:bodyPr wrap="square" anchor="t" lIns="0" rIns="0" tIns="0" bIns="0">
            <a:spAutoFit/>
          </a:bodyPr>
          <a:lstStyle/>
          <a:p>
            <a:pPr algn="l">
              <a:lnSpc>
                <a:spcPct val="100000"/>
              </a:lnSpc>
            </a:pPr>
            <a:r>
              <a:rPr sz="1600" b="0">
                <a:solidFill>
                  <a:srgbClr val="555555"/>
                </a:solidFill>
                <a:latin typeface="Arial"/>
                <a:ea typeface="Arial"/>
              </a:rPr>
              <a:t>지표: 업스트림 머지 건수</a:t>
            </a:r>
          </a:p>
        </p:txBody>
      </p:sp>
      <p:sp>
        <p:nvSpPr>
          <p:cNvPr id="20" name="Rounded Rectangle 19"/>
          <p:cNvSpPr/>
          <p:nvPr/>
        </p:nvSpPr>
        <p:spPr>
          <a:xfrm>
            <a:off x="722376" y="6656832"/>
            <a:ext cx="2194560" cy="1426464"/>
          </a:xfrm>
          <a:prstGeom prst="roundRect">
            <a:avLst>
              <a:gd name="adj" fmla="val 5128"/>
            </a:avLst>
          </a:prstGeom>
          <a:solidFill>
            <a:srgbClr val="EEF1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 y="6784848"/>
            <a:ext cx="1920240" cy="457200"/>
          </a:xfrm>
          <a:prstGeom prst="rect">
            <a:avLst/>
          </a:prstGeom>
          <a:noFill/>
        </p:spPr>
        <p:txBody>
          <a:bodyPr wrap="square" anchor="t" lIns="0" rIns="0" tIns="0" bIns="0">
            <a:spAutoFit/>
          </a:bodyPr>
          <a:lstStyle/>
          <a:p>
            <a:pPr algn="l">
              <a:lnSpc>
                <a:spcPct val="110000"/>
              </a:lnSpc>
            </a:pPr>
            <a:r>
              <a:rPr sz="2400" b="1">
                <a:solidFill>
                  <a:srgbClr val="1428A0"/>
                </a:solidFill>
                <a:latin typeface="Arial"/>
                <a:ea typeface="Arial"/>
              </a:rPr>
              <a:t>고객 협력</a:t>
            </a:r>
          </a:p>
        </p:txBody>
      </p:sp>
      <p:sp>
        <p:nvSpPr>
          <p:cNvPr id="22" name="TextBox 21"/>
          <p:cNvSpPr txBox="1"/>
          <p:nvPr/>
        </p:nvSpPr>
        <p:spPr>
          <a:xfrm>
            <a:off x="886968" y="7260336"/>
            <a:ext cx="1920240" cy="768096"/>
          </a:xfrm>
          <a:prstGeom prst="rect">
            <a:avLst/>
          </a:prstGeom>
          <a:noFill/>
        </p:spPr>
        <p:txBody>
          <a:bodyPr wrap="square" anchor="t" lIns="0" rIns="0" tIns="0" bIns="0">
            <a:spAutoFit/>
          </a:bodyPr>
          <a:lstStyle/>
          <a:p>
            <a:pPr algn="l">
              <a:lnSpc>
                <a:spcPct val="100000"/>
              </a:lnSpc>
            </a:pPr>
            <a:r>
              <a:rPr sz="1600" b="0">
                <a:solidFill>
                  <a:srgbClr val="555555"/>
                </a:solidFill>
                <a:latin typeface="Arial"/>
                <a:ea typeface="Arial"/>
              </a:rPr>
              <a:t>지표: 워크로드를 공유한 고객 수</a:t>
            </a:r>
          </a:p>
        </p:txBody>
      </p:sp>
      <p:sp>
        <p:nvSpPr>
          <p:cNvPr id="23" name="Rounded Rectangle 22"/>
          <p:cNvSpPr/>
          <p:nvPr/>
        </p:nvSpPr>
        <p:spPr>
          <a:xfrm>
            <a:off x="3063240" y="4142232"/>
            <a:ext cx="4663440" cy="868680"/>
          </a:xfrm>
          <a:prstGeom prst="roundRect">
            <a:avLst>
              <a:gd name="adj" fmla="val 8421"/>
            </a:avLst>
          </a:prstGeom>
          <a:solidFill>
            <a:srgbClr val="AAB8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64408" y="4142232"/>
            <a:ext cx="4261103" cy="868680"/>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출하 시 구성 SKU</a:t>
            </a:r>
          </a:p>
          <a:p>
            <a:pPr algn="l">
              <a:lnSpc>
                <a:spcPct val="105000"/>
              </a:lnSpc>
            </a:pPr>
            <a:r>
              <a:rPr sz="1800" b="0">
                <a:solidFill>
                  <a:srgbClr val="1A1A1A"/>
                </a:solidFill>
                <a:latin typeface="Arial"/>
                <a:ea typeface="Arial"/>
              </a:rPr>
              <a:t>OP · SLC 비율 · RUH 16+</a:t>
            </a:r>
          </a:p>
        </p:txBody>
      </p:sp>
      <p:sp>
        <p:nvSpPr>
          <p:cNvPr id="25" name="Rounded Rectangle 24"/>
          <p:cNvSpPr/>
          <p:nvPr/>
        </p:nvSpPr>
        <p:spPr>
          <a:xfrm>
            <a:off x="7982712" y="3867912"/>
            <a:ext cx="4663440" cy="1143000"/>
          </a:xfrm>
          <a:prstGeom prst="roundRect">
            <a:avLst>
              <a:gd name="adj" fmla="val 6400"/>
            </a:avLst>
          </a:prstGeom>
          <a:solidFill>
            <a:srgbClr val="3C5A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3880" y="3867912"/>
            <a:ext cx="4261103" cy="1143000"/>
          </a:xfrm>
          <a:prstGeom prst="rect">
            <a:avLst/>
          </a:prstGeom>
          <a:noFill/>
        </p:spPr>
        <p:txBody>
          <a:bodyPr wrap="square" anchor="ctr" lIns="0" rIns="0" tIns="0" bIns="0">
            <a:spAutoFit/>
          </a:bodyPr>
          <a:lstStyle/>
          <a:p>
            <a:pPr algn="l">
              <a:lnSpc>
                <a:spcPct val="105000"/>
              </a:lnSpc>
            </a:pPr>
            <a:r>
              <a:rPr sz="2000" b="1">
                <a:solidFill>
                  <a:srgbClr val="FFFFFF"/>
                </a:solidFill>
                <a:latin typeface="Arial"/>
                <a:ea typeface="Arial"/>
              </a:rPr>
              <a:t>운영 중 조정</a:t>
            </a:r>
          </a:p>
          <a:p>
            <a:pPr algn="l">
              <a:lnSpc>
                <a:spcPct val="105000"/>
              </a:lnSpc>
            </a:pPr>
            <a:r>
              <a:rPr sz="1800" b="0">
                <a:solidFill>
                  <a:srgbClr val="FFFFFF"/>
                </a:solidFill>
                <a:latin typeface="Arial"/>
                <a:ea typeface="Arial"/>
              </a:rPr>
              <a:t>배치 정책 · GC 강도 · WAF 감시</a:t>
            </a:r>
          </a:p>
        </p:txBody>
      </p:sp>
      <p:sp>
        <p:nvSpPr>
          <p:cNvPr id="27" name="Rounded Rectangle 26"/>
          <p:cNvSpPr/>
          <p:nvPr/>
        </p:nvSpPr>
        <p:spPr>
          <a:xfrm>
            <a:off x="12902184" y="3584448"/>
            <a:ext cx="4663440" cy="1426464"/>
          </a:xfrm>
          <a:prstGeom prst="roundRect">
            <a:avLst>
              <a:gd name="adj" fmla="val 5128"/>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3103352" y="3584448"/>
            <a:ext cx="4261103" cy="1426464"/>
          </a:xfrm>
          <a:prstGeom prst="rect">
            <a:avLst/>
          </a:prstGeom>
          <a:noFill/>
        </p:spPr>
        <p:txBody>
          <a:bodyPr wrap="square" anchor="ctr" lIns="0" rIns="0" tIns="0" bIns="0">
            <a:spAutoFit/>
          </a:bodyPr>
          <a:lstStyle/>
          <a:p>
            <a:pPr algn="l">
              <a:lnSpc>
                <a:spcPct val="105000"/>
              </a:lnSpc>
            </a:pPr>
            <a:r>
              <a:rPr sz="2000" b="1">
                <a:solidFill>
                  <a:srgbClr val="FFFFFF"/>
                </a:solidFill>
                <a:latin typeface="Arial"/>
                <a:ea typeface="Arial"/>
              </a:rPr>
              <a:t>워크로드 구성형 플랫폼</a:t>
            </a:r>
          </a:p>
          <a:p>
            <a:pPr algn="l">
              <a:lnSpc>
                <a:spcPct val="105000"/>
              </a:lnSpc>
            </a:pPr>
            <a:r>
              <a:rPr sz="1800" b="0">
                <a:solidFill>
                  <a:srgbClr val="FFFFFF"/>
                </a:solidFill>
                <a:latin typeface="Arial"/>
                <a:ea typeface="Arial"/>
              </a:rPr>
              <a:t>런타임 WAF 대응 · 고객별 운영점</a:t>
            </a:r>
          </a:p>
        </p:txBody>
      </p:sp>
      <p:sp>
        <p:nvSpPr>
          <p:cNvPr id="29" name="Rounded Rectangle 28"/>
          <p:cNvSpPr/>
          <p:nvPr/>
        </p:nvSpPr>
        <p:spPr>
          <a:xfrm>
            <a:off x="3063240" y="5120640"/>
            <a:ext cx="4663440" cy="1426464"/>
          </a:xfrm>
          <a:prstGeom prst="roundRect">
            <a:avLst>
              <a:gd name="adj" fmla="val 512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64408" y="5120640"/>
            <a:ext cx="4261103" cy="1426464"/>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시스템 SW 전문가 채용</a:t>
            </a:r>
          </a:p>
          <a:p>
            <a:pPr algn="l">
              <a:lnSpc>
                <a:spcPct val="105000"/>
              </a:lnSpc>
            </a:pPr>
            <a:r>
              <a:rPr sz="1800" b="0">
                <a:solidFill>
                  <a:srgbClr val="555555"/>
                </a:solidFill>
                <a:latin typeface="Arial"/>
                <a:ea typeface="Arial"/>
              </a:rPr>
              <a:t>고객 시스템을 아는 사람 · 미주 현지</a:t>
            </a:r>
          </a:p>
        </p:txBody>
      </p:sp>
      <p:sp>
        <p:nvSpPr>
          <p:cNvPr id="31" name="Rounded Rectangle 30"/>
          <p:cNvSpPr/>
          <p:nvPr/>
        </p:nvSpPr>
        <p:spPr>
          <a:xfrm>
            <a:off x="7982712" y="5120640"/>
            <a:ext cx="4663440" cy="1426464"/>
          </a:xfrm>
          <a:prstGeom prst="roundRect">
            <a:avLst>
              <a:gd name="adj" fmla="val 512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83880" y="5120640"/>
            <a:ext cx="4261103" cy="1426464"/>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FW·FTL → 호스트 SW 전환</a:t>
            </a:r>
          </a:p>
          <a:p>
            <a:pPr algn="l">
              <a:lnSpc>
                <a:spcPct val="105000"/>
              </a:lnSpc>
            </a:pPr>
            <a:r>
              <a:rPr sz="1800" b="0">
                <a:solidFill>
                  <a:srgbClr val="555555"/>
                </a:solidFill>
                <a:latin typeface="Arial"/>
                <a:ea typeface="Arial"/>
              </a:rPr>
              <a:t>미국 로테이션 6~12개월 · 머지로 수료</a:t>
            </a:r>
          </a:p>
        </p:txBody>
      </p:sp>
      <p:sp>
        <p:nvSpPr>
          <p:cNvPr id="33" name="Rounded Rectangle 32"/>
          <p:cNvSpPr/>
          <p:nvPr/>
        </p:nvSpPr>
        <p:spPr>
          <a:xfrm>
            <a:off x="12902184" y="5120640"/>
            <a:ext cx="4663440" cy="1426464"/>
          </a:xfrm>
          <a:prstGeom prst="roundRect">
            <a:avLst>
              <a:gd name="adj" fmla="val 5128"/>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3103352" y="5120640"/>
            <a:ext cx="4261103" cy="1426464"/>
          </a:xfrm>
          <a:prstGeom prst="rect">
            <a:avLst/>
          </a:prstGeom>
          <a:noFill/>
        </p:spPr>
        <p:txBody>
          <a:bodyPr wrap="square" anchor="ctr" lIns="0" rIns="0" tIns="0" bIns="0">
            <a:spAutoFit/>
          </a:bodyPr>
          <a:lstStyle/>
          <a:p>
            <a:pPr algn="l">
              <a:lnSpc>
                <a:spcPct val="105000"/>
              </a:lnSpc>
            </a:pPr>
            <a:r>
              <a:rPr sz="2000" b="1">
                <a:solidFill>
                  <a:srgbClr val="1428A0"/>
                </a:solidFill>
                <a:latin typeface="Arial"/>
                <a:ea typeface="Arial"/>
              </a:rPr>
              <a:t>오픈소스 메인테이너</a:t>
            </a:r>
          </a:p>
          <a:p>
            <a:pPr algn="l">
              <a:lnSpc>
                <a:spcPct val="105000"/>
              </a:lnSpc>
            </a:pPr>
            <a:r>
              <a:rPr sz="1800" b="0">
                <a:solidFill>
                  <a:srgbClr val="555555"/>
                </a:solidFill>
                <a:latin typeface="Arial"/>
                <a:ea typeface="Arial"/>
              </a:rPr>
              <a:t>호명되는 아키텍트</a:t>
            </a:r>
          </a:p>
        </p:txBody>
      </p:sp>
      <p:sp>
        <p:nvSpPr>
          <p:cNvPr id="35" name="Rounded Rectangle 34"/>
          <p:cNvSpPr/>
          <p:nvPr/>
        </p:nvSpPr>
        <p:spPr>
          <a:xfrm>
            <a:off x="3063240" y="6656832"/>
            <a:ext cx="4663440" cy="1426464"/>
          </a:xfrm>
          <a:prstGeom prst="roundRect">
            <a:avLst>
              <a:gd name="adj" fmla="val 512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264408" y="6656832"/>
            <a:ext cx="4261103" cy="1426464"/>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등대 고객 1~2사 선정</a:t>
            </a:r>
          </a:p>
          <a:p>
            <a:pPr algn="l">
              <a:lnSpc>
                <a:spcPct val="105000"/>
              </a:lnSpc>
            </a:pPr>
            <a:r>
              <a:rPr sz="1800" b="0">
                <a:solidFill>
                  <a:srgbClr val="555555"/>
                </a:solidFill>
                <a:latin typeface="Arial"/>
                <a:ea typeface="Arial"/>
              </a:rPr>
              <a:t>Co-Design Pod(FDE) 상주</a:t>
            </a:r>
          </a:p>
        </p:txBody>
      </p:sp>
      <p:sp>
        <p:nvSpPr>
          <p:cNvPr id="37" name="Rounded Rectangle 36"/>
          <p:cNvSpPr/>
          <p:nvPr/>
        </p:nvSpPr>
        <p:spPr>
          <a:xfrm>
            <a:off x="7982712" y="6656832"/>
            <a:ext cx="4663440" cy="1426464"/>
          </a:xfrm>
          <a:prstGeom prst="roundRect">
            <a:avLst>
              <a:gd name="adj" fmla="val 5128"/>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83880" y="6656832"/>
            <a:ext cx="4261103" cy="1426464"/>
          </a:xfrm>
          <a:prstGeom prst="rect">
            <a:avLst/>
          </a:prstGeom>
          <a:noFill/>
        </p:spPr>
        <p:txBody>
          <a:bodyPr wrap="square" anchor="ctr" lIns="0" rIns="0" tIns="0" bIns="0">
            <a:spAutoFit/>
          </a:bodyPr>
          <a:lstStyle/>
          <a:p>
            <a:pPr algn="l">
              <a:lnSpc>
                <a:spcPct val="105000"/>
              </a:lnSpc>
            </a:pPr>
            <a:r>
              <a:rPr sz="2000" b="1">
                <a:solidFill>
                  <a:srgbClr val="1A1A1A"/>
                </a:solidFill>
                <a:latin typeface="Arial"/>
                <a:ea typeface="Arial"/>
              </a:rPr>
              <a:t>LMCache · vLLM · Dynamo</a:t>
            </a:r>
          </a:p>
          <a:p>
            <a:pPr algn="l">
              <a:lnSpc>
                <a:spcPct val="105000"/>
              </a:lnSpc>
            </a:pPr>
            <a:r>
              <a:rPr sz="1800" b="0">
                <a:solidFill>
                  <a:srgbClr val="555555"/>
                </a:solidFill>
                <a:latin typeface="Arial"/>
                <a:ea typeface="Arial"/>
              </a:rPr>
              <a:t>FDP 경로 업스트림 기여</a:t>
            </a:r>
          </a:p>
        </p:txBody>
      </p:sp>
      <p:sp>
        <p:nvSpPr>
          <p:cNvPr id="39" name="Rounded Rectangle 38"/>
          <p:cNvSpPr/>
          <p:nvPr/>
        </p:nvSpPr>
        <p:spPr>
          <a:xfrm>
            <a:off x="12902184" y="6656832"/>
            <a:ext cx="4663440" cy="1426464"/>
          </a:xfrm>
          <a:prstGeom prst="roundRect">
            <a:avLst>
              <a:gd name="adj" fmla="val 5128"/>
            </a:avLst>
          </a:prstGeom>
          <a:solidFill>
            <a:srgbClr val="FFFFFF"/>
          </a:solidFill>
          <a:ln w="22225">
            <a:solidFill>
              <a:srgbClr val="1428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3103352" y="6656832"/>
            <a:ext cx="4261103" cy="1426464"/>
          </a:xfrm>
          <a:prstGeom prst="rect">
            <a:avLst/>
          </a:prstGeom>
          <a:noFill/>
        </p:spPr>
        <p:txBody>
          <a:bodyPr wrap="square" anchor="ctr" lIns="0" rIns="0" tIns="0" bIns="0">
            <a:spAutoFit/>
          </a:bodyPr>
          <a:lstStyle/>
          <a:p>
            <a:pPr algn="l">
              <a:lnSpc>
                <a:spcPct val="105000"/>
              </a:lnSpc>
            </a:pPr>
            <a:r>
              <a:rPr sz="2000" b="1">
                <a:solidFill>
                  <a:srgbClr val="1428A0"/>
                </a:solidFill>
                <a:latin typeface="Arial"/>
                <a:ea typeface="Arial"/>
              </a:rPr>
              <a:t>전략적 협약 (SCA)</a:t>
            </a:r>
          </a:p>
          <a:p>
            <a:pPr algn="l">
              <a:lnSpc>
                <a:spcPct val="105000"/>
              </a:lnSpc>
            </a:pPr>
            <a:r>
              <a:rPr sz="1800" b="0">
                <a:solidFill>
                  <a:srgbClr val="555555"/>
                </a:solidFill>
                <a:latin typeface="Arial"/>
                <a:ea typeface="Arial"/>
              </a:rPr>
              <a:t>공동 설계 · 다년 공급 · 워크로드 접근</a:t>
            </a:r>
          </a:p>
        </p:txBody>
      </p:sp>
      <p:sp>
        <p:nvSpPr>
          <p:cNvPr id="41" name="TextBox 40"/>
          <p:cNvSpPr txBox="1"/>
          <p:nvPr/>
        </p:nvSpPr>
        <p:spPr>
          <a:xfrm>
            <a:off x="722376" y="8183879"/>
            <a:ext cx="2194560" cy="457200"/>
          </a:xfrm>
          <a:prstGeom prst="rect">
            <a:avLst/>
          </a:prstGeom>
          <a:noFill/>
        </p:spPr>
        <p:txBody>
          <a:bodyPr wrap="square" anchor="ctr" lIns="0" rIns="0" tIns="0" bIns="0">
            <a:spAutoFit/>
          </a:bodyPr>
          <a:lstStyle/>
          <a:p>
            <a:pPr algn="l">
              <a:lnSpc>
                <a:spcPct val="110000"/>
              </a:lnSpc>
            </a:pPr>
            <a:r>
              <a:rPr sz="1800" b="1">
                <a:solidFill>
                  <a:srgbClr val="555555"/>
                </a:solidFill>
                <a:latin typeface="Arial"/>
                <a:ea typeface="Arial"/>
              </a:rPr>
              <a:t>대상 고객</a:t>
            </a:r>
          </a:p>
        </p:txBody>
      </p:sp>
      <p:pic>
        <p:nvPicPr>
          <p:cNvPr id="42" name="Picture 41" descr="nvidia.png"/>
          <p:cNvPicPr>
            <a:picLocks noChangeAspect="1"/>
          </p:cNvPicPr>
          <p:nvPr/>
        </p:nvPicPr>
        <p:blipFill>
          <a:blip r:embed="rId2"/>
          <a:stretch>
            <a:fillRect/>
          </a:stretch>
        </p:blipFill>
        <p:spPr>
          <a:xfrm>
            <a:off x="3063240" y="8247888"/>
            <a:ext cx="1722474" cy="329184"/>
          </a:xfrm>
          <a:prstGeom prst="rect">
            <a:avLst/>
          </a:prstGeom>
        </p:spPr>
      </p:pic>
      <p:pic>
        <p:nvPicPr>
          <p:cNvPr id="43" name="Picture 42" descr="meta.png"/>
          <p:cNvPicPr>
            <a:picLocks noChangeAspect="1"/>
          </p:cNvPicPr>
          <p:nvPr/>
        </p:nvPicPr>
        <p:blipFill>
          <a:blip r:embed="rId3"/>
          <a:stretch>
            <a:fillRect/>
          </a:stretch>
        </p:blipFill>
        <p:spPr>
          <a:xfrm>
            <a:off x="5288634" y="8257031"/>
            <a:ext cx="1528996" cy="310896"/>
          </a:xfrm>
          <a:prstGeom prst="rect">
            <a:avLst/>
          </a:prstGeom>
        </p:spPr>
      </p:pic>
      <p:pic>
        <p:nvPicPr>
          <p:cNvPr id="44" name="Picture 43" descr="google.png"/>
          <p:cNvPicPr>
            <a:picLocks noChangeAspect="1"/>
          </p:cNvPicPr>
          <p:nvPr/>
        </p:nvPicPr>
        <p:blipFill>
          <a:blip r:embed="rId4"/>
          <a:stretch>
            <a:fillRect/>
          </a:stretch>
        </p:blipFill>
        <p:spPr>
          <a:xfrm>
            <a:off x="7320551" y="8229600"/>
            <a:ext cx="1115877" cy="365760"/>
          </a:xfrm>
          <a:prstGeom prst="rect">
            <a:avLst/>
          </a:prstGeom>
        </p:spPr>
      </p:pic>
      <p:pic>
        <p:nvPicPr>
          <p:cNvPr id="45" name="Picture 44" descr="microsoft.png"/>
          <p:cNvPicPr>
            <a:picLocks noChangeAspect="1"/>
          </p:cNvPicPr>
          <p:nvPr/>
        </p:nvPicPr>
        <p:blipFill>
          <a:blip r:embed="rId5"/>
          <a:stretch>
            <a:fillRect/>
          </a:stretch>
        </p:blipFill>
        <p:spPr>
          <a:xfrm>
            <a:off x="8939349" y="8247888"/>
            <a:ext cx="1535054" cy="329184"/>
          </a:xfrm>
          <a:prstGeom prst="rect">
            <a:avLst/>
          </a:prstGeom>
        </p:spPr>
      </p:pic>
      <p:pic>
        <p:nvPicPr>
          <p:cNvPr id="46" name="Picture 45" descr="aws.png"/>
          <p:cNvPicPr>
            <a:picLocks noChangeAspect="1"/>
          </p:cNvPicPr>
          <p:nvPr/>
        </p:nvPicPr>
        <p:blipFill>
          <a:blip r:embed="rId6"/>
          <a:stretch>
            <a:fillRect/>
          </a:stretch>
        </p:blipFill>
        <p:spPr>
          <a:xfrm>
            <a:off x="10977324" y="8220455"/>
            <a:ext cx="642459" cy="384048"/>
          </a:xfrm>
          <a:prstGeom prst="rect">
            <a:avLst/>
          </a:prstGeom>
        </p:spPr>
      </p:pic>
      <p:sp>
        <p:nvSpPr>
          <p:cNvPr id="47" name="Rectangle 46"/>
          <p:cNvSpPr/>
          <p:nvPr/>
        </p:nvSpPr>
        <p:spPr>
          <a:xfrm>
            <a:off x="722376" y="8778240"/>
            <a:ext cx="16843248" cy="731520"/>
          </a:xfrm>
          <a:prstGeom prst="rect">
            <a:avLst/>
          </a:prstGeom>
          <a:solidFill>
            <a:srgbClr val="1428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88136" y="8778240"/>
            <a:ext cx="1234440" cy="731520"/>
          </a:xfrm>
          <a:prstGeom prst="rect">
            <a:avLst/>
          </a:prstGeom>
          <a:noFill/>
        </p:spPr>
        <p:txBody>
          <a:bodyPr wrap="square" anchor="ctr" lIns="0" rIns="0" tIns="0" bIns="0">
            <a:spAutoFit/>
          </a:bodyPr>
          <a:lstStyle/>
          <a:p>
            <a:pPr algn="l">
              <a:lnSpc>
                <a:spcPct val="110000"/>
              </a:lnSpc>
            </a:pPr>
            <a:r>
              <a:rPr sz="2000" b="0">
                <a:solidFill>
                  <a:srgbClr val="AAB8E8"/>
                </a:solidFill>
                <a:latin typeface="Arial"/>
                <a:ea typeface="Arial"/>
              </a:rPr>
              <a:t>90일</a:t>
            </a:r>
          </a:p>
        </p:txBody>
      </p:sp>
      <p:sp>
        <p:nvSpPr>
          <p:cNvPr id="49" name="TextBox 48"/>
          <p:cNvSpPr txBox="1"/>
          <p:nvPr/>
        </p:nvSpPr>
        <p:spPr>
          <a:xfrm>
            <a:off x="2322576" y="8778240"/>
            <a:ext cx="15060168" cy="731520"/>
          </a:xfrm>
          <a:prstGeom prst="rect">
            <a:avLst/>
          </a:prstGeom>
          <a:noFill/>
        </p:spPr>
        <p:txBody>
          <a:bodyPr wrap="square" anchor="ctr" lIns="0" rIns="0" tIns="0" bIns="0">
            <a:spAutoFit/>
          </a:bodyPr>
          <a:lstStyle/>
          <a:p>
            <a:pPr algn="l">
              <a:lnSpc>
                <a:spcPct val="110000"/>
              </a:lnSpc>
            </a:pPr>
            <a:r>
              <a:rPr sz="2400" b="1">
                <a:solidFill>
                  <a:srgbClr val="FFFFFF"/>
                </a:solidFill>
                <a:latin typeface="Arial"/>
                <a:ea typeface="Arial"/>
              </a:rPr>
              <a:t>KV-ready SSD 정의 · 등대 고객 1~2사 선정 · Co-Design Pod 구성으로 시작합니다</a:t>
            </a:r>
          </a:p>
        </p:txBody>
      </p:sp>
      <p:sp>
        <p:nvSpPr>
          <p:cNvPr id="50" name="TextBox 49"/>
          <p:cNvSpPr txBox="1"/>
          <p:nvPr/>
        </p:nvSpPr>
        <p:spPr>
          <a:xfrm>
            <a:off x="722376" y="9601200"/>
            <a:ext cx="15453359" cy="566928"/>
          </a:xfrm>
          <a:prstGeom prst="rect">
            <a:avLst/>
          </a:prstGeom>
          <a:noFill/>
        </p:spPr>
        <p:txBody>
          <a:bodyPr wrap="square" anchor="t" lIns="0" rIns="0" tIns="0" bIns="0">
            <a:spAutoFit/>
          </a:bodyPr>
          <a:lstStyle/>
          <a:p>
            <a:pPr algn="l">
              <a:lnSpc>
                <a:spcPct val="105000"/>
              </a:lnSpc>
            </a:pPr>
            <a:r>
              <a:rPr sz="1500" b="0">
                <a:solidFill>
                  <a:srgbClr val="555555"/>
                </a:solidFill>
                <a:latin typeface="Arial"/>
                <a:ea typeface="Arial"/>
              </a:rPr>
              <a:t>근거: 과제팀 실행 전략(Phase 1 디바이스 → 2 워크로드 최적화 → 3 공동 설계), 워크로드 구성형 SSD 보고서 v0.2(출하 시 구성 → 운영 중 조정), 계약의 창은 2027 하반기 공급 완화 전망(TrendForce 2026-07) 기준 · 인터뷰: 신문섭(Bain), 송용호 · 로고는 식별 표시</a:t>
            </a:r>
          </a:p>
        </p:txBody>
      </p:sp>
      <p:sp>
        <p:nvSpPr>
          <p:cNvPr id="51" name="TextBox 50"/>
          <p:cNvSpPr txBox="1"/>
          <p:nvPr/>
        </p:nvSpPr>
        <p:spPr>
          <a:xfrm>
            <a:off x="16468344" y="9601200"/>
            <a:ext cx="1097280" cy="310896"/>
          </a:xfrm>
          <a:prstGeom prst="rect">
            <a:avLst/>
          </a:prstGeom>
          <a:noFill/>
        </p:spPr>
        <p:txBody>
          <a:bodyPr wrap="square" anchor="t" lIns="0" rIns="0" tIns="0" bIns="0">
            <a:spAutoFit/>
          </a:bodyPr>
          <a:lstStyle/>
          <a:p>
            <a:pPr algn="r">
              <a:lnSpc>
                <a:spcPct val="110000"/>
              </a:lnSpc>
            </a:pPr>
            <a:r>
              <a:rPr sz="1600" b="0">
                <a:solidFill>
                  <a:srgbClr val="555555"/>
                </a:solidFill>
                <a:latin typeface="Arial"/>
                <a:ea typeface="Arial"/>
              </a:rPr>
              <a:t>3 /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