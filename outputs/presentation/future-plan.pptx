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남은 4주는 새 프레임을 늘리는 시간이 아니라, 이미 세운 주장을 검증된 근거로 바꾸는 시간입니다. 첫째, 현실 인식: 보고서의 사내 주장과 추정치를 담당임원 인터뷰로 확정합니다. 둘째, AI 워크로드: FDP가 KV Cache 등 AI 워크로드에서 실제로 효과를 내는지, 그리고 그 효과를 얻기 위한 기술 숙제가 감당 가능한 수준인지 판정합니다. 해자가 될지 여부는 이 검토에서 나옵니다. 셋째, 실행 전략: 고객별 제안 패키지와 개발실 준비안을 만들어 4장의 결정 요청을 구체화합니다. 인터뷰는 9월 말 한 번이며, 결과는 10월 초 보고서 v1.2로 수렴합니다.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전략의 향후 계획을 한 장에 모은 종합 슬라이드입니다. 상단은 네 전략이 공유하는 일정이고, 하단은 전략별 검토 내용입니다. 전략 1·2·4는 담당별로 같은 칸을 채우고, 전략 3 FDP는 현실 인식·AI 워크로드·실행 전략 세 검토를 산출물과 함께 적었습니다. 9월 말 담당임원 인터뷰와 10월 말 경영진 보고가 두 고정점입니다.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삼성전자 메모리사업부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50392"/>
            <a:ext cx="16843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삼성 SSD 전략적 방향성 · 향후 계획 (전략 3 FDP)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216152"/>
            <a:ext cx="168432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</a:rPr>
              <a:t>남은 4주는 세 질문에 답하는 데 씁니다: 어디에 있나, 통하는가, 어떻게 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65376"/>
            <a:ext cx="168432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</a:rPr>
              <a:t>보고서 v1.1의 남은 약점은 사내 근거의 급, AI 워크로드에서의 효과, 실행안의 구체성입니다. 이 셋을 닫아 v1.2로 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2395728"/>
            <a:ext cx="16843248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651760"/>
            <a:ext cx="5468112" cy="5870448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871215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428A0"/>
                </a:solidFill>
                <a:latin typeface="Arial"/>
                <a:ea typeface="Arial"/>
              </a:rPr>
              <a:t>① 현실 인식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871215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50" b="0">
                <a:solidFill>
                  <a:srgbClr val="8A8A8A"/>
                </a:solidFill>
                <a:latin typeface="Arial"/>
                <a:ea typeface="Arial"/>
              </a:rPr>
              <a:t>인터뷰 · 사내 자료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3291839"/>
            <a:ext cx="49194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1">
                <a:solidFill>
                  <a:srgbClr val="1A1A1A"/>
                </a:solidFill>
                <a:latin typeface="Arial"/>
                <a:ea typeface="Arial"/>
              </a:rPr>
              <a:t>우리는 지금 어디에 있나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931920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28A0"/>
                </a:solidFill>
                <a:latin typeface="Arial"/>
                <a:ea typeface="Arial"/>
              </a:rPr>
              <a:t>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3624" y="4059935"/>
            <a:ext cx="4352544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24528"/>
            <a:ext cx="491947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555555"/>
                </a:solidFill>
                <a:latin typeface="Arial"/>
                <a:ea typeface="Arial"/>
              </a:rPr>
              <a:t>핵심 주장(고객향 FDP 공급 이력, 전담 조직, 솔루션 비중, 캡티브 규모)이 아직 사내 구술과 추정치에 기대고 있습니다. 사실과 가설을 구분하지 못하면 전략 전체의 신뢰가 흔들립니다.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561441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28A0"/>
                </a:solidFill>
                <a:latin typeface="Arial"/>
                <a:ea typeface="Arial"/>
              </a:rPr>
              <a:t>무엇을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11095" y="5742432"/>
            <a:ext cx="400507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5907024"/>
            <a:ext cx="491947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· 담당임원 인터뷰(9월 말): 펌웨어·제품 세대, 활성화 용량, 고객별 공급·공동검증 이력, 워크로드 공유 수준, 조직·인력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· 보고서·덱의 [사내 확인]·추정치 항목을 전수 대장화, 하나씩 확정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· ②·③의 사내 준비도 질문 동반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775411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28A0"/>
                </a:solidFill>
                <a:latin typeface="Arial"/>
                <a:ea typeface="Arial"/>
              </a:rPr>
              <a:t>결과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11095" y="7882128"/>
            <a:ext cx="400507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8028431"/>
            <a:ext cx="49194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A1A1A"/>
                </a:solidFill>
                <a:latin typeface="Arial"/>
                <a:ea typeface="Arial"/>
              </a:rPr>
              <a:t>현황 대장(기술·고객·조직) + 주장 대 실제 갭 표. 추정치 표기 0건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9944" y="2651760"/>
            <a:ext cx="5468112" cy="5870448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2871215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428A0"/>
                </a:solidFill>
                <a:latin typeface="Arial"/>
                <a:ea typeface="Arial"/>
              </a:rPr>
              <a:t>② AI 워크로드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871215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50" b="0">
                <a:solidFill>
                  <a:srgbClr val="8A8A8A"/>
                </a:solidFill>
                <a:latin typeface="Arial"/>
                <a:ea typeface="Arial"/>
              </a:rPr>
              <a:t>자료조사 · 기술검토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4264" y="3291839"/>
            <a:ext cx="49194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1">
                <a:solidFill>
                  <a:srgbClr val="1A1A1A"/>
                </a:solidFill>
                <a:latin typeface="Arial"/>
                <a:ea typeface="Arial"/>
              </a:rPr>
              <a:t>FDP는 AI 워크로드에 통하는가, 얼마나 어려운가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3931920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28A0"/>
                </a:solidFill>
                <a:latin typeface="Arial"/>
                <a:ea typeface="Arial"/>
              </a:rPr>
              <a:t>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51192" y="4059935"/>
            <a:ext cx="4352544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4264" y="4224528"/>
            <a:ext cx="491947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555555"/>
                </a:solidFill>
                <a:latin typeface="Arial"/>
                <a:ea typeface="Arial"/>
              </a:rPr>
              <a:t>FDP의 WAF 개선은 데이터 수명이 RUH 격리와 정렬될 때만 성립합니다. KV Cache 오프로드와의 정합은 아직 관찰 수준이고, 통해도 스택에 심을 일이 너무 무거우면 전략이 서지 않습니다. 고객의 첫 질문 "우리 워크로드에선 얼마나?"에 답해야 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561441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28A0"/>
                </a:solidFill>
                <a:latin typeface="Arial"/>
                <a:ea typeface="Arial"/>
              </a:rPr>
              <a:t>무엇을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98664" y="5742432"/>
            <a:ext cx="400507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4264" y="5907024"/>
            <a:ext cx="491947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· KV Cache·체크포인트·데이터 로더별 수명·재사용 패턴과 RUH 격리의 정합, 공개 실측 대조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· 스택(vLLM·LMCache·Dynamo·커널 6.16) 코드 검토, QEMU 소규모 실증, 숙제 3분류(우리·생태계·고객)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· 쉽게 따라오는 층 vs 관계 때문에 못 따라오는 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4264" y="775411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28A0"/>
                </a:solidFill>
                <a:latin typeface="Arial"/>
                <a:ea typeface="Arial"/>
              </a:rPr>
              <a:t>결과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98664" y="7882128"/>
            <a:ext cx="400507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4264" y="8028431"/>
            <a:ext cx="49194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A1A1A"/>
                </a:solidFill>
                <a:latin typeface="Arial"/>
                <a:ea typeface="Arial"/>
              </a:rPr>
              <a:t>효과·난이도 판정표 + 숙제 3분류 + 차별화 여지 결론. "통하지만 어렵다"면 그대로 보고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97512" y="2651760"/>
            <a:ext cx="5468112" cy="5870448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71832" y="2871215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428A0"/>
                </a:solidFill>
                <a:latin typeface="Arial"/>
                <a:ea typeface="Arial"/>
              </a:rPr>
              <a:t>③ 실행 전략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13864" y="2871215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50" b="0">
                <a:solidFill>
                  <a:srgbClr val="8A8A8A"/>
                </a:solidFill>
                <a:latin typeface="Arial"/>
                <a:ea typeface="Arial"/>
              </a:rPr>
              <a:t>전략구상 · 인터뷰 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71832" y="3291839"/>
            <a:ext cx="49194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1">
                <a:solidFill>
                  <a:srgbClr val="1A1A1A"/>
                </a:solidFill>
                <a:latin typeface="Arial"/>
                <a:ea typeface="Arial"/>
              </a:rPr>
              <a:t>고객에게 어떻게 다가가고, 개발실은 어떻게 준비하나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71832" y="3931920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28A0"/>
                </a:solidFill>
                <a:latin typeface="Arial"/>
                <a:ea typeface="Arial"/>
              </a:rPr>
              <a:t>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938760" y="4059935"/>
            <a:ext cx="4352544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71832" y="4224528"/>
            <a:ext cx="491947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555555"/>
                </a:solidFill>
                <a:latin typeface="Arial"/>
                <a:ea typeface="Arial"/>
              </a:rPr>
              <a:t>협업 3층 포트폴리오·워크로드 교환·FDE 운영안은 문서로만 있습니다. 어떻게 협력을 끌어낼지, 개발실이 무엇을 갖추고 바꿀지는 미검증이고, 공급자 우위가 있는 동안 체결해야 하는 계약이라 늦으면 시효를 넘깁니다.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71832" y="561441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28A0"/>
                </a:solidFill>
                <a:latin typeface="Arial"/>
                <a:ea typeface="Arial"/>
              </a:rPr>
              <a:t>무엇을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286232" y="5742432"/>
            <a:ext cx="400507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71832" y="5907024"/>
            <a:ext cx="491947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· 고객별(LLM 기업·스토리지 벤더·하이퍼스케일러) 제안 패키지: 주는 것·받는 것, 첫 접촉에서 공동 파일럿까지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· 개발실 준비안: 새로 갖출 것(시스템 SW·오픈소스 인력, FDE, 공동검증 인프라)과 바꿀 것(펌웨어 브랜치·qual)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· 부록 D 6과제에 오너·일정·첫 액션 부여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71832" y="775411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28A0"/>
                </a:solidFill>
                <a:latin typeface="Arial"/>
                <a:ea typeface="Arial"/>
              </a:rPr>
              <a:t>결과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286232" y="7882128"/>
            <a:ext cx="400507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71832" y="8028431"/>
            <a:ext cx="49194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A1A1A"/>
                </a:solidFill>
                <a:latin typeface="Arial"/>
                <a:ea typeface="Arial"/>
              </a:rPr>
              <a:t>고객 접근 플레이북 + 개발실 준비안 → 4장 결정 요청 구체화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" y="8887968"/>
            <a:ext cx="16843248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iamond 47"/>
          <p:cNvSpPr/>
          <p:nvPr/>
        </p:nvSpPr>
        <p:spPr>
          <a:xfrm>
            <a:off x="777240" y="8796528"/>
            <a:ext cx="182880" cy="182880"/>
          </a:xfrm>
          <a:prstGeom prst="diamond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" y="8705088"/>
            <a:ext cx="37536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A1A1A"/>
                </a:solidFill>
                <a:latin typeface="Arial"/>
                <a:ea typeface="Arial"/>
              </a:rPr>
              <a:t>9/7 착수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9070848"/>
            <a:ext cx="37536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질문 설계 · 워크로드 분류 · 포트폴리오 점검</a:t>
            </a:r>
          </a:p>
        </p:txBody>
      </p:sp>
      <p:sp>
        <p:nvSpPr>
          <p:cNvPr id="51" name="Diamond 50"/>
          <p:cNvSpPr/>
          <p:nvPr/>
        </p:nvSpPr>
        <p:spPr>
          <a:xfrm>
            <a:off x="4988052" y="8796528"/>
            <a:ext cx="182880" cy="182880"/>
          </a:xfrm>
          <a:prstGeom prst="diamond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80660" y="8705088"/>
            <a:ext cx="37536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428A0"/>
                </a:solidFill>
                <a:latin typeface="Arial"/>
                <a:ea typeface="Arial"/>
              </a:rPr>
              <a:t>9월 말 담당임원 인터뷰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80660" y="9070848"/>
            <a:ext cx="37536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①의 현황 확인 + ②·③의 사내 준비도 검증</a:t>
            </a:r>
          </a:p>
        </p:txBody>
      </p:sp>
      <p:sp>
        <p:nvSpPr>
          <p:cNvPr id="54" name="Diamond 53"/>
          <p:cNvSpPr/>
          <p:nvPr/>
        </p:nvSpPr>
        <p:spPr>
          <a:xfrm>
            <a:off x="9198864" y="8796528"/>
            <a:ext cx="182880" cy="182880"/>
          </a:xfrm>
          <a:prstGeom prst="diamond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8705088"/>
            <a:ext cx="37536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A1A1A"/>
                </a:solidFill>
                <a:latin typeface="Arial"/>
                <a:ea typeface="Arial"/>
              </a:rPr>
              <a:t>10월 초 보고서 v1.2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91472" y="9070848"/>
            <a:ext cx="37536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세 결과를 한 묶음으로 반영, 덱 갱신</a:t>
            </a:r>
          </a:p>
        </p:txBody>
      </p:sp>
      <p:sp>
        <p:nvSpPr>
          <p:cNvPr id="57" name="Diamond 56"/>
          <p:cNvSpPr/>
          <p:nvPr/>
        </p:nvSpPr>
        <p:spPr>
          <a:xfrm>
            <a:off x="13409676" y="8796528"/>
            <a:ext cx="182880" cy="182880"/>
          </a:xfrm>
          <a:prstGeom prst="diamond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702284" y="8705088"/>
            <a:ext cx="37536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1A1A1A"/>
                </a:solidFill>
                <a:latin typeface="Arial"/>
                <a:ea typeface="Arial"/>
              </a:rPr>
              <a:t>10/12부터 발표자료 준비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02284" y="9070848"/>
            <a:ext cx="37536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리허설 · 예상 질문 답변 카드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" y="9592056"/>
            <a:ext cx="1426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출처: 삼성 SSD 전략적 방향성 보고서 v1.1 · 비판적 검토서 · 부록 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047720" y="9592056"/>
            <a:ext cx="1517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01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삼성전자 메모리사업부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50392"/>
            <a:ext cx="16843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삼성 SSD 전략적 방향성 · 향후 계획 종합 (4대 전략)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216152"/>
            <a:ext cx="168432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</a:rPr>
              <a:t>네 전략이 같은 일정 위에서 각자의 검토를 마치고 10월 말 보고로 수렴합니다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65376"/>
            <a:ext cx="168432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</a:rPr>
              <a:t>공통 일정은 9월 말 담당임원 인터뷰, 10월 초 보고서 갱신, 10/12부터 발표자료 준비입니다. 전략 1·2·4는 담당별 작성 예정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2395728"/>
            <a:ext cx="16843248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596896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28A0"/>
                </a:solidFill>
                <a:latin typeface="Arial"/>
                <a:ea typeface="Arial"/>
              </a:rPr>
              <a:t>공통 일정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9736" y="2724912"/>
            <a:ext cx="15105888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4087368"/>
            <a:ext cx="16568928" cy="914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17254728" y="3977639"/>
            <a:ext cx="310896" cy="310896"/>
          </a:xfrm>
          <a:prstGeom prst="triangl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4014215"/>
            <a:ext cx="237744" cy="237744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1024128" y="3419856"/>
            <a:ext cx="310896" cy="274320"/>
          </a:xfrm>
          <a:prstGeom prst="triangl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" y="2852928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85292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8A8A8A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2779776"/>
            <a:ext cx="231708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9/7 착수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6" y="3108960"/>
            <a:ext cx="23170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555555"/>
                </a:solidFill>
                <a:latin typeface="Arial"/>
                <a:ea typeface="Arial"/>
              </a:rPr>
              <a:t>전략별 검토 설계: 질문·조사 범위·검토 항목 확정</a:t>
            </a:r>
          </a:p>
        </p:txBody>
      </p:sp>
      <p:sp>
        <p:nvSpPr>
          <p:cNvPr id="18" name="Oval 17"/>
          <p:cNvSpPr/>
          <p:nvPr/>
        </p:nvSpPr>
        <p:spPr>
          <a:xfrm>
            <a:off x="4429353" y="4014215"/>
            <a:ext cx="237744" cy="237744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4392777" y="4571999"/>
            <a:ext cx="310896" cy="274320"/>
          </a:xfrm>
          <a:prstGeom prst="triangl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19041" y="4754879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9041" y="4754879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428A0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1145" y="4663440"/>
            <a:ext cx="231708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428A0"/>
                </a:solidFill>
                <a:latin typeface="Arial"/>
                <a:ea typeface="Arial"/>
              </a:rPr>
              <a:t>9월 말 담당임원 인터뷰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1145" y="4992624"/>
            <a:ext cx="23170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555555"/>
                </a:solidFill>
                <a:latin typeface="Arial"/>
                <a:ea typeface="Arial"/>
              </a:rPr>
              <a:t>전략 3 현황 확인, 타 전략의 사내 확인 질문 동반</a:t>
            </a:r>
          </a:p>
        </p:txBody>
      </p:sp>
      <p:sp>
        <p:nvSpPr>
          <p:cNvPr id="24" name="Oval 23"/>
          <p:cNvSpPr/>
          <p:nvPr/>
        </p:nvSpPr>
        <p:spPr>
          <a:xfrm>
            <a:off x="7798003" y="4014215"/>
            <a:ext cx="237744" cy="237744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7761427" y="3419856"/>
            <a:ext cx="310896" cy="274320"/>
          </a:xfrm>
          <a:prstGeom prst="triangl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87691" y="2852928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7691" y="285292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8A8A8A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9795" y="2779776"/>
            <a:ext cx="231708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10월 초 보고서 갱신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9795" y="3108960"/>
            <a:ext cx="23170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555555"/>
                </a:solidFill>
                <a:latin typeface="Arial"/>
                <a:ea typeface="Arial"/>
              </a:rPr>
              <a:t>네 전략의 검토 결과를 보고서와 덱에 반영</a:t>
            </a:r>
          </a:p>
        </p:txBody>
      </p:sp>
      <p:sp>
        <p:nvSpPr>
          <p:cNvPr id="30" name="Oval 29"/>
          <p:cNvSpPr/>
          <p:nvPr/>
        </p:nvSpPr>
        <p:spPr>
          <a:xfrm>
            <a:off x="11166652" y="4014215"/>
            <a:ext cx="237744" cy="237744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11130076" y="4571999"/>
            <a:ext cx="310896" cy="274320"/>
          </a:xfrm>
          <a:prstGeom prst="triangl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56340" y="4754879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56340" y="4754879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8A8A8A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88444" y="4663440"/>
            <a:ext cx="231708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10/12 발표자료 준비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88444" y="4992624"/>
            <a:ext cx="23170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555555"/>
                </a:solidFill>
                <a:latin typeface="Arial"/>
                <a:ea typeface="Arial"/>
              </a:rPr>
              <a:t>덱 통합·리허설·예상 질문 답변 카드</a:t>
            </a:r>
          </a:p>
        </p:txBody>
      </p:sp>
      <p:sp>
        <p:nvSpPr>
          <p:cNvPr id="36" name="Oval 35"/>
          <p:cNvSpPr/>
          <p:nvPr/>
        </p:nvSpPr>
        <p:spPr>
          <a:xfrm>
            <a:off x="14535302" y="4014215"/>
            <a:ext cx="237744" cy="237744"/>
          </a:xfrm>
          <a:prstGeom prst="ellips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14498726" y="3419856"/>
            <a:ext cx="310896" cy="274320"/>
          </a:xfrm>
          <a:prstGeom prst="triangl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4324990" y="2852928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324990" y="285292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428A0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157094" y="2779776"/>
            <a:ext cx="231708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428A0"/>
                </a:solidFill>
                <a:latin typeface="Arial"/>
                <a:ea typeface="Arial"/>
              </a:rPr>
              <a:t>10월 말 경영진 보고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157094" y="3108960"/>
            <a:ext cx="23170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555555"/>
                </a:solidFill>
                <a:latin typeface="Arial"/>
                <a:ea typeface="Arial"/>
              </a:rPr>
              <a:t>네 전략의 실행안과 결정 요청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815584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1428A0"/>
                </a:solidFill>
                <a:latin typeface="Arial"/>
                <a:ea typeface="Arial"/>
              </a:rPr>
              <a:t>전략별 검토 내용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3320" y="5943600"/>
            <a:ext cx="13862304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2376" y="6126480"/>
            <a:ext cx="4073652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6345936"/>
            <a:ext cx="35981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8A8A8A"/>
                </a:solidFill>
                <a:latin typeface="Arial"/>
                <a:ea typeface="Arial"/>
              </a:rPr>
              <a:t>전략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6693408"/>
            <a:ext cx="35981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8A8A"/>
                </a:solidFill>
                <a:latin typeface="Arial"/>
                <a:ea typeface="Arial"/>
              </a:rPr>
              <a:t>[전략명]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7040880"/>
            <a:ext cx="3598164" cy="2121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8A8A8A"/>
                </a:solidFill>
                <a:latin typeface="Arial"/>
                <a:ea typeface="Arial"/>
              </a:rPr>
              <a:t>[검토 내용 · 담당 작성]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8A8A8A"/>
                </a:solidFill>
                <a:latin typeface="Arial"/>
                <a:ea typeface="Arial"/>
              </a:rPr>
              <a:t>무엇을 왜 검토하고, 10월 초 산출물은 무엇인가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78908" y="6126480"/>
            <a:ext cx="4073652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6652" y="6345936"/>
            <a:ext cx="35981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8A8A8A"/>
                </a:solidFill>
                <a:latin typeface="Arial"/>
                <a:ea typeface="Arial"/>
              </a:rPr>
              <a:t>전략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6652" y="6693408"/>
            <a:ext cx="35981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8A8A"/>
                </a:solidFill>
                <a:latin typeface="Arial"/>
                <a:ea typeface="Arial"/>
              </a:rPr>
              <a:t>[전략명]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6652" y="7040880"/>
            <a:ext cx="3598164" cy="2121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8A8A8A"/>
                </a:solidFill>
                <a:latin typeface="Arial"/>
                <a:ea typeface="Arial"/>
              </a:rPr>
              <a:t>[검토 내용 · 담당 작성]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8A8A8A"/>
                </a:solidFill>
                <a:latin typeface="Arial"/>
                <a:ea typeface="Arial"/>
              </a:rPr>
              <a:t>무엇을 왜 검토하고, 10월 초 산출물은 무엇인가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6126480"/>
            <a:ext cx="4073652" cy="3218688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73184" y="6345936"/>
            <a:ext cx="35981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전략 3 · FDP 플랫폼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73184" y="6693408"/>
            <a:ext cx="35981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1A1A"/>
                </a:solidFill>
                <a:latin typeface="Arial"/>
                <a:ea typeface="Arial"/>
              </a:rPr>
              <a:t>자체 SSD 수요를 표준으로 흡수하는 실행안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73184" y="7077456"/>
            <a:ext cx="3598164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73184" y="7187184"/>
            <a:ext cx="3598164" cy="2029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① 현실 인식 (인터뷰): 기술·고객·조직 현황과 추정치 확정 → 현황 대장 + 갭 표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② AI 워크로드 (조사·기술검토): FDP 효과·난이도·차별화 여지 판정 → 판정표 + 기술 숙제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50" b="0">
                <a:solidFill>
                  <a:srgbClr val="1A1A1A"/>
                </a:solidFill>
                <a:latin typeface="Arial"/>
                <a:ea typeface="Arial"/>
              </a:rPr>
              <a:t>③ 실행 전략 (전략구상): 고객별 제안 패키지 + 개발실 준비안 → 플레이북 + 준비안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491972" y="6126480"/>
            <a:ext cx="4073652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729715" y="6345936"/>
            <a:ext cx="35981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8A8A8A"/>
                </a:solidFill>
                <a:latin typeface="Arial"/>
                <a:ea typeface="Arial"/>
              </a:rPr>
              <a:t>전략 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29715" y="6693408"/>
            <a:ext cx="35981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8A8A"/>
                </a:solidFill>
                <a:latin typeface="Arial"/>
                <a:ea typeface="Arial"/>
              </a:rPr>
              <a:t>[전략명]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29715" y="7040880"/>
            <a:ext cx="3598164" cy="2121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8A8A8A"/>
                </a:solidFill>
                <a:latin typeface="Arial"/>
                <a:ea typeface="Arial"/>
              </a:rPr>
              <a:t>[검토 내용 · 담당 작성]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8A8A8A"/>
                </a:solidFill>
                <a:latin typeface="Arial"/>
                <a:ea typeface="Arial"/>
              </a:rPr>
              <a:t>무엇을 왜 검토하고, 10월 초 산출물은 무엇인가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" y="9592056"/>
            <a:ext cx="1426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출처: 삼성 SSD 전략적 방향성 보고서 v1.1 · 비판적 검토서 · 부록 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47720" y="9592056"/>
            <a:ext cx="1517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