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1장입니다. HBM에서 삼성 점유율은 2022년 40퍼센트에서 2025년 2분기 17퍼센트로, SK하이닉스는 50에서 62퍼센트로 갈렸습니다. 하나의 수요를 늦게 읽으면 첫 호황을 놓친다는 교훈입니다. 그래서 SSD의 다음 수요를 하나로 단정하지 않고, 하이퍼스케일러의 데이터센터 응용 네 가지를 SSD에 요구하는 특성으로 비교했습니다. 첫째, 범용 클라우드입니다. 여러 고객의 VM이 서버의 SSD를 나눠 씁니다. Microsoft의 SSD 50만 대를 보면 실제 쓰기는 0.07에서 0.23 DWPD로 범용 TLC 정격 1 DWPD 안에 들어옵니다. 기존 SSD 기술로 대응할 수 있습니다. 다만 한 고객의 쓰기가 같은 SSD를 쓰는 다른 고객의 지연을 키웁니다. Microsoft 워크로드 실험에서 하드웨어로 격리하면 p99 지연이 최대 3.1배 줄었습니다. 멀티테넌트 QoS와 격리는 여전히 중요한 요구입니다. 둘째, AI 학습입니다. NVIDIA SuperPOD 가이드를 GPU당으로 환산하면, 데이터가 캐시보다 큰 멀티모달 학습은 기본 등급보다 약 3배의 스토리지 대역을 요구합니다. 데이터 로딩에는 고성능 TLC가 맞습니다. 405B 모델은 체크포인트 한 번에 약 5.7테라바이트를 쓰고, 다 쓸 때까지 학습이 멈춥니다. 체크포인트 간격이 짧아지면 고내구 TLC가 필요할 수 있어 점선으로 두었습니다. 셋째, AI 추론의 KV 캐시 오프로드입니다. KV 캐시 계층을 실측하면 드라이브당 3.2 DWPD로 QLC 정격 0.6을 크게 넘고, AI 전용 SSD는 50에서 120 DWPD로 나왔습니다. 반대로 읽기 위주라는 측정도 있습니다. 그래서 같은 KV 캐시라도 쓰기량에 따라 SLC급, 고내구 TLC, 고성능 TLC로 갈리고, 읽기 위주라면 QLC도 후보입니다. 고내구라는 요구에도 필요한 DWPD에 따라 SLC부터 QLC까지 여러 답이 있다는 뜻입니다. 넷째, Meta Muse와 OpenAI Dot 같은 에이전트입니다. 사실을 다시 확인해 보니 이 서비스들은 사용자마다 VM을 하나씩 주는 구조이고, 에이전트는 대부분의 시간을 휴면 상태로 보냅니다. 휴면 상태는 압축 스냅샷으로 오브젝트 스토리지에 보관됩니다. 제3자가 Muse VM을 관측한 결과 메모리 7.75기가바이트에 디스크 100기가바이트로, 디스크가 13배 큽니다. 사용자 1억 명이면 할당 기준 10엑사바이트입니다. 그래서 에이전트 VM 자체에는 고DWPD보다 고용량 QLC가 맞습니다. 다만 실제 사용량은 아직 할당보다 훨씬 작고, 에이전트 VM 디스크의 쓰기량을 공개한 측정은 없습니다. 에이전트가 키우는 고DWPD 수요는 VM이 아니라 추론의 KV 캐시 계층에서 나옵니다. 에이전트가 한꺼번에 깨어날 때 디스크 경합이 생긴다는 Google의 설명이 있어, 고성능 TLC는 점선으로 두었습니다. 아래 표는 이것을 제품군으로 정리한 것입니다. 위에서 아래로 요구 DWPD는 낮아지고 최대 용량은 커집니다. 파란 칸은 지금 쓰는 곳, 점선 칸은 신호에 따라 쓰일 곳입니다. 응용마다 필요한 제품군의 조합이 다르고, 하나의 제품으로 모든 응용에 대응할 수 없습니다. 그래서 다양한 데이터센터 응용에 대응하려면 SLC부터 QLC까지 다양한 제품 포트폴리오가 필요합니다. 다만 지금 예측할 수 있는 범위 안의 준비입니다.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2장입니다. 1장의 제품 포트폴리오를 받치는 핵심 기술 여섯 가지를, 왼쪽에는 어떤 제품군에 쓰이는지, 오른쪽에는 고객과 어떻게 협력해야 하는지로 정리했습니다. 왼쪽부터 보겠습니다. Fault Tolerant는 다이와 플레인 단위로 고장을 격리합니다. 같은 폼팩터에서 245테라바이트는 다이 1,024개, 512테라바이트는 약 2,133개라 고용량일수록 필요합니다. Large Mapping은 매핑 단위를 4킬로바이트에서 8에서 64킬로바이트로 키웁니다. 245테라바이트 드라이브의 매핑 DRAM이 약 245기가바이트에서 15기가바이트로 줄어드는 대신, 매핑 단위보다 작은 쓰기는 최대 16배를 다시 씁니다. Mixed Media는 pSLC와 QLC를 별도 네임스페이스로 나눕니다. 작은 쓰기를 모아 순차로 내리면 4킬로바이트 쓰기의 WAF가 70을 넘던 것이 1.02까지 내려간 사례가 있고, 고객이 요구한 pSLC 비율은 QLC 용량의 0.5에서 2퍼센트입니다. Multi-Tenant QoS는 네임스페이스 단위로 테넌트를 격리합니다. 이웃 테넌트의 쓰기만으로 WAF가 1.28에서 3.0으로 오르고, 하드웨어로 격리하면 p99 지연이 최대 3.1배 줄었습니다. FDP는 배치 핸들로 수명이 같은 데이터를 모읍니다. SLC급, 고내구 TLC, 고용량 QLC에 모두 걸려 가장 넓습니다. Confidential Storage는 RoT, 암호화, 증명으로 기밀 VM의 디스크를 지킵니다. Meta는 Meta도 접근하지 못하는 Muse 기밀 VM을 예고했습니다. 고용량 QLC에는 여섯 가지 중 다섯 가지가 걸립니다. 오른쪽은 협력의 깊이입니다. 가로축은 고객 시스템과 함께 설계돼야 하는 정도, 세로축은 명확한 스펙만으로 최적화가 닫히는지입니다. Mixed Media와 Confidential Storage는 고객 시스템에 깊이 들어갑니다. 그러나 Mixed Media의 인터페이스는 표준 네임스페이스이고, pSLC 비율은 출하 시 정하는 값이며 고객이 이미 수치로 요구합니다. 네임스페이스 간 QoS도 목표 수치로 사내에서 검증할 수 있습니다. Confidential Storage는 Caliptra, SPDM, TDISP, OCP L.O.C.K. 같은 표준이 인터페이스와 동작을 정하고, 삼성은 L.O.C.K.의 공저자입니다. Large Mapping과 QoS도 고객의 쓰기 크기와 지연 목표를 스펙으로 받으면 됩니다. 이 다섯은 고객 요구를 정확한 스펙으로 받는 협력이면 충분합니다. FDP는 다릅니다. 효과는 고객 소프트웨어가 데이터 수명을 얼마나 잘 나누는지와, SSD의 RU 크기와 GC 정책이 맞물릴 때만 납니다. FAST'26의 WARP 연구에서는 같은 FDP 지원 드라이브, 같은 워크로드에서 한 장치는 WAF가 1 근처를 지켰고 다른 장치는 무너졌습니다. 분류가 어긋나 사용자 데이터의 99퍼센트가 한 핸들로 몰리면 효과가 사라지고, 한 핸들의 무효화가 다른 핸들의 WAF까지 키우기도 합니다. 게다가 RUH와 RG 구성은 출하 시 고정되므로, 고객 워크로드를 보고 미리 함께 정해야 합니다. CacheLib이 WAF를 3.22에서 1.03으로 낮춘 결과도 삼성 엔지니어가 Meta의 오픈소스 CacheLib 안에 들어가 구현하고 Meta가 받아들인 결과였습니다. 그래서 FDP는 고객과 함께 설계해야 제대로 동작합니다. 정리하면, 스펙을 정확히 받든 함께 설계하든, 핵심 기술을 제대로 확보하려면 고객과의 협력이 필수입니다. 협력의 깊이 판단은 과제팀의 판단이고, 근거는 위키에 정리했습니다.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3장입니다. 왜 고객 시스템까지 가야 하는지 데이터로 말씀드리겠습니다. 위쪽 그래프 넷은 지난 10~15년 동안 데이터센터 SSD가 혼자서 얼마나 성장했는지입니다. 4K 랜덤 읽기는 2012년 7만 5천 IOPS에서 2026년 680만 IOPS로 약 90배, 와트당 읽기 성능은 83에서 1,120MB/s로 약 13배, 1달러로 사는 NAND 용량은 2010년 0.56GB에서 2024년 13GB로 약 24배 늘었습니다. NAND 세대, 컨트롤러, 인터페이스 세대가 만든 성장이고, 모두 SSD 안에서 이룬 것입니다. 그런데 오른쪽 정격 DWPD는 반대입니다. 2012년 고내구 드라이브의 10에서 지금 플래그십 1로, QLC는 0.26까지 내려왔습니다. 셀이 견디는 쓰기가 SLC 10만 회에서 QLC 1천 회로 약 100배 줄었기 때문입니다. 고내구 등급에서 읽기 위주 등급으로 옮겨 간 영향도 섞여 있지만, 고객 캐시 계층은 하루 3회에서 7.2회를 씁니다. 이 띠와 정격 사이의 간격이 지금의 과제입니다. 아래 계단은 이 간격을 어디서 메워 왔는지입니다. 첫 계단 NAND에서 SSD로는 컨트롤러 ECC가 약 60배 강해지면서 SSD 안에서 완결됐습니다. 둘째 계단은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셋째 계단이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계단에 머물고, 셋째 계단은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2장에서 고른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2.png"/><Relationship Id="rId6" Type="http://schemas.openxmlformats.org/officeDocument/2006/relationships/image" Target="../media/image10.png"/><Relationship Id="rId7"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4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SSD의 다음 수요는 하나로 정해지지 않으며,</a:t>
            </a:r>
          </a:p>
          <a:p>
            <a:pPr algn="l">
              <a:lnSpc>
                <a:spcPct val="105000"/>
              </a:lnSpc>
            </a:pPr>
            <a:r>
              <a:rPr sz="3200" b="1">
                <a:solidFill>
                  <a:srgbClr val="1A1A1A"/>
                </a:solidFill>
                <a:latin typeface="Arial"/>
                <a:ea typeface="Arial"/>
              </a:rPr>
              <a:t>데이터센터 응용마다 SSD에 요구하는 특성이 다릅니다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474720"/>
          </a:xfrm>
          <a:prstGeom prst="roundRect">
            <a:avLst>
              <a:gd name="adj" fmla="val 216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27426"/>
            <a:ext cx="914400" cy="249382"/>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912800"/>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6341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711632"/>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7197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608554"/>
            <a:ext cx="452374" cy="237744"/>
          </a:xfrm>
          <a:prstGeom prst="rect">
            <a:avLst/>
          </a:prstGeom>
        </p:spPr>
      </p:pic>
      <p:cxnSp>
        <p:nvCxnSpPr>
          <p:cNvPr id="15" name="Connector 14"/>
          <p:cNvCxnSpPr/>
          <p:nvPr/>
        </p:nvCxnSpPr>
        <p:spPr>
          <a:xfrm>
            <a:off x="1508760" y="4184626"/>
            <a:ext cx="914400" cy="47798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120618"/>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598600"/>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138906"/>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507160"/>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601936"/>
            <a:ext cx="786384" cy="121345"/>
          </a:xfrm>
          <a:prstGeom prst="rect">
            <a:avLst/>
          </a:prstGeom>
        </p:spPr>
      </p:pic>
      <p:sp>
        <p:nvSpPr>
          <p:cNvPr id="21" name="TextBox 20"/>
          <p:cNvSpPr txBox="1"/>
          <p:nvPr/>
        </p:nvSpPr>
        <p:spPr>
          <a:xfrm>
            <a:off x="10972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84632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923544" y="5266944"/>
            <a:ext cx="2980944"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HBM 점유율</a:t>
            </a:r>
          </a:p>
        </p:txBody>
      </p:sp>
      <p:sp>
        <p:nvSpPr>
          <p:cNvPr id="24" name="Rounded Rectangle 23"/>
          <p:cNvSpPr/>
          <p:nvPr/>
        </p:nvSpPr>
        <p:spPr>
          <a:xfrm>
            <a:off x="4306824"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오프로드</a:t>
            </a:r>
          </a:p>
        </p:txBody>
      </p:sp>
      <p:sp>
        <p:nvSpPr>
          <p:cNvPr id="37" name="Rectangle 36"/>
          <p:cNvSpPr/>
          <p:nvPr/>
        </p:nvSpPr>
        <p:spPr>
          <a:xfrm>
            <a:off x="11192256"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쓰기 내구 (DWPD)</a:t>
            </a:r>
          </a:p>
        </p:txBody>
      </p:sp>
      <p:sp>
        <p:nvSpPr>
          <p:cNvPr id="39" name="Rounded Rectangle 38"/>
          <p:cNvSpPr/>
          <p:nvPr/>
        </p:nvSpPr>
        <p:spPr>
          <a:xfrm>
            <a:off x="14360652" y="2121408"/>
            <a:ext cx="3204972" cy="3474720"/>
          </a:xfrm>
          <a:prstGeom prst="roundRect">
            <a:avLst>
              <a:gd name="adj" fmla="val 2282"/>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5065776"/>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5120640"/>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553712"/>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55263"/>
            <a:ext cx="365760" cy="9875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62656"/>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27939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924250"/>
            <a:ext cx="365760" cy="3185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631642"/>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27939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248071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221096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a:t>
            </a:r>
          </a:p>
        </p:txBody>
      </p:sp>
      <p:sp>
        <p:nvSpPr>
          <p:cNvPr id="81" name="Rectangle 80"/>
          <p:cNvSpPr/>
          <p:nvPr/>
        </p:nvSpPr>
        <p:spPr>
          <a:xfrm>
            <a:off x="12855083"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12585335"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a:t>
            </a:r>
          </a:p>
        </p:txBody>
      </p:sp>
      <p:sp>
        <p:nvSpPr>
          <p:cNvPr id="83" name="Rectangle 82"/>
          <p:cNvSpPr/>
          <p:nvPr/>
        </p:nvSpPr>
        <p:spPr>
          <a:xfrm>
            <a:off x="13229452" y="2944368"/>
            <a:ext cx="9144" cy="13898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2959704" y="4352544"/>
            <a:ext cx="548640"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100</a:t>
            </a:r>
          </a:p>
        </p:txBody>
      </p:sp>
      <p:sp>
        <p:nvSpPr>
          <p:cNvPr id="85" name="TextBox 84"/>
          <p:cNvSpPr txBox="1"/>
          <p:nvPr/>
        </p:nvSpPr>
        <p:spPr>
          <a:xfrm>
            <a:off x="11192256" y="29809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QLC 정격</a:t>
            </a:r>
          </a:p>
        </p:txBody>
      </p:sp>
      <p:sp>
        <p:nvSpPr>
          <p:cNvPr id="86" name="Rectangle 85"/>
          <p:cNvSpPr/>
          <p:nvPr/>
        </p:nvSpPr>
        <p:spPr>
          <a:xfrm>
            <a:off x="12289536" y="3017520"/>
            <a:ext cx="112696" cy="2926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2457096" y="29809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0.6</a:t>
            </a:r>
          </a:p>
        </p:txBody>
      </p:sp>
      <p:sp>
        <p:nvSpPr>
          <p:cNvPr id="88" name="TextBox 87"/>
          <p:cNvSpPr txBox="1"/>
          <p:nvPr/>
        </p:nvSpPr>
        <p:spPr>
          <a:xfrm>
            <a:off x="11192256" y="3438144"/>
            <a:ext cx="1042415" cy="365760"/>
          </a:xfrm>
          <a:prstGeom prst="rect">
            <a:avLst/>
          </a:prstGeom>
          <a:noFill/>
        </p:spPr>
        <p:txBody>
          <a:bodyPr wrap="square" anchor="ctr" lIns="0" rIns="0" tIns="0" bIns="0">
            <a:spAutoFit/>
          </a:bodyPr>
          <a:lstStyle/>
          <a:p>
            <a:pPr algn="l">
              <a:lnSpc>
                <a:spcPct val="110000"/>
              </a:lnSpc>
            </a:pPr>
            <a:r>
              <a:rPr sz="1800" b="0">
                <a:solidFill>
                  <a:srgbClr val="1A1A1A"/>
                </a:solidFill>
                <a:latin typeface="Arial"/>
                <a:ea typeface="Arial"/>
              </a:rPr>
              <a:t>KV 실측</a:t>
            </a:r>
          </a:p>
        </p:txBody>
      </p:sp>
      <p:sp>
        <p:nvSpPr>
          <p:cNvPr id="89" name="Rectangle 88"/>
          <p:cNvSpPr/>
          <p:nvPr/>
        </p:nvSpPr>
        <p:spPr>
          <a:xfrm>
            <a:off x="12289536" y="3474720"/>
            <a:ext cx="384862" cy="29260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2729262" y="3438144"/>
            <a:ext cx="8686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3.2</a:t>
            </a:r>
          </a:p>
        </p:txBody>
      </p:sp>
      <p:sp>
        <p:nvSpPr>
          <p:cNvPr id="91" name="TextBox 90"/>
          <p:cNvSpPr txBox="1"/>
          <p:nvPr/>
        </p:nvSpPr>
        <p:spPr>
          <a:xfrm>
            <a:off x="11192256" y="3895344"/>
            <a:ext cx="1042415"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전용</a:t>
            </a:r>
          </a:p>
        </p:txBody>
      </p:sp>
      <p:sp>
        <p:nvSpPr>
          <p:cNvPr id="92" name="Rectangle 91"/>
          <p:cNvSpPr/>
          <p:nvPr/>
        </p:nvSpPr>
        <p:spPr>
          <a:xfrm>
            <a:off x="12289536" y="3931920"/>
            <a:ext cx="974131" cy="2926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3107612" y="3895344"/>
            <a:ext cx="27432" cy="365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3318531" y="3895344"/>
            <a:ext cx="868680" cy="365760"/>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50~120</a:t>
            </a:r>
          </a:p>
        </p:txBody>
      </p:sp>
      <p:sp>
        <p:nvSpPr>
          <p:cNvPr id="95" name="Rectangle 94"/>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6" name="TextBox 125"/>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7" name="Rectangle 126"/>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9" name="TextBox 128"/>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30" name="Rectangle 129"/>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32" name="TextBox 131"/>
          <p:cNvSpPr txBox="1"/>
          <p:nvPr/>
        </p:nvSpPr>
        <p:spPr>
          <a:xfrm>
            <a:off x="722376" y="5724144"/>
            <a:ext cx="886968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SSD 제품군  </a:t>
            </a:r>
            <a:r>
              <a:rPr sz="1600" b="0">
                <a:solidFill>
                  <a:srgbClr val="555555"/>
                </a:solidFill>
                <a:latin typeface="Arial"/>
                <a:ea typeface="Arial"/>
              </a:rPr>
              <a:t>DWPD · 최대 용량</a:t>
            </a:r>
          </a:p>
        </p:txBody>
      </p:sp>
      <p:sp>
        <p:nvSpPr>
          <p:cNvPr id="133" name="TextBox 132"/>
          <p:cNvSpPr txBox="1"/>
          <p:nvPr/>
        </p:nvSpPr>
        <p:spPr>
          <a:xfrm>
            <a:off x="12079224" y="5724144"/>
            <a:ext cx="5486400" cy="292608"/>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지금 쓰는 곳   </a:t>
            </a:r>
            <a:r>
              <a:rPr sz="1600" b="0">
                <a:solidFill>
                  <a:srgbClr val="1428A0"/>
                </a:solidFill>
                <a:latin typeface="Arial"/>
                <a:ea typeface="Arial"/>
              </a:rPr>
              <a:t>▢</a:t>
            </a:r>
            <a:r>
              <a:rPr sz="1600" b="0">
                <a:solidFill>
                  <a:srgbClr val="555555"/>
                </a:solidFill>
                <a:latin typeface="Arial"/>
                <a:ea typeface="Arial"/>
              </a:rPr>
              <a:t> 신호에 따라 쓰일 곳</a:t>
            </a:r>
          </a:p>
        </p:txBody>
      </p:sp>
      <p:sp>
        <p:nvSpPr>
          <p:cNvPr id="134" name="Rounded Rectangle 133"/>
          <p:cNvSpPr/>
          <p:nvPr/>
        </p:nvSpPr>
        <p:spPr>
          <a:xfrm>
            <a:off x="722376" y="6053328"/>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923544" y="6071616"/>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SLC급</a:t>
            </a:r>
          </a:p>
        </p:txBody>
      </p:sp>
      <p:sp>
        <p:nvSpPr>
          <p:cNvPr id="136" name="TextBox 135"/>
          <p:cNvSpPr txBox="1"/>
          <p:nvPr/>
        </p:nvSpPr>
        <p:spPr>
          <a:xfrm>
            <a:off x="2916936" y="6071616"/>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3.2TB</a:t>
            </a:r>
          </a:p>
        </p:txBody>
      </p:sp>
      <p:sp>
        <p:nvSpPr>
          <p:cNvPr id="137" name="Rectangle 136"/>
          <p:cNvSpPr/>
          <p:nvPr/>
        </p:nvSpPr>
        <p:spPr>
          <a:xfrm>
            <a:off x="923544" y="6437376"/>
            <a:ext cx="2127598"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2621425" y="6409944"/>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106006" y="6355080"/>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30~120</a:t>
            </a:r>
          </a:p>
        </p:txBody>
      </p:sp>
      <p:sp>
        <p:nvSpPr>
          <p:cNvPr id="140" name="Rounded Rectangle 139"/>
          <p:cNvSpPr/>
          <p:nvPr/>
        </p:nvSpPr>
        <p:spPr>
          <a:xfrm>
            <a:off x="4306824"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ounded Rectangle 140"/>
          <p:cNvSpPr/>
          <p:nvPr/>
        </p:nvSpPr>
        <p:spPr>
          <a:xfrm>
            <a:off x="7658100"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ounded Rectangle 141"/>
          <p:cNvSpPr/>
          <p:nvPr/>
        </p:nvSpPr>
        <p:spPr>
          <a:xfrm>
            <a:off x="11009376" y="6053328"/>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1064240" y="6053328"/>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초고DWPD KV</a:t>
            </a:r>
          </a:p>
        </p:txBody>
      </p:sp>
      <p:sp>
        <p:nvSpPr>
          <p:cNvPr id="144" name="Rounded Rectangle 143"/>
          <p:cNvSpPr/>
          <p:nvPr/>
        </p:nvSpPr>
        <p:spPr>
          <a:xfrm>
            <a:off x="14360652" y="6053328"/>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ounded Rectangle 144"/>
          <p:cNvSpPr/>
          <p:nvPr/>
        </p:nvSpPr>
        <p:spPr>
          <a:xfrm>
            <a:off x="722376" y="6684264"/>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923544" y="6702552"/>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고내구 TLC</a:t>
            </a:r>
          </a:p>
        </p:txBody>
      </p:sp>
      <p:sp>
        <p:nvSpPr>
          <p:cNvPr id="147" name="TextBox 146"/>
          <p:cNvSpPr txBox="1"/>
          <p:nvPr/>
        </p:nvSpPr>
        <p:spPr>
          <a:xfrm>
            <a:off x="2916936" y="6702552"/>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12.8TB</a:t>
            </a:r>
          </a:p>
        </p:txBody>
      </p:sp>
      <p:sp>
        <p:nvSpPr>
          <p:cNvPr id="148" name="Rectangle 147"/>
          <p:cNvSpPr/>
          <p:nvPr/>
        </p:nvSpPr>
        <p:spPr>
          <a:xfrm>
            <a:off x="923544" y="7068312"/>
            <a:ext cx="1020635" cy="146304"/>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1999043" y="6986016"/>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3</a:t>
            </a:r>
          </a:p>
        </p:txBody>
      </p:sp>
      <p:sp>
        <p:nvSpPr>
          <p:cNvPr id="150" name="Rounded Rectangle 149"/>
          <p:cNvSpPr/>
          <p:nvPr/>
        </p:nvSpPr>
        <p:spPr>
          <a:xfrm>
            <a:off x="4306824"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Rounded Rectangle 150"/>
          <p:cNvSpPr/>
          <p:nvPr/>
        </p:nvSpPr>
        <p:spPr>
          <a:xfrm>
            <a:off x="7658100" y="6684264"/>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712964" y="6684264"/>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체크포인트</a:t>
            </a:r>
          </a:p>
        </p:txBody>
      </p:sp>
      <p:sp>
        <p:nvSpPr>
          <p:cNvPr id="153" name="Rounded Rectangle 152"/>
          <p:cNvSpPr/>
          <p:nvPr/>
        </p:nvSpPr>
        <p:spPr>
          <a:xfrm>
            <a:off x="11009376" y="6684264"/>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11064240" y="6684264"/>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쓰기 많을 때</a:t>
            </a:r>
          </a:p>
        </p:txBody>
      </p:sp>
      <p:sp>
        <p:nvSpPr>
          <p:cNvPr id="155" name="Rounded Rectangle 154"/>
          <p:cNvSpPr/>
          <p:nvPr/>
        </p:nvSpPr>
        <p:spPr>
          <a:xfrm>
            <a:off x="14360652" y="6684264"/>
            <a:ext cx="3204972" cy="566928"/>
          </a:xfrm>
          <a:prstGeom prst="roundRect">
            <a:avLst>
              <a:gd name="adj" fmla="val 12903"/>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Rounded Rectangle 155"/>
          <p:cNvSpPr/>
          <p:nvPr/>
        </p:nvSpPr>
        <p:spPr>
          <a:xfrm>
            <a:off x="722376" y="7315200"/>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923544" y="7333488"/>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고성능 · 범용 TLC</a:t>
            </a:r>
          </a:p>
        </p:txBody>
      </p:sp>
      <p:sp>
        <p:nvSpPr>
          <p:cNvPr id="158" name="TextBox 157"/>
          <p:cNvSpPr txBox="1"/>
          <p:nvPr/>
        </p:nvSpPr>
        <p:spPr>
          <a:xfrm>
            <a:off x="2916936" y="7333488"/>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15.36TB</a:t>
            </a:r>
          </a:p>
        </p:txBody>
      </p:sp>
      <p:sp>
        <p:nvSpPr>
          <p:cNvPr id="159" name="Rectangle 158"/>
          <p:cNvSpPr/>
          <p:nvPr/>
        </p:nvSpPr>
        <p:spPr>
          <a:xfrm>
            <a:off x="923544" y="7699248"/>
            <a:ext cx="690962"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TextBox 159"/>
          <p:cNvSpPr txBox="1"/>
          <p:nvPr/>
        </p:nvSpPr>
        <p:spPr>
          <a:xfrm>
            <a:off x="1669370" y="7616952"/>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a:t>
            </a:r>
          </a:p>
        </p:txBody>
      </p:sp>
      <p:sp>
        <p:nvSpPr>
          <p:cNvPr id="161" name="Rounded Rectangle 160"/>
          <p:cNvSpPr/>
          <p:nvPr/>
        </p:nvSpPr>
        <p:spPr>
          <a:xfrm>
            <a:off x="4306824"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4361688"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VM · DB 블록</a:t>
            </a:r>
          </a:p>
        </p:txBody>
      </p:sp>
      <p:sp>
        <p:nvSpPr>
          <p:cNvPr id="163" name="Rounded Rectangle 162"/>
          <p:cNvSpPr/>
          <p:nvPr/>
        </p:nvSpPr>
        <p:spPr>
          <a:xfrm>
            <a:off x="7658100"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7712964"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 로딩</a:t>
            </a:r>
          </a:p>
        </p:txBody>
      </p:sp>
      <p:sp>
        <p:nvSpPr>
          <p:cNvPr id="165" name="Rounded Rectangle 164"/>
          <p:cNvSpPr/>
          <p:nvPr/>
        </p:nvSpPr>
        <p:spPr>
          <a:xfrm>
            <a:off x="11009376" y="7315200"/>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11064240" y="7315200"/>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계층 (CMX)</a:t>
            </a:r>
          </a:p>
        </p:txBody>
      </p:sp>
      <p:sp>
        <p:nvSpPr>
          <p:cNvPr id="167" name="Rounded Rectangle 166"/>
          <p:cNvSpPr/>
          <p:nvPr/>
        </p:nvSpPr>
        <p:spPr>
          <a:xfrm>
            <a:off x="14360652" y="7315200"/>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14415516" y="7315200"/>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기동 버스트</a:t>
            </a:r>
          </a:p>
        </p:txBody>
      </p:sp>
      <p:sp>
        <p:nvSpPr>
          <p:cNvPr id="169" name="Rounded Rectangle 168"/>
          <p:cNvSpPr/>
          <p:nvPr/>
        </p:nvSpPr>
        <p:spPr>
          <a:xfrm>
            <a:off x="722376" y="7946136"/>
            <a:ext cx="3383280" cy="566928"/>
          </a:xfrm>
          <a:prstGeom prst="roundRect">
            <a:avLst>
              <a:gd name="adj" fmla="val 1290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923544" y="7964423"/>
            <a:ext cx="2194560" cy="310896"/>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고용량 QLC</a:t>
            </a:r>
          </a:p>
        </p:txBody>
      </p:sp>
      <p:sp>
        <p:nvSpPr>
          <p:cNvPr id="171" name="TextBox 170"/>
          <p:cNvSpPr txBox="1"/>
          <p:nvPr/>
        </p:nvSpPr>
        <p:spPr>
          <a:xfrm>
            <a:off x="2916936" y="7964423"/>
            <a:ext cx="1042415"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 245TB</a:t>
            </a:r>
          </a:p>
        </p:txBody>
      </p:sp>
      <p:sp>
        <p:nvSpPr>
          <p:cNvPr id="172" name="Rectangle 171"/>
          <p:cNvSpPr/>
          <p:nvPr/>
        </p:nvSpPr>
        <p:spPr>
          <a:xfrm>
            <a:off x="923544" y="8330183"/>
            <a:ext cx="537673"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Rectangle 172"/>
          <p:cNvSpPr/>
          <p:nvPr/>
        </p:nvSpPr>
        <p:spPr>
          <a:xfrm>
            <a:off x="1239500" y="8302752"/>
            <a:ext cx="27432" cy="20116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1516081" y="8247888"/>
            <a:ext cx="914400" cy="292608"/>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0.3~0.6</a:t>
            </a:r>
          </a:p>
        </p:txBody>
      </p:sp>
      <p:sp>
        <p:nvSpPr>
          <p:cNvPr id="175" name="Rounded Rectangle 174"/>
          <p:cNvSpPr/>
          <p:nvPr/>
        </p:nvSpPr>
        <p:spPr>
          <a:xfrm>
            <a:off x="4306824"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4361688"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객체 · 콜드 데이터</a:t>
            </a:r>
          </a:p>
        </p:txBody>
      </p:sp>
      <p:sp>
        <p:nvSpPr>
          <p:cNvPr id="177" name="Rounded Rectangle 176"/>
          <p:cNvSpPr/>
          <p:nvPr/>
        </p:nvSpPr>
        <p:spPr>
          <a:xfrm>
            <a:off x="7658100"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7712964"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데이터셋</a:t>
            </a:r>
          </a:p>
        </p:txBody>
      </p:sp>
      <p:sp>
        <p:nvSpPr>
          <p:cNvPr id="179" name="Rounded Rectangle 178"/>
          <p:cNvSpPr/>
          <p:nvPr/>
        </p:nvSpPr>
        <p:spPr>
          <a:xfrm>
            <a:off x="11009376" y="7946136"/>
            <a:ext cx="3204972" cy="566928"/>
          </a:xfrm>
          <a:prstGeom prst="roundRect">
            <a:avLst>
              <a:gd name="adj" fmla="val 12903"/>
            </a:avLst>
          </a:prstGeom>
          <a:solidFill>
            <a:srgbClr val="FFFFFF"/>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TextBox 179"/>
          <p:cNvSpPr txBox="1"/>
          <p:nvPr/>
        </p:nvSpPr>
        <p:spPr>
          <a:xfrm>
            <a:off x="11064240" y="7946136"/>
            <a:ext cx="3095244" cy="56692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읽기 위주 KV</a:t>
            </a:r>
          </a:p>
        </p:txBody>
      </p:sp>
      <p:sp>
        <p:nvSpPr>
          <p:cNvPr id="181" name="Rounded Rectangle 180"/>
          <p:cNvSpPr/>
          <p:nvPr/>
        </p:nvSpPr>
        <p:spPr>
          <a:xfrm>
            <a:off x="14360652" y="7946136"/>
            <a:ext cx="3204972" cy="566928"/>
          </a:xfrm>
          <a:prstGeom prst="roundRect">
            <a:avLst>
              <a:gd name="adj" fmla="val 1290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14415516" y="7946136"/>
            <a:ext cx="3095244" cy="566928"/>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사용자 VM 디스크 · 상태</a:t>
            </a:r>
          </a:p>
        </p:txBody>
      </p:sp>
      <p:sp>
        <p:nvSpPr>
          <p:cNvPr id="183" name="Rectangle 182"/>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85" name="TextBox 184"/>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다양한 데이터센터 응용에 대응하려면, SLC부터 QLC까지 다양한 제품 포트폴리오가 필요합니다</a:t>
            </a:r>
          </a:p>
        </p:txBody>
      </p:sp>
      <p:sp>
        <p:nvSpPr>
          <p:cNvPr id="186" name="TextBox 18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과제팀 집계 · 공유 SSD p99 FlashBlox(FAST'17) · GPU당 대역 NVIDIA SuperPOD 가이드(환산) · KV 실측 StorageReview(2026-08) · AI 전용 Kioxia · DapuStor · 에이전트 Google Agent Substrate · Muse 관측(제3자) · 제품군 사양 Kioxia FL6 · LC9, Solidigm PS1010 · PS1030</a:t>
            </a:r>
          </a:p>
        </p:txBody>
      </p:sp>
      <p:sp>
        <p:nvSpPr>
          <p:cNvPr id="187" name="TextBox 18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4  핵심 기술</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핵심 기술 여섯 가지 중 다섯은 명확한 스펙으로 풀리지만,</a:t>
            </a:r>
          </a:p>
          <a:p>
            <a:pPr algn="l">
              <a:lnSpc>
                <a:spcPct val="105000"/>
              </a:lnSpc>
            </a:pPr>
            <a:r>
              <a:rPr sz="3200" b="1">
                <a:solidFill>
                  <a:srgbClr val="1A1A1A"/>
                </a:solidFill>
                <a:latin typeface="Arial"/>
                <a:ea typeface="Arial"/>
              </a:rPr>
              <a:t>FDP는 고객과 함께 설계해야 제대로 동작합니다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704088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어떤 제품군에 쓰이나</a:t>
            </a:r>
          </a:p>
        </p:txBody>
      </p:sp>
      <p:sp>
        <p:nvSpPr>
          <p:cNvPr id="7" name="TextBox 6"/>
          <p:cNvSpPr txBox="1"/>
          <p:nvPr/>
        </p:nvSpPr>
        <p:spPr>
          <a:xfrm>
            <a:off x="722376" y="2560320"/>
            <a:ext cx="3566160" cy="274320"/>
          </a:xfrm>
          <a:prstGeom prst="rect">
            <a:avLst/>
          </a:prstGeom>
          <a:noFill/>
        </p:spPr>
        <p:txBody>
          <a:bodyPr wrap="square" anchor="ctr" lIns="0" rIns="0" tIns="0" bIns="0">
            <a:spAutoFit/>
          </a:bodyPr>
          <a:lstStyle/>
          <a:p>
            <a:pPr algn="l">
              <a:lnSpc>
                <a:spcPct val="110000"/>
              </a:lnSpc>
            </a:pPr>
            <a:r>
              <a:rPr sz="1600" b="0">
                <a:solidFill>
                  <a:srgbClr val="3C5AC8"/>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8" name="TextBox 7"/>
          <p:cNvSpPr txBox="1"/>
          <p:nvPr/>
        </p:nvSpPr>
        <p:spPr>
          <a:xfrm>
            <a:off x="428853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SLC급</a:t>
            </a:r>
          </a:p>
        </p:txBody>
      </p:sp>
      <p:sp>
        <p:nvSpPr>
          <p:cNvPr id="9" name="TextBox 8"/>
          <p:cNvSpPr txBox="1"/>
          <p:nvPr/>
        </p:nvSpPr>
        <p:spPr>
          <a:xfrm>
            <a:off x="515721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고내구</a:t>
            </a:r>
          </a:p>
          <a:p>
            <a:pPr algn="ctr">
              <a:lnSpc>
                <a:spcPct val="100000"/>
              </a:lnSpc>
            </a:pPr>
            <a:r>
              <a:rPr sz="1600" b="0">
                <a:solidFill>
                  <a:srgbClr val="555555"/>
                </a:solidFill>
                <a:latin typeface="Arial"/>
                <a:ea typeface="Arial"/>
              </a:rPr>
              <a:t>TLC</a:t>
            </a:r>
          </a:p>
        </p:txBody>
      </p:sp>
      <p:sp>
        <p:nvSpPr>
          <p:cNvPr id="10" name="TextBox 9"/>
          <p:cNvSpPr txBox="1"/>
          <p:nvPr/>
        </p:nvSpPr>
        <p:spPr>
          <a:xfrm>
            <a:off x="6025896"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고성능</a:t>
            </a:r>
          </a:p>
          <a:p>
            <a:pPr algn="ctr">
              <a:lnSpc>
                <a:spcPct val="100000"/>
              </a:lnSpc>
            </a:pPr>
            <a:r>
              <a:rPr sz="1600" b="0">
                <a:solidFill>
                  <a:srgbClr val="555555"/>
                </a:solidFill>
                <a:latin typeface="Arial"/>
                <a:ea typeface="Arial"/>
              </a:rPr>
              <a:t>TLC</a:t>
            </a:r>
          </a:p>
        </p:txBody>
      </p:sp>
      <p:sp>
        <p:nvSpPr>
          <p:cNvPr id="11" name="TextBox 10"/>
          <p:cNvSpPr txBox="1"/>
          <p:nvPr/>
        </p:nvSpPr>
        <p:spPr>
          <a:xfrm>
            <a:off x="6894575" y="2523744"/>
            <a:ext cx="868680" cy="47548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고용량</a:t>
            </a:r>
          </a:p>
          <a:p>
            <a:pPr algn="ctr">
              <a:lnSpc>
                <a:spcPct val="100000"/>
              </a:lnSpc>
            </a:pPr>
            <a:r>
              <a:rPr sz="1600" b="0">
                <a:solidFill>
                  <a:srgbClr val="555555"/>
                </a:solidFill>
                <a:latin typeface="Arial"/>
                <a:ea typeface="Arial"/>
              </a:rPr>
              <a:t>QLC</a:t>
            </a:r>
          </a:p>
        </p:txBody>
      </p:sp>
      <p:sp>
        <p:nvSpPr>
          <p:cNvPr id="12" name="Rounded Rectangle 11"/>
          <p:cNvSpPr/>
          <p:nvPr/>
        </p:nvSpPr>
        <p:spPr>
          <a:xfrm>
            <a:off x="722376" y="3017520"/>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5256" y="3072384"/>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Fault Tolerant</a:t>
            </a:r>
          </a:p>
        </p:txBody>
      </p:sp>
      <p:sp>
        <p:nvSpPr>
          <p:cNvPr id="14" name="TextBox 13"/>
          <p:cNvSpPr txBox="1"/>
          <p:nvPr/>
        </p:nvSpPr>
        <p:spPr>
          <a:xfrm>
            <a:off x="905256" y="3438144"/>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다이 · 플레인 고장 격리</a:t>
            </a:r>
          </a:p>
        </p:txBody>
      </p:sp>
      <p:sp>
        <p:nvSpPr>
          <p:cNvPr id="15" name="Oval 14"/>
          <p:cNvSpPr/>
          <p:nvPr/>
        </p:nvSpPr>
        <p:spPr>
          <a:xfrm>
            <a:off x="6304788" y="3255264"/>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73467" y="325526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22376" y="3877056"/>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5256" y="3931920"/>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Large Mapping</a:t>
            </a:r>
          </a:p>
        </p:txBody>
      </p:sp>
      <p:sp>
        <p:nvSpPr>
          <p:cNvPr id="19" name="TextBox 18"/>
          <p:cNvSpPr txBox="1"/>
          <p:nvPr/>
        </p:nvSpPr>
        <p:spPr>
          <a:xfrm>
            <a:off x="905256" y="4297680"/>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매핑 단위 4KB → 8~64KB</a:t>
            </a:r>
          </a:p>
        </p:txBody>
      </p:sp>
      <p:sp>
        <p:nvSpPr>
          <p:cNvPr id="20" name="Oval 19"/>
          <p:cNvSpPr/>
          <p:nvPr/>
        </p:nvSpPr>
        <p:spPr>
          <a:xfrm>
            <a:off x="7173467" y="4114800"/>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22376" y="4736592"/>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5256" y="4791455"/>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Mixed Media</a:t>
            </a:r>
          </a:p>
        </p:txBody>
      </p:sp>
      <p:sp>
        <p:nvSpPr>
          <p:cNvPr id="23" name="TextBox 22"/>
          <p:cNvSpPr txBox="1"/>
          <p:nvPr/>
        </p:nvSpPr>
        <p:spPr>
          <a:xfrm>
            <a:off x="905256" y="5157216"/>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pSLC + QLC 네임스페이스 분리</a:t>
            </a:r>
          </a:p>
        </p:txBody>
      </p:sp>
      <p:sp>
        <p:nvSpPr>
          <p:cNvPr id="24" name="Oval 23"/>
          <p:cNvSpPr/>
          <p:nvPr/>
        </p:nvSpPr>
        <p:spPr>
          <a:xfrm>
            <a:off x="7173467" y="4974336"/>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22376" y="5596127"/>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5650991"/>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Multi-Tenant QoS</a:t>
            </a:r>
          </a:p>
        </p:txBody>
      </p:sp>
      <p:sp>
        <p:nvSpPr>
          <p:cNvPr id="27" name="TextBox 26"/>
          <p:cNvSpPr txBox="1"/>
          <p:nvPr/>
        </p:nvSpPr>
        <p:spPr>
          <a:xfrm>
            <a:off x="905256" y="6016751"/>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네임스페이스 QoS 격리</a:t>
            </a:r>
          </a:p>
        </p:txBody>
      </p:sp>
      <p:sp>
        <p:nvSpPr>
          <p:cNvPr id="28" name="Oval 27"/>
          <p:cNvSpPr/>
          <p:nvPr/>
        </p:nvSpPr>
        <p:spPr>
          <a:xfrm>
            <a:off x="5436107" y="5833871"/>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04788"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7173467" y="5833871"/>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22376" y="6455664"/>
            <a:ext cx="7040880" cy="786384"/>
          </a:xfrm>
          <a:prstGeom prst="roundRect">
            <a:avLst>
              <a:gd name="adj" fmla="val 9302"/>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6510527"/>
            <a:ext cx="3337560" cy="36576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FDP</a:t>
            </a:r>
          </a:p>
        </p:txBody>
      </p:sp>
      <p:sp>
        <p:nvSpPr>
          <p:cNvPr id="33" name="TextBox 32"/>
          <p:cNvSpPr txBox="1"/>
          <p:nvPr/>
        </p:nvSpPr>
        <p:spPr>
          <a:xfrm>
            <a:off x="905256" y="6876288"/>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RUH · RG 배치 정책</a:t>
            </a:r>
          </a:p>
        </p:txBody>
      </p:sp>
      <p:sp>
        <p:nvSpPr>
          <p:cNvPr id="34" name="Oval 33"/>
          <p:cNvSpPr/>
          <p:nvPr/>
        </p:nvSpPr>
        <p:spPr>
          <a:xfrm>
            <a:off x="456742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43610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04788" y="6693407"/>
            <a:ext cx="310896" cy="310896"/>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7173467" y="6693407"/>
            <a:ext cx="310896" cy="31089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22376" y="7315199"/>
            <a:ext cx="7040880" cy="786384"/>
          </a:xfrm>
          <a:prstGeom prst="roundRect">
            <a:avLst>
              <a:gd name="adj" fmla="val 9302"/>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5256" y="7370063"/>
            <a:ext cx="3337560"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Confidential Storage</a:t>
            </a:r>
          </a:p>
        </p:txBody>
      </p:sp>
      <p:sp>
        <p:nvSpPr>
          <p:cNvPr id="40" name="TextBox 39"/>
          <p:cNvSpPr txBox="1"/>
          <p:nvPr/>
        </p:nvSpPr>
        <p:spPr>
          <a:xfrm>
            <a:off x="905256" y="7735823"/>
            <a:ext cx="333756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RoT · 암호화 · 증명</a:t>
            </a:r>
          </a:p>
        </p:txBody>
      </p:sp>
      <p:sp>
        <p:nvSpPr>
          <p:cNvPr id="41" name="Oval 40"/>
          <p:cNvSpPr/>
          <p:nvPr/>
        </p:nvSpPr>
        <p:spPr>
          <a:xfrm>
            <a:off x="6304788"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7173467" y="7552944"/>
            <a:ext cx="310896" cy="310896"/>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74736" y="2139696"/>
            <a:ext cx="9390888" cy="36576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고객과 어떻게 협력하나</a:t>
            </a:r>
          </a:p>
        </p:txBody>
      </p:sp>
      <p:sp>
        <p:nvSpPr>
          <p:cNvPr id="44" name="Rectangle 43"/>
          <p:cNvSpPr/>
          <p:nvPr/>
        </p:nvSpPr>
        <p:spPr>
          <a:xfrm>
            <a:off x="8449056" y="3017520"/>
            <a:ext cx="9070848" cy="466344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1136714" y="4866815"/>
            <a:ext cx="6383189" cy="2814144"/>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3992352" y="3017520"/>
            <a:ext cx="3527551" cy="1849295"/>
          </a:xfrm>
          <a:prstGeom prst="rect">
            <a:avLst/>
          </a:prstGeom>
          <a:solidFill>
            <a:srgbClr val="EEF1FA"/>
          </a:solidFill>
          <a:ln w="254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4138656" y="3108960"/>
            <a:ext cx="274320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공동 설계 필수</a:t>
            </a:r>
          </a:p>
        </p:txBody>
      </p:sp>
      <p:sp>
        <p:nvSpPr>
          <p:cNvPr id="48" name="TextBox 47"/>
          <p:cNvSpPr txBox="1"/>
          <p:nvPr/>
        </p:nvSpPr>
        <p:spPr>
          <a:xfrm>
            <a:off x="11283018" y="4958255"/>
            <a:ext cx="27432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스펙으로 협력</a:t>
            </a:r>
          </a:p>
        </p:txBody>
      </p:sp>
      <p:sp>
        <p:nvSpPr>
          <p:cNvPr id="49" name="TextBox 48"/>
          <p:cNvSpPr txBox="1"/>
          <p:nvPr/>
        </p:nvSpPr>
        <p:spPr>
          <a:xfrm>
            <a:off x="8558784" y="4958255"/>
            <a:ext cx="182880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안에서</a:t>
            </a:r>
          </a:p>
        </p:txBody>
      </p:sp>
      <p:sp>
        <p:nvSpPr>
          <p:cNvPr id="50" name="Rectangle 49"/>
          <p:cNvSpPr/>
          <p:nvPr/>
        </p:nvSpPr>
        <p:spPr>
          <a:xfrm>
            <a:off x="8449056" y="7671816"/>
            <a:ext cx="9070848" cy="2743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439912" y="3017520"/>
            <a:ext cx="27432" cy="466344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449056" y="7735824"/>
            <a:ext cx="9070848" cy="310896"/>
          </a:xfrm>
          <a:prstGeom prst="rect">
            <a:avLst/>
          </a:prstGeom>
          <a:noFill/>
        </p:spPr>
        <p:txBody>
          <a:bodyPr wrap="square" anchor="ctr" lIns="0" rIns="0" tIns="0" bIns="0">
            <a:spAutoFit/>
          </a:bodyPr>
          <a:lstStyle/>
          <a:p>
            <a:pPr algn="r">
              <a:lnSpc>
                <a:spcPct val="110000"/>
              </a:lnSpc>
            </a:pPr>
            <a:r>
              <a:rPr sz="1600" b="1">
                <a:solidFill>
                  <a:srgbClr val="555555"/>
                </a:solidFill>
                <a:latin typeface="Arial"/>
                <a:ea typeface="Arial"/>
              </a:rPr>
              <a:t>고객 시스템과 함께 설계되는 정도  →</a:t>
            </a:r>
          </a:p>
        </p:txBody>
      </p:sp>
      <p:sp>
        <p:nvSpPr>
          <p:cNvPr id="53" name="TextBox 52"/>
          <p:cNvSpPr txBox="1"/>
          <p:nvPr/>
        </p:nvSpPr>
        <p:spPr>
          <a:xfrm>
            <a:off x="8174736" y="2633472"/>
            <a:ext cx="4206240" cy="310896"/>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  스펙만으로는 안 닫힘</a:t>
            </a:r>
          </a:p>
        </p:txBody>
      </p:sp>
      <p:sp>
        <p:nvSpPr>
          <p:cNvPr id="54" name="Oval 53"/>
          <p:cNvSpPr/>
          <p:nvPr/>
        </p:nvSpPr>
        <p:spPr>
          <a:xfrm>
            <a:off x="9292336"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712960" y="701565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Fault Tolerant</a:t>
            </a:r>
          </a:p>
        </p:txBody>
      </p:sp>
      <p:sp>
        <p:nvSpPr>
          <p:cNvPr id="56" name="Oval 55"/>
          <p:cNvSpPr/>
          <p:nvPr/>
        </p:nvSpPr>
        <p:spPr>
          <a:xfrm>
            <a:off x="12315952" y="529721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736576" y="5278925"/>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Large Mapping</a:t>
            </a:r>
          </a:p>
        </p:txBody>
      </p:sp>
      <p:sp>
        <p:nvSpPr>
          <p:cNvPr id="58" name="Oval 57"/>
          <p:cNvSpPr/>
          <p:nvPr/>
        </p:nvSpPr>
        <p:spPr>
          <a:xfrm>
            <a:off x="12819888" y="5747476"/>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3240511" y="5729188"/>
            <a:ext cx="2926080" cy="36576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Multi-Tenant QoS</a:t>
            </a:r>
          </a:p>
        </p:txBody>
      </p:sp>
      <p:sp>
        <p:nvSpPr>
          <p:cNvPr id="60" name="Oval 59"/>
          <p:cNvSpPr/>
          <p:nvPr/>
        </p:nvSpPr>
        <p:spPr>
          <a:xfrm>
            <a:off x="16011482" y="5506264"/>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4164394" y="5103928"/>
            <a:ext cx="237744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Mixed Media</a:t>
            </a:r>
          </a:p>
        </p:txBody>
      </p:sp>
      <p:sp>
        <p:nvSpPr>
          <p:cNvPr id="62" name="Oval 61"/>
          <p:cNvSpPr/>
          <p:nvPr/>
        </p:nvSpPr>
        <p:spPr>
          <a:xfrm>
            <a:off x="16011482" y="7033943"/>
            <a:ext cx="329184" cy="3291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993962" y="7015655"/>
            <a:ext cx="2926080" cy="365760"/>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Confidential Storage</a:t>
            </a:r>
          </a:p>
        </p:txBody>
      </p:sp>
      <p:sp>
        <p:nvSpPr>
          <p:cNvPr id="64" name="Oval 63"/>
          <p:cNvSpPr/>
          <p:nvPr/>
        </p:nvSpPr>
        <p:spPr>
          <a:xfrm>
            <a:off x="16304903" y="3740211"/>
            <a:ext cx="548640" cy="548640"/>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5664823" y="3319587"/>
            <a:ext cx="1828800" cy="384048"/>
          </a:xfrm>
          <a:prstGeom prst="rect">
            <a:avLst/>
          </a:prstGeom>
          <a:noFill/>
        </p:spPr>
        <p:txBody>
          <a:bodyPr wrap="square" anchor="ctr" lIns="0" rIns="0" tIns="0" bIns="0">
            <a:spAutoFit/>
          </a:bodyPr>
          <a:lstStyle/>
          <a:p>
            <a:pPr algn="ctr">
              <a:lnSpc>
                <a:spcPct val="110000"/>
              </a:lnSpc>
            </a:pPr>
            <a:r>
              <a:rPr sz="2400" b="1">
                <a:solidFill>
                  <a:srgbClr val="1428A0"/>
                </a:solidFill>
                <a:latin typeface="Arial"/>
                <a:ea typeface="Arial"/>
              </a:rPr>
              <a:t>FDP</a:t>
            </a:r>
          </a:p>
        </p:txBody>
      </p:sp>
      <p:sp>
        <p:nvSpPr>
          <p:cNvPr id="66" name="TextBox 65"/>
          <p:cNvSpPr txBox="1"/>
          <p:nvPr/>
        </p:nvSpPr>
        <p:spPr>
          <a:xfrm>
            <a:off x="14138656" y="3842687"/>
            <a:ext cx="2194560"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CacheLib WAF</a:t>
            </a:r>
          </a:p>
        </p:txBody>
      </p:sp>
      <p:sp>
        <p:nvSpPr>
          <p:cNvPr id="67" name="TextBox 66"/>
          <p:cNvSpPr txBox="1"/>
          <p:nvPr/>
        </p:nvSpPr>
        <p:spPr>
          <a:xfrm>
            <a:off x="14138656" y="4117007"/>
            <a:ext cx="6400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혼자</a:t>
            </a:r>
          </a:p>
        </p:txBody>
      </p:sp>
      <p:sp>
        <p:nvSpPr>
          <p:cNvPr id="68" name="Rectangle 67"/>
          <p:cNvSpPr/>
          <p:nvPr/>
        </p:nvSpPr>
        <p:spPr>
          <a:xfrm>
            <a:off x="14778736" y="4181015"/>
            <a:ext cx="1051560" cy="1828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5885160" y="4117007"/>
            <a:ext cx="73152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3.22</a:t>
            </a:r>
          </a:p>
        </p:txBody>
      </p:sp>
      <p:sp>
        <p:nvSpPr>
          <p:cNvPr id="70" name="TextBox 69"/>
          <p:cNvSpPr txBox="1"/>
          <p:nvPr/>
        </p:nvSpPr>
        <p:spPr>
          <a:xfrm>
            <a:off x="14138656" y="4446191"/>
            <a:ext cx="6400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a:t>
            </a:r>
          </a:p>
        </p:txBody>
      </p:sp>
      <p:sp>
        <p:nvSpPr>
          <p:cNvPr id="71" name="Rectangle 70"/>
          <p:cNvSpPr/>
          <p:nvPr/>
        </p:nvSpPr>
        <p:spPr>
          <a:xfrm>
            <a:off x="14778736" y="4510199"/>
            <a:ext cx="33636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5169968" y="4446191"/>
            <a:ext cx="73152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1.03</a:t>
            </a:r>
          </a:p>
        </p:txBody>
      </p:sp>
      <p:sp>
        <p:nvSpPr>
          <p:cNvPr id="73" name="Rectangle 72"/>
          <p:cNvSpPr/>
          <p:nvPr/>
        </p:nvSpPr>
        <p:spPr>
          <a:xfrm>
            <a:off x="722376" y="859536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088136" y="859536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75" name="TextBox 74"/>
          <p:cNvSpPr txBox="1"/>
          <p:nvPr/>
        </p:nvSpPr>
        <p:spPr>
          <a:xfrm>
            <a:off x="2322576" y="8595360"/>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스펙을 정확히 받든 함께 설계하든, 핵심 기술을 제대로 확보하려면 고객과의 협력이 필수입니다</a:t>
            </a:r>
          </a:p>
        </p:txBody>
      </p:sp>
      <p:sp>
        <p:nvSpPr>
          <p:cNvPr id="76" name="TextBox 75"/>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Meta 반영) · 같은 FDP 지원 장치에서도 결과가 갈림(WARP FAST'26) · RUH · RG 출하 시 고정(NVMe FDP) · 제품군 적합도와 협력 깊이는 과제팀 판단(위키 ssd-core-technologies-customer-collaboration)</a:t>
            </a:r>
          </a:p>
        </p:txBody>
      </p:sp>
      <p:sp>
        <p:nvSpPr>
          <p:cNvPr id="77" name="TextBox 76"/>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4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76272"/>
            <a:ext cx="25146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성능  </a:t>
            </a:r>
            <a:r>
              <a:rPr sz="2400" b="1">
                <a:solidFill>
                  <a:srgbClr val="1A1A1A"/>
                </a:solidFill>
                <a:latin typeface="Arial"/>
                <a:ea typeface="Arial"/>
              </a:rPr>
              <a:t>×90</a:t>
            </a:r>
          </a:p>
        </p:txBody>
      </p:sp>
      <p:sp>
        <p:nvSpPr>
          <p:cNvPr id="7" name="TextBox 6"/>
          <p:cNvSpPr txBox="1"/>
          <p:nvPr/>
        </p:nvSpPr>
        <p:spPr>
          <a:xfrm>
            <a:off x="722376"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랜덤 읽기 IOPS</a:t>
            </a:r>
          </a:p>
        </p:txBody>
      </p:sp>
      <p:sp>
        <p:nvSpPr>
          <p:cNvPr id="8" name="Rectangle 7"/>
          <p:cNvSpPr/>
          <p:nvPr/>
        </p:nvSpPr>
        <p:spPr>
          <a:xfrm>
            <a:off x="813816"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flipV="1">
            <a:off x="1269873" y="3672982"/>
            <a:ext cx="354901" cy="559537"/>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1624774" y="3504544"/>
            <a:ext cx="473202" cy="168438"/>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097976" y="3380412"/>
            <a:ext cx="354902" cy="12413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452878" y="3312946"/>
            <a:ext cx="236601" cy="67466"/>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689479" y="3137254"/>
            <a:ext cx="236601" cy="17569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1219581" y="4182227"/>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74482" y="3622690"/>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047684" y="345425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402586" y="3330120"/>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39187" y="3262654"/>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2875788" y="308696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4113" y="4287383"/>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75K</a:t>
            </a:r>
          </a:p>
        </p:txBody>
      </p:sp>
      <p:sp>
        <p:nvSpPr>
          <p:cNvPr id="21" name="TextBox 20"/>
          <p:cNvSpPr txBox="1"/>
          <p:nvPr/>
        </p:nvSpPr>
        <p:spPr>
          <a:xfrm>
            <a:off x="2286000" y="2753206"/>
            <a:ext cx="822960" cy="292608"/>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6.8M</a:t>
            </a:r>
          </a:p>
        </p:txBody>
      </p:sp>
      <p:sp>
        <p:nvSpPr>
          <p:cNvPr id="22" name="TextBox 21"/>
          <p:cNvSpPr txBox="1"/>
          <p:nvPr/>
        </p:nvSpPr>
        <p:spPr>
          <a:xfrm>
            <a:off x="713232"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23" name="TextBox 22"/>
          <p:cNvSpPr txBox="1"/>
          <p:nvPr/>
        </p:nvSpPr>
        <p:spPr>
          <a:xfrm>
            <a:off x="2606040"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24" name="TextBox 23"/>
          <p:cNvSpPr txBox="1"/>
          <p:nvPr/>
        </p:nvSpPr>
        <p:spPr>
          <a:xfrm>
            <a:off x="3438144" y="2176272"/>
            <a:ext cx="25146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전력 효율  </a:t>
            </a:r>
            <a:r>
              <a:rPr sz="2400" b="1">
                <a:solidFill>
                  <a:srgbClr val="1A1A1A"/>
                </a:solidFill>
                <a:latin typeface="Arial"/>
                <a:ea typeface="Arial"/>
              </a:rPr>
              <a:t>×13</a:t>
            </a:r>
          </a:p>
        </p:txBody>
      </p:sp>
      <p:sp>
        <p:nvSpPr>
          <p:cNvPr id="25" name="TextBox 24"/>
          <p:cNvSpPr txBox="1"/>
          <p:nvPr/>
        </p:nvSpPr>
        <p:spPr>
          <a:xfrm>
            <a:off x="3438144"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MB/s per W</a:t>
            </a:r>
          </a:p>
        </p:txBody>
      </p:sp>
      <p:sp>
        <p:nvSpPr>
          <p:cNvPr id="26" name="Rectangle 25"/>
          <p:cNvSpPr/>
          <p:nvPr/>
        </p:nvSpPr>
        <p:spPr>
          <a:xfrm>
            <a:off x="3529584"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3985641" y="4028451"/>
            <a:ext cx="354901" cy="148590"/>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4340542" y="3644375"/>
            <a:ext cx="473202" cy="384076"/>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813744" y="3439968"/>
            <a:ext cx="354902" cy="204407"/>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168646" y="3213846"/>
            <a:ext cx="473202" cy="22612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3935349" y="412674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290250" y="397815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763452" y="3594083"/>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5118354" y="3389676"/>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591556" y="3163554"/>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19881" y="4231905"/>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83</a:t>
            </a:r>
          </a:p>
        </p:txBody>
      </p:sp>
      <p:sp>
        <p:nvSpPr>
          <p:cNvPr id="37" name="TextBox 36"/>
          <p:cNvSpPr txBox="1"/>
          <p:nvPr/>
        </p:nvSpPr>
        <p:spPr>
          <a:xfrm>
            <a:off x="5001768" y="2829798"/>
            <a:ext cx="822960" cy="292608"/>
          </a:xfrm>
          <a:prstGeom prst="rect">
            <a:avLst/>
          </a:prstGeom>
          <a:noFill/>
        </p:spPr>
        <p:txBody>
          <a:bodyPr wrap="square" anchor="ctr" lIns="0" rIns="0" tIns="0" bIns="0">
            <a:spAutoFit/>
          </a:bodyPr>
          <a:lstStyle/>
          <a:p>
            <a:pPr algn="r">
              <a:lnSpc>
                <a:spcPct val="110000"/>
              </a:lnSpc>
            </a:pPr>
            <a:r>
              <a:rPr sz="1800" b="1">
                <a:solidFill>
                  <a:srgbClr val="1A1A1A"/>
                </a:solidFill>
                <a:latin typeface="Arial"/>
                <a:ea typeface="Arial"/>
              </a:rPr>
              <a:t>1,120</a:t>
            </a:r>
          </a:p>
        </p:txBody>
      </p:sp>
      <p:sp>
        <p:nvSpPr>
          <p:cNvPr id="38" name="TextBox 37"/>
          <p:cNvSpPr txBox="1"/>
          <p:nvPr/>
        </p:nvSpPr>
        <p:spPr>
          <a:xfrm>
            <a:off x="3429000"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39" name="TextBox 38"/>
          <p:cNvSpPr txBox="1"/>
          <p:nvPr/>
        </p:nvSpPr>
        <p:spPr>
          <a:xfrm>
            <a:off x="5321808"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40" name="TextBox 39"/>
          <p:cNvSpPr txBox="1"/>
          <p:nvPr/>
        </p:nvSpPr>
        <p:spPr>
          <a:xfrm>
            <a:off x="6153912" y="2176272"/>
            <a:ext cx="25146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가성비  </a:t>
            </a:r>
            <a:r>
              <a:rPr sz="2400" b="1">
                <a:solidFill>
                  <a:srgbClr val="1A1A1A"/>
                </a:solidFill>
                <a:latin typeface="Arial"/>
                <a:ea typeface="Arial"/>
              </a:rPr>
              <a:t>×24</a:t>
            </a:r>
          </a:p>
        </p:txBody>
      </p:sp>
      <p:sp>
        <p:nvSpPr>
          <p:cNvPr id="41" name="TextBox 40"/>
          <p:cNvSpPr txBox="1"/>
          <p:nvPr/>
        </p:nvSpPr>
        <p:spPr>
          <a:xfrm>
            <a:off x="6153912"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1달러당 NAND GB</a:t>
            </a:r>
          </a:p>
        </p:txBody>
      </p:sp>
      <p:sp>
        <p:nvSpPr>
          <p:cNvPr id="42" name="Rectangle 41"/>
          <p:cNvSpPr/>
          <p:nvPr/>
        </p:nvSpPr>
        <p:spPr>
          <a:xfrm>
            <a:off x="6245352"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Connector 42"/>
          <p:cNvCxnSpPr/>
          <p:nvPr/>
        </p:nvCxnSpPr>
        <p:spPr>
          <a:xfrm flipV="1">
            <a:off x="6464808" y="3894985"/>
            <a:ext cx="354901" cy="292146"/>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6819709" y="3710930"/>
            <a:ext cx="354902" cy="184055"/>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7174611" y="3639998"/>
            <a:ext cx="236601" cy="70932"/>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7411212" y="3454154"/>
            <a:ext cx="236601" cy="185844"/>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7647813" y="3371434"/>
            <a:ext cx="236601" cy="82720"/>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7884414" y="3192121"/>
            <a:ext cx="118300" cy="179313"/>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02714" y="3192121"/>
            <a:ext cx="118301" cy="113530"/>
          </a:xfrm>
          <a:prstGeom prst="line">
            <a:avLst/>
          </a:prstGeom>
          <a:ln w="28575">
            <a:solidFill>
              <a:srgbClr val="555555"/>
            </a:solidFill>
          </a:ln>
        </p:spPr>
        <p:style>
          <a:lnRef idx="2">
            <a:schemeClr val="accent1"/>
          </a:lnRef>
          <a:fillRef idx="0">
            <a:schemeClr val="accent1"/>
          </a:fillRef>
          <a:effectRef idx="1">
            <a:schemeClr val="accent1"/>
          </a:effectRef>
          <a:fontRef idx="minor">
            <a:schemeClr val="tx1"/>
          </a:fontRef>
        </p:style>
      </p:cxnSp>
      <p:sp>
        <p:nvSpPr>
          <p:cNvPr id="50" name="Oval 49"/>
          <p:cNvSpPr/>
          <p:nvPr/>
        </p:nvSpPr>
        <p:spPr>
          <a:xfrm>
            <a:off x="6414516" y="413683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6769417" y="3844693"/>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124319" y="3660638"/>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360920" y="3589706"/>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597521" y="340386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7834122" y="3321142"/>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7952422" y="314182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070723" y="3255359"/>
            <a:ext cx="100584" cy="100584"/>
          </a:xfrm>
          <a:prstGeom prst="ellipse">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099048" y="4241995"/>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0.56</a:t>
            </a:r>
          </a:p>
        </p:txBody>
      </p:sp>
      <p:sp>
        <p:nvSpPr>
          <p:cNvPr id="59" name="TextBox 58"/>
          <p:cNvSpPr txBox="1"/>
          <p:nvPr/>
        </p:nvSpPr>
        <p:spPr>
          <a:xfrm>
            <a:off x="8212454" y="3159347"/>
            <a:ext cx="457200" cy="29260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13</a:t>
            </a:r>
          </a:p>
        </p:txBody>
      </p:sp>
      <p:sp>
        <p:nvSpPr>
          <p:cNvPr id="60" name="TextBox 59"/>
          <p:cNvSpPr txBox="1"/>
          <p:nvPr/>
        </p:nvSpPr>
        <p:spPr>
          <a:xfrm>
            <a:off x="6144768"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61" name="TextBox 60"/>
          <p:cNvSpPr txBox="1"/>
          <p:nvPr/>
        </p:nvSpPr>
        <p:spPr>
          <a:xfrm>
            <a:off x="8037576"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62" name="TextBox 61"/>
          <p:cNvSpPr txBox="1"/>
          <p:nvPr/>
        </p:nvSpPr>
        <p:spPr>
          <a:xfrm>
            <a:off x="8869680" y="2176272"/>
            <a:ext cx="25146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DWPD  </a:t>
            </a:r>
            <a:r>
              <a:rPr sz="2400" b="1">
                <a:solidFill>
                  <a:srgbClr val="1428A0"/>
                </a:solidFill>
                <a:latin typeface="Arial"/>
                <a:ea typeface="Arial"/>
              </a:rPr>
              <a:t>10 → 1</a:t>
            </a:r>
          </a:p>
        </p:txBody>
      </p:sp>
      <p:sp>
        <p:nvSpPr>
          <p:cNvPr id="63" name="TextBox 62"/>
          <p:cNvSpPr txBox="1"/>
          <p:nvPr/>
        </p:nvSpPr>
        <p:spPr>
          <a:xfrm>
            <a:off x="8869680" y="2560320"/>
            <a:ext cx="251460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정격, 하루 쓰기 횟수</a:t>
            </a:r>
          </a:p>
        </p:txBody>
      </p:sp>
      <p:sp>
        <p:nvSpPr>
          <p:cNvPr id="64" name="Rectangle 63"/>
          <p:cNvSpPr/>
          <p:nvPr/>
        </p:nvSpPr>
        <p:spPr>
          <a:xfrm>
            <a:off x="8961119" y="4553712"/>
            <a:ext cx="23317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363580" y="3246984"/>
            <a:ext cx="709803" cy="295515"/>
          </a:xfrm>
          <a:prstGeom prst="rect">
            <a:avLst/>
          </a:prstGeom>
          <a:solidFill>
            <a:srgbClr val="EEF1FA"/>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36024" y="2963520"/>
            <a:ext cx="1828800" cy="256032"/>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캐시 3~7.2</a:t>
            </a:r>
          </a:p>
        </p:txBody>
      </p:sp>
      <p:cxnSp>
        <p:nvCxnSpPr>
          <p:cNvPr id="67" name="Connector 66"/>
          <p:cNvCxnSpPr/>
          <p:nvPr/>
        </p:nvCxnSpPr>
        <p:spPr>
          <a:xfrm>
            <a:off x="9417176" y="3136097"/>
            <a:ext cx="354902" cy="233972"/>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9772078" y="3370069"/>
            <a:ext cx="473202" cy="543268"/>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0245280" y="3913337"/>
            <a:ext cx="354902" cy="0"/>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10600182" y="3913337"/>
            <a:ext cx="236600" cy="0"/>
          </a:xfrm>
          <a:prstGeom prst="line">
            <a:avLst/>
          </a:prstGeom>
          <a:ln w="28575">
            <a:solidFill>
              <a:srgbClr val="1428A0"/>
            </a:solidFill>
          </a:ln>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9366884" y="308580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721786" y="3319777"/>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10194988" y="386304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10549890" y="386304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10786490" y="3863045"/>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6" name="Connector 75"/>
          <p:cNvCxnSpPr/>
          <p:nvPr/>
        </p:nvCxnSpPr>
        <p:spPr>
          <a:xfrm>
            <a:off x="10481881" y="4214297"/>
            <a:ext cx="354901" cy="153746"/>
          </a:xfrm>
          <a:prstGeom prst="line">
            <a:avLst/>
          </a:prstGeom>
          <a:ln w="28575">
            <a:solidFill>
              <a:srgbClr val="8A8A8A"/>
            </a:solidFill>
          </a:ln>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10431589" y="4164005"/>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0786490" y="4317751"/>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051416" y="3190961"/>
            <a:ext cx="731520" cy="256032"/>
          </a:xfrm>
          <a:prstGeom prst="rect">
            <a:avLst/>
          </a:prstGeom>
          <a:noFill/>
        </p:spPr>
        <p:txBody>
          <a:bodyPr wrap="square" anchor="ctr" lIns="0" rIns="0" tIns="0" bIns="0">
            <a:spAutoFit/>
          </a:bodyPr>
          <a:lstStyle/>
          <a:p>
            <a:pPr algn="ctr">
              <a:lnSpc>
                <a:spcPct val="110000"/>
              </a:lnSpc>
            </a:pPr>
            <a:r>
              <a:rPr sz="1600" b="0">
                <a:solidFill>
                  <a:srgbClr val="555555"/>
                </a:solidFill>
                <a:latin typeface="Arial"/>
                <a:ea typeface="Arial"/>
              </a:rPr>
              <a:t>10</a:t>
            </a:r>
          </a:p>
        </p:txBody>
      </p:sp>
      <p:sp>
        <p:nvSpPr>
          <p:cNvPr id="80" name="TextBox 79"/>
          <p:cNvSpPr txBox="1"/>
          <p:nvPr/>
        </p:nvSpPr>
        <p:spPr>
          <a:xfrm>
            <a:off x="10909934" y="3767033"/>
            <a:ext cx="365760" cy="292608"/>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a:t>
            </a:r>
          </a:p>
        </p:txBody>
      </p:sp>
      <p:sp>
        <p:nvSpPr>
          <p:cNvPr id="81" name="TextBox 80"/>
          <p:cNvSpPr txBox="1"/>
          <p:nvPr/>
        </p:nvSpPr>
        <p:spPr>
          <a:xfrm>
            <a:off x="9338881" y="4159551"/>
            <a:ext cx="109728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QLC 0.26</a:t>
            </a:r>
          </a:p>
        </p:txBody>
      </p:sp>
      <p:sp>
        <p:nvSpPr>
          <p:cNvPr id="82" name="TextBox 81"/>
          <p:cNvSpPr txBox="1"/>
          <p:nvPr/>
        </p:nvSpPr>
        <p:spPr>
          <a:xfrm>
            <a:off x="8860536"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2010</a:t>
            </a:r>
          </a:p>
        </p:txBody>
      </p:sp>
      <p:sp>
        <p:nvSpPr>
          <p:cNvPr id="83" name="TextBox 82"/>
          <p:cNvSpPr txBox="1"/>
          <p:nvPr/>
        </p:nvSpPr>
        <p:spPr>
          <a:xfrm>
            <a:off x="10753344" y="4572000"/>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84" name="Rounded Rectangle 83"/>
          <p:cNvSpPr/>
          <p:nvPr/>
        </p:nvSpPr>
        <p:spPr>
          <a:xfrm>
            <a:off x="722376" y="5669280"/>
            <a:ext cx="5074920" cy="2926080"/>
          </a:xfrm>
          <a:prstGeom prst="roundRect">
            <a:avLst>
              <a:gd name="adj" fmla="val 25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96696" y="5779008"/>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6" name="Rounded Rectangle 85"/>
          <p:cNvSpPr/>
          <p:nvPr/>
        </p:nvSpPr>
        <p:spPr>
          <a:xfrm>
            <a:off x="4242816" y="5852160"/>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79" y="5852160"/>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88" name="Picture 87" descr="render_nand.png"/>
          <p:cNvPicPr>
            <a:picLocks noChangeAspect="1"/>
          </p:cNvPicPr>
          <p:nvPr/>
        </p:nvPicPr>
        <p:blipFill>
          <a:blip r:embed="rId2"/>
          <a:stretch>
            <a:fillRect/>
          </a:stretch>
        </p:blipFill>
        <p:spPr>
          <a:xfrm>
            <a:off x="1132894" y="6601968"/>
            <a:ext cx="916323" cy="676656"/>
          </a:xfrm>
          <a:prstGeom prst="rect">
            <a:avLst/>
          </a:prstGeom>
        </p:spPr>
      </p:pic>
      <p:sp>
        <p:nvSpPr>
          <p:cNvPr id="89" name="Right Arrow 88"/>
          <p:cNvSpPr/>
          <p:nvPr/>
        </p:nvSpPr>
        <p:spPr>
          <a:xfrm>
            <a:off x="2240280" y="6830568"/>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render_ssd.png"/>
          <p:cNvPicPr>
            <a:picLocks noChangeAspect="1"/>
          </p:cNvPicPr>
          <p:nvPr/>
        </p:nvPicPr>
        <p:blipFill>
          <a:blip r:embed="rId3"/>
          <a:stretch>
            <a:fillRect/>
          </a:stretch>
        </p:blipFill>
        <p:spPr>
          <a:xfrm>
            <a:off x="2901799" y="6601968"/>
            <a:ext cx="1822496" cy="676656"/>
          </a:xfrm>
          <a:prstGeom prst="rect">
            <a:avLst/>
          </a:prstGeom>
        </p:spPr>
      </p:pic>
      <p:sp>
        <p:nvSpPr>
          <p:cNvPr id="91" name="TextBox 90"/>
          <p:cNvSpPr txBox="1"/>
          <p:nvPr/>
        </p:nvSpPr>
        <p:spPr>
          <a:xfrm>
            <a:off x="996696" y="7333488"/>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92" name="TextBox 91"/>
          <p:cNvSpPr txBox="1"/>
          <p:nvPr/>
        </p:nvSpPr>
        <p:spPr>
          <a:xfrm>
            <a:off x="996696" y="7973568"/>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93" name="Rounded Rectangle 92"/>
          <p:cNvSpPr/>
          <p:nvPr/>
        </p:nvSpPr>
        <p:spPr>
          <a:xfrm>
            <a:off x="5980176" y="5138928"/>
            <a:ext cx="5394960" cy="3456432"/>
          </a:xfrm>
          <a:prstGeom prst="roundRect">
            <a:avLst>
              <a:gd name="adj" fmla="val 211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254496" y="524865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95" name="Rounded Rectangle 94"/>
          <p:cNvSpPr/>
          <p:nvPr/>
        </p:nvSpPr>
        <p:spPr>
          <a:xfrm>
            <a:off x="9820656" y="532180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9875520" y="532180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97" name="Picture 96" descr="render_ssd.png"/>
          <p:cNvPicPr>
            <a:picLocks noChangeAspect="1"/>
          </p:cNvPicPr>
          <p:nvPr/>
        </p:nvPicPr>
        <p:blipFill>
          <a:blip r:embed="rId3"/>
          <a:stretch>
            <a:fillRect/>
          </a:stretch>
        </p:blipFill>
        <p:spPr>
          <a:xfrm>
            <a:off x="6292757" y="6163056"/>
            <a:ext cx="2118036" cy="786384"/>
          </a:xfrm>
          <a:prstGeom prst="rect">
            <a:avLst/>
          </a:prstGeom>
        </p:spPr>
      </p:pic>
      <p:sp>
        <p:nvSpPr>
          <p:cNvPr id="98" name="TextBox 97"/>
          <p:cNvSpPr txBox="1"/>
          <p:nvPr/>
        </p:nvSpPr>
        <p:spPr>
          <a:xfrm>
            <a:off x="6254496" y="7168896"/>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99" name="TextBox 98"/>
          <p:cNvSpPr txBox="1"/>
          <p:nvPr/>
        </p:nvSpPr>
        <p:spPr>
          <a:xfrm>
            <a:off x="6254496" y="7808975"/>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100" name="Rounded Rectangle 99"/>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102" name="Rounded Rectangle 101"/>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104" name="Picture 103"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105" name="Picture 104"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106" name="TextBox 105"/>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107" name="TextBox 106"/>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108" name="TextBox 107"/>
          <p:cNvSpPr txBox="1"/>
          <p:nvPr/>
        </p:nvSpPr>
        <p:spPr>
          <a:xfrm>
            <a:off x="8741664" y="5815584"/>
            <a:ext cx="2377440"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109" name="Rounded Rectangle 108"/>
          <p:cNvSpPr/>
          <p:nvPr/>
        </p:nvSpPr>
        <p:spPr>
          <a:xfrm>
            <a:off x="8741664" y="6217920"/>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869680" y="6217920"/>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111" name="Rounded Rectangle 110"/>
          <p:cNvSpPr/>
          <p:nvPr/>
        </p:nvSpPr>
        <p:spPr>
          <a:xfrm>
            <a:off x="8741664" y="6638544"/>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869680" y="6638544"/>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113" name="Rounded Rectangle 112"/>
          <p:cNvSpPr/>
          <p:nvPr/>
        </p:nvSpPr>
        <p:spPr>
          <a:xfrm>
            <a:off x="8741664" y="7059168"/>
            <a:ext cx="2377440" cy="365760"/>
          </a:xfrm>
          <a:prstGeom prst="roundRect">
            <a:avLst>
              <a:gd name="adj" fmla="val 20000"/>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8869680" y="7059168"/>
            <a:ext cx="2121408"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115" name="Rounded Rectangle 114"/>
          <p:cNvSpPr/>
          <p:nvPr/>
        </p:nvSpPr>
        <p:spPr>
          <a:xfrm>
            <a:off x="8741664" y="7479792"/>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869680" y="7479792"/>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117" name="Rounded Rectangle 116"/>
          <p:cNvSpPr/>
          <p:nvPr/>
        </p:nvSpPr>
        <p:spPr>
          <a:xfrm>
            <a:off x="8741664" y="7900416"/>
            <a:ext cx="2377440" cy="365760"/>
          </a:xfrm>
          <a:prstGeom prst="roundRect">
            <a:avLst>
              <a:gd name="adj" fmla="val 20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8869680" y="7900416"/>
            <a:ext cx="2121408" cy="36576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119" name="Rounded Rectangle 118"/>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1" name="Rectangle 120"/>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3" name="Rectangle 122"/>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5" name="Rectangle 124"/>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27" name="Picture 126" descr="google.png"/>
          <p:cNvPicPr>
            <a:picLocks noChangeAspect="1"/>
          </p:cNvPicPr>
          <p:nvPr/>
        </p:nvPicPr>
        <p:blipFill>
          <a:blip r:embed="rId5"/>
          <a:stretch>
            <a:fillRect/>
          </a:stretch>
        </p:blipFill>
        <p:spPr>
          <a:xfrm>
            <a:off x="12015216" y="6181344"/>
            <a:ext cx="836908" cy="274320"/>
          </a:xfrm>
          <a:prstGeom prst="rect">
            <a:avLst/>
          </a:prstGeom>
        </p:spPr>
      </p:pic>
      <p:sp>
        <p:nvSpPr>
          <p:cNvPr id="128" name="Rounded Rectangle 127"/>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0" name="Picture 129"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1" name="TextBox 130"/>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2" name="Rounded Rectangle 131"/>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4" name="Picture 133" descr="aws.png"/>
          <p:cNvPicPr>
            <a:picLocks noChangeAspect="1"/>
          </p:cNvPicPr>
          <p:nvPr/>
        </p:nvPicPr>
        <p:blipFill>
          <a:blip r:embed="rId7"/>
          <a:stretch>
            <a:fillRect/>
          </a:stretch>
        </p:blipFill>
        <p:spPr>
          <a:xfrm>
            <a:off x="12015216" y="7342632"/>
            <a:ext cx="611866" cy="365760"/>
          </a:xfrm>
          <a:prstGeom prst="rect">
            <a:avLst/>
          </a:prstGeom>
        </p:spPr>
      </p:pic>
      <p:sp>
        <p:nvSpPr>
          <p:cNvPr id="135" name="Rounded Rectangle 134"/>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37" name="Chevron 136"/>
          <p:cNvSpPr/>
          <p:nvPr/>
        </p:nvSpPr>
        <p:spPr>
          <a:xfrm>
            <a:off x="5815584" y="69494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Chevron 137"/>
          <p:cNvSpPr/>
          <p:nvPr/>
        </p:nvSpPr>
        <p:spPr>
          <a:xfrm>
            <a:off x="11393424" y="64922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1" name="TextBox 140"/>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2" name="TextBox 14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성장 원장(Intel · 삼성 · Micron 사양, NAND $/GB는 IBM 명목) · 고객 캐시 DWPD(Kangaroo · KV 실측 · Baleen) · 해법 사다리 원장 · 자체 설계 원장(Google · Alibaba · AWS) · 그래프 세로축은 로그 축 · 일부 수치는 검색 확인 · 부품 이미지는 3D 렌더</a:t>
            </a:r>
          </a:p>
        </p:txBody>
      </p:sp>
      <p:sp>
        <p:nvSpPr>
          <p:cNvPr id="143" name="TextBox 14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4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