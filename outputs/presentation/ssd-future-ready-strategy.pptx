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가장 높은 등급의 중앙값이 2011~2014년 10에서 2015~2018년 5, 2019년 이후 3으로 내려왔고, QLC는 0.2에서 0.6입니다. 셀이 견디는 쓰기가 SLC 10만 회에서 QLC 1천 회로 약 100배 줄었기 때문입니다. 전체 226개 등급으로 봐도 중앙값은 10에서 1로, 10 DWPD 이상 등급은 67퍼센트에서 0퍼센트가 됐습니다. 30 이상은 Optane, Z-SSD 같은 SLC · SCM 특수 제품뿐이라 이 그림에서는 뺐습니다. 고객 캐시 계층은 하루 3회에서 7.2회를 씁니다. 대용량 QLC로는 이 띠에 닿지 않습니다.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최고 등급 중앙값 </a:t>
            </a:r>
            <a:r>
              <a:rPr sz="2400" b="1">
                <a:solidFill>
                  <a:srgbClr val="1428A0"/>
                </a:solidFill>
                <a:latin typeface="Arial"/>
                <a:ea typeface="Arial"/>
              </a:rPr>
              <a:t>10 → 5 → 3</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0.1</a:t>
            </a:r>
          </a:p>
        </p:txBody>
      </p:sp>
      <p:sp>
        <p:nvSpPr>
          <p:cNvPr id="59" name="Rectangle 58"/>
          <p:cNvSpPr/>
          <p:nvPr/>
        </p:nvSpPr>
        <p:spPr>
          <a:xfrm>
            <a:off x="1289304" y="759012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45845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a:t>
            </a:r>
          </a:p>
        </p:txBody>
      </p:sp>
      <p:sp>
        <p:nvSpPr>
          <p:cNvPr id="61" name="Rectangle 60"/>
          <p:cNvSpPr/>
          <p:nvPr/>
        </p:nvSpPr>
        <p:spPr>
          <a:xfrm>
            <a:off x="1289304" y="6937857"/>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680618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3" name="Rectangle 62"/>
          <p:cNvSpPr/>
          <p:nvPr/>
        </p:nvSpPr>
        <p:spPr>
          <a:xfrm>
            <a:off x="1289304" y="628558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6153912"/>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100</a:t>
            </a:r>
          </a:p>
        </p:txBody>
      </p:sp>
      <p:sp>
        <p:nvSpPr>
          <p:cNvPr id="65" name="TextBox 64"/>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66" name="TextBox 65"/>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67" name="TextBox 66"/>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68" name="TextBox 67"/>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69" name="TextBox 68"/>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0" name="TextBox 69"/>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1" name="Rectangle 70"/>
          <p:cNvSpPr/>
          <p:nvPr/>
        </p:nvSpPr>
        <p:spPr>
          <a:xfrm>
            <a:off x="6570697" y="7036402"/>
            <a:ext cx="4667278" cy="248001"/>
          </a:xfrm>
          <a:prstGeom prst="rect">
            <a:avLst/>
          </a:prstGeom>
          <a:solidFill>
            <a:srgbClr val="EEF1FA"/>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860536" y="6752938"/>
            <a:ext cx="2377440" cy="256032"/>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캐시 요구 3~7.2</a:t>
            </a:r>
          </a:p>
        </p:txBody>
      </p:sp>
      <p:sp>
        <p:nvSpPr>
          <p:cNvPr id="73" name="Right Arrow 72"/>
          <p:cNvSpPr/>
          <p:nvPr/>
        </p:nvSpPr>
        <p:spPr>
          <a:xfrm rot="236725">
            <a:off x="1585128" y="7031736"/>
            <a:ext cx="9479846"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2111056" y="6893052"/>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39287" y="6893052"/>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5181633" y="7243714"/>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023980" y="7234111"/>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252211" y="7234111"/>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9480442" y="7234111"/>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795749" y="8001242"/>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638096" y="7797894"/>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866327" y="769963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798865" y="689305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4641212" y="7089405"/>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483558" y="7234111"/>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711789" y="7234111"/>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940021" y="7234111"/>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0168252" y="7234111"/>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0168252" y="7886383"/>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2258443" y="6893052"/>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100790" y="6633486"/>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5329021" y="6893052"/>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171368" y="6893052"/>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399599" y="7234111"/>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0241946" y="7234111"/>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0241946" y="7886383"/>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6630946" y="7234111"/>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7245062" y="7234111"/>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791715" y="6893052"/>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405831" y="64371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3634062" y="6633486"/>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5476409" y="6893052"/>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7318755" y="7234111"/>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775218" y="7234111"/>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389333" y="7842715"/>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2037362" y="689305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3265593" y="689305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3879708" y="708940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107940" y="708940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6336171" y="7234111"/>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8178517" y="7234111"/>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9406748" y="7234111"/>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6950286" y="8031088"/>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9406748" y="792692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17" name="Rectangle 116"/>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19" name="Rectangle 118"/>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1" name="Rectangle 120"/>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23" name="Picture 122" descr="google.png"/>
          <p:cNvPicPr>
            <a:picLocks noChangeAspect="1"/>
          </p:cNvPicPr>
          <p:nvPr/>
        </p:nvPicPr>
        <p:blipFill>
          <a:blip r:embed="rId5"/>
          <a:stretch>
            <a:fillRect/>
          </a:stretch>
        </p:blipFill>
        <p:spPr>
          <a:xfrm>
            <a:off x="12015216" y="6181344"/>
            <a:ext cx="836908" cy="274320"/>
          </a:xfrm>
          <a:prstGeom prst="rect">
            <a:avLst/>
          </a:prstGeom>
        </p:spPr>
      </p:pic>
      <p:sp>
        <p:nvSpPr>
          <p:cNvPr id="124" name="Rounded Rectangle 123"/>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26" name="Picture 125"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27" name="TextBox 126"/>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28" name="Rounded Rectangle 127"/>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0" name="Picture 129" descr="aws.png"/>
          <p:cNvPicPr>
            <a:picLocks noChangeAspect="1"/>
          </p:cNvPicPr>
          <p:nvPr/>
        </p:nvPicPr>
        <p:blipFill>
          <a:blip r:embed="rId7"/>
          <a:stretch>
            <a:fillRect/>
          </a:stretch>
        </p:blipFill>
        <p:spPr>
          <a:xfrm>
            <a:off x="12015216" y="7342632"/>
            <a:ext cx="611866" cy="365760"/>
          </a:xfrm>
          <a:prstGeom prst="rect">
            <a:avLst/>
          </a:prstGeom>
        </p:spPr>
      </p:pic>
      <p:sp>
        <p:nvSpPr>
          <p:cNvPr id="131" name="Rounded Rectangle 130"/>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33" name="Chevron 132"/>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Chevron 133"/>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37" name="TextBox 136"/>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38" name="TextBox 1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중 세대 대표의 최고 내구 등급 33개 · QLC 8개, 3년 보증은 5년으로 환산, QLC는 랜덤 쓰기, SLC · SCM 특수 제품 제외) · 고객 캐시 DWPD(Kangaroo · KV 실측 · Baleen) · 해법 사다리 원장 · 자체 설계 원장 · 세로축 로그 · 일부 수치 검색 확인 · 부품 이미지는 3D 렌더</a:t>
            </a:r>
          </a:p>
        </p:txBody>
      </p:sp>
      <p:sp>
        <p:nvSpPr>
          <p:cNvPr id="139" name="TextBox 1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