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고객 캐시 계층은 하루 3회에서 7.2회를 씁니다. 대용량 QLC로는 이 띠에 닿지 않습니다.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4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474720"/>
          </a:xfrm>
          <a:prstGeom prst="roundRect">
            <a:avLst>
              <a:gd name="adj" fmla="val 216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27426"/>
            <a:ext cx="914400" cy="249382"/>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912800"/>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6341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11632"/>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7197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608554"/>
            <a:ext cx="452374" cy="237744"/>
          </a:xfrm>
          <a:prstGeom prst="rect">
            <a:avLst/>
          </a:prstGeom>
        </p:spPr>
      </p:pic>
      <p:cxnSp>
        <p:nvCxnSpPr>
          <p:cNvPr id="15" name="Connector 14"/>
          <p:cNvCxnSpPr/>
          <p:nvPr/>
        </p:nvCxnSpPr>
        <p:spPr>
          <a:xfrm>
            <a:off x="1508760" y="4184626"/>
            <a:ext cx="914400" cy="47798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120618"/>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598600"/>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8906"/>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507160"/>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601936"/>
            <a:ext cx="786384" cy="121345"/>
          </a:xfrm>
          <a:prstGeom prst="rect">
            <a:avLst/>
          </a:prstGeom>
        </p:spPr>
      </p:pic>
      <p:sp>
        <p:nvSpPr>
          <p:cNvPr id="21" name="TextBox 20"/>
          <p:cNvSpPr txBox="1"/>
          <p:nvPr/>
        </p:nvSpPr>
        <p:spPr>
          <a:xfrm>
            <a:off x="10972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923544" y="5266944"/>
            <a:ext cx="2980944"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HBM 점유율</a:t>
            </a:r>
          </a:p>
        </p:txBody>
      </p:sp>
      <p:sp>
        <p:nvSpPr>
          <p:cNvPr id="24" name="Rounded Rectangle 23"/>
          <p:cNvSpPr/>
          <p:nvPr/>
        </p:nvSpPr>
        <p:spPr>
          <a:xfrm>
            <a:off x="4306824"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553712"/>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55263"/>
            <a:ext cx="365760" cy="9875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62656"/>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27939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924250"/>
            <a:ext cx="365760" cy="3185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631642"/>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27939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724144"/>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33" name="TextBox 132"/>
          <p:cNvSpPr txBox="1"/>
          <p:nvPr/>
        </p:nvSpPr>
        <p:spPr>
          <a:xfrm>
            <a:off x="12079224" y="5724144"/>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34" name="Rounded Rectangle 133"/>
          <p:cNvSpPr/>
          <p:nvPr/>
        </p:nvSpPr>
        <p:spPr>
          <a:xfrm>
            <a:off x="722376" y="6053328"/>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23544" y="607161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36" name="TextBox 135"/>
          <p:cNvSpPr txBox="1"/>
          <p:nvPr/>
        </p:nvSpPr>
        <p:spPr>
          <a:xfrm>
            <a:off x="2916936" y="607161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37" name="Rectangle 136"/>
          <p:cNvSpPr/>
          <p:nvPr/>
        </p:nvSpPr>
        <p:spPr>
          <a:xfrm>
            <a:off x="923544" y="6437376"/>
            <a:ext cx="212759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2621425" y="6409944"/>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106006" y="635508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40" name="Rounded Rectangle 139"/>
          <p:cNvSpPr/>
          <p:nvPr/>
        </p:nvSpPr>
        <p:spPr>
          <a:xfrm>
            <a:off x="4306824"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ounded Rectangle 140"/>
          <p:cNvSpPr/>
          <p:nvPr/>
        </p:nvSpPr>
        <p:spPr>
          <a:xfrm>
            <a:off x="7658100"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ounded Rectangle 141"/>
          <p:cNvSpPr/>
          <p:nvPr/>
        </p:nvSpPr>
        <p:spPr>
          <a:xfrm>
            <a:off x="11009376" y="6053328"/>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064240" y="6053328"/>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44" name="Rounded Rectangle 143"/>
          <p:cNvSpPr/>
          <p:nvPr/>
        </p:nvSpPr>
        <p:spPr>
          <a:xfrm>
            <a:off x="14360652"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le 144"/>
          <p:cNvSpPr/>
          <p:nvPr/>
        </p:nvSpPr>
        <p:spPr>
          <a:xfrm>
            <a:off x="722376" y="6684264"/>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923544" y="670255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47" name="TextBox 146"/>
          <p:cNvSpPr txBox="1"/>
          <p:nvPr/>
        </p:nvSpPr>
        <p:spPr>
          <a:xfrm>
            <a:off x="2916936" y="670255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48" name="Rectangle 147"/>
          <p:cNvSpPr/>
          <p:nvPr/>
        </p:nvSpPr>
        <p:spPr>
          <a:xfrm>
            <a:off x="923544" y="7068312"/>
            <a:ext cx="1020635"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999043" y="698601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50" name="Rounded Rectangle 149"/>
          <p:cNvSpPr/>
          <p:nvPr/>
        </p:nvSpPr>
        <p:spPr>
          <a:xfrm>
            <a:off x="4306824"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7658100" y="6684264"/>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7712964" y="6684264"/>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53" name="Rounded Rectangle 152"/>
          <p:cNvSpPr/>
          <p:nvPr/>
        </p:nvSpPr>
        <p:spPr>
          <a:xfrm>
            <a:off x="11009376" y="6684264"/>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1064240" y="6684264"/>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55" name="Rounded Rectangle 154"/>
          <p:cNvSpPr/>
          <p:nvPr/>
        </p:nvSpPr>
        <p:spPr>
          <a:xfrm>
            <a:off x="14360652"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ounded Rectangle 155"/>
          <p:cNvSpPr/>
          <p:nvPr/>
        </p:nvSpPr>
        <p:spPr>
          <a:xfrm>
            <a:off x="722376" y="7315200"/>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923544" y="7333488"/>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58" name="TextBox 157"/>
          <p:cNvSpPr txBox="1"/>
          <p:nvPr/>
        </p:nvSpPr>
        <p:spPr>
          <a:xfrm>
            <a:off x="2916936" y="7333488"/>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59" name="Rectangle 158"/>
          <p:cNvSpPr/>
          <p:nvPr/>
        </p:nvSpPr>
        <p:spPr>
          <a:xfrm>
            <a:off x="923544" y="7699248"/>
            <a:ext cx="690962"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669370" y="7616952"/>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61" name="Rounded Rectangle 160"/>
          <p:cNvSpPr/>
          <p:nvPr/>
        </p:nvSpPr>
        <p:spPr>
          <a:xfrm>
            <a:off x="4306824"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4361688"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63" name="Rounded Rectangle 162"/>
          <p:cNvSpPr/>
          <p:nvPr/>
        </p:nvSpPr>
        <p:spPr>
          <a:xfrm>
            <a:off x="7658100"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7712964"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65" name="Rounded Rectangle 164"/>
          <p:cNvSpPr/>
          <p:nvPr/>
        </p:nvSpPr>
        <p:spPr>
          <a:xfrm>
            <a:off x="11009376"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1064240"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67" name="Rounded Rectangle 166"/>
          <p:cNvSpPr/>
          <p:nvPr/>
        </p:nvSpPr>
        <p:spPr>
          <a:xfrm>
            <a:off x="14360652" y="7315200"/>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4415516" y="7315200"/>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69" name="Rounded Rectangle 168"/>
          <p:cNvSpPr/>
          <p:nvPr/>
        </p:nvSpPr>
        <p:spPr>
          <a:xfrm>
            <a:off x="722376" y="7946136"/>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923544" y="7964423"/>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71" name="TextBox 170"/>
          <p:cNvSpPr txBox="1"/>
          <p:nvPr/>
        </p:nvSpPr>
        <p:spPr>
          <a:xfrm>
            <a:off x="2916936" y="7964423"/>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72" name="Rectangle 171"/>
          <p:cNvSpPr/>
          <p:nvPr/>
        </p:nvSpPr>
        <p:spPr>
          <a:xfrm>
            <a:off x="923544" y="8330183"/>
            <a:ext cx="537673"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239500" y="8302752"/>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516081" y="8247888"/>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75" name="Rounded Rectangle 174"/>
          <p:cNvSpPr/>
          <p:nvPr/>
        </p:nvSpPr>
        <p:spPr>
          <a:xfrm>
            <a:off x="4306824"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4361688"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77" name="Rounded Rectangle 176"/>
          <p:cNvSpPr/>
          <p:nvPr/>
        </p:nvSpPr>
        <p:spPr>
          <a:xfrm>
            <a:off x="7658100"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7712964"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79" name="Rounded Rectangle 178"/>
          <p:cNvSpPr/>
          <p:nvPr/>
        </p:nvSpPr>
        <p:spPr>
          <a:xfrm>
            <a:off x="11009376" y="7946136"/>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064240" y="7946136"/>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81" name="Rounded Rectangle 180"/>
          <p:cNvSpPr/>
          <p:nvPr/>
        </p:nvSpPr>
        <p:spPr>
          <a:xfrm>
            <a:off x="14360652"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14415516"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183" name="Rectangle 182"/>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85" name="TextBox 184"/>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186" name="TextBox 18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HBM 과제팀 집계 · 공유 SSD p99 FlashBlox(FAST'17) · GPU당 대역 NVIDIA SuperPOD 가이드(환산) · KV 실측 StorageReview(2026-08) · AI 전용 Kioxia · DapuStor · 에이전트 Google Agent Substrate · Muse 관측(제3자) · 제품군 사양 Kioxia FL6 · LC9, Solidigm PS1010 · PS1030</a:t>
            </a:r>
          </a:p>
        </p:txBody>
      </p:sp>
      <p:sp>
        <p:nvSpPr>
          <p:cNvPr id="187" name="TextBox 18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4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4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0.1</a:t>
            </a:r>
          </a:p>
        </p:txBody>
      </p:sp>
      <p:sp>
        <p:nvSpPr>
          <p:cNvPr id="59" name="Rectangle 58"/>
          <p:cNvSpPr/>
          <p:nvPr/>
        </p:nvSpPr>
        <p:spPr>
          <a:xfrm>
            <a:off x="1289304" y="759012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45845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a:t>
            </a:r>
          </a:p>
        </p:txBody>
      </p:sp>
      <p:sp>
        <p:nvSpPr>
          <p:cNvPr id="61" name="Rectangle 60"/>
          <p:cNvSpPr/>
          <p:nvPr/>
        </p:nvSpPr>
        <p:spPr>
          <a:xfrm>
            <a:off x="1289304" y="6937857"/>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680618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3" name="Rectangle 62"/>
          <p:cNvSpPr/>
          <p:nvPr/>
        </p:nvSpPr>
        <p:spPr>
          <a:xfrm>
            <a:off x="1289304" y="628558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6153912"/>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100</a:t>
            </a:r>
          </a:p>
        </p:txBody>
      </p:sp>
      <p:sp>
        <p:nvSpPr>
          <p:cNvPr id="65" name="TextBox 64"/>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66" name="TextBox 65"/>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67" name="TextBox 66"/>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68" name="TextBox 67"/>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69" name="TextBox 68"/>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0" name="TextBox 69"/>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1" name="Rectangle 70"/>
          <p:cNvSpPr/>
          <p:nvPr/>
        </p:nvSpPr>
        <p:spPr>
          <a:xfrm>
            <a:off x="6570697" y="7036402"/>
            <a:ext cx="4667278" cy="248001"/>
          </a:xfrm>
          <a:prstGeom prst="rect">
            <a:avLst/>
          </a:prstGeom>
          <a:solidFill>
            <a:srgbClr val="EEF1FA"/>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860536" y="6752938"/>
            <a:ext cx="2377440" cy="256032"/>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캐시 요구 3~7.2</a:t>
            </a:r>
          </a:p>
        </p:txBody>
      </p:sp>
      <p:sp>
        <p:nvSpPr>
          <p:cNvPr id="73" name="Right Arrow 72"/>
          <p:cNvSpPr/>
          <p:nvPr/>
        </p:nvSpPr>
        <p:spPr>
          <a:xfrm rot="236725">
            <a:off x="1585128" y="7031736"/>
            <a:ext cx="9479846"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2111056" y="6893052"/>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39287" y="6893052"/>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5181633" y="7243714"/>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7023980" y="7234111"/>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252211" y="7234111"/>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9480442" y="7234111"/>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5795749" y="8001242"/>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7638096" y="7797894"/>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8866327" y="769963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798865" y="689305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4641212" y="7089405"/>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483558" y="7234111"/>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7711789" y="7234111"/>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940021" y="7234111"/>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0168252" y="7234111"/>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0168252" y="7886383"/>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2258443" y="6893052"/>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100790" y="6633486"/>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5329021" y="6893052"/>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7171368" y="6893052"/>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399599" y="7234111"/>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0241946" y="7234111"/>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0241946" y="7886383"/>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6630946" y="7234111"/>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7245062" y="7234111"/>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791715" y="6893052"/>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405831" y="64371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3634062" y="6633486"/>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5476409" y="6893052"/>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7318755" y="7234111"/>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9775218" y="7234111"/>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389333" y="7842715"/>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2037362" y="689305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3265593" y="689305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3879708" y="7089405"/>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107940" y="7089405"/>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6336171" y="7234111"/>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8178517" y="7234111"/>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9406748" y="7234111"/>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6950286" y="8031088"/>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9406748" y="792692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ounded Rectangle 114"/>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17" name="Rectangle 116"/>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19" name="Rectangle 118"/>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1" name="Rectangle 120"/>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23" name="Picture 122" descr="google.png"/>
          <p:cNvPicPr>
            <a:picLocks noChangeAspect="1"/>
          </p:cNvPicPr>
          <p:nvPr/>
        </p:nvPicPr>
        <p:blipFill>
          <a:blip r:embed="rId5"/>
          <a:stretch>
            <a:fillRect/>
          </a:stretch>
        </p:blipFill>
        <p:spPr>
          <a:xfrm>
            <a:off x="12015216" y="6181344"/>
            <a:ext cx="836908" cy="274320"/>
          </a:xfrm>
          <a:prstGeom prst="rect">
            <a:avLst/>
          </a:prstGeom>
        </p:spPr>
      </p:pic>
      <p:sp>
        <p:nvSpPr>
          <p:cNvPr id="124" name="Rounded Rectangle 123"/>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26" name="Picture 125"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27" name="TextBox 126"/>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28" name="Rounded Rectangle 127"/>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0" name="Picture 129" descr="aws.png"/>
          <p:cNvPicPr>
            <a:picLocks noChangeAspect="1"/>
          </p:cNvPicPr>
          <p:nvPr/>
        </p:nvPicPr>
        <p:blipFill>
          <a:blip r:embed="rId7"/>
          <a:stretch>
            <a:fillRect/>
          </a:stretch>
        </p:blipFill>
        <p:spPr>
          <a:xfrm>
            <a:off x="12015216" y="7342632"/>
            <a:ext cx="611866" cy="365760"/>
          </a:xfrm>
          <a:prstGeom prst="rect">
            <a:avLst/>
          </a:prstGeom>
        </p:spPr>
      </p:pic>
      <p:sp>
        <p:nvSpPr>
          <p:cNvPr id="131" name="Rounded Rectangle 130"/>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33" name="Chevron 132"/>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Chevron 133"/>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37" name="TextBox 136"/>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38" name="TextBox 1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점은 세대 대표의 최고 내구 등급 33개 · QLC 8개, 중앙값은 전체 등급, 3년 보증은 5년 환산, QLC는 랜덤 쓰기, SLC · SCM 특수 제외) · 고객 캐시 DWPD(Kangaroo · KV 실측 · Baleen) · 해법 사다리 원장 · 자체 설계 원장 · 세로축 로그 · 일부 수치 검색 확인 · 부품 이미지는 3D 렌더</a:t>
            </a:r>
          </a:p>
        </p:txBody>
      </p:sp>
      <p:sp>
        <p:nvSpPr>
          <p:cNvPr id="139" name="TextBox 1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4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