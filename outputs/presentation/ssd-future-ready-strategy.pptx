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오른쪽 위 숫자는 McKinsey가 본 2030년 eSSD 수요입니다. 범용 클라우드와 엔터프라이즈가 약 500, AI 추론이 약 450, AI 학습이 약 130엑사바이트이고, 에이전트는 따로 떼어 낸 전망이 없습니다. 연도별 상세는 참고 5장에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5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sp>
        <p:nvSpPr>
          <p:cNvPr id="44" name="TextBox 43"/>
          <p:cNvSpPr txBox="1"/>
          <p:nvPr/>
        </p:nvSpPr>
        <p:spPr>
          <a:xfrm>
            <a:off x="4489704"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500EB</a:t>
            </a:r>
          </a:p>
        </p:txBody>
      </p:sp>
      <p:sp>
        <p:nvSpPr>
          <p:cNvPr id="45" name="TextBox 44"/>
          <p:cNvSpPr txBox="1"/>
          <p:nvPr/>
        </p:nvSpPr>
        <p:spPr>
          <a:xfrm>
            <a:off x="7840979"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130EB</a:t>
            </a:r>
          </a:p>
        </p:txBody>
      </p:sp>
      <p:sp>
        <p:nvSpPr>
          <p:cNvPr id="46" name="TextBox 45"/>
          <p:cNvSpPr txBox="1"/>
          <p:nvPr/>
        </p:nvSpPr>
        <p:spPr>
          <a:xfrm>
            <a:off x="11192256"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450EB</a:t>
            </a:r>
          </a:p>
        </p:txBody>
      </p:sp>
      <p:sp>
        <p:nvSpPr>
          <p:cNvPr id="47" name="TextBox 46"/>
          <p:cNvSpPr txBox="1"/>
          <p:nvPr/>
        </p:nvSpPr>
        <p:spPr>
          <a:xfrm>
            <a:off x="14543532"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1600" b="0">
                <a:solidFill>
                  <a:srgbClr val="555555"/>
                </a:solidFill>
                <a:latin typeface="Arial"/>
                <a:ea typeface="Arial"/>
              </a:rPr>
              <a:t>별도 전망 없음</a:t>
            </a:r>
          </a:p>
        </p:txBody>
      </p:sp>
      <p:pic>
        <p:nvPicPr>
          <p:cNvPr id="48" name="Picture 47" descr="nvidia.png"/>
          <p:cNvPicPr>
            <a:picLocks noChangeAspect="1"/>
          </p:cNvPicPr>
          <p:nvPr/>
        </p:nvPicPr>
        <p:blipFill>
          <a:blip r:embed="rId4"/>
          <a:stretch>
            <a:fillRect/>
          </a:stretch>
        </p:blipFill>
        <p:spPr>
          <a:xfrm>
            <a:off x="7840979" y="2651861"/>
            <a:ext cx="1051560" cy="200964"/>
          </a:xfrm>
          <a:prstGeom prst="rect">
            <a:avLst/>
          </a:prstGeom>
        </p:spPr>
      </p:pic>
      <p:pic>
        <p:nvPicPr>
          <p:cNvPr id="49" name="Picture 48" descr="aws.png"/>
          <p:cNvPicPr>
            <a:picLocks noChangeAspect="1"/>
          </p:cNvPicPr>
          <p:nvPr/>
        </p:nvPicPr>
        <p:blipFill>
          <a:blip r:embed="rId5"/>
          <a:stretch>
            <a:fillRect/>
          </a:stretch>
        </p:blipFill>
        <p:spPr>
          <a:xfrm>
            <a:off x="4489704" y="2624328"/>
            <a:ext cx="458899" cy="274320"/>
          </a:xfrm>
          <a:prstGeom prst="rect">
            <a:avLst/>
          </a:prstGeom>
        </p:spPr>
      </p:pic>
      <p:pic>
        <p:nvPicPr>
          <p:cNvPr id="50" name="Picture 49" descr="microsoft.png"/>
          <p:cNvPicPr>
            <a:picLocks noChangeAspect="1"/>
          </p:cNvPicPr>
          <p:nvPr/>
        </p:nvPicPr>
        <p:blipFill>
          <a:blip r:embed="rId6"/>
          <a:stretch>
            <a:fillRect/>
          </a:stretch>
        </p:blipFill>
        <p:spPr>
          <a:xfrm>
            <a:off x="5113195" y="2631109"/>
            <a:ext cx="960120" cy="205892"/>
          </a:xfrm>
          <a:prstGeom prst="rect">
            <a:avLst/>
          </a:prstGeom>
        </p:spPr>
      </p:pic>
      <p:pic>
        <p:nvPicPr>
          <p:cNvPr id="51" name="Picture 50" descr="google.png"/>
          <p:cNvPicPr>
            <a:picLocks noChangeAspect="1"/>
          </p:cNvPicPr>
          <p:nvPr/>
        </p:nvPicPr>
        <p:blipFill>
          <a:blip r:embed="rId7"/>
          <a:stretch>
            <a:fillRect/>
          </a:stretch>
        </p:blipFill>
        <p:spPr>
          <a:xfrm>
            <a:off x="6237907" y="2624328"/>
            <a:ext cx="669526" cy="219456"/>
          </a:xfrm>
          <a:prstGeom prst="rect">
            <a:avLst/>
          </a:prstGeom>
        </p:spPr>
      </p:pic>
      <p:pic>
        <p:nvPicPr>
          <p:cNvPr id="52" name="Picture 51" descr="meta.png"/>
          <p:cNvPicPr>
            <a:picLocks noChangeAspect="1"/>
          </p:cNvPicPr>
          <p:nvPr/>
        </p:nvPicPr>
        <p:blipFill>
          <a:blip r:embed="rId8"/>
          <a:stretch>
            <a:fillRect/>
          </a:stretch>
        </p:blipFill>
        <p:spPr>
          <a:xfrm>
            <a:off x="14543532" y="2659684"/>
            <a:ext cx="731520" cy="148742"/>
          </a:xfrm>
          <a:prstGeom prst="rect">
            <a:avLst/>
          </a:prstGeom>
        </p:spPr>
      </p:pic>
      <p:sp>
        <p:nvSpPr>
          <p:cNvPr id="53" name="TextBox 52"/>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4" name="Picture 53" descr="openai.png"/>
          <p:cNvPicPr>
            <a:picLocks noChangeAspect="1"/>
          </p:cNvPicPr>
          <p:nvPr/>
        </p:nvPicPr>
        <p:blipFill>
          <a:blip r:embed="rId9"/>
          <a:stretch>
            <a:fillRect/>
          </a:stretch>
        </p:blipFill>
        <p:spPr>
          <a:xfrm>
            <a:off x="16006572" y="2644241"/>
            <a:ext cx="731520" cy="179628"/>
          </a:xfrm>
          <a:prstGeom prst="rect">
            <a:avLst/>
          </a:prstGeom>
        </p:spPr>
      </p:pic>
      <p:sp>
        <p:nvSpPr>
          <p:cNvPr id="55" name="TextBox 54"/>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6" name="Cloud 55"/>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8" name="TextBox 67"/>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9" name="Rectangle 68"/>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71" name="TextBox 70"/>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72" name="Rectangle 71"/>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4" name="TextBox 73"/>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5" name="Rectangle 74"/>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7" name="TextBox 76"/>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8" name="Rectangle 77"/>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80" name="TextBox 79"/>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81" name="TextBox 80"/>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82" name="TextBox 81"/>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83" name="Rectangle 82"/>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5" name="Rectangle 84"/>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7" name="Rectangle 86"/>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9" name="TextBox 88"/>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90" name="Rectangle 89"/>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92" name="TextBox 91"/>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93" name="Rectangle 92"/>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5" name="TextBox 94"/>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6" name="Rectangle 95"/>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9" name="Rectangle 98"/>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30" name="TextBox 129"/>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31" name="Rectangle 130"/>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33" name="TextBox 132"/>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4" name="Rectangle 133"/>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6" name="TextBox 135"/>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7" name="TextBox 136"/>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8" name="Rounded Rectangle 137"/>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40" name="TextBox 139"/>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41" name="Rectangle 140"/>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4" name="Rounded Rectangle 143"/>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ounded Rectangle 145"/>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8" name="Rounded Rectangle 147"/>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ounded Rectangle 148"/>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51" name="TextBox 150"/>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52" name="Rectangle 151"/>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4" name="Rounded Rectangle 153"/>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7" name="Rounded Rectangle 156"/>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9" name="Rounded Rectangle 158"/>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62" name="TextBox 161"/>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63" name="Rectangle 162"/>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5" name="Rounded Rectangle 164"/>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7" name="Rounded Rectangle 166"/>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9" name="Rounded Rectangle 168"/>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71" name="Rounded Rectangle 170"/>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73" name="Rounded Rectangle 172"/>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5" name="TextBox 174"/>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6" name="Rectangle 175"/>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9" name="Rounded Rectangle 178"/>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81" name="Rounded Rectangle 180"/>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83" name="Rounded Rectangle 182"/>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5" name="Rounded Rectangle 184"/>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7" name="Rectangle 18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9" name="TextBox 18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90" name="TextBox 18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2030 수요 McKinsey(2024-12, 범용은 산술, 상세 5장)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191" name="TextBox 19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5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5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5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5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