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6장에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이 전략에서 사업적으로 가장 큰 기회입니다. 질문은 하나입니다. QLC가 1 DWPD에 닿으면, 지금 TLC 수요 가운데 어디까지 들어갈 수 있는가입니다. 그래서 TLC 수요를 왜 TLC를 샀는지로 나눴습니다. 공개된 분할 자료는 없어서 과제팀이 범위로 계산했고, 막대는 중앙 가정입니다. 첫째, 내구 규격만 때문에 TLC인 수요입니다. 오브젝트, 데이터 레이크, CDN, 백업, 배치 분석, AI 학습 데이터처럼 읽기 중심이라 성능은 QLC로 충분한데, 조달 규격이 1 DWPD라서 정격 0.3에서 0.6인 QLC가 빠지는 몫입니다. 2026년 약 100, 2030년 약 190엑사바이트, 시나리오에 따라 2030년 46에서 509엑사바이트입니다. Meta는 지금 TLC 위에 있는 15에서 20 MB/s/TB의 배치 워크로드를 QLC 후보로 꼽았고, 이 부하의 실제 쓰기는 0.26에서 0.35 DWPD 수준입니다. 둘째, 관행과 가격으로 TLC인 몫입니다. Micron 6500 ION처럼 QLC급 가격의 대용량 TLC가 이미 있어 정격보다 가격과 공급, 인증이 결정합니다. 셋째, 성능 때문에 TLC인 몫입니다. 데이터베이스, VM 디스크, 블록 스토리지처럼 지연과 랜덤 쓰기가 중요한 수요로, 가장 큽니다. 고객과 함께 격차를 줄이면 그 가운데 20에서 40퍼센트가 열린다고 보고 점선으로 표시했습니다. 고내구 3 DWPD 이상과 KV 캐시는 이번 대상이 아닙니다. 가운데는 내구입니다. 같은 Micron 6600 ION QLC도 4킬로바이트 랜덤 쓰기면 0.075, 16킬로바이트 랜덤이면 0.3, 128킬로바이트 순차면 1.0 DWPD로 정격이 13배 달라집니다. 고객과 함께 FDP로 쓰기를 크게, 순차로, 수명별로 모으면 QLC가 1 DWPD에 닿습니다. 순차 정격을 실제 부하에서 지키는 것이 과제입니다. 오른쪽은 성능입니다. 내구 규격만 문제인 수요는 성능이 걸림돌이 아닙니다. RAG 검색의 지연 예산은 약 100밀리초인데 QLC 읽기는 약 0.1밀리초라 약 1,000배 여유가 있습니다. 성능 때문에 TLC를 쓰는 수요는 다릅니다. 같은 컨트롤러의 NetApp 어레이에서 TLC는 약 0.5밀리초, QLC는 2에서 4밀리초입니다. 이 격차는 FDP로 GC 간섭을 줄이고, pSLC 버퍼로 쓰기를 흡수해 고객 시스템과 함께 줄입니다. 다만 이 개선의 실측은 TLC 드라이브 기준이고, QLC 위 실측은 고객과 함께 할 첫 검증 과제입니다. 정리하면, 성능이 아니라 규격 때문에 TLC를 쓰던 수요부터 QLC의 원가 우위로 가져옵니다.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6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6장)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6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6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6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TLC 수요의 약 4분의 1은 성능이 아니라 내구 규격 때문에 TLC이므로,</a:t>
            </a:r>
          </a:p>
          <a:p>
            <a:pPr algn="l">
              <a:lnSpc>
                <a:spcPct val="105000"/>
              </a:lnSpc>
            </a:pPr>
            <a:r>
              <a:rPr sz="3200" b="1">
                <a:solidFill>
                  <a:srgbClr val="1A1A1A"/>
                </a:solidFill>
                <a:latin typeface="Arial"/>
                <a:ea typeface="Arial"/>
              </a:rPr>
              <a:t>QLC를 고객과 함께 1 DWPD로 올리면 이 몫부터 열립니다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68214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시장: 왜 TLC를 샀나</a:t>
            </a:r>
          </a:p>
        </p:txBody>
      </p:sp>
      <p:sp>
        <p:nvSpPr>
          <p:cNvPr id="9" name="TextBox 8"/>
          <p:cNvSpPr txBox="1"/>
          <p:nvPr/>
        </p:nvSpPr>
        <p:spPr>
          <a:xfrm>
            <a:off x="722376" y="2743200"/>
            <a:ext cx="740664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TLC eSSD, EB/년  </a:t>
            </a:r>
            <a:r>
              <a:rPr sz="1600" b="0">
                <a:solidFill>
                  <a:srgbClr val="555555"/>
                </a:solidFill>
                <a:latin typeface="Arial"/>
                <a:ea typeface="Arial"/>
              </a:rPr>
              <a:t>중앙 가정 · 과제팀 산술</a:t>
            </a:r>
          </a:p>
        </p:txBody>
      </p:sp>
      <p:sp>
        <p:nvSpPr>
          <p:cNvPr id="10" name="Rectangle 9"/>
          <p:cNvSpPr/>
          <p:nvPr/>
        </p:nvSpPr>
        <p:spPr>
          <a:xfrm>
            <a:off x="996696" y="7504700"/>
            <a:ext cx="1188720" cy="523731"/>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7504700"/>
            <a:ext cx="1188720" cy="523731"/>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100</a:t>
            </a:r>
          </a:p>
        </p:txBody>
      </p:sp>
      <p:sp>
        <p:nvSpPr>
          <p:cNvPr id="12" name="Rectangle 11"/>
          <p:cNvSpPr/>
          <p:nvPr/>
        </p:nvSpPr>
        <p:spPr>
          <a:xfrm>
            <a:off x="996696" y="7280318"/>
            <a:ext cx="1188720" cy="224381"/>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96696" y="6366016"/>
            <a:ext cx="1188720" cy="914302"/>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51560" y="6942029"/>
            <a:ext cx="1078992" cy="310856"/>
          </a:xfrm>
          <a:prstGeom prst="rect">
            <a:avLst/>
          </a:prstGeom>
          <a:noFill/>
          <a:ln w="1905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96696" y="6025774"/>
            <a:ext cx="1188720" cy="340242"/>
          </a:xfrm>
          <a:prstGeom prst="rect">
            <a:avLst/>
          </a:prstGeom>
          <a:solidFill>
            <a:srgbClr val="5555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96696" y="5842284"/>
            <a:ext cx="1188720" cy="183489"/>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476524"/>
            <a:ext cx="1737360" cy="32918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417</a:t>
            </a:r>
          </a:p>
        </p:txBody>
      </p:sp>
      <p:sp>
        <p:nvSpPr>
          <p:cNvPr id="18" name="TextBox 17"/>
          <p:cNvSpPr txBox="1"/>
          <p:nvPr/>
        </p:nvSpPr>
        <p:spPr>
          <a:xfrm>
            <a:off x="722376" y="8065007"/>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19" name="Rectangle 18"/>
          <p:cNvSpPr/>
          <p:nvPr/>
        </p:nvSpPr>
        <p:spPr>
          <a:xfrm>
            <a:off x="3328416" y="7020811"/>
            <a:ext cx="1188720" cy="10076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416" y="7020811"/>
            <a:ext cx="1188720" cy="100762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192</a:t>
            </a:r>
          </a:p>
        </p:txBody>
      </p:sp>
      <p:sp>
        <p:nvSpPr>
          <p:cNvPr id="21" name="Rectangle 20"/>
          <p:cNvSpPr/>
          <p:nvPr/>
        </p:nvSpPr>
        <p:spPr>
          <a:xfrm>
            <a:off x="3328416" y="6684763"/>
            <a:ext cx="1188720" cy="336048"/>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28416" y="5042794"/>
            <a:ext cx="1188720" cy="1641969"/>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383280" y="6055407"/>
            <a:ext cx="1078992" cy="601923"/>
          </a:xfrm>
          <a:prstGeom prst="rect">
            <a:avLst/>
          </a:prstGeom>
          <a:noFill/>
          <a:ln w="1905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28416" y="4515916"/>
            <a:ext cx="1188720" cy="526877"/>
          </a:xfrm>
          <a:prstGeom prst="rect">
            <a:avLst/>
          </a:prstGeom>
          <a:solidFill>
            <a:srgbClr val="5555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28416" y="3467404"/>
            <a:ext cx="1188720" cy="1048511"/>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54096" y="3101644"/>
            <a:ext cx="1737360" cy="32918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870</a:t>
            </a:r>
          </a:p>
        </p:txBody>
      </p:sp>
      <p:sp>
        <p:nvSpPr>
          <p:cNvPr id="27" name="TextBox 26"/>
          <p:cNvSpPr txBox="1"/>
          <p:nvPr/>
        </p:nvSpPr>
        <p:spPr>
          <a:xfrm>
            <a:off x="3054096" y="8065007"/>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28" name="Rectangle 27"/>
          <p:cNvSpPr/>
          <p:nvPr/>
        </p:nvSpPr>
        <p:spPr>
          <a:xfrm>
            <a:off x="2276856" y="7110984"/>
            <a:ext cx="27432" cy="6920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221992" y="7110984"/>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21992" y="7775569"/>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86584" y="7092696"/>
            <a:ext cx="82296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43~175</a:t>
            </a:r>
          </a:p>
        </p:txBody>
      </p:sp>
      <p:sp>
        <p:nvSpPr>
          <p:cNvPr id="32" name="Rectangle 31"/>
          <p:cNvSpPr/>
          <p:nvPr/>
        </p:nvSpPr>
        <p:spPr>
          <a:xfrm>
            <a:off x="4608576" y="5359968"/>
            <a:ext cx="27432" cy="242730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53712" y="5359968"/>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53712" y="7759842"/>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18304" y="5341680"/>
            <a:ext cx="82296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46~509</a:t>
            </a:r>
          </a:p>
        </p:txBody>
      </p:sp>
      <p:sp>
        <p:nvSpPr>
          <p:cNvPr id="36" name="TextBox 35"/>
          <p:cNvSpPr txBox="1"/>
          <p:nvPr/>
        </p:nvSpPr>
        <p:spPr>
          <a:xfrm>
            <a:off x="5614416" y="7250301"/>
            <a:ext cx="2514600" cy="548640"/>
          </a:xfrm>
          <a:prstGeom prst="rect">
            <a:avLst/>
          </a:prstGeom>
          <a:noFill/>
        </p:spPr>
        <p:txBody>
          <a:bodyPr wrap="square" anchor="ctr" lIns="0" rIns="0" tIns="0" bIns="0">
            <a:spAutoFit/>
          </a:bodyPr>
          <a:lstStyle/>
          <a:p>
            <a:pPr algn="l">
              <a:lnSpc>
                <a:spcPct val="100000"/>
              </a:lnSpc>
            </a:pPr>
            <a:r>
              <a:rPr sz="1700" b="1">
                <a:solidFill>
                  <a:srgbClr val="1428A0"/>
                </a:solidFill>
                <a:latin typeface="Arial"/>
                <a:ea typeface="Arial"/>
              </a:rPr>
              <a:t>내구 규격만</a:t>
            </a:r>
          </a:p>
          <a:p>
            <a:pPr algn="l">
              <a:lnSpc>
                <a:spcPct val="100000"/>
              </a:lnSpc>
            </a:pPr>
            <a:r>
              <a:rPr sz="1500" b="1">
                <a:solidFill>
                  <a:srgbClr val="1428A0"/>
                </a:solidFill>
                <a:latin typeface="Arial"/>
                <a:ea typeface="Arial"/>
              </a:rPr>
              <a:t>192 · 바로 진입</a:t>
            </a:r>
          </a:p>
        </p:txBody>
      </p:sp>
      <p:sp>
        <p:nvSpPr>
          <p:cNvPr id="37" name="Rectangle 36"/>
          <p:cNvSpPr/>
          <p:nvPr/>
        </p:nvSpPr>
        <p:spPr>
          <a:xfrm>
            <a:off x="5468112" y="7360029"/>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14416" y="6578467"/>
            <a:ext cx="2514600"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관행 · 가격</a:t>
            </a:r>
          </a:p>
          <a:p>
            <a:pPr algn="l">
              <a:lnSpc>
                <a:spcPct val="100000"/>
              </a:lnSpc>
            </a:pPr>
            <a:r>
              <a:rPr sz="1500" b="0">
                <a:solidFill>
                  <a:srgbClr val="555555"/>
                </a:solidFill>
                <a:latin typeface="Arial"/>
                <a:ea typeface="Arial"/>
              </a:rPr>
              <a:t>64 · 가격 · 공급</a:t>
            </a:r>
          </a:p>
        </p:txBody>
      </p:sp>
      <p:sp>
        <p:nvSpPr>
          <p:cNvPr id="39" name="Rectangle 38"/>
          <p:cNvSpPr/>
          <p:nvPr/>
        </p:nvSpPr>
        <p:spPr>
          <a:xfrm>
            <a:off x="5468112" y="6688195"/>
            <a:ext cx="91440" cy="9144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14416" y="5589458"/>
            <a:ext cx="2514600"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성능 (RI)</a:t>
            </a:r>
          </a:p>
          <a:p>
            <a:pPr algn="l">
              <a:lnSpc>
                <a:spcPct val="100000"/>
              </a:lnSpc>
            </a:pPr>
            <a:r>
              <a:rPr sz="1500" b="0">
                <a:solidFill>
                  <a:srgbClr val="555555"/>
                </a:solidFill>
                <a:latin typeface="Arial"/>
                <a:ea typeface="Arial"/>
              </a:rPr>
              <a:t>313 · 점선 20~40% 극복</a:t>
            </a:r>
          </a:p>
        </p:txBody>
      </p:sp>
      <p:sp>
        <p:nvSpPr>
          <p:cNvPr id="41" name="Rectangle 40"/>
          <p:cNvSpPr/>
          <p:nvPr/>
        </p:nvSpPr>
        <p:spPr>
          <a:xfrm>
            <a:off x="5468112" y="5699186"/>
            <a:ext cx="91440"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14416" y="4505035"/>
            <a:ext cx="2514600"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고내구 3 DWPD+</a:t>
            </a:r>
          </a:p>
          <a:p>
            <a:pPr algn="l">
              <a:lnSpc>
                <a:spcPct val="100000"/>
              </a:lnSpc>
            </a:pPr>
            <a:r>
              <a:rPr sz="1500" b="0">
                <a:solidFill>
                  <a:srgbClr val="555555"/>
                </a:solidFill>
                <a:latin typeface="Arial"/>
                <a:ea typeface="Arial"/>
              </a:rPr>
              <a:t>101 · 대상 아님</a:t>
            </a:r>
          </a:p>
        </p:txBody>
      </p:sp>
      <p:sp>
        <p:nvSpPr>
          <p:cNvPr id="43" name="Rectangle 42"/>
          <p:cNvSpPr/>
          <p:nvPr/>
        </p:nvSpPr>
        <p:spPr>
          <a:xfrm>
            <a:off x="5468112" y="4614763"/>
            <a:ext cx="91440" cy="91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14416" y="3717340"/>
            <a:ext cx="2514600"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KV 캐시</a:t>
            </a:r>
          </a:p>
          <a:p>
            <a:pPr algn="l">
              <a:lnSpc>
                <a:spcPct val="100000"/>
              </a:lnSpc>
            </a:pPr>
            <a:r>
              <a:rPr sz="1500" b="0">
                <a:solidFill>
                  <a:srgbClr val="555555"/>
                </a:solidFill>
                <a:latin typeface="Arial"/>
                <a:ea typeface="Arial"/>
              </a:rPr>
              <a:t>200 · 대상 아님</a:t>
            </a:r>
          </a:p>
        </p:txBody>
      </p:sp>
      <p:sp>
        <p:nvSpPr>
          <p:cNvPr id="45" name="Rectangle 44"/>
          <p:cNvSpPr/>
          <p:nvPr/>
        </p:nvSpPr>
        <p:spPr>
          <a:xfrm>
            <a:off x="5468112" y="3827068"/>
            <a:ext cx="91440"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333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0333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8" name="TextBox 47"/>
          <p:cNvSpPr txBox="1"/>
          <p:nvPr/>
        </p:nvSpPr>
        <p:spPr>
          <a:xfrm>
            <a:off x="898855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내구: 쓰기 모양이 바꾼다</a:t>
            </a:r>
          </a:p>
        </p:txBody>
      </p:sp>
      <p:sp>
        <p:nvSpPr>
          <p:cNvPr id="49" name="TextBox 48"/>
          <p:cNvSpPr txBox="1"/>
          <p:nvPr/>
        </p:nvSpPr>
        <p:spPr>
          <a:xfrm>
            <a:off x="8403336" y="2743200"/>
            <a:ext cx="43891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같은 QLC의 정격 DWPD  </a:t>
            </a:r>
            <a:r>
              <a:rPr sz="1600" b="0">
                <a:solidFill>
                  <a:srgbClr val="555555"/>
                </a:solidFill>
                <a:latin typeface="Arial"/>
                <a:ea typeface="Arial"/>
              </a:rPr>
              <a:t>Micron 6600 ION</a:t>
            </a:r>
          </a:p>
        </p:txBody>
      </p:sp>
      <p:sp>
        <p:nvSpPr>
          <p:cNvPr id="50" name="Rectangle 49"/>
          <p:cNvSpPr/>
          <p:nvPr/>
        </p:nvSpPr>
        <p:spPr>
          <a:xfrm>
            <a:off x="10044684" y="3218688"/>
            <a:ext cx="9144" cy="18836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83496" y="510235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0</a:t>
            </a:r>
          </a:p>
        </p:txBody>
      </p:sp>
      <p:sp>
        <p:nvSpPr>
          <p:cNvPr id="52" name="Rectangle 51"/>
          <p:cNvSpPr/>
          <p:nvPr/>
        </p:nvSpPr>
        <p:spPr>
          <a:xfrm>
            <a:off x="10959084" y="3218688"/>
            <a:ext cx="9144" cy="18836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97896" y="510235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0.5</a:t>
            </a:r>
          </a:p>
        </p:txBody>
      </p:sp>
      <p:sp>
        <p:nvSpPr>
          <p:cNvPr id="54" name="Rectangle 53"/>
          <p:cNvSpPr/>
          <p:nvPr/>
        </p:nvSpPr>
        <p:spPr>
          <a:xfrm>
            <a:off x="11873484" y="3218688"/>
            <a:ext cx="9144" cy="18836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512296" y="510235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56" name="TextBox 55"/>
          <p:cNvSpPr txBox="1"/>
          <p:nvPr/>
        </p:nvSpPr>
        <p:spPr>
          <a:xfrm>
            <a:off x="8403336" y="3273552"/>
            <a:ext cx="1591056" cy="42062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4KB 랜덤</a:t>
            </a:r>
          </a:p>
        </p:txBody>
      </p:sp>
      <p:sp>
        <p:nvSpPr>
          <p:cNvPr id="57" name="Rectangle 56"/>
          <p:cNvSpPr/>
          <p:nvPr/>
        </p:nvSpPr>
        <p:spPr>
          <a:xfrm>
            <a:off x="10049256" y="3346704"/>
            <a:ext cx="137160" cy="2743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41280" y="3273552"/>
            <a:ext cx="731520" cy="42062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0.075</a:t>
            </a:r>
          </a:p>
        </p:txBody>
      </p:sp>
      <p:sp>
        <p:nvSpPr>
          <p:cNvPr id="59" name="TextBox 58"/>
          <p:cNvSpPr txBox="1"/>
          <p:nvPr/>
        </p:nvSpPr>
        <p:spPr>
          <a:xfrm>
            <a:off x="8403336" y="3858768"/>
            <a:ext cx="1591056" cy="42062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16KB 랜덤</a:t>
            </a:r>
          </a:p>
        </p:txBody>
      </p:sp>
      <p:sp>
        <p:nvSpPr>
          <p:cNvPr id="60" name="Rectangle 59"/>
          <p:cNvSpPr/>
          <p:nvPr/>
        </p:nvSpPr>
        <p:spPr>
          <a:xfrm>
            <a:off x="10049256" y="3931920"/>
            <a:ext cx="548640" cy="2743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652760" y="3858768"/>
            <a:ext cx="731520" cy="42062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0.3</a:t>
            </a:r>
          </a:p>
        </p:txBody>
      </p:sp>
      <p:sp>
        <p:nvSpPr>
          <p:cNvPr id="62" name="TextBox 61"/>
          <p:cNvSpPr txBox="1"/>
          <p:nvPr/>
        </p:nvSpPr>
        <p:spPr>
          <a:xfrm>
            <a:off x="8403336" y="4443984"/>
            <a:ext cx="1591056" cy="42062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128KB 순차</a:t>
            </a:r>
          </a:p>
        </p:txBody>
      </p:sp>
      <p:sp>
        <p:nvSpPr>
          <p:cNvPr id="63" name="Rectangle 62"/>
          <p:cNvSpPr/>
          <p:nvPr/>
        </p:nvSpPr>
        <p:spPr>
          <a:xfrm>
            <a:off x="10049256" y="4517136"/>
            <a:ext cx="182880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932920" y="4443984"/>
            <a:ext cx="731520" cy="42062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a:t>
            </a:r>
          </a:p>
        </p:txBody>
      </p:sp>
      <p:sp>
        <p:nvSpPr>
          <p:cNvPr id="65" name="TextBox 64"/>
          <p:cNvSpPr txBox="1"/>
          <p:nvPr/>
        </p:nvSpPr>
        <p:spPr>
          <a:xfrm>
            <a:off x="11420856" y="3877055"/>
            <a:ext cx="731520" cy="384048"/>
          </a:xfrm>
          <a:prstGeom prst="rect">
            <a:avLst/>
          </a:prstGeom>
          <a:noFill/>
        </p:spPr>
        <p:txBody>
          <a:bodyPr wrap="square" anchor="ctr" lIns="0" rIns="0" tIns="0" bIns="0">
            <a:spAutoFit/>
          </a:bodyPr>
          <a:lstStyle/>
          <a:p>
            <a:pPr algn="l">
              <a:lnSpc>
                <a:spcPct val="110000"/>
              </a:lnSpc>
            </a:pPr>
            <a:r>
              <a:rPr sz="2200" b="1">
                <a:solidFill>
                  <a:srgbClr val="1428A0"/>
                </a:solidFill>
                <a:latin typeface="Arial"/>
                <a:ea typeface="Arial"/>
              </a:rPr>
              <a:t>×13</a:t>
            </a:r>
          </a:p>
        </p:txBody>
      </p:sp>
      <p:sp>
        <p:nvSpPr>
          <p:cNvPr id="66" name="Rectangle 65"/>
          <p:cNvSpPr/>
          <p:nvPr/>
        </p:nvSpPr>
        <p:spPr>
          <a:xfrm>
            <a:off x="8403336" y="5486400"/>
            <a:ext cx="43891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403336" y="5577840"/>
            <a:ext cx="43891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쓰기를 크게 · 순차로 · 수명별로</a:t>
            </a:r>
          </a:p>
        </p:txBody>
      </p:sp>
      <p:sp>
        <p:nvSpPr>
          <p:cNvPr id="68" name="Rounded Rectangle 67"/>
          <p:cNvSpPr/>
          <p:nvPr/>
        </p:nvSpPr>
        <p:spPr>
          <a:xfrm>
            <a:off x="8403336" y="5998464"/>
            <a:ext cx="2011679" cy="7315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5998464"/>
            <a:ext cx="1901951" cy="7315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작은 랜덤 쓰기</a:t>
            </a:r>
          </a:p>
          <a:p>
            <a:pPr algn="ctr">
              <a:lnSpc>
                <a:spcPct val="110000"/>
              </a:lnSpc>
            </a:pPr>
            <a:r>
              <a:rPr sz="1500" b="0">
                <a:solidFill>
                  <a:srgbClr val="555555"/>
                </a:solidFill>
                <a:latin typeface="Arial"/>
                <a:ea typeface="Arial"/>
              </a:rPr>
              <a:t>섞인 수명</a:t>
            </a:r>
          </a:p>
        </p:txBody>
      </p:sp>
      <p:sp>
        <p:nvSpPr>
          <p:cNvPr id="70" name="Right Arrow 69"/>
          <p:cNvSpPr/>
          <p:nvPr/>
        </p:nvSpPr>
        <p:spPr>
          <a:xfrm>
            <a:off x="10469880" y="6254496"/>
            <a:ext cx="256032"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0780776" y="5998464"/>
            <a:ext cx="2011679" cy="731520"/>
          </a:xfrm>
          <a:prstGeom prst="roundRect">
            <a:avLst>
              <a:gd name="adj" fmla="val 1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835640" y="5998464"/>
            <a:ext cx="1901951" cy="73152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배치</a:t>
            </a:r>
          </a:p>
          <a:p>
            <a:pPr algn="ctr">
              <a:lnSpc>
                <a:spcPct val="110000"/>
              </a:lnSpc>
            </a:pPr>
            <a:r>
              <a:rPr sz="1500" b="0">
                <a:solidFill>
                  <a:srgbClr val="AAB8E8"/>
                </a:solidFill>
                <a:latin typeface="Arial"/>
                <a:ea typeface="Arial"/>
              </a:rPr>
              <a:t>큰 순차 · 같은 수명</a:t>
            </a:r>
          </a:p>
        </p:txBody>
      </p:sp>
      <p:sp>
        <p:nvSpPr>
          <p:cNvPr id="73" name="TextBox 72"/>
          <p:cNvSpPr txBox="1"/>
          <p:nvPr/>
        </p:nvSpPr>
        <p:spPr>
          <a:xfrm>
            <a:off x="8403336" y="6858000"/>
            <a:ext cx="4389120"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배치 부하 실제 쓰기  </a:t>
            </a:r>
            <a:r>
              <a:rPr sz="1800" b="1">
                <a:solidFill>
                  <a:srgbClr val="1428A0"/>
                </a:solidFill>
                <a:latin typeface="Arial"/>
                <a:ea typeface="Arial"/>
              </a:rPr>
              <a:t>0.26~0.35 DWPD</a:t>
            </a:r>
          </a:p>
        </p:txBody>
      </p:sp>
      <p:sp>
        <p:nvSpPr>
          <p:cNvPr id="74" name="TextBox 73"/>
          <p:cNvSpPr txBox="1"/>
          <p:nvPr/>
        </p:nvSpPr>
        <p:spPr>
          <a:xfrm>
            <a:off x="8403336" y="7187184"/>
            <a:ext cx="4389120"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1 DWPD = 쓰기 11.6 MB/s/TB</a:t>
            </a:r>
          </a:p>
        </p:txBody>
      </p:sp>
      <p:sp>
        <p:nvSpPr>
          <p:cNvPr id="75" name="TextBox 74"/>
          <p:cNvSpPr txBox="1"/>
          <p:nvPr/>
        </p:nvSpPr>
        <p:spPr>
          <a:xfrm>
            <a:off x="8403336" y="7589520"/>
            <a:ext cx="4389120" cy="45720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순차 정격 1.0을 실제 부하에서 지키는 것이 과제</a:t>
            </a:r>
          </a:p>
        </p:txBody>
      </p:sp>
      <p:sp>
        <p:nvSpPr>
          <p:cNvPr id="76" name="Oval 75"/>
          <p:cNvSpPr/>
          <p:nvPr/>
        </p:nvSpPr>
        <p:spPr>
          <a:xfrm>
            <a:off x="130667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30667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78" name="TextBox 77"/>
          <p:cNvSpPr txBox="1"/>
          <p:nvPr/>
        </p:nvSpPr>
        <p:spPr>
          <a:xfrm>
            <a:off x="13651992" y="2103120"/>
            <a:ext cx="391363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성능: 필요한 만큼만</a:t>
            </a:r>
          </a:p>
        </p:txBody>
      </p:sp>
      <p:sp>
        <p:nvSpPr>
          <p:cNvPr id="79" name="TextBox 78"/>
          <p:cNvSpPr txBox="1"/>
          <p:nvPr/>
        </p:nvSpPr>
        <p:spPr>
          <a:xfrm>
            <a:off x="13066776" y="2743200"/>
            <a:ext cx="449884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지연 ms  </a:t>
            </a:r>
            <a:r>
              <a:rPr sz="1600" b="0">
                <a:solidFill>
                  <a:srgbClr val="555555"/>
                </a:solidFill>
                <a:latin typeface="Arial"/>
                <a:ea typeface="Arial"/>
              </a:rPr>
              <a:t>로그 축, 예산 대 QLC</a:t>
            </a:r>
          </a:p>
        </p:txBody>
      </p:sp>
      <p:sp>
        <p:nvSpPr>
          <p:cNvPr id="80" name="Rectangle 79"/>
          <p:cNvSpPr/>
          <p:nvPr/>
        </p:nvSpPr>
        <p:spPr>
          <a:xfrm>
            <a:off x="14847466" y="3218688"/>
            <a:ext cx="9144" cy="19751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4486278" y="519379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0.1</a:t>
            </a:r>
          </a:p>
        </p:txBody>
      </p:sp>
      <p:sp>
        <p:nvSpPr>
          <p:cNvPr id="82" name="Rectangle 81"/>
          <p:cNvSpPr/>
          <p:nvPr/>
        </p:nvSpPr>
        <p:spPr>
          <a:xfrm>
            <a:off x="15614107" y="3218688"/>
            <a:ext cx="9144" cy="19751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252919" y="519379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4" name="Rectangle 83"/>
          <p:cNvSpPr/>
          <p:nvPr/>
        </p:nvSpPr>
        <p:spPr>
          <a:xfrm>
            <a:off x="16380748" y="3218688"/>
            <a:ext cx="9144" cy="19751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6019560" y="519379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6" name="Rectangle 85"/>
          <p:cNvSpPr/>
          <p:nvPr/>
        </p:nvSpPr>
        <p:spPr>
          <a:xfrm>
            <a:off x="17147389" y="3218688"/>
            <a:ext cx="9144" cy="19751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6786201" y="5193792"/>
            <a:ext cx="73152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8" name="TextBox 87"/>
          <p:cNvSpPr txBox="1"/>
          <p:nvPr/>
        </p:nvSpPr>
        <p:spPr>
          <a:xfrm>
            <a:off x="13066776" y="3310128"/>
            <a:ext cx="1499616" cy="365760"/>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내구 규격만</a:t>
            </a:r>
          </a:p>
        </p:txBody>
      </p:sp>
      <p:sp>
        <p:nvSpPr>
          <p:cNvPr id="89" name="TextBox 88"/>
          <p:cNvSpPr txBox="1"/>
          <p:nvPr/>
        </p:nvSpPr>
        <p:spPr>
          <a:xfrm>
            <a:off x="13066776" y="3639312"/>
            <a:ext cx="1499616"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RAG 검색 예산</a:t>
            </a:r>
          </a:p>
        </p:txBody>
      </p:sp>
      <p:sp>
        <p:nvSpPr>
          <p:cNvPr id="90" name="Rectangle 89"/>
          <p:cNvSpPr/>
          <p:nvPr/>
        </p:nvSpPr>
        <p:spPr>
          <a:xfrm>
            <a:off x="14852038" y="3438144"/>
            <a:ext cx="2299923"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4778886" y="3401568"/>
            <a:ext cx="146304" cy="21945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7124529" y="3346704"/>
            <a:ext cx="54864" cy="32918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4943478" y="3657600"/>
            <a:ext cx="219456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여유 약 1,000배</a:t>
            </a:r>
          </a:p>
        </p:txBody>
      </p:sp>
      <p:sp>
        <p:nvSpPr>
          <p:cNvPr id="94" name="TextBox 93"/>
          <p:cNvSpPr txBox="1"/>
          <p:nvPr/>
        </p:nvSpPr>
        <p:spPr>
          <a:xfrm>
            <a:off x="13066776" y="4297680"/>
            <a:ext cx="1499616"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성능 (RI)</a:t>
            </a:r>
          </a:p>
        </p:txBody>
      </p:sp>
      <p:sp>
        <p:nvSpPr>
          <p:cNvPr id="95" name="TextBox 94"/>
          <p:cNvSpPr txBox="1"/>
          <p:nvPr/>
        </p:nvSpPr>
        <p:spPr>
          <a:xfrm>
            <a:off x="13066776" y="4626864"/>
            <a:ext cx="1499616"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어레이 응답</a:t>
            </a:r>
          </a:p>
        </p:txBody>
      </p:sp>
      <p:sp>
        <p:nvSpPr>
          <p:cNvPr id="96" name="Oval 95"/>
          <p:cNvSpPr/>
          <p:nvPr/>
        </p:nvSpPr>
        <p:spPr>
          <a:xfrm>
            <a:off x="15314745" y="4389120"/>
            <a:ext cx="146304" cy="21945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849461" y="4407408"/>
            <a:ext cx="230782"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8" name="Connector 97"/>
          <p:cNvCxnSpPr/>
          <p:nvPr/>
        </p:nvCxnSpPr>
        <p:spPr>
          <a:xfrm>
            <a:off x="15461049" y="4498848"/>
            <a:ext cx="38841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14930697" y="4645152"/>
            <a:ext cx="914400"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TLC</a:t>
            </a:r>
          </a:p>
        </p:txBody>
      </p:sp>
      <p:sp>
        <p:nvSpPr>
          <p:cNvPr id="100" name="TextBox 99"/>
          <p:cNvSpPr txBox="1"/>
          <p:nvPr/>
        </p:nvSpPr>
        <p:spPr>
          <a:xfrm>
            <a:off x="15666581" y="4645152"/>
            <a:ext cx="182880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QLC 4~8배</a:t>
            </a:r>
          </a:p>
        </p:txBody>
      </p:sp>
      <p:sp>
        <p:nvSpPr>
          <p:cNvPr id="101" name="Rectangle 100"/>
          <p:cNvSpPr/>
          <p:nvPr/>
        </p:nvSpPr>
        <p:spPr>
          <a:xfrm>
            <a:off x="13066776" y="5486400"/>
            <a:ext cx="449884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066776" y="5577840"/>
            <a:ext cx="449884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격차는 고객 시스템과 함께 줄인다</a:t>
            </a:r>
          </a:p>
        </p:txBody>
      </p:sp>
      <p:sp>
        <p:nvSpPr>
          <p:cNvPr id="103" name="Rounded Rectangle 102"/>
          <p:cNvSpPr/>
          <p:nvPr/>
        </p:nvSpPr>
        <p:spPr>
          <a:xfrm>
            <a:off x="13066776" y="5998464"/>
            <a:ext cx="4498847" cy="621792"/>
          </a:xfrm>
          <a:prstGeom prst="roundRect">
            <a:avLst>
              <a:gd name="adj" fmla="val 1176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194792" y="5998464"/>
            <a:ext cx="4242815" cy="621792"/>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FDP로 GC 간섭 ↓  </a:t>
            </a:r>
            <a:r>
              <a:rPr sz="1500" b="0">
                <a:solidFill>
                  <a:srgbClr val="555555"/>
                </a:solidFill>
                <a:latin typeface="Arial"/>
                <a:ea typeface="Arial"/>
              </a:rPr>
              <a:t>p99.9 -55% (TLC)</a:t>
            </a:r>
          </a:p>
        </p:txBody>
      </p:sp>
      <p:sp>
        <p:nvSpPr>
          <p:cNvPr id="105" name="Rounded Rectangle 104"/>
          <p:cNvSpPr/>
          <p:nvPr/>
        </p:nvSpPr>
        <p:spPr>
          <a:xfrm>
            <a:off x="13066776" y="6711696"/>
            <a:ext cx="4498847" cy="621792"/>
          </a:xfrm>
          <a:prstGeom prst="roundRect">
            <a:avLst>
              <a:gd name="adj" fmla="val 1176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194792" y="6711696"/>
            <a:ext cx="4242815" cy="621792"/>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pSLC 버퍼  </a:t>
            </a:r>
            <a:r>
              <a:rPr sz="1500" b="0">
                <a:solidFill>
                  <a:srgbClr val="555555"/>
                </a:solidFill>
                <a:latin typeface="Arial"/>
                <a:ea typeface="Arial"/>
              </a:rPr>
              <a:t>CSAL WAF ≈ 1 (벤더)</a:t>
            </a:r>
          </a:p>
        </p:txBody>
      </p:sp>
      <p:sp>
        <p:nvSpPr>
          <p:cNvPr id="107" name="TextBox 106"/>
          <p:cNvSpPr txBox="1"/>
          <p:nvPr/>
        </p:nvSpPr>
        <p:spPr>
          <a:xfrm>
            <a:off x="13066776" y="7589520"/>
            <a:ext cx="4498847" cy="45720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QLC 위 실측은 첫 공동 검증 과제</a:t>
            </a:r>
          </a:p>
        </p:txBody>
      </p:sp>
      <p:sp>
        <p:nvSpPr>
          <p:cNvPr id="108" name="Rectangle 10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110" name="TextBox 10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성능이 아니라 규격 때문에 TLC를 쓰던 수요부터, QLC의 원가 우위로 가져옵니다</a:t>
            </a:r>
          </a:p>
        </p:txBody>
      </p:sp>
      <p:sp>
        <p:nvSpPr>
          <p:cNvPr id="111" name="TextBox 11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분할은 과제팀 산술(TLC eSSD 2026 353~435 · 2030 540~1,200EB, 용량형 비중 30~60% · 관행 비중 15~40%는 근거 없는 가정, 범위 = L~H 시나리오) · Forward Insights(재인용) · Meta QLC 블로그 · Micron 6600 ION 사양 · NetApp AFF A/C · RAG 지연 연구 · 삼성 PM9D3a · Solidigm CSAL · 모두 검색 확인 등급</a:t>
            </a:r>
          </a:p>
        </p:txBody>
      </p:sp>
      <p:sp>
        <p:nvSpPr>
          <p:cNvPr id="112" name="TextBox 11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6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6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