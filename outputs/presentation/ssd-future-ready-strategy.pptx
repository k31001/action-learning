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 수요의 모양과 삼성의 대응 현황입니다. HBM에서 삼성 점유율은 2022년 40퍼센트에서 2025년 2분기 17퍼센트로, SK하이닉스는 50에서 62퍼센트로 갈렸습니다. 하나의 수요를 늦게 읽으면 첫 호황을 놓친다는 교훈입니다. 그래서 하이퍼스케일러의 데이터센터 응용 네 가지를 SSD에 요구하는 특성으로 비교했습니다. 범용 클라우드는 여러 VM이 SSD를 나눠 써서 QoS와 격리가 요구입니다. 하드웨어로 격리하면 p99 지연이 최대 3.1배 줄었습니다. AI 학습은 대역입니다. NVIDIA SuperPOD 가이드를 GPU당으로 환산하면 멀티모달 학습은 기본보다 약 3배의 읽기 대역을 요구합니다. AI 추론은 DWPD만의 문제가 아닙니다. 세 가지를 함께 봐야 합니다. 첫째 읽기 대역입니다. 70B 모델의 128K 토큰 KV 캐시는 약 43기가바이트이고, 이것을 1초 안에 되살리려면 GPU 8개 서버 기준 GPU당 약 5.4기가바이트 매초가 필요합니다. 과제팀 산술입니다. 공개 측정에서는 문맥이 1K 토큰일 때 다시 계산하는 것보다 빠르려면 23.2기가바이트 매초, 80K 토큰이면 3.5기가바이트 매초가 필요했습니다. 405B 모델 가중치 810기가바이트를 PM1763 한 대로 읽으면 약 28.5초, PM1753이면 약 56초입니다. 둘째 꼬리 지연입니다. MLPerf의 Llama 2 70B 대화형 기준은 첫 토큰 p99 450밀리초, 토큰당 40밀리초입니다. SSD 계층을 넣고도 p99 첫 토큰 목표를 지키면 GPU당 세션을 10.77배 늘릴 수 있었다는 결과가 있고, SSD의 지연 흔들림이 첫 토큰 지연을 키운다는 연구도 있습니다. NVIDIA의 차세대 스토리지 목표도 전력과 꼬리 지연 제약 안에서 IOPS를 최대화하는 것입니다. 셋째 쓰기 내구입니다. KV 캐시 계층 드라이브 실측은 3.2 DWPD로 QLC 정격을 크게 넘고, AI 전용 SSD는 50에서 120 DWPD로 나왔습니다. 에이전트는 사용자마다 VM을 하나씩 주는 구조라 디스크가 메모리보다 13배 크고, 대부분 휴면이라 용량과 TB당 비용이 요구입니다. 가운데 막대는 eSSD 수요 비중입니다. 올해 범용 85, 학습 6, 추론 9퍼센트에서 2030년에는 범용 47, 학습 12, 추론 41퍼센트가 됩니다. 아래는 삼성 SSD 포트폴리오가 각 수요를 어떻게 맡고 있는지입니다. 고성능 TLC는 PM9D3a와 PM1753이 범용 VM과 DB를, PCIe 6.0의 PM1763이 학습 데이터 로딩을, PM1753이 NVIDIA CMX 같은 KV 계층을 맡습니다. 고내구 TLC는 3 DWPD의 PM1755와 PM1745가 쓰기가 많은 KV를 맡습니다. 고용량 QLC는 BM1743이 122테라바이트까지 객체, 데이터셋, 사용자 VM 디스크를 맡고, 245테라바이트 BM1773이 FMS 2026에서 공개됐습니다. 가중치와 RAG 읽기는 BM1743이 맞지만 삼성이 이 용도로 내세운 적은 없어 점선으로 두었습니다. 비어 있는 곳은 초고DWPD입니다. 경쟁사는 Solidigm P5810 50, Kioxia FL6 60, DapuStor X5 120 DWPD 같은 SLC급 제품을 내고 있지만, 삼성의 30 DWPD 이상 제품은 2018년 Z-SSD SZ985가 마지막이고 단종됐습니다. 7세대 Z-NAND는 계획 단계입니다. 제품 이미지는 공식 사진을 구할 수 없어 폼팩터를 따라 재현한 것이고, 삼성 모델 사양은 공식 페이지 검색 결과로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 수요를 나눠 보고, 왜 고객과의 협업이 필수인지 보여 드립니다. 추론은 하나의 수요가 아니라 네 가지가 섞여 있습니다. 첫째 모델 가중치입니다. 모델을 올리고 바꾸는 순간의 읽기 대역과 용량이 핵심입니다. Llama 3 8B를 1기가바이트 매초 SSD에서 읽으면 48초, 스트리밍 로더로 14초가 걸렸고, 4기가바이트 매초 SSD에서는 7.5초였습니다. 405B 모델은 약 810기가바이트입니다. 가중치는 모델 제공자의 자산이라 보안도 걸립니다. 기술은 Large Mapping으로 큰 용량을 싸게, Confidential Storage로 키와 증명 체계에 들어가고, Fault Tolerant는 SSD 안에서 해결합니다. 고객 시스템 개발 단계입니다. 둘째 RAG와 벡터 DB입니다. DiskANN은 10억 개 벡터를 64기가바이트 메모리로 초당 5천 건 이상, 평균 3밀리초 안에 찾고, 질의 지연의 70에서 90퍼센트가 SSD 입출력입니다. 그래서 작은 랜덤 읽기의 꼬리 지연과 용량이 핵심입니다. 색인 갱신 쓰기가 읽기를 방해하지 않도록 FDP로 GC를 줄이고, 여러 테넌트를 Multi-Tenant QoS로 나눠야 합니다. FDP가 들어가므로 최적화까지 함께 해야 합니다. 셋째 KV 캐시 오프로드입니다. 대역, 꼬리 지연, DWPD를 모두 요구하는 가장 어려운 수요입니다. 다시 계산하는 것보다 빨라야 의미가 있고, 첫 토큰 p99 목표 안에 들어와야 하며, 쓰기가 많아 3 DWPD 이상이 실측됩니다. 삼성 PM9D3a에 FDP를 적용한 LMCache KV 실험에서 WAF가 2.6에서 1.4로, 읽기 p90 지연이 22퍼센트 줄었습니다. FDP와 Mixed Media는 고객의 KV 관리자와 함께 최적화해야 효과가 납니다. 넷째 에이전트 메모리입니다. 에이전트 호출은 평균 6만 8천 토큰을 입력하고 그중 86퍼센트가 재사용이라 세션과 상태를 오래 저장합니다. 용량, 격리, 보안이 핵심이고, 작은 로그 쓰기를 Mixed Media로 모아 QLC에 싣습니다. 오른쪽 끝은 협력의 깊이입니다. 네 가지 추론 수요 모두 고객 시스템 개발이 필요하고, 그중 세 가지는 FDP나 Mixed Media 때문에 최적화까지 고객과 함께 해야 합니다. 그래서 AI 추론 수요에 대응하려면 고객과의 협업이 필수입니다. 요구와 기술의 대응, 협력 단계는 과제팀의 판단이고, 수치는 대부분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고객과 함께 설계한 기술로 무엇이 좋아지고, 그것으로 포트폴리오를 어떻게 넓힐 수 있는지입니다. 첫째 지표는 WAF입니다. SSD만 잘 만들어서는 3 근처에서 더 내려가지 않던 지표입니다. 그 이유는 참고 5장에 정리했고, 상자를 누르면 그 장으로 갑니다. 삼성 엔지니어가 Meta의 CacheLib 안에 FDP를 구현했을 때 WAF가 3.22에서 1.03으로, 68퍼센트 내려갔습니다. 둘째 지표는 꼬리 지연입니다. 삼성 PM9D3a 7.68테라바이트에서 RocksDB에 FDP 최적화 분류를 적용하자 p99.9 꼬리 지연이 55퍼센트 줄었습니다. ZNS, Valet, WALTZ 같은 공개 실험에서도 배치를 바꾸면 꼬리 지연이 1.5배에서 6배 줄었습니다. 왜 그럴까요. 가운데 그림이 그 원리입니다. SSD는 빈 블록을 만들려고 살아 있는 데이터를 옮기는 GC를 합니다. 그동안 읽기는 프로그램과 지우기 뒤에서 기다리고, 지우기는 블록당 약 10밀리초가 걸립니다. 그래서 GC가 일어날 때마다 지연 스파이크가 생깁니다. 연구에서는 GC가 99에서 99.99 백분위 지연을 5배에서 138배까지 키웠습니다. 세 기술을 함께 쓰면 GC를 세 방향으로 줄입니다. Mixed Media는 작은 쓰기를 pSLC에 모아 QLC에는 큰 단위로만 쓰므로 블록이 덜 조각나 GC 빈도가 줍니다. Large Mapping은 매핑 단위에 맞춘 큰 쓰기만 받으니 부분 덮어쓰기와 매핑 갱신이 줄어 GC 횟수가 줍니다. FDP는 수명이 같은 데이터를 같은 블록에 모아, 블록이 통째로 지워지니 옮길 데이터가 거의 없어 GC 시간이 줍니다. WAF에서 1을 뺀 값이 호스트 쓰기 하나당 GC가 옮기는 양입니다. CacheLib 사례로 보면 2.22에서 0.03으로 98퍼센트 이상 줄어듭니다. GC가 드물고 짧아지면 지연이 예측 가능해지고, 그것이 꼬리 지연을 줄여 QoS를 보장하는 원리입니다. 다만 꼬리 지연 측정은 모두 TLC이고, QLC에서 배치로 꼬리 지연이 준 공개 측정과 KV 캐시 계층의 첫 토큰 p99를 직접 잰 결과는 아직 없습니다. GC보다 칩 사이 큐 불균형이 주원인이라는 반대 연구도 있습니다. 오른쪽 3D 그림은 포트폴리오가 어떻게 넓어지는지입니다. 바닥은 정격 DWPD와 최대 용량, 높이는 꼬리 지연이 낮을수록 위입니다. 진한 기둥이 지금의 제품군이고 점선 상자가 WAF와 꼬리 지연을 낮춘 뒤 닿는 영역입니다. 같은 NAND와 같은 OP에서 WAF가 3에서 1로 내려가면 정격 DWPD는 약 3배가 됩니다. 과제팀 산술입니다. 첫째, BM1743 같은 QLC가 0.3에서 1 DWPD가 되면, 지금 TLC가 맡는 KV 캐시 오프로드 수요까지 원가 우위로 들어갈 수 있습니다. 둘째, PM1753 같은 고성능 TLC가 1에서 3 DWPD가 되면 쓰기가 많은 KV를 고내구 제품 없이 맡을 수 있습니다. 셋째, PM1755 같은 고내구 TLC가 3에서 9 DWPD가 되면 초고DWPD 수요의 입구까지 갑니다. 넷째, SLC급에서 WAF를 낮추면 30 DWPD가 100 DWPD 근처로 올라갑니다. 지금 삼성이 비어 있는 초고DWPD 영역입니다. 요구 사항에 따라 TLC의 WAF를 낮춰 대응할지, SLC급을 극한으로 올릴지 고를 수 있다는 것이 핵심입니다. 이전에는 대응하지 못하던 제품군에 빠르게 들어갈 기술적 기반이 생깁니다. 그래서 어떤 AI 추론 수요가 새로 나와도 빠르게 대응할 수 있습니다. 꼬리 지연 높이는 정성 등급이고,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5장입니다. 3장의 WAF가 왜 SSD만으로는 3 근처에 머물렀는지,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3장의 첫 번째 확장, 곧 QLC가 TLC 수요로 들어가는 사업 기회를 숫자로 본 것입니다.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2장에서 모델 가중치와 에이전트 메모리에 걸린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2장과 3장에서 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notesSlide" Target="../notesSlides/notesSlide3.xml"/><Relationship Id="rId8"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8.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png"/><Relationship Id="rId6" Type="http://schemas.openxmlformats.org/officeDocument/2006/relationships/image" Target="../media/image1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추론의 초고DWPD 영역은 아직 비어 있습니다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1192256" y="2871215"/>
            <a:ext cx="5486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1338560" y="2834639"/>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읽기 대역</a:t>
            </a:r>
          </a:p>
        </p:txBody>
      </p:sp>
      <p:sp>
        <p:nvSpPr>
          <p:cNvPr id="81" name="TextBox 80"/>
          <p:cNvSpPr txBox="1"/>
          <p:nvPr/>
        </p:nvSpPr>
        <p:spPr>
          <a:xfrm>
            <a:off x="12527280" y="2807208"/>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5.4GB/s</a:t>
            </a:r>
          </a:p>
        </p:txBody>
      </p:sp>
      <p:sp>
        <p:nvSpPr>
          <p:cNvPr id="82" name="TextBox 81"/>
          <p:cNvSpPr txBox="1"/>
          <p:nvPr/>
        </p:nvSpPr>
        <p:spPr>
          <a:xfrm>
            <a:off x="11338560" y="3108959"/>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GPU당 · 128K KV 1초 복원</a:t>
            </a:r>
          </a:p>
        </p:txBody>
      </p:sp>
      <p:sp>
        <p:nvSpPr>
          <p:cNvPr id="83" name="Rectangle 82"/>
          <p:cNvSpPr/>
          <p:nvPr/>
        </p:nvSpPr>
        <p:spPr>
          <a:xfrm>
            <a:off x="11192256" y="3438144"/>
            <a:ext cx="5486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1338560" y="3401568"/>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꼬리 지연</a:t>
            </a:r>
          </a:p>
        </p:txBody>
      </p:sp>
      <p:sp>
        <p:nvSpPr>
          <p:cNvPr id="85" name="TextBox 84"/>
          <p:cNvSpPr txBox="1"/>
          <p:nvPr/>
        </p:nvSpPr>
        <p:spPr>
          <a:xfrm>
            <a:off x="12527280" y="3374136"/>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p99 450ms</a:t>
            </a:r>
          </a:p>
        </p:txBody>
      </p:sp>
      <p:sp>
        <p:nvSpPr>
          <p:cNvPr id="86" name="TextBox 85"/>
          <p:cNvSpPr txBox="1"/>
          <p:nvPr/>
        </p:nvSpPr>
        <p:spPr>
          <a:xfrm>
            <a:off x="11338560" y="3675887"/>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첫 토큰 (MLPerf 70B)</a:t>
            </a:r>
          </a:p>
        </p:txBody>
      </p:sp>
      <p:sp>
        <p:nvSpPr>
          <p:cNvPr id="87" name="Rectangle 86"/>
          <p:cNvSpPr/>
          <p:nvPr/>
        </p:nvSpPr>
        <p:spPr>
          <a:xfrm>
            <a:off x="11192256" y="4005072"/>
            <a:ext cx="54864" cy="47548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338560" y="3968496"/>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쓰기 내구</a:t>
            </a:r>
          </a:p>
        </p:txBody>
      </p:sp>
      <p:sp>
        <p:nvSpPr>
          <p:cNvPr id="89" name="TextBox 88"/>
          <p:cNvSpPr txBox="1"/>
          <p:nvPr/>
        </p:nvSpPr>
        <p:spPr>
          <a:xfrm>
            <a:off x="12527280" y="3941063"/>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3.2 DWPD</a:t>
            </a:r>
          </a:p>
        </p:txBody>
      </p:sp>
      <p:sp>
        <p:nvSpPr>
          <p:cNvPr id="90" name="TextBox 89"/>
          <p:cNvSpPr txBox="1"/>
          <p:nvPr/>
        </p:nvSpPr>
        <p:spPr>
          <a:xfrm>
            <a:off x="11338560" y="4242816"/>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계층 실측</a:t>
            </a:r>
          </a:p>
        </p:txBody>
      </p:sp>
      <p:sp>
        <p:nvSpPr>
          <p:cNvPr id="91" name="Rectangle 90"/>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2" name="TextBox 121"/>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3" name="Rectangle 122"/>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5" name="TextBox 124"/>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6" name="Rectangle 125"/>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8" name="TextBox 127"/>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29" name="TextBox 128"/>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0" name="TextBox 129"/>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1" name="Rectangle 130"/>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3" name="Rectangle 132"/>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5" name="Rectangle 134"/>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37" name="TextBox 136"/>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38" name="TextBox 137"/>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39" name="Rectangle 138"/>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1" name="Rectangle 140"/>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3" name="Rectangle 142"/>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5" name="TextBox 144"/>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46" name="TextBox 145"/>
          <p:cNvSpPr txBox="1"/>
          <p:nvPr/>
        </p:nvSpPr>
        <p:spPr>
          <a:xfrm>
            <a:off x="722376" y="6053328"/>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47" name="TextBox 146"/>
          <p:cNvSpPr txBox="1"/>
          <p:nvPr/>
        </p:nvSpPr>
        <p:spPr>
          <a:xfrm>
            <a:off x="10250424" y="6053328"/>
            <a:ext cx="7315200" cy="329184"/>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대응 중   </a:t>
            </a:r>
            <a:r>
              <a:rPr sz="1600" b="0">
                <a:solidFill>
                  <a:srgbClr val="3C5AC8"/>
                </a:solidFill>
                <a:latin typeface="Arial"/>
                <a:ea typeface="Arial"/>
              </a:rPr>
              <a:t>▢</a:t>
            </a:r>
            <a:r>
              <a:rPr sz="1600" b="0">
                <a:solidFill>
                  <a:srgbClr val="555555"/>
                </a:solidFill>
                <a:latin typeface="Arial"/>
                <a:ea typeface="Arial"/>
              </a:rPr>
              <a:t> 대응 가능 · 신호   </a:t>
            </a:r>
            <a:r>
              <a:rPr sz="1600" b="0">
                <a:solidFill>
                  <a:srgbClr val="1428A0"/>
                </a:solidFill>
                <a:latin typeface="Arial"/>
                <a:ea typeface="Arial"/>
              </a:rPr>
              <a:t>▨</a:t>
            </a:r>
            <a:r>
              <a:rPr sz="1600" b="1">
                <a:solidFill>
                  <a:srgbClr val="1428A0"/>
                </a:solidFill>
                <a:latin typeface="Arial"/>
                <a:ea typeface="Arial"/>
              </a:rPr>
              <a:t> 공백</a:t>
            </a:r>
          </a:p>
        </p:txBody>
      </p:sp>
      <p:sp>
        <p:nvSpPr>
          <p:cNvPr id="148" name="Rounded Rectangle 147"/>
          <p:cNvSpPr/>
          <p:nvPr/>
        </p:nvSpPr>
        <p:spPr>
          <a:xfrm>
            <a:off x="722376" y="6437376"/>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9" name="Picture 148" descr="p_zssd.png"/>
          <p:cNvPicPr>
            <a:picLocks noChangeAspect="1"/>
          </p:cNvPicPr>
          <p:nvPr/>
        </p:nvPicPr>
        <p:blipFill>
          <a:blip r:embed="rId10"/>
          <a:stretch>
            <a:fillRect/>
          </a:stretch>
        </p:blipFill>
        <p:spPr>
          <a:xfrm>
            <a:off x="777240" y="6491224"/>
            <a:ext cx="914400" cy="550672"/>
          </a:xfrm>
          <a:prstGeom prst="rect">
            <a:avLst/>
          </a:prstGeom>
        </p:spPr>
      </p:pic>
      <p:sp>
        <p:nvSpPr>
          <p:cNvPr id="150" name="TextBox 149"/>
          <p:cNvSpPr txBox="1"/>
          <p:nvPr/>
        </p:nvSpPr>
        <p:spPr>
          <a:xfrm>
            <a:off x="1746504" y="6455664"/>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SLC급 · 30+ DWPD</a:t>
            </a:r>
          </a:p>
        </p:txBody>
      </p:sp>
      <p:sp>
        <p:nvSpPr>
          <p:cNvPr id="151" name="TextBox 150"/>
          <p:cNvSpPr txBox="1"/>
          <p:nvPr/>
        </p:nvSpPr>
        <p:spPr>
          <a:xfrm>
            <a:off x="1746504" y="6775704"/>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SZ985 (2018 · 단종)</a:t>
            </a:r>
          </a:p>
        </p:txBody>
      </p:sp>
      <p:sp>
        <p:nvSpPr>
          <p:cNvPr id="152" name="Rounded Rectangle 151"/>
          <p:cNvSpPr/>
          <p:nvPr/>
        </p:nvSpPr>
        <p:spPr>
          <a:xfrm>
            <a:off x="4306824"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ounded Rectangle 152"/>
          <p:cNvSpPr/>
          <p:nvPr/>
        </p:nvSpPr>
        <p:spPr>
          <a:xfrm>
            <a:off x="7658100"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ounded Rectangle 153"/>
          <p:cNvSpPr/>
          <p:nvPr/>
        </p:nvSpPr>
        <p:spPr>
          <a:xfrm>
            <a:off x="11009376" y="6437376"/>
            <a:ext cx="3204972" cy="658368"/>
          </a:xfrm>
          <a:prstGeom prst="roundRect">
            <a:avLst>
              <a:gd name="adj" fmla="val 11111"/>
            </a:avLst>
          </a:prstGeom>
          <a:solidFill>
            <a:srgbClr val="EEF1FA"/>
          </a:solidFill>
          <a:ln w="254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1100816" y="6455664"/>
            <a:ext cx="3022092" cy="329184"/>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초고DWPD KV</a:t>
            </a:r>
          </a:p>
        </p:txBody>
      </p:sp>
      <p:sp>
        <p:nvSpPr>
          <p:cNvPr id="156" name="TextBox 155"/>
          <p:cNvSpPr txBox="1"/>
          <p:nvPr/>
        </p:nvSpPr>
        <p:spPr>
          <a:xfrm>
            <a:off x="11100816" y="6775704"/>
            <a:ext cx="3022092" cy="292608"/>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공백  </a:t>
            </a:r>
            <a:r>
              <a:rPr sz="1500" b="0">
                <a:solidFill>
                  <a:srgbClr val="555555"/>
                </a:solidFill>
                <a:latin typeface="Arial"/>
                <a:ea typeface="Arial"/>
              </a:rPr>
              <a:t>삼성 제품 없음</a:t>
            </a:r>
          </a:p>
        </p:txBody>
      </p:sp>
      <p:sp>
        <p:nvSpPr>
          <p:cNvPr id="157" name="Rounded Rectangle 156"/>
          <p:cNvSpPr/>
          <p:nvPr/>
        </p:nvSpPr>
        <p:spPr>
          <a:xfrm>
            <a:off x="14360652"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ounded Rectangle 157"/>
          <p:cNvSpPr/>
          <p:nvPr/>
        </p:nvSpPr>
        <p:spPr>
          <a:xfrm>
            <a:off x="722376" y="7150608"/>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9" name="Picture 158" descr="p_pm1755.png"/>
          <p:cNvPicPr>
            <a:picLocks noChangeAspect="1"/>
          </p:cNvPicPr>
          <p:nvPr/>
        </p:nvPicPr>
        <p:blipFill>
          <a:blip r:embed="rId11"/>
          <a:stretch>
            <a:fillRect/>
          </a:stretch>
        </p:blipFill>
        <p:spPr>
          <a:xfrm>
            <a:off x="822960" y="7178040"/>
            <a:ext cx="822959" cy="603503"/>
          </a:xfrm>
          <a:prstGeom prst="rect">
            <a:avLst/>
          </a:prstGeom>
        </p:spPr>
      </p:pic>
      <p:sp>
        <p:nvSpPr>
          <p:cNvPr id="160" name="TextBox 159"/>
          <p:cNvSpPr txBox="1"/>
          <p:nvPr/>
        </p:nvSpPr>
        <p:spPr>
          <a:xfrm>
            <a:off x="1746504" y="71688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61" name="TextBox 160"/>
          <p:cNvSpPr txBox="1"/>
          <p:nvPr/>
        </p:nvSpPr>
        <p:spPr>
          <a:xfrm>
            <a:off x="1746504" y="748893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PM1755 · PM1745</a:t>
            </a:r>
          </a:p>
        </p:txBody>
      </p:sp>
      <p:sp>
        <p:nvSpPr>
          <p:cNvPr id="162" name="Rounded Rectangle 161"/>
          <p:cNvSpPr/>
          <p:nvPr/>
        </p:nvSpPr>
        <p:spPr>
          <a:xfrm>
            <a:off x="4306824"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7658100" y="7150608"/>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49540" y="716889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체크포인트</a:t>
            </a:r>
          </a:p>
        </p:txBody>
      </p:sp>
      <p:sp>
        <p:nvSpPr>
          <p:cNvPr id="165" name="TextBox 164"/>
          <p:cNvSpPr txBox="1"/>
          <p:nvPr/>
        </p:nvSpPr>
        <p:spPr>
          <a:xfrm>
            <a:off x="7749540" y="74889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66" name="Rounded Rectangle 165"/>
          <p:cNvSpPr/>
          <p:nvPr/>
        </p:nvSpPr>
        <p:spPr>
          <a:xfrm>
            <a:off x="11009376" y="7150608"/>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1100816" y="71688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68" name="TextBox 167"/>
          <p:cNvSpPr txBox="1"/>
          <p:nvPr/>
        </p:nvSpPr>
        <p:spPr>
          <a:xfrm>
            <a:off x="11100816" y="748893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PM1755</a:t>
            </a:r>
          </a:p>
        </p:txBody>
      </p:sp>
      <p:sp>
        <p:nvSpPr>
          <p:cNvPr id="169" name="Rounded Rectangle 168"/>
          <p:cNvSpPr/>
          <p:nvPr/>
        </p:nvSpPr>
        <p:spPr>
          <a:xfrm>
            <a:off x="14360652"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ounded Rectangle 169"/>
          <p:cNvSpPr/>
          <p:nvPr/>
        </p:nvSpPr>
        <p:spPr>
          <a:xfrm>
            <a:off x="722376" y="7863840"/>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1" name="Picture 170" descr="p_pm1763.png"/>
          <p:cNvPicPr>
            <a:picLocks noChangeAspect="1"/>
          </p:cNvPicPr>
          <p:nvPr/>
        </p:nvPicPr>
        <p:blipFill>
          <a:blip r:embed="rId12"/>
          <a:stretch>
            <a:fillRect/>
          </a:stretch>
        </p:blipFill>
        <p:spPr>
          <a:xfrm>
            <a:off x="798522" y="7891271"/>
            <a:ext cx="871835" cy="603503"/>
          </a:xfrm>
          <a:prstGeom prst="rect">
            <a:avLst/>
          </a:prstGeom>
        </p:spPr>
      </p:pic>
      <p:sp>
        <p:nvSpPr>
          <p:cNvPr id="172" name="TextBox 171"/>
          <p:cNvSpPr txBox="1"/>
          <p:nvPr/>
        </p:nvSpPr>
        <p:spPr>
          <a:xfrm>
            <a:off x="1746504" y="7882127"/>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1 DWPD</a:t>
            </a:r>
          </a:p>
        </p:txBody>
      </p:sp>
      <p:sp>
        <p:nvSpPr>
          <p:cNvPr id="173" name="TextBox 172"/>
          <p:cNvSpPr txBox="1"/>
          <p:nvPr/>
        </p:nvSpPr>
        <p:spPr>
          <a:xfrm>
            <a:off x="1746504" y="8202167"/>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PM1753 · PM1763</a:t>
            </a:r>
          </a:p>
        </p:txBody>
      </p:sp>
      <p:sp>
        <p:nvSpPr>
          <p:cNvPr id="174" name="Rounded Rectangle 173"/>
          <p:cNvSpPr/>
          <p:nvPr/>
        </p:nvSpPr>
        <p:spPr>
          <a:xfrm>
            <a:off x="4306824"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4398264"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76" name="TextBox 175"/>
          <p:cNvSpPr txBox="1"/>
          <p:nvPr/>
        </p:nvSpPr>
        <p:spPr>
          <a:xfrm>
            <a:off x="4398264"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PM9D3a · PM1753</a:t>
            </a:r>
          </a:p>
        </p:txBody>
      </p:sp>
      <p:sp>
        <p:nvSpPr>
          <p:cNvPr id="177" name="Rounded Rectangle 176"/>
          <p:cNvSpPr/>
          <p:nvPr/>
        </p:nvSpPr>
        <p:spPr>
          <a:xfrm>
            <a:off x="7658100"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49540"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79" name="TextBox 178"/>
          <p:cNvSpPr txBox="1"/>
          <p:nvPr/>
        </p:nvSpPr>
        <p:spPr>
          <a:xfrm>
            <a:off x="7749540"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PM1763</a:t>
            </a:r>
          </a:p>
        </p:txBody>
      </p:sp>
      <p:sp>
        <p:nvSpPr>
          <p:cNvPr id="180" name="Rounded Rectangle 179"/>
          <p:cNvSpPr/>
          <p:nvPr/>
        </p:nvSpPr>
        <p:spPr>
          <a:xfrm>
            <a:off x="11009376"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11100816"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82" name="TextBox 181"/>
          <p:cNvSpPr txBox="1"/>
          <p:nvPr/>
        </p:nvSpPr>
        <p:spPr>
          <a:xfrm>
            <a:off x="11100816"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PM1753</a:t>
            </a:r>
          </a:p>
        </p:txBody>
      </p:sp>
      <p:sp>
        <p:nvSpPr>
          <p:cNvPr id="183" name="Rounded Rectangle 182"/>
          <p:cNvSpPr/>
          <p:nvPr/>
        </p:nvSpPr>
        <p:spPr>
          <a:xfrm>
            <a:off x="14360652" y="7863840"/>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4452092" y="7882127"/>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기동 버스트</a:t>
            </a:r>
          </a:p>
        </p:txBody>
      </p:sp>
      <p:sp>
        <p:nvSpPr>
          <p:cNvPr id="185" name="TextBox 184"/>
          <p:cNvSpPr txBox="1"/>
          <p:nvPr/>
        </p:nvSpPr>
        <p:spPr>
          <a:xfrm>
            <a:off x="14452092" y="8202167"/>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86" name="Rounded Rectangle 185"/>
          <p:cNvSpPr/>
          <p:nvPr/>
        </p:nvSpPr>
        <p:spPr>
          <a:xfrm>
            <a:off x="722376" y="8577072"/>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7" name="Picture 186" descr="p_bm1743.png"/>
          <p:cNvPicPr>
            <a:picLocks noChangeAspect="1"/>
          </p:cNvPicPr>
          <p:nvPr/>
        </p:nvPicPr>
        <p:blipFill>
          <a:blip r:embed="rId13"/>
          <a:stretch>
            <a:fillRect/>
          </a:stretch>
        </p:blipFill>
        <p:spPr>
          <a:xfrm>
            <a:off x="798522" y="8604503"/>
            <a:ext cx="871835" cy="603503"/>
          </a:xfrm>
          <a:prstGeom prst="rect">
            <a:avLst/>
          </a:prstGeom>
        </p:spPr>
      </p:pic>
      <p:sp>
        <p:nvSpPr>
          <p:cNvPr id="188" name="TextBox 187"/>
          <p:cNvSpPr txBox="1"/>
          <p:nvPr/>
        </p:nvSpPr>
        <p:spPr>
          <a:xfrm>
            <a:off x="1746504" y="8595359"/>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89" name="TextBox 188"/>
          <p:cNvSpPr txBox="1"/>
          <p:nvPr/>
        </p:nvSpPr>
        <p:spPr>
          <a:xfrm>
            <a:off x="1746504" y="8915399"/>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BM1743 · BM1773</a:t>
            </a:r>
          </a:p>
        </p:txBody>
      </p:sp>
      <p:sp>
        <p:nvSpPr>
          <p:cNvPr id="190" name="Rounded Rectangle 189"/>
          <p:cNvSpPr/>
          <p:nvPr/>
        </p:nvSpPr>
        <p:spPr>
          <a:xfrm>
            <a:off x="4306824"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4398264"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92" name="TextBox 191"/>
          <p:cNvSpPr txBox="1"/>
          <p:nvPr/>
        </p:nvSpPr>
        <p:spPr>
          <a:xfrm>
            <a:off x="4398264"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3" name="Rounded Rectangle 192"/>
          <p:cNvSpPr/>
          <p:nvPr/>
        </p:nvSpPr>
        <p:spPr>
          <a:xfrm>
            <a:off x="7658100"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7749540"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95" name="TextBox 194"/>
          <p:cNvSpPr txBox="1"/>
          <p:nvPr/>
        </p:nvSpPr>
        <p:spPr>
          <a:xfrm>
            <a:off x="7749540"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6" name="Rounded Rectangle 195"/>
          <p:cNvSpPr/>
          <p:nvPr/>
        </p:nvSpPr>
        <p:spPr>
          <a:xfrm>
            <a:off x="11009376" y="8577072"/>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11100816" y="8595359"/>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 RAG 읽기</a:t>
            </a:r>
          </a:p>
        </p:txBody>
      </p:sp>
      <p:sp>
        <p:nvSpPr>
          <p:cNvPr id="198" name="TextBox 197"/>
          <p:cNvSpPr txBox="1"/>
          <p:nvPr/>
        </p:nvSpPr>
        <p:spPr>
          <a:xfrm>
            <a:off x="11100816" y="8915399"/>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99" name="Rounded Rectangle 198"/>
          <p:cNvSpPr/>
          <p:nvPr/>
        </p:nvSpPr>
        <p:spPr>
          <a:xfrm>
            <a:off x="14360652"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52092"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201" name="TextBox 200"/>
          <p:cNvSpPr txBox="1"/>
          <p:nvPr/>
        </p:nvSpPr>
        <p:spPr>
          <a:xfrm>
            <a:off x="14452092"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 · BM1773</a:t>
            </a:r>
          </a:p>
        </p:txBody>
      </p:sp>
      <p:sp>
        <p:nvSpPr>
          <p:cNvPr id="202" name="TextBox 201"/>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 보간 · 상세 참고 8장) · HBM 과제팀 집계 · p99 FlashBlox(FAST'17) · GPU당 대역 NVIDIA SuperPOD(환산) · 추론 대역 70B · 128K KV 43GB 1초 복원(⚠️ 산술) · MLPerf 70B 첫 토큰 p99 · KV 실측 StorageReview · 삼성 모델 사양 공식 페이지 검색 확인(🟡) · 제품 이미지는 형태 재현</a:t>
            </a:r>
          </a:p>
        </p:txBody>
      </p:sp>
      <p:sp>
        <p:nvSpPr>
          <p:cNvPr id="203" name="TextBox 202"/>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93192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① 추론 수요</a:t>
            </a:r>
          </a:p>
        </p:txBody>
      </p:sp>
      <p:sp>
        <p:nvSpPr>
          <p:cNvPr id="7" name="TextBox 6"/>
          <p:cNvSpPr txBox="1"/>
          <p:nvPr/>
        </p:nvSpPr>
        <p:spPr>
          <a:xfrm>
            <a:off x="5020056" y="2066543"/>
            <a:ext cx="457200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② 핵심 요구</a:t>
            </a:r>
          </a:p>
        </p:txBody>
      </p:sp>
      <p:sp>
        <p:nvSpPr>
          <p:cNvPr id="8" name="TextBox 7"/>
          <p:cNvSpPr txBox="1"/>
          <p:nvPr/>
        </p:nvSpPr>
        <p:spPr>
          <a:xfrm>
            <a:off x="9957816" y="2066543"/>
            <a:ext cx="466344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③ 핵심 기술</a:t>
            </a:r>
          </a:p>
        </p:txBody>
      </p:sp>
      <p:sp>
        <p:nvSpPr>
          <p:cNvPr id="9" name="TextBox 8"/>
          <p:cNvSpPr txBox="1"/>
          <p:nvPr/>
        </p:nvSpPr>
        <p:spPr>
          <a:xfrm>
            <a:off x="14987016" y="2066543"/>
            <a:ext cx="2578608"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④ 고객 협력</a:t>
            </a:r>
          </a:p>
        </p:txBody>
      </p:sp>
      <p:sp>
        <p:nvSpPr>
          <p:cNvPr id="10" name="Chevron 9"/>
          <p:cNvSpPr/>
          <p:nvPr/>
        </p:nvSpPr>
        <p:spPr>
          <a:xfrm>
            <a:off x="470916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96469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146761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00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읽기</a:t>
            </a:r>
          </a:p>
          <a:p>
            <a:pPr algn="ctr">
              <a:lnSpc>
                <a:spcPct val="95000"/>
              </a:lnSpc>
            </a:pPr>
            <a:r>
              <a:rPr sz="1600" b="1">
                <a:solidFill>
                  <a:srgbClr val="1A1A1A"/>
                </a:solidFill>
                <a:latin typeface="Arial"/>
                <a:ea typeface="Arial"/>
              </a:rPr>
              <a:t>대역</a:t>
            </a:r>
          </a:p>
        </p:txBody>
      </p:sp>
      <p:sp>
        <p:nvSpPr>
          <p:cNvPr id="14" name="TextBox 13"/>
          <p:cNvSpPr txBox="1"/>
          <p:nvPr/>
        </p:nvSpPr>
        <p:spPr>
          <a:xfrm>
            <a:off x="59344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꼬리</a:t>
            </a:r>
          </a:p>
          <a:p>
            <a:pPr algn="ctr">
              <a:lnSpc>
                <a:spcPct val="95000"/>
              </a:lnSpc>
            </a:pPr>
            <a:r>
              <a:rPr sz="1600" b="1">
                <a:solidFill>
                  <a:srgbClr val="1A1A1A"/>
                </a:solidFill>
                <a:latin typeface="Arial"/>
                <a:ea typeface="Arial"/>
              </a:rPr>
              <a:t>지연</a:t>
            </a:r>
          </a:p>
        </p:txBody>
      </p:sp>
      <p:sp>
        <p:nvSpPr>
          <p:cNvPr id="15" name="TextBox 14"/>
          <p:cNvSpPr txBox="1"/>
          <p:nvPr/>
        </p:nvSpPr>
        <p:spPr>
          <a:xfrm>
            <a:off x="68488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쓰기</a:t>
            </a:r>
          </a:p>
          <a:p>
            <a:pPr algn="ctr">
              <a:lnSpc>
                <a:spcPct val="95000"/>
              </a:lnSpc>
            </a:pPr>
            <a:r>
              <a:rPr sz="1600" b="1">
                <a:solidFill>
                  <a:srgbClr val="1A1A1A"/>
                </a:solidFill>
                <a:latin typeface="Arial"/>
                <a:ea typeface="Arial"/>
              </a:rPr>
              <a:t>DWPD</a:t>
            </a:r>
          </a:p>
        </p:txBody>
      </p:sp>
      <p:sp>
        <p:nvSpPr>
          <p:cNvPr id="16" name="TextBox 15"/>
          <p:cNvSpPr txBox="1"/>
          <p:nvPr/>
        </p:nvSpPr>
        <p:spPr>
          <a:xfrm>
            <a:off x="77632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용량</a:t>
            </a:r>
          </a:p>
          <a:p>
            <a:pPr algn="ctr">
              <a:lnSpc>
                <a:spcPct val="95000"/>
              </a:lnSpc>
            </a:pPr>
            <a:r>
              <a:rPr sz="1600" b="1">
                <a:solidFill>
                  <a:srgbClr val="1A1A1A"/>
                </a:solidFill>
                <a:latin typeface="Arial"/>
                <a:ea typeface="Arial"/>
              </a:rPr>
              <a:t>$/TB</a:t>
            </a:r>
          </a:p>
        </p:txBody>
      </p:sp>
      <p:sp>
        <p:nvSpPr>
          <p:cNvPr id="17" name="TextBox 16"/>
          <p:cNvSpPr txBox="1"/>
          <p:nvPr/>
        </p:nvSpPr>
        <p:spPr>
          <a:xfrm>
            <a:off x="86776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격리</a:t>
            </a:r>
          </a:p>
          <a:p>
            <a:pPr algn="ctr">
              <a:lnSpc>
                <a:spcPct val="95000"/>
              </a:lnSpc>
            </a:pPr>
            <a:r>
              <a:rPr sz="1600" b="1">
                <a:solidFill>
                  <a:srgbClr val="1A1A1A"/>
                </a:solidFill>
                <a:latin typeface="Arial"/>
                <a:ea typeface="Arial"/>
              </a:rPr>
              <a:t>보안</a:t>
            </a:r>
          </a:p>
        </p:txBody>
      </p:sp>
      <p:sp>
        <p:nvSpPr>
          <p:cNvPr id="18" name="Rounded Rectangle 17"/>
          <p:cNvSpPr/>
          <p:nvPr/>
        </p:nvSpPr>
        <p:spPr>
          <a:xfrm>
            <a:off x="722376" y="3145536"/>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 y="3236976"/>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1014984" y="3383645"/>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14984" y="3478011"/>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14984" y="3478011"/>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14984" y="3478011"/>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14984" y="3383645"/>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014984" y="3572377"/>
            <a:ext cx="310896" cy="94367"/>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14984" y="3666744"/>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14984" y="3666744"/>
            <a:ext cx="310896" cy="28309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014984" y="3383645"/>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014984" y="3572377"/>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014984" y="3761110"/>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4984" y="3855476"/>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325880" y="3383645"/>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325880" y="3383645"/>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325880" y="3383645"/>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325880" y="3478011"/>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325880" y="3572377"/>
            <a:ext cx="310896" cy="94367"/>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325880" y="3572377"/>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325880" y="3478011"/>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325880" y="3666744"/>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325880" y="3761110"/>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325880" y="3478011"/>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325880" y="3666744"/>
            <a:ext cx="310896" cy="28309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325880" y="3855476"/>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948141" y="3411169"/>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48141" y="3599901"/>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48141" y="3788633"/>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59037" y="3316803"/>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59037" y="3505535"/>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59037" y="3694267"/>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259037" y="3882999"/>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69933" y="3411169"/>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69933" y="3599901"/>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569933" y="3788633"/>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965960" y="3273552"/>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모델 가중치</a:t>
            </a:r>
          </a:p>
        </p:txBody>
      </p:sp>
      <p:sp>
        <p:nvSpPr>
          <p:cNvPr id="55" name="TextBox 54"/>
          <p:cNvSpPr txBox="1"/>
          <p:nvPr/>
        </p:nvSpPr>
        <p:spPr>
          <a:xfrm>
            <a:off x="1965960" y="3712463"/>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로딩 · 모델 교체</a:t>
            </a:r>
          </a:p>
        </p:txBody>
      </p:sp>
      <p:sp>
        <p:nvSpPr>
          <p:cNvPr id="56" name="Rounded Rectangle 55"/>
          <p:cNvSpPr/>
          <p:nvPr/>
        </p:nvSpPr>
        <p:spPr>
          <a:xfrm>
            <a:off x="5020056" y="3145536"/>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285232"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199632"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28431"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942832"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9957816" y="3200400"/>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067544"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148376"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229209"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310042"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067544" y="342900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451592" y="3200400"/>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380976" y="3200400"/>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559101" y="327355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515575" y="339791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627498" y="3447653"/>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874752" y="3200400"/>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1169396" y="3712464"/>
            <a:ext cx="2240279" cy="457200"/>
          </a:xfrm>
          <a:prstGeom prst="roundRect">
            <a:avLst>
              <a:gd name="adj" fmla="val 16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1279124"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1384828"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1490533"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1279124" y="3891320"/>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1384828" y="3891320"/>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1490533" y="3891320"/>
            <a:ext cx="87050" cy="87050"/>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1279124"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1384828"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490533"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663172" y="3712464"/>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Fault Tolerant</a:t>
            </a:r>
          </a:p>
        </p:txBody>
      </p:sp>
      <p:sp>
        <p:nvSpPr>
          <p:cNvPr id="84" name="Rectangle 83"/>
          <p:cNvSpPr/>
          <p:nvPr/>
        </p:nvSpPr>
        <p:spPr>
          <a:xfrm>
            <a:off x="14987016" y="3291840"/>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5870935" y="3291840"/>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6754856" y="3291840"/>
            <a:ext cx="810768" cy="36576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4987016" y="3712463"/>
            <a:ext cx="2578608" cy="402336"/>
          </a:xfrm>
          <a:prstGeom prst="rect">
            <a:avLst/>
          </a:prstGeom>
          <a:noFill/>
        </p:spPr>
        <p:txBody>
          <a:bodyPr wrap="square" anchor="ctr" lIns="0" rIns="0" tIns="0" bIns="0">
            <a:spAutoFit/>
          </a:bodyPr>
          <a:lstStyle/>
          <a:p>
            <a:pPr algn="l">
              <a:lnSpc>
                <a:spcPct val="110000"/>
              </a:lnSpc>
            </a:pPr>
            <a:r>
              <a:rPr sz="1900" b="1">
                <a:solidFill>
                  <a:srgbClr val="3C5AC8"/>
                </a:solidFill>
                <a:latin typeface="Arial"/>
                <a:ea typeface="Arial"/>
              </a:rPr>
              <a:t>고객 시스템 개발</a:t>
            </a:r>
          </a:p>
        </p:txBody>
      </p:sp>
      <p:sp>
        <p:nvSpPr>
          <p:cNvPr id="88" name="Rounded Rectangle 87"/>
          <p:cNvSpPr/>
          <p:nvPr/>
        </p:nvSpPr>
        <p:spPr>
          <a:xfrm>
            <a:off x="722376" y="4297679"/>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813816" y="4389119"/>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Can 89"/>
          <p:cNvSpPr/>
          <p:nvPr/>
        </p:nvSpPr>
        <p:spPr>
          <a:xfrm>
            <a:off x="905256" y="4567245"/>
            <a:ext cx="365760" cy="519013"/>
          </a:xfrm>
          <a:prstGeom prst="ca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0744" y="4598700"/>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472184" y="4740249"/>
            <a:ext cx="78638" cy="786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344168" y="4834615"/>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545336" y="4582972"/>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435608" y="4944709"/>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399032" y="4661611"/>
            <a:ext cx="298825" cy="298825"/>
          </a:xfrm>
          <a:prstGeom prst="ellipse">
            <a:avLst/>
          </a:prstGeom>
          <a:noFill/>
          <a:ln w="317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7" name="Connector 96"/>
          <p:cNvCxnSpPr/>
          <p:nvPr/>
        </p:nvCxnSpPr>
        <p:spPr>
          <a:xfrm>
            <a:off x="1658538" y="4921117"/>
            <a:ext cx="87966" cy="22805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965960" y="4425695"/>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RAG · Vector DB</a:t>
            </a:r>
          </a:p>
        </p:txBody>
      </p:sp>
      <p:sp>
        <p:nvSpPr>
          <p:cNvPr id="99" name="TextBox 98"/>
          <p:cNvSpPr txBox="1"/>
          <p:nvPr/>
        </p:nvSpPr>
        <p:spPr>
          <a:xfrm>
            <a:off x="1965960" y="4864607"/>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작은 랜덤 읽기 · 색인 갱신</a:t>
            </a:r>
          </a:p>
        </p:txBody>
      </p:sp>
      <p:sp>
        <p:nvSpPr>
          <p:cNvPr id="100" name="Rounded Rectangle 99"/>
          <p:cNvSpPr/>
          <p:nvPr/>
        </p:nvSpPr>
        <p:spPr>
          <a:xfrm>
            <a:off x="5020056" y="4297679"/>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285232"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6199632"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028431"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942832"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9957816" y="4352543"/>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0067544"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0173248"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0278953"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0067544"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0173248"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278953"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067544"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0173248"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0278953"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451592" y="4352543"/>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6" name="Rounded Rectangle 115"/>
          <p:cNvSpPr/>
          <p:nvPr/>
        </p:nvSpPr>
        <p:spPr>
          <a:xfrm>
            <a:off x="12380976" y="4352543"/>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4425695"/>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490704" y="4531400"/>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12490704" y="4637105"/>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2874752" y="4352543"/>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1" name="Rounded Rectangle 120"/>
          <p:cNvSpPr/>
          <p:nvPr/>
        </p:nvSpPr>
        <p:spPr>
          <a:xfrm>
            <a:off x="11169396" y="4864607"/>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279124"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359956"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1440789"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1521622"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1279124" y="50932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1663172" y="486460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8" name="Rectangle 127"/>
          <p:cNvSpPr/>
          <p:nvPr/>
        </p:nvSpPr>
        <p:spPr>
          <a:xfrm>
            <a:off x="14987016" y="4443983"/>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5870935" y="4443983"/>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6754856" y="4443983"/>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987016" y="4864607"/>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132" name="Rounded Rectangle 131"/>
          <p:cNvSpPr/>
          <p:nvPr/>
        </p:nvSpPr>
        <p:spPr>
          <a:xfrm>
            <a:off x="722376" y="5449823"/>
            <a:ext cx="3931920" cy="1042415"/>
          </a:xfrm>
          <a:prstGeom prst="roundRect">
            <a:avLst>
              <a:gd name="adj" fmla="val 7017"/>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13816" y="5541263"/>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886968" y="5625023"/>
            <a:ext cx="347472" cy="314553"/>
          </a:xfrm>
          <a:prstGeom prst="roundRect">
            <a:avLst>
              <a:gd name="adj" fmla="val 2325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23544"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999987"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6431"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52875"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ounded Rectangle 138"/>
          <p:cNvSpPr/>
          <p:nvPr/>
        </p:nvSpPr>
        <p:spPr>
          <a:xfrm>
            <a:off x="886968" y="6065398"/>
            <a:ext cx="347472" cy="235915"/>
          </a:xfrm>
          <a:prstGeom prst="roundRect">
            <a:avLst>
              <a:gd name="adj" fmla="val 3100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923544"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986088" y="6112581"/>
            <a:ext cx="41696" cy="14154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048633"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111178" y="6112581"/>
            <a:ext cx="41696" cy="14154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173723"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Down Arrow 144"/>
          <p:cNvSpPr/>
          <p:nvPr/>
        </p:nvSpPr>
        <p:spPr>
          <a:xfrm>
            <a:off x="1005840" y="5947440"/>
            <a:ext cx="91440" cy="110093"/>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344168" y="5813755"/>
            <a:ext cx="82296" cy="31455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444752" y="5860938"/>
            <a:ext cx="82296" cy="31455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545336" y="5813755"/>
            <a:ext cx="82296" cy="31455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645920" y="5860938"/>
            <a:ext cx="82296" cy="31455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965960" y="5577839"/>
            <a:ext cx="2615184" cy="420624"/>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KV 캐시 오프로드</a:t>
            </a:r>
          </a:p>
        </p:txBody>
      </p:sp>
      <p:sp>
        <p:nvSpPr>
          <p:cNvPr id="151" name="TextBox 150"/>
          <p:cNvSpPr txBox="1"/>
          <p:nvPr/>
        </p:nvSpPr>
        <p:spPr>
          <a:xfrm>
            <a:off x="1965960" y="6016751"/>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긴 문맥 · 재사용</a:t>
            </a:r>
          </a:p>
        </p:txBody>
      </p:sp>
      <p:sp>
        <p:nvSpPr>
          <p:cNvPr id="152" name="Rounded Rectangle 151"/>
          <p:cNvSpPr/>
          <p:nvPr/>
        </p:nvSpPr>
        <p:spPr>
          <a:xfrm>
            <a:off x="5020056" y="5449823"/>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52852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61996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71140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8028431" y="5779007"/>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ounded Rectangle 156"/>
          <p:cNvSpPr/>
          <p:nvPr/>
        </p:nvSpPr>
        <p:spPr>
          <a:xfrm>
            <a:off x="9957816" y="5504687"/>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10067544"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10173248"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10278953"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0067544"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10173248"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10278953"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0067544"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10173248"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0278953"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0451592" y="550468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8" name="Rounded Rectangle 167"/>
          <p:cNvSpPr/>
          <p:nvPr/>
        </p:nvSpPr>
        <p:spPr>
          <a:xfrm>
            <a:off x="12380976" y="5504687"/>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12490704" y="5577839"/>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Down Arrow 169"/>
          <p:cNvSpPr/>
          <p:nvPr/>
        </p:nvSpPr>
        <p:spPr>
          <a:xfrm>
            <a:off x="12627498" y="565867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2490704" y="570841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2874752" y="550468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73" name="Rounded Rectangle 172"/>
          <p:cNvSpPr/>
          <p:nvPr/>
        </p:nvSpPr>
        <p:spPr>
          <a:xfrm>
            <a:off x="11169396" y="6016751"/>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1279124"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1359956"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11440789"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1521622"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1279124" y="6245351"/>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11663172" y="601675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80" name="Rectangle 179"/>
          <p:cNvSpPr/>
          <p:nvPr/>
        </p:nvSpPr>
        <p:spPr>
          <a:xfrm>
            <a:off x="14987016" y="5596127"/>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5870935" y="5596127"/>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6754856" y="5596127"/>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987016" y="6016751"/>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184" name="Rounded Rectangle 183"/>
          <p:cNvSpPr/>
          <p:nvPr/>
        </p:nvSpPr>
        <p:spPr>
          <a:xfrm>
            <a:off x="722376" y="6601967"/>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ounded Rectangle 184"/>
          <p:cNvSpPr/>
          <p:nvPr/>
        </p:nvSpPr>
        <p:spPr>
          <a:xfrm>
            <a:off x="813816" y="6693407"/>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941832" y="6808622"/>
            <a:ext cx="235915" cy="23591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ounded Rectangle 186"/>
          <p:cNvSpPr/>
          <p:nvPr/>
        </p:nvSpPr>
        <p:spPr>
          <a:xfrm>
            <a:off x="886968" y="7075992"/>
            <a:ext cx="361736" cy="330281"/>
          </a:xfrm>
          <a:prstGeom prst="roundRect">
            <a:avLst>
              <a:gd name="adj" fmla="val 22148"/>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1325880" y="6840077"/>
            <a:ext cx="54864" cy="786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417320" y="6855805"/>
            <a:ext cx="357530" cy="5504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1325880" y="6997354"/>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417320" y="7013082"/>
            <a:ext cx="279806"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1325880" y="7154631"/>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1417320" y="7170359"/>
            <a:ext cx="326440"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1325880" y="7311908"/>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417320" y="7327635"/>
            <a:ext cx="233172"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1965960" y="6729983"/>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에이전트 메모리</a:t>
            </a:r>
          </a:p>
        </p:txBody>
      </p:sp>
      <p:sp>
        <p:nvSpPr>
          <p:cNvPr id="197" name="TextBox 196"/>
          <p:cNvSpPr txBox="1"/>
          <p:nvPr/>
        </p:nvSpPr>
        <p:spPr>
          <a:xfrm>
            <a:off x="1965960" y="7168895"/>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세션 · 상태 · 로그</a:t>
            </a:r>
          </a:p>
        </p:txBody>
      </p:sp>
      <p:sp>
        <p:nvSpPr>
          <p:cNvPr id="198" name="Rounded Rectangle 197"/>
          <p:cNvSpPr/>
          <p:nvPr/>
        </p:nvSpPr>
        <p:spPr>
          <a:xfrm>
            <a:off x="5020056" y="6601967"/>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6199632"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7114032"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8028431"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8942832"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9957816" y="6656831"/>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067544" y="6729983"/>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Down Arrow 204"/>
          <p:cNvSpPr/>
          <p:nvPr/>
        </p:nvSpPr>
        <p:spPr>
          <a:xfrm>
            <a:off x="10204338" y="6810816"/>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067544" y="6860560"/>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451592" y="665683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8" name="Rounded Rectangle 207"/>
          <p:cNvSpPr/>
          <p:nvPr/>
        </p:nvSpPr>
        <p:spPr>
          <a:xfrm>
            <a:off x="12380976" y="6656831"/>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2490704" y="6729983"/>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ounded Rectangle 209"/>
          <p:cNvSpPr/>
          <p:nvPr/>
        </p:nvSpPr>
        <p:spPr>
          <a:xfrm>
            <a:off x="12490704" y="6835688"/>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ounded Rectangle 210"/>
          <p:cNvSpPr/>
          <p:nvPr/>
        </p:nvSpPr>
        <p:spPr>
          <a:xfrm>
            <a:off x="12490704" y="6941393"/>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12874752" y="665683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13" name="Rounded Rectangle 212"/>
          <p:cNvSpPr/>
          <p:nvPr/>
        </p:nvSpPr>
        <p:spPr>
          <a:xfrm>
            <a:off x="11169396" y="7168895"/>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11347521" y="7242047"/>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ounded Rectangle 214"/>
          <p:cNvSpPr/>
          <p:nvPr/>
        </p:nvSpPr>
        <p:spPr>
          <a:xfrm>
            <a:off x="11303995" y="7366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1415918" y="7416149"/>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11663172" y="7168895"/>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8" name="Rectangle 217"/>
          <p:cNvSpPr/>
          <p:nvPr/>
        </p:nvSpPr>
        <p:spPr>
          <a:xfrm>
            <a:off x="14987016" y="6748271"/>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5870935" y="6748271"/>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6754856" y="6748271"/>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14987016" y="7168895"/>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222" name="TextBox 221"/>
          <p:cNvSpPr txBox="1"/>
          <p:nvPr/>
        </p:nvSpPr>
        <p:spPr>
          <a:xfrm>
            <a:off x="14987016"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SSD</a:t>
            </a:r>
          </a:p>
        </p:txBody>
      </p:sp>
      <p:sp>
        <p:nvSpPr>
          <p:cNvPr id="223" name="TextBox 222"/>
          <p:cNvSpPr txBox="1"/>
          <p:nvPr/>
        </p:nvSpPr>
        <p:spPr>
          <a:xfrm>
            <a:off x="15870935"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개발</a:t>
            </a:r>
          </a:p>
        </p:txBody>
      </p:sp>
      <p:sp>
        <p:nvSpPr>
          <p:cNvPr id="224" name="TextBox 223"/>
          <p:cNvSpPr txBox="1"/>
          <p:nvPr/>
        </p:nvSpPr>
        <p:spPr>
          <a:xfrm>
            <a:off x="16754856"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최적화</a:t>
            </a:r>
          </a:p>
        </p:txBody>
      </p:sp>
      <p:sp>
        <p:nvSpPr>
          <p:cNvPr id="225" name="TextBox 224"/>
          <p:cNvSpPr txBox="1"/>
          <p:nvPr/>
        </p:nvSpPr>
        <p:spPr>
          <a:xfrm>
            <a:off x="9957816" y="2724912"/>
            <a:ext cx="466344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색 = 협력 단계</a:t>
            </a:r>
          </a:p>
        </p:txBody>
      </p:sp>
      <p:sp>
        <p:nvSpPr>
          <p:cNvPr id="226" name="TextBox 225"/>
          <p:cNvSpPr txBox="1"/>
          <p:nvPr/>
        </p:nvSpPr>
        <p:spPr>
          <a:xfrm>
            <a:off x="5020056" y="7735823"/>
            <a:ext cx="4572000" cy="384048"/>
          </a:xfrm>
          <a:prstGeom prst="rect">
            <a:avLst/>
          </a:prstGeom>
          <a:noFill/>
        </p:spPr>
        <p:txBody>
          <a:bodyPr wrap="square" anchor="ctr" lIns="0" rIns="0" tIns="0" bIns="0">
            <a:spAutoFit/>
          </a:bodyPr>
          <a:lstStyle/>
          <a:p>
            <a:pPr algn="ctr">
              <a:lnSpc>
                <a:spcPct val="110000"/>
              </a:lnSpc>
            </a:pPr>
            <a:r>
              <a:rPr sz="1600" b="0">
                <a:solidFill>
                  <a:srgbClr val="1428A0"/>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227" name="Rectangle 226"/>
          <p:cNvSpPr/>
          <p:nvPr/>
        </p:nvSpPr>
        <p:spPr>
          <a:xfrm>
            <a:off x="9957816" y="7836407"/>
            <a:ext cx="201168"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TextBox 227"/>
          <p:cNvSpPr txBox="1"/>
          <p:nvPr/>
        </p:nvSpPr>
        <p:spPr>
          <a:xfrm>
            <a:off x="1021384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최적화까지</a:t>
            </a:r>
          </a:p>
        </p:txBody>
      </p:sp>
      <p:sp>
        <p:nvSpPr>
          <p:cNvPr id="229" name="Rectangle 228"/>
          <p:cNvSpPr/>
          <p:nvPr/>
        </p:nvSpPr>
        <p:spPr>
          <a:xfrm>
            <a:off x="11237976" y="7836407"/>
            <a:ext cx="201168"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149400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개발</a:t>
            </a:r>
          </a:p>
        </p:txBody>
      </p:sp>
      <p:sp>
        <p:nvSpPr>
          <p:cNvPr id="231" name="Rectangle 230"/>
          <p:cNvSpPr/>
          <p:nvPr/>
        </p:nvSpPr>
        <p:spPr>
          <a:xfrm>
            <a:off x="11969496" y="7836407"/>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TextBox 231"/>
          <p:cNvSpPr txBox="1"/>
          <p:nvPr/>
        </p:nvSpPr>
        <p:spPr>
          <a:xfrm>
            <a:off x="1222552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SSD 안에서</a:t>
            </a:r>
          </a:p>
        </p:txBody>
      </p:sp>
      <p:sp>
        <p:nvSpPr>
          <p:cNvPr id="233" name="TextBox 232"/>
          <p:cNvSpPr txBox="1"/>
          <p:nvPr/>
        </p:nvSpPr>
        <p:spPr>
          <a:xfrm>
            <a:off x="14987016" y="7680959"/>
            <a:ext cx="2578608" cy="64008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4개 모두 고객 협력</a:t>
            </a:r>
          </a:p>
          <a:p>
            <a:pPr algn="l">
              <a:lnSpc>
                <a:spcPct val="100000"/>
              </a:lnSpc>
            </a:pPr>
            <a:r>
              <a:rPr sz="1700" b="1">
                <a:solidFill>
                  <a:srgbClr val="1428A0"/>
                </a:solidFill>
                <a:latin typeface="Arial"/>
                <a:ea typeface="Arial"/>
              </a:rPr>
              <a:t>3개는 최적화까지</a:t>
            </a:r>
          </a:p>
        </p:txBody>
      </p:sp>
      <p:sp>
        <p:nvSpPr>
          <p:cNvPr id="234" name="Rectangle 233"/>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36" name="TextBox 235"/>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237" name="TextBox 23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단계는 과제팀 판단(위키 ai-inference-storage-requirements · ssd-core-technologies-customer-collaboration §3.5) · 수치는 발표자 노트</a:t>
            </a:r>
          </a:p>
        </p:txBody>
      </p:sp>
      <p:sp>
        <p:nvSpPr>
          <p:cNvPr id="238" name="TextBox 23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8  지표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고객과 함께 WAF와 꼬리 지연을 낮추면, 같은 NAND로</a:t>
            </a:r>
          </a:p>
          <a:p>
            <a:pPr algn="l">
              <a:lnSpc>
                <a:spcPct val="105000"/>
              </a:lnSpc>
            </a:pPr>
            <a:r>
              <a:rPr sz="3200" b="1">
                <a:solidFill>
                  <a:srgbClr val="1A1A1A"/>
                </a:solidFill>
                <a:latin typeface="Arial"/>
                <a:ea typeface="Arial"/>
              </a:rPr>
              <a:t>지금은 닿지 못하던 추론 수요까지 빠르게 넓힐 수 있습니다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066543"/>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공동 설계로 좋아지는 지표</a:t>
            </a:r>
          </a:p>
        </p:txBody>
      </p:sp>
      <p:sp>
        <p:nvSpPr>
          <p:cNvPr id="9" name="Rounded Rectangle 8"/>
          <p:cNvSpPr/>
          <p:nvPr/>
        </p:nvSpPr>
        <p:spPr>
          <a:xfrm>
            <a:off x="722376"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WAF</a:t>
            </a:r>
          </a:p>
        </p:txBody>
      </p:sp>
      <p:sp>
        <p:nvSpPr>
          <p:cNvPr id="11" name="TextBox 10"/>
          <p:cNvSpPr txBox="1"/>
          <p:nvPr/>
        </p:nvSpPr>
        <p:spPr>
          <a:xfrm>
            <a:off x="905256"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SSD만으로는 3 근처에 머문 지표</a:t>
            </a:r>
          </a:p>
        </p:txBody>
      </p:sp>
      <p:sp>
        <p:nvSpPr>
          <p:cNvPr id="12" name="Rectangle 11"/>
          <p:cNvSpPr/>
          <p:nvPr/>
        </p:nvSpPr>
        <p:spPr>
          <a:xfrm>
            <a:off x="996696"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4" name="TextBox 13"/>
          <p:cNvSpPr txBox="1"/>
          <p:nvPr/>
        </p:nvSpPr>
        <p:spPr>
          <a:xfrm>
            <a:off x="768096"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5" name="Rectangle 14"/>
          <p:cNvSpPr/>
          <p:nvPr/>
        </p:nvSpPr>
        <p:spPr>
          <a:xfrm>
            <a:off x="1837944" y="4283140"/>
            <a:ext cx="603504" cy="23399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55064" y="3972244"/>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1.03</a:t>
            </a:r>
          </a:p>
        </p:txBody>
      </p:sp>
      <p:sp>
        <p:nvSpPr>
          <p:cNvPr id="17" name="TextBox 16"/>
          <p:cNvSpPr txBox="1"/>
          <p:nvPr/>
        </p:nvSpPr>
        <p:spPr>
          <a:xfrm>
            <a:off x="1609344"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함께</a:t>
            </a:r>
          </a:p>
        </p:txBody>
      </p:sp>
      <p:sp>
        <p:nvSpPr>
          <p:cNvPr id="18" name="TextBox 17"/>
          <p:cNvSpPr txBox="1"/>
          <p:nvPr/>
        </p:nvSpPr>
        <p:spPr>
          <a:xfrm>
            <a:off x="2642616"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−68%</a:t>
            </a:r>
          </a:p>
        </p:txBody>
      </p:sp>
      <p:sp>
        <p:nvSpPr>
          <p:cNvPr id="19" name="TextBox 18"/>
          <p:cNvSpPr txBox="1"/>
          <p:nvPr/>
        </p:nvSpPr>
        <p:spPr>
          <a:xfrm>
            <a:off x="2642616"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20" name="Rounded Rectangle 19"/>
          <p:cNvSpPr/>
          <p:nvPr/>
        </p:nvSpPr>
        <p:spPr>
          <a:xfrm>
            <a:off x="4718304"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01184"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p99.9 꼬리 지연</a:t>
            </a:r>
          </a:p>
        </p:txBody>
      </p:sp>
      <p:sp>
        <p:nvSpPr>
          <p:cNvPr id="22" name="TextBox 21"/>
          <p:cNvSpPr txBox="1"/>
          <p:nvPr/>
        </p:nvSpPr>
        <p:spPr>
          <a:xfrm>
            <a:off x="4901184"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23" name="Rectangle 22"/>
          <p:cNvSpPr/>
          <p:nvPr/>
        </p:nvSpPr>
        <p:spPr>
          <a:xfrm>
            <a:off x="4992624"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09744"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25" name="TextBox 24"/>
          <p:cNvSpPr txBox="1"/>
          <p:nvPr/>
        </p:nvSpPr>
        <p:spPr>
          <a:xfrm>
            <a:off x="4764024"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26" name="Rectangle 25"/>
          <p:cNvSpPr/>
          <p:nvPr/>
        </p:nvSpPr>
        <p:spPr>
          <a:xfrm>
            <a:off x="5833872" y="4187951"/>
            <a:ext cx="603504"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50992" y="3877055"/>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45</a:t>
            </a:r>
          </a:p>
        </p:txBody>
      </p:sp>
      <p:sp>
        <p:nvSpPr>
          <p:cNvPr id="28" name="TextBox 27"/>
          <p:cNvSpPr txBox="1"/>
          <p:nvPr/>
        </p:nvSpPr>
        <p:spPr>
          <a:xfrm>
            <a:off x="5605272"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FDP</a:t>
            </a:r>
          </a:p>
        </p:txBody>
      </p:sp>
      <p:sp>
        <p:nvSpPr>
          <p:cNvPr id="29" name="TextBox 28"/>
          <p:cNvSpPr txBox="1"/>
          <p:nvPr/>
        </p:nvSpPr>
        <p:spPr>
          <a:xfrm>
            <a:off x="6638544"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−55%</a:t>
            </a:r>
          </a:p>
        </p:txBody>
      </p:sp>
      <p:sp>
        <p:nvSpPr>
          <p:cNvPr id="30" name="TextBox 29"/>
          <p:cNvSpPr txBox="1"/>
          <p:nvPr/>
        </p:nvSpPr>
        <p:spPr>
          <a:xfrm>
            <a:off x="6638544"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31" name="Rounded Rectangle 30">
            <a:hlinkClick action="ppaction://hlinksldjump" r:id="rId8"/>
          </p:cNvPr>
          <p:cNvSpPr/>
          <p:nvPr/>
        </p:nvSpPr>
        <p:spPr>
          <a:xfrm>
            <a:off x="5111495" y="2157984"/>
            <a:ext cx="3383280" cy="365760"/>
          </a:xfrm>
          <a:prstGeom prst="roundRect">
            <a:avLst>
              <a:gd name="adj" fmla="val 20000"/>
            </a:avLst>
          </a:prstGeom>
          <a:solidFill>
            <a:srgbClr val="EEF1FA"/>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action="ppaction://hlinksldjump" r:id="rId8"/>
          </p:cNvPr>
          <p:cNvSpPr txBox="1"/>
          <p:nvPr/>
        </p:nvSpPr>
        <p:spPr>
          <a:xfrm>
            <a:off x="5166359" y="2157984"/>
            <a:ext cx="3273552" cy="365760"/>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왜 SSD만으로는 안 됐나  참고 5장 ▶</a:t>
            </a:r>
          </a:p>
        </p:txBody>
      </p:sp>
      <p:sp>
        <p:nvSpPr>
          <p:cNvPr id="33" name="Oval 32"/>
          <p:cNvSpPr/>
          <p:nvPr/>
        </p:nvSpPr>
        <p:spPr>
          <a:xfrm>
            <a:off x="722376" y="502920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02920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5" name="TextBox 34"/>
          <p:cNvSpPr txBox="1"/>
          <p:nvPr/>
        </p:nvSpPr>
        <p:spPr>
          <a:xfrm>
            <a:off x="1307592" y="4992624"/>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6" name="Rounded Rectangle 35"/>
          <p:cNvSpPr/>
          <p:nvPr/>
        </p:nvSpPr>
        <p:spPr>
          <a:xfrm>
            <a:off x="722376" y="5577840"/>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60527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8" name="TextBox 37"/>
          <p:cNvSpPr txBox="1"/>
          <p:nvPr/>
        </p:nvSpPr>
        <p:spPr>
          <a:xfrm>
            <a:off x="868680" y="596188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작은 쓰기를 pSLC에 모아</a:t>
            </a:r>
          </a:p>
        </p:txBody>
      </p:sp>
      <p:sp>
        <p:nvSpPr>
          <p:cNvPr id="39" name="TextBox 38"/>
          <p:cNvSpPr txBox="1"/>
          <p:nvPr/>
        </p:nvSpPr>
        <p:spPr>
          <a:xfrm>
            <a:off x="3602736" y="5742431"/>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빈도 ↓</a:t>
            </a:r>
          </a:p>
        </p:txBody>
      </p:sp>
      <p:sp>
        <p:nvSpPr>
          <p:cNvPr id="40" name="Rounded Rectangle 39"/>
          <p:cNvSpPr/>
          <p:nvPr/>
        </p:nvSpPr>
        <p:spPr>
          <a:xfrm>
            <a:off x="722376" y="6400800"/>
            <a:ext cx="2788920" cy="749808"/>
          </a:xfrm>
          <a:prstGeom prst="roundRect">
            <a:avLst>
              <a:gd name="adj" fmla="val 975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642823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2" name="TextBox 41"/>
          <p:cNvSpPr txBox="1"/>
          <p:nvPr/>
        </p:nvSpPr>
        <p:spPr>
          <a:xfrm>
            <a:off x="868680" y="678484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정렬된 큰 쓰기</a:t>
            </a:r>
          </a:p>
        </p:txBody>
      </p:sp>
      <p:sp>
        <p:nvSpPr>
          <p:cNvPr id="43" name="TextBox 42"/>
          <p:cNvSpPr txBox="1"/>
          <p:nvPr/>
        </p:nvSpPr>
        <p:spPr>
          <a:xfrm>
            <a:off x="3602736" y="656539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횟수 ↓</a:t>
            </a:r>
          </a:p>
        </p:txBody>
      </p:sp>
      <p:sp>
        <p:nvSpPr>
          <p:cNvPr id="44" name="Rounded Rectangle 43"/>
          <p:cNvSpPr/>
          <p:nvPr/>
        </p:nvSpPr>
        <p:spPr>
          <a:xfrm>
            <a:off x="722376" y="7223759"/>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725119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46" name="TextBox 45"/>
          <p:cNvSpPr txBox="1"/>
          <p:nvPr/>
        </p:nvSpPr>
        <p:spPr>
          <a:xfrm>
            <a:off x="868680" y="760780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같은 수명끼리 배치</a:t>
            </a:r>
          </a:p>
        </p:txBody>
      </p:sp>
      <p:sp>
        <p:nvSpPr>
          <p:cNvPr id="47" name="TextBox 46"/>
          <p:cNvSpPr txBox="1"/>
          <p:nvPr/>
        </p:nvSpPr>
        <p:spPr>
          <a:xfrm>
            <a:off x="3602736" y="738835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시간 ↓</a:t>
            </a:r>
          </a:p>
        </p:txBody>
      </p:sp>
      <p:sp>
        <p:nvSpPr>
          <p:cNvPr id="48" name="TextBox 47"/>
          <p:cNvSpPr txBox="1"/>
          <p:nvPr/>
        </p:nvSpPr>
        <p:spPr>
          <a:xfrm>
            <a:off x="4846320" y="5541264"/>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49" name="Rectangle 48"/>
          <p:cNvSpPr/>
          <p:nvPr/>
        </p:nvSpPr>
        <p:spPr>
          <a:xfrm>
            <a:off x="5322205"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353290" y="5870448"/>
            <a:ext cx="396571"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463690"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864607" y="6450262"/>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943922" y="6462917"/>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3236" y="6426334"/>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102550" y="6468653"/>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181865" y="6434751"/>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261179" y="6447201"/>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340493" y="6033136"/>
            <a:ext cx="42738" cy="51396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19807" y="6052028"/>
            <a:ext cx="42738" cy="49507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99122" y="6139830"/>
            <a:ext cx="42738" cy="40727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578436" y="5951355"/>
            <a:ext cx="42738" cy="59574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57750" y="6464895"/>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737064" y="6457621"/>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816379" y="6428054"/>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895693" y="6404625"/>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975007" y="6431735"/>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054321" y="6444934"/>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33636" y="6402536"/>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212950" y="6470544"/>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92264" y="6411153"/>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371578" y="6126122"/>
            <a:ext cx="42738" cy="4209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50893" y="6084074"/>
            <a:ext cx="42738" cy="46302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30207" y="6116784"/>
            <a:ext cx="42738" cy="43031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609521" y="5999473"/>
            <a:ext cx="42738" cy="5476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688836" y="6022815"/>
            <a:ext cx="42738" cy="52428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768150" y="6469358"/>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847464" y="6469592"/>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926778" y="6458885"/>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006093" y="6424179"/>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085407" y="6442672"/>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164721" y="6450971"/>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244035" y="6431116"/>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7323350" y="6440800"/>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7402664" y="6452023"/>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481978" y="5984091"/>
            <a:ext cx="42738" cy="56301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61292" y="6015985"/>
            <a:ext cx="42738" cy="53111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640607" y="5938992"/>
            <a:ext cx="42738" cy="60811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719921" y="6089334"/>
            <a:ext cx="42738" cy="45776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799235" y="6402250"/>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878549" y="6465315"/>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57864" y="6443365"/>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037178" y="6418565"/>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116492" y="6462834"/>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195806" y="6438183"/>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275121" y="6471083"/>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8354435" y="6425070"/>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433749" y="6418022"/>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846320" y="6547104"/>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846320" y="6675120"/>
            <a:ext cx="3648455" cy="310896"/>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공동 설계: GC가 드물고 짧다</a:t>
            </a:r>
          </a:p>
        </p:txBody>
      </p:sp>
      <p:sp>
        <p:nvSpPr>
          <p:cNvPr id="100" name="Rectangle 99"/>
          <p:cNvSpPr/>
          <p:nvPr/>
        </p:nvSpPr>
        <p:spPr>
          <a:xfrm>
            <a:off x="6987805" y="7004304"/>
            <a:ext cx="79314"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864607" y="7565890"/>
            <a:ext cx="42738" cy="11506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4943922" y="7543765"/>
            <a:ext cx="42738" cy="13719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5023236" y="7584856"/>
            <a:ext cx="42738" cy="96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5102550" y="7556945"/>
            <a:ext cx="42738" cy="12401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181865" y="7564328"/>
            <a:ext cx="42738" cy="1166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5261179" y="7565387"/>
            <a:ext cx="42738" cy="1155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5340493" y="7574435"/>
            <a:ext cx="42738" cy="1065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5419807" y="7546362"/>
            <a:ext cx="42738" cy="13459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5499122" y="7538702"/>
            <a:ext cx="42738" cy="14225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5578436" y="7573126"/>
            <a:ext cx="42738" cy="10783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5657750" y="7559223"/>
            <a:ext cx="42738" cy="1217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5737064" y="7603369"/>
            <a:ext cx="42738" cy="775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5816379" y="7556492"/>
            <a:ext cx="42738" cy="1244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895693" y="7560469"/>
            <a:ext cx="42738" cy="1204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975007" y="7535161"/>
            <a:ext cx="42738" cy="1457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054321" y="7547682"/>
            <a:ext cx="42738" cy="13327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133636" y="7586989"/>
            <a:ext cx="42738" cy="9397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212950" y="7579586"/>
            <a:ext cx="42738" cy="1013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92264" y="7558894"/>
            <a:ext cx="42738" cy="1220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371578" y="7606157"/>
            <a:ext cx="42738" cy="7480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450893" y="7574034"/>
            <a:ext cx="42738" cy="10692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530207" y="7595514"/>
            <a:ext cx="42738" cy="854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609521" y="7599242"/>
            <a:ext cx="42738" cy="8171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688836" y="7603495"/>
            <a:ext cx="42738" cy="774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768150" y="7551610"/>
            <a:ext cx="42738" cy="12934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847464" y="7598346"/>
            <a:ext cx="42738" cy="8261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926778" y="7589694"/>
            <a:ext cx="42738" cy="912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006093" y="7498080"/>
            <a:ext cx="4273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085407" y="7544061"/>
            <a:ext cx="42738" cy="1368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164721" y="7601913"/>
            <a:ext cx="42738" cy="7904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7244035" y="7574949"/>
            <a:ext cx="42738" cy="10601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7323350" y="7567615"/>
            <a:ext cx="42738" cy="1133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7402664" y="7543186"/>
            <a:ext cx="42738" cy="1377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7481978" y="7547876"/>
            <a:ext cx="42738" cy="1330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7561292" y="7544605"/>
            <a:ext cx="42738" cy="13635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640607" y="7587440"/>
            <a:ext cx="42738" cy="9351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719921" y="7577428"/>
            <a:ext cx="42738" cy="1035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99235" y="7581563"/>
            <a:ext cx="42738" cy="993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878549" y="7543127"/>
            <a:ext cx="42738" cy="1378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957864" y="7537748"/>
            <a:ext cx="42738" cy="14321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037178" y="7596767"/>
            <a:ext cx="42738" cy="841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116492" y="7594917"/>
            <a:ext cx="42738" cy="8604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195806" y="7590839"/>
            <a:ext cx="42738" cy="901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8275121" y="7590738"/>
            <a:ext cx="42738" cy="9022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8354435" y="7572332"/>
            <a:ext cx="42738" cy="10862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8433749" y="7564712"/>
            <a:ext cx="42738" cy="1162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4846320" y="7680960"/>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4846320" y="7772400"/>
            <a:ext cx="3648455" cy="310896"/>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a:t>
            </a:r>
            <a:r>
              <a:rPr sz="1700" b="1">
                <a:solidFill>
                  <a:srgbClr val="1428A0"/>
                </a:solidFill>
                <a:latin typeface="Arial"/>
                <a:ea typeface="Arial"/>
              </a:rPr>
              <a:t>2.22 → 0.03</a:t>
            </a:r>
          </a:p>
        </p:txBody>
      </p:sp>
      <p:sp>
        <p:nvSpPr>
          <p:cNvPr id="149" name="Oval 148"/>
          <p:cNvSpPr/>
          <p:nvPr/>
        </p:nvSpPr>
        <p:spPr>
          <a:xfrm>
            <a:off x="886053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886053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51" name="TextBox 150"/>
          <p:cNvSpPr txBox="1"/>
          <p:nvPr/>
        </p:nvSpPr>
        <p:spPr>
          <a:xfrm>
            <a:off x="9445752" y="2066543"/>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제품 포트폴리오가 넓어진다</a:t>
            </a:r>
          </a:p>
        </p:txBody>
      </p:sp>
      <p:pic>
        <p:nvPicPr>
          <p:cNvPr id="152" name="Picture 151" descr="portfolio_3d.png"/>
          <p:cNvPicPr>
            <a:picLocks noChangeAspect="1"/>
          </p:cNvPicPr>
          <p:nvPr/>
        </p:nvPicPr>
        <p:blipFill>
          <a:blip r:embed="rId2"/>
          <a:stretch>
            <a:fillRect/>
          </a:stretch>
        </p:blipFill>
        <p:spPr>
          <a:xfrm>
            <a:off x="8769096" y="2706624"/>
            <a:ext cx="6419088" cy="5419461"/>
          </a:xfrm>
          <a:prstGeom prst="rect">
            <a:avLst/>
          </a:prstGeom>
        </p:spPr>
      </p:pic>
      <p:sp>
        <p:nvSpPr>
          <p:cNvPr id="153" name="TextBox 152"/>
          <p:cNvSpPr txBox="1"/>
          <p:nvPr/>
        </p:nvSpPr>
        <p:spPr>
          <a:xfrm>
            <a:off x="8769096" y="2615184"/>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54" name="Rounded Rectangle 153"/>
          <p:cNvSpPr/>
          <p:nvPr/>
        </p:nvSpPr>
        <p:spPr>
          <a:xfrm>
            <a:off x="15279624" y="2761488"/>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15371064" y="2852928"/>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5371064" y="2852928"/>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1</a:t>
            </a:r>
          </a:p>
        </p:txBody>
      </p:sp>
      <p:pic>
        <p:nvPicPr>
          <p:cNvPr id="157" name="Picture 156" descr="p_bm1743.png"/>
          <p:cNvPicPr>
            <a:picLocks noChangeAspect="1"/>
          </p:cNvPicPr>
          <p:nvPr/>
        </p:nvPicPr>
        <p:blipFill>
          <a:blip r:embed="rId3"/>
          <a:stretch>
            <a:fillRect/>
          </a:stretch>
        </p:blipFill>
        <p:spPr>
          <a:xfrm>
            <a:off x="16241725" y="2798064"/>
            <a:ext cx="818997" cy="566928"/>
          </a:xfrm>
          <a:prstGeom prst="rect">
            <a:avLst/>
          </a:prstGeom>
        </p:spPr>
      </p:pic>
      <p:sp>
        <p:nvSpPr>
          <p:cNvPr id="158" name="TextBox 157"/>
          <p:cNvSpPr txBox="1"/>
          <p:nvPr/>
        </p:nvSpPr>
        <p:spPr>
          <a:xfrm>
            <a:off x="15371064" y="3364991"/>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159" name="TextBox 158"/>
          <p:cNvSpPr txBox="1"/>
          <p:nvPr/>
        </p:nvSpPr>
        <p:spPr>
          <a:xfrm>
            <a:off x="15371064" y="3621024"/>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0.3 → 1 DWPD</a:t>
            </a:r>
          </a:p>
        </p:txBody>
      </p:sp>
      <p:sp>
        <p:nvSpPr>
          <p:cNvPr id="160" name="TextBox 159"/>
          <p:cNvSpPr txBox="1"/>
          <p:nvPr/>
        </p:nvSpPr>
        <p:spPr>
          <a:xfrm>
            <a:off x="15371064" y="3858768"/>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161" name="Oval 160"/>
          <p:cNvSpPr/>
          <p:nvPr/>
        </p:nvSpPr>
        <p:spPr>
          <a:xfrm>
            <a:off x="10749651" y="3918179"/>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0749651" y="3918179"/>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63" name="Rounded Rectangle 162"/>
          <p:cNvSpPr/>
          <p:nvPr/>
        </p:nvSpPr>
        <p:spPr>
          <a:xfrm>
            <a:off x="15279624" y="4206240"/>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15371064" y="4297680"/>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5371064" y="4297680"/>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2</a:t>
            </a:r>
          </a:p>
        </p:txBody>
      </p:sp>
      <p:pic>
        <p:nvPicPr>
          <p:cNvPr id="166" name="Picture 165" descr="p_pm1753.png"/>
          <p:cNvPicPr>
            <a:picLocks noChangeAspect="1"/>
          </p:cNvPicPr>
          <p:nvPr/>
        </p:nvPicPr>
        <p:blipFill>
          <a:blip r:embed="rId4"/>
          <a:stretch>
            <a:fillRect/>
          </a:stretch>
        </p:blipFill>
        <p:spPr>
          <a:xfrm>
            <a:off x="16264682" y="4242816"/>
            <a:ext cx="773083" cy="566928"/>
          </a:xfrm>
          <a:prstGeom prst="rect">
            <a:avLst/>
          </a:prstGeom>
        </p:spPr>
      </p:pic>
      <p:sp>
        <p:nvSpPr>
          <p:cNvPr id="167" name="TextBox 166"/>
          <p:cNvSpPr txBox="1"/>
          <p:nvPr/>
        </p:nvSpPr>
        <p:spPr>
          <a:xfrm>
            <a:off x="15371064" y="4809744"/>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168" name="TextBox 167"/>
          <p:cNvSpPr txBox="1"/>
          <p:nvPr/>
        </p:nvSpPr>
        <p:spPr>
          <a:xfrm>
            <a:off x="15371064" y="5065776"/>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 → 3 DWPD</a:t>
            </a:r>
          </a:p>
        </p:txBody>
      </p:sp>
      <p:sp>
        <p:nvSpPr>
          <p:cNvPr id="169" name="TextBox 168"/>
          <p:cNvSpPr txBox="1"/>
          <p:nvPr/>
        </p:nvSpPr>
        <p:spPr>
          <a:xfrm>
            <a:off x="15371064" y="5303520"/>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170" name="Oval 169"/>
          <p:cNvSpPr/>
          <p:nvPr/>
        </p:nvSpPr>
        <p:spPr>
          <a:xfrm>
            <a:off x="11059498" y="4307117"/>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1059498" y="43071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72" name="Rounded Rectangle 171"/>
          <p:cNvSpPr/>
          <p:nvPr/>
        </p:nvSpPr>
        <p:spPr>
          <a:xfrm>
            <a:off x="15279624" y="5650992"/>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15371064" y="5742432"/>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371064" y="5742432"/>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3</a:t>
            </a:r>
          </a:p>
        </p:txBody>
      </p:sp>
      <p:pic>
        <p:nvPicPr>
          <p:cNvPr id="175" name="Picture 174" descr="p_pm1755.png"/>
          <p:cNvPicPr>
            <a:picLocks noChangeAspect="1"/>
          </p:cNvPicPr>
          <p:nvPr/>
        </p:nvPicPr>
        <p:blipFill>
          <a:blip r:embed="rId5"/>
          <a:stretch>
            <a:fillRect/>
          </a:stretch>
        </p:blipFill>
        <p:spPr>
          <a:xfrm>
            <a:off x="16264682" y="5687568"/>
            <a:ext cx="773083" cy="566928"/>
          </a:xfrm>
          <a:prstGeom prst="rect">
            <a:avLst/>
          </a:prstGeom>
        </p:spPr>
      </p:pic>
      <p:sp>
        <p:nvSpPr>
          <p:cNvPr id="176" name="TextBox 175"/>
          <p:cNvSpPr txBox="1"/>
          <p:nvPr/>
        </p:nvSpPr>
        <p:spPr>
          <a:xfrm>
            <a:off x="15371064" y="6254496"/>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177" name="TextBox 176"/>
          <p:cNvSpPr txBox="1"/>
          <p:nvPr/>
        </p:nvSpPr>
        <p:spPr>
          <a:xfrm>
            <a:off x="15371064" y="6510528"/>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3 → 9 DWPD</a:t>
            </a:r>
          </a:p>
        </p:txBody>
      </p:sp>
      <p:sp>
        <p:nvSpPr>
          <p:cNvPr id="178" name="TextBox 177"/>
          <p:cNvSpPr txBox="1"/>
          <p:nvPr/>
        </p:nvSpPr>
        <p:spPr>
          <a:xfrm>
            <a:off x="15371064" y="6748272"/>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179" name="Oval 178"/>
          <p:cNvSpPr/>
          <p:nvPr/>
        </p:nvSpPr>
        <p:spPr>
          <a:xfrm>
            <a:off x="11376316" y="4947306"/>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376316" y="4947306"/>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81" name="Rounded Rectangle 180"/>
          <p:cNvSpPr/>
          <p:nvPr/>
        </p:nvSpPr>
        <p:spPr>
          <a:xfrm>
            <a:off x="15279624" y="7095744"/>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15371064" y="7187184"/>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5371064" y="7187184"/>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4</a:t>
            </a:r>
          </a:p>
        </p:txBody>
      </p:sp>
      <p:pic>
        <p:nvPicPr>
          <p:cNvPr id="184" name="Picture 183" descr="p_zssd.png"/>
          <p:cNvPicPr>
            <a:picLocks noChangeAspect="1"/>
          </p:cNvPicPr>
          <p:nvPr/>
        </p:nvPicPr>
        <p:blipFill>
          <a:blip r:embed="rId6"/>
          <a:stretch>
            <a:fillRect/>
          </a:stretch>
        </p:blipFill>
        <p:spPr>
          <a:xfrm>
            <a:off x="16180527" y="7132320"/>
            <a:ext cx="941393" cy="566928"/>
          </a:xfrm>
          <a:prstGeom prst="rect">
            <a:avLst/>
          </a:prstGeom>
        </p:spPr>
      </p:pic>
      <p:sp>
        <p:nvSpPr>
          <p:cNvPr id="185" name="TextBox 184"/>
          <p:cNvSpPr txBox="1"/>
          <p:nvPr/>
        </p:nvSpPr>
        <p:spPr>
          <a:xfrm>
            <a:off x="15371064" y="7699248"/>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186" name="TextBox 185"/>
          <p:cNvSpPr txBox="1"/>
          <p:nvPr/>
        </p:nvSpPr>
        <p:spPr>
          <a:xfrm>
            <a:off x="15371064" y="7955280"/>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30 → 100 DWPD</a:t>
            </a:r>
          </a:p>
        </p:txBody>
      </p:sp>
      <p:sp>
        <p:nvSpPr>
          <p:cNvPr id="187" name="TextBox 186"/>
          <p:cNvSpPr txBox="1"/>
          <p:nvPr/>
        </p:nvSpPr>
        <p:spPr>
          <a:xfrm>
            <a:off x="15371064" y="8193024"/>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188" name="Oval 187"/>
          <p:cNvSpPr/>
          <p:nvPr/>
        </p:nvSpPr>
        <p:spPr>
          <a:xfrm>
            <a:off x="12421232" y="5627161"/>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2421232" y="562716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190" name="TextBox 189"/>
          <p:cNvSpPr txBox="1"/>
          <p:nvPr/>
        </p:nvSpPr>
        <p:spPr>
          <a:xfrm>
            <a:off x="11146536" y="2615184"/>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191" name="Rectangle 190"/>
          <p:cNvSpPr/>
          <p:nvPr/>
        </p:nvSpPr>
        <p:spPr>
          <a:xfrm>
            <a:off x="11878056" y="2660903"/>
            <a:ext cx="274320" cy="182880"/>
          </a:xfrm>
          <a:prstGeom prst="rect">
            <a:avLst/>
          </a:prstGeom>
          <a:solidFill>
            <a:srgbClr val="E8ECF8"/>
          </a:solidFill>
          <a:ln w="635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2207240" y="2615184"/>
            <a:ext cx="182880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가중치 · RAG</a:t>
            </a:r>
          </a:p>
        </p:txBody>
      </p:sp>
      <p:sp>
        <p:nvSpPr>
          <p:cNvPr id="193" name="Rectangle 192"/>
          <p:cNvSpPr/>
          <p:nvPr/>
        </p:nvSpPr>
        <p:spPr>
          <a:xfrm>
            <a:off x="11878056" y="2935223"/>
            <a:ext cx="274320" cy="182880"/>
          </a:xfrm>
          <a:prstGeom prst="rect">
            <a:avLst/>
          </a:prstGeom>
          <a:solidFill>
            <a:srgbClr val="D3DBF4"/>
          </a:solidFill>
          <a:ln w="635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12207240" y="2889503"/>
            <a:ext cx="182880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KV 오프로드</a:t>
            </a:r>
          </a:p>
        </p:txBody>
      </p:sp>
      <p:sp>
        <p:nvSpPr>
          <p:cNvPr id="195" name="Rectangle 194"/>
          <p:cNvSpPr/>
          <p:nvPr/>
        </p:nvSpPr>
        <p:spPr>
          <a:xfrm>
            <a:off x="11878056" y="3209544"/>
            <a:ext cx="274320" cy="182880"/>
          </a:xfrm>
          <a:prstGeom prst="rect">
            <a:avLst/>
          </a:prstGeom>
          <a:solidFill>
            <a:srgbClr val="C2CDF0"/>
          </a:solidFill>
          <a:ln w="635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12207240" y="3163824"/>
            <a:ext cx="182880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초고DWPD KV</a:t>
            </a:r>
          </a:p>
        </p:txBody>
      </p:sp>
      <p:sp>
        <p:nvSpPr>
          <p:cNvPr id="197" name="Rectangle 196"/>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99" name="TextBox 198"/>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어떤 AI 추론 수요가 새로 나와도, 공동 설계 기술이 빠르게 진입할 기술적 기반이 됩니다</a:t>
            </a:r>
          </a:p>
        </p:txBody>
      </p:sp>
      <p:sp>
        <p:nvSpPr>
          <p:cNvPr id="200" name="TextBox 19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제품 이미지는 형태 재현</a:t>
            </a:r>
          </a:p>
        </p:txBody>
      </p:sp>
      <p:sp>
        <p:nvSpPr>
          <p:cNvPr id="201" name="TextBox 20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1428A0"/>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1428A0"/>
                </a:solidFill>
                <a:latin typeface="Arial"/>
                <a:ea typeface="Arial"/>
              </a:rPr>
              <a:t>6,500+</a:t>
            </a:r>
          </a:p>
        </p:txBody>
      </p:sp>
      <p:sp>
        <p:nvSpPr>
          <p:cNvPr id="29" name="Chevron 28"/>
          <p:cNvSpPr/>
          <p:nvPr/>
        </p:nvSpPr>
        <p:spPr>
          <a:xfrm>
            <a:off x="56601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AAB8E8"/>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AAB8E8"/>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84%</a:t>
            </a:r>
          </a:p>
        </p:txBody>
      </p:sp>
      <p:sp>
        <p:nvSpPr>
          <p:cNvPr id="52" name="Chevron 51"/>
          <p:cNvSpPr/>
          <p:nvPr/>
        </p:nvSpPr>
        <p:spPr>
          <a:xfrm>
            <a:off x="111465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AAB8E8"/>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AAB8E8"/>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AAB8E8"/>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AAB8E8"/>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