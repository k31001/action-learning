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59" r:id="rId11"/>
    <p:sldId id="260" r:id="rId12"/>
    <p:sldId id="261" r:id="rId13"/>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지금의 수요와 삼성의 대응 현황입니다. 왼쪽 HBM은 교훈입니다. 삼성 점유율이 2022년 40퍼센트에서 2025년 2분기 17퍼센트로 내려왔습니다. 하나의 수요를 늦게 읽으면 첫 호황을 놓칩니다. 그래서 데이터센터 응용 네 가지를 SSD 요구로 비교했습니다. 범용 클라우드는 여러 VM이 SSD를 나눠 쓰므로 QoS와 격리, AI 학습은 데이터 로딩 대역과 체크포인트, 에이전트는 사용자마다 VM 디스크를 두므로 용량과 TB당 비용이 요구입니다. AI 추론에서 SSD는 GPU HBM과 CPU DRAM 아래의 메모리 계층입니다. KV 캐시가 넘치면 SSD로 내려가고, 다시 쓸 때 올라옵니다. 그래서 세 가지를 한꺼번에 요구합니다. 읽기 대역은 70B 모델 128K 토큰의 KV를 1초 안에 되살리려면 GPU당 약 5.4기가바이트 매초, 꼬리 지연은 첫 토큰 p99 450밀리초 목표, 쓰기 내구는 KV 계층 실측 3.2 DWPD입니다. 가운데는 삼성 포트폴리오의 대응 현황입니다. 고내구 TLC PM1755는 쓰기 많은 KV, PCIe 6.0 PM1763은 학습 데이터 로딩, PCIe 5.0 PM1753은 VM과 DB, 그리고 NVIDIA CMX KV 계층, QLC BM1743과 BM1773은 객체와 사용자 VM 디스크를 맡습니다. 점선은 적합하지만 아직 내세우지 않은 용도입니다. 맨 아래는 TechInsights 3분기 전망입니다. 추론 비중이 2025년 31퍼센트에서 2030년 79퍼센트가 됩니다. [클릭] 추론 카드, 추론 열 포트폴리오, 추론 비중이 한 줄로 묶입니다. 수요는 추론으로 몰리고, 추론은 대역, 꼬리 지연, 내구를 한꺼번에 요구합니다. 그래서 다음 장부터 추론에 집중합니다.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추론을 네 가지 수요로 나눠, 요구와 핵심 기술을 연결한 것입니다. 모델 가중치는 로딩 순간의 읽기 대역과 용량, RAG와 벡터 DB는 작은 랜덤 읽기의 꼬리 지연과 용량, KV 캐시 오프로드는 대역, 꼬리 지연, DWPD 모두, 에이전트 메모리는 용량과 격리, 보안이 핵심입니다. 오른쪽 기술 칩의 진하기는 고객 협력의 깊이입니다. 가장 진한 FDP와 Mixed Media는 고객 워크로드에서 최적화까지 함께 해야 하고, 중간인 Large Mapping, Multi-Tenant QoS, Confidential은 고객 시스템 개발이 필요하며, 가장 연한 Fault Tolerant는 SSD 안에서 해결합니다. 네 가지 수요 모두 고객 협력이 필요하고, 세 가지는 최적화까지 함께 해야 합니다. 예를 들어 PM9D3a에 FDP를 적용한 LMCache KV 실험에서 WAF가 2.6에서 1.4로 줄었는데, 고객의 KV 관리자와 맞물려야 나오는 효과입니다. 아래 띠는 여섯 기술이 하는 일을 그린 것입니다. [클릭] FDP, Mixed Media, Large Mapping이 강조됩니다. 추론 수요에 가장 많이 걸리는 세 기술이고, 다음 장에서 이 세 기술로 무엇이 좋아지는지 말씀드리겠습니다. 결론은 AI 추론 수요에 대응하려면 고객과의 협업이 필수라는 것입니다. 매핑과 협력 단계는 과제팀 판단입니다.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SSD 차별화 요구의 변화와, 그에 대비한 포트폴리오입니다. 맨 위 띠처럼 SSD의 차별화 요구는 성능, 전력 효율, VM 단위 QoS를 거쳐, AI 시대에는 예측 가능한 QoS, 고용량, 고내구로 바뀌고 있습니다. 세 기술이 겨냥하는 것은 QLC 고용량과 고객 워크로드에 맞춘 내구성입니다. 시기 구분은 과제팀 정리입니다. 1번은 원리입니다. GC가 일어나면 읽기가 기다려 지연 스파이크가 생깁니다. Mixed Media는 GC 빈도를, Large Mapping은 GC 횟수를, FDP는 GC 시간을 줄입니다. GC가 드물고 짧아지면 지연이 예측 가능해집니다. FDP의 원리는 오른쪽 위 1분 영상 버튼으로 바로 보여 드릴 수 있습니다. 2번은 결과입니다. Meta CacheLib에 FDP를 적용하자 WAF가 3.22에서 1.03으로 68퍼센트, PM9D3a RocksDB에서 p99.9 꼬리 지연이 55퍼센트 줄었습니다. WAF가 SSD만으로 3 근처에 머문 이유는 참고 5장에 있고, 상자를 누르면 그 장으로 갑니다. 꼬리 지연 측정은 TLC 결과라는 한계가 있습니다. 3번은 포트폴리오입니다. 바닥은 정격 DWPD와 용량, 높이는 꼬리 지연입니다. WAF가 3에서 1이 되면 정격 DWPD는 약 3배가 됩니다. 과제팀 산술입니다. [클릭] 네 제품군이 한꺼번에 넓어집니다. QLC는 0.3에서 1 DWPD로 TLC가 맡던 KV 오프로드까지, 고성능 TLC는 1에서 3으로 쓰기 많은 KV까지, 고내구 TLC는 3에서 9로 초고DWPD 입구까지, SLC급은 30에서 100 근처까지 갑니다. 초고DWPD 요구가 오면 TLC와 SLC급 가운데 고를 수 있습니다. 대비한 기술이 있어야 미래 수요에 능동적으로 대응하는 포트폴리오를 완성할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5장은 WAF가 SSD만으로는 3 근처에 머문 이유입니다. 첫째 칸, NAND에서 SSD로 넘어올 때는 셀 오류율이 약 100만 배 나빠졌지만 컨트롤러 ECC가 약 60배 강해져 SSD 안에서 해결됐습니다. 둘째 칸, SSD 혼자 핫 콜드 추정, 스트림 분리, IO 결정성을 더했지만 실제 워크로드에서 WAF는 약 3에 머물렀습니다. 데이터가 언제 지워지는지는 호스트만 알기 때문입니다. 아래 점도표가 그 결과입니다. 6개 업체 226개 등급의 정격 DWPD 중앙값이 2008년에서 2014년 9.6에서 2019년 이후 1로 내려왔고, QLC는 0.2에서 0.6입니다. 셀이 견디는 쓰기가 SLC에서 QLC로 약 100배 줄었기 때문입니다. 반면 고객 캐시 계층은 하루 3에서 7.2회를 씁니다. 셋째 칸이 해법입니다. 삼성 엔지니어가 Meta CacheLib에 FDP 배치를 구현해 WAF를 3.22에서 1.03으로 낮췄습니다. Google, Alibaba, AWS도 이미 자기 시스템에 맞춰 SSD를 직접 설계합니다.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QLC가 TLC 수요로 들어가는 사업 기회입니다. 2030년 eSSD 약 1,500엑사바이트 가운데 지금 경로의 QLC는 약 636엑사바이트, 42퍼센트입니다. WAF를 낮춰 QLC를 1 DWPD로 올리면 세 몫이 더해집니다. 조달 규격 때문에 TLC를 쓰던 내구 규격 약 192엑사바이트, 관행과 가격 약 64엑사바이트, 꼬리 지연을 극복해 가져올 성능 수요 일부 63에서 125엑사바이트입니다. 그러면 QLC는 955에서 1,017엑사바이트, eSSD의 63에서 68퍼센트까지 넓어집니다. 기술은 단기에 Mixed Media, 중장기에 FDP입니다. TLC 분할 비율은 과제팀 가정입니다.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보안 기회입니다. 소버린 AI 시장은 2030년까지 약 3배로 커지고, AI를 자기 데이터센터에서 직접 돌리는 기업은 2025년 약 2퍼센트에서 2028년 20퍼센트 이상이 됩니다. 온프렘 AI 데이터센터에는 모델 제공자의 가중치와 기업의 민감 데이터가 함께 놓이므로 보안이 핵심이고, 설문에서도 소버니티와 프라이버시가 AI 과제 지연의 1위 요인입니다. 설문 상당수는 벤더 후원입니다. 가중치 보호는 TEE 안에서 푸는 구조라 SSD 혼자 지킬 수 없고, SSD는 고객의 신뢰 체계에 들어가야 합니다. 기밀 VM 직결 TDISP는 PM1763이 발표했고, 키 관리 표준 OCP L.O.C.K.는 삼성이 공저했습니다. 반면 Dell 서버에서 PM9D3a가 SPDM 미지원으로 기능이 실패한 사례도 있습니다. 표준만으로는 부족하고, 고객과 OEM의 키와 증명 체계에 함께 들어가야 팔립니다.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실행 전략입니다. 세 기술의 효과는 고객 시스템 안에서 나오므로, 계약 · 역량 · 사람 세 가지로 함께 설계합니다. 계약은 수량과 가격만 약속하는 MYD 위에 공동 설계와 운영 통합을 쌓습니다. Micron이 Anthropic과 맺은 계약이 그 예입니다. 역량은 추론 스택 전체를 보는 눈입니다. NAND와 펌웨어는 강점이지만, 데이터 수명 정보를 가진 KV 캐시 층에서 SSD 배치까지 내려오는 경로가 비어 있습니다. 이 경로를 고객과 함께 만들어야 합니다. 사람은 Palantir의 FDE처럼 고객 안에 상주해 워크로드를 재고, 스택을 함께 최적화하고, 다음 제품으로 잇습니다. [제언] 그래서 고객 사이트에 고객 전문가, 고전가 조직을 만들 것을 제안합니다. 기술은 SSD와 호스트를 함께 아는 아키텍트 수준, 문화는 고객과 같은 언어, 같은 배경이면 더 좋습니다. 구글 · 메타에서 시작해 다른 하이퍼스케일러로 넓힙니다. 실패할 수도 있는 기술에 투자하는 것이, 불확실한 미래에 실패하지 않는 불변 전략입니다.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8장은 응용별 eSSD 수요 전망입니다. McKinsey 기준 eSSD 수요는 2024년 181엑사바이트에서 2030년 1,078엑사바이트로 약 6배가 되고, 가장 큰 몫은 AI 추론으로 6에서 447엑사바이트, 약 75배입니다. 비중으로는 범용이 85에서 47퍼센트로 줄고 추론이 9에서 41퍼센트로 늘어납니다. 1장의 TechInsights 전망은 2030년 추론 79퍼센트로 더 가파릅니다. 마름모는 2026년 최신 전망입니다. JPM과 Kioxia의 2028년 약 900엑사바이트는 2024년 경로보다 약 1년 반 앞당겨진 규모입니다. 기관마다 정의가 달라 방향만 비교하며, 수치는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ction-learning.vercel.app/#/presentations/fdp-explainer/1" TargetMode="Externa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2.png"/><Relationship Id="rId9" Type="http://schemas.openxmlformats.org/officeDocument/2006/relationships/image" Target="../media/image11.png"/><Relationship Id="rId10" Type="http://schemas.openxmlformats.org/officeDocument/2006/relationships/image" Target="../media/image9.png"/><Relationship Id="rId11" Type="http://schemas.openxmlformats.org/officeDocument/2006/relationships/image" Target="../media/image18.png"/><Relationship Id="rId12" Type="http://schemas.openxmlformats.org/officeDocument/2006/relationships/notesSlide" Target="../notesSlides/notesSlide3.xml"/><Relationship Id="rId13"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2.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5.png"/><Relationship Id="rId11" Type="http://schemas.openxmlformats.org/officeDocument/2006/relationships/image" Target="../media/image4.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1 / 8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추론은 대역 · 꼬리 지연 · 내구를 한꺼번에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3C4FA5"/>
                </a:solidFill>
                <a:latin typeface="Arial"/>
                <a:ea typeface="Arial"/>
              </a:rPr>
              <a:t>격리</a:t>
            </a:r>
          </a:p>
        </p:txBody>
      </p:sp>
      <p:sp>
        <p:nvSpPr>
          <p:cNvPr id="71" name="Rounded Rectangle 70"/>
          <p:cNvSpPr/>
          <p:nvPr/>
        </p:nvSpPr>
        <p:spPr>
          <a:xfrm>
            <a:off x="7840979" y="2944368"/>
            <a:ext cx="2839212" cy="512064"/>
          </a:xfrm>
          <a:prstGeom prst="roundRect">
            <a:avLst>
              <a:gd name="adj" fmla="val 1428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32420" y="2944368"/>
            <a:ext cx="109728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GPU 서버</a:t>
            </a:r>
          </a:p>
        </p:txBody>
      </p:sp>
      <p:sp>
        <p:nvSpPr>
          <p:cNvPr id="73" name="Rectangle 72"/>
          <p:cNvSpPr/>
          <p:nvPr/>
        </p:nvSpPr>
        <p:spPr>
          <a:xfrm>
            <a:off x="8983980"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385173"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786365"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187559"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7840979" y="4041648"/>
            <a:ext cx="2839212"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40979" y="4041648"/>
            <a:ext cx="2839212" cy="42062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SSD</a:t>
            </a:r>
          </a:p>
        </p:txBody>
      </p:sp>
      <p:sp>
        <p:nvSpPr>
          <p:cNvPr id="79" name="Up Arrow 78"/>
          <p:cNvSpPr/>
          <p:nvPr/>
        </p:nvSpPr>
        <p:spPr>
          <a:xfrm>
            <a:off x="8876538" y="3511296"/>
            <a:ext cx="274320" cy="493776"/>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Down Arrow 79"/>
          <p:cNvSpPr/>
          <p:nvPr/>
        </p:nvSpPr>
        <p:spPr>
          <a:xfrm>
            <a:off x="9370313" y="3511296"/>
            <a:ext cx="274320" cy="493776"/>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40979" y="3566160"/>
            <a:ext cx="980693" cy="384048"/>
          </a:xfrm>
          <a:prstGeom prst="rect">
            <a:avLst/>
          </a:prstGeom>
          <a:noFill/>
        </p:spPr>
        <p:txBody>
          <a:bodyPr wrap="square" anchor="ctr" lIns="0" rIns="0" tIns="0" bIns="0">
            <a:spAutoFit/>
          </a:bodyPr>
          <a:lstStyle/>
          <a:p>
            <a:pPr algn="r">
              <a:lnSpc>
                <a:spcPct val="110000"/>
              </a:lnSpc>
            </a:pPr>
            <a:r>
              <a:rPr sz="1500" b="1">
                <a:solidFill>
                  <a:srgbClr val="3C4FA5"/>
                </a:solidFill>
                <a:latin typeface="Arial"/>
                <a:ea typeface="Arial"/>
              </a:rPr>
              <a:t>데이터 로딩</a:t>
            </a:r>
          </a:p>
        </p:txBody>
      </p:sp>
      <p:sp>
        <p:nvSpPr>
          <p:cNvPr id="82" name="TextBox 81"/>
          <p:cNvSpPr txBox="1"/>
          <p:nvPr/>
        </p:nvSpPr>
        <p:spPr>
          <a:xfrm>
            <a:off x="9699498" y="3566160"/>
            <a:ext cx="980694" cy="384048"/>
          </a:xfrm>
          <a:prstGeom prst="rect">
            <a:avLst/>
          </a:prstGeom>
          <a:noFill/>
        </p:spPr>
        <p:txBody>
          <a:bodyPr wrap="square" anchor="ctr" lIns="0" rIns="0" tIns="0" bIns="0">
            <a:spAutoFit/>
          </a:bodyPr>
          <a:lstStyle/>
          <a:p>
            <a:pPr algn="l">
              <a:lnSpc>
                <a:spcPct val="110000"/>
              </a:lnSpc>
            </a:pPr>
            <a:r>
              <a:rPr sz="1500" b="1">
                <a:solidFill>
                  <a:srgbClr val="677ECD"/>
                </a:solidFill>
                <a:latin typeface="Arial"/>
                <a:ea typeface="Arial"/>
              </a:rPr>
              <a:t>체크포인트</a:t>
            </a:r>
          </a:p>
        </p:txBody>
      </p:sp>
      <p:sp>
        <p:nvSpPr>
          <p:cNvPr id="83" name="Rounded Rectangle 82"/>
          <p:cNvSpPr/>
          <p:nvPr/>
        </p:nvSpPr>
        <p:spPr>
          <a:xfrm>
            <a:off x="12100803" y="2944368"/>
            <a:ext cx="1022116" cy="347472"/>
          </a:xfrm>
          <a:prstGeom prst="roundRect">
            <a:avLst>
              <a:gd name="adj" fmla="val 21052"/>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100803" y="2944368"/>
            <a:ext cx="102211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GPU HBM</a:t>
            </a:r>
          </a:p>
        </p:txBody>
      </p:sp>
      <p:sp>
        <p:nvSpPr>
          <p:cNvPr id="85" name="Rounded Rectangle 84"/>
          <p:cNvSpPr/>
          <p:nvPr/>
        </p:nvSpPr>
        <p:spPr>
          <a:xfrm>
            <a:off x="11703314" y="3374135"/>
            <a:ext cx="1817095" cy="347472"/>
          </a:xfrm>
          <a:prstGeom prst="roundRect">
            <a:avLst>
              <a:gd name="adj" fmla="val 21052"/>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1703314" y="3374135"/>
            <a:ext cx="1817095"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CPU DRAM</a:t>
            </a:r>
          </a:p>
        </p:txBody>
      </p:sp>
      <p:sp>
        <p:nvSpPr>
          <p:cNvPr id="87" name="Rounded Rectangle 86"/>
          <p:cNvSpPr/>
          <p:nvPr/>
        </p:nvSpPr>
        <p:spPr>
          <a:xfrm>
            <a:off x="11192256" y="3803904"/>
            <a:ext cx="2839212"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192256" y="3803904"/>
            <a:ext cx="283921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  KV · RAG · 가중치</a:t>
            </a:r>
          </a:p>
        </p:txBody>
      </p:sp>
      <p:sp>
        <p:nvSpPr>
          <p:cNvPr id="89" name="Down Arrow 88"/>
          <p:cNvSpPr/>
          <p:nvPr/>
        </p:nvSpPr>
        <p:spPr>
          <a:xfrm>
            <a:off x="11283696" y="2980944"/>
            <a:ext cx="219456" cy="731520"/>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Up Arrow 89"/>
          <p:cNvSpPr/>
          <p:nvPr/>
        </p:nvSpPr>
        <p:spPr>
          <a:xfrm>
            <a:off x="13720572" y="2980944"/>
            <a:ext cx="219456" cy="731520"/>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192256" y="4206240"/>
            <a:ext cx="2839212" cy="292608"/>
          </a:xfrm>
          <a:prstGeom prst="rect">
            <a:avLst/>
          </a:prstGeom>
          <a:noFill/>
        </p:spPr>
        <p:txBody>
          <a:bodyPr wrap="square" anchor="ctr" lIns="0" rIns="0" tIns="0" bIns="0">
            <a:spAutoFit/>
          </a:bodyPr>
          <a:lstStyle/>
          <a:p>
            <a:pPr algn="ctr">
              <a:lnSpc>
                <a:spcPct val="110000"/>
              </a:lnSpc>
            </a:pPr>
            <a:r>
              <a:rPr sz="1500" b="1">
                <a:solidFill>
                  <a:srgbClr val="677ECD"/>
                </a:solidFill>
                <a:latin typeface="Arial"/>
                <a:ea typeface="Arial"/>
              </a:rPr>
              <a:t>↓ 넘치면 오프로드</a:t>
            </a:r>
            <a:r>
              <a:rPr sz="1500" b="1">
                <a:solidFill>
                  <a:srgbClr val="3C4FA5"/>
                </a:solidFill>
                <a:latin typeface="Arial"/>
                <a:ea typeface="Arial"/>
              </a:rPr>
              <a:t>    ↑ 재사용</a:t>
            </a:r>
          </a:p>
        </p:txBody>
      </p:sp>
      <p:sp>
        <p:nvSpPr>
          <p:cNvPr id="92" name="Rectangle 91"/>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384780" y="2926079"/>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482060" y="3172968"/>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4836140" y="3419856"/>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3C4FA5"/>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3" name="TextBox 122"/>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VM 디스크</a:t>
            </a:r>
          </a:p>
        </p:txBody>
      </p:sp>
      <p:sp>
        <p:nvSpPr>
          <p:cNvPr id="124" name="Rectangle 123"/>
          <p:cNvSpPr/>
          <p:nvPr/>
        </p:nvSpPr>
        <p:spPr>
          <a:xfrm>
            <a:off x="15787116" y="4050791"/>
            <a:ext cx="809244"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100GB</a:t>
            </a:r>
          </a:p>
        </p:txBody>
      </p:sp>
      <p:sp>
        <p:nvSpPr>
          <p:cNvPr id="126" name="TextBox 125"/>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7" name="Rectangle 126"/>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9" name="TextBox 128"/>
          <p:cNvSpPr txBox="1"/>
          <p:nvPr/>
        </p:nvSpPr>
        <p:spPr>
          <a:xfrm>
            <a:off x="722376" y="5394960"/>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30" name="TextBox 129"/>
          <p:cNvSpPr txBox="1"/>
          <p:nvPr/>
        </p:nvSpPr>
        <p:spPr>
          <a:xfrm>
            <a:off x="10250424" y="5394960"/>
            <a:ext cx="7315200" cy="329184"/>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600" b="0">
                <a:solidFill>
                  <a:srgbClr val="555555"/>
                </a:solidFill>
                <a:latin typeface="Arial"/>
                <a:ea typeface="Arial"/>
              </a:rPr>
              <a:t> 대응 중   </a:t>
            </a:r>
            <a:r>
              <a:rPr sz="1600" b="0">
                <a:solidFill>
                  <a:srgbClr val="677ECD"/>
                </a:solidFill>
                <a:latin typeface="Arial"/>
                <a:ea typeface="Arial"/>
              </a:rPr>
              <a:t>▢</a:t>
            </a:r>
            <a:r>
              <a:rPr sz="1600" b="0">
                <a:solidFill>
                  <a:srgbClr val="555555"/>
                </a:solidFill>
                <a:latin typeface="Arial"/>
                <a:ea typeface="Arial"/>
              </a:rPr>
              <a:t> 대응 가능 · 신호</a:t>
            </a:r>
          </a:p>
        </p:txBody>
      </p:sp>
      <p:sp>
        <p:nvSpPr>
          <p:cNvPr id="131" name="Rounded Rectangle 130"/>
          <p:cNvSpPr/>
          <p:nvPr/>
        </p:nvSpPr>
        <p:spPr>
          <a:xfrm>
            <a:off x="722376" y="577900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Picture 131" descr="p_pm1755.png"/>
          <p:cNvPicPr>
            <a:picLocks noChangeAspect="1"/>
          </p:cNvPicPr>
          <p:nvPr/>
        </p:nvPicPr>
        <p:blipFill>
          <a:blip r:embed="rId10"/>
          <a:stretch>
            <a:fillRect/>
          </a:stretch>
        </p:blipFill>
        <p:spPr>
          <a:xfrm>
            <a:off x="810490" y="5806440"/>
            <a:ext cx="847898" cy="621792"/>
          </a:xfrm>
          <a:prstGeom prst="rect">
            <a:avLst/>
          </a:prstGeom>
        </p:spPr>
      </p:pic>
      <p:sp>
        <p:nvSpPr>
          <p:cNvPr id="133" name="TextBox 132"/>
          <p:cNvSpPr txBox="1"/>
          <p:nvPr/>
        </p:nvSpPr>
        <p:spPr>
          <a:xfrm>
            <a:off x="1746504" y="57972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34" name="TextBox 133"/>
          <p:cNvSpPr txBox="1"/>
          <p:nvPr/>
        </p:nvSpPr>
        <p:spPr>
          <a:xfrm>
            <a:off x="1746504" y="611733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PM1755 · PM1745</a:t>
            </a:r>
          </a:p>
        </p:txBody>
      </p:sp>
      <p:sp>
        <p:nvSpPr>
          <p:cNvPr id="135" name="Rounded Rectangle 134"/>
          <p:cNvSpPr/>
          <p:nvPr/>
        </p:nvSpPr>
        <p:spPr>
          <a:xfrm>
            <a:off x="4306824"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7658100" y="577900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749540" y="579729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체크포인트</a:t>
            </a:r>
          </a:p>
        </p:txBody>
      </p:sp>
      <p:sp>
        <p:nvSpPr>
          <p:cNvPr id="138" name="TextBox 137"/>
          <p:cNvSpPr txBox="1"/>
          <p:nvPr/>
        </p:nvSpPr>
        <p:spPr>
          <a:xfrm>
            <a:off x="7749540" y="61173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39" name="Rounded Rectangle 138"/>
          <p:cNvSpPr/>
          <p:nvPr/>
        </p:nvSpPr>
        <p:spPr>
          <a:xfrm>
            <a:off x="11009376" y="577900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1100816" y="57972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41" name="TextBox 140"/>
          <p:cNvSpPr txBox="1"/>
          <p:nvPr/>
        </p:nvSpPr>
        <p:spPr>
          <a:xfrm>
            <a:off x="11100816" y="611733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PM1755</a:t>
            </a:r>
          </a:p>
        </p:txBody>
      </p:sp>
      <p:sp>
        <p:nvSpPr>
          <p:cNvPr id="142" name="Rounded Rectangle 141"/>
          <p:cNvSpPr/>
          <p:nvPr/>
        </p:nvSpPr>
        <p:spPr>
          <a:xfrm>
            <a:off x="14360652"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ounded Rectangle 142"/>
          <p:cNvSpPr/>
          <p:nvPr/>
        </p:nvSpPr>
        <p:spPr>
          <a:xfrm>
            <a:off x="722376" y="651052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4" name="Picture 143" descr="p_pm1763.png"/>
          <p:cNvPicPr>
            <a:picLocks noChangeAspect="1"/>
          </p:cNvPicPr>
          <p:nvPr/>
        </p:nvPicPr>
        <p:blipFill>
          <a:blip r:embed="rId11"/>
          <a:stretch>
            <a:fillRect/>
          </a:stretch>
        </p:blipFill>
        <p:spPr>
          <a:xfrm>
            <a:off x="785312" y="6537960"/>
            <a:ext cx="898254" cy="621792"/>
          </a:xfrm>
          <a:prstGeom prst="rect">
            <a:avLst/>
          </a:prstGeom>
        </p:spPr>
      </p:pic>
      <p:sp>
        <p:nvSpPr>
          <p:cNvPr id="145" name="TextBox 144"/>
          <p:cNvSpPr txBox="1"/>
          <p:nvPr/>
        </p:nvSpPr>
        <p:spPr>
          <a:xfrm>
            <a:off x="1746504" y="652881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6.0</a:t>
            </a:r>
          </a:p>
        </p:txBody>
      </p:sp>
      <p:sp>
        <p:nvSpPr>
          <p:cNvPr id="146" name="TextBox 145"/>
          <p:cNvSpPr txBox="1"/>
          <p:nvPr/>
        </p:nvSpPr>
        <p:spPr>
          <a:xfrm>
            <a:off x="1746504" y="684885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PM1763</a:t>
            </a:r>
          </a:p>
        </p:txBody>
      </p:sp>
      <p:sp>
        <p:nvSpPr>
          <p:cNvPr id="147" name="Rounded Rectangle 146"/>
          <p:cNvSpPr/>
          <p:nvPr/>
        </p:nvSpPr>
        <p:spPr>
          <a:xfrm>
            <a:off x="4306824"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ed Rectangle 147"/>
          <p:cNvSpPr/>
          <p:nvPr/>
        </p:nvSpPr>
        <p:spPr>
          <a:xfrm>
            <a:off x="7658100" y="651052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7749540" y="652881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50" name="TextBox 149"/>
          <p:cNvSpPr txBox="1"/>
          <p:nvPr/>
        </p:nvSpPr>
        <p:spPr>
          <a:xfrm>
            <a:off x="7749540" y="684885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PM1763</a:t>
            </a:r>
          </a:p>
        </p:txBody>
      </p:sp>
      <p:sp>
        <p:nvSpPr>
          <p:cNvPr id="151" name="Rounded Rectangle 150"/>
          <p:cNvSpPr/>
          <p:nvPr/>
        </p:nvSpPr>
        <p:spPr>
          <a:xfrm>
            <a:off x="11009376" y="651052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1100816" y="652881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로딩 · GPU 직결</a:t>
            </a:r>
          </a:p>
        </p:txBody>
      </p:sp>
      <p:sp>
        <p:nvSpPr>
          <p:cNvPr id="153" name="TextBox 152"/>
          <p:cNvSpPr txBox="1"/>
          <p:nvPr/>
        </p:nvSpPr>
        <p:spPr>
          <a:xfrm>
            <a:off x="11100816" y="684885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PM1763</a:t>
            </a:r>
          </a:p>
        </p:txBody>
      </p:sp>
      <p:sp>
        <p:nvSpPr>
          <p:cNvPr id="154" name="Rounded Rectangle 153"/>
          <p:cNvSpPr/>
          <p:nvPr/>
        </p:nvSpPr>
        <p:spPr>
          <a:xfrm>
            <a:off x="14360652"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722376" y="724204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6" name="Picture 155" descr="p_pm1753.png"/>
          <p:cNvPicPr>
            <a:picLocks noChangeAspect="1"/>
          </p:cNvPicPr>
          <p:nvPr/>
        </p:nvPicPr>
        <p:blipFill>
          <a:blip r:embed="rId12"/>
          <a:stretch>
            <a:fillRect/>
          </a:stretch>
        </p:blipFill>
        <p:spPr>
          <a:xfrm>
            <a:off x="810490" y="7269480"/>
            <a:ext cx="847898" cy="621792"/>
          </a:xfrm>
          <a:prstGeom prst="rect">
            <a:avLst/>
          </a:prstGeom>
        </p:spPr>
      </p:pic>
      <p:sp>
        <p:nvSpPr>
          <p:cNvPr id="157" name="TextBox 156"/>
          <p:cNvSpPr txBox="1"/>
          <p:nvPr/>
        </p:nvSpPr>
        <p:spPr>
          <a:xfrm>
            <a:off x="1746504" y="726033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5.0</a:t>
            </a:r>
          </a:p>
        </p:txBody>
      </p:sp>
      <p:sp>
        <p:nvSpPr>
          <p:cNvPr id="158" name="TextBox 157"/>
          <p:cNvSpPr txBox="1"/>
          <p:nvPr/>
        </p:nvSpPr>
        <p:spPr>
          <a:xfrm>
            <a:off x="1746504" y="7580375"/>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PM1753 · PM9D3a</a:t>
            </a:r>
          </a:p>
        </p:txBody>
      </p:sp>
      <p:sp>
        <p:nvSpPr>
          <p:cNvPr id="159" name="Rounded Rectangle 158"/>
          <p:cNvSpPr/>
          <p:nvPr/>
        </p:nvSpPr>
        <p:spPr>
          <a:xfrm>
            <a:off x="4306824"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4398264"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61" name="TextBox 160"/>
          <p:cNvSpPr txBox="1"/>
          <p:nvPr/>
        </p:nvSpPr>
        <p:spPr>
          <a:xfrm>
            <a:off x="4398264"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PM9D3a · PM1753</a:t>
            </a:r>
          </a:p>
        </p:txBody>
      </p:sp>
      <p:sp>
        <p:nvSpPr>
          <p:cNvPr id="162" name="Rounded Rectangle 161"/>
          <p:cNvSpPr/>
          <p:nvPr/>
        </p:nvSpPr>
        <p:spPr>
          <a:xfrm>
            <a:off x="7658100" y="724204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11009376"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1100816"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65" name="TextBox 164"/>
          <p:cNvSpPr txBox="1"/>
          <p:nvPr/>
        </p:nvSpPr>
        <p:spPr>
          <a:xfrm>
            <a:off x="11100816"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PM1753</a:t>
            </a:r>
          </a:p>
        </p:txBody>
      </p:sp>
      <p:sp>
        <p:nvSpPr>
          <p:cNvPr id="166" name="Rounded Rectangle 165"/>
          <p:cNvSpPr/>
          <p:nvPr/>
        </p:nvSpPr>
        <p:spPr>
          <a:xfrm>
            <a:off x="14360652" y="724204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4452092" y="726033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기동 버스트</a:t>
            </a:r>
          </a:p>
        </p:txBody>
      </p:sp>
      <p:sp>
        <p:nvSpPr>
          <p:cNvPr id="168" name="TextBox 167"/>
          <p:cNvSpPr txBox="1"/>
          <p:nvPr/>
        </p:nvSpPr>
        <p:spPr>
          <a:xfrm>
            <a:off x="14452092" y="7580375"/>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69" name="Rounded Rectangle 168"/>
          <p:cNvSpPr/>
          <p:nvPr/>
        </p:nvSpPr>
        <p:spPr>
          <a:xfrm>
            <a:off x="722376" y="797356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0" name="Picture 169" descr="p_bm1743.png"/>
          <p:cNvPicPr>
            <a:picLocks noChangeAspect="1"/>
          </p:cNvPicPr>
          <p:nvPr/>
        </p:nvPicPr>
        <p:blipFill>
          <a:blip r:embed="rId13"/>
          <a:stretch>
            <a:fillRect/>
          </a:stretch>
        </p:blipFill>
        <p:spPr>
          <a:xfrm>
            <a:off x="785312" y="8001000"/>
            <a:ext cx="898254" cy="621792"/>
          </a:xfrm>
          <a:prstGeom prst="rect">
            <a:avLst/>
          </a:prstGeom>
        </p:spPr>
      </p:pic>
      <p:sp>
        <p:nvSpPr>
          <p:cNvPr id="171" name="TextBox 170"/>
          <p:cNvSpPr txBox="1"/>
          <p:nvPr/>
        </p:nvSpPr>
        <p:spPr>
          <a:xfrm>
            <a:off x="1746504" y="799185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72" name="TextBox 171"/>
          <p:cNvSpPr txBox="1"/>
          <p:nvPr/>
        </p:nvSpPr>
        <p:spPr>
          <a:xfrm>
            <a:off x="1746504" y="831189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BM1743 · BM1773</a:t>
            </a:r>
          </a:p>
        </p:txBody>
      </p:sp>
      <p:sp>
        <p:nvSpPr>
          <p:cNvPr id="173" name="Rounded Rectangle 172"/>
          <p:cNvSpPr/>
          <p:nvPr/>
        </p:nvSpPr>
        <p:spPr>
          <a:xfrm>
            <a:off x="4306824"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4398264"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75" name="TextBox 174"/>
          <p:cNvSpPr txBox="1"/>
          <p:nvPr/>
        </p:nvSpPr>
        <p:spPr>
          <a:xfrm>
            <a:off x="4398264"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6" name="Rounded Rectangle 175"/>
          <p:cNvSpPr/>
          <p:nvPr/>
        </p:nvSpPr>
        <p:spPr>
          <a:xfrm>
            <a:off x="7658100"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7749540"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78" name="TextBox 177"/>
          <p:cNvSpPr txBox="1"/>
          <p:nvPr/>
        </p:nvSpPr>
        <p:spPr>
          <a:xfrm>
            <a:off x="7749540"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9" name="Rounded Rectangle 178"/>
          <p:cNvSpPr/>
          <p:nvPr/>
        </p:nvSpPr>
        <p:spPr>
          <a:xfrm>
            <a:off x="11009376" y="797356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100816" y="799185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 RAG 읽기</a:t>
            </a:r>
          </a:p>
        </p:txBody>
      </p:sp>
      <p:sp>
        <p:nvSpPr>
          <p:cNvPr id="181" name="TextBox 180"/>
          <p:cNvSpPr txBox="1"/>
          <p:nvPr/>
        </p:nvSpPr>
        <p:spPr>
          <a:xfrm>
            <a:off x="11100816" y="831189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82" name="Rounded Rectangle 181"/>
          <p:cNvSpPr/>
          <p:nvPr/>
        </p:nvSpPr>
        <p:spPr>
          <a:xfrm>
            <a:off x="14360652"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452092"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184" name="TextBox 183"/>
          <p:cNvSpPr txBox="1"/>
          <p:nvPr/>
        </p:nvSpPr>
        <p:spPr>
          <a:xfrm>
            <a:off x="14452092"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 · BM1773</a:t>
            </a:r>
          </a:p>
        </p:txBody>
      </p:sp>
      <p:sp>
        <p:nvSpPr>
          <p:cNvPr id="185" name="TextBox 184"/>
          <p:cNvSpPr txBox="1"/>
          <p:nvPr/>
        </p:nvSpPr>
        <p:spPr>
          <a:xfrm>
            <a:off x="722376" y="8796528"/>
            <a:ext cx="338328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86" name="TextBox 185"/>
          <p:cNvSpPr txBox="1"/>
          <p:nvPr/>
        </p:nvSpPr>
        <p:spPr>
          <a:xfrm>
            <a:off x="722376" y="9125711"/>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TechInsights 3Q26</a:t>
            </a:r>
          </a:p>
        </p:txBody>
      </p:sp>
      <p:sp>
        <p:nvSpPr>
          <p:cNvPr id="187" name="TextBox 186"/>
          <p:cNvSpPr txBox="1"/>
          <p:nvPr/>
        </p:nvSpPr>
        <p:spPr>
          <a:xfrm>
            <a:off x="722376" y="8814815"/>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2025</a:t>
            </a:r>
          </a:p>
        </p:txBody>
      </p:sp>
      <p:sp>
        <p:nvSpPr>
          <p:cNvPr id="188" name="Rectangle 187"/>
          <p:cNvSpPr/>
          <p:nvPr/>
        </p:nvSpPr>
        <p:spPr>
          <a:xfrm>
            <a:off x="4306824" y="8814815"/>
            <a:ext cx="715975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4306824" y="8814815"/>
            <a:ext cx="71597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54%</a:t>
            </a:r>
          </a:p>
        </p:txBody>
      </p:sp>
      <p:sp>
        <p:nvSpPr>
          <p:cNvPr id="190" name="Rectangle 189"/>
          <p:cNvSpPr/>
          <p:nvPr/>
        </p:nvSpPr>
        <p:spPr>
          <a:xfrm>
            <a:off x="11466576" y="8814815"/>
            <a:ext cx="1988819"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11466576" y="8814815"/>
            <a:ext cx="1988819"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15%</a:t>
            </a:r>
          </a:p>
        </p:txBody>
      </p:sp>
      <p:sp>
        <p:nvSpPr>
          <p:cNvPr id="192" name="Rectangle 191"/>
          <p:cNvSpPr/>
          <p:nvPr/>
        </p:nvSpPr>
        <p:spPr>
          <a:xfrm>
            <a:off x="13455396" y="8814815"/>
            <a:ext cx="4110228"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13455396" y="8814815"/>
            <a:ext cx="4110228"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31%</a:t>
            </a:r>
          </a:p>
        </p:txBody>
      </p:sp>
      <p:sp>
        <p:nvSpPr>
          <p:cNvPr id="194" name="TextBox 193"/>
          <p:cNvSpPr txBox="1"/>
          <p:nvPr/>
        </p:nvSpPr>
        <p:spPr>
          <a:xfrm>
            <a:off x="722376" y="9143999"/>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95" name="Rectangle 194"/>
          <p:cNvSpPr/>
          <p:nvPr/>
        </p:nvSpPr>
        <p:spPr>
          <a:xfrm>
            <a:off x="4306824" y="9143999"/>
            <a:ext cx="1988819"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4306824" y="9143999"/>
            <a:ext cx="1988819"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15%</a:t>
            </a:r>
          </a:p>
        </p:txBody>
      </p:sp>
      <p:sp>
        <p:nvSpPr>
          <p:cNvPr id="197" name="Rectangle 196"/>
          <p:cNvSpPr/>
          <p:nvPr/>
        </p:nvSpPr>
        <p:spPr>
          <a:xfrm>
            <a:off x="6295644" y="9143999"/>
            <a:ext cx="795528"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6295644" y="9143999"/>
            <a:ext cx="795528"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99" name="Rectangle 198"/>
          <p:cNvSpPr/>
          <p:nvPr/>
        </p:nvSpPr>
        <p:spPr>
          <a:xfrm>
            <a:off x="7091172" y="9143999"/>
            <a:ext cx="10474452"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7091172" y="9143999"/>
            <a:ext cx="104744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79%</a:t>
            </a:r>
          </a:p>
        </p:txBody>
      </p:sp>
      <p:grpSp>
        <p:nvGrpSpPr>
          <p:cNvPr id="207" name="Group 206"/>
          <p:cNvGrpSpPr/>
          <p:nvPr/>
        </p:nvGrpSpPr>
        <p:grpSpPr>
          <a:xfrm>
            <a:off x="7063740" y="1874519"/>
            <a:ext cx="10529316" cy="7571232"/>
            <a:chOff x="7063740" y="1874519"/>
            <a:chExt cx="10529316" cy="7571232"/>
          </a:xfrm>
        </p:grpSpPr>
        <p:sp>
          <p:nvSpPr>
            <p:cNvPr id="201" name="Rounded Rectangle 200"/>
            <p:cNvSpPr/>
            <p:nvPr/>
          </p:nvSpPr>
          <p:spPr>
            <a:xfrm>
              <a:off x="10945368" y="2057400"/>
              <a:ext cx="3332988" cy="6629400"/>
            </a:xfrm>
            <a:prstGeom prst="roundRect">
              <a:avLst>
                <a:gd name="adj" fmla="val 2194"/>
              </a:avLst>
            </a:prstGeom>
            <a:noFill/>
            <a:ln w="571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3427964" y="8787384"/>
              <a:ext cx="4165091"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7063740" y="9116567"/>
              <a:ext cx="10529316"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4" name="Connector 203"/>
            <p:cNvCxnSpPr/>
            <p:nvPr/>
          </p:nvCxnSpPr>
          <p:spPr>
            <a:xfrm>
              <a:off x="12611862" y="8686800"/>
              <a:ext cx="0" cy="100584"/>
            </a:xfrm>
            <a:prstGeom prst="line">
              <a:avLst/>
            </a:prstGeom>
            <a:ln w="38100">
              <a:solidFill>
                <a:srgbClr val="E8590C"/>
              </a:solidFill>
            </a:ln>
          </p:spPr>
          <p:style>
            <a:lnRef idx="2">
              <a:schemeClr val="accent1"/>
            </a:lnRef>
            <a:fillRef idx="0">
              <a:schemeClr val="accent1"/>
            </a:fillRef>
            <a:effectRef idx="1">
              <a:schemeClr val="accent1"/>
            </a:effectRef>
            <a:fontRef idx="minor">
              <a:schemeClr val="tx1"/>
            </a:fontRef>
          </p:style>
        </p:cxnSp>
        <p:sp>
          <p:nvSpPr>
            <p:cNvPr id="205" name="Rounded Rectangle 204"/>
            <p:cNvSpPr/>
            <p:nvPr/>
          </p:nvSpPr>
          <p:spPr>
            <a:xfrm>
              <a:off x="12733020" y="1874519"/>
              <a:ext cx="1417320" cy="347472"/>
            </a:xfrm>
            <a:prstGeom prst="roundRect">
              <a:avLst>
                <a:gd name="adj" fmla="val 2105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733020" y="1874519"/>
              <a:ext cx="1417320"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추론에 집중</a:t>
              </a:r>
            </a:p>
          </p:txBody>
        </p:sp>
      </p:grpSp>
      <p:sp>
        <p:nvSpPr>
          <p:cNvPr id="208" name="TextBox 20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TechInsights 3Q26 보고서(사용자 제공, 원문 미대조) · HBM 과제팀 집계 · p99 FlashBlox(FAST'17) · 학습 · 추론 카드의 SSD 역할 수치(GPU당 대역 · KV 복원 대역 · p99 목표 · DWPD 실측)는 노트 · 에이전트 Google · Muse 관측(제3자) · 삼성 모델 사양 공식 페이지 검색 확인(🟡) · 제품 이미지는 형태 재현</a:t>
            </a:r>
          </a:p>
        </p:txBody>
      </p:sp>
      <p:sp>
        <p:nvSpPr>
          <p:cNvPr id="209" name="TextBox 20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07"/>
                                        </p:tgtEl>
                                        <p:attrNameLst>
                                          <p:attrName>style.visibility</p:attrName>
                                        </p:attrNameLst>
                                      </p:cBhvr>
                                      <p:to>
                                        <p:strVal val="visible"/>
                                      </p:to>
                                    </p:set>
                                    <p:animEffect transition="in" filter="fade">
                                      <p:cBhvr>
                                        <p:cTn id="8" dur="500"/>
                                        <p:tgtEl>
                                          <p:spTgt spid="2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2 / 8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47472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① 추론 수요</a:t>
            </a:r>
          </a:p>
        </p:txBody>
      </p:sp>
      <p:sp>
        <p:nvSpPr>
          <p:cNvPr id="7" name="TextBox 6"/>
          <p:cNvSpPr txBox="1"/>
          <p:nvPr/>
        </p:nvSpPr>
        <p:spPr>
          <a:xfrm>
            <a:off x="4507992" y="2066543"/>
            <a:ext cx="448056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② 핵심 요구</a:t>
            </a:r>
          </a:p>
        </p:txBody>
      </p:sp>
      <p:sp>
        <p:nvSpPr>
          <p:cNvPr id="8" name="TextBox 7"/>
          <p:cNvSpPr txBox="1"/>
          <p:nvPr/>
        </p:nvSpPr>
        <p:spPr>
          <a:xfrm>
            <a:off x="9317736" y="2066543"/>
            <a:ext cx="8247888"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③ 핵심 기술</a:t>
            </a:r>
          </a:p>
        </p:txBody>
      </p:sp>
      <p:sp>
        <p:nvSpPr>
          <p:cNvPr id="9" name="Chevron 8"/>
          <p:cNvSpPr/>
          <p:nvPr/>
        </p:nvSpPr>
        <p:spPr>
          <a:xfrm>
            <a:off x="4215383"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9025128"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Read</a:t>
            </a:r>
          </a:p>
          <a:p>
            <a:pPr algn="ctr">
              <a:lnSpc>
                <a:spcPct val="95000"/>
              </a:lnSpc>
            </a:pPr>
            <a:r>
              <a:rPr sz="1500" b="1">
                <a:solidFill>
                  <a:srgbClr val="1A1A1A"/>
                </a:solidFill>
                <a:latin typeface="Arial"/>
                <a:ea typeface="Arial"/>
              </a:rPr>
              <a:t>BW</a:t>
            </a:r>
          </a:p>
        </p:txBody>
      </p:sp>
      <p:sp>
        <p:nvSpPr>
          <p:cNvPr id="12" name="TextBox 11"/>
          <p:cNvSpPr txBox="1"/>
          <p:nvPr/>
        </p:nvSpPr>
        <p:spPr>
          <a:xfrm>
            <a:off x="5404104"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Tail</a:t>
            </a:r>
          </a:p>
          <a:p>
            <a:pPr algn="ctr">
              <a:lnSpc>
                <a:spcPct val="95000"/>
              </a:lnSpc>
            </a:pPr>
            <a:r>
              <a:rPr sz="1500" b="1">
                <a:solidFill>
                  <a:srgbClr val="1A1A1A"/>
                </a:solidFill>
                <a:latin typeface="Arial"/>
                <a:ea typeface="Arial"/>
              </a:rPr>
              <a:t>Latency</a:t>
            </a:r>
          </a:p>
        </p:txBody>
      </p:sp>
      <p:sp>
        <p:nvSpPr>
          <p:cNvPr id="13" name="TextBox 12"/>
          <p:cNvSpPr txBox="1"/>
          <p:nvPr/>
        </p:nvSpPr>
        <p:spPr>
          <a:xfrm>
            <a:off x="6300216"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DWPD</a:t>
            </a:r>
          </a:p>
        </p:txBody>
      </p:sp>
      <p:sp>
        <p:nvSpPr>
          <p:cNvPr id="14" name="TextBox 13"/>
          <p:cNvSpPr txBox="1"/>
          <p:nvPr/>
        </p:nvSpPr>
        <p:spPr>
          <a:xfrm>
            <a:off x="7196327"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Capacity</a:t>
            </a:r>
          </a:p>
          <a:p>
            <a:pPr algn="ctr">
              <a:lnSpc>
                <a:spcPct val="95000"/>
              </a:lnSpc>
            </a:pPr>
            <a:r>
              <a:rPr sz="1500" b="1">
                <a:solidFill>
                  <a:srgbClr val="1A1A1A"/>
                </a:solidFill>
                <a:latin typeface="Arial"/>
                <a:ea typeface="Arial"/>
              </a:rPr>
              <a:t>$/TB</a:t>
            </a:r>
          </a:p>
        </p:txBody>
      </p:sp>
      <p:sp>
        <p:nvSpPr>
          <p:cNvPr id="15" name="TextBox 14"/>
          <p:cNvSpPr txBox="1"/>
          <p:nvPr/>
        </p:nvSpPr>
        <p:spPr>
          <a:xfrm>
            <a:off x="8092440"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Isolation</a:t>
            </a:r>
          </a:p>
          <a:p>
            <a:pPr algn="ctr">
              <a:lnSpc>
                <a:spcPct val="95000"/>
              </a:lnSpc>
            </a:pPr>
            <a:r>
              <a:rPr sz="1500" b="1">
                <a:solidFill>
                  <a:srgbClr val="1A1A1A"/>
                </a:solidFill>
                <a:latin typeface="Arial"/>
                <a:ea typeface="Arial"/>
              </a:rPr>
              <a:t>Security</a:t>
            </a:r>
          </a:p>
        </p:txBody>
      </p:sp>
      <p:sp>
        <p:nvSpPr>
          <p:cNvPr id="16" name="TextBox 15"/>
          <p:cNvSpPr txBox="1"/>
          <p:nvPr/>
        </p:nvSpPr>
        <p:spPr>
          <a:xfrm>
            <a:off x="9317736" y="2578608"/>
            <a:ext cx="8247888"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채도 = 고객 협력 정도   </a:t>
            </a:r>
            <a:r>
              <a:rPr sz="1700" b="0">
                <a:solidFill>
                  <a:srgbClr val="3C4FA5"/>
                </a:solidFill>
                <a:latin typeface="Arial"/>
                <a:ea typeface="Arial"/>
              </a:rPr>
              <a:t>■</a:t>
            </a:r>
            <a:r>
              <a:rPr sz="1600" b="0">
                <a:solidFill>
                  <a:srgbClr val="555555"/>
                </a:solidFill>
                <a:latin typeface="Arial"/>
                <a:ea typeface="Arial"/>
              </a:rPr>
              <a:t> 최적화까지 함께   </a:t>
            </a:r>
            <a:r>
              <a:rPr sz="1700" b="0">
                <a:solidFill>
                  <a:srgbClr val="677ECD"/>
                </a:solidFill>
                <a:latin typeface="Arial"/>
                <a:ea typeface="Arial"/>
              </a:rPr>
              <a:t>■</a:t>
            </a:r>
            <a:r>
              <a:rPr sz="1600" b="0">
                <a:solidFill>
                  <a:srgbClr val="555555"/>
                </a:solidFill>
                <a:latin typeface="Arial"/>
                <a:ea typeface="Arial"/>
              </a:rPr>
              <a:t> 고객 시스템 개발   </a:t>
            </a:r>
            <a:r>
              <a:rPr sz="1700" b="0">
                <a:solidFill>
                  <a:srgbClr val="C0CAEC"/>
                </a:solidFill>
                <a:latin typeface="Arial"/>
                <a:ea typeface="Arial"/>
              </a:rPr>
              <a:t>■</a:t>
            </a:r>
            <a:r>
              <a:rPr sz="1600" b="0">
                <a:solidFill>
                  <a:srgbClr val="555555"/>
                </a:solidFill>
                <a:latin typeface="Arial"/>
                <a:ea typeface="Arial"/>
              </a:rPr>
              <a:t> SSD 안에서</a:t>
            </a:r>
          </a:p>
        </p:txBody>
      </p:sp>
      <p:sp>
        <p:nvSpPr>
          <p:cNvPr id="17" name="Rounded Rectangle 16"/>
          <p:cNvSpPr/>
          <p:nvPr/>
        </p:nvSpPr>
        <p:spPr>
          <a:xfrm>
            <a:off x="722376" y="3035808"/>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95528" y="3108960"/>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flipV="1">
            <a:off x="981699" y="3226003"/>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81699" y="330281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1699" y="330281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1699" y="3302812"/>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81699" y="3226003"/>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81699" y="337962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81699" y="3456432"/>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1699" y="3456432"/>
            <a:ext cx="298461"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81699" y="3226003"/>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81699" y="337962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81699" y="3533241"/>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1699" y="3610051"/>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80160" y="3226003"/>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80160" y="3226003"/>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280160" y="3226003"/>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280160" y="330281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80160" y="337962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80160" y="337962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80160" y="330281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280160" y="3456432"/>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280160" y="3533241"/>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80160" y="3302812"/>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280160" y="3456432"/>
            <a:ext cx="298460"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0160" y="3610051"/>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92729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2729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2729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225753" y="3171596"/>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25753" y="3325215"/>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25753" y="347883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25753" y="363245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52421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2421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2421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74519" y="3108960"/>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모델 가중치</a:t>
            </a:r>
          </a:p>
        </p:txBody>
      </p:sp>
      <p:sp>
        <p:nvSpPr>
          <p:cNvPr id="54" name="TextBox 53"/>
          <p:cNvSpPr txBox="1"/>
          <p:nvPr/>
        </p:nvSpPr>
        <p:spPr>
          <a:xfrm>
            <a:off x="1874519" y="3493008"/>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로딩 · 모델 교체</a:t>
            </a:r>
          </a:p>
        </p:txBody>
      </p:sp>
      <p:sp>
        <p:nvSpPr>
          <p:cNvPr id="55" name="Rounded Rectangle 54"/>
          <p:cNvSpPr/>
          <p:nvPr/>
        </p:nvSpPr>
        <p:spPr>
          <a:xfrm>
            <a:off x="4507992" y="3035808"/>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782312"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678424"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470648"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366760"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9317736"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45752"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26584"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607417"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688250"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445752" y="3456432"/>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848088"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112752"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309165" y="3300984"/>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265639" y="3425342"/>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377562" y="3475085"/>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643104"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4907768" y="3200400"/>
            <a:ext cx="2657856" cy="512064"/>
          </a:xfrm>
          <a:prstGeom prst="roundRect">
            <a:avLst>
              <a:gd name="adj" fmla="val 14285"/>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5035784"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5141488"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5247193"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5035784"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5141488"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5247193" y="3406688"/>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035784"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5141488"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247193"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38120" y="3200400"/>
            <a:ext cx="2072640" cy="51206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84" name="Rounded Rectangle 83"/>
          <p:cNvSpPr/>
          <p:nvPr/>
        </p:nvSpPr>
        <p:spPr>
          <a:xfrm>
            <a:off x="722376" y="3968496"/>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95528" y="4041648"/>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Can 85"/>
          <p:cNvSpPr/>
          <p:nvPr/>
        </p:nvSpPr>
        <p:spPr>
          <a:xfrm>
            <a:off x="876360" y="4184294"/>
            <a:ext cx="351129" cy="422452"/>
          </a:xfrm>
          <a:prstGeom prst="ca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332829" y="4209897"/>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20611" y="4325112"/>
            <a:ext cx="64008"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97716" y="4401921"/>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490837" y="4197096"/>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5498" y="4491532"/>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50385" y="4261104"/>
            <a:ext cx="243230" cy="243230"/>
          </a:xfrm>
          <a:prstGeom prst="ellipse">
            <a:avLst/>
          </a:prstGeom>
          <a:noFill/>
          <a:ln w="317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561612" y="4472330"/>
            <a:ext cx="122347" cy="185623"/>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874519" y="4041648"/>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RAG · Vector DB</a:t>
            </a:r>
          </a:p>
        </p:txBody>
      </p:sp>
      <p:sp>
        <p:nvSpPr>
          <p:cNvPr id="95" name="TextBox 94"/>
          <p:cNvSpPr txBox="1"/>
          <p:nvPr/>
        </p:nvSpPr>
        <p:spPr>
          <a:xfrm>
            <a:off x="1874519" y="4425696"/>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작은 랜덤 읽기 · 색인 갱신</a:t>
            </a:r>
          </a:p>
        </p:txBody>
      </p:sp>
      <p:sp>
        <p:nvSpPr>
          <p:cNvPr id="96" name="Rounded Rectangle 95"/>
          <p:cNvSpPr/>
          <p:nvPr/>
        </p:nvSpPr>
        <p:spPr>
          <a:xfrm>
            <a:off x="4507992" y="3968496"/>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4782312"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678424"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470648"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8366760"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9317736" y="4133087"/>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9445752"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9551456"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657161"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445752"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551456"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9657161"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445752"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9551456"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9657161"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848088"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3" name="Rounded Rectangle 112"/>
          <p:cNvSpPr/>
          <p:nvPr/>
        </p:nvSpPr>
        <p:spPr>
          <a:xfrm>
            <a:off x="12112752"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2240768"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2321600"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2402433"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2483266"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2240768" y="438912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643104"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1" name="Rounded Rectangle 120"/>
          <p:cNvSpPr/>
          <p:nvPr/>
        </p:nvSpPr>
        <p:spPr>
          <a:xfrm>
            <a:off x="14907768"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5035784" y="423367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15035784" y="433937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15035784" y="444508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38120"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6" name="Rounded Rectangle 125"/>
          <p:cNvSpPr/>
          <p:nvPr/>
        </p:nvSpPr>
        <p:spPr>
          <a:xfrm>
            <a:off x="722376" y="4901183"/>
            <a:ext cx="3474720" cy="841248"/>
          </a:xfrm>
          <a:prstGeom prst="roundRect">
            <a:avLst>
              <a:gd name="adj" fmla="val 8695"/>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795528" y="4974336"/>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858804" y="5040172"/>
            <a:ext cx="333573" cy="256032"/>
          </a:xfrm>
          <a:prstGeom prst="roundRect">
            <a:avLst>
              <a:gd name="adj" fmla="val 28571"/>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893917"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967303"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40689"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14075"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58804" y="5398617"/>
            <a:ext cx="333573" cy="192024"/>
          </a:xfrm>
          <a:prstGeom prst="roundRect">
            <a:avLst>
              <a:gd name="adj" fmla="val 3809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893917"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53960"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014003"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4046"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34090"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Down Arrow 138"/>
          <p:cNvSpPr/>
          <p:nvPr/>
        </p:nvSpPr>
        <p:spPr>
          <a:xfrm>
            <a:off x="971092" y="5302605"/>
            <a:ext cx="91440" cy="89611"/>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297716"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394277"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90837"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87398"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874519" y="4974336"/>
            <a:ext cx="2267711"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KV 캐시 오프로드</a:t>
            </a:r>
          </a:p>
        </p:txBody>
      </p:sp>
      <p:sp>
        <p:nvSpPr>
          <p:cNvPr id="145" name="TextBox 144"/>
          <p:cNvSpPr txBox="1"/>
          <p:nvPr/>
        </p:nvSpPr>
        <p:spPr>
          <a:xfrm>
            <a:off x="1874519" y="5358383"/>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긴 문맥 · 재사용</a:t>
            </a:r>
          </a:p>
        </p:txBody>
      </p:sp>
      <p:sp>
        <p:nvSpPr>
          <p:cNvPr id="146" name="Rounded Rectangle 145"/>
          <p:cNvSpPr/>
          <p:nvPr/>
        </p:nvSpPr>
        <p:spPr>
          <a:xfrm>
            <a:off x="4507992" y="4901183"/>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4782312"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5678424"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6574536"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7470648" y="5148071"/>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9317736"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9445752"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9551456"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9657161"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9445752"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9551456"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9657161"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445752"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551456"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9657161"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48088"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3" name="Rounded Rectangle 162"/>
          <p:cNvSpPr/>
          <p:nvPr/>
        </p:nvSpPr>
        <p:spPr>
          <a:xfrm>
            <a:off x="12112752"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2240768" y="5166359"/>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Down Arrow 164"/>
          <p:cNvSpPr/>
          <p:nvPr/>
        </p:nvSpPr>
        <p:spPr>
          <a:xfrm>
            <a:off x="12377562" y="524719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2240768" y="529693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2643104"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69" name="Rounded Rectangle 168"/>
          <p:cNvSpPr/>
          <p:nvPr/>
        </p:nvSpPr>
        <p:spPr>
          <a:xfrm>
            <a:off x="14907768" y="5065775"/>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5035784"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5116616"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15197449"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5278282"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5035784" y="53218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15438120"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77" name="Rounded Rectangle 176"/>
          <p:cNvSpPr/>
          <p:nvPr/>
        </p:nvSpPr>
        <p:spPr>
          <a:xfrm>
            <a:off x="722376" y="5833872"/>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ounded Rectangle 177"/>
          <p:cNvSpPr/>
          <p:nvPr/>
        </p:nvSpPr>
        <p:spPr>
          <a:xfrm>
            <a:off x="795528" y="5907024"/>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911473" y="5998464"/>
            <a:ext cx="192024" cy="19202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858804" y="6216091"/>
            <a:ext cx="294436" cy="268833"/>
          </a:xfrm>
          <a:prstGeom prst="roundRect">
            <a:avLst>
              <a:gd name="adj" fmla="val 2721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1280160" y="6024067"/>
            <a:ext cx="52669"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367942" y="6036868"/>
            <a:ext cx="343229" cy="44805"/>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1280160" y="6152083"/>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1367942" y="6164884"/>
            <a:ext cx="268614"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1280160" y="6280099"/>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367942" y="6292900"/>
            <a:ext cx="313383"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1280160" y="6408115"/>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367942" y="6420916"/>
            <a:ext cx="223845"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874519" y="5907024"/>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에이전트 메모리</a:t>
            </a:r>
          </a:p>
        </p:txBody>
      </p:sp>
      <p:sp>
        <p:nvSpPr>
          <p:cNvPr id="190" name="TextBox 189"/>
          <p:cNvSpPr txBox="1"/>
          <p:nvPr/>
        </p:nvSpPr>
        <p:spPr>
          <a:xfrm>
            <a:off x="1874519" y="6291072"/>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세션 · 상태 · 로그</a:t>
            </a:r>
          </a:p>
        </p:txBody>
      </p:sp>
      <p:sp>
        <p:nvSpPr>
          <p:cNvPr id="191" name="Rounded Rectangle 190"/>
          <p:cNvSpPr/>
          <p:nvPr/>
        </p:nvSpPr>
        <p:spPr>
          <a:xfrm>
            <a:off x="4507992" y="5833872"/>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5678424"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6574536"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7470648"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8366760"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ounded Rectangle 195"/>
          <p:cNvSpPr/>
          <p:nvPr/>
        </p:nvSpPr>
        <p:spPr>
          <a:xfrm>
            <a:off x="9317736" y="5998464"/>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9445752" y="6099048"/>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Down Arrow 197"/>
          <p:cNvSpPr/>
          <p:nvPr/>
        </p:nvSpPr>
        <p:spPr>
          <a:xfrm>
            <a:off x="9582546" y="6179880"/>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9445752" y="6229624"/>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9848088"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2" name="Rounded Rectangle 201"/>
          <p:cNvSpPr/>
          <p:nvPr/>
        </p:nvSpPr>
        <p:spPr>
          <a:xfrm>
            <a:off x="12112752"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12240768" y="6099048"/>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ounded Rectangle 203"/>
          <p:cNvSpPr/>
          <p:nvPr/>
        </p:nvSpPr>
        <p:spPr>
          <a:xfrm>
            <a:off x="12240768" y="6204752"/>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ounded Rectangle 204"/>
          <p:cNvSpPr/>
          <p:nvPr/>
        </p:nvSpPr>
        <p:spPr>
          <a:xfrm>
            <a:off x="12240768" y="6310457"/>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643104"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07" name="Rounded Rectangle 206"/>
          <p:cNvSpPr/>
          <p:nvPr/>
        </p:nvSpPr>
        <p:spPr>
          <a:xfrm>
            <a:off x="14907768"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5104181" y="6099048"/>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5060655" y="6223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5172578" y="6273149"/>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38120"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2" name="TextBox 211"/>
          <p:cNvSpPr txBox="1"/>
          <p:nvPr/>
        </p:nvSpPr>
        <p:spPr>
          <a:xfrm>
            <a:off x="6336792" y="2066543"/>
            <a:ext cx="2651760" cy="402336"/>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500" b="0">
                <a:solidFill>
                  <a:srgbClr val="555555"/>
                </a:solidFill>
                <a:latin typeface="Arial"/>
                <a:ea typeface="Arial"/>
              </a:rPr>
              <a:t> 핵심  </a:t>
            </a:r>
            <a:r>
              <a:rPr sz="1600" b="1">
                <a:solidFill>
                  <a:srgbClr val="677ECD"/>
                </a:solidFill>
                <a:latin typeface="Arial"/>
                <a:ea typeface="Arial"/>
              </a:rPr>
              <a:t>○</a:t>
            </a:r>
            <a:r>
              <a:rPr sz="1500" b="0">
                <a:solidFill>
                  <a:srgbClr val="555555"/>
                </a:solidFill>
                <a:latin typeface="Arial"/>
                <a:ea typeface="Arial"/>
              </a:rPr>
              <a:t> 해당</a:t>
            </a:r>
          </a:p>
        </p:txBody>
      </p:sp>
      <p:sp>
        <p:nvSpPr>
          <p:cNvPr id="213" name="Rounded Rectangle 212"/>
          <p:cNvSpPr/>
          <p:nvPr/>
        </p:nvSpPr>
        <p:spPr>
          <a:xfrm>
            <a:off x="72237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ounded Rectangle 213"/>
          <p:cNvSpPr/>
          <p:nvPr/>
        </p:nvSpPr>
        <p:spPr>
          <a:xfrm>
            <a:off x="795528"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923544"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029248"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1134953"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923544"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029248"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134953"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923544"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1029248"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1134953"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extBox 223"/>
          <p:cNvSpPr txBox="1"/>
          <p:nvPr/>
        </p:nvSpPr>
        <p:spPr>
          <a:xfrm>
            <a:off x="1325880"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225" name="Rectangle 224"/>
          <p:cNvSpPr/>
          <p:nvPr/>
        </p:nvSpPr>
        <p:spPr>
          <a:xfrm>
            <a:off x="1331976" y="7754112"/>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514856" y="7754112"/>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1697736" y="7754112"/>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1331976" y="7973568"/>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14856" y="7973568"/>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1697736" y="7973568"/>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ight Arrow 230"/>
          <p:cNvSpPr/>
          <p:nvPr/>
        </p:nvSpPr>
        <p:spPr>
          <a:xfrm>
            <a:off x="1935480" y="7882128"/>
            <a:ext cx="274320" cy="18288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30124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248412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266700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230124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248412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266700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230124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248412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266700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79552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같은 수명끼리 → 통째로 지움</a:t>
            </a:r>
          </a:p>
        </p:txBody>
      </p:sp>
      <p:sp>
        <p:nvSpPr>
          <p:cNvPr id="243" name="Rounded Rectangle 242"/>
          <p:cNvSpPr/>
          <p:nvPr/>
        </p:nvSpPr>
        <p:spPr>
          <a:xfrm>
            <a:off x="3550920"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3624072"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3752088" y="7296912"/>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Down Arrow 245"/>
          <p:cNvSpPr/>
          <p:nvPr/>
        </p:nvSpPr>
        <p:spPr>
          <a:xfrm>
            <a:off x="3888882" y="7377744"/>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3752088" y="7427488"/>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extBox 247"/>
          <p:cNvSpPr txBox="1"/>
          <p:nvPr/>
        </p:nvSpPr>
        <p:spPr>
          <a:xfrm>
            <a:off x="4154424"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49" name="Rectangle 248"/>
          <p:cNvSpPr/>
          <p:nvPr/>
        </p:nvSpPr>
        <p:spPr>
          <a:xfrm>
            <a:off x="4160520"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4270248"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4379976"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4489704"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ight Arrow 252"/>
          <p:cNvSpPr/>
          <p:nvPr/>
        </p:nvSpPr>
        <p:spPr>
          <a:xfrm>
            <a:off x="4636008" y="7863840"/>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4946904" y="7772400"/>
            <a:ext cx="566928" cy="12801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Down Arrow 254"/>
          <p:cNvSpPr/>
          <p:nvPr/>
        </p:nvSpPr>
        <p:spPr>
          <a:xfrm>
            <a:off x="5166360" y="7909560"/>
            <a:ext cx="109728" cy="91440"/>
          </a:xfrm>
          <a:prstGeom prst="down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4946904" y="8010144"/>
            <a:ext cx="56692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3624072"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작은 쓰기 모아 QLC로</a:t>
            </a:r>
          </a:p>
        </p:txBody>
      </p:sp>
      <p:sp>
        <p:nvSpPr>
          <p:cNvPr id="259" name="Rounded Rectangle 258"/>
          <p:cNvSpPr/>
          <p:nvPr/>
        </p:nvSpPr>
        <p:spPr>
          <a:xfrm>
            <a:off x="6379464"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ounded Rectangle 259"/>
          <p:cNvSpPr/>
          <p:nvPr/>
        </p:nvSpPr>
        <p:spPr>
          <a:xfrm>
            <a:off x="6452616"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6580632"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6661464"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6742297"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6823130"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6580632" y="745236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6982968"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267" name="Rectangle 266"/>
          <p:cNvSpPr/>
          <p:nvPr/>
        </p:nvSpPr>
        <p:spPr>
          <a:xfrm>
            <a:off x="698906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706678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714451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7222236"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7299960"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737768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745540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753313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ight Arrow 274"/>
          <p:cNvSpPr/>
          <p:nvPr/>
        </p:nvSpPr>
        <p:spPr>
          <a:xfrm>
            <a:off x="7665720" y="7891272"/>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Rectangle 275"/>
          <p:cNvSpPr/>
          <p:nvPr/>
        </p:nvSpPr>
        <p:spPr>
          <a:xfrm>
            <a:off x="7976616"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Rectangle 276"/>
          <p:cNvSpPr/>
          <p:nvPr/>
        </p:nvSpPr>
        <p:spPr>
          <a:xfrm>
            <a:off x="8269224"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452616"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매핑 단위 ↑ · DRAM ↓</a:t>
            </a:r>
          </a:p>
        </p:txBody>
      </p:sp>
      <p:sp>
        <p:nvSpPr>
          <p:cNvPr id="280" name="Rounded Rectangle 279"/>
          <p:cNvSpPr/>
          <p:nvPr/>
        </p:nvSpPr>
        <p:spPr>
          <a:xfrm>
            <a:off x="9208008"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ounded Rectangle 280"/>
          <p:cNvSpPr/>
          <p:nvPr/>
        </p:nvSpPr>
        <p:spPr>
          <a:xfrm>
            <a:off x="9281160"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Rounded Rectangle 281"/>
          <p:cNvSpPr/>
          <p:nvPr/>
        </p:nvSpPr>
        <p:spPr>
          <a:xfrm>
            <a:off x="9409176" y="729691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9409176" y="740261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ounded Rectangle 283"/>
          <p:cNvSpPr/>
          <p:nvPr/>
        </p:nvSpPr>
        <p:spPr>
          <a:xfrm>
            <a:off x="9409176" y="750832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9811512"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86" name="Rectangle 285"/>
          <p:cNvSpPr/>
          <p:nvPr/>
        </p:nvSpPr>
        <p:spPr>
          <a:xfrm>
            <a:off x="9817608" y="7754112"/>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ectangle 286"/>
          <p:cNvSpPr/>
          <p:nvPr/>
        </p:nvSpPr>
        <p:spPr>
          <a:xfrm>
            <a:off x="9817608" y="7754112"/>
            <a:ext cx="1005840"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ectangle 287"/>
          <p:cNvSpPr/>
          <p:nvPr/>
        </p:nvSpPr>
        <p:spPr>
          <a:xfrm>
            <a:off x="9817608" y="7900416"/>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Rectangle 288"/>
          <p:cNvSpPr/>
          <p:nvPr/>
        </p:nvSpPr>
        <p:spPr>
          <a:xfrm>
            <a:off x="9817608" y="7900416"/>
            <a:ext cx="731520" cy="10972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9817608" y="8046720"/>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Rectangle 290"/>
          <p:cNvSpPr/>
          <p:nvPr/>
        </p:nvSpPr>
        <p:spPr>
          <a:xfrm>
            <a:off x="9817608" y="8046720"/>
            <a:ext cx="1188720"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9281160"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테넌트별 격리</a:t>
            </a:r>
          </a:p>
        </p:txBody>
      </p:sp>
      <p:sp>
        <p:nvSpPr>
          <p:cNvPr id="293" name="Rounded Rectangle 292"/>
          <p:cNvSpPr/>
          <p:nvPr/>
        </p:nvSpPr>
        <p:spPr>
          <a:xfrm>
            <a:off x="12036552"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ounded Rectangle 293"/>
          <p:cNvSpPr/>
          <p:nvPr/>
        </p:nvSpPr>
        <p:spPr>
          <a:xfrm>
            <a:off x="12109704"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12306117" y="729691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Rounded Rectangle 295"/>
          <p:cNvSpPr/>
          <p:nvPr/>
        </p:nvSpPr>
        <p:spPr>
          <a:xfrm>
            <a:off x="12262591" y="742127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Rectangle 296"/>
          <p:cNvSpPr/>
          <p:nvPr/>
        </p:nvSpPr>
        <p:spPr>
          <a:xfrm>
            <a:off x="12374514" y="7471013"/>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2640056"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99" name="Oval 298"/>
          <p:cNvSpPr/>
          <p:nvPr/>
        </p:nvSpPr>
        <p:spPr>
          <a:xfrm>
            <a:off x="12826105" y="7754112"/>
            <a:ext cx="225308" cy="249448"/>
          </a:xfrm>
          <a:prstGeom prst="ellipse">
            <a:avLst/>
          </a:prstGeom>
          <a:noFill/>
          <a:ln w="285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Rounded Rectangle 299"/>
          <p:cNvSpPr/>
          <p:nvPr/>
        </p:nvSpPr>
        <p:spPr>
          <a:xfrm>
            <a:off x="12769778" y="7915046"/>
            <a:ext cx="337962" cy="233354"/>
          </a:xfrm>
          <a:prstGeom prst="roundRect">
            <a:avLst>
              <a:gd name="adj" fmla="val 313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2914619" y="7979420"/>
            <a:ext cx="48280" cy="96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Right Arrow 301"/>
          <p:cNvSpPr/>
          <p:nvPr/>
        </p:nvSpPr>
        <p:spPr>
          <a:xfrm>
            <a:off x="13249656" y="7845552"/>
            <a:ext cx="274320" cy="201168"/>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13615416" y="7772400"/>
            <a:ext cx="384048" cy="384048"/>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extBox 303"/>
          <p:cNvSpPr txBox="1"/>
          <p:nvPr/>
        </p:nvSpPr>
        <p:spPr>
          <a:xfrm>
            <a:off x="13615416" y="7772400"/>
            <a:ext cx="384048" cy="38404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t>
            </a:r>
          </a:p>
        </p:txBody>
      </p:sp>
      <p:sp>
        <p:nvSpPr>
          <p:cNvPr id="305" name="TextBox 304"/>
          <p:cNvSpPr txBox="1"/>
          <p:nvPr/>
        </p:nvSpPr>
        <p:spPr>
          <a:xfrm>
            <a:off x="12109704"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암호화 · 증명 · 키</a:t>
            </a:r>
          </a:p>
        </p:txBody>
      </p:sp>
      <p:sp>
        <p:nvSpPr>
          <p:cNvPr id="306" name="Rounded Rectangle 305"/>
          <p:cNvSpPr/>
          <p:nvPr/>
        </p:nvSpPr>
        <p:spPr>
          <a:xfrm>
            <a:off x="1486509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Rounded Rectangle 306"/>
          <p:cNvSpPr/>
          <p:nvPr/>
        </p:nvSpPr>
        <p:spPr>
          <a:xfrm>
            <a:off x="14938248" y="7242048"/>
            <a:ext cx="2554224" cy="420624"/>
          </a:xfrm>
          <a:prstGeom prst="roundRect">
            <a:avLst>
              <a:gd name="adj" fmla="val 17391"/>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Rectangle 307"/>
          <p:cNvSpPr/>
          <p:nvPr/>
        </p:nvSpPr>
        <p:spPr>
          <a:xfrm>
            <a:off x="15066264"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Rectangle 308"/>
          <p:cNvSpPr/>
          <p:nvPr/>
        </p:nvSpPr>
        <p:spPr>
          <a:xfrm>
            <a:off x="15171968"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Rectangle 309"/>
          <p:cNvSpPr/>
          <p:nvPr/>
        </p:nvSpPr>
        <p:spPr>
          <a:xfrm>
            <a:off x="15277673"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Rectangle 310"/>
          <p:cNvSpPr/>
          <p:nvPr/>
        </p:nvSpPr>
        <p:spPr>
          <a:xfrm>
            <a:off x="15066264"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Rectangle 311"/>
          <p:cNvSpPr/>
          <p:nvPr/>
        </p:nvSpPr>
        <p:spPr>
          <a:xfrm>
            <a:off x="15171968"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Rectangle 312"/>
          <p:cNvSpPr/>
          <p:nvPr/>
        </p:nvSpPr>
        <p:spPr>
          <a:xfrm>
            <a:off x="15277673" y="7402616"/>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Rectangle 313"/>
          <p:cNvSpPr/>
          <p:nvPr/>
        </p:nvSpPr>
        <p:spPr>
          <a:xfrm>
            <a:off x="15066264"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Rectangle 314"/>
          <p:cNvSpPr/>
          <p:nvPr/>
        </p:nvSpPr>
        <p:spPr>
          <a:xfrm>
            <a:off x="15171968"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Rectangle 315"/>
          <p:cNvSpPr/>
          <p:nvPr/>
        </p:nvSpPr>
        <p:spPr>
          <a:xfrm>
            <a:off x="15277673"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15468599" y="7242048"/>
            <a:ext cx="1969008" cy="42062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318" name="Rectangle 317"/>
          <p:cNvSpPr/>
          <p:nvPr/>
        </p:nvSpPr>
        <p:spPr>
          <a:xfrm>
            <a:off x="1547469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Rectangle 318"/>
          <p:cNvSpPr/>
          <p:nvPr/>
        </p:nvSpPr>
        <p:spPr>
          <a:xfrm>
            <a:off x="15712440"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Rectangle 319"/>
          <p:cNvSpPr/>
          <p:nvPr/>
        </p:nvSpPr>
        <p:spPr>
          <a:xfrm>
            <a:off x="15950184"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Rectangle 320"/>
          <p:cNvSpPr/>
          <p:nvPr/>
        </p:nvSpPr>
        <p:spPr>
          <a:xfrm>
            <a:off x="16187928" y="7754112"/>
            <a:ext cx="182880" cy="164592"/>
          </a:xfrm>
          <a:prstGeom prst="rect">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Rectangle 321"/>
          <p:cNvSpPr/>
          <p:nvPr/>
        </p:nvSpPr>
        <p:spPr>
          <a:xfrm>
            <a:off x="16425672"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Rectangle 322"/>
          <p:cNvSpPr/>
          <p:nvPr/>
        </p:nvSpPr>
        <p:spPr>
          <a:xfrm>
            <a:off x="1666341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Rectangle 323"/>
          <p:cNvSpPr/>
          <p:nvPr/>
        </p:nvSpPr>
        <p:spPr>
          <a:xfrm>
            <a:off x="1547469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Rectangle 324"/>
          <p:cNvSpPr/>
          <p:nvPr/>
        </p:nvSpPr>
        <p:spPr>
          <a:xfrm>
            <a:off x="15712440"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Rectangle 325"/>
          <p:cNvSpPr/>
          <p:nvPr/>
        </p:nvSpPr>
        <p:spPr>
          <a:xfrm>
            <a:off x="15950184"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16187928"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Rectangle 327"/>
          <p:cNvSpPr/>
          <p:nvPr/>
        </p:nvSpPr>
        <p:spPr>
          <a:xfrm>
            <a:off x="16425672"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1666341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Multiply 329"/>
          <p:cNvSpPr/>
          <p:nvPr/>
        </p:nvSpPr>
        <p:spPr>
          <a:xfrm>
            <a:off x="16206216" y="7763256"/>
            <a:ext cx="146304" cy="146304"/>
          </a:xfrm>
          <a:prstGeom prst="mathMultiply">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TextBox 330"/>
          <p:cNvSpPr txBox="1"/>
          <p:nvPr/>
        </p:nvSpPr>
        <p:spPr>
          <a:xfrm>
            <a:off x="1493824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고장 다이만 격리</a:t>
            </a:r>
          </a:p>
        </p:txBody>
      </p:sp>
      <p:grpSp>
        <p:nvGrpSpPr>
          <p:cNvPr id="334" name="Group 333"/>
          <p:cNvGrpSpPr/>
          <p:nvPr/>
        </p:nvGrpSpPr>
        <p:grpSpPr>
          <a:xfrm>
            <a:off x="667512" y="3145536"/>
            <a:ext cx="16952976" cy="5413248"/>
            <a:chOff x="667512" y="3145536"/>
            <a:chExt cx="16952976" cy="5413248"/>
          </a:xfrm>
        </p:grpSpPr>
        <p:sp>
          <p:nvSpPr>
            <p:cNvPr id="67" name="Rounded Rectangle 66"/>
            <p:cNvSpPr/>
            <p:nvPr/>
          </p:nvSpPr>
          <p:spPr>
            <a:xfrm>
              <a:off x="9262872" y="3145536"/>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9262872"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12057888"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9262872"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12057888"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ounded Rectangle 175"/>
            <p:cNvSpPr/>
            <p:nvPr/>
          </p:nvSpPr>
          <p:spPr>
            <a:xfrm>
              <a:off x="14852904"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ounded Rectangle 200"/>
            <p:cNvSpPr/>
            <p:nvPr/>
          </p:nvSpPr>
          <p:spPr>
            <a:xfrm>
              <a:off x="9262872" y="5943600"/>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ounded Rectangle 241"/>
            <p:cNvSpPr/>
            <p:nvPr/>
          </p:nvSpPr>
          <p:spPr>
            <a:xfrm>
              <a:off x="667512"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ounded Rectangle 257"/>
            <p:cNvSpPr/>
            <p:nvPr/>
          </p:nvSpPr>
          <p:spPr>
            <a:xfrm>
              <a:off x="3496056"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Rounded Rectangle 278"/>
            <p:cNvSpPr/>
            <p:nvPr/>
          </p:nvSpPr>
          <p:spPr>
            <a:xfrm>
              <a:off x="6324600"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ounded Rectangle 331"/>
            <p:cNvSpPr/>
            <p:nvPr/>
          </p:nvSpPr>
          <p:spPr>
            <a:xfrm>
              <a:off x="6135624" y="6766560"/>
              <a:ext cx="2962656" cy="329184"/>
            </a:xfrm>
            <a:prstGeom prst="roundRect">
              <a:avLst>
                <a:gd name="adj" fmla="val 2222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135624" y="6766560"/>
              <a:ext cx="2962656"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세 기술은 다음 장에서 자세히 ▶</a:t>
              </a:r>
            </a:p>
          </p:txBody>
        </p:sp>
      </p:grpSp>
      <p:sp>
        <p:nvSpPr>
          <p:cNvPr id="335" name="Rectangle 334"/>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TextBox 335"/>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337" name="TextBox 336"/>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338" name="TextBox 33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단계(채도)는 과제팀 판단(위키 ai-inference-storage-requirements · ssd-core-technologies-customer-collaboration §3.5) · 수치는 발표자 노트</a:t>
            </a:r>
          </a:p>
        </p:txBody>
      </p:sp>
      <p:sp>
        <p:nvSpPr>
          <p:cNvPr id="339" name="TextBox 33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334"/>
                                        </p:tgtEl>
                                        <p:attrNameLst>
                                          <p:attrName>style.visibility</p:attrName>
                                        </p:attrNameLst>
                                      </p:cBhvr>
                                      <p:to>
                                        <p:strVal val="visible"/>
                                      </p:to>
                                    </p:set>
                                    <p:animEffect transition="in" filter="fade">
                                      <p:cBhvr>
                                        <p:cTn id="8" dur="500"/>
                                        <p:tgtEl>
                                          <p:spTgt spid="3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3 / 8  차별화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 차별화 요구가 예측 가능한 QoS · 고용량 · 고내구로 바뀌는 지금,</a:t>
            </a:r>
          </a:p>
          <a:p>
            <a:pPr algn="l">
              <a:lnSpc>
                <a:spcPct val="105000"/>
              </a:lnSpc>
            </a:pPr>
            <a:r>
              <a:rPr sz="3200" b="1">
                <a:solidFill>
                  <a:srgbClr val="1A1A1A"/>
                </a:solidFill>
                <a:latin typeface="Arial"/>
                <a:ea typeface="Arial"/>
              </a:rPr>
              <a:t>이에 대비한 기술로 미래 수요에 능동적으로 대응하는 포트폴리오를 완성해야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entagon 5"/>
          <p:cNvSpPr/>
          <p:nvPr/>
        </p:nvSpPr>
        <p:spPr>
          <a:xfrm>
            <a:off x="722376" y="2103120"/>
            <a:ext cx="3337560" cy="877824"/>
          </a:xfrm>
          <a:prstGeom prst="homePlate">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2000년대 후반</a:t>
            </a:r>
          </a:p>
        </p:txBody>
      </p:sp>
      <p:sp>
        <p:nvSpPr>
          <p:cNvPr id="8" name="TextBox 7"/>
          <p:cNvSpPr txBox="1"/>
          <p:nvPr/>
        </p:nvSpPr>
        <p:spPr>
          <a:xfrm>
            <a:off x="905256"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성능</a:t>
            </a:r>
          </a:p>
        </p:txBody>
      </p:sp>
      <p:sp>
        <p:nvSpPr>
          <p:cNvPr id="9" name="TextBox 8"/>
          <p:cNvSpPr txBox="1"/>
          <p:nvPr/>
        </p:nvSpPr>
        <p:spPr>
          <a:xfrm>
            <a:off x="905256"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 · 대역</a:t>
            </a:r>
          </a:p>
        </p:txBody>
      </p:sp>
      <p:sp>
        <p:nvSpPr>
          <p:cNvPr id="10" name="Chevron 9"/>
          <p:cNvSpPr/>
          <p:nvPr/>
        </p:nvSpPr>
        <p:spPr>
          <a:xfrm>
            <a:off x="3877056" y="2103120"/>
            <a:ext cx="3337560" cy="877824"/>
          </a:xfrm>
          <a:prstGeom prst="chevron">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초</a:t>
            </a:r>
          </a:p>
        </p:txBody>
      </p:sp>
      <p:sp>
        <p:nvSpPr>
          <p:cNvPr id="12" name="TextBox 11"/>
          <p:cNvSpPr txBox="1"/>
          <p:nvPr/>
        </p:nvSpPr>
        <p:spPr>
          <a:xfrm>
            <a:off x="429768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전력 효율</a:t>
            </a:r>
          </a:p>
        </p:txBody>
      </p:sp>
      <p:sp>
        <p:nvSpPr>
          <p:cNvPr id="13" name="TextBox 12"/>
          <p:cNvSpPr txBox="1"/>
          <p:nvPr/>
        </p:nvSpPr>
        <p:spPr>
          <a:xfrm>
            <a:off x="429768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IOPS/W</a:t>
            </a:r>
          </a:p>
        </p:txBody>
      </p:sp>
      <p:sp>
        <p:nvSpPr>
          <p:cNvPr id="14" name="Chevron 13"/>
          <p:cNvSpPr/>
          <p:nvPr/>
        </p:nvSpPr>
        <p:spPr>
          <a:xfrm>
            <a:off x="7031736" y="2103120"/>
            <a:ext cx="3337560" cy="877824"/>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후반</a:t>
            </a:r>
          </a:p>
        </p:txBody>
      </p:sp>
      <p:sp>
        <p:nvSpPr>
          <p:cNvPr id="16" name="TextBox 15"/>
          <p:cNvSpPr txBox="1"/>
          <p:nvPr/>
        </p:nvSpPr>
        <p:spPr>
          <a:xfrm>
            <a:off x="745236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VM 단위 QoS</a:t>
            </a:r>
          </a:p>
        </p:txBody>
      </p:sp>
      <p:sp>
        <p:nvSpPr>
          <p:cNvPr id="17" name="TextBox 16"/>
          <p:cNvSpPr txBox="1"/>
          <p:nvPr/>
        </p:nvSpPr>
        <p:spPr>
          <a:xfrm>
            <a:off x="745236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클라우드 데이터센터</a:t>
            </a:r>
          </a:p>
        </p:txBody>
      </p:sp>
      <p:sp>
        <p:nvSpPr>
          <p:cNvPr id="18" name="Chevron 17"/>
          <p:cNvSpPr/>
          <p:nvPr/>
        </p:nvSpPr>
        <p:spPr>
          <a:xfrm>
            <a:off x="10186416" y="2103120"/>
            <a:ext cx="7379208" cy="877824"/>
          </a:xfrm>
          <a:prstGeom prst="chevron">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43616" y="2139696"/>
            <a:ext cx="2377440" cy="274320"/>
          </a:xfrm>
          <a:prstGeom prst="rect">
            <a:avLst/>
          </a:prstGeom>
          <a:noFill/>
        </p:spPr>
        <p:txBody>
          <a:bodyPr wrap="square" anchor="ctr" lIns="0" rIns="0" tIns="0" bIns="0">
            <a:spAutoFit/>
          </a:bodyPr>
          <a:lstStyle/>
          <a:p>
            <a:pPr algn="l">
              <a:lnSpc>
                <a:spcPct val="110000"/>
              </a:lnSpc>
            </a:pPr>
            <a:r>
              <a:rPr sz="1500" b="1">
                <a:solidFill>
                  <a:srgbClr val="C0CAEC"/>
                </a:solidFill>
                <a:latin typeface="Arial"/>
                <a:ea typeface="Arial"/>
              </a:rPr>
              <a:t>2020년대 · AI</a:t>
            </a:r>
          </a:p>
        </p:txBody>
      </p:sp>
      <p:sp>
        <p:nvSpPr>
          <p:cNvPr id="20" name="Rounded Rectangle 19"/>
          <p:cNvSpPr/>
          <p:nvPr/>
        </p:nvSpPr>
        <p:spPr>
          <a:xfrm>
            <a:off x="10643616" y="2468879"/>
            <a:ext cx="210312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43616" y="2468879"/>
            <a:ext cx="210312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예측 가능한 QoS</a:t>
            </a:r>
          </a:p>
        </p:txBody>
      </p:sp>
      <p:sp>
        <p:nvSpPr>
          <p:cNvPr id="22" name="Rounded Rectangle 21"/>
          <p:cNvSpPr/>
          <p:nvPr/>
        </p:nvSpPr>
        <p:spPr>
          <a:xfrm>
            <a:off x="12874752"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74752"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고용량</a:t>
            </a:r>
          </a:p>
        </p:txBody>
      </p:sp>
      <p:sp>
        <p:nvSpPr>
          <p:cNvPr id="24" name="Rounded Rectangle 23"/>
          <p:cNvSpPr/>
          <p:nvPr/>
        </p:nvSpPr>
        <p:spPr>
          <a:xfrm>
            <a:off x="14100048"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100048"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고내구</a:t>
            </a:r>
          </a:p>
        </p:txBody>
      </p:sp>
      <p:sp>
        <p:nvSpPr>
          <p:cNvPr id="26" name="TextBox 25"/>
          <p:cNvSpPr txBox="1"/>
          <p:nvPr/>
        </p:nvSpPr>
        <p:spPr>
          <a:xfrm>
            <a:off x="10186416" y="3017520"/>
            <a:ext cx="7379208" cy="310896"/>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FDP · Mixed Media · Large Mapping → </a:t>
            </a:r>
            <a:r>
              <a:rPr sz="1600" b="1">
                <a:solidFill>
                  <a:srgbClr val="1A1A1A"/>
                </a:solidFill>
                <a:latin typeface="Arial"/>
                <a:ea typeface="Arial"/>
              </a:rPr>
              <a:t>QLC 고용량 + 고객 워크로드 기반 내구성</a:t>
            </a:r>
          </a:p>
        </p:txBody>
      </p:sp>
      <p:sp>
        <p:nvSpPr>
          <p:cNvPr id="27" name="Oval 26"/>
          <p:cNvSpPr/>
          <p:nvPr/>
        </p:nvSpPr>
        <p:spPr>
          <a:xfrm>
            <a:off x="72237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29" name="TextBox 28"/>
          <p:cNvSpPr txBox="1"/>
          <p:nvPr/>
        </p:nvSpPr>
        <p:spPr>
          <a:xfrm>
            <a:off x="1307592" y="340156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0" name="Rounded Rectangle 29">
            <a:hlinkClick r:id="rId2"/>
          </p:cNvPr>
          <p:cNvSpPr/>
          <p:nvPr/>
        </p:nvSpPr>
        <p:spPr>
          <a:xfrm>
            <a:off x="5934455" y="3474720"/>
            <a:ext cx="2560320" cy="365760"/>
          </a:xfrm>
          <a:prstGeom prst="roundRect">
            <a:avLst>
              <a:gd name="adj" fmla="val 20000"/>
            </a:avLst>
          </a:prstGeom>
          <a:solidFill>
            <a:srgbClr val="3C4FA5"/>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a:hlinkClick r:id="rId2"/>
          </p:cNvPr>
          <p:cNvSpPr txBox="1"/>
          <p:nvPr/>
        </p:nvSpPr>
        <p:spPr>
          <a:xfrm>
            <a:off x="5989319" y="3474720"/>
            <a:ext cx="2450591" cy="36576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  1분 영상 · FDP 원리</a:t>
            </a:r>
          </a:p>
        </p:txBody>
      </p:sp>
      <p:sp>
        <p:nvSpPr>
          <p:cNvPr id="32" name="Rounded Rectangle 31"/>
          <p:cNvSpPr/>
          <p:nvPr/>
        </p:nvSpPr>
        <p:spPr>
          <a:xfrm>
            <a:off x="722376" y="3986783"/>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392" y="4169663"/>
            <a:ext cx="322600" cy="790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own Arrow 33"/>
          <p:cNvSpPr/>
          <p:nvPr/>
        </p:nvSpPr>
        <p:spPr>
          <a:xfrm>
            <a:off x="995232" y="4255251"/>
            <a:ext cx="32918" cy="39502"/>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50392" y="4307921"/>
            <a:ext cx="322600" cy="1843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89304" y="4005071"/>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7" name="TextBox 36"/>
          <p:cNvSpPr txBox="1"/>
          <p:nvPr/>
        </p:nvSpPr>
        <p:spPr>
          <a:xfrm>
            <a:off x="1289304" y="4352544"/>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작은 쓰기를 pSLC에 모아</a:t>
            </a:r>
          </a:p>
        </p:txBody>
      </p:sp>
      <p:sp>
        <p:nvSpPr>
          <p:cNvPr id="38" name="TextBox 37"/>
          <p:cNvSpPr txBox="1"/>
          <p:nvPr/>
        </p:nvSpPr>
        <p:spPr>
          <a:xfrm>
            <a:off x="3602736" y="4133087"/>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빈도 ↓</a:t>
            </a:r>
          </a:p>
        </p:txBody>
      </p:sp>
      <p:sp>
        <p:nvSpPr>
          <p:cNvPr id="39" name="Rounded Rectangle 38"/>
          <p:cNvSpPr/>
          <p:nvPr/>
        </p:nvSpPr>
        <p:spPr>
          <a:xfrm>
            <a:off x="722376" y="4773168"/>
            <a:ext cx="2788920" cy="713232"/>
          </a:xfrm>
          <a:prstGeom prst="roundRect">
            <a:avLst>
              <a:gd name="adj" fmla="val 10256"/>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50392"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35979"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21567"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107155"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50392" y="5120640"/>
            <a:ext cx="322600" cy="13167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89304" y="4791455"/>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6" name="TextBox 45"/>
          <p:cNvSpPr txBox="1"/>
          <p:nvPr/>
        </p:nvSpPr>
        <p:spPr>
          <a:xfrm>
            <a:off x="1289304" y="5138928"/>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정렬된 큰 쓰기</a:t>
            </a:r>
          </a:p>
        </p:txBody>
      </p:sp>
      <p:sp>
        <p:nvSpPr>
          <p:cNvPr id="47" name="TextBox 46"/>
          <p:cNvSpPr txBox="1"/>
          <p:nvPr/>
        </p:nvSpPr>
        <p:spPr>
          <a:xfrm>
            <a:off x="3602736" y="4919472"/>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횟수 ↓</a:t>
            </a:r>
          </a:p>
        </p:txBody>
      </p:sp>
      <p:sp>
        <p:nvSpPr>
          <p:cNvPr id="48" name="Rounded Rectangle 47"/>
          <p:cNvSpPr/>
          <p:nvPr/>
        </p:nvSpPr>
        <p:spPr>
          <a:xfrm>
            <a:off x="722376" y="5559551"/>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0392"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62314"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74237"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50392"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62314"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74237"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50392"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62314"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74237"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89304" y="5577839"/>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59" name="TextBox 58"/>
          <p:cNvSpPr txBox="1"/>
          <p:nvPr/>
        </p:nvSpPr>
        <p:spPr>
          <a:xfrm>
            <a:off x="1289304" y="5925312"/>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같은 수명끼리 배치</a:t>
            </a:r>
          </a:p>
        </p:txBody>
      </p:sp>
      <p:sp>
        <p:nvSpPr>
          <p:cNvPr id="60" name="TextBox 59"/>
          <p:cNvSpPr txBox="1"/>
          <p:nvPr/>
        </p:nvSpPr>
        <p:spPr>
          <a:xfrm>
            <a:off x="3602736" y="5705855"/>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시간 ↓</a:t>
            </a:r>
          </a:p>
        </p:txBody>
      </p:sp>
      <p:sp>
        <p:nvSpPr>
          <p:cNvPr id="61" name="TextBox 60"/>
          <p:cNvSpPr txBox="1"/>
          <p:nvPr/>
        </p:nvSpPr>
        <p:spPr>
          <a:xfrm>
            <a:off x="4846320" y="3950207"/>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62" name="Rectangle 61"/>
          <p:cNvSpPr/>
          <p:nvPr/>
        </p:nvSpPr>
        <p:spPr>
          <a:xfrm>
            <a:off x="5322205"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353290" y="4279392"/>
            <a:ext cx="396571"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463690"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864607" y="4840918"/>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943922" y="4853573"/>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023236" y="4816990"/>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102550" y="4859309"/>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181865" y="4825407"/>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261179" y="4837857"/>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340493" y="4442080"/>
            <a:ext cx="42738" cy="49567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419807" y="4460972"/>
            <a:ext cx="42738" cy="47678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499122" y="4548774"/>
            <a:ext cx="42738" cy="38898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578436" y="4360299"/>
            <a:ext cx="42738" cy="57746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657750" y="4855551"/>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737064" y="4848277"/>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816379" y="4818710"/>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895693" y="4795281"/>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975007" y="4822391"/>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054321" y="4835590"/>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133636" y="4793192"/>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212950" y="4861200"/>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92264" y="4801809"/>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371578" y="4535066"/>
            <a:ext cx="42738" cy="40269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450893" y="4493018"/>
            <a:ext cx="42738" cy="44474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530207" y="4525728"/>
            <a:ext cx="42738" cy="41203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609521" y="4408417"/>
            <a:ext cx="42738" cy="52934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688836" y="4431759"/>
            <a:ext cx="42738" cy="506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768150" y="4860014"/>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847464" y="4860248"/>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926778" y="4849541"/>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06093" y="4814835"/>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085407" y="4833328"/>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164721" y="4841627"/>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244035" y="4821772"/>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323350" y="4831456"/>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402664" y="4842679"/>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481978" y="4393035"/>
            <a:ext cx="42738" cy="54472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561292" y="4424929"/>
            <a:ext cx="42738" cy="5128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640607" y="4347936"/>
            <a:ext cx="42738" cy="58982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719921" y="4498278"/>
            <a:ext cx="42738" cy="4394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799235" y="4792906"/>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7878549" y="4855971"/>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957864" y="4834021"/>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8037178" y="4809221"/>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8116492" y="4853490"/>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195806" y="4828839"/>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275121" y="4861739"/>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54435" y="4815726"/>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8433749" y="4808678"/>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4846320" y="493775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4846320" y="5138927"/>
            <a:ext cx="3648455" cy="310896"/>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공동 설계: GC가 드물고 짧다</a:t>
            </a:r>
          </a:p>
        </p:txBody>
      </p:sp>
      <p:sp>
        <p:nvSpPr>
          <p:cNvPr id="113" name="Rectangle 112"/>
          <p:cNvSpPr/>
          <p:nvPr/>
        </p:nvSpPr>
        <p:spPr>
          <a:xfrm>
            <a:off x="6987805" y="5468112"/>
            <a:ext cx="79314"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4864607" y="6011410"/>
            <a:ext cx="42738" cy="11506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4943922" y="5989285"/>
            <a:ext cx="42738" cy="13719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023236" y="6030376"/>
            <a:ext cx="42738" cy="9610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102550" y="6002465"/>
            <a:ext cx="42738" cy="12401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5181865" y="6009848"/>
            <a:ext cx="42738" cy="1166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5261179" y="6010907"/>
            <a:ext cx="42738" cy="11557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340493" y="6019955"/>
            <a:ext cx="42738" cy="10652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5419807" y="5991882"/>
            <a:ext cx="42738" cy="13459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5499122" y="5984222"/>
            <a:ext cx="42738" cy="14225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578436" y="6018646"/>
            <a:ext cx="42738" cy="10783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657750" y="6004743"/>
            <a:ext cx="42738" cy="12173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5737064" y="6048889"/>
            <a:ext cx="42738" cy="775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5816379" y="6002012"/>
            <a:ext cx="42738" cy="1244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5895693" y="6005989"/>
            <a:ext cx="42738" cy="1204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5975007" y="5980681"/>
            <a:ext cx="42738" cy="1457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6054321" y="5993202"/>
            <a:ext cx="42738" cy="13327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6133636" y="6032509"/>
            <a:ext cx="42738" cy="9397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6212950" y="6025106"/>
            <a:ext cx="42738" cy="1013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292264" y="6004414"/>
            <a:ext cx="42738" cy="1220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6371578" y="6051677"/>
            <a:ext cx="42738" cy="7480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450893" y="6019554"/>
            <a:ext cx="42738" cy="10692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530207" y="6041034"/>
            <a:ext cx="42738" cy="854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609521" y="6044762"/>
            <a:ext cx="42738" cy="8171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688836" y="6049015"/>
            <a:ext cx="42738" cy="774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68150" y="5997130"/>
            <a:ext cx="42738" cy="12934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47464" y="6043866"/>
            <a:ext cx="42738" cy="8261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6926778" y="6035214"/>
            <a:ext cx="42738" cy="912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006093" y="5943599"/>
            <a:ext cx="4273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085407" y="5989581"/>
            <a:ext cx="42738" cy="1368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164721" y="6047433"/>
            <a:ext cx="42738" cy="7904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244035" y="6020469"/>
            <a:ext cx="42738" cy="10601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323350" y="6013135"/>
            <a:ext cx="42738" cy="1133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402664" y="5988706"/>
            <a:ext cx="42738" cy="1377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481978" y="5993396"/>
            <a:ext cx="42738" cy="13308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561292" y="5990125"/>
            <a:ext cx="42738" cy="13635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640607" y="6032960"/>
            <a:ext cx="42738" cy="9351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719921" y="6022948"/>
            <a:ext cx="42738" cy="1035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7799235" y="6027083"/>
            <a:ext cx="42738" cy="993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7878549" y="5988647"/>
            <a:ext cx="42738" cy="1378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7957864" y="5983268"/>
            <a:ext cx="42738" cy="14321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8037178" y="6042287"/>
            <a:ext cx="42738" cy="841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116492" y="6040437"/>
            <a:ext cx="42738" cy="8604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195806" y="6036359"/>
            <a:ext cx="42738" cy="901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275121" y="6036258"/>
            <a:ext cx="42738" cy="9022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8354435" y="6017852"/>
            <a:ext cx="42738" cy="10862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8433749" y="6010232"/>
            <a:ext cx="42738" cy="1162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4846320" y="612647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722376" y="645566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722376" y="645566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163" name="TextBox 162"/>
          <p:cNvSpPr txBox="1"/>
          <p:nvPr/>
        </p:nvSpPr>
        <p:spPr>
          <a:xfrm>
            <a:off x="1307592" y="641908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그 결과 좋아지는 지표</a:t>
            </a:r>
          </a:p>
        </p:txBody>
      </p:sp>
      <p:sp>
        <p:nvSpPr>
          <p:cNvPr id="164" name="Rounded Rectangle 163">
            <a:hlinkClick action="ppaction://hlinksldjump" r:id="rId13"/>
          </p:cNvPr>
          <p:cNvSpPr/>
          <p:nvPr/>
        </p:nvSpPr>
        <p:spPr>
          <a:xfrm>
            <a:off x="5111495" y="6492240"/>
            <a:ext cx="3383280" cy="365760"/>
          </a:xfrm>
          <a:prstGeom prst="roundRect">
            <a:avLst>
              <a:gd name="adj" fmla="val 20000"/>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a:hlinkClick action="ppaction://hlinksldjump" r:id="rId13"/>
          </p:cNvPr>
          <p:cNvSpPr txBox="1"/>
          <p:nvPr/>
        </p:nvSpPr>
        <p:spPr>
          <a:xfrm>
            <a:off x="5166359" y="6492240"/>
            <a:ext cx="3273552" cy="365760"/>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왜 SSD만으로는 안 됐나  참고 5장 ▶</a:t>
            </a:r>
          </a:p>
        </p:txBody>
      </p:sp>
      <p:sp>
        <p:nvSpPr>
          <p:cNvPr id="166" name="Rounded Rectangle 165"/>
          <p:cNvSpPr/>
          <p:nvPr/>
        </p:nvSpPr>
        <p:spPr>
          <a:xfrm>
            <a:off x="722376"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905256"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WAF</a:t>
            </a:r>
          </a:p>
        </p:txBody>
      </p:sp>
      <p:sp>
        <p:nvSpPr>
          <p:cNvPr id="168" name="TextBox 167"/>
          <p:cNvSpPr txBox="1"/>
          <p:nvPr/>
        </p:nvSpPr>
        <p:spPr>
          <a:xfrm>
            <a:off x="905256"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2.22 → 0.03</a:t>
            </a:r>
          </a:p>
        </p:txBody>
      </p:sp>
      <p:sp>
        <p:nvSpPr>
          <p:cNvPr id="169" name="Rectangle 168"/>
          <p:cNvSpPr/>
          <p:nvPr/>
        </p:nvSpPr>
        <p:spPr>
          <a:xfrm>
            <a:off x="996696"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813816"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71" name="TextBox 170"/>
          <p:cNvSpPr txBox="1"/>
          <p:nvPr/>
        </p:nvSpPr>
        <p:spPr>
          <a:xfrm>
            <a:off x="768096"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72" name="Rectangle 171"/>
          <p:cNvSpPr/>
          <p:nvPr/>
        </p:nvSpPr>
        <p:spPr>
          <a:xfrm>
            <a:off x="1837944" y="8705939"/>
            <a:ext cx="603504" cy="3100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1655064" y="8413331"/>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1.03</a:t>
            </a:r>
          </a:p>
        </p:txBody>
      </p:sp>
      <p:sp>
        <p:nvSpPr>
          <p:cNvPr id="174" name="TextBox 173"/>
          <p:cNvSpPr txBox="1"/>
          <p:nvPr/>
        </p:nvSpPr>
        <p:spPr>
          <a:xfrm>
            <a:off x="1609344"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함께</a:t>
            </a:r>
          </a:p>
        </p:txBody>
      </p:sp>
      <p:sp>
        <p:nvSpPr>
          <p:cNvPr id="175" name="TextBox 174"/>
          <p:cNvSpPr txBox="1"/>
          <p:nvPr/>
        </p:nvSpPr>
        <p:spPr>
          <a:xfrm>
            <a:off x="2642616"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−68%</a:t>
            </a:r>
          </a:p>
        </p:txBody>
      </p:sp>
      <p:sp>
        <p:nvSpPr>
          <p:cNvPr id="176" name="TextBox 175"/>
          <p:cNvSpPr txBox="1"/>
          <p:nvPr/>
        </p:nvSpPr>
        <p:spPr>
          <a:xfrm>
            <a:off x="2642616"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177" name="Rounded Rectangle 176"/>
          <p:cNvSpPr/>
          <p:nvPr/>
        </p:nvSpPr>
        <p:spPr>
          <a:xfrm>
            <a:off x="4718304"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4901184"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p99.9 꼬리 지연</a:t>
            </a:r>
          </a:p>
        </p:txBody>
      </p:sp>
      <p:sp>
        <p:nvSpPr>
          <p:cNvPr id="179" name="TextBox 178"/>
          <p:cNvSpPr txBox="1"/>
          <p:nvPr/>
        </p:nvSpPr>
        <p:spPr>
          <a:xfrm>
            <a:off x="4901184"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180" name="Rectangle 179"/>
          <p:cNvSpPr/>
          <p:nvPr/>
        </p:nvSpPr>
        <p:spPr>
          <a:xfrm>
            <a:off x="4992624"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4809744"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182" name="TextBox 181"/>
          <p:cNvSpPr txBox="1"/>
          <p:nvPr/>
        </p:nvSpPr>
        <p:spPr>
          <a:xfrm>
            <a:off x="4764024"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183" name="Rectangle 182"/>
          <p:cNvSpPr/>
          <p:nvPr/>
        </p:nvSpPr>
        <p:spPr>
          <a:xfrm>
            <a:off x="5833872" y="8579815"/>
            <a:ext cx="603504" cy="436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5650992" y="8287207"/>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45</a:t>
            </a:r>
          </a:p>
        </p:txBody>
      </p:sp>
      <p:sp>
        <p:nvSpPr>
          <p:cNvPr id="185" name="TextBox 184"/>
          <p:cNvSpPr txBox="1"/>
          <p:nvPr/>
        </p:nvSpPr>
        <p:spPr>
          <a:xfrm>
            <a:off x="5605272"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FDP</a:t>
            </a:r>
          </a:p>
        </p:txBody>
      </p:sp>
      <p:sp>
        <p:nvSpPr>
          <p:cNvPr id="186" name="TextBox 185"/>
          <p:cNvSpPr txBox="1"/>
          <p:nvPr/>
        </p:nvSpPr>
        <p:spPr>
          <a:xfrm>
            <a:off x="6638544"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−55%</a:t>
            </a:r>
          </a:p>
        </p:txBody>
      </p:sp>
      <p:sp>
        <p:nvSpPr>
          <p:cNvPr id="187" name="TextBox 186"/>
          <p:cNvSpPr txBox="1"/>
          <p:nvPr/>
        </p:nvSpPr>
        <p:spPr>
          <a:xfrm>
            <a:off x="6638544"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188" name="Oval 187"/>
          <p:cNvSpPr/>
          <p:nvPr/>
        </p:nvSpPr>
        <p:spPr>
          <a:xfrm>
            <a:off x="886053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886053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90" name="TextBox 189"/>
          <p:cNvSpPr txBox="1"/>
          <p:nvPr/>
        </p:nvSpPr>
        <p:spPr>
          <a:xfrm>
            <a:off x="9445752" y="3401568"/>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미래 수요에 능동 대응하는 포트폴리오</a:t>
            </a:r>
          </a:p>
        </p:txBody>
      </p:sp>
      <p:pic>
        <p:nvPicPr>
          <p:cNvPr id="191" name="Picture 190" descr="portfolio_3d_base.png"/>
          <p:cNvPicPr>
            <a:picLocks noChangeAspect="1"/>
          </p:cNvPicPr>
          <p:nvPr/>
        </p:nvPicPr>
        <p:blipFill>
          <a:blip r:embed="rId3"/>
          <a:stretch>
            <a:fillRect/>
          </a:stretch>
        </p:blipFill>
        <p:spPr>
          <a:xfrm>
            <a:off x="8769096" y="4041648"/>
            <a:ext cx="6303421" cy="5321808"/>
          </a:xfrm>
          <a:prstGeom prst="rect">
            <a:avLst/>
          </a:prstGeom>
        </p:spPr>
      </p:pic>
      <p:sp>
        <p:nvSpPr>
          <p:cNvPr id="196" name="TextBox 195"/>
          <p:cNvSpPr txBox="1"/>
          <p:nvPr/>
        </p:nvSpPr>
        <p:spPr>
          <a:xfrm>
            <a:off x="8769096" y="4005072"/>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97" name="Rounded Rectangle 196"/>
          <p:cNvSpPr/>
          <p:nvPr/>
        </p:nvSpPr>
        <p:spPr>
          <a:xfrm>
            <a:off x="15279624" y="4032504"/>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15279624" y="4032504"/>
            <a:ext cx="73152" cy="126644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15407640" y="4096511"/>
            <a:ext cx="347472" cy="347472"/>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5407640" y="409651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pic>
        <p:nvPicPr>
          <p:cNvPr id="201" name="Picture 200" descr="p_bm1743.png"/>
          <p:cNvPicPr>
            <a:picLocks noChangeAspect="1"/>
          </p:cNvPicPr>
          <p:nvPr/>
        </p:nvPicPr>
        <p:blipFill>
          <a:blip r:embed="rId8"/>
          <a:stretch>
            <a:fillRect/>
          </a:stretch>
        </p:blipFill>
        <p:spPr>
          <a:xfrm>
            <a:off x="16307773" y="4059935"/>
            <a:ext cx="686900" cy="475488"/>
          </a:xfrm>
          <a:prstGeom prst="rect">
            <a:avLst/>
          </a:prstGeom>
        </p:spPr>
      </p:pic>
      <p:sp>
        <p:nvSpPr>
          <p:cNvPr id="202" name="TextBox 201"/>
          <p:cNvSpPr txBox="1"/>
          <p:nvPr/>
        </p:nvSpPr>
        <p:spPr>
          <a:xfrm>
            <a:off x="15462504" y="4535424"/>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208" name="Rounded Rectangle 207"/>
          <p:cNvSpPr/>
          <p:nvPr/>
        </p:nvSpPr>
        <p:spPr>
          <a:xfrm>
            <a:off x="15279624" y="5372100"/>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5279624" y="5372100"/>
            <a:ext cx="73152" cy="1266444"/>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15407640" y="5436107"/>
            <a:ext cx="347472" cy="347472"/>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07640" y="543610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pic>
        <p:nvPicPr>
          <p:cNvPr id="212" name="Picture 211" descr="p_pm1753.png"/>
          <p:cNvPicPr>
            <a:picLocks noChangeAspect="1"/>
          </p:cNvPicPr>
          <p:nvPr/>
        </p:nvPicPr>
        <p:blipFill>
          <a:blip r:embed="rId9"/>
          <a:stretch>
            <a:fillRect/>
          </a:stretch>
        </p:blipFill>
        <p:spPr>
          <a:xfrm>
            <a:off x="16327027" y="5399531"/>
            <a:ext cx="648392" cy="475488"/>
          </a:xfrm>
          <a:prstGeom prst="rect">
            <a:avLst/>
          </a:prstGeom>
        </p:spPr>
      </p:pic>
      <p:sp>
        <p:nvSpPr>
          <p:cNvPr id="213" name="TextBox 212"/>
          <p:cNvSpPr txBox="1"/>
          <p:nvPr/>
        </p:nvSpPr>
        <p:spPr>
          <a:xfrm>
            <a:off x="15462504" y="5875020"/>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219" name="Rounded Rectangle 218"/>
          <p:cNvSpPr/>
          <p:nvPr/>
        </p:nvSpPr>
        <p:spPr>
          <a:xfrm>
            <a:off x="15279624" y="6711696"/>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5279624" y="6711696"/>
            <a:ext cx="73152" cy="1266444"/>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15407640" y="6775704"/>
            <a:ext cx="347472" cy="347472"/>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TextBox 221"/>
          <p:cNvSpPr txBox="1"/>
          <p:nvPr/>
        </p:nvSpPr>
        <p:spPr>
          <a:xfrm>
            <a:off x="15407640" y="677570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pic>
        <p:nvPicPr>
          <p:cNvPr id="223" name="Picture 222" descr="p_pm1755.png"/>
          <p:cNvPicPr>
            <a:picLocks noChangeAspect="1"/>
          </p:cNvPicPr>
          <p:nvPr/>
        </p:nvPicPr>
        <p:blipFill>
          <a:blip r:embed="rId10"/>
          <a:stretch>
            <a:fillRect/>
          </a:stretch>
        </p:blipFill>
        <p:spPr>
          <a:xfrm>
            <a:off x="16327027" y="6739128"/>
            <a:ext cx="648392" cy="475488"/>
          </a:xfrm>
          <a:prstGeom prst="rect">
            <a:avLst/>
          </a:prstGeom>
        </p:spPr>
      </p:pic>
      <p:sp>
        <p:nvSpPr>
          <p:cNvPr id="224" name="TextBox 223"/>
          <p:cNvSpPr txBox="1"/>
          <p:nvPr/>
        </p:nvSpPr>
        <p:spPr>
          <a:xfrm>
            <a:off x="15462504" y="7214616"/>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230" name="Rounded Rectangle 229"/>
          <p:cNvSpPr/>
          <p:nvPr/>
        </p:nvSpPr>
        <p:spPr>
          <a:xfrm>
            <a:off x="15279624" y="8051292"/>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15279624" y="8051292"/>
            <a:ext cx="73152" cy="1266444"/>
          </a:xfrm>
          <a:prstGeom prst="rect">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Oval 231"/>
          <p:cNvSpPr/>
          <p:nvPr/>
        </p:nvSpPr>
        <p:spPr>
          <a:xfrm>
            <a:off x="15407640" y="8115300"/>
            <a:ext cx="347472" cy="347472"/>
          </a:xfrm>
          <a:prstGeom prst="ellipse">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5407640" y="8115300"/>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pic>
        <p:nvPicPr>
          <p:cNvPr id="234" name="Picture 233" descr="p_zssd.png"/>
          <p:cNvPicPr>
            <a:picLocks noChangeAspect="1"/>
          </p:cNvPicPr>
          <p:nvPr/>
        </p:nvPicPr>
        <p:blipFill>
          <a:blip r:embed="rId11"/>
          <a:stretch>
            <a:fillRect/>
          </a:stretch>
        </p:blipFill>
        <p:spPr>
          <a:xfrm>
            <a:off x="16256446" y="8078724"/>
            <a:ext cx="789555" cy="475488"/>
          </a:xfrm>
          <a:prstGeom prst="rect">
            <a:avLst/>
          </a:prstGeom>
        </p:spPr>
      </p:pic>
      <p:sp>
        <p:nvSpPr>
          <p:cNvPr id="235" name="TextBox 234"/>
          <p:cNvSpPr txBox="1"/>
          <p:nvPr/>
        </p:nvSpPr>
        <p:spPr>
          <a:xfrm>
            <a:off x="15462504" y="8554212"/>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241" name="TextBox 240"/>
          <p:cNvSpPr txBox="1"/>
          <p:nvPr/>
        </p:nvSpPr>
        <p:spPr>
          <a:xfrm>
            <a:off x="11146536" y="4005072"/>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242" name="Rectangle 241"/>
          <p:cNvSpPr/>
          <p:nvPr/>
        </p:nvSpPr>
        <p:spPr>
          <a:xfrm>
            <a:off x="11878056" y="4050791"/>
            <a:ext cx="274320" cy="182880"/>
          </a:xfrm>
          <a:prstGeom prst="rect">
            <a:avLst/>
          </a:prstGeom>
          <a:solidFill>
            <a:srgbClr val="ECEEF1"/>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12207240" y="400507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가중치 · RAG</a:t>
            </a:r>
          </a:p>
        </p:txBody>
      </p:sp>
      <p:sp>
        <p:nvSpPr>
          <p:cNvPr id="244" name="Rectangle 243"/>
          <p:cNvSpPr/>
          <p:nvPr/>
        </p:nvSpPr>
        <p:spPr>
          <a:xfrm>
            <a:off x="11878056" y="4325112"/>
            <a:ext cx="274320" cy="182880"/>
          </a:xfrm>
          <a:prstGeom prst="rect">
            <a:avLst/>
          </a:prstGeom>
          <a:solidFill>
            <a:srgbClr val="D5D9DF"/>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2207240" y="427939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KV 오프로드</a:t>
            </a:r>
          </a:p>
        </p:txBody>
      </p:sp>
      <p:sp>
        <p:nvSpPr>
          <p:cNvPr id="246" name="Rectangle 245"/>
          <p:cNvSpPr/>
          <p:nvPr/>
        </p:nvSpPr>
        <p:spPr>
          <a:xfrm>
            <a:off x="11878056" y="4599431"/>
            <a:ext cx="274320" cy="182880"/>
          </a:xfrm>
          <a:prstGeom prst="rect">
            <a:avLst/>
          </a:prstGeom>
          <a:solidFill>
            <a:srgbClr val="BEC4CC"/>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extBox 246"/>
          <p:cNvSpPr txBox="1"/>
          <p:nvPr/>
        </p:nvSpPr>
        <p:spPr>
          <a:xfrm>
            <a:off x="12207240" y="455371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초고DWPD KV</a:t>
            </a:r>
          </a:p>
        </p:txBody>
      </p:sp>
      <p:grpSp>
        <p:nvGrpSpPr>
          <p:cNvPr id="248" name="Group 247"/>
          <p:cNvGrpSpPr/>
          <p:nvPr/>
        </p:nvGrpSpPr>
        <p:grpSpPr>
          <a:xfrm>
            <a:off x="8769096" y="4005072"/>
            <a:ext cx="8823960" cy="5358384"/>
            <a:chOff x="8769096" y="4005072"/>
            <a:chExt cx="8823960" cy="5358384"/>
          </a:xfrm>
        </p:grpSpPr>
        <p:pic>
          <p:nvPicPr>
            <p:cNvPr id="192" name="Picture 191" descr="portfolio_3d_qlc.png"/>
            <p:cNvPicPr>
              <a:picLocks noChangeAspect="1"/>
            </p:cNvPicPr>
            <p:nvPr/>
          </p:nvPicPr>
          <p:blipFill>
            <a:blip r:embed="rId4"/>
            <a:stretch>
              <a:fillRect/>
            </a:stretch>
          </p:blipFill>
          <p:spPr>
            <a:xfrm>
              <a:off x="8769096" y="4041648"/>
              <a:ext cx="6303421" cy="5321808"/>
            </a:xfrm>
            <a:prstGeom prst="rect">
              <a:avLst/>
            </a:prstGeom>
          </p:spPr>
        </p:pic>
        <p:sp>
          <p:nvSpPr>
            <p:cNvPr id="203" name="TextBox 202"/>
            <p:cNvSpPr txBox="1"/>
            <p:nvPr/>
          </p:nvSpPr>
          <p:spPr>
            <a:xfrm>
              <a:off x="15462504" y="4773168"/>
              <a:ext cx="2048256" cy="256032"/>
            </a:xfrm>
            <a:prstGeom prst="rect">
              <a:avLst/>
            </a:prstGeom>
            <a:noFill/>
          </p:spPr>
          <p:txBody>
            <a:bodyPr wrap="square" anchor="ctr" lIns="0" rIns="0" tIns="0" bIns="0">
              <a:spAutoFit/>
            </a:bodyPr>
            <a:lstStyle/>
            <a:p>
              <a:pPr algn="l">
                <a:lnSpc>
                  <a:spcPct val="110000"/>
                </a:lnSpc>
              </a:pPr>
              <a:r>
                <a:rPr sz="1600" b="1">
                  <a:solidFill>
                    <a:srgbClr val="009E73"/>
                  </a:solidFill>
                  <a:latin typeface="Arial"/>
                  <a:ea typeface="Arial"/>
                </a:rPr>
                <a:t>0.3 → 1 DWPD</a:t>
              </a:r>
            </a:p>
          </p:txBody>
        </p:sp>
        <p:sp>
          <p:nvSpPr>
            <p:cNvPr id="204" name="TextBox 203"/>
            <p:cNvSpPr txBox="1"/>
            <p:nvPr/>
          </p:nvSpPr>
          <p:spPr>
            <a:xfrm>
              <a:off x="15462504" y="4992624"/>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205" name="Rounded Rectangle 204"/>
            <p:cNvSpPr/>
            <p:nvPr/>
          </p:nvSpPr>
          <p:spPr>
            <a:xfrm>
              <a:off x="15252192" y="4005072"/>
              <a:ext cx="2340864" cy="1321308"/>
            </a:xfrm>
            <a:prstGeom prst="roundRect">
              <a:avLst>
                <a:gd name="adj" fmla="val 5536"/>
              </a:avLst>
            </a:prstGeom>
            <a:noFill/>
            <a:ln w="31750">
              <a:solidFill>
                <a:srgbClr val="009E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3" name="Picture 192" descr="portfolio_3d_tlc.png"/>
            <p:cNvPicPr>
              <a:picLocks noChangeAspect="1"/>
            </p:cNvPicPr>
            <p:nvPr/>
          </p:nvPicPr>
          <p:blipFill>
            <a:blip r:embed="rId5"/>
            <a:stretch>
              <a:fillRect/>
            </a:stretch>
          </p:blipFill>
          <p:spPr>
            <a:xfrm>
              <a:off x="8769096" y="4041648"/>
              <a:ext cx="6303421" cy="5321808"/>
            </a:xfrm>
            <a:prstGeom prst="rect">
              <a:avLst/>
            </a:prstGeom>
          </p:spPr>
        </p:pic>
        <p:sp>
          <p:nvSpPr>
            <p:cNvPr id="214" name="TextBox 213"/>
            <p:cNvSpPr txBox="1"/>
            <p:nvPr/>
          </p:nvSpPr>
          <p:spPr>
            <a:xfrm>
              <a:off x="15462504" y="6112764"/>
              <a:ext cx="2048256" cy="256032"/>
            </a:xfrm>
            <a:prstGeom prst="rect">
              <a:avLst/>
            </a:prstGeom>
            <a:noFill/>
          </p:spPr>
          <p:txBody>
            <a:bodyPr wrap="square" anchor="ctr" lIns="0" rIns="0" tIns="0" bIns="0">
              <a:spAutoFit/>
            </a:bodyPr>
            <a:lstStyle/>
            <a:p>
              <a:pPr algn="l">
                <a:lnSpc>
                  <a:spcPct val="110000"/>
                </a:lnSpc>
              </a:pPr>
              <a:r>
                <a:rPr sz="1600" b="1">
                  <a:solidFill>
                    <a:srgbClr val="0072B2"/>
                  </a:solidFill>
                  <a:latin typeface="Arial"/>
                  <a:ea typeface="Arial"/>
                </a:rPr>
                <a:t>1 → 3 DWPD</a:t>
              </a:r>
            </a:p>
          </p:txBody>
        </p:sp>
        <p:sp>
          <p:nvSpPr>
            <p:cNvPr id="215" name="TextBox 214"/>
            <p:cNvSpPr txBox="1"/>
            <p:nvPr/>
          </p:nvSpPr>
          <p:spPr>
            <a:xfrm>
              <a:off x="15462504" y="6332220"/>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216" name="Rounded Rectangle 215"/>
            <p:cNvSpPr/>
            <p:nvPr/>
          </p:nvSpPr>
          <p:spPr>
            <a:xfrm>
              <a:off x="15252192" y="5344668"/>
              <a:ext cx="2340864" cy="1321308"/>
            </a:xfrm>
            <a:prstGeom prst="roundRect">
              <a:avLst>
                <a:gd name="adj" fmla="val 5536"/>
              </a:avLst>
            </a:prstGeom>
            <a:noFill/>
            <a:ln w="317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4" name="Picture 193" descr="portfolio_3d_hetlc.png"/>
            <p:cNvPicPr>
              <a:picLocks noChangeAspect="1"/>
            </p:cNvPicPr>
            <p:nvPr/>
          </p:nvPicPr>
          <p:blipFill>
            <a:blip r:embed="rId6"/>
            <a:stretch>
              <a:fillRect/>
            </a:stretch>
          </p:blipFill>
          <p:spPr>
            <a:xfrm>
              <a:off x="8769096" y="4041648"/>
              <a:ext cx="6303421" cy="5321808"/>
            </a:xfrm>
            <a:prstGeom prst="rect">
              <a:avLst/>
            </a:prstGeom>
          </p:spPr>
        </p:pic>
        <p:sp>
          <p:nvSpPr>
            <p:cNvPr id="225" name="TextBox 224"/>
            <p:cNvSpPr txBox="1"/>
            <p:nvPr/>
          </p:nvSpPr>
          <p:spPr>
            <a:xfrm>
              <a:off x="15462504" y="7452360"/>
              <a:ext cx="2048256" cy="256032"/>
            </a:xfrm>
            <a:prstGeom prst="rect">
              <a:avLst/>
            </a:prstGeom>
            <a:noFill/>
          </p:spPr>
          <p:txBody>
            <a:bodyPr wrap="square" anchor="ctr" lIns="0" rIns="0" tIns="0" bIns="0">
              <a:spAutoFit/>
            </a:bodyPr>
            <a:lstStyle/>
            <a:p>
              <a:pPr algn="l">
                <a:lnSpc>
                  <a:spcPct val="110000"/>
                </a:lnSpc>
              </a:pPr>
              <a:r>
                <a:rPr sz="1600" b="1">
                  <a:solidFill>
                    <a:srgbClr val="E69F00"/>
                  </a:solidFill>
                  <a:latin typeface="Arial"/>
                  <a:ea typeface="Arial"/>
                </a:rPr>
                <a:t>3 → 9 DWPD</a:t>
              </a:r>
            </a:p>
          </p:txBody>
        </p:sp>
        <p:sp>
          <p:nvSpPr>
            <p:cNvPr id="226" name="TextBox 225"/>
            <p:cNvSpPr txBox="1"/>
            <p:nvPr/>
          </p:nvSpPr>
          <p:spPr>
            <a:xfrm>
              <a:off x="15462504" y="7671816"/>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227" name="Rounded Rectangle 226"/>
            <p:cNvSpPr/>
            <p:nvPr/>
          </p:nvSpPr>
          <p:spPr>
            <a:xfrm>
              <a:off x="15252192" y="6684264"/>
              <a:ext cx="2340864" cy="1321308"/>
            </a:xfrm>
            <a:prstGeom prst="roundRect">
              <a:avLst>
                <a:gd name="adj" fmla="val 5536"/>
              </a:avLst>
            </a:prstGeom>
            <a:noFill/>
            <a:ln w="317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5" name="Picture 194" descr="portfolio_3d_slc.png"/>
            <p:cNvPicPr>
              <a:picLocks noChangeAspect="1"/>
            </p:cNvPicPr>
            <p:nvPr/>
          </p:nvPicPr>
          <p:blipFill>
            <a:blip r:embed="rId7"/>
            <a:stretch>
              <a:fillRect/>
            </a:stretch>
          </p:blipFill>
          <p:spPr>
            <a:xfrm>
              <a:off x="8769096" y="4041648"/>
              <a:ext cx="6303421" cy="5321808"/>
            </a:xfrm>
            <a:prstGeom prst="rect">
              <a:avLst/>
            </a:prstGeom>
          </p:spPr>
        </p:pic>
        <p:sp>
          <p:nvSpPr>
            <p:cNvPr id="236" name="TextBox 235"/>
            <p:cNvSpPr txBox="1"/>
            <p:nvPr/>
          </p:nvSpPr>
          <p:spPr>
            <a:xfrm>
              <a:off x="15462504" y="8791956"/>
              <a:ext cx="2048256" cy="256032"/>
            </a:xfrm>
            <a:prstGeom prst="rect">
              <a:avLst/>
            </a:prstGeom>
            <a:noFill/>
          </p:spPr>
          <p:txBody>
            <a:bodyPr wrap="square" anchor="ctr" lIns="0" rIns="0" tIns="0" bIns="0">
              <a:spAutoFit/>
            </a:bodyPr>
            <a:lstStyle/>
            <a:p>
              <a:pPr algn="l">
                <a:lnSpc>
                  <a:spcPct val="110000"/>
                </a:lnSpc>
              </a:pPr>
              <a:r>
                <a:rPr sz="1600" b="1">
                  <a:solidFill>
                    <a:srgbClr val="CC79A7"/>
                  </a:solidFill>
                  <a:latin typeface="Arial"/>
                  <a:ea typeface="Arial"/>
                </a:rPr>
                <a:t>30 → 100 DWPD</a:t>
              </a:r>
            </a:p>
          </p:txBody>
        </p:sp>
        <p:sp>
          <p:nvSpPr>
            <p:cNvPr id="237" name="TextBox 236"/>
            <p:cNvSpPr txBox="1"/>
            <p:nvPr/>
          </p:nvSpPr>
          <p:spPr>
            <a:xfrm>
              <a:off x="15462504" y="9011412"/>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238" name="Rounded Rectangle 237"/>
            <p:cNvSpPr/>
            <p:nvPr/>
          </p:nvSpPr>
          <p:spPr>
            <a:xfrm>
              <a:off x="15252192" y="8023860"/>
              <a:ext cx="2340864" cy="1321308"/>
            </a:xfrm>
            <a:prstGeom prst="roundRect">
              <a:avLst>
                <a:gd name="adj" fmla="val 5536"/>
              </a:avLst>
            </a:prstGeom>
            <a:noFill/>
            <a:ln w="31750">
              <a:solidFill>
                <a:srgbClr val="CC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06" name="Oval 205"/>
          <p:cNvSpPr/>
          <p:nvPr/>
        </p:nvSpPr>
        <p:spPr>
          <a:xfrm>
            <a:off x="10710832" y="5223134"/>
            <a:ext cx="347472" cy="347472"/>
          </a:xfrm>
          <a:prstGeom prst="ellipse">
            <a:avLst/>
          </a:prstGeom>
          <a:solidFill>
            <a:srgbClr val="009E7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10710832" y="522313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217" name="Oval 216"/>
          <p:cNvSpPr/>
          <p:nvPr/>
        </p:nvSpPr>
        <p:spPr>
          <a:xfrm>
            <a:off x="11015097" y="5605063"/>
            <a:ext cx="347472" cy="347472"/>
          </a:xfrm>
          <a:prstGeom prst="ellipse">
            <a:avLst/>
          </a:prstGeom>
          <a:solidFill>
            <a:srgbClr val="0072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TextBox 217"/>
          <p:cNvSpPr txBox="1"/>
          <p:nvPr/>
        </p:nvSpPr>
        <p:spPr>
          <a:xfrm>
            <a:off x="11015097" y="5605063"/>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228" name="Oval 227"/>
          <p:cNvSpPr/>
          <p:nvPr/>
        </p:nvSpPr>
        <p:spPr>
          <a:xfrm>
            <a:off x="11326206" y="6233717"/>
            <a:ext cx="347472" cy="347472"/>
          </a:xfrm>
          <a:prstGeom prst="ellipse">
            <a:avLst/>
          </a:prstGeom>
          <a:solidFill>
            <a:srgbClr val="E69F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11326206" y="62337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239" name="Oval 238"/>
          <p:cNvSpPr/>
          <p:nvPr/>
        </p:nvSpPr>
        <p:spPr>
          <a:xfrm>
            <a:off x="12352293" y="6901321"/>
            <a:ext cx="347472" cy="347472"/>
          </a:xfrm>
          <a:prstGeom prst="ellipse">
            <a:avLst/>
          </a:prstGeom>
          <a:solidFill>
            <a:srgbClr val="CC79A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12352293" y="690132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249" name="TextBox 248"/>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3D 그림은 제품군 구분을 위해 예외 색 · 제품 이미지는 형태 재현</a:t>
            </a:r>
          </a:p>
        </p:txBody>
      </p:sp>
      <p:sp>
        <p:nvSpPr>
          <p:cNvPr id="250" name="TextBox 249"/>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48"/>
                                        </p:tgtEl>
                                        <p:attrNameLst>
                                          <p:attrName>style.visibility</p:attrName>
                                        </p:attrNameLst>
                                      </p:cBhvr>
                                      <p:to>
                                        <p:strVal val="visible"/>
                                      </p:to>
                                    </p:set>
                                    <p:animEffect transition="in" filter="fade">
                                      <p:cBhvr>
                                        <p:cTn id="8" dur="500"/>
                                        <p:tgtEl>
                                          <p:spTgt spid="2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5 / 8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C0CAEC"/>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3C4FA5"/>
                </a:solidFill>
                <a:latin typeface="Arial"/>
                <a:ea typeface="Arial"/>
              </a:rPr>
              <a:t>전체 제품 중앙값 </a:t>
            </a:r>
            <a:r>
              <a:rPr sz="2400" b="1">
                <a:solidFill>
                  <a:srgbClr val="3C4FA5"/>
                </a:solidFill>
                <a:latin typeface="Arial"/>
                <a:ea typeface="Arial"/>
              </a:rPr>
              <a:t>9.6 → 2 → 1</a:t>
            </a:r>
            <a:r>
              <a:rPr sz="1800" b="1">
                <a:solidFill>
                  <a:srgbClr val="3C4FA5"/>
                </a:solidFill>
                <a:latin typeface="Arial"/>
                <a:ea typeface="Arial"/>
              </a:rPr>
              <a:t>   QLC </a:t>
            </a:r>
            <a:r>
              <a:rPr sz="2400" b="1">
                <a:solidFill>
                  <a:srgbClr val="3C4FA5"/>
                </a:solidFill>
                <a:latin typeface="Arial"/>
                <a:ea typeface="Arial"/>
              </a:rPr>
              <a:t>0.2~0.6</a:t>
            </a:r>
          </a:p>
        </p:txBody>
      </p:sp>
      <p:sp>
        <p:nvSpPr>
          <p:cNvPr id="43" name="Oval 42"/>
          <p:cNvSpPr/>
          <p:nvPr/>
        </p:nvSpPr>
        <p:spPr>
          <a:xfrm>
            <a:off x="722376" y="593445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3C4FA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6 / 8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내구</a:t>
            </a:r>
          </a:p>
          <a:p>
            <a:pPr algn="ctr">
              <a:lnSpc>
                <a:spcPct val="100000"/>
              </a:lnSpc>
            </a:pPr>
            <a:r>
              <a:rPr sz="1700" b="1">
                <a:solidFill>
                  <a:srgbClr val="3C4FA5"/>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3C4FA5"/>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QLC</a:t>
            </a:r>
          </a:p>
          <a:p>
            <a:pPr algn="ctr">
              <a:lnSpc>
                <a:spcPct val="100000"/>
              </a:lnSpc>
            </a:pPr>
            <a:r>
              <a:rPr sz="1700" b="1">
                <a:solidFill>
                  <a:srgbClr val="3C4FA5"/>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범위 46~509</a:t>
            </a:r>
          </a:p>
        </p:txBody>
      </p:sp>
      <p:sp>
        <p:nvSpPr>
          <p:cNvPr id="47" name="Oval 46"/>
          <p:cNvSpPr/>
          <p:nvPr/>
        </p:nvSpPr>
        <p:spPr>
          <a:xfrm>
            <a:off x="1196949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7 / 8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3C4FA5"/>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3C4FA5"/>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3C4FA5"/>
                </a:solidFill>
                <a:latin typeface="Arial"/>
                <a:ea typeface="Arial"/>
              </a:rPr>
              <a:t>6,500+</a:t>
            </a:r>
          </a:p>
        </p:txBody>
      </p:sp>
      <p:sp>
        <p:nvSpPr>
          <p:cNvPr id="29" name="Chevron 28"/>
          <p:cNvSpPr/>
          <p:nvPr/>
        </p:nvSpPr>
        <p:spPr>
          <a:xfrm>
            <a:off x="56601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C0CAEC"/>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C0CAEC"/>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84%</a:t>
            </a:r>
          </a:p>
        </p:txBody>
      </p:sp>
      <p:sp>
        <p:nvSpPr>
          <p:cNvPr id="52" name="Chevron 51"/>
          <p:cNvSpPr/>
          <p:nvPr/>
        </p:nvSpPr>
        <p:spPr>
          <a:xfrm>
            <a:off x="111465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C0CAEC"/>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C0CAEC"/>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C0CAEC"/>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C0CAEC"/>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4 / 8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세 기술의 효과는 고객 시스템 안에서 나오므로,</a:t>
            </a:r>
          </a:p>
          <a:p>
            <a:pPr algn="l">
              <a:lnSpc>
                <a:spcPct val="105000"/>
              </a:lnSpc>
            </a:pPr>
            <a:r>
              <a:rPr sz="3200" b="1">
                <a:solidFill>
                  <a:srgbClr val="1A1A1A"/>
                </a:solidFill>
                <a:latin typeface="Arial"/>
                <a:ea typeface="Arial"/>
              </a:rPr>
              <a:t>전략 고객과 계약 · 역량 · 사람으로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3803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45536"/>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11296"/>
            <a:ext cx="438912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11296"/>
            <a:ext cx="427939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041648"/>
            <a:ext cx="43891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2715768" y="4407408"/>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681728"/>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전략적 계약</a:t>
            </a:r>
          </a:p>
        </p:txBody>
      </p:sp>
      <p:sp>
        <p:nvSpPr>
          <p:cNvPr id="19" name="Rounded Rectangle 18"/>
          <p:cNvSpPr/>
          <p:nvPr/>
        </p:nvSpPr>
        <p:spPr>
          <a:xfrm>
            <a:off x="722376" y="5065776"/>
            <a:ext cx="3429000" cy="384048"/>
          </a:xfrm>
          <a:prstGeom prst="roundRect">
            <a:avLst>
              <a:gd name="adj" fmla="val 19047"/>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065776"/>
            <a:ext cx="3319272" cy="384048"/>
          </a:xfrm>
          <a:prstGeom prst="rect">
            <a:avLst/>
          </a:prstGeom>
          <a:noFill/>
        </p:spPr>
        <p:txBody>
          <a:bodyPr wrap="square" anchor="ctr" lIns="0" rIns="0" tIns="0" bIns="0">
            <a:spAutoFit/>
          </a:bodyPr>
          <a:lstStyle/>
          <a:p>
            <a:pPr algn="ctr">
              <a:lnSpc>
                <a:spcPct val="110000"/>
              </a:lnSpc>
            </a:pPr>
            <a:r>
              <a:rPr sz="1700" b="0">
                <a:solidFill>
                  <a:srgbClr val="555555"/>
                </a:solidFill>
                <a:latin typeface="Arial"/>
                <a:ea typeface="Arial"/>
              </a:rPr>
              <a:t>자본 연계 (선택)</a:t>
            </a:r>
          </a:p>
        </p:txBody>
      </p:sp>
      <p:sp>
        <p:nvSpPr>
          <p:cNvPr id="21" name="Rounded Rectangle 20"/>
          <p:cNvSpPr/>
          <p:nvPr/>
        </p:nvSpPr>
        <p:spPr>
          <a:xfrm>
            <a:off x="722376" y="5504688"/>
            <a:ext cx="3429000" cy="384048"/>
          </a:xfrm>
          <a:prstGeom prst="roundRect">
            <a:avLst>
              <a:gd name="adj" fmla="val 19047"/>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504688"/>
            <a:ext cx="3319272" cy="38404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운영 통합</a:t>
            </a:r>
          </a:p>
        </p:txBody>
      </p:sp>
      <p:sp>
        <p:nvSpPr>
          <p:cNvPr id="23" name="Rounded Rectangle 22"/>
          <p:cNvSpPr/>
          <p:nvPr/>
        </p:nvSpPr>
        <p:spPr>
          <a:xfrm>
            <a:off x="722376" y="5943600"/>
            <a:ext cx="342900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943600"/>
            <a:ext cx="3319272" cy="38404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공동 설계 · 최적화</a:t>
            </a:r>
          </a:p>
        </p:txBody>
      </p:sp>
      <p:sp>
        <p:nvSpPr>
          <p:cNvPr id="25" name="Rounded Rectangle 24"/>
          <p:cNvSpPr/>
          <p:nvPr/>
        </p:nvSpPr>
        <p:spPr>
          <a:xfrm>
            <a:off x="722376" y="6382512"/>
            <a:ext cx="3429000" cy="384048"/>
          </a:xfrm>
          <a:prstGeom prst="roundRect">
            <a:avLst>
              <a:gd name="adj" fmla="val 19047"/>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382512"/>
            <a:ext cx="3319272" cy="38404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MYD (다년 물량)</a:t>
            </a:r>
          </a:p>
        </p:txBody>
      </p:sp>
      <p:sp>
        <p:nvSpPr>
          <p:cNvPr id="27" name="Rectangle 26"/>
          <p:cNvSpPr/>
          <p:nvPr/>
        </p:nvSpPr>
        <p:spPr>
          <a:xfrm>
            <a:off x="4242816" y="5504688"/>
            <a:ext cx="32004" cy="82296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69663" y="5504688"/>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69663" y="6295644"/>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34256" y="5504688"/>
            <a:ext cx="777240" cy="822960"/>
          </a:xfrm>
          <a:prstGeom prst="rect">
            <a:avLst/>
          </a:prstGeom>
          <a:noFill/>
        </p:spPr>
        <p:txBody>
          <a:bodyPr wrap="square" anchor="ctr" lIns="0" rIns="0" tIns="0" bIns="0">
            <a:spAutoFit/>
          </a:bodyPr>
          <a:lstStyle/>
          <a:p>
            <a:pPr algn="l">
              <a:lnSpc>
                <a:spcPct val="95000"/>
              </a:lnSpc>
            </a:pPr>
            <a:r>
              <a:rPr sz="1700" b="1">
                <a:solidFill>
                  <a:srgbClr val="3C4FA5"/>
                </a:solidFill>
                <a:latin typeface="Arial"/>
                <a:ea typeface="Arial"/>
              </a:rPr>
              <a:t>기술</a:t>
            </a:r>
          </a:p>
          <a:p>
            <a:pPr algn="l">
              <a:lnSpc>
                <a:spcPct val="95000"/>
              </a:lnSpc>
            </a:pPr>
            <a:r>
              <a:rPr sz="1700" b="1">
                <a:solidFill>
                  <a:srgbClr val="3C4FA5"/>
                </a:solidFill>
                <a:latin typeface="Arial"/>
                <a:ea typeface="Arial"/>
              </a:rPr>
              <a:t>협력</a:t>
            </a:r>
          </a:p>
        </p:txBody>
      </p:sp>
      <p:sp>
        <p:nvSpPr>
          <p:cNvPr id="31" name="Chevron 30"/>
          <p:cNvSpPr/>
          <p:nvPr/>
        </p:nvSpPr>
        <p:spPr>
          <a:xfrm>
            <a:off x="5248656" y="46634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532120"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321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117336" y="2103120"/>
            <a:ext cx="4946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추론 스택 전체를 보는 눈</a:t>
            </a:r>
          </a:p>
        </p:txBody>
      </p:sp>
      <p:sp>
        <p:nvSpPr>
          <p:cNvPr id="35" name="Chevron 34"/>
          <p:cNvSpPr/>
          <p:nvPr/>
        </p:nvSpPr>
        <p:spPr>
          <a:xfrm>
            <a:off x="11201400" y="46634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32120" y="2688336"/>
            <a:ext cx="55321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수명 정보는 </a:t>
            </a:r>
            <a:r>
              <a:rPr sz="1700" b="1">
                <a:solidFill>
                  <a:srgbClr val="1A1A1A"/>
                </a:solidFill>
                <a:latin typeface="Arial"/>
                <a:ea typeface="Arial"/>
              </a:rPr>
              <a:t>KV 캐시 층</a:t>
            </a:r>
            <a:r>
              <a:rPr sz="1600" b="0">
                <a:solidFill>
                  <a:srgbClr val="555555"/>
                </a:solidFill>
                <a:latin typeface="Arial"/>
                <a:ea typeface="Arial"/>
              </a:rPr>
              <a:t>에, 배치는 </a:t>
            </a:r>
            <a:r>
              <a:rPr sz="1700" b="1">
                <a:solidFill>
                  <a:srgbClr val="1A1A1A"/>
                </a:solidFill>
                <a:latin typeface="Arial"/>
                <a:ea typeface="Arial"/>
              </a:rPr>
              <a:t>SSD</a:t>
            </a:r>
            <a:r>
              <a:rPr sz="1600" b="0">
                <a:solidFill>
                  <a:srgbClr val="555555"/>
                </a:solidFill>
                <a:latin typeface="Arial"/>
                <a:ea typeface="Arial"/>
              </a:rPr>
              <a:t>에 있다</a:t>
            </a:r>
          </a:p>
        </p:txBody>
      </p:sp>
      <p:sp>
        <p:nvSpPr>
          <p:cNvPr id="37" name="Rounded Rectangle 36"/>
          <p:cNvSpPr/>
          <p:nvPr/>
        </p:nvSpPr>
        <p:spPr>
          <a:xfrm>
            <a:off x="5532120" y="3127248"/>
            <a:ext cx="3749039" cy="512064"/>
          </a:xfrm>
          <a:prstGeom prst="roundRect">
            <a:avLst>
              <a:gd name="adj" fmla="val 14285"/>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78424" y="3127248"/>
            <a:ext cx="2743199"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추론 엔진</a:t>
            </a:r>
          </a:p>
        </p:txBody>
      </p:sp>
      <p:sp>
        <p:nvSpPr>
          <p:cNvPr id="39" name="TextBox 38"/>
          <p:cNvSpPr txBox="1"/>
          <p:nvPr/>
        </p:nvSpPr>
        <p:spPr>
          <a:xfrm>
            <a:off x="5678424" y="3374136"/>
            <a:ext cx="2926079"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vLLM · SGLang · TensorRT-LLM</a:t>
            </a:r>
          </a:p>
        </p:txBody>
      </p:sp>
      <p:sp>
        <p:nvSpPr>
          <p:cNvPr id="40" name="Rounded Rectangle 39"/>
          <p:cNvSpPr/>
          <p:nvPr/>
        </p:nvSpPr>
        <p:spPr>
          <a:xfrm>
            <a:off x="8494776" y="3227832"/>
            <a:ext cx="676656" cy="310896"/>
          </a:xfrm>
          <a:prstGeom prst="roundRect">
            <a:avLst>
              <a:gd name="adj" fmla="val 23529"/>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49640" y="3227832"/>
            <a:ext cx="566928"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공백</a:t>
            </a:r>
          </a:p>
        </p:txBody>
      </p:sp>
      <p:sp>
        <p:nvSpPr>
          <p:cNvPr id="42" name="Rounded Rectangle 41"/>
          <p:cNvSpPr/>
          <p:nvPr/>
        </p:nvSpPr>
        <p:spPr>
          <a:xfrm>
            <a:off x="5532120" y="3675887"/>
            <a:ext cx="3749039" cy="512064"/>
          </a:xfrm>
          <a:prstGeom prst="roundRect">
            <a:avLst>
              <a:gd name="adj" fmla="val 14285"/>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78424" y="3675887"/>
            <a:ext cx="2743199"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KV 캐시 관리자</a:t>
            </a:r>
          </a:p>
        </p:txBody>
      </p:sp>
      <p:sp>
        <p:nvSpPr>
          <p:cNvPr id="44" name="TextBox 43"/>
          <p:cNvSpPr txBox="1"/>
          <p:nvPr/>
        </p:nvSpPr>
        <p:spPr>
          <a:xfrm>
            <a:off x="5678424" y="3922775"/>
            <a:ext cx="2926079"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Dynamo · LMCache · Mooncake</a:t>
            </a:r>
          </a:p>
        </p:txBody>
      </p:sp>
      <p:sp>
        <p:nvSpPr>
          <p:cNvPr id="45" name="Rounded Rectangle 44"/>
          <p:cNvSpPr/>
          <p:nvPr/>
        </p:nvSpPr>
        <p:spPr>
          <a:xfrm>
            <a:off x="8494776" y="3776472"/>
            <a:ext cx="676656" cy="310896"/>
          </a:xfrm>
          <a:prstGeom prst="roundRect">
            <a:avLst>
              <a:gd name="adj" fmla="val 23529"/>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49640" y="3776472"/>
            <a:ext cx="566928"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47" name="Rounded Rectangle 46"/>
          <p:cNvSpPr/>
          <p:nvPr/>
        </p:nvSpPr>
        <p:spPr>
          <a:xfrm>
            <a:off x="5532120" y="4224528"/>
            <a:ext cx="3749039" cy="512064"/>
          </a:xfrm>
          <a:prstGeom prst="roundRect">
            <a:avLst>
              <a:gd name="adj" fmla="val 14285"/>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78424" y="4224528"/>
            <a:ext cx="2743199"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전송 · I/O</a:t>
            </a:r>
          </a:p>
        </p:txBody>
      </p:sp>
      <p:sp>
        <p:nvSpPr>
          <p:cNvPr id="49" name="TextBox 48"/>
          <p:cNvSpPr txBox="1"/>
          <p:nvPr/>
        </p:nvSpPr>
        <p:spPr>
          <a:xfrm>
            <a:off x="5678424" y="4471416"/>
            <a:ext cx="2926079"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NIXL · GDS · io_uring · xNVMe</a:t>
            </a:r>
          </a:p>
        </p:txBody>
      </p:sp>
      <p:sp>
        <p:nvSpPr>
          <p:cNvPr id="50" name="Rounded Rectangle 49"/>
          <p:cNvSpPr/>
          <p:nvPr/>
        </p:nvSpPr>
        <p:spPr>
          <a:xfrm>
            <a:off x="8494776" y="4325112"/>
            <a:ext cx="676656" cy="310896"/>
          </a:xfrm>
          <a:prstGeom prst="roundRect">
            <a:avLst>
              <a:gd name="adj" fmla="val 23529"/>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49640" y="4325112"/>
            <a:ext cx="566928"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2" name="Rounded Rectangle 51"/>
          <p:cNvSpPr/>
          <p:nvPr/>
        </p:nvSpPr>
        <p:spPr>
          <a:xfrm>
            <a:off x="5532120" y="4773168"/>
            <a:ext cx="3749039" cy="512064"/>
          </a:xfrm>
          <a:prstGeom prst="roundRect">
            <a:avLst>
              <a:gd name="adj" fmla="val 14285"/>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8424" y="4773168"/>
            <a:ext cx="2743199"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커널 · 파일 시스템</a:t>
            </a:r>
          </a:p>
        </p:txBody>
      </p:sp>
      <p:sp>
        <p:nvSpPr>
          <p:cNvPr id="54" name="TextBox 53"/>
          <p:cNvSpPr txBox="1"/>
          <p:nvPr/>
        </p:nvSpPr>
        <p:spPr>
          <a:xfrm>
            <a:off x="5678424" y="5020056"/>
            <a:ext cx="2926079"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write streams · XFS · NVMe FDP</a:t>
            </a:r>
          </a:p>
        </p:txBody>
      </p:sp>
      <p:sp>
        <p:nvSpPr>
          <p:cNvPr id="55" name="Rounded Rectangle 54"/>
          <p:cNvSpPr/>
          <p:nvPr/>
        </p:nvSpPr>
        <p:spPr>
          <a:xfrm>
            <a:off x="8494776" y="4873752"/>
            <a:ext cx="676656" cy="310896"/>
          </a:xfrm>
          <a:prstGeom prst="roundRect">
            <a:avLst>
              <a:gd name="adj" fmla="val 23529"/>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549640" y="4873752"/>
            <a:ext cx="566928"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7" name="Rounded Rectangle 56"/>
          <p:cNvSpPr/>
          <p:nvPr/>
        </p:nvSpPr>
        <p:spPr>
          <a:xfrm>
            <a:off x="5532120" y="5321808"/>
            <a:ext cx="3749039"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78424" y="5321808"/>
            <a:ext cx="2743199" cy="27432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SSD 펌웨어</a:t>
            </a:r>
          </a:p>
        </p:txBody>
      </p:sp>
      <p:sp>
        <p:nvSpPr>
          <p:cNvPr id="59" name="TextBox 58"/>
          <p:cNvSpPr txBox="1"/>
          <p:nvPr/>
        </p:nvSpPr>
        <p:spPr>
          <a:xfrm>
            <a:off x="5678424" y="5568696"/>
            <a:ext cx="2926079" cy="256032"/>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FDP · pSLC · Large IU · GC</a:t>
            </a:r>
          </a:p>
        </p:txBody>
      </p:sp>
      <p:sp>
        <p:nvSpPr>
          <p:cNvPr id="60" name="Rounded Rectangle 59"/>
          <p:cNvSpPr/>
          <p:nvPr/>
        </p:nvSpPr>
        <p:spPr>
          <a:xfrm>
            <a:off x="8494776" y="5422392"/>
            <a:ext cx="676656" cy="310896"/>
          </a:xfrm>
          <a:prstGeom prst="roundRect">
            <a:avLst>
              <a:gd name="adj" fmla="val 235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549640" y="5422392"/>
            <a:ext cx="566928" cy="31089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2" name="Rounded Rectangle 61"/>
          <p:cNvSpPr/>
          <p:nvPr/>
        </p:nvSpPr>
        <p:spPr>
          <a:xfrm>
            <a:off x="5532120" y="5870448"/>
            <a:ext cx="3749039"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78424" y="5870448"/>
            <a:ext cx="2743199" cy="27432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NAND</a:t>
            </a:r>
          </a:p>
        </p:txBody>
      </p:sp>
      <p:sp>
        <p:nvSpPr>
          <p:cNvPr id="64" name="TextBox 63"/>
          <p:cNvSpPr txBox="1"/>
          <p:nvPr/>
        </p:nvSpPr>
        <p:spPr>
          <a:xfrm>
            <a:off x="5678424" y="6117336"/>
            <a:ext cx="2926079" cy="256032"/>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TLC · QLC · Z-NAND</a:t>
            </a:r>
          </a:p>
        </p:txBody>
      </p:sp>
      <p:sp>
        <p:nvSpPr>
          <p:cNvPr id="65" name="Rounded Rectangle 64"/>
          <p:cNvSpPr/>
          <p:nvPr/>
        </p:nvSpPr>
        <p:spPr>
          <a:xfrm>
            <a:off x="8494776" y="5971032"/>
            <a:ext cx="676656" cy="310896"/>
          </a:xfrm>
          <a:prstGeom prst="roundRect">
            <a:avLst>
              <a:gd name="adj" fmla="val 235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549640" y="5971032"/>
            <a:ext cx="566928" cy="31089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7" name="Down Arrow 66"/>
          <p:cNvSpPr/>
          <p:nvPr/>
        </p:nvSpPr>
        <p:spPr>
          <a:xfrm>
            <a:off x="9409176" y="3840480"/>
            <a:ext cx="384048" cy="1828800"/>
          </a:xfrm>
          <a:prstGeom prst="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848088" y="3822191"/>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수명 정보</a:t>
            </a:r>
          </a:p>
          <a:p>
            <a:pPr algn="l">
              <a:lnSpc>
                <a:spcPct val="95000"/>
              </a:lnSpc>
            </a:pPr>
            <a:r>
              <a:rPr sz="1500" b="0">
                <a:solidFill>
                  <a:srgbClr val="555555"/>
                </a:solidFill>
                <a:latin typeface="Arial"/>
                <a:ea typeface="Arial"/>
              </a:rPr>
              <a:t>prefix · 세션</a:t>
            </a:r>
          </a:p>
        </p:txBody>
      </p:sp>
      <p:sp>
        <p:nvSpPr>
          <p:cNvPr id="69" name="TextBox 68"/>
          <p:cNvSpPr txBox="1"/>
          <p:nvPr/>
        </p:nvSpPr>
        <p:spPr>
          <a:xfrm>
            <a:off x="9848088" y="4370832"/>
            <a:ext cx="1216152" cy="768096"/>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함께</a:t>
            </a:r>
          </a:p>
          <a:p>
            <a:pPr algn="l">
              <a:lnSpc>
                <a:spcPct val="95000"/>
              </a:lnSpc>
            </a:pPr>
            <a:r>
              <a:rPr sz="1600" b="1">
                <a:solidFill>
                  <a:srgbClr val="3C4FA5"/>
                </a:solidFill>
                <a:latin typeface="Arial"/>
                <a:ea typeface="Arial"/>
              </a:rPr>
              <a:t>만들</a:t>
            </a:r>
          </a:p>
          <a:p>
            <a:pPr algn="l">
              <a:lnSpc>
                <a:spcPct val="95000"/>
              </a:lnSpc>
            </a:pPr>
            <a:r>
              <a:rPr sz="1600" b="1">
                <a:solidFill>
                  <a:srgbClr val="3C4FA5"/>
                </a:solidFill>
                <a:latin typeface="Arial"/>
                <a:ea typeface="Arial"/>
              </a:rPr>
              <a:t>경로</a:t>
            </a:r>
          </a:p>
        </p:txBody>
      </p:sp>
      <p:sp>
        <p:nvSpPr>
          <p:cNvPr id="70" name="TextBox 69"/>
          <p:cNvSpPr txBox="1"/>
          <p:nvPr/>
        </p:nvSpPr>
        <p:spPr>
          <a:xfrm>
            <a:off x="9848088" y="5303520"/>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SSD 배치</a:t>
            </a:r>
          </a:p>
          <a:p>
            <a:pPr algn="l">
              <a:lnSpc>
                <a:spcPct val="95000"/>
              </a:lnSpc>
            </a:pPr>
            <a:r>
              <a:rPr sz="1500" b="0">
                <a:solidFill>
                  <a:srgbClr val="555555"/>
                </a:solidFill>
                <a:latin typeface="Arial"/>
                <a:ea typeface="Arial"/>
              </a:rPr>
              <a:t>FDP 핸들</a:t>
            </a:r>
          </a:p>
        </p:txBody>
      </p:sp>
      <p:sp>
        <p:nvSpPr>
          <p:cNvPr id="71" name="Rounded Rectangle 70"/>
          <p:cNvSpPr/>
          <p:nvPr/>
        </p:nvSpPr>
        <p:spPr>
          <a:xfrm>
            <a:off x="5532120" y="6437376"/>
            <a:ext cx="676656"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586983" y="6437376"/>
            <a:ext cx="566928"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화두</a:t>
            </a:r>
          </a:p>
        </p:txBody>
      </p:sp>
      <p:sp>
        <p:nvSpPr>
          <p:cNvPr id="73" name="TextBox 72"/>
          <p:cNvSpPr txBox="1"/>
          <p:nvPr/>
        </p:nvSpPr>
        <p:spPr>
          <a:xfrm>
            <a:off x="6300216" y="6419088"/>
            <a:ext cx="4764024" cy="347472"/>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고객 관계(CRM)를 </a:t>
            </a:r>
            <a:r>
              <a:rPr sz="1600" b="1">
                <a:solidFill>
                  <a:srgbClr val="3C4FA5"/>
                </a:solidFill>
                <a:latin typeface="Arial"/>
                <a:ea typeface="Arial"/>
              </a:rPr>
              <a:t>엔지니어 ↔ 엔지니어</a:t>
            </a:r>
            <a:r>
              <a:rPr sz="1600" b="1">
                <a:solidFill>
                  <a:srgbClr val="1A1A1A"/>
                </a:solidFill>
                <a:latin typeface="Arial"/>
                <a:ea typeface="Arial"/>
              </a:rPr>
              <a:t>까지</a:t>
            </a:r>
          </a:p>
        </p:txBody>
      </p:sp>
      <p:sp>
        <p:nvSpPr>
          <p:cNvPr id="74" name="Oval 73"/>
          <p:cNvSpPr/>
          <p:nvPr/>
        </p:nvSpPr>
        <p:spPr>
          <a:xfrm>
            <a:off x="11484864"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148486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76" name="TextBox 75"/>
          <p:cNvSpPr txBox="1"/>
          <p:nvPr/>
        </p:nvSpPr>
        <p:spPr>
          <a:xfrm>
            <a:off x="12070080" y="2103120"/>
            <a:ext cx="54955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77" name="Picture 76" descr="palantir.png"/>
          <p:cNvPicPr>
            <a:picLocks noChangeAspect="1"/>
          </p:cNvPicPr>
          <p:nvPr/>
        </p:nvPicPr>
        <p:blipFill>
          <a:blip r:embed="rId4"/>
          <a:stretch>
            <a:fillRect/>
          </a:stretch>
        </p:blipFill>
        <p:spPr>
          <a:xfrm>
            <a:off x="11484864" y="2715768"/>
            <a:ext cx="310896" cy="310896"/>
          </a:xfrm>
          <a:prstGeom prst="rect">
            <a:avLst/>
          </a:prstGeom>
        </p:spPr>
      </p:pic>
      <p:sp>
        <p:nvSpPr>
          <p:cNvPr id="78" name="TextBox 77"/>
          <p:cNvSpPr txBox="1"/>
          <p:nvPr/>
        </p:nvSpPr>
        <p:spPr>
          <a:xfrm>
            <a:off x="11887200" y="2688336"/>
            <a:ext cx="56784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79" name="TextBox 78"/>
          <p:cNvSpPr txBox="1"/>
          <p:nvPr/>
        </p:nvSpPr>
        <p:spPr>
          <a:xfrm>
            <a:off x="11484864" y="3145536"/>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80" name="Rounded Rectangle 79"/>
          <p:cNvSpPr/>
          <p:nvPr/>
        </p:nvSpPr>
        <p:spPr>
          <a:xfrm>
            <a:off x="11484864" y="3511296"/>
            <a:ext cx="1554480" cy="493776"/>
          </a:xfrm>
          <a:prstGeom prst="roundRect">
            <a:avLst>
              <a:gd name="adj" fmla="val 1481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1" name="Picture 80" descr="samsung.png"/>
          <p:cNvPicPr>
            <a:picLocks noChangeAspect="1"/>
          </p:cNvPicPr>
          <p:nvPr/>
        </p:nvPicPr>
        <p:blipFill>
          <a:blip r:embed="rId5"/>
          <a:stretch>
            <a:fillRect/>
          </a:stretch>
        </p:blipFill>
        <p:spPr>
          <a:xfrm>
            <a:off x="11622024" y="3659414"/>
            <a:ext cx="1280160" cy="197538"/>
          </a:xfrm>
          <a:prstGeom prst="rect">
            <a:avLst/>
          </a:prstGeom>
        </p:spPr>
      </p:pic>
      <p:sp>
        <p:nvSpPr>
          <p:cNvPr id="82" name="Rounded Rectangle 81"/>
          <p:cNvSpPr/>
          <p:nvPr/>
        </p:nvSpPr>
        <p:spPr>
          <a:xfrm>
            <a:off x="16011144" y="3511296"/>
            <a:ext cx="1554480" cy="493776"/>
          </a:xfrm>
          <a:prstGeom prst="roundRect">
            <a:avLst>
              <a:gd name="adj" fmla="val 1481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6066008" y="3511296"/>
            <a:ext cx="1444752" cy="49377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84" name="Rectangle 83"/>
          <p:cNvSpPr/>
          <p:nvPr/>
        </p:nvSpPr>
        <p:spPr>
          <a:xfrm>
            <a:off x="13112496" y="3749039"/>
            <a:ext cx="28254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Folded Corner 84"/>
          <p:cNvSpPr/>
          <p:nvPr/>
        </p:nvSpPr>
        <p:spPr>
          <a:xfrm>
            <a:off x="14342364" y="3538727"/>
            <a:ext cx="365760" cy="438912"/>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1484864" y="4041648"/>
            <a:ext cx="60807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87" name="Isosceles Triangle 86"/>
          <p:cNvSpPr/>
          <p:nvPr/>
        </p:nvSpPr>
        <p:spPr>
          <a:xfrm rot="10800000">
            <a:off x="14324076" y="4407408"/>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484864" y="4681728"/>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고객 상주 협업의 세 가지 핵심 업무</a:t>
            </a:r>
          </a:p>
        </p:txBody>
      </p:sp>
      <p:sp>
        <p:nvSpPr>
          <p:cNvPr id="89" name="Rounded Rectangle 88"/>
          <p:cNvSpPr/>
          <p:nvPr/>
        </p:nvSpPr>
        <p:spPr>
          <a:xfrm>
            <a:off x="11484864" y="5065776"/>
            <a:ext cx="6080760" cy="1700784"/>
          </a:xfrm>
          <a:prstGeom prst="roundRect">
            <a:avLst>
              <a:gd name="adj" fmla="val 4301"/>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11612880" y="5193792"/>
            <a:ext cx="1795272" cy="1444752"/>
          </a:xfrm>
          <a:prstGeom prst="roundRect">
            <a:avLst>
              <a:gd name="adj" fmla="val 5063"/>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1722608" y="53035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1722608" y="53035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93" name="TextBox 92"/>
          <p:cNvSpPr txBox="1"/>
          <p:nvPr/>
        </p:nvSpPr>
        <p:spPr>
          <a:xfrm>
            <a:off x="11667744" y="5669279"/>
            <a:ext cx="1685544" cy="914400"/>
          </a:xfrm>
          <a:prstGeom prst="rect">
            <a:avLst/>
          </a:prstGeom>
          <a:noFill/>
        </p:spPr>
        <p:txBody>
          <a:bodyPr wrap="square" anchor="ctr" lIns="0" rIns="0" tIns="0" bIns="0">
            <a:spAutoFit/>
          </a:bodyPr>
          <a:lstStyle/>
          <a:p>
            <a:pPr algn="ctr">
              <a:lnSpc>
                <a:spcPct val="100000"/>
              </a:lnSpc>
            </a:pPr>
            <a:r>
              <a:rPr sz="1500" b="0">
                <a:solidFill>
                  <a:srgbClr val="555555"/>
                </a:solidFill>
                <a:latin typeface="Arial"/>
                <a:ea typeface="Arial"/>
              </a:rPr>
              <a:t>고객 워크로드</a:t>
            </a:r>
          </a:p>
          <a:p>
            <a:pPr algn="ctr">
              <a:lnSpc>
                <a:spcPct val="100000"/>
              </a:lnSpc>
            </a:pPr>
            <a:r>
              <a:rPr sz="1800" b="1">
                <a:solidFill>
                  <a:srgbClr val="3C4FA5"/>
                </a:solidFill>
                <a:latin typeface="Arial"/>
                <a:ea typeface="Arial"/>
              </a:rPr>
              <a:t>측정 · 분석</a:t>
            </a:r>
          </a:p>
        </p:txBody>
      </p:sp>
      <p:sp>
        <p:nvSpPr>
          <p:cNvPr id="94" name="Chevron 93"/>
          <p:cNvSpPr/>
          <p:nvPr/>
        </p:nvSpPr>
        <p:spPr>
          <a:xfrm>
            <a:off x="13453872" y="5733288"/>
            <a:ext cx="128016" cy="36576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ounded Rectangle 94"/>
          <p:cNvSpPr/>
          <p:nvPr/>
        </p:nvSpPr>
        <p:spPr>
          <a:xfrm>
            <a:off x="13627608" y="5193792"/>
            <a:ext cx="1795272" cy="1444752"/>
          </a:xfrm>
          <a:prstGeom prst="roundRect">
            <a:avLst>
              <a:gd name="adj" fmla="val 5063"/>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3737336" y="53035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3737336" y="53035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98" name="TextBox 97"/>
          <p:cNvSpPr txBox="1"/>
          <p:nvPr/>
        </p:nvSpPr>
        <p:spPr>
          <a:xfrm>
            <a:off x="13682472" y="5669279"/>
            <a:ext cx="1685544" cy="914400"/>
          </a:xfrm>
          <a:prstGeom prst="rect">
            <a:avLst/>
          </a:prstGeom>
          <a:noFill/>
        </p:spPr>
        <p:txBody>
          <a:bodyPr wrap="square" anchor="ctr" lIns="0" rIns="0" tIns="0" bIns="0">
            <a:spAutoFit/>
          </a:bodyPr>
          <a:lstStyle/>
          <a:p>
            <a:pPr algn="ctr">
              <a:lnSpc>
                <a:spcPct val="100000"/>
              </a:lnSpc>
            </a:pPr>
            <a:r>
              <a:rPr sz="1500" b="0">
                <a:solidFill>
                  <a:srgbClr val="555555"/>
                </a:solidFill>
                <a:latin typeface="Arial"/>
                <a:ea typeface="Arial"/>
              </a:rPr>
              <a:t>호스트 SW 스택</a:t>
            </a:r>
          </a:p>
          <a:p>
            <a:pPr algn="ctr">
              <a:lnSpc>
                <a:spcPct val="100000"/>
              </a:lnSpc>
            </a:pPr>
            <a:r>
              <a:rPr sz="1800" b="1">
                <a:solidFill>
                  <a:srgbClr val="3C4FA5"/>
                </a:solidFill>
                <a:latin typeface="Arial"/>
                <a:ea typeface="Arial"/>
              </a:rPr>
              <a:t>최적화 · 평가</a:t>
            </a:r>
          </a:p>
        </p:txBody>
      </p:sp>
      <p:sp>
        <p:nvSpPr>
          <p:cNvPr id="99" name="Chevron 98"/>
          <p:cNvSpPr/>
          <p:nvPr/>
        </p:nvSpPr>
        <p:spPr>
          <a:xfrm>
            <a:off x="15468600" y="5733288"/>
            <a:ext cx="128016" cy="36576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15642336" y="5193792"/>
            <a:ext cx="1795272" cy="1444752"/>
          </a:xfrm>
          <a:prstGeom prst="roundRect">
            <a:avLst>
              <a:gd name="adj" fmla="val 5063"/>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15752064" y="53035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752064" y="53035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03" name="TextBox 102"/>
          <p:cNvSpPr txBox="1"/>
          <p:nvPr/>
        </p:nvSpPr>
        <p:spPr>
          <a:xfrm>
            <a:off x="15697200" y="5669279"/>
            <a:ext cx="1685544" cy="914400"/>
          </a:xfrm>
          <a:prstGeom prst="rect">
            <a:avLst/>
          </a:prstGeom>
          <a:noFill/>
        </p:spPr>
        <p:txBody>
          <a:bodyPr wrap="square" anchor="ctr" lIns="0" rIns="0" tIns="0" bIns="0">
            <a:spAutoFit/>
          </a:bodyPr>
          <a:lstStyle/>
          <a:p>
            <a:pPr algn="ctr">
              <a:lnSpc>
                <a:spcPct val="100000"/>
              </a:lnSpc>
            </a:pPr>
            <a:r>
              <a:rPr sz="1500" b="0">
                <a:solidFill>
                  <a:srgbClr val="555555"/>
                </a:solidFill>
                <a:latin typeface="Arial"/>
                <a:ea typeface="Arial"/>
              </a:rPr>
              <a:t>차세대 제품</a:t>
            </a:r>
          </a:p>
          <a:p>
            <a:pPr algn="ctr">
              <a:lnSpc>
                <a:spcPct val="100000"/>
              </a:lnSpc>
            </a:pPr>
            <a:r>
              <a:rPr sz="1800" b="1">
                <a:solidFill>
                  <a:srgbClr val="3C4FA5"/>
                </a:solidFill>
                <a:latin typeface="Arial"/>
                <a:ea typeface="Arial"/>
              </a:rPr>
              <a:t>기술 교류</a:t>
            </a:r>
          </a:p>
        </p:txBody>
      </p:sp>
      <p:sp>
        <p:nvSpPr>
          <p:cNvPr id="104" name="Oval 103"/>
          <p:cNvSpPr/>
          <p:nvPr/>
        </p:nvSpPr>
        <p:spPr>
          <a:xfrm>
            <a:off x="12932664" y="5303520"/>
            <a:ext cx="274320" cy="274320"/>
          </a:xfrm>
          <a:prstGeom prst="ellipse">
            <a:avLst/>
          </a:prstGeom>
          <a:noFill/>
          <a:ln w="285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rot="2700000">
            <a:off x="13152120" y="5550408"/>
            <a:ext cx="164592" cy="548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14910816" y="5303520"/>
            <a:ext cx="365760" cy="82296"/>
          </a:xfrm>
          <a:prstGeom prst="roundRect">
            <a:avLst>
              <a:gd name="adj" fmla="val 50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ounded Rectangle 106"/>
          <p:cNvSpPr/>
          <p:nvPr/>
        </p:nvSpPr>
        <p:spPr>
          <a:xfrm>
            <a:off x="14910816" y="5413248"/>
            <a:ext cx="365760" cy="82296"/>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ounded Rectangle 107"/>
          <p:cNvSpPr/>
          <p:nvPr/>
        </p:nvSpPr>
        <p:spPr>
          <a:xfrm>
            <a:off x="14910816" y="5522976"/>
            <a:ext cx="365760" cy="82296"/>
          </a:xfrm>
          <a:prstGeom prst="roundRect">
            <a:avLst>
              <a:gd name="adj" fmla="val 50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ounded Rectangular Callout 108"/>
          <p:cNvSpPr/>
          <p:nvPr/>
        </p:nvSpPr>
        <p:spPr>
          <a:xfrm>
            <a:off x="16888968" y="5285231"/>
            <a:ext cx="420624" cy="292608"/>
          </a:xfrm>
          <a:prstGeom prst="wedgeRoundRectCallout">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ounded Rectangle 109"/>
          <p:cNvSpPr/>
          <p:nvPr/>
        </p:nvSpPr>
        <p:spPr>
          <a:xfrm>
            <a:off x="722376" y="6949440"/>
            <a:ext cx="3017520" cy="1664207"/>
          </a:xfrm>
          <a:prstGeom prst="roundRect">
            <a:avLst>
              <a:gd name="adj" fmla="val 439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ounded Rectangle 110"/>
          <p:cNvSpPr/>
          <p:nvPr/>
        </p:nvSpPr>
        <p:spPr>
          <a:xfrm>
            <a:off x="868680" y="7077456"/>
            <a:ext cx="676656" cy="310896"/>
          </a:xfrm>
          <a:prstGeom prst="roundRect">
            <a:avLst>
              <a:gd name="adj" fmla="val 235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923544" y="7077456"/>
            <a:ext cx="566928" cy="31089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제언</a:t>
            </a:r>
          </a:p>
        </p:txBody>
      </p:sp>
      <p:sp>
        <p:nvSpPr>
          <p:cNvPr id="113" name="TextBox 112"/>
          <p:cNvSpPr txBox="1"/>
          <p:nvPr/>
        </p:nvSpPr>
        <p:spPr>
          <a:xfrm>
            <a:off x="868680" y="7424928"/>
            <a:ext cx="2743200" cy="420624"/>
          </a:xfrm>
          <a:prstGeom prst="rect">
            <a:avLst/>
          </a:prstGeom>
          <a:noFill/>
        </p:spPr>
        <p:txBody>
          <a:bodyPr wrap="square" anchor="ctr" lIns="0" rIns="0" tIns="0" bIns="0">
            <a:spAutoFit/>
          </a:bodyPr>
          <a:lstStyle/>
          <a:p>
            <a:pPr algn="l">
              <a:lnSpc>
                <a:spcPct val="110000"/>
              </a:lnSpc>
            </a:pPr>
            <a:r>
              <a:rPr sz="2000" b="1">
                <a:solidFill>
                  <a:srgbClr val="FFFFFF"/>
                </a:solidFill>
                <a:latin typeface="Arial"/>
                <a:ea typeface="Arial"/>
              </a:rPr>
              <a:t>고객 전문가(고전가)</a:t>
            </a:r>
          </a:p>
        </p:txBody>
      </p:sp>
      <p:sp>
        <p:nvSpPr>
          <p:cNvPr id="114" name="TextBox 113"/>
          <p:cNvSpPr txBox="1"/>
          <p:nvPr/>
        </p:nvSpPr>
        <p:spPr>
          <a:xfrm>
            <a:off x="868680" y="7845552"/>
            <a:ext cx="2743200" cy="694943"/>
          </a:xfrm>
          <a:prstGeom prst="rect">
            <a:avLst/>
          </a:prstGeom>
          <a:noFill/>
        </p:spPr>
        <p:txBody>
          <a:bodyPr wrap="square" anchor="ctr" lIns="0" rIns="0" tIns="0" bIns="0">
            <a:spAutoFit/>
          </a:bodyPr>
          <a:lstStyle/>
          <a:p>
            <a:pPr algn="l">
              <a:lnSpc>
                <a:spcPct val="100000"/>
              </a:lnSpc>
            </a:pPr>
            <a:r>
              <a:rPr sz="1600" b="1">
                <a:solidFill>
                  <a:srgbClr val="C0CAEC"/>
                </a:solidFill>
                <a:latin typeface="Arial"/>
                <a:ea typeface="Arial"/>
              </a:rPr>
              <a:t>Expert Group</a:t>
            </a:r>
          </a:p>
          <a:p>
            <a:pPr algn="l">
              <a:lnSpc>
                <a:spcPct val="100000"/>
              </a:lnSpc>
            </a:pPr>
            <a:r>
              <a:rPr sz="1600" b="1">
                <a:solidFill>
                  <a:srgbClr val="FFFFFF"/>
                </a:solidFill>
                <a:latin typeface="Arial"/>
                <a:ea typeface="Arial"/>
              </a:rPr>
              <a:t>고객 사이트에 신설</a:t>
            </a:r>
          </a:p>
        </p:txBody>
      </p:sp>
      <p:sp>
        <p:nvSpPr>
          <p:cNvPr id="115" name="Chevron 114"/>
          <p:cNvSpPr/>
          <p:nvPr/>
        </p:nvSpPr>
        <p:spPr>
          <a:xfrm>
            <a:off x="3813048" y="7552944"/>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ounded Rectangle 115"/>
          <p:cNvSpPr/>
          <p:nvPr/>
        </p:nvSpPr>
        <p:spPr>
          <a:xfrm>
            <a:off x="4050791" y="6949440"/>
            <a:ext cx="4206240" cy="1664207"/>
          </a:xfrm>
          <a:prstGeom prst="roundRect">
            <a:avLst>
              <a:gd name="adj" fmla="val 4395"/>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7" name="Picture 116" descr="render_ssd.png"/>
          <p:cNvPicPr>
            <a:picLocks noChangeAspect="1"/>
          </p:cNvPicPr>
          <p:nvPr/>
        </p:nvPicPr>
        <p:blipFill>
          <a:blip r:embed="rId6"/>
          <a:stretch>
            <a:fillRect/>
          </a:stretch>
        </p:blipFill>
        <p:spPr>
          <a:xfrm>
            <a:off x="4265634" y="7269480"/>
            <a:ext cx="1083646" cy="402336"/>
          </a:xfrm>
          <a:prstGeom prst="rect">
            <a:avLst/>
          </a:prstGeom>
        </p:spPr>
      </p:pic>
      <p:pic>
        <p:nvPicPr>
          <p:cNvPr id="118" name="Picture 117" descr="render_server.png"/>
          <p:cNvPicPr>
            <a:picLocks noChangeAspect="1"/>
          </p:cNvPicPr>
          <p:nvPr/>
        </p:nvPicPr>
        <p:blipFill>
          <a:blip r:embed="rId7"/>
          <a:stretch>
            <a:fillRect/>
          </a:stretch>
        </p:blipFill>
        <p:spPr>
          <a:xfrm>
            <a:off x="4380173" y="7671816"/>
            <a:ext cx="854568" cy="502920"/>
          </a:xfrm>
          <a:prstGeom prst="rect">
            <a:avLst/>
          </a:prstGeom>
        </p:spPr>
      </p:pic>
      <p:sp>
        <p:nvSpPr>
          <p:cNvPr id="119" name="TextBox 118"/>
          <p:cNvSpPr txBox="1"/>
          <p:nvPr/>
        </p:nvSpPr>
        <p:spPr>
          <a:xfrm>
            <a:off x="5477256" y="7022592"/>
            <a:ext cx="2688335" cy="420624"/>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기술</a:t>
            </a:r>
            <a:r>
              <a:rPr sz="1800" b="1">
                <a:solidFill>
                  <a:srgbClr val="1A1A1A"/>
                </a:solidFill>
                <a:latin typeface="Arial"/>
                <a:ea typeface="Arial"/>
              </a:rPr>
              <a:t>  아키텍트 수준</a:t>
            </a:r>
          </a:p>
        </p:txBody>
      </p:sp>
      <p:sp>
        <p:nvSpPr>
          <p:cNvPr id="120" name="TextBox 119"/>
          <p:cNvSpPr txBox="1"/>
          <p:nvPr/>
        </p:nvSpPr>
        <p:spPr>
          <a:xfrm>
            <a:off x="5477256" y="7461504"/>
            <a:ext cx="2688335" cy="1078991"/>
          </a:xfrm>
          <a:prstGeom prst="rect">
            <a:avLst/>
          </a:prstGeom>
          <a:noFill/>
        </p:spPr>
        <p:txBody>
          <a:bodyPr wrap="square" anchor="ctr" lIns="0" rIns="0" tIns="0" bIns="0">
            <a:spAutoFit/>
          </a:bodyPr>
          <a:lstStyle/>
          <a:p>
            <a:pPr algn="l">
              <a:lnSpc>
                <a:spcPct val="100000"/>
              </a:lnSpc>
            </a:pPr>
            <a:r>
              <a:rPr sz="1500" b="0">
                <a:solidFill>
                  <a:srgbClr val="555555"/>
                </a:solidFill>
                <a:latin typeface="Arial"/>
                <a:ea typeface="Arial"/>
              </a:rPr>
              <a:t>SSD ↔ 호스트 시스템을 함께 이해 · 차세대 구조 공동 제안</a:t>
            </a:r>
          </a:p>
        </p:txBody>
      </p:sp>
      <p:sp>
        <p:nvSpPr>
          <p:cNvPr id="121" name="Rounded Rectangle 120"/>
          <p:cNvSpPr/>
          <p:nvPr/>
        </p:nvSpPr>
        <p:spPr>
          <a:xfrm>
            <a:off x="8403336" y="6949440"/>
            <a:ext cx="4206240" cy="1664207"/>
          </a:xfrm>
          <a:prstGeom prst="roundRect">
            <a:avLst>
              <a:gd name="adj" fmla="val 4395"/>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8659459" y="7452360"/>
            <a:ext cx="253471" cy="253471"/>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 Same Side Corner Rectangle 122"/>
          <p:cNvSpPr/>
          <p:nvPr/>
        </p:nvSpPr>
        <p:spPr>
          <a:xfrm>
            <a:off x="8567928" y="7748076"/>
            <a:ext cx="436534" cy="408371"/>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9297161" y="7452360"/>
            <a:ext cx="253471" cy="25347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ound Same Side Corner Rectangle 124"/>
          <p:cNvSpPr/>
          <p:nvPr/>
        </p:nvSpPr>
        <p:spPr>
          <a:xfrm>
            <a:off x="9205630" y="7748076"/>
            <a:ext cx="436534" cy="408371"/>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ounded Rectangular Callout 125"/>
          <p:cNvSpPr/>
          <p:nvPr/>
        </p:nvSpPr>
        <p:spPr>
          <a:xfrm>
            <a:off x="8742541" y="7150608"/>
            <a:ext cx="623620" cy="321868"/>
          </a:xfrm>
          <a:prstGeom prst="wedgeRoundRectCallout">
            <a:avLst/>
          </a:prstGeom>
          <a:solidFill>
            <a:srgbClr val="FFFFFF"/>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9829800" y="7022592"/>
            <a:ext cx="2688335" cy="420624"/>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문화</a:t>
            </a:r>
            <a:r>
              <a:rPr sz="1800" b="1">
                <a:solidFill>
                  <a:srgbClr val="1A1A1A"/>
                </a:solidFill>
                <a:latin typeface="Arial"/>
                <a:ea typeface="Arial"/>
              </a:rPr>
              <a:t>  고객과 같은 언어</a:t>
            </a:r>
          </a:p>
        </p:txBody>
      </p:sp>
      <p:sp>
        <p:nvSpPr>
          <p:cNvPr id="128" name="TextBox 127"/>
          <p:cNvSpPr txBox="1"/>
          <p:nvPr/>
        </p:nvSpPr>
        <p:spPr>
          <a:xfrm>
            <a:off x="9829800" y="7461504"/>
            <a:ext cx="2688335" cy="1078991"/>
          </a:xfrm>
          <a:prstGeom prst="rect">
            <a:avLst/>
          </a:prstGeom>
          <a:noFill/>
        </p:spPr>
        <p:txBody>
          <a:bodyPr wrap="square" anchor="ctr" lIns="0" rIns="0" tIns="0" bIns="0">
            <a:spAutoFit/>
          </a:bodyPr>
          <a:lstStyle/>
          <a:p>
            <a:pPr algn="l">
              <a:lnSpc>
                <a:spcPct val="100000"/>
              </a:lnSpc>
            </a:pPr>
            <a:r>
              <a:rPr sz="1500" b="0">
                <a:solidFill>
                  <a:srgbClr val="555555"/>
                </a:solidFill>
                <a:latin typeface="Arial"/>
                <a:ea typeface="Arial"/>
              </a:rPr>
              <a:t>언어 소통에 막힘 없음 · 같은 문화적 배경이면 금상첨화</a:t>
            </a:r>
          </a:p>
        </p:txBody>
      </p:sp>
      <p:sp>
        <p:nvSpPr>
          <p:cNvPr id="129" name="Chevron 128"/>
          <p:cNvSpPr/>
          <p:nvPr/>
        </p:nvSpPr>
        <p:spPr>
          <a:xfrm>
            <a:off x="12682728" y="7552944"/>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12920472" y="6949440"/>
            <a:ext cx="4645152" cy="310896"/>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고객 사이트</a:t>
            </a:r>
            <a:r>
              <a:rPr sz="1500" b="0">
                <a:solidFill>
                  <a:srgbClr val="555555"/>
                </a:solidFill>
                <a:latin typeface="Arial"/>
                <a:ea typeface="Arial"/>
              </a:rPr>
              <a:t>  우선 시작 → 하이퍼스케일러 확장</a:t>
            </a:r>
          </a:p>
        </p:txBody>
      </p:sp>
      <p:sp>
        <p:nvSpPr>
          <p:cNvPr id="131" name="Rounded Rectangle 130"/>
          <p:cNvSpPr/>
          <p:nvPr/>
        </p:nvSpPr>
        <p:spPr>
          <a:xfrm>
            <a:off x="12920472" y="7333488"/>
            <a:ext cx="978408" cy="1207007"/>
          </a:xfrm>
          <a:prstGeom prst="roundRect">
            <a:avLst>
              <a:gd name="adj" fmla="val 7476"/>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Picture 131" descr="google.png"/>
          <p:cNvPicPr>
            <a:picLocks noChangeAspect="1"/>
          </p:cNvPicPr>
          <p:nvPr/>
        </p:nvPicPr>
        <p:blipFill>
          <a:blip r:embed="rId8"/>
          <a:stretch>
            <a:fillRect/>
          </a:stretch>
        </p:blipFill>
        <p:spPr>
          <a:xfrm>
            <a:off x="13011911" y="7806613"/>
            <a:ext cx="795528" cy="260756"/>
          </a:xfrm>
          <a:prstGeom prst="rect">
            <a:avLst/>
          </a:prstGeom>
        </p:spPr>
      </p:pic>
      <p:sp>
        <p:nvSpPr>
          <p:cNvPr id="133" name="Rounded Rectangle 132"/>
          <p:cNvSpPr/>
          <p:nvPr/>
        </p:nvSpPr>
        <p:spPr>
          <a:xfrm>
            <a:off x="13990319" y="7333488"/>
            <a:ext cx="978408" cy="1207007"/>
          </a:xfrm>
          <a:prstGeom prst="roundRect">
            <a:avLst>
              <a:gd name="adj" fmla="val 7476"/>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4" name="Picture 133" descr="meta.png"/>
          <p:cNvPicPr>
            <a:picLocks noChangeAspect="1"/>
          </p:cNvPicPr>
          <p:nvPr/>
        </p:nvPicPr>
        <p:blipFill>
          <a:blip r:embed="rId9"/>
          <a:stretch>
            <a:fillRect/>
          </a:stretch>
        </p:blipFill>
        <p:spPr>
          <a:xfrm>
            <a:off x="14081759" y="7856113"/>
            <a:ext cx="795528" cy="161757"/>
          </a:xfrm>
          <a:prstGeom prst="rect">
            <a:avLst/>
          </a:prstGeom>
        </p:spPr>
      </p:pic>
      <p:sp>
        <p:nvSpPr>
          <p:cNvPr id="135" name="Right Arrow 134"/>
          <p:cNvSpPr/>
          <p:nvPr/>
        </p:nvSpPr>
        <p:spPr>
          <a:xfrm>
            <a:off x="15078455" y="7818120"/>
            <a:ext cx="329184" cy="237744"/>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15517367" y="7333488"/>
            <a:ext cx="978408" cy="1207007"/>
          </a:xfrm>
          <a:prstGeom prst="roundRect">
            <a:avLst>
              <a:gd name="adj" fmla="val 7476"/>
            </a:avLst>
          </a:prstGeom>
          <a:solidFill>
            <a:srgbClr val="FFFFFF"/>
          </a:solidFill>
          <a:ln w="12700">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7" name="Picture 136" descr="microsoft.png"/>
          <p:cNvPicPr>
            <a:picLocks noChangeAspect="1"/>
          </p:cNvPicPr>
          <p:nvPr/>
        </p:nvPicPr>
        <p:blipFill>
          <a:blip r:embed="rId10"/>
          <a:stretch>
            <a:fillRect/>
          </a:stretch>
        </p:blipFill>
        <p:spPr>
          <a:xfrm>
            <a:off x="15608808" y="7851693"/>
            <a:ext cx="795528" cy="170596"/>
          </a:xfrm>
          <a:prstGeom prst="rect">
            <a:avLst/>
          </a:prstGeom>
        </p:spPr>
      </p:pic>
      <p:sp>
        <p:nvSpPr>
          <p:cNvPr id="138" name="Rounded Rectangle 137"/>
          <p:cNvSpPr/>
          <p:nvPr/>
        </p:nvSpPr>
        <p:spPr>
          <a:xfrm>
            <a:off x="16587216" y="7333488"/>
            <a:ext cx="978408" cy="1207007"/>
          </a:xfrm>
          <a:prstGeom prst="roundRect">
            <a:avLst>
              <a:gd name="adj" fmla="val 7476"/>
            </a:avLst>
          </a:prstGeom>
          <a:solidFill>
            <a:srgbClr val="FFFFFF"/>
          </a:solidFill>
          <a:ln w="12700">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9" name="Picture 138" descr="aws.png"/>
          <p:cNvPicPr>
            <a:picLocks noChangeAspect="1"/>
          </p:cNvPicPr>
          <p:nvPr/>
        </p:nvPicPr>
        <p:blipFill>
          <a:blip r:embed="rId11"/>
          <a:stretch>
            <a:fillRect/>
          </a:stretch>
        </p:blipFill>
        <p:spPr>
          <a:xfrm>
            <a:off x="16678656" y="7699217"/>
            <a:ext cx="795528" cy="475548"/>
          </a:xfrm>
          <a:prstGeom prst="rect">
            <a:avLst/>
          </a:prstGeom>
        </p:spPr>
      </p:pic>
      <p:sp>
        <p:nvSpPr>
          <p:cNvPr id="140" name="Rectangle 139"/>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42" name="TextBox 141"/>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43" name="TextBox 14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추론 스택 지도(2026-09) · 고객 전문가(고전가) 조직은 과제팀 제언 · 로고는 식별 표시</a:t>
            </a:r>
          </a:p>
        </p:txBody>
      </p:sp>
      <p:sp>
        <p:nvSpPr>
          <p:cNvPr id="144" name="TextBox 14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8 / 8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AI 추론</a:t>
            </a:r>
          </a:p>
          <a:p>
            <a:pPr algn="l">
              <a:lnSpc>
                <a:spcPct val="100000"/>
              </a:lnSpc>
            </a:pPr>
            <a:r>
              <a:rPr sz="1600" b="1">
                <a:solidFill>
                  <a:srgbClr val="3C4FA5"/>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677ECD"/>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677EC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677ECD"/>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677ECD"/>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677ECD"/>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3C4FA5"/>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