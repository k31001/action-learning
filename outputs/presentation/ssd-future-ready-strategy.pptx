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일부 기여가 있으며, 추론 엔진은 비어 있습니다. 데이터의 수명 정보는 KV 캐시 관리자 층에 있는데 그것을 SSD 배치로 내려보내는 경로가 아직 없어서, 스택 전체를 읽고 이 경로를 고객과 함께 만드는 것이 역량입니다. 고객 관계도 엔지니어와 엔지니어 사이까지 넓혀야 합니다. 셋째 사람입니다. 스펙 문서로는 명시된 요구만 옵니다. Palantir의 FDE처럼 고객 안에 상주해 워크로드 측정과 분석, 호스트 소프트웨어 스택 최적화와 평가, 차세대 제품 기술 교류를 합니다. [제언] 이를 실행할 조직으로 고객 전문가, 줄여서 고전가 Expert Group을 고객 사이트에 새로 만들 것을 제안합니다. 기술로는 SSD와 호스트 시스템을 함께 이해하고 차세대 구조를 고객과 함께 제안하는 아키텍트 수준이어야 하고, 문화로는 고객과 언어 소통에 막힘이 없어야 하며 문화적 배경까지 같다면 금상첨화입니다. 구글과 메타 사이트에서 먼저 시작하고, 이후 다른 하이퍼스케일러로 넓힙니다.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5.png"/><Relationship Id="rId11" Type="http://schemas.openxmlformats.org/officeDocument/2006/relationships/image" Target="../media/image4.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45536"/>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11296"/>
            <a:ext cx="438912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11296"/>
            <a:ext cx="427939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041648"/>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407408"/>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81728"/>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065776"/>
            <a:ext cx="3429000" cy="384048"/>
          </a:xfrm>
          <a:prstGeom prst="roundRect">
            <a:avLst>
              <a:gd name="adj" fmla="val 19047"/>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065776"/>
            <a:ext cx="3319272" cy="384048"/>
          </a:xfrm>
          <a:prstGeom prst="rect">
            <a:avLst/>
          </a:prstGeom>
          <a:noFill/>
        </p:spPr>
        <p:txBody>
          <a:bodyPr wrap="square" anchor="ctr" lIns="0" rIns="0" tIns="0" bIns="0">
            <a:spAutoFit/>
          </a:bodyPr>
          <a:lstStyle/>
          <a:p>
            <a:pPr algn="ctr">
              <a:lnSpc>
                <a:spcPct val="110000"/>
              </a:lnSpc>
            </a:pPr>
            <a:r>
              <a:rPr sz="1700" b="0">
                <a:solidFill>
                  <a:srgbClr val="555555"/>
                </a:solidFill>
                <a:latin typeface="Arial"/>
                <a:ea typeface="Arial"/>
              </a:rPr>
              <a:t>자본 연계 (선택)</a:t>
            </a:r>
          </a:p>
        </p:txBody>
      </p:sp>
      <p:sp>
        <p:nvSpPr>
          <p:cNvPr id="21" name="Rounded Rectangle 20"/>
          <p:cNvSpPr/>
          <p:nvPr/>
        </p:nvSpPr>
        <p:spPr>
          <a:xfrm>
            <a:off x="722376" y="5504688"/>
            <a:ext cx="3429000" cy="384048"/>
          </a:xfrm>
          <a:prstGeom prst="roundRect">
            <a:avLst>
              <a:gd name="adj" fmla="val 19047"/>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504688"/>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운영 통합</a:t>
            </a:r>
          </a:p>
        </p:txBody>
      </p:sp>
      <p:sp>
        <p:nvSpPr>
          <p:cNvPr id="23" name="Rounded Rectangle 22"/>
          <p:cNvSpPr/>
          <p:nvPr/>
        </p:nvSpPr>
        <p:spPr>
          <a:xfrm>
            <a:off x="722376" y="5943600"/>
            <a:ext cx="3429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943600"/>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공동 설계 · 최적화</a:t>
            </a:r>
          </a:p>
        </p:txBody>
      </p:sp>
      <p:sp>
        <p:nvSpPr>
          <p:cNvPr id="25" name="Rounded Rectangle 24"/>
          <p:cNvSpPr/>
          <p:nvPr/>
        </p:nvSpPr>
        <p:spPr>
          <a:xfrm>
            <a:off x="722376" y="6382512"/>
            <a:ext cx="3429000" cy="384048"/>
          </a:xfrm>
          <a:prstGeom prst="roundRect">
            <a:avLst>
              <a:gd name="adj" fmla="val 19047"/>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382512"/>
            <a:ext cx="3319272" cy="38404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MYD (다년 물량)</a:t>
            </a:r>
          </a:p>
        </p:txBody>
      </p:sp>
      <p:sp>
        <p:nvSpPr>
          <p:cNvPr id="27" name="Rectangle 26"/>
          <p:cNvSpPr/>
          <p:nvPr/>
        </p:nvSpPr>
        <p:spPr>
          <a:xfrm>
            <a:off x="4242816" y="5504688"/>
            <a:ext cx="32004" cy="82296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504688"/>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295644"/>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504688"/>
            <a:ext cx="777240" cy="822960"/>
          </a:xfrm>
          <a:prstGeom prst="rect">
            <a:avLst/>
          </a:prstGeom>
          <a:noFill/>
        </p:spPr>
        <p:txBody>
          <a:bodyPr wrap="square" anchor="ctr" lIns="0" rIns="0" tIns="0" bIns="0">
            <a:spAutoFit/>
          </a:bodyPr>
          <a:lstStyle/>
          <a:p>
            <a:pPr algn="l">
              <a:lnSpc>
                <a:spcPct val="95000"/>
              </a:lnSpc>
            </a:pPr>
            <a:r>
              <a:rPr sz="1700" b="1">
                <a:solidFill>
                  <a:srgbClr val="3C4FA5"/>
                </a:solidFill>
                <a:latin typeface="Arial"/>
                <a:ea typeface="Arial"/>
              </a:rPr>
              <a:t>기술</a:t>
            </a:r>
          </a:p>
          <a:p>
            <a:pPr algn="l">
              <a:lnSpc>
                <a:spcPct val="95000"/>
              </a:lnSpc>
            </a:pPr>
            <a:r>
              <a:rPr sz="1700" b="1">
                <a:solidFill>
                  <a:srgbClr val="3C4FA5"/>
                </a:solidFill>
                <a:latin typeface="Arial"/>
                <a:ea typeface="Arial"/>
              </a:rPr>
              <a:t>협력</a:t>
            </a:r>
          </a:p>
        </p:txBody>
      </p:sp>
      <p:sp>
        <p:nvSpPr>
          <p:cNvPr id="31" name="Chevron 30"/>
          <p:cNvSpPr/>
          <p:nvPr/>
        </p:nvSpPr>
        <p:spPr>
          <a:xfrm>
            <a:off x="5248656" y="46634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46634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27248"/>
            <a:ext cx="3749039" cy="512064"/>
          </a:xfrm>
          <a:prstGeom prst="roundRect">
            <a:avLst>
              <a:gd name="adj" fmla="val 14285"/>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2724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추론 엔진</a:t>
            </a:r>
          </a:p>
        </p:txBody>
      </p:sp>
      <p:sp>
        <p:nvSpPr>
          <p:cNvPr id="39" name="TextBox 38"/>
          <p:cNvSpPr txBox="1"/>
          <p:nvPr/>
        </p:nvSpPr>
        <p:spPr>
          <a:xfrm>
            <a:off x="5678424" y="337413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27832"/>
            <a:ext cx="676656" cy="310896"/>
          </a:xfrm>
          <a:prstGeom prst="roundRect">
            <a:avLst>
              <a:gd name="adj" fmla="val 23529"/>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27832"/>
            <a:ext cx="566928"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675887"/>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675887"/>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KV 캐시 관리자</a:t>
            </a:r>
          </a:p>
        </p:txBody>
      </p:sp>
      <p:sp>
        <p:nvSpPr>
          <p:cNvPr id="44" name="TextBox 43"/>
          <p:cNvSpPr txBox="1"/>
          <p:nvPr/>
        </p:nvSpPr>
        <p:spPr>
          <a:xfrm>
            <a:off x="5678424" y="3922775"/>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77647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77647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224528"/>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22452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전송 · I/O</a:t>
            </a:r>
          </a:p>
        </p:txBody>
      </p:sp>
      <p:sp>
        <p:nvSpPr>
          <p:cNvPr id="49" name="TextBox 48"/>
          <p:cNvSpPr txBox="1"/>
          <p:nvPr/>
        </p:nvSpPr>
        <p:spPr>
          <a:xfrm>
            <a:off x="5678424" y="447141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32511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32511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4773168"/>
            <a:ext cx="3749039" cy="512064"/>
          </a:xfrm>
          <a:prstGeom prst="roundRect">
            <a:avLst>
              <a:gd name="adj" fmla="val 14285"/>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4773168"/>
            <a:ext cx="2743199"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커널 · 파일 시스템</a:t>
            </a:r>
          </a:p>
        </p:txBody>
      </p:sp>
      <p:sp>
        <p:nvSpPr>
          <p:cNvPr id="54" name="TextBox 53"/>
          <p:cNvSpPr txBox="1"/>
          <p:nvPr/>
        </p:nvSpPr>
        <p:spPr>
          <a:xfrm>
            <a:off x="5678424" y="5020056"/>
            <a:ext cx="2926079"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4873752"/>
            <a:ext cx="676656"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4873752"/>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321808"/>
            <a:ext cx="3749039"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321808"/>
            <a:ext cx="2743199" cy="27432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SSD 펌웨어</a:t>
            </a:r>
          </a:p>
        </p:txBody>
      </p:sp>
      <p:sp>
        <p:nvSpPr>
          <p:cNvPr id="59" name="TextBox 58"/>
          <p:cNvSpPr txBox="1"/>
          <p:nvPr/>
        </p:nvSpPr>
        <p:spPr>
          <a:xfrm>
            <a:off x="5678424" y="5568696"/>
            <a:ext cx="2926079" cy="256032"/>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422392"/>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422392"/>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5870448"/>
            <a:ext cx="3749039"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5870448"/>
            <a:ext cx="2743199" cy="27432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NAND</a:t>
            </a:r>
          </a:p>
        </p:txBody>
      </p:sp>
      <p:sp>
        <p:nvSpPr>
          <p:cNvPr id="64" name="TextBox 63"/>
          <p:cNvSpPr txBox="1"/>
          <p:nvPr/>
        </p:nvSpPr>
        <p:spPr>
          <a:xfrm>
            <a:off x="5678424" y="6117336"/>
            <a:ext cx="2926079" cy="256032"/>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5971032"/>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5971032"/>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3840480"/>
            <a:ext cx="384048" cy="1828800"/>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822191"/>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370832"/>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303520"/>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6437376"/>
            <a:ext cx="67665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586983" y="6437376"/>
            <a:ext cx="56692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화두</a:t>
            </a:r>
          </a:p>
        </p:txBody>
      </p:sp>
      <p:sp>
        <p:nvSpPr>
          <p:cNvPr id="73" name="TextBox 72"/>
          <p:cNvSpPr txBox="1"/>
          <p:nvPr/>
        </p:nvSpPr>
        <p:spPr>
          <a:xfrm>
            <a:off x="6300216" y="6419088"/>
            <a:ext cx="4764024" cy="347472"/>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고객 관계(CRM)를 </a:t>
            </a:r>
            <a:r>
              <a:rPr sz="1600" b="1">
                <a:solidFill>
                  <a:srgbClr val="3C4FA5"/>
                </a:solidFill>
                <a:latin typeface="Arial"/>
                <a:ea typeface="Arial"/>
              </a:rPr>
              <a:t>엔지니어 ↔ 엔지니어</a:t>
            </a:r>
            <a:r>
              <a:rPr sz="1600" b="1">
                <a:solidFill>
                  <a:srgbClr val="1A1A1A"/>
                </a:solidFill>
                <a:latin typeface="Arial"/>
                <a:ea typeface="Arial"/>
              </a:rPr>
              <a:t>까지</a:t>
            </a:r>
          </a:p>
        </p:txBody>
      </p:sp>
      <p:sp>
        <p:nvSpPr>
          <p:cNvPr id="74" name="Oval 73"/>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76" name="TextBox 75"/>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77" name="Picture 76" descr="palantir.png"/>
          <p:cNvPicPr>
            <a:picLocks noChangeAspect="1"/>
          </p:cNvPicPr>
          <p:nvPr/>
        </p:nvPicPr>
        <p:blipFill>
          <a:blip r:embed="rId4"/>
          <a:stretch>
            <a:fillRect/>
          </a:stretch>
        </p:blipFill>
        <p:spPr>
          <a:xfrm>
            <a:off x="11484864" y="2715768"/>
            <a:ext cx="310896" cy="310896"/>
          </a:xfrm>
          <a:prstGeom prst="rect">
            <a:avLst/>
          </a:prstGeom>
        </p:spPr>
      </p:pic>
      <p:sp>
        <p:nvSpPr>
          <p:cNvPr id="78" name="TextBox 77"/>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79" name="TextBox 78"/>
          <p:cNvSpPr txBox="1"/>
          <p:nvPr/>
        </p:nvSpPr>
        <p:spPr>
          <a:xfrm>
            <a:off x="11484864" y="3145536"/>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80" name="Rounded Rectangle 79"/>
          <p:cNvSpPr/>
          <p:nvPr/>
        </p:nvSpPr>
        <p:spPr>
          <a:xfrm>
            <a:off x="11484864" y="3511296"/>
            <a:ext cx="1554480"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samsung.png"/>
          <p:cNvPicPr>
            <a:picLocks noChangeAspect="1"/>
          </p:cNvPicPr>
          <p:nvPr/>
        </p:nvPicPr>
        <p:blipFill>
          <a:blip r:embed="rId5"/>
          <a:stretch>
            <a:fillRect/>
          </a:stretch>
        </p:blipFill>
        <p:spPr>
          <a:xfrm>
            <a:off x="11622024" y="3659414"/>
            <a:ext cx="1280160" cy="197538"/>
          </a:xfrm>
          <a:prstGeom prst="rect">
            <a:avLst/>
          </a:prstGeom>
        </p:spPr>
      </p:pic>
      <p:sp>
        <p:nvSpPr>
          <p:cNvPr id="82" name="Rounded Rectangle 81"/>
          <p:cNvSpPr/>
          <p:nvPr/>
        </p:nvSpPr>
        <p:spPr>
          <a:xfrm>
            <a:off x="16011144" y="3511296"/>
            <a:ext cx="1554480"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6066008" y="3511296"/>
            <a:ext cx="1444752" cy="49377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84" name="Rectangle 83"/>
          <p:cNvSpPr/>
          <p:nvPr/>
        </p:nvSpPr>
        <p:spPr>
          <a:xfrm>
            <a:off x="13112496" y="3749039"/>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Folded Corner 84"/>
          <p:cNvSpPr/>
          <p:nvPr/>
        </p:nvSpPr>
        <p:spPr>
          <a:xfrm>
            <a:off x="14342364" y="3538727"/>
            <a:ext cx="365760" cy="438912"/>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484864" y="4041648"/>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87" name="Isosceles Triangle 86"/>
          <p:cNvSpPr/>
          <p:nvPr/>
        </p:nvSpPr>
        <p:spPr>
          <a:xfrm rot="10800000">
            <a:off x="14324076" y="4407408"/>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484864" y="4681728"/>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89" name="Rounded Rectangle 88"/>
          <p:cNvSpPr/>
          <p:nvPr/>
        </p:nvSpPr>
        <p:spPr>
          <a:xfrm>
            <a:off x="11484864" y="5065776"/>
            <a:ext cx="6080760" cy="1700784"/>
          </a:xfrm>
          <a:prstGeom prst="roundRect">
            <a:avLst>
              <a:gd name="adj" fmla="val 4301"/>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11612880"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722608"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1722608"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93" name="TextBox 92"/>
          <p:cNvSpPr txBox="1"/>
          <p:nvPr/>
        </p:nvSpPr>
        <p:spPr>
          <a:xfrm>
            <a:off x="11667744"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고객 워크로드</a:t>
            </a:r>
          </a:p>
          <a:p>
            <a:pPr algn="ctr">
              <a:lnSpc>
                <a:spcPct val="100000"/>
              </a:lnSpc>
            </a:pPr>
            <a:r>
              <a:rPr sz="1800" b="1">
                <a:solidFill>
                  <a:srgbClr val="3C4FA5"/>
                </a:solidFill>
                <a:latin typeface="Arial"/>
                <a:ea typeface="Arial"/>
              </a:rPr>
              <a:t>측정 · 분석</a:t>
            </a:r>
          </a:p>
        </p:txBody>
      </p:sp>
      <p:sp>
        <p:nvSpPr>
          <p:cNvPr id="94" name="Chevron 93"/>
          <p:cNvSpPr/>
          <p:nvPr/>
        </p:nvSpPr>
        <p:spPr>
          <a:xfrm>
            <a:off x="13453872" y="5733288"/>
            <a:ext cx="128016" cy="36576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13627608"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737336"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3737336"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98" name="TextBox 97"/>
          <p:cNvSpPr txBox="1"/>
          <p:nvPr/>
        </p:nvSpPr>
        <p:spPr>
          <a:xfrm>
            <a:off x="13682472"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호스트 SW 스택</a:t>
            </a:r>
          </a:p>
          <a:p>
            <a:pPr algn="ctr">
              <a:lnSpc>
                <a:spcPct val="100000"/>
              </a:lnSpc>
            </a:pPr>
            <a:r>
              <a:rPr sz="1800" b="1">
                <a:solidFill>
                  <a:srgbClr val="3C4FA5"/>
                </a:solidFill>
                <a:latin typeface="Arial"/>
                <a:ea typeface="Arial"/>
              </a:rPr>
              <a:t>최적화 · 평가</a:t>
            </a:r>
          </a:p>
        </p:txBody>
      </p:sp>
      <p:sp>
        <p:nvSpPr>
          <p:cNvPr id="99" name="Chevron 98"/>
          <p:cNvSpPr/>
          <p:nvPr/>
        </p:nvSpPr>
        <p:spPr>
          <a:xfrm>
            <a:off x="15468600" y="5733288"/>
            <a:ext cx="128016" cy="36576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15642336" y="5193792"/>
            <a:ext cx="1795272" cy="1444752"/>
          </a:xfrm>
          <a:prstGeom prst="roundRect">
            <a:avLst>
              <a:gd name="adj" fmla="val 5063"/>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15752064" y="53035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752064" y="53035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03" name="TextBox 102"/>
          <p:cNvSpPr txBox="1"/>
          <p:nvPr/>
        </p:nvSpPr>
        <p:spPr>
          <a:xfrm>
            <a:off x="15697200" y="5669279"/>
            <a:ext cx="1685544" cy="914400"/>
          </a:xfrm>
          <a:prstGeom prst="rect">
            <a:avLst/>
          </a:prstGeom>
          <a:noFill/>
        </p:spPr>
        <p:txBody>
          <a:bodyPr wrap="square" anchor="ctr" lIns="0" rIns="0" tIns="0" bIns="0">
            <a:spAutoFit/>
          </a:bodyPr>
          <a:lstStyle/>
          <a:p>
            <a:pPr algn="ctr">
              <a:lnSpc>
                <a:spcPct val="100000"/>
              </a:lnSpc>
            </a:pPr>
            <a:r>
              <a:rPr sz="1500" b="0">
                <a:solidFill>
                  <a:srgbClr val="555555"/>
                </a:solidFill>
                <a:latin typeface="Arial"/>
                <a:ea typeface="Arial"/>
              </a:rPr>
              <a:t>차세대 제품</a:t>
            </a:r>
          </a:p>
          <a:p>
            <a:pPr algn="ctr">
              <a:lnSpc>
                <a:spcPct val="100000"/>
              </a:lnSpc>
            </a:pPr>
            <a:r>
              <a:rPr sz="1800" b="1">
                <a:solidFill>
                  <a:srgbClr val="3C4FA5"/>
                </a:solidFill>
                <a:latin typeface="Arial"/>
                <a:ea typeface="Arial"/>
              </a:rPr>
              <a:t>기술 교류</a:t>
            </a:r>
          </a:p>
        </p:txBody>
      </p:sp>
      <p:sp>
        <p:nvSpPr>
          <p:cNvPr id="104" name="Oval 103"/>
          <p:cNvSpPr/>
          <p:nvPr/>
        </p:nvSpPr>
        <p:spPr>
          <a:xfrm>
            <a:off x="12932664" y="5303520"/>
            <a:ext cx="274320" cy="274320"/>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rot="2700000">
            <a:off x="13152120" y="5550408"/>
            <a:ext cx="164592"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4910816" y="5303520"/>
            <a:ext cx="365760" cy="82296"/>
          </a:xfrm>
          <a:prstGeom prst="roundRect">
            <a:avLst>
              <a:gd name="adj" fmla="val 5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14910816" y="5413248"/>
            <a:ext cx="365760" cy="82296"/>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14910816" y="5522976"/>
            <a:ext cx="365760" cy="82296"/>
          </a:xfrm>
          <a:prstGeom prst="roundRect">
            <a:avLst>
              <a:gd name="adj" fmla="val 5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ular Callout 108"/>
          <p:cNvSpPr/>
          <p:nvPr/>
        </p:nvSpPr>
        <p:spPr>
          <a:xfrm>
            <a:off x="16888968" y="5285231"/>
            <a:ext cx="420624" cy="292608"/>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722376" y="6949440"/>
            <a:ext cx="3017520" cy="1664207"/>
          </a:xfrm>
          <a:prstGeom prst="roundRect">
            <a:avLst>
              <a:gd name="adj" fmla="val 43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868680" y="7077456"/>
            <a:ext cx="676656" cy="310896"/>
          </a:xfrm>
          <a:prstGeom prst="roundRect">
            <a:avLst>
              <a:gd name="adj" fmla="val 235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23544" y="7077456"/>
            <a:ext cx="566928"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제언</a:t>
            </a:r>
          </a:p>
        </p:txBody>
      </p:sp>
      <p:sp>
        <p:nvSpPr>
          <p:cNvPr id="113" name="TextBox 112"/>
          <p:cNvSpPr txBox="1"/>
          <p:nvPr/>
        </p:nvSpPr>
        <p:spPr>
          <a:xfrm>
            <a:off x="868680" y="7424928"/>
            <a:ext cx="2743200" cy="420624"/>
          </a:xfrm>
          <a:prstGeom prst="rect">
            <a:avLst/>
          </a:prstGeom>
          <a:noFill/>
        </p:spPr>
        <p:txBody>
          <a:bodyPr wrap="square" anchor="ctr" lIns="0" rIns="0" tIns="0" bIns="0">
            <a:spAutoFit/>
          </a:bodyPr>
          <a:lstStyle/>
          <a:p>
            <a:pPr algn="l">
              <a:lnSpc>
                <a:spcPct val="110000"/>
              </a:lnSpc>
            </a:pPr>
            <a:r>
              <a:rPr sz="2000" b="1">
                <a:solidFill>
                  <a:srgbClr val="FFFFFF"/>
                </a:solidFill>
                <a:latin typeface="Arial"/>
                <a:ea typeface="Arial"/>
              </a:rPr>
              <a:t>고객 전문가(고전가)</a:t>
            </a:r>
          </a:p>
        </p:txBody>
      </p:sp>
      <p:sp>
        <p:nvSpPr>
          <p:cNvPr id="114" name="TextBox 113"/>
          <p:cNvSpPr txBox="1"/>
          <p:nvPr/>
        </p:nvSpPr>
        <p:spPr>
          <a:xfrm>
            <a:off x="868680" y="7845552"/>
            <a:ext cx="2743200" cy="694943"/>
          </a:xfrm>
          <a:prstGeom prst="rect">
            <a:avLst/>
          </a:prstGeom>
          <a:noFill/>
        </p:spPr>
        <p:txBody>
          <a:bodyPr wrap="square" anchor="ctr" lIns="0" rIns="0" tIns="0" bIns="0">
            <a:spAutoFit/>
          </a:bodyPr>
          <a:lstStyle/>
          <a:p>
            <a:pPr algn="l">
              <a:lnSpc>
                <a:spcPct val="100000"/>
              </a:lnSpc>
            </a:pPr>
            <a:r>
              <a:rPr sz="1600" b="1">
                <a:solidFill>
                  <a:srgbClr val="C0CAEC"/>
                </a:solidFill>
                <a:latin typeface="Arial"/>
                <a:ea typeface="Arial"/>
              </a:rPr>
              <a:t>Expert Group</a:t>
            </a:r>
          </a:p>
          <a:p>
            <a:pPr algn="l">
              <a:lnSpc>
                <a:spcPct val="100000"/>
              </a:lnSpc>
            </a:pPr>
            <a:r>
              <a:rPr sz="1600" b="1">
                <a:solidFill>
                  <a:srgbClr val="FFFFFF"/>
                </a:solidFill>
                <a:latin typeface="Arial"/>
                <a:ea typeface="Arial"/>
              </a:rPr>
              <a:t>고객 사이트에 신설</a:t>
            </a:r>
          </a:p>
        </p:txBody>
      </p:sp>
      <p:sp>
        <p:nvSpPr>
          <p:cNvPr id="115" name="Chevron 114"/>
          <p:cNvSpPr/>
          <p:nvPr/>
        </p:nvSpPr>
        <p:spPr>
          <a:xfrm>
            <a:off x="3813048" y="7552944"/>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4050791" y="6949440"/>
            <a:ext cx="4206240" cy="1664207"/>
          </a:xfrm>
          <a:prstGeom prst="roundRect">
            <a:avLst>
              <a:gd name="adj" fmla="val 4395"/>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7" name="Picture 116" descr="render_ssd.png"/>
          <p:cNvPicPr>
            <a:picLocks noChangeAspect="1"/>
          </p:cNvPicPr>
          <p:nvPr/>
        </p:nvPicPr>
        <p:blipFill>
          <a:blip r:embed="rId6"/>
          <a:stretch>
            <a:fillRect/>
          </a:stretch>
        </p:blipFill>
        <p:spPr>
          <a:xfrm>
            <a:off x="4265634" y="7269480"/>
            <a:ext cx="1083646" cy="402336"/>
          </a:xfrm>
          <a:prstGeom prst="rect">
            <a:avLst/>
          </a:prstGeom>
        </p:spPr>
      </p:pic>
      <p:pic>
        <p:nvPicPr>
          <p:cNvPr id="118" name="Picture 117" descr="render_server.png"/>
          <p:cNvPicPr>
            <a:picLocks noChangeAspect="1"/>
          </p:cNvPicPr>
          <p:nvPr/>
        </p:nvPicPr>
        <p:blipFill>
          <a:blip r:embed="rId7"/>
          <a:stretch>
            <a:fillRect/>
          </a:stretch>
        </p:blipFill>
        <p:spPr>
          <a:xfrm>
            <a:off x="4380173" y="7671816"/>
            <a:ext cx="854568" cy="502920"/>
          </a:xfrm>
          <a:prstGeom prst="rect">
            <a:avLst/>
          </a:prstGeom>
        </p:spPr>
      </p:pic>
      <p:sp>
        <p:nvSpPr>
          <p:cNvPr id="119" name="TextBox 118"/>
          <p:cNvSpPr txBox="1"/>
          <p:nvPr/>
        </p:nvSpPr>
        <p:spPr>
          <a:xfrm>
            <a:off x="5477256" y="7022592"/>
            <a:ext cx="2688335" cy="42062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기술</a:t>
            </a:r>
            <a:r>
              <a:rPr sz="1800" b="1">
                <a:solidFill>
                  <a:srgbClr val="1A1A1A"/>
                </a:solidFill>
                <a:latin typeface="Arial"/>
                <a:ea typeface="Arial"/>
              </a:rPr>
              <a:t>  아키텍트 수준</a:t>
            </a:r>
          </a:p>
        </p:txBody>
      </p:sp>
      <p:sp>
        <p:nvSpPr>
          <p:cNvPr id="120" name="TextBox 119"/>
          <p:cNvSpPr txBox="1"/>
          <p:nvPr/>
        </p:nvSpPr>
        <p:spPr>
          <a:xfrm>
            <a:off x="5477256" y="7461504"/>
            <a:ext cx="2688335" cy="1078991"/>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SSD ↔ 호스트 시스템을 함께 이해 · 차세대 구조 공동 제안</a:t>
            </a:r>
          </a:p>
        </p:txBody>
      </p:sp>
      <p:sp>
        <p:nvSpPr>
          <p:cNvPr id="121" name="Rounded Rectangle 120"/>
          <p:cNvSpPr/>
          <p:nvPr/>
        </p:nvSpPr>
        <p:spPr>
          <a:xfrm>
            <a:off x="8403336" y="6949440"/>
            <a:ext cx="4206240" cy="1664207"/>
          </a:xfrm>
          <a:prstGeom prst="roundRect">
            <a:avLst>
              <a:gd name="adj" fmla="val 4395"/>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8659459" y="7452360"/>
            <a:ext cx="253471" cy="25347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 Same Side Corner Rectangle 122"/>
          <p:cNvSpPr/>
          <p:nvPr/>
        </p:nvSpPr>
        <p:spPr>
          <a:xfrm>
            <a:off x="8567928" y="7748076"/>
            <a:ext cx="436534" cy="408371"/>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9297161" y="7452360"/>
            <a:ext cx="253471" cy="25347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 Same Side Corner Rectangle 124"/>
          <p:cNvSpPr/>
          <p:nvPr/>
        </p:nvSpPr>
        <p:spPr>
          <a:xfrm>
            <a:off x="9205630" y="7748076"/>
            <a:ext cx="436534" cy="408371"/>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ular Callout 125"/>
          <p:cNvSpPr/>
          <p:nvPr/>
        </p:nvSpPr>
        <p:spPr>
          <a:xfrm>
            <a:off x="8742541" y="7150608"/>
            <a:ext cx="623620" cy="321868"/>
          </a:xfrm>
          <a:prstGeom prst="wedgeRoundRectCallout">
            <a:avLst/>
          </a:prstGeom>
          <a:solidFill>
            <a:srgbClr val="FFFFFF"/>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829800" y="7022592"/>
            <a:ext cx="2688335" cy="42062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문화</a:t>
            </a:r>
            <a:r>
              <a:rPr sz="1800" b="1">
                <a:solidFill>
                  <a:srgbClr val="1A1A1A"/>
                </a:solidFill>
                <a:latin typeface="Arial"/>
                <a:ea typeface="Arial"/>
              </a:rPr>
              <a:t>  고객과 같은 언어</a:t>
            </a:r>
          </a:p>
        </p:txBody>
      </p:sp>
      <p:sp>
        <p:nvSpPr>
          <p:cNvPr id="128" name="TextBox 127"/>
          <p:cNvSpPr txBox="1"/>
          <p:nvPr/>
        </p:nvSpPr>
        <p:spPr>
          <a:xfrm>
            <a:off x="9829800" y="7461504"/>
            <a:ext cx="2688335" cy="1078991"/>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언어 소통에 막힘 없음 · 같은 문화적 배경이면 금상첨화</a:t>
            </a:r>
          </a:p>
        </p:txBody>
      </p:sp>
      <p:sp>
        <p:nvSpPr>
          <p:cNvPr id="129" name="Chevron 128"/>
          <p:cNvSpPr/>
          <p:nvPr/>
        </p:nvSpPr>
        <p:spPr>
          <a:xfrm>
            <a:off x="12682728" y="7552944"/>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2920472" y="6949440"/>
            <a:ext cx="4645152" cy="31089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고객 사이트</a:t>
            </a:r>
            <a:r>
              <a:rPr sz="1500" b="0">
                <a:solidFill>
                  <a:srgbClr val="555555"/>
                </a:solidFill>
                <a:latin typeface="Arial"/>
                <a:ea typeface="Arial"/>
              </a:rPr>
              <a:t>  우선 시작 → 하이퍼스케일러 확장</a:t>
            </a:r>
          </a:p>
        </p:txBody>
      </p:sp>
      <p:sp>
        <p:nvSpPr>
          <p:cNvPr id="131" name="Rounded Rectangle 130"/>
          <p:cNvSpPr/>
          <p:nvPr/>
        </p:nvSpPr>
        <p:spPr>
          <a:xfrm>
            <a:off x="12920472" y="7333488"/>
            <a:ext cx="978408" cy="1207007"/>
          </a:xfrm>
          <a:prstGeom prst="roundRect">
            <a:avLst>
              <a:gd name="adj" fmla="val 7476"/>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google.png"/>
          <p:cNvPicPr>
            <a:picLocks noChangeAspect="1"/>
          </p:cNvPicPr>
          <p:nvPr/>
        </p:nvPicPr>
        <p:blipFill>
          <a:blip r:embed="rId8"/>
          <a:stretch>
            <a:fillRect/>
          </a:stretch>
        </p:blipFill>
        <p:spPr>
          <a:xfrm>
            <a:off x="13011911" y="7806613"/>
            <a:ext cx="795528" cy="260756"/>
          </a:xfrm>
          <a:prstGeom prst="rect">
            <a:avLst/>
          </a:prstGeom>
        </p:spPr>
      </p:pic>
      <p:sp>
        <p:nvSpPr>
          <p:cNvPr id="133" name="Rounded Rectangle 132"/>
          <p:cNvSpPr/>
          <p:nvPr/>
        </p:nvSpPr>
        <p:spPr>
          <a:xfrm>
            <a:off x="13990319" y="7333488"/>
            <a:ext cx="978408" cy="1207007"/>
          </a:xfrm>
          <a:prstGeom prst="roundRect">
            <a:avLst>
              <a:gd name="adj" fmla="val 7476"/>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4" name="Picture 133" descr="meta.png"/>
          <p:cNvPicPr>
            <a:picLocks noChangeAspect="1"/>
          </p:cNvPicPr>
          <p:nvPr/>
        </p:nvPicPr>
        <p:blipFill>
          <a:blip r:embed="rId9"/>
          <a:stretch>
            <a:fillRect/>
          </a:stretch>
        </p:blipFill>
        <p:spPr>
          <a:xfrm>
            <a:off x="14081759" y="7856113"/>
            <a:ext cx="795528" cy="161757"/>
          </a:xfrm>
          <a:prstGeom prst="rect">
            <a:avLst/>
          </a:prstGeom>
        </p:spPr>
      </p:pic>
      <p:sp>
        <p:nvSpPr>
          <p:cNvPr id="135" name="Right Arrow 134"/>
          <p:cNvSpPr/>
          <p:nvPr/>
        </p:nvSpPr>
        <p:spPr>
          <a:xfrm>
            <a:off x="15078455" y="7818120"/>
            <a:ext cx="329184" cy="237744"/>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15517367" y="7333488"/>
            <a:ext cx="978408" cy="1207007"/>
          </a:xfrm>
          <a:prstGeom prst="roundRect">
            <a:avLst>
              <a:gd name="adj" fmla="val 747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7" name="Picture 136" descr="microsoft.png"/>
          <p:cNvPicPr>
            <a:picLocks noChangeAspect="1"/>
          </p:cNvPicPr>
          <p:nvPr/>
        </p:nvPicPr>
        <p:blipFill>
          <a:blip r:embed="rId10"/>
          <a:stretch>
            <a:fillRect/>
          </a:stretch>
        </p:blipFill>
        <p:spPr>
          <a:xfrm>
            <a:off x="15608808" y="7851693"/>
            <a:ext cx="795528" cy="170596"/>
          </a:xfrm>
          <a:prstGeom prst="rect">
            <a:avLst/>
          </a:prstGeom>
        </p:spPr>
      </p:pic>
      <p:sp>
        <p:nvSpPr>
          <p:cNvPr id="138" name="Rounded Rectangle 137"/>
          <p:cNvSpPr/>
          <p:nvPr/>
        </p:nvSpPr>
        <p:spPr>
          <a:xfrm>
            <a:off x="16587216" y="7333488"/>
            <a:ext cx="978408" cy="1207007"/>
          </a:xfrm>
          <a:prstGeom prst="roundRect">
            <a:avLst>
              <a:gd name="adj" fmla="val 747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9" name="Picture 138" descr="aws.png"/>
          <p:cNvPicPr>
            <a:picLocks noChangeAspect="1"/>
          </p:cNvPicPr>
          <p:nvPr/>
        </p:nvPicPr>
        <p:blipFill>
          <a:blip r:embed="rId11"/>
          <a:stretch>
            <a:fillRect/>
          </a:stretch>
        </p:blipFill>
        <p:spPr>
          <a:xfrm>
            <a:off x="16678656" y="7699217"/>
            <a:ext cx="795528" cy="475548"/>
          </a:xfrm>
          <a:prstGeom prst="rect">
            <a:avLst/>
          </a:prstGeom>
        </p:spPr>
      </p:pic>
      <p:sp>
        <p:nvSpPr>
          <p:cNvPr id="140" name="Rectangle 139"/>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2" name="TextBox 141"/>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43" name="TextBox 14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고객 전문가(고전가) 조직은 과제팀 제언 · 로고는 식별 표시</a:t>
            </a:r>
          </a:p>
        </p:txBody>
      </p:sp>
      <p:sp>
        <p:nvSpPr>
          <p:cNvPr id="144" name="TextBox 14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