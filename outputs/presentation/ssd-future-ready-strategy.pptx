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59" r:id="rId11"/>
    <p:sldId id="260" r:id="rId12"/>
    <p:sldId id="261" r:id="rId13"/>
    <p:sldId id="263" r:id="rId1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 수요의 모양과 삼성의 대응 현황입니다. HBM에서 삼성 점유율은 2022년 40퍼센트에서 2025년 2분기 17퍼센트로, SK하이닉스는 50에서 62퍼센트로 갈렸습니다. 하나의 수요를 늦게 읽으면 첫 호황을 놓친다는 교훈입니다. 그래서 하이퍼스케일러의 데이터센터 응용 네 가지를 SSD에 요구하는 특성으로 비교했습니다. 범용 클라우드는 여러 VM이 SSD를 나눠 써서 QoS와 격리가 요구입니다. 하드웨어로 격리하면 p99 지연이 최대 3.1배 줄었습니다. AI 학습에서 SSD는 GPU 서버에 학습 데이터를 공급하고, 주기적으로 체크포인트를 받아 둡니다. 그래서 요구는 대역과 체크포인트입니다. NVIDIA SuperPOD 가이드를 GPU당으로 환산하면 멀티모달 학습은 기본 0.16에서 0.49기가바이트 매초로 약 3배의 읽기 대역을 요구하고, 405B 모델은 체크포인트 한 번에 약 5.7테라바이트를 씁니다. AI 추론에서 SSD는 GPU HBM과 CPU DRAM 아래의 메모리 계층입니다. 긴 문맥의 KV 캐시가 HBM과 DRAM을 넘치면 SSD로 내려가고, 같은 문맥을 다시 쓸 때 다시 올라옵니다. RAG 색인과 모델 가중치도 SSD에 둡니다. 그래서 DWPD만의 문제가 아니라 세 가지를 함께 봐야 합니다. 첫째 읽기 대역입니다. 70B 모델의 128K 토큰 KV 캐시는 약 43기가바이트이고, 이것을 1초 안에 되살리려면 GPU 8개 서버 기준 GPU당 약 5.4기가바이트 매초가 필요합니다. 과제팀 산술입니다. 공개 측정에서는 문맥이 1K 토큰일 때 다시 계산하는 것보다 빠르려면 23.2기가바이트 매초, 80K 토큰이면 3.5기가바이트 매초가 필요했습니다. 405B 모델 가중치 810기가바이트를 PM1763 한 대로 읽으면 약 28.5초, PM1753이면 약 56초입니다. 둘째 꼬리 지연입니다. MLPerf의 Llama 2 70B 대화형 기준은 첫 토큰 p99 450밀리초, 토큰당 40밀리초입니다. SSD 계층을 넣고도 p99 첫 토큰 목표를 지키면 GPU당 세션을 10.77배 늘릴 수 있었다는 결과가 있고, SSD의 지연 흔들림이 첫 토큰 지연을 키운다는 연구도 있습니다. NVIDIA의 차세대 스토리지 목표도 전력과 꼬리 지연 제약 안에서 IOPS를 최대화하는 것입니다. 셋째 쓰기 내구입니다. KV 캐시 계층 드라이브 실측은 3.2 DWPD로 QLC 정격을 크게 넘고, AI 전용 SSD는 50에서 120 DWPD로 나왔습니다. 에이전트는 사용자마다 VM을 하나씩 주는 구조라 디스크가 메모리보다 13배 크고, 대부분 휴면이라 용량과 TB당 비용이 요구입니다. 아래는 삼성 SSD 포트폴리오가 각 수요를 어떻게 맡고 있는지입니다. 고내구 TLC는 3 DWPD의 PM1755와 PM1745가 쓰기가 많은 KV를 맡고, 체크포인트 간격이 짧아지면 학습에도 쓰일 수 있어 점선으로 두었습니다. 고성능 TLC는 세대로 나눴습니다. 2026년 7월 양산한 PCIe 6.0의 PM1763은 순차 읽기 28.4기가바이트 매초로 학습 데이터 로딩을 맡고, GPU가 직접 512바이트 단위로 읽는 경로를 백서로 보였기 때문에 가중치 로딩과 GPU 직결은 신호로 두었습니다. PCIe 5.0의 PM9D3a와 PM1753은 범용 VM과 DB를 맡고, PM1753은 NVIDIA CMX 같은 KV 계층에 공급됩니다. 고용량 QLC는 BM1743이 122테라바이트까지 객체, 데이터셋, 사용자 VM 디스크를 맡고, 245테라바이트 BM1773이 FMS 2026에서 공개됐습니다. 가중치와 RAG 읽기는 BM1743이 맞지만 삼성이 이 용도로 내세운 적은 없어 점선으로 두었습니다. 맨 아래는 eSSD 수요 비중입니다. TechInsights의 2026년 3분기 보고서 전망으로, 2025년에는 범용 54퍼센트, 학습 15퍼센트, 추론 31퍼센트이고, 2030년에는 범용 15퍼센트, 학습 6퍼센트, 추론 79퍼센트까지 갑니다. 5년 사이 추론이 eSSD 수요의 대부분이 됩니다. 여기서 클릭하면 추론 카드, 추론 열의 삼성 포트폴리오, 추론 수요 비중이 한 줄로 묶입니다. 정리하면 삼성은 TLC와 QLC 제품군으로 응용별 수요를 맡고 있지만, 수요는 추론으로 몰리고 있고 추론은 대역, 꼬리 지연, 내구를 한꺼번에 요구합니다. 그래서 다음 장부터는 확장되는 추론 수요에 집중하겠습니다. SLC급 초고DWPD는 3장에서 포트폴리오 확장의 선택지로 다룹니다. 제품 이미지는 공식 사진을 구할 수 없어 폼팩터를 따라 재현한 것이고, 삼성 모델 사양은 공식 페이지 검색 결과로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 수요를 나눠 보고, 왜 고객과의 협업이 필수인지 보여 드립니다. 추론은 하나의 수요가 아니라 네 가지가 섞여 있습니다. 첫째 모델 가중치입니다. 모델을 올리고 바꾸는 순간의 읽기 대역과 용량이 핵심입니다. Llama 3 8B를 1기가바이트 매초 SSD에서 읽으면 48초, 스트리밍 로더로 14초가 걸렸고, 4기가바이트 매초 SSD에서는 7.5초였습니다. 405B 모델은 약 810기가바이트입니다. 가중치는 모델 제공자의 자산이라 보안도 걸립니다. 기술은 Large Mapping으로 큰 용량을 싸게, Confidential Storage로 키와 증명 체계에 들어가고, Fault Tolerant는 SSD 안에서 해결합니다. 고객 시스템 개발 단계입니다. 둘째 RAG와 벡터 DB입니다. DiskANN은 10억 개 벡터를 64기가바이트 메모리로 초당 5천 건 이상, 평균 3밀리초 안에 찾고, 질의 지연의 70에서 90퍼센트가 SSD 입출력입니다. 그래서 작은 랜덤 읽기의 꼬리 지연과 용량이 핵심입니다. 색인 갱신 쓰기가 읽기를 방해하지 않도록 FDP로 GC를 줄이고, 여러 테넌트를 Multi-Tenant QoS로 나눠야 합니다. FDP가 들어가므로 최적화까지 함께 해야 합니다. 셋째 KV 캐시 오프로드입니다. 대역, 꼬리 지연, DWPD를 모두 요구하는 가장 어려운 수요입니다. 다시 계산하는 것보다 빨라야 의미가 있고, 첫 토큰 p99 목표 안에 들어와야 하며, 쓰기가 많아 3 DWPD 이상이 실측됩니다. 삼성 PM9D3a에 FDP를 적용한 LMCache KV 실험에서 WAF가 2.6에서 1.4로, 읽기 p90 지연이 22퍼센트 줄었습니다. FDP와 Mixed Media는 고객의 KV 관리자와 함께 최적화해야 효과가 납니다. 넷째 에이전트 메모리입니다. 에이전트 호출은 평균 6만 8천 토큰을 입력하고 그중 86퍼센트가 재사용이라 세션과 상태를 오래 저장합니다. 용량, 격리, 보안이 핵심이고, 작은 로그 쓰기를 Mixed Media로 모아 QLC에 싣습니다. 기술 칩의 채도는 고객 협력의 깊이입니다. 가장 진한 FDP와 Mixed Media는 고객 워크로드에서 최적화까지 함께 해야 하고, 중간인 Large Mapping, Multi-Tenant QoS, Confidential Storage는 고객 시스템 개발이 필요하며, 가장 연한 Fault Tolerant는 SSD 안에서 해결합니다. 네 가지 추론 수요 모두 고객 협력이 필요하고, 세 가지는 최적화까지 함께 해야 합니다. 그래서 AI 추론 수요에 대응하려면 고객과의 협업이 필수입니다. 아래 띠는 여섯 기술을 한 줄씩 그린 것입니다. FDP는 섞여 있던 데이터를 수명별로 모아 블록을 통째로 지우고, Mixed Media는 작은 쓰기를 pSLC에 모아 QLC로 내리며, Large Mapping은 매핑 단위를 키워 DRAM을 줄입니다. Multi-Tenant QoS는 테넌트를 격리하고, Confidential Storage는 암호화와 증명, 키 관리를, Fault Tolerant는 고장 다이만 격리합니다. 여기서 클릭하면 FDP, Mixed Media, Large Mapping 세 기술이 강조됩니다. KV 캐시를 비롯한 추론 수요에 가장 많이 걸리는 세 기술이고, 다음 장에서 이 세 기술로 무엇이 좋아지고 포트폴리오가 어떻게 넓어지는지 자세히 말씀드리겠습니다. 요구와 기술의 대응, 협력 단계는 과제팀의 판단이고, 수치는 대부분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SSD 차별화 요구가 어떻게 바뀌어 왔고, 그 변화에 대비한 기술로 포트폴리오를 어떻게 완성할지입니다. 맨 위 띠를 보시면, 지난 20년 동안 SSD를 차별화하는 요구는 계속 바뀌었습니다. 처음에는 HDD보다 빠른 성능, 곧 IOPS와 대역이었고, 이후 같은 성능을 더 적은 전력으로 내는 전력 효율이 됐습니다. 데이터센터로 들어오면서 여러 VM이 한 드라이브를 나눠 쓰니 VM 단위의 QoS 보장이 중요해졌습니다. 그리고 AI 시대에는 예측 가능한 QoS, 고용량, 고내구가 함께 중요해지고 있습니다. 2장의 세 기술, FDP, Mixed Media, Large Mapping으로 우리가 차별화하려는 것이 바로 QLC의 고용량과 고객 워크로드에 맞춘 내구성입니다. 이 띠의 시기 구분은 과제팀의 정리입니다. 먼저 원리입니다. SSD는 빈 블록을 만들려고 살아 있는 데이터를 옮기는 GC를 합니다. 그동안 읽기는 프로그램과 지우기 뒤에서 기다리고, 지우기는 블록당 약 10밀리초가 걸립니다. 그래서 GC가 일어날 때마다 지연 스파이크가 생기고, 연구에서는 GC가 99에서 99.99 백분위 지연을 5배에서 138배까지 키웠습니다. 세 기술은 GC를 세 방향으로 줄입니다. Mixed Media는 작은 쓰기를 pSLC에 모아 QLC에는 큰 단위로만 쓰므로 블록이 덜 조각나 GC 빈도가 줍니다. Large Mapping은 매핑 단위에 맞춘 큰 쓰기만 받으니 부분 덮어쓰기와 매핑 갱신이 줄어 GC 횟수가 줍니다. FDP는 수명이 같은 데이터를 같은 블록에 모아, 블록이 통째로 지워지니 옮길 데이터가 거의 없어 GC 시간이 줍니다. GC가 드물고 짧아지면 지연이 예측 가능해집니다. 그 결과 지표가 좋아집니다. WAF에서 1을 뺀 값이 호스트 쓰기 하나당 GC가 옮기는 양인데, 삼성 엔지니어가 Meta의 CacheLib 안에 FDP를 구현했을 때 WAF가 3.22에서 1.03으로 68퍼센트, GC 복사량은 2.22에서 0.03으로 줄었습니다. WAF는 SSD만 잘 만들어서는 3 근처에서 더 내려가지 않던 지표이고, 그 이유는 참고 5장에 정리해 두었습니다. 상자를 누르면 그 장으로 갑니다. 꼬리 지연도 줍니다. 삼성 PM9D3a 7.68테라바이트에서 RocksDB에 FDP 최적화 분류를 적용하자 p99.9 꼬리 지연이 55퍼센트 줄었고, ZNS, Valet, WALTZ 같은 공개 실험에서도 1.5배에서 6배 줄었습니다. 다만 꼬리 지연 측정은 모두 TLC이고, QLC나 KV 캐시 계층의 첫 토큰 p99를 직접 잰 결과는 아직 없으며, 칩 사이 큐 불균형이 주원인이라는 반대 연구도 있습니다. 이제 포트폴리오입니다. 오른쪽 3D 그림의 바닥은 정격 DWPD와 최대 용량, 높이는 꼬리 지연이 낮을수록 위입니다. 처음에는 지금의 제품군 기둥만 보이고, 클릭할 때마다 QLC, TLC, 고내구 TLC, SLC급 순서로 WAF와 꼬리 지연을 낮춘 뒤 닿는 영역이 점선 상자로 넓어지며 오른쪽 카드에 DWPD 변화가 나타납니다. 같은 NAND와 같은 OP에서 WAF가 3에서 1로 내려가면 정격 DWPD는 약 3배가 됩니다. 과제팀 산술입니다. BM1743 같은 QLC가 0.3에서 1 DWPD가 되면 지금 TLC가 맡는 KV 캐시 오프로드까지 원가 우위로 들어갈 수 있고, PM1753 같은 고성능 TLC가 1에서 3 DWPD가 되면 쓰기가 많은 KV를 맡을 수 있습니다. PM1755 같은 고내구 TLC는 3에서 9 DWPD로 초고DWPD의 입구까지 가고, SLC급에서 WAF를 낮추면 30 DWPD가 100 근처로 올라갑니다. 초고DWPD가 필요해지면 TLC의 WAF를 낮춰 대응할지, SLC급을 극한으로 올릴지 요구에 따라 고를 수 있습니다. 정리하면, 새로운 차별화 요구에 대비한 기술을 미리 준비해야 미래의 추론 수요에 능동적으로 대응하는 제품 포트폴리오를 완성할 수 있습니다. 꼬리 지연 높이는 정성 등급이고,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5장입니다. 3장의 WAF가 왜 SSD만으로는 3 근처에 머물렀는지,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6장은 3장의 첫 번째 확장, 곧 QLC가 TLC 수요로 들어가는 사업 기회를 숫자로 본 것입니다. 질문은 하나입니다. WAF를 낮춰 QLC를 1 DWPD로 올리면 QLC 시장이 어디까지 넓어지는가입니다. 2030년 eSSD 수요를 McKinsey와 SK하이닉스 전망의 중간인 약 1,500엑사바이트로 보면, 지금 경로의 QLC는 약 636엑사바이트, 약 42퍼센트입니다. 여기에 세 몫이 더해집니다. 첫째, 성능은 QLC로 충분한데 조달 규격이 1 DWPD라서 TLC를 쓰던 내구 규격만 수요가 약 192엑사바이트입니다. 시나리오에 따라 46에서 509엑사바이트로 넓습니다. WAF를 낮춰 QLC 정격이 1 DWPD에 닿으면 바로 들어갈 몫입니다. 둘째, 관행과 가격으로 TLC를 쓰던 약 64엑사바이트는 원가와 공급, 인증으로 가져옵니다. 셋째, 성능 때문에 TLC를 쓰던 수요 가운데 꼬리 지연을 극복해 20에서 40퍼센트를 가져오면 63에서 125엑사바이트가 더해집니다. 그러면 QLC는 약 955에서 1,017엑사바이트, eSSD의 63에서 68퍼센트까지 넓어집니다. 성능이 결정적인 수요와 고내구, KV 캐시 약 490에서 550엑사바이트는 TLC로 남습니다. 오른쪽은 비중입니다. QLC 비중은 2026년 지금 경로 18퍼센트에서 잠재 53에서 60퍼센트, 2030년 42퍼센트에서 63에서 68퍼센트입니다. 2026년 값은 공급 부족을 무시한 잠재치입니다. WAF를 낮추는 기술은 2장의 두 가지입니다. 단기에는 Mixed Media로 작은 쓰기를 모아 쓰고, 중장기에는 고객과 FDP로 WAF를 근원적으로 낮춥니다. TLC 분할 비율은 공개 자료가 없어 과제팀이 가정한 값이며, 실제 범위는 넓습니다. 그래도 방향은 분명합니다.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보안 기회입니다. 2장에서 모델 가중치와 에이전트 메모리에 걸린 Confidential Storage도 고객 협력이 필요한 기술이라고 말씀드렸는데, 그 수요와 협력 방식을 보겠습니다. 첫째, 수요입니다. McKinsey는 소버린 AI 시장이 2025년 1,500억에서 2,000억 달러에서 2030년 5,000억에서 6,000억 달러로 약 3배 커진다고 봅니다. Gartner는 AI를 자기 데이터센터에서 직접 돌리는 기업이 2025년 초 약 2퍼센트에서 2028년 20퍼센트 이상이 된다고 봅니다. NVIDIA의 소버린 매출은 FY26에 300억 달러를 넘었고, Dell의 AI Factory 고객은 6,500곳을 넘었습니다. 둘째, 왜 보안인가입니다. 기업의 온프렘 AI 데이터센터에는 주인이 다른 두 자산이 함께 놓입니다. 모델 제공자의 LLM 가중치, 예를 들어 405B 모델이면 FP16으로 약 810기가바이트와, 기업의 민감 데이터, RAG, KV 캐시입니다. 설문에서는 소버니티와 프라이버시가 AI 과제 지연의 1위 요인이라는 응답이 62퍼센트, 데이터 레지던시 때문에 AI 과제를 미루거나 줄인 곳이 58퍼센트입니다. 기밀 컴퓨팅의 장벽 1위는 증명 검증으로 84퍼센트입니다. 다만 이 설문들 상당수는 벤더가 후원했습니다. 셋째, 어떻게입니다. 공개된 가중치 보호 설계는 가중치를 암호화해 두었다가 TEE 안에서만 푸는 방식이라, SSD 혼자 가중치를 지키는 구조가 아닙니다. 그래서 SSD의 역할은 고객의 신뢰 체계 안에 들어가는 것입니다. 기밀 VM에 SSD를 직접 붙이는 TDISP는 삼성 PM1763이 발표했고, 상대는 CPU와 하이퍼바이저입니다. 드라이브를 증명하는 SPDM은 스토리지 바인딩 표준이 2025년에 나왔고, 상대는 서버 OEM 인증과 증명 검증 서비스입니다. 키 관리는 OCP L.O.C.K. 1.0이 2025년 9월에 나왔고 삼성이 공저자이며, 상대는 클라우드와 OEM의 키 관리 서버입니다. 신뢰 루트 Caliptra는 아직 탑재 SSD가 없습니다. 경고 사례도 있습니다. Dell 17세대 서버에서는 삼성 PM9D3a와 PM9D5a가 SPDM을 지원하지 않아 관련 기능이 실패한다는 KB가 올라와 있습니다. 표준을 따르는 것만으로는 부족하고, 고객과 OEM의 키와 증명 체계에 함께 들어가야 팔립니다. 보안 시장 자체의 규모나 Confidential Storage 시장 전망은 공개 자료에 없어서, 수요는 온프렘 AI의 성장으로 보여 드렸습니다.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2장과 3장에서 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역량에서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셋째, 사람입니다. 이 역량을 고객 현장에서 쓰는 것이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2.png"/><Relationship Id="rId8" Type="http://schemas.openxmlformats.org/officeDocument/2006/relationships/image" Target="../media/image11.png"/><Relationship Id="rId9" Type="http://schemas.openxmlformats.org/officeDocument/2006/relationships/image" Target="../media/image9.png"/><Relationship Id="rId10" Type="http://schemas.openxmlformats.org/officeDocument/2006/relationships/image" Target="../media/image18.png"/><Relationship Id="rId11" Type="http://schemas.openxmlformats.org/officeDocument/2006/relationships/notesSlide" Target="../notesSlides/notesSlide3.xml"/><Relationship Id="rId1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6.png"/><Relationship Id="rId6" Type="http://schemas.openxmlformats.org/officeDocument/2006/relationships/image" Target="../media/image22.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png"/><Relationship Id="rId6" Type="http://schemas.openxmlformats.org/officeDocument/2006/relationships/image" Target="../media/image20.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8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추론은 대역 · 꼬리 지연 · 내구를 한꺼번에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ounded Rectangle 70"/>
          <p:cNvSpPr/>
          <p:nvPr/>
        </p:nvSpPr>
        <p:spPr>
          <a:xfrm>
            <a:off x="7840979" y="2944368"/>
            <a:ext cx="2839212" cy="512064"/>
          </a:xfrm>
          <a:prstGeom prst="roundRect">
            <a:avLst>
              <a:gd name="adj" fmla="val 1428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32420" y="2944368"/>
            <a:ext cx="109728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GPU 서버</a:t>
            </a:r>
          </a:p>
        </p:txBody>
      </p:sp>
      <p:sp>
        <p:nvSpPr>
          <p:cNvPr id="73" name="Rectangle 72"/>
          <p:cNvSpPr/>
          <p:nvPr/>
        </p:nvSpPr>
        <p:spPr>
          <a:xfrm>
            <a:off x="8983980" y="3044951"/>
            <a:ext cx="328041" cy="31089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9385173" y="3044951"/>
            <a:ext cx="328041" cy="31089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9786365" y="3044951"/>
            <a:ext cx="328041" cy="31089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187559" y="3044951"/>
            <a:ext cx="328041" cy="31089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7840979" y="4041648"/>
            <a:ext cx="2839212" cy="420624"/>
          </a:xfrm>
          <a:prstGeom prst="roundRect">
            <a:avLst>
              <a:gd name="adj" fmla="val 1739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840979" y="4041648"/>
            <a:ext cx="2839212" cy="42062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SSD</a:t>
            </a:r>
          </a:p>
        </p:txBody>
      </p:sp>
      <p:sp>
        <p:nvSpPr>
          <p:cNvPr id="79" name="Up Arrow 78"/>
          <p:cNvSpPr/>
          <p:nvPr/>
        </p:nvSpPr>
        <p:spPr>
          <a:xfrm>
            <a:off x="8876538" y="3511296"/>
            <a:ext cx="274320" cy="493776"/>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Down Arrow 79"/>
          <p:cNvSpPr/>
          <p:nvPr/>
        </p:nvSpPr>
        <p:spPr>
          <a:xfrm>
            <a:off x="9370313" y="3511296"/>
            <a:ext cx="274320" cy="493776"/>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840979" y="3566160"/>
            <a:ext cx="980693" cy="384048"/>
          </a:xfrm>
          <a:prstGeom prst="rect">
            <a:avLst/>
          </a:prstGeom>
          <a:noFill/>
        </p:spPr>
        <p:txBody>
          <a:bodyPr wrap="square" anchor="ctr" lIns="0" rIns="0" tIns="0" bIns="0">
            <a:spAutoFit/>
          </a:bodyPr>
          <a:lstStyle/>
          <a:p>
            <a:pPr algn="r">
              <a:lnSpc>
                <a:spcPct val="110000"/>
              </a:lnSpc>
            </a:pPr>
            <a:r>
              <a:rPr sz="1500" b="1">
                <a:solidFill>
                  <a:srgbClr val="1428A0"/>
                </a:solidFill>
                <a:latin typeface="Arial"/>
                <a:ea typeface="Arial"/>
              </a:rPr>
              <a:t>데이터 로딩</a:t>
            </a:r>
          </a:p>
        </p:txBody>
      </p:sp>
      <p:sp>
        <p:nvSpPr>
          <p:cNvPr id="82" name="TextBox 81"/>
          <p:cNvSpPr txBox="1"/>
          <p:nvPr/>
        </p:nvSpPr>
        <p:spPr>
          <a:xfrm>
            <a:off x="9699498" y="3566160"/>
            <a:ext cx="980694" cy="384048"/>
          </a:xfrm>
          <a:prstGeom prst="rect">
            <a:avLst/>
          </a:prstGeom>
          <a:noFill/>
        </p:spPr>
        <p:txBody>
          <a:bodyPr wrap="square" anchor="ctr" lIns="0" rIns="0" tIns="0" bIns="0">
            <a:spAutoFit/>
          </a:bodyPr>
          <a:lstStyle/>
          <a:p>
            <a:pPr algn="l">
              <a:lnSpc>
                <a:spcPct val="110000"/>
              </a:lnSpc>
            </a:pPr>
            <a:r>
              <a:rPr sz="1500" b="1">
                <a:solidFill>
                  <a:srgbClr val="3C5AC8"/>
                </a:solidFill>
                <a:latin typeface="Arial"/>
                <a:ea typeface="Arial"/>
              </a:rPr>
              <a:t>체크포인트</a:t>
            </a:r>
          </a:p>
        </p:txBody>
      </p:sp>
      <p:sp>
        <p:nvSpPr>
          <p:cNvPr id="83" name="Rounded Rectangle 82"/>
          <p:cNvSpPr/>
          <p:nvPr/>
        </p:nvSpPr>
        <p:spPr>
          <a:xfrm>
            <a:off x="12100803" y="2944368"/>
            <a:ext cx="1022116" cy="347472"/>
          </a:xfrm>
          <a:prstGeom prst="roundRect">
            <a:avLst>
              <a:gd name="adj" fmla="val 21052"/>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100803" y="2944368"/>
            <a:ext cx="102211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GPU HBM</a:t>
            </a:r>
          </a:p>
        </p:txBody>
      </p:sp>
      <p:sp>
        <p:nvSpPr>
          <p:cNvPr id="85" name="Rounded Rectangle 84"/>
          <p:cNvSpPr/>
          <p:nvPr/>
        </p:nvSpPr>
        <p:spPr>
          <a:xfrm>
            <a:off x="11703314" y="3374135"/>
            <a:ext cx="1817095" cy="347472"/>
          </a:xfrm>
          <a:prstGeom prst="roundRect">
            <a:avLst>
              <a:gd name="adj" fmla="val 21052"/>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1703314" y="3374135"/>
            <a:ext cx="1817095"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CPU DRAM</a:t>
            </a:r>
          </a:p>
        </p:txBody>
      </p:sp>
      <p:sp>
        <p:nvSpPr>
          <p:cNvPr id="87" name="Rounded Rectangle 86"/>
          <p:cNvSpPr/>
          <p:nvPr/>
        </p:nvSpPr>
        <p:spPr>
          <a:xfrm>
            <a:off x="11192256" y="3803904"/>
            <a:ext cx="2839212"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192256" y="3803904"/>
            <a:ext cx="283921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  KV · RAG · 가중치</a:t>
            </a:r>
          </a:p>
        </p:txBody>
      </p:sp>
      <p:sp>
        <p:nvSpPr>
          <p:cNvPr id="89" name="Down Arrow 88"/>
          <p:cNvSpPr/>
          <p:nvPr/>
        </p:nvSpPr>
        <p:spPr>
          <a:xfrm>
            <a:off x="11283696" y="2980944"/>
            <a:ext cx="219456" cy="731520"/>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Up Arrow 89"/>
          <p:cNvSpPr/>
          <p:nvPr/>
        </p:nvSpPr>
        <p:spPr>
          <a:xfrm>
            <a:off x="13720572" y="2980944"/>
            <a:ext cx="219456" cy="731520"/>
          </a:xfrm>
          <a:prstGeom prst="up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1192256" y="4206240"/>
            <a:ext cx="2839212" cy="292608"/>
          </a:xfrm>
          <a:prstGeom prst="rect">
            <a:avLst/>
          </a:prstGeom>
          <a:noFill/>
        </p:spPr>
        <p:txBody>
          <a:bodyPr wrap="square" anchor="ctr" lIns="0" rIns="0" tIns="0" bIns="0">
            <a:spAutoFit/>
          </a:bodyPr>
          <a:lstStyle/>
          <a:p>
            <a:pPr algn="ctr">
              <a:lnSpc>
                <a:spcPct val="110000"/>
              </a:lnSpc>
            </a:pPr>
            <a:r>
              <a:rPr sz="1500" b="1">
                <a:solidFill>
                  <a:srgbClr val="3C5AC8"/>
                </a:solidFill>
                <a:latin typeface="Arial"/>
                <a:ea typeface="Arial"/>
              </a:rPr>
              <a:t>↓ 넘치면 오프로드</a:t>
            </a:r>
            <a:r>
              <a:rPr sz="1500" b="1">
                <a:solidFill>
                  <a:srgbClr val="1428A0"/>
                </a:solidFill>
                <a:latin typeface="Arial"/>
                <a:ea typeface="Arial"/>
              </a:rPr>
              <a:t>    ↑ 재사용</a:t>
            </a:r>
          </a:p>
        </p:txBody>
      </p:sp>
      <p:sp>
        <p:nvSpPr>
          <p:cNvPr id="92" name="Rectangle 91"/>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3" name="TextBox 122"/>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4" name="Rectangle 123"/>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6" name="TextBox 125"/>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7" name="Rectangle 126"/>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9" name="TextBox 128"/>
          <p:cNvSpPr txBox="1"/>
          <p:nvPr/>
        </p:nvSpPr>
        <p:spPr>
          <a:xfrm>
            <a:off x="722376" y="5394960"/>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30" name="TextBox 129"/>
          <p:cNvSpPr txBox="1"/>
          <p:nvPr/>
        </p:nvSpPr>
        <p:spPr>
          <a:xfrm>
            <a:off x="10250424" y="5394960"/>
            <a:ext cx="7315200" cy="329184"/>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대응 중   </a:t>
            </a:r>
            <a:r>
              <a:rPr sz="1600" b="0">
                <a:solidFill>
                  <a:srgbClr val="3C5AC8"/>
                </a:solidFill>
                <a:latin typeface="Arial"/>
                <a:ea typeface="Arial"/>
              </a:rPr>
              <a:t>▢</a:t>
            </a:r>
            <a:r>
              <a:rPr sz="1600" b="0">
                <a:solidFill>
                  <a:srgbClr val="555555"/>
                </a:solidFill>
                <a:latin typeface="Arial"/>
                <a:ea typeface="Arial"/>
              </a:rPr>
              <a:t> 대응 가능 · 신호</a:t>
            </a:r>
          </a:p>
        </p:txBody>
      </p:sp>
      <p:sp>
        <p:nvSpPr>
          <p:cNvPr id="131" name="Rounded Rectangle 130"/>
          <p:cNvSpPr/>
          <p:nvPr/>
        </p:nvSpPr>
        <p:spPr>
          <a:xfrm>
            <a:off x="722376" y="577900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2" name="Picture 131" descr="p_pm1755.png"/>
          <p:cNvPicPr>
            <a:picLocks noChangeAspect="1"/>
          </p:cNvPicPr>
          <p:nvPr/>
        </p:nvPicPr>
        <p:blipFill>
          <a:blip r:embed="rId10"/>
          <a:stretch>
            <a:fillRect/>
          </a:stretch>
        </p:blipFill>
        <p:spPr>
          <a:xfrm>
            <a:off x="810490" y="5806440"/>
            <a:ext cx="847898" cy="621792"/>
          </a:xfrm>
          <a:prstGeom prst="rect">
            <a:avLst/>
          </a:prstGeom>
        </p:spPr>
      </p:pic>
      <p:sp>
        <p:nvSpPr>
          <p:cNvPr id="133" name="TextBox 132"/>
          <p:cNvSpPr txBox="1"/>
          <p:nvPr/>
        </p:nvSpPr>
        <p:spPr>
          <a:xfrm>
            <a:off x="1746504" y="57972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34" name="TextBox 133"/>
          <p:cNvSpPr txBox="1"/>
          <p:nvPr/>
        </p:nvSpPr>
        <p:spPr>
          <a:xfrm>
            <a:off x="1746504" y="6117336"/>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PM1755 · PM1745</a:t>
            </a:r>
          </a:p>
        </p:txBody>
      </p:sp>
      <p:sp>
        <p:nvSpPr>
          <p:cNvPr id="135" name="Rounded Rectangle 134"/>
          <p:cNvSpPr/>
          <p:nvPr/>
        </p:nvSpPr>
        <p:spPr>
          <a:xfrm>
            <a:off x="4306824"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ounded Rectangle 135"/>
          <p:cNvSpPr/>
          <p:nvPr/>
        </p:nvSpPr>
        <p:spPr>
          <a:xfrm>
            <a:off x="7658100" y="5779008"/>
            <a:ext cx="3204972" cy="676656"/>
          </a:xfrm>
          <a:prstGeom prst="roundRect">
            <a:avLst>
              <a:gd name="adj" fmla="val 10810"/>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749540" y="5797296"/>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체크포인트</a:t>
            </a:r>
          </a:p>
        </p:txBody>
      </p:sp>
      <p:sp>
        <p:nvSpPr>
          <p:cNvPr id="138" name="TextBox 137"/>
          <p:cNvSpPr txBox="1"/>
          <p:nvPr/>
        </p:nvSpPr>
        <p:spPr>
          <a:xfrm>
            <a:off x="7749540" y="61173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39" name="Rounded Rectangle 138"/>
          <p:cNvSpPr/>
          <p:nvPr/>
        </p:nvSpPr>
        <p:spPr>
          <a:xfrm>
            <a:off x="11009376" y="5779008"/>
            <a:ext cx="3204972" cy="676656"/>
          </a:xfrm>
          <a:prstGeom prst="roundRect">
            <a:avLst>
              <a:gd name="adj" fmla="val 1081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1100816" y="57972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41" name="TextBox 140"/>
          <p:cNvSpPr txBox="1"/>
          <p:nvPr/>
        </p:nvSpPr>
        <p:spPr>
          <a:xfrm>
            <a:off x="11100816" y="6117336"/>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PM1755</a:t>
            </a:r>
          </a:p>
        </p:txBody>
      </p:sp>
      <p:sp>
        <p:nvSpPr>
          <p:cNvPr id="142" name="Rounded Rectangle 141"/>
          <p:cNvSpPr/>
          <p:nvPr/>
        </p:nvSpPr>
        <p:spPr>
          <a:xfrm>
            <a:off x="14360652" y="577900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ounded Rectangle 142"/>
          <p:cNvSpPr/>
          <p:nvPr/>
        </p:nvSpPr>
        <p:spPr>
          <a:xfrm>
            <a:off x="722376" y="651052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4" name="Picture 143" descr="p_pm1763.png"/>
          <p:cNvPicPr>
            <a:picLocks noChangeAspect="1"/>
          </p:cNvPicPr>
          <p:nvPr/>
        </p:nvPicPr>
        <p:blipFill>
          <a:blip r:embed="rId11"/>
          <a:stretch>
            <a:fillRect/>
          </a:stretch>
        </p:blipFill>
        <p:spPr>
          <a:xfrm>
            <a:off x="785312" y="6537960"/>
            <a:ext cx="898254" cy="621792"/>
          </a:xfrm>
          <a:prstGeom prst="rect">
            <a:avLst/>
          </a:prstGeom>
        </p:spPr>
      </p:pic>
      <p:sp>
        <p:nvSpPr>
          <p:cNvPr id="145" name="TextBox 144"/>
          <p:cNvSpPr txBox="1"/>
          <p:nvPr/>
        </p:nvSpPr>
        <p:spPr>
          <a:xfrm>
            <a:off x="1746504" y="652881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6.0</a:t>
            </a:r>
          </a:p>
        </p:txBody>
      </p:sp>
      <p:sp>
        <p:nvSpPr>
          <p:cNvPr id="146" name="TextBox 145"/>
          <p:cNvSpPr txBox="1"/>
          <p:nvPr/>
        </p:nvSpPr>
        <p:spPr>
          <a:xfrm>
            <a:off x="1746504" y="6848856"/>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PM1763</a:t>
            </a:r>
          </a:p>
        </p:txBody>
      </p:sp>
      <p:sp>
        <p:nvSpPr>
          <p:cNvPr id="147" name="Rounded Rectangle 146"/>
          <p:cNvSpPr/>
          <p:nvPr/>
        </p:nvSpPr>
        <p:spPr>
          <a:xfrm>
            <a:off x="4306824"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ounded Rectangle 147"/>
          <p:cNvSpPr/>
          <p:nvPr/>
        </p:nvSpPr>
        <p:spPr>
          <a:xfrm>
            <a:off x="7658100" y="6510528"/>
            <a:ext cx="3204972" cy="676656"/>
          </a:xfrm>
          <a:prstGeom prst="roundRect">
            <a:avLst>
              <a:gd name="adj" fmla="val 1081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7749540" y="652881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50" name="TextBox 149"/>
          <p:cNvSpPr txBox="1"/>
          <p:nvPr/>
        </p:nvSpPr>
        <p:spPr>
          <a:xfrm>
            <a:off x="7749540" y="6848856"/>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PM1763</a:t>
            </a:r>
          </a:p>
        </p:txBody>
      </p:sp>
      <p:sp>
        <p:nvSpPr>
          <p:cNvPr id="151" name="Rounded Rectangle 150"/>
          <p:cNvSpPr/>
          <p:nvPr/>
        </p:nvSpPr>
        <p:spPr>
          <a:xfrm>
            <a:off x="11009376" y="6510528"/>
            <a:ext cx="3204972" cy="676656"/>
          </a:xfrm>
          <a:prstGeom prst="roundRect">
            <a:avLst>
              <a:gd name="adj" fmla="val 10810"/>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1100816" y="6528816"/>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가중치 로딩 · GPU 직결</a:t>
            </a:r>
          </a:p>
        </p:txBody>
      </p:sp>
      <p:sp>
        <p:nvSpPr>
          <p:cNvPr id="153" name="TextBox 152"/>
          <p:cNvSpPr txBox="1"/>
          <p:nvPr/>
        </p:nvSpPr>
        <p:spPr>
          <a:xfrm>
            <a:off x="11100816" y="684885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PM1763</a:t>
            </a:r>
          </a:p>
        </p:txBody>
      </p:sp>
      <p:sp>
        <p:nvSpPr>
          <p:cNvPr id="154" name="Rounded Rectangle 153"/>
          <p:cNvSpPr/>
          <p:nvPr/>
        </p:nvSpPr>
        <p:spPr>
          <a:xfrm>
            <a:off x="14360652" y="651052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722376" y="724204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6" name="Picture 155" descr="p_pm1753.png"/>
          <p:cNvPicPr>
            <a:picLocks noChangeAspect="1"/>
          </p:cNvPicPr>
          <p:nvPr/>
        </p:nvPicPr>
        <p:blipFill>
          <a:blip r:embed="rId12"/>
          <a:stretch>
            <a:fillRect/>
          </a:stretch>
        </p:blipFill>
        <p:spPr>
          <a:xfrm>
            <a:off x="810490" y="7269480"/>
            <a:ext cx="847898" cy="621792"/>
          </a:xfrm>
          <a:prstGeom prst="rect">
            <a:avLst/>
          </a:prstGeom>
        </p:spPr>
      </p:pic>
      <p:sp>
        <p:nvSpPr>
          <p:cNvPr id="157" name="TextBox 156"/>
          <p:cNvSpPr txBox="1"/>
          <p:nvPr/>
        </p:nvSpPr>
        <p:spPr>
          <a:xfrm>
            <a:off x="1746504" y="726033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5.0</a:t>
            </a:r>
          </a:p>
        </p:txBody>
      </p:sp>
      <p:sp>
        <p:nvSpPr>
          <p:cNvPr id="158" name="TextBox 157"/>
          <p:cNvSpPr txBox="1"/>
          <p:nvPr/>
        </p:nvSpPr>
        <p:spPr>
          <a:xfrm>
            <a:off x="1746504" y="7580375"/>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PM1753 · PM9D3a</a:t>
            </a:r>
          </a:p>
        </p:txBody>
      </p:sp>
      <p:sp>
        <p:nvSpPr>
          <p:cNvPr id="159" name="Rounded Rectangle 158"/>
          <p:cNvSpPr/>
          <p:nvPr/>
        </p:nvSpPr>
        <p:spPr>
          <a:xfrm>
            <a:off x="4306824" y="7242048"/>
            <a:ext cx="3204972" cy="676656"/>
          </a:xfrm>
          <a:prstGeom prst="roundRect">
            <a:avLst>
              <a:gd name="adj" fmla="val 1081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4398264"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61" name="TextBox 160"/>
          <p:cNvSpPr txBox="1"/>
          <p:nvPr/>
        </p:nvSpPr>
        <p:spPr>
          <a:xfrm>
            <a:off x="4398264" y="7580375"/>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PM9D3a · PM1753</a:t>
            </a:r>
          </a:p>
        </p:txBody>
      </p:sp>
      <p:sp>
        <p:nvSpPr>
          <p:cNvPr id="162" name="Rounded Rectangle 161"/>
          <p:cNvSpPr/>
          <p:nvPr/>
        </p:nvSpPr>
        <p:spPr>
          <a:xfrm>
            <a:off x="7658100" y="7242048"/>
            <a:ext cx="3204972" cy="676656"/>
          </a:xfrm>
          <a:prstGeom prst="roundRect">
            <a:avLst>
              <a:gd name="adj" fmla="val 10810"/>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11009376" y="7242048"/>
            <a:ext cx="3204972" cy="676656"/>
          </a:xfrm>
          <a:prstGeom prst="roundRect">
            <a:avLst>
              <a:gd name="adj" fmla="val 1081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11100816" y="726033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65" name="TextBox 164"/>
          <p:cNvSpPr txBox="1"/>
          <p:nvPr/>
        </p:nvSpPr>
        <p:spPr>
          <a:xfrm>
            <a:off x="11100816" y="7580375"/>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PM1753</a:t>
            </a:r>
          </a:p>
        </p:txBody>
      </p:sp>
      <p:sp>
        <p:nvSpPr>
          <p:cNvPr id="166" name="Rounded Rectangle 165"/>
          <p:cNvSpPr/>
          <p:nvPr/>
        </p:nvSpPr>
        <p:spPr>
          <a:xfrm>
            <a:off x="14360652" y="7242048"/>
            <a:ext cx="3204972" cy="676656"/>
          </a:xfrm>
          <a:prstGeom prst="roundRect">
            <a:avLst>
              <a:gd name="adj" fmla="val 10810"/>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4452092" y="7260336"/>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기동 버스트</a:t>
            </a:r>
          </a:p>
        </p:txBody>
      </p:sp>
      <p:sp>
        <p:nvSpPr>
          <p:cNvPr id="168" name="TextBox 167"/>
          <p:cNvSpPr txBox="1"/>
          <p:nvPr/>
        </p:nvSpPr>
        <p:spPr>
          <a:xfrm>
            <a:off x="14452092" y="7580375"/>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69" name="Rounded Rectangle 168"/>
          <p:cNvSpPr/>
          <p:nvPr/>
        </p:nvSpPr>
        <p:spPr>
          <a:xfrm>
            <a:off x="722376" y="7973568"/>
            <a:ext cx="3383280" cy="676656"/>
          </a:xfrm>
          <a:prstGeom prst="roundRect">
            <a:avLst>
              <a:gd name="adj" fmla="val 1081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0" name="Picture 169" descr="p_bm1743.png"/>
          <p:cNvPicPr>
            <a:picLocks noChangeAspect="1"/>
          </p:cNvPicPr>
          <p:nvPr/>
        </p:nvPicPr>
        <p:blipFill>
          <a:blip r:embed="rId13"/>
          <a:stretch>
            <a:fillRect/>
          </a:stretch>
        </p:blipFill>
        <p:spPr>
          <a:xfrm>
            <a:off x="785312" y="8001000"/>
            <a:ext cx="898254" cy="621792"/>
          </a:xfrm>
          <a:prstGeom prst="rect">
            <a:avLst/>
          </a:prstGeom>
        </p:spPr>
      </p:pic>
      <p:sp>
        <p:nvSpPr>
          <p:cNvPr id="171" name="TextBox 170"/>
          <p:cNvSpPr txBox="1"/>
          <p:nvPr/>
        </p:nvSpPr>
        <p:spPr>
          <a:xfrm>
            <a:off x="1746504" y="799185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72" name="TextBox 171"/>
          <p:cNvSpPr txBox="1"/>
          <p:nvPr/>
        </p:nvSpPr>
        <p:spPr>
          <a:xfrm>
            <a:off x="1746504" y="8311896"/>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BM1743 · BM1773</a:t>
            </a:r>
          </a:p>
        </p:txBody>
      </p:sp>
      <p:sp>
        <p:nvSpPr>
          <p:cNvPr id="173" name="Rounded Rectangle 172"/>
          <p:cNvSpPr/>
          <p:nvPr/>
        </p:nvSpPr>
        <p:spPr>
          <a:xfrm>
            <a:off x="4306824" y="7973568"/>
            <a:ext cx="3204972" cy="676656"/>
          </a:xfrm>
          <a:prstGeom prst="roundRect">
            <a:avLst>
              <a:gd name="adj" fmla="val 1081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4398264"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75" name="TextBox 174"/>
          <p:cNvSpPr txBox="1"/>
          <p:nvPr/>
        </p:nvSpPr>
        <p:spPr>
          <a:xfrm>
            <a:off x="4398264" y="8311896"/>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a:t>
            </a:r>
          </a:p>
        </p:txBody>
      </p:sp>
      <p:sp>
        <p:nvSpPr>
          <p:cNvPr id="176" name="Rounded Rectangle 175"/>
          <p:cNvSpPr/>
          <p:nvPr/>
        </p:nvSpPr>
        <p:spPr>
          <a:xfrm>
            <a:off x="7658100" y="7973568"/>
            <a:ext cx="3204972" cy="676656"/>
          </a:xfrm>
          <a:prstGeom prst="roundRect">
            <a:avLst>
              <a:gd name="adj" fmla="val 1081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7749540"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78" name="TextBox 177"/>
          <p:cNvSpPr txBox="1"/>
          <p:nvPr/>
        </p:nvSpPr>
        <p:spPr>
          <a:xfrm>
            <a:off x="7749540" y="8311896"/>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a:t>
            </a:r>
          </a:p>
        </p:txBody>
      </p:sp>
      <p:sp>
        <p:nvSpPr>
          <p:cNvPr id="179" name="Rounded Rectangle 178"/>
          <p:cNvSpPr/>
          <p:nvPr/>
        </p:nvSpPr>
        <p:spPr>
          <a:xfrm>
            <a:off x="11009376" y="7973568"/>
            <a:ext cx="3204972" cy="676656"/>
          </a:xfrm>
          <a:prstGeom prst="roundRect">
            <a:avLst>
              <a:gd name="adj" fmla="val 10810"/>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100816" y="7991856"/>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가중치 · RAG 읽기</a:t>
            </a:r>
          </a:p>
        </p:txBody>
      </p:sp>
      <p:sp>
        <p:nvSpPr>
          <p:cNvPr id="181" name="TextBox 180"/>
          <p:cNvSpPr txBox="1"/>
          <p:nvPr/>
        </p:nvSpPr>
        <p:spPr>
          <a:xfrm>
            <a:off x="11100816" y="831189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182" name="Rounded Rectangle 181"/>
          <p:cNvSpPr/>
          <p:nvPr/>
        </p:nvSpPr>
        <p:spPr>
          <a:xfrm>
            <a:off x="14360652" y="7973568"/>
            <a:ext cx="3204972" cy="676656"/>
          </a:xfrm>
          <a:prstGeom prst="roundRect">
            <a:avLst>
              <a:gd name="adj" fmla="val 1081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4452092" y="799185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184" name="TextBox 183"/>
          <p:cNvSpPr txBox="1"/>
          <p:nvPr/>
        </p:nvSpPr>
        <p:spPr>
          <a:xfrm>
            <a:off x="14452092" y="8311896"/>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 · BM1773</a:t>
            </a:r>
          </a:p>
        </p:txBody>
      </p:sp>
      <p:sp>
        <p:nvSpPr>
          <p:cNvPr id="185" name="TextBox 184"/>
          <p:cNvSpPr txBox="1"/>
          <p:nvPr/>
        </p:nvSpPr>
        <p:spPr>
          <a:xfrm>
            <a:off x="722376" y="8796528"/>
            <a:ext cx="338328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86" name="TextBox 185"/>
          <p:cNvSpPr txBox="1"/>
          <p:nvPr/>
        </p:nvSpPr>
        <p:spPr>
          <a:xfrm>
            <a:off x="722376" y="9125711"/>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TechInsights 3Q26</a:t>
            </a:r>
          </a:p>
        </p:txBody>
      </p:sp>
      <p:sp>
        <p:nvSpPr>
          <p:cNvPr id="187" name="TextBox 186"/>
          <p:cNvSpPr txBox="1"/>
          <p:nvPr/>
        </p:nvSpPr>
        <p:spPr>
          <a:xfrm>
            <a:off x="722376" y="8814815"/>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2025</a:t>
            </a:r>
          </a:p>
        </p:txBody>
      </p:sp>
      <p:sp>
        <p:nvSpPr>
          <p:cNvPr id="188" name="Rectangle 187"/>
          <p:cNvSpPr/>
          <p:nvPr/>
        </p:nvSpPr>
        <p:spPr>
          <a:xfrm>
            <a:off x="4306824" y="8814815"/>
            <a:ext cx="715975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4306824" y="8814815"/>
            <a:ext cx="71597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54%</a:t>
            </a:r>
          </a:p>
        </p:txBody>
      </p:sp>
      <p:sp>
        <p:nvSpPr>
          <p:cNvPr id="190" name="Rectangle 189"/>
          <p:cNvSpPr/>
          <p:nvPr/>
        </p:nvSpPr>
        <p:spPr>
          <a:xfrm>
            <a:off x="11466576" y="8814815"/>
            <a:ext cx="1988819"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11466576" y="8814815"/>
            <a:ext cx="1988819"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15%</a:t>
            </a:r>
          </a:p>
        </p:txBody>
      </p:sp>
      <p:sp>
        <p:nvSpPr>
          <p:cNvPr id="192" name="Rectangle 191"/>
          <p:cNvSpPr/>
          <p:nvPr/>
        </p:nvSpPr>
        <p:spPr>
          <a:xfrm>
            <a:off x="13455396" y="8814815"/>
            <a:ext cx="4110228"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13455396" y="8814815"/>
            <a:ext cx="4110228"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31%</a:t>
            </a:r>
          </a:p>
        </p:txBody>
      </p:sp>
      <p:sp>
        <p:nvSpPr>
          <p:cNvPr id="194" name="TextBox 193"/>
          <p:cNvSpPr txBox="1"/>
          <p:nvPr/>
        </p:nvSpPr>
        <p:spPr>
          <a:xfrm>
            <a:off x="722376" y="9143999"/>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95" name="Rectangle 194"/>
          <p:cNvSpPr/>
          <p:nvPr/>
        </p:nvSpPr>
        <p:spPr>
          <a:xfrm>
            <a:off x="4306824" y="9143999"/>
            <a:ext cx="1988819"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4306824" y="9143999"/>
            <a:ext cx="1988819"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15%</a:t>
            </a:r>
          </a:p>
        </p:txBody>
      </p:sp>
      <p:sp>
        <p:nvSpPr>
          <p:cNvPr id="197" name="Rectangle 196"/>
          <p:cNvSpPr/>
          <p:nvPr/>
        </p:nvSpPr>
        <p:spPr>
          <a:xfrm>
            <a:off x="6295644" y="9143999"/>
            <a:ext cx="795528"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6295644" y="9143999"/>
            <a:ext cx="795528"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99" name="Rectangle 198"/>
          <p:cNvSpPr/>
          <p:nvPr/>
        </p:nvSpPr>
        <p:spPr>
          <a:xfrm>
            <a:off x="7091172" y="9143999"/>
            <a:ext cx="10474452"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7091172" y="9143999"/>
            <a:ext cx="1047445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79%</a:t>
            </a:r>
          </a:p>
        </p:txBody>
      </p:sp>
      <p:grpSp>
        <p:nvGrpSpPr>
          <p:cNvPr id="207" name="Group 206"/>
          <p:cNvGrpSpPr/>
          <p:nvPr/>
        </p:nvGrpSpPr>
        <p:grpSpPr>
          <a:xfrm>
            <a:off x="7063740" y="1874519"/>
            <a:ext cx="10529316" cy="7571232"/>
            <a:chOff x="7063740" y="1874519"/>
            <a:chExt cx="10529316" cy="7571232"/>
          </a:xfrm>
        </p:grpSpPr>
        <p:sp>
          <p:nvSpPr>
            <p:cNvPr id="201" name="Rounded Rectangle 200"/>
            <p:cNvSpPr/>
            <p:nvPr/>
          </p:nvSpPr>
          <p:spPr>
            <a:xfrm>
              <a:off x="10945368" y="2057400"/>
              <a:ext cx="3332988" cy="6629400"/>
            </a:xfrm>
            <a:prstGeom prst="roundRect">
              <a:avLst>
                <a:gd name="adj" fmla="val 2194"/>
              </a:avLst>
            </a:prstGeom>
            <a:noFill/>
            <a:ln w="508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Rectangle 201"/>
            <p:cNvSpPr/>
            <p:nvPr/>
          </p:nvSpPr>
          <p:spPr>
            <a:xfrm>
              <a:off x="13427964" y="8787384"/>
              <a:ext cx="4165091" cy="329184"/>
            </a:xfrm>
            <a:prstGeom prst="rect">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ectangle 202"/>
            <p:cNvSpPr/>
            <p:nvPr/>
          </p:nvSpPr>
          <p:spPr>
            <a:xfrm>
              <a:off x="7063740" y="9116567"/>
              <a:ext cx="10529316" cy="329184"/>
            </a:xfrm>
            <a:prstGeom prst="rect">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4" name="Connector 203"/>
            <p:cNvCxnSpPr/>
            <p:nvPr/>
          </p:nvCxnSpPr>
          <p:spPr>
            <a:xfrm>
              <a:off x="12611862" y="8686800"/>
              <a:ext cx="0" cy="100584"/>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205" name="Rounded Rectangle 204"/>
            <p:cNvSpPr/>
            <p:nvPr/>
          </p:nvSpPr>
          <p:spPr>
            <a:xfrm>
              <a:off x="12733020" y="1874519"/>
              <a:ext cx="14173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733020" y="1874519"/>
              <a:ext cx="1417320"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추론에 집중</a:t>
              </a:r>
            </a:p>
          </p:txBody>
        </p:sp>
      </p:grpSp>
      <p:sp>
        <p:nvSpPr>
          <p:cNvPr id="208" name="TextBox 20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TechInsights 3Q26 보고서(사용자 제공, 원문 미대조) · HBM 과제팀 집계 · p99 FlashBlox(FAST'17) · 학습 · 추론 카드의 SSD 역할 수치(GPU당 대역 · KV 복원 대역 · p99 목표 · DWPD 실측)는 노트 · 에이전트 Google · Muse 관측(제3자) · 삼성 모델 사양 공식 페이지 검색 확인(🟡) · 제품 이미지는 형태 재현</a:t>
            </a:r>
          </a:p>
        </p:txBody>
      </p:sp>
      <p:sp>
        <p:nvSpPr>
          <p:cNvPr id="209" name="TextBox 20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07"/>
                                        </p:tgtEl>
                                        <p:attrNameLst>
                                          <p:attrName>style.visibility</p:attrName>
                                        </p:attrNameLst>
                                      </p:cBhvr>
                                      <p:to>
                                        <p:strVal val="visible"/>
                                      </p:to>
                                    </p:set>
                                    <p:animEffect transition="in" filter="fade">
                                      <p:cBhvr>
                                        <p:cTn id="8" dur="500"/>
                                        <p:tgtEl>
                                          <p:spTgt spid="2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8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47472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① 추론 수요</a:t>
            </a:r>
          </a:p>
        </p:txBody>
      </p:sp>
      <p:sp>
        <p:nvSpPr>
          <p:cNvPr id="7" name="TextBox 6"/>
          <p:cNvSpPr txBox="1"/>
          <p:nvPr/>
        </p:nvSpPr>
        <p:spPr>
          <a:xfrm>
            <a:off x="4507992" y="2066543"/>
            <a:ext cx="448056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② 핵심 요구</a:t>
            </a:r>
          </a:p>
        </p:txBody>
      </p:sp>
      <p:sp>
        <p:nvSpPr>
          <p:cNvPr id="8" name="TextBox 7"/>
          <p:cNvSpPr txBox="1"/>
          <p:nvPr/>
        </p:nvSpPr>
        <p:spPr>
          <a:xfrm>
            <a:off x="9317736" y="2066543"/>
            <a:ext cx="8247888"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③ 핵심 기술</a:t>
            </a:r>
          </a:p>
        </p:txBody>
      </p:sp>
      <p:sp>
        <p:nvSpPr>
          <p:cNvPr id="9" name="Chevron 8"/>
          <p:cNvSpPr/>
          <p:nvPr/>
        </p:nvSpPr>
        <p:spPr>
          <a:xfrm>
            <a:off x="4215383"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evron 9"/>
          <p:cNvSpPr/>
          <p:nvPr/>
        </p:nvSpPr>
        <p:spPr>
          <a:xfrm>
            <a:off x="9025128"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Read</a:t>
            </a:r>
          </a:p>
          <a:p>
            <a:pPr algn="ctr">
              <a:lnSpc>
                <a:spcPct val="95000"/>
              </a:lnSpc>
            </a:pPr>
            <a:r>
              <a:rPr sz="1500" b="1">
                <a:solidFill>
                  <a:srgbClr val="1A1A1A"/>
                </a:solidFill>
                <a:latin typeface="Arial"/>
                <a:ea typeface="Arial"/>
              </a:rPr>
              <a:t>BW</a:t>
            </a:r>
          </a:p>
        </p:txBody>
      </p:sp>
      <p:sp>
        <p:nvSpPr>
          <p:cNvPr id="12" name="TextBox 11"/>
          <p:cNvSpPr txBox="1"/>
          <p:nvPr/>
        </p:nvSpPr>
        <p:spPr>
          <a:xfrm>
            <a:off x="5404104"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Tail</a:t>
            </a:r>
          </a:p>
          <a:p>
            <a:pPr algn="ctr">
              <a:lnSpc>
                <a:spcPct val="95000"/>
              </a:lnSpc>
            </a:pPr>
            <a:r>
              <a:rPr sz="1500" b="1">
                <a:solidFill>
                  <a:srgbClr val="1A1A1A"/>
                </a:solidFill>
                <a:latin typeface="Arial"/>
                <a:ea typeface="Arial"/>
              </a:rPr>
              <a:t>Latency</a:t>
            </a:r>
          </a:p>
        </p:txBody>
      </p:sp>
      <p:sp>
        <p:nvSpPr>
          <p:cNvPr id="13" name="TextBox 12"/>
          <p:cNvSpPr txBox="1"/>
          <p:nvPr/>
        </p:nvSpPr>
        <p:spPr>
          <a:xfrm>
            <a:off x="6300216"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DWPD</a:t>
            </a:r>
          </a:p>
        </p:txBody>
      </p:sp>
      <p:sp>
        <p:nvSpPr>
          <p:cNvPr id="14" name="TextBox 13"/>
          <p:cNvSpPr txBox="1"/>
          <p:nvPr/>
        </p:nvSpPr>
        <p:spPr>
          <a:xfrm>
            <a:off x="7196327"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Capacity</a:t>
            </a:r>
          </a:p>
          <a:p>
            <a:pPr algn="ctr">
              <a:lnSpc>
                <a:spcPct val="95000"/>
              </a:lnSpc>
            </a:pPr>
            <a:r>
              <a:rPr sz="1500" b="1">
                <a:solidFill>
                  <a:srgbClr val="1A1A1A"/>
                </a:solidFill>
                <a:latin typeface="Arial"/>
                <a:ea typeface="Arial"/>
              </a:rPr>
              <a:t>$/TB</a:t>
            </a:r>
          </a:p>
        </p:txBody>
      </p:sp>
      <p:sp>
        <p:nvSpPr>
          <p:cNvPr id="15" name="TextBox 14"/>
          <p:cNvSpPr txBox="1"/>
          <p:nvPr/>
        </p:nvSpPr>
        <p:spPr>
          <a:xfrm>
            <a:off x="8092440" y="2432303"/>
            <a:ext cx="896112" cy="566928"/>
          </a:xfrm>
          <a:prstGeom prst="rect">
            <a:avLst/>
          </a:prstGeom>
          <a:noFill/>
        </p:spPr>
        <p:txBody>
          <a:bodyPr wrap="square" anchor="ctr" lIns="0" rIns="0" tIns="0" bIns="0">
            <a:spAutoFit/>
          </a:bodyPr>
          <a:lstStyle/>
          <a:p>
            <a:pPr algn="ctr">
              <a:lnSpc>
                <a:spcPct val="95000"/>
              </a:lnSpc>
            </a:pPr>
            <a:r>
              <a:rPr sz="1500" b="1">
                <a:solidFill>
                  <a:srgbClr val="1A1A1A"/>
                </a:solidFill>
                <a:latin typeface="Arial"/>
                <a:ea typeface="Arial"/>
              </a:rPr>
              <a:t>Isolation</a:t>
            </a:r>
          </a:p>
          <a:p>
            <a:pPr algn="ctr">
              <a:lnSpc>
                <a:spcPct val="95000"/>
              </a:lnSpc>
            </a:pPr>
            <a:r>
              <a:rPr sz="1500" b="1">
                <a:solidFill>
                  <a:srgbClr val="1A1A1A"/>
                </a:solidFill>
                <a:latin typeface="Arial"/>
                <a:ea typeface="Arial"/>
              </a:rPr>
              <a:t>Security</a:t>
            </a:r>
          </a:p>
        </p:txBody>
      </p:sp>
      <p:sp>
        <p:nvSpPr>
          <p:cNvPr id="16" name="TextBox 15"/>
          <p:cNvSpPr txBox="1"/>
          <p:nvPr/>
        </p:nvSpPr>
        <p:spPr>
          <a:xfrm>
            <a:off x="9317736" y="2578608"/>
            <a:ext cx="8247888"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채도 = 고객 협력 정도   </a:t>
            </a:r>
            <a:r>
              <a:rPr sz="1700" b="0">
                <a:solidFill>
                  <a:srgbClr val="1428A0"/>
                </a:solidFill>
                <a:latin typeface="Arial"/>
                <a:ea typeface="Arial"/>
              </a:rPr>
              <a:t>■</a:t>
            </a:r>
            <a:r>
              <a:rPr sz="1600" b="0">
                <a:solidFill>
                  <a:srgbClr val="555555"/>
                </a:solidFill>
                <a:latin typeface="Arial"/>
                <a:ea typeface="Arial"/>
              </a:rPr>
              <a:t> 최적화까지 함께   </a:t>
            </a:r>
            <a:r>
              <a:rPr sz="1700" b="0">
                <a:solidFill>
                  <a:srgbClr val="3C5AC8"/>
                </a:solidFill>
                <a:latin typeface="Arial"/>
                <a:ea typeface="Arial"/>
              </a:rPr>
              <a:t>■</a:t>
            </a:r>
            <a:r>
              <a:rPr sz="1600" b="0">
                <a:solidFill>
                  <a:srgbClr val="555555"/>
                </a:solidFill>
                <a:latin typeface="Arial"/>
                <a:ea typeface="Arial"/>
              </a:rPr>
              <a:t> 고객 시스템 개발   </a:t>
            </a:r>
            <a:r>
              <a:rPr sz="1700" b="0">
                <a:solidFill>
                  <a:srgbClr val="AAB8E8"/>
                </a:solidFill>
                <a:latin typeface="Arial"/>
                <a:ea typeface="Arial"/>
              </a:rPr>
              <a:t>■</a:t>
            </a:r>
            <a:r>
              <a:rPr sz="1600" b="0">
                <a:solidFill>
                  <a:srgbClr val="555555"/>
                </a:solidFill>
                <a:latin typeface="Arial"/>
                <a:ea typeface="Arial"/>
              </a:rPr>
              <a:t> SSD 안에서</a:t>
            </a:r>
          </a:p>
        </p:txBody>
      </p:sp>
      <p:sp>
        <p:nvSpPr>
          <p:cNvPr id="17" name="Rounded Rectangle 16"/>
          <p:cNvSpPr/>
          <p:nvPr/>
        </p:nvSpPr>
        <p:spPr>
          <a:xfrm>
            <a:off x="722376" y="3035808"/>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95528" y="3108960"/>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flipV="1">
            <a:off x="981699" y="3226003"/>
            <a:ext cx="298461" cy="7680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81699" y="3302812"/>
            <a:ext cx="298461" cy="76810"/>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81699" y="3302812"/>
            <a:ext cx="298461" cy="23042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81699" y="3302812"/>
            <a:ext cx="298461" cy="38404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981699" y="3226003"/>
            <a:ext cx="298461" cy="23042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81699" y="3379622"/>
            <a:ext cx="298461" cy="76810"/>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981699" y="3456432"/>
            <a:ext cx="298461" cy="7680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81699" y="3456432"/>
            <a:ext cx="298461" cy="23042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81699" y="3226003"/>
            <a:ext cx="298461" cy="38404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81699" y="3379622"/>
            <a:ext cx="298461" cy="23042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981699" y="3533241"/>
            <a:ext cx="298461" cy="76810"/>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81699" y="3610051"/>
            <a:ext cx="298461" cy="7680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280160" y="3226003"/>
            <a:ext cx="298460" cy="7680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280160" y="3226003"/>
            <a:ext cx="298460" cy="23042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280160" y="3226003"/>
            <a:ext cx="298460" cy="38404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280160" y="3302812"/>
            <a:ext cx="298460" cy="76810"/>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80160" y="3379622"/>
            <a:ext cx="298460" cy="76810"/>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80160" y="3379622"/>
            <a:ext cx="298460" cy="23042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280160" y="3302812"/>
            <a:ext cx="298460" cy="23042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280160" y="3456432"/>
            <a:ext cx="298460" cy="7680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280160" y="3533241"/>
            <a:ext cx="298460" cy="76810"/>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280160" y="3302812"/>
            <a:ext cx="298460" cy="38404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280160" y="3456432"/>
            <a:ext cx="298460" cy="23042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80160" y="3610051"/>
            <a:ext cx="298460" cy="7680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927293" y="3248406"/>
            <a:ext cx="108813" cy="108813"/>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27293" y="3402025"/>
            <a:ext cx="108813" cy="108813"/>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27293" y="3555644"/>
            <a:ext cx="108813" cy="108813"/>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225753" y="3171596"/>
            <a:ext cx="108813" cy="108813"/>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225753" y="3325215"/>
            <a:ext cx="108813" cy="108813"/>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25753" y="3478834"/>
            <a:ext cx="108813" cy="108813"/>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225753" y="3632454"/>
            <a:ext cx="108813" cy="108813"/>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524213" y="3248406"/>
            <a:ext cx="108813" cy="108813"/>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524213" y="3402025"/>
            <a:ext cx="108813" cy="108813"/>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24213" y="3555644"/>
            <a:ext cx="108813" cy="108813"/>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74519" y="3108960"/>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모델 가중치</a:t>
            </a:r>
          </a:p>
        </p:txBody>
      </p:sp>
      <p:sp>
        <p:nvSpPr>
          <p:cNvPr id="54" name="TextBox 53"/>
          <p:cNvSpPr txBox="1"/>
          <p:nvPr/>
        </p:nvSpPr>
        <p:spPr>
          <a:xfrm>
            <a:off x="1874519" y="3493008"/>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로딩 · 모델 교체</a:t>
            </a:r>
          </a:p>
        </p:txBody>
      </p:sp>
      <p:sp>
        <p:nvSpPr>
          <p:cNvPr id="55" name="Rounded Rectangle 54"/>
          <p:cNvSpPr/>
          <p:nvPr/>
        </p:nvSpPr>
        <p:spPr>
          <a:xfrm>
            <a:off x="4507992" y="3035808"/>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782312" y="3282696"/>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678424" y="3282696"/>
            <a:ext cx="347472" cy="347472"/>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7470648" y="3282696"/>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366760" y="3282696"/>
            <a:ext cx="347472" cy="347472"/>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ounded Rectangle 59"/>
          <p:cNvSpPr/>
          <p:nvPr/>
        </p:nvSpPr>
        <p:spPr>
          <a:xfrm>
            <a:off x="9317736" y="3200400"/>
            <a:ext cx="2657856" cy="512064"/>
          </a:xfrm>
          <a:prstGeom prst="roundRect">
            <a:avLst>
              <a:gd name="adj" fmla="val 14285"/>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445752" y="331963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26584" y="331963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607417" y="331963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688250" y="331963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9445752" y="3456432"/>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848088"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68" name="Rounded Rectangle 67"/>
          <p:cNvSpPr/>
          <p:nvPr/>
        </p:nvSpPr>
        <p:spPr>
          <a:xfrm>
            <a:off x="12112752" y="3200400"/>
            <a:ext cx="2657856" cy="512064"/>
          </a:xfrm>
          <a:prstGeom prst="roundRect">
            <a:avLst>
              <a:gd name="adj" fmla="val 14285"/>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309165" y="3300984"/>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2265639" y="3425342"/>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377562" y="3475085"/>
            <a:ext cx="37307"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643104" y="3200400"/>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73" name="Rounded Rectangle 72"/>
          <p:cNvSpPr/>
          <p:nvPr/>
        </p:nvSpPr>
        <p:spPr>
          <a:xfrm>
            <a:off x="14907768" y="3200400"/>
            <a:ext cx="2657856" cy="512064"/>
          </a:xfrm>
          <a:prstGeom prst="roundRect">
            <a:avLst>
              <a:gd name="adj" fmla="val 14285"/>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5035784" y="3300984"/>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5141488" y="3300984"/>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5247193" y="3300984"/>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5035784" y="3406688"/>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5141488" y="3406688"/>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5247193" y="3406688"/>
            <a:ext cx="87050" cy="87050"/>
          </a:xfrm>
          <a:prstGeom prst="rect">
            <a:avLst/>
          </a:prstGeom>
          <a:no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5035784" y="3512393"/>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5141488" y="3512393"/>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5247193" y="3512393"/>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5438120" y="3200400"/>
            <a:ext cx="2072640" cy="51206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84" name="Rounded Rectangle 83"/>
          <p:cNvSpPr/>
          <p:nvPr/>
        </p:nvSpPr>
        <p:spPr>
          <a:xfrm>
            <a:off x="722376" y="3968496"/>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795528" y="4041648"/>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Can 85"/>
          <p:cNvSpPr/>
          <p:nvPr/>
        </p:nvSpPr>
        <p:spPr>
          <a:xfrm>
            <a:off x="876360" y="4184294"/>
            <a:ext cx="351129" cy="422452"/>
          </a:xfrm>
          <a:prstGeom prst="ca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332829" y="4209897"/>
            <a:ext cx="64008" cy="6400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1420611" y="4325112"/>
            <a:ext cx="64008" cy="6400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297716" y="4401921"/>
            <a:ext cx="64008" cy="6400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490837" y="4197096"/>
            <a:ext cx="64008" cy="6400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385498" y="4491532"/>
            <a:ext cx="64008" cy="6400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350385" y="4261104"/>
            <a:ext cx="243230" cy="243230"/>
          </a:xfrm>
          <a:prstGeom prst="ellipse">
            <a:avLst/>
          </a:prstGeom>
          <a:noFill/>
          <a:ln w="317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3" name="Connector 92"/>
          <p:cNvCxnSpPr/>
          <p:nvPr/>
        </p:nvCxnSpPr>
        <p:spPr>
          <a:xfrm>
            <a:off x="1561612" y="4472330"/>
            <a:ext cx="122347" cy="185623"/>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94" name="TextBox 93"/>
          <p:cNvSpPr txBox="1"/>
          <p:nvPr/>
        </p:nvSpPr>
        <p:spPr>
          <a:xfrm>
            <a:off x="1874519" y="4041648"/>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RAG · Vector DB</a:t>
            </a:r>
          </a:p>
        </p:txBody>
      </p:sp>
      <p:sp>
        <p:nvSpPr>
          <p:cNvPr id="95" name="TextBox 94"/>
          <p:cNvSpPr txBox="1"/>
          <p:nvPr/>
        </p:nvSpPr>
        <p:spPr>
          <a:xfrm>
            <a:off x="1874519" y="4425696"/>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작은 랜덤 읽기 · 색인 갱신</a:t>
            </a:r>
          </a:p>
        </p:txBody>
      </p:sp>
      <p:sp>
        <p:nvSpPr>
          <p:cNvPr id="96" name="Rounded Rectangle 95"/>
          <p:cNvSpPr/>
          <p:nvPr/>
        </p:nvSpPr>
        <p:spPr>
          <a:xfrm>
            <a:off x="4507992" y="3968496"/>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4782312" y="4215383"/>
            <a:ext cx="347472" cy="347472"/>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678424" y="4215383"/>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7470648" y="4215383"/>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8366760" y="4215383"/>
            <a:ext cx="347472" cy="347472"/>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ounded Rectangle 100"/>
          <p:cNvSpPr/>
          <p:nvPr/>
        </p:nvSpPr>
        <p:spPr>
          <a:xfrm>
            <a:off x="9317736" y="4133087"/>
            <a:ext cx="2657856"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9445752"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9551456"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9657161" y="423367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9445752" y="4339376"/>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9551456" y="4339376"/>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9657161" y="4339376"/>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9445752"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9551456"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9657161" y="444508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848088"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13" name="Rounded Rectangle 112"/>
          <p:cNvSpPr/>
          <p:nvPr/>
        </p:nvSpPr>
        <p:spPr>
          <a:xfrm>
            <a:off x="12112752" y="4133087"/>
            <a:ext cx="2657856" cy="512064"/>
          </a:xfrm>
          <a:prstGeom prst="roundRect">
            <a:avLst>
              <a:gd name="adj" fmla="val 14285"/>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2240768" y="425232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2321600" y="425232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2402433" y="425232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2483266" y="425232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2240768" y="438912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643104"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21" name="Rounded Rectangle 120"/>
          <p:cNvSpPr/>
          <p:nvPr/>
        </p:nvSpPr>
        <p:spPr>
          <a:xfrm>
            <a:off x="14907768" y="4133087"/>
            <a:ext cx="2657856" cy="512064"/>
          </a:xfrm>
          <a:prstGeom prst="roundRect">
            <a:avLst>
              <a:gd name="adj" fmla="val 14285"/>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5035784" y="423367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ounded Rectangle 122"/>
          <p:cNvSpPr/>
          <p:nvPr/>
        </p:nvSpPr>
        <p:spPr>
          <a:xfrm>
            <a:off x="15035784" y="4339376"/>
            <a:ext cx="304678" cy="74615"/>
          </a:xfrm>
          <a:prstGeom prst="roundRect">
            <a:avLst>
              <a:gd name="adj"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ounded Rectangle 123"/>
          <p:cNvSpPr/>
          <p:nvPr/>
        </p:nvSpPr>
        <p:spPr>
          <a:xfrm>
            <a:off x="15035784" y="444508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5438120" y="4133087"/>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126" name="Rounded Rectangle 125"/>
          <p:cNvSpPr/>
          <p:nvPr/>
        </p:nvSpPr>
        <p:spPr>
          <a:xfrm>
            <a:off x="722376" y="4901183"/>
            <a:ext cx="3474720" cy="841248"/>
          </a:xfrm>
          <a:prstGeom prst="roundRect">
            <a:avLst>
              <a:gd name="adj" fmla="val 8695"/>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ounded Rectangle 126"/>
          <p:cNvSpPr/>
          <p:nvPr/>
        </p:nvSpPr>
        <p:spPr>
          <a:xfrm>
            <a:off x="795528" y="4974336"/>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858804" y="5040172"/>
            <a:ext cx="333573" cy="256032"/>
          </a:xfrm>
          <a:prstGeom prst="roundRect">
            <a:avLst>
              <a:gd name="adj" fmla="val 28571"/>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893917" y="5091379"/>
            <a:ext cx="46700" cy="14849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967303" y="5091379"/>
            <a:ext cx="46700" cy="14849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040689" y="5091379"/>
            <a:ext cx="46700" cy="14849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1114075" y="5091379"/>
            <a:ext cx="46700" cy="14849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58804" y="5398617"/>
            <a:ext cx="333573" cy="192024"/>
          </a:xfrm>
          <a:prstGeom prst="roundRect">
            <a:avLst>
              <a:gd name="adj" fmla="val 3809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893917" y="5437022"/>
            <a:ext cx="40028" cy="11521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53960"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1014003" y="5437022"/>
            <a:ext cx="40028" cy="11521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74046" y="5437022"/>
            <a:ext cx="40028" cy="11521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134090" y="5437022"/>
            <a:ext cx="40028" cy="11521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Down Arrow 138"/>
          <p:cNvSpPr/>
          <p:nvPr/>
        </p:nvSpPr>
        <p:spPr>
          <a:xfrm>
            <a:off x="971092" y="5302605"/>
            <a:ext cx="91440" cy="89611"/>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1297716" y="5193792"/>
            <a:ext cx="7900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394277" y="5232196"/>
            <a:ext cx="79004" cy="25603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90837" y="5193792"/>
            <a:ext cx="79004"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587398" y="5232196"/>
            <a:ext cx="79004" cy="25603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874519" y="4974336"/>
            <a:ext cx="2267711" cy="402336"/>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KV 캐시 오프로드</a:t>
            </a:r>
          </a:p>
        </p:txBody>
      </p:sp>
      <p:sp>
        <p:nvSpPr>
          <p:cNvPr id="145" name="TextBox 144"/>
          <p:cNvSpPr txBox="1"/>
          <p:nvPr/>
        </p:nvSpPr>
        <p:spPr>
          <a:xfrm>
            <a:off x="1874519" y="5358383"/>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긴 문맥 · 재사용</a:t>
            </a:r>
          </a:p>
        </p:txBody>
      </p:sp>
      <p:sp>
        <p:nvSpPr>
          <p:cNvPr id="146" name="Rounded Rectangle 145"/>
          <p:cNvSpPr/>
          <p:nvPr/>
        </p:nvSpPr>
        <p:spPr>
          <a:xfrm>
            <a:off x="4507992" y="4901183"/>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4782312" y="5148071"/>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5678424" y="5148071"/>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6574536" y="5148071"/>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Oval 149"/>
          <p:cNvSpPr/>
          <p:nvPr/>
        </p:nvSpPr>
        <p:spPr>
          <a:xfrm>
            <a:off x="7470648" y="5148071"/>
            <a:ext cx="347472" cy="347472"/>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9317736" y="5065775"/>
            <a:ext cx="2657856"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9445752"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9551456"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9657161" y="516635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9445752" y="527206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9551456" y="527206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9657161" y="527206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9445752"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9551456"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9657161" y="537776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9848088"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63" name="Rounded Rectangle 162"/>
          <p:cNvSpPr/>
          <p:nvPr/>
        </p:nvSpPr>
        <p:spPr>
          <a:xfrm>
            <a:off x="12112752" y="5065775"/>
            <a:ext cx="2657856"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2240768" y="5166359"/>
            <a:ext cx="304678"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Down Arrow 164"/>
          <p:cNvSpPr/>
          <p:nvPr/>
        </p:nvSpPr>
        <p:spPr>
          <a:xfrm>
            <a:off x="12377562" y="5247192"/>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2240768" y="5296936"/>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2643104"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169" name="Rounded Rectangle 168"/>
          <p:cNvSpPr/>
          <p:nvPr/>
        </p:nvSpPr>
        <p:spPr>
          <a:xfrm>
            <a:off x="14907768" y="5065775"/>
            <a:ext cx="2657856" cy="512064"/>
          </a:xfrm>
          <a:prstGeom prst="roundRect">
            <a:avLst>
              <a:gd name="adj" fmla="val 14285"/>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Rectangle 169"/>
          <p:cNvSpPr/>
          <p:nvPr/>
        </p:nvSpPr>
        <p:spPr>
          <a:xfrm>
            <a:off x="15035784" y="51850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5116616" y="51850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ectangle 171"/>
          <p:cNvSpPr/>
          <p:nvPr/>
        </p:nvSpPr>
        <p:spPr>
          <a:xfrm>
            <a:off x="15197449" y="51850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5278282" y="51850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5035784" y="5321807"/>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15438120" y="5065775"/>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77" name="Rounded Rectangle 176"/>
          <p:cNvSpPr/>
          <p:nvPr/>
        </p:nvSpPr>
        <p:spPr>
          <a:xfrm>
            <a:off x="722376" y="5833872"/>
            <a:ext cx="3474720" cy="841248"/>
          </a:xfrm>
          <a:prstGeom prst="roundRect">
            <a:avLst>
              <a:gd name="adj" fmla="val 869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ounded Rectangle 177"/>
          <p:cNvSpPr/>
          <p:nvPr/>
        </p:nvSpPr>
        <p:spPr>
          <a:xfrm>
            <a:off x="795528" y="5907024"/>
            <a:ext cx="969264" cy="694944"/>
          </a:xfrm>
          <a:prstGeom prst="roundRect">
            <a:avLst>
              <a:gd name="adj" fmla="val 1052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Oval 178"/>
          <p:cNvSpPr/>
          <p:nvPr/>
        </p:nvSpPr>
        <p:spPr>
          <a:xfrm>
            <a:off x="911473" y="5998464"/>
            <a:ext cx="192024" cy="19202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858804" y="6216091"/>
            <a:ext cx="294436" cy="268833"/>
          </a:xfrm>
          <a:prstGeom prst="roundRect">
            <a:avLst>
              <a:gd name="adj" fmla="val 2721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Oval 180"/>
          <p:cNvSpPr/>
          <p:nvPr/>
        </p:nvSpPr>
        <p:spPr>
          <a:xfrm>
            <a:off x="1280160" y="6024067"/>
            <a:ext cx="52669" cy="6400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367942" y="6036868"/>
            <a:ext cx="343229" cy="44805"/>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Oval 182"/>
          <p:cNvSpPr/>
          <p:nvPr/>
        </p:nvSpPr>
        <p:spPr>
          <a:xfrm>
            <a:off x="1280160" y="6152083"/>
            <a:ext cx="52669" cy="6400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Rectangle 183"/>
          <p:cNvSpPr/>
          <p:nvPr/>
        </p:nvSpPr>
        <p:spPr>
          <a:xfrm>
            <a:off x="1367942" y="6164884"/>
            <a:ext cx="268614" cy="4480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Oval 184"/>
          <p:cNvSpPr/>
          <p:nvPr/>
        </p:nvSpPr>
        <p:spPr>
          <a:xfrm>
            <a:off x="1280160" y="6280099"/>
            <a:ext cx="52669" cy="6400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Rectangle 185"/>
          <p:cNvSpPr/>
          <p:nvPr/>
        </p:nvSpPr>
        <p:spPr>
          <a:xfrm>
            <a:off x="1367942" y="6292900"/>
            <a:ext cx="313383" cy="4480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Oval 186"/>
          <p:cNvSpPr/>
          <p:nvPr/>
        </p:nvSpPr>
        <p:spPr>
          <a:xfrm>
            <a:off x="1280160" y="6408115"/>
            <a:ext cx="52669" cy="6400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Rectangle 187"/>
          <p:cNvSpPr/>
          <p:nvPr/>
        </p:nvSpPr>
        <p:spPr>
          <a:xfrm>
            <a:off x="1367942" y="6420916"/>
            <a:ext cx="223845" cy="4480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1874519" y="5907024"/>
            <a:ext cx="2267711"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에이전트 메모리</a:t>
            </a:r>
          </a:p>
        </p:txBody>
      </p:sp>
      <p:sp>
        <p:nvSpPr>
          <p:cNvPr id="190" name="TextBox 189"/>
          <p:cNvSpPr txBox="1"/>
          <p:nvPr/>
        </p:nvSpPr>
        <p:spPr>
          <a:xfrm>
            <a:off x="1874519" y="6291072"/>
            <a:ext cx="2267711" cy="32918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세션 · 상태 · 로그</a:t>
            </a:r>
          </a:p>
        </p:txBody>
      </p:sp>
      <p:sp>
        <p:nvSpPr>
          <p:cNvPr id="191" name="Rounded Rectangle 190"/>
          <p:cNvSpPr/>
          <p:nvPr/>
        </p:nvSpPr>
        <p:spPr>
          <a:xfrm>
            <a:off x="4507992" y="5833872"/>
            <a:ext cx="4480560" cy="841248"/>
          </a:xfrm>
          <a:prstGeom prst="roundRect">
            <a:avLst>
              <a:gd name="adj" fmla="val 8695"/>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5678424" y="6080759"/>
            <a:ext cx="347472" cy="347472"/>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Oval 192"/>
          <p:cNvSpPr/>
          <p:nvPr/>
        </p:nvSpPr>
        <p:spPr>
          <a:xfrm>
            <a:off x="6574536" y="6080759"/>
            <a:ext cx="347472" cy="347472"/>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7470648" y="6080759"/>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Oval 194"/>
          <p:cNvSpPr/>
          <p:nvPr/>
        </p:nvSpPr>
        <p:spPr>
          <a:xfrm>
            <a:off x="8366760" y="6080759"/>
            <a:ext cx="347472" cy="34747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ounded Rectangle 195"/>
          <p:cNvSpPr/>
          <p:nvPr/>
        </p:nvSpPr>
        <p:spPr>
          <a:xfrm>
            <a:off x="9317736" y="5998464"/>
            <a:ext cx="2657856" cy="512064"/>
          </a:xfrm>
          <a:prstGeom prst="roundRect">
            <a:avLst>
              <a:gd name="adj" fmla="val 14285"/>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Rectangle 196"/>
          <p:cNvSpPr/>
          <p:nvPr/>
        </p:nvSpPr>
        <p:spPr>
          <a:xfrm>
            <a:off x="9445752" y="6099048"/>
            <a:ext cx="304678"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Down Arrow 197"/>
          <p:cNvSpPr/>
          <p:nvPr/>
        </p:nvSpPr>
        <p:spPr>
          <a:xfrm>
            <a:off x="9582546" y="6179880"/>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Rectangle 198"/>
          <p:cNvSpPr/>
          <p:nvPr/>
        </p:nvSpPr>
        <p:spPr>
          <a:xfrm>
            <a:off x="9445752" y="6229624"/>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9848088"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02" name="Rounded Rectangle 201"/>
          <p:cNvSpPr/>
          <p:nvPr/>
        </p:nvSpPr>
        <p:spPr>
          <a:xfrm>
            <a:off x="12112752" y="5998464"/>
            <a:ext cx="2657856" cy="512064"/>
          </a:xfrm>
          <a:prstGeom prst="roundRect">
            <a:avLst>
              <a:gd name="adj" fmla="val 14285"/>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ounded Rectangle 202"/>
          <p:cNvSpPr/>
          <p:nvPr/>
        </p:nvSpPr>
        <p:spPr>
          <a:xfrm>
            <a:off x="12240768" y="6099048"/>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ounded Rectangle 203"/>
          <p:cNvSpPr/>
          <p:nvPr/>
        </p:nvSpPr>
        <p:spPr>
          <a:xfrm>
            <a:off x="12240768" y="6204752"/>
            <a:ext cx="304678" cy="74615"/>
          </a:xfrm>
          <a:prstGeom prst="roundRect">
            <a:avLst>
              <a:gd name="adj"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Rounded Rectangle 204"/>
          <p:cNvSpPr/>
          <p:nvPr/>
        </p:nvSpPr>
        <p:spPr>
          <a:xfrm>
            <a:off x="12240768" y="6310457"/>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12643104"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07" name="Rounded Rectangle 206"/>
          <p:cNvSpPr/>
          <p:nvPr/>
        </p:nvSpPr>
        <p:spPr>
          <a:xfrm>
            <a:off x="14907768" y="5998464"/>
            <a:ext cx="2657856" cy="512064"/>
          </a:xfrm>
          <a:prstGeom prst="roundRect">
            <a:avLst>
              <a:gd name="adj" fmla="val 14285"/>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5104181" y="6099048"/>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ounded Rectangle 208"/>
          <p:cNvSpPr/>
          <p:nvPr/>
        </p:nvSpPr>
        <p:spPr>
          <a:xfrm>
            <a:off x="15060655" y="6223406"/>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ectangle 209"/>
          <p:cNvSpPr/>
          <p:nvPr/>
        </p:nvSpPr>
        <p:spPr>
          <a:xfrm>
            <a:off x="15172578" y="6273149"/>
            <a:ext cx="37307"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15438120" y="5998464"/>
            <a:ext cx="2072640" cy="51206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12" name="TextBox 211"/>
          <p:cNvSpPr txBox="1"/>
          <p:nvPr/>
        </p:nvSpPr>
        <p:spPr>
          <a:xfrm>
            <a:off x="6336792" y="2066543"/>
            <a:ext cx="2651760" cy="402336"/>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500" b="0">
                <a:solidFill>
                  <a:srgbClr val="555555"/>
                </a:solidFill>
                <a:latin typeface="Arial"/>
                <a:ea typeface="Arial"/>
              </a:rPr>
              <a:t> 핵심  </a:t>
            </a:r>
            <a:r>
              <a:rPr sz="1600" b="1">
                <a:solidFill>
                  <a:srgbClr val="3C5AC8"/>
                </a:solidFill>
                <a:latin typeface="Arial"/>
                <a:ea typeface="Arial"/>
              </a:rPr>
              <a:t>○</a:t>
            </a:r>
            <a:r>
              <a:rPr sz="1500" b="0">
                <a:solidFill>
                  <a:srgbClr val="555555"/>
                </a:solidFill>
                <a:latin typeface="Arial"/>
                <a:ea typeface="Arial"/>
              </a:rPr>
              <a:t> 해당</a:t>
            </a:r>
          </a:p>
        </p:txBody>
      </p:sp>
      <p:sp>
        <p:nvSpPr>
          <p:cNvPr id="213" name="Rounded Rectangle 212"/>
          <p:cNvSpPr/>
          <p:nvPr/>
        </p:nvSpPr>
        <p:spPr>
          <a:xfrm>
            <a:off x="72237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ounded Rectangle 213"/>
          <p:cNvSpPr/>
          <p:nvPr/>
        </p:nvSpPr>
        <p:spPr>
          <a:xfrm>
            <a:off x="795528" y="7242048"/>
            <a:ext cx="2554224" cy="420624"/>
          </a:xfrm>
          <a:prstGeom prst="roundRect">
            <a:avLst>
              <a:gd name="adj" fmla="val 1739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ectangle 214"/>
          <p:cNvSpPr/>
          <p:nvPr/>
        </p:nvSpPr>
        <p:spPr>
          <a:xfrm>
            <a:off x="923544"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1029248"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Rectangle 216"/>
          <p:cNvSpPr/>
          <p:nvPr/>
        </p:nvSpPr>
        <p:spPr>
          <a:xfrm>
            <a:off x="1134953" y="7296912"/>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923544" y="7402616"/>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029248" y="7402616"/>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134953" y="7402616"/>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Rectangle 220"/>
          <p:cNvSpPr/>
          <p:nvPr/>
        </p:nvSpPr>
        <p:spPr>
          <a:xfrm>
            <a:off x="923544"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1029248"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1134953" y="7508321"/>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TextBox 223"/>
          <p:cNvSpPr txBox="1"/>
          <p:nvPr/>
        </p:nvSpPr>
        <p:spPr>
          <a:xfrm>
            <a:off x="1325880"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225" name="Rectangle 224"/>
          <p:cNvSpPr/>
          <p:nvPr/>
        </p:nvSpPr>
        <p:spPr>
          <a:xfrm>
            <a:off x="1331976" y="7754112"/>
            <a:ext cx="146304"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Rectangle 225"/>
          <p:cNvSpPr/>
          <p:nvPr/>
        </p:nvSpPr>
        <p:spPr>
          <a:xfrm>
            <a:off x="1514856" y="7754112"/>
            <a:ext cx="146304" cy="18288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1697736" y="7754112"/>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1331976" y="7973568"/>
            <a:ext cx="146304" cy="18288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14856" y="7973568"/>
            <a:ext cx="146304"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Rectangle 229"/>
          <p:cNvSpPr/>
          <p:nvPr/>
        </p:nvSpPr>
        <p:spPr>
          <a:xfrm>
            <a:off x="1697736" y="7973568"/>
            <a:ext cx="146304"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Right Arrow 230"/>
          <p:cNvSpPr/>
          <p:nvPr/>
        </p:nvSpPr>
        <p:spPr>
          <a:xfrm>
            <a:off x="1935480" y="7882128"/>
            <a:ext cx="274320" cy="18288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2301240" y="7735824"/>
            <a:ext cx="146304"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2484120" y="7735824"/>
            <a:ext cx="146304"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ectangle 233"/>
          <p:cNvSpPr/>
          <p:nvPr/>
        </p:nvSpPr>
        <p:spPr>
          <a:xfrm>
            <a:off x="2667000" y="7735824"/>
            <a:ext cx="146304"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Rectangle 234"/>
          <p:cNvSpPr/>
          <p:nvPr/>
        </p:nvSpPr>
        <p:spPr>
          <a:xfrm>
            <a:off x="2301240" y="7882128"/>
            <a:ext cx="146304"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Rectangle 235"/>
          <p:cNvSpPr/>
          <p:nvPr/>
        </p:nvSpPr>
        <p:spPr>
          <a:xfrm>
            <a:off x="2484120" y="7882128"/>
            <a:ext cx="146304"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2667000" y="7882128"/>
            <a:ext cx="146304"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230124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Rectangle 238"/>
          <p:cNvSpPr/>
          <p:nvPr/>
        </p:nvSpPr>
        <p:spPr>
          <a:xfrm>
            <a:off x="248412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Rectangle 239"/>
          <p:cNvSpPr/>
          <p:nvPr/>
        </p:nvSpPr>
        <p:spPr>
          <a:xfrm>
            <a:off x="2667000" y="8028432"/>
            <a:ext cx="146304" cy="10972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79552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같은 수명끼리 → 통째로 지움</a:t>
            </a:r>
          </a:p>
        </p:txBody>
      </p:sp>
      <p:sp>
        <p:nvSpPr>
          <p:cNvPr id="243" name="Rounded Rectangle 242"/>
          <p:cNvSpPr/>
          <p:nvPr/>
        </p:nvSpPr>
        <p:spPr>
          <a:xfrm>
            <a:off x="3550920"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3624072" y="7242048"/>
            <a:ext cx="2554224" cy="420624"/>
          </a:xfrm>
          <a:prstGeom prst="roundRect">
            <a:avLst>
              <a:gd name="adj" fmla="val 1739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Rectangle 244"/>
          <p:cNvSpPr/>
          <p:nvPr/>
        </p:nvSpPr>
        <p:spPr>
          <a:xfrm>
            <a:off x="3752088" y="7296912"/>
            <a:ext cx="304678"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Down Arrow 245"/>
          <p:cNvSpPr/>
          <p:nvPr/>
        </p:nvSpPr>
        <p:spPr>
          <a:xfrm>
            <a:off x="3888882" y="7377744"/>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3752088" y="7427488"/>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TextBox 247"/>
          <p:cNvSpPr txBox="1"/>
          <p:nvPr/>
        </p:nvSpPr>
        <p:spPr>
          <a:xfrm>
            <a:off x="4154424"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49" name="Rectangle 248"/>
          <p:cNvSpPr/>
          <p:nvPr/>
        </p:nvSpPr>
        <p:spPr>
          <a:xfrm>
            <a:off x="4160520" y="7790688"/>
            <a:ext cx="82296" cy="8229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Rectangle 249"/>
          <p:cNvSpPr/>
          <p:nvPr/>
        </p:nvSpPr>
        <p:spPr>
          <a:xfrm>
            <a:off x="4270248" y="7936992"/>
            <a:ext cx="82296" cy="8229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Rectangle 250"/>
          <p:cNvSpPr/>
          <p:nvPr/>
        </p:nvSpPr>
        <p:spPr>
          <a:xfrm>
            <a:off x="4379976" y="7790688"/>
            <a:ext cx="82296" cy="8229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4489704" y="7936992"/>
            <a:ext cx="82296" cy="8229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ight Arrow 252"/>
          <p:cNvSpPr/>
          <p:nvPr/>
        </p:nvSpPr>
        <p:spPr>
          <a:xfrm>
            <a:off x="4636008" y="7863840"/>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ectangle 253"/>
          <p:cNvSpPr/>
          <p:nvPr/>
        </p:nvSpPr>
        <p:spPr>
          <a:xfrm>
            <a:off x="4946904" y="7772400"/>
            <a:ext cx="566928" cy="12801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Down Arrow 254"/>
          <p:cNvSpPr/>
          <p:nvPr/>
        </p:nvSpPr>
        <p:spPr>
          <a:xfrm>
            <a:off x="5166360" y="7909560"/>
            <a:ext cx="109728" cy="91440"/>
          </a:xfrm>
          <a:prstGeom prst="down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Rectangle 255"/>
          <p:cNvSpPr/>
          <p:nvPr/>
        </p:nvSpPr>
        <p:spPr>
          <a:xfrm>
            <a:off x="4946904" y="8010144"/>
            <a:ext cx="56692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TextBox 256"/>
          <p:cNvSpPr txBox="1"/>
          <p:nvPr/>
        </p:nvSpPr>
        <p:spPr>
          <a:xfrm>
            <a:off x="3624072"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작은 쓰기 모아 QLC로</a:t>
            </a:r>
          </a:p>
        </p:txBody>
      </p:sp>
      <p:sp>
        <p:nvSpPr>
          <p:cNvPr id="259" name="Rounded Rectangle 258"/>
          <p:cNvSpPr/>
          <p:nvPr/>
        </p:nvSpPr>
        <p:spPr>
          <a:xfrm>
            <a:off x="6379464"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Rounded Rectangle 259"/>
          <p:cNvSpPr/>
          <p:nvPr/>
        </p:nvSpPr>
        <p:spPr>
          <a:xfrm>
            <a:off x="6452616" y="7242048"/>
            <a:ext cx="2554224" cy="420624"/>
          </a:xfrm>
          <a:prstGeom prst="roundRect">
            <a:avLst>
              <a:gd name="adj" fmla="val 17391"/>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Rectangle 260"/>
          <p:cNvSpPr/>
          <p:nvPr/>
        </p:nvSpPr>
        <p:spPr>
          <a:xfrm>
            <a:off x="6580632" y="731556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Rectangle 261"/>
          <p:cNvSpPr/>
          <p:nvPr/>
        </p:nvSpPr>
        <p:spPr>
          <a:xfrm>
            <a:off x="6661464" y="731556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6742297" y="731556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6823130" y="731556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ectangle 264"/>
          <p:cNvSpPr/>
          <p:nvPr/>
        </p:nvSpPr>
        <p:spPr>
          <a:xfrm>
            <a:off x="6580632" y="745236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6982968"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267" name="Rectangle 266"/>
          <p:cNvSpPr/>
          <p:nvPr/>
        </p:nvSpPr>
        <p:spPr>
          <a:xfrm>
            <a:off x="6989064" y="7863840"/>
            <a:ext cx="64008"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7066788" y="7863840"/>
            <a:ext cx="64008"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7144512" y="7863840"/>
            <a:ext cx="64008"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Rectangle 269"/>
          <p:cNvSpPr/>
          <p:nvPr/>
        </p:nvSpPr>
        <p:spPr>
          <a:xfrm>
            <a:off x="7222236" y="7863840"/>
            <a:ext cx="64008"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Rectangle 270"/>
          <p:cNvSpPr/>
          <p:nvPr/>
        </p:nvSpPr>
        <p:spPr>
          <a:xfrm>
            <a:off x="7299960" y="7863840"/>
            <a:ext cx="64008"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Rectangle 271"/>
          <p:cNvSpPr/>
          <p:nvPr/>
        </p:nvSpPr>
        <p:spPr>
          <a:xfrm>
            <a:off x="7377684" y="7863840"/>
            <a:ext cx="64008"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Rectangle 272"/>
          <p:cNvSpPr/>
          <p:nvPr/>
        </p:nvSpPr>
        <p:spPr>
          <a:xfrm>
            <a:off x="7455408" y="7863840"/>
            <a:ext cx="64008"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Rectangle 273"/>
          <p:cNvSpPr/>
          <p:nvPr/>
        </p:nvSpPr>
        <p:spPr>
          <a:xfrm>
            <a:off x="7533132" y="7863840"/>
            <a:ext cx="64008" cy="21945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Right Arrow 274"/>
          <p:cNvSpPr/>
          <p:nvPr/>
        </p:nvSpPr>
        <p:spPr>
          <a:xfrm>
            <a:off x="7665720" y="7891272"/>
            <a:ext cx="237744" cy="164592"/>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Rectangle 275"/>
          <p:cNvSpPr/>
          <p:nvPr/>
        </p:nvSpPr>
        <p:spPr>
          <a:xfrm>
            <a:off x="7976616" y="7863840"/>
            <a:ext cx="256032" cy="21945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Rectangle 276"/>
          <p:cNvSpPr/>
          <p:nvPr/>
        </p:nvSpPr>
        <p:spPr>
          <a:xfrm>
            <a:off x="8269224" y="7863840"/>
            <a:ext cx="256032" cy="21945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TextBox 277"/>
          <p:cNvSpPr txBox="1"/>
          <p:nvPr/>
        </p:nvSpPr>
        <p:spPr>
          <a:xfrm>
            <a:off x="6452616"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매핑 단위 ↑ · DRAM ↓</a:t>
            </a:r>
          </a:p>
        </p:txBody>
      </p:sp>
      <p:sp>
        <p:nvSpPr>
          <p:cNvPr id="280" name="Rounded Rectangle 279"/>
          <p:cNvSpPr/>
          <p:nvPr/>
        </p:nvSpPr>
        <p:spPr>
          <a:xfrm>
            <a:off x="9208008"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Rounded Rectangle 280"/>
          <p:cNvSpPr/>
          <p:nvPr/>
        </p:nvSpPr>
        <p:spPr>
          <a:xfrm>
            <a:off x="9281160" y="7242048"/>
            <a:ext cx="2554224" cy="420624"/>
          </a:xfrm>
          <a:prstGeom prst="roundRect">
            <a:avLst>
              <a:gd name="adj" fmla="val 17391"/>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Rounded Rectangle 281"/>
          <p:cNvSpPr/>
          <p:nvPr/>
        </p:nvSpPr>
        <p:spPr>
          <a:xfrm>
            <a:off x="9409176" y="7296912"/>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Rounded Rectangle 282"/>
          <p:cNvSpPr/>
          <p:nvPr/>
        </p:nvSpPr>
        <p:spPr>
          <a:xfrm>
            <a:off x="9409176" y="7402616"/>
            <a:ext cx="304678" cy="74615"/>
          </a:xfrm>
          <a:prstGeom prst="roundRect">
            <a:avLst>
              <a:gd name="adj"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Rounded Rectangle 283"/>
          <p:cNvSpPr/>
          <p:nvPr/>
        </p:nvSpPr>
        <p:spPr>
          <a:xfrm>
            <a:off x="9409176" y="7508321"/>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TextBox 284"/>
          <p:cNvSpPr txBox="1"/>
          <p:nvPr/>
        </p:nvSpPr>
        <p:spPr>
          <a:xfrm>
            <a:off x="9811512"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86" name="Rectangle 285"/>
          <p:cNvSpPr/>
          <p:nvPr/>
        </p:nvSpPr>
        <p:spPr>
          <a:xfrm>
            <a:off x="9817608" y="7754112"/>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Rectangle 286"/>
          <p:cNvSpPr/>
          <p:nvPr/>
        </p:nvSpPr>
        <p:spPr>
          <a:xfrm>
            <a:off x="9817608" y="7754112"/>
            <a:ext cx="1005840" cy="10972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Rectangle 287"/>
          <p:cNvSpPr/>
          <p:nvPr/>
        </p:nvSpPr>
        <p:spPr>
          <a:xfrm>
            <a:off x="9817608" y="7900416"/>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Rectangle 288"/>
          <p:cNvSpPr/>
          <p:nvPr/>
        </p:nvSpPr>
        <p:spPr>
          <a:xfrm>
            <a:off x="9817608" y="7900416"/>
            <a:ext cx="731520" cy="10972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Rectangle 289"/>
          <p:cNvSpPr/>
          <p:nvPr/>
        </p:nvSpPr>
        <p:spPr>
          <a:xfrm>
            <a:off x="9817608" y="8046720"/>
            <a:ext cx="1481328" cy="109728"/>
          </a:xfrm>
          <a:prstGeom prst="rect">
            <a:avLst/>
          </a:prstGeom>
          <a:solidFill>
            <a:srgbClr val="F5F5F5"/>
          </a:solidFill>
          <a:ln w="635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Rectangle 290"/>
          <p:cNvSpPr/>
          <p:nvPr/>
        </p:nvSpPr>
        <p:spPr>
          <a:xfrm>
            <a:off x="9817608" y="8046720"/>
            <a:ext cx="1188720" cy="10972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TextBox 291"/>
          <p:cNvSpPr txBox="1"/>
          <p:nvPr/>
        </p:nvSpPr>
        <p:spPr>
          <a:xfrm>
            <a:off x="9281160"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테넌트별 격리</a:t>
            </a:r>
          </a:p>
        </p:txBody>
      </p:sp>
      <p:sp>
        <p:nvSpPr>
          <p:cNvPr id="293" name="Rounded Rectangle 292"/>
          <p:cNvSpPr/>
          <p:nvPr/>
        </p:nvSpPr>
        <p:spPr>
          <a:xfrm>
            <a:off x="12036552"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Rounded Rectangle 293"/>
          <p:cNvSpPr/>
          <p:nvPr/>
        </p:nvSpPr>
        <p:spPr>
          <a:xfrm>
            <a:off x="12109704" y="7242048"/>
            <a:ext cx="2554224" cy="420624"/>
          </a:xfrm>
          <a:prstGeom prst="roundRect">
            <a:avLst>
              <a:gd name="adj" fmla="val 17391"/>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Oval 294"/>
          <p:cNvSpPr/>
          <p:nvPr/>
        </p:nvSpPr>
        <p:spPr>
          <a:xfrm>
            <a:off x="12306117" y="7296912"/>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Rounded Rectangle 295"/>
          <p:cNvSpPr/>
          <p:nvPr/>
        </p:nvSpPr>
        <p:spPr>
          <a:xfrm>
            <a:off x="12262591" y="7421270"/>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Rectangle 296"/>
          <p:cNvSpPr/>
          <p:nvPr/>
        </p:nvSpPr>
        <p:spPr>
          <a:xfrm>
            <a:off x="12374514" y="7471013"/>
            <a:ext cx="37307"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TextBox 297"/>
          <p:cNvSpPr txBox="1"/>
          <p:nvPr/>
        </p:nvSpPr>
        <p:spPr>
          <a:xfrm>
            <a:off x="12640056" y="7242048"/>
            <a:ext cx="1969008" cy="420624"/>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99" name="Oval 298"/>
          <p:cNvSpPr/>
          <p:nvPr/>
        </p:nvSpPr>
        <p:spPr>
          <a:xfrm>
            <a:off x="12826105" y="7754112"/>
            <a:ext cx="225308" cy="249448"/>
          </a:xfrm>
          <a:prstGeom prst="ellipse">
            <a:avLst/>
          </a:prstGeom>
          <a:noFill/>
          <a:ln w="285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Rounded Rectangle 299"/>
          <p:cNvSpPr/>
          <p:nvPr/>
        </p:nvSpPr>
        <p:spPr>
          <a:xfrm>
            <a:off x="12769778" y="7915046"/>
            <a:ext cx="337962" cy="233354"/>
          </a:xfrm>
          <a:prstGeom prst="roundRect">
            <a:avLst>
              <a:gd name="adj" fmla="val 313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Rectangle 300"/>
          <p:cNvSpPr/>
          <p:nvPr/>
        </p:nvSpPr>
        <p:spPr>
          <a:xfrm>
            <a:off x="12914619" y="7979420"/>
            <a:ext cx="48280" cy="96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Right Arrow 301"/>
          <p:cNvSpPr/>
          <p:nvPr/>
        </p:nvSpPr>
        <p:spPr>
          <a:xfrm>
            <a:off x="13249656" y="7845552"/>
            <a:ext cx="274320" cy="201168"/>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Oval 302"/>
          <p:cNvSpPr/>
          <p:nvPr/>
        </p:nvSpPr>
        <p:spPr>
          <a:xfrm>
            <a:off x="13615416" y="7772400"/>
            <a:ext cx="384048" cy="384048"/>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TextBox 303"/>
          <p:cNvSpPr txBox="1"/>
          <p:nvPr/>
        </p:nvSpPr>
        <p:spPr>
          <a:xfrm>
            <a:off x="13615416" y="7772400"/>
            <a:ext cx="384048" cy="384048"/>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t>
            </a:r>
          </a:p>
        </p:txBody>
      </p:sp>
      <p:sp>
        <p:nvSpPr>
          <p:cNvPr id="305" name="TextBox 304"/>
          <p:cNvSpPr txBox="1"/>
          <p:nvPr/>
        </p:nvSpPr>
        <p:spPr>
          <a:xfrm>
            <a:off x="12109704"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암호화 · 증명 · 키</a:t>
            </a:r>
          </a:p>
        </p:txBody>
      </p:sp>
      <p:sp>
        <p:nvSpPr>
          <p:cNvPr id="306" name="Rounded Rectangle 305"/>
          <p:cNvSpPr/>
          <p:nvPr/>
        </p:nvSpPr>
        <p:spPr>
          <a:xfrm>
            <a:off x="14865096" y="7168896"/>
            <a:ext cx="2700528" cy="1335024"/>
          </a:xfrm>
          <a:prstGeom prst="roundRect">
            <a:avLst>
              <a:gd name="adj" fmla="val 547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Rounded Rectangle 306"/>
          <p:cNvSpPr/>
          <p:nvPr/>
        </p:nvSpPr>
        <p:spPr>
          <a:xfrm>
            <a:off x="14938248" y="7242048"/>
            <a:ext cx="2554224" cy="420624"/>
          </a:xfrm>
          <a:prstGeom prst="roundRect">
            <a:avLst>
              <a:gd name="adj" fmla="val 17391"/>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Rectangle 307"/>
          <p:cNvSpPr/>
          <p:nvPr/>
        </p:nvSpPr>
        <p:spPr>
          <a:xfrm>
            <a:off x="15066264" y="7296912"/>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Rectangle 308"/>
          <p:cNvSpPr/>
          <p:nvPr/>
        </p:nvSpPr>
        <p:spPr>
          <a:xfrm>
            <a:off x="15171968" y="7296912"/>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Rectangle 309"/>
          <p:cNvSpPr/>
          <p:nvPr/>
        </p:nvSpPr>
        <p:spPr>
          <a:xfrm>
            <a:off x="15277673" y="7296912"/>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Rectangle 310"/>
          <p:cNvSpPr/>
          <p:nvPr/>
        </p:nvSpPr>
        <p:spPr>
          <a:xfrm>
            <a:off x="15066264" y="7402616"/>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Rectangle 311"/>
          <p:cNvSpPr/>
          <p:nvPr/>
        </p:nvSpPr>
        <p:spPr>
          <a:xfrm>
            <a:off x="15171968" y="7402616"/>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Rectangle 312"/>
          <p:cNvSpPr/>
          <p:nvPr/>
        </p:nvSpPr>
        <p:spPr>
          <a:xfrm>
            <a:off x="15277673" y="7402616"/>
            <a:ext cx="87050" cy="87050"/>
          </a:xfrm>
          <a:prstGeom prst="rect">
            <a:avLst/>
          </a:prstGeom>
          <a:no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Rectangle 313"/>
          <p:cNvSpPr/>
          <p:nvPr/>
        </p:nvSpPr>
        <p:spPr>
          <a:xfrm>
            <a:off x="15066264" y="7508321"/>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Rectangle 314"/>
          <p:cNvSpPr/>
          <p:nvPr/>
        </p:nvSpPr>
        <p:spPr>
          <a:xfrm>
            <a:off x="15171968" y="7508321"/>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Rectangle 315"/>
          <p:cNvSpPr/>
          <p:nvPr/>
        </p:nvSpPr>
        <p:spPr>
          <a:xfrm>
            <a:off x="15277673" y="7508321"/>
            <a:ext cx="87050" cy="8705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TextBox 316"/>
          <p:cNvSpPr txBox="1"/>
          <p:nvPr/>
        </p:nvSpPr>
        <p:spPr>
          <a:xfrm>
            <a:off x="15468599" y="7242048"/>
            <a:ext cx="1969008" cy="420624"/>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Fault Tolerant</a:t>
            </a:r>
          </a:p>
        </p:txBody>
      </p:sp>
      <p:sp>
        <p:nvSpPr>
          <p:cNvPr id="318" name="Rectangle 317"/>
          <p:cNvSpPr/>
          <p:nvPr/>
        </p:nvSpPr>
        <p:spPr>
          <a:xfrm>
            <a:off x="15474696" y="7754112"/>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Rectangle 318"/>
          <p:cNvSpPr/>
          <p:nvPr/>
        </p:nvSpPr>
        <p:spPr>
          <a:xfrm>
            <a:off x="15712440" y="7754112"/>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Rectangle 319"/>
          <p:cNvSpPr/>
          <p:nvPr/>
        </p:nvSpPr>
        <p:spPr>
          <a:xfrm>
            <a:off x="15950184" y="7754112"/>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Rectangle 320"/>
          <p:cNvSpPr/>
          <p:nvPr/>
        </p:nvSpPr>
        <p:spPr>
          <a:xfrm>
            <a:off x="16187928" y="7754112"/>
            <a:ext cx="182880" cy="164592"/>
          </a:xfrm>
          <a:prstGeom prst="rect">
            <a:avLst/>
          </a:prstGeom>
          <a:no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Rectangle 321"/>
          <p:cNvSpPr/>
          <p:nvPr/>
        </p:nvSpPr>
        <p:spPr>
          <a:xfrm>
            <a:off x="16425672" y="7754112"/>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Rectangle 322"/>
          <p:cNvSpPr/>
          <p:nvPr/>
        </p:nvSpPr>
        <p:spPr>
          <a:xfrm>
            <a:off x="16663416" y="7754112"/>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Rectangle 323"/>
          <p:cNvSpPr/>
          <p:nvPr/>
        </p:nvSpPr>
        <p:spPr>
          <a:xfrm>
            <a:off x="15474696" y="7973568"/>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Rectangle 324"/>
          <p:cNvSpPr/>
          <p:nvPr/>
        </p:nvSpPr>
        <p:spPr>
          <a:xfrm>
            <a:off x="15712440" y="7973568"/>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Rectangle 325"/>
          <p:cNvSpPr/>
          <p:nvPr/>
        </p:nvSpPr>
        <p:spPr>
          <a:xfrm>
            <a:off x="15950184" y="7973568"/>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Rectangle 326"/>
          <p:cNvSpPr/>
          <p:nvPr/>
        </p:nvSpPr>
        <p:spPr>
          <a:xfrm>
            <a:off x="16187928" y="7973568"/>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Rectangle 327"/>
          <p:cNvSpPr/>
          <p:nvPr/>
        </p:nvSpPr>
        <p:spPr>
          <a:xfrm>
            <a:off x="16425672" y="7973568"/>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16663416" y="7973568"/>
            <a:ext cx="182880" cy="164592"/>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Multiply 329"/>
          <p:cNvSpPr/>
          <p:nvPr/>
        </p:nvSpPr>
        <p:spPr>
          <a:xfrm>
            <a:off x="16206216" y="7763256"/>
            <a:ext cx="146304" cy="146304"/>
          </a:xfrm>
          <a:prstGeom prst="mathMultiply">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TextBox 330"/>
          <p:cNvSpPr txBox="1"/>
          <p:nvPr/>
        </p:nvSpPr>
        <p:spPr>
          <a:xfrm>
            <a:off x="14938248" y="8156448"/>
            <a:ext cx="2554224"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고장 다이만 격리</a:t>
            </a:r>
          </a:p>
        </p:txBody>
      </p:sp>
      <p:grpSp>
        <p:nvGrpSpPr>
          <p:cNvPr id="334" name="Group 333"/>
          <p:cNvGrpSpPr/>
          <p:nvPr/>
        </p:nvGrpSpPr>
        <p:grpSpPr>
          <a:xfrm>
            <a:off x="667512" y="3145536"/>
            <a:ext cx="16952976" cy="5413248"/>
            <a:chOff x="667512" y="3145536"/>
            <a:chExt cx="16952976" cy="5413248"/>
          </a:xfrm>
        </p:grpSpPr>
        <p:sp>
          <p:nvSpPr>
            <p:cNvPr id="67" name="Rounded Rectangle 66"/>
            <p:cNvSpPr/>
            <p:nvPr/>
          </p:nvSpPr>
          <p:spPr>
            <a:xfrm>
              <a:off x="9262872" y="3145536"/>
              <a:ext cx="2767584" cy="621792"/>
            </a:xfrm>
            <a:prstGeom prst="roundRect">
              <a:avLst>
                <a:gd name="adj" fmla="val 11764"/>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ounded Rectangle 111"/>
            <p:cNvSpPr/>
            <p:nvPr/>
          </p:nvSpPr>
          <p:spPr>
            <a:xfrm>
              <a:off x="9262872" y="4078224"/>
              <a:ext cx="2767584" cy="621792"/>
            </a:xfrm>
            <a:prstGeom prst="roundRect">
              <a:avLst>
                <a:gd name="adj" fmla="val 11764"/>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ounded Rectangle 119"/>
            <p:cNvSpPr/>
            <p:nvPr/>
          </p:nvSpPr>
          <p:spPr>
            <a:xfrm>
              <a:off x="12057888" y="4078224"/>
              <a:ext cx="2767584" cy="621792"/>
            </a:xfrm>
            <a:prstGeom prst="roundRect">
              <a:avLst>
                <a:gd name="adj" fmla="val 11764"/>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9262872" y="5010912"/>
              <a:ext cx="2767584" cy="621792"/>
            </a:xfrm>
            <a:prstGeom prst="roundRect">
              <a:avLst>
                <a:gd name="adj" fmla="val 11764"/>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ounded Rectangle 167"/>
            <p:cNvSpPr/>
            <p:nvPr/>
          </p:nvSpPr>
          <p:spPr>
            <a:xfrm>
              <a:off x="12057888" y="5010912"/>
              <a:ext cx="2767584" cy="621792"/>
            </a:xfrm>
            <a:prstGeom prst="roundRect">
              <a:avLst>
                <a:gd name="adj" fmla="val 11764"/>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ounded Rectangle 175"/>
            <p:cNvSpPr/>
            <p:nvPr/>
          </p:nvSpPr>
          <p:spPr>
            <a:xfrm>
              <a:off x="14852904" y="5010912"/>
              <a:ext cx="2767584" cy="621792"/>
            </a:xfrm>
            <a:prstGeom prst="roundRect">
              <a:avLst>
                <a:gd name="adj" fmla="val 11764"/>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Rounded Rectangle 200"/>
            <p:cNvSpPr/>
            <p:nvPr/>
          </p:nvSpPr>
          <p:spPr>
            <a:xfrm>
              <a:off x="9262872" y="5943600"/>
              <a:ext cx="2767584" cy="621792"/>
            </a:xfrm>
            <a:prstGeom prst="roundRect">
              <a:avLst>
                <a:gd name="adj" fmla="val 11764"/>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ounded Rectangle 241"/>
            <p:cNvSpPr/>
            <p:nvPr/>
          </p:nvSpPr>
          <p:spPr>
            <a:xfrm>
              <a:off x="667512" y="7114032"/>
              <a:ext cx="2810256" cy="1444752"/>
            </a:xfrm>
            <a:prstGeom prst="roundRect">
              <a:avLst>
                <a:gd name="adj" fmla="val 5063"/>
              </a:avLst>
            </a:prstGeom>
            <a:noFill/>
            <a:ln w="444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ounded Rectangle 257"/>
            <p:cNvSpPr/>
            <p:nvPr/>
          </p:nvSpPr>
          <p:spPr>
            <a:xfrm>
              <a:off x="3496056" y="7114032"/>
              <a:ext cx="2810256" cy="1444752"/>
            </a:xfrm>
            <a:prstGeom prst="roundRect">
              <a:avLst>
                <a:gd name="adj" fmla="val 5063"/>
              </a:avLst>
            </a:prstGeom>
            <a:noFill/>
            <a:ln w="444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Rounded Rectangle 278"/>
            <p:cNvSpPr/>
            <p:nvPr/>
          </p:nvSpPr>
          <p:spPr>
            <a:xfrm>
              <a:off x="6324600" y="7114032"/>
              <a:ext cx="2810256" cy="1444752"/>
            </a:xfrm>
            <a:prstGeom prst="roundRect">
              <a:avLst>
                <a:gd name="adj" fmla="val 5063"/>
              </a:avLst>
            </a:prstGeom>
            <a:noFill/>
            <a:ln w="444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ounded Rectangle 331"/>
            <p:cNvSpPr/>
            <p:nvPr/>
          </p:nvSpPr>
          <p:spPr>
            <a:xfrm>
              <a:off x="6135624" y="6766560"/>
              <a:ext cx="2962656" cy="329184"/>
            </a:xfrm>
            <a:prstGeom prst="roundRect">
              <a:avLst>
                <a:gd name="adj" fmla="val 2222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135624" y="6766560"/>
              <a:ext cx="2962656" cy="329184"/>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세 기술은 다음 장에서 자세히 ▶</a:t>
              </a:r>
            </a:p>
          </p:txBody>
        </p:sp>
      </p:grpSp>
      <p:sp>
        <p:nvSpPr>
          <p:cNvPr id="335" name="Rectangle 334"/>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TextBox 335"/>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337" name="TextBox 336"/>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338" name="TextBox 33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단계(채도)는 과제팀 판단(위키 ai-inference-storage-requirements · ssd-core-technologies-customer-collaboration §3.5) · 수치는 발표자 노트</a:t>
            </a:r>
          </a:p>
        </p:txBody>
      </p:sp>
      <p:sp>
        <p:nvSpPr>
          <p:cNvPr id="339" name="TextBox 33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334"/>
                                        </p:tgtEl>
                                        <p:attrNameLst>
                                          <p:attrName>style.visibility</p:attrName>
                                        </p:attrNameLst>
                                      </p:cBhvr>
                                      <p:to>
                                        <p:strVal val="visible"/>
                                      </p:to>
                                    </p:set>
                                    <p:animEffect transition="in" filter="fade">
                                      <p:cBhvr>
                                        <p:cTn id="8" dur="500"/>
                                        <p:tgtEl>
                                          <p:spTgt spid="3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8  차별화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 차별화 요구가 예측 가능한 QoS · 고용량 · 고내구로 바뀌는 지금,</a:t>
            </a:r>
          </a:p>
          <a:p>
            <a:pPr algn="l">
              <a:lnSpc>
                <a:spcPct val="105000"/>
              </a:lnSpc>
            </a:pPr>
            <a:r>
              <a:rPr sz="3200" b="1">
                <a:solidFill>
                  <a:srgbClr val="1A1A1A"/>
                </a:solidFill>
                <a:latin typeface="Arial"/>
                <a:ea typeface="Arial"/>
              </a:rPr>
              <a:t>이에 대비한 기술로 미래 수요에 능동적으로 대응하는 포트폴리오를 완성해야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entagon 5"/>
          <p:cNvSpPr/>
          <p:nvPr/>
        </p:nvSpPr>
        <p:spPr>
          <a:xfrm>
            <a:off x="722376" y="2103120"/>
            <a:ext cx="3337560" cy="877824"/>
          </a:xfrm>
          <a:prstGeom prst="homePlate">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2000년대 후반</a:t>
            </a:r>
          </a:p>
        </p:txBody>
      </p:sp>
      <p:sp>
        <p:nvSpPr>
          <p:cNvPr id="8" name="TextBox 7"/>
          <p:cNvSpPr txBox="1"/>
          <p:nvPr/>
        </p:nvSpPr>
        <p:spPr>
          <a:xfrm>
            <a:off x="905256"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성능</a:t>
            </a:r>
          </a:p>
        </p:txBody>
      </p:sp>
      <p:sp>
        <p:nvSpPr>
          <p:cNvPr id="9" name="TextBox 8"/>
          <p:cNvSpPr txBox="1"/>
          <p:nvPr/>
        </p:nvSpPr>
        <p:spPr>
          <a:xfrm>
            <a:off x="905256"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 · 대역</a:t>
            </a:r>
          </a:p>
        </p:txBody>
      </p:sp>
      <p:sp>
        <p:nvSpPr>
          <p:cNvPr id="10" name="Chevron 9"/>
          <p:cNvSpPr/>
          <p:nvPr/>
        </p:nvSpPr>
        <p:spPr>
          <a:xfrm>
            <a:off x="3877056" y="2103120"/>
            <a:ext cx="3337560" cy="877824"/>
          </a:xfrm>
          <a:prstGeom prst="chevron">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8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초</a:t>
            </a:r>
          </a:p>
        </p:txBody>
      </p:sp>
      <p:sp>
        <p:nvSpPr>
          <p:cNvPr id="12" name="TextBox 11"/>
          <p:cNvSpPr txBox="1"/>
          <p:nvPr/>
        </p:nvSpPr>
        <p:spPr>
          <a:xfrm>
            <a:off x="429768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전력 효율</a:t>
            </a:r>
          </a:p>
        </p:txBody>
      </p:sp>
      <p:sp>
        <p:nvSpPr>
          <p:cNvPr id="13" name="TextBox 12"/>
          <p:cNvSpPr txBox="1"/>
          <p:nvPr/>
        </p:nvSpPr>
        <p:spPr>
          <a:xfrm>
            <a:off x="429768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IOPS/W</a:t>
            </a:r>
          </a:p>
        </p:txBody>
      </p:sp>
      <p:sp>
        <p:nvSpPr>
          <p:cNvPr id="14" name="Chevron 13"/>
          <p:cNvSpPr/>
          <p:nvPr/>
        </p:nvSpPr>
        <p:spPr>
          <a:xfrm>
            <a:off x="7031736" y="2103120"/>
            <a:ext cx="3337560" cy="877824"/>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2139696"/>
            <a:ext cx="278892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2010년대 후반</a:t>
            </a:r>
          </a:p>
        </p:txBody>
      </p:sp>
      <p:sp>
        <p:nvSpPr>
          <p:cNvPr id="16" name="TextBox 15"/>
          <p:cNvSpPr txBox="1"/>
          <p:nvPr/>
        </p:nvSpPr>
        <p:spPr>
          <a:xfrm>
            <a:off x="7452360" y="2395727"/>
            <a:ext cx="278892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VM 단위 QoS</a:t>
            </a:r>
          </a:p>
        </p:txBody>
      </p:sp>
      <p:sp>
        <p:nvSpPr>
          <p:cNvPr id="17" name="TextBox 16"/>
          <p:cNvSpPr txBox="1"/>
          <p:nvPr/>
        </p:nvSpPr>
        <p:spPr>
          <a:xfrm>
            <a:off x="7452360" y="2688336"/>
            <a:ext cx="278892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클라우드 데이터센터</a:t>
            </a:r>
          </a:p>
        </p:txBody>
      </p:sp>
      <p:sp>
        <p:nvSpPr>
          <p:cNvPr id="18" name="Chevron 17"/>
          <p:cNvSpPr/>
          <p:nvPr/>
        </p:nvSpPr>
        <p:spPr>
          <a:xfrm>
            <a:off x="10186416" y="2103120"/>
            <a:ext cx="7379208" cy="877824"/>
          </a:xfrm>
          <a:prstGeom prst="chevron">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43616" y="2139696"/>
            <a:ext cx="2377440" cy="274320"/>
          </a:xfrm>
          <a:prstGeom prst="rect">
            <a:avLst/>
          </a:prstGeom>
          <a:noFill/>
        </p:spPr>
        <p:txBody>
          <a:bodyPr wrap="square" anchor="ctr" lIns="0" rIns="0" tIns="0" bIns="0">
            <a:spAutoFit/>
          </a:bodyPr>
          <a:lstStyle/>
          <a:p>
            <a:pPr algn="l">
              <a:lnSpc>
                <a:spcPct val="110000"/>
              </a:lnSpc>
            </a:pPr>
            <a:r>
              <a:rPr sz="1500" b="1">
                <a:solidFill>
                  <a:srgbClr val="AAB8E8"/>
                </a:solidFill>
                <a:latin typeface="Arial"/>
                <a:ea typeface="Arial"/>
              </a:rPr>
              <a:t>2020년대 · AI</a:t>
            </a:r>
          </a:p>
        </p:txBody>
      </p:sp>
      <p:sp>
        <p:nvSpPr>
          <p:cNvPr id="20" name="Rounded Rectangle 19"/>
          <p:cNvSpPr/>
          <p:nvPr/>
        </p:nvSpPr>
        <p:spPr>
          <a:xfrm>
            <a:off x="10643616" y="2468879"/>
            <a:ext cx="210312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43616" y="2468879"/>
            <a:ext cx="2103120"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예측 가능한 QoS</a:t>
            </a:r>
          </a:p>
        </p:txBody>
      </p:sp>
      <p:sp>
        <p:nvSpPr>
          <p:cNvPr id="22" name="Rounded Rectangle 21"/>
          <p:cNvSpPr/>
          <p:nvPr/>
        </p:nvSpPr>
        <p:spPr>
          <a:xfrm>
            <a:off x="12874752"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874752" y="2468879"/>
            <a:ext cx="1097280"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고용량</a:t>
            </a:r>
          </a:p>
        </p:txBody>
      </p:sp>
      <p:sp>
        <p:nvSpPr>
          <p:cNvPr id="24" name="Rounded Rectangle 23"/>
          <p:cNvSpPr/>
          <p:nvPr/>
        </p:nvSpPr>
        <p:spPr>
          <a:xfrm>
            <a:off x="14100048" y="2468879"/>
            <a:ext cx="109728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100048" y="2468879"/>
            <a:ext cx="1097280"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고내구</a:t>
            </a:r>
          </a:p>
        </p:txBody>
      </p:sp>
      <p:sp>
        <p:nvSpPr>
          <p:cNvPr id="26" name="TextBox 25"/>
          <p:cNvSpPr txBox="1"/>
          <p:nvPr/>
        </p:nvSpPr>
        <p:spPr>
          <a:xfrm>
            <a:off x="10186416" y="3017520"/>
            <a:ext cx="7379208" cy="310896"/>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FDP · Mixed Media · Large Mapping → </a:t>
            </a:r>
            <a:r>
              <a:rPr sz="1600" b="1">
                <a:solidFill>
                  <a:srgbClr val="1A1A1A"/>
                </a:solidFill>
                <a:latin typeface="Arial"/>
                <a:ea typeface="Arial"/>
              </a:rPr>
              <a:t>QLC 고용량 + 고객 워크로드 기반 내구성</a:t>
            </a:r>
          </a:p>
        </p:txBody>
      </p:sp>
      <p:sp>
        <p:nvSpPr>
          <p:cNvPr id="27" name="Oval 26"/>
          <p:cNvSpPr/>
          <p:nvPr/>
        </p:nvSpPr>
        <p:spPr>
          <a:xfrm>
            <a:off x="722376" y="3438144"/>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29" name="TextBox 28"/>
          <p:cNvSpPr txBox="1"/>
          <p:nvPr/>
        </p:nvSpPr>
        <p:spPr>
          <a:xfrm>
            <a:off x="1307592" y="340156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0" name="Rounded Rectangle 29"/>
          <p:cNvSpPr/>
          <p:nvPr/>
        </p:nvSpPr>
        <p:spPr>
          <a:xfrm>
            <a:off x="722376" y="3986783"/>
            <a:ext cx="2788920" cy="713232"/>
          </a:xfrm>
          <a:prstGeom prst="roundRect">
            <a:avLst>
              <a:gd name="adj" fmla="val 1025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50392" y="4169663"/>
            <a:ext cx="322600" cy="790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own Arrow 31"/>
          <p:cNvSpPr/>
          <p:nvPr/>
        </p:nvSpPr>
        <p:spPr>
          <a:xfrm>
            <a:off x="995232" y="4255251"/>
            <a:ext cx="32918" cy="39502"/>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50392" y="4307921"/>
            <a:ext cx="322600" cy="18434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289304" y="4005071"/>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5" name="TextBox 34"/>
          <p:cNvSpPr txBox="1"/>
          <p:nvPr/>
        </p:nvSpPr>
        <p:spPr>
          <a:xfrm>
            <a:off x="1289304" y="4352544"/>
            <a:ext cx="2148839"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작은 쓰기를 pSLC에 모아</a:t>
            </a:r>
          </a:p>
        </p:txBody>
      </p:sp>
      <p:sp>
        <p:nvSpPr>
          <p:cNvPr id="36" name="TextBox 35"/>
          <p:cNvSpPr txBox="1"/>
          <p:nvPr/>
        </p:nvSpPr>
        <p:spPr>
          <a:xfrm>
            <a:off x="3602736" y="4133087"/>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빈도 ↓</a:t>
            </a:r>
          </a:p>
        </p:txBody>
      </p:sp>
      <p:sp>
        <p:nvSpPr>
          <p:cNvPr id="37" name="Rounded Rectangle 36"/>
          <p:cNvSpPr/>
          <p:nvPr/>
        </p:nvSpPr>
        <p:spPr>
          <a:xfrm>
            <a:off x="722376" y="4773168"/>
            <a:ext cx="2788920" cy="713232"/>
          </a:xfrm>
          <a:prstGeom prst="roundRect">
            <a:avLst>
              <a:gd name="adj" fmla="val 1025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0392" y="4975799"/>
            <a:ext cx="65836" cy="10533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35979" y="4975799"/>
            <a:ext cx="65836" cy="10533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21567" y="4975799"/>
            <a:ext cx="65836" cy="10533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107155" y="4975799"/>
            <a:ext cx="65836" cy="10533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50392" y="5120640"/>
            <a:ext cx="322600" cy="131673"/>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289304" y="4791455"/>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4" name="TextBox 43"/>
          <p:cNvSpPr txBox="1"/>
          <p:nvPr/>
        </p:nvSpPr>
        <p:spPr>
          <a:xfrm>
            <a:off x="1289304" y="5138928"/>
            <a:ext cx="2148839"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정렬된 큰 쓰기</a:t>
            </a:r>
          </a:p>
        </p:txBody>
      </p:sp>
      <p:sp>
        <p:nvSpPr>
          <p:cNvPr id="45" name="TextBox 44"/>
          <p:cNvSpPr txBox="1"/>
          <p:nvPr/>
        </p:nvSpPr>
        <p:spPr>
          <a:xfrm>
            <a:off x="3602736" y="4919472"/>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횟수 ↓</a:t>
            </a:r>
          </a:p>
        </p:txBody>
      </p:sp>
      <p:sp>
        <p:nvSpPr>
          <p:cNvPr id="46" name="Rounded Rectangle 45"/>
          <p:cNvSpPr/>
          <p:nvPr/>
        </p:nvSpPr>
        <p:spPr>
          <a:xfrm>
            <a:off x="722376" y="5559551"/>
            <a:ext cx="2788920" cy="713232"/>
          </a:xfrm>
          <a:prstGeom prst="roundRect">
            <a:avLst>
              <a:gd name="adj" fmla="val 1025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50392"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62314"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74237" y="5742431"/>
            <a:ext cx="92171" cy="855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50392" y="5854354"/>
            <a:ext cx="92171" cy="8558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62314" y="5854354"/>
            <a:ext cx="92171" cy="8558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74237" y="5854354"/>
            <a:ext cx="92171" cy="8558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50392"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62314"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74237" y="5966277"/>
            <a:ext cx="92171" cy="85587"/>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289304" y="5577839"/>
            <a:ext cx="2148839"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57" name="TextBox 56"/>
          <p:cNvSpPr txBox="1"/>
          <p:nvPr/>
        </p:nvSpPr>
        <p:spPr>
          <a:xfrm>
            <a:off x="1289304" y="5925312"/>
            <a:ext cx="2148839"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같은 수명끼리 배치</a:t>
            </a:r>
          </a:p>
        </p:txBody>
      </p:sp>
      <p:sp>
        <p:nvSpPr>
          <p:cNvPr id="58" name="TextBox 57"/>
          <p:cNvSpPr txBox="1"/>
          <p:nvPr/>
        </p:nvSpPr>
        <p:spPr>
          <a:xfrm>
            <a:off x="3602736" y="5705855"/>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시간 ↓</a:t>
            </a:r>
          </a:p>
        </p:txBody>
      </p:sp>
      <p:sp>
        <p:nvSpPr>
          <p:cNvPr id="59" name="TextBox 58"/>
          <p:cNvSpPr txBox="1"/>
          <p:nvPr/>
        </p:nvSpPr>
        <p:spPr>
          <a:xfrm>
            <a:off x="4846320" y="3950207"/>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60" name="Rectangle 59"/>
          <p:cNvSpPr/>
          <p:nvPr/>
        </p:nvSpPr>
        <p:spPr>
          <a:xfrm>
            <a:off x="5322205"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353290" y="4279392"/>
            <a:ext cx="396571"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463690" y="4279392"/>
            <a:ext cx="317257"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864607" y="4840918"/>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943922" y="4853573"/>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023236" y="4816990"/>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102550" y="4859309"/>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181865" y="4825407"/>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261179" y="4837857"/>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340493" y="4442080"/>
            <a:ext cx="42738" cy="49567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419807" y="4460972"/>
            <a:ext cx="42738" cy="47678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499122" y="4548774"/>
            <a:ext cx="42738" cy="38898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578436" y="4360299"/>
            <a:ext cx="42738" cy="57746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657750" y="4855551"/>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737064" y="4848277"/>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5816379" y="4818710"/>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895693" y="4795281"/>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5975007" y="4822391"/>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054321" y="4835590"/>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133636" y="4793192"/>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212950" y="4861200"/>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6292264" y="4801809"/>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6371578" y="4535066"/>
            <a:ext cx="42738" cy="40269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6450893" y="4493018"/>
            <a:ext cx="42738" cy="44474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530207" y="4525728"/>
            <a:ext cx="42738" cy="41203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6609521" y="4408417"/>
            <a:ext cx="42738" cy="52934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6688836" y="4431759"/>
            <a:ext cx="42738" cy="50600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6768150" y="4860014"/>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847464" y="4860248"/>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6926778" y="4849541"/>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006093" y="4814835"/>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085407" y="4833328"/>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164721" y="4841627"/>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7244035" y="4821772"/>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7323350" y="4831456"/>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7402664" y="4842679"/>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7481978" y="4393035"/>
            <a:ext cx="42738" cy="544724"/>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7561292" y="4424929"/>
            <a:ext cx="42738" cy="5128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7640607" y="4347936"/>
            <a:ext cx="42738" cy="58982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7719921" y="4498278"/>
            <a:ext cx="42738" cy="4394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7799235" y="4792906"/>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7878549" y="4855971"/>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7957864" y="4834021"/>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8037178" y="4809221"/>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8116492" y="4853490"/>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8195806" y="4828839"/>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8275121" y="4861739"/>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8354435" y="4815726"/>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8433749" y="4808678"/>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4846320" y="493775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4846320" y="5138927"/>
            <a:ext cx="3648455" cy="310896"/>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공동 설계: GC가 드물고 짧다</a:t>
            </a:r>
          </a:p>
        </p:txBody>
      </p:sp>
      <p:sp>
        <p:nvSpPr>
          <p:cNvPr id="111" name="Rectangle 110"/>
          <p:cNvSpPr/>
          <p:nvPr/>
        </p:nvSpPr>
        <p:spPr>
          <a:xfrm>
            <a:off x="6987805" y="5468112"/>
            <a:ext cx="79314" cy="6583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4864607" y="6011410"/>
            <a:ext cx="42738" cy="11506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4943922" y="5989285"/>
            <a:ext cx="42738" cy="13719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5023236" y="6030376"/>
            <a:ext cx="42738" cy="9610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5102550" y="6002465"/>
            <a:ext cx="42738" cy="12401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5181865" y="6009848"/>
            <a:ext cx="42738" cy="11663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5261179" y="6010907"/>
            <a:ext cx="42738" cy="1155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5340493" y="6019955"/>
            <a:ext cx="42738" cy="1065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5419807" y="5991882"/>
            <a:ext cx="42738" cy="13459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499122" y="5984222"/>
            <a:ext cx="42738" cy="14225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5578436" y="6018646"/>
            <a:ext cx="42738" cy="10783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5657750" y="6004743"/>
            <a:ext cx="42738" cy="1217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737064" y="6048889"/>
            <a:ext cx="42738" cy="7759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816379" y="6002012"/>
            <a:ext cx="42738" cy="1244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5895693" y="6005989"/>
            <a:ext cx="42738" cy="12049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5975007" y="5980681"/>
            <a:ext cx="42738" cy="14579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6054321" y="5993202"/>
            <a:ext cx="42738" cy="13327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6133636" y="6032509"/>
            <a:ext cx="42738" cy="9397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6212950" y="6025106"/>
            <a:ext cx="42738" cy="10137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6292264" y="6004414"/>
            <a:ext cx="42738" cy="1220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6371578" y="6051677"/>
            <a:ext cx="42738" cy="7480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6450893" y="6019554"/>
            <a:ext cx="42738" cy="10692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6530207" y="6041034"/>
            <a:ext cx="42738" cy="854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6609521" y="6044762"/>
            <a:ext cx="42738" cy="8171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6688836" y="6049015"/>
            <a:ext cx="42738" cy="774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6768150" y="5997130"/>
            <a:ext cx="42738" cy="12934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6847464" y="6043866"/>
            <a:ext cx="42738" cy="8261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6926778" y="6035214"/>
            <a:ext cx="42738" cy="912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7006093" y="5943599"/>
            <a:ext cx="4273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085407" y="5989581"/>
            <a:ext cx="42738" cy="13689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7164721" y="6047433"/>
            <a:ext cx="42738" cy="7904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44035" y="6020469"/>
            <a:ext cx="42738" cy="10601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7323350" y="6013135"/>
            <a:ext cx="42738" cy="1133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402664" y="5988706"/>
            <a:ext cx="42738" cy="13777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7481978" y="5993396"/>
            <a:ext cx="42738" cy="13308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7561292" y="5990125"/>
            <a:ext cx="42738" cy="13635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7640607" y="6032960"/>
            <a:ext cx="42738" cy="9351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7719921" y="6022948"/>
            <a:ext cx="42738" cy="10353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7799235" y="6027083"/>
            <a:ext cx="42738" cy="993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878549" y="5988647"/>
            <a:ext cx="42738" cy="1378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ectangle 150"/>
          <p:cNvSpPr/>
          <p:nvPr/>
        </p:nvSpPr>
        <p:spPr>
          <a:xfrm>
            <a:off x="7957864" y="5983268"/>
            <a:ext cx="42738" cy="14321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Rectangle 151"/>
          <p:cNvSpPr/>
          <p:nvPr/>
        </p:nvSpPr>
        <p:spPr>
          <a:xfrm>
            <a:off x="8037178" y="6042287"/>
            <a:ext cx="42738" cy="841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ectangle 152"/>
          <p:cNvSpPr/>
          <p:nvPr/>
        </p:nvSpPr>
        <p:spPr>
          <a:xfrm>
            <a:off x="8116492" y="6040437"/>
            <a:ext cx="42738" cy="8604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8195806" y="6036359"/>
            <a:ext cx="42738" cy="901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8275121" y="6036258"/>
            <a:ext cx="42738" cy="9022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ectangle 155"/>
          <p:cNvSpPr/>
          <p:nvPr/>
        </p:nvSpPr>
        <p:spPr>
          <a:xfrm>
            <a:off x="8354435" y="6017852"/>
            <a:ext cx="42738" cy="10862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ectangle 156"/>
          <p:cNvSpPr/>
          <p:nvPr/>
        </p:nvSpPr>
        <p:spPr>
          <a:xfrm>
            <a:off x="8433749" y="6010232"/>
            <a:ext cx="42738" cy="1162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4846320" y="6126479"/>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Oval 158"/>
          <p:cNvSpPr/>
          <p:nvPr/>
        </p:nvSpPr>
        <p:spPr>
          <a:xfrm>
            <a:off x="722376" y="6455664"/>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722376" y="645566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161" name="TextBox 160"/>
          <p:cNvSpPr txBox="1"/>
          <p:nvPr/>
        </p:nvSpPr>
        <p:spPr>
          <a:xfrm>
            <a:off x="1307592" y="6419088"/>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그 결과 좋아지는 지표</a:t>
            </a:r>
          </a:p>
        </p:txBody>
      </p:sp>
      <p:sp>
        <p:nvSpPr>
          <p:cNvPr id="162" name="Rounded Rectangle 161">
            <a:hlinkClick action="ppaction://hlinksldjump" r:id="rId12"/>
          </p:cNvPr>
          <p:cNvSpPr/>
          <p:nvPr/>
        </p:nvSpPr>
        <p:spPr>
          <a:xfrm>
            <a:off x="5111495" y="6492240"/>
            <a:ext cx="3383280" cy="365760"/>
          </a:xfrm>
          <a:prstGeom prst="roundRect">
            <a:avLst>
              <a:gd name="adj" fmla="val 20000"/>
            </a:avLst>
          </a:prstGeom>
          <a:solidFill>
            <a:srgbClr val="EEF1FA"/>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a:hlinkClick action="ppaction://hlinksldjump" r:id="rId12"/>
          </p:cNvPr>
          <p:cNvSpPr txBox="1"/>
          <p:nvPr/>
        </p:nvSpPr>
        <p:spPr>
          <a:xfrm>
            <a:off x="5166359" y="6492240"/>
            <a:ext cx="3273552" cy="365760"/>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왜 SSD만으로는 안 됐나  참고 5장 ▶</a:t>
            </a:r>
          </a:p>
        </p:txBody>
      </p:sp>
      <p:sp>
        <p:nvSpPr>
          <p:cNvPr id="164" name="Rounded Rectangle 163"/>
          <p:cNvSpPr/>
          <p:nvPr/>
        </p:nvSpPr>
        <p:spPr>
          <a:xfrm>
            <a:off x="722376"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905256"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WAF</a:t>
            </a:r>
          </a:p>
        </p:txBody>
      </p:sp>
      <p:sp>
        <p:nvSpPr>
          <p:cNvPr id="166" name="TextBox 165"/>
          <p:cNvSpPr txBox="1"/>
          <p:nvPr/>
        </p:nvSpPr>
        <p:spPr>
          <a:xfrm>
            <a:off x="905256"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2.22 → 0.03</a:t>
            </a:r>
          </a:p>
        </p:txBody>
      </p:sp>
      <p:sp>
        <p:nvSpPr>
          <p:cNvPr id="167" name="Rectangle 166"/>
          <p:cNvSpPr/>
          <p:nvPr/>
        </p:nvSpPr>
        <p:spPr>
          <a:xfrm>
            <a:off x="996696"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813816"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69" name="TextBox 168"/>
          <p:cNvSpPr txBox="1"/>
          <p:nvPr/>
        </p:nvSpPr>
        <p:spPr>
          <a:xfrm>
            <a:off x="768096"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70" name="Rectangle 169"/>
          <p:cNvSpPr/>
          <p:nvPr/>
        </p:nvSpPr>
        <p:spPr>
          <a:xfrm>
            <a:off x="1837944" y="8705939"/>
            <a:ext cx="603504" cy="3100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1655064" y="8413331"/>
            <a:ext cx="969264" cy="274320"/>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1.03</a:t>
            </a:r>
          </a:p>
        </p:txBody>
      </p:sp>
      <p:sp>
        <p:nvSpPr>
          <p:cNvPr id="172" name="TextBox 171"/>
          <p:cNvSpPr txBox="1"/>
          <p:nvPr/>
        </p:nvSpPr>
        <p:spPr>
          <a:xfrm>
            <a:off x="1609344" y="9034272"/>
            <a:ext cx="1060704" cy="292608"/>
          </a:xfrm>
          <a:prstGeom prst="rect">
            <a:avLst/>
          </a:prstGeom>
          <a:noFill/>
        </p:spPr>
        <p:txBody>
          <a:bodyPr wrap="square" anchor="t" lIns="0" rIns="0" tIns="0" bIns="0">
            <a:spAutoFit/>
          </a:bodyPr>
          <a:lstStyle/>
          <a:p>
            <a:pPr algn="ctr">
              <a:lnSpc>
                <a:spcPct val="110000"/>
              </a:lnSpc>
            </a:pPr>
            <a:r>
              <a:rPr sz="1500" b="1">
                <a:solidFill>
                  <a:srgbClr val="1428A0"/>
                </a:solidFill>
                <a:latin typeface="Arial"/>
                <a:ea typeface="Arial"/>
              </a:rPr>
              <a:t>함께</a:t>
            </a:r>
          </a:p>
        </p:txBody>
      </p:sp>
      <p:sp>
        <p:nvSpPr>
          <p:cNvPr id="173" name="TextBox 172"/>
          <p:cNvSpPr txBox="1"/>
          <p:nvPr/>
        </p:nvSpPr>
        <p:spPr>
          <a:xfrm>
            <a:off x="2642616" y="7754112"/>
            <a:ext cx="1764791" cy="676656"/>
          </a:xfrm>
          <a:prstGeom prst="rect">
            <a:avLst/>
          </a:prstGeom>
          <a:noFill/>
        </p:spPr>
        <p:txBody>
          <a:bodyPr wrap="square" anchor="ctr" lIns="0" rIns="0" tIns="0" bIns="0">
            <a:spAutoFit/>
          </a:bodyPr>
          <a:lstStyle/>
          <a:p>
            <a:pPr algn="ctr">
              <a:lnSpc>
                <a:spcPct val="110000"/>
              </a:lnSpc>
            </a:pPr>
            <a:r>
              <a:rPr sz="3800" b="1">
                <a:solidFill>
                  <a:srgbClr val="1428A0"/>
                </a:solidFill>
                <a:latin typeface="Arial"/>
                <a:ea typeface="Arial"/>
              </a:rPr>
              <a:t>−68%</a:t>
            </a:r>
          </a:p>
        </p:txBody>
      </p:sp>
      <p:sp>
        <p:nvSpPr>
          <p:cNvPr id="174" name="TextBox 173"/>
          <p:cNvSpPr txBox="1"/>
          <p:nvPr/>
        </p:nvSpPr>
        <p:spPr>
          <a:xfrm>
            <a:off x="2642616"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175" name="Rounded Rectangle 174"/>
          <p:cNvSpPr/>
          <p:nvPr/>
        </p:nvSpPr>
        <p:spPr>
          <a:xfrm>
            <a:off x="4718304" y="7022592"/>
            <a:ext cx="3776472" cy="2340864"/>
          </a:xfrm>
          <a:prstGeom prst="roundRect">
            <a:avLst>
              <a:gd name="adj" fmla="val 3124"/>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4901184" y="7077455"/>
            <a:ext cx="3410712"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p99.9 꼬리 지연</a:t>
            </a:r>
          </a:p>
        </p:txBody>
      </p:sp>
      <p:sp>
        <p:nvSpPr>
          <p:cNvPr id="177" name="TextBox 176"/>
          <p:cNvSpPr txBox="1"/>
          <p:nvPr/>
        </p:nvSpPr>
        <p:spPr>
          <a:xfrm>
            <a:off x="4901184" y="7424927"/>
            <a:ext cx="3410712"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178" name="Rectangle 177"/>
          <p:cNvSpPr/>
          <p:nvPr/>
        </p:nvSpPr>
        <p:spPr>
          <a:xfrm>
            <a:off x="4992624" y="8046719"/>
            <a:ext cx="603504" cy="96926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4809744" y="7754111"/>
            <a:ext cx="969264" cy="274320"/>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180" name="TextBox 179"/>
          <p:cNvSpPr txBox="1"/>
          <p:nvPr/>
        </p:nvSpPr>
        <p:spPr>
          <a:xfrm>
            <a:off x="4764024" y="9034272"/>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181" name="Rectangle 180"/>
          <p:cNvSpPr/>
          <p:nvPr/>
        </p:nvSpPr>
        <p:spPr>
          <a:xfrm>
            <a:off x="5833872" y="8579815"/>
            <a:ext cx="603504" cy="436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5650992" y="8287207"/>
            <a:ext cx="969264" cy="274320"/>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45</a:t>
            </a:r>
          </a:p>
        </p:txBody>
      </p:sp>
      <p:sp>
        <p:nvSpPr>
          <p:cNvPr id="183" name="TextBox 182"/>
          <p:cNvSpPr txBox="1"/>
          <p:nvPr/>
        </p:nvSpPr>
        <p:spPr>
          <a:xfrm>
            <a:off x="5605272" y="9034272"/>
            <a:ext cx="1060704" cy="292608"/>
          </a:xfrm>
          <a:prstGeom prst="rect">
            <a:avLst/>
          </a:prstGeom>
          <a:noFill/>
        </p:spPr>
        <p:txBody>
          <a:bodyPr wrap="square" anchor="t" lIns="0" rIns="0" tIns="0" bIns="0">
            <a:spAutoFit/>
          </a:bodyPr>
          <a:lstStyle/>
          <a:p>
            <a:pPr algn="ctr">
              <a:lnSpc>
                <a:spcPct val="110000"/>
              </a:lnSpc>
            </a:pPr>
            <a:r>
              <a:rPr sz="1500" b="1">
                <a:solidFill>
                  <a:srgbClr val="1428A0"/>
                </a:solidFill>
                <a:latin typeface="Arial"/>
                <a:ea typeface="Arial"/>
              </a:rPr>
              <a:t>FDP</a:t>
            </a:r>
          </a:p>
        </p:txBody>
      </p:sp>
      <p:sp>
        <p:nvSpPr>
          <p:cNvPr id="184" name="TextBox 183"/>
          <p:cNvSpPr txBox="1"/>
          <p:nvPr/>
        </p:nvSpPr>
        <p:spPr>
          <a:xfrm>
            <a:off x="6638544" y="7754112"/>
            <a:ext cx="1764791" cy="676656"/>
          </a:xfrm>
          <a:prstGeom prst="rect">
            <a:avLst/>
          </a:prstGeom>
          <a:noFill/>
        </p:spPr>
        <p:txBody>
          <a:bodyPr wrap="square" anchor="ctr" lIns="0" rIns="0" tIns="0" bIns="0">
            <a:spAutoFit/>
          </a:bodyPr>
          <a:lstStyle/>
          <a:p>
            <a:pPr algn="ctr">
              <a:lnSpc>
                <a:spcPct val="110000"/>
              </a:lnSpc>
            </a:pPr>
            <a:r>
              <a:rPr sz="3800" b="1">
                <a:solidFill>
                  <a:srgbClr val="1428A0"/>
                </a:solidFill>
                <a:latin typeface="Arial"/>
                <a:ea typeface="Arial"/>
              </a:rPr>
              <a:t>−55%</a:t>
            </a:r>
          </a:p>
        </p:txBody>
      </p:sp>
      <p:sp>
        <p:nvSpPr>
          <p:cNvPr id="185" name="TextBox 184"/>
          <p:cNvSpPr txBox="1"/>
          <p:nvPr/>
        </p:nvSpPr>
        <p:spPr>
          <a:xfrm>
            <a:off x="6638544" y="8412480"/>
            <a:ext cx="1764791"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186" name="Oval 185"/>
          <p:cNvSpPr/>
          <p:nvPr/>
        </p:nvSpPr>
        <p:spPr>
          <a:xfrm>
            <a:off x="8860536" y="3438144"/>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8860536" y="3438144"/>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88" name="TextBox 187"/>
          <p:cNvSpPr txBox="1"/>
          <p:nvPr/>
        </p:nvSpPr>
        <p:spPr>
          <a:xfrm>
            <a:off x="9445752" y="3401568"/>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미래 수요에 능동 대응하는 포트폴리오</a:t>
            </a:r>
          </a:p>
        </p:txBody>
      </p:sp>
      <p:pic>
        <p:nvPicPr>
          <p:cNvPr id="189" name="Picture 188" descr="portfolio_3d_base.png"/>
          <p:cNvPicPr>
            <a:picLocks noChangeAspect="1"/>
          </p:cNvPicPr>
          <p:nvPr/>
        </p:nvPicPr>
        <p:blipFill>
          <a:blip r:embed="rId2"/>
          <a:stretch>
            <a:fillRect/>
          </a:stretch>
        </p:blipFill>
        <p:spPr>
          <a:xfrm>
            <a:off x="8769096" y="4041648"/>
            <a:ext cx="6303421" cy="5321808"/>
          </a:xfrm>
          <a:prstGeom prst="rect">
            <a:avLst/>
          </a:prstGeom>
        </p:spPr>
      </p:pic>
      <p:sp>
        <p:nvSpPr>
          <p:cNvPr id="194" name="TextBox 193"/>
          <p:cNvSpPr txBox="1"/>
          <p:nvPr/>
        </p:nvSpPr>
        <p:spPr>
          <a:xfrm>
            <a:off x="8769096" y="4005072"/>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95" name="Rounded Rectangle 194"/>
          <p:cNvSpPr/>
          <p:nvPr/>
        </p:nvSpPr>
        <p:spPr>
          <a:xfrm>
            <a:off x="15279624" y="4032504"/>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Rectangle 195"/>
          <p:cNvSpPr/>
          <p:nvPr/>
        </p:nvSpPr>
        <p:spPr>
          <a:xfrm>
            <a:off x="15279624" y="4032504"/>
            <a:ext cx="73152" cy="1266444"/>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Oval 196"/>
          <p:cNvSpPr/>
          <p:nvPr/>
        </p:nvSpPr>
        <p:spPr>
          <a:xfrm>
            <a:off x="15407640" y="4096511"/>
            <a:ext cx="347472" cy="347472"/>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15407640" y="409651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pic>
        <p:nvPicPr>
          <p:cNvPr id="199" name="Picture 198" descr="p_bm1743.png"/>
          <p:cNvPicPr>
            <a:picLocks noChangeAspect="1"/>
          </p:cNvPicPr>
          <p:nvPr/>
        </p:nvPicPr>
        <p:blipFill>
          <a:blip r:embed="rId7"/>
          <a:stretch>
            <a:fillRect/>
          </a:stretch>
        </p:blipFill>
        <p:spPr>
          <a:xfrm>
            <a:off x="16307773" y="4059935"/>
            <a:ext cx="686900" cy="475488"/>
          </a:xfrm>
          <a:prstGeom prst="rect">
            <a:avLst/>
          </a:prstGeom>
        </p:spPr>
      </p:pic>
      <p:sp>
        <p:nvSpPr>
          <p:cNvPr id="200" name="TextBox 199"/>
          <p:cNvSpPr txBox="1"/>
          <p:nvPr/>
        </p:nvSpPr>
        <p:spPr>
          <a:xfrm>
            <a:off x="15462504" y="4535424"/>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206" name="Rounded Rectangle 205"/>
          <p:cNvSpPr/>
          <p:nvPr/>
        </p:nvSpPr>
        <p:spPr>
          <a:xfrm>
            <a:off x="15279624" y="5372100"/>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Rectangle 206"/>
          <p:cNvSpPr/>
          <p:nvPr/>
        </p:nvSpPr>
        <p:spPr>
          <a:xfrm>
            <a:off x="15279624" y="5372100"/>
            <a:ext cx="73152" cy="1266444"/>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Oval 207"/>
          <p:cNvSpPr/>
          <p:nvPr/>
        </p:nvSpPr>
        <p:spPr>
          <a:xfrm>
            <a:off x="15407640" y="5436107"/>
            <a:ext cx="347472" cy="347472"/>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TextBox 208"/>
          <p:cNvSpPr txBox="1"/>
          <p:nvPr/>
        </p:nvSpPr>
        <p:spPr>
          <a:xfrm>
            <a:off x="15407640" y="543610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pic>
        <p:nvPicPr>
          <p:cNvPr id="210" name="Picture 209" descr="p_pm1753.png"/>
          <p:cNvPicPr>
            <a:picLocks noChangeAspect="1"/>
          </p:cNvPicPr>
          <p:nvPr/>
        </p:nvPicPr>
        <p:blipFill>
          <a:blip r:embed="rId8"/>
          <a:stretch>
            <a:fillRect/>
          </a:stretch>
        </p:blipFill>
        <p:spPr>
          <a:xfrm>
            <a:off x="16327027" y="5399531"/>
            <a:ext cx="648392" cy="475488"/>
          </a:xfrm>
          <a:prstGeom prst="rect">
            <a:avLst/>
          </a:prstGeom>
        </p:spPr>
      </p:pic>
      <p:sp>
        <p:nvSpPr>
          <p:cNvPr id="211" name="TextBox 210"/>
          <p:cNvSpPr txBox="1"/>
          <p:nvPr/>
        </p:nvSpPr>
        <p:spPr>
          <a:xfrm>
            <a:off x="15462504" y="5875020"/>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217" name="Rounded Rectangle 216"/>
          <p:cNvSpPr/>
          <p:nvPr/>
        </p:nvSpPr>
        <p:spPr>
          <a:xfrm>
            <a:off x="15279624" y="6711696"/>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Rectangle 217"/>
          <p:cNvSpPr/>
          <p:nvPr/>
        </p:nvSpPr>
        <p:spPr>
          <a:xfrm>
            <a:off x="15279624" y="6711696"/>
            <a:ext cx="73152" cy="1266444"/>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Oval 218"/>
          <p:cNvSpPr/>
          <p:nvPr/>
        </p:nvSpPr>
        <p:spPr>
          <a:xfrm>
            <a:off x="15407640" y="6775704"/>
            <a:ext cx="347472" cy="347472"/>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TextBox 219"/>
          <p:cNvSpPr txBox="1"/>
          <p:nvPr/>
        </p:nvSpPr>
        <p:spPr>
          <a:xfrm>
            <a:off x="15407640" y="677570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pic>
        <p:nvPicPr>
          <p:cNvPr id="221" name="Picture 220" descr="p_pm1755.png"/>
          <p:cNvPicPr>
            <a:picLocks noChangeAspect="1"/>
          </p:cNvPicPr>
          <p:nvPr/>
        </p:nvPicPr>
        <p:blipFill>
          <a:blip r:embed="rId9"/>
          <a:stretch>
            <a:fillRect/>
          </a:stretch>
        </p:blipFill>
        <p:spPr>
          <a:xfrm>
            <a:off x="16327027" y="6739128"/>
            <a:ext cx="648392" cy="475488"/>
          </a:xfrm>
          <a:prstGeom prst="rect">
            <a:avLst/>
          </a:prstGeom>
        </p:spPr>
      </p:pic>
      <p:sp>
        <p:nvSpPr>
          <p:cNvPr id="222" name="TextBox 221"/>
          <p:cNvSpPr txBox="1"/>
          <p:nvPr/>
        </p:nvSpPr>
        <p:spPr>
          <a:xfrm>
            <a:off x="15462504" y="7214616"/>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228" name="Rounded Rectangle 227"/>
          <p:cNvSpPr/>
          <p:nvPr/>
        </p:nvSpPr>
        <p:spPr>
          <a:xfrm>
            <a:off x="15279624" y="8051292"/>
            <a:ext cx="2286000" cy="1266444"/>
          </a:xfrm>
          <a:prstGeom prst="roundRect">
            <a:avLst>
              <a:gd name="adj" fmla="val 577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Rectangle 228"/>
          <p:cNvSpPr/>
          <p:nvPr/>
        </p:nvSpPr>
        <p:spPr>
          <a:xfrm>
            <a:off x="15279624" y="8051292"/>
            <a:ext cx="73152" cy="1266444"/>
          </a:xfrm>
          <a:prstGeom prst="rect">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Oval 229"/>
          <p:cNvSpPr/>
          <p:nvPr/>
        </p:nvSpPr>
        <p:spPr>
          <a:xfrm>
            <a:off x="15407640" y="8115300"/>
            <a:ext cx="347472" cy="347472"/>
          </a:xfrm>
          <a:prstGeom prst="ellipse">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TextBox 230"/>
          <p:cNvSpPr txBox="1"/>
          <p:nvPr/>
        </p:nvSpPr>
        <p:spPr>
          <a:xfrm>
            <a:off x="15407640" y="8115300"/>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pic>
        <p:nvPicPr>
          <p:cNvPr id="232" name="Picture 231" descr="p_zssd.png"/>
          <p:cNvPicPr>
            <a:picLocks noChangeAspect="1"/>
          </p:cNvPicPr>
          <p:nvPr/>
        </p:nvPicPr>
        <p:blipFill>
          <a:blip r:embed="rId10"/>
          <a:stretch>
            <a:fillRect/>
          </a:stretch>
        </p:blipFill>
        <p:spPr>
          <a:xfrm>
            <a:off x="16256446" y="8078724"/>
            <a:ext cx="789555" cy="475488"/>
          </a:xfrm>
          <a:prstGeom prst="rect">
            <a:avLst/>
          </a:prstGeom>
        </p:spPr>
      </p:pic>
      <p:sp>
        <p:nvSpPr>
          <p:cNvPr id="233" name="TextBox 232"/>
          <p:cNvSpPr txBox="1"/>
          <p:nvPr/>
        </p:nvSpPr>
        <p:spPr>
          <a:xfrm>
            <a:off x="15462504" y="8554212"/>
            <a:ext cx="2048256" cy="256032"/>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239" name="TextBox 238"/>
          <p:cNvSpPr txBox="1"/>
          <p:nvPr/>
        </p:nvSpPr>
        <p:spPr>
          <a:xfrm>
            <a:off x="11146536" y="4005072"/>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240" name="Rectangle 239"/>
          <p:cNvSpPr/>
          <p:nvPr/>
        </p:nvSpPr>
        <p:spPr>
          <a:xfrm>
            <a:off x="11878056" y="4050791"/>
            <a:ext cx="274320" cy="182880"/>
          </a:xfrm>
          <a:prstGeom prst="rect">
            <a:avLst/>
          </a:prstGeom>
          <a:solidFill>
            <a:srgbClr val="ECEEF1"/>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TextBox 240"/>
          <p:cNvSpPr txBox="1"/>
          <p:nvPr/>
        </p:nvSpPr>
        <p:spPr>
          <a:xfrm>
            <a:off x="12207240" y="400507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가중치 · RAG</a:t>
            </a:r>
          </a:p>
        </p:txBody>
      </p:sp>
      <p:sp>
        <p:nvSpPr>
          <p:cNvPr id="242" name="Rectangle 241"/>
          <p:cNvSpPr/>
          <p:nvPr/>
        </p:nvSpPr>
        <p:spPr>
          <a:xfrm>
            <a:off x="11878056" y="4325112"/>
            <a:ext cx="274320" cy="182880"/>
          </a:xfrm>
          <a:prstGeom prst="rect">
            <a:avLst/>
          </a:prstGeom>
          <a:solidFill>
            <a:srgbClr val="D5D9DF"/>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TextBox 242"/>
          <p:cNvSpPr txBox="1"/>
          <p:nvPr/>
        </p:nvSpPr>
        <p:spPr>
          <a:xfrm>
            <a:off x="12207240" y="427939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KV 오프로드</a:t>
            </a:r>
          </a:p>
        </p:txBody>
      </p:sp>
      <p:sp>
        <p:nvSpPr>
          <p:cNvPr id="244" name="Rectangle 243"/>
          <p:cNvSpPr/>
          <p:nvPr/>
        </p:nvSpPr>
        <p:spPr>
          <a:xfrm>
            <a:off x="11878056" y="4599431"/>
            <a:ext cx="274320" cy="182880"/>
          </a:xfrm>
          <a:prstGeom prst="rect">
            <a:avLst/>
          </a:prstGeom>
          <a:solidFill>
            <a:srgbClr val="BEC4CC"/>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12207240" y="4553712"/>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초고DWPD KV</a:t>
            </a:r>
          </a:p>
        </p:txBody>
      </p:sp>
      <p:grpSp>
        <p:nvGrpSpPr>
          <p:cNvPr id="246" name="Group 245"/>
          <p:cNvGrpSpPr/>
          <p:nvPr/>
        </p:nvGrpSpPr>
        <p:grpSpPr>
          <a:xfrm>
            <a:off x="8769096" y="4005072"/>
            <a:ext cx="8823960" cy="5358384"/>
            <a:chOff x="8769096" y="4005072"/>
            <a:chExt cx="8823960" cy="5358384"/>
          </a:xfrm>
        </p:grpSpPr>
        <p:pic>
          <p:nvPicPr>
            <p:cNvPr id="190" name="Picture 189" descr="portfolio_3d_qlc.png"/>
            <p:cNvPicPr>
              <a:picLocks noChangeAspect="1"/>
            </p:cNvPicPr>
            <p:nvPr/>
          </p:nvPicPr>
          <p:blipFill>
            <a:blip r:embed="rId3"/>
            <a:stretch>
              <a:fillRect/>
            </a:stretch>
          </p:blipFill>
          <p:spPr>
            <a:xfrm>
              <a:off x="8769096" y="4041648"/>
              <a:ext cx="6303421" cy="5321808"/>
            </a:xfrm>
            <a:prstGeom prst="rect">
              <a:avLst/>
            </a:prstGeom>
          </p:spPr>
        </p:pic>
        <p:sp>
          <p:nvSpPr>
            <p:cNvPr id="201" name="TextBox 200"/>
            <p:cNvSpPr txBox="1"/>
            <p:nvPr/>
          </p:nvSpPr>
          <p:spPr>
            <a:xfrm>
              <a:off x="15462504" y="4773168"/>
              <a:ext cx="2048256" cy="256032"/>
            </a:xfrm>
            <a:prstGeom prst="rect">
              <a:avLst/>
            </a:prstGeom>
            <a:noFill/>
          </p:spPr>
          <p:txBody>
            <a:bodyPr wrap="square" anchor="ctr" lIns="0" rIns="0" tIns="0" bIns="0">
              <a:spAutoFit/>
            </a:bodyPr>
            <a:lstStyle/>
            <a:p>
              <a:pPr algn="l">
                <a:lnSpc>
                  <a:spcPct val="110000"/>
                </a:lnSpc>
              </a:pPr>
              <a:r>
                <a:rPr sz="1600" b="1">
                  <a:solidFill>
                    <a:srgbClr val="009E73"/>
                  </a:solidFill>
                  <a:latin typeface="Arial"/>
                  <a:ea typeface="Arial"/>
                </a:rPr>
                <a:t>0.3 → 1 DWPD</a:t>
              </a:r>
            </a:p>
          </p:txBody>
        </p:sp>
        <p:sp>
          <p:nvSpPr>
            <p:cNvPr id="202" name="TextBox 201"/>
            <p:cNvSpPr txBox="1"/>
            <p:nvPr/>
          </p:nvSpPr>
          <p:spPr>
            <a:xfrm>
              <a:off x="15462504" y="4992624"/>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203" name="Rounded Rectangle 202"/>
            <p:cNvSpPr/>
            <p:nvPr/>
          </p:nvSpPr>
          <p:spPr>
            <a:xfrm>
              <a:off x="15252192" y="4005072"/>
              <a:ext cx="2340864" cy="1321308"/>
            </a:xfrm>
            <a:prstGeom prst="roundRect">
              <a:avLst>
                <a:gd name="adj" fmla="val 5536"/>
              </a:avLst>
            </a:prstGeom>
            <a:noFill/>
            <a:ln w="31750">
              <a:solidFill>
                <a:srgbClr val="009E7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47" name="Group 246"/>
          <p:cNvGrpSpPr/>
          <p:nvPr/>
        </p:nvGrpSpPr>
        <p:grpSpPr>
          <a:xfrm>
            <a:off x="8769096" y="4041648"/>
            <a:ext cx="8823960" cy="5321808"/>
            <a:chOff x="8769096" y="4041648"/>
            <a:chExt cx="8823960" cy="5321808"/>
          </a:xfrm>
        </p:grpSpPr>
        <p:pic>
          <p:nvPicPr>
            <p:cNvPr id="191" name="Picture 190" descr="portfolio_3d_tlc.png"/>
            <p:cNvPicPr>
              <a:picLocks noChangeAspect="1"/>
            </p:cNvPicPr>
            <p:nvPr/>
          </p:nvPicPr>
          <p:blipFill>
            <a:blip r:embed="rId4"/>
            <a:stretch>
              <a:fillRect/>
            </a:stretch>
          </p:blipFill>
          <p:spPr>
            <a:xfrm>
              <a:off x="8769096" y="4041648"/>
              <a:ext cx="6303421" cy="5321808"/>
            </a:xfrm>
            <a:prstGeom prst="rect">
              <a:avLst/>
            </a:prstGeom>
          </p:spPr>
        </p:pic>
        <p:sp>
          <p:nvSpPr>
            <p:cNvPr id="212" name="TextBox 211"/>
            <p:cNvSpPr txBox="1"/>
            <p:nvPr/>
          </p:nvSpPr>
          <p:spPr>
            <a:xfrm>
              <a:off x="15462504" y="6112764"/>
              <a:ext cx="2048256" cy="256032"/>
            </a:xfrm>
            <a:prstGeom prst="rect">
              <a:avLst/>
            </a:prstGeom>
            <a:noFill/>
          </p:spPr>
          <p:txBody>
            <a:bodyPr wrap="square" anchor="ctr" lIns="0" rIns="0" tIns="0" bIns="0">
              <a:spAutoFit/>
            </a:bodyPr>
            <a:lstStyle/>
            <a:p>
              <a:pPr algn="l">
                <a:lnSpc>
                  <a:spcPct val="110000"/>
                </a:lnSpc>
              </a:pPr>
              <a:r>
                <a:rPr sz="1600" b="1">
                  <a:solidFill>
                    <a:srgbClr val="0072B2"/>
                  </a:solidFill>
                  <a:latin typeface="Arial"/>
                  <a:ea typeface="Arial"/>
                </a:rPr>
                <a:t>1 → 3 DWPD</a:t>
              </a:r>
            </a:p>
          </p:txBody>
        </p:sp>
        <p:sp>
          <p:nvSpPr>
            <p:cNvPr id="213" name="TextBox 212"/>
            <p:cNvSpPr txBox="1"/>
            <p:nvPr/>
          </p:nvSpPr>
          <p:spPr>
            <a:xfrm>
              <a:off x="15462504" y="6332220"/>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214" name="Rounded Rectangle 213"/>
            <p:cNvSpPr/>
            <p:nvPr/>
          </p:nvSpPr>
          <p:spPr>
            <a:xfrm>
              <a:off x="15252192" y="5344668"/>
              <a:ext cx="2340864" cy="1321308"/>
            </a:xfrm>
            <a:prstGeom prst="roundRect">
              <a:avLst>
                <a:gd name="adj" fmla="val 5536"/>
              </a:avLst>
            </a:prstGeom>
            <a:noFill/>
            <a:ln w="31750">
              <a:solidFill>
                <a:srgbClr val="0072B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48" name="Group 247"/>
          <p:cNvGrpSpPr/>
          <p:nvPr/>
        </p:nvGrpSpPr>
        <p:grpSpPr>
          <a:xfrm>
            <a:off x="8769096" y="4041648"/>
            <a:ext cx="8823960" cy="5321808"/>
            <a:chOff x="8769096" y="4041648"/>
            <a:chExt cx="8823960" cy="5321808"/>
          </a:xfrm>
        </p:grpSpPr>
        <p:pic>
          <p:nvPicPr>
            <p:cNvPr id="192" name="Picture 191" descr="portfolio_3d_hetlc.png"/>
            <p:cNvPicPr>
              <a:picLocks noChangeAspect="1"/>
            </p:cNvPicPr>
            <p:nvPr/>
          </p:nvPicPr>
          <p:blipFill>
            <a:blip r:embed="rId5"/>
            <a:stretch>
              <a:fillRect/>
            </a:stretch>
          </p:blipFill>
          <p:spPr>
            <a:xfrm>
              <a:off x="8769096" y="4041648"/>
              <a:ext cx="6303421" cy="5321808"/>
            </a:xfrm>
            <a:prstGeom prst="rect">
              <a:avLst/>
            </a:prstGeom>
          </p:spPr>
        </p:pic>
        <p:sp>
          <p:nvSpPr>
            <p:cNvPr id="223" name="TextBox 222"/>
            <p:cNvSpPr txBox="1"/>
            <p:nvPr/>
          </p:nvSpPr>
          <p:spPr>
            <a:xfrm>
              <a:off x="15462504" y="7452360"/>
              <a:ext cx="2048256" cy="256032"/>
            </a:xfrm>
            <a:prstGeom prst="rect">
              <a:avLst/>
            </a:prstGeom>
            <a:noFill/>
          </p:spPr>
          <p:txBody>
            <a:bodyPr wrap="square" anchor="ctr" lIns="0" rIns="0" tIns="0" bIns="0">
              <a:spAutoFit/>
            </a:bodyPr>
            <a:lstStyle/>
            <a:p>
              <a:pPr algn="l">
                <a:lnSpc>
                  <a:spcPct val="110000"/>
                </a:lnSpc>
              </a:pPr>
              <a:r>
                <a:rPr sz="1600" b="1">
                  <a:solidFill>
                    <a:srgbClr val="E69F00"/>
                  </a:solidFill>
                  <a:latin typeface="Arial"/>
                  <a:ea typeface="Arial"/>
                </a:rPr>
                <a:t>3 → 9 DWPD</a:t>
              </a:r>
            </a:p>
          </p:txBody>
        </p:sp>
        <p:sp>
          <p:nvSpPr>
            <p:cNvPr id="224" name="TextBox 223"/>
            <p:cNvSpPr txBox="1"/>
            <p:nvPr/>
          </p:nvSpPr>
          <p:spPr>
            <a:xfrm>
              <a:off x="15462504" y="7671816"/>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225" name="Rounded Rectangle 224"/>
            <p:cNvSpPr/>
            <p:nvPr/>
          </p:nvSpPr>
          <p:spPr>
            <a:xfrm>
              <a:off x="15252192" y="6684264"/>
              <a:ext cx="2340864" cy="1321308"/>
            </a:xfrm>
            <a:prstGeom prst="roundRect">
              <a:avLst>
                <a:gd name="adj" fmla="val 5536"/>
              </a:avLst>
            </a:prstGeom>
            <a:noFill/>
            <a:ln w="317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49" name="Group 248"/>
          <p:cNvGrpSpPr/>
          <p:nvPr/>
        </p:nvGrpSpPr>
        <p:grpSpPr>
          <a:xfrm>
            <a:off x="8769096" y="4041648"/>
            <a:ext cx="8823960" cy="5321808"/>
            <a:chOff x="8769096" y="4041648"/>
            <a:chExt cx="8823960" cy="5321808"/>
          </a:xfrm>
        </p:grpSpPr>
        <p:pic>
          <p:nvPicPr>
            <p:cNvPr id="193" name="Picture 192" descr="portfolio_3d_slc.png"/>
            <p:cNvPicPr>
              <a:picLocks noChangeAspect="1"/>
            </p:cNvPicPr>
            <p:nvPr/>
          </p:nvPicPr>
          <p:blipFill>
            <a:blip r:embed="rId6"/>
            <a:stretch>
              <a:fillRect/>
            </a:stretch>
          </p:blipFill>
          <p:spPr>
            <a:xfrm>
              <a:off x="8769096" y="4041648"/>
              <a:ext cx="6303421" cy="5321808"/>
            </a:xfrm>
            <a:prstGeom prst="rect">
              <a:avLst/>
            </a:prstGeom>
          </p:spPr>
        </p:pic>
        <p:sp>
          <p:nvSpPr>
            <p:cNvPr id="234" name="TextBox 233"/>
            <p:cNvSpPr txBox="1"/>
            <p:nvPr/>
          </p:nvSpPr>
          <p:spPr>
            <a:xfrm>
              <a:off x="15462504" y="8791956"/>
              <a:ext cx="2048256" cy="256032"/>
            </a:xfrm>
            <a:prstGeom prst="rect">
              <a:avLst/>
            </a:prstGeom>
            <a:noFill/>
          </p:spPr>
          <p:txBody>
            <a:bodyPr wrap="square" anchor="ctr" lIns="0" rIns="0" tIns="0" bIns="0">
              <a:spAutoFit/>
            </a:bodyPr>
            <a:lstStyle/>
            <a:p>
              <a:pPr algn="l">
                <a:lnSpc>
                  <a:spcPct val="110000"/>
                </a:lnSpc>
              </a:pPr>
              <a:r>
                <a:rPr sz="1600" b="1">
                  <a:solidFill>
                    <a:srgbClr val="CC79A7"/>
                  </a:solidFill>
                  <a:latin typeface="Arial"/>
                  <a:ea typeface="Arial"/>
                </a:rPr>
                <a:t>30 → 100 DWPD</a:t>
              </a:r>
            </a:p>
          </p:txBody>
        </p:sp>
        <p:sp>
          <p:nvSpPr>
            <p:cNvPr id="235" name="TextBox 234"/>
            <p:cNvSpPr txBox="1"/>
            <p:nvPr/>
          </p:nvSpPr>
          <p:spPr>
            <a:xfrm>
              <a:off x="15462504" y="9011412"/>
              <a:ext cx="2048256" cy="237744"/>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236" name="Rounded Rectangle 235"/>
            <p:cNvSpPr/>
            <p:nvPr/>
          </p:nvSpPr>
          <p:spPr>
            <a:xfrm>
              <a:off x="15252192" y="8023860"/>
              <a:ext cx="2340864" cy="1321308"/>
            </a:xfrm>
            <a:prstGeom prst="roundRect">
              <a:avLst>
                <a:gd name="adj" fmla="val 5536"/>
              </a:avLst>
            </a:prstGeom>
            <a:noFill/>
            <a:ln w="31750">
              <a:solidFill>
                <a:srgbClr val="CC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204" name="Oval 203"/>
          <p:cNvSpPr/>
          <p:nvPr/>
        </p:nvSpPr>
        <p:spPr>
          <a:xfrm>
            <a:off x="10710832" y="5223134"/>
            <a:ext cx="347472" cy="347472"/>
          </a:xfrm>
          <a:prstGeom prst="ellipse">
            <a:avLst/>
          </a:prstGeom>
          <a:solidFill>
            <a:srgbClr val="009E7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extBox 204"/>
          <p:cNvSpPr txBox="1"/>
          <p:nvPr/>
        </p:nvSpPr>
        <p:spPr>
          <a:xfrm>
            <a:off x="10710832" y="5223134"/>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215" name="Oval 214"/>
          <p:cNvSpPr/>
          <p:nvPr/>
        </p:nvSpPr>
        <p:spPr>
          <a:xfrm>
            <a:off x="11015097" y="5605063"/>
            <a:ext cx="347472" cy="347472"/>
          </a:xfrm>
          <a:prstGeom prst="ellipse">
            <a:avLst/>
          </a:prstGeom>
          <a:solidFill>
            <a:srgbClr val="0072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11015097" y="5605063"/>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226" name="Oval 225"/>
          <p:cNvSpPr/>
          <p:nvPr/>
        </p:nvSpPr>
        <p:spPr>
          <a:xfrm>
            <a:off x="11326206" y="6233717"/>
            <a:ext cx="347472" cy="347472"/>
          </a:xfrm>
          <a:prstGeom prst="ellipse">
            <a:avLst/>
          </a:prstGeom>
          <a:solidFill>
            <a:srgbClr val="E69F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TextBox 226"/>
          <p:cNvSpPr txBox="1"/>
          <p:nvPr/>
        </p:nvSpPr>
        <p:spPr>
          <a:xfrm>
            <a:off x="11326206" y="62337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237" name="Oval 236"/>
          <p:cNvSpPr/>
          <p:nvPr/>
        </p:nvSpPr>
        <p:spPr>
          <a:xfrm>
            <a:off x="12352293" y="6901321"/>
            <a:ext cx="347472" cy="347472"/>
          </a:xfrm>
          <a:prstGeom prst="ellipse">
            <a:avLst/>
          </a:prstGeom>
          <a:solidFill>
            <a:srgbClr val="CC79A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TextBox 237"/>
          <p:cNvSpPr txBox="1"/>
          <p:nvPr/>
        </p:nvSpPr>
        <p:spPr>
          <a:xfrm>
            <a:off x="12352293" y="690132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250" name="TextBox 249"/>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3D 그림은 제품군 구분을 위해 예외 색 · 제품 이미지는 형태 재현</a:t>
            </a:r>
          </a:p>
        </p:txBody>
      </p:sp>
      <p:sp>
        <p:nvSpPr>
          <p:cNvPr id="251" name="TextBox 250"/>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8</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nodeType="clickEffect">
                                  <p:stCondLst>
                                    <p:cond delay="0"/>
                                  </p:stCondLst>
                                  <p:childTnLst>
                                    <p:set>
                                      <p:cBhvr>
                                        <p:cTn id="7" dur="1" fill="hold">
                                          <p:stCondLst>
                                            <p:cond delay="0"/>
                                          </p:stCondLst>
                                        </p:cTn>
                                        <p:tgtEl>
                                          <p:spTgt spid="246"/>
                                        </p:tgtEl>
                                        <p:attrNameLst>
                                          <p:attrName>style.visibility</p:attrName>
                                        </p:attrNameLst>
                                      </p:cBhvr>
                                      <p:to>
                                        <p:strVal val="visible"/>
                                      </p:to>
                                    </p:set>
                                    <p:animEffect transition="in" filter="fade">
                                      <p:cBhvr>
                                        <p:cTn id="8" dur="500"/>
                                        <p:tgtEl>
                                          <p:spTgt spid="246"/>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nodeType="clickEffect">
                                  <p:stCondLst>
                                    <p:cond delay="0"/>
                                  </p:stCondLst>
                                  <p:childTnLst>
                                    <p:set>
                                      <p:cBhvr>
                                        <p:cTn id="12" dur="1" fill="hold">
                                          <p:stCondLst>
                                            <p:cond delay="0"/>
                                          </p:stCondLst>
                                        </p:cTn>
                                        <p:tgtEl>
                                          <p:spTgt spid="247"/>
                                        </p:tgtEl>
                                        <p:attrNameLst>
                                          <p:attrName>style.visibility</p:attrName>
                                        </p:attrNameLst>
                                      </p:cBhvr>
                                      <p:to>
                                        <p:strVal val="visible"/>
                                      </p:to>
                                    </p:set>
                                    <p:animEffect transition="in" filter="fade">
                                      <p:cBhvr>
                                        <p:cTn id="13" dur="500"/>
                                        <p:tgtEl>
                                          <p:spTgt spid="24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48"/>
                                        </p:tgtEl>
                                        <p:attrNameLst>
                                          <p:attrName>style.visibility</p:attrName>
                                        </p:attrNameLst>
                                      </p:cBhvr>
                                      <p:to>
                                        <p:strVal val="visible"/>
                                      </p:to>
                                    </p:set>
                                    <p:animEffect transition="in" filter="fade">
                                      <p:cBhvr>
                                        <p:cTn id="18" dur="500"/>
                                        <p:tgtEl>
                                          <p:spTgt spid="24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9"/>
                                        </p:tgtEl>
                                        <p:attrNameLst>
                                          <p:attrName>style.visibility</p:attrName>
                                        </p:attrNameLst>
                                      </p:cBhvr>
                                      <p:to>
                                        <p:strVal val="visible"/>
                                      </p:to>
                                    </p:set>
                                    <p:animEffect transition="in" filter="fade">
                                      <p:cBhvr>
                                        <p:cTn id="23" dur="500"/>
                                        <p:tgtEl>
                                          <p:spTgt spid="2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8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6 / 8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내구</a:t>
            </a:r>
          </a:p>
          <a:p>
            <a:pPr algn="ctr">
              <a:lnSpc>
                <a:spcPct val="100000"/>
              </a:lnSpc>
            </a:pPr>
            <a:r>
              <a:rPr sz="1700" b="1">
                <a:solidFill>
                  <a:srgbClr val="1428A0"/>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1428A0"/>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QLC</a:t>
            </a:r>
          </a:p>
          <a:p>
            <a:pPr algn="ctr">
              <a:lnSpc>
                <a:spcPct val="100000"/>
              </a:lnSpc>
            </a:pPr>
            <a:r>
              <a:rPr sz="1700" b="1">
                <a:solidFill>
                  <a:srgbClr val="1428A0"/>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범위 46~509</a:t>
            </a:r>
          </a:p>
        </p:txBody>
      </p:sp>
      <p:sp>
        <p:nvSpPr>
          <p:cNvPr id="47" name="Oval 46"/>
          <p:cNvSpPr/>
          <p:nvPr/>
        </p:nvSpPr>
        <p:spPr>
          <a:xfrm>
            <a:off x="1196949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7 / 8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1428A0"/>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1428A0"/>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1428A0"/>
                </a:solidFill>
                <a:latin typeface="Arial"/>
                <a:ea typeface="Arial"/>
              </a:rPr>
              <a:t>6,500+</a:t>
            </a:r>
          </a:p>
        </p:txBody>
      </p:sp>
      <p:sp>
        <p:nvSpPr>
          <p:cNvPr id="29" name="Chevron 28"/>
          <p:cNvSpPr/>
          <p:nvPr/>
        </p:nvSpPr>
        <p:spPr>
          <a:xfrm>
            <a:off x="56601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AAB8E8"/>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AAB8E8"/>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84%</a:t>
            </a:r>
          </a:p>
        </p:txBody>
      </p:sp>
      <p:sp>
        <p:nvSpPr>
          <p:cNvPr id="52" name="Chevron 51"/>
          <p:cNvSpPr/>
          <p:nvPr/>
        </p:nvSpPr>
        <p:spPr>
          <a:xfrm>
            <a:off x="111465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AAB8E8"/>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AAB8E8"/>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AAB8E8"/>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AAB8E8"/>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8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역량 · 사람으로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3803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43891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2793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43891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27157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34290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33192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34290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34290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34290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33192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2428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69663"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69663"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342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248656"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5321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5321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117336" y="2103120"/>
            <a:ext cx="49469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35" name="Chevron 34"/>
          <p:cNvSpPr/>
          <p:nvPr/>
        </p:nvSpPr>
        <p:spPr>
          <a:xfrm>
            <a:off x="11201400"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532120" y="2688336"/>
            <a:ext cx="55321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37" name="TextBox 36"/>
          <p:cNvSpPr txBox="1"/>
          <p:nvPr/>
        </p:nvSpPr>
        <p:spPr>
          <a:xfrm>
            <a:off x="7178040" y="3182112"/>
            <a:ext cx="128016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38" name="TextBox 37"/>
          <p:cNvSpPr txBox="1"/>
          <p:nvPr/>
        </p:nvSpPr>
        <p:spPr>
          <a:xfrm>
            <a:off x="8586216" y="3182112"/>
            <a:ext cx="2478024"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39" name="TextBox 38"/>
          <p:cNvSpPr txBox="1"/>
          <p:nvPr/>
        </p:nvSpPr>
        <p:spPr>
          <a:xfrm>
            <a:off x="5532120" y="3584448"/>
            <a:ext cx="1572768" cy="45720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40" name="Rounded Rectangle 39"/>
          <p:cNvSpPr/>
          <p:nvPr/>
        </p:nvSpPr>
        <p:spPr>
          <a:xfrm>
            <a:off x="7178040" y="3584448"/>
            <a:ext cx="1280160" cy="457200"/>
          </a:xfrm>
          <a:prstGeom prst="roundRect">
            <a:avLst>
              <a:gd name="adj" fmla="val 16000"/>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32903" y="3584448"/>
            <a:ext cx="1170431" cy="457200"/>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42" name="Rounded Rectangle 41"/>
          <p:cNvSpPr/>
          <p:nvPr/>
        </p:nvSpPr>
        <p:spPr>
          <a:xfrm>
            <a:off x="8586216" y="3584448"/>
            <a:ext cx="2478024"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641080" y="3584448"/>
            <a:ext cx="2368296"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44" name="TextBox 43"/>
          <p:cNvSpPr txBox="1"/>
          <p:nvPr/>
        </p:nvSpPr>
        <p:spPr>
          <a:xfrm>
            <a:off x="5532120" y="4133087"/>
            <a:ext cx="1572768" cy="45720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45" name="Rounded Rectangle 44"/>
          <p:cNvSpPr/>
          <p:nvPr/>
        </p:nvSpPr>
        <p:spPr>
          <a:xfrm>
            <a:off x="7178040" y="4133087"/>
            <a:ext cx="1280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232903" y="4133087"/>
            <a:ext cx="1170431" cy="457200"/>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47" name="Rounded Rectangle 46"/>
          <p:cNvSpPr/>
          <p:nvPr/>
        </p:nvSpPr>
        <p:spPr>
          <a:xfrm>
            <a:off x="8586216" y="4133087"/>
            <a:ext cx="2478024"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41080" y="4133087"/>
            <a:ext cx="2368296"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49" name="TextBox 48"/>
          <p:cNvSpPr txBox="1"/>
          <p:nvPr/>
        </p:nvSpPr>
        <p:spPr>
          <a:xfrm>
            <a:off x="5532120" y="4681728"/>
            <a:ext cx="1572768" cy="45720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50" name="Rounded Rectangle 49"/>
          <p:cNvSpPr/>
          <p:nvPr/>
        </p:nvSpPr>
        <p:spPr>
          <a:xfrm>
            <a:off x="7178040" y="4681728"/>
            <a:ext cx="1280160" cy="457200"/>
          </a:xfrm>
          <a:prstGeom prst="roundRect">
            <a:avLst>
              <a:gd name="adj" fmla="val 16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232903" y="4681728"/>
            <a:ext cx="1170431" cy="457200"/>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52" name="Rounded Rectangle 51"/>
          <p:cNvSpPr/>
          <p:nvPr/>
        </p:nvSpPr>
        <p:spPr>
          <a:xfrm>
            <a:off x="8586216" y="4681728"/>
            <a:ext cx="2478024"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641080" y="4681728"/>
            <a:ext cx="2368296"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54" name="TextBox 53"/>
          <p:cNvSpPr txBox="1"/>
          <p:nvPr/>
        </p:nvSpPr>
        <p:spPr>
          <a:xfrm>
            <a:off x="5532120" y="5230368"/>
            <a:ext cx="1572768" cy="45720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55" name="Rounded Rectangle 54"/>
          <p:cNvSpPr/>
          <p:nvPr/>
        </p:nvSpPr>
        <p:spPr>
          <a:xfrm>
            <a:off x="7178040" y="5230368"/>
            <a:ext cx="1280160" cy="457200"/>
          </a:xfrm>
          <a:prstGeom prst="roundRect">
            <a:avLst>
              <a:gd name="adj" fmla="val 1600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232903" y="5230368"/>
            <a:ext cx="1170431" cy="4572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57" name="Rounded Rectangle 56"/>
          <p:cNvSpPr/>
          <p:nvPr/>
        </p:nvSpPr>
        <p:spPr>
          <a:xfrm>
            <a:off x="8586216" y="5230368"/>
            <a:ext cx="2478024"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641080" y="5230368"/>
            <a:ext cx="2368296" cy="45720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59" name="TextBox 58"/>
          <p:cNvSpPr txBox="1"/>
          <p:nvPr/>
        </p:nvSpPr>
        <p:spPr>
          <a:xfrm>
            <a:off x="5532120" y="5779008"/>
            <a:ext cx="1572768" cy="45720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60" name="Rounded Rectangle 59"/>
          <p:cNvSpPr/>
          <p:nvPr/>
        </p:nvSpPr>
        <p:spPr>
          <a:xfrm>
            <a:off x="7178040" y="5779008"/>
            <a:ext cx="1280160" cy="457200"/>
          </a:xfrm>
          <a:prstGeom prst="roundRect">
            <a:avLst>
              <a:gd name="adj" fmla="val 1600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232903" y="5779008"/>
            <a:ext cx="1170431" cy="4572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62" name="Rounded Rectangle 61"/>
          <p:cNvSpPr/>
          <p:nvPr/>
        </p:nvSpPr>
        <p:spPr>
          <a:xfrm>
            <a:off x="8586216" y="5779008"/>
            <a:ext cx="2478024" cy="457200"/>
          </a:xfrm>
          <a:prstGeom prst="roundRect">
            <a:avLst>
              <a:gd name="adj" fmla="val 16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5532120" y="6345936"/>
            <a:ext cx="5532120" cy="2194559"/>
          </a:xfrm>
          <a:prstGeom prst="roundRect">
            <a:avLst>
              <a:gd name="adj" fmla="val 3333"/>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5696712" y="6455664"/>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751575" y="6455664"/>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66" name="TextBox 65"/>
          <p:cNvSpPr txBox="1"/>
          <p:nvPr/>
        </p:nvSpPr>
        <p:spPr>
          <a:xfrm>
            <a:off x="6519672" y="6437376"/>
            <a:ext cx="4434840"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67" name="TextBox 66"/>
          <p:cNvSpPr txBox="1"/>
          <p:nvPr/>
        </p:nvSpPr>
        <p:spPr>
          <a:xfrm>
            <a:off x="5751576" y="6876288"/>
            <a:ext cx="1060704"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68" name="TextBox 67"/>
          <p:cNvSpPr txBox="1"/>
          <p:nvPr/>
        </p:nvSpPr>
        <p:spPr>
          <a:xfrm>
            <a:off x="8129016" y="6876288"/>
            <a:ext cx="1060704" cy="274320"/>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69" name="Rounded Rectangle 68"/>
          <p:cNvSpPr/>
          <p:nvPr/>
        </p:nvSpPr>
        <p:spPr>
          <a:xfrm>
            <a:off x="5751576" y="7187184"/>
            <a:ext cx="1060704" cy="347472"/>
          </a:xfrm>
          <a:prstGeom prst="roundRect">
            <a:avLst>
              <a:gd name="adj" fmla="val 2105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806440" y="7187184"/>
            <a:ext cx="950976" cy="347472"/>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1" name="Rounded Rectangle 70"/>
          <p:cNvSpPr/>
          <p:nvPr/>
        </p:nvSpPr>
        <p:spPr>
          <a:xfrm>
            <a:off x="8129016" y="7187184"/>
            <a:ext cx="1060704" cy="347472"/>
          </a:xfrm>
          <a:prstGeom prst="roundRect">
            <a:avLst>
              <a:gd name="adj" fmla="val 2105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183880" y="7187184"/>
            <a:ext cx="950976" cy="347472"/>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73" name="Rectangle 72"/>
          <p:cNvSpPr/>
          <p:nvPr/>
        </p:nvSpPr>
        <p:spPr>
          <a:xfrm>
            <a:off x="6848856" y="7351776"/>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5751576" y="7626096"/>
            <a:ext cx="1060704" cy="347472"/>
          </a:xfrm>
          <a:prstGeom prst="roundRect">
            <a:avLst>
              <a:gd name="adj" fmla="val 2105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806440" y="7626096"/>
            <a:ext cx="950976" cy="347472"/>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76" name="Rounded Rectangle 75"/>
          <p:cNvSpPr/>
          <p:nvPr/>
        </p:nvSpPr>
        <p:spPr>
          <a:xfrm>
            <a:off x="8129016" y="7626096"/>
            <a:ext cx="1060704" cy="347472"/>
          </a:xfrm>
          <a:prstGeom prst="roundRect">
            <a:avLst>
              <a:gd name="adj" fmla="val 2105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183880" y="7626096"/>
            <a:ext cx="950976" cy="347472"/>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78" name="Rectangle 77"/>
          <p:cNvSpPr/>
          <p:nvPr/>
        </p:nvSpPr>
        <p:spPr>
          <a:xfrm>
            <a:off x="6848856" y="7790688"/>
            <a:ext cx="1243584"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ounded Rectangle 78"/>
          <p:cNvSpPr/>
          <p:nvPr/>
        </p:nvSpPr>
        <p:spPr>
          <a:xfrm>
            <a:off x="5751576" y="8065008"/>
            <a:ext cx="1060704"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806440" y="8065008"/>
            <a:ext cx="95097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1" name="Rounded Rectangle 80"/>
          <p:cNvSpPr/>
          <p:nvPr/>
        </p:nvSpPr>
        <p:spPr>
          <a:xfrm>
            <a:off x="8129016" y="8065008"/>
            <a:ext cx="1060704"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83880" y="8065008"/>
            <a:ext cx="950976" cy="347472"/>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83" name="Rectangle 82"/>
          <p:cNvSpPr/>
          <p:nvPr/>
        </p:nvSpPr>
        <p:spPr>
          <a:xfrm>
            <a:off x="6848856" y="8211312"/>
            <a:ext cx="1243584"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ounded Rectangle 83"/>
          <p:cNvSpPr/>
          <p:nvPr/>
        </p:nvSpPr>
        <p:spPr>
          <a:xfrm>
            <a:off x="6903720" y="8101583"/>
            <a:ext cx="1133856" cy="274320"/>
          </a:xfrm>
          <a:prstGeom prst="roundRect">
            <a:avLst>
              <a:gd name="adj" fmla="val 26666"/>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958583" y="8101583"/>
            <a:ext cx="1024128" cy="274320"/>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86" name="Rectangle 85"/>
          <p:cNvSpPr/>
          <p:nvPr/>
        </p:nvSpPr>
        <p:spPr>
          <a:xfrm>
            <a:off x="9372600" y="7187184"/>
            <a:ext cx="36576" cy="7863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281160" y="7187184"/>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9281160" y="7936992"/>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445752" y="744321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90" name="Rectangle 89"/>
          <p:cNvSpPr/>
          <p:nvPr/>
        </p:nvSpPr>
        <p:spPr>
          <a:xfrm>
            <a:off x="10104120" y="7187184"/>
            <a:ext cx="36576" cy="1225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10012680" y="7187184"/>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0012680" y="8375904"/>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0177272" y="7662672"/>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94" name="Oval 93"/>
          <p:cNvSpPr/>
          <p:nvPr/>
        </p:nvSpPr>
        <p:spPr>
          <a:xfrm>
            <a:off x="1148486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148486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96" name="TextBox 95"/>
          <p:cNvSpPr txBox="1"/>
          <p:nvPr/>
        </p:nvSpPr>
        <p:spPr>
          <a:xfrm>
            <a:off x="12070080" y="2103120"/>
            <a:ext cx="54955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97" name="Picture 96" descr="palantir.png"/>
          <p:cNvPicPr>
            <a:picLocks noChangeAspect="1"/>
          </p:cNvPicPr>
          <p:nvPr/>
        </p:nvPicPr>
        <p:blipFill>
          <a:blip r:embed="rId4"/>
          <a:stretch>
            <a:fillRect/>
          </a:stretch>
        </p:blipFill>
        <p:spPr>
          <a:xfrm>
            <a:off x="11484864" y="2715768"/>
            <a:ext cx="310896" cy="310896"/>
          </a:xfrm>
          <a:prstGeom prst="rect">
            <a:avLst/>
          </a:prstGeom>
        </p:spPr>
      </p:pic>
      <p:sp>
        <p:nvSpPr>
          <p:cNvPr id="98" name="TextBox 97"/>
          <p:cNvSpPr txBox="1"/>
          <p:nvPr/>
        </p:nvSpPr>
        <p:spPr>
          <a:xfrm>
            <a:off x="11887200" y="2688336"/>
            <a:ext cx="56784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99" name="TextBox 98"/>
          <p:cNvSpPr txBox="1"/>
          <p:nvPr/>
        </p:nvSpPr>
        <p:spPr>
          <a:xfrm>
            <a:off x="11484864"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00" name="Rounded Rectangle 99"/>
          <p:cNvSpPr/>
          <p:nvPr/>
        </p:nvSpPr>
        <p:spPr>
          <a:xfrm>
            <a:off x="1148486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1" name="Picture 100" descr="samsung.png"/>
          <p:cNvPicPr>
            <a:picLocks noChangeAspect="1"/>
          </p:cNvPicPr>
          <p:nvPr/>
        </p:nvPicPr>
        <p:blipFill>
          <a:blip r:embed="rId5"/>
          <a:stretch>
            <a:fillRect/>
          </a:stretch>
        </p:blipFill>
        <p:spPr>
          <a:xfrm>
            <a:off x="11622024" y="3759998"/>
            <a:ext cx="1280160" cy="197538"/>
          </a:xfrm>
          <a:prstGeom prst="rect">
            <a:avLst/>
          </a:prstGeom>
        </p:spPr>
      </p:pic>
      <p:sp>
        <p:nvSpPr>
          <p:cNvPr id="102" name="Rounded Rectangle 101"/>
          <p:cNvSpPr/>
          <p:nvPr/>
        </p:nvSpPr>
        <p:spPr>
          <a:xfrm>
            <a:off x="16011144"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6066008"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104" name="Rectangle 103"/>
          <p:cNvSpPr/>
          <p:nvPr/>
        </p:nvSpPr>
        <p:spPr>
          <a:xfrm>
            <a:off x="13112496" y="3849624"/>
            <a:ext cx="28254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Folded Corner 104"/>
          <p:cNvSpPr/>
          <p:nvPr/>
        </p:nvSpPr>
        <p:spPr>
          <a:xfrm>
            <a:off x="14324076"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11484864" y="4187952"/>
            <a:ext cx="60807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107" name="Isosceles Triangle 106"/>
          <p:cNvSpPr/>
          <p:nvPr/>
        </p:nvSpPr>
        <p:spPr>
          <a:xfrm rot="10800000">
            <a:off x="14324076"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1484864"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109" name="Rounded Rectangle 108"/>
          <p:cNvSpPr/>
          <p:nvPr/>
        </p:nvSpPr>
        <p:spPr>
          <a:xfrm>
            <a:off x="11484864" y="5248656"/>
            <a:ext cx="6080760" cy="3291839"/>
          </a:xfrm>
          <a:prstGeom prst="roundRect">
            <a:avLst>
              <a:gd name="adj" fmla="val 222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548104"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111" name="Rounded Rectangle 110"/>
          <p:cNvSpPr/>
          <p:nvPr/>
        </p:nvSpPr>
        <p:spPr>
          <a:xfrm>
            <a:off x="11649456"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1759184"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1759184"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114" name="TextBox 113"/>
          <p:cNvSpPr txBox="1"/>
          <p:nvPr/>
        </p:nvSpPr>
        <p:spPr>
          <a:xfrm>
            <a:off x="11722608"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115" name="Chevron 114"/>
          <p:cNvSpPr/>
          <p:nvPr/>
        </p:nvSpPr>
        <p:spPr>
          <a:xfrm>
            <a:off x="13447776" y="6803136"/>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ounded Rectangle 115"/>
          <p:cNvSpPr/>
          <p:nvPr/>
        </p:nvSpPr>
        <p:spPr>
          <a:xfrm>
            <a:off x="13658088"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13767816"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13767816"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119" name="TextBox 118"/>
          <p:cNvSpPr txBox="1"/>
          <p:nvPr/>
        </p:nvSpPr>
        <p:spPr>
          <a:xfrm>
            <a:off x="13731240"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120" name="Chevron 119"/>
          <p:cNvSpPr/>
          <p:nvPr/>
        </p:nvSpPr>
        <p:spPr>
          <a:xfrm>
            <a:off x="15456408" y="6803136"/>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ounded Rectangle 120"/>
          <p:cNvSpPr/>
          <p:nvPr/>
        </p:nvSpPr>
        <p:spPr>
          <a:xfrm>
            <a:off x="15666720" y="5650992"/>
            <a:ext cx="1734312" cy="2761487"/>
          </a:xfrm>
          <a:prstGeom prst="roundRect">
            <a:avLst>
              <a:gd name="adj" fmla="val 4217"/>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15776448"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5776448"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24" name="TextBox 123"/>
          <p:cNvSpPr txBox="1"/>
          <p:nvPr/>
        </p:nvSpPr>
        <p:spPr>
          <a:xfrm>
            <a:off x="15739871" y="7699248"/>
            <a:ext cx="15880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125" name="Rectangle 124"/>
          <p:cNvSpPr/>
          <p:nvPr/>
        </p:nvSpPr>
        <p:spPr>
          <a:xfrm>
            <a:off x="11868912" y="7626096"/>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1923776" y="7126833"/>
            <a:ext cx="155448" cy="49926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12134088" y="6484924"/>
            <a:ext cx="155448" cy="1141171"/>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12344400" y="6841540"/>
            <a:ext cx="155448" cy="7845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2554712" y="6270955"/>
            <a:ext cx="155448" cy="135514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12765024" y="7198156"/>
            <a:ext cx="155448" cy="4279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12975336" y="6770217"/>
            <a:ext cx="155448" cy="8558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12487656"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rot="2700000">
            <a:off x="12908280"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ounded Rectangle 133"/>
          <p:cNvSpPr/>
          <p:nvPr/>
        </p:nvSpPr>
        <p:spPr>
          <a:xfrm>
            <a:off x="13840968" y="6144768"/>
            <a:ext cx="1021080" cy="469391"/>
          </a:xfrm>
          <a:prstGeom prst="roundRect">
            <a:avLst>
              <a:gd name="adj" fmla="val 1558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13895832" y="6144768"/>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136" name="Rounded Rectangle 135"/>
          <p:cNvSpPr/>
          <p:nvPr/>
        </p:nvSpPr>
        <p:spPr>
          <a:xfrm>
            <a:off x="13840968" y="6669024"/>
            <a:ext cx="1021080" cy="469391"/>
          </a:xfrm>
          <a:prstGeom prst="roundRect">
            <a:avLst>
              <a:gd name="adj" fmla="val 1558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13895832" y="6669024"/>
            <a:ext cx="911352" cy="469391"/>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138" name="Rounded Rectangle 137"/>
          <p:cNvSpPr/>
          <p:nvPr/>
        </p:nvSpPr>
        <p:spPr>
          <a:xfrm>
            <a:off x="13840968" y="7193280"/>
            <a:ext cx="1021080" cy="469391"/>
          </a:xfrm>
          <a:prstGeom prst="roundRect">
            <a:avLst>
              <a:gd name="adj" fmla="val 1558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895832" y="7193280"/>
            <a:ext cx="911352" cy="469391"/>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140" name="Up-Down Arrow 139"/>
          <p:cNvSpPr/>
          <p:nvPr/>
        </p:nvSpPr>
        <p:spPr>
          <a:xfrm>
            <a:off x="14953488" y="6379464"/>
            <a:ext cx="292608" cy="1048511"/>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15909767"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ound Same Side Corner Rectangle 141"/>
          <p:cNvSpPr/>
          <p:nvPr/>
        </p:nvSpPr>
        <p:spPr>
          <a:xfrm>
            <a:off x="15831312"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16940723"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ound Same Side Corner Rectangle 143"/>
          <p:cNvSpPr/>
          <p:nvPr/>
        </p:nvSpPr>
        <p:spPr>
          <a:xfrm>
            <a:off x="16862267"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ounded Rectangular Callout 144"/>
          <p:cNvSpPr/>
          <p:nvPr/>
        </p:nvSpPr>
        <p:spPr>
          <a:xfrm>
            <a:off x="16149827"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16149827"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147" name="Picture 146" descr="render_ssd.png"/>
          <p:cNvPicPr>
            <a:picLocks noChangeAspect="1"/>
          </p:cNvPicPr>
          <p:nvPr/>
        </p:nvPicPr>
        <p:blipFill>
          <a:blip r:embed="rId6"/>
          <a:stretch>
            <a:fillRect/>
          </a:stretch>
        </p:blipFill>
        <p:spPr>
          <a:xfrm>
            <a:off x="16222980" y="6779146"/>
            <a:ext cx="621792" cy="230858"/>
          </a:xfrm>
          <a:prstGeom prst="rect">
            <a:avLst/>
          </a:prstGeom>
        </p:spPr>
      </p:pic>
      <p:sp>
        <p:nvSpPr>
          <p:cNvPr id="148" name="Rectangle 147"/>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0" name="TextBox 149"/>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1" name="TextBox 15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2" name="TextBox 15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8 / 8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1428A0"/>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