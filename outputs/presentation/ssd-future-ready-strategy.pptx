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오른쪽 위 숫자는 McKinsey가 본 2030년 eSSD 수요입니다. 범용 클라우드와 엔터프라이즈가 약 500, AI 추론이 약 450, AI 학습이 약 130엑사바이트이고, 에이전트는 따로 떼어 낸 전망이 없습니다. 연도별 상세는 참고 5장에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 2030년 eSSD의 41퍼센트가 됩니다. AI 학습은 7에서 127엑사바이트, 범용 클라우드와 엔터프라이즈는 총량에서 학습과 추론을 뺀 값으로 약 500엑사바이트입니다.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SanDisk도 2030년 AI 데이터센터 플래시를 1.2제타바이트로 봅니다. 기관마다 정의가 달라 막대와 정확히 겹쳐 읽을 수는 없고 방향만 비교합니다. 마지막으로 네 응용에 없는 큰 수요가 HDD 대체입니다. 니어라인 HDD는 2030년 연 약 3.9제타바이트가 출하될 전망이라, 그중 10퍼센트만 플래시로 넘어와도 약 390엑사바이트로 AI 학습 전체의 세 배입니다. 다만 QLC 가격이 HDD의 3배 안에 들어야 하는데, 지금 가격 경로로는 2031년에서 2032년 무렵이고, 실제 전환은 전력과 공간이 병목인 AI 데이터센터부터 TCO로 일어날 가능성이 큽니다.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5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sp>
        <p:nvSpPr>
          <p:cNvPr id="44" name="TextBox 43"/>
          <p:cNvSpPr txBox="1"/>
          <p:nvPr/>
        </p:nvSpPr>
        <p:spPr>
          <a:xfrm>
            <a:off x="4489704"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500EB</a:t>
            </a:r>
          </a:p>
        </p:txBody>
      </p:sp>
      <p:sp>
        <p:nvSpPr>
          <p:cNvPr id="45" name="TextBox 44"/>
          <p:cNvSpPr txBox="1"/>
          <p:nvPr/>
        </p:nvSpPr>
        <p:spPr>
          <a:xfrm>
            <a:off x="7840979"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130EB</a:t>
            </a:r>
          </a:p>
        </p:txBody>
      </p:sp>
      <p:sp>
        <p:nvSpPr>
          <p:cNvPr id="46" name="TextBox 45"/>
          <p:cNvSpPr txBox="1"/>
          <p:nvPr/>
        </p:nvSpPr>
        <p:spPr>
          <a:xfrm>
            <a:off x="11192256"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2000" b="1">
                <a:solidFill>
                  <a:srgbClr val="1A1A1A"/>
                </a:solidFill>
                <a:latin typeface="Arial"/>
                <a:ea typeface="Arial"/>
              </a:rPr>
              <a:t>약 450EB</a:t>
            </a:r>
          </a:p>
        </p:txBody>
      </p:sp>
      <p:sp>
        <p:nvSpPr>
          <p:cNvPr id="47" name="TextBox 46"/>
          <p:cNvSpPr txBox="1"/>
          <p:nvPr/>
        </p:nvSpPr>
        <p:spPr>
          <a:xfrm>
            <a:off x="14543532" y="4718304"/>
            <a:ext cx="2839212"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2030  </a:t>
            </a:r>
            <a:r>
              <a:rPr sz="1600" b="0">
                <a:solidFill>
                  <a:srgbClr val="555555"/>
                </a:solidFill>
                <a:latin typeface="Arial"/>
                <a:ea typeface="Arial"/>
              </a:rPr>
              <a:t>별도 전망 없음</a:t>
            </a:r>
          </a:p>
        </p:txBody>
      </p:sp>
      <p:pic>
        <p:nvPicPr>
          <p:cNvPr id="48" name="Picture 47" descr="nvidia.png"/>
          <p:cNvPicPr>
            <a:picLocks noChangeAspect="1"/>
          </p:cNvPicPr>
          <p:nvPr/>
        </p:nvPicPr>
        <p:blipFill>
          <a:blip r:embed="rId4"/>
          <a:stretch>
            <a:fillRect/>
          </a:stretch>
        </p:blipFill>
        <p:spPr>
          <a:xfrm>
            <a:off x="7840979" y="2651861"/>
            <a:ext cx="1051560" cy="200964"/>
          </a:xfrm>
          <a:prstGeom prst="rect">
            <a:avLst/>
          </a:prstGeom>
        </p:spPr>
      </p:pic>
      <p:pic>
        <p:nvPicPr>
          <p:cNvPr id="49" name="Picture 48" descr="aws.png"/>
          <p:cNvPicPr>
            <a:picLocks noChangeAspect="1"/>
          </p:cNvPicPr>
          <p:nvPr/>
        </p:nvPicPr>
        <p:blipFill>
          <a:blip r:embed="rId5"/>
          <a:stretch>
            <a:fillRect/>
          </a:stretch>
        </p:blipFill>
        <p:spPr>
          <a:xfrm>
            <a:off x="4489704" y="2624328"/>
            <a:ext cx="458899" cy="274320"/>
          </a:xfrm>
          <a:prstGeom prst="rect">
            <a:avLst/>
          </a:prstGeom>
        </p:spPr>
      </p:pic>
      <p:pic>
        <p:nvPicPr>
          <p:cNvPr id="50" name="Picture 49" descr="microsoft.png"/>
          <p:cNvPicPr>
            <a:picLocks noChangeAspect="1"/>
          </p:cNvPicPr>
          <p:nvPr/>
        </p:nvPicPr>
        <p:blipFill>
          <a:blip r:embed="rId6"/>
          <a:stretch>
            <a:fillRect/>
          </a:stretch>
        </p:blipFill>
        <p:spPr>
          <a:xfrm>
            <a:off x="5113195" y="2631109"/>
            <a:ext cx="960120" cy="205892"/>
          </a:xfrm>
          <a:prstGeom prst="rect">
            <a:avLst/>
          </a:prstGeom>
        </p:spPr>
      </p:pic>
      <p:pic>
        <p:nvPicPr>
          <p:cNvPr id="51" name="Picture 50" descr="google.png"/>
          <p:cNvPicPr>
            <a:picLocks noChangeAspect="1"/>
          </p:cNvPicPr>
          <p:nvPr/>
        </p:nvPicPr>
        <p:blipFill>
          <a:blip r:embed="rId7"/>
          <a:stretch>
            <a:fillRect/>
          </a:stretch>
        </p:blipFill>
        <p:spPr>
          <a:xfrm>
            <a:off x="6237907" y="2624328"/>
            <a:ext cx="669526" cy="219456"/>
          </a:xfrm>
          <a:prstGeom prst="rect">
            <a:avLst/>
          </a:prstGeom>
        </p:spPr>
      </p:pic>
      <p:pic>
        <p:nvPicPr>
          <p:cNvPr id="52" name="Picture 51" descr="meta.png"/>
          <p:cNvPicPr>
            <a:picLocks noChangeAspect="1"/>
          </p:cNvPicPr>
          <p:nvPr/>
        </p:nvPicPr>
        <p:blipFill>
          <a:blip r:embed="rId8"/>
          <a:stretch>
            <a:fillRect/>
          </a:stretch>
        </p:blipFill>
        <p:spPr>
          <a:xfrm>
            <a:off x="14543532" y="2659684"/>
            <a:ext cx="731520" cy="148742"/>
          </a:xfrm>
          <a:prstGeom prst="rect">
            <a:avLst/>
          </a:prstGeom>
        </p:spPr>
      </p:pic>
      <p:sp>
        <p:nvSpPr>
          <p:cNvPr id="53" name="TextBox 52"/>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4" name="Picture 53" descr="openai.png"/>
          <p:cNvPicPr>
            <a:picLocks noChangeAspect="1"/>
          </p:cNvPicPr>
          <p:nvPr/>
        </p:nvPicPr>
        <p:blipFill>
          <a:blip r:embed="rId9"/>
          <a:stretch>
            <a:fillRect/>
          </a:stretch>
        </p:blipFill>
        <p:spPr>
          <a:xfrm>
            <a:off x="16006572" y="2644241"/>
            <a:ext cx="731520" cy="179628"/>
          </a:xfrm>
          <a:prstGeom prst="rect">
            <a:avLst/>
          </a:prstGeom>
        </p:spPr>
      </p:pic>
      <p:sp>
        <p:nvSpPr>
          <p:cNvPr id="55" name="TextBox 54"/>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6" name="Cloud 55"/>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8" name="TextBox 67"/>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9" name="Rectangle 68"/>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71" name="TextBox 70"/>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72" name="Rectangle 71"/>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4" name="TextBox 73"/>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5" name="Rectangle 74"/>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7" name="TextBox 76"/>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8" name="Rectangle 77"/>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80" name="TextBox 79"/>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81" name="TextBox 80"/>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82" name="TextBox 81"/>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83" name="Rectangle 82"/>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5" name="Rectangle 84"/>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7" name="Rectangle 86"/>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9" name="TextBox 88"/>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90" name="Rectangle 89"/>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92" name="TextBox 91"/>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93" name="Rectangle 92"/>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5" name="TextBox 94"/>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6" name="Rectangle 95"/>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9" name="Rectangle 98"/>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30" name="TextBox 129"/>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31" name="Rectangle 130"/>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33" name="TextBox 132"/>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4" name="Rectangle 133"/>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6" name="TextBox 135"/>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7" name="TextBox 136"/>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8" name="Rounded Rectangle 137"/>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40" name="TextBox 139"/>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41" name="Rectangle 140"/>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4" name="Rounded Rectangle 143"/>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ounded Rectangle 145"/>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8" name="Rounded Rectangle 147"/>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ounded Rectangle 148"/>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51" name="TextBox 150"/>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52" name="Rectangle 151"/>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4" name="Rounded Rectangle 153"/>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7" name="Rounded Rectangle 156"/>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9" name="Rounded Rectangle 158"/>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62" name="TextBox 161"/>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63" name="Rectangle 162"/>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5" name="Rounded Rectangle 164"/>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7" name="Rounded Rectangle 166"/>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9" name="Rounded Rectangle 168"/>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71" name="Rounded Rectangle 170"/>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73" name="Rounded Rectangle 172"/>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5" name="TextBox 174"/>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6" name="Rectangle 175"/>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9" name="Rounded Rectangle 178"/>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81" name="Rounded Rectangle 180"/>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83" name="Rounded Rectangle 182"/>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5" name="Rounded Rectangle 184"/>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7" name="Rectangle 18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9" name="TextBox 18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90" name="TextBox 18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2030 수요 McKinsey(2024-12, 범용은 산술, 상세 5장)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191" name="TextBox 19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5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5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5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5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1,500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337291"/>
            <a:ext cx="640080" cy="54483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314590"/>
            <a:ext cx="640080" cy="227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295131"/>
            <a:ext cx="640080" cy="1945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965947"/>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618488"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227814"/>
            <a:ext cx="640080" cy="65431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191014"/>
            <a:ext cx="640080" cy="367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7151100"/>
            <a:ext cx="640080" cy="399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821916"/>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79191"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7096338"/>
            <a:ext cx="640080" cy="78578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7036686"/>
            <a:ext cx="640080" cy="5965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954809"/>
            <a:ext cx="640080" cy="818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62562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286</a:t>
            </a:r>
          </a:p>
        </p:txBody>
      </p:sp>
      <p:sp>
        <p:nvSpPr>
          <p:cNvPr id="31" name="TextBox 30"/>
          <p:cNvSpPr txBox="1"/>
          <p:nvPr/>
        </p:nvSpPr>
        <p:spPr>
          <a:xfrm>
            <a:off x="3739896"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32" name="Rectangle 31"/>
          <p:cNvSpPr/>
          <p:nvPr/>
        </p:nvSpPr>
        <p:spPr>
          <a:xfrm>
            <a:off x="5029200" y="6938444"/>
            <a:ext cx="640080" cy="94368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841748"/>
            <a:ext cx="640080" cy="9669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673796"/>
            <a:ext cx="640080" cy="1679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344612"/>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800600"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748823"/>
            <a:ext cx="640080" cy="1133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592078"/>
            <a:ext cx="640080" cy="156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6247560"/>
            <a:ext cx="640080" cy="34451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918376"/>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61304"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521100"/>
            <a:ext cx="640080" cy="13610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6267017"/>
            <a:ext cx="640080" cy="254083"/>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5560312"/>
            <a:ext cx="640080" cy="706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523112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922008" y="7936992"/>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6247619"/>
            <a:ext cx="640080" cy="16345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835749"/>
            <a:ext cx="640080" cy="41187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4386096"/>
            <a:ext cx="640080" cy="14496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4056912"/>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82711" y="7936992"/>
            <a:ext cx="109728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Rectangle 51"/>
          <p:cNvSpPr/>
          <p:nvPr/>
        </p:nvSpPr>
        <p:spPr>
          <a:xfrm>
            <a:off x="8211311" y="3121298"/>
            <a:ext cx="640080" cy="1264798"/>
          </a:xfrm>
          <a:prstGeom prst="rect">
            <a:avLst/>
          </a:prstGeom>
          <a:no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79407" y="3461089"/>
            <a:ext cx="237744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HDD 대체 잠재</a:t>
            </a:r>
          </a:p>
          <a:p>
            <a:pPr algn="l">
              <a:lnSpc>
                <a:spcPct val="100000"/>
              </a:lnSpc>
            </a:pPr>
            <a:r>
              <a:rPr sz="1600" b="0">
                <a:solidFill>
                  <a:srgbClr val="555555"/>
                </a:solidFill>
                <a:latin typeface="Arial"/>
                <a:ea typeface="Arial"/>
              </a:rPr>
              <a:t>니어라인의 10%, 390</a:t>
            </a:r>
          </a:p>
        </p:txBody>
      </p:sp>
      <p:sp>
        <p:nvSpPr>
          <p:cNvPr id="54" name="TextBox 53"/>
          <p:cNvSpPr txBox="1"/>
          <p:nvPr/>
        </p:nvSpPr>
        <p:spPr>
          <a:xfrm>
            <a:off x="8979407" y="6772265"/>
            <a:ext cx="237744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5" name="TextBox 54"/>
          <p:cNvSpPr txBox="1"/>
          <p:nvPr/>
        </p:nvSpPr>
        <p:spPr>
          <a:xfrm>
            <a:off x="8979407" y="5749076"/>
            <a:ext cx="237744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6" name="TextBox 55"/>
          <p:cNvSpPr txBox="1"/>
          <p:nvPr/>
        </p:nvSpPr>
        <p:spPr>
          <a:xfrm>
            <a:off x="8979407" y="4818314"/>
            <a:ext cx="237744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7" name="Connector 56"/>
          <p:cNvCxnSpPr/>
          <p:nvPr/>
        </p:nvCxnSpPr>
        <p:spPr>
          <a:xfrm>
            <a:off x="6409944" y="4963363"/>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8008669" y="4908499"/>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Diamond 58"/>
          <p:cNvSpPr/>
          <p:nvPr/>
        </p:nvSpPr>
        <p:spPr>
          <a:xfrm>
            <a:off x="6281928" y="4835347"/>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06824" y="4807915"/>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61" name="TextBox 60"/>
          <p:cNvSpPr txBox="1"/>
          <p:nvPr/>
        </p:nvSpPr>
        <p:spPr>
          <a:xfrm>
            <a:off x="6592824" y="4579315"/>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a:t>
            </a:r>
          </a:p>
        </p:txBody>
      </p:sp>
      <p:sp>
        <p:nvSpPr>
          <p:cNvPr id="62" name="TextBox 61"/>
          <p:cNvSpPr txBox="1"/>
          <p:nvPr/>
        </p:nvSpPr>
        <p:spPr>
          <a:xfrm>
            <a:off x="2807208" y="3082381"/>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3" name="TextBox 62"/>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포인트</a:t>
            </a:r>
          </a:p>
        </p:txBody>
      </p:sp>
      <p:sp>
        <p:nvSpPr>
          <p:cNvPr id="64" name="Rounded Rectangle 63"/>
          <p:cNvSpPr/>
          <p:nvPr/>
        </p:nvSpPr>
        <p:spPr>
          <a:xfrm>
            <a:off x="12198096" y="2578608"/>
            <a:ext cx="5367528" cy="1682496"/>
          </a:xfrm>
          <a:prstGeom prst="roundRect">
            <a:avLst>
              <a:gd name="adj" fmla="val 4347"/>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417552" y="2688336"/>
            <a:ext cx="4928616"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추론</a:t>
            </a:r>
          </a:p>
        </p:txBody>
      </p:sp>
      <p:sp>
        <p:nvSpPr>
          <p:cNvPr id="66" name="TextBox 65"/>
          <p:cNvSpPr txBox="1"/>
          <p:nvPr/>
        </p:nvSpPr>
        <p:spPr>
          <a:xfrm>
            <a:off x="12417552" y="2980944"/>
            <a:ext cx="4928616" cy="658368"/>
          </a:xfrm>
          <a:prstGeom prst="rect">
            <a:avLst/>
          </a:prstGeom>
          <a:noFill/>
        </p:spPr>
        <p:txBody>
          <a:bodyPr wrap="square" anchor="ctr" lIns="0" rIns="0" tIns="0" bIns="0">
            <a:spAutoFit/>
          </a:bodyPr>
          <a:lstStyle/>
          <a:p>
            <a:pPr algn="l">
              <a:lnSpc>
                <a:spcPct val="110000"/>
              </a:lnSpc>
            </a:pPr>
            <a:r>
              <a:rPr sz="4400" b="1">
                <a:solidFill>
                  <a:srgbClr val="1428A0"/>
                </a:solidFill>
                <a:latin typeface="Arial"/>
                <a:ea typeface="Arial"/>
              </a:rPr>
              <a:t>75</a:t>
            </a:r>
            <a:r>
              <a:rPr sz="2200" b="1">
                <a:solidFill>
                  <a:srgbClr val="1428A0"/>
                </a:solidFill>
                <a:latin typeface="Arial"/>
                <a:ea typeface="Arial"/>
              </a:rPr>
              <a:t> 배</a:t>
            </a:r>
          </a:p>
        </p:txBody>
      </p:sp>
      <p:sp>
        <p:nvSpPr>
          <p:cNvPr id="67" name="TextBox 66"/>
          <p:cNvSpPr txBox="1"/>
          <p:nvPr/>
        </p:nvSpPr>
        <p:spPr>
          <a:xfrm>
            <a:off x="12417552" y="3621024"/>
            <a:ext cx="4928616" cy="58521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6 → 447EB</a:t>
            </a:r>
          </a:p>
          <a:p>
            <a:pPr algn="l">
              <a:lnSpc>
                <a:spcPct val="100000"/>
              </a:lnSpc>
            </a:pPr>
            <a:r>
              <a:rPr sz="1600" b="0">
                <a:solidFill>
                  <a:srgbClr val="555555"/>
                </a:solidFill>
                <a:latin typeface="Arial"/>
                <a:ea typeface="Arial"/>
              </a:rPr>
              <a:t>2030년 eSSD의 41%</a:t>
            </a:r>
          </a:p>
        </p:txBody>
      </p:sp>
      <p:sp>
        <p:nvSpPr>
          <p:cNvPr id="68" name="Rounded Rectangle 67"/>
          <p:cNvSpPr/>
          <p:nvPr/>
        </p:nvSpPr>
        <p:spPr>
          <a:xfrm>
            <a:off x="12198096" y="4407408"/>
            <a:ext cx="5367528" cy="1682496"/>
          </a:xfrm>
          <a:prstGeom prst="roundRect">
            <a:avLst>
              <a:gd name="adj" fmla="val 434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17552" y="4517136"/>
            <a:ext cx="4928616" cy="310896"/>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최신 전망</a:t>
            </a:r>
          </a:p>
        </p:txBody>
      </p:sp>
      <p:sp>
        <p:nvSpPr>
          <p:cNvPr id="70" name="TextBox 69"/>
          <p:cNvSpPr txBox="1"/>
          <p:nvPr/>
        </p:nvSpPr>
        <p:spPr>
          <a:xfrm>
            <a:off x="12417552" y="4809744"/>
            <a:ext cx="4928616" cy="658368"/>
          </a:xfrm>
          <a:prstGeom prst="rect">
            <a:avLst/>
          </a:prstGeom>
          <a:noFill/>
        </p:spPr>
        <p:txBody>
          <a:bodyPr wrap="square" anchor="ctr" lIns="0" rIns="0" tIns="0" bIns="0">
            <a:spAutoFit/>
          </a:bodyPr>
          <a:lstStyle/>
          <a:p>
            <a:pPr algn="l">
              <a:lnSpc>
                <a:spcPct val="110000"/>
              </a:lnSpc>
            </a:pPr>
            <a:r>
              <a:rPr sz="4400" b="1">
                <a:solidFill>
                  <a:srgbClr val="1A1A1A"/>
                </a:solidFill>
                <a:latin typeface="Arial"/>
                <a:ea typeface="Arial"/>
              </a:rPr>
              <a:t>1~2</a:t>
            </a:r>
            <a:r>
              <a:rPr sz="2200" b="1">
                <a:solidFill>
                  <a:srgbClr val="1A1A1A"/>
                </a:solidFill>
                <a:latin typeface="Arial"/>
                <a:ea typeface="Arial"/>
              </a:rPr>
              <a:t> 년 앞당김</a:t>
            </a:r>
          </a:p>
        </p:txBody>
      </p:sp>
      <p:sp>
        <p:nvSpPr>
          <p:cNvPr id="71" name="TextBox 70"/>
          <p:cNvSpPr txBox="1"/>
          <p:nvPr/>
        </p:nvSpPr>
        <p:spPr>
          <a:xfrm>
            <a:off x="12417552" y="5449824"/>
            <a:ext cx="4928616" cy="58521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2028년 약 900EB</a:t>
            </a:r>
          </a:p>
          <a:p>
            <a:pPr algn="l">
              <a:lnSpc>
                <a:spcPct val="100000"/>
              </a:lnSpc>
            </a:pPr>
            <a:r>
              <a:rPr sz="1600" b="0">
                <a:solidFill>
                  <a:srgbClr val="555555"/>
                </a:solidFill>
                <a:latin typeface="Arial"/>
                <a:ea typeface="Arial"/>
              </a:rPr>
              <a:t>2024년 전망으로는 2029~30년</a:t>
            </a:r>
          </a:p>
        </p:txBody>
      </p:sp>
      <p:sp>
        <p:nvSpPr>
          <p:cNvPr id="72" name="Rounded Rectangle 71"/>
          <p:cNvSpPr/>
          <p:nvPr/>
        </p:nvSpPr>
        <p:spPr>
          <a:xfrm>
            <a:off x="12198096" y="6236208"/>
            <a:ext cx="5367528" cy="1682496"/>
          </a:xfrm>
          <a:prstGeom prst="roundRect">
            <a:avLst>
              <a:gd name="adj" fmla="val 434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417552" y="6345936"/>
            <a:ext cx="4928616" cy="310896"/>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빠진 수요: HDD 대체</a:t>
            </a:r>
          </a:p>
        </p:txBody>
      </p:sp>
      <p:sp>
        <p:nvSpPr>
          <p:cNvPr id="74" name="TextBox 73"/>
          <p:cNvSpPr txBox="1"/>
          <p:nvPr/>
        </p:nvSpPr>
        <p:spPr>
          <a:xfrm>
            <a:off x="12417552" y="6638544"/>
            <a:ext cx="4928616" cy="658368"/>
          </a:xfrm>
          <a:prstGeom prst="rect">
            <a:avLst/>
          </a:prstGeom>
          <a:noFill/>
        </p:spPr>
        <p:txBody>
          <a:bodyPr wrap="square" anchor="ctr" lIns="0" rIns="0" tIns="0" bIns="0">
            <a:spAutoFit/>
          </a:bodyPr>
          <a:lstStyle/>
          <a:p>
            <a:pPr algn="l">
              <a:lnSpc>
                <a:spcPct val="110000"/>
              </a:lnSpc>
            </a:pPr>
            <a:r>
              <a:rPr sz="4400" b="1">
                <a:solidFill>
                  <a:srgbClr val="1A1A1A"/>
                </a:solidFill>
                <a:latin typeface="Arial"/>
                <a:ea typeface="Arial"/>
              </a:rPr>
              <a:t>390</a:t>
            </a:r>
            <a:r>
              <a:rPr sz="2200" b="1">
                <a:solidFill>
                  <a:srgbClr val="1A1A1A"/>
                </a:solidFill>
                <a:latin typeface="Arial"/>
                <a:ea typeface="Arial"/>
              </a:rPr>
              <a:t> EB</a:t>
            </a:r>
          </a:p>
        </p:txBody>
      </p:sp>
      <p:sp>
        <p:nvSpPr>
          <p:cNvPr id="75" name="TextBox 74"/>
          <p:cNvSpPr txBox="1"/>
          <p:nvPr/>
        </p:nvSpPr>
        <p:spPr>
          <a:xfrm>
            <a:off x="12417552" y="7278624"/>
            <a:ext cx="4928616" cy="58521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니어라인 HDD 출하의 10%</a:t>
            </a:r>
          </a:p>
          <a:p>
            <a:pPr algn="l">
              <a:lnSpc>
                <a:spcPct val="100000"/>
              </a:lnSpc>
            </a:pPr>
            <a:r>
              <a:rPr sz="1600" b="0">
                <a:solidFill>
                  <a:srgbClr val="555555"/>
                </a:solidFill>
                <a:latin typeface="Arial"/>
                <a:ea typeface="Arial"/>
              </a:rPr>
              <a:t>AI 학습 전체의 3배</a:t>
            </a:r>
          </a:p>
        </p:txBody>
      </p:sp>
      <p:sp>
        <p:nvSpPr>
          <p:cNvPr id="76" name="TextBox 75"/>
          <p:cNvSpPr txBox="1"/>
          <p:nvPr/>
        </p:nvSpPr>
        <p:spPr>
          <a:xfrm>
            <a:off x="12198096" y="8065008"/>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77" name="Rectangle 7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79" name="TextBox 7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수요의 중심은 AI 추론이고, 물량으로 가장 큰 잠재 수요는 HDD 대체입니다</a:t>
            </a:r>
          </a:p>
        </p:txBody>
      </p:sp>
      <p:sp>
        <p:nvSpPr>
          <p:cNvPr id="80" name="TextBox 7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보간) · Kioxia(2026-06, TechInsights 인용 DC 플래시) · JPM(2026-01) · HDD 대체 = Seagate · WD 니어라인 가이던스 산술 · 기관마다 정의 다름, 모두 검색 확인</a:t>
            </a:r>
          </a:p>
        </p:txBody>
      </p:sp>
      <p:sp>
        <p:nvSpPr>
          <p:cNvPr id="81" name="TextBox 8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