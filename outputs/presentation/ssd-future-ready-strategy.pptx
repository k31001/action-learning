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가장 높은 등급의 중앙값이 2011~2014년 10에서 2015~2018년 5, 2019년 이후 3으로 내려왔고, QLC는 0.2에서 0.6입니다. 셀이 견디는 쓰기가 SLC 10만 회에서 QLC 1천 회로 약 100배 줄었기 때문입니다. 전체 226개 등급으로 봐도 중앙값은 10에서 1로, 10 DWPD 이상 등급은 67퍼센트에서 0퍼센트가 됐습니다. 30 이상은 Optane, Z-SSD 같은 SLC · SCM 특수 제품뿐이라 이 그림에서는 뺐습니다. 고객 캐시 계층은 하루 3회에서 7.2회를 씁니다. 대용량 QLC로는 이 띠에 닿지 않습니다.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4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3" name="TextBox 132"/>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4" name="Rounded Rectangle 133"/>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36" name="TextBox 135"/>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37" name="Rectangle 136"/>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0" name="Rounded Rectangle 139"/>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4" name="Rounded Rectangle 143"/>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47" name="TextBox 146"/>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48" name="Rectangle 147"/>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0" name="Rounded Rectangle 149"/>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3" name="Rounded Rectangle 152"/>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5" name="Rounded Rectangle 154"/>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58" name="TextBox 157"/>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59" name="Rectangle 158"/>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1" name="Rounded Rectangle 160"/>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3" name="Rounded Rectangle 162"/>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5" name="Rounded Rectangle 164"/>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67" name="Rounded Rectangle 166"/>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69" name="Rounded Rectangle 168"/>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1" name="TextBox 170"/>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2" name="Rectangle 171"/>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5" name="Rounded Rectangle 174"/>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77" name="Rounded Rectangle 176"/>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79" name="Rounded Rectangle 178"/>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1" name="Rounded Rectangle 180"/>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3" name="Rectangle 182"/>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5" name="TextBox 184"/>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86" name="TextBox 18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과제팀 집계 · 공유 SSD p99 FlashBlox(FAST'17) · GPU당 대역 NVIDIA SuperPOD 가이드(환산) · KV 실측 StorageReview(2026-08) · AI 전용 Kioxia · DapuStor · 에이전트 Google Agent Substrate · Muse 관측(제3자) · 제품군 사양 Kioxia FL6 · LC9, Solidigm PS1010 · PS1030</a:t>
            </a:r>
          </a:p>
        </p:txBody>
      </p:sp>
      <p:sp>
        <p:nvSpPr>
          <p:cNvPr id="187" name="TextBox 18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4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4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최고 등급 중앙값 </a:t>
            </a:r>
            <a:r>
              <a:rPr sz="2400" b="1">
                <a:solidFill>
                  <a:srgbClr val="1428A0"/>
                </a:solidFill>
                <a:latin typeface="Arial"/>
                <a:ea typeface="Arial"/>
              </a:rPr>
              <a:t>10 → 5 → 3</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2531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25312"/>
            <a:ext cx="146304" cy="14630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25312"/>
            <a:ext cx="146304" cy="14630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25312"/>
            <a:ext cx="146304" cy="14630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25312"/>
            <a:ext cx="146304" cy="14630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25312"/>
            <a:ext cx="146304" cy="14630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25312"/>
            <a:ext cx="146304" cy="146304"/>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0.1</a:t>
            </a:r>
          </a:p>
        </p:txBody>
      </p:sp>
      <p:sp>
        <p:nvSpPr>
          <p:cNvPr id="59" name="Rectangle 58"/>
          <p:cNvSpPr/>
          <p:nvPr/>
        </p:nvSpPr>
        <p:spPr>
          <a:xfrm>
            <a:off x="1289304" y="759012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45845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a:t>
            </a:r>
          </a:p>
        </p:txBody>
      </p:sp>
      <p:sp>
        <p:nvSpPr>
          <p:cNvPr id="61" name="Rectangle 60"/>
          <p:cNvSpPr/>
          <p:nvPr/>
        </p:nvSpPr>
        <p:spPr>
          <a:xfrm>
            <a:off x="1289304" y="6937857"/>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680618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3" name="Rectangle 62"/>
          <p:cNvSpPr/>
          <p:nvPr/>
        </p:nvSpPr>
        <p:spPr>
          <a:xfrm>
            <a:off x="1289304" y="628558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6153912"/>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100</a:t>
            </a:r>
          </a:p>
        </p:txBody>
      </p:sp>
      <p:sp>
        <p:nvSpPr>
          <p:cNvPr id="65" name="TextBox 64"/>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66" name="TextBox 65"/>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67" name="TextBox 66"/>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68" name="TextBox 67"/>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69" name="TextBox 68"/>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0" name="TextBox 69"/>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1" name="Rectangle 70"/>
          <p:cNvSpPr/>
          <p:nvPr/>
        </p:nvSpPr>
        <p:spPr>
          <a:xfrm>
            <a:off x="6570697" y="7036402"/>
            <a:ext cx="4667278" cy="248001"/>
          </a:xfrm>
          <a:prstGeom prst="rect">
            <a:avLst/>
          </a:prstGeom>
          <a:solidFill>
            <a:srgbClr val="EEF1FA"/>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860536" y="6752938"/>
            <a:ext cx="2377440" cy="256032"/>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캐시 요구 3~7.2</a:t>
            </a:r>
          </a:p>
        </p:txBody>
      </p:sp>
      <p:sp>
        <p:nvSpPr>
          <p:cNvPr id="73" name="Oval 72"/>
          <p:cNvSpPr/>
          <p:nvPr/>
        </p:nvSpPr>
        <p:spPr>
          <a:xfrm>
            <a:off x="2065200" y="6865620"/>
            <a:ext cx="155448" cy="155448"/>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293431" y="6865620"/>
            <a:ext cx="155448" cy="155448"/>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135778" y="7216282"/>
            <a:ext cx="155448" cy="155448"/>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978125" y="7206679"/>
            <a:ext cx="155448" cy="155448"/>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206356" y="7206679"/>
            <a:ext cx="155448" cy="155448"/>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9434587" y="7206679"/>
            <a:ext cx="155448" cy="155448"/>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5749893" y="7973810"/>
            <a:ext cx="155448" cy="155448"/>
          </a:xfrm>
          <a:prstGeom prst="ellipse">
            <a:avLst/>
          </a:prstGeom>
          <a:solidFill>
            <a:srgbClr val="FFFFFF"/>
          </a:solidFill>
          <a:ln w="2540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7592240" y="7770462"/>
            <a:ext cx="155448" cy="155448"/>
          </a:xfrm>
          <a:prstGeom prst="ellipse">
            <a:avLst/>
          </a:prstGeom>
          <a:solidFill>
            <a:srgbClr val="FFFFFF"/>
          </a:solidFill>
          <a:ln w="2540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820471" y="7672201"/>
            <a:ext cx="155448" cy="155448"/>
          </a:xfrm>
          <a:prstGeom prst="ellipse">
            <a:avLst/>
          </a:prstGeom>
          <a:solidFill>
            <a:srgbClr val="FFFFFF"/>
          </a:solidFill>
          <a:ln w="2540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2765292" y="6865620"/>
            <a:ext cx="155448" cy="155448"/>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4607639" y="7061973"/>
            <a:ext cx="155448" cy="155448"/>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449985" y="7206679"/>
            <a:ext cx="155448" cy="155448"/>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678216" y="7206679"/>
            <a:ext cx="155448" cy="155448"/>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906447" y="7206679"/>
            <a:ext cx="155448" cy="155448"/>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134679" y="7206679"/>
            <a:ext cx="155448" cy="155448"/>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0134679" y="7858951"/>
            <a:ext cx="155448" cy="155448"/>
          </a:xfrm>
          <a:prstGeom prst="ellipse">
            <a:avLst/>
          </a:prstGeom>
          <a:solidFill>
            <a:srgbClr val="FFFFFF"/>
          </a:solidFill>
          <a:ln w="2540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2237152" y="6865620"/>
            <a:ext cx="155448" cy="155448"/>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4079499" y="6606054"/>
            <a:ext cx="155448" cy="155448"/>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5307730" y="6865620"/>
            <a:ext cx="155448" cy="155448"/>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150077" y="6865620"/>
            <a:ext cx="155448" cy="155448"/>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378308" y="7206679"/>
            <a:ext cx="155448" cy="155448"/>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0220655" y="7206679"/>
            <a:ext cx="155448" cy="155448"/>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0220655" y="7858951"/>
            <a:ext cx="155448" cy="155448"/>
          </a:xfrm>
          <a:prstGeom prst="ellipse">
            <a:avLst/>
          </a:prstGeom>
          <a:solidFill>
            <a:srgbClr val="FFFFFF"/>
          </a:solidFill>
          <a:ln w="2540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6621938" y="7206679"/>
            <a:ext cx="155448" cy="155448"/>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7236053" y="7206679"/>
            <a:ext cx="155448" cy="155448"/>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794989" y="6865620"/>
            <a:ext cx="155448" cy="155448"/>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2409105" y="6409701"/>
            <a:ext cx="155448" cy="155448"/>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3637336" y="6606054"/>
            <a:ext cx="155448" cy="155448"/>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479683" y="6865620"/>
            <a:ext cx="155448" cy="155448"/>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322029" y="7206679"/>
            <a:ext cx="155448" cy="155448"/>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9778491" y="7206679"/>
            <a:ext cx="155448" cy="155448"/>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392607" y="7815283"/>
            <a:ext cx="155448" cy="155448"/>
          </a:xfrm>
          <a:prstGeom prst="ellipse">
            <a:avLst/>
          </a:prstGeom>
          <a:solidFill>
            <a:srgbClr val="FFFFFF"/>
          </a:solidFill>
          <a:ln w="254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979224" y="6865620"/>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3207455" y="6865620"/>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3821571" y="7061973"/>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5049802" y="7061973"/>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6278033" y="7206679"/>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8120380" y="7206679"/>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348611" y="7206679"/>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6892148" y="8003656"/>
            <a:ext cx="155448" cy="155448"/>
          </a:xfrm>
          <a:prstGeom prst="ellipse">
            <a:avLst/>
          </a:prstGeom>
          <a:solidFill>
            <a:srgbClr val="FFFFFF"/>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9348611" y="7899488"/>
            <a:ext cx="155448" cy="155448"/>
          </a:xfrm>
          <a:prstGeom prst="ellipse">
            <a:avLst/>
          </a:prstGeom>
          <a:solidFill>
            <a:srgbClr val="FFFFFF"/>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ounded Rectangle 113"/>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16" name="Rectangle 115"/>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18" name="Rectangle 117"/>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0" name="Rectangle 119"/>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22" name="Picture 121" descr="google.png"/>
          <p:cNvPicPr>
            <a:picLocks noChangeAspect="1"/>
          </p:cNvPicPr>
          <p:nvPr/>
        </p:nvPicPr>
        <p:blipFill>
          <a:blip r:embed="rId5"/>
          <a:stretch>
            <a:fillRect/>
          </a:stretch>
        </p:blipFill>
        <p:spPr>
          <a:xfrm>
            <a:off x="12015216" y="6181344"/>
            <a:ext cx="836908" cy="274320"/>
          </a:xfrm>
          <a:prstGeom prst="rect">
            <a:avLst/>
          </a:prstGeom>
        </p:spPr>
      </p:pic>
      <p:sp>
        <p:nvSpPr>
          <p:cNvPr id="123" name="Rounded Rectangle 122"/>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25" name="Picture 124"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26" name="TextBox 125"/>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27" name="Rounded Rectangle 126"/>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29" name="Picture 128" descr="aws.png"/>
          <p:cNvPicPr>
            <a:picLocks noChangeAspect="1"/>
          </p:cNvPicPr>
          <p:nvPr/>
        </p:nvPicPr>
        <p:blipFill>
          <a:blip r:embed="rId7"/>
          <a:stretch>
            <a:fillRect/>
          </a:stretch>
        </p:blipFill>
        <p:spPr>
          <a:xfrm>
            <a:off x="12015216" y="7342632"/>
            <a:ext cx="611866" cy="365760"/>
          </a:xfrm>
          <a:prstGeom prst="rect">
            <a:avLst/>
          </a:prstGeom>
        </p:spPr>
      </p:pic>
      <p:sp>
        <p:nvSpPr>
          <p:cNvPr id="130" name="Rounded Rectangle 129"/>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32" name="Chevron 131"/>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Chevron 132"/>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36" name="TextBox 13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37" name="TextBox 13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중 세대 대표의 최고 내구 등급 33개 · QLC 8개, 3년 보증은 5년으로 환산, QLC는 랜덤 쓰기, SLC · SCM 특수 제품 제외) · 고객 캐시 DWPD(Kangaroo · KV 실측 · Baleen) · 해법 사다리 원장 · 자체 설계 원장 · 세로축 로그 · 일부 수치 검색 확인 · 부품 이미지는 3D 렌더</a:t>
            </a:r>
          </a:p>
        </p:txBody>
      </p:sp>
      <p:sp>
        <p:nvSpPr>
          <p:cNvPr id="138" name="TextBox 13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4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