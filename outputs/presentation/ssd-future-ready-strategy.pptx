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6장에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막대 길이는 고객 시스템과 함께 설계돼야 하는 정도와, 명확한 스펙만으로는 최적화가 닫히지 않는 정도를 더한 값입니다. 여섯 가지 중 Fault Tolerant를 뺀 다섯이 고객 협력이 필요하고, 깊이만 다릅니다.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이 전략에서 사업적으로 가장 큰 기회입니다.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6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6장)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6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고객 협력이 필요하고,</a:t>
            </a:r>
          </a:p>
          <a:p>
            <a:pPr algn="l">
              <a:lnSpc>
                <a:spcPct val="105000"/>
              </a:lnSpc>
            </a:pPr>
            <a:r>
              <a:rPr sz="3200" b="1">
                <a:solidFill>
                  <a:srgbClr val="1A1A1A"/>
                </a:solidFill>
                <a:latin typeface="Arial"/>
                <a:ea typeface="Arial"/>
              </a:rPr>
              <a:t>협력의 깊이는 스펙 협력부터 공동 설계까지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 협력의 깊이  </a:t>
            </a:r>
            <a:r>
              <a:rPr sz="1800" b="1">
                <a:solidFill>
                  <a:srgbClr val="1428A0"/>
                </a:solidFill>
                <a:latin typeface="Arial"/>
                <a:ea typeface="Arial"/>
              </a:rPr>
              <a:t>6개 중 5개가 고객 협력 필요</a:t>
            </a:r>
          </a:p>
        </p:txBody>
      </p:sp>
      <p:sp>
        <p:nvSpPr>
          <p:cNvPr id="44" name="Rectangle 43"/>
          <p:cNvSpPr/>
          <p:nvPr/>
        </p:nvSpPr>
        <p:spPr>
          <a:xfrm>
            <a:off x="11192255" y="3017520"/>
            <a:ext cx="1188720" cy="46817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192255" y="2596896"/>
            <a:ext cx="1188720" cy="365760"/>
          </a:xfrm>
          <a:prstGeom prst="rect">
            <a:avLst/>
          </a:prstGeom>
          <a:noFill/>
        </p:spPr>
        <p:txBody>
          <a:bodyPr wrap="square" anchor="ctr" lIns="0" rIns="0" tIns="0" bIns="0">
            <a:spAutoFit/>
          </a:bodyPr>
          <a:lstStyle/>
          <a:p>
            <a:pPr algn="ctr">
              <a:lnSpc>
                <a:spcPct val="110000"/>
              </a:lnSpc>
            </a:pPr>
            <a:r>
              <a:rPr sz="1700" b="1">
                <a:solidFill>
                  <a:srgbClr val="555555"/>
                </a:solidFill>
                <a:latin typeface="Arial"/>
                <a:ea typeface="Arial"/>
              </a:rPr>
              <a:t>SSD 안에서</a:t>
            </a:r>
          </a:p>
        </p:txBody>
      </p:sp>
      <p:sp>
        <p:nvSpPr>
          <p:cNvPr id="46" name="Rectangle 45"/>
          <p:cNvSpPr/>
          <p:nvPr/>
        </p:nvSpPr>
        <p:spPr>
          <a:xfrm>
            <a:off x="12380976" y="3017520"/>
            <a:ext cx="3383279" cy="4681728"/>
          </a:xfrm>
          <a:prstGeom prst="rect">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380976" y="2596896"/>
            <a:ext cx="3383279" cy="365760"/>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스펙으로 협력</a:t>
            </a:r>
          </a:p>
        </p:txBody>
      </p:sp>
      <p:sp>
        <p:nvSpPr>
          <p:cNvPr id="48" name="Rectangle 47"/>
          <p:cNvSpPr/>
          <p:nvPr/>
        </p:nvSpPr>
        <p:spPr>
          <a:xfrm>
            <a:off x="15764255" y="3017520"/>
            <a:ext cx="1801368" cy="4681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764255" y="2596896"/>
            <a:ext cx="1801368" cy="365760"/>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공동 설계</a:t>
            </a:r>
          </a:p>
        </p:txBody>
      </p:sp>
      <p:sp>
        <p:nvSpPr>
          <p:cNvPr id="50" name="TextBox 49"/>
          <p:cNvSpPr txBox="1"/>
          <p:nvPr/>
        </p:nvSpPr>
        <p:spPr>
          <a:xfrm>
            <a:off x="8174736" y="3054096"/>
            <a:ext cx="2926079" cy="384048"/>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FDP</a:t>
            </a:r>
          </a:p>
        </p:txBody>
      </p:sp>
      <p:sp>
        <p:nvSpPr>
          <p:cNvPr id="51" name="TextBox 50"/>
          <p:cNvSpPr txBox="1"/>
          <p:nvPr/>
        </p:nvSpPr>
        <p:spPr>
          <a:xfrm>
            <a:off x="8174736" y="3419856"/>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데이터 수명 분류 · 반복 튜닝</a:t>
            </a:r>
          </a:p>
        </p:txBody>
      </p:sp>
      <p:sp>
        <p:nvSpPr>
          <p:cNvPr id="52" name="Rectangle 51"/>
          <p:cNvSpPr/>
          <p:nvPr/>
        </p:nvSpPr>
        <p:spPr>
          <a:xfrm>
            <a:off x="11192255" y="3200400"/>
            <a:ext cx="6373368" cy="4145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74736" y="3792321"/>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74736" y="3834384"/>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Mixed Media</a:t>
            </a:r>
          </a:p>
        </p:txBody>
      </p:sp>
      <p:sp>
        <p:nvSpPr>
          <p:cNvPr id="55" name="TextBox 54"/>
          <p:cNvSpPr txBox="1"/>
          <p:nvPr/>
        </p:nvSpPr>
        <p:spPr>
          <a:xfrm>
            <a:off x="8174736" y="4200144"/>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데이터 분리 · pSLC 비율</a:t>
            </a:r>
          </a:p>
        </p:txBody>
      </p:sp>
      <p:sp>
        <p:nvSpPr>
          <p:cNvPr id="56" name="Rectangle 55"/>
          <p:cNvSpPr/>
          <p:nvPr/>
        </p:nvSpPr>
        <p:spPr>
          <a:xfrm>
            <a:off x="11192255" y="3980688"/>
            <a:ext cx="4008119"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74736" y="4572609"/>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74736" y="4614672"/>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Confidential Storage</a:t>
            </a:r>
          </a:p>
        </p:txBody>
      </p:sp>
      <p:sp>
        <p:nvSpPr>
          <p:cNvPr id="59" name="TextBox 58"/>
          <p:cNvSpPr txBox="1"/>
          <p:nvPr/>
        </p:nvSpPr>
        <p:spPr>
          <a:xfrm>
            <a:off x="8174736" y="4980432"/>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기밀 VM · 키 · 증명 연동</a:t>
            </a:r>
          </a:p>
        </p:txBody>
      </p:sp>
      <p:sp>
        <p:nvSpPr>
          <p:cNvPr id="60" name="Rectangle 59"/>
          <p:cNvSpPr/>
          <p:nvPr/>
        </p:nvSpPr>
        <p:spPr>
          <a:xfrm>
            <a:off x="11192255" y="4760976"/>
            <a:ext cx="2880360"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174736" y="5352897"/>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174736" y="5394959"/>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Large Mapping</a:t>
            </a:r>
          </a:p>
        </p:txBody>
      </p:sp>
      <p:sp>
        <p:nvSpPr>
          <p:cNvPr id="63" name="TextBox 62"/>
          <p:cNvSpPr txBox="1"/>
          <p:nvPr/>
        </p:nvSpPr>
        <p:spPr>
          <a:xfrm>
            <a:off x="8174736" y="5760720"/>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쓰기 크기 · IU 정렬</a:t>
            </a:r>
          </a:p>
        </p:txBody>
      </p:sp>
      <p:sp>
        <p:nvSpPr>
          <p:cNvPr id="64" name="Rectangle 63"/>
          <p:cNvSpPr/>
          <p:nvPr/>
        </p:nvSpPr>
        <p:spPr>
          <a:xfrm>
            <a:off x="11192255" y="5541264"/>
            <a:ext cx="2880360"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74736" y="6133185"/>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74736" y="6175248"/>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Multi-Tenant QoS</a:t>
            </a:r>
          </a:p>
        </p:txBody>
      </p:sp>
      <p:sp>
        <p:nvSpPr>
          <p:cNvPr id="67" name="TextBox 66"/>
          <p:cNvSpPr txBox="1"/>
          <p:nvPr/>
        </p:nvSpPr>
        <p:spPr>
          <a:xfrm>
            <a:off x="8174736" y="6541008"/>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테넌트 매핑 · 지연 목표</a:t>
            </a:r>
          </a:p>
        </p:txBody>
      </p:sp>
      <p:sp>
        <p:nvSpPr>
          <p:cNvPr id="68" name="Rectangle 67"/>
          <p:cNvSpPr/>
          <p:nvPr/>
        </p:nvSpPr>
        <p:spPr>
          <a:xfrm>
            <a:off x="11192255" y="6321552"/>
            <a:ext cx="2880360"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174736" y="6913473"/>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174736" y="6955536"/>
            <a:ext cx="2926079" cy="384048"/>
          </a:xfrm>
          <a:prstGeom prst="rect">
            <a:avLst/>
          </a:prstGeom>
          <a:noFill/>
        </p:spPr>
        <p:txBody>
          <a:bodyPr wrap="square" anchor="ctr" lIns="0" rIns="0" tIns="0" bIns="0">
            <a:spAutoFit/>
          </a:bodyPr>
          <a:lstStyle/>
          <a:p>
            <a:pPr algn="l">
              <a:lnSpc>
                <a:spcPct val="110000"/>
              </a:lnSpc>
            </a:pPr>
            <a:r>
              <a:rPr sz="1900" b="1">
                <a:solidFill>
                  <a:srgbClr val="555555"/>
                </a:solidFill>
                <a:latin typeface="Arial"/>
                <a:ea typeface="Arial"/>
              </a:rPr>
              <a:t>Fault Tolerant</a:t>
            </a:r>
          </a:p>
        </p:txBody>
      </p:sp>
      <p:sp>
        <p:nvSpPr>
          <p:cNvPr id="71" name="TextBox 70"/>
          <p:cNvSpPr txBox="1"/>
          <p:nvPr/>
        </p:nvSpPr>
        <p:spPr>
          <a:xfrm>
            <a:off x="8174736" y="7321295"/>
            <a:ext cx="2926079"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 안에서 완결</a:t>
            </a:r>
          </a:p>
        </p:txBody>
      </p:sp>
      <p:sp>
        <p:nvSpPr>
          <p:cNvPr id="72" name="Rectangle 71"/>
          <p:cNvSpPr/>
          <p:nvPr/>
        </p:nvSpPr>
        <p:spPr>
          <a:xfrm>
            <a:off x="11192255" y="7101840"/>
            <a:ext cx="502920" cy="4145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563855" y="3200400"/>
            <a:ext cx="4818888" cy="414528"/>
          </a:xfrm>
          <a:prstGeom prst="rect">
            <a:avLst/>
          </a:prstGeom>
          <a:noFill/>
        </p:spPr>
        <p:txBody>
          <a:bodyPr wrap="square" anchor="ctr" lIns="0" rIns="0" tIns="0" bIns="0">
            <a:spAutoFit/>
          </a:bodyPr>
          <a:lstStyle/>
          <a:p>
            <a:pPr algn="r">
              <a:lnSpc>
                <a:spcPct val="110000"/>
              </a:lnSpc>
            </a:pPr>
            <a:r>
              <a:rPr sz="1600" b="0">
                <a:solidFill>
                  <a:srgbClr val="AAB8E8"/>
                </a:solidFill>
                <a:latin typeface="Arial"/>
                <a:ea typeface="Arial"/>
              </a:rPr>
              <a:t>CacheLib WAF  </a:t>
            </a:r>
            <a:r>
              <a:rPr sz="1800" b="1">
                <a:solidFill>
                  <a:srgbClr val="FFFFFF"/>
                </a:solidFill>
                <a:latin typeface="Arial"/>
                <a:ea typeface="Arial"/>
              </a:rPr>
              <a:t>3.22 → 1.03</a:t>
            </a:r>
          </a:p>
        </p:txBody>
      </p:sp>
      <p:sp>
        <p:nvSpPr>
          <p:cNvPr id="74" name="Rectangle 73"/>
          <p:cNvSpPr/>
          <p:nvPr/>
        </p:nvSpPr>
        <p:spPr>
          <a:xfrm>
            <a:off x="7955279" y="3108960"/>
            <a:ext cx="36576" cy="37185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955279" y="3108960"/>
            <a:ext cx="128016"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955279" y="6790944"/>
            <a:ext cx="128016"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192255" y="7754112"/>
            <a:ext cx="6373368" cy="310896"/>
          </a:xfrm>
          <a:prstGeom prst="rect">
            <a:avLst/>
          </a:prstGeom>
          <a:noFill/>
        </p:spPr>
        <p:txBody>
          <a:bodyPr wrap="square" anchor="ctr" lIns="0" rIns="0" tIns="0" bIns="0">
            <a:spAutoFit/>
          </a:bodyPr>
          <a:lstStyle/>
          <a:p>
            <a:pPr algn="r">
              <a:lnSpc>
                <a:spcPct val="110000"/>
              </a:lnSpc>
            </a:pPr>
            <a:r>
              <a:rPr sz="1500" b="1">
                <a:solidFill>
                  <a:srgbClr val="555555"/>
                </a:solidFill>
                <a:latin typeface="Arial"/>
                <a:ea typeface="Arial"/>
              </a:rPr>
              <a:t>고객 시스템과 함께 설계되는 정도 + 스펙만으로 안 닫히는 정도  →</a:t>
            </a:r>
          </a:p>
        </p:txBody>
      </p:sp>
      <p:sp>
        <p:nvSpPr>
          <p:cNvPr id="78" name="Rectangle 77"/>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80" name="TextBox 79"/>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6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6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핵심 기술</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6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6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