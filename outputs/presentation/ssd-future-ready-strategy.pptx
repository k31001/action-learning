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데이터로 말씀드리겠습니다. 위쪽 점도표는 2008년부터 올해까지 주요 6개 업체가 내놓은 데이터센터 SSD 226개 제품 등급의 정격 DWPD입니다. 삼성은 파란 점, 다른 업체는 회색 점이고 모양으로 구분했습니다. 보증 3년 제품은 5년 기준으로 환산했고, QLC 같은 용량형은 랜덤 쓰기 기준입니다. SSD는 그동안 성능, 전력 효율, 가성비가 크게 좋아졌지만, 정격 DWPD는 반대로 움직였습니다. SLC와 SCM 같은 특수 제품을 빼고 보면, 기간별 중앙값이 2008~2012년 10에서 2013~2015년 3, 2016~2018년 1.5, 2019년 이후 1로 내려왔습니다. 10 DWPD 이상 등급의 비중은 67퍼센트에서 0퍼센트가 됐고, 2016년 이후 30 이상은 빈 점으로 표시한 Optane, Z-SSD, XL-FLASH 같은 특수 제품뿐입니다. 셀이 견디는 쓰기가 SLC 10만 회에서 QLC 1천 회로 약 100배 줄었기 때문입니다. 고내구 등급에서 읽기 위주 등급으로 시장이 옮겨 간 영향도 섞여 있지만, 고객 캐시 계층은 하루 3회에서 7.2회를 씁니다. 이 띠와 주력 제품 사이의 간격이 지금의 과제입니다. 아래 계단은 이 간격을 어디서 메워 왔는지입니다. 첫 계단 NAND에서 SSD로는 컨트롤러 ECC가 약 60배 강해지면서 SSD 안에서 완결됐습니다. 둘째 계단은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셋째 계단이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계단에 머물고, 셋째 계단은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4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474720"/>
          </a:xfrm>
          <a:prstGeom prst="roundRect">
            <a:avLst>
              <a:gd name="adj" fmla="val 216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27426"/>
            <a:ext cx="914400" cy="249382"/>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912800"/>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6341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11632"/>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7197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608554"/>
            <a:ext cx="452374" cy="237744"/>
          </a:xfrm>
          <a:prstGeom prst="rect">
            <a:avLst/>
          </a:prstGeom>
        </p:spPr>
      </p:pic>
      <p:cxnSp>
        <p:nvCxnSpPr>
          <p:cNvPr id="15" name="Connector 14"/>
          <p:cNvCxnSpPr/>
          <p:nvPr/>
        </p:nvCxnSpPr>
        <p:spPr>
          <a:xfrm>
            <a:off x="1508760" y="4184626"/>
            <a:ext cx="914400" cy="47798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120618"/>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598600"/>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8906"/>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507160"/>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601936"/>
            <a:ext cx="786384" cy="121345"/>
          </a:xfrm>
          <a:prstGeom prst="rect">
            <a:avLst/>
          </a:prstGeom>
        </p:spPr>
      </p:pic>
      <p:sp>
        <p:nvSpPr>
          <p:cNvPr id="21" name="TextBox 20"/>
          <p:cNvSpPr txBox="1"/>
          <p:nvPr/>
        </p:nvSpPr>
        <p:spPr>
          <a:xfrm>
            <a:off x="10972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923544" y="5266944"/>
            <a:ext cx="298094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HBM 점유율</a:t>
            </a:r>
          </a:p>
        </p:txBody>
      </p:sp>
      <p:sp>
        <p:nvSpPr>
          <p:cNvPr id="24" name="Rounded Rectangle 23"/>
          <p:cNvSpPr/>
          <p:nvPr/>
        </p:nvSpPr>
        <p:spPr>
          <a:xfrm>
            <a:off x="4306824"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553712"/>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55263"/>
            <a:ext cx="365760" cy="9875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62656"/>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27939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924250"/>
            <a:ext cx="365760" cy="3185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631642"/>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27939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724144"/>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33" name="TextBox 132"/>
          <p:cNvSpPr txBox="1"/>
          <p:nvPr/>
        </p:nvSpPr>
        <p:spPr>
          <a:xfrm>
            <a:off x="12079224" y="5724144"/>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34" name="Rounded Rectangle 133"/>
          <p:cNvSpPr/>
          <p:nvPr/>
        </p:nvSpPr>
        <p:spPr>
          <a:xfrm>
            <a:off x="722376" y="6053328"/>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23544" y="607161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36" name="TextBox 135"/>
          <p:cNvSpPr txBox="1"/>
          <p:nvPr/>
        </p:nvSpPr>
        <p:spPr>
          <a:xfrm>
            <a:off x="2916936" y="607161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37" name="Rectangle 136"/>
          <p:cNvSpPr/>
          <p:nvPr/>
        </p:nvSpPr>
        <p:spPr>
          <a:xfrm>
            <a:off x="923544" y="6437376"/>
            <a:ext cx="212759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2621425" y="6409944"/>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106006" y="635508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40" name="Rounded Rectangle 139"/>
          <p:cNvSpPr/>
          <p:nvPr/>
        </p:nvSpPr>
        <p:spPr>
          <a:xfrm>
            <a:off x="4306824"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ounded Rectangle 140"/>
          <p:cNvSpPr/>
          <p:nvPr/>
        </p:nvSpPr>
        <p:spPr>
          <a:xfrm>
            <a:off x="7658100"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ounded Rectangle 141"/>
          <p:cNvSpPr/>
          <p:nvPr/>
        </p:nvSpPr>
        <p:spPr>
          <a:xfrm>
            <a:off x="11009376" y="6053328"/>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064240" y="6053328"/>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44" name="Rounded Rectangle 143"/>
          <p:cNvSpPr/>
          <p:nvPr/>
        </p:nvSpPr>
        <p:spPr>
          <a:xfrm>
            <a:off x="14360652"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le 144"/>
          <p:cNvSpPr/>
          <p:nvPr/>
        </p:nvSpPr>
        <p:spPr>
          <a:xfrm>
            <a:off x="722376" y="6684264"/>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923544" y="670255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47" name="TextBox 146"/>
          <p:cNvSpPr txBox="1"/>
          <p:nvPr/>
        </p:nvSpPr>
        <p:spPr>
          <a:xfrm>
            <a:off x="2916936" y="670255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48" name="Rectangle 147"/>
          <p:cNvSpPr/>
          <p:nvPr/>
        </p:nvSpPr>
        <p:spPr>
          <a:xfrm>
            <a:off x="923544" y="7068312"/>
            <a:ext cx="1020635"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999043" y="698601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50" name="Rounded Rectangle 149"/>
          <p:cNvSpPr/>
          <p:nvPr/>
        </p:nvSpPr>
        <p:spPr>
          <a:xfrm>
            <a:off x="4306824"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7658100" y="6684264"/>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7712964" y="6684264"/>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53" name="Rounded Rectangle 152"/>
          <p:cNvSpPr/>
          <p:nvPr/>
        </p:nvSpPr>
        <p:spPr>
          <a:xfrm>
            <a:off x="11009376" y="6684264"/>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1064240" y="6684264"/>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55" name="Rounded Rectangle 154"/>
          <p:cNvSpPr/>
          <p:nvPr/>
        </p:nvSpPr>
        <p:spPr>
          <a:xfrm>
            <a:off x="14360652"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ounded Rectangle 155"/>
          <p:cNvSpPr/>
          <p:nvPr/>
        </p:nvSpPr>
        <p:spPr>
          <a:xfrm>
            <a:off x="722376" y="7315200"/>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23544" y="7333488"/>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58" name="TextBox 157"/>
          <p:cNvSpPr txBox="1"/>
          <p:nvPr/>
        </p:nvSpPr>
        <p:spPr>
          <a:xfrm>
            <a:off x="2916936" y="7333488"/>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59" name="Rectangle 158"/>
          <p:cNvSpPr/>
          <p:nvPr/>
        </p:nvSpPr>
        <p:spPr>
          <a:xfrm>
            <a:off x="923544" y="7699248"/>
            <a:ext cx="690962"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669370" y="7616952"/>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61" name="Rounded Rectangle 160"/>
          <p:cNvSpPr/>
          <p:nvPr/>
        </p:nvSpPr>
        <p:spPr>
          <a:xfrm>
            <a:off x="4306824"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4361688"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63" name="Rounded Rectangle 162"/>
          <p:cNvSpPr/>
          <p:nvPr/>
        </p:nvSpPr>
        <p:spPr>
          <a:xfrm>
            <a:off x="7658100"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7712964"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65" name="Rounded Rectangle 164"/>
          <p:cNvSpPr/>
          <p:nvPr/>
        </p:nvSpPr>
        <p:spPr>
          <a:xfrm>
            <a:off x="11009376"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1064240"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67" name="Rounded Rectangle 166"/>
          <p:cNvSpPr/>
          <p:nvPr/>
        </p:nvSpPr>
        <p:spPr>
          <a:xfrm>
            <a:off x="14360652" y="7315200"/>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4415516" y="7315200"/>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69" name="Rounded Rectangle 168"/>
          <p:cNvSpPr/>
          <p:nvPr/>
        </p:nvSpPr>
        <p:spPr>
          <a:xfrm>
            <a:off x="722376" y="7946136"/>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923544" y="7964423"/>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71" name="TextBox 170"/>
          <p:cNvSpPr txBox="1"/>
          <p:nvPr/>
        </p:nvSpPr>
        <p:spPr>
          <a:xfrm>
            <a:off x="2916936" y="7964423"/>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72" name="Rectangle 171"/>
          <p:cNvSpPr/>
          <p:nvPr/>
        </p:nvSpPr>
        <p:spPr>
          <a:xfrm>
            <a:off x="923544" y="8330183"/>
            <a:ext cx="537673"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239500" y="8302752"/>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516081" y="8247888"/>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75" name="Rounded Rectangle 174"/>
          <p:cNvSpPr/>
          <p:nvPr/>
        </p:nvSpPr>
        <p:spPr>
          <a:xfrm>
            <a:off x="4306824"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4361688"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77" name="Rounded Rectangle 176"/>
          <p:cNvSpPr/>
          <p:nvPr/>
        </p:nvSpPr>
        <p:spPr>
          <a:xfrm>
            <a:off x="7658100"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7712964"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79" name="Rounded Rectangle 178"/>
          <p:cNvSpPr/>
          <p:nvPr/>
        </p:nvSpPr>
        <p:spPr>
          <a:xfrm>
            <a:off x="11009376" y="7946136"/>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064240" y="7946136"/>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81" name="Rounded Rectangle 180"/>
          <p:cNvSpPr/>
          <p:nvPr/>
        </p:nvSpPr>
        <p:spPr>
          <a:xfrm>
            <a:off x="14360652"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14415516"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183" name="Rectangle 182"/>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85" name="TextBox 184"/>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186" name="TextBox 18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HBM 과제팀 집계 · 공유 SSD p99 FlashBlox(FAST'17) · GPU당 대역 NVIDIA SuperPOD 가이드(환산) · KV 실측 StorageReview(2026-08) · AI 전용 Kioxia · DapuStor · 에이전트 Google Agent Substrate · Muse 관측(제3자) · 제품군 사양 Kioxia FL6 · LC9, Solidigm PS1010 · PS1030</a:t>
            </a:r>
          </a:p>
        </p:txBody>
      </p:sp>
      <p:sp>
        <p:nvSpPr>
          <p:cNvPr id="187" name="TextBox 18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4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4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57984"/>
            <a:ext cx="566928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226개 제품 등급</a:t>
            </a:r>
          </a:p>
        </p:txBody>
      </p:sp>
      <p:sp>
        <p:nvSpPr>
          <p:cNvPr id="7" name="TextBox 6"/>
          <p:cNvSpPr txBox="1"/>
          <p:nvPr/>
        </p:nvSpPr>
        <p:spPr>
          <a:xfrm>
            <a:off x="5843016" y="2157984"/>
            <a:ext cx="5532120" cy="402336"/>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중앙값 </a:t>
            </a:r>
            <a:r>
              <a:rPr sz="2400" b="1">
                <a:solidFill>
                  <a:srgbClr val="1428A0"/>
                </a:solidFill>
                <a:latin typeface="Arial"/>
                <a:ea typeface="Arial"/>
              </a:rPr>
              <a:t>10 → 1</a:t>
            </a:r>
            <a:r>
              <a:rPr sz="1800" b="1">
                <a:solidFill>
                  <a:srgbClr val="1428A0"/>
                </a:solidFill>
                <a:latin typeface="Arial"/>
                <a:ea typeface="Arial"/>
              </a:rPr>
              <a:t>   10 DWPD 이상 </a:t>
            </a:r>
            <a:r>
              <a:rPr sz="2400" b="1">
                <a:solidFill>
                  <a:srgbClr val="1428A0"/>
                </a:solidFill>
                <a:latin typeface="Arial"/>
                <a:ea typeface="Arial"/>
              </a:rPr>
              <a:t>67% → 0%</a:t>
            </a:r>
          </a:p>
        </p:txBody>
      </p:sp>
      <p:sp>
        <p:nvSpPr>
          <p:cNvPr id="8" name="Oval 7"/>
          <p:cNvSpPr/>
          <p:nvPr/>
        </p:nvSpPr>
        <p:spPr>
          <a:xfrm>
            <a:off x="722376" y="2642616"/>
            <a:ext cx="137160" cy="13716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56032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10" name="Rectangle 9"/>
          <p:cNvSpPr/>
          <p:nvPr/>
        </p:nvSpPr>
        <p:spPr>
          <a:xfrm>
            <a:off x="1636776" y="2642616"/>
            <a:ext cx="137160" cy="13716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19656" y="256032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12" name="Isosceles Triangle 11"/>
          <p:cNvSpPr/>
          <p:nvPr/>
        </p:nvSpPr>
        <p:spPr>
          <a:xfrm>
            <a:off x="3643884" y="2642616"/>
            <a:ext cx="137160" cy="137160"/>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6764" y="256032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14" name="Diamond 13"/>
          <p:cNvSpPr/>
          <p:nvPr/>
        </p:nvSpPr>
        <p:spPr>
          <a:xfrm>
            <a:off x="4750308" y="2642616"/>
            <a:ext cx="137160" cy="137160"/>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3188" y="256032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16" name="Oval 15"/>
          <p:cNvSpPr/>
          <p:nvPr/>
        </p:nvSpPr>
        <p:spPr>
          <a:xfrm>
            <a:off x="6757416" y="2642616"/>
            <a:ext cx="137160" cy="137160"/>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0296" y="256032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18" name="Merge 17"/>
          <p:cNvSpPr/>
          <p:nvPr/>
        </p:nvSpPr>
        <p:spPr>
          <a:xfrm>
            <a:off x="8023860" y="2642616"/>
            <a:ext cx="137160" cy="137160"/>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06740" y="256032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20" name="Rectangle 19"/>
          <p:cNvSpPr/>
          <p:nvPr/>
        </p:nvSpPr>
        <p:spPr>
          <a:xfrm>
            <a:off x="1289304" y="484083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4709159"/>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0.1</a:t>
            </a:r>
          </a:p>
        </p:txBody>
      </p:sp>
      <p:sp>
        <p:nvSpPr>
          <p:cNvPr id="22" name="Rectangle 21"/>
          <p:cNvSpPr/>
          <p:nvPr/>
        </p:nvSpPr>
        <p:spPr>
          <a:xfrm>
            <a:off x="1289304" y="423732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105655"/>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a:t>
            </a:r>
          </a:p>
        </p:txBody>
      </p:sp>
      <p:sp>
        <p:nvSpPr>
          <p:cNvPr id="24" name="Rectangle 23"/>
          <p:cNvSpPr/>
          <p:nvPr/>
        </p:nvSpPr>
        <p:spPr>
          <a:xfrm>
            <a:off x="1289304" y="363382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3502152"/>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26" name="Rectangle 25"/>
          <p:cNvSpPr/>
          <p:nvPr/>
        </p:nvSpPr>
        <p:spPr>
          <a:xfrm>
            <a:off x="1289304" y="303032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2898648"/>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100</a:t>
            </a:r>
          </a:p>
        </p:txBody>
      </p:sp>
      <p:sp>
        <p:nvSpPr>
          <p:cNvPr id="28" name="TextBox 27"/>
          <p:cNvSpPr txBox="1"/>
          <p:nvPr/>
        </p:nvSpPr>
        <p:spPr>
          <a:xfrm>
            <a:off x="1178709" y="4873752"/>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2008</a:t>
            </a:r>
          </a:p>
        </p:txBody>
      </p:sp>
      <p:sp>
        <p:nvSpPr>
          <p:cNvPr id="29" name="TextBox 28"/>
          <p:cNvSpPr txBox="1"/>
          <p:nvPr/>
        </p:nvSpPr>
        <p:spPr>
          <a:xfrm>
            <a:off x="3273166" y="4873752"/>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2012</a:t>
            </a:r>
          </a:p>
        </p:txBody>
      </p:sp>
      <p:sp>
        <p:nvSpPr>
          <p:cNvPr id="30" name="TextBox 29"/>
          <p:cNvSpPr txBox="1"/>
          <p:nvPr/>
        </p:nvSpPr>
        <p:spPr>
          <a:xfrm>
            <a:off x="5367624" y="4873752"/>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2016</a:t>
            </a:r>
          </a:p>
        </p:txBody>
      </p:sp>
      <p:sp>
        <p:nvSpPr>
          <p:cNvPr id="31" name="TextBox 30"/>
          <p:cNvSpPr txBox="1"/>
          <p:nvPr/>
        </p:nvSpPr>
        <p:spPr>
          <a:xfrm>
            <a:off x="7462081" y="4873752"/>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32" name="TextBox 31"/>
          <p:cNvSpPr txBox="1"/>
          <p:nvPr/>
        </p:nvSpPr>
        <p:spPr>
          <a:xfrm>
            <a:off x="9556538" y="4873752"/>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33" name="Rectangle 32"/>
          <p:cNvSpPr/>
          <p:nvPr/>
        </p:nvSpPr>
        <p:spPr>
          <a:xfrm>
            <a:off x="7258507" y="3725412"/>
            <a:ext cx="3979468" cy="229459"/>
          </a:xfrm>
          <a:prstGeom prst="rect">
            <a:avLst/>
          </a:prstGeom>
          <a:solidFill>
            <a:srgbClr val="EEF1FA"/>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0536" y="3441948"/>
            <a:ext cx="2377440" cy="256032"/>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캐시 요구 3~7.2</a:t>
            </a:r>
          </a:p>
        </p:txBody>
      </p:sp>
      <p:sp>
        <p:nvSpPr>
          <p:cNvPr id="35" name="Rectangle 34"/>
          <p:cNvSpPr/>
          <p:nvPr/>
        </p:nvSpPr>
        <p:spPr>
          <a:xfrm>
            <a:off x="1352917" y="3439261"/>
            <a:ext cx="118872" cy="118872"/>
          </a:xfrm>
          <a:prstGeom prst="rect">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923760" y="4001707"/>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447374" y="3579876"/>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473555" y="3579876"/>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70988" y="4498939"/>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94603" y="3579876"/>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94603" y="3895435"/>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494603" y="4498939"/>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18217" y="3440799"/>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018217" y="4498939"/>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18217" y="3895435"/>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018217" y="3579876"/>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541831" y="4183379"/>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568012" y="4183379"/>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065446" y="4183379"/>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065446" y="3895435"/>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065446" y="4276863"/>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065446" y="3904320"/>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065446" y="3291931"/>
            <a:ext cx="118872" cy="118872"/>
          </a:xfrm>
          <a:prstGeom prst="rect">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589060" y="3110258"/>
            <a:ext cx="118872" cy="118872"/>
          </a:xfrm>
          <a:prstGeom prst="rect">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589060" y="4183379"/>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589060" y="3895435"/>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589060" y="4001707"/>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615241" y="3895435"/>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589060" y="4605211"/>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112674" y="4632826"/>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636289" y="4183379"/>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636289" y="3895435"/>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662469" y="4183379"/>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159903" y="2976372"/>
            <a:ext cx="118872" cy="118872"/>
          </a:xfrm>
          <a:prstGeom prst="rect">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159903" y="4417066"/>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8159903" y="4183379"/>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159903" y="3895435"/>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683517" y="4183379"/>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683517" y="3895435"/>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9207132" y="4326152"/>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233312" y="4326152"/>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207132" y="3158044"/>
            <a:ext cx="118872" cy="118872"/>
          </a:xfrm>
          <a:prstGeom prst="rect">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730746" y="4183379"/>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730746" y="3895435"/>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30746" y="4317266"/>
            <a:ext cx="118872" cy="1188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Isosceles Triangle 75"/>
          <p:cNvSpPr/>
          <p:nvPr/>
        </p:nvSpPr>
        <p:spPr>
          <a:xfrm>
            <a:off x="2457743" y="3590575"/>
            <a:ext cx="118872" cy="118872"/>
          </a:xfrm>
          <a:prstGeom prst="triangl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Isosceles Triangle 76"/>
          <p:cNvSpPr/>
          <p:nvPr/>
        </p:nvSpPr>
        <p:spPr>
          <a:xfrm>
            <a:off x="2981357" y="3223166"/>
            <a:ext cx="118872" cy="118872"/>
          </a:xfrm>
          <a:prstGeom prst="triangl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Isosceles Triangle 77"/>
          <p:cNvSpPr/>
          <p:nvPr/>
        </p:nvSpPr>
        <p:spPr>
          <a:xfrm>
            <a:off x="4028586" y="3579876"/>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Isosceles Triangle 78"/>
          <p:cNvSpPr/>
          <p:nvPr/>
        </p:nvSpPr>
        <p:spPr>
          <a:xfrm>
            <a:off x="4028586" y="3826670"/>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Isosceles Triangle 79"/>
          <p:cNvSpPr/>
          <p:nvPr/>
        </p:nvSpPr>
        <p:spPr>
          <a:xfrm>
            <a:off x="4552200" y="4001707"/>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sosceles Triangle 80"/>
          <p:cNvSpPr/>
          <p:nvPr/>
        </p:nvSpPr>
        <p:spPr>
          <a:xfrm>
            <a:off x="5599429" y="4060192"/>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Isosceles Triangle 81"/>
          <p:cNvSpPr/>
          <p:nvPr/>
        </p:nvSpPr>
        <p:spPr>
          <a:xfrm>
            <a:off x="5599429" y="3976726"/>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Isosceles Triangle 82"/>
          <p:cNvSpPr/>
          <p:nvPr/>
        </p:nvSpPr>
        <p:spPr>
          <a:xfrm>
            <a:off x="5599429" y="4210994"/>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Isosceles Triangle 83"/>
          <p:cNvSpPr/>
          <p:nvPr/>
        </p:nvSpPr>
        <p:spPr>
          <a:xfrm>
            <a:off x="5599429" y="4001707"/>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Isosceles Triangle 84"/>
          <p:cNvSpPr/>
          <p:nvPr/>
        </p:nvSpPr>
        <p:spPr>
          <a:xfrm>
            <a:off x="5599429" y="3761548"/>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sosceles Triangle 85"/>
          <p:cNvSpPr/>
          <p:nvPr/>
        </p:nvSpPr>
        <p:spPr>
          <a:xfrm>
            <a:off x="6123043" y="4241865"/>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Isosceles Triangle 86"/>
          <p:cNvSpPr/>
          <p:nvPr/>
        </p:nvSpPr>
        <p:spPr>
          <a:xfrm>
            <a:off x="6123043" y="4183379"/>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Isosceles Triangle 87"/>
          <p:cNvSpPr/>
          <p:nvPr/>
        </p:nvSpPr>
        <p:spPr>
          <a:xfrm>
            <a:off x="6123043" y="3895435"/>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sosceles Triangle 88"/>
          <p:cNvSpPr/>
          <p:nvPr/>
        </p:nvSpPr>
        <p:spPr>
          <a:xfrm>
            <a:off x="6646658" y="4183379"/>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Isosceles Triangle 89"/>
          <p:cNvSpPr/>
          <p:nvPr/>
        </p:nvSpPr>
        <p:spPr>
          <a:xfrm>
            <a:off x="6646658" y="4077108"/>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sosceles Triangle 90"/>
          <p:cNvSpPr/>
          <p:nvPr/>
        </p:nvSpPr>
        <p:spPr>
          <a:xfrm>
            <a:off x="6646658" y="3870454"/>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Isosceles Triangle 91"/>
          <p:cNvSpPr/>
          <p:nvPr/>
        </p:nvSpPr>
        <p:spPr>
          <a:xfrm>
            <a:off x="7170272" y="4183379"/>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Isosceles Triangle 92"/>
          <p:cNvSpPr/>
          <p:nvPr/>
        </p:nvSpPr>
        <p:spPr>
          <a:xfrm>
            <a:off x="7170272" y="3895435"/>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Isosceles Triangle 93"/>
          <p:cNvSpPr/>
          <p:nvPr/>
        </p:nvSpPr>
        <p:spPr>
          <a:xfrm>
            <a:off x="7170272" y="4077108"/>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sosceles Triangle 94"/>
          <p:cNvSpPr/>
          <p:nvPr/>
        </p:nvSpPr>
        <p:spPr>
          <a:xfrm>
            <a:off x="7170272" y="3761548"/>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Isosceles Triangle 95"/>
          <p:cNvSpPr/>
          <p:nvPr/>
        </p:nvSpPr>
        <p:spPr>
          <a:xfrm>
            <a:off x="7170272" y="4158399"/>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Isosceles Triangle 96"/>
          <p:cNvSpPr/>
          <p:nvPr/>
        </p:nvSpPr>
        <p:spPr>
          <a:xfrm>
            <a:off x="7196453" y="3895435"/>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Isosceles Triangle 97"/>
          <p:cNvSpPr/>
          <p:nvPr/>
        </p:nvSpPr>
        <p:spPr>
          <a:xfrm>
            <a:off x="8217501" y="4183379"/>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Isosceles Triangle 98"/>
          <p:cNvSpPr/>
          <p:nvPr/>
        </p:nvSpPr>
        <p:spPr>
          <a:xfrm>
            <a:off x="8217501" y="3895435"/>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Isosceles Triangle 99"/>
          <p:cNvSpPr/>
          <p:nvPr/>
        </p:nvSpPr>
        <p:spPr>
          <a:xfrm>
            <a:off x="8741115" y="4183379"/>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sosceles Triangle 100"/>
          <p:cNvSpPr/>
          <p:nvPr/>
        </p:nvSpPr>
        <p:spPr>
          <a:xfrm>
            <a:off x="8741115" y="3895435"/>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Isosceles Triangle 101"/>
          <p:cNvSpPr/>
          <p:nvPr/>
        </p:nvSpPr>
        <p:spPr>
          <a:xfrm>
            <a:off x="8741115" y="4077108"/>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Isosceles Triangle 102"/>
          <p:cNvSpPr/>
          <p:nvPr/>
        </p:nvSpPr>
        <p:spPr>
          <a:xfrm>
            <a:off x="8741115" y="3761548"/>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Isosceles Triangle 103"/>
          <p:cNvSpPr/>
          <p:nvPr/>
        </p:nvSpPr>
        <p:spPr>
          <a:xfrm>
            <a:off x="9264729" y="4183379"/>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Isosceles Triangle 104"/>
          <p:cNvSpPr/>
          <p:nvPr/>
        </p:nvSpPr>
        <p:spPr>
          <a:xfrm>
            <a:off x="9264729" y="3895435"/>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Isosceles Triangle 105"/>
          <p:cNvSpPr/>
          <p:nvPr/>
        </p:nvSpPr>
        <p:spPr>
          <a:xfrm>
            <a:off x="9264729" y="4498939"/>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sosceles Triangle 106"/>
          <p:cNvSpPr/>
          <p:nvPr/>
        </p:nvSpPr>
        <p:spPr>
          <a:xfrm>
            <a:off x="9264729" y="3251528"/>
            <a:ext cx="118872" cy="118872"/>
          </a:xfrm>
          <a:prstGeom prst="triangl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Isosceles Triangle 107"/>
          <p:cNvSpPr/>
          <p:nvPr/>
        </p:nvSpPr>
        <p:spPr>
          <a:xfrm>
            <a:off x="9290910" y="4183379"/>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Isosceles Triangle 108"/>
          <p:cNvSpPr/>
          <p:nvPr/>
        </p:nvSpPr>
        <p:spPr>
          <a:xfrm>
            <a:off x="9290910" y="3895435"/>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Isosceles Triangle 109"/>
          <p:cNvSpPr/>
          <p:nvPr/>
        </p:nvSpPr>
        <p:spPr>
          <a:xfrm>
            <a:off x="9788343" y="4183379"/>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Isosceles Triangle 110"/>
          <p:cNvSpPr/>
          <p:nvPr/>
        </p:nvSpPr>
        <p:spPr>
          <a:xfrm>
            <a:off x="9788343" y="3895435"/>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Isosceles Triangle 111"/>
          <p:cNvSpPr/>
          <p:nvPr/>
        </p:nvSpPr>
        <p:spPr>
          <a:xfrm>
            <a:off x="9814524" y="4183379"/>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sosceles Triangle 112"/>
          <p:cNvSpPr/>
          <p:nvPr/>
        </p:nvSpPr>
        <p:spPr>
          <a:xfrm>
            <a:off x="10311958" y="4183379"/>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Isosceles Triangle 113"/>
          <p:cNvSpPr/>
          <p:nvPr/>
        </p:nvSpPr>
        <p:spPr>
          <a:xfrm>
            <a:off x="10311958" y="3895435"/>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Isosceles Triangle 114"/>
          <p:cNvSpPr/>
          <p:nvPr/>
        </p:nvSpPr>
        <p:spPr>
          <a:xfrm>
            <a:off x="10311958" y="4498939"/>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Isosceles Triangle 115"/>
          <p:cNvSpPr/>
          <p:nvPr/>
        </p:nvSpPr>
        <p:spPr>
          <a:xfrm>
            <a:off x="10338139" y="4183379"/>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Isosceles Triangle 116"/>
          <p:cNvSpPr/>
          <p:nvPr/>
        </p:nvSpPr>
        <p:spPr>
          <a:xfrm>
            <a:off x="10338139" y="3895435"/>
            <a:ext cx="118872" cy="118872"/>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Diamond 117"/>
          <p:cNvSpPr/>
          <p:nvPr/>
        </p:nvSpPr>
        <p:spPr>
          <a:xfrm>
            <a:off x="3038955" y="3185659"/>
            <a:ext cx="118872" cy="118872"/>
          </a:xfrm>
          <a:prstGeom prst="diamond">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Diamond 118"/>
          <p:cNvSpPr/>
          <p:nvPr/>
        </p:nvSpPr>
        <p:spPr>
          <a:xfrm>
            <a:off x="3562569" y="3579876"/>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Diamond 119"/>
          <p:cNvSpPr/>
          <p:nvPr/>
        </p:nvSpPr>
        <p:spPr>
          <a:xfrm>
            <a:off x="4086184" y="3291931"/>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Diamond 120"/>
          <p:cNvSpPr/>
          <p:nvPr/>
        </p:nvSpPr>
        <p:spPr>
          <a:xfrm>
            <a:off x="4086184"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Diamond 121"/>
          <p:cNvSpPr/>
          <p:nvPr/>
        </p:nvSpPr>
        <p:spPr>
          <a:xfrm>
            <a:off x="5133412" y="3339717"/>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Diamond 122"/>
          <p:cNvSpPr/>
          <p:nvPr/>
        </p:nvSpPr>
        <p:spPr>
          <a:xfrm>
            <a:off x="5133412" y="3579876"/>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Diamond 123"/>
          <p:cNvSpPr/>
          <p:nvPr/>
        </p:nvSpPr>
        <p:spPr>
          <a:xfrm>
            <a:off x="5133412"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Diamond 124"/>
          <p:cNvSpPr/>
          <p:nvPr/>
        </p:nvSpPr>
        <p:spPr>
          <a:xfrm>
            <a:off x="5133412"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Diamond 125"/>
          <p:cNvSpPr/>
          <p:nvPr/>
        </p:nvSpPr>
        <p:spPr>
          <a:xfrm>
            <a:off x="5159593" y="3579876"/>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Diamond 126"/>
          <p:cNvSpPr/>
          <p:nvPr/>
        </p:nvSpPr>
        <p:spPr>
          <a:xfrm>
            <a:off x="5159593"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Diamond 127"/>
          <p:cNvSpPr/>
          <p:nvPr/>
        </p:nvSpPr>
        <p:spPr>
          <a:xfrm>
            <a:off x="5159593"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Diamond 128"/>
          <p:cNvSpPr/>
          <p:nvPr/>
        </p:nvSpPr>
        <p:spPr>
          <a:xfrm>
            <a:off x="5657027" y="4365052"/>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Diamond 129"/>
          <p:cNvSpPr/>
          <p:nvPr/>
        </p:nvSpPr>
        <p:spPr>
          <a:xfrm>
            <a:off x="5657027"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Diamond 130"/>
          <p:cNvSpPr/>
          <p:nvPr/>
        </p:nvSpPr>
        <p:spPr>
          <a:xfrm>
            <a:off x="5657027"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Diamond 131"/>
          <p:cNvSpPr/>
          <p:nvPr/>
        </p:nvSpPr>
        <p:spPr>
          <a:xfrm>
            <a:off x="5657027" y="3579876"/>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Diamond 132"/>
          <p:cNvSpPr/>
          <p:nvPr/>
        </p:nvSpPr>
        <p:spPr>
          <a:xfrm>
            <a:off x="5683207"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Diamond 133"/>
          <p:cNvSpPr/>
          <p:nvPr/>
        </p:nvSpPr>
        <p:spPr>
          <a:xfrm>
            <a:off x="5683207"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Diamond 134"/>
          <p:cNvSpPr/>
          <p:nvPr/>
        </p:nvSpPr>
        <p:spPr>
          <a:xfrm>
            <a:off x="5709388"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Diamond 135"/>
          <p:cNvSpPr/>
          <p:nvPr/>
        </p:nvSpPr>
        <p:spPr>
          <a:xfrm>
            <a:off x="6180641" y="3579876"/>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Diamond 136"/>
          <p:cNvSpPr/>
          <p:nvPr/>
        </p:nvSpPr>
        <p:spPr>
          <a:xfrm>
            <a:off x="6180641"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Diamond 137"/>
          <p:cNvSpPr/>
          <p:nvPr/>
        </p:nvSpPr>
        <p:spPr>
          <a:xfrm>
            <a:off x="6180641"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iamond 138"/>
          <p:cNvSpPr/>
          <p:nvPr/>
        </p:nvSpPr>
        <p:spPr>
          <a:xfrm>
            <a:off x="6180641" y="3761548"/>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Diamond 139"/>
          <p:cNvSpPr/>
          <p:nvPr/>
        </p:nvSpPr>
        <p:spPr>
          <a:xfrm>
            <a:off x="6206822"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Diamond 140"/>
          <p:cNvSpPr/>
          <p:nvPr/>
        </p:nvSpPr>
        <p:spPr>
          <a:xfrm>
            <a:off x="6206822"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Diamond 141"/>
          <p:cNvSpPr/>
          <p:nvPr/>
        </p:nvSpPr>
        <p:spPr>
          <a:xfrm>
            <a:off x="7227869"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Diamond 142"/>
          <p:cNvSpPr/>
          <p:nvPr/>
        </p:nvSpPr>
        <p:spPr>
          <a:xfrm>
            <a:off x="7227869"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Diamond 143"/>
          <p:cNvSpPr/>
          <p:nvPr/>
        </p:nvSpPr>
        <p:spPr>
          <a:xfrm>
            <a:off x="7751484"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Diamond 144"/>
          <p:cNvSpPr/>
          <p:nvPr/>
        </p:nvSpPr>
        <p:spPr>
          <a:xfrm>
            <a:off x="7751484"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Diamond 145"/>
          <p:cNvSpPr/>
          <p:nvPr/>
        </p:nvSpPr>
        <p:spPr>
          <a:xfrm>
            <a:off x="7751484" y="3579876"/>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Diamond 146"/>
          <p:cNvSpPr/>
          <p:nvPr/>
        </p:nvSpPr>
        <p:spPr>
          <a:xfrm>
            <a:off x="7777665"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Diamond 147"/>
          <p:cNvSpPr/>
          <p:nvPr/>
        </p:nvSpPr>
        <p:spPr>
          <a:xfrm>
            <a:off x="7777665"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Diamond 148"/>
          <p:cNvSpPr/>
          <p:nvPr/>
        </p:nvSpPr>
        <p:spPr>
          <a:xfrm>
            <a:off x="7803845"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Diamond 149"/>
          <p:cNvSpPr/>
          <p:nvPr/>
        </p:nvSpPr>
        <p:spPr>
          <a:xfrm>
            <a:off x="8275098"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Diamond 150"/>
          <p:cNvSpPr/>
          <p:nvPr/>
        </p:nvSpPr>
        <p:spPr>
          <a:xfrm>
            <a:off x="8275098" y="3110258"/>
            <a:ext cx="118872" cy="118872"/>
          </a:xfrm>
          <a:prstGeom prst="diamond">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Diamond 151"/>
          <p:cNvSpPr/>
          <p:nvPr/>
        </p:nvSpPr>
        <p:spPr>
          <a:xfrm>
            <a:off x="8798712"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Diamond 152"/>
          <p:cNvSpPr/>
          <p:nvPr/>
        </p:nvSpPr>
        <p:spPr>
          <a:xfrm>
            <a:off x="8798712"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Diamond 153"/>
          <p:cNvSpPr/>
          <p:nvPr/>
        </p:nvSpPr>
        <p:spPr>
          <a:xfrm>
            <a:off x="8824893"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Diamond 154"/>
          <p:cNvSpPr/>
          <p:nvPr/>
        </p:nvSpPr>
        <p:spPr>
          <a:xfrm>
            <a:off x="8824893"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Diamond 155"/>
          <p:cNvSpPr/>
          <p:nvPr/>
        </p:nvSpPr>
        <p:spPr>
          <a:xfrm>
            <a:off x="8851074"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Diamond 156"/>
          <p:cNvSpPr/>
          <p:nvPr/>
        </p:nvSpPr>
        <p:spPr>
          <a:xfrm>
            <a:off x="8851074"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Diamond 157"/>
          <p:cNvSpPr/>
          <p:nvPr/>
        </p:nvSpPr>
        <p:spPr>
          <a:xfrm>
            <a:off x="8877255"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Diamond 158"/>
          <p:cNvSpPr/>
          <p:nvPr/>
        </p:nvSpPr>
        <p:spPr>
          <a:xfrm>
            <a:off x="9322327"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Diamond 159"/>
          <p:cNvSpPr/>
          <p:nvPr/>
        </p:nvSpPr>
        <p:spPr>
          <a:xfrm>
            <a:off x="9322327"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Diamond 160"/>
          <p:cNvSpPr/>
          <p:nvPr/>
        </p:nvSpPr>
        <p:spPr>
          <a:xfrm>
            <a:off x="9845941"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Diamond 161"/>
          <p:cNvSpPr/>
          <p:nvPr/>
        </p:nvSpPr>
        <p:spPr>
          <a:xfrm>
            <a:off x="10369555"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Diamond 162"/>
          <p:cNvSpPr/>
          <p:nvPr/>
        </p:nvSpPr>
        <p:spPr>
          <a:xfrm>
            <a:off x="10369555"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Diamond 163"/>
          <p:cNvSpPr/>
          <p:nvPr/>
        </p:nvSpPr>
        <p:spPr>
          <a:xfrm>
            <a:off x="10395736" y="418337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iamond 164"/>
          <p:cNvSpPr/>
          <p:nvPr/>
        </p:nvSpPr>
        <p:spPr>
          <a:xfrm>
            <a:off x="10395736" y="3895435"/>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Diamond 165"/>
          <p:cNvSpPr/>
          <p:nvPr/>
        </p:nvSpPr>
        <p:spPr>
          <a:xfrm>
            <a:off x="10369555" y="4498939"/>
            <a:ext cx="118872" cy="118872"/>
          </a:xfrm>
          <a:prstGeom prst="diamond">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Oval 166"/>
          <p:cNvSpPr/>
          <p:nvPr/>
        </p:nvSpPr>
        <p:spPr>
          <a:xfrm>
            <a:off x="5714624" y="4498939"/>
            <a:ext cx="118872" cy="118872"/>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Oval 167"/>
          <p:cNvSpPr/>
          <p:nvPr/>
        </p:nvSpPr>
        <p:spPr>
          <a:xfrm>
            <a:off x="7285467" y="4183379"/>
            <a:ext cx="118872" cy="118872"/>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Oval 168"/>
          <p:cNvSpPr/>
          <p:nvPr/>
        </p:nvSpPr>
        <p:spPr>
          <a:xfrm>
            <a:off x="7285467" y="3895435"/>
            <a:ext cx="118872" cy="118872"/>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Oval 169"/>
          <p:cNvSpPr/>
          <p:nvPr/>
        </p:nvSpPr>
        <p:spPr>
          <a:xfrm>
            <a:off x="7809081" y="4183379"/>
            <a:ext cx="118872" cy="118872"/>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Oval 170"/>
          <p:cNvSpPr/>
          <p:nvPr/>
        </p:nvSpPr>
        <p:spPr>
          <a:xfrm>
            <a:off x="7809081" y="3895435"/>
            <a:ext cx="118872" cy="118872"/>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Oval 171"/>
          <p:cNvSpPr/>
          <p:nvPr/>
        </p:nvSpPr>
        <p:spPr>
          <a:xfrm>
            <a:off x="8332696" y="4183379"/>
            <a:ext cx="118872" cy="118872"/>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Merge 172"/>
          <p:cNvSpPr/>
          <p:nvPr/>
        </p:nvSpPr>
        <p:spPr>
          <a:xfrm>
            <a:off x="2630536" y="3168744"/>
            <a:ext cx="118872" cy="118872"/>
          </a:xfrm>
          <a:prstGeom prst="flowChartMerg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Merge 173"/>
          <p:cNvSpPr/>
          <p:nvPr/>
        </p:nvSpPr>
        <p:spPr>
          <a:xfrm>
            <a:off x="3154150" y="3579876"/>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Merge 174"/>
          <p:cNvSpPr/>
          <p:nvPr/>
        </p:nvSpPr>
        <p:spPr>
          <a:xfrm>
            <a:off x="3677764" y="3158044"/>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Merge 175"/>
          <p:cNvSpPr/>
          <p:nvPr/>
        </p:nvSpPr>
        <p:spPr>
          <a:xfrm>
            <a:off x="4201379" y="3339717"/>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Merge 176"/>
          <p:cNvSpPr/>
          <p:nvPr/>
        </p:nvSpPr>
        <p:spPr>
          <a:xfrm>
            <a:off x="4201379" y="3579876"/>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Merge 177"/>
          <p:cNvSpPr/>
          <p:nvPr/>
        </p:nvSpPr>
        <p:spPr>
          <a:xfrm>
            <a:off x="4201379" y="4001707"/>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Merge 178"/>
          <p:cNvSpPr/>
          <p:nvPr/>
        </p:nvSpPr>
        <p:spPr>
          <a:xfrm>
            <a:off x="4201379" y="3185659"/>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Merge 179"/>
          <p:cNvSpPr/>
          <p:nvPr/>
        </p:nvSpPr>
        <p:spPr>
          <a:xfrm>
            <a:off x="4227559" y="3579876"/>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Merge 180"/>
          <p:cNvSpPr/>
          <p:nvPr/>
        </p:nvSpPr>
        <p:spPr>
          <a:xfrm>
            <a:off x="4201379" y="3895435"/>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Merge 181"/>
          <p:cNvSpPr/>
          <p:nvPr/>
        </p:nvSpPr>
        <p:spPr>
          <a:xfrm>
            <a:off x="4724993" y="3339717"/>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Merge 182"/>
          <p:cNvSpPr/>
          <p:nvPr/>
        </p:nvSpPr>
        <p:spPr>
          <a:xfrm>
            <a:off x="4724993" y="3579876"/>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Merge 183"/>
          <p:cNvSpPr/>
          <p:nvPr/>
        </p:nvSpPr>
        <p:spPr>
          <a:xfrm>
            <a:off x="4724993" y="3895435"/>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Merge 184"/>
          <p:cNvSpPr/>
          <p:nvPr/>
        </p:nvSpPr>
        <p:spPr>
          <a:xfrm>
            <a:off x="4751174" y="3579876"/>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Merge 185"/>
          <p:cNvSpPr/>
          <p:nvPr/>
        </p:nvSpPr>
        <p:spPr>
          <a:xfrm>
            <a:off x="4751174" y="3895435"/>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Merge 186"/>
          <p:cNvSpPr/>
          <p:nvPr/>
        </p:nvSpPr>
        <p:spPr>
          <a:xfrm>
            <a:off x="4724993" y="4183379"/>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Merge 187"/>
          <p:cNvSpPr/>
          <p:nvPr/>
        </p:nvSpPr>
        <p:spPr>
          <a:xfrm>
            <a:off x="4751174" y="4183379"/>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Merge 188"/>
          <p:cNvSpPr/>
          <p:nvPr/>
        </p:nvSpPr>
        <p:spPr>
          <a:xfrm>
            <a:off x="5248607" y="3895435"/>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Merge 189"/>
          <p:cNvSpPr/>
          <p:nvPr/>
        </p:nvSpPr>
        <p:spPr>
          <a:xfrm>
            <a:off x="5248607" y="4317266"/>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Merge 190"/>
          <p:cNvSpPr/>
          <p:nvPr/>
        </p:nvSpPr>
        <p:spPr>
          <a:xfrm>
            <a:off x="5248607" y="4029322"/>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Merge 191"/>
          <p:cNvSpPr/>
          <p:nvPr/>
        </p:nvSpPr>
        <p:spPr>
          <a:xfrm>
            <a:off x="5772222" y="4183379"/>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Merge 192"/>
          <p:cNvSpPr/>
          <p:nvPr/>
        </p:nvSpPr>
        <p:spPr>
          <a:xfrm>
            <a:off x="5772222" y="3895435"/>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Merge 193"/>
          <p:cNvSpPr/>
          <p:nvPr/>
        </p:nvSpPr>
        <p:spPr>
          <a:xfrm>
            <a:off x="5798402" y="4183379"/>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Merge 194"/>
          <p:cNvSpPr/>
          <p:nvPr/>
        </p:nvSpPr>
        <p:spPr>
          <a:xfrm>
            <a:off x="5798402" y="3895435"/>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Merge 195"/>
          <p:cNvSpPr/>
          <p:nvPr/>
        </p:nvSpPr>
        <p:spPr>
          <a:xfrm>
            <a:off x="6295836" y="4365052"/>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Merge 196"/>
          <p:cNvSpPr/>
          <p:nvPr/>
        </p:nvSpPr>
        <p:spPr>
          <a:xfrm>
            <a:off x="6295836" y="4183379"/>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Merge 197"/>
          <p:cNvSpPr/>
          <p:nvPr/>
        </p:nvSpPr>
        <p:spPr>
          <a:xfrm>
            <a:off x="6295836" y="3895435"/>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Merge 198"/>
          <p:cNvSpPr/>
          <p:nvPr/>
        </p:nvSpPr>
        <p:spPr>
          <a:xfrm>
            <a:off x="6295836" y="3579876"/>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Merge 199"/>
          <p:cNvSpPr/>
          <p:nvPr/>
        </p:nvSpPr>
        <p:spPr>
          <a:xfrm>
            <a:off x="6819450" y="4183379"/>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Merge 200"/>
          <p:cNvSpPr/>
          <p:nvPr/>
        </p:nvSpPr>
        <p:spPr>
          <a:xfrm>
            <a:off x="6819450" y="3895435"/>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Merge 201"/>
          <p:cNvSpPr/>
          <p:nvPr/>
        </p:nvSpPr>
        <p:spPr>
          <a:xfrm>
            <a:off x="6819450" y="3579876"/>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Merge 202"/>
          <p:cNvSpPr/>
          <p:nvPr/>
        </p:nvSpPr>
        <p:spPr>
          <a:xfrm>
            <a:off x="7343065" y="4241865"/>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Merge 203"/>
          <p:cNvSpPr/>
          <p:nvPr/>
        </p:nvSpPr>
        <p:spPr>
          <a:xfrm>
            <a:off x="7343065" y="4001707"/>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Merge 204"/>
          <p:cNvSpPr/>
          <p:nvPr/>
        </p:nvSpPr>
        <p:spPr>
          <a:xfrm>
            <a:off x="7369245" y="4241865"/>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Merge 205"/>
          <p:cNvSpPr/>
          <p:nvPr/>
        </p:nvSpPr>
        <p:spPr>
          <a:xfrm>
            <a:off x="7369245" y="4001707"/>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Merge 206"/>
          <p:cNvSpPr/>
          <p:nvPr/>
        </p:nvSpPr>
        <p:spPr>
          <a:xfrm>
            <a:off x="7343065" y="4183379"/>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Merge 207"/>
          <p:cNvSpPr/>
          <p:nvPr/>
        </p:nvSpPr>
        <p:spPr>
          <a:xfrm>
            <a:off x="7343065" y="3895435"/>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Merge 208"/>
          <p:cNvSpPr/>
          <p:nvPr/>
        </p:nvSpPr>
        <p:spPr>
          <a:xfrm>
            <a:off x="7866679" y="4183379"/>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Merge 209"/>
          <p:cNvSpPr/>
          <p:nvPr/>
        </p:nvSpPr>
        <p:spPr>
          <a:xfrm>
            <a:off x="7866679" y="3895435"/>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Merge 210"/>
          <p:cNvSpPr/>
          <p:nvPr/>
        </p:nvSpPr>
        <p:spPr>
          <a:xfrm>
            <a:off x="8913908" y="4183379"/>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Merge 211"/>
          <p:cNvSpPr/>
          <p:nvPr/>
        </p:nvSpPr>
        <p:spPr>
          <a:xfrm>
            <a:off x="9437522" y="4183379"/>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Merge 212"/>
          <p:cNvSpPr/>
          <p:nvPr/>
        </p:nvSpPr>
        <p:spPr>
          <a:xfrm>
            <a:off x="9961136" y="4183379"/>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Merge 213"/>
          <p:cNvSpPr/>
          <p:nvPr/>
        </p:nvSpPr>
        <p:spPr>
          <a:xfrm>
            <a:off x="9961136" y="3895435"/>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Merge 214"/>
          <p:cNvSpPr/>
          <p:nvPr/>
        </p:nvSpPr>
        <p:spPr>
          <a:xfrm>
            <a:off x="10484751" y="4458536"/>
            <a:ext cx="118872" cy="118872"/>
          </a:xfrm>
          <a:prstGeom prst="flowChartMerg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Oval 215"/>
          <p:cNvSpPr/>
          <p:nvPr/>
        </p:nvSpPr>
        <p:spPr>
          <a:xfrm>
            <a:off x="2866162" y="3590575"/>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Oval 216"/>
          <p:cNvSpPr/>
          <p:nvPr/>
        </p:nvSpPr>
        <p:spPr>
          <a:xfrm>
            <a:off x="3389777" y="4183379"/>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Oval 217"/>
          <p:cNvSpPr/>
          <p:nvPr/>
        </p:nvSpPr>
        <p:spPr>
          <a:xfrm>
            <a:off x="3389777" y="3579876"/>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Oval 218"/>
          <p:cNvSpPr/>
          <p:nvPr/>
        </p:nvSpPr>
        <p:spPr>
          <a:xfrm>
            <a:off x="3913391" y="4029322"/>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Oval 219"/>
          <p:cNvSpPr/>
          <p:nvPr/>
        </p:nvSpPr>
        <p:spPr>
          <a:xfrm>
            <a:off x="4437005" y="3579876"/>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4437005" y="4458536"/>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Oval 221"/>
          <p:cNvSpPr/>
          <p:nvPr/>
        </p:nvSpPr>
        <p:spPr>
          <a:xfrm>
            <a:off x="4437005" y="4632826"/>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Oval 222"/>
          <p:cNvSpPr/>
          <p:nvPr/>
        </p:nvSpPr>
        <p:spPr>
          <a:xfrm>
            <a:off x="4463186" y="3579876"/>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Oval 223"/>
          <p:cNvSpPr/>
          <p:nvPr/>
        </p:nvSpPr>
        <p:spPr>
          <a:xfrm>
            <a:off x="4437005" y="3731845"/>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Oval 224"/>
          <p:cNvSpPr/>
          <p:nvPr/>
        </p:nvSpPr>
        <p:spPr>
          <a:xfrm>
            <a:off x="4960620" y="3761548"/>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Oval 225"/>
          <p:cNvSpPr/>
          <p:nvPr/>
        </p:nvSpPr>
        <p:spPr>
          <a:xfrm>
            <a:off x="4960620" y="3855032"/>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Oval 226"/>
          <p:cNvSpPr/>
          <p:nvPr/>
        </p:nvSpPr>
        <p:spPr>
          <a:xfrm>
            <a:off x="4960620" y="4248501"/>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Oval 227"/>
          <p:cNvSpPr/>
          <p:nvPr/>
        </p:nvSpPr>
        <p:spPr>
          <a:xfrm>
            <a:off x="5484234" y="4183379"/>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Oval 228"/>
          <p:cNvSpPr/>
          <p:nvPr/>
        </p:nvSpPr>
        <p:spPr>
          <a:xfrm>
            <a:off x="5484234" y="3895435"/>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Oval 229"/>
          <p:cNvSpPr/>
          <p:nvPr/>
        </p:nvSpPr>
        <p:spPr>
          <a:xfrm>
            <a:off x="5484234" y="4248501"/>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Oval 230"/>
          <p:cNvSpPr/>
          <p:nvPr/>
        </p:nvSpPr>
        <p:spPr>
          <a:xfrm>
            <a:off x="5484234" y="3855032"/>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5510415" y="4248501"/>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Oval 232"/>
          <p:cNvSpPr/>
          <p:nvPr/>
        </p:nvSpPr>
        <p:spPr>
          <a:xfrm>
            <a:off x="6007848" y="3761548"/>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Oval 233"/>
          <p:cNvSpPr/>
          <p:nvPr/>
        </p:nvSpPr>
        <p:spPr>
          <a:xfrm>
            <a:off x="6531462" y="3761548"/>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Oval 234"/>
          <p:cNvSpPr/>
          <p:nvPr/>
        </p:nvSpPr>
        <p:spPr>
          <a:xfrm>
            <a:off x="6531462" y="4248501"/>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Oval 235"/>
          <p:cNvSpPr/>
          <p:nvPr/>
        </p:nvSpPr>
        <p:spPr>
          <a:xfrm>
            <a:off x="6531462" y="3895435"/>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Oval 236"/>
          <p:cNvSpPr/>
          <p:nvPr/>
        </p:nvSpPr>
        <p:spPr>
          <a:xfrm>
            <a:off x="6531462" y="4605211"/>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Oval 237"/>
          <p:cNvSpPr/>
          <p:nvPr/>
        </p:nvSpPr>
        <p:spPr>
          <a:xfrm>
            <a:off x="6531462" y="4241865"/>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Oval 238"/>
          <p:cNvSpPr/>
          <p:nvPr/>
        </p:nvSpPr>
        <p:spPr>
          <a:xfrm>
            <a:off x="6557643" y="4241865"/>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Oval 239"/>
          <p:cNvSpPr/>
          <p:nvPr/>
        </p:nvSpPr>
        <p:spPr>
          <a:xfrm>
            <a:off x="6531462" y="3579876"/>
            <a:ext cx="118872" cy="118872"/>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Oval 240"/>
          <p:cNvSpPr/>
          <p:nvPr/>
        </p:nvSpPr>
        <p:spPr>
          <a:xfrm>
            <a:off x="6531462" y="3291931"/>
            <a:ext cx="118872" cy="118872"/>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Oval 241"/>
          <p:cNvSpPr/>
          <p:nvPr/>
        </p:nvSpPr>
        <p:spPr>
          <a:xfrm>
            <a:off x="6531462" y="4183379"/>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Oval 242"/>
          <p:cNvSpPr/>
          <p:nvPr/>
        </p:nvSpPr>
        <p:spPr>
          <a:xfrm>
            <a:off x="6557643" y="4248501"/>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Oval 243"/>
          <p:cNvSpPr/>
          <p:nvPr/>
        </p:nvSpPr>
        <p:spPr>
          <a:xfrm>
            <a:off x="7055077" y="3895435"/>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Oval 244"/>
          <p:cNvSpPr/>
          <p:nvPr/>
        </p:nvSpPr>
        <p:spPr>
          <a:xfrm>
            <a:off x="7055077" y="4183379"/>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Oval 245"/>
          <p:cNvSpPr/>
          <p:nvPr/>
        </p:nvSpPr>
        <p:spPr>
          <a:xfrm>
            <a:off x="7081257" y="4183379"/>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Oval 246"/>
          <p:cNvSpPr/>
          <p:nvPr/>
        </p:nvSpPr>
        <p:spPr>
          <a:xfrm>
            <a:off x="7081257" y="3895435"/>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Oval 247"/>
          <p:cNvSpPr/>
          <p:nvPr/>
        </p:nvSpPr>
        <p:spPr>
          <a:xfrm>
            <a:off x="7578691" y="3291931"/>
            <a:ext cx="118872" cy="118872"/>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Oval 248"/>
          <p:cNvSpPr/>
          <p:nvPr/>
        </p:nvSpPr>
        <p:spPr>
          <a:xfrm>
            <a:off x="7578691" y="4632826"/>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Oval 249"/>
          <p:cNvSpPr/>
          <p:nvPr/>
        </p:nvSpPr>
        <p:spPr>
          <a:xfrm>
            <a:off x="7578691" y="4183379"/>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Oval 250"/>
          <p:cNvSpPr/>
          <p:nvPr/>
        </p:nvSpPr>
        <p:spPr>
          <a:xfrm>
            <a:off x="8102305" y="4183379"/>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Oval 251"/>
          <p:cNvSpPr/>
          <p:nvPr/>
        </p:nvSpPr>
        <p:spPr>
          <a:xfrm>
            <a:off x="8128486" y="4183379"/>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Oval 252"/>
          <p:cNvSpPr/>
          <p:nvPr/>
        </p:nvSpPr>
        <p:spPr>
          <a:xfrm>
            <a:off x="8102305" y="3895435"/>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Oval 253"/>
          <p:cNvSpPr/>
          <p:nvPr/>
        </p:nvSpPr>
        <p:spPr>
          <a:xfrm>
            <a:off x="8625920" y="4183379"/>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Oval 254"/>
          <p:cNvSpPr/>
          <p:nvPr/>
        </p:nvSpPr>
        <p:spPr>
          <a:xfrm>
            <a:off x="8625920" y="3895435"/>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Oval 255"/>
          <p:cNvSpPr/>
          <p:nvPr/>
        </p:nvSpPr>
        <p:spPr>
          <a:xfrm>
            <a:off x="9149534" y="4183379"/>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Oval 256"/>
          <p:cNvSpPr/>
          <p:nvPr/>
        </p:nvSpPr>
        <p:spPr>
          <a:xfrm>
            <a:off x="9673148" y="4183379"/>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Oval 257"/>
          <p:cNvSpPr/>
          <p:nvPr/>
        </p:nvSpPr>
        <p:spPr>
          <a:xfrm>
            <a:off x="9673148" y="3895435"/>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Oval 258"/>
          <p:cNvSpPr/>
          <p:nvPr/>
        </p:nvSpPr>
        <p:spPr>
          <a:xfrm>
            <a:off x="9673148" y="4536445"/>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Oval 259"/>
          <p:cNvSpPr/>
          <p:nvPr/>
        </p:nvSpPr>
        <p:spPr>
          <a:xfrm>
            <a:off x="10720377" y="4183379"/>
            <a:ext cx="118872" cy="1188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TextBox 260"/>
          <p:cNvSpPr txBox="1"/>
          <p:nvPr/>
        </p:nvSpPr>
        <p:spPr>
          <a:xfrm>
            <a:off x="1446388" y="4585972"/>
            <a:ext cx="29260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빈 점 = SLC · SCM 특수 제품</a:t>
            </a:r>
          </a:p>
        </p:txBody>
      </p:sp>
      <p:cxnSp>
        <p:nvCxnSpPr>
          <p:cNvPr id="262" name="Connector 261"/>
          <p:cNvCxnSpPr/>
          <p:nvPr/>
        </p:nvCxnSpPr>
        <p:spPr>
          <a:xfrm>
            <a:off x="1263123" y="3639312"/>
            <a:ext cx="2565710" cy="0"/>
          </a:xfrm>
          <a:prstGeom prst="line">
            <a:avLst/>
          </a:prstGeom>
          <a:ln w="381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3881194" y="3954871"/>
            <a:ext cx="1518482" cy="0"/>
          </a:xfrm>
          <a:prstGeom prst="line">
            <a:avLst/>
          </a:prstGeom>
          <a:ln w="381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a:off x="5452037" y="4136544"/>
            <a:ext cx="1518482" cy="0"/>
          </a:xfrm>
          <a:prstGeom prst="line">
            <a:avLst/>
          </a:prstGeom>
          <a:ln w="381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7022880" y="4242816"/>
            <a:ext cx="1518482" cy="0"/>
          </a:xfrm>
          <a:prstGeom prst="line">
            <a:avLst/>
          </a:prstGeom>
          <a:ln w="381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a:off x="8593723" y="4242816"/>
            <a:ext cx="2565710" cy="0"/>
          </a:xfrm>
          <a:prstGeom prst="line">
            <a:avLst/>
          </a:prstGeom>
          <a:ln w="38100">
            <a:solidFill>
              <a:srgbClr val="1A1A1A"/>
            </a:solidFill>
          </a:ln>
        </p:spPr>
        <p:style>
          <a:lnRef idx="2">
            <a:schemeClr val="accent1"/>
          </a:lnRef>
          <a:fillRef idx="0">
            <a:schemeClr val="accent1"/>
          </a:fillRef>
          <a:effectRef idx="1">
            <a:schemeClr val="accent1"/>
          </a:effectRef>
          <a:fontRef idx="minor">
            <a:schemeClr val="tx1"/>
          </a:fontRef>
        </p:style>
      </p:cxnSp>
      <p:sp>
        <p:nvSpPr>
          <p:cNvPr id="267" name="TextBox 266"/>
          <p:cNvSpPr txBox="1"/>
          <p:nvPr/>
        </p:nvSpPr>
        <p:spPr>
          <a:xfrm>
            <a:off x="1341665" y="3675887"/>
            <a:ext cx="1097280" cy="256032"/>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중앙값</a:t>
            </a:r>
          </a:p>
        </p:txBody>
      </p:sp>
      <p:sp>
        <p:nvSpPr>
          <p:cNvPr id="268" name="Rounded Rectangle 267"/>
          <p:cNvSpPr/>
          <p:nvPr/>
        </p:nvSpPr>
        <p:spPr>
          <a:xfrm>
            <a:off x="722376" y="5669280"/>
            <a:ext cx="5074920" cy="2926080"/>
          </a:xfrm>
          <a:prstGeom prst="roundRect">
            <a:avLst>
              <a:gd name="adj" fmla="val 25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extBox 268"/>
          <p:cNvSpPr txBox="1"/>
          <p:nvPr/>
        </p:nvSpPr>
        <p:spPr>
          <a:xfrm>
            <a:off x="996696" y="5779008"/>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270" name="Rounded Rectangle 269"/>
          <p:cNvSpPr/>
          <p:nvPr/>
        </p:nvSpPr>
        <p:spPr>
          <a:xfrm>
            <a:off x="4242816" y="5852160"/>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extBox 270"/>
          <p:cNvSpPr txBox="1"/>
          <p:nvPr/>
        </p:nvSpPr>
        <p:spPr>
          <a:xfrm>
            <a:off x="4297679" y="5852160"/>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272" name="Picture 271" descr="render_nand.png"/>
          <p:cNvPicPr>
            <a:picLocks noChangeAspect="1"/>
          </p:cNvPicPr>
          <p:nvPr/>
        </p:nvPicPr>
        <p:blipFill>
          <a:blip r:embed="rId2"/>
          <a:stretch>
            <a:fillRect/>
          </a:stretch>
        </p:blipFill>
        <p:spPr>
          <a:xfrm>
            <a:off x="1132894" y="6601968"/>
            <a:ext cx="916323" cy="676656"/>
          </a:xfrm>
          <a:prstGeom prst="rect">
            <a:avLst/>
          </a:prstGeom>
        </p:spPr>
      </p:pic>
      <p:sp>
        <p:nvSpPr>
          <p:cNvPr id="273" name="Right Arrow 272"/>
          <p:cNvSpPr/>
          <p:nvPr/>
        </p:nvSpPr>
        <p:spPr>
          <a:xfrm>
            <a:off x="2240280" y="6830568"/>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4" name="Picture 273" descr="render_ssd.png"/>
          <p:cNvPicPr>
            <a:picLocks noChangeAspect="1"/>
          </p:cNvPicPr>
          <p:nvPr/>
        </p:nvPicPr>
        <p:blipFill>
          <a:blip r:embed="rId3"/>
          <a:stretch>
            <a:fillRect/>
          </a:stretch>
        </p:blipFill>
        <p:spPr>
          <a:xfrm>
            <a:off x="2901799" y="6601968"/>
            <a:ext cx="1822496" cy="676656"/>
          </a:xfrm>
          <a:prstGeom prst="rect">
            <a:avLst/>
          </a:prstGeom>
        </p:spPr>
      </p:pic>
      <p:sp>
        <p:nvSpPr>
          <p:cNvPr id="275" name="TextBox 274"/>
          <p:cNvSpPr txBox="1"/>
          <p:nvPr/>
        </p:nvSpPr>
        <p:spPr>
          <a:xfrm>
            <a:off x="996696" y="7333488"/>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276" name="TextBox 275"/>
          <p:cNvSpPr txBox="1"/>
          <p:nvPr/>
        </p:nvSpPr>
        <p:spPr>
          <a:xfrm>
            <a:off x="996696" y="7973568"/>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277" name="Rounded Rectangle 276"/>
          <p:cNvSpPr/>
          <p:nvPr/>
        </p:nvSpPr>
        <p:spPr>
          <a:xfrm>
            <a:off x="5980176" y="5138928"/>
            <a:ext cx="5394960" cy="3456432"/>
          </a:xfrm>
          <a:prstGeom prst="roundRect">
            <a:avLst>
              <a:gd name="adj" fmla="val 211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254496" y="524865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279" name="Rounded Rectangle 278"/>
          <p:cNvSpPr/>
          <p:nvPr/>
        </p:nvSpPr>
        <p:spPr>
          <a:xfrm>
            <a:off x="9820656" y="532180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TextBox 279"/>
          <p:cNvSpPr txBox="1"/>
          <p:nvPr/>
        </p:nvSpPr>
        <p:spPr>
          <a:xfrm>
            <a:off x="9875520" y="532180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281" name="Picture 280" descr="render_ssd.png"/>
          <p:cNvPicPr>
            <a:picLocks noChangeAspect="1"/>
          </p:cNvPicPr>
          <p:nvPr/>
        </p:nvPicPr>
        <p:blipFill>
          <a:blip r:embed="rId3"/>
          <a:stretch>
            <a:fillRect/>
          </a:stretch>
        </p:blipFill>
        <p:spPr>
          <a:xfrm>
            <a:off x="6292757" y="6163056"/>
            <a:ext cx="2118036" cy="786384"/>
          </a:xfrm>
          <a:prstGeom prst="rect">
            <a:avLst/>
          </a:prstGeom>
        </p:spPr>
      </p:pic>
      <p:sp>
        <p:nvSpPr>
          <p:cNvPr id="282" name="TextBox 281"/>
          <p:cNvSpPr txBox="1"/>
          <p:nvPr/>
        </p:nvSpPr>
        <p:spPr>
          <a:xfrm>
            <a:off x="6254496" y="7168896"/>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83" name="TextBox 282"/>
          <p:cNvSpPr txBox="1"/>
          <p:nvPr/>
        </p:nvSpPr>
        <p:spPr>
          <a:xfrm>
            <a:off x="6254496" y="7808975"/>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84" name="Rounded Rectangle 283"/>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86" name="Rounded Rectangle 285"/>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TextBox 286"/>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88" name="Picture 287"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89" name="Picture 288"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90" name="TextBox 289"/>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1" name="TextBox 290"/>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292" name="TextBox 291"/>
          <p:cNvSpPr txBox="1"/>
          <p:nvPr/>
        </p:nvSpPr>
        <p:spPr>
          <a:xfrm>
            <a:off x="8741664" y="5815584"/>
            <a:ext cx="2377440" cy="36576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293" name="Rounded Rectangle 292"/>
          <p:cNvSpPr/>
          <p:nvPr/>
        </p:nvSpPr>
        <p:spPr>
          <a:xfrm>
            <a:off x="8741664" y="6217920"/>
            <a:ext cx="2377440" cy="365760"/>
          </a:xfrm>
          <a:prstGeom prst="roundRect">
            <a:avLst>
              <a:gd name="adj" fmla="val 20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extBox 293"/>
          <p:cNvSpPr txBox="1"/>
          <p:nvPr/>
        </p:nvSpPr>
        <p:spPr>
          <a:xfrm>
            <a:off x="8869680" y="6217920"/>
            <a:ext cx="2121408"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295" name="Rounded Rectangle 294"/>
          <p:cNvSpPr/>
          <p:nvPr/>
        </p:nvSpPr>
        <p:spPr>
          <a:xfrm>
            <a:off x="8741664" y="6638544"/>
            <a:ext cx="2377440" cy="365760"/>
          </a:xfrm>
          <a:prstGeom prst="roundRect">
            <a:avLst>
              <a:gd name="adj" fmla="val 20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TextBox 295"/>
          <p:cNvSpPr txBox="1"/>
          <p:nvPr/>
        </p:nvSpPr>
        <p:spPr>
          <a:xfrm>
            <a:off x="8869680" y="6638544"/>
            <a:ext cx="2121408"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297" name="Rounded Rectangle 296"/>
          <p:cNvSpPr/>
          <p:nvPr/>
        </p:nvSpPr>
        <p:spPr>
          <a:xfrm>
            <a:off x="8741664" y="7059168"/>
            <a:ext cx="2377440" cy="365760"/>
          </a:xfrm>
          <a:prstGeom prst="roundRect">
            <a:avLst>
              <a:gd name="adj" fmla="val 20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8869680" y="7059168"/>
            <a:ext cx="2121408"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299" name="Rounded Rectangle 298"/>
          <p:cNvSpPr/>
          <p:nvPr/>
        </p:nvSpPr>
        <p:spPr>
          <a:xfrm>
            <a:off x="8741664" y="7479792"/>
            <a:ext cx="2377440" cy="365760"/>
          </a:xfrm>
          <a:prstGeom prst="roundRect">
            <a:avLst>
              <a:gd name="adj" fmla="val 2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TextBox 299"/>
          <p:cNvSpPr txBox="1"/>
          <p:nvPr/>
        </p:nvSpPr>
        <p:spPr>
          <a:xfrm>
            <a:off x="8869680" y="7479792"/>
            <a:ext cx="2121408" cy="36576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01" name="Rounded Rectangle 300"/>
          <p:cNvSpPr/>
          <p:nvPr/>
        </p:nvSpPr>
        <p:spPr>
          <a:xfrm>
            <a:off x="8741664" y="7900416"/>
            <a:ext cx="2377440" cy="365760"/>
          </a:xfrm>
          <a:prstGeom prst="roundRect">
            <a:avLst>
              <a:gd name="adj" fmla="val 2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TextBox 301"/>
          <p:cNvSpPr txBox="1"/>
          <p:nvPr/>
        </p:nvSpPr>
        <p:spPr>
          <a:xfrm>
            <a:off x="8869680" y="7900416"/>
            <a:ext cx="2121408" cy="36576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303" name="Rounded Rectangle 302"/>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305" name="Rectangle 304"/>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TextBox 305"/>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307" name="Rectangle 306"/>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TextBox 307"/>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309" name="Rectangle 308"/>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TextBox 309"/>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311" name="Picture 310" descr="google.png"/>
          <p:cNvPicPr>
            <a:picLocks noChangeAspect="1"/>
          </p:cNvPicPr>
          <p:nvPr/>
        </p:nvPicPr>
        <p:blipFill>
          <a:blip r:embed="rId5"/>
          <a:stretch>
            <a:fillRect/>
          </a:stretch>
        </p:blipFill>
        <p:spPr>
          <a:xfrm>
            <a:off x="12015216" y="6181344"/>
            <a:ext cx="836908" cy="274320"/>
          </a:xfrm>
          <a:prstGeom prst="rect">
            <a:avLst/>
          </a:prstGeom>
        </p:spPr>
      </p:pic>
      <p:sp>
        <p:nvSpPr>
          <p:cNvPr id="312" name="Rounded Rectangle 311"/>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TextBox 312"/>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314" name="Picture 313"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315" name="TextBox 314"/>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316" name="Rounded Rectangle 315"/>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318" name="Picture 317" descr="aws.png"/>
          <p:cNvPicPr>
            <a:picLocks noChangeAspect="1"/>
          </p:cNvPicPr>
          <p:nvPr/>
        </p:nvPicPr>
        <p:blipFill>
          <a:blip r:embed="rId7"/>
          <a:stretch>
            <a:fillRect/>
          </a:stretch>
        </p:blipFill>
        <p:spPr>
          <a:xfrm>
            <a:off x="12015216" y="7342632"/>
            <a:ext cx="611866" cy="365760"/>
          </a:xfrm>
          <a:prstGeom prst="rect">
            <a:avLst/>
          </a:prstGeom>
        </p:spPr>
      </p:pic>
      <p:sp>
        <p:nvSpPr>
          <p:cNvPr id="319" name="Rounded Rectangle 318"/>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TextBox 319"/>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321" name="Chevron 320"/>
          <p:cNvSpPr/>
          <p:nvPr/>
        </p:nvSpPr>
        <p:spPr>
          <a:xfrm>
            <a:off x="5815584" y="69494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Chevron 321"/>
          <p:cNvSpPr/>
          <p:nvPr/>
        </p:nvSpPr>
        <p:spPr>
          <a:xfrm>
            <a:off x="11393424" y="64922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TextBox 323"/>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325" name="TextBox 324"/>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326" name="TextBox 32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원장(Samsung · Intel · Solidigm · Micron · Kioxia · Toshiba · SK hynix · WD · SanDisk 사양 · 리뷰, 3년 보증은 5년으로 환산, QLC는 랜덤 쓰기, 중앙값 · 비중은 특수 제품 제외) · 고객 캐시 DWPD(Kangaroo · KV 실측 · Baleen) · 해법 사다리 원장 · 자체 설계 원장 · 세로축 로그 · 일부 수치 검색 확인 · 부품 이미지는 3D 렌더</a:t>
            </a:r>
          </a:p>
        </p:txBody>
      </p:sp>
      <p:sp>
        <p:nvSpPr>
          <p:cNvPr id="327" name="TextBox 32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4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