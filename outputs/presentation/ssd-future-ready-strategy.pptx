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카드 아래 가로 막대는 eSSD 수요의 응용별 비중입니다. 올해는 범용 클라우드와 엔터프라이즈가 85퍼센트로 대부분이고, AI 학습 6퍼센트, AI 추론 9퍼센트입니다. 2030년에는 전체가 약 1,078엑사바이트로 커지면서 범용 47퍼센트, AI 학습 12퍼센트, AI 추론 41퍼센트가 됩니다. 에이전트는 따로 떼어 낸 전망이 없어 추론과 범용에 포함됩니다. 올해 비중은 McKinsey 전망을 이어 계산한 값이고, 연도별 상세는 참고 6장에 두었습니다.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이 전략에서 사업적으로 가장 큰 기회입니다.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6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33" name="TextBox 132"/>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4" name="TextBox 133"/>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5" name="Rectangle 134"/>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7" name="Rectangle 136"/>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9" name="Rectangle 138"/>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41" name="TextBox 140"/>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42" name="TextBox 141"/>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43" name="Rectangle 142"/>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5" name="Rectangle 144"/>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7" name="Rectangle 146"/>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9" name="TextBox 148"/>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50" name="TextBox 149"/>
          <p:cNvSpPr txBox="1"/>
          <p:nvPr/>
        </p:nvSpPr>
        <p:spPr>
          <a:xfrm>
            <a:off x="722376" y="6035040"/>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51" name="TextBox 150"/>
          <p:cNvSpPr txBox="1"/>
          <p:nvPr/>
        </p:nvSpPr>
        <p:spPr>
          <a:xfrm>
            <a:off x="12079224" y="6035040"/>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52" name="Rounded Rectangle 151"/>
          <p:cNvSpPr/>
          <p:nvPr/>
        </p:nvSpPr>
        <p:spPr>
          <a:xfrm>
            <a:off x="722376" y="6364224"/>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923544" y="638251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54" name="TextBox 153"/>
          <p:cNvSpPr txBox="1"/>
          <p:nvPr/>
        </p:nvSpPr>
        <p:spPr>
          <a:xfrm>
            <a:off x="2916936" y="638251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55" name="Rectangle 154"/>
          <p:cNvSpPr/>
          <p:nvPr/>
        </p:nvSpPr>
        <p:spPr>
          <a:xfrm>
            <a:off x="923544" y="6702552"/>
            <a:ext cx="2127598" cy="1280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2621425" y="6675120"/>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3106006" y="662025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58" name="Rounded Rectangle 157"/>
          <p:cNvSpPr/>
          <p:nvPr/>
        </p:nvSpPr>
        <p:spPr>
          <a:xfrm>
            <a:off x="4306824"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7658100"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11009376" y="6364224"/>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1064240" y="6364224"/>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62" name="Rounded Rectangle 161"/>
          <p:cNvSpPr/>
          <p:nvPr/>
        </p:nvSpPr>
        <p:spPr>
          <a:xfrm>
            <a:off x="14360652"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722376" y="6931152"/>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923544" y="6949440"/>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65" name="TextBox 164"/>
          <p:cNvSpPr txBox="1"/>
          <p:nvPr/>
        </p:nvSpPr>
        <p:spPr>
          <a:xfrm>
            <a:off x="2916936" y="6949440"/>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66" name="Rectangle 165"/>
          <p:cNvSpPr/>
          <p:nvPr/>
        </p:nvSpPr>
        <p:spPr>
          <a:xfrm>
            <a:off x="923544" y="7269480"/>
            <a:ext cx="1020635" cy="12801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999043" y="7187184"/>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68" name="Rounded Rectangle 167"/>
          <p:cNvSpPr/>
          <p:nvPr/>
        </p:nvSpPr>
        <p:spPr>
          <a:xfrm>
            <a:off x="4306824"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ounded Rectangle 168"/>
          <p:cNvSpPr/>
          <p:nvPr/>
        </p:nvSpPr>
        <p:spPr>
          <a:xfrm>
            <a:off x="7658100" y="6931152"/>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7712964" y="6931152"/>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71" name="Rounded Rectangle 170"/>
          <p:cNvSpPr/>
          <p:nvPr/>
        </p:nvSpPr>
        <p:spPr>
          <a:xfrm>
            <a:off x="11009376" y="6931152"/>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1064240" y="6931152"/>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73" name="Rounded Rectangle 172"/>
          <p:cNvSpPr/>
          <p:nvPr/>
        </p:nvSpPr>
        <p:spPr>
          <a:xfrm>
            <a:off x="14360652"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ounded Rectangle 173"/>
          <p:cNvSpPr/>
          <p:nvPr/>
        </p:nvSpPr>
        <p:spPr>
          <a:xfrm>
            <a:off x="722376" y="7498079"/>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923544" y="7516367"/>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76" name="TextBox 175"/>
          <p:cNvSpPr txBox="1"/>
          <p:nvPr/>
        </p:nvSpPr>
        <p:spPr>
          <a:xfrm>
            <a:off x="2916936" y="7516367"/>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77" name="Rectangle 176"/>
          <p:cNvSpPr/>
          <p:nvPr/>
        </p:nvSpPr>
        <p:spPr>
          <a:xfrm>
            <a:off x="923544" y="7836407"/>
            <a:ext cx="690962"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1669370" y="7754111"/>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79" name="Rounded Rectangle 178"/>
          <p:cNvSpPr/>
          <p:nvPr/>
        </p:nvSpPr>
        <p:spPr>
          <a:xfrm>
            <a:off x="4306824"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361688"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81" name="Rounded Rectangle 180"/>
          <p:cNvSpPr/>
          <p:nvPr/>
        </p:nvSpPr>
        <p:spPr>
          <a:xfrm>
            <a:off x="7658100"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7712964"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83" name="Rounded Rectangle 182"/>
          <p:cNvSpPr/>
          <p:nvPr/>
        </p:nvSpPr>
        <p:spPr>
          <a:xfrm>
            <a:off x="11009376"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1064240"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85" name="Rounded Rectangle 184"/>
          <p:cNvSpPr/>
          <p:nvPr/>
        </p:nvSpPr>
        <p:spPr>
          <a:xfrm>
            <a:off x="14360652" y="7498079"/>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14415516" y="7498079"/>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87" name="Rounded Rectangle 186"/>
          <p:cNvSpPr/>
          <p:nvPr/>
        </p:nvSpPr>
        <p:spPr>
          <a:xfrm>
            <a:off x="722376" y="8065008"/>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923544" y="808329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89" name="TextBox 188"/>
          <p:cNvSpPr txBox="1"/>
          <p:nvPr/>
        </p:nvSpPr>
        <p:spPr>
          <a:xfrm>
            <a:off x="2916936" y="808329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90" name="Rectangle 189"/>
          <p:cNvSpPr/>
          <p:nvPr/>
        </p:nvSpPr>
        <p:spPr>
          <a:xfrm>
            <a:off x="923544" y="8403336"/>
            <a:ext cx="537673"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39500" y="8375904"/>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1516081" y="832104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93" name="Rounded Rectangle 192"/>
          <p:cNvSpPr/>
          <p:nvPr/>
        </p:nvSpPr>
        <p:spPr>
          <a:xfrm>
            <a:off x="4306824"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4361688"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95" name="Rounded Rectangle 194"/>
          <p:cNvSpPr/>
          <p:nvPr/>
        </p:nvSpPr>
        <p:spPr>
          <a:xfrm>
            <a:off x="7658100"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7712964"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97" name="Rounded Rectangle 196"/>
          <p:cNvSpPr/>
          <p:nvPr/>
        </p:nvSpPr>
        <p:spPr>
          <a:xfrm>
            <a:off x="11009376" y="8065008"/>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1064240" y="8065008"/>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99" name="Rounded Rectangle 198"/>
          <p:cNvSpPr/>
          <p:nvPr/>
        </p:nvSpPr>
        <p:spPr>
          <a:xfrm>
            <a:off x="14360652"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4415516"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201" name="Rectangle 200"/>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03" name="TextBox 202"/>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204" name="TextBox 20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2026은 보간 · 범용은 산술, 상세 6장) · HBM 과제팀 집계 · 공유 SSD p99 FlashBlox(FAST'17) · GPU당 대역 NVIDIA SuperPOD(환산) · KV 실측 StorageReview(2026-08) · AI 전용 Kioxia · DapuStor · 에이전트 Google · Muse 관측(제3자) · 제품군 Kioxia FL6 · LC9, Solidigm PS1010 · PS1030</a:t>
            </a:r>
          </a:p>
        </p:txBody>
      </p:sp>
      <p:sp>
        <p:nvSpPr>
          <p:cNvPr id="205" name="TextBox 20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6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6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6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내구</a:t>
            </a:r>
          </a:p>
          <a:p>
            <a:pPr algn="ctr">
              <a:lnSpc>
                <a:spcPct val="100000"/>
              </a:lnSpc>
            </a:pPr>
            <a:r>
              <a:rPr sz="1700" b="1">
                <a:solidFill>
                  <a:srgbClr val="1428A0"/>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QLC</a:t>
            </a:r>
          </a:p>
          <a:p>
            <a:pPr algn="ctr">
              <a:lnSpc>
                <a:spcPct val="100000"/>
              </a:lnSpc>
            </a:pPr>
            <a:r>
              <a:rPr sz="1700" b="1">
                <a:solidFill>
                  <a:srgbClr val="1428A0"/>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범위 46~509</a:t>
            </a:r>
          </a:p>
        </p:txBody>
      </p:sp>
      <p:sp>
        <p:nvSpPr>
          <p:cNvPr id="47" name="Oval 46"/>
          <p:cNvSpPr/>
          <p:nvPr/>
        </p:nvSpPr>
        <p:spPr>
          <a:xfrm>
            <a:off x="119694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핵심 기술</a:t>
            </a:r>
          </a:p>
        </p:txBody>
      </p:sp>
      <p:sp>
        <p:nvSpPr>
          <p:cNvPr id="78" name="Rectangle 7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6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6  참고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