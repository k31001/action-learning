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Meta와 삼성의 공동 연구였습니다.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데이터로 말씀드리겠습니다. 왼쪽 위는 셀이 견디는 쓰기 횟수입니다. SLC 10만 회에서 QLC 1천 회로 약 100배 줄었습니다. 그 옆은 고객의 캐시 계층이 실제로 쓰는 양입니다. QLC 정격은 하루 0.6회인데, Meta의 플래시 캐시는 하루 3회를 쓰기 예산으로 잡고, Meta 벌크 스토리지 캐시 연구는 7.2회를 목표로 둡니다. AI KV 캐시 계층을 실측하면 드라이브당 3.2회였습니다. 기준은 예산, 실측, 목표로 서로 다르지만 방향은 같습니다. 고객의 쓰기는 커지는데 셀 수명은 줄면, 보상은 늘 한 계층 위로 올라갔습니다. 첫 계단은 NAND에서 SSD입니다. 셀 오류율이 약 100만 배 나빠졌지만 컨트롤러 ECC가 약 60배 강해지면서 SSD 안에서 완결됐습니다. 둘째 계단은 SSD 혼자 하는 최적화입니다. 오른쪽이 그때 SSD 안에 쌓은 기술입니다. FTL과 ECC, GC와 웨어 레벨링 위에, 2014년부터 2019년까지 핫 · 콜드 추정, 스트림 분리(2014년 멀티 스트림, 2017년 자동 스트림), IO 결정성(2019년)을 더했습니다. 테일 지연과 성능은 좋아졌지만, 실제 워크로드에서 WAF는 약 3에 머물렀습니다. 데이터가 언제 지워지는지는 호스트만 알기 때문입니다. 셋째 계단이 고객 시스템과의 공동 설계입니다. 호스트가 데이터 수명을 알려 주는 FDP로 CacheLib은 WAF를 3.22에서 1.03으로 낮췄습니다. 고객은 이미 자기 시스템에서 이 문제와 싸우고 있습니다. Meta CacheLib 논문에 따르면, 캐시 쓰기를 그대로 두면 SSD 수명 예산의 1.5배가 됩니다. 그래서 Meta는 플래시를 50퍼센트 더 두고, 머신러닝 수용 정책이라는 자기 소프트웨어로 플래시 기록량을 44퍼센트 줄였습니다. 해법이 이미 고객 소프트웨어 안에 있다는 뜻입니다. 사양서를 받아 SSD를 잘 만드는 방식은 둘째 계단에 머뭅니다. 셋째 계단은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Meta · Samsung EuroSys'25)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212848"/>
            <a:ext cx="4937760" cy="365760"/>
          </a:xfrm>
          <a:prstGeom prst="rect">
            <a:avLst/>
          </a:prstGeom>
          <a:noFill/>
        </p:spPr>
        <p:txBody>
          <a:bodyPr wrap="square" anchor="ctr" lIns="0" rIns="0" tIns="0" bIns="0">
            <a:spAutoFit/>
          </a:bodyPr>
          <a:lstStyle/>
          <a:p>
            <a:pPr algn="l">
              <a:lnSpc>
                <a:spcPct val="110000"/>
              </a:lnSpc>
            </a:pPr>
            <a:r>
              <a:rPr sz="2000" b="1">
                <a:solidFill>
                  <a:srgbClr val="555555"/>
                </a:solidFill>
                <a:latin typeface="Arial"/>
                <a:ea typeface="Arial"/>
              </a:rPr>
              <a:t>▼ 셀이 견디는 쓰기  </a:t>
            </a:r>
            <a:r>
              <a:rPr sz="1600" b="0">
                <a:solidFill>
                  <a:srgbClr val="555555"/>
                </a:solidFill>
                <a:latin typeface="Arial"/>
                <a:ea typeface="Arial"/>
              </a:rPr>
              <a:t>P/E</a:t>
            </a:r>
          </a:p>
        </p:txBody>
      </p:sp>
      <p:sp>
        <p:nvSpPr>
          <p:cNvPr id="7" name="Rectangle 6"/>
          <p:cNvSpPr/>
          <p:nvPr/>
        </p:nvSpPr>
        <p:spPr>
          <a:xfrm>
            <a:off x="996696" y="3063239"/>
            <a:ext cx="731520" cy="178308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715768"/>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10만</a:t>
            </a:r>
          </a:p>
        </p:txBody>
      </p:sp>
      <p:sp>
        <p:nvSpPr>
          <p:cNvPr id="9" name="TextBox 8"/>
          <p:cNvSpPr txBox="1"/>
          <p:nvPr/>
        </p:nvSpPr>
        <p:spPr>
          <a:xfrm>
            <a:off x="813816"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SLC</a:t>
            </a:r>
          </a:p>
        </p:txBody>
      </p:sp>
      <p:sp>
        <p:nvSpPr>
          <p:cNvPr id="10" name="Rectangle 9"/>
          <p:cNvSpPr/>
          <p:nvPr/>
        </p:nvSpPr>
        <p:spPr>
          <a:xfrm>
            <a:off x="2112264" y="3657600"/>
            <a:ext cx="731520" cy="118871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9384" y="3310128"/>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1만</a:t>
            </a:r>
          </a:p>
        </p:txBody>
      </p:sp>
      <p:sp>
        <p:nvSpPr>
          <p:cNvPr id="12" name="TextBox 11"/>
          <p:cNvSpPr txBox="1"/>
          <p:nvPr/>
        </p:nvSpPr>
        <p:spPr>
          <a:xfrm>
            <a:off x="1929384"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MLC</a:t>
            </a:r>
          </a:p>
        </p:txBody>
      </p:sp>
      <p:sp>
        <p:nvSpPr>
          <p:cNvPr id="13" name="Rectangle 12"/>
          <p:cNvSpPr/>
          <p:nvPr/>
        </p:nvSpPr>
        <p:spPr>
          <a:xfrm>
            <a:off x="3227832" y="3968378"/>
            <a:ext cx="731520" cy="8779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44952" y="3620906"/>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3천</a:t>
            </a:r>
          </a:p>
        </p:txBody>
      </p:sp>
      <p:sp>
        <p:nvSpPr>
          <p:cNvPr id="15" name="TextBox 14"/>
          <p:cNvSpPr txBox="1"/>
          <p:nvPr/>
        </p:nvSpPr>
        <p:spPr>
          <a:xfrm>
            <a:off x="3044952"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TLC</a:t>
            </a:r>
          </a:p>
        </p:txBody>
      </p:sp>
      <p:sp>
        <p:nvSpPr>
          <p:cNvPr id="16" name="Rectangle 15"/>
          <p:cNvSpPr/>
          <p:nvPr/>
        </p:nvSpPr>
        <p:spPr>
          <a:xfrm>
            <a:off x="4343400" y="4251960"/>
            <a:ext cx="731520" cy="594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3904488"/>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1천</a:t>
            </a:r>
          </a:p>
        </p:txBody>
      </p:sp>
      <p:sp>
        <p:nvSpPr>
          <p:cNvPr id="18" name="TextBox 17"/>
          <p:cNvSpPr txBox="1"/>
          <p:nvPr/>
        </p:nvSpPr>
        <p:spPr>
          <a:xfrm>
            <a:off x="4160520"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QLC</a:t>
            </a:r>
          </a:p>
        </p:txBody>
      </p:sp>
      <p:sp>
        <p:nvSpPr>
          <p:cNvPr id="19" name="TextBox 18"/>
          <p:cNvSpPr txBox="1"/>
          <p:nvPr/>
        </p:nvSpPr>
        <p:spPr>
          <a:xfrm>
            <a:off x="2825496" y="2706624"/>
            <a:ext cx="2743200" cy="457200"/>
          </a:xfrm>
          <a:prstGeom prst="rect">
            <a:avLst/>
          </a:prstGeom>
          <a:noFill/>
        </p:spPr>
        <p:txBody>
          <a:bodyPr wrap="square" anchor="ctr" lIns="0" rIns="0" tIns="0" bIns="0">
            <a:spAutoFit/>
          </a:bodyPr>
          <a:lstStyle/>
          <a:p>
            <a:pPr algn="ctr">
              <a:lnSpc>
                <a:spcPct val="110000"/>
              </a:lnSpc>
            </a:pPr>
            <a:r>
              <a:rPr sz="2600" b="1">
                <a:solidFill>
                  <a:srgbClr val="555555"/>
                </a:solidFill>
                <a:latin typeface="Arial"/>
                <a:ea typeface="Arial"/>
              </a:rPr>
              <a:t>약 100배 ↓</a:t>
            </a:r>
          </a:p>
        </p:txBody>
      </p:sp>
      <p:sp>
        <p:nvSpPr>
          <p:cNvPr id="20" name="TextBox 19"/>
          <p:cNvSpPr txBox="1"/>
          <p:nvPr/>
        </p:nvSpPr>
        <p:spPr>
          <a:xfrm>
            <a:off x="6163056" y="2212848"/>
            <a:ext cx="548640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 고객 캐시가 쓰는 양  </a:t>
            </a:r>
            <a:r>
              <a:rPr sz="1600" b="0">
                <a:solidFill>
                  <a:srgbClr val="555555"/>
                </a:solidFill>
                <a:latin typeface="Arial"/>
                <a:ea typeface="Arial"/>
              </a:rPr>
              <a:t>DWPD</a:t>
            </a:r>
          </a:p>
        </p:txBody>
      </p:sp>
      <p:sp>
        <p:nvSpPr>
          <p:cNvPr id="21" name="Rectangle 20"/>
          <p:cNvSpPr/>
          <p:nvPr/>
        </p:nvSpPr>
        <p:spPr>
          <a:xfrm>
            <a:off x="9790507" y="2706624"/>
            <a:ext cx="9144" cy="202996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0759" y="4736592"/>
            <a:ext cx="54864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1</a:t>
            </a:r>
          </a:p>
        </p:txBody>
      </p:sp>
      <p:sp>
        <p:nvSpPr>
          <p:cNvPr id="23" name="Rectangle 22"/>
          <p:cNvSpPr/>
          <p:nvPr/>
        </p:nvSpPr>
        <p:spPr>
          <a:xfrm>
            <a:off x="11127536" y="2706624"/>
            <a:ext cx="9144" cy="202996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57788" y="4736592"/>
            <a:ext cx="54864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10</a:t>
            </a:r>
          </a:p>
        </p:txBody>
      </p:sp>
      <p:sp>
        <p:nvSpPr>
          <p:cNvPr id="25" name="TextBox 24"/>
          <p:cNvSpPr txBox="1"/>
          <p:nvPr/>
        </p:nvSpPr>
        <p:spPr>
          <a:xfrm>
            <a:off x="6163056" y="2761488"/>
            <a:ext cx="2624328" cy="402336"/>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26" name="Rectangle 25"/>
          <p:cNvSpPr/>
          <p:nvPr/>
        </p:nvSpPr>
        <p:spPr>
          <a:xfrm>
            <a:off x="8860536" y="2816352"/>
            <a:ext cx="637925"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53325" y="2761488"/>
            <a:ext cx="640080" cy="40233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28" name="TextBox 27"/>
          <p:cNvSpPr txBox="1"/>
          <p:nvPr/>
        </p:nvSpPr>
        <p:spPr>
          <a:xfrm>
            <a:off x="6163056" y="3255264"/>
            <a:ext cx="2624328" cy="402336"/>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Meta 플래시 캐시</a:t>
            </a:r>
          </a:p>
        </p:txBody>
      </p:sp>
      <p:sp>
        <p:nvSpPr>
          <p:cNvPr id="29" name="Rectangle 28"/>
          <p:cNvSpPr/>
          <p:nvPr/>
        </p:nvSpPr>
        <p:spPr>
          <a:xfrm>
            <a:off x="8860536" y="3310128"/>
            <a:ext cx="1572468"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87868" y="3255264"/>
            <a:ext cx="640080" cy="40233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a:t>
            </a:r>
          </a:p>
        </p:txBody>
      </p:sp>
      <p:sp>
        <p:nvSpPr>
          <p:cNvPr id="31" name="TextBox 30"/>
          <p:cNvSpPr txBox="1"/>
          <p:nvPr/>
        </p:nvSpPr>
        <p:spPr>
          <a:xfrm>
            <a:off x="6163056" y="3749039"/>
            <a:ext cx="2624328" cy="402336"/>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AI KV 캐시</a:t>
            </a:r>
          </a:p>
        </p:txBody>
      </p:sp>
      <p:sp>
        <p:nvSpPr>
          <p:cNvPr id="32" name="Rectangle 31"/>
          <p:cNvSpPr/>
          <p:nvPr/>
        </p:nvSpPr>
        <p:spPr>
          <a:xfrm>
            <a:off x="8860536" y="3803903"/>
            <a:ext cx="1609943"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25343" y="3749039"/>
            <a:ext cx="640080" cy="40233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34" name="TextBox 33"/>
          <p:cNvSpPr txBox="1"/>
          <p:nvPr/>
        </p:nvSpPr>
        <p:spPr>
          <a:xfrm>
            <a:off x="6163056" y="4242816"/>
            <a:ext cx="2624328" cy="40233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Meta 스토리지 캐시</a:t>
            </a:r>
          </a:p>
        </p:txBody>
      </p:sp>
      <p:sp>
        <p:nvSpPr>
          <p:cNvPr id="35" name="Rectangle 34"/>
          <p:cNvSpPr/>
          <p:nvPr/>
        </p:nvSpPr>
        <p:spPr>
          <a:xfrm>
            <a:off x="8860536" y="4297680"/>
            <a:ext cx="208082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96221" y="4242816"/>
            <a:ext cx="640080" cy="40233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7.2</a:t>
            </a:r>
          </a:p>
        </p:txBody>
      </p:sp>
      <p:sp>
        <p:nvSpPr>
          <p:cNvPr id="37" name="Rounded Rectangle 36"/>
          <p:cNvSpPr/>
          <p:nvPr/>
        </p:nvSpPr>
        <p:spPr>
          <a:xfrm>
            <a:off x="722376" y="5669280"/>
            <a:ext cx="5074920" cy="2926080"/>
          </a:xfrm>
          <a:prstGeom prst="roundRect">
            <a:avLst>
              <a:gd name="adj" fmla="val 2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6696" y="5779008"/>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39" name="Rounded Rectangle 38"/>
          <p:cNvSpPr/>
          <p:nvPr/>
        </p:nvSpPr>
        <p:spPr>
          <a:xfrm>
            <a:off x="4242816" y="5852160"/>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97679" y="5852160"/>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41" name="Picture 40" descr="render_nand.png"/>
          <p:cNvPicPr>
            <a:picLocks noChangeAspect="1"/>
          </p:cNvPicPr>
          <p:nvPr/>
        </p:nvPicPr>
        <p:blipFill>
          <a:blip r:embed="rId2"/>
          <a:stretch>
            <a:fillRect/>
          </a:stretch>
        </p:blipFill>
        <p:spPr>
          <a:xfrm>
            <a:off x="1132894" y="6601968"/>
            <a:ext cx="916323" cy="676656"/>
          </a:xfrm>
          <a:prstGeom prst="rect">
            <a:avLst/>
          </a:prstGeom>
        </p:spPr>
      </p:pic>
      <p:sp>
        <p:nvSpPr>
          <p:cNvPr id="42" name="Right Arrow 41"/>
          <p:cNvSpPr/>
          <p:nvPr/>
        </p:nvSpPr>
        <p:spPr>
          <a:xfrm>
            <a:off x="2240280" y="6830568"/>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render_ssd.png"/>
          <p:cNvPicPr>
            <a:picLocks noChangeAspect="1"/>
          </p:cNvPicPr>
          <p:nvPr/>
        </p:nvPicPr>
        <p:blipFill>
          <a:blip r:embed="rId3"/>
          <a:stretch>
            <a:fillRect/>
          </a:stretch>
        </p:blipFill>
        <p:spPr>
          <a:xfrm>
            <a:off x="2901799" y="6601968"/>
            <a:ext cx="1822496" cy="676656"/>
          </a:xfrm>
          <a:prstGeom prst="rect">
            <a:avLst/>
          </a:prstGeom>
        </p:spPr>
      </p:pic>
      <p:sp>
        <p:nvSpPr>
          <p:cNvPr id="44" name="TextBox 43"/>
          <p:cNvSpPr txBox="1"/>
          <p:nvPr/>
        </p:nvSpPr>
        <p:spPr>
          <a:xfrm>
            <a:off x="996696" y="7333488"/>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45" name="TextBox 44"/>
          <p:cNvSpPr txBox="1"/>
          <p:nvPr/>
        </p:nvSpPr>
        <p:spPr>
          <a:xfrm>
            <a:off x="996696" y="7973568"/>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46" name="Rounded Rectangle 45"/>
          <p:cNvSpPr/>
          <p:nvPr/>
        </p:nvSpPr>
        <p:spPr>
          <a:xfrm>
            <a:off x="5980176" y="5138928"/>
            <a:ext cx="5394960" cy="3456432"/>
          </a:xfrm>
          <a:prstGeom prst="roundRect">
            <a:avLst>
              <a:gd name="adj" fmla="val 211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54496" y="524865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48" name="Rounded Rectangle 47"/>
          <p:cNvSpPr/>
          <p:nvPr/>
        </p:nvSpPr>
        <p:spPr>
          <a:xfrm>
            <a:off x="9820656" y="532180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75520" y="532180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50" name="Picture 49" descr="render_ssd.png"/>
          <p:cNvPicPr>
            <a:picLocks noChangeAspect="1"/>
          </p:cNvPicPr>
          <p:nvPr/>
        </p:nvPicPr>
        <p:blipFill>
          <a:blip r:embed="rId3"/>
          <a:stretch>
            <a:fillRect/>
          </a:stretch>
        </p:blipFill>
        <p:spPr>
          <a:xfrm>
            <a:off x="6292757" y="6163056"/>
            <a:ext cx="2118036" cy="786384"/>
          </a:xfrm>
          <a:prstGeom prst="rect">
            <a:avLst/>
          </a:prstGeom>
        </p:spPr>
      </p:pic>
      <p:sp>
        <p:nvSpPr>
          <p:cNvPr id="51" name="TextBox 50"/>
          <p:cNvSpPr txBox="1"/>
          <p:nvPr/>
        </p:nvSpPr>
        <p:spPr>
          <a:xfrm>
            <a:off x="6254496" y="7168896"/>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52" name="TextBox 51"/>
          <p:cNvSpPr txBox="1"/>
          <p:nvPr/>
        </p:nvSpPr>
        <p:spPr>
          <a:xfrm>
            <a:off x="6254496" y="7808975"/>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53" name="Rounded Rectangle 52"/>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55" name="Rounded Rectangle 54"/>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57" name="Picture 56"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58" name="Picture 57"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59" name="TextBox 58"/>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60" name="TextBox 59"/>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61" name="TextBox 60"/>
          <p:cNvSpPr txBox="1"/>
          <p:nvPr/>
        </p:nvSpPr>
        <p:spPr>
          <a:xfrm>
            <a:off x="8741664" y="5815584"/>
            <a:ext cx="2377440"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62" name="Rounded Rectangle 61"/>
          <p:cNvSpPr/>
          <p:nvPr/>
        </p:nvSpPr>
        <p:spPr>
          <a:xfrm>
            <a:off x="8741664" y="6217920"/>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869680" y="6217920"/>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64" name="Rounded Rectangle 63"/>
          <p:cNvSpPr/>
          <p:nvPr/>
        </p:nvSpPr>
        <p:spPr>
          <a:xfrm>
            <a:off x="8741664" y="6638544"/>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869680" y="6638544"/>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66" name="TextBox 65"/>
          <p:cNvSpPr txBox="1"/>
          <p:nvPr/>
        </p:nvSpPr>
        <p:spPr>
          <a:xfrm>
            <a:off x="8869680" y="6638544"/>
            <a:ext cx="2121408" cy="365760"/>
          </a:xfrm>
          <a:prstGeom prst="rect">
            <a:avLst/>
          </a:prstGeom>
          <a:noFill/>
        </p:spPr>
        <p:txBody>
          <a:bodyPr wrap="square" anchor="ctr" lIns="0" rIns="0" tIns="0" bIns="0">
            <a:spAutoFit/>
          </a:bodyPr>
          <a:lstStyle/>
          <a:p>
            <a:pPr algn="r">
              <a:lnSpc>
                <a:spcPct val="110000"/>
              </a:lnSpc>
            </a:pPr>
            <a:r>
              <a:rPr sz="1600" b="0">
                <a:solidFill>
                  <a:srgbClr val="D9D9D9"/>
                </a:solidFill>
                <a:latin typeface="Arial"/>
                <a:ea typeface="Arial"/>
              </a:rPr>
              <a:t>2014~17</a:t>
            </a:r>
          </a:p>
        </p:txBody>
      </p:sp>
      <p:sp>
        <p:nvSpPr>
          <p:cNvPr id="67" name="Rounded Rectangle 66"/>
          <p:cNvSpPr/>
          <p:nvPr/>
        </p:nvSpPr>
        <p:spPr>
          <a:xfrm>
            <a:off x="8741664" y="7059168"/>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869680" y="7059168"/>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69" name="TextBox 68"/>
          <p:cNvSpPr txBox="1"/>
          <p:nvPr/>
        </p:nvSpPr>
        <p:spPr>
          <a:xfrm>
            <a:off x="8869680" y="7059168"/>
            <a:ext cx="2121408" cy="365760"/>
          </a:xfrm>
          <a:prstGeom prst="rect">
            <a:avLst/>
          </a:prstGeom>
          <a:noFill/>
        </p:spPr>
        <p:txBody>
          <a:bodyPr wrap="square" anchor="ctr" lIns="0" rIns="0" tIns="0" bIns="0">
            <a:spAutoFit/>
          </a:bodyPr>
          <a:lstStyle/>
          <a:p>
            <a:pPr algn="r">
              <a:lnSpc>
                <a:spcPct val="110000"/>
              </a:lnSpc>
            </a:pPr>
            <a:r>
              <a:rPr sz="1600" b="0">
                <a:solidFill>
                  <a:srgbClr val="D9D9D9"/>
                </a:solidFill>
                <a:latin typeface="Arial"/>
                <a:ea typeface="Arial"/>
              </a:rPr>
              <a:t>2019</a:t>
            </a:r>
          </a:p>
        </p:txBody>
      </p:sp>
      <p:sp>
        <p:nvSpPr>
          <p:cNvPr id="70" name="Rounded Rectangle 69"/>
          <p:cNvSpPr/>
          <p:nvPr/>
        </p:nvSpPr>
        <p:spPr>
          <a:xfrm>
            <a:off x="8741664" y="7479792"/>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869680" y="7479792"/>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72" name="Rounded Rectangle 71"/>
          <p:cNvSpPr/>
          <p:nvPr/>
        </p:nvSpPr>
        <p:spPr>
          <a:xfrm>
            <a:off x="8741664" y="7900416"/>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869680" y="7900416"/>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74" name="Rounded Rectangle 73"/>
          <p:cNvSpPr/>
          <p:nvPr/>
        </p:nvSpPr>
        <p:spPr>
          <a:xfrm>
            <a:off x="11795760" y="5504688"/>
            <a:ext cx="5532120" cy="2871216"/>
          </a:xfrm>
          <a:prstGeom prst="roundRect">
            <a:avLst>
              <a:gd name="adj" fmla="val 254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meta.png"/>
          <p:cNvPicPr>
            <a:picLocks noChangeAspect="1"/>
          </p:cNvPicPr>
          <p:nvPr/>
        </p:nvPicPr>
        <p:blipFill>
          <a:blip r:embed="rId5"/>
          <a:stretch>
            <a:fillRect/>
          </a:stretch>
        </p:blipFill>
        <p:spPr>
          <a:xfrm>
            <a:off x="11996928" y="5694883"/>
            <a:ext cx="1097280" cy="223113"/>
          </a:xfrm>
          <a:prstGeom prst="rect">
            <a:avLst/>
          </a:prstGeom>
        </p:spPr>
      </p:pic>
      <p:sp>
        <p:nvSpPr>
          <p:cNvPr id="76" name="TextBox 75"/>
          <p:cNvSpPr txBox="1"/>
          <p:nvPr/>
        </p:nvSpPr>
        <p:spPr>
          <a:xfrm>
            <a:off x="13203936" y="5614416"/>
            <a:ext cx="219456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CacheLib</a:t>
            </a:r>
          </a:p>
        </p:txBody>
      </p:sp>
      <p:sp>
        <p:nvSpPr>
          <p:cNvPr id="77" name="Rectangle 76"/>
          <p:cNvSpPr/>
          <p:nvPr/>
        </p:nvSpPr>
        <p:spPr>
          <a:xfrm>
            <a:off x="11996928" y="6345936"/>
            <a:ext cx="2331720" cy="4937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06656" y="6345936"/>
            <a:ext cx="1645920" cy="493776"/>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쓰기 수요</a:t>
            </a:r>
          </a:p>
        </p:txBody>
      </p:sp>
      <p:sp>
        <p:nvSpPr>
          <p:cNvPr id="79" name="TextBox 78"/>
          <p:cNvSpPr txBox="1"/>
          <p:nvPr/>
        </p:nvSpPr>
        <p:spPr>
          <a:xfrm>
            <a:off x="14401800" y="6345936"/>
            <a:ext cx="914400" cy="493776"/>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150%</a:t>
            </a:r>
          </a:p>
        </p:txBody>
      </p:sp>
      <p:sp>
        <p:nvSpPr>
          <p:cNvPr id="80" name="Rectangle 79"/>
          <p:cNvSpPr/>
          <p:nvPr/>
        </p:nvSpPr>
        <p:spPr>
          <a:xfrm>
            <a:off x="11996928" y="7004303"/>
            <a:ext cx="1554480" cy="4937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106656" y="7004303"/>
            <a:ext cx="1645920" cy="49377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수명 예산</a:t>
            </a:r>
          </a:p>
        </p:txBody>
      </p:sp>
      <p:sp>
        <p:nvSpPr>
          <p:cNvPr id="82" name="TextBox 81"/>
          <p:cNvSpPr txBox="1"/>
          <p:nvPr/>
        </p:nvSpPr>
        <p:spPr>
          <a:xfrm>
            <a:off x="13624560" y="7004303"/>
            <a:ext cx="914400" cy="493776"/>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100%</a:t>
            </a:r>
          </a:p>
        </p:txBody>
      </p:sp>
      <p:sp>
        <p:nvSpPr>
          <p:cNvPr id="83" name="Rectangle 82"/>
          <p:cNvSpPr/>
          <p:nvPr/>
        </p:nvSpPr>
        <p:spPr>
          <a:xfrm>
            <a:off x="15261336" y="6236207"/>
            <a:ext cx="10972" cy="18288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5380208" y="6345936"/>
            <a:ext cx="1947672" cy="914400"/>
          </a:xfrm>
          <a:prstGeom prst="rect">
            <a:avLst/>
          </a:prstGeom>
          <a:noFill/>
        </p:spPr>
        <p:txBody>
          <a:bodyPr wrap="square" anchor="ctr" lIns="0" rIns="0" tIns="0" bIns="0">
            <a:spAutoFit/>
          </a:bodyPr>
          <a:lstStyle/>
          <a:p>
            <a:pPr algn="l">
              <a:lnSpc>
                <a:spcPct val="110000"/>
              </a:lnSpc>
            </a:pPr>
            <a:r>
              <a:rPr sz="4600" b="1">
                <a:solidFill>
                  <a:srgbClr val="1428A0"/>
                </a:solidFill>
                <a:latin typeface="Arial"/>
                <a:ea typeface="Arial"/>
              </a:rPr>
              <a:t>-44%</a:t>
            </a:r>
          </a:p>
        </p:txBody>
      </p:sp>
      <p:sp>
        <p:nvSpPr>
          <p:cNvPr id="85" name="TextBox 84"/>
          <p:cNvSpPr txBox="1"/>
          <p:nvPr/>
        </p:nvSpPr>
        <p:spPr>
          <a:xfrm>
            <a:off x="15380208" y="7278623"/>
            <a:ext cx="1947672"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SW로</a:t>
            </a:r>
          </a:p>
        </p:txBody>
      </p:sp>
      <p:sp>
        <p:nvSpPr>
          <p:cNvPr id="86" name="Chevron 85"/>
          <p:cNvSpPr/>
          <p:nvPr/>
        </p:nvSpPr>
        <p:spPr>
          <a:xfrm>
            <a:off x="5815584" y="69494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Chevron 86"/>
          <p:cNvSpPr/>
          <p:nvPr/>
        </p:nvSpPr>
        <p:spPr>
          <a:xfrm>
            <a:off x="11393424" y="64922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90" name="TextBox 89"/>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91" name="TextBox 9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해법 사다리 원장(JESD218 · LDPC · 스트림 '14 · '17 · NVMe 1.4 · FDP TP4146 · CacheLib + FDP 3.22 → 1.03, EuroSys'25) · 캐시 DWPD: Kangaroo 예산 3 · Baleen 목표 7.2 · StorageReview KV 실측 3.2 · CacheLib 150% · -44%(OSDI'20) · 기준(예산 · 실측 · 목표)이 서로 다름 · 부품 이미지는 3D 렌더</a:t>
            </a:r>
          </a:p>
        </p:txBody>
      </p:sp>
      <p:sp>
        <p:nvSpPr>
          <p:cNvPr id="92" name="TextBox 9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