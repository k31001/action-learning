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데이터로 말씀드리겠습니다. 위쪽 그래프 넷은 지난 10~15년 동안 데이터센터 SSD가 혼자서 얼마나 성장했는지입니다. 4K 랜덤 읽기는 2012년 7만 5천 IOPS에서 2026년 680만 IOPS로 약 90배, 와트당 읽기 성능은 83에서 1,120MB/s로 약 13배, 1달러로 사는 NAND 용량은 2010년 0.56GB에서 2024년 13GB로 약 24배 늘었습니다. NAND 세대, 컨트롤러, 인터페이스 세대가 만든 성장이고, 모두 SSD 안에서 이룬 것입니다. 그런데 오른쪽 정격 DWPD는 반대입니다. 2012년 고내구 드라이브의 10에서 지금 플래그십 1로, QLC는 0.26까지 내려왔습니다. 셀이 견디는 쓰기가 SLC 10만 회에서 QLC 1천 회로 약 100배 줄었기 때문입니다. 고내구 등급에서 읽기 위주 등급으로 옮겨 간 영향도 섞여 있지만, 고객 캐시 계층은 하루 3회에서 7.2회를 씁니다. 이 띠와 정격 사이의 간격이 지금의 과제입니다. 아래 계단은 이 간격을 어디서 메워 왔는지입니다. 첫 계단 NAND에서 SSD로는 컨트롤러 ECC가 약 60배 강해지면서 SSD 안에서 완결됐습니다. 둘째 계단은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셋째 계단이 고객 시스템과의 공동 설계입니다. 삼성 엔지니어가 Meta의 오픈소스 CacheLib 안에 FDP 배치를 구현했고, WAF가 3.22에서 1.03으로 내려갔습니다. 이 방향은 이미 주요 데이터센터 기업의 흐름입니다. Baidu는 2014년 하드웨어와 소프트웨어를 함께 설계한 자체 SSD를 3천 대 넘게 배치했습니다. Google은 2016년 논문에서 자체 인터페이스와 펌웨어를 얹은 자체 설계 SSD를 운용한다고 밝혔고, 지금은 Titanium SSD를 씁니다. Alibaba는 2016년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Microsoft와 Meta는 SSD를 직접 만들지 않지만 OCP SSD 스펙과 FDP 표준을 직접 썼고, ByteDance도 사내 SSD 개발 조직을 공개했습니다. Tencent는 공개 근거를 찾지 못했습니다. 고객은 이미 자기 시스템에 맞춰 SSD를 설계하고 있습니다. 사양서를 받아 SSD를 잘 만드는 방식은 둘째 계단에 머물고, 셋째 계단은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5.png"/><Relationship Id="rId9" Type="http://schemas.openxmlformats.org/officeDocument/2006/relationships/image" Target="../media/image7.png"/><Relationship Id="rId10" Type="http://schemas.openxmlformats.org/officeDocument/2006/relationships/image" Target="../media/image4.png"/><Relationship Id="rId11" Type="http://schemas.openxmlformats.org/officeDocument/2006/relationships/image" Target="../media/image14.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76272"/>
            <a:ext cx="25146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  </a:t>
            </a:r>
            <a:r>
              <a:rPr sz="2400" b="1">
                <a:solidFill>
                  <a:srgbClr val="1A1A1A"/>
                </a:solidFill>
                <a:latin typeface="Arial"/>
                <a:ea typeface="Arial"/>
              </a:rPr>
              <a:t>×90</a:t>
            </a:r>
          </a:p>
        </p:txBody>
      </p:sp>
      <p:sp>
        <p:nvSpPr>
          <p:cNvPr id="7" name="TextBox 6"/>
          <p:cNvSpPr txBox="1"/>
          <p:nvPr/>
        </p:nvSpPr>
        <p:spPr>
          <a:xfrm>
            <a:off x="722376" y="2560320"/>
            <a:ext cx="251460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랜덤 읽기 IOPS (로그 축)</a:t>
            </a:r>
          </a:p>
        </p:txBody>
      </p:sp>
      <p:sp>
        <p:nvSpPr>
          <p:cNvPr id="8" name="Rectangle 7"/>
          <p:cNvSpPr/>
          <p:nvPr/>
        </p:nvSpPr>
        <p:spPr>
          <a:xfrm>
            <a:off x="813816" y="4553712"/>
            <a:ext cx="23317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1269873" y="3672982"/>
            <a:ext cx="354901" cy="559537"/>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624774" y="3504544"/>
            <a:ext cx="473202" cy="168438"/>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97976" y="3380412"/>
            <a:ext cx="354902" cy="124132"/>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452878" y="3312946"/>
            <a:ext cx="236601" cy="67466"/>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689479" y="3137254"/>
            <a:ext cx="236601" cy="175692"/>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219581" y="4182227"/>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74482" y="3622690"/>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047684" y="3454252"/>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02586" y="3330120"/>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39187" y="3262654"/>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75788" y="3086962"/>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4113" y="4287383"/>
            <a:ext cx="731520" cy="256032"/>
          </a:xfrm>
          <a:prstGeom prst="rect">
            <a:avLst/>
          </a:prstGeom>
          <a:noFill/>
        </p:spPr>
        <p:txBody>
          <a:bodyPr wrap="square" anchor="ctr" lIns="0" rIns="0" tIns="0" bIns="0">
            <a:spAutoFit/>
          </a:bodyPr>
          <a:lstStyle/>
          <a:p>
            <a:pPr algn="ctr">
              <a:lnSpc>
                <a:spcPct val="110000"/>
              </a:lnSpc>
            </a:pPr>
            <a:r>
              <a:rPr sz="1600" b="0">
                <a:solidFill>
                  <a:srgbClr val="555555"/>
                </a:solidFill>
                <a:latin typeface="Arial"/>
                <a:ea typeface="Arial"/>
              </a:rPr>
              <a:t>75K</a:t>
            </a:r>
          </a:p>
        </p:txBody>
      </p:sp>
      <p:sp>
        <p:nvSpPr>
          <p:cNvPr id="21" name="TextBox 20"/>
          <p:cNvSpPr txBox="1"/>
          <p:nvPr/>
        </p:nvSpPr>
        <p:spPr>
          <a:xfrm>
            <a:off x="2286000" y="2753206"/>
            <a:ext cx="822960" cy="292608"/>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6.8M</a:t>
            </a:r>
          </a:p>
        </p:txBody>
      </p:sp>
      <p:sp>
        <p:nvSpPr>
          <p:cNvPr id="22" name="TextBox 21"/>
          <p:cNvSpPr txBox="1"/>
          <p:nvPr/>
        </p:nvSpPr>
        <p:spPr>
          <a:xfrm>
            <a:off x="713232"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2010</a:t>
            </a:r>
          </a:p>
        </p:txBody>
      </p:sp>
      <p:sp>
        <p:nvSpPr>
          <p:cNvPr id="23" name="TextBox 22"/>
          <p:cNvSpPr txBox="1"/>
          <p:nvPr/>
        </p:nvSpPr>
        <p:spPr>
          <a:xfrm>
            <a:off x="1659636"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2018</a:t>
            </a:r>
          </a:p>
        </p:txBody>
      </p:sp>
      <p:sp>
        <p:nvSpPr>
          <p:cNvPr id="24" name="TextBox 23"/>
          <p:cNvSpPr txBox="1"/>
          <p:nvPr/>
        </p:nvSpPr>
        <p:spPr>
          <a:xfrm>
            <a:off x="2606040"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25" name="TextBox 24"/>
          <p:cNvSpPr txBox="1"/>
          <p:nvPr/>
        </p:nvSpPr>
        <p:spPr>
          <a:xfrm>
            <a:off x="3438144" y="2176272"/>
            <a:ext cx="25146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  </a:t>
            </a:r>
            <a:r>
              <a:rPr sz="2400" b="1">
                <a:solidFill>
                  <a:srgbClr val="1A1A1A"/>
                </a:solidFill>
                <a:latin typeface="Arial"/>
                <a:ea typeface="Arial"/>
              </a:rPr>
              <a:t>×13</a:t>
            </a:r>
          </a:p>
        </p:txBody>
      </p:sp>
      <p:sp>
        <p:nvSpPr>
          <p:cNvPr id="26" name="TextBox 25"/>
          <p:cNvSpPr txBox="1"/>
          <p:nvPr/>
        </p:nvSpPr>
        <p:spPr>
          <a:xfrm>
            <a:off x="3438144" y="2560320"/>
            <a:ext cx="251460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MB/s per W (로그 축)</a:t>
            </a:r>
          </a:p>
        </p:txBody>
      </p:sp>
      <p:sp>
        <p:nvSpPr>
          <p:cNvPr id="27" name="Rectangle 26"/>
          <p:cNvSpPr/>
          <p:nvPr/>
        </p:nvSpPr>
        <p:spPr>
          <a:xfrm>
            <a:off x="3529584" y="4553712"/>
            <a:ext cx="23317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3985641" y="4028451"/>
            <a:ext cx="354901" cy="148590"/>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340542" y="3644375"/>
            <a:ext cx="473202" cy="384076"/>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13744" y="3439968"/>
            <a:ext cx="354902" cy="204407"/>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168646" y="3213846"/>
            <a:ext cx="473202" cy="226122"/>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935349" y="412674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290250" y="397815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763452" y="3594083"/>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118354" y="3389676"/>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591556" y="3163554"/>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19881" y="4231905"/>
            <a:ext cx="731520" cy="256032"/>
          </a:xfrm>
          <a:prstGeom prst="rect">
            <a:avLst/>
          </a:prstGeom>
          <a:noFill/>
        </p:spPr>
        <p:txBody>
          <a:bodyPr wrap="square" anchor="ctr" lIns="0" rIns="0" tIns="0" bIns="0">
            <a:spAutoFit/>
          </a:bodyPr>
          <a:lstStyle/>
          <a:p>
            <a:pPr algn="ctr">
              <a:lnSpc>
                <a:spcPct val="110000"/>
              </a:lnSpc>
            </a:pPr>
            <a:r>
              <a:rPr sz="1600" b="0">
                <a:solidFill>
                  <a:srgbClr val="555555"/>
                </a:solidFill>
                <a:latin typeface="Arial"/>
                <a:ea typeface="Arial"/>
              </a:rPr>
              <a:t>83</a:t>
            </a:r>
          </a:p>
        </p:txBody>
      </p:sp>
      <p:sp>
        <p:nvSpPr>
          <p:cNvPr id="38" name="TextBox 37"/>
          <p:cNvSpPr txBox="1"/>
          <p:nvPr/>
        </p:nvSpPr>
        <p:spPr>
          <a:xfrm>
            <a:off x="5001768" y="2829798"/>
            <a:ext cx="822960" cy="292608"/>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1,120</a:t>
            </a:r>
          </a:p>
        </p:txBody>
      </p:sp>
      <p:sp>
        <p:nvSpPr>
          <p:cNvPr id="39" name="TextBox 38"/>
          <p:cNvSpPr txBox="1"/>
          <p:nvPr/>
        </p:nvSpPr>
        <p:spPr>
          <a:xfrm>
            <a:off x="3429000"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2010</a:t>
            </a:r>
          </a:p>
        </p:txBody>
      </p:sp>
      <p:sp>
        <p:nvSpPr>
          <p:cNvPr id="40" name="TextBox 39"/>
          <p:cNvSpPr txBox="1"/>
          <p:nvPr/>
        </p:nvSpPr>
        <p:spPr>
          <a:xfrm>
            <a:off x="4375404"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2018</a:t>
            </a:r>
          </a:p>
        </p:txBody>
      </p:sp>
      <p:sp>
        <p:nvSpPr>
          <p:cNvPr id="41" name="TextBox 40"/>
          <p:cNvSpPr txBox="1"/>
          <p:nvPr/>
        </p:nvSpPr>
        <p:spPr>
          <a:xfrm>
            <a:off x="5321808"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42" name="TextBox 41"/>
          <p:cNvSpPr txBox="1"/>
          <p:nvPr/>
        </p:nvSpPr>
        <p:spPr>
          <a:xfrm>
            <a:off x="6153912" y="2176272"/>
            <a:ext cx="25146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가성비  </a:t>
            </a:r>
            <a:r>
              <a:rPr sz="2400" b="1">
                <a:solidFill>
                  <a:srgbClr val="1A1A1A"/>
                </a:solidFill>
                <a:latin typeface="Arial"/>
                <a:ea typeface="Arial"/>
              </a:rPr>
              <a:t>×24</a:t>
            </a:r>
          </a:p>
        </p:txBody>
      </p:sp>
      <p:sp>
        <p:nvSpPr>
          <p:cNvPr id="43" name="TextBox 42"/>
          <p:cNvSpPr txBox="1"/>
          <p:nvPr/>
        </p:nvSpPr>
        <p:spPr>
          <a:xfrm>
            <a:off x="6153912" y="2560320"/>
            <a:ext cx="251460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1달러당 GB (로그 축)</a:t>
            </a:r>
          </a:p>
        </p:txBody>
      </p:sp>
      <p:sp>
        <p:nvSpPr>
          <p:cNvPr id="44" name="Rectangle 43"/>
          <p:cNvSpPr/>
          <p:nvPr/>
        </p:nvSpPr>
        <p:spPr>
          <a:xfrm>
            <a:off x="6245352" y="4553712"/>
            <a:ext cx="23317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flipV="1">
            <a:off x="6464808" y="3894985"/>
            <a:ext cx="354901" cy="292146"/>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819709" y="3710930"/>
            <a:ext cx="354902" cy="184055"/>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7174611" y="3639998"/>
            <a:ext cx="236601" cy="70932"/>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411212" y="3454154"/>
            <a:ext cx="236601" cy="185844"/>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647813" y="3371434"/>
            <a:ext cx="236601" cy="82720"/>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84414" y="3192121"/>
            <a:ext cx="118300" cy="179313"/>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002714" y="3192121"/>
            <a:ext cx="118301" cy="113530"/>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414516" y="413683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769417" y="3844693"/>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124319" y="3660638"/>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60920" y="3589706"/>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7597521" y="3403862"/>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834122" y="3321142"/>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952422" y="314182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70723" y="325535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99048" y="4241995"/>
            <a:ext cx="731520" cy="256032"/>
          </a:xfrm>
          <a:prstGeom prst="rect">
            <a:avLst/>
          </a:prstGeom>
          <a:noFill/>
        </p:spPr>
        <p:txBody>
          <a:bodyPr wrap="square" anchor="ctr" lIns="0" rIns="0" tIns="0" bIns="0">
            <a:spAutoFit/>
          </a:bodyPr>
          <a:lstStyle/>
          <a:p>
            <a:pPr algn="ctr">
              <a:lnSpc>
                <a:spcPct val="110000"/>
              </a:lnSpc>
            </a:pPr>
            <a:r>
              <a:rPr sz="1600" b="0">
                <a:solidFill>
                  <a:srgbClr val="555555"/>
                </a:solidFill>
                <a:latin typeface="Arial"/>
                <a:ea typeface="Arial"/>
              </a:rPr>
              <a:t>0.56</a:t>
            </a:r>
          </a:p>
        </p:txBody>
      </p:sp>
      <p:sp>
        <p:nvSpPr>
          <p:cNvPr id="61" name="TextBox 60"/>
          <p:cNvSpPr txBox="1"/>
          <p:nvPr/>
        </p:nvSpPr>
        <p:spPr>
          <a:xfrm>
            <a:off x="8212454" y="3159347"/>
            <a:ext cx="45720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13</a:t>
            </a:r>
          </a:p>
        </p:txBody>
      </p:sp>
      <p:sp>
        <p:nvSpPr>
          <p:cNvPr id="62" name="TextBox 61"/>
          <p:cNvSpPr txBox="1"/>
          <p:nvPr/>
        </p:nvSpPr>
        <p:spPr>
          <a:xfrm>
            <a:off x="6144768"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2010</a:t>
            </a:r>
          </a:p>
        </p:txBody>
      </p:sp>
      <p:sp>
        <p:nvSpPr>
          <p:cNvPr id="63" name="TextBox 62"/>
          <p:cNvSpPr txBox="1"/>
          <p:nvPr/>
        </p:nvSpPr>
        <p:spPr>
          <a:xfrm>
            <a:off x="7091172"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2018</a:t>
            </a:r>
          </a:p>
        </p:txBody>
      </p:sp>
      <p:sp>
        <p:nvSpPr>
          <p:cNvPr id="64" name="TextBox 63"/>
          <p:cNvSpPr txBox="1"/>
          <p:nvPr/>
        </p:nvSpPr>
        <p:spPr>
          <a:xfrm>
            <a:off x="8037576"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65" name="TextBox 64"/>
          <p:cNvSpPr txBox="1"/>
          <p:nvPr/>
        </p:nvSpPr>
        <p:spPr>
          <a:xfrm>
            <a:off x="8869680" y="2176272"/>
            <a:ext cx="25146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DWPD  </a:t>
            </a:r>
            <a:r>
              <a:rPr sz="2400" b="1">
                <a:solidFill>
                  <a:srgbClr val="1428A0"/>
                </a:solidFill>
                <a:latin typeface="Arial"/>
                <a:ea typeface="Arial"/>
              </a:rPr>
              <a:t>10 → 1</a:t>
            </a:r>
          </a:p>
        </p:txBody>
      </p:sp>
      <p:sp>
        <p:nvSpPr>
          <p:cNvPr id="66" name="TextBox 65"/>
          <p:cNvSpPr txBox="1"/>
          <p:nvPr/>
        </p:nvSpPr>
        <p:spPr>
          <a:xfrm>
            <a:off x="8869680" y="2560320"/>
            <a:ext cx="251460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정격 하루 쓰기 (로그 축)</a:t>
            </a:r>
          </a:p>
        </p:txBody>
      </p:sp>
      <p:sp>
        <p:nvSpPr>
          <p:cNvPr id="67" name="Rectangle 66"/>
          <p:cNvSpPr/>
          <p:nvPr/>
        </p:nvSpPr>
        <p:spPr>
          <a:xfrm>
            <a:off x="8961119" y="4553712"/>
            <a:ext cx="23317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0363580" y="3246984"/>
            <a:ext cx="709803" cy="295515"/>
          </a:xfrm>
          <a:prstGeom prst="rect">
            <a:avLst/>
          </a:prstGeom>
          <a:solidFill>
            <a:srgbClr val="EEF1FA"/>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336024" y="2963520"/>
            <a:ext cx="1828800" cy="256032"/>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캐시 3~7.2</a:t>
            </a:r>
          </a:p>
        </p:txBody>
      </p:sp>
      <p:cxnSp>
        <p:nvCxnSpPr>
          <p:cNvPr id="70" name="Connector 69"/>
          <p:cNvCxnSpPr/>
          <p:nvPr/>
        </p:nvCxnSpPr>
        <p:spPr>
          <a:xfrm>
            <a:off x="9417176" y="3136097"/>
            <a:ext cx="354902" cy="233972"/>
          </a:xfrm>
          <a:prstGeom prst="line">
            <a:avLst/>
          </a:prstGeom>
          <a:ln w="28575">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772078" y="3370069"/>
            <a:ext cx="473202" cy="543268"/>
          </a:xfrm>
          <a:prstGeom prst="line">
            <a:avLst/>
          </a:prstGeom>
          <a:ln w="28575">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245280" y="3913337"/>
            <a:ext cx="354902" cy="0"/>
          </a:xfrm>
          <a:prstGeom prst="line">
            <a:avLst/>
          </a:prstGeom>
          <a:ln w="28575">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0600182" y="3913337"/>
            <a:ext cx="236600" cy="0"/>
          </a:xfrm>
          <a:prstGeom prst="line">
            <a:avLst/>
          </a:prstGeom>
          <a:ln w="28575">
            <a:solidFill>
              <a:srgbClr val="1428A0"/>
            </a:solidFill>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9366884" y="308580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721786" y="3319777"/>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10194988" y="386304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10549890" y="386304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0786490" y="386304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Connector 78"/>
          <p:cNvCxnSpPr/>
          <p:nvPr/>
        </p:nvCxnSpPr>
        <p:spPr>
          <a:xfrm>
            <a:off x="10481881" y="4214297"/>
            <a:ext cx="354901" cy="153746"/>
          </a:xfrm>
          <a:prstGeom prst="line">
            <a:avLst/>
          </a:prstGeom>
          <a:ln w="28575">
            <a:solidFill>
              <a:srgbClr val="8A8A8A"/>
            </a:solidFill>
          </a:ln>
        </p:spPr>
        <p:style>
          <a:lnRef idx="2">
            <a:schemeClr val="accent1"/>
          </a:lnRef>
          <a:fillRef idx="0">
            <a:schemeClr val="accent1"/>
          </a:fillRef>
          <a:effectRef idx="1">
            <a:schemeClr val="accent1"/>
          </a:effectRef>
          <a:fontRef idx="minor">
            <a:schemeClr val="tx1"/>
          </a:fontRef>
        </p:style>
      </p:cxnSp>
      <p:sp>
        <p:nvSpPr>
          <p:cNvPr id="80" name="Oval 79"/>
          <p:cNvSpPr/>
          <p:nvPr/>
        </p:nvSpPr>
        <p:spPr>
          <a:xfrm>
            <a:off x="10431589" y="4164005"/>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786490" y="4317751"/>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051416" y="3190961"/>
            <a:ext cx="731520" cy="256032"/>
          </a:xfrm>
          <a:prstGeom prst="rect">
            <a:avLst/>
          </a:prstGeom>
          <a:noFill/>
        </p:spPr>
        <p:txBody>
          <a:bodyPr wrap="square" anchor="ctr" lIns="0" rIns="0" tIns="0" bIns="0">
            <a:spAutoFit/>
          </a:bodyPr>
          <a:lstStyle/>
          <a:p>
            <a:pPr algn="ctr">
              <a:lnSpc>
                <a:spcPct val="110000"/>
              </a:lnSpc>
            </a:pPr>
            <a:r>
              <a:rPr sz="1600" b="0">
                <a:solidFill>
                  <a:srgbClr val="555555"/>
                </a:solidFill>
                <a:latin typeface="Arial"/>
                <a:ea typeface="Arial"/>
              </a:rPr>
              <a:t>10</a:t>
            </a:r>
          </a:p>
        </p:txBody>
      </p:sp>
      <p:sp>
        <p:nvSpPr>
          <p:cNvPr id="83" name="TextBox 82"/>
          <p:cNvSpPr txBox="1"/>
          <p:nvPr/>
        </p:nvSpPr>
        <p:spPr>
          <a:xfrm>
            <a:off x="10909934" y="3767033"/>
            <a:ext cx="365760" cy="292608"/>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a:t>
            </a:r>
          </a:p>
        </p:txBody>
      </p:sp>
      <p:sp>
        <p:nvSpPr>
          <p:cNvPr id="84" name="TextBox 83"/>
          <p:cNvSpPr txBox="1"/>
          <p:nvPr/>
        </p:nvSpPr>
        <p:spPr>
          <a:xfrm>
            <a:off x="9338881" y="4159551"/>
            <a:ext cx="109728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QLC 0.26</a:t>
            </a:r>
          </a:p>
        </p:txBody>
      </p:sp>
      <p:sp>
        <p:nvSpPr>
          <p:cNvPr id="85" name="TextBox 84"/>
          <p:cNvSpPr txBox="1"/>
          <p:nvPr/>
        </p:nvSpPr>
        <p:spPr>
          <a:xfrm>
            <a:off x="8860536"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2010</a:t>
            </a:r>
          </a:p>
        </p:txBody>
      </p:sp>
      <p:sp>
        <p:nvSpPr>
          <p:cNvPr id="86" name="TextBox 85"/>
          <p:cNvSpPr txBox="1"/>
          <p:nvPr/>
        </p:nvSpPr>
        <p:spPr>
          <a:xfrm>
            <a:off x="9806940"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2018</a:t>
            </a:r>
          </a:p>
        </p:txBody>
      </p:sp>
      <p:sp>
        <p:nvSpPr>
          <p:cNvPr id="87" name="TextBox 86"/>
          <p:cNvSpPr txBox="1"/>
          <p:nvPr/>
        </p:nvSpPr>
        <p:spPr>
          <a:xfrm>
            <a:off x="10753344"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88" name="Rounded Rectangle 87"/>
          <p:cNvSpPr/>
          <p:nvPr/>
        </p:nvSpPr>
        <p:spPr>
          <a:xfrm>
            <a:off x="722376" y="5669280"/>
            <a:ext cx="5074920" cy="2926080"/>
          </a:xfrm>
          <a:prstGeom prst="roundRect">
            <a:avLst>
              <a:gd name="adj" fmla="val 2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96696" y="5779008"/>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90" name="Rounded Rectangle 89"/>
          <p:cNvSpPr/>
          <p:nvPr/>
        </p:nvSpPr>
        <p:spPr>
          <a:xfrm>
            <a:off x="4242816" y="5852160"/>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297679" y="5852160"/>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92" name="Picture 91" descr="render_nand.png"/>
          <p:cNvPicPr>
            <a:picLocks noChangeAspect="1"/>
          </p:cNvPicPr>
          <p:nvPr/>
        </p:nvPicPr>
        <p:blipFill>
          <a:blip r:embed="rId2"/>
          <a:stretch>
            <a:fillRect/>
          </a:stretch>
        </p:blipFill>
        <p:spPr>
          <a:xfrm>
            <a:off x="1132894" y="6601968"/>
            <a:ext cx="916323" cy="676656"/>
          </a:xfrm>
          <a:prstGeom prst="rect">
            <a:avLst/>
          </a:prstGeom>
        </p:spPr>
      </p:pic>
      <p:sp>
        <p:nvSpPr>
          <p:cNvPr id="93" name="Right Arrow 92"/>
          <p:cNvSpPr/>
          <p:nvPr/>
        </p:nvSpPr>
        <p:spPr>
          <a:xfrm>
            <a:off x="2240280" y="6830568"/>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4" name="Picture 93" descr="render_ssd.png"/>
          <p:cNvPicPr>
            <a:picLocks noChangeAspect="1"/>
          </p:cNvPicPr>
          <p:nvPr/>
        </p:nvPicPr>
        <p:blipFill>
          <a:blip r:embed="rId3"/>
          <a:stretch>
            <a:fillRect/>
          </a:stretch>
        </p:blipFill>
        <p:spPr>
          <a:xfrm>
            <a:off x="2901799" y="6601968"/>
            <a:ext cx="1822496" cy="676656"/>
          </a:xfrm>
          <a:prstGeom prst="rect">
            <a:avLst/>
          </a:prstGeom>
        </p:spPr>
      </p:pic>
      <p:sp>
        <p:nvSpPr>
          <p:cNvPr id="95" name="TextBox 94"/>
          <p:cNvSpPr txBox="1"/>
          <p:nvPr/>
        </p:nvSpPr>
        <p:spPr>
          <a:xfrm>
            <a:off x="996696" y="7333488"/>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96" name="TextBox 95"/>
          <p:cNvSpPr txBox="1"/>
          <p:nvPr/>
        </p:nvSpPr>
        <p:spPr>
          <a:xfrm>
            <a:off x="996696" y="7973568"/>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97" name="Rounded Rectangle 96"/>
          <p:cNvSpPr/>
          <p:nvPr/>
        </p:nvSpPr>
        <p:spPr>
          <a:xfrm>
            <a:off x="5980176" y="5138928"/>
            <a:ext cx="5394960" cy="3456432"/>
          </a:xfrm>
          <a:prstGeom prst="roundRect">
            <a:avLst>
              <a:gd name="adj" fmla="val 211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54496" y="524865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99" name="Rounded Rectangle 98"/>
          <p:cNvSpPr/>
          <p:nvPr/>
        </p:nvSpPr>
        <p:spPr>
          <a:xfrm>
            <a:off x="9820656" y="532180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875520" y="532180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01" name="Picture 100" descr="render_ssd.png"/>
          <p:cNvPicPr>
            <a:picLocks noChangeAspect="1"/>
          </p:cNvPicPr>
          <p:nvPr/>
        </p:nvPicPr>
        <p:blipFill>
          <a:blip r:embed="rId3"/>
          <a:stretch>
            <a:fillRect/>
          </a:stretch>
        </p:blipFill>
        <p:spPr>
          <a:xfrm>
            <a:off x="6292757" y="6163056"/>
            <a:ext cx="2118036" cy="786384"/>
          </a:xfrm>
          <a:prstGeom prst="rect">
            <a:avLst/>
          </a:prstGeom>
        </p:spPr>
      </p:pic>
      <p:sp>
        <p:nvSpPr>
          <p:cNvPr id="102" name="TextBox 101"/>
          <p:cNvSpPr txBox="1"/>
          <p:nvPr/>
        </p:nvSpPr>
        <p:spPr>
          <a:xfrm>
            <a:off x="6254496" y="7168896"/>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103" name="TextBox 102"/>
          <p:cNvSpPr txBox="1"/>
          <p:nvPr/>
        </p:nvSpPr>
        <p:spPr>
          <a:xfrm>
            <a:off x="6254496" y="7808975"/>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104" name="Rounded Rectangle 103"/>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106" name="Rounded Rectangle 105"/>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108" name="Picture 107" descr="render_server.png"/>
          <p:cNvPicPr>
            <a:picLocks noChangeAspect="1"/>
          </p:cNvPicPr>
          <p:nvPr/>
        </p:nvPicPr>
        <p:blipFill>
          <a:blip r:embed="rId4"/>
          <a:stretch>
            <a:fillRect/>
          </a:stretch>
        </p:blipFill>
        <p:spPr>
          <a:xfrm>
            <a:off x="11988964" y="3145536"/>
            <a:ext cx="1149782" cy="676656"/>
          </a:xfrm>
          <a:prstGeom prst="rect">
            <a:avLst/>
          </a:prstGeom>
        </p:spPr>
      </p:pic>
      <p:pic>
        <p:nvPicPr>
          <p:cNvPr id="109" name="Picture 108" descr="render_ssd.png"/>
          <p:cNvPicPr>
            <a:picLocks noChangeAspect="1"/>
          </p:cNvPicPr>
          <p:nvPr/>
        </p:nvPicPr>
        <p:blipFill>
          <a:blip r:embed="rId3"/>
          <a:stretch>
            <a:fillRect/>
          </a:stretch>
        </p:blipFill>
        <p:spPr>
          <a:xfrm>
            <a:off x="13386816" y="3255359"/>
            <a:ext cx="1280160" cy="475297"/>
          </a:xfrm>
          <a:prstGeom prst="rect">
            <a:avLst/>
          </a:prstGeom>
        </p:spPr>
      </p:pic>
      <p:sp>
        <p:nvSpPr>
          <p:cNvPr id="110" name="TextBox 109"/>
          <p:cNvSpPr txBox="1"/>
          <p:nvPr/>
        </p:nvSpPr>
        <p:spPr>
          <a:xfrm>
            <a:off x="11832336" y="3877056"/>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111" name="TextBox 110"/>
          <p:cNvSpPr txBox="1"/>
          <p:nvPr/>
        </p:nvSpPr>
        <p:spPr>
          <a:xfrm>
            <a:off x="11832336" y="4517136"/>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112" name="TextBox 111"/>
          <p:cNvSpPr txBox="1"/>
          <p:nvPr/>
        </p:nvSpPr>
        <p:spPr>
          <a:xfrm>
            <a:off x="8741664" y="5815584"/>
            <a:ext cx="2377440"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113" name="Rounded Rectangle 112"/>
          <p:cNvSpPr/>
          <p:nvPr/>
        </p:nvSpPr>
        <p:spPr>
          <a:xfrm>
            <a:off x="8741664" y="6217920"/>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8869680" y="6217920"/>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115" name="Rounded Rectangle 114"/>
          <p:cNvSpPr/>
          <p:nvPr/>
        </p:nvSpPr>
        <p:spPr>
          <a:xfrm>
            <a:off x="8741664" y="6638544"/>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869680" y="6638544"/>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117" name="TextBox 116"/>
          <p:cNvSpPr txBox="1"/>
          <p:nvPr/>
        </p:nvSpPr>
        <p:spPr>
          <a:xfrm>
            <a:off x="8869680" y="6638544"/>
            <a:ext cx="2121408" cy="365760"/>
          </a:xfrm>
          <a:prstGeom prst="rect">
            <a:avLst/>
          </a:prstGeom>
          <a:noFill/>
        </p:spPr>
        <p:txBody>
          <a:bodyPr wrap="square" anchor="ctr" lIns="0" rIns="0" tIns="0" bIns="0">
            <a:spAutoFit/>
          </a:bodyPr>
          <a:lstStyle/>
          <a:p>
            <a:pPr algn="r">
              <a:lnSpc>
                <a:spcPct val="110000"/>
              </a:lnSpc>
            </a:pPr>
            <a:r>
              <a:rPr sz="1600" b="0">
                <a:solidFill>
                  <a:srgbClr val="D9D9D9"/>
                </a:solidFill>
                <a:latin typeface="Arial"/>
                <a:ea typeface="Arial"/>
              </a:rPr>
              <a:t>2014~17</a:t>
            </a:r>
          </a:p>
        </p:txBody>
      </p:sp>
      <p:sp>
        <p:nvSpPr>
          <p:cNvPr id="118" name="Rounded Rectangle 117"/>
          <p:cNvSpPr/>
          <p:nvPr/>
        </p:nvSpPr>
        <p:spPr>
          <a:xfrm>
            <a:off x="8741664" y="7059168"/>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8869680" y="7059168"/>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120" name="TextBox 119"/>
          <p:cNvSpPr txBox="1"/>
          <p:nvPr/>
        </p:nvSpPr>
        <p:spPr>
          <a:xfrm>
            <a:off x="8869680" y="7059168"/>
            <a:ext cx="2121408" cy="365760"/>
          </a:xfrm>
          <a:prstGeom prst="rect">
            <a:avLst/>
          </a:prstGeom>
          <a:noFill/>
        </p:spPr>
        <p:txBody>
          <a:bodyPr wrap="square" anchor="ctr" lIns="0" rIns="0" tIns="0" bIns="0">
            <a:spAutoFit/>
          </a:bodyPr>
          <a:lstStyle/>
          <a:p>
            <a:pPr algn="r">
              <a:lnSpc>
                <a:spcPct val="110000"/>
              </a:lnSpc>
            </a:pPr>
            <a:r>
              <a:rPr sz="1600" b="0">
                <a:solidFill>
                  <a:srgbClr val="D9D9D9"/>
                </a:solidFill>
                <a:latin typeface="Arial"/>
                <a:ea typeface="Arial"/>
              </a:rPr>
              <a:t>2019</a:t>
            </a:r>
          </a:p>
        </p:txBody>
      </p:sp>
      <p:sp>
        <p:nvSpPr>
          <p:cNvPr id="121" name="Rounded Rectangle 120"/>
          <p:cNvSpPr/>
          <p:nvPr/>
        </p:nvSpPr>
        <p:spPr>
          <a:xfrm>
            <a:off x="8741664" y="7479792"/>
            <a:ext cx="2377440" cy="365760"/>
          </a:xfrm>
          <a:prstGeom prst="roundRect">
            <a:avLst>
              <a:gd name="adj" fmla="val 2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8869680" y="7479792"/>
            <a:ext cx="2121408"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123" name="Rounded Rectangle 122"/>
          <p:cNvSpPr/>
          <p:nvPr/>
        </p:nvSpPr>
        <p:spPr>
          <a:xfrm>
            <a:off x="8741664" y="7900416"/>
            <a:ext cx="2377440" cy="365760"/>
          </a:xfrm>
          <a:prstGeom prst="roundRect">
            <a:avLst>
              <a:gd name="adj" fmla="val 2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8869680" y="7900416"/>
            <a:ext cx="2121408"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125" name="Rounded Rectangle 124"/>
          <p:cNvSpPr/>
          <p:nvPr/>
        </p:nvSpPr>
        <p:spPr>
          <a:xfrm>
            <a:off x="11795760" y="4992624"/>
            <a:ext cx="5532120" cy="3438144"/>
          </a:xfrm>
          <a:prstGeom prst="roundRect">
            <a:avLst>
              <a:gd name="adj" fmla="val 212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996928" y="5084064"/>
            <a:ext cx="5129784"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7" name="Rectangle 126"/>
          <p:cNvSpPr/>
          <p:nvPr/>
        </p:nvSpPr>
        <p:spPr>
          <a:xfrm>
            <a:off x="11996928" y="5559552"/>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2198096" y="5495544"/>
            <a:ext cx="19202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자체 SSD · 컨트롤러</a:t>
            </a:r>
          </a:p>
        </p:txBody>
      </p:sp>
      <p:sp>
        <p:nvSpPr>
          <p:cNvPr id="129" name="Rectangle 128"/>
          <p:cNvSpPr/>
          <p:nvPr/>
        </p:nvSpPr>
        <p:spPr>
          <a:xfrm>
            <a:off x="14282928" y="5559552"/>
            <a:ext cx="146304" cy="14630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4484096" y="5495544"/>
            <a:ext cx="128016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스펙 · 표준</a:t>
            </a:r>
          </a:p>
        </p:txBody>
      </p:sp>
      <p:sp>
        <p:nvSpPr>
          <p:cNvPr id="131" name="Rectangle 130"/>
          <p:cNvSpPr/>
          <p:nvPr/>
        </p:nvSpPr>
        <p:spPr>
          <a:xfrm>
            <a:off x="13395102" y="5833872"/>
            <a:ext cx="9144" cy="22128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3079634" y="8065008"/>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33" name="Rectangle 132"/>
          <p:cNvSpPr/>
          <p:nvPr/>
        </p:nvSpPr>
        <p:spPr>
          <a:xfrm>
            <a:off x="14620970" y="5833872"/>
            <a:ext cx="9144" cy="22128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4305502" y="8065008"/>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2018</a:t>
            </a:r>
          </a:p>
        </p:txBody>
      </p:sp>
      <p:sp>
        <p:nvSpPr>
          <p:cNvPr id="135" name="Rectangle 134"/>
          <p:cNvSpPr/>
          <p:nvPr/>
        </p:nvSpPr>
        <p:spPr>
          <a:xfrm>
            <a:off x="15846837" y="5833872"/>
            <a:ext cx="9144" cy="22128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531369" y="8065008"/>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137" name="Rectangle 136"/>
          <p:cNvSpPr/>
          <p:nvPr/>
        </p:nvSpPr>
        <p:spPr>
          <a:xfrm>
            <a:off x="17072705" y="5833872"/>
            <a:ext cx="9144" cy="22128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6559784" y="8065008"/>
            <a:ext cx="640080"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9" name="Picture 138" descr="baidu.png"/>
          <p:cNvPicPr>
            <a:picLocks noChangeAspect="1"/>
          </p:cNvPicPr>
          <p:nvPr/>
        </p:nvPicPr>
        <p:blipFill>
          <a:blip r:embed="rId5"/>
          <a:stretch>
            <a:fillRect/>
          </a:stretch>
        </p:blipFill>
        <p:spPr>
          <a:xfrm>
            <a:off x="11996928" y="5916168"/>
            <a:ext cx="219456" cy="219456"/>
          </a:xfrm>
          <a:prstGeom prst="rect">
            <a:avLst/>
          </a:prstGeom>
        </p:spPr>
      </p:pic>
      <p:sp>
        <p:nvSpPr>
          <p:cNvPr id="140" name="TextBox 139"/>
          <p:cNvSpPr txBox="1"/>
          <p:nvPr/>
        </p:nvSpPr>
        <p:spPr>
          <a:xfrm>
            <a:off x="12252960" y="5870448"/>
            <a:ext cx="1024128"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Baidu</a:t>
            </a:r>
          </a:p>
        </p:txBody>
      </p:sp>
      <p:sp>
        <p:nvSpPr>
          <p:cNvPr id="141" name="Rounded Rectangle 140"/>
          <p:cNvSpPr/>
          <p:nvPr/>
        </p:nvSpPr>
        <p:spPr>
          <a:xfrm>
            <a:off x="13399674" y="5907024"/>
            <a:ext cx="3800189" cy="237744"/>
          </a:xfrm>
          <a:prstGeom prst="roundRect">
            <a:avLst>
              <a:gd name="adj" fmla="val 3076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3491114" y="5870448"/>
            <a:ext cx="3690461" cy="310896"/>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자체 SSD (SDF) · 3천 대</a:t>
            </a:r>
          </a:p>
        </p:txBody>
      </p:sp>
      <p:pic>
        <p:nvPicPr>
          <p:cNvPr id="143" name="Picture 142" descr="google.png"/>
          <p:cNvPicPr>
            <a:picLocks noChangeAspect="1"/>
          </p:cNvPicPr>
          <p:nvPr/>
        </p:nvPicPr>
        <p:blipFill>
          <a:blip r:embed="rId6"/>
          <a:stretch>
            <a:fillRect/>
          </a:stretch>
        </p:blipFill>
        <p:spPr>
          <a:xfrm>
            <a:off x="11996928" y="6236207"/>
            <a:ext cx="613732" cy="201168"/>
          </a:xfrm>
          <a:prstGeom prst="rect">
            <a:avLst/>
          </a:prstGeom>
        </p:spPr>
      </p:pic>
      <p:sp>
        <p:nvSpPr>
          <p:cNvPr id="144" name="Rounded Rectangle 143"/>
          <p:cNvSpPr/>
          <p:nvPr/>
        </p:nvSpPr>
        <p:spPr>
          <a:xfrm>
            <a:off x="14012608" y="6217920"/>
            <a:ext cx="3187255" cy="237744"/>
          </a:xfrm>
          <a:prstGeom prst="roundRect">
            <a:avLst>
              <a:gd name="adj" fmla="val 3076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4104048" y="6181344"/>
            <a:ext cx="3077527" cy="310896"/>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자체 설계 SSD → Titanium</a:t>
            </a:r>
          </a:p>
        </p:txBody>
      </p:sp>
      <p:pic>
        <p:nvPicPr>
          <p:cNvPr id="146" name="Picture 145" descr="alibabacloud.png"/>
          <p:cNvPicPr>
            <a:picLocks noChangeAspect="1"/>
          </p:cNvPicPr>
          <p:nvPr/>
        </p:nvPicPr>
        <p:blipFill>
          <a:blip r:embed="rId7"/>
          <a:stretch>
            <a:fillRect/>
          </a:stretch>
        </p:blipFill>
        <p:spPr>
          <a:xfrm>
            <a:off x="11996928" y="6537959"/>
            <a:ext cx="219456" cy="219456"/>
          </a:xfrm>
          <a:prstGeom prst="rect">
            <a:avLst/>
          </a:prstGeom>
        </p:spPr>
      </p:pic>
      <p:sp>
        <p:nvSpPr>
          <p:cNvPr id="147" name="TextBox 146"/>
          <p:cNvSpPr txBox="1"/>
          <p:nvPr/>
        </p:nvSpPr>
        <p:spPr>
          <a:xfrm>
            <a:off x="12252960" y="6492240"/>
            <a:ext cx="1024128"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Alibaba</a:t>
            </a:r>
          </a:p>
        </p:txBody>
      </p:sp>
      <p:sp>
        <p:nvSpPr>
          <p:cNvPr id="148" name="Rounded Rectangle 147"/>
          <p:cNvSpPr/>
          <p:nvPr/>
        </p:nvSpPr>
        <p:spPr>
          <a:xfrm>
            <a:off x="14012608" y="6528816"/>
            <a:ext cx="3187255" cy="237744"/>
          </a:xfrm>
          <a:prstGeom prst="roundRect">
            <a:avLst>
              <a:gd name="adj" fmla="val 3076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4104048" y="6492240"/>
            <a:ext cx="3077527" cy="310896"/>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AliFlash → 컨트롤러 50만+</a:t>
            </a:r>
          </a:p>
        </p:txBody>
      </p:sp>
      <p:pic>
        <p:nvPicPr>
          <p:cNvPr id="150" name="Picture 149" descr="microsoft.png"/>
          <p:cNvPicPr>
            <a:picLocks noChangeAspect="1"/>
          </p:cNvPicPr>
          <p:nvPr/>
        </p:nvPicPr>
        <p:blipFill>
          <a:blip r:embed="rId8"/>
          <a:stretch>
            <a:fillRect/>
          </a:stretch>
        </p:blipFill>
        <p:spPr>
          <a:xfrm>
            <a:off x="11996928" y="6857999"/>
            <a:ext cx="938089" cy="201168"/>
          </a:xfrm>
          <a:prstGeom prst="rect">
            <a:avLst/>
          </a:prstGeom>
        </p:spPr>
      </p:pic>
      <p:sp>
        <p:nvSpPr>
          <p:cNvPr id="151" name="Rounded Rectangle 150"/>
          <p:cNvSpPr/>
          <p:nvPr/>
        </p:nvSpPr>
        <p:spPr>
          <a:xfrm>
            <a:off x="14625542" y="6839712"/>
            <a:ext cx="2574321" cy="237744"/>
          </a:xfrm>
          <a:prstGeom prst="roundRect">
            <a:avLst>
              <a:gd name="adj" fmla="val 30769"/>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4716982" y="6803136"/>
            <a:ext cx="2464593"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Denali → OCP SSD 스펙</a:t>
            </a:r>
          </a:p>
        </p:txBody>
      </p:sp>
      <p:pic>
        <p:nvPicPr>
          <p:cNvPr id="153" name="Picture 152" descr="meta.png"/>
          <p:cNvPicPr>
            <a:picLocks noChangeAspect="1"/>
          </p:cNvPicPr>
          <p:nvPr/>
        </p:nvPicPr>
        <p:blipFill>
          <a:blip r:embed="rId9"/>
          <a:stretch>
            <a:fillRect/>
          </a:stretch>
        </p:blipFill>
        <p:spPr>
          <a:xfrm>
            <a:off x="11996928" y="7171867"/>
            <a:ext cx="960120" cy="195224"/>
          </a:xfrm>
          <a:prstGeom prst="rect">
            <a:avLst/>
          </a:prstGeom>
        </p:spPr>
      </p:pic>
      <p:sp>
        <p:nvSpPr>
          <p:cNvPr id="154" name="Rounded Rectangle 153"/>
          <p:cNvSpPr/>
          <p:nvPr/>
        </p:nvSpPr>
        <p:spPr>
          <a:xfrm>
            <a:off x="15238476" y="7150608"/>
            <a:ext cx="1961387" cy="237744"/>
          </a:xfrm>
          <a:prstGeom prst="roundRect">
            <a:avLst>
              <a:gd name="adj" fmla="val 30769"/>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5329916" y="7114032"/>
            <a:ext cx="1851659"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OCP 스펙 → FDP</a:t>
            </a:r>
          </a:p>
        </p:txBody>
      </p:sp>
      <p:pic>
        <p:nvPicPr>
          <p:cNvPr id="156" name="Picture 155" descr="aws.png"/>
          <p:cNvPicPr>
            <a:picLocks noChangeAspect="1"/>
          </p:cNvPicPr>
          <p:nvPr/>
        </p:nvPicPr>
        <p:blipFill>
          <a:blip r:embed="rId10"/>
          <a:stretch>
            <a:fillRect/>
          </a:stretch>
        </p:blipFill>
        <p:spPr>
          <a:xfrm>
            <a:off x="11996928" y="7452360"/>
            <a:ext cx="428306" cy="256032"/>
          </a:xfrm>
          <a:prstGeom prst="rect">
            <a:avLst/>
          </a:prstGeom>
        </p:spPr>
      </p:pic>
      <p:sp>
        <p:nvSpPr>
          <p:cNvPr id="157" name="Rounded Rectangle 156"/>
          <p:cNvSpPr/>
          <p:nvPr/>
        </p:nvSpPr>
        <p:spPr>
          <a:xfrm>
            <a:off x="15514296" y="7461504"/>
            <a:ext cx="1685567" cy="237744"/>
          </a:xfrm>
          <a:prstGeom prst="roundRect">
            <a:avLst>
              <a:gd name="adj" fmla="val 3076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3185648" y="7424928"/>
            <a:ext cx="2237208" cy="310896"/>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Nitro SSD · 지연 -60%</a:t>
            </a:r>
          </a:p>
        </p:txBody>
      </p:sp>
      <p:pic>
        <p:nvPicPr>
          <p:cNvPr id="159" name="Picture 158" descr="bytedance.png"/>
          <p:cNvPicPr>
            <a:picLocks noChangeAspect="1"/>
          </p:cNvPicPr>
          <p:nvPr/>
        </p:nvPicPr>
        <p:blipFill>
          <a:blip r:embed="rId11"/>
          <a:stretch>
            <a:fillRect/>
          </a:stretch>
        </p:blipFill>
        <p:spPr>
          <a:xfrm>
            <a:off x="11996928" y="7781544"/>
            <a:ext cx="219456" cy="219456"/>
          </a:xfrm>
          <a:prstGeom prst="rect">
            <a:avLst/>
          </a:prstGeom>
        </p:spPr>
      </p:pic>
      <p:sp>
        <p:nvSpPr>
          <p:cNvPr id="160" name="TextBox 159"/>
          <p:cNvSpPr txBox="1"/>
          <p:nvPr/>
        </p:nvSpPr>
        <p:spPr>
          <a:xfrm>
            <a:off x="12252960" y="7735824"/>
            <a:ext cx="1024128"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ByteDance</a:t>
            </a:r>
          </a:p>
        </p:txBody>
      </p:sp>
      <p:sp>
        <p:nvSpPr>
          <p:cNvPr id="161" name="Rounded Rectangle 160"/>
          <p:cNvSpPr/>
          <p:nvPr/>
        </p:nvSpPr>
        <p:spPr>
          <a:xfrm>
            <a:off x="17077277" y="7772400"/>
            <a:ext cx="122586" cy="237744"/>
          </a:xfrm>
          <a:prstGeom prst="roundRect">
            <a:avLst>
              <a:gd name="adj" fmla="val 50000"/>
            </a:avLst>
          </a:prstGeom>
          <a:no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13185648" y="7735824"/>
            <a:ext cx="3800189" cy="310896"/>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사내 SSD 개발 (FMS'26)</a:t>
            </a:r>
          </a:p>
        </p:txBody>
      </p:sp>
      <p:sp>
        <p:nvSpPr>
          <p:cNvPr id="163" name="Chevron 162"/>
          <p:cNvSpPr/>
          <p:nvPr/>
        </p:nvSpPr>
        <p:spPr>
          <a:xfrm>
            <a:off x="5815584" y="69494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Chevron 163"/>
          <p:cNvSpPr/>
          <p:nvPr/>
        </p:nvSpPr>
        <p:spPr>
          <a:xfrm>
            <a:off x="11393424" y="64922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67" name="TextBox 166"/>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68" name="TextBox 16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성장 원장(Intel S3700 · 삼성 PM1725~PM1763 · Micron 9650 사양, NAND $/GB = IBM, 명목) · 고객 캐시 DWPD(Kangaroo · KV 실측 · Baleen) · 해법 사다리 원장(스트림 · NVMe 1.4 · FDP · CacheLib 3.22 → 1.03) · 자체 설계 원장(Baidu · Google · Alibaba · OCP · AWS · ByteDance) · 일부 수치는 검색 확인 · 부품 이미지는 3D 렌더</a:t>
            </a:r>
          </a:p>
        </p:txBody>
      </p:sp>
      <p:sp>
        <p:nvSpPr>
          <p:cNvPr id="169" name="TextBox 16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