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아래 가로 막대는 eSSD 수요의 응용별 비중입니다. 올해는 범용 클라우드와 엔터프라이즈가 85퍼센트로 대부분이고, AI 학습 6퍼센트, AI 추론 9퍼센트입니다. 2030년에는 전체가 약 1,078엑사바이트로 커지면서 범용 47퍼센트, AI 학습 12퍼센트, AI 추론 41퍼센트가 됩니다. 에이전트는 따로 떼어 낸 전망이 없어 추론과 범용에 포함됩니다. 올해 비중은 McKinsey 전망을 이어 계산한 값이고, 연도별 상세는 참고 5장에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5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33" name="TextBox 132"/>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4" name="Rectangle 133"/>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6" name="Rectangle 135"/>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8" name="Rectangle 137"/>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40" name="TextBox 139"/>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41" name="TextBox 140"/>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42" name="Rectangle 141"/>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4" name="Rectangle 143"/>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6" name="Rectangle 145"/>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8" name="TextBox 147"/>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49" name="TextBox 148"/>
          <p:cNvSpPr txBox="1"/>
          <p:nvPr/>
        </p:nvSpPr>
        <p:spPr>
          <a:xfrm>
            <a:off x="722376" y="6035040"/>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50" name="TextBox 149"/>
          <p:cNvSpPr txBox="1"/>
          <p:nvPr/>
        </p:nvSpPr>
        <p:spPr>
          <a:xfrm>
            <a:off x="12079224" y="6035040"/>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51" name="Rounded Rectangle 150"/>
          <p:cNvSpPr/>
          <p:nvPr/>
        </p:nvSpPr>
        <p:spPr>
          <a:xfrm>
            <a:off x="722376" y="6364224"/>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923544" y="638251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53" name="TextBox 152"/>
          <p:cNvSpPr txBox="1"/>
          <p:nvPr/>
        </p:nvSpPr>
        <p:spPr>
          <a:xfrm>
            <a:off x="2916936" y="638251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54" name="Rectangle 153"/>
          <p:cNvSpPr/>
          <p:nvPr/>
        </p:nvSpPr>
        <p:spPr>
          <a:xfrm>
            <a:off x="923544" y="6702552"/>
            <a:ext cx="2127598" cy="1280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2621425" y="6675120"/>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3106006" y="662025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57" name="Rounded Rectangle 156"/>
          <p:cNvSpPr/>
          <p:nvPr/>
        </p:nvSpPr>
        <p:spPr>
          <a:xfrm>
            <a:off x="4306824"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ounded Rectangle 157"/>
          <p:cNvSpPr/>
          <p:nvPr/>
        </p:nvSpPr>
        <p:spPr>
          <a:xfrm>
            <a:off x="7658100"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11009376" y="6364224"/>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1064240" y="6364224"/>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61" name="Rounded Rectangle 160"/>
          <p:cNvSpPr/>
          <p:nvPr/>
        </p:nvSpPr>
        <p:spPr>
          <a:xfrm>
            <a:off x="14360652"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722376" y="6931152"/>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923544" y="6949440"/>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64" name="TextBox 163"/>
          <p:cNvSpPr txBox="1"/>
          <p:nvPr/>
        </p:nvSpPr>
        <p:spPr>
          <a:xfrm>
            <a:off x="2916936" y="6949440"/>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65" name="Rectangle 164"/>
          <p:cNvSpPr/>
          <p:nvPr/>
        </p:nvSpPr>
        <p:spPr>
          <a:xfrm>
            <a:off x="923544" y="7269480"/>
            <a:ext cx="1020635" cy="12801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999043" y="7187184"/>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67" name="Rounded Rectangle 166"/>
          <p:cNvSpPr/>
          <p:nvPr/>
        </p:nvSpPr>
        <p:spPr>
          <a:xfrm>
            <a:off x="4306824"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7658100" y="6931152"/>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7712964" y="6931152"/>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70" name="Rounded Rectangle 169"/>
          <p:cNvSpPr/>
          <p:nvPr/>
        </p:nvSpPr>
        <p:spPr>
          <a:xfrm>
            <a:off x="11009376" y="6931152"/>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1064240" y="6931152"/>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72" name="Rounded Rectangle 171"/>
          <p:cNvSpPr/>
          <p:nvPr/>
        </p:nvSpPr>
        <p:spPr>
          <a:xfrm>
            <a:off x="14360652"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ounded Rectangle 172"/>
          <p:cNvSpPr/>
          <p:nvPr/>
        </p:nvSpPr>
        <p:spPr>
          <a:xfrm>
            <a:off x="722376" y="7498079"/>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23544" y="7516367"/>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75" name="TextBox 174"/>
          <p:cNvSpPr txBox="1"/>
          <p:nvPr/>
        </p:nvSpPr>
        <p:spPr>
          <a:xfrm>
            <a:off x="2916936" y="7516367"/>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76" name="Rectangle 175"/>
          <p:cNvSpPr/>
          <p:nvPr/>
        </p:nvSpPr>
        <p:spPr>
          <a:xfrm>
            <a:off x="923544" y="7836407"/>
            <a:ext cx="690962"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1669370" y="7754111"/>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78" name="Rounded Rectangle 177"/>
          <p:cNvSpPr/>
          <p:nvPr/>
        </p:nvSpPr>
        <p:spPr>
          <a:xfrm>
            <a:off x="4306824"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4361688"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80" name="Rounded Rectangle 179"/>
          <p:cNvSpPr/>
          <p:nvPr/>
        </p:nvSpPr>
        <p:spPr>
          <a:xfrm>
            <a:off x="7658100"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7712964"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82" name="Rounded Rectangle 181"/>
          <p:cNvSpPr/>
          <p:nvPr/>
        </p:nvSpPr>
        <p:spPr>
          <a:xfrm>
            <a:off x="11009376"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1064240"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84" name="Rounded Rectangle 183"/>
          <p:cNvSpPr/>
          <p:nvPr/>
        </p:nvSpPr>
        <p:spPr>
          <a:xfrm>
            <a:off x="14360652" y="7498079"/>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14415516" y="7498079"/>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86" name="Rounded Rectangle 185"/>
          <p:cNvSpPr/>
          <p:nvPr/>
        </p:nvSpPr>
        <p:spPr>
          <a:xfrm>
            <a:off x="722376" y="8065008"/>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923544" y="808329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88" name="TextBox 187"/>
          <p:cNvSpPr txBox="1"/>
          <p:nvPr/>
        </p:nvSpPr>
        <p:spPr>
          <a:xfrm>
            <a:off x="2916936" y="808329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89" name="Rectangle 188"/>
          <p:cNvSpPr/>
          <p:nvPr/>
        </p:nvSpPr>
        <p:spPr>
          <a:xfrm>
            <a:off x="923544" y="8403336"/>
            <a:ext cx="537673"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1239500" y="8375904"/>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516081" y="832104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92" name="Rounded Rectangle 191"/>
          <p:cNvSpPr/>
          <p:nvPr/>
        </p:nvSpPr>
        <p:spPr>
          <a:xfrm>
            <a:off x="4306824"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4361688"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94" name="Rounded Rectangle 193"/>
          <p:cNvSpPr/>
          <p:nvPr/>
        </p:nvSpPr>
        <p:spPr>
          <a:xfrm>
            <a:off x="7658100"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7712964"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96" name="Rounded Rectangle 195"/>
          <p:cNvSpPr/>
          <p:nvPr/>
        </p:nvSpPr>
        <p:spPr>
          <a:xfrm>
            <a:off x="11009376" y="8065008"/>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11064240" y="8065008"/>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98" name="Rounded Rectangle 197"/>
          <p:cNvSpPr/>
          <p:nvPr/>
        </p:nvSpPr>
        <p:spPr>
          <a:xfrm>
            <a:off x="14360652"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14415516"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200" name="Rectangle 199"/>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02" name="TextBox 20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203" name="TextBox 20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2026은 보간 · 범용은 산술, 상세 5장)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204" name="TextBox 20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5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5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5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5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