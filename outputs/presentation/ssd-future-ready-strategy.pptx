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1장입니다. HBM에서 삼성 점유율은 2022년 40퍼센트에서 2025년 2분기 17퍼센트로, SK하이닉스는 50에서 62퍼센트로 갈렸습니다. 하나의 수요를 늦게 읽으면 첫 호황을 놓친다는 교훈입니다. 그래서 SSD의 다음 수요를 하나로 단정하지 않고, 하이퍼스케일러의 데이터센터 응용 네 가지를 SSD에 요구하는 특성으로 비교했습니다. 카드 아래 가로 막대는 eSSD 수요의 응용별 비중입니다. 올해는 범용 클라우드와 엔터프라이즈가 85퍼센트로 대부분이고, AI 학습 6퍼센트, AI 추론 9퍼센트입니다. 2030년에는 전체가 약 1,078엑사바이트로 커지면서 범용 47퍼센트, AI 학습 12퍼센트, AI 추론 41퍼센트가 됩니다. 에이전트는 따로 떼어 낸 전망이 없어 추론과 범용에 포함됩니다. 올해 비중은 McKinsey 전망을 이어 계산한 값이고, 연도별 상세는 참고 5장에 두었습니다. 첫째, 범용 클라우드입니다. 여러 고객의 VM이 서버의 SSD를 나눠 씁니다. Microsoft의 SSD 50만 대를 보면 실제 쓰기는 0.07에서 0.23 DWPD로 범용 TLC 정격 1 DWPD 안에 들어옵니다. 기존 SSD 기술로 대응할 수 있습니다. 다만 한 고객의 쓰기가 같은 SSD를 쓰는 다른 고객의 지연을 키웁니다. Microsoft 워크로드 실험에서 하드웨어로 격리하면 p99 지연이 최대 3.1배 줄었습니다. 멀티테넌트 QoS와 격리는 여전히 중요한 요구입니다. 둘째, AI 학습입니다. NVIDIA SuperPOD 가이드를 GPU당으로 환산하면, 데이터가 캐시보다 큰 멀티모달 학습은 기본 등급보다 약 3배의 스토리지 대역을 요구합니다. 데이터 로딩에는 고성능 TLC가 맞습니다. 405B 모델은 체크포인트 한 번에 약 5.7테라바이트를 쓰고, 다 쓸 때까지 학습이 멈춥니다. 체크포인트 간격이 짧아지면 고내구 TLC가 필요할 수 있어 점선으로 두었습니다. 셋째, AI 추론의 KV 캐시 오프로드입니다. KV 캐시 계층을 실측하면 드라이브당 3.2 DWPD로 QLC 정격 0.6을 크게 넘고, AI 전용 SSD는 50에서 120 DWPD로 나왔습니다. 반대로 읽기 위주라는 측정도 있습니다. 그래서 같은 KV 캐시라도 쓰기량에 따라 SLC급, 고내구 TLC, 고성능 TLC로 갈리고, 읽기 위주라면 QLC도 후보입니다. 고내구라는 요구에도 필요한 DWPD에 따라 SLC부터 QLC까지 여러 답이 있다는 뜻입니다. 넷째, Meta Muse와 OpenAI Dot 같은 에이전트입니다. 사실을 다시 확인해 보니 이 서비스들은 사용자마다 VM을 하나씩 주는 구조이고, 에이전트는 대부분의 시간을 휴면 상태로 보냅니다. 휴면 상태는 압축 스냅샷으로 오브젝트 스토리지에 보관됩니다. 제3자가 Muse VM을 관측한 결과 메모리 7.75기가바이트에 디스크 100기가바이트로, 디스크가 13배 큽니다. 사용자 1억 명이면 할당 기준 10엑사바이트입니다. 그래서 에이전트 VM 자체에는 고DWPD보다 고용량 QLC가 맞습니다. 다만 실제 사용량은 아직 할당보다 훨씬 작고, 에이전트 VM 디스크의 쓰기량을 공개한 측정은 없습니다. 에이전트가 키우는 고DWPD 수요는 VM이 아니라 추론의 KV 캐시 계층에서 나옵니다. 에이전트가 한꺼번에 깨어날 때 디스크 경합이 생긴다는 Google의 설명이 있어, 고성능 TLC는 점선으로 두었습니다. 아래 표는 이것을 제품군으로 정리한 것입니다. 위에서 아래로 요구 DWPD는 낮아지고 최대 용량은 커집니다. 파란 칸은 지금 쓰는 곳, 점선 칸은 신호에 따라 쓰일 곳입니다. 응용마다 필요한 제품군의 조합이 다르고, 하나의 제품으로 모든 응용에 대응할 수 없습니다. 그래서 다양한 데이터센터 응용에 대응하려면 SLC부터 QLC까지 다양한 제품 포트폴리오가 필요합니다. 다만 지금 예측할 수 있는 범위 안의 준비입니다.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2장입니다. 1장의 제품 포트폴리오를 받치는 핵심 기술 여섯 가지를, 왼쪽에는 어떤 제품군에 쓰이는지, 오른쪽에는 고객과 어떻게 협력해야 하는지로 정리했습니다. 왼쪽부터 보겠습니다. Fault Tolerant는 다이와 플레인 단위로 고장을 격리합니다. 같은 폼팩터에서 245테라바이트는 다이 1,024개, 512테라바이트는 약 2,133개라 고용량일수록 필요합니다. Large Mapping은 매핑 단위를 4킬로바이트에서 8에서 64킬로바이트로 키웁니다. 245테라바이트 드라이브의 매핑 DRAM이 약 245기가바이트에서 15기가바이트로 줄어드는 대신, 매핑 단위보다 작은 쓰기는 최대 16배를 다시 씁니다. Mixed Media는 pSLC와 QLC를 별도 네임스페이스로 나눕니다. 작은 쓰기를 모아 순차로 내리면 4킬로바이트 쓰기의 WAF가 70을 넘던 것이 1.02까지 내려간 사례가 있고, 고객이 요구한 pSLC 비율은 QLC 용량의 0.5에서 2퍼센트입니다. Multi-Tenant QoS는 네임스페이스 단위로 테넌트를 격리합니다. 이웃 테넌트의 쓰기만으로 WAF가 1.28에서 3.0으로 오르고, 하드웨어로 격리하면 p99 지연이 최대 3.1배 줄었습니다. FDP는 배치 핸들로 수명이 같은 데이터를 모읍니다. SLC급, 고내구 TLC, 고용량 QLC에 모두 걸려 가장 넓습니다. Confidential Storage는 RoT, 암호화, 증명으로 기밀 VM의 디스크를 지킵니다. Meta는 Meta도 접근하지 못하는 Muse 기밀 VM을 예고했습니다. 고용량 QLC에는 여섯 가지 중 다섯 가지가 걸립니다. 오른쪽은 협력의 깊이입니다. 가로축은 고객 시스템과 함께 설계돼야 하는 정도, 세로축은 명확한 스펙만으로 최적화가 닫히는지입니다. Mixed Media와 Confidential Storage는 고객 시스템에 깊이 들어갑니다. 그러나 Mixed Media의 인터페이스는 표준 네임스페이스이고, pSLC 비율은 출하 시 정하는 값이며 고객이 이미 수치로 요구합니다. 네임스페이스 간 QoS도 목표 수치로 사내에서 검증할 수 있습니다. Confidential Storage는 Caliptra, SPDM, TDISP, OCP L.O.C.K. 같은 표준이 인터페이스와 동작을 정하고, 삼성은 L.O.C.K.의 공저자입니다. Large Mapping과 QoS도 고객의 쓰기 크기와 지연 목표를 스펙으로 받으면 됩니다. 이 다섯은 고객 요구를 정확한 스펙으로 받는 협력이면 충분합니다. FDP는 다릅니다. 효과는 고객 소프트웨어가 데이터 수명을 얼마나 잘 나누는지와, SSD의 RU 크기와 GC 정책이 맞물릴 때만 납니다. FAST'26의 WARP 연구에서는 같은 FDP 지원 드라이브, 같은 워크로드에서 한 장치는 WAF가 1 근처를 지켰고 다른 장치는 무너졌습니다. 분류가 어긋나 사용자 데이터의 99퍼센트가 한 핸들로 몰리면 효과가 사라지고, 한 핸들의 무효화가 다른 핸들의 WAF까지 키우기도 합니다. 게다가 RUH와 RG 구성은 출하 시 고정되므로, 고객 워크로드를 보고 미리 함께 정해야 합니다. CacheLib이 WAF를 3.22에서 1.03으로 낮춘 결과도 삼성 엔지니어가 Meta의 오픈소스 CacheLib 안에 들어가 구현하고 Meta가 받아들인 결과였습니다. 그래서 FDP는 고객과 함께 설계해야 제대로 동작합니다. 정리하면, 스펙을 정확히 받든 함께 설계하든, 핵심 기술을 제대로 확보하려면 고객과의 협력이 필수입니다. 협력의 깊이 판단은 과제팀의 판단이고, 근거는 위키에 정리했습니다.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3장입니다.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제목 오른쪽 숫자는 점으로 찍은 대표 제품이 아니라 조사한 226개 등급 전체의 중앙값입니다. 2008~2014년 9.6에서 2015~2018년 2, 2019년 이후 1로 내려왔고, 흐린 화살표가 이 흐름입니다. QLC는 0.2에서 0.6입니다. 세로축은 0에서 10까지 선형이고, 10을 넘는 초기 고내구 제품 3개는 그림에서 뺐습니다. 가장 높은 등급만 봐도 10에서 3으로 내려왔습니다. 셀이 견디는 쓰기가 SLC 10만 회에서 QLC 1천 회로 약 100배 줄었기 때문입니다. 10 DWPD 이상 등급은 67퍼센트에서 0퍼센트가 됐고, 30 이상은 Optane, Z-SSD 같은 SLC · SCM 특수 제품뿐이라 이 그림에서는 뺐습니다. 점선 영역은 NAND 종류입니다. MLC 시절 대표 제품은 10이었고, TLC로 오면서 5에서 3으로, 대용량 QLC는 1 아래로 내려왔습니다. SLC는 17에서 100이지만 용량이 작은 특수 제품이라 축 위에 따로 적었습니다. 반면 고객 캐시 계층은 하루 3회에서 7.2회를 씁니다.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2장에서 고른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자료입니다. 1장에서 본 데이터센터 응용 네 가지가 2030년까지 어느 정도의 수요가 되는지 공개 전망으로 정리했습니다. 막대는 McKinsey의 2024년 말 기준 시나리오입니다. eSSD 수요는 2024년 181엑사바이트에서 2030년 1,078엑사바이트로 약 6배가 됩니다. 2030년과 2024년 값은 McKinsey 수치이고, 그 사이 해는 수요처별 연평균 성장률로 이은 과제팀 산술입니다. 가장 큰 몫은 AI 추론입니다. KV 캐시와 RAG를 포함한 추론 수요는 6에서 447엑사바이트로 약 75배 늘어납니다. AI 학습은 7에서 127엑사바이트, 범용 클라우드와 엔터프라이즈는 총량에서 학습과 추론을 뺀 값으로 약 500엑사바이트입니다. 오른쪽은 올해와 2030년의 수요별 비중입니다. 올해는 범용이 85퍼센트, AI 추론 9퍼센트, AI 학습 6퍼센트입니다. 2030년에는 범용 47퍼센트, 추론 41퍼센트, 학습 12퍼센트가 됩니다. 추론이 32퍼센트포인트, 학습이 6퍼센트포인트 늘고, 범용은 38퍼센트포인트 줄어듭니다. 범용도 물량은 약 두 배로 늘지만 AI 수요가 훨씬 빨리 늘기 때문입니다. 다만 올해 비중은 2024년 전망을 이어 계산한 값입니다. 올해 실제로는 KV 캐시 수요가 앞당겨지고 있어 추론 비중이 이보다 클 수 있습니다. 에이전트는 따로 떼어 낸 전망이 없습니다. 추론의 KV 캐시와 범용의 VM 디스크에 나뉘어 잡힙니다. 마름모는 2026년에 나온 최신 전망입니다. JPM과 Kioxia는 2028년에 약 900엑사바이트를 봅니다. 2024년 전망 경로로는 2029년과 2030년 사이에야 닿는 규모라 약 1년 반 앞당겨진 셈입니다. 기관마다 정의가 달라 막대와 정확히 겹쳐 읽을 수는 없고 방향만 비교합니다. 모든 수치는 검색으로 확인한 2차 자료이며 1차 문서 대조가 필요합니다.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5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SSD의 다음 수요는 하나로 정해지지 않으며,</a:t>
            </a:r>
          </a:p>
          <a:p>
            <a:pPr algn="l">
              <a:lnSpc>
                <a:spcPct val="105000"/>
              </a:lnSpc>
            </a:pPr>
            <a:r>
              <a:rPr sz="3200" b="1">
                <a:solidFill>
                  <a:srgbClr val="1A1A1A"/>
                </a:solidFill>
                <a:latin typeface="Arial"/>
                <a:ea typeface="Arial"/>
              </a:rPr>
              <a:t>데이터센터 응용마다 SSD에 요구하는 특성이 다릅니다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오프로드</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쓰기 내구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ectangle 70"/>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3" name="TextBox 72"/>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4" name="Rectangle 73"/>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76" name="TextBox 75"/>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77" name="TextBox 76"/>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78" name="TextBox 77"/>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79" name="Rectangle 78"/>
          <p:cNvSpPr/>
          <p:nvPr/>
        </p:nvSpPr>
        <p:spPr>
          <a:xfrm>
            <a:off x="1248071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221096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a:t>
            </a:r>
          </a:p>
        </p:txBody>
      </p:sp>
      <p:sp>
        <p:nvSpPr>
          <p:cNvPr id="81" name="Rectangle 80"/>
          <p:cNvSpPr/>
          <p:nvPr/>
        </p:nvSpPr>
        <p:spPr>
          <a:xfrm>
            <a:off x="1285508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258533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a:t>
            </a:r>
          </a:p>
        </p:txBody>
      </p:sp>
      <p:sp>
        <p:nvSpPr>
          <p:cNvPr id="83" name="Rectangle 82"/>
          <p:cNvSpPr/>
          <p:nvPr/>
        </p:nvSpPr>
        <p:spPr>
          <a:xfrm>
            <a:off x="13229452"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959704"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100</a:t>
            </a:r>
          </a:p>
        </p:txBody>
      </p:sp>
      <p:sp>
        <p:nvSpPr>
          <p:cNvPr id="85" name="TextBox 84"/>
          <p:cNvSpPr txBox="1"/>
          <p:nvPr/>
        </p:nvSpPr>
        <p:spPr>
          <a:xfrm>
            <a:off x="11192256" y="29809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QLC 정격</a:t>
            </a:r>
          </a:p>
        </p:txBody>
      </p:sp>
      <p:sp>
        <p:nvSpPr>
          <p:cNvPr id="86" name="Rectangle 85"/>
          <p:cNvSpPr/>
          <p:nvPr/>
        </p:nvSpPr>
        <p:spPr>
          <a:xfrm>
            <a:off x="12289536" y="3017520"/>
            <a:ext cx="112696" cy="2926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457096" y="29809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0.6</a:t>
            </a:r>
          </a:p>
        </p:txBody>
      </p:sp>
      <p:sp>
        <p:nvSpPr>
          <p:cNvPr id="88" name="TextBox 87"/>
          <p:cNvSpPr txBox="1"/>
          <p:nvPr/>
        </p:nvSpPr>
        <p:spPr>
          <a:xfrm>
            <a:off x="11192256" y="34381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KV 실측</a:t>
            </a:r>
          </a:p>
        </p:txBody>
      </p:sp>
      <p:sp>
        <p:nvSpPr>
          <p:cNvPr id="89" name="Rectangle 88"/>
          <p:cNvSpPr/>
          <p:nvPr/>
        </p:nvSpPr>
        <p:spPr>
          <a:xfrm>
            <a:off x="12289536" y="3474720"/>
            <a:ext cx="384862"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2729262" y="34381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3.2</a:t>
            </a:r>
          </a:p>
        </p:txBody>
      </p:sp>
      <p:sp>
        <p:nvSpPr>
          <p:cNvPr id="91" name="TextBox 90"/>
          <p:cNvSpPr txBox="1"/>
          <p:nvPr/>
        </p:nvSpPr>
        <p:spPr>
          <a:xfrm>
            <a:off x="11192256" y="3895344"/>
            <a:ext cx="1042415"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전용</a:t>
            </a:r>
          </a:p>
        </p:txBody>
      </p:sp>
      <p:sp>
        <p:nvSpPr>
          <p:cNvPr id="92" name="Rectangle 91"/>
          <p:cNvSpPr/>
          <p:nvPr/>
        </p:nvSpPr>
        <p:spPr>
          <a:xfrm>
            <a:off x="12289536" y="3931920"/>
            <a:ext cx="974131"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3107612" y="3895344"/>
            <a:ext cx="2743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3318531" y="3895344"/>
            <a:ext cx="868680"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50~120</a:t>
            </a:r>
          </a:p>
        </p:txBody>
      </p:sp>
      <p:sp>
        <p:nvSpPr>
          <p:cNvPr id="95" name="Rectangle 94"/>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6" name="TextBox 125"/>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7" name="Rectangle 126"/>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9" name="TextBox 128"/>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30" name="Rectangle 129"/>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32" name="TextBox 131"/>
          <p:cNvSpPr txBox="1"/>
          <p:nvPr/>
        </p:nvSpPr>
        <p:spPr>
          <a:xfrm>
            <a:off x="722376" y="5321808"/>
            <a:ext cx="3383280" cy="27432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33" name="TextBox 132"/>
          <p:cNvSpPr txBox="1"/>
          <p:nvPr/>
        </p:nvSpPr>
        <p:spPr>
          <a:xfrm>
            <a:off x="722376" y="5650992"/>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출처: McKinsey 2024-12</a:t>
            </a:r>
          </a:p>
        </p:txBody>
      </p:sp>
      <p:sp>
        <p:nvSpPr>
          <p:cNvPr id="134" name="TextBox 133"/>
          <p:cNvSpPr txBox="1"/>
          <p:nvPr/>
        </p:nvSpPr>
        <p:spPr>
          <a:xfrm>
            <a:off x="722376" y="5321808"/>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2026 올해</a:t>
            </a:r>
          </a:p>
        </p:txBody>
      </p:sp>
      <p:sp>
        <p:nvSpPr>
          <p:cNvPr id="135" name="Rectangle 134"/>
          <p:cNvSpPr/>
          <p:nvPr/>
        </p:nvSpPr>
        <p:spPr>
          <a:xfrm>
            <a:off x="4306824" y="5321808"/>
            <a:ext cx="1033729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4306824" y="5321808"/>
            <a:ext cx="1033729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85%</a:t>
            </a:r>
          </a:p>
        </p:txBody>
      </p:sp>
      <p:sp>
        <p:nvSpPr>
          <p:cNvPr id="137" name="Rectangle 136"/>
          <p:cNvSpPr/>
          <p:nvPr/>
        </p:nvSpPr>
        <p:spPr>
          <a:xfrm>
            <a:off x="14644116" y="5321808"/>
            <a:ext cx="729691"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4644116" y="5321808"/>
            <a:ext cx="729691"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39" name="Rectangle 138"/>
          <p:cNvSpPr/>
          <p:nvPr/>
        </p:nvSpPr>
        <p:spPr>
          <a:xfrm>
            <a:off x="15373807" y="5321808"/>
            <a:ext cx="1094536"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5373807" y="5321808"/>
            <a:ext cx="10945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9%</a:t>
            </a:r>
          </a:p>
        </p:txBody>
      </p:sp>
      <p:sp>
        <p:nvSpPr>
          <p:cNvPr id="141" name="TextBox 140"/>
          <p:cNvSpPr txBox="1"/>
          <p:nvPr/>
        </p:nvSpPr>
        <p:spPr>
          <a:xfrm>
            <a:off x="16559784" y="5321808"/>
            <a:ext cx="100584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286EB</a:t>
            </a:r>
          </a:p>
        </p:txBody>
      </p:sp>
      <p:sp>
        <p:nvSpPr>
          <p:cNvPr id="142" name="TextBox 141"/>
          <p:cNvSpPr txBox="1"/>
          <p:nvPr/>
        </p:nvSpPr>
        <p:spPr>
          <a:xfrm>
            <a:off x="722376" y="5650992"/>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43" name="Rectangle 142"/>
          <p:cNvSpPr/>
          <p:nvPr/>
        </p:nvSpPr>
        <p:spPr>
          <a:xfrm>
            <a:off x="4306824" y="5650992"/>
            <a:ext cx="5715914"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4306824" y="5650992"/>
            <a:ext cx="5715914"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47%</a:t>
            </a:r>
          </a:p>
        </p:txBody>
      </p:sp>
      <p:sp>
        <p:nvSpPr>
          <p:cNvPr id="145" name="Rectangle 144"/>
          <p:cNvSpPr/>
          <p:nvPr/>
        </p:nvSpPr>
        <p:spPr>
          <a:xfrm>
            <a:off x="10022738" y="5650992"/>
            <a:ext cx="1459382"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0022738" y="5650992"/>
            <a:ext cx="1459382"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12%</a:t>
            </a:r>
          </a:p>
        </p:txBody>
      </p:sp>
      <p:sp>
        <p:nvSpPr>
          <p:cNvPr id="147" name="Rectangle 146"/>
          <p:cNvSpPr/>
          <p:nvPr/>
        </p:nvSpPr>
        <p:spPr>
          <a:xfrm>
            <a:off x="11482120" y="5650992"/>
            <a:ext cx="4986223"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11482120" y="5650992"/>
            <a:ext cx="4986223"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41%</a:t>
            </a:r>
          </a:p>
        </p:txBody>
      </p:sp>
      <p:sp>
        <p:nvSpPr>
          <p:cNvPr id="149" name="TextBox 148"/>
          <p:cNvSpPr txBox="1"/>
          <p:nvPr/>
        </p:nvSpPr>
        <p:spPr>
          <a:xfrm>
            <a:off x="16559784" y="5650992"/>
            <a:ext cx="1005840" cy="274320"/>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1,078EB</a:t>
            </a:r>
          </a:p>
        </p:txBody>
      </p:sp>
      <p:sp>
        <p:nvSpPr>
          <p:cNvPr id="150" name="TextBox 149"/>
          <p:cNvSpPr txBox="1"/>
          <p:nvPr/>
        </p:nvSpPr>
        <p:spPr>
          <a:xfrm>
            <a:off x="722376" y="6035040"/>
            <a:ext cx="8869680" cy="29260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SSD 제품군  </a:t>
            </a:r>
            <a:r>
              <a:rPr sz="1600" b="0">
                <a:solidFill>
                  <a:srgbClr val="555555"/>
                </a:solidFill>
                <a:latin typeface="Arial"/>
                <a:ea typeface="Arial"/>
              </a:rPr>
              <a:t>DWPD · 최대 용량</a:t>
            </a:r>
          </a:p>
        </p:txBody>
      </p:sp>
      <p:sp>
        <p:nvSpPr>
          <p:cNvPr id="151" name="TextBox 150"/>
          <p:cNvSpPr txBox="1"/>
          <p:nvPr/>
        </p:nvSpPr>
        <p:spPr>
          <a:xfrm>
            <a:off x="12079224" y="6035040"/>
            <a:ext cx="5486400" cy="292608"/>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지금 쓰는 곳   </a:t>
            </a:r>
            <a:r>
              <a:rPr sz="1600" b="0">
                <a:solidFill>
                  <a:srgbClr val="1428A0"/>
                </a:solidFill>
                <a:latin typeface="Arial"/>
                <a:ea typeface="Arial"/>
              </a:rPr>
              <a:t>▢</a:t>
            </a:r>
            <a:r>
              <a:rPr sz="1600" b="0">
                <a:solidFill>
                  <a:srgbClr val="555555"/>
                </a:solidFill>
                <a:latin typeface="Arial"/>
                <a:ea typeface="Arial"/>
              </a:rPr>
              <a:t> 신호에 따라 쓰일 곳</a:t>
            </a:r>
          </a:p>
        </p:txBody>
      </p:sp>
      <p:sp>
        <p:nvSpPr>
          <p:cNvPr id="152" name="Rounded Rectangle 151"/>
          <p:cNvSpPr/>
          <p:nvPr/>
        </p:nvSpPr>
        <p:spPr>
          <a:xfrm>
            <a:off x="722376" y="6364224"/>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923544" y="6382512"/>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SLC급</a:t>
            </a:r>
          </a:p>
        </p:txBody>
      </p:sp>
      <p:sp>
        <p:nvSpPr>
          <p:cNvPr id="154" name="TextBox 153"/>
          <p:cNvSpPr txBox="1"/>
          <p:nvPr/>
        </p:nvSpPr>
        <p:spPr>
          <a:xfrm>
            <a:off x="2916936" y="6382512"/>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3.2TB</a:t>
            </a:r>
          </a:p>
        </p:txBody>
      </p:sp>
      <p:sp>
        <p:nvSpPr>
          <p:cNvPr id="155" name="Rectangle 154"/>
          <p:cNvSpPr/>
          <p:nvPr/>
        </p:nvSpPr>
        <p:spPr>
          <a:xfrm>
            <a:off x="923544" y="6702552"/>
            <a:ext cx="2127598" cy="1280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2621425" y="6675120"/>
            <a:ext cx="27432" cy="1828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3106006" y="6620256"/>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30~120</a:t>
            </a:r>
          </a:p>
        </p:txBody>
      </p:sp>
      <p:sp>
        <p:nvSpPr>
          <p:cNvPr id="158" name="Rounded Rectangle 157"/>
          <p:cNvSpPr/>
          <p:nvPr/>
        </p:nvSpPr>
        <p:spPr>
          <a:xfrm>
            <a:off x="4306824"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ounded Rectangle 158"/>
          <p:cNvSpPr/>
          <p:nvPr/>
        </p:nvSpPr>
        <p:spPr>
          <a:xfrm>
            <a:off x="7658100"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ounded Rectangle 159"/>
          <p:cNvSpPr/>
          <p:nvPr/>
        </p:nvSpPr>
        <p:spPr>
          <a:xfrm>
            <a:off x="11009376" y="6364224"/>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11064240" y="6364224"/>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초고DWPD KV</a:t>
            </a:r>
          </a:p>
        </p:txBody>
      </p:sp>
      <p:sp>
        <p:nvSpPr>
          <p:cNvPr id="162" name="Rounded Rectangle 161"/>
          <p:cNvSpPr/>
          <p:nvPr/>
        </p:nvSpPr>
        <p:spPr>
          <a:xfrm>
            <a:off x="14360652" y="6364224"/>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722376" y="6931152"/>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923544" y="6949440"/>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고내구 TLC</a:t>
            </a:r>
          </a:p>
        </p:txBody>
      </p:sp>
      <p:sp>
        <p:nvSpPr>
          <p:cNvPr id="165" name="TextBox 164"/>
          <p:cNvSpPr txBox="1"/>
          <p:nvPr/>
        </p:nvSpPr>
        <p:spPr>
          <a:xfrm>
            <a:off x="2916936" y="6949440"/>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12.8TB</a:t>
            </a:r>
          </a:p>
        </p:txBody>
      </p:sp>
      <p:sp>
        <p:nvSpPr>
          <p:cNvPr id="166" name="Rectangle 165"/>
          <p:cNvSpPr/>
          <p:nvPr/>
        </p:nvSpPr>
        <p:spPr>
          <a:xfrm>
            <a:off x="923544" y="7269480"/>
            <a:ext cx="1020635" cy="12801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999043" y="7187184"/>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a:t>
            </a:r>
          </a:p>
        </p:txBody>
      </p:sp>
      <p:sp>
        <p:nvSpPr>
          <p:cNvPr id="168" name="Rounded Rectangle 167"/>
          <p:cNvSpPr/>
          <p:nvPr/>
        </p:nvSpPr>
        <p:spPr>
          <a:xfrm>
            <a:off x="4306824" y="6931152"/>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ounded Rectangle 168"/>
          <p:cNvSpPr/>
          <p:nvPr/>
        </p:nvSpPr>
        <p:spPr>
          <a:xfrm>
            <a:off x="7658100" y="6931152"/>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7712964" y="6931152"/>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체크포인트</a:t>
            </a:r>
          </a:p>
        </p:txBody>
      </p:sp>
      <p:sp>
        <p:nvSpPr>
          <p:cNvPr id="171" name="Rounded Rectangle 170"/>
          <p:cNvSpPr/>
          <p:nvPr/>
        </p:nvSpPr>
        <p:spPr>
          <a:xfrm>
            <a:off x="11009376" y="6931152"/>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11064240" y="6931152"/>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쓰기 많을 때</a:t>
            </a:r>
          </a:p>
        </p:txBody>
      </p:sp>
      <p:sp>
        <p:nvSpPr>
          <p:cNvPr id="173" name="Rounded Rectangle 172"/>
          <p:cNvSpPr/>
          <p:nvPr/>
        </p:nvSpPr>
        <p:spPr>
          <a:xfrm>
            <a:off x="14360652" y="6931152"/>
            <a:ext cx="3204972" cy="512064"/>
          </a:xfrm>
          <a:prstGeom prst="roundRect">
            <a:avLst>
              <a:gd name="adj" fmla="val 1428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ounded Rectangle 173"/>
          <p:cNvSpPr/>
          <p:nvPr/>
        </p:nvSpPr>
        <p:spPr>
          <a:xfrm>
            <a:off x="722376" y="7498079"/>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923544" y="7516367"/>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고성능 · 범용 TLC</a:t>
            </a:r>
          </a:p>
        </p:txBody>
      </p:sp>
      <p:sp>
        <p:nvSpPr>
          <p:cNvPr id="176" name="TextBox 175"/>
          <p:cNvSpPr txBox="1"/>
          <p:nvPr/>
        </p:nvSpPr>
        <p:spPr>
          <a:xfrm>
            <a:off x="2916936" y="7516367"/>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15.36TB</a:t>
            </a:r>
          </a:p>
        </p:txBody>
      </p:sp>
      <p:sp>
        <p:nvSpPr>
          <p:cNvPr id="177" name="Rectangle 176"/>
          <p:cNvSpPr/>
          <p:nvPr/>
        </p:nvSpPr>
        <p:spPr>
          <a:xfrm>
            <a:off x="923544" y="7836407"/>
            <a:ext cx="690962" cy="1280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1669370" y="7754111"/>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a:t>
            </a:r>
          </a:p>
        </p:txBody>
      </p:sp>
      <p:sp>
        <p:nvSpPr>
          <p:cNvPr id="179" name="Rounded Rectangle 178"/>
          <p:cNvSpPr/>
          <p:nvPr/>
        </p:nvSpPr>
        <p:spPr>
          <a:xfrm>
            <a:off x="4306824"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4361688"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VM · DB 블록</a:t>
            </a:r>
          </a:p>
        </p:txBody>
      </p:sp>
      <p:sp>
        <p:nvSpPr>
          <p:cNvPr id="181" name="Rounded Rectangle 180"/>
          <p:cNvSpPr/>
          <p:nvPr/>
        </p:nvSpPr>
        <p:spPr>
          <a:xfrm>
            <a:off x="7658100"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7712964"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 로딩</a:t>
            </a:r>
          </a:p>
        </p:txBody>
      </p:sp>
      <p:sp>
        <p:nvSpPr>
          <p:cNvPr id="183" name="Rounded Rectangle 182"/>
          <p:cNvSpPr/>
          <p:nvPr/>
        </p:nvSpPr>
        <p:spPr>
          <a:xfrm>
            <a:off x="11009376" y="7498079"/>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1064240" y="7498079"/>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계층 (CMX)</a:t>
            </a:r>
          </a:p>
        </p:txBody>
      </p:sp>
      <p:sp>
        <p:nvSpPr>
          <p:cNvPr id="185" name="Rounded Rectangle 184"/>
          <p:cNvSpPr/>
          <p:nvPr/>
        </p:nvSpPr>
        <p:spPr>
          <a:xfrm>
            <a:off x="14360652" y="7498079"/>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14415516" y="7498079"/>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기동 버스트</a:t>
            </a:r>
          </a:p>
        </p:txBody>
      </p:sp>
      <p:sp>
        <p:nvSpPr>
          <p:cNvPr id="187" name="Rounded Rectangle 186"/>
          <p:cNvSpPr/>
          <p:nvPr/>
        </p:nvSpPr>
        <p:spPr>
          <a:xfrm>
            <a:off x="722376" y="8065008"/>
            <a:ext cx="3383280" cy="512064"/>
          </a:xfrm>
          <a:prstGeom prst="roundRect">
            <a:avLst>
              <a:gd name="adj" fmla="val 1428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TextBox 187"/>
          <p:cNvSpPr txBox="1"/>
          <p:nvPr/>
        </p:nvSpPr>
        <p:spPr>
          <a:xfrm>
            <a:off x="923544" y="8083296"/>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고용량 QLC</a:t>
            </a:r>
          </a:p>
        </p:txBody>
      </p:sp>
      <p:sp>
        <p:nvSpPr>
          <p:cNvPr id="189" name="TextBox 188"/>
          <p:cNvSpPr txBox="1"/>
          <p:nvPr/>
        </p:nvSpPr>
        <p:spPr>
          <a:xfrm>
            <a:off x="2916936" y="8083296"/>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245TB</a:t>
            </a:r>
          </a:p>
        </p:txBody>
      </p:sp>
      <p:sp>
        <p:nvSpPr>
          <p:cNvPr id="190" name="Rectangle 189"/>
          <p:cNvSpPr/>
          <p:nvPr/>
        </p:nvSpPr>
        <p:spPr>
          <a:xfrm>
            <a:off x="923544" y="8403336"/>
            <a:ext cx="537673" cy="12801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1239500" y="8375904"/>
            <a:ext cx="27432" cy="1828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1516081" y="8321040"/>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0.3~0.6</a:t>
            </a:r>
          </a:p>
        </p:txBody>
      </p:sp>
      <p:sp>
        <p:nvSpPr>
          <p:cNvPr id="193" name="Rounded Rectangle 192"/>
          <p:cNvSpPr/>
          <p:nvPr/>
        </p:nvSpPr>
        <p:spPr>
          <a:xfrm>
            <a:off x="4306824"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4361688"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객체 · 콜드 데이터</a:t>
            </a:r>
          </a:p>
        </p:txBody>
      </p:sp>
      <p:sp>
        <p:nvSpPr>
          <p:cNvPr id="195" name="Rounded Rectangle 194"/>
          <p:cNvSpPr/>
          <p:nvPr/>
        </p:nvSpPr>
        <p:spPr>
          <a:xfrm>
            <a:off x="7658100"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7712964"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데이터셋</a:t>
            </a:r>
          </a:p>
        </p:txBody>
      </p:sp>
      <p:sp>
        <p:nvSpPr>
          <p:cNvPr id="197" name="Rounded Rectangle 196"/>
          <p:cNvSpPr/>
          <p:nvPr/>
        </p:nvSpPr>
        <p:spPr>
          <a:xfrm>
            <a:off x="11009376" y="8065008"/>
            <a:ext cx="3204972" cy="512064"/>
          </a:xfrm>
          <a:prstGeom prst="roundRect">
            <a:avLst>
              <a:gd name="adj" fmla="val 14285"/>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11064240" y="8065008"/>
            <a:ext cx="3095244" cy="512064"/>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읽기 위주 KV</a:t>
            </a:r>
          </a:p>
        </p:txBody>
      </p:sp>
      <p:sp>
        <p:nvSpPr>
          <p:cNvPr id="199" name="Rounded Rectangle 198"/>
          <p:cNvSpPr/>
          <p:nvPr/>
        </p:nvSpPr>
        <p:spPr>
          <a:xfrm>
            <a:off x="14360652" y="8065008"/>
            <a:ext cx="3204972"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14415516" y="8065008"/>
            <a:ext cx="3095244" cy="51206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사용자 VM 디스크 · 상태</a:t>
            </a:r>
          </a:p>
        </p:txBody>
      </p:sp>
      <p:sp>
        <p:nvSpPr>
          <p:cNvPr id="201" name="Rectangle 200"/>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203" name="TextBox 202"/>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다양한 데이터센터 응용에 대응하려면, SLC부터 QLC까지 다양한 제품 포트폴리오가 필요합니다</a:t>
            </a:r>
          </a:p>
        </p:txBody>
      </p:sp>
      <p:sp>
        <p:nvSpPr>
          <p:cNvPr id="204" name="TextBox 20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McKinsey(2024-12, 2026은 보간 · 범용은 산술, 상세 5장) · HBM 과제팀 집계 · 공유 SSD p99 FlashBlox(FAST'17) · GPU당 대역 NVIDIA SuperPOD(환산) · KV 실측 StorageReview(2026-08) · AI 전용 Kioxia · DapuStor · 에이전트 Google · Muse 관측(제3자) · 제품군 Kioxia FL6 · LC9, Solidigm PS1010 · PS1030</a:t>
            </a:r>
          </a:p>
        </p:txBody>
      </p:sp>
      <p:sp>
        <p:nvSpPr>
          <p:cNvPr id="205" name="TextBox 20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5  핵심 기술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핵심 기술 여섯 가지 중 다섯은 명확한 스펙으로 풀리지만,</a:t>
            </a:r>
          </a:p>
          <a:p>
            <a:pPr algn="l">
              <a:lnSpc>
                <a:spcPct val="105000"/>
              </a:lnSpc>
            </a:pPr>
            <a:r>
              <a:rPr sz="3200" b="1">
                <a:solidFill>
                  <a:srgbClr val="1A1A1A"/>
                </a:solidFill>
                <a:latin typeface="Arial"/>
                <a:ea typeface="Arial"/>
              </a:rPr>
              <a:t>FDP는 고객과 함께 설계해야 제대로 동작합니다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704088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어떤 제품군에 쓰이나</a:t>
            </a:r>
          </a:p>
        </p:txBody>
      </p:sp>
      <p:sp>
        <p:nvSpPr>
          <p:cNvPr id="7" name="TextBox 6"/>
          <p:cNvSpPr txBox="1"/>
          <p:nvPr/>
        </p:nvSpPr>
        <p:spPr>
          <a:xfrm>
            <a:off x="722376" y="2560320"/>
            <a:ext cx="3566160" cy="274320"/>
          </a:xfrm>
          <a:prstGeom prst="rect">
            <a:avLst/>
          </a:prstGeom>
          <a:noFill/>
        </p:spPr>
        <p:txBody>
          <a:bodyPr wrap="square" anchor="ctr" lIns="0" rIns="0" tIns="0" bIns="0">
            <a:spAutoFit/>
          </a:bodyPr>
          <a:lstStyle/>
          <a:p>
            <a:pPr algn="l">
              <a:lnSpc>
                <a:spcPct val="110000"/>
              </a:lnSpc>
            </a:pPr>
            <a:r>
              <a:rPr sz="1600" b="0">
                <a:solidFill>
                  <a:srgbClr val="3C5AC8"/>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8" name="TextBox 7"/>
          <p:cNvSpPr txBox="1"/>
          <p:nvPr/>
        </p:nvSpPr>
        <p:spPr>
          <a:xfrm>
            <a:off x="428853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SLC급</a:t>
            </a:r>
          </a:p>
        </p:txBody>
      </p:sp>
      <p:sp>
        <p:nvSpPr>
          <p:cNvPr id="9" name="TextBox 8"/>
          <p:cNvSpPr txBox="1"/>
          <p:nvPr/>
        </p:nvSpPr>
        <p:spPr>
          <a:xfrm>
            <a:off x="515721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고내구</a:t>
            </a:r>
          </a:p>
          <a:p>
            <a:pPr algn="ctr">
              <a:lnSpc>
                <a:spcPct val="100000"/>
              </a:lnSpc>
            </a:pPr>
            <a:r>
              <a:rPr sz="1600" b="0">
                <a:solidFill>
                  <a:srgbClr val="555555"/>
                </a:solidFill>
                <a:latin typeface="Arial"/>
                <a:ea typeface="Arial"/>
              </a:rPr>
              <a:t>TLC</a:t>
            </a:r>
          </a:p>
        </p:txBody>
      </p:sp>
      <p:sp>
        <p:nvSpPr>
          <p:cNvPr id="10" name="TextBox 9"/>
          <p:cNvSpPr txBox="1"/>
          <p:nvPr/>
        </p:nvSpPr>
        <p:spPr>
          <a:xfrm>
            <a:off x="602589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고성능</a:t>
            </a:r>
          </a:p>
          <a:p>
            <a:pPr algn="ctr">
              <a:lnSpc>
                <a:spcPct val="100000"/>
              </a:lnSpc>
            </a:pPr>
            <a:r>
              <a:rPr sz="1600" b="0">
                <a:solidFill>
                  <a:srgbClr val="555555"/>
                </a:solidFill>
                <a:latin typeface="Arial"/>
                <a:ea typeface="Arial"/>
              </a:rPr>
              <a:t>TLC</a:t>
            </a:r>
          </a:p>
        </p:txBody>
      </p:sp>
      <p:sp>
        <p:nvSpPr>
          <p:cNvPr id="11" name="TextBox 10"/>
          <p:cNvSpPr txBox="1"/>
          <p:nvPr/>
        </p:nvSpPr>
        <p:spPr>
          <a:xfrm>
            <a:off x="6894575"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고용량</a:t>
            </a:r>
          </a:p>
          <a:p>
            <a:pPr algn="ctr">
              <a:lnSpc>
                <a:spcPct val="100000"/>
              </a:lnSpc>
            </a:pPr>
            <a:r>
              <a:rPr sz="1600" b="0">
                <a:solidFill>
                  <a:srgbClr val="555555"/>
                </a:solidFill>
                <a:latin typeface="Arial"/>
                <a:ea typeface="Arial"/>
              </a:rPr>
              <a:t>QLC</a:t>
            </a:r>
          </a:p>
        </p:txBody>
      </p:sp>
      <p:sp>
        <p:nvSpPr>
          <p:cNvPr id="12" name="Rounded Rectangle 11"/>
          <p:cNvSpPr/>
          <p:nvPr/>
        </p:nvSpPr>
        <p:spPr>
          <a:xfrm>
            <a:off x="722376" y="3017520"/>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72384"/>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Fault Tolerant</a:t>
            </a:r>
          </a:p>
        </p:txBody>
      </p:sp>
      <p:sp>
        <p:nvSpPr>
          <p:cNvPr id="14" name="TextBox 13"/>
          <p:cNvSpPr txBox="1"/>
          <p:nvPr/>
        </p:nvSpPr>
        <p:spPr>
          <a:xfrm>
            <a:off x="905256" y="3438144"/>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다이 · 플레인 고장 격리</a:t>
            </a:r>
          </a:p>
        </p:txBody>
      </p:sp>
      <p:sp>
        <p:nvSpPr>
          <p:cNvPr id="15" name="Oval 14"/>
          <p:cNvSpPr/>
          <p:nvPr/>
        </p:nvSpPr>
        <p:spPr>
          <a:xfrm>
            <a:off x="6304788" y="3255264"/>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73467" y="325526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2376" y="3877056"/>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3931920"/>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Large Mapping</a:t>
            </a:r>
          </a:p>
        </p:txBody>
      </p:sp>
      <p:sp>
        <p:nvSpPr>
          <p:cNvPr id="19" name="TextBox 18"/>
          <p:cNvSpPr txBox="1"/>
          <p:nvPr/>
        </p:nvSpPr>
        <p:spPr>
          <a:xfrm>
            <a:off x="905256" y="4297680"/>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매핑 단위 4KB → 8~64KB</a:t>
            </a:r>
          </a:p>
        </p:txBody>
      </p:sp>
      <p:sp>
        <p:nvSpPr>
          <p:cNvPr id="20" name="Oval 19"/>
          <p:cNvSpPr/>
          <p:nvPr/>
        </p:nvSpPr>
        <p:spPr>
          <a:xfrm>
            <a:off x="7173467" y="4114800"/>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2376" y="4736592"/>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4791455"/>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Mixed Media</a:t>
            </a:r>
          </a:p>
        </p:txBody>
      </p:sp>
      <p:sp>
        <p:nvSpPr>
          <p:cNvPr id="23" name="TextBox 22"/>
          <p:cNvSpPr txBox="1"/>
          <p:nvPr/>
        </p:nvSpPr>
        <p:spPr>
          <a:xfrm>
            <a:off x="905256" y="5157216"/>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pSLC + QLC 네임스페이스 분리</a:t>
            </a:r>
          </a:p>
        </p:txBody>
      </p:sp>
      <p:sp>
        <p:nvSpPr>
          <p:cNvPr id="24" name="Oval 23"/>
          <p:cNvSpPr/>
          <p:nvPr/>
        </p:nvSpPr>
        <p:spPr>
          <a:xfrm>
            <a:off x="7173467" y="4974336"/>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 y="5596127"/>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5650991"/>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Multi-Tenant QoS</a:t>
            </a:r>
          </a:p>
        </p:txBody>
      </p:sp>
      <p:sp>
        <p:nvSpPr>
          <p:cNvPr id="27" name="TextBox 26"/>
          <p:cNvSpPr txBox="1"/>
          <p:nvPr/>
        </p:nvSpPr>
        <p:spPr>
          <a:xfrm>
            <a:off x="905256" y="6016751"/>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네임스페이스 QoS 격리</a:t>
            </a:r>
          </a:p>
        </p:txBody>
      </p:sp>
      <p:sp>
        <p:nvSpPr>
          <p:cNvPr id="28" name="Oval 27"/>
          <p:cNvSpPr/>
          <p:nvPr/>
        </p:nvSpPr>
        <p:spPr>
          <a:xfrm>
            <a:off x="5436107" y="5833871"/>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4788"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173467"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22376" y="6455664"/>
            <a:ext cx="7040880" cy="786384"/>
          </a:xfrm>
          <a:prstGeom prst="roundRect">
            <a:avLst>
              <a:gd name="adj" fmla="val 930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6510527"/>
            <a:ext cx="333756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FDP</a:t>
            </a:r>
          </a:p>
        </p:txBody>
      </p:sp>
      <p:sp>
        <p:nvSpPr>
          <p:cNvPr id="33" name="TextBox 32"/>
          <p:cNvSpPr txBox="1"/>
          <p:nvPr/>
        </p:nvSpPr>
        <p:spPr>
          <a:xfrm>
            <a:off x="905256" y="6876288"/>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RUH · RG 배치 정책</a:t>
            </a:r>
          </a:p>
        </p:txBody>
      </p:sp>
      <p:sp>
        <p:nvSpPr>
          <p:cNvPr id="34" name="Oval 33"/>
          <p:cNvSpPr/>
          <p:nvPr/>
        </p:nvSpPr>
        <p:spPr>
          <a:xfrm>
            <a:off x="456742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3610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04788" y="6693407"/>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7346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22376" y="7315199"/>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370063"/>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Confidential Storage</a:t>
            </a:r>
          </a:p>
        </p:txBody>
      </p:sp>
      <p:sp>
        <p:nvSpPr>
          <p:cNvPr id="40" name="TextBox 39"/>
          <p:cNvSpPr txBox="1"/>
          <p:nvPr/>
        </p:nvSpPr>
        <p:spPr>
          <a:xfrm>
            <a:off x="905256" y="7735823"/>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RoT · 암호화 · 증명</a:t>
            </a:r>
          </a:p>
        </p:txBody>
      </p:sp>
      <p:sp>
        <p:nvSpPr>
          <p:cNvPr id="41" name="Oval 40"/>
          <p:cNvSpPr/>
          <p:nvPr/>
        </p:nvSpPr>
        <p:spPr>
          <a:xfrm>
            <a:off x="6304788"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173467"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74736" y="2139696"/>
            <a:ext cx="9390888"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고객과 어떻게 협력하나</a:t>
            </a:r>
          </a:p>
        </p:txBody>
      </p:sp>
      <p:sp>
        <p:nvSpPr>
          <p:cNvPr id="44" name="Rectangle 43"/>
          <p:cNvSpPr/>
          <p:nvPr/>
        </p:nvSpPr>
        <p:spPr>
          <a:xfrm>
            <a:off x="8449056" y="3017520"/>
            <a:ext cx="9070848" cy="46634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136714" y="4866815"/>
            <a:ext cx="6383189" cy="281414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3992352" y="3017520"/>
            <a:ext cx="3527551" cy="1849295"/>
          </a:xfrm>
          <a:prstGeom prst="rect">
            <a:avLst/>
          </a:prstGeom>
          <a:solidFill>
            <a:srgbClr val="EEF1FA"/>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4138656" y="3108960"/>
            <a:ext cx="274320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공동 설계 필수</a:t>
            </a:r>
          </a:p>
        </p:txBody>
      </p:sp>
      <p:sp>
        <p:nvSpPr>
          <p:cNvPr id="48" name="TextBox 47"/>
          <p:cNvSpPr txBox="1"/>
          <p:nvPr/>
        </p:nvSpPr>
        <p:spPr>
          <a:xfrm>
            <a:off x="11283018" y="4958255"/>
            <a:ext cx="27432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스펙으로 협력</a:t>
            </a:r>
          </a:p>
        </p:txBody>
      </p:sp>
      <p:sp>
        <p:nvSpPr>
          <p:cNvPr id="49" name="TextBox 48"/>
          <p:cNvSpPr txBox="1"/>
          <p:nvPr/>
        </p:nvSpPr>
        <p:spPr>
          <a:xfrm>
            <a:off x="8558784" y="4958255"/>
            <a:ext cx="18288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안에서</a:t>
            </a:r>
          </a:p>
        </p:txBody>
      </p:sp>
      <p:sp>
        <p:nvSpPr>
          <p:cNvPr id="50" name="Rectangle 49"/>
          <p:cNvSpPr/>
          <p:nvPr/>
        </p:nvSpPr>
        <p:spPr>
          <a:xfrm>
            <a:off x="8449056" y="7671816"/>
            <a:ext cx="9070848" cy="2743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439912" y="3017520"/>
            <a:ext cx="27432" cy="4663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49056" y="7735824"/>
            <a:ext cx="9070848" cy="310896"/>
          </a:xfrm>
          <a:prstGeom prst="rect">
            <a:avLst/>
          </a:prstGeom>
          <a:noFill/>
        </p:spPr>
        <p:txBody>
          <a:bodyPr wrap="square" anchor="ctr" lIns="0" rIns="0" tIns="0" bIns="0">
            <a:spAutoFit/>
          </a:bodyPr>
          <a:lstStyle/>
          <a:p>
            <a:pPr algn="r">
              <a:lnSpc>
                <a:spcPct val="110000"/>
              </a:lnSpc>
            </a:pPr>
            <a:r>
              <a:rPr sz="1600" b="1">
                <a:solidFill>
                  <a:srgbClr val="555555"/>
                </a:solidFill>
                <a:latin typeface="Arial"/>
                <a:ea typeface="Arial"/>
              </a:rPr>
              <a:t>고객 시스템과 함께 설계되는 정도  →</a:t>
            </a:r>
          </a:p>
        </p:txBody>
      </p:sp>
      <p:sp>
        <p:nvSpPr>
          <p:cNvPr id="53" name="TextBox 52"/>
          <p:cNvSpPr txBox="1"/>
          <p:nvPr/>
        </p:nvSpPr>
        <p:spPr>
          <a:xfrm>
            <a:off x="8174736" y="2633472"/>
            <a:ext cx="4206240" cy="310896"/>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  스펙만으로는 안 닫힘</a:t>
            </a:r>
          </a:p>
        </p:txBody>
      </p:sp>
      <p:sp>
        <p:nvSpPr>
          <p:cNvPr id="54" name="Oval 53"/>
          <p:cNvSpPr/>
          <p:nvPr/>
        </p:nvSpPr>
        <p:spPr>
          <a:xfrm>
            <a:off x="9292336"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712960" y="701565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Fault Tolerant</a:t>
            </a:r>
          </a:p>
        </p:txBody>
      </p:sp>
      <p:sp>
        <p:nvSpPr>
          <p:cNvPr id="56" name="Oval 55"/>
          <p:cNvSpPr/>
          <p:nvPr/>
        </p:nvSpPr>
        <p:spPr>
          <a:xfrm>
            <a:off x="12315952" y="529721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736576" y="527892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Large Mapping</a:t>
            </a:r>
          </a:p>
        </p:txBody>
      </p:sp>
      <p:sp>
        <p:nvSpPr>
          <p:cNvPr id="58" name="Oval 57"/>
          <p:cNvSpPr/>
          <p:nvPr/>
        </p:nvSpPr>
        <p:spPr>
          <a:xfrm>
            <a:off x="12819888" y="5747476"/>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3240511" y="5729188"/>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Multi-Tenant QoS</a:t>
            </a:r>
          </a:p>
        </p:txBody>
      </p:sp>
      <p:sp>
        <p:nvSpPr>
          <p:cNvPr id="60" name="Oval 59"/>
          <p:cNvSpPr/>
          <p:nvPr/>
        </p:nvSpPr>
        <p:spPr>
          <a:xfrm>
            <a:off x="16011482" y="5506264"/>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4164394" y="5103928"/>
            <a:ext cx="237744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Mixed Media</a:t>
            </a:r>
          </a:p>
        </p:txBody>
      </p:sp>
      <p:sp>
        <p:nvSpPr>
          <p:cNvPr id="62" name="Oval 61"/>
          <p:cNvSpPr/>
          <p:nvPr/>
        </p:nvSpPr>
        <p:spPr>
          <a:xfrm>
            <a:off x="16011482"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993962" y="7015655"/>
            <a:ext cx="292608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Confidential Storage</a:t>
            </a:r>
          </a:p>
        </p:txBody>
      </p:sp>
      <p:sp>
        <p:nvSpPr>
          <p:cNvPr id="64" name="Oval 63"/>
          <p:cNvSpPr/>
          <p:nvPr/>
        </p:nvSpPr>
        <p:spPr>
          <a:xfrm>
            <a:off x="16304903" y="3740211"/>
            <a:ext cx="548640" cy="5486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664823" y="3319587"/>
            <a:ext cx="1828800" cy="384048"/>
          </a:xfrm>
          <a:prstGeom prst="rect">
            <a:avLst/>
          </a:prstGeom>
          <a:noFill/>
        </p:spPr>
        <p:txBody>
          <a:bodyPr wrap="square" anchor="ctr" lIns="0" rIns="0" tIns="0" bIns="0">
            <a:spAutoFit/>
          </a:bodyPr>
          <a:lstStyle/>
          <a:p>
            <a:pPr algn="ctr">
              <a:lnSpc>
                <a:spcPct val="110000"/>
              </a:lnSpc>
            </a:pPr>
            <a:r>
              <a:rPr sz="2400" b="1">
                <a:solidFill>
                  <a:srgbClr val="1428A0"/>
                </a:solidFill>
                <a:latin typeface="Arial"/>
                <a:ea typeface="Arial"/>
              </a:rPr>
              <a:t>FDP</a:t>
            </a:r>
          </a:p>
        </p:txBody>
      </p:sp>
      <p:sp>
        <p:nvSpPr>
          <p:cNvPr id="66" name="TextBox 65"/>
          <p:cNvSpPr txBox="1"/>
          <p:nvPr/>
        </p:nvSpPr>
        <p:spPr>
          <a:xfrm>
            <a:off x="14138656" y="3842687"/>
            <a:ext cx="219456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CacheLib WAF</a:t>
            </a:r>
          </a:p>
        </p:txBody>
      </p:sp>
      <p:sp>
        <p:nvSpPr>
          <p:cNvPr id="67" name="TextBox 66"/>
          <p:cNvSpPr txBox="1"/>
          <p:nvPr/>
        </p:nvSpPr>
        <p:spPr>
          <a:xfrm>
            <a:off x="14138656" y="4117007"/>
            <a:ext cx="6400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혼자</a:t>
            </a:r>
          </a:p>
        </p:txBody>
      </p:sp>
      <p:sp>
        <p:nvSpPr>
          <p:cNvPr id="68" name="Rectangle 67"/>
          <p:cNvSpPr/>
          <p:nvPr/>
        </p:nvSpPr>
        <p:spPr>
          <a:xfrm>
            <a:off x="14778736" y="4181015"/>
            <a:ext cx="1051560"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5885160" y="4117007"/>
            <a:ext cx="73152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3.22</a:t>
            </a:r>
          </a:p>
        </p:txBody>
      </p:sp>
      <p:sp>
        <p:nvSpPr>
          <p:cNvPr id="70" name="TextBox 69"/>
          <p:cNvSpPr txBox="1"/>
          <p:nvPr/>
        </p:nvSpPr>
        <p:spPr>
          <a:xfrm>
            <a:off x="14138656" y="4446191"/>
            <a:ext cx="6400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a:t>
            </a:r>
          </a:p>
        </p:txBody>
      </p:sp>
      <p:sp>
        <p:nvSpPr>
          <p:cNvPr id="71" name="Rectangle 70"/>
          <p:cNvSpPr/>
          <p:nvPr/>
        </p:nvSpPr>
        <p:spPr>
          <a:xfrm>
            <a:off x="14778736" y="4510199"/>
            <a:ext cx="33636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169968" y="4446191"/>
            <a:ext cx="73152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1.03</a:t>
            </a:r>
          </a:p>
        </p:txBody>
      </p:sp>
      <p:sp>
        <p:nvSpPr>
          <p:cNvPr id="73" name="Rectangle 72"/>
          <p:cNvSpPr/>
          <p:nvPr/>
        </p:nvSpPr>
        <p:spPr>
          <a:xfrm>
            <a:off x="722376" y="859536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88136" y="859536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75" name="TextBox 74"/>
          <p:cNvSpPr txBox="1"/>
          <p:nvPr/>
        </p:nvSpPr>
        <p:spPr>
          <a:xfrm>
            <a:off x="2322576" y="8595360"/>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스펙을 정확히 받든 함께 설계하든, 핵심 기술을 제대로 확보하려면 고객과의 협력이 필수입니다</a:t>
            </a:r>
          </a:p>
        </p:txBody>
      </p:sp>
      <p:sp>
        <p:nvSpPr>
          <p:cNvPr id="76" name="TextBox 7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Meta 반영) · 같은 FDP 지원 장치에서도 결과가 갈림(WARP FAST'26) · RUH · RG 출하 시 고정(NVMe FDP) · 제품군 적합도와 협력 깊이는 과제팀 판단(위키 ssd-core-technologies-customer-collaboration)</a:t>
            </a:r>
          </a:p>
        </p:txBody>
      </p:sp>
      <p:sp>
        <p:nvSpPr>
          <p:cNvPr id="77" name="TextBox 7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5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전체 제품 중앙값 </a:t>
            </a:r>
            <a:r>
              <a:rPr sz="2400" b="1">
                <a:solidFill>
                  <a:srgbClr val="1428A0"/>
                </a:solidFill>
                <a:latin typeface="Arial"/>
                <a:ea typeface="Arial"/>
              </a:rPr>
              <a:t>9.6 → 2 → 1</a:t>
            </a:r>
            <a:r>
              <a:rPr sz="1800" b="1">
                <a:solidFill>
                  <a:srgbClr val="1428A0"/>
                </a:solidFill>
                <a:latin typeface="Arial"/>
                <a:ea typeface="Arial"/>
              </a:rPr>
              <a:t>   QLC </a:t>
            </a:r>
            <a:r>
              <a:rPr sz="2400" b="1">
                <a:solidFill>
                  <a:srgbClr val="1428A0"/>
                </a:solidFill>
                <a:latin typeface="Arial"/>
                <a:ea typeface="Arial"/>
              </a:rPr>
              <a:t>0.2~0.6</a:t>
            </a:r>
          </a:p>
        </p:txBody>
      </p:sp>
      <p:sp>
        <p:nvSpPr>
          <p:cNvPr id="43" name="Oval 42"/>
          <p:cNvSpPr/>
          <p:nvPr/>
        </p:nvSpPr>
        <p:spPr>
          <a:xfrm>
            <a:off x="722376" y="593445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1428A0">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5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5 / 5  참고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AI 추론</a:t>
            </a:r>
          </a:p>
          <a:p>
            <a:pPr algn="l">
              <a:lnSpc>
                <a:spcPct val="100000"/>
              </a:lnSpc>
            </a:pPr>
            <a:r>
              <a:rPr sz="1600" b="1">
                <a:solidFill>
                  <a:srgbClr val="1428A0"/>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3C5AC8"/>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3C5AC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3C5AC8"/>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3C5AC8"/>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3C5AC8"/>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1428A0"/>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