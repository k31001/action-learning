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어떻게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Meta는 Meta도 접근하지 못하는 Muse 기밀 VM을 예고했습니다. 고용량 QLC에는 여섯 가지 중 다섯 가지가 걸립니다. 오른쪽은 협력의 깊이입니다. 가로축은 고객 시스템과 함께 설계돼야 하는 정도, 세로축은 명확한 스펙만으로 최적화가 닫히는지입니다. Mixed Media와 Confidential Storage는 고객 시스템에 깊이 들어갑니다. 그러나 Mixed Media의 인터페이스는 표준 네임스페이스이고, pSLC 비율은 출하 시 정하는 값이며 고객이 이미 수치로 요구합니다. 네임스페이스 간 QoS도 목표 수치로 사내에서 검증할 수 있습니다. Confidential Storage는 Caliptra, SPDM, TDISP, OCP L.O.C.K. 같은 표준이 인터페이스와 동작을 정하고, 삼성은 L.O.C.K.의 공저자입니다. Large Mapping과 QoS도 고객의 쓰기 크기와 지연 목표를 스펙으로 받으면 됩니다. 이 다섯은 고객 요구를 정확한 스펙으로 받는 협력이면 충분합니다. FDP는 다릅니다. 효과는 고객 소프트웨어가 데이터 수명을 얼마나 잘 나누는지와, SSD의 RU 크기와 GC 정책이 맞물릴 때만 납니다. FAST'26의 WARP 연구에서는 같은 FDP 지원 드라이브, 같은 워크로드에서 한 장치는 WAF가 1 근처를 지켰고 다른 장치는 무너졌습니다. 분류가 어긋나 사용자 데이터의 99퍼센트가 한 핸들로 몰리면 효과가 사라지고, 한 핸들의 무효화가 다른 핸들의 WAF까지 키우기도 합니다. 게다가 RUH와 RG 구성은 출하 시 고정되므로, 고객 워크로드를 보고 미리 함께 정해야 합니다. CacheLib이 WAF를 3.22에서 1.03으로 낮춘 결과도 삼성 엔지니어가 Meta의 오픈소스 CacheLib 안에 들어가 구현하고 Meta가 받아들인 결과였습니다. 그래서 FDP는 고객과 함께 설계해야 제대로 동작합니다. 정리하면, 스펙을 정확히 받든 함께 설계하든, 핵심 기술을 제대로 확보하려면 고객과의 협력이 필수입니다. 협력의 깊이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고객 캐시 계층은 하루 3회에서 7.2회를 씁니다. 대용량 QLC로는 이 띠에 닿지 않습니다.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4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474720"/>
          </a:xfrm>
          <a:prstGeom prst="roundRect">
            <a:avLst>
              <a:gd name="adj" fmla="val 216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27426"/>
            <a:ext cx="914400" cy="249382"/>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912800"/>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6341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711632"/>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7197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608554"/>
            <a:ext cx="452374" cy="237744"/>
          </a:xfrm>
          <a:prstGeom prst="rect">
            <a:avLst/>
          </a:prstGeom>
        </p:spPr>
      </p:pic>
      <p:cxnSp>
        <p:nvCxnSpPr>
          <p:cNvPr id="15" name="Connector 14"/>
          <p:cNvCxnSpPr/>
          <p:nvPr/>
        </p:nvCxnSpPr>
        <p:spPr>
          <a:xfrm>
            <a:off x="1508760" y="4184626"/>
            <a:ext cx="914400" cy="477982"/>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120618"/>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598600"/>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38906"/>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507160"/>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601936"/>
            <a:ext cx="786384" cy="121345"/>
          </a:xfrm>
          <a:prstGeom prst="rect">
            <a:avLst/>
          </a:prstGeom>
        </p:spPr>
      </p:pic>
      <p:sp>
        <p:nvSpPr>
          <p:cNvPr id="21" name="TextBox 20"/>
          <p:cNvSpPr txBox="1"/>
          <p:nvPr/>
        </p:nvSpPr>
        <p:spPr>
          <a:xfrm>
            <a:off x="10972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923544" y="5266944"/>
            <a:ext cx="2980944"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HBM 점유율</a:t>
            </a:r>
          </a:p>
        </p:txBody>
      </p:sp>
      <p:sp>
        <p:nvSpPr>
          <p:cNvPr id="24" name="Rounded Rectangle 23"/>
          <p:cNvSpPr/>
          <p:nvPr/>
        </p:nvSpPr>
        <p:spPr>
          <a:xfrm>
            <a:off x="4306824"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553712"/>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55263"/>
            <a:ext cx="365760" cy="9875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62656"/>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27939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924250"/>
            <a:ext cx="365760" cy="3185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631642"/>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27939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1" name="Rectangle 80"/>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3" name="Rectangle 82"/>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5" name="TextBox 84"/>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86" name="Rectangle 85"/>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88" name="TextBox 87"/>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89" name="Rectangle 88"/>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1" name="TextBox 90"/>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2" name="Rectangle 91"/>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5" name="Rectangle 94"/>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6" name="TextBox 125"/>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7" name="Rectangle 126"/>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9" name="TextBox 128"/>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0" name="Rectangle 129"/>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2" name="TextBox 131"/>
          <p:cNvSpPr txBox="1"/>
          <p:nvPr/>
        </p:nvSpPr>
        <p:spPr>
          <a:xfrm>
            <a:off x="722376" y="5724144"/>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33" name="TextBox 132"/>
          <p:cNvSpPr txBox="1"/>
          <p:nvPr/>
        </p:nvSpPr>
        <p:spPr>
          <a:xfrm>
            <a:off x="12079224" y="5724144"/>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34" name="Rounded Rectangle 133"/>
          <p:cNvSpPr/>
          <p:nvPr/>
        </p:nvSpPr>
        <p:spPr>
          <a:xfrm>
            <a:off x="722376" y="6053328"/>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923544" y="607161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36" name="TextBox 135"/>
          <p:cNvSpPr txBox="1"/>
          <p:nvPr/>
        </p:nvSpPr>
        <p:spPr>
          <a:xfrm>
            <a:off x="2916936" y="607161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37" name="Rectangle 136"/>
          <p:cNvSpPr/>
          <p:nvPr/>
        </p:nvSpPr>
        <p:spPr>
          <a:xfrm>
            <a:off x="923544" y="6437376"/>
            <a:ext cx="212759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2621425" y="6409944"/>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3106006" y="635508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40" name="Rounded Rectangle 139"/>
          <p:cNvSpPr/>
          <p:nvPr/>
        </p:nvSpPr>
        <p:spPr>
          <a:xfrm>
            <a:off x="4306824"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ounded Rectangle 140"/>
          <p:cNvSpPr/>
          <p:nvPr/>
        </p:nvSpPr>
        <p:spPr>
          <a:xfrm>
            <a:off x="7658100"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ounded Rectangle 141"/>
          <p:cNvSpPr/>
          <p:nvPr/>
        </p:nvSpPr>
        <p:spPr>
          <a:xfrm>
            <a:off x="11009376" y="6053328"/>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1064240" y="6053328"/>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44" name="Rounded Rectangle 143"/>
          <p:cNvSpPr/>
          <p:nvPr/>
        </p:nvSpPr>
        <p:spPr>
          <a:xfrm>
            <a:off x="14360652"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ounded Rectangle 144"/>
          <p:cNvSpPr/>
          <p:nvPr/>
        </p:nvSpPr>
        <p:spPr>
          <a:xfrm>
            <a:off x="722376" y="6684264"/>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923544" y="670255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47" name="TextBox 146"/>
          <p:cNvSpPr txBox="1"/>
          <p:nvPr/>
        </p:nvSpPr>
        <p:spPr>
          <a:xfrm>
            <a:off x="2916936" y="670255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48" name="Rectangle 147"/>
          <p:cNvSpPr/>
          <p:nvPr/>
        </p:nvSpPr>
        <p:spPr>
          <a:xfrm>
            <a:off x="923544" y="7068312"/>
            <a:ext cx="1020635"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999043" y="698601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50" name="Rounded Rectangle 149"/>
          <p:cNvSpPr/>
          <p:nvPr/>
        </p:nvSpPr>
        <p:spPr>
          <a:xfrm>
            <a:off x="4306824"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7658100" y="6684264"/>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7712964" y="6684264"/>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53" name="Rounded Rectangle 152"/>
          <p:cNvSpPr/>
          <p:nvPr/>
        </p:nvSpPr>
        <p:spPr>
          <a:xfrm>
            <a:off x="11009376" y="6684264"/>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11064240" y="6684264"/>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55" name="Rounded Rectangle 154"/>
          <p:cNvSpPr/>
          <p:nvPr/>
        </p:nvSpPr>
        <p:spPr>
          <a:xfrm>
            <a:off x="14360652"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ounded Rectangle 155"/>
          <p:cNvSpPr/>
          <p:nvPr/>
        </p:nvSpPr>
        <p:spPr>
          <a:xfrm>
            <a:off x="722376" y="7315200"/>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923544" y="7333488"/>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58" name="TextBox 157"/>
          <p:cNvSpPr txBox="1"/>
          <p:nvPr/>
        </p:nvSpPr>
        <p:spPr>
          <a:xfrm>
            <a:off x="2916936" y="7333488"/>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59" name="Rectangle 158"/>
          <p:cNvSpPr/>
          <p:nvPr/>
        </p:nvSpPr>
        <p:spPr>
          <a:xfrm>
            <a:off x="923544" y="7699248"/>
            <a:ext cx="690962"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1669370" y="7616952"/>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61" name="Rounded Rectangle 160"/>
          <p:cNvSpPr/>
          <p:nvPr/>
        </p:nvSpPr>
        <p:spPr>
          <a:xfrm>
            <a:off x="4306824"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4361688"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63" name="Rounded Rectangle 162"/>
          <p:cNvSpPr/>
          <p:nvPr/>
        </p:nvSpPr>
        <p:spPr>
          <a:xfrm>
            <a:off x="7658100"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7712964"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65" name="Rounded Rectangle 164"/>
          <p:cNvSpPr/>
          <p:nvPr/>
        </p:nvSpPr>
        <p:spPr>
          <a:xfrm>
            <a:off x="11009376"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11064240"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67" name="Rounded Rectangle 166"/>
          <p:cNvSpPr/>
          <p:nvPr/>
        </p:nvSpPr>
        <p:spPr>
          <a:xfrm>
            <a:off x="14360652" y="7315200"/>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14415516" y="7315200"/>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69" name="Rounded Rectangle 168"/>
          <p:cNvSpPr/>
          <p:nvPr/>
        </p:nvSpPr>
        <p:spPr>
          <a:xfrm>
            <a:off x="722376" y="7946136"/>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923544" y="7964423"/>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71" name="TextBox 170"/>
          <p:cNvSpPr txBox="1"/>
          <p:nvPr/>
        </p:nvSpPr>
        <p:spPr>
          <a:xfrm>
            <a:off x="2916936" y="7964423"/>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72" name="Rectangle 171"/>
          <p:cNvSpPr/>
          <p:nvPr/>
        </p:nvSpPr>
        <p:spPr>
          <a:xfrm>
            <a:off x="923544" y="8330183"/>
            <a:ext cx="537673"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239500" y="8302752"/>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516081" y="8247888"/>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75" name="Rounded Rectangle 174"/>
          <p:cNvSpPr/>
          <p:nvPr/>
        </p:nvSpPr>
        <p:spPr>
          <a:xfrm>
            <a:off x="4306824"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4361688"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77" name="Rounded Rectangle 176"/>
          <p:cNvSpPr/>
          <p:nvPr/>
        </p:nvSpPr>
        <p:spPr>
          <a:xfrm>
            <a:off x="7658100"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7712964"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79" name="Rounded Rectangle 178"/>
          <p:cNvSpPr/>
          <p:nvPr/>
        </p:nvSpPr>
        <p:spPr>
          <a:xfrm>
            <a:off x="11009376" y="7946136"/>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064240" y="7946136"/>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81" name="Rounded Rectangle 180"/>
          <p:cNvSpPr/>
          <p:nvPr/>
        </p:nvSpPr>
        <p:spPr>
          <a:xfrm>
            <a:off x="14360652"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14415516"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183" name="Rectangle 182"/>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85" name="TextBox 184"/>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186" name="TextBox 18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HBM 과제팀 집계 · 공유 SSD p99 FlashBlox(FAST'17) · GPU당 대역 NVIDIA SuperPOD 가이드(환산) · KV 실측 StorageReview(2026-08) · AI 전용 Kioxia · DapuStor · 에이전트 Google Agent Substrate · Muse 관측(제3자) · 제품군 사양 Kioxia FL6 · LC9, Solidigm PS1010 · PS1030</a:t>
            </a:r>
          </a:p>
        </p:txBody>
      </p:sp>
      <p:sp>
        <p:nvSpPr>
          <p:cNvPr id="187" name="TextBox 18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4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명확한 스펙으로 풀리지만,</a:t>
            </a:r>
          </a:p>
          <a:p>
            <a:pPr algn="l">
              <a:lnSpc>
                <a:spcPct val="105000"/>
              </a:lnSpc>
            </a:pPr>
            <a:r>
              <a:rPr sz="3200" b="1">
                <a:solidFill>
                  <a:srgbClr val="1A1A1A"/>
                </a:solidFill>
                <a:latin typeface="Arial"/>
                <a:ea typeface="Arial"/>
              </a:rPr>
              <a:t>FDP는 고객과 함께 설계해야 제대로 동작합니다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고객과 어떻게 협력하나</a:t>
            </a:r>
          </a:p>
        </p:txBody>
      </p:sp>
      <p:sp>
        <p:nvSpPr>
          <p:cNvPr id="44" name="Rectangle 43"/>
          <p:cNvSpPr/>
          <p:nvPr/>
        </p:nvSpPr>
        <p:spPr>
          <a:xfrm>
            <a:off x="8449056" y="3017520"/>
            <a:ext cx="9070848" cy="46634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136714" y="4866815"/>
            <a:ext cx="6383189" cy="281414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3992352" y="3017520"/>
            <a:ext cx="3527551" cy="1849295"/>
          </a:xfrm>
          <a:prstGeom prst="rect">
            <a:avLst/>
          </a:prstGeom>
          <a:solidFill>
            <a:srgbClr val="EEF1FA"/>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138656" y="3108960"/>
            <a:ext cx="274320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공동 설계 필수</a:t>
            </a:r>
          </a:p>
        </p:txBody>
      </p:sp>
      <p:sp>
        <p:nvSpPr>
          <p:cNvPr id="48" name="TextBox 47"/>
          <p:cNvSpPr txBox="1"/>
          <p:nvPr/>
        </p:nvSpPr>
        <p:spPr>
          <a:xfrm>
            <a:off x="11283018" y="4958255"/>
            <a:ext cx="27432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스펙으로 협력</a:t>
            </a:r>
          </a:p>
        </p:txBody>
      </p:sp>
      <p:sp>
        <p:nvSpPr>
          <p:cNvPr id="49" name="TextBox 48"/>
          <p:cNvSpPr txBox="1"/>
          <p:nvPr/>
        </p:nvSpPr>
        <p:spPr>
          <a:xfrm>
            <a:off x="8558784" y="4958255"/>
            <a:ext cx="18288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안에서</a:t>
            </a:r>
          </a:p>
        </p:txBody>
      </p:sp>
      <p:sp>
        <p:nvSpPr>
          <p:cNvPr id="50" name="Rectangle 49"/>
          <p:cNvSpPr/>
          <p:nvPr/>
        </p:nvSpPr>
        <p:spPr>
          <a:xfrm>
            <a:off x="8449056" y="7671816"/>
            <a:ext cx="9070848" cy="2743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39912" y="3017520"/>
            <a:ext cx="27432" cy="4663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7735824"/>
            <a:ext cx="9070848" cy="310896"/>
          </a:xfrm>
          <a:prstGeom prst="rect">
            <a:avLst/>
          </a:prstGeom>
          <a:noFill/>
        </p:spPr>
        <p:txBody>
          <a:bodyPr wrap="square" anchor="ctr" lIns="0" rIns="0" tIns="0" bIns="0">
            <a:spAutoFit/>
          </a:bodyPr>
          <a:lstStyle/>
          <a:p>
            <a:pPr algn="r">
              <a:lnSpc>
                <a:spcPct val="110000"/>
              </a:lnSpc>
            </a:pPr>
            <a:r>
              <a:rPr sz="1600" b="1">
                <a:solidFill>
                  <a:srgbClr val="555555"/>
                </a:solidFill>
                <a:latin typeface="Arial"/>
                <a:ea typeface="Arial"/>
              </a:rPr>
              <a:t>고객 시스템과 함께 설계되는 정도  →</a:t>
            </a:r>
          </a:p>
        </p:txBody>
      </p:sp>
      <p:sp>
        <p:nvSpPr>
          <p:cNvPr id="53" name="TextBox 52"/>
          <p:cNvSpPr txBox="1"/>
          <p:nvPr/>
        </p:nvSpPr>
        <p:spPr>
          <a:xfrm>
            <a:off x="8174736" y="2633472"/>
            <a:ext cx="4206240" cy="310896"/>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  스펙만으로는 안 닫힘</a:t>
            </a:r>
          </a:p>
        </p:txBody>
      </p:sp>
      <p:sp>
        <p:nvSpPr>
          <p:cNvPr id="54" name="Oval 53"/>
          <p:cNvSpPr/>
          <p:nvPr/>
        </p:nvSpPr>
        <p:spPr>
          <a:xfrm>
            <a:off x="9292336"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2960" y="701565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Fault Tolerant</a:t>
            </a:r>
          </a:p>
        </p:txBody>
      </p:sp>
      <p:sp>
        <p:nvSpPr>
          <p:cNvPr id="56" name="Oval 55"/>
          <p:cNvSpPr/>
          <p:nvPr/>
        </p:nvSpPr>
        <p:spPr>
          <a:xfrm>
            <a:off x="12315952" y="529721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736576" y="527892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Large Mapping</a:t>
            </a:r>
          </a:p>
        </p:txBody>
      </p:sp>
      <p:sp>
        <p:nvSpPr>
          <p:cNvPr id="58" name="Oval 57"/>
          <p:cNvSpPr/>
          <p:nvPr/>
        </p:nvSpPr>
        <p:spPr>
          <a:xfrm>
            <a:off x="12819888" y="5747476"/>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3240511" y="5729188"/>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Multi-Tenant QoS</a:t>
            </a:r>
          </a:p>
        </p:txBody>
      </p:sp>
      <p:sp>
        <p:nvSpPr>
          <p:cNvPr id="60" name="Oval 59"/>
          <p:cNvSpPr/>
          <p:nvPr/>
        </p:nvSpPr>
        <p:spPr>
          <a:xfrm>
            <a:off x="16011482" y="5506264"/>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4164394" y="5103928"/>
            <a:ext cx="237744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Mixed Media</a:t>
            </a:r>
          </a:p>
        </p:txBody>
      </p:sp>
      <p:sp>
        <p:nvSpPr>
          <p:cNvPr id="62" name="Oval 61"/>
          <p:cNvSpPr/>
          <p:nvPr/>
        </p:nvSpPr>
        <p:spPr>
          <a:xfrm>
            <a:off x="16011482"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993962" y="7015655"/>
            <a:ext cx="292608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Confidential Storage</a:t>
            </a:r>
          </a:p>
        </p:txBody>
      </p:sp>
      <p:sp>
        <p:nvSpPr>
          <p:cNvPr id="64" name="Oval 63"/>
          <p:cNvSpPr/>
          <p:nvPr/>
        </p:nvSpPr>
        <p:spPr>
          <a:xfrm>
            <a:off x="16304903" y="3740211"/>
            <a:ext cx="548640" cy="5486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664823" y="3319587"/>
            <a:ext cx="1828800" cy="384048"/>
          </a:xfrm>
          <a:prstGeom prst="rect">
            <a:avLst/>
          </a:prstGeom>
          <a:noFill/>
        </p:spPr>
        <p:txBody>
          <a:bodyPr wrap="square" anchor="ctr" lIns="0" rIns="0" tIns="0" bIns="0">
            <a:spAutoFit/>
          </a:bodyPr>
          <a:lstStyle/>
          <a:p>
            <a:pPr algn="ctr">
              <a:lnSpc>
                <a:spcPct val="110000"/>
              </a:lnSpc>
            </a:pPr>
            <a:r>
              <a:rPr sz="2400" b="1">
                <a:solidFill>
                  <a:srgbClr val="1428A0"/>
                </a:solidFill>
                <a:latin typeface="Arial"/>
                <a:ea typeface="Arial"/>
              </a:rPr>
              <a:t>FDP</a:t>
            </a:r>
          </a:p>
        </p:txBody>
      </p:sp>
      <p:sp>
        <p:nvSpPr>
          <p:cNvPr id="66" name="TextBox 65"/>
          <p:cNvSpPr txBox="1"/>
          <p:nvPr/>
        </p:nvSpPr>
        <p:spPr>
          <a:xfrm>
            <a:off x="14138656" y="3842687"/>
            <a:ext cx="219456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CacheLib WAF</a:t>
            </a:r>
          </a:p>
        </p:txBody>
      </p:sp>
      <p:sp>
        <p:nvSpPr>
          <p:cNvPr id="67" name="TextBox 66"/>
          <p:cNvSpPr txBox="1"/>
          <p:nvPr/>
        </p:nvSpPr>
        <p:spPr>
          <a:xfrm>
            <a:off x="14138656" y="4117007"/>
            <a:ext cx="6400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혼자</a:t>
            </a:r>
          </a:p>
        </p:txBody>
      </p:sp>
      <p:sp>
        <p:nvSpPr>
          <p:cNvPr id="68" name="Rectangle 67"/>
          <p:cNvSpPr/>
          <p:nvPr/>
        </p:nvSpPr>
        <p:spPr>
          <a:xfrm>
            <a:off x="14778736" y="4181015"/>
            <a:ext cx="1051560"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885160" y="4117007"/>
            <a:ext cx="73152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3.22</a:t>
            </a:r>
          </a:p>
        </p:txBody>
      </p:sp>
      <p:sp>
        <p:nvSpPr>
          <p:cNvPr id="70" name="TextBox 69"/>
          <p:cNvSpPr txBox="1"/>
          <p:nvPr/>
        </p:nvSpPr>
        <p:spPr>
          <a:xfrm>
            <a:off x="14138656" y="4446191"/>
            <a:ext cx="6400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a:t>
            </a:r>
          </a:p>
        </p:txBody>
      </p:sp>
      <p:sp>
        <p:nvSpPr>
          <p:cNvPr id="71" name="Rectangle 70"/>
          <p:cNvSpPr/>
          <p:nvPr/>
        </p:nvSpPr>
        <p:spPr>
          <a:xfrm>
            <a:off x="14778736" y="4510199"/>
            <a:ext cx="33636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169968" y="4446191"/>
            <a:ext cx="73152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1.03</a:t>
            </a:r>
          </a:p>
        </p:txBody>
      </p:sp>
      <p:sp>
        <p:nvSpPr>
          <p:cNvPr id="73" name="Rectangle 72"/>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75" name="TextBox 74"/>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스펙을 정확히 받든 함께 설계하든, 핵심 기술을 제대로 확보하려면 고객과의 협력이 필수입니다</a:t>
            </a:r>
          </a:p>
        </p:txBody>
      </p:sp>
      <p:sp>
        <p:nvSpPr>
          <p:cNvPr id="76" name="TextBox 7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Meta 반영) · 같은 FDP 지원 장치에서도 결과가 갈림(WARP FAST'26) · RUH · RG 출하 시 고정(NVMe FDP) · 제품군 적합도와 협력 깊이는 과제팀 판단(위키 ssd-core-technologies-customer-collaboration)</a:t>
            </a:r>
          </a:p>
        </p:txBody>
      </p:sp>
      <p:sp>
        <p:nvSpPr>
          <p:cNvPr id="77" name="TextBox 7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4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85835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26679"/>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47430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34263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090257"/>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695858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70620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57453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32216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190488"/>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ectangle 74"/>
          <p:cNvSpPr/>
          <p:nvPr/>
        </p:nvSpPr>
        <p:spPr>
          <a:xfrm>
            <a:off x="6570697" y="6865315"/>
            <a:ext cx="4667278" cy="806500"/>
          </a:xfrm>
          <a:prstGeom prst="rect">
            <a:avLst/>
          </a:prstGeom>
          <a:solidFill>
            <a:srgbClr val="EEF1FA"/>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860536" y="6581851"/>
            <a:ext cx="2377440" cy="256032"/>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캐시 요구 3~7.2</a:t>
            </a:r>
          </a:p>
        </p:txBody>
      </p:sp>
      <p:sp>
        <p:nvSpPr>
          <p:cNvPr id="77" name="Right Arrow 76"/>
          <p:cNvSpPr/>
          <p:nvPr/>
        </p:nvSpPr>
        <p:spPr>
          <a:xfrm rot="621349">
            <a:off x="1518057" y="6954012"/>
            <a:ext cx="9613987"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2111056" y="6277356"/>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339287" y="6277356"/>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5181633" y="7640726"/>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7023980" y="7621524"/>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8252211" y="7621524"/>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9480442" y="7621524"/>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5795749" y="815919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7638096" y="8118866"/>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866327" y="8086222"/>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2798865" y="6277356"/>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4641212" y="7237476"/>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6483558" y="7621524"/>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7711789" y="7621524"/>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940021" y="7621524"/>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0168252" y="7621524"/>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0168252" y="8139988"/>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2258443" y="6277356"/>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5329021" y="6277356"/>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171368" y="6277356"/>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399599" y="7621524"/>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241946" y="7621524"/>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241946" y="8139988"/>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630946" y="7621524"/>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7245062" y="7621524"/>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1791715" y="6277356"/>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5476409" y="6277356"/>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7318755" y="7621524"/>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9775218" y="7621524"/>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0389333" y="8130387"/>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37362" y="6277356"/>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3265593" y="6277356"/>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3879708" y="7237476"/>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5107940" y="7237476"/>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6336171" y="7621524"/>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8178517" y="7621524"/>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9406748" y="7621524"/>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6950286" y="8163031"/>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9406748" y="8147669"/>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ounded Rectangle 115"/>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18" name="Rectangle 117"/>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0" name="Rectangle 119"/>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2" name="Rectangle 121"/>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24" name="Picture 123" descr="google.png"/>
          <p:cNvPicPr>
            <a:picLocks noChangeAspect="1"/>
          </p:cNvPicPr>
          <p:nvPr/>
        </p:nvPicPr>
        <p:blipFill>
          <a:blip r:embed="rId5"/>
          <a:stretch>
            <a:fillRect/>
          </a:stretch>
        </p:blipFill>
        <p:spPr>
          <a:xfrm>
            <a:off x="12015216" y="6181344"/>
            <a:ext cx="836908" cy="274320"/>
          </a:xfrm>
          <a:prstGeom prst="rect">
            <a:avLst/>
          </a:prstGeom>
        </p:spPr>
      </p:pic>
      <p:sp>
        <p:nvSpPr>
          <p:cNvPr id="125" name="Rounded Rectangle 124"/>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27" name="Picture 126"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28" name="TextBox 127"/>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29" name="Rounded Rectangle 128"/>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1" name="Picture 130" descr="aws.png"/>
          <p:cNvPicPr>
            <a:picLocks noChangeAspect="1"/>
          </p:cNvPicPr>
          <p:nvPr/>
        </p:nvPicPr>
        <p:blipFill>
          <a:blip r:embed="rId7"/>
          <a:stretch>
            <a:fillRect/>
          </a:stretch>
        </p:blipFill>
        <p:spPr>
          <a:xfrm>
            <a:off x="12015216" y="7342632"/>
            <a:ext cx="611866" cy="365760"/>
          </a:xfrm>
          <a:prstGeom prst="rect">
            <a:avLst/>
          </a:prstGeom>
        </p:spPr>
      </p:pic>
      <p:sp>
        <p:nvSpPr>
          <p:cNvPr id="132" name="Rounded Rectangle 131"/>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34" name="Chevron 133"/>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Chevron 134"/>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38" name="TextBox 137"/>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39" name="TextBox 138"/>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고객 캐시 DWPD(Kangaroo · KV 실측 · Baleen) · 해법 사다리 원장 · 자체 설계 원장 · 일부 수치 검색 확인 · 부품 이미지는 3D 렌더</a:t>
            </a:r>
          </a:p>
        </p:txBody>
      </p:sp>
      <p:sp>
        <p:nvSpPr>
          <p:cNvPr id="140" name="TextBox 139"/>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4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