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6장에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이 전략에서 사업적으로 가장 큰 기회와, 그것을 2장의 핵심 기술 중 무엇으로 여는지입니다. 왼쪽은 TLC 수요를 왜 TLC를 샀는지로 나눈 것입니다. 공개된 분할 자료가 없어 과제팀이 범위로 계산했고, 막대는 중앙 가정입니다. 성능은 QLC로 충분한데 조달 규격이 1 DWPD라서 TLC를 쓰는 몫, 곧 내구 규격만 때문인 수요가 2026년 약 100, 2030년 약 190엑사바이트입니다. 시나리오에 따라 2030년 46에서 509엑사바이트까지 넓습니다. 이 수요는 성능이 걸림돌이 아닙니다. RAG 검색의 지연 예산이 약 100밀리초인데 QLC 읽기는 약 0.1밀리초라 약 1,000배 여유가 있습니다. 성능 때문에 TLC를 쓰는 몫은 격차를 줄이면 일부가 열리고, 고내구와 KV 캐시는 이번 대상이 아닙니다. 오른쪽은 어떻게 QLC를 1 DWPD로 올리는지입니다. 같은 Micron 6600 ION QLC도 4킬로바이트 랜덤이면 0.075, 큰 단위면 0.3, 순차면 1.0 DWPD로 정격이 쓰기 모양에 따라 달라집니다. 이 계단을 2장의 핵심 기술 두 가지로 오릅니다. 첫째, Mixed Media입니다. 작은 쓰기를 pSLC 영역에 모았다가 큰 덩어리로 QLC에 내려, 매핑 단위보다 작은 쓰기의 증폭을 없앱니다. CSAL 백서에서는 4킬로바이트 쓰기의 WAF가 70 이상에서 1.02로 내려갔고, 고객이 요구한 pSLC 비율은 QLC 용량의 0.5에서 2퍼센트입니다. pSLC가 쓰기 지연과 대역도 흡수합니다. Mixed Media는 표준 네임스페이스와 출하 시 정하는 비율로 동작해 스펙으로 협력할 수 있으므로, 2026년과 2027년에 바로 실행할 수 있는 단기 전략입니다. 둘째, FDP입니다. 고객 호스트가 데이터의 수명을 알려 주면 같은 수명의 데이터끼리 같은 블록에 모여 GC가 옮길 데이터가 거의 사라집니다. WAF를 근원적으로 1에 가깝게 낮추는 기술이고, CacheLib에서 3.22가 1.03이 됐습니다. GC 간섭이 줄어 꼬리 지연도 줄어듭니다. 다만 FDP의 효과는 고객 소프트웨어가 수명을 얼마나 잘 나누는지에 달려 있어 고객과 함께 설계해야 하므로, 2028년 전후의 중장기에 기여합니다. 보조로 Large Mapping과 Multi-Tenant QoS가 함께 쓰이고, Fault Tolerant와 Confidential Storage는 이 기회와 직접 관계가 없습니다. 계단과 기술의 대응은 과제팀의 해석이며, QLC 위에서의 실측은 고객과 함께 할 첫 검증 과제입니다. 정리하면, 단기에는 Mixed Media로 모아 쓰고, 중장기에는 고객과 FDP로 WAF를 근원적으로 낮춰, 규격 때문에 TLC를 쓰던 수요부터 QLC의 원가 우위로 가져옵니다.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6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4" name="TextBox 133"/>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5" name="Rectangle 134"/>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7" name="Rectangle 136"/>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9" name="Rectangle 138"/>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1" name="TextBox 140"/>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2" name="TextBox 141"/>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3" name="Rectangle 142"/>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5" name="Rectangle 144"/>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7" name="Rectangle 146"/>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9" name="TextBox 148"/>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50" name="TextBox 149"/>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1" name="TextBox 150"/>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2" name="Rounded Rectangle 151"/>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4" name="TextBox 153"/>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5" name="Rectangle 154"/>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8" name="Rounded Rectangle 157"/>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2" name="Rounded Rectangle 161"/>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5" name="TextBox 164"/>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6" name="Rectangle 165"/>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8" name="Rounded Rectangle 167"/>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1" name="Rounded Rectangle 170"/>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3" name="Rounded Rectangle 172"/>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ounded Rectangle 173"/>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6" name="TextBox 175"/>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7" name="Rectangle 176"/>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9" name="Rounded Rectangle 178"/>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1" name="Rounded Rectangle 180"/>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3" name="Rounded Rectangle 182"/>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5" name="Rounded Rectangle 184"/>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7" name="Rounded Rectangle 186"/>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9" name="TextBox 188"/>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90" name="Rectangle 189"/>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3" name="Rounded Rectangle 192"/>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5" name="Rounded Rectangle 194"/>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7" name="Rounded Rectangle 196"/>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9" name="Rounded Rectangle 198"/>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6장)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6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6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6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TLC 수요의 약 4분의 1은 내구 규격 때문에 TLC이므로,</a:t>
            </a:r>
          </a:p>
          <a:p>
            <a:pPr algn="l">
              <a:lnSpc>
                <a:spcPct val="105000"/>
              </a:lnSpc>
            </a:pPr>
            <a:r>
              <a:rPr sz="3200" b="1">
                <a:solidFill>
                  <a:srgbClr val="1A1A1A"/>
                </a:solidFill>
                <a:latin typeface="Arial"/>
                <a:ea typeface="Arial"/>
              </a:rPr>
              <a:t>Mixed Media로 모아 쓰고 FDP로 WAF를 낮춰 QLC를 1 DWPD로 올립니다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55412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시장: 왜 TLC를 샀나</a:t>
            </a:r>
          </a:p>
        </p:txBody>
      </p:sp>
      <p:sp>
        <p:nvSpPr>
          <p:cNvPr id="9" name="TextBox 8"/>
          <p:cNvSpPr txBox="1"/>
          <p:nvPr/>
        </p:nvSpPr>
        <p:spPr>
          <a:xfrm>
            <a:off x="722376" y="2743200"/>
            <a:ext cx="61264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TLC eSSD, EB/년  </a:t>
            </a:r>
            <a:r>
              <a:rPr sz="1600" b="0">
                <a:solidFill>
                  <a:srgbClr val="555555"/>
                </a:solidFill>
                <a:latin typeface="Arial"/>
                <a:ea typeface="Arial"/>
              </a:rPr>
              <a:t>중앙 가정 · 산술</a:t>
            </a:r>
          </a:p>
        </p:txBody>
      </p:sp>
      <p:sp>
        <p:nvSpPr>
          <p:cNvPr id="10" name="Rectangle 9"/>
          <p:cNvSpPr/>
          <p:nvPr/>
        </p:nvSpPr>
        <p:spPr>
          <a:xfrm>
            <a:off x="905256" y="7065733"/>
            <a:ext cx="960120" cy="468922"/>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7065733"/>
            <a:ext cx="960120" cy="46892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100</a:t>
            </a:r>
          </a:p>
        </p:txBody>
      </p:sp>
      <p:sp>
        <p:nvSpPr>
          <p:cNvPr id="12" name="Rectangle 11"/>
          <p:cNvSpPr/>
          <p:nvPr/>
        </p:nvSpPr>
        <p:spPr>
          <a:xfrm>
            <a:off x="905256" y="6864833"/>
            <a:ext cx="960120" cy="200899"/>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05256" y="6046213"/>
            <a:ext cx="960120" cy="818619"/>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60120" y="6564817"/>
            <a:ext cx="850392" cy="272583"/>
          </a:xfrm>
          <a:prstGeom prst="rect">
            <a:avLst/>
          </a:prstGeom>
          <a:noFill/>
          <a:ln w="1905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05256" y="5741578"/>
            <a:ext cx="960120" cy="304635"/>
          </a:xfrm>
          <a:prstGeom prst="rect">
            <a:avLst/>
          </a:prstGeom>
          <a:solidFill>
            <a:srgbClr val="5555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05256" y="5577291"/>
            <a:ext cx="960120" cy="164287"/>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 y="5211531"/>
            <a:ext cx="1508760" cy="32918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417</a:t>
            </a:r>
          </a:p>
        </p:txBody>
      </p:sp>
      <p:sp>
        <p:nvSpPr>
          <p:cNvPr id="18" name="TextBox 17"/>
          <p:cNvSpPr txBox="1"/>
          <p:nvPr/>
        </p:nvSpPr>
        <p:spPr>
          <a:xfrm>
            <a:off x="630936" y="7571231"/>
            <a:ext cx="15087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19" name="Rectangle 18"/>
          <p:cNvSpPr/>
          <p:nvPr/>
        </p:nvSpPr>
        <p:spPr>
          <a:xfrm>
            <a:off x="2825496" y="6632484"/>
            <a:ext cx="960120" cy="902171"/>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6632484"/>
            <a:ext cx="960120" cy="902171"/>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192</a:t>
            </a:r>
          </a:p>
        </p:txBody>
      </p:sp>
      <p:sp>
        <p:nvSpPr>
          <p:cNvPr id="21" name="Rectangle 20"/>
          <p:cNvSpPr/>
          <p:nvPr/>
        </p:nvSpPr>
        <p:spPr>
          <a:xfrm>
            <a:off x="2825496" y="6331604"/>
            <a:ext cx="960120" cy="30088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25496" y="4861468"/>
            <a:ext cx="960120" cy="147013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880360" y="5770982"/>
            <a:ext cx="850392" cy="533190"/>
          </a:xfrm>
          <a:prstGeom prst="rect">
            <a:avLst/>
          </a:prstGeom>
          <a:noFill/>
          <a:ln w="1905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25496" y="4389729"/>
            <a:ext cx="960120" cy="471738"/>
          </a:xfrm>
          <a:prstGeom prst="rect">
            <a:avLst/>
          </a:prstGeom>
          <a:solidFill>
            <a:srgbClr val="55555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825496" y="3450945"/>
            <a:ext cx="960120" cy="938783"/>
          </a:xfrm>
          <a:prstGeom prst="rect">
            <a:avLst/>
          </a:prstGeom>
          <a:solidFill>
            <a:srgbClr val="D9D9D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1176" y="3085185"/>
            <a:ext cx="1508760" cy="32918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870</a:t>
            </a:r>
          </a:p>
        </p:txBody>
      </p:sp>
      <p:sp>
        <p:nvSpPr>
          <p:cNvPr id="27" name="TextBox 26"/>
          <p:cNvSpPr txBox="1"/>
          <p:nvPr/>
        </p:nvSpPr>
        <p:spPr>
          <a:xfrm>
            <a:off x="2551176" y="7571231"/>
            <a:ext cx="15087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28" name="Rectangle 27"/>
          <p:cNvSpPr/>
          <p:nvPr/>
        </p:nvSpPr>
        <p:spPr>
          <a:xfrm>
            <a:off x="1956816" y="6713220"/>
            <a:ext cx="27432" cy="619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01952" y="6713220"/>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901952" y="7305385"/>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66544" y="6694932"/>
            <a:ext cx="82296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43~175</a:t>
            </a:r>
          </a:p>
        </p:txBody>
      </p:sp>
      <p:sp>
        <p:nvSpPr>
          <p:cNvPr id="32" name="Rectangle 31"/>
          <p:cNvSpPr/>
          <p:nvPr/>
        </p:nvSpPr>
        <p:spPr>
          <a:xfrm>
            <a:off x="3877055" y="5145450"/>
            <a:ext cx="27432" cy="21732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822191" y="5145450"/>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22191" y="7291303"/>
            <a:ext cx="137160"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86783" y="5127162"/>
            <a:ext cx="82296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46~509</a:t>
            </a:r>
          </a:p>
        </p:txBody>
      </p:sp>
      <p:sp>
        <p:nvSpPr>
          <p:cNvPr id="36" name="TextBox 35"/>
          <p:cNvSpPr txBox="1"/>
          <p:nvPr/>
        </p:nvSpPr>
        <p:spPr>
          <a:xfrm>
            <a:off x="4946904" y="6809250"/>
            <a:ext cx="1901952" cy="548640"/>
          </a:xfrm>
          <a:prstGeom prst="rect">
            <a:avLst/>
          </a:prstGeom>
          <a:noFill/>
        </p:spPr>
        <p:txBody>
          <a:bodyPr wrap="square" anchor="ctr" lIns="0" rIns="0" tIns="0" bIns="0">
            <a:spAutoFit/>
          </a:bodyPr>
          <a:lstStyle/>
          <a:p>
            <a:pPr algn="l">
              <a:lnSpc>
                <a:spcPct val="100000"/>
              </a:lnSpc>
            </a:pPr>
            <a:r>
              <a:rPr sz="1700" b="1">
                <a:solidFill>
                  <a:srgbClr val="1428A0"/>
                </a:solidFill>
                <a:latin typeface="Arial"/>
                <a:ea typeface="Arial"/>
              </a:rPr>
              <a:t>내구 규격만</a:t>
            </a:r>
          </a:p>
          <a:p>
            <a:pPr algn="l">
              <a:lnSpc>
                <a:spcPct val="100000"/>
              </a:lnSpc>
            </a:pPr>
            <a:r>
              <a:rPr sz="1500" b="1">
                <a:solidFill>
                  <a:srgbClr val="1428A0"/>
                </a:solidFill>
                <a:latin typeface="Arial"/>
                <a:ea typeface="Arial"/>
              </a:rPr>
              <a:t>192 · 바로 진입</a:t>
            </a:r>
          </a:p>
        </p:txBody>
      </p:sp>
      <p:sp>
        <p:nvSpPr>
          <p:cNvPr id="37" name="Rectangle 36"/>
          <p:cNvSpPr/>
          <p:nvPr/>
        </p:nvSpPr>
        <p:spPr>
          <a:xfrm>
            <a:off x="4800600" y="6918978"/>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46904" y="6207724"/>
            <a:ext cx="1901952"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관행 · 가격</a:t>
            </a:r>
          </a:p>
          <a:p>
            <a:pPr algn="l">
              <a:lnSpc>
                <a:spcPct val="100000"/>
              </a:lnSpc>
            </a:pPr>
            <a:r>
              <a:rPr sz="1500" b="0">
                <a:solidFill>
                  <a:srgbClr val="555555"/>
                </a:solidFill>
                <a:latin typeface="Arial"/>
                <a:ea typeface="Arial"/>
              </a:rPr>
              <a:t>64 · 가격 · 공급</a:t>
            </a:r>
          </a:p>
        </p:txBody>
      </p:sp>
      <p:sp>
        <p:nvSpPr>
          <p:cNvPr id="39" name="Rectangle 38"/>
          <p:cNvSpPr/>
          <p:nvPr/>
        </p:nvSpPr>
        <p:spPr>
          <a:xfrm>
            <a:off x="4800600" y="6317452"/>
            <a:ext cx="91440" cy="9144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46904" y="5322216"/>
            <a:ext cx="1901952"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성능 (RI)</a:t>
            </a:r>
          </a:p>
          <a:p>
            <a:pPr algn="l">
              <a:lnSpc>
                <a:spcPct val="100000"/>
              </a:lnSpc>
            </a:pPr>
            <a:r>
              <a:rPr sz="1500" b="0">
                <a:solidFill>
                  <a:srgbClr val="555555"/>
                </a:solidFill>
                <a:latin typeface="Arial"/>
                <a:ea typeface="Arial"/>
              </a:rPr>
              <a:t>313 · 점선 일부</a:t>
            </a:r>
          </a:p>
        </p:txBody>
      </p:sp>
      <p:sp>
        <p:nvSpPr>
          <p:cNvPr id="41" name="Rectangle 40"/>
          <p:cNvSpPr/>
          <p:nvPr/>
        </p:nvSpPr>
        <p:spPr>
          <a:xfrm>
            <a:off x="4800600" y="5431944"/>
            <a:ext cx="91440"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46904" y="4351279"/>
            <a:ext cx="1901952"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고내구 3 DWPD+</a:t>
            </a:r>
          </a:p>
          <a:p>
            <a:pPr algn="l">
              <a:lnSpc>
                <a:spcPct val="100000"/>
              </a:lnSpc>
            </a:pPr>
            <a:r>
              <a:rPr sz="1500" b="0">
                <a:solidFill>
                  <a:srgbClr val="555555"/>
                </a:solidFill>
                <a:latin typeface="Arial"/>
                <a:ea typeface="Arial"/>
              </a:rPr>
              <a:t>101 · 대상 아님</a:t>
            </a:r>
          </a:p>
        </p:txBody>
      </p:sp>
      <p:sp>
        <p:nvSpPr>
          <p:cNvPr id="43" name="Rectangle 42"/>
          <p:cNvSpPr/>
          <p:nvPr/>
        </p:nvSpPr>
        <p:spPr>
          <a:xfrm>
            <a:off x="4800600" y="4461007"/>
            <a:ext cx="91440" cy="91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46904" y="3646017"/>
            <a:ext cx="1901952" cy="54864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KV 캐시</a:t>
            </a:r>
          </a:p>
          <a:p>
            <a:pPr algn="l">
              <a:lnSpc>
                <a:spcPct val="100000"/>
              </a:lnSpc>
            </a:pPr>
            <a:r>
              <a:rPr sz="1500" b="0">
                <a:solidFill>
                  <a:srgbClr val="555555"/>
                </a:solidFill>
                <a:latin typeface="Arial"/>
                <a:ea typeface="Arial"/>
              </a:rPr>
              <a:t>200 · 대상 아님</a:t>
            </a:r>
          </a:p>
        </p:txBody>
      </p:sp>
      <p:sp>
        <p:nvSpPr>
          <p:cNvPr id="45" name="Rectangle 44"/>
          <p:cNvSpPr/>
          <p:nvPr/>
        </p:nvSpPr>
        <p:spPr>
          <a:xfrm>
            <a:off x="4800600" y="3755745"/>
            <a:ext cx="91440"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2376" y="7991856"/>
            <a:ext cx="612648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내구 규격만 수요의 성능 여유  </a:t>
            </a:r>
            <a:r>
              <a:rPr sz="1800" b="1">
                <a:solidFill>
                  <a:srgbClr val="1428A0"/>
                </a:solidFill>
                <a:latin typeface="Arial"/>
                <a:ea typeface="Arial"/>
              </a:rPr>
              <a:t>약 1,000배</a:t>
            </a:r>
          </a:p>
        </p:txBody>
      </p:sp>
      <p:sp>
        <p:nvSpPr>
          <p:cNvPr id="47" name="TextBox 46"/>
          <p:cNvSpPr txBox="1"/>
          <p:nvPr/>
        </p:nvSpPr>
        <p:spPr>
          <a:xfrm>
            <a:off x="722376" y="8266175"/>
            <a:ext cx="6126480"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RAG 지연 예산 100ms 대 QLC 읽기 0.1ms</a:t>
            </a:r>
          </a:p>
        </p:txBody>
      </p:sp>
      <p:sp>
        <p:nvSpPr>
          <p:cNvPr id="48" name="Oval 47"/>
          <p:cNvSpPr/>
          <p:nvPr/>
        </p:nvSpPr>
        <p:spPr>
          <a:xfrm>
            <a:off x="71688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688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50" name="TextBox 49"/>
          <p:cNvSpPr txBox="1"/>
          <p:nvPr/>
        </p:nvSpPr>
        <p:spPr>
          <a:xfrm>
            <a:off x="7754112" y="2103120"/>
            <a:ext cx="981151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기술: 모아 쓰고, 수명별로 배치</a:t>
            </a:r>
          </a:p>
        </p:txBody>
      </p:sp>
      <p:sp>
        <p:nvSpPr>
          <p:cNvPr id="51" name="TextBox 50"/>
          <p:cNvSpPr txBox="1"/>
          <p:nvPr/>
        </p:nvSpPr>
        <p:spPr>
          <a:xfrm>
            <a:off x="7168896" y="2743200"/>
            <a:ext cx="10396728" cy="32918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2장 핵심 기술 중  </a:t>
            </a:r>
            <a:r>
              <a:rPr sz="1600" b="0">
                <a:solidFill>
                  <a:srgbClr val="1428A0"/>
                </a:solidFill>
                <a:latin typeface="Arial"/>
                <a:ea typeface="Arial"/>
              </a:rPr>
              <a:t>■</a:t>
            </a:r>
            <a:r>
              <a:rPr sz="1600" b="0">
                <a:solidFill>
                  <a:srgbClr val="555555"/>
                </a:solidFill>
                <a:latin typeface="Arial"/>
                <a:ea typeface="Arial"/>
              </a:rPr>
              <a:t> 핵심   </a:t>
            </a:r>
            <a:r>
              <a:rPr sz="1600" b="0">
                <a:solidFill>
                  <a:srgbClr val="AAB8E8"/>
                </a:solidFill>
                <a:latin typeface="Arial"/>
                <a:ea typeface="Arial"/>
              </a:rPr>
              <a:t>■</a:t>
            </a:r>
            <a:r>
              <a:rPr sz="1600" b="0">
                <a:solidFill>
                  <a:srgbClr val="555555"/>
                </a:solidFill>
                <a:latin typeface="Arial"/>
                <a:ea typeface="Arial"/>
              </a:rPr>
              <a:t> 보조   </a:t>
            </a:r>
            <a:r>
              <a:rPr sz="1600" b="0">
                <a:solidFill>
                  <a:srgbClr val="8A8A8A"/>
                </a:solidFill>
                <a:latin typeface="Arial"/>
                <a:ea typeface="Arial"/>
              </a:rPr>
              <a:t>▢</a:t>
            </a:r>
            <a:r>
              <a:rPr sz="1600" b="0">
                <a:solidFill>
                  <a:srgbClr val="555555"/>
                </a:solidFill>
                <a:latin typeface="Arial"/>
                <a:ea typeface="Arial"/>
              </a:rPr>
              <a:t> 해당 없음</a:t>
            </a:r>
          </a:p>
        </p:txBody>
      </p:sp>
      <p:sp>
        <p:nvSpPr>
          <p:cNvPr id="52" name="Rounded Rectangle 51"/>
          <p:cNvSpPr/>
          <p:nvPr/>
        </p:nvSpPr>
        <p:spPr>
          <a:xfrm>
            <a:off x="7168896" y="3127248"/>
            <a:ext cx="1516075" cy="402336"/>
          </a:xfrm>
          <a:prstGeom prst="roundRect">
            <a:avLst>
              <a:gd name="adj" fmla="val 1818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23759" y="3127248"/>
            <a:ext cx="1406347" cy="40233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Mixed Media</a:t>
            </a:r>
          </a:p>
        </p:txBody>
      </p:sp>
      <p:sp>
        <p:nvSpPr>
          <p:cNvPr id="54" name="Rounded Rectangle 53"/>
          <p:cNvSpPr/>
          <p:nvPr/>
        </p:nvSpPr>
        <p:spPr>
          <a:xfrm>
            <a:off x="8707648" y="3127248"/>
            <a:ext cx="652881" cy="402336"/>
          </a:xfrm>
          <a:prstGeom prst="roundRect">
            <a:avLst>
              <a:gd name="adj" fmla="val 1818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2512" y="3127248"/>
            <a:ext cx="543153" cy="40233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FDP</a:t>
            </a:r>
          </a:p>
        </p:txBody>
      </p:sp>
      <p:sp>
        <p:nvSpPr>
          <p:cNvPr id="56" name="Rounded Rectangle 55"/>
          <p:cNvSpPr/>
          <p:nvPr/>
        </p:nvSpPr>
        <p:spPr>
          <a:xfrm>
            <a:off x="9383207" y="3127248"/>
            <a:ext cx="1731873" cy="402336"/>
          </a:xfrm>
          <a:prstGeom prst="roundRect">
            <a:avLst>
              <a:gd name="adj" fmla="val 18181"/>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438071" y="3127248"/>
            <a:ext cx="1622145" cy="40233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Large Mapping</a:t>
            </a:r>
          </a:p>
        </p:txBody>
      </p:sp>
      <p:sp>
        <p:nvSpPr>
          <p:cNvPr id="58" name="Rounded Rectangle 57"/>
          <p:cNvSpPr/>
          <p:nvPr/>
        </p:nvSpPr>
        <p:spPr>
          <a:xfrm>
            <a:off x="11137757" y="3127248"/>
            <a:ext cx="2055571" cy="402336"/>
          </a:xfrm>
          <a:prstGeom prst="roundRect">
            <a:avLst>
              <a:gd name="adj" fmla="val 18181"/>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192621" y="3127248"/>
            <a:ext cx="1945843" cy="40233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Multi-Tenant QoS</a:t>
            </a:r>
          </a:p>
        </p:txBody>
      </p:sp>
      <p:sp>
        <p:nvSpPr>
          <p:cNvPr id="60" name="Rounded Rectangle 59"/>
          <p:cNvSpPr/>
          <p:nvPr/>
        </p:nvSpPr>
        <p:spPr>
          <a:xfrm>
            <a:off x="13216006" y="3127248"/>
            <a:ext cx="1839772" cy="402336"/>
          </a:xfrm>
          <a:prstGeom prst="roundRect">
            <a:avLst>
              <a:gd name="adj" fmla="val 18181"/>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3270870" y="3127248"/>
            <a:ext cx="1730044" cy="402336"/>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Fault Tolerant</a:t>
            </a:r>
          </a:p>
        </p:txBody>
      </p:sp>
      <p:sp>
        <p:nvSpPr>
          <p:cNvPr id="62" name="Rounded Rectangle 61"/>
          <p:cNvSpPr/>
          <p:nvPr/>
        </p:nvSpPr>
        <p:spPr>
          <a:xfrm>
            <a:off x="15078456" y="3127248"/>
            <a:ext cx="2487168" cy="402336"/>
          </a:xfrm>
          <a:prstGeom prst="roundRect">
            <a:avLst>
              <a:gd name="adj" fmla="val 18181"/>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5133320" y="3127248"/>
            <a:ext cx="2377439" cy="402336"/>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Confidential Storage</a:t>
            </a:r>
          </a:p>
        </p:txBody>
      </p:sp>
      <p:cxnSp>
        <p:nvCxnSpPr>
          <p:cNvPr id="64" name="Connector 63"/>
          <p:cNvCxnSpPr/>
          <p:nvPr/>
        </p:nvCxnSpPr>
        <p:spPr>
          <a:xfrm>
            <a:off x="7168896" y="4041648"/>
            <a:ext cx="10396728" cy="0"/>
          </a:xfrm>
          <a:prstGeom prst="line">
            <a:avLst/>
          </a:prstGeom>
          <a:ln w="127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7168896" y="3712463"/>
            <a:ext cx="2011680" cy="292608"/>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TLC 범용 정격 1</a:t>
            </a:r>
          </a:p>
        </p:txBody>
      </p:sp>
      <p:sp>
        <p:nvSpPr>
          <p:cNvPr id="66" name="Rectangle 65"/>
          <p:cNvSpPr/>
          <p:nvPr/>
        </p:nvSpPr>
        <p:spPr>
          <a:xfrm>
            <a:off x="7717536" y="5547207"/>
            <a:ext cx="1005840" cy="1220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51775" y="5126583"/>
            <a:ext cx="1737360" cy="384048"/>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0.075</a:t>
            </a:r>
          </a:p>
        </p:txBody>
      </p:sp>
      <p:sp>
        <p:nvSpPr>
          <p:cNvPr id="68" name="TextBox 67"/>
          <p:cNvSpPr txBox="1"/>
          <p:nvPr/>
        </p:nvSpPr>
        <p:spPr>
          <a:xfrm>
            <a:off x="7168896" y="5705856"/>
            <a:ext cx="2103120" cy="310896"/>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4KB 랜덤 쓰기</a:t>
            </a:r>
          </a:p>
        </p:txBody>
      </p:sp>
      <p:sp>
        <p:nvSpPr>
          <p:cNvPr id="69" name="Rectangle 68"/>
          <p:cNvSpPr/>
          <p:nvPr/>
        </p:nvSpPr>
        <p:spPr>
          <a:xfrm>
            <a:off x="10769346" y="5180990"/>
            <a:ext cx="1280160" cy="4882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403586" y="4760366"/>
            <a:ext cx="201168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0.3</a:t>
            </a:r>
          </a:p>
        </p:txBody>
      </p:sp>
      <p:sp>
        <p:nvSpPr>
          <p:cNvPr id="71" name="TextBox 70"/>
          <p:cNvSpPr txBox="1"/>
          <p:nvPr/>
        </p:nvSpPr>
        <p:spPr>
          <a:xfrm>
            <a:off x="9400032" y="5705856"/>
            <a:ext cx="4018788"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큰 단위로 모아 쓰기</a:t>
            </a:r>
          </a:p>
        </p:txBody>
      </p:sp>
      <p:sp>
        <p:nvSpPr>
          <p:cNvPr id="72" name="Right Arrow 71"/>
          <p:cNvSpPr/>
          <p:nvPr/>
        </p:nvSpPr>
        <p:spPr>
          <a:xfrm>
            <a:off x="9180576" y="5102352"/>
            <a:ext cx="274320"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4916150" y="4041648"/>
            <a:ext cx="1280160" cy="16276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916150" y="4096511"/>
            <a:ext cx="1280160" cy="420624"/>
          </a:xfrm>
          <a:prstGeom prst="rect">
            <a:avLst/>
          </a:prstGeom>
          <a:noFill/>
        </p:spPr>
        <p:txBody>
          <a:bodyPr wrap="square" anchor="ctr" lIns="0" rIns="0" tIns="0" bIns="0">
            <a:spAutoFit/>
          </a:bodyPr>
          <a:lstStyle/>
          <a:p>
            <a:pPr algn="ctr">
              <a:lnSpc>
                <a:spcPct val="110000"/>
              </a:lnSpc>
            </a:pPr>
            <a:r>
              <a:rPr sz="2400" b="1">
                <a:solidFill>
                  <a:srgbClr val="FFFFFF"/>
                </a:solidFill>
                <a:latin typeface="Arial"/>
                <a:ea typeface="Arial"/>
              </a:rPr>
              <a:t>1.0</a:t>
            </a:r>
          </a:p>
        </p:txBody>
      </p:sp>
      <p:sp>
        <p:nvSpPr>
          <p:cNvPr id="75" name="TextBox 74"/>
          <p:cNvSpPr txBox="1"/>
          <p:nvPr/>
        </p:nvSpPr>
        <p:spPr>
          <a:xfrm>
            <a:off x="13546836" y="5705856"/>
            <a:ext cx="4018788"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수명별 순차 쓰기</a:t>
            </a:r>
          </a:p>
        </p:txBody>
      </p:sp>
      <p:sp>
        <p:nvSpPr>
          <p:cNvPr id="76" name="Right Arrow 75"/>
          <p:cNvSpPr/>
          <p:nvPr/>
        </p:nvSpPr>
        <p:spPr>
          <a:xfrm>
            <a:off x="13327380" y="5102352"/>
            <a:ext cx="274320" cy="27432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272016" y="3712463"/>
            <a:ext cx="4091939" cy="29260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같은 QLC 정격, Micron 6600 ION</a:t>
            </a:r>
          </a:p>
        </p:txBody>
      </p:sp>
      <p:sp>
        <p:nvSpPr>
          <p:cNvPr id="78" name="Rectangle 77"/>
          <p:cNvSpPr/>
          <p:nvPr/>
        </p:nvSpPr>
        <p:spPr>
          <a:xfrm>
            <a:off x="7443216" y="6291072"/>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717536" y="6291072"/>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991856" y="6291072"/>
            <a:ext cx="201168"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266176" y="6291072"/>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540496" y="6291072"/>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814816" y="6291072"/>
            <a:ext cx="201168"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443216" y="6565392"/>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717536" y="6565392"/>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991856" y="6565392"/>
            <a:ext cx="201168"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266176" y="6565392"/>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540496" y="6565392"/>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814816" y="6565392"/>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168896" y="6894576"/>
            <a:ext cx="2103120"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섞인 수명 · 작은 쓰기</a:t>
            </a:r>
          </a:p>
        </p:txBody>
      </p:sp>
      <p:sp>
        <p:nvSpPr>
          <p:cNvPr id="91" name="Rectangle 90"/>
          <p:cNvSpPr/>
          <p:nvPr/>
        </p:nvSpPr>
        <p:spPr>
          <a:xfrm>
            <a:off x="9528048" y="6309360"/>
            <a:ext cx="1463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9729216" y="6309360"/>
            <a:ext cx="1463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930384" y="6309360"/>
            <a:ext cx="1463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528048" y="6528816"/>
            <a:ext cx="1463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729216" y="6528816"/>
            <a:ext cx="1463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930384" y="6528816"/>
            <a:ext cx="1463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ight Arrow 96"/>
          <p:cNvSpPr/>
          <p:nvPr/>
        </p:nvSpPr>
        <p:spPr>
          <a:xfrm>
            <a:off x="10186416" y="6419088"/>
            <a:ext cx="237744"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ed Rectangle 97"/>
          <p:cNvSpPr/>
          <p:nvPr/>
        </p:nvSpPr>
        <p:spPr>
          <a:xfrm>
            <a:off x="10479024" y="6217920"/>
            <a:ext cx="1005840" cy="566928"/>
          </a:xfrm>
          <a:prstGeom prst="roundRect">
            <a:avLst>
              <a:gd name="adj" fmla="val 1290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533888" y="6217920"/>
            <a:ext cx="896112" cy="566928"/>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pSLC</a:t>
            </a:r>
          </a:p>
        </p:txBody>
      </p:sp>
      <p:sp>
        <p:nvSpPr>
          <p:cNvPr id="100" name="Right Arrow 99"/>
          <p:cNvSpPr/>
          <p:nvPr/>
        </p:nvSpPr>
        <p:spPr>
          <a:xfrm>
            <a:off x="11539728" y="6419088"/>
            <a:ext cx="237744"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11832336" y="6217920"/>
            <a:ext cx="1549908"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887200" y="6217920"/>
            <a:ext cx="1440180" cy="56692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QLC 큰 덩어리</a:t>
            </a:r>
          </a:p>
        </p:txBody>
      </p:sp>
      <p:sp>
        <p:nvSpPr>
          <p:cNvPr id="103" name="TextBox 102"/>
          <p:cNvSpPr txBox="1"/>
          <p:nvPr/>
        </p:nvSpPr>
        <p:spPr>
          <a:xfrm>
            <a:off x="9400032" y="6894576"/>
            <a:ext cx="4018788"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4KB 쓰기 WAF </a:t>
            </a:r>
            <a:r>
              <a:rPr sz="1700" b="1">
                <a:solidFill>
                  <a:srgbClr val="1428A0"/>
                </a:solidFill>
                <a:latin typeface="Arial"/>
                <a:ea typeface="Arial"/>
              </a:rPr>
              <a:t>70+ → 1.02</a:t>
            </a:r>
            <a:r>
              <a:rPr sz="1500" b="0">
                <a:solidFill>
                  <a:srgbClr val="555555"/>
                </a:solidFill>
                <a:latin typeface="Arial"/>
                <a:ea typeface="Arial"/>
              </a:rPr>
              <a:t>  pSLC 0.5~2%</a:t>
            </a:r>
          </a:p>
        </p:txBody>
      </p:sp>
      <p:sp>
        <p:nvSpPr>
          <p:cNvPr id="104" name="Rounded Rectangle 103"/>
          <p:cNvSpPr/>
          <p:nvPr/>
        </p:nvSpPr>
        <p:spPr>
          <a:xfrm>
            <a:off x="13601700" y="6181344"/>
            <a:ext cx="100584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3656564" y="6181344"/>
            <a:ext cx="896112" cy="640080"/>
          </a:xfrm>
          <a:prstGeom prst="rect">
            <a:avLst/>
          </a:prstGeom>
          <a:noFill/>
        </p:spPr>
        <p:txBody>
          <a:bodyPr wrap="square" anchor="ctr" lIns="0" rIns="0" tIns="0" bIns="0">
            <a:spAutoFit/>
          </a:bodyPr>
          <a:lstStyle/>
          <a:p>
            <a:pPr algn="ctr">
              <a:lnSpc>
                <a:spcPct val="110000"/>
              </a:lnSpc>
            </a:pPr>
            <a:r>
              <a:rPr sz="1500" b="1">
                <a:solidFill>
                  <a:srgbClr val="1A1A1A"/>
                </a:solidFill>
                <a:latin typeface="Arial"/>
                <a:ea typeface="Arial"/>
              </a:rPr>
              <a:t>고객</a:t>
            </a:r>
          </a:p>
          <a:p>
            <a:pPr algn="ctr">
              <a:lnSpc>
                <a:spcPct val="110000"/>
              </a:lnSpc>
            </a:pPr>
            <a:r>
              <a:rPr sz="1500" b="1">
                <a:solidFill>
                  <a:srgbClr val="1A1A1A"/>
                </a:solidFill>
                <a:latin typeface="Arial"/>
                <a:ea typeface="Arial"/>
              </a:rPr>
              <a:t>호스트</a:t>
            </a:r>
          </a:p>
        </p:txBody>
      </p:sp>
      <p:sp>
        <p:nvSpPr>
          <p:cNvPr id="106" name="Right Arrow 105"/>
          <p:cNvSpPr/>
          <p:nvPr/>
        </p:nvSpPr>
        <p:spPr>
          <a:xfrm>
            <a:off x="14662404" y="6217920"/>
            <a:ext cx="274320"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009876"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247620"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485363"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723108"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5960851"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198596"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436339"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6674084"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6911827"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7149572" y="6217920"/>
            <a:ext cx="20116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ight Arrow 116"/>
          <p:cNvSpPr/>
          <p:nvPr/>
        </p:nvSpPr>
        <p:spPr>
          <a:xfrm>
            <a:off x="14662404" y="6419088"/>
            <a:ext cx="274320" cy="146304"/>
          </a:xfrm>
          <a:prstGeom prst="right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009876"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247620"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485363"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5723108"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5960851"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198596"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6436339"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6674084"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6911827"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7149572" y="6419088"/>
            <a:ext cx="201168"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ight Arrow 127"/>
          <p:cNvSpPr/>
          <p:nvPr/>
        </p:nvSpPr>
        <p:spPr>
          <a:xfrm>
            <a:off x="14662404" y="6620256"/>
            <a:ext cx="274320"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5009876"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5247620"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5485363"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5723108"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5960851"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6198596"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6436339"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6674084"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6911827"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7149572" y="6620256"/>
            <a:ext cx="201168"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546836" y="6894576"/>
            <a:ext cx="4018788"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WAF </a:t>
            </a:r>
            <a:r>
              <a:rPr sz="1700" b="1">
                <a:solidFill>
                  <a:srgbClr val="1428A0"/>
                </a:solidFill>
                <a:latin typeface="Arial"/>
                <a:ea typeface="Arial"/>
              </a:rPr>
              <a:t>3.22 → 1.03</a:t>
            </a:r>
          </a:p>
        </p:txBody>
      </p:sp>
      <p:sp>
        <p:nvSpPr>
          <p:cNvPr id="140" name="Rounded Rectangle 139"/>
          <p:cNvSpPr/>
          <p:nvPr/>
        </p:nvSpPr>
        <p:spPr>
          <a:xfrm>
            <a:off x="7168896" y="7242048"/>
            <a:ext cx="210312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7223759" y="7242048"/>
            <a:ext cx="1993391" cy="457200"/>
          </a:xfrm>
          <a:prstGeom prst="rect">
            <a:avLst/>
          </a:prstGeom>
          <a:noFill/>
        </p:spPr>
        <p:txBody>
          <a:bodyPr wrap="square" anchor="ctr" lIns="0" rIns="0" tIns="0" bIns="0">
            <a:spAutoFit/>
          </a:bodyPr>
          <a:lstStyle/>
          <a:p>
            <a:pPr algn="ctr">
              <a:lnSpc>
                <a:spcPct val="110000"/>
              </a:lnSpc>
            </a:pPr>
            <a:r>
              <a:rPr sz="1700" b="1">
                <a:solidFill>
                  <a:srgbClr val="555555"/>
                </a:solidFill>
                <a:latin typeface="Arial"/>
                <a:ea typeface="Arial"/>
              </a:rPr>
              <a:t>지금</a:t>
            </a:r>
          </a:p>
        </p:txBody>
      </p:sp>
      <p:sp>
        <p:nvSpPr>
          <p:cNvPr id="142" name="Rounded Rectangle 141"/>
          <p:cNvSpPr/>
          <p:nvPr/>
        </p:nvSpPr>
        <p:spPr>
          <a:xfrm>
            <a:off x="9400032" y="7242048"/>
            <a:ext cx="4018788"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454896" y="7242048"/>
            <a:ext cx="3909060"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단기 2026~27  </a:t>
            </a:r>
            <a:r>
              <a:rPr sz="1600" b="0">
                <a:solidFill>
                  <a:srgbClr val="FFFFFF"/>
                </a:solidFill>
                <a:latin typeface="Arial"/>
                <a:ea typeface="Arial"/>
              </a:rPr>
              <a:t>스펙으로 협력</a:t>
            </a:r>
          </a:p>
        </p:txBody>
      </p:sp>
      <p:sp>
        <p:nvSpPr>
          <p:cNvPr id="144" name="Rounded Rectangle 143"/>
          <p:cNvSpPr/>
          <p:nvPr/>
        </p:nvSpPr>
        <p:spPr>
          <a:xfrm>
            <a:off x="13546836" y="7242048"/>
            <a:ext cx="4018788"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601700" y="7242048"/>
            <a:ext cx="3909060"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중장기 2028~  </a:t>
            </a:r>
            <a:r>
              <a:rPr sz="1600" b="0">
                <a:solidFill>
                  <a:srgbClr val="AAB8E8"/>
                </a:solidFill>
                <a:latin typeface="Arial"/>
                <a:ea typeface="Arial"/>
              </a:rPr>
              <a:t>고객과 공동 설계</a:t>
            </a:r>
          </a:p>
        </p:txBody>
      </p:sp>
      <p:sp>
        <p:nvSpPr>
          <p:cNvPr id="146" name="TextBox 145"/>
          <p:cNvSpPr txBox="1"/>
          <p:nvPr/>
        </p:nvSpPr>
        <p:spPr>
          <a:xfrm>
            <a:off x="7168896" y="7772400"/>
            <a:ext cx="2103120" cy="603504"/>
          </a:xfrm>
          <a:prstGeom prst="rect">
            <a:avLst/>
          </a:prstGeom>
          <a:noFill/>
        </p:spPr>
        <p:txBody>
          <a:bodyPr wrap="square" anchor="t" lIns="0" rIns="0" tIns="0" bIns="0">
            <a:spAutoFit/>
          </a:bodyPr>
          <a:lstStyle/>
          <a:p>
            <a:pPr algn="ctr">
              <a:lnSpc>
                <a:spcPct val="100000"/>
              </a:lnSpc>
            </a:pPr>
            <a:r>
              <a:rPr sz="1500" b="0">
                <a:solidFill>
                  <a:srgbClr val="555555"/>
                </a:solidFill>
                <a:latin typeface="Arial"/>
                <a:ea typeface="Arial"/>
              </a:rPr>
              <a:t>QLC 정격</a:t>
            </a:r>
          </a:p>
          <a:p>
            <a:pPr algn="ctr">
              <a:lnSpc>
                <a:spcPct val="100000"/>
              </a:lnSpc>
            </a:pPr>
            <a:r>
              <a:rPr sz="1600" b="1">
                <a:solidFill>
                  <a:srgbClr val="1A1A1A"/>
                </a:solidFill>
                <a:latin typeface="Arial"/>
                <a:ea typeface="Arial"/>
              </a:rPr>
              <a:t>0.3~0.6</a:t>
            </a:r>
          </a:p>
        </p:txBody>
      </p:sp>
      <p:sp>
        <p:nvSpPr>
          <p:cNvPr id="147" name="TextBox 146"/>
          <p:cNvSpPr txBox="1"/>
          <p:nvPr/>
        </p:nvSpPr>
        <p:spPr>
          <a:xfrm>
            <a:off x="9400032" y="7772400"/>
            <a:ext cx="4018788" cy="603504"/>
          </a:xfrm>
          <a:prstGeom prst="rect">
            <a:avLst/>
          </a:prstGeom>
          <a:noFill/>
        </p:spPr>
        <p:txBody>
          <a:bodyPr wrap="square" anchor="t" lIns="0" rIns="0" tIns="0" bIns="0">
            <a:spAutoFit/>
          </a:bodyPr>
          <a:lstStyle/>
          <a:p>
            <a:pPr algn="ctr">
              <a:lnSpc>
                <a:spcPct val="100000"/>
              </a:lnSpc>
            </a:pPr>
            <a:r>
              <a:rPr sz="1600" b="1">
                <a:solidFill>
                  <a:srgbClr val="1A1A1A"/>
                </a:solidFill>
                <a:latin typeface="Arial"/>
                <a:ea typeface="Arial"/>
              </a:rPr>
              <a:t>작은 쓰기 증폭 제거</a:t>
            </a:r>
          </a:p>
          <a:p>
            <a:pPr algn="ctr">
              <a:lnSpc>
                <a:spcPct val="100000"/>
              </a:lnSpc>
            </a:pPr>
            <a:r>
              <a:rPr sz="1500" b="0">
                <a:solidFill>
                  <a:srgbClr val="555555"/>
                </a:solidFill>
                <a:latin typeface="Arial"/>
                <a:ea typeface="Arial"/>
              </a:rPr>
              <a:t>pSLC가 쓰기 지연 · 대역 흡수</a:t>
            </a:r>
          </a:p>
        </p:txBody>
      </p:sp>
      <p:sp>
        <p:nvSpPr>
          <p:cNvPr id="148" name="TextBox 147"/>
          <p:cNvSpPr txBox="1"/>
          <p:nvPr/>
        </p:nvSpPr>
        <p:spPr>
          <a:xfrm>
            <a:off x="13546836" y="7772400"/>
            <a:ext cx="4018788" cy="603504"/>
          </a:xfrm>
          <a:prstGeom prst="rect">
            <a:avLst/>
          </a:prstGeom>
          <a:noFill/>
        </p:spPr>
        <p:txBody>
          <a:bodyPr wrap="square" anchor="t" lIns="0" rIns="0" tIns="0" bIns="0">
            <a:spAutoFit/>
          </a:bodyPr>
          <a:lstStyle/>
          <a:p>
            <a:pPr algn="ctr">
              <a:lnSpc>
                <a:spcPct val="100000"/>
              </a:lnSpc>
            </a:pPr>
            <a:r>
              <a:rPr sz="1600" b="1">
                <a:solidFill>
                  <a:srgbClr val="1428A0"/>
                </a:solidFill>
                <a:latin typeface="Arial"/>
                <a:ea typeface="Arial"/>
              </a:rPr>
              <a:t>WAF를 근원적으로 ≈ 1</a:t>
            </a:r>
          </a:p>
          <a:p>
            <a:pPr algn="ctr">
              <a:lnSpc>
                <a:spcPct val="100000"/>
              </a:lnSpc>
            </a:pPr>
            <a:r>
              <a:rPr sz="1500" b="0">
                <a:solidFill>
                  <a:srgbClr val="555555"/>
                </a:solidFill>
                <a:latin typeface="Arial"/>
                <a:ea typeface="Arial"/>
              </a:rPr>
              <a:t>GC 간섭 ↓, p99.9 -55% (TLC)</a:t>
            </a:r>
          </a:p>
        </p:txBody>
      </p:sp>
      <p:sp>
        <p:nvSpPr>
          <p:cNvPr id="149" name="Rectangle 148"/>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151" name="TextBox 150"/>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단기에는 Mixed Media로 모아 쓰고, 중장기에는 고객과 FDP로 WAF를 근원적으로 낮춥니다</a:t>
            </a:r>
          </a:p>
        </p:txBody>
      </p:sp>
      <p:sp>
        <p:nvSpPr>
          <p:cNvPr id="152" name="TextBox 15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분할은 과제팀 산술(TLC eSSD 2026 353~435 · 2030 540~1,200EB, 용량형 30~60% · 관행 15~40%는 근거 없는 가정, 범위 = L~H) · Micron 6600 ION 사양 · CSAL 백서(별도 캐시 구성) · Kioxia pSLC VoC · CacheLib FDP · 삼성 PM9D3a · 계단 대응은 과제팀 해석 · 모두 검색 확인 등급</a:t>
            </a:r>
          </a:p>
        </p:txBody>
      </p:sp>
      <p:sp>
        <p:nvSpPr>
          <p:cNvPr id="153" name="TextBox 15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6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6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