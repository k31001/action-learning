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삼성 FMS 2026 전시의 Bonding V-NAND 적층 모형 사진(Cell과 Peri를 따로 만들어 붙이는 본딩 구조), 전략 2는 3D DRAM 구조 개념 렌더(셀 층을 수평으로 쌓고 아래 Peri 다이에 붙인 구조, 실물 사진 아님)입니다.</a:t>
            </a:r>
          </a:p>
          <a:p>
            <a:r>
              <a:t>[시안 A 도해형] 칸마다 왼쪽 그림이 작동 원리입니다. 전략 1은 한 라인을 DRAM과 NAND가 나눠 쓰고 경계가 움직이는 그림(C1), 검증된 Cell 자산이 새 제품의 Cell 층으로 그대로 들어가는 그림(C2), 공통 Cell 아래 고객별 Peri를 붙이는 그림(C3)입니다. 전략 2는 메모리 설계 자원이 로직 IP로 바뀌는 그림, 검증 품질과 적기 공급 마일스톤, 가속기별로 아래 Logic Die가 다른 메모리 적층 그림입니다. 전략 3은 고객 변화를 먼저 감지하는 그림, NAND에서 SSD, 서버로 오르는 계단, 삼성과 고객이 함께 서버 구조를 설계하는 그림입니다.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삼성 FMS 2026 전시의 Bonding V-NAND 적층 모형 사진(Cell과 Peri를 따로 만들어 붙이는 본딩 구조), 전략 2는 3D DRAM 구조 개념 렌더(셀 층을 수평으로 쌓고 아래 Peri 다이에 붙인 구조, 실물 사진 아님)입니다.</a:t>
            </a:r>
          </a:p>
          <a:p>
            <a:r>
              <a:t>[시안 B 아이콘 키워드형] 왼쪽은 이 체계가 왜 필요한지입니다. 위 그림은 개념도로, 지금 이후 수요는 예측선 하나가 아니라 넓어지는 범위 안 어디로든 갈 수 있음을 보입니다. 그래서 예측 하나에 걸지 않고 자원 · 기술 · 고객 세 꼭짓점을 하나의 체계로 묶습니다. 오른쪽 매트릭스는 세 전략이 각 C에서 무엇을 하는지 아이콘과 키워드로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삼성 FMS 2026 전시의 Bonding V-NAND 적층 모형 사진(Cell과 Peri를 따로 만들어 붙이는 본딩 구조), 전략 2는 3D DRAM 구조 개념 렌더(셀 층을 수평으로 쌓고 아래 Peri 다이에 붙인 구조, 실물 사진 아님)입니다.</a:t>
            </a:r>
          </a:p>
          <a:p>
            <a:r>
              <a:t>[시안 C 기둥 구조형] 건물 그림으로 읽습니다. 맨 아래 토대가 수요 예측입니다. 필요하지만 그것만으로는 불확실성을 버틸 수 없습니다. 그 위에 자원 전환(C1), 기술 축적(C2), 고객과 공동 설계(C3) 세 기둥을 세우고, 세 기둥이 함께 전체 최적화 체계라는 지붕을 받칩니다. 세 전략은 세 기둥을 모두 가로지르는 들보입니다. 어느 전략도 한 기둥에만 기대지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6.png"/><Relationship Id="rId10" Type="http://schemas.openxmlformats.org/officeDocument/2006/relationships/image" Target="../media/image17.png"/><Relationship Id="rId11" Type="http://schemas.openxmlformats.org/officeDocument/2006/relationships/image" Target="../media/image9.png"/><Relationship Id="rId12" Type="http://schemas.openxmlformats.org/officeDocument/2006/relationships/image" Target="../media/image18.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6.png"/><Relationship Id="rId10" Type="http://schemas.openxmlformats.org/officeDocument/2006/relationships/image" Target="../media/image17.png"/><Relationship Id="rId11" Type="http://schemas.openxmlformats.org/officeDocument/2006/relationships/image" Target="../media/image9.png"/><Relationship Id="rId12" Type="http://schemas.openxmlformats.org/officeDocument/2006/relationships/image" Target="../media/image18.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A  도해형 매트릭스</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3657600" cy="804672"/>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8" name="Rectangle 7"/>
          <p:cNvSpPr/>
          <p:nvPr/>
        </p:nvSpPr>
        <p:spPr>
          <a:xfrm>
            <a:off x="722376" y="2990088"/>
            <a:ext cx="3657600" cy="274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62856" y="2194560"/>
            <a:ext cx="731520" cy="73152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rrows-exchange_white.png"/>
          <p:cNvPicPr>
            <a:picLocks noChangeAspect="1"/>
          </p:cNvPicPr>
          <p:nvPr/>
        </p:nvPicPr>
        <p:blipFill>
          <a:blip r:embed="rId2"/>
          <a:stretch>
            <a:fillRect/>
          </a:stretch>
        </p:blipFill>
        <p:spPr>
          <a:xfrm>
            <a:off x="4723790" y="2355494"/>
            <a:ext cx="409651" cy="409651"/>
          </a:xfrm>
          <a:prstGeom prst="rect">
            <a:avLst/>
          </a:prstGeom>
        </p:spPr>
      </p:pic>
      <p:sp>
        <p:nvSpPr>
          <p:cNvPr id="11" name="TextBox 10"/>
          <p:cNvSpPr txBox="1"/>
          <p:nvPr/>
        </p:nvSpPr>
        <p:spPr>
          <a:xfrm>
            <a:off x="5440680" y="2157984"/>
            <a:ext cx="3334512" cy="786384"/>
          </a:xfrm>
          <a:prstGeom prst="rect">
            <a:avLst/>
          </a:prstGeom>
          <a:noFill/>
        </p:spPr>
        <p:txBody>
          <a:bodyPr wrap="square" anchor="ctr" lIns="0" rIns="0" tIns="0" bIns="0">
            <a:spAutoFit/>
          </a:bodyPr>
          <a:lstStyle/>
          <a:p>
            <a:pPr algn="l">
              <a:lnSpc>
                <a:spcPct val="110000"/>
              </a:lnSpc>
            </a:pPr>
            <a:r>
              <a:rPr sz="2400" b="1">
                <a:solidFill>
                  <a:srgbClr val="3C4FA5"/>
                </a:solidFill>
                <a:latin typeface="Arial"/>
                <a:ea typeface="Arial"/>
              </a:rPr>
              <a:t>C1 </a:t>
            </a:r>
            <a:r>
              <a:rPr sz="2400" b="1">
                <a:solidFill>
                  <a:srgbClr val="1A1A1A"/>
                </a:solidFill>
                <a:latin typeface="Arial"/>
                <a:ea typeface="Arial"/>
              </a:rPr>
              <a:t>Convertibility</a:t>
            </a:r>
          </a:p>
          <a:p>
            <a:pPr algn="l">
              <a:lnSpc>
                <a:spcPct val="110000"/>
              </a:lnSpc>
            </a:pPr>
            <a:r>
              <a:rPr sz="2000" b="0">
                <a:solidFill>
                  <a:srgbClr val="555555"/>
                </a:solidFill>
                <a:latin typeface="Arial"/>
                <a:ea typeface="Arial"/>
              </a:rPr>
              <a:t>자원의 유연한 전환</a:t>
            </a:r>
          </a:p>
        </p:txBody>
      </p:sp>
      <p:sp>
        <p:nvSpPr>
          <p:cNvPr id="12" name="Rectangle 11"/>
          <p:cNvSpPr/>
          <p:nvPr/>
        </p:nvSpPr>
        <p:spPr>
          <a:xfrm>
            <a:off x="4526280" y="2980944"/>
            <a:ext cx="4248912" cy="457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58072" y="2194560"/>
            <a:ext cx="731520" cy="73152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tack-push_white.png"/>
          <p:cNvPicPr>
            <a:picLocks noChangeAspect="1"/>
          </p:cNvPicPr>
          <p:nvPr/>
        </p:nvPicPr>
        <p:blipFill>
          <a:blip r:embed="rId3"/>
          <a:stretch>
            <a:fillRect/>
          </a:stretch>
        </p:blipFill>
        <p:spPr>
          <a:xfrm>
            <a:off x="9119006" y="2355494"/>
            <a:ext cx="409651" cy="409651"/>
          </a:xfrm>
          <a:prstGeom prst="rect">
            <a:avLst/>
          </a:prstGeom>
        </p:spPr>
      </p:pic>
      <p:sp>
        <p:nvSpPr>
          <p:cNvPr id="15" name="TextBox 14"/>
          <p:cNvSpPr txBox="1"/>
          <p:nvPr/>
        </p:nvSpPr>
        <p:spPr>
          <a:xfrm>
            <a:off x="9835896" y="2157984"/>
            <a:ext cx="3334512" cy="786384"/>
          </a:xfrm>
          <a:prstGeom prst="rect">
            <a:avLst/>
          </a:prstGeom>
          <a:noFill/>
        </p:spPr>
        <p:txBody>
          <a:bodyPr wrap="square" anchor="ctr" lIns="0" rIns="0" tIns="0" bIns="0">
            <a:spAutoFit/>
          </a:bodyPr>
          <a:lstStyle/>
          <a:p>
            <a:pPr algn="l">
              <a:lnSpc>
                <a:spcPct val="110000"/>
              </a:lnSpc>
            </a:pPr>
            <a:r>
              <a:rPr sz="2400" b="1">
                <a:solidFill>
                  <a:srgbClr val="3C4FA5"/>
                </a:solidFill>
                <a:latin typeface="Arial"/>
                <a:ea typeface="Arial"/>
              </a:rPr>
              <a:t>C2 </a:t>
            </a:r>
            <a:r>
              <a:rPr sz="2400" b="1">
                <a:solidFill>
                  <a:srgbClr val="1A1A1A"/>
                </a:solidFill>
                <a:latin typeface="Arial"/>
                <a:ea typeface="Arial"/>
              </a:rPr>
              <a:t>Continuity</a:t>
            </a:r>
          </a:p>
          <a:p>
            <a:pPr algn="l">
              <a:lnSpc>
                <a:spcPct val="110000"/>
              </a:lnSpc>
            </a:pPr>
            <a:r>
              <a:rPr sz="2000" b="0">
                <a:solidFill>
                  <a:srgbClr val="555555"/>
                </a:solidFill>
                <a:latin typeface="Arial"/>
                <a:ea typeface="Arial"/>
              </a:rPr>
              <a:t>연속성 있는 기술 축적</a:t>
            </a:r>
          </a:p>
        </p:txBody>
      </p:sp>
      <p:sp>
        <p:nvSpPr>
          <p:cNvPr id="16" name="Rectangle 15"/>
          <p:cNvSpPr/>
          <p:nvPr/>
        </p:nvSpPr>
        <p:spPr>
          <a:xfrm>
            <a:off x="8921496" y="2980944"/>
            <a:ext cx="4248912" cy="457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353288" y="2194560"/>
            <a:ext cx="731520" cy="73152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rt-handshake_white.png"/>
          <p:cNvPicPr>
            <a:picLocks noChangeAspect="1"/>
          </p:cNvPicPr>
          <p:nvPr/>
        </p:nvPicPr>
        <p:blipFill>
          <a:blip r:embed="rId4"/>
          <a:stretch>
            <a:fillRect/>
          </a:stretch>
        </p:blipFill>
        <p:spPr>
          <a:xfrm>
            <a:off x="13514222" y="2355494"/>
            <a:ext cx="409651" cy="409651"/>
          </a:xfrm>
          <a:prstGeom prst="rect">
            <a:avLst/>
          </a:prstGeom>
        </p:spPr>
      </p:pic>
      <p:sp>
        <p:nvSpPr>
          <p:cNvPr id="19" name="TextBox 18"/>
          <p:cNvSpPr txBox="1"/>
          <p:nvPr/>
        </p:nvSpPr>
        <p:spPr>
          <a:xfrm>
            <a:off x="14231112" y="2157984"/>
            <a:ext cx="3334512" cy="786384"/>
          </a:xfrm>
          <a:prstGeom prst="rect">
            <a:avLst/>
          </a:prstGeom>
          <a:noFill/>
        </p:spPr>
        <p:txBody>
          <a:bodyPr wrap="square" anchor="ctr" lIns="0" rIns="0" tIns="0" bIns="0">
            <a:spAutoFit/>
          </a:bodyPr>
          <a:lstStyle/>
          <a:p>
            <a:pPr algn="l">
              <a:lnSpc>
                <a:spcPct val="110000"/>
              </a:lnSpc>
            </a:pPr>
            <a:r>
              <a:rPr sz="2400" b="1">
                <a:solidFill>
                  <a:srgbClr val="3C4FA5"/>
                </a:solidFill>
                <a:latin typeface="Arial"/>
                <a:ea typeface="Arial"/>
              </a:rPr>
              <a:t>C3 </a:t>
            </a:r>
            <a:r>
              <a:rPr sz="2400" b="1">
                <a:solidFill>
                  <a:srgbClr val="1A1A1A"/>
                </a:solidFill>
                <a:latin typeface="Arial"/>
                <a:ea typeface="Arial"/>
              </a:rPr>
              <a:t>Co-Creation</a:t>
            </a:r>
          </a:p>
          <a:p>
            <a:pPr algn="l">
              <a:lnSpc>
                <a:spcPct val="110000"/>
              </a:lnSpc>
            </a:pPr>
            <a:r>
              <a:rPr sz="2000" b="0">
                <a:solidFill>
                  <a:srgbClr val="555555"/>
                </a:solidFill>
                <a:latin typeface="Arial"/>
                <a:ea typeface="Arial"/>
              </a:rPr>
              <a:t>고객과 함께 미래를 설계</a:t>
            </a:r>
          </a:p>
        </p:txBody>
      </p:sp>
      <p:sp>
        <p:nvSpPr>
          <p:cNvPr id="20" name="Rectangle 19"/>
          <p:cNvSpPr/>
          <p:nvPr/>
        </p:nvSpPr>
        <p:spPr>
          <a:xfrm>
            <a:off x="13316712" y="2980944"/>
            <a:ext cx="4248912" cy="457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2376" y="3182112"/>
            <a:ext cx="3657600" cy="1719072"/>
          </a:xfrm>
          <a:prstGeom prst="roundRect">
            <a:avLst>
              <a:gd name="adj" fmla="val 425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6968" y="3346704"/>
            <a:ext cx="960120"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3346704"/>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1</a:t>
            </a:r>
          </a:p>
        </p:txBody>
      </p:sp>
      <p:sp>
        <p:nvSpPr>
          <p:cNvPr id="24" name="TextBox 23"/>
          <p:cNvSpPr txBox="1"/>
          <p:nvPr/>
        </p:nvSpPr>
        <p:spPr>
          <a:xfrm>
            <a:off x="886968" y="3785615"/>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Bonding 기반</a:t>
            </a:r>
          </a:p>
          <a:p>
            <a:pPr algn="l">
              <a:lnSpc>
                <a:spcPct val="100000"/>
              </a:lnSpc>
            </a:pPr>
            <a:r>
              <a:rPr sz="2000" b="1">
                <a:solidFill>
                  <a:srgbClr val="1A1A1A"/>
                </a:solidFill>
                <a:latin typeface="Arial"/>
                <a:ea typeface="Arial"/>
              </a:rPr>
              <a:t>DRAM · NAND</a:t>
            </a:r>
          </a:p>
          <a:p>
            <a:pPr algn="l">
              <a:lnSpc>
                <a:spcPct val="100000"/>
              </a:lnSpc>
            </a:pPr>
            <a:r>
              <a:rPr sz="2000" b="1">
                <a:solidFill>
                  <a:srgbClr val="1A1A1A"/>
                </a:solidFill>
                <a:latin typeface="Arial"/>
                <a:ea typeface="Arial"/>
              </a:rPr>
              <a:t>통합 제조</a:t>
            </a:r>
          </a:p>
        </p:txBody>
      </p:sp>
      <p:pic>
        <p:nvPicPr>
          <p:cNvPr id="25" name="Picture 24" descr="bonding.jpg"/>
          <p:cNvPicPr>
            <a:picLocks noChangeAspect="1"/>
          </p:cNvPicPr>
          <p:nvPr/>
        </p:nvPicPr>
        <p:blipFill>
          <a:blip r:embed="rId5"/>
          <a:stretch>
            <a:fillRect/>
          </a:stretch>
        </p:blipFill>
        <p:spPr>
          <a:xfrm>
            <a:off x="2898648" y="3320986"/>
            <a:ext cx="1371600" cy="1441323"/>
          </a:xfrm>
          <a:prstGeom prst="rect">
            <a:avLst/>
          </a:prstGeom>
        </p:spPr>
      </p:pic>
      <p:sp>
        <p:nvSpPr>
          <p:cNvPr id="26" name="Rectangle 25"/>
          <p:cNvSpPr/>
          <p:nvPr/>
        </p:nvSpPr>
        <p:spPr>
          <a:xfrm>
            <a:off x="2898648" y="3320986"/>
            <a:ext cx="1371600" cy="1441323"/>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526280" y="3182112"/>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uilding-factory-2_blue.png"/>
          <p:cNvPicPr>
            <a:picLocks noChangeAspect="1"/>
          </p:cNvPicPr>
          <p:nvPr/>
        </p:nvPicPr>
        <p:blipFill>
          <a:blip r:embed="rId6"/>
          <a:stretch>
            <a:fillRect/>
          </a:stretch>
        </p:blipFill>
        <p:spPr>
          <a:xfrm>
            <a:off x="5321808" y="3337560"/>
            <a:ext cx="512064" cy="512064"/>
          </a:xfrm>
          <a:prstGeom prst="rect">
            <a:avLst/>
          </a:prstGeom>
        </p:spPr>
      </p:pic>
      <p:sp>
        <p:nvSpPr>
          <p:cNvPr id="29" name="TextBox 28"/>
          <p:cNvSpPr txBox="1"/>
          <p:nvPr/>
        </p:nvSpPr>
        <p:spPr>
          <a:xfrm>
            <a:off x="4672584" y="3886200"/>
            <a:ext cx="1810512"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공용 라인</a:t>
            </a:r>
          </a:p>
        </p:txBody>
      </p:sp>
      <p:sp>
        <p:nvSpPr>
          <p:cNvPr id="30" name="Rectangle 29"/>
          <p:cNvSpPr/>
          <p:nvPr/>
        </p:nvSpPr>
        <p:spPr>
          <a:xfrm>
            <a:off x="4672584" y="4178808"/>
            <a:ext cx="1013886" cy="38404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86470" y="4178808"/>
            <a:ext cx="796625" cy="38404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72584" y="4178808"/>
            <a:ext cx="1013886" cy="384048"/>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DRAM</a:t>
            </a:r>
          </a:p>
        </p:txBody>
      </p:sp>
      <p:sp>
        <p:nvSpPr>
          <p:cNvPr id="33" name="TextBox 32"/>
          <p:cNvSpPr txBox="1"/>
          <p:nvPr/>
        </p:nvSpPr>
        <p:spPr>
          <a:xfrm>
            <a:off x="5686470" y="4178808"/>
            <a:ext cx="796625" cy="384048"/>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NAND</a:t>
            </a:r>
          </a:p>
        </p:txBody>
      </p:sp>
      <p:sp>
        <p:nvSpPr>
          <p:cNvPr id="34" name="Left-Right Arrow 33"/>
          <p:cNvSpPr/>
          <p:nvPr/>
        </p:nvSpPr>
        <p:spPr>
          <a:xfrm>
            <a:off x="5393862" y="4599432"/>
            <a:ext cx="585216" cy="164592"/>
          </a:xfrm>
          <a:prstGeom prst="lef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01968"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20840"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제조라인 공용화</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수요에 따라</a:t>
            </a:r>
          </a:p>
          <a:p>
            <a:pPr algn="l">
              <a:lnSpc>
                <a:spcPct val="105000"/>
              </a:lnSpc>
            </a:pPr>
            <a:r>
              <a:rPr sz="1800" b="0">
                <a:solidFill>
                  <a:srgbClr val="555555"/>
                </a:solidFill>
                <a:latin typeface="Arial"/>
                <a:ea typeface="Arial"/>
              </a:rPr>
              <a:t>DRAM ↔ NAND</a:t>
            </a:r>
          </a:p>
        </p:txBody>
      </p:sp>
      <p:sp>
        <p:nvSpPr>
          <p:cNvPr id="37" name="Rounded Rectangle 36"/>
          <p:cNvSpPr/>
          <p:nvPr/>
        </p:nvSpPr>
        <p:spPr>
          <a:xfrm>
            <a:off x="8921496" y="3182112"/>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214104" y="3355848"/>
            <a:ext cx="786384" cy="731520"/>
          </a:xfrm>
          <a:prstGeom prst="roundRect">
            <a:avLst>
              <a:gd name="adj" fmla="val 1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140952" y="3429000"/>
            <a:ext cx="786384" cy="731520"/>
          </a:xfrm>
          <a:prstGeom prst="roundRect">
            <a:avLst>
              <a:gd name="adj" fmla="val 1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67800" y="3502152"/>
            <a:ext cx="786384" cy="731520"/>
          </a:xfrm>
          <a:prstGeom prst="roundRect">
            <a:avLst>
              <a:gd name="adj" fmla="val 10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22664" y="3502152"/>
            <a:ext cx="676656" cy="73152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Legacy</a:t>
            </a:r>
          </a:p>
          <a:p>
            <a:pPr algn="ctr">
              <a:lnSpc>
                <a:spcPct val="110000"/>
              </a:lnSpc>
            </a:pPr>
            <a:r>
              <a:rPr sz="1600" b="1">
                <a:solidFill>
                  <a:srgbClr val="1A1A1A"/>
                </a:solidFill>
                <a:latin typeface="Arial"/>
                <a:ea typeface="Arial"/>
              </a:rPr>
              <a:t>Cell</a:t>
            </a:r>
          </a:p>
        </p:txBody>
      </p:sp>
      <p:sp>
        <p:nvSpPr>
          <p:cNvPr id="42" name="TextBox 41"/>
          <p:cNvSpPr txBox="1"/>
          <p:nvPr/>
        </p:nvSpPr>
        <p:spPr>
          <a:xfrm>
            <a:off x="9022080" y="4361688"/>
            <a:ext cx="969264"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검증 자산</a:t>
            </a:r>
          </a:p>
        </p:txBody>
      </p:sp>
      <p:sp>
        <p:nvSpPr>
          <p:cNvPr id="43" name="Right Arrow 42"/>
          <p:cNvSpPr/>
          <p:nvPr/>
        </p:nvSpPr>
        <p:spPr>
          <a:xfrm>
            <a:off x="10000488" y="3758184"/>
            <a:ext cx="23774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201656" y="3483864"/>
            <a:ext cx="676656"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256520" y="3483864"/>
            <a:ext cx="566928"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Cell</a:t>
            </a:r>
          </a:p>
        </p:txBody>
      </p:sp>
      <p:cxnSp>
        <p:nvCxnSpPr>
          <p:cNvPr id="46" name="Connector 45"/>
          <p:cNvCxnSpPr/>
          <p:nvPr/>
        </p:nvCxnSpPr>
        <p:spPr>
          <a:xfrm>
            <a:off x="10165080" y="3904487"/>
            <a:ext cx="749808" cy="0"/>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10201656" y="3959352"/>
            <a:ext cx="676656" cy="365760"/>
          </a:xfrm>
          <a:prstGeom prst="roundRect">
            <a:avLst>
              <a:gd name="adj" fmla="val 2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256520" y="3959352"/>
            <a:ext cx="566928"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Peri</a:t>
            </a:r>
          </a:p>
        </p:txBody>
      </p:sp>
      <p:sp>
        <p:nvSpPr>
          <p:cNvPr id="49" name="TextBox 48"/>
          <p:cNvSpPr txBox="1"/>
          <p:nvPr/>
        </p:nvSpPr>
        <p:spPr>
          <a:xfrm>
            <a:off x="10018776" y="4361688"/>
            <a:ext cx="1042415"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Bonding</a:t>
            </a:r>
          </a:p>
        </p:txBody>
      </p:sp>
      <p:sp>
        <p:nvSpPr>
          <p:cNvPr id="50" name="Rectangle 49"/>
          <p:cNvSpPr/>
          <p:nvPr/>
        </p:nvSpPr>
        <p:spPr>
          <a:xfrm>
            <a:off x="10997184"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116056"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Legacy Cell</a:t>
            </a:r>
          </a:p>
          <a:p>
            <a:pPr algn="l">
              <a:lnSpc>
                <a:spcPct val="105000"/>
              </a:lnSpc>
            </a:pPr>
            <a:r>
              <a:rPr sz="2000" b="1">
                <a:solidFill>
                  <a:srgbClr val="1A1A1A"/>
                </a:solidFill>
                <a:latin typeface="Arial"/>
                <a:ea typeface="Arial"/>
              </a:rPr>
              <a:t>자산화</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검증된 Cell을</a:t>
            </a:r>
          </a:p>
          <a:p>
            <a:pPr algn="l">
              <a:lnSpc>
                <a:spcPct val="105000"/>
              </a:lnSpc>
            </a:pPr>
            <a:r>
              <a:rPr sz="1800" b="0">
                <a:solidFill>
                  <a:srgbClr val="555555"/>
                </a:solidFill>
                <a:latin typeface="Arial"/>
                <a:ea typeface="Arial"/>
              </a:rPr>
              <a:t>그대로 재활용</a:t>
            </a:r>
          </a:p>
        </p:txBody>
      </p:sp>
      <p:sp>
        <p:nvSpPr>
          <p:cNvPr id="52" name="Rounded Rectangle 51"/>
          <p:cNvSpPr/>
          <p:nvPr/>
        </p:nvSpPr>
        <p:spPr>
          <a:xfrm>
            <a:off x="13316712" y="3182112"/>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3463016" y="3374136"/>
            <a:ext cx="1810512" cy="365760"/>
          </a:xfrm>
          <a:prstGeom prst="roundRect">
            <a:avLst>
              <a:gd name="adj" fmla="val 2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3517880" y="3374136"/>
            <a:ext cx="1700784"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공통 Cell</a:t>
            </a:r>
          </a:p>
        </p:txBody>
      </p:sp>
      <p:cxnSp>
        <p:nvCxnSpPr>
          <p:cNvPr id="55" name="Connector 54"/>
          <p:cNvCxnSpPr/>
          <p:nvPr/>
        </p:nvCxnSpPr>
        <p:spPr>
          <a:xfrm>
            <a:off x="13734288"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13463016" y="3922776"/>
            <a:ext cx="542544"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517880" y="3922776"/>
            <a:ext cx="432816"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a:t>
            </a:r>
          </a:p>
        </p:txBody>
      </p:sp>
      <p:cxnSp>
        <p:nvCxnSpPr>
          <p:cNvPr id="58" name="Connector 57"/>
          <p:cNvCxnSpPr/>
          <p:nvPr/>
        </p:nvCxnSpPr>
        <p:spPr>
          <a:xfrm>
            <a:off x="14368272"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14097000" y="3922776"/>
            <a:ext cx="542544" cy="365760"/>
          </a:xfrm>
          <a:prstGeom prst="roundRect">
            <a:avLst>
              <a:gd name="adj" fmla="val 20000"/>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4151864" y="3922776"/>
            <a:ext cx="432816"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B</a:t>
            </a:r>
          </a:p>
        </p:txBody>
      </p:sp>
      <p:cxnSp>
        <p:nvCxnSpPr>
          <p:cNvPr id="61" name="Connector 60"/>
          <p:cNvCxnSpPr/>
          <p:nvPr/>
        </p:nvCxnSpPr>
        <p:spPr>
          <a:xfrm>
            <a:off x="15002256"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14730984" y="3922776"/>
            <a:ext cx="542544" cy="365760"/>
          </a:xfrm>
          <a:prstGeom prst="roundRect">
            <a:avLst>
              <a:gd name="adj" fmla="val 20000"/>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4785848" y="3922776"/>
            <a:ext cx="432816"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C</a:t>
            </a:r>
          </a:p>
        </p:txBody>
      </p:sp>
      <p:sp>
        <p:nvSpPr>
          <p:cNvPr id="64" name="TextBox 63"/>
          <p:cNvSpPr txBox="1"/>
          <p:nvPr/>
        </p:nvSpPr>
        <p:spPr>
          <a:xfrm>
            <a:off x="13463016" y="4361688"/>
            <a:ext cx="181051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고객별 Peri</a:t>
            </a:r>
          </a:p>
        </p:txBody>
      </p:sp>
      <p:sp>
        <p:nvSpPr>
          <p:cNvPr id="65" name="Rectangle 64"/>
          <p:cNvSpPr/>
          <p:nvPr/>
        </p:nvSpPr>
        <p:spPr>
          <a:xfrm>
            <a:off x="15392400"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511272"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Peripherals</a:t>
            </a:r>
          </a:p>
          <a:p>
            <a:pPr algn="l">
              <a:lnSpc>
                <a:spcPct val="105000"/>
              </a:lnSpc>
            </a:pPr>
            <a:r>
              <a:rPr sz="2000" b="1">
                <a:solidFill>
                  <a:srgbClr val="1A1A1A"/>
                </a:solidFill>
                <a:latin typeface="Arial"/>
                <a:ea typeface="Arial"/>
              </a:rPr>
              <a:t>맞춤 제공</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Cell은 공통,</a:t>
            </a:r>
          </a:p>
          <a:p>
            <a:pPr algn="l">
              <a:lnSpc>
                <a:spcPct val="105000"/>
              </a:lnSpc>
            </a:pPr>
            <a:r>
              <a:rPr sz="1800" b="0">
                <a:solidFill>
                  <a:srgbClr val="555555"/>
                </a:solidFill>
                <a:latin typeface="Arial"/>
                <a:ea typeface="Arial"/>
              </a:rPr>
              <a:t>Peri는 고객별로</a:t>
            </a:r>
          </a:p>
        </p:txBody>
      </p:sp>
      <p:sp>
        <p:nvSpPr>
          <p:cNvPr id="67" name="Rounded Rectangle 66"/>
          <p:cNvSpPr/>
          <p:nvPr/>
        </p:nvSpPr>
        <p:spPr>
          <a:xfrm>
            <a:off x="722376" y="5029200"/>
            <a:ext cx="3657600" cy="1719072"/>
          </a:xfrm>
          <a:prstGeom prst="roundRect">
            <a:avLst>
              <a:gd name="adj" fmla="val 425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86968" y="5193792"/>
            <a:ext cx="960120"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1832" y="5193792"/>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2</a:t>
            </a:r>
          </a:p>
        </p:txBody>
      </p:sp>
      <p:sp>
        <p:nvSpPr>
          <p:cNvPr id="70" name="TextBox 69"/>
          <p:cNvSpPr txBox="1"/>
          <p:nvPr/>
        </p:nvSpPr>
        <p:spPr>
          <a:xfrm>
            <a:off x="886968" y="5632704"/>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고객 맞춤형</a:t>
            </a:r>
          </a:p>
          <a:p>
            <a:pPr algn="l">
              <a:lnSpc>
                <a:spcPct val="100000"/>
              </a:lnSpc>
            </a:pPr>
            <a:r>
              <a:rPr sz="2000" b="1">
                <a:solidFill>
                  <a:srgbClr val="1A1A1A"/>
                </a:solidFill>
                <a:latin typeface="Arial"/>
                <a:ea typeface="Arial"/>
              </a:rPr>
              <a:t>차세대 메모리</a:t>
            </a:r>
          </a:p>
          <a:p>
            <a:pPr algn="l">
              <a:lnSpc>
                <a:spcPct val="100000"/>
              </a:lnSpc>
            </a:pPr>
            <a:r>
              <a:rPr sz="2000" b="1">
                <a:solidFill>
                  <a:srgbClr val="1A1A1A"/>
                </a:solidFill>
                <a:latin typeface="Arial"/>
                <a:ea typeface="Arial"/>
              </a:rPr>
              <a:t>개발</a:t>
            </a:r>
          </a:p>
        </p:txBody>
      </p:sp>
      <p:pic>
        <p:nvPicPr>
          <p:cNvPr id="71" name="Picture 70" descr="render_dram3d.png"/>
          <p:cNvPicPr>
            <a:picLocks noChangeAspect="1"/>
          </p:cNvPicPr>
          <p:nvPr/>
        </p:nvPicPr>
        <p:blipFill>
          <a:blip r:embed="rId7"/>
          <a:stretch>
            <a:fillRect/>
          </a:stretch>
        </p:blipFill>
        <p:spPr>
          <a:xfrm>
            <a:off x="2898648" y="5390915"/>
            <a:ext cx="1371600" cy="995641"/>
          </a:xfrm>
          <a:prstGeom prst="rect">
            <a:avLst/>
          </a:prstGeom>
        </p:spPr>
      </p:pic>
      <p:sp>
        <p:nvSpPr>
          <p:cNvPr id="72" name="Rounded Rectangle 71"/>
          <p:cNvSpPr/>
          <p:nvPr/>
        </p:nvSpPr>
        <p:spPr>
          <a:xfrm>
            <a:off x="4526280" y="5029200"/>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4672584" y="5294376"/>
            <a:ext cx="713232" cy="713232"/>
          </a:xfrm>
          <a:prstGeom prst="roundRect">
            <a:avLst>
              <a:gd name="adj" fmla="val 10256"/>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800600"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965192"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129784"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800600"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965192"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129784"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800600"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65192"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129784"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arrows-exchange_blue.png"/>
          <p:cNvPicPr>
            <a:picLocks noChangeAspect="1"/>
          </p:cNvPicPr>
          <p:nvPr/>
        </p:nvPicPr>
        <p:blipFill>
          <a:blip r:embed="rId8"/>
          <a:stretch>
            <a:fillRect/>
          </a:stretch>
        </p:blipFill>
        <p:spPr>
          <a:xfrm>
            <a:off x="5422392" y="5495544"/>
            <a:ext cx="310896" cy="310896"/>
          </a:xfrm>
          <a:prstGeom prst="rect">
            <a:avLst/>
          </a:prstGeom>
        </p:spPr>
      </p:pic>
      <p:sp>
        <p:nvSpPr>
          <p:cNvPr id="84" name="Oval 83"/>
          <p:cNvSpPr/>
          <p:nvPr/>
        </p:nvSpPr>
        <p:spPr>
          <a:xfrm>
            <a:off x="5769864" y="5294376"/>
            <a:ext cx="713232" cy="71323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5" name="Picture 84" descr="cpu-2_white.png"/>
          <p:cNvPicPr>
            <a:picLocks noChangeAspect="1"/>
          </p:cNvPicPr>
          <p:nvPr/>
        </p:nvPicPr>
        <p:blipFill>
          <a:blip r:embed="rId9"/>
          <a:stretch>
            <a:fillRect/>
          </a:stretch>
        </p:blipFill>
        <p:spPr>
          <a:xfrm>
            <a:off x="5912510" y="5437022"/>
            <a:ext cx="427939" cy="427939"/>
          </a:xfrm>
          <a:prstGeom prst="rect">
            <a:avLst/>
          </a:prstGeom>
        </p:spPr>
      </p:pic>
      <p:sp>
        <p:nvSpPr>
          <p:cNvPr id="86" name="TextBox 85"/>
          <p:cNvSpPr txBox="1"/>
          <p:nvPr/>
        </p:nvSpPr>
        <p:spPr>
          <a:xfrm>
            <a:off x="4562856" y="6080760"/>
            <a:ext cx="932688"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메모리</a:t>
            </a:r>
          </a:p>
        </p:txBody>
      </p:sp>
      <p:sp>
        <p:nvSpPr>
          <p:cNvPr id="87" name="TextBox 86"/>
          <p:cNvSpPr txBox="1"/>
          <p:nvPr/>
        </p:nvSpPr>
        <p:spPr>
          <a:xfrm>
            <a:off x="5660136" y="6080760"/>
            <a:ext cx="932688" cy="274320"/>
          </a:xfrm>
          <a:prstGeom prst="rect">
            <a:avLst/>
          </a:prstGeom>
          <a:noFill/>
        </p:spPr>
        <p:txBody>
          <a:bodyPr wrap="square" anchor="t" lIns="0" rIns="0" tIns="0" bIns="0">
            <a:spAutoFit/>
          </a:bodyPr>
          <a:lstStyle/>
          <a:p>
            <a:pPr algn="ctr">
              <a:lnSpc>
                <a:spcPct val="110000"/>
              </a:lnSpc>
            </a:pPr>
            <a:r>
              <a:rPr sz="1600" b="1">
                <a:solidFill>
                  <a:srgbClr val="3C4FA5"/>
                </a:solidFill>
                <a:latin typeface="Arial"/>
                <a:ea typeface="Arial"/>
              </a:rPr>
              <a:t>로직 IP</a:t>
            </a:r>
          </a:p>
        </p:txBody>
      </p:sp>
      <p:sp>
        <p:nvSpPr>
          <p:cNvPr id="88" name="Rectangle 87"/>
          <p:cNvSpPr/>
          <p:nvPr/>
        </p:nvSpPr>
        <p:spPr>
          <a:xfrm>
            <a:off x="6601968"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720840"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로직 IP</a:t>
            </a:r>
          </a:p>
          <a:p>
            <a:pPr algn="l">
              <a:lnSpc>
                <a:spcPct val="105000"/>
              </a:lnSpc>
            </a:pPr>
            <a:r>
              <a:rPr sz="2000" b="1">
                <a:solidFill>
                  <a:srgbClr val="1A1A1A"/>
                </a:solidFill>
                <a:latin typeface="Arial"/>
                <a:ea typeface="Arial"/>
              </a:rPr>
              <a:t>역량 전환</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역량 · 자원을</a:t>
            </a:r>
          </a:p>
          <a:p>
            <a:pPr algn="l">
              <a:lnSpc>
                <a:spcPct val="105000"/>
              </a:lnSpc>
            </a:pPr>
            <a:r>
              <a:rPr sz="1800" b="0">
                <a:solidFill>
                  <a:srgbClr val="555555"/>
                </a:solidFill>
                <a:latin typeface="Arial"/>
                <a:ea typeface="Arial"/>
              </a:rPr>
              <a:t>로직 IP로</a:t>
            </a:r>
          </a:p>
        </p:txBody>
      </p:sp>
      <p:sp>
        <p:nvSpPr>
          <p:cNvPr id="90" name="Rounded Rectangle 89"/>
          <p:cNvSpPr/>
          <p:nvPr/>
        </p:nvSpPr>
        <p:spPr>
          <a:xfrm>
            <a:off x="8921496" y="5029200"/>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shield-check_blue.png"/>
          <p:cNvPicPr>
            <a:picLocks noChangeAspect="1"/>
          </p:cNvPicPr>
          <p:nvPr/>
        </p:nvPicPr>
        <p:blipFill>
          <a:blip r:embed="rId10"/>
          <a:stretch>
            <a:fillRect/>
          </a:stretch>
        </p:blipFill>
        <p:spPr>
          <a:xfrm>
            <a:off x="9067800" y="5276088"/>
            <a:ext cx="694944" cy="694944"/>
          </a:xfrm>
          <a:prstGeom prst="rect">
            <a:avLst/>
          </a:prstGeom>
        </p:spPr>
      </p:pic>
      <p:sp>
        <p:nvSpPr>
          <p:cNvPr id="92" name="TextBox 91"/>
          <p:cNvSpPr txBox="1"/>
          <p:nvPr/>
        </p:nvSpPr>
        <p:spPr>
          <a:xfrm>
            <a:off x="8939784" y="6080760"/>
            <a:ext cx="950976"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검증 품질</a:t>
            </a:r>
          </a:p>
        </p:txBody>
      </p:sp>
      <p:cxnSp>
        <p:nvCxnSpPr>
          <p:cNvPr id="93" name="Connector 92"/>
          <p:cNvCxnSpPr/>
          <p:nvPr/>
        </p:nvCxnSpPr>
        <p:spPr>
          <a:xfrm>
            <a:off x="9963912" y="5623560"/>
            <a:ext cx="914400" cy="0"/>
          </a:xfrm>
          <a:prstGeom prst="line">
            <a:avLst/>
          </a:prstGeom>
          <a:ln w="25400">
            <a:solidFill>
              <a:srgbClr val="8A8A8A"/>
            </a:solidFill>
          </a:ln>
        </p:spPr>
        <p:style>
          <a:lnRef idx="2">
            <a:schemeClr val="accent1"/>
          </a:lnRef>
          <a:fillRef idx="0">
            <a:schemeClr val="accent1"/>
          </a:fillRef>
          <a:effectRef idx="1">
            <a:schemeClr val="accent1"/>
          </a:effectRef>
          <a:fontRef idx="minor">
            <a:schemeClr val="tx1"/>
          </a:fontRef>
        </p:style>
      </p:cxnSp>
      <p:sp>
        <p:nvSpPr>
          <p:cNvPr id="94" name="Diamond 93"/>
          <p:cNvSpPr/>
          <p:nvPr/>
        </p:nvSpPr>
        <p:spPr>
          <a:xfrm>
            <a:off x="9973056" y="5504688"/>
            <a:ext cx="237744" cy="237744"/>
          </a:xfrm>
          <a:prstGeom prst="diamond">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Diamond 94"/>
          <p:cNvSpPr/>
          <p:nvPr/>
        </p:nvSpPr>
        <p:spPr>
          <a:xfrm>
            <a:off x="10302240" y="5504688"/>
            <a:ext cx="237744" cy="237744"/>
          </a:xfrm>
          <a:prstGeom prst="diamond">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Diamond 95"/>
          <p:cNvSpPr/>
          <p:nvPr/>
        </p:nvSpPr>
        <p:spPr>
          <a:xfrm>
            <a:off x="10631424" y="5504688"/>
            <a:ext cx="237744" cy="237744"/>
          </a:xfrm>
          <a:prstGeom prst="diamond">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872472" y="6080760"/>
            <a:ext cx="109728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적기 공급</a:t>
            </a:r>
          </a:p>
        </p:txBody>
      </p:sp>
      <p:sp>
        <p:nvSpPr>
          <p:cNvPr id="98" name="Rectangle 97"/>
          <p:cNvSpPr/>
          <p:nvPr/>
        </p:nvSpPr>
        <p:spPr>
          <a:xfrm>
            <a:off x="10997184"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116056"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검증된 품질 ·</a:t>
            </a:r>
          </a:p>
          <a:p>
            <a:pPr algn="l">
              <a:lnSpc>
                <a:spcPct val="105000"/>
              </a:lnSpc>
            </a:pPr>
            <a:r>
              <a:rPr sz="2000" b="1">
                <a:solidFill>
                  <a:srgbClr val="1A1A1A"/>
                </a:solidFill>
                <a:latin typeface="Arial"/>
                <a:ea typeface="Arial"/>
              </a:rPr>
              <a:t>적기 공급</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양산 품질을</a:t>
            </a:r>
          </a:p>
          <a:p>
            <a:pPr algn="l">
              <a:lnSpc>
                <a:spcPct val="105000"/>
              </a:lnSpc>
            </a:pPr>
            <a:r>
              <a:rPr sz="1800" b="0">
                <a:solidFill>
                  <a:srgbClr val="555555"/>
                </a:solidFill>
                <a:latin typeface="Arial"/>
                <a:ea typeface="Arial"/>
              </a:rPr>
              <a:t>제때 공급</a:t>
            </a:r>
          </a:p>
        </p:txBody>
      </p:sp>
      <p:sp>
        <p:nvSpPr>
          <p:cNvPr id="100" name="Rounded Rectangle 99"/>
          <p:cNvSpPr/>
          <p:nvPr/>
        </p:nvSpPr>
        <p:spPr>
          <a:xfrm>
            <a:off x="13316712" y="5029200"/>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3499592"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3499592"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3499592"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3499592"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3463016" y="5824728"/>
            <a:ext cx="512064" cy="20116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3371576"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A</a:t>
            </a:r>
          </a:p>
        </p:txBody>
      </p:sp>
      <p:sp>
        <p:nvSpPr>
          <p:cNvPr id="107" name="Rectangle 106"/>
          <p:cNvSpPr/>
          <p:nvPr/>
        </p:nvSpPr>
        <p:spPr>
          <a:xfrm>
            <a:off x="14148816"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4148816"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4148816"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4148816"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4112240" y="5824728"/>
            <a:ext cx="512064" cy="201168"/>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4020800"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B</a:t>
            </a:r>
          </a:p>
        </p:txBody>
      </p:sp>
      <p:sp>
        <p:nvSpPr>
          <p:cNvPr id="113" name="Rectangle 112"/>
          <p:cNvSpPr/>
          <p:nvPr/>
        </p:nvSpPr>
        <p:spPr>
          <a:xfrm>
            <a:off x="14798040"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4798040"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4798040"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4798040"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4761464" y="5824728"/>
            <a:ext cx="512064" cy="20116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4670024"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C</a:t>
            </a:r>
          </a:p>
        </p:txBody>
      </p:sp>
      <p:sp>
        <p:nvSpPr>
          <p:cNvPr id="119" name="TextBox 118"/>
          <p:cNvSpPr txBox="1"/>
          <p:nvPr/>
        </p:nvSpPr>
        <p:spPr>
          <a:xfrm>
            <a:off x="13371576" y="6300216"/>
            <a:ext cx="199339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가속기별 Logic Die</a:t>
            </a:r>
          </a:p>
        </p:txBody>
      </p:sp>
      <p:sp>
        <p:nvSpPr>
          <p:cNvPr id="120" name="Rectangle 119"/>
          <p:cNvSpPr/>
          <p:nvPr/>
        </p:nvSpPr>
        <p:spPr>
          <a:xfrm>
            <a:off x="15392400"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5511272"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Custom Logic</a:t>
            </a:r>
          </a:p>
          <a:p>
            <a:pPr algn="l">
              <a:lnSpc>
                <a:spcPct val="105000"/>
              </a:lnSpc>
            </a:pPr>
            <a:r>
              <a:rPr sz="2000" b="1">
                <a:solidFill>
                  <a:srgbClr val="1A1A1A"/>
                </a:solidFill>
                <a:latin typeface="Arial"/>
                <a:ea typeface="Arial"/>
              </a:rPr>
              <a:t>협업</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가속기별 로직을</a:t>
            </a:r>
          </a:p>
          <a:p>
            <a:pPr algn="l">
              <a:lnSpc>
                <a:spcPct val="105000"/>
              </a:lnSpc>
            </a:pPr>
            <a:r>
              <a:rPr sz="1800" b="0">
                <a:solidFill>
                  <a:srgbClr val="555555"/>
                </a:solidFill>
                <a:latin typeface="Arial"/>
                <a:ea typeface="Arial"/>
              </a:rPr>
              <a:t>고객과 함께</a:t>
            </a:r>
          </a:p>
        </p:txBody>
      </p:sp>
      <p:sp>
        <p:nvSpPr>
          <p:cNvPr id="122" name="Rounded Rectangle 121"/>
          <p:cNvSpPr/>
          <p:nvPr/>
        </p:nvSpPr>
        <p:spPr>
          <a:xfrm>
            <a:off x="722376" y="6876288"/>
            <a:ext cx="3657600" cy="1719072"/>
          </a:xfrm>
          <a:prstGeom prst="roundRect">
            <a:avLst>
              <a:gd name="adj" fmla="val 425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886968" y="7040879"/>
            <a:ext cx="960120"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41832" y="7040879"/>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3</a:t>
            </a:r>
          </a:p>
        </p:txBody>
      </p:sp>
      <p:sp>
        <p:nvSpPr>
          <p:cNvPr id="125" name="TextBox 124"/>
          <p:cNvSpPr txBox="1"/>
          <p:nvPr/>
        </p:nvSpPr>
        <p:spPr>
          <a:xfrm>
            <a:off x="886968" y="7479792"/>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고객 시스템을</a:t>
            </a:r>
          </a:p>
          <a:p>
            <a:pPr algn="l">
              <a:lnSpc>
                <a:spcPct val="100000"/>
              </a:lnSpc>
            </a:pPr>
            <a:r>
              <a:rPr sz="2000" b="1">
                <a:solidFill>
                  <a:srgbClr val="1A1A1A"/>
                </a:solidFill>
                <a:latin typeface="Arial"/>
                <a:ea typeface="Arial"/>
              </a:rPr>
              <a:t>고려한 스토리지</a:t>
            </a:r>
          </a:p>
          <a:p>
            <a:pPr algn="l">
              <a:lnSpc>
                <a:spcPct val="100000"/>
              </a:lnSpc>
            </a:pPr>
            <a:r>
              <a:rPr sz="2000" b="1">
                <a:solidFill>
                  <a:srgbClr val="1A1A1A"/>
                </a:solidFill>
                <a:latin typeface="Arial"/>
                <a:ea typeface="Arial"/>
              </a:rPr>
              <a:t>개발</a:t>
            </a:r>
          </a:p>
        </p:txBody>
      </p:sp>
      <p:pic>
        <p:nvPicPr>
          <p:cNvPr id="126" name="Picture 125" descr="render_ssd.png"/>
          <p:cNvPicPr>
            <a:picLocks noChangeAspect="1"/>
          </p:cNvPicPr>
          <p:nvPr/>
        </p:nvPicPr>
        <p:blipFill>
          <a:blip r:embed="rId11"/>
          <a:stretch>
            <a:fillRect/>
          </a:stretch>
        </p:blipFill>
        <p:spPr>
          <a:xfrm>
            <a:off x="2898648" y="7061307"/>
            <a:ext cx="1371600" cy="509247"/>
          </a:xfrm>
          <a:prstGeom prst="rect">
            <a:avLst/>
          </a:prstGeom>
        </p:spPr>
      </p:pic>
      <p:pic>
        <p:nvPicPr>
          <p:cNvPr id="127" name="Picture 126" descr="render_server.png"/>
          <p:cNvPicPr>
            <a:picLocks noChangeAspect="1"/>
          </p:cNvPicPr>
          <p:nvPr/>
        </p:nvPicPr>
        <p:blipFill>
          <a:blip r:embed="rId12"/>
          <a:stretch>
            <a:fillRect/>
          </a:stretch>
        </p:blipFill>
        <p:spPr>
          <a:xfrm>
            <a:off x="2933111" y="7718999"/>
            <a:ext cx="1302672" cy="766632"/>
          </a:xfrm>
          <a:prstGeom prst="rect">
            <a:avLst/>
          </a:prstGeom>
        </p:spPr>
      </p:pic>
      <p:sp>
        <p:nvSpPr>
          <p:cNvPr id="128" name="Rounded Rectangle 127"/>
          <p:cNvSpPr/>
          <p:nvPr/>
        </p:nvSpPr>
        <p:spPr>
          <a:xfrm>
            <a:off x="4526280" y="6876288"/>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4672584" y="7360919"/>
            <a:ext cx="640080" cy="640080"/>
          </a:xfrm>
          <a:prstGeom prst="roundRect">
            <a:avLst>
              <a:gd name="adj" fmla="val 11428"/>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4727448" y="7360919"/>
            <a:ext cx="530352" cy="64008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고객</a:t>
            </a:r>
          </a:p>
        </p:txBody>
      </p:sp>
      <p:sp>
        <p:nvSpPr>
          <p:cNvPr id="131" name="Rounded Rectangle 130"/>
          <p:cNvSpPr/>
          <p:nvPr/>
        </p:nvSpPr>
        <p:spPr>
          <a:xfrm>
            <a:off x="5843016" y="7360919"/>
            <a:ext cx="640080" cy="640080"/>
          </a:xfrm>
          <a:prstGeom prst="roundRect">
            <a:avLst>
              <a:gd name="adj" fmla="val 11428"/>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897879" y="7360919"/>
            <a:ext cx="530352" cy="64008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삼성</a:t>
            </a:r>
          </a:p>
        </p:txBody>
      </p:sp>
      <p:pic>
        <p:nvPicPr>
          <p:cNvPr id="133" name="Picture 132" descr="radar_blue.png"/>
          <p:cNvPicPr>
            <a:picLocks noChangeAspect="1"/>
          </p:cNvPicPr>
          <p:nvPr/>
        </p:nvPicPr>
        <p:blipFill>
          <a:blip r:embed="rId13"/>
          <a:stretch>
            <a:fillRect/>
          </a:stretch>
        </p:blipFill>
        <p:spPr>
          <a:xfrm>
            <a:off x="5385816" y="7013448"/>
            <a:ext cx="384048" cy="384048"/>
          </a:xfrm>
          <a:prstGeom prst="rect">
            <a:avLst/>
          </a:prstGeom>
        </p:spPr>
      </p:pic>
      <p:sp>
        <p:nvSpPr>
          <p:cNvPr id="134" name="Left-Right Arrow 133"/>
          <p:cNvSpPr/>
          <p:nvPr/>
        </p:nvSpPr>
        <p:spPr>
          <a:xfrm>
            <a:off x="5367528" y="7562088"/>
            <a:ext cx="420624" cy="237744"/>
          </a:xfrm>
          <a:prstGeom prst="leftRightArrow">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4581144" y="8055863"/>
            <a:ext cx="199339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감지 · 수요 공동 설계</a:t>
            </a:r>
          </a:p>
        </p:txBody>
      </p:sp>
      <p:sp>
        <p:nvSpPr>
          <p:cNvPr id="136" name="Rectangle 135"/>
          <p:cNvSpPr/>
          <p:nvPr/>
        </p:nvSpPr>
        <p:spPr>
          <a:xfrm>
            <a:off x="6601968"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720840"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기술 변화</a:t>
            </a:r>
          </a:p>
          <a:p>
            <a:pPr algn="l">
              <a:lnSpc>
                <a:spcPct val="105000"/>
              </a:lnSpc>
            </a:pPr>
            <a:r>
              <a:rPr sz="2000" b="1">
                <a:solidFill>
                  <a:srgbClr val="1A1A1A"/>
                </a:solidFill>
                <a:latin typeface="Arial"/>
                <a:ea typeface="Arial"/>
              </a:rPr>
              <a:t>조기 센싱</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고객과 먼저 감지,</a:t>
            </a:r>
          </a:p>
          <a:p>
            <a:pPr algn="l">
              <a:lnSpc>
                <a:spcPct val="105000"/>
              </a:lnSpc>
            </a:pPr>
            <a:r>
              <a:rPr sz="1800" b="0">
                <a:solidFill>
                  <a:srgbClr val="555555"/>
                </a:solidFill>
                <a:latin typeface="Arial"/>
                <a:ea typeface="Arial"/>
              </a:rPr>
              <a:t>수요를 함께 설계</a:t>
            </a:r>
          </a:p>
        </p:txBody>
      </p:sp>
      <p:sp>
        <p:nvSpPr>
          <p:cNvPr id="138" name="Rounded Rectangle 137"/>
          <p:cNvSpPr/>
          <p:nvPr/>
        </p:nvSpPr>
        <p:spPr>
          <a:xfrm>
            <a:off x="8921496" y="6876288"/>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9067800" y="8092440"/>
            <a:ext cx="566928" cy="310896"/>
          </a:xfrm>
          <a:prstGeom prst="rect">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58072" y="8092440"/>
            <a:ext cx="786384" cy="310896"/>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NAND</a:t>
            </a:r>
          </a:p>
        </p:txBody>
      </p:sp>
      <p:pic>
        <p:nvPicPr>
          <p:cNvPr id="141" name="Picture 140" descr="render_nand.png"/>
          <p:cNvPicPr>
            <a:picLocks noChangeAspect="1"/>
          </p:cNvPicPr>
          <p:nvPr/>
        </p:nvPicPr>
        <p:blipFill>
          <a:blip r:embed="rId14"/>
          <a:stretch>
            <a:fillRect/>
          </a:stretch>
        </p:blipFill>
        <p:spPr>
          <a:xfrm>
            <a:off x="9067800" y="7636229"/>
            <a:ext cx="566928" cy="418645"/>
          </a:xfrm>
          <a:prstGeom prst="rect">
            <a:avLst/>
          </a:prstGeom>
        </p:spPr>
      </p:pic>
      <p:sp>
        <p:nvSpPr>
          <p:cNvPr id="142" name="Rectangle 141"/>
          <p:cNvSpPr/>
          <p:nvPr/>
        </p:nvSpPr>
        <p:spPr>
          <a:xfrm>
            <a:off x="9689592" y="7909560"/>
            <a:ext cx="566928" cy="49377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579864" y="7909560"/>
            <a:ext cx="786384" cy="493776"/>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SSD</a:t>
            </a:r>
          </a:p>
        </p:txBody>
      </p:sp>
      <p:pic>
        <p:nvPicPr>
          <p:cNvPr id="144" name="Picture 143" descr="render_ssd.png"/>
          <p:cNvPicPr>
            <a:picLocks noChangeAspect="1"/>
          </p:cNvPicPr>
          <p:nvPr/>
        </p:nvPicPr>
        <p:blipFill>
          <a:blip r:embed="rId11"/>
          <a:stretch>
            <a:fillRect/>
          </a:stretch>
        </p:blipFill>
        <p:spPr>
          <a:xfrm>
            <a:off x="9689592" y="7557427"/>
            <a:ext cx="566928" cy="210488"/>
          </a:xfrm>
          <a:prstGeom prst="rect">
            <a:avLst/>
          </a:prstGeom>
        </p:spPr>
      </p:pic>
      <p:sp>
        <p:nvSpPr>
          <p:cNvPr id="145" name="Rectangle 144"/>
          <p:cNvSpPr/>
          <p:nvPr/>
        </p:nvSpPr>
        <p:spPr>
          <a:xfrm>
            <a:off x="10311384" y="7726680"/>
            <a:ext cx="566928" cy="67665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201656" y="7726680"/>
            <a:ext cx="786384" cy="676656"/>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서버</a:t>
            </a:r>
          </a:p>
        </p:txBody>
      </p:sp>
      <p:pic>
        <p:nvPicPr>
          <p:cNvPr id="147" name="Picture 146" descr="render_server.png"/>
          <p:cNvPicPr>
            <a:picLocks noChangeAspect="1"/>
          </p:cNvPicPr>
          <p:nvPr/>
        </p:nvPicPr>
        <p:blipFill>
          <a:blip r:embed="rId12"/>
          <a:stretch>
            <a:fillRect/>
          </a:stretch>
        </p:blipFill>
        <p:spPr>
          <a:xfrm>
            <a:off x="10311384" y="7312971"/>
            <a:ext cx="566928" cy="333641"/>
          </a:xfrm>
          <a:prstGeom prst="rect">
            <a:avLst/>
          </a:prstGeom>
        </p:spPr>
      </p:pic>
      <p:sp>
        <p:nvSpPr>
          <p:cNvPr id="148" name="Rectangle 147"/>
          <p:cNvSpPr/>
          <p:nvPr/>
        </p:nvSpPr>
        <p:spPr>
          <a:xfrm>
            <a:off x="10997184"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116056"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시스템 지식</a:t>
            </a:r>
          </a:p>
          <a:p>
            <a:pPr algn="l">
              <a:lnSpc>
                <a:spcPct val="105000"/>
              </a:lnSpc>
            </a:pPr>
            <a:r>
              <a:rPr sz="2000" b="1">
                <a:solidFill>
                  <a:srgbClr val="1A1A1A"/>
                </a:solidFill>
                <a:latin typeface="Arial"/>
                <a:ea typeface="Arial"/>
              </a:rPr>
              <a:t>확장</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워크로드 연구로</a:t>
            </a:r>
          </a:p>
          <a:p>
            <a:pPr algn="l">
              <a:lnSpc>
                <a:spcPct val="105000"/>
              </a:lnSpc>
            </a:pPr>
            <a:r>
              <a:rPr sz="1800" b="0">
                <a:solidFill>
                  <a:srgbClr val="555555"/>
                </a:solidFill>
                <a:latin typeface="Arial"/>
                <a:ea typeface="Arial"/>
              </a:rPr>
              <a:t>NAND → 서버까지</a:t>
            </a:r>
          </a:p>
        </p:txBody>
      </p:sp>
      <p:sp>
        <p:nvSpPr>
          <p:cNvPr id="150" name="Rounded Rectangle 149"/>
          <p:cNvSpPr/>
          <p:nvPr/>
        </p:nvSpPr>
        <p:spPr>
          <a:xfrm>
            <a:off x="13316712" y="6876288"/>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3582802" y="7306055"/>
            <a:ext cx="230428" cy="2304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ound Same Side Corner Rectangle 151"/>
          <p:cNvSpPr/>
          <p:nvPr/>
        </p:nvSpPr>
        <p:spPr>
          <a:xfrm>
            <a:off x="13499592" y="7574889"/>
            <a:ext cx="396849" cy="371246"/>
          </a:xfrm>
          <a:prstGeom prst="round2SameRect">
            <a:avLst>
              <a:gd name="adj1" fmla="val 45000"/>
              <a:gd name="adj2" fmla="val 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4923312" y="7306055"/>
            <a:ext cx="230428" cy="2304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ound Same Side Corner Rectangle 153"/>
          <p:cNvSpPr/>
          <p:nvPr/>
        </p:nvSpPr>
        <p:spPr>
          <a:xfrm>
            <a:off x="14840102" y="7574889"/>
            <a:ext cx="396849" cy="371246"/>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render_server.png"/>
          <p:cNvPicPr>
            <a:picLocks noChangeAspect="1"/>
          </p:cNvPicPr>
          <p:nvPr/>
        </p:nvPicPr>
        <p:blipFill>
          <a:blip r:embed="rId12"/>
          <a:stretch>
            <a:fillRect/>
          </a:stretch>
        </p:blipFill>
        <p:spPr>
          <a:xfrm>
            <a:off x="13993368" y="7085422"/>
            <a:ext cx="749808" cy="441267"/>
          </a:xfrm>
          <a:prstGeom prst="rect">
            <a:avLst/>
          </a:prstGeom>
        </p:spPr>
      </p:pic>
      <p:pic>
        <p:nvPicPr>
          <p:cNvPr id="156" name="Picture 155" descr="refresh_blue.png"/>
          <p:cNvPicPr>
            <a:picLocks noChangeAspect="1"/>
          </p:cNvPicPr>
          <p:nvPr/>
        </p:nvPicPr>
        <p:blipFill>
          <a:blip r:embed="rId15"/>
          <a:stretch>
            <a:fillRect/>
          </a:stretch>
        </p:blipFill>
        <p:spPr>
          <a:xfrm>
            <a:off x="14167104" y="7616952"/>
            <a:ext cx="402336" cy="402336"/>
          </a:xfrm>
          <a:prstGeom prst="rect">
            <a:avLst/>
          </a:prstGeom>
        </p:spPr>
      </p:pic>
      <p:sp>
        <p:nvSpPr>
          <p:cNvPr id="157" name="TextBox 156"/>
          <p:cNvSpPr txBox="1"/>
          <p:nvPr/>
        </p:nvSpPr>
        <p:spPr>
          <a:xfrm>
            <a:off x="13316712" y="8001000"/>
            <a:ext cx="694944" cy="274320"/>
          </a:xfrm>
          <a:prstGeom prst="rect">
            <a:avLst/>
          </a:prstGeom>
          <a:noFill/>
        </p:spPr>
        <p:txBody>
          <a:bodyPr wrap="square" anchor="t" lIns="0" rIns="0" tIns="0" bIns="0">
            <a:spAutoFit/>
          </a:bodyPr>
          <a:lstStyle/>
          <a:p>
            <a:pPr algn="ctr">
              <a:lnSpc>
                <a:spcPct val="110000"/>
              </a:lnSpc>
            </a:pPr>
            <a:r>
              <a:rPr sz="1600" b="1">
                <a:solidFill>
                  <a:srgbClr val="3C4FA5"/>
                </a:solidFill>
                <a:latin typeface="Arial"/>
                <a:ea typeface="Arial"/>
              </a:rPr>
              <a:t>삼성</a:t>
            </a:r>
          </a:p>
        </p:txBody>
      </p:sp>
      <p:sp>
        <p:nvSpPr>
          <p:cNvPr id="158" name="TextBox 157"/>
          <p:cNvSpPr txBox="1"/>
          <p:nvPr/>
        </p:nvSpPr>
        <p:spPr>
          <a:xfrm>
            <a:off x="14724888" y="8001000"/>
            <a:ext cx="694944"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고객</a:t>
            </a:r>
          </a:p>
        </p:txBody>
      </p:sp>
      <p:sp>
        <p:nvSpPr>
          <p:cNvPr id="159" name="Rectangle 158"/>
          <p:cNvSpPr/>
          <p:nvPr/>
        </p:nvSpPr>
        <p:spPr>
          <a:xfrm>
            <a:off x="15392400"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5511272"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SSD · 서버</a:t>
            </a:r>
          </a:p>
          <a:p>
            <a:pPr algn="l">
              <a:lnSpc>
                <a:spcPct val="105000"/>
              </a:lnSpc>
            </a:pPr>
            <a:r>
              <a:rPr sz="2000" b="1">
                <a:solidFill>
                  <a:srgbClr val="1A1A1A"/>
                </a:solidFill>
                <a:latin typeface="Arial"/>
                <a:ea typeface="Arial"/>
              </a:rPr>
              <a:t>공동 설계</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AI 수요에 맞춘</a:t>
            </a:r>
          </a:p>
          <a:p>
            <a:pPr algn="l">
              <a:lnSpc>
                <a:spcPct val="105000"/>
              </a:lnSpc>
            </a:pPr>
            <a:r>
              <a:rPr sz="1800" b="0">
                <a:solidFill>
                  <a:srgbClr val="555555"/>
                </a:solidFill>
                <a:latin typeface="Arial"/>
                <a:ea typeface="Arial"/>
              </a:rPr>
              <a:t>기능 · 구조</a:t>
            </a:r>
          </a:p>
        </p:txBody>
      </p:sp>
      <p:sp>
        <p:nvSpPr>
          <p:cNvPr id="161" name="Rectangle 160"/>
          <p:cNvSpPr/>
          <p:nvPr/>
        </p:nvSpPr>
        <p:spPr>
          <a:xfrm>
            <a:off x="722376" y="8778240"/>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3-C</a:t>
            </a:r>
          </a:p>
        </p:txBody>
      </p:sp>
      <p:sp>
        <p:nvSpPr>
          <p:cNvPr id="163" name="TextBox 162"/>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전환하고, 기술은 연속성 있게 쌓고, 미래는 고객과 함께 설계합니다</a:t>
            </a:r>
          </a:p>
        </p:txBody>
      </p:sp>
      <p:sp>
        <p:nvSpPr>
          <p:cNvPr id="164" name="TextBox 163"/>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개념도로 수치 주장은 담지 않음.</a:t>
            </a:r>
          </a:p>
          <a:p>
            <a:pPr algn="l">
              <a:lnSpc>
                <a:spcPct val="105000"/>
              </a:lnSpc>
            </a:pPr>
            <a:r>
              <a:rPr sz="1500" b="0">
                <a:solidFill>
                  <a:srgbClr val="555555"/>
                </a:solidFill>
                <a:latin typeface="Arial"/>
                <a:ea typeface="Arial"/>
              </a:rPr>
              <a:t>전략 1 사진: Samsung Semiconductor FMS 2026 전시(V10 Bonding V-NAND). 3D DRAM · SSD · 서버는 3D 렌더(개념), 아이콘 Tabler Icons(MIT).</a:t>
            </a:r>
          </a:p>
        </p:txBody>
      </p:sp>
      <p:sp>
        <p:nvSpPr>
          <p:cNvPr id="165" name="TextBox 164"/>
          <p:cNvSpPr txBox="1"/>
          <p:nvPr/>
        </p:nvSpPr>
        <p:spPr>
          <a:xfrm>
            <a:off x="16102584" y="9601200"/>
            <a:ext cx="146304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B  아이콘 키워드형</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03120"/>
            <a:ext cx="4023360" cy="402336"/>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수요 예측만으로는 부족</a:t>
            </a:r>
          </a:p>
        </p:txBody>
      </p:sp>
      <p:cxnSp>
        <p:nvCxnSpPr>
          <p:cNvPr id="8" name="Connector 7"/>
          <p:cNvCxnSpPr/>
          <p:nvPr/>
        </p:nvCxnSpPr>
        <p:spPr>
          <a:xfrm>
            <a:off x="813816" y="2615184"/>
            <a:ext cx="0" cy="1847088"/>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3816" y="4462272"/>
            <a:ext cx="3840480" cy="0"/>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86968" y="2578608"/>
            <a:ext cx="731520"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수요</a:t>
            </a:r>
          </a:p>
        </p:txBody>
      </p:sp>
      <p:sp>
        <p:nvSpPr>
          <p:cNvPr id="11" name="TextBox 10"/>
          <p:cNvSpPr txBox="1"/>
          <p:nvPr/>
        </p:nvSpPr>
        <p:spPr>
          <a:xfrm>
            <a:off x="3739896" y="4480559"/>
            <a:ext cx="914400" cy="274320"/>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시간 →</a:t>
            </a:r>
          </a:p>
        </p:txBody>
      </p:sp>
      <p:sp>
        <p:nvSpPr>
          <p:cNvPr id="12" name="Freeform 11"/>
          <p:cNvSpPr/>
          <p:nvPr/>
        </p:nvSpPr>
        <p:spPr>
          <a:xfrm>
            <a:off x="2350008" y="2706624"/>
            <a:ext cx="2267712" cy="1389887"/>
          </a:xfrm>
          <a:custGeom>
            <a:avLst/>
            <a:gdLst/>
            <a:ahLst/>
            <a:cxnLst/>
            <a:rect l="l" t="t" r="r" b="b"/>
            <a:pathLst>
              <a:path w="2267712" h="1389887">
                <a:moveTo>
                  <a:pt x="0" y="869045"/>
                </a:moveTo>
                <a:lnTo>
                  <a:pt x="2267712" y="0"/>
                </a:lnTo>
                <a:lnTo>
                  <a:pt x="2267712" y="1389887"/>
                </a:lnTo>
                <a:lnTo>
                  <a:pt x="0" y="869045"/>
                </a:lnTo>
                <a:close/>
              </a:path>
            </a:pathLst>
          </a:cu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350008" y="2660903"/>
            <a:ext cx="0" cy="1801369"/>
          </a:xfrm>
          <a:prstGeom prst="line">
            <a:avLst/>
          </a:prstGeom>
          <a:ln w="1270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847088" y="4480559"/>
            <a:ext cx="1005840"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지금</a:t>
            </a:r>
          </a:p>
        </p:txBody>
      </p:sp>
      <p:sp>
        <p:nvSpPr>
          <p:cNvPr id="15" name="Freeform 14"/>
          <p:cNvSpPr/>
          <p:nvPr/>
        </p:nvSpPr>
        <p:spPr>
          <a:xfrm>
            <a:off x="923544" y="3575669"/>
            <a:ext cx="1426464" cy="517185"/>
          </a:xfrm>
          <a:custGeom>
            <a:avLst/>
            <a:gdLst/>
            <a:ahLst/>
            <a:cxnLst/>
            <a:rect l="l" t="t" r="r" b="b"/>
            <a:pathLst>
              <a:path w="1426464" h="517185">
                <a:moveTo>
                  <a:pt x="0" y="517185"/>
                </a:moveTo>
                <a:lnTo>
                  <a:pt x="256032" y="332476"/>
                </a:lnTo>
                <a:lnTo>
                  <a:pt x="457200" y="443301"/>
                </a:lnTo>
                <a:lnTo>
                  <a:pt x="758951" y="147767"/>
                </a:lnTo>
                <a:lnTo>
                  <a:pt x="1005840" y="221651"/>
                </a:lnTo>
                <a:lnTo>
                  <a:pt x="1243584" y="55413"/>
                </a:lnTo>
                <a:lnTo>
                  <a:pt x="1426464" y="0"/>
                </a:lnTo>
              </a:path>
            </a:pathLst>
          </a:custGeom>
          <a:noFill/>
          <a:ln w="317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350008" y="3280135"/>
            <a:ext cx="2267712" cy="295534"/>
          </a:xfrm>
          <a:custGeom>
            <a:avLst/>
            <a:gdLst/>
            <a:ahLst/>
            <a:cxnLst/>
            <a:rect l="l" t="t" r="r" b="b"/>
            <a:pathLst>
              <a:path w="2267712" h="295534">
                <a:moveTo>
                  <a:pt x="0" y="295534"/>
                </a:moveTo>
                <a:lnTo>
                  <a:pt x="2267712" y="0"/>
                </a:lnTo>
              </a:path>
            </a:pathLst>
          </a:custGeom>
          <a:noFill/>
          <a:ln w="31750">
            <a:solidFill>
              <a:srgbClr val="3C4F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94759" y="2950951"/>
            <a:ext cx="822960" cy="274320"/>
          </a:xfrm>
          <a:prstGeom prst="rect">
            <a:avLst/>
          </a:prstGeom>
          <a:noFill/>
        </p:spPr>
        <p:txBody>
          <a:bodyPr wrap="square" anchor="t" lIns="0" rIns="0" tIns="0" bIns="0">
            <a:spAutoFit/>
          </a:bodyPr>
          <a:lstStyle/>
          <a:p>
            <a:pPr algn="r">
              <a:lnSpc>
                <a:spcPct val="110000"/>
              </a:lnSpc>
            </a:pPr>
            <a:r>
              <a:rPr sz="1600" b="1">
                <a:solidFill>
                  <a:srgbClr val="3C4FA5"/>
                </a:solidFill>
                <a:latin typeface="Arial"/>
                <a:ea typeface="Arial"/>
              </a:rPr>
              <a:t>예측</a:t>
            </a:r>
          </a:p>
        </p:txBody>
      </p:sp>
      <p:sp>
        <p:nvSpPr>
          <p:cNvPr id="18" name="Freeform 17"/>
          <p:cNvSpPr/>
          <p:nvPr/>
        </p:nvSpPr>
        <p:spPr>
          <a:xfrm>
            <a:off x="2350008" y="3575669"/>
            <a:ext cx="2176272" cy="480243"/>
          </a:xfrm>
          <a:custGeom>
            <a:avLst/>
            <a:gdLst/>
            <a:ahLst/>
            <a:cxnLst/>
            <a:rect l="l" t="t" r="r" b="b"/>
            <a:pathLst>
              <a:path w="2176272" h="480243">
                <a:moveTo>
                  <a:pt x="0" y="0"/>
                </a:moveTo>
                <a:lnTo>
                  <a:pt x="411480" y="91440"/>
                </a:lnTo>
                <a:lnTo>
                  <a:pt x="777240" y="292608"/>
                </a:lnTo>
                <a:lnTo>
                  <a:pt x="1188720" y="219456"/>
                </a:lnTo>
                <a:lnTo>
                  <a:pt x="2176272" y="480243"/>
                </a:lnTo>
              </a:path>
            </a:pathLst>
          </a:custGeom>
          <a:no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350008" y="2816352"/>
            <a:ext cx="2176272" cy="759317"/>
          </a:xfrm>
          <a:custGeom>
            <a:avLst/>
            <a:gdLst/>
            <a:ahLst/>
            <a:cxnLst/>
            <a:rect l="l" t="t" r="r" b="b"/>
            <a:pathLst>
              <a:path w="2176272" h="759317">
                <a:moveTo>
                  <a:pt x="0" y="759317"/>
                </a:moveTo>
                <a:lnTo>
                  <a:pt x="365760" y="558149"/>
                </a:lnTo>
                <a:lnTo>
                  <a:pt x="822960" y="484997"/>
                </a:lnTo>
                <a:lnTo>
                  <a:pt x="1280160" y="283829"/>
                </a:lnTo>
                <a:lnTo>
                  <a:pt x="2176272" y="0"/>
                </a:lnTo>
              </a:path>
            </a:pathLst>
          </a:custGeom>
          <a:no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9464" y="4133087"/>
            <a:ext cx="2194560"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실제는 이 범위 어디든</a:t>
            </a:r>
          </a:p>
        </p:txBody>
      </p:sp>
      <p:sp>
        <p:nvSpPr>
          <p:cNvPr id="21" name="TextBox 20"/>
          <p:cNvSpPr txBox="1"/>
          <p:nvPr/>
        </p:nvSpPr>
        <p:spPr>
          <a:xfrm>
            <a:off x="905256" y="2889503"/>
            <a:ext cx="1280160" cy="274320"/>
          </a:xfrm>
          <a:prstGeom prst="rect">
            <a:avLst/>
          </a:prstGeom>
          <a:noFill/>
        </p:spPr>
        <p:txBody>
          <a:bodyPr wrap="square" anchor="t" lIns="0" rIns="0" tIns="0" bIns="0">
            <a:spAutoFit/>
          </a:bodyPr>
          <a:lstStyle/>
          <a:p>
            <a:pPr algn="l">
              <a:lnSpc>
                <a:spcPct val="110000"/>
              </a:lnSpc>
            </a:pPr>
            <a:r>
              <a:rPr sz="1600" b="0">
                <a:solidFill>
                  <a:srgbClr val="8A8A8A"/>
                </a:solidFill>
                <a:latin typeface="Arial"/>
                <a:ea typeface="Arial"/>
              </a:rPr>
              <a:t>개념도</a:t>
            </a:r>
          </a:p>
        </p:txBody>
      </p:sp>
      <p:sp>
        <p:nvSpPr>
          <p:cNvPr id="22" name="Isosceles Triangle 21"/>
          <p:cNvSpPr/>
          <p:nvPr/>
        </p:nvSpPr>
        <p:spPr>
          <a:xfrm rot="10800000">
            <a:off x="2532888" y="4754880"/>
            <a:ext cx="402336" cy="237744"/>
          </a:xfrm>
          <a:prstGeom prst="triangl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5047488"/>
            <a:ext cx="4023360" cy="402336"/>
          </a:xfrm>
          <a:prstGeom prst="rect">
            <a:avLst/>
          </a:prstGeom>
          <a:noFill/>
        </p:spPr>
        <p:txBody>
          <a:bodyPr wrap="square" anchor="ctr" lIns="0" rIns="0" tIns="0" bIns="0">
            <a:spAutoFit/>
          </a:bodyPr>
          <a:lstStyle/>
          <a:p>
            <a:pPr algn="ctr">
              <a:lnSpc>
                <a:spcPct val="110000"/>
              </a:lnSpc>
            </a:pPr>
            <a:r>
              <a:rPr sz="2200" b="1">
                <a:solidFill>
                  <a:srgbClr val="1A1A1A"/>
                </a:solidFill>
                <a:latin typeface="Arial"/>
                <a:ea typeface="Arial"/>
              </a:rPr>
              <a:t>하나의 체계로 묶습니다</a:t>
            </a:r>
          </a:p>
        </p:txBody>
      </p:sp>
      <p:cxnSp>
        <p:nvCxnSpPr>
          <p:cNvPr id="24" name="Connector 23"/>
          <p:cNvCxnSpPr/>
          <p:nvPr/>
        </p:nvCxnSpPr>
        <p:spPr>
          <a:xfrm flipH="1">
            <a:off x="1325880" y="6089904"/>
            <a:ext cx="1408176" cy="1865375"/>
          </a:xfrm>
          <a:prstGeom prst="line">
            <a:avLst/>
          </a:prstGeom>
          <a:ln w="3810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25880" y="7955279"/>
            <a:ext cx="2816352" cy="0"/>
          </a:xfrm>
          <a:prstGeom prst="line">
            <a:avLst/>
          </a:prstGeom>
          <a:ln w="3810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734056" y="6089904"/>
            <a:ext cx="1408176" cy="1865375"/>
          </a:xfrm>
          <a:prstGeom prst="line">
            <a:avLst/>
          </a:prstGeom>
          <a:ln w="38100">
            <a:solidFill>
              <a:srgbClr val="C0CAE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221992" y="6931151"/>
            <a:ext cx="1024128" cy="804672"/>
          </a:xfrm>
          <a:prstGeom prst="roundRect">
            <a:avLst>
              <a:gd name="adj" fmla="val 9090"/>
            </a:avLst>
          </a:prstGeom>
          <a:solidFill>
            <a:srgbClr val="FFFFFF"/>
          </a:solidFill>
          <a:ln w="22225">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21992" y="6931151"/>
            <a:ext cx="1024128" cy="804672"/>
          </a:xfrm>
          <a:prstGeom prst="rect">
            <a:avLst/>
          </a:prstGeom>
          <a:noFill/>
        </p:spPr>
        <p:txBody>
          <a:bodyPr wrap="square" anchor="ctr" lIns="0" rIns="0" tIns="0" bIns="0">
            <a:spAutoFit/>
          </a:bodyPr>
          <a:lstStyle/>
          <a:p>
            <a:pPr algn="ctr">
              <a:lnSpc>
                <a:spcPct val="100000"/>
              </a:lnSpc>
            </a:pPr>
            <a:r>
              <a:rPr sz="1800" b="1">
                <a:solidFill>
                  <a:srgbClr val="3C4FA5"/>
                </a:solidFill>
                <a:latin typeface="Arial"/>
                <a:ea typeface="Arial"/>
              </a:rPr>
              <a:t>전체</a:t>
            </a:r>
          </a:p>
          <a:p>
            <a:pPr algn="ctr">
              <a:lnSpc>
                <a:spcPct val="100000"/>
              </a:lnSpc>
            </a:pPr>
            <a:r>
              <a:rPr sz="1800" b="1">
                <a:solidFill>
                  <a:srgbClr val="3C4FA5"/>
                </a:solidFill>
                <a:latin typeface="Arial"/>
                <a:ea typeface="Arial"/>
              </a:rPr>
              <a:t>최적화</a:t>
            </a:r>
          </a:p>
        </p:txBody>
      </p:sp>
      <p:sp>
        <p:nvSpPr>
          <p:cNvPr id="29" name="Oval 28"/>
          <p:cNvSpPr/>
          <p:nvPr/>
        </p:nvSpPr>
        <p:spPr>
          <a:xfrm>
            <a:off x="2203704" y="5559552"/>
            <a:ext cx="1060704" cy="106070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rrows-exchange_white.png"/>
          <p:cNvPicPr>
            <a:picLocks noChangeAspect="1"/>
          </p:cNvPicPr>
          <p:nvPr/>
        </p:nvPicPr>
        <p:blipFill>
          <a:blip r:embed="rId2"/>
          <a:stretch>
            <a:fillRect/>
          </a:stretch>
        </p:blipFill>
        <p:spPr>
          <a:xfrm>
            <a:off x="2542032" y="5705856"/>
            <a:ext cx="384048" cy="384048"/>
          </a:xfrm>
          <a:prstGeom prst="rect">
            <a:avLst/>
          </a:prstGeom>
        </p:spPr>
      </p:pic>
      <p:sp>
        <p:nvSpPr>
          <p:cNvPr id="31" name="TextBox 30"/>
          <p:cNvSpPr txBox="1"/>
          <p:nvPr/>
        </p:nvSpPr>
        <p:spPr>
          <a:xfrm>
            <a:off x="2203704" y="6108192"/>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C1 자원</a:t>
            </a:r>
          </a:p>
        </p:txBody>
      </p:sp>
      <p:sp>
        <p:nvSpPr>
          <p:cNvPr id="32" name="Oval 31"/>
          <p:cNvSpPr/>
          <p:nvPr/>
        </p:nvSpPr>
        <p:spPr>
          <a:xfrm>
            <a:off x="795528" y="7424927"/>
            <a:ext cx="1060704" cy="106070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tack-push_white.png"/>
          <p:cNvPicPr>
            <a:picLocks noChangeAspect="1"/>
          </p:cNvPicPr>
          <p:nvPr/>
        </p:nvPicPr>
        <p:blipFill>
          <a:blip r:embed="rId3"/>
          <a:stretch>
            <a:fillRect/>
          </a:stretch>
        </p:blipFill>
        <p:spPr>
          <a:xfrm>
            <a:off x="1133856" y="7571231"/>
            <a:ext cx="384048" cy="384048"/>
          </a:xfrm>
          <a:prstGeom prst="rect">
            <a:avLst/>
          </a:prstGeom>
        </p:spPr>
      </p:pic>
      <p:sp>
        <p:nvSpPr>
          <p:cNvPr id="34" name="TextBox 33"/>
          <p:cNvSpPr txBox="1"/>
          <p:nvPr/>
        </p:nvSpPr>
        <p:spPr>
          <a:xfrm>
            <a:off x="795528" y="7973567"/>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C2 기술</a:t>
            </a:r>
          </a:p>
        </p:txBody>
      </p:sp>
      <p:sp>
        <p:nvSpPr>
          <p:cNvPr id="35" name="Oval 34"/>
          <p:cNvSpPr/>
          <p:nvPr/>
        </p:nvSpPr>
        <p:spPr>
          <a:xfrm>
            <a:off x="3611880" y="7424927"/>
            <a:ext cx="1060704" cy="106070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heart-handshake_white.png"/>
          <p:cNvPicPr>
            <a:picLocks noChangeAspect="1"/>
          </p:cNvPicPr>
          <p:nvPr/>
        </p:nvPicPr>
        <p:blipFill>
          <a:blip r:embed="rId4"/>
          <a:stretch>
            <a:fillRect/>
          </a:stretch>
        </p:blipFill>
        <p:spPr>
          <a:xfrm>
            <a:off x="3950208" y="7571231"/>
            <a:ext cx="384048" cy="384048"/>
          </a:xfrm>
          <a:prstGeom prst="rect">
            <a:avLst/>
          </a:prstGeom>
        </p:spPr>
      </p:pic>
      <p:sp>
        <p:nvSpPr>
          <p:cNvPr id="37" name="TextBox 36"/>
          <p:cNvSpPr txBox="1"/>
          <p:nvPr/>
        </p:nvSpPr>
        <p:spPr>
          <a:xfrm>
            <a:off x="3611880" y="7973567"/>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C3 고객</a:t>
            </a:r>
          </a:p>
        </p:txBody>
      </p:sp>
      <p:sp>
        <p:nvSpPr>
          <p:cNvPr id="38" name="Rectangle 37"/>
          <p:cNvSpPr/>
          <p:nvPr/>
        </p:nvSpPr>
        <p:spPr>
          <a:xfrm>
            <a:off x="4910328" y="2139696"/>
            <a:ext cx="18288" cy="645566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93208" y="2139696"/>
            <a:ext cx="2999232" cy="1188719"/>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40" name="Rounded Rectangle 39"/>
          <p:cNvSpPr/>
          <p:nvPr/>
        </p:nvSpPr>
        <p:spPr>
          <a:xfrm>
            <a:off x="8220456" y="2139696"/>
            <a:ext cx="3029712" cy="1280160"/>
          </a:xfrm>
          <a:prstGeom prst="roundRect">
            <a:avLst>
              <a:gd name="adj" fmla="val 57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arrows-exchange_white.png"/>
          <p:cNvPicPr>
            <a:picLocks noChangeAspect="1"/>
          </p:cNvPicPr>
          <p:nvPr/>
        </p:nvPicPr>
        <p:blipFill>
          <a:blip r:embed="rId2"/>
          <a:stretch>
            <a:fillRect/>
          </a:stretch>
        </p:blipFill>
        <p:spPr>
          <a:xfrm>
            <a:off x="9515856" y="2249424"/>
            <a:ext cx="438912" cy="438912"/>
          </a:xfrm>
          <a:prstGeom prst="rect">
            <a:avLst/>
          </a:prstGeom>
        </p:spPr>
      </p:pic>
      <p:sp>
        <p:nvSpPr>
          <p:cNvPr id="42" name="TextBox 41"/>
          <p:cNvSpPr txBox="1"/>
          <p:nvPr/>
        </p:nvSpPr>
        <p:spPr>
          <a:xfrm>
            <a:off x="8220456" y="2724912"/>
            <a:ext cx="3029712" cy="640080"/>
          </a:xfrm>
          <a:prstGeom prst="rect">
            <a:avLst/>
          </a:prstGeom>
          <a:noFill/>
        </p:spPr>
        <p:txBody>
          <a:bodyPr wrap="square" anchor="t" lIns="0" rIns="0" tIns="0" bIns="0">
            <a:spAutoFit/>
          </a:bodyPr>
          <a:lstStyle/>
          <a:p>
            <a:pPr algn="ctr">
              <a:lnSpc>
                <a:spcPct val="100000"/>
              </a:lnSpc>
            </a:pPr>
            <a:r>
              <a:rPr sz="2200" b="1">
                <a:solidFill>
                  <a:srgbClr val="C0CAEC"/>
                </a:solidFill>
                <a:latin typeface="Arial"/>
                <a:ea typeface="Arial"/>
              </a:rPr>
              <a:t>C1 </a:t>
            </a:r>
            <a:r>
              <a:rPr sz="2200" b="1">
                <a:solidFill>
                  <a:srgbClr val="FFFFFF"/>
                </a:solidFill>
                <a:latin typeface="Arial"/>
                <a:ea typeface="Arial"/>
              </a:rPr>
              <a:t>Convertibility</a:t>
            </a:r>
          </a:p>
          <a:p>
            <a:pPr algn="ctr">
              <a:lnSpc>
                <a:spcPct val="100000"/>
              </a:lnSpc>
            </a:pPr>
            <a:r>
              <a:rPr sz="1800" b="0">
                <a:solidFill>
                  <a:srgbClr val="FFFFFF"/>
                </a:solidFill>
                <a:latin typeface="Arial"/>
                <a:ea typeface="Arial"/>
              </a:rPr>
              <a:t>자원의 유연한 전환</a:t>
            </a:r>
          </a:p>
        </p:txBody>
      </p:sp>
      <p:sp>
        <p:nvSpPr>
          <p:cNvPr id="43" name="Rounded Rectangle 42"/>
          <p:cNvSpPr/>
          <p:nvPr/>
        </p:nvSpPr>
        <p:spPr>
          <a:xfrm>
            <a:off x="11378184" y="2139696"/>
            <a:ext cx="3029712" cy="1280160"/>
          </a:xfrm>
          <a:prstGeom prst="roundRect">
            <a:avLst>
              <a:gd name="adj" fmla="val 57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stack-push_white.png"/>
          <p:cNvPicPr>
            <a:picLocks noChangeAspect="1"/>
          </p:cNvPicPr>
          <p:nvPr/>
        </p:nvPicPr>
        <p:blipFill>
          <a:blip r:embed="rId3"/>
          <a:stretch>
            <a:fillRect/>
          </a:stretch>
        </p:blipFill>
        <p:spPr>
          <a:xfrm>
            <a:off x="12673584" y="2249424"/>
            <a:ext cx="438912" cy="438912"/>
          </a:xfrm>
          <a:prstGeom prst="rect">
            <a:avLst/>
          </a:prstGeom>
        </p:spPr>
      </p:pic>
      <p:sp>
        <p:nvSpPr>
          <p:cNvPr id="45" name="TextBox 44"/>
          <p:cNvSpPr txBox="1"/>
          <p:nvPr/>
        </p:nvSpPr>
        <p:spPr>
          <a:xfrm>
            <a:off x="11378184" y="2724912"/>
            <a:ext cx="3029712" cy="640080"/>
          </a:xfrm>
          <a:prstGeom prst="rect">
            <a:avLst/>
          </a:prstGeom>
          <a:noFill/>
        </p:spPr>
        <p:txBody>
          <a:bodyPr wrap="square" anchor="t" lIns="0" rIns="0" tIns="0" bIns="0">
            <a:spAutoFit/>
          </a:bodyPr>
          <a:lstStyle/>
          <a:p>
            <a:pPr algn="ctr">
              <a:lnSpc>
                <a:spcPct val="100000"/>
              </a:lnSpc>
            </a:pPr>
            <a:r>
              <a:rPr sz="2200" b="1">
                <a:solidFill>
                  <a:srgbClr val="C0CAEC"/>
                </a:solidFill>
                <a:latin typeface="Arial"/>
                <a:ea typeface="Arial"/>
              </a:rPr>
              <a:t>C2 </a:t>
            </a:r>
            <a:r>
              <a:rPr sz="2200" b="1">
                <a:solidFill>
                  <a:srgbClr val="FFFFFF"/>
                </a:solidFill>
                <a:latin typeface="Arial"/>
                <a:ea typeface="Arial"/>
              </a:rPr>
              <a:t>Continuity</a:t>
            </a:r>
          </a:p>
          <a:p>
            <a:pPr algn="ctr">
              <a:lnSpc>
                <a:spcPct val="100000"/>
              </a:lnSpc>
            </a:pPr>
            <a:r>
              <a:rPr sz="1800" b="0">
                <a:solidFill>
                  <a:srgbClr val="FFFFFF"/>
                </a:solidFill>
                <a:latin typeface="Arial"/>
                <a:ea typeface="Arial"/>
              </a:rPr>
              <a:t>연속성 있는 기술 축적</a:t>
            </a:r>
          </a:p>
        </p:txBody>
      </p:sp>
      <p:sp>
        <p:nvSpPr>
          <p:cNvPr id="46" name="Rounded Rectangle 45"/>
          <p:cNvSpPr/>
          <p:nvPr/>
        </p:nvSpPr>
        <p:spPr>
          <a:xfrm>
            <a:off x="14535912" y="2139696"/>
            <a:ext cx="3029712" cy="1280160"/>
          </a:xfrm>
          <a:prstGeom prst="roundRect">
            <a:avLst>
              <a:gd name="adj" fmla="val 57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heart-handshake_white.png"/>
          <p:cNvPicPr>
            <a:picLocks noChangeAspect="1"/>
          </p:cNvPicPr>
          <p:nvPr/>
        </p:nvPicPr>
        <p:blipFill>
          <a:blip r:embed="rId4"/>
          <a:stretch>
            <a:fillRect/>
          </a:stretch>
        </p:blipFill>
        <p:spPr>
          <a:xfrm>
            <a:off x="15831312" y="2249424"/>
            <a:ext cx="438912" cy="438912"/>
          </a:xfrm>
          <a:prstGeom prst="rect">
            <a:avLst/>
          </a:prstGeom>
        </p:spPr>
      </p:pic>
      <p:sp>
        <p:nvSpPr>
          <p:cNvPr id="48" name="TextBox 47"/>
          <p:cNvSpPr txBox="1"/>
          <p:nvPr/>
        </p:nvSpPr>
        <p:spPr>
          <a:xfrm>
            <a:off x="14535912" y="2724912"/>
            <a:ext cx="3029712" cy="640080"/>
          </a:xfrm>
          <a:prstGeom prst="rect">
            <a:avLst/>
          </a:prstGeom>
          <a:noFill/>
        </p:spPr>
        <p:txBody>
          <a:bodyPr wrap="square" anchor="t" lIns="0" rIns="0" tIns="0" bIns="0">
            <a:spAutoFit/>
          </a:bodyPr>
          <a:lstStyle/>
          <a:p>
            <a:pPr algn="ctr">
              <a:lnSpc>
                <a:spcPct val="100000"/>
              </a:lnSpc>
            </a:pPr>
            <a:r>
              <a:rPr sz="2200" b="1">
                <a:solidFill>
                  <a:srgbClr val="C0CAEC"/>
                </a:solidFill>
                <a:latin typeface="Arial"/>
                <a:ea typeface="Arial"/>
              </a:rPr>
              <a:t>C3 </a:t>
            </a:r>
            <a:r>
              <a:rPr sz="2200" b="1">
                <a:solidFill>
                  <a:srgbClr val="FFFFFF"/>
                </a:solidFill>
                <a:latin typeface="Arial"/>
                <a:ea typeface="Arial"/>
              </a:rPr>
              <a:t>Co-Creation</a:t>
            </a:r>
          </a:p>
          <a:p>
            <a:pPr algn="ctr">
              <a:lnSpc>
                <a:spcPct val="100000"/>
              </a:lnSpc>
            </a:pPr>
            <a:r>
              <a:rPr sz="1800" b="0">
                <a:solidFill>
                  <a:srgbClr val="FFFFFF"/>
                </a:solidFill>
                <a:latin typeface="Arial"/>
                <a:ea typeface="Arial"/>
              </a:rPr>
              <a:t>고객과 함께 미래를 설계</a:t>
            </a:r>
          </a:p>
        </p:txBody>
      </p:sp>
      <p:sp>
        <p:nvSpPr>
          <p:cNvPr id="49" name="Rounded Rectangle 48"/>
          <p:cNvSpPr/>
          <p:nvPr/>
        </p:nvSpPr>
        <p:spPr>
          <a:xfrm>
            <a:off x="5093208" y="3547872"/>
            <a:ext cx="2999232" cy="1609344"/>
          </a:xfrm>
          <a:prstGeom prst="roundRect">
            <a:avLst>
              <a:gd name="adj" fmla="val 454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bonding.jpg"/>
          <p:cNvPicPr>
            <a:picLocks noChangeAspect="1"/>
          </p:cNvPicPr>
          <p:nvPr/>
        </p:nvPicPr>
        <p:blipFill>
          <a:blip r:embed="rId5"/>
          <a:stretch>
            <a:fillRect/>
          </a:stretch>
        </p:blipFill>
        <p:spPr>
          <a:xfrm>
            <a:off x="5202936" y="3814450"/>
            <a:ext cx="1024128" cy="1076187"/>
          </a:xfrm>
          <a:prstGeom prst="rect">
            <a:avLst/>
          </a:prstGeom>
        </p:spPr>
      </p:pic>
      <p:sp>
        <p:nvSpPr>
          <p:cNvPr id="51" name="Rectangle 50"/>
          <p:cNvSpPr/>
          <p:nvPr/>
        </p:nvSpPr>
        <p:spPr>
          <a:xfrm>
            <a:off x="5202936" y="3814450"/>
            <a:ext cx="1024128" cy="1076187"/>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18504" y="3621024"/>
            <a:ext cx="1719072" cy="1463040"/>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1</a:t>
            </a:r>
          </a:p>
          <a:p>
            <a:pPr algn="l">
              <a:lnSpc>
                <a:spcPct val="100000"/>
              </a:lnSpc>
            </a:pPr>
            <a:r>
              <a:rPr sz="1800" b="1">
                <a:solidFill>
                  <a:srgbClr val="1A1A1A"/>
                </a:solidFill>
                <a:latin typeface="Arial"/>
                <a:ea typeface="Arial"/>
              </a:rPr>
              <a:t>Bonding 기반</a:t>
            </a:r>
          </a:p>
          <a:p>
            <a:pPr algn="l">
              <a:lnSpc>
                <a:spcPct val="100000"/>
              </a:lnSpc>
            </a:pPr>
            <a:r>
              <a:rPr sz="1800" b="1">
                <a:solidFill>
                  <a:srgbClr val="1A1A1A"/>
                </a:solidFill>
                <a:latin typeface="Arial"/>
                <a:ea typeface="Arial"/>
              </a:rPr>
              <a:t>DRAM · NAND</a:t>
            </a:r>
          </a:p>
          <a:p>
            <a:pPr algn="l">
              <a:lnSpc>
                <a:spcPct val="100000"/>
              </a:lnSpc>
            </a:pPr>
            <a:r>
              <a:rPr sz="1800" b="1">
                <a:solidFill>
                  <a:srgbClr val="1A1A1A"/>
                </a:solidFill>
                <a:latin typeface="Arial"/>
                <a:ea typeface="Arial"/>
              </a:rPr>
              <a:t>통합 제조</a:t>
            </a:r>
          </a:p>
        </p:txBody>
      </p:sp>
      <p:sp>
        <p:nvSpPr>
          <p:cNvPr id="53" name="Rounded Rectangle 52"/>
          <p:cNvSpPr/>
          <p:nvPr/>
        </p:nvSpPr>
        <p:spPr>
          <a:xfrm>
            <a:off x="8220456" y="3547872"/>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385048" y="3712463"/>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building-factory-2_blue.png"/>
          <p:cNvPicPr>
            <a:picLocks noChangeAspect="1"/>
          </p:cNvPicPr>
          <p:nvPr/>
        </p:nvPicPr>
        <p:blipFill>
          <a:blip r:embed="rId6"/>
          <a:stretch>
            <a:fillRect/>
          </a:stretch>
        </p:blipFill>
        <p:spPr>
          <a:xfrm>
            <a:off x="8519464" y="3846880"/>
            <a:ext cx="371246" cy="371246"/>
          </a:xfrm>
          <a:prstGeom prst="rect">
            <a:avLst/>
          </a:prstGeom>
        </p:spPr>
      </p:pic>
      <p:sp>
        <p:nvSpPr>
          <p:cNvPr id="56" name="TextBox 55"/>
          <p:cNvSpPr txBox="1"/>
          <p:nvPr/>
        </p:nvSpPr>
        <p:spPr>
          <a:xfrm>
            <a:off x="9153144"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제조라인 공용화</a:t>
            </a:r>
          </a:p>
        </p:txBody>
      </p:sp>
      <p:sp>
        <p:nvSpPr>
          <p:cNvPr id="57" name="TextBox 56"/>
          <p:cNvSpPr txBox="1"/>
          <p:nvPr/>
        </p:nvSpPr>
        <p:spPr>
          <a:xfrm>
            <a:off x="8403336"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수요에 따라</a:t>
            </a:r>
          </a:p>
          <a:p>
            <a:pPr algn="l">
              <a:lnSpc>
                <a:spcPct val="105000"/>
              </a:lnSpc>
            </a:pPr>
            <a:r>
              <a:rPr sz="1800" b="0">
                <a:solidFill>
                  <a:srgbClr val="555555"/>
                </a:solidFill>
                <a:latin typeface="Arial"/>
                <a:ea typeface="Arial"/>
              </a:rPr>
              <a:t>DRAM ↔ NAND 전환</a:t>
            </a:r>
          </a:p>
        </p:txBody>
      </p:sp>
      <p:sp>
        <p:nvSpPr>
          <p:cNvPr id="58" name="Rounded Rectangle 57"/>
          <p:cNvSpPr/>
          <p:nvPr/>
        </p:nvSpPr>
        <p:spPr>
          <a:xfrm>
            <a:off x="11378184" y="3547872"/>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542776" y="3712463"/>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recycle_blue.png"/>
          <p:cNvPicPr>
            <a:picLocks noChangeAspect="1"/>
          </p:cNvPicPr>
          <p:nvPr/>
        </p:nvPicPr>
        <p:blipFill>
          <a:blip r:embed="rId7"/>
          <a:stretch>
            <a:fillRect/>
          </a:stretch>
        </p:blipFill>
        <p:spPr>
          <a:xfrm>
            <a:off x="11677192" y="3846880"/>
            <a:ext cx="371246" cy="371246"/>
          </a:xfrm>
          <a:prstGeom prst="rect">
            <a:avLst/>
          </a:prstGeom>
        </p:spPr>
      </p:pic>
      <p:sp>
        <p:nvSpPr>
          <p:cNvPr id="61" name="TextBox 60"/>
          <p:cNvSpPr txBox="1"/>
          <p:nvPr/>
        </p:nvSpPr>
        <p:spPr>
          <a:xfrm>
            <a:off x="12310872"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Legacy Cell</a:t>
            </a:r>
          </a:p>
          <a:p>
            <a:pPr algn="l">
              <a:lnSpc>
                <a:spcPct val="100000"/>
              </a:lnSpc>
            </a:pPr>
            <a:r>
              <a:rPr sz="2000" b="1">
                <a:solidFill>
                  <a:srgbClr val="1A1A1A"/>
                </a:solidFill>
                <a:latin typeface="Arial"/>
                <a:ea typeface="Arial"/>
              </a:rPr>
              <a:t>자산화</a:t>
            </a:r>
          </a:p>
        </p:txBody>
      </p:sp>
      <p:sp>
        <p:nvSpPr>
          <p:cNvPr id="62" name="TextBox 61"/>
          <p:cNvSpPr txBox="1"/>
          <p:nvPr/>
        </p:nvSpPr>
        <p:spPr>
          <a:xfrm>
            <a:off x="11561064"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검증된 DRAM Cell 기술을</a:t>
            </a:r>
          </a:p>
          <a:p>
            <a:pPr algn="l">
              <a:lnSpc>
                <a:spcPct val="105000"/>
              </a:lnSpc>
            </a:pPr>
            <a:r>
              <a:rPr sz="1800" b="0">
                <a:solidFill>
                  <a:srgbClr val="555555"/>
                </a:solidFill>
                <a:latin typeface="Arial"/>
                <a:ea typeface="Arial"/>
              </a:rPr>
              <a:t>그대로 활용</a:t>
            </a:r>
          </a:p>
        </p:txBody>
      </p:sp>
      <p:sp>
        <p:nvSpPr>
          <p:cNvPr id="63" name="Rounded Rectangle 62"/>
          <p:cNvSpPr/>
          <p:nvPr/>
        </p:nvSpPr>
        <p:spPr>
          <a:xfrm>
            <a:off x="14535912" y="3547872"/>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4700504" y="3712463"/>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djustments-horizontal_blue.png"/>
          <p:cNvPicPr>
            <a:picLocks noChangeAspect="1"/>
          </p:cNvPicPr>
          <p:nvPr/>
        </p:nvPicPr>
        <p:blipFill>
          <a:blip r:embed="rId8"/>
          <a:stretch>
            <a:fillRect/>
          </a:stretch>
        </p:blipFill>
        <p:spPr>
          <a:xfrm>
            <a:off x="14834920" y="3846880"/>
            <a:ext cx="371246" cy="371246"/>
          </a:xfrm>
          <a:prstGeom prst="rect">
            <a:avLst/>
          </a:prstGeom>
        </p:spPr>
      </p:pic>
      <p:sp>
        <p:nvSpPr>
          <p:cNvPr id="66" name="TextBox 65"/>
          <p:cNvSpPr txBox="1"/>
          <p:nvPr/>
        </p:nvSpPr>
        <p:spPr>
          <a:xfrm>
            <a:off x="15468600"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Peripherals</a:t>
            </a:r>
          </a:p>
          <a:p>
            <a:pPr algn="l">
              <a:lnSpc>
                <a:spcPct val="100000"/>
              </a:lnSpc>
            </a:pPr>
            <a:r>
              <a:rPr sz="2000" b="1">
                <a:solidFill>
                  <a:srgbClr val="1A1A1A"/>
                </a:solidFill>
                <a:latin typeface="Arial"/>
                <a:ea typeface="Arial"/>
              </a:rPr>
              <a:t>맞춤 제공</a:t>
            </a:r>
          </a:p>
        </p:txBody>
      </p:sp>
      <p:sp>
        <p:nvSpPr>
          <p:cNvPr id="67" name="TextBox 66"/>
          <p:cNvSpPr txBox="1"/>
          <p:nvPr/>
        </p:nvSpPr>
        <p:spPr>
          <a:xfrm>
            <a:off x="14718792"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Cell은 공통,</a:t>
            </a:r>
          </a:p>
          <a:p>
            <a:pPr algn="l">
              <a:lnSpc>
                <a:spcPct val="105000"/>
              </a:lnSpc>
            </a:pPr>
            <a:r>
              <a:rPr sz="1800" b="0">
                <a:solidFill>
                  <a:srgbClr val="555555"/>
                </a:solidFill>
                <a:latin typeface="Arial"/>
                <a:ea typeface="Arial"/>
              </a:rPr>
              <a:t>Peri는 고객별 맞춤</a:t>
            </a:r>
          </a:p>
        </p:txBody>
      </p:sp>
      <p:sp>
        <p:nvSpPr>
          <p:cNvPr id="68" name="Rounded Rectangle 67"/>
          <p:cNvSpPr/>
          <p:nvPr/>
        </p:nvSpPr>
        <p:spPr>
          <a:xfrm>
            <a:off x="5093208" y="5266944"/>
            <a:ext cx="2999232" cy="1609344"/>
          </a:xfrm>
          <a:prstGeom prst="roundRect">
            <a:avLst>
              <a:gd name="adj" fmla="val 454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render_dram3d.png"/>
          <p:cNvPicPr>
            <a:picLocks noChangeAspect="1"/>
          </p:cNvPicPr>
          <p:nvPr/>
        </p:nvPicPr>
        <p:blipFill>
          <a:blip r:embed="rId9"/>
          <a:stretch>
            <a:fillRect/>
          </a:stretch>
        </p:blipFill>
        <p:spPr>
          <a:xfrm>
            <a:off x="5202936" y="5699909"/>
            <a:ext cx="1024128" cy="743412"/>
          </a:xfrm>
          <a:prstGeom prst="rect">
            <a:avLst/>
          </a:prstGeom>
        </p:spPr>
      </p:pic>
      <p:sp>
        <p:nvSpPr>
          <p:cNvPr id="70" name="TextBox 69"/>
          <p:cNvSpPr txBox="1"/>
          <p:nvPr/>
        </p:nvSpPr>
        <p:spPr>
          <a:xfrm>
            <a:off x="6318504" y="5340096"/>
            <a:ext cx="1719072" cy="1463040"/>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2</a:t>
            </a:r>
          </a:p>
          <a:p>
            <a:pPr algn="l">
              <a:lnSpc>
                <a:spcPct val="100000"/>
              </a:lnSpc>
            </a:pPr>
            <a:r>
              <a:rPr sz="1800" b="1">
                <a:solidFill>
                  <a:srgbClr val="1A1A1A"/>
                </a:solidFill>
                <a:latin typeface="Arial"/>
                <a:ea typeface="Arial"/>
              </a:rPr>
              <a:t>고객 맞춤형</a:t>
            </a:r>
          </a:p>
          <a:p>
            <a:pPr algn="l">
              <a:lnSpc>
                <a:spcPct val="100000"/>
              </a:lnSpc>
            </a:pPr>
            <a:r>
              <a:rPr sz="1800" b="1">
                <a:solidFill>
                  <a:srgbClr val="1A1A1A"/>
                </a:solidFill>
                <a:latin typeface="Arial"/>
                <a:ea typeface="Arial"/>
              </a:rPr>
              <a:t>차세대 메모리</a:t>
            </a:r>
          </a:p>
          <a:p>
            <a:pPr algn="l">
              <a:lnSpc>
                <a:spcPct val="100000"/>
              </a:lnSpc>
            </a:pPr>
            <a:r>
              <a:rPr sz="1800" b="1">
                <a:solidFill>
                  <a:srgbClr val="1A1A1A"/>
                </a:solidFill>
                <a:latin typeface="Arial"/>
                <a:ea typeface="Arial"/>
              </a:rPr>
              <a:t>개발</a:t>
            </a:r>
          </a:p>
        </p:txBody>
      </p:sp>
      <p:sp>
        <p:nvSpPr>
          <p:cNvPr id="71" name="Rounded Rectangle 70"/>
          <p:cNvSpPr/>
          <p:nvPr/>
        </p:nvSpPr>
        <p:spPr>
          <a:xfrm>
            <a:off x="8220456" y="5266944"/>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385048" y="5431536"/>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cpu-2_blue.png"/>
          <p:cNvPicPr>
            <a:picLocks noChangeAspect="1"/>
          </p:cNvPicPr>
          <p:nvPr/>
        </p:nvPicPr>
        <p:blipFill>
          <a:blip r:embed="rId10"/>
          <a:stretch>
            <a:fillRect/>
          </a:stretch>
        </p:blipFill>
        <p:spPr>
          <a:xfrm>
            <a:off x="8519464" y="5565952"/>
            <a:ext cx="371246" cy="371246"/>
          </a:xfrm>
          <a:prstGeom prst="rect">
            <a:avLst/>
          </a:prstGeom>
        </p:spPr>
      </p:pic>
      <p:sp>
        <p:nvSpPr>
          <p:cNvPr id="74" name="TextBox 73"/>
          <p:cNvSpPr txBox="1"/>
          <p:nvPr/>
        </p:nvSpPr>
        <p:spPr>
          <a:xfrm>
            <a:off x="9153144"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로직 IP</a:t>
            </a:r>
          </a:p>
          <a:p>
            <a:pPr algn="l">
              <a:lnSpc>
                <a:spcPct val="100000"/>
              </a:lnSpc>
            </a:pPr>
            <a:r>
              <a:rPr sz="2000" b="1">
                <a:solidFill>
                  <a:srgbClr val="1A1A1A"/>
                </a:solidFill>
                <a:latin typeface="Arial"/>
                <a:ea typeface="Arial"/>
              </a:rPr>
              <a:t>역량 전환</a:t>
            </a:r>
          </a:p>
        </p:txBody>
      </p:sp>
      <p:sp>
        <p:nvSpPr>
          <p:cNvPr id="75" name="TextBox 74"/>
          <p:cNvSpPr txBox="1"/>
          <p:nvPr/>
        </p:nvSpPr>
        <p:spPr>
          <a:xfrm>
            <a:off x="8403336"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설계 역량 · 자원을</a:t>
            </a:r>
          </a:p>
          <a:p>
            <a:pPr algn="l">
              <a:lnSpc>
                <a:spcPct val="105000"/>
              </a:lnSpc>
            </a:pPr>
            <a:r>
              <a:rPr sz="1800" b="0">
                <a:solidFill>
                  <a:srgbClr val="555555"/>
                </a:solidFill>
                <a:latin typeface="Arial"/>
                <a:ea typeface="Arial"/>
              </a:rPr>
              <a:t>메모리 로직 IP로</a:t>
            </a:r>
          </a:p>
        </p:txBody>
      </p:sp>
      <p:sp>
        <p:nvSpPr>
          <p:cNvPr id="76" name="Rounded Rectangle 75"/>
          <p:cNvSpPr/>
          <p:nvPr/>
        </p:nvSpPr>
        <p:spPr>
          <a:xfrm>
            <a:off x="11378184" y="5266944"/>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1542776" y="5431536"/>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shield-check_blue.png"/>
          <p:cNvPicPr>
            <a:picLocks noChangeAspect="1"/>
          </p:cNvPicPr>
          <p:nvPr/>
        </p:nvPicPr>
        <p:blipFill>
          <a:blip r:embed="rId11"/>
          <a:stretch>
            <a:fillRect/>
          </a:stretch>
        </p:blipFill>
        <p:spPr>
          <a:xfrm>
            <a:off x="11677192" y="5565952"/>
            <a:ext cx="371246" cy="371246"/>
          </a:xfrm>
          <a:prstGeom prst="rect">
            <a:avLst/>
          </a:prstGeom>
        </p:spPr>
      </p:pic>
      <p:sp>
        <p:nvSpPr>
          <p:cNvPr id="79" name="TextBox 78"/>
          <p:cNvSpPr txBox="1"/>
          <p:nvPr/>
        </p:nvSpPr>
        <p:spPr>
          <a:xfrm>
            <a:off x="12310872"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검증된 품질 ·</a:t>
            </a:r>
          </a:p>
          <a:p>
            <a:pPr algn="l">
              <a:lnSpc>
                <a:spcPct val="100000"/>
              </a:lnSpc>
            </a:pPr>
            <a:r>
              <a:rPr sz="2000" b="1">
                <a:solidFill>
                  <a:srgbClr val="1A1A1A"/>
                </a:solidFill>
                <a:latin typeface="Arial"/>
                <a:ea typeface="Arial"/>
              </a:rPr>
              <a:t>적기 공급</a:t>
            </a:r>
          </a:p>
        </p:txBody>
      </p:sp>
      <p:sp>
        <p:nvSpPr>
          <p:cNvPr id="80" name="TextBox 79"/>
          <p:cNvSpPr txBox="1"/>
          <p:nvPr/>
        </p:nvSpPr>
        <p:spPr>
          <a:xfrm>
            <a:off x="11561064"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양산으로 검증된 품질을</a:t>
            </a:r>
          </a:p>
          <a:p>
            <a:pPr algn="l">
              <a:lnSpc>
                <a:spcPct val="105000"/>
              </a:lnSpc>
            </a:pPr>
            <a:r>
              <a:rPr sz="1800" b="0">
                <a:solidFill>
                  <a:srgbClr val="555555"/>
                </a:solidFill>
                <a:latin typeface="Arial"/>
                <a:ea typeface="Arial"/>
              </a:rPr>
              <a:t>제때 공급</a:t>
            </a:r>
          </a:p>
        </p:txBody>
      </p:sp>
      <p:sp>
        <p:nvSpPr>
          <p:cNvPr id="81" name="Rounded Rectangle 80"/>
          <p:cNvSpPr/>
          <p:nvPr/>
        </p:nvSpPr>
        <p:spPr>
          <a:xfrm>
            <a:off x="14535912" y="5266944"/>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4700504" y="5431536"/>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puzzle_blue.png"/>
          <p:cNvPicPr>
            <a:picLocks noChangeAspect="1"/>
          </p:cNvPicPr>
          <p:nvPr/>
        </p:nvPicPr>
        <p:blipFill>
          <a:blip r:embed="rId12"/>
          <a:stretch>
            <a:fillRect/>
          </a:stretch>
        </p:blipFill>
        <p:spPr>
          <a:xfrm>
            <a:off x="14834920" y="5565952"/>
            <a:ext cx="371246" cy="371246"/>
          </a:xfrm>
          <a:prstGeom prst="rect">
            <a:avLst/>
          </a:prstGeom>
        </p:spPr>
      </p:pic>
      <p:sp>
        <p:nvSpPr>
          <p:cNvPr id="84" name="TextBox 83"/>
          <p:cNvSpPr txBox="1"/>
          <p:nvPr/>
        </p:nvSpPr>
        <p:spPr>
          <a:xfrm>
            <a:off x="15468600"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Custom Logic</a:t>
            </a:r>
          </a:p>
          <a:p>
            <a:pPr algn="l">
              <a:lnSpc>
                <a:spcPct val="100000"/>
              </a:lnSpc>
            </a:pPr>
            <a:r>
              <a:rPr sz="2000" b="1">
                <a:solidFill>
                  <a:srgbClr val="1A1A1A"/>
                </a:solidFill>
                <a:latin typeface="Arial"/>
                <a:ea typeface="Arial"/>
              </a:rPr>
              <a:t>협업</a:t>
            </a:r>
          </a:p>
        </p:txBody>
      </p:sp>
      <p:sp>
        <p:nvSpPr>
          <p:cNvPr id="85" name="TextBox 84"/>
          <p:cNvSpPr txBox="1"/>
          <p:nvPr/>
        </p:nvSpPr>
        <p:spPr>
          <a:xfrm>
            <a:off x="14718792"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가속기별 로직을</a:t>
            </a:r>
          </a:p>
          <a:p>
            <a:pPr algn="l">
              <a:lnSpc>
                <a:spcPct val="105000"/>
              </a:lnSpc>
            </a:pPr>
            <a:r>
              <a:rPr sz="1800" b="0">
                <a:solidFill>
                  <a:srgbClr val="555555"/>
                </a:solidFill>
                <a:latin typeface="Arial"/>
                <a:ea typeface="Arial"/>
              </a:rPr>
              <a:t>고객과 함께 설계</a:t>
            </a:r>
          </a:p>
        </p:txBody>
      </p:sp>
      <p:sp>
        <p:nvSpPr>
          <p:cNvPr id="86" name="Rounded Rectangle 85"/>
          <p:cNvSpPr/>
          <p:nvPr/>
        </p:nvSpPr>
        <p:spPr>
          <a:xfrm>
            <a:off x="5093208" y="6986016"/>
            <a:ext cx="2999232" cy="1609344"/>
          </a:xfrm>
          <a:prstGeom prst="roundRect">
            <a:avLst>
              <a:gd name="adj" fmla="val 454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render_ssd.png"/>
          <p:cNvPicPr>
            <a:picLocks noChangeAspect="1"/>
          </p:cNvPicPr>
          <p:nvPr/>
        </p:nvPicPr>
        <p:blipFill>
          <a:blip r:embed="rId13"/>
          <a:stretch>
            <a:fillRect/>
          </a:stretch>
        </p:blipFill>
        <p:spPr>
          <a:xfrm>
            <a:off x="5202936" y="7221641"/>
            <a:ext cx="1024128" cy="380238"/>
          </a:xfrm>
          <a:prstGeom prst="rect">
            <a:avLst/>
          </a:prstGeom>
        </p:spPr>
      </p:pic>
      <p:pic>
        <p:nvPicPr>
          <p:cNvPr id="88" name="Picture 87" descr="render_server.png"/>
          <p:cNvPicPr>
            <a:picLocks noChangeAspect="1"/>
          </p:cNvPicPr>
          <p:nvPr/>
        </p:nvPicPr>
        <p:blipFill>
          <a:blip r:embed="rId14"/>
          <a:stretch>
            <a:fillRect/>
          </a:stretch>
        </p:blipFill>
        <p:spPr>
          <a:xfrm>
            <a:off x="5202936" y="7823638"/>
            <a:ext cx="1024128" cy="602707"/>
          </a:xfrm>
          <a:prstGeom prst="rect">
            <a:avLst/>
          </a:prstGeom>
        </p:spPr>
      </p:pic>
      <p:sp>
        <p:nvSpPr>
          <p:cNvPr id="89" name="TextBox 88"/>
          <p:cNvSpPr txBox="1"/>
          <p:nvPr/>
        </p:nvSpPr>
        <p:spPr>
          <a:xfrm>
            <a:off x="6318504" y="7059168"/>
            <a:ext cx="1719072" cy="1463040"/>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3</a:t>
            </a:r>
          </a:p>
          <a:p>
            <a:pPr algn="l">
              <a:lnSpc>
                <a:spcPct val="100000"/>
              </a:lnSpc>
            </a:pPr>
            <a:r>
              <a:rPr sz="1800" b="1">
                <a:solidFill>
                  <a:srgbClr val="1A1A1A"/>
                </a:solidFill>
                <a:latin typeface="Arial"/>
                <a:ea typeface="Arial"/>
              </a:rPr>
              <a:t>고객 시스템을</a:t>
            </a:r>
          </a:p>
          <a:p>
            <a:pPr algn="l">
              <a:lnSpc>
                <a:spcPct val="100000"/>
              </a:lnSpc>
            </a:pPr>
            <a:r>
              <a:rPr sz="1800" b="1">
                <a:solidFill>
                  <a:srgbClr val="1A1A1A"/>
                </a:solidFill>
                <a:latin typeface="Arial"/>
                <a:ea typeface="Arial"/>
              </a:rPr>
              <a:t>고려한 스토리지</a:t>
            </a:r>
          </a:p>
          <a:p>
            <a:pPr algn="l">
              <a:lnSpc>
                <a:spcPct val="100000"/>
              </a:lnSpc>
            </a:pPr>
            <a:r>
              <a:rPr sz="1800" b="1">
                <a:solidFill>
                  <a:srgbClr val="1A1A1A"/>
                </a:solidFill>
                <a:latin typeface="Arial"/>
                <a:ea typeface="Arial"/>
              </a:rPr>
              <a:t>개발</a:t>
            </a:r>
          </a:p>
        </p:txBody>
      </p:sp>
      <p:sp>
        <p:nvSpPr>
          <p:cNvPr id="90" name="Rounded Rectangle 89"/>
          <p:cNvSpPr/>
          <p:nvPr/>
        </p:nvSpPr>
        <p:spPr>
          <a:xfrm>
            <a:off x="8220456" y="6986016"/>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385048" y="7150607"/>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radar_blue.png"/>
          <p:cNvPicPr>
            <a:picLocks noChangeAspect="1"/>
          </p:cNvPicPr>
          <p:nvPr/>
        </p:nvPicPr>
        <p:blipFill>
          <a:blip r:embed="rId15"/>
          <a:stretch>
            <a:fillRect/>
          </a:stretch>
        </p:blipFill>
        <p:spPr>
          <a:xfrm>
            <a:off x="8519464" y="7285024"/>
            <a:ext cx="371246" cy="371246"/>
          </a:xfrm>
          <a:prstGeom prst="rect">
            <a:avLst/>
          </a:prstGeom>
        </p:spPr>
      </p:pic>
      <p:sp>
        <p:nvSpPr>
          <p:cNvPr id="93" name="TextBox 92"/>
          <p:cNvSpPr txBox="1"/>
          <p:nvPr/>
        </p:nvSpPr>
        <p:spPr>
          <a:xfrm>
            <a:off x="9153144"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기술 변화</a:t>
            </a:r>
          </a:p>
          <a:p>
            <a:pPr algn="l">
              <a:lnSpc>
                <a:spcPct val="100000"/>
              </a:lnSpc>
            </a:pPr>
            <a:r>
              <a:rPr sz="2000" b="1">
                <a:solidFill>
                  <a:srgbClr val="1A1A1A"/>
                </a:solidFill>
                <a:latin typeface="Arial"/>
                <a:ea typeface="Arial"/>
              </a:rPr>
              <a:t>조기 센싱</a:t>
            </a:r>
          </a:p>
        </p:txBody>
      </p:sp>
      <p:sp>
        <p:nvSpPr>
          <p:cNvPr id="94" name="TextBox 93"/>
          <p:cNvSpPr txBox="1"/>
          <p:nvPr/>
        </p:nvSpPr>
        <p:spPr>
          <a:xfrm>
            <a:off x="8403336"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고객과 먼저 감지하고</a:t>
            </a:r>
          </a:p>
          <a:p>
            <a:pPr algn="l">
              <a:lnSpc>
                <a:spcPct val="105000"/>
              </a:lnSpc>
            </a:pPr>
            <a:r>
              <a:rPr sz="1800" b="0">
                <a:solidFill>
                  <a:srgbClr val="555555"/>
                </a:solidFill>
                <a:latin typeface="Arial"/>
                <a:ea typeface="Arial"/>
              </a:rPr>
              <a:t>차세대 수요를 함께 설계</a:t>
            </a:r>
          </a:p>
        </p:txBody>
      </p:sp>
      <p:sp>
        <p:nvSpPr>
          <p:cNvPr id="95" name="Rounded Rectangle 94"/>
          <p:cNvSpPr/>
          <p:nvPr/>
        </p:nvSpPr>
        <p:spPr>
          <a:xfrm>
            <a:off x="11378184" y="6986016"/>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1542776" y="7150607"/>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Picture 96" descr="sitemap_blue.png"/>
          <p:cNvPicPr>
            <a:picLocks noChangeAspect="1"/>
          </p:cNvPicPr>
          <p:nvPr/>
        </p:nvPicPr>
        <p:blipFill>
          <a:blip r:embed="rId16"/>
          <a:stretch>
            <a:fillRect/>
          </a:stretch>
        </p:blipFill>
        <p:spPr>
          <a:xfrm>
            <a:off x="11677192" y="7285024"/>
            <a:ext cx="371246" cy="371246"/>
          </a:xfrm>
          <a:prstGeom prst="rect">
            <a:avLst/>
          </a:prstGeom>
        </p:spPr>
      </p:pic>
      <p:sp>
        <p:nvSpPr>
          <p:cNvPr id="98" name="TextBox 97"/>
          <p:cNvSpPr txBox="1"/>
          <p:nvPr/>
        </p:nvSpPr>
        <p:spPr>
          <a:xfrm>
            <a:off x="12310872"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시스템 지식</a:t>
            </a:r>
          </a:p>
          <a:p>
            <a:pPr algn="l">
              <a:lnSpc>
                <a:spcPct val="100000"/>
              </a:lnSpc>
            </a:pPr>
            <a:r>
              <a:rPr sz="2000" b="1">
                <a:solidFill>
                  <a:srgbClr val="1A1A1A"/>
                </a:solidFill>
                <a:latin typeface="Arial"/>
                <a:ea typeface="Arial"/>
              </a:rPr>
              <a:t>확장</a:t>
            </a:r>
          </a:p>
        </p:txBody>
      </p:sp>
      <p:sp>
        <p:nvSpPr>
          <p:cNvPr id="99" name="TextBox 98"/>
          <p:cNvSpPr txBox="1"/>
          <p:nvPr/>
        </p:nvSpPr>
        <p:spPr>
          <a:xfrm>
            <a:off x="11561064"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워크로드 연구로</a:t>
            </a:r>
          </a:p>
          <a:p>
            <a:pPr algn="l">
              <a:lnSpc>
                <a:spcPct val="105000"/>
              </a:lnSpc>
            </a:pPr>
            <a:r>
              <a:rPr sz="1800" b="0">
                <a:solidFill>
                  <a:srgbClr val="555555"/>
                </a:solidFill>
                <a:latin typeface="Arial"/>
                <a:ea typeface="Arial"/>
              </a:rPr>
              <a:t>NAND · SSD에서 서버까지</a:t>
            </a:r>
          </a:p>
        </p:txBody>
      </p:sp>
      <p:sp>
        <p:nvSpPr>
          <p:cNvPr id="100" name="Rounded Rectangle 99"/>
          <p:cNvSpPr/>
          <p:nvPr/>
        </p:nvSpPr>
        <p:spPr>
          <a:xfrm>
            <a:off x="14535912" y="6986016"/>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4700504" y="7150607"/>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Picture 101" descr="pencil-cog_blue.png"/>
          <p:cNvPicPr>
            <a:picLocks noChangeAspect="1"/>
          </p:cNvPicPr>
          <p:nvPr/>
        </p:nvPicPr>
        <p:blipFill>
          <a:blip r:embed="rId17"/>
          <a:stretch>
            <a:fillRect/>
          </a:stretch>
        </p:blipFill>
        <p:spPr>
          <a:xfrm>
            <a:off x="14834920" y="7285024"/>
            <a:ext cx="371246" cy="371246"/>
          </a:xfrm>
          <a:prstGeom prst="rect">
            <a:avLst/>
          </a:prstGeom>
        </p:spPr>
      </p:pic>
      <p:sp>
        <p:nvSpPr>
          <p:cNvPr id="103" name="TextBox 102"/>
          <p:cNvSpPr txBox="1"/>
          <p:nvPr/>
        </p:nvSpPr>
        <p:spPr>
          <a:xfrm>
            <a:off x="15468600"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SSD · 서버</a:t>
            </a:r>
          </a:p>
          <a:p>
            <a:pPr algn="l">
              <a:lnSpc>
                <a:spcPct val="100000"/>
              </a:lnSpc>
            </a:pPr>
            <a:r>
              <a:rPr sz="2000" b="1">
                <a:solidFill>
                  <a:srgbClr val="1A1A1A"/>
                </a:solidFill>
                <a:latin typeface="Arial"/>
                <a:ea typeface="Arial"/>
              </a:rPr>
              <a:t>공동 설계</a:t>
            </a:r>
          </a:p>
        </p:txBody>
      </p:sp>
      <p:sp>
        <p:nvSpPr>
          <p:cNvPr id="104" name="TextBox 103"/>
          <p:cNvSpPr txBox="1"/>
          <p:nvPr/>
        </p:nvSpPr>
        <p:spPr>
          <a:xfrm>
            <a:off x="14718792"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AI 수요에 맞춰</a:t>
            </a:r>
          </a:p>
          <a:p>
            <a:pPr algn="l">
              <a:lnSpc>
                <a:spcPct val="105000"/>
              </a:lnSpc>
            </a:pPr>
            <a:r>
              <a:rPr sz="1800" b="0">
                <a:solidFill>
                  <a:srgbClr val="555555"/>
                </a:solidFill>
                <a:latin typeface="Arial"/>
                <a:ea typeface="Arial"/>
              </a:rPr>
              <a:t>기능과 구조를 함께 설계</a:t>
            </a:r>
          </a:p>
        </p:txBody>
      </p:sp>
      <p:sp>
        <p:nvSpPr>
          <p:cNvPr id="105" name="Rectangle 104"/>
          <p:cNvSpPr/>
          <p:nvPr/>
        </p:nvSpPr>
        <p:spPr>
          <a:xfrm>
            <a:off x="722376" y="8778240"/>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3-C</a:t>
            </a:r>
          </a:p>
        </p:txBody>
      </p:sp>
      <p:sp>
        <p:nvSpPr>
          <p:cNvPr id="107" name="TextBox 106"/>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전환하고, 기술은 연속성 있게 쌓고, 미래는 고객과 함께 설계합니다</a:t>
            </a:r>
          </a:p>
        </p:txBody>
      </p:sp>
      <p:sp>
        <p:nvSpPr>
          <p:cNvPr id="108" name="TextBox 107"/>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개념도로 수치 주장은 담지 않음.</a:t>
            </a:r>
          </a:p>
          <a:p>
            <a:pPr algn="l">
              <a:lnSpc>
                <a:spcPct val="105000"/>
              </a:lnSpc>
            </a:pPr>
            <a:r>
              <a:rPr sz="1500" b="0">
                <a:solidFill>
                  <a:srgbClr val="555555"/>
                </a:solidFill>
                <a:latin typeface="Arial"/>
                <a:ea typeface="Arial"/>
              </a:rPr>
              <a:t>전략 1 사진: Samsung Semiconductor FMS 2026 전시(V10 Bonding V-NAND). 3D DRAM · SSD · 서버는 3D 렌더(개념), 아이콘 Tabler Icons(MIT).</a:t>
            </a:r>
          </a:p>
        </p:txBody>
      </p:sp>
      <p:sp>
        <p:nvSpPr>
          <p:cNvPr id="109" name="TextBox 108"/>
          <p:cNvSpPr txBox="1"/>
          <p:nvPr/>
        </p:nvSpPr>
        <p:spPr>
          <a:xfrm>
            <a:off x="16102584" y="9601200"/>
            <a:ext cx="146304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C  3-C 기둥 구조형</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4114800" y="2084831"/>
            <a:ext cx="13450824" cy="731520"/>
          </a:xfrm>
          <a:prstGeom prst="triangl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7012" y="2414016"/>
            <a:ext cx="5486400" cy="365760"/>
          </a:xfrm>
          <a:prstGeom prst="rect">
            <a:avLst/>
          </a:prstGeom>
          <a:noFill/>
        </p:spPr>
        <p:txBody>
          <a:bodyPr wrap="square" anchor="ctr" lIns="0" rIns="0" tIns="0" bIns="0">
            <a:spAutoFit/>
          </a:bodyPr>
          <a:lstStyle/>
          <a:p>
            <a:pPr algn="ctr">
              <a:lnSpc>
                <a:spcPct val="110000"/>
              </a:lnSpc>
            </a:pPr>
            <a:r>
              <a:rPr sz="2200" b="1">
                <a:solidFill>
                  <a:srgbClr val="C0CAEC"/>
                </a:solidFill>
                <a:latin typeface="Arial"/>
                <a:ea typeface="Arial"/>
              </a:rPr>
              <a:t>3-C </a:t>
            </a:r>
            <a:r>
              <a:rPr sz="2200" b="1">
                <a:solidFill>
                  <a:srgbClr val="FFFFFF"/>
                </a:solidFill>
                <a:latin typeface="Arial"/>
                <a:ea typeface="Arial"/>
              </a:rPr>
              <a:t>전체 최적화 체계</a:t>
            </a:r>
          </a:p>
        </p:txBody>
      </p:sp>
      <p:sp>
        <p:nvSpPr>
          <p:cNvPr id="9" name="Rectangle 8"/>
          <p:cNvSpPr/>
          <p:nvPr/>
        </p:nvSpPr>
        <p:spPr>
          <a:xfrm>
            <a:off x="4114800" y="2834640"/>
            <a:ext cx="13450824" cy="9144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0" y="2999232"/>
            <a:ext cx="4337304" cy="841248"/>
          </a:xfrm>
          <a:prstGeom prst="rect">
            <a:avLst/>
          </a:pr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rrows-exchange_blue.png"/>
          <p:cNvPicPr>
            <a:picLocks noChangeAspect="1"/>
          </p:cNvPicPr>
          <p:nvPr/>
        </p:nvPicPr>
        <p:blipFill>
          <a:blip r:embed="rId2"/>
          <a:stretch>
            <a:fillRect/>
          </a:stretch>
        </p:blipFill>
        <p:spPr>
          <a:xfrm>
            <a:off x="4315968" y="3163824"/>
            <a:ext cx="512064" cy="512064"/>
          </a:xfrm>
          <a:prstGeom prst="rect">
            <a:avLst/>
          </a:prstGeom>
        </p:spPr>
      </p:pic>
      <p:sp>
        <p:nvSpPr>
          <p:cNvPr id="12" name="TextBox 11"/>
          <p:cNvSpPr txBox="1"/>
          <p:nvPr/>
        </p:nvSpPr>
        <p:spPr>
          <a:xfrm>
            <a:off x="4992624" y="2999232"/>
            <a:ext cx="3386328" cy="841248"/>
          </a:xfrm>
          <a:prstGeom prst="rect">
            <a:avLst/>
          </a:prstGeom>
          <a:noFill/>
        </p:spPr>
        <p:txBody>
          <a:bodyPr wrap="square" anchor="ctr" lIns="0" rIns="0" tIns="0" bIns="0">
            <a:spAutoFit/>
          </a:bodyPr>
          <a:lstStyle/>
          <a:p>
            <a:pPr algn="l">
              <a:lnSpc>
                <a:spcPct val="100000"/>
              </a:lnSpc>
            </a:pPr>
            <a:r>
              <a:rPr sz="2200" b="1">
                <a:solidFill>
                  <a:srgbClr val="3C4FA5"/>
                </a:solidFill>
                <a:latin typeface="Arial"/>
                <a:ea typeface="Arial"/>
              </a:rPr>
              <a:t>C1 </a:t>
            </a:r>
            <a:r>
              <a:rPr sz="2200" b="1">
                <a:solidFill>
                  <a:srgbClr val="1A1A1A"/>
                </a:solidFill>
                <a:latin typeface="Arial"/>
                <a:ea typeface="Arial"/>
              </a:rPr>
              <a:t>Convertibility</a:t>
            </a:r>
          </a:p>
          <a:p>
            <a:pPr algn="l">
              <a:lnSpc>
                <a:spcPct val="100000"/>
              </a:lnSpc>
            </a:pPr>
            <a:r>
              <a:rPr sz="1800" b="0">
                <a:solidFill>
                  <a:srgbClr val="555555"/>
                </a:solidFill>
                <a:latin typeface="Arial"/>
                <a:ea typeface="Arial"/>
              </a:rPr>
              <a:t>자원의 유연한 전환</a:t>
            </a:r>
          </a:p>
        </p:txBody>
      </p:sp>
      <p:sp>
        <p:nvSpPr>
          <p:cNvPr id="13" name="Rectangle 12"/>
          <p:cNvSpPr/>
          <p:nvPr/>
        </p:nvSpPr>
        <p:spPr>
          <a:xfrm>
            <a:off x="4261104" y="3840480"/>
            <a:ext cx="4044695" cy="4151376"/>
          </a:xfrm>
          <a:prstGeom prst="rect">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261104"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305799"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671560" y="2999232"/>
            <a:ext cx="4337304" cy="841248"/>
          </a:xfrm>
          <a:prstGeom prst="rect">
            <a:avLst/>
          </a:pr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tack-push_blue.png"/>
          <p:cNvPicPr>
            <a:picLocks noChangeAspect="1"/>
          </p:cNvPicPr>
          <p:nvPr/>
        </p:nvPicPr>
        <p:blipFill>
          <a:blip r:embed="rId3"/>
          <a:stretch>
            <a:fillRect/>
          </a:stretch>
        </p:blipFill>
        <p:spPr>
          <a:xfrm>
            <a:off x="8872728" y="3163824"/>
            <a:ext cx="512064" cy="512064"/>
          </a:xfrm>
          <a:prstGeom prst="rect">
            <a:avLst/>
          </a:prstGeom>
        </p:spPr>
      </p:pic>
      <p:sp>
        <p:nvSpPr>
          <p:cNvPr id="18" name="TextBox 17"/>
          <p:cNvSpPr txBox="1"/>
          <p:nvPr/>
        </p:nvSpPr>
        <p:spPr>
          <a:xfrm>
            <a:off x="9549384" y="2999232"/>
            <a:ext cx="3386328" cy="841248"/>
          </a:xfrm>
          <a:prstGeom prst="rect">
            <a:avLst/>
          </a:prstGeom>
          <a:noFill/>
        </p:spPr>
        <p:txBody>
          <a:bodyPr wrap="square" anchor="ctr" lIns="0" rIns="0" tIns="0" bIns="0">
            <a:spAutoFit/>
          </a:bodyPr>
          <a:lstStyle/>
          <a:p>
            <a:pPr algn="l">
              <a:lnSpc>
                <a:spcPct val="100000"/>
              </a:lnSpc>
            </a:pPr>
            <a:r>
              <a:rPr sz="2200" b="1">
                <a:solidFill>
                  <a:srgbClr val="3C4FA5"/>
                </a:solidFill>
                <a:latin typeface="Arial"/>
                <a:ea typeface="Arial"/>
              </a:rPr>
              <a:t>C2 </a:t>
            </a:r>
            <a:r>
              <a:rPr sz="2200" b="1">
                <a:solidFill>
                  <a:srgbClr val="1A1A1A"/>
                </a:solidFill>
                <a:latin typeface="Arial"/>
                <a:ea typeface="Arial"/>
              </a:rPr>
              <a:t>Continuity</a:t>
            </a:r>
          </a:p>
          <a:p>
            <a:pPr algn="l">
              <a:lnSpc>
                <a:spcPct val="100000"/>
              </a:lnSpc>
            </a:pPr>
            <a:r>
              <a:rPr sz="1800" b="0">
                <a:solidFill>
                  <a:srgbClr val="555555"/>
                </a:solidFill>
                <a:latin typeface="Arial"/>
                <a:ea typeface="Arial"/>
              </a:rPr>
              <a:t>연속성 있는 기술 축적</a:t>
            </a:r>
          </a:p>
        </p:txBody>
      </p:sp>
      <p:sp>
        <p:nvSpPr>
          <p:cNvPr id="19" name="Rectangle 18"/>
          <p:cNvSpPr/>
          <p:nvPr/>
        </p:nvSpPr>
        <p:spPr>
          <a:xfrm>
            <a:off x="8817864" y="3840480"/>
            <a:ext cx="4044695" cy="4151376"/>
          </a:xfrm>
          <a:prstGeom prst="rect">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817864"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2862560"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3228320" y="2999232"/>
            <a:ext cx="4337304" cy="841248"/>
          </a:xfrm>
          <a:prstGeom prst="rect">
            <a:avLst/>
          </a:pr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art-handshake_blue.png"/>
          <p:cNvPicPr>
            <a:picLocks noChangeAspect="1"/>
          </p:cNvPicPr>
          <p:nvPr/>
        </p:nvPicPr>
        <p:blipFill>
          <a:blip r:embed="rId4"/>
          <a:stretch>
            <a:fillRect/>
          </a:stretch>
        </p:blipFill>
        <p:spPr>
          <a:xfrm>
            <a:off x="13429488" y="3163824"/>
            <a:ext cx="512064" cy="512064"/>
          </a:xfrm>
          <a:prstGeom prst="rect">
            <a:avLst/>
          </a:prstGeom>
        </p:spPr>
      </p:pic>
      <p:sp>
        <p:nvSpPr>
          <p:cNvPr id="24" name="TextBox 23"/>
          <p:cNvSpPr txBox="1"/>
          <p:nvPr/>
        </p:nvSpPr>
        <p:spPr>
          <a:xfrm>
            <a:off x="14106144" y="2999232"/>
            <a:ext cx="3386328" cy="841248"/>
          </a:xfrm>
          <a:prstGeom prst="rect">
            <a:avLst/>
          </a:prstGeom>
          <a:noFill/>
        </p:spPr>
        <p:txBody>
          <a:bodyPr wrap="square" anchor="ctr" lIns="0" rIns="0" tIns="0" bIns="0">
            <a:spAutoFit/>
          </a:bodyPr>
          <a:lstStyle/>
          <a:p>
            <a:pPr algn="l">
              <a:lnSpc>
                <a:spcPct val="100000"/>
              </a:lnSpc>
            </a:pPr>
            <a:r>
              <a:rPr sz="2200" b="1">
                <a:solidFill>
                  <a:srgbClr val="3C4FA5"/>
                </a:solidFill>
                <a:latin typeface="Arial"/>
                <a:ea typeface="Arial"/>
              </a:rPr>
              <a:t>C3 </a:t>
            </a:r>
            <a:r>
              <a:rPr sz="2200" b="1">
                <a:solidFill>
                  <a:srgbClr val="1A1A1A"/>
                </a:solidFill>
                <a:latin typeface="Arial"/>
                <a:ea typeface="Arial"/>
              </a:rPr>
              <a:t>Co-Creation</a:t>
            </a:r>
          </a:p>
          <a:p>
            <a:pPr algn="l">
              <a:lnSpc>
                <a:spcPct val="100000"/>
              </a:lnSpc>
            </a:pPr>
            <a:r>
              <a:rPr sz="1800" b="0">
                <a:solidFill>
                  <a:srgbClr val="555555"/>
                </a:solidFill>
                <a:latin typeface="Arial"/>
                <a:ea typeface="Arial"/>
              </a:rPr>
              <a:t>고객과 함께 미래를 설계</a:t>
            </a:r>
          </a:p>
        </p:txBody>
      </p:sp>
      <p:sp>
        <p:nvSpPr>
          <p:cNvPr id="25" name="Rectangle 24"/>
          <p:cNvSpPr/>
          <p:nvPr/>
        </p:nvSpPr>
        <p:spPr>
          <a:xfrm>
            <a:off x="13374624" y="3840480"/>
            <a:ext cx="4044695" cy="4151376"/>
          </a:xfrm>
          <a:prstGeom prst="rect">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3374624"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7419320"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22376" y="2999232"/>
            <a:ext cx="3246120" cy="786384"/>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29" name="Rectangle 28"/>
          <p:cNvSpPr/>
          <p:nvPr/>
        </p:nvSpPr>
        <p:spPr>
          <a:xfrm>
            <a:off x="3877056" y="4553712"/>
            <a:ext cx="13688568" cy="5486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22376" y="3950208"/>
            <a:ext cx="3246120" cy="1261872"/>
          </a:xfrm>
          <a:prstGeom prst="roundRect">
            <a:avLst>
              <a:gd name="adj" fmla="val 5797"/>
            </a:avLst>
          </a:prstGeom>
          <a:solidFill>
            <a:srgbClr val="FFFFFF"/>
          </a:solidFill>
          <a:ln w="15875">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bonding.jpg"/>
          <p:cNvPicPr>
            <a:picLocks noChangeAspect="1"/>
          </p:cNvPicPr>
          <p:nvPr/>
        </p:nvPicPr>
        <p:blipFill>
          <a:blip r:embed="rId5"/>
          <a:stretch>
            <a:fillRect/>
          </a:stretch>
        </p:blipFill>
        <p:spPr>
          <a:xfrm>
            <a:off x="832104" y="4091094"/>
            <a:ext cx="932688" cy="980099"/>
          </a:xfrm>
          <a:prstGeom prst="rect">
            <a:avLst/>
          </a:prstGeom>
        </p:spPr>
      </p:pic>
      <p:sp>
        <p:nvSpPr>
          <p:cNvPr id="32" name="Rectangle 31"/>
          <p:cNvSpPr/>
          <p:nvPr/>
        </p:nvSpPr>
        <p:spPr>
          <a:xfrm>
            <a:off x="832104" y="4091094"/>
            <a:ext cx="932688" cy="980099"/>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74519" y="3986784"/>
            <a:ext cx="2039111" cy="1188719"/>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1</a:t>
            </a:r>
          </a:p>
          <a:p>
            <a:pPr algn="l">
              <a:lnSpc>
                <a:spcPct val="100000"/>
              </a:lnSpc>
            </a:pPr>
            <a:r>
              <a:rPr sz="2000" b="1">
                <a:solidFill>
                  <a:srgbClr val="1A1A1A"/>
                </a:solidFill>
                <a:latin typeface="Arial"/>
                <a:ea typeface="Arial"/>
              </a:rPr>
              <a:t>Bonding 기반</a:t>
            </a:r>
          </a:p>
          <a:p>
            <a:pPr algn="l">
              <a:lnSpc>
                <a:spcPct val="100000"/>
              </a:lnSpc>
            </a:pPr>
            <a:r>
              <a:rPr sz="2000" b="1">
                <a:solidFill>
                  <a:srgbClr val="1A1A1A"/>
                </a:solidFill>
                <a:latin typeface="Arial"/>
                <a:ea typeface="Arial"/>
              </a:rPr>
              <a:t>DRAM · NAND</a:t>
            </a:r>
          </a:p>
          <a:p>
            <a:pPr algn="l">
              <a:lnSpc>
                <a:spcPct val="100000"/>
              </a:lnSpc>
            </a:pPr>
            <a:r>
              <a:rPr sz="2000" b="1">
                <a:solidFill>
                  <a:srgbClr val="1A1A1A"/>
                </a:solidFill>
                <a:latin typeface="Arial"/>
                <a:ea typeface="Arial"/>
              </a:rPr>
              <a:t>통합 제조</a:t>
            </a:r>
          </a:p>
        </p:txBody>
      </p:sp>
      <p:sp>
        <p:nvSpPr>
          <p:cNvPr id="34" name="Rounded Rectangle 33"/>
          <p:cNvSpPr/>
          <p:nvPr/>
        </p:nvSpPr>
        <p:spPr>
          <a:xfrm>
            <a:off x="4352544" y="3950208"/>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building-factory-2_blue.png"/>
          <p:cNvPicPr>
            <a:picLocks noChangeAspect="1"/>
          </p:cNvPicPr>
          <p:nvPr/>
        </p:nvPicPr>
        <p:blipFill>
          <a:blip r:embed="rId6"/>
          <a:stretch>
            <a:fillRect/>
          </a:stretch>
        </p:blipFill>
        <p:spPr>
          <a:xfrm>
            <a:off x="4517136" y="4096512"/>
            <a:ext cx="493776" cy="493776"/>
          </a:xfrm>
          <a:prstGeom prst="rect">
            <a:avLst/>
          </a:prstGeom>
        </p:spPr>
      </p:pic>
      <p:sp>
        <p:nvSpPr>
          <p:cNvPr id="36" name="TextBox 35"/>
          <p:cNvSpPr txBox="1"/>
          <p:nvPr/>
        </p:nvSpPr>
        <p:spPr>
          <a:xfrm>
            <a:off x="513892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제조라인 공용화</a:t>
            </a:r>
          </a:p>
        </p:txBody>
      </p:sp>
      <p:sp>
        <p:nvSpPr>
          <p:cNvPr id="37" name="TextBox 36"/>
          <p:cNvSpPr txBox="1"/>
          <p:nvPr/>
        </p:nvSpPr>
        <p:spPr>
          <a:xfrm>
            <a:off x="453542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수요에 따라</a:t>
            </a:r>
          </a:p>
          <a:p>
            <a:pPr algn="l">
              <a:lnSpc>
                <a:spcPct val="100000"/>
              </a:lnSpc>
            </a:pPr>
            <a:r>
              <a:rPr sz="1800" b="0">
                <a:solidFill>
                  <a:srgbClr val="555555"/>
                </a:solidFill>
                <a:latin typeface="Arial"/>
                <a:ea typeface="Arial"/>
              </a:rPr>
              <a:t>DRAM ↔ NAND 전환</a:t>
            </a:r>
          </a:p>
        </p:txBody>
      </p:sp>
      <p:sp>
        <p:nvSpPr>
          <p:cNvPr id="38" name="Rounded Rectangle 37"/>
          <p:cNvSpPr/>
          <p:nvPr/>
        </p:nvSpPr>
        <p:spPr>
          <a:xfrm>
            <a:off x="8909304" y="3950208"/>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recycle_blue.png"/>
          <p:cNvPicPr>
            <a:picLocks noChangeAspect="1"/>
          </p:cNvPicPr>
          <p:nvPr/>
        </p:nvPicPr>
        <p:blipFill>
          <a:blip r:embed="rId7"/>
          <a:stretch>
            <a:fillRect/>
          </a:stretch>
        </p:blipFill>
        <p:spPr>
          <a:xfrm>
            <a:off x="9073896" y="4096512"/>
            <a:ext cx="493776" cy="493776"/>
          </a:xfrm>
          <a:prstGeom prst="rect">
            <a:avLst/>
          </a:prstGeom>
        </p:spPr>
      </p:pic>
      <p:sp>
        <p:nvSpPr>
          <p:cNvPr id="40" name="TextBox 39"/>
          <p:cNvSpPr txBox="1"/>
          <p:nvPr/>
        </p:nvSpPr>
        <p:spPr>
          <a:xfrm>
            <a:off x="969568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Legacy Cell 자산화</a:t>
            </a:r>
          </a:p>
        </p:txBody>
      </p:sp>
      <p:sp>
        <p:nvSpPr>
          <p:cNvPr id="41" name="TextBox 40"/>
          <p:cNvSpPr txBox="1"/>
          <p:nvPr/>
        </p:nvSpPr>
        <p:spPr>
          <a:xfrm>
            <a:off x="909218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검증된 DRAM Cell 기술을</a:t>
            </a:r>
          </a:p>
          <a:p>
            <a:pPr algn="l">
              <a:lnSpc>
                <a:spcPct val="100000"/>
              </a:lnSpc>
            </a:pPr>
            <a:r>
              <a:rPr sz="1800" b="0">
                <a:solidFill>
                  <a:srgbClr val="555555"/>
                </a:solidFill>
                <a:latin typeface="Arial"/>
                <a:ea typeface="Arial"/>
              </a:rPr>
              <a:t>그대로 활용</a:t>
            </a:r>
          </a:p>
        </p:txBody>
      </p:sp>
      <p:sp>
        <p:nvSpPr>
          <p:cNvPr id="42" name="Rounded Rectangle 41"/>
          <p:cNvSpPr/>
          <p:nvPr/>
        </p:nvSpPr>
        <p:spPr>
          <a:xfrm>
            <a:off x="13466064" y="3950208"/>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adjustments-horizontal_blue.png"/>
          <p:cNvPicPr>
            <a:picLocks noChangeAspect="1"/>
          </p:cNvPicPr>
          <p:nvPr/>
        </p:nvPicPr>
        <p:blipFill>
          <a:blip r:embed="rId8"/>
          <a:stretch>
            <a:fillRect/>
          </a:stretch>
        </p:blipFill>
        <p:spPr>
          <a:xfrm>
            <a:off x="13630656" y="4096512"/>
            <a:ext cx="493776" cy="493776"/>
          </a:xfrm>
          <a:prstGeom prst="rect">
            <a:avLst/>
          </a:prstGeom>
        </p:spPr>
      </p:pic>
      <p:sp>
        <p:nvSpPr>
          <p:cNvPr id="44" name="TextBox 43"/>
          <p:cNvSpPr txBox="1"/>
          <p:nvPr/>
        </p:nvSpPr>
        <p:spPr>
          <a:xfrm>
            <a:off x="1425244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Peripherals 맞춤 제공</a:t>
            </a:r>
          </a:p>
        </p:txBody>
      </p:sp>
      <p:sp>
        <p:nvSpPr>
          <p:cNvPr id="45" name="TextBox 44"/>
          <p:cNvSpPr txBox="1"/>
          <p:nvPr/>
        </p:nvSpPr>
        <p:spPr>
          <a:xfrm>
            <a:off x="1364894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Cell은 공통,</a:t>
            </a:r>
          </a:p>
          <a:p>
            <a:pPr algn="l">
              <a:lnSpc>
                <a:spcPct val="100000"/>
              </a:lnSpc>
            </a:pPr>
            <a:r>
              <a:rPr sz="1800" b="0">
                <a:solidFill>
                  <a:srgbClr val="555555"/>
                </a:solidFill>
                <a:latin typeface="Arial"/>
                <a:ea typeface="Arial"/>
              </a:rPr>
              <a:t>Peri는 고객별 맞춤</a:t>
            </a:r>
          </a:p>
        </p:txBody>
      </p:sp>
      <p:sp>
        <p:nvSpPr>
          <p:cNvPr id="46" name="Rectangle 45"/>
          <p:cNvSpPr/>
          <p:nvPr/>
        </p:nvSpPr>
        <p:spPr>
          <a:xfrm>
            <a:off x="3877056" y="5907024"/>
            <a:ext cx="13688568" cy="5486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22376" y="5303520"/>
            <a:ext cx="3246120" cy="1261872"/>
          </a:xfrm>
          <a:prstGeom prst="roundRect">
            <a:avLst>
              <a:gd name="adj" fmla="val 5797"/>
            </a:avLst>
          </a:prstGeom>
          <a:solidFill>
            <a:srgbClr val="FFFFFF"/>
          </a:solidFill>
          <a:ln w="15875">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render_dram3d.png"/>
          <p:cNvPicPr>
            <a:picLocks noChangeAspect="1"/>
          </p:cNvPicPr>
          <p:nvPr/>
        </p:nvPicPr>
        <p:blipFill>
          <a:blip r:embed="rId9"/>
          <a:stretch>
            <a:fillRect/>
          </a:stretch>
        </p:blipFill>
        <p:spPr>
          <a:xfrm>
            <a:off x="832104" y="5595937"/>
            <a:ext cx="932688" cy="677036"/>
          </a:xfrm>
          <a:prstGeom prst="rect">
            <a:avLst/>
          </a:prstGeom>
        </p:spPr>
      </p:pic>
      <p:sp>
        <p:nvSpPr>
          <p:cNvPr id="49" name="TextBox 48"/>
          <p:cNvSpPr txBox="1"/>
          <p:nvPr/>
        </p:nvSpPr>
        <p:spPr>
          <a:xfrm>
            <a:off x="1874519" y="5340096"/>
            <a:ext cx="2039111" cy="1188719"/>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2</a:t>
            </a:r>
          </a:p>
          <a:p>
            <a:pPr algn="l">
              <a:lnSpc>
                <a:spcPct val="100000"/>
              </a:lnSpc>
            </a:pPr>
            <a:r>
              <a:rPr sz="2000" b="1">
                <a:solidFill>
                  <a:srgbClr val="1A1A1A"/>
                </a:solidFill>
                <a:latin typeface="Arial"/>
                <a:ea typeface="Arial"/>
              </a:rPr>
              <a:t>고객 맞춤형</a:t>
            </a:r>
          </a:p>
          <a:p>
            <a:pPr algn="l">
              <a:lnSpc>
                <a:spcPct val="100000"/>
              </a:lnSpc>
            </a:pPr>
            <a:r>
              <a:rPr sz="2000" b="1">
                <a:solidFill>
                  <a:srgbClr val="1A1A1A"/>
                </a:solidFill>
                <a:latin typeface="Arial"/>
                <a:ea typeface="Arial"/>
              </a:rPr>
              <a:t>차세대 메모리</a:t>
            </a:r>
          </a:p>
          <a:p>
            <a:pPr algn="l">
              <a:lnSpc>
                <a:spcPct val="100000"/>
              </a:lnSpc>
            </a:pPr>
            <a:r>
              <a:rPr sz="2000" b="1">
                <a:solidFill>
                  <a:srgbClr val="1A1A1A"/>
                </a:solidFill>
                <a:latin typeface="Arial"/>
                <a:ea typeface="Arial"/>
              </a:rPr>
              <a:t>개발</a:t>
            </a:r>
          </a:p>
        </p:txBody>
      </p:sp>
      <p:sp>
        <p:nvSpPr>
          <p:cNvPr id="50" name="Rounded Rectangle 49"/>
          <p:cNvSpPr/>
          <p:nvPr/>
        </p:nvSpPr>
        <p:spPr>
          <a:xfrm>
            <a:off x="4352544" y="5303520"/>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cpu-2_blue.png"/>
          <p:cNvPicPr>
            <a:picLocks noChangeAspect="1"/>
          </p:cNvPicPr>
          <p:nvPr/>
        </p:nvPicPr>
        <p:blipFill>
          <a:blip r:embed="rId10"/>
          <a:stretch>
            <a:fillRect/>
          </a:stretch>
        </p:blipFill>
        <p:spPr>
          <a:xfrm>
            <a:off x="4517136" y="5449824"/>
            <a:ext cx="493776" cy="493776"/>
          </a:xfrm>
          <a:prstGeom prst="rect">
            <a:avLst/>
          </a:prstGeom>
        </p:spPr>
      </p:pic>
      <p:sp>
        <p:nvSpPr>
          <p:cNvPr id="52" name="TextBox 51"/>
          <p:cNvSpPr txBox="1"/>
          <p:nvPr/>
        </p:nvSpPr>
        <p:spPr>
          <a:xfrm>
            <a:off x="513892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로직 IP 역량 전환</a:t>
            </a:r>
          </a:p>
        </p:txBody>
      </p:sp>
      <p:sp>
        <p:nvSpPr>
          <p:cNvPr id="53" name="TextBox 52"/>
          <p:cNvSpPr txBox="1"/>
          <p:nvPr/>
        </p:nvSpPr>
        <p:spPr>
          <a:xfrm>
            <a:off x="453542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설계 역량 · 자원을</a:t>
            </a:r>
          </a:p>
          <a:p>
            <a:pPr algn="l">
              <a:lnSpc>
                <a:spcPct val="100000"/>
              </a:lnSpc>
            </a:pPr>
            <a:r>
              <a:rPr sz="1800" b="0">
                <a:solidFill>
                  <a:srgbClr val="555555"/>
                </a:solidFill>
                <a:latin typeface="Arial"/>
                <a:ea typeface="Arial"/>
              </a:rPr>
              <a:t>메모리 로직 IP로</a:t>
            </a:r>
          </a:p>
        </p:txBody>
      </p:sp>
      <p:sp>
        <p:nvSpPr>
          <p:cNvPr id="54" name="Rounded Rectangle 53"/>
          <p:cNvSpPr/>
          <p:nvPr/>
        </p:nvSpPr>
        <p:spPr>
          <a:xfrm>
            <a:off x="8909304" y="5303520"/>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hield-check_blue.png"/>
          <p:cNvPicPr>
            <a:picLocks noChangeAspect="1"/>
          </p:cNvPicPr>
          <p:nvPr/>
        </p:nvPicPr>
        <p:blipFill>
          <a:blip r:embed="rId11"/>
          <a:stretch>
            <a:fillRect/>
          </a:stretch>
        </p:blipFill>
        <p:spPr>
          <a:xfrm>
            <a:off x="9073896" y="5449824"/>
            <a:ext cx="493776" cy="493776"/>
          </a:xfrm>
          <a:prstGeom prst="rect">
            <a:avLst/>
          </a:prstGeom>
        </p:spPr>
      </p:pic>
      <p:sp>
        <p:nvSpPr>
          <p:cNvPr id="56" name="TextBox 55"/>
          <p:cNvSpPr txBox="1"/>
          <p:nvPr/>
        </p:nvSpPr>
        <p:spPr>
          <a:xfrm>
            <a:off x="969568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검증된 품질 · 적기 공급</a:t>
            </a:r>
          </a:p>
        </p:txBody>
      </p:sp>
      <p:sp>
        <p:nvSpPr>
          <p:cNvPr id="57" name="TextBox 56"/>
          <p:cNvSpPr txBox="1"/>
          <p:nvPr/>
        </p:nvSpPr>
        <p:spPr>
          <a:xfrm>
            <a:off x="909218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양산으로 검증된 품질을</a:t>
            </a:r>
          </a:p>
          <a:p>
            <a:pPr algn="l">
              <a:lnSpc>
                <a:spcPct val="100000"/>
              </a:lnSpc>
            </a:pPr>
            <a:r>
              <a:rPr sz="1800" b="0">
                <a:solidFill>
                  <a:srgbClr val="555555"/>
                </a:solidFill>
                <a:latin typeface="Arial"/>
                <a:ea typeface="Arial"/>
              </a:rPr>
              <a:t>제때 공급</a:t>
            </a:r>
          </a:p>
        </p:txBody>
      </p:sp>
      <p:sp>
        <p:nvSpPr>
          <p:cNvPr id="58" name="Rounded Rectangle 57"/>
          <p:cNvSpPr/>
          <p:nvPr/>
        </p:nvSpPr>
        <p:spPr>
          <a:xfrm>
            <a:off x="13466064" y="5303520"/>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puzzle_blue.png"/>
          <p:cNvPicPr>
            <a:picLocks noChangeAspect="1"/>
          </p:cNvPicPr>
          <p:nvPr/>
        </p:nvPicPr>
        <p:blipFill>
          <a:blip r:embed="rId12"/>
          <a:stretch>
            <a:fillRect/>
          </a:stretch>
        </p:blipFill>
        <p:spPr>
          <a:xfrm>
            <a:off x="13630656" y="5449824"/>
            <a:ext cx="493776" cy="493776"/>
          </a:xfrm>
          <a:prstGeom prst="rect">
            <a:avLst/>
          </a:prstGeom>
        </p:spPr>
      </p:pic>
      <p:sp>
        <p:nvSpPr>
          <p:cNvPr id="60" name="TextBox 59"/>
          <p:cNvSpPr txBox="1"/>
          <p:nvPr/>
        </p:nvSpPr>
        <p:spPr>
          <a:xfrm>
            <a:off x="1425244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Custom Logic 협업</a:t>
            </a:r>
          </a:p>
        </p:txBody>
      </p:sp>
      <p:sp>
        <p:nvSpPr>
          <p:cNvPr id="61" name="TextBox 60"/>
          <p:cNvSpPr txBox="1"/>
          <p:nvPr/>
        </p:nvSpPr>
        <p:spPr>
          <a:xfrm>
            <a:off x="1364894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가속기별 로직을</a:t>
            </a:r>
          </a:p>
          <a:p>
            <a:pPr algn="l">
              <a:lnSpc>
                <a:spcPct val="100000"/>
              </a:lnSpc>
            </a:pPr>
            <a:r>
              <a:rPr sz="1800" b="0">
                <a:solidFill>
                  <a:srgbClr val="555555"/>
                </a:solidFill>
                <a:latin typeface="Arial"/>
                <a:ea typeface="Arial"/>
              </a:rPr>
              <a:t>고객과 함께 설계</a:t>
            </a:r>
          </a:p>
        </p:txBody>
      </p:sp>
      <p:sp>
        <p:nvSpPr>
          <p:cNvPr id="62" name="Rectangle 61"/>
          <p:cNvSpPr/>
          <p:nvPr/>
        </p:nvSpPr>
        <p:spPr>
          <a:xfrm>
            <a:off x="3877056" y="7260336"/>
            <a:ext cx="13688568" cy="5486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722376" y="6656832"/>
            <a:ext cx="3246120" cy="1261872"/>
          </a:xfrm>
          <a:prstGeom prst="roundRect">
            <a:avLst>
              <a:gd name="adj" fmla="val 5797"/>
            </a:avLst>
          </a:prstGeom>
          <a:solidFill>
            <a:srgbClr val="FFFFFF"/>
          </a:solidFill>
          <a:ln w="15875">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render_ssd.png"/>
          <p:cNvPicPr>
            <a:picLocks noChangeAspect="1"/>
          </p:cNvPicPr>
          <p:nvPr/>
        </p:nvPicPr>
        <p:blipFill>
          <a:blip r:embed="rId13"/>
          <a:stretch>
            <a:fillRect/>
          </a:stretch>
        </p:blipFill>
        <p:spPr>
          <a:xfrm>
            <a:off x="832104" y="6822747"/>
            <a:ext cx="932688" cy="346288"/>
          </a:xfrm>
          <a:prstGeom prst="rect">
            <a:avLst/>
          </a:prstGeom>
        </p:spPr>
      </p:pic>
      <p:pic>
        <p:nvPicPr>
          <p:cNvPr id="65" name="Picture 64" descr="render_server.png"/>
          <p:cNvPicPr>
            <a:picLocks noChangeAspect="1"/>
          </p:cNvPicPr>
          <p:nvPr/>
        </p:nvPicPr>
        <p:blipFill>
          <a:blip r:embed="rId14"/>
          <a:stretch>
            <a:fillRect/>
          </a:stretch>
        </p:blipFill>
        <p:spPr>
          <a:xfrm>
            <a:off x="864638" y="7298375"/>
            <a:ext cx="867619" cy="510600"/>
          </a:xfrm>
          <a:prstGeom prst="rect">
            <a:avLst/>
          </a:prstGeom>
        </p:spPr>
      </p:pic>
      <p:sp>
        <p:nvSpPr>
          <p:cNvPr id="66" name="TextBox 65"/>
          <p:cNvSpPr txBox="1"/>
          <p:nvPr/>
        </p:nvSpPr>
        <p:spPr>
          <a:xfrm>
            <a:off x="1874519" y="6693408"/>
            <a:ext cx="2039111" cy="1188719"/>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3</a:t>
            </a:r>
          </a:p>
          <a:p>
            <a:pPr algn="l">
              <a:lnSpc>
                <a:spcPct val="100000"/>
              </a:lnSpc>
            </a:pPr>
            <a:r>
              <a:rPr sz="2000" b="1">
                <a:solidFill>
                  <a:srgbClr val="1A1A1A"/>
                </a:solidFill>
                <a:latin typeface="Arial"/>
                <a:ea typeface="Arial"/>
              </a:rPr>
              <a:t>고객 시스템을</a:t>
            </a:r>
          </a:p>
          <a:p>
            <a:pPr algn="l">
              <a:lnSpc>
                <a:spcPct val="100000"/>
              </a:lnSpc>
            </a:pPr>
            <a:r>
              <a:rPr sz="2000" b="1">
                <a:solidFill>
                  <a:srgbClr val="1A1A1A"/>
                </a:solidFill>
                <a:latin typeface="Arial"/>
                <a:ea typeface="Arial"/>
              </a:rPr>
              <a:t>고려한 스토리지</a:t>
            </a:r>
          </a:p>
          <a:p>
            <a:pPr algn="l">
              <a:lnSpc>
                <a:spcPct val="100000"/>
              </a:lnSpc>
            </a:pPr>
            <a:r>
              <a:rPr sz="2000" b="1">
                <a:solidFill>
                  <a:srgbClr val="1A1A1A"/>
                </a:solidFill>
                <a:latin typeface="Arial"/>
                <a:ea typeface="Arial"/>
              </a:rPr>
              <a:t>개발</a:t>
            </a:r>
          </a:p>
        </p:txBody>
      </p:sp>
      <p:sp>
        <p:nvSpPr>
          <p:cNvPr id="67" name="Rounded Rectangle 66"/>
          <p:cNvSpPr/>
          <p:nvPr/>
        </p:nvSpPr>
        <p:spPr>
          <a:xfrm>
            <a:off x="4352544" y="6656832"/>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radar_blue.png"/>
          <p:cNvPicPr>
            <a:picLocks noChangeAspect="1"/>
          </p:cNvPicPr>
          <p:nvPr/>
        </p:nvPicPr>
        <p:blipFill>
          <a:blip r:embed="rId15"/>
          <a:stretch>
            <a:fillRect/>
          </a:stretch>
        </p:blipFill>
        <p:spPr>
          <a:xfrm>
            <a:off x="4517136" y="6803136"/>
            <a:ext cx="493776" cy="493776"/>
          </a:xfrm>
          <a:prstGeom prst="rect">
            <a:avLst/>
          </a:prstGeom>
        </p:spPr>
      </p:pic>
      <p:sp>
        <p:nvSpPr>
          <p:cNvPr id="69" name="TextBox 68"/>
          <p:cNvSpPr txBox="1"/>
          <p:nvPr/>
        </p:nvSpPr>
        <p:spPr>
          <a:xfrm>
            <a:off x="513892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기술 변화 조기 센싱</a:t>
            </a:r>
          </a:p>
        </p:txBody>
      </p:sp>
      <p:sp>
        <p:nvSpPr>
          <p:cNvPr id="70" name="TextBox 69"/>
          <p:cNvSpPr txBox="1"/>
          <p:nvPr/>
        </p:nvSpPr>
        <p:spPr>
          <a:xfrm>
            <a:off x="453542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고객과 먼저 감지하고</a:t>
            </a:r>
          </a:p>
          <a:p>
            <a:pPr algn="l">
              <a:lnSpc>
                <a:spcPct val="100000"/>
              </a:lnSpc>
            </a:pPr>
            <a:r>
              <a:rPr sz="1800" b="0">
                <a:solidFill>
                  <a:srgbClr val="555555"/>
                </a:solidFill>
                <a:latin typeface="Arial"/>
                <a:ea typeface="Arial"/>
              </a:rPr>
              <a:t>차세대 수요를 함께 설계</a:t>
            </a:r>
          </a:p>
        </p:txBody>
      </p:sp>
      <p:sp>
        <p:nvSpPr>
          <p:cNvPr id="71" name="Rounded Rectangle 70"/>
          <p:cNvSpPr/>
          <p:nvPr/>
        </p:nvSpPr>
        <p:spPr>
          <a:xfrm>
            <a:off x="8909304" y="6656832"/>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sitemap_blue.png"/>
          <p:cNvPicPr>
            <a:picLocks noChangeAspect="1"/>
          </p:cNvPicPr>
          <p:nvPr/>
        </p:nvPicPr>
        <p:blipFill>
          <a:blip r:embed="rId16"/>
          <a:stretch>
            <a:fillRect/>
          </a:stretch>
        </p:blipFill>
        <p:spPr>
          <a:xfrm>
            <a:off x="9073896" y="6803136"/>
            <a:ext cx="493776" cy="493776"/>
          </a:xfrm>
          <a:prstGeom prst="rect">
            <a:avLst/>
          </a:prstGeom>
        </p:spPr>
      </p:pic>
      <p:sp>
        <p:nvSpPr>
          <p:cNvPr id="73" name="TextBox 72"/>
          <p:cNvSpPr txBox="1"/>
          <p:nvPr/>
        </p:nvSpPr>
        <p:spPr>
          <a:xfrm>
            <a:off x="969568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시스템 지식 확장</a:t>
            </a:r>
          </a:p>
        </p:txBody>
      </p:sp>
      <p:sp>
        <p:nvSpPr>
          <p:cNvPr id="74" name="TextBox 73"/>
          <p:cNvSpPr txBox="1"/>
          <p:nvPr/>
        </p:nvSpPr>
        <p:spPr>
          <a:xfrm>
            <a:off x="909218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워크로드 연구로</a:t>
            </a:r>
          </a:p>
          <a:p>
            <a:pPr algn="l">
              <a:lnSpc>
                <a:spcPct val="100000"/>
              </a:lnSpc>
            </a:pPr>
            <a:r>
              <a:rPr sz="1800" b="0">
                <a:solidFill>
                  <a:srgbClr val="555555"/>
                </a:solidFill>
                <a:latin typeface="Arial"/>
                <a:ea typeface="Arial"/>
              </a:rPr>
              <a:t>NAND · SSD에서 서버까지</a:t>
            </a:r>
          </a:p>
        </p:txBody>
      </p:sp>
      <p:sp>
        <p:nvSpPr>
          <p:cNvPr id="75" name="Rounded Rectangle 74"/>
          <p:cNvSpPr/>
          <p:nvPr/>
        </p:nvSpPr>
        <p:spPr>
          <a:xfrm>
            <a:off x="13466064" y="6656832"/>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pencil-cog_blue.png"/>
          <p:cNvPicPr>
            <a:picLocks noChangeAspect="1"/>
          </p:cNvPicPr>
          <p:nvPr/>
        </p:nvPicPr>
        <p:blipFill>
          <a:blip r:embed="rId17"/>
          <a:stretch>
            <a:fillRect/>
          </a:stretch>
        </p:blipFill>
        <p:spPr>
          <a:xfrm>
            <a:off x="13630656" y="6803136"/>
            <a:ext cx="493776" cy="493776"/>
          </a:xfrm>
          <a:prstGeom prst="rect">
            <a:avLst/>
          </a:prstGeom>
        </p:spPr>
      </p:pic>
      <p:sp>
        <p:nvSpPr>
          <p:cNvPr id="77" name="TextBox 76"/>
          <p:cNvSpPr txBox="1"/>
          <p:nvPr/>
        </p:nvSpPr>
        <p:spPr>
          <a:xfrm>
            <a:off x="1425244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SSD · 서버 공동 설계</a:t>
            </a:r>
          </a:p>
        </p:txBody>
      </p:sp>
      <p:sp>
        <p:nvSpPr>
          <p:cNvPr id="78" name="TextBox 77"/>
          <p:cNvSpPr txBox="1"/>
          <p:nvPr/>
        </p:nvSpPr>
        <p:spPr>
          <a:xfrm>
            <a:off x="1364894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AI 수요에 맞춰</a:t>
            </a:r>
          </a:p>
          <a:p>
            <a:pPr algn="l">
              <a:lnSpc>
                <a:spcPct val="100000"/>
              </a:lnSpc>
            </a:pPr>
            <a:r>
              <a:rPr sz="1800" b="0">
                <a:solidFill>
                  <a:srgbClr val="555555"/>
                </a:solidFill>
                <a:latin typeface="Arial"/>
                <a:ea typeface="Arial"/>
              </a:rPr>
              <a:t>기능과 구조를 함께 설계</a:t>
            </a:r>
          </a:p>
        </p:txBody>
      </p:sp>
      <p:sp>
        <p:nvSpPr>
          <p:cNvPr id="79" name="Rectangle 78"/>
          <p:cNvSpPr/>
          <p:nvPr/>
        </p:nvSpPr>
        <p:spPr>
          <a:xfrm>
            <a:off x="4005072" y="7991856"/>
            <a:ext cx="13560552"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840480" y="8119872"/>
            <a:ext cx="13725144" cy="512064"/>
          </a:xfrm>
          <a:prstGeom prst="rect">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840480" y="8119872"/>
            <a:ext cx="13725144" cy="512064"/>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토대: 수요 예측</a:t>
            </a:r>
            <a:r>
              <a:rPr sz="1800" b="0">
                <a:solidFill>
                  <a:srgbClr val="555555"/>
                </a:solidFill>
                <a:latin typeface="Arial"/>
                <a:ea typeface="Arial"/>
              </a:rPr>
              <a:t>    필요하지만, 예측 하나만으로는 불확실성에 대응할 수 없습니다</a:t>
            </a:r>
          </a:p>
        </p:txBody>
      </p:sp>
      <p:sp>
        <p:nvSpPr>
          <p:cNvPr id="82" name="Rectangle 81"/>
          <p:cNvSpPr/>
          <p:nvPr/>
        </p:nvSpPr>
        <p:spPr>
          <a:xfrm>
            <a:off x="722376" y="8778240"/>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3-C</a:t>
            </a:r>
          </a:p>
        </p:txBody>
      </p:sp>
      <p:sp>
        <p:nvSpPr>
          <p:cNvPr id="84" name="TextBox 83"/>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전환하고, 기술은 연속성 있게 쌓고, 미래는 고객과 함께 설계합니다</a:t>
            </a:r>
          </a:p>
        </p:txBody>
      </p:sp>
      <p:sp>
        <p:nvSpPr>
          <p:cNvPr id="85" name="TextBox 84"/>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개념도로 수치 주장은 담지 않음.</a:t>
            </a:r>
          </a:p>
          <a:p>
            <a:pPr algn="l">
              <a:lnSpc>
                <a:spcPct val="105000"/>
              </a:lnSpc>
            </a:pPr>
            <a:r>
              <a:rPr sz="1500" b="0">
                <a:solidFill>
                  <a:srgbClr val="555555"/>
                </a:solidFill>
                <a:latin typeface="Arial"/>
                <a:ea typeface="Arial"/>
              </a:rPr>
              <a:t>전략 1 사진: Samsung Semiconductor FMS 2026 전시(V10 Bonding V-NAND). 3D DRAM · SSD · 서버는 3D 렌더(개념), 아이콘 Tabler Icons(MIT).</a:t>
            </a:r>
          </a:p>
        </p:txBody>
      </p:sp>
      <p:sp>
        <p:nvSpPr>
          <p:cNvPr id="86" name="TextBox 85"/>
          <p:cNvSpPr txBox="1"/>
          <p:nvPr/>
        </p:nvSpPr>
        <p:spPr>
          <a:xfrm>
            <a:off x="16102584" y="9601200"/>
            <a:ext cx="146304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