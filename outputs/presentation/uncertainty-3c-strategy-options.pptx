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[시안 A 도해형] 칸마다 왼쪽 그림이 작동 원리입니다. 전략 1은 한 라인을 DRAM과 NAND가 나눠 쓰고 경계가 움직이는 그림(C1), 검증된 Cell 자산이 새 제품의 Cell 층으로 그대로 들어가는 그림(C2), 공통 Cell 아래 고객별 Peri를 붙이는 그림(C3)입니다. 전략 2는 메모리 설계 자원이 로직 IP로 바뀌는 그림, 검증 품질과 적기 공급 마일스톤, 가속기별로 Base Die 로직이 다른 HBM 그림입니다. 전략 3은 고객 변화를 먼저 감지하는 그림, NAND에서 SSD, 서버로 오르는 계단, 삼성과 고객이 함께 서버 구조를 설계하는 그림입니다.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[시안 B 아이콘 키워드형] 왼쪽은 이 체계가 왜 필요한지입니다. 위 그림은 개념도로, 지금 이후 수요는 예측선 하나가 아니라 넓어지는 범위 안 어디로든 갈 수 있음을 보입니다. 그래서 예측 하나에 걸지 않고 자원 · 기술 · 고객 세 꼭짓점을 하나의 체계로 묶습니다. 오른쪽 매트릭스는 세 전략이 각 C에서 무엇을 하는지 아이콘과 키워드로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[시안 C 기둥 구조형] 건물 그림으로 읽습니다. 맨 아래 토대가 수요 예측입니다. 필요하지만 그것만으로는 불확실성을 버틸 수 없습니다. 그 위에 자원 전환(C1), 기술 축적(C2), 고객과 공동 설계(C3) 세 기둥을 세우고, 세 기둥이 함께 전체 최적화 체계라는 지붕을 받칩니다. 세 전략은 세 기둥을 모두 가로지르는 들보입니다. 어느 전략도 한 기둥에만 기대지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10.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13.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7.png"/><Relationship Id="rId11" Type="http://schemas.openxmlformats.org/officeDocument/2006/relationships/image" Target="../media/image19.png"/><Relationship Id="rId12" Type="http://schemas.openxmlformats.org/officeDocument/2006/relationships/image" Target="../media/image10.png"/><Relationship Id="rId13" Type="http://schemas.openxmlformats.org/officeDocument/2006/relationships/image" Target="../media/image20.png"/><Relationship Id="rId14" Type="http://schemas.openxmlformats.org/officeDocument/2006/relationships/image" Target="../media/image11.png"/><Relationship Id="rId15" Type="http://schemas.openxmlformats.org/officeDocument/2006/relationships/image" Target="../media/image12.png"/><Relationship Id="rId16" Type="http://schemas.openxmlformats.org/officeDocument/2006/relationships/image" Target="../media/image13.png"/><Relationship Id="rId17" Type="http://schemas.openxmlformats.org/officeDocument/2006/relationships/image" Target="../media/image22.png"/><Relationship Id="rId18" Type="http://schemas.openxmlformats.org/officeDocument/2006/relationships/image" Target="../media/image23.png"/><Relationship Id="rId19"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A  도해형 매트릭스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3657600" cy="804672"/>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8" name="Rectangle 7"/>
          <p:cNvSpPr/>
          <p:nvPr/>
        </p:nvSpPr>
        <p:spPr>
          <a:xfrm>
            <a:off x="722376" y="2990088"/>
            <a:ext cx="3657600"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62856"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rrows-exchange_white.png"/>
          <p:cNvPicPr>
            <a:picLocks noChangeAspect="1"/>
          </p:cNvPicPr>
          <p:nvPr/>
        </p:nvPicPr>
        <p:blipFill>
          <a:blip r:embed="rId2"/>
          <a:stretch>
            <a:fillRect/>
          </a:stretch>
        </p:blipFill>
        <p:spPr>
          <a:xfrm>
            <a:off x="4723790" y="2355494"/>
            <a:ext cx="409651" cy="409651"/>
          </a:xfrm>
          <a:prstGeom prst="rect">
            <a:avLst/>
          </a:prstGeom>
        </p:spPr>
      </p:pic>
      <p:sp>
        <p:nvSpPr>
          <p:cNvPr id="11" name="TextBox 10"/>
          <p:cNvSpPr txBox="1"/>
          <p:nvPr/>
        </p:nvSpPr>
        <p:spPr>
          <a:xfrm>
            <a:off x="5440680"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C1 </a:t>
            </a:r>
            <a:r>
              <a:rPr sz="2400" b="1">
                <a:solidFill>
                  <a:srgbClr val="1A1A1A"/>
                </a:solidFill>
                <a:latin typeface="Arial"/>
                <a:ea typeface="Arial"/>
              </a:rPr>
              <a:t>Convertibility</a:t>
            </a:r>
          </a:p>
          <a:p>
            <a:pPr algn="l">
              <a:lnSpc>
                <a:spcPct val="110000"/>
              </a:lnSpc>
            </a:pPr>
            <a:r>
              <a:rPr sz="2000" b="0">
                <a:solidFill>
                  <a:srgbClr val="555555"/>
                </a:solidFill>
                <a:latin typeface="Arial"/>
                <a:ea typeface="Arial"/>
              </a:rPr>
              <a:t>자원의 유연한 전환</a:t>
            </a:r>
          </a:p>
        </p:txBody>
      </p:sp>
      <p:sp>
        <p:nvSpPr>
          <p:cNvPr id="12" name="Rectangle 11"/>
          <p:cNvSpPr/>
          <p:nvPr/>
        </p:nvSpPr>
        <p:spPr>
          <a:xfrm>
            <a:off x="4526280"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958072"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tack-push_white.png"/>
          <p:cNvPicPr>
            <a:picLocks noChangeAspect="1"/>
          </p:cNvPicPr>
          <p:nvPr/>
        </p:nvPicPr>
        <p:blipFill>
          <a:blip r:embed="rId3"/>
          <a:stretch>
            <a:fillRect/>
          </a:stretch>
        </p:blipFill>
        <p:spPr>
          <a:xfrm>
            <a:off x="9119006" y="2355494"/>
            <a:ext cx="409651" cy="409651"/>
          </a:xfrm>
          <a:prstGeom prst="rect">
            <a:avLst/>
          </a:prstGeom>
        </p:spPr>
      </p:pic>
      <p:sp>
        <p:nvSpPr>
          <p:cNvPr id="15" name="TextBox 14"/>
          <p:cNvSpPr txBox="1"/>
          <p:nvPr/>
        </p:nvSpPr>
        <p:spPr>
          <a:xfrm>
            <a:off x="9835896"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C2 </a:t>
            </a:r>
            <a:r>
              <a:rPr sz="2400" b="1">
                <a:solidFill>
                  <a:srgbClr val="1A1A1A"/>
                </a:solidFill>
                <a:latin typeface="Arial"/>
                <a:ea typeface="Arial"/>
              </a:rPr>
              <a:t>Continuity</a:t>
            </a:r>
          </a:p>
          <a:p>
            <a:pPr algn="l">
              <a:lnSpc>
                <a:spcPct val="110000"/>
              </a:lnSpc>
            </a:pPr>
            <a:r>
              <a:rPr sz="2000" b="0">
                <a:solidFill>
                  <a:srgbClr val="555555"/>
                </a:solidFill>
                <a:latin typeface="Arial"/>
                <a:ea typeface="Arial"/>
              </a:rPr>
              <a:t>연속성 있는 기술 축적</a:t>
            </a:r>
          </a:p>
        </p:txBody>
      </p:sp>
      <p:sp>
        <p:nvSpPr>
          <p:cNvPr id="16" name="Rectangle 15"/>
          <p:cNvSpPr/>
          <p:nvPr/>
        </p:nvSpPr>
        <p:spPr>
          <a:xfrm>
            <a:off x="8921496"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3353288"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rt-handshake_white.png"/>
          <p:cNvPicPr>
            <a:picLocks noChangeAspect="1"/>
          </p:cNvPicPr>
          <p:nvPr/>
        </p:nvPicPr>
        <p:blipFill>
          <a:blip r:embed="rId4"/>
          <a:stretch>
            <a:fillRect/>
          </a:stretch>
        </p:blipFill>
        <p:spPr>
          <a:xfrm>
            <a:off x="13514222" y="2355494"/>
            <a:ext cx="409651" cy="409651"/>
          </a:xfrm>
          <a:prstGeom prst="rect">
            <a:avLst/>
          </a:prstGeom>
        </p:spPr>
      </p:pic>
      <p:sp>
        <p:nvSpPr>
          <p:cNvPr id="19" name="TextBox 18"/>
          <p:cNvSpPr txBox="1"/>
          <p:nvPr/>
        </p:nvSpPr>
        <p:spPr>
          <a:xfrm>
            <a:off x="14231112"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C3 </a:t>
            </a:r>
            <a:r>
              <a:rPr sz="2400" b="1">
                <a:solidFill>
                  <a:srgbClr val="1A1A1A"/>
                </a:solidFill>
                <a:latin typeface="Arial"/>
                <a:ea typeface="Arial"/>
              </a:rPr>
              <a:t>Co-Creation</a:t>
            </a:r>
          </a:p>
          <a:p>
            <a:pPr algn="l">
              <a:lnSpc>
                <a:spcPct val="110000"/>
              </a:lnSpc>
            </a:pPr>
            <a:r>
              <a:rPr sz="2000" b="0">
                <a:solidFill>
                  <a:srgbClr val="555555"/>
                </a:solidFill>
                <a:latin typeface="Arial"/>
                <a:ea typeface="Arial"/>
              </a:rPr>
              <a:t>고객과 함께 미래를 설계</a:t>
            </a:r>
          </a:p>
        </p:txBody>
      </p:sp>
      <p:sp>
        <p:nvSpPr>
          <p:cNvPr id="20" name="Rectangle 19"/>
          <p:cNvSpPr/>
          <p:nvPr/>
        </p:nvSpPr>
        <p:spPr>
          <a:xfrm>
            <a:off x="13316712"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3182112"/>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86968" y="3346704"/>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3346704"/>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1</a:t>
            </a:r>
          </a:p>
        </p:txBody>
      </p:sp>
      <p:sp>
        <p:nvSpPr>
          <p:cNvPr id="24" name="TextBox 23"/>
          <p:cNvSpPr txBox="1"/>
          <p:nvPr/>
        </p:nvSpPr>
        <p:spPr>
          <a:xfrm>
            <a:off x="886968" y="3785615"/>
            <a:ext cx="2286000"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Bonding 기반</a:t>
            </a:r>
          </a:p>
          <a:p>
            <a:pPr algn="l">
              <a:lnSpc>
                <a:spcPct val="100000"/>
              </a:lnSpc>
            </a:pPr>
            <a:r>
              <a:rPr sz="2000" b="1">
                <a:solidFill>
                  <a:srgbClr val="1A1A1A"/>
                </a:solidFill>
                <a:latin typeface="Arial"/>
                <a:ea typeface="Arial"/>
              </a:rPr>
              <a:t>DRAM · NAND</a:t>
            </a:r>
          </a:p>
          <a:p>
            <a:pPr algn="l">
              <a:lnSpc>
                <a:spcPct val="100000"/>
              </a:lnSpc>
            </a:pPr>
            <a:r>
              <a:rPr sz="2000" b="1">
                <a:solidFill>
                  <a:srgbClr val="1A1A1A"/>
                </a:solidFill>
                <a:latin typeface="Arial"/>
                <a:ea typeface="Arial"/>
              </a:rPr>
              <a:t>통합 제조</a:t>
            </a:r>
          </a:p>
        </p:txBody>
      </p:sp>
      <p:pic>
        <p:nvPicPr>
          <p:cNvPr id="25" name="Picture 24" descr="render_dram.png"/>
          <p:cNvPicPr>
            <a:picLocks noChangeAspect="1"/>
          </p:cNvPicPr>
          <p:nvPr/>
        </p:nvPicPr>
        <p:blipFill>
          <a:blip r:embed="rId5"/>
          <a:stretch>
            <a:fillRect/>
          </a:stretch>
        </p:blipFill>
        <p:spPr>
          <a:xfrm>
            <a:off x="3099816" y="3412262"/>
            <a:ext cx="1170432" cy="439469"/>
          </a:xfrm>
          <a:prstGeom prst="rect">
            <a:avLst/>
          </a:prstGeom>
        </p:spPr>
      </p:pic>
      <p:pic>
        <p:nvPicPr>
          <p:cNvPr id="26" name="Picture 25" descr="render_nand.png"/>
          <p:cNvPicPr>
            <a:picLocks noChangeAspect="1"/>
          </p:cNvPicPr>
          <p:nvPr/>
        </p:nvPicPr>
        <p:blipFill>
          <a:blip r:embed="rId6"/>
          <a:stretch>
            <a:fillRect/>
          </a:stretch>
        </p:blipFill>
        <p:spPr>
          <a:xfrm>
            <a:off x="3179815" y="4027017"/>
            <a:ext cx="1010432" cy="746150"/>
          </a:xfrm>
          <a:prstGeom prst="rect">
            <a:avLst/>
          </a:prstGeom>
        </p:spPr>
      </p:pic>
      <p:sp>
        <p:nvSpPr>
          <p:cNvPr id="27" name="Rounded Rectangle 26"/>
          <p:cNvSpPr/>
          <p:nvPr/>
        </p:nvSpPr>
        <p:spPr>
          <a:xfrm>
            <a:off x="4526280"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building-factory-2_blue.png"/>
          <p:cNvPicPr>
            <a:picLocks noChangeAspect="1"/>
          </p:cNvPicPr>
          <p:nvPr/>
        </p:nvPicPr>
        <p:blipFill>
          <a:blip r:embed="rId7"/>
          <a:stretch>
            <a:fillRect/>
          </a:stretch>
        </p:blipFill>
        <p:spPr>
          <a:xfrm>
            <a:off x="5321808" y="3337560"/>
            <a:ext cx="512064" cy="512064"/>
          </a:xfrm>
          <a:prstGeom prst="rect">
            <a:avLst/>
          </a:prstGeom>
        </p:spPr>
      </p:pic>
      <p:sp>
        <p:nvSpPr>
          <p:cNvPr id="29" name="TextBox 28"/>
          <p:cNvSpPr txBox="1"/>
          <p:nvPr/>
        </p:nvSpPr>
        <p:spPr>
          <a:xfrm>
            <a:off x="4672584" y="3886200"/>
            <a:ext cx="1810512"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공용 라인</a:t>
            </a:r>
          </a:p>
        </p:txBody>
      </p:sp>
      <p:sp>
        <p:nvSpPr>
          <p:cNvPr id="30" name="Rectangle 29"/>
          <p:cNvSpPr/>
          <p:nvPr/>
        </p:nvSpPr>
        <p:spPr>
          <a:xfrm>
            <a:off x="4672584" y="4178808"/>
            <a:ext cx="1013886" cy="38404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86470" y="4178808"/>
            <a:ext cx="796625" cy="38404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72584" y="4178808"/>
            <a:ext cx="1013886"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DRAM</a:t>
            </a:r>
          </a:p>
        </p:txBody>
      </p:sp>
      <p:sp>
        <p:nvSpPr>
          <p:cNvPr id="33" name="TextBox 32"/>
          <p:cNvSpPr txBox="1"/>
          <p:nvPr/>
        </p:nvSpPr>
        <p:spPr>
          <a:xfrm>
            <a:off x="5686470" y="4178808"/>
            <a:ext cx="796625" cy="384048"/>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NAND</a:t>
            </a:r>
          </a:p>
        </p:txBody>
      </p:sp>
      <p:sp>
        <p:nvSpPr>
          <p:cNvPr id="34" name="Left-Right Arrow 33"/>
          <p:cNvSpPr/>
          <p:nvPr/>
        </p:nvSpPr>
        <p:spPr>
          <a:xfrm>
            <a:off x="5393862" y="4599432"/>
            <a:ext cx="585216" cy="164592"/>
          </a:xfrm>
          <a:prstGeom prst="lef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01968"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0840"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제조라인 공용화</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수요에 따라</a:t>
            </a:r>
          </a:p>
          <a:p>
            <a:pPr algn="l">
              <a:lnSpc>
                <a:spcPct val="105000"/>
              </a:lnSpc>
            </a:pPr>
            <a:r>
              <a:rPr sz="1800" b="0">
                <a:solidFill>
                  <a:srgbClr val="555555"/>
                </a:solidFill>
                <a:latin typeface="Arial"/>
                <a:ea typeface="Arial"/>
              </a:rPr>
              <a:t>DRAM ↔ NAND</a:t>
            </a:r>
          </a:p>
        </p:txBody>
      </p:sp>
      <p:sp>
        <p:nvSpPr>
          <p:cNvPr id="37" name="Rounded Rectangle 36"/>
          <p:cNvSpPr/>
          <p:nvPr/>
        </p:nvSpPr>
        <p:spPr>
          <a:xfrm>
            <a:off x="8921496"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214104" y="3355848"/>
            <a:ext cx="786384" cy="731520"/>
          </a:xfrm>
          <a:prstGeom prst="roundRect">
            <a:avLst>
              <a:gd name="adj" fmla="val 1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140952" y="3429000"/>
            <a:ext cx="786384" cy="731520"/>
          </a:xfrm>
          <a:prstGeom prst="roundRect">
            <a:avLst>
              <a:gd name="adj" fmla="val 1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7800" y="3502152"/>
            <a:ext cx="786384" cy="731520"/>
          </a:xfrm>
          <a:prstGeom prst="roundRect">
            <a:avLst>
              <a:gd name="adj" fmla="val 10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22664" y="3502152"/>
            <a:ext cx="676656" cy="7315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Legacy</a:t>
            </a:r>
          </a:p>
          <a:p>
            <a:pPr algn="ctr">
              <a:lnSpc>
                <a:spcPct val="110000"/>
              </a:lnSpc>
            </a:pPr>
            <a:r>
              <a:rPr sz="1600" b="1">
                <a:solidFill>
                  <a:srgbClr val="1A1A1A"/>
                </a:solidFill>
                <a:latin typeface="Arial"/>
                <a:ea typeface="Arial"/>
              </a:rPr>
              <a:t>Cell</a:t>
            </a:r>
          </a:p>
        </p:txBody>
      </p:sp>
      <p:sp>
        <p:nvSpPr>
          <p:cNvPr id="42" name="TextBox 41"/>
          <p:cNvSpPr txBox="1"/>
          <p:nvPr/>
        </p:nvSpPr>
        <p:spPr>
          <a:xfrm>
            <a:off x="9022080" y="4361688"/>
            <a:ext cx="96926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검증 자산</a:t>
            </a:r>
          </a:p>
        </p:txBody>
      </p:sp>
      <p:sp>
        <p:nvSpPr>
          <p:cNvPr id="43" name="Right Arrow 42"/>
          <p:cNvSpPr/>
          <p:nvPr/>
        </p:nvSpPr>
        <p:spPr>
          <a:xfrm>
            <a:off x="10000488" y="3758184"/>
            <a:ext cx="23774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201656" y="3483864"/>
            <a:ext cx="676656"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56520" y="3483864"/>
            <a:ext cx="566928"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Cell</a:t>
            </a:r>
          </a:p>
        </p:txBody>
      </p:sp>
      <p:cxnSp>
        <p:nvCxnSpPr>
          <p:cNvPr id="46" name="Connector 45"/>
          <p:cNvCxnSpPr/>
          <p:nvPr/>
        </p:nvCxnSpPr>
        <p:spPr>
          <a:xfrm>
            <a:off x="10165080" y="3904487"/>
            <a:ext cx="749808" cy="0"/>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10201656" y="3959352"/>
            <a:ext cx="676656" cy="365760"/>
          </a:xfrm>
          <a:prstGeom prst="roundRect">
            <a:avLst>
              <a:gd name="adj" fmla="val 2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56520" y="3959352"/>
            <a:ext cx="56692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Peri</a:t>
            </a:r>
          </a:p>
        </p:txBody>
      </p:sp>
      <p:sp>
        <p:nvSpPr>
          <p:cNvPr id="49" name="TextBox 48"/>
          <p:cNvSpPr txBox="1"/>
          <p:nvPr/>
        </p:nvSpPr>
        <p:spPr>
          <a:xfrm>
            <a:off x="10018776" y="4361688"/>
            <a:ext cx="1042415"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Bonding</a:t>
            </a:r>
          </a:p>
        </p:txBody>
      </p:sp>
      <p:sp>
        <p:nvSpPr>
          <p:cNvPr id="50" name="Rectangle 49"/>
          <p:cNvSpPr/>
          <p:nvPr/>
        </p:nvSpPr>
        <p:spPr>
          <a:xfrm>
            <a:off x="10997184"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116056"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Legacy Cell</a:t>
            </a:r>
          </a:p>
          <a:p>
            <a:pPr algn="l">
              <a:lnSpc>
                <a:spcPct val="105000"/>
              </a:lnSpc>
            </a:pPr>
            <a:r>
              <a:rPr sz="2000" b="1">
                <a:solidFill>
                  <a:srgbClr val="1A1A1A"/>
                </a:solidFill>
                <a:latin typeface="Arial"/>
                <a:ea typeface="Arial"/>
              </a:rPr>
              <a:t>자산화</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검증된 Cell을</a:t>
            </a:r>
          </a:p>
          <a:p>
            <a:pPr algn="l">
              <a:lnSpc>
                <a:spcPct val="105000"/>
              </a:lnSpc>
            </a:pPr>
            <a:r>
              <a:rPr sz="1800" b="0">
                <a:solidFill>
                  <a:srgbClr val="555555"/>
                </a:solidFill>
                <a:latin typeface="Arial"/>
                <a:ea typeface="Arial"/>
              </a:rPr>
              <a:t>그대로 재활용</a:t>
            </a:r>
          </a:p>
        </p:txBody>
      </p:sp>
      <p:sp>
        <p:nvSpPr>
          <p:cNvPr id="52" name="Rounded Rectangle 51"/>
          <p:cNvSpPr/>
          <p:nvPr/>
        </p:nvSpPr>
        <p:spPr>
          <a:xfrm>
            <a:off x="13316712"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3463016" y="3374136"/>
            <a:ext cx="1810512" cy="365760"/>
          </a:xfrm>
          <a:prstGeom prst="roundRect">
            <a:avLst>
              <a:gd name="adj" fmla="val 2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3517880" y="3374136"/>
            <a:ext cx="1700784"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공통 Cell</a:t>
            </a:r>
          </a:p>
        </p:txBody>
      </p:sp>
      <p:cxnSp>
        <p:nvCxnSpPr>
          <p:cNvPr id="55" name="Connector 54"/>
          <p:cNvCxnSpPr/>
          <p:nvPr/>
        </p:nvCxnSpPr>
        <p:spPr>
          <a:xfrm>
            <a:off x="13734288"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13463016" y="3922776"/>
            <a:ext cx="542544"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3517880" y="3922776"/>
            <a:ext cx="432816"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a:t>
            </a:r>
          </a:p>
        </p:txBody>
      </p:sp>
      <p:cxnSp>
        <p:nvCxnSpPr>
          <p:cNvPr id="58" name="Connector 57"/>
          <p:cNvCxnSpPr/>
          <p:nvPr/>
        </p:nvCxnSpPr>
        <p:spPr>
          <a:xfrm>
            <a:off x="14368272"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14097000" y="3922776"/>
            <a:ext cx="542544" cy="365760"/>
          </a:xfrm>
          <a:prstGeom prst="roundRect">
            <a:avLst>
              <a:gd name="adj" fmla="val 20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4151864" y="3922776"/>
            <a:ext cx="432816"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B</a:t>
            </a:r>
          </a:p>
        </p:txBody>
      </p:sp>
      <p:cxnSp>
        <p:nvCxnSpPr>
          <p:cNvPr id="61" name="Connector 60"/>
          <p:cNvCxnSpPr/>
          <p:nvPr/>
        </p:nvCxnSpPr>
        <p:spPr>
          <a:xfrm>
            <a:off x="15002256"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14730984" y="3922776"/>
            <a:ext cx="542544" cy="365760"/>
          </a:xfrm>
          <a:prstGeom prst="roundRect">
            <a:avLst>
              <a:gd name="adj" fmla="val 2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4785848" y="3922776"/>
            <a:ext cx="432816"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a:t>
            </a:r>
          </a:p>
        </p:txBody>
      </p:sp>
      <p:sp>
        <p:nvSpPr>
          <p:cNvPr id="64" name="TextBox 63"/>
          <p:cNvSpPr txBox="1"/>
          <p:nvPr/>
        </p:nvSpPr>
        <p:spPr>
          <a:xfrm>
            <a:off x="13463016" y="4361688"/>
            <a:ext cx="181051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고객별 Peri</a:t>
            </a:r>
          </a:p>
        </p:txBody>
      </p:sp>
      <p:sp>
        <p:nvSpPr>
          <p:cNvPr id="65" name="Rectangle 64"/>
          <p:cNvSpPr/>
          <p:nvPr/>
        </p:nvSpPr>
        <p:spPr>
          <a:xfrm>
            <a:off x="15392400"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511272"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Peripherals</a:t>
            </a:r>
          </a:p>
          <a:p>
            <a:pPr algn="l">
              <a:lnSpc>
                <a:spcPct val="105000"/>
              </a:lnSpc>
            </a:pPr>
            <a:r>
              <a:rPr sz="2000" b="1">
                <a:solidFill>
                  <a:srgbClr val="1A1A1A"/>
                </a:solidFill>
                <a:latin typeface="Arial"/>
                <a:ea typeface="Arial"/>
              </a:rPr>
              <a:t>맞춤 제공</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Cell은 공통,</a:t>
            </a:r>
          </a:p>
          <a:p>
            <a:pPr algn="l">
              <a:lnSpc>
                <a:spcPct val="105000"/>
              </a:lnSpc>
            </a:pPr>
            <a:r>
              <a:rPr sz="1800" b="0">
                <a:solidFill>
                  <a:srgbClr val="555555"/>
                </a:solidFill>
                <a:latin typeface="Arial"/>
                <a:ea typeface="Arial"/>
              </a:rPr>
              <a:t>Peri는 고객별로</a:t>
            </a:r>
          </a:p>
        </p:txBody>
      </p:sp>
      <p:sp>
        <p:nvSpPr>
          <p:cNvPr id="67" name="Rounded Rectangle 66"/>
          <p:cNvSpPr/>
          <p:nvPr/>
        </p:nvSpPr>
        <p:spPr>
          <a:xfrm>
            <a:off x="722376" y="5029200"/>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86968" y="5193792"/>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41832" y="5193792"/>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2</a:t>
            </a:r>
          </a:p>
        </p:txBody>
      </p:sp>
      <p:sp>
        <p:nvSpPr>
          <p:cNvPr id="70" name="TextBox 69"/>
          <p:cNvSpPr txBox="1"/>
          <p:nvPr/>
        </p:nvSpPr>
        <p:spPr>
          <a:xfrm>
            <a:off x="886968" y="5632704"/>
            <a:ext cx="2286000"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고객 맞춤형</a:t>
            </a:r>
          </a:p>
          <a:p>
            <a:pPr algn="l">
              <a:lnSpc>
                <a:spcPct val="100000"/>
              </a:lnSpc>
            </a:pPr>
            <a:r>
              <a:rPr sz="2000" b="1">
                <a:solidFill>
                  <a:srgbClr val="1A1A1A"/>
                </a:solidFill>
                <a:latin typeface="Arial"/>
                <a:ea typeface="Arial"/>
              </a:rPr>
              <a:t>차세대 메모리</a:t>
            </a:r>
          </a:p>
          <a:p>
            <a:pPr algn="l">
              <a:lnSpc>
                <a:spcPct val="100000"/>
              </a:lnSpc>
            </a:pPr>
            <a:r>
              <a:rPr sz="2000" b="1">
                <a:solidFill>
                  <a:srgbClr val="1A1A1A"/>
                </a:solidFill>
                <a:latin typeface="Arial"/>
                <a:ea typeface="Arial"/>
              </a:rPr>
              <a:t>개발</a:t>
            </a:r>
          </a:p>
        </p:txBody>
      </p:sp>
      <p:pic>
        <p:nvPicPr>
          <p:cNvPr id="71" name="Picture 70" descr="render_hbm.png"/>
          <p:cNvPicPr>
            <a:picLocks noChangeAspect="1"/>
          </p:cNvPicPr>
          <p:nvPr/>
        </p:nvPicPr>
        <p:blipFill>
          <a:blip r:embed="rId8"/>
          <a:stretch>
            <a:fillRect/>
          </a:stretch>
        </p:blipFill>
        <p:spPr>
          <a:xfrm>
            <a:off x="3099816" y="5460811"/>
            <a:ext cx="1170432" cy="855849"/>
          </a:xfrm>
          <a:prstGeom prst="rect">
            <a:avLst/>
          </a:prstGeom>
        </p:spPr>
      </p:pic>
      <p:sp>
        <p:nvSpPr>
          <p:cNvPr id="72" name="Rounded Rectangle 71"/>
          <p:cNvSpPr/>
          <p:nvPr/>
        </p:nvSpPr>
        <p:spPr>
          <a:xfrm>
            <a:off x="4526280"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4672584" y="5294376"/>
            <a:ext cx="713232" cy="713232"/>
          </a:xfrm>
          <a:prstGeom prst="roundRect">
            <a:avLst>
              <a:gd name="adj" fmla="val 10256"/>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800600"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965192"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129784"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800600"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65192"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129784"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800600"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65192"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129784"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3" name="Picture 82" descr="arrows-exchange_blue.png"/>
          <p:cNvPicPr>
            <a:picLocks noChangeAspect="1"/>
          </p:cNvPicPr>
          <p:nvPr/>
        </p:nvPicPr>
        <p:blipFill>
          <a:blip r:embed="rId9"/>
          <a:stretch>
            <a:fillRect/>
          </a:stretch>
        </p:blipFill>
        <p:spPr>
          <a:xfrm>
            <a:off x="5422392" y="5495544"/>
            <a:ext cx="310896" cy="310896"/>
          </a:xfrm>
          <a:prstGeom prst="rect">
            <a:avLst/>
          </a:prstGeom>
        </p:spPr>
      </p:pic>
      <p:sp>
        <p:nvSpPr>
          <p:cNvPr id="84" name="Oval 83"/>
          <p:cNvSpPr/>
          <p:nvPr/>
        </p:nvSpPr>
        <p:spPr>
          <a:xfrm>
            <a:off x="5769864" y="5294376"/>
            <a:ext cx="713232" cy="71323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cpu-2_white.png"/>
          <p:cNvPicPr>
            <a:picLocks noChangeAspect="1"/>
          </p:cNvPicPr>
          <p:nvPr/>
        </p:nvPicPr>
        <p:blipFill>
          <a:blip r:embed="rId10"/>
          <a:stretch>
            <a:fillRect/>
          </a:stretch>
        </p:blipFill>
        <p:spPr>
          <a:xfrm>
            <a:off x="5912510" y="5437022"/>
            <a:ext cx="427939" cy="427939"/>
          </a:xfrm>
          <a:prstGeom prst="rect">
            <a:avLst/>
          </a:prstGeom>
        </p:spPr>
      </p:pic>
      <p:sp>
        <p:nvSpPr>
          <p:cNvPr id="86" name="TextBox 85"/>
          <p:cNvSpPr txBox="1"/>
          <p:nvPr/>
        </p:nvSpPr>
        <p:spPr>
          <a:xfrm>
            <a:off x="4562856" y="6080760"/>
            <a:ext cx="932688"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메모리</a:t>
            </a:r>
          </a:p>
        </p:txBody>
      </p:sp>
      <p:sp>
        <p:nvSpPr>
          <p:cNvPr id="87" name="TextBox 86"/>
          <p:cNvSpPr txBox="1"/>
          <p:nvPr/>
        </p:nvSpPr>
        <p:spPr>
          <a:xfrm>
            <a:off x="5660136" y="6080760"/>
            <a:ext cx="932688" cy="274320"/>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로직 IP</a:t>
            </a:r>
          </a:p>
        </p:txBody>
      </p:sp>
      <p:sp>
        <p:nvSpPr>
          <p:cNvPr id="88" name="Rectangle 87"/>
          <p:cNvSpPr/>
          <p:nvPr/>
        </p:nvSpPr>
        <p:spPr>
          <a:xfrm>
            <a:off x="6601968"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20840"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로직 IP</a:t>
            </a:r>
          </a:p>
          <a:p>
            <a:pPr algn="l">
              <a:lnSpc>
                <a:spcPct val="105000"/>
              </a:lnSpc>
            </a:pPr>
            <a:r>
              <a:rPr sz="2000" b="1">
                <a:solidFill>
                  <a:srgbClr val="1A1A1A"/>
                </a:solidFill>
                <a:latin typeface="Arial"/>
                <a:ea typeface="Arial"/>
              </a:rPr>
              <a:t>역량 전환</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역량 · 자원을</a:t>
            </a:r>
          </a:p>
          <a:p>
            <a:pPr algn="l">
              <a:lnSpc>
                <a:spcPct val="105000"/>
              </a:lnSpc>
            </a:pPr>
            <a:r>
              <a:rPr sz="1800" b="0">
                <a:solidFill>
                  <a:srgbClr val="555555"/>
                </a:solidFill>
                <a:latin typeface="Arial"/>
                <a:ea typeface="Arial"/>
              </a:rPr>
              <a:t>로직 IP로</a:t>
            </a:r>
          </a:p>
        </p:txBody>
      </p:sp>
      <p:sp>
        <p:nvSpPr>
          <p:cNvPr id="90" name="Rounded Rectangle 89"/>
          <p:cNvSpPr/>
          <p:nvPr/>
        </p:nvSpPr>
        <p:spPr>
          <a:xfrm>
            <a:off x="8921496"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shield-check_blue.png"/>
          <p:cNvPicPr>
            <a:picLocks noChangeAspect="1"/>
          </p:cNvPicPr>
          <p:nvPr/>
        </p:nvPicPr>
        <p:blipFill>
          <a:blip r:embed="rId11"/>
          <a:stretch>
            <a:fillRect/>
          </a:stretch>
        </p:blipFill>
        <p:spPr>
          <a:xfrm>
            <a:off x="9067800" y="5276088"/>
            <a:ext cx="694944" cy="694944"/>
          </a:xfrm>
          <a:prstGeom prst="rect">
            <a:avLst/>
          </a:prstGeom>
        </p:spPr>
      </p:pic>
      <p:sp>
        <p:nvSpPr>
          <p:cNvPr id="92" name="TextBox 91"/>
          <p:cNvSpPr txBox="1"/>
          <p:nvPr/>
        </p:nvSpPr>
        <p:spPr>
          <a:xfrm>
            <a:off x="8939784" y="6080760"/>
            <a:ext cx="950976"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검증 품질</a:t>
            </a:r>
          </a:p>
        </p:txBody>
      </p:sp>
      <p:cxnSp>
        <p:nvCxnSpPr>
          <p:cNvPr id="93" name="Connector 92"/>
          <p:cNvCxnSpPr/>
          <p:nvPr/>
        </p:nvCxnSpPr>
        <p:spPr>
          <a:xfrm>
            <a:off x="9963912" y="5623560"/>
            <a:ext cx="914400" cy="0"/>
          </a:xfrm>
          <a:prstGeom prst="line">
            <a:avLst/>
          </a:prstGeom>
          <a:ln w="25400">
            <a:solidFill>
              <a:srgbClr val="8A8A8A"/>
            </a:solidFill>
          </a:ln>
        </p:spPr>
        <p:style>
          <a:lnRef idx="2">
            <a:schemeClr val="accent1"/>
          </a:lnRef>
          <a:fillRef idx="0">
            <a:schemeClr val="accent1"/>
          </a:fillRef>
          <a:effectRef idx="1">
            <a:schemeClr val="accent1"/>
          </a:effectRef>
          <a:fontRef idx="minor">
            <a:schemeClr val="tx1"/>
          </a:fontRef>
        </p:style>
      </p:cxnSp>
      <p:sp>
        <p:nvSpPr>
          <p:cNvPr id="94" name="Diamond 93"/>
          <p:cNvSpPr/>
          <p:nvPr/>
        </p:nvSpPr>
        <p:spPr>
          <a:xfrm>
            <a:off x="9973056"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Diamond 94"/>
          <p:cNvSpPr/>
          <p:nvPr/>
        </p:nvSpPr>
        <p:spPr>
          <a:xfrm>
            <a:off x="10302240"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mond 95"/>
          <p:cNvSpPr/>
          <p:nvPr/>
        </p:nvSpPr>
        <p:spPr>
          <a:xfrm>
            <a:off x="10631424"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872472" y="6080760"/>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적기 공급</a:t>
            </a:r>
          </a:p>
        </p:txBody>
      </p:sp>
      <p:sp>
        <p:nvSpPr>
          <p:cNvPr id="98" name="Rectangle 97"/>
          <p:cNvSpPr/>
          <p:nvPr/>
        </p:nvSpPr>
        <p:spPr>
          <a:xfrm>
            <a:off x="10997184"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1116056"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검증된 품질 ·</a:t>
            </a:r>
          </a:p>
          <a:p>
            <a:pPr algn="l">
              <a:lnSpc>
                <a:spcPct val="105000"/>
              </a:lnSpc>
            </a:pPr>
            <a:r>
              <a:rPr sz="2000" b="1">
                <a:solidFill>
                  <a:srgbClr val="1A1A1A"/>
                </a:solidFill>
                <a:latin typeface="Arial"/>
                <a:ea typeface="Arial"/>
              </a:rPr>
              <a:t>적기 공급</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양산 품질을</a:t>
            </a:r>
          </a:p>
          <a:p>
            <a:pPr algn="l">
              <a:lnSpc>
                <a:spcPct val="105000"/>
              </a:lnSpc>
            </a:pPr>
            <a:r>
              <a:rPr sz="1800" b="0">
                <a:solidFill>
                  <a:srgbClr val="555555"/>
                </a:solidFill>
                <a:latin typeface="Arial"/>
                <a:ea typeface="Arial"/>
              </a:rPr>
              <a:t>제때 공급</a:t>
            </a:r>
          </a:p>
        </p:txBody>
      </p:sp>
      <p:sp>
        <p:nvSpPr>
          <p:cNvPr id="100" name="Rounded Rectangle 99"/>
          <p:cNvSpPr/>
          <p:nvPr/>
        </p:nvSpPr>
        <p:spPr>
          <a:xfrm>
            <a:off x="13316712"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3499592"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3499592"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3499592"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3499592"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3463016" y="5824728"/>
            <a:ext cx="51206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371576"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A</a:t>
            </a:r>
          </a:p>
        </p:txBody>
      </p:sp>
      <p:sp>
        <p:nvSpPr>
          <p:cNvPr id="107" name="Rectangle 106"/>
          <p:cNvSpPr/>
          <p:nvPr/>
        </p:nvSpPr>
        <p:spPr>
          <a:xfrm>
            <a:off x="14148816"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4148816"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4148816"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48816"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112240" y="5824728"/>
            <a:ext cx="51206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4020800"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B</a:t>
            </a:r>
          </a:p>
        </p:txBody>
      </p:sp>
      <p:sp>
        <p:nvSpPr>
          <p:cNvPr id="113" name="Rectangle 112"/>
          <p:cNvSpPr/>
          <p:nvPr/>
        </p:nvSpPr>
        <p:spPr>
          <a:xfrm>
            <a:off x="14798040"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798040"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798040"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798040"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4761464" y="5824728"/>
            <a:ext cx="51206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4670024"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C</a:t>
            </a:r>
          </a:p>
        </p:txBody>
      </p:sp>
      <p:sp>
        <p:nvSpPr>
          <p:cNvPr id="119" name="TextBox 118"/>
          <p:cNvSpPr txBox="1"/>
          <p:nvPr/>
        </p:nvSpPr>
        <p:spPr>
          <a:xfrm>
            <a:off x="13371576" y="6300216"/>
            <a:ext cx="199339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가속기별 Base Die</a:t>
            </a:r>
          </a:p>
        </p:txBody>
      </p:sp>
      <p:sp>
        <p:nvSpPr>
          <p:cNvPr id="120" name="Rectangle 119"/>
          <p:cNvSpPr/>
          <p:nvPr/>
        </p:nvSpPr>
        <p:spPr>
          <a:xfrm>
            <a:off x="15392400"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5511272"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Custom Logic</a:t>
            </a:r>
          </a:p>
          <a:p>
            <a:pPr algn="l">
              <a:lnSpc>
                <a:spcPct val="105000"/>
              </a:lnSpc>
            </a:pPr>
            <a:r>
              <a:rPr sz="2000" b="1">
                <a:solidFill>
                  <a:srgbClr val="1A1A1A"/>
                </a:solidFill>
                <a:latin typeface="Arial"/>
                <a:ea typeface="Arial"/>
              </a:rPr>
              <a:t>협업</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가속기별 로직을</a:t>
            </a:r>
          </a:p>
          <a:p>
            <a:pPr algn="l">
              <a:lnSpc>
                <a:spcPct val="105000"/>
              </a:lnSpc>
            </a:pPr>
            <a:r>
              <a:rPr sz="1800" b="0">
                <a:solidFill>
                  <a:srgbClr val="555555"/>
                </a:solidFill>
                <a:latin typeface="Arial"/>
                <a:ea typeface="Arial"/>
              </a:rPr>
              <a:t>고객과 함께</a:t>
            </a:r>
          </a:p>
        </p:txBody>
      </p:sp>
      <p:sp>
        <p:nvSpPr>
          <p:cNvPr id="122" name="Rounded Rectangle 121"/>
          <p:cNvSpPr/>
          <p:nvPr/>
        </p:nvSpPr>
        <p:spPr>
          <a:xfrm>
            <a:off x="722376" y="6876288"/>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886968" y="7040879"/>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941832" y="7040879"/>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3</a:t>
            </a:r>
          </a:p>
        </p:txBody>
      </p:sp>
      <p:sp>
        <p:nvSpPr>
          <p:cNvPr id="125" name="TextBox 124"/>
          <p:cNvSpPr txBox="1"/>
          <p:nvPr/>
        </p:nvSpPr>
        <p:spPr>
          <a:xfrm>
            <a:off x="886968" y="7479792"/>
            <a:ext cx="2286000"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고객 시스템을</a:t>
            </a:r>
          </a:p>
          <a:p>
            <a:pPr algn="l">
              <a:lnSpc>
                <a:spcPct val="100000"/>
              </a:lnSpc>
            </a:pPr>
            <a:r>
              <a:rPr sz="2000" b="1">
                <a:solidFill>
                  <a:srgbClr val="1A1A1A"/>
                </a:solidFill>
                <a:latin typeface="Arial"/>
                <a:ea typeface="Arial"/>
              </a:rPr>
              <a:t>고려한 스토리지</a:t>
            </a:r>
          </a:p>
          <a:p>
            <a:pPr algn="l">
              <a:lnSpc>
                <a:spcPct val="100000"/>
              </a:lnSpc>
            </a:pPr>
            <a:r>
              <a:rPr sz="2000" b="1">
                <a:solidFill>
                  <a:srgbClr val="1A1A1A"/>
                </a:solidFill>
                <a:latin typeface="Arial"/>
                <a:ea typeface="Arial"/>
              </a:rPr>
              <a:t>개발</a:t>
            </a:r>
          </a:p>
        </p:txBody>
      </p:sp>
      <p:pic>
        <p:nvPicPr>
          <p:cNvPr id="126" name="Picture 125" descr="render_ssd.png"/>
          <p:cNvPicPr>
            <a:picLocks noChangeAspect="1"/>
          </p:cNvPicPr>
          <p:nvPr/>
        </p:nvPicPr>
        <p:blipFill>
          <a:blip r:embed="rId12"/>
          <a:stretch>
            <a:fillRect/>
          </a:stretch>
        </p:blipFill>
        <p:spPr>
          <a:xfrm>
            <a:off x="3099816" y="7108893"/>
            <a:ext cx="1170432" cy="434557"/>
          </a:xfrm>
          <a:prstGeom prst="rect">
            <a:avLst/>
          </a:prstGeom>
        </p:spPr>
      </p:pic>
      <p:pic>
        <p:nvPicPr>
          <p:cNvPr id="127" name="Picture 126" descr="render_server.png"/>
          <p:cNvPicPr>
            <a:picLocks noChangeAspect="1"/>
          </p:cNvPicPr>
          <p:nvPr/>
        </p:nvPicPr>
        <p:blipFill>
          <a:blip r:embed="rId13"/>
          <a:stretch>
            <a:fillRect/>
          </a:stretch>
        </p:blipFill>
        <p:spPr>
          <a:xfrm>
            <a:off x="3099816" y="7749864"/>
            <a:ext cx="1170432" cy="688808"/>
          </a:xfrm>
          <a:prstGeom prst="rect">
            <a:avLst/>
          </a:prstGeom>
        </p:spPr>
      </p:pic>
      <p:sp>
        <p:nvSpPr>
          <p:cNvPr id="128" name="Rounded Rectangle 127"/>
          <p:cNvSpPr/>
          <p:nvPr/>
        </p:nvSpPr>
        <p:spPr>
          <a:xfrm>
            <a:off x="4526280"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4672584" y="7360919"/>
            <a:ext cx="640080" cy="640080"/>
          </a:xfrm>
          <a:prstGeom prst="roundRect">
            <a:avLst>
              <a:gd name="adj" fmla="val 11428"/>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4727448" y="7360919"/>
            <a:ext cx="530352" cy="64008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고객</a:t>
            </a:r>
          </a:p>
        </p:txBody>
      </p:sp>
      <p:sp>
        <p:nvSpPr>
          <p:cNvPr id="131" name="Rounded Rectangle 130"/>
          <p:cNvSpPr/>
          <p:nvPr/>
        </p:nvSpPr>
        <p:spPr>
          <a:xfrm>
            <a:off x="5843016" y="7360919"/>
            <a:ext cx="640080" cy="640080"/>
          </a:xfrm>
          <a:prstGeom prst="roundRect">
            <a:avLst>
              <a:gd name="adj" fmla="val 11428"/>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897879" y="7360919"/>
            <a:ext cx="530352" cy="64008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삼성</a:t>
            </a:r>
          </a:p>
        </p:txBody>
      </p:sp>
      <p:pic>
        <p:nvPicPr>
          <p:cNvPr id="133" name="Picture 132" descr="radar_blue.png"/>
          <p:cNvPicPr>
            <a:picLocks noChangeAspect="1"/>
          </p:cNvPicPr>
          <p:nvPr/>
        </p:nvPicPr>
        <p:blipFill>
          <a:blip r:embed="rId14"/>
          <a:stretch>
            <a:fillRect/>
          </a:stretch>
        </p:blipFill>
        <p:spPr>
          <a:xfrm>
            <a:off x="5385816" y="7013448"/>
            <a:ext cx="384048" cy="384048"/>
          </a:xfrm>
          <a:prstGeom prst="rect">
            <a:avLst/>
          </a:prstGeom>
        </p:spPr>
      </p:pic>
      <p:sp>
        <p:nvSpPr>
          <p:cNvPr id="134" name="Left-Right Arrow 133"/>
          <p:cNvSpPr/>
          <p:nvPr/>
        </p:nvSpPr>
        <p:spPr>
          <a:xfrm>
            <a:off x="5367528" y="7562088"/>
            <a:ext cx="420624" cy="237744"/>
          </a:xfrm>
          <a:prstGeom prst="leftRight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581144" y="8055863"/>
            <a:ext cx="199339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감지 · 수요 공동 설계</a:t>
            </a:r>
          </a:p>
        </p:txBody>
      </p:sp>
      <p:sp>
        <p:nvSpPr>
          <p:cNvPr id="136" name="Rectangle 135"/>
          <p:cNvSpPr/>
          <p:nvPr/>
        </p:nvSpPr>
        <p:spPr>
          <a:xfrm>
            <a:off x="6601968"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720840"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기술 변화</a:t>
            </a:r>
          </a:p>
          <a:p>
            <a:pPr algn="l">
              <a:lnSpc>
                <a:spcPct val="105000"/>
              </a:lnSpc>
            </a:pPr>
            <a:r>
              <a:rPr sz="2000" b="1">
                <a:solidFill>
                  <a:srgbClr val="1A1A1A"/>
                </a:solidFill>
                <a:latin typeface="Arial"/>
                <a:ea typeface="Arial"/>
              </a:rPr>
              <a:t>조기 센싱</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고객과 먼저 감지,</a:t>
            </a:r>
          </a:p>
          <a:p>
            <a:pPr algn="l">
              <a:lnSpc>
                <a:spcPct val="105000"/>
              </a:lnSpc>
            </a:pPr>
            <a:r>
              <a:rPr sz="1800" b="0">
                <a:solidFill>
                  <a:srgbClr val="555555"/>
                </a:solidFill>
                <a:latin typeface="Arial"/>
                <a:ea typeface="Arial"/>
              </a:rPr>
              <a:t>수요를 함께 설계</a:t>
            </a:r>
          </a:p>
        </p:txBody>
      </p:sp>
      <p:sp>
        <p:nvSpPr>
          <p:cNvPr id="138" name="Rounded Rectangle 137"/>
          <p:cNvSpPr/>
          <p:nvPr/>
        </p:nvSpPr>
        <p:spPr>
          <a:xfrm>
            <a:off x="8921496"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9067800" y="8092440"/>
            <a:ext cx="566928" cy="310896"/>
          </a:xfrm>
          <a:prstGeom prst="rect">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958072" y="8092440"/>
            <a:ext cx="786384" cy="310896"/>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NAND</a:t>
            </a:r>
          </a:p>
        </p:txBody>
      </p:sp>
      <p:pic>
        <p:nvPicPr>
          <p:cNvPr id="141" name="Picture 140" descr="render_nand.png"/>
          <p:cNvPicPr>
            <a:picLocks noChangeAspect="1"/>
          </p:cNvPicPr>
          <p:nvPr/>
        </p:nvPicPr>
        <p:blipFill>
          <a:blip r:embed="rId6"/>
          <a:stretch>
            <a:fillRect/>
          </a:stretch>
        </p:blipFill>
        <p:spPr>
          <a:xfrm>
            <a:off x="9067800" y="7636229"/>
            <a:ext cx="566928" cy="418645"/>
          </a:xfrm>
          <a:prstGeom prst="rect">
            <a:avLst/>
          </a:prstGeom>
        </p:spPr>
      </p:pic>
      <p:sp>
        <p:nvSpPr>
          <p:cNvPr id="142" name="Rectangle 141"/>
          <p:cNvSpPr/>
          <p:nvPr/>
        </p:nvSpPr>
        <p:spPr>
          <a:xfrm>
            <a:off x="9689592" y="7909560"/>
            <a:ext cx="566928" cy="4937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579864" y="7909560"/>
            <a:ext cx="786384" cy="493776"/>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pic>
        <p:nvPicPr>
          <p:cNvPr id="144" name="Picture 143" descr="render_ssd.png"/>
          <p:cNvPicPr>
            <a:picLocks noChangeAspect="1"/>
          </p:cNvPicPr>
          <p:nvPr/>
        </p:nvPicPr>
        <p:blipFill>
          <a:blip r:embed="rId12"/>
          <a:stretch>
            <a:fillRect/>
          </a:stretch>
        </p:blipFill>
        <p:spPr>
          <a:xfrm>
            <a:off x="9689592" y="7557427"/>
            <a:ext cx="566928" cy="210488"/>
          </a:xfrm>
          <a:prstGeom prst="rect">
            <a:avLst/>
          </a:prstGeom>
        </p:spPr>
      </p:pic>
      <p:sp>
        <p:nvSpPr>
          <p:cNvPr id="145" name="Rectangle 144"/>
          <p:cNvSpPr/>
          <p:nvPr/>
        </p:nvSpPr>
        <p:spPr>
          <a:xfrm>
            <a:off x="10311384" y="7726680"/>
            <a:ext cx="566928" cy="67665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201656" y="7726680"/>
            <a:ext cx="786384" cy="676656"/>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서버</a:t>
            </a:r>
          </a:p>
        </p:txBody>
      </p:sp>
      <p:pic>
        <p:nvPicPr>
          <p:cNvPr id="147" name="Picture 146" descr="render_server.png"/>
          <p:cNvPicPr>
            <a:picLocks noChangeAspect="1"/>
          </p:cNvPicPr>
          <p:nvPr/>
        </p:nvPicPr>
        <p:blipFill>
          <a:blip r:embed="rId13"/>
          <a:stretch>
            <a:fillRect/>
          </a:stretch>
        </p:blipFill>
        <p:spPr>
          <a:xfrm>
            <a:off x="10311384" y="7312971"/>
            <a:ext cx="566928" cy="333641"/>
          </a:xfrm>
          <a:prstGeom prst="rect">
            <a:avLst/>
          </a:prstGeom>
        </p:spPr>
      </p:pic>
      <p:sp>
        <p:nvSpPr>
          <p:cNvPr id="148" name="Rectangle 147"/>
          <p:cNvSpPr/>
          <p:nvPr/>
        </p:nvSpPr>
        <p:spPr>
          <a:xfrm>
            <a:off x="10997184"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1116056"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시스템 지식</a:t>
            </a:r>
          </a:p>
          <a:p>
            <a:pPr algn="l">
              <a:lnSpc>
                <a:spcPct val="105000"/>
              </a:lnSpc>
            </a:pPr>
            <a:r>
              <a:rPr sz="2000" b="1">
                <a:solidFill>
                  <a:srgbClr val="1A1A1A"/>
                </a:solidFill>
                <a:latin typeface="Arial"/>
                <a:ea typeface="Arial"/>
              </a:rPr>
              <a:t>확장</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워크로드 연구로</a:t>
            </a:r>
          </a:p>
          <a:p>
            <a:pPr algn="l">
              <a:lnSpc>
                <a:spcPct val="105000"/>
              </a:lnSpc>
            </a:pPr>
            <a:r>
              <a:rPr sz="1800" b="0">
                <a:solidFill>
                  <a:srgbClr val="555555"/>
                </a:solidFill>
                <a:latin typeface="Arial"/>
                <a:ea typeface="Arial"/>
              </a:rPr>
              <a:t>NAND → 서버까지</a:t>
            </a:r>
          </a:p>
        </p:txBody>
      </p:sp>
      <p:sp>
        <p:nvSpPr>
          <p:cNvPr id="150" name="Rounded Rectangle 149"/>
          <p:cNvSpPr/>
          <p:nvPr/>
        </p:nvSpPr>
        <p:spPr>
          <a:xfrm>
            <a:off x="13316712"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13582802" y="7306055"/>
            <a:ext cx="230428" cy="2304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ound Same Side Corner Rectangle 151"/>
          <p:cNvSpPr/>
          <p:nvPr/>
        </p:nvSpPr>
        <p:spPr>
          <a:xfrm>
            <a:off x="13499592" y="7574889"/>
            <a:ext cx="396849" cy="371246"/>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14923312" y="7306055"/>
            <a:ext cx="230428" cy="23042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ound Same Side Corner Rectangle 153"/>
          <p:cNvSpPr/>
          <p:nvPr/>
        </p:nvSpPr>
        <p:spPr>
          <a:xfrm>
            <a:off x="14840102" y="7574889"/>
            <a:ext cx="396849" cy="371246"/>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5" name="Picture 154" descr="render_server.png"/>
          <p:cNvPicPr>
            <a:picLocks noChangeAspect="1"/>
          </p:cNvPicPr>
          <p:nvPr/>
        </p:nvPicPr>
        <p:blipFill>
          <a:blip r:embed="rId13"/>
          <a:stretch>
            <a:fillRect/>
          </a:stretch>
        </p:blipFill>
        <p:spPr>
          <a:xfrm>
            <a:off x="13993368" y="7085422"/>
            <a:ext cx="749808" cy="441267"/>
          </a:xfrm>
          <a:prstGeom prst="rect">
            <a:avLst/>
          </a:prstGeom>
        </p:spPr>
      </p:pic>
      <p:pic>
        <p:nvPicPr>
          <p:cNvPr id="156" name="Picture 155" descr="refresh_blue.png"/>
          <p:cNvPicPr>
            <a:picLocks noChangeAspect="1"/>
          </p:cNvPicPr>
          <p:nvPr/>
        </p:nvPicPr>
        <p:blipFill>
          <a:blip r:embed="rId15"/>
          <a:stretch>
            <a:fillRect/>
          </a:stretch>
        </p:blipFill>
        <p:spPr>
          <a:xfrm>
            <a:off x="14167104" y="7616952"/>
            <a:ext cx="402336" cy="402336"/>
          </a:xfrm>
          <a:prstGeom prst="rect">
            <a:avLst/>
          </a:prstGeom>
        </p:spPr>
      </p:pic>
      <p:sp>
        <p:nvSpPr>
          <p:cNvPr id="157" name="TextBox 156"/>
          <p:cNvSpPr txBox="1"/>
          <p:nvPr/>
        </p:nvSpPr>
        <p:spPr>
          <a:xfrm>
            <a:off x="13316712" y="8001000"/>
            <a:ext cx="694944" cy="274320"/>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삼성</a:t>
            </a:r>
          </a:p>
        </p:txBody>
      </p:sp>
      <p:sp>
        <p:nvSpPr>
          <p:cNvPr id="158" name="TextBox 157"/>
          <p:cNvSpPr txBox="1"/>
          <p:nvPr/>
        </p:nvSpPr>
        <p:spPr>
          <a:xfrm>
            <a:off x="14724888" y="8001000"/>
            <a:ext cx="694944"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고객</a:t>
            </a:r>
          </a:p>
        </p:txBody>
      </p:sp>
      <p:sp>
        <p:nvSpPr>
          <p:cNvPr id="159" name="Rectangle 158"/>
          <p:cNvSpPr/>
          <p:nvPr/>
        </p:nvSpPr>
        <p:spPr>
          <a:xfrm>
            <a:off x="15392400"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5511272"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SSD · 서버</a:t>
            </a:r>
          </a:p>
          <a:p>
            <a:pPr algn="l">
              <a:lnSpc>
                <a:spcPct val="105000"/>
              </a:lnSpc>
            </a:pPr>
            <a:r>
              <a:rPr sz="2000" b="1">
                <a:solidFill>
                  <a:srgbClr val="1A1A1A"/>
                </a:solidFill>
                <a:latin typeface="Arial"/>
                <a:ea typeface="Arial"/>
              </a:rPr>
              <a:t>공동 설계</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AI 수요에 맞춘</a:t>
            </a:r>
          </a:p>
          <a:p>
            <a:pPr algn="l">
              <a:lnSpc>
                <a:spcPct val="105000"/>
              </a:lnSpc>
            </a:pPr>
            <a:r>
              <a:rPr sz="1800" b="0">
                <a:solidFill>
                  <a:srgbClr val="555555"/>
                </a:solidFill>
                <a:latin typeface="Arial"/>
                <a:ea typeface="Arial"/>
              </a:rPr>
              <a:t>기능 · 구조</a:t>
            </a:r>
          </a:p>
        </p:txBody>
      </p:sp>
      <p:sp>
        <p:nvSpPr>
          <p:cNvPr id="161" name="Rectangle 160"/>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163" name="TextBox 16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164" name="TextBox 163"/>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개념도로 수치 주장은 담지 않음.</a:t>
            </a:r>
          </a:p>
          <a:p>
            <a:pPr algn="l">
              <a:lnSpc>
                <a:spcPct val="105000"/>
              </a:lnSpc>
            </a:pPr>
            <a:r>
              <a:rPr sz="1500" b="0">
                <a:solidFill>
                  <a:srgbClr val="555555"/>
                </a:solidFill>
                <a:latin typeface="Arial"/>
                <a:ea typeface="Arial"/>
              </a:rPr>
              <a:t>부품 이미지는 3D 렌더(사진 교체: assets/photos), 아이콘은 Tabler Icons(MIT).</a:t>
            </a:r>
          </a:p>
        </p:txBody>
      </p:sp>
      <p:sp>
        <p:nvSpPr>
          <p:cNvPr id="165" name="TextBox 164"/>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B  아이콘 키워드형</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023360" cy="40233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수요 예측만으로는 부족</a:t>
            </a:r>
          </a:p>
        </p:txBody>
      </p:sp>
      <p:cxnSp>
        <p:nvCxnSpPr>
          <p:cNvPr id="8" name="Connector 7"/>
          <p:cNvCxnSpPr/>
          <p:nvPr/>
        </p:nvCxnSpPr>
        <p:spPr>
          <a:xfrm>
            <a:off x="813816" y="2615184"/>
            <a:ext cx="0" cy="1847088"/>
          </a:xfrm>
          <a:prstGeom prst="line">
            <a:avLst/>
          </a:prstGeom>
          <a:ln w="15875">
            <a:solidFill>
              <a:srgbClr val="8A8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13816" y="4462272"/>
            <a:ext cx="3840480" cy="0"/>
          </a:xfrm>
          <a:prstGeom prst="line">
            <a:avLst/>
          </a:prstGeom>
          <a:ln w="15875">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86968" y="2578608"/>
            <a:ext cx="731520"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수요</a:t>
            </a:r>
          </a:p>
        </p:txBody>
      </p:sp>
      <p:sp>
        <p:nvSpPr>
          <p:cNvPr id="11" name="TextBox 10"/>
          <p:cNvSpPr txBox="1"/>
          <p:nvPr/>
        </p:nvSpPr>
        <p:spPr>
          <a:xfrm>
            <a:off x="3739896" y="4480559"/>
            <a:ext cx="91440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시간 →</a:t>
            </a:r>
          </a:p>
        </p:txBody>
      </p:sp>
      <p:sp>
        <p:nvSpPr>
          <p:cNvPr id="12" name="Freeform 11"/>
          <p:cNvSpPr/>
          <p:nvPr/>
        </p:nvSpPr>
        <p:spPr>
          <a:xfrm>
            <a:off x="2350008" y="2706624"/>
            <a:ext cx="2267712" cy="1389887"/>
          </a:xfrm>
          <a:custGeom>
            <a:avLst/>
            <a:gdLst/>
            <a:ahLst/>
            <a:cxnLst/>
            <a:rect l="l" t="t" r="r" b="b"/>
            <a:pathLst>
              <a:path w="2267712" h="1389887">
                <a:moveTo>
                  <a:pt x="0" y="869045"/>
                </a:moveTo>
                <a:lnTo>
                  <a:pt x="2267712" y="0"/>
                </a:lnTo>
                <a:lnTo>
                  <a:pt x="2267712" y="1389887"/>
                </a:lnTo>
                <a:lnTo>
                  <a:pt x="0" y="869045"/>
                </a:lnTo>
                <a:close/>
              </a:path>
            </a:pathLst>
          </a:cu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2350008" y="2660903"/>
            <a:ext cx="0" cy="1801369"/>
          </a:xfrm>
          <a:prstGeom prst="line">
            <a:avLst/>
          </a:prstGeom>
          <a:ln w="1270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847088" y="4480559"/>
            <a:ext cx="1005840"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지금</a:t>
            </a:r>
          </a:p>
        </p:txBody>
      </p:sp>
      <p:sp>
        <p:nvSpPr>
          <p:cNvPr id="15" name="Freeform 14"/>
          <p:cNvSpPr/>
          <p:nvPr/>
        </p:nvSpPr>
        <p:spPr>
          <a:xfrm>
            <a:off x="923544" y="3575669"/>
            <a:ext cx="1426464" cy="517185"/>
          </a:xfrm>
          <a:custGeom>
            <a:avLst/>
            <a:gdLst/>
            <a:ahLst/>
            <a:cxnLst/>
            <a:rect l="l" t="t" r="r" b="b"/>
            <a:pathLst>
              <a:path w="1426464" h="517185">
                <a:moveTo>
                  <a:pt x="0" y="517185"/>
                </a:moveTo>
                <a:lnTo>
                  <a:pt x="256032" y="332476"/>
                </a:lnTo>
                <a:lnTo>
                  <a:pt x="457200" y="443301"/>
                </a:lnTo>
                <a:lnTo>
                  <a:pt x="758951" y="147767"/>
                </a:lnTo>
                <a:lnTo>
                  <a:pt x="1005840" y="221651"/>
                </a:lnTo>
                <a:lnTo>
                  <a:pt x="1243584" y="55413"/>
                </a:lnTo>
                <a:lnTo>
                  <a:pt x="1426464" y="0"/>
                </a:lnTo>
              </a:path>
            </a:pathLst>
          </a:custGeom>
          <a:noFill/>
          <a:ln w="317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2350008" y="3280135"/>
            <a:ext cx="2267712" cy="295534"/>
          </a:xfrm>
          <a:custGeom>
            <a:avLst/>
            <a:gdLst/>
            <a:ahLst/>
            <a:cxnLst/>
            <a:rect l="l" t="t" r="r" b="b"/>
            <a:pathLst>
              <a:path w="2267712" h="295534">
                <a:moveTo>
                  <a:pt x="0" y="295534"/>
                </a:moveTo>
                <a:lnTo>
                  <a:pt x="2267712" y="0"/>
                </a:lnTo>
              </a:path>
            </a:pathLst>
          </a:custGeom>
          <a:noFill/>
          <a:ln w="3175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94759" y="2950951"/>
            <a:ext cx="822960" cy="274320"/>
          </a:xfrm>
          <a:prstGeom prst="rect">
            <a:avLst/>
          </a:prstGeom>
          <a:noFill/>
        </p:spPr>
        <p:txBody>
          <a:bodyPr wrap="square" anchor="t" lIns="0" rIns="0" tIns="0" bIns="0">
            <a:spAutoFit/>
          </a:bodyPr>
          <a:lstStyle/>
          <a:p>
            <a:pPr algn="r">
              <a:lnSpc>
                <a:spcPct val="110000"/>
              </a:lnSpc>
            </a:pPr>
            <a:r>
              <a:rPr sz="1600" b="1">
                <a:solidFill>
                  <a:srgbClr val="3C4FA5"/>
                </a:solidFill>
                <a:latin typeface="Arial"/>
                <a:ea typeface="Arial"/>
              </a:rPr>
              <a:t>예측</a:t>
            </a:r>
          </a:p>
        </p:txBody>
      </p:sp>
      <p:sp>
        <p:nvSpPr>
          <p:cNvPr id="18" name="Freeform 17"/>
          <p:cNvSpPr/>
          <p:nvPr/>
        </p:nvSpPr>
        <p:spPr>
          <a:xfrm>
            <a:off x="2350008" y="3575669"/>
            <a:ext cx="2176272" cy="480243"/>
          </a:xfrm>
          <a:custGeom>
            <a:avLst/>
            <a:gdLst/>
            <a:ahLst/>
            <a:cxnLst/>
            <a:rect l="l" t="t" r="r" b="b"/>
            <a:pathLst>
              <a:path w="2176272" h="480243">
                <a:moveTo>
                  <a:pt x="0" y="0"/>
                </a:moveTo>
                <a:lnTo>
                  <a:pt x="411480" y="91440"/>
                </a:lnTo>
                <a:lnTo>
                  <a:pt x="777240" y="292608"/>
                </a:lnTo>
                <a:lnTo>
                  <a:pt x="1188720" y="219456"/>
                </a:lnTo>
                <a:lnTo>
                  <a:pt x="2176272" y="480243"/>
                </a:lnTo>
              </a:path>
            </a:pathLst>
          </a:custGeom>
          <a:no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350008" y="2816352"/>
            <a:ext cx="2176272" cy="759317"/>
          </a:xfrm>
          <a:custGeom>
            <a:avLst/>
            <a:gdLst/>
            <a:ahLst/>
            <a:cxnLst/>
            <a:rect l="l" t="t" r="r" b="b"/>
            <a:pathLst>
              <a:path w="2176272" h="759317">
                <a:moveTo>
                  <a:pt x="0" y="759317"/>
                </a:moveTo>
                <a:lnTo>
                  <a:pt x="365760" y="558149"/>
                </a:lnTo>
                <a:lnTo>
                  <a:pt x="822960" y="484997"/>
                </a:lnTo>
                <a:lnTo>
                  <a:pt x="1280160" y="283829"/>
                </a:lnTo>
                <a:lnTo>
                  <a:pt x="2176272" y="0"/>
                </a:lnTo>
              </a:path>
            </a:pathLst>
          </a:custGeom>
          <a:no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9464" y="4133087"/>
            <a:ext cx="2194560"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실제는 이 범위 어디든</a:t>
            </a:r>
          </a:p>
        </p:txBody>
      </p:sp>
      <p:sp>
        <p:nvSpPr>
          <p:cNvPr id="21" name="TextBox 20"/>
          <p:cNvSpPr txBox="1"/>
          <p:nvPr/>
        </p:nvSpPr>
        <p:spPr>
          <a:xfrm>
            <a:off x="905256" y="2889503"/>
            <a:ext cx="1280160" cy="274320"/>
          </a:xfrm>
          <a:prstGeom prst="rect">
            <a:avLst/>
          </a:prstGeom>
          <a:noFill/>
        </p:spPr>
        <p:txBody>
          <a:bodyPr wrap="square" anchor="t" lIns="0" rIns="0" tIns="0" bIns="0">
            <a:spAutoFit/>
          </a:bodyPr>
          <a:lstStyle/>
          <a:p>
            <a:pPr algn="l">
              <a:lnSpc>
                <a:spcPct val="110000"/>
              </a:lnSpc>
            </a:pPr>
            <a:r>
              <a:rPr sz="1600" b="0">
                <a:solidFill>
                  <a:srgbClr val="8A8A8A"/>
                </a:solidFill>
                <a:latin typeface="Arial"/>
                <a:ea typeface="Arial"/>
              </a:rPr>
              <a:t>개념도</a:t>
            </a:r>
          </a:p>
        </p:txBody>
      </p:sp>
      <p:sp>
        <p:nvSpPr>
          <p:cNvPr id="22" name="Isosceles Triangle 21"/>
          <p:cNvSpPr/>
          <p:nvPr/>
        </p:nvSpPr>
        <p:spPr>
          <a:xfrm rot="10800000">
            <a:off x="2532888" y="4754880"/>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047488"/>
            <a:ext cx="4023360" cy="402336"/>
          </a:xfrm>
          <a:prstGeom prst="rect">
            <a:avLst/>
          </a:prstGeom>
          <a:noFill/>
        </p:spPr>
        <p:txBody>
          <a:bodyPr wrap="square" anchor="ctr" lIns="0" rIns="0" tIns="0" bIns="0">
            <a:spAutoFit/>
          </a:bodyPr>
          <a:lstStyle/>
          <a:p>
            <a:pPr algn="ctr">
              <a:lnSpc>
                <a:spcPct val="110000"/>
              </a:lnSpc>
            </a:pPr>
            <a:r>
              <a:rPr sz="2200" b="1">
                <a:solidFill>
                  <a:srgbClr val="1A1A1A"/>
                </a:solidFill>
                <a:latin typeface="Arial"/>
                <a:ea typeface="Arial"/>
              </a:rPr>
              <a:t>하나의 체계로 묶습니다</a:t>
            </a:r>
          </a:p>
        </p:txBody>
      </p:sp>
      <p:cxnSp>
        <p:nvCxnSpPr>
          <p:cNvPr id="24" name="Connector 23"/>
          <p:cNvCxnSpPr/>
          <p:nvPr/>
        </p:nvCxnSpPr>
        <p:spPr>
          <a:xfrm flipH="1">
            <a:off x="1325880" y="6089904"/>
            <a:ext cx="1408176" cy="1865375"/>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25880" y="7955279"/>
            <a:ext cx="2816352" cy="0"/>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734056" y="6089904"/>
            <a:ext cx="1408176" cy="1865375"/>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221992" y="6931151"/>
            <a:ext cx="1024128" cy="804672"/>
          </a:xfrm>
          <a:prstGeom prst="roundRect">
            <a:avLst>
              <a:gd name="adj" fmla="val 9090"/>
            </a:avLst>
          </a:prstGeom>
          <a:solidFill>
            <a:srgbClr val="FFFFFF"/>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21992" y="6931151"/>
            <a:ext cx="1024128" cy="804672"/>
          </a:xfrm>
          <a:prstGeom prst="rect">
            <a:avLst/>
          </a:prstGeom>
          <a:noFill/>
        </p:spPr>
        <p:txBody>
          <a:bodyPr wrap="square" anchor="ctr" lIns="0" rIns="0" tIns="0" bIns="0">
            <a:spAutoFit/>
          </a:bodyPr>
          <a:lstStyle/>
          <a:p>
            <a:pPr algn="ctr">
              <a:lnSpc>
                <a:spcPct val="100000"/>
              </a:lnSpc>
            </a:pPr>
            <a:r>
              <a:rPr sz="1800" b="1">
                <a:solidFill>
                  <a:srgbClr val="3C4FA5"/>
                </a:solidFill>
                <a:latin typeface="Arial"/>
                <a:ea typeface="Arial"/>
              </a:rPr>
              <a:t>전체</a:t>
            </a:r>
          </a:p>
          <a:p>
            <a:pPr algn="ctr">
              <a:lnSpc>
                <a:spcPct val="100000"/>
              </a:lnSpc>
            </a:pPr>
            <a:r>
              <a:rPr sz="1800" b="1">
                <a:solidFill>
                  <a:srgbClr val="3C4FA5"/>
                </a:solidFill>
                <a:latin typeface="Arial"/>
                <a:ea typeface="Arial"/>
              </a:rPr>
              <a:t>최적화</a:t>
            </a:r>
          </a:p>
        </p:txBody>
      </p:sp>
      <p:sp>
        <p:nvSpPr>
          <p:cNvPr id="29" name="Oval 28"/>
          <p:cNvSpPr/>
          <p:nvPr/>
        </p:nvSpPr>
        <p:spPr>
          <a:xfrm>
            <a:off x="2203704" y="5559552"/>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rrows-exchange_white.png"/>
          <p:cNvPicPr>
            <a:picLocks noChangeAspect="1"/>
          </p:cNvPicPr>
          <p:nvPr/>
        </p:nvPicPr>
        <p:blipFill>
          <a:blip r:embed="rId2"/>
          <a:stretch>
            <a:fillRect/>
          </a:stretch>
        </p:blipFill>
        <p:spPr>
          <a:xfrm>
            <a:off x="2542032" y="5705856"/>
            <a:ext cx="384048" cy="384048"/>
          </a:xfrm>
          <a:prstGeom prst="rect">
            <a:avLst/>
          </a:prstGeom>
        </p:spPr>
      </p:pic>
      <p:sp>
        <p:nvSpPr>
          <p:cNvPr id="31" name="TextBox 30"/>
          <p:cNvSpPr txBox="1"/>
          <p:nvPr/>
        </p:nvSpPr>
        <p:spPr>
          <a:xfrm>
            <a:off x="2203704" y="6108192"/>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C1 자원</a:t>
            </a:r>
          </a:p>
        </p:txBody>
      </p:sp>
      <p:sp>
        <p:nvSpPr>
          <p:cNvPr id="32" name="Oval 31"/>
          <p:cNvSpPr/>
          <p:nvPr/>
        </p:nvSpPr>
        <p:spPr>
          <a:xfrm>
            <a:off x="795528" y="7424927"/>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ack-push_white.png"/>
          <p:cNvPicPr>
            <a:picLocks noChangeAspect="1"/>
          </p:cNvPicPr>
          <p:nvPr/>
        </p:nvPicPr>
        <p:blipFill>
          <a:blip r:embed="rId3"/>
          <a:stretch>
            <a:fillRect/>
          </a:stretch>
        </p:blipFill>
        <p:spPr>
          <a:xfrm>
            <a:off x="1133856" y="7571231"/>
            <a:ext cx="384048" cy="384048"/>
          </a:xfrm>
          <a:prstGeom prst="rect">
            <a:avLst/>
          </a:prstGeom>
        </p:spPr>
      </p:pic>
      <p:sp>
        <p:nvSpPr>
          <p:cNvPr id="34" name="TextBox 33"/>
          <p:cNvSpPr txBox="1"/>
          <p:nvPr/>
        </p:nvSpPr>
        <p:spPr>
          <a:xfrm>
            <a:off x="795528" y="7973567"/>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C2 기술</a:t>
            </a:r>
          </a:p>
        </p:txBody>
      </p:sp>
      <p:sp>
        <p:nvSpPr>
          <p:cNvPr id="35" name="Oval 34"/>
          <p:cNvSpPr/>
          <p:nvPr/>
        </p:nvSpPr>
        <p:spPr>
          <a:xfrm>
            <a:off x="3611880" y="7424927"/>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eart-handshake_white.png"/>
          <p:cNvPicPr>
            <a:picLocks noChangeAspect="1"/>
          </p:cNvPicPr>
          <p:nvPr/>
        </p:nvPicPr>
        <p:blipFill>
          <a:blip r:embed="rId4"/>
          <a:stretch>
            <a:fillRect/>
          </a:stretch>
        </p:blipFill>
        <p:spPr>
          <a:xfrm>
            <a:off x="3950208" y="7571231"/>
            <a:ext cx="384048" cy="384048"/>
          </a:xfrm>
          <a:prstGeom prst="rect">
            <a:avLst/>
          </a:prstGeom>
        </p:spPr>
      </p:pic>
      <p:sp>
        <p:nvSpPr>
          <p:cNvPr id="37" name="TextBox 36"/>
          <p:cNvSpPr txBox="1"/>
          <p:nvPr/>
        </p:nvSpPr>
        <p:spPr>
          <a:xfrm>
            <a:off x="3611880" y="7973567"/>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C3 고객</a:t>
            </a:r>
          </a:p>
        </p:txBody>
      </p:sp>
      <p:sp>
        <p:nvSpPr>
          <p:cNvPr id="38" name="Rectangle 37"/>
          <p:cNvSpPr/>
          <p:nvPr/>
        </p:nvSpPr>
        <p:spPr>
          <a:xfrm>
            <a:off x="4910328" y="2139696"/>
            <a:ext cx="18288" cy="64556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93208" y="2139696"/>
            <a:ext cx="2999232" cy="1188719"/>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40" name="Rounded Rectangle 39"/>
          <p:cNvSpPr/>
          <p:nvPr/>
        </p:nvSpPr>
        <p:spPr>
          <a:xfrm>
            <a:off x="8220456"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arrows-exchange_white.png"/>
          <p:cNvPicPr>
            <a:picLocks noChangeAspect="1"/>
          </p:cNvPicPr>
          <p:nvPr/>
        </p:nvPicPr>
        <p:blipFill>
          <a:blip r:embed="rId2"/>
          <a:stretch>
            <a:fillRect/>
          </a:stretch>
        </p:blipFill>
        <p:spPr>
          <a:xfrm>
            <a:off x="9515856" y="2249424"/>
            <a:ext cx="438912" cy="438912"/>
          </a:xfrm>
          <a:prstGeom prst="rect">
            <a:avLst/>
          </a:prstGeom>
        </p:spPr>
      </p:pic>
      <p:sp>
        <p:nvSpPr>
          <p:cNvPr id="42" name="TextBox 41"/>
          <p:cNvSpPr txBox="1"/>
          <p:nvPr/>
        </p:nvSpPr>
        <p:spPr>
          <a:xfrm>
            <a:off x="8220456"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C1 </a:t>
            </a:r>
            <a:r>
              <a:rPr sz="2200" b="1">
                <a:solidFill>
                  <a:srgbClr val="FFFFFF"/>
                </a:solidFill>
                <a:latin typeface="Arial"/>
                <a:ea typeface="Arial"/>
              </a:rPr>
              <a:t>Convertibility</a:t>
            </a:r>
          </a:p>
          <a:p>
            <a:pPr algn="ctr">
              <a:lnSpc>
                <a:spcPct val="100000"/>
              </a:lnSpc>
            </a:pPr>
            <a:r>
              <a:rPr sz="1800" b="0">
                <a:solidFill>
                  <a:srgbClr val="FFFFFF"/>
                </a:solidFill>
                <a:latin typeface="Arial"/>
                <a:ea typeface="Arial"/>
              </a:rPr>
              <a:t>자원의 유연한 전환</a:t>
            </a:r>
          </a:p>
        </p:txBody>
      </p:sp>
      <p:sp>
        <p:nvSpPr>
          <p:cNvPr id="43" name="Rounded Rectangle 42"/>
          <p:cNvSpPr/>
          <p:nvPr/>
        </p:nvSpPr>
        <p:spPr>
          <a:xfrm>
            <a:off x="11378184"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stack-push_white.png"/>
          <p:cNvPicPr>
            <a:picLocks noChangeAspect="1"/>
          </p:cNvPicPr>
          <p:nvPr/>
        </p:nvPicPr>
        <p:blipFill>
          <a:blip r:embed="rId3"/>
          <a:stretch>
            <a:fillRect/>
          </a:stretch>
        </p:blipFill>
        <p:spPr>
          <a:xfrm>
            <a:off x="12673584" y="2249424"/>
            <a:ext cx="438912" cy="438912"/>
          </a:xfrm>
          <a:prstGeom prst="rect">
            <a:avLst/>
          </a:prstGeom>
        </p:spPr>
      </p:pic>
      <p:sp>
        <p:nvSpPr>
          <p:cNvPr id="45" name="TextBox 44"/>
          <p:cNvSpPr txBox="1"/>
          <p:nvPr/>
        </p:nvSpPr>
        <p:spPr>
          <a:xfrm>
            <a:off x="11378184"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C2 </a:t>
            </a:r>
            <a:r>
              <a:rPr sz="2200" b="1">
                <a:solidFill>
                  <a:srgbClr val="FFFFFF"/>
                </a:solidFill>
                <a:latin typeface="Arial"/>
                <a:ea typeface="Arial"/>
              </a:rPr>
              <a:t>Continuity</a:t>
            </a:r>
          </a:p>
          <a:p>
            <a:pPr algn="ctr">
              <a:lnSpc>
                <a:spcPct val="100000"/>
              </a:lnSpc>
            </a:pPr>
            <a:r>
              <a:rPr sz="1800" b="0">
                <a:solidFill>
                  <a:srgbClr val="FFFFFF"/>
                </a:solidFill>
                <a:latin typeface="Arial"/>
                <a:ea typeface="Arial"/>
              </a:rPr>
              <a:t>연속성 있는 기술 축적</a:t>
            </a:r>
          </a:p>
        </p:txBody>
      </p:sp>
      <p:sp>
        <p:nvSpPr>
          <p:cNvPr id="46" name="Rounded Rectangle 45"/>
          <p:cNvSpPr/>
          <p:nvPr/>
        </p:nvSpPr>
        <p:spPr>
          <a:xfrm>
            <a:off x="14535912"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heart-handshake_white.png"/>
          <p:cNvPicPr>
            <a:picLocks noChangeAspect="1"/>
          </p:cNvPicPr>
          <p:nvPr/>
        </p:nvPicPr>
        <p:blipFill>
          <a:blip r:embed="rId4"/>
          <a:stretch>
            <a:fillRect/>
          </a:stretch>
        </p:blipFill>
        <p:spPr>
          <a:xfrm>
            <a:off x="15831312" y="2249424"/>
            <a:ext cx="438912" cy="438912"/>
          </a:xfrm>
          <a:prstGeom prst="rect">
            <a:avLst/>
          </a:prstGeom>
        </p:spPr>
      </p:pic>
      <p:sp>
        <p:nvSpPr>
          <p:cNvPr id="48" name="TextBox 47"/>
          <p:cNvSpPr txBox="1"/>
          <p:nvPr/>
        </p:nvSpPr>
        <p:spPr>
          <a:xfrm>
            <a:off x="14535912"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C3 </a:t>
            </a:r>
            <a:r>
              <a:rPr sz="2200" b="1">
                <a:solidFill>
                  <a:srgbClr val="FFFFFF"/>
                </a:solidFill>
                <a:latin typeface="Arial"/>
                <a:ea typeface="Arial"/>
              </a:rPr>
              <a:t>Co-Creation</a:t>
            </a:r>
          </a:p>
          <a:p>
            <a:pPr algn="ctr">
              <a:lnSpc>
                <a:spcPct val="100000"/>
              </a:lnSpc>
            </a:pPr>
            <a:r>
              <a:rPr sz="1800" b="0">
                <a:solidFill>
                  <a:srgbClr val="FFFFFF"/>
                </a:solidFill>
                <a:latin typeface="Arial"/>
                <a:ea typeface="Arial"/>
              </a:rPr>
              <a:t>고객과 함께 미래를 설계</a:t>
            </a:r>
          </a:p>
        </p:txBody>
      </p:sp>
      <p:sp>
        <p:nvSpPr>
          <p:cNvPr id="49" name="Rounded Rectangle 48"/>
          <p:cNvSpPr/>
          <p:nvPr/>
        </p:nvSpPr>
        <p:spPr>
          <a:xfrm>
            <a:off x="5093208" y="3547872"/>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239512" y="4023360"/>
            <a:ext cx="658368" cy="65836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layers-linked_white.png"/>
          <p:cNvPicPr>
            <a:picLocks noChangeAspect="1"/>
          </p:cNvPicPr>
          <p:nvPr/>
        </p:nvPicPr>
        <p:blipFill>
          <a:blip r:embed="rId5"/>
          <a:stretch>
            <a:fillRect/>
          </a:stretch>
        </p:blipFill>
        <p:spPr>
          <a:xfrm>
            <a:off x="5384352" y="4168200"/>
            <a:ext cx="368686" cy="368686"/>
          </a:xfrm>
          <a:prstGeom prst="rect">
            <a:avLst/>
          </a:prstGeom>
        </p:spPr>
      </p:pic>
      <p:sp>
        <p:nvSpPr>
          <p:cNvPr id="52" name="TextBox 51"/>
          <p:cNvSpPr txBox="1"/>
          <p:nvPr/>
        </p:nvSpPr>
        <p:spPr>
          <a:xfrm>
            <a:off x="6044184" y="3621024"/>
            <a:ext cx="1975103"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1</a:t>
            </a:r>
          </a:p>
          <a:p>
            <a:pPr algn="l">
              <a:lnSpc>
                <a:spcPct val="100000"/>
              </a:lnSpc>
            </a:pPr>
            <a:r>
              <a:rPr sz="2000" b="1">
                <a:solidFill>
                  <a:srgbClr val="1A1A1A"/>
                </a:solidFill>
                <a:latin typeface="Arial"/>
                <a:ea typeface="Arial"/>
              </a:rPr>
              <a:t>Bonding 기반</a:t>
            </a:r>
          </a:p>
          <a:p>
            <a:pPr algn="l">
              <a:lnSpc>
                <a:spcPct val="100000"/>
              </a:lnSpc>
            </a:pPr>
            <a:r>
              <a:rPr sz="2000" b="1">
                <a:solidFill>
                  <a:srgbClr val="1A1A1A"/>
                </a:solidFill>
                <a:latin typeface="Arial"/>
                <a:ea typeface="Arial"/>
              </a:rPr>
              <a:t>DRAM · NAND</a:t>
            </a:r>
          </a:p>
          <a:p>
            <a:pPr algn="l">
              <a:lnSpc>
                <a:spcPct val="100000"/>
              </a:lnSpc>
            </a:pPr>
            <a:r>
              <a:rPr sz="2000" b="1">
                <a:solidFill>
                  <a:srgbClr val="1A1A1A"/>
                </a:solidFill>
                <a:latin typeface="Arial"/>
                <a:ea typeface="Arial"/>
              </a:rPr>
              <a:t>통합 제조</a:t>
            </a:r>
          </a:p>
        </p:txBody>
      </p:sp>
      <p:sp>
        <p:nvSpPr>
          <p:cNvPr id="53" name="Rounded Rectangle 52"/>
          <p:cNvSpPr/>
          <p:nvPr/>
        </p:nvSpPr>
        <p:spPr>
          <a:xfrm>
            <a:off x="8220456"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385048"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building-factory-2_blue.png"/>
          <p:cNvPicPr>
            <a:picLocks noChangeAspect="1"/>
          </p:cNvPicPr>
          <p:nvPr/>
        </p:nvPicPr>
        <p:blipFill>
          <a:blip r:embed="rId6"/>
          <a:stretch>
            <a:fillRect/>
          </a:stretch>
        </p:blipFill>
        <p:spPr>
          <a:xfrm>
            <a:off x="8519464" y="3846880"/>
            <a:ext cx="371246" cy="371246"/>
          </a:xfrm>
          <a:prstGeom prst="rect">
            <a:avLst/>
          </a:prstGeom>
        </p:spPr>
      </p:pic>
      <p:sp>
        <p:nvSpPr>
          <p:cNvPr id="56" name="TextBox 55"/>
          <p:cNvSpPr txBox="1"/>
          <p:nvPr/>
        </p:nvSpPr>
        <p:spPr>
          <a:xfrm>
            <a:off x="9153144"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제조라인 공용화</a:t>
            </a:r>
          </a:p>
        </p:txBody>
      </p:sp>
      <p:sp>
        <p:nvSpPr>
          <p:cNvPr id="57" name="TextBox 56"/>
          <p:cNvSpPr txBox="1"/>
          <p:nvPr/>
        </p:nvSpPr>
        <p:spPr>
          <a:xfrm>
            <a:off x="8403336"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수요에 따라</a:t>
            </a:r>
          </a:p>
          <a:p>
            <a:pPr algn="l">
              <a:lnSpc>
                <a:spcPct val="105000"/>
              </a:lnSpc>
            </a:pPr>
            <a:r>
              <a:rPr sz="1800" b="0">
                <a:solidFill>
                  <a:srgbClr val="555555"/>
                </a:solidFill>
                <a:latin typeface="Arial"/>
                <a:ea typeface="Arial"/>
              </a:rPr>
              <a:t>DRAM ↔ NAND 전환</a:t>
            </a:r>
          </a:p>
        </p:txBody>
      </p:sp>
      <p:sp>
        <p:nvSpPr>
          <p:cNvPr id="58" name="Rounded Rectangle 57"/>
          <p:cNvSpPr/>
          <p:nvPr/>
        </p:nvSpPr>
        <p:spPr>
          <a:xfrm>
            <a:off x="11378184"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542776"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recycle_blue.png"/>
          <p:cNvPicPr>
            <a:picLocks noChangeAspect="1"/>
          </p:cNvPicPr>
          <p:nvPr/>
        </p:nvPicPr>
        <p:blipFill>
          <a:blip r:embed="rId7"/>
          <a:stretch>
            <a:fillRect/>
          </a:stretch>
        </p:blipFill>
        <p:spPr>
          <a:xfrm>
            <a:off x="11677192" y="3846880"/>
            <a:ext cx="371246" cy="371246"/>
          </a:xfrm>
          <a:prstGeom prst="rect">
            <a:avLst/>
          </a:prstGeom>
        </p:spPr>
      </p:pic>
      <p:sp>
        <p:nvSpPr>
          <p:cNvPr id="61" name="TextBox 60"/>
          <p:cNvSpPr txBox="1"/>
          <p:nvPr/>
        </p:nvSpPr>
        <p:spPr>
          <a:xfrm>
            <a:off x="12310872"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Legacy Cell</a:t>
            </a:r>
          </a:p>
          <a:p>
            <a:pPr algn="l">
              <a:lnSpc>
                <a:spcPct val="100000"/>
              </a:lnSpc>
            </a:pPr>
            <a:r>
              <a:rPr sz="2000" b="1">
                <a:solidFill>
                  <a:srgbClr val="1A1A1A"/>
                </a:solidFill>
                <a:latin typeface="Arial"/>
                <a:ea typeface="Arial"/>
              </a:rPr>
              <a:t>자산화</a:t>
            </a:r>
          </a:p>
        </p:txBody>
      </p:sp>
      <p:sp>
        <p:nvSpPr>
          <p:cNvPr id="62" name="TextBox 61"/>
          <p:cNvSpPr txBox="1"/>
          <p:nvPr/>
        </p:nvSpPr>
        <p:spPr>
          <a:xfrm>
            <a:off x="11561064"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검증된 DRAM Cell 기술을</a:t>
            </a:r>
          </a:p>
          <a:p>
            <a:pPr algn="l">
              <a:lnSpc>
                <a:spcPct val="105000"/>
              </a:lnSpc>
            </a:pPr>
            <a:r>
              <a:rPr sz="1800" b="0">
                <a:solidFill>
                  <a:srgbClr val="555555"/>
                </a:solidFill>
                <a:latin typeface="Arial"/>
                <a:ea typeface="Arial"/>
              </a:rPr>
              <a:t>그대로 활용</a:t>
            </a:r>
          </a:p>
        </p:txBody>
      </p:sp>
      <p:sp>
        <p:nvSpPr>
          <p:cNvPr id="63" name="Rounded Rectangle 62"/>
          <p:cNvSpPr/>
          <p:nvPr/>
        </p:nvSpPr>
        <p:spPr>
          <a:xfrm>
            <a:off x="14535912"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4700504"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adjustments-horizontal_blue.png"/>
          <p:cNvPicPr>
            <a:picLocks noChangeAspect="1"/>
          </p:cNvPicPr>
          <p:nvPr/>
        </p:nvPicPr>
        <p:blipFill>
          <a:blip r:embed="rId8"/>
          <a:stretch>
            <a:fillRect/>
          </a:stretch>
        </p:blipFill>
        <p:spPr>
          <a:xfrm>
            <a:off x="14834920" y="3846880"/>
            <a:ext cx="371246" cy="371246"/>
          </a:xfrm>
          <a:prstGeom prst="rect">
            <a:avLst/>
          </a:prstGeom>
        </p:spPr>
      </p:pic>
      <p:sp>
        <p:nvSpPr>
          <p:cNvPr id="66" name="TextBox 65"/>
          <p:cNvSpPr txBox="1"/>
          <p:nvPr/>
        </p:nvSpPr>
        <p:spPr>
          <a:xfrm>
            <a:off x="15468600"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Peripherals</a:t>
            </a:r>
          </a:p>
          <a:p>
            <a:pPr algn="l">
              <a:lnSpc>
                <a:spcPct val="100000"/>
              </a:lnSpc>
            </a:pPr>
            <a:r>
              <a:rPr sz="2000" b="1">
                <a:solidFill>
                  <a:srgbClr val="1A1A1A"/>
                </a:solidFill>
                <a:latin typeface="Arial"/>
                <a:ea typeface="Arial"/>
              </a:rPr>
              <a:t>맞춤 제공</a:t>
            </a:r>
          </a:p>
        </p:txBody>
      </p:sp>
      <p:sp>
        <p:nvSpPr>
          <p:cNvPr id="67" name="TextBox 66"/>
          <p:cNvSpPr txBox="1"/>
          <p:nvPr/>
        </p:nvSpPr>
        <p:spPr>
          <a:xfrm>
            <a:off x="14718792"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Cell은 공통,</a:t>
            </a:r>
          </a:p>
          <a:p>
            <a:pPr algn="l">
              <a:lnSpc>
                <a:spcPct val="105000"/>
              </a:lnSpc>
            </a:pPr>
            <a:r>
              <a:rPr sz="1800" b="0">
                <a:solidFill>
                  <a:srgbClr val="555555"/>
                </a:solidFill>
                <a:latin typeface="Arial"/>
                <a:ea typeface="Arial"/>
              </a:rPr>
              <a:t>Peri는 고객별 맞춤</a:t>
            </a:r>
          </a:p>
        </p:txBody>
      </p:sp>
      <p:sp>
        <p:nvSpPr>
          <p:cNvPr id="68" name="Rounded Rectangle 67"/>
          <p:cNvSpPr/>
          <p:nvPr/>
        </p:nvSpPr>
        <p:spPr>
          <a:xfrm>
            <a:off x="5093208" y="5266944"/>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239512" y="5742431"/>
            <a:ext cx="658368" cy="65836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tack-2_white.png"/>
          <p:cNvPicPr>
            <a:picLocks noChangeAspect="1"/>
          </p:cNvPicPr>
          <p:nvPr/>
        </p:nvPicPr>
        <p:blipFill>
          <a:blip r:embed="rId9"/>
          <a:stretch>
            <a:fillRect/>
          </a:stretch>
        </p:blipFill>
        <p:spPr>
          <a:xfrm>
            <a:off x="5384352" y="5887272"/>
            <a:ext cx="368686" cy="368686"/>
          </a:xfrm>
          <a:prstGeom prst="rect">
            <a:avLst/>
          </a:prstGeom>
        </p:spPr>
      </p:pic>
      <p:sp>
        <p:nvSpPr>
          <p:cNvPr id="71" name="TextBox 70"/>
          <p:cNvSpPr txBox="1"/>
          <p:nvPr/>
        </p:nvSpPr>
        <p:spPr>
          <a:xfrm>
            <a:off x="6044184" y="5340096"/>
            <a:ext cx="1975103"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2</a:t>
            </a:r>
          </a:p>
          <a:p>
            <a:pPr algn="l">
              <a:lnSpc>
                <a:spcPct val="100000"/>
              </a:lnSpc>
            </a:pPr>
            <a:r>
              <a:rPr sz="2000" b="1">
                <a:solidFill>
                  <a:srgbClr val="1A1A1A"/>
                </a:solidFill>
                <a:latin typeface="Arial"/>
                <a:ea typeface="Arial"/>
              </a:rPr>
              <a:t>고객 맞춤형</a:t>
            </a:r>
          </a:p>
          <a:p>
            <a:pPr algn="l">
              <a:lnSpc>
                <a:spcPct val="100000"/>
              </a:lnSpc>
            </a:pPr>
            <a:r>
              <a:rPr sz="2000" b="1">
                <a:solidFill>
                  <a:srgbClr val="1A1A1A"/>
                </a:solidFill>
                <a:latin typeface="Arial"/>
                <a:ea typeface="Arial"/>
              </a:rPr>
              <a:t>차세대 메모리</a:t>
            </a:r>
          </a:p>
          <a:p>
            <a:pPr algn="l">
              <a:lnSpc>
                <a:spcPct val="100000"/>
              </a:lnSpc>
            </a:pPr>
            <a:r>
              <a:rPr sz="2000" b="1">
                <a:solidFill>
                  <a:srgbClr val="1A1A1A"/>
                </a:solidFill>
                <a:latin typeface="Arial"/>
                <a:ea typeface="Arial"/>
              </a:rPr>
              <a:t>개발</a:t>
            </a:r>
          </a:p>
        </p:txBody>
      </p:sp>
      <p:sp>
        <p:nvSpPr>
          <p:cNvPr id="72" name="Rounded Rectangle 71"/>
          <p:cNvSpPr/>
          <p:nvPr/>
        </p:nvSpPr>
        <p:spPr>
          <a:xfrm>
            <a:off x="8220456"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385048"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cpu-2_blue.png"/>
          <p:cNvPicPr>
            <a:picLocks noChangeAspect="1"/>
          </p:cNvPicPr>
          <p:nvPr/>
        </p:nvPicPr>
        <p:blipFill>
          <a:blip r:embed="rId10"/>
          <a:stretch>
            <a:fillRect/>
          </a:stretch>
        </p:blipFill>
        <p:spPr>
          <a:xfrm>
            <a:off x="8519464" y="5565952"/>
            <a:ext cx="371246" cy="371246"/>
          </a:xfrm>
          <a:prstGeom prst="rect">
            <a:avLst/>
          </a:prstGeom>
        </p:spPr>
      </p:pic>
      <p:sp>
        <p:nvSpPr>
          <p:cNvPr id="75" name="TextBox 74"/>
          <p:cNvSpPr txBox="1"/>
          <p:nvPr/>
        </p:nvSpPr>
        <p:spPr>
          <a:xfrm>
            <a:off x="9153144"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로직 IP</a:t>
            </a:r>
          </a:p>
          <a:p>
            <a:pPr algn="l">
              <a:lnSpc>
                <a:spcPct val="100000"/>
              </a:lnSpc>
            </a:pPr>
            <a:r>
              <a:rPr sz="2000" b="1">
                <a:solidFill>
                  <a:srgbClr val="1A1A1A"/>
                </a:solidFill>
                <a:latin typeface="Arial"/>
                <a:ea typeface="Arial"/>
              </a:rPr>
              <a:t>역량 전환</a:t>
            </a:r>
          </a:p>
        </p:txBody>
      </p:sp>
      <p:sp>
        <p:nvSpPr>
          <p:cNvPr id="76" name="TextBox 75"/>
          <p:cNvSpPr txBox="1"/>
          <p:nvPr/>
        </p:nvSpPr>
        <p:spPr>
          <a:xfrm>
            <a:off x="8403336"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설계 역량 · 자원을</a:t>
            </a:r>
          </a:p>
          <a:p>
            <a:pPr algn="l">
              <a:lnSpc>
                <a:spcPct val="105000"/>
              </a:lnSpc>
            </a:pPr>
            <a:r>
              <a:rPr sz="1800" b="0">
                <a:solidFill>
                  <a:srgbClr val="555555"/>
                </a:solidFill>
                <a:latin typeface="Arial"/>
                <a:ea typeface="Arial"/>
              </a:rPr>
              <a:t>메모리 로직 IP로</a:t>
            </a:r>
          </a:p>
        </p:txBody>
      </p:sp>
      <p:sp>
        <p:nvSpPr>
          <p:cNvPr id="77" name="Rounded Rectangle 76"/>
          <p:cNvSpPr/>
          <p:nvPr/>
        </p:nvSpPr>
        <p:spPr>
          <a:xfrm>
            <a:off x="11378184"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1542776"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shield-check_blue.png"/>
          <p:cNvPicPr>
            <a:picLocks noChangeAspect="1"/>
          </p:cNvPicPr>
          <p:nvPr/>
        </p:nvPicPr>
        <p:blipFill>
          <a:blip r:embed="rId11"/>
          <a:stretch>
            <a:fillRect/>
          </a:stretch>
        </p:blipFill>
        <p:spPr>
          <a:xfrm>
            <a:off x="11677192" y="5565952"/>
            <a:ext cx="371246" cy="371246"/>
          </a:xfrm>
          <a:prstGeom prst="rect">
            <a:avLst/>
          </a:prstGeom>
        </p:spPr>
      </p:pic>
      <p:sp>
        <p:nvSpPr>
          <p:cNvPr id="80" name="TextBox 79"/>
          <p:cNvSpPr txBox="1"/>
          <p:nvPr/>
        </p:nvSpPr>
        <p:spPr>
          <a:xfrm>
            <a:off x="12310872"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검증된 품질 ·</a:t>
            </a:r>
          </a:p>
          <a:p>
            <a:pPr algn="l">
              <a:lnSpc>
                <a:spcPct val="100000"/>
              </a:lnSpc>
            </a:pPr>
            <a:r>
              <a:rPr sz="2000" b="1">
                <a:solidFill>
                  <a:srgbClr val="1A1A1A"/>
                </a:solidFill>
                <a:latin typeface="Arial"/>
                <a:ea typeface="Arial"/>
              </a:rPr>
              <a:t>적기 공급</a:t>
            </a:r>
          </a:p>
        </p:txBody>
      </p:sp>
      <p:sp>
        <p:nvSpPr>
          <p:cNvPr id="81" name="TextBox 80"/>
          <p:cNvSpPr txBox="1"/>
          <p:nvPr/>
        </p:nvSpPr>
        <p:spPr>
          <a:xfrm>
            <a:off x="11561064"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양산으로 검증된 품질을</a:t>
            </a:r>
          </a:p>
          <a:p>
            <a:pPr algn="l">
              <a:lnSpc>
                <a:spcPct val="105000"/>
              </a:lnSpc>
            </a:pPr>
            <a:r>
              <a:rPr sz="1800" b="0">
                <a:solidFill>
                  <a:srgbClr val="555555"/>
                </a:solidFill>
                <a:latin typeface="Arial"/>
                <a:ea typeface="Arial"/>
              </a:rPr>
              <a:t>제때 공급</a:t>
            </a:r>
          </a:p>
        </p:txBody>
      </p:sp>
      <p:sp>
        <p:nvSpPr>
          <p:cNvPr id="82" name="Rounded Rectangle 81"/>
          <p:cNvSpPr/>
          <p:nvPr/>
        </p:nvSpPr>
        <p:spPr>
          <a:xfrm>
            <a:off x="14535912"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700504"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puzzle_blue.png"/>
          <p:cNvPicPr>
            <a:picLocks noChangeAspect="1"/>
          </p:cNvPicPr>
          <p:nvPr/>
        </p:nvPicPr>
        <p:blipFill>
          <a:blip r:embed="rId12"/>
          <a:stretch>
            <a:fillRect/>
          </a:stretch>
        </p:blipFill>
        <p:spPr>
          <a:xfrm>
            <a:off x="14834920" y="5565952"/>
            <a:ext cx="371246" cy="371246"/>
          </a:xfrm>
          <a:prstGeom prst="rect">
            <a:avLst/>
          </a:prstGeom>
        </p:spPr>
      </p:pic>
      <p:sp>
        <p:nvSpPr>
          <p:cNvPr id="85" name="TextBox 84"/>
          <p:cNvSpPr txBox="1"/>
          <p:nvPr/>
        </p:nvSpPr>
        <p:spPr>
          <a:xfrm>
            <a:off x="15468600"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Custom Logic</a:t>
            </a:r>
          </a:p>
          <a:p>
            <a:pPr algn="l">
              <a:lnSpc>
                <a:spcPct val="100000"/>
              </a:lnSpc>
            </a:pPr>
            <a:r>
              <a:rPr sz="2000" b="1">
                <a:solidFill>
                  <a:srgbClr val="1A1A1A"/>
                </a:solidFill>
                <a:latin typeface="Arial"/>
                <a:ea typeface="Arial"/>
              </a:rPr>
              <a:t>협업</a:t>
            </a:r>
          </a:p>
        </p:txBody>
      </p:sp>
      <p:sp>
        <p:nvSpPr>
          <p:cNvPr id="86" name="TextBox 85"/>
          <p:cNvSpPr txBox="1"/>
          <p:nvPr/>
        </p:nvSpPr>
        <p:spPr>
          <a:xfrm>
            <a:off x="14718792"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가속기별 로직을</a:t>
            </a:r>
          </a:p>
          <a:p>
            <a:pPr algn="l">
              <a:lnSpc>
                <a:spcPct val="105000"/>
              </a:lnSpc>
            </a:pPr>
            <a:r>
              <a:rPr sz="1800" b="0">
                <a:solidFill>
                  <a:srgbClr val="555555"/>
                </a:solidFill>
                <a:latin typeface="Arial"/>
                <a:ea typeface="Arial"/>
              </a:rPr>
              <a:t>고객과 함께 설계</a:t>
            </a:r>
          </a:p>
        </p:txBody>
      </p:sp>
      <p:sp>
        <p:nvSpPr>
          <p:cNvPr id="87" name="Rounded Rectangle 86"/>
          <p:cNvSpPr/>
          <p:nvPr/>
        </p:nvSpPr>
        <p:spPr>
          <a:xfrm>
            <a:off x="5093208" y="6986016"/>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239512" y="7461504"/>
            <a:ext cx="658368" cy="65836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9" name="Picture 88" descr="server_white.png"/>
          <p:cNvPicPr>
            <a:picLocks noChangeAspect="1"/>
          </p:cNvPicPr>
          <p:nvPr/>
        </p:nvPicPr>
        <p:blipFill>
          <a:blip r:embed="rId13"/>
          <a:stretch>
            <a:fillRect/>
          </a:stretch>
        </p:blipFill>
        <p:spPr>
          <a:xfrm>
            <a:off x="5384352" y="7606344"/>
            <a:ext cx="368686" cy="368686"/>
          </a:xfrm>
          <a:prstGeom prst="rect">
            <a:avLst/>
          </a:prstGeom>
        </p:spPr>
      </p:pic>
      <p:sp>
        <p:nvSpPr>
          <p:cNvPr id="90" name="TextBox 89"/>
          <p:cNvSpPr txBox="1"/>
          <p:nvPr/>
        </p:nvSpPr>
        <p:spPr>
          <a:xfrm>
            <a:off x="6044184" y="7059168"/>
            <a:ext cx="1975103"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3</a:t>
            </a:r>
          </a:p>
          <a:p>
            <a:pPr algn="l">
              <a:lnSpc>
                <a:spcPct val="100000"/>
              </a:lnSpc>
            </a:pPr>
            <a:r>
              <a:rPr sz="2000" b="1">
                <a:solidFill>
                  <a:srgbClr val="1A1A1A"/>
                </a:solidFill>
                <a:latin typeface="Arial"/>
                <a:ea typeface="Arial"/>
              </a:rPr>
              <a:t>고객 시스템을</a:t>
            </a:r>
          </a:p>
          <a:p>
            <a:pPr algn="l">
              <a:lnSpc>
                <a:spcPct val="100000"/>
              </a:lnSpc>
            </a:pPr>
            <a:r>
              <a:rPr sz="2000" b="1">
                <a:solidFill>
                  <a:srgbClr val="1A1A1A"/>
                </a:solidFill>
                <a:latin typeface="Arial"/>
                <a:ea typeface="Arial"/>
              </a:rPr>
              <a:t>고려한 스토리지</a:t>
            </a:r>
          </a:p>
          <a:p>
            <a:pPr algn="l">
              <a:lnSpc>
                <a:spcPct val="100000"/>
              </a:lnSpc>
            </a:pPr>
            <a:r>
              <a:rPr sz="2000" b="1">
                <a:solidFill>
                  <a:srgbClr val="1A1A1A"/>
                </a:solidFill>
                <a:latin typeface="Arial"/>
                <a:ea typeface="Arial"/>
              </a:rPr>
              <a:t>개발</a:t>
            </a:r>
          </a:p>
        </p:txBody>
      </p:sp>
      <p:sp>
        <p:nvSpPr>
          <p:cNvPr id="91" name="Rounded Rectangle 90"/>
          <p:cNvSpPr/>
          <p:nvPr/>
        </p:nvSpPr>
        <p:spPr>
          <a:xfrm>
            <a:off x="8220456"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385048"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3" name="Picture 92" descr="radar_blue.png"/>
          <p:cNvPicPr>
            <a:picLocks noChangeAspect="1"/>
          </p:cNvPicPr>
          <p:nvPr/>
        </p:nvPicPr>
        <p:blipFill>
          <a:blip r:embed="rId14"/>
          <a:stretch>
            <a:fillRect/>
          </a:stretch>
        </p:blipFill>
        <p:spPr>
          <a:xfrm>
            <a:off x="8519464" y="7285024"/>
            <a:ext cx="371246" cy="371246"/>
          </a:xfrm>
          <a:prstGeom prst="rect">
            <a:avLst/>
          </a:prstGeom>
        </p:spPr>
      </p:pic>
      <p:sp>
        <p:nvSpPr>
          <p:cNvPr id="94" name="TextBox 93"/>
          <p:cNvSpPr txBox="1"/>
          <p:nvPr/>
        </p:nvSpPr>
        <p:spPr>
          <a:xfrm>
            <a:off x="9153144"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기술 변화</a:t>
            </a:r>
          </a:p>
          <a:p>
            <a:pPr algn="l">
              <a:lnSpc>
                <a:spcPct val="100000"/>
              </a:lnSpc>
            </a:pPr>
            <a:r>
              <a:rPr sz="2000" b="1">
                <a:solidFill>
                  <a:srgbClr val="1A1A1A"/>
                </a:solidFill>
                <a:latin typeface="Arial"/>
                <a:ea typeface="Arial"/>
              </a:rPr>
              <a:t>조기 센싱</a:t>
            </a:r>
          </a:p>
        </p:txBody>
      </p:sp>
      <p:sp>
        <p:nvSpPr>
          <p:cNvPr id="95" name="TextBox 94"/>
          <p:cNvSpPr txBox="1"/>
          <p:nvPr/>
        </p:nvSpPr>
        <p:spPr>
          <a:xfrm>
            <a:off x="8403336"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고객과 먼저 감지하고</a:t>
            </a:r>
          </a:p>
          <a:p>
            <a:pPr algn="l">
              <a:lnSpc>
                <a:spcPct val="105000"/>
              </a:lnSpc>
            </a:pPr>
            <a:r>
              <a:rPr sz="1800" b="0">
                <a:solidFill>
                  <a:srgbClr val="555555"/>
                </a:solidFill>
                <a:latin typeface="Arial"/>
                <a:ea typeface="Arial"/>
              </a:rPr>
              <a:t>차세대 수요를 함께 설계</a:t>
            </a:r>
          </a:p>
        </p:txBody>
      </p:sp>
      <p:sp>
        <p:nvSpPr>
          <p:cNvPr id="96" name="Rounded Rectangle 95"/>
          <p:cNvSpPr/>
          <p:nvPr/>
        </p:nvSpPr>
        <p:spPr>
          <a:xfrm>
            <a:off x="11378184"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542776"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8" name="Picture 97" descr="sitemap_blue.png"/>
          <p:cNvPicPr>
            <a:picLocks noChangeAspect="1"/>
          </p:cNvPicPr>
          <p:nvPr/>
        </p:nvPicPr>
        <p:blipFill>
          <a:blip r:embed="rId15"/>
          <a:stretch>
            <a:fillRect/>
          </a:stretch>
        </p:blipFill>
        <p:spPr>
          <a:xfrm>
            <a:off x="11677192" y="7285024"/>
            <a:ext cx="371246" cy="371246"/>
          </a:xfrm>
          <a:prstGeom prst="rect">
            <a:avLst/>
          </a:prstGeom>
        </p:spPr>
      </p:pic>
      <p:sp>
        <p:nvSpPr>
          <p:cNvPr id="99" name="TextBox 98"/>
          <p:cNvSpPr txBox="1"/>
          <p:nvPr/>
        </p:nvSpPr>
        <p:spPr>
          <a:xfrm>
            <a:off x="12310872"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시스템 지식</a:t>
            </a:r>
          </a:p>
          <a:p>
            <a:pPr algn="l">
              <a:lnSpc>
                <a:spcPct val="100000"/>
              </a:lnSpc>
            </a:pPr>
            <a:r>
              <a:rPr sz="2000" b="1">
                <a:solidFill>
                  <a:srgbClr val="1A1A1A"/>
                </a:solidFill>
                <a:latin typeface="Arial"/>
                <a:ea typeface="Arial"/>
              </a:rPr>
              <a:t>확장</a:t>
            </a:r>
          </a:p>
        </p:txBody>
      </p:sp>
      <p:sp>
        <p:nvSpPr>
          <p:cNvPr id="100" name="TextBox 99"/>
          <p:cNvSpPr txBox="1"/>
          <p:nvPr/>
        </p:nvSpPr>
        <p:spPr>
          <a:xfrm>
            <a:off x="11561064"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워크로드 연구로</a:t>
            </a:r>
          </a:p>
          <a:p>
            <a:pPr algn="l">
              <a:lnSpc>
                <a:spcPct val="105000"/>
              </a:lnSpc>
            </a:pPr>
            <a:r>
              <a:rPr sz="1800" b="0">
                <a:solidFill>
                  <a:srgbClr val="555555"/>
                </a:solidFill>
                <a:latin typeface="Arial"/>
                <a:ea typeface="Arial"/>
              </a:rPr>
              <a:t>NAND · SSD에서 서버까지</a:t>
            </a:r>
          </a:p>
        </p:txBody>
      </p:sp>
      <p:sp>
        <p:nvSpPr>
          <p:cNvPr id="101" name="Rounded Rectangle 100"/>
          <p:cNvSpPr/>
          <p:nvPr/>
        </p:nvSpPr>
        <p:spPr>
          <a:xfrm>
            <a:off x="14535912"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14700504"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3" name="Picture 102" descr="pencil-cog_blue.png"/>
          <p:cNvPicPr>
            <a:picLocks noChangeAspect="1"/>
          </p:cNvPicPr>
          <p:nvPr/>
        </p:nvPicPr>
        <p:blipFill>
          <a:blip r:embed="rId16"/>
          <a:stretch>
            <a:fillRect/>
          </a:stretch>
        </p:blipFill>
        <p:spPr>
          <a:xfrm>
            <a:off x="14834920" y="7285024"/>
            <a:ext cx="371246" cy="371246"/>
          </a:xfrm>
          <a:prstGeom prst="rect">
            <a:avLst/>
          </a:prstGeom>
        </p:spPr>
      </p:pic>
      <p:sp>
        <p:nvSpPr>
          <p:cNvPr id="104" name="TextBox 103"/>
          <p:cNvSpPr txBox="1"/>
          <p:nvPr/>
        </p:nvSpPr>
        <p:spPr>
          <a:xfrm>
            <a:off x="15468600"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SSD · 서버</a:t>
            </a:r>
          </a:p>
          <a:p>
            <a:pPr algn="l">
              <a:lnSpc>
                <a:spcPct val="100000"/>
              </a:lnSpc>
            </a:pPr>
            <a:r>
              <a:rPr sz="2000" b="1">
                <a:solidFill>
                  <a:srgbClr val="1A1A1A"/>
                </a:solidFill>
                <a:latin typeface="Arial"/>
                <a:ea typeface="Arial"/>
              </a:rPr>
              <a:t>공동 설계</a:t>
            </a:r>
          </a:p>
        </p:txBody>
      </p:sp>
      <p:sp>
        <p:nvSpPr>
          <p:cNvPr id="105" name="TextBox 104"/>
          <p:cNvSpPr txBox="1"/>
          <p:nvPr/>
        </p:nvSpPr>
        <p:spPr>
          <a:xfrm>
            <a:off x="14718792"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AI 수요에 맞춰</a:t>
            </a:r>
          </a:p>
          <a:p>
            <a:pPr algn="l">
              <a:lnSpc>
                <a:spcPct val="105000"/>
              </a:lnSpc>
            </a:pPr>
            <a:r>
              <a:rPr sz="1800" b="0">
                <a:solidFill>
                  <a:srgbClr val="555555"/>
                </a:solidFill>
                <a:latin typeface="Arial"/>
                <a:ea typeface="Arial"/>
              </a:rPr>
              <a:t>기능과 구조를 함께 설계</a:t>
            </a:r>
          </a:p>
        </p:txBody>
      </p:sp>
      <p:sp>
        <p:nvSpPr>
          <p:cNvPr id="106" name="Rectangle 105"/>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108" name="TextBox 107"/>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109" name="TextBox 108"/>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개념도로 수치 주장은 담지 않음.</a:t>
            </a:r>
          </a:p>
          <a:p>
            <a:pPr algn="l">
              <a:lnSpc>
                <a:spcPct val="105000"/>
              </a:lnSpc>
            </a:pPr>
            <a:r>
              <a:rPr sz="1500" b="0">
                <a:solidFill>
                  <a:srgbClr val="555555"/>
                </a:solidFill>
                <a:latin typeface="Arial"/>
                <a:ea typeface="Arial"/>
              </a:rPr>
              <a:t>부품 이미지는 3D 렌더(사진 교체: assets/photos), 아이콘은 Tabler Icons(MIT).</a:t>
            </a:r>
          </a:p>
        </p:txBody>
      </p:sp>
      <p:sp>
        <p:nvSpPr>
          <p:cNvPr id="110" name="TextBox 109"/>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C  3-C 기둥 구조형</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4114800" y="2084831"/>
            <a:ext cx="13450824" cy="731520"/>
          </a:xfrm>
          <a:prstGeom prst="triangl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7012" y="2414016"/>
            <a:ext cx="5486400" cy="365760"/>
          </a:xfrm>
          <a:prstGeom prst="rect">
            <a:avLst/>
          </a:prstGeom>
          <a:noFill/>
        </p:spPr>
        <p:txBody>
          <a:bodyPr wrap="square" anchor="ctr" lIns="0" rIns="0" tIns="0" bIns="0">
            <a:spAutoFit/>
          </a:bodyPr>
          <a:lstStyle/>
          <a:p>
            <a:pPr algn="ctr">
              <a:lnSpc>
                <a:spcPct val="110000"/>
              </a:lnSpc>
            </a:pPr>
            <a:r>
              <a:rPr sz="2200" b="1">
                <a:solidFill>
                  <a:srgbClr val="C0CAEC"/>
                </a:solidFill>
                <a:latin typeface="Arial"/>
                <a:ea typeface="Arial"/>
              </a:rPr>
              <a:t>3-C </a:t>
            </a:r>
            <a:r>
              <a:rPr sz="2200" b="1">
                <a:solidFill>
                  <a:srgbClr val="FFFFFF"/>
                </a:solidFill>
                <a:latin typeface="Arial"/>
                <a:ea typeface="Arial"/>
              </a:rPr>
              <a:t>전체 최적화 체계</a:t>
            </a:r>
          </a:p>
        </p:txBody>
      </p:sp>
      <p:sp>
        <p:nvSpPr>
          <p:cNvPr id="9" name="Rectangle 8"/>
          <p:cNvSpPr/>
          <p:nvPr/>
        </p:nvSpPr>
        <p:spPr>
          <a:xfrm>
            <a:off x="4114800" y="2834640"/>
            <a:ext cx="13450824" cy="914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rrows-exchange_blue.png"/>
          <p:cNvPicPr>
            <a:picLocks noChangeAspect="1"/>
          </p:cNvPicPr>
          <p:nvPr/>
        </p:nvPicPr>
        <p:blipFill>
          <a:blip r:embed="rId2"/>
          <a:stretch>
            <a:fillRect/>
          </a:stretch>
        </p:blipFill>
        <p:spPr>
          <a:xfrm>
            <a:off x="4315968" y="3163824"/>
            <a:ext cx="512064" cy="512064"/>
          </a:xfrm>
          <a:prstGeom prst="rect">
            <a:avLst/>
          </a:prstGeom>
        </p:spPr>
      </p:pic>
      <p:sp>
        <p:nvSpPr>
          <p:cNvPr id="12" name="TextBox 11"/>
          <p:cNvSpPr txBox="1"/>
          <p:nvPr/>
        </p:nvSpPr>
        <p:spPr>
          <a:xfrm>
            <a:off x="499262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C1 </a:t>
            </a:r>
            <a:r>
              <a:rPr sz="2200" b="1">
                <a:solidFill>
                  <a:srgbClr val="1A1A1A"/>
                </a:solidFill>
                <a:latin typeface="Arial"/>
                <a:ea typeface="Arial"/>
              </a:rPr>
              <a:t>Convertibility</a:t>
            </a:r>
          </a:p>
          <a:p>
            <a:pPr algn="l">
              <a:lnSpc>
                <a:spcPct val="100000"/>
              </a:lnSpc>
            </a:pPr>
            <a:r>
              <a:rPr sz="1800" b="0">
                <a:solidFill>
                  <a:srgbClr val="555555"/>
                </a:solidFill>
                <a:latin typeface="Arial"/>
                <a:ea typeface="Arial"/>
              </a:rPr>
              <a:t>자원의 유연한 전환</a:t>
            </a:r>
          </a:p>
        </p:txBody>
      </p:sp>
      <p:sp>
        <p:nvSpPr>
          <p:cNvPr id="13" name="Rectangle 12"/>
          <p:cNvSpPr/>
          <p:nvPr/>
        </p:nvSpPr>
        <p:spPr>
          <a:xfrm>
            <a:off x="426110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26110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305799"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67156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ack-push_blue.png"/>
          <p:cNvPicPr>
            <a:picLocks noChangeAspect="1"/>
          </p:cNvPicPr>
          <p:nvPr/>
        </p:nvPicPr>
        <p:blipFill>
          <a:blip r:embed="rId3"/>
          <a:stretch>
            <a:fillRect/>
          </a:stretch>
        </p:blipFill>
        <p:spPr>
          <a:xfrm>
            <a:off x="8872728" y="3163824"/>
            <a:ext cx="512064" cy="512064"/>
          </a:xfrm>
          <a:prstGeom prst="rect">
            <a:avLst/>
          </a:prstGeom>
        </p:spPr>
      </p:pic>
      <p:sp>
        <p:nvSpPr>
          <p:cNvPr id="18" name="TextBox 17"/>
          <p:cNvSpPr txBox="1"/>
          <p:nvPr/>
        </p:nvSpPr>
        <p:spPr>
          <a:xfrm>
            <a:off x="954938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C2 </a:t>
            </a:r>
            <a:r>
              <a:rPr sz="2200" b="1">
                <a:solidFill>
                  <a:srgbClr val="1A1A1A"/>
                </a:solidFill>
                <a:latin typeface="Arial"/>
                <a:ea typeface="Arial"/>
              </a:rPr>
              <a:t>Continuity</a:t>
            </a:r>
          </a:p>
          <a:p>
            <a:pPr algn="l">
              <a:lnSpc>
                <a:spcPct val="100000"/>
              </a:lnSpc>
            </a:pPr>
            <a:r>
              <a:rPr sz="1800" b="0">
                <a:solidFill>
                  <a:srgbClr val="555555"/>
                </a:solidFill>
                <a:latin typeface="Arial"/>
                <a:ea typeface="Arial"/>
              </a:rPr>
              <a:t>연속성 있는 기술 축적</a:t>
            </a:r>
          </a:p>
        </p:txBody>
      </p:sp>
      <p:sp>
        <p:nvSpPr>
          <p:cNvPr id="19" name="Rectangle 18"/>
          <p:cNvSpPr/>
          <p:nvPr/>
        </p:nvSpPr>
        <p:spPr>
          <a:xfrm>
            <a:off x="881786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81786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862560"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322832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rt-handshake_blue.png"/>
          <p:cNvPicPr>
            <a:picLocks noChangeAspect="1"/>
          </p:cNvPicPr>
          <p:nvPr/>
        </p:nvPicPr>
        <p:blipFill>
          <a:blip r:embed="rId4"/>
          <a:stretch>
            <a:fillRect/>
          </a:stretch>
        </p:blipFill>
        <p:spPr>
          <a:xfrm>
            <a:off x="13429488" y="3163824"/>
            <a:ext cx="512064" cy="512064"/>
          </a:xfrm>
          <a:prstGeom prst="rect">
            <a:avLst/>
          </a:prstGeom>
        </p:spPr>
      </p:pic>
      <p:sp>
        <p:nvSpPr>
          <p:cNvPr id="24" name="TextBox 23"/>
          <p:cNvSpPr txBox="1"/>
          <p:nvPr/>
        </p:nvSpPr>
        <p:spPr>
          <a:xfrm>
            <a:off x="1410614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C3 </a:t>
            </a:r>
            <a:r>
              <a:rPr sz="2200" b="1">
                <a:solidFill>
                  <a:srgbClr val="1A1A1A"/>
                </a:solidFill>
                <a:latin typeface="Arial"/>
                <a:ea typeface="Arial"/>
              </a:rPr>
              <a:t>Co-Creation</a:t>
            </a:r>
          </a:p>
          <a:p>
            <a:pPr algn="l">
              <a:lnSpc>
                <a:spcPct val="100000"/>
              </a:lnSpc>
            </a:pPr>
            <a:r>
              <a:rPr sz="1800" b="0">
                <a:solidFill>
                  <a:srgbClr val="555555"/>
                </a:solidFill>
                <a:latin typeface="Arial"/>
                <a:ea typeface="Arial"/>
              </a:rPr>
              <a:t>고객과 함께 미래를 설계</a:t>
            </a:r>
          </a:p>
        </p:txBody>
      </p:sp>
      <p:sp>
        <p:nvSpPr>
          <p:cNvPr id="25" name="Rectangle 24"/>
          <p:cNvSpPr/>
          <p:nvPr/>
        </p:nvSpPr>
        <p:spPr>
          <a:xfrm>
            <a:off x="1337462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337462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7419320"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999232"/>
            <a:ext cx="3246120" cy="786384"/>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29" name="Rectangle 28"/>
          <p:cNvSpPr/>
          <p:nvPr/>
        </p:nvSpPr>
        <p:spPr>
          <a:xfrm>
            <a:off x="3877056" y="4553712"/>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22376" y="3950208"/>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nder_dram.png"/>
          <p:cNvPicPr>
            <a:picLocks noChangeAspect="1"/>
          </p:cNvPicPr>
          <p:nvPr/>
        </p:nvPicPr>
        <p:blipFill>
          <a:blip r:embed="rId5"/>
          <a:stretch>
            <a:fillRect/>
          </a:stretch>
        </p:blipFill>
        <p:spPr>
          <a:xfrm>
            <a:off x="832104" y="4114166"/>
            <a:ext cx="932688" cy="350201"/>
          </a:xfrm>
          <a:prstGeom prst="rect">
            <a:avLst/>
          </a:prstGeom>
        </p:spPr>
      </p:pic>
      <p:pic>
        <p:nvPicPr>
          <p:cNvPr id="32" name="Picture 31" descr="render_nand.png"/>
          <p:cNvPicPr>
            <a:picLocks noChangeAspect="1"/>
          </p:cNvPicPr>
          <p:nvPr/>
        </p:nvPicPr>
        <p:blipFill>
          <a:blip r:embed="rId6"/>
          <a:stretch>
            <a:fillRect/>
          </a:stretch>
        </p:blipFill>
        <p:spPr>
          <a:xfrm>
            <a:off x="952721" y="4591751"/>
            <a:ext cx="691452" cy="510600"/>
          </a:xfrm>
          <a:prstGeom prst="rect">
            <a:avLst/>
          </a:prstGeom>
        </p:spPr>
      </p:pic>
      <p:sp>
        <p:nvSpPr>
          <p:cNvPr id="33" name="TextBox 32"/>
          <p:cNvSpPr txBox="1"/>
          <p:nvPr/>
        </p:nvSpPr>
        <p:spPr>
          <a:xfrm>
            <a:off x="1874519" y="3986784"/>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1</a:t>
            </a:r>
          </a:p>
          <a:p>
            <a:pPr algn="l">
              <a:lnSpc>
                <a:spcPct val="100000"/>
              </a:lnSpc>
            </a:pPr>
            <a:r>
              <a:rPr sz="2000" b="1">
                <a:solidFill>
                  <a:srgbClr val="1A1A1A"/>
                </a:solidFill>
                <a:latin typeface="Arial"/>
                <a:ea typeface="Arial"/>
              </a:rPr>
              <a:t>Bonding 기반</a:t>
            </a:r>
          </a:p>
          <a:p>
            <a:pPr algn="l">
              <a:lnSpc>
                <a:spcPct val="100000"/>
              </a:lnSpc>
            </a:pPr>
            <a:r>
              <a:rPr sz="2000" b="1">
                <a:solidFill>
                  <a:srgbClr val="1A1A1A"/>
                </a:solidFill>
                <a:latin typeface="Arial"/>
                <a:ea typeface="Arial"/>
              </a:rPr>
              <a:t>DRAM · NAND</a:t>
            </a:r>
          </a:p>
          <a:p>
            <a:pPr algn="l">
              <a:lnSpc>
                <a:spcPct val="100000"/>
              </a:lnSpc>
            </a:pPr>
            <a:r>
              <a:rPr sz="2000" b="1">
                <a:solidFill>
                  <a:srgbClr val="1A1A1A"/>
                </a:solidFill>
                <a:latin typeface="Arial"/>
                <a:ea typeface="Arial"/>
              </a:rPr>
              <a:t>통합 제조</a:t>
            </a:r>
          </a:p>
        </p:txBody>
      </p:sp>
      <p:sp>
        <p:nvSpPr>
          <p:cNvPr id="34" name="Rounded Rectangle 33"/>
          <p:cNvSpPr/>
          <p:nvPr/>
        </p:nvSpPr>
        <p:spPr>
          <a:xfrm>
            <a:off x="435254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uilding-factory-2_blue.png"/>
          <p:cNvPicPr>
            <a:picLocks noChangeAspect="1"/>
          </p:cNvPicPr>
          <p:nvPr/>
        </p:nvPicPr>
        <p:blipFill>
          <a:blip r:embed="rId7"/>
          <a:stretch>
            <a:fillRect/>
          </a:stretch>
        </p:blipFill>
        <p:spPr>
          <a:xfrm>
            <a:off x="4517136" y="4096512"/>
            <a:ext cx="493776" cy="493776"/>
          </a:xfrm>
          <a:prstGeom prst="rect">
            <a:avLst/>
          </a:prstGeom>
        </p:spPr>
      </p:pic>
      <p:sp>
        <p:nvSpPr>
          <p:cNvPr id="36" name="TextBox 35"/>
          <p:cNvSpPr txBox="1"/>
          <p:nvPr/>
        </p:nvSpPr>
        <p:spPr>
          <a:xfrm>
            <a:off x="513892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제조라인 공용화</a:t>
            </a:r>
          </a:p>
        </p:txBody>
      </p:sp>
      <p:sp>
        <p:nvSpPr>
          <p:cNvPr id="37" name="TextBox 36"/>
          <p:cNvSpPr txBox="1"/>
          <p:nvPr/>
        </p:nvSpPr>
        <p:spPr>
          <a:xfrm>
            <a:off x="453542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수요에 따라</a:t>
            </a:r>
          </a:p>
          <a:p>
            <a:pPr algn="l">
              <a:lnSpc>
                <a:spcPct val="100000"/>
              </a:lnSpc>
            </a:pPr>
            <a:r>
              <a:rPr sz="1800" b="0">
                <a:solidFill>
                  <a:srgbClr val="555555"/>
                </a:solidFill>
                <a:latin typeface="Arial"/>
                <a:ea typeface="Arial"/>
              </a:rPr>
              <a:t>DRAM ↔ NAND 전환</a:t>
            </a:r>
          </a:p>
        </p:txBody>
      </p:sp>
      <p:sp>
        <p:nvSpPr>
          <p:cNvPr id="38" name="Rounded Rectangle 37"/>
          <p:cNvSpPr/>
          <p:nvPr/>
        </p:nvSpPr>
        <p:spPr>
          <a:xfrm>
            <a:off x="890930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ecycle_blue.png"/>
          <p:cNvPicPr>
            <a:picLocks noChangeAspect="1"/>
          </p:cNvPicPr>
          <p:nvPr/>
        </p:nvPicPr>
        <p:blipFill>
          <a:blip r:embed="rId8"/>
          <a:stretch>
            <a:fillRect/>
          </a:stretch>
        </p:blipFill>
        <p:spPr>
          <a:xfrm>
            <a:off x="9073896" y="4096512"/>
            <a:ext cx="493776" cy="493776"/>
          </a:xfrm>
          <a:prstGeom prst="rect">
            <a:avLst/>
          </a:prstGeom>
        </p:spPr>
      </p:pic>
      <p:sp>
        <p:nvSpPr>
          <p:cNvPr id="40" name="TextBox 39"/>
          <p:cNvSpPr txBox="1"/>
          <p:nvPr/>
        </p:nvSpPr>
        <p:spPr>
          <a:xfrm>
            <a:off x="969568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Legacy Cell 자산화</a:t>
            </a:r>
          </a:p>
        </p:txBody>
      </p:sp>
      <p:sp>
        <p:nvSpPr>
          <p:cNvPr id="41" name="TextBox 40"/>
          <p:cNvSpPr txBox="1"/>
          <p:nvPr/>
        </p:nvSpPr>
        <p:spPr>
          <a:xfrm>
            <a:off x="909218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검증된 DRAM Cell 기술을</a:t>
            </a:r>
          </a:p>
          <a:p>
            <a:pPr algn="l">
              <a:lnSpc>
                <a:spcPct val="100000"/>
              </a:lnSpc>
            </a:pPr>
            <a:r>
              <a:rPr sz="1800" b="0">
                <a:solidFill>
                  <a:srgbClr val="555555"/>
                </a:solidFill>
                <a:latin typeface="Arial"/>
                <a:ea typeface="Arial"/>
              </a:rPr>
              <a:t>그대로 활용</a:t>
            </a:r>
          </a:p>
        </p:txBody>
      </p:sp>
      <p:sp>
        <p:nvSpPr>
          <p:cNvPr id="42" name="Rounded Rectangle 41"/>
          <p:cNvSpPr/>
          <p:nvPr/>
        </p:nvSpPr>
        <p:spPr>
          <a:xfrm>
            <a:off x="1346606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djustments-horizontal_blue.png"/>
          <p:cNvPicPr>
            <a:picLocks noChangeAspect="1"/>
          </p:cNvPicPr>
          <p:nvPr/>
        </p:nvPicPr>
        <p:blipFill>
          <a:blip r:embed="rId9"/>
          <a:stretch>
            <a:fillRect/>
          </a:stretch>
        </p:blipFill>
        <p:spPr>
          <a:xfrm>
            <a:off x="13630656" y="4096512"/>
            <a:ext cx="493776" cy="493776"/>
          </a:xfrm>
          <a:prstGeom prst="rect">
            <a:avLst/>
          </a:prstGeom>
        </p:spPr>
      </p:pic>
      <p:sp>
        <p:nvSpPr>
          <p:cNvPr id="44" name="TextBox 43"/>
          <p:cNvSpPr txBox="1"/>
          <p:nvPr/>
        </p:nvSpPr>
        <p:spPr>
          <a:xfrm>
            <a:off x="1425244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Peripherals 맞춤 제공</a:t>
            </a:r>
          </a:p>
        </p:txBody>
      </p:sp>
      <p:sp>
        <p:nvSpPr>
          <p:cNvPr id="45" name="TextBox 44"/>
          <p:cNvSpPr txBox="1"/>
          <p:nvPr/>
        </p:nvSpPr>
        <p:spPr>
          <a:xfrm>
            <a:off x="1364894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Cell은 공통,</a:t>
            </a:r>
          </a:p>
          <a:p>
            <a:pPr algn="l">
              <a:lnSpc>
                <a:spcPct val="100000"/>
              </a:lnSpc>
            </a:pPr>
            <a:r>
              <a:rPr sz="1800" b="0">
                <a:solidFill>
                  <a:srgbClr val="555555"/>
                </a:solidFill>
                <a:latin typeface="Arial"/>
                <a:ea typeface="Arial"/>
              </a:rPr>
              <a:t>Peri는 고객별 맞춤</a:t>
            </a:r>
          </a:p>
        </p:txBody>
      </p:sp>
      <p:sp>
        <p:nvSpPr>
          <p:cNvPr id="46" name="Rectangle 45"/>
          <p:cNvSpPr/>
          <p:nvPr/>
        </p:nvSpPr>
        <p:spPr>
          <a:xfrm>
            <a:off x="3877056" y="5907024"/>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22376" y="5303520"/>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render_hbm.png"/>
          <p:cNvPicPr>
            <a:picLocks noChangeAspect="1"/>
          </p:cNvPicPr>
          <p:nvPr/>
        </p:nvPicPr>
        <p:blipFill>
          <a:blip r:embed="rId10"/>
          <a:stretch>
            <a:fillRect/>
          </a:stretch>
        </p:blipFill>
        <p:spPr>
          <a:xfrm>
            <a:off x="832104" y="5593453"/>
            <a:ext cx="932688" cy="682005"/>
          </a:xfrm>
          <a:prstGeom prst="rect">
            <a:avLst/>
          </a:prstGeom>
        </p:spPr>
      </p:pic>
      <p:sp>
        <p:nvSpPr>
          <p:cNvPr id="49" name="TextBox 48"/>
          <p:cNvSpPr txBox="1"/>
          <p:nvPr/>
        </p:nvSpPr>
        <p:spPr>
          <a:xfrm>
            <a:off x="1874519" y="5340096"/>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2</a:t>
            </a:r>
          </a:p>
          <a:p>
            <a:pPr algn="l">
              <a:lnSpc>
                <a:spcPct val="100000"/>
              </a:lnSpc>
            </a:pPr>
            <a:r>
              <a:rPr sz="2000" b="1">
                <a:solidFill>
                  <a:srgbClr val="1A1A1A"/>
                </a:solidFill>
                <a:latin typeface="Arial"/>
                <a:ea typeface="Arial"/>
              </a:rPr>
              <a:t>고객 맞춤형</a:t>
            </a:r>
          </a:p>
          <a:p>
            <a:pPr algn="l">
              <a:lnSpc>
                <a:spcPct val="100000"/>
              </a:lnSpc>
            </a:pPr>
            <a:r>
              <a:rPr sz="2000" b="1">
                <a:solidFill>
                  <a:srgbClr val="1A1A1A"/>
                </a:solidFill>
                <a:latin typeface="Arial"/>
                <a:ea typeface="Arial"/>
              </a:rPr>
              <a:t>차세대 메모리</a:t>
            </a:r>
          </a:p>
          <a:p>
            <a:pPr algn="l">
              <a:lnSpc>
                <a:spcPct val="100000"/>
              </a:lnSpc>
            </a:pPr>
            <a:r>
              <a:rPr sz="2000" b="1">
                <a:solidFill>
                  <a:srgbClr val="1A1A1A"/>
                </a:solidFill>
                <a:latin typeface="Arial"/>
                <a:ea typeface="Arial"/>
              </a:rPr>
              <a:t>개발</a:t>
            </a:r>
          </a:p>
        </p:txBody>
      </p:sp>
      <p:sp>
        <p:nvSpPr>
          <p:cNvPr id="50" name="Rounded Rectangle 49"/>
          <p:cNvSpPr/>
          <p:nvPr/>
        </p:nvSpPr>
        <p:spPr>
          <a:xfrm>
            <a:off x="435254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cpu-2_blue.png"/>
          <p:cNvPicPr>
            <a:picLocks noChangeAspect="1"/>
          </p:cNvPicPr>
          <p:nvPr/>
        </p:nvPicPr>
        <p:blipFill>
          <a:blip r:embed="rId11"/>
          <a:stretch>
            <a:fillRect/>
          </a:stretch>
        </p:blipFill>
        <p:spPr>
          <a:xfrm>
            <a:off x="4517136" y="5449824"/>
            <a:ext cx="493776" cy="493776"/>
          </a:xfrm>
          <a:prstGeom prst="rect">
            <a:avLst/>
          </a:prstGeom>
        </p:spPr>
      </p:pic>
      <p:sp>
        <p:nvSpPr>
          <p:cNvPr id="52" name="TextBox 51"/>
          <p:cNvSpPr txBox="1"/>
          <p:nvPr/>
        </p:nvSpPr>
        <p:spPr>
          <a:xfrm>
            <a:off x="513892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로직 IP 역량 전환</a:t>
            </a:r>
          </a:p>
        </p:txBody>
      </p:sp>
      <p:sp>
        <p:nvSpPr>
          <p:cNvPr id="53" name="TextBox 52"/>
          <p:cNvSpPr txBox="1"/>
          <p:nvPr/>
        </p:nvSpPr>
        <p:spPr>
          <a:xfrm>
            <a:off x="453542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설계 역량 · 자원을</a:t>
            </a:r>
          </a:p>
          <a:p>
            <a:pPr algn="l">
              <a:lnSpc>
                <a:spcPct val="100000"/>
              </a:lnSpc>
            </a:pPr>
            <a:r>
              <a:rPr sz="1800" b="0">
                <a:solidFill>
                  <a:srgbClr val="555555"/>
                </a:solidFill>
                <a:latin typeface="Arial"/>
                <a:ea typeface="Arial"/>
              </a:rPr>
              <a:t>메모리 로직 IP로</a:t>
            </a:r>
          </a:p>
        </p:txBody>
      </p:sp>
      <p:sp>
        <p:nvSpPr>
          <p:cNvPr id="54" name="Rounded Rectangle 53"/>
          <p:cNvSpPr/>
          <p:nvPr/>
        </p:nvSpPr>
        <p:spPr>
          <a:xfrm>
            <a:off x="890930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shield-check_blue.png"/>
          <p:cNvPicPr>
            <a:picLocks noChangeAspect="1"/>
          </p:cNvPicPr>
          <p:nvPr/>
        </p:nvPicPr>
        <p:blipFill>
          <a:blip r:embed="rId12"/>
          <a:stretch>
            <a:fillRect/>
          </a:stretch>
        </p:blipFill>
        <p:spPr>
          <a:xfrm>
            <a:off x="9073896" y="5449824"/>
            <a:ext cx="493776" cy="493776"/>
          </a:xfrm>
          <a:prstGeom prst="rect">
            <a:avLst/>
          </a:prstGeom>
        </p:spPr>
      </p:pic>
      <p:sp>
        <p:nvSpPr>
          <p:cNvPr id="56" name="TextBox 55"/>
          <p:cNvSpPr txBox="1"/>
          <p:nvPr/>
        </p:nvSpPr>
        <p:spPr>
          <a:xfrm>
            <a:off x="969568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검증된 품질 · 적기 공급</a:t>
            </a:r>
          </a:p>
        </p:txBody>
      </p:sp>
      <p:sp>
        <p:nvSpPr>
          <p:cNvPr id="57" name="TextBox 56"/>
          <p:cNvSpPr txBox="1"/>
          <p:nvPr/>
        </p:nvSpPr>
        <p:spPr>
          <a:xfrm>
            <a:off x="909218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양산으로 검증된 품질을</a:t>
            </a:r>
          </a:p>
          <a:p>
            <a:pPr algn="l">
              <a:lnSpc>
                <a:spcPct val="100000"/>
              </a:lnSpc>
            </a:pPr>
            <a:r>
              <a:rPr sz="1800" b="0">
                <a:solidFill>
                  <a:srgbClr val="555555"/>
                </a:solidFill>
                <a:latin typeface="Arial"/>
                <a:ea typeface="Arial"/>
              </a:rPr>
              <a:t>제때 공급</a:t>
            </a:r>
          </a:p>
        </p:txBody>
      </p:sp>
      <p:sp>
        <p:nvSpPr>
          <p:cNvPr id="58" name="Rounded Rectangle 57"/>
          <p:cNvSpPr/>
          <p:nvPr/>
        </p:nvSpPr>
        <p:spPr>
          <a:xfrm>
            <a:off x="1346606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puzzle_blue.png"/>
          <p:cNvPicPr>
            <a:picLocks noChangeAspect="1"/>
          </p:cNvPicPr>
          <p:nvPr/>
        </p:nvPicPr>
        <p:blipFill>
          <a:blip r:embed="rId13"/>
          <a:stretch>
            <a:fillRect/>
          </a:stretch>
        </p:blipFill>
        <p:spPr>
          <a:xfrm>
            <a:off x="13630656" y="5449824"/>
            <a:ext cx="493776" cy="493776"/>
          </a:xfrm>
          <a:prstGeom prst="rect">
            <a:avLst/>
          </a:prstGeom>
        </p:spPr>
      </p:pic>
      <p:sp>
        <p:nvSpPr>
          <p:cNvPr id="60" name="TextBox 59"/>
          <p:cNvSpPr txBox="1"/>
          <p:nvPr/>
        </p:nvSpPr>
        <p:spPr>
          <a:xfrm>
            <a:off x="1425244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Custom Logic 협업</a:t>
            </a:r>
          </a:p>
        </p:txBody>
      </p:sp>
      <p:sp>
        <p:nvSpPr>
          <p:cNvPr id="61" name="TextBox 60"/>
          <p:cNvSpPr txBox="1"/>
          <p:nvPr/>
        </p:nvSpPr>
        <p:spPr>
          <a:xfrm>
            <a:off x="1364894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가속기별 로직을</a:t>
            </a:r>
          </a:p>
          <a:p>
            <a:pPr algn="l">
              <a:lnSpc>
                <a:spcPct val="100000"/>
              </a:lnSpc>
            </a:pPr>
            <a:r>
              <a:rPr sz="1800" b="0">
                <a:solidFill>
                  <a:srgbClr val="555555"/>
                </a:solidFill>
                <a:latin typeface="Arial"/>
                <a:ea typeface="Arial"/>
              </a:rPr>
              <a:t>고객과 함께 설계</a:t>
            </a:r>
          </a:p>
        </p:txBody>
      </p:sp>
      <p:sp>
        <p:nvSpPr>
          <p:cNvPr id="62" name="Rectangle 61"/>
          <p:cNvSpPr/>
          <p:nvPr/>
        </p:nvSpPr>
        <p:spPr>
          <a:xfrm>
            <a:off x="3877056" y="7260336"/>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22376" y="6656832"/>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render_ssd.png"/>
          <p:cNvPicPr>
            <a:picLocks noChangeAspect="1"/>
          </p:cNvPicPr>
          <p:nvPr/>
        </p:nvPicPr>
        <p:blipFill>
          <a:blip r:embed="rId14"/>
          <a:stretch>
            <a:fillRect/>
          </a:stretch>
        </p:blipFill>
        <p:spPr>
          <a:xfrm>
            <a:off x="832104" y="6822747"/>
            <a:ext cx="932688" cy="346288"/>
          </a:xfrm>
          <a:prstGeom prst="rect">
            <a:avLst/>
          </a:prstGeom>
        </p:spPr>
      </p:pic>
      <p:pic>
        <p:nvPicPr>
          <p:cNvPr id="65" name="Picture 64" descr="render_server.png"/>
          <p:cNvPicPr>
            <a:picLocks noChangeAspect="1"/>
          </p:cNvPicPr>
          <p:nvPr/>
        </p:nvPicPr>
        <p:blipFill>
          <a:blip r:embed="rId15"/>
          <a:stretch>
            <a:fillRect/>
          </a:stretch>
        </p:blipFill>
        <p:spPr>
          <a:xfrm>
            <a:off x="864638" y="7298375"/>
            <a:ext cx="867619" cy="510600"/>
          </a:xfrm>
          <a:prstGeom prst="rect">
            <a:avLst/>
          </a:prstGeom>
        </p:spPr>
      </p:pic>
      <p:sp>
        <p:nvSpPr>
          <p:cNvPr id="66" name="TextBox 65"/>
          <p:cNvSpPr txBox="1"/>
          <p:nvPr/>
        </p:nvSpPr>
        <p:spPr>
          <a:xfrm>
            <a:off x="1874519" y="6693408"/>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3</a:t>
            </a:r>
          </a:p>
          <a:p>
            <a:pPr algn="l">
              <a:lnSpc>
                <a:spcPct val="100000"/>
              </a:lnSpc>
            </a:pPr>
            <a:r>
              <a:rPr sz="2000" b="1">
                <a:solidFill>
                  <a:srgbClr val="1A1A1A"/>
                </a:solidFill>
                <a:latin typeface="Arial"/>
                <a:ea typeface="Arial"/>
              </a:rPr>
              <a:t>고객 시스템을</a:t>
            </a:r>
          </a:p>
          <a:p>
            <a:pPr algn="l">
              <a:lnSpc>
                <a:spcPct val="100000"/>
              </a:lnSpc>
            </a:pPr>
            <a:r>
              <a:rPr sz="2000" b="1">
                <a:solidFill>
                  <a:srgbClr val="1A1A1A"/>
                </a:solidFill>
                <a:latin typeface="Arial"/>
                <a:ea typeface="Arial"/>
              </a:rPr>
              <a:t>고려한 스토리지</a:t>
            </a:r>
          </a:p>
          <a:p>
            <a:pPr algn="l">
              <a:lnSpc>
                <a:spcPct val="100000"/>
              </a:lnSpc>
            </a:pPr>
            <a:r>
              <a:rPr sz="2000" b="1">
                <a:solidFill>
                  <a:srgbClr val="1A1A1A"/>
                </a:solidFill>
                <a:latin typeface="Arial"/>
                <a:ea typeface="Arial"/>
              </a:rPr>
              <a:t>개발</a:t>
            </a:r>
          </a:p>
        </p:txBody>
      </p:sp>
      <p:sp>
        <p:nvSpPr>
          <p:cNvPr id="67" name="Rounded Rectangle 66"/>
          <p:cNvSpPr/>
          <p:nvPr/>
        </p:nvSpPr>
        <p:spPr>
          <a:xfrm>
            <a:off x="435254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radar_blue.png"/>
          <p:cNvPicPr>
            <a:picLocks noChangeAspect="1"/>
          </p:cNvPicPr>
          <p:nvPr/>
        </p:nvPicPr>
        <p:blipFill>
          <a:blip r:embed="rId16"/>
          <a:stretch>
            <a:fillRect/>
          </a:stretch>
        </p:blipFill>
        <p:spPr>
          <a:xfrm>
            <a:off x="4517136" y="6803136"/>
            <a:ext cx="493776" cy="493776"/>
          </a:xfrm>
          <a:prstGeom prst="rect">
            <a:avLst/>
          </a:prstGeom>
        </p:spPr>
      </p:pic>
      <p:sp>
        <p:nvSpPr>
          <p:cNvPr id="69" name="TextBox 68"/>
          <p:cNvSpPr txBox="1"/>
          <p:nvPr/>
        </p:nvSpPr>
        <p:spPr>
          <a:xfrm>
            <a:off x="513892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기술 변화 조기 센싱</a:t>
            </a:r>
          </a:p>
        </p:txBody>
      </p:sp>
      <p:sp>
        <p:nvSpPr>
          <p:cNvPr id="70" name="TextBox 69"/>
          <p:cNvSpPr txBox="1"/>
          <p:nvPr/>
        </p:nvSpPr>
        <p:spPr>
          <a:xfrm>
            <a:off x="453542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고객과 먼저 감지하고</a:t>
            </a:r>
          </a:p>
          <a:p>
            <a:pPr algn="l">
              <a:lnSpc>
                <a:spcPct val="100000"/>
              </a:lnSpc>
            </a:pPr>
            <a:r>
              <a:rPr sz="1800" b="0">
                <a:solidFill>
                  <a:srgbClr val="555555"/>
                </a:solidFill>
                <a:latin typeface="Arial"/>
                <a:ea typeface="Arial"/>
              </a:rPr>
              <a:t>차세대 수요를 함께 설계</a:t>
            </a:r>
          </a:p>
        </p:txBody>
      </p:sp>
      <p:sp>
        <p:nvSpPr>
          <p:cNvPr id="71" name="Rounded Rectangle 70"/>
          <p:cNvSpPr/>
          <p:nvPr/>
        </p:nvSpPr>
        <p:spPr>
          <a:xfrm>
            <a:off x="890930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2" name="Picture 71" descr="sitemap_blue.png"/>
          <p:cNvPicPr>
            <a:picLocks noChangeAspect="1"/>
          </p:cNvPicPr>
          <p:nvPr/>
        </p:nvPicPr>
        <p:blipFill>
          <a:blip r:embed="rId17"/>
          <a:stretch>
            <a:fillRect/>
          </a:stretch>
        </p:blipFill>
        <p:spPr>
          <a:xfrm>
            <a:off x="9073896" y="6803136"/>
            <a:ext cx="493776" cy="493776"/>
          </a:xfrm>
          <a:prstGeom prst="rect">
            <a:avLst/>
          </a:prstGeom>
        </p:spPr>
      </p:pic>
      <p:sp>
        <p:nvSpPr>
          <p:cNvPr id="73" name="TextBox 72"/>
          <p:cNvSpPr txBox="1"/>
          <p:nvPr/>
        </p:nvSpPr>
        <p:spPr>
          <a:xfrm>
            <a:off x="969568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시스템 지식 확장</a:t>
            </a:r>
          </a:p>
        </p:txBody>
      </p:sp>
      <p:sp>
        <p:nvSpPr>
          <p:cNvPr id="74" name="TextBox 73"/>
          <p:cNvSpPr txBox="1"/>
          <p:nvPr/>
        </p:nvSpPr>
        <p:spPr>
          <a:xfrm>
            <a:off x="909218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워크로드 연구로</a:t>
            </a:r>
          </a:p>
          <a:p>
            <a:pPr algn="l">
              <a:lnSpc>
                <a:spcPct val="100000"/>
              </a:lnSpc>
            </a:pPr>
            <a:r>
              <a:rPr sz="1800" b="0">
                <a:solidFill>
                  <a:srgbClr val="555555"/>
                </a:solidFill>
                <a:latin typeface="Arial"/>
                <a:ea typeface="Arial"/>
              </a:rPr>
              <a:t>NAND · SSD에서 서버까지</a:t>
            </a:r>
          </a:p>
        </p:txBody>
      </p:sp>
      <p:sp>
        <p:nvSpPr>
          <p:cNvPr id="75" name="Rounded Rectangle 74"/>
          <p:cNvSpPr/>
          <p:nvPr/>
        </p:nvSpPr>
        <p:spPr>
          <a:xfrm>
            <a:off x="1346606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pencil-cog_blue.png"/>
          <p:cNvPicPr>
            <a:picLocks noChangeAspect="1"/>
          </p:cNvPicPr>
          <p:nvPr/>
        </p:nvPicPr>
        <p:blipFill>
          <a:blip r:embed="rId18"/>
          <a:stretch>
            <a:fillRect/>
          </a:stretch>
        </p:blipFill>
        <p:spPr>
          <a:xfrm>
            <a:off x="13630656" y="6803136"/>
            <a:ext cx="493776" cy="493776"/>
          </a:xfrm>
          <a:prstGeom prst="rect">
            <a:avLst/>
          </a:prstGeom>
        </p:spPr>
      </p:pic>
      <p:sp>
        <p:nvSpPr>
          <p:cNvPr id="77" name="TextBox 76"/>
          <p:cNvSpPr txBox="1"/>
          <p:nvPr/>
        </p:nvSpPr>
        <p:spPr>
          <a:xfrm>
            <a:off x="1425244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SSD · 서버 공동 설계</a:t>
            </a:r>
          </a:p>
        </p:txBody>
      </p:sp>
      <p:sp>
        <p:nvSpPr>
          <p:cNvPr id="78" name="TextBox 77"/>
          <p:cNvSpPr txBox="1"/>
          <p:nvPr/>
        </p:nvSpPr>
        <p:spPr>
          <a:xfrm>
            <a:off x="1364894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AI 수요에 맞춰</a:t>
            </a:r>
          </a:p>
          <a:p>
            <a:pPr algn="l">
              <a:lnSpc>
                <a:spcPct val="100000"/>
              </a:lnSpc>
            </a:pPr>
            <a:r>
              <a:rPr sz="1800" b="0">
                <a:solidFill>
                  <a:srgbClr val="555555"/>
                </a:solidFill>
                <a:latin typeface="Arial"/>
                <a:ea typeface="Arial"/>
              </a:rPr>
              <a:t>기능과 구조를 함께 설계</a:t>
            </a:r>
          </a:p>
        </p:txBody>
      </p:sp>
      <p:sp>
        <p:nvSpPr>
          <p:cNvPr id="79" name="Rectangle 78"/>
          <p:cNvSpPr/>
          <p:nvPr/>
        </p:nvSpPr>
        <p:spPr>
          <a:xfrm>
            <a:off x="4005072" y="7991856"/>
            <a:ext cx="13560552"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840480" y="8119872"/>
            <a:ext cx="13725144" cy="512064"/>
          </a:xfrm>
          <a:prstGeom prst="rect">
            <a:avLst/>
          </a:prstGeom>
          <a:solidFill>
            <a:srgbClr val="F5F5F5"/>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840480" y="8119872"/>
            <a:ext cx="13725144" cy="512064"/>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토대: 수요 예측</a:t>
            </a:r>
            <a:r>
              <a:rPr sz="1800" b="0">
                <a:solidFill>
                  <a:srgbClr val="555555"/>
                </a:solidFill>
                <a:latin typeface="Arial"/>
                <a:ea typeface="Arial"/>
              </a:rPr>
              <a:t>    필요하지만, 예측 하나만으로는 불확실성에 대응할 수 없습니다</a:t>
            </a:r>
          </a:p>
        </p:txBody>
      </p:sp>
      <p:sp>
        <p:nvSpPr>
          <p:cNvPr id="82" name="Rectangle 8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84" name="TextBox 8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85" name="TextBox 84"/>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개념도로 수치 주장은 담지 않음.</a:t>
            </a:r>
          </a:p>
          <a:p>
            <a:pPr algn="l">
              <a:lnSpc>
                <a:spcPct val="105000"/>
              </a:lnSpc>
            </a:pPr>
            <a:r>
              <a:rPr sz="1500" b="0">
                <a:solidFill>
                  <a:srgbClr val="555555"/>
                </a:solidFill>
                <a:latin typeface="Arial"/>
                <a:ea typeface="Arial"/>
              </a:rPr>
              <a:t>부품 이미지는 3D 렌더(사진 교체: assets/photos), 아이콘은 Tabler Icons(MIT).</a:t>
            </a:r>
          </a:p>
        </p:txBody>
      </p:sp>
      <p:sp>
        <p:nvSpPr>
          <p:cNvPr id="86" name="TextBox 85"/>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