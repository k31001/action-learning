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82880" cy="7315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SAMSUNG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48640" cy="457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61616"/>
                </a:solidFill>
                <a:latin typeface="IBM Plex Sans"/>
              </a:rPr>
              <a:t>호황의 정점에서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61616"/>
                </a:solidFill>
                <a:latin typeface="IBM Plex Sans"/>
              </a:rPr>
              <a:t>다운턴을 준비하는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F62FE"/>
                </a:solidFill>
                <a:latin typeface="IBM Plex Sans"/>
              </a:rPr>
              <a:t>시나리오 플래닝 기반 전략 보고서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937760"/>
            <a:ext cx="4572000" cy="0"/>
          </a:xfrm>
          <a:prstGeom prst="line">
            <a:avLst/>
          </a:prstGeom>
          <a:ln w="15875">
            <a:solidFill>
              <a:srgbClr val="F1C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252"/>
                </a:solidFill>
                <a:latin typeface="IBM Plex Sans"/>
              </a:rPr>
              <a:t>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DS부문 메모리사업부 전략기획팀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252"/>
                </a:solidFill>
                <a:latin typeface="IBM Plex Sans"/>
              </a:rPr>
              <a:t>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2026년 5월 6일 (Q1 결산 직후)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252"/>
                </a:solidFill>
                <a:latin typeface="IBM Plex Sans"/>
              </a:rPr>
              <a:t>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A1E28"/>
                </a:solidFill>
                <a:latin typeface="IBM Plex Sans"/>
              </a:rPr>
              <a:t>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9단계 논리 흐름 — 호황의 정점에서 다운턴을 준비하기 위한 사고 과정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현재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호황의 정점 + 사이클 산업의 본질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3~6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불확실성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다운턴 시점·규모는 알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7~8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시나리오 플래닝의 정당화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Shell·ExxonMobil·Disney·Samsung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방법론 워크플로우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8단계 시나리오 플래닝 프로세스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29184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메모리 사업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단계별 상세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11~17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29184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29184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Robust 전략 8개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RS-1~RS-8 (RS-8 농수산 헷지 신규)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18~25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5488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75488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EWI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실시간 모니터링 +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75488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75488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전략 리마인드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12개 결정 + 문제 해결 가능성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27~28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754880"/>
            <a:ext cx="3749039" cy="12801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4754880"/>
            <a:ext cx="73152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최종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Decision Request 클로징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1C21B"/>
                </a:solidFill>
                <a:latin typeface="IBM Plex Sans"/>
              </a:rPr>
              <a:t>슬라이드 29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목차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우리는 지금 메모리 호황의 정점에 서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Q1 2026 메모리 매출 사상 최대 ($50.4B, +292% YoY) · 빅테크 AI CapEx $725B · HBM4 캐파 전량 Sold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21031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IBM Plex Sans"/>
              </a:rPr>
              <a:t>$50.4B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삼성 Q1 2026 메모리 매출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BM Plex Sans"/>
              </a:rPr>
              <a:t>사상 최대 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1691640"/>
            <a:ext cx="5779008" cy="21031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IBM Plex Sans"/>
              </a:rPr>
              <a:t>+292%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YoY 성장률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BM Plex Sans"/>
              </a:rPr>
              <a:t>메모리 사업 사상 최대 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779008" cy="21031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IBM Plex Sans"/>
              </a:rPr>
              <a:t>$725B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빅테크 4사 AI CapEx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BM Plex Sans"/>
              </a:rPr>
              <a:t>+77% YoY ($410B → $725B)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3886200"/>
            <a:ext cx="5779008" cy="21031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IBM Plex San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HBM4 2026 캐파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BM Plex Sans"/>
              </a:rPr>
              <a:t>전량 Sold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지금이 호황의 정점 — 그러나 메모리는 사이클 산업이다.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현재 상황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그러나 메모리는 30년간 5번의 다운턴을 겪은 사이클 산업이다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1995~2026년 시장 사이클 — 4~5년 주기로 100%+ 등락 반복, 다운턴은 항상 호황 직후에 도래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ycl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핵심 시사점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25252"/>
                </a:solidFill>
                <a:latin typeface="IBM Plex Sans"/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0604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모든 다운턴은 "예측 불가"한 시점에 도래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38328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2022~23 다운턴: 빅테크 클라우드 capex −15%로 시작 → 메모리 가격 −50%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605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호황기 평균 18~24개월 / 다운턴 평균 12~18개월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9377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다운턴 진입 후에는 이미 늦음 — 사이클 진입 전 준비 필수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현재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다운턴마다 우리 매출은 −38%, 영업이익은 −84% 사라졌다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삼성 메모리사업부 2014~2026 Q1 — 3번의 다운턴 (2015·2019·2022~23) 직접 경험치, 분기 −10조 원 적자 포함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amsung_quarte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A1E28"/>
                </a:solidFill>
                <a:latin typeface="IBM Plex Sans"/>
              </a:rPr>
              <a:t>다운턴 손실 (실측)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2015 다운턴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매출 −32%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영업이익 −75%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2019 다운턴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매출 −38%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영업이익 −88%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2022~23 다운턴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매출 −45%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영업이익 분기 −10조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528523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IBM Plex Sans"/>
              </a:rPr>
              <a:t>평균: 매출 −38%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IBM Plex Sans"/>
              </a:rPr>
              <a:t>영업이익 −84%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현재 상황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게다가 호황 속에서도 우리는 33년 만에 1위를 내줬다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매출 호황과 점유율 패배가 동시 진행 — DRAM 1위 역전, HBM 점유율 40%→17%, AI ROI 경고음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4A148"/>
                </a:solidFill>
                <a:latin typeface="IBM Plex Sans"/>
              </a:rPr>
              <a:t>호황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BOOM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■  메모리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61616"/>
                </a:solidFill>
                <a:latin typeface="IBM Plex Sans"/>
              </a:rPr>
              <a:t>2024 $170B → 2026 $552B (+225%)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■  HBM 시장 Sold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61616"/>
                </a:solidFill>
                <a:latin typeface="IBM Plex Sans"/>
              </a:rPr>
              <a:t>2026 $54.6B 전량 공급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■  빅테크 AI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61616"/>
                </a:solidFill>
                <a:latin typeface="IBM Plex Sans"/>
              </a:rPr>
              <a:t>2024 $200B → 2026 $725B (+263%)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691640"/>
            <a:ext cx="411480" cy="420624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5204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B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U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5394960" cy="4206240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A1E28"/>
                </a:solidFill>
                <a:latin typeface="IBM Plex Sans"/>
              </a:rPr>
              <a:t>위기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WARNING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A1E28"/>
                </a:solidFill>
                <a:latin typeface="IBM Plex Sans"/>
              </a:rPr>
              <a:t>■  DRAM 1위 역전 — 33년 만에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61616"/>
                </a:solidFill>
                <a:latin typeface="IBM Plex Sans"/>
              </a:rPr>
              <a:t>2025: SK $49.6B &gt; 삼성 $46.4B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A1E28"/>
                </a:solidFill>
                <a:latin typeface="IBM Plex Sans"/>
              </a:rPr>
              <a:t>■  HBM 점유율 추락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61616"/>
                </a:solidFill>
                <a:latin typeface="IBM Plex Sans"/>
              </a:rPr>
              <a:t>2023 40% → 2025 Q2 17% → 2026 NVIDIA Rubin 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A1E28"/>
                </a:solidFill>
                <a:latin typeface="IBM Plex Sans"/>
              </a:rPr>
              <a:t>■  AI ROI 경고음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61616"/>
                </a:solidFill>
                <a:latin typeface="IBM Plex Sans"/>
              </a:rPr>
              <a:t>MIT 95% ROI 미실현 / Microsoft FCF −28% 전망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매출 호황 + 점유율 패배 + 거시 경고가 동시에 — 다운턴 신호일 수 있다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현재 상황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호황이 더 길게 갈지, 다운턴이 언제·얼마나 클지 — 모두 알 수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호황 지속 / 약한 조정 / 중간 다운턴 — 3가지 가설 모두 실현 가능, 각각 다른 전략 요구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45720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BM Plex Sans"/>
              </a:rPr>
              <a:t>가설 A — 호황 지속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IBM Plex Sans"/>
              </a:rPr>
              <a:t>다운턴 2030+ 이후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749039" cy="41148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4A148"/>
                </a:solidFill>
                <a:latin typeface="IBM Plex Sans"/>
              </a:rPr>
              <a:t>~2030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AI ROI 안정 실현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빅테크 CapEx 지속 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메모리 가격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HBM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2027 $1조 돌파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삼성 영업이익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삼성 영업이익률 50%+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사상 최대 지속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지속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4~5년 호황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과거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2017~18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+ AI 재가속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303520"/>
            <a:ext cx="3520440" cy="8686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1C21B"/>
                </a:solidFill>
                <a:latin typeface="IBM Plex Sans"/>
              </a:rPr>
              <a:t>필요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호황 최대 활용 — HBM 캐파 가속 증설, 신흥시장 선점, 단가 프리미엄 LTA 락인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1691640"/>
            <a:ext cx="3749039" cy="4572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BM Plex Sans"/>
              </a:rPr>
              <a:t>가설 B — 약한 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IBM Plex Sans"/>
              </a:rPr>
              <a:t>12개월 회복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2148840"/>
            <a:ext cx="3749039" cy="41148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1C21B"/>
                </a:solidFill>
                <a:latin typeface="IBM Plex Sans"/>
              </a:rPr>
              <a:t>2027 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CapEx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빅테크 CapEx YoY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−10~15%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메모리 가격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메모리 가격 −20~30%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삼성 영업이익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삼성 영업이익 −50%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지속 기간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회복 12개월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과거 사례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2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2022~23 형태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7992" y="5303520"/>
            <a:ext cx="3520440" cy="8686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1C21B"/>
                </a:solidFill>
                <a:latin typeface="IBM Plex Sans"/>
              </a:rPr>
              <a:t>필요 전략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재고일수 상한 발동 + RS1 옵션형 캐파로 즉시 일시정지 + R&amp;D 사수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691640"/>
            <a:ext cx="3749039" cy="45720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BM Plex Sans"/>
              </a:rPr>
              <a:t>가설 C — 중간 다운턴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81944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IBM Plex Sans"/>
              </a:rPr>
              <a:t>18~24개월 회복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2148840"/>
            <a:ext cx="3749039" cy="41148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1E28"/>
                </a:solidFill>
                <a:latin typeface="IBM Plex Sans"/>
              </a:rPr>
              <a:t>2028 Q1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CapEx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AI ROI 실망 + CapEx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−25~30%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메모리 가격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메모리 가격 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삼성 영업이익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1784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삼성 영업이익 −85%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7344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지속 기간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1784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회복 18~24개월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7344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  <a:latin typeface="IBM Plex Sans"/>
              </a:rPr>
              <a:t>과거 사례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1784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616"/>
                </a:solidFill>
                <a:latin typeface="IBM Plex Sans"/>
              </a:rPr>
              <a:t>2008~09 형태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1624" y="5303520"/>
            <a:ext cx="3520440" cy="8686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13064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1C21B"/>
                </a:solidFill>
                <a:latin typeface="IBM Plex Sans"/>
              </a:rPr>
              <a:t>필요 전략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064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순현금 30조 버퍼 + 다운사이클 capex 4조원 사수 + Disney-Marvel 모델 M&amp;A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호황 지속도 다운턴도 모두 가능 — 어느 가설이든 "지금 시작한 준비"가 양쪽 모두에서 가치를 만든다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불확실성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단선 예측은 위험하다 — 독립 변수 2개면 시나리오는 4개+이다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단일 미래 가정의 함정 vs 시나리오 플래닝의 강점 — 복수 미래 동시 준비, 자동 트리거 전환, 30일 내 의사결정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486400" cy="4297680"/>
          </a:xfrm>
          <a:prstGeom prst="rect">
            <a:avLst/>
          </a:prstGeom>
          <a:solidFill>
            <a:srgbClr val="FFF1F1"/>
          </a:solidFill>
          <a:ln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A1E28"/>
                </a:solidFill>
                <a:latin typeface="IBM Plex Sans"/>
              </a:rPr>
              <a:t>단선 예측의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1E28"/>
                </a:solidFill>
                <a:latin typeface="IBM Plex Sans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단일 미래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"AI 호황은 5년 더 갈 것" → 한 시나리오 실패 시 회사가 휘청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1E28"/>
                </a:solidFill>
                <a:latin typeface="IBM Plex Sans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의사결정 마비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"확실하지 않으니 결정 미룸" → 사이클이 끝나도 준비 안 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1E28"/>
                </a:solidFill>
                <a:latin typeface="IBM Plex Sans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사후 정당화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"그때는 그게 정답이었다" → 학습 없음, 다음 사이클 같은 실수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DEFBE6"/>
          </a:solidFill>
          <a:ln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4A148"/>
                </a:solidFill>
                <a:latin typeface="IBM Plex Sans"/>
              </a:rPr>
              <a:t>시나리오 플래닝의 강점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4A148"/>
                </a:solidFill>
                <a:latin typeface="IBM Plex Sans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복수 미래 동시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26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각 미래에 강건한 전략을 미리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4A148"/>
                </a:solidFill>
                <a:latin typeface="IBM Plex Sans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Robust 전략 식별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어떤 미래가 와도 가치를 만드는 전략 도출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4A148"/>
                </a:solidFill>
                <a:latin typeface="IBM Plex Sans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251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트리거 기반 자동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특정 신호가 오면 사전 정의된 전략 자동 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4A148"/>
                </a:solidFill>
                <a:latin typeface="IBM Plex Sans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의사결정 속도 향상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32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다운턴 시점에 빠르게 대응 가능 (30일 내)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불확실성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Shell·ExxonMobil·Disney·Samsung도 시나리오로 위기를 기회로 바꿨다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4가지 모두 "다운턴 사전 준비 + 호황기 절제 + 회복기 가속" 조합 — 시나리오 플래닝은 검증된 방법론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BM Plex Sans"/>
              </a:rPr>
              <a:t>Shell 1973 오일쇼크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779008" cy="16916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1972년 시나리오 플래닝팀 신설 → 유가 안정/급등 두 시나리오 준비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1973 OPEC 1차 오일쇼크 발발 → Shell만 미리 준비된 7대 메이저 중 1곳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1970년대 말 BP·엑손 다음 1위로 도약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1C21B"/>
                </a:solidFill>
                <a:latin typeface="IBM Plex Sans"/>
              </a:rPr>
              <a:t>"불확실성 자체를 계획에 포함시켜라"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691640"/>
            <a:ext cx="5779008" cy="4572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BM Plex Sans"/>
              </a:rPr>
              <a:t>ExxonMobil 2014~20 유가 폭락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148840"/>
            <a:ext cx="5779008" cy="16916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유가 $100 → $30 → 음(-) 전개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활동가 투자자 압박에도 capex 사수 (2020년 다우 산업평균 제외 + 첫 적자 감수)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2023년 Pioneer Natural Resources $59.5B 인수 (5개월 종결)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528" y="3383280"/>
            <a:ext cx="5486400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1C21B"/>
                </a:solidFill>
                <a:latin typeface="IBM Plex Sans"/>
              </a:rPr>
              <a:t>"다운사이클은 비축, 회복기는 재투자"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779008" cy="45720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BM Plex Sans"/>
              </a:rPr>
              <a:t>Disney 2009 글로벌 금융위기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779008" cy="16916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2009년 8월 Marvel을 $4B 인수 (PER 37배) — 시장 부정적, S&amp;P 신용 부정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10년 후 MCU 박스오피스 $18B+ 창출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2009년 위기를 활용한 단일 베팅이 회사 재편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1C21B"/>
                </a:solidFill>
                <a:latin typeface="IBM Plex Sans"/>
              </a:rPr>
              <a:t>"위기는 자산 가격을 낮춘다"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931920"/>
            <a:ext cx="5779008" cy="4572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BM Plex Sans"/>
              </a:rPr>
              <a:t>Samsung 2022~23 메모리 다운사이클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389120"/>
            <a:ext cx="5779008" cy="16916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TSMC·마이크론 capex −10%+ 삭감, 삼성: 47.7조 원 capex 집행 (감산 거부)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2025~26 호황기에 점유율 흡수 + 사상 최대 분기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역사이클 투자의 모범 사례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623560"/>
            <a:ext cx="5486400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1C21B"/>
                </a:solidFill>
                <a:latin typeface="IBM Plex Sans"/>
              </a:rPr>
              <a:t>"인위적 감산은 고려하지 않는다"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4개 사례 모두 — "다운턴 사전 준비 + 호황기 절제 + 회복기 가속"의 조합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시나리오 플래닝 정당화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시나리오 플래닝은 8단계 프로세스 — 우리도 같은 길을 따라갔다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Focal Issue → STEEP 50개 → I×U 매트릭스 → Driving Forces 2개 → 시나리오 5개 → Main Bet → Side Bets → Robust + EWI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338560" cy="26005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01 Focal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1개 핵심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9384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02 STEEP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50개 환경 요인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03 I×U 매트릭스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상위 10개 핵심 불확실성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2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04 Driving 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2개 독립 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05 시나리오 매트릭스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5개 대안적 미래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06 Main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핵심 전략 시나리오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07 Side Bets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4개 헤징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62488" y="4114800"/>
            <a:ext cx="1335024" cy="914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5392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62FE"/>
                </a:solidFill>
                <a:latin typeface="IBM Plex Sans"/>
              </a:rPr>
              <a:t>08 Robust + EWI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616"/>
                </a:solidFill>
                <a:latin typeface="IBM Plex Sans"/>
              </a:rPr>
              <a:t>→ 6개 전략 +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25252"/>
                </a:solidFill>
                <a:latin typeface="IBM Plex Sans"/>
              </a:rPr>
              <a:t>프로젝트 기간: 2026년 4월~5월 (6주) · 50개 STEEP 요인 → 5개 시나리오 → 6개 Robust 전략 → 9개 즉시 결정 도출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방법론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Step 1 · 모든 분석은 "2030~2035 1위 유지를 위해 지금 무엇을 결정할 것인가"라는 단 하나의 질문에 답한다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호황의 정점·33년 만의 점유율 역전·HBM 세대 전환 분기점 — 세 가지 압박 위에서 도출된 Focal Issue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1828800"/>
            <a:ext cx="9445752" cy="31089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F1C21B"/>
                </a:solidFill>
                <a:latin typeface="IBM Plex Sans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삼성전자 메모리사업부가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AI 메모리 시대인 2030~2035년에도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글로벌 리더십을 유지하기 위해,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어떤 전략적 결정을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IBM Plex Sans"/>
              </a:rPr>
              <a:t>지금(2026년) 내려야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3383280" cy="82296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호황의 정점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점유율 1위 역전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212080"/>
            <a:ext cx="3383280" cy="8229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시간 압박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HBM 세대 전환 분기점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2026~2027 결정 시점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5212080"/>
            <a:ext cx="3383280" cy="8229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불확실성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AI 슈퍼사이클 vs 거품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미중 디커플링 vs 공존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Step 2·3 · 50개 환경 요인 중 20개가 핵심 불확실성이다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STEEP 5개 카테고리 × 10개씩 = 50개 → I×U 매트릭스 → 상위 4개 (I×U=25): 3D DRAM·AI 버블·수출통제·대만 해협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u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54480"/>
            <a:ext cx="7680960" cy="50860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554480"/>
            <a:ext cx="3383280" cy="438912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STEEP 분류 (50개)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616"/>
                </a:solidFill>
                <a:latin typeface="IBM Plex Sans"/>
              </a:rPr>
              <a:t>S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10개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62FE"/>
                </a:solidFill>
                <a:latin typeface="IBM Plex Sans"/>
              </a:rPr>
              <a:t>평균 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616"/>
                </a:solidFill>
                <a:latin typeface="IBM Plex Sans"/>
              </a:rPr>
              <a:t>T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62FE"/>
                </a:solidFill>
                <a:latin typeface="IBM Plex Sans"/>
              </a:rPr>
              <a:t>12 (T3 3D DRAM = 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616"/>
                </a:solidFill>
                <a:latin typeface="IBM Plex Sans"/>
              </a:rPr>
              <a:t>Ec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10개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62FE"/>
                </a:solidFill>
                <a:latin typeface="IBM Plex Sans"/>
              </a:rPr>
              <a:t>11 (Ec6 AI 버블 =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616"/>
                </a:solidFill>
                <a:latin typeface="IBM Plex Sans"/>
              </a:rPr>
              <a:t>En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10개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29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62FE"/>
                </a:solidFill>
                <a:latin typeface="IBM Plex San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616"/>
                </a:solidFill>
                <a:latin typeface="IBM Plex Sans"/>
              </a:rPr>
              <a:t>P Political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10개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62FE"/>
                </a:solidFill>
                <a:latin typeface="IBM Plex Sans"/>
              </a:rPr>
              <a:t>12 (P1·P8 = 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분류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● 핵심 불확실성 (I≥4, U≥4) : 20개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◆ 기정사실 (I≥3, U≤3) : 8개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○ 주변부 : 22개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Step 2·3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Step 4 · 두 개의 독립적 축이 우리 미래를 결정한다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DF1 AI 수요 (기술·경제 논리) × DF2 미중 디커플링 (외교·안보 논리) — 서로 다른 인과 경로 = 독립 변수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114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DF1: AI 수요의 구조적 지속성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779008" cy="438912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61616"/>
                </a:solidFill>
                <a:latin typeface="IBM Plex Sans"/>
              </a:rPr>
              <a:t>AI CapEx + HBM 수요가 2030~2035년까지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61616"/>
                </a:solidFill>
                <a:latin typeface="IBM Plex Sans"/>
              </a:rPr>
              <a:t>구조적으로 유지되는가?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697480" cy="1371600"/>
          </a:xfrm>
          <a:prstGeom prst="rect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슈퍼사이클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AI ROI 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2027 빅테크 $1조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HBM이 DRAM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971800"/>
            <a:ext cx="2697480" cy="1371600"/>
          </a:xfrm>
          <a:prstGeom prst="rect">
            <a:avLst/>
          </a:prstGeom>
          <a:solidFill>
            <a:srgbClr val="DEF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버블 붕괴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AI ROI 미실현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2027 빅테크 −30%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2022~23 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현재 위치 → 70% 슈퍼사이클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근거: 2026 HBM Sold Out + AI CapEx +77% YoY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5394960" cy="50292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1C21B"/>
                </a:solidFill>
                <a:latin typeface="IBM Plex Sans"/>
              </a:rPr>
              <a:t>인과 경로: 기술·경제 내적 논리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691640"/>
            <a:ext cx="5779008" cy="4114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DF2: 미중 기술 디커플링 강도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103120"/>
            <a:ext cx="5779008" cy="438912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61616"/>
                </a:solidFill>
                <a:latin typeface="IBM Plex Sans"/>
              </a:rPr>
              <a:t>미국 주도 수출 통제가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61616"/>
                </a:solidFill>
                <a:latin typeface="IBM Plex Sans"/>
              </a:rPr>
              <a:t>전면 디커플링 vs 관리된 공존?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2971800"/>
            <a:ext cx="2697480" cy="1371600"/>
          </a:xfrm>
          <a:prstGeom prst="rect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전면 디커플링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MATCH 법안 통과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시안 팹 차단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A1E28"/>
                </a:solidFill>
                <a:latin typeface="IBM Plex Sans"/>
              </a:rPr>
              <a:t>중국 매출 소멸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3728" y="2971800"/>
            <a:ext cx="2697480" cy="1371600"/>
          </a:xfrm>
          <a:prstGeom prst="rect">
            <a:avLst/>
          </a:prstGeom>
          <a:solidFill>
            <a:srgbClr val="DEF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관리된 공존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선택적 제재·허용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라이선스 갱신 지속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4A148"/>
                </a:solidFill>
                <a:latin typeface="IBM Plex Sans"/>
              </a:rPr>
              <a:t>범용 DRAM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현재 위치 → 중립, 진동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근거: H20 재허용(공존) + VEU 폐지(디커플링)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715000"/>
            <a:ext cx="5394960" cy="50292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1C21B"/>
                </a:solidFill>
                <a:latin typeface="IBM Plex Sans"/>
              </a:rPr>
              <a:t>인과 경로: 외교·안보 논리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F1C21B"/>
                </a:solidFill>
                <a:latin typeface="IBM Plex Sans"/>
              </a:rPr>
              <a:t>두 축이 독립적이므로 → 4가지 미래가 가능 (+ 와일드카드 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Step 5 · 두 축의 조합이 5개 대안적 미래를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2×2 매트릭스 (4개 시나리오) + E 와일드카드 — 확률 합 100%, 각 시나리오의 2035년 시장 규모 명시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cenar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91640"/>
            <a:ext cx="7467361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5개 시나리오 — 가장 가능성 높은 B(30~35%) + 헤징 4개 = 어떤 미래가 와도 대비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Step 6 · Main Bet은 시나리오 B "AI 르네상스" — 그러나 자동 실현 아님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확률 30~35% · 2035 시장 $520B (전 시나리오 최대) · 삼성 매출 $120B 가능 — 4개 전제 조건 충족 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⭐  MAIN BET — "AI 르네상스"  |  확률 30~35%  |  2035 시장 $520B (전 시나리오 최대)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632704" cy="27432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2035년 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글로벌 메모리 시장 $520B (전 시나리오 최대)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AI가 산업 전반 생산성 혁명 실현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미중 관계 2028 "선택적 제재·허용" 프레임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61616"/>
                </a:solidFill>
                <a:latin typeface="IBM Plex Sans"/>
              </a:rPr>
              <a:t>· 빅테크 AI 직접 매출 합산 2027 $500B 돌파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632704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삼성전자 2030년 전망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· 메모리사업부 연간 매출 $120B 돌파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· HBM4E NVIDIA Feynman 플랫폼 공식 탑재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· 텍사스 테일러 2단계(HBM) 2030년 가동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IBM Plex Sans"/>
              </a:rPr>
              <a:t>· 중국 일반 메모리 연 $12B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468112" cy="2743200"/>
          </a:xfrm>
          <a:prstGeom prst="rect">
            <a:avLst/>
          </a:prstGeom>
          <a:solidFill>
            <a:srgbClr val="F4F4F4"/>
          </a:solidFill>
          <a:ln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C21B"/>
                </a:solidFill>
                <a:latin typeface="IBM Plex Sans"/>
              </a:rPr>
              <a:t>이 시나리오 현실화 4개 전제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① AI ROI 실현 (2027~2028 분기점)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② 미중 반도체 무역 타협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③ 삼성 HBM4E 기술 추격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④ 시안 팹 부분 운영 지속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074920"/>
            <a:ext cx="5468112" cy="1280160"/>
          </a:xfrm>
          <a:prstGeom prst="rect">
            <a:avLst/>
          </a:prstGeom>
          <a:solidFill>
            <a:srgbClr val="DEF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A148"/>
                </a:solidFill>
                <a:latin typeface="IBM Plex Sans"/>
              </a:rPr>
              <a:t>2026년 5월 현재 증거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✓ 빅테크 4사 CapEx $725B (강한 Pole A 모멘텀)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✓ H20 재허용·MATCH 미통과 (공존 신호)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✓ 삼성 HBM 점유율 17% → 28% (추격 궤도)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Step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Step 7 · 나머지 4개 시나리오에는 +15% 추가 비용으로 보험을 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A 황금 요새 / C 기술 냉전 / D 조용한 재편 / E 패러다임 전환 — 시나리오별 맞춤 헤징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11274552" cy="4114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핵심 위협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헤징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7373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투자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1183112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62FE"/>
                </a:solidFill>
                <a:latin typeface="IBM Plex Sans"/>
              </a:rPr>
              <a:t>시나리오 A · 황금 요새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시안 팹 상실 (NAND 40% 급감) + 대중 HBM 봉쇄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시안 단계적 축소 Plan B + 일본 R&amp;D 허브 + LTA 집중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40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1C21B"/>
                </a:solidFill>
                <a:latin typeface="IBM Plex Sans"/>
              </a:rPr>
              <a:t>시안 이전 5조원 + 일본 R&amp;D 1조원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DA1E28"/>
                </a:solidFill>
                <a:latin typeface="IBM Plex Sans"/>
              </a:rPr>
              <a:t>시나리오 C · 기술 냉전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HBM 수요 급냉 + 시안 차단 이중 충격 + 소재 수출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캐나다·호주·카자흐스탄 소재 LTA + 순현금 30조원 + R&amp;D 3,000억원/년 사수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1C21B"/>
                </a:solidFill>
                <a:latin typeface="IBM Plex Sans"/>
              </a:rPr>
              <a:t>소재 비축·대체 계약 5,000억원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83112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25252"/>
                </a:solidFill>
                <a:latin typeface="IBM Plex Sans"/>
              </a:rPr>
              <a:t>시나리오 D · 조용한 재편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SK하이닉스 기술 우위 고착화 + CXMT 범용 DRAM 잠식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HBM 조직 독립 + 패키징 인재 100인 + 산업용 AI 메모리 (차량·의료)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77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1C21B"/>
                </a:solidFill>
                <a:latin typeface="IBM Plex Sans"/>
              </a:rPr>
              <a:t>R&amp;D 2,000억원 (2026~2028)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79"/>
            <a:ext cx="91440" cy="77724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19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1C21B"/>
                </a:solidFill>
                <a:latin typeface="IBM Plex Sans"/>
              </a:rPr>
              <a:t>시나리오 E · 패러다임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HBM 40조원+ 매몰 비용화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3D DRAM R&amp;D 300인 + IMEC 협약 + CXL SIG 표준 + 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846319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1C21B"/>
                </a:solidFill>
                <a:latin typeface="IBM Plex Sans"/>
              </a:rPr>
              <a:t>3D DRAM R&amp;D 1,500억원/년 + M&amp;A 펀드 5,000억원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Side Bet 총 투자 ≒ Main Bet의 15% — 보험치고는 합리적 비용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Step 8 · 어떤 미래가 와도 가치를 만드는 Robust 전략 8개를 도출했다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재검증 후 8개 재편 (RS-1~RS-8). 지역 분산은 Side Bet으로 강등, AI 자동화 독립 승격, 1c nm DRAM은 RS-6 통합, RS-8 농수산 헷지 신규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RS-1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옵션형 캐파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"켜고 끌 수 있는 능력"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9164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RS-2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바벨 포트폴리오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고마진 HBM ↔ 저원가 범용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RS-3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고객특화·전환비용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떠나면 비싼 메모리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9164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9164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RS-4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고객 포트폴리오 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LTA·Take-or-Pay, 단일고객 ≤25%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RS-5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재무 규율 + 초과이익 재투자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Nucor·ExxonMobil 사이클 전 구간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97180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97180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RS-6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공정 리더십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1c nm DRAM + NAND 주기 연장 + 자체 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7180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7180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RS-7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AI 엔지니어링 자동화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잉여 자원 → 다른 RS의 실행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971800"/>
            <a:ext cx="2697480" cy="114300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971800"/>
            <a:ext cx="73152" cy="11430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C21B"/>
                </a:solidFill>
                <a:latin typeface="IBM Plex Sans"/>
              </a:rPr>
              <a:t>RS-8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구조화 매출 헷지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Participating Forward + HTA + Trading Desk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48056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62FE"/>
                </a:solidFill>
                <a:latin typeface="IBM Plex Sans"/>
              </a:rPr>
              <a:t>시나리오별 가치 매트릭스 — 모든 RS는 4개+ 시나리오에서 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4892040"/>
            <a:ext cx="1645920" cy="3200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IBM Plex Sans"/>
              </a:rPr>
              <a:t>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94760" y="4892040"/>
            <a:ext cx="1645920" cy="3200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6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IBM Plex Sans"/>
              </a:rPr>
              <a:t>A 황금요새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892040"/>
            <a:ext cx="1645920" cy="3200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IBM Plex Sans"/>
              </a:rPr>
              <a:t>B AI 르네상스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4892040"/>
            <a:ext cx="1645920" cy="3200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IBM Plex Sans"/>
              </a:rPr>
              <a:t>C 기술냉전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4892040"/>
            <a:ext cx="1645920" cy="3200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IBM Plex Sans"/>
              </a:rPr>
              <a:t>D 조용한재편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61320" y="4892040"/>
            <a:ext cx="1645920" cy="3200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613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IBM Plex Sans"/>
              </a:rPr>
              <a:t>E 패러다임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31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613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6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1C21B"/>
                </a:solidFill>
                <a:latin typeface="IBM Plex Sans"/>
              </a:rPr>
              <a:t>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31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9476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1C21B"/>
                </a:solidFill>
                <a:latin typeface="IBM Plex Sans"/>
              </a:rPr>
              <a:t>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9476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7804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13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031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9476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1C21B"/>
                </a:solidFill>
                <a:latin typeface="IBM Plex Sans"/>
              </a:rPr>
              <a:t>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7804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6968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613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031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9476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7804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6968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031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9476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7804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968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613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0312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61616"/>
                </a:solidFill>
                <a:latin typeface="IBM Plex Sans"/>
              </a:rPr>
              <a:t>RS-8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9476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7804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6968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6132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4A148"/>
                </a:solidFill>
                <a:latin typeface="IBM Plex Sans"/>
              </a:rPr>
              <a:t>✅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Step 8 개요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RS-1 · 답은 "얼마나 짓는가"가 아니라 "켜고 끌 수 있는가"이다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Fab Shell 선행 + 장비 단계 반입 + 옵션 계약 + 롤링 리뷰 — Nucor 미니밀 모델, 호황·다운턴 둘 다 대응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Fab Shell + 단계별 장비 반입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760720" cy="3383280"/>
          </a:xfrm>
          <a:prstGeom prst="rect">
            <a:avLst/>
          </a:prstGeom>
          <a:noFill/>
          <a:ln w="1587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▢  Fab Shell (선행 건설) — Cleanroom · 유틸리티 ·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880360"/>
            <a:ext cx="137160" cy="50292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A148"/>
                </a:solidFill>
                <a:latin typeface="IBM Plex Sans"/>
              </a:rPr>
              <a:t>Stage 1 (즉시)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패키징 라인 (TSV)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729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→ 트리거 발동 → 6~12개월 내 가동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520439"/>
            <a:ext cx="137160" cy="5029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5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1C21B"/>
                </a:solidFill>
                <a:latin typeface="IBM Plex Sans"/>
              </a:rPr>
              <a:t>Stage 2 (수요 +6개월)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5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DRAM 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13047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→ 트리거 발동 → 6~12개월 내 가동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160520"/>
            <a:ext cx="137160" cy="5029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206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Stage 3 (LTA 확정)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HBM 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531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→ 트리거 발동 → 6~12개월 내 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800600"/>
            <a:ext cx="137160" cy="50292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25252"/>
                </a:solidFill>
                <a:latin typeface="IBM Plex Sans"/>
              </a:rPr>
              <a:t>Stage 4 (옵션)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46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61616"/>
                </a:solidFill>
                <a:latin typeface="IBM Plex Sans"/>
              </a:rPr>
              <a:t>추가 캐파 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932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→ 트리거 발동 → 6~12개월 내 가동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C21B"/>
                </a:solidFill>
                <a:latin typeface="IBM Plex Sans"/>
              </a:rPr>
              <a:t>핵심 메커니즘 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1. Fab Shell 선행 건설 + 장비 단계화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건물은 미리, 장비는 신호 보고. 반입 결정 6~9개월 지연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2. Multi-Product Fab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DRAM/NAND/Logic 비율 분기 조정. 60~80% 범위 신축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3. 장비 발주 "반입 연기 옵션" 명문화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ASML/TEL/LAM 계약에 12개월 연기권. 옵션 프리미엄 2~5% (보험)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4. 롤링 캐파 리뷰 (분기)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연간 예산 → 분기 재검토. 이사회 승인 아젠다 제도화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결정해야 할 것은 "얼마나 짓는가"가 아니라 "얼마나 빠르게 켤 수 있는가"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RS-2 · 양 끝에 베팅하라 — 가운데 어정쩡한 제품은 죽인다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프리미엄 HBM (호황 마진) + 범용 1c nm DRAM (다운턴 흑자). 실행 자원은 RS-7(AI 자동화)에서 조달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alance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31627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691640"/>
            <a:ext cx="3200400" cy="42976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AI 효율화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1C21B"/>
                </a:solidFill>
                <a:latin typeface="IBM Plex Sans"/>
              </a:rPr>
              <a:t>AI EFFICIENCY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① 2026 도구 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AI 코딩·EDA·공정 시뮬레이션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수율 예측 (500~1,000억원)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70332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1C21B"/>
                </a:solidFill>
                <a:latin typeface="IBM Plex San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② 2027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엔지니어 생산성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+20~30%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1C21B"/>
                </a:solidFill>
                <a:latin typeface="IBM Plex San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846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③ 잉여 인력 창출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212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PC/Mobile/Auto 유지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+ RS3 고객특화 개발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추가 채용 없이 RS2·RS3 동시 실행의 유일한 경로 — AI 효율화가 선행 조건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RS-3 · 떠나면 비싼 메모리 — CMX·SCADA·FDP 시장 현실성 검증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3대 NVIDIA 데이터 경로에 깊이 통합 — 시장 규모·기술 차별·수익 모델 모두 데이터로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BM Plex Sans"/>
              </a:rPr>
              <a:t>CMX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IBM Plex Sans"/>
              </a:rPr>
              <a:t>KV 캐시 G3.5 계층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40480" cy="416052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62FE"/>
                </a:solidFill>
                <a:latin typeface="IBM Plex Sans"/>
              </a:rPr>
              <a:t>시장 현실성 (FACT)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NVIDIA CES 2026 공식 발표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17개 클라우드·스토리지 파트너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2H 2026 일반 출시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5x TPS · 5x 전력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62FE"/>
                </a:solidFill>
                <a:latin typeface="IBM Plex Sans"/>
              </a:rPr>
              <a:t>기술 차별화 (DIFFERENTIATION)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기존 NAND 활용 가능하나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새 폼팩터 (이더넷 연결 플래시)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+ BlueField-4 DPU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+ NVMe over Fabrics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62FE"/>
                </a:solidFill>
                <a:latin typeface="IBM Plex Sans"/>
              </a:rPr>
              <a:t>수익 모델 (BUSINESS)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삼성 PM1753 공식 공급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PM1763 Gen6 GTC 시연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2028 점유율 40%+ 목표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매출 $1B+ (2028)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989320"/>
            <a:ext cx="3566160" cy="27432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✓ 단기 fad 아님 — 장문맥 추론 인프라의 구조적 요구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691640"/>
            <a:ext cx="3840480" cy="4572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BM Plex Sans"/>
              </a:rPr>
              <a:t>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IBM Plex Sans"/>
              </a:rPr>
              <a:t>GPU 네이티브 I/O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148840"/>
            <a:ext cx="3840480" cy="416052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시장 현실성 (FACT)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AI 스토리지 시장: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$36B (2025) → $322B (2035)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CAGR 24% — 단기 fad 아님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하이퍼스케일러 capex의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기술 차별화 (DIFFERENTIATION)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기존 SSD = CPU 경유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SCADA = GPU 직접 제어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SK·Kioxia 100M IOPS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SLC NAND (2027 양산)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수익 모델 (BUSINESS)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미참여 시 SSD에서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HBM 패권 손실 반복 위험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2028 SLC AI SSD 진입 필수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매출 잠재 $5B+ (2030)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5989320"/>
            <a:ext cx="3566160" cy="27432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✓ AI 추론 표준 인터페이스 후보 — 신규 사업 카테고리 형성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691640"/>
            <a:ext cx="3840480" cy="45720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BM Plex Sans"/>
              </a:rPr>
              <a:t>FDP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4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IBM Plex Sans"/>
              </a:rPr>
              <a:t>데이터 배치 표준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2148840"/>
            <a:ext cx="3840480" cy="416052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4A148"/>
                </a:solidFill>
                <a:latin typeface="IBM Plex Sans"/>
              </a:rPr>
              <a:t>시장 현실성 (FACT)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NVMe TP41461 표준화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Meta + Google + Samsung 공동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WAF -50%, 수명 2배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OS·도구 이미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4A148"/>
                </a:solidFill>
                <a:latin typeface="IBM Plex Sans"/>
              </a:rPr>
              <a:t>기술 차별화 (DIFFERENTIATION)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기존 NAND·컨트롤러 활용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펌웨어 + 호스트 SW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튜닝 노하우가 차별화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표준 자체는 오픈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4A148"/>
                </a:solidFill>
                <a:latin typeface="IBM Plex Sans"/>
              </a:rPr>
              <a:t>수익 모델 (BUSINESS)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3계층 매출 모델: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① HW 프리미엄 +10~15%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② Reference 라이선스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③ 컨설팅·통합 서비스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2030 매출 $2~3B/년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1624" y="5989320"/>
            <a:ext cx="3566160" cy="27432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✓ "구글에 SW 단독 판매" 아닌 통합 검증 SSD 프리미엄 모델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3대 영역 모두 시장 검증 완료 — 통합 매출 잠재력 $8~9B/년 (2030)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RS-4 · 단일 고객 의존은 호황기 매출, 다운사이클 협상력 모두를 잃는다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Shortage 시기(2026)는 LTA·Take-or-Pay 구조를 짤 수 있는 골든 타임 — 단일 고객 ≤25%, 상위 3개 ≤55%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고객 분류 체계 — 협상력의 질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37160" cy="10058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LTC · 장기계약 고객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3년+ Take-or-Pay 계약. 단가 변동성 낮음, 수요 예측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25252"/>
                </a:solidFill>
                <a:latin typeface="IBM Plex Sans"/>
              </a:rPr>
              <a:t>목표: HBM 매출의 50%+ (2028)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20439"/>
            <a:ext cx="137160" cy="100584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Strategic · 전략 고객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Co-dev·인증 선행·커스텀 기능 — RS-3과 직결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25252"/>
                </a:solidFill>
                <a:latin typeface="IBM Plex Sans"/>
              </a:rPr>
              <a:t>사실상 락인 효과. 전환비용으로 보호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137160" cy="100584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A148"/>
                </a:solidFill>
                <a:latin typeface="IBM Plex Sans"/>
              </a:rPr>
              <a:t>Growth · 성장 고객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20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신흥 AI 시장 (사우디 Humain · UAE G42 · 인도 Jio)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25252"/>
                </a:solidFill>
                <a:latin typeface="IBM Plex Sans"/>
              </a:rPr>
              <a:t>+ 자동차·의료·통신 — 사이클이 다른 고객군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C21B"/>
                </a:solidFill>
                <a:latin typeface="IBM Plex Sans"/>
              </a:rPr>
              <a:t>LTA 4개 핵심 조항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1. Take-or-Pay 조항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약정 물량 미구매 시 차액 지급. 캐파 투자 보호 + 이탈 방지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2. Minimum Volume Commitment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분기별 최소 구매 물량 약정. LTA 기본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3. 공동 로드맵 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차세대 제품 사양에 삼성 메모리 설계 단계 참여 → 락인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2FE"/>
                </a:solidFill>
                <a:latin typeface="IBM Plex Sans"/>
              </a:rPr>
              <a:t>4. 인증 선행 투자 회수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61616"/>
                </a:solidFill>
                <a:latin typeface="IBM Plex Sans"/>
              </a:rPr>
              <a:t>Co-Validation 비용 회수 조항 (RS-3 연계). 취소 페널티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Shortage = LTA의 골든 타임. SK하이닉스 NVIDIA 70% 의존은 시나리오 E에서 부메랑.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RS-5 · 호황기 절제와 다운턴 사수는 같은 거버넌스에서 나온다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재고일수 상한 + capex 증거 기반 승인 + 다운턴 R&amp;D 4조원/년 하한 — Nucor·ExxonMobil 모델, 활동가 투자자 방어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apex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58952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502152" cy="20574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재무 규율 (지출 통제)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○ 재고일수 상한 (DDR5 60일, HBM 45일)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○ LTA 없는 신규 캐파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○ EBITDA → FCF 중심 의사결정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○ 업황 피크 capex 증거 기반 승인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886200"/>
            <a:ext cx="3502152" cy="2103120"/>
          </a:xfrm>
          <a:prstGeom prst="rect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A1E28"/>
                </a:solidFill>
                <a:latin typeface="IBM Plex Sans"/>
              </a:rPr>
              <a:t>다운사이클 하한 (Nucor)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○ HBM R&amp;D + 패키징 + 3D DRAM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81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   합산 4조원/년 삭감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743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○ 활동가 투자자 압박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2669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   "장기 가치 우선 의결권 구조"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559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1616"/>
                </a:solidFill>
                <a:latin typeface="IBM Plex Sans"/>
              </a:rPr>
              <a:t>○ ExxonMobil 모델 차용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호황기 절제와 다운턴 사수가 동일 거버넌스 — 투자자 인지·이사회 결의 일관성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RS-6 · NAND는 layer 경쟁이 아니라, 양산 ramp 6개월이 누적 이익의 2/3를 결정하는 "주기 연장" 경쟁이다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1c nm DRAM 원가 우위 + NAND 공정 전환 주기 연장 + Hybrid Bonding 자체 IP — 업계 4사 일제 선회와 YMTC IP 종속을 동시 돌파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왜 지금 — 3가지 증거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7315200" cy="86868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A1E28"/>
                </a:solidFill>
                <a:latin typeface="IBM Plex Sans"/>
              </a:rPr>
              <a:t>① 학습곡선의 잔혹함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양산 ramp 6개월 지연 → 누적 순이익의 2/3 소실. 1년 지연 → 손실 전환. 공정 개발 1분당 약 $5,000 손실 (PSU Weber).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7315200" cy="86868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② 업계가 일제히 선회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NAND capex $22.2B (+5%만). 4사 모두 capa 확장 대신 process upgrade·hybrid bonding에 집중. 우리만 layer 경쟁 → 한 세대 뒤처진 capex 추가 부담.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7315200" cy="86868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③ YMTC IP 지배 → 디커플링 시 차단 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Hybrid bonding 핵심 특허 다수가 YMTC 보유 (TrendForce 2025-05). Samsung·SK 라이선스 의존 → 시나리오 C 발생 시 차세대 NAND 양산 불가 리스크. 자체 IP = 국가 안보 R&amp;D.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691640"/>
            <a:ext cx="4050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C21B"/>
                </a:solidFill>
                <a:latin typeface="IBM Plex Sans"/>
              </a:rPr>
              <a:t>4 R&amp;D 트랙 (병행)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103120"/>
            <a:ext cx="4050791" cy="8686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73152" cy="8686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7627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1C21B"/>
                </a:solidFill>
                <a:latin typeface="IBM Plex Sans"/>
              </a:rPr>
              <a:t>① Hybrid Bonding 자체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61616"/>
                </a:solidFill>
                <a:latin typeface="IBM Plex Sans"/>
              </a:rPr>
              <a:t>YMTC 우회 특허 200건+ (2027). 한국 IP 컨소시엄. V11에 자체 IP 70%+. 패키징·본딩 R&amp;D 1.5조 원 추가.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063240"/>
            <a:ext cx="4050791" cy="8686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063240"/>
            <a:ext cx="73152" cy="8686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13639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1C21B"/>
                </a:solidFill>
                <a:latin typeface="IBM Plex Sans"/>
              </a:rPr>
              <a:t>② Multi-deck 정교화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4728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61616"/>
                </a:solidFill>
                <a:latin typeface="IBM Plex Sans"/>
              </a:rPr>
              <a:t>Deck 당 layer 한계 돌파. V9→V10 fab 재구성 비용 30% 절감 (TrendForce 추정).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023360"/>
            <a:ext cx="4050791" cy="8686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023360"/>
            <a:ext cx="73152" cy="8686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09651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1C21B"/>
                </a:solidFill>
                <a:latin typeface="IBM Plex Sans"/>
              </a:rPr>
              <a:t>③ bit-per-cell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0740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61616"/>
                </a:solidFill>
                <a:latin typeface="IBM Plex Sans"/>
              </a:rPr>
              <a:t>QLC 비중 30%+ (2026). PLC 시제품 (2028) → 양산 검토 (2029).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983480"/>
            <a:ext cx="4050791" cy="8686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4983480"/>
            <a:ext cx="73152" cy="8686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05663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1C21B"/>
                </a:solidFill>
                <a:latin typeface="IBM Plex Sans"/>
              </a:rPr>
              <a:t>④ 호스트 협력 firmware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36752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61616"/>
                </a:solidFill>
                <a:latin typeface="IBM Plex Sans"/>
              </a:rPr>
              <a:t>FDP·SCADA로 같은 silicon에서 endurance 2배+, throughput 30%+. RS3 SW 매출 ($5B/2030)과 R&amp;D 자원 공유.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11731752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6636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재무 효과 + 이사회 모니터링 KPI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재무 효과: 전환 주기 18→24M 연장 시 3년 누적 capex 회피 1.5~2조 원 / 양산 ramp 6개월 단축 효과 한 세대만 적용해도 누적 이익 2/3 보전     KPI: ① Hybrid bonding 자체 IP 비율  ② 공정 전환 ramp 시간  ③ NAND capex/bit growth  ④ YMTC 라이선스 의존도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Layer 경쟁 = 비용 자살. 주기 연장 R&amp;D 4트랙이 모든 시나리오에서 비용 우위 + 자체 IP 생존 동시 확보.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RS-6 · 통합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RS-7 · AI 효율화는 다른 6개 RS를 가능하게 하는 실행 기반이다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GitHub Copilot 51% 속도 / EDA AI 30%+ PPA / Fab AI yield 향상 — 잉여 자원 0.9~1.35조원/년 → RS-2/3/6에 재배분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입증된 AI 도구 효과 (2024~2026)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GitHub Copilot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코딩 속도 +51%, cycle time -3.5h, PR +10.6%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Fortune 100의 90% 채택 (15M+ 사용자)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Synopsys DSO.ai · Cadence Cerebrus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EDA AI 자동화로 PPA 최적화 +30%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설계 사이클 50%+ 단축 사례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TSMC Fab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Predictive maintenance + computer vision wafer 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2026 N2P yield 80% 목표, 영업이익률 50%+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잉여 자원 → 전략 재배분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1C21B"/>
                </a:solidFill>
                <a:latin typeface="IBM Plex Sans"/>
              </a:rPr>
              <a:t>AI EFFICIENCY → STRATEGIC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투자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연 500~1,000억원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632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AI 코딩 + EDA + Fab Intelligence 전사 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1C21B"/>
                </a:solidFill>
                <a:latin typeface="IBM Plex Sans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엔지니어 생산성 +20~30%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114799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3만명 × 30% × 1.5억원 = 잉여 자원 1.35조/년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59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1C21B"/>
                </a:solidFill>
                <a:latin typeface="IBM Plex Sans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재배분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00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4개 우선순위 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6636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RS-2 양 끝 운영 / RS-3 Co-Validation / RS-6 1c+NAND R&amp;D / E 시나리오 피벗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IBM Plex Sans"/>
              </a:rPr>
              <a:t>ROI 9~27배 — 다른 모든 RS의 prerequisite, 시나리오에 둔감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AI 효율화 없이는 RS-2 양 끝, RS-3 락인, RS-6 3축 R&amp;D가 인력 부담으로 무너진다.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RS-7 · 신규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RS-8 · 단순 LTA는 사이클당 50~100% 매출 기회를 포기한다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농수산 100년 + 외환 50년 헷지 노하우의 메모리 첫 도입 — Participating Forward + HTA + Tiered + Trading Desk = 매출 변동성 ±25%→±12%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왜 지금 — 단순 LTA의 한계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① 297% 가격 점프 사례 (2025년 9~12월)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16Gb DDR5 contract price $6.84 → $27.20 (3개월 +297%)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9월 단순 고정가 LTA 시 297% 상방 모두 포기 — 고객만 차익 향유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② 메모리 변동성 σ ≈ 60~120%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원유 30%·S&amp;P 18% 대비 2~6배 — "농산물 같은 IT 부품"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농가도 작황의 30~50%만 forward 헷지 — 100% 락인은 표준 아님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③ Participating Forward 메모리 미도입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61616"/>
                </a:solidFill>
                <a:latin typeface="IBM Plex Sans"/>
              </a:rPr>
              <a:t>외환·통화시장 50년 표준 도구 — 메모리 산업 거의 도입 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25252"/>
                </a:solidFill>
                <a:latin typeface="IBM Plex Sans"/>
              </a:rPr>
              <a:t>첫 도입자 표준 효과 = Fish Pool 모델, 후발주자 진입장벽 형성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4트랙 헷지 구조 (RS-4 LTA 위에 적층)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1C21B"/>
                </a:solidFill>
                <a:latin typeface="IBM Plex Sans"/>
              </a:rPr>
              <a:t>STRUCTURED REVENUE HEDGING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트랙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Participating Forward 시범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4495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Floor + 50% 상방 참여 / NVIDIA·하이퍼스케일러 1~2사 / HBM4E 일부 물량 (연 10~20%)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021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트랙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5021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Wafer Slot Reservation HTA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84962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슬롯/가격 분리 결정 + Take-or-Pay / Nvidia $5.4~7.7억 선급금 산업 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068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트랙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3068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Tiered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542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시장 구간별 차등 share / 자동차·산업용·신흥 AI 시장 (SD-2 연계)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114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트랙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1149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Memory Trading Desk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4589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IBM Plex Sans"/>
              </a:rPr>
              <a:t>골드만/JP모건 트레이더 20~30인 / DRAMeXchange 기반 OTC 스왑 시장 조성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IBM Plex Sans"/>
              </a:rPr>
              <a:t>금지: Three-way Collar(sub-put 매도형) — 셰일 Pioneer 2014/2020 손실 가속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계약 *물량*(RS-4)이 아니라 계약 *구조*(RS-8)를 혁신 — 매출 변동성 절반 + 사이클당 +50~100% 회수.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Robust · RS-8 · 신규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EWI 대시보드의 사분면 궤적과 12개 자동 트리거가 다운턴 신호를 30일 내 실행 전환으로 바꾼다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지난 2년 궤적은 B 르네상스 모멘텀이지만 자동 실현은 아님 — 12개 결정 D-day와 12개 트리거가 신호를 즉시 행동으로 변환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quadran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47283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91640"/>
            <a:ext cx="3410712" cy="219456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12개 결정 D-day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1031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HBM4 NVIDIA 점유율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21031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DA1E28"/>
                </a:solidFill>
                <a:latin typeface="IBM Plex Sans"/>
              </a:rPr>
              <a:t>D-150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4942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942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소재 비중국 다각화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224942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DA1E28"/>
                </a:solidFill>
                <a:latin typeface="IBM Plex Sans"/>
              </a:rPr>
              <a:t>D-150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95727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95727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RS1·RS4·RS6 정책화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39572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DA1E28"/>
                </a:solidFill>
                <a:latin typeface="IBM Plex Sans"/>
              </a:rPr>
              <a:t>D-150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4203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3D DRAM + IMEC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5420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883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8833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텍사스 1·2단계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268833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34639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34639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AI 효율화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834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8094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98094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텍사스 추가 보조금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98094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127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2724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312724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735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2735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NAND 주기 연장 R&amp;D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327355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41985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41985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Stargate Korea 본계약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341985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5661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5661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RS-8 구조화 헷지 시범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356616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D-240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712463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1C21B"/>
                </a:solidFill>
                <a:latin typeface="IBM Plex Sans"/>
              </a:rPr>
              <a:t>D7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712463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61616"/>
                </a:solidFill>
                <a:latin typeface="IBM Plex Sans"/>
              </a:rPr>
              <a:t>잉여 인력 전환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37124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525252"/>
                </a:solidFill>
                <a:latin typeface="IBM Plex Sans"/>
              </a:rPr>
              <a:t>D-330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977639"/>
            <a:ext cx="3410712" cy="20116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069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12개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2976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발동 시 30일 내 전략 전환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5720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1C21B"/>
                </a:solidFill>
                <a:latin typeface="IBM Plex Sans"/>
              </a:rPr>
              <a:t>다운턴 신호 (5)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73659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BM Plex Sans"/>
              </a:rPr>
              <a:t>빅테크 CapEx -25% / MS CapEx -20% / HBM 가격 -30% / CXMT HBM4 / Hsinx 라이선스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91947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1C21B"/>
                </a:solidFill>
                <a:latin typeface="IBM Plex Sans"/>
              </a:rPr>
              <a:t>지정학 (2)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840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BM Plex Sans"/>
              </a:rPr>
              <a:t>MATCH 통과 / 텍사스 2단계 미발표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2669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1C21B"/>
                </a:solidFill>
                <a:latin typeface="IBM Plex Sans"/>
              </a:rPr>
              <a:t>가속 신호 (2)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43153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BM Plex Sans"/>
              </a:rPr>
              <a:t>AI 매출 $500B / 3D DRAM 50% PoC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61441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1C21B"/>
                </a:solidFill>
                <a:latin typeface="IBM Plex Sans"/>
              </a:rPr>
              <a:t>전략 위기 (3)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77900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BM Plex Sans"/>
              </a:rPr>
              <a:t>HBM4 미인증 / 단일 고객 &gt;25% / M&amp;A 타깃 EV&lt;5x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IBM Plex Sans"/>
              </a:rPr>
              <a:t>SO WHAT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1616"/>
                </a:solidFill>
                <a:latin typeface="IBM Plex Sans"/>
              </a:rPr>
              <a:t>현재 위치 (DF1 +7.5, DF2 +0.5) — B 시나리오 강한 모멘텀, 그러나 자동 실현 아님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대시보드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12개 결정은 묶음이다 — 분리해서 처리하면 효과가 사라진다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D1·D5·D7 직렬 / D4·D8 동시 / D6이 D9·D12 거버넌스 기반 / D10·D11·D12 신성장축 — 모든 결정 시한 2026 Q4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45920"/>
            <a:ext cx="3749039" cy="960119"/>
          </a:xfrm>
          <a:prstGeom prst="rect">
            <a:avLst/>
          </a:prstGeom>
          <a:solidFill>
            <a:srgbClr val="FFF1F1"/>
          </a:solidFill>
          <a:ln w="15875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91440" cy="960119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A1E28"/>
                </a:solidFill>
                <a:latin typeface="IBM Plex Sans"/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HBM4 NVIDIA 점유율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수율 90%+ Q3 2026 / 점유율 28% → 40%+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D-150 · 마감 임박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45920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소재 비중국 다각화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Q3 2026 LTA 체결 / 6개월 비축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캐나다·호주·카자흐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645920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645920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3D DRAM R&amp;D + IMEC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Q4 2026 협약 / $200M / 200~300인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마이크론·SK 추격 차단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24912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724912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텍사스 1·2단계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1단계 가동 + 2단계 발표 / 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$4.745B 보조금 활용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2724912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2724912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0952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AI 효율화 전사 도입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Q4 파일럿 → Q1 전사 / RS2·RS3 선행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500~1,000억 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4" y="2724912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2724912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RS1·RS4·RS6 정책화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다운사이클 capex 4조원 명문화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활동가 투자자 방어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03904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803904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잉여 인력 전환 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2027 Q1 가시화 / 분기별 사업부장 보고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추가 채용 없이 RS2·RS3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0832" y="3803904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70832" y="3803904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0952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텍사스 추가 보조금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CHIPS 추가 협상 + LTA / Tesla 외 빅테크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JV 모델 대안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3803904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84464" y="3803904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67344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4584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다운사이클 M&amp;A 펀드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5,000억 원 사전 적립 / 자동 트리거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Disney-Marvel 모델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82896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4882896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NAND 주기 연장 R&amp;D 4트랙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Hybrid Bonding 자체 IP / Multi-deck / QLC·PLC / FDP·SCADA firmware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1.5조 원/3년 · YMTC 우회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70832" y="4882896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70832" y="4882896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53712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30952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Stargate Korea 본 계약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LOI → DA / Electronics+C&amp;T+SDS+Heavy 컨소시엄 / Neocloud 1~3% 지분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AI 가치사슬 마진 헷지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84464" y="4882896"/>
            <a:ext cx="3749039" cy="960119"/>
          </a:xfrm>
          <a:prstGeom prst="rect">
            <a:avLst/>
          </a:prstGeom>
          <a:solidFill>
            <a:srgbClr val="EDF5FF"/>
          </a:solidFill>
          <a:ln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84464" y="4882896"/>
            <a:ext cx="91440" cy="960119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67344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IBM Plex Sans"/>
              </a:rPr>
              <a:t>D12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44584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616"/>
                </a:solidFill>
                <a:latin typeface="IBM Plex Sans"/>
              </a:rPr>
              <a:t>RS-8 구조화 매출 헷지 시범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85632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Participating Forward + HTA + Tiered + Trading Desk / Three-way 금지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85632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1C21B"/>
                </a:solidFill>
                <a:latin typeface="IBM Plex Sans"/>
              </a:rPr>
              <a:t>농수산·외환 100년 헷지 이식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624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IBM Plex Sans"/>
              </a:rPr>
              <a:t>12개는 묶음이다 — D1·D5·D7 직렬 / D4·D8 동시 / D6이 D9·D12 거버넌스 / D10·D11·D12 신성장축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결정 요약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Main·Side·Robust 9개 핵심 전략의 묶음이 다운턴 흑자·1위 회복·자산 폭락 시 M&amp;A를 동시에 해결한다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각 영역에서 가장 중요한 3개씩 — 단일 전략으로는 한 문제만 풀리지만, 묶음으로 실행하면 모든 문제가 동시에 해결된다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5029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MAIN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IBM Plex Sans"/>
              </a:rPr>
              <a:t>시나리오 B 베팅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691640"/>
            <a:ext cx="3749039" cy="5029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SIDE BETS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IBM Plex Sans"/>
              </a:rPr>
              <a:t>나머지 시나리오 보험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4464" y="1691640"/>
            <a:ext cx="3749039" cy="50292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ROBUST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IBM Plex Sans"/>
              </a:rPr>
              <a:t>시나리오 무관 가치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HBM4 점유율 회복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1C21B"/>
                </a:solidFill>
                <a:latin typeface="IBM Plex Sans"/>
              </a:rPr>
              <a:t>NVIDIA Rubin 28% → 40%+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06324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시나리오 B에서 1위 자리 미확보 시 Main Bet 무의미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91440" cy="123444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동서 균형 공급망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1C21B"/>
                </a:solidFill>
                <a:latin typeface="IBM Plex Sans"/>
              </a:rPr>
              <a:t>서방 + 신흥 + 중국 3원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8912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한 지역 의존이 다운턴·지정학 충격에 취약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91440" cy="123444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C21B"/>
                </a:solidFill>
                <a:latin typeface="IBM Plex Sans"/>
              </a:rP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1c nm 원가 우위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1C21B"/>
                </a:solidFill>
                <a:latin typeface="IBM Plex Sans"/>
              </a:rPr>
              <a:t>CXMT 공세 방어 기반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71500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범용 DRAM 마진 잠식이 다운턴 손실 키움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228600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2286000"/>
            <a:ext cx="91440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#1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순현금 30조 버퍼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F62FE"/>
                </a:solidFill>
                <a:latin typeface="IBM Plex Sans"/>
              </a:rPr>
              <a:t>시나리오 C 생존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306324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2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다운턴 자금 부족 시 R&amp;D 삭감 강요됨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0832" y="361188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0832" y="3611880"/>
            <a:ext cx="91440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#2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9472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소재 공급망 다각화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F62FE"/>
                </a:solidFill>
                <a:latin typeface="IBM Plex Sans"/>
              </a:rPr>
              <a:t>캐나다·호주·카자흐 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7992" y="438912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2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중국 소재 수출 통제 시 원가 30% 급등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0832" y="493776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0832" y="4937760"/>
            <a:ext cx="91440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#3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3D DRAM + IMEC 협약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53712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F62FE"/>
                </a:solidFill>
                <a:latin typeface="IBM Plex Sans"/>
              </a:rPr>
              <a:t>시나리오 E 헤징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07992" y="571500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9432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HBM 패러다임 붕괴 시 40조 매몰 비용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228600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84464" y="2286000"/>
            <a:ext cx="91440" cy="123444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344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A148"/>
                </a:solidFill>
                <a:latin typeface="IBM Plex Sans"/>
              </a:rPr>
              <a:t>#1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33104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옵션형 캐파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7344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24A148"/>
                </a:solidFill>
                <a:latin typeface="IBM Plex Sans"/>
              </a:rPr>
              <a:t>켜고 끌 수 있는 능력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306324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4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잘못된 타이밍 고정 증설이 다운턴 손실 핵심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84464" y="361188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84464" y="3611880"/>
            <a:ext cx="91440" cy="123444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A148"/>
                </a:solidFill>
                <a:latin typeface="IBM Plex Sans"/>
              </a:rPr>
              <a:t>#2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3104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바벨 + AI 효율화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7344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24A148"/>
                </a:solidFill>
                <a:latin typeface="IBM Plex Sans"/>
              </a:rPr>
              <a:t>양 끝 + 잉여 인력 전환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21624" y="438912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13064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추가 채용 없이 RS3 동시 실행의 유일 경로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4464" y="4937760"/>
            <a:ext cx="3749039" cy="12344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84464" y="4937760"/>
            <a:ext cx="91440" cy="123444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344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A148"/>
                </a:solidFill>
                <a:latin typeface="IBM Plex Sans"/>
              </a:rP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재무 규율 + capex 하한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7344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24A148"/>
                </a:solidFill>
                <a:latin typeface="IBM Plex Sans"/>
              </a:rPr>
              <a:t>호황 절제 + 다운턴 사수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21624" y="5715000"/>
            <a:ext cx="3520440" cy="411480"/>
          </a:xfrm>
          <a:prstGeom prst="rect">
            <a:avLst/>
          </a:prstGeom>
          <a:solidFill>
            <a:srgbClr val="FC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4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616"/>
                </a:solidFill>
                <a:latin typeface="IBM Plex Sans"/>
              </a:rPr>
              <a:t>문제: 활동가 투자자 압박에 R&amp;D 무너지면 회복 불가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Sans"/>
              </a:rPr>
              <a:t>9개 핵심 전략의 묶음 = 다운턴이 와도 흑자 유지 + 회복기 1번 자리 + 자산 폭락 시 M&amp;A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252"/>
                </a:solidFill>
                <a:latin typeface="IBM Plex Sans"/>
              </a:rPr>
              <a:t>삼성전자  |  전략 리마인드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  <a:latin typeface="IBM Plex Sans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" cy="64008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IBM Plex Sans"/>
              </a:rPr>
              <a:t>DECISION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61616"/>
                </a:solidFill>
                <a:latin typeface="IBM Plex Sans"/>
              </a:rPr>
              <a:t>12개 결정의 묶음 의결로 호황의 정점을 다운턴 준비의 마지막 기회로 잡는다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548640" cy="457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F62FE"/>
                </a:solidFill>
                <a:latin typeface="IBM Plex Sans"/>
              </a:rPr>
              <a:t>"호황의 정점이</a:t>
            </a:r>
          </a:p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F62FE"/>
                </a:solidFill>
                <a:latin typeface="IBM Plex Sans"/>
              </a:rPr>
              <a:t> 다운턴 준비의 마지막 기회다."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25252"/>
                </a:solidFill>
                <a:latin typeface="IBM Plex Sans"/>
              </a:rPr>
              <a:t>─ 12개 결정의 묶음 의결을 요청드립니다 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520440" cy="18288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73152" cy="18288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1C21B"/>
                </a:solidFill>
                <a:latin typeface="IBM Plex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전략 방향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시나리오 B Main Bet + Side Bets + Robust 8개 전략 채택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2030~2035 메모리 1위 회복 로드맵 의결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3520440" cy="18288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4297680"/>
            <a:ext cx="73152" cy="18288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1C21B"/>
                </a:solidFill>
                <a:latin typeface="IBM Plex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12개 즉시 결정 패키지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HBM4·소재·3D DRAM·텍사스·AI 효율화·정책화·잉여 인력·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추가 보조금·M&amp;A 펀드·NAND 4트랙·Stargate Korea·RS-8 헷지 — 시한: 2026 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80"/>
            <a:ext cx="3520440" cy="1828800"/>
          </a:xfrm>
          <a:prstGeom prst="rect">
            <a:avLst/>
          </a:prstGeom>
          <a:solidFill>
            <a:srgbClr val="E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73152" cy="18288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1C21B"/>
                </a:solidFill>
                <a:latin typeface="IBM Plex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거버넌스 + 트리거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30일 내 의사결정 + 자동 트리거 12개 + 다운사이클 capex 하한 4조 원/년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61616"/>
                </a:solidFill>
                <a:latin typeface="IBM Plex Sans"/>
              </a:rPr>
              <a:t>+ 활동가 투자자 방어 의결권 구조 + 단일 Floor 원칙(RS-8)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삼성전자  ·  DS부문 메모리사업부 전략기획팀  ·  대외비  ·  2026.05.06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IBM Plex Sans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