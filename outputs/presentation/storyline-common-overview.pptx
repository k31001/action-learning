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상세. 원문 §4의 2차 방어 골격(제품: 램프업 속도와 수율 / 투자: "투자 셰어 &lt; 빗 셰어 &lt; 프로핏 셰어"의 순서를 지키는 규율 / 오퍼레이션)을 따른 잠정 제목이다.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상세. 원문 §4의 2차 방어 골격(제품: 램프업 속도와 수율 / 투자: "투자 셰어 &lt; 빗 셰어 &lt; 프로핏 셰어"의 순서를 지키는 규율 / 오퍼레이션)을 따른 잠정 제목이다.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상세. 원문 §4의 2차 방어 골격(제품: 램프업 속도와 수율 / 투자: "투자 셰어 &lt; 빗 셰어 &lt; 프로핏 셰어"의 순서를 지키는 규율 / 오퍼레이션)을 따른 잠정 제목이다.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상세. 원문 §4의 2차 방어 골격(제품: 램프업 속도와 수율 / 투자: "투자 셰어 &lt; 빗 셰어 &lt; 프로핏 셰어"의 순서를 지키는 규율 / 오퍼레이션)을 따른 잠정 제목이다.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17</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S9</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S10 – S11</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S12 – S13</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S14 ~ S17</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17</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17</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17</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17</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17</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17</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17</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17</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17</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31343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33년 만의 DRAM 1위 상실</a:t>
            </a:r>
            <a:endParaRPr lang="en-US" sz="2000" dirty="0"/>
          </a:p>
        </p:txBody>
      </p:sp>
      <p:sp>
        <p:nvSpPr>
          <p:cNvPr id="24" name="Text 22"/>
          <p:cNvSpPr/>
          <p:nvPr/>
        </p:nvSpPr>
        <p:spPr>
          <a:xfrm>
            <a:off x="7918704" y="2642616"/>
            <a:ext cx="3429000"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36% 대 34%</a:t>
            </a:r>
            <a:endParaRPr lang="en-US" sz="3200" dirty="0"/>
          </a:p>
        </p:txBody>
      </p:sp>
      <p:sp>
        <p:nvSpPr>
          <p:cNvPr id="25" name="Text 23"/>
          <p:cNvSpPr/>
          <p:nvPr/>
        </p:nvSpPr>
        <p:spPr>
          <a:xfrm>
            <a:off x="7918704" y="31546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2025년 1분기 · SK 대 삼성</a:t>
            </a:r>
            <a:endParaRPr lang="en-US" sz="2000" dirty="0"/>
          </a:p>
        </p:txBody>
      </p:sp>
      <p:sp>
        <p:nvSpPr>
          <p:cNvPr id="26" name="Shape 24"/>
          <p:cNvSpPr/>
          <p:nvPr/>
        </p:nvSpPr>
        <p:spPr>
          <a:xfrm>
            <a:off x="612648" y="4169664"/>
            <a:ext cx="3529584" cy="896112"/>
          </a:xfrm>
          <a:prstGeom prst="roundRect">
            <a:avLst>
              <a:gd name="adj" fmla="val 8163"/>
            </a:avLst>
          </a:prstGeom>
          <a:solidFill>
            <a:srgbClr val="F4F6FB"/>
          </a:solidFill>
          <a:ln/>
        </p:spPr>
      </p:sp>
      <p:sp>
        <p:nvSpPr>
          <p:cNvPr id="27" name="Text 25"/>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28" name="Text 26"/>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OP 47.2조 — 전사 초과</a:t>
            </a:r>
            <a:endParaRPr lang="en-US" sz="2000" dirty="0"/>
          </a:p>
        </p:txBody>
      </p:sp>
      <p:sp>
        <p:nvSpPr>
          <p:cNvPr id="29" name="Shape 27"/>
          <p:cNvSpPr/>
          <p:nvPr/>
        </p:nvSpPr>
        <p:spPr>
          <a:xfrm>
            <a:off x="4334256" y="4169664"/>
            <a:ext cx="3529584" cy="896112"/>
          </a:xfrm>
          <a:prstGeom prst="roundRect">
            <a:avLst>
              <a:gd name="adj" fmla="val 8163"/>
            </a:avLst>
          </a:prstGeom>
          <a:solidFill>
            <a:srgbClr val="F4F6FB"/>
          </a:solidFill>
          <a:ln/>
        </p:spPr>
      </p:sp>
      <p:sp>
        <p:nvSpPr>
          <p:cNvPr id="30" name="Text 28"/>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1" name="Text 29"/>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2" name="Shape 30"/>
          <p:cNvSpPr/>
          <p:nvPr/>
        </p:nvSpPr>
        <p:spPr>
          <a:xfrm>
            <a:off x="8055864" y="4169664"/>
            <a:ext cx="3529584" cy="896112"/>
          </a:xfrm>
          <a:prstGeom prst="roundRect">
            <a:avLst>
              <a:gd name="adj" fmla="val 8163"/>
            </a:avLst>
          </a:prstGeom>
          <a:solidFill>
            <a:srgbClr val="F4F6FB"/>
          </a:solidFill>
          <a:ln/>
        </p:spPr>
      </p:sp>
      <p:sp>
        <p:nvSpPr>
          <p:cNvPr id="33" name="Text 31"/>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4" name="Text 32"/>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5" name="Text 33"/>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6" name="Text 34"/>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7" name="Shape 35"/>
          <p:cNvSpPr/>
          <p:nvPr/>
        </p:nvSpPr>
        <p:spPr>
          <a:xfrm>
            <a:off x="612648" y="5870448"/>
            <a:ext cx="4163666" cy="365760"/>
          </a:xfrm>
          <a:prstGeom prst="rect">
            <a:avLst/>
          </a:prstGeom>
          <a:solidFill>
            <a:srgbClr val="1428A0"/>
          </a:solidFill>
          <a:ln/>
        </p:spPr>
      </p:sp>
      <p:sp>
        <p:nvSpPr>
          <p:cNvPr id="38" name="Text 36"/>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39" name="Text 37"/>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0" name="Shape 38"/>
          <p:cNvSpPr/>
          <p:nvPr/>
        </p:nvSpPr>
        <p:spPr>
          <a:xfrm>
            <a:off x="4794602" y="5870448"/>
            <a:ext cx="2735812" cy="365760"/>
          </a:xfrm>
          <a:prstGeom prst="rect">
            <a:avLst/>
          </a:prstGeom>
          <a:solidFill>
            <a:srgbClr val="5A68BC"/>
          </a:solidFill>
          <a:ln/>
        </p:spPr>
      </p:sp>
      <p:sp>
        <p:nvSpPr>
          <p:cNvPr id="41" name="Text 39"/>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2" name="Text 40"/>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3" name="Shape 41"/>
          <p:cNvSpPr/>
          <p:nvPr/>
        </p:nvSpPr>
        <p:spPr>
          <a:xfrm>
            <a:off x="7548701" y="5870448"/>
            <a:ext cx="1820241" cy="365760"/>
          </a:xfrm>
          <a:prstGeom prst="rect">
            <a:avLst/>
          </a:prstGeom>
          <a:solidFill>
            <a:srgbClr val="A1A9D9"/>
          </a:solidFill>
          <a:ln/>
        </p:spPr>
      </p:sp>
      <p:sp>
        <p:nvSpPr>
          <p:cNvPr id="44" name="Text 42"/>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5" name="Text 43"/>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6" name="Shape 44"/>
          <p:cNvSpPr/>
          <p:nvPr/>
        </p:nvSpPr>
        <p:spPr>
          <a:xfrm>
            <a:off x="9387230" y="5870448"/>
            <a:ext cx="1307958" cy="365760"/>
          </a:xfrm>
          <a:prstGeom prst="rect">
            <a:avLst/>
          </a:prstGeom>
          <a:solidFill>
            <a:srgbClr val="D1D5DB"/>
          </a:solidFill>
          <a:ln/>
        </p:spPr>
      </p:sp>
      <p:sp>
        <p:nvSpPr>
          <p:cNvPr id="47" name="Text 45"/>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8" name="Text 46"/>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9" name="Shape 47"/>
          <p:cNvSpPr/>
          <p:nvPr/>
        </p:nvSpPr>
        <p:spPr>
          <a:xfrm>
            <a:off x="10713476" y="5870448"/>
            <a:ext cx="871972" cy="365760"/>
          </a:xfrm>
          <a:prstGeom prst="rect">
            <a:avLst/>
          </a:prstGeom>
          <a:solidFill>
            <a:srgbClr val="E5E7EB"/>
          </a:solidFill>
          <a:ln/>
        </p:spPr>
      </p:sp>
      <p:sp>
        <p:nvSpPr>
          <p:cNvPr id="50" name="Text 48"/>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17</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13 / 17</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14 / 17</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제품 — 램프업 속도와 수율</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17</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투자 — 투자 셰어 &lt; 빗 셰어 &lt; 프로핏 셰어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17</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오퍼레이션 — 실행의 규율</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17</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2026-08-11T22:07:30Z</dcterms:created>
  <dcterms:modified xsi:type="dcterms:W3CDTF">2026-08-11T22:07:30Z</dcterms:modified>
</cp:coreProperties>
</file>