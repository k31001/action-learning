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보고서는 사상 최대 실적의 예찬이 아니라 다운턴 준비 보고서라는 선언으로 연다. 호황이 끝난 뒤를 대비하는 전략은 호황일 때만 심을 수 있다는 것이 제목의 뜻이다[5]. 일곱 편의 제안(낸드·DRAM·SSD·제조·인사·기획·구매)이 공유하는 공통의 전제를 이 개요편이 놓는다.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순서에는 뜻이 있다 — 과거를 다시 읽지 않으면 미래의 준비가 과거의 반복이 되기 때문이다. 그래서 진단(왜 지금인가) → 역사(룰의 세 번의 변화) → 재감사(무엇이 통했나) → 처방(세 개의 저지선) 순으로 논증한다. 1차 저지선은 이미 계약이 세우고 있고, 나머지 두 저지선은 제품 경쟁력의 몫 — 그 구체안이 이어지는 일곱 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빅테크 네 곳의 AI 인프라 투자는 약 7,000억 달러(+77%)이고 최대 7,250억 달러까지 열려 있으며, OpenAI 컴퓨트 총괄도 업계 투자를 약 7,000억 달러로 셈해 수요자 쪽에서 교차 확인된다[1]. 기업용 SSD 계약가는 한 분기 +80%·재고 사상 최저, 마이크론 분기 매출은 414.6억 달러(+346%)·매출총이익률 84.9% 사상 최고 — 만들면 팔리는 시장이다[2][3]. 그러나 수요는 AI 인프라 건설이라는 외생 변수가 만들었고 3사 공급 규율도 우리 제품력도 부차 요인이다[2]. "이거는 AI가 우리에게 준 선물이지 여러분들이 실력으로 만든 게 아니에요. 그건 팩트야." — 사업부 최고경영진[4].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스스로 선수금을 예치하고 다년 계약에 서명하는 국면은 다운턴이 시작되는 순간 끝난다[5]. 계약만이 아니라 기술이든 관계든 조직이든, 심는 값이 가장 싸고 상대가 문을 열어 주는 계절은 호황뿐이다. 다운턴이 도착한 뒤에 시작하는 준비는 준비가 아니라 대응이고, 대응은 언제나 조건이 가장 나쁠 때의 협상이 된다. "인플렉션 포인트가 오면 뭘 해야 되는데 그때 가서 하면 늦으니까 지금 할 수 있는 걸 지금 하는 거야." — 메모리 영업 리더[4].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DRAM 가격이 2007년 -85%, 이듬해 -58% 무너지는 동안 전원이 버텼고, 누적 손실 30억 달러의 키몬다가 파산(독일 정부 5억 달러 지원 무효)하자 현물가가 급등해 과점 구조가 실증됐다[6]. 2차: PC→모바일 전환에 실기한 엘피다가 부채 4,480억 엔(전후 일본 제조업 최대 파산)으로 무너져 마이크론의 체급이 됐다[6]. 3차: 무감산 선언은 전사 영업이익 0.6조 원(-96%)·DS부문 사상 최대 적자 4.58조 원 뒤인 2023년 4월 철회됐지만, 같은 해 투자 53.1조 원·R&amp;D 28.34조 원은 사상 최대로 유지됐다 — 역사이클 투자 메커니즘은 살아 있다[7]. 범용 게임의 배당(2025~26 사상 최대 실적, SK하이닉스 2026년 2분기 영업이익 컨센서스 64.1조 원·영업이익률 75~77%)과 HBM 실기(40%→17%, 33년 만의 DRAM 1위 상실)가 동시에 일어났다[1][5].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행=삼성의 액션(M), 열=그 다운턴의 맥락(C), 셀=결과(O). 무감산 버티기는 6강 대칭·전원 이윤극대화라는 C에서만 완전 발화했다 — 키몬다 누적손실 30억 달러·2009년 1월 파산, 퇴출 직후 현물가 급등으로 과점 구조가 실증됐다. 다만 같은 액션은 C-c(현물가·수요 절벽)에서는 부분 발화(△)에 그쳐 2008년 4분기 전사 사상 첫 분기 적자 -0.94조를 냈다 — 체력 격차가 손실률 격차(-14% vs -40% 이하)로 전환되는 것이 소모전의 작동 형태다. 채움률 8/20 = 40%, "—"는 M×C 상호작용이 무의미한 칸. 반사실 한계: 대조군은 존재하지 않으며 판정은 동시대 경쟁사 대조로 보완한 정합성 판단이다.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2차는 소모전 위에 기술 전환이 겹친 게임이었다. 같은 심판대에서 삼성은 30nm급(2010-07)·20nm급(2011-09) 세계 최초 연속과 LPDDR3 선행으로 통과했고, 엘피다는 PC→모바일 전환 대응 실패가 파산 요인으로 명시되며 탈락했다(부채 4,480억 엔, 전후 일본 제조업 최대). Line-16은 2010년 5월 착공·2011년 9월 가동, 총 12조로 당시 세계 최대 메모리 팹이다. 주목할 △는 엘피다 입찰 불참 — 저가 매수 창이 열렸으나 배분을 불행사했고, 인수한 마이크론이 모바일 DRAM 스케일과 다사이트 중앙 운영 체계를 얻었다. 퇴출자는 사라지는 것이 아니라 인수자의 체급이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3차는 1차의 승리 공식을 복제했으나 C가 이동해 있었다. 무감산 선언(2022-10-27)→재확인(2023-01-31)→감산 공식화(2023-04-07)의 궤적에서 퇴출자는 0이었고, Q1 2023 전사 영업이익 0.6조(-96%)·DS부문 -4.58조 사상 최대 부문 적자 끝에 삼성 스스로 철회했다. 반면 재무 요새 위의 역사이클 투자는 발화했다 — 사상 최대 적자 연도에 CapEx 53.1조·R&amp;D 28.34조 동시 사상 최대는 3강 중 삼성 단독이다(SK하이닉스는 적자 7.7조 속 CapEx 약 10조로 절감). A6의 반면교사: 2019년 HBM팀 축소라는 과거의 M이 2022년에는 C(출발 위치)로 전환돼 있었다 — 한 다운턴의 M이 다음 다운턴의 C가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현물 중심 시장이 3~5년 고정가 장기계약으로 이동했고, 한 글로벌 투자은행은 장기계약이 이 산업의 사이클 변동성을 근본적으로 제거하고 있다고 평가했다[8]. 웨이퍼를 팔 자격은 캐파가 주지만 고부가 제품을 팔 자격은 고객의 인증이 준다 — 마이크론–앤스로픽 계약은 공동 최적화·다년 공급·전사 도입·자본 연계가 한 몸으로 묶인 실례다[9]. 다음 다운턴은 과거와도 지금과도 다른 세상에 도착한다 — 그리고 새 공식의 재료는 과거를 감사한 뒤에야 고를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재감사가 특히 필요한 까닭은 우리가 과거 다운턴의 승자이기 때문이다 — 승자는 성공 공식을 복제하려는 유인이 가장 강하고, 그 함정은 3차에서 이미 한 번 실현된 관측이다[5]. 전략은 목록이 아니라 조건이다. A1은 이듬해 연결 매출 136.3조·영업이익 10.9조로 이어졌고, A5는 국가가 손실을 흡수하는 경기자를 가격으로 퇴출할 수 없다는 조건 소멸을, A6는 주력의 합리적 자원배분이 새 게임의 실기가 되는 메커니즘을 기록한다[5][6][7]. 역사이클 투자는 여전히 유효하되, 인증이 배분을 정하는 게임에서 인증 없는 캐파는 점유율로 전환되지 않으므로 바닥에서 사야 할 것은 웨이퍼 캐파가 아니라 기술 자산과 인재다[5].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SK하이닉스는 2023년 영업적자 7.7조 원 속에 투자를 10조 원 수준으로 줄이면서도 HBM·엔비디아 공동설계에 집중해 DRAM 1위(36% 대 34%)·HBM 57%, 2025 회계연도 영업이익 47.2조 원(삼성 전사 43.6조 원 초과)을 가져갔다 — A6의 정확한 반례다[5]. 마이크론은 매출 -49%의 수축 속에서 수요를 먼저 잠갔고(SCA 16건·최소 계약 매출 약 1,000억 달러·예치금과 금융 약정 220억 달러), 2026년 초 크루셜 철수로 전 캐파를 고마진 기업용·AI로 돌렸다[2][3]. 낸드는 5강 분산에 YMTC까지 — 2023년 낸드 감산률 50% 유지가 방증하듯 감산 공조도 퇴출 유도도 어려워, 다음 다운턴은 낸드에서 더 깊고 규율 없이 온다[2][5][7]. "거기를 선점 못하면 다음 턴이 오면 점점 (저가) 장사밖에 안 되는 거거든요." — 상품기획 리더[10].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"지금은 5년짜리에 선수금을 수십억 달러 단위로 받아서 통장에 넣어. 걔네가 구매 의무를 저버리면 그 개수 × 판가만큼 받은 캐시에서 깐다는 것 — 테이크 오어 페이(take-or-pay)야. 사우디 오일 계약처럼. 메모리가 처음으로 그 개념을 바인딩해." — 메모리 영업 리더[4]. 세 다운턴 어디에도 없던 매출 바닥 메커니즘이고 거래는 스팟→LTA→SCA로, 참여형 구조까지 금융의 언어로 진화 중이다[5][8]. 그러나 구멍도 셋 — 낸드 웨이퍼 계약가 급등(2025년 11월 한 달 +60% 초과·1분기 대비 +246%)은 완제품 부가가치의 고객 내재화 신호이고[11], "얘네는 계약을 했다지만 필요 없으면 CFO가 오더를 다 캔슬해 — 2023년 하반기에 경험한 거예요"[4], 기술 전환이 방아쇠인 다운턴에는 커버리지 자체가 공동화된다(예측)[5].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방어가 그렇게 되더라도 2차 방어가 이제부터 필요한 거죠. 여러분들이 그 과제를 하는 게 나는 2차 방어라고 생각해. 미래 리스크의 80%는 뭔가 마련을 해야 된다." — 메모리 영업 리더[4]. 세 저지선은 대체재가 아니라 직렬이다. 2차 방어의 골격 — 제품(램프업 속도와 수율), 투자("투자 셰어 &lt; 빗 셰어 &lt; 프로핏 셰어"의 규율), 오퍼레이션[4]. 일곱 편의 제안이 각자의 자리에서 구체안을 내며, 공통 질문은 하나다: 다운턴이 왔을 때, 그리고 그 한복판에서 새 게임이 태어났을 때, 우리는 대체되지 않는 공급자인가.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섹션 도입. 원문 §4의 2차 방어 골격(제품: 램프업 속도와 수율 / 투자: "투자 셰어 &lt; 빗 셰어 &lt; 프로핏 셰어"의 순서를 지키는 규율 / 오퍼레이션) 세 축을 놓는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단일 사이클 시대라면 모든 제품군이 같은 방향으로 움직여야 한다. 실측은 반대다 — 2025년 한 해에 DRAM은 +73%($907억→$1,657억), NAND는 +3.4%($674억→$697억)였다. 더 선명한 것은 2024년 4분기다: DRAM 매출 +9.9% QoQ 상승 국면에 NAND는 −6.2% QoQ로 내렸고, 이듬해 1분기에는 추가 −20%가 전망됐다. 같은 분기, 반대 방향 — 사이클이 하나였다면 불가능한 관측이다. 믹스도 3년 만에 뒤집혔다. HBM은 매출 비중 4.6%에서 30.1%로 6.5배, NAND는 42.4%에서 26.7%로 거의 반토막이 됐고, 범용 DRAM조차 53→46→56→43%로 오르내린다. 어떤 제품군도 안정된 지분을 갖지 못한다. 오른쪽 세 막대는 다음 다운턴(2028~29 창)의 세 원인 경로가 만드는 믹스로, 방향성 대비를 위한 예시 가정이며 예측이 아니다. 확정된 것은 하나 — 세 경로가 만드는 믹스는 서로 반대다. ①수요발(AI 투자수익률 재평가, 시나리오 C·D 합산 약 29%)이 오면 HBM 캐파가 남고, ②공급발(2028~29 신규 캐파 동시 도래 + CXMT)이 오면 범용 캐파가 남으며, ③전환발(3D DRAM·CXL·zHBM, 시나리오 E 5~10%)이 오면 둘 다 남으면서 차세대 캐파가 모자란다. 셋 중 하나를 골라 배분하면 나머지 둘에서 틀린다. 그런데 전환에는 실행만 6개월, 신호 감지와 의사결정을 붙이면 9~12개월이 들고 그사이 판가는 분기마다 15%씩 빠진다. 그래서 답은 방향의 선택이 아니라 전환 속도의 확보다 — 다음 장의 「전환할 수 있는 몸」이 그 방법이다. 수치 주의: 2023년 절대액은 이듬해 매출과 YoY에서 역산했고 2026E는 TrendForce 2026-01 전망치다. 비중은 매출 기준이며 비트 기준과 다르다 — 2024년 HBM은 매출의 20%였으나 비트로는 5%였다.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 — 종합반도체는 제품 포트폴리오만이 아니라 양산 체제가 종합반도체여야 한다. 문제는 판가가 아니라 감가다: 2023년 DS 감가 29.4조가 2028E 44.5조·2029E 45.9조로 오면서 손익 붕괴선이 매출 66.6조에서 104조로 1.5배 올라간다. 같은 폭의 가격 붕괴가 오면 적자는 -14.88조에서 약 -31조로 깊어진다(반사실 추정, 밴드 -28~-35조). 지금 CAPEX를 급제동해도 최소 +13조는 이미 확정 — 파고는 이미 출발했다. 그러나 같은 곡선의 뒷면에서 2028년 말까지 취득원가 196조(메모리 귀속 108~137조)의 설비가 감가를 마친다. 위기와 기회를 가르는 것은 하나 — 그 설비로 무엇을 만들 수 있는가. 세 축은 서로 직교한다(시간축·제품축·설비 세대축). 경계: 선단 리더십은 불변이며 1c nm·HBM4E·EUV 목표는 조정하지 않는다. 값: 전환 본체를 6→3개월로 줄이면 전환 1회당 약 1조·다운턴 1회당 2~3조, N-1 라인의 비트당 원가 우위는 다운턴 25~35%(호황 11~21%). 네 실행 영역(설계 규범·설비 구매 사양·교차 퀄 상시화·투자 거버넌스) 어디에도 증액 요구가 없다 — 예산이 아니라 규범과 문서 양식의 변경이다. 첫 실행 항목은 목표치가 아니라 측정: 지금 우리 팹의 전환 가능 캐파 비율을 아무도 답할 수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저지선의 후속 전략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저지선의 후속 전략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갈래 모두 메모리 사업부 단독 결정 범위를 넘으므로 옵션으로만 제시한다. ① 파운드리 접점 — HBM4 베이스다이가 이미 로직 팹의 산출물이고 평택 P4의 파운드리 예정 구역이 1c DRAM으로 돌려진 이상, 두 사업부의 설비 사양 표준을 한 문서에서 관리하면 전환 가능한 면이 넓어진다. ② 이미지센서 — 화성 11·13라인 DRAM→CIS 전환에서 공정의 약 80%가 동일했고 리소·CVD·식각·테스트 장비를 그대로 썼지만, 스텝 수가 늘어 전환 후 캐파가 절반(월 10만 → 약 5만 장)으로 줄었고 비용은 최소 1조였다. 그래도 신규 라인 신설보다는 훨씬 적었다 — 공용성은 산출량이 아니라 자본지출을 지킨다. ③ 감가 완료 설비의 두 번째 수명 — 2차 시장의 본질이 검사·등급화·잔존수명 예측·보증이라는 위키 판정은 칩과 모듈 대상이고, 장비로의 확장은 아직 제안 단계다. 구조적 자산에 대한 단서: 10nm 이하 로직을 양산할 수 있는 세 회사 중 메모리도 만드는 곳은 삼성뿐이나, 자사 4nm 베이스다이 노선이 경쟁사의 TSMC 12nm 대비 고비용이라는 외부 평가가 있다 — 단기 원가와 장기 구조의 의식적 교환이다.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hero-cover-composit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822960" y="822960"/>
            <a:ext cx="10515600" cy="365760"/>
          </a:xfrm>
          <a:prstGeom prst="rect">
            <a:avLst/>
          </a:prstGeom>
          <a:noFill/>
          <a:ln/>
        </p:spPr>
        <p:txBody>
          <a:bodyPr wrap="square" lIns="0" tIns="0" rIns="0" bIns="0" rtlCol="0" anchor="t"/>
          <a:lstStyle/>
          <a:p>
            <a:pPr algn="l" indent="0" marL="0">
              <a:buNone/>
            </a:pPr>
            <a:r>
              <a:rPr lang="en-US" sz="2000" b="1" spc="200" kern="0" dirty="0">
                <a:solidFill>
                  <a:srgbClr val="FFFFFF"/>
                </a:solidFill>
                <a:latin typeface="맑은 고딕" pitchFamily="34" charset="0"/>
                <a:ea typeface="맑은 고딕" pitchFamily="34" charset="-122"/>
                <a:cs typeface="맑은 고딕" pitchFamily="34" charset="-120"/>
              </a:rPr>
              <a:t>SAMSUNG ELECTRONICS · 메모리사업부</a:t>
            </a:r>
            <a:endParaRPr lang="en-US" sz="2000" dirty="0"/>
          </a:p>
        </p:txBody>
      </p:sp>
      <p:sp>
        <p:nvSpPr>
          <p:cNvPr id="4" name="Text 1"/>
          <p:cNvSpPr/>
          <p:nvPr/>
        </p:nvSpPr>
        <p:spPr>
          <a:xfrm>
            <a:off x="822960" y="3611880"/>
            <a:ext cx="10515600" cy="914400"/>
          </a:xfrm>
          <a:prstGeom prst="rect">
            <a:avLst/>
          </a:prstGeom>
          <a:noFill/>
          <a:ln/>
        </p:spPr>
        <p:txBody>
          <a:bodyPr wrap="square" lIns="0" tIns="0" rIns="0" bIns="0" rtlCol="0" anchor="t"/>
          <a:lstStyle/>
          <a:p>
            <a:pPr algn="l" indent="0" marL="0">
              <a:lnSpc>
                <a:spcPct val="110000"/>
              </a:lnSpc>
              <a:buNone/>
            </a:pPr>
            <a:r>
              <a:rPr lang="en-US" sz="4400" b="1" dirty="0">
                <a:solidFill>
                  <a:srgbClr val="FFFFFF"/>
                </a:solidFill>
                <a:latin typeface="맑은 고딕" pitchFamily="34" charset="0"/>
                <a:ea typeface="맑은 고딕" pitchFamily="34" charset="-122"/>
                <a:cs typeface="맑은 고딕" pitchFamily="34" charset="-120"/>
              </a:rPr>
              <a:t>호황은 전략을 심는 계절이다</a:t>
            </a:r>
            <a:endParaRPr lang="en-US" sz="4400" dirty="0"/>
          </a:p>
        </p:txBody>
      </p:sp>
      <p:sp>
        <p:nvSpPr>
          <p:cNvPr id="5" name="Text 2"/>
          <p:cNvSpPr/>
          <p:nvPr/>
        </p:nvSpPr>
        <p:spPr>
          <a:xfrm>
            <a:off x="822960" y="4709160"/>
            <a:ext cx="10515600" cy="457200"/>
          </a:xfrm>
          <a:prstGeom prst="rect">
            <a:avLst/>
          </a:prstGeom>
          <a:noFill/>
          <a:ln/>
        </p:spPr>
        <p:txBody>
          <a:bodyPr wrap="square" lIns="0" tIns="0" rIns="0" bIns="0" rtlCol="0" anchor="t"/>
          <a:lstStyle/>
          <a:p>
            <a:pPr algn="l" indent="0" marL="0">
              <a:buNone/>
            </a:pPr>
            <a:r>
              <a:rPr lang="en-US" sz="2400" dirty="0">
                <a:solidFill>
                  <a:srgbClr val="C9D2F0"/>
                </a:solidFill>
                <a:latin typeface="맑은 고딕" pitchFamily="34" charset="0"/>
                <a:ea typeface="맑은 고딕" pitchFamily="34" charset="-122"/>
                <a:cs typeface="맑은 고딕" pitchFamily="34" charset="-120"/>
              </a:rPr>
              <a:t>다음 다운턴을 준비하는 세 개의 저지선 · 공통 개요편</a:t>
            </a:r>
            <a:endParaRPr lang="en-US" sz="2400" dirty="0"/>
          </a:p>
        </p:txBody>
      </p:sp>
      <p:sp>
        <p:nvSpPr>
          <p:cNvPr id="6" name="Text 3"/>
          <p:cNvSpPr/>
          <p:nvPr/>
        </p:nvSpPr>
        <p:spPr>
          <a:xfrm>
            <a:off x="822960" y="6080760"/>
            <a:ext cx="10515600" cy="36576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낸드 · DRAM · SSD · 제조 · 인사 · 기획 · 구매 — 7편 제안의 공통 지도 · 2026. 8.</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보고서의 지도</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과거를 다시 읽지 않으면,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미래의 준비가 과거의 반복이 된다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02 / 19</a:t>
            </a:r>
            <a:endParaRPr lang="en-US" sz="2000" dirty="0"/>
          </a:p>
        </p:txBody>
      </p:sp>
      <p:sp>
        <p:nvSpPr>
          <p:cNvPr id="6" name="Shape 4"/>
          <p:cNvSpPr/>
          <p:nvPr/>
        </p:nvSpPr>
        <p:spPr>
          <a:xfrm>
            <a:off x="612648" y="2157984"/>
            <a:ext cx="2414016" cy="2468880"/>
          </a:xfrm>
          <a:prstGeom prst="roundRect">
            <a:avLst>
              <a:gd name="adj" fmla="val 3030"/>
            </a:avLst>
          </a:prstGeom>
          <a:solidFill>
            <a:srgbClr val="F4F6FB"/>
          </a:solidFill>
          <a:ln/>
        </p:spPr>
      </p:sp>
      <p:sp>
        <p:nvSpPr>
          <p:cNvPr id="7" name="Text 5"/>
          <p:cNvSpPr/>
          <p:nvPr/>
        </p:nvSpPr>
        <p:spPr>
          <a:xfrm>
            <a:off x="841248"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01 · 진단</a:t>
            </a:r>
            <a:endParaRPr lang="en-US" sz="2000" dirty="0"/>
          </a:p>
        </p:txBody>
      </p:sp>
      <p:sp>
        <p:nvSpPr>
          <p:cNvPr id="8" name="Text 6"/>
          <p:cNvSpPr/>
          <p:nvPr/>
        </p:nvSpPr>
        <p:spPr>
          <a:xfrm>
            <a:off x="841248"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이 호황은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누가 만들었나</a:t>
            </a:r>
            <a:endParaRPr lang="en-US" sz="2200" dirty="0"/>
          </a:p>
        </p:txBody>
      </p:sp>
      <p:sp>
        <p:nvSpPr>
          <p:cNvPr id="9" name="Text 7"/>
          <p:cNvSpPr/>
          <p:nvPr/>
        </p:nvSpPr>
        <p:spPr>
          <a:xfrm>
            <a:off x="841248"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수요는 외생 변수</a:t>
            </a:r>
            <a:endParaRPr lang="en-US" sz="2000" dirty="0"/>
          </a:p>
        </p:txBody>
      </p:sp>
      <p:sp>
        <p:nvSpPr>
          <p:cNvPr id="10" name="Text 8"/>
          <p:cNvSpPr/>
          <p:nvPr/>
        </p:nvSpPr>
        <p:spPr>
          <a:xfrm>
            <a:off x="841248"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S3 – S4</a:t>
            </a:r>
            <a:endParaRPr lang="en-US" sz="2000" dirty="0"/>
          </a:p>
        </p:txBody>
      </p:sp>
      <p:sp>
        <p:nvSpPr>
          <p:cNvPr id="11" name="Shape 9"/>
          <p:cNvSpPr/>
          <p:nvPr/>
        </p:nvSpPr>
        <p:spPr>
          <a:xfrm>
            <a:off x="3465576" y="2157984"/>
            <a:ext cx="2414016" cy="2468880"/>
          </a:xfrm>
          <a:prstGeom prst="roundRect">
            <a:avLst>
              <a:gd name="adj" fmla="val 3030"/>
            </a:avLst>
          </a:prstGeom>
          <a:solidFill>
            <a:srgbClr val="F4F6FB"/>
          </a:solidFill>
          <a:ln/>
        </p:spPr>
      </p:sp>
      <p:sp>
        <p:nvSpPr>
          <p:cNvPr id="12" name="Text 10"/>
          <p:cNvSpPr/>
          <p:nvPr/>
        </p:nvSpPr>
        <p:spPr>
          <a:xfrm>
            <a:off x="3694176"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02 · 역사</a:t>
            </a:r>
            <a:endParaRPr lang="en-US" sz="2000" dirty="0"/>
          </a:p>
        </p:txBody>
      </p:sp>
      <p:sp>
        <p:nvSpPr>
          <p:cNvPr id="13" name="Text 11"/>
          <p:cNvSpPr/>
          <p:nvPr/>
        </p:nvSpPr>
        <p:spPr>
          <a:xfrm>
            <a:off x="3694176"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게임의 룰은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어떻게 바뀌었나</a:t>
            </a:r>
            <a:endParaRPr lang="en-US" sz="2200" dirty="0"/>
          </a:p>
        </p:txBody>
      </p:sp>
      <p:sp>
        <p:nvSpPr>
          <p:cNvPr id="14" name="Text 12"/>
          <p:cNvSpPr/>
          <p:nvPr/>
        </p:nvSpPr>
        <p:spPr>
          <a:xfrm>
            <a:off x="3694176"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3+1 다운턴</a:t>
            </a:r>
            <a:endParaRPr lang="en-US" sz="2000" dirty="0"/>
          </a:p>
        </p:txBody>
      </p:sp>
      <p:sp>
        <p:nvSpPr>
          <p:cNvPr id="15" name="Text 13"/>
          <p:cNvSpPr/>
          <p:nvPr/>
        </p:nvSpPr>
        <p:spPr>
          <a:xfrm>
            <a:off x="3694176"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S5 – S9</a:t>
            </a:r>
            <a:endParaRPr lang="en-US" sz="2000" dirty="0"/>
          </a:p>
        </p:txBody>
      </p:sp>
      <p:sp>
        <p:nvSpPr>
          <p:cNvPr id="16" name="Shape 14"/>
          <p:cNvSpPr/>
          <p:nvPr/>
        </p:nvSpPr>
        <p:spPr>
          <a:xfrm>
            <a:off x="6318504" y="2157984"/>
            <a:ext cx="2414016" cy="2468880"/>
          </a:xfrm>
          <a:prstGeom prst="roundRect">
            <a:avLst>
              <a:gd name="adj" fmla="val 3030"/>
            </a:avLst>
          </a:prstGeom>
          <a:solidFill>
            <a:srgbClr val="F4F6FB"/>
          </a:solidFill>
          <a:ln/>
        </p:spPr>
      </p:sp>
      <p:sp>
        <p:nvSpPr>
          <p:cNvPr id="17" name="Text 15"/>
          <p:cNvSpPr/>
          <p:nvPr/>
        </p:nvSpPr>
        <p:spPr>
          <a:xfrm>
            <a:off x="6547104"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03 · 재감사</a:t>
            </a:r>
            <a:endParaRPr lang="en-US" sz="2000" dirty="0"/>
          </a:p>
        </p:txBody>
      </p:sp>
      <p:sp>
        <p:nvSpPr>
          <p:cNvPr id="18" name="Text 16"/>
          <p:cNvSpPr/>
          <p:nvPr/>
        </p:nvSpPr>
        <p:spPr>
          <a:xfrm>
            <a:off x="6547104"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통했고</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부러졌나</a:t>
            </a:r>
            <a:endParaRPr lang="en-US" sz="2200" dirty="0"/>
          </a:p>
        </p:txBody>
      </p:sp>
      <p:sp>
        <p:nvSpPr>
          <p:cNvPr id="19" name="Text 17"/>
          <p:cNvSpPr/>
          <p:nvPr/>
        </p:nvSpPr>
        <p:spPr>
          <a:xfrm>
            <a:off x="6547104"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판정 ◎ 4 · ✕ 2</a:t>
            </a:r>
            <a:endParaRPr lang="en-US" sz="2000" dirty="0"/>
          </a:p>
        </p:txBody>
      </p:sp>
      <p:sp>
        <p:nvSpPr>
          <p:cNvPr id="20" name="Text 18"/>
          <p:cNvSpPr/>
          <p:nvPr/>
        </p:nvSpPr>
        <p:spPr>
          <a:xfrm>
            <a:off x="6547104"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S10 – S11</a:t>
            </a:r>
            <a:endParaRPr lang="en-US" sz="2000" dirty="0"/>
          </a:p>
        </p:txBody>
      </p:sp>
      <p:sp>
        <p:nvSpPr>
          <p:cNvPr id="21" name="Shape 19"/>
          <p:cNvSpPr/>
          <p:nvPr/>
        </p:nvSpPr>
        <p:spPr>
          <a:xfrm>
            <a:off x="9171432" y="2157984"/>
            <a:ext cx="2414016" cy="2468880"/>
          </a:xfrm>
          <a:prstGeom prst="roundRect">
            <a:avLst>
              <a:gd name="adj" fmla="val 3030"/>
            </a:avLst>
          </a:prstGeom>
          <a:solidFill>
            <a:srgbClr val="0A1854"/>
          </a:solidFill>
          <a:ln/>
        </p:spPr>
      </p:sp>
      <p:sp>
        <p:nvSpPr>
          <p:cNvPr id="22" name="Text 20"/>
          <p:cNvSpPr/>
          <p:nvPr/>
        </p:nvSpPr>
        <p:spPr>
          <a:xfrm>
            <a:off x="9400032" y="2377440"/>
            <a:ext cx="1956816" cy="274320"/>
          </a:xfrm>
          <a:prstGeom prst="rect">
            <a:avLst/>
          </a:prstGeom>
          <a:noFill/>
          <a:ln/>
        </p:spPr>
        <p:txBody>
          <a:bodyPr wrap="square" lIns="0" tIns="0" rIns="0" bIns="0" rtlCol="0" anchor="t"/>
          <a:lstStyle/>
          <a:p>
            <a:pPr algn="l" indent="0" marL="0">
              <a:buNone/>
            </a:pPr>
            <a:r>
              <a:rPr lang="en-US" sz="2000" b="1" dirty="0">
                <a:solidFill>
                  <a:srgbClr val="A1A9D9"/>
                </a:solidFill>
                <a:latin typeface="맑은 고딕" pitchFamily="34" charset="0"/>
                <a:ea typeface="맑은 고딕" pitchFamily="34" charset="-122"/>
                <a:cs typeface="맑은 고딕" pitchFamily="34" charset="-120"/>
              </a:rPr>
              <a:t>04 · 처방</a:t>
            </a:r>
            <a:endParaRPr lang="en-US" sz="2000" dirty="0"/>
          </a:p>
        </p:txBody>
      </p:sp>
      <p:sp>
        <p:nvSpPr>
          <p:cNvPr id="23" name="Text 21"/>
          <p:cNvSpPr/>
          <p:nvPr/>
        </p:nvSpPr>
        <p:spPr>
          <a:xfrm>
            <a:off x="9400032"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무엇으로</a:t>
            </a:r>
            <a:endParaRPr lang="en-US" sz="2200" dirty="0"/>
          </a:p>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막을 것인가</a:t>
            </a:r>
            <a:endParaRPr lang="en-US" sz="2200" dirty="0"/>
          </a:p>
        </p:txBody>
      </p:sp>
      <p:sp>
        <p:nvSpPr>
          <p:cNvPr id="24" name="Text 22"/>
          <p:cNvSpPr/>
          <p:nvPr/>
        </p:nvSpPr>
        <p:spPr>
          <a:xfrm>
            <a:off x="9400032"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세 개의 저지선</a:t>
            </a:r>
            <a:endParaRPr lang="en-US" sz="2000" dirty="0"/>
          </a:p>
        </p:txBody>
      </p:sp>
      <p:sp>
        <p:nvSpPr>
          <p:cNvPr id="25" name="Text 23"/>
          <p:cNvSpPr/>
          <p:nvPr/>
        </p:nvSpPr>
        <p:spPr>
          <a:xfrm>
            <a:off x="9400032" y="4206240"/>
            <a:ext cx="1956816" cy="27432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S12 – S13</a:t>
            </a:r>
            <a:endParaRPr lang="en-US" sz="2000" dirty="0"/>
          </a:p>
        </p:txBody>
      </p:sp>
      <p:sp>
        <p:nvSpPr>
          <p:cNvPr id="26" name="Shape 24"/>
          <p:cNvSpPr/>
          <p:nvPr/>
        </p:nvSpPr>
        <p:spPr>
          <a:xfrm>
            <a:off x="3026664" y="3346704"/>
            <a:ext cx="438912" cy="0"/>
          </a:xfrm>
          <a:prstGeom prst="line">
            <a:avLst/>
          </a:prstGeom>
          <a:noFill/>
          <a:ln w="25400">
            <a:solidFill>
              <a:srgbClr val="A1A9D9"/>
            </a:solidFill>
            <a:prstDash val="solid"/>
            <a:tailEnd type="arrow"/>
          </a:ln>
        </p:spPr>
      </p:sp>
      <p:sp>
        <p:nvSpPr>
          <p:cNvPr id="27" name="Shape 25"/>
          <p:cNvSpPr/>
          <p:nvPr/>
        </p:nvSpPr>
        <p:spPr>
          <a:xfrm>
            <a:off x="5879592" y="3346704"/>
            <a:ext cx="438912" cy="0"/>
          </a:xfrm>
          <a:prstGeom prst="line">
            <a:avLst/>
          </a:prstGeom>
          <a:noFill/>
          <a:ln w="25400">
            <a:solidFill>
              <a:srgbClr val="A1A9D9"/>
            </a:solidFill>
            <a:prstDash val="solid"/>
            <a:tailEnd type="arrow"/>
          </a:ln>
        </p:spPr>
      </p:sp>
      <p:sp>
        <p:nvSpPr>
          <p:cNvPr id="28" name="Shape 26"/>
          <p:cNvSpPr/>
          <p:nvPr/>
        </p:nvSpPr>
        <p:spPr>
          <a:xfrm>
            <a:off x="8732520" y="3346704"/>
            <a:ext cx="438912" cy="0"/>
          </a:xfrm>
          <a:prstGeom prst="line">
            <a:avLst/>
          </a:prstGeom>
          <a:noFill/>
          <a:ln w="25400">
            <a:solidFill>
              <a:srgbClr val="A1A9D9"/>
            </a:solidFill>
            <a:prstDash val="solid"/>
            <a:tailEnd type="arrow"/>
          </a:ln>
        </p:spPr>
      </p:sp>
      <p:sp>
        <p:nvSpPr>
          <p:cNvPr id="29" name="Shape 27"/>
          <p:cNvSpPr/>
          <p:nvPr/>
        </p:nvSpPr>
        <p:spPr>
          <a:xfrm>
            <a:off x="10378440" y="4626864"/>
            <a:ext cx="0" cy="475488"/>
          </a:xfrm>
          <a:prstGeom prst="line">
            <a:avLst/>
          </a:prstGeom>
          <a:noFill/>
          <a:ln w="25400">
            <a:solidFill>
              <a:srgbClr val="A1A9D9"/>
            </a:solidFill>
            <a:prstDash val="solid"/>
            <a:tailEnd type="arrow"/>
          </a:ln>
        </p:spPr>
      </p:sp>
      <p:sp>
        <p:nvSpPr>
          <p:cNvPr id="30" name="Shape 28"/>
          <p:cNvSpPr/>
          <p:nvPr/>
        </p:nvSpPr>
        <p:spPr>
          <a:xfrm>
            <a:off x="5641848" y="5102352"/>
            <a:ext cx="5943600" cy="566928"/>
          </a:xfrm>
          <a:prstGeom prst="roundRect">
            <a:avLst>
              <a:gd name="adj" fmla="val 50000"/>
            </a:avLst>
          </a:prstGeom>
          <a:solidFill>
            <a:srgbClr val="FFFFFF"/>
          </a:solidFill>
          <a:ln w="15875">
            <a:solidFill>
              <a:srgbClr val="0A1854"/>
            </a:solidFill>
            <a:prstDash val="solid"/>
          </a:ln>
        </p:spPr>
      </p:sp>
      <p:sp>
        <p:nvSpPr>
          <p:cNvPr id="31" name="Text 29"/>
          <p:cNvSpPr/>
          <p:nvPr/>
        </p:nvSpPr>
        <p:spPr>
          <a:xfrm>
            <a:off x="5641848" y="5102352"/>
            <a:ext cx="5943600" cy="56692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2차 저지선 상세 — S14 ~ S18</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호황은 우리가 만든 것이 아니다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수요는 외생 변수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실력의 시험은 가격 붕괴 후에 온다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빅테크 실적 발표 · 마이크론 FQ3 FY26 · 기업용 SSD 리서치 1Q26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03 / 19</a:t>
            </a:r>
            <a:endParaRPr lang="en-US" sz="2000" dirty="0"/>
          </a:p>
        </p:txBody>
      </p:sp>
      <p:sp>
        <p:nvSpPr>
          <p:cNvPr id="7" name="Text 5"/>
          <p:cNvSpPr/>
          <p:nvPr/>
        </p:nvSpPr>
        <p:spPr>
          <a:xfrm>
            <a:off x="612648" y="1938528"/>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빅테크 4사 AI CapEx — 지수 (전년 = 100)</a:t>
            </a:r>
            <a:endParaRPr lang="en-US" sz="2000" dirty="0"/>
          </a:p>
        </p:txBody>
      </p:sp>
      <p:sp>
        <p:nvSpPr>
          <p:cNvPr id="8" name="Shape 6"/>
          <p:cNvSpPr/>
          <p:nvPr/>
        </p:nvSpPr>
        <p:spPr>
          <a:xfrm>
            <a:off x="1188720" y="3101263"/>
            <a:ext cx="777240" cy="583769"/>
          </a:xfrm>
          <a:prstGeom prst="rect">
            <a:avLst/>
          </a:prstGeom>
          <a:solidFill>
            <a:srgbClr val="D1D5DB"/>
          </a:solidFill>
          <a:ln/>
        </p:spPr>
      </p:sp>
      <p:sp>
        <p:nvSpPr>
          <p:cNvPr id="9" name="Text 7"/>
          <p:cNvSpPr/>
          <p:nvPr/>
        </p:nvSpPr>
        <p:spPr>
          <a:xfrm>
            <a:off x="1005840" y="2808655"/>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0" name="Text 8"/>
          <p:cNvSpPr/>
          <p:nvPr/>
        </p:nvSpPr>
        <p:spPr>
          <a:xfrm>
            <a:off x="868680"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a:t>
            </a:r>
            <a:endParaRPr lang="en-US" sz="2000" dirty="0"/>
          </a:p>
        </p:txBody>
      </p:sp>
      <p:sp>
        <p:nvSpPr>
          <p:cNvPr id="11" name="Shape 9"/>
          <p:cNvSpPr/>
          <p:nvPr/>
        </p:nvSpPr>
        <p:spPr>
          <a:xfrm>
            <a:off x="2487168" y="2651760"/>
            <a:ext cx="777240" cy="1033272"/>
          </a:xfrm>
          <a:prstGeom prst="rect">
            <a:avLst/>
          </a:prstGeom>
          <a:solidFill>
            <a:srgbClr val="1428A0"/>
          </a:solidFill>
          <a:ln/>
        </p:spPr>
      </p:sp>
      <p:sp>
        <p:nvSpPr>
          <p:cNvPr id="12" name="Text 10"/>
          <p:cNvSpPr/>
          <p:nvPr/>
        </p:nvSpPr>
        <p:spPr>
          <a:xfrm>
            <a:off x="2304288" y="2359152"/>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177</a:t>
            </a:r>
            <a:endParaRPr lang="en-US" sz="2000" dirty="0"/>
          </a:p>
        </p:txBody>
      </p:sp>
      <p:sp>
        <p:nvSpPr>
          <p:cNvPr id="13" name="Text 11"/>
          <p:cNvSpPr/>
          <p:nvPr/>
        </p:nvSpPr>
        <p:spPr>
          <a:xfrm>
            <a:off x="2167128"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14" name="Text 12"/>
          <p:cNvSpPr/>
          <p:nvPr/>
        </p:nvSpPr>
        <p:spPr>
          <a:xfrm>
            <a:off x="3977640" y="2596896"/>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약 7,000억 달러</a:t>
            </a:r>
            <a:endParaRPr lang="en-US" sz="3200" dirty="0"/>
          </a:p>
        </p:txBody>
      </p:sp>
      <p:sp>
        <p:nvSpPr>
          <p:cNvPr id="15" name="Text 13"/>
          <p:cNvSpPr/>
          <p:nvPr/>
        </p:nvSpPr>
        <p:spPr>
          <a:xfrm>
            <a:off x="3977640" y="3108960"/>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+77% YoY · 최대 7,250억 달러 전망</a:t>
            </a:r>
            <a:endParaRPr lang="en-US" sz="2000" dirty="0"/>
          </a:p>
        </p:txBody>
      </p:sp>
      <p:sp>
        <p:nvSpPr>
          <p:cNvPr id="16" name="Text 14"/>
          <p:cNvSpPr/>
          <p:nvPr/>
        </p:nvSpPr>
        <p:spPr>
          <a:xfrm>
            <a:off x="612648" y="4160520"/>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분기 매출 — 지수 (전년 동기 = 100)</a:t>
            </a:r>
            <a:endParaRPr lang="en-US" sz="2000" dirty="0"/>
          </a:p>
        </p:txBody>
      </p:sp>
      <p:sp>
        <p:nvSpPr>
          <p:cNvPr id="17" name="Shape 15"/>
          <p:cNvSpPr/>
          <p:nvPr/>
        </p:nvSpPr>
        <p:spPr>
          <a:xfrm>
            <a:off x="1188720" y="5675349"/>
            <a:ext cx="777240" cy="231675"/>
          </a:xfrm>
          <a:prstGeom prst="rect">
            <a:avLst/>
          </a:prstGeom>
          <a:solidFill>
            <a:srgbClr val="D1D5DB"/>
          </a:solidFill>
          <a:ln/>
        </p:spPr>
      </p:sp>
      <p:sp>
        <p:nvSpPr>
          <p:cNvPr id="18" name="Text 16"/>
          <p:cNvSpPr/>
          <p:nvPr/>
        </p:nvSpPr>
        <p:spPr>
          <a:xfrm>
            <a:off x="1005840" y="5382741"/>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9" name="Text 17"/>
          <p:cNvSpPr/>
          <p:nvPr/>
        </p:nvSpPr>
        <p:spPr>
          <a:xfrm>
            <a:off x="868680"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 동기</a:t>
            </a:r>
            <a:endParaRPr lang="en-US" sz="2000" dirty="0"/>
          </a:p>
        </p:txBody>
      </p:sp>
      <p:sp>
        <p:nvSpPr>
          <p:cNvPr id="20" name="Shape 18"/>
          <p:cNvSpPr/>
          <p:nvPr/>
        </p:nvSpPr>
        <p:spPr>
          <a:xfrm>
            <a:off x="2487168" y="4873752"/>
            <a:ext cx="777240" cy="1033272"/>
          </a:xfrm>
          <a:prstGeom prst="rect">
            <a:avLst/>
          </a:prstGeom>
          <a:solidFill>
            <a:srgbClr val="1428A0"/>
          </a:solidFill>
          <a:ln/>
        </p:spPr>
      </p:sp>
      <p:sp>
        <p:nvSpPr>
          <p:cNvPr id="21" name="Text 19"/>
          <p:cNvSpPr/>
          <p:nvPr/>
        </p:nvSpPr>
        <p:spPr>
          <a:xfrm>
            <a:off x="2304288" y="4581144"/>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446</a:t>
            </a:r>
            <a:endParaRPr lang="en-US" sz="2000" dirty="0"/>
          </a:p>
        </p:txBody>
      </p:sp>
      <p:sp>
        <p:nvSpPr>
          <p:cNvPr id="22" name="Text 20"/>
          <p:cNvSpPr/>
          <p:nvPr/>
        </p:nvSpPr>
        <p:spPr>
          <a:xfrm>
            <a:off x="2167128"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FQ3 FY26</a:t>
            </a:r>
            <a:endParaRPr lang="en-US" sz="2000" dirty="0"/>
          </a:p>
        </p:txBody>
      </p:sp>
      <p:sp>
        <p:nvSpPr>
          <p:cNvPr id="23" name="Text 21"/>
          <p:cNvSpPr/>
          <p:nvPr/>
        </p:nvSpPr>
        <p:spPr>
          <a:xfrm>
            <a:off x="3977640" y="4818888"/>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414.6억 달러</a:t>
            </a:r>
            <a:endParaRPr lang="en-US" sz="3200" dirty="0"/>
          </a:p>
        </p:txBody>
      </p:sp>
      <p:sp>
        <p:nvSpPr>
          <p:cNvPr id="24" name="Text 22"/>
          <p:cNvSpPr/>
          <p:nvPr/>
        </p:nvSpPr>
        <p:spPr>
          <a:xfrm>
            <a:off x="3977640" y="5330952"/>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+346% YoY · 매출총이익률 84.9% 사상 최고</a:t>
            </a:r>
            <a:endParaRPr lang="en-US" sz="2000" dirty="0"/>
          </a:p>
        </p:txBody>
      </p:sp>
      <p:sp>
        <p:nvSpPr>
          <p:cNvPr id="25" name="Shape 23"/>
          <p:cNvSpPr/>
          <p:nvPr/>
        </p:nvSpPr>
        <p:spPr>
          <a:xfrm>
            <a:off x="8202168" y="1938528"/>
            <a:ext cx="3383280" cy="969264"/>
          </a:xfrm>
          <a:prstGeom prst="roundRect">
            <a:avLst>
              <a:gd name="adj" fmla="val 7547"/>
            </a:avLst>
          </a:prstGeom>
          <a:solidFill>
            <a:srgbClr val="F4F6FB"/>
          </a:solidFill>
          <a:ln/>
        </p:spPr>
      </p:sp>
      <p:sp>
        <p:nvSpPr>
          <p:cNvPr id="26" name="Text 24"/>
          <p:cNvSpPr/>
          <p:nvPr/>
        </p:nvSpPr>
        <p:spPr>
          <a:xfrm>
            <a:off x="8403336" y="2057400"/>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기업용 SSD 계약가 · 분기</a:t>
            </a:r>
            <a:endParaRPr lang="en-US" sz="2000" dirty="0"/>
          </a:p>
        </p:txBody>
      </p:sp>
      <p:sp>
        <p:nvSpPr>
          <p:cNvPr id="27" name="Text 25"/>
          <p:cNvSpPr/>
          <p:nvPr/>
        </p:nvSpPr>
        <p:spPr>
          <a:xfrm>
            <a:off x="8403336" y="2359152"/>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+80%</a:t>
            </a:r>
            <a:endParaRPr lang="en-US" sz="3200" dirty="0"/>
          </a:p>
        </p:txBody>
      </p:sp>
      <p:sp>
        <p:nvSpPr>
          <p:cNvPr id="28" name="Shape 26"/>
          <p:cNvSpPr/>
          <p:nvPr/>
        </p:nvSpPr>
        <p:spPr>
          <a:xfrm>
            <a:off x="8202168" y="3044952"/>
            <a:ext cx="3383280" cy="969264"/>
          </a:xfrm>
          <a:prstGeom prst="roundRect">
            <a:avLst>
              <a:gd name="adj" fmla="val 7547"/>
            </a:avLst>
          </a:prstGeom>
          <a:solidFill>
            <a:srgbClr val="F4F6FB"/>
          </a:solidFill>
          <a:ln/>
        </p:spPr>
      </p:sp>
      <p:sp>
        <p:nvSpPr>
          <p:cNvPr id="29" name="Text 27"/>
          <p:cNvSpPr/>
          <p:nvPr/>
        </p:nvSpPr>
        <p:spPr>
          <a:xfrm>
            <a:off x="8403336" y="3163824"/>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주요 공급사 재고</a:t>
            </a:r>
            <a:endParaRPr lang="en-US" sz="2000" dirty="0"/>
          </a:p>
        </p:txBody>
      </p:sp>
      <p:sp>
        <p:nvSpPr>
          <p:cNvPr id="30" name="Text 28"/>
          <p:cNvSpPr/>
          <p:nvPr/>
        </p:nvSpPr>
        <p:spPr>
          <a:xfrm>
            <a:off x="8403336" y="3465576"/>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사상 최저</a:t>
            </a:r>
            <a:endParaRPr lang="en-US" sz="3200" dirty="0"/>
          </a:p>
        </p:txBody>
      </p:sp>
      <p:sp>
        <p:nvSpPr>
          <p:cNvPr id="31" name="Shape 29"/>
          <p:cNvSpPr/>
          <p:nvPr/>
        </p:nvSpPr>
        <p:spPr>
          <a:xfrm>
            <a:off x="8202168" y="4151376"/>
            <a:ext cx="3383280" cy="969264"/>
          </a:xfrm>
          <a:prstGeom prst="roundRect">
            <a:avLst>
              <a:gd name="adj" fmla="val 7547"/>
            </a:avLst>
          </a:prstGeom>
          <a:solidFill>
            <a:srgbClr val="F4F6FB"/>
          </a:solidFill>
          <a:ln/>
        </p:spPr>
      </p:sp>
      <p:sp>
        <p:nvSpPr>
          <p:cNvPr id="32" name="Text 30"/>
          <p:cNvSpPr/>
          <p:nvPr/>
        </p:nvSpPr>
        <p:spPr>
          <a:xfrm>
            <a:off x="8403336" y="4270248"/>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클라우드 매출 YoY</a:t>
            </a:r>
            <a:endParaRPr lang="en-US" sz="2000" dirty="0"/>
          </a:p>
        </p:txBody>
      </p:sp>
      <p:sp>
        <p:nvSpPr>
          <p:cNvPr id="33" name="Text 31"/>
          <p:cNvSpPr/>
          <p:nvPr/>
        </p:nvSpPr>
        <p:spPr>
          <a:xfrm>
            <a:off x="8403336" y="4572000"/>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+82%</a:t>
            </a:r>
            <a:endParaRPr lang="en-US" sz="3200" dirty="0"/>
          </a:p>
        </p:txBody>
      </p:sp>
      <p:sp>
        <p:nvSpPr>
          <p:cNvPr id="34" name="Shape 32"/>
          <p:cNvSpPr/>
          <p:nvPr/>
        </p:nvSpPr>
        <p:spPr>
          <a:xfrm>
            <a:off x="8202168" y="5257800"/>
            <a:ext cx="3383280" cy="969264"/>
          </a:xfrm>
          <a:prstGeom prst="roundRect">
            <a:avLst>
              <a:gd name="adj" fmla="val 7547"/>
            </a:avLst>
          </a:prstGeom>
          <a:solidFill>
            <a:srgbClr val="F4F6FB"/>
          </a:solidFill>
          <a:ln/>
        </p:spPr>
      </p:sp>
      <p:sp>
        <p:nvSpPr>
          <p:cNvPr id="35" name="Text 33"/>
          <p:cNvSpPr/>
          <p:nvPr/>
        </p:nvSpPr>
        <p:spPr>
          <a:xfrm>
            <a:off x="8403336" y="5376672"/>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수주 잔고</a:t>
            </a:r>
            <a:endParaRPr lang="en-US" sz="2000" dirty="0"/>
          </a:p>
        </p:txBody>
      </p:sp>
      <p:sp>
        <p:nvSpPr>
          <p:cNvPr id="36" name="Text 34"/>
          <p:cNvSpPr/>
          <p:nvPr/>
        </p:nvSpPr>
        <p:spPr>
          <a:xfrm>
            <a:off x="8403336" y="5678424"/>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5,140억 달러</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준비의 창은 호황에만 열린다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환경이 준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환경이 거둬간다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04 / 19</a:t>
            </a:r>
            <a:endParaRPr lang="en-US" sz="2000" dirty="0"/>
          </a:p>
        </p:txBody>
      </p:sp>
      <p:sp>
        <p:nvSpPr>
          <p:cNvPr id="6" name="Shape 4"/>
          <p:cNvSpPr/>
          <p:nvPr/>
        </p:nvSpPr>
        <p:spPr>
          <a:xfrm>
            <a:off x="612648" y="2048256"/>
            <a:ext cx="3483864" cy="475488"/>
          </a:xfrm>
          <a:prstGeom prst="rect">
            <a:avLst/>
          </a:prstGeom>
          <a:solidFill>
            <a:srgbClr val="E3E7F5"/>
          </a:solidFill>
          <a:ln/>
        </p:spPr>
      </p:sp>
      <p:sp>
        <p:nvSpPr>
          <p:cNvPr id="7" name="Text 5"/>
          <p:cNvSpPr/>
          <p:nvPr/>
        </p:nvSpPr>
        <p:spPr>
          <a:xfrm>
            <a:off x="612648"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① 호황 — 창 열림</a:t>
            </a:r>
            <a:endParaRPr lang="en-US" sz="2200" dirty="0"/>
          </a:p>
        </p:txBody>
      </p:sp>
      <p:sp>
        <p:nvSpPr>
          <p:cNvPr id="8" name="Shape 6"/>
          <p:cNvSpPr/>
          <p:nvPr/>
        </p:nvSpPr>
        <p:spPr>
          <a:xfrm>
            <a:off x="612648" y="2523744"/>
            <a:ext cx="3483864" cy="1572768"/>
          </a:xfrm>
          <a:prstGeom prst="rect">
            <a:avLst/>
          </a:prstGeom>
          <a:solidFill>
            <a:srgbClr val="F4F6FB"/>
          </a:solidFill>
          <a:ln/>
        </p:spPr>
      </p:sp>
      <p:sp>
        <p:nvSpPr>
          <p:cNvPr id="9" name="Text 7"/>
          <p:cNvSpPr/>
          <p:nvPr/>
        </p:nvSpPr>
        <p:spPr>
          <a:xfrm>
            <a:off x="813816"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고객이 문을 연다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선수금 예치 · 다년 계약</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공동 로드맵</a:t>
            </a:r>
            <a:endParaRPr lang="en-US" sz="2000" dirty="0"/>
          </a:p>
        </p:txBody>
      </p:sp>
      <p:sp>
        <p:nvSpPr>
          <p:cNvPr id="10" name="Shape 8"/>
          <p:cNvSpPr/>
          <p:nvPr/>
        </p:nvSpPr>
        <p:spPr>
          <a:xfrm>
            <a:off x="4352544" y="2048256"/>
            <a:ext cx="3483864" cy="475488"/>
          </a:xfrm>
          <a:prstGeom prst="rect">
            <a:avLst/>
          </a:prstGeom>
          <a:solidFill>
            <a:srgbClr val="A1A9D9"/>
          </a:solidFill>
          <a:ln/>
        </p:spPr>
      </p:sp>
      <p:sp>
        <p:nvSpPr>
          <p:cNvPr id="11" name="Text 9"/>
          <p:cNvSpPr/>
          <p:nvPr/>
        </p:nvSpPr>
        <p:spPr>
          <a:xfrm>
            <a:off x="4352544"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② 인플렉션 포인트</a:t>
            </a:r>
            <a:endParaRPr lang="en-US" sz="2200" dirty="0"/>
          </a:p>
        </p:txBody>
      </p:sp>
      <p:sp>
        <p:nvSpPr>
          <p:cNvPr id="12" name="Shape 10"/>
          <p:cNvSpPr/>
          <p:nvPr/>
        </p:nvSpPr>
        <p:spPr>
          <a:xfrm>
            <a:off x="4352544" y="2523744"/>
            <a:ext cx="3483864" cy="1572768"/>
          </a:xfrm>
          <a:prstGeom prst="rect">
            <a:avLst/>
          </a:prstGeom>
          <a:solidFill>
            <a:srgbClr val="F4F6FB"/>
          </a:solidFill>
          <a:ln/>
        </p:spPr>
      </p:sp>
      <p:sp>
        <p:nvSpPr>
          <p:cNvPr id="13" name="Text 11"/>
          <p:cNvSpPr/>
          <p:nvPr/>
        </p:nvSpPr>
        <p:spPr>
          <a:xfrm>
            <a:off x="4553712"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그때 가서 하면 늦는다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심는 값이 오르기 시작</a:t>
            </a:r>
            <a:endParaRPr lang="en-US" sz="2000" dirty="0"/>
          </a:p>
        </p:txBody>
      </p:sp>
      <p:sp>
        <p:nvSpPr>
          <p:cNvPr id="14" name="Shape 12"/>
          <p:cNvSpPr/>
          <p:nvPr/>
        </p:nvSpPr>
        <p:spPr>
          <a:xfrm>
            <a:off x="8092440" y="2048256"/>
            <a:ext cx="3483864" cy="475488"/>
          </a:xfrm>
          <a:prstGeom prst="rect">
            <a:avLst/>
          </a:prstGeom>
          <a:solidFill>
            <a:srgbClr val="0A1854"/>
          </a:solidFill>
          <a:ln/>
        </p:spPr>
      </p:sp>
      <p:sp>
        <p:nvSpPr>
          <p:cNvPr id="15" name="Text 13"/>
          <p:cNvSpPr/>
          <p:nvPr/>
        </p:nvSpPr>
        <p:spPr>
          <a:xfrm>
            <a:off x="8092440" y="2048256"/>
            <a:ext cx="3483864"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③ 다운턴 — 창 닫힘</a:t>
            </a:r>
            <a:endParaRPr lang="en-US" sz="2200" dirty="0"/>
          </a:p>
        </p:txBody>
      </p:sp>
      <p:sp>
        <p:nvSpPr>
          <p:cNvPr id="16" name="Shape 14"/>
          <p:cNvSpPr/>
          <p:nvPr/>
        </p:nvSpPr>
        <p:spPr>
          <a:xfrm>
            <a:off x="8092440" y="2523744"/>
            <a:ext cx="3483864" cy="1572768"/>
          </a:xfrm>
          <a:prstGeom prst="rect">
            <a:avLst/>
          </a:prstGeom>
          <a:solidFill>
            <a:srgbClr val="F4F6FB"/>
          </a:solidFill>
          <a:ln/>
        </p:spPr>
      </p:sp>
      <p:sp>
        <p:nvSpPr>
          <p:cNvPr id="17" name="Text 15"/>
          <p:cNvSpPr/>
          <p:nvPr/>
        </p:nvSpPr>
        <p:spPr>
          <a:xfrm>
            <a:off x="8293608"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준비가 아니라 대응</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가장 나쁜 조건의 협상</a:t>
            </a:r>
            <a:endParaRPr lang="en-US" sz="2000" dirty="0"/>
          </a:p>
        </p:txBody>
      </p:sp>
      <p:sp>
        <p:nvSpPr>
          <p:cNvPr id="18" name="Shape 16"/>
          <p:cNvSpPr/>
          <p:nvPr/>
        </p:nvSpPr>
        <p:spPr>
          <a:xfrm>
            <a:off x="4096512" y="3200400"/>
            <a:ext cx="256032" cy="0"/>
          </a:xfrm>
          <a:prstGeom prst="line">
            <a:avLst/>
          </a:prstGeom>
          <a:noFill/>
          <a:ln w="25400">
            <a:solidFill>
              <a:srgbClr val="A1A9D9"/>
            </a:solidFill>
            <a:prstDash val="solid"/>
            <a:tailEnd type="arrow"/>
          </a:ln>
        </p:spPr>
      </p:sp>
      <p:sp>
        <p:nvSpPr>
          <p:cNvPr id="19" name="Shape 17"/>
          <p:cNvSpPr/>
          <p:nvPr/>
        </p:nvSpPr>
        <p:spPr>
          <a:xfrm>
            <a:off x="7836408" y="3200400"/>
            <a:ext cx="256032" cy="0"/>
          </a:xfrm>
          <a:prstGeom prst="line">
            <a:avLst/>
          </a:prstGeom>
          <a:noFill/>
          <a:ln w="25400">
            <a:solidFill>
              <a:srgbClr val="A1A9D9"/>
            </a:solidFill>
            <a:prstDash val="solid"/>
            <a:tailEnd type="arrow"/>
          </a:ln>
        </p:spPr>
      </p:sp>
      <p:sp>
        <p:nvSpPr>
          <p:cNvPr id="20" name="Text 18"/>
          <p:cNvSpPr/>
          <p:nvPr/>
        </p:nvSpPr>
        <p:spPr>
          <a:xfrm>
            <a:off x="612648" y="4187952"/>
            <a:ext cx="10972800" cy="274320"/>
          </a:xfrm>
          <a:prstGeom prst="rect">
            <a:avLst/>
          </a:prstGeom>
          <a:noFill/>
          <a:ln/>
        </p:spPr>
        <p:txBody>
          <a:bodyPr wrap="square" lIns="0" tIns="0" rIns="0" bIns="0" rtlCol="0" anchor="t"/>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다음 다운턴 창: 2028~29 (예측)</a:t>
            </a:r>
            <a:endParaRPr lang="en-US" sz="2000" dirty="0"/>
          </a:p>
        </p:txBody>
      </p:sp>
      <p:sp>
        <p:nvSpPr>
          <p:cNvPr id="21" name="Shape 19"/>
          <p:cNvSpPr/>
          <p:nvPr/>
        </p:nvSpPr>
        <p:spPr>
          <a:xfrm>
            <a:off x="612648" y="4572000"/>
            <a:ext cx="10972800" cy="1554480"/>
          </a:xfrm>
          <a:prstGeom prst="roundRect">
            <a:avLst>
              <a:gd name="adj" fmla="val 4706"/>
            </a:avLst>
          </a:prstGeom>
          <a:solidFill>
            <a:srgbClr val="F4F6FB"/>
          </a:solidFill>
          <a:ln/>
        </p:spPr>
      </p:sp>
      <p:sp>
        <p:nvSpPr>
          <p:cNvPr id="22" name="Text 20"/>
          <p:cNvSpPr/>
          <p:nvPr/>
        </p:nvSpPr>
        <p:spPr>
          <a:xfrm>
            <a:off x="841248" y="4535424"/>
            <a:ext cx="822960" cy="822960"/>
          </a:xfrm>
          <a:prstGeom prst="rect">
            <a:avLst/>
          </a:prstGeom>
          <a:noFill/>
          <a:ln/>
        </p:spPr>
        <p:txBody>
          <a:bodyPr wrap="square" lIns="0" tIns="0" rIns="0" bIns="0" rtlCol="0" anchor="t"/>
          <a:lstStyle/>
          <a:p>
            <a:pPr algn="l" indent="0" marL="0">
              <a:buNone/>
            </a:pPr>
            <a:r>
              <a:rPr lang="en-US" sz="6000" b="1" dirty="0">
                <a:solidFill>
                  <a:srgbClr val="A1A9D9"/>
                </a:solidFill>
                <a:latin typeface="맑은 고딕" pitchFamily="34" charset="0"/>
                <a:ea typeface="맑은 고딕" pitchFamily="34" charset="-122"/>
                <a:cs typeface="맑은 고딕" pitchFamily="34" charset="-120"/>
              </a:rPr>
              <a:t>“</a:t>
            </a:r>
            <a:endParaRPr lang="en-US" sz="6000" dirty="0"/>
          </a:p>
        </p:txBody>
      </p:sp>
      <p:sp>
        <p:nvSpPr>
          <p:cNvPr id="23" name="Text 21"/>
          <p:cNvSpPr/>
          <p:nvPr/>
        </p:nvSpPr>
        <p:spPr>
          <a:xfrm>
            <a:off x="1737360" y="4681728"/>
            <a:ext cx="9418320" cy="896112"/>
          </a:xfrm>
          <a:prstGeom prst="rect">
            <a:avLst/>
          </a:prstGeom>
          <a:noFill/>
          <a:ln/>
        </p:spPr>
        <p:txBody>
          <a:bodyPr wrap="square" lIns="0" tIns="0" rIns="0" bIns="0" rtlCol="0" anchor="t"/>
          <a:lstStyle/>
          <a:p>
            <a:pPr algn="l" indent="0" marL="0">
              <a:lnSpc>
                <a:spcPct val="125000"/>
              </a:lnSpc>
              <a:buNone/>
            </a:pPr>
            <a:r>
              <a:rPr lang="en-US" sz="2400" dirty="0">
                <a:solidFill>
                  <a:srgbClr val="0A1854"/>
                </a:solidFill>
                <a:latin typeface="맑은 고딕" pitchFamily="34" charset="0"/>
                <a:ea typeface="맑은 고딕" pitchFamily="34" charset="-122"/>
                <a:cs typeface="맑은 고딕" pitchFamily="34" charset="-120"/>
              </a:rPr>
              <a:t>인플렉션 포인트가 오면 뭘 해야 되는데 그때 가서 하면 늦으니까 지금 할 수 있는 걸 지금 하는 거야</a:t>
            </a:r>
            <a:endParaRPr lang="en-US" sz="2400" dirty="0"/>
          </a:p>
        </p:txBody>
      </p:sp>
      <p:sp>
        <p:nvSpPr>
          <p:cNvPr id="24" name="Text 22"/>
          <p:cNvSpPr/>
          <p:nvPr/>
        </p:nvSpPr>
        <p:spPr>
          <a:xfrm>
            <a:off x="1737360" y="5742432"/>
            <a:ext cx="9418320" cy="310896"/>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 메모리 영업 리더, 사내 인터뷰 (2026. 8)</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게임의 룰은 세 번 바뀌었다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공식은 작동했다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게임이 바뀌어 있었다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 치킨게임 사료 · 삼성 다운턴 액션 2007~2023</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05 / 19</a:t>
            </a:r>
            <a:endParaRPr lang="en-US" sz="2000" dirty="0"/>
          </a:p>
        </p:txBody>
      </p:sp>
      <p:sp>
        <p:nvSpPr>
          <p:cNvPr id="7" name="Shape 5"/>
          <p:cNvSpPr/>
          <p:nvPr/>
        </p:nvSpPr>
        <p:spPr>
          <a:xfrm>
            <a:off x="612648" y="1975104"/>
            <a:ext cx="10972800" cy="0"/>
          </a:xfrm>
          <a:prstGeom prst="line">
            <a:avLst/>
          </a:prstGeom>
          <a:noFill/>
          <a:ln w="25400">
            <a:solidFill>
              <a:srgbClr val="A1A9D9"/>
            </a:solidFill>
            <a:prstDash val="solid"/>
            <a:tailEnd type="arrow"/>
          </a:ln>
        </p:spPr>
      </p:sp>
      <p:sp>
        <p:nvSpPr>
          <p:cNvPr id="8" name="Shape 6"/>
          <p:cNvSpPr/>
          <p:nvPr/>
        </p:nvSpPr>
        <p:spPr>
          <a:xfrm>
            <a:off x="612648" y="2121408"/>
            <a:ext cx="2551176" cy="502920"/>
          </a:xfrm>
          <a:prstGeom prst="rect">
            <a:avLst/>
          </a:prstGeom>
          <a:solidFill>
            <a:srgbClr val="E3E7F5"/>
          </a:solidFill>
          <a:ln/>
        </p:spPr>
      </p:sp>
      <p:sp>
        <p:nvSpPr>
          <p:cNvPr id="9" name="Text 7"/>
          <p:cNvSpPr/>
          <p:nvPr/>
        </p:nvSpPr>
        <p:spPr>
          <a:xfrm>
            <a:off x="612648"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1차 · 2007~09</a:t>
            </a:r>
            <a:endParaRPr lang="en-US" sz="2200" dirty="0"/>
          </a:p>
        </p:txBody>
      </p:sp>
      <p:sp>
        <p:nvSpPr>
          <p:cNvPr id="10" name="Shape 8"/>
          <p:cNvSpPr/>
          <p:nvPr/>
        </p:nvSpPr>
        <p:spPr>
          <a:xfrm>
            <a:off x="612648" y="2624328"/>
            <a:ext cx="2551176" cy="3429000"/>
          </a:xfrm>
          <a:prstGeom prst="rect">
            <a:avLst/>
          </a:prstGeom>
          <a:solidFill>
            <a:srgbClr val="F4F6FB"/>
          </a:solidFill>
          <a:ln/>
        </p:spPr>
      </p:sp>
      <p:sp>
        <p:nvSpPr>
          <p:cNvPr id="11" name="Text 9"/>
          <p:cNvSpPr/>
          <p:nvPr/>
        </p:nvSpPr>
        <p:spPr>
          <a:xfrm>
            <a:off x="795528"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체력의 게임</a:t>
            </a:r>
            <a:endParaRPr lang="en-US" sz="2000" dirty="0"/>
          </a:p>
        </p:txBody>
      </p:sp>
      <p:sp>
        <p:nvSpPr>
          <p:cNvPr id="12" name="Text 10"/>
          <p:cNvSpPr/>
          <p:nvPr/>
        </p:nvSpPr>
        <p:spPr>
          <a:xfrm>
            <a:off x="795528"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가격 -85% · -58%</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전원 버티기 소모전</a:t>
            </a:r>
            <a:endParaRPr lang="en-US" sz="2000" dirty="0"/>
          </a:p>
        </p:txBody>
      </p:sp>
      <p:sp>
        <p:nvSpPr>
          <p:cNvPr id="13" name="Shape 11"/>
          <p:cNvSpPr/>
          <p:nvPr/>
        </p:nvSpPr>
        <p:spPr>
          <a:xfrm>
            <a:off x="795528" y="4315968"/>
            <a:ext cx="2185416" cy="0"/>
          </a:xfrm>
          <a:prstGeom prst="line">
            <a:avLst/>
          </a:prstGeom>
          <a:noFill/>
          <a:ln w="12700">
            <a:solidFill>
              <a:srgbClr val="E5E7EB"/>
            </a:solidFill>
            <a:prstDash val="solid"/>
          </a:ln>
        </p:spPr>
      </p:sp>
      <p:sp>
        <p:nvSpPr>
          <p:cNvPr id="14" name="Text 12"/>
          <p:cNvSpPr/>
          <p:nvPr/>
        </p:nvSpPr>
        <p:spPr>
          <a:xfrm>
            <a:off x="795528"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키몬다 퇴출 09.01</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투자 5.5조 → 9조</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회복기 점유 흡수</a:t>
            </a:r>
            <a:endParaRPr lang="en-US" sz="2000" dirty="0"/>
          </a:p>
        </p:txBody>
      </p:sp>
      <p:sp>
        <p:nvSpPr>
          <p:cNvPr id="15" name="Shape 13"/>
          <p:cNvSpPr/>
          <p:nvPr/>
        </p:nvSpPr>
        <p:spPr>
          <a:xfrm>
            <a:off x="3419856" y="2121408"/>
            <a:ext cx="2551176" cy="502920"/>
          </a:xfrm>
          <a:prstGeom prst="rect">
            <a:avLst/>
          </a:prstGeom>
          <a:solidFill>
            <a:srgbClr val="A1A9D9"/>
          </a:solidFill>
          <a:ln/>
        </p:spPr>
      </p:sp>
      <p:sp>
        <p:nvSpPr>
          <p:cNvPr id="16" name="Text 14"/>
          <p:cNvSpPr/>
          <p:nvPr/>
        </p:nvSpPr>
        <p:spPr>
          <a:xfrm>
            <a:off x="3419856"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2차 · 2010~13</a:t>
            </a:r>
            <a:endParaRPr lang="en-US" sz="2200" dirty="0"/>
          </a:p>
        </p:txBody>
      </p:sp>
      <p:sp>
        <p:nvSpPr>
          <p:cNvPr id="17" name="Shape 15"/>
          <p:cNvSpPr/>
          <p:nvPr/>
        </p:nvSpPr>
        <p:spPr>
          <a:xfrm>
            <a:off x="3419856" y="2624328"/>
            <a:ext cx="2551176" cy="3429000"/>
          </a:xfrm>
          <a:prstGeom prst="rect">
            <a:avLst/>
          </a:prstGeom>
          <a:solidFill>
            <a:srgbClr val="F4F6FB"/>
          </a:solidFill>
          <a:ln/>
        </p:spPr>
      </p:sp>
      <p:sp>
        <p:nvSpPr>
          <p:cNvPr id="18" name="Text 16"/>
          <p:cNvSpPr/>
          <p:nvPr/>
        </p:nvSpPr>
        <p:spPr>
          <a:xfrm>
            <a:off x="3602736"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기술의 심판대</a:t>
            </a:r>
            <a:endParaRPr lang="en-US" sz="2000" dirty="0"/>
          </a:p>
        </p:txBody>
      </p:sp>
      <p:sp>
        <p:nvSpPr>
          <p:cNvPr id="19" name="Text 17"/>
          <p:cNvSpPr/>
          <p:nvPr/>
        </p:nvSpPr>
        <p:spPr>
          <a:xfrm>
            <a:off x="3602736"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소모전 + 기술 전환</a:t>
            </a:r>
            <a:endParaRPr lang="en-US" sz="2000" dirty="0"/>
          </a:p>
        </p:txBody>
      </p:sp>
      <p:sp>
        <p:nvSpPr>
          <p:cNvPr id="20" name="Shape 18"/>
          <p:cNvSpPr/>
          <p:nvPr/>
        </p:nvSpPr>
        <p:spPr>
          <a:xfrm>
            <a:off x="3602736" y="4315968"/>
            <a:ext cx="2185416" cy="0"/>
          </a:xfrm>
          <a:prstGeom prst="line">
            <a:avLst/>
          </a:prstGeom>
          <a:noFill/>
          <a:ln w="12700">
            <a:solidFill>
              <a:srgbClr val="E5E7EB"/>
            </a:solidFill>
            <a:prstDash val="solid"/>
          </a:ln>
        </p:spPr>
      </p:sp>
      <p:sp>
        <p:nvSpPr>
          <p:cNvPr id="21" name="Text 19"/>
          <p:cNvSpPr/>
          <p:nvPr/>
        </p:nvSpPr>
        <p:spPr>
          <a:xfrm>
            <a:off x="3602736"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엘피다 → 마이크론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6강 → 3강</a:t>
            </a:r>
            <a:endParaRPr lang="en-US" sz="2000" dirty="0"/>
          </a:p>
        </p:txBody>
      </p:sp>
      <p:sp>
        <p:nvSpPr>
          <p:cNvPr id="22" name="Shape 20"/>
          <p:cNvSpPr/>
          <p:nvPr/>
        </p:nvSpPr>
        <p:spPr>
          <a:xfrm>
            <a:off x="6227064" y="2121408"/>
            <a:ext cx="2551176" cy="502920"/>
          </a:xfrm>
          <a:prstGeom prst="rect">
            <a:avLst/>
          </a:prstGeom>
          <a:solidFill>
            <a:srgbClr val="5A68BC"/>
          </a:solidFill>
          <a:ln/>
        </p:spPr>
      </p:sp>
      <p:sp>
        <p:nvSpPr>
          <p:cNvPr id="23" name="Text 21"/>
          <p:cNvSpPr/>
          <p:nvPr/>
        </p:nvSpPr>
        <p:spPr>
          <a:xfrm>
            <a:off x="6227064"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3차 · 2022~23</a:t>
            </a:r>
            <a:endParaRPr lang="en-US" sz="2200" dirty="0"/>
          </a:p>
        </p:txBody>
      </p:sp>
      <p:sp>
        <p:nvSpPr>
          <p:cNvPr id="24" name="Shape 22"/>
          <p:cNvSpPr/>
          <p:nvPr/>
        </p:nvSpPr>
        <p:spPr>
          <a:xfrm>
            <a:off x="6227064" y="2624328"/>
            <a:ext cx="2551176" cy="3429000"/>
          </a:xfrm>
          <a:prstGeom prst="rect">
            <a:avLst/>
          </a:prstGeom>
          <a:solidFill>
            <a:srgbClr val="F4F6FB"/>
          </a:solidFill>
          <a:ln/>
        </p:spPr>
      </p:sp>
      <p:sp>
        <p:nvSpPr>
          <p:cNvPr id="25" name="Text 23"/>
          <p:cNvSpPr/>
          <p:nvPr/>
        </p:nvSpPr>
        <p:spPr>
          <a:xfrm>
            <a:off x="6409944"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공식 재복제</a:t>
            </a:r>
            <a:endParaRPr lang="en-US" sz="2000" dirty="0"/>
          </a:p>
        </p:txBody>
      </p:sp>
      <p:sp>
        <p:nvSpPr>
          <p:cNvPr id="26" name="Text 24"/>
          <p:cNvSpPr/>
          <p:nvPr/>
        </p:nvSpPr>
        <p:spPr>
          <a:xfrm>
            <a:off x="6409944"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무감산 선언 22.10</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감산 철회 23.04</a:t>
            </a:r>
            <a:endParaRPr lang="en-US" sz="2000" dirty="0"/>
          </a:p>
        </p:txBody>
      </p:sp>
      <p:sp>
        <p:nvSpPr>
          <p:cNvPr id="27" name="Shape 25"/>
          <p:cNvSpPr/>
          <p:nvPr/>
        </p:nvSpPr>
        <p:spPr>
          <a:xfrm>
            <a:off x="6409944" y="4315968"/>
            <a:ext cx="2185416" cy="0"/>
          </a:xfrm>
          <a:prstGeom prst="line">
            <a:avLst/>
          </a:prstGeom>
          <a:noFill/>
          <a:ln w="12700">
            <a:solidFill>
              <a:srgbClr val="E5E7EB"/>
            </a:solidFill>
            <a:prstDash val="solid"/>
          </a:ln>
        </p:spPr>
      </p:sp>
      <p:sp>
        <p:nvSpPr>
          <p:cNvPr id="28" name="Text 26"/>
          <p:cNvSpPr/>
          <p:nvPr/>
        </p:nvSpPr>
        <p:spPr>
          <a:xfrm>
            <a:off x="6409944"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범용 승리, 그리고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실기 40%→17%</a:t>
            </a:r>
            <a:endParaRPr lang="en-US" sz="2000" dirty="0"/>
          </a:p>
        </p:txBody>
      </p:sp>
      <p:sp>
        <p:nvSpPr>
          <p:cNvPr id="29" name="Shape 27"/>
          <p:cNvSpPr/>
          <p:nvPr/>
        </p:nvSpPr>
        <p:spPr>
          <a:xfrm>
            <a:off x="9034272" y="2121408"/>
            <a:ext cx="2551176" cy="502920"/>
          </a:xfrm>
          <a:prstGeom prst="rect">
            <a:avLst/>
          </a:prstGeom>
          <a:solidFill>
            <a:srgbClr val="0A1854"/>
          </a:solidFill>
          <a:ln/>
        </p:spPr>
      </p:sp>
      <p:sp>
        <p:nvSpPr>
          <p:cNvPr id="30" name="Text 28"/>
          <p:cNvSpPr/>
          <p:nvPr/>
        </p:nvSpPr>
        <p:spPr>
          <a:xfrm>
            <a:off x="9034272"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다음 · 2028~29?</a:t>
            </a:r>
            <a:endParaRPr lang="en-US" sz="2200" dirty="0"/>
          </a:p>
        </p:txBody>
      </p:sp>
      <p:sp>
        <p:nvSpPr>
          <p:cNvPr id="31" name="Shape 29"/>
          <p:cNvSpPr/>
          <p:nvPr/>
        </p:nvSpPr>
        <p:spPr>
          <a:xfrm>
            <a:off x="9034272" y="2624328"/>
            <a:ext cx="2551176" cy="3429000"/>
          </a:xfrm>
          <a:prstGeom prst="roundRect">
            <a:avLst>
              <a:gd name="adj" fmla="val 717"/>
            </a:avLst>
          </a:prstGeom>
          <a:solidFill>
            <a:srgbClr val="FFFFFF"/>
          </a:solidFill>
          <a:ln w="15875">
            <a:solidFill>
              <a:srgbClr val="0A1854"/>
            </a:solidFill>
            <a:prstDash val="solid"/>
          </a:ln>
        </p:spPr>
      </p:sp>
      <p:sp>
        <p:nvSpPr>
          <p:cNvPr id="32" name="Text 30"/>
          <p:cNvSpPr/>
          <p:nvPr/>
        </p:nvSpPr>
        <p:spPr>
          <a:xfrm>
            <a:off x="9217152"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새 게임 (예측)</a:t>
            </a:r>
            <a:endParaRPr lang="en-US" sz="2000" dirty="0"/>
          </a:p>
        </p:txBody>
      </p:sp>
      <p:sp>
        <p:nvSpPr>
          <p:cNvPr id="33" name="Text 31"/>
          <p:cNvSpPr/>
          <p:nvPr/>
        </p:nvSpPr>
        <p:spPr>
          <a:xfrm>
            <a:off x="9217152"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계약 바닥</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인증 게임</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비동기 사이클</a:t>
            </a:r>
            <a:endParaRPr lang="en-US" sz="2000" dirty="0"/>
          </a:p>
        </p:txBody>
      </p:sp>
      <p:sp>
        <p:nvSpPr>
          <p:cNvPr id="34" name="Shape 32"/>
          <p:cNvSpPr/>
          <p:nvPr/>
        </p:nvSpPr>
        <p:spPr>
          <a:xfrm>
            <a:off x="9217152" y="4315968"/>
            <a:ext cx="2185416" cy="0"/>
          </a:xfrm>
          <a:prstGeom prst="line">
            <a:avLst/>
          </a:prstGeom>
          <a:noFill/>
          <a:ln w="12700">
            <a:solidFill>
              <a:srgbClr val="E5E7EB"/>
            </a:solidFill>
            <a:prstDash val="solid"/>
          </a:ln>
        </p:spPr>
      </p:sp>
      <p:sp>
        <p:nvSpPr>
          <p:cNvPr id="35" name="Text 33"/>
          <p:cNvSpPr/>
          <p:nvPr/>
        </p:nvSpPr>
        <p:spPr>
          <a:xfrm>
            <a:off x="9217152" y="4462272"/>
            <a:ext cx="2185416" cy="1005840"/>
          </a:xfrm>
          <a:prstGeom prst="rect">
            <a:avLst/>
          </a:prstGeom>
          <a:noFill/>
          <a:ln/>
        </p:spPr>
        <p:txBody>
          <a:bodyPr wrap="square" lIns="0" tIns="0" rIns="0" bIns="0" rtlCol="0" anchor="t"/>
          <a:lstStyle/>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새 게임은</a:t>
            </a:r>
            <a:endParaRPr lang="en-US" sz="2000" dirty="0"/>
          </a:p>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무엇인가?</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CMO-1 · 1차 치킨게임 2007~09</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소모전이 통한 이유는 실력이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6강 대칭이라는 맥락</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06 / 19</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6강 대칭 구조</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캐파·원가 = 점유율</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현물가 · 가격 붕괴</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재무·원가 리더</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무감산 버티기</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체력 열위 퇴출</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6강 대칭</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키몬다 파산 09.01 → 퇴출 직후 현물가 급등</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40nm 공정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원가 격차 확대</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50nm급 대비 생산성 +60% · 전력 −30%</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A1 · 조직 통합</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위기를 재편의 창으로</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수요 충격</a:t>
            </a:r>
            <a:endParaRPr lang="en-US" sz="2000" dirty="0"/>
          </a:p>
        </p:txBody>
      </p:sp>
      <p:sp>
        <p:nvSpPr>
          <p:cNvPr id="45" name="Shape 43"/>
          <p:cNvSpPr/>
          <p:nvPr/>
        </p:nvSpPr>
        <p:spPr>
          <a:xfrm>
            <a:off x="6364224" y="4535424"/>
            <a:ext cx="658368" cy="384048"/>
          </a:xfrm>
          <a:prstGeom prst="roundRect">
            <a:avLst>
              <a:gd name="adj" fmla="val 50000"/>
            </a:avLst>
          </a:prstGeom>
          <a:solidFill>
            <a:srgbClr val="E3E7F5"/>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이듬해 매출 136.3조 · 영업이익 10.9조</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SanDisk 인수 시도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다운턴 저가 매수</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자산가 붕괴</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철회 — 인수 불발, 가격 규율만 관측</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A2 · 역사이클 증설</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회복기 점유 흡수</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캐파=점유율</a:t>
            </a:r>
            <a:endParaRPr lang="en-US" sz="2000" dirty="0"/>
          </a:p>
        </p:txBody>
      </p:sp>
      <p:sp>
        <p:nvSpPr>
          <p:cNvPr id="61" name="Shape 59"/>
          <p:cNvSpPr/>
          <p:nvPr/>
        </p:nvSpPr>
        <p:spPr>
          <a:xfrm>
            <a:off x="6364224" y="5742432"/>
            <a:ext cx="658368" cy="384048"/>
          </a:xfrm>
          <a:prstGeom prst="roundRect">
            <a:avLst>
              <a:gd name="adj" fmla="val 50000"/>
            </a:avLst>
          </a:prstGeom>
          <a:solidFill>
            <a:srgbClr val="E3E7F5"/>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2010 시설투자 21.6조 → 회복기 점유 흡수</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CMO-2 · 2차 치킨게임 2010~13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심판대는 캐파가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기술 전환</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07 / 19</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엘피다 체력 열위</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전환 성패 = 퇴출</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1차전 승자 · 현금</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Line-16 역사이클</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역사이클 캐파 선점</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12조 투입 · 20nm급 DDR3 동시 양산</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공정·모바일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전환 심판대 선점</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전환 성패</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30→20nm 세계 최초 — 엘피다는 탈락</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포트폴리오 재배분</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수요 전환 추종</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PC→모바일</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Austin $4B 전환 — 점유 효과는 미확인</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HDD 사업 매각</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비핵심 경량화</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모바일 전환</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$1.375B 회수 — 메모리 점유엔 간접</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엘피다 입찰 불참</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저가 매수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체력 열위</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마이크론이 인수 — 스케일 점프 허용</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CMO-3 · 다운사이클 2022~23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메커니즘은 복제됐지만,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맥락이 이동한 곳에서 결과는 재생되지 않았다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08 / 19</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3강 · 퇴출 후보 0</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vs 인증 이원화</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수요 절벽 · AI 전야</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$63B · HBM 후순위</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A5 · 무감산 선언</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퇴출 유도</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3강 과점</a:t>
            </a:r>
            <a:endParaRPr lang="en-US" sz="2000" dirty="0"/>
          </a:p>
        </p:txBody>
      </p:sp>
      <p:sp>
        <p:nvSpPr>
          <p:cNvPr id="29" name="Shape 27"/>
          <p:cNvSpPr/>
          <p:nvPr/>
        </p:nvSpPr>
        <p:spPr>
          <a:xfrm>
            <a:off x="6364224" y="3328416"/>
            <a:ext cx="658368" cy="384048"/>
          </a:xfrm>
          <a:prstGeom prst="roundRect">
            <a:avLst>
              <a:gd name="adj" fmla="val 50000"/>
            </a:avLst>
          </a:prstGeom>
          <a:solidFill>
            <a:srgbClr val="FAE7E8"/>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퇴출자 0 · DS −4.58조 → 23.04 자진 철회</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투자·R&amp;D 분리 집행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재무 요새 역사이클</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C-d 현금 요새</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CapEx 53.1조 · R&amp;D 28.34조 사상 최대</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A4 · Taylor 착공</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리드타임 소화</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다운사이클</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가동 2026~27 순연 · $17B → $37B+</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A6 · HBM 후순위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주력 우선 자원배분</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인증 게임</a:t>
            </a:r>
            <a:endParaRPr lang="en-US" sz="2000" dirty="0"/>
          </a:p>
        </p:txBody>
      </p:sp>
      <p:sp>
        <p:nvSpPr>
          <p:cNvPr id="53" name="Shape 51"/>
          <p:cNvSpPr/>
          <p:nvPr/>
        </p:nvSpPr>
        <p:spPr>
          <a:xfrm>
            <a:off x="6364224" y="5138928"/>
            <a:ext cx="658368" cy="384048"/>
          </a:xfrm>
          <a:prstGeom prst="roundRect">
            <a:avLst>
              <a:gd name="adj" fmla="val 50000"/>
            </a:avLst>
          </a:prstGeom>
          <a:solidFill>
            <a:srgbClr val="FAE7E8"/>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 40%→17% · 33년 만의 DRAM 역전</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조직 구조 무대응</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1차전형 재편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사상 최대 적자</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조직 재편 불발 — 2009 A1과 대칭 실패</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네 번째 게임의 룰</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필요한 것은 재복제가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새 공식</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LTA→SCA 업계 동향 · 마이크론–앤스로픽 SCA · 스타게이트 의향서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09 / 19</a:t>
            </a:r>
            <a:endParaRPr lang="en-US" sz="2000" dirty="0"/>
          </a:p>
        </p:txBody>
      </p:sp>
      <p:sp>
        <p:nvSpPr>
          <p:cNvPr id="7" name="Shape 5"/>
          <p:cNvSpPr/>
          <p:nvPr/>
        </p:nvSpPr>
        <p:spPr>
          <a:xfrm>
            <a:off x="612648" y="1938528"/>
            <a:ext cx="5358384" cy="2048256"/>
          </a:xfrm>
          <a:prstGeom prst="roundRect">
            <a:avLst>
              <a:gd name="adj" fmla="val 3571"/>
            </a:avLst>
          </a:prstGeom>
          <a:solidFill>
            <a:srgbClr val="F4F6FB"/>
          </a:solidFill>
          <a:ln/>
        </p:spPr>
      </p:sp>
      <p:sp>
        <p:nvSpPr>
          <p:cNvPr id="8" name="Text 6"/>
          <p:cNvSpPr/>
          <p:nvPr/>
        </p:nvSpPr>
        <p:spPr>
          <a:xfrm>
            <a:off x="841248"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R1 · 거래 → 수주</a:t>
            </a:r>
            <a:endParaRPr lang="en-US" sz="2000" dirty="0"/>
          </a:p>
        </p:txBody>
      </p:sp>
      <p:sp>
        <p:nvSpPr>
          <p:cNvPr id="9" name="Text 7"/>
          <p:cNvSpPr/>
          <p:nvPr/>
        </p:nvSpPr>
        <p:spPr>
          <a:xfrm>
            <a:off x="841248"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현물 → 3~5년 고정가 장기계약</a:t>
            </a:r>
            <a:endParaRPr lang="en-US" sz="2200" dirty="0"/>
          </a:p>
        </p:txBody>
      </p:sp>
      <p:sp>
        <p:nvSpPr>
          <p:cNvPr id="10" name="Text 8"/>
          <p:cNvSpPr/>
          <p:nvPr/>
        </p:nvSpPr>
        <p:spPr>
          <a:xfrm>
            <a:off x="841248"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선급금 5% 미만 → 10~30% 관행</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2027년 DDR 비트 20~30% 고정 전망</a:t>
            </a:r>
            <a:endParaRPr lang="en-US" sz="2000" dirty="0"/>
          </a:p>
        </p:txBody>
      </p:sp>
      <p:sp>
        <p:nvSpPr>
          <p:cNvPr id="11" name="Shape 9"/>
          <p:cNvSpPr/>
          <p:nvPr/>
        </p:nvSpPr>
        <p:spPr>
          <a:xfrm>
            <a:off x="6227064" y="1938528"/>
            <a:ext cx="5358384" cy="2048256"/>
          </a:xfrm>
          <a:prstGeom prst="roundRect">
            <a:avLst>
              <a:gd name="adj" fmla="val 3571"/>
            </a:avLst>
          </a:prstGeom>
          <a:solidFill>
            <a:srgbClr val="F4F6FB"/>
          </a:solidFill>
          <a:ln/>
        </p:spPr>
      </p:sp>
      <p:sp>
        <p:nvSpPr>
          <p:cNvPr id="12" name="Text 10"/>
          <p:cNvSpPr/>
          <p:nvPr/>
        </p:nvSpPr>
        <p:spPr>
          <a:xfrm>
            <a:off x="6455664"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R2 · 캐파 → 인증</a:t>
            </a:r>
            <a:endParaRPr lang="en-US" sz="2000" dirty="0"/>
          </a:p>
        </p:txBody>
      </p:sp>
      <p:sp>
        <p:nvSpPr>
          <p:cNvPr id="13" name="Text 11"/>
          <p:cNvSpPr/>
          <p:nvPr/>
        </p:nvSpPr>
        <p:spPr>
          <a:xfrm>
            <a:off x="6455664"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고부가 제품은 인증이 판다</a:t>
            </a:r>
            <a:endParaRPr lang="en-US" sz="2200" dirty="0"/>
          </a:p>
        </p:txBody>
      </p:sp>
      <p:sp>
        <p:nvSpPr>
          <p:cNvPr id="14" name="Text 12"/>
          <p:cNvSpPr/>
          <p:nvPr/>
        </p:nvSpPr>
        <p:spPr>
          <a:xfrm>
            <a:off x="6455664"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웨이퍼는 캐파가, 배분은 공동설계가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마이크론–앤스로픽: 4요소 일체 계약</a:t>
            </a:r>
            <a:endParaRPr lang="en-US" sz="2000" dirty="0"/>
          </a:p>
        </p:txBody>
      </p:sp>
      <p:sp>
        <p:nvSpPr>
          <p:cNvPr id="15" name="Shape 13"/>
          <p:cNvSpPr/>
          <p:nvPr/>
        </p:nvSpPr>
        <p:spPr>
          <a:xfrm>
            <a:off x="612648" y="4187952"/>
            <a:ext cx="5358384" cy="2048256"/>
          </a:xfrm>
          <a:prstGeom prst="roundRect">
            <a:avLst>
              <a:gd name="adj" fmla="val 3571"/>
            </a:avLst>
          </a:prstGeom>
          <a:solidFill>
            <a:srgbClr val="F4F6FB"/>
          </a:solidFill>
          <a:ln/>
        </p:spPr>
      </p:sp>
      <p:sp>
        <p:nvSpPr>
          <p:cNvPr id="16" name="Text 14"/>
          <p:cNvSpPr/>
          <p:nvPr/>
        </p:nvSpPr>
        <p:spPr>
          <a:xfrm>
            <a:off x="841248"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R3 · 단일 → 비동기 사이클</a:t>
            </a:r>
            <a:endParaRPr lang="en-US" sz="2000" dirty="0"/>
          </a:p>
        </p:txBody>
      </p:sp>
      <p:sp>
        <p:nvSpPr>
          <p:cNvPr id="17" name="Text 15"/>
          <p:cNvSpPr/>
          <p:nvPr/>
        </p:nvSpPr>
        <p:spPr>
          <a:xfrm>
            <a:off x="841248"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단일 사이클의 시대가 끝나 간다</a:t>
            </a:r>
            <a:endParaRPr lang="en-US" sz="2200" dirty="0"/>
          </a:p>
        </p:txBody>
      </p:sp>
      <p:sp>
        <p:nvSpPr>
          <p:cNvPr id="18" name="Text 16"/>
          <p:cNvSpPr/>
          <p:nvPr/>
        </p:nvSpPr>
        <p:spPr>
          <a:xfrm>
            <a:off x="841248"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 범용 DRAM · 낸드가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각자의 사이클로 돈다</a:t>
            </a:r>
            <a:endParaRPr lang="en-US" sz="2000" dirty="0"/>
          </a:p>
        </p:txBody>
      </p:sp>
      <p:sp>
        <p:nvSpPr>
          <p:cNvPr id="19" name="Shape 17"/>
          <p:cNvSpPr/>
          <p:nvPr/>
        </p:nvSpPr>
        <p:spPr>
          <a:xfrm>
            <a:off x="6227064" y="4187952"/>
            <a:ext cx="5358384" cy="2048256"/>
          </a:xfrm>
          <a:prstGeom prst="roundRect">
            <a:avLst>
              <a:gd name="adj" fmla="val 3571"/>
            </a:avLst>
          </a:prstGeom>
          <a:solidFill>
            <a:srgbClr val="F4F6FB"/>
          </a:solidFill>
          <a:ln/>
        </p:spPr>
      </p:sp>
      <p:sp>
        <p:nvSpPr>
          <p:cNvPr id="20" name="Text 18"/>
          <p:cNvSpPr/>
          <p:nvPr/>
        </p:nvSpPr>
        <p:spPr>
          <a:xfrm>
            <a:off x="6455664"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R4 · 소수 고객 지배</a:t>
            </a:r>
            <a:endParaRPr lang="en-US" sz="2000" dirty="0"/>
          </a:p>
        </p:txBody>
      </p:sp>
      <p:sp>
        <p:nvSpPr>
          <p:cNvPr id="21" name="Text 19"/>
          <p:cNvSpPr/>
          <p:nvPr/>
        </p:nvSpPr>
        <p:spPr>
          <a:xfrm>
            <a:off x="6455664"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스타게이트 1건 = 월 최대 90만 장</a:t>
            </a:r>
            <a:endParaRPr lang="en-US" sz="2200" dirty="0"/>
          </a:p>
        </p:txBody>
      </p:sp>
      <p:sp>
        <p:nvSpPr>
          <p:cNvPr id="22" name="Text 20"/>
          <p:cNvSpPr/>
          <p:nvPr/>
        </p:nvSpPr>
        <p:spPr>
          <a:xfrm>
            <a:off x="6455664"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DRAM 웨이퍼 글로벌 생산량의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약 40%에 이르는 단일 의향서</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재감사 — 무엇이 통했고 부러졌는가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◎의 공통분모 — 버티는 시간이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사용하는 시간</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다운턴 액션 재감사 — 3개 다운턴 사료 종합</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10 / 19</a:t>
            </a:r>
            <a:endParaRPr lang="en-US" sz="2000" dirty="0"/>
          </a:p>
        </p:txBody>
      </p:sp>
      <p:sp>
        <p:nvSpPr>
          <p:cNvPr id="7" name="Shape 5"/>
          <p:cNvSpPr/>
          <p:nvPr/>
        </p:nvSpPr>
        <p:spPr>
          <a:xfrm>
            <a:off x="612648" y="1938528"/>
            <a:ext cx="10972800" cy="475488"/>
          </a:xfrm>
          <a:prstGeom prst="rect">
            <a:avLst/>
          </a:prstGeom>
          <a:solidFill>
            <a:srgbClr val="0A1854"/>
          </a:solidFill>
          <a:ln/>
        </p:spPr>
      </p:sp>
      <p:sp>
        <p:nvSpPr>
          <p:cNvPr id="8" name="Text 6"/>
          <p:cNvSpPr/>
          <p:nvPr/>
        </p:nvSpPr>
        <p:spPr>
          <a:xfrm>
            <a:off x="777240" y="1938528"/>
            <a:ext cx="532180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다운턴 액션</a:t>
            </a:r>
            <a:endParaRPr lang="en-US" sz="2000" dirty="0"/>
          </a:p>
        </p:txBody>
      </p:sp>
      <p:sp>
        <p:nvSpPr>
          <p:cNvPr id="9" name="Text 7"/>
          <p:cNvSpPr/>
          <p:nvPr/>
        </p:nvSpPr>
        <p:spPr>
          <a:xfrm>
            <a:off x="6099048" y="1938528"/>
            <a:ext cx="1097280"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10" name="Text 8"/>
          <p:cNvSpPr/>
          <p:nvPr/>
        </p:nvSpPr>
        <p:spPr>
          <a:xfrm>
            <a:off x="7360920" y="1938528"/>
            <a:ext cx="422452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지금도 성립하는가</a:t>
            </a:r>
            <a:endParaRPr lang="en-US" sz="2000" dirty="0"/>
          </a:p>
        </p:txBody>
      </p:sp>
      <p:sp>
        <p:nvSpPr>
          <p:cNvPr id="11" name="Shape 9"/>
          <p:cNvSpPr/>
          <p:nvPr/>
        </p:nvSpPr>
        <p:spPr>
          <a:xfrm>
            <a:off x="612648" y="2414016"/>
            <a:ext cx="10972800" cy="566928"/>
          </a:xfrm>
          <a:prstGeom prst="rect">
            <a:avLst/>
          </a:prstGeom>
          <a:solidFill>
            <a:srgbClr val="FFFFFF"/>
          </a:solidFill>
          <a:ln/>
        </p:spPr>
      </p:sp>
      <p:sp>
        <p:nvSpPr>
          <p:cNvPr id="12" name="Shape 10"/>
          <p:cNvSpPr/>
          <p:nvPr/>
        </p:nvSpPr>
        <p:spPr>
          <a:xfrm>
            <a:off x="612648" y="2414016"/>
            <a:ext cx="10972800" cy="0"/>
          </a:xfrm>
          <a:prstGeom prst="line">
            <a:avLst/>
          </a:prstGeom>
          <a:noFill/>
          <a:ln w="9525">
            <a:solidFill>
              <a:srgbClr val="E5E7EB"/>
            </a:solidFill>
            <a:prstDash val="solid"/>
          </a:ln>
        </p:spPr>
      </p:sp>
      <p:sp>
        <p:nvSpPr>
          <p:cNvPr id="13" name="Text 11"/>
          <p:cNvSpPr/>
          <p:nvPr/>
        </p:nvSpPr>
        <p:spPr>
          <a:xfrm>
            <a:off x="777240" y="241401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A1 · 위기 국면 사업부 통합 08~09</a:t>
            </a:r>
            <a:endParaRPr lang="en-US" sz="2000" dirty="0"/>
          </a:p>
        </p:txBody>
      </p:sp>
      <p:sp>
        <p:nvSpPr>
          <p:cNvPr id="14" name="Shape 12"/>
          <p:cNvSpPr/>
          <p:nvPr/>
        </p:nvSpPr>
        <p:spPr>
          <a:xfrm>
            <a:off x="6318504" y="2505456"/>
            <a:ext cx="658368" cy="384048"/>
          </a:xfrm>
          <a:prstGeom prst="roundRect">
            <a:avLst>
              <a:gd name="adj" fmla="val 50000"/>
            </a:avLst>
          </a:prstGeom>
          <a:solidFill>
            <a:srgbClr val="E3E7F5"/>
          </a:solidFill>
          <a:ln/>
        </p:spPr>
      </p:sp>
      <p:sp>
        <p:nvSpPr>
          <p:cNvPr id="15" name="Text 13"/>
          <p:cNvSpPr/>
          <p:nvPr/>
        </p:nvSpPr>
        <p:spPr>
          <a:xfrm>
            <a:off x="6318504" y="250545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16" name="Text 14"/>
          <p:cNvSpPr/>
          <p:nvPr/>
        </p:nvSpPr>
        <p:spPr>
          <a:xfrm>
            <a:off x="7360920" y="241401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맥락에 거의 무관</a:t>
            </a:r>
            <a:endParaRPr lang="en-US" sz="2000" dirty="0"/>
          </a:p>
        </p:txBody>
      </p:sp>
      <p:sp>
        <p:nvSpPr>
          <p:cNvPr id="17" name="Shape 15"/>
          <p:cNvSpPr/>
          <p:nvPr/>
        </p:nvSpPr>
        <p:spPr>
          <a:xfrm>
            <a:off x="612648" y="2980944"/>
            <a:ext cx="10972800" cy="566928"/>
          </a:xfrm>
          <a:prstGeom prst="rect">
            <a:avLst/>
          </a:prstGeom>
          <a:solidFill>
            <a:srgbClr val="FAFAFA"/>
          </a:solidFill>
          <a:ln/>
        </p:spPr>
      </p:sp>
      <p:sp>
        <p:nvSpPr>
          <p:cNvPr id="18" name="Shape 16"/>
          <p:cNvSpPr/>
          <p:nvPr/>
        </p:nvSpPr>
        <p:spPr>
          <a:xfrm>
            <a:off x="612648" y="2980944"/>
            <a:ext cx="10972800" cy="0"/>
          </a:xfrm>
          <a:prstGeom prst="line">
            <a:avLst/>
          </a:prstGeom>
          <a:noFill/>
          <a:ln w="9525">
            <a:solidFill>
              <a:srgbClr val="E5E7EB"/>
            </a:solidFill>
            <a:prstDash val="solid"/>
          </a:ln>
        </p:spPr>
      </p:sp>
      <p:sp>
        <p:nvSpPr>
          <p:cNvPr id="19" name="Text 17"/>
          <p:cNvSpPr/>
          <p:nvPr/>
        </p:nvSpPr>
        <p:spPr>
          <a:xfrm>
            <a:off x="777240" y="2980944"/>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A2 · 퇴출 직후 역사이클 증설 5.5조→9조</a:t>
            </a:r>
            <a:endParaRPr lang="en-US" sz="2000" dirty="0"/>
          </a:p>
        </p:txBody>
      </p:sp>
      <p:sp>
        <p:nvSpPr>
          <p:cNvPr id="20" name="Shape 18"/>
          <p:cNvSpPr/>
          <p:nvPr/>
        </p:nvSpPr>
        <p:spPr>
          <a:xfrm>
            <a:off x="6318504" y="3072384"/>
            <a:ext cx="658368" cy="384048"/>
          </a:xfrm>
          <a:prstGeom prst="roundRect">
            <a:avLst>
              <a:gd name="adj" fmla="val 50000"/>
            </a:avLst>
          </a:prstGeom>
          <a:solidFill>
            <a:srgbClr val="E3E7F5"/>
          </a:solidFill>
          <a:ln/>
        </p:spPr>
      </p:sp>
      <p:sp>
        <p:nvSpPr>
          <p:cNvPr id="21" name="Text 19"/>
          <p:cNvSpPr/>
          <p:nvPr/>
        </p:nvSpPr>
        <p:spPr>
          <a:xfrm>
            <a:off x="6318504" y="307238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2" name="Text 20"/>
          <p:cNvSpPr/>
          <p:nvPr/>
        </p:nvSpPr>
        <p:spPr>
          <a:xfrm>
            <a:off x="7360920" y="2980944"/>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절반 — 살 것은 기술 자산·인재</a:t>
            </a:r>
            <a:endParaRPr lang="en-US" sz="2000" dirty="0"/>
          </a:p>
        </p:txBody>
      </p:sp>
      <p:sp>
        <p:nvSpPr>
          <p:cNvPr id="23" name="Shape 21"/>
          <p:cNvSpPr/>
          <p:nvPr/>
        </p:nvSpPr>
        <p:spPr>
          <a:xfrm>
            <a:off x="612648" y="3547872"/>
            <a:ext cx="10972800" cy="566928"/>
          </a:xfrm>
          <a:prstGeom prst="rect">
            <a:avLst/>
          </a:prstGeom>
          <a:solidFill>
            <a:srgbClr val="FFFFFF"/>
          </a:solidFill>
          <a:ln/>
        </p:spPr>
      </p:sp>
      <p:sp>
        <p:nvSpPr>
          <p:cNvPr id="24" name="Shape 22"/>
          <p:cNvSpPr/>
          <p:nvPr/>
        </p:nvSpPr>
        <p:spPr>
          <a:xfrm>
            <a:off x="612648" y="3547872"/>
            <a:ext cx="10972800" cy="0"/>
          </a:xfrm>
          <a:prstGeom prst="line">
            <a:avLst/>
          </a:prstGeom>
          <a:noFill/>
          <a:ln w="9525">
            <a:solidFill>
              <a:srgbClr val="E5E7EB"/>
            </a:solidFill>
            <a:prstDash val="solid"/>
          </a:ln>
        </p:spPr>
      </p:sp>
      <p:sp>
        <p:nvSpPr>
          <p:cNvPr id="25" name="Text 23"/>
          <p:cNvSpPr/>
          <p:nvPr/>
        </p:nvSpPr>
        <p:spPr>
          <a:xfrm>
            <a:off x="777240" y="3547872"/>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A3 · 재무 요새 — 현금 약 630억 달러</a:t>
            </a:r>
            <a:endParaRPr lang="en-US" sz="2000" dirty="0"/>
          </a:p>
        </p:txBody>
      </p:sp>
      <p:sp>
        <p:nvSpPr>
          <p:cNvPr id="26" name="Shape 24"/>
          <p:cNvSpPr/>
          <p:nvPr/>
        </p:nvSpPr>
        <p:spPr>
          <a:xfrm>
            <a:off x="6318504" y="3639312"/>
            <a:ext cx="658368" cy="384048"/>
          </a:xfrm>
          <a:prstGeom prst="roundRect">
            <a:avLst>
              <a:gd name="adj" fmla="val 50000"/>
            </a:avLst>
          </a:prstGeom>
          <a:solidFill>
            <a:srgbClr val="E3E7F5"/>
          </a:solidFill>
          <a:ln/>
        </p:spPr>
      </p:sp>
      <p:sp>
        <p:nvSpPr>
          <p:cNvPr id="27" name="Text 25"/>
          <p:cNvSpPr/>
          <p:nvPr/>
        </p:nvSpPr>
        <p:spPr>
          <a:xfrm>
            <a:off x="6318504" y="363931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8" name="Text 26"/>
          <p:cNvSpPr/>
          <p:nvPr/>
        </p:nvSpPr>
        <p:spPr>
          <a:xfrm>
            <a:off x="7360920" y="3547872"/>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모든 액션의 밑돌</a:t>
            </a:r>
            <a:endParaRPr lang="en-US" sz="2000" dirty="0"/>
          </a:p>
        </p:txBody>
      </p:sp>
      <p:sp>
        <p:nvSpPr>
          <p:cNvPr id="29" name="Shape 27"/>
          <p:cNvSpPr/>
          <p:nvPr/>
        </p:nvSpPr>
        <p:spPr>
          <a:xfrm>
            <a:off x="612648" y="4114800"/>
            <a:ext cx="10972800" cy="566928"/>
          </a:xfrm>
          <a:prstGeom prst="rect">
            <a:avLst/>
          </a:prstGeom>
          <a:solidFill>
            <a:srgbClr val="FAFAFA"/>
          </a:solidFill>
          <a:ln/>
        </p:spPr>
      </p:sp>
      <p:sp>
        <p:nvSpPr>
          <p:cNvPr id="30" name="Shape 28"/>
          <p:cNvSpPr/>
          <p:nvPr/>
        </p:nvSpPr>
        <p:spPr>
          <a:xfrm>
            <a:off x="612648" y="4114800"/>
            <a:ext cx="10972800" cy="0"/>
          </a:xfrm>
          <a:prstGeom prst="line">
            <a:avLst/>
          </a:prstGeom>
          <a:noFill/>
          <a:ln w="9525">
            <a:solidFill>
              <a:srgbClr val="E5E7EB"/>
            </a:solidFill>
            <a:prstDash val="solid"/>
          </a:ln>
        </p:spPr>
      </p:sp>
      <p:sp>
        <p:nvSpPr>
          <p:cNvPr id="31" name="Text 29"/>
          <p:cNvSpPr/>
          <p:nvPr/>
        </p:nvSpPr>
        <p:spPr>
          <a:xfrm>
            <a:off x="777240" y="4114800"/>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A4 · 다운사이클 한복판 팹 착공 (Taylor)</a:t>
            </a:r>
            <a:endParaRPr lang="en-US" sz="2000" dirty="0"/>
          </a:p>
        </p:txBody>
      </p:sp>
      <p:sp>
        <p:nvSpPr>
          <p:cNvPr id="32" name="Shape 30"/>
          <p:cNvSpPr/>
          <p:nvPr/>
        </p:nvSpPr>
        <p:spPr>
          <a:xfrm>
            <a:off x="6318504" y="4206240"/>
            <a:ext cx="658368" cy="384048"/>
          </a:xfrm>
          <a:prstGeom prst="roundRect">
            <a:avLst>
              <a:gd name="adj" fmla="val 50000"/>
            </a:avLst>
          </a:prstGeom>
          <a:solidFill>
            <a:srgbClr val="E3E7F5"/>
          </a:solidFill>
          <a:ln/>
        </p:spPr>
      </p:sp>
      <p:sp>
        <p:nvSpPr>
          <p:cNvPr id="33" name="Text 31"/>
          <p:cNvSpPr/>
          <p:nvPr/>
        </p:nvSpPr>
        <p:spPr>
          <a:xfrm>
            <a:off x="6318504" y="420624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4" name="Text 32"/>
          <p:cNvSpPr/>
          <p:nvPr/>
        </p:nvSpPr>
        <p:spPr>
          <a:xfrm>
            <a:off x="7360920" y="4114800"/>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장비 반입은 수요 확인 후</a:t>
            </a:r>
            <a:endParaRPr lang="en-US" sz="2000" dirty="0"/>
          </a:p>
        </p:txBody>
      </p:sp>
      <p:sp>
        <p:nvSpPr>
          <p:cNvPr id="35" name="Shape 33"/>
          <p:cNvSpPr/>
          <p:nvPr/>
        </p:nvSpPr>
        <p:spPr>
          <a:xfrm>
            <a:off x="612648" y="4681728"/>
            <a:ext cx="10972800" cy="566928"/>
          </a:xfrm>
          <a:prstGeom prst="rect">
            <a:avLst/>
          </a:prstGeom>
          <a:solidFill>
            <a:srgbClr val="FFFFFF"/>
          </a:solidFill>
          <a:ln/>
        </p:spPr>
      </p:sp>
      <p:sp>
        <p:nvSpPr>
          <p:cNvPr id="36" name="Shape 34"/>
          <p:cNvSpPr/>
          <p:nvPr/>
        </p:nvSpPr>
        <p:spPr>
          <a:xfrm>
            <a:off x="612648" y="4681728"/>
            <a:ext cx="10972800" cy="0"/>
          </a:xfrm>
          <a:prstGeom prst="line">
            <a:avLst/>
          </a:prstGeom>
          <a:noFill/>
          <a:ln w="9525">
            <a:solidFill>
              <a:srgbClr val="E5E7EB"/>
            </a:solidFill>
            <a:prstDash val="solid"/>
          </a:ln>
        </p:spPr>
      </p:sp>
      <p:sp>
        <p:nvSpPr>
          <p:cNvPr id="37" name="Text 35"/>
          <p:cNvSpPr/>
          <p:nvPr/>
        </p:nvSpPr>
        <p:spPr>
          <a:xfrm>
            <a:off x="777240" y="4681728"/>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A5 · 무감산 선언 → 감산 공식화 철회</a:t>
            </a:r>
            <a:endParaRPr lang="en-US" sz="2000" dirty="0"/>
          </a:p>
        </p:txBody>
      </p:sp>
      <p:sp>
        <p:nvSpPr>
          <p:cNvPr id="38" name="Shape 36"/>
          <p:cNvSpPr/>
          <p:nvPr/>
        </p:nvSpPr>
        <p:spPr>
          <a:xfrm>
            <a:off x="6318504" y="4773168"/>
            <a:ext cx="658368" cy="384048"/>
          </a:xfrm>
          <a:prstGeom prst="roundRect">
            <a:avLst>
              <a:gd name="adj" fmla="val 50000"/>
            </a:avLst>
          </a:prstGeom>
          <a:solidFill>
            <a:srgbClr val="FAE7E8"/>
          </a:solidFill>
          <a:ln/>
        </p:spPr>
      </p:sp>
      <p:sp>
        <p:nvSpPr>
          <p:cNvPr id="39" name="Text 37"/>
          <p:cNvSpPr/>
          <p:nvPr/>
        </p:nvSpPr>
        <p:spPr>
          <a:xfrm>
            <a:off x="6318504" y="477316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0" name="Text 38"/>
          <p:cNvSpPr/>
          <p:nvPr/>
        </p:nvSpPr>
        <p:spPr>
          <a:xfrm>
            <a:off x="7360920" y="4681728"/>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불성립 — 3강 균형에선 자해</a:t>
            </a:r>
            <a:endParaRPr lang="en-US" sz="2000" dirty="0"/>
          </a:p>
        </p:txBody>
      </p:sp>
      <p:sp>
        <p:nvSpPr>
          <p:cNvPr id="41" name="Shape 39"/>
          <p:cNvSpPr/>
          <p:nvPr/>
        </p:nvSpPr>
        <p:spPr>
          <a:xfrm>
            <a:off x="612648" y="5248656"/>
            <a:ext cx="10972800" cy="566928"/>
          </a:xfrm>
          <a:prstGeom prst="rect">
            <a:avLst/>
          </a:prstGeom>
          <a:solidFill>
            <a:srgbClr val="FAFAFA"/>
          </a:solidFill>
          <a:ln/>
        </p:spPr>
      </p:sp>
      <p:sp>
        <p:nvSpPr>
          <p:cNvPr id="42" name="Shape 40"/>
          <p:cNvSpPr/>
          <p:nvPr/>
        </p:nvSpPr>
        <p:spPr>
          <a:xfrm>
            <a:off x="612648" y="5248656"/>
            <a:ext cx="10972800" cy="0"/>
          </a:xfrm>
          <a:prstGeom prst="line">
            <a:avLst/>
          </a:prstGeom>
          <a:noFill/>
          <a:ln w="9525">
            <a:solidFill>
              <a:srgbClr val="E5E7EB"/>
            </a:solidFill>
            <a:prstDash val="solid"/>
          </a:ln>
        </p:spPr>
      </p:sp>
      <p:sp>
        <p:nvSpPr>
          <p:cNvPr id="43" name="Text 41"/>
          <p:cNvSpPr/>
          <p:nvPr/>
        </p:nvSpPr>
        <p:spPr>
          <a:xfrm>
            <a:off x="777240" y="524865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A6 · 범용 캐파 우선 · HBM 후순위</a:t>
            </a:r>
            <a:endParaRPr lang="en-US" sz="2000" dirty="0"/>
          </a:p>
        </p:txBody>
      </p:sp>
      <p:sp>
        <p:nvSpPr>
          <p:cNvPr id="44" name="Shape 42"/>
          <p:cNvSpPr/>
          <p:nvPr/>
        </p:nvSpPr>
        <p:spPr>
          <a:xfrm>
            <a:off x="6318504" y="5340096"/>
            <a:ext cx="658368" cy="384048"/>
          </a:xfrm>
          <a:prstGeom prst="roundRect">
            <a:avLst>
              <a:gd name="adj" fmla="val 50000"/>
            </a:avLst>
          </a:prstGeom>
          <a:solidFill>
            <a:srgbClr val="FAE7E8"/>
          </a:solidFill>
          <a:ln/>
        </p:spPr>
      </p:sp>
      <p:sp>
        <p:nvSpPr>
          <p:cNvPr id="45" name="Text 43"/>
          <p:cNvSpPr/>
          <p:nvPr/>
        </p:nvSpPr>
        <p:spPr>
          <a:xfrm>
            <a:off x="6318504" y="534009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6" name="Text 44"/>
          <p:cNvSpPr/>
          <p:nvPr/>
        </p:nvSpPr>
        <p:spPr>
          <a:xfrm>
            <a:off x="7360920" y="524865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재발 위험 — 니치는 다운턴 속 성장</a:t>
            </a:r>
            <a:endParaRPr lang="en-US" sz="2000" dirty="0"/>
          </a:p>
        </p:txBody>
      </p:sp>
      <p:sp>
        <p:nvSpPr>
          <p:cNvPr id="47" name="Shape 45"/>
          <p:cNvSpPr/>
          <p:nvPr/>
        </p:nvSpPr>
        <p:spPr>
          <a:xfrm>
            <a:off x="612648" y="5815584"/>
            <a:ext cx="10972800" cy="0"/>
          </a:xfrm>
          <a:prstGeom prst="line">
            <a:avLst/>
          </a:prstGeom>
          <a:noFill/>
          <a:ln w="9525">
            <a:solidFill>
              <a:srgbClr val="E5E7EB"/>
            </a:solidFill>
            <a:prstDash val="solid"/>
          </a:ln>
        </p:spPr>
      </p:sp>
      <p:sp>
        <p:nvSpPr>
          <p:cNvPr id="48" name="Shape 46"/>
          <p:cNvSpPr/>
          <p:nvPr/>
        </p:nvSpPr>
        <p:spPr>
          <a:xfrm>
            <a:off x="612648" y="5888736"/>
            <a:ext cx="10972800" cy="347472"/>
          </a:xfrm>
          <a:prstGeom prst="rect">
            <a:avLst/>
          </a:prstGeom>
          <a:solidFill>
            <a:srgbClr val="F4F6FB"/>
          </a:solidFill>
          <a:ln/>
        </p:spPr>
      </p:sp>
      <p:sp>
        <p:nvSpPr>
          <p:cNvPr id="49" name="Text 47"/>
          <p:cNvSpPr/>
          <p:nvPr/>
        </p:nvSpPr>
        <p:spPr>
          <a:xfrm>
            <a:off x="859536" y="5888736"/>
            <a:ext cx="10607040" cy="347472"/>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 공통분모 — 조직 재편 · 싼 자산 매입 · 리드타임 소화 · 체력 유지</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자연 실험 — 경쟁사는 다르게 통과했다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갈린 것은 지출의 양이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배분의 방향</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HBM/DRAM 점유율 리서치 · 기업용 SSD 1Q26 · 마이크론 FQ3 FY26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11 / 19</a:t>
            </a:r>
            <a:endParaRPr lang="en-US" sz="2000" dirty="0"/>
          </a:p>
        </p:txBody>
      </p:sp>
      <p:sp>
        <p:nvSpPr>
          <p:cNvPr id="7" name="Text 5"/>
          <p:cNvSpPr/>
          <p:nvPr/>
        </p:nvSpPr>
        <p:spPr>
          <a:xfrm>
            <a:off x="612648"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삼성 HBM 점유율</a:t>
            </a:r>
            <a:endParaRPr lang="en-US" sz="2000" dirty="0"/>
          </a:p>
        </p:txBody>
      </p:sp>
      <p:sp>
        <p:nvSpPr>
          <p:cNvPr id="8" name="Shape 6"/>
          <p:cNvSpPr/>
          <p:nvPr/>
        </p:nvSpPr>
        <p:spPr>
          <a:xfrm>
            <a:off x="1234440" y="2919984"/>
            <a:ext cx="1874520" cy="455676"/>
          </a:xfrm>
          <a:prstGeom prst="line">
            <a:avLst/>
          </a:prstGeom>
          <a:noFill/>
          <a:ln w="38100">
            <a:solidFill>
              <a:srgbClr val="C00000"/>
            </a:solidFill>
            <a:prstDash val="solid"/>
          </a:ln>
        </p:spPr>
      </p:sp>
      <p:sp>
        <p:nvSpPr>
          <p:cNvPr id="9" name="Shape 7"/>
          <p:cNvSpPr/>
          <p:nvPr/>
        </p:nvSpPr>
        <p:spPr>
          <a:xfrm>
            <a:off x="1161288" y="2846832"/>
            <a:ext cx="146304" cy="146304"/>
          </a:xfrm>
          <a:prstGeom prst="ellipse">
            <a:avLst/>
          </a:prstGeom>
          <a:solidFill>
            <a:srgbClr val="C00000"/>
          </a:solidFill>
          <a:ln w="25400">
            <a:solidFill>
              <a:srgbClr val="FFFFFF"/>
            </a:solidFill>
            <a:prstDash val="solid"/>
          </a:ln>
        </p:spPr>
      </p:sp>
      <p:sp>
        <p:nvSpPr>
          <p:cNvPr id="10" name="Shape 8"/>
          <p:cNvSpPr/>
          <p:nvPr/>
        </p:nvSpPr>
        <p:spPr>
          <a:xfrm>
            <a:off x="3035808" y="3302508"/>
            <a:ext cx="146304" cy="146304"/>
          </a:xfrm>
          <a:prstGeom prst="ellipse">
            <a:avLst/>
          </a:prstGeom>
          <a:solidFill>
            <a:srgbClr val="C00000"/>
          </a:solidFill>
          <a:ln w="25400">
            <a:solidFill>
              <a:srgbClr val="FFFFFF"/>
            </a:solidFill>
            <a:prstDash val="solid"/>
          </a:ln>
        </p:spPr>
      </p:sp>
      <p:sp>
        <p:nvSpPr>
          <p:cNvPr id="11" name="Text 9"/>
          <p:cNvSpPr/>
          <p:nvPr/>
        </p:nvSpPr>
        <p:spPr>
          <a:xfrm>
            <a:off x="777240" y="2554224"/>
            <a:ext cx="9144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40%</a:t>
            </a:r>
            <a:endParaRPr lang="en-US" sz="2000" dirty="0"/>
          </a:p>
        </p:txBody>
      </p:sp>
      <p:sp>
        <p:nvSpPr>
          <p:cNvPr id="12" name="Text 10"/>
          <p:cNvSpPr/>
          <p:nvPr/>
        </p:nvSpPr>
        <p:spPr>
          <a:xfrm>
            <a:off x="2651760" y="2991612"/>
            <a:ext cx="914400" cy="274320"/>
          </a:xfrm>
          <a:prstGeom prst="rect">
            <a:avLst/>
          </a:prstGeom>
          <a:noFill/>
          <a:ln/>
        </p:spPr>
        <p:txBody>
          <a:bodyPr wrap="square" lIns="0" tIns="0" rIns="0" bIns="0" rtlCol="0" anchor="t"/>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17%</a:t>
            </a:r>
            <a:endParaRPr lang="en-US" sz="2000" dirty="0"/>
          </a:p>
        </p:txBody>
      </p:sp>
      <p:sp>
        <p:nvSpPr>
          <p:cNvPr id="13" name="Text 11"/>
          <p:cNvSpPr/>
          <p:nvPr/>
        </p:nvSpPr>
        <p:spPr>
          <a:xfrm>
            <a:off x="685800" y="3767328"/>
            <a:ext cx="109728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14" name="Text 12"/>
          <p:cNvSpPr/>
          <p:nvPr/>
        </p:nvSpPr>
        <p:spPr>
          <a:xfrm>
            <a:off x="2423160" y="3767328"/>
            <a:ext cx="13716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25 상반기</a:t>
            </a:r>
            <a:endParaRPr lang="en-US" sz="2000" dirty="0"/>
          </a:p>
        </p:txBody>
      </p:sp>
      <p:sp>
        <p:nvSpPr>
          <p:cNvPr id="15" name="Text 13"/>
          <p:cNvSpPr/>
          <p:nvPr/>
        </p:nvSpPr>
        <p:spPr>
          <a:xfrm>
            <a:off x="4206240"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HBM 점유 — 현재</a:t>
            </a:r>
            <a:endParaRPr lang="en-US" sz="2000" dirty="0"/>
          </a:p>
        </p:txBody>
      </p:sp>
      <p:sp>
        <p:nvSpPr>
          <p:cNvPr id="16" name="Shape 14"/>
          <p:cNvSpPr/>
          <p:nvPr/>
        </p:nvSpPr>
        <p:spPr>
          <a:xfrm>
            <a:off x="4846320" y="2583180"/>
            <a:ext cx="777240" cy="1129284"/>
          </a:xfrm>
          <a:prstGeom prst="rect">
            <a:avLst/>
          </a:prstGeom>
          <a:solidFill>
            <a:srgbClr val="1428A0"/>
          </a:solidFill>
          <a:ln/>
        </p:spPr>
      </p:sp>
      <p:sp>
        <p:nvSpPr>
          <p:cNvPr id="17" name="Text 15"/>
          <p:cNvSpPr/>
          <p:nvPr/>
        </p:nvSpPr>
        <p:spPr>
          <a:xfrm>
            <a:off x="4572000" y="2290572"/>
            <a:ext cx="132588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57%</a:t>
            </a:r>
            <a:endParaRPr lang="en-US" sz="2000" dirty="0"/>
          </a:p>
        </p:txBody>
      </p:sp>
      <p:sp>
        <p:nvSpPr>
          <p:cNvPr id="18" name="Text 16"/>
          <p:cNvSpPr/>
          <p:nvPr/>
        </p:nvSpPr>
        <p:spPr>
          <a:xfrm>
            <a:off x="443484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SK하이닉스</a:t>
            </a:r>
            <a:endParaRPr lang="en-US" sz="2000" dirty="0"/>
          </a:p>
        </p:txBody>
      </p:sp>
      <p:sp>
        <p:nvSpPr>
          <p:cNvPr id="19" name="Shape 17"/>
          <p:cNvSpPr/>
          <p:nvPr/>
        </p:nvSpPr>
        <p:spPr>
          <a:xfrm>
            <a:off x="6263640" y="3276600"/>
            <a:ext cx="777240" cy="435864"/>
          </a:xfrm>
          <a:prstGeom prst="rect">
            <a:avLst/>
          </a:prstGeom>
          <a:solidFill>
            <a:srgbClr val="D1D5DB"/>
          </a:solidFill>
          <a:ln/>
        </p:spPr>
      </p:sp>
      <p:sp>
        <p:nvSpPr>
          <p:cNvPr id="20" name="Text 18"/>
          <p:cNvSpPr/>
          <p:nvPr/>
        </p:nvSpPr>
        <p:spPr>
          <a:xfrm>
            <a:off x="5989320" y="2983992"/>
            <a:ext cx="132588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22%</a:t>
            </a:r>
            <a:endParaRPr lang="en-US" sz="2000" dirty="0"/>
          </a:p>
        </p:txBody>
      </p:sp>
      <p:sp>
        <p:nvSpPr>
          <p:cNvPr id="21" name="Text 19"/>
          <p:cNvSpPr/>
          <p:nvPr/>
        </p:nvSpPr>
        <p:spPr>
          <a:xfrm>
            <a:off x="585216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22" name="Shape 20"/>
          <p:cNvSpPr/>
          <p:nvPr/>
        </p:nvSpPr>
        <p:spPr>
          <a:xfrm>
            <a:off x="7680960" y="1938528"/>
            <a:ext cx="3904488" cy="1883664"/>
          </a:xfrm>
          <a:prstGeom prst="roundRect">
            <a:avLst>
              <a:gd name="adj" fmla="val 3883"/>
            </a:avLst>
          </a:prstGeom>
          <a:solidFill>
            <a:srgbClr val="F4F6FB"/>
          </a:solidFill>
          <a:ln/>
        </p:spPr>
      </p:sp>
      <p:sp>
        <p:nvSpPr>
          <p:cNvPr id="23" name="Text 21"/>
          <p:cNvSpPr/>
          <p:nvPr/>
        </p:nvSpPr>
        <p:spPr>
          <a:xfrm>
            <a:off x="7918704" y="2313432"/>
            <a:ext cx="3429000"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33년 만의 DRAM 1위 상실</a:t>
            </a:r>
            <a:endParaRPr lang="en-US" sz="2000" dirty="0"/>
          </a:p>
        </p:txBody>
      </p:sp>
      <p:sp>
        <p:nvSpPr>
          <p:cNvPr id="24" name="Text 22"/>
          <p:cNvSpPr/>
          <p:nvPr/>
        </p:nvSpPr>
        <p:spPr>
          <a:xfrm>
            <a:off x="7918704" y="2642616"/>
            <a:ext cx="3429000"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36% 대 34%</a:t>
            </a:r>
            <a:endParaRPr lang="en-US" sz="3200" dirty="0"/>
          </a:p>
        </p:txBody>
      </p:sp>
      <p:sp>
        <p:nvSpPr>
          <p:cNvPr id="25" name="Text 23"/>
          <p:cNvSpPr/>
          <p:nvPr/>
        </p:nvSpPr>
        <p:spPr>
          <a:xfrm>
            <a:off x="7918704" y="3154680"/>
            <a:ext cx="342900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2025년 1분기 · SK 대 삼성</a:t>
            </a:r>
            <a:endParaRPr lang="en-US" sz="2000" dirty="0"/>
          </a:p>
        </p:txBody>
      </p:sp>
      <p:sp>
        <p:nvSpPr>
          <p:cNvPr id="26" name="Shape 24"/>
          <p:cNvSpPr/>
          <p:nvPr/>
        </p:nvSpPr>
        <p:spPr>
          <a:xfrm>
            <a:off x="612648" y="4169664"/>
            <a:ext cx="3529584" cy="896112"/>
          </a:xfrm>
          <a:prstGeom prst="roundRect">
            <a:avLst>
              <a:gd name="adj" fmla="val 8163"/>
            </a:avLst>
          </a:prstGeom>
          <a:solidFill>
            <a:srgbClr val="F4F6FB"/>
          </a:solidFill>
          <a:ln/>
        </p:spPr>
      </p:sp>
      <p:sp>
        <p:nvSpPr>
          <p:cNvPr id="27" name="Text 25"/>
          <p:cNvSpPr/>
          <p:nvPr/>
        </p:nvSpPr>
        <p:spPr>
          <a:xfrm>
            <a:off x="813816"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SK하이닉스 · 방향 유지</a:t>
            </a:r>
            <a:endParaRPr lang="en-US" sz="2000" dirty="0"/>
          </a:p>
        </p:txBody>
      </p:sp>
      <p:sp>
        <p:nvSpPr>
          <p:cNvPr id="28" name="Text 26"/>
          <p:cNvSpPr/>
          <p:nvPr/>
        </p:nvSpPr>
        <p:spPr>
          <a:xfrm>
            <a:off x="813816"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OP 47.2조 — 전사 초과</a:t>
            </a:r>
            <a:endParaRPr lang="en-US" sz="2000" dirty="0"/>
          </a:p>
        </p:txBody>
      </p:sp>
      <p:sp>
        <p:nvSpPr>
          <p:cNvPr id="29" name="Shape 27"/>
          <p:cNvSpPr/>
          <p:nvPr/>
        </p:nvSpPr>
        <p:spPr>
          <a:xfrm>
            <a:off x="4334256" y="4169664"/>
            <a:ext cx="3529584" cy="896112"/>
          </a:xfrm>
          <a:prstGeom prst="roundRect">
            <a:avLst>
              <a:gd name="adj" fmla="val 8163"/>
            </a:avLst>
          </a:prstGeom>
          <a:solidFill>
            <a:srgbClr val="F4F6FB"/>
          </a:solidFill>
          <a:ln/>
        </p:spPr>
      </p:sp>
      <p:sp>
        <p:nvSpPr>
          <p:cNvPr id="30" name="Text 28"/>
          <p:cNvSpPr/>
          <p:nvPr/>
        </p:nvSpPr>
        <p:spPr>
          <a:xfrm>
            <a:off x="4535424"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 수요 선행</a:t>
            </a:r>
            <a:endParaRPr lang="en-US" sz="2000" dirty="0"/>
          </a:p>
        </p:txBody>
      </p:sp>
      <p:sp>
        <p:nvSpPr>
          <p:cNvPr id="31" name="Text 29"/>
          <p:cNvSpPr/>
          <p:nvPr/>
        </p:nvSpPr>
        <p:spPr>
          <a:xfrm>
            <a:off x="4535424"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SCA 16건 · $1,000억</a:t>
            </a:r>
            <a:endParaRPr lang="en-US" sz="2000" dirty="0"/>
          </a:p>
        </p:txBody>
      </p:sp>
      <p:sp>
        <p:nvSpPr>
          <p:cNvPr id="32" name="Shape 30"/>
          <p:cNvSpPr/>
          <p:nvPr/>
        </p:nvSpPr>
        <p:spPr>
          <a:xfrm>
            <a:off x="8055864" y="4169664"/>
            <a:ext cx="3529584" cy="896112"/>
          </a:xfrm>
          <a:prstGeom prst="roundRect">
            <a:avLst>
              <a:gd name="adj" fmla="val 8163"/>
            </a:avLst>
          </a:prstGeom>
          <a:solidFill>
            <a:srgbClr val="F4F6FB"/>
          </a:solidFill>
          <a:ln/>
        </p:spPr>
      </p:sp>
      <p:sp>
        <p:nvSpPr>
          <p:cNvPr id="33" name="Text 31"/>
          <p:cNvSpPr/>
          <p:nvPr/>
        </p:nvSpPr>
        <p:spPr>
          <a:xfrm>
            <a:off x="8257032"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키옥시아 · 세대 선행</a:t>
            </a:r>
            <a:endParaRPr lang="en-US" sz="2000" dirty="0"/>
          </a:p>
        </p:txBody>
      </p:sp>
      <p:sp>
        <p:nvSpPr>
          <p:cNvPr id="34" name="Text 32"/>
          <p:cNvSpPr/>
          <p:nvPr/>
        </p:nvSpPr>
        <p:spPr>
          <a:xfrm>
            <a:off x="8257032"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대신 아키텍처</a:t>
            </a:r>
            <a:endParaRPr lang="en-US" sz="2000" dirty="0"/>
          </a:p>
        </p:txBody>
      </p:sp>
      <p:sp>
        <p:nvSpPr>
          <p:cNvPr id="35" name="Text 33"/>
          <p:cNvSpPr/>
          <p:nvPr/>
        </p:nvSpPr>
        <p:spPr>
          <a:xfrm>
            <a:off x="612648" y="5193792"/>
            <a:ext cx="109728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기업용 SSD 매출 점유 1Q26 (%) — 5강 분산 · YMTC 5%→13%</a:t>
            </a:r>
            <a:endParaRPr lang="en-US" sz="2000" dirty="0"/>
          </a:p>
        </p:txBody>
      </p:sp>
      <p:sp>
        <p:nvSpPr>
          <p:cNvPr id="36" name="Text 34"/>
          <p:cNvSpPr/>
          <p:nvPr/>
        </p:nvSpPr>
        <p:spPr>
          <a:xfrm>
            <a:off x="2191561"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37" name="Shape 35"/>
          <p:cNvSpPr/>
          <p:nvPr/>
        </p:nvSpPr>
        <p:spPr>
          <a:xfrm>
            <a:off x="612648" y="5870448"/>
            <a:ext cx="4163666" cy="365760"/>
          </a:xfrm>
          <a:prstGeom prst="rect">
            <a:avLst/>
          </a:prstGeom>
          <a:solidFill>
            <a:srgbClr val="1428A0"/>
          </a:solidFill>
          <a:ln/>
        </p:spPr>
      </p:sp>
      <p:sp>
        <p:nvSpPr>
          <p:cNvPr id="38" name="Text 36"/>
          <p:cNvSpPr/>
          <p:nvPr/>
        </p:nvSpPr>
        <p:spPr>
          <a:xfrm>
            <a:off x="612648" y="5870448"/>
            <a:ext cx="4163666"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38.2</a:t>
            </a:r>
            <a:endParaRPr lang="en-US" sz="2000" dirty="0"/>
          </a:p>
        </p:txBody>
      </p:sp>
      <p:sp>
        <p:nvSpPr>
          <p:cNvPr id="39" name="Text 37"/>
          <p:cNvSpPr/>
          <p:nvPr/>
        </p:nvSpPr>
        <p:spPr>
          <a:xfrm>
            <a:off x="5659587"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SK그룹</a:t>
            </a:r>
            <a:endParaRPr lang="en-US" sz="2000" dirty="0"/>
          </a:p>
        </p:txBody>
      </p:sp>
      <p:sp>
        <p:nvSpPr>
          <p:cNvPr id="40" name="Shape 38"/>
          <p:cNvSpPr/>
          <p:nvPr/>
        </p:nvSpPr>
        <p:spPr>
          <a:xfrm>
            <a:off x="4794602" y="5870448"/>
            <a:ext cx="2735812" cy="365760"/>
          </a:xfrm>
          <a:prstGeom prst="rect">
            <a:avLst/>
          </a:prstGeom>
          <a:solidFill>
            <a:srgbClr val="5A68BC"/>
          </a:solidFill>
          <a:ln/>
        </p:spPr>
      </p:sp>
      <p:sp>
        <p:nvSpPr>
          <p:cNvPr id="41" name="Text 39"/>
          <p:cNvSpPr/>
          <p:nvPr/>
        </p:nvSpPr>
        <p:spPr>
          <a:xfrm>
            <a:off x="4794602" y="5870448"/>
            <a:ext cx="2735812"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25.1</a:t>
            </a:r>
            <a:endParaRPr lang="en-US" sz="2000" dirty="0"/>
          </a:p>
        </p:txBody>
      </p:sp>
      <p:sp>
        <p:nvSpPr>
          <p:cNvPr id="42" name="Text 40"/>
          <p:cNvSpPr/>
          <p:nvPr/>
        </p:nvSpPr>
        <p:spPr>
          <a:xfrm>
            <a:off x="7955902"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마이크론</a:t>
            </a:r>
            <a:endParaRPr lang="en-US" sz="2000" dirty="0"/>
          </a:p>
        </p:txBody>
      </p:sp>
      <p:sp>
        <p:nvSpPr>
          <p:cNvPr id="43" name="Shape 41"/>
          <p:cNvSpPr/>
          <p:nvPr/>
        </p:nvSpPr>
        <p:spPr>
          <a:xfrm>
            <a:off x="7548701" y="5870448"/>
            <a:ext cx="1820241" cy="365760"/>
          </a:xfrm>
          <a:prstGeom prst="rect">
            <a:avLst/>
          </a:prstGeom>
          <a:solidFill>
            <a:srgbClr val="A1A9D9"/>
          </a:solidFill>
          <a:ln/>
        </p:spPr>
      </p:sp>
      <p:sp>
        <p:nvSpPr>
          <p:cNvPr id="44" name="Text 42"/>
          <p:cNvSpPr/>
          <p:nvPr/>
        </p:nvSpPr>
        <p:spPr>
          <a:xfrm>
            <a:off x="7548701" y="5870448"/>
            <a:ext cx="1820241" cy="36576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16.7</a:t>
            </a:r>
            <a:endParaRPr lang="en-US" sz="2000" dirty="0"/>
          </a:p>
        </p:txBody>
      </p:sp>
      <p:sp>
        <p:nvSpPr>
          <p:cNvPr id="45" name="Text 43"/>
          <p:cNvSpPr/>
          <p:nvPr/>
        </p:nvSpPr>
        <p:spPr>
          <a:xfrm>
            <a:off x="9538289"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키옥시아</a:t>
            </a:r>
            <a:endParaRPr lang="en-US" sz="2000" dirty="0"/>
          </a:p>
        </p:txBody>
      </p:sp>
      <p:sp>
        <p:nvSpPr>
          <p:cNvPr id="46" name="Shape 44"/>
          <p:cNvSpPr/>
          <p:nvPr/>
        </p:nvSpPr>
        <p:spPr>
          <a:xfrm>
            <a:off x="9387230" y="5870448"/>
            <a:ext cx="1307958" cy="365760"/>
          </a:xfrm>
          <a:prstGeom prst="rect">
            <a:avLst/>
          </a:prstGeom>
          <a:solidFill>
            <a:srgbClr val="D1D5DB"/>
          </a:solidFill>
          <a:ln/>
        </p:spPr>
      </p:sp>
      <p:sp>
        <p:nvSpPr>
          <p:cNvPr id="47" name="Text 45"/>
          <p:cNvSpPr/>
          <p:nvPr/>
        </p:nvSpPr>
        <p:spPr>
          <a:xfrm>
            <a:off x="9387230" y="5870448"/>
            <a:ext cx="1307958"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12.0</a:t>
            </a:r>
            <a:endParaRPr lang="en-US" sz="2000" dirty="0"/>
          </a:p>
        </p:txBody>
      </p:sp>
      <p:sp>
        <p:nvSpPr>
          <p:cNvPr id="48" name="Text 46"/>
          <p:cNvSpPr/>
          <p:nvPr/>
        </p:nvSpPr>
        <p:spPr>
          <a:xfrm>
            <a:off x="10579608"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샌디스크</a:t>
            </a:r>
            <a:endParaRPr lang="en-US" sz="2000" dirty="0"/>
          </a:p>
        </p:txBody>
      </p:sp>
      <p:sp>
        <p:nvSpPr>
          <p:cNvPr id="49" name="Shape 47"/>
          <p:cNvSpPr/>
          <p:nvPr/>
        </p:nvSpPr>
        <p:spPr>
          <a:xfrm>
            <a:off x="10713476" y="5870448"/>
            <a:ext cx="871972" cy="365760"/>
          </a:xfrm>
          <a:prstGeom prst="rect">
            <a:avLst/>
          </a:prstGeom>
          <a:solidFill>
            <a:srgbClr val="E5E7EB"/>
          </a:solidFill>
          <a:ln/>
        </p:spPr>
      </p:sp>
      <p:sp>
        <p:nvSpPr>
          <p:cNvPr id="50" name="Text 48"/>
          <p:cNvSpPr/>
          <p:nvPr/>
        </p:nvSpPr>
        <p:spPr>
          <a:xfrm>
            <a:off x="10713476" y="5870448"/>
            <a:ext cx="871972"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8.0</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1차 저지선과 세 개의 구멍</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계약이 지키는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물량뿐</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사내 인터뷰 (메모리 영업 리더) · 낸드 웨이퍼 가격 리서치</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12 / 19</a:t>
            </a:r>
            <a:endParaRPr lang="en-US" sz="2000" dirty="0"/>
          </a:p>
        </p:txBody>
      </p:sp>
      <p:sp>
        <p:nvSpPr>
          <p:cNvPr id="7" name="Shape 5"/>
          <p:cNvSpPr/>
          <p:nvPr/>
        </p:nvSpPr>
        <p:spPr>
          <a:xfrm>
            <a:off x="841248" y="2121408"/>
            <a:ext cx="5852160" cy="731520"/>
          </a:xfrm>
          <a:prstGeom prst="roundRect">
            <a:avLst>
              <a:gd name="adj" fmla="val 2500"/>
            </a:avLst>
          </a:prstGeom>
          <a:solidFill>
            <a:srgbClr val="FFFFFF"/>
          </a:solidFill>
          <a:ln w="15875">
            <a:solidFill>
              <a:srgbClr val="0A1854"/>
            </a:solidFill>
            <a:prstDash val="solid"/>
          </a:ln>
        </p:spPr>
      </p:sp>
      <p:sp>
        <p:nvSpPr>
          <p:cNvPr id="8" name="Text 6"/>
          <p:cNvSpPr/>
          <p:nvPr/>
        </p:nvSpPr>
        <p:spPr>
          <a:xfrm>
            <a:off x="1042416" y="212140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목표 — 캐파 과반 훨씬 초과 커버</a:t>
            </a:r>
            <a:endParaRPr lang="en-US" sz="2200" dirty="0"/>
          </a:p>
        </p:txBody>
      </p:sp>
      <p:sp>
        <p:nvSpPr>
          <p:cNvPr id="9" name="Shape 7"/>
          <p:cNvSpPr/>
          <p:nvPr/>
        </p:nvSpPr>
        <p:spPr>
          <a:xfrm>
            <a:off x="841248" y="2944368"/>
            <a:ext cx="5852160" cy="731520"/>
          </a:xfrm>
          <a:prstGeom prst="rect">
            <a:avLst/>
          </a:prstGeom>
          <a:solidFill>
            <a:srgbClr val="A1A9D9"/>
          </a:solidFill>
          <a:ln/>
        </p:spPr>
      </p:sp>
      <p:sp>
        <p:nvSpPr>
          <p:cNvPr id="10" name="Text 8"/>
          <p:cNvSpPr/>
          <p:nvPr/>
        </p:nvSpPr>
        <p:spPr>
          <a:xfrm>
            <a:off x="1042416" y="294436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NTE 상한 · NTB 하한 — 이익률 방어</a:t>
            </a:r>
            <a:endParaRPr lang="en-US" sz="2200" dirty="0"/>
          </a:p>
        </p:txBody>
      </p:sp>
      <p:sp>
        <p:nvSpPr>
          <p:cNvPr id="11" name="Shape 9"/>
          <p:cNvSpPr/>
          <p:nvPr/>
        </p:nvSpPr>
        <p:spPr>
          <a:xfrm>
            <a:off x="841248" y="3767328"/>
            <a:ext cx="5852160" cy="731520"/>
          </a:xfrm>
          <a:prstGeom prst="rect">
            <a:avLst/>
          </a:prstGeom>
          <a:solidFill>
            <a:srgbClr val="5A68BC"/>
          </a:solidFill>
          <a:ln/>
        </p:spPr>
      </p:sp>
      <p:sp>
        <p:nvSpPr>
          <p:cNvPr id="12" name="Text 10"/>
          <p:cNvSpPr/>
          <p:nvPr/>
        </p:nvSpPr>
        <p:spPr>
          <a:xfrm>
            <a:off x="1042416" y="376732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take-or-pay — 불이행분 캐시 차감</a:t>
            </a:r>
            <a:endParaRPr lang="en-US" sz="2200" dirty="0"/>
          </a:p>
        </p:txBody>
      </p:sp>
      <p:sp>
        <p:nvSpPr>
          <p:cNvPr id="13" name="Shape 11"/>
          <p:cNvSpPr/>
          <p:nvPr/>
        </p:nvSpPr>
        <p:spPr>
          <a:xfrm>
            <a:off x="841248" y="4590288"/>
            <a:ext cx="5852160" cy="731520"/>
          </a:xfrm>
          <a:prstGeom prst="rect">
            <a:avLst/>
          </a:prstGeom>
          <a:solidFill>
            <a:srgbClr val="0A1854"/>
          </a:solidFill>
          <a:ln/>
        </p:spPr>
      </p:sp>
      <p:sp>
        <p:nvSpPr>
          <p:cNvPr id="14" name="Text 12"/>
          <p:cNvSpPr/>
          <p:nvPr/>
        </p:nvSpPr>
        <p:spPr>
          <a:xfrm>
            <a:off x="1042416" y="459028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선수금 — 최대 고객 백억 달러대</a:t>
            </a:r>
            <a:endParaRPr lang="en-US" sz="2200" dirty="0"/>
          </a:p>
        </p:txBody>
      </p:sp>
      <p:sp>
        <p:nvSpPr>
          <p:cNvPr id="15" name="Text 13"/>
          <p:cNvSpPr/>
          <p:nvPr/>
        </p:nvSpPr>
        <p:spPr>
          <a:xfrm>
            <a:off x="841248" y="5504688"/>
            <a:ext cx="5486400" cy="566928"/>
          </a:xfrm>
          <a:prstGeom prst="rect">
            <a:avLst/>
          </a:prstGeom>
          <a:noFill/>
          <a:ln/>
        </p:spPr>
        <p:txBody>
          <a:bodyPr wrap="square" lIns="0" tIns="0" rIns="0" bIns="0" rtlCol="0" anchor="t"/>
          <a:lstStyle/>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업계: 마이크론 SCA 16건 · 약 $1,000억</a:t>
            </a:r>
            <a:endParaRPr lang="en-US" sz="2000" dirty="0"/>
          </a:p>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LTA 선급금 10~30% 관행</a:t>
            </a:r>
            <a:endParaRPr lang="en-US" sz="2000" dirty="0"/>
          </a:p>
        </p:txBody>
      </p:sp>
      <p:sp>
        <p:nvSpPr>
          <p:cNvPr id="16" name="Shape 14"/>
          <p:cNvSpPr/>
          <p:nvPr/>
        </p:nvSpPr>
        <p:spPr>
          <a:xfrm>
            <a:off x="6492240" y="2496312"/>
            <a:ext cx="402336" cy="402336"/>
          </a:xfrm>
          <a:prstGeom prst="ellipse">
            <a:avLst/>
          </a:prstGeom>
          <a:solidFill>
            <a:srgbClr val="FFFFFF">
              <a:alpha val="0"/>
            </a:srgbClr>
          </a:solidFill>
          <a:ln w="19050">
            <a:solidFill>
              <a:srgbClr val="C00000"/>
            </a:solidFill>
            <a:prstDash val="dash"/>
          </a:ln>
        </p:spPr>
      </p:sp>
      <p:sp>
        <p:nvSpPr>
          <p:cNvPr id="17" name="Shape 15"/>
          <p:cNvSpPr/>
          <p:nvPr/>
        </p:nvSpPr>
        <p:spPr>
          <a:xfrm>
            <a:off x="6894576" y="2697480"/>
            <a:ext cx="283464" cy="0"/>
          </a:xfrm>
          <a:prstGeom prst="line">
            <a:avLst/>
          </a:prstGeom>
          <a:noFill/>
          <a:ln w="19050">
            <a:solidFill>
              <a:srgbClr val="C00000"/>
            </a:solidFill>
            <a:prstDash val="dash"/>
            <a:tailEnd type="none"/>
          </a:ln>
        </p:spPr>
      </p:sp>
      <p:sp>
        <p:nvSpPr>
          <p:cNvPr id="18" name="Shape 16"/>
          <p:cNvSpPr/>
          <p:nvPr/>
        </p:nvSpPr>
        <p:spPr>
          <a:xfrm>
            <a:off x="7178040" y="2176272"/>
            <a:ext cx="4407408" cy="1042416"/>
          </a:xfrm>
          <a:prstGeom prst="roundRect">
            <a:avLst>
              <a:gd name="adj" fmla="val 7018"/>
            </a:avLst>
          </a:prstGeom>
          <a:solidFill>
            <a:srgbClr val="FFFFFF"/>
          </a:solidFill>
          <a:ln w="12700">
            <a:solidFill>
              <a:srgbClr val="E5E7EB"/>
            </a:solidFill>
            <a:prstDash val="solid"/>
          </a:ln>
        </p:spPr>
      </p:sp>
      <p:sp>
        <p:nvSpPr>
          <p:cNvPr id="19" name="Text 17"/>
          <p:cNvSpPr/>
          <p:nvPr/>
        </p:nvSpPr>
        <p:spPr>
          <a:xfrm>
            <a:off x="7379208" y="226771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1 — 완제품 부가가치</a:t>
            </a:r>
            <a:endParaRPr lang="en-US" sz="2000" dirty="0"/>
          </a:p>
        </p:txBody>
      </p:sp>
      <p:sp>
        <p:nvSpPr>
          <p:cNvPr id="20" name="Text 18"/>
          <p:cNvSpPr/>
          <p:nvPr/>
        </p:nvSpPr>
        <p:spPr>
          <a:xfrm>
            <a:off x="7379208" y="257860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웨이퍼 후퇴 시 마진 층 소멸</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계약가 1분기比 +246%</a:t>
            </a:r>
            <a:endParaRPr lang="en-US" sz="2000" dirty="0"/>
          </a:p>
        </p:txBody>
      </p:sp>
      <p:sp>
        <p:nvSpPr>
          <p:cNvPr id="21" name="Shape 19"/>
          <p:cNvSpPr/>
          <p:nvPr/>
        </p:nvSpPr>
        <p:spPr>
          <a:xfrm>
            <a:off x="6492240" y="3776472"/>
            <a:ext cx="402336" cy="402336"/>
          </a:xfrm>
          <a:prstGeom prst="ellipse">
            <a:avLst/>
          </a:prstGeom>
          <a:solidFill>
            <a:srgbClr val="FFFFFF">
              <a:alpha val="0"/>
            </a:srgbClr>
          </a:solidFill>
          <a:ln w="19050">
            <a:solidFill>
              <a:srgbClr val="C00000"/>
            </a:solidFill>
            <a:prstDash val="dash"/>
          </a:ln>
        </p:spPr>
      </p:sp>
      <p:sp>
        <p:nvSpPr>
          <p:cNvPr id="22" name="Shape 20"/>
          <p:cNvSpPr/>
          <p:nvPr/>
        </p:nvSpPr>
        <p:spPr>
          <a:xfrm>
            <a:off x="6894576" y="3977640"/>
            <a:ext cx="283464" cy="0"/>
          </a:xfrm>
          <a:prstGeom prst="line">
            <a:avLst/>
          </a:prstGeom>
          <a:noFill/>
          <a:ln w="19050">
            <a:solidFill>
              <a:srgbClr val="C00000"/>
            </a:solidFill>
            <a:prstDash val="dash"/>
            <a:tailEnd type="none"/>
          </a:ln>
        </p:spPr>
      </p:sp>
      <p:sp>
        <p:nvSpPr>
          <p:cNvPr id="23" name="Shape 21"/>
          <p:cNvSpPr/>
          <p:nvPr/>
        </p:nvSpPr>
        <p:spPr>
          <a:xfrm>
            <a:off x="7178040" y="3456432"/>
            <a:ext cx="4407408" cy="1042416"/>
          </a:xfrm>
          <a:prstGeom prst="roundRect">
            <a:avLst>
              <a:gd name="adj" fmla="val 7018"/>
            </a:avLst>
          </a:prstGeom>
          <a:solidFill>
            <a:srgbClr val="FFFFFF"/>
          </a:solidFill>
          <a:ln w="12700">
            <a:solidFill>
              <a:srgbClr val="E5E7EB"/>
            </a:solidFill>
            <a:prstDash val="solid"/>
          </a:ln>
        </p:spPr>
      </p:sp>
      <p:sp>
        <p:nvSpPr>
          <p:cNvPr id="24" name="Text 22"/>
          <p:cNvSpPr/>
          <p:nvPr/>
        </p:nvSpPr>
        <p:spPr>
          <a:xfrm>
            <a:off x="7379208" y="354787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2 — 계약 만기</a:t>
            </a:r>
            <a:endParaRPr lang="en-US" sz="2000" dirty="0"/>
          </a:p>
        </p:txBody>
      </p:sp>
      <p:sp>
        <p:nvSpPr>
          <p:cNvPr id="25" name="Text 23"/>
          <p:cNvSpPr/>
          <p:nvPr/>
        </p:nvSpPr>
        <p:spPr>
          <a:xfrm>
            <a:off x="7379208" y="385876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갱신의 힘은 계약서 밖에 있다</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“필요 없으면 PO 캔슬” (23년)</a:t>
            </a:r>
            <a:endParaRPr lang="en-US" sz="2000" dirty="0"/>
          </a:p>
        </p:txBody>
      </p:sp>
      <p:sp>
        <p:nvSpPr>
          <p:cNvPr id="26" name="Shape 24"/>
          <p:cNvSpPr/>
          <p:nvPr/>
        </p:nvSpPr>
        <p:spPr>
          <a:xfrm>
            <a:off x="6492240" y="5056632"/>
            <a:ext cx="402336" cy="402336"/>
          </a:xfrm>
          <a:prstGeom prst="ellipse">
            <a:avLst/>
          </a:prstGeom>
          <a:solidFill>
            <a:srgbClr val="FFFFFF">
              <a:alpha val="0"/>
            </a:srgbClr>
          </a:solidFill>
          <a:ln w="19050">
            <a:solidFill>
              <a:srgbClr val="C00000"/>
            </a:solidFill>
            <a:prstDash val="dash"/>
          </a:ln>
        </p:spPr>
      </p:sp>
      <p:sp>
        <p:nvSpPr>
          <p:cNvPr id="27" name="Shape 25"/>
          <p:cNvSpPr/>
          <p:nvPr/>
        </p:nvSpPr>
        <p:spPr>
          <a:xfrm>
            <a:off x="6894576" y="5257800"/>
            <a:ext cx="283464" cy="0"/>
          </a:xfrm>
          <a:prstGeom prst="line">
            <a:avLst/>
          </a:prstGeom>
          <a:noFill/>
          <a:ln w="19050">
            <a:solidFill>
              <a:srgbClr val="C00000"/>
            </a:solidFill>
            <a:prstDash val="dash"/>
            <a:tailEnd type="none"/>
          </a:ln>
        </p:spPr>
      </p:sp>
      <p:sp>
        <p:nvSpPr>
          <p:cNvPr id="28" name="Shape 26"/>
          <p:cNvSpPr/>
          <p:nvPr/>
        </p:nvSpPr>
        <p:spPr>
          <a:xfrm>
            <a:off x="7178040" y="4736592"/>
            <a:ext cx="4407408" cy="1042416"/>
          </a:xfrm>
          <a:prstGeom prst="roundRect">
            <a:avLst>
              <a:gd name="adj" fmla="val 7018"/>
            </a:avLst>
          </a:prstGeom>
          <a:solidFill>
            <a:srgbClr val="FFFFFF"/>
          </a:solidFill>
          <a:ln w="12700">
            <a:solidFill>
              <a:srgbClr val="E5E7EB"/>
            </a:solidFill>
            <a:prstDash val="solid"/>
          </a:ln>
        </p:spPr>
      </p:sp>
      <p:sp>
        <p:nvSpPr>
          <p:cNvPr id="29" name="Text 27"/>
          <p:cNvSpPr/>
          <p:nvPr/>
        </p:nvSpPr>
        <p:spPr>
          <a:xfrm>
            <a:off x="7379208" y="482803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3 — 기술 전환</a:t>
            </a:r>
            <a:endParaRPr lang="en-US" sz="2000" dirty="0"/>
          </a:p>
        </p:txBody>
      </p:sp>
      <p:sp>
        <p:nvSpPr>
          <p:cNvPr id="30" name="Text 28"/>
          <p:cNvSpPr/>
          <p:nvPr/>
        </p:nvSpPr>
        <p:spPr>
          <a:xfrm>
            <a:off x="7379208" y="513892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수요 이동 시 커버리지 공동화</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계약은 전환을 못 막는다 (예측)</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closing-b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12648" y="868680"/>
            <a:ext cx="10972800" cy="685800"/>
          </a:xfrm>
          <a:prstGeom prst="rect">
            <a:avLst/>
          </a:prstGeom>
          <a:noFill/>
          <a:ln/>
        </p:spPr>
        <p:txBody>
          <a:bodyPr wrap="square" lIns="0" tIns="0" rIns="0" bIns="0" rtlCol="0" anchor="t"/>
          <a:lstStyle/>
          <a:p>
            <a:pPr algn="ctr" indent="0" marL="0">
              <a:buNone/>
            </a:pPr>
            <a:r>
              <a:rPr lang="en-US" sz="4000" b="1" dirty="0">
                <a:solidFill>
                  <a:srgbClr val="FFFFFF"/>
                </a:solidFill>
                <a:latin typeface="맑은 고딕" pitchFamily="34" charset="0"/>
                <a:ea typeface="맑은 고딕" pitchFamily="34" charset="-122"/>
                <a:cs typeface="맑은 고딕" pitchFamily="34" charset="-120"/>
              </a:rPr>
              <a:t>세 개의 저지선</a:t>
            </a:r>
            <a:endParaRPr lang="en-US" sz="4000" dirty="0"/>
          </a:p>
        </p:txBody>
      </p:sp>
      <p:sp>
        <p:nvSpPr>
          <p:cNvPr id="4" name="Text 1"/>
          <p:cNvSpPr/>
          <p:nvPr/>
        </p:nvSpPr>
        <p:spPr>
          <a:xfrm>
            <a:off x="612648" y="1627632"/>
            <a:ext cx="10972800" cy="411480"/>
          </a:xfrm>
          <a:prstGeom prst="rect">
            <a:avLst/>
          </a:prstGeom>
          <a:noFill/>
          <a:ln/>
        </p:spPr>
        <p:txBody>
          <a:bodyPr wrap="square" lIns="0" tIns="0" rIns="0" bIns="0" rtlCol="0" anchor="t"/>
          <a:lstStyle/>
          <a:p>
            <a:pPr algn="ctr" indent="0" marL="0">
              <a:buNone/>
            </a:pPr>
            <a:r>
              <a:rPr lang="en-US" sz="2400" dirty="0">
                <a:solidFill>
                  <a:srgbClr val="C9D2F0"/>
                </a:solidFill>
                <a:latin typeface="맑은 고딕" pitchFamily="34" charset="0"/>
                <a:ea typeface="맑은 고딕" pitchFamily="34" charset="-122"/>
                <a:cs typeface="맑은 고딕" pitchFamily="34" charset="-120"/>
              </a:rPr>
              <a:t>앞선 저지선이 못 막은 위협이, 다음 저지선의 존재 이유다</a:t>
            </a:r>
            <a:endParaRPr lang="en-US" sz="2400" dirty="0"/>
          </a:p>
        </p:txBody>
      </p:sp>
      <p:sp>
        <p:nvSpPr>
          <p:cNvPr id="5" name="Shape 2"/>
          <p:cNvSpPr/>
          <p:nvPr/>
        </p:nvSpPr>
        <p:spPr>
          <a:xfrm>
            <a:off x="1069848" y="2331720"/>
            <a:ext cx="2926080" cy="1554480"/>
          </a:xfrm>
          <a:prstGeom prst="roundRect">
            <a:avLst>
              <a:gd name="adj" fmla="val 4706"/>
            </a:avLst>
          </a:prstGeom>
          <a:solidFill>
            <a:srgbClr val="16276E"/>
          </a:solidFill>
          <a:ln w="15875">
            <a:solidFill>
              <a:srgbClr val="5A68BC"/>
            </a:solidFill>
            <a:prstDash val="solid"/>
          </a:ln>
        </p:spPr>
      </p:sp>
      <p:sp>
        <p:nvSpPr>
          <p:cNvPr id="6" name="Text 3"/>
          <p:cNvSpPr/>
          <p:nvPr/>
        </p:nvSpPr>
        <p:spPr>
          <a:xfrm>
            <a:off x="125272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제1선 · 계약</a:t>
            </a:r>
            <a:endParaRPr lang="en-US" sz="2000" dirty="0"/>
          </a:p>
        </p:txBody>
      </p:sp>
      <p:sp>
        <p:nvSpPr>
          <p:cNvPr id="7" name="Text 4"/>
          <p:cNvSpPr/>
          <p:nvPr/>
        </p:nvSpPr>
        <p:spPr>
          <a:xfrm>
            <a:off x="125272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물량 바닥</a:t>
            </a:r>
            <a:endParaRPr lang="en-US" sz="2400" dirty="0"/>
          </a:p>
        </p:txBody>
      </p:sp>
      <p:sp>
        <p:nvSpPr>
          <p:cNvPr id="8" name="Text 5"/>
          <p:cNvSpPr/>
          <p:nvPr/>
        </p:nvSpPr>
        <p:spPr>
          <a:xfrm>
            <a:off x="125272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take-or-pay · 선수금</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NTE/NTB 가격 난간</a:t>
            </a:r>
            <a:endParaRPr lang="en-US" sz="2000" dirty="0"/>
          </a:p>
        </p:txBody>
      </p:sp>
      <p:sp>
        <p:nvSpPr>
          <p:cNvPr id="9" name="Shape 6"/>
          <p:cNvSpPr/>
          <p:nvPr/>
        </p:nvSpPr>
        <p:spPr>
          <a:xfrm>
            <a:off x="4636008" y="2331720"/>
            <a:ext cx="2926080" cy="1554480"/>
          </a:xfrm>
          <a:prstGeom prst="roundRect">
            <a:avLst>
              <a:gd name="adj" fmla="val 4706"/>
            </a:avLst>
          </a:prstGeom>
          <a:solidFill>
            <a:srgbClr val="16276E"/>
          </a:solidFill>
          <a:ln w="15875">
            <a:solidFill>
              <a:srgbClr val="5A68BC"/>
            </a:solidFill>
            <a:prstDash val="solid"/>
          </a:ln>
        </p:spPr>
      </p:sp>
      <p:sp>
        <p:nvSpPr>
          <p:cNvPr id="10" name="Text 7"/>
          <p:cNvSpPr/>
          <p:nvPr/>
        </p:nvSpPr>
        <p:spPr>
          <a:xfrm>
            <a:off x="481888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제2선 · 제품</a:t>
            </a:r>
            <a:endParaRPr lang="en-US" sz="2000" dirty="0"/>
          </a:p>
        </p:txBody>
      </p:sp>
      <p:sp>
        <p:nvSpPr>
          <p:cNvPr id="11" name="Text 8"/>
          <p:cNvSpPr/>
          <p:nvPr/>
        </p:nvSpPr>
        <p:spPr>
          <a:xfrm>
            <a:off x="481888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부가가치 방어</a:t>
            </a:r>
            <a:endParaRPr lang="en-US" sz="2400" dirty="0"/>
          </a:p>
        </p:txBody>
      </p:sp>
      <p:sp>
        <p:nvSpPr>
          <p:cNvPr id="12" name="Text 9"/>
          <p:cNvSpPr/>
          <p:nvPr/>
        </p:nvSpPr>
        <p:spPr>
          <a:xfrm>
            <a:off x="481888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다운턴에도 걷히지</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않는 마진의 층</a:t>
            </a:r>
            <a:endParaRPr lang="en-US" sz="2000" dirty="0"/>
          </a:p>
        </p:txBody>
      </p:sp>
      <p:sp>
        <p:nvSpPr>
          <p:cNvPr id="13" name="Shape 10"/>
          <p:cNvSpPr/>
          <p:nvPr/>
        </p:nvSpPr>
        <p:spPr>
          <a:xfrm>
            <a:off x="8202168" y="2331720"/>
            <a:ext cx="2926080" cy="1554480"/>
          </a:xfrm>
          <a:prstGeom prst="roundRect">
            <a:avLst>
              <a:gd name="adj" fmla="val 4706"/>
            </a:avLst>
          </a:prstGeom>
          <a:solidFill>
            <a:srgbClr val="16276E"/>
          </a:solidFill>
          <a:ln w="15875">
            <a:solidFill>
              <a:srgbClr val="5A68BC"/>
            </a:solidFill>
            <a:prstDash val="solid"/>
          </a:ln>
        </p:spPr>
      </p:sp>
      <p:sp>
        <p:nvSpPr>
          <p:cNvPr id="14" name="Text 11"/>
          <p:cNvSpPr/>
          <p:nvPr/>
        </p:nvSpPr>
        <p:spPr>
          <a:xfrm>
            <a:off x="838504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제3선 · 플랫폼·관계</a:t>
            </a:r>
            <a:endParaRPr lang="en-US" sz="2000" dirty="0"/>
          </a:p>
        </p:txBody>
      </p:sp>
      <p:sp>
        <p:nvSpPr>
          <p:cNvPr id="15" name="Text 12"/>
          <p:cNvSpPr/>
          <p:nvPr/>
        </p:nvSpPr>
        <p:spPr>
          <a:xfrm>
            <a:off x="838504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대체 불가성</a:t>
            </a:r>
            <a:endParaRPr lang="en-US" sz="2400" dirty="0"/>
          </a:p>
        </p:txBody>
      </p:sp>
      <p:sp>
        <p:nvSpPr>
          <p:cNvPr id="16" name="Text 13"/>
          <p:cNvSpPr/>
          <p:nvPr/>
        </p:nvSpPr>
        <p:spPr>
          <a:xfrm>
            <a:off x="838504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SW 플랫폼 · 통합</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공동 로드맵</a:t>
            </a:r>
            <a:endParaRPr lang="en-US" sz="2000" dirty="0"/>
          </a:p>
        </p:txBody>
      </p:sp>
      <p:sp>
        <p:nvSpPr>
          <p:cNvPr id="17" name="Shape 14"/>
          <p:cNvSpPr/>
          <p:nvPr/>
        </p:nvSpPr>
        <p:spPr>
          <a:xfrm>
            <a:off x="3995928" y="3108960"/>
            <a:ext cx="640080" cy="0"/>
          </a:xfrm>
          <a:prstGeom prst="line">
            <a:avLst/>
          </a:prstGeom>
          <a:noFill/>
          <a:ln w="31750">
            <a:solidFill>
              <a:srgbClr val="5A68BC"/>
            </a:solidFill>
            <a:prstDash val="solid"/>
            <a:tailEnd type="arrow"/>
          </a:ln>
        </p:spPr>
      </p:sp>
      <p:sp>
        <p:nvSpPr>
          <p:cNvPr id="18" name="Shape 15"/>
          <p:cNvSpPr/>
          <p:nvPr/>
        </p:nvSpPr>
        <p:spPr>
          <a:xfrm>
            <a:off x="7562088" y="3108960"/>
            <a:ext cx="640080" cy="0"/>
          </a:xfrm>
          <a:prstGeom prst="line">
            <a:avLst/>
          </a:prstGeom>
          <a:noFill/>
          <a:ln w="31750">
            <a:solidFill>
              <a:srgbClr val="5A68BC"/>
            </a:solidFill>
            <a:prstDash val="solid"/>
            <a:tailEnd type="arrow"/>
          </a:ln>
        </p:spPr>
      </p:sp>
      <p:sp>
        <p:nvSpPr>
          <p:cNvPr id="19" name="Text 16"/>
          <p:cNvSpPr/>
          <p:nvPr/>
        </p:nvSpPr>
        <p:spPr>
          <a:xfrm>
            <a:off x="276148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1선이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부가가치 · 만기 · 전환</a:t>
            </a:r>
            <a:endParaRPr lang="en-US" sz="2000" dirty="0"/>
          </a:p>
        </p:txBody>
      </p:sp>
      <p:sp>
        <p:nvSpPr>
          <p:cNvPr id="20" name="Text 17"/>
          <p:cNvSpPr/>
          <p:nvPr/>
        </p:nvSpPr>
        <p:spPr>
          <a:xfrm>
            <a:off x="632764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2선이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갱신 협상력 · 대체 가능성</a:t>
            </a:r>
            <a:endParaRPr lang="en-US" sz="2000" dirty="0"/>
          </a:p>
        </p:txBody>
      </p:sp>
      <p:sp>
        <p:nvSpPr>
          <p:cNvPr id="21" name="Text 18"/>
          <p:cNvSpPr/>
          <p:nvPr/>
        </p:nvSpPr>
        <p:spPr>
          <a:xfrm>
            <a:off x="612648" y="4956048"/>
            <a:ext cx="109728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다운턴이 왔을 때, 우리는 </a:t>
            </a:r>
            <a:pPr algn="ctr" indent="0" marL="0">
              <a:buNone/>
            </a:pPr>
            <a:r>
              <a:rPr lang="en-US" sz="2800" b="1" dirty="0">
                <a:solidFill>
                  <a:srgbClr val="A1A9D9"/>
                </a:solidFill>
                <a:latin typeface="맑은 고딕" pitchFamily="34" charset="0"/>
                <a:ea typeface="맑은 고딕" pitchFamily="34" charset="-122"/>
                <a:cs typeface="맑은 고딕" pitchFamily="34" charset="-120"/>
              </a:rPr>
              <a:t>대체되지 않는 공급자</a:t>
            </a:r>
            <a:pPr algn="ctr" indent="0" marL="0">
              <a:buNone/>
            </a:pPr>
            <a:r>
              <a:rPr lang="en-US" sz="2800" b="1" dirty="0">
                <a:solidFill>
                  <a:srgbClr val="FFFFFF"/>
                </a:solidFill>
                <a:latin typeface="맑은 고딕" pitchFamily="34" charset="0"/>
                <a:ea typeface="맑은 고딕" pitchFamily="34" charset="-122"/>
                <a:cs typeface="맑은 고딕" pitchFamily="34" charset="-120"/>
              </a:rPr>
              <a:t>인가</a:t>
            </a:r>
            <a:endParaRPr lang="en-US" sz="2800" dirty="0"/>
          </a:p>
        </p:txBody>
      </p:sp>
      <p:sp>
        <p:nvSpPr>
          <p:cNvPr id="22" name="Text 19"/>
          <p:cNvSpPr/>
          <p:nvPr/>
        </p:nvSpPr>
        <p:spPr>
          <a:xfrm>
            <a:off x="1453896" y="5943600"/>
            <a:ext cx="1600200" cy="402336"/>
          </a:xfrm>
          <a:prstGeom prst="rect">
            <a:avLst/>
          </a:prstGeom>
          <a:noFill/>
          <a:ln/>
        </p:spPr>
        <p:txBody>
          <a:bodyPr wrap="square" lIns="0" tIns="0" rIns="0" bIns="0" rtlCol="0" anchor="ctr"/>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7편의 제안</a:t>
            </a:r>
            <a:endParaRPr lang="en-US" sz="2000" dirty="0"/>
          </a:p>
        </p:txBody>
      </p:sp>
      <p:sp>
        <p:nvSpPr>
          <p:cNvPr id="23" name="Shape 20"/>
          <p:cNvSpPr/>
          <p:nvPr/>
        </p:nvSpPr>
        <p:spPr>
          <a:xfrm>
            <a:off x="3191256" y="5943600"/>
            <a:ext cx="969264" cy="402336"/>
          </a:xfrm>
          <a:prstGeom prst="roundRect">
            <a:avLst>
              <a:gd name="adj" fmla="val 50000"/>
            </a:avLst>
          </a:prstGeom>
          <a:solidFill>
            <a:srgbClr val="16276E"/>
          </a:solidFill>
          <a:ln w="12700">
            <a:solidFill>
              <a:srgbClr val="5A68BC"/>
            </a:solidFill>
            <a:prstDash val="solid"/>
          </a:ln>
        </p:spPr>
      </p:sp>
      <p:sp>
        <p:nvSpPr>
          <p:cNvPr id="24" name="Text 21"/>
          <p:cNvSpPr/>
          <p:nvPr/>
        </p:nvSpPr>
        <p:spPr>
          <a:xfrm>
            <a:off x="319125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낸드</a:t>
            </a:r>
            <a:endParaRPr lang="en-US" sz="2000" dirty="0"/>
          </a:p>
        </p:txBody>
      </p:sp>
      <p:sp>
        <p:nvSpPr>
          <p:cNvPr id="25" name="Shape 22"/>
          <p:cNvSpPr/>
          <p:nvPr/>
        </p:nvSpPr>
        <p:spPr>
          <a:xfrm>
            <a:off x="4270248" y="5943600"/>
            <a:ext cx="969264" cy="402336"/>
          </a:xfrm>
          <a:prstGeom prst="roundRect">
            <a:avLst>
              <a:gd name="adj" fmla="val 50000"/>
            </a:avLst>
          </a:prstGeom>
          <a:solidFill>
            <a:srgbClr val="16276E"/>
          </a:solidFill>
          <a:ln w="12700">
            <a:solidFill>
              <a:srgbClr val="5A68BC"/>
            </a:solidFill>
            <a:prstDash val="solid"/>
          </a:ln>
        </p:spPr>
      </p:sp>
      <p:sp>
        <p:nvSpPr>
          <p:cNvPr id="26" name="Text 23"/>
          <p:cNvSpPr/>
          <p:nvPr/>
        </p:nvSpPr>
        <p:spPr>
          <a:xfrm>
            <a:off x="427024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DRAM</a:t>
            </a:r>
            <a:endParaRPr lang="en-US" sz="2000" dirty="0"/>
          </a:p>
        </p:txBody>
      </p:sp>
      <p:sp>
        <p:nvSpPr>
          <p:cNvPr id="27" name="Shape 24"/>
          <p:cNvSpPr/>
          <p:nvPr/>
        </p:nvSpPr>
        <p:spPr>
          <a:xfrm>
            <a:off x="5349240" y="5943600"/>
            <a:ext cx="969264" cy="402336"/>
          </a:xfrm>
          <a:prstGeom prst="roundRect">
            <a:avLst>
              <a:gd name="adj" fmla="val 50000"/>
            </a:avLst>
          </a:prstGeom>
          <a:solidFill>
            <a:srgbClr val="16276E"/>
          </a:solidFill>
          <a:ln w="12700">
            <a:solidFill>
              <a:srgbClr val="5A68BC"/>
            </a:solidFill>
            <a:prstDash val="solid"/>
          </a:ln>
        </p:spPr>
      </p:sp>
      <p:sp>
        <p:nvSpPr>
          <p:cNvPr id="28" name="Text 25"/>
          <p:cNvSpPr/>
          <p:nvPr/>
        </p:nvSpPr>
        <p:spPr>
          <a:xfrm>
            <a:off x="5349240"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SSD</a:t>
            </a:r>
            <a:endParaRPr lang="en-US" sz="2000" dirty="0"/>
          </a:p>
        </p:txBody>
      </p:sp>
      <p:sp>
        <p:nvSpPr>
          <p:cNvPr id="29" name="Shape 26"/>
          <p:cNvSpPr/>
          <p:nvPr/>
        </p:nvSpPr>
        <p:spPr>
          <a:xfrm>
            <a:off x="6428232" y="5943600"/>
            <a:ext cx="969264" cy="402336"/>
          </a:xfrm>
          <a:prstGeom prst="roundRect">
            <a:avLst>
              <a:gd name="adj" fmla="val 50000"/>
            </a:avLst>
          </a:prstGeom>
          <a:solidFill>
            <a:srgbClr val="16276E"/>
          </a:solidFill>
          <a:ln w="12700">
            <a:solidFill>
              <a:srgbClr val="5A68BC"/>
            </a:solidFill>
            <a:prstDash val="solid"/>
          </a:ln>
        </p:spPr>
      </p:sp>
      <p:sp>
        <p:nvSpPr>
          <p:cNvPr id="30" name="Text 27"/>
          <p:cNvSpPr/>
          <p:nvPr/>
        </p:nvSpPr>
        <p:spPr>
          <a:xfrm>
            <a:off x="6428232"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제조</a:t>
            </a:r>
            <a:endParaRPr lang="en-US" sz="2000" dirty="0"/>
          </a:p>
        </p:txBody>
      </p:sp>
      <p:sp>
        <p:nvSpPr>
          <p:cNvPr id="31" name="Shape 28"/>
          <p:cNvSpPr/>
          <p:nvPr/>
        </p:nvSpPr>
        <p:spPr>
          <a:xfrm>
            <a:off x="7507224" y="5943600"/>
            <a:ext cx="969264" cy="402336"/>
          </a:xfrm>
          <a:prstGeom prst="roundRect">
            <a:avLst>
              <a:gd name="adj" fmla="val 50000"/>
            </a:avLst>
          </a:prstGeom>
          <a:solidFill>
            <a:srgbClr val="16276E"/>
          </a:solidFill>
          <a:ln w="12700">
            <a:solidFill>
              <a:srgbClr val="5A68BC"/>
            </a:solidFill>
            <a:prstDash val="solid"/>
          </a:ln>
        </p:spPr>
      </p:sp>
      <p:sp>
        <p:nvSpPr>
          <p:cNvPr id="32" name="Text 29"/>
          <p:cNvSpPr/>
          <p:nvPr/>
        </p:nvSpPr>
        <p:spPr>
          <a:xfrm>
            <a:off x="7507224"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인사</a:t>
            </a:r>
            <a:endParaRPr lang="en-US" sz="2000" dirty="0"/>
          </a:p>
        </p:txBody>
      </p:sp>
      <p:sp>
        <p:nvSpPr>
          <p:cNvPr id="33" name="Shape 30"/>
          <p:cNvSpPr/>
          <p:nvPr/>
        </p:nvSpPr>
        <p:spPr>
          <a:xfrm>
            <a:off x="8586216" y="5943600"/>
            <a:ext cx="969264" cy="402336"/>
          </a:xfrm>
          <a:prstGeom prst="roundRect">
            <a:avLst>
              <a:gd name="adj" fmla="val 50000"/>
            </a:avLst>
          </a:prstGeom>
          <a:solidFill>
            <a:srgbClr val="16276E"/>
          </a:solidFill>
          <a:ln w="12700">
            <a:solidFill>
              <a:srgbClr val="5A68BC"/>
            </a:solidFill>
            <a:prstDash val="solid"/>
          </a:ln>
        </p:spPr>
      </p:sp>
      <p:sp>
        <p:nvSpPr>
          <p:cNvPr id="34" name="Text 31"/>
          <p:cNvSpPr/>
          <p:nvPr/>
        </p:nvSpPr>
        <p:spPr>
          <a:xfrm>
            <a:off x="858621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기획</a:t>
            </a:r>
            <a:endParaRPr lang="en-US" sz="2000" dirty="0"/>
          </a:p>
        </p:txBody>
      </p:sp>
      <p:sp>
        <p:nvSpPr>
          <p:cNvPr id="35" name="Shape 32"/>
          <p:cNvSpPr/>
          <p:nvPr/>
        </p:nvSpPr>
        <p:spPr>
          <a:xfrm>
            <a:off x="9665208" y="5943600"/>
            <a:ext cx="969264" cy="402336"/>
          </a:xfrm>
          <a:prstGeom prst="roundRect">
            <a:avLst>
              <a:gd name="adj" fmla="val 50000"/>
            </a:avLst>
          </a:prstGeom>
          <a:solidFill>
            <a:srgbClr val="16276E"/>
          </a:solidFill>
          <a:ln w="12700">
            <a:solidFill>
              <a:srgbClr val="5A68BC"/>
            </a:solidFill>
            <a:prstDash val="solid"/>
          </a:ln>
        </p:spPr>
      </p:sp>
      <p:sp>
        <p:nvSpPr>
          <p:cNvPr id="36" name="Text 33"/>
          <p:cNvSpPr/>
          <p:nvPr/>
        </p:nvSpPr>
        <p:spPr>
          <a:xfrm>
            <a:off x="966520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구매</a:t>
            </a:r>
            <a:endParaRPr lang="en-US" sz="2000" dirty="0"/>
          </a:p>
        </p:txBody>
      </p:sp>
      <p:sp>
        <p:nvSpPr>
          <p:cNvPr id="37" name="Text 3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13 / 19</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제2 저지선 — 무엇을 지키는가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14 / 19</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비동기 사이클 — 어느 믹스가 올지 모른다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 3년에 믹스는 이미 뒤집혔고,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세 시나리오는 서로 반대로 갈라진다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TrendForce·Yole (매출 기준) — product-mix-asynchrony.md</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15 / 19</a:t>
            </a:r>
            <a:endParaRPr lang="en-US" sz="2000" dirty="0"/>
          </a:p>
        </p:txBody>
      </p:sp>
      <p:sp>
        <p:nvSpPr>
          <p:cNvPr id="7" name="Shape 5"/>
          <p:cNvSpPr/>
          <p:nvPr/>
        </p:nvSpPr>
        <p:spPr>
          <a:xfrm>
            <a:off x="612648" y="2011680"/>
            <a:ext cx="201168" cy="201168"/>
          </a:xfrm>
          <a:prstGeom prst="rect">
            <a:avLst/>
          </a:prstGeom>
          <a:solidFill>
            <a:srgbClr val="D1D5DB"/>
          </a:solidFill>
          <a:ln/>
        </p:spPr>
      </p:sp>
      <p:sp>
        <p:nvSpPr>
          <p:cNvPr id="8" name="Text 6"/>
          <p:cNvSpPr/>
          <p:nvPr/>
        </p:nvSpPr>
        <p:spPr>
          <a:xfrm>
            <a:off x="88696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NAND</a:t>
            </a:r>
            <a:endParaRPr lang="en-US" sz="2000" dirty="0"/>
          </a:p>
        </p:txBody>
      </p:sp>
      <p:sp>
        <p:nvSpPr>
          <p:cNvPr id="9" name="Shape 7"/>
          <p:cNvSpPr/>
          <p:nvPr/>
        </p:nvSpPr>
        <p:spPr>
          <a:xfrm>
            <a:off x="1847088" y="2011680"/>
            <a:ext cx="201168" cy="201168"/>
          </a:xfrm>
          <a:prstGeom prst="rect">
            <a:avLst/>
          </a:prstGeom>
          <a:solidFill>
            <a:srgbClr val="A1A9D9"/>
          </a:solidFill>
          <a:ln/>
        </p:spPr>
      </p:sp>
      <p:sp>
        <p:nvSpPr>
          <p:cNvPr id="10" name="Text 8"/>
          <p:cNvSpPr/>
          <p:nvPr/>
        </p:nvSpPr>
        <p:spPr>
          <a:xfrm>
            <a:off x="212140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범용 DRAM</a:t>
            </a:r>
            <a:endParaRPr lang="en-US" sz="2000" dirty="0"/>
          </a:p>
        </p:txBody>
      </p:sp>
      <p:sp>
        <p:nvSpPr>
          <p:cNvPr id="11" name="Shape 9"/>
          <p:cNvSpPr/>
          <p:nvPr/>
        </p:nvSpPr>
        <p:spPr>
          <a:xfrm>
            <a:off x="3813048" y="2011680"/>
            <a:ext cx="201168" cy="201168"/>
          </a:xfrm>
          <a:prstGeom prst="rect">
            <a:avLst/>
          </a:prstGeom>
          <a:solidFill>
            <a:srgbClr val="1428A0"/>
          </a:solidFill>
          <a:ln/>
        </p:spPr>
      </p:sp>
      <p:sp>
        <p:nvSpPr>
          <p:cNvPr id="12" name="Text 10"/>
          <p:cNvSpPr/>
          <p:nvPr/>
        </p:nvSpPr>
        <p:spPr>
          <a:xfrm>
            <a:off x="408736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a:t>
            </a:r>
            <a:endParaRPr lang="en-US" sz="2000" dirty="0"/>
          </a:p>
        </p:txBody>
      </p:sp>
      <p:sp>
        <p:nvSpPr>
          <p:cNvPr id="13" name="Shape 11"/>
          <p:cNvSpPr/>
          <p:nvPr/>
        </p:nvSpPr>
        <p:spPr>
          <a:xfrm>
            <a:off x="5047488" y="2011680"/>
            <a:ext cx="201168" cy="201168"/>
          </a:xfrm>
          <a:prstGeom prst="rect">
            <a:avLst/>
          </a:prstGeom>
          <a:solidFill>
            <a:srgbClr val="0A1854"/>
          </a:solidFill>
          <a:ln/>
        </p:spPr>
      </p:sp>
      <p:sp>
        <p:nvSpPr>
          <p:cNvPr id="14" name="Text 12"/>
          <p:cNvSpPr/>
          <p:nvPr/>
        </p:nvSpPr>
        <p:spPr>
          <a:xfrm>
            <a:off x="532180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차세대</a:t>
            </a:r>
            <a:endParaRPr lang="en-US" sz="2000" dirty="0"/>
          </a:p>
        </p:txBody>
      </p:sp>
      <p:sp>
        <p:nvSpPr>
          <p:cNvPr id="15" name="Text 13"/>
          <p:cNvSpPr/>
          <p:nvPr/>
        </p:nvSpPr>
        <p:spPr>
          <a:xfrm>
            <a:off x="6583680" y="1938528"/>
            <a:ext cx="5001768" cy="310896"/>
          </a:xfrm>
          <a:prstGeom prst="rect">
            <a:avLst/>
          </a:prstGeom>
          <a:noFill/>
          <a:ln/>
        </p:spPr>
        <p:txBody>
          <a:bodyPr wrap="square" lIns="0" tIns="0" rIns="0" bIns="0" rtlCol="0" anchor="ctr"/>
          <a:lstStyle/>
          <a:p>
            <a:pPr algn="r" indent="0" marL="0">
              <a:buNone/>
            </a:pPr>
            <a:r>
              <a:rPr lang="en-US" sz="2000" b="1" dirty="0">
                <a:solidFill>
                  <a:srgbClr val="1428A0"/>
                </a:solidFill>
                <a:latin typeface="맑은 고딕" pitchFamily="34" charset="0"/>
                <a:ea typeface="맑은 고딕" pitchFamily="34" charset="-122"/>
                <a:cs typeface="맑은 고딕" pitchFamily="34" charset="-120"/>
              </a:rPr>
              <a:t>2029 시나리오 — 예시 가정</a:t>
            </a:r>
            <a:endParaRPr lang="en-US" sz="2000" dirty="0"/>
          </a:p>
        </p:txBody>
      </p:sp>
      <p:sp>
        <p:nvSpPr>
          <p:cNvPr id="16" name="Shape 14"/>
          <p:cNvSpPr/>
          <p:nvPr/>
        </p:nvSpPr>
        <p:spPr>
          <a:xfrm>
            <a:off x="6583680" y="2340864"/>
            <a:ext cx="0" cy="3383280"/>
          </a:xfrm>
          <a:prstGeom prst="line">
            <a:avLst/>
          </a:prstGeom>
          <a:noFill/>
          <a:ln w="15875">
            <a:solidFill>
              <a:srgbClr val="E5E7EB"/>
            </a:solidFill>
            <a:prstDash val="solid"/>
          </a:ln>
        </p:spPr>
      </p:sp>
      <p:sp>
        <p:nvSpPr>
          <p:cNvPr id="17" name="Shape 15"/>
          <p:cNvSpPr/>
          <p:nvPr/>
        </p:nvSpPr>
        <p:spPr>
          <a:xfrm>
            <a:off x="731520" y="4123286"/>
            <a:ext cx="1188720" cy="1271674"/>
          </a:xfrm>
          <a:prstGeom prst="rect">
            <a:avLst/>
          </a:prstGeom>
          <a:solidFill>
            <a:srgbClr val="D1D5DB"/>
          </a:solidFill>
          <a:ln/>
        </p:spPr>
      </p:sp>
      <p:sp>
        <p:nvSpPr>
          <p:cNvPr id="18" name="Text 16"/>
          <p:cNvSpPr/>
          <p:nvPr/>
        </p:nvSpPr>
        <p:spPr>
          <a:xfrm>
            <a:off x="731520" y="4123286"/>
            <a:ext cx="1188720" cy="1271674"/>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42%</a:t>
            </a:r>
            <a:endParaRPr lang="en-US" sz="2000" dirty="0"/>
          </a:p>
        </p:txBody>
      </p:sp>
      <p:sp>
        <p:nvSpPr>
          <p:cNvPr id="19" name="Shape 17"/>
          <p:cNvSpPr/>
          <p:nvPr/>
        </p:nvSpPr>
        <p:spPr>
          <a:xfrm>
            <a:off x="731520" y="2533693"/>
            <a:ext cx="1188720" cy="1589593"/>
          </a:xfrm>
          <a:prstGeom prst="rect">
            <a:avLst/>
          </a:prstGeom>
          <a:solidFill>
            <a:srgbClr val="A1A9D9"/>
          </a:solidFill>
          <a:ln/>
        </p:spPr>
      </p:sp>
      <p:sp>
        <p:nvSpPr>
          <p:cNvPr id="20" name="Text 18"/>
          <p:cNvSpPr/>
          <p:nvPr/>
        </p:nvSpPr>
        <p:spPr>
          <a:xfrm>
            <a:off x="731520" y="2533693"/>
            <a:ext cx="1188720" cy="1589593"/>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53%</a:t>
            </a:r>
            <a:endParaRPr lang="en-US" sz="2000" dirty="0"/>
          </a:p>
        </p:txBody>
      </p:sp>
      <p:sp>
        <p:nvSpPr>
          <p:cNvPr id="21" name="Shape 19"/>
          <p:cNvSpPr/>
          <p:nvPr/>
        </p:nvSpPr>
        <p:spPr>
          <a:xfrm>
            <a:off x="731520" y="2395728"/>
            <a:ext cx="1188720" cy="137965"/>
          </a:xfrm>
          <a:prstGeom prst="rect">
            <a:avLst/>
          </a:prstGeom>
          <a:solidFill>
            <a:srgbClr val="1428A0"/>
          </a:solidFill>
          <a:ln/>
        </p:spPr>
      </p:sp>
      <p:sp>
        <p:nvSpPr>
          <p:cNvPr id="22" name="Text 20"/>
          <p:cNvSpPr/>
          <p:nvPr/>
        </p:nvSpPr>
        <p:spPr>
          <a:xfrm>
            <a:off x="502920"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23" name="Shape 21"/>
          <p:cNvSpPr/>
          <p:nvPr/>
        </p:nvSpPr>
        <p:spPr>
          <a:xfrm>
            <a:off x="2212848" y="4117287"/>
            <a:ext cx="1188720" cy="1277673"/>
          </a:xfrm>
          <a:prstGeom prst="rect">
            <a:avLst/>
          </a:prstGeom>
          <a:solidFill>
            <a:srgbClr val="D1D5DB"/>
          </a:solidFill>
          <a:ln/>
        </p:spPr>
      </p:sp>
      <p:sp>
        <p:nvSpPr>
          <p:cNvPr id="24" name="Text 22"/>
          <p:cNvSpPr/>
          <p:nvPr/>
        </p:nvSpPr>
        <p:spPr>
          <a:xfrm>
            <a:off x="2212848" y="4117287"/>
            <a:ext cx="1188720" cy="127767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43%</a:t>
            </a:r>
            <a:endParaRPr lang="en-US" sz="2000" dirty="0"/>
          </a:p>
        </p:txBody>
      </p:sp>
      <p:sp>
        <p:nvSpPr>
          <p:cNvPr id="25" name="Shape 23"/>
          <p:cNvSpPr/>
          <p:nvPr/>
        </p:nvSpPr>
        <p:spPr>
          <a:xfrm>
            <a:off x="2212848" y="2740640"/>
            <a:ext cx="1188720" cy="1376647"/>
          </a:xfrm>
          <a:prstGeom prst="rect">
            <a:avLst/>
          </a:prstGeom>
          <a:solidFill>
            <a:srgbClr val="A1A9D9"/>
          </a:solidFill>
          <a:ln/>
        </p:spPr>
      </p:sp>
      <p:sp>
        <p:nvSpPr>
          <p:cNvPr id="26" name="Text 24"/>
          <p:cNvSpPr/>
          <p:nvPr/>
        </p:nvSpPr>
        <p:spPr>
          <a:xfrm>
            <a:off x="2212848" y="2740640"/>
            <a:ext cx="1188720" cy="1376647"/>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46%</a:t>
            </a:r>
            <a:endParaRPr lang="en-US" sz="2000" dirty="0"/>
          </a:p>
        </p:txBody>
      </p:sp>
      <p:sp>
        <p:nvSpPr>
          <p:cNvPr id="27" name="Shape 25"/>
          <p:cNvSpPr/>
          <p:nvPr/>
        </p:nvSpPr>
        <p:spPr>
          <a:xfrm>
            <a:off x="2212848" y="2395728"/>
            <a:ext cx="1188720" cy="344912"/>
          </a:xfrm>
          <a:prstGeom prst="rect">
            <a:avLst/>
          </a:prstGeom>
          <a:solidFill>
            <a:srgbClr val="1428A0"/>
          </a:solidFill>
          <a:ln/>
        </p:spPr>
      </p:sp>
      <p:sp>
        <p:nvSpPr>
          <p:cNvPr id="28" name="Text 26"/>
          <p:cNvSpPr/>
          <p:nvPr/>
        </p:nvSpPr>
        <p:spPr>
          <a:xfrm>
            <a:off x="2212848" y="2395728"/>
            <a:ext cx="1188720" cy="344912"/>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12%</a:t>
            </a:r>
            <a:endParaRPr lang="en-US" sz="2000" dirty="0"/>
          </a:p>
        </p:txBody>
      </p:sp>
      <p:sp>
        <p:nvSpPr>
          <p:cNvPr id="29" name="Text 27"/>
          <p:cNvSpPr/>
          <p:nvPr/>
        </p:nvSpPr>
        <p:spPr>
          <a:xfrm>
            <a:off x="1984248"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2024</a:t>
            </a:r>
            <a:endParaRPr lang="en-US" sz="2000" dirty="0"/>
          </a:p>
        </p:txBody>
      </p:sp>
      <p:sp>
        <p:nvSpPr>
          <p:cNvPr id="30" name="Shape 28"/>
          <p:cNvSpPr/>
          <p:nvPr/>
        </p:nvSpPr>
        <p:spPr>
          <a:xfrm>
            <a:off x="3694176" y="4507187"/>
            <a:ext cx="1188720" cy="887773"/>
          </a:xfrm>
          <a:prstGeom prst="rect">
            <a:avLst/>
          </a:prstGeom>
          <a:solidFill>
            <a:srgbClr val="D1D5DB"/>
          </a:solidFill>
          <a:ln/>
        </p:spPr>
      </p:sp>
      <p:sp>
        <p:nvSpPr>
          <p:cNvPr id="31" name="Text 29"/>
          <p:cNvSpPr/>
          <p:nvPr/>
        </p:nvSpPr>
        <p:spPr>
          <a:xfrm>
            <a:off x="3694176" y="4507187"/>
            <a:ext cx="1188720" cy="88777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30%</a:t>
            </a:r>
            <a:endParaRPr lang="en-US" sz="2000" dirty="0"/>
          </a:p>
        </p:txBody>
      </p:sp>
      <p:sp>
        <p:nvSpPr>
          <p:cNvPr id="32" name="Shape 30"/>
          <p:cNvSpPr/>
          <p:nvPr/>
        </p:nvSpPr>
        <p:spPr>
          <a:xfrm>
            <a:off x="3694176" y="2827617"/>
            <a:ext cx="1188720" cy="1679570"/>
          </a:xfrm>
          <a:prstGeom prst="rect">
            <a:avLst/>
          </a:prstGeom>
          <a:solidFill>
            <a:srgbClr val="A1A9D9"/>
          </a:solidFill>
          <a:ln/>
        </p:spPr>
      </p:sp>
      <p:sp>
        <p:nvSpPr>
          <p:cNvPr id="33" name="Text 31"/>
          <p:cNvSpPr/>
          <p:nvPr/>
        </p:nvSpPr>
        <p:spPr>
          <a:xfrm>
            <a:off x="3694176" y="2827617"/>
            <a:ext cx="1188720" cy="167957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56%</a:t>
            </a:r>
            <a:endParaRPr lang="en-US" sz="2000" dirty="0"/>
          </a:p>
        </p:txBody>
      </p:sp>
      <p:sp>
        <p:nvSpPr>
          <p:cNvPr id="34" name="Shape 32"/>
          <p:cNvSpPr/>
          <p:nvPr/>
        </p:nvSpPr>
        <p:spPr>
          <a:xfrm>
            <a:off x="3694176" y="2395728"/>
            <a:ext cx="1188720" cy="431889"/>
          </a:xfrm>
          <a:prstGeom prst="rect">
            <a:avLst/>
          </a:prstGeom>
          <a:solidFill>
            <a:srgbClr val="1428A0"/>
          </a:solidFill>
          <a:ln/>
        </p:spPr>
      </p:sp>
      <p:sp>
        <p:nvSpPr>
          <p:cNvPr id="35" name="Text 33"/>
          <p:cNvSpPr/>
          <p:nvPr/>
        </p:nvSpPr>
        <p:spPr>
          <a:xfrm>
            <a:off x="3694176" y="2395728"/>
            <a:ext cx="1188720" cy="431889"/>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14%</a:t>
            </a:r>
            <a:endParaRPr lang="en-US" sz="2000" dirty="0"/>
          </a:p>
        </p:txBody>
      </p:sp>
      <p:sp>
        <p:nvSpPr>
          <p:cNvPr id="36" name="Text 34"/>
          <p:cNvSpPr/>
          <p:nvPr/>
        </p:nvSpPr>
        <p:spPr>
          <a:xfrm>
            <a:off x="3465576"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2025</a:t>
            </a:r>
            <a:endParaRPr lang="en-US" sz="2000" dirty="0"/>
          </a:p>
        </p:txBody>
      </p:sp>
      <p:sp>
        <p:nvSpPr>
          <p:cNvPr id="37" name="Shape 35"/>
          <p:cNvSpPr/>
          <p:nvPr/>
        </p:nvSpPr>
        <p:spPr>
          <a:xfrm>
            <a:off x="5175504" y="4594165"/>
            <a:ext cx="1188720" cy="800795"/>
          </a:xfrm>
          <a:prstGeom prst="rect">
            <a:avLst/>
          </a:prstGeom>
          <a:solidFill>
            <a:srgbClr val="D1D5DB"/>
          </a:solidFill>
          <a:ln/>
        </p:spPr>
      </p:sp>
      <p:sp>
        <p:nvSpPr>
          <p:cNvPr id="38" name="Text 36"/>
          <p:cNvSpPr/>
          <p:nvPr/>
        </p:nvSpPr>
        <p:spPr>
          <a:xfrm>
            <a:off x="5175504" y="4594165"/>
            <a:ext cx="1188720" cy="800795"/>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27%</a:t>
            </a:r>
            <a:endParaRPr lang="en-US" sz="2000" dirty="0"/>
          </a:p>
        </p:txBody>
      </p:sp>
      <p:sp>
        <p:nvSpPr>
          <p:cNvPr id="39" name="Shape 37"/>
          <p:cNvSpPr/>
          <p:nvPr/>
        </p:nvSpPr>
        <p:spPr>
          <a:xfrm>
            <a:off x="5175504" y="3298497"/>
            <a:ext cx="1188720" cy="1295668"/>
          </a:xfrm>
          <a:prstGeom prst="rect">
            <a:avLst/>
          </a:prstGeom>
          <a:solidFill>
            <a:srgbClr val="A1A9D9"/>
          </a:solidFill>
          <a:ln/>
        </p:spPr>
      </p:sp>
      <p:sp>
        <p:nvSpPr>
          <p:cNvPr id="40" name="Text 38"/>
          <p:cNvSpPr/>
          <p:nvPr/>
        </p:nvSpPr>
        <p:spPr>
          <a:xfrm>
            <a:off x="5175504" y="3298497"/>
            <a:ext cx="1188720" cy="129566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43%</a:t>
            </a:r>
            <a:endParaRPr lang="en-US" sz="2000" dirty="0"/>
          </a:p>
        </p:txBody>
      </p:sp>
      <p:sp>
        <p:nvSpPr>
          <p:cNvPr id="41" name="Shape 39"/>
          <p:cNvSpPr/>
          <p:nvPr/>
        </p:nvSpPr>
        <p:spPr>
          <a:xfrm>
            <a:off x="5175504" y="2395728"/>
            <a:ext cx="1188720" cy="902769"/>
          </a:xfrm>
          <a:prstGeom prst="rect">
            <a:avLst/>
          </a:prstGeom>
          <a:solidFill>
            <a:srgbClr val="1428A0"/>
          </a:solidFill>
          <a:ln/>
        </p:spPr>
      </p:sp>
      <p:sp>
        <p:nvSpPr>
          <p:cNvPr id="42" name="Text 40"/>
          <p:cNvSpPr/>
          <p:nvPr/>
        </p:nvSpPr>
        <p:spPr>
          <a:xfrm>
            <a:off x="5175504" y="2395728"/>
            <a:ext cx="1188720" cy="902769"/>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30%</a:t>
            </a:r>
            <a:endParaRPr lang="en-US" sz="2000" dirty="0"/>
          </a:p>
        </p:txBody>
      </p:sp>
      <p:sp>
        <p:nvSpPr>
          <p:cNvPr id="43" name="Text 41"/>
          <p:cNvSpPr/>
          <p:nvPr/>
        </p:nvSpPr>
        <p:spPr>
          <a:xfrm>
            <a:off x="4946904"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44" name="Shape 42"/>
          <p:cNvSpPr/>
          <p:nvPr/>
        </p:nvSpPr>
        <p:spPr>
          <a:xfrm>
            <a:off x="7086600" y="4345229"/>
            <a:ext cx="1188720" cy="1049731"/>
          </a:xfrm>
          <a:prstGeom prst="rect">
            <a:avLst/>
          </a:prstGeom>
          <a:solidFill>
            <a:srgbClr val="D1D5DB"/>
          </a:solidFill>
          <a:ln/>
        </p:spPr>
      </p:sp>
      <p:sp>
        <p:nvSpPr>
          <p:cNvPr id="45" name="Text 43"/>
          <p:cNvSpPr/>
          <p:nvPr/>
        </p:nvSpPr>
        <p:spPr>
          <a:xfrm>
            <a:off x="7086600" y="4345229"/>
            <a:ext cx="1188720" cy="1049731"/>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35%</a:t>
            </a:r>
            <a:endParaRPr lang="en-US" sz="2000" dirty="0"/>
          </a:p>
        </p:txBody>
      </p:sp>
      <p:sp>
        <p:nvSpPr>
          <p:cNvPr id="46" name="Shape 44"/>
          <p:cNvSpPr/>
          <p:nvPr/>
        </p:nvSpPr>
        <p:spPr>
          <a:xfrm>
            <a:off x="7086600" y="2845613"/>
            <a:ext cx="1188720" cy="1499616"/>
          </a:xfrm>
          <a:prstGeom prst="rect">
            <a:avLst/>
          </a:prstGeom>
          <a:solidFill>
            <a:srgbClr val="A1A9D9"/>
          </a:solidFill>
          <a:ln/>
        </p:spPr>
      </p:sp>
      <p:sp>
        <p:nvSpPr>
          <p:cNvPr id="47" name="Text 45"/>
          <p:cNvSpPr/>
          <p:nvPr/>
        </p:nvSpPr>
        <p:spPr>
          <a:xfrm>
            <a:off x="7086600" y="2845613"/>
            <a:ext cx="1188720" cy="1499616"/>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50%</a:t>
            </a:r>
            <a:endParaRPr lang="en-US" sz="2000" dirty="0"/>
          </a:p>
        </p:txBody>
      </p:sp>
      <p:sp>
        <p:nvSpPr>
          <p:cNvPr id="48" name="Shape 46"/>
          <p:cNvSpPr/>
          <p:nvPr/>
        </p:nvSpPr>
        <p:spPr>
          <a:xfrm>
            <a:off x="7086600" y="2395728"/>
            <a:ext cx="1188720" cy="449885"/>
          </a:xfrm>
          <a:prstGeom prst="rect">
            <a:avLst/>
          </a:prstGeom>
          <a:solidFill>
            <a:srgbClr val="1428A0"/>
          </a:solidFill>
          <a:ln/>
        </p:spPr>
      </p:sp>
      <p:sp>
        <p:nvSpPr>
          <p:cNvPr id="49" name="Text 47"/>
          <p:cNvSpPr/>
          <p:nvPr/>
        </p:nvSpPr>
        <p:spPr>
          <a:xfrm>
            <a:off x="7086600" y="2395728"/>
            <a:ext cx="1188720" cy="449885"/>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15%</a:t>
            </a:r>
            <a:endParaRPr lang="en-US" sz="2000" dirty="0"/>
          </a:p>
        </p:txBody>
      </p:sp>
      <p:sp>
        <p:nvSpPr>
          <p:cNvPr id="50" name="Text 48"/>
          <p:cNvSpPr/>
          <p:nvPr/>
        </p:nvSpPr>
        <p:spPr>
          <a:xfrm>
            <a:off x="6858000"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① 수요발</a:t>
            </a:r>
            <a:endParaRPr lang="en-US" sz="2000" dirty="0"/>
          </a:p>
        </p:txBody>
      </p:sp>
      <p:sp>
        <p:nvSpPr>
          <p:cNvPr id="51" name="Shape 49"/>
          <p:cNvSpPr/>
          <p:nvPr/>
        </p:nvSpPr>
        <p:spPr>
          <a:xfrm>
            <a:off x="8567928" y="4555175"/>
            <a:ext cx="1188720" cy="839785"/>
          </a:xfrm>
          <a:prstGeom prst="rect">
            <a:avLst/>
          </a:prstGeom>
          <a:solidFill>
            <a:srgbClr val="D1D5DB"/>
          </a:solidFill>
          <a:ln/>
        </p:spPr>
      </p:sp>
      <p:sp>
        <p:nvSpPr>
          <p:cNvPr id="52" name="Text 50"/>
          <p:cNvSpPr/>
          <p:nvPr/>
        </p:nvSpPr>
        <p:spPr>
          <a:xfrm>
            <a:off x="8567928" y="4555175"/>
            <a:ext cx="1188720" cy="839785"/>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28%</a:t>
            </a:r>
            <a:endParaRPr lang="en-US" sz="2000" dirty="0"/>
          </a:p>
        </p:txBody>
      </p:sp>
      <p:sp>
        <p:nvSpPr>
          <p:cNvPr id="53" name="Shape 51"/>
          <p:cNvSpPr/>
          <p:nvPr/>
        </p:nvSpPr>
        <p:spPr>
          <a:xfrm>
            <a:off x="8567928" y="3535436"/>
            <a:ext cx="1188720" cy="1019739"/>
          </a:xfrm>
          <a:prstGeom prst="rect">
            <a:avLst/>
          </a:prstGeom>
          <a:solidFill>
            <a:srgbClr val="A1A9D9"/>
          </a:solidFill>
          <a:ln/>
        </p:spPr>
      </p:sp>
      <p:sp>
        <p:nvSpPr>
          <p:cNvPr id="54" name="Text 52"/>
          <p:cNvSpPr/>
          <p:nvPr/>
        </p:nvSpPr>
        <p:spPr>
          <a:xfrm>
            <a:off x="8567928" y="3535436"/>
            <a:ext cx="1188720" cy="1019739"/>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34%</a:t>
            </a:r>
            <a:endParaRPr lang="en-US" sz="2000" dirty="0"/>
          </a:p>
        </p:txBody>
      </p:sp>
      <p:sp>
        <p:nvSpPr>
          <p:cNvPr id="55" name="Shape 53"/>
          <p:cNvSpPr/>
          <p:nvPr/>
        </p:nvSpPr>
        <p:spPr>
          <a:xfrm>
            <a:off x="8567928" y="2395728"/>
            <a:ext cx="1188720" cy="1139708"/>
          </a:xfrm>
          <a:prstGeom prst="rect">
            <a:avLst/>
          </a:prstGeom>
          <a:solidFill>
            <a:srgbClr val="1428A0"/>
          </a:solidFill>
          <a:ln/>
        </p:spPr>
      </p:sp>
      <p:sp>
        <p:nvSpPr>
          <p:cNvPr id="56" name="Text 54"/>
          <p:cNvSpPr/>
          <p:nvPr/>
        </p:nvSpPr>
        <p:spPr>
          <a:xfrm>
            <a:off x="8567928" y="2395728"/>
            <a:ext cx="1188720" cy="113970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a:t>
            </a:r>
            <a:endParaRPr lang="en-US" sz="2000" dirty="0"/>
          </a:p>
        </p:txBody>
      </p:sp>
      <p:sp>
        <p:nvSpPr>
          <p:cNvPr id="57" name="Text 55"/>
          <p:cNvSpPr/>
          <p:nvPr/>
        </p:nvSpPr>
        <p:spPr>
          <a:xfrm>
            <a:off x="8339328"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② 공급발</a:t>
            </a:r>
            <a:endParaRPr lang="en-US" sz="2000" dirty="0"/>
          </a:p>
        </p:txBody>
      </p:sp>
      <p:sp>
        <p:nvSpPr>
          <p:cNvPr id="58" name="Shape 56"/>
          <p:cNvSpPr/>
          <p:nvPr/>
        </p:nvSpPr>
        <p:spPr>
          <a:xfrm>
            <a:off x="10049256" y="4585167"/>
            <a:ext cx="1188720" cy="809793"/>
          </a:xfrm>
          <a:prstGeom prst="rect">
            <a:avLst/>
          </a:prstGeom>
          <a:solidFill>
            <a:srgbClr val="D1D5DB"/>
          </a:solidFill>
          <a:ln/>
        </p:spPr>
      </p:sp>
      <p:sp>
        <p:nvSpPr>
          <p:cNvPr id="59" name="Text 57"/>
          <p:cNvSpPr/>
          <p:nvPr/>
        </p:nvSpPr>
        <p:spPr>
          <a:xfrm>
            <a:off x="10049256" y="4585167"/>
            <a:ext cx="1188720" cy="80979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27%</a:t>
            </a:r>
            <a:endParaRPr lang="en-US" sz="2000" dirty="0"/>
          </a:p>
        </p:txBody>
      </p:sp>
      <p:sp>
        <p:nvSpPr>
          <p:cNvPr id="60" name="Shape 58"/>
          <p:cNvSpPr/>
          <p:nvPr/>
        </p:nvSpPr>
        <p:spPr>
          <a:xfrm>
            <a:off x="10049256" y="3595421"/>
            <a:ext cx="1188720" cy="989747"/>
          </a:xfrm>
          <a:prstGeom prst="rect">
            <a:avLst/>
          </a:prstGeom>
          <a:solidFill>
            <a:srgbClr val="A1A9D9"/>
          </a:solidFill>
          <a:ln/>
        </p:spPr>
      </p:sp>
      <p:sp>
        <p:nvSpPr>
          <p:cNvPr id="61" name="Text 59"/>
          <p:cNvSpPr/>
          <p:nvPr/>
        </p:nvSpPr>
        <p:spPr>
          <a:xfrm>
            <a:off x="10049256" y="3595421"/>
            <a:ext cx="1188720" cy="989747"/>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33%</a:t>
            </a:r>
            <a:endParaRPr lang="en-US" sz="2000" dirty="0"/>
          </a:p>
        </p:txBody>
      </p:sp>
      <p:sp>
        <p:nvSpPr>
          <p:cNvPr id="62" name="Shape 60"/>
          <p:cNvSpPr/>
          <p:nvPr/>
        </p:nvSpPr>
        <p:spPr>
          <a:xfrm>
            <a:off x="10049256" y="2995574"/>
            <a:ext cx="1188720" cy="599846"/>
          </a:xfrm>
          <a:prstGeom prst="rect">
            <a:avLst/>
          </a:prstGeom>
          <a:solidFill>
            <a:srgbClr val="1428A0"/>
          </a:solidFill>
          <a:ln/>
        </p:spPr>
      </p:sp>
      <p:sp>
        <p:nvSpPr>
          <p:cNvPr id="63" name="Text 61"/>
          <p:cNvSpPr/>
          <p:nvPr/>
        </p:nvSpPr>
        <p:spPr>
          <a:xfrm>
            <a:off x="10049256" y="2995574"/>
            <a:ext cx="1188720" cy="599846"/>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20%</a:t>
            </a:r>
            <a:endParaRPr lang="en-US" sz="2000" dirty="0"/>
          </a:p>
        </p:txBody>
      </p:sp>
      <p:sp>
        <p:nvSpPr>
          <p:cNvPr id="64" name="Shape 62"/>
          <p:cNvSpPr/>
          <p:nvPr/>
        </p:nvSpPr>
        <p:spPr>
          <a:xfrm>
            <a:off x="10049256" y="2395728"/>
            <a:ext cx="1188720" cy="599846"/>
          </a:xfrm>
          <a:prstGeom prst="rect">
            <a:avLst/>
          </a:prstGeom>
          <a:solidFill>
            <a:srgbClr val="0A1854"/>
          </a:solidFill>
          <a:ln/>
        </p:spPr>
      </p:sp>
      <p:sp>
        <p:nvSpPr>
          <p:cNvPr id="65" name="Text 63"/>
          <p:cNvSpPr/>
          <p:nvPr/>
        </p:nvSpPr>
        <p:spPr>
          <a:xfrm>
            <a:off x="10049256" y="2395728"/>
            <a:ext cx="1188720" cy="599846"/>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20%</a:t>
            </a:r>
            <a:endParaRPr lang="en-US" sz="2000" dirty="0"/>
          </a:p>
        </p:txBody>
      </p:sp>
      <p:sp>
        <p:nvSpPr>
          <p:cNvPr id="66" name="Text 64"/>
          <p:cNvSpPr/>
          <p:nvPr/>
        </p:nvSpPr>
        <p:spPr>
          <a:xfrm>
            <a:off x="9820656"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③ 전환발</a:t>
            </a:r>
            <a:endParaRPr lang="en-US" sz="2000" dirty="0"/>
          </a:p>
        </p:txBody>
      </p:sp>
      <p:sp>
        <p:nvSpPr>
          <p:cNvPr id="67" name="Shape 65"/>
          <p:cNvSpPr/>
          <p:nvPr/>
        </p:nvSpPr>
        <p:spPr>
          <a:xfrm>
            <a:off x="612648" y="5394960"/>
            <a:ext cx="10972800" cy="0"/>
          </a:xfrm>
          <a:prstGeom prst="line">
            <a:avLst/>
          </a:prstGeom>
          <a:noFill/>
          <a:ln w="12700">
            <a:solidFill>
              <a:srgbClr val="E5E7EB"/>
            </a:solidFill>
            <a:prstDash val="solid"/>
          </a:ln>
        </p:spPr>
      </p:sp>
      <p:sp>
        <p:nvSpPr>
          <p:cNvPr id="68" name="Shape 66"/>
          <p:cNvSpPr/>
          <p:nvPr/>
        </p:nvSpPr>
        <p:spPr>
          <a:xfrm>
            <a:off x="612648" y="5815584"/>
            <a:ext cx="5358384" cy="420624"/>
          </a:xfrm>
          <a:prstGeom prst="rect">
            <a:avLst/>
          </a:prstGeom>
          <a:solidFill>
            <a:srgbClr val="E3E7F5"/>
          </a:solidFill>
          <a:ln/>
        </p:spPr>
      </p:sp>
      <p:sp>
        <p:nvSpPr>
          <p:cNvPr id="69" name="Text 67"/>
          <p:cNvSpPr/>
          <p:nvPr/>
        </p:nvSpPr>
        <p:spPr>
          <a:xfrm>
            <a:off x="813816" y="5815584"/>
            <a:ext cx="4956048"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3년 만에 HBM 5% → 30%</a:t>
            </a:r>
            <a:endParaRPr lang="en-US" sz="2000" dirty="0"/>
          </a:p>
        </p:txBody>
      </p:sp>
      <p:sp>
        <p:nvSpPr>
          <p:cNvPr id="70" name="Shape 68"/>
          <p:cNvSpPr/>
          <p:nvPr/>
        </p:nvSpPr>
        <p:spPr>
          <a:xfrm>
            <a:off x="6227064" y="5815584"/>
            <a:ext cx="5358384" cy="420624"/>
          </a:xfrm>
          <a:prstGeom prst="rect">
            <a:avLst/>
          </a:prstGeom>
          <a:solidFill>
            <a:srgbClr val="E3E7F5"/>
          </a:solidFill>
          <a:ln/>
        </p:spPr>
      </p:sp>
      <p:sp>
        <p:nvSpPr>
          <p:cNvPr id="71" name="Text 69"/>
          <p:cNvSpPr/>
          <p:nvPr/>
        </p:nvSpPr>
        <p:spPr>
          <a:xfrm>
            <a:off x="6428232" y="5815584"/>
            <a:ext cx="4956048"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2025년 DRAM +73% · NAND +3%</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전략 1번 · 전환할 수 있는 몸</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무너뜨리는 것은 판가가 아니라 감가 — 가르는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전환 가능성</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 종합반도체의 양산 체제로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16 / 19</a:t>
            </a:r>
            <a:endParaRPr lang="en-US" sz="2000" dirty="0"/>
          </a:p>
        </p:txBody>
      </p:sp>
      <p:sp>
        <p:nvSpPr>
          <p:cNvPr id="7" name="Shape 5"/>
          <p:cNvSpPr/>
          <p:nvPr/>
        </p:nvSpPr>
        <p:spPr>
          <a:xfrm>
            <a:off x="612648" y="1938528"/>
            <a:ext cx="3749040" cy="1920240"/>
          </a:xfrm>
          <a:prstGeom prst="roundRect">
            <a:avLst>
              <a:gd name="adj" fmla="val 3810"/>
            </a:avLst>
          </a:prstGeom>
          <a:solidFill>
            <a:srgbClr val="F4F6FB"/>
          </a:solidFill>
          <a:ln/>
        </p:spPr>
      </p:sp>
      <p:sp>
        <p:nvSpPr>
          <p:cNvPr id="8" name="Text 6"/>
          <p:cNvSpPr/>
          <p:nvPr/>
        </p:nvSpPr>
        <p:spPr>
          <a:xfrm>
            <a:off x="813816" y="2066544"/>
            <a:ext cx="3346704"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앞면 · 감가의 파고</a:t>
            </a:r>
            <a:endParaRPr lang="en-US" sz="2000" dirty="0"/>
          </a:p>
        </p:txBody>
      </p:sp>
      <p:sp>
        <p:nvSpPr>
          <p:cNvPr id="9" name="Text 7"/>
          <p:cNvSpPr/>
          <p:nvPr/>
        </p:nvSpPr>
        <p:spPr>
          <a:xfrm>
            <a:off x="813816" y="2377440"/>
            <a:ext cx="3346704"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45.9조</a:t>
            </a:r>
            <a:endParaRPr lang="en-US" sz="3200" dirty="0"/>
          </a:p>
        </p:txBody>
      </p:sp>
      <p:sp>
        <p:nvSpPr>
          <p:cNvPr id="10" name="Text 8"/>
          <p:cNvSpPr/>
          <p:nvPr/>
        </p:nvSpPr>
        <p:spPr>
          <a:xfrm>
            <a:off x="813816" y="2871216"/>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2029E 감가 · +56%</a:t>
            </a:r>
            <a:endParaRPr lang="en-US" sz="2000" dirty="0"/>
          </a:p>
        </p:txBody>
      </p:sp>
      <p:sp>
        <p:nvSpPr>
          <p:cNvPr id="11" name="Text 9"/>
          <p:cNvSpPr/>
          <p:nvPr/>
        </p:nvSpPr>
        <p:spPr>
          <a:xfrm>
            <a:off x="813816" y="316382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붕괴선 67조 → 104조</a:t>
            </a:r>
            <a:endParaRPr lang="en-US" sz="2000" dirty="0"/>
          </a:p>
        </p:txBody>
      </p:sp>
      <p:sp>
        <p:nvSpPr>
          <p:cNvPr id="12" name="Text 10"/>
          <p:cNvSpPr/>
          <p:nvPr/>
        </p:nvSpPr>
        <p:spPr>
          <a:xfrm>
            <a:off x="813816" y="345643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같은 붕괴 시 약 −31조</a:t>
            </a:r>
            <a:endParaRPr lang="en-US" sz="2000" dirty="0"/>
          </a:p>
        </p:txBody>
      </p:sp>
      <p:sp>
        <p:nvSpPr>
          <p:cNvPr id="13" name="Shape 11"/>
          <p:cNvSpPr/>
          <p:nvPr/>
        </p:nvSpPr>
        <p:spPr>
          <a:xfrm>
            <a:off x="612648" y="3968496"/>
            <a:ext cx="3749040" cy="1645920"/>
          </a:xfrm>
          <a:prstGeom prst="roundRect">
            <a:avLst>
              <a:gd name="adj" fmla="val 4444"/>
            </a:avLst>
          </a:prstGeom>
          <a:solidFill>
            <a:srgbClr val="E3E7F5"/>
          </a:solidFill>
          <a:ln/>
        </p:spPr>
      </p:sp>
      <p:sp>
        <p:nvSpPr>
          <p:cNvPr id="14" name="Text 12"/>
          <p:cNvSpPr/>
          <p:nvPr/>
        </p:nvSpPr>
        <p:spPr>
          <a:xfrm>
            <a:off x="813816" y="4096512"/>
            <a:ext cx="334670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뒷면 · 감가 완료 설비</a:t>
            </a:r>
            <a:endParaRPr lang="en-US" sz="2000" dirty="0"/>
          </a:p>
        </p:txBody>
      </p:sp>
      <p:sp>
        <p:nvSpPr>
          <p:cNvPr id="15" name="Text 13"/>
          <p:cNvSpPr/>
          <p:nvPr/>
        </p:nvSpPr>
        <p:spPr>
          <a:xfrm>
            <a:off x="813816" y="4407408"/>
            <a:ext cx="3346704"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196조</a:t>
            </a:r>
            <a:endParaRPr lang="en-US" sz="3200" dirty="0"/>
          </a:p>
        </p:txBody>
      </p:sp>
      <p:sp>
        <p:nvSpPr>
          <p:cNvPr id="16" name="Text 14"/>
          <p:cNvSpPr/>
          <p:nvPr/>
        </p:nvSpPr>
        <p:spPr>
          <a:xfrm>
            <a:off x="813816" y="490118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2028년 말 취득원가 기준</a:t>
            </a:r>
            <a:endParaRPr lang="en-US" sz="2000" dirty="0"/>
          </a:p>
        </p:txBody>
      </p:sp>
      <p:sp>
        <p:nvSpPr>
          <p:cNvPr id="17" name="Text 15"/>
          <p:cNvSpPr/>
          <p:nvPr/>
        </p:nvSpPr>
        <p:spPr>
          <a:xfrm>
            <a:off x="813816" y="519379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메모리 귀속 108~137조</a:t>
            </a:r>
            <a:endParaRPr lang="en-US" sz="2000" dirty="0"/>
          </a:p>
        </p:txBody>
      </p:sp>
      <p:sp>
        <p:nvSpPr>
          <p:cNvPr id="18" name="Shape 16"/>
          <p:cNvSpPr/>
          <p:nvPr/>
        </p:nvSpPr>
        <p:spPr>
          <a:xfrm>
            <a:off x="4544568" y="1938528"/>
            <a:ext cx="7040880" cy="1060704"/>
          </a:xfrm>
          <a:prstGeom prst="roundRect">
            <a:avLst>
              <a:gd name="adj" fmla="val 6897"/>
            </a:avLst>
          </a:prstGeom>
          <a:solidFill>
            <a:srgbClr val="F4F6FB"/>
          </a:solidFill>
          <a:ln/>
        </p:spPr>
      </p:sp>
      <p:sp>
        <p:nvSpPr>
          <p:cNvPr id="19" name="Text 17"/>
          <p:cNvSpPr/>
          <p:nvPr/>
        </p:nvSpPr>
        <p:spPr>
          <a:xfrm>
            <a:off x="4745736" y="2048256"/>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① 세대 연장성 · 시간축</a:t>
            </a:r>
            <a:endParaRPr lang="en-US" sz="2000" dirty="0"/>
          </a:p>
        </p:txBody>
      </p:sp>
      <p:sp>
        <p:nvSpPr>
          <p:cNvPr id="20" name="Text 18"/>
          <p:cNvSpPr/>
          <p:nvPr/>
        </p:nvSpPr>
        <p:spPr>
          <a:xfrm>
            <a:off x="4745736" y="2359152"/>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차세대 로드맵을 공통 기술 축 위에 정렬 — W2W 본딩 · HAR 식각 · 컨포멀 ALD</a:t>
            </a:r>
            <a:endParaRPr lang="en-US" sz="2000" dirty="0"/>
          </a:p>
        </p:txBody>
      </p:sp>
      <p:sp>
        <p:nvSpPr>
          <p:cNvPr id="21" name="Shape 19"/>
          <p:cNvSpPr/>
          <p:nvPr/>
        </p:nvSpPr>
        <p:spPr>
          <a:xfrm>
            <a:off x="4544568" y="3090672"/>
            <a:ext cx="7040880" cy="1060704"/>
          </a:xfrm>
          <a:prstGeom prst="roundRect">
            <a:avLst>
              <a:gd name="adj" fmla="val 6897"/>
            </a:avLst>
          </a:prstGeom>
          <a:solidFill>
            <a:srgbClr val="F4F6FB"/>
          </a:solidFill>
          <a:ln/>
        </p:spPr>
      </p:sp>
      <p:sp>
        <p:nvSpPr>
          <p:cNvPr id="22" name="Text 20"/>
          <p:cNvSpPr/>
          <p:nvPr/>
        </p:nvSpPr>
        <p:spPr>
          <a:xfrm>
            <a:off x="4745736" y="3200400"/>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② 제품 간 동일성 · 제품축</a:t>
            </a:r>
            <a:endParaRPr lang="en-US" sz="2000" dirty="0"/>
          </a:p>
        </p:txBody>
      </p:sp>
      <p:sp>
        <p:nvSpPr>
          <p:cNvPr id="23" name="Text 21"/>
          <p:cNvSpPr/>
          <p:nvPr/>
        </p:nvSpPr>
        <p:spPr>
          <a:xfrm>
            <a:off x="4745736" y="3511296"/>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제품은 다극으로, 공정은 단극에 가깝게 — 공통성을 설계 규범으로 고정</a:t>
            </a:r>
            <a:endParaRPr lang="en-US" sz="2000" dirty="0"/>
          </a:p>
        </p:txBody>
      </p:sp>
      <p:sp>
        <p:nvSpPr>
          <p:cNvPr id="24" name="Shape 22"/>
          <p:cNvSpPr/>
          <p:nvPr/>
        </p:nvSpPr>
        <p:spPr>
          <a:xfrm>
            <a:off x="4544568" y="4242816"/>
            <a:ext cx="7040880" cy="1060704"/>
          </a:xfrm>
          <a:prstGeom prst="roundRect">
            <a:avLst>
              <a:gd name="adj" fmla="val 6897"/>
            </a:avLst>
          </a:prstGeom>
          <a:solidFill>
            <a:srgbClr val="F4F6FB"/>
          </a:solidFill>
          <a:ln/>
        </p:spPr>
      </p:sp>
      <p:sp>
        <p:nvSpPr>
          <p:cNvPr id="25" name="Text 23"/>
          <p:cNvSpPr/>
          <p:nvPr/>
        </p:nvSpPr>
        <p:spPr>
          <a:xfrm>
            <a:off x="4745736" y="4352544"/>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③ N-1 설계 · 설비 세대축</a:t>
            </a:r>
            <a:endParaRPr lang="en-US" sz="2000" dirty="0"/>
          </a:p>
        </p:txBody>
      </p:sp>
      <p:sp>
        <p:nvSpPr>
          <p:cNvPr id="26" name="Text 24"/>
          <p:cNvSpPr/>
          <p:nvPr/>
        </p:nvSpPr>
        <p:spPr>
          <a:xfrm>
            <a:off x="4745736" y="4663440"/>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볼륨·로우엔드는 1~2세대 이전 노드로도 생산 가능하게</a:t>
            </a:r>
            <a:endParaRPr lang="en-US" sz="2000" dirty="0"/>
          </a:p>
        </p:txBody>
      </p:sp>
      <p:sp>
        <p:nvSpPr>
          <p:cNvPr id="27" name="Shape 25"/>
          <p:cNvSpPr/>
          <p:nvPr/>
        </p:nvSpPr>
        <p:spPr>
          <a:xfrm>
            <a:off x="4544568" y="5358384"/>
            <a:ext cx="7040880" cy="420624"/>
          </a:xfrm>
          <a:prstGeom prst="roundRect">
            <a:avLst>
              <a:gd name="adj" fmla="val 4348"/>
            </a:avLst>
          </a:prstGeom>
          <a:solidFill>
            <a:srgbClr val="FFFFFF"/>
          </a:solidFill>
          <a:ln w="15875">
            <a:solidFill>
              <a:srgbClr val="0A1854"/>
            </a:solidFill>
            <a:prstDash val="solid"/>
          </a:ln>
        </p:spPr>
      </p:sp>
      <p:sp>
        <p:nvSpPr>
          <p:cNvPr id="28" name="Text 26"/>
          <p:cNvSpPr/>
          <p:nvPr/>
        </p:nvSpPr>
        <p:spPr>
          <a:xfrm>
            <a:off x="4745736" y="5358384"/>
            <a:ext cx="6638544"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경계 — 선단은 그대로 간다: N-1은 바벨의 아래쪽 끝만</a:t>
            </a:r>
            <a:endParaRPr lang="en-US" sz="2000" dirty="0"/>
          </a:p>
        </p:txBody>
      </p:sp>
      <p:sp>
        <p:nvSpPr>
          <p:cNvPr id="29" name="Shape 27"/>
          <p:cNvSpPr/>
          <p:nvPr/>
        </p:nvSpPr>
        <p:spPr>
          <a:xfrm>
            <a:off x="612648" y="5852160"/>
            <a:ext cx="3529584" cy="384048"/>
          </a:xfrm>
          <a:prstGeom prst="rect">
            <a:avLst/>
          </a:prstGeom>
          <a:solidFill>
            <a:srgbClr val="E3E7F5"/>
          </a:solidFill>
          <a:ln/>
        </p:spPr>
      </p:sp>
      <p:sp>
        <p:nvSpPr>
          <p:cNvPr id="30" name="Text 28"/>
          <p:cNvSpPr/>
          <p:nvPr/>
        </p:nvSpPr>
        <p:spPr>
          <a:xfrm>
            <a:off x="813816"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전환 6→3개월 · 회당 1조</a:t>
            </a:r>
            <a:endParaRPr lang="en-US" sz="2000" dirty="0"/>
          </a:p>
        </p:txBody>
      </p:sp>
      <p:sp>
        <p:nvSpPr>
          <p:cNvPr id="31" name="Shape 29"/>
          <p:cNvSpPr/>
          <p:nvPr/>
        </p:nvSpPr>
        <p:spPr>
          <a:xfrm>
            <a:off x="4334256" y="5852160"/>
            <a:ext cx="3529584" cy="384048"/>
          </a:xfrm>
          <a:prstGeom prst="rect">
            <a:avLst/>
          </a:prstGeom>
          <a:solidFill>
            <a:srgbClr val="E3E7F5"/>
          </a:solidFill>
          <a:ln/>
        </p:spPr>
      </p:sp>
      <p:sp>
        <p:nvSpPr>
          <p:cNvPr id="32" name="Text 30"/>
          <p:cNvSpPr/>
          <p:nvPr/>
        </p:nvSpPr>
        <p:spPr>
          <a:xfrm>
            <a:off x="4535424"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N-1 원가 우위 25~35%</a:t>
            </a:r>
            <a:endParaRPr lang="en-US" sz="2000" dirty="0"/>
          </a:p>
        </p:txBody>
      </p:sp>
      <p:sp>
        <p:nvSpPr>
          <p:cNvPr id="33" name="Shape 31"/>
          <p:cNvSpPr/>
          <p:nvPr/>
        </p:nvSpPr>
        <p:spPr>
          <a:xfrm>
            <a:off x="8055864" y="5852160"/>
            <a:ext cx="3529584" cy="384048"/>
          </a:xfrm>
          <a:prstGeom prst="rect">
            <a:avLst/>
          </a:prstGeom>
          <a:solidFill>
            <a:srgbClr val="E3E7F5"/>
          </a:solidFill>
          <a:ln/>
        </p:spPr>
      </p:sp>
      <p:sp>
        <p:nvSpPr>
          <p:cNvPr id="34" name="Text 32"/>
          <p:cNvSpPr/>
          <p:nvPr/>
        </p:nvSpPr>
        <p:spPr>
          <a:xfrm>
            <a:off x="8257032"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증액 요구 없음 · 규범 변경</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전략 2번 · (제목 미정)</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17 / 19</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전략 3번 · (제목 미정)</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18 / 19</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별첨 · DS 전사로 넓히면</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셋 다 사업부 단독 결정 범위를 넘는다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옵션으로만 제시한다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§4.1 · §3.1 — 전략 1번 별첨</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19 / 19</a:t>
            </a:r>
            <a:endParaRPr lang="en-US" sz="2000" dirty="0"/>
          </a:p>
        </p:txBody>
      </p:sp>
      <p:sp>
        <p:nvSpPr>
          <p:cNvPr id="7" name="Shape 5"/>
          <p:cNvSpPr/>
          <p:nvPr/>
        </p:nvSpPr>
        <p:spPr>
          <a:xfrm>
            <a:off x="612648" y="1938528"/>
            <a:ext cx="10972800" cy="1170432"/>
          </a:xfrm>
          <a:prstGeom prst="roundRect">
            <a:avLst>
              <a:gd name="adj" fmla="val 6250"/>
            </a:avLst>
          </a:prstGeom>
          <a:solidFill>
            <a:srgbClr val="F4F6FB"/>
          </a:solidFill>
          <a:ln/>
        </p:spPr>
      </p:sp>
      <p:sp>
        <p:nvSpPr>
          <p:cNvPr id="8" name="Text 6"/>
          <p:cNvSpPr/>
          <p:nvPr/>
        </p:nvSpPr>
        <p:spPr>
          <a:xfrm>
            <a:off x="813816" y="204825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① 파운드리 접점</a:t>
            </a:r>
            <a:endParaRPr lang="en-US" sz="2000" dirty="0"/>
          </a:p>
        </p:txBody>
      </p:sp>
      <p:sp>
        <p:nvSpPr>
          <p:cNvPr id="9" name="Text 7"/>
          <p:cNvSpPr/>
          <p:nvPr/>
        </p:nvSpPr>
        <p:spPr>
          <a:xfrm>
            <a:off x="813816" y="235915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HBM4 베이스다이가 이미 로직 팹 산출물 · P4 파운드리 구역 → 1c DRAM 전환 실증</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두 사업부의 설비 사양 표준을 한 문서로 관리하면 전환 가능한 면이 넓어진다</a:t>
            </a:r>
            <a:endParaRPr lang="en-US" sz="2000" dirty="0"/>
          </a:p>
        </p:txBody>
      </p:sp>
      <p:sp>
        <p:nvSpPr>
          <p:cNvPr id="10" name="Shape 8"/>
          <p:cNvSpPr/>
          <p:nvPr/>
        </p:nvSpPr>
        <p:spPr>
          <a:xfrm>
            <a:off x="612648" y="3218688"/>
            <a:ext cx="10972800" cy="1170432"/>
          </a:xfrm>
          <a:prstGeom prst="roundRect">
            <a:avLst>
              <a:gd name="adj" fmla="val 6250"/>
            </a:avLst>
          </a:prstGeom>
          <a:solidFill>
            <a:srgbClr val="F4F6FB"/>
          </a:solidFill>
          <a:ln/>
        </p:spPr>
      </p:sp>
      <p:sp>
        <p:nvSpPr>
          <p:cNvPr id="11" name="Text 9"/>
          <p:cNvSpPr/>
          <p:nvPr/>
        </p:nvSpPr>
        <p:spPr>
          <a:xfrm>
            <a:off x="813816" y="332841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② 이미지센서 (CIS)</a:t>
            </a:r>
            <a:endParaRPr lang="en-US" sz="2000" dirty="0"/>
          </a:p>
        </p:txBody>
      </p:sp>
      <p:sp>
        <p:nvSpPr>
          <p:cNvPr id="12" name="Text 10"/>
          <p:cNvSpPr/>
          <p:nvPr/>
        </p:nvSpPr>
        <p:spPr>
          <a:xfrm>
            <a:off x="813816" y="363931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DRAM ↔ CIS 공정 약 80% 동일 — 화성 11·13라인에서 실증(장비 그대로 사용)</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단 캐파 약 50% 감소 · 비용 최소 1조 — 공용성은 산출량이 아니라 자본지출을 지킨다</a:t>
            </a:r>
            <a:endParaRPr lang="en-US" sz="2000" dirty="0"/>
          </a:p>
        </p:txBody>
      </p:sp>
      <p:sp>
        <p:nvSpPr>
          <p:cNvPr id="13" name="Shape 11"/>
          <p:cNvSpPr/>
          <p:nvPr/>
        </p:nvSpPr>
        <p:spPr>
          <a:xfrm>
            <a:off x="612648" y="4498848"/>
            <a:ext cx="10972800" cy="1170432"/>
          </a:xfrm>
          <a:prstGeom prst="roundRect">
            <a:avLst>
              <a:gd name="adj" fmla="val 6250"/>
            </a:avLst>
          </a:prstGeom>
          <a:solidFill>
            <a:srgbClr val="F4F6FB"/>
          </a:solidFill>
          <a:ln/>
        </p:spPr>
      </p:sp>
      <p:sp>
        <p:nvSpPr>
          <p:cNvPr id="14" name="Text 12"/>
          <p:cNvSpPr/>
          <p:nvPr/>
        </p:nvSpPr>
        <p:spPr>
          <a:xfrm>
            <a:off x="813816" y="460857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③ 감가 완료 설비의 두 번째 수명</a:t>
            </a:r>
            <a:endParaRPr lang="en-US" sz="2000" dirty="0"/>
          </a:p>
        </p:txBody>
      </p:sp>
      <p:sp>
        <p:nvSpPr>
          <p:cNvPr id="15" name="Text 13"/>
          <p:cNvSpPr/>
          <p:nvPr/>
        </p:nvSpPr>
        <p:spPr>
          <a:xfrm>
            <a:off x="813816" y="491947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2차 시장의 본질은 검사·등급화·잔존수명 예측·보증 (장비 확장은 제안 단계)</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전환 불가능한 팹의 처분 경로는 매각뿐이었고, 그것도 원가 아래였다</a:t>
            </a:r>
            <a:endParaRPr lang="en-US" sz="2000" dirty="0"/>
          </a:p>
        </p:txBody>
      </p:sp>
      <p:sp>
        <p:nvSpPr>
          <p:cNvPr id="16" name="Shape 14"/>
          <p:cNvSpPr/>
          <p:nvPr/>
        </p:nvSpPr>
        <p:spPr>
          <a:xfrm>
            <a:off x="612648" y="5815584"/>
            <a:ext cx="10972800" cy="402336"/>
          </a:xfrm>
          <a:prstGeom prst="rect">
            <a:avLst/>
          </a:prstGeom>
          <a:solidFill>
            <a:srgbClr val="E3E7F5"/>
          </a:solidFill>
          <a:ln/>
        </p:spPr>
      </p:sp>
      <p:sp>
        <p:nvSpPr>
          <p:cNvPr id="17" name="Text 15"/>
          <p:cNvSpPr/>
          <p:nvPr/>
        </p:nvSpPr>
        <p:spPr>
          <a:xfrm>
            <a:off x="813816" y="5815584"/>
            <a:ext cx="10570464" cy="402336"/>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10nm 이하 로직과 메모리를 함께 양산하는 유일한 회사 — 구조적 자산이자 고비용 논쟁의 대상</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2026-08-12T01:48:07Z</dcterms:created>
  <dcterms:modified xsi:type="dcterms:W3CDTF">2026-08-12T01:48:07Z</dcterms:modified>
</cp:coreProperties>
</file>