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10</a:t>
            </a:r>
            <a:endParaRPr lang="en-US" sz="2000" dirty="0"/>
          </a:p>
        </p:txBody>
      </p:sp>
      <p:sp>
        <p:nvSpPr>
          <p:cNvPr id="6" name="Shape 4"/>
          <p:cNvSpPr/>
          <p:nvPr/>
        </p:nvSpPr>
        <p:spPr>
          <a:xfrm>
            <a:off x="612648" y="2212848"/>
            <a:ext cx="2414016" cy="2377440"/>
          </a:xfrm>
          <a:prstGeom prst="roundRect">
            <a:avLst>
              <a:gd name="adj" fmla="val 3077"/>
            </a:avLst>
          </a:prstGeom>
          <a:solidFill>
            <a:srgbClr val="F4F6FB"/>
          </a:solidFill>
          <a:ln/>
        </p:spPr>
      </p:sp>
      <p:sp>
        <p:nvSpPr>
          <p:cNvPr id="7" name="Text 5"/>
          <p:cNvSpPr/>
          <p:nvPr/>
        </p:nvSpPr>
        <p:spPr>
          <a:xfrm>
            <a:off x="841248" y="2432304"/>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79776"/>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94176"/>
            <a:ext cx="1956816" cy="548640"/>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187952"/>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212848"/>
            <a:ext cx="2414016" cy="2377440"/>
          </a:xfrm>
          <a:prstGeom prst="roundRect">
            <a:avLst>
              <a:gd name="adj" fmla="val 3077"/>
            </a:avLst>
          </a:prstGeom>
          <a:solidFill>
            <a:srgbClr val="F4F6FB"/>
          </a:solidFill>
          <a:ln/>
        </p:spPr>
      </p:sp>
      <p:sp>
        <p:nvSpPr>
          <p:cNvPr id="12" name="Text 10"/>
          <p:cNvSpPr/>
          <p:nvPr/>
        </p:nvSpPr>
        <p:spPr>
          <a:xfrm>
            <a:off x="3694176" y="2432304"/>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79776"/>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94176"/>
            <a:ext cx="1956816" cy="548640"/>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3+1 다운턴</a:t>
            </a:r>
            <a:endParaRPr lang="en-US" sz="2000" dirty="0"/>
          </a:p>
        </p:txBody>
      </p:sp>
      <p:sp>
        <p:nvSpPr>
          <p:cNvPr id="15" name="Text 13"/>
          <p:cNvSpPr/>
          <p:nvPr/>
        </p:nvSpPr>
        <p:spPr>
          <a:xfrm>
            <a:off x="3694176" y="4187952"/>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S6</a:t>
            </a:r>
            <a:endParaRPr lang="en-US" sz="2000" dirty="0"/>
          </a:p>
        </p:txBody>
      </p:sp>
      <p:sp>
        <p:nvSpPr>
          <p:cNvPr id="16" name="Shape 14"/>
          <p:cNvSpPr/>
          <p:nvPr/>
        </p:nvSpPr>
        <p:spPr>
          <a:xfrm>
            <a:off x="6318504" y="2212848"/>
            <a:ext cx="2414016" cy="2377440"/>
          </a:xfrm>
          <a:prstGeom prst="roundRect">
            <a:avLst>
              <a:gd name="adj" fmla="val 3077"/>
            </a:avLst>
          </a:prstGeom>
          <a:solidFill>
            <a:srgbClr val="F4F6FB"/>
          </a:solidFill>
          <a:ln/>
        </p:spPr>
      </p:sp>
      <p:sp>
        <p:nvSpPr>
          <p:cNvPr id="17" name="Text 15"/>
          <p:cNvSpPr/>
          <p:nvPr/>
        </p:nvSpPr>
        <p:spPr>
          <a:xfrm>
            <a:off x="6547104" y="2432304"/>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79776"/>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94176"/>
            <a:ext cx="1956816" cy="548640"/>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187952"/>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S7 – S8</a:t>
            </a:r>
            <a:endParaRPr lang="en-US" sz="2000" dirty="0"/>
          </a:p>
        </p:txBody>
      </p:sp>
      <p:sp>
        <p:nvSpPr>
          <p:cNvPr id="21" name="Shape 19"/>
          <p:cNvSpPr/>
          <p:nvPr/>
        </p:nvSpPr>
        <p:spPr>
          <a:xfrm>
            <a:off x="9171432" y="2212848"/>
            <a:ext cx="2414016" cy="2377440"/>
          </a:xfrm>
          <a:prstGeom prst="roundRect">
            <a:avLst>
              <a:gd name="adj" fmla="val 3077"/>
            </a:avLst>
          </a:prstGeom>
          <a:solidFill>
            <a:srgbClr val="0A1854"/>
          </a:solidFill>
          <a:ln/>
        </p:spPr>
      </p:sp>
      <p:sp>
        <p:nvSpPr>
          <p:cNvPr id="22" name="Text 20"/>
          <p:cNvSpPr/>
          <p:nvPr/>
        </p:nvSpPr>
        <p:spPr>
          <a:xfrm>
            <a:off x="9400032" y="2432304"/>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79776"/>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94176"/>
            <a:ext cx="1956816" cy="548640"/>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187952"/>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S9 – S10</a:t>
            </a:r>
            <a:endParaRPr lang="en-US" sz="2000" dirty="0"/>
          </a:p>
        </p:txBody>
      </p:sp>
      <p:sp>
        <p:nvSpPr>
          <p:cNvPr id="26" name="Shape 24"/>
          <p:cNvSpPr/>
          <p:nvPr/>
        </p:nvSpPr>
        <p:spPr>
          <a:xfrm>
            <a:off x="3026664" y="3401568"/>
            <a:ext cx="438912" cy="0"/>
          </a:xfrm>
          <a:prstGeom prst="line">
            <a:avLst/>
          </a:prstGeom>
          <a:noFill/>
          <a:ln w="25400">
            <a:solidFill>
              <a:srgbClr val="A1A9D9"/>
            </a:solidFill>
            <a:prstDash val="solid"/>
            <a:tailEnd type="arrow"/>
          </a:ln>
        </p:spPr>
      </p:sp>
      <p:sp>
        <p:nvSpPr>
          <p:cNvPr id="27" name="Shape 25"/>
          <p:cNvSpPr/>
          <p:nvPr/>
        </p:nvSpPr>
        <p:spPr>
          <a:xfrm>
            <a:off x="5879592" y="3401568"/>
            <a:ext cx="438912" cy="0"/>
          </a:xfrm>
          <a:prstGeom prst="line">
            <a:avLst/>
          </a:prstGeom>
          <a:noFill/>
          <a:ln w="25400">
            <a:solidFill>
              <a:srgbClr val="A1A9D9"/>
            </a:solidFill>
            <a:prstDash val="solid"/>
            <a:tailEnd type="arrow"/>
          </a:ln>
        </p:spPr>
      </p:sp>
      <p:sp>
        <p:nvSpPr>
          <p:cNvPr id="28" name="Shape 26"/>
          <p:cNvSpPr/>
          <p:nvPr/>
        </p:nvSpPr>
        <p:spPr>
          <a:xfrm>
            <a:off x="8732520" y="3401568"/>
            <a:ext cx="438912" cy="0"/>
          </a:xfrm>
          <a:prstGeom prst="line">
            <a:avLst/>
          </a:prstGeom>
          <a:noFill/>
          <a:ln w="25400">
            <a:solidFill>
              <a:srgbClr val="A1A9D9"/>
            </a:solidFill>
            <a:prstDash val="solid"/>
            <a:tailEnd type="arrow"/>
          </a:ln>
        </p:spPr>
      </p:sp>
      <p:sp>
        <p:nvSpPr>
          <p:cNvPr id="29" name="Shape 27"/>
          <p:cNvSpPr/>
          <p:nvPr/>
        </p:nvSpPr>
        <p:spPr>
          <a:xfrm>
            <a:off x="10378440" y="4590288"/>
            <a:ext cx="0" cy="512064"/>
          </a:xfrm>
          <a:prstGeom prst="line">
            <a:avLst/>
          </a:prstGeom>
          <a:noFill/>
          <a:ln w="25400">
            <a:solidFill>
              <a:srgbClr val="A1A9D9"/>
            </a:solidFill>
            <a:prstDash val="solid"/>
            <a:tailEnd type="arrow"/>
          </a:ln>
        </p:spPr>
      </p:sp>
      <p:sp>
        <p:nvSpPr>
          <p:cNvPr id="30" name="Shape 28"/>
          <p:cNvSpPr/>
          <p:nvPr/>
        </p:nvSpPr>
        <p:spPr>
          <a:xfrm>
            <a:off x="6099048" y="5102352"/>
            <a:ext cx="54864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6099048" y="5102352"/>
            <a:ext cx="54864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7편의 제안 — 2·3차 저지선의 구체안</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10</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10</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10</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10</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10</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10</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188720" y="3096768"/>
            <a:ext cx="1828800" cy="543306"/>
          </a:xfrm>
          <a:prstGeom prst="line">
            <a:avLst/>
          </a:prstGeom>
          <a:noFill/>
          <a:ln w="38100">
            <a:solidFill>
              <a:srgbClr val="C00000"/>
            </a:solidFill>
            <a:prstDash val="solid"/>
          </a:ln>
        </p:spPr>
      </p:sp>
      <p:sp>
        <p:nvSpPr>
          <p:cNvPr id="9" name="Shape 7"/>
          <p:cNvSpPr/>
          <p:nvPr/>
        </p:nvSpPr>
        <p:spPr>
          <a:xfrm>
            <a:off x="1115568" y="3023616"/>
            <a:ext cx="146304" cy="146304"/>
          </a:xfrm>
          <a:prstGeom prst="ellipse">
            <a:avLst/>
          </a:prstGeom>
          <a:solidFill>
            <a:srgbClr val="C00000"/>
          </a:solidFill>
          <a:ln w="25400">
            <a:solidFill>
              <a:srgbClr val="FFFFFF"/>
            </a:solidFill>
            <a:prstDash val="solid"/>
          </a:ln>
        </p:spPr>
      </p:sp>
      <p:sp>
        <p:nvSpPr>
          <p:cNvPr id="10" name="Shape 8"/>
          <p:cNvSpPr/>
          <p:nvPr/>
        </p:nvSpPr>
        <p:spPr>
          <a:xfrm>
            <a:off x="2944368" y="3566922"/>
            <a:ext cx="146304" cy="146304"/>
          </a:xfrm>
          <a:prstGeom prst="ellipse">
            <a:avLst/>
          </a:prstGeom>
          <a:solidFill>
            <a:srgbClr val="C00000"/>
          </a:solidFill>
          <a:ln w="25400">
            <a:solidFill>
              <a:srgbClr val="FFFFFF"/>
            </a:solidFill>
            <a:prstDash val="solid"/>
          </a:ln>
        </p:spPr>
      </p:sp>
      <p:sp>
        <p:nvSpPr>
          <p:cNvPr id="11" name="Text 9"/>
          <p:cNvSpPr/>
          <p:nvPr/>
        </p:nvSpPr>
        <p:spPr>
          <a:xfrm>
            <a:off x="731520" y="2731008"/>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560320" y="3256026"/>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40080" y="4096512"/>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331720" y="4096512"/>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078224"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526280" y="2695194"/>
            <a:ext cx="777240" cy="1346454"/>
          </a:xfrm>
          <a:prstGeom prst="rect">
            <a:avLst/>
          </a:prstGeom>
          <a:solidFill>
            <a:srgbClr val="1428A0"/>
          </a:solidFill>
          <a:ln/>
        </p:spPr>
      </p:sp>
      <p:sp>
        <p:nvSpPr>
          <p:cNvPr id="17" name="Text 15"/>
          <p:cNvSpPr/>
          <p:nvPr/>
        </p:nvSpPr>
        <p:spPr>
          <a:xfrm>
            <a:off x="4251960" y="2402586"/>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114800" y="4096512"/>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5806440" y="3521964"/>
            <a:ext cx="777240" cy="519684"/>
          </a:xfrm>
          <a:prstGeom prst="rect">
            <a:avLst/>
          </a:prstGeom>
          <a:solidFill>
            <a:srgbClr val="D1D5DB"/>
          </a:solidFill>
          <a:ln/>
        </p:spPr>
      </p:sp>
      <p:sp>
        <p:nvSpPr>
          <p:cNvPr id="20" name="Text 18"/>
          <p:cNvSpPr/>
          <p:nvPr/>
        </p:nvSpPr>
        <p:spPr>
          <a:xfrm>
            <a:off x="5532120" y="3229356"/>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394960" y="4096512"/>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Text 20"/>
          <p:cNvSpPr/>
          <p:nvPr/>
        </p:nvSpPr>
        <p:spPr>
          <a:xfrm>
            <a:off x="612648" y="4462272"/>
            <a:ext cx="66751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33년 만의 DRAM 1위 상실 — 1Q25 36% 대 34%</a:t>
            </a:r>
            <a:endParaRPr lang="en-US" sz="2000" dirty="0"/>
          </a:p>
        </p:txBody>
      </p:sp>
      <p:sp>
        <p:nvSpPr>
          <p:cNvPr id="23" name="Text 21"/>
          <p:cNvSpPr/>
          <p:nvPr/>
        </p:nvSpPr>
        <p:spPr>
          <a:xfrm>
            <a:off x="612648" y="4846320"/>
            <a:ext cx="402336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a:t>
            </a:r>
            <a:endParaRPr lang="en-US" sz="2000" dirty="0"/>
          </a:p>
        </p:txBody>
      </p:sp>
      <p:sp>
        <p:nvSpPr>
          <p:cNvPr id="24" name="Text 22"/>
          <p:cNvSpPr/>
          <p:nvPr/>
        </p:nvSpPr>
        <p:spPr>
          <a:xfrm>
            <a:off x="4453128" y="4846320"/>
            <a:ext cx="283464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YMTC 낸드 5→13%</a:t>
            </a:r>
            <a:endParaRPr lang="en-US" sz="2000" dirty="0"/>
          </a:p>
        </p:txBody>
      </p:sp>
      <p:sp>
        <p:nvSpPr>
          <p:cNvPr id="25" name="Shape 23"/>
          <p:cNvSpPr/>
          <p:nvPr/>
        </p:nvSpPr>
        <p:spPr>
          <a:xfrm>
            <a:off x="612648" y="5193792"/>
            <a:ext cx="2521952" cy="457200"/>
          </a:xfrm>
          <a:prstGeom prst="rect">
            <a:avLst/>
          </a:prstGeom>
          <a:solidFill>
            <a:srgbClr val="1428A0"/>
          </a:solidFill>
          <a:ln/>
        </p:spPr>
      </p:sp>
      <p:sp>
        <p:nvSpPr>
          <p:cNvPr id="26" name="Text 24"/>
          <p:cNvSpPr/>
          <p:nvPr/>
        </p:nvSpPr>
        <p:spPr>
          <a:xfrm>
            <a:off x="612648" y="5193792"/>
            <a:ext cx="2521952"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27" name="Text 25"/>
          <p:cNvSpPr/>
          <p:nvPr/>
        </p:nvSpPr>
        <p:spPr>
          <a:xfrm>
            <a:off x="1279264" y="5687568"/>
            <a:ext cx="118872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8" name="Shape 26"/>
          <p:cNvSpPr/>
          <p:nvPr/>
        </p:nvSpPr>
        <p:spPr>
          <a:xfrm>
            <a:off x="3152888" y="5193792"/>
            <a:ext cx="1657094" cy="457200"/>
          </a:xfrm>
          <a:prstGeom prst="rect">
            <a:avLst/>
          </a:prstGeom>
          <a:solidFill>
            <a:srgbClr val="5A68BC"/>
          </a:solidFill>
          <a:ln/>
        </p:spPr>
      </p:sp>
      <p:sp>
        <p:nvSpPr>
          <p:cNvPr id="29" name="Text 27"/>
          <p:cNvSpPr/>
          <p:nvPr/>
        </p:nvSpPr>
        <p:spPr>
          <a:xfrm>
            <a:off x="3152888" y="5193792"/>
            <a:ext cx="1657094"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30" name="Text 28"/>
          <p:cNvSpPr/>
          <p:nvPr/>
        </p:nvSpPr>
        <p:spPr>
          <a:xfrm>
            <a:off x="3387075" y="5961888"/>
            <a:ext cx="118872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31" name="Shape 29"/>
          <p:cNvSpPr/>
          <p:nvPr/>
        </p:nvSpPr>
        <p:spPr>
          <a:xfrm>
            <a:off x="4828270" y="5193792"/>
            <a:ext cx="1102529" cy="457200"/>
          </a:xfrm>
          <a:prstGeom prst="rect">
            <a:avLst/>
          </a:prstGeom>
          <a:solidFill>
            <a:srgbClr val="A1A9D9"/>
          </a:solidFill>
          <a:ln/>
        </p:spPr>
      </p:sp>
      <p:sp>
        <p:nvSpPr>
          <p:cNvPr id="32" name="Text 30"/>
          <p:cNvSpPr/>
          <p:nvPr/>
        </p:nvSpPr>
        <p:spPr>
          <a:xfrm>
            <a:off x="4828270" y="5193792"/>
            <a:ext cx="1102529" cy="45720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33" name="Text 31"/>
          <p:cNvSpPr/>
          <p:nvPr/>
        </p:nvSpPr>
        <p:spPr>
          <a:xfrm>
            <a:off x="4785174" y="5687568"/>
            <a:ext cx="118872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34" name="Shape 32"/>
          <p:cNvSpPr/>
          <p:nvPr/>
        </p:nvSpPr>
        <p:spPr>
          <a:xfrm>
            <a:off x="5949086" y="5193792"/>
            <a:ext cx="792236" cy="457200"/>
          </a:xfrm>
          <a:prstGeom prst="rect">
            <a:avLst/>
          </a:prstGeom>
          <a:solidFill>
            <a:srgbClr val="D1D5DB"/>
          </a:solidFill>
          <a:ln/>
        </p:spPr>
      </p:sp>
      <p:sp>
        <p:nvSpPr>
          <p:cNvPr id="35" name="Text 33"/>
          <p:cNvSpPr/>
          <p:nvPr/>
        </p:nvSpPr>
        <p:spPr>
          <a:xfrm>
            <a:off x="5949086" y="5193792"/>
            <a:ext cx="792236" cy="45720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36" name="Text 34"/>
          <p:cNvSpPr/>
          <p:nvPr/>
        </p:nvSpPr>
        <p:spPr>
          <a:xfrm>
            <a:off x="5750844" y="5961888"/>
            <a:ext cx="118872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37" name="Shape 35"/>
          <p:cNvSpPr/>
          <p:nvPr/>
        </p:nvSpPr>
        <p:spPr>
          <a:xfrm>
            <a:off x="6759611" y="5193792"/>
            <a:ext cx="528157" cy="457200"/>
          </a:xfrm>
          <a:prstGeom prst="rect">
            <a:avLst/>
          </a:prstGeom>
          <a:solidFill>
            <a:srgbClr val="E5E7EB"/>
          </a:solidFill>
          <a:ln/>
        </p:spPr>
      </p:sp>
      <p:sp>
        <p:nvSpPr>
          <p:cNvPr id="38" name="Text 36"/>
          <p:cNvSpPr/>
          <p:nvPr/>
        </p:nvSpPr>
        <p:spPr>
          <a:xfrm>
            <a:off x="6759611" y="5193792"/>
            <a:ext cx="528157" cy="45720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
        <p:nvSpPr>
          <p:cNvPr id="39" name="Text 37"/>
          <p:cNvSpPr/>
          <p:nvPr/>
        </p:nvSpPr>
        <p:spPr>
          <a:xfrm>
            <a:off x="6053328" y="5687568"/>
            <a:ext cx="118872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40" name="Shape 38"/>
          <p:cNvSpPr/>
          <p:nvPr/>
        </p:nvSpPr>
        <p:spPr>
          <a:xfrm>
            <a:off x="7543800" y="1938528"/>
            <a:ext cx="4041648" cy="1298448"/>
          </a:xfrm>
          <a:prstGeom prst="roundRect">
            <a:avLst>
              <a:gd name="adj" fmla="val 5634"/>
            </a:avLst>
          </a:prstGeom>
          <a:solidFill>
            <a:srgbClr val="F4F6FB"/>
          </a:solidFill>
          <a:ln/>
        </p:spPr>
      </p:sp>
      <p:sp>
        <p:nvSpPr>
          <p:cNvPr id="41" name="Text 39"/>
          <p:cNvSpPr/>
          <p:nvPr/>
        </p:nvSpPr>
        <p:spPr>
          <a:xfrm>
            <a:off x="7744968" y="2084832"/>
            <a:ext cx="3639312"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SK하이닉스 — 방향 유지</a:t>
            </a:r>
            <a:endParaRPr lang="en-US" sz="2000" dirty="0"/>
          </a:p>
        </p:txBody>
      </p:sp>
      <p:sp>
        <p:nvSpPr>
          <p:cNvPr id="42" name="Text 40"/>
          <p:cNvSpPr/>
          <p:nvPr/>
        </p:nvSpPr>
        <p:spPr>
          <a:xfrm>
            <a:off x="7744968" y="2414016"/>
            <a:ext cx="3639312" cy="694944"/>
          </a:xfrm>
          <a:prstGeom prst="rect">
            <a:avLst/>
          </a:prstGeom>
          <a:noFill/>
          <a:ln/>
        </p:spPr>
        <p:txBody>
          <a:bodyPr wrap="square" lIns="0" tIns="0" rIns="0" bIns="0" rtlCol="0" anchor="t"/>
          <a:lstStyle/>
          <a:p>
            <a:pPr algn="l" indent="0" marL="0">
              <a:lnSpc>
                <a:spcPct val="120000"/>
              </a:lnSpc>
              <a:buNone/>
            </a:pPr>
            <a:r>
              <a:rPr lang="en-US" sz="2000" dirty="0">
                <a:solidFill>
                  <a:srgbClr val="333333"/>
                </a:solidFill>
                <a:latin typeface="맑은 고딕" pitchFamily="34" charset="0"/>
                <a:ea typeface="맑은 고딕" pitchFamily="34" charset="-122"/>
                <a:cs typeface="맑은 고딕" pitchFamily="34" charset="-120"/>
              </a:rPr>
              <a:t>적자에도 HBM · 공동설계 집중</a:t>
            </a:r>
            <a:endParaRPr lang="en-US" sz="2000" dirty="0"/>
          </a:p>
          <a:p>
            <a:pPr algn="l" indent="0" marL="0">
              <a:lnSpc>
                <a:spcPct val="120000"/>
              </a:lnSpc>
              <a:buNone/>
            </a:pPr>
            <a:r>
              <a:rPr lang="en-US" sz="2000" dirty="0">
                <a:solidFill>
                  <a:srgbClr val="333333"/>
                </a:solidFill>
                <a:latin typeface="맑은 고딕" pitchFamily="34" charset="0"/>
                <a:ea typeface="맑은 고딕" pitchFamily="34" charset="-122"/>
                <a:cs typeface="맑은 고딕" pitchFamily="34" charset="-120"/>
              </a:rPr>
              <a:t>영업이익 47.2조 — 전사 초과</a:t>
            </a:r>
            <a:endParaRPr lang="en-US" sz="2000" dirty="0"/>
          </a:p>
        </p:txBody>
      </p:sp>
      <p:sp>
        <p:nvSpPr>
          <p:cNvPr id="43" name="Shape 41"/>
          <p:cNvSpPr/>
          <p:nvPr/>
        </p:nvSpPr>
        <p:spPr>
          <a:xfrm>
            <a:off x="7543800" y="3438144"/>
            <a:ext cx="4041648" cy="1298448"/>
          </a:xfrm>
          <a:prstGeom prst="roundRect">
            <a:avLst>
              <a:gd name="adj" fmla="val 5634"/>
            </a:avLst>
          </a:prstGeom>
          <a:solidFill>
            <a:srgbClr val="F4F6FB"/>
          </a:solidFill>
          <a:ln/>
        </p:spPr>
      </p:sp>
      <p:sp>
        <p:nvSpPr>
          <p:cNvPr id="44" name="Text 42"/>
          <p:cNvSpPr/>
          <p:nvPr/>
        </p:nvSpPr>
        <p:spPr>
          <a:xfrm>
            <a:off x="7744968" y="3584448"/>
            <a:ext cx="3639312"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45" name="Text 43"/>
          <p:cNvSpPr/>
          <p:nvPr/>
        </p:nvSpPr>
        <p:spPr>
          <a:xfrm>
            <a:off x="7744968" y="3913632"/>
            <a:ext cx="3639312" cy="694944"/>
          </a:xfrm>
          <a:prstGeom prst="rect">
            <a:avLst/>
          </a:prstGeom>
          <a:noFill/>
          <a:ln/>
        </p:spPr>
        <p:txBody>
          <a:bodyPr wrap="square" lIns="0" tIns="0" rIns="0" bIns="0" rtlCol="0" anchor="t"/>
          <a:lstStyle/>
          <a:p>
            <a:pPr algn="l" indent="0" marL="0">
              <a:lnSpc>
                <a:spcPct val="120000"/>
              </a:lnSpc>
              <a:buNone/>
            </a:pPr>
            <a:r>
              <a:rPr lang="en-US" sz="2000" dirty="0">
                <a:solidFill>
                  <a:srgbClr val="333333"/>
                </a:solidFill>
                <a:latin typeface="맑은 고딕" pitchFamily="34" charset="0"/>
                <a:ea typeface="맑은 고딕" pitchFamily="34" charset="-122"/>
                <a:cs typeface="맑은 고딕" pitchFamily="34" charset="-120"/>
              </a:rPr>
              <a:t>SCA 16건 · $1,000억 선확약</a:t>
            </a:r>
            <a:endParaRPr lang="en-US" sz="2000" dirty="0"/>
          </a:p>
          <a:p>
            <a:pPr algn="l" indent="0" marL="0">
              <a:lnSpc>
                <a:spcPct val="120000"/>
              </a:lnSpc>
              <a:buNone/>
            </a:pPr>
            <a:r>
              <a:rPr lang="en-US" sz="2000" dirty="0">
                <a:solidFill>
                  <a:srgbClr val="333333"/>
                </a:solidFill>
                <a:latin typeface="맑은 고딕" pitchFamily="34" charset="0"/>
                <a:ea typeface="맑은 고딕" pitchFamily="34" charset="-122"/>
                <a:cs typeface="맑은 고딕" pitchFamily="34" charset="-120"/>
              </a:rPr>
              <a:t>수요 확약 뒤 팹 — 순서 역전</a:t>
            </a:r>
            <a:endParaRPr lang="en-US" sz="2000" dirty="0"/>
          </a:p>
        </p:txBody>
      </p:sp>
      <p:sp>
        <p:nvSpPr>
          <p:cNvPr id="46" name="Shape 44"/>
          <p:cNvSpPr/>
          <p:nvPr/>
        </p:nvSpPr>
        <p:spPr>
          <a:xfrm>
            <a:off x="7543800" y="4937760"/>
            <a:ext cx="4041648" cy="1298448"/>
          </a:xfrm>
          <a:prstGeom prst="roundRect">
            <a:avLst>
              <a:gd name="adj" fmla="val 5634"/>
            </a:avLst>
          </a:prstGeom>
          <a:solidFill>
            <a:srgbClr val="F4F6FB"/>
          </a:solidFill>
          <a:ln/>
        </p:spPr>
      </p:sp>
      <p:sp>
        <p:nvSpPr>
          <p:cNvPr id="47" name="Text 45"/>
          <p:cNvSpPr/>
          <p:nvPr/>
        </p:nvSpPr>
        <p:spPr>
          <a:xfrm>
            <a:off x="7744968" y="5084064"/>
            <a:ext cx="3639312"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48" name="Text 46"/>
          <p:cNvSpPr/>
          <p:nvPr/>
        </p:nvSpPr>
        <p:spPr>
          <a:xfrm>
            <a:off x="7744968" y="5413248"/>
            <a:ext cx="3639312" cy="694944"/>
          </a:xfrm>
          <a:prstGeom prst="rect">
            <a:avLst/>
          </a:prstGeom>
          <a:noFill/>
          <a:ln/>
        </p:spPr>
        <p:txBody>
          <a:bodyPr wrap="square" lIns="0" tIns="0" rIns="0" bIns="0" rtlCol="0" anchor="t"/>
          <a:lstStyle/>
          <a:p>
            <a:pPr algn="l" indent="0" marL="0">
              <a:lnSpc>
                <a:spcPct val="120000"/>
              </a:lnSpc>
              <a:buNone/>
            </a:pPr>
            <a:r>
              <a:rPr lang="en-US" sz="2000" dirty="0">
                <a:solidFill>
                  <a:srgbClr val="333333"/>
                </a:solidFill>
                <a:latin typeface="맑은 고딕" pitchFamily="34" charset="0"/>
                <a:ea typeface="맑은 고딕" pitchFamily="34" charset="-122"/>
                <a:cs typeface="맑은 고딕" pitchFamily="34" charset="-120"/>
              </a:rPr>
              <a:t>캐파 경쟁 대신 아키텍처 선행</a:t>
            </a:r>
            <a:endParaRPr lang="en-US" sz="2000" dirty="0"/>
          </a:p>
          <a:p>
            <a:pPr algn="l" indent="0" marL="0">
              <a:lnSpc>
                <a:spcPct val="120000"/>
              </a:lnSpc>
              <a:buNone/>
            </a:pPr>
            <a:r>
              <a:rPr lang="en-US" sz="2000" dirty="0">
                <a:solidFill>
                  <a:srgbClr val="333333"/>
                </a:solidFill>
                <a:latin typeface="맑은 고딕" pitchFamily="34" charset="0"/>
                <a:ea typeface="맑은 고딕" pitchFamily="34" charset="-122"/>
                <a:cs typeface="맑은 고딕" pitchFamily="34" charset="-120"/>
              </a:rPr>
              <a:t>체력 열위의 생존 공식 전환</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10</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78024"/>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79192"/>
            <a:ext cx="283464" cy="0"/>
          </a:xfrm>
          <a:prstGeom prst="line">
            <a:avLst/>
          </a:prstGeom>
          <a:noFill/>
          <a:ln w="19050">
            <a:solidFill>
              <a:srgbClr val="C00000"/>
            </a:solidFill>
            <a:prstDash val="dash"/>
            <a:tailEnd type="none"/>
          </a:ln>
        </p:spPr>
      </p:sp>
      <p:sp>
        <p:nvSpPr>
          <p:cNvPr id="18" name="Shape 16"/>
          <p:cNvSpPr/>
          <p:nvPr/>
        </p:nvSpPr>
        <p:spPr>
          <a:xfrm>
            <a:off x="7178040" y="2121408"/>
            <a:ext cx="4407408" cy="1115568"/>
          </a:xfrm>
          <a:prstGeom prst="roundRect">
            <a:avLst>
              <a:gd name="adj" fmla="val 6557"/>
            </a:avLst>
          </a:prstGeom>
          <a:solidFill>
            <a:srgbClr val="FFFFFF"/>
          </a:solidFill>
          <a:ln w="12700">
            <a:solidFill>
              <a:srgbClr val="E5E7EB"/>
            </a:solidFill>
            <a:prstDash val="solid"/>
          </a:ln>
        </p:spPr>
      </p:sp>
      <p:sp>
        <p:nvSpPr>
          <p:cNvPr id="19" name="Text 17"/>
          <p:cNvSpPr/>
          <p:nvPr/>
        </p:nvSpPr>
        <p:spPr>
          <a:xfrm>
            <a:off x="7379208" y="2249424"/>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60320"/>
            <a:ext cx="4023360"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941064"/>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4142232"/>
            <a:ext cx="283464" cy="0"/>
          </a:xfrm>
          <a:prstGeom prst="line">
            <a:avLst/>
          </a:prstGeom>
          <a:noFill/>
          <a:ln w="19050">
            <a:solidFill>
              <a:srgbClr val="C00000"/>
            </a:solidFill>
            <a:prstDash val="dash"/>
            <a:tailEnd type="none"/>
          </a:ln>
        </p:spPr>
      </p:sp>
      <p:sp>
        <p:nvSpPr>
          <p:cNvPr id="23" name="Shape 21"/>
          <p:cNvSpPr/>
          <p:nvPr/>
        </p:nvSpPr>
        <p:spPr>
          <a:xfrm>
            <a:off x="7178040" y="3584448"/>
            <a:ext cx="4407408" cy="1115568"/>
          </a:xfrm>
          <a:prstGeom prst="roundRect">
            <a:avLst>
              <a:gd name="adj" fmla="val 6557"/>
            </a:avLst>
          </a:prstGeom>
          <a:solidFill>
            <a:srgbClr val="FFFFFF"/>
          </a:solidFill>
          <a:ln w="12700">
            <a:solidFill>
              <a:srgbClr val="E5E7EB"/>
            </a:solidFill>
            <a:prstDash val="solid"/>
          </a:ln>
        </p:spPr>
      </p:sp>
      <p:sp>
        <p:nvSpPr>
          <p:cNvPr id="24" name="Text 22"/>
          <p:cNvSpPr/>
          <p:nvPr/>
        </p:nvSpPr>
        <p:spPr>
          <a:xfrm>
            <a:off x="7379208" y="3712464"/>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4023360"/>
            <a:ext cx="4023360"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491947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120640"/>
            <a:ext cx="283464" cy="484632"/>
          </a:xfrm>
          <a:prstGeom prst="line">
            <a:avLst/>
          </a:prstGeom>
          <a:noFill/>
          <a:ln w="19050">
            <a:solidFill>
              <a:srgbClr val="C00000"/>
            </a:solidFill>
            <a:prstDash val="dash"/>
            <a:tailEnd type="none"/>
          </a:ln>
        </p:spPr>
      </p:sp>
      <p:sp>
        <p:nvSpPr>
          <p:cNvPr id="28" name="Shape 26"/>
          <p:cNvSpPr/>
          <p:nvPr/>
        </p:nvSpPr>
        <p:spPr>
          <a:xfrm>
            <a:off x="7178040" y="5047488"/>
            <a:ext cx="4407408" cy="1115568"/>
          </a:xfrm>
          <a:prstGeom prst="roundRect">
            <a:avLst>
              <a:gd name="adj" fmla="val 6557"/>
            </a:avLst>
          </a:prstGeom>
          <a:solidFill>
            <a:srgbClr val="FFFFFF"/>
          </a:solidFill>
          <a:ln w="12700">
            <a:solidFill>
              <a:srgbClr val="E5E7EB"/>
            </a:solidFill>
            <a:prstDash val="solid"/>
          </a:ln>
        </p:spPr>
      </p:sp>
      <p:sp>
        <p:nvSpPr>
          <p:cNvPr id="29" name="Text 27"/>
          <p:cNvSpPr/>
          <p:nvPr/>
        </p:nvSpPr>
        <p:spPr>
          <a:xfrm>
            <a:off x="7379208" y="5175504"/>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486400"/>
            <a:ext cx="4023360"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10 / 10</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2026-08-11T21:40:40Z</dcterms:created>
  <dcterms:modified xsi:type="dcterms:W3CDTF">2026-08-11T21:40:40Z</dcterms:modified>
</cp:coreProperties>
</file>