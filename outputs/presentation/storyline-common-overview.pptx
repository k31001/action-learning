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행=삼성의 액션(M), 열=그 다운턴의 맥락(C), 셀=결과(O). 무감산 버티기는 6강 대칭·전원 이윤극대화라는 C에서만 완전 발화했다 — 키몬다 누적손실 30억 달러·2009년 1월 파산, 퇴출 직후 현물가 급등으로 과점 구조가 실증됐다. 다만 같은 액션은 C-c(현물가·수요 절벽)에서는 부분 발화(△)에 그쳐 2008년 4분기 전사 사상 첫 분기 적자 -0.94조를 냈다 — 체력 격차가 손실률 격차(-14% vs -40% 이하)로 전환되는 것이 소모전의 작동 형태다. 채움률 8/20 = 40%, "—"는 M×C 상호작용이 무의미한 칸. 반사실 한계: 대조군은 존재하지 않으며 판정은 동시대 경쟁사 대조로 보완한 정합성 판단이다.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2차는 소모전 위에 기술 전환이 겹친 게임이었다. 같은 심판대에서 삼성은 30nm급(2010-07)·20nm급(2011-09) 세계 최초 연속과 LPDDR3 선행으로 통과했고, 엘피다는 PC→모바일 전환 대응 실패가 파산 요인으로 명시되며 탈락했다(부채 4,480억 엔, 전후 일본 제조업 최대). Line-16은 2010년 5월 착공·2011년 9월 가동, 총 12조로 당시 세계 최대 메모리 팹이다. 주목할 △는 엘피다 입찰 불참 — 저가 매수 창이 열렸으나 배분을 불행사했고, 인수한 마이크론이 모바일 DRAM 스케일과 다사이트 중앙 운영 체계를 얻었다. 퇴출자는 사라지는 것이 아니라 인수자의 체급이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3차는 1차의 승리 공식을 복제했으나 C가 이동해 있었다. 무감산 선언(2022-10-27)→재확인(2023-01-31)→감산 공식화(2023-04-07)의 궤적에서 퇴출자는 0이었고, Q1 2023 전사 영업이익 0.6조(-96%)·DS부문 -4.58조 사상 최대 부문 적자 끝에 삼성 스스로 철회했다. 반면 재무 요새 위의 역사이클 투자는 발화했다 — 사상 최대 적자 연도에 CapEx 53.1조·R&amp;D 28.34조 동시 사상 최대는 3강 중 삼성 단독이다(SK하이닉스는 적자 7.7조 속 CapEx 약 10조로 절감). A6의 반면교사: 2019년 HBM팀 축소라는 과거의 M이 2022년에는 C(출발 위치)로 전환돼 있었다 — 한 다운턴의 M이 다음 다운턴의 C가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섹션 도입. 원문 §4의 2차 방어 골격(제품: 램프업 속도와 수율 / 투자: "투자 셰어 &lt; 빗 셰어 &lt; 프로핏 셰어"의 순서를 지키는 규율 / 오퍼레이션) 세 축을 놓는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종합반도체는 제품 포트폴리오만이 아니라 양산 체제가 종합반도체여야 한다. 문제는 판가가 아니라 감가다: 2023년 DS 감가 29.4조가 2028E 44.5조·2029E 45.9조로 오면서 손익 붕괴선이 매출 66.6조에서 104조로 1.5배 올라간다. 같은 폭의 가격 붕괴가 오면 적자는 -14.88조에서 약 -31조로 깊어진다(반사실 추정, 밴드 -28~-35조). 지금 CAPEX를 급제동해도 최소 +13조는 이미 확정 — 파고는 이미 출발했다. 그러나 같은 곡선의 뒷면에서 2028년 말까지 취득원가 196조(메모리 귀속 108~137조)의 설비가 감가를 마친다. 위기와 기회를 가르는 것은 하나 — 그 설비로 무엇을 만들 수 있는가. 세 축은 서로 직교한다(시간축·제품축·설비 세대축). 경계: 선단 리더십은 불변이며 1c nm·HBM4E·EUV 목표는 조정하지 않는다. 값: 전환 본체를 6→3개월로 줄이면 전환 1회당 약 1조·다운턴 1회당 2~3조, N-1 라인의 비트당 원가 우위는 다운턴 25~35%(호황 11~21%). 네 실행 영역(설계 규범·설비 구매 사양·교차 퀄 상시화·투자 거버넌스) 어디에도 증액 요구가 없다 — 예산이 아니라 규범과 문서 양식의 변경이다. 첫 실행 항목은 목표치가 아니라 측정: 지금 우리 팹의 전환 가능 캐파 비율을 아무도 답할 수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 모두 메모리 사업부 단독 결정 범위를 넘으므로 옵션으로만 제시한다. ① 파운드리 접점 — HBM4 베이스다이가 이미 로직 팹의 산출물이고 평택 P4의 파운드리 예정 구역이 1c DRAM으로 돌려진 이상, 두 사업부의 설비 사양 표준을 한 문서에서 관리하면 전환 가능한 면이 넓어진다. ② 이미지센서 — 화성 11·13라인 DRAM→CIS 전환에서 공정의 약 80%가 동일했고 리소·CVD·식각·테스트 장비를 그대로 썼지만, 스텝 수가 늘어 전환 후 캐파가 절반(월 10만 → 약 5만 장)으로 줄었고 비용은 최소 1조였다. 그래도 신규 라인 신설보다는 훨씬 적었다 — 공용성은 산출량이 아니라 자본지출을 지킨다. ③ 감가 완료 설비의 두 번째 수명 — 2차 시장의 본질이 검사·등급화·잔존수명 예측·보증이라는 위키 판정은 칩과 모듈 대상이고, 장비로의 확장은 아직 제안 단계다. 구조적 자산에 대한 단서: 10nm 이하 로직을 양산할 수 있는 세 회사 중 메모리도 만드는 곳은 삼성뿐이나, 자사 4nm 베이스다이 노선이 경쟁사의 TSMC 12nm 대비 고비용이라는 외부 평가가 있다 — 단기 원가와 장기 구조의 의식적 교환이다.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18</a:t>
            </a:r>
            <a:endParaRPr lang="en-US" sz="2000" dirty="0"/>
          </a:p>
        </p:txBody>
      </p:sp>
      <p:sp>
        <p:nvSpPr>
          <p:cNvPr id="6" name="Shape 4"/>
          <p:cNvSpPr/>
          <p:nvPr/>
        </p:nvSpPr>
        <p:spPr>
          <a:xfrm>
            <a:off x="612648" y="2157984"/>
            <a:ext cx="2414016" cy="2468880"/>
          </a:xfrm>
          <a:prstGeom prst="roundRect">
            <a:avLst>
              <a:gd name="adj" fmla="val 3030"/>
            </a:avLst>
          </a:prstGeom>
          <a:solidFill>
            <a:srgbClr val="F4F6FB"/>
          </a:solidFill>
          <a:ln/>
        </p:spPr>
      </p:sp>
      <p:sp>
        <p:nvSpPr>
          <p:cNvPr id="7" name="Text 5"/>
          <p:cNvSpPr/>
          <p:nvPr/>
        </p:nvSpPr>
        <p:spPr>
          <a:xfrm>
            <a:off x="841248"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157984"/>
            <a:ext cx="2414016" cy="2468880"/>
          </a:xfrm>
          <a:prstGeom prst="roundRect">
            <a:avLst>
              <a:gd name="adj" fmla="val 3030"/>
            </a:avLst>
          </a:prstGeom>
          <a:solidFill>
            <a:srgbClr val="F4F6FB"/>
          </a:solidFill>
          <a:ln/>
        </p:spPr>
      </p:sp>
      <p:sp>
        <p:nvSpPr>
          <p:cNvPr id="12" name="Text 10"/>
          <p:cNvSpPr/>
          <p:nvPr/>
        </p:nvSpPr>
        <p:spPr>
          <a:xfrm>
            <a:off x="3694176"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3+1 다운턴</a:t>
            </a:r>
            <a:endParaRPr lang="en-US" sz="2000" dirty="0"/>
          </a:p>
        </p:txBody>
      </p:sp>
      <p:sp>
        <p:nvSpPr>
          <p:cNvPr id="15" name="Text 13"/>
          <p:cNvSpPr/>
          <p:nvPr/>
        </p:nvSpPr>
        <p:spPr>
          <a:xfrm>
            <a:off x="3694176"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S9</a:t>
            </a:r>
            <a:endParaRPr lang="en-US" sz="2000" dirty="0"/>
          </a:p>
        </p:txBody>
      </p:sp>
      <p:sp>
        <p:nvSpPr>
          <p:cNvPr id="16" name="Shape 14"/>
          <p:cNvSpPr/>
          <p:nvPr/>
        </p:nvSpPr>
        <p:spPr>
          <a:xfrm>
            <a:off x="6318504" y="2157984"/>
            <a:ext cx="2414016" cy="2468880"/>
          </a:xfrm>
          <a:prstGeom prst="roundRect">
            <a:avLst>
              <a:gd name="adj" fmla="val 3030"/>
            </a:avLst>
          </a:prstGeom>
          <a:solidFill>
            <a:srgbClr val="F4F6FB"/>
          </a:solidFill>
          <a:ln/>
        </p:spPr>
      </p:sp>
      <p:sp>
        <p:nvSpPr>
          <p:cNvPr id="17" name="Text 15"/>
          <p:cNvSpPr/>
          <p:nvPr/>
        </p:nvSpPr>
        <p:spPr>
          <a:xfrm>
            <a:off x="6547104"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S10 – S11</a:t>
            </a:r>
            <a:endParaRPr lang="en-US" sz="2000" dirty="0"/>
          </a:p>
        </p:txBody>
      </p:sp>
      <p:sp>
        <p:nvSpPr>
          <p:cNvPr id="21" name="Shape 19"/>
          <p:cNvSpPr/>
          <p:nvPr/>
        </p:nvSpPr>
        <p:spPr>
          <a:xfrm>
            <a:off x="9171432" y="2157984"/>
            <a:ext cx="2414016" cy="2468880"/>
          </a:xfrm>
          <a:prstGeom prst="roundRect">
            <a:avLst>
              <a:gd name="adj" fmla="val 3030"/>
            </a:avLst>
          </a:prstGeom>
          <a:solidFill>
            <a:srgbClr val="0A1854"/>
          </a:solidFill>
          <a:ln/>
        </p:spPr>
      </p:sp>
      <p:sp>
        <p:nvSpPr>
          <p:cNvPr id="22" name="Text 20"/>
          <p:cNvSpPr/>
          <p:nvPr/>
        </p:nvSpPr>
        <p:spPr>
          <a:xfrm>
            <a:off x="9400032" y="2377440"/>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206240"/>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S12 – S13</a:t>
            </a:r>
            <a:endParaRPr lang="en-US" sz="2000" dirty="0"/>
          </a:p>
        </p:txBody>
      </p:sp>
      <p:sp>
        <p:nvSpPr>
          <p:cNvPr id="26" name="Shape 24"/>
          <p:cNvSpPr/>
          <p:nvPr/>
        </p:nvSpPr>
        <p:spPr>
          <a:xfrm>
            <a:off x="3026664" y="3346704"/>
            <a:ext cx="438912" cy="0"/>
          </a:xfrm>
          <a:prstGeom prst="line">
            <a:avLst/>
          </a:prstGeom>
          <a:noFill/>
          <a:ln w="25400">
            <a:solidFill>
              <a:srgbClr val="A1A9D9"/>
            </a:solidFill>
            <a:prstDash val="solid"/>
            <a:tailEnd type="arrow"/>
          </a:ln>
        </p:spPr>
      </p:sp>
      <p:sp>
        <p:nvSpPr>
          <p:cNvPr id="27" name="Shape 25"/>
          <p:cNvSpPr/>
          <p:nvPr/>
        </p:nvSpPr>
        <p:spPr>
          <a:xfrm>
            <a:off x="5879592" y="3346704"/>
            <a:ext cx="438912" cy="0"/>
          </a:xfrm>
          <a:prstGeom prst="line">
            <a:avLst/>
          </a:prstGeom>
          <a:noFill/>
          <a:ln w="25400">
            <a:solidFill>
              <a:srgbClr val="A1A9D9"/>
            </a:solidFill>
            <a:prstDash val="solid"/>
            <a:tailEnd type="arrow"/>
          </a:ln>
        </p:spPr>
      </p:sp>
      <p:sp>
        <p:nvSpPr>
          <p:cNvPr id="28" name="Shape 26"/>
          <p:cNvSpPr/>
          <p:nvPr/>
        </p:nvSpPr>
        <p:spPr>
          <a:xfrm>
            <a:off x="8732520" y="3346704"/>
            <a:ext cx="438912" cy="0"/>
          </a:xfrm>
          <a:prstGeom prst="line">
            <a:avLst/>
          </a:prstGeom>
          <a:noFill/>
          <a:ln w="25400">
            <a:solidFill>
              <a:srgbClr val="A1A9D9"/>
            </a:solidFill>
            <a:prstDash val="solid"/>
            <a:tailEnd type="arrow"/>
          </a:ln>
        </p:spPr>
      </p:sp>
      <p:sp>
        <p:nvSpPr>
          <p:cNvPr id="29" name="Shape 27"/>
          <p:cNvSpPr/>
          <p:nvPr/>
        </p:nvSpPr>
        <p:spPr>
          <a:xfrm>
            <a:off x="10378440" y="4626864"/>
            <a:ext cx="0" cy="475488"/>
          </a:xfrm>
          <a:prstGeom prst="line">
            <a:avLst/>
          </a:prstGeom>
          <a:noFill/>
          <a:ln w="25400">
            <a:solidFill>
              <a:srgbClr val="A1A9D9"/>
            </a:solidFill>
            <a:prstDash val="solid"/>
            <a:tailEnd type="arrow"/>
          </a:ln>
        </p:spPr>
      </p:sp>
      <p:sp>
        <p:nvSpPr>
          <p:cNvPr id="30" name="Shape 28"/>
          <p:cNvSpPr/>
          <p:nvPr/>
        </p:nvSpPr>
        <p:spPr>
          <a:xfrm>
            <a:off x="5641848" y="5102352"/>
            <a:ext cx="59436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5641848" y="5102352"/>
            <a:ext cx="59436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2차 저지선 상세 — S14 ~ S17</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18</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18</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18</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CMO-1 · 1차 치킨게임 2007~09</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소모전이 통한 이유는 실력이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6강 대칭이라는 맥락</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18</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6강 대칭 구조</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캐파·원가 = 점유율</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현물가 · 가격 붕괴</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재무·원가 리더</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무감산 버티기</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체력 열위 퇴출</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6강 대칭</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키몬다 파산 09.01 → 퇴출 직후 현물가 급등</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40nm 공정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원가 격차 확대</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50nm급 대비 생산성 +60% · 전력 −30%</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A1 · 조직 통합</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위기를 재편의 창으로</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수요 충격</a:t>
            </a:r>
            <a:endParaRPr lang="en-US" sz="2000" dirty="0"/>
          </a:p>
        </p:txBody>
      </p:sp>
      <p:sp>
        <p:nvSpPr>
          <p:cNvPr id="45" name="Shape 43"/>
          <p:cNvSpPr/>
          <p:nvPr/>
        </p:nvSpPr>
        <p:spPr>
          <a:xfrm>
            <a:off x="6364224" y="4535424"/>
            <a:ext cx="658368" cy="384048"/>
          </a:xfrm>
          <a:prstGeom prst="roundRect">
            <a:avLst>
              <a:gd name="adj" fmla="val 50000"/>
            </a:avLst>
          </a:prstGeom>
          <a:solidFill>
            <a:srgbClr val="E3E7F5"/>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이듬해 매출 136.3조 · 영업이익 10.9조</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SanDisk 인수 시도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다운턴 저가 매수</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자산가 붕괴</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철회 — 인수 불발, 가격 규율만 관측</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A2 · 역사이클 증설</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회복기 점유 흡수</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캐파=점유율</a:t>
            </a:r>
            <a:endParaRPr lang="en-US" sz="2000" dirty="0"/>
          </a:p>
        </p:txBody>
      </p:sp>
      <p:sp>
        <p:nvSpPr>
          <p:cNvPr id="61" name="Shape 59"/>
          <p:cNvSpPr/>
          <p:nvPr/>
        </p:nvSpPr>
        <p:spPr>
          <a:xfrm>
            <a:off x="6364224" y="5742432"/>
            <a:ext cx="658368" cy="384048"/>
          </a:xfrm>
          <a:prstGeom prst="roundRect">
            <a:avLst>
              <a:gd name="adj" fmla="val 50000"/>
            </a:avLst>
          </a:prstGeom>
          <a:solidFill>
            <a:srgbClr val="E3E7F5"/>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2010 시설투자 21.6조 → 회복기 점유 흡수</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CMO-2 · 2차 치킨게임 2010~13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심판대는 캐파가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기술 전환</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18</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엘피다 체력 열위</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전환 성패 = 퇴출</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1차전 승자 · 현금</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Line-16 역사이클</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역사이클 캐파 선점</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12조 투입 · 20nm급 DDR3 동시 양산</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공정·모바일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전환 심판대 선점</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전환 성패</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30→20nm 세계 최초 — 엘피다는 탈락</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포트폴리오 재배분</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수요 전환 추종</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PC→모바일</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Austin $4B 전환 — 점유 효과는 미확인</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HDD 사업 매각</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비핵심 경량화</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모바일 전환</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$1.375B 회수 — 메모리 점유엔 간접</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입찰 불참</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저가 매수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체력 열위</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마이크론이 인수 — 스케일 점프 허용</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CMO-3 · 다운사이클 2022~23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메커니즘은 복제됐지만,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맥락이 이동한 곳에서 결과는 재생되지 않았다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18</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3강 · 퇴출 후보 0</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vs 인증 이원화</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수요 절벽 · AI 전야</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$63B · HBM 후순위</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A5 · 무감산 선언</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퇴출 유도</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3강 과점</a:t>
            </a:r>
            <a:endParaRPr lang="en-US" sz="2000" dirty="0"/>
          </a:p>
        </p:txBody>
      </p:sp>
      <p:sp>
        <p:nvSpPr>
          <p:cNvPr id="29" name="Shape 27"/>
          <p:cNvSpPr/>
          <p:nvPr/>
        </p:nvSpPr>
        <p:spPr>
          <a:xfrm>
            <a:off x="6364224" y="3328416"/>
            <a:ext cx="658368" cy="384048"/>
          </a:xfrm>
          <a:prstGeom prst="roundRect">
            <a:avLst>
              <a:gd name="adj" fmla="val 50000"/>
            </a:avLst>
          </a:prstGeom>
          <a:solidFill>
            <a:srgbClr val="FAE7E8"/>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퇴출자 0 · DS −4.58조 → 23.04 자진 철회</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투자·R&amp;D 분리 집행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재무 요새 역사이클</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C-d 현금 요새</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CapEx 53.1조 · R&amp;D 28.34조 사상 최대</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A4 · Taylor 착공</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리드타임 소화</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다운사이클</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가동 2026~27 순연 · $17B → $37B+</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A6 · HBM 후순위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주력 우선 자원배분</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인증 게임</a:t>
            </a:r>
            <a:endParaRPr lang="en-US" sz="2000" dirty="0"/>
          </a:p>
        </p:txBody>
      </p:sp>
      <p:sp>
        <p:nvSpPr>
          <p:cNvPr id="53" name="Shape 51"/>
          <p:cNvSpPr/>
          <p:nvPr/>
        </p:nvSpPr>
        <p:spPr>
          <a:xfrm>
            <a:off x="6364224" y="5138928"/>
            <a:ext cx="658368" cy="384048"/>
          </a:xfrm>
          <a:prstGeom prst="roundRect">
            <a:avLst>
              <a:gd name="adj" fmla="val 50000"/>
            </a:avLst>
          </a:prstGeom>
          <a:solidFill>
            <a:srgbClr val="FAE7E8"/>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 40%→17% · 33년 만의 DRAM 역전</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조직 구조 무대응</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1차전형 재편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사상 최대 적자</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조직 재편 불발 — 2009 A1과 대칭 실패</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18</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10 / 18</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11 / 18</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234440" y="2919984"/>
            <a:ext cx="1874520" cy="455676"/>
          </a:xfrm>
          <a:prstGeom prst="line">
            <a:avLst/>
          </a:prstGeom>
          <a:noFill/>
          <a:ln w="38100">
            <a:solidFill>
              <a:srgbClr val="C00000"/>
            </a:solidFill>
            <a:prstDash val="solid"/>
          </a:ln>
        </p:spPr>
      </p:sp>
      <p:sp>
        <p:nvSpPr>
          <p:cNvPr id="9" name="Shape 7"/>
          <p:cNvSpPr/>
          <p:nvPr/>
        </p:nvSpPr>
        <p:spPr>
          <a:xfrm>
            <a:off x="1161288" y="2846832"/>
            <a:ext cx="146304" cy="146304"/>
          </a:xfrm>
          <a:prstGeom prst="ellipse">
            <a:avLst/>
          </a:prstGeom>
          <a:solidFill>
            <a:srgbClr val="C00000"/>
          </a:solidFill>
          <a:ln w="25400">
            <a:solidFill>
              <a:srgbClr val="FFFFFF"/>
            </a:solidFill>
            <a:prstDash val="solid"/>
          </a:ln>
        </p:spPr>
      </p:sp>
      <p:sp>
        <p:nvSpPr>
          <p:cNvPr id="10" name="Shape 8"/>
          <p:cNvSpPr/>
          <p:nvPr/>
        </p:nvSpPr>
        <p:spPr>
          <a:xfrm>
            <a:off x="3035808" y="3302508"/>
            <a:ext cx="146304" cy="146304"/>
          </a:xfrm>
          <a:prstGeom prst="ellipse">
            <a:avLst/>
          </a:prstGeom>
          <a:solidFill>
            <a:srgbClr val="C00000"/>
          </a:solidFill>
          <a:ln w="25400">
            <a:solidFill>
              <a:srgbClr val="FFFFFF"/>
            </a:solidFill>
            <a:prstDash val="solid"/>
          </a:ln>
        </p:spPr>
      </p:sp>
      <p:sp>
        <p:nvSpPr>
          <p:cNvPr id="11" name="Text 9"/>
          <p:cNvSpPr/>
          <p:nvPr/>
        </p:nvSpPr>
        <p:spPr>
          <a:xfrm>
            <a:off x="777240" y="2554224"/>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651760" y="2991612"/>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85800" y="3767328"/>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423160" y="3767328"/>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206240"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846320" y="2583180"/>
            <a:ext cx="777240" cy="1129284"/>
          </a:xfrm>
          <a:prstGeom prst="rect">
            <a:avLst/>
          </a:prstGeom>
          <a:solidFill>
            <a:srgbClr val="1428A0"/>
          </a:solidFill>
          <a:ln/>
        </p:spPr>
      </p:sp>
      <p:sp>
        <p:nvSpPr>
          <p:cNvPr id="17" name="Text 15"/>
          <p:cNvSpPr/>
          <p:nvPr/>
        </p:nvSpPr>
        <p:spPr>
          <a:xfrm>
            <a:off x="4572000" y="2290572"/>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43484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6263640" y="3276600"/>
            <a:ext cx="777240" cy="435864"/>
          </a:xfrm>
          <a:prstGeom prst="rect">
            <a:avLst/>
          </a:prstGeom>
          <a:solidFill>
            <a:srgbClr val="D1D5DB"/>
          </a:solidFill>
          <a:ln/>
        </p:spPr>
      </p:sp>
      <p:sp>
        <p:nvSpPr>
          <p:cNvPr id="20" name="Text 18"/>
          <p:cNvSpPr/>
          <p:nvPr/>
        </p:nvSpPr>
        <p:spPr>
          <a:xfrm>
            <a:off x="5989320" y="2983992"/>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85216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Shape 20"/>
          <p:cNvSpPr/>
          <p:nvPr/>
        </p:nvSpPr>
        <p:spPr>
          <a:xfrm>
            <a:off x="7680960" y="1938528"/>
            <a:ext cx="3904488" cy="1883664"/>
          </a:xfrm>
          <a:prstGeom prst="roundRect">
            <a:avLst>
              <a:gd name="adj" fmla="val 3883"/>
            </a:avLst>
          </a:prstGeom>
          <a:solidFill>
            <a:srgbClr val="F4F6FB"/>
          </a:solidFill>
          <a:ln/>
        </p:spPr>
      </p:sp>
      <p:sp>
        <p:nvSpPr>
          <p:cNvPr id="23" name="Text 21"/>
          <p:cNvSpPr/>
          <p:nvPr/>
        </p:nvSpPr>
        <p:spPr>
          <a:xfrm>
            <a:off x="7918704" y="2313432"/>
            <a:ext cx="3429000"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33년 만의 DRAM 1위 상실</a:t>
            </a:r>
            <a:endParaRPr lang="en-US" sz="2000" dirty="0"/>
          </a:p>
        </p:txBody>
      </p:sp>
      <p:sp>
        <p:nvSpPr>
          <p:cNvPr id="24" name="Text 22"/>
          <p:cNvSpPr/>
          <p:nvPr/>
        </p:nvSpPr>
        <p:spPr>
          <a:xfrm>
            <a:off x="7918704" y="2642616"/>
            <a:ext cx="3429000"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36% 대 34%</a:t>
            </a:r>
            <a:endParaRPr lang="en-US" sz="3200" dirty="0"/>
          </a:p>
        </p:txBody>
      </p:sp>
      <p:sp>
        <p:nvSpPr>
          <p:cNvPr id="25" name="Text 23"/>
          <p:cNvSpPr/>
          <p:nvPr/>
        </p:nvSpPr>
        <p:spPr>
          <a:xfrm>
            <a:off x="7918704" y="3154680"/>
            <a:ext cx="342900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2025년 1분기 · SK 대 삼성</a:t>
            </a:r>
            <a:endParaRPr lang="en-US" sz="2000" dirty="0"/>
          </a:p>
        </p:txBody>
      </p:sp>
      <p:sp>
        <p:nvSpPr>
          <p:cNvPr id="26" name="Shape 24"/>
          <p:cNvSpPr/>
          <p:nvPr/>
        </p:nvSpPr>
        <p:spPr>
          <a:xfrm>
            <a:off x="612648" y="4169664"/>
            <a:ext cx="3529584" cy="896112"/>
          </a:xfrm>
          <a:prstGeom prst="roundRect">
            <a:avLst>
              <a:gd name="adj" fmla="val 8163"/>
            </a:avLst>
          </a:prstGeom>
          <a:solidFill>
            <a:srgbClr val="F4F6FB"/>
          </a:solidFill>
          <a:ln/>
        </p:spPr>
      </p:sp>
      <p:sp>
        <p:nvSpPr>
          <p:cNvPr id="27" name="Text 25"/>
          <p:cNvSpPr/>
          <p:nvPr/>
        </p:nvSpPr>
        <p:spPr>
          <a:xfrm>
            <a:off x="813816"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SK하이닉스 · 방향 유지</a:t>
            </a:r>
            <a:endParaRPr lang="en-US" sz="2000" dirty="0"/>
          </a:p>
        </p:txBody>
      </p:sp>
      <p:sp>
        <p:nvSpPr>
          <p:cNvPr id="28" name="Text 26"/>
          <p:cNvSpPr/>
          <p:nvPr/>
        </p:nvSpPr>
        <p:spPr>
          <a:xfrm>
            <a:off x="813816"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OP 47.2조 — 전사 초과</a:t>
            </a:r>
            <a:endParaRPr lang="en-US" sz="2000" dirty="0"/>
          </a:p>
        </p:txBody>
      </p:sp>
      <p:sp>
        <p:nvSpPr>
          <p:cNvPr id="29" name="Shape 27"/>
          <p:cNvSpPr/>
          <p:nvPr/>
        </p:nvSpPr>
        <p:spPr>
          <a:xfrm>
            <a:off x="4334256" y="4169664"/>
            <a:ext cx="3529584" cy="896112"/>
          </a:xfrm>
          <a:prstGeom prst="roundRect">
            <a:avLst>
              <a:gd name="adj" fmla="val 8163"/>
            </a:avLst>
          </a:prstGeom>
          <a:solidFill>
            <a:srgbClr val="F4F6FB"/>
          </a:solidFill>
          <a:ln/>
        </p:spPr>
      </p:sp>
      <p:sp>
        <p:nvSpPr>
          <p:cNvPr id="30" name="Text 28"/>
          <p:cNvSpPr/>
          <p:nvPr/>
        </p:nvSpPr>
        <p:spPr>
          <a:xfrm>
            <a:off x="4535424"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31" name="Text 29"/>
          <p:cNvSpPr/>
          <p:nvPr/>
        </p:nvSpPr>
        <p:spPr>
          <a:xfrm>
            <a:off x="4535424"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SCA 16건 · $1,000억</a:t>
            </a:r>
            <a:endParaRPr lang="en-US" sz="2000" dirty="0"/>
          </a:p>
        </p:txBody>
      </p:sp>
      <p:sp>
        <p:nvSpPr>
          <p:cNvPr id="32" name="Shape 30"/>
          <p:cNvSpPr/>
          <p:nvPr/>
        </p:nvSpPr>
        <p:spPr>
          <a:xfrm>
            <a:off x="8055864" y="4169664"/>
            <a:ext cx="3529584" cy="896112"/>
          </a:xfrm>
          <a:prstGeom prst="roundRect">
            <a:avLst>
              <a:gd name="adj" fmla="val 8163"/>
            </a:avLst>
          </a:prstGeom>
          <a:solidFill>
            <a:srgbClr val="F4F6FB"/>
          </a:solidFill>
          <a:ln/>
        </p:spPr>
      </p:sp>
      <p:sp>
        <p:nvSpPr>
          <p:cNvPr id="33" name="Text 31"/>
          <p:cNvSpPr/>
          <p:nvPr/>
        </p:nvSpPr>
        <p:spPr>
          <a:xfrm>
            <a:off x="8257032"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34" name="Text 32"/>
          <p:cNvSpPr/>
          <p:nvPr/>
        </p:nvSpPr>
        <p:spPr>
          <a:xfrm>
            <a:off x="8257032"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대신 아키텍처</a:t>
            </a:r>
            <a:endParaRPr lang="en-US" sz="2000" dirty="0"/>
          </a:p>
        </p:txBody>
      </p:sp>
      <p:sp>
        <p:nvSpPr>
          <p:cNvPr id="35" name="Text 33"/>
          <p:cNvSpPr/>
          <p:nvPr/>
        </p:nvSpPr>
        <p:spPr>
          <a:xfrm>
            <a:off x="612648" y="5193792"/>
            <a:ext cx="109728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 — 5강 분산 · YMTC 5%→13%</a:t>
            </a:r>
            <a:endParaRPr lang="en-US" sz="2000" dirty="0"/>
          </a:p>
        </p:txBody>
      </p:sp>
      <p:sp>
        <p:nvSpPr>
          <p:cNvPr id="36" name="Text 34"/>
          <p:cNvSpPr/>
          <p:nvPr/>
        </p:nvSpPr>
        <p:spPr>
          <a:xfrm>
            <a:off x="2191561"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37" name="Shape 35"/>
          <p:cNvSpPr/>
          <p:nvPr/>
        </p:nvSpPr>
        <p:spPr>
          <a:xfrm>
            <a:off x="612648" y="5870448"/>
            <a:ext cx="4163666" cy="365760"/>
          </a:xfrm>
          <a:prstGeom prst="rect">
            <a:avLst/>
          </a:prstGeom>
          <a:solidFill>
            <a:srgbClr val="1428A0"/>
          </a:solidFill>
          <a:ln/>
        </p:spPr>
      </p:sp>
      <p:sp>
        <p:nvSpPr>
          <p:cNvPr id="38" name="Text 36"/>
          <p:cNvSpPr/>
          <p:nvPr/>
        </p:nvSpPr>
        <p:spPr>
          <a:xfrm>
            <a:off x="612648" y="5870448"/>
            <a:ext cx="4163666"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39" name="Text 37"/>
          <p:cNvSpPr/>
          <p:nvPr/>
        </p:nvSpPr>
        <p:spPr>
          <a:xfrm>
            <a:off x="5659587"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40" name="Shape 38"/>
          <p:cNvSpPr/>
          <p:nvPr/>
        </p:nvSpPr>
        <p:spPr>
          <a:xfrm>
            <a:off x="4794602" y="5870448"/>
            <a:ext cx="2735812" cy="365760"/>
          </a:xfrm>
          <a:prstGeom prst="rect">
            <a:avLst/>
          </a:prstGeom>
          <a:solidFill>
            <a:srgbClr val="5A68BC"/>
          </a:solidFill>
          <a:ln/>
        </p:spPr>
      </p:sp>
      <p:sp>
        <p:nvSpPr>
          <p:cNvPr id="41" name="Text 39"/>
          <p:cNvSpPr/>
          <p:nvPr/>
        </p:nvSpPr>
        <p:spPr>
          <a:xfrm>
            <a:off x="4794602" y="5870448"/>
            <a:ext cx="2735812"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42" name="Text 40"/>
          <p:cNvSpPr/>
          <p:nvPr/>
        </p:nvSpPr>
        <p:spPr>
          <a:xfrm>
            <a:off x="7955902"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43" name="Shape 41"/>
          <p:cNvSpPr/>
          <p:nvPr/>
        </p:nvSpPr>
        <p:spPr>
          <a:xfrm>
            <a:off x="7548701" y="5870448"/>
            <a:ext cx="1820241" cy="365760"/>
          </a:xfrm>
          <a:prstGeom prst="rect">
            <a:avLst/>
          </a:prstGeom>
          <a:solidFill>
            <a:srgbClr val="A1A9D9"/>
          </a:solidFill>
          <a:ln/>
        </p:spPr>
      </p:sp>
      <p:sp>
        <p:nvSpPr>
          <p:cNvPr id="44" name="Text 42"/>
          <p:cNvSpPr/>
          <p:nvPr/>
        </p:nvSpPr>
        <p:spPr>
          <a:xfrm>
            <a:off x="7548701" y="5870448"/>
            <a:ext cx="1820241" cy="36576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45" name="Text 43"/>
          <p:cNvSpPr/>
          <p:nvPr/>
        </p:nvSpPr>
        <p:spPr>
          <a:xfrm>
            <a:off x="9538289"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46" name="Shape 44"/>
          <p:cNvSpPr/>
          <p:nvPr/>
        </p:nvSpPr>
        <p:spPr>
          <a:xfrm>
            <a:off x="9387230" y="5870448"/>
            <a:ext cx="1307958" cy="365760"/>
          </a:xfrm>
          <a:prstGeom prst="rect">
            <a:avLst/>
          </a:prstGeom>
          <a:solidFill>
            <a:srgbClr val="D1D5DB"/>
          </a:solidFill>
          <a:ln/>
        </p:spPr>
      </p:sp>
      <p:sp>
        <p:nvSpPr>
          <p:cNvPr id="47" name="Text 45"/>
          <p:cNvSpPr/>
          <p:nvPr/>
        </p:nvSpPr>
        <p:spPr>
          <a:xfrm>
            <a:off x="9387230" y="5870448"/>
            <a:ext cx="1307958"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48" name="Text 46"/>
          <p:cNvSpPr/>
          <p:nvPr/>
        </p:nvSpPr>
        <p:spPr>
          <a:xfrm>
            <a:off x="10579608"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49" name="Shape 47"/>
          <p:cNvSpPr/>
          <p:nvPr/>
        </p:nvSpPr>
        <p:spPr>
          <a:xfrm>
            <a:off x="10713476" y="5870448"/>
            <a:ext cx="871972" cy="365760"/>
          </a:xfrm>
          <a:prstGeom prst="rect">
            <a:avLst/>
          </a:prstGeom>
          <a:solidFill>
            <a:srgbClr val="E5E7EB"/>
          </a:solidFill>
          <a:ln/>
        </p:spPr>
      </p:sp>
      <p:sp>
        <p:nvSpPr>
          <p:cNvPr id="50" name="Text 48"/>
          <p:cNvSpPr/>
          <p:nvPr/>
        </p:nvSpPr>
        <p:spPr>
          <a:xfrm>
            <a:off x="10713476" y="5870448"/>
            <a:ext cx="871972"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12 / 18</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96312"/>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97480"/>
            <a:ext cx="283464" cy="0"/>
          </a:xfrm>
          <a:prstGeom prst="line">
            <a:avLst/>
          </a:prstGeom>
          <a:noFill/>
          <a:ln w="19050">
            <a:solidFill>
              <a:srgbClr val="C00000"/>
            </a:solidFill>
            <a:prstDash val="dash"/>
            <a:tailEnd type="none"/>
          </a:ln>
        </p:spPr>
      </p:sp>
      <p:sp>
        <p:nvSpPr>
          <p:cNvPr id="18" name="Shape 16"/>
          <p:cNvSpPr/>
          <p:nvPr/>
        </p:nvSpPr>
        <p:spPr>
          <a:xfrm>
            <a:off x="7178040" y="2176272"/>
            <a:ext cx="4407408" cy="1042416"/>
          </a:xfrm>
          <a:prstGeom prst="roundRect">
            <a:avLst>
              <a:gd name="adj" fmla="val 7018"/>
            </a:avLst>
          </a:prstGeom>
          <a:solidFill>
            <a:srgbClr val="FFFFFF"/>
          </a:solidFill>
          <a:ln w="12700">
            <a:solidFill>
              <a:srgbClr val="E5E7EB"/>
            </a:solidFill>
            <a:prstDash val="solid"/>
          </a:ln>
        </p:spPr>
      </p:sp>
      <p:sp>
        <p:nvSpPr>
          <p:cNvPr id="19" name="Text 17"/>
          <p:cNvSpPr/>
          <p:nvPr/>
        </p:nvSpPr>
        <p:spPr>
          <a:xfrm>
            <a:off x="7379208" y="226771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7860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776472"/>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3977640"/>
            <a:ext cx="283464" cy="0"/>
          </a:xfrm>
          <a:prstGeom prst="line">
            <a:avLst/>
          </a:prstGeom>
          <a:noFill/>
          <a:ln w="19050">
            <a:solidFill>
              <a:srgbClr val="C00000"/>
            </a:solidFill>
            <a:prstDash val="dash"/>
            <a:tailEnd type="none"/>
          </a:ln>
        </p:spPr>
      </p:sp>
      <p:sp>
        <p:nvSpPr>
          <p:cNvPr id="23" name="Shape 21"/>
          <p:cNvSpPr/>
          <p:nvPr/>
        </p:nvSpPr>
        <p:spPr>
          <a:xfrm>
            <a:off x="7178040" y="3456432"/>
            <a:ext cx="4407408" cy="1042416"/>
          </a:xfrm>
          <a:prstGeom prst="roundRect">
            <a:avLst>
              <a:gd name="adj" fmla="val 7018"/>
            </a:avLst>
          </a:prstGeom>
          <a:solidFill>
            <a:srgbClr val="FFFFFF"/>
          </a:solidFill>
          <a:ln w="12700">
            <a:solidFill>
              <a:srgbClr val="E5E7EB"/>
            </a:solidFill>
            <a:prstDash val="solid"/>
          </a:ln>
        </p:spPr>
      </p:sp>
      <p:sp>
        <p:nvSpPr>
          <p:cNvPr id="24" name="Text 22"/>
          <p:cNvSpPr/>
          <p:nvPr/>
        </p:nvSpPr>
        <p:spPr>
          <a:xfrm>
            <a:off x="7379208" y="354787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385876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505663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257800"/>
            <a:ext cx="283464" cy="0"/>
          </a:xfrm>
          <a:prstGeom prst="line">
            <a:avLst/>
          </a:prstGeom>
          <a:noFill/>
          <a:ln w="19050">
            <a:solidFill>
              <a:srgbClr val="C00000"/>
            </a:solidFill>
            <a:prstDash val="dash"/>
            <a:tailEnd type="none"/>
          </a:ln>
        </p:spPr>
      </p:sp>
      <p:sp>
        <p:nvSpPr>
          <p:cNvPr id="28" name="Shape 26"/>
          <p:cNvSpPr/>
          <p:nvPr/>
        </p:nvSpPr>
        <p:spPr>
          <a:xfrm>
            <a:off x="7178040" y="4736592"/>
            <a:ext cx="4407408" cy="1042416"/>
          </a:xfrm>
          <a:prstGeom prst="roundRect">
            <a:avLst>
              <a:gd name="adj" fmla="val 7018"/>
            </a:avLst>
          </a:prstGeom>
          <a:solidFill>
            <a:srgbClr val="FFFFFF"/>
          </a:solidFill>
          <a:ln w="12700">
            <a:solidFill>
              <a:srgbClr val="E5E7EB"/>
            </a:solidFill>
            <a:prstDash val="solid"/>
          </a:ln>
        </p:spPr>
      </p:sp>
      <p:sp>
        <p:nvSpPr>
          <p:cNvPr id="29" name="Text 27"/>
          <p:cNvSpPr/>
          <p:nvPr/>
        </p:nvSpPr>
        <p:spPr>
          <a:xfrm>
            <a:off x="7379208" y="482803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13892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13 / 18</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제2 저지선 — 무엇을 지키는가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14 / 18</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1번 · 전환할 수 있는 몸</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무너뜨리는 것은 판가가 아니라 감가 — 가르는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전환 가능성</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 종합반도체의 양산 체제로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15 / 18</a:t>
            </a:r>
            <a:endParaRPr lang="en-US" sz="2000" dirty="0"/>
          </a:p>
        </p:txBody>
      </p:sp>
      <p:sp>
        <p:nvSpPr>
          <p:cNvPr id="7" name="Shape 5"/>
          <p:cNvSpPr/>
          <p:nvPr/>
        </p:nvSpPr>
        <p:spPr>
          <a:xfrm>
            <a:off x="612648" y="1938528"/>
            <a:ext cx="3749040" cy="1920240"/>
          </a:xfrm>
          <a:prstGeom prst="roundRect">
            <a:avLst>
              <a:gd name="adj" fmla="val 3810"/>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앞면 · 감가의 파고</a:t>
            </a:r>
            <a:endParaRPr lang="en-US" sz="2000" dirty="0"/>
          </a:p>
        </p:txBody>
      </p:sp>
      <p:sp>
        <p:nvSpPr>
          <p:cNvPr id="9" name="Text 7"/>
          <p:cNvSpPr/>
          <p:nvPr/>
        </p:nvSpPr>
        <p:spPr>
          <a:xfrm>
            <a:off x="813816" y="2377440"/>
            <a:ext cx="3346704"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45.9조</a:t>
            </a:r>
            <a:endParaRPr lang="en-US" sz="3200" dirty="0"/>
          </a:p>
        </p:txBody>
      </p:sp>
      <p:sp>
        <p:nvSpPr>
          <p:cNvPr id="10" name="Text 8"/>
          <p:cNvSpPr/>
          <p:nvPr/>
        </p:nvSpPr>
        <p:spPr>
          <a:xfrm>
            <a:off x="813816" y="287121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2029E 감가 · +56%</a:t>
            </a:r>
            <a:endParaRPr lang="en-US" sz="2000" dirty="0"/>
          </a:p>
        </p:txBody>
      </p:sp>
      <p:sp>
        <p:nvSpPr>
          <p:cNvPr id="11" name="Text 9"/>
          <p:cNvSpPr/>
          <p:nvPr/>
        </p:nvSpPr>
        <p:spPr>
          <a:xfrm>
            <a:off x="813816" y="316382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붕괴선 67조 → 104조</a:t>
            </a:r>
            <a:endParaRPr lang="en-US" sz="2000" dirty="0"/>
          </a:p>
        </p:txBody>
      </p:sp>
      <p:sp>
        <p:nvSpPr>
          <p:cNvPr id="12" name="Text 10"/>
          <p:cNvSpPr/>
          <p:nvPr/>
        </p:nvSpPr>
        <p:spPr>
          <a:xfrm>
            <a:off x="813816" y="345643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같은 붕괴 시 약 −31조</a:t>
            </a:r>
            <a:endParaRPr lang="en-US" sz="2000" dirty="0"/>
          </a:p>
        </p:txBody>
      </p:sp>
      <p:sp>
        <p:nvSpPr>
          <p:cNvPr id="13" name="Shape 11"/>
          <p:cNvSpPr/>
          <p:nvPr/>
        </p:nvSpPr>
        <p:spPr>
          <a:xfrm>
            <a:off x="612648" y="3968496"/>
            <a:ext cx="3749040" cy="1645920"/>
          </a:xfrm>
          <a:prstGeom prst="roundRect">
            <a:avLst>
              <a:gd name="adj" fmla="val 4444"/>
            </a:avLst>
          </a:prstGeom>
          <a:solidFill>
            <a:srgbClr val="E3E7F5"/>
          </a:solidFill>
          <a:ln/>
        </p:spPr>
      </p:sp>
      <p:sp>
        <p:nvSpPr>
          <p:cNvPr id="14" name="Text 12"/>
          <p:cNvSpPr/>
          <p:nvPr/>
        </p:nvSpPr>
        <p:spPr>
          <a:xfrm>
            <a:off x="813816" y="4096512"/>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뒷면 · 감가 완료 설비</a:t>
            </a:r>
            <a:endParaRPr lang="en-US" sz="2000" dirty="0"/>
          </a:p>
        </p:txBody>
      </p:sp>
      <p:sp>
        <p:nvSpPr>
          <p:cNvPr id="15" name="Text 13"/>
          <p:cNvSpPr/>
          <p:nvPr/>
        </p:nvSpPr>
        <p:spPr>
          <a:xfrm>
            <a:off x="813816" y="4407408"/>
            <a:ext cx="3346704"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196조</a:t>
            </a:r>
            <a:endParaRPr lang="en-US" sz="3200" dirty="0"/>
          </a:p>
        </p:txBody>
      </p:sp>
      <p:sp>
        <p:nvSpPr>
          <p:cNvPr id="16" name="Text 14"/>
          <p:cNvSpPr/>
          <p:nvPr/>
        </p:nvSpPr>
        <p:spPr>
          <a:xfrm>
            <a:off x="813816" y="490118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2028년 말 취득원가 기준</a:t>
            </a:r>
            <a:endParaRPr lang="en-US" sz="2000" dirty="0"/>
          </a:p>
        </p:txBody>
      </p:sp>
      <p:sp>
        <p:nvSpPr>
          <p:cNvPr id="17" name="Text 15"/>
          <p:cNvSpPr/>
          <p:nvPr/>
        </p:nvSpPr>
        <p:spPr>
          <a:xfrm>
            <a:off x="813816" y="519379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메모리 귀속 108~137조</a:t>
            </a:r>
            <a:endParaRPr lang="en-US" sz="2000" dirty="0"/>
          </a:p>
        </p:txBody>
      </p:sp>
      <p:sp>
        <p:nvSpPr>
          <p:cNvPr id="18" name="Shape 16"/>
          <p:cNvSpPr/>
          <p:nvPr/>
        </p:nvSpPr>
        <p:spPr>
          <a:xfrm>
            <a:off x="4544568" y="1938528"/>
            <a:ext cx="7040880" cy="1060704"/>
          </a:xfrm>
          <a:prstGeom prst="roundRect">
            <a:avLst>
              <a:gd name="adj" fmla="val 6897"/>
            </a:avLst>
          </a:prstGeom>
          <a:solidFill>
            <a:srgbClr val="F4F6FB"/>
          </a:solidFill>
          <a:ln/>
        </p:spPr>
      </p:sp>
      <p:sp>
        <p:nvSpPr>
          <p:cNvPr id="19" name="Text 17"/>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① 세대 연장성 · 시간축</a:t>
            </a:r>
            <a:endParaRPr lang="en-US" sz="2000" dirty="0"/>
          </a:p>
        </p:txBody>
      </p:sp>
      <p:sp>
        <p:nvSpPr>
          <p:cNvPr id="20" name="Text 18"/>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차세대 로드맵을 공통 기술 축 위에 정렬 — W2W 본딩 · HAR 식각 · 컨포멀 ALD</a:t>
            </a:r>
            <a:endParaRPr lang="en-US" sz="2000" dirty="0"/>
          </a:p>
        </p:txBody>
      </p:sp>
      <p:sp>
        <p:nvSpPr>
          <p:cNvPr id="21" name="Shape 19"/>
          <p:cNvSpPr/>
          <p:nvPr/>
        </p:nvSpPr>
        <p:spPr>
          <a:xfrm>
            <a:off x="4544568" y="3090672"/>
            <a:ext cx="7040880" cy="1060704"/>
          </a:xfrm>
          <a:prstGeom prst="roundRect">
            <a:avLst>
              <a:gd name="adj" fmla="val 6897"/>
            </a:avLst>
          </a:prstGeom>
          <a:solidFill>
            <a:srgbClr val="F4F6FB"/>
          </a:solidFill>
          <a:ln/>
        </p:spPr>
      </p:sp>
      <p:sp>
        <p:nvSpPr>
          <p:cNvPr id="22" name="Text 20"/>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② 제품 간 동일성 · 제품축</a:t>
            </a:r>
            <a:endParaRPr lang="en-US" sz="2000" dirty="0"/>
          </a:p>
        </p:txBody>
      </p:sp>
      <p:sp>
        <p:nvSpPr>
          <p:cNvPr id="23" name="Text 21"/>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다극으로, 공정은 단극에 가깝게 — 공통성을 설계 규범으로 고정</a:t>
            </a:r>
            <a:endParaRPr lang="en-US" sz="2000" dirty="0"/>
          </a:p>
        </p:txBody>
      </p:sp>
      <p:sp>
        <p:nvSpPr>
          <p:cNvPr id="24" name="Shape 22"/>
          <p:cNvSpPr/>
          <p:nvPr/>
        </p:nvSpPr>
        <p:spPr>
          <a:xfrm>
            <a:off x="4544568" y="4242816"/>
            <a:ext cx="7040880" cy="1060704"/>
          </a:xfrm>
          <a:prstGeom prst="roundRect">
            <a:avLst>
              <a:gd name="adj" fmla="val 6897"/>
            </a:avLst>
          </a:prstGeom>
          <a:solidFill>
            <a:srgbClr val="F4F6FB"/>
          </a:solidFill>
          <a:ln/>
        </p:spPr>
      </p:sp>
      <p:sp>
        <p:nvSpPr>
          <p:cNvPr id="25" name="Text 23"/>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③ N-1 설계 · 설비 세대축</a:t>
            </a:r>
            <a:endParaRPr lang="en-US" sz="2000" dirty="0"/>
          </a:p>
        </p:txBody>
      </p:sp>
      <p:sp>
        <p:nvSpPr>
          <p:cNvPr id="26" name="Text 24"/>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볼륨·로우엔드는 1~2세대 이전 노드로도 생산 가능하게</a:t>
            </a:r>
            <a:endParaRPr lang="en-US" sz="2000" dirty="0"/>
          </a:p>
        </p:txBody>
      </p:sp>
      <p:sp>
        <p:nvSpPr>
          <p:cNvPr id="27" name="Shape 25"/>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28" name="Text 26"/>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선단은 그대로 간다: N-1은 바벨의 아래쪽 끝만</a:t>
            </a:r>
            <a:endParaRPr lang="en-US" sz="2000" dirty="0"/>
          </a:p>
        </p:txBody>
      </p:sp>
      <p:sp>
        <p:nvSpPr>
          <p:cNvPr id="29" name="Shape 27"/>
          <p:cNvSpPr/>
          <p:nvPr/>
        </p:nvSpPr>
        <p:spPr>
          <a:xfrm>
            <a:off x="612648" y="5852160"/>
            <a:ext cx="3529584" cy="384048"/>
          </a:xfrm>
          <a:prstGeom prst="rect">
            <a:avLst/>
          </a:prstGeom>
          <a:solidFill>
            <a:srgbClr val="E3E7F5"/>
          </a:solidFill>
          <a:ln/>
        </p:spPr>
      </p:sp>
      <p:sp>
        <p:nvSpPr>
          <p:cNvPr id="30" name="Text 28"/>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전환 6→3개월 · 회당 1조</a:t>
            </a:r>
            <a:endParaRPr lang="en-US" sz="2000" dirty="0"/>
          </a:p>
        </p:txBody>
      </p:sp>
      <p:sp>
        <p:nvSpPr>
          <p:cNvPr id="31" name="Shape 29"/>
          <p:cNvSpPr/>
          <p:nvPr/>
        </p:nvSpPr>
        <p:spPr>
          <a:xfrm>
            <a:off x="4334256" y="5852160"/>
            <a:ext cx="3529584" cy="384048"/>
          </a:xfrm>
          <a:prstGeom prst="rect">
            <a:avLst/>
          </a:prstGeom>
          <a:solidFill>
            <a:srgbClr val="E3E7F5"/>
          </a:solidFill>
          <a:ln/>
        </p:spPr>
      </p:sp>
      <p:sp>
        <p:nvSpPr>
          <p:cNvPr id="32" name="Text 30"/>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N-1 원가 우위 25~35%</a:t>
            </a:r>
            <a:endParaRPr lang="en-US" sz="2000" dirty="0"/>
          </a:p>
        </p:txBody>
      </p:sp>
      <p:sp>
        <p:nvSpPr>
          <p:cNvPr id="33" name="Shape 31"/>
          <p:cNvSpPr/>
          <p:nvPr/>
        </p:nvSpPr>
        <p:spPr>
          <a:xfrm>
            <a:off x="8055864" y="5852160"/>
            <a:ext cx="3529584" cy="384048"/>
          </a:xfrm>
          <a:prstGeom prst="rect">
            <a:avLst/>
          </a:prstGeom>
          <a:solidFill>
            <a:srgbClr val="E3E7F5"/>
          </a:solidFill>
          <a:ln/>
        </p:spPr>
      </p:sp>
      <p:sp>
        <p:nvSpPr>
          <p:cNvPr id="34" name="Text 32"/>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증액 요구 없음 · 규범 변경</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2번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16 / 18</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3번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17 / 18</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별첨 · DS 전사로 넓히면</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셋 다 사업부 단독 결정 범위를 넘는다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옵션으로만 제시한다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§4.1 · §3.1 — 전략 1번 별첨</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18 / 18</a:t>
            </a:r>
            <a:endParaRPr lang="en-US" sz="2000" dirty="0"/>
          </a:p>
        </p:txBody>
      </p:sp>
      <p:sp>
        <p:nvSpPr>
          <p:cNvPr id="7" name="Shape 5"/>
          <p:cNvSpPr/>
          <p:nvPr/>
        </p:nvSpPr>
        <p:spPr>
          <a:xfrm>
            <a:off x="612648" y="1938528"/>
            <a:ext cx="10972800" cy="1170432"/>
          </a:xfrm>
          <a:prstGeom prst="roundRect">
            <a:avLst>
              <a:gd name="adj" fmla="val 6250"/>
            </a:avLst>
          </a:prstGeom>
          <a:solidFill>
            <a:srgbClr val="F4F6FB"/>
          </a:solidFill>
          <a:ln/>
        </p:spPr>
      </p:sp>
      <p:sp>
        <p:nvSpPr>
          <p:cNvPr id="8" name="Text 6"/>
          <p:cNvSpPr/>
          <p:nvPr/>
        </p:nvSpPr>
        <p:spPr>
          <a:xfrm>
            <a:off x="813816" y="204825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① 파운드리 접점</a:t>
            </a:r>
            <a:endParaRPr lang="en-US" sz="2000" dirty="0"/>
          </a:p>
        </p:txBody>
      </p:sp>
      <p:sp>
        <p:nvSpPr>
          <p:cNvPr id="9" name="Text 7"/>
          <p:cNvSpPr/>
          <p:nvPr/>
        </p:nvSpPr>
        <p:spPr>
          <a:xfrm>
            <a:off x="813816" y="235915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HBM4 베이스다이가 이미 로직 팹 산출물 · P4 파운드리 구역 → 1c DRAM 전환 실증</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두 사업부의 설비 사양 표준을 한 문서로 관리하면 전환 가능한 면이 넓어진다</a:t>
            </a:r>
            <a:endParaRPr lang="en-US" sz="2000" dirty="0"/>
          </a:p>
        </p:txBody>
      </p:sp>
      <p:sp>
        <p:nvSpPr>
          <p:cNvPr id="10" name="Shape 8"/>
          <p:cNvSpPr/>
          <p:nvPr/>
        </p:nvSpPr>
        <p:spPr>
          <a:xfrm>
            <a:off x="612648" y="3218688"/>
            <a:ext cx="10972800" cy="1170432"/>
          </a:xfrm>
          <a:prstGeom prst="roundRect">
            <a:avLst>
              <a:gd name="adj" fmla="val 6250"/>
            </a:avLst>
          </a:prstGeom>
          <a:solidFill>
            <a:srgbClr val="F4F6FB"/>
          </a:solidFill>
          <a:ln/>
        </p:spPr>
      </p:sp>
      <p:sp>
        <p:nvSpPr>
          <p:cNvPr id="11" name="Text 9"/>
          <p:cNvSpPr/>
          <p:nvPr/>
        </p:nvSpPr>
        <p:spPr>
          <a:xfrm>
            <a:off x="813816" y="332841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② 이미지센서 (CIS)</a:t>
            </a:r>
            <a:endParaRPr lang="en-US" sz="2000" dirty="0"/>
          </a:p>
        </p:txBody>
      </p:sp>
      <p:sp>
        <p:nvSpPr>
          <p:cNvPr id="12" name="Text 10"/>
          <p:cNvSpPr/>
          <p:nvPr/>
        </p:nvSpPr>
        <p:spPr>
          <a:xfrm>
            <a:off x="813816" y="363931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DRAM ↔ CIS 공정 약 80% 동일 — 화성 11·13라인에서 실증(장비 그대로 사용)</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단 캐파 약 50% 감소 · 비용 최소 1조 — 공용성은 산출량이 아니라 자본지출을 지킨다</a:t>
            </a:r>
            <a:endParaRPr lang="en-US" sz="2000" dirty="0"/>
          </a:p>
        </p:txBody>
      </p:sp>
      <p:sp>
        <p:nvSpPr>
          <p:cNvPr id="13" name="Shape 11"/>
          <p:cNvSpPr/>
          <p:nvPr/>
        </p:nvSpPr>
        <p:spPr>
          <a:xfrm>
            <a:off x="612648" y="4498848"/>
            <a:ext cx="10972800" cy="1170432"/>
          </a:xfrm>
          <a:prstGeom prst="roundRect">
            <a:avLst>
              <a:gd name="adj" fmla="val 6250"/>
            </a:avLst>
          </a:prstGeom>
          <a:solidFill>
            <a:srgbClr val="F4F6FB"/>
          </a:solidFill>
          <a:ln/>
        </p:spPr>
      </p:sp>
      <p:sp>
        <p:nvSpPr>
          <p:cNvPr id="14" name="Text 12"/>
          <p:cNvSpPr/>
          <p:nvPr/>
        </p:nvSpPr>
        <p:spPr>
          <a:xfrm>
            <a:off x="813816" y="460857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③ 감가 완료 설비의 두 번째 수명</a:t>
            </a:r>
            <a:endParaRPr lang="en-US" sz="2000" dirty="0"/>
          </a:p>
        </p:txBody>
      </p:sp>
      <p:sp>
        <p:nvSpPr>
          <p:cNvPr id="15" name="Text 13"/>
          <p:cNvSpPr/>
          <p:nvPr/>
        </p:nvSpPr>
        <p:spPr>
          <a:xfrm>
            <a:off x="813816" y="491947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2차 시장의 본질은 검사·등급화·잔존수명 예측·보증 (장비 확장은 제안 단계)</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전환 불가능한 팹의 처분 경로는 매각뿐이었고, 그것도 원가 아래였다</a:t>
            </a:r>
            <a:endParaRPr lang="en-US" sz="2000" dirty="0"/>
          </a:p>
        </p:txBody>
      </p:sp>
      <p:sp>
        <p:nvSpPr>
          <p:cNvPr id="16" name="Shape 14"/>
          <p:cNvSpPr/>
          <p:nvPr/>
        </p:nvSpPr>
        <p:spPr>
          <a:xfrm>
            <a:off x="612648" y="5815584"/>
            <a:ext cx="10972800" cy="402336"/>
          </a:xfrm>
          <a:prstGeom prst="rect">
            <a:avLst/>
          </a:prstGeom>
          <a:solidFill>
            <a:srgbClr val="E3E7F5"/>
          </a:solidFill>
          <a:ln/>
        </p:spPr>
      </p:sp>
      <p:sp>
        <p:nvSpPr>
          <p:cNvPr id="17" name="Text 15"/>
          <p:cNvSpPr/>
          <p:nvPr/>
        </p:nvSpPr>
        <p:spPr>
          <a:xfrm>
            <a:off x="813816" y="5815584"/>
            <a:ext cx="10570464" cy="402336"/>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10nm 이하 로직과 메모리를 함께 양산하는 유일한 회사 — 구조적 자산이자 고비용 논쟁의 대상</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2026-08-12T01:34:52Z</dcterms:created>
  <dcterms:modified xsi:type="dcterms:W3CDTF">2026-08-12T01:34:52Z</dcterms:modified>
</cp:coreProperties>
</file>