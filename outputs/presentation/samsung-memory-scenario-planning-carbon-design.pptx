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" cy="102870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095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4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ELECTRONICS · MEMORY · BOARD BRIEFING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3000" y="2638425"/>
            <a:ext cx="762000" cy="4762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298627"/>
            <a:ext cx="1648206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0" b="1" spc="-22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호황의 정점에서 다운턴을 준비하는 법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5470327"/>
            <a:ext cx="164820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플래닝 기반 전략 보고서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6651427"/>
            <a:ext cx="36195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6965752"/>
            <a:ext cx="1648206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</a:t>
            </a:r>
            <a:pPr algn="l" indent="0" marL="0">
              <a:lnSpc>
                <a:spcPct val="19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DS부문 메모리사업부 전략기획팀 </a:t>
            </a:r>
            <a:pPr algn="l" indent="0" marL="0">
              <a:lnSpc>
                <a:spcPct val="19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 </a:t>
            </a:r>
            <a:pPr algn="l" indent="0" marL="0">
              <a:lnSpc>
                <a:spcPct val="19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5월 6일 (Q1 결산 직후) </a:t>
            </a:r>
            <a:pPr algn="l" indent="0" marL="0">
              <a:lnSpc>
                <a:spcPct val="19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</a:t>
            </a:r>
            <a:pPr algn="l" indent="0" marL="0">
              <a:lnSpc>
                <a:spcPct val="19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메모리사업부 경영진 / 이사회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9291638"/>
            <a:ext cx="28445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75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ELECTRONICS · DS · MEMORY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193268" y="9239250"/>
            <a:ext cx="1951732" cy="2857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1" name="Text 9"/>
          <p:cNvSpPr/>
          <p:nvPr/>
        </p:nvSpPr>
        <p:spPr>
          <a:xfrm>
            <a:off x="15326618" y="9296400"/>
            <a:ext cx="17612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 · CONFIDENTIAL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 · 목차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9단계 논리 흐름 — 호황의 정점에서 다운턴 준비까지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단계의 슬라이드 매핑과 핵심 메시지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438400"/>
            <a:ext cx="82296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676525"/>
            <a:ext cx="685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6425" y="2676525"/>
            <a:ext cx="70441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상황 — 호황의 정점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876425" y="3019425"/>
            <a:ext cx="70441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03 — 06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296400" y="2438400"/>
            <a:ext cx="82296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72625" y="2676525"/>
            <a:ext cx="685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410825" y="2676525"/>
            <a:ext cx="70441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 — 다운턴 시점·규모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410825" y="3019425"/>
            <a:ext cx="70441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07 — 08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2000" y="3590925"/>
            <a:ext cx="82296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8225" y="3829050"/>
            <a:ext cx="685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76425" y="3829050"/>
            <a:ext cx="70441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플래닝의 정당화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76425" y="4171950"/>
            <a:ext cx="70441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96400" y="3590925"/>
            <a:ext cx="82296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2625" y="3829050"/>
            <a:ext cx="685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410825" y="3829050"/>
            <a:ext cx="70441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워크플로우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410825" y="4171950"/>
            <a:ext cx="70441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2000" y="4743450"/>
            <a:ext cx="82296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8225" y="4981575"/>
            <a:ext cx="685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876425" y="4981575"/>
            <a:ext cx="70441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사업 단계별 적용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876425" y="5324475"/>
            <a:ext cx="70441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 — 17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96400" y="4743450"/>
            <a:ext cx="82296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2625" y="4981575"/>
            <a:ext cx="685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0410825" y="4981575"/>
            <a:ext cx="70441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Robust 핵심 전략 5개 (RS-6 신규)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410825" y="5324475"/>
            <a:ext cx="70441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18 — 22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2000" y="5895975"/>
            <a:ext cx="82296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8225" y="6134100"/>
            <a:ext cx="685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876425" y="6134100"/>
            <a:ext cx="70441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EWI 대시보드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876425" y="6477000"/>
            <a:ext cx="70441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96400" y="5895975"/>
            <a:ext cx="82296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72625" y="6134100"/>
            <a:ext cx="685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0410825" y="6134100"/>
            <a:ext cx="70441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리마인드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0410825" y="6477000"/>
            <a:ext cx="70441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24 — 25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2000" y="7048500"/>
            <a:ext cx="893445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8225" y="7286625"/>
            <a:ext cx="685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1876425" y="7286625"/>
            <a:ext cx="77701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메시지 — Decision Request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876425" y="7629525"/>
            <a:ext cx="77701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2" name="Text 40"/>
          <p:cNvSpPr/>
          <p:nvPr/>
        </p:nvSpPr>
        <p:spPr>
          <a:xfrm>
            <a:off x="762000" y="9891713"/>
            <a:ext cx="12436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현재 상황 (1 / 4)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지금 메모리 호황의 정점에 서 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메모리 매출 +292% YoY · 빅테크 AI CapEx $725B · HBM4 캐파 전량 Sold Out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8267700" cy="25527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2743200"/>
            <a:ext cx="76523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38" kern="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Q1 2026 MEMORY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1100" y="3057525"/>
            <a:ext cx="2667172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$50.4 </a:t>
            </a:r>
            <a:pPr algn="l" indent="0" marL="0">
              <a:lnSpc>
                <a:spcPct val="100000"/>
              </a:lnSpc>
              <a:buNone/>
            </a:pPr>
            <a:r>
              <a:rPr lang="en-US" sz="27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1181100" y="4171950"/>
            <a:ext cx="76523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메모리사업부 분기 매출 — 사상 최대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58300" y="2286000"/>
            <a:ext cx="8267700" cy="25527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677400" y="2743200"/>
            <a:ext cx="76523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38" kern="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YoY GROWTH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77400" y="3057525"/>
            <a:ext cx="2565638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+292 </a:t>
            </a:r>
            <a:pPr algn="l" indent="0" marL="0">
              <a:lnSpc>
                <a:spcPct val="100000"/>
              </a:lnSpc>
              <a:buNone/>
            </a:pPr>
            <a:r>
              <a:rPr lang="en-US" sz="27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9677400" y="4171950"/>
            <a:ext cx="76523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동기 대비 · 메모리 사업 사상 최대 성장률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000" y="5067300"/>
            <a:ext cx="8267700" cy="25527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5524500"/>
            <a:ext cx="76523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38" kern="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BIG-4 AI CAPEX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1100" y="5838825"/>
            <a:ext cx="2459635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$725 </a:t>
            </a:r>
            <a:pPr algn="l" indent="0" marL="0">
              <a:lnSpc>
                <a:spcPct val="100000"/>
              </a:lnSpc>
              <a:buNone/>
            </a:pPr>
            <a:r>
              <a:rPr lang="en-US" sz="27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1181100" y="6953250"/>
            <a:ext cx="76523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YoY +77% · $410B → $725B (빅테크 4사 합산)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58300" y="5067300"/>
            <a:ext cx="8267700" cy="25527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9677400" y="5524500"/>
            <a:ext cx="76523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38" kern="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HBM4 2026 CAPACITY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77400" y="5838825"/>
            <a:ext cx="2043655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</a:t>
            </a:r>
            <a:pPr algn="l" indent="0" marL="0">
              <a:lnSpc>
                <a:spcPct val="100000"/>
              </a:lnSpc>
              <a:buNone/>
            </a:pPr>
            <a:r>
              <a:rPr lang="en-US" sz="27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6600" dirty="0"/>
          </a:p>
        </p:txBody>
      </p:sp>
      <p:sp>
        <p:nvSpPr>
          <p:cNvPr id="20" name="Text 18"/>
          <p:cNvSpPr/>
          <p:nvPr/>
        </p:nvSpPr>
        <p:spPr>
          <a:xfrm>
            <a:off x="9677400" y="6953250"/>
            <a:ext cx="76523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전량 Sold Out · 추가 캐파 발주 진행 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7924800"/>
            <a:ext cx="1676400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7924800"/>
            <a:ext cx="5715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5850" y="8115300"/>
            <a:ext cx="997148" cy="304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1219200" y="8172450"/>
            <a:ext cx="806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73498" y="8129588"/>
            <a:ext cx="66524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지금이 호황의 정점 — 그러나 메모리는 30년간 5번 다운턴을 겪은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사이클 산업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9891713"/>
            <a:ext cx="18051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현재 상황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현재 상황 (2 / 4)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메모리는 30년간 5번의 다운턴을 겪은 사이클 산업이다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1995 ~ 2025년 DRAM 가격·시장 사이클 — 4 ~ 5년 주기로 100%+ 등락 반복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0411123" cy="5962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25" y="2600325"/>
            <a:ext cx="9782473" cy="5334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01723" y="2286000"/>
            <a:ext cx="6124277" cy="107632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8" name="Text 5"/>
          <p:cNvSpPr/>
          <p:nvPr/>
        </p:nvSpPr>
        <p:spPr>
          <a:xfrm>
            <a:off x="11630323" y="2514600"/>
            <a:ext cx="58370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호황기 평균 18–24개월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1630323" y="2876550"/>
            <a:ext cx="58370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평균 12–18개월 · 다운턴은 항상 호황 직후에 시작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401723" y="3514725"/>
            <a:ext cx="6124277" cy="107632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1" name="Text 8"/>
          <p:cNvSpPr/>
          <p:nvPr/>
        </p:nvSpPr>
        <p:spPr>
          <a:xfrm>
            <a:off x="11630323" y="3743325"/>
            <a:ext cx="58370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다운턴은 "예측 불가"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1630323" y="4105275"/>
            <a:ext cx="58370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2022–23 다운턴 — 빅테크 CapEx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−15%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시작 → 메모리 가격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−50%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1401723" y="4743450"/>
            <a:ext cx="6124277" cy="1095375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4" name="Shape 11"/>
          <p:cNvSpPr/>
          <p:nvPr/>
        </p:nvSpPr>
        <p:spPr>
          <a:xfrm>
            <a:off x="11401723" y="5829300"/>
            <a:ext cx="6124277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401723" y="4743450"/>
            <a:ext cx="6124277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Shape 13"/>
          <p:cNvSpPr/>
          <p:nvPr/>
        </p:nvSpPr>
        <p:spPr>
          <a:xfrm>
            <a:off x="11401723" y="4743450"/>
            <a:ext cx="38100" cy="109537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4"/>
          <p:cNvSpPr/>
          <p:nvPr/>
        </p:nvSpPr>
        <p:spPr>
          <a:xfrm>
            <a:off x="17516475" y="4743450"/>
            <a:ext cx="9525" cy="109537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8" name="Text 15"/>
          <p:cNvSpPr/>
          <p:nvPr/>
        </p:nvSpPr>
        <p:spPr>
          <a:xfrm>
            <a:off x="11668423" y="4981575"/>
            <a:ext cx="57880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진입 후에는 늦다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1668423" y="5343525"/>
            <a:ext cx="57880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사이클 진입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준비하지 않으면 흡수 불가 — 그것이 사이클의 본질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8"/>
          <p:cNvSpPr/>
          <p:nvPr/>
        </p:nvSpPr>
        <p:spPr>
          <a:xfrm>
            <a:off x="762000" y="9891713"/>
            <a:ext cx="18051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현재 상황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현재 상황 (3 / 4)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다운턴마다 우리 매출은 </a:t>
            </a:r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−38%</a:t>
            </a:r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영업이익은 </a:t>
            </a:r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−84% </a:t>
            </a:r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사라졌다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메모리사업부 분기별 매출·영업이익 추이 (2014 ~ 2026 Q1, 12년)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0411123" cy="5962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25" y="2600325"/>
            <a:ext cx="9782473" cy="5334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01723" y="2286000"/>
            <a:ext cx="6124277" cy="895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1401723" y="3171825"/>
            <a:ext cx="6124277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6"/>
          <p:cNvSpPr/>
          <p:nvPr/>
        </p:nvSpPr>
        <p:spPr>
          <a:xfrm>
            <a:off x="11401723" y="2286000"/>
            <a:ext cx="6124277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7"/>
          <p:cNvSpPr/>
          <p:nvPr/>
        </p:nvSpPr>
        <p:spPr>
          <a:xfrm>
            <a:off x="11401723" y="2286000"/>
            <a:ext cx="47625" cy="8953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8"/>
          <p:cNvSpPr/>
          <p:nvPr/>
        </p:nvSpPr>
        <p:spPr>
          <a:xfrm>
            <a:off x="17516475" y="2286000"/>
            <a:ext cx="9525" cy="8953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9"/>
          <p:cNvSpPr/>
          <p:nvPr/>
        </p:nvSpPr>
        <p:spPr>
          <a:xfrm>
            <a:off x="11639848" y="2486025"/>
            <a:ext cx="585671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13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 다운턴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639848" y="2724150"/>
            <a:ext cx="58567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−32%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영업이익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−75%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1401723" y="3333750"/>
            <a:ext cx="6124277" cy="895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401723" y="4219575"/>
            <a:ext cx="6124277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Shape 13"/>
          <p:cNvSpPr/>
          <p:nvPr/>
        </p:nvSpPr>
        <p:spPr>
          <a:xfrm>
            <a:off x="11401723" y="3333750"/>
            <a:ext cx="6124277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7" name="Shape 14"/>
          <p:cNvSpPr/>
          <p:nvPr/>
        </p:nvSpPr>
        <p:spPr>
          <a:xfrm>
            <a:off x="11401723" y="3333750"/>
            <a:ext cx="47625" cy="8953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5"/>
          <p:cNvSpPr/>
          <p:nvPr/>
        </p:nvSpPr>
        <p:spPr>
          <a:xfrm>
            <a:off x="17516475" y="3333750"/>
            <a:ext cx="9525" cy="8953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Text 16"/>
          <p:cNvSpPr/>
          <p:nvPr/>
        </p:nvSpPr>
        <p:spPr>
          <a:xfrm>
            <a:off x="11639848" y="3533775"/>
            <a:ext cx="585671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13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2019 다운턴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639848" y="3771900"/>
            <a:ext cx="58567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−38%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영업이익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−88%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1401723" y="4381500"/>
            <a:ext cx="6124277" cy="142875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Shape 19"/>
          <p:cNvSpPr/>
          <p:nvPr/>
        </p:nvSpPr>
        <p:spPr>
          <a:xfrm>
            <a:off x="11401723" y="5800725"/>
            <a:ext cx="6124277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3" name="Shape 20"/>
          <p:cNvSpPr/>
          <p:nvPr/>
        </p:nvSpPr>
        <p:spPr>
          <a:xfrm>
            <a:off x="11401723" y="4381500"/>
            <a:ext cx="6124277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4" name="Shape 21"/>
          <p:cNvSpPr/>
          <p:nvPr/>
        </p:nvSpPr>
        <p:spPr>
          <a:xfrm>
            <a:off x="11401723" y="4381500"/>
            <a:ext cx="47625" cy="14287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Shape 22"/>
          <p:cNvSpPr/>
          <p:nvPr/>
        </p:nvSpPr>
        <p:spPr>
          <a:xfrm>
            <a:off x="17516475" y="4381500"/>
            <a:ext cx="9525" cy="14287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Text 23"/>
          <p:cNvSpPr/>
          <p:nvPr/>
        </p:nvSpPr>
        <p:spPr>
          <a:xfrm>
            <a:off x="11639848" y="4581525"/>
            <a:ext cx="585671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13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2022—23 다운턴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639848" y="4819650"/>
            <a:ext cx="58567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−45%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639848" y="5095875"/>
            <a:ext cx="585671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−10조 원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적자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(사상 최대 분기 손실)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1401723" y="5962650"/>
            <a:ext cx="6124277" cy="13525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0" name="Text 27"/>
          <p:cNvSpPr/>
          <p:nvPr/>
        </p:nvSpPr>
        <p:spPr>
          <a:xfrm>
            <a:off x="11592223" y="6153150"/>
            <a:ext cx="59155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13" kern="0" dirty="0">
                <a:solidFill>
                  <a:srgbClr val="FFFFFF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평균 손실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11592223" y="6381750"/>
            <a:ext cx="59155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−38%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1592223" y="6753225"/>
            <a:ext cx="59155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−84%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4" name="Text 31"/>
          <p:cNvSpPr/>
          <p:nvPr/>
        </p:nvSpPr>
        <p:spPr>
          <a:xfrm>
            <a:off x="762000" y="9891713"/>
            <a:ext cx="18051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현재 상황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현재 상황 (4 / 4)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게다가 호황 속에서도 우리는 33년 만에 1위를 내줬다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표면적 매출 호황과 이면의 구조적 점유율 추락이 동시 진행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8001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7419975"/>
            <a:ext cx="8001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86000"/>
            <a:ext cx="800100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86000"/>
            <a:ext cx="9525" cy="5143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7"/>
          <p:cNvSpPr/>
          <p:nvPr/>
        </p:nvSpPr>
        <p:spPr>
          <a:xfrm>
            <a:off x="1076325" y="2709863"/>
            <a:ext cx="560487" cy="2667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1209675" y="2709863"/>
            <a:ext cx="3699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51112" y="2686050"/>
            <a:ext cx="9694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호황 지표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6325" y="3228975"/>
            <a:ext cx="76033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시장 규모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76325" y="3552825"/>
            <a:ext cx="76033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$170B → $551.6B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76325" y="3924300"/>
            <a:ext cx="760333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→ 2026 ·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+224%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76325" y="4352925"/>
            <a:ext cx="76033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시장 Sold Out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76325" y="4676775"/>
            <a:ext cx="76033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$54.6B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76325" y="5048250"/>
            <a:ext cx="760333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전량 공급 부족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76325" y="5476875"/>
            <a:ext cx="76033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빅테크 AI CapEx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76325" y="5800725"/>
            <a:ext cx="76033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$200B → $725B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76325" y="6172200"/>
            <a:ext cx="760333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→ 2026 ·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+263%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8763000" y="2286000"/>
            <a:ext cx="762000" cy="51435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8846939" y="4700588"/>
            <a:ext cx="6701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3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0" y="2286000"/>
            <a:ext cx="8001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5000" y="7419975"/>
            <a:ext cx="8001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0" y="2286000"/>
            <a:ext cx="8001000" cy="571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17516475" y="2286000"/>
            <a:ext cx="9525" cy="5143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7" name="Shape 25"/>
          <p:cNvSpPr/>
          <p:nvPr/>
        </p:nvSpPr>
        <p:spPr>
          <a:xfrm>
            <a:off x="9829800" y="2709863"/>
            <a:ext cx="589657" cy="2667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9963150" y="2709863"/>
            <a:ext cx="399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533757" y="2686050"/>
            <a:ext cx="9694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 지표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29800" y="3228975"/>
            <a:ext cx="76033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DRAM 1위 역전 — 33년 만에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829800" y="3552825"/>
            <a:ext cx="76033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$49.6B &gt; 삼성 $46.4B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829800" y="3838575"/>
            <a:ext cx="760333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·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1992년 이후 처음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829800" y="4267200"/>
            <a:ext cx="76033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점유율 추락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829800" y="4591050"/>
            <a:ext cx="76033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→ 17%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829800" y="4962525"/>
            <a:ext cx="760333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→ 2025 Q2 · Rubin HBM4 현재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28%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9829800" y="5391150"/>
            <a:ext cx="76033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ROI 경고음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829800" y="5715000"/>
            <a:ext cx="76033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ROI 미실현 (MIT)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829800" y="6000750"/>
            <a:ext cx="760333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FCF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−28% 전망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(Barclays)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762000" y="7658100"/>
            <a:ext cx="1676400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0" name="Shape 38"/>
          <p:cNvSpPr/>
          <p:nvPr/>
        </p:nvSpPr>
        <p:spPr>
          <a:xfrm>
            <a:off x="762000" y="7658100"/>
            <a:ext cx="5715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5850" y="7848600"/>
            <a:ext cx="997148" cy="304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1219200" y="7905750"/>
            <a:ext cx="806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273498" y="7862888"/>
            <a:ext cx="57334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호황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점유율 패배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거시 경고가 동시에 — 다운턴 신호일 수 있다.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5" name="Text 43"/>
          <p:cNvSpPr/>
          <p:nvPr/>
        </p:nvSpPr>
        <p:spPr>
          <a:xfrm>
            <a:off x="762000" y="9891713"/>
            <a:ext cx="18051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현재 상황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불확실성 (1 / 2)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호황이 더 길게 갈지, 다운턴이 언제·얼마나 클지 — 모두 알 수 없다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호황 지속 / 약한 조정 / 중간 다운턴 — 3가지 가설 모두 실현 가능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5435650" cy="552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286000"/>
            <a:ext cx="54356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2609850"/>
            <a:ext cx="50493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A · 호황 지속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28700" y="2943225"/>
            <a:ext cx="50493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2030년까지 호황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28700" y="3400425"/>
            <a:ext cx="50493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DOWNTURN 2030+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8700" y="3762375"/>
            <a:ext cx="504931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전망 </a:t>
            </a:r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ROI 안정 실현 · 빅테크 CapEx 지속 성장 · HBM 슈퍼사이클 · 2027 $1조 돌파 · 영업이익률 50%+ 사상 최대 지속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028700" y="4591050"/>
            <a:ext cx="504931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사이클 </a:t>
            </a:r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2017–18 슈퍼사이클 + AI 재가속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1028700" y="6791325"/>
            <a:ext cx="4902250" cy="75247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6943725"/>
            <a:ext cx="47353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전략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181100" y="7181850"/>
            <a:ext cx="473537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캐파 가속 증설 · 신흥시장 선점 · 프리미엄 LTA 락인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6426250" y="2286000"/>
            <a:ext cx="5435650" cy="552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26250" y="2286000"/>
            <a:ext cx="5435650" cy="5715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692950" y="2609850"/>
            <a:ext cx="50493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B · 약한 조정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92950" y="2943225"/>
            <a:ext cx="50493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Q4 / 12개월 회복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692950" y="3400425"/>
            <a:ext cx="50493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· 2022—23형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92950" y="3762375"/>
            <a:ext cx="504931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전망 </a:t>
            </a:r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빅테크 CapEx YoY </a:t>
            </a:r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−10 ~ −15% </a:t>
            </a:r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메모리 가격 </a:t>
            </a:r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−20 ~ −30% </a:t>
            </a:r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삼성 영업이익 </a:t>
            </a:r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−50%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692950" y="4591050"/>
            <a:ext cx="504931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사이클 </a:t>
            </a:r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2022–23 다운턴 형태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6692950" y="6772275"/>
            <a:ext cx="4902250" cy="771525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3" name="Shape 21"/>
          <p:cNvSpPr/>
          <p:nvPr/>
        </p:nvSpPr>
        <p:spPr>
          <a:xfrm>
            <a:off x="6692950" y="7534275"/>
            <a:ext cx="49022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4" name="Shape 22"/>
          <p:cNvSpPr/>
          <p:nvPr/>
        </p:nvSpPr>
        <p:spPr>
          <a:xfrm>
            <a:off x="6692950" y="6772275"/>
            <a:ext cx="49022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Shape 23"/>
          <p:cNvSpPr/>
          <p:nvPr/>
        </p:nvSpPr>
        <p:spPr>
          <a:xfrm>
            <a:off x="6692950" y="6772275"/>
            <a:ext cx="38100" cy="77152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585674" y="6772275"/>
            <a:ext cx="9525" cy="771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7" name="Text 25"/>
          <p:cNvSpPr/>
          <p:nvPr/>
        </p:nvSpPr>
        <p:spPr>
          <a:xfrm>
            <a:off x="6883450" y="6934200"/>
            <a:ext cx="46863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전략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883450" y="7172325"/>
            <a:ext cx="46863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재고일수 상한 + RS-1 옵션형 캐파 일시정지 + R&amp;D 사수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12090499" y="2286000"/>
            <a:ext cx="5435650" cy="552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90499" y="2286000"/>
            <a:ext cx="5435650" cy="571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12357199" y="2609850"/>
            <a:ext cx="50493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C · 중간 다운턴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2357199" y="2943225"/>
            <a:ext cx="50493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 Q1 / 18–24개월 회복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357199" y="3400425"/>
            <a:ext cx="50493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· 2008—09형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57199" y="3762375"/>
            <a:ext cx="504931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전망 </a:t>
            </a:r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ROI 실망 + CapEx </a:t>
            </a:r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−25 ~ −30% </a:t>
            </a:r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가격 </a:t>
            </a:r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−45% </a:t>
            </a:r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삼성 영업이익 </a:t>
            </a:r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−85%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2357199" y="4352925"/>
            <a:ext cx="504931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사이클 </a:t>
            </a:r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2008–09 글로벌 금융위기 형태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12357199" y="6562725"/>
            <a:ext cx="4902250" cy="981075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7" name="Shape 35"/>
          <p:cNvSpPr/>
          <p:nvPr/>
        </p:nvSpPr>
        <p:spPr>
          <a:xfrm>
            <a:off x="12357199" y="7534275"/>
            <a:ext cx="49022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6"/>
          <p:cNvSpPr/>
          <p:nvPr/>
        </p:nvSpPr>
        <p:spPr>
          <a:xfrm>
            <a:off x="12357199" y="6562725"/>
            <a:ext cx="49022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9" name="Shape 37"/>
          <p:cNvSpPr/>
          <p:nvPr/>
        </p:nvSpPr>
        <p:spPr>
          <a:xfrm>
            <a:off x="12357199" y="6562725"/>
            <a:ext cx="38100" cy="981075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Shape 38"/>
          <p:cNvSpPr/>
          <p:nvPr/>
        </p:nvSpPr>
        <p:spPr>
          <a:xfrm>
            <a:off x="17249924" y="6562725"/>
            <a:ext cx="9525" cy="98107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1" name="Text 39"/>
          <p:cNvSpPr/>
          <p:nvPr/>
        </p:nvSpPr>
        <p:spPr>
          <a:xfrm>
            <a:off x="12547699" y="6724650"/>
            <a:ext cx="46863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전략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2547699" y="6962775"/>
            <a:ext cx="46863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순현금 30조 버퍼 + 다운사이클 capex 4조원 사수 + Disney-Marvel 모델 M&amp;A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762000" y="8077200"/>
            <a:ext cx="1676400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4" name="Shape 42"/>
          <p:cNvSpPr/>
          <p:nvPr/>
        </p:nvSpPr>
        <p:spPr>
          <a:xfrm>
            <a:off x="762000" y="8077200"/>
            <a:ext cx="5715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Shape 43"/>
          <p:cNvSpPr/>
          <p:nvPr/>
        </p:nvSpPr>
        <p:spPr>
          <a:xfrm>
            <a:off x="1085850" y="8267700"/>
            <a:ext cx="700236" cy="304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1219200" y="8324850"/>
            <a:ext cx="5097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976586" y="8281987"/>
            <a:ext cx="91318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대비만이 답 아님 — 호황 지속 가능성도 동등하게 큼.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방향 모두에서 가치 창출하는 전략이 진짜 Robust.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9" name="Text 47"/>
          <p:cNvSpPr/>
          <p:nvPr/>
        </p:nvSpPr>
        <p:spPr>
          <a:xfrm>
            <a:off x="762000" y="9891713"/>
            <a:ext cx="17706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불확실성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불확실성 (2 / 2)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단선 예측은 위험하다 — 독립 변수 2개면 시나리오는 4개+이다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"가장 가능성 높은 미래" 하나만 가정한 계획은 실패한다. 변수 자체를 포함해 계획해야 한다.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8267700" cy="533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7610475"/>
            <a:ext cx="82677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86000"/>
            <a:ext cx="8267700" cy="571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86000"/>
            <a:ext cx="9525" cy="53340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7"/>
          <p:cNvSpPr/>
          <p:nvPr/>
        </p:nvSpPr>
        <p:spPr>
          <a:xfrm>
            <a:off x="9020175" y="2286000"/>
            <a:ext cx="9525" cy="53340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1114425" y="2724150"/>
            <a:ext cx="381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33525" y="2752725"/>
            <a:ext cx="178350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단선 예측의 함정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14425" y="3409950"/>
            <a:ext cx="7789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미래 가정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14425" y="3810000"/>
            <a:ext cx="7789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 호황은 5년 더 갈 것" — 한 시나리오 실패 시 회사가 휘청거림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4425" y="4295775"/>
            <a:ext cx="7789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마비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14425" y="4695825"/>
            <a:ext cx="7789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"확실하지 않으니 결정 미룸" — 사이클이 끝나도 준비가 안 됨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14425" y="5181600"/>
            <a:ext cx="7789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정당화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14425" y="5581650"/>
            <a:ext cx="7789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"그때는 그게 정답이었다" — 학습이 없고, 다음 사이클에 같은 실수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258300" y="2286000"/>
            <a:ext cx="8267700" cy="53340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9258300" y="7610475"/>
            <a:ext cx="82677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Shape 18"/>
          <p:cNvSpPr/>
          <p:nvPr/>
        </p:nvSpPr>
        <p:spPr>
          <a:xfrm>
            <a:off x="9258300" y="2286000"/>
            <a:ext cx="826770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9258300" y="2286000"/>
            <a:ext cx="9525" cy="53340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2" name="Shape 20"/>
          <p:cNvSpPr/>
          <p:nvPr/>
        </p:nvSpPr>
        <p:spPr>
          <a:xfrm>
            <a:off x="17516475" y="2286000"/>
            <a:ext cx="9525" cy="53340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3" name="Text 21"/>
          <p:cNvSpPr/>
          <p:nvPr/>
        </p:nvSpPr>
        <p:spPr>
          <a:xfrm>
            <a:off x="9610725" y="2724150"/>
            <a:ext cx="381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029825" y="2752725"/>
            <a:ext cx="24670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플래닝의 강점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610725" y="3409950"/>
            <a:ext cx="7789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복수 미래 동시 준비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610725" y="3810000"/>
            <a:ext cx="7789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미래에 강건한 전략을 미리 구축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10725" y="4295775"/>
            <a:ext cx="7789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Robust (불변) 전략 식별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610725" y="4695825"/>
            <a:ext cx="7789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미래가 와도 가치를 만드는 전략 도출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10725" y="5181600"/>
            <a:ext cx="7789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기반 자동 전환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610725" y="5581650"/>
            <a:ext cx="7789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신호 도래 시 사전 정의된 전략 자동 발동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10725" y="6067425"/>
            <a:ext cx="77897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속도 향상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610725" y="6467475"/>
            <a:ext cx="7789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시점에 30일 내 실행 전환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4" name="Text 32"/>
          <p:cNvSpPr/>
          <p:nvPr/>
        </p:nvSpPr>
        <p:spPr>
          <a:xfrm>
            <a:off x="762000" y="9891713"/>
            <a:ext cx="17706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불확실성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시나리오 플래닝의 정당화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Shell · ExxonMobil · Disney · Samsung 도 시나리오로 위기를 기회로 바꿨다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플래닝은 위기를 기회로 바꾼 검증된 방법론 — 4개 실제 사례 비교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8267700" cy="2447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4724400"/>
            <a:ext cx="82677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86000"/>
            <a:ext cx="8267700" cy="5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86000"/>
            <a:ext cx="9525" cy="24479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7"/>
          <p:cNvSpPr/>
          <p:nvPr/>
        </p:nvSpPr>
        <p:spPr>
          <a:xfrm>
            <a:off x="9020175" y="2286000"/>
            <a:ext cx="9525" cy="24479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1076325" y="2647950"/>
            <a:ext cx="22525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Shell · 1973 오일쇼크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4089" y="2752725"/>
            <a:ext cx="20274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 · 1972 — 1980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76325" y="3114675"/>
            <a:ext cx="786822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1972년 시나리오 플래닝팀 신설. 가설 1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(컨센서스)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 안정 · 가설 2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(비주류)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 급등. 1973년 OPEC 1차 오일쇼크 발발 —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Shell만 미리 준비된 7대 메이저 중 1곳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76325" y="3781425"/>
            <a:ext cx="7639050" cy="47625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/>
          <p:nvPr/>
        </p:nvSpPr>
        <p:spPr>
          <a:xfrm>
            <a:off x="1247775" y="3914775"/>
            <a:ext cx="75253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"불확실성 자체를 계획에 포함시켜라"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58300" y="2286000"/>
            <a:ext cx="8267700" cy="2447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258300" y="4724400"/>
            <a:ext cx="82677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7" name="Shape 15"/>
          <p:cNvSpPr/>
          <p:nvPr/>
        </p:nvSpPr>
        <p:spPr>
          <a:xfrm>
            <a:off x="9258300" y="2286000"/>
            <a:ext cx="8267700" cy="5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8" name="Shape 16"/>
          <p:cNvSpPr/>
          <p:nvPr/>
        </p:nvSpPr>
        <p:spPr>
          <a:xfrm>
            <a:off x="9258300" y="2286000"/>
            <a:ext cx="9525" cy="24479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Shape 17"/>
          <p:cNvSpPr/>
          <p:nvPr/>
        </p:nvSpPr>
        <p:spPr>
          <a:xfrm>
            <a:off x="17516475" y="2286000"/>
            <a:ext cx="9525" cy="24479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Text 18"/>
          <p:cNvSpPr/>
          <p:nvPr/>
        </p:nvSpPr>
        <p:spPr>
          <a:xfrm>
            <a:off x="9572625" y="2647950"/>
            <a:ext cx="353447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ExxonMobil · 2014—20 유가 폭락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902732" y="2752725"/>
            <a:ext cx="138514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→ $30 → NEG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572625" y="3114675"/>
            <a:ext cx="786822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활동가 투자자 압박에도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capex 사수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2023년 Pioneer Natural Resources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$59.5B 인수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5개월 만에 종결 (산업 평균의 절반).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572625" y="3781425"/>
            <a:ext cx="7639050" cy="47625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4" name="Text 22"/>
          <p:cNvSpPr/>
          <p:nvPr/>
        </p:nvSpPr>
        <p:spPr>
          <a:xfrm>
            <a:off x="9744075" y="3914775"/>
            <a:ext cx="75253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"다운사이클은 비축, 회복기는 재투자"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2000" y="4962525"/>
            <a:ext cx="8267700" cy="2466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7419975"/>
            <a:ext cx="82677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4962525"/>
            <a:ext cx="8267700" cy="5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4962525"/>
            <a:ext cx="9525" cy="246697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9" name="Shape 27"/>
          <p:cNvSpPr/>
          <p:nvPr/>
        </p:nvSpPr>
        <p:spPr>
          <a:xfrm>
            <a:off x="9020175" y="4962525"/>
            <a:ext cx="9525" cy="246697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0" name="Text 28"/>
          <p:cNvSpPr/>
          <p:nvPr/>
        </p:nvSpPr>
        <p:spPr>
          <a:xfrm>
            <a:off x="1076325" y="5324475"/>
            <a:ext cx="313928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Disney · 2009 글로벌 금융위기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83921" y="5429250"/>
            <a:ext cx="17076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 ACQ · PER 37×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076325" y="5791200"/>
            <a:ext cx="786822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 8월 Marvel을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$4B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인수 (PER 37배). 시장 부정적·S&amp;P 신용등급 부정적 관찰.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10년 후: MCU 박스오피스 $18B+ 창출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076325" y="6457950"/>
            <a:ext cx="7639050" cy="47625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34" name="Text 32"/>
          <p:cNvSpPr/>
          <p:nvPr/>
        </p:nvSpPr>
        <p:spPr>
          <a:xfrm>
            <a:off x="1247775" y="6591300"/>
            <a:ext cx="75253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"위기는 자산 가격을 낮춘다"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258300" y="4962525"/>
            <a:ext cx="8267700" cy="2466975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6" name="Shape 34"/>
          <p:cNvSpPr/>
          <p:nvPr/>
        </p:nvSpPr>
        <p:spPr>
          <a:xfrm>
            <a:off x="9258300" y="7419975"/>
            <a:ext cx="82677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7" name="Shape 35"/>
          <p:cNvSpPr/>
          <p:nvPr/>
        </p:nvSpPr>
        <p:spPr>
          <a:xfrm>
            <a:off x="9258300" y="4962525"/>
            <a:ext cx="8267700" cy="5715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hape 36"/>
          <p:cNvSpPr/>
          <p:nvPr/>
        </p:nvSpPr>
        <p:spPr>
          <a:xfrm>
            <a:off x="9258300" y="4962525"/>
            <a:ext cx="38100" cy="246697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Shape 37"/>
          <p:cNvSpPr/>
          <p:nvPr/>
        </p:nvSpPr>
        <p:spPr>
          <a:xfrm>
            <a:off x="17516475" y="4962525"/>
            <a:ext cx="9525" cy="246697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9601200" y="5324475"/>
            <a:ext cx="41384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· 2022—23 메모리 다운사이클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575310" y="5429250"/>
            <a:ext cx="17125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47.7조 · NO CUT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9601200" y="5791200"/>
            <a:ext cx="783878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TSMC·마이크론 capex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−10%+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삭감 중에도 삼성은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47.7조 원 capex 집행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(감산 거부) · 2025–26 호황기 점유율 흡수 + 사상 최대.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9601200" y="6457950"/>
            <a:ext cx="7610475" cy="49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9601200" y="6943725"/>
            <a:ext cx="7610475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5" name="Shape 43"/>
          <p:cNvSpPr/>
          <p:nvPr/>
        </p:nvSpPr>
        <p:spPr>
          <a:xfrm>
            <a:off x="9601200" y="6457950"/>
            <a:ext cx="7610475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6" name="Shape 44"/>
          <p:cNvSpPr/>
          <p:nvPr/>
        </p:nvSpPr>
        <p:spPr>
          <a:xfrm>
            <a:off x="9601200" y="6457950"/>
            <a:ext cx="38100" cy="4953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7" name="Shape 45"/>
          <p:cNvSpPr/>
          <p:nvPr/>
        </p:nvSpPr>
        <p:spPr>
          <a:xfrm>
            <a:off x="17202150" y="6457950"/>
            <a:ext cx="9525" cy="4953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Text 46"/>
          <p:cNvSpPr/>
          <p:nvPr/>
        </p:nvSpPr>
        <p:spPr>
          <a:xfrm>
            <a:off x="9810750" y="6600825"/>
            <a:ext cx="74482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"인위적 감산은 고려하지 않는다"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62000" y="7696200"/>
            <a:ext cx="1676400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0" name="Shape 48"/>
          <p:cNvSpPr/>
          <p:nvPr/>
        </p:nvSpPr>
        <p:spPr>
          <a:xfrm>
            <a:off x="762000" y="7696200"/>
            <a:ext cx="5715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1" name="Shape 49"/>
          <p:cNvSpPr/>
          <p:nvPr/>
        </p:nvSpPr>
        <p:spPr>
          <a:xfrm>
            <a:off x="1085850" y="7886700"/>
            <a:ext cx="995065" cy="304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1219200" y="7943850"/>
            <a:ext cx="8045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PATTERN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271415" y="7900988"/>
            <a:ext cx="58927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사례 모두 동일 공식 —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사전 준비 + 호황기 절제 + 회복기 가속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5" name="Text 53"/>
          <p:cNvSpPr/>
          <p:nvPr/>
        </p:nvSpPr>
        <p:spPr>
          <a:xfrm>
            <a:off x="762000" y="9891713"/>
            <a:ext cx="164321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정당화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26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방법론 워크플로우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플래닝은 8단계 프로세스 — 우리도 같은 길을 따라갔다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단계의 산출물 명시 · 프로젝트 기간 2026년 4월 — 5월 (6주)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514600"/>
            <a:ext cx="4076700" cy="16478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2714625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42975" y="2971800"/>
            <a:ext cx="38261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Focal Issue 정의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942975" y="3467100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"어떤 결정을 내려야 하는가"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942975" y="3724275"/>
            <a:ext cx="3714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942975" y="3810000"/>
            <a:ext cx="38261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1개 핵심 질문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91100" y="2514600"/>
            <a:ext cx="4076700" cy="16478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2075" y="2714625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72075" y="2971800"/>
            <a:ext cx="38261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STEEP 요인 도출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5172075" y="3467100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Social·Tech·Economy·Env·Political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5172075" y="3724275"/>
            <a:ext cx="3714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Text 14"/>
          <p:cNvSpPr/>
          <p:nvPr/>
        </p:nvSpPr>
        <p:spPr>
          <a:xfrm>
            <a:off x="5172075" y="3810000"/>
            <a:ext cx="38261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50개 환경 요인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220200" y="2514600"/>
            <a:ext cx="4076700" cy="16478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1175" y="2714625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01175" y="2971800"/>
            <a:ext cx="38261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 × Uncertainty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9401175" y="3467100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요인 1–5점 평가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9401175" y="3724275"/>
            <a:ext cx="3714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2" name="Text 20"/>
          <p:cNvSpPr/>
          <p:nvPr/>
        </p:nvSpPr>
        <p:spPr>
          <a:xfrm>
            <a:off x="9401175" y="3810000"/>
            <a:ext cx="38261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핵심 불확실성 20개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449300" y="2514600"/>
            <a:ext cx="4076700" cy="16478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630275" y="2714625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630275" y="2971800"/>
            <a:ext cx="38261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Driving Forces 선정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3630275" y="3467100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I×U 최상 + 독립성 충족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13630275" y="3724275"/>
            <a:ext cx="3714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Text 26"/>
          <p:cNvSpPr/>
          <p:nvPr/>
        </p:nvSpPr>
        <p:spPr>
          <a:xfrm>
            <a:off x="13630275" y="3810000"/>
            <a:ext cx="38261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2개 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2000" y="4429125"/>
            <a:ext cx="4076700" cy="16478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629150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42975" y="4886325"/>
            <a:ext cx="38261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매트릭스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942975" y="5381625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+ 와일드카드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942975" y="5638800"/>
            <a:ext cx="3714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4" name="Text 32"/>
          <p:cNvSpPr/>
          <p:nvPr/>
        </p:nvSpPr>
        <p:spPr>
          <a:xfrm>
            <a:off x="942975" y="5724525"/>
            <a:ext cx="38261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5개 대안적 미래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91100" y="4429125"/>
            <a:ext cx="4076700" cy="16478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72075" y="4629150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72075" y="4886325"/>
            <a:ext cx="38261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Bet 선정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5172075" y="5381625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확률·영향력 종합 1개 선택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5172075" y="5638800"/>
            <a:ext cx="3714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5172075" y="5724525"/>
            <a:ext cx="38261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핵심 전략 시나리오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220200" y="4429125"/>
            <a:ext cx="4076700" cy="16478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01175" y="4629150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401175" y="4886325"/>
            <a:ext cx="38261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 Bets 헤징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9401175" y="5381625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4개 시나리오 대비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9401175" y="5638800"/>
            <a:ext cx="3714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6" name="Text 44"/>
          <p:cNvSpPr/>
          <p:nvPr/>
        </p:nvSpPr>
        <p:spPr>
          <a:xfrm>
            <a:off x="9401175" y="5724525"/>
            <a:ext cx="38261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4개 헤징 전략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3449300" y="4429125"/>
            <a:ext cx="4076700" cy="16478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630275" y="4629150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08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3630275" y="4886325"/>
            <a:ext cx="38261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Robust 전략 + EWI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13630275" y="5381625"/>
            <a:ext cx="3826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무관 가치 전략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13630275" y="5638800"/>
            <a:ext cx="3714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2" name="Text 50"/>
          <p:cNvSpPr/>
          <p:nvPr/>
        </p:nvSpPr>
        <p:spPr>
          <a:xfrm>
            <a:off x="13630275" y="5724525"/>
            <a:ext cx="38261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7개 RS + 대시보드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2000" y="6610350"/>
            <a:ext cx="16764000" cy="1000125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54" name="Text 52"/>
          <p:cNvSpPr/>
          <p:nvPr/>
        </p:nvSpPr>
        <p:spPr>
          <a:xfrm>
            <a:off x="1066800" y="6862763"/>
            <a:ext cx="25756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FFFFFF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METRICS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066800" y="7072313"/>
            <a:ext cx="25756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4월 ~ 5월 · 6주 진행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3665845" y="6838950"/>
            <a:ext cx="7119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요인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13665845" y="7010400"/>
            <a:ext cx="7119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14758839" y="6838950"/>
            <a:ext cx="5046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14758839" y="7010400"/>
            <a:ext cx="5046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15644515" y="6838950"/>
            <a:ext cx="7323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전략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15644515" y="7010400"/>
            <a:ext cx="73238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16757898" y="6838950"/>
            <a:ext cx="53950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결정</a:t>
            </a:r>
            <a:endParaRPr lang="en-US" sz="975" dirty="0"/>
          </a:p>
        </p:txBody>
      </p:sp>
      <p:sp>
        <p:nvSpPr>
          <p:cNvPr id="63" name="Text 61"/>
          <p:cNvSpPr/>
          <p:nvPr/>
        </p:nvSpPr>
        <p:spPr>
          <a:xfrm>
            <a:off x="16757898" y="7010400"/>
            <a:ext cx="5395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100" dirty="0"/>
          </a:p>
        </p:txBody>
      </p:sp>
      <p:sp>
        <p:nvSpPr>
          <p:cNvPr id="64" name="Shape 62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5" name="Text 63"/>
          <p:cNvSpPr/>
          <p:nvPr/>
        </p:nvSpPr>
        <p:spPr>
          <a:xfrm>
            <a:off x="762000" y="9891713"/>
            <a:ext cx="164321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방법론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메모리 사업 적용 — STEP 1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분석은 단 하나의 질문에 답한다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"2030 ~ 2035년 1위 유지를 위해 지금 무엇을 결정할 것인가"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6764000" cy="58674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6" name="Text 4"/>
          <p:cNvSpPr/>
          <p:nvPr/>
        </p:nvSpPr>
        <p:spPr>
          <a:xfrm>
            <a:off x="1099185" y="3048000"/>
            <a:ext cx="160896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spc="300" kern="0" dirty="0">
                <a:solidFill>
                  <a:srgbClr val="FFFFFF">
                    <a:alpha val="7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FOCAL ISSUE · 핵심 질문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85938" y="3562350"/>
            <a:ext cx="14716125" cy="3867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메모리사업부가 </a:t>
            </a:r>
            <a:pPr algn="ctr" indent="0" marL="0">
              <a:lnSpc>
                <a:spcPct val="135000"/>
              </a:lnSpc>
              <a:buNone/>
            </a:pPr>
            <a:r>
              <a:rPr lang="en-US" sz="37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메모리 시대인 2030 ~ 2035년 </a:t>
            </a:r>
            <a:pPr algn="ctr" indent="0" marL="0">
              <a:lnSpc>
                <a:spcPct val="1350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글로벌 리더십을 유지하기 위해, 어떤 전략적 결정을 </a:t>
            </a:r>
            <a:pPr algn="ctr" indent="0" marL="0">
              <a:lnSpc>
                <a:spcPct val="135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(2026년) </a:t>
            </a:r>
            <a:pPr algn="ctr" indent="0" marL="0">
              <a:lnSpc>
                <a:spcPct val="1350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내려야 하는가?</a:t>
            </a:r>
            <a:endParaRPr lang="en-US" sz="3750" dirty="0"/>
          </a:p>
        </p:txBody>
      </p:sp>
      <p:sp>
        <p:nvSpPr>
          <p:cNvPr id="8" name="Shape 6"/>
          <p:cNvSpPr/>
          <p:nvPr/>
        </p:nvSpPr>
        <p:spPr>
          <a:xfrm>
            <a:off x="762000" y="8496300"/>
            <a:ext cx="5435650" cy="14478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8763000"/>
            <a:ext cx="50493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28700" y="9020175"/>
            <a:ext cx="50493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28700" y="9420225"/>
            <a:ext cx="50493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호황의 정점 · 점유율 1위 역전 동시 진행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26250" y="8496300"/>
            <a:ext cx="5435650" cy="14478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3" name="Text 11"/>
          <p:cNvSpPr/>
          <p:nvPr/>
        </p:nvSpPr>
        <p:spPr>
          <a:xfrm>
            <a:off x="6692950" y="8763000"/>
            <a:ext cx="50493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92950" y="9020175"/>
            <a:ext cx="50493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압박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92950" y="9420225"/>
            <a:ext cx="50493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세대 전환 분기점 · 2026 ~ 2027 결정 시점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090499" y="8496300"/>
            <a:ext cx="5435650" cy="14478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7" name="Text 15"/>
          <p:cNvSpPr/>
          <p:nvPr/>
        </p:nvSpPr>
        <p:spPr>
          <a:xfrm>
            <a:off x="12357199" y="8763000"/>
            <a:ext cx="50493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357199" y="9020175"/>
            <a:ext cx="50493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357199" y="9420225"/>
            <a:ext cx="50493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슈퍼사이클 vs 거품 · 미중 디커플링 vs 공존 —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 독립 변수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9891713"/>
            <a:ext cx="15156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적용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메모리 사업 적용 — STEP 2 · 3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50개 환경 요인 중 20개가 핵심 불확실성이다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STEEP 5개 영역 × 10개 요인 = 50개. Impact × Uncertainty 매트릭스로 압축 — 상위 4개는 I×U = 25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68126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STEEP 분류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2000" y="2686050"/>
            <a:ext cx="2470398" cy="45243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3128963"/>
            <a:ext cx="247039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19400"/>
            <a:ext cx="224179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75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2398" y="2686050"/>
            <a:ext cx="901154" cy="45243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0" name="Shape 8"/>
          <p:cNvSpPr/>
          <p:nvPr/>
        </p:nvSpPr>
        <p:spPr>
          <a:xfrm>
            <a:off x="3232398" y="3128963"/>
            <a:ext cx="90115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Text 9"/>
          <p:cNvSpPr/>
          <p:nvPr/>
        </p:nvSpPr>
        <p:spPr>
          <a:xfrm>
            <a:off x="3384798" y="2819400"/>
            <a:ext cx="67255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75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33552" y="2686050"/>
            <a:ext cx="3242816" cy="45243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133552" y="3128963"/>
            <a:ext cx="3242816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Text 12"/>
          <p:cNvSpPr/>
          <p:nvPr/>
        </p:nvSpPr>
        <p:spPr>
          <a:xfrm>
            <a:off x="4285952" y="2819400"/>
            <a:ext cx="30353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75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I×U 평균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2000" y="3624263"/>
            <a:ext cx="247039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71838"/>
            <a:ext cx="22417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3232398" y="3624263"/>
            <a:ext cx="90115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8" name="Text 16"/>
          <p:cNvSpPr/>
          <p:nvPr/>
        </p:nvSpPr>
        <p:spPr>
          <a:xfrm>
            <a:off x="3384798" y="3271838"/>
            <a:ext cx="6725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4133552" y="3624263"/>
            <a:ext cx="3242816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Text 18"/>
          <p:cNvSpPr/>
          <p:nvPr/>
        </p:nvSpPr>
        <p:spPr>
          <a:xfrm>
            <a:off x="4285952" y="3271838"/>
            <a:ext cx="3035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762000" y="4119562"/>
            <a:ext cx="247039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67138"/>
            <a:ext cx="22417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Technology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3232398" y="4119562"/>
            <a:ext cx="90115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4" name="Text 22"/>
          <p:cNvSpPr/>
          <p:nvPr/>
        </p:nvSpPr>
        <p:spPr>
          <a:xfrm>
            <a:off x="3384798" y="3767138"/>
            <a:ext cx="6725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4133552" y="4119562"/>
            <a:ext cx="3242816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Text 24"/>
          <p:cNvSpPr/>
          <p:nvPr/>
        </p:nvSpPr>
        <p:spPr>
          <a:xfrm>
            <a:off x="4285952" y="3767138"/>
            <a:ext cx="3035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T3 3D DRAM =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762000" y="4614863"/>
            <a:ext cx="247039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262438"/>
            <a:ext cx="22417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Economy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3232398" y="4614863"/>
            <a:ext cx="90115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0" name="Text 28"/>
          <p:cNvSpPr/>
          <p:nvPr/>
        </p:nvSpPr>
        <p:spPr>
          <a:xfrm>
            <a:off x="3384798" y="4262438"/>
            <a:ext cx="6725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4133552" y="4614863"/>
            <a:ext cx="3242816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2" name="Text 30"/>
          <p:cNvSpPr/>
          <p:nvPr/>
        </p:nvSpPr>
        <p:spPr>
          <a:xfrm>
            <a:off x="4285952" y="4262438"/>
            <a:ext cx="3035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Ec6 AI 버블 =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762000" y="5110163"/>
            <a:ext cx="247039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757738"/>
            <a:ext cx="22417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Environment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3232398" y="5110163"/>
            <a:ext cx="90115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6" name="Text 34"/>
          <p:cNvSpPr/>
          <p:nvPr/>
        </p:nvSpPr>
        <p:spPr>
          <a:xfrm>
            <a:off x="3384798" y="4757738"/>
            <a:ext cx="6725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4133552" y="5110163"/>
            <a:ext cx="3242816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Text 36"/>
          <p:cNvSpPr/>
          <p:nvPr/>
        </p:nvSpPr>
        <p:spPr>
          <a:xfrm>
            <a:off x="4285952" y="4757738"/>
            <a:ext cx="3035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762000" y="5605463"/>
            <a:ext cx="247039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5253037"/>
            <a:ext cx="22417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Political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3232398" y="5605463"/>
            <a:ext cx="90115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2" name="Text 40"/>
          <p:cNvSpPr/>
          <p:nvPr/>
        </p:nvSpPr>
        <p:spPr>
          <a:xfrm>
            <a:off x="3384798" y="5253037"/>
            <a:ext cx="6725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4133552" y="5605463"/>
            <a:ext cx="3242816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4" name="Text 42"/>
          <p:cNvSpPr/>
          <p:nvPr/>
        </p:nvSpPr>
        <p:spPr>
          <a:xfrm>
            <a:off x="4285952" y="5253037"/>
            <a:ext cx="3035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P1·P8 =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762000" y="5614988"/>
            <a:ext cx="6614220" cy="4953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2000" y="6100763"/>
            <a:ext cx="247039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5748338"/>
            <a:ext cx="22417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3232398" y="6100763"/>
            <a:ext cx="90115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9" name="Text 47"/>
          <p:cNvSpPr/>
          <p:nvPr/>
        </p:nvSpPr>
        <p:spPr>
          <a:xfrm>
            <a:off x="3384798" y="5748338"/>
            <a:ext cx="6725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4133552" y="6100763"/>
            <a:ext cx="3242816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1" name="Shape 49"/>
          <p:cNvSpPr/>
          <p:nvPr/>
        </p:nvSpPr>
        <p:spPr>
          <a:xfrm>
            <a:off x="762000" y="6462713"/>
            <a:ext cx="152400" cy="1524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1066800" y="6419850"/>
            <a:ext cx="25223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불확실성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 ≥ 4, U ≥ 4) ·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1275" dirty="0"/>
          </a:p>
        </p:txBody>
      </p:sp>
      <p:sp>
        <p:nvSpPr>
          <p:cNvPr id="53" name="Shape 51"/>
          <p:cNvSpPr/>
          <p:nvPr/>
        </p:nvSpPr>
        <p:spPr>
          <a:xfrm>
            <a:off x="762000" y="6834188"/>
            <a:ext cx="152400" cy="15240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54" name="Text 52"/>
          <p:cNvSpPr/>
          <p:nvPr/>
        </p:nvSpPr>
        <p:spPr>
          <a:xfrm>
            <a:off x="1066800" y="6791325"/>
            <a:ext cx="20829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기정사실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 ≥ 3, U ≤ 3) ·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762000" y="7205663"/>
            <a:ext cx="152400" cy="15240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56" name="Text 54"/>
          <p:cNvSpPr/>
          <p:nvPr/>
        </p:nvSpPr>
        <p:spPr>
          <a:xfrm>
            <a:off x="1066800" y="7162800"/>
            <a:ext cx="10081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주변부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1275" dirty="0"/>
          </a:p>
        </p:txBody>
      </p:sp>
      <p:sp>
        <p:nvSpPr>
          <p:cNvPr id="57" name="Shape 55"/>
          <p:cNvSpPr/>
          <p:nvPr/>
        </p:nvSpPr>
        <p:spPr>
          <a:xfrm>
            <a:off x="7604820" y="2286000"/>
            <a:ext cx="9921180" cy="6343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9145" y="2600325"/>
            <a:ext cx="9292530" cy="5715000"/>
          </a:xfrm>
          <a:prstGeom prst="rect">
            <a:avLst/>
          </a:prstGeom>
        </p:spPr>
      </p:pic>
      <p:sp>
        <p:nvSpPr>
          <p:cNvPr id="59" name="Shape 56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0" name="Text 57"/>
          <p:cNvSpPr/>
          <p:nvPr/>
        </p:nvSpPr>
        <p:spPr>
          <a:xfrm>
            <a:off x="762000" y="9891713"/>
            <a:ext cx="15156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적용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메모리 사업 적용 — STEP 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독립적 축이 우리 미래를 결정한다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DF1 (AI 수요) × DF2 (미중 디커플링) — 서로 다른 인과 경로 = 독립 변수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82677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7419975"/>
            <a:ext cx="82677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86000"/>
            <a:ext cx="8267700" cy="5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86000"/>
            <a:ext cx="9525" cy="5143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7"/>
          <p:cNvSpPr/>
          <p:nvPr/>
        </p:nvSpPr>
        <p:spPr>
          <a:xfrm>
            <a:off x="9020175" y="2286000"/>
            <a:ext cx="9525" cy="5143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1076325" y="2647950"/>
            <a:ext cx="78682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· 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6325" y="2905125"/>
            <a:ext cx="786822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수요의 구조적 지속성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76325" y="3400425"/>
            <a:ext cx="7868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CapEx + HBM 수요가 2030 ~ 2035년까지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구조적으로 유지되는가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76325" y="3886200"/>
            <a:ext cx="3752850" cy="80962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/>
          <p:nvPr/>
        </p:nvSpPr>
        <p:spPr>
          <a:xfrm>
            <a:off x="1177004" y="4038600"/>
            <a:ext cx="35514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A · 슈퍼사이클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77004" y="4295775"/>
            <a:ext cx="35514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ROI 실현 · 빅테크 $1조 (2027) · HBM이 DRAM 50%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4943475" y="3886200"/>
            <a:ext cx="3771900" cy="809625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3679" y="4048125"/>
            <a:ext cx="35514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B · 버블 붕괴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53679" y="4305300"/>
            <a:ext cx="35514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ROI 미실현 · 빅테크 −30% (2027) · 2022–23 재현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076325" y="4924425"/>
            <a:ext cx="78682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 → 70% 슈퍼사이클 방향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076325" y="5200650"/>
            <a:ext cx="7639050" cy="1333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3571" y="5124450"/>
            <a:ext cx="38100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076325" y="5448300"/>
            <a:ext cx="78682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HBM Sold Out + AI CapEx +77% YoY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9258300" y="2286000"/>
            <a:ext cx="82677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258300" y="7419975"/>
            <a:ext cx="82677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Shape 23"/>
          <p:cNvSpPr/>
          <p:nvPr/>
        </p:nvSpPr>
        <p:spPr>
          <a:xfrm>
            <a:off x="9258300" y="2286000"/>
            <a:ext cx="8267700" cy="5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26" name="Shape 24"/>
          <p:cNvSpPr/>
          <p:nvPr/>
        </p:nvSpPr>
        <p:spPr>
          <a:xfrm>
            <a:off x="9258300" y="2286000"/>
            <a:ext cx="9525" cy="5143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7" name="Shape 25"/>
          <p:cNvSpPr/>
          <p:nvPr/>
        </p:nvSpPr>
        <p:spPr>
          <a:xfrm>
            <a:off x="17516475" y="2286000"/>
            <a:ext cx="9525" cy="5143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Text 26"/>
          <p:cNvSpPr/>
          <p:nvPr/>
        </p:nvSpPr>
        <p:spPr>
          <a:xfrm>
            <a:off x="9572625" y="2647950"/>
            <a:ext cx="78682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· 02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572625" y="2905125"/>
            <a:ext cx="786822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미중 기술 디커플링 강도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572625" y="3400425"/>
            <a:ext cx="7868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주도 수출 통제가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전면 디커플링 vs 관리된 공존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572625" y="3886200"/>
            <a:ext cx="3771900" cy="809625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82829" y="4048125"/>
            <a:ext cx="35514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A · 전면 디커플링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82829" y="4305300"/>
            <a:ext cx="35514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 통과 · 시안 팹 차단 · 중국 매출 소멸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13458825" y="3886200"/>
            <a:ext cx="3752850" cy="80962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35" name="Text 33"/>
          <p:cNvSpPr/>
          <p:nvPr/>
        </p:nvSpPr>
        <p:spPr>
          <a:xfrm>
            <a:off x="13559504" y="4038600"/>
            <a:ext cx="35514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B · 관리된 공존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3559504" y="4295775"/>
            <a:ext cx="35514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선택적 제재·허용 · 라이선스 갱신 · 범용 허용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572625" y="4924425"/>
            <a:ext cx="78682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 → 중립, 진동 중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9572625" y="5200650"/>
            <a:ext cx="7639050" cy="1333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392150" y="5124450"/>
            <a:ext cx="38100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9572625" y="5448300"/>
            <a:ext cx="78682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H20 재허용 (공존) + VEU 폐지 (디커플링)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762000" y="7658100"/>
            <a:ext cx="16764000" cy="7429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42" name="Text 40"/>
          <p:cNvSpPr/>
          <p:nvPr/>
        </p:nvSpPr>
        <p:spPr>
          <a:xfrm>
            <a:off x="1066800" y="7939087"/>
            <a:ext cx="134347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FFFFFF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INDEPENDENCE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562671" y="7886700"/>
            <a:ext cx="7874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DF1 = 기술·경제 내적 논리 | DF2 = 외교·안보 논리 → 서로 다른 인과 경로 → 독립 변수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5" name="Text 43"/>
          <p:cNvSpPr/>
          <p:nvPr/>
        </p:nvSpPr>
        <p:spPr>
          <a:xfrm>
            <a:off x="762000" y="9891713"/>
            <a:ext cx="15156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적용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메모리 사업 적용 — STEP 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축의 조합이 5개 대안적 미래를 만든다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매트릭스 + 와일드카드 E — 각 시나리오의 2035년 시장 규모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524000" y="2286000"/>
            <a:ext cx="10762655" cy="7620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6" name="Text 4"/>
          <p:cNvSpPr/>
          <p:nvPr/>
        </p:nvSpPr>
        <p:spPr>
          <a:xfrm>
            <a:off x="1362560" y="2286000"/>
            <a:ext cx="1108553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75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DF2 · 디커플링 (POLE A) ↑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524000" y="7429500"/>
            <a:ext cx="10762655" cy="5715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8" name="Text 6"/>
          <p:cNvSpPr/>
          <p:nvPr/>
        </p:nvSpPr>
        <p:spPr>
          <a:xfrm>
            <a:off x="1362560" y="7429500"/>
            <a:ext cx="1108553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75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DF2 · 관리된 공존 (POLE B) ↓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 rot="10800000">
            <a:off x="762000" y="3048000"/>
            <a:ext cx="762000" cy="43815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0" name="Text 8"/>
          <p:cNvSpPr/>
          <p:nvPr/>
        </p:nvSpPr>
        <p:spPr>
          <a:xfrm rot="10800000">
            <a:off x="723900" y="3048000"/>
            <a:ext cx="838200" cy="441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75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DF1 · ← AI 붕괴 AI 지속 →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2000" y="2286000"/>
            <a:ext cx="7620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2562225"/>
            <a:ext cx="218033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기술 냉전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80058" y="2609850"/>
            <a:ext cx="562570" cy="2667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1038225" y="3743325"/>
            <a:ext cx="28575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붕괴 × 디커플링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38225" y="6124575"/>
            <a:ext cx="285750" cy="443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2035 시장 $260B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수요 급냉 + 시안 차단 + 소재 수출 제한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524000" y="3048000"/>
            <a:ext cx="5381327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00225" y="3362325"/>
            <a:ext cx="9583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황금 요새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25877" y="3324225"/>
            <a:ext cx="803225" cy="2667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1800225" y="3686175"/>
            <a:ext cx="49737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지속 × 디커플링 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00225" y="4067175"/>
            <a:ext cx="49737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2035 시장 $450B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의존 + 중국 매출 소멸 + 시안 팹 봉쇄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05327" y="3048000"/>
            <a:ext cx="5381327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81552" y="3362325"/>
            <a:ext cx="11096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· 조용한 재편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207204" y="3324225"/>
            <a:ext cx="803225" cy="2667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7181552" y="3686175"/>
            <a:ext cx="49737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붕괴 × 공존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81552" y="4067175"/>
            <a:ext cx="49737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2035 시장 $320B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기술 우위 고착 + CXMT 범용 잠식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524000" y="5238750"/>
            <a:ext cx="5381327" cy="219075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09750" y="5562600"/>
            <a:ext cx="13329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B · AI 르네상스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16352" y="5524500"/>
            <a:ext cx="803225" cy="2667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1809750" y="5886450"/>
            <a:ext cx="49541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지속 × 공존 · MAIN BET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809750" y="6267450"/>
            <a:ext cx="495412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2035 시장 $520B (전 시나리오 최대)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메모리사업부 매출 $1,200억 달성 가능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2515255" y="2286000"/>
            <a:ext cx="5010745" cy="291465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2801005" y="2571750"/>
            <a:ext cx="457242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2801005" y="2828925"/>
            <a:ext cx="45724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· 패러다임 전환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801005" y="3295650"/>
            <a:ext cx="45724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HBM이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DRAM · CXL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대체되는 기술 단절 시나리오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801005" y="3705225"/>
            <a:ext cx="22196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2801005" y="3905250"/>
            <a:ext cx="22196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5096827" y="3705225"/>
            <a:ext cx="22196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2035 시장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5096827" y="3905250"/>
            <a:ext cx="22196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미정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801005" y="4429125"/>
            <a:ext cx="443924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943880" y="4572000"/>
            <a:ext cx="42866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사분면에도 속하지 않음 — </a:t>
            </a:r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헤징 전략 필요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2515255" y="5353050"/>
            <a:ext cx="5010745" cy="11049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46" name="Text 44"/>
          <p:cNvSpPr/>
          <p:nvPr/>
        </p:nvSpPr>
        <p:spPr>
          <a:xfrm>
            <a:off x="12743855" y="5543550"/>
            <a:ext cx="46901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13" kern="0" dirty="0">
                <a:solidFill>
                  <a:srgbClr val="FFFFFF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2743855" y="5772150"/>
            <a:ext cx="46901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대안적 미래 (2×2 + 와일드카드)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9" name="Text 47"/>
          <p:cNvSpPr/>
          <p:nvPr/>
        </p:nvSpPr>
        <p:spPr>
          <a:xfrm>
            <a:off x="762000" y="9891713"/>
            <a:ext cx="15156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적용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메모리 사업 적용 — STEP 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Bet은 시나리오 B "AI 르네상스" — 그러나 자동 실현 아님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최유력 시나리오 · 2035 시장 $520B · 4개 전제 조건 충족 시 매출 $1,200억 달성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6764000" cy="115252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2624138"/>
            <a:ext cx="4191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2595563"/>
            <a:ext cx="1257155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BET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828800" y="2767013"/>
            <a:ext cx="1257155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르네상스 · 시나리오 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415195" y="2552700"/>
            <a:ext cx="14989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4415195" y="2752725"/>
            <a:ext cx="149899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최유력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180891" y="2552700"/>
            <a:ext cx="10784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 시장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6180891" y="2752725"/>
            <a:ext cx="10784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$520B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62000" y="3667125"/>
            <a:ext cx="8258175" cy="40005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3971925"/>
            <a:ext cx="78780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2035년 세계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43953" y="4371975"/>
            <a:ext cx="77951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13347" indent="-113347">
              <a:lnSpc>
                <a:spcPct val="180000"/>
              </a:lnSpc>
              <a:buSzPct val="100000"/>
              <a:buChar char="•"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메모리 시장 </a:t>
            </a:r>
            <a:pPr algn="l" indent="0" marL="0">
              <a:lnSpc>
                <a:spcPct val="18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$520B </a:t>
            </a:r>
            <a:pPr algn="l" indent="0" marL="0">
              <a:lnSpc>
                <a:spcPct val="18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전 시나리오 최대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143953" y="4657725"/>
            <a:ext cx="77951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13347" indent="-113347">
              <a:lnSpc>
                <a:spcPct val="18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산업 전반 생산성 혁명 실현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143953" y="4943475"/>
            <a:ext cx="77951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13347" indent="-113347">
              <a:lnSpc>
                <a:spcPct val="18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미중 관계 2028년 '선택적 제재·허용' 프레임 정착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143953" y="5229225"/>
            <a:ext cx="77951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13347" indent="-113347">
              <a:lnSpc>
                <a:spcPct val="180000"/>
              </a:lnSpc>
              <a:buSzPct val="100000"/>
              <a:buChar char="•"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빅테크 AI 직접 매출 합산 </a:t>
            </a:r>
            <a:pPr algn="l" indent="0" marL="0">
              <a:lnSpc>
                <a:spcPct val="18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$500B 돌파 </a:t>
            </a:r>
            <a:pPr algn="l" indent="0" marL="0">
              <a:lnSpc>
                <a:spcPct val="18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(2027)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1066800" y="5629275"/>
            <a:ext cx="7648575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5791200"/>
            <a:ext cx="78780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2030년 전망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155700" y="6067425"/>
            <a:ext cx="77834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0000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메모리사업부 연간 매출 </a:t>
            </a:r>
            <a:pPr algn="l"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$1,200억 돌파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155700" y="6305550"/>
            <a:ext cx="77834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HBM4E NVIDIA Feynman 플랫폼 공식 탑재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155700" y="6543675"/>
            <a:ext cx="77834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텍사스 테일러 2단계 (HBM) 2030년 가동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155700" y="6781800"/>
            <a:ext cx="77834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 일반 메모리 연 $120억 유지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9248775" y="3667125"/>
            <a:ext cx="8277225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63100" y="3981450"/>
            <a:ext cx="78780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전제 조건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563100" y="4381500"/>
            <a:ext cx="78780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시나리오가 현실이 되려면: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9563100" y="4733925"/>
            <a:ext cx="304800" cy="30480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0" y="47339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20300" y="4772025"/>
            <a:ext cx="740711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ROI 실현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(2027–2028 분기점)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9563100" y="5153025"/>
            <a:ext cx="304800" cy="30480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0" y="51530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20300" y="5191125"/>
            <a:ext cx="740711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미중 반도체 무역 타협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9563100" y="5572125"/>
            <a:ext cx="304800" cy="30480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0" y="55721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20300" y="5610225"/>
            <a:ext cx="740711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HBM4E 기술 추격 성공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9563100" y="5991225"/>
            <a:ext cx="304800" cy="30480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38" name="Text 36"/>
          <p:cNvSpPr/>
          <p:nvPr/>
        </p:nvSpPr>
        <p:spPr>
          <a:xfrm>
            <a:off x="9525000" y="59912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20300" y="6029325"/>
            <a:ext cx="740711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팹 부분 운영 지속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9563100" y="6486525"/>
            <a:ext cx="7648575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1" name="Text 39"/>
          <p:cNvSpPr/>
          <p:nvPr/>
        </p:nvSpPr>
        <p:spPr>
          <a:xfrm>
            <a:off x="9563100" y="6648450"/>
            <a:ext cx="78780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75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5월 현재 — 모멘텀 증거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9563100" y="6924675"/>
            <a:ext cx="787803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빅테크 CapEx </a:t>
            </a:r>
            <a:pPr algn="l" indent="0" marL="0">
              <a:lnSpc>
                <a:spcPct val="17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$725B </a:t>
            </a:r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강한 Pole A 모멘텀 ✅ H20 재허용·MATCH 미통과 · 공존 신호 ✅ HBM 점유율 17% → </a:t>
            </a:r>
            <a:pPr algn="l" indent="0" marL="0">
              <a:lnSpc>
                <a:spcPct val="17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28% </a:t>
            </a:r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추격 궤도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4" name="Text 42"/>
          <p:cNvSpPr/>
          <p:nvPr/>
        </p:nvSpPr>
        <p:spPr>
          <a:xfrm>
            <a:off x="762000" y="9891713"/>
            <a:ext cx="15156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적용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메모리 사업 적용 — STEP 7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4개 시나리오에는 </a:t>
            </a:r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+15% 추가 비용</a:t>
            </a:r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보험을 든다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 Bets — Main Bet 투자 대비 +15% 추가 비용으로 모든 시나리오 대비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438400"/>
            <a:ext cx="16764000" cy="1343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3771900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438400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438400"/>
            <a:ext cx="57150" cy="1343025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9" name="Shape 7"/>
          <p:cNvSpPr/>
          <p:nvPr/>
        </p:nvSpPr>
        <p:spPr>
          <a:xfrm>
            <a:off x="17516475" y="2438400"/>
            <a:ext cx="9525" cy="1343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1085850" y="2767013"/>
            <a:ext cx="1981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85850" y="2986088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황금 요새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5850" y="3252788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219450" y="2886075"/>
            <a:ext cx="5910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219450" y="3124200"/>
            <a:ext cx="59109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팹 상실 (NAND −40% 급감) + 대중 HBM 봉쇄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186863" y="2886075"/>
            <a:ext cx="5910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헤징 전략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186863" y="3124200"/>
            <a:ext cx="59109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단계적 축소 Plan B (2026 내) · 일본 R&amp;D 허브 · LTA 집중 체결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5154275" y="2657475"/>
            <a:ext cx="2095500" cy="90487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8" name="Text 16"/>
          <p:cNvSpPr/>
          <p:nvPr/>
        </p:nvSpPr>
        <p:spPr>
          <a:xfrm>
            <a:off x="15306675" y="2771775"/>
            <a:ext cx="1866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5306675" y="2971800"/>
            <a:ext cx="18669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이전 5조원 일본 R&amp;D 1조원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2000" y="3914775"/>
            <a:ext cx="16764000" cy="1343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52482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39147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3914775"/>
            <a:ext cx="57150" cy="1343025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Shape 22"/>
          <p:cNvSpPr/>
          <p:nvPr/>
        </p:nvSpPr>
        <p:spPr>
          <a:xfrm>
            <a:off x="17516475" y="3914775"/>
            <a:ext cx="9525" cy="1343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Text 23"/>
          <p:cNvSpPr/>
          <p:nvPr/>
        </p:nvSpPr>
        <p:spPr>
          <a:xfrm>
            <a:off x="1085850" y="4243388"/>
            <a:ext cx="1981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85850" y="4462463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냉전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85850" y="4729163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3219450" y="4362450"/>
            <a:ext cx="5910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3219450" y="4600575"/>
            <a:ext cx="59109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수요 급냉 + 시안 차단 이중 충격 + 소재 수출 제한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186863" y="4362450"/>
            <a:ext cx="5910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헤징 전략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9186863" y="4600575"/>
            <a:ext cx="59109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캐나다·호주·카자흐스탄 소재 LTA · 순현금 30조원 · R&amp;D 3,000억원/년 사수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15154275" y="4133850"/>
            <a:ext cx="2095500" cy="90487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33" name="Text 31"/>
          <p:cNvSpPr/>
          <p:nvPr/>
        </p:nvSpPr>
        <p:spPr>
          <a:xfrm>
            <a:off x="15306675" y="4248150"/>
            <a:ext cx="1866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5306675" y="4448175"/>
            <a:ext cx="18669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비축·계약 5,000억원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62000" y="5391150"/>
            <a:ext cx="16764000" cy="1343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762000" y="6724650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7" name="Shape 35"/>
          <p:cNvSpPr/>
          <p:nvPr/>
        </p:nvSpPr>
        <p:spPr>
          <a:xfrm>
            <a:off x="762000" y="5391150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6"/>
          <p:cNvSpPr/>
          <p:nvPr/>
        </p:nvSpPr>
        <p:spPr>
          <a:xfrm>
            <a:off x="762000" y="5391150"/>
            <a:ext cx="57150" cy="1343025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7516475" y="5391150"/>
            <a:ext cx="9525" cy="1343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1085850" y="5719763"/>
            <a:ext cx="1981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85850" y="5938838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재편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85850" y="6205538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3219450" y="5838825"/>
            <a:ext cx="5910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3219450" y="6076950"/>
            <a:ext cx="59109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기술 우위 고착화 + CXMT 범용 DRAM 잠식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9186863" y="5838825"/>
            <a:ext cx="5910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헤징 전략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9186863" y="6076950"/>
            <a:ext cx="59109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조직 독립 · 패키징 인재 100인 · 산업용 AI 메모리 (차량·의료)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15154275" y="5610225"/>
            <a:ext cx="2095500" cy="90487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8" name="Text 46"/>
          <p:cNvSpPr/>
          <p:nvPr/>
        </p:nvSpPr>
        <p:spPr>
          <a:xfrm>
            <a:off x="15306675" y="5724525"/>
            <a:ext cx="1866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15306675" y="5924550"/>
            <a:ext cx="18669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R&amp;D 2,000억원 (2026–2028)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762000" y="6867525"/>
            <a:ext cx="16764000" cy="1581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762000" y="8439150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2" name="Shape 50"/>
          <p:cNvSpPr/>
          <p:nvPr/>
        </p:nvSpPr>
        <p:spPr>
          <a:xfrm>
            <a:off x="762000" y="686752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" y="6867525"/>
            <a:ext cx="57150" cy="158115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4" name="Shape 52"/>
          <p:cNvSpPr/>
          <p:nvPr/>
        </p:nvSpPr>
        <p:spPr>
          <a:xfrm>
            <a:off x="17516475" y="6867525"/>
            <a:ext cx="9525" cy="1581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5" name="Text 53"/>
          <p:cNvSpPr/>
          <p:nvPr/>
        </p:nvSpPr>
        <p:spPr>
          <a:xfrm>
            <a:off x="1085850" y="7315200"/>
            <a:ext cx="1981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85850" y="7534275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 전환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085850" y="7800975"/>
            <a:ext cx="1981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와일드카드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3219450" y="7434263"/>
            <a:ext cx="5910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3219450" y="7672388"/>
            <a:ext cx="59109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40조원+ 매몰 비용화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9186863" y="7434263"/>
            <a:ext cx="59109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헤징 전략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9186863" y="7672388"/>
            <a:ext cx="59109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DRAM R&amp;D 300인 · IMEC 협약 · CXL SIG 표준 · M&amp;A 펀드</a:t>
            </a:r>
            <a:endParaRPr lang="en-US" sz="1125" dirty="0"/>
          </a:p>
        </p:txBody>
      </p:sp>
      <p:sp>
        <p:nvSpPr>
          <p:cNvPr id="62" name="Shape 60"/>
          <p:cNvSpPr/>
          <p:nvPr/>
        </p:nvSpPr>
        <p:spPr>
          <a:xfrm>
            <a:off x="15154275" y="7086600"/>
            <a:ext cx="2095500" cy="11430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63" name="Text 61"/>
          <p:cNvSpPr/>
          <p:nvPr/>
        </p:nvSpPr>
        <p:spPr>
          <a:xfrm>
            <a:off x="15306675" y="7200900"/>
            <a:ext cx="1866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</a:t>
            </a:r>
            <a:endParaRPr lang="en-US" sz="1125" dirty="0"/>
          </a:p>
        </p:txBody>
      </p:sp>
      <p:sp>
        <p:nvSpPr>
          <p:cNvPr id="64" name="Text 62"/>
          <p:cNvSpPr/>
          <p:nvPr/>
        </p:nvSpPr>
        <p:spPr>
          <a:xfrm>
            <a:off x="15306675" y="7400925"/>
            <a:ext cx="18669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DRAM 1,500억원/년 M&amp;A 펀드 5,000억원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762000" y="8677275"/>
            <a:ext cx="1676400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6" name="Shape 64"/>
          <p:cNvSpPr/>
          <p:nvPr/>
        </p:nvSpPr>
        <p:spPr>
          <a:xfrm>
            <a:off x="762000" y="8677275"/>
            <a:ext cx="5715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7" name="Shape 65"/>
          <p:cNvSpPr/>
          <p:nvPr/>
        </p:nvSpPr>
        <p:spPr>
          <a:xfrm>
            <a:off x="1085850" y="8867775"/>
            <a:ext cx="997148" cy="304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8" name="Text 66"/>
          <p:cNvSpPr/>
          <p:nvPr/>
        </p:nvSpPr>
        <p:spPr>
          <a:xfrm>
            <a:off x="1219200" y="8924925"/>
            <a:ext cx="806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2273498" y="8882063"/>
            <a:ext cx="53290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 Bet 총 투자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Main Bet의 15%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보험치고는 합리적 비용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1" name="Text 69"/>
          <p:cNvSpPr/>
          <p:nvPr/>
        </p:nvSpPr>
        <p:spPr>
          <a:xfrm>
            <a:off x="762000" y="9891713"/>
            <a:ext cx="15156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적용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메모리 사업 적용 — STEP 8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미래가 와도 가치를 만드는 Robust 전략 7개를 도출했다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시나리오 무관 가치 창출 · ★ 표시된 5개는 다음 슬라이드에서 상세 (RS-6 NAND 주기 연장 신규)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4026694" cy="36195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5895975"/>
            <a:ext cx="402669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86000"/>
            <a:ext cx="402669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86000"/>
            <a:ext cx="38100" cy="3619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4779169" y="2286000"/>
            <a:ext cx="9525" cy="3619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4321969" y="2447925"/>
            <a:ext cx="342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8700" y="2524125"/>
            <a:ext cx="36275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8700" y="2762250"/>
            <a:ext cx="362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옵션형 캐파 체계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8700" y="3143250"/>
            <a:ext cx="3627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"켜고 끌 수 있는 능력" — Fab Shell 선행 + 장비 단계 반입 · Nucor 모델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17294" y="2286000"/>
            <a:ext cx="4026694" cy="36195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5017294" y="5895975"/>
            <a:ext cx="402669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Shape 14"/>
          <p:cNvSpPr/>
          <p:nvPr/>
        </p:nvSpPr>
        <p:spPr>
          <a:xfrm>
            <a:off x="5017294" y="2286000"/>
            <a:ext cx="402669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17294" y="2286000"/>
            <a:ext cx="38100" cy="3619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9034463" y="2286000"/>
            <a:ext cx="9525" cy="3619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Text 17"/>
          <p:cNvSpPr/>
          <p:nvPr/>
        </p:nvSpPr>
        <p:spPr>
          <a:xfrm>
            <a:off x="8577263" y="2447925"/>
            <a:ext cx="342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283994" y="2524125"/>
            <a:ext cx="36275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83994" y="2762250"/>
            <a:ext cx="362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바벨 포트폴리오 + AI 효율화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83994" y="3143250"/>
            <a:ext cx="3627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 끝에 베팅 — HBM 프리미엄 + 범용 DRAM 저원가 · 중간 제품 30% 축소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72588" y="2286000"/>
            <a:ext cx="4026694" cy="36195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4" name="Shape 22"/>
          <p:cNvSpPr/>
          <p:nvPr/>
        </p:nvSpPr>
        <p:spPr>
          <a:xfrm>
            <a:off x="9272588" y="5895975"/>
            <a:ext cx="402669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Shape 23"/>
          <p:cNvSpPr/>
          <p:nvPr/>
        </p:nvSpPr>
        <p:spPr>
          <a:xfrm>
            <a:off x="9272588" y="2286000"/>
            <a:ext cx="4026694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Shape 24"/>
          <p:cNvSpPr/>
          <p:nvPr/>
        </p:nvSpPr>
        <p:spPr>
          <a:xfrm>
            <a:off x="9272588" y="2286000"/>
            <a:ext cx="38100" cy="3619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89756" y="2286000"/>
            <a:ext cx="9525" cy="3619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Text 26"/>
          <p:cNvSpPr/>
          <p:nvPr/>
        </p:nvSpPr>
        <p:spPr>
          <a:xfrm>
            <a:off x="12832556" y="2447925"/>
            <a:ext cx="342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39288" y="2524125"/>
            <a:ext cx="36275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539288" y="2762250"/>
            <a:ext cx="362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고객특화·전환비용 극대화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39288" y="3143250"/>
            <a:ext cx="3627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· SCADA · CMX 검증 완료 — HW → SW 구독 모델 (Tesla FSD)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527881" y="2286000"/>
            <a:ext cx="3998119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66006" y="2524125"/>
            <a:ext cx="36275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3766006" y="2762250"/>
            <a:ext cx="362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포트폴리오 분산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766006" y="3143250"/>
            <a:ext cx="36275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LTA + Take-or-Pay · 단일 고객 25% 초과 시 자동 트리거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2000" y="6134100"/>
            <a:ext cx="41243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0125" y="6372225"/>
            <a:ext cx="37575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00125" y="6610350"/>
            <a:ext cx="37575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리스크 지역 분산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00125" y="6991350"/>
            <a:ext cx="37575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텍사스 · 일본 · 유럽 — 단일 지역 손실 시에도 공급망 회복력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14925" y="6134100"/>
            <a:ext cx="4152900" cy="36195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1" name="Shape 39"/>
          <p:cNvSpPr/>
          <p:nvPr/>
        </p:nvSpPr>
        <p:spPr>
          <a:xfrm>
            <a:off x="5114925" y="9744075"/>
            <a:ext cx="41529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2" name="Shape 40"/>
          <p:cNvSpPr/>
          <p:nvPr/>
        </p:nvSpPr>
        <p:spPr>
          <a:xfrm>
            <a:off x="5114925" y="6134100"/>
            <a:ext cx="41529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1"/>
          <p:cNvSpPr/>
          <p:nvPr/>
        </p:nvSpPr>
        <p:spPr>
          <a:xfrm>
            <a:off x="5114925" y="6134100"/>
            <a:ext cx="38100" cy="3619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4" name="Shape 42"/>
          <p:cNvSpPr/>
          <p:nvPr/>
        </p:nvSpPr>
        <p:spPr>
          <a:xfrm>
            <a:off x="9258300" y="6134100"/>
            <a:ext cx="9525" cy="3619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5" name="Text 43"/>
          <p:cNvSpPr/>
          <p:nvPr/>
        </p:nvSpPr>
        <p:spPr>
          <a:xfrm>
            <a:off x="8801100" y="6296025"/>
            <a:ext cx="342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5381625" y="6372225"/>
            <a:ext cx="37575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RS-5 (재무)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81625" y="6610350"/>
            <a:ext cx="37575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규율 + capex 하한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381625" y="6991350"/>
            <a:ext cx="37575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호황기 절제 + 다운사이클 4조원 사수 · ExxonMobil 모델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496425" y="6134100"/>
            <a:ext cx="4152900" cy="36195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0" name="Shape 48"/>
          <p:cNvSpPr/>
          <p:nvPr/>
        </p:nvSpPr>
        <p:spPr>
          <a:xfrm>
            <a:off x="9496425" y="9744075"/>
            <a:ext cx="41529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1" name="Shape 49"/>
          <p:cNvSpPr/>
          <p:nvPr/>
        </p:nvSpPr>
        <p:spPr>
          <a:xfrm>
            <a:off x="9496425" y="6134100"/>
            <a:ext cx="41529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2" name="Shape 50"/>
          <p:cNvSpPr/>
          <p:nvPr/>
        </p:nvSpPr>
        <p:spPr>
          <a:xfrm>
            <a:off x="9496425" y="6134100"/>
            <a:ext cx="38100" cy="3619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3" name="Shape 51"/>
          <p:cNvSpPr/>
          <p:nvPr/>
        </p:nvSpPr>
        <p:spPr>
          <a:xfrm>
            <a:off x="13639800" y="6134100"/>
            <a:ext cx="9525" cy="36195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4" name="Text 52"/>
          <p:cNvSpPr/>
          <p:nvPr/>
        </p:nvSpPr>
        <p:spPr>
          <a:xfrm>
            <a:off x="13182600" y="6296025"/>
            <a:ext cx="342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9763125" y="6372225"/>
            <a:ext cx="37575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RS-6 · NEW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763125" y="6610350"/>
            <a:ext cx="37575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spc="22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주기 연장 R&amp;D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763125" y="6991350"/>
            <a:ext cx="375751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 bonding 자체 IP · YMTC 종속 차단 · 양산 ramp 6개월 = 누적 이익 2/3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3877925" y="6134100"/>
            <a:ext cx="3648075" cy="40767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59" name="Text 57"/>
          <p:cNvSpPr/>
          <p:nvPr/>
        </p:nvSpPr>
        <p:spPr>
          <a:xfrm>
            <a:off x="14106525" y="6362700"/>
            <a:ext cx="32866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MATRIX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4106525" y="6657975"/>
            <a:ext cx="32866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spc="75" kern="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A B C D 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4106525" y="6886575"/>
            <a:ext cx="3286601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RS-1 ✅ ✅ ✅ ✅ ✅ RS-2 ✅ ✅ ✅ ✅ ⚠ RS-3 ✅ ✅ ⚠ ✅ ✅ RS-4 ✅ ✅ ✅ ✅ ✅ RS-5 ✅ ⚠ ✅ ✅ ⚠ RS-5F ✅ ⚠ ✅ ✅ ✅ RS-6 ✅ ✅ ✅ ✅ ✅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4106525" y="8505825"/>
            <a:ext cx="3190875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4106525" y="8667750"/>
            <a:ext cx="32866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모든 RS는 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4개 이상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무관 견고</a:t>
            </a:r>
            <a:endParaRPr lang="en-US" sz="975" dirty="0"/>
          </a:p>
        </p:txBody>
      </p:sp>
      <p:sp>
        <p:nvSpPr>
          <p:cNvPr id="64" name="Shape 62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5" name="Text 63"/>
          <p:cNvSpPr/>
          <p:nvPr/>
        </p:nvSpPr>
        <p:spPr>
          <a:xfrm>
            <a:off x="762000" y="9891713"/>
            <a:ext cx="15156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적용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ROBUST 전략 (1 / 5) · RS-1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"얼마나 짓는가"가 아니라 </a:t>
            </a:r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"켜고 끌 수 있는가" </a:t>
            </a:r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RS-1 · 옵션형 캐파 체계 — 호황기 빠른 증설, 다운턴 즉시 일시정지 · Nucor 미니밀 모델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9019282" cy="6153150"/>
          </a:xfrm>
          <a:prstGeom prst="rect">
            <a:avLst/>
          </a:prstGeom>
          <a:solidFill>
            <a:srgbClr val="E8EEFC"/>
          </a:solidFill>
          <a:ln w="9525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6325" y="2600325"/>
            <a:ext cx="864235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CAPACITY 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6325" y="2933700"/>
            <a:ext cx="86423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Fab Shell 선행 건설 + 단계별 장비 반입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76325" y="3448050"/>
            <a:ext cx="8390632" cy="405765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8A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362075" y="3733800"/>
            <a:ext cx="80537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75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FAB SHELL · 선행 건설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362075" y="4048125"/>
            <a:ext cx="80537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Cleanroom · 유틸리티 · 인프라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62075" y="4419600"/>
            <a:ext cx="7819132" cy="5334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1533525" y="4576763"/>
            <a:ext cx="1881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패키징 라인 (TSV)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88114" y="4552950"/>
            <a:ext cx="521643" cy="2667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621464" y="4552950"/>
            <a:ext cx="3311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62075" y="5067300"/>
            <a:ext cx="7819132" cy="5334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1533525" y="5224463"/>
            <a:ext cx="15077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DRAM 라인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82235" y="5200650"/>
            <a:ext cx="1127522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15585" y="5200650"/>
            <a:ext cx="9370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신호 +6M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62075" y="5715000"/>
            <a:ext cx="7819132" cy="533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533525" y="5872163"/>
            <a:ext cx="14280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라인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1861" y="5848350"/>
            <a:ext cx="787896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355211" y="5848350"/>
            <a:ext cx="597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LTA 확정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62075" y="6362700"/>
            <a:ext cx="7819132" cy="5334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4" name="Text 22"/>
          <p:cNvSpPr/>
          <p:nvPr/>
        </p:nvSpPr>
        <p:spPr>
          <a:xfrm>
            <a:off x="1533525" y="6519863"/>
            <a:ext cx="1692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캐파 발동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88114" y="6496050"/>
            <a:ext cx="521643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621464" y="6496050"/>
            <a:ext cx="3311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44788" y="7048500"/>
            <a:ext cx="80537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 트리거 발동 → 6 ~ 12개월 내 가동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0009882" y="2286000"/>
            <a:ext cx="77416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메커니즘 4개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0009882" y="2686050"/>
            <a:ext cx="7516118" cy="819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09882" y="3495675"/>
            <a:ext cx="751611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09882" y="2686050"/>
            <a:ext cx="751611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09882" y="2686050"/>
            <a:ext cx="38100" cy="819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3" name="Shape 31"/>
          <p:cNvSpPr/>
          <p:nvPr/>
        </p:nvSpPr>
        <p:spPr>
          <a:xfrm>
            <a:off x="17516475" y="2686050"/>
            <a:ext cx="9525" cy="819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4" name="Text 32"/>
          <p:cNvSpPr/>
          <p:nvPr/>
        </p:nvSpPr>
        <p:spPr>
          <a:xfrm>
            <a:off x="10257532" y="2867025"/>
            <a:ext cx="72608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Fab Shell + 장비 단계화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0257532" y="3124200"/>
            <a:ext cx="72608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건물은 미리 · 장비 반입 결정 6–9개월 지연 가능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10009882" y="3638550"/>
            <a:ext cx="7516118" cy="819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09882" y="4448175"/>
            <a:ext cx="751611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09882" y="3638550"/>
            <a:ext cx="751611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09882" y="3638550"/>
            <a:ext cx="38100" cy="819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40" name="Shape 38"/>
          <p:cNvSpPr/>
          <p:nvPr/>
        </p:nvSpPr>
        <p:spPr>
          <a:xfrm>
            <a:off x="17516475" y="3638550"/>
            <a:ext cx="9525" cy="819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1" name="Text 39"/>
          <p:cNvSpPr/>
          <p:nvPr/>
        </p:nvSpPr>
        <p:spPr>
          <a:xfrm>
            <a:off x="10257532" y="3819525"/>
            <a:ext cx="72608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Multi-Product Fab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10257532" y="4076700"/>
            <a:ext cx="72608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DRAM / NAND / Logic 비율 분기 조정 · 단일 팹 60–80% 범위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10009882" y="4591050"/>
            <a:ext cx="7516118" cy="819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09882" y="5400675"/>
            <a:ext cx="751611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09882" y="4591050"/>
            <a:ext cx="751611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009882" y="4591050"/>
            <a:ext cx="38100" cy="819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47" name="Shape 45"/>
          <p:cNvSpPr/>
          <p:nvPr/>
        </p:nvSpPr>
        <p:spPr>
          <a:xfrm>
            <a:off x="17516475" y="4591050"/>
            <a:ext cx="9525" cy="819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Text 46"/>
          <p:cNvSpPr/>
          <p:nvPr/>
        </p:nvSpPr>
        <p:spPr>
          <a:xfrm>
            <a:off x="10257532" y="4772025"/>
            <a:ext cx="72608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장비 발주 "반입 연기 옵션"</a:t>
            </a:r>
            <a:endParaRPr lang="en-US" sz="1275" dirty="0"/>
          </a:p>
        </p:txBody>
      </p:sp>
      <p:sp>
        <p:nvSpPr>
          <p:cNvPr id="49" name="Text 47"/>
          <p:cNvSpPr/>
          <p:nvPr/>
        </p:nvSpPr>
        <p:spPr>
          <a:xfrm>
            <a:off x="10257532" y="5029200"/>
            <a:ext cx="72608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ASML / TEL / LAM 12개월 연기권 · 옵션 프리미엄 2–5%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10009882" y="5543550"/>
            <a:ext cx="7516118" cy="819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0009882" y="6353175"/>
            <a:ext cx="751611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2" name="Shape 50"/>
          <p:cNvSpPr/>
          <p:nvPr/>
        </p:nvSpPr>
        <p:spPr>
          <a:xfrm>
            <a:off x="10009882" y="5543550"/>
            <a:ext cx="7516118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1"/>
          <p:cNvSpPr/>
          <p:nvPr/>
        </p:nvSpPr>
        <p:spPr>
          <a:xfrm>
            <a:off x="10009882" y="5543550"/>
            <a:ext cx="38100" cy="819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54" name="Shape 52"/>
          <p:cNvSpPr/>
          <p:nvPr/>
        </p:nvSpPr>
        <p:spPr>
          <a:xfrm>
            <a:off x="17516475" y="5543550"/>
            <a:ext cx="9525" cy="819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5" name="Text 53"/>
          <p:cNvSpPr/>
          <p:nvPr/>
        </p:nvSpPr>
        <p:spPr>
          <a:xfrm>
            <a:off x="10257532" y="5724525"/>
            <a:ext cx="72608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롤링 캐파 리뷰 (분기)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10257532" y="5981700"/>
            <a:ext cx="72608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예산 → 분기 재검토 · 이사회 승인 제도화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10009882" y="6534150"/>
            <a:ext cx="7516118" cy="8382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58" name="Text 56"/>
          <p:cNvSpPr/>
          <p:nvPr/>
        </p:nvSpPr>
        <p:spPr>
          <a:xfrm>
            <a:off x="10238482" y="6705600"/>
            <a:ext cx="72706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113" kern="0" dirty="0">
                <a:solidFill>
                  <a:srgbClr val="6B7280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· DEPLOY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10238482" y="6962775"/>
            <a:ext cx="72706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평택 P5·P6 시범 적용 → 2028 전사 확대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1" name="Text 59"/>
          <p:cNvSpPr/>
          <p:nvPr/>
        </p:nvSpPr>
        <p:spPr>
          <a:xfrm>
            <a:off x="762000" y="9891713"/>
            <a:ext cx="18109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ROBUST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ROBUST 전략 (2 / 5) · RS-2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 끝에 베팅하라 — 가운데 어정쩡한 제품은 죽인다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RS-2 · 바벨 포트폴리오 + AI 효율화 — 호황기 HBM 고마진, 다운턴 범용 DRAM 흑자 사수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6764000" cy="3800475"/>
          </a:xfrm>
          <a:prstGeom prst="rect">
            <a:avLst/>
          </a:prstGeom>
          <a:solidFill>
            <a:srgbClr val="E8EEFC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2676525"/>
            <a:ext cx="15601950" cy="266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7725" y="5457825"/>
            <a:ext cx="79172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호황기 수익 극대화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3000" y="5457825"/>
            <a:ext cx="79172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현금흐름 방어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62000" y="6353175"/>
            <a:ext cx="16764000" cy="1914525"/>
          </a:xfrm>
          <a:prstGeom prst="rect">
            <a:avLst/>
          </a:prstGeom>
          <a:solidFill>
            <a:srgbClr val="1428A0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6325" y="6591300"/>
            <a:ext cx="1231999" cy="2667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1209675" y="6591300"/>
            <a:ext cx="1041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EFFICIENCY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60724" y="6605588"/>
            <a:ext cx="379415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채용 없이 RS-2 · RS-3 동시 실행의 유일한 경로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076325" y="7010400"/>
            <a:ext cx="5022800" cy="1019175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57300" y="7191375"/>
            <a:ext cx="480067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도구 도입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257300" y="7410450"/>
            <a:ext cx="4800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코딩 · EDA · 공정 시뮬레이션 · 수율 예측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1257300" y="7648575"/>
            <a:ext cx="4800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 ~ 1,000억원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6251525" y="7362825"/>
            <a:ext cx="304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632525" y="7010400"/>
            <a:ext cx="5022800" cy="1019175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3500" y="7191375"/>
            <a:ext cx="480067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효과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13500" y="7410450"/>
            <a:ext cx="4800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엔지니어링 생산성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+20 ~ 30%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6813500" y="7648575"/>
            <a:ext cx="4800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잉여 인력 창출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11807726" y="7362825"/>
            <a:ext cx="304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188726" y="7129463"/>
            <a:ext cx="5022800" cy="78105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369701" y="7310438"/>
            <a:ext cx="480067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배분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2369701" y="7529513"/>
            <a:ext cx="4800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PC/Mobile/Auto 포트폴리오 유지 + RS-3 고객특화 기능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7" name="Text 24"/>
          <p:cNvSpPr/>
          <p:nvPr/>
        </p:nvSpPr>
        <p:spPr>
          <a:xfrm>
            <a:off x="762000" y="9891713"/>
            <a:ext cx="18109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ROBUST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ROBUST 전략 (3 / 5) · RS-3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떠나면 비싼 메모리 — CMX · SCADA · FDP 시장 현실성 검증 완료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RS-3 · 고객특화 + 전환비용 극대화 — HW를 넘어 SW · 인증 · 로직까지 통합 락인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4049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락인 4단 다이어그램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2000" y="2686050"/>
            <a:ext cx="7189291" cy="561975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857500"/>
            <a:ext cx="11333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 — 하드웨어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650980" y="2867025"/>
            <a:ext cx="11479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SSD / DRAM 자체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54161" y="3248025"/>
            <a:ext cx="74049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2000" y="3400425"/>
            <a:ext cx="7189291" cy="581025"/>
          </a:xfrm>
          <a:prstGeom prst="rect">
            <a:avLst/>
          </a:prstGeom>
          <a:solidFill>
            <a:srgbClr val="1E40A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0125" y="3581400"/>
            <a:ext cx="16168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— 소프트웨어 통합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338143" y="3590925"/>
            <a:ext cx="14512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· SCADA 드라이버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54161" y="3981450"/>
            <a:ext cx="74049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2000" y="4133850"/>
            <a:ext cx="7189291" cy="581025"/>
          </a:xfrm>
          <a:prstGeom prst="rect">
            <a:avLst/>
          </a:prstGeom>
          <a:solidFill>
            <a:srgbClr val="2563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0125" y="4314825"/>
            <a:ext cx="11839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— 인증·검증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6198691" y="4324350"/>
            <a:ext cx="15906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Co-Validation Program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54161" y="4714875"/>
            <a:ext cx="74049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2000" y="4867275"/>
            <a:ext cx="7189291" cy="581025"/>
          </a:xfrm>
          <a:prstGeom prst="rect">
            <a:avLst/>
          </a:prstGeom>
          <a:solidFill>
            <a:srgbClr val="60A5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0125" y="5048250"/>
            <a:ext cx="131891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 — 커스텀 로직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5875288" y="5057775"/>
            <a:ext cx="19140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베이스다이 · ASIC 최적화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762000" y="5638800"/>
            <a:ext cx="7189291" cy="104775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6677025"/>
            <a:ext cx="718929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5638800"/>
            <a:ext cx="718929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5638800"/>
            <a:ext cx="38100" cy="104775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7941766" y="5638800"/>
            <a:ext cx="9525" cy="10477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650" y="5819775"/>
            <a:ext cx="69242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 모두 적용된 고객은 경쟁사 전환 시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재인증 + ASIC 재설계 + 인증 사이클 재실행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사실상 전환 불가능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79891" y="2286000"/>
            <a:ext cx="96264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시장 검증 사례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8179891" y="2686050"/>
            <a:ext cx="9346109" cy="971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179891" y="3648075"/>
            <a:ext cx="9346109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0" name="Shape 28"/>
          <p:cNvSpPr/>
          <p:nvPr/>
        </p:nvSpPr>
        <p:spPr>
          <a:xfrm>
            <a:off x="8179891" y="2686050"/>
            <a:ext cx="9346109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1" name="Shape 29"/>
          <p:cNvSpPr/>
          <p:nvPr/>
        </p:nvSpPr>
        <p:spPr>
          <a:xfrm>
            <a:off x="8179891" y="2686050"/>
            <a:ext cx="47625" cy="9715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2" name="Shape 30"/>
          <p:cNvSpPr/>
          <p:nvPr/>
        </p:nvSpPr>
        <p:spPr>
          <a:xfrm>
            <a:off x="17516475" y="2686050"/>
            <a:ext cx="9525" cy="9715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Text 31"/>
          <p:cNvSpPr/>
          <p:nvPr/>
        </p:nvSpPr>
        <p:spPr>
          <a:xfrm>
            <a:off x="8456116" y="2886075"/>
            <a:ext cx="19471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— Google 공동 개발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6394757" y="2895600"/>
            <a:ext cx="893118" cy="2667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5" name="Text 33"/>
          <p:cNvSpPr/>
          <p:nvPr/>
        </p:nvSpPr>
        <p:spPr>
          <a:xfrm>
            <a:off x="16528107" y="2895600"/>
            <a:ext cx="7026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56116" y="3238500"/>
            <a:ext cx="909671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CFS 파일시스템과 삼성 SSD FDP 인터페이스 통합 ·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양산 적용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8179891" y="3790950"/>
            <a:ext cx="9346109" cy="971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179891" y="4752975"/>
            <a:ext cx="9346109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9" name="Shape 37"/>
          <p:cNvSpPr/>
          <p:nvPr/>
        </p:nvSpPr>
        <p:spPr>
          <a:xfrm>
            <a:off x="8179891" y="3790950"/>
            <a:ext cx="9346109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Shape 38"/>
          <p:cNvSpPr/>
          <p:nvPr/>
        </p:nvSpPr>
        <p:spPr>
          <a:xfrm>
            <a:off x="8179891" y="3790950"/>
            <a:ext cx="47625" cy="9715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41" name="Shape 39"/>
          <p:cNvSpPr/>
          <p:nvPr/>
        </p:nvSpPr>
        <p:spPr>
          <a:xfrm>
            <a:off x="17516475" y="3790950"/>
            <a:ext cx="9525" cy="9715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2" name="Text 40"/>
          <p:cNvSpPr/>
          <p:nvPr/>
        </p:nvSpPr>
        <p:spPr>
          <a:xfrm>
            <a:off x="8456116" y="3990975"/>
            <a:ext cx="259705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 — NVIDIA Storage-Next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6476464" y="4000500"/>
            <a:ext cx="811411" cy="2667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44" name="Text 42"/>
          <p:cNvSpPr/>
          <p:nvPr/>
        </p:nvSpPr>
        <p:spPr>
          <a:xfrm>
            <a:off x="16609814" y="4000500"/>
            <a:ext cx="6209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진행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456116" y="4343400"/>
            <a:ext cx="909671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직접 I/O 제어 · 목표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IOPS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SK · Kioxia 선점 위협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8179891" y="4895850"/>
            <a:ext cx="9346109" cy="971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179891" y="5857875"/>
            <a:ext cx="9346109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6"/>
          <p:cNvSpPr/>
          <p:nvPr/>
        </p:nvSpPr>
        <p:spPr>
          <a:xfrm>
            <a:off x="8179891" y="4895850"/>
            <a:ext cx="9346109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9" name="Shape 47"/>
          <p:cNvSpPr/>
          <p:nvPr/>
        </p:nvSpPr>
        <p:spPr>
          <a:xfrm>
            <a:off x="8179891" y="4895850"/>
            <a:ext cx="47625" cy="9715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50" name="Shape 48"/>
          <p:cNvSpPr/>
          <p:nvPr/>
        </p:nvSpPr>
        <p:spPr>
          <a:xfrm>
            <a:off x="17516475" y="4895850"/>
            <a:ext cx="9525" cy="9715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1" name="Text 49"/>
          <p:cNvSpPr/>
          <p:nvPr/>
        </p:nvSpPr>
        <p:spPr>
          <a:xfrm>
            <a:off x="8456116" y="5095875"/>
            <a:ext cx="22377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CMX — NVIDIA Vera Rubin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6394757" y="5105400"/>
            <a:ext cx="893118" cy="2667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53" name="Text 51"/>
          <p:cNvSpPr/>
          <p:nvPr/>
        </p:nvSpPr>
        <p:spPr>
          <a:xfrm>
            <a:off x="16528107" y="5105400"/>
            <a:ext cx="7026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456116" y="5448300"/>
            <a:ext cx="909671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 G3.5 계층 · PM1763 Gen6 시연 ·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40%+ 점유 목표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(2028)</a:t>
            </a:r>
            <a:endParaRPr lang="en-US" sz="1125" dirty="0"/>
          </a:p>
        </p:txBody>
      </p:sp>
      <p:sp>
        <p:nvSpPr>
          <p:cNvPr id="55" name="Shape 53"/>
          <p:cNvSpPr/>
          <p:nvPr/>
        </p:nvSpPr>
        <p:spPr>
          <a:xfrm>
            <a:off x="8179891" y="6019800"/>
            <a:ext cx="9346109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8408491" y="6210300"/>
            <a:ext cx="915557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SHIFT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408491" y="6448425"/>
            <a:ext cx="91555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판매 → SW 구독 (Tesla FSD 모델)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408491" y="6772275"/>
            <a:ext cx="91555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9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Marriott Asset-Light 차용 · 2030년 SW 매출 목표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>
                    <a:alpha val="9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$5B / 년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0" name="Text 58"/>
          <p:cNvSpPr/>
          <p:nvPr/>
        </p:nvSpPr>
        <p:spPr>
          <a:xfrm>
            <a:off x="762000" y="9891713"/>
            <a:ext cx="18109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ROBUST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ROBUST 전략 (4 / 5) · RS-5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호황기 절제와 다운턴 사수는 같은 거버넌스에서 나온다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RS-5 · 재무 규율 + 다운사이클 capex 하한 — 사이클 양 끝의 함정 동시 차단 · Nucor · ExxonMobil 모델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6764000" cy="4057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25" y="2600325"/>
            <a:ext cx="1613535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2000" y="6572250"/>
            <a:ext cx="8267700" cy="2514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9077325"/>
            <a:ext cx="82677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6572250"/>
            <a:ext cx="82677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7"/>
          <p:cNvSpPr/>
          <p:nvPr/>
        </p:nvSpPr>
        <p:spPr>
          <a:xfrm>
            <a:off x="762000" y="6572250"/>
            <a:ext cx="9525" cy="25146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Shape 8"/>
          <p:cNvSpPr/>
          <p:nvPr/>
        </p:nvSpPr>
        <p:spPr>
          <a:xfrm>
            <a:off x="9020175" y="6572250"/>
            <a:ext cx="9525" cy="25146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9"/>
          <p:cNvSpPr/>
          <p:nvPr/>
        </p:nvSpPr>
        <p:spPr>
          <a:xfrm>
            <a:off x="1038225" y="6838950"/>
            <a:ext cx="79467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호황기 절제 · 지출 통제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38225" y="7096125"/>
            <a:ext cx="79467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규율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122045" y="7515225"/>
            <a:ext cx="7857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8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재고일수 상한 (DDR5 60일 · HBM 45일)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2045" y="7781925"/>
            <a:ext cx="7857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LTA 없는 신규 캐파 </a:t>
            </a:r>
            <a:pPr algn="l"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22045" y="8048625"/>
            <a:ext cx="7857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8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 → FCF 중심 의사결정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22045" y="8315325"/>
            <a:ext cx="7857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8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capex 증거 기반 승인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258300" y="6572250"/>
            <a:ext cx="8267700" cy="2514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9258300" y="9077325"/>
            <a:ext cx="82677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Shape 17"/>
          <p:cNvSpPr/>
          <p:nvPr/>
        </p:nvSpPr>
        <p:spPr>
          <a:xfrm>
            <a:off x="9258300" y="6572250"/>
            <a:ext cx="8267700" cy="381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8"/>
          <p:cNvSpPr/>
          <p:nvPr/>
        </p:nvSpPr>
        <p:spPr>
          <a:xfrm>
            <a:off x="9258300" y="6572250"/>
            <a:ext cx="9525" cy="25146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2" name="Shape 19"/>
          <p:cNvSpPr/>
          <p:nvPr/>
        </p:nvSpPr>
        <p:spPr>
          <a:xfrm>
            <a:off x="17516475" y="6572250"/>
            <a:ext cx="9525" cy="25146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3" name="Text 20"/>
          <p:cNvSpPr/>
          <p:nvPr/>
        </p:nvSpPr>
        <p:spPr>
          <a:xfrm>
            <a:off x="9534525" y="6838950"/>
            <a:ext cx="79467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다운사이클 사수 · Nucor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534525" y="7096125"/>
            <a:ext cx="79467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Capex 하한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9618345" y="7515225"/>
            <a:ext cx="785717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차세대 R&amp;D + 패키징 + 3D DRAM </a:t>
            </a:r>
            <a:pPr algn="l"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합산 4조원/년 삭감 불가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18345" y="8048625"/>
            <a:ext cx="785717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활동가 투자자 압박 대비 </a:t>
            </a:r>
            <a:pPr algn="l"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"장기 가치 우선 의결권 구조"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18345" y="8582025"/>
            <a:ext cx="7857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8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ExxonMobil 활동가 견딘 모델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62000" y="9315450"/>
            <a:ext cx="1676400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9" name="Shape 26"/>
          <p:cNvSpPr/>
          <p:nvPr/>
        </p:nvSpPr>
        <p:spPr>
          <a:xfrm>
            <a:off x="762000" y="9315450"/>
            <a:ext cx="5715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Shape 27"/>
          <p:cNvSpPr/>
          <p:nvPr/>
        </p:nvSpPr>
        <p:spPr>
          <a:xfrm>
            <a:off x="1085850" y="9505950"/>
            <a:ext cx="997148" cy="304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1219200" y="9563100"/>
            <a:ext cx="806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273498" y="9520238"/>
            <a:ext cx="62725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호황기 절제와 다운턴 사수가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거버넌스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투자자 인지·이사회 결의 일관성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4" name="Text 31"/>
          <p:cNvSpPr/>
          <p:nvPr/>
        </p:nvSpPr>
        <p:spPr>
          <a:xfrm>
            <a:off x="762000" y="9891713"/>
            <a:ext cx="18109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ROBUST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ROBUST 전략 (5 / 5) · RS-6 · NEW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NAND는 layer 경쟁이 아니라 </a:t>
            </a:r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"주기 연장" </a:t>
            </a:r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경쟁이다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ramp 6개월 지연 = 누적 이익의 2/3 소실 (Weber/PSU) · 업계 4사 일제히 capex → process upgrade로 선회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62985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— 3가지 증거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2000" y="2686050"/>
            <a:ext cx="611505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3819525"/>
            <a:ext cx="61150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686050"/>
            <a:ext cx="61150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686050"/>
            <a:ext cx="38100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6867525" y="2686050"/>
            <a:ext cx="9525" cy="11430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9650" y="2867025"/>
            <a:ext cx="304800" cy="304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" y="28670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28750" y="2895600"/>
            <a:ext cx="13047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학습곡선의 잔혹함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1009650" y="3248025"/>
            <a:ext cx="58177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ramp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지연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누적 순이익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2/3 소실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1년 지연 → 손실 전환 공정 개발 1분 ≈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$5,000 손실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(PSU Weber)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2000" y="3943350"/>
            <a:ext cx="6115050" cy="1343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276850"/>
            <a:ext cx="61150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3943350"/>
            <a:ext cx="61150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3943350"/>
            <a:ext cx="38100" cy="134302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67525" y="3943350"/>
            <a:ext cx="9525" cy="1343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9650" y="4124325"/>
            <a:ext cx="304800" cy="3048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" y="41243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28750" y="4152900"/>
            <a:ext cx="18828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업계가 일제히 선회 (2026)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009650" y="4505325"/>
            <a:ext cx="58177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capex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$22.2B (+5%만)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4사 모두 capa 확장 대신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upgrade · hybrid bonding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집중 우리만 layer 경쟁 = 한 세대 뒤처진 capex 추가 부담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2000" y="5400675"/>
            <a:ext cx="611505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6534150"/>
            <a:ext cx="61150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400675"/>
            <a:ext cx="61150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5400675"/>
            <a:ext cx="38100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Shape 26"/>
          <p:cNvSpPr/>
          <p:nvPr/>
        </p:nvSpPr>
        <p:spPr>
          <a:xfrm>
            <a:off x="6867525" y="5400675"/>
            <a:ext cx="9525" cy="11430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9650" y="5581650"/>
            <a:ext cx="304800" cy="304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971550" y="558165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28750" y="5610225"/>
            <a:ext cx="19111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YMTC IP 지배 → 차단 위험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009650" y="5962650"/>
            <a:ext cx="58177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 bonding 핵심 특허 다수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YMTC 보유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(TrendForce 2025-05) 삼성 · SK 라이선스 의존 → 시나리오 C 발생 시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NAND 양산 불가 리스크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05650" y="2286000"/>
            <a:ext cx="5248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R&amp;D 트랙 병행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105650" y="2686050"/>
            <a:ext cx="5095875" cy="9525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35" name="Text 33"/>
          <p:cNvSpPr/>
          <p:nvPr/>
        </p:nvSpPr>
        <p:spPr>
          <a:xfrm>
            <a:off x="7296150" y="2838450"/>
            <a:ext cx="48563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Hybrid Bonding 자체 IP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96150" y="3086100"/>
            <a:ext cx="48563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YMTC 우회 특허 200건+ (2027) · 한국 IP 컨소시엄 · V11 자체 IP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70%+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패키징·본딩 R&amp;D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1.5조 원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7105650" y="3733800"/>
            <a:ext cx="5095875" cy="75247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38" name="Text 36"/>
          <p:cNvSpPr/>
          <p:nvPr/>
        </p:nvSpPr>
        <p:spPr>
          <a:xfrm>
            <a:off x="7296150" y="3886200"/>
            <a:ext cx="48563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Multi-deck 정교화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96150" y="4133850"/>
            <a:ext cx="48563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Deck 당 layer 한계 돌파 · V9 → V10 fab 재구성 비용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 절감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7105650" y="4581525"/>
            <a:ext cx="5095875" cy="75247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1" name="Text 39"/>
          <p:cNvSpPr/>
          <p:nvPr/>
        </p:nvSpPr>
        <p:spPr>
          <a:xfrm>
            <a:off x="7296150" y="4733925"/>
            <a:ext cx="48563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bit-per-cell 확장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96150" y="4981575"/>
            <a:ext cx="48563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TLC → QLC → PLC · QLC 비중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30%+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(2026) · PLC 시제품 (2028)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7105650" y="5429250"/>
            <a:ext cx="5095875" cy="952500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4" name="Text 42"/>
          <p:cNvSpPr/>
          <p:nvPr/>
        </p:nvSpPr>
        <p:spPr>
          <a:xfrm>
            <a:off x="7296150" y="5581650"/>
            <a:ext cx="48563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호스트 협력 firmware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96150" y="5829300"/>
            <a:ext cx="48563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· SCADA · endurance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2배+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throughput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+30%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RS-3 SW 매출과 R&amp;D 자원 공유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12430125" y="2286000"/>
            <a:ext cx="5248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22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효과 · KPI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2430125" y="2686050"/>
            <a:ext cx="5095875" cy="12573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12658725" y="2895600"/>
            <a:ext cx="47778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누적 capex 회피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2658725" y="3114675"/>
            <a:ext cx="47778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 — 2.0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원</a:t>
            </a:r>
            <a:endParaRPr lang="en-US" sz="2700" dirty="0"/>
          </a:p>
        </p:txBody>
      </p:sp>
      <p:sp>
        <p:nvSpPr>
          <p:cNvPr id="50" name="Text 48"/>
          <p:cNvSpPr/>
          <p:nvPr/>
        </p:nvSpPr>
        <p:spPr>
          <a:xfrm>
            <a:off x="12658725" y="3533775"/>
            <a:ext cx="47778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9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주기 18M → 24M 연장 시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12430125" y="4057650"/>
            <a:ext cx="5095875" cy="12573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52" name="Text 50"/>
          <p:cNvSpPr/>
          <p:nvPr/>
        </p:nvSpPr>
        <p:spPr>
          <a:xfrm>
            <a:off x="12658725" y="4267200"/>
            <a:ext cx="47778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세대만 적용해도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2658725" y="4486275"/>
            <a:ext cx="47778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이익 2/3 보전</a:t>
            </a:r>
            <a:endParaRPr lang="en-US" sz="2250" dirty="0"/>
          </a:p>
        </p:txBody>
      </p:sp>
      <p:sp>
        <p:nvSpPr>
          <p:cNvPr id="54" name="Text 52"/>
          <p:cNvSpPr/>
          <p:nvPr/>
        </p:nvSpPr>
        <p:spPr>
          <a:xfrm>
            <a:off x="12658725" y="4905375"/>
            <a:ext cx="47778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9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ramp 6개월 단축 효과</a:t>
            </a:r>
            <a:endParaRPr lang="en-US" sz="1125" dirty="0"/>
          </a:p>
        </p:txBody>
      </p:sp>
      <p:sp>
        <p:nvSpPr>
          <p:cNvPr id="55" name="Shape 53"/>
          <p:cNvSpPr/>
          <p:nvPr/>
        </p:nvSpPr>
        <p:spPr>
          <a:xfrm>
            <a:off x="12430125" y="5429250"/>
            <a:ext cx="5095875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649200" y="5610225"/>
            <a:ext cx="47974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75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이사회 KPI 4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2719050" y="5886450"/>
            <a:ext cx="46640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 bonding 자체 IP 비율</a:t>
            </a:r>
            <a:endParaRPr lang="en-US" sz="975" dirty="0"/>
          </a:p>
          <a:p>
            <a:pPr algn="l" marL="101600" indent="-101600">
              <a:lnSpc>
                <a:spcPct val="17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전환 ramp 시간</a:t>
            </a:r>
            <a:endParaRPr lang="en-US" sz="975" dirty="0"/>
          </a:p>
          <a:p>
            <a:pPr algn="l" marL="101600" indent="-101600">
              <a:lnSpc>
                <a:spcPct val="17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capex / bit growth</a:t>
            </a:r>
            <a:endParaRPr lang="en-US" sz="975" dirty="0"/>
          </a:p>
          <a:p>
            <a:pPr algn="l" marL="101600" indent="-101600">
              <a:lnSpc>
                <a:spcPct val="17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YMTC 라이선스 의존도</a:t>
            </a:r>
            <a:endParaRPr lang="en-US" sz="975" dirty="0"/>
          </a:p>
        </p:txBody>
      </p:sp>
      <p:sp>
        <p:nvSpPr>
          <p:cNvPr id="58" name="Shape 56"/>
          <p:cNvSpPr/>
          <p:nvPr/>
        </p:nvSpPr>
        <p:spPr>
          <a:xfrm>
            <a:off x="762000" y="8153400"/>
            <a:ext cx="1676400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" y="8153400"/>
            <a:ext cx="5715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0" name="Shape 58"/>
          <p:cNvSpPr/>
          <p:nvPr/>
        </p:nvSpPr>
        <p:spPr>
          <a:xfrm>
            <a:off x="1085850" y="8343900"/>
            <a:ext cx="997148" cy="304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1" name="Text 59"/>
          <p:cNvSpPr/>
          <p:nvPr/>
        </p:nvSpPr>
        <p:spPr>
          <a:xfrm>
            <a:off x="1219200" y="8401050"/>
            <a:ext cx="806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273498" y="8358188"/>
            <a:ext cx="82709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경쟁 =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자살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주기 연장 R&amp;D 4트랙이 모든 시나리오에서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우위 + 자체 IP 생존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확보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4" name="Text 62"/>
          <p:cNvSpPr/>
          <p:nvPr/>
        </p:nvSpPr>
        <p:spPr>
          <a:xfrm>
            <a:off x="762000" y="9891713"/>
            <a:ext cx="18109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ROBUST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모니터링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EWI 대시보드 — 다운턴 신호를 30일 내 실행 전환으로 바꾼다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결정 추적 + 28개 EWI 지표 + 12개 자동 트리거 · 실시간 모니터링 · 자동 발동 메커니즘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5823793" cy="6191250"/>
          </a:xfrm>
          <a:prstGeom prst="rect">
            <a:avLst/>
          </a:prstGeom>
          <a:solidFill>
            <a:srgbClr val="E8EE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0125" y="2524125"/>
            <a:ext cx="55079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0125" y="2762250"/>
            <a:ext cx="55079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결정 추적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00125" y="3200400"/>
            <a:ext cx="5347543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2050" y="3324225"/>
            <a:ext cx="15283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HBM4 NVIDIA 점유율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44617" y="3324225"/>
            <a:ext cx="5173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D-150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0125" y="3705225"/>
            <a:ext cx="5347543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2050" y="3829050"/>
            <a:ext cx="135076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비중국 다각화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44617" y="3829050"/>
            <a:ext cx="5173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D-150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0125" y="4210050"/>
            <a:ext cx="5347543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2050" y="4333875"/>
            <a:ext cx="161151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DRAM R&amp;D + IMEC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44617" y="4333875"/>
            <a:ext cx="5173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D-240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0125" y="4714875"/>
            <a:ext cx="5347543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2050" y="4838700"/>
            <a:ext cx="11382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텍사스 1·2단계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44617" y="4838700"/>
            <a:ext cx="5173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D-240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0125" y="5219700"/>
            <a:ext cx="5347543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2050" y="5343525"/>
            <a:ext cx="11028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D5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효율화 도구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44617" y="5343525"/>
            <a:ext cx="5173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D-240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0125" y="5724525"/>
            <a:ext cx="5347543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2050" y="5848350"/>
            <a:ext cx="12122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D6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RS-1·4·5 정책화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44617" y="5848350"/>
            <a:ext cx="5173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D-150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0125" y="6229350"/>
            <a:ext cx="5347543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2050" y="6353175"/>
            <a:ext cx="138053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D7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잉여 인력 전환 배치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44617" y="6353175"/>
            <a:ext cx="5173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D-330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00125" y="6734175"/>
            <a:ext cx="5347543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2050" y="6858000"/>
            <a:ext cx="135076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D8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텍사스 추가 보조금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44617" y="6858000"/>
            <a:ext cx="5173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D-240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00125" y="7239000"/>
            <a:ext cx="5347543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62050" y="7362825"/>
            <a:ext cx="15080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D9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다운사이클 M&amp;A 펀드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44617" y="7362825"/>
            <a:ext cx="5173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D-240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14393" y="2286000"/>
            <a:ext cx="4076700" cy="61722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6" name="Text 34"/>
          <p:cNvSpPr/>
          <p:nvPr/>
        </p:nvSpPr>
        <p:spPr>
          <a:xfrm>
            <a:off x="7042993" y="2514600"/>
            <a:ext cx="37280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02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42993" y="2752725"/>
            <a:ext cx="37280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28개 EWI 지표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7042993" y="3190875"/>
            <a:ext cx="3619500" cy="108585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04918" y="3352800"/>
            <a:ext cx="339451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CADENCE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7204918" y="3600450"/>
            <a:ext cx="3391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204918" y="3914775"/>
            <a:ext cx="3391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7620298" y="3600450"/>
            <a:ext cx="3391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620298" y="3914775"/>
            <a:ext cx="3391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8035677" y="3600450"/>
            <a:ext cx="3391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035677" y="3914775"/>
            <a:ext cx="3391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7042993" y="4429125"/>
            <a:ext cx="3619500" cy="752475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04918" y="4591050"/>
            <a:ext cx="339451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7204918" y="4872038"/>
            <a:ext cx="114300" cy="114300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49" name="Text 47"/>
          <p:cNvSpPr/>
          <p:nvPr/>
        </p:nvSpPr>
        <p:spPr>
          <a:xfrm>
            <a:off x="7414468" y="4829175"/>
            <a:ext cx="321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869436" y="4872038"/>
            <a:ext cx="114300" cy="11430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51" name="Text 49"/>
          <p:cNvSpPr/>
          <p:nvPr/>
        </p:nvSpPr>
        <p:spPr>
          <a:xfrm>
            <a:off x="8078986" y="4829175"/>
            <a:ext cx="321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533954" y="4872038"/>
            <a:ext cx="114300" cy="11430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53" name="Text 51"/>
          <p:cNvSpPr/>
          <p:nvPr/>
        </p:nvSpPr>
        <p:spPr>
          <a:xfrm>
            <a:off x="8743504" y="4829175"/>
            <a:ext cx="321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42993" y="5334000"/>
            <a:ext cx="3619500" cy="733425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4918" y="5495925"/>
            <a:ext cx="339451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7204918" y="5705475"/>
            <a:ext cx="33945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갱신 · Yahoo Finance · WSTS · TrendForce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042993" y="6219825"/>
            <a:ext cx="3619500" cy="84772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8" name="Text 56"/>
          <p:cNvSpPr/>
          <p:nvPr/>
        </p:nvSpPr>
        <p:spPr>
          <a:xfrm>
            <a:off x="7195393" y="6372225"/>
            <a:ext cx="341414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75" kern="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TRAJECTORY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7195393" y="6553200"/>
            <a:ext cx="341414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궤적 추적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A/B/C/D 어느 쪽으로 이동하는지 시각화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1119693" y="2286000"/>
            <a:ext cx="6406307" cy="619125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357818" y="2524125"/>
            <a:ext cx="610795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03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1357818" y="2762250"/>
            <a:ext cx="61079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자동 트리거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1357818" y="320040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500693" y="328612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빅테크 CapEx YoY −25% → C·D 경보</a:t>
            </a:r>
            <a:endParaRPr lang="en-US" sz="975" dirty="0"/>
          </a:p>
        </p:txBody>
      </p:sp>
      <p:sp>
        <p:nvSpPr>
          <p:cNvPr id="65" name="Shape 63"/>
          <p:cNvSpPr/>
          <p:nvPr/>
        </p:nvSpPr>
        <p:spPr>
          <a:xfrm>
            <a:off x="11357818" y="360045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500693" y="368617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 법안 통과 → A·C 긴급</a:t>
            </a:r>
            <a:endParaRPr lang="en-US" sz="975" dirty="0"/>
          </a:p>
        </p:txBody>
      </p:sp>
      <p:sp>
        <p:nvSpPr>
          <p:cNvPr id="67" name="Shape 65"/>
          <p:cNvSpPr/>
          <p:nvPr/>
        </p:nvSpPr>
        <p:spPr>
          <a:xfrm>
            <a:off x="11357818" y="400050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500693" y="408622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가격 6M −30% → C·D</a:t>
            </a:r>
            <a:endParaRPr lang="en-US" sz="975" dirty="0"/>
          </a:p>
        </p:txBody>
      </p:sp>
      <p:sp>
        <p:nvSpPr>
          <p:cNvPr id="69" name="Shape 67"/>
          <p:cNvSpPr/>
          <p:nvPr/>
        </p:nvSpPr>
        <p:spPr>
          <a:xfrm>
            <a:off x="11357818" y="440055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500693" y="448627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라이선스 거절 → A·C</a:t>
            </a:r>
            <a:endParaRPr lang="en-US" sz="975" dirty="0"/>
          </a:p>
        </p:txBody>
      </p:sp>
      <p:sp>
        <p:nvSpPr>
          <p:cNvPr id="71" name="Shape 69"/>
          <p:cNvSpPr/>
          <p:nvPr/>
        </p:nvSpPr>
        <p:spPr>
          <a:xfrm>
            <a:off x="11357818" y="480060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500693" y="488632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CXMT HBM4 양산 → D 가속</a:t>
            </a:r>
            <a:endParaRPr lang="en-US" sz="975" dirty="0"/>
          </a:p>
        </p:txBody>
      </p:sp>
      <p:sp>
        <p:nvSpPr>
          <p:cNvPr id="73" name="Shape 71"/>
          <p:cNvSpPr/>
          <p:nvPr/>
        </p:nvSpPr>
        <p:spPr>
          <a:xfrm>
            <a:off x="11357818" y="520065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500693" y="528637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M&amp;A 타깃 EV/EBITDA &lt; 5× 6M → 펀드</a:t>
            </a:r>
            <a:endParaRPr lang="en-US" sz="975" dirty="0"/>
          </a:p>
        </p:txBody>
      </p:sp>
      <p:sp>
        <p:nvSpPr>
          <p:cNvPr id="75" name="Shape 73"/>
          <p:cNvSpPr/>
          <p:nvPr/>
        </p:nvSpPr>
        <p:spPr>
          <a:xfrm>
            <a:off x="11357818" y="560070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500693" y="568642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MSFT AI CapEx YoY −20% → 다운턴</a:t>
            </a:r>
            <a:endParaRPr lang="en-US" sz="975" dirty="0"/>
          </a:p>
        </p:txBody>
      </p:sp>
      <p:sp>
        <p:nvSpPr>
          <p:cNvPr id="77" name="Shape 75"/>
          <p:cNvSpPr/>
          <p:nvPr/>
        </p:nvSpPr>
        <p:spPr>
          <a:xfrm>
            <a:off x="11357818" y="600075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500693" y="608647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T8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텍사스 2단계 미발표 → A·C 위협</a:t>
            </a:r>
            <a:endParaRPr lang="en-US" sz="975" dirty="0"/>
          </a:p>
        </p:txBody>
      </p:sp>
      <p:sp>
        <p:nvSpPr>
          <p:cNvPr id="79" name="Shape 77"/>
          <p:cNvSpPr/>
          <p:nvPr/>
        </p:nvSpPr>
        <p:spPr>
          <a:xfrm>
            <a:off x="11357818" y="640080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500693" y="648652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T9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빅테크 AI 매출 $500B → B 가속</a:t>
            </a:r>
            <a:endParaRPr lang="en-US" sz="975" dirty="0"/>
          </a:p>
        </p:txBody>
      </p:sp>
      <p:sp>
        <p:nvSpPr>
          <p:cNvPr id="81" name="Shape 79"/>
          <p:cNvSpPr/>
          <p:nvPr/>
        </p:nvSpPr>
        <p:spPr>
          <a:xfrm>
            <a:off x="11357818" y="680085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1500693" y="688657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T10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DRAM 전력 −50% PoC → E</a:t>
            </a:r>
            <a:endParaRPr lang="en-US" sz="975" dirty="0"/>
          </a:p>
        </p:txBody>
      </p:sp>
      <p:sp>
        <p:nvSpPr>
          <p:cNvPr id="83" name="Shape 81"/>
          <p:cNvSpPr/>
          <p:nvPr/>
        </p:nvSpPr>
        <p:spPr>
          <a:xfrm>
            <a:off x="11357818" y="720090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1500693" y="728662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T11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HBM4 NVIDIA 미발표 → 전략 위기</a:t>
            </a:r>
            <a:endParaRPr lang="en-US" sz="975" dirty="0"/>
          </a:p>
        </p:txBody>
      </p:sp>
      <p:sp>
        <p:nvSpPr>
          <p:cNvPr id="85" name="Shape 83"/>
          <p:cNvSpPr/>
          <p:nvPr/>
        </p:nvSpPr>
        <p:spPr>
          <a:xfrm>
            <a:off x="11357818" y="7600950"/>
            <a:ext cx="593005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500693" y="7686675"/>
            <a:ext cx="58222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A1A1A"/>
                </a:solidFill>
                <a:highlight>
                  <a:srgbClr val="FFFF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고객 25% 초과 → RS-4 발동</a:t>
            </a:r>
            <a:endParaRPr lang="en-US" sz="975" dirty="0"/>
          </a:p>
        </p:txBody>
      </p:sp>
      <p:sp>
        <p:nvSpPr>
          <p:cNvPr id="87" name="Shape 85"/>
          <p:cNvSpPr/>
          <p:nvPr/>
        </p:nvSpPr>
        <p:spPr>
          <a:xfrm>
            <a:off x="762000" y="8229600"/>
            <a:ext cx="1676400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8" name="Shape 86"/>
          <p:cNvSpPr/>
          <p:nvPr/>
        </p:nvSpPr>
        <p:spPr>
          <a:xfrm>
            <a:off x="762000" y="8229600"/>
            <a:ext cx="5715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9" name="Shape 87"/>
          <p:cNvSpPr/>
          <p:nvPr/>
        </p:nvSpPr>
        <p:spPr>
          <a:xfrm>
            <a:off x="1085850" y="8420100"/>
            <a:ext cx="997148" cy="304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0" name="Text 88"/>
          <p:cNvSpPr/>
          <p:nvPr/>
        </p:nvSpPr>
        <p:spPr>
          <a:xfrm>
            <a:off x="1219200" y="8477250"/>
            <a:ext cx="806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2273498" y="8434388"/>
            <a:ext cx="68011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지표만 보지 말고 트리거를 정의하라 —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발동 메커니즘이 의사결정 속도를 만든다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3" name="Text 91"/>
          <p:cNvSpPr/>
          <p:nvPr/>
        </p:nvSpPr>
        <p:spPr>
          <a:xfrm>
            <a:off x="762000" y="9891713"/>
            <a:ext cx="17706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모니터링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 · 전략 리마인드 (1 / 2)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결정은 묶음이다 — 분리해서 처리하면 효과가 사라진다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결정의 시한: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Q4 이내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5473601" cy="172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4003625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86000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86000"/>
            <a:ext cx="38100" cy="17271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6226076" y="2286000"/>
            <a:ext cx="9525" cy="1727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" y="2524125"/>
            <a:ext cx="51178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01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028700" y="2771775"/>
            <a:ext cx="51178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HBM4 NVIDIA 점유율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028700" y="3076575"/>
            <a:ext cx="5117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 90%+ Q3 2026 · 점유율 </a:t>
            </a:r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28% → 40%+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28700" y="3352800"/>
            <a:ext cx="51178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75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D-150 · 가장 임박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7051" y="2286000"/>
            <a:ext cx="5473750" cy="172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7051" y="4003625"/>
            <a:ext cx="5473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7051" y="2286000"/>
            <a:ext cx="5473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7051" y="2286000"/>
            <a:ext cx="38100" cy="172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71275" y="2286000"/>
            <a:ext cx="9525" cy="1727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3751" y="2524125"/>
            <a:ext cx="511799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02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673751" y="2771775"/>
            <a:ext cx="51179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비중국 다각화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6673751" y="3076575"/>
            <a:ext cx="51179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2026 LTA 체결 · 6개월 비축 · 캐나다·호주·카자흐스탄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3751" y="3352800"/>
            <a:ext cx="5117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75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D-150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052250" y="2286000"/>
            <a:ext cx="5473601" cy="172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52250" y="4003625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52250" y="2286000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52250" y="2286000"/>
            <a:ext cx="38100" cy="172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27" name="Shape 25"/>
          <p:cNvSpPr/>
          <p:nvPr/>
        </p:nvSpPr>
        <p:spPr>
          <a:xfrm>
            <a:off x="17516326" y="2286000"/>
            <a:ext cx="9525" cy="1727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Text 26"/>
          <p:cNvSpPr/>
          <p:nvPr/>
        </p:nvSpPr>
        <p:spPr>
          <a:xfrm>
            <a:off x="12318950" y="2524125"/>
            <a:ext cx="51178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03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2318950" y="2771775"/>
            <a:ext cx="51178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DRAM R&amp;D + IMEC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2318950" y="3076575"/>
            <a:ext cx="5117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2026 협약 체결 · </a:t>
            </a:r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$200M / 200–300인 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마이크론·SK 추격 차단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318950" y="3352800"/>
            <a:ext cx="51178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75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D-240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2000" y="4184600"/>
            <a:ext cx="5473601" cy="172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62000" y="5902226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4" name="Shape 32"/>
          <p:cNvSpPr/>
          <p:nvPr/>
        </p:nvSpPr>
        <p:spPr>
          <a:xfrm>
            <a:off x="762000" y="4184600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5" name="Shape 33"/>
          <p:cNvSpPr/>
          <p:nvPr/>
        </p:nvSpPr>
        <p:spPr>
          <a:xfrm>
            <a:off x="762000" y="4184600"/>
            <a:ext cx="38100" cy="172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6" name="Shape 34"/>
          <p:cNvSpPr/>
          <p:nvPr/>
        </p:nvSpPr>
        <p:spPr>
          <a:xfrm>
            <a:off x="6226076" y="4184600"/>
            <a:ext cx="9525" cy="1727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7" name="Text 35"/>
          <p:cNvSpPr/>
          <p:nvPr/>
        </p:nvSpPr>
        <p:spPr>
          <a:xfrm>
            <a:off x="1028700" y="4422725"/>
            <a:ext cx="51178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04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028700" y="4670375"/>
            <a:ext cx="51178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텍사스 1·2단계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028700" y="4975175"/>
            <a:ext cx="5117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가동 + 2단계 발표 · 미국 거점 확정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28700" y="5251400"/>
            <a:ext cx="51178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75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D-240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7051" y="4184600"/>
            <a:ext cx="5473750" cy="172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7051" y="5902226"/>
            <a:ext cx="5473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7051" y="4184600"/>
            <a:ext cx="5473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7051" y="4184600"/>
            <a:ext cx="38100" cy="172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871275" y="4184600"/>
            <a:ext cx="9525" cy="1727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6" name="Text 44"/>
          <p:cNvSpPr/>
          <p:nvPr/>
        </p:nvSpPr>
        <p:spPr>
          <a:xfrm>
            <a:off x="6673751" y="4422725"/>
            <a:ext cx="511799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05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6673751" y="4670375"/>
            <a:ext cx="51179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효율화 도구 전사 도입</a:t>
            </a:r>
            <a:endParaRPr lang="en-US" sz="1425" dirty="0"/>
          </a:p>
        </p:txBody>
      </p:sp>
      <p:sp>
        <p:nvSpPr>
          <p:cNvPr id="48" name="Text 46"/>
          <p:cNvSpPr/>
          <p:nvPr/>
        </p:nvSpPr>
        <p:spPr>
          <a:xfrm>
            <a:off x="6673751" y="4975175"/>
            <a:ext cx="51179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파일럿 → Q1 전사 전개 · RS-2 · RS-3 선행 조건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673751" y="5251400"/>
            <a:ext cx="5117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75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D-240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2052250" y="4184600"/>
            <a:ext cx="5473601" cy="172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2052250" y="5902226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2" name="Shape 50"/>
          <p:cNvSpPr/>
          <p:nvPr/>
        </p:nvSpPr>
        <p:spPr>
          <a:xfrm>
            <a:off x="12052250" y="4184600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1"/>
          <p:cNvSpPr/>
          <p:nvPr/>
        </p:nvSpPr>
        <p:spPr>
          <a:xfrm>
            <a:off x="12052250" y="4184600"/>
            <a:ext cx="38100" cy="172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54" name="Shape 52"/>
          <p:cNvSpPr/>
          <p:nvPr/>
        </p:nvSpPr>
        <p:spPr>
          <a:xfrm>
            <a:off x="17516326" y="4184600"/>
            <a:ext cx="9525" cy="1727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5" name="Text 53"/>
          <p:cNvSpPr/>
          <p:nvPr/>
        </p:nvSpPr>
        <p:spPr>
          <a:xfrm>
            <a:off x="12318950" y="4422725"/>
            <a:ext cx="51178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06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12318950" y="4670375"/>
            <a:ext cx="51178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RS-1·RS-4·RS-5 이사회 정책화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12318950" y="4975175"/>
            <a:ext cx="5117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다운사이클 capex </a:t>
            </a:r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4조원 명문화 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활동가 투자자 방어 거버넌스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2318950" y="5251400"/>
            <a:ext cx="51178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75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D-150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62000" y="6083201"/>
            <a:ext cx="5473601" cy="172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762000" y="7800826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1" name="Shape 59"/>
          <p:cNvSpPr/>
          <p:nvPr/>
        </p:nvSpPr>
        <p:spPr>
          <a:xfrm>
            <a:off x="762000" y="6083201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2" name="Shape 60"/>
          <p:cNvSpPr/>
          <p:nvPr/>
        </p:nvSpPr>
        <p:spPr>
          <a:xfrm>
            <a:off x="762000" y="6083201"/>
            <a:ext cx="38100" cy="172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63" name="Shape 61"/>
          <p:cNvSpPr/>
          <p:nvPr/>
        </p:nvSpPr>
        <p:spPr>
          <a:xfrm>
            <a:off x="6226076" y="6083201"/>
            <a:ext cx="9525" cy="1727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" y="6321326"/>
            <a:ext cx="51178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07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1028700" y="6568976"/>
            <a:ext cx="51178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잉여 인력 전환 배치</a:t>
            </a:r>
            <a:endParaRPr lang="en-US" sz="1425" dirty="0"/>
          </a:p>
        </p:txBody>
      </p:sp>
      <p:sp>
        <p:nvSpPr>
          <p:cNvPr id="66" name="Text 64"/>
          <p:cNvSpPr/>
          <p:nvPr/>
        </p:nvSpPr>
        <p:spPr>
          <a:xfrm>
            <a:off x="1028700" y="6873776"/>
            <a:ext cx="5117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Q1 가시화 · 분기별 사업부장 보고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028700" y="7150001"/>
            <a:ext cx="51178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75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D-330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07051" y="6083201"/>
            <a:ext cx="5473750" cy="172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6407051" y="7800826"/>
            <a:ext cx="5473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0" name="Shape 68"/>
          <p:cNvSpPr/>
          <p:nvPr/>
        </p:nvSpPr>
        <p:spPr>
          <a:xfrm>
            <a:off x="6407051" y="6083201"/>
            <a:ext cx="54737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1" name="Shape 69"/>
          <p:cNvSpPr/>
          <p:nvPr/>
        </p:nvSpPr>
        <p:spPr>
          <a:xfrm>
            <a:off x="6407051" y="6083201"/>
            <a:ext cx="38100" cy="172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72" name="Shape 70"/>
          <p:cNvSpPr/>
          <p:nvPr/>
        </p:nvSpPr>
        <p:spPr>
          <a:xfrm>
            <a:off x="11871275" y="6083201"/>
            <a:ext cx="9525" cy="1727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3" name="Text 71"/>
          <p:cNvSpPr/>
          <p:nvPr/>
        </p:nvSpPr>
        <p:spPr>
          <a:xfrm>
            <a:off x="6673751" y="6321326"/>
            <a:ext cx="511799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08</a:t>
            </a:r>
            <a:endParaRPr lang="en-US" sz="975" dirty="0"/>
          </a:p>
        </p:txBody>
      </p:sp>
      <p:sp>
        <p:nvSpPr>
          <p:cNvPr id="74" name="Text 72"/>
          <p:cNvSpPr/>
          <p:nvPr/>
        </p:nvSpPr>
        <p:spPr>
          <a:xfrm>
            <a:off x="6673751" y="6568976"/>
            <a:ext cx="51179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텍사스 2단계 추가 보조금</a:t>
            </a:r>
            <a:endParaRPr lang="en-US" sz="1425" dirty="0"/>
          </a:p>
        </p:txBody>
      </p:sp>
      <p:sp>
        <p:nvSpPr>
          <p:cNvPr id="75" name="Text 73"/>
          <p:cNvSpPr/>
          <p:nvPr/>
        </p:nvSpPr>
        <p:spPr>
          <a:xfrm>
            <a:off x="6673751" y="6873776"/>
            <a:ext cx="51179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CHIPS 추가 협상 + LTA · Tesla 외 미국계 빅테크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673751" y="7150001"/>
            <a:ext cx="5117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75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D-240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2052250" y="6083201"/>
            <a:ext cx="5473601" cy="172715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78" name="Shape 76"/>
          <p:cNvSpPr/>
          <p:nvPr/>
        </p:nvSpPr>
        <p:spPr>
          <a:xfrm>
            <a:off x="12052250" y="7800826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9" name="Shape 77"/>
          <p:cNvSpPr/>
          <p:nvPr/>
        </p:nvSpPr>
        <p:spPr>
          <a:xfrm>
            <a:off x="12052250" y="6083201"/>
            <a:ext cx="5473601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0" name="Shape 78"/>
          <p:cNvSpPr/>
          <p:nvPr/>
        </p:nvSpPr>
        <p:spPr>
          <a:xfrm>
            <a:off x="12052250" y="6083201"/>
            <a:ext cx="38100" cy="172715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1" name="Shape 79"/>
          <p:cNvSpPr/>
          <p:nvPr/>
        </p:nvSpPr>
        <p:spPr>
          <a:xfrm>
            <a:off x="17516326" y="6083201"/>
            <a:ext cx="9525" cy="17271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2" name="Text 80"/>
          <p:cNvSpPr/>
          <p:nvPr/>
        </p:nvSpPr>
        <p:spPr>
          <a:xfrm>
            <a:off x="12318950" y="6321326"/>
            <a:ext cx="51178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09</a:t>
            </a:r>
            <a:endParaRPr lang="en-US" sz="975" dirty="0"/>
          </a:p>
        </p:txBody>
      </p:sp>
      <p:sp>
        <p:nvSpPr>
          <p:cNvPr id="83" name="Text 81"/>
          <p:cNvSpPr/>
          <p:nvPr/>
        </p:nvSpPr>
        <p:spPr>
          <a:xfrm>
            <a:off x="12318950" y="6568976"/>
            <a:ext cx="51178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다운사이클 M&amp;A 펀드</a:t>
            </a:r>
            <a:endParaRPr lang="en-US" sz="1425" dirty="0"/>
          </a:p>
        </p:txBody>
      </p:sp>
      <p:sp>
        <p:nvSpPr>
          <p:cNvPr id="84" name="Text 82"/>
          <p:cNvSpPr/>
          <p:nvPr/>
        </p:nvSpPr>
        <p:spPr>
          <a:xfrm>
            <a:off x="12318950" y="6873776"/>
            <a:ext cx="5117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5,000억원 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적립 · Disney-Marvel 자동 트리거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12318950" y="7150001"/>
            <a:ext cx="51178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75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D-240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62000" y="8039100"/>
            <a:ext cx="16764000" cy="9906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87" name="Text 85"/>
          <p:cNvSpPr/>
          <p:nvPr/>
        </p:nvSpPr>
        <p:spPr>
          <a:xfrm>
            <a:off x="1066800" y="8267700"/>
            <a:ext cx="440656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LOGIC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1066800" y="8486775"/>
            <a:ext cx="44065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결정은 묶음이다 — 하나만 해도 효과 없음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13428018" y="8434388"/>
            <a:ext cx="13504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직렬 의존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D1·D5·D7</a:t>
            </a:r>
            <a:endParaRPr lang="en-US" sz="1125" dirty="0"/>
          </a:p>
        </p:txBody>
      </p:sp>
      <p:sp>
        <p:nvSpPr>
          <p:cNvPr id="90" name="Text 88"/>
          <p:cNvSpPr/>
          <p:nvPr/>
        </p:nvSpPr>
        <p:spPr>
          <a:xfrm>
            <a:off x="14968984" y="8434388"/>
            <a:ext cx="11331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처리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D4·D8</a:t>
            </a:r>
            <a:endParaRPr lang="en-US" sz="1125" dirty="0"/>
          </a:p>
        </p:txBody>
      </p:sp>
      <p:sp>
        <p:nvSpPr>
          <p:cNvPr id="91" name="Text 89"/>
          <p:cNvSpPr/>
          <p:nvPr/>
        </p:nvSpPr>
        <p:spPr>
          <a:xfrm>
            <a:off x="16292661" y="8434388"/>
            <a:ext cx="10047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D6 → D9</a:t>
            </a:r>
            <a:endParaRPr lang="en-US" sz="1125" dirty="0"/>
          </a:p>
        </p:txBody>
      </p:sp>
      <p:sp>
        <p:nvSpPr>
          <p:cNvPr id="92" name="Shape 90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3" name="Text 91"/>
          <p:cNvSpPr/>
          <p:nvPr/>
        </p:nvSpPr>
        <p:spPr>
          <a:xfrm>
            <a:off x="762000" y="9891713"/>
            <a:ext cx="17706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 · 리마인드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72669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 · 전략 리마인드 (2 / 2)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85825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b="1" spc="-37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· Side · Robust 9개 핵심 전략의 묶음이 세 문제를 동시에 해결한다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16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흑자 · 1위 회복 · 자산 폭락 시 M&amp;A — 단일 전략으로는 어느 하나도 풀리지 않음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6764000" cy="1609725"/>
          </a:xfrm>
          <a:prstGeom prst="rect">
            <a:avLst/>
          </a:prstGeom>
          <a:solidFill>
            <a:srgbClr val="E8EE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2781" y="2600325"/>
            <a:ext cx="164624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225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2781" y="2857500"/>
            <a:ext cx="164624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"호황의 정점에서 다운턴을 어떻게 준비할 것인가?"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2781" y="3343275"/>
            <a:ext cx="164624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다운턴은 옵니다 (사이클 산업) · 그러나 시점·규모는 알 수 없습니다 (불확실성) · 다운턴 진입 후에는 늦습니다 (사이클의 본질)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0540" y="4048125"/>
            <a:ext cx="17266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62000" y="4619625"/>
            <a:ext cx="16764000" cy="1971675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924425"/>
            <a:ext cx="1648206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225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51435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플래닝 + 9개 즉시 결정 + 7개 Robust 전략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5638800"/>
            <a:ext cx="3914775" cy="64770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3975" y="5772150"/>
            <a:ext cx="79851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시나리오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3975" y="5953125"/>
            <a:ext cx="99458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가능한 미래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72075" y="5638800"/>
            <a:ext cx="3914775" cy="64770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3050" y="5772150"/>
            <a:ext cx="6542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Bet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53050" y="5953125"/>
            <a:ext cx="16676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가능성 높은 미래에 베팅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01150" y="5638800"/>
            <a:ext cx="3914775" cy="64770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2125" y="5772150"/>
            <a:ext cx="68637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 Bets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82125" y="5953125"/>
            <a:ext cx="14434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4개에 +15% 보험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230225" y="5638800"/>
            <a:ext cx="3914775" cy="64770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411200" y="5772150"/>
            <a:ext cx="6533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Robust 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411200" y="5953125"/>
            <a:ext cx="13924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무관 가치 창출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0540" y="6743700"/>
            <a:ext cx="17266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62000" y="7315200"/>
            <a:ext cx="4062412" cy="962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8267700"/>
            <a:ext cx="4062412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7315200"/>
            <a:ext cx="4062412" cy="381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000" y="7315200"/>
            <a:ext cx="9525" cy="962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0" name="Shape 28"/>
          <p:cNvSpPr/>
          <p:nvPr/>
        </p:nvSpPr>
        <p:spPr>
          <a:xfrm>
            <a:off x="4814888" y="7315200"/>
            <a:ext cx="9525" cy="962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1" name="Text 29"/>
          <p:cNvSpPr/>
          <p:nvPr/>
        </p:nvSpPr>
        <p:spPr>
          <a:xfrm>
            <a:off x="1019175" y="7562850"/>
            <a:ext cx="36545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다운턴 흑자 유지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19175" y="7858125"/>
            <a:ext cx="36545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RS-5 다운사이클 흑자 구조 + RS-1 옵션 캐파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4995863" y="7315200"/>
            <a:ext cx="4062412" cy="962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995863" y="8267700"/>
            <a:ext cx="4062412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5" name="Shape 33"/>
          <p:cNvSpPr/>
          <p:nvPr/>
        </p:nvSpPr>
        <p:spPr>
          <a:xfrm>
            <a:off x="4995863" y="7315200"/>
            <a:ext cx="4062412" cy="381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Shape 34"/>
          <p:cNvSpPr/>
          <p:nvPr/>
        </p:nvSpPr>
        <p:spPr>
          <a:xfrm>
            <a:off x="4995863" y="7315200"/>
            <a:ext cx="9525" cy="962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7" name="Shape 35"/>
          <p:cNvSpPr/>
          <p:nvPr/>
        </p:nvSpPr>
        <p:spPr>
          <a:xfrm>
            <a:off x="9048750" y="7315200"/>
            <a:ext cx="9525" cy="962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Text 36"/>
          <p:cNvSpPr/>
          <p:nvPr/>
        </p:nvSpPr>
        <p:spPr>
          <a:xfrm>
            <a:off x="5253038" y="7562850"/>
            <a:ext cx="36545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회복기 1위 회복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253038" y="7858125"/>
            <a:ext cx="36545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Bet + RS-1 + RS-3 고객특화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9229725" y="7315200"/>
            <a:ext cx="4062412" cy="962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9229725" y="8267700"/>
            <a:ext cx="4062412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2" name="Shape 40"/>
          <p:cNvSpPr/>
          <p:nvPr/>
        </p:nvSpPr>
        <p:spPr>
          <a:xfrm>
            <a:off x="9229725" y="7315200"/>
            <a:ext cx="4062412" cy="381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" name="Shape 41"/>
          <p:cNvSpPr/>
          <p:nvPr/>
        </p:nvSpPr>
        <p:spPr>
          <a:xfrm>
            <a:off x="9229725" y="7315200"/>
            <a:ext cx="9525" cy="962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4" name="Shape 42"/>
          <p:cNvSpPr/>
          <p:nvPr/>
        </p:nvSpPr>
        <p:spPr>
          <a:xfrm>
            <a:off x="13282613" y="7315200"/>
            <a:ext cx="9525" cy="962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5" name="Text 43"/>
          <p:cNvSpPr/>
          <p:nvPr/>
        </p:nvSpPr>
        <p:spPr>
          <a:xfrm>
            <a:off x="9486900" y="7562850"/>
            <a:ext cx="36545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자동 전략 전환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486900" y="7858125"/>
            <a:ext cx="36545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메커니즘 + 30일 의사결정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13463588" y="7315200"/>
            <a:ext cx="4062412" cy="962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3463588" y="8267700"/>
            <a:ext cx="4062412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9" name="Shape 47"/>
          <p:cNvSpPr/>
          <p:nvPr/>
        </p:nvSpPr>
        <p:spPr>
          <a:xfrm>
            <a:off x="13463588" y="7315200"/>
            <a:ext cx="4062412" cy="381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63588" y="7315200"/>
            <a:ext cx="9525" cy="962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1" name="Shape 49"/>
          <p:cNvSpPr/>
          <p:nvPr/>
        </p:nvSpPr>
        <p:spPr>
          <a:xfrm>
            <a:off x="17516475" y="7315200"/>
            <a:ext cx="9525" cy="9620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2" name="Text 50"/>
          <p:cNvSpPr/>
          <p:nvPr/>
        </p:nvSpPr>
        <p:spPr>
          <a:xfrm>
            <a:off x="13720763" y="7562850"/>
            <a:ext cx="36545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폭락기 M&amp;A 집행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3720763" y="7858125"/>
            <a:ext cx="36545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RS-5 + Disney-Marvel 모델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762000" y="8505825"/>
            <a:ext cx="1676400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5" name="Shape 53"/>
          <p:cNvSpPr/>
          <p:nvPr/>
        </p:nvSpPr>
        <p:spPr>
          <a:xfrm>
            <a:off x="762000" y="8505825"/>
            <a:ext cx="5715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5850" y="8696325"/>
            <a:ext cx="700236" cy="304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7" name="Text 55"/>
          <p:cNvSpPr/>
          <p:nvPr/>
        </p:nvSpPr>
        <p:spPr>
          <a:xfrm>
            <a:off x="1219200" y="8753475"/>
            <a:ext cx="5097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976586" y="8710613"/>
            <a:ext cx="602594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전략은 다운턴을 막을 수 없다.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다운턴 후에 우리만 살아남게 한다.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762000" y="9667875"/>
            <a:ext cx="167640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0" name="Text 58"/>
          <p:cNvSpPr/>
          <p:nvPr/>
        </p:nvSpPr>
        <p:spPr>
          <a:xfrm>
            <a:off x="762000" y="9891713"/>
            <a:ext cx="17706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spc="38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 · 리마인드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7023705" y="989171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38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" cy="102870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990600"/>
            <a:ext cx="762000" cy="4762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2095500" y="762000"/>
            <a:ext cx="28133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45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095500" y="1076325"/>
            <a:ext cx="281338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결의 요청 사항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1800225"/>
            <a:ext cx="1648206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spc="-150" kern="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"호황의 정점이 다운턴 준비의 마지막 기회다."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143000" y="3781425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5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 9개 결정의 묶음 의결을 요청드립니다 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4629150"/>
            <a:ext cx="5207050" cy="2143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6762750"/>
            <a:ext cx="52070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4629150"/>
            <a:ext cx="5207050" cy="5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4629150"/>
            <a:ext cx="9525" cy="21431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0525" y="4629150"/>
            <a:ext cx="9525" cy="21431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3" name="Text 11"/>
          <p:cNvSpPr/>
          <p:nvPr/>
        </p:nvSpPr>
        <p:spPr>
          <a:xfrm>
            <a:off x="1419225" y="4953000"/>
            <a:ext cx="479423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419225" y="5505450"/>
            <a:ext cx="4794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방향 승인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9225" y="5867400"/>
            <a:ext cx="47942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B Main Bet + Side Bets + Robust 7개 전략 채택 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 ~ 2035 메모리 1위 회복 로드맵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40550" y="4629150"/>
            <a:ext cx="5207050" cy="2143125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40550" y="6762750"/>
            <a:ext cx="52070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8" name="Shape 16"/>
          <p:cNvSpPr/>
          <p:nvPr/>
        </p:nvSpPr>
        <p:spPr>
          <a:xfrm>
            <a:off x="6540550" y="4629150"/>
            <a:ext cx="5207050" cy="5715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6540550" y="4629150"/>
            <a:ext cx="9525" cy="21431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38074" y="4629150"/>
            <a:ext cx="9525" cy="21431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6816775" y="4953000"/>
            <a:ext cx="479423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16775" y="5505450"/>
            <a:ext cx="4794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즉시 결정 패키지 의결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16775" y="5867400"/>
            <a:ext cx="47942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HBM4 · 소재 · 3D DRAM · 텍사스 · AI 효율화 · 이사회 정책화 · 인력 전환 · 보조금 · M&amp;A 펀드 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 처리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모든 결정 시한 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Q4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938099" y="4629150"/>
            <a:ext cx="5207050" cy="2143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938099" y="6762750"/>
            <a:ext cx="52070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Shape 24"/>
          <p:cNvSpPr/>
          <p:nvPr/>
        </p:nvSpPr>
        <p:spPr>
          <a:xfrm>
            <a:off x="11938099" y="4629150"/>
            <a:ext cx="5207050" cy="571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938099" y="4629150"/>
            <a:ext cx="9525" cy="21431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Shape 26"/>
          <p:cNvSpPr/>
          <p:nvPr/>
        </p:nvSpPr>
        <p:spPr>
          <a:xfrm>
            <a:off x="17135624" y="4629150"/>
            <a:ext cx="9525" cy="21431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9" name="Text 27"/>
          <p:cNvSpPr/>
          <p:nvPr/>
        </p:nvSpPr>
        <p:spPr>
          <a:xfrm>
            <a:off x="12214324" y="4953000"/>
            <a:ext cx="479423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2214324" y="5505450"/>
            <a:ext cx="4794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 + 트리거 승인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214324" y="5867400"/>
            <a:ext cx="47942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내 의사결정 + 자동 발동 트리거 12개 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다운사이클 capex 하한 4조원/년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활동가 투자자 방어 의결권 구조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3000" y="9486900"/>
            <a:ext cx="34012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75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· DS부문 메모리사업부 전략기획팀 · 2026.05.06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15795724" y="9429750"/>
            <a:ext cx="1349276" cy="28575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4" name="Text 32"/>
          <p:cNvSpPr/>
          <p:nvPr/>
        </p:nvSpPr>
        <p:spPr>
          <a:xfrm>
            <a:off x="15929074" y="9486900"/>
            <a:ext cx="11587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 · 26 / 26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2026-05-13T14:15:16Z</dcterms:created>
  <dcterms:modified xsi:type="dcterms:W3CDTF">2026-05-13T14:15:16Z</dcterms:modified>
</cp:coreProperties>
</file>