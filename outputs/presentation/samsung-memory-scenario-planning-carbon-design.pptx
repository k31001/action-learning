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</p:sldIdLst>
  <p:notesMasterIdLst>
    <p:notesMasterId r:id="rId28"/>
  </p:notesMasterIdLst>
  <p:sldSz cx="18288000" cy="10287000"/>
  <p:notesSz cx="10287000" cy="18288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notesMaster" Target="notesMasters/notesMaster1.xml"/><Relationship Id="rId29" Type="http://schemas.openxmlformats.org/officeDocument/2006/relationships/presProps" Target="presProps.xml"/><Relationship Id="rId30" Type="http://schemas.openxmlformats.org/officeDocument/2006/relationships/viewProps" Target="viewProps.xml"/><Relationship Id="rId31" Type="http://schemas.openxmlformats.org/officeDocument/2006/relationships/theme" Target="theme/theme1.xml"/><Relationship Id="rId3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14300" cy="10287000"/>
          </a:xfrm>
          <a:prstGeom prst="rect">
            <a:avLst/>
          </a:prstGeom>
          <a:solidFill>
            <a:srgbClr val="1428A0"/>
          </a:solidFill>
          <a:ln/>
        </p:spPr>
      </p:sp>
      <p:sp>
        <p:nvSpPr>
          <p:cNvPr id="3" name="Text 1"/>
          <p:cNvSpPr/>
          <p:nvPr/>
        </p:nvSpPr>
        <p:spPr>
          <a:xfrm>
            <a:off x="1143000" y="2095500"/>
            <a:ext cx="16482060" cy="2762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0000"/>
              </a:lnSpc>
              <a:buNone/>
            </a:pPr>
            <a:r>
              <a:rPr lang="en-US" sz="1350" b="1" spc="450" kern="0" dirty="0">
                <a:solidFill>
                  <a:srgbClr val="1428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SAMSUNG ELECTRONICS · MEMORY · BOARD BRIEFING</a:t>
            </a:r>
            <a:endParaRPr lang="en-US" sz="1350" dirty="0"/>
          </a:p>
        </p:txBody>
      </p:sp>
      <p:sp>
        <p:nvSpPr>
          <p:cNvPr id="4" name="Shape 2"/>
          <p:cNvSpPr/>
          <p:nvPr/>
        </p:nvSpPr>
        <p:spPr>
          <a:xfrm>
            <a:off x="1143000" y="2638425"/>
            <a:ext cx="762000" cy="47625"/>
          </a:xfrm>
          <a:prstGeom prst="rect">
            <a:avLst/>
          </a:prstGeom>
          <a:solidFill>
            <a:srgbClr val="D97706"/>
          </a:solidFill>
          <a:ln/>
        </p:spPr>
      </p:sp>
      <p:sp>
        <p:nvSpPr>
          <p:cNvPr id="5" name="Text 3"/>
          <p:cNvSpPr/>
          <p:nvPr/>
        </p:nvSpPr>
        <p:spPr>
          <a:xfrm>
            <a:off x="1143000" y="3298627"/>
            <a:ext cx="16482060" cy="19431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7200" b="1" spc="-225" kern="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호황의 정점에서 다운턴을 준비하는 법</a:t>
            </a:r>
            <a:endParaRPr lang="en-US" sz="7200" dirty="0"/>
          </a:p>
        </p:txBody>
      </p:sp>
      <p:sp>
        <p:nvSpPr>
          <p:cNvPr id="6" name="Text 4"/>
          <p:cNvSpPr/>
          <p:nvPr/>
        </p:nvSpPr>
        <p:spPr>
          <a:xfrm>
            <a:off x="1143000" y="5470327"/>
            <a:ext cx="16482060" cy="4572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0000"/>
              </a:lnSpc>
              <a:buNone/>
            </a:pPr>
            <a:r>
              <a:rPr lang="en-US" sz="2400" dirty="0">
                <a:solidFill>
                  <a:srgbClr val="6B72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시나리오 플래닝 기반 전략 보고서</a:t>
            </a:r>
            <a:endParaRPr lang="en-US" sz="2400" dirty="0"/>
          </a:p>
        </p:txBody>
      </p:sp>
      <p:sp>
        <p:nvSpPr>
          <p:cNvPr id="7" name="Shape 5"/>
          <p:cNvSpPr/>
          <p:nvPr/>
        </p:nvSpPr>
        <p:spPr>
          <a:xfrm>
            <a:off x="1143000" y="6651427"/>
            <a:ext cx="3619500" cy="9525"/>
          </a:xfrm>
          <a:prstGeom prst="rect">
            <a:avLst/>
          </a:prstGeom>
          <a:solidFill>
            <a:srgbClr val="D1D5DB"/>
          </a:solidFill>
          <a:ln/>
        </p:spPr>
      </p:sp>
      <p:sp>
        <p:nvSpPr>
          <p:cNvPr id="8" name="Text 6"/>
          <p:cNvSpPr/>
          <p:nvPr/>
        </p:nvSpPr>
        <p:spPr>
          <a:xfrm>
            <a:off x="1143000" y="6965752"/>
            <a:ext cx="16482060" cy="10096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90000"/>
              </a:lnSpc>
              <a:buNone/>
            </a:pPr>
            <a:r>
              <a:rPr lang="en-US" sz="135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작성 </a:t>
            </a:r>
            <a:pPr algn="l" indent="0" marL="0">
              <a:lnSpc>
                <a:spcPct val="190000"/>
              </a:lnSpc>
              <a:buNone/>
            </a:pPr>
            <a:r>
              <a:rPr lang="en-US" sz="1350" dirty="0">
                <a:solidFill>
                  <a:srgbClr val="37415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DS부문 메모리사업부 전략기획팀 </a:t>
            </a:r>
            <a:pPr algn="l" indent="0" marL="0">
              <a:lnSpc>
                <a:spcPct val="190000"/>
              </a:lnSpc>
              <a:buNone/>
            </a:pPr>
            <a:r>
              <a:rPr lang="en-US" sz="135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일자 </a:t>
            </a:r>
            <a:pPr algn="l" indent="0" marL="0">
              <a:lnSpc>
                <a:spcPct val="190000"/>
              </a:lnSpc>
              <a:buNone/>
            </a:pPr>
            <a:r>
              <a:rPr lang="en-US" sz="1350" dirty="0">
                <a:solidFill>
                  <a:srgbClr val="37415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2026년 5월 6일 (Q1 결산 직후) </a:t>
            </a:r>
            <a:pPr algn="l" indent="0" marL="0">
              <a:lnSpc>
                <a:spcPct val="190000"/>
              </a:lnSpc>
              <a:buNone/>
            </a:pPr>
            <a:r>
              <a:rPr lang="en-US" sz="135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대상 </a:t>
            </a:r>
            <a:pPr algn="l" indent="0" marL="0">
              <a:lnSpc>
                <a:spcPct val="190000"/>
              </a:lnSpc>
              <a:buNone/>
            </a:pPr>
            <a:r>
              <a:rPr lang="en-US" sz="1350" dirty="0">
                <a:solidFill>
                  <a:srgbClr val="37415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메모리사업부 경영진 / 이사회</a:t>
            </a:r>
            <a:endParaRPr lang="en-US" sz="1350" dirty="0"/>
          </a:p>
        </p:txBody>
      </p:sp>
      <p:sp>
        <p:nvSpPr>
          <p:cNvPr id="9" name="Text 7"/>
          <p:cNvSpPr/>
          <p:nvPr/>
        </p:nvSpPr>
        <p:spPr>
          <a:xfrm>
            <a:off x="1143000" y="9291638"/>
            <a:ext cx="2844504" cy="2190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0000"/>
              </a:lnSpc>
              <a:buNone/>
            </a:pPr>
            <a:r>
              <a:rPr lang="en-US" sz="1050" spc="75" kern="0" dirty="0">
                <a:solidFill>
                  <a:srgbClr val="6B72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SAMSUNG ELECTRONICS · DS · MEMORY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15193268" y="9239250"/>
            <a:ext cx="1951732" cy="285750"/>
          </a:xfrm>
          <a:prstGeom prst="rect">
            <a:avLst/>
          </a:prstGeom>
          <a:solidFill>
            <a:srgbClr val="1428A0"/>
          </a:solidFill>
          <a:ln/>
        </p:spPr>
      </p:sp>
      <p:sp>
        <p:nvSpPr>
          <p:cNvPr id="11" name="Text 9"/>
          <p:cNvSpPr/>
          <p:nvPr/>
        </p:nvSpPr>
        <p:spPr>
          <a:xfrm>
            <a:off x="15326618" y="9296400"/>
            <a:ext cx="1761232" cy="2095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0000"/>
              </a:lnSpc>
              <a:buNone/>
            </a:pPr>
            <a:r>
              <a:rPr lang="en-US" sz="975" b="1" spc="150" kern="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대외비 · CONFIDENTIAL</a:t>
            </a:r>
            <a:endParaRPr lang="en-US" sz="975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62000" y="533400"/>
            <a:ext cx="17266920" cy="2762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algn="l" indent="0" marL="0">
              <a:lnSpc>
                <a:spcPct val="140000"/>
              </a:lnSpc>
              <a:buNone/>
            </a:pPr>
            <a:r>
              <a:rPr lang="en-US" sz="1350" spc="150" kern="0" dirty="0">
                <a:solidFill>
                  <a:srgbClr val="1428A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AGENDA · 목차</a:t>
            </a:r>
            <a:endParaRPr lang="en-US" sz="1350" dirty="0"/>
          </a:p>
        </p:txBody>
      </p:sp>
      <p:sp>
        <p:nvSpPr>
          <p:cNvPr id="3" name="Text 1"/>
          <p:cNvSpPr/>
          <p:nvPr/>
        </p:nvSpPr>
        <p:spPr>
          <a:xfrm>
            <a:off x="762000" y="885825"/>
            <a:ext cx="17266920" cy="5619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3300" b="1" spc="-37" kern="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9단계 논리 흐름 — 호황의 정점에서 다운턴 준비까지</a:t>
            </a:r>
            <a:endParaRPr lang="en-US" sz="3300" dirty="0"/>
          </a:p>
        </p:txBody>
      </p:sp>
      <p:sp>
        <p:nvSpPr>
          <p:cNvPr id="4" name="Text 2"/>
          <p:cNvSpPr/>
          <p:nvPr/>
        </p:nvSpPr>
        <p:spPr>
          <a:xfrm>
            <a:off x="762000" y="1524000"/>
            <a:ext cx="14716125" cy="3524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50000"/>
              </a:lnSpc>
              <a:buNone/>
            </a:pPr>
            <a:r>
              <a:rPr lang="en-US" sz="1650" dirty="0">
                <a:solidFill>
                  <a:srgbClr val="6B72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각 단계의 슬라이드 매핑과 핵심 메시지</a:t>
            </a:r>
            <a:endParaRPr lang="en-US" sz="1650" dirty="0"/>
          </a:p>
        </p:txBody>
      </p:sp>
      <p:sp>
        <p:nvSpPr>
          <p:cNvPr id="5" name="Shape 3"/>
          <p:cNvSpPr/>
          <p:nvPr/>
        </p:nvSpPr>
        <p:spPr>
          <a:xfrm>
            <a:off x="762000" y="2438400"/>
            <a:ext cx="8229600" cy="1000125"/>
          </a:xfrm>
          <a:prstGeom prst="rect">
            <a:avLst/>
          </a:prstGeom>
          <a:solidFill>
            <a:srgbClr val="FFFFFF"/>
          </a:solidFill>
          <a:ln w="9525">
            <a:solidFill>
              <a:srgbClr val="D1D5DB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038225" y="2676525"/>
            <a:ext cx="685800" cy="4191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3000" b="1" dirty="0">
                <a:solidFill>
                  <a:srgbClr val="1428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</a:t>
            </a:r>
            <a:endParaRPr lang="en-US" sz="3000" dirty="0"/>
          </a:p>
        </p:txBody>
      </p:sp>
      <p:sp>
        <p:nvSpPr>
          <p:cNvPr id="7" name="Text 5"/>
          <p:cNvSpPr/>
          <p:nvPr/>
        </p:nvSpPr>
        <p:spPr>
          <a:xfrm>
            <a:off x="1876425" y="2676525"/>
            <a:ext cx="7044119" cy="3238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0000"/>
              </a:lnSpc>
              <a:buNone/>
            </a:pPr>
            <a:r>
              <a:rPr lang="en-US" sz="165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현재 상황 — 호황의 정점</a:t>
            </a:r>
            <a:endParaRPr lang="en-US" sz="1650" dirty="0"/>
          </a:p>
        </p:txBody>
      </p:sp>
      <p:sp>
        <p:nvSpPr>
          <p:cNvPr id="8" name="Text 6"/>
          <p:cNvSpPr/>
          <p:nvPr/>
        </p:nvSpPr>
        <p:spPr>
          <a:xfrm>
            <a:off x="1876425" y="3019425"/>
            <a:ext cx="7044119" cy="2190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0000"/>
              </a:lnSpc>
              <a:buNone/>
            </a:pPr>
            <a:r>
              <a:rPr lang="en-US" sz="1050" spc="38" kern="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SLIDES 03 — 06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9296400" y="2438400"/>
            <a:ext cx="8229600" cy="1000125"/>
          </a:xfrm>
          <a:prstGeom prst="rect">
            <a:avLst/>
          </a:prstGeom>
          <a:solidFill>
            <a:srgbClr val="FFFFFF"/>
          </a:solidFill>
          <a:ln w="9525">
            <a:solidFill>
              <a:srgbClr val="D1D5DB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9572625" y="2676525"/>
            <a:ext cx="685800" cy="4191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3000" b="1" dirty="0">
                <a:solidFill>
                  <a:srgbClr val="1428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3000" dirty="0"/>
          </a:p>
        </p:txBody>
      </p:sp>
      <p:sp>
        <p:nvSpPr>
          <p:cNvPr id="11" name="Text 9"/>
          <p:cNvSpPr/>
          <p:nvPr/>
        </p:nvSpPr>
        <p:spPr>
          <a:xfrm>
            <a:off x="10410825" y="2676525"/>
            <a:ext cx="7044119" cy="3238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0000"/>
              </a:lnSpc>
              <a:buNone/>
            </a:pPr>
            <a:r>
              <a:rPr lang="en-US" sz="165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불확실성 — 다운턴 시점·규모</a:t>
            </a:r>
            <a:endParaRPr lang="en-US" sz="1650" dirty="0"/>
          </a:p>
        </p:txBody>
      </p:sp>
      <p:sp>
        <p:nvSpPr>
          <p:cNvPr id="12" name="Text 10"/>
          <p:cNvSpPr/>
          <p:nvPr/>
        </p:nvSpPr>
        <p:spPr>
          <a:xfrm>
            <a:off x="10410825" y="3019425"/>
            <a:ext cx="7044119" cy="2190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0000"/>
              </a:lnSpc>
              <a:buNone/>
            </a:pPr>
            <a:r>
              <a:rPr lang="en-US" sz="1050" spc="38" kern="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SLIDES 07 — 08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762000" y="3590925"/>
            <a:ext cx="8229600" cy="1000125"/>
          </a:xfrm>
          <a:prstGeom prst="rect">
            <a:avLst/>
          </a:prstGeom>
          <a:solidFill>
            <a:srgbClr val="FFFFFF"/>
          </a:solidFill>
          <a:ln w="9525">
            <a:solidFill>
              <a:srgbClr val="D1D5DB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1038225" y="3829050"/>
            <a:ext cx="685800" cy="4191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3000" b="1" dirty="0">
                <a:solidFill>
                  <a:srgbClr val="1428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3000" dirty="0"/>
          </a:p>
        </p:txBody>
      </p:sp>
      <p:sp>
        <p:nvSpPr>
          <p:cNvPr id="15" name="Text 13"/>
          <p:cNvSpPr/>
          <p:nvPr/>
        </p:nvSpPr>
        <p:spPr>
          <a:xfrm>
            <a:off x="1876425" y="3829050"/>
            <a:ext cx="7044119" cy="3238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0000"/>
              </a:lnSpc>
              <a:buNone/>
            </a:pPr>
            <a:r>
              <a:rPr lang="en-US" sz="165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시나리오 플래닝의 정당화</a:t>
            </a:r>
            <a:endParaRPr lang="en-US" sz="1650" dirty="0"/>
          </a:p>
        </p:txBody>
      </p:sp>
      <p:sp>
        <p:nvSpPr>
          <p:cNvPr id="16" name="Text 14"/>
          <p:cNvSpPr/>
          <p:nvPr/>
        </p:nvSpPr>
        <p:spPr>
          <a:xfrm>
            <a:off x="1876425" y="4171950"/>
            <a:ext cx="7044119" cy="2190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0000"/>
              </a:lnSpc>
              <a:buNone/>
            </a:pPr>
            <a:r>
              <a:rPr lang="en-US" sz="1050" spc="38" kern="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SLIDE 09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9296400" y="3590925"/>
            <a:ext cx="8229600" cy="1000125"/>
          </a:xfrm>
          <a:prstGeom prst="rect">
            <a:avLst/>
          </a:prstGeom>
          <a:solidFill>
            <a:srgbClr val="FFFFFF"/>
          </a:solidFill>
          <a:ln w="9525">
            <a:solidFill>
              <a:srgbClr val="D1D5DB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9572625" y="3829050"/>
            <a:ext cx="685800" cy="4191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3000" b="1" dirty="0">
                <a:solidFill>
                  <a:srgbClr val="1428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</a:t>
            </a:r>
            <a:endParaRPr lang="en-US" sz="3000" dirty="0"/>
          </a:p>
        </p:txBody>
      </p:sp>
      <p:sp>
        <p:nvSpPr>
          <p:cNvPr id="19" name="Text 17"/>
          <p:cNvSpPr/>
          <p:nvPr/>
        </p:nvSpPr>
        <p:spPr>
          <a:xfrm>
            <a:off x="10410825" y="3829050"/>
            <a:ext cx="7044119" cy="3238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0000"/>
              </a:lnSpc>
              <a:buNone/>
            </a:pPr>
            <a:r>
              <a:rPr lang="en-US" sz="165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방법론 워크플로우</a:t>
            </a:r>
            <a:endParaRPr lang="en-US" sz="1650" dirty="0"/>
          </a:p>
        </p:txBody>
      </p:sp>
      <p:sp>
        <p:nvSpPr>
          <p:cNvPr id="20" name="Text 18"/>
          <p:cNvSpPr/>
          <p:nvPr/>
        </p:nvSpPr>
        <p:spPr>
          <a:xfrm>
            <a:off x="10410825" y="4171950"/>
            <a:ext cx="7044119" cy="2190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0000"/>
              </a:lnSpc>
              <a:buNone/>
            </a:pPr>
            <a:r>
              <a:rPr lang="en-US" sz="1050" spc="38" kern="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SLIDE 10</a:t>
            </a:r>
            <a:endParaRPr lang="en-US" sz="1050" dirty="0"/>
          </a:p>
        </p:txBody>
      </p:sp>
      <p:sp>
        <p:nvSpPr>
          <p:cNvPr id="21" name="Shape 19"/>
          <p:cNvSpPr/>
          <p:nvPr/>
        </p:nvSpPr>
        <p:spPr>
          <a:xfrm>
            <a:off x="762000" y="4743450"/>
            <a:ext cx="8229600" cy="1000125"/>
          </a:xfrm>
          <a:prstGeom prst="rect">
            <a:avLst/>
          </a:prstGeom>
          <a:solidFill>
            <a:srgbClr val="FFFFFF"/>
          </a:solidFill>
          <a:ln w="9525">
            <a:solidFill>
              <a:srgbClr val="D1D5DB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1038225" y="4981575"/>
            <a:ext cx="685800" cy="4191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3000" b="1" dirty="0">
                <a:solidFill>
                  <a:srgbClr val="1428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</a:t>
            </a:r>
            <a:endParaRPr lang="en-US" sz="3000" dirty="0"/>
          </a:p>
        </p:txBody>
      </p:sp>
      <p:sp>
        <p:nvSpPr>
          <p:cNvPr id="23" name="Text 21"/>
          <p:cNvSpPr/>
          <p:nvPr/>
        </p:nvSpPr>
        <p:spPr>
          <a:xfrm>
            <a:off x="1876425" y="4981575"/>
            <a:ext cx="7044119" cy="3238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0000"/>
              </a:lnSpc>
              <a:buNone/>
            </a:pPr>
            <a:r>
              <a:rPr lang="en-US" sz="165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메모리 사업 단계별 적용</a:t>
            </a:r>
            <a:endParaRPr lang="en-US" sz="1650" dirty="0"/>
          </a:p>
        </p:txBody>
      </p:sp>
      <p:sp>
        <p:nvSpPr>
          <p:cNvPr id="24" name="Text 22"/>
          <p:cNvSpPr/>
          <p:nvPr/>
        </p:nvSpPr>
        <p:spPr>
          <a:xfrm>
            <a:off x="1876425" y="5324475"/>
            <a:ext cx="7044119" cy="2190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0000"/>
              </a:lnSpc>
              <a:buNone/>
            </a:pPr>
            <a:r>
              <a:rPr lang="en-US" sz="1050" spc="38" kern="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SLIDES 11 — 17</a:t>
            </a:r>
            <a:endParaRPr lang="en-US" sz="1050" dirty="0"/>
          </a:p>
        </p:txBody>
      </p:sp>
      <p:sp>
        <p:nvSpPr>
          <p:cNvPr id="25" name="Shape 23"/>
          <p:cNvSpPr/>
          <p:nvPr/>
        </p:nvSpPr>
        <p:spPr>
          <a:xfrm>
            <a:off x="9296400" y="4743450"/>
            <a:ext cx="8229600" cy="1000125"/>
          </a:xfrm>
          <a:prstGeom prst="rect">
            <a:avLst/>
          </a:prstGeom>
          <a:solidFill>
            <a:srgbClr val="FFFFFF"/>
          </a:solidFill>
          <a:ln w="9525">
            <a:solidFill>
              <a:srgbClr val="D1D5DB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9572625" y="4981575"/>
            <a:ext cx="685800" cy="4191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3000" b="1" dirty="0">
                <a:solidFill>
                  <a:srgbClr val="1428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</a:t>
            </a:r>
            <a:endParaRPr lang="en-US" sz="3000" dirty="0"/>
          </a:p>
        </p:txBody>
      </p:sp>
      <p:sp>
        <p:nvSpPr>
          <p:cNvPr id="27" name="Text 25"/>
          <p:cNvSpPr/>
          <p:nvPr/>
        </p:nvSpPr>
        <p:spPr>
          <a:xfrm>
            <a:off x="10410825" y="4981575"/>
            <a:ext cx="7044119" cy="3238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0000"/>
              </a:lnSpc>
              <a:buNone/>
            </a:pPr>
            <a:r>
              <a:rPr lang="en-US" sz="165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Robust 핵심 전략 5개 (RS-6 신규)</a:t>
            </a:r>
            <a:endParaRPr lang="en-US" sz="1650" dirty="0"/>
          </a:p>
        </p:txBody>
      </p:sp>
      <p:sp>
        <p:nvSpPr>
          <p:cNvPr id="28" name="Text 26"/>
          <p:cNvSpPr/>
          <p:nvPr/>
        </p:nvSpPr>
        <p:spPr>
          <a:xfrm>
            <a:off x="10410825" y="5324475"/>
            <a:ext cx="7044119" cy="2190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0000"/>
              </a:lnSpc>
              <a:buNone/>
            </a:pPr>
            <a:r>
              <a:rPr lang="en-US" sz="1050" spc="38" kern="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SLIDES 18 — 22</a:t>
            </a:r>
            <a:endParaRPr lang="en-US" sz="1050" dirty="0"/>
          </a:p>
        </p:txBody>
      </p:sp>
      <p:sp>
        <p:nvSpPr>
          <p:cNvPr id="29" name="Shape 27"/>
          <p:cNvSpPr/>
          <p:nvPr/>
        </p:nvSpPr>
        <p:spPr>
          <a:xfrm>
            <a:off x="762000" y="5895975"/>
            <a:ext cx="8229600" cy="1000125"/>
          </a:xfrm>
          <a:prstGeom prst="rect">
            <a:avLst/>
          </a:prstGeom>
          <a:solidFill>
            <a:srgbClr val="FFFFFF"/>
          </a:solidFill>
          <a:ln w="9525">
            <a:solidFill>
              <a:srgbClr val="D1D5DB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1038225" y="6134100"/>
            <a:ext cx="685800" cy="4191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3000" b="1" dirty="0">
                <a:solidFill>
                  <a:srgbClr val="1428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07</a:t>
            </a:r>
            <a:endParaRPr lang="en-US" sz="3000" dirty="0"/>
          </a:p>
        </p:txBody>
      </p:sp>
      <p:sp>
        <p:nvSpPr>
          <p:cNvPr id="31" name="Text 29"/>
          <p:cNvSpPr/>
          <p:nvPr/>
        </p:nvSpPr>
        <p:spPr>
          <a:xfrm>
            <a:off x="1876425" y="6134100"/>
            <a:ext cx="7044119" cy="3238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0000"/>
              </a:lnSpc>
              <a:buNone/>
            </a:pPr>
            <a:r>
              <a:rPr lang="en-US" sz="165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EWI 대시보드</a:t>
            </a:r>
            <a:endParaRPr lang="en-US" sz="1650" dirty="0"/>
          </a:p>
        </p:txBody>
      </p:sp>
      <p:sp>
        <p:nvSpPr>
          <p:cNvPr id="32" name="Text 30"/>
          <p:cNvSpPr/>
          <p:nvPr/>
        </p:nvSpPr>
        <p:spPr>
          <a:xfrm>
            <a:off x="1876425" y="6477000"/>
            <a:ext cx="7044119" cy="2190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0000"/>
              </a:lnSpc>
              <a:buNone/>
            </a:pPr>
            <a:r>
              <a:rPr lang="en-US" sz="1050" spc="38" kern="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SLIDE 23</a:t>
            </a:r>
            <a:endParaRPr lang="en-US" sz="1050" dirty="0"/>
          </a:p>
        </p:txBody>
      </p:sp>
      <p:sp>
        <p:nvSpPr>
          <p:cNvPr id="33" name="Shape 31"/>
          <p:cNvSpPr/>
          <p:nvPr/>
        </p:nvSpPr>
        <p:spPr>
          <a:xfrm>
            <a:off x="9296400" y="5895975"/>
            <a:ext cx="8229600" cy="1000125"/>
          </a:xfrm>
          <a:prstGeom prst="rect">
            <a:avLst/>
          </a:prstGeom>
          <a:solidFill>
            <a:srgbClr val="FFFFFF"/>
          </a:solidFill>
          <a:ln w="9525">
            <a:solidFill>
              <a:srgbClr val="D1D5DB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9572625" y="6134100"/>
            <a:ext cx="685800" cy="4191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3000" b="1" dirty="0">
                <a:solidFill>
                  <a:srgbClr val="1428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08</a:t>
            </a:r>
            <a:endParaRPr lang="en-US" sz="3000" dirty="0"/>
          </a:p>
        </p:txBody>
      </p:sp>
      <p:sp>
        <p:nvSpPr>
          <p:cNvPr id="35" name="Text 33"/>
          <p:cNvSpPr/>
          <p:nvPr/>
        </p:nvSpPr>
        <p:spPr>
          <a:xfrm>
            <a:off x="10410825" y="6134100"/>
            <a:ext cx="7044119" cy="3238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0000"/>
              </a:lnSpc>
              <a:buNone/>
            </a:pPr>
            <a:r>
              <a:rPr lang="en-US" sz="165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전략 리마인드</a:t>
            </a:r>
            <a:endParaRPr lang="en-US" sz="1650" dirty="0"/>
          </a:p>
        </p:txBody>
      </p:sp>
      <p:sp>
        <p:nvSpPr>
          <p:cNvPr id="36" name="Text 34"/>
          <p:cNvSpPr/>
          <p:nvPr/>
        </p:nvSpPr>
        <p:spPr>
          <a:xfrm>
            <a:off x="10410825" y="6477000"/>
            <a:ext cx="7044119" cy="2190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0000"/>
              </a:lnSpc>
              <a:buNone/>
            </a:pPr>
            <a:r>
              <a:rPr lang="en-US" sz="1050" spc="38" kern="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SLIDES 24 — 25</a:t>
            </a:r>
            <a:endParaRPr lang="en-US" sz="1050" dirty="0"/>
          </a:p>
        </p:txBody>
      </p:sp>
      <p:sp>
        <p:nvSpPr>
          <p:cNvPr id="37" name="Shape 35"/>
          <p:cNvSpPr/>
          <p:nvPr/>
        </p:nvSpPr>
        <p:spPr>
          <a:xfrm>
            <a:off x="762000" y="7048500"/>
            <a:ext cx="8934450" cy="1000125"/>
          </a:xfrm>
          <a:prstGeom prst="rect">
            <a:avLst/>
          </a:prstGeom>
          <a:solidFill>
            <a:srgbClr val="FFFFFF"/>
          </a:solidFill>
          <a:ln w="9525">
            <a:solidFill>
              <a:srgbClr val="D1D5DB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1038225" y="7286625"/>
            <a:ext cx="685800" cy="4191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3000" b="1" dirty="0">
                <a:solidFill>
                  <a:srgbClr val="1428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09</a:t>
            </a:r>
            <a:endParaRPr lang="en-US" sz="3000" dirty="0"/>
          </a:p>
        </p:txBody>
      </p:sp>
      <p:sp>
        <p:nvSpPr>
          <p:cNvPr id="39" name="Text 37"/>
          <p:cNvSpPr/>
          <p:nvPr/>
        </p:nvSpPr>
        <p:spPr>
          <a:xfrm>
            <a:off x="1876425" y="7286625"/>
            <a:ext cx="7770114" cy="3238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0000"/>
              </a:lnSpc>
              <a:buNone/>
            </a:pPr>
            <a:r>
              <a:rPr lang="en-US" sz="165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최종 메시지 — Decision Request</a:t>
            </a:r>
            <a:endParaRPr lang="en-US" sz="1650" dirty="0"/>
          </a:p>
        </p:txBody>
      </p:sp>
      <p:sp>
        <p:nvSpPr>
          <p:cNvPr id="40" name="Text 38"/>
          <p:cNvSpPr/>
          <p:nvPr/>
        </p:nvSpPr>
        <p:spPr>
          <a:xfrm>
            <a:off x="1876425" y="7629525"/>
            <a:ext cx="7770114" cy="2190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0000"/>
              </a:lnSpc>
              <a:buNone/>
            </a:pPr>
            <a:r>
              <a:rPr lang="en-US" sz="1050" spc="38" kern="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SLIDE 26</a:t>
            </a:r>
            <a:endParaRPr lang="en-US" sz="1050" dirty="0"/>
          </a:p>
        </p:txBody>
      </p:sp>
      <p:sp>
        <p:nvSpPr>
          <p:cNvPr id="41" name="Shape 39"/>
          <p:cNvSpPr/>
          <p:nvPr/>
        </p:nvSpPr>
        <p:spPr>
          <a:xfrm>
            <a:off x="762000" y="9667875"/>
            <a:ext cx="16764000" cy="9525"/>
          </a:xfrm>
          <a:prstGeom prst="rect">
            <a:avLst/>
          </a:prstGeom>
          <a:solidFill>
            <a:srgbClr val="D1D5DB"/>
          </a:solidFill>
          <a:ln/>
        </p:spPr>
      </p:sp>
      <p:sp>
        <p:nvSpPr>
          <p:cNvPr id="42" name="Text 40"/>
          <p:cNvSpPr/>
          <p:nvPr/>
        </p:nvSpPr>
        <p:spPr>
          <a:xfrm>
            <a:off x="762000" y="9891713"/>
            <a:ext cx="1243608" cy="2190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0000"/>
              </a:lnSpc>
              <a:buNone/>
            </a:pPr>
            <a:r>
              <a:rPr lang="en-US" sz="1050" spc="38" kern="0" dirty="0">
                <a:solidFill>
                  <a:srgbClr val="6B72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삼성전자 </a:t>
            </a:r>
            <a:pPr algn="l" indent="0" marL="0">
              <a:lnSpc>
                <a:spcPct val="140000"/>
              </a:lnSpc>
              <a:buNone/>
            </a:pPr>
            <a:r>
              <a:rPr lang="en-US" sz="1050" b="1" spc="38" kern="0" dirty="0">
                <a:solidFill>
                  <a:srgbClr val="1428A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| </a:t>
            </a:r>
            <a:pPr algn="l" indent="0" marL="0">
              <a:lnSpc>
                <a:spcPct val="140000"/>
              </a:lnSpc>
              <a:buNone/>
            </a:pPr>
            <a:r>
              <a:rPr lang="en-US" sz="1050" spc="38" kern="0" dirty="0">
                <a:solidFill>
                  <a:srgbClr val="6B72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AGENDA</a:t>
            </a:r>
            <a:endParaRPr lang="en-US" sz="1050" dirty="0"/>
          </a:p>
        </p:txBody>
      </p:sp>
      <p:sp>
        <p:nvSpPr>
          <p:cNvPr id="43" name="Text 41"/>
          <p:cNvSpPr/>
          <p:nvPr/>
        </p:nvSpPr>
        <p:spPr>
          <a:xfrm>
            <a:off x="17023705" y="9891713"/>
            <a:ext cx="578495" cy="2190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0000"/>
              </a:lnSpc>
              <a:buNone/>
            </a:pPr>
            <a:r>
              <a:rPr lang="en-US" sz="1050" spc="38" kern="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 / 26</a:t>
            </a:r>
            <a:endParaRPr lang="en-US" sz="10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62000" y="533400"/>
            <a:ext cx="17266920" cy="2762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algn="l" indent="0" marL="0">
              <a:lnSpc>
                <a:spcPct val="140000"/>
              </a:lnSpc>
              <a:buNone/>
            </a:pPr>
            <a:r>
              <a:rPr lang="en-US" sz="1350" spc="150" kern="0" dirty="0">
                <a:solidFill>
                  <a:srgbClr val="1428A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STEP 1 · 현재 상황 (1 / 4)</a:t>
            </a:r>
            <a:endParaRPr lang="en-US" sz="1350" dirty="0"/>
          </a:p>
        </p:txBody>
      </p:sp>
      <p:sp>
        <p:nvSpPr>
          <p:cNvPr id="3" name="Text 1"/>
          <p:cNvSpPr/>
          <p:nvPr/>
        </p:nvSpPr>
        <p:spPr>
          <a:xfrm>
            <a:off x="762000" y="885825"/>
            <a:ext cx="17266920" cy="5619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3300" b="1" spc="-37" kern="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우리는 지금 메모리 호황의 정점에 서 있다</a:t>
            </a:r>
            <a:endParaRPr lang="en-US" sz="3300" dirty="0"/>
          </a:p>
        </p:txBody>
      </p:sp>
      <p:sp>
        <p:nvSpPr>
          <p:cNvPr id="4" name="Text 2"/>
          <p:cNvSpPr/>
          <p:nvPr/>
        </p:nvSpPr>
        <p:spPr>
          <a:xfrm>
            <a:off x="762000" y="1524000"/>
            <a:ext cx="14716125" cy="3524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50000"/>
              </a:lnSpc>
              <a:buNone/>
            </a:pPr>
            <a:r>
              <a:rPr lang="en-US" sz="1650" dirty="0">
                <a:solidFill>
                  <a:srgbClr val="6B72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삼성 메모리 매출 +292% YoY · 빅테크 AI CapEx $725B · HBM4 캐파 전량 Sold Out</a:t>
            </a:r>
            <a:endParaRPr lang="en-US" sz="1650" dirty="0"/>
          </a:p>
        </p:txBody>
      </p:sp>
      <p:sp>
        <p:nvSpPr>
          <p:cNvPr id="5" name="Shape 3"/>
          <p:cNvSpPr/>
          <p:nvPr/>
        </p:nvSpPr>
        <p:spPr>
          <a:xfrm>
            <a:off x="762000" y="2286000"/>
            <a:ext cx="8267700" cy="2552700"/>
          </a:xfrm>
          <a:prstGeom prst="rect">
            <a:avLst/>
          </a:prstGeom>
          <a:solidFill>
            <a:srgbClr val="1428A0"/>
          </a:solidFill>
          <a:ln/>
        </p:spPr>
      </p:sp>
      <p:sp>
        <p:nvSpPr>
          <p:cNvPr id="6" name="Text 4"/>
          <p:cNvSpPr/>
          <p:nvPr/>
        </p:nvSpPr>
        <p:spPr>
          <a:xfrm>
            <a:off x="1181100" y="2743200"/>
            <a:ext cx="7652385" cy="2476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0000"/>
              </a:lnSpc>
              <a:buNone/>
            </a:pPr>
            <a:r>
              <a:rPr lang="en-US" sz="1200" spc="38" kern="0" dirty="0">
                <a:solidFill>
                  <a:srgbClr val="FFFFFF">
                    <a:alpha val="85000"/>
                  </a:srgbClr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SAMSUNG Q1 2026 MEMORY REVENUE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1181100" y="3057525"/>
            <a:ext cx="2667172" cy="10477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6600" b="1" spc="-15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$50.4 </a:t>
            </a:r>
            <a:pPr algn="l" indent="0" marL="0">
              <a:lnSpc>
                <a:spcPct val="100000"/>
              </a:lnSpc>
              <a:buNone/>
            </a:pPr>
            <a:r>
              <a:rPr lang="en-US" sz="2700" b="1" spc="-15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</a:t>
            </a:r>
            <a:endParaRPr lang="en-US" sz="6600" dirty="0"/>
          </a:p>
        </p:txBody>
      </p:sp>
      <p:sp>
        <p:nvSpPr>
          <p:cNvPr id="8" name="Text 6"/>
          <p:cNvSpPr/>
          <p:nvPr/>
        </p:nvSpPr>
        <p:spPr>
          <a:xfrm>
            <a:off x="1181100" y="4171950"/>
            <a:ext cx="7652385" cy="2476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0000"/>
              </a:lnSpc>
              <a:buNone/>
            </a:pPr>
            <a:r>
              <a:rPr lang="en-US" sz="1200" dirty="0">
                <a:solidFill>
                  <a:srgbClr val="FFFFFF">
                    <a:alpha val="85000"/>
                  </a:srgbClr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삼성 메모리사업부 분기 매출 — 사상 최대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9258300" y="2286000"/>
            <a:ext cx="8267700" cy="2552700"/>
          </a:xfrm>
          <a:prstGeom prst="rect">
            <a:avLst/>
          </a:prstGeom>
          <a:solidFill>
            <a:srgbClr val="D97706"/>
          </a:solidFill>
          <a:ln/>
        </p:spPr>
      </p:sp>
      <p:sp>
        <p:nvSpPr>
          <p:cNvPr id="10" name="Text 8"/>
          <p:cNvSpPr/>
          <p:nvPr/>
        </p:nvSpPr>
        <p:spPr>
          <a:xfrm>
            <a:off x="9677400" y="2743200"/>
            <a:ext cx="7652385" cy="2476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0000"/>
              </a:lnSpc>
              <a:buNone/>
            </a:pPr>
            <a:r>
              <a:rPr lang="en-US" sz="1200" spc="38" kern="0" dirty="0">
                <a:solidFill>
                  <a:srgbClr val="FFFFFF">
                    <a:alpha val="85000"/>
                  </a:srgbClr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YoY GROWTH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9677400" y="3057525"/>
            <a:ext cx="2565638" cy="10477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6600" b="1" spc="-15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+292 </a:t>
            </a:r>
            <a:pPr algn="l" indent="0" marL="0">
              <a:lnSpc>
                <a:spcPct val="100000"/>
              </a:lnSpc>
              <a:buNone/>
            </a:pPr>
            <a:r>
              <a:rPr lang="en-US" sz="2700" b="1" spc="-15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%</a:t>
            </a:r>
            <a:endParaRPr lang="en-US" sz="6600" dirty="0"/>
          </a:p>
        </p:txBody>
      </p:sp>
      <p:sp>
        <p:nvSpPr>
          <p:cNvPr id="12" name="Text 10"/>
          <p:cNvSpPr/>
          <p:nvPr/>
        </p:nvSpPr>
        <p:spPr>
          <a:xfrm>
            <a:off x="9677400" y="4171950"/>
            <a:ext cx="7652385" cy="2476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0000"/>
              </a:lnSpc>
              <a:buNone/>
            </a:pPr>
            <a:r>
              <a:rPr lang="en-US" sz="1200" dirty="0">
                <a:solidFill>
                  <a:srgbClr val="FFFFFF">
                    <a:alpha val="85000"/>
                  </a:srgbClr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전년 동기 대비 · 메모리 사업 사상 최대 성장률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762000" y="5067300"/>
            <a:ext cx="8267700" cy="2552700"/>
          </a:xfrm>
          <a:prstGeom prst="rect">
            <a:avLst/>
          </a:prstGeom>
          <a:solidFill>
            <a:srgbClr val="1428A0"/>
          </a:solidFill>
          <a:ln/>
        </p:spPr>
      </p:sp>
      <p:sp>
        <p:nvSpPr>
          <p:cNvPr id="14" name="Text 12"/>
          <p:cNvSpPr/>
          <p:nvPr/>
        </p:nvSpPr>
        <p:spPr>
          <a:xfrm>
            <a:off x="1181100" y="5524500"/>
            <a:ext cx="7652385" cy="2476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0000"/>
              </a:lnSpc>
              <a:buNone/>
            </a:pPr>
            <a:r>
              <a:rPr lang="en-US" sz="1200" spc="38" kern="0" dirty="0">
                <a:solidFill>
                  <a:srgbClr val="FFFFFF">
                    <a:alpha val="85000"/>
                  </a:srgbClr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BIG-4 AI CAPEX 2026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1181100" y="5838825"/>
            <a:ext cx="2459635" cy="10477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6600" b="1" spc="-15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$725 </a:t>
            </a:r>
            <a:pPr algn="l" indent="0" marL="0">
              <a:lnSpc>
                <a:spcPct val="100000"/>
              </a:lnSpc>
              <a:buNone/>
            </a:pPr>
            <a:r>
              <a:rPr lang="en-US" sz="2700" b="1" spc="-15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</a:t>
            </a:r>
            <a:endParaRPr lang="en-US" sz="6600" dirty="0"/>
          </a:p>
        </p:txBody>
      </p:sp>
      <p:sp>
        <p:nvSpPr>
          <p:cNvPr id="16" name="Text 14"/>
          <p:cNvSpPr/>
          <p:nvPr/>
        </p:nvSpPr>
        <p:spPr>
          <a:xfrm>
            <a:off x="1181100" y="6953250"/>
            <a:ext cx="7652385" cy="2476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0000"/>
              </a:lnSpc>
              <a:buNone/>
            </a:pPr>
            <a:r>
              <a:rPr lang="en-US" sz="1200" dirty="0">
                <a:solidFill>
                  <a:srgbClr val="FFFFFF">
                    <a:alpha val="85000"/>
                  </a:srgbClr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YoY +77% · $410B → $725B (빅테크 4사 합산)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9258300" y="5067300"/>
            <a:ext cx="8267700" cy="2552700"/>
          </a:xfrm>
          <a:prstGeom prst="rect">
            <a:avLst/>
          </a:prstGeom>
          <a:solidFill>
            <a:srgbClr val="D97706"/>
          </a:solidFill>
          <a:ln/>
        </p:spPr>
      </p:sp>
      <p:sp>
        <p:nvSpPr>
          <p:cNvPr id="18" name="Text 16"/>
          <p:cNvSpPr/>
          <p:nvPr/>
        </p:nvSpPr>
        <p:spPr>
          <a:xfrm>
            <a:off x="9677400" y="5524500"/>
            <a:ext cx="7652385" cy="2476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0000"/>
              </a:lnSpc>
              <a:buNone/>
            </a:pPr>
            <a:r>
              <a:rPr lang="en-US" sz="1200" spc="38" kern="0" dirty="0">
                <a:solidFill>
                  <a:srgbClr val="FFFFFF">
                    <a:alpha val="85000"/>
                  </a:srgbClr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HBM4 2026 CAPACITY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9677400" y="5838825"/>
            <a:ext cx="2043655" cy="10477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6600" b="1" spc="-15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 </a:t>
            </a:r>
            <a:pPr algn="l" indent="0" marL="0">
              <a:lnSpc>
                <a:spcPct val="100000"/>
              </a:lnSpc>
              <a:buNone/>
            </a:pPr>
            <a:r>
              <a:rPr lang="en-US" sz="2700" b="1" spc="-15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%</a:t>
            </a:r>
            <a:endParaRPr lang="en-US" sz="6600" dirty="0"/>
          </a:p>
        </p:txBody>
      </p:sp>
      <p:sp>
        <p:nvSpPr>
          <p:cNvPr id="20" name="Text 18"/>
          <p:cNvSpPr/>
          <p:nvPr/>
        </p:nvSpPr>
        <p:spPr>
          <a:xfrm>
            <a:off x="9677400" y="6953250"/>
            <a:ext cx="7652385" cy="2476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0000"/>
              </a:lnSpc>
              <a:buNone/>
            </a:pPr>
            <a:r>
              <a:rPr lang="en-US" sz="1200" dirty="0">
                <a:solidFill>
                  <a:srgbClr val="FFFFFF">
                    <a:alpha val="85000"/>
                  </a:srgbClr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전량 Sold Out · 추가 캐파 발주 진행 중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762000" y="7924800"/>
            <a:ext cx="16764000" cy="685800"/>
          </a:xfrm>
          <a:prstGeom prst="rect">
            <a:avLst/>
          </a:prstGeom>
          <a:solidFill>
            <a:srgbClr val="FEF3C7"/>
          </a:solidFill>
          <a:ln/>
        </p:spPr>
      </p:sp>
      <p:sp>
        <p:nvSpPr>
          <p:cNvPr id="22" name="Shape 20"/>
          <p:cNvSpPr/>
          <p:nvPr/>
        </p:nvSpPr>
        <p:spPr>
          <a:xfrm>
            <a:off x="762000" y="7924800"/>
            <a:ext cx="57150" cy="685800"/>
          </a:xfrm>
          <a:prstGeom prst="rect">
            <a:avLst/>
          </a:prstGeom>
          <a:solidFill>
            <a:srgbClr val="D97706"/>
          </a:solidFill>
          <a:ln/>
        </p:spPr>
      </p:sp>
      <p:sp>
        <p:nvSpPr>
          <p:cNvPr id="23" name="Shape 21"/>
          <p:cNvSpPr/>
          <p:nvPr/>
        </p:nvSpPr>
        <p:spPr>
          <a:xfrm>
            <a:off x="1085850" y="8115300"/>
            <a:ext cx="997148" cy="304800"/>
          </a:xfrm>
          <a:prstGeom prst="rect">
            <a:avLst/>
          </a:prstGeom>
          <a:solidFill>
            <a:srgbClr val="D97706"/>
          </a:solidFill>
          <a:ln/>
        </p:spPr>
      </p:sp>
      <p:sp>
        <p:nvSpPr>
          <p:cNvPr id="24" name="Text 22"/>
          <p:cNvSpPr/>
          <p:nvPr/>
        </p:nvSpPr>
        <p:spPr>
          <a:xfrm>
            <a:off x="1219200" y="8172450"/>
            <a:ext cx="806648" cy="2286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5000"/>
              </a:lnSpc>
              <a:buNone/>
            </a:pPr>
            <a:r>
              <a:rPr lang="en-US" sz="1050" b="1" spc="150" kern="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SO WHAT</a:t>
            </a:r>
            <a:endParaRPr lang="en-US" sz="1050" dirty="0"/>
          </a:p>
        </p:txBody>
      </p:sp>
      <p:sp>
        <p:nvSpPr>
          <p:cNvPr id="25" name="Text 23"/>
          <p:cNvSpPr/>
          <p:nvPr/>
        </p:nvSpPr>
        <p:spPr>
          <a:xfrm>
            <a:off x="2273498" y="8129588"/>
            <a:ext cx="6652455" cy="3143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5000"/>
              </a:lnSpc>
              <a:buNone/>
            </a:pPr>
            <a:r>
              <a:rPr lang="en-US" sz="15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지금이 호황의 정점 — 그러나 메모리는 30년간 5번 다운턴을 겪은 </a:t>
            </a:r>
            <a:pPr algn="l" indent="0" marL="0">
              <a:lnSpc>
                <a:spcPct val="145000"/>
              </a:lnSpc>
              <a:buNone/>
            </a:pPr>
            <a:r>
              <a:rPr lang="en-US" sz="150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사이클 산업</a:t>
            </a:r>
            <a:pPr algn="l" indent="0" marL="0">
              <a:lnSpc>
                <a:spcPct val="145000"/>
              </a:lnSpc>
              <a:buNone/>
            </a:pPr>
            <a:r>
              <a:rPr lang="en-US" sz="15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이다.</a:t>
            </a:r>
            <a:endParaRPr lang="en-US" sz="1500" dirty="0"/>
          </a:p>
        </p:txBody>
      </p:sp>
      <p:sp>
        <p:nvSpPr>
          <p:cNvPr id="26" name="Shape 24"/>
          <p:cNvSpPr/>
          <p:nvPr/>
        </p:nvSpPr>
        <p:spPr>
          <a:xfrm>
            <a:off x="762000" y="9667875"/>
            <a:ext cx="16764000" cy="9525"/>
          </a:xfrm>
          <a:prstGeom prst="rect">
            <a:avLst/>
          </a:prstGeom>
          <a:solidFill>
            <a:srgbClr val="D1D5DB"/>
          </a:solidFill>
          <a:ln/>
        </p:spPr>
      </p:sp>
      <p:sp>
        <p:nvSpPr>
          <p:cNvPr id="27" name="Text 25"/>
          <p:cNvSpPr/>
          <p:nvPr/>
        </p:nvSpPr>
        <p:spPr>
          <a:xfrm>
            <a:off x="762000" y="9891713"/>
            <a:ext cx="1805136" cy="2190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0000"/>
              </a:lnSpc>
              <a:buNone/>
            </a:pPr>
            <a:r>
              <a:rPr lang="en-US" sz="1050" spc="38" kern="0" dirty="0">
                <a:solidFill>
                  <a:srgbClr val="6B72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삼성전자 </a:t>
            </a:r>
            <a:pPr algn="l" indent="0" marL="0">
              <a:lnSpc>
                <a:spcPct val="140000"/>
              </a:lnSpc>
              <a:buNone/>
            </a:pPr>
            <a:r>
              <a:rPr lang="en-US" sz="1050" b="1" spc="38" kern="0" dirty="0">
                <a:solidFill>
                  <a:srgbClr val="1428A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| </a:t>
            </a:r>
            <a:pPr algn="l" indent="0" marL="0">
              <a:lnSpc>
                <a:spcPct val="140000"/>
              </a:lnSpc>
              <a:buNone/>
            </a:pPr>
            <a:r>
              <a:rPr lang="en-US" sz="1050" spc="38" kern="0" dirty="0">
                <a:solidFill>
                  <a:srgbClr val="6B72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STEP 1 · 현재 상황</a:t>
            </a:r>
            <a:endParaRPr lang="en-US" sz="1050" dirty="0"/>
          </a:p>
        </p:txBody>
      </p:sp>
      <p:sp>
        <p:nvSpPr>
          <p:cNvPr id="28" name="Text 26"/>
          <p:cNvSpPr/>
          <p:nvPr/>
        </p:nvSpPr>
        <p:spPr>
          <a:xfrm>
            <a:off x="17023705" y="9891713"/>
            <a:ext cx="578495" cy="2190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0000"/>
              </a:lnSpc>
              <a:buNone/>
            </a:pPr>
            <a:r>
              <a:rPr lang="en-US" sz="1050" spc="38" kern="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 / 26</a:t>
            </a:r>
            <a:endParaRPr lang="en-US" sz="10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62000" y="533400"/>
            <a:ext cx="17266920" cy="2762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algn="l" indent="0" marL="0">
              <a:lnSpc>
                <a:spcPct val="140000"/>
              </a:lnSpc>
              <a:buNone/>
            </a:pPr>
            <a:r>
              <a:rPr lang="en-US" sz="1350" spc="150" kern="0" dirty="0">
                <a:solidFill>
                  <a:srgbClr val="1428A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STEP 1 · 현재 상황 (2 / 4)</a:t>
            </a:r>
            <a:endParaRPr lang="en-US" sz="1350" dirty="0"/>
          </a:p>
        </p:txBody>
      </p:sp>
      <p:sp>
        <p:nvSpPr>
          <p:cNvPr id="3" name="Text 1"/>
          <p:cNvSpPr/>
          <p:nvPr/>
        </p:nvSpPr>
        <p:spPr>
          <a:xfrm>
            <a:off x="762000" y="885825"/>
            <a:ext cx="17266920" cy="5619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3300" b="1" spc="-37" kern="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그러나 메모리는 30년간 5번의 다운턴을 겪은 사이클 산업이다</a:t>
            </a:r>
            <a:endParaRPr lang="en-US" sz="3300" dirty="0"/>
          </a:p>
        </p:txBody>
      </p:sp>
      <p:sp>
        <p:nvSpPr>
          <p:cNvPr id="4" name="Text 2"/>
          <p:cNvSpPr/>
          <p:nvPr/>
        </p:nvSpPr>
        <p:spPr>
          <a:xfrm>
            <a:off x="762000" y="1524000"/>
            <a:ext cx="14716125" cy="3524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50000"/>
              </a:lnSpc>
              <a:buNone/>
            </a:pPr>
            <a:r>
              <a:rPr lang="en-US" sz="1650" dirty="0">
                <a:solidFill>
                  <a:srgbClr val="6B72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1995 ~ 2025년 DRAM 가격·시장 사이클 — 4 ~ 5년 주기로 100%+ 등락 반복</a:t>
            </a:r>
            <a:endParaRPr lang="en-US" sz="1650" dirty="0"/>
          </a:p>
        </p:txBody>
      </p:sp>
      <p:sp>
        <p:nvSpPr>
          <p:cNvPr id="5" name="Shape 3"/>
          <p:cNvSpPr/>
          <p:nvPr/>
        </p:nvSpPr>
        <p:spPr>
          <a:xfrm>
            <a:off x="762000" y="2286000"/>
            <a:ext cx="10411123" cy="5962650"/>
          </a:xfrm>
          <a:prstGeom prst="rect">
            <a:avLst/>
          </a:prstGeom>
          <a:solidFill>
            <a:srgbClr val="FFFFFF"/>
          </a:solidFill>
          <a:ln w="9525">
            <a:solidFill>
              <a:srgbClr val="D1D5DB"/>
            </a:solidFill>
            <a:prstDash val="solid"/>
          </a:ln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76325" y="2600325"/>
            <a:ext cx="9782473" cy="533400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11401723" y="2286000"/>
            <a:ext cx="6124277" cy="1076325"/>
          </a:xfrm>
          <a:prstGeom prst="rect">
            <a:avLst/>
          </a:prstGeom>
          <a:solidFill>
            <a:srgbClr val="E8EEFC"/>
          </a:solidFill>
          <a:ln/>
        </p:spPr>
      </p:sp>
      <p:sp>
        <p:nvSpPr>
          <p:cNvPr id="8" name="Text 5"/>
          <p:cNvSpPr/>
          <p:nvPr/>
        </p:nvSpPr>
        <p:spPr>
          <a:xfrm>
            <a:off x="11630323" y="2514600"/>
            <a:ext cx="5837090" cy="3238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0000"/>
              </a:lnSpc>
              <a:buNone/>
            </a:pPr>
            <a:r>
              <a:rPr lang="en-US" sz="1650" b="1" spc="22" kern="0" dirty="0">
                <a:solidFill>
                  <a:srgbClr val="1428A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호황기 평균 18–24개월</a:t>
            </a:r>
            <a:endParaRPr lang="en-US" sz="1650" dirty="0"/>
          </a:p>
        </p:txBody>
      </p:sp>
      <p:sp>
        <p:nvSpPr>
          <p:cNvPr id="9" name="Text 6"/>
          <p:cNvSpPr/>
          <p:nvPr/>
        </p:nvSpPr>
        <p:spPr>
          <a:xfrm>
            <a:off x="11630323" y="2876550"/>
            <a:ext cx="5837090" cy="2952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55000"/>
              </a:lnSpc>
              <a:buNone/>
            </a:pPr>
            <a:r>
              <a:rPr lang="en-US" sz="1350" dirty="0">
                <a:solidFill>
                  <a:srgbClr val="37415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다운턴 평균 12–18개월 · 다운턴은 항상 호황 직후에 시작</a:t>
            </a:r>
            <a:endParaRPr lang="en-US" sz="1350" dirty="0"/>
          </a:p>
        </p:txBody>
      </p:sp>
      <p:sp>
        <p:nvSpPr>
          <p:cNvPr id="10" name="Shape 7"/>
          <p:cNvSpPr/>
          <p:nvPr/>
        </p:nvSpPr>
        <p:spPr>
          <a:xfrm>
            <a:off x="11401723" y="3514725"/>
            <a:ext cx="6124277" cy="1076325"/>
          </a:xfrm>
          <a:prstGeom prst="rect">
            <a:avLst/>
          </a:prstGeom>
          <a:solidFill>
            <a:srgbClr val="E8EEFC"/>
          </a:solidFill>
          <a:ln/>
        </p:spPr>
      </p:sp>
      <p:sp>
        <p:nvSpPr>
          <p:cNvPr id="11" name="Text 8"/>
          <p:cNvSpPr/>
          <p:nvPr/>
        </p:nvSpPr>
        <p:spPr>
          <a:xfrm>
            <a:off x="11630323" y="3743325"/>
            <a:ext cx="5837090" cy="3238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0000"/>
              </a:lnSpc>
              <a:buNone/>
            </a:pPr>
            <a:r>
              <a:rPr lang="en-US" sz="1650" b="1" spc="22" kern="0" dirty="0">
                <a:solidFill>
                  <a:srgbClr val="1428A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모든 다운턴은 "예측 불가"</a:t>
            </a:r>
            <a:endParaRPr lang="en-US" sz="1650" dirty="0"/>
          </a:p>
        </p:txBody>
      </p:sp>
      <p:sp>
        <p:nvSpPr>
          <p:cNvPr id="12" name="Text 9"/>
          <p:cNvSpPr/>
          <p:nvPr/>
        </p:nvSpPr>
        <p:spPr>
          <a:xfrm>
            <a:off x="11630323" y="4105275"/>
            <a:ext cx="5837090" cy="2952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55000"/>
              </a:lnSpc>
              <a:buNone/>
            </a:pPr>
            <a:r>
              <a:rPr lang="en-US" sz="1350" dirty="0">
                <a:solidFill>
                  <a:srgbClr val="37415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2022–23 다운턴 — 빅테크 CapEx </a:t>
            </a:r>
            <a:pPr algn="l" indent="0" marL="0">
              <a:lnSpc>
                <a:spcPct val="155000"/>
              </a:lnSpc>
              <a:buNone/>
            </a:pPr>
            <a:r>
              <a:rPr lang="en-US" sz="1350" b="1" dirty="0">
                <a:solidFill>
                  <a:srgbClr val="DC26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−15%</a:t>
            </a:r>
            <a:pPr algn="l" indent="0" marL="0">
              <a:lnSpc>
                <a:spcPct val="155000"/>
              </a:lnSpc>
              <a:buNone/>
            </a:pPr>
            <a:r>
              <a:rPr lang="en-US" sz="1350" dirty="0">
                <a:solidFill>
                  <a:srgbClr val="37415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로 시작 → 메모리 가격 </a:t>
            </a:r>
            <a:pPr algn="l" indent="0" marL="0">
              <a:lnSpc>
                <a:spcPct val="155000"/>
              </a:lnSpc>
              <a:buNone/>
            </a:pPr>
            <a:r>
              <a:rPr lang="en-US" sz="1350" b="1" dirty="0">
                <a:solidFill>
                  <a:srgbClr val="DC26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−50%</a:t>
            </a:r>
            <a:endParaRPr lang="en-US" sz="1350" dirty="0"/>
          </a:p>
        </p:txBody>
      </p:sp>
      <p:sp>
        <p:nvSpPr>
          <p:cNvPr id="13" name="Shape 10"/>
          <p:cNvSpPr/>
          <p:nvPr/>
        </p:nvSpPr>
        <p:spPr>
          <a:xfrm>
            <a:off x="11401723" y="4743450"/>
            <a:ext cx="6124277" cy="1095375"/>
          </a:xfrm>
          <a:prstGeom prst="rect">
            <a:avLst/>
          </a:prstGeom>
          <a:solidFill>
            <a:srgbClr val="FEF3C7"/>
          </a:solidFill>
          <a:ln/>
        </p:spPr>
      </p:sp>
      <p:sp>
        <p:nvSpPr>
          <p:cNvPr id="14" name="Shape 11"/>
          <p:cNvSpPr/>
          <p:nvPr/>
        </p:nvSpPr>
        <p:spPr>
          <a:xfrm>
            <a:off x="11401723" y="5829300"/>
            <a:ext cx="6124277" cy="9525"/>
          </a:xfrm>
          <a:prstGeom prst="rect">
            <a:avLst/>
          </a:prstGeom>
          <a:solidFill>
            <a:srgbClr val="D1D5DB"/>
          </a:solidFill>
          <a:ln/>
        </p:spPr>
      </p:sp>
      <p:sp>
        <p:nvSpPr>
          <p:cNvPr id="15" name="Shape 12"/>
          <p:cNvSpPr/>
          <p:nvPr/>
        </p:nvSpPr>
        <p:spPr>
          <a:xfrm>
            <a:off x="11401723" y="4743450"/>
            <a:ext cx="6124277" cy="9525"/>
          </a:xfrm>
          <a:prstGeom prst="rect">
            <a:avLst/>
          </a:prstGeom>
          <a:solidFill>
            <a:srgbClr val="D1D5DB"/>
          </a:solidFill>
          <a:ln/>
        </p:spPr>
      </p:sp>
      <p:sp>
        <p:nvSpPr>
          <p:cNvPr id="16" name="Shape 13"/>
          <p:cNvSpPr/>
          <p:nvPr/>
        </p:nvSpPr>
        <p:spPr>
          <a:xfrm>
            <a:off x="11401723" y="4743450"/>
            <a:ext cx="38100" cy="1095375"/>
          </a:xfrm>
          <a:prstGeom prst="rect">
            <a:avLst/>
          </a:prstGeom>
          <a:solidFill>
            <a:srgbClr val="D97706"/>
          </a:solidFill>
          <a:ln/>
        </p:spPr>
      </p:sp>
      <p:sp>
        <p:nvSpPr>
          <p:cNvPr id="17" name="Shape 14"/>
          <p:cNvSpPr/>
          <p:nvPr/>
        </p:nvSpPr>
        <p:spPr>
          <a:xfrm>
            <a:off x="17516475" y="4743450"/>
            <a:ext cx="9525" cy="1095375"/>
          </a:xfrm>
          <a:prstGeom prst="rect">
            <a:avLst/>
          </a:prstGeom>
          <a:solidFill>
            <a:srgbClr val="D1D5DB"/>
          </a:solidFill>
          <a:ln/>
        </p:spPr>
      </p:sp>
      <p:sp>
        <p:nvSpPr>
          <p:cNvPr id="18" name="Text 15"/>
          <p:cNvSpPr/>
          <p:nvPr/>
        </p:nvSpPr>
        <p:spPr>
          <a:xfrm>
            <a:off x="11668423" y="4981575"/>
            <a:ext cx="5788036" cy="3238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0000"/>
              </a:lnSpc>
              <a:buNone/>
            </a:pPr>
            <a:r>
              <a:rPr lang="en-US" sz="1650" b="1" spc="22" kern="0" dirty="0">
                <a:solidFill>
                  <a:srgbClr val="D9770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다운턴 진입 후에는 늦다</a:t>
            </a:r>
            <a:endParaRPr lang="en-US" sz="1650" dirty="0"/>
          </a:p>
        </p:txBody>
      </p:sp>
      <p:sp>
        <p:nvSpPr>
          <p:cNvPr id="19" name="Text 16"/>
          <p:cNvSpPr/>
          <p:nvPr/>
        </p:nvSpPr>
        <p:spPr>
          <a:xfrm>
            <a:off x="11668423" y="5343525"/>
            <a:ext cx="5788036" cy="2952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55000"/>
              </a:lnSpc>
              <a:buNone/>
            </a:pPr>
            <a:r>
              <a:rPr lang="en-US" sz="1350" dirty="0">
                <a:solidFill>
                  <a:srgbClr val="37415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사이클 진입 </a:t>
            </a:r>
            <a:pPr algn="l" indent="0" marL="0">
              <a:lnSpc>
                <a:spcPct val="155000"/>
              </a:lnSpc>
              <a:buNone/>
            </a:pPr>
            <a:r>
              <a:rPr lang="en-US" sz="1350" b="1" dirty="0">
                <a:solidFill>
                  <a:srgbClr val="37415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전</a:t>
            </a:r>
            <a:pPr algn="l" indent="0" marL="0">
              <a:lnSpc>
                <a:spcPct val="155000"/>
              </a:lnSpc>
              <a:buNone/>
            </a:pPr>
            <a:r>
              <a:rPr lang="en-US" sz="1350" dirty="0">
                <a:solidFill>
                  <a:srgbClr val="37415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에 준비하지 않으면 흡수 불가 — 그것이 사이클의 본질</a:t>
            </a:r>
            <a:endParaRPr lang="en-US" sz="1350" dirty="0"/>
          </a:p>
        </p:txBody>
      </p:sp>
      <p:sp>
        <p:nvSpPr>
          <p:cNvPr id="20" name="Shape 17"/>
          <p:cNvSpPr/>
          <p:nvPr/>
        </p:nvSpPr>
        <p:spPr>
          <a:xfrm>
            <a:off x="762000" y="9667875"/>
            <a:ext cx="16764000" cy="9525"/>
          </a:xfrm>
          <a:prstGeom prst="rect">
            <a:avLst/>
          </a:prstGeom>
          <a:solidFill>
            <a:srgbClr val="D1D5DB"/>
          </a:solidFill>
          <a:ln/>
        </p:spPr>
      </p:sp>
      <p:sp>
        <p:nvSpPr>
          <p:cNvPr id="21" name="Text 18"/>
          <p:cNvSpPr/>
          <p:nvPr/>
        </p:nvSpPr>
        <p:spPr>
          <a:xfrm>
            <a:off x="762000" y="9891713"/>
            <a:ext cx="1805136" cy="2190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0000"/>
              </a:lnSpc>
              <a:buNone/>
            </a:pPr>
            <a:r>
              <a:rPr lang="en-US" sz="1050" spc="38" kern="0" dirty="0">
                <a:solidFill>
                  <a:srgbClr val="6B72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삼성전자 </a:t>
            </a:r>
            <a:pPr algn="l" indent="0" marL="0">
              <a:lnSpc>
                <a:spcPct val="140000"/>
              </a:lnSpc>
              <a:buNone/>
            </a:pPr>
            <a:r>
              <a:rPr lang="en-US" sz="1050" b="1" spc="38" kern="0" dirty="0">
                <a:solidFill>
                  <a:srgbClr val="1428A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| </a:t>
            </a:r>
            <a:pPr algn="l" indent="0" marL="0">
              <a:lnSpc>
                <a:spcPct val="140000"/>
              </a:lnSpc>
              <a:buNone/>
            </a:pPr>
            <a:r>
              <a:rPr lang="en-US" sz="1050" spc="38" kern="0" dirty="0">
                <a:solidFill>
                  <a:srgbClr val="6B72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STEP 1 · 현재 상황</a:t>
            </a:r>
            <a:endParaRPr lang="en-US" sz="1050" dirty="0"/>
          </a:p>
        </p:txBody>
      </p:sp>
      <p:sp>
        <p:nvSpPr>
          <p:cNvPr id="22" name="Text 19"/>
          <p:cNvSpPr/>
          <p:nvPr/>
        </p:nvSpPr>
        <p:spPr>
          <a:xfrm>
            <a:off x="17023705" y="9891713"/>
            <a:ext cx="578495" cy="2190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0000"/>
              </a:lnSpc>
              <a:buNone/>
            </a:pPr>
            <a:r>
              <a:rPr lang="en-US" sz="1050" spc="38" kern="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 / 26</a:t>
            </a:r>
            <a:endParaRPr lang="en-US" sz="10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62000" y="533400"/>
            <a:ext cx="17266920" cy="2762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algn="l" indent="0" marL="0">
              <a:lnSpc>
                <a:spcPct val="140000"/>
              </a:lnSpc>
              <a:buNone/>
            </a:pPr>
            <a:r>
              <a:rPr lang="en-US" sz="1350" spc="150" kern="0" dirty="0">
                <a:solidFill>
                  <a:srgbClr val="1428A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STEP 1 · 현재 상황 (3 / 4)</a:t>
            </a:r>
            <a:endParaRPr lang="en-US" sz="1350" dirty="0"/>
          </a:p>
        </p:txBody>
      </p:sp>
      <p:sp>
        <p:nvSpPr>
          <p:cNvPr id="3" name="Text 1"/>
          <p:cNvSpPr/>
          <p:nvPr/>
        </p:nvSpPr>
        <p:spPr>
          <a:xfrm>
            <a:off x="762000" y="885825"/>
            <a:ext cx="17266920" cy="5619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3300" b="1" spc="-37" kern="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다운턴마다 우리 매출은 </a:t>
            </a:r>
            <a:pPr algn="l" indent="0" marL="0">
              <a:lnSpc>
                <a:spcPct val="125000"/>
              </a:lnSpc>
              <a:buNone/>
            </a:pPr>
            <a:r>
              <a:rPr lang="en-US" sz="3300" b="1" spc="-37" kern="0" dirty="0">
                <a:solidFill>
                  <a:srgbClr val="DC26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−38%</a:t>
            </a:r>
            <a:pPr algn="l" indent="0" marL="0">
              <a:lnSpc>
                <a:spcPct val="125000"/>
              </a:lnSpc>
              <a:buNone/>
            </a:pPr>
            <a:r>
              <a:rPr lang="en-US" sz="3300" b="1" spc="-37" kern="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, 영업이익은 </a:t>
            </a:r>
            <a:pPr algn="l" indent="0" marL="0">
              <a:lnSpc>
                <a:spcPct val="125000"/>
              </a:lnSpc>
              <a:buNone/>
            </a:pPr>
            <a:r>
              <a:rPr lang="en-US" sz="3300" b="1" spc="-37" kern="0" dirty="0">
                <a:solidFill>
                  <a:srgbClr val="DC26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−84% </a:t>
            </a:r>
            <a:pPr algn="l" indent="0" marL="0">
              <a:lnSpc>
                <a:spcPct val="125000"/>
              </a:lnSpc>
              <a:buNone/>
            </a:pPr>
            <a:r>
              <a:rPr lang="en-US" sz="3300" b="1" spc="-37" kern="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사라졌다</a:t>
            </a:r>
            <a:endParaRPr lang="en-US" sz="3300" dirty="0"/>
          </a:p>
        </p:txBody>
      </p:sp>
      <p:sp>
        <p:nvSpPr>
          <p:cNvPr id="4" name="Text 2"/>
          <p:cNvSpPr/>
          <p:nvPr/>
        </p:nvSpPr>
        <p:spPr>
          <a:xfrm>
            <a:off x="762000" y="1524000"/>
            <a:ext cx="14716125" cy="3524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50000"/>
              </a:lnSpc>
              <a:buNone/>
            </a:pPr>
            <a:r>
              <a:rPr lang="en-US" sz="1650" dirty="0">
                <a:solidFill>
                  <a:srgbClr val="6B72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삼성 메모리사업부 분기별 매출·영업이익 추이 (2014 ~ 2026 Q1, 12년)</a:t>
            </a:r>
            <a:endParaRPr lang="en-US" sz="1650" dirty="0"/>
          </a:p>
        </p:txBody>
      </p:sp>
      <p:sp>
        <p:nvSpPr>
          <p:cNvPr id="5" name="Shape 3"/>
          <p:cNvSpPr/>
          <p:nvPr/>
        </p:nvSpPr>
        <p:spPr>
          <a:xfrm>
            <a:off x="762000" y="2286000"/>
            <a:ext cx="10411123" cy="5962650"/>
          </a:xfrm>
          <a:prstGeom prst="rect">
            <a:avLst/>
          </a:prstGeom>
          <a:solidFill>
            <a:srgbClr val="FFFFFF"/>
          </a:solidFill>
          <a:ln w="9525">
            <a:solidFill>
              <a:srgbClr val="D1D5DB"/>
            </a:solidFill>
            <a:prstDash val="solid"/>
          </a:ln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76325" y="2600325"/>
            <a:ext cx="9782473" cy="533400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11401723" y="2286000"/>
            <a:ext cx="6124277" cy="89535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8" name="Shape 5"/>
          <p:cNvSpPr/>
          <p:nvPr/>
        </p:nvSpPr>
        <p:spPr>
          <a:xfrm>
            <a:off x="11401723" y="3171825"/>
            <a:ext cx="6124277" cy="9525"/>
          </a:xfrm>
          <a:prstGeom prst="rect">
            <a:avLst/>
          </a:prstGeom>
          <a:solidFill>
            <a:srgbClr val="D1D5DB"/>
          </a:solidFill>
          <a:ln/>
        </p:spPr>
      </p:sp>
      <p:sp>
        <p:nvSpPr>
          <p:cNvPr id="9" name="Shape 6"/>
          <p:cNvSpPr/>
          <p:nvPr/>
        </p:nvSpPr>
        <p:spPr>
          <a:xfrm>
            <a:off x="11401723" y="2286000"/>
            <a:ext cx="6124277" cy="9525"/>
          </a:xfrm>
          <a:prstGeom prst="rect">
            <a:avLst/>
          </a:prstGeom>
          <a:solidFill>
            <a:srgbClr val="D1D5DB"/>
          </a:solidFill>
          <a:ln/>
        </p:spPr>
      </p:sp>
      <p:sp>
        <p:nvSpPr>
          <p:cNvPr id="10" name="Shape 7"/>
          <p:cNvSpPr/>
          <p:nvPr/>
        </p:nvSpPr>
        <p:spPr>
          <a:xfrm>
            <a:off x="11401723" y="2286000"/>
            <a:ext cx="47625" cy="895350"/>
          </a:xfrm>
          <a:prstGeom prst="rect">
            <a:avLst/>
          </a:prstGeom>
          <a:solidFill>
            <a:srgbClr val="DC2626"/>
          </a:solidFill>
          <a:ln/>
        </p:spPr>
      </p:sp>
      <p:sp>
        <p:nvSpPr>
          <p:cNvPr id="11" name="Shape 8"/>
          <p:cNvSpPr/>
          <p:nvPr/>
        </p:nvSpPr>
        <p:spPr>
          <a:xfrm>
            <a:off x="17516475" y="2286000"/>
            <a:ext cx="9525" cy="895350"/>
          </a:xfrm>
          <a:prstGeom prst="rect">
            <a:avLst/>
          </a:prstGeom>
          <a:solidFill>
            <a:srgbClr val="D1D5DB"/>
          </a:solidFill>
          <a:ln/>
        </p:spPr>
      </p:sp>
      <p:sp>
        <p:nvSpPr>
          <p:cNvPr id="12" name="Text 9"/>
          <p:cNvSpPr/>
          <p:nvPr/>
        </p:nvSpPr>
        <p:spPr>
          <a:xfrm>
            <a:off x="11639848" y="2486025"/>
            <a:ext cx="5856711" cy="2190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0000"/>
              </a:lnSpc>
              <a:buNone/>
            </a:pPr>
            <a:r>
              <a:rPr lang="en-US" sz="1050" b="1" spc="113" kern="0" dirty="0">
                <a:solidFill>
                  <a:srgbClr val="DC26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2015 다운턴</a:t>
            </a:r>
            <a:endParaRPr lang="en-US" sz="1050" dirty="0"/>
          </a:p>
        </p:txBody>
      </p:sp>
      <p:sp>
        <p:nvSpPr>
          <p:cNvPr id="13" name="Text 10"/>
          <p:cNvSpPr/>
          <p:nvPr/>
        </p:nvSpPr>
        <p:spPr>
          <a:xfrm>
            <a:off x="11639848" y="2724150"/>
            <a:ext cx="5856711" cy="2952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55000"/>
              </a:lnSpc>
              <a:buNone/>
            </a:pPr>
            <a:r>
              <a:rPr lang="en-US" sz="1350" dirty="0">
                <a:solidFill>
                  <a:srgbClr val="37415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매출 </a:t>
            </a:r>
            <a:pPr algn="l" indent="0" marL="0">
              <a:lnSpc>
                <a:spcPct val="155000"/>
              </a:lnSpc>
              <a:buNone/>
            </a:pPr>
            <a:r>
              <a:rPr lang="en-US" sz="1350" b="1" dirty="0">
                <a:solidFill>
                  <a:srgbClr val="DC26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−32% </a:t>
            </a:r>
            <a:pPr algn="l" indent="0" marL="0">
              <a:lnSpc>
                <a:spcPct val="155000"/>
              </a:lnSpc>
              <a:buNone/>
            </a:pPr>
            <a:r>
              <a:rPr lang="en-US" sz="1350" dirty="0">
                <a:solidFill>
                  <a:srgbClr val="37415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· 영업이익 </a:t>
            </a:r>
            <a:pPr algn="l" indent="0" marL="0">
              <a:lnSpc>
                <a:spcPct val="155000"/>
              </a:lnSpc>
              <a:buNone/>
            </a:pPr>
            <a:r>
              <a:rPr lang="en-US" sz="1350" b="1" dirty="0">
                <a:solidFill>
                  <a:srgbClr val="DC26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−75%</a:t>
            </a:r>
            <a:endParaRPr lang="en-US" sz="1350" dirty="0"/>
          </a:p>
        </p:txBody>
      </p:sp>
      <p:sp>
        <p:nvSpPr>
          <p:cNvPr id="14" name="Shape 11"/>
          <p:cNvSpPr/>
          <p:nvPr/>
        </p:nvSpPr>
        <p:spPr>
          <a:xfrm>
            <a:off x="11401723" y="3333750"/>
            <a:ext cx="6124277" cy="89535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5" name="Shape 12"/>
          <p:cNvSpPr/>
          <p:nvPr/>
        </p:nvSpPr>
        <p:spPr>
          <a:xfrm>
            <a:off x="11401723" y="4219575"/>
            <a:ext cx="6124277" cy="9525"/>
          </a:xfrm>
          <a:prstGeom prst="rect">
            <a:avLst/>
          </a:prstGeom>
          <a:solidFill>
            <a:srgbClr val="D1D5DB"/>
          </a:solidFill>
          <a:ln/>
        </p:spPr>
      </p:sp>
      <p:sp>
        <p:nvSpPr>
          <p:cNvPr id="16" name="Shape 13"/>
          <p:cNvSpPr/>
          <p:nvPr/>
        </p:nvSpPr>
        <p:spPr>
          <a:xfrm>
            <a:off x="11401723" y="3333750"/>
            <a:ext cx="6124277" cy="9525"/>
          </a:xfrm>
          <a:prstGeom prst="rect">
            <a:avLst/>
          </a:prstGeom>
          <a:solidFill>
            <a:srgbClr val="D1D5DB"/>
          </a:solidFill>
          <a:ln/>
        </p:spPr>
      </p:sp>
      <p:sp>
        <p:nvSpPr>
          <p:cNvPr id="17" name="Shape 14"/>
          <p:cNvSpPr/>
          <p:nvPr/>
        </p:nvSpPr>
        <p:spPr>
          <a:xfrm>
            <a:off x="11401723" y="3333750"/>
            <a:ext cx="47625" cy="895350"/>
          </a:xfrm>
          <a:prstGeom prst="rect">
            <a:avLst/>
          </a:prstGeom>
          <a:solidFill>
            <a:srgbClr val="DC2626"/>
          </a:solidFill>
          <a:ln/>
        </p:spPr>
      </p:sp>
      <p:sp>
        <p:nvSpPr>
          <p:cNvPr id="18" name="Shape 15"/>
          <p:cNvSpPr/>
          <p:nvPr/>
        </p:nvSpPr>
        <p:spPr>
          <a:xfrm>
            <a:off x="17516475" y="3333750"/>
            <a:ext cx="9525" cy="895350"/>
          </a:xfrm>
          <a:prstGeom prst="rect">
            <a:avLst/>
          </a:prstGeom>
          <a:solidFill>
            <a:srgbClr val="D1D5DB"/>
          </a:solidFill>
          <a:ln/>
        </p:spPr>
      </p:sp>
      <p:sp>
        <p:nvSpPr>
          <p:cNvPr id="19" name="Text 16"/>
          <p:cNvSpPr/>
          <p:nvPr/>
        </p:nvSpPr>
        <p:spPr>
          <a:xfrm>
            <a:off x="11639848" y="3533775"/>
            <a:ext cx="5856711" cy="2190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0000"/>
              </a:lnSpc>
              <a:buNone/>
            </a:pPr>
            <a:r>
              <a:rPr lang="en-US" sz="1050" b="1" spc="113" kern="0" dirty="0">
                <a:solidFill>
                  <a:srgbClr val="DC26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2019 다운턴</a:t>
            </a:r>
            <a:endParaRPr lang="en-US" sz="1050" dirty="0"/>
          </a:p>
        </p:txBody>
      </p:sp>
      <p:sp>
        <p:nvSpPr>
          <p:cNvPr id="20" name="Text 17"/>
          <p:cNvSpPr/>
          <p:nvPr/>
        </p:nvSpPr>
        <p:spPr>
          <a:xfrm>
            <a:off x="11639848" y="3771900"/>
            <a:ext cx="5856711" cy="2952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55000"/>
              </a:lnSpc>
              <a:buNone/>
            </a:pPr>
            <a:r>
              <a:rPr lang="en-US" sz="1350" dirty="0">
                <a:solidFill>
                  <a:srgbClr val="37415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매출 </a:t>
            </a:r>
            <a:pPr algn="l" indent="0" marL="0">
              <a:lnSpc>
                <a:spcPct val="155000"/>
              </a:lnSpc>
              <a:buNone/>
            </a:pPr>
            <a:r>
              <a:rPr lang="en-US" sz="1350" b="1" dirty="0">
                <a:solidFill>
                  <a:srgbClr val="DC26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−38% </a:t>
            </a:r>
            <a:pPr algn="l" indent="0" marL="0">
              <a:lnSpc>
                <a:spcPct val="155000"/>
              </a:lnSpc>
              <a:buNone/>
            </a:pPr>
            <a:r>
              <a:rPr lang="en-US" sz="1350" dirty="0">
                <a:solidFill>
                  <a:srgbClr val="37415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· 영업이익 </a:t>
            </a:r>
            <a:pPr algn="l" indent="0" marL="0">
              <a:lnSpc>
                <a:spcPct val="155000"/>
              </a:lnSpc>
              <a:buNone/>
            </a:pPr>
            <a:r>
              <a:rPr lang="en-US" sz="1350" b="1" dirty="0">
                <a:solidFill>
                  <a:srgbClr val="DC26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−88%</a:t>
            </a:r>
            <a:endParaRPr lang="en-US" sz="1350" dirty="0"/>
          </a:p>
        </p:txBody>
      </p:sp>
      <p:sp>
        <p:nvSpPr>
          <p:cNvPr id="21" name="Shape 18"/>
          <p:cNvSpPr/>
          <p:nvPr/>
        </p:nvSpPr>
        <p:spPr>
          <a:xfrm>
            <a:off x="11401723" y="4381500"/>
            <a:ext cx="6124277" cy="1428750"/>
          </a:xfrm>
          <a:prstGeom prst="rect">
            <a:avLst/>
          </a:prstGeom>
          <a:solidFill>
            <a:srgbClr val="FEF2F2"/>
          </a:solidFill>
          <a:ln/>
        </p:spPr>
      </p:sp>
      <p:sp>
        <p:nvSpPr>
          <p:cNvPr id="22" name="Shape 19"/>
          <p:cNvSpPr/>
          <p:nvPr/>
        </p:nvSpPr>
        <p:spPr>
          <a:xfrm>
            <a:off x="11401723" y="5800725"/>
            <a:ext cx="6124277" cy="9525"/>
          </a:xfrm>
          <a:prstGeom prst="rect">
            <a:avLst/>
          </a:prstGeom>
          <a:solidFill>
            <a:srgbClr val="D1D5DB"/>
          </a:solidFill>
          <a:ln/>
        </p:spPr>
      </p:sp>
      <p:sp>
        <p:nvSpPr>
          <p:cNvPr id="23" name="Shape 20"/>
          <p:cNvSpPr/>
          <p:nvPr/>
        </p:nvSpPr>
        <p:spPr>
          <a:xfrm>
            <a:off x="11401723" y="4381500"/>
            <a:ext cx="6124277" cy="9525"/>
          </a:xfrm>
          <a:prstGeom prst="rect">
            <a:avLst/>
          </a:prstGeom>
          <a:solidFill>
            <a:srgbClr val="D1D5DB"/>
          </a:solidFill>
          <a:ln/>
        </p:spPr>
      </p:sp>
      <p:sp>
        <p:nvSpPr>
          <p:cNvPr id="24" name="Shape 21"/>
          <p:cNvSpPr/>
          <p:nvPr/>
        </p:nvSpPr>
        <p:spPr>
          <a:xfrm>
            <a:off x="11401723" y="4381500"/>
            <a:ext cx="47625" cy="1428750"/>
          </a:xfrm>
          <a:prstGeom prst="rect">
            <a:avLst/>
          </a:prstGeom>
          <a:solidFill>
            <a:srgbClr val="DC2626"/>
          </a:solidFill>
          <a:ln/>
        </p:spPr>
      </p:sp>
      <p:sp>
        <p:nvSpPr>
          <p:cNvPr id="25" name="Shape 22"/>
          <p:cNvSpPr/>
          <p:nvPr/>
        </p:nvSpPr>
        <p:spPr>
          <a:xfrm>
            <a:off x="17516475" y="4381500"/>
            <a:ext cx="9525" cy="1428750"/>
          </a:xfrm>
          <a:prstGeom prst="rect">
            <a:avLst/>
          </a:prstGeom>
          <a:solidFill>
            <a:srgbClr val="D1D5DB"/>
          </a:solidFill>
          <a:ln/>
        </p:spPr>
      </p:sp>
      <p:sp>
        <p:nvSpPr>
          <p:cNvPr id="26" name="Text 23"/>
          <p:cNvSpPr/>
          <p:nvPr/>
        </p:nvSpPr>
        <p:spPr>
          <a:xfrm>
            <a:off x="11639848" y="4581525"/>
            <a:ext cx="5856711" cy="2190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0000"/>
              </a:lnSpc>
              <a:buNone/>
            </a:pPr>
            <a:r>
              <a:rPr lang="en-US" sz="1050" b="1" spc="113" kern="0" dirty="0">
                <a:solidFill>
                  <a:srgbClr val="DC26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2022—23 다운턴</a:t>
            </a:r>
            <a:endParaRPr lang="en-US" sz="1050" dirty="0"/>
          </a:p>
        </p:txBody>
      </p:sp>
      <p:sp>
        <p:nvSpPr>
          <p:cNvPr id="27" name="Text 24"/>
          <p:cNvSpPr/>
          <p:nvPr/>
        </p:nvSpPr>
        <p:spPr>
          <a:xfrm>
            <a:off x="11639848" y="4819650"/>
            <a:ext cx="5856711" cy="2952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55000"/>
              </a:lnSpc>
              <a:buNone/>
            </a:pPr>
            <a:r>
              <a:rPr lang="en-US" sz="1350" dirty="0">
                <a:solidFill>
                  <a:srgbClr val="37415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매출 </a:t>
            </a:r>
            <a:pPr algn="l" indent="0" marL="0">
              <a:lnSpc>
                <a:spcPct val="155000"/>
              </a:lnSpc>
              <a:buNone/>
            </a:pPr>
            <a:r>
              <a:rPr lang="en-US" sz="1350" b="1" dirty="0">
                <a:solidFill>
                  <a:srgbClr val="DC26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−45%</a:t>
            </a:r>
            <a:endParaRPr lang="en-US" sz="1350" dirty="0"/>
          </a:p>
        </p:txBody>
      </p:sp>
      <p:sp>
        <p:nvSpPr>
          <p:cNvPr id="28" name="Text 25"/>
          <p:cNvSpPr/>
          <p:nvPr/>
        </p:nvSpPr>
        <p:spPr>
          <a:xfrm>
            <a:off x="11639848" y="5095875"/>
            <a:ext cx="5856711" cy="5524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55000"/>
              </a:lnSpc>
              <a:buNone/>
            </a:pPr>
            <a:r>
              <a:rPr lang="en-US" sz="1350" dirty="0">
                <a:solidFill>
                  <a:srgbClr val="37415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분기 </a:t>
            </a:r>
            <a:pPr algn="l" indent="0" marL="0">
              <a:lnSpc>
                <a:spcPct val="155000"/>
              </a:lnSpc>
              <a:buNone/>
            </a:pPr>
            <a:r>
              <a:rPr lang="en-US" sz="1350" b="1" dirty="0">
                <a:solidFill>
                  <a:srgbClr val="DC26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−10조 원 </a:t>
            </a:r>
            <a:pPr algn="l" indent="0" marL="0">
              <a:lnSpc>
                <a:spcPct val="155000"/>
              </a:lnSpc>
              <a:buNone/>
            </a:pPr>
            <a:r>
              <a:rPr lang="en-US" sz="1350" dirty="0">
                <a:solidFill>
                  <a:srgbClr val="37415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적자 </a:t>
            </a:r>
            <a:pPr algn="l" indent="0" marL="0">
              <a:lnSpc>
                <a:spcPct val="155000"/>
              </a:lnSpc>
              <a:buNone/>
            </a:pPr>
            <a:r>
              <a:rPr lang="en-US" sz="1125" dirty="0">
                <a:solidFill>
                  <a:srgbClr val="6B72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(사상 최대 분기 손실)</a:t>
            </a:r>
            <a:endParaRPr lang="en-US" sz="1350" dirty="0"/>
          </a:p>
        </p:txBody>
      </p:sp>
      <p:sp>
        <p:nvSpPr>
          <p:cNvPr id="29" name="Shape 26"/>
          <p:cNvSpPr/>
          <p:nvPr/>
        </p:nvSpPr>
        <p:spPr>
          <a:xfrm>
            <a:off x="11401723" y="5962650"/>
            <a:ext cx="6124277" cy="1352550"/>
          </a:xfrm>
          <a:prstGeom prst="rect">
            <a:avLst/>
          </a:prstGeom>
          <a:solidFill>
            <a:srgbClr val="1428A0"/>
          </a:solidFill>
          <a:ln/>
        </p:spPr>
      </p:sp>
      <p:sp>
        <p:nvSpPr>
          <p:cNvPr id="30" name="Text 27"/>
          <p:cNvSpPr/>
          <p:nvPr/>
        </p:nvSpPr>
        <p:spPr>
          <a:xfrm>
            <a:off x="11592223" y="6153150"/>
            <a:ext cx="5915576" cy="2095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0000"/>
              </a:lnSpc>
              <a:buNone/>
            </a:pPr>
            <a:r>
              <a:rPr lang="en-US" sz="975" b="1" spc="113" kern="0" dirty="0">
                <a:solidFill>
                  <a:srgbClr val="FFFFFF">
                    <a:alpha val="80000"/>
                  </a:srgbClr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다운턴 평균 손실</a:t>
            </a:r>
            <a:endParaRPr lang="en-US" sz="975" dirty="0"/>
          </a:p>
        </p:txBody>
      </p:sp>
      <p:sp>
        <p:nvSpPr>
          <p:cNvPr id="31" name="Text 28"/>
          <p:cNvSpPr/>
          <p:nvPr/>
        </p:nvSpPr>
        <p:spPr>
          <a:xfrm>
            <a:off x="11592223" y="6381750"/>
            <a:ext cx="5915576" cy="4095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0000"/>
              </a:lnSpc>
              <a:buNone/>
            </a:pPr>
            <a:r>
              <a:rPr lang="en-US" sz="21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매출 −38%</a:t>
            </a:r>
            <a:endParaRPr lang="en-US" sz="2100" dirty="0"/>
          </a:p>
        </p:txBody>
      </p:sp>
      <p:sp>
        <p:nvSpPr>
          <p:cNvPr id="32" name="Text 29"/>
          <p:cNvSpPr/>
          <p:nvPr/>
        </p:nvSpPr>
        <p:spPr>
          <a:xfrm>
            <a:off x="11592223" y="6753225"/>
            <a:ext cx="5915576" cy="4095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0000"/>
              </a:lnSpc>
              <a:buNone/>
            </a:pPr>
            <a:r>
              <a:rPr lang="en-US" sz="21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영업이익 −84%</a:t>
            </a:r>
            <a:endParaRPr lang="en-US" sz="2100" dirty="0"/>
          </a:p>
        </p:txBody>
      </p:sp>
      <p:sp>
        <p:nvSpPr>
          <p:cNvPr id="33" name="Shape 30"/>
          <p:cNvSpPr/>
          <p:nvPr/>
        </p:nvSpPr>
        <p:spPr>
          <a:xfrm>
            <a:off x="762000" y="9667875"/>
            <a:ext cx="16764000" cy="9525"/>
          </a:xfrm>
          <a:prstGeom prst="rect">
            <a:avLst/>
          </a:prstGeom>
          <a:solidFill>
            <a:srgbClr val="D1D5DB"/>
          </a:solidFill>
          <a:ln/>
        </p:spPr>
      </p:sp>
      <p:sp>
        <p:nvSpPr>
          <p:cNvPr id="34" name="Text 31"/>
          <p:cNvSpPr/>
          <p:nvPr/>
        </p:nvSpPr>
        <p:spPr>
          <a:xfrm>
            <a:off x="762000" y="9891713"/>
            <a:ext cx="1805136" cy="2190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0000"/>
              </a:lnSpc>
              <a:buNone/>
            </a:pPr>
            <a:r>
              <a:rPr lang="en-US" sz="1050" spc="38" kern="0" dirty="0">
                <a:solidFill>
                  <a:srgbClr val="6B72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삼성전자 </a:t>
            </a:r>
            <a:pPr algn="l" indent="0" marL="0">
              <a:lnSpc>
                <a:spcPct val="140000"/>
              </a:lnSpc>
              <a:buNone/>
            </a:pPr>
            <a:r>
              <a:rPr lang="en-US" sz="1050" b="1" spc="38" kern="0" dirty="0">
                <a:solidFill>
                  <a:srgbClr val="1428A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| </a:t>
            </a:r>
            <a:pPr algn="l" indent="0" marL="0">
              <a:lnSpc>
                <a:spcPct val="140000"/>
              </a:lnSpc>
              <a:buNone/>
            </a:pPr>
            <a:r>
              <a:rPr lang="en-US" sz="1050" spc="38" kern="0" dirty="0">
                <a:solidFill>
                  <a:srgbClr val="6B72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STEP 1 · 현재 상황</a:t>
            </a:r>
            <a:endParaRPr lang="en-US" sz="1050" dirty="0"/>
          </a:p>
        </p:txBody>
      </p:sp>
      <p:sp>
        <p:nvSpPr>
          <p:cNvPr id="35" name="Text 32"/>
          <p:cNvSpPr/>
          <p:nvPr/>
        </p:nvSpPr>
        <p:spPr>
          <a:xfrm>
            <a:off x="17023705" y="9891713"/>
            <a:ext cx="578495" cy="2190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0000"/>
              </a:lnSpc>
              <a:buNone/>
            </a:pPr>
            <a:r>
              <a:rPr lang="en-US" sz="1050" spc="38" kern="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 / 26</a:t>
            </a:r>
            <a:endParaRPr lang="en-US" sz="10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62000" y="533400"/>
            <a:ext cx="17266920" cy="2762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algn="l" indent="0" marL="0">
              <a:lnSpc>
                <a:spcPct val="140000"/>
              </a:lnSpc>
              <a:buNone/>
            </a:pPr>
            <a:r>
              <a:rPr lang="en-US" sz="1350" spc="150" kern="0" dirty="0">
                <a:solidFill>
                  <a:srgbClr val="1428A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STEP 1 · 현재 상황 (4 / 4)</a:t>
            </a:r>
            <a:endParaRPr lang="en-US" sz="1350" dirty="0"/>
          </a:p>
        </p:txBody>
      </p:sp>
      <p:sp>
        <p:nvSpPr>
          <p:cNvPr id="3" name="Text 1"/>
          <p:cNvSpPr/>
          <p:nvPr/>
        </p:nvSpPr>
        <p:spPr>
          <a:xfrm>
            <a:off x="762000" y="885825"/>
            <a:ext cx="17266920" cy="5619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3300" b="1" spc="-37" kern="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게다가 호황 속에서도 우리는 33년 만에 1위를 내줬다</a:t>
            </a:r>
            <a:endParaRPr lang="en-US" sz="3300" dirty="0"/>
          </a:p>
        </p:txBody>
      </p:sp>
      <p:sp>
        <p:nvSpPr>
          <p:cNvPr id="4" name="Text 2"/>
          <p:cNvSpPr/>
          <p:nvPr/>
        </p:nvSpPr>
        <p:spPr>
          <a:xfrm>
            <a:off x="762000" y="1524000"/>
            <a:ext cx="14716125" cy="3524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50000"/>
              </a:lnSpc>
              <a:buNone/>
            </a:pPr>
            <a:r>
              <a:rPr lang="en-US" sz="1650" dirty="0">
                <a:solidFill>
                  <a:srgbClr val="6B72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표면적 매출 호황과 이면의 구조적 점유율 추락이 동시 진행</a:t>
            </a:r>
            <a:endParaRPr lang="en-US" sz="1650" dirty="0"/>
          </a:p>
        </p:txBody>
      </p:sp>
      <p:sp>
        <p:nvSpPr>
          <p:cNvPr id="5" name="Shape 3"/>
          <p:cNvSpPr/>
          <p:nvPr/>
        </p:nvSpPr>
        <p:spPr>
          <a:xfrm>
            <a:off x="762000" y="2286000"/>
            <a:ext cx="8001000" cy="51435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Shape 4"/>
          <p:cNvSpPr/>
          <p:nvPr/>
        </p:nvSpPr>
        <p:spPr>
          <a:xfrm>
            <a:off x="762000" y="7419975"/>
            <a:ext cx="8001000" cy="9525"/>
          </a:xfrm>
          <a:prstGeom prst="rect">
            <a:avLst/>
          </a:prstGeom>
          <a:solidFill>
            <a:srgbClr val="D1D5DB"/>
          </a:solidFill>
          <a:ln/>
        </p:spPr>
      </p:sp>
      <p:sp>
        <p:nvSpPr>
          <p:cNvPr id="7" name="Shape 5"/>
          <p:cNvSpPr/>
          <p:nvPr/>
        </p:nvSpPr>
        <p:spPr>
          <a:xfrm>
            <a:off x="762000" y="2286000"/>
            <a:ext cx="8001000" cy="57150"/>
          </a:xfrm>
          <a:prstGeom prst="rect">
            <a:avLst/>
          </a:prstGeom>
          <a:solidFill>
            <a:srgbClr val="059669"/>
          </a:solidFill>
          <a:ln/>
        </p:spPr>
      </p:sp>
      <p:sp>
        <p:nvSpPr>
          <p:cNvPr id="8" name="Shape 6"/>
          <p:cNvSpPr/>
          <p:nvPr/>
        </p:nvSpPr>
        <p:spPr>
          <a:xfrm>
            <a:off x="762000" y="2286000"/>
            <a:ext cx="9525" cy="5143500"/>
          </a:xfrm>
          <a:prstGeom prst="rect">
            <a:avLst/>
          </a:prstGeom>
          <a:solidFill>
            <a:srgbClr val="D1D5DB"/>
          </a:solidFill>
          <a:ln/>
        </p:spPr>
      </p:sp>
      <p:sp>
        <p:nvSpPr>
          <p:cNvPr id="9" name="Shape 7"/>
          <p:cNvSpPr/>
          <p:nvPr/>
        </p:nvSpPr>
        <p:spPr>
          <a:xfrm>
            <a:off x="1076325" y="2709863"/>
            <a:ext cx="560487" cy="266700"/>
          </a:xfrm>
          <a:prstGeom prst="roundRect">
            <a:avLst>
              <a:gd name="adj" fmla="val 50000"/>
            </a:avLst>
          </a:prstGeom>
          <a:solidFill>
            <a:srgbClr val="D1FAE5"/>
          </a:solidFill>
          <a:ln/>
        </p:spPr>
      </p:sp>
      <p:sp>
        <p:nvSpPr>
          <p:cNvPr id="10" name="Text 8"/>
          <p:cNvSpPr/>
          <p:nvPr/>
        </p:nvSpPr>
        <p:spPr>
          <a:xfrm>
            <a:off x="1209675" y="2709863"/>
            <a:ext cx="369987" cy="3048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algn="l" indent="0" marL="0">
              <a:lnSpc>
                <a:spcPct val="140000"/>
              </a:lnSpc>
              <a:buNone/>
            </a:pPr>
            <a:r>
              <a:rPr lang="en-US" sz="1050" b="1" spc="38" kern="0" dirty="0">
                <a:solidFill>
                  <a:srgbClr val="065F4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HOT</a:t>
            </a:r>
            <a:endParaRPr lang="en-US" sz="1050" dirty="0"/>
          </a:p>
        </p:txBody>
      </p:sp>
      <p:sp>
        <p:nvSpPr>
          <p:cNvPr id="11" name="Text 9"/>
          <p:cNvSpPr/>
          <p:nvPr/>
        </p:nvSpPr>
        <p:spPr>
          <a:xfrm>
            <a:off x="1751112" y="2686050"/>
            <a:ext cx="969466" cy="3524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0000"/>
              </a:lnSpc>
              <a:buNone/>
            </a:pPr>
            <a:r>
              <a:rPr lang="en-US" sz="1800" b="1" dirty="0">
                <a:solidFill>
                  <a:srgbClr val="0596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호황 지표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1076325" y="3228975"/>
            <a:ext cx="7603331" cy="3238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0000"/>
              </a:lnSpc>
              <a:buNone/>
            </a:pPr>
            <a:r>
              <a:rPr lang="en-US" sz="1650" b="1" spc="22" kern="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메모리 시장 규모</a:t>
            </a:r>
            <a:endParaRPr lang="en-US" sz="1650" dirty="0"/>
          </a:p>
        </p:txBody>
      </p:sp>
      <p:sp>
        <p:nvSpPr>
          <p:cNvPr id="13" name="Text 11"/>
          <p:cNvSpPr/>
          <p:nvPr/>
        </p:nvSpPr>
        <p:spPr>
          <a:xfrm>
            <a:off x="1076325" y="3552825"/>
            <a:ext cx="7603331" cy="4095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0000"/>
              </a:lnSpc>
              <a:buNone/>
            </a:pPr>
            <a:r>
              <a:rPr lang="en-US" sz="21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$170B → $551.6B</a:t>
            </a:r>
            <a:endParaRPr lang="en-US" sz="2100" dirty="0"/>
          </a:p>
        </p:txBody>
      </p:sp>
      <p:sp>
        <p:nvSpPr>
          <p:cNvPr id="14" name="Text 12"/>
          <p:cNvSpPr/>
          <p:nvPr/>
        </p:nvSpPr>
        <p:spPr>
          <a:xfrm>
            <a:off x="1076325" y="3924300"/>
            <a:ext cx="7603331" cy="2381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0000"/>
              </a:lnSpc>
              <a:buNone/>
            </a:pPr>
            <a:r>
              <a:rPr lang="en-US" sz="1125" dirty="0">
                <a:solidFill>
                  <a:srgbClr val="6B72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2024 → 2026 · </a:t>
            </a:r>
            <a:pPr algn="l" indent="0" marL="0">
              <a:lnSpc>
                <a:spcPct val="140000"/>
              </a:lnSpc>
              <a:buNone/>
            </a:pPr>
            <a:r>
              <a:rPr lang="en-US" sz="1125" b="1" dirty="0">
                <a:solidFill>
                  <a:srgbClr val="D9770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+224%</a:t>
            </a:r>
            <a:endParaRPr lang="en-US" sz="1125" dirty="0"/>
          </a:p>
        </p:txBody>
      </p:sp>
      <p:sp>
        <p:nvSpPr>
          <p:cNvPr id="15" name="Text 13"/>
          <p:cNvSpPr/>
          <p:nvPr/>
        </p:nvSpPr>
        <p:spPr>
          <a:xfrm>
            <a:off x="1076325" y="4352925"/>
            <a:ext cx="7603331" cy="3238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0000"/>
              </a:lnSpc>
              <a:buNone/>
            </a:pPr>
            <a:r>
              <a:rPr lang="en-US" sz="1650" b="1" spc="22" kern="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HBM 시장 Sold Out</a:t>
            </a:r>
            <a:endParaRPr lang="en-US" sz="1650" dirty="0"/>
          </a:p>
        </p:txBody>
      </p:sp>
      <p:sp>
        <p:nvSpPr>
          <p:cNvPr id="16" name="Text 14"/>
          <p:cNvSpPr/>
          <p:nvPr/>
        </p:nvSpPr>
        <p:spPr>
          <a:xfrm>
            <a:off x="1076325" y="4676775"/>
            <a:ext cx="7603331" cy="4095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0000"/>
              </a:lnSpc>
              <a:buNone/>
            </a:pPr>
            <a:r>
              <a:rPr lang="en-US" sz="21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$54.6B</a:t>
            </a:r>
            <a:endParaRPr lang="en-US" sz="2100" dirty="0"/>
          </a:p>
        </p:txBody>
      </p:sp>
      <p:sp>
        <p:nvSpPr>
          <p:cNvPr id="17" name="Text 15"/>
          <p:cNvSpPr/>
          <p:nvPr/>
        </p:nvSpPr>
        <p:spPr>
          <a:xfrm>
            <a:off x="1076325" y="5048250"/>
            <a:ext cx="7603331" cy="2381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0000"/>
              </a:lnSpc>
              <a:buNone/>
            </a:pPr>
            <a:r>
              <a:rPr lang="en-US" sz="1125" dirty="0">
                <a:solidFill>
                  <a:srgbClr val="6B72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2026 · 전량 공급 부족</a:t>
            </a:r>
            <a:endParaRPr lang="en-US" sz="1125" dirty="0"/>
          </a:p>
        </p:txBody>
      </p:sp>
      <p:sp>
        <p:nvSpPr>
          <p:cNvPr id="18" name="Text 16"/>
          <p:cNvSpPr/>
          <p:nvPr/>
        </p:nvSpPr>
        <p:spPr>
          <a:xfrm>
            <a:off x="1076325" y="5476875"/>
            <a:ext cx="7603331" cy="3238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0000"/>
              </a:lnSpc>
              <a:buNone/>
            </a:pPr>
            <a:r>
              <a:rPr lang="en-US" sz="1650" b="1" spc="22" kern="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빅테크 AI CapEx</a:t>
            </a:r>
            <a:endParaRPr lang="en-US" sz="1650" dirty="0"/>
          </a:p>
        </p:txBody>
      </p:sp>
      <p:sp>
        <p:nvSpPr>
          <p:cNvPr id="19" name="Text 17"/>
          <p:cNvSpPr/>
          <p:nvPr/>
        </p:nvSpPr>
        <p:spPr>
          <a:xfrm>
            <a:off x="1076325" y="5800725"/>
            <a:ext cx="7603331" cy="4095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0000"/>
              </a:lnSpc>
              <a:buNone/>
            </a:pPr>
            <a:r>
              <a:rPr lang="en-US" sz="21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$200B → $725B</a:t>
            </a:r>
            <a:endParaRPr lang="en-US" sz="2100" dirty="0"/>
          </a:p>
        </p:txBody>
      </p:sp>
      <p:sp>
        <p:nvSpPr>
          <p:cNvPr id="20" name="Text 18"/>
          <p:cNvSpPr/>
          <p:nvPr/>
        </p:nvSpPr>
        <p:spPr>
          <a:xfrm>
            <a:off x="1076325" y="6172200"/>
            <a:ext cx="7603331" cy="2381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0000"/>
              </a:lnSpc>
              <a:buNone/>
            </a:pPr>
            <a:r>
              <a:rPr lang="en-US" sz="1125" dirty="0">
                <a:solidFill>
                  <a:srgbClr val="6B72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2024 → 2026 · </a:t>
            </a:r>
            <a:pPr algn="l" indent="0" marL="0">
              <a:lnSpc>
                <a:spcPct val="140000"/>
              </a:lnSpc>
              <a:buNone/>
            </a:pPr>
            <a:r>
              <a:rPr lang="en-US" sz="1125" b="1" dirty="0">
                <a:solidFill>
                  <a:srgbClr val="D9770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+263%</a:t>
            </a:r>
            <a:endParaRPr lang="en-US" sz="1125" dirty="0"/>
          </a:p>
        </p:txBody>
      </p:sp>
      <p:sp>
        <p:nvSpPr>
          <p:cNvPr id="21" name="Shape 19"/>
          <p:cNvSpPr/>
          <p:nvPr/>
        </p:nvSpPr>
        <p:spPr>
          <a:xfrm>
            <a:off x="8763000" y="2286000"/>
            <a:ext cx="762000" cy="5143500"/>
          </a:xfrm>
          <a:prstGeom prst="rect">
            <a:avLst/>
          </a:prstGeom>
          <a:solidFill>
            <a:srgbClr val="FEF3C7"/>
          </a:solidFill>
          <a:ln/>
        </p:spPr>
      </p:sp>
      <p:sp>
        <p:nvSpPr>
          <p:cNvPr id="22" name="Text 20"/>
          <p:cNvSpPr/>
          <p:nvPr/>
        </p:nvSpPr>
        <p:spPr>
          <a:xfrm>
            <a:off x="8846939" y="4700588"/>
            <a:ext cx="670173" cy="3524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0000"/>
              </a:lnSpc>
              <a:buNone/>
            </a:pPr>
            <a:r>
              <a:rPr lang="en-US" sz="1800" b="1" spc="300" kern="0" dirty="0">
                <a:solidFill>
                  <a:srgbClr val="D9770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BUT</a:t>
            </a:r>
            <a:endParaRPr lang="en-US" sz="1800" dirty="0"/>
          </a:p>
        </p:txBody>
      </p:sp>
      <p:sp>
        <p:nvSpPr>
          <p:cNvPr id="23" name="Shape 21"/>
          <p:cNvSpPr/>
          <p:nvPr/>
        </p:nvSpPr>
        <p:spPr>
          <a:xfrm>
            <a:off x="9525000" y="2286000"/>
            <a:ext cx="8001000" cy="51435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4" name="Shape 22"/>
          <p:cNvSpPr/>
          <p:nvPr/>
        </p:nvSpPr>
        <p:spPr>
          <a:xfrm>
            <a:off x="9525000" y="7419975"/>
            <a:ext cx="8001000" cy="9525"/>
          </a:xfrm>
          <a:prstGeom prst="rect">
            <a:avLst/>
          </a:prstGeom>
          <a:solidFill>
            <a:srgbClr val="D1D5DB"/>
          </a:solidFill>
          <a:ln/>
        </p:spPr>
      </p:sp>
      <p:sp>
        <p:nvSpPr>
          <p:cNvPr id="25" name="Shape 23"/>
          <p:cNvSpPr/>
          <p:nvPr/>
        </p:nvSpPr>
        <p:spPr>
          <a:xfrm>
            <a:off x="9525000" y="2286000"/>
            <a:ext cx="8001000" cy="57150"/>
          </a:xfrm>
          <a:prstGeom prst="rect">
            <a:avLst/>
          </a:prstGeom>
          <a:solidFill>
            <a:srgbClr val="DC2626"/>
          </a:solidFill>
          <a:ln/>
        </p:spPr>
      </p:sp>
      <p:sp>
        <p:nvSpPr>
          <p:cNvPr id="26" name="Shape 24"/>
          <p:cNvSpPr/>
          <p:nvPr/>
        </p:nvSpPr>
        <p:spPr>
          <a:xfrm>
            <a:off x="17516475" y="2286000"/>
            <a:ext cx="9525" cy="5143500"/>
          </a:xfrm>
          <a:prstGeom prst="rect">
            <a:avLst/>
          </a:prstGeom>
          <a:solidFill>
            <a:srgbClr val="D1D5DB"/>
          </a:solidFill>
          <a:ln/>
        </p:spPr>
      </p:sp>
      <p:sp>
        <p:nvSpPr>
          <p:cNvPr id="27" name="Shape 25"/>
          <p:cNvSpPr/>
          <p:nvPr/>
        </p:nvSpPr>
        <p:spPr>
          <a:xfrm>
            <a:off x="9829800" y="2709863"/>
            <a:ext cx="589657" cy="266700"/>
          </a:xfrm>
          <a:prstGeom prst="roundRect">
            <a:avLst>
              <a:gd name="adj" fmla="val 50000"/>
            </a:avLst>
          </a:prstGeom>
          <a:solidFill>
            <a:srgbClr val="FEE2E2"/>
          </a:solidFill>
          <a:ln/>
        </p:spPr>
      </p:sp>
      <p:sp>
        <p:nvSpPr>
          <p:cNvPr id="28" name="Text 26"/>
          <p:cNvSpPr/>
          <p:nvPr/>
        </p:nvSpPr>
        <p:spPr>
          <a:xfrm>
            <a:off x="9963150" y="2709863"/>
            <a:ext cx="399157" cy="3048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algn="l" indent="0" marL="0">
              <a:lnSpc>
                <a:spcPct val="140000"/>
              </a:lnSpc>
              <a:buNone/>
            </a:pPr>
            <a:r>
              <a:rPr lang="en-US" sz="1050" b="1" spc="38" kern="0" dirty="0">
                <a:solidFill>
                  <a:srgbClr val="991B1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RISK</a:t>
            </a:r>
            <a:endParaRPr lang="en-US" sz="1050" dirty="0"/>
          </a:p>
        </p:txBody>
      </p:sp>
      <p:sp>
        <p:nvSpPr>
          <p:cNvPr id="29" name="Text 27"/>
          <p:cNvSpPr/>
          <p:nvPr/>
        </p:nvSpPr>
        <p:spPr>
          <a:xfrm>
            <a:off x="10533757" y="2686050"/>
            <a:ext cx="969466" cy="3524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0000"/>
              </a:lnSpc>
              <a:buNone/>
            </a:pPr>
            <a:r>
              <a:rPr lang="en-US" sz="1800" b="1" dirty="0">
                <a:solidFill>
                  <a:srgbClr val="DC26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위기 지표</a:t>
            </a:r>
            <a:endParaRPr lang="en-US" sz="1800" dirty="0"/>
          </a:p>
        </p:txBody>
      </p:sp>
      <p:sp>
        <p:nvSpPr>
          <p:cNvPr id="30" name="Text 28"/>
          <p:cNvSpPr/>
          <p:nvPr/>
        </p:nvSpPr>
        <p:spPr>
          <a:xfrm>
            <a:off x="9829800" y="3228975"/>
            <a:ext cx="7603331" cy="3238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0000"/>
              </a:lnSpc>
              <a:buNone/>
            </a:pPr>
            <a:r>
              <a:rPr lang="en-US" sz="1650" b="1" spc="22" kern="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DRAM 1위 역전 — 33년 만에</a:t>
            </a:r>
            <a:endParaRPr lang="en-US" sz="1650" dirty="0"/>
          </a:p>
        </p:txBody>
      </p:sp>
      <p:sp>
        <p:nvSpPr>
          <p:cNvPr id="31" name="Text 29"/>
          <p:cNvSpPr/>
          <p:nvPr/>
        </p:nvSpPr>
        <p:spPr>
          <a:xfrm>
            <a:off x="9829800" y="3552825"/>
            <a:ext cx="7603331" cy="3238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0000"/>
              </a:lnSpc>
              <a:buNone/>
            </a:pPr>
            <a:r>
              <a:rPr lang="en-US" sz="165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SK $49.6B &gt; 삼성 $46.4B</a:t>
            </a:r>
            <a:endParaRPr lang="en-US" sz="1650" dirty="0"/>
          </a:p>
        </p:txBody>
      </p:sp>
      <p:sp>
        <p:nvSpPr>
          <p:cNvPr id="32" name="Text 30"/>
          <p:cNvSpPr/>
          <p:nvPr/>
        </p:nvSpPr>
        <p:spPr>
          <a:xfrm>
            <a:off x="9829800" y="3838575"/>
            <a:ext cx="7603331" cy="2381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0000"/>
              </a:lnSpc>
              <a:buNone/>
            </a:pPr>
            <a:r>
              <a:rPr lang="en-US" sz="1125" dirty="0">
                <a:solidFill>
                  <a:srgbClr val="6B72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2025 · </a:t>
            </a:r>
            <a:pPr algn="l" indent="0" marL="0">
              <a:lnSpc>
                <a:spcPct val="140000"/>
              </a:lnSpc>
              <a:buNone/>
            </a:pPr>
            <a:r>
              <a:rPr lang="en-US" sz="1125" b="1" dirty="0">
                <a:solidFill>
                  <a:srgbClr val="DC26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1992년 이후 처음</a:t>
            </a:r>
            <a:endParaRPr lang="en-US" sz="1125" dirty="0"/>
          </a:p>
        </p:txBody>
      </p:sp>
      <p:sp>
        <p:nvSpPr>
          <p:cNvPr id="33" name="Text 31"/>
          <p:cNvSpPr/>
          <p:nvPr/>
        </p:nvSpPr>
        <p:spPr>
          <a:xfrm>
            <a:off x="9829800" y="4267200"/>
            <a:ext cx="7603331" cy="3238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0000"/>
              </a:lnSpc>
              <a:buNone/>
            </a:pPr>
            <a:r>
              <a:rPr lang="en-US" sz="1650" b="1" spc="22" kern="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HBM 점유율 추락</a:t>
            </a:r>
            <a:endParaRPr lang="en-US" sz="1650" dirty="0"/>
          </a:p>
        </p:txBody>
      </p:sp>
      <p:sp>
        <p:nvSpPr>
          <p:cNvPr id="34" name="Text 32"/>
          <p:cNvSpPr/>
          <p:nvPr/>
        </p:nvSpPr>
        <p:spPr>
          <a:xfrm>
            <a:off x="9829800" y="4591050"/>
            <a:ext cx="7603331" cy="4095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0000"/>
              </a:lnSpc>
              <a:buNone/>
            </a:pPr>
            <a:r>
              <a:rPr lang="en-US" sz="21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40% → 17%</a:t>
            </a:r>
            <a:endParaRPr lang="en-US" sz="2100" dirty="0"/>
          </a:p>
        </p:txBody>
      </p:sp>
      <p:sp>
        <p:nvSpPr>
          <p:cNvPr id="35" name="Text 33"/>
          <p:cNvSpPr/>
          <p:nvPr/>
        </p:nvSpPr>
        <p:spPr>
          <a:xfrm>
            <a:off x="9829800" y="4962525"/>
            <a:ext cx="7603331" cy="2381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0000"/>
              </a:lnSpc>
              <a:buNone/>
            </a:pPr>
            <a:r>
              <a:rPr lang="en-US" sz="1125" dirty="0">
                <a:solidFill>
                  <a:srgbClr val="6B72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2023 → 2025 Q2 · Rubin HBM4 현재 </a:t>
            </a:r>
            <a:pPr algn="l" indent="0" marL="0">
              <a:lnSpc>
                <a:spcPct val="140000"/>
              </a:lnSpc>
              <a:buNone/>
            </a:pPr>
            <a:r>
              <a:rPr lang="en-US" sz="1125" b="1" dirty="0">
                <a:solidFill>
                  <a:srgbClr val="6B72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28%</a:t>
            </a:r>
            <a:endParaRPr lang="en-US" sz="1125" dirty="0"/>
          </a:p>
        </p:txBody>
      </p:sp>
      <p:sp>
        <p:nvSpPr>
          <p:cNvPr id="36" name="Text 34"/>
          <p:cNvSpPr/>
          <p:nvPr/>
        </p:nvSpPr>
        <p:spPr>
          <a:xfrm>
            <a:off x="9829800" y="5391150"/>
            <a:ext cx="7603331" cy="3238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0000"/>
              </a:lnSpc>
              <a:buNone/>
            </a:pPr>
            <a:r>
              <a:rPr lang="en-US" sz="1650" b="1" spc="22" kern="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 ROI 경고음</a:t>
            </a:r>
            <a:endParaRPr lang="en-US" sz="1650" dirty="0"/>
          </a:p>
        </p:txBody>
      </p:sp>
      <p:sp>
        <p:nvSpPr>
          <p:cNvPr id="37" name="Text 35"/>
          <p:cNvSpPr/>
          <p:nvPr/>
        </p:nvSpPr>
        <p:spPr>
          <a:xfrm>
            <a:off x="9829800" y="5715000"/>
            <a:ext cx="7603331" cy="3238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0000"/>
              </a:lnSpc>
              <a:buNone/>
            </a:pPr>
            <a:r>
              <a:rPr lang="en-US" sz="165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95% ROI 미실현 (MIT)</a:t>
            </a:r>
            <a:endParaRPr lang="en-US" sz="1650" dirty="0"/>
          </a:p>
        </p:txBody>
      </p:sp>
      <p:sp>
        <p:nvSpPr>
          <p:cNvPr id="38" name="Text 36"/>
          <p:cNvSpPr/>
          <p:nvPr/>
        </p:nvSpPr>
        <p:spPr>
          <a:xfrm>
            <a:off x="9829800" y="6000750"/>
            <a:ext cx="7603331" cy="2381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0000"/>
              </a:lnSpc>
              <a:buNone/>
            </a:pPr>
            <a:r>
              <a:rPr lang="en-US" sz="1125" dirty="0">
                <a:solidFill>
                  <a:srgbClr val="6B72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Microsoft FCF </a:t>
            </a:r>
            <a:pPr algn="l" indent="0" marL="0">
              <a:lnSpc>
                <a:spcPct val="140000"/>
              </a:lnSpc>
              <a:buNone/>
            </a:pPr>
            <a:r>
              <a:rPr lang="en-US" sz="1125" b="1" dirty="0">
                <a:solidFill>
                  <a:srgbClr val="DC26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−28% 전망 </a:t>
            </a:r>
            <a:pPr algn="l" indent="0" marL="0">
              <a:lnSpc>
                <a:spcPct val="140000"/>
              </a:lnSpc>
              <a:buNone/>
            </a:pPr>
            <a:r>
              <a:rPr lang="en-US" sz="1125" dirty="0">
                <a:solidFill>
                  <a:srgbClr val="6B72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(Barclays)</a:t>
            </a:r>
            <a:endParaRPr lang="en-US" sz="1125" dirty="0"/>
          </a:p>
        </p:txBody>
      </p:sp>
      <p:sp>
        <p:nvSpPr>
          <p:cNvPr id="39" name="Shape 37"/>
          <p:cNvSpPr/>
          <p:nvPr/>
        </p:nvSpPr>
        <p:spPr>
          <a:xfrm>
            <a:off x="762000" y="7658100"/>
            <a:ext cx="16764000" cy="685800"/>
          </a:xfrm>
          <a:prstGeom prst="rect">
            <a:avLst/>
          </a:prstGeom>
          <a:solidFill>
            <a:srgbClr val="FEF3C7"/>
          </a:solidFill>
          <a:ln/>
        </p:spPr>
      </p:sp>
      <p:sp>
        <p:nvSpPr>
          <p:cNvPr id="40" name="Shape 38"/>
          <p:cNvSpPr/>
          <p:nvPr/>
        </p:nvSpPr>
        <p:spPr>
          <a:xfrm>
            <a:off x="762000" y="7658100"/>
            <a:ext cx="57150" cy="685800"/>
          </a:xfrm>
          <a:prstGeom prst="rect">
            <a:avLst/>
          </a:prstGeom>
          <a:solidFill>
            <a:srgbClr val="D97706"/>
          </a:solidFill>
          <a:ln/>
        </p:spPr>
      </p:sp>
      <p:sp>
        <p:nvSpPr>
          <p:cNvPr id="41" name="Shape 39"/>
          <p:cNvSpPr/>
          <p:nvPr/>
        </p:nvSpPr>
        <p:spPr>
          <a:xfrm>
            <a:off x="1085850" y="7848600"/>
            <a:ext cx="997148" cy="304800"/>
          </a:xfrm>
          <a:prstGeom prst="rect">
            <a:avLst/>
          </a:prstGeom>
          <a:solidFill>
            <a:srgbClr val="D97706"/>
          </a:solidFill>
          <a:ln/>
        </p:spPr>
      </p:sp>
      <p:sp>
        <p:nvSpPr>
          <p:cNvPr id="42" name="Text 40"/>
          <p:cNvSpPr/>
          <p:nvPr/>
        </p:nvSpPr>
        <p:spPr>
          <a:xfrm>
            <a:off x="1219200" y="7905750"/>
            <a:ext cx="806648" cy="2286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5000"/>
              </a:lnSpc>
              <a:buNone/>
            </a:pPr>
            <a:r>
              <a:rPr lang="en-US" sz="1050" b="1" spc="150" kern="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SO WHAT</a:t>
            </a:r>
            <a:endParaRPr lang="en-US" sz="1050" dirty="0"/>
          </a:p>
        </p:txBody>
      </p:sp>
      <p:sp>
        <p:nvSpPr>
          <p:cNvPr id="43" name="Text 41"/>
          <p:cNvSpPr/>
          <p:nvPr/>
        </p:nvSpPr>
        <p:spPr>
          <a:xfrm>
            <a:off x="2273498" y="7862888"/>
            <a:ext cx="5733464" cy="3143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5000"/>
              </a:lnSpc>
              <a:buNone/>
            </a:pPr>
            <a:r>
              <a:rPr lang="en-US" sz="15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매출 호황 </a:t>
            </a:r>
            <a:pPr algn="l" indent="0" marL="0">
              <a:lnSpc>
                <a:spcPct val="145000"/>
              </a:lnSpc>
              <a:buNone/>
            </a:pPr>
            <a:r>
              <a:rPr lang="en-US" sz="150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+ </a:t>
            </a:r>
            <a:pPr algn="l" indent="0" marL="0">
              <a:lnSpc>
                <a:spcPct val="145000"/>
              </a:lnSpc>
              <a:buNone/>
            </a:pPr>
            <a:r>
              <a:rPr lang="en-US" sz="15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점유율 패배 </a:t>
            </a:r>
            <a:pPr algn="l" indent="0" marL="0">
              <a:lnSpc>
                <a:spcPct val="145000"/>
              </a:lnSpc>
              <a:buNone/>
            </a:pPr>
            <a:r>
              <a:rPr lang="en-US" sz="150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+ </a:t>
            </a:r>
            <a:pPr algn="l" indent="0" marL="0">
              <a:lnSpc>
                <a:spcPct val="145000"/>
              </a:lnSpc>
              <a:buNone/>
            </a:pPr>
            <a:r>
              <a:rPr lang="en-US" sz="15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거시 경고가 동시에 — 다운턴 신호일 수 있다.</a:t>
            </a:r>
            <a:endParaRPr lang="en-US" sz="1500" dirty="0"/>
          </a:p>
        </p:txBody>
      </p:sp>
      <p:sp>
        <p:nvSpPr>
          <p:cNvPr id="44" name="Shape 42"/>
          <p:cNvSpPr/>
          <p:nvPr/>
        </p:nvSpPr>
        <p:spPr>
          <a:xfrm>
            <a:off x="762000" y="9667875"/>
            <a:ext cx="16764000" cy="9525"/>
          </a:xfrm>
          <a:prstGeom prst="rect">
            <a:avLst/>
          </a:prstGeom>
          <a:solidFill>
            <a:srgbClr val="D1D5DB"/>
          </a:solidFill>
          <a:ln/>
        </p:spPr>
      </p:sp>
      <p:sp>
        <p:nvSpPr>
          <p:cNvPr id="45" name="Text 43"/>
          <p:cNvSpPr/>
          <p:nvPr/>
        </p:nvSpPr>
        <p:spPr>
          <a:xfrm>
            <a:off x="762000" y="9891713"/>
            <a:ext cx="1805136" cy="2190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0000"/>
              </a:lnSpc>
              <a:buNone/>
            </a:pPr>
            <a:r>
              <a:rPr lang="en-US" sz="1050" spc="38" kern="0" dirty="0">
                <a:solidFill>
                  <a:srgbClr val="6B72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삼성전자 </a:t>
            </a:r>
            <a:pPr algn="l" indent="0" marL="0">
              <a:lnSpc>
                <a:spcPct val="140000"/>
              </a:lnSpc>
              <a:buNone/>
            </a:pPr>
            <a:r>
              <a:rPr lang="en-US" sz="1050" b="1" spc="38" kern="0" dirty="0">
                <a:solidFill>
                  <a:srgbClr val="1428A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| </a:t>
            </a:r>
            <a:pPr algn="l" indent="0" marL="0">
              <a:lnSpc>
                <a:spcPct val="140000"/>
              </a:lnSpc>
              <a:buNone/>
            </a:pPr>
            <a:r>
              <a:rPr lang="en-US" sz="1050" spc="38" kern="0" dirty="0">
                <a:solidFill>
                  <a:srgbClr val="6B72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STEP 1 · 현재 상황</a:t>
            </a:r>
            <a:endParaRPr lang="en-US" sz="1050" dirty="0"/>
          </a:p>
        </p:txBody>
      </p:sp>
      <p:sp>
        <p:nvSpPr>
          <p:cNvPr id="46" name="Text 44"/>
          <p:cNvSpPr/>
          <p:nvPr/>
        </p:nvSpPr>
        <p:spPr>
          <a:xfrm>
            <a:off x="17023705" y="9891713"/>
            <a:ext cx="578495" cy="2190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0000"/>
              </a:lnSpc>
              <a:buNone/>
            </a:pPr>
            <a:r>
              <a:rPr lang="en-US" sz="1050" spc="38" kern="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 / 26</a:t>
            </a:r>
            <a:endParaRPr lang="en-US" sz="10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62000" y="533400"/>
            <a:ext cx="17266920" cy="2762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algn="l" indent="0" marL="0">
              <a:lnSpc>
                <a:spcPct val="140000"/>
              </a:lnSpc>
              <a:buNone/>
            </a:pPr>
            <a:r>
              <a:rPr lang="en-US" sz="1350" spc="150" kern="0" dirty="0">
                <a:solidFill>
                  <a:srgbClr val="1428A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STEP 2 · 불확실성 (1 / 2)</a:t>
            </a:r>
            <a:endParaRPr lang="en-US" sz="1350" dirty="0"/>
          </a:p>
        </p:txBody>
      </p:sp>
      <p:sp>
        <p:nvSpPr>
          <p:cNvPr id="3" name="Text 1"/>
          <p:cNvSpPr/>
          <p:nvPr/>
        </p:nvSpPr>
        <p:spPr>
          <a:xfrm>
            <a:off x="762000" y="885825"/>
            <a:ext cx="17266920" cy="5619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3300" b="1" spc="-37" kern="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호황이 더 길게 갈지, 다운턴이 언제·얼마나 클지 — 모두 알 수 없다</a:t>
            </a:r>
            <a:endParaRPr lang="en-US" sz="3300" dirty="0"/>
          </a:p>
        </p:txBody>
      </p:sp>
      <p:sp>
        <p:nvSpPr>
          <p:cNvPr id="4" name="Text 2"/>
          <p:cNvSpPr/>
          <p:nvPr/>
        </p:nvSpPr>
        <p:spPr>
          <a:xfrm>
            <a:off x="762000" y="1524000"/>
            <a:ext cx="14716125" cy="3524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50000"/>
              </a:lnSpc>
              <a:buNone/>
            </a:pPr>
            <a:r>
              <a:rPr lang="en-US" sz="1650" dirty="0">
                <a:solidFill>
                  <a:srgbClr val="6B72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호황 지속 / 약한 조정 / 중간 다운턴 — 3가지 가설 모두 실현 가능</a:t>
            </a:r>
            <a:endParaRPr lang="en-US" sz="1650" dirty="0"/>
          </a:p>
        </p:txBody>
      </p:sp>
      <p:sp>
        <p:nvSpPr>
          <p:cNvPr id="5" name="Shape 3"/>
          <p:cNvSpPr/>
          <p:nvPr/>
        </p:nvSpPr>
        <p:spPr>
          <a:xfrm>
            <a:off x="762000" y="2286000"/>
            <a:ext cx="5435650" cy="55245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Shape 4"/>
          <p:cNvSpPr/>
          <p:nvPr/>
        </p:nvSpPr>
        <p:spPr>
          <a:xfrm>
            <a:off x="762000" y="2286000"/>
            <a:ext cx="5435650" cy="57150"/>
          </a:xfrm>
          <a:prstGeom prst="rect">
            <a:avLst/>
          </a:prstGeom>
          <a:solidFill>
            <a:srgbClr val="059669"/>
          </a:solidFill>
          <a:ln/>
        </p:spPr>
      </p:sp>
      <p:sp>
        <p:nvSpPr>
          <p:cNvPr id="7" name="Text 5"/>
          <p:cNvSpPr/>
          <p:nvPr/>
        </p:nvSpPr>
        <p:spPr>
          <a:xfrm>
            <a:off x="1028700" y="2609850"/>
            <a:ext cx="5049317" cy="2190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0000"/>
              </a:lnSpc>
              <a:buNone/>
            </a:pPr>
            <a:r>
              <a:rPr lang="en-US" sz="1050" b="1" spc="150" kern="0" dirty="0">
                <a:solidFill>
                  <a:srgbClr val="0596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가설 A · 호황 지속</a:t>
            </a:r>
            <a:endParaRPr lang="en-US" sz="1050" dirty="0"/>
          </a:p>
        </p:txBody>
      </p:sp>
      <p:sp>
        <p:nvSpPr>
          <p:cNvPr id="8" name="Text 6"/>
          <p:cNvSpPr/>
          <p:nvPr/>
        </p:nvSpPr>
        <p:spPr>
          <a:xfrm>
            <a:off x="1028700" y="2943225"/>
            <a:ext cx="5049317" cy="3429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95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2030년까지 호황</a:t>
            </a:r>
            <a:endParaRPr lang="en-US" sz="1950" dirty="0"/>
          </a:p>
        </p:txBody>
      </p:sp>
      <p:sp>
        <p:nvSpPr>
          <p:cNvPr id="9" name="Text 7"/>
          <p:cNvSpPr/>
          <p:nvPr/>
        </p:nvSpPr>
        <p:spPr>
          <a:xfrm>
            <a:off x="1028700" y="3400425"/>
            <a:ext cx="5049317" cy="2476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0000"/>
              </a:lnSpc>
              <a:buNone/>
            </a:pPr>
            <a:r>
              <a:rPr lang="en-US" sz="1200" b="1" dirty="0">
                <a:solidFill>
                  <a:srgbClr val="0596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DOWNTURN 2030+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1028700" y="3762375"/>
            <a:ext cx="5049317" cy="7524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70000"/>
              </a:lnSpc>
              <a:buNone/>
            </a:pPr>
            <a:r>
              <a:rPr lang="en-US" sz="1125" b="1" dirty="0">
                <a:solidFill>
                  <a:srgbClr val="37415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전망 </a:t>
            </a:r>
            <a:pPr algn="l" indent="0" marL="0">
              <a:lnSpc>
                <a:spcPct val="170000"/>
              </a:lnSpc>
              <a:buNone/>
            </a:pPr>
            <a:r>
              <a:rPr lang="en-US" sz="1125" dirty="0">
                <a:solidFill>
                  <a:srgbClr val="37415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 ROI 안정 실현 · 빅테크 CapEx 지속 성장 · HBM 슈퍼사이클 · 2027 $1조 돌파 · 영업이익률 50%+ 사상 최대 지속</a:t>
            </a:r>
            <a:endParaRPr lang="en-US" sz="1125" dirty="0"/>
          </a:p>
        </p:txBody>
      </p:sp>
      <p:sp>
        <p:nvSpPr>
          <p:cNvPr id="11" name="Text 9"/>
          <p:cNvSpPr/>
          <p:nvPr/>
        </p:nvSpPr>
        <p:spPr>
          <a:xfrm>
            <a:off x="1028700" y="4591050"/>
            <a:ext cx="5049317" cy="5143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70000"/>
              </a:lnSpc>
              <a:buNone/>
            </a:pPr>
            <a:r>
              <a:rPr lang="en-US" sz="1125" b="1" dirty="0">
                <a:solidFill>
                  <a:srgbClr val="37415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참조 사이클 </a:t>
            </a:r>
            <a:pPr algn="l" indent="0" marL="0">
              <a:lnSpc>
                <a:spcPct val="170000"/>
              </a:lnSpc>
              <a:buNone/>
            </a:pPr>
            <a:r>
              <a:rPr lang="en-US" sz="1125" dirty="0">
                <a:solidFill>
                  <a:srgbClr val="37415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2017–18 슈퍼사이클 + AI 재가속</a:t>
            </a:r>
            <a:endParaRPr lang="en-US" sz="1125" dirty="0"/>
          </a:p>
        </p:txBody>
      </p:sp>
      <p:sp>
        <p:nvSpPr>
          <p:cNvPr id="12" name="Shape 10"/>
          <p:cNvSpPr/>
          <p:nvPr/>
        </p:nvSpPr>
        <p:spPr>
          <a:xfrm>
            <a:off x="1028700" y="6791325"/>
            <a:ext cx="4902250" cy="752475"/>
          </a:xfrm>
          <a:prstGeom prst="rect">
            <a:avLst/>
          </a:prstGeom>
          <a:solidFill>
            <a:srgbClr val="E8EEFC"/>
          </a:solidFill>
          <a:ln/>
        </p:spPr>
      </p:sp>
      <p:sp>
        <p:nvSpPr>
          <p:cNvPr id="13" name="Text 11"/>
          <p:cNvSpPr/>
          <p:nvPr/>
        </p:nvSpPr>
        <p:spPr>
          <a:xfrm>
            <a:off x="1181100" y="6943725"/>
            <a:ext cx="4735373" cy="2381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0000"/>
              </a:lnSpc>
              <a:buNone/>
            </a:pPr>
            <a:r>
              <a:rPr lang="en-US" sz="1125" b="1" dirty="0">
                <a:solidFill>
                  <a:srgbClr val="1428A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필요 전략</a:t>
            </a:r>
            <a:endParaRPr lang="en-US" sz="1125" dirty="0"/>
          </a:p>
        </p:txBody>
      </p:sp>
      <p:sp>
        <p:nvSpPr>
          <p:cNvPr id="14" name="Text 12"/>
          <p:cNvSpPr/>
          <p:nvPr/>
        </p:nvSpPr>
        <p:spPr>
          <a:xfrm>
            <a:off x="1181100" y="7181850"/>
            <a:ext cx="4735373" cy="2476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50000"/>
              </a:lnSpc>
              <a:buNone/>
            </a:pPr>
            <a:r>
              <a:rPr lang="en-US" sz="1125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HBM 캐파 가속 증설 · 신흥시장 선점 · 프리미엄 LTA 락인</a:t>
            </a:r>
            <a:endParaRPr lang="en-US" sz="1125" dirty="0"/>
          </a:p>
        </p:txBody>
      </p:sp>
      <p:sp>
        <p:nvSpPr>
          <p:cNvPr id="15" name="Shape 13"/>
          <p:cNvSpPr/>
          <p:nvPr/>
        </p:nvSpPr>
        <p:spPr>
          <a:xfrm>
            <a:off x="6426250" y="2286000"/>
            <a:ext cx="5435650" cy="55245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6" name="Shape 14"/>
          <p:cNvSpPr/>
          <p:nvPr/>
        </p:nvSpPr>
        <p:spPr>
          <a:xfrm>
            <a:off x="6426250" y="2286000"/>
            <a:ext cx="5435650" cy="57150"/>
          </a:xfrm>
          <a:prstGeom prst="rect">
            <a:avLst/>
          </a:prstGeom>
          <a:solidFill>
            <a:srgbClr val="D97706"/>
          </a:solidFill>
          <a:ln/>
        </p:spPr>
      </p:sp>
      <p:sp>
        <p:nvSpPr>
          <p:cNvPr id="17" name="Text 15"/>
          <p:cNvSpPr/>
          <p:nvPr/>
        </p:nvSpPr>
        <p:spPr>
          <a:xfrm>
            <a:off x="6692950" y="2609850"/>
            <a:ext cx="5049317" cy="2190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0000"/>
              </a:lnSpc>
              <a:buNone/>
            </a:pPr>
            <a:r>
              <a:rPr lang="en-US" sz="1050" b="1" spc="150" kern="0" dirty="0">
                <a:solidFill>
                  <a:srgbClr val="D9770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가설 B · 약한 조정</a:t>
            </a:r>
            <a:endParaRPr lang="en-US" sz="1050" dirty="0"/>
          </a:p>
        </p:txBody>
      </p:sp>
      <p:sp>
        <p:nvSpPr>
          <p:cNvPr id="18" name="Text 16"/>
          <p:cNvSpPr/>
          <p:nvPr/>
        </p:nvSpPr>
        <p:spPr>
          <a:xfrm>
            <a:off x="6692950" y="2943225"/>
            <a:ext cx="5049317" cy="3429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95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2027 Q4 / 12개월 회복</a:t>
            </a:r>
            <a:endParaRPr lang="en-US" sz="1950" dirty="0"/>
          </a:p>
        </p:txBody>
      </p:sp>
      <p:sp>
        <p:nvSpPr>
          <p:cNvPr id="19" name="Text 17"/>
          <p:cNvSpPr/>
          <p:nvPr/>
        </p:nvSpPr>
        <p:spPr>
          <a:xfrm>
            <a:off x="6692950" y="3400425"/>
            <a:ext cx="5049317" cy="2476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0000"/>
              </a:lnSpc>
              <a:buNone/>
            </a:pPr>
            <a:r>
              <a:rPr lang="en-US" sz="1200" b="1" dirty="0">
                <a:solidFill>
                  <a:srgbClr val="D9770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SHALLOW · 2022—23형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6692950" y="3762375"/>
            <a:ext cx="5049317" cy="7524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70000"/>
              </a:lnSpc>
              <a:buNone/>
            </a:pPr>
            <a:r>
              <a:rPr lang="en-US" sz="1125" b="1" dirty="0">
                <a:solidFill>
                  <a:srgbClr val="37415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전망 </a:t>
            </a:r>
            <a:pPr algn="l" indent="0" marL="0">
              <a:lnSpc>
                <a:spcPct val="170000"/>
              </a:lnSpc>
              <a:buNone/>
            </a:pPr>
            <a:r>
              <a:rPr lang="en-US" sz="1125" dirty="0">
                <a:solidFill>
                  <a:srgbClr val="37415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빅테크 CapEx YoY </a:t>
            </a:r>
            <a:pPr algn="l" indent="0" marL="0">
              <a:lnSpc>
                <a:spcPct val="170000"/>
              </a:lnSpc>
              <a:buNone/>
            </a:pPr>
            <a:r>
              <a:rPr lang="en-US" sz="1125" b="1" dirty="0">
                <a:solidFill>
                  <a:srgbClr val="DC26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−10 ~ −15% </a:t>
            </a:r>
            <a:pPr algn="l" indent="0" marL="0">
              <a:lnSpc>
                <a:spcPct val="170000"/>
              </a:lnSpc>
              <a:buNone/>
            </a:pPr>
            <a:r>
              <a:rPr lang="en-US" sz="1125" dirty="0">
                <a:solidFill>
                  <a:srgbClr val="37415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· 메모리 가격 </a:t>
            </a:r>
            <a:pPr algn="l" indent="0" marL="0">
              <a:lnSpc>
                <a:spcPct val="170000"/>
              </a:lnSpc>
              <a:buNone/>
            </a:pPr>
            <a:r>
              <a:rPr lang="en-US" sz="1125" b="1" dirty="0">
                <a:solidFill>
                  <a:srgbClr val="DC26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−20 ~ −30% </a:t>
            </a:r>
            <a:pPr algn="l" indent="0" marL="0">
              <a:lnSpc>
                <a:spcPct val="170000"/>
              </a:lnSpc>
              <a:buNone/>
            </a:pPr>
            <a:r>
              <a:rPr lang="en-US" sz="1125" dirty="0">
                <a:solidFill>
                  <a:srgbClr val="37415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· 삼성 영업이익 </a:t>
            </a:r>
            <a:pPr algn="l" indent="0" marL="0">
              <a:lnSpc>
                <a:spcPct val="170000"/>
              </a:lnSpc>
              <a:buNone/>
            </a:pPr>
            <a:r>
              <a:rPr lang="en-US" sz="1125" b="1" dirty="0">
                <a:solidFill>
                  <a:srgbClr val="DC26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−50%</a:t>
            </a:r>
            <a:endParaRPr lang="en-US" sz="1125" dirty="0"/>
          </a:p>
        </p:txBody>
      </p:sp>
      <p:sp>
        <p:nvSpPr>
          <p:cNvPr id="21" name="Text 19"/>
          <p:cNvSpPr/>
          <p:nvPr/>
        </p:nvSpPr>
        <p:spPr>
          <a:xfrm>
            <a:off x="6692950" y="4591050"/>
            <a:ext cx="5049317" cy="5143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70000"/>
              </a:lnSpc>
              <a:buNone/>
            </a:pPr>
            <a:r>
              <a:rPr lang="en-US" sz="1125" b="1" dirty="0">
                <a:solidFill>
                  <a:srgbClr val="37415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참조 사이클 </a:t>
            </a:r>
            <a:pPr algn="l" indent="0" marL="0">
              <a:lnSpc>
                <a:spcPct val="170000"/>
              </a:lnSpc>
              <a:buNone/>
            </a:pPr>
            <a:r>
              <a:rPr lang="en-US" sz="1125" dirty="0">
                <a:solidFill>
                  <a:srgbClr val="37415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2022–23 다운턴 형태</a:t>
            </a:r>
            <a:endParaRPr lang="en-US" sz="1125" dirty="0"/>
          </a:p>
        </p:txBody>
      </p:sp>
      <p:sp>
        <p:nvSpPr>
          <p:cNvPr id="22" name="Shape 20"/>
          <p:cNvSpPr/>
          <p:nvPr/>
        </p:nvSpPr>
        <p:spPr>
          <a:xfrm>
            <a:off x="6692950" y="6772275"/>
            <a:ext cx="4902250" cy="771525"/>
          </a:xfrm>
          <a:prstGeom prst="rect">
            <a:avLst/>
          </a:prstGeom>
          <a:solidFill>
            <a:srgbClr val="FEF3C7"/>
          </a:solidFill>
          <a:ln/>
        </p:spPr>
      </p:sp>
      <p:sp>
        <p:nvSpPr>
          <p:cNvPr id="23" name="Shape 21"/>
          <p:cNvSpPr/>
          <p:nvPr/>
        </p:nvSpPr>
        <p:spPr>
          <a:xfrm>
            <a:off x="6692950" y="7534275"/>
            <a:ext cx="4902250" cy="9525"/>
          </a:xfrm>
          <a:prstGeom prst="rect">
            <a:avLst/>
          </a:prstGeom>
          <a:solidFill>
            <a:srgbClr val="D1D5DB"/>
          </a:solidFill>
          <a:ln/>
        </p:spPr>
      </p:sp>
      <p:sp>
        <p:nvSpPr>
          <p:cNvPr id="24" name="Shape 22"/>
          <p:cNvSpPr/>
          <p:nvPr/>
        </p:nvSpPr>
        <p:spPr>
          <a:xfrm>
            <a:off x="6692950" y="6772275"/>
            <a:ext cx="4902250" cy="9525"/>
          </a:xfrm>
          <a:prstGeom prst="rect">
            <a:avLst/>
          </a:prstGeom>
          <a:solidFill>
            <a:srgbClr val="D1D5DB"/>
          </a:solidFill>
          <a:ln/>
        </p:spPr>
      </p:sp>
      <p:sp>
        <p:nvSpPr>
          <p:cNvPr id="25" name="Shape 23"/>
          <p:cNvSpPr/>
          <p:nvPr/>
        </p:nvSpPr>
        <p:spPr>
          <a:xfrm>
            <a:off x="6692950" y="6772275"/>
            <a:ext cx="38100" cy="771525"/>
          </a:xfrm>
          <a:prstGeom prst="rect">
            <a:avLst/>
          </a:prstGeom>
          <a:solidFill>
            <a:srgbClr val="D97706"/>
          </a:solidFill>
          <a:ln/>
        </p:spPr>
      </p:sp>
      <p:sp>
        <p:nvSpPr>
          <p:cNvPr id="26" name="Shape 24"/>
          <p:cNvSpPr/>
          <p:nvPr/>
        </p:nvSpPr>
        <p:spPr>
          <a:xfrm>
            <a:off x="11585674" y="6772275"/>
            <a:ext cx="9525" cy="771525"/>
          </a:xfrm>
          <a:prstGeom prst="rect">
            <a:avLst/>
          </a:prstGeom>
          <a:solidFill>
            <a:srgbClr val="D1D5DB"/>
          </a:solidFill>
          <a:ln/>
        </p:spPr>
      </p:sp>
      <p:sp>
        <p:nvSpPr>
          <p:cNvPr id="27" name="Text 25"/>
          <p:cNvSpPr/>
          <p:nvPr/>
        </p:nvSpPr>
        <p:spPr>
          <a:xfrm>
            <a:off x="6883450" y="6934200"/>
            <a:ext cx="4686319" cy="2381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0000"/>
              </a:lnSpc>
              <a:buNone/>
            </a:pPr>
            <a:r>
              <a:rPr lang="en-US" sz="1125" b="1" dirty="0">
                <a:solidFill>
                  <a:srgbClr val="D9770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필요 전략</a:t>
            </a:r>
            <a:endParaRPr lang="en-US" sz="1125" dirty="0"/>
          </a:p>
        </p:txBody>
      </p:sp>
      <p:sp>
        <p:nvSpPr>
          <p:cNvPr id="28" name="Text 26"/>
          <p:cNvSpPr/>
          <p:nvPr/>
        </p:nvSpPr>
        <p:spPr>
          <a:xfrm>
            <a:off x="6883450" y="7172325"/>
            <a:ext cx="4686319" cy="2476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50000"/>
              </a:lnSpc>
              <a:buNone/>
            </a:pPr>
            <a:r>
              <a:rPr lang="en-US" sz="1125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재고일수 상한 + RS-1 옵션형 캐파 일시정지 + R&amp;D 사수</a:t>
            </a:r>
            <a:endParaRPr lang="en-US" sz="1125" dirty="0"/>
          </a:p>
        </p:txBody>
      </p:sp>
      <p:sp>
        <p:nvSpPr>
          <p:cNvPr id="29" name="Shape 27"/>
          <p:cNvSpPr/>
          <p:nvPr/>
        </p:nvSpPr>
        <p:spPr>
          <a:xfrm>
            <a:off x="12090499" y="2286000"/>
            <a:ext cx="5435650" cy="55245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0" name="Shape 28"/>
          <p:cNvSpPr/>
          <p:nvPr/>
        </p:nvSpPr>
        <p:spPr>
          <a:xfrm>
            <a:off x="12090499" y="2286000"/>
            <a:ext cx="5435650" cy="57150"/>
          </a:xfrm>
          <a:prstGeom prst="rect">
            <a:avLst/>
          </a:prstGeom>
          <a:solidFill>
            <a:srgbClr val="DC2626"/>
          </a:solidFill>
          <a:ln/>
        </p:spPr>
      </p:sp>
      <p:sp>
        <p:nvSpPr>
          <p:cNvPr id="31" name="Text 29"/>
          <p:cNvSpPr/>
          <p:nvPr/>
        </p:nvSpPr>
        <p:spPr>
          <a:xfrm>
            <a:off x="12357199" y="2609850"/>
            <a:ext cx="5049317" cy="2190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0000"/>
              </a:lnSpc>
              <a:buNone/>
            </a:pPr>
            <a:r>
              <a:rPr lang="en-US" sz="1050" b="1" spc="150" kern="0" dirty="0">
                <a:solidFill>
                  <a:srgbClr val="DC26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가설 C · 중간 다운턴</a:t>
            </a:r>
            <a:endParaRPr lang="en-US" sz="1050" dirty="0"/>
          </a:p>
        </p:txBody>
      </p:sp>
      <p:sp>
        <p:nvSpPr>
          <p:cNvPr id="32" name="Text 30"/>
          <p:cNvSpPr/>
          <p:nvPr/>
        </p:nvSpPr>
        <p:spPr>
          <a:xfrm>
            <a:off x="12357199" y="2943225"/>
            <a:ext cx="5049317" cy="3429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95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2028 Q1 / 18–24개월 회복</a:t>
            </a:r>
            <a:endParaRPr lang="en-US" sz="1950" dirty="0"/>
          </a:p>
        </p:txBody>
      </p:sp>
      <p:sp>
        <p:nvSpPr>
          <p:cNvPr id="33" name="Text 31"/>
          <p:cNvSpPr/>
          <p:nvPr/>
        </p:nvSpPr>
        <p:spPr>
          <a:xfrm>
            <a:off x="12357199" y="3400425"/>
            <a:ext cx="5049317" cy="2476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0000"/>
              </a:lnSpc>
              <a:buNone/>
            </a:pPr>
            <a:r>
              <a:rPr lang="en-US" sz="1200" b="1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DEEP · 2008—09형</a:t>
            </a:r>
            <a:endParaRPr lang="en-US" sz="1200" dirty="0"/>
          </a:p>
        </p:txBody>
      </p:sp>
      <p:sp>
        <p:nvSpPr>
          <p:cNvPr id="34" name="Text 32"/>
          <p:cNvSpPr/>
          <p:nvPr/>
        </p:nvSpPr>
        <p:spPr>
          <a:xfrm>
            <a:off x="12357199" y="3762375"/>
            <a:ext cx="5049317" cy="5143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70000"/>
              </a:lnSpc>
              <a:buNone/>
            </a:pPr>
            <a:r>
              <a:rPr lang="en-US" sz="1125" b="1" dirty="0">
                <a:solidFill>
                  <a:srgbClr val="37415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전망 </a:t>
            </a:r>
            <a:pPr algn="l" indent="0" marL="0">
              <a:lnSpc>
                <a:spcPct val="170000"/>
              </a:lnSpc>
              <a:buNone/>
            </a:pPr>
            <a:r>
              <a:rPr lang="en-US" sz="1125" dirty="0">
                <a:solidFill>
                  <a:srgbClr val="37415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 ROI 실망 + CapEx </a:t>
            </a:r>
            <a:pPr algn="l" indent="0" marL="0">
              <a:lnSpc>
                <a:spcPct val="170000"/>
              </a:lnSpc>
              <a:buNone/>
            </a:pPr>
            <a:r>
              <a:rPr lang="en-US" sz="1125" b="1" dirty="0">
                <a:solidFill>
                  <a:srgbClr val="DC26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−25 ~ −30% </a:t>
            </a:r>
            <a:pPr algn="l" indent="0" marL="0">
              <a:lnSpc>
                <a:spcPct val="170000"/>
              </a:lnSpc>
              <a:buNone/>
            </a:pPr>
            <a:r>
              <a:rPr lang="en-US" sz="1125" dirty="0">
                <a:solidFill>
                  <a:srgbClr val="37415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· 가격 </a:t>
            </a:r>
            <a:pPr algn="l" indent="0" marL="0">
              <a:lnSpc>
                <a:spcPct val="170000"/>
              </a:lnSpc>
              <a:buNone/>
            </a:pPr>
            <a:r>
              <a:rPr lang="en-US" sz="1125" b="1" dirty="0">
                <a:solidFill>
                  <a:srgbClr val="DC26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−45% </a:t>
            </a:r>
            <a:pPr algn="l" indent="0" marL="0">
              <a:lnSpc>
                <a:spcPct val="170000"/>
              </a:lnSpc>
              <a:buNone/>
            </a:pPr>
            <a:r>
              <a:rPr lang="en-US" sz="1125" dirty="0">
                <a:solidFill>
                  <a:srgbClr val="37415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· 삼성 영업이익 </a:t>
            </a:r>
            <a:pPr algn="l" indent="0" marL="0">
              <a:lnSpc>
                <a:spcPct val="170000"/>
              </a:lnSpc>
              <a:buNone/>
            </a:pPr>
            <a:r>
              <a:rPr lang="en-US" sz="1125" b="1" dirty="0">
                <a:solidFill>
                  <a:srgbClr val="DC26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−85%</a:t>
            </a:r>
            <a:endParaRPr lang="en-US" sz="1125" dirty="0"/>
          </a:p>
        </p:txBody>
      </p:sp>
      <p:sp>
        <p:nvSpPr>
          <p:cNvPr id="35" name="Text 33"/>
          <p:cNvSpPr/>
          <p:nvPr/>
        </p:nvSpPr>
        <p:spPr>
          <a:xfrm>
            <a:off x="12357199" y="4352925"/>
            <a:ext cx="5049317" cy="5143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70000"/>
              </a:lnSpc>
              <a:buNone/>
            </a:pPr>
            <a:r>
              <a:rPr lang="en-US" sz="1125" b="1" dirty="0">
                <a:solidFill>
                  <a:srgbClr val="37415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참조 사이클 </a:t>
            </a:r>
            <a:pPr algn="l" indent="0" marL="0">
              <a:lnSpc>
                <a:spcPct val="170000"/>
              </a:lnSpc>
              <a:buNone/>
            </a:pPr>
            <a:r>
              <a:rPr lang="en-US" sz="1125" dirty="0">
                <a:solidFill>
                  <a:srgbClr val="37415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2008–09 글로벌 금융위기 형태</a:t>
            </a:r>
            <a:endParaRPr lang="en-US" sz="1125" dirty="0"/>
          </a:p>
        </p:txBody>
      </p:sp>
      <p:sp>
        <p:nvSpPr>
          <p:cNvPr id="36" name="Shape 34"/>
          <p:cNvSpPr/>
          <p:nvPr/>
        </p:nvSpPr>
        <p:spPr>
          <a:xfrm>
            <a:off x="12357199" y="6562725"/>
            <a:ext cx="4902250" cy="981075"/>
          </a:xfrm>
          <a:prstGeom prst="rect">
            <a:avLst/>
          </a:prstGeom>
          <a:solidFill>
            <a:srgbClr val="FEF2F2"/>
          </a:solidFill>
          <a:ln/>
        </p:spPr>
      </p:sp>
      <p:sp>
        <p:nvSpPr>
          <p:cNvPr id="37" name="Shape 35"/>
          <p:cNvSpPr/>
          <p:nvPr/>
        </p:nvSpPr>
        <p:spPr>
          <a:xfrm>
            <a:off x="12357199" y="7534275"/>
            <a:ext cx="4902250" cy="9525"/>
          </a:xfrm>
          <a:prstGeom prst="rect">
            <a:avLst/>
          </a:prstGeom>
          <a:solidFill>
            <a:srgbClr val="D1D5DB"/>
          </a:solidFill>
          <a:ln/>
        </p:spPr>
      </p:sp>
      <p:sp>
        <p:nvSpPr>
          <p:cNvPr id="38" name="Shape 36"/>
          <p:cNvSpPr/>
          <p:nvPr/>
        </p:nvSpPr>
        <p:spPr>
          <a:xfrm>
            <a:off x="12357199" y="6562725"/>
            <a:ext cx="4902250" cy="9525"/>
          </a:xfrm>
          <a:prstGeom prst="rect">
            <a:avLst/>
          </a:prstGeom>
          <a:solidFill>
            <a:srgbClr val="D1D5DB"/>
          </a:solidFill>
          <a:ln/>
        </p:spPr>
      </p:sp>
      <p:sp>
        <p:nvSpPr>
          <p:cNvPr id="39" name="Shape 37"/>
          <p:cNvSpPr/>
          <p:nvPr/>
        </p:nvSpPr>
        <p:spPr>
          <a:xfrm>
            <a:off x="12357199" y="6562725"/>
            <a:ext cx="38100" cy="981075"/>
          </a:xfrm>
          <a:prstGeom prst="rect">
            <a:avLst/>
          </a:prstGeom>
          <a:solidFill>
            <a:srgbClr val="DC2626"/>
          </a:solidFill>
          <a:ln/>
        </p:spPr>
      </p:sp>
      <p:sp>
        <p:nvSpPr>
          <p:cNvPr id="40" name="Shape 38"/>
          <p:cNvSpPr/>
          <p:nvPr/>
        </p:nvSpPr>
        <p:spPr>
          <a:xfrm>
            <a:off x="17249924" y="6562725"/>
            <a:ext cx="9525" cy="981075"/>
          </a:xfrm>
          <a:prstGeom prst="rect">
            <a:avLst/>
          </a:prstGeom>
          <a:solidFill>
            <a:srgbClr val="D1D5DB"/>
          </a:solidFill>
          <a:ln/>
        </p:spPr>
      </p:sp>
      <p:sp>
        <p:nvSpPr>
          <p:cNvPr id="41" name="Text 39"/>
          <p:cNvSpPr/>
          <p:nvPr/>
        </p:nvSpPr>
        <p:spPr>
          <a:xfrm>
            <a:off x="12547699" y="6724650"/>
            <a:ext cx="4686319" cy="2381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0000"/>
              </a:lnSpc>
              <a:buNone/>
            </a:pPr>
            <a:r>
              <a:rPr lang="en-US" sz="1125" b="1" dirty="0">
                <a:solidFill>
                  <a:srgbClr val="DC26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필요 전략</a:t>
            </a:r>
            <a:endParaRPr lang="en-US" sz="1125" dirty="0"/>
          </a:p>
        </p:txBody>
      </p:sp>
      <p:sp>
        <p:nvSpPr>
          <p:cNvPr id="42" name="Text 40"/>
          <p:cNvSpPr/>
          <p:nvPr/>
        </p:nvSpPr>
        <p:spPr>
          <a:xfrm>
            <a:off x="12547699" y="6962775"/>
            <a:ext cx="4686319" cy="4572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50000"/>
              </a:lnSpc>
              <a:buNone/>
            </a:pPr>
            <a:r>
              <a:rPr lang="en-US" sz="1125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순현금 30조 버퍼 + 다운사이클 capex 4조원 사수 + Disney-Marvel 모델 M&amp;A</a:t>
            </a:r>
            <a:endParaRPr lang="en-US" sz="1125" dirty="0"/>
          </a:p>
        </p:txBody>
      </p:sp>
      <p:sp>
        <p:nvSpPr>
          <p:cNvPr id="43" name="Shape 41"/>
          <p:cNvSpPr/>
          <p:nvPr/>
        </p:nvSpPr>
        <p:spPr>
          <a:xfrm>
            <a:off x="762000" y="8077200"/>
            <a:ext cx="16764000" cy="685800"/>
          </a:xfrm>
          <a:prstGeom prst="rect">
            <a:avLst/>
          </a:prstGeom>
          <a:solidFill>
            <a:srgbClr val="FEF3C7"/>
          </a:solidFill>
          <a:ln/>
        </p:spPr>
      </p:sp>
      <p:sp>
        <p:nvSpPr>
          <p:cNvPr id="44" name="Shape 42"/>
          <p:cNvSpPr/>
          <p:nvPr/>
        </p:nvSpPr>
        <p:spPr>
          <a:xfrm>
            <a:off x="762000" y="8077200"/>
            <a:ext cx="57150" cy="685800"/>
          </a:xfrm>
          <a:prstGeom prst="rect">
            <a:avLst/>
          </a:prstGeom>
          <a:solidFill>
            <a:srgbClr val="D97706"/>
          </a:solidFill>
          <a:ln/>
        </p:spPr>
      </p:sp>
      <p:sp>
        <p:nvSpPr>
          <p:cNvPr id="45" name="Shape 43"/>
          <p:cNvSpPr/>
          <p:nvPr/>
        </p:nvSpPr>
        <p:spPr>
          <a:xfrm>
            <a:off x="1085850" y="8267700"/>
            <a:ext cx="700236" cy="304800"/>
          </a:xfrm>
          <a:prstGeom prst="rect">
            <a:avLst/>
          </a:prstGeom>
          <a:solidFill>
            <a:srgbClr val="D97706"/>
          </a:solidFill>
          <a:ln/>
        </p:spPr>
      </p:sp>
      <p:sp>
        <p:nvSpPr>
          <p:cNvPr id="46" name="Text 44"/>
          <p:cNvSpPr/>
          <p:nvPr/>
        </p:nvSpPr>
        <p:spPr>
          <a:xfrm>
            <a:off x="1219200" y="8324850"/>
            <a:ext cx="509736" cy="2286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5000"/>
              </a:lnSpc>
              <a:buNone/>
            </a:pPr>
            <a:r>
              <a:rPr lang="en-US" sz="1050" b="1" spc="150" kern="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CORE</a:t>
            </a:r>
            <a:endParaRPr lang="en-US" sz="1050" dirty="0"/>
          </a:p>
        </p:txBody>
      </p:sp>
      <p:sp>
        <p:nvSpPr>
          <p:cNvPr id="47" name="Text 45"/>
          <p:cNvSpPr/>
          <p:nvPr/>
        </p:nvSpPr>
        <p:spPr>
          <a:xfrm>
            <a:off x="1976586" y="8281987"/>
            <a:ext cx="9131815" cy="3143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5000"/>
              </a:lnSpc>
              <a:buNone/>
            </a:pPr>
            <a:r>
              <a:rPr lang="en-US" sz="15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다운턴 대비만이 답 아님 — 호황 지속 가능성도 동등하게 큼. </a:t>
            </a:r>
            <a:pPr algn="l" indent="0" marL="0">
              <a:lnSpc>
                <a:spcPct val="145000"/>
              </a:lnSpc>
              <a:buNone/>
            </a:pPr>
            <a:r>
              <a:rPr lang="en-US" sz="150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두 방향 모두에서 가치 창출하는 전략이 진짜 Robust.</a:t>
            </a:r>
            <a:endParaRPr lang="en-US" sz="1500" dirty="0"/>
          </a:p>
        </p:txBody>
      </p:sp>
      <p:sp>
        <p:nvSpPr>
          <p:cNvPr id="48" name="Shape 46"/>
          <p:cNvSpPr/>
          <p:nvPr/>
        </p:nvSpPr>
        <p:spPr>
          <a:xfrm>
            <a:off x="762000" y="9667875"/>
            <a:ext cx="16764000" cy="9525"/>
          </a:xfrm>
          <a:prstGeom prst="rect">
            <a:avLst/>
          </a:prstGeom>
          <a:solidFill>
            <a:srgbClr val="D1D5DB"/>
          </a:solidFill>
          <a:ln/>
        </p:spPr>
      </p:sp>
      <p:sp>
        <p:nvSpPr>
          <p:cNvPr id="49" name="Text 47"/>
          <p:cNvSpPr/>
          <p:nvPr/>
        </p:nvSpPr>
        <p:spPr>
          <a:xfrm>
            <a:off x="762000" y="9891713"/>
            <a:ext cx="1770608" cy="2190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0000"/>
              </a:lnSpc>
              <a:buNone/>
            </a:pPr>
            <a:r>
              <a:rPr lang="en-US" sz="1050" spc="38" kern="0" dirty="0">
                <a:solidFill>
                  <a:srgbClr val="6B72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삼성전자 </a:t>
            </a:r>
            <a:pPr algn="l" indent="0" marL="0">
              <a:lnSpc>
                <a:spcPct val="140000"/>
              </a:lnSpc>
              <a:buNone/>
            </a:pPr>
            <a:r>
              <a:rPr lang="en-US" sz="1050" b="1" spc="38" kern="0" dirty="0">
                <a:solidFill>
                  <a:srgbClr val="1428A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| </a:t>
            </a:r>
            <a:pPr algn="l" indent="0" marL="0">
              <a:lnSpc>
                <a:spcPct val="140000"/>
              </a:lnSpc>
              <a:buNone/>
            </a:pPr>
            <a:r>
              <a:rPr lang="en-US" sz="1050" spc="38" kern="0" dirty="0">
                <a:solidFill>
                  <a:srgbClr val="6B72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STEP 2 · 불확실성</a:t>
            </a:r>
            <a:endParaRPr lang="en-US" sz="1050" dirty="0"/>
          </a:p>
        </p:txBody>
      </p:sp>
      <p:sp>
        <p:nvSpPr>
          <p:cNvPr id="50" name="Text 48"/>
          <p:cNvSpPr/>
          <p:nvPr/>
        </p:nvSpPr>
        <p:spPr>
          <a:xfrm>
            <a:off x="17023705" y="9891713"/>
            <a:ext cx="578495" cy="2190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0000"/>
              </a:lnSpc>
              <a:buNone/>
            </a:pPr>
            <a:r>
              <a:rPr lang="en-US" sz="1050" spc="38" kern="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07 / 26</a:t>
            </a:r>
            <a:endParaRPr lang="en-US" sz="10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62000" y="533400"/>
            <a:ext cx="17266920" cy="2762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algn="l" indent="0" marL="0">
              <a:lnSpc>
                <a:spcPct val="140000"/>
              </a:lnSpc>
              <a:buNone/>
            </a:pPr>
            <a:r>
              <a:rPr lang="en-US" sz="1350" spc="150" kern="0" dirty="0">
                <a:solidFill>
                  <a:srgbClr val="1428A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STEP 2 · 불확실성 (2 / 2)</a:t>
            </a:r>
            <a:endParaRPr lang="en-US" sz="1350" dirty="0"/>
          </a:p>
        </p:txBody>
      </p:sp>
      <p:sp>
        <p:nvSpPr>
          <p:cNvPr id="3" name="Text 1"/>
          <p:cNvSpPr/>
          <p:nvPr/>
        </p:nvSpPr>
        <p:spPr>
          <a:xfrm>
            <a:off x="762000" y="885825"/>
            <a:ext cx="17266920" cy="5619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3300" b="1" spc="-37" kern="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단선 예측은 위험하다 — 독립 변수 2개면 시나리오는 4개+이다</a:t>
            </a:r>
            <a:endParaRPr lang="en-US" sz="3300" dirty="0"/>
          </a:p>
        </p:txBody>
      </p:sp>
      <p:sp>
        <p:nvSpPr>
          <p:cNvPr id="4" name="Text 2"/>
          <p:cNvSpPr/>
          <p:nvPr/>
        </p:nvSpPr>
        <p:spPr>
          <a:xfrm>
            <a:off x="762000" y="1524000"/>
            <a:ext cx="14716125" cy="3524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50000"/>
              </a:lnSpc>
              <a:buNone/>
            </a:pPr>
            <a:r>
              <a:rPr lang="en-US" sz="1650" dirty="0">
                <a:solidFill>
                  <a:srgbClr val="6B72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"가장 가능성 높은 미래" 하나만 가정한 계획은 실패한다. 변수 자체를 포함해 계획해야 한다.</a:t>
            </a:r>
            <a:endParaRPr lang="en-US" sz="1650" dirty="0"/>
          </a:p>
        </p:txBody>
      </p:sp>
      <p:sp>
        <p:nvSpPr>
          <p:cNvPr id="5" name="Shape 3"/>
          <p:cNvSpPr/>
          <p:nvPr/>
        </p:nvSpPr>
        <p:spPr>
          <a:xfrm>
            <a:off x="762000" y="2286000"/>
            <a:ext cx="8267700" cy="53340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Shape 4"/>
          <p:cNvSpPr/>
          <p:nvPr/>
        </p:nvSpPr>
        <p:spPr>
          <a:xfrm>
            <a:off x="762000" y="7610475"/>
            <a:ext cx="8267700" cy="9525"/>
          </a:xfrm>
          <a:prstGeom prst="rect">
            <a:avLst/>
          </a:prstGeom>
          <a:solidFill>
            <a:srgbClr val="D1D5DB"/>
          </a:solidFill>
          <a:ln/>
        </p:spPr>
      </p:sp>
      <p:sp>
        <p:nvSpPr>
          <p:cNvPr id="7" name="Shape 5"/>
          <p:cNvSpPr/>
          <p:nvPr/>
        </p:nvSpPr>
        <p:spPr>
          <a:xfrm>
            <a:off x="762000" y="2286000"/>
            <a:ext cx="8267700" cy="57150"/>
          </a:xfrm>
          <a:prstGeom prst="rect">
            <a:avLst/>
          </a:prstGeom>
          <a:solidFill>
            <a:srgbClr val="DC2626"/>
          </a:solidFill>
          <a:ln/>
        </p:spPr>
      </p:sp>
      <p:sp>
        <p:nvSpPr>
          <p:cNvPr id="8" name="Shape 6"/>
          <p:cNvSpPr/>
          <p:nvPr/>
        </p:nvSpPr>
        <p:spPr>
          <a:xfrm>
            <a:off x="762000" y="2286000"/>
            <a:ext cx="9525" cy="5334000"/>
          </a:xfrm>
          <a:prstGeom prst="rect">
            <a:avLst/>
          </a:prstGeom>
          <a:solidFill>
            <a:srgbClr val="D1D5DB"/>
          </a:solidFill>
          <a:ln/>
        </p:spPr>
      </p:sp>
      <p:sp>
        <p:nvSpPr>
          <p:cNvPr id="9" name="Shape 7"/>
          <p:cNvSpPr/>
          <p:nvPr/>
        </p:nvSpPr>
        <p:spPr>
          <a:xfrm>
            <a:off x="9020175" y="2286000"/>
            <a:ext cx="9525" cy="5334000"/>
          </a:xfrm>
          <a:prstGeom prst="rect">
            <a:avLst/>
          </a:prstGeom>
          <a:solidFill>
            <a:srgbClr val="D1D5DB"/>
          </a:solidFill>
          <a:ln/>
        </p:spPr>
      </p:sp>
      <p:sp>
        <p:nvSpPr>
          <p:cNvPr id="10" name="Text 8"/>
          <p:cNvSpPr/>
          <p:nvPr/>
        </p:nvSpPr>
        <p:spPr>
          <a:xfrm>
            <a:off x="1114425" y="2724150"/>
            <a:ext cx="381000" cy="4572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0000"/>
              </a:lnSpc>
              <a:buNone/>
            </a:pPr>
            <a:r>
              <a:rPr lang="en-US" sz="2400" b="1" dirty="0">
                <a:solidFill>
                  <a:srgbClr val="DC26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×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1533525" y="2752725"/>
            <a:ext cx="1783509" cy="39052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40000"/>
              </a:lnSpc>
              <a:buNone/>
            </a:pPr>
            <a:r>
              <a:rPr lang="en-US" sz="1950" b="1" dirty="0">
                <a:solidFill>
                  <a:srgbClr val="DC26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단선 예측의 함정</a:t>
            </a:r>
            <a:endParaRPr lang="en-US" sz="1950" dirty="0"/>
          </a:p>
        </p:txBody>
      </p:sp>
      <p:sp>
        <p:nvSpPr>
          <p:cNvPr id="12" name="Text 10"/>
          <p:cNvSpPr/>
          <p:nvPr/>
        </p:nvSpPr>
        <p:spPr>
          <a:xfrm>
            <a:off x="1114425" y="3409950"/>
            <a:ext cx="7789736" cy="3238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0000"/>
              </a:lnSpc>
              <a:buNone/>
            </a:pPr>
            <a:r>
              <a:rPr lang="en-US" sz="1650" b="1" spc="22" kern="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단일 미래 가정</a:t>
            </a:r>
            <a:endParaRPr lang="en-US" sz="1650" dirty="0"/>
          </a:p>
        </p:txBody>
      </p:sp>
      <p:sp>
        <p:nvSpPr>
          <p:cNvPr id="13" name="Text 11"/>
          <p:cNvSpPr/>
          <p:nvPr/>
        </p:nvSpPr>
        <p:spPr>
          <a:xfrm>
            <a:off x="1114425" y="3810000"/>
            <a:ext cx="7789736" cy="2952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55000"/>
              </a:lnSpc>
              <a:buNone/>
            </a:pPr>
            <a:r>
              <a:rPr lang="en-US" sz="1350" dirty="0">
                <a:solidFill>
                  <a:srgbClr val="37415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"AI 호황은 5년 더 갈 것" — 한 시나리오 실패 시 회사가 휘청거림</a:t>
            </a:r>
            <a:endParaRPr lang="en-US" sz="1350" dirty="0"/>
          </a:p>
        </p:txBody>
      </p:sp>
      <p:sp>
        <p:nvSpPr>
          <p:cNvPr id="14" name="Text 12"/>
          <p:cNvSpPr/>
          <p:nvPr/>
        </p:nvSpPr>
        <p:spPr>
          <a:xfrm>
            <a:off x="1114425" y="4295775"/>
            <a:ext cx="7789736" cy="3238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0000"/>
              </a:lnSpc>
              <a:buNone/>
            </a:pPr>
            <a:r>
              <a:rPr lang="en-US" sz="1650" b="1" spc="22" kern="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의사결정 마비</a:t>
            </a:r>
            <a:endParaRPr lang="en-US" sz="1650" dirty="0"/>
          </a:p>
        </p:txBody>
      </p:sp>
      <p:sp>
        <p:nvSpPr>
          <p:cNvPr id="15" name="Text 13"/>
          <p:cNvSpPr/>
          <p:nvPr/>
        </p:nvSpPr>
        <p:spPr>
          <a:xfrm>
            <a:off x="1114425" y="4695825"/>
            <a:ext cx="7789736" cy="2952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55000"/>
              </a:lnSpc>
              <a:buNone/>
            </a:pPr>
            <a:r>
              <a:rPr lang="en-US" sz="1350" dirty="0">
                <a:solidFill>
                  <a:srgbClr val="37415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"확실하지 않으니 결정 미룸" — 사이클이 끝나도 준비가 안 됨</a:t>
            </a:r>
            <a:endParaRPr lang="en-US" sz="1350" dirty="0"/>
          </a:p>
        </p:txBody>
      </p:sp>
      <p:sp>
        <p:nvSpPr>
          <p:cNvPr id="16" name="Text 14"/>
          <p:cNvSpPr/>
          <p:nvPr/>
        </p:nvSpPr>
        <p:spPr>
          <a:xfrm>
            <a:off x="1114425" y="5181600"/>
            <a:ext cx="7789736" cy="3238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0000"/>
              </a:lnSpc>
              <a:buNone/>
            </a:pPr>
            <a:r>
              <a:rPr lang="en-US" sz="1650" b="1" spc="22" kern="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사후 정당화</a:t>
            </a:r>
            <a:endParaRPr lang="en-US" sz="1650" dirty="0"/>
          </a:p>
        </p:txBody>
      </p:sp>
      <p:sp>
        <p:nvSpPr>
          <p:cNvPr id="17" name="Text 15"/>
          <p:cNvSpPr/>
          <p:nvPr/>
        </p:nvSpPr>
        <p:spPr>
          <a:xfrm>
            <a:off x="1114425" y="5581650"/>
            <a:ext cx="7789736" cy="2952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55000"/>
              </a:lnSpc>
              <a:buNone/>
            </a:pPr>
            <a:r>
              <a:rPr lang="en-US" sz="1350" dirty="0">
                <a:solidFill>
                  <a:srgbClr val="37415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"그때는 그게 정답이었다" — 학습이 없고, 다음 사이클에 같은 실수</a:t>
            </a:r>
            <a:endParaRPr lang="en-US" sz="1350" dirty="0"/>
          </a:p>
        </p:txBody>
      </p:sp>
      <p:sp>
        <p:nvSpPr>
          <p:cNvPr id="18" name="Shape 16"/>
          <p:cNvSpPr/>
          <p:nvPr/>
        </p:nvSpPr>
        <p:spPr>
          <a:xfrm>
            <a:off x="9258300" y="2286000"/>
            <a:ext cx="8267700" cy="5334000"/>
          </a:xfrm>
          <a:prstGeom prst="rect">
            <a:avLst/>
          </a:prstGeom>
          <a:solidFill>
            <a:srgbClr val="F0FDF4"/>
          </a:solidFill>
          <a:ln/>
        </p:spPr>
      </p:sp>
      <p:sp>
        <p:nvSpPr>
          <p:cNvPr id="19" name="Shape 17"/>
          <p:cNvSpPr/>
          <p:nvPr/>
        </p:nvSpPr>
        <p:spPr>
          <a:xfrm>
            <a:off x="9258300" y="7610475"/>
            <a:ext cx="8267700" cy="9525"/>
          </a:xfrm>
          <a:prstGeom prst="rect">
            <a:avLst/>
          </a:prstGeom>
          <a:solidFill>
            <a:srgbClr val="D1D5DB"/>
          </a:solidFill>
          <a:ln/>
        </p:spPr>
      </p:sp>
      <p:sp>
        <p:nvSpPr>
          <p:cNvPr id="20" name="Shape 18"/>
          <p:cNvSpPr/>
          <p:nvPr/>
        </p:nvSpPr>
        <p:spPr>
          <a:xfrm>
            <a:off x="9258300" y="2286000"/>
            <a:ext cx="8267700" cy="57150"/>
          </a:xfrm>
          <a:prstGeom prst="rect">
            <a:avLst/>
          </a:prstGeom>
          <a:solidFill>
            <a:srgbClr val="059669"/>
          </a:solidFill>
          <a:ln/>
        </p:spPr>
      </p:sp>
      <p:sp>
        <p:nvSpPr>
          <p:cNvPr id="21" name="Shape 19"/>
          <p:cNvSpPr/>
          <p:nvPr/>
        </p:nvSpPr>
        <p:spPr>
          <a:xfrm>
            <a:off x="9258300" y="2286000"/>
            <a:ext cx="9525" cy="5334000"/>
          </a:xfrm>
          <a:prstGeom prst="rect">
            <a:avLst/>
          </a:prstGeom>
          <a:solidFill>
            <a:srgbClr val="D1D5DB"/>
          </a:solidFill>
          <a:ln/>
        </p:spPr>
      </p:sp>
      <p:sp>
        <p:nvSpPr>
          <p:cNvPr id="22" name="Shape 20"/>
          <p:cNvSpPr/>
          <p:nvPr/>
        </p:nvSpPr>
        <p:spPr>
          <a:xfrm>
            <a:off x="17516475" y="2286000"/>
            <a:ext cx="9525" cy="5334000"/>
          </a:xfrm>
          <a:prstGeom prst="rect">
            <a:avLst/>
          </a:prstGeom>
          <a:solidFill>
            <a:srgbClr val="D1D5DB"/>
          </a:solidFill>
          <a:ln/>
        </p:spPr>
      </p:sp>
      <p:sp>
        <p:nvSpPr>
          <p:cNvPr id="23" name="Text 21"/>
          <p:cNvSpPr/>
          <p:nvPr/>
        </p:nvSpPr>
        <p:spPr>
          <a:xfrm>
            <a:off x="9610725" y="2724150"/>
            <a:ext cx="381000" cy="4572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0000"/>
              </a:lnSpc>
              <a:buNone/>
            </a:pPr>
            <a:r>
              <a:rPr lang="en-US" sz="2400" b="1" dirty="0">
                <a:solidFill>
                  <a:srgbClr val="0596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○</a:t>
            </a:r>
            <a:endParaRPr lang="en-US" sz="2400" dirty="0"/>
          </a:p>
        </p:txBody>
      </p:sp>
      <p:sp>
        <p:nvSpPr>
          <p:cNvPr id="24" name="Text 22"/>
          <p:cNvSpPr/>
          <p:nvPr/>
        </p:nvSpPr>
        <p:spPr>
          <a:xfrm>
            <a:off x="10029825" y="2752725"/>
            <a:ext cx="2467024" cy="39052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40000"/>
              </a:lnSpc>
              <a:buNone/>
            </a:pPr>
            <a:r>
              <a:rPr lang="en-US" sz="1950" b="1" dirty="0">
                <a:solidFill>
                  <a:srgbClr val="0596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시나리오 플래닝의 강점</a:t>
            </a:r>
            <a:endParaRPr lang="en-US" sz="1950" dirty="0"/>
          </a:p>
        </p:txBody>
      </p:sp>
      <p:sp>
        <p:nvSpPr>
          <p:cNvPr id="25" name="Text 23"/>
          <p:cNvSpPr/>
          <p:nvPr/>
        </p:nvSpPr>
        <p:spPr>
          <a:xfrm>
            <a:off x="9610725" y="3409950"/>
            <a:ext cx="7789736" cy="3238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0000"/>
              </a:lnSpc>
              <a:buNone/>
            </a:pPr>
            <a:r>
              <a:rPr lang="en-US" sz="1650" b="1" spc="22" kern="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복수 미래 동시 준비</a:t>
            </a:r>
            <a:endParaRPr lang="en-US" sz="1650" dirty="0"/>
          </a:p>
        </p:txBody>
      </p:sp>
      <p:sp>
        <p:nvSpPr>
          <p:cNvPr id="26" name="Text 24"/>
          <p:cNvSpPr/>
          <p:nvPr/>
        </p:nvSpPr>
        <p:spPr>
          <a:xfrm>
            <a:off x="9610725" y="3810000"/>
            <a:ext cx="7789736" cy="2952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55000"/>
              </a:lnSpc>
              <a:buNone/>
            </a:pPr>
            <a:r>
              <a:rPr lang="en-US" sz="1350" dirty="0">
                <a:solidFill>
                  <a:srgbClr val="37415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각 미래에 강건한 전략을 미리 구축</a:t>
            </a:r>
            <a:endParaRPr lang="en-US" sz="1350" dirty="0"/>
          </a:p>
        </p:txBody>
      </p:sp>
      <p:sp>
        <p:nvSpPr>
          <p:cNvPr id="27" name="Text 25"/>
          <p:cNvSpPr/>
          <p:nvPr/>
        </p:nvSpPr>
        <p:spPr>
          <a:xfrm>
            <a:off x="9610725" y="4295775"/>
            <a:ext cx="7789736" cy="3238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0000"/>
              </a:lnSpc>
              <a:buNone/>
            </a:pPr>
            <a:r>
              <a:rPr lang="en-US" sz="1650" b="1" spc="22" kern="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Robust (불변) 전략 식별</a:t>
            </a:r>
            <a:endParaRPr lang="en-US" sz="1650" dirty="0"/>
          </a:p>
        </p:txBody>
      </p:sp>
      <p:sp>
        <p:nvSpPr>
          <p:cNvPr id="28" name="Text 26"/>
          <p:cNvSpPr/>
          <p:nvPr/>
        </p:nvSpPr>
        <p:spPr>
          <a:xfrm>
            <a:off x="9610725" y="4695825"/>
            <a:ext cx="7789736" cy="2952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55000"/>
              </a:lnSpc>
              <a:buNone/>
            </a:pPr>
            <a:r>
              <a:rPr lang="en-US" sz="1350" dirty="0">
                <a:solidFill>
                  <a:srgbClr val="37415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어떤 미래가 와도 가치를 만드는 전략 도출</a:t>
            </a:r>
            <a:endParaRPr lang="en-US" sz="1350" dirty="0"/>
          </a:p>
        </p:txBody>
      </p:sp>
      <p:sp>
        <p:nvSpPr>
          <p:cNvPr id="29" name="Text 27"/>
          <p:cNvSpPr/>
          <p:nvPr/>
        </p:nvSpPr>
        <p:spPr>
          <a:xfrm>
            <a:off x="9610725" y="5181600"/>
            <a:ext cx="7789736" cy="3238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0000"/>
              </a:lnSpc>
              <a:buNone/>
            </a:pPr>
            <a:r>
              <a:rPr lang="en-US" sz="1650" b="1" spc="22" kern="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트리거 기반 자동 전환</a:t>
            </a:r>
            <a:endParaRPr lang="en-US" sz="1650" dirty="0"/>
          </a:p>
        </p:txBody>
      </p:sp>
      <p:sp>
        <p:nvSpPr>
          <p:cNvPr id="30" name="Text 28"/>
          <p:cNvSpPr/>
          <p:nvPr/>
        </p:nvSpPr>
        <p:spPr>
          <a:xfrm>
            <a:off x="9610725" y="5581650"/>
            <a:ext cx="7789736" cy="2952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55000"/>
              </a:lnSpc>
              <a:buNone/>
            </a:pPr>
            <a:r>
              <a:rPr lang="en-US" sz="1350" dirty="0">
                <a:solidFill>
                  <a:srgbClr val="37415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특정 신호 도래 시 사전 정의된 전략 자동 발동</a:t>
            </a:r>
            <a:endParaRPr lang="en-US" sz="1350" dirty="0"/>
          </a:p>
        </p:txBody>
      </p:sp>
      <p:sp>
        <p:nvSpPr>
          <p:cNvPr id="31" name="Text 29"/>
          <p:cNvSpPr/>
          <p:nvPr/>
        </p:nvSpPr>
        <p:spPr>
          <a:xfrm>
            <a:off x="9610725" y="6067425"/>
            <a:ext cx="7789736" cy="3238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0000"/>
              </a:lnSpc>
              <a:buNone/>
            </a:pPr>
            <a:r>
              <a:rPr lang="en-US" sz="1650" b="1" spc="22" kern="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의사결정 속도 향상</a:t>
            </a:r>
            <a:endParaRPr lang="en-US" sz="1650" dirty="0"/>
          </a:p>
        </p:txBody>
      </p:sp>
      <p:sp>
        <p:nvSpPr>
          <p:cNvPr id="32" name="Text 30"/>
          <p:cNvSpPr/>
          <p:nvPr/>
        </p:nvSpPr>
        <p:spPr>
          <a:xfrm>
            <a:off x="9610725" y="6467475"/>
            <a:ext cx="7789736" cy="2952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55000"/>
              </a:lnSpc>
              <a:buNone/>
            </a:pPr>
            <a:r>
              <a:rPr lang="en-US" sz="1350" dirty="0">
                <a:solidFill>
                  <a:srgbClr val="37415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다운턴 시점에 30일 내 실행 전환</a:t>
            </a:r>
            <a:endParaRPr lang="en-US" sz="1350" dirty="0"/>
          </a:p>
        </p:txBody>
      </p:sp>
      <p:sp>
        <p:nvSpPr>
          <p:cNvPr id="33" name="Shape 31"/>
          <p:cNvSpPr/>
          <p:nvPr/>
        </p:nvSpPr>
        <p:spPr>
          <a:xfrm>
            <a:off x="762000" y="9667875"/>
            <a:ext cx="16764000" cy="9525"/>
          </a:xfrm>
          <a:prstGeom prst="rect">
            <a:avLst/>
          </a:prstGeom>
          <a:solidFill>
            <a:srgbClr val="D1D5DB"/>
          </a:solidFill>
          <a:ln/>
        </p:spPr>
      </p:sp>
      <p:sp>
        <p:nvSpPr>
          <p:cNvPr id="34" name="Text 32"/>
          <p:cNvSpPr/>
          <p:nvPr/>
        </p:nvSpPr>
        <p:spPr>
          <a:xfrm>
            <a:off x="762000" y="9891713"/>
            <a:ext cx="1770608" cy="2190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0000"/>
              </a:lnSpc>
              <a:buNone/>
            </a:pPr>
            <a:r>
              <a:rPr lang="en-US" sz="1050" spc="38" kern="0" dirty="0">
                <a:solidFill>
                  <a:srgbClr val="6B72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삼성전자 </a:t>
            </a:r>
            <a:pPr algn="l" indent="0" marL="0">
              <a:lnSpc>
                <a:spcPct val="140000"/>
              </a:lnSpc>
              <a:buNone/>
            </a:pPr>
            <a:r>
              <a:rPr lang="en-US" sz="1050" b="1" spc="38" kern="0" dirty="0">
                <a:solidFill>
                  <a:srgbClr val="1428A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| </a:t>
            </a:r>
            <a:pPr algn="l" indent="0" marL="0">
              <a:lnSpc>
                <a:spcPct val="140000"/>
              </a:lnSpc>
              <a:buNone/>
            </a:pPr>
            <a:r>
              <a:rPr lang="en-US" sz="1050" spc="38" kern="0" dirty="0">
                <a:solidFill>
                  <a:srgbClr val="6B72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STEP 2 · 불확실성</a:t>
            </a:r>
            <a:endParaRPr lang="en-US" sz="1050" dirty="0"/>
          </a:p>
        </p:txBody>
      </p:sp>
      <p:sp>
        <p:nvSpPr>
          <p:cNvPr id="35" name="Text 33"/>
          <p:cNvSpPr/>
          <p:nvPr/>
        </p:nvSpPr>
        <p:spPr>
          <a:xfrm>
            <a:off x="17023705" y="9891713"/>
            <a:ext cx="578495" cy="2190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0000"/>
              </a:lnSpc>
              <a:buNone/>
            </a:pPr>
            <a:r>
              <a:rPr lang="en-US" sz="1050" spc="38" kern="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08 / 26</a:t>
            </a:r>
            <a:endParaRPr lang="en-US" sz="10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62000" y="533400"/>
            <a:ext cx="17266920" cy="2762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algn="l" indent="0" marL="0">
              <a:lnSpc>
                <a:spcPct val="140000"/>
              </a:lnSpc>
              <a:buNone/>
            </a:pPr>
            <a:r>
              <a:rPr lang="en-US" sz="1350" spc="150" kern="0" dirty="0">
                <a:solidFill>
                  <a:srgbClr val="1428A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STEP 3 · 시나리오 플래닝의 정당화</a:t>
            </a:r>
            <a:endParaRPr lang="en-US" sz="1350" dirty="0"/>
          </a:p>
        </p:txBody>
      </p:sp>
      <p:sp>
        <p:nvSpPr>
          <p:cNvPr id="3" name="Text 1"/>
          <p:cNvSpPr/>
          <p:nvPr/>
        </p:nvSpPr>
        <p:spPr>
          <a:xfrm>
            <a:off x="762000" y="885825"/>
            <a:ext cx="17266920" cy="5619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3300" b="1" spc="-37" kern="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Shell · ExxonMobil · Disney · Samsung 도 시나리오로 위기를 기회로 바꿨다</a:t>
            </a:r>
            <a:endParaRPr lang="en-US" sz="3300" dirty="0"/>
          </a:p>
        </p:txBody>
      </p:sp>
      <p:sp>
        <p:nvSpPr>
          <p:cNvPr id="4" name="Text 2"/>
          <p:cNvSpPr/>
          <p:nvPr/>
        </p:nvSpPr>
        <p:spPr>
          <a:xfrm>
            <a:off x="762000" y="1524000"/>
            <a:ext cx="14716125" cy="3524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50000"/>
              </a:lnSpc>
              <a:buNone/>
            </a:pPr>
            <a:r>
              <a:rPr lang="en-US" sz="1650" dirty="0">
                <a:solidFill>
                  <a:srgbClr val="6B72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시나리오 플래닝은 위기를 기회로 바꾼 검증된 방법론 — 4개 실제 사례 비교</a:t>
            </a:r>
            <a:endParaRPr lang="en-US" sz="1650" dirty="0"/>
          </a:p>
        </p:txBody>
      </p:sp>
      <p:sp>
        <p:nvSpPr>
          <p:cNvPr id="5" name="Shape 3"/>
          <p:cNvSpPr/>
          <p:nvPr/>
        </p:nvSpPr>
        <p:spPr>
          <a:xfrm>
            <a:off x="762000" y="2286000"/>
            <a:ext cx="8267700" cy="2447925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Shape 4"/>
          <p:cNvSpPr/>
          <p:nvPr/>
        </p:nvSpPr>
        <p:spPr>
          <a:xfrm>
            <a:off x="762000" y="4724400"/>
            <a:ext cx="8267700" cy="9525"/>
          </a:xfrm>
          <a:prstGeom prst="rect">
            <a:avLst/>
          </a:prstGeom>
          <a:solidFill>
            <a:srgbClr val="D1D5DB"/>
          </a:solidFill>
          <a:ln/>
        </p:spPr>
      </p:sp>
      <p:sp>
        <p:nvSpPr>
          <p:cNvPr id="7" name="Shape 5"/>
          <p:cNvSpPr/>
          <p:nvPr/>
        </p:nvSpPr>
        <p:spPr>
          <a:xfrm>
            <a:off x="762000" y="2286000"/>
            <a:ext cx="8267700" cy="57150"/>
          </a:xfrm>
          <a:prstGeom prst="rect">
            <a:avLst/>
          </a:prstGeom>
          <a:solidFill>
            <a:srgbClr val="1428A0"/>
          </a:solidFill>
          <a:ln/>
        </p:spPr>
      </p:sp>
      <p:sp>
        <p:nvSpPr>
          <p:cNvPr id="8" name="Shape 6"/>
          <p:cNvSpPr/>
          <p:nvPr/>
        </p:nvSpPr>
        <p:spPr>
          <a:xfrm>
            <a:off x="762000" y="2286000"/>
            <a:ext cx="9525" cy="2447925"/>
          </a:xfrm>
          <a:prstGeom prst="rect">
            <a:avLst/>
          </a:prstGeom>
          <a:solidFill>
            <a:srgbClr val="D1D5DB"/>
          </a:solidFill>
          <a:ln/>
        </p:spPr>
      </p:sp>
      <p:sp>
        <p:nvSpPr>
          <p:cNvPr id="9" name="Shape 7"/>
          <p:cNvSpPr/>
          <p:nvPr/>
        </p:nvSpPr>
        <p:spPr>
          <a:xfrm>
            <a:off x="9020175" y="2286000"/>
            <a:ext cx="9525" cy="2447925"/>
          </a:xfrm>
          <a:prstGeom prst="rect">
            <a:avLst/>
          </a:prstGeom>
          <a:solidFill>
            <a:srgbClr val="D1D5DB"/>
          </a:solidFill>
          <a:ln/>
        </p:spPr>
      </p:sp>
      <p:sp>
        <p:nvSpPr>
          <p:cNvPr id="10" name="Text 8"/>
          <p:cNvSpPr/>
          <p:nvPr/>
        </p:nvSpPr>
        <p:spPr>
          <a:xfrm>
            <a:off x="1076325" y="2647950"/>
            <a:ext cx="2252514" cy="3524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0000"/>
              </a:lnSpc>
              <a:buNone/>
            </a:pPr>
            <a:r>
              <a:rPr lang="en-US" sz="1800" b="1" dirty="0">
                <a:solidFill>
                  <a:srgbClr val="1428A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Shell · 1973 오일쇼크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6764089" y="2752725"/>
            <a:ext cx="2027486" cy="2381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0000"/>
              </a:lnSpc>
              <a:buNone/>
            </a:pPr>
            <a:r>
              <a:rPr lang="en-US" sz="1125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PETROLEUM · 1972 — 1980</a:t>
            </a:r>
            <a:endParaRPr lang="en-US" sz="1125" dirty="0"/>
          </a:p>
        </p:txBody>
      </p:sp>
      <p:sp>
        <p:nvSpPr>
          <p:cNvPr id="12" name="Text 10"/>
          <p:cNvSpPr/>
          <p:nvPr/>
        </p:nvSpPr>
        <p:spPr>
          <a:xfrm>
            <a:off x="1076325" y="3114675"/>
            <a:ext cx="7868221" cy="5524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55000"/>
              </a:lnSpc>
              <a:buNone/>
            </a:pPr>
            <a:r>
              <a:rPr lang="en-US" sz="1350" dirty="0">
                <a:solidFill>
                  <a:srgbClr val="37415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1972년 시나리오 플래닝팀 신설. 가설 1 </a:t>
            </a:r>
            <a:pPr algn="l" indent="0" marL="0">
              <a:lnSpc>
                <a:spcPct val="155000"/>
              </a:lnSpc>
              <a:buNone/>
            </a:pPr>
            <a:r>
              <a:rPr lang="en-US" sz="1125" dirty="0">
                <a:solidFill>
                  <a:srgbClr val="6B72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(컨센서스) </a:t>
            </a:r>
            <a:pPr algn="l" indent="0" marL="0">
              <a:lnSpc>
                <a:spcPct val="155000"/>
              </a:lnSpc>
              <a:buNone/>
            </a:pPr>
            <a:r>
              <a:rPr lang="en-US" sz="1350" dirty="0">
                <a:solidFill>
                  <a:srgbClr val="37415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유가 안정 · 가설 2 </a:t>
            </a:r>
            <a:pPr algn="l" indent="0" marL="0">
              <a:lnSpc>
                <a:spcPct val="155000"/>
              </a:lnSpc>
              <a:buNone/>
            </a:pPr>
            <a:r>
              <a:rPr lang="en-US" sz="1125" dirty="0">
                <a:solidFill>
                  <a:srgbClr val="6B72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(비주류) </a:t>
            </a:r>
            <a:pPr algn="l" indent="0" marL="0">
              <a:lnSpc>
                <a:spcPct val="155000"/>
              </a:lnSpc>
              <a:buNone/>
            </a:pPr>
            <a:r>
              <a:rPr lang="en-US" sz="1350" dirty="0">
                <a:solidFill>
                  <a:srgbClr val="37415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유가 급등. 1973년 OPEC 1차 오일쇼크 발발 — </a:t>
            </a:r>
            <a:pPr algn="l" indent="0" marL="0">
              <a:lnSpc>
                <a:spcPct val="155000"/>
              </a:lnSpc>
              <a:buNone/>
            </a:pPr>
            <a:r>
              <a:rPr lang="en-US" sz="1350" b="1" dirty="0">
                <a:solidFill>
                  <a:srgbClr val="37415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Shell만 미리 준비된 7대 메이저 중 1곳</a:t>
            </a:r>
            <a:pPr algn="l" indent="0" marL="0">
              <a:lnSpc>
                <a:spcPct val="155000"/>
              </a:lnSpc>
              <a:buNone/>
            </a:pPr>
            <a:r>
              <a:rPr lang="en-US" sz="1350" dirty="0">
                <a:solidFill>
                  <a:srgbClr val="37415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.</a:t>
            </a:r>
            <a:endParaRPr lang="en-US" sz="1350" dirty="0"/>
          </a:p>
        </p:txBody>
      </p:sp>
      <p:sp>
        <p:nvSpPr>
          <p:cNvPr id="13" name="Shape 11"/>
          <p:cNvSpPr/>
          <p:nvPr/>
        </p:nvSpPr>
        <p:spPr>
          <a:xfrm>
            <a:off x="1076325" y="3781425"/>
            <a:ext cx="7639050" cy="476250"/>
          </a:xfrm>
          <a:prstGeom prst="rect">
            <a:avLst/>
          </a:prstGeom>
          <a:solidFill>
            <a:srgbClr val="E8EEFC"/>
          </a:solidFill>
          <a:ln/>
        </p:spPr>
      </p:sp>
      <p:sp>
        <p:nvSpPr>
          <p:cNvPr id="14" name="Text 12"/>
          <p:cNvSpPr/>
          <p:nvPr/>
        </p:nvSpPr>
        <p:spPr>
          <a:xfrm>
            <a:off x="1247775" y="3914775"/>
            <a:ext cx="7525321" cy="2476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0000"/>
              </a:lnSpc>
              <a:buNone/>
            </a:pPr>
            <a:r>
              <a:rPr lang="en-US" sz="1200" b="1" dirty="0">
                <a:solidFill>
                  <a:srgbClr val="1428A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"불확실성 자체를 계획에 포함시켜라"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9258300" y="2286000"/>
            <a:ext cx="8267700" cy="2447925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6" name="Shape 14"/>
          <p:cNvSpPr/>
          <p:nvPr/>
        </p:nvSpPr>
        <p:spPr>
          <a:xfrm>
            <a:off x="9258300" y="4724400"/>
            <a:ext cx="8267700" cy="9525"/>
          </a:xfrm>
          <a:prstGeom prst="rect">
            <a:avLst/>
          </a:prstGeom>
          <a:solidFill>
            <a:srgbClr val="D1D5DB"/>
          </a:solidFill>
          <a:ln/>
        </p:spPr>
      </p:sp>
      <p:sp>
        <p:nvSpPr>
          <p:cNvPr id="17" name="Shape 15"/>
          <p:cNvSpPr/>
          <p:nvPr/>
        </p:nvSpPr>
        <p:spPr>
          <a:xfrm>
            <a:off x="9258300" y="2286000"/>
            <a:ext cx="8267700" cy="57150"/>
          </a:xfrm>
          <a:prstGeom prst="rect">
            <a:avLst/>
          </a:prstGeom>
          <a:solidFill>
            <a:srgbClr val="1428A0"/>
          </a:solidFill>
          <a:ln/>
        </p:spPr>
      </p:sp>
      <p:sp>
        <p:nvSpPr>
          <p:cNvPr id="18" name="Shape 16"/>
          <p:cNvSpPr/>
          <p:nvPr/>
        </p:nvSpPr>
        <p:spPr>
          <a:xfrm>
            <a:off x="9258300" y="2286000"/>
            <a:ext cx="9525" cy="2447925"/>
          </a:xfrm>
          <a:prstGeom prst="rect">
            <a:avLst/>
          </a:prstGeom>
          <a:solidFill>
            <a:srgbClr val="D1D5DB"/>
          </a:solidFill>
          <a:ln/>
        </p:spPr>
      </p:sp>
      <p:sp>
        <p:nvSpPr>
          <p:cNvPr id="19" name="Shape 17"/>
          <p:cNvSpPr/>
          <p:nvPr/>
        </p:nvSpPr>
        <p:spPr>
          <a:xfrm>
            <a:off x="17516475" y="2286000"/>
            <a:ext cx="9525" cy="2447925"/>
          </a:xfrm>
          <a:prstGeom prst="rect">
            <a:avLst/>
          </a:prstGeom>
          <a:solidFill>
            <a:srgbClr val="D1D5DB"/>
          </a:solidFill>
          <a:ln/>
        </p:spPr>
      </p:sp>
      <p:sp>
        <p:nvSpPr>
          <p:cNvPr id="20" name="Text 18"/>
          <p:cNvSpPr/>
          <p:nvPr/>
        </p:nvSpPr>
        <p:spPr>
          <a:xfrm>
            <a:off x="9572625" y="2647950"/>
            <a:ext cx="3534476" cy="3524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0000"/>
              </a:lnSpc>
              <a:buNone/>
            </a:pPr>
            <a:r>
              <a:rPr lang="en-US" sz="1800" b="1" dirty="0">
                <a:solidFill>
                  <a:srgbClr val="1428A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ExxonMobil · 2014—20 유가 폭락</a:t>
            </a:r>
            <a:endParaRPr lang="en-US" sz="1800" dirty="0"/>
          </a:p>
        </p:txBody>
      </p:sp>
      <p:sp>
        <p:nvSpPr>
          <p:cNvPr id="21" name="Text 19"/>
          <p:cNvSpPr/>
          <p:nvPr/>
        </p:nvSpPr>
        <p:spPr>
          <a:xfrm>
            <a:off x="15902732" y="2752725"/>
            <a:ext cx="1385143" cy="2381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0000"/>
              </a:lnSpc>
              <a:buNone/>
            </a:pPr>
            <a:r>
              <a:rPr lang="en-US" sz="1125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$100 → $30 → NEG</a:t>
            </a:r>
            <a:endParaRPr lang="en-US" sz="1125" dirty="0"/>
          </a:p>
        </p:txBody>
      </p:sp>
      <p:sp>
        <p:nvSpPr>
          <p:cNvPr id="22" name="Text 20"/>
          <p:cNvSpPr/>
          <p:nvPr/>
        </p:nvSpPr>
        <p:spPr>
          <a:xfrm>
            <a:off x="9572625" y="3114675"/>
            <a:ext cx="7868221" cy="5524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55000"/>
              </a:lnSpc>
              <a:buNone/>
            </a:pPr>
            <a:r>
              <a:rPr lang="en-US" sz="1350" dirty="0">
                <a:solidFill>
                  <a:srgbClr val="37415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활동가 투자자 압박에도 </a:t>
            </a:r>
            <a:pPr algn="l" indent="0" marL="0">
              <a:lnSpc>
                <a:spcPct val="155000"/>
              </a:lnSpc>
              <a:buNone/>
            </a:pPr>
            <a:r>
              <a:rPr lang="en-US" sz="1350" b="1" dirty="0">
                <a:solidFill>
                  <a:srgbClr val="37415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capex 사수</a:t>
            </a:r>
            <a:pPr algn="l" indent="0" marL="0">
              <a:lnSpc>
                <a:spcPct val="155000"/>
              </a:lnSpc>
              <a:buNone/>
            </a:pPr>
            <a:r>
              <a:rPr lang="en-US" sz="1350" dirty="0">
                <a:solidFill>
                  <a:srgbClr val="37415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. 2023년 Pioneer Natural Resources </a:t>
            </a:r>
            <a:pPr algn="l" indent="0" marL="0">
              <a:lnSpc>
                <a:spcPct val="155000"/>
              </a:lnSpc>
              <a:buNone/>
            </a:pPr>
            <a:r>
              <a:rPr lang="en-US" sz="1350" b="1" dirty="0">
                <a:solidFill>
                  <a:srgbClr val="37415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$59.5B 인수 </a:t>
            </a:r>
            <a:pPr algn="l" indent="0" marL="0">
              <a:lnSpc>
                <a:spcPct val="155000"/>
              </a:lnSpc>
              <a:buNone/>
            </a:pPr>
            <a:r>
              <a:rPr lang="en-US" sz="1350" dirty="0">
                <a:solidFill>
                  <a:srgbClr val="37415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를 5개월 만에 종결 (산업 평균의 절반).</a:t>
            </a:r>
            <a:endParaRPr lang="en-US" sz="1350" dirty="0"/>
          </a:p>
        </p:txBody>
      </p:sp>
      <p:sp>
        <p:nvSpPr>
          <p:cNvPr id="23" name="Shape 21"/>
          <p:cNvSpPr/>
          <p:nvPr/>
        </p:nvSpPr>
        <p:spPr>
          <a:xfrm>
            <a:off x="9572625" y="3781425"/>
            <a:ext cx="7639050" cy="476250"/>
          </a:xfrm>
          <a:prstGeom prst="rect">
            <a:avLst/>
          </a:prstGeom>
          <a:solidFill>
            <a:srgbClr val="E8EEFC"/>
          </a:solidFill>
          <a:ln/>
        </p:spPr>
      </p:sp>
      <p:sp>
        <p:nvSpPr>
          <p:cNvPr id="24" name="Text 22"/>
          <p:cNvSpPr/>
          <p:nvPr/>
        </p:nvSpPr>
        <p:spPr>
          <a:xfrm>
            <a:off x="9744075" y="3914775"/>
            <a:ext cx="7525321" cy="2476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0000"/>
              </a:lnSpc>
              <a:buNone/>
            </a:pPr>
            <a:r>
              <a:rPr lang="en-US" sz="1200" b="1" dirty="0">
                <a:solidFill>
                  <a:srgbClr val="1428A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"다운사이클은 비축, 회복기는 재투자"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762000" y="4962525"/>
            <a:ext cx="8267700" cy="2466975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6" name="Shape 24"/>
          <p:cNvSpPr/>
          <p:nvPr/>
        </p:nvSpPr>
        <p:spPr>
          <a:xfrm>
            <a:off x="762000" y="7419975"/>
            <a:ext cx="8267700" cy="9525"/>
          </a:xfrm>
          <a:prstGeom prst="rect">
            <a:avLst/>
          </a:prstGeom>
          <a:solidFill>
            <a:srgbClr val="D1D5DB"/>
          </a:solidFill>
          <a:ln/>
        </p:spPr>
      </p:sp>
      <p:sp>
        <p:nvSpPr>
          <p:cNvPr id="27" name="Shape 25"/>
          <p:cNvSpPr/>
          <p:nvPr/>
        </p:nvSpPr>
        <p:spPr>
          <a:xfrm>
            <a:off x="762000" y="4962525"/>
            <a:ext cx="8267700" cy="57150"/>
          </a:xfrm>
          <a:prstGeom prst="rect">
            <a:avLst/>
          </a:prstGeom>
          <a:solidFill>
            <a:srgbClr val="1428A0"/>
          </a:solidFill>
          <a:ln/>
        </p:spPr>
      </p:sp>
      <p:sp>
        <p:nvSpPr>
          <p:cNvPr id="28" name="Shape 26"/>
          <p:cNvSpPr/>
          <p:nvPr/>
        </p:nvSpPr>
        <p:spPr>
          <a:xfrm>
            <a:off x="762000" y="4962525"/>
            <a:ext cx="9525" cy="2466975"/>
          </a:xfrm>
          <a:prstGeom prst="rect">
            <a:avLst/>
          </a:prstGeom>
          <a:solidFill>
            <a:srgbClr val="D1D5DB"/>
          </a:solidFill>
          <a:ln/>
        </p:spPr>
      </p:sp>
      <p:sp>
        <p:nvSpPr>
          <p:cNvPr id="29" name="Shape 27"/>
          <p:cNvSpPr/>
          <p:nvPr/>
        </p:nvSpPr>
        <p:spPr>
          <a:xfrm>
            <a:off x="9020175" y="4962525"/>
            <a:ext cx="9525" cy="2466975"/>
          </a:xfrm>
          <a:prstGeom prst="rect">
            <a:avLst/>
          </a:prstGeom>
          <a:solidFill>
            <a:srgbClr val="D1D5DB"/>
          </a:solidFill>
          <a:ln/>
        </p:spPr>
      </p:sp>
      <p:sp>
        <p:nvSpPr>
          <p:cNvPr id="30" name="Text 28"/>
          <p:cNvSpPr/>
          <p:nvPr/>
        </p:nvSpPr>
        <p:spPr>
          <a:xfrm>
            <a:off x="1076325" y="5324475"/>
            <a:ext cx="3139287" cy="3524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0000"/>
              </a:lnSpc>
              <a:buNone/>
            </a:pPr>
            <a:r>
              <a:rPr lang="en-US" sz="1800" b="1" dirty="0">
                <a:solidFill>
                  <a:srgbClr val="1428A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Disney · 2009 글로벌 금융위기</a:t>
            </a:r>
            <a:endParaRPr lang="en-US" sz="1800" dirty="0"/>
          </a:p>
        </p:txBody>
      </p:sp>
      <p:sp>
        <p:nvSpPr>
          <p:cNvPr id="31" name="Text 29"/>
          <p:cNvSpPr/>
          <p:nvPr/>
        </p:nvSpPr>
        <p:spPr>
          <a:xfrm>
            <a:off x="7083921" y="5429250"/>
            <a:ext cx="1707654" cy="2381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0000"/>
              </a:lnSpc>
              <a:buNone/>
            </a:pPr>
            <a:r>
              <a:rPr lang="en-US" sz="1125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MARVEL ACQ · PER 37×</a:t>
            </a:r>
            <a:endParaRPr lang="en-US" sz="1125" dirty="0"/>
          </a:p>
        </p:txBody>
      </p:sp>
      <p:sp>
        <p:nvSpPr>
          <p:cNvPr id="32" name="Text 30"/>
          <p:cNvSpPr/>
          <p:nvPr/>
        </p:nvSpPr>
        <p:spPr>
          <a:xfrm>
            <a:off x="1076325" y="5791200"/>
            <a:ext cx="7868221" cy="5524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55000"/>
              </a:lnSpc>
              <a:buNone/>
            </a:pPr>
            <a:r>
              <a:rPr lang="en-US" sz="1350" dirty="0">
                <a:solidFill>
                  <a:srgbClr val="37415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2009년 8월 Marvel을 </a:t>
            </a:r>
            <a:pPr algn="l" indent="0" marL="0">
              <a:lnSpc>
                <a:spcPct val="155000"/>
              </a:lnSpc>
              <a:buNone/>
            </a:pPr>
            <a:r>
              <a:rPr lang="en-US" sz="1350" b="1" dirty="0">
                <a:solidFill>
                  <a:srgbClr val="37415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$4B</a:t>
            </a:r>
            <a:pPr algn="l" indent="0" marL="0">
              <a:lnSpc>
                <a:spcPct val="155000"/>
              </a:lnSpc>
              <a:buNone/>
            </a:pPr>
            <a:r>
              <a:rPr lang="en-US" sz="1350" dirty="0">
                <a:solidFill>
                  <a:srgbClr val="37415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에 인수 (PER 37배). 시장 부정적·S&amp;P 신용등급 부정적 관찰. </a:t>
            </a:r>
            <a:pPr algn="l" indent="0" marL="0">
              <a:lnSpc>
                <a:spcPct val="155000"/>
              </a:lnSpc>
              <a:buNone/>
            </a:pPr>
            <a:r>
              <a:rPr lang="en-US" sz="1350" b="1" dirty="0">
                <a:solidFill>
                  <a:srgbClr val="37415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10년 후: MCU 박스오피스 $18B+ 창출 </a:t>
            </a:r>
            <a:pPr algn="l" indent="0" marL="0">
              <a:lnSpc>
                <a:spcPct val="155000"/>
              </a:lnSpc>
              <a:buNone/>
            </a:pPr>
            <a:r>
              <a:rPr lang="en-US" sz="1350" dirty="0">
                <a:solidFill>
                  <a:srgbClr val="37415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.</a:t>
            </a:r>
            <a:endParaRPr lang="en-US" sz="1350" dirty="0"/>
          </a:p>
        </p:txBody>
      </p:sp>
      <p:sp>
        <p:nvSpPr>
          <p:cNvPr id="33" name="Shape 31"/>
          <p:cNvSpPr/>
          <p:nvPr/>
        </p:nvSpPr>
        <p:spPr>
          <a:xfrm>
            <a:off x="1076325" y="6457950"/>
            <a:ext cx="7639050" cy="476250"/>
          </a:xfrm>
          <a:prstGeom prst="rect">
            <a:avLst/>
          </a:prstGeom>
          <a:solidFill>
            <a:srgbClr val="E8EEFC"/>
          </a:solidFill>
          <a:ln/>
        </p:spPr>
      </p:sp>
      <p:sp>
        <p:nvSpPr>
          <p:cNvPr id="34" name="Text 32"/>
          <p:cNvSpPr/>
          <p:nvPr/>
        </p:nvSpPr>
        <p:spPr>
          <a:xfrm>
            <a:off x="1247775" y="6591300"/>
            <a:ext cx="7525321" cy="2476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0000"/>
              </a:lnSpc>
              <a:buNone/>
            </a:pPr>
            <a:r>
              <a:rPr lang="en-US" sz="1200" b="1" dirty="0">
                <a:solidFill>
                  <a:srgbClr val="1428A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"위기는 자산 가격을 낮춘다"</a:t>
            </a:r>
            <a:endParaRPr lang="en-US" sz="1200" dirty="0"/>
          </a:p>
        </p:txBody>
      </p:sp>
      <p:sp>
        <p:nvSpPr>
          <p:cNvPr id="35" name="Shape 33"/>
          <p:cNvSpPr/>
          <p:nvPr/>
        </p:nvSpPr>
        <p:spPr>
          <a:xfrm>
            <a:off x="9258300" y="4962525"/>
            <a:ext cx="8267700" cy="2466975"/>
          </a:xfrm>
          <a:prstGeom prst="rect">
            <a:avLst/>
          </a:prstGeom>
          <a:solidFill>
            <a:srgbClr val="FEF3C7"/>
          </a:solidFill>
          <a:ln/>
        </p:spPr>
      </p:sp>
      <p:sp>
        <p:nvSpPr>
          <p:cNvPr id="36" name="Shape 34"/>
          <p:cNvSpPr/>
          <p:nvPr/>
        </p:nvSpPr>
        <p:spPr>
          <a:xfrm>
            <a:off x="9258300" y="7419975"/>
            <a:ext cx="8267700" cy="9525"/>
          </a:xfrm>
          <a:prstGeom prst="rect">
            <a:avLst/>
          </a:prstGeom>
          <a:solidFill>
            <a:srgbClr val="D1D5DB"/>
          </a:solidFill>
          <a:ln/>
        </p:spPr>
      </p:sp>
      <p:sp>
        <p:nvSpPr>
          <p:cNvPr id="37" name="Shape 35"/>
          <p:cNvSpPr/>
          <p:nvPr/>
        </p:nvSpPr>
        <p:spPr>
          <a:xfrm>
            <a:off x="9258300" y="4962525"/>
            <a:ext cx="8267700" cy="57150"/>
          </a:xfrm>
          <a:prstGeom prst="rect">
            <a:avLst/>
          </a:prstGeom>
          <a:solidFill>
            <a:srgbClr val="D97706"/>
          </a:solidFill>
          <a:ln/>
        </p:spPr>
      </p:sp>
      <p:sp>
        <p:nvSpPr>
          <p:cNvPr id="38" name="Shape 36"/>
          <p:cNvSpPr/>
          <p:nvPr/>
        </p:nvSpPr>
        <p:spPr>
          <a:xfrm>
            <a:off x="9258300" y="4962525"/>
            <a:ext cx="38100" cy="2466975"/>
          </a:xfrm>
          <a:prstGeom prst="rect">
            <a:avLst/>
          </a:prstGeom>
          <a:solidFill>
            <a:srgbClr val="D97706"/>
          </a:solidFill>
          <a:ln/>
        </p:spPr>
      </p:sp>
      <p:sp>
        <p:nvSpPr>
          <p:cNvPr id="39" name="Shape 37"/>
          <p:cNvSpPr/>
          <p:nvPr/>
        </p:nvSpPr>
        <p:spPr>
          <a:xfrm>
            <a:off x="17516475" y="4962525"/>
            <a:ext cx="9525" cy="2466975"/>
          </a:xfrm>
          <a:prstGeom prst="rect">
            <a:avLst/>
          </a:prstGeom>
          <a:solidFill>
            <a:srgbClr val="D1D5DB"/>
          </a:solidFill>
          <a:ln/>
        </p:spPr>
      </p:sp>
      <p:sp>
        <p:nvSpPr>
          <p:cNvPr id="40" name="Text 38"/>
          <p:cNvSpPr/>
          <p:nvPr/>
        </p:nvSpPr>
        <p:spPr>
          <a:xfrm>
            <a:off x="9601200" y="5324475"/>
            <a:ext cx="4138450" cy="3524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0000"/>
              </a:lnSpc>
              <a:buNone/>
            </a:pPr>
            <a:r>
              <a:rPr lang="en-US" sz="1800" b="1" dirty="0">
                <a:solidFill>
                  <a:srgbClr val="D9770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Samsung · 2022—23 메모리 다운사이클</a:t>
            </a:r>
            <a:endParaRPr lang="en-US" sz="1800" dirty="0"/>
          </a:p>
        </p:txBody>
      </p:sp>
      <p:sp>
        <p:nvSpPr>
          <p:cNvPr id="41" name="Text 39"/>
          <p:cNvSpPr/>
          <p:nvPr/>
        </p:nvSpPr>
        <p:spPr>
          <a:xfrm>
            <a:off x="15575310" y="5429250"/>
            <a:ext cx="1712565" cy="2381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0000"/>
              </a:lnSpc>
              <a:buNone/>
            </a:pPr>
            <a:r>
              <a:rPr lang="en-US" sz="1125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CAPEX 47.7조 · NO CUT</a:t>
            </a:r>
            <a:endParaRPr lang="en-US" sz="1125" dirty="0"/>
          </a:p>
        </p:txBody>
      </p:sp>
      <p:sp>
        <p:nvSpPr>
          <p:cNvPr id="42" name="Text 40"/>
          <p:cNvSpPr/>
          <p:nvPr/>
        </p:nvSpPr>
        <p:spPr>
          <a:xfrm>
            <a:off x="9601200" y="5791200"/>
            <a:ext cx="7838789" cy="5524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55000"/>
              </a:lnSpc>
              <a:buNone/>
            </a:pPr>
            <a:r>
              <a:rPr lang="en-US" sz="1350" dirty="0">
                <a:solidFill>
                  <a:srgbClr val="37415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TSMC·마이크론 capex </a:t>
            </a:r>
            <a:pPr algn="l" indent="0" marL="0">
              <a:lnSpc>
                <a:spcPct val="155000"/>
              </a:lnSpc>
              <a:buNone/>
            </a:pPr>
            <a:r>
              <a:rPr lang="en-US" sz="1350" b="1" dirty="0">
                <a:solidFill>
                  <a:srgbClr val="DC26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−10%+ </a:t>
            </a:r>
            <a:pPr algn="l" indent="0" marL="0">
              <a:lnSpc>
                <a:spcPct val="155000"/>
              </a:lnSpc>
              <a:buNone/>
            </a:pPr>
            <a:r>
              <a:rPr lang="en-US" sz="1350" dirty="0">
                <a:solidFill>
                  <a:srgbClr val="37415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삭감 중에도 삼성은 </a:t>
            </a:r>
            <a:pPr algn="l" indent="0" marL="0">
              <a:lnSpc>
                <a:spcPct val="155000"/>
              </a:lnSpc>
              <a:buNone/>
            </a:pPr>
            <a:r>
              <a:rPr lang="en-US" sz="1350" b="1" dirty="0">
                <a:solidFill>
                  <a:srgbClr val="37415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47.7조 원 capex 집행 </a:t>
            </a:r>
            <a:pPr algn="l" indent="0" marL="0">
              <a:lnSpc>
                <a:spcPct val="155000"/>
              </a:lnSpc>
              <a:buNone/>
            </a:pPr>
            <a:r>
              <a:rPr lang="en-US" sz="1350" dirty="0">
                <a:solidFill>
                  <a:srgbClr val="37415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(감산 거부) · 2025–26 호황기 점유율 흡수 + 사상 최대.</a:t>
            </a:r>
            <a:endParaRPr lang="en-US" sz="1350" dirty="0"/>
          </a:p>
        </p:txBody>
      </p:sp>
      <p:sp>
        <p:nvSpPr>
          <p:cNvPr id="43" name="Shape 41"/>
          <p:cNvSpPr/>
          <p:nvPr/>
        </p:nvSpPr>
        <p:spPr>
          <a:xfrm>
            <a:off x="9601200" y="6457950"/>
            <a:ext cx="7610475" cy="4953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44" name="Shape 42"/>
          <p:cNvSpPr/>
          <p:nvPr/>
        </p:nvSpPr>
        <p:spPr>
          <a:xfrm>
            <a:off x="9601200" y="6943725"/>
            <a:ext cx="7610475" cy="9525"/>
          </a:xfrm>
          <a:prstGeom prst="rect">
            <a:avLst/>
          </a:prstGeom>
          <a:solidFill>
            <a:srgbClr val="D1D5DB"/>
          </a:solidFill>
          <a:ln/>
        </p:spPr>
      </p:sp>
      <p:sp>
        <p:nvSpPr>
          <p:cNvPr id="45" name="Shape 43"/>
          <p:cNvSpPr/>
          <p:nvPr/>
        </p:nvSpPr>
        <p:spPr>
          <a:xfrm>
            <a:off x="9601200" y="6457950"/>
            <a:ext cx="7610475" cy="9525"/>
          </a:xfrm>
          <a:prstGeom prst="rect">
            <a:avLst/>
          </a:prstGeom>
          <a:solidFill>
            <a:srgbClr val="D1D5DB"/>
          </a:solidFill>
          <a:ln/>
        </p:spPr>
      </p:sp>
      <p:sp>
        <p:nvSpPr>
          <p:cNvPr id="46" name="Shape 44"/>
          <p:cNvSpPr/>
          <p:nvPr/>
        </p:nvSpPr>
        <p:spPr>
          <a:xfrm>
            <a:off x="9601200" y="6457950"/>
            <a:ext cx="38100" cy="495300"/>
          </a:xfrm>
          <a:prstGeom prst="rect">
            <a:avLst/>
          </a:prstGeom>
          <a:solidFill>
            <a:srgbClr val="D97706"/>
          </a:solidFill>
          <a:ln/>
        </p:spPr>
      </p:sp>
      <p:sp>
        <p:nvSpPr>
          <p:cNvPr id="47" name="Shape 45"/>
          <p:cNvSpPr/>
          <p:nvPr/>
        </p:nvSpPr>
        <p:spPr>
          <a:xfrm>
            <a:off x="17202150" y="6457950"/>
            <a:ext cx="9525" cy="495300"/>
          </a:xfrm>
          <a:prstGeom prst="rect">
            <a:avLst/>
          </a:prstGeom>
          <a:solidFill>
            <a:srgbClr val="D1D5DB"/>
          </a:solidFill>
          <a:ln/>
        </p:spPr>
      </p:sp>
      <p:sp>
        <p:nvSpPr>
          <p:cNvPr id="48" name="Text 46"/>
          <p:cNvSpPr/>
          <p:nvPr/>
        </p:nvSpPr>
        <p:spPr>
          <a:xfrm>
            <a:off x="9810750" y="6600825"/>
            <a:ext cx="7448264" cy="2476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0000"/>
              </a:lnSpc>
              <a:buNone/>
            </a:pPr>
            <a:r>
              <a:rPr lang="en-US" sz="1200" b="1" dirty="0">
                <a:solidFill>
                  <a:srgbClr val="D9770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"인위적 감산은 고려하지 않는다"</a:t>
            </a:r>
            <a:endParaRPr lang="en-US" sz="1200" dirty="0"/>
          </a:p>
        </p:txBody>
      </p:sp>
      <p:sp>
        <p:nvSpPr>
          <p:cNvPr id="49" name="Shape 47"/>
          <p:cNvSpPr/>
          <p:nvPr/>
        </p:nvSpPr>
        <p:spPr>
          <a:xfrm>
            <a:off x="762000" y="7696200"/>
            <a:ext cx="16764000" cy="685800"/>
          </a:xfrm>
          <a:prstGeom prst="rect">
            <a:avLst/>
          </a:prstGeom>
          <a:solidFill>
            <a:srgbClr val="FEF3C7"/>
          </a:solidFill>
          <a:ln/>
        </p:spPr>
      </p:sp>
      <p:sp>
        <p:nvSpPr>
          <p:cNvPr id="50" name="Shape 48"/>
          <p:cNvSpPr/>
          <p:nvPr/>
        </p:nvSpPr>
        <p:spPr>
          <a:xfrm>
            <a:off x="762000" y="7696200"/>
            <a:ext cx="57150" cy="685800"/>
          </a:xfrm>
          <a:prstGeom prst="rect">
            <a:avLst/>
          </a:prstGeom>
          <a:solidFill>
            <a:srgbClr val="D97706"/>
          </a:solidFill>
          <a:ln/>
        </p:spPr>
      </p:sp>
      <p:sp>
        <p:nvSpPr>
          <p:cNvPr id="51" name="Shape 49"/>
          <p:cNvSpPr/>
          <p:nvPr/>
        </p:nvSpPr>
        <p:spPr>
          <a:xfrm>
            <a:off x="1085850" y="7886700"/>
            <a:ext cx="995065" cy="304800"/>
          </a:xfrm>
          <a:prstGeom prst="rect">
            <a:avLst/>
          </a:prstGeom>
          <a:solidFill>
            <a:srgbClr val="D97706"/>
          </a:solidFill>
          <a:ln/>
        </p:spPr>
      </p:sp>
      <p:sp>
        <p:nvSpPr>
          <p:cNvPr id="52" name="Text 50"/>
          <p:cNvSpPr/>
          <p:nvPr/>
        </p:nvSpPr>
        <p:spPr>
          <a:xfrm>
            <a:off x="1219200" y="7943850"/>
            <a:ext cx="804565" cy="2286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5000"/>
              </a:lnSpc>
              <a:buNone/>
            </a:pPr>
            <a:r>
              <a:rPr lang="en-US" sz="1050" b="1" spc="150" kern="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PATTERN</a:t>
            </a:r>
            <a:endParaRPr lang="en-US" sz="1050" dirty="0"/>
          </a:p>
        </p:txBody>
      </p:sp>
      <p:sp>
        <p:nvSpPr>
          <p:cNvPr id="53" name="Text 51"/>
          <p:cNvSpPr/>
          <p:nvPr/>
        </p:nvSpPr>
        <p:spPr>
          <a:xfrm>
            <a:off x="2271415" y="7900988"/>
            <a:ext cx="5892735" cy="3143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5000"/>
              </a:lnSpc>
              <a:buNone/>
            </a:pPr>
            <a:r>
              <a:rPr lang="en-US" sz="15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4개 사례 모두 동일 공식 — </a:t>
            </a:r>
            <a:pPr algn="l" indent="0" marL="0">
              <a:lnSpc>
                <a:spcPct val="145000"/>
              </a:lnSpc>
              <a:buNone/>
            </a:pPr>
            <a:r>
              <a:rPr lang="en-US" sz="150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다운턴 사전 준비 + 호황기 절제 + 회복기 가속</a:t>
            </a:r>
            <a:pPr algn="l" indent="0" marL="0">
              <a:lnSpc>
                <a:spcPct val="145000"/>
              </a:lnSpc>
              <a:buNone/>
            </a:pPr>
            <a:r>
              <a:rPr lang="en-US" sz="15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.</a:t>
            </a:r>
            <a:endParaRPr lang="en-US" sz="1500" dirty="0"/>
          </a:p>
        </p:txBody>
      </p:sp>
      <p:sp>
        <p:nvSpPr>
          <p:cNvPr id="54" name="Shape 52"/>
          <p:cNvSpPr/>
          <p:nvPr/>
        </p:nvSpPr>
        <p:spPr>
          <a:xfrm>
            <a:off x="762000" y="9667875"/>
            <a:ext cx="16764000" cy="9525"/>
          </a:xfrm>
          <a:prstGeom prst="rect">
            <a:avLst/>
          </a:prstGeom>
          <a:solidFill>
            <a:srgbClr val="D1D5DB"/>
          </a:solidFill>
          <a:ln/>
        </p:spPr>
      </p:sp>
      <p:sp>
        <p:nvSpPr>
          <p:cNvPr id="55" name="Text 53"/>
          <p:cNvSpPr/>
          <p:nvPr/>
        </p:nvSpPr>
        <p:spPr>
          <a:xfrm>
            <a:off x="762000" y="9891713"/>
            <a:ext cx="1643211" cy="2190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0000"/>
              </a:lnSpc>
              <a:buNone/>
            </a:pPr>
            <a:r>
              <a:rPr lang="en-US" sz="1050" spc="38" kern="0" dirty="0">
                <a:solidFill>
                  <a:srgbClr val="6B72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삼성전자 </a:t>
            </a:r>
            <a:pPr algn="l" indent="0" marL="0">
              <a:lnSpc>
                <a:spcPct val="140000"/>
              </a:lnSpc>
              <a:buNone/>
            </a:pPr>
            <a:r>
              <a:rPr lang="en-US" sz="1050" b="1" spc="38" kern="0" dirty="0">
                <a:solidFill>
                  <a:srgbClr val="1428A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| </a:t>
            </a:r>
            <a:pPr algn="l" indent="0" marL="0">
              <a:lnSpc>
                <a:spcPct val="140000"/>
              </a:lnSpc>
              <a:buNone/>
            </a:pPr>
            <a:r>
              <a:rPr lang="en-US" sz="1050" spc="38" kern="0" dirty="0">
                <a:solidFill>
                  <a:srgbClr val="6B72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STEP 3 · 정당화</a:t>
            </a:r>
            <a:endParaRPr lang="en-US" sz="1050" dirty="0"/>
          </a:p>
        </p:txBody>
      </p:sp>
      <p:sp>
        <p:nvSpPr>
          <p:cNvPr id="56" name="Text 54"/>
          <p:cNvSpPr/>
          <p:nvPr/>
        </p:nvSpPr>
        <p:spPr>
          <a:xfrm>
            <a:off x="17023705" y="9891713"/>
            <a:ext cx="578495" cy="2190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0000"/>
              </a:lnSpc>
              <a:buNone/>
            </a:pPr>
            <a:r>
              <a:rPr lang="en-US" sz="1050" spc="38" kern="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09 / 26</a:t>
            </a:r>
            <a:endParaRPr lang="en-US" sz="10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62000" y="533400"/>
            <a:ext cx="17266920" cy="2762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algn="l" indent="0" marL="0">
              <a:lnSpc>
                <a:spcPct val="140000"/>
              </a:lnSpc>
              <a:buNone/>
            </a:pPr>
            <a:r>
              <a:rPr lang="en-US" sz="1350" spc="150" kern="0" dirty="0">
                <a:solidFill>
                  <a:srgbClr val="1428A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STEP 4 · 방법론 워크플로우</a:t>
            </a:r>
            <a:endParaRPr lang="en-US" sz="1350" dirty="0"/>
          </a:p>
        </p:txBody>
      </p:sp>
      <p:sp>
        <p:nvSpPr>
          <p:cNvPr id="3" name="Text 1"/>
          <p:cNvSpPr/>
          <p:nvPr/>
        </p:nvSpPr>
        <p:spPr>
          <a:xfrm>
            <a:off x="762000" y="885825"/>
            <a:ext cx="17266920" cy="5619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3300" b="1" spc="-37" kern="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시나리오 플래닝은 8단계 프로세스 — 우리도 같은 길을 따라갔다</a:t>
            </a:r>
            <a:endParaRPr lang="en-US" sz="3300" dirty="0"/>
          </a:p>
        </p:txBody>
      </p:sp>
      <p:sp>
        <p:nvSpPr>
          <p:cNvPr id="4" name="Text 2"/>
          <p:cNvSpPr/>
          <p:nvPr/>
        </p:nvSpPr>
        <p:spPr>
          <a:xfrm>
            <a:off x="762000" y="1524000"/>
            <a:ext cx="14716125" cy="3524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50000"/>
              </a:lnSpc>
              <a:buNone/>
            </a:pPr>
            <a:r>
              <a:rPr lang="en-US" sz="1650" dirty="0">
                <a:solidFill>
                  <a:srgbClr val="6B72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각 단계의 산출물 명시 · 프로젝트 기간 2026년 4월 — 5월 (6주)</a:t>
            </a:r>
            <a:endParaRPr lang="en-US" sz="1650" dirty="0"/>
          </a:p>
        </p:txBody>
      </p:sp>
      <p:sp>
        <p:nvSpPr>
          <p:cNvPr id="5" name="Shape 3"/>
          <p:cNvSpPr/>
          <p:nvPr/>
        </p:nvSpPr>
        <p:spPr>
          <a:xfrm>
            <a:off x="762000" y="2514600"/>
            <a:ext cx="4076700" cy="1647825"/>
          </a:xfrm>
          <a:prstGeom prst="rect">
            <a:avLst/>
          </a:prstGeom>
          <a:solidFill>
            <a:srgbClr val="FFFFFF"/>
          </a:solidFill>
          <a:ln w="9525">
            <a:solidFill>
              <a:srgbClr val="D1D5DB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942975" y="2714625"/>
            <a:ext cx="3826193" cy="2190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0000"/>
              </a:lnSpc>
              <a:buNone/>
            </a:pPr>
            <a:r>
              <a:rPr lang="en-US" sz="1050" b="1" spc="150" kern="0" dirty="0">
                <a:solidFill>
                  <a:srgbClr val="1428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01</a:t>
            </a:r>
            <a:endParaRPr lang="en-US" sz="1050" dirty="0"/>
          </a:p>
        </p:txBody>
      </p:sp>
      <p:sp>
        <p:nvSpPr>
          <p:cNvPr id="7" name="Text 5"/>
          <p:cNvSpPr/>
          <p:nvPr/>
        </p:nvSpPr>
        <p:spPr>
          <a:xfrm>
            <a:off x="942975" y="2971800"/>
            <a:ext cx="3826193" cy="4572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275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Focal Issue 정의</a:t>
            </a:r>
            <a:endParaRPr lang="en-US" sz="1275" dirty="0"/>
          </a:p>
        </p:txBody>
      </p:sp>
      <p:sp>
        <p:nvSpPr>
          <p:cNvPr id="8" name="Text 6"/>
          <p:cNvSpPr/>
          <p:nvPr/>
        </p:nvSpPr>
        <p:spPr>
          <a:xfrm>
            <a:off x="942975" y="3467100"/>
            <a:ext cx="3826193" cy="2190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50000"/>
              </a:lnSpc>
              <a:buNone/>
            </a:pPr>
            <a:r>
              <a:rPr lang="en-US" sz="975" dirty="0">
                <a:solidFill>
                  <a:srgbClr val="6B72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"어떤 결정을 내려야 하는가"</a:t>
            </a:r>
            <a:endParaRPr lang="en-US" sz="975" dirty="0"/>
          </a:p>
        </p:txBody>
      </p:sp>
      <p:sp>
        <p:nvSpPr>
          <p:cNvPr id="9" name="Shape 7"/>
          <p:cNvSpPr/>
          <p:nvPr/>
        </p:nvSpPr>
        <p:spPr>
          <a:xfrm>
            <a:off x="942975" y="3724275"/>
            <a:ext cx="3714750" cy="9525"/>
          </a:xfrm>
          <a:prstGeom prst="rect">
            <a:avLst/>
          </a:prstGeom>
          <a:solidFill>
            <a:srgbClr val="D1D5DB"/>
          </a:solidFill>
          <a:ln/>
        </p:spPr>
      </p:sp>
      <p:sp>
        <p:nvSpPr>
          <p:cNvPr id="10" name="Text 8"/>
          <p:cNvSpPr/>
          <p:nvPr/>
        </p:nvSpPr>
        <p:spPr>
          <a:xfrm>
            <a:off x="942975" y="3810000"/>
            <a:ext cx="3826193" cy="1905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0000"/>
              </a:lnSpc>
              <a:buNone/>
            </a:pPr>
            <a:r>
              <a:rPr lang="en-US" sz="900" b="1" dirty="0">
                <a:solidFill>
                  <a:srgbClr val="1428A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 1개 핵심 질문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4991100" y="2514600"/>
            <a:ext cx="4076700" cy="1647825"/>
          </a:xfrm>
          <a:prstGeom prst="rect">
            <a:avLst/>
          </a:prstGeom>
          <a:solidFill>
            <a:srgbClr val="FFFFFF"/>
          </a:solidFill>
          <a:ln w="9525">
            <a:solidFill>
              <a:srgbClr val="D1D5DB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5172075" y="2714625"/>
            <a:ext cx="3826193" cy="2190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0000"/>
              </a:lnSpc>
              <a:buNone/>
            </a:pPr>
            <a:r>
              <a:rPr lang="en-US" sz="1050" b="1" spc="150" kern="0" dirty="0">
                <a:solidFill>
                  <a:srgbClr val="1428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02</a:t>
            </a: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5172075" y="2971800"/>
            <a:ext cx="3826193" cy="4572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275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STEEP 요인 도출</a:t>
            </a:r>
            <a:endParaRPr lang="en-US" sz="1275" dirty="0"/>
          </a:p>
        </p:txBody>
      </p:sp>
      <p:sp>
        <p:nvSpPr>
          <p:cNvPr id="14" name="Text 12"/>
          <p:cNvSpPr/>
          <p:nvPr/>
        </p:nvSpPr>
        <p:spPr>
          <a:xfrm>
            <a:off x="5172075" y="3467100"/>
            <a:ext cx="3826193" cy="2190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50000"/>
              </a:lnSpc>
              <a:buNone/>
            </a:pPr>
            <a:r>
              <a:rPr lang="en-US" sz="975" dirty="0">
                <a:solidFill>
                  <a:srgbClr val="6B72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Social·Tech·Economy·Env·Political</a:t>
            </a:r>
            <a:endParaRPr lang="en-US" sz="975" dirty="0"/>
          </a:p>
        </p:txBody>
      </p:sp>
      <p:sp>
        <p:nvSpPr>
          <p:cNvPr id="15" name="Shape 13"/>
          <p:cNvSpPr/>
          <p:nvPr/>
        </p:nvSpPr>
        <p:spPr>
          <a:xfrm>
            <a:off x="5172075" y="3724275"/>
            <a:ext cx="3714750" cy="9525"/>
          </a:xfrm>
          <a:prstGeom prst="rect">
            <a:avLst/>
          </a:prstGeom>
          <a:solidFill>
            <a:srgbClr val="D1D5DB"/>
          </a:solidFill>
          <a:ln/>
        </p:spPr>
      </p:sp>
      <p:sp>
        <p:nvSpPr>
          <p:cNvPr id="16" name="Text 14"/>
          <p:cNvSpPr/>
          <p:nvPr/>
        </p:nvSpPr>
        <p:spPr>
          <a:xfrm>
            <a:off x="5172075" y="3810000"/>
            <a:ext cx="3826193" cy="1905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0000"/>
              </a:lnSpc>
              <a:buNone/>
            </a:pPr>
            <a:r>
              <a:rPr lang="en-US" sz="900" b="1" dirty="0">
                <a:solidFill>
                  <a:srgbClr val="1428A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 50개 환경 요인</a:t>
            </a:r>
            <a:endParaRPr lang="en-US" sz="900" dirty="0"/>
          </a:p>
        </p:txBody>
      </p:sp>
      <p:sp>
        <p:nvSpPr>
          <p:cNvPr id="17" name="Shape 15"/>
          <p:cNvSpPr/>
          <p:nvPr/>
        </p:nvSpPr>
        <p:spPr>
          <a:xfrm>
            <a:off x="9220200" y="2514600"/>
            <a:ext cx="4076700" cy="1647825"/>
          </a:xfrm>
          <a:prstGeom prst="rect">
            <a:avLst/>
          </a:prstGeom>
          <a:solidFill>
            <a:srgbClr val="FFFFFF"/>
          </a:solidFill>
          <a:ln w="9525">
            <a:solidFill>
              <a:srgbClr val="D1D5DB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9401175" y="2714625"/>
            <a:ext cx="3826193" cy="2190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0000"/>
              </a:lnSpc>
              <a:buNone/>
            </a:pPr>
            <a:r>
              <a:rPr lang="en-US" sz="1050" b="1" spc="150" kern="0" dirty="0">
                <a:solidFill>
                  <a:srgbClr val="1428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03</a:t>
            </a:r>
            <a:endParaRPr lang="en-US" sz="1050" dirty="0"/>
          </a:p>
        </p:txBody>
      </p:sp>
      <p:sp>
        <p:nvSpPr>
          <p:cNvPr id="19" name="Text 17"/>
          <p:cNvSpPr/>
          <p:nvPr/>
        </p:nvSpPr>
        <p:spPr>
          <a:xfrm>
            <a:off x="9401175" y="2971800"/>
            <a:ext cx="3826193" cy="4572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275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Impact × Uncertainty</a:t>
            </a:r>
            <a:endParaRPr lang="en-US" sz="1275" dirty="0"/>
          </a:p>
        </p:txBody>
      </p:sp>
      <p:sp>
        <p:nvSpPr>
          <p:cNvPr id="20" name="Text 18"/>
          <p:cNvSpPr/>
          <p:nvPr/>
        </p:nvSpPr>
        <p:spPr>
          <a:xfrm>
            <a:off x="9401175" y="3467100"/>
            <a:ext cx="3826193" cy="2190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50000"/>
              </a:lnSpc>
              <a:buNone/>
            </a:pPr>
            <a:r>
              <a:rPr lang="en-US" sz="975" dirty="0">
                <a:solidFill>
                  <a:srgbClr val="6B72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각 요인 1–5점 평가</a:t>
            </a:r>
            <a:endParaRPr lang="en-US" sz="975" dirty="0"/>
          </a:p>
        </p:txBody>
      </p:sp>
      <p:sp>
        <p:nvSpPr>
          <p:cNvPr id="21" name="Shape 19"/>
          <p:cNvSpPr/>
          <p:nvPr/>
        </p:nvSpPr>
        <p:spPr>
          <a:xfrm>
            <a:off x="9401175" y="3724275"/>
            <a:ext cx="3714750" cy="9525"/>
          </a:xfrm>
          <a:prstGeom prst="rect">
            <a:avLst/>
          </a:prstGeom>
          <a:solidFill>
            <a:srgbClr val="D1D5DB"/>
          </a:solidFill>
          <a:ln/>
        </p:spPr>
      </p:sp>
      <p:sp>
        <p:nvSpPr>
          <p:cNvPr id="22" name="Text 20"/>
          <p:cNvSpPr/>
          <p:nvPr/>
        </p:nvSpPr>
        <p:spPr>
          <a:xfrm>
            <a:off x="9401175" y="3810000"/>
            <a:ext cx="3826193" cy="1905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0000"/>
              </a:lnSpc>
              <a:buNone/>
            </a:pPr>
            <a:r>
              <a:rPr lang="en-US" sz="900" b="1" dirty="0">
                <a:solidFill>
                  <a:srgbClr val="1428A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 핵심 불확실성 20개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13449300" y="2514600"/>
            <a:ext cx="4076700" cy="1647825"/>
          </a:xfrm>
          <a:prstGeom prst="rect">
            <a:avLst/>
          </a:prstGeom>
          <a:solidFill>
            <a:srgbClr val="FFFFFF"/>
          </a:solidFill>
          <a:ln w="9525">
            <a:solidFill>
              <a:srgbClr val="D1D5DB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13630275" y="2714625"/>
            <a:ext cx="3826193" cy="2190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0000"/>
              </a:lnSpc>
              <a:buNone/>
            </a:pPr>
            <a:r>
              <a:rPr lang="en-US" sz="1050" b="1" spc="150" kern="0" dirty="0">
                <a:solidFill>
                  <a:srgbClr val="1428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04</a:t>
            </a:r>
            <a:endParaRPr lang="en-US" sz="1050" dirty="0"/>
          </a:p>
        </p:txBody>
      </p:sp>
      <p:sp>
        <p:nvSpPr>
          <p:cNvPr id="25" name="Text 23"/>
          <p:cNvSpPr/>
          <p:nvPr/>
        </p:nvSpPr>
        <p:spPr>
          <a:xfrm>
            <a:off x="13630275" y="2971800"/>
            <a:ext cx="3826193" cy="4572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275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Driving Forces 선정</a:t>
            </a:r>
            <a:endParaRPr lang="en-US" sz="1275" dirty="0"/>
          </a:p>
        </p:txBody>
      </p:sp>
      <p:sp>
        <p:nvSpPr>
          <p:cNvPr id="26" name="Text 24"/>
          <p:cNvSpPr/>
          <p:nvPr/>
        </p:nvSpPr>
        <p:spPr>
          <a:xfrm>
            <a:off x="13630275" y="3467100"/>
            <a:ext cx="3826193" cy="2190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50000"/>
              </a:lnSpc>
              <a:buNone/>
            </a:pPr>
            <a:r>
              <a:rPr lang="en-US" sz="975" dirty="0">
                <a:solidFill>
                  <a:srgbClr val="6B72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I×U 최상 + 독립성 충족</a:t>
            </a:r>
            <a:endParaRPr lang="en-US" sz="975" dirty="0"/>
          </a:p>
        </p:txBody>
      </p:sp>
      <p:sp>
        <p:nvSpPr>
          <p:cNvPr id="27" name="Shape 25"/>
          <p:cNvSpPr/>
          <p:nvPr/>
        </p:nvSpPr>
        <p:spPr>
          <a:xfrm>
            <a:off x="13630275" y="3724275"/>
            <a:ext cx="3714750" cy="9525"/>
          </a:xfrm>
          <a:prstGeom prst="rect">
            <a:avLst/>
          </a:prstGeom>
          <a:solidFill>
            <a:srgbClr val="D1D5DB"/>
          </a:solidFill>
          <a:ln/>
        </p:spPr>
      </p:sp>
      <p:sp>
        <p:nvSpPr>
          <p:cNvPr id="28" name="Text 26"/>
          <p:cNvSpPr/>
          <p:nvPr/>
        </p:nvSpPr>
        <p:spPr>
          <a:xfrm>
            <a:off x="13630275" y="3810000"/>
            <a:ext cx="3826193" cy="1905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0000"/>
              </a:lnSpc>
              <a:buNone/>
            </a:pPr>
            <a:r>
              <a:rPr lang="en-US" sz="900" b="1" dirty="0">
                <a:solidFill>
                  <a:srgbClr val="1428A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 2개 축</a:t>
            </a:r>
            <a:endParaRPr lang="en-US" sz="900" dirty="0"/>
          </a:p>
        </p:txBody>
      </p:sp>
      <p:sp>
        <p:nvSpPr>
          <p:cNvPr id="29" name="Shape 27"/>
          <p:cNvSpPr/>
          <p:nvPr/>
        </p:nvSpPr>
        <p:spPr>
          <a:xfrm>
            <a:off x="762000" y="4429125"/>
            <a:ext cx="4076700" cy="1647825"/>
          </a:xfrm>
          <a:prstGeom prst="rect">
            <a:avLst/>
          </a:prstGeom>
          <a:solidFill>
            <a:srgbClr val="FFFFFF"/>
          </a:solidFill>
          <a:ln w="9525">
            <a:solidFill>
              <a:srgbClr val="D1D5DB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942975" y="4629150"/>
            <a:ext cx="3826193" cy="2190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0000"/>
              </a:lnSpc>
              <a:buNone/>
            </a:pPr>
            <a:r>
              <a:rPr lang="en-US" sz="1050" b="1" spc="150" kern="0" dirty="0">
                <a:solidFill>
                  <a:srgbClr val="1428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05</a:t>
            </a:r>
            <a:endParaRPr lang="en-US" sz="1050" dirty="0"/>
          </a:p>
        </p:txBody>
      </p:sp>
      <p:sp>
        <p:nvSpPr>
          <p:cNvPr id="31" name="Text 29"/>
          <p:cNvSpPr/>
          <p:nvPr/>
        </p:nvSpPr>
        <p:spPr>
          <a:xfrm>
            <a:off x="942975" y="4886325"/>
            <a:ext cx="3826193" cy="4572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275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시나리오 매트릭스</a:t>
            </a:r>
            <a:endParaRPr lang="en-US" sz="1275" dirty="0"/>
          </a:p>
        </p:txBody>
      </p:sp>
      <p:sp>
        <p:nvSpPr>
          <p:cNvPr id="32" name="Text 30"/>
          <p:cNvSpPr/>
          <p:nvPr/>
        </p:nvSpPr>
        <p:spPr>
          <a:xfrm>
            <a:off x="942975" y="5381625"/>
            <a:ext cx="3826193" cy="2190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50000"/>
              </a:lnSpc>
              <a:buNone/>
            </a:pPr>
            <a:r>
              <a:rPr lang="en-US" sz="975" dirty="0">
                <a:solidFill>
                  <a:srgbClr val="6B72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2×2 + 와일드카드</a:t>
            </a:r>
            <a:endParaRPr lang="en-US" sz="975" dirty="0"/>
          </a:p>
        </p:txBody>
      </p:sp>
      <p:sp>
        <p:nvSpPr>
          <p:cNvPr id="33" name="Shape 31"/>
          <p:cNvSpPr/>
          <p:nvPr/>
        </p:nvSpPr>
        <p:spPr>
          <a:xfrm>
            <a:off x="942975" y="5638800"/>
            <a:ext cx="3714750" cy="9525"/>
          </a:xfrm>
          <a:prstGeom prst="rect">
            <a:avLst/>
          </a:prstGeom>
          <a:solidFill>
            <a:srgbClr val="D1D5DB"/>
          </a:solidFill>
          <a:ln/>
        </p:spPr>
      </p:sp>
      <p:sp>
        <p:nvSpPr>
          <p:cNvPr id="34" name="Text 32"/>
          <p:cNvSpPr/>
          <p:nvPr/>
        </p:nvSpPr>
        <p:spPr>
          <a:xfrm>
            <a:off x="942975" y="5724525"/>
            <a:ext cx="3826193" cy="1905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0000"/>
              </a:lnSpc>
              <a:buNone/>
            </a:pPr>
            <a:r>
              <a:rPr lang="en-US" sz="900" b="1" dirty="0">
                <a:solidFill>
                  <a:srgbClr val="1428A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 5개 대안적 미래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4991100" y="4429125"/>
            <a:ext cx="4076700" cy="1647825"/>
          </a:xfrm>
          <a:prstGeom prst="rect">
            <a:avLst/>
          </a:prstGeom>
          <a:solidFill>
            <a:srgbClr val="FFFFFF"/>
          </a:solidFill>
          <a:ln w="9525">
            <a:solidFill>
              <a:srgbClr val="D1D5DB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5172075" y="4629150"/>
            <a:ext cx="3826193" cy="2190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0000"/>
              </a:lnSpc>
              <a:buNone/>
            </a:pPr>
            <a:r>
              <a:rPr lang="en-US" sz="1050" b="1" spc="150" kern="0" dirty="0">
                <a:solidFill>
                  <a:srgbClr val="1428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06</a:t>
            </a:r>
            <a:endParaRPr lang="en-US" sz="1050" dirty="0"/>
          </a:p>
        </p:txBody>
      </p:sp>
      <p:sp>
        <p:nvSpPr>
          <p:cNvPr id="37" name="Text 35"/>
          <p:cNvSpPr/>
          <p:nvPr/>
        </p:nvSpPr>
        <p:spPr>
          <a:xfrm>
            <a:off x="5172075" y="4886325"/>
            <a:ext cx="3826193" cy="4572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275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Main Bet 선정</a:t>
            </a:r>
            <a:endParaRPr lang="en-US" sz="1275" dirty="0"/>
          </a:p>
        </p:txBody>
      </p:sp>
      <p:sp>
        <p:nvSpPr>
          <p:cNvPr id="38" name="Text 36"/>
          <p:cNvSpPr/>
          <p:nvPr/>
        </p:nvSpPr>
        <p:spPr>
          <a:xfrm>
            <a:off x="5172075" y="5381625"/>
            <a:ext cx="3826193" cy="2190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50000"/>
              </a:lnSpc>
              <a:buNone/>
            </a:pPr>
            <a:r>
              <a:rPr lang="en-US" sz="975" dirty="0">
                <a:solidFill>
                  <a:srgbClr val="6B72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확률·영향력 종합 1개 선택</a:t>
            </a:r>
            <a:endParaRPr lang="en-US" sz="975" dirty="0"/>
          </a:p>
        </p:txBody>
      </p:sp>
      <p:sp>
        <p:nvSpPr>
          <p:cNvPr id="39" name="Shape 37"/>
          <p:cNvSpPr/>
          <p:nvPr/>
        </p:nvSpPr>
        <p:spPr>
          <a:xfrm>
            <a:off x="5172075" y="5638800"/>
            <a:ext cx="3714750" cy="9525"/>
          </a:xfrm>
          <a:prstGeom prst="rect">
            <a:avLst/>
          </a:prstGeom>
          <a:solidFill>
            <a:srgbClr val="D1D5DB"/>
          </a:solidFill>
          <a:ln/>
        </p:spPr>
      </p:sp>
      <p:sp>
        <p:nvSpPr>
          <p:cNvPr id="40" name="Text 38"/>
          <p:cNvSpPr/>
          <p:nvPr/>
        </p:nvSpPr>
        <p:spPr>
          <a:xfrm>
            <a:off x="5172075" y="5724525"/>
            <a:ext cx="3826193" cy="1905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0000"/>
              </a:lnSpc>
              <a:buNone/>
            </a:pPr>
            <a:r>
              <a:rPr lang="en-US" sz="900" b="1" dirty="0">
                <a:solidFill>
                  <a:srgbClr val="1428A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 핵심 전략 시나리오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9220200" y="4429125"/>
            <a:ext cx="4076700" cy="1647825"/>
          </a:xfrm>
          <a:prstGeom prst="rect">
            <a:avLst/>
          </a:prstGeom>
          <a:solidFill>
            <a:srgbClr val="FFFFFF"/>
          </a:solidFill>
          <a:ln w="9525">
            <a:solidFill>
              <a:srgbClr val="D1D5DB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9401175" y="4629150"/>
            <a:ext cx="3826193" cy="2190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0000"/>
              </a:lnSpc>
              <a:buNone/>
            </a:pPr>
            <a:r>
              <a:rPr lang="en-US" sz="1050" b="1" spc="150" kern="0" dirty="0">
                <a:solidFill>
                  <a:srgbClr val="1428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07</a:t>
            </a:r>
            <a:endParaRPr lang="en-US" sz="1050" dirty="0"/>
          </a:p>
        </p:txBody>
      </p:sp>
      <p:sp>
        <p:nvSpPr>
          <p:cNvPr id="43" name="Text 41"/>
          <p:cNvSpPr/>
          <p:nvPr/>
        </p:nvSpPr>
        <p:spPr>
          <a:xfrm>
            <a:off x="9401175" y="4886325"/>
            <a:ext cx="3826193" cy="4572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275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Side Bets 헤징</a:t>
            </a:r>
            <a:endParaRPr lang="en-US" sz="1275" dirty="0"/>
          </a:p>
        </p:txBody>
      </p:sp>
      <p:sp>
        <p:nvSpPr>
          <p:cNvPr id="44" name="Text 42"/>
          <p:cNvSpPr/>
          <p:nvPr/>
        </p:nvSpPr>
        <p:spPr>
          <a:xfrm>
            <a:off x="9401175" y="5381625"/>
            <a:ext cx="3826193" cy="2190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50000"/>
              </a:lnSpc>
              <a:buNone/>
            </a:pPr>
            <a:r>
              <a:rPr lang="en-US" sz="975" dirty="0">
                <a:solidFill>
                  <a:srgbClr val="6B72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나머지 4개 시나리오 대비</a:t>
            </a:r>
            <a:endParaRPr lang="en-US" sz="975" dirty="0"/>
          </a:p>
        </p:txBody>
      </p:sp>
      <p:sp>
        <p:nvSpPr>
          <p:cNvPr id="45" name="Shape 43"/>
          <p:cNvSpPr/>
          <p:nvPr/>
        </p:nvSpPr>
        <p:spPr>
          <a:xfrm>
            <a:off x="9401175" y="5638800"/>
            <a:ext cx="3714750" cy="9525"/>
          </a:xfrm>
          <a:prstGeom prst="rect">
            <a:avLst/>
          </a:prstGeom>
          <a:solidFill>
            <a:srgbClr val="D1D5DB"/>
          </a:solidFill>
          <a:ln/>
        </p:spPr>
      </p:sp>
      <p:sp>
        <p:nvSpPr>
          <p:cNvPr id="46" name="Text 44"/>
          <p:cNvSpPr/>
          <p:nvPr/>
        </p:nvSpPr>
        <p:spPr>
          <a:xfrm>
            <a:off x="9401175" y="5724525"/>
            <a:ext cx="3826193" cy="1905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0000"/>
              </a:lnSpc>
              <a:buNone/>
            </a:pPr>
            <a:r>
              <a:rPr lang="en-US" sz="900" b="1" dirty="0">
                <a:solidFill>
                  <a:srgbClr val="1428A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 4개 헤징 전략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13449300" y="4429125"/>
            <a:ext cx="4076700" cy="1647825"/>
          </a:xfrm>
          <a:prstGeom prst="rect">
            <a:avLst/>
          </a:prstGeom>
          <a:solidFill>
            <a:srgbClr val="FFFFFF"/>
          </a:solidFill>
          <a:ln w="9525">
            <a:solidFill>
              <a:srgbClr val="D1D5DB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13630275" y="4629150"/>
            <a:ext cx="3826193" cy="2190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0000"/>
              </a:lnSpc>
              <a:buNone/>
            </a:pPr>
            <a:r>
              <a:rPr lang="en-US" sz="1050" b="1" spc="150" kern="0" dirty="0">
                <a:solidFill>
                  <a:srgbClr val="1428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08</a:t>
            </a:r>
            <a:endParaRPr lang="en-US" sz="1050" dirty="0"/>
          </a:p>
        </p:txBody>
      </p:sp>
      <p:sp>
        <p:nvSpPr>
          <p:cNvPr id="49" name="Text 47"/>
          <p:cNvSpPr/>
          <p:nvPr/>
        </p:nvSpPr>
        <p:spPr>
          <a:xfrm>
            <a:off x="13630275" y="4886325"/>
            <a:ext cx="3826193" cy="4572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275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Robust 전략 + EWI</a:t>
            </a:r>
            <a:endParaRPr lang="en-US" sz="1275" dirty="0"/>
          </a:p>
        </p:txBody>
      </p:sp>
      <p:sp>
        <p:nvSpPr>
          <p:cNvPr id="50" name="Text 48"/>
          <p:cNvSpPr/>
          <p:nvPr/>
        </p:nvSpPr>
        <p:spPr>
          <a:xfrm>
            <a:off x="13630275" y="5381625"/>
            <a:ext cx="3826193" cy="2190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50000"/>
              </a:lnSpc>
              <a:buNone/>
            </a:pPr>
            <a:r>
              <a:rPr lang="en-US" sz="975" dirty="0">
                <a:solidFill>
                  <a:srgbClr val="6B72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시나리오 무관 가치 전략</a:t>
            </a:r>
            <a:endParaRPr lang="en-US" sz="975" dirty="0"/>
          </a:p>
        </p:txBody>
      </p:sp>
      <p:sp>
        <p:nvSpPr>
          <p:cNvPr id="51" name="Shape 49"/>
          <p:cNvSpPr/>
          <p:nvPr/>
        </p:nvSpPr>
        <p:spPr>
          <a:xfrm>
            <a:off x="13630275" y="5638800"/>
            <a:ext cx="3714750" cy="9525"/>
          </a:xfrm>
          <a:prstGeom prst="rect">
            <a:avLst/>
          </a:prstGeom>
          <a:solidFill>
            <a:srgbClr val="D1D5DB"/>
          </a:solidFill>
          <a:ln/>
        </p:spPr>
      </p:sp>
      <p:sp>
        <p:nvSpPr>
          <p:cNvPr id="52" name="Text 50"/>
          <p:cNvSpPr/>
          <p:nvPr/>
        </p:nvSpPr>
        <p:spPr>
          <a:xfrm>
            <a:off x="13630275" y="5724525"/>
            <a:ext cx="3826193" cy="1905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0000"/>
              </a:lnSpc>
              <a:buNone/>
            </a:pPr>
            <a:r>
              <a:rPr lang="en-US" sz="900" b="1" dirty="0">
                <a:solidFill>
                  <a:srgbClr val="1428A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 7개 RS + 대시보드</a:t>
            </a:r>
            <a:endParaRPr lang="en-US" sz="900" dirty="0"/>
          </a:p>
        </p:txBody>
      </p:sp>
      <p:sp>
        <p:nvSpPr>
          <p:cNvPr id="53" name="Shape 51"/>
          <p:cNvSpPr/>
          <p:nvPr/>
        </p:nvSpPr>
        <p:spPr>
          <a:xfrm>
            <a:off x="762000" y="6610350"/>
            <a:ext cx="16764000" cy="1000125"/>
          </a:xfrm>
          <a:prstGeom prst="rect">
            <a:avLst/>
          </a:prstGeom>
          <a:solidFill>
            <a:srgbClr val="1428A0"/>
          </a:solidFill>
          <a:ln/>
        </p:spPr>
      </p:sp>
      <p:sp>
        <p:nvSpPr>
          <p:cNvPr id="54" name="Text 52"/>
          <p:cNvSpPr/>
          <p:nvPr/>
        </p:nvSpPr>
        <p:spPr>
          <a:xfrm>
            <a:off x="1066800" y="6862763"/>
            <a:ext cx="2575620" cy="2095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0000"/>
              </a:lnSpc>
              <a:buNone/>
            </a:pPr>
            <a:r>
              <a:rPr lang="en-US" sz="975" b="1" spc="150" kern="0" dirty="0">
                <a:solidFill>
                  <a:srgbClr val="FFFFFF">
                    <a:alpha val="80000"/>
                  </a:srgbClr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PROJECT METRICS</a:t>
            </a:r>
            <a:endParaRPr lang="en-US" sz="975" dirty="0"/>
          </a:p>
        </p:txBody>
      </p:sp>
      <p:sp>
        <p:nvSpPr>
          <p:cNvPr id="55" name="Text 53"/>
          <p:cNvSpPr/>
          <p:nvPr/>
        </p:nvSpPr>
        <p:spPr>
          <a:xfrm>
            <a:off x="1066800" y="7072313"/>
            <a:ext cx="2575620" cy="3238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0000"/>
              </a:lnSpc>
              <a:buNone/>
            </a:pPr>
            <a:r>
              <a:rPr lang="en-US" sz="16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2026년 4월 ~ 5월 · 6주 진행</a:t>
            </a:r>
            <a:endParaRPr lang="en-US" sz="1650" dirty="0"/>
          </a:p>
        </p:txBody>
      </p:sp>
      <p:sp>
        <p:nvSpPr>
          <p:cNvPr id="56" name="Text 54"/>
          <p:cNvSpPr/>
          <p:nvPr/>
        </p:nvSpPr>
        <p:spPr>
          <a:xfrm>
            <a:off x="13665845" y="6838950"/>
            <a:ext cx="711994" cy="2095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0000"/>
              </a:lnSpc>
              <a:buNone/>
            </a:pPr>
            <a:r>
              <a:rPr lang="en-US" sz="975" dirty="0">
                <a:solidFill>
                  <a:srgbClr val="FFFFFF">
                    <a:alpha val="80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STEEP 요인</a:t>
            </a:r>
            <a:endParaRPr lang="en-US" sz="975" dirty="0"/>
          </a:p>
        </p:txBody>
      </p:sp>
      <p:sp>
        <p:nvSpPr>
          <p:cNvPr id="57" name="Text 55"/>
          <p:cNvSpPr/>
          <p:nvPr/>
        </p:nvSpPr>
        <p:spPr>
          <a:xfrm>
            <a:off x="13665845" y="7010400"/>
            <a:ext cx="711994" cy="4095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0000"/>
              </a:lnSpc>
              <a:buNone/>
            </a:pPr>
            <a:r>
              <a:rPr lang="en-US" sz="2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50</a:t>
            </a:r>
            <a:endParaRPr lang="en-US" sz="2100" dirty="0"/>
          </a:p>
        </p:txBody>
      </p:sp>
      <p:sp>
        <p:nvSpPr>
          <p:cNvPr id="58" name="Text 56"/>
          <p:cNvSpPr/>
          <p:nvPr/>
        </p:nvSpPr>
        <p:spPr>
          <a:xfrm>
            <a:off x="14758839" y="6838950"/>
            <a:ext cx="504676" cy="2095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0000"/>
              </a:lnSpc>
              <a:buNone/>
            </a:pPr>
            <a:r>
              <a:rPr lang="en-US" sz="975" dirty="0">
                <a:solidFill>
                  <a:srgbClr val="FFFFFF">
                    <a:alpha val="80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시나리오</a:t>
            </a:r>
            <a:endParaRPr lang="en-US" sz="975" dirty="0"/>
          </a:p>
        </p:txBody>
      </p:sp>
      <p:sp>
        <p:nvSpPr>
          <p:cNvPr id="59" name="Text 57"/>
          <p:cNvSpPr/>
          <p:nvPr/>
        </p:nvSpPr>
        <p:spPr>
          <a:xfrm>
            <a:off x="14758839" y="7010400"/>
            <a:ext cx="504676" cy="4095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0000"/>
              </a:lnSpc>
              <a:buNone/>
            </a:pPr>
            <a:r>
              <a:rPr lang="en-US" sz="2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2100" dirty="0"/>
          </a:p>
        </p:txBody>
      </p:sp>
      <p:sp>
        <p:nvSpPr>
          <p:cNvPr id="60" name="Text 58"/>
          <p:cNvSpPr/>
          <p:nvPr/>
        </p:nvSpPr>
        <p:spPr>
          <a:xfrm>
            <a:off x="15644515" y="6838950"/>
            <a:ext cx="732383" cy="2095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0000"/>
              </a:lnSpc>
              <a:buNone/>
            </a:pPr>
            <a:r>
              <a:rPr lang="en-US" sz="975" dirty="0">
                <a:solidFill>
                  <a:srgbClr val="FFFFFF">
                    <a:alpha val="80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Robust 전략</a:t>
            </a:r>
            <a:endParaRPr lang="en-US" sz="975" dirty="0"/>
          </a:p>
        </p:txBody>
      </p:sp>
      <p:sp>
        <p:nvSpPr>
          <p:cNvPr id="61" name="Text 59"/>
          <p:cNvSpPr/>
          <p:nvPr/>
        </p:nvSpPr>
        <p:spPr>
          <a:xfrm>
            <a:off x="15644515" y="7010400"/>
            <a:ext cx="732383" cy="4095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0000"/>
              </a:lnSpc>
              <a:buNone/>
            </a:pPr>
            <a:r>
              <a:rPr lang="en-US" sz="2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2100" dirty="0"/>
          </a:p>
        </p:txBody>
      </p:sp>
      <p:sp>
        <p:nvSpPr>
          <p:cNvPr id="62" name="Text 60"/>
          <p:cNvSpPr/>
          <p:nvPr/>
        </p:nvSpPr>
        <p:spPr>
          <a:xfrm>
            <a:off x="16757898" y="6838950"/>
            <a:ext cx="539502" cy="2095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0000"/>
              </a:lnSpc>
              <a:buNone/>
            </a:pPr>
            <a:r>
              <a:rPr lang="en-US" sz="975" dirty="0">
                <a:solidFill>
                  <a:srgbClr val="FFFFFF">
                    <a:alpha val="80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즉시 결정</a:t>
            </a:r>
            <a:endParaRPr lang="en-US" sz="975" dirty="0"/>
          </a:p>
        </p:txBody>
      </p:sp>
      <p:sp>
        <p:nvSpPr>
          <p:cNvPr id="63" name="Text 61"/>
          <p:cNvSpPr/>
          <p:nvPr/>
        </p:nvSpPr>
        <p:spPr>
          <a:xfrm>
            <a:off x="16757898" y="7010400"/>
            <a:ext cx="539502" cy="4095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0000"/>
              </a:lnSpc>
              <a:buNone/>
            </a:pPr>
            <a:r>
              <a:rPr lang="en-US" sz="2100" b="1" dirty="0">
                <a:solidFill>
                  <a:srgbClr val="D9770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2100" dirty="0"/>
          </a:p>
        </p:txBody>
      </p:sp>
      <p:sp>
        <p:nvSpPr>
          <p:cNvPr id="64" name="Shape 62"/>
          <p:cNvSpPr/>
          <p:nvPr/>
        </p:nvSpPr>
        <p:spPr>
          <a:xfrm>
            <a:off x="762000" y="9667875"/>
            <a:ext cx="16764000" cy="9525"/>
          </a:xfrm>
          <a:prstGeom prst="rect">
            <a:avLst/>
          </a:prstGeom>
          <a:solidFill>
            <a:srgbClr val="D1D5DB"/>
          </a:solidFill>
          <a:ln/>
        </p:spPr>
      </p:sp>
      <p:sp>
        <p:nvSpPr>
          <p:cNvPr id="65" name="Text 63"/>
          <p:cNvSpPr/>
          <p:nvPr/>
        </p:nvSpPr>
        <p:spPr>
          <a:xfrm>
            <a:off x="762000" y="9891713"/>
            <a:ext cx="1643211" cy="2190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0000"/>
              </a:lnSpc>
              <a:buNone/>
            </a:pPr>
            <a:r>
              <a:rPr lang="en-US" sz="1050" spc="38" kern="0" dirty="0">
                <a:solidFill>
                  <a:srgbClr val="6B72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삼성전자 </a:t>
            </a:r>
            <a:pPr algn="l" indent="0" marL="0">
              <a:lnSpc>
                <a:spcPct val="140000"/>
              </a:lnSpc>
              <a:buNone/>
            </a:pPr>
            <a:r>
              <a:rPr lang="en-US" sz="1050" b="1" spc="38" kern="0" dirty="0">
                <a:solidFill>
                  <a:srgbClr val="1428A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| </a:t>
            </a:r>
            <a:pPr algn="l" indent="0" marL="0">
              <a:lnSpc>
                <a:spcPct val="140000"/>
              </a:lnSpc>
              <a:buNone/>
            </a:pPr>
            <a:r>
              <a:rPr lang="en-US" sz="1050" spc="38" kern="0" dirty="0">
                <a:solidFill>
                  <a:srgbClr val="6B72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STEP 4 · 방법론</a:t>
            </a:r>
            <a:endParaRPr lang="en-US" sz="1050" dirty="0"/>
          </a:p>
        </p:txBody>
      </p:sp>
      <p:sp>
        <p:nvSpPr>
          <p:cNvPr id="66" name="Text 64"/>
          <p:cNvSpPr/>
          <p:nvPr/>
        </p:nvSpPr>
        <p:spPr>
          <a:xfrm>
            <a:off x="17023705" y="9891713"/>
            <a:ext cx="578495" cy="2190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0000"/>
              </a:lnSpc>
              <a:buNone/>
            </a:pPr>
            <a:r>
              <a:rPr lang="en-US" sz="1050" spc="38" kern="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/ 26</a:t>
            </a:r>
            <a:endParaRPr lang="en-US" sz="10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62000" y="533400"/>
            <a:ext cx="17266920" cy="2762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algn="l" indent="0" marL="0">
              <a:lnSpc>
                <a:spcPct val="140000"/>
              </a:lnSpc>
              <a:buNone/>
            </a:pPr>
            <a:r>
              <a:rPr lang="en-US" sz="1350" spc="150" kern="0" dirty="0">
                <a:solidFill>
                  <a:srgbClr val="1428A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STEP 5 · 메모리 사업 적용 — STEP 1</a:t>
            </a:r>
            <a:endParaRPr lang="en-US" sz="1350" dirty="0"/>
          </a:p>
        </p:txBody>
      </p:sp>
      <p:sp>
        <p:nvSpPr>
          <p:cNvPr id="3" name="Text 1"/>
          <p:cNvSpPr/>
          <p:nvPr/>
        </p:nvSpPr>
        <p:spPr>
          <a:xfrm>
            <a:off x="762000" y="885825"/>
            <a:ext cx="17266920" cy="5619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3300" b="1" spc="-37" kern="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모든 분석은 단 하나의 질문에 답한다</a:t>
            </a:r>
            <a:endParaRPr lang="en-US" sz="3300" dirty="0"/>
          </a:p>
        </p:txBody>
      </p:sp>
      <p:sp>
        <p:nvSpPr>
          <p:cNvPr id="4" name="Text 2"/>
          <p:cNvSpPr/>
          <p:nvPr/>
        </p:nvSpPr>
        <p:spPr>
          <a:xfrm>
            <a:off x="762000" y="1524000"/>
            <a:ext cx="14716125" cy="3524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50000"/>
              </a:lnSpc>
              <a:buNone/>
            </a:pPr>
            <a:r>
              <a:rPr lang="en-US" sz="1650" dirty="0">
                <a:solidFill>
                  <a:srgbClr val="6B72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"2030 ~ 2035년 1위 유지를 위해 지금 무엇을 결정할 것인가"</a:t>
            </a:r>
            <a:endParaRPr lang="en-US" sz="1650" dirty="0"/>
          </a:p>
        </p:txBody>
      </p:sp>
      <p:sp>
        <p:nvSpPr>
          <p:cNvPr id="5" name="Shape 3"/>
          <p:cNvSpPr/>
          <p:nvPr/>
        </p:nvSpPr>
        <p:spPr>
          <a:xfrm>
            <a:off x="762000" y="2286000"/>
            <a:ext cx="16764000" cy="5867400"/>
          </a:xfrm>
          <a:prstGeom prst="rect">
            <a:avLst/>
          </a:prstGeom>
          <a:solidFill>
            <a:srgbClr val="1428A0"/>
          </a:solidFill>
          <a:ln/>
        </p:spPr>
      </p:sp>
      <p:sp>
        <p:nvSpPr>
          <p:cNvPr id="6" name="Text 4"/>
          <p:cNvSpPr/>
          <p:nvPr/>
        </p:nvSpPr>
        <p:spPr>
          <a:xfrm>
            <a:off x="1099185" y="3048000"/>
            <a:ext cx="16089630" cy="2476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ctr" indent="0" marL="0">
              <a:lnSpc>
                <a:spcPct val="140000"/>
              </a:lnSpc>
              <a:buNone/>
            </a:pPr>
            <a:r>
              <a:rPr lang="en-US" sz="1200" spc="300" kern="0" dirty="0">
                <a:solidFill>
                  <a:srgbClr val="FFFFFF">
                    <a:alpha val="70000"/>
                  </a:srgbClr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FOCAL ISSUE · 핵심 질문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1785938" y="3562350"/>
            <a:ext cx="14716125" cy="38671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ctr" indent="0" marL="0">
              <a:lnSpc>
                <a:spcPct val="135000"/>
              </a:lnSpc>
              <a:buNone/>
            </a:pPr>
            <a:r>
              <a:rPr lang="en-US" sz="375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삼성전자 메모리사업부가 </a:t>
            </a:r>
            <a:pPr algn="ctr" indent="0" marL="0">
              <a:lnSpc>
                <a:spcPct val="135000"/>
              </a:lnSpc>
              <a:buNone/>
            </a:pPr>
            <a:r>
              <a:rPr lang="en-US" sz="3750" b="1" dirty="0">
                <a:solidFill>
                  <a:srgbClr val="D9770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 메모리 시대인 2030 ~ 2035년 </a:t>
            </a:r>
            <a:pPr algn="ctr" indent="0" marL="0">
              <a:lnSpc>
                <a:spcPct val="135000"/>
              </a:lnSpc>
              <a:buNone/>
            </a:pPr>
            <a:r>
              <a:rPr lang="en-US" sz="375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에도 글로벌 리더십을 유지하기 위해, 어떤 전략적 결정을 </a:t>
            </a:r>
            <a:pPr algn="ctr" indent="0" marL="0">
              <a:lnSpc>
                <a:spcPct val="135000"/>
              </a:lnSpc>
              <a:buNone/>
            </a:pPr>
            <a:r>
              <a:rPr lang="en-US" sz="37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지금 (2026년) </a:t>
            </a:r>
            <a:pPr algn="ctr" indent="0" marL="0">
              <a:lnSpc>
                <a:spcPct val="135000"/>
              </a:lnSpc>
              <a:buNone/>
            </a:pPr>
            <a:r>
              <a:rPr lang="en-US" sz="375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내려야 하는가?</a:t>
            </a:r>
            <a:endParaRPr lang="en-US" sz="3750" dirty="0"/>
          </a:p>
        </p:txBody>
      </p:sp>
      <p:sp>
        <p:nvSpPr>
          <p:cNvPr id="8" name="Shape 6"/>
          <p:cNvSpPr/>
          <p:nvPr/>
        </p:nvSpPr>
        <p:spPr>
          <a:xfrm>
            <a:off x="762000" y="8496300"/>
            <a:ext cx="5435650" cy="1447800"/>
          </a:xfrm>
          <a:prstGeom prst="rect">
            <a:avLst/>
          </a:prstGeom>
          <a:solidFill>
            <a:srgbClr val="E8EEFC"/>
          </a:solidFill>
          <a:ln/>
        </p:spPr>
      </p:sp>
      <p:sp>
        <p:nvSpPr>
          <p:cNvPr id="9" name="Text 7"/>
          <p:cNvSpPr/>
          <p:nvPr/>
        </p:nvSpPr>
        <p:spPr>
          <a:xfrm>
            <a:off x="1028700" y="8763000"/>
            <a:ext cx="5049317" cy="2190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0000"/>
              </a:lnSpc>
              <a:buNone/>
            </a:pPr>
            <a:r>
              <a:rPr lang="en-US" sz="1050" b="1" spc="150" kern="0" dirty="0">
                <a:solidFill>
                  <a:srgbClr val="1428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CONTEXT · 01</a:t>
            </a:r>
            <a:endParaRPr lang="en-US" sz="1050" dirty="0"/>
          </a:p>
        </p:txBody>
      </p:sp>
      <p:sp>
        <p:nvSpPr>
          <p:cNvPr id="10" name="Text 8"/>
          <p:cNvSpPr/>
          <p:nvPr/>
        </p:nvSpPr>
        <p:spPr>
          <a:xfrm>
            <a:off x="1028700" y="9020175"/>
            <a:ext cx="5049317" cy="3238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0000"/>
              </a:lnSpc>
              <a:buNone/>
            </a:pPr>
            <a:r>
              <a:rPr lang="en-US" sz="1650" b="1" spc="22" kern="0" dirty="0">
                <a:solidFill>
                  <a:srgbClr val="1428A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현황</a:t>
            </a:r>
            <a:endParaRPr lang="en-US" sz="1650" dirty="0"/>
          </a:p>
        </p:txBody>
      </p:sp>
      <p:sp>
        <p:nvSpPr>
          <p:cNvPr id="11" name="Text 9"/>
          <p:cNvSpPr/>
          <p:nvPr/>
        </p:nvSpPr>
        <p:spPr>
          <a:xfrm>
            <a:off x="1028700" y="9420225"/>
            <a:ext cx="5049317" cy="2952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55000"/>
              </a:lnSpc>
              <a:buNone/>
            </a:pPr>
            <a:r>
              <a:rPr lang="en-US" sz="1350" dirty="0">
                <a:solidFill>
                  <a:srgbClr val="37415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호황의 정점 · 점유율 1위 역전 동시 진행</a:t>
            </a:r>
            <a:endParaRPr lang="en-US" sz="1350" dirty="0"/>
          </a:p>
        </p:txBody>
      </p:sp>
      <p:sp>
        <p:nvSpPr>
          <p:cNvPr id="12" name="Shape 10"/>
          <p:cNvSpPr/>
          <p:nvPr/>
        </p:nvSpPr>
        <p:spPr>
          <a:xfrm>
            <a:off x="6426250" y="8496300"/>
            <a:ext cx="5435650" cy="1447800"/>
          </a:xfrm>
          <a:prstGeom prst="rect">
            <a:avLst/>
          </a:prstGeom>
          <a:solidFill>
            <a:srgbClr val="E8EEFC"/>
          </a:solidFill>
          <a:ln/>
        </p:spPr>
      </p:sp>
      <p:sp>
        <p:nvSpPr>
          <p:cNvPr id="13" name="Text 11"/>
          <p:cNvSpPr/>
          <p:nvPr/>
        </p:nvSpPr>
        <p:spPr>
          <a:xfrm>
            <a:off x="6692950" y="8763000"/>
            <a:ext cx="5049317" cy="2190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0000"/>
              </a:lnSpc>
              <a:buNone/>
            </a:pPr>
            <a:r>
              <a:rPr lang="en-US" sz="1050" b="1" spc="150" kern="0" dirty="0">
                <a:solidFill>
                  <a:srgbClr val="1428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CONTEXT · 02</a:t>
            </a:r>
            <a:endParaRPr lang="en-US" sz="1050" dirty="0"/>
          </a:p>
        </p:txBody>
      </p:sp>
      <p:sp>
        <p:nvSpPr>
          <p:cNvPr id="14" name="Text 12"/>
          <p:cNvSpPr/>
          <p:nvPr/>
        </p:nvSpPr>
        <p:spPr>
          <a:xfrm>
            <a:off x="6692950" y="9020175"/>
            <a:ext cx="5049317" cy="3238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0000"/>
              </a:lnSpc>
              <a:buNone/>
            </a:pPr>
            <a:r>
              <a:rPr lang="en-US" sz="1650" b="1" spc="22" kern="0" dirty="0">
                <a:solidFill>
                  <a:srgbClr val="1428A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시간 압박</a:t>
            </a:r>
            <a:endParaRPr lang="en-US" sz="1650" dirty="0"/>
          </a:p>
        </p:txBody>
      </p:sp>
      <p:sp>
        <p:nvSpPr>
          <p:cNvPr id="15" name="Text 13"/>
          <p:cNvSpPr/>
          <p:nvPr/>
        </p:nvSpPr>
        <p:spPr>
          <a:xfrm>
            <a:off x="6692950" y="9420225"/>
            <a:ext cx="5049317" cy="2952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55000"/>
              </a:lnSpc>
              <a:buNone/>
            </a:pPr>
            <a:r>
              <a:rPr lang="en-US" sz="1350" dirty="0">
                <a:solidFill>
                  <a:srgbClr val="37415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HBM 세대 전환 분기점 · 2026 ~ 2027 결정 시점</a:t>
            </a:r>
            <a:endParaRPr lang="en-US" sz="1350" dirty="0"/>
          </a:p>
        </p:txBody>
      </p:sp>
      <p:sp>
        <p:nvSpPr>
          <p:cNvPr id="16" name="Shape 14"/>
          <p:cNvSpPr/>
          <p:nvPr/>
        </p:nvSpPr>
        <p:spPr>
          <a:xfrm>
            <a:off x="12090499" y="8496300"/>
            <a:ext cx="5435650" cy="1447800"/>
          </a:xfrm>
          <a:prstGeom prst="rect">
            <a:avLst/>
          </a:prstGeom>
          <a:solidFill>
            <a:srgbClr val="E8EEFC"/>
          </a:solidFill>
          <a:ln/>
        </p:spPr>
      </p:sp>
      <p:sp>
        <p:nvSpPr>
          <p:cNvPr id="17" name="Text 15"/>
          <p:cNvSpPr/>
          <p:nvPr/>
        </p:nvSpPr>
        <p:spPr>
          <a:xfrm>
            <a:off x="12357199" y="8763000"/>
            <a:ext cx="5049317" cy="2190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0000"/>
              </a:lnSpc>
              <a:buNone/>
            </a:pPr>
            <a:r>
              <a:rPr lang="en-US" sz="1050" b="1" spc="150" kern="0" dirty="0">
                <a:solidFill>
                  <a:srgbClr val="1428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CONTEXT · 03</a:t>
            </a:r>
            <a:endParaRPr lang="en-US" sz="1050" dirty="0"/>
          </a:p>
        </p:txBody>
      </p:sp>
      <p:sp>
        <p:nvSpPr>
          <p:cNvPr id="18" name="Text 16"/>
          <p:cNvSpPr/>
          <p:nvPr/>
        </p:nvSpPr>
        <p:spPr>
          <a:xfrm>
            <a:off x="12357199" y="9020175"/>
            <a:ext cx="5049317" cy="3238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0000"/>
              </a:lnSpc>
              <a:buNone/>
            </a:pPr>
            <a:r>
              <a:rPr lang="en-US" sz="1650" b="1" spc="22" kern="0" dirty="0">
                <a:solidFill>
                  <a:srgbClr val="1428A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불확실성</a:t>
            </a:r>
            <a:endParaRPr lang="en-US" sz="1650" dirty="0"/>
          </a:p>
        </p:txBody>
      </p:sp>
      <p:sp>
        <p:nvSpPr>
          <p:cNvPr id="19" name="Text 17"/>
          <p:cNvSpPr/>
          <p:nvPr/>
        </p:nvSpPr>
        <p:spPr>
          <a:xfrm>
            <a:off x="12357199" y="9420225"/>
            <a:ext cx="5049317" cy="2952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55000"/>
              </a:lnSpc>
              <a:buNone/>
            </a:pPr>
            <a:r>
              <a:rPr lang="en-US" sz="1350" dirty="0">
                <a:solidFill>
                  <a:srgbClr val="37415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 슈퍼사이클 vs 거품 · 미중 디커플링 vs 공존 — </a:t>
            </a:r>
            <a:pPr algn="l" indent="0" marL="0">
              <a:lnSpc>
                <a:spcPct val="155000"/>
              </a:lnSpc>
              <a:buNone/>
            </a:pPr>
            <a:r>
              <a:rPr lang="en-US" sz="1350" b="1" dirty="0">
                <a:solidFill>
                  <a:srgbClr val="37415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2개 독립 변수</a:t>
            </a:r>
            <a:endParaRPr lang="en-US" sz="1350" dirty="0"/>
          </a:p>
        </p:txBody>
      </p:sp>
      <p:sp>
        <p:nvSpPr>
          <p:cNvPr id="20" name="Shape 18"/>
          <p:cNvSpPr/>
          <p:nvPr/>
        </p:nvSpPr>
        <p:spPr>
          <a:xfrm>
            <a:off x="762000" y="9667875"/>
            <a:ext cx="16764000" cy="9525"/>
          </a:xfrm>
          <a:prstGeom prst="rect">
            <a:avLst/>
          </a:prstGeom>
          <a:solidFill>
            <a:srgbClr val="D1D5DB"/>
          </a:solidFill>
          <a:ln/>
        </p:spPr>
      </p:sp>
      <p:sp>
        <p:nvSpPr>
          <p:cNvPr id="21" name="Text 19"/>
          <p:cNvSpPr/>
          <p:nvPr/>
        </p:nvSpPr>
        <p:spPr>
          <a:xfrm>
            <a:off x="762000" y="9891713"/>
            <a:ext cx="1515666" cy="2190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0000"/>
              </a:lnSpc>
              <a:buNone/>
            </a:pPr>
            <a:r>
              <a:rPr lang="en-US" sz="1050" spc="38" kern="0" dirty="0">
                <a:solidFill>
                  <a:srgbClr val="6B72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삼성전자 </a:t>
            </a:r>
            <a:pPr algn="l" indent="0" marL="0">
              <a:lnSpc>
                <a:spcPct val="140000"/>
              </a:lnSpc>
              <a:buNone/>
            </a:pPr>
            <a:r>
              <a:rPr lang="en-US" sz="1050" b="1" spc="38" kern="0" dirty="0">
                <a:solidFill>
                  <a:srgbClr val="1428A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| </a:t>
            </a:r>
            <a:pPr algn="l" indent="0" marL="0">
              <a:lnSpc>
                <a:spcPct val="140000"/>
              </a:lnSpc>
              <a:buNone/>
            </a:pPr>
            <a:r>
              <a:rPr lang="en-US" sz="1050" spc="38" kern="0" dirty="0">
                <a:solidFill>
                  <a:srgbClr val="6B72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STEP 5 · 적용</a:t>
            </a:r>
            <a:endParaRPr lang="en-US" sz="1050" dirty="0"/>
          </a:p>
        </p:txBody>
      </p:sp>
      <p:sp>
        <p:nvSpPr>
          <p:cNvPr id="22" name="Text 20"/>
          <p:cNvSpPr/>
          <p:nvPr/>
        </p:nvSpPr>
        <p:spPr>
          <a:xfrm>
            <a:off x="17023705" y="9891713"/>
            <a:ext cx="578495" cy="2190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0000"/>
              </a:lnSpc>
              <a:buNone/>
            </a:pPr>
            <a:r>
              <a:rPr lang="en-US" sz="1050" spc="38" kern="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 / 26</a:t>
            </a:r>
            <a:endParaRPr lang="en-US" sz="10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62000" y="533400"/>
            <a:ext cx="17266920" cy="2762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algn="l" indent="0" marL="0">
              <a:lnSpc>
                <a:spcPct val="140000"/>
              </a:lnSpc>
              <a:buNone/>
            </a:pPr>
            <a:r>
              <a:rPr lang="en-US" sz="1350" spc="150" kern="0" dirty="0">
                <a:solidFill>
                  <a:srgbClr val="1428A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STEP 5 · 메모리 사업 적용 — STEP 2 · 3</a:t>
            </a:r>
            <a:endParaRPr lang="en-US" sz="1350" dirty="0"/>
          </a:p>
        </p:txBody>
      </p:sp>
      <p:sp>
        <p:nvSpPr>
          <p:cNvPr id="3" name="Text 1"/>
          <p:cNvSpPr/>
          <p:nvPr/>
        </p:nvSpPr>
        <p:spPr>
          <a:xfrm>
            <a:off x="762000" y="885825"/>
            <a:ext cx="17266920" cy="5619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3300" b="1" spc="-37" kern="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50개 환경 요인 중 20개가 핵심 불확실성이다</a:t>
            </a:r>
            <a:endParaRPr lang="en-US" sz="3300" dirty="0"/>
          </a:p>
        </p:txBody>
      </p:sp>
      <p:sp>
        <p:nvSpPr>
          <p:cNvPr id="4" name="Text 2"/>
          <p:cNvSpPr/>
          <p:nvPr/>
        </p:nvSpPr>
        <p:spPr>
          <a:xfrm>
            <a:off x="762000" y="1524000"/>
            <a:ext cx="14716125" cy="3524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50000"/>
              </a:lnSpc>
              <a:buNone/>
            </a:pPr>
            <a:r>
              <a:rPr lang="en-US" sz="1650" dirty="0">
                <a:solidFill>
                  <a:srgbClr val="6B72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STEEP 5개 영역 × 10개 요인 = 50개. Impact × Uncertainty 매트릭스로 압축 — 상위 4개는 I×U = 25</a:t>
            </a:r>
            <a:endParaRPr lang="en-US" sz="1650" dirty="0"/>
          </a:p>
        </p:txBody>
      </p:sp>
      <p:sp>
        <p:nvSpPr>
          <p:cNvPr id="5" name="Text 3"/>
          <p:cNvSpPr/>
          <p:nvPr/>
        </p:nvSpPr>
        <p:spPr>
          <a:xfrm>
            <a:off x="762000" y="2286000"/>
            <a:ext cx="6812646" cy="3238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0000"/>
              </a:lnSpc>
              <a:buNone/>
            </a:pPr>
            <a:r>
              <a:rPr lang="en-US" sz="1650" b="1" spc="22" kern="0" dirty="0">
                <a:solidFill>
                  <a:srgbClr val="1428A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STEEP 분류</a:t>
            </a:r>
            <a:endParaRPr lang="en-US" sz="1650" dirty="0"/>
          </a:p>
        </p:txBody>
      </p:sp>
      <p:sp>
        <p:nvSpPr>
          <p:cNvPr id="6" name="Shape 4"/>
          <p:cNvSpPr/>
          <p:nvPr/>
        </p:nvSpPr>
        <p:spPr>
          <a:xfrm>
            <a:off x="762000" y="2686050"/>
            <a:ext cx="2470398" cy="452438"/>
          </a:xfrm>
          <a:prstGeom prst="rect">
            <a:avLst/>
          </a:prstGeom>
          <a:solidFill>
            <a:srgbClr val="E8EEFC"/>
          </a:solidFill>
          <a:ln/>
        </p:spPr>
      </p:sp>
      <p:sp>
        <p:nvSpPr>
          <p:cNvPr id="7" name="Shape 5"/>
          <p:cNvSpPr/>
          <p:nvPr/>
        </p:nvSpPr>
        <p:spPr>
          <a:xfrm>
            <a:off x="762000" y="3128963"/>
            <a:ext cx="2470398" cy="9525"/>
          </a:xfrm>
          <a:prstGeom prst="rect">
            <a:avLst/>
          </a:prstGeom>
          <a:solidFill>
            <a:srgbClr val="D1D5DB"/>
          </a:solidFill>
          <a:ln/>
        </p:spPr>
      </p:sp>
      <p:sp>
        <p:nvSpPr>
          <p:cNvPr id="8" name="Text 6"/>
          <p:cNvSpPr/>
          <p:nvPr/>
        </p:nvSpPr>
        <p:spPr>
          <a:xfrm>
            <a:off x="914400" y="2819400"/>
            <a:ext cx="2241798" cy="21431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0000"/>
              </a:lnSpc>
              <a:buNone/>
            </a:pPr>
            <a:r>
              <a:rPr lang="en-US" sz="1050" b="1" spc="75" kern="0" dirty="0">
                <a:solidFill>
                  <a:srgbClr val="1428A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분류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3232398" y="2686050"/>
            <a:ext cx="901154" cy="452438"/>
          </a:xfrm>
          <a:prstGeom prst="rect">
            <a:avLst/>
          </a:prstGeom>
          <a:solidFill>
            <a:srgbClr val="E8EEFC"/>
          </a:solidFill>
          <a:ln/>
        </p:spPr>
      </p:sp>
      <p:sp>
        <p:nvSpPr>
          <p:cNvPr id="10" name="Shape 8"/>
          <p:cNvSpPr/>
          <p:nvPr/>
        </p:nvSpPr>
        <p:spPr>
          <a:xfrm>
            <a:off x="3232398" y="3128963"/>
            <a:ext cx="901154" cy="9525"/>
          </a:xfrm>
          <a:prstGeom prst="rect">
            <a:avLst/>
          </a:prstGeom>
          <a:solidFill>
            <a:srgbClr val="D1D5DB"/>
          </a:solidFill>
          <a:ln/>
        </p:spPr>
      </p:sp>
      <p:sp>
        <p:nvSpPr>
          <p:cNvPr id="11" name="Text 9"/>
          <p:cNvSpPr/>
          <p:nvPr/>
        </p:nvSpPr>
        <p:spPr>
          <a:xfrm>
            <a:off x="3384798" y="2819400"/>
            <a:ext cx="672554" cy="21431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0000"/>
              </a:lnSpc>
              <a:buNone/>
            </a:pPr>
            <a:r>
              <a:rPr lang="en-US" sz="1050" b="1" spc="75" kern="0" dirty="0">
                <a:solidFill>
                  <a:srgbClr val="1428A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건수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4133552" y="2686050"/>
            <a:ext cx="3242816" cy="452438"/>
          </a:xfrm>
          <a:prstGeom prst="rect">
            <a:avLst/>
          </a:prstGeom>
          <a:solidFill>
            <a:srgbClr val="E8EEFC"/>
          </a:solidFill>
          <a:ln/>
        </p:spPr>
      </p:sp>
      <p:sp>
        <p:nvSpPr>
          <p:cNvPr id="13" name="Shape 11"/>
          <p:cNvSpPr/>
          <p:nvPr/>
        </p:nvSpPr>
        <p:spPr>
          <a:xfrm>
            <a:off x="4133552" y="3128963"/>
            <a:ext cx="3242816" cy="9525"/>
          </a:xfrm>
          <a:prstGeom prst="rect">
            <a:avLst/>
          </a:prstGeom>
          <a:solidFill>
            <a:srgbClr val="D1D5DB"/>
          </a:solidFill>
          <a:ln/>
        </p:spPr>
      </p:sp>
      <p:sp>
        <p:nvSpPr>
          <p:cNvPr id="14" name="Text 12"/>
          <p:cNvSpPr/>
          <p:nvPr/>
        </p:nvSpPr>
        <p:spPr>
          <a:xfrm>
            <a:off x="4285952" y="2819400"/>
            <a:ext cx="3035300" cy="21431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0000"/>
              </a:lnSpc>
              <a:buNone/>
            </a:pPr>
            <a:r>
              <a:rPr lang="en-US" sz="1050" b="1" spc="75" kern="0" dirty="0">
                <a:solidFill>
                  <a:srgbClr val="1428A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I×U 평균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762000" y="3624263"/>
            <a:ext cx="2470398" cy="9525"/>
          </a:xfrm>
          <a:prstGeom prst="rect">
            <a:avLst/>
          </a:prstGeom>
          <a:solidFill>
            <a:srgbClr val="D1D5DB"/>
          </a:solidFill>
          <a:ln/>
        </p:spPr>
      </p:sp>
      <p:sp>
        <p:nvSpPr>
          <p:cNvPr id="16" name="Text 14"/>
          <p:cNvSpPr/>
          <p:nvPr/>
        </p:nvSpPr>
        <p:spPr>
          <a:xfrm>
            <a:off x="914400" y="3271838"/>
            <a:ext cx="2241798" cy="2571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0000"/>
              </a:lnSpc>
              <a:buNone/>
            </a:pPr>
            <a:r>
              <a:rPr lang="en-US" sz="1275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 </a:t>
            </a:r>
            <a:pPr algn="l" indent="0" marL="0">
              <a:lnSpc>
                <a:spcPct val="140000"/>
              </a:lnSpc>
              <a:buNone/>
            </a:pPr>
            <a:r>
              <a:rPr lang="en-US" sz="1275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Social</a:t>
            </a:r>
            <a:endParaRPr lang="en-US" sz="1275" dirty="0"/>
          </a:p>
        </p:txBody>
      </p:sp>
      <p:sp>
        <p:nvSpPr>
          <p:cNvPr id="17" name="Shape 15"/>
          <p:cNvSpPr/>
          <p:nvPr/>
        </p:nvSpPr>
        <p:spPr>
          <a:xfrm>
            <a:off x="3232398" y="3624263"/>
            <a:ext cx="901154" cy="9525"/>
          </a:xfrm>
          <a:prstGeom prst="rect">
            <a:avLst/>
          </a:prstGeom>
          <a:solidFill>
            <a:srgbClr val="D1D5DB"/>
          </a:solidFill>
          <a:ln/>
        </p:spPr>
      </p:sp>
      <p:sp>
        <p:nvSpPr>
          <p:cNvPr id="18" name="Text 16"/>
          <p:cNvSpPr/>
          <p:nvPr/>
        </p:nvSpPr>
        <p:spPr>
          <a:xfrm>
            <a:off x="3384798" y="3271838"/>
            <a:ext cx="672554" cy="2571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0000"/>
              </a:lnSpc>
              <a:buNone/>
            </a:pPr>
            <a:r>
              <a:rPr lang="en-US" sz="1275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1275" dirty="0"/>
          </a:p>
        </p:txBody>
      </p:sp>
      <p:sp>
        <p:nvSpPr>
          <p:cNvPr id="19" name="Shape 17"/>
          <p:cNvSpPr/>
          <p:nvPr/>
        </p:nvSpPr>
        <p:spPr>
          <a:xfrm>
            <a:off x="4133552" y="3624263"/>
            <a:ext cx="3242816" cy="9525"/>
          </a:xfrm>
          <a:prstGeom prst="rect">
            <a:avLst/>
          </a:prstGeom>
          <a:solidFill>
            <a:srgbClr val="D1D5DB"/>
          </a:solidFill>
          <a:ln/>
        </p:spPr>
      </p:sp>
      <p:sp>
        <p:nvSpPr>
          <p:cNvPr id="20" name="Text 18"/>
          <p:cNvSpPr/>
          <p:nvPr/>
        </p:nvSpPr>
        <p:spPr>
          <a:xfrm>
            <a:off x="4285952" y="3271838"/>
            <a:ext cx="3035300" cy="2571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0000"/>
              </a:lnSpc>
              <a:buNone/>
            </a:pPr>
            <a:r>
              <a:rPr lang="en-US" sz="1275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1275" dirty="0"/>
          </a:p>
        </p:txBody>
      </p:sp>
      <p:sp>
        <p:nvSpPr>
          <p:cNvPr id="21" name="Shape 19"/>
          <p:cNvSpPr/>
          <p:nvPr/>
        </p:nvSpPr>
        <p:spPr>
          <a:xfrm>
            <a:off x="762000" y="4119562"/>
            <a:ext cx="2470398" cy="9525"/>
          </a:xfrm>
          <a:prstGeom prst="rect">
            <a:avLst/>
          </a:prstGeom>
          <a:solidFill>
            <a:srgbClr val="D1D5DB"/>
          </a:solidFill>
          <a:ln/>
        </p:spPr>
      </p:sp>
      <p:sp>
        <p:nvSpPr>
          <p:cNvPr id="22" name="Text 20"/>
          <p:cNvSpPr/>
          <p:nvPr/>
        </p:nvSpPr>
        <p:spPr>
          <a:xfrm>
            <a:off x="914400" y="3767138"/>
            <a:ext cx="2241798" cy="2571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0000"/>
              </a:lnSpc>
              <a:buNone/>
            </a:pPr>
            <a:r>
              <a:rPr lang="en-US" sz="1275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 </a:t>
            </a:r>
            <a:pPr algn="l" indent="0" marL="0">
              <a:lnSpc>
                <a:spcPct val="140000"/>
              </a:lnSpc>
              <a:buNone/>
            </a:pPr>
            <a:r>
              <a:rPr lang="en-US" sz="1275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Technology</a:t>
            </a:r>
            <a:endParaRPr lang="en-US" sz="1275" dirty="0"/>
          </a:p>
        </p:txBody>
      </p:sp>
      <p:sp>
        <p:nvSpPr>
          <p:cNvPr id="23" name="Shape 21"/>
          <p:cNvSpPr/>
          <p:nvPr/>
        </p:nvSpPr>
        <p:spPr>
          <a:xfrm>
            <a:off x="3232398" y="4119562"/>
            <a:ext cx="901154" cy="9525"/>
          </a:xfrm>
          <a:prstGeom prst="rect">
            <a:avLst/>
          </a:prstGeom>
          <a:solidFill>
            <a:srgbClr val="D1D5DB"/>
          </a:solidFill>
          <a:ln/>
        </p:spPr>
      </p:sp>
      <p:sp>
        <p:nvSpPr>
          <p:cNvPr id="24" name="Text 22"/>
          <p:cNvSpPr/>
          <p:nvPr/>
        </p:nvSpPr>
        <p:spPr>
          <a:xfrm>
            <a:off x="3384798" y="3767138"/>
            <a:ext cx="672554" cy="2571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0000"/>
              </a:lnSpc>
              <a:buNone/>
            </a:pPr>
            <a:r>
              <a:rPr lang="en-US" sz="1275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1275" dirty="0"/>
          </a:p>
        </p:txBody>
      </p:sp>
      <p:sp>
        <p:nvSpPr>
          <p:cNvPr id="25" name="Shape 23"/>
          <p:cNvSpPr/>
          <p:nvPr/>
        </p:nvSpPr>
        <p:spPr>
          <a:xfrm>
            <a:off x="4133552" y="4119562"/>
            <a:ext cx="3242816" cy="9525"/>
          </a:xfrm>
          <a:prstGeom prst="rect">
            <a:avLst/>
          </a:prstGeom>
          <a:solidFill>
            <a:srgbClr val="D1D5DB"/>
          </a:solidFill>
          <a:ln/>
        </p:spPr>
      </p:sp>
      <p:sp>
        <p:nvSpPr>
          <p:cNvPr id="26" name="Text 24"/>
          <p:cNvSpPr/>
          <p:nvPr/>
        </p:nvSpPr>
        <p:spPr>
          <a:xfrm>
            <a:off x="4285952" y="3767138"/>
            <a:ext cx="3035300" cy="2571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0000"/>
              </a:lnSpc>
              <a:buNone/>
            </a:pPr>
            <a:r>
              <a:rPr lang="en-US" sz="1275" b="1" dirty="0">
                <a:solidFill>
                  <a:srgbClr val="D9770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 </a:t>
            </a:r>
            <a:pPr algn="l" indent="0" marL="0">
              <a:lnSpc>
                <a:spcPct val="140000"/>
              </a:lnSpc>
              <a:buNone/>
            </a:pPr>
            <a:r>
              <a:rPr lang="en-US" sz="1275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T3 3D DRAM = </a:t>
            </a:r>
            <a:pPr algn="l" indent="0" marL="0">
              <a:lnSpc>
                <a:spcPct val="140000"/>
              </a:lnSpc>
              <a:buNone/>
            </a:pPr>
            <a:r>
              <a:rPr lang="en-US" sz="1275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25</a:t>
            </a:r>
            <a:endParaRPr lang="en-US" sz="1275" dirty="0"/>
          </a:p>
        </p:txBody>
      </p:sp>
      <p:sp>
        <p:nvSpPr>
          <p:cNvPr id="27" name="Shape 25"/>
          <p:cNvSpPr/>
          <p:nvPr/>
        </p:nvSpPr>
        <p:spPr>
          <a:xfrm>
            <a:off x="762000" y="4614863"/>
            <a:ext cx="2470398" cy="9525"/>
          </a:xfrm>
          <a:prstGeom prst="rect">
            <a:avLst/>
          </a:prstGeom>
          <a:solidFill>
            <a:srgbClr val="D1D5DB"/>
          </a:solidFill>
          <a:ln/>
        </p:spPr>
      </p:sp>
      <p:sp>
        <p:nvSpPr>
          <p:cNvPr id="28" name="Text 26"/>
          <p:cNvSpPr/>
          <p:nvPr/>
        </p:nvSpPr>
        <p:spPr>
          <a:xfrm>
            <a:off x="914400" y="4262438"/>
            <a:ext cx="2241798" cy="2571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0000"/>
              </a:lnSpc>
              <a:buNone/>
            </a:pPr>
            <a:r>
              <a:rPr lang="en-US" sz="1275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Ec </a:t>
            </a:r>
            <a:pPr algn="l" indent="0" marL="0">
              <a:lnSpc>
                <a:spcPct val="140000"/>
              </a:lnSpc>
              <a:buNone/>
            </a:pPr>
            <a:r>
              <a:rPr lang="en-US" sz="1275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Economy</a:t>
            </a:r>
            <a:endParaRPr lang="en-US" sz="1275" dirty="0"/>
          </a:p>
        </p:txBody>
      </p:sp>
      <p:sp>
        <p:nvSpPr>
          <p:cNvPr id="29" name="Shape 27"/>
          <p:cNvSpPr/>
          <p:nvPr/>
        </p:nvSpPr>
        <p:spPr>
          <a:xfrm>
            <a:off x="3232398" y="4614863"/>
            <a:ext cx="901154" cy="9525"/>
          </a:xfrm>
          <a:prstGeom prst="rect">
            <a:avLst/>
          </a:prstGeom>
          <a:solidFill>
            <a:srgbClr val="D1D5DB"/>
          </a:solidFill>
          <a:ln/>
        </p:spPr>
      </p:sp>
      <p:sp>
        <p:nvSpPr>
          <p:cNvPr id="30" name="Text 28"/>
          <p:cNvSpPr/>
          <p:nvPr/>
        </p:nvSpPr>
        <p:spPr>
          <a:xfrm>
            <a:off x="3384798" y="4262438"/>
            <a:ext cx="672554" cy="2571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0000"/>
              </a:lnSpc>
              <a:buNone/>
            </a:pPr>
            <a:r>
              <a:rPr lang="en-US" sz="1275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1275" dirty="0"/>
          </a:p>
        </p:txBody>
      </p:sp>
      <p:sp>
        <p:nvSpPr>
          <p:cNvPr id="31" name="Shape 29"/>
          <p:cNvSpPr/>
          <p:nvPr/>
        </p:nvSpPr>
        <p:spPr>
          <a:xfrm>
            <a:off x="4133552" y="4614863"/>
            <a:ext cx="3242816" cy="9525"/>
          </a:xfrm>
          <a:prstGeom prst="rect">
            <a:avLst/>
          </a:prstGeom>
          <a:solidFill>
            <a:srgbClr val="D1D5DB"/>
          </a:solidFill>
          <a:ln/>
        </p:spPr>
      </p:sp>
      <p:sp>
        <p:nvSpPr>
          <p:cNvPr id="32" name="Text 30"/>
          <p:cNvSpPr/>
          <p:nvPr/>
        </p:nvSpPr>
        <p:spPr>
          <a:xfrm>
            <a:off x="4285952" y="4262438"/>
            <a:ext cx="3035300" cy="2571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0000"/>
              </a:lnSpc>
              <a:buNone/>
            </a:pPr>
            <a:r>
              <a:rPr lang="en-US" sz="1275" b="1" dirty="0">
                <a:solidFill>
                  <a:srgbClr val="D9770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 </a:t>
            </a:r>
            <a:pPr algn="l" indent="0" marL="0">
              <a:lnSpc>
                <a:spcPct val="140000"/>
              </a:lnSpc>
              <a:buNone/>
            </a:pPr>
            <a:r>
              <a:rPr lang="en-US" sz="1275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Ec6 AI 버블 = </a:t>
            </a:r>
            <a:pPr algn="l" indent="0" marL="0">
              <a:lnSpc>
                <a:spcPct val="140000"/>
              </a:lnSpc>
              <a:buNone/>
            </a:pPr>
            <a:r>
              <a:rPr lang="en-US" sz="1275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25</a:t>
            </a:r>
            <a:endParaRPr lang="en-US" sz="1275" dirty="0"/>
          </a:p>
        </p:txBody>
      </p:sp>
      <p:sp>
        <p:nvSpPr>
          <p:cNvPr id="33" name="Shape 31"/>
          <p:cNvSpPr/>
          <p:nvPr/>
        </p:nvSpPr>
        <p:spPr>
          <a:xfrm>
            <a:off x="762000" y="5110163"/>
            <a:ext cx="2470398" cy="9525"/>
          </a:xfrm>
          <a:prstGeom prst="rect">
            <a:avLst/>
          </a:prstGeom>
          <a:solidFill>
            <a:srgbClr val="D1D5DB"/>
          </a:solidFill>
          <a:ln/>
        </p:spPr>
      </p:sp>
      <p:sp>
        <p:nvSpPr>
          <p:cNvPr id="34" name="Text 32"/>
          <p:cNvSpPr/>
          <p:nvPr/>
        </p:nvSpPr>
        <p:spPr>
          <a:xfrm>
            <a:off x="914400" y="4757738"/>
            <a:ext cx="2241798" cy="2571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0000"/>
              </a:lnSpc>
              <a:buNone/>
            </a:pPr>
            <a:r>
              <a:rPr lang="en-US" sz="1275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En </a:t>
            </a:r>
            <a:pPr algn="l" indent="0" marL="0">
              <a:lnSpc>
                <a:spcPct val="140000"/>
              </a:lnSpc>
              <a:buNone/>
            </a:pPr>
            <a:r>
              <a:rPr lang="en-US" sz="1275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Environment</a:t>
            </a:r>
            <a:endParaRPr lang="en-US" sz="1275" dirty="0"/>
          </a:p>
        </p:txBody>
      </p:sp>
      <p:sp>
        <p:nvSpPr>
          <p:cNvPr id="35" name="Shape 33"/>
          <p:cNvSpPr/>
          <p:nvPr/>
        </p:nvSpPr>
        <p:spPr>
          <a:xfrm>
            <a:off x="3232398" y="5110163"/>
            <a:ext cx="901154" cy="9525"/>
          </a:xfrm>
          <a:prstGeom prst="rect">
            <a:avLst/>
          </a:prstGeom>
          <a:solidFill>
            <a:srgbClr val="D1D5DB"/>
          </a:solidFill>
          <a:ln/>
        </p:spPr>
      </p:sp>
      <p:sp>
        <p:nvSpPr>
          <p:cNvPr id="36" name="Text 34"/>
          <p:cNvSpPr/>
          <p:nvPr/>
        </p:nvSpPr>
        <p:spPr>
          <a:xfrm>
            <a:off x="3384798" y="4757738"/>
            <a:ext cx="672554" cy="2571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0000"/>
              </a:lnSpc>
              <a:buNone/>
            </a:pPr>
            <a:r>
              <a:rPr lang="en-US" sz="1275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1275" dirty="0"/>
          </a:p>
        </p:txBody>
      </p:sp>
      <p:sp>
        <p:nvSpPr>
          <p:cNvPr id="37" name="Shape 35"/>
          <p:cNvSpPr/>
          <p:nvPr/>
        </p:nvSpPr>
        <p:spPr>
          <a:xfrm>
            <a:off x="4133552" y="5110163"/>
            <a:ext cx="3242816" cy="9525"/>
          </a:xfrm>
          <a:prstGeom prst="rect">
            <a:avLst/>
          </a:prstGeom>
          <a:solidFill>
            <a:srgbClr val="D1D5DB"/>
          </a:solidFill>
          <a:ln/>
        </p:spPr>
      </p:sp>
      <p:sp>
        <p:nvSpPr>
          <p:cNvPr id="38" name="Text 36"/>
          <p:cNvSpPr/>
          <p:nvPr/>
        </p:nvSpPr>
        <p:spPr>
          <a:xfrm>
            <a:off x="4285952" y="4757738"/>
            <a:ext cx="3035300" cy="2571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0000"/>
              </a:lnSpc>
              <a:buNone/>
            </a:pPr>
            <a:r>
              <a:rPr lang="en-US" sz="1275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1275" dirty="0"/>
          </a:p>
        </p:txBody>
      </p:sp>
      <p:sp>
        <p:nvSpPr>
          <p:cNvPr id="39" name="Shape 37"/>
          <p:cNvSpPr/>
          <p:nvPr/>
        </p:nvSpPr>
        <p:spPr>
          <a:xfrm>
            <a:off x="762000" y="5605463"/>
            <a:ext cx="2470398" cy="9525"/>
          </a:xfrm>
          <a:prstGeom prst="rect">
            <a:avLst/>
          </a:prstGeom>
          <a:solidFill>
            <a:srgbClr val="D1D5DB"/>
          </a:solidFill>
          <a:ln/>
        </p:spPr>
      </p:sp>
      <p:sp>
        <p:nvSpPr>
          <p:cNvPr id="40" name="Text 38"/>
          <p:cNvSpPr/>
          <p:nvPr/>
        </p:nvSpPr>
        <p:spPr>
          <a:xfrm>
            <a:off x="914400" y="5253037"/>
            <a:ext cx="2241798" cy="2571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0000"/>
              </a:lnSpc>
              <a:buNone/>
            </a:pPr>
            <a:r>
              <a:rPr lang="en-US" sz="1275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 </a:t>
            </a:r>
            <a:pPr algn="l" indent="0" marL="0">
              <a:lnSpc>
                <a:spcPct val="140000"/>
              </a:lnSpc>
              <a:buNone/>
            </a:pPr>
            <a:r>
              <a:rPr lang="en-US" sz="1275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Political</a:t>
            </a:r>
            <a:endParaRPr lang="en-US" sz="1275" dirty="0"/>
          </a:p>
        </p:txBody>
      </p:sp>
      <p:sp>
        <p:nvSpPr>
          <p:cNvPr id="41" name="Shape 39"/>
          <p:cNvSpPr/>
          <p:nvPr/>
        </p:nvSpPr>
        <p:spPr>
          <a:xfrm>
            <a:off x="3232398" y="5605463"/>
            <a:ext cx="901154" cy="9525"/>
          </a:xfrm>
          <a:prstGeom prst="rect">
            <a:avLst/>
          </a:prstGeom>
          <a:solidFill>
            <a:srgbClr val="D1D5DB"/>
          </a:solidFill>
          <a:ln/>
        </p:spPr>
      </p:sp>
      <p:sp>
        <p:nvSpPr>
          <p:cNvPr id="42" name="Text 40"/>
          <p:cNvSpPr/>
          <p:nvPr/>
        </p:nvSpPr>
        <p:spPr>
          <a:xfrm>
            <a:off x="3384798" y="5253037"/>
            <a:ext cx="672554" cy="2571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0000"/>
              </a:lnSpc>
              <a:buNone/>
            </a:pPr>
            <a:r>
              <a:rPr lang="en-US" sz="1275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1275" dirty="0"/>
          </a:p>
        </p:txBody>
      </p:sp>
      <p:sp>
        <p:nvSpPr>
          <p:cNvPr id="43" name="Shape 41"/>
          <p:cNvSpPr/>
          <p:nvPr/>
        </p:nvSpPr>
        <p:spPr>
          <a:xfrm>
            <a:off x="4133552" y="5605463"/>
            <a:ext cx="3242816" cy="9525"/>
          </a:xfrm>
          <a:prstGeom prst="rect">
            <a:avLst/>
          </a:prstGeom>
          <a:solidFill>
            <a:srgbClr val="D1D5DB"/>
          </a:solidFill>
          <a:ln/>
        </p:spPr>
      </p:sp>
      <p:sp>
        <p:nvSpPr>
          <p:cNvPr id="44" name="Text 42"/>
          <p:cNvSpPr/>
          <p:nvPr/>
        </p:nvSpPr>
        <p:spPr>
          <a:xfrm>
            <a:off x="4285952" y="5253037"/>
            <a:ext cx="3035300" cy="2571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0000"/>
              </a:lnSpc>
              <a:buNone/>
            </a:pPr>
            <a:r>
              <a:rPr lang="en-US" sz="1275" b="1" dirty="0">
                <a:solidFill>
                  <a:srgbClr val="D9770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 </a:t>
            </a:r>
            <a:pPr algn="l" indent="0" marL="0">
              <a:lnSpc>
                <a:spcPct val="140000"/>
              </a:lnSpc>
              <a:buNone/>
            </a:pPr>
            <a:r>
              <a:rPr lang="en-US" sz="1275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P1·P8 = </a:t>
            </a:r>
            <a:pPr algn="l" indent="0" marL="0">
              <a:lnSpc>
                <a:spcPct val="140000"/>
              </a:lnSpc>
              <a:buNone/>
            </a:pPr>
            <a:r>
              <a:rPr lang="en-US" sz="1275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25</a:t>
            </a:r>
            <a:endParaRPr lang="en-US" sz="1275" dirty="0"/>
          </a:p>
        </p:txBody>
      </p:sp>
      <p:sp>
        <p:nvSpPr>
          <p:cNvPr id="45" name="Shape 43"/>
          <p:cNvSpPr/>
          <p:nvPr/>
        </p:nvSpPr>
        <p:spPr>
          <a:xfrm>
            <a:off x="762000" y="5614988"/>
            <a:ext cx="6614220" cy="495300"/>
          </a:xfrm>
          <a:prstGeom prst="rect">
            <a:avLst/>
          </a:prstGeom>
          <a:solidFill>
            <a:srgbClr val="E8EEFC"/>
          </a:solidFill>
          <a:ln/>
        </p:spPr>
      </p:sp>
      <p:sp>
        <p:nvSpPr>
          <p:cNvPr id="46" name="Shape 44"/>
          <p:cNvSpPr/>
          <p:nvPr/>
        </p:nvSpPr>
        <p:spPr>
          <a:xfrm>
            <a:off x="762000" y="6100763"/>
            <a:ext cx="2470398" cy="9525"/>
          </a:xfrm>
          <a:prstGeom prst="rect">
            <a:avLst/>
          </a:prstGeom>
          <a:solidFill>
            <a:srgbClr val="D1D5DB"/>
          </a:solidFill>
          <a:ln/>
        </p:spPr>
      </p:sp>
      <p:sp>
        <p:nvSpPr>
          <p:cNvPr id="47" name="Text 45"/>
          <p:cNvSpPr/>
          <p:nvPr/>
        </p:nvSpPr>
        <p:spPr>
          <a:xfrm>
            <a:off x="914400" y="5748338"/>
            <a:ext cx="2241798" cy="2571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0000"/>
              </a:lnSpc>
              <a:buNone/>
            </a:pPr>
            <a:r>
              <a:rPr lang="en-US" sz="1275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합계</a:t>
            </a:r>
            <a:endParaRPr lang="en-US" sz="1275" dirty="0"/>
          </a:p>
        </p:txBody>
      </p:sp>
      <p:sp>
        <p:nvSpPr>
          <p:cNvPr id="48" name="Shape 46"/>
          <p:cNvSpPr/>
          <p:nvPr/>
        </p:nvSpPr>
        <p:spPr>
          <a:xfrm>
            <a:off x="3232398" y="6100763"/>
            <a:ext cx="901154" cy="9525"/>
          </a:xfrm>
          <a:prstGeom prst="rect">
            <a:avLst/>
          </a:prstGeom>
          <a:solidFill>
            <a:srgbClr val="D1D5DB"/>
          </a:solidFill>
          <a:ln/>
        </p:spPr>
      </p:sp>
      <p:sp>
        <p:nvSpPr>
          <p:cNvPr id="49" name="Text 47"/>
          <p:cNvSpPr/>
          <p:nvPr/>
        </p:nvSpPr>
        <p:spPr>
          <a:xfrm>
            <a:off x="3384798" y="5748338"/>
            <a:ext cx="672554" cy="2571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0000"/>
              </a:lnSpc>
              <a:buNone/>
            </a:pPr>
            <a:r>
              <a:rPr lang="en-US" sz="1275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50</a:t>
            </a:r>
            <a:endParaRPr lang="en-US" sz="1275" dirty="0"/>
          </a:p>
        </p:txBody>
      </p:sp>
      <p:sp>
        <p:nvSpPr>
          <p:cNvPr id="50" name="Shape 48"/>
          <p:cNvSpPr/>
          <p:nvPr/>
        </p:nvSpPr>
        <p:spPr>
          <a:xfrm>
            <a:off x="4133552" y="6100763"/>
            <a:ext cx="3242816" cy="9525"/>
          </a:xfrm>
          <a:prstGeom prst="rect">
            <a:avLst/>
          </a:prstGeom>
          <a:solidFill>
            <a:srgbClr val="D1D5DB"/>
          </a:solidFill>
          <a:ln/>
        </p:spPr>
      </p:sp>
      <p:sp>
        <p:nvSpPr>
          <p:cNvPr id="51" name="Shape 49"/>
          <p:cNvSpPr/>
          <p:nvPr/>
        </p:nvSpPr>
        <p:spPr>
          <a:xfrm>
            <a:off x="762000" y="6462713"/>
            <a:ext cx="152400" cy="152400"/>
          </a:xfrm>
          <a:prstGeom prst="ellipse">
            <a:avLst/>
          </a:prstGeom>
          <a:solidFill>
            <a:srgbClr val="DC2626"/>
          </a:solidFill>
          <a:ln/>
        </p:spPr>
      </p:sp>
      <p:sp>
        <p:nvSpPr>
          <p:cNvPr id="52" name="Text 50"/>
          <p:cNvSpPr/>
          <p:nvPr/>
        </p:nvSpPr>
        <p:spPr>
          <a:xfrm>
            <a:off x="1066800" y="6419850"/>
            <a:ext cx="2522339" cy="2762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0000"/>
              </a:lnSpc>
              <a:buNone/>
            </a:pPr>
            <a:r>
              <a:rPr lang="en-US" sz="1275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핵심 불확실성 </a:t>
            </a:r>
            <a:pPr algn="l" indent="0" marL="0">
              <a:lnSpc>
                <a:spcPct val="140000"/>
              </a:lnSpc>
              <a:buNone/>
            </a:pPr>
            <a:r>
              <a:rPr lang="en-US" sz="1275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(I ≥ 4, U ≥ 4) · </a:t>
            </a:r>
            <a:pPr algn="l" indent="0" marL="0">
              <a:lnSpc>
                <a:spcPct val="140000"/>
              </a:lnSpc>
              <a:buNone/>
            </a:pPr>
            <a:r>
              <a:rPr lang="en-US" sz="1275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</a:t>
            </a:r>
            <a:pPr algn="l" indent="0" marL="0">
              <a:lnSpc>
                <a:spcPct val="140000"/>
              </a:lnSpc>
              <a:buNone/>
            </a:pPr>
            <a:r>
              <a:rPr lang="en-US" sz="1275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개</a:t>
            </a:r>
            <a:endParaRPr lang="en-US" sz="1275" dirty="0"/>
          </a:p>
        </p:txBody>
      </p:sp>
      <p:sp>
        <p:nvSpPr>
          <p:cNvPr id="53" name="Shape 51"/>
          <p:cNvSpPr/>
          <p:nvPr/>
        </p:nvSpPr>
        <p:spPr>
          <a:xfrm>
            <a:off x="762000" y="6834188"/>
            <a:ext cx="152400" cy="152400"/>
          </a:xfrm>
          <a:prstGeom prst="ellipse">
            <a:avLst/>
          </a:prstGeom>
          <a:solidFill>
            <a:srgbClr val="1428A0"/>
          </a:solidFill>
          <a:ln/>
        </p:spPr>
      </p:sp>
      <p:sp>
        <p:nvSpPr>
          <p:cNvPr id="54" name="Text 52"/>
          <p:cNvSpPr/>
          <p:nvPr/>
        </p:nvSpPr>
        <p:spPr>
          <a:xfrm>
            <a:off x="1066800" y="6791325"/>
            <a:ext cx="2082998" cy="2762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0000"/>
              </a:lnSpc>
              <a:buNone/>
            </a:pPr>
            <a:r>
              <a:rPr lang="en-US" sz="1275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기정사실 </a:t>
            </a:r>
            <a:pPr algn="l" indent="0" marL="0">
              <a:lnSpc>
                <a:spcPct val="140000"/>
              </a:lnSpc>
              <a:buNone/>
            </a:pPr>
            <a:r>
              <a:rPr lang="en-US" sz="1275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(I ≥ 3, U ≤ 3) · </a:t>
            </a:r>
            <a:pPr algn="l" indent="0" marL="0">
              <a:lnSpc>
                <a:spcPct val="140000"/>
              </a:lnSpc>
              <a:buNone/>
            </a:pPr>
            <a:r>
              <a:rPr lang="en-US" sz="1275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pPr algn="l" indent="0" marL="0">
              <a:lnSpc>
                <a:spcPct val="140000"/>
              </a:lnSpc>
              <a:buNone/>
            </a:pPr>
            <a:r>
              <a:rPr lang="en-US" sz="1275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개</a:t>
            </a:r>
            <a:endParaRPr lang="en-US" sz="1275" dirty="0"/>
          </a:p>
        </p:txBody>
      </p:sp>
      <p:sp>
        <p:nvSpPr>
          <p:cNvPr id="55" name="Shape 53"/>
          <p:cNvSpPr/>
          <p:nvPr/>
        </p:nvSpPr>
        <p:spPr>
          <a:xfrm>
            <a:off x="762000" y="7205663"/>
            <a:ext cx="152400" cy="152400"/>
          </a:xfrm>
          <a:prstGeom prst="ellipse">
            <a:avLst/>
          </a:prstGeom>
          <a:solidFill>
            <a:srgbClr val="9CA3AF"/>
          </a:solidFill>
          <a:ln/>
        </p:spPr>
      </p:sp>
      <p:sp>
        <p:nvSpPr>
          <p:cNvPr id="56" name="Text 54"/>
          <p:cNvSpPr/>
          <p:nvPr/>
        </p:nvSpPr>
        <p:spPr>
          <a:xfrm>
            <a:off x="1066800" y="7162800"/>
            <a:ext cx="1008162" cy="2762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0000"/>
              </a:lnSpc>
              <a:buNone/>
            </a:pPr>
            <a:r>
              <a:rPr lang="en-US" sz="1275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주변부 </a:t>
            </a:r>
            <a:pPr algn="l" indent="0" marL="0">
              <a:lnSpc>
                <a:spcPct val="140000"/>
              </a:lnSpc>
              <a:buNone/>
            </a:pPr>
            <a:r>
              <a:rPr lang="en-US" sz="1275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· </a:t>
            </a:r>
            <a:pPr algn="l" indent="0" marL="0">
              <a:lnSpc>
                <a:spcPct val="140000"/>
              </a:lnSpc>
              <a:buNone/>
            </a:pPr>
            <a:r>
              <a:rPr lang="en-US" sz="1275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22</a:t>
            </a:r>
            <a:pPr algn="l" indent="0" marL="0">
              <a:lnSpc>
                <a:spcPct val="140000"/>
              </a:lnSpc>
              <a:buNone/>
            </a:pPr>
            <a:r>
              <a:rPr lang="en-US" sz="1275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개</a:t>
            </a:r>
            <a:endParaRPr lang="en-US" sz="1275" dirty="0"/>
          </a:p>
        </p:txBody>
      </p:sp>
      <p:sp>
        <p:nvSpPr>
          <p:cNvPr id="57" name="Shape 55"/>
          <p:cNvSpPr/>
          <p:nvPr/>
        </p:nvSpPr>
        <p:spPr>
          <a:xfrm>
            <a:off x="7604820" y="2286000"/>
            <a:ext cx="9921180" cy="6343650"/>
          </a:xfrm>
          <a:prstGeom prst="rect">
            <a:avLst/>
          </a:prstGeom>
          <a:solidFill>
            <a:srgbClr val="FFFFFF"/>
          </a:solidFill>
          <a:ln w="9525">
            <a:solidFill>
              <a:srgbClr val="D1D5DB"/>
            </a:solidFill>
            <a:prstDash val="solid"/>
          </a:ln>
        </p:spPr>
      </p:sp>
      <p:pic>
        <p:nvPicPr>
          <p:cNvPr id="5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919145" y="2600325"/>
            <a:ext cx="9292530" cy="5715000"/>
          </a:xfrm>
          <a:prstGeom prst="rect">
            <a:avLst/>
          </a:prstGeom>
        </p:spPr>
      </p:pic>
      <p:sp>
        <p:nvSpPr>
          <p:cNvPr id="59" name="Shape 56"/>
          <p:cNvSpPr/>
          <p:nvPr/>
        </p:nvSpPr>
        <p:spPr>
          <a:xfrm>
            <a:off x="762000" y="9667875"/>
            <a:ext cx="16764000" cy="9525"/>
          </a:xfrm>
          <a:prstGeom prst="rect">
            <a:avLst/>
          </a:prstGeom>
          <a:solidFill>
            <a:srgbClr val="D1D5DB"/>
          </a:solidFill>
          <a:ln/>
        </p:spPr>
      </p:sp>
      <p:sp>
        <p:nvSpPr>
          <p:cNvPr id="60" name="Text 57"/>
          <p:cNvSpPr/>
          <p:nvPr/>
        </p:nvSpPr>
        <p:spPr>
          <a:xfrm>
            <a:off x="762000" y="9891713"/>
            <a:ext cx="1515666" cy="2190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0000"/>
              </a:lnSpc>
              <a:buNone/>
            </a:pPr>
            <a:r>
              <a:rPr lang="en-US" sz="1050" spc="38" kern="0" dirty="0">
                <a:solidFill>
                  <a:srgbClr val="6B72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삼성전자 </a:t>
            </a:r>
            <a:pPr algn="l" indent="0" marL="0">
              <a:lnSpc>
                <a:spcPct val="140000"/>
              </a:lnSpc>
              <a:buNone/>
            </a:pPr>
            <a:r>
              <a:rPr lang="en-US" sz="1050" b="1" spc="38" kern="0" dirty="0">
                <a:solidFill>
                  <a:srgbClr val="1428A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| </a:t>
            </a:r>
            <a:pPr algn="l" indent="0" marL="0">
              <a:lnSpc>
                <a:spcPct val="140000"/>
              </a:lnSpc>
              <a:buNone/>
            </a:pPr>
            <a:r>
              <a:rPr lang="en-US" sz="1050" spc="38" kern="0" dirty="0">
                <a:solidFill>
                  <a:srgbClr val="6B72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STEP 5 · 적용</a:t>
            </a:r>
            <a:endParaRPr lang="en-US" sz="1050" dirty="0"/>
          </a:p>
        </p:txBody>
      </p:sp>
      <p:sp>
        <p:nvSpPr>
          <p:cNvPr id="61" name="Text 58"/>
          <p:cNvSpPr/>
          <p:nvPr/>
        </p:nvSpPr>
        <p:spPr>
          <a:xfrm>
            <a:off x="17023705" y="9891713"/>
            <a:ext cx="578495" cy="2190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0000"/>
              </a:lnSpc>
              <a:buNone/>
            </a:pPr>
            <a:r>
              <a:rPr lang="en-US" sz="1050" spc="38" kern="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 / 26</a:t>
            </a:r>
            <a:endParaRPr lang="en-US" sz="10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62000" y="533400"/>
            <a:ext cx="17266920" cy="2762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algn="l" indent="0" marL="0">
              <a:lnSpc>
                <a:spcPct val="140000"/>
              </a:lnSpc>
              <a:buNone/>
            </a:pPr>
            <a:r>
              <a:rPr lang="en-US" sz="1350" spc="150" kern="0" dirty="0">
                <a:solidFill>
                  <a:srgbClr val="1428A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STEP 5 · 메모리 사업 적용 — STEP 4</a:t>
            </a:r>
            <a:endParaRPr lang="en-US" sz="1350" dirty="0"/>
          </a:p>
        </p:txBody>
      </p:sp>
      <p:sp>
        <p:nvSpPr>
          <p:cNvPr id="3" name="Text 1"/>
          <p:cNvSpPr/>
          <p:nvPr/>
        </p:nvSpPr>
        <p:spPr>
          <a:xfrm>
            <a:off x="762000" y="885825"/>
            <a:ext cx="17266920" cy="5619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3300" b="1" spc="-37" kern="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두 개의 독립적 축이 우리 미래를 결정한다</a:t>
            </a:r>
            <a:endParaRPr lang="en-US" sz="3300" dirty="0"/>
          </a:p>
        </p:txBody>
      </p:sp>
      <p:sp>
        <p:nvSpPr>
          <p:cNvPr id="4" name="Text 2"/>
          <p:cNvSpPr/>
          <p:nvPr/>
        </p:nvSpPr>
        <p:spPr>
          <a:xfrm>
            <a:off x="762000" y="1524000"/>
            <a:ext cx="14716125" cy="3524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50000"/>
              </a:lnSpc>
              <a:buNone/>
            </a:pPr>
            <a:r>
              <a:rPr lang="en-US" sz="1650" dirty="0">
                <a:solidFill>
                  <a:srgbClr val="6B72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DF1 (AI 수요) × DF2 (미중 디커플링) — 서로 다른 인과 경로 = 독립 변수</a:t>
            </a:r>
            <a:endParaRPr lang="en-US" sz="1650" dirty="0"/>
          </a:p>
        </p:txBody>
      </p:sp>
      <p:sp>
        <p:nvSpPr>
          <p:cNvPr id="5" name="Shape 3"/>
          <p:cNvSpPr/>
          <p:nvPr/>
        </p:nvSpPr>
        <p:spPr>
          <a:xfrm>
            <a:off x="762000" y="2286000"/>
            <a:ext cx="8267700" cy="51435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Shape 4"/>
          <p:cNvSpPr/>
          <p:nvPr/>
        </p:nvSpPr>
        <p:spPr>
          <a:xfrm>
            <a:off x="762000" y="7419975"/>
            <a:ext cx="8267700" cy="9525"/>
          </a:xfrm>
          <a:prstGeom prst="rect">
            <a:avLst/>
          </a:prstGeom>
          <a:solidFill>
            <a:srgbClr val="D1D5DB"/>
          </a:solidFill>
          <a:ln/>
        </p:spPr>
      </p:sp>
      <p:sp>
        <p:nvSpPr>
          <p:cNvPr id="7" name="Shape 5"/>
          <p:cNvSpPr/>
          <p:nvPr/>
        </p:nvSpPr>
        <p:spPr>
          <a:xfrm>
            <a:off x="762000" y="2286000"/>
            <a:ext cx="8267700" cy="57150"/>
          </a:xfrm>
          <a:prstGeom prst="rect">
            <a:avLst/>
          </a:prstGeom>
          <a:solidFill>
            <a:srgbClr val="1428A0"/>
          </a:solidFill>
          <a:ln/>
        </p:spPr>
      </p:sp>
      <p:sp>
        <p:nvSpPr>
          <p:cNvPr id="8" name="Shape 6"/>
          <p:cNvSpPr/>
          <p:nvPr/>
        </p:nvSpPr>
        <p:spPr>
          <a:xfrm>
            <a:off x="762000" y="2286000"/>
            <a:ext cx="9525" cy="5143500"/>
          </a:xfrm>
          <a:prstGeom prst="rect">
            <a:avLst/>
          </a:prstGeom>
          <a:solidFill>
            <a:srgbClr val="D1D5DB"/>
          </a:solidFill>
          <a:ln/>
        </p:spPr>
      </p:sp>
      <p:sp>
        <p:nvSpPr>
          <p:cNvPr id="9" name="Shape 7"/>
          <p:cNvSpPr/>
          <p:nvPr/>
        </p:nvSpPr>
        <p:spPr>
          <a:xfrm>
            <a:off x="9020175" y="2286000"/>
            <a:ext cx="9525" cy="5143500"/>
          </a:xfrm>
          <a:prstGeom prst="rect">
            <a:avLst/>
          </a:prstGeom>
          <a:solidFill>
            <a:srgbClr val="D1D5DB"/>
          </a:solidFill>
          <a:ln/>
        </p:spPr>
      </p:sp>
      <p:sp>
        <p:nvSpPr>
          <p:cNvPr id="10" name="Text 8"/>
          <p:cNvSpPr/>
          <p:nvPr/>
        </p:nvSpPr>
        <p:spPr>
          <a:xfrm>
            <a:off x="1076325" y="2647950"/>
            <a:ext cx="7868221" cy="2190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0000"/>
              </a:lnSpc>
              <a:buNone/>
            </a:pPr>
            <a:r>
              <a:rPr lang="en-US" sz="1050" b="1" spc="150" kern="0" dirty="0">
                <a:solidFill>
                  <a:srgbClr val="1428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DF · 01</a:t>
            </a:r>
            <a:endParaRPr lang="en-US" sz="1050" dirty="0"/>
          </a:p>
        </p:txBody>
      </p:sp>
      <p:sp>
        <p:nvSpPr>
          <p:cNvPr id="11" name="Text 9"/>
          <p:cNvSpPr/>
          <p:nvPr/>
        </p:nvSpPr>
        <p:spPr>
          <a:xfrm>
            <a:off x="1076325" y="2905125"/>
            <a:ext cx="7868221" cy="3810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0000"/>
              </a:lnSpc>
              <a:buNone/>
            </a:pPr>
            <a:r>
              <a:rPr lang="en-US" sz="1950" b="1" dirty="0">
                <a:solidFill>
                  <a:srgbClr val="1428A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 수요의 구조적 지속성</a:t>
            </a:r>
            <a:endParaRPr lang="en-US" sz="1950" dirty="0"/>
          </a:p>
        </p:txBody>
      </p:sp>
      <p:sp>
        <p:nvSpPr>
          <p:cNvPr id="12" name="Text 10"/>
          <p:cNvSpPr/>
          <p:nvPr/>
        </p:nvSpPr>
        <p:spPr>
          <a:xfrm>
            <a:off x="1076325" y="3400425"/>
            <a:ext cx="7868221" cy="2952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55000"/>
              </a:lnSpc>
              <a:buNone/>
            </a:pPr>
            <a:r>
              <a:rPr lang="en-US" sz="1350" dirty="0">
                <a:solidFill>
                  <a:srgbClr val="37415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 CapEx + HBM 수요가 2030 ~ 2035년까지 </a:t>
            </a:r>
            <a:pPr algn="l" indent="0" marL="0">
              <a:lnSpc>
                <a:spcPct val="155000"/>
              </a:lnSpc>
              <a:buNone/>
            </a:pPr>
            <a:r>
              <a:rPr lang="en-US" sz="1350" b="1" dirty="0">
                <a:solidFill>
                  <a:srgbClr val="37415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구조적으로 유지되는가</a:t>
            </a:r>
            <a:pPr algn="l" indent="0" marL="0">
              <a:lnSpc>
                <a:spcPct val="155000"/>
              </a:lnSpc>
              <a:buNone/>
            </a:pPr>
            <a:r>
              <a:rPr lang="en-US" sz="1350" dirty="0">
                <a:solidFill>
                  <a:srgbClr val="37415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?</a:t>
            </a:r>
            <a:endParaRPr lang="en-US" sz="1350" dirty="0"/>
          </a:p>
        </p:txBody>
      </p:sp>
      <p:sp>
        <p:nvSpPr>
          <p:cNvPr id="13" name="Shape 11"/>
          <p:cNvSpPr/>
          <p:nvPr/>
        </p:nvSpPr>
        <p:spPr>
          <a:xfrm>
            <a:off x="1076325" y="3886200"/>
            <a:ext cx="3752850" cy="809625"/>
          </a:xfrm>
          <a:prstGeom prst="rect">
            <a:avLst/>
          </a:prstGeom>
          <a:solidFill>
            <a:srgbClr val="E8EEFC"/>
          </a:solidFill>
          <a:ln/>
        </p:spPr>
      </p:sp>
      <p:sp>
        <p:nvSpPr>
          <p:cNvPr id="14" name="Text 12"/>
          <p:cNvSpPr/>
          <p:nvPr/>
        </p:nvSpPr>
        <p:spPr>
          <a:xfrm>
            <a:off x="1177004" y="4038600"/>
            <a:ext cx="3551492" cy="2190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ctr" indent="0" marL="0">
              <a:lnSpc>
                <a:spcPct val="140000"/>
              </a:lnSpc>
              <a:buNone/>
            </a:pPr>
            <a:r>
              <a:rPr lang="en-US" sz="1050" b="1" spc="150" kern="0" dirty="0">
                <a:solidFill>
                  <a:srgbClr val="0596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POLE A · 슈퍼사이클</a:t>
            </a:r>
            <a:endParaRPr lang="en-US" sz="1050" dirty="0"/>
          </a:p>
        </p:txBody>
      </p:sp>
      <p:sp>
        <p:nvSpPr>
          <p:cNvPr id="15" name="Text 13"/>
          <p:cNvSpPr/>
          <p:nvPr/>
        </p:nvSpPr>
        <p:spPr>
          <a:xfrm>
            <a:off x="1177004" y="4295775"/>
            <a:ext cx="3551492" cy="2667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ctr" indent="0" marL="0">
              <a:lnSpc>
                <a:spcPct val="160000"/>
              </a:lnSpc>
              <a:buNone/>
            </a:pPr>
            <a:r>
              <a:rPr lang="en-US" sz="1125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 ROI 실현 · 빅테크 $1조 (2027) · HBM이 DRAM 50%</a:t>
            </a:r>
            <a:endParaRPr lang="en-US" sz="1125" dirty="0"/>
          </a:p>
        </p:txBody>
      </p:sp>
      <p:sp>
        <p:nvSpPr>
          <p:cNvPr id="16" name="Shape 14"/>
          <p:cNvSpPr/>
          <p:nvPr/>
        </p:nvSpPr>
        <p:spPr>
          <a:xfrm>
            <a:off x="4943475" y="3886200"/>
            <a:ext cx="3771900" cy="809625"/>
          </a:xfrm>
          <a:prstGeom prst="rect">
            <a:avLst/>
          </a:prstGeom>
          <a:solidFill>
            <a:srgbClr val="FEF2F2"/>
          </a:solidFill>
          <a:ln w="9525">
            <a:solidFill>
              <a:srgbClr val="FECACA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5053679" y="4048125"/>
            <a:ext cx="3551492" cy="2190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ctr" indent="0" marL="0">
              <a:lnSpc>
                <a:spcPct val="140000"/>
              </a:lnSpc>
              <a:buNone/>
            </a:pPr>
            <a:r>
              <a:rPr lang="en-US" sz="1050" b="1" spc="150" kern="0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POLE B · 버블 붕괴</a:t>
            </a:r>
            <a:endParaRPr lang="en-US" sz="1050" dirty="0"/>
          </a:p>
        </p:txBody>
      </p:sp>
      <p:sp>
        <p:nvSpPr>
          <p:cNvPr id="18" name="Text 16"/>
          <p:cNvSpPr/>
          <p:nvPr/>
        </p:nvSpPr>
        <p:spPr>
          <a:xfrm>
            <a:off x="5053679" y="4305300"/>
            <a:ext cx="3551492" cy="2667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ctr" indent="0" marL="0">
              <a:lnSpc>
                <a:spcPct val="160000"/>
              </a:lnSpc>
              <a:buNone/>
            </a:pPr>
            <a:r>
              <a:rPr lang="en-US" sz="1125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 ROI 미실현 · 빅테크 −30% (2027) · 2022–23 재현</a:t>
            </a:r>
            <a:endParaRPr lang="en-US" sz="1125" dirty="0"/>
          </a:p>
        </p:txBody>
      </p:sp>
      <p:sp>
        <p:nvSpPr>
          <p:cNvPr id="19" name="Text 17"/>
          <p:cNvSpPr/>
          <p:nvPr/>
        </p:nvSpPr>
        <p:spPr>
          <a:xfrm>
            <a:off x="1076325" y="4924425"/>
            <a:ext cx="7868221" cy="2381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0000"/>
              </a:lnSpc>
              <a:buNone/>
            </a:pPr>
            <a:r>
              <a:rPr lang="en-US" sz="1125" b="1" dirty="0">
                <a:solidFill>
                  <a:srgbClr val="1428A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현재 위치 → 70% 슈퍼사이클 방향</a:t>
            </a:r>
            <a:endParaRPr lang="en-US" sz="1125" dirty="0"/>
          </a:p>
        </p:txBody>
      </p:sp>
      <p:sp>
        <p:nvSpPr>
          <p:cNvPr id="20" name="Shape 18"/>
          <p:cNvSpPr/>
          <p:nvPr/>
        </p:nvSpPr>
        <p:spPr>
          <a:xfrm>
            <a:off x="1076325" y="5200650"/>
            <a:ext cx="7639050" cy="133350"/>
          </a:xfrm>
          <a:prstGeom prst="roundRect">
            <a:avLst>
              <a:gd name="adj" fmla="val 50000"/>
            </a:avLst>
          </a:prstGeom>
          <a:solidFill>
            <a:srgbClr val="DC2626"/>
          </a:solidFill>
          <a:ln/>
        </p:spPr>
      </p:sp>
      <p:sp>
        <p:nvSpPr>
          <p:cNvPr id="21" name="Shape 19"/>
          <p:cNvSpPr/>
          <p:nvPr/>
        </p:nvSpPr>
        <p:spPr>
          <a:xfrm>
            <a:off x="6423571" y="5124450"/>
            <a:ext cx="38100" cy="285750"/>
          </a:xfrm>
          <a:prstGeom prst="rect">
            <a:avLst/>
          </a:prstGeom>
          <a:solidFill>
            <a:srgbClr val="1A1A1A"/>
          </a:solidFill>
          <a:ln/>
        </p:spPr>
      </p:sp>
      <p:sp>
        <p:nvSpPr>
          <p:cNvPr id="22" name="Text 20"/>
          <p:cNvSpPr/>
          <p:nvPr/>
        </p:nvSpPr>
        <p:spPr>
          <a:xfrm>
            <a:off x="1076325" y="5448300"/>
            <a:ext cx="7868221" cy="2381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0000"/>
              </a:lnSpc>
              <a:buNone/>
            </a:pPr>
            <a:r>
              <a:rPr lang="en-US" sz="1125" b="1" dirty="0">
                <a:solidFill>
                  <a:srgbClr val="6B72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근거: </a:t>
            </a:r>
            <a:pPr algn="l" indent="0" marL="0">
              <a:lnSpc>
                <a:spcPct val="140000"/>
              </a:lnSpc>
              <a:buNone/>
            </a:pPr>
            <a:r>
              <a:rPr lang="en-US" sz="1125" dirty="0">
                <a:solidFill>
                  <a:srgbClr val="6B72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2026 HBM Sold Out + AI CapEx +77% YoY</a:t>
            </a:r>
            <a:endParaRPr lang="en-US" sz="1125" dirty="0"/>
          </a:p>
        </p:txBody>
      </p:sp>
      <p:sp>
        <p:nvSpPr>
          <p:cNvPr id="23" name="Shape 21"/>
          <p:cNvSpPr/>
          <p:nvPr/>
        </p:nvSpPr>
        <p:spPr>
          <a:xfrm>
            <a:off x="9258300" y="2286000"/>
            <a:ext cx="8267700" cy="51435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4" name="Shape 22"/>
          <p:cNvSpPr/>
          <p:nvPr/>
        </p:nvSpPr>
        <p:spPr>
          <a:xfrm>
            <a:off x="9258300" y="7419975"/>
            <a:ext cx="8267700" cy="9525"/>
          </a:xfrm>
          <a:prstGeom prst="rect">
            <a:avLst/>
          </a:prstGeom>
          <a:solidFill>
            <a:srgbClr val="D1D5DB"/>
          </a:solidFill>
          <a:ln/>
        </p:spPr>
      </p:sp>
      <p:sp>
        <p:nvSpPr>
          <p:cNvPr id="25" name="Shape 23"/>
          <p:cNvSpPr/>
          <p:nvPr/>
        </p:nvSpPr>
        <p:spPr>
          <a:xfrm>
            <a:off x="9258300" y="2286000"/>
            <a:ext cx="8267700" cy="57150"/>
          </a:xfrm>
          <a:prstGeom prst="rect">
            <a:avLst/>
          </a:prstGeom>
          <a:solidFill>
            <a:srgbClr val="1428A0"/>
          </a:solidFill>
          <a:ln/>
        </p:spPr>
      </p:sp>
      <p:sp>
        <p:nvSpPr>
          <p:cNvPr id="26" name="Shape 24"/>
          <p:cNvSpPr/>
          <p:nvPr/>
        </p:nvSpPr>
        <p:spPr>
          <a:xfrm>
            <a:off x="9258300" y="2286000"/>
            <a:ext cx="9525" cy="5143500"/>
          </a:xfrm>
          <a:prstGeom prst="rect">
            <a:avLst/>
          </a:prstGeom>
          <a:solidFill>
            <a:srgbClr val="D1D5DB"/>
          </a:solidFill>
          <a:ln/>
        </p:spPr>
      </p:sp>
      <p:sp>
        <p:nvSpPr>
          <p:cNvPr id="27" name="Shape 25"/>
          <p:cNvSpPr/>
          <p:nvPr/>
        </p:nvSpPr>
        <p:spPr>
          <a:xfrm>
            <a:off x="17516475" y="2286000"/>
            <a:ext cx="9525" cy="5143500"/>
          </a:xfrm>
          <a:prstGeom prst="rect">
            <a:avLst/>
          </a:prstGeom>
          <a:solidFill>
            <a:srgbClr val="D1D5DB"/>
          </a:solidFill>
          <a:ln/>
        </p:spPr>
      </p:sp>
      <p:sp>
        <p:nvSpPr>
          <p:cNvPr id="28" name="Text 26"/>
          <p:cNvSpPr/>
          <p:nvPr/>
        </p:nvSpPr>
        <p:spPr>
          <a:xfrm>
            <a:off x="9572625" y="2647950"/>
            <a:ext cx="7868221" cy="2190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0000"/>
              </a:lnSpc>
              <a:buNone/>
            </a:pPr>
            <a:r>
              <a:rPr lang="en-US" sz="1050" b="1" spc="150" kern="0" dirty="0">
                <a:solidFill>
                  <a:srgbClr val="1428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DF · 02</a:t>
            </a:r>
            <a:endParaRPr lang="en-US" sz="1050" dirty="0"/>
          </a:p>
        </p:txBody>
      </p:sp>
      <p:sp>
        <p:nvSpPr>
          <p:cNvPr id="29" name="Text 27"/>
          <p:cNvSpPr/>
          <p:nvPr/>
        </p:nvSpPr>
        <p:spPr>
          <a:xfrm>
            <a:off x="9572625" y="2905125"/>
            <a:ext cx="7868221" cy="3810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0000"/>
              </a:lnSpc>
              <a:buNone/>
            </a:pPr>
            <a:r>
              <a:rPr lang="en-US" sz="1950" b="1" dirty="0">
                <a:solidFill>
                  <a:srgbClr val="1428A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미중 기술 디커플링 강도</a:t>
            </a:r>
            <a:endParaRPr lang="en-US" sz="1950" dirty="0"/>
          </a:p>
        </p:txBody>
      </p:sp>
      <p:sp>
        <p:nvSpPr>
          <p:cNvPr id="30" name="Text 28"/>
          <p:cNvSpPr/>
          <p:nvPr/>
        </p:nvSpPr>
        <p:spPr>
          <a:xfrm>
            <a:off x="9572625" y="3400425"/>
            <a:ext cx="7868221" cy="2952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55000"/>
              </a:lnSpc>
              <a:buNone/>
            </a:pPr>
            <a:r>
              <a:rPr lang="en-US" sz="1350" dirty="0">
                <a:solidFill>
                  <a:srgbClr val="37415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미국 주도 수출 통제가 </a:t>
            </a:r>
            <a:pPr algn="l" indent="0" marL="0">
              <a:lnSpc>
                <a:spcPct val="155000"/>
              </a:lnSpc>
              <a:buNone/>
            </a:pPr>
            <a:r>
              <a:rPr lang="en-US" sz="1350" b="1" dirty="0">
                <a:solidFill>
                  <a:srgbClr val="37415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전면 디커플링 vs 관리된 공존</a:t>
            </a:r>
            <a:pPr algn="l" indent="0" marL="0">
              <a:lnSpc>
                <a:spcPct val="155000"/>
              </a:lnSpc>
              <a:buNone/>
            </a:pPr>
            <a:r>
              <a:rPr lang="en-US" sz="1350" dirty="0">
                <a:solidFill>
                  <a:srgbClr val="37415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?</a:t>
            </a:r>
            <a:endParaRPr lang="en-US" sz="1350" dirty="0"/>
          </a:p>
        </p:txBody>
      </p:sp>
      <p:sp>
        <p:nvSpPr>
          <p:cNvPr id="31" name="Shape 29"/>
          <p:cNvSpPr/>
          <p:nvPr/>
        </p:nvSpPr>
        <p:spPr>
          <a:xfrm>
            <a:off x="9572625" y="3886200"/>
            <a:ext cx="3771900" cy="809625"/>
          </a:xfrm>
          <a:prstGeom prst="rect">
            <a:avLst/>
          </a:prstGeom>
          <a:solidFill>
            <a:srgbClr val="FEF2F2"/>
          </a:solidFill>
          <a:ln w="9525">
            <a:solidFill>
              <a:srgbClr val="FECACA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9682829" y="4048125"/>
            <a:ext cx="3551492" cy="2190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ctr" indent="0" marL="0">
              <a:lnSpc>
                <a:spcPct val="140000"/>
              </a:lnSpc>
              <a:buNone/>
            </a:pPr>
            <a:r>
              <a:rPr lang="en-US" sz="1050" b="1" spc="150" kern="0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POLE A · 전면 디커플링</a:t>
            </a:r>
            <a:endParaRPr lang="en-US" sz="1050" dirty="0"/>
          </a:p>
        </p:txBody>
      </p:sp>
      <p:sp>
        <p:nvSpPr>
          <p:cNvPr id="33" name="Text 31"/>
          <p:cNvSpPr/>
          <p:nvPr/>
        </p:nvSpPr>
        <p:spPr>
          <a:xfrm>
            <a:off x="9682829" y="4305300"/>
            <a:ext cx="3551492" cy="2667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ctr" indent="0" marL="0">
              <a:lnSpc>
                <a:spcPct val="160000"/>
              </a:lnSpc>
              <a:buNone/>
            </a:pPr>
            <a:r>
              <a:rPr lang="en-US" sz="1125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MATCH 통과 · 시안 팹 차단 · 중국 매출 소멸</a:t>
            </a:r>
            <a:endParaRPr lang="en-US" sz="1125" dirty="0"/>
          </a:p>
        </p:txBody>
      </p:sp>
      <p:sp>
        <p:nvSpPr>
          <p:cNvPr id="34" name="Shape 32"/>
          <p:cNvSpPr/>
          <p:nvPr/>
        </p:nvSpPr>
        <p:spPr>
          <a:xfrm>
            <a:off x="13458825" y="3886200"/>
            <a:ext cx="3752850" cy="809625"/>
          </a:xfrm>
          <a:prstGeom prst="rect">
            <a:avLst/>
          </a:prstGeom>
          <a:solidFill>
            <a:srgbClr val="E8EEFC"/>
          </a:solidFill>
          <a:ln/>
        </p:spPr>
      </p:sp>
      <p:sp>
        <p:nvSpPr>
          <p:cNvPr id="35" name="Text 33"/>
          <p:cNvSpPr/>
          <p:nvPr/>
        </p:nvSpPr>
        <p:spPr>
          <a:xfrm>
            <a:off x="13559504" y="4038600"/>
            <a:ext cx="3551492" cy="2190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ctr" indent="0" marL="0">
              <a:lnSpc>
                <a:spcPct val="140000"/>
              </a:lnSpc>
              <a:buNone/>
            </a:pPr>
            <a:r>
              <a:rPr lang="en-US" sz="1050" b="1" spc="150" kern="0" dirty="0">
                <a:solidFill>
                  <a:srgbClr val="0596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POLE B · 관리된 공존</a:t>
            </a:r>
            <a:endParaRPr lang="en-US" sz="1050" dirty="0"/>
          </a:p>
        </p:txBody>
      </p:sp>
      <p:sp>
        <p:nvSpPr>
          <p:cNvPr id="36" name="Text 34"/>
          <p:cNvSpPr/>
          <p:nvPr/>
        </p:nvSpPr>
        <p:spPr>
          <a:xfrm>
            <a:off x="13559504" y="4295775"/>
            <a:ext cx="3551492" cy="2667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ctr" indent="0" marL="0">
              <a:lnSpc>
                <a:spcPct val="160000"/>
              </a:lnSpc>
              <a:buNone/>
            </a:pPr>
            <a:r>
              <a:rPr lang="en-US" sz="1125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선택적 제재·허용 · 라이선스 갱신 · 범용 허용</a:t>
            </a:r>
            <a:endParaRPr lang="en-US" sz="1125" dirty="0"/>
          </a:p>
        </p:txBody>
      </p:sp>
      <p:sp>
        <p:nvSpPr>
          <p:cNvPr id="37" name="Text 35"/>
          <p:cNvSpPr/>
          <p:nvPr/>
        </p:nvSpPr>
        <p:spPr>
          <a:xfrm>
            <a:off x="9572625" y="4924425"/>
            <a:ext cx="7868221" cy="2381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0000"/>
              </a:lnSpc>
              <a:buNone/>
            </a:pPr>
            <a:r>
              <a:rPr lang="en-US" sz="1125" b="1" dirty="0">
                <a:solidFill>
                  <a:srgbClr val="1428A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현재 위치 → 중립, 진동 중</a:t>
            </a:r>
            <a:endParaRPr lang="en-US" sz="1125" dirty="0"/>
          </a:p>
        </p:txBody>
      </p:sp>
      <p:sp>
        <p:nvSpPr>
          <p:cNvPr id="38" name="Shape 36"/>
          <p:cNvSpPr/>
          <p:nvPr/>
        </p:nvSpPr>
        <p:spPr>
          <a:xfrm>
            <a:off x="9572625" y="5200650"/>
            <a:ext cx="7639050" cy="133350"/>
          </a:xfrm>
          <a:prstGeom prst="roundRect">
            <a:avLst>
              <a:gd name="adj" fmla="val 50000"/>
            </a:avLst>
          </a:prstGeom>
          <a:solidFill>
            <a:srgbClr val="DC2626"/>
          </a:solidFill>
          <a:ln/>
        </p:spPr>
      </p:sp>
      <p:sp>
        <p:nvSpPr>
          <p:cNvPr id="39" name="Shape 37"/>
          <p:cNvSpPr/>
          <p:nvPr/>
        </p:nvSpPr>
        <p:spPr>
          <a:xfrm>
            <a:off x="13392150" y="5124450"/>
            <a:ext cx="38100" cy="285750"/>
          </a:xfrm>
          <a:prstGeom prst="rect">
            <a:avLst/>
          </a:prstGeom>
          <a:solidFill>
            <a:srgbClr val="1A1A1A"/>
          </a:solidFill>
          <a:ln/>
        </p:spPr>
      </p:sp>
      <p:sp>
        <p:nvSpPr>
          <p:cNvPr id="40" name="Text 38"/>
          <p:cNvSpPr/>
          <p:nvPr/>
        </p:nvSpPr>
        <p:spPr>
          <a:xfrm>
            <a:off x="9572625" y="5448300"/>
            <a:ext cx="7868221" cy="2381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0000"/>
              </a:lnSpc>
              <a:buNone/>
            </a:pPr>
            <a:r>
              <a:rPr lang="en-US" sz="1125" b="1" dirty="0">
                <a:solidFill>
                  <a:srgbClr val="6B72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근거: </a:t>
            </a:r>
            <a:pPr algn="l" indent="0" marL="0">
              <a:lnSpc>
                <a:spcPct val="140000"/>
              </a:lnSpc>
              <a:buNone/>
            </a:pPr>
            <a:r>
              <a:rPr lang="en-US" sz="1125" dirty="0">
                <a:solidFill>
                  <a:srgbClr val="6B72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H20 재허용 (공존) + VEU 폐지 (디커플링)</a:t>
            </a:r>
            <a:endParaRPr lang="en-US" sz="1125" dirty="0"/>
          </a:p>
        </p:txBody>
      </p:sp>
      <p:sp>
        <p:nvSpPr>
          <p:cNvPr id="41" name="Shape 39"/>
          <p:cNvSpPr/>
          <p:nvPr/>
        </p:nvSpPr>
        <p:spPr>
          <a:xfrm>
            <a:off x="762000" y="7658100"/>
            <a:ext cx="16764000" cy="742950"/>
          </a:xfrm>
          <a:prstGeom prst="rect">
            <a:avLst/>
          </a:prstGeom>
          <a:solidFill>
            <a:srgbClr val="1428A0"/>
          </a:solidFill>
          <a:ln/>
        </p:spPr>
      </p:sp>
      <p:sp>
        <p:nvSpPr>
          <p:cNvPr id="42" name="Text 40"/>
          <p:cNvSpPr/>
          <p:nvPr/>
        </p:nvSpPr>
        <p:spPr>
          <a:xfrm>
            <a:off x="1066800" y="7939087"/>
            <a:ext cx="1343471" cy="2190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0000"/>
              </a:lnSpc>
              <a:buNone/>
            </a:pPr>
            <a:r>
              <a:rPr lang="en-US" sz="1050" b="1" spc="150" kern="0" dirty="0">
                <a:solidFill>
                  <a:srgbClr val="FFFFFF">
                    <a:alpha val="80000"/>
                  </a:srgbClr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INDEPENDENCE</a:t>
            </a:r>
            <a:endParaRPr lang="en-US" sz="1050" dirty="0"/>
          </a:p>
        </p:txBody>
      </p:sp>
      <p:sp>
        <p:nvSpPr>
          <p:cNvPr id="43" name="Text 41"/>
          <p:cNvSpPr/>
          <p:nvPr/>
        </p:nvSpPr>
        <p:spPr>
          <a:xfrm>
            <a:off x="2562671" y="7886700"/>
            <a:ext cx="7874353" cy="3238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0000"/>
              </a:lnSpc>
              <a:buNone/>
            </a:pPr>
            <a:r>
              <a:rPr lang="en-US" sz="16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DF1 = 기술·경제 내적 논리 | DF2 = 외교·안보 논리 → 서로 다른 인과 경로 → 독립 변수</a:t>
            </a:r>
            <a:endParaRPr lang="en-US" sz="1650" dirty="0"/>
          </a:p>
        </p:txBody>
      </p:sp>
      <p:sp>
        <p:nvSpPr>
          <p:cNvPr id="44" name="Shape 42"/>
          <p:cNvSpPr/>
          <p:nvPr/>
        </p:nvSpPr>
        <p:spPr>
          <a:xfrm>
            <a:off x="762000" y="9667875"/>
            <a:ext cx="16764000" cy="9525"/>
          </a:xfrm>
          <a:prstGeom prst="rect">
            <a:avLst/>
          </a:prstGeom>
          <a:solidFill>
            <a:srgbClr val="D1D5DB"/>
          </a:solidFill>
          <a:ln/>
        </p:spPr>
      </p:sp>
      <p:sp>
        <p:nvSpPr>
          <p:cNvPr id="45" name="Text 43"/>
          <p:cNvSpPr/>
          <p:nvPr/>
        </p:nvSpPr>
        <p:spPr>
          <a:xfrm>
            <a:off x="762000" y="9891713"/>
            <a:ext cx="1515666" cy="2190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0000"/>
              </a:lnSpc>
              <a:buNone/>
            </a:pPr>
            <a:r>
              <a:rPr lang="en-US" sz="1050" spc="38" kern="0" dirty="0">
                <a:solidFill>
                  <a:srgbClr val="6B72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삼성전자 </a:t>
            </a:r>
            <a:pPr algn="l" indent="0" marL="0">
              <a:lnSpc>
                <a:spcPct val="140000"/>
              </a:lnSpc>
              <a:buNone/>
            </a:pPr>
            <a:r>
              <a:rPr lang="en-US" sz="1050" b="1" spc="38" kern="0" dirty="0">
                <a:solidFill>
                  <a:srgbClr val="1428A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| </a:t>
            </a:r>
            <a:pPr algn="l" indent="0" marL="0">
              <a:lnSpc>
                <a:spcPct val="140000"/>
              </a:lnSpc>
              <a:buNone/>
            </a:pPr>
            <a:r>
              <a:rPr lang="en-US" sz="1050" spc="38" kern="0" dirty="0">
                <a:solidFill>
                  <a:srgbClr val="6B72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STEP 5 · 적용</a:t>
            </a:r>
            <a:endParaRPr lang="en-US" sz="1050" dirty="0"/>
          </a:p>
        </p:txBody>
      </p:sp>
      <p:sp>
        <p:nvSpPr>
          <p:cNvPr id="46" name="Text 44"/>
          <p:cNvSpPr/>
          <p:nvPr/>
        </p:nvSpPr>
        <p:spPr>
          <a:xfrm>
            <a:off x="17023705" y="9891713"/>
            <a:ext cx="578495" cy="2190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0000"/>
              </a:lnSpc>
              <a:buNone/>
            </a:pPr>
            <a:r>
              <a:rPr lang="en-US" sz="1050" spc="38" kern="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 / 26</a:t>
            </a:r>
            <a:endParaRPr lang="en-US" sz="10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62000" y="533400"/>
            <a:ext cx="17266920" cy="2762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algn="l" indent="0" marL="0">
              <a:lnSpc>
                <a:spcPct val="140000"/>
              </a:lnSpc>
              <a:buNone/>
            </a:pPr>
            <a:r>
              <a:rPr lang="en-US" sz="1350" spc="150" kern="0" dirty="0">
                <a:solidFill>
                  <a:srgbClr val="1428A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STEP 5 · 메모리 사업 적용 — STEP 5</a:t>
            </a:r>
            <a:endParaRPr lang="en-US" sz="1350" dirty="0"/>
          </a:p>
        </p:txBody>
      </p:sp>
      <p:sp>
        <p:nvSpPr>
          <p:cNvPr id="3" name="Text 1"/>
          <p:cNvSpPr/>
          <p:nvPr/>
        </p:nvSpPr>
        <p:spPr>
          <a:xfrm>
            <a:off x="762000" y="885825"/>
            <a:ext cx="17266920" cy="5619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3300" b="1" spc="-37" kern="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두 축의 조합이 5개 대안적 미래를 만든다</a:t>
            </a:r>
            <a:endParaRPr lang="en-US" sz="3300" dirty="0"/>
          </a:p>
        </p:txBody>
      </p:sp>
      <p:sp>
        <p:nvSpPr>
          <p:cNvPr id="4" name="Text 2"/>
          <p:cNvSpPr/>
          <p:nvPr/>
        </p:nvSpPr>
        <p:spPr>
          <a:xfrm>
            <a:off x="762000" y="1524000"/>
            <a:ext cx="14716125" cy="3524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50000"/>
              </a:lnSpc>
              <a:buNone/>
            </a:pPr>
            <a:r>
              <a:rPr lang="en-US" sz="1650" dirty="0">
                <a:solidFill>
                  <a:srgbClr val="6B72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2×2 매트릭스 + 와일드카드 E — 각 시나리오의 2035년 시장 규모와 확률</a:t>
            </a:r>
            <a:endParaRPr lang="en-US" sz="1650" dirty="0"/>
          </a:p>
        </p:txBody>
      </p:sp>
      <p:sp>
        <p:nvSpPr>
          <p:cNvPr id="5" name="Shape 3"/>
          <p:cNvSpPr/>
          <p:nvPr/>
        </p:nvSpPr>
        <p:spPr>
          <a:xfrm>
            <a:off x="1524000" y="2286000"/>
            <a:ext cx="10762655" cy="762000"/>
          </a:xfrm>
          <a:prstGeom prst="rect">
            <a:avLst/>
          </a:prstGeom>
          <a:solidFill>
            <a:srgbClr val="E8EEFC"/>
          </a:solidFill>
          <a:ln/>
        </p:spPr>
      </p:sp>
      <p:sp>
        <p:nvSpPr>
          <p:cNvPr id="6" name="Text 4"/>
          <p:cNvSpPr/>
          <p:nvPr/>
        </p:nvSpPr>
        <p:spPr>
          <a:xfrm>
            <a:off x="1362560" y="2286000"/>
            <a:ext cx="11085534" cy="8001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algn="ctr" indent="0" marL="0">
              <a:lnSpc>
                <a:spcPct val="140000"/>
              </a:lnSpc>
              <a:buNone/>
            </a:pPr>
            <a:r>
              <a:rPr lang="en-US" sz="1350" b="1" spc="75" kern="0" dirty="0">
                <a:solidFill>
                  <a:srgbClr val="1428A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DF2 · 디커플링 (POLE A) ↑</a:t>
            </a:r>
            <a:endParaRPr lang="en-US" sz="1350" dirty="0"/>
          </a:p>
        </p:txBody>
      </p:sp>
      <p:sp>
        <p:nvSpPr>
          <p:cNvPr id="7" name="Shape 5"/>
          <p:cNvSpPr/>
          <p:nvPr/>
        </p:nvSpPr>
        <p:spPr>
          <a:xfrm>
            <a:off x="1524000" y="7429500"/>
            <a:ext cx="10762655" cy="571500"/>
          </a:xfrm>
          <a:prstGeom prst="rect">
            <a:avLst/>
          </a:prstGeom>
          <a:solidFill>
            <a:srgbClr val="E8EEFC"/>
          </a:solidFill>
          <a:ln/>
        </p:spPr>
      </p:sp>
      <p:sp>
        <p:nvSpPr>
          <p:cNvPr id="8" name="Text 6"/>
          <p:cNvSpPr/>
          <p:nvPr/>
        </p:nvSpPr>
        <p:spPr>
          <a:xfrm>
            <a:off x="1362560" y="7429500"/>
            <a:ext cx="11085534" cy="6096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algn="ctr" indent="0" marL="0">
              <a:lnSpc>
                <a:spcPct val="140000"/>
              </a:lnSpc>
              <a:buNone/>
            </a:pPr>
            <a:r>
              <a:rPr lang="en-US" sz="1350" b="1" spc="75" kern="0" dirty="0">
                <a:solidFill>
                  <a:srgbClr val="1428A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DF2 · 관리된 공존 (POLE B) ↓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 rot="10800000">
            <a:off x="762000" y="3048000"/>
            <a:ext cx="762000" cy="4381500"/>
          </a:xfrm>
          <a:prstGeom prst="rect">
            <a:avLst/>
          </a:prstGeom>
          <a:solidFill>
            <a:srgbClr val="E8EEFC"/>
          </a:solidFill>
          <a:ln/>
        </p:spPr>
      </p:sp>
      <p:sp>
        <p:nvSpPr>
          <p:cNvPr id="10" name="Text 8"/>
          <p:cNvSpPr/>
          <p:nvPr/>
        </p:nvSpPr>
        <p:spPr>
          <a:xfrm rot="10800000">
            <a:off x="723900" y="3048000"/>
            <a:ext cx="838200" cy="44196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algn="ctr" indent="0" marL="0">
              <a:lnSpc>
                <a:spcPct val="140000"/>
              </a:lnSpc>
              <a:buNone/>
            </a:pPr>
            <a:r>
              <a:rPr lang="en-US" sz="1350" b="1" spc="75" kern="0" dirty="0">
                <a:solidFill>
                  <a:srgbClr val="1428A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DF1 · ← AI 붕괴 AI 지속 →</a:t>
            </a:r>
            <a:endParaRPr lang="en-US" sz="1350" dirty="0"/>
          </a:p>
        </p:txBody>
      </p:sp>
      <p:sp>
        <p:nvSpPr>
          <p:cNvPr id="11" name="Shape 9"/>
          <p:cNvSpPr/>
          <p:nvPr/>
        </p:nvSpPr>
        <p:spPr>
          <a:xfrm>
            <a:off x="762000" y="2286000"/>
            <a:ext cx="762000" cy="762000"/>
          </a:xfrm>
          <a:prstGeom prst="rect">
            <a:avLst/>
          </a:prstGeom>
          <a:solidFill>
            <a:srgbClr val="FFFFFF"/>
          </a:solidFill>
          <a:ln w="9525">
            <a:solidFill>
              <a:srgbClr val="D1D5DB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038225" y="2562225"/>
            <a:ext cx="218033" cy="11239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0000"/>
              </a:lnSpc>
              <a:buNone/>
            </a:pPr>
            <a:r>
              <a:rPr lang="en-US" sz="1050" b="1" spc="150" kern="0" dirty="0">
                <a:solidFill>
                  <a:srgbClr val="DC26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 · 기술 냉전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1180058" y="2609850"/>
            <a:ext cx="562570" cy="266700"/>
          </a:xfrm>
          <a:prstGeom prst="roundRect">
            <a:avLst>
              <a:gd name="adj" fmla="val 50000"/>
            </a:avLst>
          </a:prstGeom>
          <a:solidFill>
            <a:srgbClr val="FEE2E2"/>
          </a:solidFill>
          <a:ln/>
        </p:spPr>
      </p:sp>
      <p:sp>
        <p:nvSpPr>
          <p:cNvPr id="14" name="Text 12"/>
          <p:cNvSpPr/>
          <p:nvPr/>
        </p:nvSpPr>
        <p:spPr>
          <a:xfrm>
            <a:off x="1313408" y="2609850"/>
            <a:ext cx="372070" cy="3048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algn="l" indent="0" marL="0">
              <a:lnSpc>
                <a:spcPct val="140000"/>
              </a:lnSpc>
              <a:buNone/>
            </a:pPr>
            <a:r>
              <a:rPr lang="en-US" sz="1050" b="1" spc="38" kern="0" dirty="0">
                <a:solidFill>
                  <a:srgbClr val="991B1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10–15%</a:t>
            </a:r>
            <a:endParaRPr lang="en-US" sz="1050" dirty="0"/>
          </a:p>
        </p:txBody>
      </p:sp>
      <p:sp>
        <p:nvSpPr>
          <p:cNvPr id="15" name="Text 13"/>
          <p:cNvSpPr/>
          <p:nvPr/>
        </p:nvSpPr>
        <p:spPr>
          <a:xfrm>
            <a:off x="1038225" y="3743325"/>
            <a:ext cx="285750" cy="23241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80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 붕괴 × 디커플링</a:t>
            </a:r>
            <a:endParaRPr lang="en-US" sz="1800" dirty="0"/>
          </a:p>
        </p:txBody>
      </p:sp>
      <p:sp>
        <p:nvSpPr>
          <p:cNvPr id="16" name="Text 14"/>
          <p:cNvSpPr/>
          <p:nvPr/>
        </p:nvSpPr>
        <p:spPr>
          <a:xfrm>
            <a:off x="1038225" y="6124575"/>
            <a:ext cx="285750" cy="44386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60000"/>
              </a:lnSpc>
              <a:buNone/>
            </a:pPr>
            <a:r>
              <a:rPr lang="en-US" sz="1050" b="1" dirty="0">
                <a:solidFill>
                  <a:srgbClr val="37415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2035 시장 $260B </a:t>
            </a:r>
            <a:pPr algn="l" indent="0" marL="0">
              <a:lnSpc>
                <a:spcPct val="160000"/>
              </a:lnSpc>
              <a:buNone/>
            </a:pPr>
            <a:r>
              <a:rPr lang="en-US" sz="1050" dirty="0">
                <a:solidFill>
                  <a:srgbClr val="37415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HBM 수요 급냉 + 시안 차단 + 소재 수출 제한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1524000" y="3048000"/>
            <a:ext cx="5381327" cy="2190750"/>
          </a:xfrm>
          <a:prstGeom prst="rect">
            <a:avLst/>
          </a:prstGeom>
          <a:solidFill>
            <a:srgbClr val="FFFFFF"/>
          </a:solidFill>
          <a:ln w="9525">
            <a:solidFill>
              <a:srgbClr val="D1D5DB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1800225" y="3362325"/>
            <a:ext cx="958304" cy="2190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0000"/>
              </a:lnSpc>
              <a:buNone/>
            </a:pPr>
            <a:r>
              <a:rPr lang="en-US" sz="1050" b="1" spc="150" kern="0" dirty="0">
                <a:solidFill>
                  <a:srgbClr val="D9770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 · 황금 요새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5825877" y="3324225"/>
            <a:ext cx="803225" cy="266700"/>
          </a:xfrm>
          <a:prstGeom prst="roundRect">
            <a:avLst>
              <a:gd name="adj" fmla="val 50000"/>
            </a:avLst>
          </a:prstGeom>
          <a:solidFill>
            <a:srgbClr val="FEF3C7"/>
          </a:solidFill>
          <a:ln/>
        </p:spPr>
      </p:sp>
      <p:sp>
        <p:nvSpPr>
          <p:cNvPr id="20" name="Text 18"/>
          <p:cNvSpPr/>
          <p:nvPr/>
        </p:nvSpPr>
        <p:spPr>
          <a:xfrm>
            <a:off x="5959227" y="3324225"/>
            <a:ext cx="612725" cy="3048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algn="l" indent="0" marL="0">
              <a:lnSpc>
                <a:spcPct val="140000"/>
              </a:lnSpc>
              <a:buNone/>
            </a:pPr>
            <a:r>
              <a:rPr lang="en-US" sz="1050" b="1" spc="38" kern="0" dirty="0">
                <a:solidFill>
                  <a:srgbClr val="92400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25–30%</a:t>
            </a:r>
            <a:endParaRPr lang="en-US" sz="1050" dirty="0"/>
          </a:p>
        </p:txBody>
      </p:sp>
      <p:sp>
        <p:nvSpPr>
          <p:cNvPr id="21" name="Text 19"/>
          <p:cNvSpPr/>
          <p:nvPr/>
        </p:nvSpPr>
        <p:spPr>
          <a:xfrm>
            <a:off x="1800225" y="3686175"/>
            <a:ext cx="4973744" cy="3238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80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 지속 × 디커플링 ⚠</a:t>
            </a:r>
            <a:endParaRPr lang="en-US" sz="1800" dirty="0"/>
          </a:p>
        </p:txBody>
      </p:sp>
      <p:sp>
        <p:nvSpPr>
          <p:cNvPr id="22" name="Text 20"/>
          <p:cNvSpPr/>
          <p:nvPr/>
        </p:nvSpPr>
        <p:spPr>
          <a:xfrm>
            <a:off x="1800225" y="4067175"/>
            <a:ext cx="4973744" cy="4572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60000"/>
              </a:lnSpc>
              <a:buNone/>
            </a:pPr>
            <a:r>
              <a:rPr lang="en-US" sz="1050" b="1" dirty="0">
                <a:solidFill>
                  <a:srgbClr val="37415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2035 시장 $450B </a:t>
            </a:r>
            <a:pPr algn="l" indent="0" marL="0">
              <a:lnSpc>
                <a:spcPct val="160000"/>
              </a:lnSpc>
              <a:buNone/>
            </a:pPr>
            <a:r>
              <a:rPr lang="en-US" sz="1050" dirty="0">
                <a:solidFill>
                  <a:srgbClr val="37415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NVIDIA 의존 + 중국 매출 소멸 + 시안 팹 봉쇄</a:t>
            </a:r>
            <a:endParaRPr lang="en-US" sz="1050" dirty="0"/>
          </a:p>
        </p:txBody>
      </p:sp>
      <p:sp>
        <p:nvSpPr>
          <p:cNvPr id="23" name="Shape 21"/>
          <p:cNvSpPr/>
          <p:nvPr/>
        </p:nvSpPr>
        <p:spPr>
          <a:xfrm>
            <a:off x="6905327" y="3048000"/>
            <a:ext cx="5381327" cy="2190750"/>
          </a:xfrm>
          <a:prstGeom prst="rect">
            <a:avLst/>
          </a:prstGeom>
          <a:solidFill>
            <a:srgbClr val="FFFFFF"/>
          </a:solidFill>
          <a:ln w="9525">
            <a:solidFill>
              <a:srgbClr val="D1D5DB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7181552" y="3362325"/>
            <a:ext cx="1109662" cy="2190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0000"/>
              </a:lnSpc>
              <a:buNone/>
            </a:pPr>
            <a:r>
              <a:rPr lang="en-US" sz="1050" b="1" spc="150" kern="0" dirty="0">
                <a:solidFill>
                  <a:srgbClr val="6B72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 · 조용한 재편</a:t>
            </a:r>
            <a:endParaRPr lang="en-US" sz="1050" dirty="0"/>
          </a:p>
        </p:txBody>
      </p:sp>
      <p:sp>
        <p:nvSpPr>
          <p:cNvPr id="25" name="Shape 23"/>
          <p:cNvSpPr/>
          <p:nvPr/>
        </p:nvSpPr>
        <p:spPr>
          <a:xfrm>
            <a:off x="11207204" y="3324225"/>
            <a:ext cx="803225" cy="266700"/>
          </a:xfrm>
          <a:prstGeom prst="roundRect">
            <a:avLst>
              <a:gd name="adj" fmla="val 50000"/>
            </a:avLst>
          </a:prstGeom>
          <a:solidFill>
            <a:srgbClr val="E5E7EB"/>
          </a:solidFill>
          <a:ln/>
        </p:spPr>
      </p:sp>
      <p:sp>
        <p:nvSpPr>
          <p:cNvPr id="26" name="Text 24"/>
          <p:cNvSpPr/>
          <p:nvPr/>
        </p:nvSpPr>
        <p:spPr>
          <a:xfrm>
            <a:off x="11340554" y="3324225"/>
            <a:ext cx="612725" cy="3048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algn="l" indent="0" marL="0">
              <a:lnSpc>
                <a:spcPct val="140000"/>
              </a:lnSpc>
              <a:buNone/>
            </a:pPr>
            <a:r>
              <a:rPr lang="en-US" sz="1050" b="1" spc="38" kern="0" dirty="0">
                <a:solidFill>
                  <a:srgbClr val="37415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20–25%</a:t>
            </a:r>
            <a:endParaRPr lang="en-US" sz="1050" dirty="0"/>
          </a:p>
        </p:txBody>
      </p:sp>
      <p:sp>
        <p:nvSpPr>
          <p:cNvPr id="27" name="Text 25"/>
          <p:cNvSpPr/>
          <p:nvPr/>
        </p:nvSpPr>
        <p:spPr>
          <a:xfrm>
            <a:off x="7181552" y="3686175"/>
            <a:ext cx="4973744" cy="3238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80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 붕괴 × 공존</a:t>
            </a:r>
            <a:endParaRPr lang="en-US" sz="1800" dirty="0"/>
          </a:p>
        </p:txBody>
      </p:sp>
      <p:sp>
        <p:nvSpPr>
          <p:cNvPr id="28" name="Text 26"/>
          <p:cNvSpPr/>
          <p:nvPr/>
        </p:nvSpPr>
        <p:spPr>
          <a:xfrm>
            <a:off x="7181552" y="4067175"/>
            <a:ext cx="4973744" cy="4572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60000"/>
              </a:lnSpc>
              <a:buNone/>
            </a:pPr>
            <a:r>
              <a:rPr lang="en-US" sz="1050" b="1" dirty="0">
                <a:solidFill>
                  <a:srgbClr val="37415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2035 시장 $320B </a:t>
            </a:r>
            <a:pPr algn="l" indent="0" marL="0">
              <a:lnSpc>
                <a:spcPct val="160000"/>
              </a:lnSpc>
              <a:buNone/>
            </a:pPr>
            <a:r>
              <a:rPr lang="en-US" sz="1050" dirty="0">
                <a:solidFill>
                  <a:srgbClr val="37415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SK 기술 우위 고착 + CXMT 범용 잠식</a:t>
            </a:r>
            <a:endParaRPr lang="en-US" sz="1050" dirty="0"/>
          </a:p>
        </p:txBody>
      </p:sp>
      <p:sp>
        <p:nvSpPr>
          <p:cNvPr id="29" name="Shape 27"/>
          <p:cNvSpPr/>
          <p:nvPr/>
        </p:nvSpPr>
        <p:spPr>
          <a:xfrm>
            <a:off x="1524000" y="5238750"/>
            <a:ext cx="5381327" cy="2190750"/>
          </a:xfrm>
          <a:prstGeom prst="rect">
            <a:avLst/>
          </a:prstGeom>
          <a:solidFill>
            <a:srgbClr val="FFFBEB"/>
          </a:solidFill>
          <a:ln w="19050">
            <a:solidFill>
              <a:srgbClr val="D97706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1809750" y="5562600"/>
            <a:ext cx="1332905" cy="2190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0000"/>
              </a:lnSpc>
              <a:buNone/>
            </a:pPr>
            <a:r>
              <a:rPr lang="en-US" sz="1050" b="1" spc="150" kern="0" dirty="0">
                <a:solidFill>
                  <a:srgbClr val="D9770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★ B · AI 르네상스</a:t>
            </a:r>
            <a:endParaRPr lang="en-US" sz="1050" dirty="0"/>
          </a:p>
        </p:txBody>
      </p:sp>
      <p:sp>
        <p:nvSpPr>
          <p:cNvPr id="31" name="Shape 29"/>
          <p:cNvSpPr/>
          <p:nvPr/>
        </p:nvSpPr>
        <p:spPr>
          <a:xfrm>
            <a:off x="5816352" y="5524500"/>
            <a:ext cx="803225" cy="266700"/>
          </a:xfrm>
          <a:prstGeom prst="roundRect">
            <a:avLst>
              <a:gd name="adj" fmla="val 50000"/>
            </a:avLst>
          </a:prstGeom>
          <a:solidFill>
            <a:srgbClr val="D97706"/>
          </a:solidFill>
          <a:ln/>
        </p:spPr>
      </p:sp>
      <p:sp>
        <p:nvSpPr>
          <p:cNvPr id="32" name="Text 30"/>
          <p:cNvSpPr/>
          <p:nvPr/>
        </p:nvSpPr>
        <p:spPr>
          <a:xfrm>
            <a:off x="5949702" y="5524500"/>
            <a:ext cx="612725" cy="3048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algn="l" indent="0" marL="0">
              <a:lnSpc>
                <a:spcPct val="140000"/>
              </a:lnSpc>
              <a:buNone/>
            </a:pPr>
            <a:r>
              <a:rPr lang="en-US" sz="1050" b="1" spc="38" kern="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30–35%</a:t>
            </a:r>
            <a:endParaRPr lang="en-US" sz="1050" dirty="0"/>
          </a:p>
        </p:txBody>
      </p:sp>
      <p:sp>
        <p:nvSpPr>
          <p:cNvPr id="33" name="Text 31"/>
          <p:cNvSpPr/>
          <p:nvPr/>
        </p:nvSpPr>
        <p:spPr>
          <a:xfrm>
            <a:off x="1809750" y="5886450"/>
            <a:ext cx="4954122" cy="3238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800" b="1" dirty="0">
                <a:solidFill>
                  <a:srgbClr val="D9770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 지속 × 공존 · MAIN BET</a:t>
            </a:r>
            <a:endParaRPr lang="en-US" sz="1800" dirty="0"/>
          </a:p>
        </p:txBody>
      </p:sp>
      <p:sp>
        <p:nvSpPr>
          <p:cNvPr id="34" name="Text 32"/>
          <p:cNvSpPr/>
          <p:nvPr/>
        </p:nvSpPr>
        <p:spPr>
          <a:xfrm>
            <a:off x="1809750" y="6267450"/>
            <a:ext cx="4954122" cy="4572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60000"/>
              </a:lnSpc>
              <a:buNone/>
            </a:pPr>
            <a:r>
              <a:rPr lang="en-US" sz="1050" b="1" dirty="0">
                <a:solidFill>
                  <a:srgbClr val="37415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2035 시장 $520B (전 시나리오 최대) </a:t>
            </a:r>
            <a:pPr algn="l" indent="0" marL="0">
              <a:lnSpc>
                <a:spcPct val="160000"/>
              </a:lnSpc>
              <a:buNone/>
            </a:pPr>
            <a:r>
              <a:rPr lang="en-US" sz="1050" dirty="0">
                <a:solidFill>
                  <a:srgbClr val="37415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삼성 메모리사업부 매출 $1,200억 달성 가능</a:t>
            </a:r>
            <a:endParaRPr lang="en-US" sz="1050" dirty="0"/>
          </a:p>
        </p:txBody>
      </p:sp>
      <p:sp>
        <p:nvSpPr>
          <p:cNvPr id="35" name="Shape 33"/>
          <p:cNvSpPr/>
          <p:nvPr/>
        </p:nvSpPr>
        <p:spPr>
          <a:xfrm>
            <a:off x="12515255" y="2286000"/>
            <a:ext cx="5010745" cy="2914650"/>
          </a:xfrm>
          <a:prstGeom prst="rect">
            <a:avLst/>
          </a:prstGeom>
          <a:solidFill>
            <a:srgbClr val="FEF3C7"/>
          </a:solidFill>
          <a:ln w="19050">
            <a:solidFill>
              <a:srgbClr val="D97706"/>
            </a:solidFill>
            <a:prstDash val="dash"/>
          </a:ln>
        </p:spPr>
      </p:sp>
      <p:sp>
        <p:nvSpPr>
          <p:cNvPr id="36" name="Text 34"/>
          <p:cNvSpPr/>
          <p:nvPr/>
        </p:nvSpPr>
        <p:spPr>
          <a:xfrm>
            <a:off x="12801005" y="2571750"/>
            <a:ext cx="4572423" cy="2190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0000"/>
              </a:lnSpc>
              <a:buNone/>
            </a:pPr>
            <a:r>
              <a:rPr lang="en-US" sz="1050" b="1" spc="150" kern="0" dirty="0">
                <a:solidFill>
                  <a:srgbClr val="D9770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WILDCARD</a:t>
            </a:r>
            <a:endParaRPr lang="en-US" sz="1050" dirty="0"/>
          </a:p>
        </p:txBody>
      </p:sp>
      <p:sp>
        <p:nvSpPr>
          <p:cNvPr id="37" name="Text 35"/>
          <p:cNvSpPr/>
          <p:nvPr/>
        </p:nvSpPr>
        <p:spPr>
          <a:xfrm>
            <a:off x="12801005" y="2828925"/>
            <a:ext cx="4572423" cy="3524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0000"/>
              </a:lnSpc>
              <a:buNone/>
            </a:pPr>
            <a:r>
              <a:rPr lang="en-US" sz="1800" b="1" dirty="0">
                <a:solidFill>
                  <a:srgbClr val="D9770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E · 패러다임 전환</a:t>
            </a:r>
            <a:endParaRPr lang="en-US" sz="1800" dirty="0"/>
          </a:p>
        </p:txBody>
      </p:sp>
      <p:sp>
        <p:nvSpPr>
          <p:cNvPr id="38" name="Text 36"/>
          <p:cNvSpPr/>
          <p:nvPr/>
        </p:nvSpPr>
        <p:spPr>
          <a:xfrm>
            <a:off x="12801005" y="3295650"/>
            <a:ext cx="4572423" cy="2952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55000"/>
              </a:lnSpc>
              <a:buNone/>
            </a:pPr>
            <a:r>
              <a:rPr lang="en-US" sz="1350" dirty="0">
                <a:solidFill>
                  <a:srgbClr val="37415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HBM이 </a:t>
            </a:r>
            <a:pPr algn="l" indent="0" marL="0">
              <a:lnSpc>
                <a:spcPct val="155000"/>
              </a:lnSpc>
              <a:buNone/>
            </a:pPr>
            <a:r>
              <a:rPr lang="en-US" sz="1350" b="1" dirty="0">
                <a:solidFill>
                  <a:srgbClr val="37415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3D DRAM · CXL</a:t>
            </a:r>
            <a:pPr algn="l" indent="0" marL="0">
              <a:lnSpc>
                <a:spcPct val="155000"/>
              </a:lnSpc>
              <a:buNone/>
            </a:pPr>
            <a:r>
              <a:rPr lang="en-US" sz="1350" dirty="0">
                <a:solidFill>
                  <a:srgbClr val="37415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로 대체되는 기술 단절 시나리오</a:t>
            </a:r>
            <a:endParaRPr lang="en-US" sz="1350" dirty="0"/>
          </a:p>
        </p:txBody>
      </p:sp>
      <p:sp>
        <p:nvSpPr>
          <p:cNvPr id="39" name="Text 37"/>
          <p:cNvSpPr/>
          <p:nvPr/>
        </p:nvSpPr>
        <p:spPr>
          <a:xfrm>
            <a:off x="12801005" y="3705225"/>
            <a:ext cx="2219623" cy="2381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0000"/>
              </a:lnSpc>
              <a:buNone/>
            </a:pPr>
            <a:r>
              <a:rPr lang="en-US" sz="1125" b="1" dirty="0">
                <a:solidFill>
                  <a:srgbClr val="6B72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확률</a:t>
            </a:r>
            <a:endParaRPr lang="en-US" sz="1125" dirty="0"/>
          </a:p>
        </p:txBody>
      </p:sp>
      <p:sp>
        <p:nvSpPr>
          <p:cNvPr id="40" name="Text 38"/>
          <p:cNvSpPr/>
          <p:nvPr/>
        </p:nvSpPr>
        <p:spPr>
          <a:xfrm>
            <a:off x="12801005" y="3905250"/>
            <a:ext cx="2219623" cy="4095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0000"/>
              </a:lnSpc>
              <a:buNone/>
            </a:pPr>
            <a:r>
              <a:rPr lang="en-US" sz="2100" b="1" dirty="0">
                <a:solidFill>
                  <a:srgbClr val="D9770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5—10%</a:t>
            </a:r>
            <a:endParaRPr lang="en-US" sz="2100" dirty="0"/>
          </a:p>
        </p:txBody>
      </p:sp>
      <p:sp>
        <p:nvSpPr>
          <p:cNvPr id="41" name="Text 39"/>
          <p:cNvSpPr/>
          <p:nvPr/>
        </p:nvSpPr>
        <p:spPr>
          <a:xfrm>
            <a:off x="15096827" y="3705225"/>
            <a:ext cx="2219623" cy="2381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0000"/>
              </a:lnSpc>
              <a:buNone/>
            </a:pPr>
            <a:r>
              <a:rPr lang="en-US" sz="1125" b="1" dirty="0">
                <a:solidFill>
                  <a:srgbClr val="6B72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2035 시장</a:t>
            </a:r>
            <a:endParaRPr lang="en-US" sz="1125" dirty="0"/>
          </a:p>
        </p:txBody>
      </p:sp>
      <p:sp>
        <p:nvSpPr>
          <p:cNvPr id="42" name="Text 40"/>
          <p:cNvSpPr/>
          <p:nvPr/>
        </p:nvSpPr>
        <p:spPr>
          <a:xfrm>
            <a:off x="15096827" y="3905250"/>
            <a:ext cx="2219623" cy="3238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0000"/>
              </a:lnSpc>
              <a:buNone/>
            </a:pPr>
            <a:r>
              <a:rPr lang="en-US" sz="165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미정</a:t>
            </a:r>
            <a:endParaRPr lang="en-US" sz="1650" dirty="0"/>
          </a:p>
        </p:txBody>
      </p:sp>
      <p:sp>
        <p:nvSpPr>
          <p:cNvPr id="43" name="Shape 41"/>
          <p:cNvSpPr/>
          <p:nvPr/>
        </p:nvSpPr>
        <p:spPr>
          <a:xfrm>
            <a:off x="12801005" y="4429125"/>
            <a:ext cx="4439245" cy="485775"/>
          </a:xfrm>
          <a:prstGeom prst="rect">
            <a:avLst/>
          </a:prstGeom>
          <a:solidFill>
            <a:srgbClr val="FFFFFF"/>
          </a:solidFill>
          <a:ln w="9525">
            <a:solidFill>
              <a:srgbClr val="D1D5DB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12943880" y="4572000"/>
            <a:ext cx="4286673" cy="2381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50000"/>
              </a:lnSpc>
              <a:buNone/>
            </a:pPr>
            <a:r>
              <a:rPr lang="en-US" sz="1050" dirty="0">
                <a:solidFill>
                  <a:srgbClr val="1A1A1A"/>
                </a:solidFill>
                <a:highlight>
                  <a:srgbClr val="FFFFFF"/>
                </a:highlight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어느 사분면에도 속하지 않음 — </a:t>
            </a:r>
            <a:pPr algn="l" indent="0" marL="0">
              <a:lnSpc>
                <a:spcPct val="150000"/>
              </a:lnSpc>
              <a:buNone/>
            </a:pPr>
            <a:r>
              <a:rPr lang="en-US" sz="105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독립 헤징 전략 필요</a:t>
            </a:r>
            <a:endParaRPr lang="en-US" sz="1050" dirty="0"/>
          </a:p>
        </p:txBody>
      </p:sp>
      <p:sp>
        <p:nvSpPr>
          <p:cNvPr id="45" name="Shape 43"/>
          <p:cNvSpPr/>
          <p:nvPr/>
        </p:nvSpPr>
        <p:spPr>
          <a:xfrm>
            <a:off x="12515255" y="5353050"/>
            <a:ext cx="5010745" cy="1104900"/>
          </a:xfrm>
          <a:prstGeom prst="rect">
            <a:avLst/>
          </a:prstGeom>
          <a:solidFill>
            <a:srgbClr val="1428A0"/>
          </a:solidFill>
          <a:ln/>
        </p:spPr>
      </p:sp>
      <p:sp>
        <p:nvSpPr>
          <p:cNvPr id="46" name="Text 44"/>
          <p:cNvSpPr/>
          <p:nvPr/>
        </p:nvSpPr>
        <p:spPr>
          <a:xfrm>
            <a:off x="12743855" y="5543550"/>
            <a:ext cx="4690152" cy="2095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0000"/>
              </a:lnSpc>
              <a:buNone/>
            </a:pPr>
            <a:r>
              <a:rPr lang="en-US" sz="975" b="1" spc="113" kern="0" dirty="0">
                <a:solidFill>
                  <a:srgbClr val="FFFFFF">
                    <a:alpha val="80000"/>
                  </a:srgbClr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OUTPUT</a:t>
            </a:r>
            <a:endParaRPr lang="en-US" sz="975" dirty="0"/>
          </a:p>
        </p:txBody>
      </p:sp>
      <p:sp>
        <p:nvSpPr>
          <p:cNvPr id="47" name="Text 45"/>
          <p:cNvSpPr/>
          <p:nvPr/>
        </p:nvSpPr>
        <p:spPr>
          <a:xfrm>
            <a:off x="12743855" y="5772150"/>
            <a:ext cx="4690152" cy="5334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0000"/>
              </a:lnSpc>
              <a:buNone/>
            </a:pPr>
            <a:r>
              <a:rPr lang="en-US" sz="1425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5개 대안적 미래 (2×2 + 와일드카드)</a:t>
            </a:r>
            <a:endParaRPr lang="en-US" sz="1425" dirty="0"/>
          </a:p>
        </p:txBody>
      </p:sp>
      <p:sp>
        <p:nvSpPr>
          <p:cNvPr id="48" name="Shape 46"/>
          <p:cNvSpPr/>
          <p:nvPr/>
        </p:nvSpPr>
        <p:spPr>
          <a:xfrm>
            <a:off x="762000" y="9667875"/>
            <a:ext cx="16764000" cy="9525"/>
          </a:xfrm>
          <a:prstGeom prst="rect">
            <a:avLst/>
          </a:prstGeom>
          <a:solidFill>
            <a:srgbClr val="D1D5DB"/>
          </a:solidFill>
          <a:ln/>
        </p:spPr>
      </p:sp>
      <p:sp>
        <p:nvSpPr>
          <p:cNvPr id="49" name="Text 47"/>
          <p:cNvSpPr/>
          <p:nvPr/>
        </p:nvSpPr>
        <p:spPr>
          <a:xfrm>
            <a:off x="762000" y="9891713"/>
            <a:ext cx="1515666" cy="2190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0000"/>
              </a:lnSpc>
              <a:buNone/>
            </a:pPr>
            <a:r>
              <a:rPr lang="en-US" sz="1050" spc="38" kern="0" dirty="0">
                <a:solidFill>
                  <a:srgbClr val="6B72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삼성전자 </a:t>
            </a:r>
            <a:pPr algn="l" indent="0" marL="0">
              <a:lnSpc>
                <a:spcPct val="140000"/>
              </a:lnSpc>
              <a:buNone/>
            </a:pPr>
            <a:r>
              <a:rPr lang="en-US" sz="1050" b="1" spc="38" kern="0" dirty="0">
                <a:solidFill>
                  <a:srgbClr val="1428A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| </a:t>
            </a:r>
            <a:pPr algn="l" indent="0" marL="0">
              <a:lnSpc>
                <a:spcPct val="140000"/>
              </a:lnSpc>
              <a:buNone/>
            </a:pPr>
            <a:r>
              <a:rPr lang="en-US" sz="1050" spc="38" kern="0" dirty="0">
                <a:solidFill>
                  <a:srgbClr val="6B72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STEP 5 · 적용</a:t>
            </a:r>
            <a:endParaRPr lang="en-US" sz="1050" dirty="0"/>
          </a:p>
        </p:txBody>
      </p:sp>
      <p:sp>
        <p:nvSpPr>
          <p:cNvPr id="50" name="Text 48"/>
          <p:cNvSpPr/>
          <p:nvPr/>
        </p:nvSpPr>
        <p:spPr>
          <a:xfrm>
            <a:off x="17023705" y="9891713"/>
            <a:ext cx="578495" cy="2190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0000"/>
              </a:lnSpc>
              <a:buNone/>
            </a:pPr>
            <a:r>
              <a:rPr lang="en-US" sz="1050" spc="38" kern="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 / 26</a:t>
            </a:r>
            <a:endParaRPr lang="en-US" sz="10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62000" y="533400"/>
            <a:ext cx="17266920" cy="2762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algn="l" indent="0" marL="0">
              <a:lnSpc>
                <a:spcPct val="140000"/>
              </a:lnSpc>
              <a:buNone/>
            </a:pPr>
            <a:r>
              <a:rPr lang="en-US" sz="1350" spc="150" kern="0" dirty="0">
                <a:solidFill>
                  <a:srgbClr val="1428A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STEP 5 · 메모리 사업 적용 — STEP 6</a:t>
            </a:r>
            <a:endParaRPr lang="en-US" sz="1350" dirty="0"/>
          </a:p>
        </p:txBody>
      </p:sp>
      <p:sp>
        <p:nvSpPr>
          <p:cNvPr id="3" name="Text 1"/>
          <p:cNvSpPr/>
          <p:nvPr/>
        </p:nvSpPr>
        <p:spPr>
          <a:xfrm>
            <a:off x="762000" y="885825"/>
            <a:ext cx="17266920" cy="5619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3300" b="1" spc="-37" kern="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Main Bet은 시나리오 B "AI 르네상스" — 그러나 자동 실현 아님</a:t>
            </a:r>
            <a:endParaRPr lang="en-US" sz="3300" dirty="0"/>
          </a:p>
        </p:txBody>
      </p:sp>
      <p:sp>
        <p:nvSpPr>
          <p:cNvPr id="4" name="Text 2"/>
          <p:cNvSpPr/>
          <p:nvPr/>
        </p:nvSpPr>
        <p:spPr>
          <a:xfrm>
            <a:off x="762000" y="1524000"/>
            <a:ext cx="14716125" cy="3524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50000"/>
              </a:lnSpc>
              <a:buNone/>
            </a:pPr>
            <a:r>
              <a:rPr lang="en-US" sz="1650" dirty="0">
                <a:solidFill>
                  <a:srgbClr val="6B72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확률 30 ~ 35% · 2035 시장 $520B · 4개 전제 조건 충족 시 매출 $1,200억 달성</a:t>
            </a:r>
            <a:endParaRPr lang="en-US" sz="1650" dirty="0"/>
          </a:p>
        </p:txBody>
      </p:sp>
      <p:sp>
        <p:nvSpPr>
          <p:cNvPr id="5" name="Shape 3"/>
          <p:cNvSpPr/>
          <p:nvPr/>
        </p:nvSpPr>
        <p:spPr>
          <a:xfrm>
            <a:off x="762000" y="2286000"/>
            <a:ext cx="16764000" cy="1152525"/>
          </a:xfrm>
          <a:prstGeom prst="rect">
            <a:avLst/>
          </a:prstGeom>
          <a:solidFill>
            <a:srgbClr val="D97706"/>
          </a:solidFill>
          <a:ln/>
        </p:spPr>
      </p:sp>
      <p:sp>
        <p:nvSpPr>
          <p:cNvPr id="6" name="Text 4"/>
          <p:cNvSpPr/>
          <p:nvPr/>
        </p:nvSpPr>
        <p:spPr>
          <a:xfrm>
            <a:off x="1104900" y="2624138"/>
            <a:ext cx="419100" cy="5143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0000"/>
              </a:lnSpc>
              <a:buNone/>
            </a:pPr>
            <a:r>
              <a:rPr lang="en-US" sz="27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⭐</a:t>
            </a:r>
            <a:endParaRPr lang="en-US" sz="2700" dirty="0"/>
          </a:p>
        </p:txBody>
      </p:sp>
      <p:sp>
        <p:nvSpPr>
          <p:cNvPr id="7" name="Text 5"/>
          <p:cNvSpPr/>
          <p:nvPr/>
        </p:nvSpPr>
        <p:spPr>
          <a:xfrm>
            <a:off x="1828800" y="2595563"/>
            <a:ext cx="12571556" cy="2095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0000"/>
              </a:lnSpc>
              <a:buNone/>
            </a:pPr>
            <a:r>
              <a:rPr lang="en-US" sz="975" b="1" spc="225" kern="0" dirty="0">
                <a:solidFill>
                  <a:srgbClr val="FFFFFF">
                    <a:alpha val="85000"/>
                  </a:srgbClr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MAIN BET</a:t>
            </a:r>
            <a:endParaRPr lang="en-US" sz="975" dirty="0"/>
          </a:p>
        </p:txBody>
      </p:sp>
      <p:sp>
        <p:nvSpPr>
          <p:cNvPr id="8" name="Text 6"/>
          <p:cNvSpPr/>
          <p:nvPr/>
        </p:nvSpPr>
        <p:spPr>
          <a:xfrm>
            <a:off x="1828800" y="2767013"/>
            <a:ext cx="12571556" cy="4000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4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 르네상스 · 시나리오 B</a:t>
            </a:r>
            <a:endParaRPr lang="en-US" sz="2400" dirty="0"/>
          </a:p>
        </p:txBody>
      </p:sp>
      <p:sp>
        <p:nvSpPr>
          <p:cNvPr id="9" name="Text 7"/>
          <p:cNvSpPr/>
          <p:nvPr/>
        </p:nvSpPr>
        <p:spPr>
          <a:xfrm>
            <a:off x="14415195" y="2552700"/>
            <a:ext cx="1498997" cy="2381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0000"/>
              </a:lnSpc>
              <a:buNone/>
            </a:pPr>
            <a:r>
              <a:rPr lang="en-US" sz="1125" dirty="0">
                <a:solidFill>
                  <a:srgbClr val="6B7280">
                    <a:alpha val="85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확률</a:t>
            </a:r>
            <a:endParaRPr lang="en-US" sz="1125" dirty="0"/>
          </a:p>
        </p:txBody>
      </p:sp>
      <p:sp>
        <p:nvSpPr>
          <p:cNvPr id="10" name="Text 8"/>
          <p:cNvSpPr/>
          <p:nvPr/>
        </p:nvSpPr>
        <p:spPr>
          <a:xfrm>
            <a:off x="14415195" y="2752725"/>
            <a:ext cx="1498997" cy="4572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0000"/>
              </a:lnSpc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30—35%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16180891" y="2552700"/>
            <a:ext cx="1078409" cy="2381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0000"/>
              </a:lnSpc>
              <a:buNone/>
            </a:pPr>
            <a:r>
              <a:rPr lang="en-US" sz="1125" dirty="0">
                <a:solidFill>
                  <a:srgbClr val="6B7280">
                    <a:alpha val="85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2035 시장</a:t>
            </a:r>
            <a:endParaRPr lang="en-US" sz="1125" dirty="0"/>
          </a:p>
        </p:txBody>
      </p:sp>
      <p:sp>
        <p:nvSpPr>
          <p:cNvPr id="12" name="Text 10"/>
          <p:cNvSpPr/>
          <p:nvPr/>
        </p:nvSpPr>
        <p:spPr>
          <a:xfrm>
            <a:off x="16180891" y="2752725"/>
            <a:ext cx="1078409" cy="4572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0000"/>
              </a:lnSpc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$520B</a:t>
            </a:r>
            <a:endParaRPr lang="en-US" sz="2400" dirty="0"/>
          </a:p>
        </p:txBody>
      </p:sp>
      <p:sp>
        <p:nvSpPr>
          <p:cNvPr id="13" name="Shape 11"/>
          <p:cNvSpPr/>
          <p:nvPr/>
        </p:nvSpPr>
        <p:spPr>
          <a:xfrm>
            <a:off x="762000" y="3667125"/>
            <a:ext cx="8258175" cy="4000500"/>
          </a:xfrm>
          <a:prstGeom prst="rect">
            <a:avLst/>
          </a:prstGeom>
          <a:solidFill>
            <a:srgbClr val="E8EEFC"/>
          </a:solidFill>
          <a:ln/>
        </p:spPr>
      </p:sp>
      <p:sp>
        <p:nvSpPr>
          <p:cNvPr id="14" name="Text 12"/>
          <p:cNvSpPr/>
          <p:nvPr/>
        </p:nvSpPr>
        <p:spPr>
          <a:xfrm>
            <a:off x="1066800" y="3971925"/>
            <a:ext cx="7878032" cy="3238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0000"/>
              </a:lnSpc>
              <a:buNone/>
            </a:pPr>
            <a:r>
              <a:rPr lang="en-US" sz="1650" b="1" spc="22" kern="0" dirty="0">
                <a:solidFill>
                  <a:srgbClr val="1428A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2035년 세계</a:t>
            </a:r>
            <a:endParaRPr lang="en-US" sz="1650" dirty="0"/>
          </a:p>
        </p:txBody>
      </p:sp>
      <p:sp>
        <p:nvSpPr>
          <p:cNvPr id="15" name="Text 13"/>
          <p:cNvSpPr/>
          <p:nvPr/>
        </p:nvSpPr>
        <p:spPr>
          <a:xfrm>
            <a:off x="1143953" y="4371975"/>
            <a:ext cx="7795165" cy="3238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marL="113347" indent="-113347">
              <a:lnSpc>
                <a:spcPct val="180000"/>
              </a:lnSpc>
              <a:buSzPct val="100000"/>
              <a:buChar char="•"/>
            </a:pPr>
            <a:r>
              <a:rPr lang="en-US" sz="1275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글로벌 메모리 시장 </a:t>
            </a:r>
            <a:pPr algn="l" indent="0" marL="0">
              <a:lnSpc>
                <a:spcPct val="180000"/>
              </a:lnSpc>
              <a:buNone/>
            </a:pPr>
            <a:r>
              <a:rPr lang="en-US" sz="1275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$520B </a:t>
            </a:r>
            <a:pPr algn="l" indent="0" marL="0">
              <a:lnSpc>
                <a:spcPct val="180000"/>
              </a:lnSpc>
              <a:buNone/>
            </a:pPr>
            <a:r>
              <a:rPr lang="en-US" sz="1275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— 전 시나리오 최대</a:t>
            </a:r>
            <a:endParaRPr lang="en-US" sz="1275" dirty="0"/>
          </a:p>
        </p:txBody>
      </p:sp>
      <p:sp>
        <p:nvSpPr>
          <p:cNvPr id="16" name="Text 14"/>
          <p:cNvSpPr/>
          <p:nvPr/>
        </p:nvSpPr>
        <p:spPr>
          <a:xfrm>
            <a:off x="1143953" y="4657725"/>
            <a:ext cx="7795165" cy="3238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marL="113347" indent="-113347">
              <a:lnSpc>
                <a:spcPct val="180000"/>
              </a:lnSpc>
              <a:buSzPct val="100000"/>
              <a:buChar char="•"/>
              <a:tabLst>
                <a:tab pos="113347" algn="l"/>
              </a:tabLst>
            </a:pPr>
            <a:r>
              <a:rPr lang="en-US" sz="1275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AI가 산업 전반 생산성 혁명 실현</a:t>
            </a:r>
            <a:endParaRPr lang="en-US" sz="1275" dirty="0"/>
          </a:p>
        </p:txBody>
      </p:sp>
      <p:sp>
        <p:nvSpPr>
          <p:cNvPr id="17" name="Text 15"/>
          <p:cNvSpPr/>
          <p:nvPr/>
        </p:nvSpPr>
        <p:spPr>
          <a:xfrm>
            <a:off x="1143953" y="4943475"/>
            <a:ext cx="7795165" cy="3238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marL="113347" indent="-113347">
              <a:lnSpc>
                <a:spcPct val="180000"/>
              </a:lnSpc>
              <a:buSzPct val="100000"/>
              <a:buChar char="•"/>
              <a:tabLst>
                <a:tab pos="113347" algn="l"/>
              </a:tabLst>
            </a:pPr>
            <a:r>
              <a:rPr lang="en-US" sz="1275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미중 관계 2028년 '선택적 제재·허용' 프레임 정착</a:t>
            </a:r>
            <a:endParaRPr lang="en-US" sz="1275" dirty="0"/>
          </a:p>
        </p:txBody>
      </p:sp>
      <p:sp>
        <p:nvSpPr>
          <p:cNvPr id="18" name="Text 16"/>
          <p:cNvSpPr/>
          <p:nvPr/>
        </p:nvSpPr>
        <p:spPr>
          <a:xfrm>
            <a:off x="1143953" y="5229225"/>
            <a:ext cx="7795165" cy="3238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marL="113347" indent="-113347">
              <a:lnSpc>
                <a:spcPct val="180000"/>
              </a:lnSpc>
              <a:buSzPct val="100000"/>
              <a:buChar char="•"/>
            </a:pPr>
            <a:r>
              <a:rPr lang="en-US" sz="1275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빅테크 AI 직접 매출 합산 </a:t>
            </a:r>
            <a:pPr algn="l" indent="0" marL="0">
              <a:lnSpc>
                <a:spcPct val="180000"/>
              </a:lnSpc>
              <a:buNone/>
            </a:pPr>
            <a:r>
              <a:rPr lang="en-US" sz="1275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$500B 돌파 </a:t>
            </a:r>
            <a:pPr algn="l" indent="0" marL="0">
              <a:lnSpc>
                <a:spcPct val="180000"/>
              </a:lnSpc>
              <a:buNone/>
            </a:pPr>
            <a:r>
              <a:rPr lang="en-US" sz="1275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(2027)</a:t>
            </a:r>
            <a:endParaRPr lang="en-US" sz="1275" dirty="0"/>
          </a:p>
        </p:txBody>
      </p:sp>
      <p:sp>
        <p:nvSpPr>
          <p:cNvPr id="19" name="Shape 17"/>
          <p:cNvSpPr/>
          <p:nvPr/>
        </p:nvSpPr>
        <p:spPr>
          <a:xfrm>
            <a:off x="1066800" y="5629275"/>
            <a:ext cx="7648575" cy="9525"/>
          </a:xfrm>
          <a:prstGeom prst="rect">
            <a:avLst/>
          </a:prstGeom>
          <a:solidFill>
            <a:srgbClr val="D1D5DB"/>
          </a:solidFill>
          <a:ln/>
        </p:spPr>
      </p:sp>
      <p:sp>
        <p:nvSpPr>
          <p:cNvPr id="20" name="Text 18"/>
          <p:cNvSpPr/>
          <p:nvPr/>
        </p:nvSpPr>
        <p:spPr>
          <a:xfrm>
            <a:off x="1066800" y="5791200"/>
            <a:ext cx="7878032" cy="2381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0000"/>
              </a:lnSpc>
              <a:buNone/>
            </a:pPr>
            <a:r>
              <a:rPr lang="en-US" sz="1125" b="1" dirty="0">
                <a:solidFill>
                  <a:srgbClr val="1428A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삼성전자 2030년 전망</a:t>
            </a:r>
            <a:endParaRPr lang="en-US" sz="1125" dirty="0"/>
          </a:p>
        </p:txBody>
      </p:sp>
      <p:sp>
        <p:nvSpPr>
          <p:cNvPr id="21" name="Text 19"/>
          <p:cNvSpPr/>
          <p:nvPr/>
        </p:nvSpPr>
        <p:spPr>
          <a:xfrm>
            <a:off x="1155700" y="6067425"/>
            <a:ext cx="7783417" cy="2762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marL="101600" indent="-101600">
              <a:lnSpc>
                <a:spcPct val="170000"/>
              </a:lnSpc>
              <a:buSzPct val="100000"/>
              <a:buChar char="•"/>
            </a:pPr>
            <a:r>
              <a:rPr lang="en-US" sz="1125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메모리사업부 연간 매출 </a:t>
            </a:r>
            <a:pPr algn="l" indent="0" marL="0">
              <a:lnSpc>
                <a:spcPct val="170000"/>
              </a:lnSpc>
              <a:buNone/>
            </a:pPr>
            <a:r>
              <a:rPr lang="en-US" sz="1125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$1,200억 돌파</a:t>
            </a:r>
            <a:endParaRPr lang="en-US" sz="1125" dirty="0"/>
          </a:p>
        </p:txBody>
      </p:sp>
      <p:sp>
        <p:nvSpPr>
          <p:cNvPr id="22" name="Text 20"/>
          <p:cNvSpPr/>
          <p:nvPr/>
        </p:nvSpPr>
        <p:spPr>
          <a:xfrm>
            <a:off x="1155700" y="6305550"/>
            <a:ext cx="7783417" cy="2762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marL="101600" indent="-101600">
              <a:lnSpc>
                <a:spcPct val="170000"/>
              </a:lnSpc>
              <a:buSzPct val="100000"/>
              <a:buChar char="•"/>
              <a:tabLst>
                <a:tab pos="101600" algn="l"/>
              </a:tabLst>
            </a:pPr>
            <a:r>
              <a:rPr lang="en-US" sz="1125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HBM4E NVIDIA Feynman 플랫폼 공식 탑재</a:t>
            </a:r>
            <a:endParaRPr lang="en-US" sz="1125" dirty="0"/>
          </a:p>
        </p:txBody>
      </p:sp>
      <p:sp>
        <p:nvSpPr>
          <p:cNvPr id="23" name="Text 21"/>
          <p:cNvSpPr/>
          <p:nvPr/>
        </p:nvSpPr>
        <p:spPr>
          <a:xfrm>
            <a:off x="1155700" y="6543675"/>
            <a:ext cx="7783417" cy="2762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marL="101600" indent="-101600">
              <a:lnSpc>
                <a:spcPct val="170000"/>
              </a:lnSpc>
              <a:buSzPct val="100000"/>
              <a:buChar char="•"/>
              <a:tabLst>
                <a:tab pos="101600" algn="l"/>
              </a:tabLst>
            </a:pPr>
            <a:r>
              <a:rPr lang="en-US" sz="1125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텍사스 테일러 2단계 (HBM) 2030년 가동</a:t>
            </a:r>
            <a:endParaRPr lang="en-US" sz="1125" dirty="0"/>
          </a:p>
        </p:txBody>
      </p:sp>
      <p:sp>
        <p:nvSpPr>
          <p:cNvPr id="24" name="Text 22"/>
          <p:cNvSpPr/>
          <p:nvPr/>
        </p:nvSpPr>
        <p:spPr>
          <a:xfrm>
            <a:off x="1155700" y="6781800"/>
            <a:ext cx="7783417" cy="2762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marL="101600" indent="-101600">
              <a:lnSpc>
                <a:spcPct val="170000"/>
              </a:lnSpc>
              <a:buSzPct val="100000"/>
              <a:buChar char="•"/>
              <a:tabLst>
                <a:tab pos="101600" algn="l"/>
              </a:tabLst>
            </a:pPr>
            <a:r>
              <a:rPr lang="en-US" sz="1125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중국 일반 메모리 연 $120억 유지</a:t>
            </a:r>
            <a:endParaRPr lang="en-US" sz="1125" dirty="0"/>
          </a:p>
        </p:txBody>
      </p:sp>
      <p:sp>
        <p:nvSpPr>
          <p:cNvPr id="25" name="Shape 23"/>
          <p:cNvSpPr/>
          <p:nvPr/>
        </p:nvSpPr>
        <p:spPr>
          <a:xfrm>
            <a:off x="9248775" y="3667125"/>
            <a:ext cx="8277225" cy="4000500"/>
          </a:xfrm>
          <a:prstGeom prst="rect">
            <a:avLst/>
          </a:prstGeom>
          <a:solidFill>
            <a:srgbClr val="FFFFFF"/>
          </a:solidFill>
          <a:ln w="9525">
            <a:solidFill>
              <a:srgbClr val="D1D5DB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9563100" y="3981450"/>
            <a:ext cx="7878032" cy="3238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0000"/>
              </a:lnSpc>
              <a:buNone/>
            </a:pPr>
            <a:r>
              <a:rPr lang="en-US" sz="1650" b="1" spc="22" kern="0" dirty="0">
                <a:solidFill>
                  <a:srgbClr val="1428A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4개 전제 조건</a:t>
            </a:r>
            <a:endParaRPr lang="en-US" sz="1650" dirty="0"/>
          </a:p>
        </p:txBody>
      </p:sp>
      <p:sp>
        <p:nvSpPr>
          <p:cNvPr id="27" name="Text 25"/>
          <p:cNvSpPr/>
          <p:nvPr/>
        </p:nvSpPr>
        <p:spPr>
          <a:xfrm>
            <a:off x="9563100" y="4381500"/>
            <a:ext cx="7878032" cy="2381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0000"/>
              </a:lnSpc>
              <a:buNone/>
            </a:pPr>
            <a:r>
              <a:rPr lang="en-US" sz="1125" dirty="0">
                <a:solidFill>
                  <a:srgbClr val="6B72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 시나리오가 현실이 되려면:</a:t>
            </a:r>
            <a:endParaRPr lang="en-US" sz="1125" dirty="0"/>
          </a:p>
        </p:txBody>
      </p:sp>
      <p:sp>
        <p:nvSpPr>
          <p:cNvPr id="28" name="Shape 26"/>
          <p:cNvSpPr/>
          <p:nvPr/>
        </p:nvSpPr>
        <p:spPr>
          <a:xfrm>
            <a:off x="9563100" y="4733925"/>
            <a:ext cx="304800" cy="304800"/>
          </a:xfrm>
          <a:prstGeom prst="ellipse">
            <a:avLst/>
          </a:prstGeom>
          <a:solidFill>
            <a:srgbClr val="1428A0"/>
          </a:solidFill>
          <a:ln/>
        </p:spPr>
      </p:sp>
      <p:sp>
        <p:nvSpPr>
          <p:cNvPr id="29" name="Text 27"/>
          <p:cNvSpPr/>
          <p:nvPr/>
        </p:nvSpPr>
        <p:spPr>
          <a:xfrm>
            <a:off x="9525000" y="4733925"/>
            <a:ext cx="381000" cy="3429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algn="ctr" indent="0" marL="0">
              <a:lnSpc>
                <a:spcPct val="1400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200" dirty="0"/>
          </a:p>
        </p:txBody>
      </p:sp>
      <p:sp>
        <p:nvSpPr>
          <p:cNvPr id="30" name="Text 28"/>
          <p:cNvSpPr/>
          <p:nvPr/>
        </p:nvSpPr>
        <p:spPr>
          <a:xfrm>
            <a:off x="10020300" y="4772025"/>
            <a:ext cx="7407116" cy="2571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0000"/>
              </a:lnSpc>
              <a:buNone/>
            </a:pPr>
            <a:r>
              <a:rPr lang="en-US" sz="1275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 ROI 실현 </a:t>
            </a:r>
            <a:pPr algn="l" indent="0" marL="0">
              <a:lnSpc>
                <a:spcPct val="140000"/>
              </a:lnSpc>
              <a:buNone/>
            </a:pPr>
            <a:r>
              <a:rPr lang="en-US" sz="1125" dirty="0">
                <a:solidFill>
                  <a:srgbClr val="6B72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(2027–2028 분기점)</a:t>
            </a:r>
            <a:endParaRPr lang="en-US" sz="1275" dirty="0"/>
          </a:p>
        </p:txBody>
      </p:sp>
      <p:sp>
        <p:nvSpPr>
          <p:cNvPr id="31" name="Shape 29"/>
          <p:cNvSpPr/>
          <p:nvPr/>
        </p:nvSpPr>
        <p:spPr>
          <a:xfrm>
            <a:off x="9563100" y="5153025"/>
            <a:ext cx="304800" cy="304800"/>
          </a:xfrm>
          <a:prstGeom prst="ellipse">
            <a:avLst/>
          </a:prstGeom>
          <a:solidFill>
            <a:srgbClr val="1428A0"/>
          </a:solidFill>
          <a:ln/>
        </p:spPr>
      </p:sp>
      <p:sp>
        <p:nvSpPr>
          <p:cNvPr id="32" name="Text 30"/>
          <p:cNvSpPr/>
          <p:nvPr/>
        </p:nvSpPr>
        <p:spPr>
          <a:xfrm>
            <a:off x="9525000" y="5153025"/>
            <a:ext cx="381000" cy="3429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algn="ctr" indent="0" marL="0">
              <a:lnSpc>
                <a:spcPct val="1400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200" dirty="0"/>
          </a:p>
        </p:txBody>
      </p:sp>
      <p:sp>
        <p:nvSpPr>
          <p:cNvPr id="33" name="Text 31"/>
          <p:cNvSpPr/>
          <p:nvPr/>
        </p:nvSpPr>
        <p:spPr>
          <a:xfrm>
            <a:off x="10020300" y="5191125"/>
            <a:ext cx="7407116" cy="2571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0000"/>
              </a:lnSpc>
              <a:buNone/>
            </a:pPr>
            <a:r>
              <a:rPr lang="en-US" sz="1275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미중 반도체 무역 타협</a:t>
            </a:r>
            <a:endParaRPr lang="en-US" sz="1275" dirty="0"/>
          </a:p>
        </p:txBody>
      </p:sp>
      <p:sp>
        <p:nvSpPr>
          <p:cNvPr id="34" name="Shape 32"/>
          <p:cNvSpPr/>
          <p:nvPr/>
        </p:nvSpPr>
        <p:spPr>
          <a:xfrm>
            <a:off x="9563100" y="5572125"/>
            <a:ext cx="304800" cy="304800"/>
          </a:xfrm>
          <a:prstGeom prst="ellipse">
            <a:avLst/>
          </a:prstGeom>
          <a:solidFill>
            <a:srgbClr val="1428A0"/>
          </a:solidFill>
          <a:ln/>
        </p:spPr>
      </p:sp>
      <p:sp>
        <p:nvSpPr>
          <p:cNvPr id="35" name="Text 33"/>
          <p:cNvSpPr/>
          <p:nvPr/>
        </p:nvSpPr>
        <p:spPr>
          <a:xfrm>
            <a:off x="9525000" y="5572125"/>
            <a:ext cx="381000" cy="3429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algn="ctr" indent="0" marL="0">
              <a:lnSpc>
                <a:spcPct val="1400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200" dirty="0"/>
          </a:p>
        </p:txBody>
      </p:sp>
      <p:sp>
        <p:nvSpPr>
          <p:cNvPr id="36" name="Text 34"/>
          <p:cNvSpPr/>
          <p:nvPr/>
        </p:nvSpPr>
        <p:spPr>
          <a:xfrm>
            <a:off x="10020300" y="5610225"/>
            <a:ext cx="7407116" cy="2571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0000"/>
              </a:lnSpc>
              <a:buNone/>
            </a:pPr>
            <a:r>
              <a:rPr lang="en-US" sz="1275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삼성 HBM4E 기술 추격 성공</a:t>
            </a:r>
            <a:endParaRPr lang="en-US" sz="1275" dirty="0"/>
          </a:p>
        </p:txBody>
      </p:sp>
      <p:sp>
        <p:nvSpPr>
          <p:cNvPr id="37" name="Shape 35"/>
          <p:cNvSpPr/>
          <p:nvPr/>
        </p:nvSpPr>
        <p:spPr>
          <a:xfrm>
            <a:off x="9563100" y="5991225"/>
            <a:ext cx="304800" cy="304800"/>
          </a:xfrm>
          <a:prstGeom prst="ellipse">
            <a:avLst/>
          </a:prstGeom>
          <a:solidFill>
            <a:srgbClr val="1428A0"/>
          </a:solidFill>
          <a:ln/>
        </p:spPr>
      </p:sp>
      <p:sp>
        <p:nvSpPr>
          <p:cNvPr id="38" name="Text 36"/>
          <p:cNvSpPr/>
          <p:nvPr/>
        </p:nvSpPr>
        <p:spPr>
          <a:xfrm>
            <a:off x="9525000" y="5991225"/>
            <a:ext cx="381000" cy="3429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algn="ctr" indent="0" marL="0">
              <a:lnSpc>
                <a:spcPct val="1400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200" dirty="0"/>
          </a:p>
        </p:txBody>
      </p:sp>
      <p:sp>
        <p:nvSpPr>
          <p:cNvPr id="39" name="Text 37"/>
          <p:cNvSpPr/>
          <p:nvPr/>
        </p:nvSpPr>
        <p:spPr>
          <a:xfrm>
            <a:off x="10020300" y="6029325"/>
            <a:ext cx="7407116" cy="2571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0000"/>
              </a:lnSpc>
              <a:buNone/>
            </a:pPr>
            <a:r>
              <a:rPr lang="en-US" sz="1275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시안 팹 부분 운영 지속</a:t>
            </a:r>
            <a:endParaRPr lang="en-US" sz="1275" dirty="0"/>
          </a:p>
        </p:txBody>
      </p:sp>
      <p:sp>
        <p:nvSpPr>
          <p:cNvPr id="40" name="Shape 38"/>
          <p:cNvSpPr/>
          <p:nvPr/>
        </p:nvSpPr>
        <p:spPr>
          <a:xfrm>
            <a:off x="9563100" y="6486525"/>
            <a:ext cx="7648575" cy="9525"/>
          </a:xfrm>
          <a:prstGeom prst="rect">
            <a:avLst/>
          </a:prstGeom>
          <a:solidFill>
            <a:srgbClr val="D1D5DB"/>
          </a:solidFill>
          <a:ln/>
        </p:spPr>
      </p:sp>
      <p:sp>
        <p:nvSpPr>
          <p:cNvPr id="41" name="Text 39"/>
          <p:cNvSpPr/>
          <p:nvPr/>
        </p:nvSpPr>
        <p:spPr>
          <a:xfrm>
            <a:off x="9563100" y="6648450"/>
            <a:ext cx="7878032" cy="2381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0000"/>
              </a:lnSpc>
              <a:buNone/>
            </a:pPr>
            <a:r>
              <a:rPr lang="en-US" sz="1125" b="1" spc="75" kern="0" dirty="0">
                <a:solidFill>
                  <a:srgbClr val="0596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2026년 5월 현재 — 모멘텀 증거</a:t>
            </a:r>
            <a:endParaRPr lang="en-US" sz="1125" dirty="0"/>
          </a:p>
        </p:txBody>
      </p:sp>
      <p:sp>
        <p:nvSpPr>
          <p:cNvPr id="42" name="Text 40"/>
          <p:cNvSpPr/>
          <p:nvPr/>
        </p:nvSpPr>
        <p:spPr>
          <a:xfrm>
            <a:off x="9563100" y="6924675"/>
            <a:ext cx="7878032" cy="6953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70000"/>
              </a:lnSpc>
              <a:buNone/>
            </a:pPr>
            <a:r>
              <a:rPr lang="en-US" sz="105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✅ 빅테크 CapEx </a:t>
            </a:r>
            <a:pPr algn="l" indent="0" marL="0">
              <a:lnSpc>
                <a:spcPct val="170000"/>
              </a:lnSpc>
              <a:buNone/>
            </a:pPr>
            <a:r>
              <a:rPr lang="en-US" sz="105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$725B </a:t>
            </a:r>
            <a:pPr algn="l" indent="0" marL="0">
              <a:lnSpc>
                <a:spcPct val="170000"/>
              </a:lnSpc>
              <a:buNone/>
            </a:pPr>
            <a:r>
              <a:rPr lang="en-US" sz="105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· 강한 Pole A 모멘텀 ✅ H20 재허용·MATCH 미통과 · 공존 신호 ✅ HBM 점유율 17% → </a:t>
            </a:r>
            <a:pPr algn="l" indent="0" marL="0">
              <a:lnSpc>
                <a:spcPct val="170000"/>
              </a:lnSpc>
              <a:buNone/>
            </a:pPr>
            <a:r>
              <a:rPr lang="en-US" sz="105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28% </a:t>
            </a:r>
            <a:pPr algn="l" indent="0" marL="0">
              <a:lnSpc>
                <a:spcPct val="170000"/>
              </a:lnSpc>
              <a:buNone/>
            </a:pPr>
            <a:r>
              <a:rPr lang="en-US" sz="105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· 추격 궤도</a:t>
            </a:r>
            <a:endParaRPr lang="en-US" sz="1050" dirty="0"/>
          </a:p>
        </p:txBody>
      </p:sp>
      <p:sp>
        <p:nvSpPr>
          <p:cNvPr id="43" name="Shape 41"/>
          <p:cNvSpPr/>
          <p:nvPr/>
        </p:nvSpPr>
        <p:spPr>
          <a:xfrm>
            <a:off x="762000" y="9667875"/>
            <a:ext cx="16764000" cy="9525"/>
          </a:xfrm>
          <a:prstGeom prst="rect">
            <a:avLst/>
          </a:prstGeom>
          <a:solidFill>
            <a:srgbClr val="D1D5DB"/>
          </a:solidFill>
          <a:ln/>
        </p:spPr>
      </p:sp>
      <p:sp>
        <p:nvSpPr>
          <p:cNvPr id="44" name="Text 42"/>
          <p:cNvSpPr/>
          <p:nvPr/>
        </p:nvSpPr>
        <p:spPr>
          <a:xfrm>
            <a:off x="762000" y="9891713"/>
            <a:ext cx="1515666" cy="2190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0000"/>
              </a:lnSpc>
              <a:buNone/>
            </a:pPr>
            <a:r>
              <a:rPr lang="en-US" sz="1050" spc="38" kern="0" dirty="0">
                <a:solidFill>
                  <a:srgbClr val="6B72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삼성전자 </a:t>
            </a:r>
            <a:pPr algn="l" indent="0" marL="0">
              <a:lnSpc>
                <a:spcPct val="140000"/>
              </a:lnSpc>
              <a:buNone/>
            </a:pPr>
            <a:r>
              <a:rPr lang="en-US" sz="1050" b="1" spc="38" kern="0" dirty="0">
                <a:solidFill>
                  <a:srgbClr val="1428A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| </a:t>
            </a:r>
            <a:pPr algn="l" indent="0" marL="0">
              <a:lnSpc>
                <a:spcPct val="140000"/>
              </a:lnSpc>
              <a:buNone/>
            </a:pPr>
            <a:r>
              <a:rPr lang="en-US" sz="1050" spc="38" kern="0" dirty="0">
                <a:solidFill>
                  <a:srgbClr val="6B72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STEP 5 · 적용</a:t>
            </a:r>
            <a:endParaRPr lang="en-US" sz="1050" dirty="0"/>
          </a:p>
        </p:txBody>
      </p:sp>
      <p:sp>
        <p:nvSpPr>
          <p:cNvPr id="45" name="Text 43"/>
          <p:cNvSpPr/>
          <p:nvPr/>
        </p:nvSpPr>
        <p:spPr>
          <a:xfrm>
            <a:off x="17023705" y="9891713"/>
            <a:ext cx="578495" cy="2190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0000"/>
              </a:lnSpc>
              <a:buNone/>
            </a:pPr>
            <a:r>
              <a:rPr lang="en-US" sz="1050" spc="38" kern="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 / 26</a:t>
            </a:r>
            <a:endParaRPr lang="en-US" sz="105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62000" y="533400"/>
            <a:ext cx="17266920" cy="2762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algn="l" indent="0" marL="0">
              <a:lnSpc>
                <a:spcPct val="140000"/>
              </a:lnSpc>
              <a:buNone/>
            </a:pPr>
            <a:r>
              <a:rPr lang="en-US" sz="1350" spc="150" kern="0" dirty="0">
                <a:solidFill>
                  <a:srgbClr val="1428A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STEP 5 · 메모리 사업 적용 — STEP 7</a:t>
            </a:r>
            <a:endParaRPr lang="en-US" sz="1350" dirty="0"/>
          </a:p>
        </p:txBody>
      </p:sp>
      <p:sp>
        <p:nvSpPr>
          <p:cNvPr id="3" name="Text 1"/>
          <p:cNvSpPr/>
          <p:nvPr/>
        </p:nvSpPr>
        <p:spPr>
          <a:xfrm>
            <a:off x="762000" y="885825"/>
            <a:ext cx="17266920" cy="5619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3300" b="1" spc="-37" kern="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나머지 4개 시나리오에는 </a:t>
            </a:r>
            <a:pPr algn="l" indent="0" marL="0">
              <a:lnSpc>
                <a:spcPct val="125000"/>
              </a:lnSpc>
              <a:buNone/>
            </a:pPr>
            <a:r>
              <a:rPr lang="en-US" sz="3300" b="1" spc="-37" kern="0" dirty="0">
                <a:solidFill>
                  <a:srgbClr val="D9770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+15% 추가 비용</a:t>
            </a:r>
            <a:pPr algn="l" indent="0" marL="0">
              <a:lnSpc>
                <a:spcPct val="125000"/>
              </a:lnSpc>
              <a:buNone/>
            </a:pPr>
            <a:r>
              <a:rPr lang="en-US" sz="3300" b="1" spc="-37" kern="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으로 보험을 든다</a:t>
            </a:r>
            <a:endParaRPr lang="en-US" sz="3300" dirty="0"/>
          </a:p>
        </p:txBody>
      </p:sp>
      <p:sp>
        <p:nvSpPr>
          <p:cNvPr id="4" name="Text 2"/>
          <p:cNvSpPr/>
          <p:nvPr/>
        </p:nvSpPr>
        <p:spPr>
          <a:xfrm>
            <a:off x="762000" y="1524000"/>
            <a:ext cx="14716125" cy="3524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50000"/>
              </a:lnSpc>
              <a:buNone/>
            </a:pPr>
            <a:r>
              <a:rPr lang="en-US" sz="1650" dirty="0">
                <a:solidFill>
                  <a:srgbClr val="6B72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Side Bets — Main Bet 투자 대비 +15% 추가 비용으로 모든 시나리오 대비</a:t>
            </a:r>
            <a:endParaRPr lang="en-US" sz="1650" dirty="0"/>
          </a:p>
        </p:txBody>
      </p:sp>
      <p:sp>
        <p:nvSpPr>
          <p:cNvPr id="5" name="Shape 3"/>
          <p:cNvSpPr/>
          <p:nvPr/>
        </p:nvSpPr>
        <p:spPr>
          <a:xfrm>
            <a:off x="762000" y="2438400"/>
            <a:ext cx="16764000" cy="1343025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Shape 4"/>
          <p:cNvSpPr/>
          <p:nvPr/>
        </p:nvSpPr>
        <p:spPr>
          <a:xfrm>
            <a:off x="762000" y="3771900"/>
            <a:ext cx="16764000" cy="9525"/>
          </a:xfrm>
          <a:prstGeom prst="rect">
            <a:avLst/>
          </a:prstGeom>
          <a:solidFill>
            <a:srgbClr val="D1D5DB"/>
          </a:solidFill>
          <a:ln/>
        </p:spPr>
      </p:sp>
      <p:sp>
        <p:nvSpPr>
          <p:cNvPr id="7" name="Shape 5"/>
          <p:cNvSpPr/>
          <p:nvPr/>
        </p:nvSpPr>
        <p:spPr>
          <a:xfrm>
            <a:off x="762000" y="2438400"/>
            <a:ext cx="16764000" cy="9525"/>
          </a:xfrm>
          <a:prstGeom prst="rect">
            <a:avLst/>
          </a:prstGeom>
          <a:solidFill>
            <a:srgbClr val="D1D5DB"/>
          </a:solidFill>
          <a:ln/>
        </p:spPr>
      </p:sp>
      <p:sp>
        <p:nvSpPr>
          <p:cNvPr id="8" name="Shape 6"/>
          <p:cNvSpPr/>
          <p:nvPr/>
        </p:nvSpPr>
        <p:spPr>
          <a:xfrm>
            <a:off x="762000" y="2438400"/>
            <a:ext cx="57150" cy="1343025"/>
          </a:xfrm>
          <a:prstGeom prst="rect">
            <a:avLst/>
          </a:prstGeom>
          <a:solidFill>
            <a:srgbClr val="1428A0"/>
          </a:solidFill>
          <a:ln/>
        </p:spPr>
      </p:sp>
      <p:sp>
        <p:nvSpPr>
          <p:cNvPr id="9" name="Shape 7"/>
          <p:cNvSpPr/>
          <p:nvPr/>
        </p:nvSpPr>
        <p:spPr>
          <a:xfrm>
            <a:off x="17516475" y="2438400"/>
            <a:ext cx="9525" cy="1343025"/>
          </a:xfrm>
          <a:prstGeom prst="rect">
            <a:avLst/>
          </a:prstGeom>
          <a:solidFill>
            <a:srgbClr val="D1D5DB"/>
          </a:solidFill>
          <a:ln/>
        </p:spPr>
      </p:sp>
      <p:sp>
        <p:nvSpPr>
          <p:cNvPr id="10" name="Text 8"/>
          <p:cNvSpPr/>
          <p:nvPr/>
        </p:nvSpPr>
        <p:spPr>
          <a:xfrm>
            <a:off x="1085850" y="2767013"/>
            <a:ext cx="1981200" cy="2190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0000"/>
              </a:lnSpc>
              <a:buNone/>
            </a:pPr>
            <a:r>
              <a:rPr lang="en-US" sz="1050" b="1" spc="150" kern="0" dirty="0">
                <a:solidFill>
                  <a:srgbClr val="1428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SCENARIO A</a:t>
            </a:r>
            <a:endParaRPr lang="en-US" sz="1050" dirty="0"/>
          </a:p>
        </p:txBody>
      </p:sp>
      <p:sp>
        <p:nvSpPr>
          <p:cNvPr id="11" name="Text 9"/>
          <p:cNvSpPr/>
          <p:nvPr/>
        </p:nvSpPr>
        <p:spPr>
          <a:xfrm>
            <a:off x="1085850" y="2986088"/>
            <a:ext cx="1981200" cy="3048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0000"/>
              </a:lnSpc>
              <a:buNone/>
            </a:pPr>
            <a:r>
              <a:rPr lang="en-US" sz="1500" b="1" dirty="0">
                <a:solidFill>
                  <a:srgbClr val="1428A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황금 요새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1085850" y="3252788"/>
            <a:ext cx="1981200" cy="2381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0000"/>
              </a:lnSpc>
              <a:buNone/>
            </a:pPr>
            <a:r>
              <a:rPr lang="en-US" sz="1125" dirty="0">
                <a:solidFill>
                  <a:srgbClr val="6B72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25 – 30% 확률</a:t>
            </a:r>
            <a:endParaRPr lang="en-US" sz="1125" dirty="0"/>
          </a:p>
        </p:txBody>
      </p:sp>
      <p:sp>
        <p:nvSpPr>
          <p:cNvPr id="13" name="Text 11"/>
          <p:cNvSpPr/>
          <p:nvPr/>
        </p:nvSpPr>
        <p:spPr>
          <a:xfrm>
            <a:off x="3219450" y="2886075"/>
            <a:ext cx="5910977" cy="2381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0000"/>
              </a:lnSpc>
              <a:buNone/>
            </a:pPr>
            <a:r>
              <a:rPr lang="en-US" sz="1125" b="1" dirty="0">
                <a:solidFill>
                  <a:srgbClr val="DC26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위협</a:t>
            </a:r>
            <a:endParaRPr lang="en-US" sz="1125" dirty="0"/>
          </a:p>
        </p:txBody>
      </p:sp>
      <p:sp>
        <p:nvSpPr>
          <p:cNvPr id="14" name="Text 12"/>
          <p:cNvSpPr/>
          <p:nvPr/>
        </p:nvSpPr>
        <p:spPr>
          <a:xfrm>
            <a:off x="3219450" y="3124200"/>
            <a:ext cx="5910977" cy="2476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50000"/>
              </a:lnSpc>
              <a:buNone/>
            </a:pPr>
            <a:r>
              <a:rPr lang="en-US" sz="1125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시안 팹 상실 (NAND −40% 급감) + 대중 HBM 봉쇄</a:t>
            </a:r>
            <a:endParaRPr lang="en-US" sz="1125" dirty="0"/>
          </a:p>
        </p:txBody>
      </p:sp>
      <p:sp>
        <p:nvSpPr>
          <p:cNvPr id="15" name="Text 13"/>
          <p:cNvSpPr/>
          <p:nvPr/>
        </p:nvSpPr>
        <p:spPr>
          <a:xfrm>
            <a:off x="9186863" y="2886075"/>
            <a:ext cx="5910977" cy="2381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0000"/>
              </a:lnSpc>
              <a:buNone/>
            </a:pPr>
            <a:r>
              <a:rPr lang="en-US" sz="1125" b="1" dirty="0">
                <a:solidFill>
                  <a:srgbClr val="1428A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헤징 전략</a:t>
            </a:r>
            <a:endParaRPr lang="en-US" sz="1125" dirty="0"/>
          </a:p>
        </p:txBody>
      </p:sp>
      <p:sp>
        <p:nvSpPr>
          <p:cNvPr id="16" name="Text 14"/>
          <p:cNvSpPr/>
          <p:nvPr/>
        </p:nvSpPr>
        <p:spPr>
          <a:xfrm>
            <a:off x="9186863" y="3124200"/>
            <a:ext cx="5910977" cy="2476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50000"/>
              </a:lnSpc>
              <a:buNone/>
            </a:pPr>
            <a:r>
              <a:rPr lang="en-US" sz="1125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시안 단계적 축소 Plan B (2026 내) · 일본 R&amp;D 허브 · LTA 집중 체결</a:t>
            </a:r>
            <a:endParaRPr lang="en-US" sz="1125" dirty="0"/>
          </a:p>
        </p:txBody>
      </p:sp>
      <p:sp>
        <p:nvSpPr>
          <p:cNvPr id="17" name="Shape 15"/>
          <p:cNvSpPr/>
          <p:nvPr/>
        </p:nvSpPr>
        <p:spPr>
          <a:xfrm>
            <a:off x="15154275" y="2657475"/>
            <a:ext cx="2095500" cy="904875"/>
          </a:xfrm>
          <a:prstGeom prst="rect">
            <a:avLst/>
          </a:prstGeom>
          <a:solidFill>
            <a:srgbClr val="E8EEFC"/>
          </a:solidFill>
          <a:ln/>
        </p:spPr>
      </p:sp>
      <p:sp>
        <p:nvSpPr>
          <p:cNvPr id="18" name="Text 16"/>
          <p:cNvSpPr/>
          <p:nvPr/>
        </p:nvSpPr>
        <p:spPr>
          <a:xfrm>
            <a:off x="15306675" y="2771775"/>
            <a:ext cx="1866900" cy="2381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0000"/>
              </a:lnSpc>
              <a:buNone/>
            </a:pPr>
            <a:r>
              <a:rPr lang="en-US" sz="1125" b="1" dirty="0">
                <a:solidFill>
                  <a:srgbClr val="1428A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투자</a:t>
            </a:r>
            <a:endParaRPr lang="en-US" sz="1125" dirty="0"/>
          </a:p>
        </p:txBody>
      </p:sp>
      <p:sp>
        <p:nvSpPr>
          <p:cNvPr id="19" name="Text 17"/>
          <p:cNvSpPr/>
          <p:nvPr/>
        </p:nvSpPr>
        <p:spPr>
          <a:xfrm>
            <a:off x="15306675" y="2971800"/>
            <a:ext cx="1866900" cy="5143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0000"/>
              </a:lnSpc>
              <a:buNone/>
            </a:pPr>
            <a:r>
              <a:rPr lang="en-US" sz="135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시안 이전 5조원 일본 R&amp;D 1조원</a:t>
            </a:r>
            <a:endParaRPr lang="en-US" sz="1350" dirty="0"/>
          </a:p>
        </p:txBody>
      </p:sp>
      <p:sp>
        <p:nvSpPr>
          <p:cNvPr id="20" name="Shape 18"/>
          <p:cNvSpPr/>
          <p:nvPr/>
        </p:nvSpPr>
        <p:spPr>
          <a:xfrm>
            <a:off x="762000" y="3914775"/>
            <a:ext cx="16764000" cy="1343025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1" name="Shape 19"/>
          <p:cNvSpPr/>
          <p:nvPr/>
        </p:nvSpPr>
        <p:spPr>
          <a:xfrm>
            <a:off x="762000" y="5248275"/>
            <a:ext cx="16764000" cy="9525"/>
          </a:xfrm>
          <a:prstGeom prst="rect">
            <a:avLst/>
          </a:prstGeom>
          <a:solidFill>
            <a:srgbClr val="D1D5DB"/>
          </a:solidFill>
          <a:ln/>
        </p:spPr>
      </p:sp>
      <p:sp>
        <p:nvSpPr>
          <p:cNvPr id="22" name="Shape 20"/>
          <p:cNvSpPr/>
          <p:nvPr/>
        </p:nvSpPr>
        <p:spPr>
          <a:xfrm>
            <a:off x="762000" y="3914775"/>
            <a:ext cx="16764000" cy="9525"/>
          </a:xfrm>
          <a:prstGeom prst="rect">
            <a:avLst/>
          </a:prstGeom>
          <a:solidFill>
            <a:srgbClr val="D1D5DB"/>
          </a:solidFill>
          <a:ln/>
        </p:spPr>
      </p:sp>
      <p:sp>
        <p:nvSpPr>
          <p:cNvPr id="23" name="Shape 21"/>
          <p:cNvSpPr/>
          <p:nvPr/>
        </p:nvSpPr>
        <p:spPr>
          <a:xfrm>
            <a:off x="762000" y="3914775"/>
            <a:ext cx="57150" cy="1343025"/>
          </a:xfrm>
          <a:prstGeom prst="rect">
            <a:avLst/>
          </a:prstGeom>
          <a:solidFill>
            <a:srgbClr val="DC2626"/>
          </a:solidFill>
          <a:ln/>
        </p:spPr>
      </p:sp>
      <p:sp>
        <p:nvSpPr>
          <p:cNvPr id="24" name="Shape 22"/>
          <p:cNvSpPr/>
          <p:nvPr/>
        </p:nvSpPr>
        <p:spPr>
          <a:xfrm>
            <a:off x="17516475" y="3914775"/>
            <a:ext cx="9525" cy="1343025"/>
          </a:xfrm>
          <a:prstGeom prst="rect">
            <a:avLst/>
          </a:prstGeom>
          <a:solidFill>
            <a:srgbClr val="D1D5DB"/>
          </a:solidFill>
          <a:ln/>
        </p:spPr>
      </p:sp>
      <p:sp>
        <p:nvSpPr>
          <p:cNvPr id="25" name="Text 23"/>
          <p:cNvSpPr/>
          <p:nvPr/>
        </p:nvSpPr>
        <p:spPr>
          <a:xfrm>
            <a:off x="1085850" y="4243388"/>
            <a:ext cx="1981200" cy="2190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0000"/>
              </a:lnSpc>
              <a:buNone/>
            </a:pPr>
            <a:r>
              <a:rPr lang="en-US" sz="1050" b="1" spc="150" kern="0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SCENARIO C</a:t>
            </a:r>
            <a:endParaRPr lang="en-US" sz="1050" dirty="0"/>
          </a:p>
        </p:txBody>
      </p:sp>
      <p:sp>
        <p:nvSpPr>
          <p:cNvPr id="26" name="Text 24"/>
          <p:cNvSpPr/>
          <p:nvPr/>
        </p:nvSpPr>
        <p:spPr>
          <a:xfrm>
            <a:off x="1085850" y="4462463"/>
            <a:ext cx="1981200" cy="3048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0000"/>
              </a:lnSpc>
              <a:buNone/>
            </a:pPr>
            <a:r>
              <a:rPr lang="en-US" sz="1500" b="1" dirty="0">
                <a:solidFill>
                  <a:srgbClr val="DC26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기술 냉전</a:t>
            </a:r>
            <a:endParaRPr lang="en-US" sz="1500" dirty="0"/>
          </a:p>
        </p:txBody>
      </p:sp>
      <p:sp>
        <p:nvSpPr>
          <p:cNvPr id="27" name="Text 25"/>
          <p:cNvSpPr/>
          <p:nvPr/>
        </p:nvSpPr>
        <p:spPr>
          <a:xfrm>
            <a:off x="1085850" y="4729163"/>
            <a:ext cx="1981200" cy="2381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0000"/>
              </a:lnSpc>
              <a:buNone/>
            </a:pPr>
            <a:r>
              <a:rPr lang="en-US" sz="1125" dirty="0">
                <a:solidFill>
                  <a:srgbClr val="6B72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10 – 15% 확률</a:t>
            </a:r>
            <a:endParaRPr lang="en-US" sz="1125" dirty="0"/>
          </a:p>
        </p:txBody>
      </p:sp>
      <p:sp>
        <p:nvSpPr>
          <p:cNvPr id="28" name="Text 26"/>
          <p:cNvSpPr/>
          <p:nvPr/>
        </p:nvSpPr>
        <p:spPr>
          <a:xfrm>
            <a:off x="3219450" y="4362450"/>
            <a:ext cx="5910977" cy="2381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0000"/>
              </a:lnSpc>
              <a:buNone/>
            </a:pPr>
            <a:r>
              <a:rPr lang="en-US" sz="1125" b="1" dirty="0">
                <a:solidFill>
                  <a:srgbClr val="DC26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위협</a:t>
            </a:r>
            <a:endParaRPr lang="en-US" sz="1125" dirty="0"/>
          </a:p>
        </p:txBody>
      </p:sp>
      <p:sp>
        <p:nvSpPr>
          <p:cNvPr id="29" name="Text 27"/>
          <p:cNvSpPr/>
          <p:nvPr/>
        </p:nvSpPr>
        <p:spPr>
          <a:xfrm>
            <a:off x="3219450" y="4600575"/>
            <a:ext cx="5910977" cy="2476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50000"/>
              </a:lnSpc>
              <a:buNone/>
            </a:pPr>
            <a:r>
              <a:rPr lang="en-US" sz="1125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HBM 수요 급냉 + 시안 차단 이중 충격 + 소재 수출 제한</a:t>
            </a:r>
            <a:endParaRPr lang="en-US" sz="1125" dirty="0"/>
          </a:p>
        </p:txBody>
      </p:sp>
      <p:sp>
        <p:nvSpPr>
          <p:cNvPr id="30" name="Text 28"/>
          <p:cNvSpPr/>
          <p:nvPr/>
        </p:nvSpPr>
        <p:spPr>
          <a:xfrm>
            <a:off x="9186863" y="4362450"/>
            <a:ext cx="5910977" cy="2381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0000"/>
              </a:lnSpc>
              <a:buNone/>
            </a:pPr>
            <a:r>
              <a:rPr lang="en-US" sz="1125" b="1" dirty="0">
                <a:solidFill>
                  <a:srgbClr val="1428A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헤징 전략</a:t>
            </a:r>
            <a:endParaRPr lang="en-US" sz="1125" dirty="0"/>
          </a:p>
        </p:txBody>
      </p:sp>
      <p:sp>
        <p:nvSpPr>
          <p:cNvPr id="31" name="Text 29"/>
          <p:cNvSpPr/>
          <p:nvPr/>
        </p:nvSpPr>
        <p:spPr>
          <a:xfrm>
            <a:off x="9186863" y="4600575"/>
            <a:ext cx="5910977" cy="2476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50000"/>
              </a:lnSpc>
              <a:buNone/>
            </a:pPr>
            <a:r>
              <a:rPr lang="en-US" sz="1125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캐나다·호주·카자흐스탄 소재 LTA · 순현금 30조원 · R&amp;D 3,000억원/년 사수</a:t>
            </a:r>
            <a:endParaRPr lang="en-US" sz="1125" dirty="0"/>
          </a:p>
        </p:txBody>
      </p:sp>
      <p:sp>
        <p:nvSpPr>
          <p:cNvPr id="32" name="Shape 30"/>
          <p:cNvSpPr/>
          <p:nvPr/>
        </p:nvSpPr>
        <p:spPr>
          <a:xfrm>
            <a:off x="15154275" y="4133850"/>
            <a:ext cx="2095500" cy="904875"/>
          </a:xfrm>
          <a:prstGeom prst="rect">
            <a:avLst/>
          </a:prstGeom>
          <a:solidFill>
            <a:srgbClr val="E8EEFC"/>
          </a:solidFill>
          <a:ln/>
        </p:spPr>
      </p:sp>
      <p:sp>
        <p:nvSpPr>
          <p:cNvPr id="33" name="Text 31"/>
          <p:cNvSpPr/>
          <p:nvPr/>
        </p:nvSpPr>
        <p:spPr>
          <a:xfrm>
            <a:off x="15306675" y="4248150"/>
            <a:ext cx="1866900" cy="2381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0000"/>
              </a:lnSpc>
              <a:buNone/>
            </a:pPr>
            <a:r>
              <a:rPr lang="en-US" sz="1125" b="1" dirty="0">
                <a:solidFill>
                  <a:srgbClr val="1428A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투자</a:t>
            </a:r>
            <a:endParaRPr lang="en-US" sz="1125" dirty="0"/>
          </a:p>
        </p:txBody>
      </p:sp>
      <p:sp>
        <p:nvSpPr>
          <p:cNvPr id="34" name="Text 32"/>
          <p:cNvSpPr/>
          <p:nvPr/>
        </p:nvSpPr>
        <p:spPr>
          <a:xfrm>
            <a:off x="15306675" y="4448175"/>
            <a:ext cx="1866900" cy="5143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0000"/>
              </a:lnSpc>
              <a:buNone/>
            </a:pPr>
            <a:r>
              <a:rPr lang="en-US" sz="135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소재 비축·계약 5,000억원</a:t>
            </a:r>
            <a:endParaRPr lang="en-US" sz="1350" dirty="0"/>
          </a:p>
        </p:txBody>
      </p:sp>
      <p:sp>
        <p:nvSpPr>
          <p:cNvPr id="35" name="Shape 33"/>
          <p:cNvSpPr/>
          <p:nvPr/>
        </p:nvSpPr>
        <p:spPr>
          <a:xfrm>
            <a:off x="762000" y="5391150"/>
            <a:ext cx="16764000" cy="1343025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6" name="Shape 34"/>
          <p:cNvSpPr/>
          <p:nvPr/>
        </p:nvSpPr>
        <p:spPr>
          <a:xfrm>
            <a:off x="762000" y="6724650"/>
            <a:ext cx="16764000" cy="9525"/>
          </a:xfrm>
          <a:prstGeom prst="rect">
            <a:avLst/>
          </a:prstGeom>
          <a:solidFill>
            <a:srgbClr val="D1D5DB"/>
          </a:solidFill>
          <a:ln/>
        </p:spPr>
      </p:sp>
      <p:sp>
        <p:nvSpPr>
          <p:cNvPr id="37" name="Shape 35"/>
          <p:cNvSpPr/>
          <p:nvPr/>
        </p:nvSpPr>
        <p:spPr>
          <a:xfrm>
            <a:off x="762000" y="5391150"/>
            <a:ext cx="16764000" cy="9525"/>
          </a:xfrm>
          <a:prstGeom prst="rect">
            <a:avLst/>
          </a:prstGeom>
          <a:solidFill>
            <a:srgbClr val="D1D5DB"/>
          </a:solidFill>
          <a:ln/>
        </p:spPr>
      </p:sp>
      <p:sp>
        <p:nvSpPr>
          <p:cNvPr id="38" name="Shape 36"/>
          <p:cNvSpPr/>
          <p:nvPr/>
        </p:nvSpPr>
        <p:spPr>
          <a:xfrm>
            <a:off x="762000" y="5391150"/>
            <a:ext cx="57150" cy="1343025"/>
          </a:xfrm>
          <a:prstGeom prst="rect">
            <a:avLst/>
          </a:prstGeom>
          <a:solidFill>
            <a:srgbClr val="6B7280"/>
          </a:solidFill>
          <a:ln/>
        </p:spPr>
      </p:sp>
      <p:sp>
        <p:nvSpPr>
          <p:cNvPr id="39" name="Shape 37"/>
          <p:cNvSpPr/>
          <p:nvPr/>
        </p:nvSpPr>
        <p:spPr>
          <a:xfrm>
            <a:off x="17516475" y="5391150"/>
            <a:ext cx="9525" cy="1343025"/>
          </a:xfrm>
          <a:prstGeom prst="rect">
            <a:avLst/>
          </a:prstGeom>
          <a:solidFill>
            <a:srgbClr val="D1D5DB"/>
          </a:solidFill>
          <a:ln/>
        </p:spPr>
      </p:sp>
      <p:sp>
        <p:nvSpPr>
          <p:cNvPr id="40" name="Text 38"/>
          <p:cNvSpPr/>
          <p:nvPr/>
        </p:nvSpPr>
        <p:spPr>
          <a:xfrm>
            <a:off x="1085850" y="5719763"/>
            <a:ext cx="1981200" cy="2190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0000"/>
              </a:lnSpc>
              <a:buNone/>
            </a:pPr>
            <a:r>
              <a:rPr lang="en-US" sz="1050" b="1" spc="150" kern="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SCENARIO D</a:t>
            </a:r>
            <a:endParaRPr lang="en-US" sz="1050" dirty="0"/>
          </a:p>
        </p:txBody>
      </p:sp>
      <p:sp>
        <p:nvSpPr>
          <p:cNvPr id="41" name="Text 39"/>
          <p:cNvSpPr/>
          <p:nvPr/>
        </p:nvSpPr>
        <p:spPr>
          <a:xfrm>
            <a:off x="1085850" y="5938838"/>
            <a:ext cx="1981200" cy="3048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0000"/>
              </a:lnSpc>
              <a:buNone/>
            </a:pPr>
            <a:r>
              <a:rPr lang="en-US" sz="1500" b="1" dirty="0">
                <a:solidFill>
                  <a:srgbClr val="37415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조용한 재편</a:t>
            </a:r>
            <a:endParaRPr lang="en-US" sz="1500" dirty="0"/>
          </a:p>
        </p:txBody>
      </p:sp>
      <p:sp>
        <p:nvSpPr>
          <p:cNvPr id="42" name="Text 40"/>
          <p:cNvSpPr/>
          <p:nvPr/>
        </p:nvSpPr>
        <p:spPr>
          <a:xfrm>
            <a:off x="1085850" y="6205538"/>
            <a:ext cx="1981200" cy="2381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0000"/>
              </a:lnSpc>
              <a:buNone/>
            </a:pPr>
            <a:r>
              <a:rPr lang="en-US" sz="1125" dirty="0">
                <a:solidFill>
                  <a:srgbClr val="6B72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20 – 25% 확률</a:t>
            </a:r>
            <a:endParaRPr lang="en-US" sz="1125" dirty="0"/>
          </a:p>
        </p:txBody>
      </p:sp>
      <p:sp>
        <p:nvSpPr>
          <p:cNvPr id="43" name="Text 41"/>
          <p:cNvSpPr/>
          <p:nvPr/>
        </p:nvSpPr>
        <p:spPr>
          <a:xfrm>
            <a:off x="3219450" y="5838825"/>
            <a:ext cx="5910977" cy="2381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0000"/>
              </a:lnSpc>
              <a:buNone/>
            </a:pPr>
            <a:r>
              <a:rPr lang="en-US" sz="1125" b="1" dirty="0">
                <a:solidFill>
                  <a:srgbClr val="DC26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위협</a:t>
            </a:r>
            <a:endParaRPr lang="en-US" sz="1125" dirty="0"/>
          </a:p>
        </p:txBody>
      </p:sp>
      <p:sp>
        <p:nvSpPr>
          <p:cNvPr id="44" name="Text 42"/>
          <p:cNvSpPr/>
          <p:nvPr/>
        </p:nvSpPr>
        <p:spPr>
          <a:xfrm>
            <a:off x="3219450" y="6076950"/>
            <a:ext cx="5910977" cy="2476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50000"/>
              </a:lnSpc>
              <a:buNone/>
            </a:pPr>
            <a:r>
              <a:rPr lang="en-US" sz="1125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SK하이닉스 기술 우위 고착화 + CXMT 범용 DRAM 잠식</a:t>
            </a:r>
            <a:endParaRPr lang="en-US" sz="1125" dirty="0"/>
          </a:p>
        </p:txBody>
      </p:sp>
      <p:sp>
        <p:nvSpPr>
          <p:cNvPr id="45" name="Text 43"/>
          <p:cNvSpPr/>
          <p:nvPr/>
        </p:nvSpPr>
        <p:spPr>
          <a:xfrm>
            <a:off x="9186863" y="5838825"/>
            <a:ext cx="5910977" cy="2381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0000"/>
              </a:lnSpc>
              <a:buNone/>
            </a:pPr>
            <a:r>
              <a:rPr lang="en-US" sz="1125" b="1" dirty="0">
                <a:solidFill>
                  <a:srgbClr val="1428A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헤징 전략</a:t>
            </a:r>
            <a:endParaRPr lang="en-US" sz="1125" dirty="0"/>
          </a:p>
        </p:txBody>
      </p:sp>
      <p:sp>
        <p:nvSpPr>
          <p:cNvPr id="46" name="Text 44"/>
          <p:cNvSpPr/>
          <p:nvPr/>
        </p:nvSpPr>
        <p:spPr>
          <a:xfrm>
            <a:off x="9186863" y="6076950"/>
            <a:ext cx="5910977" cy="2476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50000"/>
              </a:lnSpc>
              <a:buNone/>
            </a:pPr>
            <a:r>
              <a:rPr lang="en-US" sz="1125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HBM 조직 독립 · 패키징 인재 100인 · 산업용 AI 메모리 (차량·의료)</a:t>
            </a:r>
            <a:endParaRPr lang="en-US" sz="1125" dirty="0"/>
          </a:p>
        </p:txBody>
      </p:sp>
      <p:sp>
        <p:nvSpPr>
          <p:cNvPr id="47" name="Shape 45"/>
          <p:cNvSpPr/>
          <p:nvPr/>
        </p:nvSpPr>
        <p:spPr>
          <a:xfrm>
            <a:off x="15154275" y="5610225"/>
            <a:ext cx="2095500" cy="904875"/>
          </a:xfrm>
          <a:prstGeom prst="rect">
            <a:avLst/>
          </a:prstGeom>
          <a:solidFill>
            <a:srgbClr val="E8EEFC"/>
          </a:solidFill>
          <a:ln/>
        </p:spPr>
      </p:sp>
      <p:sp>
        <p:nvSpPr>
          <p:cNvPr id="48" name="Text 46"/>
          <p:cNvSpPr/>
          <p:nvPr/>
        </p:nvSpPr>
        <p:spPr>
          <a:xfrm>
            <a:off x="15306675" y="5724525"/>
            <a:ext cx="1866900" cy="2381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0000"/>
              </a:lnSpc>
              <a:buNone/>
            </a:pPr>
            <a:r>
              <a:rPr lang="en-US" sz="1125" b="1" dirty="0">
                <a:solidFill>
                  <a:srgbClr val="1428A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투자</a:t>
            </a:r>
            <a:endParaRPr lang="en-US" sz="1125" dirty="0"/>
          </a:p>
        </p:txBody>
      </p:sp>
      <p:sp>
        <p:nvSpPr>
          <p:cNvPr id="49" name="Text 47"/>
          <p:cNvSpPr/>
          <p:nvPr/>
        </p:nvSpPr>
        <p:spPr>
          <a:xfrm>
            <a:off x="15306675" y="5924550"/>
            <a:ext cx="1866900" cy="5143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0000"/>
              </a:lnSpc>
              <a:buNone/>
            </a:pPr>
            <a:r>
              <a:rPr lang="en-US" sz="135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R&amp;D 2,000억원 (2026–2028)</a:t>
            </a:r>
            <a:endParaRPr lang="en-US" sz="1350" dirty="0"/>
          </a:p>
        </p:txBody>
      </p:sp>
      <p:sp>
        <p:nvSpPr>
          <p:cNvPr id="50" name="Shape 48"/>
          <p:cNvSpPr/>
          <p:nvPr/>
        </p:nvSpPr>
        <p:spPr>
          <a:xfrm>
            <a:off x="762000" y="6867525"/>
            <a:ext cx="16764000" cy="158115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51" name="Shape 49"/>
          <p:cNvSpPr/>
          <p:nvPr/>
        </p:nvSpPr>
        <p:spPr>
          <a:xfrm>
            <a:off x="762000" y="8439150"/>
            <a:ext cx="16764000" cy="9525"/>
          </a:xfrm>
          <a:prstGeom prst="rect">
            <a:avLst/>
          </a:prstGeom>
          <a:solidFill>
            <a:srgbClr val="D1D5DB"/>
          </a:solidFill>
          <a:ln/>
        </p:spPr>
      </p:sp>
      <p:sp>
        <p:nvSpPr>
          <p:cNvPr id="52" name="Shape 50"/>
          <p:cNvSpPr/>
          <p:nvPr/>
        </p:nvSpPr>
        <p:spPr>
          <a:xfrm>
            <a:off x="762000" y="6867525"/>
            <a:ext cx="16764000" cy="9525"/>
          </a:xfrm>
          <a:prstGeom prst="rect">
            <a:avLst/>
          </a:prstGeom>
          <a:solidFill>
            <a:srgbClr val="D1D5DB"/>
          </a:solidFill>
          <a:ln/>
        </p:spPr>
      </p:sp>
      <p:sp>
        <p:nvSpPr>
          <p:cNvPr id="53" name="Shape 51"/>
          <p:cNvSpPr/>
          <p:nvPr/>
        </p:nvSpPr>
        <p:spPr>
          <a:xfrm>
            <a:off x="762000" y="6867525"/>
            <a:ext cx="57150" cy="1581150"/>
          </a:xfrm>
          <a:prstGeom prst="rect">
            <a:avLst/>
          </a:prstGeom>
          <a:solidFill>
            <a:srgbClr val="D97706"/>
          </a:solidFill>
          <a:ln/>
        </p:spPr>
      </p:sp>
      <p:sp>
        <p:nvSpPr>
          <p:cNvPr id="54" name="Shape 52"/>
          <p:cNvSpPr/>
          <p:nvPr/>
        </p:nvSpPr>
        <p:spPr>
          <a:xfrm>
            <a:off x="17516475" y="6867525"/>
            <a:ext cx="9525" cy="1581150"/>
          </a:xfrm>
          <a:prstGeom prst="rect">
            <a:avLst/>
          </a:prstGeom>
          <a:solidFill>
            <a:srgbClr val="D1D5DB"/>
          </a:solidFill>
          <a:ln/>
        </p:spPr>
      </p:sp>
      <p:sp>
        <p:nvSpPr>
          <p:cNvPr id="55" name="Text 53"/>
          <p:cNvSpPr/>
          <p:nvPr/>
        </p:nvSpPr>
        <p:spPr>
          <a:xfrm>
            <a:off x="1085850" y="7315200"/>
            <a:ext cx="1981200" cy="2190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0000"/>
              </a:lnSpc>
              <a:buNone/>
            </a:pPr>
            <a:r>
              <a:rPr lang="en-US" sz="1050" b="1" spc="150" kern="0" dirty="0">
                <a:solidFill>
                  <a:srgbClr val="D9770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SCENARIO E</a:t>
            </a:r>
            <a:endParaRPr lang="en-US" sz="1050" dirty="0"/>
          </a:p>
        </p:txBody>
      </p:sp>
      <p:sp>
        <p:nvSpPr>
          <p:cNvPr id="56" name="Text 54"/>
          <p:cNvSpPr/>
          <p:nvPr/>
        </p:nvSpPr>
        <p:spPr>
          <a:xfrm>
            <a:off x="1085850" y="7534275"/>
            <a:ext cx="1981200" cy="3048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0000"/>
              </a:lnSpc>
              <a:buNone/>
            </a:pPr>
            <a:r>
              <a:rPr lang="en-US" sz="1500" b="1" dirty="0">
                <a:solidFill>
                  <a:srgbClr val="D9770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패러다임 전환</a:t>
            </a:r>
            <a:endParaRPr lang="en-US" sz="1500" dirty="0"/>
          </a:p>
        </p:txBody>
      </p:sp>
      <p:sp>
        <p:nvSpPr>
          <p:cNvPr id="57" name="Text 55"/>
          <p:cNvSpPr/>
          <p:nvPr/>
        </p:nvSpPr>
        <p:spPr>
          <a:xfrm>
            <a:off x="1085850" y="7800975"/>
            <a:ext cx="1981200" cy="2381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0000"/>
              </a:lnSpc>
              <a:buNone/>
            </a:pPr>
            <a:r>
              <a:rPr lang="en-US" sz="1125" dirty="0">
                <a:solidFill>
                  <a:srgbClr val="6B72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 – 10% 확률 · 와일드카드</a:t>
            </a:r>
            <a:endParaRPr lang="en-US" sz="1125" dirty="0"/>
          </a:p>
        </p:txBody>
      </p:sp>
      <p:sp>
        <p:nvSpPr>
          <p:cNvPr id="58" name="Text 56"/>
          <p:cNvSpPr/>
          <p:nvPr/>
        </p:nvSpPr>
        <p:spPr>
          <a:xfrm>
            <a:off x="3219450" y="7434263"/>
            <a:ext cx="5910977" cy="2381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0000"/>
              </a:lnSpc>
              <a:buNone/>
            </a:pPr>
            <a:r>
              <a:rPr lang="en-US" sz="1125" b="1" dirty="0">
                <a:solidFill>
                  <a:srgbClr val="DC26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위협</a:t>
            </a:r>
            <a:endParaRPr lang="en-US" sz="1125" dirty="0"/>
          </a:p>
        </p:txBody>
      </p:sp>
      <p:sp>
        <p:nvSpPr>
          <p:cNvPr id="59" name="Text 57"/>
          <p:cNvSpPr/>
          <p:nvPr/>
        </p:nvSpPr>
        <p:spPr>
          <a:xfrm>
            <a:off x="3219450" y="7672388"/>
            <a:ext cx="5910977" cy="2476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50000"/>
              </a:lnSpc>
              <a:buNone/>
            </a:pPr>
            <a:r>
              <a:rPr lang="en-US" sz="1125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HBM 40조원+ 매몰 비용화</a:t>
            </a:r>
            <a:endParaRPr lang="en-US" sz="1125" dirty="0"/>
          </a:p>
        </p:txBody>
      </p:sp>
      <p:sp>
        <p:nvSpPr>
          <p:cNvPr id="60" name="Text 58"/>
          <p:cNvSpPr/>
          <p:nvPr/>
        </p:nvSpPr>
        <p:spPr>
          <a:xfrm>
            <a:off x="9186863" y="7434263"/>
            <a:ext cx="5910977" cy="2381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0000"/>
              </a:lnSpc>
              <a:buNone/>
            </a:pPr>
            <a:r>
              <a:rPr lang="en-US" sz="1125" b="1" dirty="0">
                <a:solidFill>
                  <a:srgbClr val="1428A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헤징 전략</a:t>
            </a:r>
            <a:endParaRPr lang="en-US" sz="1125" dirty="0"/>
          </a:p>
        </p:txBody>
      </p:sp>
      <p:sp>
        <p:nvSpPr>
          <p:cNvPr id="61" name="Text 59"/>
          <p:cNvSpPr/>
          <p:nvPr/>
        </p:nvSpPr>
        <p:spPr>
          <a:xfrm>
            <a:off x="9186863" y="7672388"/>
            <a:ext cx="5910977" cy="2476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50000"/>
              </a:lnSpc>
              <a:buNone/>
            </a:pPr>
            <a:r>
              <a:rPr lang="en-US" sz="1125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3D DRAM R&amp;D 300인 · IMEC 협약 · CXL SIG 표준 · M&amp;A 펀드</a:t>
            </a:r>
            <a:endParaRPr lang="en-US" sz="1125" dirty="0"/>
          </a:p>
        </p:txBody>
      </p:sp>
      <p:sp>
        <p:nvSpPr>
          <p:cNvPr id="62" name="Shape 60"/>
          <p:cNvSpPr/>
          <p:nvPr/>
        </p:nvSpPr>
        <p:spPr>
          <a:xfrm>
            <a:off x="15154275" y="7086600"/>
            <a:ext cx="2095500" cy="1143000"/>
          </a:xfrm>
          <a:prstGeom prst="rect">
            <a:avLst/>
          </a:prstGeom>
          <a:solidFill>
            <a:srgbClr val="E8EEFC"/>
          </a:solidFill>
          <a:ln/>
        </p:spPr>
      </p:sp>
      <p:sp>
        <p:nvSpPr>
          <p:cNvPr id="63" name="Text 61"/>
          <p:cNvSpPr/>
          <p:nvPr/>
        </p:nvSpPr>
        <p:spPr>
          <a:xfrm>
            <a:off x="15306675" y="7200900"/>
            <a:ext cx="1866900" cy="2381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0000"/>
              </a:lnSpc>
              <a:buNone/>
            </a:pPr>
            <a:r>
              <a:rPr lang="en-US" sz="1125" b="1" dirty="0">
                <a:solidFill>
                  <a:srgbClr val="1428A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투자</a:t>
            </a:r>
            <a:endParaRPr lang="en-US" sz="1125" dirty="0"/>
          </a:p>
        </p:txBody>
      </p:sp>
      <p:sp>
        <p:nvSpPr>
          <p:cNvPr id="64" name="Text 62"/>
          <p:cNvSpPr/>
          <p:nvPr/>
        </p:nvSpPr>
        <p:spPr>
          <a:xfrm>
            <a:off x="15306675" y="7400925"/>
            <a:ext cx="1866900" cy="7524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0000"/>
              </a:lnSpc>
              <a:buNone/>
            </a:pPr>
            <a:r>
              <a:rPr lang="en-US" sz="135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3D DRAM 1,500억원/년 M&amp;A 펀드 5,000억원</a:t>
            </a:r>
            <a:endParaRPr lang="en-US" sz="1350" dirty="0"/>
          </a:p>
        </p:txBody>
      </p:sp>
      <p:sp>
        <p:nvSpPr>
          <p:cNvPr id="65" name="Shape 63"/>
          <p:cNvSpPr/>
          <p:nvPr/>
        </p:nvSpPr>
        <p:spPr>
          <a:xfrm>
            <a:off x="762000" y="8677275"/>
            <a:ext cx="16764000" cy="685800"/>
          </a:xfrm>
          <a:prstGeom prst="rect">
            <a:avLst/>
          </a:prstGeom>
          <a:solidFill>
            <a:srgbClr val="FEF3C7"/>
          </a:solidFill>
          <a:ln/>
        </p:spPr>
      </p:sp>
      <p:sp>
        <p:nvSpPr>
          <p:cNvPr id="66" name="Shape 64"/>
          <p:cNvSpPr/>
          <p:nvPr/>
        </p:nvSpPr>
        <p:spPr>
          <a:xfrm>
            <a:off x="762000" y="8677275"/>
            <a:ext cx="57150" cy="685800"/>
          </a:xfrm>
          <a:prstGeom prst="rect">
            <a:avLst/>
          </a:prstGeom>
          <a:solidFill>
            <a:srgbClr val="D97706"/>
          </a:solidFill>
          <a:ln/>
        </p:spPr>
      </p:sp>
      <p:sp>
        <p:nvSpPr>
          <p:cNvPr id="67" name="Shape 65"/>
          <p:cNvSpPr/>
          <p:nvPr/>
        </p:nvSpPr>
        <p:spPr>
          <a:xfrm>
            <a:off x="1085850" y="8867775"/>
            <a:ext cx="997148" cy="304800"/>
          </a:xfrm>
          <a:prstGeom prst="rect">
            <a:avLst/>
          </a:prstGeom>
          <a:solidFill>
            <a:srgbClr val="D97706"/>
          </a:solidFill>
          <a:ln/>
        </p:spPr>
      </p:sp>
      <p:sp>
        <p:nvSpPr>
          <p:cNvPr id="68" name="Text 66"/>
          <p:cNvSpPr/>
          <p:nvPr/>
        </p:nvSpPr>
        <p:spPr>
          <a:xfrm>
            <a:off x="1219200" y="8924925"/>
            <a:ext cx="806648" cy="2286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5000"/>
              </a:lnSpc>
              <a:buNone/>
            </a:pPr>
            <a:r>
              <a:rPr lang="en-US" sz="1050" b="1" spc="150" kern="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SO WHAT</a:t>
            </a:r>
            <a:endParaRPr lang="en-US" sz="1050" dirty="0"/>
          </a:p>
        </p:txBody>
      </p:sp>
      <p:sp>
        <p:nvSpPr>
          <p:cNvPr id="69" name="Text 67"/>
          <p:cNvSpPr/>
          <p:nvPr/>
        </p:nvSpPr>
        <p:spPr>
          <a:xfrm>
            <a:off x="2273498" y="8882063"/>
            <a:ext cx="5329077" cy="3143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5000"/>
              </a:lnSpc>
              <a:buNone/>
            </a:pPr>
            <a:r>
              <a:rPr lang="en-US" sz="15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Side Bet 총 투자 </a:t>
            </a:r>
            <a:pPr algn="l" indent="0" marL="0">
              <a:lnSpc>
                <a:spcPct val="145000"/>
              </a:lnSpc>
              <a:buNone/>
            </a:pPr>
            <a:r>
              <a:rPr lang="en-US" sz="150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≈ Main Bet의 15% </a:t>
            </a:r>
            <a:pPr algn="l" indent="0" marL="0">
              <a:lnSpc>
                <a:spcPct val="145000"/>
              </a:lnSpc>
              <a:buNone/>
            </a:pPr>
            <a:r>
              <a:rPr lang="en-US" sz="15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— 보험치고는 합리적 비용</a:t>
            </a:r>
            <a:endParaRPr lang="en-US" sz="1500" dirty="0"/>
          </a:p>
        </p:txBody>
      </p:sp>
      <p:sp>
        <p:nvSpPr>
          <p:cNvPr id="70" name="Shape 68"/>
          <p:cNvSpPr/>
          <p:nvPr/>
        </p:nvSpPr>
        <p:spPr>
          <a:xfrm>
            <a:off x="762000" y="9667875"/>
            <a:ext cx="16764000" cy="9525"/>
          </a:xfrm>
          <a:prstGeom prst="rect">
            <a:avLst/>
          </a:prstGeom>
          <a:solidFill>
            <a:srgbClr val="D1D5DB"/>
          </a:solidFill>
          <a:ln/>
        </p:spPr>
      </p:sp>
      <p:sp>
        <p:nvSpPr>
          <p:cNvPr id="71" name="Text 69"/>
          <p:cNvSpPr/>
          <p:nvPr/>
        </p:nvSpPr>
        <p:spPr>
          <a:xfrm>
            <a:off x="762000" y="9891713"/>
            <a:ext cx="1515666" cy="2190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0000"/>
              </a:lnSpc>
              <a:buNone/>
            </a:pPr>
            <a:r>
              <a:rPr lang="en-US" sz="1050" spc="38" kern="0" dirty="0">
                <a:solidFill>
                  <a:srgbClr val="6B72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삼성전자 </a:t>
            </a:r>
            <a:pPr algn="l" indent="0" marL="0">
              <a:lnSpc>
                <a:spcPct val="140000"/>
              </a:lnSpc>
              <a:buNone/>
            </a:pPr>
            <a:r>
              <a:rPr lang="en-US" sz="1050" b="1" spc="38" kern="0" dirty="0">
                <a:solidFill>
                  <a:srgbClr val="1428A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| </a:t>
            </a:r>
            <a:pPr algn="l" indent="0" marL="0">
              <a:lnSpc>
                <a:spcPct val="140000"/>
              </a:lnSpc>
              <a:buNone/>
            </a:pPr>
            <a:r>
              <a:rPr lang="en-US" sz="1050" spc="38" kern="0" dirty="0">
                <a:solidFill>
                  <a:srgbClr val="6B72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STEP 5 · 적용</a:t>
            </a:r>
            <a:endParaRPr lang="en-US" sz="1050" dirty="0"/>
          </a:p>
        </p:txBody>
      </p:sp>
      <p:sp>
        <p:nvSpPr>
          <p:cNvPr id="72" name="Text 70"/>
          <p:cNvSpPr/>
          <p:nvPr/>
        </p:nvSpPr>
        <p:spPr>
          <a:xfrm>
            <a:off x="17023705" y="9891713"/>
            <a:ext cx="578495" cy="2190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0000"/>
              </a:lnSpc>
              <a:buNone/>
            </a:pPr>
            <a:r>
              <a:rPr lang="en-US" sz="1050" spc="38" kern="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 / 26</a:t>
            </a:r>
            <a:endParaRPr lang="en-US" sz="105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62000" y="533400"/>
            <a:ext cx="17266920" cy="2762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algn="l" indent="0" marL="0">
              <a:lnSpc>
                <a:spcPct val="140000"/>
              </a:lnSpc>
              <a:buNone/>
            </a:pPr>
            <a:r>
              <a:rPr lang="en-US" sz="1350" spc="150" kern="0" dirty="0">
                <a:solidFill>
                  <a:srgbClr val="1428A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STEP 5 · 메모리 사업 적용 — STEP 8</a:t>
            </a:r>
            <a:endParaRPr lang="en-US" sz="1350" dirty="0"/>
          </a:p>
        </p:txBody>
      </p:sp>
      <p:sp>
        <p:nvSpPr>
          <p:cNvPr id="3" name="Text 1"/>
          <p:cNvSpPr/>
          <p:nvPr/>
        </p:nvSpPr>
        <p:spPr>
          <a:xfrm>
            <a:off x="762000" y="885825"/>
            <a:ext cx="17266920" cy="5619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3300" b="1" spc="-37" kern="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어떤 미래가 와도 가치를 만드는 Robust 전략 7개를 도출했다</a:t>
            </a:r>
            <a:endParaRPr lang="en-US" sz="3300" dirty="0"/>
          </a:p>
        </p:txBody>
      </p:sp>
      <p:sp>
        <p:nvSpPr>
          <p:cNvPr id="4" name="Text 2"/>
          <p:cNvSpPr/>
          <p:nvPr/>
        </p:nvSpPr>
        <p:spPr>
          <a:xfrm>
            <a:off x="762000" y="1524000"/>
            <a:ext cx="14716125" cy="3524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50000"/>
              </a:lnSpc>
              <a:buNone/>
            </a:pPr>
            <a:r>
              <a:rPr lang="en-US" sz="1650" dirty="0">
                <a:solidFill>
                  <a:srgbClr val="6B72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5개 시나리오 무관 가치 창출 · ★ 표시된 5개는 다음 슬라이드에서 상세 (RS-6 NAND 주기 연장 신규)</a:t>
            </a:r>
            <a:endParaRPr lang="en-US" sz="1650" dirty="0"/>
          </a:p>
        </p:txBody>
      </p:sp>
      <p:sp>
        <p:nvSpPr>
          <p:cNvPr id="5" name="Shape 3"/>
          <p:cNvSpPr/>
          <p:nvPr/>
        </p:nvSpPr>
        <p:spPr>
          <a:xfrm>
            <a:off x="762000" y="2286000"/>
            <a:ext cx="4026694" cy="3619500"/>
          </a:xfrm>
          <a:prstGeom prst="rect">
            <a:avLst/>
          </a:prstGeom>
          <a:solidFill>
            <a:srgbClr val="FEF3C7"/>
          </a:solidFill>
          <a:ln/>
        </p:spPr>
      </p:sp>
      <p:sp>
        <p:nvSpPr>
          <p:cNvPr id="6" name="Shape 4"/>
          <p:cNvSpPr/>
          <p:nvPr/>
        </p:nvSpPr>
        <p:spPr>
          <a:xfrm>
            <a:off x="762000" y="5895975"/>
            <a:ext cx="4026694" cy="9525"/>
          </a:xfrm>
          <a:prstGeom prst="rect">
            <a:avLst/>
          </a:prstGeom>
          <a:solidFill>
            <a:srgbClr val="D1D5DB"/>
          </a:solidFill>
          <a:ln/>
        </p:spPr>
      </p:sp>
      <p:sp>
        <p:nvSpPr>
          <p:cNvPr id="7" name="Shape 5"/>
          <p:cNvSpPr/>
          <p:nvPr/>
        </p:nvSpPr>
        <p:spPr>
          <a:xfrm>
            <a:off x="762000" y="2286000"/>
            <a:ext cx="4026694" cy="9525"/>
          </a:xfrm>
          <a:prstGeom prst="rect">
            <a:avLst/>
          </a:prstGeom>
          <a:solidFill>
            <a:srgbClr val="D1D5DB"/>
          </a:solidFill>
          <a:ln/>
        </p:spPr>
      </p:sp>
      <p:sp>
        <p:nvSpPr>
          <p:cNvPr id="8" name="Shape 6"/>
          <p:cNvSpPr/>
          <p:nvPr/>
        </p:nvSpPr>
        <p:spPr>
          <a:xfrm>
            <a:off x="762000" y="2286000"/>
            <a:ext cx="38100" cy="3619500"/>
          </a:xfrm>
          <a:prstGeom prst="rect">
            <a:avLst/>
          </a:prstGeom>
          <a:solidFill>
            <a:srgbClr val="D97706"/>
          </a:solidFill>
          <a:ln/>
        </p:spPr>
      </p:sp>
      <p:sp>
        <p:nvSpPr>
          <p:cNvPr id="9" name="Shape 7"/>
          <p:cNvSpPr/>
          <p:nvPr/>
        </p:nvSpPr>
        <p:spPr>
          <a:xfrm>
            <a:off x="4779169" y="2286000"/>
            <a:ext cx="9525" cy="3619500"/>
          </a:xfrm>
          <a:prstGeom prst="rect">
            <a:avLst/>
          </a:prstGeom>
          <a:solidFill>
            <a:srgbClr val="D1D5DB"/>
          </a:solidFill>
          <a:ln/>
        </p:spPr>
      </p:sp>
      <p:sp>
        <p:nvSpPr>
          <p:cNvPr id="10" name="Text 8"/>
          <p:cNvSpPr/>
          <p:nvPr/>
        </p:nvSpPr>
        <p:spPr>
          <a:xfrm>
            <a:off x="4321969" y="2447925"/>
            <a:ext cx="342900" cy="4095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0000"/>
              </a:lnSpc>
              <a:buNone/>
            </a:pPr>
            <a:r>
              <a:rPr lang="en-US" sz="21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⭐</a:t>
            </a:r>
            <a:endParaRPr lang="en-US" sz="2100" dirty="0"/>
          </a:p>
        </p:txBody>
      </p:sp>
      <p:sp>
        <p:nvSpPr>
          <p:cNvPr id="11" name="Text 9"/>
          <p:cNvSpPr/>
          <p:nvPr/>
        </p:nvSpPr>
        <p:spPr>
          <a:xfrm>
            <a:off x="1028700" y="2524125"/>
            <a:ext cx="3627525" cy="2190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0000"/>
              </a:lnSpc>
              <a:buNone/>
            </a:pPr>
            <a:r>
              <a:rPr lang="en-US" sz="1050" b="1" spc="150" kern="0" dirty="0">
                <a:solidFill>
                  <a:srgbClr val="1428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RS-1</a:t>
            </a:r>
            <a:endParaRPr lang="en-US" sz="1050" dirty="0"/>
          </a:p>
        </p:txBody>
      </p:sp>
      <p:sp>
        <p:nvSpPr>
          <p:cNvPr id="12" name="Text 10"/>
          <p:cNvSpPr/>
          <p:nvPr/>
        </p:nvSpPr>
        <p:spPr>
          <a:xfrm>
            <a:off x="1028700" y="2762250"/>
            <a:ext cx="3627525" cy="3048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0000"/>
              </a:lnSpc>
              <a:buNone/>
            </a:pPr>
            <a:r>
              <a:rPr lang="en-US" sz="1500" b="1" spc="22" kern="0" dirty="0">
                <a:solidFill>
                  <a:srgbClr val="1428A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옵션형 캐파 체계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1028700" y="3143250"/>
            <a:ext cx="3627525" cy="4381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55000"/>
              </a:lnSpc>
              <a:buNone/>
            </a:pPr>
            <a:r>
              <a:rPr lang="en-US" sz="1050" dirty="0">
                <a:solidFill>
                  <a:srgbClr val="37415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"켜고 끌 수 있는 능력" — Fab Shell 선행 + 장비 단계 반입 · Nucor 모델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5017294" y="2286000"/>
            <a:ext cx="4026694" cy="3619500"/>
          </a:xfrm>
          <a:prstGeom prst="rect">
            <a:avLst/>
          </a:prstGeom>
          <a:solidFill>
            <a:srgbClr val="FEF3C7"/>
          </a:solidFill>
          <a:ln/>
        </p:spPr>
      </p:sp>
      <p:sp>
        <p:nvSpPr>
          <p:cNvPr id="15" name="Shape 13"/>
          <p:cNvSpPr/>
          <p:nvPr/>
        </p:nvSpPr>
        <p:spPr>
          <a:xfrm>
            <a:off x="5017294" y="5895975"/>
            <a:ext cx="4026694" cy="9525"/>
          </a:xfrm>
          <a:prstGeom prst="rect">
            <a:avLst/>
          </a:prstGeom>
          <a:solidFill>
            <a:srgbClr val="D1D5DB"/>
          </a:solidFill>
          <a:ln/>
        </p:spPr>
      </p:sp>
      <p:sp>
        <p:nvSpPr>
          <p:cNvPr id="16" name="Shape 14"/>
          <p:cNvSpPr/>
          <p:nvPr/>
        </p:nvSpPr>
        <p:spPr>
          <a:xfrm>
            <a:off x="5017294" y="2286000"/>
            <a:ext cx="4026694" cy="9525"/>
          </a:xfrm>
          <a:prstGeom prst="rect">
            <a:avLst/>
          </a:prstGeom>
          <a:solidFill>
            <a:srgbClr val="D1D5DB"/>
          </a:solidFill>
          <a:ln/>
        </p:spPr>
      </p:sp>
      <p:sp>
        <p:nvSpPr>
          <p:cNvPr id="17" name="Shape 15"/>
          <p:cNvSpPr/>
          <p:nvPr/>
        </p:nvSpPr>
        <p:spPr>
          <a:xfrm>
            <a:off x="5017294" y="2286000"/>
            <a:ext cx="38100" cy="3619500"/>
          </a:xfrm>
          <a:prstGeom prst="rect">
            <a:avLst/>
          </a:prstGeom>
          <a:solidFill>
            <a:srgbClr val="D97706"/>
          </a:solidFill>
          <a:ln/>
        </p:spPr>
      </p:sp>
      <p:sp>
        <p:nvSpPr>
          <p:cNvPr id="18" name="Shape 16"/>
          <p:cNvSpPr/>
          <p:nvPr/>
        </p:nvSpPr>
        <p:spPr>
          <a:xfrm>
            <a:off x="9034463" y="2286000"/>
            <a:ext cx="9525" cy="3619500"/>
          </a:xfrm>
          <a:prstGeom prst="rect">
            <a:avLst/>
          </a:prstGeom>
          <a:solidFill>
            <a:srgbClr val="D1D5DB"/>
          </a:solidFill>
          <a:ln/>
        </p:spPr>
      </p:sp>
      <p:sp>
        <p:nvSpPr>
          <p:cNvPr id="19" name="Text 17"/>
          <p:cNvSpPr/>
          <p:nvPr/>
        </p:nvSpPr>
        <p:spPr>
          <a:xfrm>
            <a:off x="8577263" y="2447925"/>
            <a:ext cx="342900" cy="4095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0000"/>
              </a:lnSpc>
              <a:buNone/>
            </a:pPr>
            <a:r>
              <a:rPr lang="en-US" sz="21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⭐</a:t>
            </a:r>
            <a:endParaRPr lang="en-US" sz="2100" dirty="0"/>
          </a:p>
        </p:txBody>
      </p:sp>
      <p:sp>
        <p:nvSpPr>
          <p:cNvPr id="20" name="Text 18"/>
          <p:cNvSpPr/>
          <p:nvPr/>
        </p:nvSpPr>
        <p:spPr>
          <a:xfrm>
            <a:off x="5283994" y="2524125"/>
            <a:ext cx="3627525" cy="2190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0000"/>
              </a:lnSpc>
              <a:buNone/>
            </a:pPr>
            <a:r>
              <a:rPr lang="en-US" sz="1050" b="1" spc="150" kern="0" dirty="0">
                <a:solidFill>
                  <a:srgbClr val="1428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RS-2</a:t>
            </a:r>
            <a:endParaRPr lang="en-US" sz="1050" dirty="0"/>
          </a:p>
        </p:txBody>
      </p:sp>
      <p:sp>
        <p:nvSpPr>
          <p:cNvPr id="21" name="Text 19"/>
          <p:cNvSpPr/>
          <p:nvPr/>
        </p:nvSpPr>
        <p:spPr>
          <a:xfrm>
            <a:off x="5283994" y="2762250"/>
            <a:ext cx="3627525" cy="3048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0000"/>
              </a:lnSpc>
              <a:buNone/>
            </a:pPr>
            <a:r>
              <a:rPr lang="en-US" sz="1500" b="1" spc="22" kern="0" dirty="0">
                <a:solidFill>
                  <a:srgbClr val="1428A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바벨 포트폴리오 + AI 효율화</a:t>
            </a:r>
            <a:endParaRPr lang="en-US" sz="1500" dirty="0"/>
          </a:p>
        </p:txBody>
      </p:sp>
      <p:sp>
        <p:nvSpPr>
          <p:cNvPr id="22" name="Text 20"/>
          <p:cNvSpPr/>
          <p:nvPr/>
        </p:nvSpPr>
        <p:spPr>
          <a:xfrm>
            <a:off x="5283994" y="3143250"/>
            <a:ext cx="3627525" cy="4381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55000"/>
              </a:lnSpc>
              <a:buNone/>
            </a:pPr>
            <a:r>
              <a:rPr lang="en-US" sz="1050" dirty="0">
                <a:solidFill>
                  <a:srgbClr val="37415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양 끝에 베팅 — HBM 프리미엄 + 범용 DRAM 저원가 · 중간 제품 30% 축소</a:t>
            </a:r>
            <a:endParaRPr lang="en-US" sz="1050" dirty="0"/>
          </a:p>
        </p:txBody>
      </p:sp>
      <p:sp>
        <p:nvSpPr>
          <p:cNvPr id="23" name="Shape 21"/>
          <p:cNvSpPr/>
          <p:nvPr/>
        </p:nvSpPr>
        <p:spPr>
          <a:xfrm>
            <a:off x="9272588" y="2286000"/>
            <a:ext cx="4026694" cy="3619500"/>
          </a:xfrm>
          <a:prstGeom prst="rect">
            <a:avLst/>
          </a:prstGeom>
          <a:solidFill>
            <a:srgbClr val="FEF3C7"/>
          </a:solidFill>
          <a:ln/>
        </p:spPr>
      </p:sp>
      <p:sp>
        <p:nvSpPr>
          <p:cNvPr id="24" name="Shape 22"/>
          <p:cNvSpPr/>
          <p:nvPr/>
        </p:nvSpPr>
        <p:spPr>
          <a:xfrm>
            <a:off x="9272588" y="5895975"/>
            <a:ext cx="4026694" cy="9525"/>
          </a:xfrm>
          <a:prstGeom prst="rect">
            <a:avLst/>
          </a:prstGeom>
          <a:solidFill>
            <a:srgbClr val="D1D5DB"/>
          </a:solidFill>
          <a:ln/>
        </p:spPr>
      </p:sp>
      <p:sp>
        <p:nvSpPr>
          <p:cNvPr id="25" name="Shape 23"/>
          <p:cNvSpPr/>
          <p:nvPr/>
        </p:nvSpPr>
        <p:spPr>
          <a:xfrm>
            <a:off x="9272588" y="2286000"/>
            <a:ext cx="4026694" cy="9525"/>
          </a:xfrm>
          <a:prstGeom prst="rect">
            <a:avLst/>
          </a:prstGeom>
          <a:solidFill>
            <a:srgbClr val="D1D5DB"/>
          </a:solidFill>
          <a:ln/>
        </p:spPr>
      </p:sp>
      <p:sp>
        <p:nvSpPr>
          <p:cNvPr id="26" name="Shape 24"/>
          <p:cNvSpPr/>
          <p:nvPr/>
        </p:nvSpPr>
        <p:spPr>
          <a:xfrm>
            <a:off x="9272588" y="2286000"/>
            <a:ext cx="38100" cy="3619500"/>
          </a:xfrm>
          <a:prstGeom prst="rect">
            <a:avLst/>
          </a:prstGeom>
          <a:solidFill>
            <a:srgbClr val="D97706"/>
          </a:solidFill>
          <a:ln/>
        </p:spPr>
      </p:sp>
      <p:sp>
        <p:nvSpPr>
          <p:cNvPr id="27" name="Shape 25"/>
          <p:cNvSpPr/>
          <p:nvPr/>
        </p:nvSpPr>
        <p:spPr>
          <a:xfrm>
            <a:off x="13289756" y="2286000"/>
            <a:ext cx="9525" cy="3619500"/>
          </a:xfrm>
          <a:prstGeom prst="rect">
            <a:avLst/>
          </a:prstGeom>
          <a:solidFill>
            <a:srgbClr val="D1D5DB"/>
          </a:solidFill>
          <a:ln/>
        </p:spPr>
      </p:sp>
      <p:sp>
        <p:nvSpPr>
          <p:cNvPr id="28" name="Text 26"/>
          <p:cNvSpPr/>
          <p:nvPr/>
        </p:nvSpPr>
        <p:spPr>
          <a:xfrm>
            <a:off x="12832556" y="2447925"/>
            <a:ext cx="342900" cy="4095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0000"/>
              </a:lnSpc>
              <a:buNone/>
            </a:pPr>
            <a:r>
              <a:rPr lang="en-US" sz="21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⭐</a:t>
            </a:r>
            <a:endParaRPr lang="en-US" sz="2100" dirty="0"/>
          </a:p>
        </p:txBody>
      </p:sp>
      <p:sp>
        <p:nvSpPr>
          <p:cNvPr id="29" name="Text 27"/>
          <p:cNvSpPr/>
          <p:nvPr/>
        </p:nvSpPr>
        <p:spPr>
          <a:xfrm>
            <a:off x="9539288" y="2524125"/>
            <a:ext cx="3627525" cy="2190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0000"/>
              </a:lnSpc>
              <a:buNone/>
            </a:pPr>
            <a:r>
              <a:rPr lang="en-US" sz="1050" b="1" spc="150" kern="0" dirty="0">
                <a:solidFill>
                  <a:srgbClr val="1428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RS-3</a:t>
            </a:r>
            <a:endParaRPr lang="en-US" sz="1050" dirty="0"/>
          </a:p>
        </p:txBody>
      </p:sp>
      <p:sp>
        <p:nvSpPr>
          <p:cNvPr id="30" name="Text 28"/>
          <p:cNvSpPr/>
          <p:nvPr/>
        </p:nvSpPr>
        <p:spPr>
          <a:xfrm>
            <a:off x="9539288" y="2762250"/>
            <a:ext cx="3627525" cy="3048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0000"/>
              </a:lnSpc>
              <a:buNone/>
            </a:pPr>
            <a:r>
              <a:rPr lang="en-US" sz="1500" b="1" spc="22" kern="0" dirty="0">
                <a:solidFill>
                  <a:srgbClr val="1428A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고객특화·전환비용 극대화</a:t>
            </a:r>
            <a:endParaRPr lang="en-US" sz="1500" dirty="0"/>
          </a:p>
        </p:txBody>
      </p:sp>
      <p:sp>
        <p:nvSpPr>
          <p:cNvPr id="31" name="Text 29"/>
          <p:cNvSpPr/>
          <p:nvPr/>
        </p:nvSpPr>
        <p:spPr>
          <a:xfrm>
            <a:off x="9539288" y="3143250"/>
            <a:ext cx="3627525" cy="4381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55000"/>
              </a:lnSpc>
              <a:buNone/>
            </a:pPr>
            <a:r>
              <a:rPr lang="en-US" sz="1050" dirty="0">
                <a:solidFill>
                  <a:srgbClr val="37415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FDP · SCADA · CMX 검증 완료 — HW → SW 구독 모델 (Tesla FSD)</a:t>
            </a:r>
            <a:endParaRPr lang="en-US" sz="1050" dirty="0"/>
          </a:p>
        </p:txBody>
      </p:sp>
      <p:sp>
        <p:nvSpPr>
          <p:cNvPr id="32" name="Shape 30"/>
          <p:cNvSpPr/>
          <p:nvPr/>
        </p:nvSpPr>
        <p:spPr>
          <a:xfrm>
            <a:off x="13527881" y="2286000"/>
            <a:ext cx="3998119" cy="3619500"/>
          </a:xfrm>
          <a:prstGeom prst="rect">
            <a:avLst/>
          </a:prstGeom>
          <a:solidFill>
            <a:srgbClr val="FFFFFF"/>
          </a:solidFill>
          <a:ln w="9525">
            <a:solidFill>
              <a:srgbClr val="D1D5DB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13766006" y="2524125"/>
            <a:ext cx="3627525" cy="2190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0000"/>
              </a:lnSpc>
              <a:buNone/>
            </a:pPr>
            <a:r>
              <a:rPr lang="en-US" sz="1050" b="1" spc="150" kern="0" dirty="0">
                <a:solidFill>
                  <a:srgbClr val="1428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RS-4</a:t>
            </a:r>
            <a:endParaRPr lang="en-US" sz="1050" dirty="0"/>
          </a:p>
        </p:txBody>
      </p:sp>
      <p:sp>
        <p:nvSpPr>
          <p:cNvPr id="34" name="Text 32"/>
          <p:cNvSpPr/>
          <p:nvPr/>
        </p:nvSpPr>
        <p:spPr>
          <a:xfrm>
            <a:off x="13766006" y="2762250"/>
            <a:ext cx="3627525" cy="3048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0000"/>
              </a:lnSpc>
              <a:buNone/>
            </a:pPr>
            <a:r>
              <a:rPr lang="en-US" sz="1500" b="1" spc="22" kern="0" dirty="0">
                <a:solidFill>
                  <a:srgbClr val="1428A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고객 포트폴리오 분산</a:t>
            </a:r>
            <a:endParaRPr lang="en-US" sz="1500" dirty="0"/>
          </a:p>
        </p:txBody>
      </p:sp>
      <p:sp>
        <p:nvSpPr>
          <p:cNvPr id="35" name="Text 33"/>
          <p:cNvSpPr/>
          <p:nvPr/>
        </p:nvSpPr>
        <p:spPr>
          <a:xfrm>
            <a:off x="13766006" y="3143250"/>
            <a:ext cx="3627525" cy="2381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55000"/>
              </a:lnSpc>
              <a:buNone/>
            </a:pPr>
            <a:r>
              <a:rPr lang="en-US" sz="1050" dirty="0">
                <a:solidFill>
                  <a:srgbClr val="37415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LTA + Take-or-Pay · 단일 고객 25% 초과 시 자동 트리거</a:t>
            </a:r>
            <a:endParaRPr lang="en-US" sz="1050" dirty="0"/>
          </a:p>
        </p:txBody>
      </p:sp>
      <p:sp>
        <p:nvSpPr>
          <p:cNvPr id="36" name="Shape 34"/>
          <p:cNvSpPr/>
          <p:nvPr/>
        </p:nvSpPr>
        <p:spPr>
          <a:xfrm>
            <a:off x="762000" y="6134100"/>
            <a:ext cx="4124325" cy="3619500"/>
          </a:xfrm>
          <a:prstGeom prst="rect">
            <a:avLst/>
          </a:prstGeom>
          <a:solidFill>
            <a:srgbClr val="FFFFFF"/>
          </a:solidFill>
          <a:ln w="9525">
            <a:solidFill>
              <a:srgbClr val="D1D5DB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1000125" y="6372225"/>
            <a:ext cx="3757517" cy="2190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0000"/>
              </a:lnSpc>
              <a:buNone/>
            </a:pPr>
            <a:r>
              <a:rPr lang="en-US" sz="1050" b="1" spc="150" kern="0" dirty="0">
                <a:solidFill>
                  <a:srgbClr val="1428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RS-5</a:t>
            </a:r>
            <a:endParaRPr lang="en-US" sz="1050" dirty="0"/>
          </a:p>
        </p:txBody>
      </p:sp>
      <p:sp>
        <p:nvSpPr>
          <p:cNvPr id="38" name="Text 36"/>
          <p:cNvSpPr/>
          <p:nvPr/>
        </p:nvSpPr>
        <p:spPr>
          <a:xfrm>
            <a:off x="1000125" y="6610350"/>
            <a:ext cx="3757517" cy="3048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0000"/>
              </a:lnSpc>
              <a:buNone/>
            </a:pPr>
            <a:r>
              <a:rPr lang="en-US" sz="1500" b="1" spc="22" kern="0" dirty="0">
                <a:solidFill>
                  <a:srgbClr val="1428A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정책 리스크 지역 분산</a:t>
            </a:r>
            <a:endParaRPr lang="en-US" sz="1500" dirty="0"/>
          </a:p>
        </p:txBody>
      </p:sp>
      <p:sp>
        <p:nvSpPr>
          <p:cNvPr id="39" name="Text 37"/>
          <p:cNvSpPr/>
          <p:nvPr/>
        </p:nvSpPr>
        <p:spPr>
          <a:xfrm>
            <a:off x="1000125" y="6991350"/>
            <a:ext cx="3757517" cy="2381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55000"/>
              </a:lnSpc>
              <a:buNone/>
            </a:pPr>
            <a:r>
              <a:rPr lang="en-US" sz="1050" dirty="0">
                <a:solidFill>
                  <a:srgbClr val="37415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텍사스 · 일본 · 유럽 — 단일 지역 손실 시에도 공급망 회복력</a:t>
            </a:r>
            <a:endParaRPr lang="en-US" sz="1050" dirty="0"/>
          </a:p>
        </p:txBody>
      </p:sp>
      <p:sp>
        <p:nvSpPr>
          <p:cNvPr id="40" name="Shape 38"/>
          <p:cNvSpPr/>
          <p:nvPr/>
        </p:nvSpPr>
        <p:spPr>
          <a:xfrm>
            <a:off x="5114925" y="6134100"/>
            <a:ext cx="4152900" cy="3619500"/>
          </a:xfrm>
          <a:prstGeom prst="rect">
            <a:avLst/>
          </a:prstGeom>
          <a:solidFill>
            <a:srgbClr val="FEF3C7"/>
          </a:solidFill>
          <a:ln/>
        </p:spPr>
      </p:sp>
      <p:sp>
        <p:nvSpPr>
          <p:cNvPr id="41" name="Shape 39"/>
          <p:cNvSpPr/>
          <p:nvPr/>
        </p:nvSpPr>
        <p:spPr>
          <a:xfrm>
            <a:off x="5114925" y="9744075"/>
            <a:ext cx="4152900" cy="9525"/>
          </a:xfrm>
          <a:prstGeom prst="rect">
            <a:avLst/>
          </a:prstGeom>
          <a:solidFill>
            <a:srgbClr val="D1D5DB"/>
          </a:solidFill>
          <a:ln/>
        </p:spPr>
      </p:sp>
      <p:sp>
        <p:nvSpPr>
          <p:cNvPr id="42" name="Shape 40"/>
          <p:cNvSpPr/>
          <p:nvPr/>
        </p:nvSpPr>
        <p:spPr>
          <a:xfrm>
            <a:off x="5114925" y="6134100"/>
            <a:ext cx="4152900" cy="9525"/>
          </a:xfrm>
          <a:prstGeom prst="rect">
            <a:avLst/>
          </a:prstGeom>
          <a:solidFill>
            <a:srgbClr val="D1D5DB"/>
          </a:solidFill>
          <a:ln/>
        </p:spPr>
      </p:sp>
      <p:sp>
        <p:nvSpPr>
          <p:cNvPr id="43" name="Shape 41"/>
          <p:cNvSpPr/>
          <p:nvPr/>
        </p:nvSpPr>
        <p:spPr>
          <a:xfrm>
            <a:off x="5114925" y="6134100"/>
            <a:ext cx="38100" cy="3619500"/>
          </a:xfrm>
          <a:prstGeom prst="rect">
            <a:avLst/>
          </a:prstGeom>
          <a:solidFill>
            <a:srgbClr val="D97706"/>
          </a:solidFill>
          <a:ln/>
        </p:spPr>
      </p:sp>
      <p:sp>
        <p:nvSpPr>
          <p:cNvPr id="44" name="Shape 42"/>
          <p:cNvSpPr/>
          <p:nvPr/>
        </p:nvSpPr>
        <p:spPr>
          <a:xfrm>
            <a:off x="9258300" y="6134100"/>
            <a:ext cx="9525" cy="3619500"/>
          </a:xfrm>
          <a:prstGeom prst="rect">
            <a:avLst/>
          </a:prstGeom>
          <a:solidFill>
            <a:srgbClr val="D1D5DB"/>
          </a:solidFill>
          <a:ln/>
        </p:spPr>
      </p:sp>
      <p:sp>
        <p:nvSpPr>
          <p:cNvPr id="45" name="Text 43"/>
          <p:cNvSpPr/>
          <p:nvPr/>
        </p:nvSpPr>
        <p:spPr>
          <a:xfrm>
            <a:off x="8801100" y="6296025"/>
            <a:ext cx="342900" cy="4095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0000"/>
              </a:lnSpc>
              <a:buNone/>
            </a:pPr>
            <a:r>
              <a:rPr lang="en-US" sz="21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⭐</a:t>
            </a:r>
            <a:endParaRPr lang="en-US" sz="2100" dirty="0"/>
          </a:p>
        </p:txBody>
      </p:sp>
      <p:sp>
        <p:nvSpPr>
          <p:cNvPr id="46" name="Text 44"/>
          <p:cNvSpPr/>
          <p:nvPr/>
        </p:nvSpPr>
        <p:spPr>
          <a:xfrm>
            <a:off x="5381625" y="6372225"/>
            <a:ext cx="3757517" cy="2190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0000"/>
              </a:lnSpc>
              <a:buNone/>
            </a:pPr>
            <a:r>
              <a:rPr lang="en-US" sz="1050" b="1" spc="150" kern="0" dirty="0">
                <a:solidFill>
                  <a:srgbClr val="1428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RS-5 (재무)</a:t>
            </a:r>
            <a:endParaRPr lang="en-US" sz="1050" dirty="0"/>
          </a:p>
        </p:txBody>
      </p:sp>
      <p:sp>
        <p:nvSpPr>
          <p:cNvPr id="47" name="Text 45"/>
          <p:cNvSpPr/>
          <p:nvPr/>
        </p:nvSpPr>
        <p:spPr>
          <a:xfrm>
            <a:off x="5381625" y="6610350"/>
            <a:ext cx="3757517" cy="3048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0000"/>
              </a:lnSpc>
              <a:buNone/>
            </a:pPr>
            <a:r>
              <a:rPr lang="en-US" sz="1500" b="1" spc="22" kern="0" dirty="0">
                <a:solidFill>
                  <a:srgbClr val="1428A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재무 규율 + capex 하한</a:t>
            </a:r>
            <a:endParaRPr lang="en-US" sz="1500" dirty="0"/>
          </a:p>
        </p:txBody>
      </p:sp>
      <p:sp>
        <p:nvSpPr>
          <p:cNvPr id="48" name="Text 46"/>
          <p:cNvSpPr/>
          <p:nvPr/>
        </p:nvSpPr>
        <p:spPr>
          <a:xfrm>
            <a:off x="5381625" y="6991350"/>
            <a:ext cx="3757517" cy="2381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55000"/>
              </a:lnSpc>
              <a:buNone/>
            </a:pPr>
            <a:r>
              <a:rPr lang="en-US" sz="1050" dirty="0">
                <a:solidFill>
                  <a:srgbClr val="37415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호황기 절제 + 다운사이클 4조원 사수 · ExxonMobil 모델</a:t>
            </a:r>
            <a:endParaRPr lang="en-US" sz="1050" dirty="0"/>
          </a:p>
        </p:txBody>
      </p:sp>
      <p:sp>
        <p:nvSpPr>
          <p:cNvPr id="49" name="Shape 47"/>
          <p:cNvSpPr/>
          <p:nvPr/>
        </p:nvSpPr>
        <p:spPr>
          <a:xfrm>
            <a:off x="9496425" y="6134100"/>
            <a:ext cx="4152900" cy="3619500"/>
          </a:xfrm>
          <a:prstGeom prst="rect">
            <a:avLst/>
          </a:prstGeom>
          <a:solidFill>
            <a:srgbClr val="FEF3C7"/>
          </a:solidFill>
          <a:ln/>
        </p:spPr>
      </p:sp>
      <p:sp>
        <p:nvSpPr>
          <p:cNvPr id="50" name="Shape 48"/>
          <p:cNvSpPr/>
          <p:nvPr/>
        </p:nvSpPr>
        <p:spPr>
          <a:xfrm>
            <a:off x="9496425" y="9744075"/>
            <a:ext cx="4152900" cy="9525"/>
          </a:xfrm>
          <a:prstGeom prst="rect">
            <a:avLst/>
          </a:prstGeom>
          <a:solidFill>
            <a:srgbClr val="D1D5DB"/>
          </a:solidFill>
          <a:ln/>
        </p:spPr>
      </p:sp>
      <p:sp>
        <p:nvSpPr>
          <p:cNvPr id="51" name="Shape 49"/>
          <p:cNvSpPr/>
          <p:nvPr/>
        </p:nvSpPr>
        <p:spPr>
          <a:xfrm>
            <a:off x="9496425" y="6134100"/>
            <a:ext cx="4152900" cy="9525"/>
          </a:xfrm>
          <a:prstGeom prst="rect">
            <a:avLst/>
          </a:prstGeom>
          <a:solidFill>
            <a:srgbClr val="D1D5DB"/>
          </a:solidFill>
          <a:ln/>
        </p:spPr>
      </p:sp>
      <p:sp>
        <p:nvSpPr>
          <p:cNvPr id="52" name="Shape 50"/>
          <p:cNvSpPr/>
          <p:nvPr/>
        </p:nvSpPr>
        <p:spPr>
          <a:xfrm>
            <a:off x="9496425" y="6134100"/>
            <a:ext cx="38100" cy="3619500"/>
          </a:xfrm>
          <a:prstGeom prst="rect">
            <a:avLst/>
          </a:prstGeom>
          <a:solidFill>
            <a:srgbClr val="D97706"/>
          </a:solidFill>
          <a:ln/>
        </p:spPr>
      </p:sp>
      <p:sp>
        <p:nvSpPr>
          <p:cNvPr id="53" name="Shape 51"/>
          <p:cNvSpPr/>
          <p:nvPr/>
        </p:nvSpPr>
        <p:spPr>
          <a:xfrm>
            <a:off x="13639800" y="6134100"/>
            <a:ext cx="9525" cy="3619500"/>
          </a:xfrm>
          <a:prstGeom prst="rect">
            <a:avLst/>
          </a:prstGeom>
          <a:solidFill>
            <a:srgbClr val="D1D5DB"/>
          </a:solidFill>
          <a:ln/>
        </p:spPr>
      </p:sp>
      <p:sp>
        <p:nvSpPr>
          <p:cNvPr id="54" name="Text 52"/>
          <p:cNvSpPr/>
          <p:nvPr/>
        </p:nvSpPr>
        <p:spPr>
          <a:xfrm>
            <a:off x="13182600" y="6296025"/>
            <a:ext cx="342900" cy="4095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0000"/>
              </a:lnSpc>
              <a:buNone/>
            </a:pPr>
            <a:r>
              <a:rPr lang="en-US" sz="21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⭐</a:t>
            </a:r>
            <a:endParaRPr lang="en-US" sz="2100" dirty="0"/>
          </a:p>
        </p:txBody>
      </p:sp>
      <p:sp>
        <p:nvSpPr>
          <p:cNvPr id="55" name="Text 53"/>
          <p:cNvSpPr/>
          <p:nvPr/>
        </p:nvSpPr>
        <p:spPr>
          <a:xfrm>
            <a:off x="9763125" y="6372225"/>
            <a:ext cx="3757517" cy="2190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0000"/>
              </a:lnSpc>
              <a:buNone/>
            </a:pPr>
            <a:r>
              <a:rPr lang="en-US" sz="1050" b="1" spc="150" kern="0" dirty="0">
                <a:solidFill>
                  <a:srgbClr val="D9770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RS-6 · NEW</a:t>
            </a:r>
            <a:endParaRPr lang="en-US" sz="1050" dirty="0"/>
          </a:p>
        </p:txBody>
      </p:sp>
      <p:sp>
        <p:nvSpPr>
          <p:cNvPr id="56" name="Text 54"/>
          <p:cNvSpPr/>
          <p:nvPr/>
        </p:nvSpPr>
        <p:spPr>
          <a:xfrm>
            <a:off x="9763125" y="6610350"/>
            <a:ext cx="3757517" cy="3048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0000"/>
              </a:lnSpc>
              <a:buNone/>
            </a:pPr>
            <a:r>
              <a:rPr lang="en-US" sz="1500" b="1" spc="22" kern="0" dirty="0">
                <a:solidFill>
                  <a:srgbClr val="D9770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NAND 주기 연장 R&amp;D</a:t>
            </a:r>
            <a:endParaRPr lang="en-US" sz="1500" dirty="0"/>
          </a:p>
        </p:txBody>
      </p:sp>
      <p:sp>
        <p:nvSpPr>
          <p:cNvPr id="57" name="Text 55"/>
          <p:cNvSpPr/>
          <p:nvPr/>
        </p:nvSpPr>
        <p:spPr>
          <a:xfrm>
            <a:off x="9763125" y="6991350"/>
            <a:ext cx="3757517" cy="4381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55000"/>
              </a:lnSpc>
              <a:buNone/>
            </a:pPr>
            <a:r>
              <a:rPr lang="en-US" sz="1050" dirty="0">
                <a:solidFill>
                  <a:srgbClr val="37415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Hybrid bonding 자체 IP · YMTC 종속 차단 · 양산 ramp 6개월 = 누적 이익 2/3</a:t>
            </a:r>
            <a:endParaRPr lang="en-US" sz="1050" dirty="0"/>
          </a:p>
        </p:txBody>
      </p:sp>
      <p:sp>
        <p:nvSpPr>
          <p:cNvPr id="58" name="Shape 56"/>
          <p:cNvSpPr/>
          <p:nvPr/>
        </p:nvSpPr>
        <p:spPr>
          <a:xfrm>
            <a:off x="13877925" y="6134100"/>
            <a:ext cx="3648075" cy="4076700"/>
          </a:xfrm>
          <a:prstGeom prst="rect">
            <a:avLst/>
          </a:prstGeom>
          <a:solidFill>
            <a:srgbClr val="1428A0"/>
          </a:solidFill>
          <a:ln/>
        </p:spPr>
      </p:sp>
      <p:sp>
        <p:nvSpPr>
          <p:cNvPr id="59" name="Text 57"/>
          <p:cNvSpPr/>
          <p:nvPr/>
        </p:nvSpPr>
        <p:spPr>
          <a:xfrm>
            <a:off x="14106525" y="6362700"/>
            <a:ext cx="3286601" cy="2190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0000"/>
              </a:lnSpc>
              <a:buNone/>
            </a:pPr>
            <a:r>
              <a:rPr lang="en-US" sz="1050" b="1" spc="150" kern="0" dirty="0">
                <a:solidFill>
                  <a:srgbClr val="D9770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VALIDITY MATRIX</a:t>
            </a:r>
            <a:endParaRPr lang="en-US" sz="1050" dirty="0"/>
          </a:p>
        </p:txBody>
      </p:sp>
      <p:sp>
        <p:nvSpPr>
          <p:cNvPr id="60" name="Text 58"/>
          <p:cNvSpPr/>
          <p:nvPr/>
        </p:nvSpPr>
        <p:spPr>
          <a:xfrm>
            <a:off x="14106525" y="6657975"/>
            <a:ext cx="3286601" cy="1905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0000"/>
              </a:lnSpc>
              <a:buNone/>
            </a:pPr>
            <a:r>
              <a:rPr lang="en-US" sz="900" spc="75" kern="0" dirty="0">
                <a:solidFill>
                  <a:srgbClr val="FFFFFF">
                    <a:alpha val="80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RS A B C D E</a:t>
            </a:r>
            <a:endParaRPr lang="en-US" sz="900" dirty="0"/>
          </a:p>
        </p:txBody>
      </p:sp>
      <p:sp>
        <p:nvSpPr>
          <p:cNvPr id="61" name="Text 59"/>
          <p:cNvSpPr/>
          <p:nvPr/>
        </p:nvSpPr>
        <p:spPr>
          <a:xfrm>
            <a:off x="14106525" y="6886575"/>
            <a:ext cx="3286601" cy="15049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60000"/>
              </a:lnSpc>
              <a:buNone/>
            </a:pPr>
            <a:r>
              <a:rPr lang="en-US" sz="10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RS-1 ✅ ✅ ✅ ✅ ✅ RS-2 ✅ ✅ ✅ ✅ ⚠ RS-3 ✅ ✅ ⚠ ✅ ✅ RS-4 ✅ ✅ ✅ ✅ ✅ RS-5 ✅ ⚠ ✅ ✅ ⚠ RS-5F ✅ ⚠ ✅ ✅ ✅ RS-6 ✅ ✅ ✅ ✅ ✅</a:t>
            </a:r>
            <a:endParaRPr lang="en-US" sz="1050" dirty="0"/>
          </a:p>
        </p:txBody>
      </p:sp>
      <p:sp>
        <p:nvSpPr>
          <p:cNvPr id="62" name="Shape 60"/>
          <p:cNvSpPr/>
          <p:nvPr/>
        </p:nvSpPr>
        <p:spPr>
          <a:xfrm>
            <a:off x="14106525" y="8505825"/>
            <a:ext cx="3190875" cy="9525"/>
          </a:xfrm>
          <a:prstGeom prst="rect">
            <a:avLst/>
          </a:prstGeom>
          <a:solidFill>
            <a:srgbClr val="FFFFFF">
              <a:alpha val="20000"/>
            </a:srgbClr>
          </a:solidFill>
          <a:ln/>
        </p:spPr>
      </p:sp>
      <p:sp>
        <p:nvSpPr>
          <p:cNvPr id="63" name="Text 61"/>
          <p:cNvSpPr/>
          <p:nvPr/>
        </p:nvSpPr>
        <p:spPr>
          <a:xfrm>
            <a:off x="14106525" y="8667750"/>
            <a:ext cx="3286601" cy="2095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0000"/>
              </a:lnSpc>
              <a:buNone/>
            </a:pPr>
            <a:r>
              <a:rPr lang="en-US" sz="975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 모든 RS는 </a:t>
            </a:r>
            <a:pPr algn="l" indent="0" marL="0">
              <a:lnSpc>
                <a:spcPct val="140000"/>
              </a:lnSpc>
              <a:buNone/>
            </a:pPr>
            <a:r>
              <a:rPr lang="en-US" sz="975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✅ 4개 이상 </a:t>
            </a:r>
            <a:pPr algn="l" indent="0" marL="0">
              <a:lnSpc>
                <a:spcPct val="140000"/>
              </a:lnSpc>
              <a:buNone/>
            </a:pPr>
            <a:r>
              <a:rPr lang="en-US" sz="975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시나리오 무관 견고</a:t>
            </a:r>
            <a:endParaRPr lang="en-US" sz="975" dirty="0"/>
          </a:p>
        </p:txBody>
      </p:sp>
      <p:sp>
        <p:nvSpPr>
          <p:cNvPr id="64" name="Shape 62"/>
          <p:cNvSpPr/>
          <p:nvPr/>
        </p:nvSpPr>
        <p:spPr>
          <a:xfrm>
            <a:off x="762000" y="9667875"/>
            <a:ext cx="16764000" cy="9525"/>
          </a:xfrm>
          <a:prstGeom prst="rect">
            <a:avLst/>
          </a:prstGeom>
          <a:solidFill>
            <a:srgbClr val="D1D5DB"/>
          </a:solidFill>
          <a:ln/>
        </p:spPr>
      </p:sp>
      <p:sp>
        <p:nvSpPr>
          <p:cNvPr id="65" name="Text 63"/>
          <p:cNvSpPr/>
          <p:nvPr/>
        </p:nvSpPr>
        <p:spPr>
          <a:xfrm>
            <a:off x="762000" y="9891713"/>
            <a:ext cx="1515666" cy="2190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0000"/>
              </a:lnSpc>
              <a:buNone/>
            </a:pPr>
            <a:r>
              <a:rPr lang="en-US" sz="1050" spc="38" kern="0" dirty="0">
                <a:solidFill>
                  <a:srgbClr val="6B72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삼성전자 </a:t>
            </a:r>
            <a:pPr algn="l" indent="0" marL="0">
              <a:lnSpc>
                <a:spcPct val="140000"/>
              </a:lnSpc>
              <a:buNone/>
            </a:pPr>
            <a:r>
              <a:rPr lang="en-US" sz="1050" b="1" spc="38" kern="0" dirty="0">
                <a:solidFill>
                  <a:srgbClr val="1428A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| </a:t>
            </a:r>
            <a:pPr algn="l" indent="0" marL="0">
              <a:lnSpc>
                <a:spcPct val="140000"/>
              </a:lnSpc>
              <a:buNone/>
            </a:pPr>
            <a:r>
              <a:rPr lang="en-US" sz="1050" spc="38" kern="0" dirty="0">
                <a:solidFill>
                  <a:srgbClr val="6B72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STEP 5 · 적용</a:t>
            </a:r>
            <a:endParaRPr lang="en-US" sz="1050" dirty="0"/>
          </a:p>
        </p:txBody>
      </p:sp>
      <p:sp>
        <p:nvSpPr>
          <p:cNvPr id="66" name="Text 64"/>
          <p:cNvSpPr/>
          <p:nvPr/>
        </p:nvSpPr>
        <p:spPr>
          <a:xfrm>
            <a:off x="17023705" y="9891713"/>
            <a:ext cx="578495" cy="2190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0000"/>
              </a:lnSpc>
              <a:buNone/>
            </a:pPr>
            <a:r>
              <a:rPr lang="en-US" sz="1050" spc="38" kern="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 / 26</a:t>
            </a:r>
            <a:endParaRPr lang="en-US" sz="105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62000" y="533400"/>
            <a:ext cx="17266920" cy="2762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algn="l" indent="0" marL="0">
              <a:lnSpc>
                <a:spcPct val="140000"/>
              </a:lnSpc>
              <a:buNone/>
            </a:pPr>
            <a:r>
              <a:rPr lang="en-US" sz="1350" spc="150" kern="0" dirty="0">
                <a:solidFill>
                  <a:srgbClr val="1428A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STEP 6 · ROBUST 전략 (1 / 5) · RS-1</a:t>
            </a:r>
            <a:endParaRPr lang="en-US" sz="1350" dirty="0"/>
          </a:p>
        </p:txBody>
      </p:sp>
      <p:sp>
        <p:nvSpPr>
          <p:cNvPr id="3" name="Text 1"/>
          <p:cNvSpPr/>
          <p:nvPr/>
        </p:nvSpPr>
        <p:spPr>
          <a:xfrm>
            <a:off x="762000" y="885825"/>
            <a:ext cx="17266920" cy="5619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3300" b="1" spc="-37" kern="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답은 "얼마나 짓는가"가 아니라 </a:t>
            </a:r>
            <a:pPr algn="l" indent="0" marL="0">
              <a:lnSpc>
                <a:spcPct val="125000"/>
              </a:lnSpc>
              <a:buNone/>
            </a:pPr>
            <a:r>
              <a:rPr lang="en-US" sz="3300" b="1" spc="-37" kern="0" dirty="0">
                <a:solidFill>
                  <a:srgbClr val="D9770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"켜고 끌 수 있는가" </a:t>
            </a:r>
            <a:pPr algn="l" indent="0" marL="0">
              <a:lnSpc>
                <a:spcPct val="125000"/>
              </a:lnSpc>
              <a:buNone/>
            </a:pPr>
            <a:r>
              <a:rPr lang="en-US" sz="3300" b="1" spc="-37" kern="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이다</a:t>
            </a:r>
            <a:endParaRPr lang="en-US" sz="3300" dirty="0"/>
          </a:p>
        </p:txBody>
      </p:sp>
      <p:sp>
        <p:nvSpPr>
          <p:cNvPr id="4" name="Text 2"/>
          <p:cNvSpPr/>
          <p:nvPr/>
        </p:nvSpPr>
        <p:spPr>
          <a:xfrm>
            <a:off x="762000" y="1524000"/>
            <a:ext cx="14716125" cy="3524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50000"/>
              </a:lnSpc>
              <a:buNone/>
            </a:pPr>
            <a:r>
              <a:rPr lang="en-US" sz="1650" dirty="0">
                <a:solidFill>
                  <a:srgbClr val="6B72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RS-1 · 옵션형 캐파 체계 — 호황기 빠른 증설, 다운턴 즉시 일시정지 · Nucor 미니밀 모델</a:t>
            </a:r>
            <a:endParaRPr lang="en-US" sz="1650" dirty="0"/>
          </a:p>
        </p:txBody>
      </p:sp>
      <p:sp>
        <p:nvSpPr>
          <p:cNvPr id="5" name="Shape 3"/>
          <p:cNvSpPr/>
          <p:nvPr/>
        </p:nvSpPr>
        <p:spPr>
          <a:xfrm>
            <a:off x="762000" y="2286000"/>
            <a:ext cx="9019282" cy="6153150"/>
          </a:xfrm>
          <a:prstGeom prst="rect">
            <a:avLst/>
          </a:prstGeom>
          <a:solidFill>
            <a:srgbClr val="E8EEFC"/>
          </a:solidFill>
          <a:ln w="9525">
            <a:solidFill>
              <a:srgbClr val="1428A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076325" y="2600325"/>
            <a:ext cx="8642351" cy="2190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0000"/>
              </a:lnSpc>
              <a:buNone/>
            </a:pPr>
            <a:r>
              <a:rPr lang="en-US" sz="1050" b="1" spc="150" kern="0" dirty="0">
                <a:solidFill>
                  <a:srgbClr val="1428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FAB CAPACITY MODEL</a:t>
            </a:r>
            <a:endParaRPr lang="en-US" sz="1050" dirty="0"/>
          </a:p>
        </p:txBody>
      </p:sp>
      <p:sp>
        <p:nvSpPr>
          <p:cNvPr id="7" name="Text 5"/>
          <p:cNvSpPr/>
          <p:nvPr/>
        </p:nvSpPr>
        <p:spPr>
          <a:xfrm>
            <a:off x="1076325" y="2933700"/>
            <a:ext cx="8642351" cy="3238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0000"/>
              </a:lnSpc>
              <a:buNone/>
            </a:pPr>
            <a:r>
              <a:rPr lang="en-US" sz="1650" b="1" dirty="0">
                <a:solidFill>
                  <a:srgbClr val="1428A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Fab Shell 선행 건설 + 단계별 장비 반입</a:t>
            </a:r>
            <a:endParaRPr lang="en-US" sz="1650" dirty="0"/>
          </a:p>
        </p:txBody>
      </p:sp>
      <p:sp>
        <p:nvSpPr>
          <p:cNvPr id="8" name="Shape 6"/>
          <p:cNvSpPr/>
          <p:nvPr/>
        </p:nvSpPr>
        <p:spPr>
          <a:xfrm>
            <a:off x="1076325" y="3448050"/>
            <a:ext cx="8390632" cy="4057650"/>
          </a:xfrm>
          <a:prstGeom prst="rect">
            <a:avLst/>
          </a:prstGeom>
          <a:solidFill>
            <a:srgbClr val="FFFFFF"/>
          </a:solidFill>
          <a:ln w="19050">
            <a:solidFill>
              <a:srgbClr val="1428A0"/>
            </a:solidFill>
            <a:prstDash val="dash"/>
          </a:ln>
        </p:spPr>
      </p:sp>
      <p:sp>
        <p:nvSpPr>
          <p:cNvPr id="9" name="Text 7"/>
          <p:cNvSpPr/>
          <p:nvPr/>
        </p:nvSpPr>
        <p:spPr>
          <a:xfrm>
            <a:off x="1362075" y="3733800"/>
            <a:ext cx="8053706" cy="2381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0000"/>
              </a:lnSpc>
              <a:buNone/>
            </a:pPr>
            <a:r>
              <a:rPr lang="en-US" sz="1125" b="1" spc="75" kern="0" dirty="0">
                <a:solidFill>
                  <a:srgbClr val="1428A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FAB SHELL · 선행 건설</a:t>
            </a:r>
            <a:endParaRPr lang="en-US" sz="1125" dirty="0"/>
          </a:p>
        </p:txBody>
      </p:sp>
      <p:sp>
        <p:nvSpPr>
          <p:cNvPr id="10" name="Text 8"/>
          <p:cNvSpPr/>
          <p:nvPr/>
        </p:nvSpPr>
        <p:spPr>
          <a:xfrm>
            <a:off x="1362075" y="4048125"/>
            <a:ext cx="8053706" cy="2190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0000"/>
              </a:lnSpc>
              <a:buNone/>
            </a:pPr>
            <a:r>
              <a:rPr lang="en-US" sz="1050" dirty="0">
                <a:solidFill>
                  <a:srgbClr val="6B72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Cleanroom · 유틸리티 · 인프라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1362075" y="4419600"/>
            <a:ext cx="7819132" cy="533400"/>
          </a:xfrm>
          <a:prstGeom prst="rect">
            <a:avLst/>
          </a:prstGeom>
          <a:solidFill>
            <a:srgbClr val="1428A0"/>
          </a:solidFill>
          <a:ln/>
        </p:spPr>
      </p:sp>
      <p:sp>
        <p:nvSpPr>
          <p:cNvPr id="12" name="Text 10"/>
          <p:cNvSpPr/>
          <p:nvPr/>
        </p:nvSpPr>
        <p:spPr>
          <a:xfrm>
            <a:off x="1533525" y="4576763"/>
            <a:ext cx="1881039" cy="2571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00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Stage 1 </a:t>
            </a:r>
            <a:pPr algn="l" indent="0" marL="0">
              <a:lnSpc>
                <a:spcPct val="1400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패키징 라인 (TSV)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8488114" y="4552950"/>
            <a:ext cx="521643" cy="266700"/>
          </a:xfrm>
          <a:prstGeom prst="roundRect">
            <a:avLst>
              <a:gd name="adj" fmla="val 50000"/>
            </a:avLst>
          </a:prstGeom>
          <a:solidFill>
            <a:srgbClr val="D97706"/>
          </a:solidFill>
          <a:ln/>
        </p:spPr>
      </p:sp>
      <p:sp>
        <p:nvSpPr>
          <p:cNvPr id="14" name="Text 12"/>
          <p:cNvSpPr/>
          <p:nvPr/>
        </p:nvSpPr>
        <p:spPr>
          <a:xfrm>
            <a:off x="8621464" y="4552950"/>
            <a:ext cx="331143" cy="3048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algn="l" indent="0" marL="0">
              <a:lnSpc>
                <a:spcPct val="140000"/>
              </a:lnSpc>
              <a:buNone/>
            </a:pPr>
            <a:r>
              <a:rPr lang="en-US" sz="1050" b="1" spc="38" kern="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즉시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1362075" y="5067300"/>
            <a:ext cx="7819132" cy="533400"/>
          </a:xfrm>
          <a:prstGeom prst="rect">
            <a:avLst/>
          </a:prstGeom>
          <a:solidFill>
            <a:srgbClr val="1E40AF"/>
          </a:solidFill>
          <a:ln/>
        </p:spPr>
      </p:sp>
      <p:sp>
        <p:nvSpPr>
          <p:cNvPr id="16" name="Text 14"/>
          <p:cNvSpPr/>
          <p:nvPr/>
        </p:nvSpPr>
        <p:spPr>
          <a:xfrm>
            <a:off x="1533525" y="5224463"/>
            <a:ext cx="1507778" cy="2571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00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Stage 2 </a:t>
            </a:r>
            <a:pPr algn="l" indent="0" marL="0">
              <a:lnSpc>
                <a:spcPct val="1400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DRAM 라인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7882235" y="5200650"/>
            <a:ext cx="1127522" cy="266700"/>
          </a:xfrm>
          <a:prstGeom prst="roundRect">
            <a:avLst>
              <a:gd name="adj" fmla="val 50000"/>
            </a:avLst>
          </a:prstGeom>
          <a:solidFill>
            <a:srgbClr val="FFFFFF">
              <a:alpha val="25000"/>
            </a:srgbClr>
          </a:solidFill>
          <a:ln/>
        </p:spPr>
      </p:sp>
      <p:sp>
        <p:nvSpPr>
          <p:cNvPr id="18" name="Text 16"/>
          <p:cNvSpPr/>
          <p:nvPr/>
        </p:nvSpPr>
        <p:spPr>
          <a:xfrm>
            <a:off x="8015585" y="5200650"/>
            <a:ext cx="937022" cy="3048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algn="l" indent="0" marL="0">
              <a:lnSpc>
                <a:spcPct val="140000"/>
              </a:lnSpc>
              <a:buNone/>
            </a:pPr>
            <a:r>
              <a:rPr lang="en-US" sz="1050" b="1" spc="38" kern="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수요 신호 +6M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1362075" y="5715000"/>
            <a:ext cx="7819132" cy="533400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20" name="Text 18"/>
          <p:cNvSpPr/>
          <p:nvPr/>
        </p:nvSpPr>
        <p:spPr>
          <a:xfrm>
            <a:off x="1533525" y="5872163"/>
            <a:ext cx="1428006" cy="2571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00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Stage 3 </a:t>
            </a:r>
            <a:pPr algn="l" indent="0" marL="0">
              <a:lnSpc>
                <a:spcPct val="1400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HBM 라인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8221861" y="5848350"/>
            <a:ext cx="787896" cy="266700"/>
          </a:xfrm>
          <a:prstGeom prst="roundRect">
            <a:avLst>
              <a:gd name="adj" fmla="val 50000"/>
            </a:avLst>
          </a:prstGeom>
          <a:solidFill>
            <a:srgbClr val="FFFFFF">
              <a:alpha val="25000"/>
            </a:srgbClr>
          </a:solidFill>
          <a:ln/>
        </p:spPr>
      </p:sp>
      <p:sp>
        <p:nvSpPr>
          <p:cNvPr id="22" name="Text 20"/>
          <p:cNvSpPr/>
          <p:nvPr/>
        </p:nvSpPr>
        <p:spPr>
          <a:xfrm>
            <a:off x="8355211" y="5848350"/>
            <a:ext cx="597396" cy="3048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algn="l" indent="0" marL="0">
              <a:lnSpc>
                <a:spcPct val="140000"/>
              </a:lnSpc>
              <a:buNone/>
            </a:pPr>
            <a:r>
              <a:rPr lang="en-US" sz="1050" b="1" spc="38" kern="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LTA 확정</a:t>
            </a:r>
            <a:endParaRPr lang="en-US" sz="1050" dirty="0"/>
          </a:p>
        </p:txBody>
      </p:sp>
      <p:sp>
        <p:nvSpPr>
          <p:cNvPr id="23" name="Shape 21"/>
          <p:cNvSpPr/>
          <p:nvPr/>
        </p:nvSpPr>
        <p:spPr>
          <a:xfrm>
            <a:off x="1362075" y="6362700"/>
            <a:ext cx="7819132" cy="533400"/>
          </a:xfrm>
          <a:prstGeom prst="rect">
            <a:avLst/>
          </a:prstGeom>
          <a:solidFill>
            <a:srgbClr val="60A5FA"/>
          </a:solidFill>
          <a:ln/>
        </p:spPr>
      </p:sp>
      <p:sp>
        <p:nvSpPr>
          <p:cNvPr id="24" name="Text 22"/>
          <p:cNvSpPr/>
          <p:nvPr/>
        </p:nvSpPr>
        <p:spPr>
          <a:xfrm>
            <a:off x="1533525" y="6519863"/>
            <a:ext cx="1692920" cy="2571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00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Stage 4 </a:t>
            </a:r>
            <a:pPr algn="l" indent="0" marL="0">
              <a:lnSpc>
                <a:spcPct val="1400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추가 캐파 발동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8488114" y="6496050"/>
            <a:ext cx="521643" cy="266700"/>
          </a:xfrm>
          <a:prstGeom prst="roundRect">
            <a:avLst>
              <a:gd name="adj" fmla="val 50000"/>
            </a:avLst>
          </a:prstGeom>
          <a:solidFill>
            <a:srgbClr val="FFFFFF">
              <a:alpha val="25000"/>
            </a:srgbClr>
          </a:solidFill>
          <a:ln/>
        </p:spPr>
      </p:sp>
      <p:sp>
        <p:nvSpPr>
          <p:cNvPr id="26" name="Text 24"/>
          <p:cNvSpPr/>
          <p:nvPr/>
        </p:nvSpPr>
        <p:spPr>
          <a:xfrm>
            <a:off x="8621464" y="6496050"/>
            <a:ext cx="331143" cy="3048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algn="l" indent="0" marL="0">
              <a:lnSpc>
                <a:spcPct val="140000"/>
              </a:lnSpc>
              <a:buNone/>
            </a:pPr>
            <a:r>
              <a:rPr lang="en-US" sz="1050" b="1" spc="38" kern="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옵션</a:t>
            </a:r>
            <a:endParaRPr lang="en-US" sz="1050" dirty="0"/>
          </a:p>
        </p:txBody>
      </p:sp>
      <p:sp>
        <p:nvSpPr>
          <p:cNvPr id="27" name="Text 25"/>
          <p:cNvSpPr/>
          <p:nvPr/>
        </p:nvSpPr>
        <p:spPr>
          <a:xfrm>
            <a:off x="1244788" y="7048500"/>
            <a:ext cx="8053706" cy="2095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ctr" indent="0" marL="0">
              <a:lnSpc>
                <a:spcPct val="140000"/>
              </a:lnSpc>
              <a:buNone/>
            </a:pPr>
            <a:r>
              <a:rPr lang="en-US" sz="975" dirty="0">
                <a:solidFill>
                  <a:srgbClr val="6B72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각 단계 트리거 발동 → 6 ~ 12개월 내 가동</a:t>
            </a:r>
            <a:endParaRPr lang="en-US" sz="975" dirty="0"/>
          </a:p>
        </p:txBody>
      </p:sp>
      <p:sp>
        <p:nvSpPr>
          <p:cNvPr id="28" name="Text 26"/>
          <p:cNvSpPr/>
          <p:nvPr/>
        </p:nvSpPr>
        <p:spPr>
          <a:xfrm>
            <a:off x="10009882" y="2286000"/>
            <a:ext cx="7741602" cy="3238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0000"/>
              </a:lnSpc>
              <a:buNone/>
            </a:pPr>
            <a:r>
              <a:rPr lang="en-US" sz="1650" b="1" spc="22" kern="0" dirty="0">
                <a:solidFill>
                  <a:srgbClr val="1428A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핵심 메커니즘 4개</a:t>
            </a:r>
            <a:endParaRPr lang="en-US" sz="1650" dirty="0"/>
          </a:p>
        </p:txBody>
      </p:sp>
      <p:sp>
        <p:nvSpPr>
          <p:cNvPr id="29" name="Shape 27"/>
          <p:cNvSpPr/>
          <p:nvPr/>
        </p:nvSpPr>
        <p:spPr>
          <a:xfrm>
            <a:off x="10009882" y="2686050"/>
            <a:ext cx="7516118" cy="81915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0" name="Shape 28"/>
          <p:cNvSpPr/>
          <p:nvPr/>
        </p:nvSpPr>
        <p:spPr>
          <a:xfrm>
            <a:off x="10009882" y="3495675"/>
            <a:ext cx="7516118" cy="9525"/>
          </a:xfrm>
          <a:prstGeom prst="rect">
            <a:avLst/>
          </a:prstGeom>
          <a:solidFill>
            <a:srgbClr val="D1D5DB"/>
          </a:solidFill>
          <a:ln/>
        </p:spPr>
      </p:sp>
      <p:sp>
        <p:nvSpPr>
          <p:cNvPr id="31" name="Shape 29"/>
          <p:cNvSpPr/>
          <p:nvPr/>
        </p:nvSpPr>
        <p:spPr>
          <a:xfrm>
            <a:off x="10009882" y="2686050"/>
            <a:ext cx="7516118" cy="9525"/>
          </a:xfrm>
          <a:prstGeom prst="rect">
            <a:avLst/>
          </a:prstGeom>
          <a:solidFill>
            <a:srgbClr val="D1D5DB"/>
          </a:solidFill>
          <a:ln/>
        </p:spPr>
      </p:sp>
      <p:sp>
        <p:nvSpPr>
          <p:cNvPr id="32" name="Shape 30"/>
          <p:cNvSpPr/>
          <p:nvPr/>
        </p:nvSpPr>
        <p:spPr>
          <a:xfrm>
            <a:off x="10009882" y="2686050"/>
            <a:ext cx="38100" cy="819150"/>
          </a:xfrm>
          <a:prstGeom prst="rect">
            <a:avLst/>
          </a:prstGeom>
          <a:solidFill>
            <a:srgbClr val="1428A0"/>
          </a:solidFill>
          <a:ln/>
        </p:spPr>
      </p:sp>
      <p:sp>
        <p:nvSpPr>
          <p:cNvPr id="33" name="Shape 31"/>
          <p:cNvSpPr/>
          <p:nvPr/>
        </p:nvSpPr>
        <p:spPr>
          <a:xfrm>
            <a:off x="17516475" y="2686050"/>
            <a:ext cx="9525" cy="819150"/>
          </a:xfrm>
          <a:prstGeom prst="rect">
            <a:avLst/>
          </a:prstGeom>
          <a:solidFill>
            <a:srgbClr val="D1D5DB"/>
          </a:solidFill>
          <a:ln/>
        </p:spPr>
      </p:sp>
      <p:sp>
        <p:nvSpPr>
          <p:cNvPr id="34" name="Text 32"/>
          <p:cNvSpPr/>
          <p:nvPr/>
        </p:nvSpPr>
        <p:spPr>
          <a:xfrm>
            <a:off x="10257532" y="2867025"/>
            <a:ext cx="7260875" cy="2571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0000"/>
              </a:lnSpc>
              <a:buNone/>
            </a:pPr>
            <a:r>
              <a:rPr lang="en-US" sz="1275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01 Fab Shell + 장비 단계화</a:t>
            </a:r>
            <a:endParaRPr lang="en-US" sz="1275" dirty="0"/>
          </a:p>
        </p:txBody>
      </p:sp>
      <p:sp>
        <p:nvSpPr>
          <p:cNvPr id="35" name="Text 33"/>
          <p:cNvSpPr/>
          <p:nvPr/>
        </p:nvSpPr>
        <p:spPr>
          <a:xfrm>
            <a:off x="10257532" y="3124200"/>
            <a:ext cx="7260875" cy="2381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0000"/>
              </a:lnSpc>
              <a:buNone/>
            </a:pPr>
            <a:r>
              <a:rPr lang="en-US" sz="1125" dirty="0">
                <a:solidFill>
                  <a:srgbClr val="6B72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건물은 미리 · 장비 반입 결정 6–9개월 지연 가능</a:t>
            </a:r>
            <a:endParaRPr lang="en-US" sz="1125" dirty="0"/>
          </a:p>
        </p:txBody>
      </p:sp>
      <p:sp>
        <p:nvSpPr>
          <p:cNvPr id="36" name="Shape 34"/>
          <p:cNvSpPr/>
          <p:nvPr/>
        </p:nvSpPr>
        <p:spPr>
          <a:xfrm>
            <a:off x="10009882" y="3638550"/>
            <a:ext cx="7516118" cy="81915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7" name="Shape 35"/>
          <p:cNvSpPr/>
          <p:nvPr/>
        </p:nvSpPr>
        <p:spPr>
          <a:xfrm>
            <a:off x="10009882" y="4448175"/>
            <a:ext cx="7516118" cy="9525"/>
          </a:xfrm>
          <a:prstGeom prst="rect">
            <a:avLst/>
          </a:prstGeom>
          <a:solidFill>
            <a:srgbClr val="D1D5DB"/>
          </a:solidFill>
          <a:ln/>
        </p:spPr>
      </p:sp>
      <p:sp>
        <p:nvSpPr>
          <p:cNvPr id="38" name="Shape 36"/>
          <p:cNvSpPr/>
          <p:nvPr/>
        </p:nvSpPr>
        <p:spPr>
          <a:xfrm>
            <a:off x="10009882" y="3638550"/>
            <a:ext cx="7516118" cy="9525"/>
          </a:xfrm>
          <a:prstGeom prst="rect">
            <a:avLst/>
          </a:prstGeom>
          <a:solidFill>
            <a:srgbClr val="D1D5DB"/>
          </a:solidFill>
          <a:ln/>
        </p:spPr>
      </p:sp>
      <p:sp>
        <p:nvSpPr>
          <p:cNvPr id="39" name="Shape 37"/>
          <p:cNvSpPr/>
          <p:nvPr/>
        </p:nvSpPr>
        <p:spPr>
          <a:xfrm>
            <a:off x="10009882" y="3638550"/>
            <a:ext cx="38100" cy="819150"/>
          </a:xfrm>
          <a:prstGeom prst="rect">
            <a:avLst/>
          </a:prstGeom>
          <a:solidFill>
            <a:srgbClr val="1428A0"/>
          </a:solidFill>
          <a:ln/>
        </p:spPr>
      </p:sp>
      <p:sp>
        <p:nvSpPr>
          <p:cNvPr id="40" name="Shape 38"/>
          <p:cNvSpPr/>
          <p:nvPr/>
        </p:nvSpPr>
        <p:spPr>
          <a:xfrm>
            <a:off x="17516475" y="3638550"/>
            <a:ext cx="9525" cy="819150"/>
          </a:xfrm>
          <a:prstGeom prst="rect">
            <a:avLst/>
          </a:prstGeom>
          <a:solidFill>
            <a:srgbClr val="D1D5DB"/>
          </a:solidFill>
          <a:ln/>
        </p:spPr>
      </p:sp>
      <p:sp>
        <p:nvSpPr>
          <p:cNvPr id="41" name="Text 39"/>
          <p:cNvSpPr/>
          <p:nvPr/>
        </p:nvSpPr>
        <p:spPr>
          <a:xfrm>
            <a:off x="10257532" y="3819525"/>
            <a:ext cx="7260875" cy="2571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0000"/>
              </a:lnSpc>
              <a:buNone/>
            </a:pPr>
            <a:r>
              <a:rPr lang="en-US" sz="1275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02 Multi-Product Fab</a:t>
            </a:r>
            <a:endParaRPr lang="en-US" sz="1275" dirty="0"/>
          </a:p>
        </p:txBody>
      </p:sp>
      <p:sp>
        <p:nvSpPr>
          <p:cNvPr id="42" name="Text 40"/>
          <p:cNvSpPr/>
          <p:nvPr/>
        </p:nvSpPr>
        <p:spPr>
          <a:xfrm>
            <a:off x="10257532" y="4076700"/>
            <a:ext cx="7260875" cy="2381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0000"/>
              </a:lnSpc>
              <a:buNone/>
            </a:pPr>
            <a:r>
              <a:rPr lang="en-US" sz="1125" dirty="0">
                <a:solidFill>
                  <a:srgbClr val="6B72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DRAM / NAND / Logic 비율 분기 조정 · 단일 팹 60–80% 범위</a:t>
            </a:r>
            <a:endParaRPr lang="en-US" sz="1125" dirty="0"/>
          </a:p>
        </p:txBody>
      </p:sp>
      <p:sp>
        <p:nvSpPr>
          <p:cNvPr id="43" name="Shape 41"/>
          <p:cNvSpPr/>
          <p:nvPr/>
        </p:nvSpPr>
        <p:spPr>
          <a:xfrm>
            <a:off x="10009882" y="4591050"/>
            <a:ext cx="7516118" cy="81915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44" name="Shape 42"/>
          <p:cNvSpPr/>
          <p:nvPr/>
        </p:nvSpPr>
        <p:spPr>
          <a:xfrm>
            <a:off x="10009882" y="5400675"/>
            <a:ext cx="7516118" cy="9525"/>
          </a:xfrm>
          <a:prstGeom prst="rect">
            <a:avLst/>
          </a:prstGeom>
          <a:solidFill>
            <a:srgbClr val="D1D5DB"/>
          </a:solidFill>
          <a:ln/>
        </p:spPr>
      </p:sp>
      <p:sp>
        <p:nvSpPr>
          <p:cNvPr id="45" name="Shape 43"/>
          <p:cNvSpPr/>
          <p:nvPr/>
        </p:nvSpPr>
        <p:spPr>
          <a:xfrm>
            <a:off x="10009882" y="4591050"/>
            <a:ext cx="7516118" cy="9525"/>
          </a:xfrm>
          <a:prstGeom prst="rect">
            <a:avLst/>
          </a:prstGeom>
          <a:solidFill>
            <a:srgbClr val="D1D5DB"/>
          </a:solidFill>
          <a:ln/>
        </p:spPr>
      </p:sp>
      <p:sp>
        <p:nvSpPr>
          <p:cNvPr id="46" name="Shape 44"/>
          <p:cNvSpPr/>
          <p:nvPr/>
        </p:nvSpPr>
        <p:spPr>
          <a:xfrm>
            <a:off x="10009882" y="4591050"/>
            <a:ext cx="38100" cy="819150"/>
          </a:xfrm>
          <a:prstGeom prst="rect">
            <a:avLst/>
          </a:prstGeom>
          <a:solidFill>
            <a:srgbClr val="1428A0"/>
          </a:solidFill>
          <a:ln/>
        </p:spPr>
      </p:sp>
      <p:sp>
        <p:nvSpPr>
          <p:cNvPr id="47" name="Shape 45"/>
          <p:cNvSpPr/>
          <p:nvPr/>
        </p:nvSpPr>
        <p:spPr>
          <a:xfrm>
            <a:off x="17516475" y="4591050"/>
            <a:ext cx="9525" cy="819150"/>
          </a:xfrm>
          <a:prstGeom prst="rect">
            <a:avLst/>
          </a:prstGeom>
          <a:solidFill>
            <a:srgbClr val="D1D5DB"/>
          </a:solidFill>
          <a:ln/>
        </p:spPr>
      </p:sp>
      <p:sp>
        <p:nvSpPr>
          <p:cNvPr id="48" name="Text 46"/>
          <p:cNvSpPr/>
          <p:nvPr/>
        </p:nvSpPr>
        <p:spPr>
          <a:xfrm>
            <a:off x="10257532" y="4772025"/>
            <a:ext cx="7260875" cy="2571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0000"/>
              </a:lnSpc>
              <a:buNone/>
            </a:pPr>
            <a:r>
              <a:rPr lang="en-US" sz="1275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03 장비 발주 "반입 연기 옵션"</a:t>
            </a:r>
            <a:endParaRPr lang="en-US" sz="1275" dirty="0"/>
          </a:p>
        </p:txBody>
      </p:sp>
      <p:sp>
        <p:nvSpPr>
          <p:cNvPr id="49" name="Text 47"/>
          <p:cNvSpPr/>
          <p:nvPr/>
        </p:nvSpPr>
        <p:spPr>
          <a:xfrm>
            <a:off x="10257532" y="5029200"/>
            <a:ext cx="7260875" cy="2381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0000"/>
              </a:lnSpc>
              <a:buNone/>
            </a:pPr>
            <a:r>
              <a:rPr lang="en-US" sz="1125" dirty="0">
                <a:solidFill>
                  <a:srgbClr val="6B72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ASML / TEL / LAM 12개월 연기권 · 옵션 프리미엄 2–5%</a:t>
            </a:r>
            <a:endParaRPr lang="en-US" sz="1125" dirty="0"/>
          </a:p>
        </p:txBody>
      </p:sp>
      <p:sp>
        <p:nvSpPr>
          <p:cNvPr id="50" name="Shape 48"/>
          <p:cNvSpPr/>
          <p:nvPr/>
        </p:nvSpPr>
        <p:spPr>
          <a:xfrm>
            <a:off x="10009882" y="5543550"/>
            <a:ext cx="7516118" cy="81915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51" name="Shape 49"/>
          <p:cNvSpPr/>
          <p:nvPr/>
        </p:nvSpPr>
        <p:spPr>
          <a:xfrm>
            <a:off x="10009882" y="6353175"/>
            <a:ext cx="7516118" cy="9525"/>
          </a:xfrm>
          <a:prstGeom prst="rect">
            <a:avLst/>
          </a:prstGeom>
          <a:solidFill>
            <a:srgbClr val="D1D5DB"/>
          </a:solidFill>
          <a:ln/>
        </p:spPr>
      </p:sp>
      <p:sp>
        <p:nvSpPr>
          <p:cNvPr id="52" name="Shape 50"/>
          <p:cNvSpPr/>
          <p:nvPr/>
        </p:nvSpPr>
        <p:spPr>
          <a:xfrm>
            <a:off x="10009882" y="5543550"/>
            <a:ext cx="7516118" cy="9525"/>
          </a:xfrm>
          <a:prstGeom prst="rect">
            <a:avLst/>
          </a:prstGeom>
          <a:solidFill>
            <a:srgbClr val="D1D5DB"/>
          </a:solidFill>
          <a:ln/>
        </p:spPr>
      </p:sp>
      <p:sp>
        <p:nvSpPr>
          <p:cNvPr id="53" name="Shape 51"/>
          <p:cNvSpPr/>
          <p:nvPr/>
        </p:nvSpPr>
        <p:spPr>
          <a:xfrm>
            <a:off x="10009882" y="5543550"/>
            <a:ext cx="38100" cy="819150"/>
          </a:xfrm>
          <a:prstGeom prst="rect">
            <a:avLst/>
          </a:prstGeom>
          <a:solidFill>
            <a:srgbClr val="1428A0"/>
          </a:solidFill>
          <a:ln/>
        </p:spPr>
      </p:sp>
      <p:sp>
        <p:nvSpPr>
          <p:cNvPr id="54" name="Shape 52"/>
          <p:cNvSpPr/>
          <p:nvPr/>
        </p:nvSpPr>
        <p:spPr>
          <a:xfrm>
            <a:off x="17516475" y="5543550"/>
            <a:ext cx="9525" cy="819150"/>
          </a:xfrm>
          <a:prstGeom prst="rect">
            <a:avLst/>
          </a:prstGeom>
          <a:solidFill>
            <a:srgbClr val="D1D5DB"/>
          </a:solidFill>
          <a:ln/>
        </p:spPr>
      </p:sp>
      <p:sp>
        <p:nvSpPr>
          <p:cNvPr id="55" name="Text 53"/>
          <p:cNvSpPr/>
          <p:nvPr/>
        </p:nvSpPr>
        <p:spPr>
          <a:xfrm>
            <a:off x="10257532" y="5724525"/>
            <a:ext cx="7260875" cy="2571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0000"/>
              </a:lnSpc>
              <a:buNone/>
            </a:pPr>
            <a:r>
              <a:rPr lang="en-US" sz="1275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04 롤링 캐파 리뷰 (분기)</a:t>
            </a:r>
            <a:endParaRPr lang="en-US" sz="1275" dirty="0"/>
          </a:p>
        </p:txBody>
      </p:sp>
      <p:sp>
        <p:nvSpPr>
          <p:cNvPr id="56" name="Text 54"/>
          <p:cNvSpPr/>
          <p:nvPr/>
        </p:nvSpPr>
        <p:spPr>
          <a:xfrm>
            <a:off x="10257532" y="5981700"/>
            <a:ext cx="7260875" cy="2381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0000"/>
              </a:lnSpc>
              <a:buNone/>
            </a:pPr>
            <a:r>
              <a:rPr lang="en-US" sz="1125" dirty="0">
                <a:solidFill>
                  <a:srgbClr val="6B72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연간 예산 → 분기 재검토 · 이사회 승인 제도화</a:t>
            </a:r>
            <a:endParaRPr lang="en-US" sz="1125" dirty="0"/>
          </a:p>
        </p:txBody>
      </p:sp>
      <p:sp>
        <p:nvSpPr>
          <p:cNvPr id="57" name="Shape 55"/>
          <p:cNvSpPr/>
          <p:nvPr/>
        </p:nvSpPr>
        <p:spPr>
          <a:xfrm>
            <a:off x="10009882" y="6534150"/>
            <a:ext cx="7516118" cy="838200"/>
          </a:xfrm>
          <a:prstGeom prst="rect">
            <a:avLst/>
          </a:prstGeom>
          <a:solidFill>
            <a:srgbClr val="1428A0"/>
          </a:solidFill>
          <a:ln/>
        </p:spPr>
      </p:sp>
      <p:sp>
        <p:nvSpPr>
          <p:cNvPr id="58" name="Text 56"/>
          <p:cNvSpPr/>
          <p:nvPr/>
        </p:nvSpPr>
        <p:spPr>
          <a:xfrm>
            <a:off x="10238482" y="6705600"/>
            <a:ext cx="7270686" cy="2381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0000"/>
              </a:lnSpc>
              <a:buNone/>
            </a:pPr>
            <a:r>
              <a:rPr lang="en-US" sz="1125" b="1" spc="113" kern="0" dirty="0">
                <a:solidFill>
                  <a:srgbClr val="6B7280">
                    <a:alpha val="80000"/>
                  </a:srgbClr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KPI · DEPLOY</a:t>
            </a:r>
            <a:endParaRPr lang="en-US" sz="1125" dirty="0"/>
          </a:p>
        </p:txBody>
      </p:sp>
      <p:sp>
        <p:nvSpPr>
          <p:cNvPr id="59" name="Text 57"/>
          <p:cNvSpPr/>
          <p:nvPr/>
        </p:nvSpPr>
        <p:spPr>
          <a:xfrm>
            <a:off x="10238482" y="6962775"/>
            <a:ext cx="7270686" cy="2762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0000"/>
              </a:lnSpc>
              <a:buNone/>
            </a:pPr>
            <a:r>
              <a:rPr lang="en-US" sz="13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2027 평택 P5·P6 시범 적용 → 2028 전사 확대</a:t>
            </a:r>
            <a:endParaRPr lang="en-US" sz="1350" dirty="0"/>
          </a:p>
        </p:txBody>
      </p:sp>
      <p:sp>
        <p:nvSpPr>
          <p:cNvPr id="60" name="Shape 58"/>
          <p:cNvSpPr/>
          <p:nvPr/>
        </p:nvSpPr>
        <p:spPr>
          <a:xfrm>
            <a:off x="762000" y="9667875"/>
            <a:ext cx="16764000" cy="9525"/>
          </a:xfrm>
          <a:prstGeom prst="rect">
            <a:avLst/>
          </a:prstGeom>
          <a:solidFill>
            <a:srgbClr val="D1D5DB"/>
          </a:solidFill>
          <a:ln/>
        </p:spPr>
      </p:sp>
      <p:sp>
        <p:nvSpPr>
          <p:cNvPr id="61" name="Text 59"/>
          <p:cNvSpPr/>
          <p:nvPr/>
        </p:nvSpPr>
        <p:spPr>
          <a:xfrm>
            <a:off x="762000" y="9891713"/>
            <a:ext cx="1810941" cy="2190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0000"/>
              </a:lnSpc>
              <a:buNone/>
            </a:pPr>
            <a:r>
              <a:rPr lang="en-US" sz="1050" spc="38" kern="0" dirty="0">
                <a:solidFill>
                  <a:srgbClr val="6B72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삼성전자 </a:t>
            </a:r>
            <a:pPr algn="l" indent="0" marL="0">
              <a:lnSpc>
                <a:spcPct val="140000"/>
              </a:lnSpc>
              <a:buNone/>
            </a:pPr>
            <a:r>
              <a:rPr lang="en-US" sz="1050" b="1" spc="38" kern="0" dirty="0">
                <a:solidFill>
                  <a:srgbClr val="1428A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| </a:t>
            </a:r>
            <a:pPr algn="l" indent="0" marL="0">
              <a:lnSpc>
                <a:spcPct val="140000"/>
              </a:lnSpc>
              <a:buNone/>
            </a:pPr>
            <a:r>
              <a:rPr lang="en-US" sz="1050" spc="38" kern="0" dirty="0">
                <a:solidFill>
                  <a:srgbClr val="6B72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STEP 6 · ROBUST</a:t>
            </a:r>
            <a:endParaRPr lang="en-US" sz="1050" dirty="0"/>
          </a:p>
        </p:txBody>
      </p:sp>
      <p:sp>
        <p:nvSpPr>
          <p:cNvPr id="62" name="Text 60"/>
          <p:cNvSpPr/>
          <p:nvPr/>
        </p:nvSpPr>
        <p:spPr>
          <a:xfrm>
            <a:off x="17023705" y="9891713"/>
            <a:ext cx="578495" cy="2190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0000"/>
              </a:lnSpc>
              <a:buNone/>
            </a:pPr>
            <a:r>
              <a:rPr lang="en-US" sz="1050" spc="38" kern="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 / 26</a:t>
            </a:r>
            <a:endParaRPr lang="en-US" sz="105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62000" y="533400"/>
            <a:ext cx="17266920" cy="2762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algn="l" indent="0" marL="0">
              <a:lnSpc>
                <a:spcPct val="140000"/>
              </a:lnSpc>
              <a:buNone/>
            </a:pPr>
            <a:r>
              <a:rPr lang="en-US" sz="1350" spc="150" kern="0" dirty="0">
                <a:solidFill>
                  <a:srgbClr val="1428A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STEP 6 · ROBUST 전략 (2 / 5) · RS-2</a:t>
            </a:r>
            <a:endParaRPr lang="en-US" sz="1350" dirty="0"/>
          </a:p>
        </p:txBody>
      </p:sp>
      <p:sp>
        <p:nvSpPr>
          <p:cNvPr id="3" name="Text 1"/>
          <p:cNvSpPr/>
          <p:nvPr/>
        </p:nvSpPr>
        <p:spPr>
          <a:xfrm>
            <a:off x="762000" y="885825"/>
            <a:ext cx="17266920" cy="5619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3300" b="1" spc="-37" kern="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양 끝에 베팅하라 — 가운데 어정쩡한 제품은 죽인다</a:t>
            </a:r>
            <a:endParaRPr lang="en-US" sz="3300" dirty="0"/>
          </a:p>
        </p:txBody>
      </p:sp>
      <p:sp>
        <p:nvSpPr>
          <p:cNvPr id="4" name="Text 2"/>
          <p:cNvSpPr/>
          <p:nvPr/>
        </p:nvSpPr>
        <p:spPr>
          <a:xfrm>
            <a:off x="762000" y="1524000"/>
            <a:ext cx="14716125" cy="3524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50000"/>
              </a:lnSpc>
              <a:buNone/>
            </a:pPr>
            <a:r>
              <a:rPr lang="en-US" sz="1650" dirty="0">
                <a:solidFill>
                  <a:srgbClr val="6B72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RS-2 · 바벨 포트폴리오 + AI 효율화 — 호황기 HBM 고마진, 다운턴 범용 DRAM 흑자 사수</a:t>
            </a:r>
            <a:endParaRPr lang="en-US" sz="1650" dirty="0"/>
          </a:p>
        </p:txBody>
      </p:sp>
      <p:sp>
        <p:nvSpPr>
          <p:cNvPr id="5" name="Shape 3"/>
          <p:cNvSpPr/>
          <p:nvPr/>
        </p:nvSpPr>
        <p:spPr>
          <a:xfrm>
            <a:off x="762000" y="2286000"/>
            <a:ext cx="16764000" cy="3800475"/>
          </a:xfrm>
          <a:prstGeom prst="rect">
            <a:avLst/>
          </a:prstGeom>
          <a:solidFill>
            <a:srgbClr val="E8EEFC"/>
          </a:solidFill>
          <a:ln w="9525">
            <a:solidFill>
              <a:srgbClr val="D1D5DB"/>
            </a:solidFill>
            <a:prstDash val="solid"/>
          </a:ln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343025" y="2676525"/>
            <a:ext cx="15601950" cy="266700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227725" y="5457825"/>
            <a:ext cx="7917275" cy="2762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ctr" indent="0" marL="0">
              <a:lnSpc>
                <a:spcPct val="140000"/>
              </a:lnSpc>
              <a:buNone/>
            </a:pPr>
            <a:r>
              <a:rPr lang="en-US" sz="1350" b="1" dirty="0">
                <a:solidFill>
                  <a:srgbClr val="1428A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호황기 수익 극대화</a:t>
            </a:r>
            <a:endParaRPr lang="en-US" sz="1350" dirty="0"/>
          </a:p>
        </p:txBody>
      </p:sp>
      <p:sp>
        <p:nvSpPr>
          <p:cNvPr id="8" name="Text 5"/>
          <p:cNvSpPr/>
          <p:nvPr/>
        </p:nvSpPr>
        <p:spPr>
          <a:xfrm>
            <a:off x="9143000" y="5457825"/>
            <a:ext cx="7917275" cy="2762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ctr" indent="0" marL="0">
              <a:lnSpc>
                <a:spcPct val="140000"/>
              </a:lnSpc>
              <a:buNone/>
            </a:pPr>
            <a:r>
              <a:rPr lang="en-US" sz="1350" b="1" dirty="0">
                <a:solidFill>
                  <a:srgbClr val="D9770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다운턴 현금흐름 방어</a:t>
            </a:r>
            <a:endParaRPr lang="en-US" sz="1350" dirty="0"/>
          </a:p>
        </p:txBody>
      </p:sp>
      <p:sp>
        <p:nvSpPr>
          <p:cNvPr id="9" name="Shape 6"/>
          <p:cNvSpPr/>
          <p:nvPr/>
        </p:nvSpPr>
        <p:spPr>
          <a:xfrm>
            <a:off x="762000" y="6353175"/>
            <a:ext cx="16764000" cy="1914525"/>
          </a:xfrm>
          <a:prstGeom prst="rect">
            <a:avLst/>
          </a:prstGeom>
          <a:solidFill>
            <a:srgbClr val="1428A0"/>
          </a:solidFill>
          <a:ln w="9525">
            <a:solidFill>
              <a:srgbClr val="D1D5DB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1076325" y="6591300"/>
            <a:ext cx="1231999" cy="266700"/>
          </a:xfrm>
          <a:prstGeom prst="roundRect">
            <a:avLst>
              <a:gd name="adj" fmla="val 50000"/>
            </a:avLst>
          </a:prstGeom>
          <a:solidFill>
            <a:srgbClr val="D97706"/>
          </a:solidFill>
          <a:ln/>
        </p:spPr>
      </p:sp>
      <p:sp>
        <p:nvSpPr>
          <p:cNvPr id="11" name="Text 8"/>
          <p:cNvSpPr/>
          <p:nvPr/>
        </p:nvSpPr>
        <p:spPr>
          <a:xfrm>
            <a:off x="1209675" y="6591300"/>
            <a:ext cx="1041499" cy="3048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algn="l" indent="0" marL="0">
              <a:lnSpc>
                <a:spcPct val="140000"/>
              </a:lnSpc>
              <a:buNone/>
            </a:pPr>
            <a:r>
              <a:rPr lang="en-US" sz="1050" b="1" spc="38" kern="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 EFFICIENCY</a:t>
            </a:r>
            <a:endParaRPr lang="en-US" sz="1050" dirty="0"/>
          </a:p>
        </p:txBody>
      </p:sp>
      <p:sp>
        <p:nvSpPr>
          <p:cNvPr id="12" name="Text 9"/>
          <p:cNvSpPr/>
          <p:nvPr/>
        </p:nvSpPr>
        <p:spPr>
          <a:xfrm>
            <a:off x="2460724" y="6605588"/>
            <a:ext cx="3794154" cy="2762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0000"/>
              </a:lnSpc>
              <a:buNone/>
            </a:pPr>
            <a:r>
              <a:rPr lang="en-US" sz="13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추가 채용 없이 RS-2 · RS-3 동시 실행의 유일한 경로</a:t>
            </a:r>
            <a:endParaRPr lang="en-US" sz="1350" dirty="0"/>
          </a:p>
        </p:txBody>
      </p:sp>
      <p:sp>
        <p:nvSpPr>
          <p:cNvPr id="13" name="Shape 10"/>
          <p:cNvSpPr/>
          <p:nvPr/>
        </p:nvSpPr>
        <p:spPr>
          <a:xfrm>
            <a:off x="1076325" y="7010400"/>
            <a:ext cx="5022800" cy="1019175"/>
          </a:xfrm>
          <a:prstGeom prst="rect">
            <a:avLst/>
          </a:prstGeom>
          <a:solidFill>
            <a:srgbClr val="FFFFFF">
              <a:alpha val="10000"/>
            </a:srgbClr>
          </a:solidFill>
          <a:ln w="9525">
            <a:solidFill>
              <a:srgbClr val="FFFFFF">
                <a:alpha val="20000"/>
              </a:srgbClr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1257300" y="7191375"/>
            <a:ext cx="4800676" cy="2190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0000"/>
              </a:lnSpc>
              <a:buNone/>
            </a:pPr>
            <a:r>
              <a:rPr lang="en-US" sz="1050" b="1" spc="150" kern="0" dirty="0">
                <a:solidFill>
                  <a:srgbClr val="D9770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도구 도입</a:t>
            </a:r>
            <a:endParaRPr lang="en-US" sz="1050" dirty="0"/>
          </a:p>
        </p:txBody>
      </p:sp>
      <p:sp>
        <p:nvSpPr>
          <p:cNvPr id="15" name="Text 12"/>
          <p:cNvSpPr/>
          <p:nvPr/>
        </p:nvSpPr>
        <p:spPr>
          <a:xfrm>
            <a:off x="1257300" y="7410450"/>
            <a:ext cx="4800676" cy="2381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0000"/>
              </a:lnSpc>
              <a:buNone/>
            </a:pPr>
            <a:r>
              <a:rPr lang="en-US" sz="1125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 코딩 · EDA · 공정 시뮬레이션 · 수율 예측</a:t>
            </a:r>
            <a:endParaRPr lang="en-US" sz="1125" dirty="0"/>
          </a:p>
        </p:txBody>
      </p:sp>
      <p:sp>
        <p:nvSpPr>
          <p:cNvPr id="16" name="Text 13"/>
          <p:cNvSpPr/>
          <p:nvPr/>
        </p:nvSpPr>
        <p:spPr>
          <a:xfrm>
            <a:off x="1257300" y="7648575"/>
            <a:ext cx="4800676" cy="2381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0000"/>
              </a:lnSpc>
              <a:buNone/>
            </a:pPr>
            <a:r>
              <a:rPr lang="en-US" sz="1125" dirty="0">
                <a:solidFill>
                  <a:srgbClr val="6B7280">
                    <a:alpha val="85000"/>
                  </a:srgbClr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500 ~ 1,000억원</a:t>
            </a:r>
            <a:endParaRPr lang="en-US" sz="1125" dirty="0"/>
          </a:p>
        </p:txBody>
      </p:sp>
      <p:sp>
        <p:nvSpPr>
          <p:cNvPr id="17" name="Text 14"/>
          <p:cNvSpPr/>
          <p:nvPr/>
        </p:nvSpPr>
        <p:spPr>
          <a:xfrm>
            <a:off x="6251525" y="7362825"/>
            <a:ext cx="304800" cy="3524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0000"/>
              </a:lnSpc>
              <a:buNone/>
            </a:pPr>
            <a:r>
              <a:rPr lang="en-US" sz="1800" dirty="0">
                <a:solidFill>
                  <a:srgbClr val="D9770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</a:t>
            </a:r>
            <a:endParaRPr lang="en-US" sz="1800" dirty="0"/>
          </a:p>
        </p:txBody>
      </p:sp>
      <p:sp>
        <p:nvSpPr>
          <p:cNvPr id="18" name="Shape 15"/>
          <p:cNvSpPr/>
          <p:nvPr/>
        </p:nvSpPr>
        <p:spPr>
          <a:xfrm>
            <a:off x="6632525" y="7010400"/>
            <a:ext cx="5022800" cy="1019175"/>
          </a:xfrm>
          <a:prstGeom prst="rect">
            <a:avLst/>
          </a:prstGeom>
          <a:solidFill>
            <a:srgbClr val="FFFFFF">
              <a:alpha val="10000"/>
            </a:srgbClr>
          </a:solidFill>
          <a:ln w="9525">
            <a:solidFill>
              <a:srgbClr val="FFFFFF">
                <a:alpha val="20000"/>
              </a:srgbClr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6813500" y="7191375"/>
            <a:ext cx="4800676" cy="2190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0000"/>
              </a:lnSpc>
              <a:buNone/>
            </a:pPr>
            <a:r>
              <a:rPr lang="en-US" sz="1050" b="1" spc="150" kern="0" dirty="0">
                <a:solidFill>
                  <a:srgbClr val="D9770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2027 효과</a:t>
            </a:r>
            <a:endParaRPr lang="en-US" sz="1050" dirty="0"/>
          </a:p>
        </p:txBody>
      </p:sp>
      <p:sp>
        <p:nvSpPr>
          <p:cNvPr id="20" name="Text 17"/>
          <p:cNvSpPr/>
          <p:nvPr/>
        </p:nvSpPr>
        <p:spPr>
          <a:xfrm>
            <a:off x="6813500" y="7410450"/>
            <a:ext cx="4800676" cy="2381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0000"/>
              </a:lnSpc>
              <a:buNone/>
            </a:pPr>
            <a:r>
              <a:rPr lang="en-US" sz="1125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엔지니어링 생산성 </a:t>
            </a:r>
            <a:pPr algn="l" indent="0" marL="0">
              <a:lnSpc>
                <a:spcPct val="140000"/>
              </a:lnSpc>
              <a:buNone/>
            </a:pPr>
            <a:r>
              <a:rPr lang="en-US" sz="1125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+20 ~ 30%</a:t>
            </a:r>
            <a:endParaRPr lang="en-US" sz="1125" dirty="0"/>
          </a:p>
        </p:txBody>
      </p:sp>
      <p:sp>
        <p:nvSpPr>
          <p:cNvPr id="21" name="Text 18"/>
          <p:cNvSpPr/>
          <p:nvPr/>
        </p:nvSpPr>
        <p:spPr>
          <a:xfrm>
            <a:off x="6813500" y="7648575"/>
            <a:ext cx="4800676" cy="2381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0000"/>
              </a:lnSpc>
              <a:buNone/>
            </a:pPr>
            <a:r>
              <a:rPr lang="en-US" sz="1125" dirty="0">
                <a:solidFill>
                  <a:srgbClr val="6B7280">
                    <a:alpha val="85000"/>
                  </a:srgbClr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잉여 인력 창출</a:t>
            </a:r>
            <a:endParaRPr lang="en-US" sz="1125" dirty="0"/>
          </a:p>
        </p:txBody>
      </p:sp>
      <p:sp>
        <p:nvSpPr>
          <p:cNvPr id="22" name="Text 19"/>
          <p:cNvSpPr/>
          <p:nvPr/>
        </p:nvSpPr>
        <p:spPr>
          <a:xfrm>
            <a:off x="11807726" y="7362825"/>
            <a:ext cx="304800" cy="3524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0000"/>
              </a:lnSpc>
              <a:buNone/>
            </a:pPr>
            <a:r>
              <a:rPr lang="en-US" sz="1800" dirty="0">
                <a:solidFill>
                  <a:srgbClr val="D9770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</a:t>
            </a:r>
            <a:endParaRPr lang="en-US" sz="1800" dirty="0"/>
          </a:p>
        </p:txBody>
      </p:sp>
      <p:sp>
        <p:nvSpPr>
          <p:cNvPr id="23" name="Shape 20"/>
          <p:cNvSpPr/>
          <p:nvPr/>
        </p:nvSpPr>
        <p:spPr>
          <a:xfrm>
            <a:off x="12188726" y="7129463"/>
            <a:ext cx="5022800" cy="781050"/>
          </a:xfrm>
          <a:prstGeom prst="rect">
            <a:avLst/>
          </a:prstGeom>
          <a:solidFill>
            <a:srgbClr val="FFFFFF">
              <a:alpha val="10000"/>
            </a:srgbClr>
          </a:solidFill>
          <a:ln w="9525">
            <a:solidFill>
              <a:srgbClr val="FFFFFF">
                <a:alpha val="20000"/>
              </a:srgbClr>
            </a:solidFill>
            <a:prstDash val="solid"/>
          </a:ln>
        </p:spPr>
      </p:sp>
      <p:sp>
        <p:nvSpPr>
          <p:cNvPr id="24" name="Text 21"/>
          <p:cNvSpPr/>
          <p:nvPr/>
        </p:nvSpPr>
        <p:spPr>
          <a:xfrm>
            <a:off x="12369701" y="7310438"/>
            <a:ext cx="4800676" cy="2190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0000"/>
              </a:lnSpc>
              <a:buNone/>
            </a:pPr>
            <a:r>
              <a:rPr lang="en-US" sz="1050" b="1" spc="150" kern="0" dirty="0">
                <a:solidFill>
                  <a:srgbClr val="D9770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배분</a:t>
            </a:r>
            <a:endParaRPr lang="en-US" sz="1050" dirty="0"/>
          </a:p>
        </p:txBody>
      </p:sp>
      <p:sp>
        <p:nvSpPr>
          <p:cNvPr id="25" name="Text 22"/>
          <p:cNvSpPr/>
          <p:nvPr/>
        </p:nvSpPr>
        <p:spPr>
          <a:xfrm>
            <a:off x="12369701" y="7529513"/>
            <a:ext cx="4800676" cy="2381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0000"/>
              </a:lnSpc>
              <a:buNone/>
            </a:pPr>
            <a:r>
              <a:rPr lang="en-US" sz="1125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PC/Mobile/Auto 포트폴리오 유지 + RS-3 고객특화 기능</a:t>
            </a:r>
            <a:endParaRPr lang="en-US" sz="1125" dirty="0"/>
          </a:p>
        </p:txBody>
      </p:sp>
      <p:sp>
        <p:nvSpPr>
          <p:cNvPr id="26" name="Shape 23"/>
          <p:cNvSpPr/>
          <p:nvPr/>
        </p:nvSpPr>
        <p:spPr>
          <a:xfrm>
            <a:off x="762000" y="9667875"/>
            <a:ext cx="16764000" cy="9525"/>
          </a:xfrm>
          <a:prstGeom prst="rect">
            <a:avLst/>
          </a:prstGeom>
          <a:solidFill>
            <a:srgbClr val="D1D5DB"/>
          </a:solidFill>
          <a:ln/>
        </p:spPr>
      </p:sp>
      <p:sp>
        <p:nvSpPr>
          <p:cNvPr id="27" name="Text 24"/>
          <p:cNvSpPr/>
          <p:nvPr/>
        </p:nvSpPr>
        <p:spPr>
          <a:xfrm>
            <a:off x="762000" y="9891713"/>
            <a:ext cx="1810941" cy="2190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0000"/>
              </a:lnSpc>
              <a:buNone/>
            </a:pPr>
            <a:r>
              <a:rPr lang="en-US" sz="1050" spc="38" kern="0" dirty="0">
                <a:solidFill>
                  <a:srgbClr val="6B72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삼성전자 </a:t>
            </a:r>
            <a:pPr algn="l" indent="0" marL="0">
              <a:lnSpc>
                <a:spcPct val="140000"/>
              </a:lnSpc>
              <a:buNone/>
            </a:pPr>
            <a:r>
              <a:rPr lang="en-US" sz="1050" b="1" spc="38" kern="0" dirty="0">
                <a:solidFill>
                  <a:srgbClr val="1428A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| </a:t>
            </a:r>
            <a:pPr algn="l" indent="0" marL="0">
              <a:lnSpc>
                <a:spcPct val="140000"/>
              </a:lnSpc>
              <a:buNone/>
            </a:pPr>
            <a:r>
              <a:rPr lang="en-US" sz="1050" spc="38" kern="0" dirty="0">
                <a:solidFill>
                  <a:srgbClr val="6B72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STEP 6 · ROBUST</a:t>
            </a:r>
            <a:endParaRPr lang="en-US" sz="1050" dirty="0"/>
          </a:p>
        </p:txBody>
      </p:sp>
      <p:sp>
        <p:nvSpPr>
          <p:cNvPr id="28" name="Text 25"/>
          <p:cNvSpPr/>
          <p:nvPr/>
        </p:nvSpPr>
        <p:spPr>
          <a:xfrm>
            <a:off x="17023705" y="9891713"/>
            <a:ext cx="578495" cy="2190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0000"/>
              </a:lnSpc>
              <a:buNone/>
            </a:pPr>
            <a:r>
              <a:rPr lang="en-US" sz="1050" spc="38" kern="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 / 26</a:t>
            </a:r>
            <a:endParaRPr lang="en-US" sz="105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62000" y="533400"/>
            <a:ext cx="17266920" cy="2762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algn="l" indent="0" marL="0">
              <a:lnSpc>
                <a:spcPct val="140000"/>
              </a:lnSpc>
              <a:buNone/>
            </a:pPr>
            <a:r>
              <a:rPr lang="en-US" sz="1350" spc="150" kern="0" dirty="0">
                <a:solidFill>
                  <a:srgbClr val="1428A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STEP 6 · ROBUST 전략 (3 / 5) · RS-3</a:t>
            </a:r>
            <a:endParaRPr lang="en-US" sz="1350" dirty="0"/>
          </a:p>
        </p:txBody>
      </p:sp>
      <p:sp>
        <p:nvSpPr>
          <p:cNvPr id="3" name="Text 1"/>
          <p:cNvSpPr/>
          <p:nvPr/>
        </p:nvSpPr>
        <p:spPr>
          <a:xfrm>
            <a:off x="762000" y="885825"/>
            <a:ext cx="17266920" cy="5619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3300" b="1" spc="-37" kern="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떠나면 비싼 메모리 — CMX · SCADA · FDP 시장 현실성 검증 완료</a:t>
            </a:r>
            <a:endParaRPr lang="en-US" sz="3300" dirty="0"/>
          </a:p>
        </p:txBody>
      </p:sp>
      <p:sp>
        <p:nvSpPr>
          <p:cNvPr id="4" name="Text 2"/>
          <p:cNvSpPr/>
          <p:nvPr/>
        </p:nvSpPr>
        <p:spPr>
          <a:xfrm>
            <a:off x="762000" y="1524000"/>
            <a:ext cx="14716125" cy="3524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50000"/>
              </a:lnSpc>
              <a:buNone/>
            </a:pPr>
            <a:r>
              <a:rPr lang="en-US" sz="1650" dirty="0">
                <a:solidFill>
                  <a:srgbClr val="6B72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RS-3 · 고객특화 + 전환비용 극대화 — HW를 넘어 SW · 인증 · 로직까지 통합 락인</a:t>
            </a:r>
            <a:endParaRPr lang="en-US" sz="1650" dirty="0"/>
          </a:p>
        </p:txBody>
      </p:sp>
      <p:sp>
        <p:nvSpPr>
          <p:cNvPr id="5" name="Text 3"/>
          <p:cNvSpPr/>
          <p:nvPr/>
        </p:nvSpPr>
        <p:spPr>
          <a:xfrm>
            <a:off x="762000" y="2286000"/>
            <a:ext cx="7404970" cy="3238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0000"/>
              </a:lnSpc>
              <a:buNone/>
            </a:pPr>
            <a:r>
              <a:rPr lang="en-US" sz="1650" b="1" spc="22" kern="0" dirty="0">
                <a:solidFill>
                  <a:srgbClr val="1428A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락인 4단 다이어그램</a:t>
            </a:r>
            <a:endParaRPr lang="en-US" sz="1650" dirty="0"/>
          </a:p>
        </p:txBody>
      </p:sp>
      <p:sp>
        <p:nvSpPr>
          <p:cNvPr id="6" name="Shape 4"/>
          <p:cNvSpPr/>
          <p:nvPr/>
        </p:nvSpPr>
        <p:spPr>
          <a:xfrm>
            <a:off x="762000" y="2686050"/>
            <a:ext cx="7189291" cy="561975"/>
          </a:xfrm>
          <a:prstGeom prst="rect">
            <a:avLst/>
          </a:prstGeom>
          <a:solidFill>
            <a:srgbClr val="1428A0"/>
          </a:solidFill>
          <a:ln/>
        </p:spPr>
      </p:sp>
      <p:sp>
        <p:nvSpPr>
          <p:cNvPr id="7" name="Text 5"/>
          <p:cNvSpPr/>
          <p:nvPr/>
        </p:nvSpPr>
        <p:spPr>
          <a:xfrm>
            <a:off x="990600" y="2857500"/>
            <a:ext cx="1133326" cy="2571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0000"/>
              </a:lnSpc>
              <a:buNone/>
            </a:pPr>
            <a:r>
              <a:rPr lang="en-US" sz="1275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1단 — 하드웨어</a:t>
            </a:r>
            <a:endParaRPr lang="en-US" sz="1275" dirty="0"/>
          </a:p>
        </p:txBody>
      </p:sp>
      <p:sp>
        <p:nvSpPr>
          <p:cNvPr id="8" name="Text 6"/>
          <p:cNvSpPr/>
          <p:nvPr/>
        </p:nvSpPr>
        <p:spPr>
          <a:xfrm>
            <a:off x="6650980" y="2867025"/>
            <a:ext cx="1147911" cy="2381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0000"/>
              </a:lnSpc>
              <a:buNone/>
            </a:pPr>
            <a:r>
              <a:rPr lang="en-US" sz="1125" dirty="0">
                <a:solidFill>
                  <a:srgbClr val="6B7280">
                    <a:alpha val="80000"/>
                  </a:srgbClr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SSD / DRAM 자체</a:t>
            </a:r>
            <a:endParaRPr lang="en-US" sz="1125" dirty="0"/>
          </a:p>
        </p:txBody>
      </p:sp>
      <p:sp>
        <p:nvSpPr>
          <p:cNvPr id="9" name="Text 7"/>
          <p:cNvSpPr/>
          <p:nvPr/>
        </p:nvSpPr>
        <p:spPr>
          <a:xfrm>
            <a:off x="654161" y="3248025"/>
            <a:ext cx="7404970" cy="1905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algn="ctr" indent="0" marL="0">
              <a:lnSpc>
                <a:spcPct val="140000"/>
              </a:lnSpc>
              <a:buNone/>
            </a:pPr>
            <a:r>
              <a:rPr lang="en-US" sz="1350" dirty="0">
                <a:solidFill>
                  <a:srgbClr val="1428A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↓</a:t>
            </a: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762000" y="3400425"/>
            <a:ext cx="7189291" cy="581025"/>
          </a:xfrm>
          <a:prstGeom prst="rect">
            <a:avLst/>
          </a:prstGeom>
          <a:solidFill>
            <a:srgbClr val="1E40AF"/>
          </a:solidFill>
          <a:ln w="9525">
            <a:solidFill>
              <a:srgbClr val="D1D5DB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000125" y="3581400"/>
            <a:ext cx="1616869" cy="2571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0000"/>
              </a:lnSpc>
              <a:buNone/>
            </a:pPr>
            <a:r>
              <a:rPr lang="en-US" sz="1275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2단 — 소프트웨어 통합</a:t>
            </a:r>
            <a:endParaRPr lang="en-US" sz="1275" dirty="0"/>
          </a:p>
        </p:txBody>
      </p:sp>
      <p:sp>
        <p:nvSpPr>
          <p:cNvPr id="12" name="Text 10"/>
          <p:cNvSpPr/>
          <p:nvPr/>
        </p:nvSpPr>
        <p:spPr>
          <a:xfrm>
            <a:off x="6338143" y="3590925"/>
            <a:ext cx="1451223" cy="2381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0000"/>
              </a:lnSpc>
              <a:buNone/>
            </a:pPr>
            <a:r>
              <a:rPr lang="en-US" sz="1125" dirty="0">
                <a:solidFill>
                  <a:srgbClr val="6B7280">
                    <a:alpha val="85000"/>
                  </a:srgbClr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FDP · SCADA 드라이버</a:t>
            </a:r>
            <a:endParaRPr lang="en-US" sz="1125" dirty="0"/>
          </a:p>
        </p:txBody>
      </p:sp>
      <p:sp>
        <p:nvSpPr>
          <p:cNvPr id="13" name="Text 11"/>
          <p:cNvSpPr/>
          <p:nvPr/>
        </p:nvSpPr>
        <p:spPr>
          <a:xfrm>
            <a:off x="654161" y="3981450"/>
            <a:ext cx="7404970" cy="1905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algn="ctr" indent="0" marL="0">
              <a:lnSpc>
                <a:spcPct val="140000"/>
              </a:lnSpc>
              <a:buNone/>
            </a:pPr>
            <a:r>
              <a:rPr lang="en-US" sz="1350" dirty="0">
                <a:solidFill>
                  <a:srgbClr val="1428A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↓</a:t>
            </a:r>
            <a:endParaRPr lang="en-US" sz="1350" dirty="0"/>
          </a:p>
        </p:txBody>
      </p:sp>
      <p:sp>
        <p:nvSpPr>
          <p:cNvPr id="14" name="Shape 12"/>
          <p:cNvSpPr/>
          <p:nvPr/>
        </p:nvSpPr>
        <p:spPr>
          <a:xfrm>
            <a:off x="762000" y="4133850"/>
            <a:ext cx="7189291" cy="581025"/>
          </a:xfrm>
          <a:prstGeom prst="rect">
            <a:avLst/>
          </a:prstGeom>
          <a:solidFill>
            <a:srgbClr val="2563EB"/>
          </a:solidFill>
          <a:ln w="9525">
            <a:solidFill>
              <a:srgbClr val="D1D5DB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1000125" y="4314825"/>
            <a:ext cx="1183928" cy="2571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0000"/>
              </a:lnSpc>
              <a:buNone/>
            </a:pPr>
            <a:r>
              <a:rPr lang="en-US" sz="1275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3단 — 인증·검증</a:t>
            </a:r>
            <a:endParaRPr lang="en-US" sz="1275" dirty="0"/>
          </a:p>
        </p:txBody>
      </p:sp>
      <p:sp>
        <p:nvSpPr>
          <p:cNvPr id="16" name="Text 14"/>
          <p:cNvSpPr/>
          <p:nvPr/>
        </p:nvSpPr>
        <p:spPr>
          <a:xfrm>
            <a:off x="6198691" y="4324350"/>
            <a:ext cx="1590675" cy="2381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0000"/>
              </a:lnSpc>
              <a:buNone/>
            </a:pPr>
            <a:r>
              <a:rPr lang="en-US" sz="1125" dirty="0">
                <a:solidFill>
                  <a:srgbClr val="6B7280">
                    <a:alpha val="85000"/>
                  </a:srgbClr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Co-Validation Program</a:t>
            </a:r>
            <a:endParaRPr lang="en-US" sz="1125" dirty="0"/>
          </a:p>
        </p:txBody>
      </p:sp>
      <p:sp>
        <p:nvSpPr>
          <p:cNvPr id="17" name="Text 15"/>
          <p:cNvSpPr/>
          <p:nvPr/>
        </p:nvSpPr>
        <p:spPr>
          <a:xfrm>
            <a:off x="654161" y="4714875"/>
            <a:ext cx="7404970" cy="1905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algn="ctr" indent="0" marL="0">
              <a:lnSpc>
                <a:spcPct val="140000"/>
              </a:lnSpc>
              <a:buNone/>
            </a:pPr>
            <a:r>
              <a:rPr lang="en-US" sz="1350" dirty="0">
                <a:solidFill>
                  <a:srgbClr val="1428A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↓</a:t>
            </a:r>
            <a:endParaRPr lang="en-US" sz="1350" dirty="0"/>
          </a:p>
        </p:txBody>
      </p:sp>
      <p:sp>
        <p:nvSpPr>
          <p:cNvPr id="18" name="Shape 16"/>
          <p:cNvSpPr/>
          <p:nvPr/>
        </p:nvSpPr>
        <p:spPr>
          <a:xfrm>
            <a:off x="762000" y="4867275"/>
            <a:ext cx="7189291" cy="581025"/>
          </a:xfrm>
          <a:prstGeom prst="rect">
            <a:avLst/>
          </a:prstGeom>
          <a:solidFill>
            <a:srgbClr val="60A5FA"/>
          </a:solidFill>
          <a:ln w="9525">
            <a:solidFill>
              <a:srgbClr val="D1D5DB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1000125" y="5048250"/>
            <a:ext cx="1318915" cy="2571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0000"/>
              </a:lnSpc>
              <a:buNone/>
            </a:pPr>
            <a:r>
              <a:rPr lang="en-US" sz="1275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4단 — 커스텀 로직</a:t>
            </a:r>
            <a:endParaRPr lang="en-US" sz="1275" dirty="0"/>
          </a:p>
        </p:txBody>
      </p:sp>
      <p:sp>
        <p:nvSpPr>
          <p:cNvPr id="20" name="Text 18"/>
          <p:cNvSpPr/>
          <p:nvPr/>
        </p:nvSpPr>
        <p:spPr>
          <a:xfrm>
            <a:off x="5875288" y="5057775"/>
            <a:ext cx="1914079" cy="2381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0000"/>
              </a:lnSpc>
              <a:buNone/>
            </a:pPr>
            <a:r>
              <a:rPr lang="en-US" sz="1125" dirty="0">
                <a:solidFill>
                  <a:srgbClr val="6B7280">
                    <a:alpha val="85000"/>
                  </a:srgbClr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HBM 베이스다이 · ASIC 최적화</a:t>
            </a:r>
            <a:endParaRPr lang="en-US" sz="1125" dirty="0"/>
          </a:p>
        </p:txBody>
      </p:sp>
      <p:sp>
        <p:nvSpPr>
          <p:cNvPr id="21" name="Shape 19"/>
          <p:cNvSpPr/>
          <p:nvPr/>
        </p:nvSpPr>
        <p:spPr>
          <a:xfrm>
            <a:off x="762000" y="5638800"/>
            <a:ext cx="7189291" cy="1047750"/>
          </a:xfrm>
          <a:prstGeom prst="rect">
            <a:avLst/>
          </a:prstGeom>
          <a:solidFill>
            <a:srgbClr val="FEF3C7"/>
          </a:solidFill>
          <a:ln/>
        </p:spPr>
      </p:sp>
      <p:sp>
        <p:nvSpPr>
          <p:cNvPr id="22" name="Shape 20"/>
          <p:cNvSpPr/>
          <p:nvPr/>
        </p:nvSpPr>
        <p:spPr>
          <a:xfrm>
            <a:off x="762000" y="6677025"/>
            <a:ext cx="7189291" cy="9525"/>
          </a:xfrm>
          <a:prstGeom prst="rect">
            <a:avLst/>
          </a:prstGeom>
          <a:solidFill>
            <a:srgbClr val="D1D5DB"/>
          </a:solidFill>
          <a:ln/>
        </p:spPr>
      </p:sp>
      <p:sp>
        <p:nvSpPr>
          <p:cNvPr id="23" name="Shape 21"/>
          <p:cNvSpPr/>
          <p:nvPr/>
        </p:nvSpPr>
        <p:spPr>
          <a:xfrm>
            <a:off x="762000" y="5638800"/>
            <a:ext cx="7189291" cy="9525"/>
          </a:xfrm>
          <a:prstGeom prst="rect">
            <a:avLst/>
          </a:prstGeom>
          <a:solidFill>
            <a:srgbClr val="D1D5DB"/>
          </a:solidFill>
          <a:ln/>
        </p:spPr>
      </p:sp>
      <p:sp>
        <p:nvSpPr>
          <p:cNvPr id="24" name="Shape 22"/>
          <p:cNvSpPr/>
          <p:nvPr/>
        </p:nvSpPr>
        <p:spPr>
          <a:xfrm>
            <a:off x="762000" y="5638800"/>
            <a:ext cx="38100" cy="1047750"/>
          </a:xfrm>
          <a:prstGeom prst="rect">
            <a:avLst/>
          </a:prstGeom>
          <a:solidFill>
            <a:srgbClr val="D97706"/>
          </a:solidFill>
          <a:ln/>
        </p:spPr>
      </p:sp>
      <p:sp>
        <p:nvSpPr>
          <p:cNvPr id="25" name="Shape 23"/>
          <p:cNvSpPr/>
          <p:nvPr/>
        </p:nvSpPr>
        <p:spPr>
          <a:xfrm>
            <a:off x="7941766" y="5638800"/>
            <a:ext cx="9525" cy="1047750"/>
          </a:xfrm>
          <a:prstGeom prst="rect">
            <a:avLst/>
          </a:prstGeom>
          <a:solidFill>
            <a:srgbClr val="D1D5DB"/>
          </a:solidFill>
          <a:ln/>
        </p:spPr>
      </p:sp>
      <p:sp>
        <p:nvSpPr>
          <p:cNvPr id="26" name="Text 24"/>
          <p:cNvSpPr/>
          <p:nvPr/>
        </p:nvSpPr>
        <p:spPr>
          <a:xfrm>
            <a:off x="1009650" y="5819775"/>
            <a:ext cx="6924243" cy="7239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55000"/>
              </a:lnSpc>
              <a:buNone/>
            </a:pPr>
            <a:r>
              <a:rPr lang="en-US" sz="12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4단 모두 적용된 고객은 경쟁사 전환 시 </a:t>
            </a:r>
            <a:pPr algn="l" indent="0" marL="0">
              <a:lnSpc>
                <a:spcPct val="155000"/>
              </a:lnSpc>
              <a:buNone/>
            </a:pPr>
            <a:r>
              <a:rPr lang="en-US" sz="120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SW 재인증 + ASIC 재설계 + 인증 사이클 재실행 </a:t>
            </a:r>
            <a:pPr algn="l" indent="0" marL="0">
              <a:lnSpc>
                <a:spcPct val="155000"/>
              </a:lnSpc>
              <a:buNone/>
            </a:pPr>
            <a:r>
              <a:rPr lang="en-US" sz="12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= 사실상 전환 불가능</a:t>
            </a:r>
            <a:endParaRPr lang="en-US" sz="1200" dirty="0"/>
          </a:p>
        </p:txBody>
      </p:sp>
      <p:sp>
        <p:nvSpPr>
          <p:cNvPr id="27" name="Text 25"/>
          <p:cNvSpPr/>
          <p:nvPr/>
        </p:nvSpPr>
        <p:spPr>
          <a:xfrm>
            <a:off x="8179891" y="2286000"/>
            <a:ext cx="9626492" cy="3238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0000"/>
              </a:lnSpc>
              <a:buNone/>
            </a:pPr>
            <a:r>
              <a:rPr lang="en-US" sz="1650" b="1" spc="22" kern="0" dirty="0">
                <a:solidFill>
                  <a:srgbClr val="1428A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3개 시장 검증 사례</a:t>
            </a:r>
            <a:endParaRPr lang="en-US" sz="1650" dirty="0"/>
          </a:p>
        </p:txBody>
      </p:sp>
      <p:sp>
        <p:nvSpPr>
          <p:cNvPr id="28" name="Shape 26"/>
          <p:cNvSpPr/>
          <p:nvPr/>
        </p:nvSpPr>
        <p:spPr>
          <a:xfrm>
            <a:off x="8179891" y="2686050"/>
            <a:ext cx="9346109" cy="97155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9" name="Shape 27"/>
          <p:cNvSpPr/>
          <p:nvPr/>
        </p:nvSpPr>
        <p:spPr>
          <a:xfrm>
            <a:off x="8179891" y="3648075"/>
            <a:ext cx="9346109" cy="9525"/>
          </a:xfrm>
          <a:prstGeom prst="rect">
            <a:avLst/>
          </a:prstGeom>
          <a:solidFill>
            <a:srgbClr val="D1D5DB"/>
          </a:solidFill>
          <a:ln/>
        </p:spPr>
      </p:sp>
      <p:sp>
        <p:nvSpPr>
          <p:cNvPr id="30" name="Shape 28"/>
          <p:cNvSpPr/>
          <p:nvPr/>
        </p:nvSpPr>
        <p:spPr>
          <a:xfrm>
            <a:off x="8179891" y="2686050"/>
            <a:ext cx="9346109" cy="9525"/>
          </a:xfrm>
          <a:prstGeom prst="rect">
            <a:avLst/>
          </a:prstGeom>
          <a:solidFill>
            <a:srgbClr val="D1D5DB"/>
          </a:solidFill>
          <a:ln/>
        </p:spPr>
      </p:sp>
      <p:sp>
        <p:nvSpPr>
          <p:cNvPr id="31" name="Shape 29"/>
          <p:cNvSpPr/>
          <p:nvPr/>
        </p:nvSpPr>
        <p:spPr>
          <a:xfrm>
            <a:off x="8179891" y="2686050"/>
            <a:ext cx="47625" cy="971550"/>
          </a:xfrm>
          <a:prstGeom prst="rect">
            <a:avLst/>
          </a:prstGeom>
          <a:solidFill>
            <a:srgbClr val="1428A0"/>
          </a:solidFill>
          <a:ln/>
        </p:spPr>
      </p:sp>
      <p:sp>
        <p:nvSpPr>
          <p:cNvPr id="32" name="Shape 30"/>
          <p:cNvSpPr/>
          <p:nvPr/>
        </p:nvSpPr>
        <p:spPr>
          <a:xfrm>
            <a:off x="17516475" y="2686050"/>
            <a:ext cx="9525" cy="971550"/>
          </a:xfrm>
          <a:prstGeom prst="rect">
            <a:avLst/>
          </a:prstGeom>
          <a:solidFill>
            <a:srgbClr val="D1D5DB"/>
          </a:solidFill>
          <a:ln/>
        </p:spPr>
      </p:sp>
      <p:sp>
        <p:nvSpPr>
          <p:cNvPr id="33" name="Text 31"/>
          <p:cNvSpPr/>
          <p:nvPr/>
        </p:nvSpPr>
        <p:spPr>
          <a:xfrm>
            <a:off x="8456116" y="2886075"/>
            <a:ext cx="1947118" cy="2762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0000"/>
              </a:lnSpc>
              <a:buNone/>
            </a:pPr>
            <a:r>
              <a:rPr lang="en-US" sz="1350" b="1" dirty="0">
                <a:solidFill>
                  <a:srgbClr val="1428A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FDP — Google 공동 개발</a:t>
            </a:r>
            <a:endParaRPr lang="en-US" sz="1350" dirty="0"/>
          </a:p>
        </p:txBody>
      </p:sp>
      <p:sp>
        <p:nvSpPr>
          <p:cNvPr id="34" name="Shape 32"/>
          <p:cNvSpPr/>
          <p:nvPr/>
        </p:nvSpPr>
        <p:spPr>
          <a:xfrm>
            <a:off x="16394757" y="2895600"/>
            <a:ext cx="893118" cy="266700"/>
          </a:xfrm>
          <a:prstGeom prst="roundRect">
            <a:avLst>
              <a:gd name="adj" fmla="val 50000"/>
            </a:avLst>
          </a:prstGeom>
          <a:solidFill>
            <a:srgbClr val="D1FAE5"/>
          </a:solidFill>
          <a:ln/>
        </p:spPr>
      </p:sp>
      <p:sp>
        <p:nvSpPr>
          <p:cNvPr id="35" name="Text 33"/>
          <p:cNvSpPr/>
          <p:nvPr/>
        </p:nvSpPr>
        <p:spPr>
          <a:xfrm>
            <a:off x="16528107" y="2895600"/>
            <a:ext cx="702618" cy="3048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algn="l" indent="0" marL="0">
              <a:lnSpc>
                <a:spcPct val="140000"/>
              </a:lnSpc>
              <a:buNone/>
            </a:pPr>
            <a:r>
              <a:rPr lang="en-US" sz="1050" b="1" spc="38" kern="0" dirty="0">
                <a:solidFill>
                  <a:srgbClr val="065F4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VERIFIED</a:t>
            </a:r>
            <a:endParaRPr lang="en-US" sz="1050" dirty="0"/>
          </a:p>
        </p:txBody>
      </p:sp>
      <p:sp>
        <p:nvSpPr>
          <p:cNvPr id="36" name="Text 34"/>
          <p:cNvSpPr/>
          <p:nvPr/>
        </p:nvSpPr>
        <p:spPr>
          <a:xfrm>
            <a:off x="8456116" y="3238500"/>
            <a:ext cx="9096711" cy="2571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55000"/>
              </a:lnSpc>
              <a:buNone/>
            </a:pPr>
            <a:r>
              <a:rPr lang="en-US" sz="1125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Google CFS 파일시스템과 삼성 SSD FDP 인터페이스 통합 · </a:t>
            </a:r>
            <a:pPr algn="l" indent="0" marL="0">
              <a:lnSpc>
                <a:spcPct val="155000"/>
              </a:lnSpc>
              <a:buNone/>
            </a:pPr>
            <a:r>
              <a:rPr lang="en-US" sz="1125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2027 양산 적용</a:t>
            </a:r>
            <a:endParaRPr lang="en-US" sz="1125" dirty="0"/>
          </a:p>
        </p:txBody>
      </p:sp>
      <p:sp>
        <p:nvSpPr>
          <p:cNvPr id="37" name="Shape 35"/>
          <p:cNvSpPr/>
          <p:nvPr/>
        </p:nvSpPr>
        <p:spPr>
          <a:xfrm>
            <a:off x="8179891" y="3790950"/>
            <a:ext cx="9346109" cy="97155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8" name="Shape 36"/>
          <p:cNvSpPr/>
          <p:nvPr/>
        </p:nvSpPr>
        <p:spPr>
          <a:xfrm>
            <a:off x="8179891" y="4752975"/>
            <a:ext cx="9346109" cy="9525"/>
          </a:xfrm>
          <a:prstGeom prst="rect">
            <a:avLst/>
          </a:prstGeom>
          <a:solidFill>
            <a:srgbClr val="D1D5DB"/>
          </a:solidFill>
          <a:ln/>
        </p:spPr>
      </p:sp>
      <p:sp>
        <p:nvSpPr>
          <p:cNvPr id="39" name="Shape 37"/>
          <p:cNvSpPr/>
          <p:nvPr/>
        </p:nvSpPr>
        <p:spPr>
          <a:xfrm>
            <a:off x="8179891" y="3790950"/>
            <a:ext cx="9346109" cy="9525"/>
          </a:xfrm>
          <a:prstGeom prst="rect">
            <a:avLst/>
          </a:prstGeom>
          <a:solidFill>
            <a:srgbClr val="D1D5DB"/>
          </a:solidFill>
          <a:ln/>
        </p:spPr>
      </p:sp>
      <p:sp>
        <p:nvSpPr>
          <p:cNvPr id="40" name="Shape 38"/>
          <p:cNvSpPr/>
          <p:nvPr/>
        </p:nvSpPr>
        <p:spPr>
          <a:xfrm>
            <a:off x="8179891" y="3790950"/>
            <a:ext cx="47625" cy="971550"/>
          </a:xfrm>
          <a:prstGeom prst="rect">
            <a:avLst/>
          </a:prstGeom>
          <a:solidFill>
            <a:srgbClr val="1428A0"/>
          </a:solidFill>
          <a:ln/>
        </p:spPr>
      </p:sp>
      <p:sp>
        <p:nvSpPr>
          <p:cNvPr id="41" name="Shape 39"/>
          <p:cNvSpPr/>
          <p:nvPr/>
        </p:nvSpPr>
        <p:spPr>
          <a:xfrm>
            <a:off x="17516475" y="3790950"/>
            <a:ext cx="9525" cy="971550"/>
          </a:xfrm>
          <a:prstGeom prst="rect">
            <a:avLst/>
          </a:prstGeom>
          <a:solidFill>
            <a:srgbClr val="D1D5DB"/>
          </a:solidFill>
          <a:ln/>
        </p:spPr>
      </p:sp>
      <p:sp>
        <p:nvSpPr>
          <p:cNvPr id="42" name="Text 40"/>
          <p:cNvSpPr/>
          <p:nvPr/>
        </p:nvSpPr>
        <p:spPr>
          <a:xfrm>
            <a:off x="8456116" y="3990975"/>
            <a:ext cx="2597051" cy="2762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0000"/>
              </a:lnSpc>
              <a:buNone/>
            </a:pPr>
            <a:r>
              <a:rPr lang="en-US" sz="1350" b="1" dirty="0">
                <a:solidFill>
                  <a:srgbClr val="1428A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SCADA — NVIDIA Storage-Next</a:t>
            </a:r>
            <a:endParaRPr lang="en-US" sz="1350" dirty="0"/>
          </a:p>
        </p:txBody>
      </p:sp>
      <p:sp>
        <p:nvSpPr>
          <p:cNvPr id="43" name="Shape 41"/>
          <p:cNvSpPr/>
          <p:nvPr/>
        </p:nvSpPr>
        <p:spPr>
          <a:xfrm>
            <a:off x="16476464" y="4000500"/>
            <a:ext cx="811411" cy="266700"/>
          </a:xfrm>
          <a:prstGeom prst="roundRect">
            <a:avLst>
              <a:gd name="adj" fmla="val 50000"/>
            </a:avLst>
          </a:prstGeom>
          <a:solidFill>
            <a:srgbClr val="FEF3C7"/>
          </a:solidFill>
          <a:ln/>
        </p:spPr>
      </p:sp>
      <p:sp>
        <p:nvSpPr>
          <p:cNvPr id="44" name="Text 42"/>
          <p:cNvSpPr/>
          <p:nvPr/>
        </p:nvSpPr>
        <p:spPr>
          <a:xfrm>
            <a:off x="16609814" y="4000500"/>
            <a:ext cx="620911" cy="3048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algn="l" indent="0" marL="0">
              <a:lnSpc>
                <a:spcPct val="140000"/>
              </a:lnSpc>
              <a:buNone/>
            </a:pPr>
            <a:r>
              <a:rPr lang="en-US" sz="1050" b="1" spc="38" kern="0" dirty="0">
                <a:solidFill>
                  <a:srgbClr val="92400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경쟁 진행</a:t>
            </a:r>
            <a:endParaRPr lang="en-US" sz="1050" dirty="0"/>
          </a:p>
        </p:txBody>
      </p:sp>
      <p:sp>
        <p:nvSpPr>
          <p:cNvPr id="45" name="Text 43"/>
          <p:cNvSpPr/>
          <p:nvPr/>
        </p:nvSpPr>
        <p:spPr>
          <a:xfrm>
            <a:off x="8456116" y="4343400"/>
            <a:ext cx="9096711" cy="2571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55000"/>
              </a:lnSpc>
              <a:buNone/>
            </a:pPr>
            <a:r>
              <a:rPr lang="en-US" sz="1125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GPU 직접 I/O 제어 · 목표 </a:t>
            </a:r>
            <a:pPr algn="l" indent="0" marL="0">
              <a:lnSpc>
                <a:spcPct val="155000"/>
              </a:lnSpc>
              <a:buNone/>
            </a:pPr>
            <a:r>
              <a:rPr lang="en-US" sz="1125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1억 IOPS </a:t>
            </a:r>
            <a:pPr algn="l" indent="0" marL="0">
              <a:lnSpc>
                <a:spcPct val="155000"/>
              </a:lnSpc>
              <a:buNone/>
            </a:pPr>
            <a:r>
              <a:rPr lang="en-US" sz="1125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· SK · Kioxia 선점 위협</a:t>
            </a:r>
            <a:endParaRPr lang="en-US" sz="1125" dirty="0"/>
          </a:p>
        </p:txBody>
      </p:sp>
      <p:sp>
        <p:nvSpPr>
          <p:cNvPr id="46" name="Shape 44"/>
          <p:cNvSpPr/>
          <p:nvPr/>
        </p:nvSpPr>
        <p:spPr>
          <a:xfrm>
            <a:off x="8179891" y="4895850"/>
            <a:ext cx="9346109" cy="97155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47" name="Shape 45"/>
          <p:cNvSpPr/>
          <p:nvPr/>
        </p:nvSpPr>
        <p:spPr>
          <a:xfrm>
            <a:off x="8179891" y="5857875"/>
            <a:ext cx="9346109" cy="9525"/>
          </a:xfrm>
          <a:prstGeom prst="rect">
            <a:avLst/>
          </a:prstGeom>
          <a:solidFill>
            <a:srgbClr val="D1D5DB"/>
          </a:solidFill>
          <a:ln/>
        </p:spPr>
      </p:sp>
      <p:sp>
        <p:nvSpPr>
          <p:cNvPr id="48" name="Shape 46"/>
          <p:cNvSpPr/>
          <p:nvPr/>
        </p:nvSpPr>
        <p:spPr>
          <a:xfrm>
            <a:off x="8179891" y="4895850"/>
            <a:ext cx="9346109" cy="9525"/>
          </a:xfrm>
          <a:prstGeom prst="rect">
            <a:avLst/>
          </a:prstGeom>
          <a:solidFill>
            <a:srgbClr val="D1D5DB"/>
          </a:solidFill>
          <a:ln/>
        </p:spPr>
      </p:sp>
      <p:sp>
        <p:nvSpPr>
          <p:cNvPr id="49" name="Shape 47"/>
          <p:cNvSpPr/>
          <p:nvPr/>
        </p:nvSpPr>
        <p:spPr>
          <a:xfrm>
            <a:off x="8179891" y="4895850"/>
            <a:ext cx="47625" cy="971550"/>
          </a:xfrm>
          <a:prstGeom prst="rect">
            <a:avLst/>
          </a:prstGeom>
          <a:solidFill>
            <a:srgbClr val="1428A0"/>
          </a:solidFill>
          <a:ln/>
        </p:spPr>
      </p:sp>
      <p:sp>
        <p:nvSpPr>
          <p:cNvPr id="50" name="Shape 48"/>
          <p:cNvSpPr/>
          <p:nvPr/>
        </p:nvSpPr>
        <p:spPr>
          <a:xfrm>
            <a:off x="17516475" y="4895850"/>
            <a:ext cx="9525" cy="971550"/>
          </a:xfrm>
          <a:prstGeom prst="rect">
            <a:avLst/>
          </a:prstGeom>
          <a:solidFill>
            <a:srgbClr val="D1D5DB"/>
          </a:solidFill>
          <a:ln/>
        </p:spPr>
      </p:sp>
      <p:sp>
        <p:nvSpPr>
          <p:cNvPr id="51" name="Text 49"/>
          <p:cNvSpPr/>
          <p:nvPr/>
        </p:nvSpPr>
        <p:spPr>
          <a:xfrm>
            <a:off x="8456116" y="5095875"/>
            <a:ext cx="2237780" cy="2762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0000"/>
              </a:lnSpc>
              <a:buNone/>
            </a:pPr>
            <a:r>
              <a:rPr lang="en-US" sz="1350" b="1" dirty="0">
                <a:solidFill>
                  <a:srgbClr val="1428A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CMX — NVIDIA Vera Rubin</a:t>
            </a:r>
            <a:endParaRPr lang="en-US" sz="1350" dirty="0"/>
          </a:p>
        </p:txBody>
      </p:sp>
      <p:sp>
        <p:nvSpPr>
          <p:cNvPr id="52" name="Shape 50"/>
          <p:cNvSpPr/>
          <p:nvPr/>
        </p:nvSpPr>
        <p:spPr>
          <a:xfrm>
            <a:off x="16394757" y="5105400"/>
            <a:ext cx="893118" cy="266700"/>
          </a:xfrm>
          <a:prstGeom prst="roundRect">
            <a:avLst>
              <a:gd name="adj" fmla="val 50000"/>
            </a:avLst>
          </a:prstGeom>
          <a:solidFill>
            <a:srgbClr val="D1FAE5"/>
          </a:solidFill>
          <a:ln/>
        </p:spPr>
      </p:sp>
      <p:sp>
        <p:nvSpPr>
          <p:cNvPr id="53" name="Text 51"/>
          <p:cNvSpPr/>
          <p:nvPr/>
        </p:nvSpPr>
        <p:spPr>
          <a:xfrm>
            <a:off x="16528107" y="5105400"/>
            <a:ext cx="702618" cy="3048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algn="l" indent="0" marL="0">
              <a:lnSpc>
                <a:spcPct val="140000"/>
              </a:lnSpc>
              <a:buNone/>
            </a:pPr>
            <a:r>
              <a:rPr lang="en-US" sz="1050" b="1" spc="38" kern="0" dirty="0">
                <a:solidFill>
                  <a:srgbClr val="065F4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VERIFIED</a:t>
            </a:r>
            <a:endParaRPr lang="en-US" sz="1050" dirty="0"/>
          </a:p>
        </p:txBody>
      </p:sp>
      <p:sp>
        <p:nvSpPr>
          <p:cNvPr id="54" name="Text 52"/>
          <p:cNvSpPr/>
          <p:nvPr/>
        </p:nvSpPr>
        <p:spPr>
          <a:xfrm>
            <a:off x="8456116" y="5448300"/>
            <a:ext cx="9096711" cy="2571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55000"/>
              </a:lnSpc>
              <a:buNone/>
            </a:pPr>
            <a:r>
              <a:rPr lang="en-US" sz="1125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KV 캐시 G3.5 계층 · PM1763 Gen6 시연 · </a:t>
            </a:r>
            <a:pPr algn="l" indent="0" marL="0">
              <a:lnSpc>
                <a:spcPct val="155000"/>
              </a:lnSpc>
              <a:buNone/>
            </a:pPr>
            <a:r>
              <a:rPr lang="en-US" sz="1125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40%+ 점유 목표 </a:t>
            </a:r>
            <a:pPr algn="l" indent="0" marL="0">
              <a:lnSpc>
                <a:spcPct val="155000"/>
              </a:lnSpc>
              <a:buNone/>
            </a:pPr>
            <a:r>
              <a:rPr lang="en-US" sz="1125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(2028)</a:t>
            </a:r>
            <a:endParaRPr lang="en-US" sz="1125" dirty="0"/>
          </a:p>
        </p:txBody>
      </p:sp>
      <p:sp>
        <p:nvSpPr>
          <p:cNvPr id="55" name="Shape 53"/>
          <p:cNvSpPr/>
          <p:nvPr/>
        </p:nvSpPr>
        <p:spPr>
          <a:xfrm>
            <a:off x="8179891" y="6019800"/>
            <a:ext cx="9346109" cy="1143000"/>
          </a:xfrm>
          <a:prstGeom prst="rect">
            <a:avLst/>
          </a:prstGeom>
          <a:solidFill>
            <a:srgbClr val="D97706"/>
          </a:solidFill>
          <a:ln/>
        </p:spPr>
      </p:sp>
      <p:sp>
        <p:nvSpPr>
          <p:cNvPr id="56" name="Text 54"/>
          <p:cNvSpPr/>
          <p:nvPr/>
        </p:nvSpPr>
        <p:spPr>
          <a:xfrm>
            <a:off x="8408491" y="6210300"/>
            <a:ext cx="9155576" cy="2190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0000"/>
              </a:lnSpc>
              <a:buNone/>
            </a:pPr>
            <a:r>
              <a:rPr lang="en-US" sz="1050" b="1" spc="150" kern="0" dirty="0">
                <a:solidFill>
                  <a:srgbClr val="FFFFFF">
                    <a:alpha val="90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BUSINESS MODEL SHIFT</a:t>
            </a:r>
            <a:endParaRPr lang="en-US" sz="1050" dirty="0"/>
          </a:p>
        </p:txBody>
      </p:sp>
      <p:sp>
        <p:nvSpPr>
          <p:cNvPr id="57" name="Text 55"/>
          <p:cNvSpPr/>
          <p:nvPr/>
        </p:nvSpPr>
        <p:spPr>
          <a:xfrm>
            <a:off x="8408491" y="6448425"/>
            <a:ext cx="9155576" cy="3048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000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HW 판매 → SW 구독 (Tesla FSD 모델)</a:t>
            </a:r>
            <a:endParaRPr lang="en-US" sz="1500" dirty="0"/>
          </a:p>
        </p:txBody>
      </p:sp>
      <p:sp>
        <p:nvSpPr>
          <p:cNvPr id="58" name="Text 56"/>
          <p:cNvSpPr/>
          <p:nvPr/>
        </p:nvSpPr>
        <p:spPr>
          <a:xfrm>
            <a:off x="8408491" y="6772275"/>
            <a:ext cx="9155576" cy="2381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0000"/>
              </a:lnSpc>
              <a:buNone/>
            </a:pPr>
            <a:r>
              <a:rPr lang="en-US" sz="1125" dirty="0">
                <a:solidFill>
                  <a:srgbClr val="6B7280">
                    <a:alpha val="90000"/>
                  </a:srgbClr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Marriott Asset-Light 차용 · 2030년 SW 매출 목표 </a:t>
            </a:r>
            <a:pPr algn="l" indent="0" marL="0">
              <a:lnSpc>
                <a:spcPct val="140000"/>
              </a:lnSpc>
              <a:buNone/>
            </a:pPr>
            <a:r>
              <a:rPr lang="en-US" sz="1125" b="1" dirty="0">
                <a:solidFill>
                  <a:srgbClr val="6B7280">
                    <a:alpha val="90000"/>
                  </a:srgbClr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$5B / 년</a:t>
            </a:r>
            <a:endParaRPr lang="en-US" sz="1125" dirty="0"/>
          </a:p>
        </p:txBody>
      </p:sp>
      <p:sp>
        <p:nvSpPr>
          <p:cNvPr id="59" name="Shape 57"/>
          <p:cNvSpPr/>
          <p:nvPr/>
        </p:nvSpPr>
        <p:spPr>
          <a:xfrm>
            <a:off x="762000" y="9667875"/>
            <a:ext cx="16764000" cy="9525"/>
          </a:xfrm>
          <a:prstGeom prst="rect">
            <a:avLst/>
          </a:prstGeom>
          <a:solidFill>
            <a:srgbClr val="D1D5DB"/>
          </a:solidFill>
          <a:ln/>
        </p:spPr>
      </p:sp>
      <p:sp>
        <p:nvSpPr>
          <p:cNvPr id="60" name="Text 58"/>
          <p:cNvSpPr/>
          <p:nvPr/>
        </p:nvSpPr>
        <p:spPr>
          <a:xfrm>
            <a:off x="762000" y="9891713"/>
            <a:ext cx="1810941" cy="2190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0000"/>
              </a:lnSpc>
              <a:buNone/>
            </a:pPr>
            <a:r>
              <a:rPr lang="en-US" sz="1050" spc="38" kern="0" dirty="0">
                <a:solidFill>
                  <a:srgbClr val="6B72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삼성전자 </a:t>
            </a:r>
            <a:pPr algn="l" indent="0" marL="0">
              <a:lnSpc>
                <a:spcPct val="140000"/>
              </a:lnSpc>
              <a:buNone/>
            </a:pPr>
            <a:r>
              <a:rPr lang="en-US" sz="1050" b="1" spc="38" kern="0" dirty="0">
                <a:solidFill>
                  <a:srgbClr val="1428A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| </a:t>
            </a:r>
            <a:pPr algn="l" indent="0" marL="0">
              <a:lnSpc>
                <a:spcPct val="140000"/>
              </a:lnSpc>
              <a:buNone/>
            </a:pPr>
            <a:r>
              <a:rPr lang="en-US" sz="1050" spc="38" kern="0" dirty="0">
                <a:solidFill>
                  <a:srgbClr val="6B72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STEP 6 · ROBUST</a:t>
            </a:r>
            <a:endParaRPr lang="en-US" sz="1050" dirty="0"/>
          </a:p>
        </p:txBody>
      </p:sp>
      <p:sp>
        <p:nvSpPr>
          <p:cNvPr id="61" name="Text 59"/>
          <p:cNvSpPr/>
          <p:nvPr/>
        </p:nvSpPr>
        <p:spPr>
          <a:xfrm>
            <a:off x="17023705" y="9891713"/>
            <a:ext cx="578495" cy="2190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0000"/>
              </a:lnSpc>
              <a:buNone/>
            </a:pPr>
            <a:r>
              <a:rPr lang="en-US" sz="1050" spc="38" kern="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 / 26</a:t>
            </a:r>
            <a:endParaRPr lang="en-US" sz="105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62000" y="533400"/>
            <a:ext cx="17266920" cy="2762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algn="l" indent="0" marL="0">
              <a:lnSpc>
                <a:spcPct val="140000"/>
              </a:lnSpc>
              <a:buNone/>
            </a:pPr>
            <a:r>
              <a:rPr lang="en-US" sz="1350" spc="150" kern="0" dirty="0">
                <a:solidFill>
                  <a:srgbClr val="1428A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STEP 6 · ROBUST 전략 (4 / 5) · RS-5</a:t>
            </a:r>
            <a:endParaRPr lang="en-US" sz="1350" dirty="0"/>
          </a:p>
        </p:txBody>
      </p:sp>
      <p:sp>
        <p:nvSpPr>
          <p:cNvPr id="3" name="Text 1"/>
          <p:cNvSpPr/>
          <p:nvPr/>
        </p:nvSpPr>
        <p:spPr>
          <a:xfrm>
            <a:off x="762000" y="885825"/>
            <a:ext cx="17266920" cy="5619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3300" b="1" spc="-37" kern="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호황기 절제와 다운턴 사수는 같은 거버넌스에서 나온다</a:t>
            </a:r>
            <a:endParaRPr lang="en-US" sz="3300" dirty="0"/>
          </a:p>
        </p:txBody>
      </p:sp>
      <p:sp>
        <p:nvSpPr>
          <p:cNvPr id="4" name="Text 2"/>
          <p:cNvSpPr/>
          <p:nvPr/>
        </p:nvSpPr>
        <p:spPr>
          <a:xfrm>
            <a:off x="762000" y="1524000"/>
            <a:ext cx="14716125" cy="3524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50000"/>
              </a:lnSpc>
              <a:buNone/>
            </a:pPr>
            <a:r>
              <a:rPr lang="en-US" sz="1650" dirty="0">
                <a:solidFill>
                  <a:srgbClr val="6B72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RS-5 · 재무 규율 + 다운사이클 capex 하한 — 사이클 양 끝의 함정 동시 차단 · Nucor · ExxonMobil 모델</a:t>
            </a:r>
            <a:endParaRPr lang="en-US" sz="1650" dirty="0"/>
          </a:p>
        </p:txBody>
      </p:sp>
      <p:sp>
        <p:nvSpPr>
          <p:cNvPr id="5" name="Shape 3"/>
          <p:cNvSpPr/>
          <p:nvPr/>
        </p:nvSpPr>
        <p:spPr>
          <a:xfrm>
            <a:off x="762000" y="2286000"/>
            <a:ext cx="16764000" cy="4057650"/>
          </a:xfrm>
          <a:prstGeom prst="rect">
            <a:avLst/>
          </a:prstGeom>
          <a:solidFill>
            <a:srgbClr val="FFFFFF"/>
          </a:solidFill>
          <a:ln w="9525">
            <a:solidFill>
              <a:srgbClr val="D1D5DB"/>
            </a:solidFill>
            <a:prstDash val="solid"/>
          </a:ln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76325" y="2600325"/>
            <a:ext cx="16135350" cy="342900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762000" y="6572250"/>
            <a:ext cx="8267700" cy="25146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8" name="Shape 5"/>
          <p:cNvSpPr/>
          <p:nvPr/>
        </p:nvSpPr>
        <p:spPr>
          <a:xfrm>
            <a:off x="762000" y="9077325"/>
            <a:ext cx="8267700" cy="9525"/>
          </a:xfrm>
          <a:prstGeom prst="rect">
            <a:avLst/>
          </a:prstGeom>
          <a:solidFill>
            <a:srgbClr val="D1D5DB"/>
          </a:solidFill>
          <a:ln/>
        </p:spPr>
      </p:sp>
      <p:sp>
        <p:nvSpPr>
          <p:cNvPr id="9" name="Shape 6"/>
          <p:cNvSpPr/>
          <p:nvPr/>
        </p:nvSpPr>
        <p:spPr>
          <a:xfrm>
            <a:off x="762000" y="6572250"/>
            <a:ext cx="8267700" cy="38100"/>
          </a:xfrm>
          <a:prstGeom prst="rect">
            <a:avLst/>
          </a:prstGeom>
          <a:solidFill>
            <a:srgbClr val="D97706"/>
          </a:solidFill>
          <a:ln/>
        </p:spPr>
      </p:sp>
      <p:sp>
        <p:nvSpPr>
          <p:cNvPr id="10" name="Shape 7"/>
          <p:cNvSpPr/>
          <p:nvPr/>
        </p:nvSpPr>
        <p:spPr>
          <a:xfrm>
            <a:off x="762000" y="6572250"/>
            <a:ext cx="9525" cy="2514600"/>
          </a:xfrm>
          <a:prstGeom prst="rect">
            <a:avLst/>
          </a:prstGeom>
          <a:solidFill>
            <a:srgbClr val="D1D5DB"/>
          </a:solidFill>
          <a:ln/>
        </p:spPr>
      </p:sp>
      <p:sp>
        <p:nvSpPr>
          <p:cNvPr id="11" name="Shape 8"/>
          <p:cNvSpPr/>
          <p:nvPr/>
        </p:nvSpPr>
        <p:spPr>
          <a:xfrm>
            <a:off x="9020175" y="6572250"/>
            <a:ext cx="9525" cy="2514600"/>
          </a:xfrm>
          <a:prstGeom prst="rect">
            <a:avLst/>
          </a:prstGeom>
          <a:solidFill>
            <a:srgbClr val="D1D5DB"/>
          </a:solidFill>
          <a:ln/>
        </p:spPr>
      </p:sp>
      <p:sp>
        <p:nvSpPr>
          <p:cNvPr id="12" name="Text 9"/>
          <p:cNvSpPr/>
          <p:nvPr/>
        </p:nvSpPr>
        <p:spPr>
          <a:xfrm>
            <a:off x="1038225" y="6838950"/>
            <a:ext cx="7946708" cy="2190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0000"/>
              </a:lnSpc>
              <a:buNone/>
            </a:pPr>
            <a:r>
              <a:rPr lang="en-US" sz="1050" b="1" spc="150" kern="0" dirty="0">
                <a:solidFill>
                  <a:srgbClr val="D9770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호황기 절제 · 지출 통제</a:t>
            </a:r>
            <a:endParaRPr lang="en-US" sz="1050" dirty="0"/>
          </a:p>
        </p:txBody>
      </p:sp>
      <p:sp>
        <p:nvSpPr>
          <p:cNvPr id="13" name="Text 10"/>
          <p:cNvSpPr/>
          <p:nvPr/>
        </p:nvSpPr>
        <p:spPr>
          <a:xfrm>
            <a:off x="1038225" y="7096125"/>
            <a:ext cx="7946708" cy="3238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0000"/>
              </a:lnSpc>
              <a:buNone/>
            </a:pPr>
            <a:r>
              <a:rPr lang="en-US" sz="165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재무 규율</a:t>
            </a:r>
            <a:endParaRPr lang="en-US" sz="1650" dirty="0"/>
          </a:p>
        </p:txBody>
      </p:sp>
      <p:sp>
        <p:nvSpPr>
          <p:cNvPr id="14" name="Text 11"/>
          <p:cNvSpPr/>
          <p:nvPr/>
        </p:nvSpPr>
        <p:spPr>
          <a:xfrm>
            <a:off x="1122045" y="7515225"/>
            <a:ext cx="7857172" cy="3048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marL="106680" indent="-106680">
              <a:lnSpc>
                <a:spcPct val="180000"/>
              </a:lnSpc>
              <a:buSzPct val="100000"/>
              <a:buChar char="•"/>
              <a:tabLst>
                <a:tab pos="106680" algn="l"/>
              </a:tabLst>
            </a:pPr>
            <a:r>
              <a:rPr lang="en-US" sz="12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재고일수 상한 (DDR5 60일 · HBM 45일)</a:t>
            </a:r>
            <a:endParaRPr lang="en-US" sz="1200" dirty="0"/>
          </a:p>
        </p:txBody>
      </p:sp>
      <p:sp>
        <p:nvSpPr>
          <p:cNvPr id="15" name="Text 12"/>
          <p:cNvSpPr/>
          <p:nvPr/>
        </p:nvSpPr>
        <p:spPr>
          <a:xfrm>
            <a:off x="1122045" y="7781925"/>
            <a:ext cx="7857172" cy="3048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marL="106680" indent="-106680">
              <a:lnSpc>
                <a:spcPct val="180000"/>
              </a:lnSpc>
              <a:buSzPct val="100000"/>
              <a:buChar char="•"/>
            </a:pPr>
            <a:r>
              <a:rPr lang="en-US" sz="12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LTA 없는 신규 캐파 </a:t>
            </a:r>
            <a:pPr algn="l" indent="0" marL="0">
              <a:lnSpc>
                <a:spcPct val="180000"/>
              </a:lnSpc>
              <a:buNone/>
            </a:pPr>
            <a:r>
              <a:rPr lang="en-US" sz="120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금지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1122045" y="8048625"/>
            <a:ext cx="7857172" cy="3048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marL="106680" indent="-106680">
              <a:lnSpc>
                <a:spcPct val="180000"/>
              </a:lnSpc>
              <a:buSzPct val="100000"/>
              <a:buChar char="•"/>
              <a:tabLst>
                <a:tab pos="106680" algn="l"/>
              </a:tabLst>
            </a:pPr>
            <a:r>
              <a:rPr lang="en-US" sz="12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EBITDA → FCF 중심 의사결정</a:t>
            </a:r>
            <a:endParaRPr lang="en-US" sz="1200" dirty="0"/>
          </a:p>
        </p:txBody>
      </p:sp>
      <p:sp>
        <p:nvSpPr>
          <p:cNvPr id="17" name="Text 14"/>
          <p:cNvSpPr/>
          <p:nvPr/>
        </p:nvSpPr>
        <p:spPr>
          <a:xfrm>
            <a:off x="1122045" y="8315325"/>
            <a:ext cx="7857172" cy="3048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marL="106680" indent="-106680">
              <a:lnSpc>
                <a:spcPct val="180000"/>
              </a:lnSpc>
              <a:buSzPct val="100000"/>
              <a:buChar char="•"/>
              <a:tabLst>
                <a:tab pos="106680" algn="l"/>
              </a:tabLst>
            </a:pPr>
            <a:r>
              <a:rPr lang="en-US" sz="12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피크 capex 증거 기반 승인</a:t>
            </a:r>
            <a:endParaRPr lang="en-US" sz="1200" dirty="0"/>
          </a:p>
        </p:txBody>
      </p:sp>
      <p:sp>
        <p:nvSpPr>
          <p:cNvPr id="18" name="Shape 15"/>
          <p:cNvSpPr/>
          <p:nvPr/>
        </p:nvSpPr>
        <p:spPr>
          <a:xfrm>
            <a:off x="9258300" y="6572250"/>
            <a:ext cx="8267700" cy="25146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9" name="Shape 16"/>
          <p:cNvSpPr/>
          <p:nvPr/>
        </p:nvSpPr>
        <p:spPr>
          <a:xfrm>
            <a:off x="9258300" y="9077325"/>
            <a:ext cx="8267700" cy="9525"/>
          </a:xfrm>
          <a:prstGeom prst="rect">
            <a:avLst/>
          </a:prstGeom>
          <a:solidFill>
            <a:srgbClr val="D1D5DB"/>
          </a:solidFill>
          <a:ln/>
        </p:spPr>
      </p:sp>
      <p:sp>
        <p:nvSpPr>
          <p:cNvPr id="20" name="Shape 17"/>
          <p:cNvSpPr/>
          <p:nvPr/>
        </p:nvSpPr>
        <p:spPr>
          <a:xfrm>
            <a:off x="9258300" y="6572250"/>
            <a:ext cx="8267700" cy="38100"/>
          </a:xfrm>
          <a:prstGeom prst="rect">
            <a:avLst/>
          </a:prstGeom>
          <a:solidFill>
            <a:srgbClr val="DC2626"/>
          </a:solidFill>
          <a:ln/>
        </p:spPr>
      </p:sp>
      <p:sp>
        <p:nvSpPr>
          <p:cNvPr id="21" name="Shape 18"/>
          <p:cNvSpPr/>
          <p:nvPr/>
        </p:nvSpPr>
        <p:spPr>
          <a:xfrm>
            <a:off x="9258300" y="6572250"/>
            <a:ext cx="9525" cy="2514600"/>
          </a:xfrm>
          <a:prstGeom prst="rect">
            <a:avLst/>
          </a:prstGeom>
          <a:solidFill>
            <a:srgbClr val="D1D5DB"/>
          </a:solidFill>
          <a:ln/>
        </p:spPr>
      </p:sp>
      <p:sp>
        <p:nvSpPr>
          <p:cNvPr id="22" name="Shape 19"/>
          <p:cNvSpPr/>
          <p:nvPr/>
        </p:nvSpPr>
        <p:spPr>
          <a:xfrm>
            <a:off x="17516475" y="6572250"/>
            <a:ext cx="9525" cy="2514600"/>
          </a:xfrm>
          <a:prstGeom prst="rect">
            <a:avLst/>
          </a:prstGeom>
          <a:solidFill>
            <a:srgbClr val="D1D5DB"/>
          </a:solidFill>
          <a:ln/>
        </p:spPr>
      </p:sp>
      <p:sp>
        <p:nvSpPr>
          <p:cNvPr id="23" name="Text 20"/>
          <p:cNvSpPr/>
          <p:nvPr/>
        </p:nvSpPr>
        <p:spPr>
          <a:xfrm>
            <a:off x="9534525" y="6838950"/>
            <a:ext cx="7946708" cy="2190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0000"/>
              </a:lnSpc>
              <a:buNone/>
            </a:pPr>
            <a:r>
              <a:rPr lang="en-US" sz="1050" b="1" spc="150" kern="0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다운사이클 사수 · Nucor</a:t>
            </a:r>
            <a:endParaRPr lang="en-US" sz="1050" dirty="0"/>
          </a:p>
        </p:txBody>
      </p:sp>
      <p:sp>
        <p:nvSpPr>
          <p:cNvPr id="24" name="Text 21"/>
          <p:cNvSpPr/>
          <p:nvPr/>
        </p:nvSpPr>
        <p:spPr>
          <a:xfrm>
            <a:off x="9534525" y="7096125"/>
            <a:ext cx="7946708" cy="3238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0000"/>
              </a:lnSpc>
              <a:buNone/>
            </a:pPr>
            <a:r>
              <a:rPr lang="en-US" sz="165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Capex 하한</a:t>
            </a:r>
            <a:endParaRPr lang="en-US" sz="1650" dirty="0"/>
          </a:p>
        </p:txBody>
      </p:sp>
      <p:sp>
        <p:nvSpPr>
          <p:cNvPr id="25" name="Text 22"/>
          <p:cNvSpPr/>
          <p:nvPr/>
        </p:nvSpPr>
        <p:spPr>
          <a:xfrm>
            <a:off x="9618345" y="7515225"/>
            <a:ext cx="7857172" cy="5715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marL="106680" indent="-106680">
              <a:lnSpc>
                <a:spcPct val="180000"/>
              </a:lnSpc>
              <a:buSzPct val="100000"/>
              <a:buChar char="•"/>
            </a:pPr>
            <a:r>
              <a:rPr lang="en-US" sz="12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HBM 차세대 R&amp;D + 패키징 + 3D DRAM </a:t>
            </a:r>
            <a:pPr algn="l" indent="0" marL="0">
              <a:lnSpc>
                <a:spcPct val="180000"/>
              </a:lnSpc>
              <a:buNone/>
            </a:pPr>
            <a:r>
              <a:rPr lang="en-US" sz="120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합산 4조원/년 삭감 불가</a:t>
            </a:r>
            <a:endParaRPr lang="en-US" sz="1200" dirty="0"/>
          </a:p>
        </p:txBody>
      </p:sp>
      <p:sp>
        <p:nvSpPr>
          <p:cNvPr id="26" name="Text 23"/>
          <p:cNvSpPr/>
          <p:nvPr/>
        </p:nvSpPr>
        <p:spPr>
          <a:xfrm>
            <a:off x="9618345" y="8048625"/>
            <a:ext cx="7857172" cy="5715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marL="106680" indent="-106680">
              <a:lnSpc>
                <a:spcPct val="180000"/>
              </a:lnSpc>
              <a:buSzPct val="100000"/>
              <a:buChar char="•"/>
            </a:pPr>
            <a:r>
              <a:rPr lang="en-US" sz="12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활동가 투자자 압박 대비 </a:t>
            </a:r>
            <a:pPr algn="l" indent="0" marL="0">
              <a:lnSpc>
                <a:spcPct val="180000"/>
              </a:lnSpc>
              <a:buNone/>
            </a:pPr>
            <a:r>
              <a:rPr lang="en-US" sz="120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"장기 가치 우선 의결권 구조"</a:t>
            </a:r>
            <a:endParaRPr lang="en-US" sz="1200" dirty="0"/>
          </a:p>
        </p:txBody>
      </p:sp>
      <p:sp>
        <p:nvSpPr>
          <p:cNvPr id="27" name="Text 24"/>
          <p:cNvSpPr/>
          <p:nvPr/>
        </p:nvSpPr>
        <p:spPr>
          <a:xfrm>
            <a:off x="9618345" y="8582025"/>
            <a:ext cx="7857172" cy="3048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marL="106680" indent="-106680">
              <a:lnSpc>
                <a:spcPct val="180000"/>
              </a:lnSpc>
              <a:buSzPct val="100000"/>
              <a:buChar char="•"/>
              <a:tabLst>
                <a:tab pos="106680" algn="l"/>
              </a:tabLst>
            </a:pPr>
            <a:r>
              <a:rPr lang="en-US" sz="12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ExxonMobil 활동가 견딘 모델</a:t>
            </a:r>
            <a:endParaRPr lang="en-US" sz="1200" dirty="0"/>
          </a:p>
        </p:txBody>
      </p:sp>
      <p:sp>
        <p:nvSpPr>
          <p:cNvPr id="28" name="Shape 25"/>
          <p:cNvSpPr/>
          <p:nvPr/>
        </p:nvSpPr>
        <p:spPr>
          <a:xfrm>
            <a:off x="762000" y="9315450"/>
            <a:ext cx="16764000" cy="685800"/>
          </a:xfrm>
          <a:prstGeom prst="rect">
            <a:avLst/>
          </a:prstGeom>
          <a:solidFill>
            <a:srgbClr val="FEF3C7"/>
          </a:solidFill>
          <a:ln/>
        </p:spPr>
      </p:sp>
      <p:sp>
        <p:nvSpPr>
          <p:cNvPr id="29" name="Shape 26"/>
          <p:cNvSpPr/>
          <p:nvPr/>
        </p:nvSpPr>
        <p:spPr>
          <a:xfrm>
            <a:off x="762000" y="9315450"/>
            <a:ext cx="57150" cy="685800"/>
          </a:xfrm>
          <a:prstGeom prst="rect">
            <a:avLst/>
          </a:prstGeom>
          <a:solidFill>
            <a:srgbClr val="D97706"/>
          </a:solidFill>
          <a:ln/>
        </p:spPr>
      </p:sp>
      <p:sp>
        <p:nvSpPr>
          <p:cNvPr id="30" name="Shape 27"/>
          <p:cNvSpPr/>
          <p:nvPr/>
        </p:nvSpPr>
        <p:spPr>
          <a:xfrm>
            <a:off x="1085850" y="9505950"/>
            <a:ext cx="997148" cy="304800"/>
          </a:xfrm>
          <a:prstGeom prst="rect">
            <a:avLst/>
          </a:prstGeom>
          <a:solidFill>
            <a:srgbClr val="D97706"/>
          </a:solidFill>
          <a:ln/>
        </p:spPr>
      </p:sp>
      <p:sp>
        <p:nvSpPr>
          <p:cNvPr id="31" name="Text 28"/>
          <p:cNvSpPr/>
          <p:nvPr/>
        </p:nvSpPr>
        <p:spPr>
          <a:xfrm>
            <a:off x="1219200" y="9563100"/>
            <a:ext cx="806648" cy="2286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5000"/>
              </a:lnSpc>
              <a:buNone/>
            </a:pPr>
            <a:r>
              <a:rPr lang="en-US" sz="1050" b="1" spc="150" kern="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SO WHAT</a:t>
            </a:r>
            <a:endParaRPr lang="en-US" sz="1050" dirty="0"/>
          </a:p>
        </p:txBody>
      </p:sp>
      <p:sp>
        <p:nvSpPr>
          <p:cNvPr id="32" name="Text 29"/>
          <p:cNvSpPr/>
          <p:nvPr/>
        </p:nvSpPr>
        <p:spPr>
          <a:xfrm>
            <a:off x="2273498" y="9520238"/>
            <a:ext cx="6272595" cy="3143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5000"/>
              </a:lnSpc>
              <a:buNone/>
            </a:pPr>
            <a:r>
              <a:rPr lang="en-US" sz="15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호황기 절제와 다운턴 사수가 </a:t>
            </a:r>
            <a:pPr algn="l" indent="0" marL="0">
              <a:lnSpc>
                <a:spcPct val="145000"/>
              </a:lnSpc>
              <a:buNone/>
            </a:pPr>
            <a:r>
              <a:rPr lang="en-US" sz="150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동일 거버넌스 </a:t>
            </a:r>
            <a:pPr algn="l" indent="0" marL="0">
              <a:lnSpc>
                <a:spcPct val="145000"/>
              </a:lnSpc>
              <a:buNone/>
            </a:pPr>
            <a:r>
              <a:rPr lang="en-US" sz="15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— 투자자 인지·이사회 결의 일관성</a:t>
            </a:r>
            <a:endParaRPr lang="en-US" sz="1500" dirty="0"/>
          </a:p>
        </p:txBody>
      </p:sp>
      <p:sp>
        <p:nvSpPr>
          <p:cNvPr id="33" name="Shape 30"/>
          <p:cNvSpPr/>
          <p:nvPr/>
        </p:nvSpPr>
        <p:spPr>
          <a:xfrm>
            <a:off x="762000" y="9667875"/>
            <a:ext cx="16764000" cy="9525"/>
          </a:xfrm>
          <a:prstGeom prst="rect">
            <a:avLst/>
          </a:prstGeom>
          <a:solidFill>
            <a:srgbClr val="D1D5DB"/>
          </a:solidFill>
          <a:ln/>
        </p:spPr>
      </p:sp>
      <p:sp>
        <p:nvSpPr>
          <p:cNvPr id="34" name="Text 31"/>
          <p:cNvSpPr/>
          <p:nvPr/>
        </p:nvSpPr>
        <p:spPr>
          <a:xfrm>
            <a:off x="762000" y="9891713"/>
            <a:ext cx="1810941" cy="2190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0000"/>
              </a:lnSpc>
              <a:buNone/>
            </a:pPr>
            <a:r>
              <a:rPr lang="en-US" sz="1050" spc="38" kern="0" dirty="0">
                <a:solidFill>
                  <a:srgbClr val="6B72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삼성전자 </a:t>
            </a:r>
            <a:pPr algn="l" indent="0" marL="0">
              <a:lnSpc>
                <a:spcPct val="140000"/>
              </a:lnSpc>
              <a:buNone/>
            </a:pPr>
            <a:r>
              <a:rPr lang="en-US" sz="1050" b="1" spc="38" kern="0" dirty="0">
                <a:solidFill>
                  <a:srgbClr val="1428A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| </a:t>
            </a:r>
            <a:pPr algn="l" indent="0" marL="0">
              <a:lnSpc>
                <a:spcPct val="140000"/>
              </a:lnSpc>
              <a:buNone/>
            </a:pPr>
            <a:r>
              <a:rPr lang="en-US" sz="1050" spc="38" kern="0" dirty="0">
                <a:solidFill>
                  <a:srgbClr val="6B72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STEP 6 · ROBUST</a:t>
            </a:r>
            <a:endParaRPr lang="en-US" sz="1050" dirty="0"/>
          </a:p>
        </p:txBody>
      </p:sp>
      <p:sp>
        <p:nvSpPr>
          <p:cNvPr id="35" name="Text 32"/>
          <p:cNvSpPr/>
          <p:nvPr/>
        </p:nvSpPr>
        <p:spPr>
          <a:xfrm>
            <a:off x="17023705" y="9891713"/>
            <a:ext cx="578495" cy="2190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0000"/>
              </a:lnSpc>
              <a:buNone/>
            </a:pPr>
            <a:r>
              <a:rPr lang="en-US" sz="1050" spc="38" kern="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21 / 26</a:t>
            </a:r>
            <a:endParaRPr lang="en-US" sz="105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62000" y="533400"/>
            <a:ext cx="17266920" cy="2762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algn="l" indent="0" marL="0">
              <a:lnSpc>
                <a:spcPct val="140000"/>
              </a:lnSpc>
              <a:buNone/>
            </a:pPr>
            <a:r>
              <a:rPr lang="en-US" sz="1350" spc="150" kern="0" dirty="0">
                <a:solidFill>
                  <a:srgbClr val="1428A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STEP 6 · ROBUST 전략 (5 / 5) · RS-6 · NEW</a:t>
            </a:r>
            <a:endParaRPr lang="en-US" sz="1350" dirty="0"/>
          </a:p>
        </p:txBody>
      </p:sp>
      <p:sp>
        <p:nvSpPr>
          <p:cNvPr id="3" name="Text 1"/>
          <p:cNvSpPr/>
          <p:nvPr/>
        </p:nvSpPr>
        <p:spPr>
          <a:xfrm>
            <a:off x="762000" y="885825"/>
            <a:ext cx="17266920" cy="5619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3300" b="1" spc="-37" kern="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NAND는 layer 경쟁이 아니라 </a:t>
            </a:r>
            <a:pPr algn="l" indent="0" marL="0">
              <a:lnSpc>
                <a:spcPct val="125000"/>
              </a:lnSpc>
              <a:buNone/>
            </a:pPr>
            <a:r>
              <a:rPr lang="en-US" sz="3300" b="1" spc="-37" kern="0" dirty="0">
                <a:solidFill>
                  <a:srgbClr val="D9770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"주기 연장" </a:t>
            </a:r>
            <a:pPr algn="l" indent="0" marL="0">
              <a:lnSpc>
                <a:spcPct val="125000"/>
              </a:lnSpc>
              <a:buNone/>
            </a:pPr>
            <a:r>
              <a:rPr lang="en-US" sz="3300" b="1" spc="-37" kern="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경쟁이다</a:t>
            </a:r>
            <a:endParaRPr lang="en-US" sz="3300" dirty="0"/>
          </a:p>
        </p:txBody>
      </p:sp>
      <p:sp>
        <p:nvSpPr>
          <p:cNvPr id="4" name="Text 2"/>
          <p:cNvSpPr/>
          <p:nvPr/>
        </p:nvSpPr>
        <p:spPr>
          <a:xfrm>
            <a:off x="762000" y="1524000"/>
            <a:ext cx="14716125" cy="3524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50000"/>
              </a:lnSpc>
              <a:buNone/>
            </a:pPr>
            <a:r>
              <a:rPr lang="en-US" sz="1650" dirty="0">
                <a:solidFill>
                  <a:srgbClr val="6B72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양산 ramp 6개월 지연 = 누적 이익의 2/3 소실 (Weber/PSU) · 업계 4사 일제히 capex → process upgrade로 선회</a:t>
            </a:r>
            <a:endParaRPr lang="en-US" sz="1650" dirty="0"/>
          </a:p>
        </p:txBody>
      </p:sp>
      <p:sp>
        <p:nvSpPr>
          <p:cNvPr id="5" name="Text 3"/>
          <p:cNvSpPr/>
          <p:nvPr/>
        </p:nvSpPr>
        <p:spPr>
          <a:xfrm>
            <a:off x="762000" y="2286000"/>
            <a:ext cx="6298502" cy="3238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0000"/>
              </a:lnSpc>
              <a:buNone/>
            </a:pPr>
            <a:r>
              <a:rPr lang="en-US" sz="1650" b="1" spc="22" kern="0" dirty="0">
                <a:solidFill>
                  <a:srgbClr val="1428A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왜 지금 — 3가지 증거</a:t>
            </a:r>
            <a:endParaRPr lang="en-US" sz="1650" dirty="0"/>
          </a:p>
        </p:txBody>
      </p:sp>
      <p:sp>
        <p:nvSpPr>
          <p:cNvPr id="6" name="Shape 4"/>
          <p:cNvSpPr/>
          <p:nvPr/>
        </p:nvSpPr>
        <p:spPr>
          <a:xfrm>
            <a:off x="762000" y="2686050"/>
            <a:ext cx="6115050" cy="11430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7" name="Shape 5"/>
          <p:cNvSpPr/>
          <p:nvPr/>
        </p:nvSpPr>
        <p:spPr>
          <a:xfrm>
            <a:off x="762000" y="3819525"/>
            <a:ext cx="6115050" cy="9525"/>
          </a:xfrm>
          <a:prstGeom prst="rect">
            <a:avLst/>
          </a:prstGeom>
          <a:solidFill>
            <a:srgbClr val="D1D5DB"/>
          </a:solidFill>
          <a:ln/>
        </p:spPr>
      </p:sp>
      <p:sp>
        <p:nvSpPr>
          <p:cNvPr id="8" name="Shape 6"/>
          <p:cNvSpPr/>
          <p:nvPr/>
        </p:nvSpPr>
        <p:spPr>
          <a:xfrm>
            <a:off x="762000" y="2686050"/>
            <a:ext cx="6115050" cy="9525"/>
          </a:xfrm>
          <a:prstGeom prst="rect">
            <a:avLst/>
          </a:prstGeom>
          <a:solidFill>
            <a:srgbClr val="D1D5DB"/>
          </a:solidFill>
          <a:ln/>
        </p:spPr>
      </p:sp>
      <p:sp>
        <p:nvSpPr>
          <p:cNvPr id="9" name="Shape 7"/>
          <p:cNvSpPr/>
          <p:nvPr/>
        </p:nvSpPr>
        <p:spPr>
          <a:xfrm>
            <a:off x="762000" y="2686050"/>
            <a:ext cx="38100" cy="1143000"/>
          </a:xfrm>
          <a:prstGeom prst="rect">
            <a:avLst/>
          </a:prstGeom>
          <a:solidFill>
            <a:srgbClr val="DC2626"/>
          </a:solidFill>
          <a:ln/>
        </p:spPr>
      </p:sp>
      <p:sp>
        <p:nvSpPr>
          <p:cNvPr id="10" name="Shape 8"/>
          <p:cNvSpPr/>
          <p:nvPr/>
        </p:nvSpPr>
        <p:spPr>
          <a:xfrm>
            <a:off x="6867525" y="2686050"/>
            <a:ext cx="9525" cy="1143000"/>
          </a:xfrm>
          <a:prstGeom prst="rect">
            <a:avLst/>
          </a:prstGeom>
          <a:solidFill>
            <a:srgbClr val="D1D5DB"/>
          </a:solidFill>
          <a:ln/>
        </p:spPr>
      </p:sp>
      <p:sp>
        <p:nvSpPr>
          <p:cNvPr id="11" name="Shape 9"/>
          <p:cNvSpPr/>
          <p:nvPr/>
        </p:nvSpPr>
        <p:spPr>
          <a:xfrm>
            <a:off x="1009650" y="2867025"/>
            <a:ext cx="304800" cy="304800"/>
          </a:xfrm>
          <a:prstGeom prst="ellipse">
            <a:avLst/>
          </a:prstGeom>
          <a:solidFill>
            <a:srgbClr val="DC2626"/>
          </a:solidFill>
          <a:ln/>
        </p:spPr>
      </p:sp>
      <p:sp>
        <p:nvSpPr>
          <p:cNvPr id="12" name="Text 10"/>
          <p:cNvSpPr/>
          <p:nvPr/>
        </p:nvSpPr>
        <p:spPr>
          <a:xfrm>
            <a:off x="971550" y="2867025"/>
            <a:ext cx="381000" cy="3429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algn="ctr" indent="0" marL="0">
              <a:lnSpc>
                <a:spcPct val="1400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1428750" y="2895600"/>
            <a:ext cx="1304776" cy="2571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0000"/>
              </a:lnSpc>
              <a:buNone/>
            </a:pPr>
            <a:r>
              <a:rPr lang="en-US" sz="1275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학습곡선의 잔혹함</a:t>
            </a:r>
            <a:endParaRPr lang="en-US" sz="1275" dirty="0"/>
          </a:p>
        </p:txBody>
      </p:sp>
      <p:sp>
        <p:nvSpPr>
          <p:cNvPr id="14" name="Text 12"/>
          <p:cNvSpPr/>
          <p:nvPr/>
        </p:nvSpPr>
        <p:spPr>
          <a:xfrm>
            <a:off x="1009650" y="3248025"/>
            <a:ext cx="5817775" cy="4381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55000"/>
              </a:lnSpc>
              <a:buNone/>
            </a:pPr>
            <a:r>
              <a:rPr lang="en-US" sz="1050" dirty="0">
                <a:solidFill>
                  <a:srgbClr val="37415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ramp </a:t>
            </a:r>
            <a:pPr algn="l" indent="0" marL="0">
              <a:lnSpc>
                <a:spcPct val="155000"/>
              </a:lnSpc>
              <a:buNone/>
            </a:pPr>
            <a:r>
              <a:rPr lang="en-US" sz="1050" b="1" dirty="0">
                <a:solidFill>
                  <a:srgbClr val="37415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6개월 지연 </a:t>
            </a:r>
            <a:pPr algn="l" indent="0" marL="0">
              <a:lnSpc>
                <a:spcPct val="155000"/>
              </a:lnSpc>
              <a:buNone/>
            </a:pPr>
            <a:r>
              <a:rPr lang="en-US" sz="1050" dirty="0">
                <a:solidFill>
                  <a:srgbClr val="37415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 누적 순이익 </a:t>
            </a:r>
            <a:pPr algn="l" indent="0" marL="0">
              <a:lnSpc>
                <a:spcPct val="155000"/>
              </a:lnSpc>
              <a:buNone/>
            </a:pPr>
            <a:r>
              <a:rPr lang="en-US" sz="1050" b="1" dirty="0">
                <a:solidFill>
                  <a:srgbClr val="37415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2/3 소실 </a:t>
            </a:r>
            <a:pPr algn="l" indent="0" marL="0">
              <a:lnSpc>
                <a:spcPct val="155000"/>
              </a:lnSpc>
              <a:buNone/>
            </a:pPr>
            <a:r>
              <a:rPr lang="en-US" sz="1050" dirty="0">
                <a:solidFill>
                  <a:srgbClr val="37415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· 1년 지연 → 손실 전환 공정 개발 1분 ≈ </a:t>
            </a:r>
            <a:pPr algn="l" indent="0" marL="0">
              <a:lnSpc>
                <a:spcPct val="155000"/>
              </a:lnSpc>
              <a:buNone/>
            </a:pPr>
            <a:r>
              <a:rPr lang="en-US" sz="1050" b="1" dirty="0">
                <a:solidFill>
                  <a:srgbClr val="37415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$5,000 손실 </a:t>
            </a:r>
            <a:pPr algn="l" indent="0" marL="0">
              <a:lnSpc>
                <a:spcPct val="155000"/>
              </a:lnSpc>
              <a:buNone/>
            </a:pPr>
            <a:r>
              <a:rPr lang="en-US" sz="1050" dirty="0">
                <a:solidFill>
                  <a:srgbClr val="37415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(PSU Weber)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762000" y="3943350"/>
            <a:ext cx="6115050" cy="1343025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6" name="Shape 14"/>
          <p:cNvSpPr/>
          <p:nvPr/>
        </p:nvSpPr>
        <p:spPr>
          <a:xfrm>
            <a:off x="762000" y="5276850"/>
            <a:ext cx="6115050" cy="9525"/>
          </a:xfrm>
          <a:prstGeom prst="rect">
            <a:avLst/>
          </a:prstGeom>
          <a:solidFill>
            <a:srgbClr val="D1D5DB"/>
          </a:solidFill>
          <a:ln/>
        </p:spPr>
      </p:sp>
      <p:sp>
        <p:nvSpPr>
          <p:cNvPr id="17" name="Shape 15"/>
          <p:cNvSpPr/>
          <p:nvPr/>
        </p:nvSpPr>
        <p:spPr>
          <a:xfrm>
            <a:off x="762000" y="3943350"/>
            <a:ext cx="6115050" cy="9525"/>
          </a:xfrm>
          <a:prstGeom prst="rect">
            <a:avLst/>
          </a:prstGeom>
          <a:solidFill>
            <a:srgbClr val="D1D5DB"/>
          </a:solidFill>
          <a:ln/>
        </p:spPr>
      </p:sp>
      <p:sp>
        <p:nvSpPr>
          <p:cNvPr id="18" name="Shape 16"/>
          <p:cNvSpPr/>
          <p:nvPr/>
        </p:nvSpPr>
        <p:spPr>
          <a:xfrm>
            <a:off x="762000" y="3943350"/>
            <a:ext cx="38100" cy="1343025"/>
          </a:xfrm>
          <a:prstGeom prst="rect">
            <a:avLst/>
          </a:prstGeom>
          <a:solidFill>
            <a:srgbClr val="D97706"/>
          </a:solidFill>
          <a:ln/>
        </p:spPr>
      </p:sp>
      <p:sp>
        <p:nvSpPr>
          <p:cNvPr id="19" name="Shape 17"/>
          <p:cNvSpPr/>
          <p:nvPr/>
        </p:nvSpPr>
        <p:spPr>
          <a:xfrm>
            <a:off x="6867525" y="3943350"/>
            <a:ext cx="9525" cy="1343025"/>
          </a:xfrm>
          <a:prstGeom prst="rect">
            <a:avLst/>
          </a:prstGeom>
          <a:solidFill>
            <a:srgbClr val="D1D5DB"/>
          </a:solidFill>
          <a:ln/>
        </p:spPr>
      </p:sp>
      <p:sp>
        <p:nvSpPr>
          <p:cNvPr id="20" name="Shape 18"/>
          <p:cNvSpPr/>
          <p:nvPr/>
        </p:nvSpPr>
        <p:spPr>
          <a:xfrm>
            <a:off x="1009650" y="4124325"/>
            <a:ext cx="304800" cy="304800"/>
          </a:xfrm>
          <a:prstGeom prst="ellipse">
            <a:avLst/>
          </a:prstGeom>
          <a:solidFill>
            <a:srgbClr val="D97706"/>
          </a:solidFill>
          <a:ln/>
        </p:spPr>
      </p:sp>
      <p:sp>
        <p:nvSpPr>
          <p:cNvPr id="21" name="Text 19"/>
          <p:cNvSpPr/>
          <p:nvPr/>
        </p:nvSpPr>
        <p:spPr>
          <a:xfrm>
            <a:off x="971550" y="4124325"/>
            <a:ext cx="381000" cy="3429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algn="ctr" indent="0" marL="0">
              <a:lnSpc>
                <a:spcPct val="1400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1428750" y="4152900"/>
            <a:ext cx="1882825" cy="2571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0000"/>
              </a:lnSpc>
              <a:buNone/>
            </a:pPr>
            <a:r>
              <a:rPr lang="en-US" sz="1275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업계가 일제히 선회 (2026)</a:t>
            </a:r>
            <a:endParaRPr lang="en-US" sz="1275" dirty="0"/>
          </a:p>
        </p:txBody>
      </p:sp>
      <p:sp>
        <p:nvSpPr>
          <p:cNvPr id="23" name="Text 21"/>
          <p:cNvSpPr/>
          <p:nvPr/>
        </p:nvSpPr>
        <p:spPr>
          <a:xfrm>
            <a:off x="1009650" y="4505325"/>
            <a:ext cx="5817775" cy="6381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55000"/>
              </a:lnSpc>
              <a:buNone/>
            </a:pPr>
            <a:r>
              <a:rPr lang="en-US" sz="1050" dirty="0">
                <a:solidFill>
                  <a:srgbClr val="37415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NAND capex </a:t>
            </a:r>
            <a:pPr algn="l" indent="0" marL="0">
              <a:lnSpc>
                <a:spcPct val="155000"/>
              </a:lnSpc>
              <a:buNone/>
            </a:pPr>
            <a:r>
              <a:rPr lang="en-US" sz="1050" b="1" dirty="0">
                <a:solidFill>
                  <a:srgbClr val="37415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$22.2B (+5%만) </a:t>
            </a:r>
            <a:pPr algn="l" indent="0" marL="0">
              <a:lnSpc>
                <a:spcPct val="155000"/>
              </a:lnSpc>
              <a:buNone/>
            </a:pPr>
            <a:r>
              <a:rPr lang="en-US" sz="1050" dirty="0">
                <a:solidFill>
                  <a:srgbClr val="37415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· 4사 모두 capa 확장 대신 </a:t>
            </a:r>
            <a:pPr algn="l" indent="0" marL="0">
              <a:lnSpc>
                <a:spcPct val="155000"/>
              </a:lnSpc>
              <a:buNone/>
            </a:pPr>
            <a:r>
              <a:rPr lang="en-US" sz="1050" b="1" dirty="0">
                <a:solidFill>
                  <a:srgbClr val="37415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process upgrade · hybrid bonding </a:t>
            </a:r>
            <a:pPr algn="l" indent="0" marL="0">
              <a:lnSpc>
                <a:spcPct val="155000"/>
              </a:lnSpc>
              <a:buNone/>
            </a:pPr>
            <a:r>
              <a:rPr lang="en-US" sz="1050" dirty="0">
                <a:solidFill>
                  <a:srgbClr val="37415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에 집중 우리만 layer 경쟁 = 한 세대 뒤처진 capex 추가 부담</a:t>
            </a:r>
            <a:endParaRPr lang="en-US" sz="1050" dirty="0"/>
          </a:p>
        </p:txBody>
      </p:sp>
      <p:sp>
        <p:nvSpPr>
          <p:cNvPr id="24" name="Shape 22"/>
          <p:cNvSpPr/>
          <p:nvPr/>
        </p:nvSpPr>
        <p:spPr>
          <a:xfrm>
            <a:off x="762000" y="5400675"/>
            <a:ext cx="6115050" cy="11430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5" name="Shape 23"/>
          <p:cNvSpPr/>
          <p:nvPr/>
        </p:nvSpPr>
        <p:spPr>
          <a:xfrm>
            <a:off x="762000" y="6534150"/>
            <a:ext cx="6115050" cy="9525"/>
          </a:xfrm>
          <a:prstGeom prst="rect">
            <a:avLst/>
          </a:prstGeom>
          <a:solidFill>
            <a:srgbClr val="D1D5DB"/>
          </a:solidFill>
          <a:ln/>
        </p:spPr>
      </p:sp>
      <p:sp>
        <p:nvSpPr>
          <p:cNvPr id="26" name="Shape 24"/>
          <p:cNvSpPr/>
          <p:nvPr/>
        </p:nvSpPr>
        <p:spPr>
          <a:xfrm>
            <a:off x="762000" y="5400675"/>
            <a:ext cx="6115050" cy="9525"/>
          </a:xfrm>
          <a:prstGeom prst="rect">
            <a:avLst/>
          </a:prstGeom>
          <a:solidFill>
            <a:srgbClr val="D1D5DB"/>
          </a:solidFill>
          <a:ln/>
        </p:spPr>
      </p:sp>
      <p:sp>
        <p:nvSpPr>
          <p:cNvPr id="27" name="Shape 25"/>
          <p:cNvSpPr/>
          <p:nvPr/>
        </p:nvSpPr>
        <p:spPr>
          <a:xfrm>
            <a:off x="762000" y="5400675"/>
            <a:ext cx="38100" cy="1143000"/>
          </a:xfrm>
          <a:prstGeom prst="rect">
            <a:avLst/>
          </a:prstGeom>
          <a:solidFill>
            <a:srgbClr val="DC2626"/>
          </a:solidFill>
          <a:ln/>
        </p:spPr>
      </p:sp>
      <p:sp>
        <p:nvSpPr>
          <p:cNvPr id="28" name="Shape 26"/>
          <p:cNvSpPr/>
          <p:nvPr/>
        </p:nvSpPr>
        <p:spPr>
          <a:xfrm>
            <a:off x="6867525" y="5400675"/>
            <a:ext cx="9525" cy="1143000"/>
          </a:xfrm>
          <a:prstGeom prst="rect">
            <a:avLst/>
          </a:prstGeom>
          <a:solidFill>
            <a:srgbClr val="D1D5DB"/>
          </a:solidFill>
          <a:ln/>
        </p:spPr>
      </p:sp>
      <p:sp>
        <p:nvSpPr>
          <p:cNvPr id="29" name="Shape 27"/>
          <p:cNvSpPr/>
          <p:nvPr/>
        </p:nvSpPr>
        <p:spPr>
          <a:xfrm>
            <a:off x="1009650" y="5581650"/>
            <a:ext cx="304800" cy="304800"/>
          </a:xfrm>
          <a:prstGeom prst="ellipse">
            <a:avLst/>
          </a:prstGeom>
          <a:solidFill>
            <a:srgbClr val="DC2626"/>
          </a:solidFill>
          <a:ln/>
        </p:spPr>
      </p:sp>
      <p:sp>
        <p:nvSpPr>
          <p:cNvPr id="30" name="Text 28"/>
          <p:cNvSpPr/>
          <p:nvPr/>
        </p:nvSpPr>
        <p:spPr>
          <a:xfrm>
            <a:off x="971550" y="5581650"/>
            <a:ext cx="381000" cy="3429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algn="ctr" indent="0" marL="0">
              <a:lnSpc>
                <a:spcPct val="1400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200" dirty="0"/>
          </a:p>
        </p:txBody>
      </p:sp>
      <p:sp>
        <p:nvSpPr>
          <p:cNvPr id="31" name="Text 29"/>
          <p:cNvSpPr/>
          <p:nvPr/>
        </p:nvSpPr>
        <p:spPr>
          <a:xfrm>
            <a:off x="1428750" y="5610225"/>
            <a:ext cx="1911102" cy="2571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0000"/>
              </a:lnSpc>
              <a:buNone/>
            </a:pPr>
            <a:r>
              <a:rPr lang="en-US" sz="1275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YMTC IP 지배 → 차단 위험</a:t>
            </a:r>
            <a:endParaRPr lang="en-US" sz="1275" dirty="0"/>
          </a:p>
        </p:txBody>
      </p:sp>
      <p:sp>
        <p:nvSpPr>
          <p:cNvPr id="32" name="Text 30"/>
          <p:cNvSpPr/>
          <p:nvPr/>
        </p:nvSpPr>
        <p:spPr>
          <a:xfrm>
            <a:off x="1009650" y="5962650"/>
            <a:ext cx="5817775" cy="4381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55000"/>
              </a:lnSpc>
              <a:buNone/>
            </a:pPr>
            <a:r>
              <a:rPr lang="en-US" sz="1050" dirty="0">
                <a:solidFill>
                  <a:srgbClr val="37415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Hybrid bonding 핵심 특허 다수 </a:t>
            </a:r>
            <a:pPr algn="l" indent="0" marL="0">
              <a:lnSpc>
                <a:spcPct val="155000"/>
              </a:lnSpc>
              <a:buNone/>
            </a:pPr>
            <a:r>
              <a:rPr lang="en-US" sz="1050" b="1" dirty="0">
                <a:solidFill>
                  <a:srgbClr val="37415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YMTC 보유 </a:t>
            </a:r>
            <a:pPr algn="l" indent="0" marL="0">
              <a:lnSpc>
                <a:spcPct val="155000"/>
              </a:lnSpc>
              <a:buNone/>
            </a:pPr>
            <a:r>
              <a:rPr lang="en-US" sz="1050" dirty="0">
                <a:solidFill>
                  <a:srgbClr val="37415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(TrendForce 2025-05) 삼성 · SK 라이선스 의존 → 시나리오 C 발생 시 </a:t>
            </a:r>
            <a:pPr algn="l" indent="0" marL="0">
              <a:lnSpc>
                <a:spcPct val="155000"/>
              </a:lnSpc>
              <a:buNone/>
            </a:pPr>
            <a:r>
              <a:rPr lang="en-US" sz="1050" b="1" dirty="0">
                <a:solidFill>
                  <a:srgbClr val="37415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차세대 NAND 양산 불가 리스크</a:t>
            </a:r>
            <a:endParaRPr lang="en-US" sz="1050" dirty="0"/>
          </a:p>
        </p:txBody>
      </p:sp>
      <p:sp>
        <p:nvSpPr>
          <p:cNvPr id="33" name="Text 31"/>
          <p:cNvSpPr/>
          <p:nvPr/>
        </p:nvSpPr>
        <p:spPr>
          <a:xfrm>
            <a:off x="7105650" y="2286000"/>
            <a:ext cx="5248751" cy="3238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0000"/>
              </a:lnSpc>
              <a:buNone/>
            </a:pPr>
            <a:r>
              <a:rPr lang="en-US" sz="1650" b="1" spc="22" kern="0" dirty="0">
                <a:solidFill>
                  <a:srgbClr val="1428A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 R&amp;D 트랙 병행</a:t>
            </a:r>
            <a:endParaRPr lang="en-US" sz="1650" dirty="0"/>
          </a:p>
        </p:txBody>
      </p:sp>
      <p:sp>
        <p:nvSpPr>
          <p:cNvPr id="34" name="Shape 32"/>
          <p:cNvSpPr/>
          <p:nvPr/>
        </p:nvSpPr>
        <p:spPr>
          <a:xfrm>
            <a:off x="7105650" y="2686050"/>
            <a:ext cx="5095875" cy="952500"/>
          </a:xfrm>
          <a:prstGeom prst="rect">
            <a:avLst/>
          </a:prstGeom>
          <a:solidFill>
            <a:srgbClr val="E8EEFC"/>
          </a:solidFill>
          <a:ln/>
        </p:spPr>
      </p:sp>
      <p:sp>
        <p:nvSpPr>
          <p:cNvPr id="35" name="Text 33"/>
          <p:cNvSpPr/>
          <p:nvPr/>
        </p:nvSpPr>
        <p:spPr>
          <a:xfrm>
            <a:off x="7296150" y="2838450"/>
            <a:ext cx="4856321" cy="2476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0000"/>
              </a:lnSpc>
              <a:buNone/>
            </a:pPr>
            <a:r>
              <a:rPr lang="en-US" sz="1200" b="1" dirty="0">
                <a:solidFill>
                  <a:srgbClr val="1428A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① Hybrid Bonding 자체 IP</a:t>
            </a:r>
            <a:endParaRPr lang="en-US" sz="1200" dirty="0"/>
          </a:p>
        </p:txBody>
      </p:sp>
      <p:sp>
        <p:nvSpPr>
          <p:cNvPr id="36" name="Text 34"/>
          <p:cNvSpPr/>
          <p:nvPr/>
        </p:nvSpPr>
        <p:spPr>
          <a:xfrm>
            <a:off x="7296150" y="3086100"/>
            <a:ext cx="4856321" cy="4381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0000"/>
              </a:lnSpc>
              <a:buNone/>
            </a:pPr>
            <a:r>
              <a:rPr lang="en-US" sz="1125" dirty="0">
                <a:solidFill>
                  <a:srgbClr val="6B72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YMTC 우회 특허 200건+ (2027) · 한국 IP 컨소시엄 · V11 자체 IP </a:t>
            </a:r>
            <a:pPr algn="l" indent="0" marL="0">
              <a:lnSpc>
                <a:spcPct val="140000"/>
              </a:lnSpc>
              <a:buNone/>
            </a:pPr>
            <a:r>
              <a:rPr lang="en-US" sz="1125" b="1" dirty="0">
                <a:solidFill>
                  <a:srgbClr val="6B72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70%+ </a:t>
            </a:r>
            <a:pPr algn="l" indent="0" marL="0">
              <a:lnSpc>
                <a:spcPct val="140000"/>
              </a:lnSpc>
              <a:buNone/>
            </a:pPr>
            <a:r>
              <a:rPr lang="en-US" sz="1125" dirty="0">
                <a:solidFill>
                  <a:srgbClr val="6B72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· 패키징·본딩 R&amp;D </a:t>
            </a:r>
            <a:pPr algn="l" indent="0" marL="0">
              <a:lnSpc>
                <a:spcPct val="140000"/>
              </a:lnSpc>
              <a:buNone/>
            </a:pPr>
            <a:r>
              <a:rPr lang="en-US" sz="1125" b="1" dirty="0">
                <a:solidFill>
                  <a:srgbClr val="6B72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1.5조 원</a:t>
            </a:r>
            <a:endParaRPr lang="en-US" sz="1125" dirty="0"/>
          </a:p>
        </p:txBody>
      </p:sp>
      <p:sp>
        <p:nvSpPr>
          <p:cNvPr id="37" name="Shape 35"/>
          <p:cNvSpPr/>
          <p:nvPr/>
        </p:nvSpPr>
        <p:spPr>
          <a:xfrm>
            <a:off x="7105650" y="3733800"/>
            <a:ext cx="5095875" cy="752475"/>
          </a:xfrm>
          <a:prstGeom prst="rect">
            <a:avLst/>
          </a:prstGeom>
          <a:solidFill>
            <a:srgbClr val="E8EEFC"/>
          </a:solidFill>
          <a:ln/>
        </p:spPr>
      </p:sp>
      <p:sp>
        <p:nvSpPr>
          <p:cNvPr id="38" name="Text 36"/>
          <p:cNvSpPr/>
          <p:nvPr/>
        </p:nvSpPr>
        <p:spPr>
          <a:xfrm>
            <a:off x="7296150" y="3886200"/>
            <a:ext cx="4856321" cy="2476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0000"/>
              </a:lnSpc>
              <a:buNone/>
            </a:pPr>
            <a:r>
              <a:rPr lang="en-US" sz="1200" b="1" dirty="0">
                <a:solidFill>
                  <a:srgbClr val="1428A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② Multi-deck 정교화</a:t>
            </a:r>
            <a:endParaRPr lang="en-US" sz="1200" dirty="0"/>
          </a:p>
        </p:txBody>
      </p:sp>
      <p:sp>
        <p:nvSpPr>
          <p:cNvPr id="39" name="Text 37"/>
          <p:cNvSpPr/>
          <p:nvPr/>
        </p:nvSpPr>
        <p:spPr>
          <a:xfrm>
            <a:off x="7296150" y="4133850"/>
            <a:ext cx="4856321" cy="2381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0000"/>
              </a:lnSpc>
              <a:buNone/>
            </a:pPr>
            <a:r>
              <a:rPr lang="en-US" sz="1125" dirty="0">
                <a:solidFill>
                  <a:srgbClr val="6B72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Deck 당 layer 한계 돌파 · V9 → V10 fab 재구성 비용 </a:t>
            </a:r>
            <a:pPr algn="l" indent="0" marL="0">
              <a:lnSpc>
                <a:spcPct val="140000"/>
              </a:lnSpc>
              <a:buNone/>
            </a:pPr>
            <a:r>
              <a:rPr lang="en-US" sz="1125" b="1" dirty="0">
                <a:solidFill>
                  <a:srgbClr val="6B72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30% 절감</a:t>
            </a:r>
            <a:endParaRPr lang="en-US" sz="1125" dirty="0"/>
          </a:p>
        </p:txBody>
      </p:sp>
      <p:sp>
        <p:nvSpPr>
          <p:cNvPr id="40" name="Shape 38"/>
          <p:cNvSpPr/>
          <p:nvPr/>
        </p:nvSpPr>
        <p:spPr>
          <a:xfrm>
            <a:off x="7105650" y="4581525"/>
            <a:ext cx="5095875" cy="752475"/>
          </a:xfrm>
          <a:prstGeom prst="rect">
            <a:avLst/>
          </a:prstGeom>
          <a:solidFill>
            <a:srgbClr val="E8EEFC"/>
          </a:solidFill>
          <a:ln/>
        </p:spPr>
      </p:sp>
      <p:sp>
        <p:nvSpPr>
          <p:cNvPr id="41" name="Text 39"/>
          <p:cNvSpPr/>
          <p:nvPr/>
        </p:nvSpPr>
        <p:spPr>
          <a:xfrm>
            <a:off x="7296150" y="4733925"/>
            <a:ext cx="4856321" cy="2476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0000"/>
              </a:lnSpc>
              <a:buNone/>
            </a:pPr>
            <a:r>
              <a:rPr lang="en-US" sz="1200" b="1" dirty="0">
                <a:solidFill>
                  <a:srgbClr val="1428A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③ bit-per-cell 확장</a:t>
            </a:r>
            <a:endParaRPr lang="en-US" sz="1200" dirty="0"/>
          </a:p>
        </p:txBody>
      </p:sp>
      <p:sp>
        <p:nvSpPr>
          <p:cNvPr id="42" name="Text 40"/>
          <p:cNvSpPr/>
          <p:nvPr/>
        </p:nvSpPr>
        <p:spPr>
          <a:xfrm>
            <a:off x="7296150" y="4981575"/>
            <a:ext cx="4856321" cy="2381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0000"/>
              </a:lnSpc>
              <a:buNone/>
            </a:pPr>
            <a:r>
              <a:rPr lang="en-US" sz="1125" dirty="0">
                <a:solidFill>
                  <a:srgbClr val="6B72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TLC → QLC → PLC · QLC 비중 </a:t>
            </a:r>
            <a:pPr algn="l" indent="0" marL="0">
              <a:lnSpc>
                <a:spcPct val="140000"/>
              </a:lnSpc>
              <a:buNone/>
            </a:pPr>
            <a:r>
              <a:rPr lang="en-US" sz="1125" b="1" dirty="0">
                <a:solidFill>
                  <a:srgbClr val="6B72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30%+ </a:t>
            </a:r>
            <a:pPr algn="l" indent="0" marL="0">
              <a:lnSpc>
                <a:spcPct val="140000"/>
              </a:lnSpc>
              <a:buNone/>
            </a:pPr>
            <a:r>
              <a:rPr lang="en-US" sz="1125" dirty="0">
                <a:solidFill>
                  <a:srgbClr val="6B72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(2026) · PLC 시제품 (2028)</a:t>
            </a:r>
            <a:endParaRPr lang="en-US" sz="1125" dirty="0"/>
          </a:p>
        </p:txBody>
      </p:sp>
      <p:sp>
        <p:nvSpPr>
          <p:cNvPr id="43" name="Shape 41"/>
          <p:cNvSpPr/>
          <p:nvPr/>
        </p:nvSpPr>
        <p:spPr>
          <a:xfrm>
            <a:off x="7105650" y="5429250"/>
            <a:ext cx="5095875" cy="952500"/>
          </a:xfrm>
          <a:prstGeom prst="rect">
            <a:avLst/>
          </a:prstGeom>
          <a:solidFill>
            <a:srgbClr val="E8EEFC"/>
          </a:solidFill>
          <a:ln/>
        </p:spPr>
      </p:sp>
      <p:sp>
        <p:nvSpPr>
          <p:cNvPr id="44" name="Text 42"/>
          <p:cNvSpPr/>
          <p:nvPr/>
        </p:nvSpPr>
        <p:spPr>
          <a:xfrm>
            <a:off x="7296150" y="5581650"/>
            <a:ext cx="4856321" cy="2476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0000"/>
              </a:lnSpc>
              <a:buNone/>
            </a:pPr>
            <a:r>
              <a:rPr lang="en-US" sz="1200" b="1" dirty="0">
                <a:solidFill>
                  <a:srgbClr val="1428A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④ 호스트 협력 firmware</a:t>
            </a:r>
            <a:endParaRPr lang="en-US" sz="1200" dirty="0"/>
          </a:p>
        </p:txBody>
      </p:sp>
      <p:sp>
        <p:nvSpPr>
          <p:cNvPr id="45" name="Text 43"/>
          <p:cNvSpPr/>
          <p:nvPr/>
        </p:nvSpPr>
        <p:spPr>
          <a:xfrm>
            <a:off x="7296150" y="5829300"/>
            <a:ext cx="4856321" cy="4381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0000"/>
              </a:lnSpc>
              <a:buNone/>
            </a:pPr>
            <a:r>
              <a:rPr lang="en-US" sz="1125" dirty="0">
                <a:solidFill>
                  <a:srgbClr val="6B72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FDP · SCADA · endurance </a:t>
            </a:r>
            <a:pPr algn="l" indent="0" marL="0">
              <a:lnSpc>
                <a:spcPct val="140000"/>
              </a:lnSpc>
              <a:buNone/>
            </a:pPr>
            <a:r>
              <a:rPr lang="en-US" sz="1125" b="1" dirty="0">
                <a:solidFill>
                  <a:srgbClr val="6B72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2배+ </a:t>
            </a:r>
            <a:pPr algn="l" indent="0" marL="0">
              <a:lnSpc>
                <a:spcPct val="140000"/>
              </a:lnSpc>
              <a:buNone/>
            </a:pPr>
            <a:r>
              <a:rPr lang="en-US" sz="1125" dirty="0">
                <a:solidFill>
                  <a:srgbClr val="6B72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· throughput </a:t>
            </a:r>
            <a:pPr algn="l" indent="0" marL="0">
              <a:lnSpc>
                <a:spcPct val="140000"/>
              </a:lnSpc>
              <a:buNone/>
            </a:pPr>
            <a:r>
              <a:rPr lang="en-US" sz="1125" b="1" dirty="0">
                <a:solidFill>
                  <a:srgbClr val="6B72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+30% </a:t>
            </a:r>
            <a:pPr algn="l" indent="0" marL="0">
              <a:lnSpc>
                <a:spcPct val="140000"/>
              </a:lnSpc>
              <a:buNone/>
            </a:pPr>
            <a:r>
              <a:rPr lang="en-US" sz="1125" dirty="0">
                <a:solidFill>
                  <a:srgbClr val="6B72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· RS-3 SW 매출과 R&amp;D 자원 공유</a:t>
            </a:r>
            <a:endParaRPr lang="en-US" sz="1125" dirty="0"/>
          </a:p>
        </p:txBody>
      </p:sp>
      <p:sp>
        <p:nvSpPr>
          <p:cNvPr id="46" name="Text 44"/>
          <p:cNvSpPr/>
          <p:nvPr/>
        </p:nvSpPr>
        <p:spPr>
          <a:xfrm>
            <a:off x="12430125" y="2286000"/>
            <a:ext cx="5248751" cy="3238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0000"/>
              </a:lnSpc>
              <a:buNone/>
            </a:pPr>
            <a:r>
              <a:rPr lang="en-US" sz="1650" b="1" spc="22" kern="0" dirty="0">
                <a:solidFill>
                  <a:srgbClr val="1428A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재무 효과 · KPI</a:t>
            </a:r>
            <a:endParaRPr lang="en-US" sz="1650" dirty="0"/>
          </a:p>
        </p:txBody>
      </p:sp>
      <p:sp>
        <p:nvSpPr>
          <p:cNvPr id="47" name="Shape 45"/>
          <p:cNvSpPr/>
          <p:nvPr/>
        </p:nvSpPr>
        <p:spPr>
          <a:xfrm>
            <a:off x="12430125" y="2686050"/>
            <a:ext cx="5095875" cy="1257300"/>
          </a:xfrm>
          <a:prstGeom prst="rect">
            <a:avLst/>
          </a:prstGeom>
          <a:solidFill>
            <a:srgbClr val="D97706"/>
          </a:solidFill>
          <a:ln/>
        </p:spPr>
      </p:sp>
      <p:sp>
        <p:nvSpPr>
          <p:cNvPr id="48" name="Text 46"/>
          <p:cNvSpPr/>
          <p:nvPr/>
        </p:nvSpPr>
        <p:spPr>
          <a:xfrm>
            <a:off x="12658725" y="2895600"/>
            <a:ext cx="4777835" cy="2190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0000"/>
              </a:lnSpc>
              <a:buNone/>
            </a:pPr>
            <a:r>
              <a:rPr lang="en-US" sz="1050" b="1" spc="150" kern="0" dirty="0">
                <a:solidFill>
                  <a:srgbClr val="FFFFFF">
                    <a:alpha val="90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3년 누적 capex 회피</a:t>
            </a:r>
            <a:endParaRPr lang="en-US" sz="1050" dirty="0"/>
          </a:p>
        </p:txBody>
      </p:sp>
      <p:sp>
        <p:nvSpPr>
          <p:cNvPr id="49" name="Text 47"/>
          <p:cNvSpPr/>
          <p:nvPr/>
        </p:nvSpPr>
        <p:spPr>
          <a:xfrm>
            <a:off x="12658725" y="3114675"/>
            <a:ext cx="4777835" cy="3810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27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1.5 — 2.0 </a:t>
            </a:r>
            <a:pPr algn="l" indent="0" marL="0">
              <a:lnSpc>
                <a:spcPct val="10000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조 원</a:t>
            </a:r>
            <a:endParaRPr lang="en-US" sz="2700" dirty="0"/>
          </a:p>
        </p:txBody>
      </p:sp>
      <p:sp>
        <p:nvSpPr>
          <p:cNvPr id="50" name="Text 48"/>
          <p:cNvSpPr/>
          <p:nvPr/>
        </p:nvSpPr>
        <p:spPr>
          <a:xfrm>
            <a:off x="12658725" y="3533775"/>
            <a:ext cx="4777835" cy="2381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0000"/>
              </a:lnSpc>
              <a:buNone/>
            </a:pPr>
            <a:r>
              <a:rPr lang="en-US" sz="1125" dirty="0">
                <a:solidFill>
                  <a:srgbClr val="6B7280">
                    <a:alpha val="90000"/>
                  </a:srgbClr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전환 주기 18M → 24M 연장 시</a:t>
            </a:r>
            <a:endParaRPr lang="en-US" sz="1125" dirty="0"/>
          </a:p>
        </p:txBody>
      </p:sp>
      <p:sp>
        <p:nvSpPr>
          <p:cNvPr id="51" name="Shape 49"/>
          <p:cNvSpPr/>
          <p:nvPr/>
        </p:nvSpPr>
        <p:spPr>
          <a:xfrm>
            <a:off x="12430125" y="4057650"/>
            <a:ext cx="5095875" cy="1257300"/>
          </a:xfrm>
          <a:prstGeom prst="rect">
            <a:avLst/>
          </a:prstGeom>
          <a:solidFill>
            <a:srgbClr val="1428A0"/>
          </a:solidFill>
          <a:ln/>
        </p:spPr>
      </p:sp>
      <p:sp>
        <p:nvSpPr>
          <p:cNvPr id="52" name="Text 50"/>
          <p:cNvSpPr/>
          <p:nvPr/>
        </p:nvSpPr>
        <p:spPr>
          <a:xfrm>
            <a:off x="12658725" y="4267200"/>
            <a:ext cx="4777835" cy="2190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0000"/>
              </a:lnSpc>
              <a:buNone/>
            </a:pPr>
            <a:r>
              <a:rPr lang="en-US" sz="1050" b="1" spc="150" kern="0" dirty="0">
                <a:solidFill>
                  <a:srgbClr val="FFFFFF">
                    <a:alpha val="90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한 세대만 적용해도</a:t>
            </a:r>
            <a:endParaRPr lang="en-US" sz="1050" dirty="0"/>
          </a:p>
        </p:txBody>
      </p:sp>
      <p:sp>
        <p:nvSpPr>
          <p:cNvPr id="53" name="Text 51"/>
          <p:cNvSpPr/>
          <p:nvPr/>
        </p:nvSpPr>
        <p:spPr>
          <a:xfrm>
            <a:off x="12658725" y="4486275"/>
            <a:ext cx="4777835" cy="3810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누적 이익 2/3 보전</a:t>
            </a:r>
            <a:endParaRPr lang="en-US" sz="2250" dirty="0"/>
          </a:p>
        </p:txBody>
      </p:sp>
      <p:sp>
        <p:nvSpPr>
          <p:cNvPr id="54" name="Text 52"/>
          <p:cNvSpPr/>
          <p:nvPr/>
        </p:nvSpPr>
        <p:spPr>
          <a:xfrm>
            <a:off x="12658725" y="4905375"/>
            <a:ext cx="4777835" cy="2381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0000"/>
              </a:lnSpc>
              <a:buNone/>
            </a:pPr>
            <a:r>
              <a:rPr lang="en-US" sz="1125" dirty="0">
                <a:solidFill>
                  <a:srgbClr val="6B7280">
                    <a:alpha val="90000"/>
                  </a:srgbClr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양산 ramp 6개월 단축 효과</a:t>
            </a:r>
            <a:endParaRPr lang="en-US" sz="1125" dirty="0"/>
          </a:p>
        </p:txBody>
      </p:sp>
      <p:sp>
        <p:nvSpPr>
          <p:cNvPr id="55" name="Shape 53"/>
          <p:cNvSpPr/>
          <p:nvPr/>
        </p:nvSpPr>
        <p:spPr>
          <a:xfrm>
            <a:off x="12430125" y="5429250"/>
            <a:ext cx="5095875" cy="1476375"/>
          </a:xfrm>
          <a:prstGeom prst="rect">
            <a:avLst/>
          </a:prstGeom>
          <a:solidFill>
            <a:srgbClr val="FFFFFF"/>
          </a:solidFill>
          <a:ln w="9525">
            <a:solidFill>
              <a:srgbClr val="D1D5DB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12649200" y="5610225"/>
            <a:ext cx="4797457" cy="2381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0000"/>
              </a:lnSpc>
              <a:buNone/>
            </a:pPr>
            <a:r>
              <a:rPr lang="en-US" sz="1125" b="1" spc="75" kern="0" dirty="0">
                <a:solidFill>
                  <a:srgbClr val="1428A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이사회 KPI 4</a:t>
            </a:r>
            <a:endParaRPr lang="en-US" sz="1125" dirty="0"/>
          </a:p>
        </p:txBody>
      </p:sp>
      <p:sp>
        <p:nvSpPr>
          <p:cNvPr id="57" name="Text 55"/>
          <p:cNvSpPr/>
          <p:nvPr/>
        </p:nvSpPr>
        <p:spPr>
          <a:xfrm>
            <a:off x="12719050" y="5886450"/>
            <a:ext cx="4664075" cy="8763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marL="101600" indent="-101600">
              <a:lnSpc>
                <a:spcPct val="170000"/>
              </a:lnSpc>
              <a:buSzPct val="100000"/>
              <a:buChar char="•"/>
              <a:tabLst>
                <a:tab pos="101600" algn="l"/>
              </a:tabLst>
            </a:pPr>
            <a:r>
              <a:rPr lang="en-US" sz="975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Hybrid bonding 자체 IP 비율</a:t>
            </a:r>
            <a:endParaRPr lang="en-US" sz="975" dirty="0"/>
          </a:p>
          <a:p>
            <a:pPr algn="l" marL="101600" indent="-101600">
              <a:lnSpc>
                <a:spcPct val="170000"/>
              </a:lnSpc>
              <a:buSzPct val="100000"/>
              <a:buChar char="•"/>
              <a:tabLst>
                <a:tab pos="101600" algn="l"/>
              </a:tabLst>
            </a:pPr>
            <a:r>
              <a:rPr lang="en-US" sz="975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공정 전환 ramp 시간</a:t>
            </a:r>
            <a:endParaRPr lang="en-US" sz="975" dirty="0"/>
          </a:p>
          <a:p>
            <a:pPr algn="l" marL="101600" indent="-101600">
              <a:lnSpc>
                <a:spcPct val="170000"/>
              </a:lnSpc>
              <a:buSzPct val="100000"/>
              <a:buChar char="•"/>
              <a:tabLst>
                <a:tab pos="101600" algn="l"/>
              </a:tabLst>
            </a:pPr>
            <a:r>
              <a:rPr lang="en-US" sz="975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NAND capex / bit growth</a:t>
            </a:r>
            <a:endParaRPr lang="en-US" sz="975" dirty="0"/>
          </a:p>
          <a:p>
            <a:pPr algn="l" marL="101600" indent="-101600">
              <a:lnSpc>
                <a:spcPct val="170000"/>
              </a:lnSpc>
              <a:buSzPct val="100000"/>
              <a:buChar char="•"/>
              <a:tabLst>
                <a:tab pos="101600" algn="l"/>
              </a:tabLst>
            </a:pPr>
            <a:r>
              <a:rPr lang="en-US" sz="975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YMTC 라이선스 의존도</a:t>
            </a:r>
            <a:endParaRPr lang="en-US" sz="975" dirty="0"/>
          </a:p>
        </p:txBody>
      </p:sp>
      <p:sp>
        <p:nvSpPr>
          <p:cNvPr id="58" name="Shape 56"/>
          <p:cNvSpPr/>
          <p:nvPr/>
        </p:nvSpPr>
        <p:spPr>
          <a:xfrm>
            <a:off x="762000" y="8153400"/>
            <a:ext cx="16764000" cy="685800"/>
          </a:xfrm>
          <a:prstGeom prst="rect">
            <a:avLst/>
          </a:prstGeom>
          <a:solidFill>
            <a:srgbClr val="FEF3C7"/>
          </a:solidFill>
          <a:ln/>
        </p:spPr>
      </p:sp>
      <p:sp>
        <p:nvSpPr>
          <p:cNvPr id="59" name="Shape 57"/>
          <p:cNvSpPr/>
          <p:nvPr/>
        </p:nvSpPr>
        <p:spPr>
          <a:xfrm>
            <a:off x="762000" y="8153400"/>
            <a:ext cx="57150" cy="685800"/>
          </a:xfrm>
          <a:prstGeom prst="rect">
            <a:avLst/>
          </a:prstGeom>
          <a:solidFill>
            <a:srgbClr val="D97706"/>
          </a:solidFill>
          <a:ln/>
        </p:spPr>
      </p:sp>
      <p:sp>
        <p:nvSpPr>
          <p:cNvPr id="60" name="Shape 58"/>
          <p:cNvSpPr/>
          <p:nvPr/>
        </p:nvSpPr>
        <p:spPr>
          <a:xfrm>
            <a:off x="1085850" y="8343900"/>
            <a:ext cx="997148" cy="304800"/>
          </a:xfrm>
          <a:prstGeom prst="rect">
            <a:avLst/>
          </a:prstGeom>
          <a:solidFill>
            <a:srgbClr val="D97706"/>
          </a:solidFill>
          <a:ln/>
        </p:spPr>
      </p:sp>
      <p:sp>
        <p:nvSpPr>
          <p:cNvPr id="61" name="Text 59"/>
          <p:cNvSpPr/>
          <p:nvPr/>
        </p:nvSpPr>
        <p:spPr>
          <a:xfrm>
            <a:off x="1219200" y="8401050"/>
            <a:ext cx="806648" cy="2286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5000"/>
              </a:lnSpc>
              <a:buNone/>
            </a:pPr>
            <a:r>
              <a:rPr lang="en-US" sz="1050" b="1" spc="150" kern="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SO WHAT</a:t>
            </a:r>
            <a:endParaRPr lang="en-US" sz="1050" dirty="0"/>
          </a:p>
        </p:txBody>
      </p:sp>
      <p:sp>
        <p:nvSpPr>
          <p:cNvPr id="62" name="Text 60"/>
          <p:cNvSpPr/>
          <p:nvPr/>
        </p:nvSpPr>
        <p:spPr>
          <a:xfrm>
            <a:off x="2273498" y="8358188"/>
            <a:ext cx="8270922" cy="3143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5000"/>
              </a:lnSpc>
              <a:buNone/>
            </a:pPr>
            <a:r>
              <a:rPr lang="en-US" sz="15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Layer 경쟁 = </a:t>
            </a:r>
            <a:pPr algn="l" indent="0" marL="0">
              <a:lnSpc>
                <a:spcPct val="145000"/>
              </a:lnSpc>
              <a:buNone/>
            </a:pPr>
            <a:r>
              <a:rPr lang="en-US" sz="150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비용 자살</a:t>
            </a:r>
            <a:pPr algn="l" indent="0" marL="0">
              <a:lnSpc>
                <a:spcPct val="145000"/>
              </a:lnSpc>
              <a:buNone/>
            </a:pPr>
            <a:r>
              <a:rPr lang="en-US" sz="15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. 주기 연장 R&amp;D 4트랙이 모든 시나리오에서 </a:t>
            </a:r>
            <a:pPr algn="l" indent="0" marL="0">
              <a:lnSpc>
                <a:spcPct val="145000"/>
              </a:lnSpc>
              <a:buNone/>
            </a:pPr>
            <a:r>
              <a:rPr lang="en-US" sz="150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비용 우위 + 자체 IP 생존 </a:t>
            </a:r>
            <a:pPr algn="l" indent="0" marL="0">
              <a:lnSpc>
                <a:spcPct val="145000"/>
              </a:lnSpc>
              <a:buNone/>
            </a:pPr>
            <a:r>
              <a:rPr lang="en-US" sz="15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동시 확보</a:t>
            </a:r>
            <a:endParaRPr lang="en-US" sz="1500" dirty="0"/>
          </a:p>
        </p:txBody>
      </p:sp>
      <p:sp>
        <p:nvSpPr>
          <p:cNvPr id="63" name="Shape 61"/>
          <p:cNvSpPr/>
          <p:nvPr/>
        </p:nvSpPr>
        <p:spPr>
          <a:xfrm>
            <a:off x="762000" y="9667875"/>
            <a:ext cx="16764000" cy="9525"/>
          </a:xfrm>
          <a:prstGeom prst="rect">
            <a:avLst/>
          </a:prstGeom>
          <a:solidFill>
            <a:srgbClr val="D1D5DB"/>
          </a:solidFill>
          <a:ln/>
        </p:spPr>
      </p:sp>
      <p:sp>
        <p:nvSpPr>
          <p:cNvPr id="64" name="Text 62"/>
          <p:cNvSpPr/>
          <p:nvPr/>
        </p:nvSpPr>
        <p:spPr>
          <a:xfrm>
            <a:off x="762000" y="9891713"/>
            <a:ext cx="1810941" cy="2190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0000"/>
              </a:lnSpc>
              <a:buNone/>
            </a:pPr>
            <a:r>
              <a:rPr lang="en-US" sz="1050" spc="38" kern="0" dirty="0">
                <a:solidFill>
                  <a:srgbClr val="6B72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삼성전자 </a:t>
            </a:r>
            <a:pPr algn="l" indent="0" marL="0">
              <a:lnSpc>
                <a:spcPct val="140000"/>
              </a:lnSpc>
              <a:buNone/>
            </a:pPr>
            <a:r>
              <a:rPr lang="en-US" sz="1050" b="1" spc="38" kern="0" dirty="0">
                <a:solidFill>
                  <a:srgbClr val="1428A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| </a:t>
            </a:r>
            <a:pPr algn="l" indent="0" marL="0">
              <a:lnSpc>
                <a:spcPct val="140000"/>
              </a:lnSpc>
              <a:buNone/>
            </a:pPr>
            <a:r>
              <a:rPr lang="en-US" sz="1050" spc="38" kern="0" dirty="0">
                <a:solidFill>
                  <a:srgbClr val="6B72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STEP 6 · ROBUST</a:t>
            </a:r>
            <a:endParaRPr lang="en-US" sz="1050" dirty="0"/>
          </a:p>
        </p:txBody>
      </p:sp>
      <p:sp>
        <p:nvSpPr>
          <p:cNvPr id="65" name="Text 63"/>
          <p:cNvSpPr/>
          <p:nvPr/>
        </p:nvSpPr>
        <p:spPr>
          <a:xfrm>
            <a:off x="17023705" y="9891713"/>
            <a:ext cx="578495" cy="2190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0000"/>
              </a:lnSpc>
              <a:buNone/>
            </a:pPr>
            <a:r>
              <a:rPr lang="en-US" sz="1050" spc="38" kern="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22 / 26</a:t>
            </a:r>
            <a:endParaRPr lang="en-US" sz="105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62000" y="533400"/>
            <a:ext cx="17266920" cy="2762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algn="l" indent="0" marL="0">
              <a:lnSpc>
                <a:spcPct val="140000"/>
              </a:lnSpc>
              <a:buNone/>
            </a:pPr>
            <a:r>
              <a:rPr lang="en-US" sz="1350" spc="150" kern="0" dirty="0">
                <a:solidFill>
                  <a:srgbClr val="1428A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STEP 7 · 모니터링</a:t>
            </a:r>
            <a:endParaRPr lang="en-US" sz="1350" dirty="0"/>
          </a:p>
        </p:txBody>
      </p:sp>
      <p:sp>
        <p:nvSpPr>
          <p:cNvPr id="3" name="Text 1"/>
          <p:cNvSpPr/>
          <p:nvPr/>
        </p:nvSpPr>
        <p:spPr>
          <a:xfrm>
            <a:off x="762000" y="885825"/>
            <a:ext cx="17266920" cy="5619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3300" b="1" spc="-37" kern="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EWI 대시보드 — 다운턴 신호를 30일 내 실행 전환으로 바꾼다</a:t>
            </a:r>
            <a:endParaRPr lang="en-US" sz="3300" dirty="0"/>
          </a:p>
        </p:txBody>
      </p:sp>
      <p:sp>
        <p:nvSpPr>
          <p:cNvPr id="4" name="Text 2"/>
          <p:cNvSpPr/>
          <p:nvPr/>
        </p:nvSpPr>
        <p:spPr>
          <a:xfrm>
            <a:off x="762000" y="1524000"/>
            <a:ext cx="14716125" cy="3524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50000"/>
              </a:lnSpc>
              <a:buNone/>
            </a:pPr>
            <a:r>
              <a:rPr lang="en-US" sz="1650" dirty="0">
                <a:solidFill>
                  <a:srgbClr val="6B72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12개 결정 추적 + 28개 EWI 지표 + 12개 자동 트리거 · 실시간 모니터링 · 자동 발동 메커니즘</a:t>
            </a:r>
            <a:endParaRPr lang="en-US" sz="1650" dirty="0"/>
          </a:p>
        </p:txBody>
      </p:sp>
      <p:sp>
        <p:nvSpPr>
          <p:cNvPr id="5" name="Shape 3"/>
          <p:cNvSpPr/>
          <p:nvPr/>
        </p:nvSpPr>
        <p:spPr>
          <a:xfrm>
            <a:off x="762000" y="2286000"/>
            <a:ext cx="5823793" cy="6191250"/>
          </a:xfrm>
          <a:prstGeom prst="rect">
            <a:avLst/>
          </a:prstGeom>
          <a:solidFill>
            <a:srgbClr val="E8EEFC"/>
          </a:solidFill>
          <a:ln w="9525">
            <a:solidFill>
              <a:srgbClr val="D1D5DB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000125" y="2524125"/>
            <a:ext cx="5507970" cy="2190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0000"/>
              </a:lnSpc>
              <a:buNone/>
            </a:pPr>
            <a:r>
              <a:rPr lang="en-US" sz="1050" b="1" spc="150" kern="0" dirty="0">
                <a:solidFill>
                  <a:srgbClr val="1428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PANEL 01</a:t>
            </a:r>
            <a:endParaRPr lang="en-US" sz="1050" dirty="0"/>
          </a:p>
        </p:txBody>
      </p:sp>
      <p:sp>
        <p:nvSpPr>
          <p:cNvPr id="7" name="Text 5"/>
          <p:cNvSpPr/>
          <p:nvPr/>
        </p:nvSpPr>
        <p:spPr>
          <a:xfrm>
            <a:off x="1000125" y="2762250"/>
            <a:ext cx="5507970" cy="3238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0000"/>
              </a:lnSpc>
              <a:buNone/>
            </a:pPr>
            <a:r>
              <a:rPr lang="en-US" sz="1650" b="1" dirty="0">
                <a:solidFill>
                  <a:srgbClr val="1428A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12개 결정 추적</a:t>
            </a:r>
            <a:endParaRPr lang="en-US" sz="1650" dirty="0"/>
          </a:p>
        </p:txBody>
      </p:sp>
      <p:sp>
        <p:nvSpPr>
          <p:cNvPr id="8" name="Shape 6"/>
          <p:cNvSpPr/>
          <p:nvPr/>
        </p:nvSpPr>
        <p:spPr>
          <a:xfrm>
            <a:off x="1000125" y="3200400"/>
            <a:ext cx="5347543" cy="428625"/>
          </a:xfrm>
          <a:prstGeom prst="rect">
            <a:avLst/>
          </a:prstGeom>
          <a:solidFill>
            <a:srgbClr val="FFFFFF"/>
          </a:solidFill>
          <a:ln w="9525">
            <a:solidFill>
              <a:srgbClr val="D1D5DB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162050" y="3324225"/>
            <a:ext cx="1528316" cy="2190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0000"/>
              </a:lnSpc>
              <a:buNone/>
            </a:pPr>
            <a:r>
              <a:rPr lang="en-US" sz="105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D1 </a:t>
            </a:r>
            <a:pPr algn="l" indent="0" marL="0">
              <a:lnSpc>
                <a:spcPct val="140000"/>
              </a:lnSpc>
              <a:buNone/>
            </a:pPr>
            <a:r>
              <a:rPr lang="en-US" sz="105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HBM4 NVIDIA 점유율</a:t>
            </a:r>
            <a:endParaRPr lang="en-US" sz="1050" dirty="0"/>
          </a:p>
        </p:txBody>
      </p:sp>
      <p:sp>
        <p:nvSpPr>
          <p:cNvPr id="10" name="Text 8"/>
          <p:cNvSpPr/>
          <p:nvPr/>
        </p:nvSpPr>
        <p:spPr>
          <a:xfrm>
            <a:off x="5744617" y="3324225"/>
            <a:ext cx="517327" cy="2190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0000"/>
              </a:lnSpc>
              <a:buNone/>
            </a:pPr>
            <a:r>
              <a:rPr lang="en-US" sz="1050" b="1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D-150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1000125" y="3705225"/>
            <a:ext cx="5347543" cy="428625"/>
          </a:xfrm>
          <a:prstGeom prst="rect">
            <a:avLst/>
          </a:prstGeom>
          <a:solidFill>
            <a:srgbClr val="FFFFFF"/>
          </a:solidFill>
          <a:ln w="9525">
            <a:solidFill>
              <a:srgbClr val="D1D5DB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162050" y="3829050"/>
            <a:ext cx="1350764" cy="2190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0000"/>
              </a:lnSpc>
              <a:buNone/>
            </a:pPr>
            <a:r>
              <a:rPr lang="en-US" sz="105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D2 </a:t>
            </a:r>
            <a:pPr algn="l" indent="0" marL="0">
              <a:lnSpc>
                <a:spcPct val="140000"/>
              </a:lnSpc>
              <a:buNone/>
            </a:pPr>
            <a:r>
              <a:rPr lang="en-US" sz="105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소재 비중국 다각화</a:t>
            </a: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5744617" y="3829050"/>
            <a:ext cx="517327" cy="2190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0000"/>
              </a:lnSpc>
              <a:buNone/>
            </a:pPr>
            <a:r>
              <a:rPr lang="en-US" sz="1050" b="1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D-150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1000125" y="4210050"/>
            <a:ext cx="5347543" cy="428625"/>
          </a:xfrm>
          <a:prstGeom prst="rect">
            <a:avLst/>
          </a:prstGeom>
          <a:solidFill>
            <a:srgbClr val="FFFFFF"/>
          </a:solidFill>
          <a:ln w="9525">
            <a:solidFill>
              <a:srgbClr val="D1D5DB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1162050" y="4333875"/>
            <a:ext cx="1611511" cy="2190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0000"/>
              </a:lnSpc>
              <a:buNone/>
            </a:pPr>
            <a:r>
              <a:rPr lang="en-US" sz="105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D3 </a:t>
            </a:r>
            <a:pPr algn="l" indent="0" marL="0">
              <a:lnSpc>
                <a:spcPct val="140000"/>
              </a:lnSpc>
              <a:buNone/>
            </a:pPr>
            <a:r>
              <a:rPr lang="en-US" sz="105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3D DRAM R&amp;D + IMEC</a:t>
            </a:r>
            <a:endParaRPr lang="en-US" sz="1050" dirty="0"/>
          </a:p>
        </p:txBody>
      </p:sp>
      <p:sp>
        <p:nvSpPr>
          <p:cNvPr id="16" name="Text 14"/>
          <p:cNvSpPr/>
          <p:nvPr/>
        </p:nvSpPr>
        <p:spPr>
          <a:xfrm>
            <a:off x="5744617" y="4333875"/>
            <a:ext cx="517327" cy="2190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0000"/>
              </a:lnSpc>
              <a:buNone/>
            </a:pPr>
            <a:r>
              <a:rPr lang="en-US" sz="1050" b="1" dirty="0">
                <a:solidFill>
                  <a:srgbClr val="D9770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D-240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1000125" y="4714875"/>
            <a:ext cx="5347543" cy="428625"/>
          </a:xfrm>
          <a:prstGeom prst="rect">
            <a:avLst/>
          </a:prstGeom>
          <a:solidFill>
            <a:srgbClr val="FFFFFF"/>
          </a:solidFill>
          <a:ln w="9525">
            <a:solidFill>
              <a:srgbClr val="D1D5DB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1162050" y="4838700"/>
            <a:ext cx="1138237" cy="2190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0000"/>
              </a:lnSpc>
              <a:buNone/>
            </a:pPr>
            <a:r>
              <a:rPr lang="en-US" sz="105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D4 </a:t>
            </a:r>
            <a:pPr algn="l" indent="0" marL="0">
              <a:lnSpc>
                <a:spcPct val="140000"/>
              </a:lnSpc>
              <a:buNone/>
            </a:pPr>
            <a:r>
              <a:rPr lang="en-US" sz="105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텍사스 1·2단계</a:t>
            </a:r>
            <a:endParaRPr lang="en-US" sz="1050" dirty="0"/>
          </a:p>
        </p:txBody>
      </p:sp>
      <p:sp>
        <p:nvSpPr>
          <p:cNvPr id="19" name="Text 17"/>
          <p:cNvSpPr/>
          <p:nvPr/>
        </p:nvSpPr>
        <p:spPr>
          <a:xfrm>
            <a:off x="5744617" y="4838700"/>
            <a:ext cx="517327" cy="2190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0000"/>
              </a:lnSpc>
              <a:buNone/>
            </a:pPr>
            <a:r>
              <a:rPr lang="en-US" sz="1050" b="1" dirty="0">
                <a:solidFill>
                  <a:srgbClr val="D9770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D-240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1000125" y="5219700"/>
            <a:ext cx="5347543" cy="428625"/>
          </a:xfrm>
          <a:prstGeom prst="rect">
            <a:avLst/>
          </a:prstGeom>
          <a:solidFill>
            <a:srgbClr val="FFFFFF"/>
          </a:solidFill>
          <a:ln w="9525">
            <a:solidFill>
              <a:srgbClr val="D1D5DB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1162050" y="5343525"/>
            <a:ext cx="1102816" cy="2190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0000"/>
              </a:lnSpc>
              <a:buNone/>
            </a:pPr>
            <a:r>
              <a:rPr lang="en-US" sz="105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D5 </a:t>
            </a:r>
            <a:pPr algn="l" indent="0" marL="0">
              <a:lnSpc>
                <a:spcPct val="140000"/>
              </a:lnSpc>
              <a:buNone/>
            </a:pPr>
            <a:r>
              <a:rPr lang="en-US" sz="105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 효율화 도구</a:t>
            </a:r>
            <a:endParaRPr lang="en-US" sz="1050" dirty="0"/>
          </a:p>
        </p:txBody>
      </p:sp>
      <p:sp>
        <p:nvSpPr>
          <p:cNvPr id="22" name="Text 20"/>
          <p:cNvSpPr/>
          <p:nvPr/>
        </p:nvSpPr>
        <p:spPr>
          <a:xfrm>
            <a:off x="5744617" y="5343525"/>
            <a:ext cx="517327" cy="2190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0000"/>
              </a:lnSpc>
              <a:buNone/>
            </a:pPr>
            <a:r>
              <a:rPr lang="en-US" sz="1050" b="1" dirty="0">
                <a:solidFill>
                  <a:srgbClr val="D9770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D-240</a:t>
            </a:r>
            <a:endParaRPr lang="en-US" sz="1050" dirty="0"/>
          </a:p>
        </p:txBody>
      </p:sp>
      <p:sp>
        <p:nvSpPr>
          <p:cNvPr id="23" name="Shape 21"/>
          <p:cNvSpPr/>
          <p:nvPr/>
        </p:nvSpPr>
        <p:spPr>
          <a:xfrm>
            <a:off x="1000125" y="5724525"/>
            <a:ext cx="5347543" cy="428625"/>
          </a:xfrm>
          <a:prstGeom prst="rect">
            <a:avLst/>
          </a:prstGeom>
          <a:solidFill>
            <a:srgbClr val="FFFFFF"/>
          </a:solidFill>
          <a:ln w="9525">
            <a:solidFill>
              <a:srgbClr val="D1D5DB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1162050" y="5848350"/>
            <a:ext cx="1212205" cy="2190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0000"/>
              </a:lnSpc>
              <a:buNone/>
            </a:pPr>
            <a:r>
              <a:rPr lang="en-US" sz="105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D6 </a:t>
            </a:r>
            <a:pPr algn="l" indent="0" marL="0">
              <a:lnSpc>
                <a:spcPct val="140000"/>
              </a:lnSpc>
              <a:buNone/>
            </a:pPr>
            <a:r>
              <a:rPr lang="en-US" sz="105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RS-1·4·5 정책화</a:t>
            </a:r>
            <a:endParaRPr lang="en-US" sz="1050" dirty="0"/>
          </a:p>
        </p:txBody>
      </p:sp>
      <p:sp>
        <p:nvSpPr>
          <p:cNvPr id="25" name="Text 23"/>
          <p:cNvSpPr/>
          <p:nvPr/>
        </p:nvSpPr>
        <p:spPr>
          <a:xfrm>
            <a:off x="5744617" y="5848350"/>
            <a:ext cx="517327" cy="2190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0000"/>
              </a:lnSpc>
              <a:buNone/>
            </a:pPr>
            <a:r>
              <a:rPr lang="en-US" sz="1050" b="1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D-150</a:t>
            </a:r>
            <a:endParaRPr lang="en-US" sz="1050" dirty="0"/>
          </a:p>
        </p:txBody>
      </p:sp>
      <p:sp>
        <p:nvSpPr>
          <p:cNvPr id="26" name="Shape 24"/>
          <p:cNvSpPr/>
          <p:nvPr/>
        </p:nvSpPr>
        <p:spPr>
          <a:xfrm>
            <a:off x="1000125" y="6229350"/>
            <a:ext cx="5347543" cy="428625"/>
          </a:xfrm>
          <a:prstGeom prst="rect">
            <a:avLst/>
          </a:prstGeom>
          <a:solidFill>
            <a:srgbClr val="FFFFFF"/>
          </a:solidFill>
          <a:ln w="9525">
            <a:solidFill>
              <a:srgbClr val="D1D5DB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1162050" y="6353175"/>
            <a:ext cx="1380530" cy="2190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0000"/>
              </a:lnSpc>
              <a:buNone/>
            </a:pPr>
            <a:r>
              <a:rPr lang="en-US" sz="105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D7 </a:t>
            </a:r>
            <a:pPr algn="l" indent="0" marL="0">
              <a:lnSpc>
                <a:spcPct val="140000"/>
              </a:lnSpc>
              <a:buNone/>
            </a:pPr>
            <a:r>
              <a:rPr lang="en-US" sz="105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잉여 인력 전환 배치</a:t>
            </a:r>
            <a:endParaRPr lang="en-US" sz="1050" dirty="0"/>
          </a:p>
        </p:txBody>
      </p:sp>
      <p:sp>
        <p:nvSpPr>
          <p:cNvPr id="28" name="Text 26"/>
          <p:cNvSpPr/>
          <p:nvPr/>
        </p:nvSpPr>
        <p:spPr>
          <a:xfrm>
            <a:off x="5744617" y="6353175"/>
            <a:ext cx="517327" cy="2190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0000"/>
              </a:lnSpc>
              <a:buNone/>
            </a:pPr>
            <a:r>
              <a:rPr lang="en-US" sz="1050" b="1" dirty="0">
                <a:solidFill>
                  <a:srgbClr val="0596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D-330</a:t>
            </a:r>
            <a:endParaRPr lang="en-US" sz="1050" dirty="0"/>
          </a:p>
        </p:txBody>
      </p:sp>
      <p:sp>
        <p:nvSpPr>
          <p:cNvPr id="29" name="Shape 27"/>
          <p:cNvSpPr/>
          <p:nvPr/>
        </p:nvSpPr>
        <p:spPr>
          <a:xfrm>
            <a:off x="1000125" y="6734175"/>
            <a:ext cx="5347543" cy="428625"/>
          </a:xfrm>
          <a:prstGeom prst="rect">
            <a:avLst/>
          </a:prstGeom>
          <a:solidFill>
            <a:srgbClr val="FFFFFF"/>
          </a:solidFill>
          <a:ln w="9525">
            <a:solidFill>
              <a:srgbClr val="D1D5DB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1162050" y="6858000"/>
            <a:ext cx="1350764" cy="2190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0000"/>
              </a:lnSpc>
              <a:buNone/>
            </a:pPr>
            <a:r>
              <a:rPr lang="en-US" sz="105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D8 </a:t>
            </a:r>
            <a:pPr algn="l" indent="0" marL="0">
              <a:lnSpc>
                <a:spcPct val="140000"/>
              </a:lnSpc>
              <a:buNone/>
            </a:pPr>
            <a:r>
              <a:rPr lang="en-US" sz="105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텍사스 추가 보조금</a:t>
            </a:r>
            <a:endParaRPr lang="en-US" sz="1050" dirty="0"/>
          </a:p>
        </p:txBody>
      </p:sp>
      <p:sp>
        <p:nvSpPr>
          <p:cNvPr id="31" name="Text 29"/>
          <p:cNvSpPr/>
          <p:nvPr/>
        </p:nvSpPr>
        <p:spPr>
          <a:xfrm>
            <a:off x="5744617" y="6858000"/>
            <a:ext cx="517327" cy="2190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0000"/>
              </a:lnSpc>
              <a:buNone/>
            </a:pPr>
            <a:r>
              <a:rPr lang="en-US" sz="1050" b="1" dirty="0">
                <a:solidFill>
                  <a:srgbClr val="D9770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D-240</a:t>
            </a:r>
            <a:endParaRPr lang="en-US" sz="1050" dirty="0"/>
          </a:p>
        </p:txBody>
      </p:sp>
      <p:sp>
        <p:nvSpPr>
          <p:cNvPr id="32" name="Shape 30"/>
          <p:cNvSpPr/>
          <p:nvPr/>
        </p:nvSpPr>
        <p:spPr>
          <a:xfrm>
            <a:off x="1000125" y="7239000"/>
            <a:ext cx="5347543" cy="428625"/>
          </a:xfrm>
          <a:prstGeom prst="rect">
            <a:avLst/>
          </a:prstGeom>
          <a:solidFill>
            <a:srgbClr val="FFFFFF"/>
          </a:solidFill>
          <a:ln w="9525">
            <a:solidFill>
              <a:srgbClr val="D1D5DB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1162050" y="7362825"/>
            <a:ext cx="1508075" cy="2190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0000"/>
              </a:lnSpc>
              <a:buNone/>
            </a:pPr>
            <a:r>
              <a:rPr lang="en-US" sz="105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D9 </a:t>
            </a:r>
            <a:pPr algn="l" indent="0" marL="0">
              <a:lnSpc>
                <a:spcPct val="140000"/>
              </a:lnSpc>
              <a:buNone/>
            </a:pPr>
            <a:r>
              <a:rPr lang="en-US" sz="105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다운사이클 M&amp;A 펀드</a:t>
            </a:r>
            <a:endParaRPr lang="en-US" sz="1050" dirty="0"/>
          </a:p>
        </p:txBody>
      </p:sp>
      <p:sp>
        <p:nvSpPr>
          <p:cNvPr id="34" name="Text 32"/>
          <p:cNvSpPr/>
          <p:nvPr/>
        </p:nvSpPr>
        <p:spPr>
          <a:xfrm>
            <a:off x="5744617" y="7362825"/>
            <a:ext cx="517327" cy="2190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0000"/>
              </a:lnSpc>
              <a:buNone/>
            </a:pPr>
            <a:r>
              <a:rPr lang="en-US" sz="1050" b="1" dirty="0">
                <a:solidFill>
                  <a:srgbClr val="D9770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D-240</a:t>
            </a:r>
            <a:endParaRPr lang="en-US" sz="1050" dirty="0"/>
          </a:p>
        </p:txBody>
      </p:sp>
      <p:sp>
        <p:nvSpPr>
          <p:cNvPr id="35" name="Shape 33"/>
          <p:cNvSpPr/>
          <p:nvPr/>
        </p:nvSpPr>
        <p:spPr>
          <a:xfrm>
            <a:off x="6814393" y="2286000"/>
            <a:ext cx="4076700" cy="6172200"/>
          </a:xfrm>
          <a:prstGeom prst="rect">
            <a:avLst/>
          </a:prstGeom>
          <a:solidFill>
            <a:srgbClr val="1428A0"/>
          </a:solidFill>
          <a:ln/>
        </p:spPr>
      </p:sp>
      <p:sp>
        <p:nvSpPr>
          <p:cNvPr id="36" name="Text 34"/>
          <p:cNvSpPr/>
          <p:nvPr/>
        </p:nvSpPr>
        <p:spPr>
          <a:xfrm>
            <a:off x="7042993" y="2514600"/>
            <a:ext cx="3728085" cy="2190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0000"/>
              </a:lnSpc>
              <a:buNone/>
            </a:pPr>
            <a:r>
              <a:rPr lang="en-US" sz="1050" b="1" spc="150" kern="0" dirty="0">
                <a:solidFill>
                  <a:srgbClr val="D9770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PANEL 02</a:t>
            </a:r>
            <a:endParaRPr lang="en-US" sz="1050" dirty="0"/>
          </a:p>
        </p:txBody>
      </p:sp>
      <p:sp>
        <p:nvSpPr>
          <p:cNvPr id="37" name="Text 35"/>
          <p:cNvSpPr/>
          <p:nvPr/>
        </p:nvSpPr>
        <p:spPr>
          <a:xfrm>
            <a:off x="7042993" y="2752725"/>
            <a:ext cx="3728085" cy="3238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0000"/>
              </a:lnSpc>
              <a:buNone/>
            </a:pPr>
            <a:r>
              <a:rPr lang="en-US" sz="16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28개 EWI 지표</a:t>
            </a:r>
            <a:endParaRPr lang="en-US" sz="1650" dirty="0"/>
          </a:p>
        </p:txBody>
      </p:sp>
      <p:sp>
        <p:nvSpPr>
          <p:cNvPr id="38" name="Shape 36"/>
          <p:cNvSpPr/>
          <p:nvPr/>
        </p:nvSpPr>
        <p:spPr>
          <a:xfrm>
            <a:off x="7042993" y="3190875"/>
            <a:ext cx="3619500" cy="1085850"/>
          </a:xfrm>
          <a:prstGeom prst="rect">
            <a:avLst/>
          </a:prstGeom>
          <a:solidFill>
            <a:srgbClr val="FFFFFF">
              <a:alpha val="10000"/>
            </a:srgbClr>
          </a:solidFill>
          <a:ln w="9525">
            <a:solidFill>
              <a:srgbClr val="FFFFFF">
                <a:alpha val="20000"/>
              </a:srgbClr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7204918" y="3352800"/>
            <a:ext cx="3394519" cy="2095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0000"/>
              </a:lnSpc>
              <a:buNone/>
            </a:pPr>
            <a:r>
              <a:rPr lang="en-US" sz="975" dirty="0">
                <a:solidFill>
                  <a:srgbClr val="FFFFFF">
                    <a:alpha val="80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UPDATE CADENCE</a:t>
            </a:r>
            <a:endParaRPr lang="en-US" sz="975" dirty="0"/>
          </a:p>
        </p:txBody>
      </p:sp>
      <p:sp>
        <p:nvSpPr>
          <p:cNvPr id="40" name="Text 38"/>
          <p:cNvSpPr/>
          <p:nvPr/>
        </p:nvSpPr>
        <p:spPr>
          <a:xfrm>
            <a:off x="7204918" y="3600450"/>
            <a:ext cx="339179" cy="3524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0000"/>
              </a:lnSpc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800" dirty="0"/>
          </a:p>
        </p:txBody>
      </p:sp>
      <p:sp>
        <p:nvSpPr>
          <p:cNvPr id="41" name="Text 39"/>
          <p:cNvSpPr/>
          <p:nvPr/>
        </p:nvSpPr>
        <p:spPr>
          <a:xfrm>
            <a:off x="7204918" y="3914775"/>
            <a:ext cx="339179" cy="2381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0000"/>
              </a:lnSpc>
              <a:buNone/>
            </a:pPr>
            <a:r>
              <a:rPr lang="en-US" sz="1125" dirty="0">
                <a:solidFill>
                  <a:srgbClr val="6B7280">
                    <a:alpha val="80000"/>
                  </a:srgbClr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월간</a:t>
            </a:r>
            <a:endParaRPr lang="en-US" sz="1125" dirty="0"/>
          </a:p>
        </p:txBody>
      </p:sp>
      <p:sp>
        <p:nvSpPr>
          <p:cNvPr id="42" name="Text 40"/>
          <p:cNvSpPr/>
          <p:nvPr/>
        </p:nvSpPr>
        <p:spPr>
          <a:xfrm>
            <a:off x="7620298" y="3600450"/>
            <a:ext cx="339179" cy="3524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0000"/>
              </a:lnSpc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</a:t>
            </a:r>
            <a:endParaRPr lang="en-US" sz="1800" dirty="0"/>
          </a:p>
        </p:txBody>
      </p:sp>
      <p:sp>
        <p:nvSpPr>
          <p:cNvPr id="43" name="Text 41"/>
          <p:cNvSpPr/>
          <p:nvPr/>
        </p:nvSpPr>
        <p:spPr>
          <a:xfrm>
            <a:off x="7620298" y="3914775"/>
            <a:ext cx="339179" cy="2381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0000"/>
              </a:lnSpc>
              <a:buNone/>
            </a:pPr>
            <a:r>
              <a:rPr lang="en-US" sz="1125" dirty="0">
                <a:solidFill>
                  <a:srgbClr val="6B7280">
                    <a:alpha val="80000"/>
                  </a:srgbClr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분기</a:t>
            </a:r>
            <a:endParaRPr lang="en-US" sz="1125" dirty="0"/>
          </a:p>
        </p:txBody>
      </p:sp>
      <p:sp>
        <p:nvSpPr>
          <p:cNvPr id="44" name="Text 42"/>
          <p:cNvSpPr/>
          <p:nvPr/>
        </p:nvSpPr>
        <p:spPr>
          <a:xfrm>
            <a:off x="8035677" y="3600450"/>
            <a:ext cx="339179" cy="3524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0000"/>
              </a:lnSpc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1800" dirty="0"/>
          </a:p>
        </p:txBody>
      </p:sp>
      <p:sp>
        <p:nvSpPr>
          <p:cNvPr id="45" name="Text 43"/>
          <p:cNvSpPr/>
          <p:nvPr/>
        </p:nvSpPr>
        <p:spPr>
          <a:xfrm>
            <a:off x="8035677" y="3914775"/>
            <a:ext cx="339179" cy="2381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0000"/>
              </a:lnSpc>
              <a:buNone/>
            </a:pPr>
            <a:r>
              <a:rPr lang="en-US" sz="1125" dirty="0">
                <a:solidFill>
                  <a:srgbClr val="6B7280">
                    <a:alpha val="80000"/>
                  </a:srgbClr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연간</a:t>
            </a:r>
            <a:endParaRPr lang="en-US" sz="1125" dirty="0"/>
          </a:p>
        </p:txBody>
      </p:sp>
      <p:sp>
        <p:nvSpPr>
          <p:cNvPr id="46" name="Shape 44"/>
          <p:cNvSpPr/>
          <p:nvPr/>
        </p:nvSpPr>
        <p:spPr>
          <a:xfrm>
            <a:off x="7042993" y="4429125"/>
            <a:ext cx="3619500" cy="752475"/>
          </a:xfrm>
          <a:prstGeom prst="rect">
            <a:avLst/>
          </a:prstGeom>
          <a:solidFill>
            <a:srgbClr val="FFFFFF">
              <a:alpha val="10000"/>
            </a:srgbClr>
          </a:solidFill>
          <a:ln w="9525">
            <a:solidFill>
              <a:srgbClr val="FFFFFF">
                <a:alpha val="20000"/>
              </a:srgbClr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7204918" y="4591050"/>
            <a:ext cx="3394519" cy="2095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0000"/>
              </a:lnSpc>
              <a:buNone/>
            </a:pPr>
            <a:r>
              <a:rPr lang="en-US" sz="975" dirty="0">
                <a:solidFill>
                  <a:srgbClr val="FFFFFF">
                    <a:alpha val="80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STATUS</a:t>
            </a:r>
            <a:endParaRPr lang="en-US" sz="975" dirty="0"/>
          </a:p>
        </p:txBody>
      </p:sp>
      <p:sp>
        <p:nvSpPr>
          <p:cNvPr id="48" name="Shape 46"/>
          <p:cNvSpPr/>
          <p:nvPr/>
        </p:nvSpPr>
        <p:spPr>
          <a:xfrm>
            <a:off x="7204918" y="4872038"/>
            <a:ext cx="114300" cy="114300"/>
          </a:xfrm>
          <a:prstGeom prst="ellipse">
            <a:avLst/>
          </a:prstGeom>
          <a:solidFill>
            <a:srgbClr val="6EE7B7"/>
          </a:solidFill>
          <a:ln/>
        </p:spPr>
      </p:sp>
      <p:sp>
        <p:nvSpPr>
          <p:cNvPr id="49" name="Text 47"/>
          <p:cNvSpPr/>
          <p:nvPr/>
        </p:nvSpPr>
        <p:spPr>
          <a:xfrm>
            <a:off x="7414468" y="4829175"/>
            <a:ext cx="32156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40000"/>
              </a:lnSpc>
              <a:buNone/>
            </a:pPr>
            <a:r>
              <a:rPr lang="en-US" sz="105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정상</a:t>
            </a:r>
            <a:endParaRPr lang="en-US" sz="1050" dirty="0"/>
          </a:p>
        </p:txBody>
      </p:sp>
      <p:sp>
        <p:nvSpPr>
          <p:cNvPr id="50" name="Shape 48"/>
          <p:cNvSpPr/>
          <p:nvPr/>
        </p:nvSpPr>
        <p:spPr>
          <a:xfrm>
            <a:off x="7869436" y="4872038"/>
            <a:ext cx="114300" cy="114300"/>
          </a:xfrm>
          <a:prstGeom prst="ellipse">
            <a:avLst/>
          </a:prstGeom>
          <a:solidFill>
            <a:srgbClr val="FCD34D"/>
          </a:solidFill>
          <a:ln/>
        </p:spPr>
      </p:sp>
      <p:sp>
        <p:nvSpPr>
          <p:cNvPr id="51" name="Text 49"/>
          <p:cNvSpPr/>
          <p:nvPr/>
        </p:nvSpPr>
        <p:spPr>
          <a:xfrm>
            <a:off x="8078986" y="4829175"/>
            <a:ext cx="32156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40000"/>
              </a:lnSpc>
              <a:buNone/>
            </a:pPr>
            <a:r>
              <a:rPr lang="en-US" sz="105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주의</a:t>
            </a:r>
            <a:endParaRPr lang="en-US" sz="1050" dirty="0"/>
          </a:p>
        </p:txBody>
      </p:sp>
      <p:sp>
        <p:nvSpPr>
          <p:cNvPr id="52" name="Shape 50"/>
          <p:cNvSpPr/>
          <p:nvPr/>
        </p:nvSpPr>
        <p:spPr>
          <a:xfrm>
            <a:off x="8533954" y="4872038"/>
            <a:ext cx="114300" cy="114300"/>
          </a:xfrm>
          <a:prstGeom prst="ellipse">
            <a:avLst/>
          </a:prstGeom>
          <a:solidFill>
            <a:srgbClr val="FCA5A5"/>
          </a:solidFill>
          <a:ln/>
        </p:spPr>
      </p:sp>
      <p:sp>
        <p:nvSpPr>
          <p:cNvPr id="53" name="Text 51"/>
          <p:cNvSpPr/>
          <p:nvPr/>
        </p:nvSpPr>
        <p:spPr>
          <a:xfrm>
            <a:off x="8743504" y="4829175"/>
            <a:ext cx="32156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40000"/>
              </a:lnSpc>
              <a:buNone/>
            </a:pPr>
            <a:r>
              <a:rPr lang="en-US" sz="105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경보</a:t>
            </a:r>
            <a:endParaRPr lang="en-US" sz="1050" dirty="0"/>
          </a:p>
        </p:txBody>
      </p:sp>
      <p:sp>
        <p:nvSpPr>
          <p:cNvPr id="54" name="Shape 52"/>
          <p:cNvSpPr/>
          <p:nvPr/>
        </p:nvSpPr>
        <p:spPr>
          <a:xfrm>
            <a:off x="7042993" y="5334000"/>
            <a:ext cx="3619500" cy="733425"/>
          </a:xfrm>
          <a:prstGeom prst="rect">
            <a:avLst/>
          </a:prstGeom>
          <a:solidFill>
            <a:srgbClr val="FFFFFF">
              <a:alpha val="10000"/>
            </a:srgbClr>
          </a:solidFill>
          <a:ln w="9525">
            <a:solidFill>
              <a:srgbClr val="FFFFFF">
                <a:alpha val="20000"/>
              </a:srgbClr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7204918" y="5495925"/>
            <a:ext cx="3394519" cy="2095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0000"/>
              </a:lnSpc>
              <a:buNone/>
            </a:pPr>
            <a:r>
              <a:rPr lang="en-US" sz="975" dirty="0">
                <a:solidFill>
                  <a:srgbClr val="FFFFFF">
                    <a:alpha val="80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SOURCES</a:t>
            </a:r>
            <a:endParaRPr lang="en-US" sz="975" dirty="0"/>
          </a:p>
        </p:txBody>
      </p:sp>
      <p:sp>
        <p:nvSpPr>
          <p:cNvPr id="56" name="Text 54"/>
          <p:cNvSpPr/>
          <p:nvPr/>
        </p:nvSpPr>
        <p:spPr>
          <a:xfrm>
            <a:off x="7204918" y="5705475"/>
            <a:ext cx="3394519" cy="2381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50000"/>
              </a:lnSpc>
              <a:buNone/>
            </a:pPr>
            <a:r>
              <a:rPr lang="en-US" sz="105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자동 갱신 · Yahoo Finance · WSTS · TrendForce</a:t>
            </a:r>
            <a:endParaRPr lang="en-US" sz="1050" dirty="0"/>
          </a:p>
        </p:txBody>
      </p:sp>
      <p:sp>
        <p:nvSpPr>
          <p:cNvPr id="57" name="Shape 55"/>
          <p:cNvSpPr/>
          <p:nvPr/>
        </p:nvSpPr>
        <p:spPr>
          <a:xfrm>
            <a:off x="7042993" y="6219825"/>
            <a:ext cx="3619500" cy="847725"/>
          </a:xfrm>
          <a:prstGeom prst="rect">
            <a:avLst/>
          </a:prstGeom>
          <a:solidFill>
            <a:srgbClr val="D97706"/>
          </a:solidFill>
          <a:ln/>
        </p:spPr>
      </p:sp>
      <p:sp>
        <p:nvSpPr>
          <p:cNvPr id="58" name="Text 56"/>
          <p:cNvSpPr/>
          <p:nvPr/>
        </p:nvSpPr>
        <p:spPr>
          <a:xfrm>
            <a:off x="7195393" y="6372225"/>
            <a:ext cx="3414141" cy="1809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0000"/>
              </a:lnSpc>
              <a:buNone/>
            </a:pPr>
            <a:r>
              <a:rPr lang="en-US" sz="825" b="1" spc="75" kern="0" dirty="0">
                <a:solidFill>
                  <a:srgbClr val="FFFFFF">
                    <a:alpha val="90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QUADRANT TRAJECTORY</a:t>
            </a:r>
            <a:endParaRPr lang="en-US" sz="825" dirty="0"/>
          </a:p>
        </p:txBody>
      </p:sp>
      <p:sp>
        <p:nvSpPr>
          <p:cNvPr id="59" name="Text 57"/>
          <p:cNvSpPr/>
          <p:nvPr/>
        </p:nvSpPr>
        <p:spPr>
          <a:xfrm>
            <a:off x="7195393" y="6553200"/>
            <a:ext cx="3414141" cy="4000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0000"/>
              </a:lnSpc>
              <a:buNone/>
            </a:pPr>
            <a:r>
              <a:rPr lang="en-US" sz="10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2년 궤적 추적 </a:t>
            </a:r>
            <a:pPr algn="l" indent="0" marL="0">
              <a:lnSpc>
                <a:spcPct val="140000"/>
              </a:lnSpc>
              <a:buNone/>
            </a:pPr>
            <a:r>
              <a:rPr lang="en-US" sz="105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시나리오 A/B/C/D 어느 쪽으로 이동하는지 시각화</a:t>
            </a:r>
            <a:endParaRPr lang="en-US" sz="1050" dirty="0"/>
          </a:p>
        </p:txBody>
      </p:sp>
      <p:sp>
        <p:nvSpPr>
          <p:cNvPr id="60" name="Shape 58"/>
          <p:cNvSpPr/>
          <p:nvPr/>
        </p:nvSpPr>
        <p:spPr>
          <a:xfrm>
            <a:off x="11119693" y="2286000"/>
            <a:ext cx="6406307" cy="6191250"/>
          </a:xfrm>
          <a:prstGeom prst="rect">
            <a:avLst/>
          </a:prstGeom>
          <a:solidFill>
            <a:srgbClr val="FEF2F2"/>
          </a:solidFill>
          <a:ln w="9525">
            <a:solidFill>
              <a:srgbClr val="FECACA"/>
            </a:solidFill>
            <a:prstDash val="solid"/>
          </a:ln>
        </p:spPr>
      </p:sp>
      <p:sp>
        <p:nvSpPr>
          <p:cNvPr id="61" name="Text 59"/>
          <p:cNvSpPr/>
          <p:nvPr/>
        </p:nvSpPr>
        <p:spPr>
          <a:xfrm>
            <a:off x="11357818" y="2524125"/>
            <a:ext cx="6107958" cy="2190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0000"/>
              </a:lnSpc>
              <a:buNone/>
            </a:pPr>
            <a:r>
              <a:rPr lang="en-US" sz="1050" b="1" spc="150" kern="0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PANEL 03</a:t>
            </a:r>
            <a:endParaRPr lang="en-US" sz="1050" dirty="0"/>
          </a:p>
        </p:txBody>
      </p:sp>
      <p:sp>
        <p:nvSpPr>
          <p:cNvPr id="62" name="Text 60"/>
          <p:cNvSpPr/>
          <p:nvPr/>
        </p:nvSpPr>
        <p:spPr>
          <a:xfrm>
            <a:off x="11357818" y="2762250"/>
            <a:ext cx="6107958" cy="3238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0000"/>
              </a:lnSpc>
              <a:buNone/>
            </a:pPr>
            <a:r>
              <a:rPr lang="en-US" sz="1650" b="1" dirty="0">
                <a:solidFill>
                  <a:srgbClr val="DC26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12개 자동 트리거</a:t>
            </a:r>
            <a:endParaRPr lang="en-US" sz="1650" dirty="0"/>
          </a:p>
        </p:txBody>
      </p:sp>
      <p:sp>
        <p:nvSpPr>
          <p:cNvPr id="63" name="Shape 61"/>
          <p:cNvSpPr/>
          <p:nvPr/>
        </p:nvSpPr>
        <p:spPr>
          <a:xfrm>
            <a:off x="11357818" y="3200400"/>
            <a:ext cx="5930057" cy="342900"/>
          </a:xfrm>
          <a:prstGeom prst="rect">
            <a:avLst/>
          </a:prstGeom>
          <a:solidFill>
            <a:srgbClr val="FFFFFF"/>
          </a:solidFill>
          <a:ln w="9525">
            <a:solidFill>
              <a:srgbClr val="D1D5DB"/>
            </a:solidFill>
            <a:prstDash val="solid"/>
          </a:ln>
        </p:spPr>
      </p:sp>
      <p:sp>
        <p:nvSpPr>
          <p:cNvPr id="64" name="Text 62"/>
          <p:cNvSpPr/>
          <p:nvPr/>
        </p:nvSpPr>
        <p:spPr>
          <a:xfrm>
            <a:off x="11500693" y="3286125"/>
            <a:ext cx="5822208" cy="2095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0000"/>
              </a:lnSpc>
              <a:buNone/>
            </a:pPr>
            <a:r>
              <a:rPr lang="en-US" sz="975" b="1" dirty="0">
                <a:solidFill>
                  <a:srgbClr val="DC26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T1 </a:t>
            </a:r>
            <a:pPr algn="l" indent="0" marL="0">
              <a:lnSpc>
                <a:spcPct val="140000"/>
              </a:lnSpc>
              <a:buNone/>
            </a:pPr>
            <a:r>
              <a:rPr lang="en-US" sz="975" dirty="0">
                <a:solidFill>
                  <a:srgbClr val="1A1A1A"/>
                </a:solidFill>
                <a:highlight>
                  <a:srgbClr val="FFFFFF"/>
                </a:highlight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빅테크 CapEx YoY −25% → C·D 경보</a:t>
            </a:r>
            <a:endParaRPr lang="en-US" sz="975" dirty="0"/>
          </a:p>
        </p:txBody>
      </p:sp>
      <p:sp>
        <p:nvSpPr>
          <p:cNvPr id="65" name="Shape 63"/>
          <p:cNvSpPr/>
          <p:nvPr/>
        </p:nvSpPr>
        <p:spPr>
          <a:xfrm>
            <a:off x="11357818" y="3600450"/>
            <a:ext cx="5930057" cy="342900"/>
          </a:xfrm>
          <a:prstGeom prst="rect">
            <a:avLst/>
          </a:prstGeom>
          <a:solidFill>
            <a:srgbClr val="FFFFFF"/>
          </a:solidFill>
          <a:ln w="9525">
            <a:solidFill>
              <a:srgbClr val="D1D5DB"/>
            </a:solidFill>
            <a:prstDash val="solid"/>
          </a:ln>
        </p:spPr>
      </p:sp>
      <p:sp>
        <p:nvSpPr>
          <p:cNvPr id="66" name="Text 64"/>
          <p:cNvSpPr/>
          <p:nvPr/>
        </p:nvSpPr>
        <p:spPr>
          <a:xfrm>
            <a:off x="11500693" y="3686175"/>
            <a:ext cx="5822208" cy="2095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0000"/>
              </a:lnSpc>
              <a:buNone/>
            </a:pPr>
            <a:r>
              <a:rPr lang="en-US" sz="975" b="1" dirty="0">
                <a:solidFill>
                  <a:srgbClr val="DC26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T2 </a:t>
            </a:r>
            <a:pPr algn="l" indent="0" marL="0">
              <a:lnSpc>
                <a:spcPct val="140000"/>
              </a:lnSpc>
              <a:buNone/>
            </a:pPr>
            <a:r>
              <a:rPr lang="en-US" sz="975" dirty="0">
                <a:solidFill>
                  <a:srgbClr val="1A1A1A"/>
                </a:solidFill>
                <a:highlight>
                  <a:srgbClr val="FFFFFF"/>
                </a:highlight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MATCH 법안 통과 → A·C 긴급</a:t>
            </a:r>
            <a:endParaRPr lang="en-US" sz="975" dirty="0"/>
          </a:p>
        </p:txBody>
      </p:sp>
      <p:sp>
        <p:nvSpPr>
          <p:cNvPr id="67" name="Shape 65"/>
          <p:cNvSpPr/>
          <p:nvPr/>
        </p:nvSpPr>
        <p:spPr>
          <a:xfrm>
            <a:off x="11357818" y="4000500"/>
            <a:ext cx="5930057" cy="342900"/>
          </a:xfrm>
          <a:prstGeom prst="rect">
            <a:avLst/>
          </a:prstGeom>
          <a:solidFill>
            <a:srgbClr val="FFFFFF"/>
          </a:solidFill>
          <a:ln w="9525">
            <a:solidFill>
              <a:srgbClr val="D1D5DB"/>
            </a:solidFill>
            <a:prstDash val="solid"/>
          </a:ln>
        </p:spPr>
      </p:sp>
      <p:sp>
        <p:nvSpPr>
          <p:cNvPr id="68" name="Text 66"/>
          <p:cNvSpPr/>
          <p:nvPr/>
        </p:nvSpPr>
        <p:spPr>
          <a:xfrm>
            <a:off x="11500693" y="4086225"/>
            <a:ext cx="5822208" cy="2095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0000"/>
              </a:lnSpc>
              <a:buNone/>
            </a:pPr>
            <a:r>
              <a:rPr lang="en-US" sz="975" b="1" dirty="0">
                <a:solidFill>
                  <a:srgbClr val="DC26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T3 </a:t>
            </a:r>
            <a:pPr algn="l" indent="0" marL="0">
              <a:lnSpc>
                <a:spcPct val="140000"/>
              </a:lnSpc>
              <a:buNone/>
            </a:pPr>
            <a:r>
              <a:rPr lang="en-US" sz="975" dirty="0">
                <a:solidFill>
                  <a:srgbClr val="1A1A1A"/>
                </a:solidFill>
                <a:highlight>
                  <a:srgbClr val="FFFFFF"/>
                </a:highlight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HBM 가격 6M −30% → C·D</a:t>
            </a:r>
            <a:endParaRPr lang="en-US" sz="975" dirty="0"/>
          </a:p>
        </p:txBody>
      </p:sp>
      <p:sp>
        <p:nvSpPr>
          <p:cNvPr id="69" name="Shape 67"/>
          <p:cNvSpPr/>
          <p:nvPr/>
        </p:nvSpPr>
        <p:spPr>
          <a:xfrm>
            <a:off x="11357818" y="4400550"/>
            <a:ext cx="5930057" cy="342900"/>
          </a:xfrm>
          <a:prstGeom prst="rect">
            <a:avLst/>
          </a:prstGeom>
          <a:solidFill>
            <a:srgbClr val="FFFFFF"/>
          </a:solidFill>
          <a:ln w="9525">
            <a:solidFill>
              <a:srgbClr val="D1D5DB"/>
            </a:solidFill>
            <a:prstDash val="solid"/>
          </a:ln>
        </p:spPr>
      </p:sp>
      <p:sp>
        <p:nvSpPr>
          <p:cNvPr id="70" name="Text 68"/>
          <p:cNvSpPr/>
          <p:nvPr/>
        </p:nvSpPr>
        <p:spPr>
          <a:xfrm>
            <a:off x="11500693" y="4486275"/>
            <a:ext cx="5822208" cy="2095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0000"/>
              </a:lnSpc>
              <a:buNone/>
            </a:pPr>
            <a:r>
              <a:rPr lang="en-US" sz="975" b="1" dirty="0">
                <a:solidFill>
                  <a:srgbClr val="DC26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T4 </a:t>
            </a:r>
            <a:pPr algn="l" indent="0" marL="0">
              <a:lnSpc>
                <a:spcPct val="140000"/>
              </a:lnSpc>
              <a:buNone/>
            </a:pPr>
            <a:r>
              <a:rPr lang="en-US" sz="975" dirty="0">
                <a:solidFill>
                  <a:srgbClr val="1A1A1A"/>
                </a:solidFill>
                <a:highlight>
                  <a:srgbClr val="FFFFFF"/>
                </a:highlight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시안 라이선스 거절 → A·C</a:t>
            </a:r>
            <a:endParaRPr lang="en-US" sz="975" dirty="0"/>
          </a:p>
        </p:txBody>
      </p:sp>
      <p:sp>
        <p:nvSpPr>
          <p:cNvPr id="71" name="Shape 69"/>
          <p:cNvSpPr/>
          <p:nvPr/>
        </p:nvSpPr>
        <p:spPr>
          <a:xfrm>
            <a:off x="11357818" y="4800600"/>
            <a:ext cx="5930057" cy="342900"/>
          </a:xfrm>
          <a:prstGeom prst="rect">
            <a:avLst/>
          </a:prstGeom>
          <a:solidFill>
            <a:srgbClr val="FFFFFF"/>
          </a:solidFill>
          <a:ln w="9525">
            <a:solidFill>
              <a:srgbClr val="D1D5DB"/>
            </a:solidFill>
            <a:prstDash val="solid"/>
          </a:ln>
        </p:spPr>
      </p:sp>
      <p:sp>
        <p:nvSpPr>
          <p:cNvPr id="72" name="Text 70"/>
          <p:cNvSpPr/>
          <p:nvPr/>
        </p:nvSpPr>
        <p:spPr>
          <a:xfrm>
            <a:off x="11500693" y="4886325"/>
            <a:ext cx="5822208" cy="2095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0000"/>
              </a:lnSpc>
              <a:buNone/>
            </a:pPr>
            <a:r>
              <a:rPr lang="en-US" sz="975" b="1" dirty="0">
                <a:solidFill>
                  <a:srgbClr val="D9770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T5 </a:t>
            </a:r>
            <a:pPr algn="l" indent="0" marL="0">
              <a:lnSpc>
                <a:spcPct val="140000"/>
              </a:lnSpc>
              <a:buNone/>
            </a:pPr>
            <a:r>
              <a:rPr lang="en-US" sz="975" dirty="0">
                <a:solidFill>
                  <a:srgbClr val="1A1A1A"/>
                </a:solidFill>
                <a:highlight>
                  <a:srgbClr val="FFFFFF"/>
                </a:highlight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CXMT HBM4 양산 → D 가속</a:t>
            </a:r>
            <a:endParaRPr lang="en-US" sz="975" dirty="0"/>
          </a:p>
        </p:txBody>
      </p:sp>
      <p:sp>
        <p:nvSpPr>
          <p:cNvPr id="73" name="Shape 71"/>
          <p:cNvSpPr/>
          <p:nvPr/>
        </p:nvSpPr>
        <p:spPr>
          <a:xfrm>
            <a:off x="11357818" y="5200650"/>
            <a:ext cx="5930057" cy="342900"/>
          </a:xfrm>
          <a:prstGeom prst="rect">
            <a:avLst/>
          </a:prstGeom>
          <a:solidFill>
            <a:srgbClr val="FFFFFF"/>
          </a:solidFill>
          <a:ln w="9525">
            <a:solidFill>
              <a:srgbClr val="D1D5DB"/>
            </a:solidFill>
            <a:prstDash val="solid"/>
          </a:ln>
        </p:spPr>
      </p:sp>
      <p:sp>
        <p:nvSpPr>
          <p:cNvPr id="74" name="Text 72"/>
          <p:cNvSpPr/>
          <p:nvPr/>
        </p:nvSpPr>
        <p:spPr>
          <a:xfrm>
            <a:off x="11500693" y="5286375"/>
            <a:ext cx="5822208" cy="2095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0000"/>
              </a:lnSpc>
              <a:buNone/>
            </a:pPr>
            <a:r>
              <a:rPr lang="en-US" sz="975" b="1" dirty="0">
                <a:solidFill>
                  <a:srgbClr val="0596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T6 </a:t>
            </a:r>
            <a:pPr algn="l" indent="0" marL="0">
              <a:lnSpc>
                <a:spcPct val="140000"/>
              </a:lnSpc>
              <a:buNone/>
            </a:pPr>
            <a:r>
              <a:rPr lang="en-US" sz="975" dirty="0">
                <a:solidFill>
                  <a:srgbClr val="1A1A1A"/>
                </a:solidFill>
                <a:highlight>
                  <a:srgbClr val="FFFFFF"/>
                </a:highlight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M&amp;A 타깃 EV/EBITDA &lt; 5× 6M → 펀드</a:t>
            </a:r>
            <a:endParaRPr lang="en-US" sz="975" dirty="0"/>
          </a:p>
        </p:txBody>
      </p:sp>
      <p:sp>
        <p:nvSpPr>
          <p:cNvPr id="75" name="Shape 73"/>
          <p:cNvSpPr/>
          <p:nvPr/>
        </p:nvSpPr>
        <p:spPr>
          <a:xfrm>
            <a:off x="11357818" y="5600700"/>
            <a:ext cx="5930057" cy="342900"/>
          </a:xfrm>
          <a:prstGeom prst="rect">
            <a:avLst/>
          </a:prstGeom>
          <a:solidFill>
            <a:srgbClr val="FFFFFF"/>
          </a:solidFill>
          <a:ln w="9525">
            <a:solidFill>
              <a:srgbClr val="D1D5DB"/>
            </a:solidFill>
            <a:prstDash val="solid"/>
          </a:ln>
        </p:spPr>
      </p:sp>
      <p:sp>
        <p:nvSpPr>
          <p:cNvPr id="76" name="Text 74"/>
          <p:cNvSpPr/>
          <p:nvPr/>
        </p:nvSpPr>
        <p:spPr>
          <a:xfrm>
            <a:off x="11500693" y="5686425"/>
            <a:ext cx="5822208" cy="2095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0000"/>
              </a:lnSpc>
              <a:buNone/>
            </a:pPr>
            <a:r>
              <a:rPr lang="en-US" sz="975" b="1" dirty="0">
                <a:solidFill>
                  <a:srgbClr val="DC26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T7 </a:t>
            </a:r>
            <a:pPr algn="l" indent="0" marL="0">
              <a:lnSpc>
                <a:spcPct val="140000"/>
              </a:lnSpc>
              <a:buNone/>
            </a:pPr>
            <a:r>
              <a:rPr lang="en-US" sz="975" dirty="0">
                <a:solidFill>
                  <a:srgbClr val="1A1A1A"/>
                </a:solidFill>
                <a:highlight>
                  <a:srgbClr val="FFFFFF"/>
                </a:highlight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MSFT AI CapEx YoY −20% → 다운턴</a:t>
            </a:r>
            <a:endParaRPr lang="en-US" sz="975" dirty="0"/>
          </a:p>
        </p:txBody>
      </p:sp>
      <p:sp>
        <p:nvSpPr>
          <p:cNvPr id="77" name="Shape 75"/>
          <p:cNvSpPr/>
          <p:nvPr/>
        </p:nvSpPr>
        <p:spPr>
          <a:xfrm>
            <a:off x="11357818" y="6000750"/>
            <a:ext cx="5930057" cy="342900"/>
          </a:xfrm>
          <a:prstGeom prst="rect">
            <a:avLst/>
          </a:prstGeom>
          <a:solidFill>
            <a:srgbClr val="FFFFFF"/>
          </a:solidFill>
          <a:ln w="9525">
            <a:solidFill>
              <a:srgbClr val="D1D5DB"/>
            </a:solidFill>
            <a:prstDash val="solid"/>
          </a:ln>
        </p:spPr>
      </p:sp>
      <p:sp>
        <p:nvSpPr>
          <p:cNvPr id="78" name="Text 76"/>
          <p:cNvSpPr/>
          <p:nvPr/>
        </p:nvSpPr>
        <p:spPr>
          <a:xfrm>
            <a:off x="11500693" y="6086475"/>
            <a:ext cx="5822208" cy="2095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0000"/>
              </a:lnSpc>
              <a:buNone/>
            </a:pPr>
            <a:r>
              <a:rPr lang="en-US" sz="975" b="1" dirty="0">
                <a:solidFill>
                  <a:srgbClr val="D9770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T8 </a:t>
            </a:r>
            <a:pPr algn="l" indent="0" marL="0">
              <a:lnSpc>
                <a:spcPct val="140000"/>
              </a:lnSpc>
              <a:buNone/>
            </a:pPr>
            <a:r>
              <a:rPr lang="en-US" sz="975" dirty="0">
                <a:solidFill>
                  <a:srgbClr val="1A1A1A"/>
                </a:solidFill>
                <a:highlight>
                  <a:srgbClr val="FFFFFF"/>
                </a:highlight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텍사스 2단계 미발표 → A·C 위협</a:t>
            </a:r>
            <a:endParaRPr lang="en-US" sz="975" dirty="0"/>
          </a:p>
        </p:txBody>
      </p:sp>
      <p:sp>
        <p:nvSpPr>
          <p:cNvPr id="79" name="Shape 77"/>
          <p:cNvSpPr/>
          <p:nvPr/>
        </p:nvSpPr>
        <p:spPr>
          <a:xfrm>
            <a:off x="11357818" y="6400800"/>
            <a:ext cx="5930057" cy="342900"/>
          </a:xfrm>
          <a:prstGeom prst="rect">
            <a:avLst/>
          </a:prstGeom>
          <a:solidFill>
            <a:srgbClr val="FFFFFF"/>
          </a:solidFill>
          <a:ln w="9525">
            <a:solidFill>
              <a:srgbClr val="D1D5DB"/>
            </a:solidFill>
            <a:prstDash val="solid"/>
          </a:ln>
        </p:spPr>
      </p:sp>
      <p:sp>
        <p:nvSpPr>
          <p:cNvPr id="80" name="Text 78"/>
          <p:cNvSpPr/>
          <p:nvPr/>
        </p:nvSpPr>
        <p:spPr>
          <a:xfrm>
            <a:off x="11500693" y="6486525"/>
            <a:ext cx="5822208" cy="2095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0000"/>
              </a:lnSpc>
              <a:buNone/>
            </a:pPr>
            <a:r>
              <a:rPr lang="en-US" sz="975" b="1" dirty="0">
                <a:solidFill>
                  <a:srgbClr val="0596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T9 </a:t>
            </a:r>
            <a:pPr algn="l" indent="0" marL="0">
              <a:lnSpc>
                <a:spcPct val="140000"/>
              </a:lnSpc>
              <a:buNone/>
            </a:pPr>
            <a:r>
              <a:rPr lang="en-US" sz="975" dirty="0">
                <a:solidFill>
                  <a:srgbClr val="1A1A1A"/>
                </a:solidFill>
                <a:highlight>
                  <a:srgbClr val="FFFFFF"/>
                </a:highlight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빅테크 AI 매출 $500B → B 가속</a:t>
            </a:r>
            <a:endParaRPr lang="en-US" sz="975" dirty="0"/>
          </a:p>
        </p:txBody>
      </p:sp>
      <p:sp>
        <p:nvSpPr>
          <p:cNvPr id="81" name="Shape 79"/>
          <p:cNvSpPr/>
          <p:nvPr/>
        </p:nvSpPr>
        <p:spPr>
          <a:xfrm>
            <a:off x="11357818" y="6800850"/>
            <a:ext cx="5930057" cy="342900"/>
          </a:xfrm>
          <a:prstGeom prst="rect">
            <a:avLst/>
          </a:prstGeom>
          <a:solidFill>
            <a:srgbClr val="FFFFFF"/>
          </a:solidFill>
          <a:ln w="9525">
            <a:solidFill>
              <a:srgbClr val="D1D5DB"/>
            </a:solidFill>
            <a:prstDash val="solid"/>
          </a:ln>
        </p:spPr>
      </p:sp>
      <p:sp>
        <p:nvSpPr>
          <p:cNvPr id="82" name="Text 80"/>
          <p:cNvSpPr/>
          <p:nvPr/>
        </p:nvSpPr>
        <p:spPr>
          <a:xfrm>
            <a:off x="11500693" y="6886575"/>
            <a:ext cx="5822208" cy="2095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0000"/>
              </a:lnSpc>
              <a:buNone/>
            </a:pPr>
            <a:r>
              <a:rPr lang="en-US" sz="975" b="1" dirty="0">
                <a:solidFill>
                  <a:srgbClr val="D9770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T10 </a:t>
            </a:r>
            <a:pPr algn="l" indent="0" marL="0">
              <a:lnSpc>
                <a:spcPct val="140000"/>
              </a:lnSpc>
              <a:buNone/>
            </a:pPr>
            <a:r>
              <a:rPr lang="en-US" sz="975" dirty="0">
                <a:solidFill>
                  <a:srgbClr val="1A1A1A"/>
                </a:solidFill>
                <a:highlight>
                  <a:srgbClr val="FFFFFF"/>
                </a:highlight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3D DRAM 전력 −50% PoC → E</a:t>
            </a:r>
            <a:endParaRPr lang="en-US" sz="975" dirty="0"/>
          </a:p>
        </p:txBody>
      </p:sp>
      <p:sp>
        <p:nvSpPr>
          <p:cNvPr id="83" name="Shape 81"/>
          <p:cNvSpPr/>
          <p:nvPr/>
        </p:nvSpPr>
        <p:spPr>
          <a:xfrm>
            <a:off x="11357818" y="7200900"/>
            <a:ext cx="5930057" cy="342900"/>
          </a:xfrm>
          <a:prstGeom prst="rect">
            <a:avLst/>
          </a:prstGeom>
          <a:solidFill>
            <a:srgbClr val="FFFFFF"/>
          </a:solidFill>
          <a:ln w="9525">
            <a:solidFill>
              <a:srgbClr val="D1D5DB"/>
            </a:solidFill>
            <a:prstDash val="solid"/>
          </a:ln>
        </p:spPr>
      </p:sp>
      <p:sp>
        <p:nvSpPr>
          <p:cNvPr id="84" name="Text 82"/>
          <p:cNvSpPr/>
          <p:nvPr/>
        </p:nvSpPr>
        <p:spPr>
          <a:xfrm>
            <a:off x="11500693" y="7286625"/>
            <a:ext cx="5822208" cy="2095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0000"/>
              </a:lnSpc>
              <a:buNone/>
            </a:pPr>
            <a:r>
              <a:rPr lang="en-US" sz="975" b="1" dirty="0">
                <a:solidFill>
                  <a:srgbClr val="DC26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T11 </a:t>
            </a:r>
            <a:pPr algn="l" indent="0" marL="0">
              <a:lnSpc>
                <a:spcPct val="140000"/>
              </a:lnSpc>
              <a:buNone/>
            </a:pPr>
            <a:r>
              <a:rPr lang="en-US" sz="975" dirty="0">
                <a:solidFill>
                  <a:srgbClr val="1A1A1A"/>
                </a:solidFill>
                <a:highlight>
                  <a:srgbClr val="FFFFFF"/>
                </a:highlight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HBM4 NVIDIA 미발표 → 전략 위기</a:t>
            </a:r>
            <a:endParaRPr lang="en-US" sz="975" dirty="0"/>
          </a:p>
        </p:txBody>
      </p:sp>
      <p:sp>
        <p:nvSpPr>
          <p:cNvPr id="85" name="Shape 83"/>
          <p:cNvSpPr/>
          <p:nvPr/>
        </p:nvSpPr>
        <p:spPr>
          <a:xfrm>
            <a:off x="11357818" y="7600950"/>
            <a:ext cx="5930057" cy="342900"/>
          </a:xfrm>
          <a:prstGeom prst="rect">
            <a:avLst/>
          </a:prstGeom>
          <a:solidFill>
            <a:srgbClr val="FFFFFF"/>
          </a:solidFill>
          <a:ln w="9525">
            <a:solidFill>
              <a:srgbClr val="D1D5DB"/>
            </a:solidFill>
            <a:prstDash val="solid"/>
          </a:ln>
        </p:spPr>
      </p:sp>
      <p:sp>
        <p:nvSpPr>
          <p:cNvPr id="86" name="Text 84"/>
          <p:cNvSpPr/>
          <p:nvPr/>
        </p:nvSpPr>
        <p:spPr>
          <a:xfrm>
            <a:off x="11500693" y="7686675"/>
            <a:ext cx="5822208" cy="2095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0000"/>
              </a:lnSpc>
              <a:buNone/>
            </a:pPr>
            <a:r>
              <a:rPr lang="en-US" sz="975" b="1" dirty="0">
                <a:solidFill>
                  <a:srgbClr val="D9770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T12 </a:t>
            </a:r>
            <a:pPr algn="l" indent="0" marL="0">
              <a:lnSpc>
                <a:spcPct val="140000"/>
              </a:lnSpc>
              <a:buNone/>
            </a:pPr>
            <a:r>
              <a:rPr lang="en-US" sz="975" dirty="0">
                <a:solidFill>
                  <a:srgbClr val="1A1A1A"/>
                </a:solidFill>
                <a:highlight>
                  <a:srgbClr val="FFFFFF"/>
                </a:highlight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단일 고객 25% 초과 → RS-4 발동</a:t>
            </a:r>
            <a:endParaRPr lang="en-US" sz="975" dirty="0"/>
          </a:p>
        </p:txBody>
      </p:sp>
      <p:sp>
        <p:nvSpPr>
          <p:cNvPr id="87" name="Shape 85"/>
          <p:cNvSpPr/>
          <p:nvPr/>
        </p:nvSpPr>
        <p:spPr>
          <a:xfrm>
            <a:off x="762000" y="8229600"/>
            <a:ext cx="16764000" cy="685800"/>
          </a:xfrm>
          <a:prstGeom prst="rect">
            <a:avLst/>
          </a:prstGeom>
          <a:solidFill>
            <a:srgbClr val="FEF3C7"/>
          </a:solidFill>
          <a:ln/>
        </p:spPr>
      </p:sp>
      <p:sp>
        <p:nvSpPr>
          <p:cNvPr id="88" name="Shape 86"/>
          <p:cNvSpPr/>
          <p:nvPr/>
        </p:nvSpPr>
        <p:spPr>
          <a:xfrm>
            <a:off x="762000" y="8229600"/>
            <a:ext cx="57150" cy="685800"/>
          </a:xfrm>
          <a:prstGeom prst="rect">
            <a:avLst/>
          </a:prstGeom>
          <a:solidFill>
            <a:srgbClr val="D97706"/>
          </a:solidFill>
          <a:ln/>
        </p:spPr>
      </p:sp>
      <p:sp>
        <p:nvSpPr>
          <p:cNvPr id="89" name="Shape 87"/>
          <p:cNvSpPr/>
          <p:nvPr/>
        </p:nvSpPr>
        <p:spPr>
          <a:xfrm>
            <a:off x="1085850" y="8420100"/>
            <a:ext cx="997148" cy="304800"/>
          </a:xfrm>
          <a:prstGeom prst="rect">
            <a:avLst/>
          </a:prstGeom>
          <a:solidFill>
            <a:srgbClr val="D97706"/>
          </a:solidFill>
          <a:ln/>
        </p:spPr>
      </p:sp>
      <p:sp>
        <p:nvSpPr>
          <p:cNvPr id="90" name="Text 88"/>
          <p:cNvSpPr/>
          <p:nvPr/>
        </p:nvSpPr>
        <p:spPr>
          <a:xfrm>
            <a:off x="1219200" y="8477250"/>
            <a:ext cx="806648" cy="2286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5000"/>
              </a:lnSpc>
              <a:buNone/>
            </a:pPr>
            <a:r>
              <a:rPr lang="en-US" sz="1050" b="1" spc="150" kern="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SO WHAT</a:t>
            </a:r>
            <a:endParaRPr lang="en-US" sz="1050" dirty="0"/>
          </a:p>
        </p:txBody>
      </p:sp>
      <p:sp>
        <p:nvSpPr>
          <p:cNvPr id="91" name="Text 89"/>
          <p:cNvSpPr/>
          <p:nvPr/>
        </p:nvSpPr>
        <p:spPr>
          <a:xfrm>
            <a:off x="2273498" y="8434388"/>
            <a:ext cx="6801149" cy="3143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5000"/>
              </a:lnSpc>
              <a:buNone/>
            </a:pPr>
            <a:r>
              <a:rPr lang="en-US" sz="15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지표만 보지 말고 트리거를 정의하라 — </a:t>
            </a:r>
            <a:pPr algn="l" indent="0" marL="0">
              <a:lnSpc>
                <a:spcPct val="145000"/>
              </a:lnSpc>
              <a:buNone/>
            </a:pPr>
            <a:r>
              <a:rPr lang="en-US" sz="150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자동 발동 메커니즘이 의사결정 속도를 만든다</a:t>
            </a:r>
            <a:endParaRPr lang="en-US" sz="1500" dirty="0"/>
          </a:p>
        </p:txBody>
      </p:sp>
      <p:sp>
        <p:nvSpPr>
          <p:cNvPr id="92" name="Shape 90"/>
          <p:cNvSpPr/>
          <p:nvPr/>
        </p:nvSpPr>
        <p:spPr>
          <a:xfrm>
            <a:off x="762000" y="9667875"/>
            <a:ext cx="16764000" cy="9525"/>
          </a:xfrm>
          <a:prstGeom prst="rect">
            <a:avLst/>
          </a:prstGeom>
          <a:solidFill>
            <a:srgbClr val="D1D5DB"/>
          </a:solidFill>
          <a:ln/>
        </p:spPr>
      </p:sp>
      <p:sp>
        <p:nvSpPr>
          <p:cNvPr id="93" name="Text 91"/>
          <p:cNvSpPr/>
          <p:nvPr/>
        </p:nvSpPr>
        <p:spPr>
          <a:xfrm>
            <a:off x="762000" y="9891713"/>
            <a:ext cx="1770608" cy="2190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0000"/>
              </a:lnSpc>
              <a:buNone/>
            </a:pPr>
            <a:r>
              <a:rPr lang="en-US" sz="1050" spc="38" kern="0" dirty="0">
                <a:solidFill>
                  <a:srgbClr val="6B72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삼성전자 </a:t>
            </a:r>
            <a:pPr algn="l" indent="0" marL="0">
              <a:lnSpc>
                <a:spcPct val="140000"/>
              </a:lnSpc>
              <a:buNone/>
            </a:pPr>
            <a:r>
              <a:rPr lang="en-US" sz="1050" b="1" spc="38" kern="0" dirty="0">
                <a:solidFill>
                  <a:srgbClr val="1428A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| </a:t>
            </a:r>
            <a:pPr algn="l" indent="0" marL="0">
              <a:lnSpc>
                <a:spcPct val="140000"/>
              </a:lnSpc>
              <a:buNone/>
            </a:pPr>
            <a:r>
              <a:rPr lang="en-US" sz="1050" spc="38" kern="0" dirty="0">
                <a:solidFill>
                  <a:srgbClr val="6B72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STEP 7 · 모니터링</a:t>
            </a:r>
            <a:endParaRPr lang="en-US" sz="1050" dirty="0"/>
          </a:p>
        </p:txBody>
      </p:sp>
      <p:sp>
        <p:nvSpPr>
          <p:cNvPr id="94" name="Text 92"/>
          <p:cNvSpPr/>
          <p:nvPr/>
        </p:nvSpPr>
        <p:spPr>
          <a:xfrm>
            <a:off x="17023705" y="9891713"/>
            <a:ext cx="578495" cy="2190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0000"/>
              </a:lnSpc>
              <a:buNone/>
            </a:pPr>
            <a:r>
              <a:rPr lang="en-US" sz="1050" spc="38" kern="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23 / 26</a:t>
            </a:r>
            <a:endParaRPr lang="en-US" sz="105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62000" y="533400"/>
            <a:ext cx="17266920" cy="2762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algn="l" indent="0" marL="0">
              <a:lnSpc>
                <a:spcPct val="140000"/>
              </a:lnSpc>
              <a:buNone/>
            </a:pPr>
            <a:r>
              <a:rPr lang="en-US" sz="1350" spc="150" kern="0" dirty="0">
                <a:solidFill>
                  <a:srgbClr val="1428A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STEP 8 · 전략 리마인드 (1 / 2)</a:t>
            </a:r>
            <a:endParaRPr lang="en-US" sz="1350" dirty="0"/>
          </a:p>
        </p:txBody>
      </p:sp>
      <p:sp>
        <p:nvSpPr>
          <p:cNvPr id="3" name="Text 1"/>
          <p:cNvSpPr/>
          <p:nvPr/>
        </p:nvSpPr>
        <p:spPr>
          <a:xfrm>
            <a:off x="762000" y="885825"/>
            <a:ext cx="17266920" cy="5619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3300" b="1" spc="-37" kern="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9개 결정은 묶음이다 — 분리해서 처리하면 효과가 사라진다</a:t>
            </a:r>
            <a:endParaRPr lang="en-US" sz="3300" dirty="0"/>
          </a:p>
        </p:txBody>
      </p:sp>
      <p:sp>
        <p:nvSpPr>
          <p:cNvPr id="4" name="Text 2"/>
          <p:cNvSpPr/>
          <p:nvPr/>
        </p:nvSpPr>
        <p:spPr>
          <a:xfrm>
            <a:off x="762000" y="1524000"/>
            <a:ext cx="14716125" cy="3524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50000"/>
              </a:lnSpc>
              <a:buNone/>
            </a:pPr>
            <a:r>
              <a:rPr lang="en-US" sz="1650" dirty="0">
                <a:solidFill>
                  <a:srgbClr val="6B72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모든 결정의 시한: </a:t>
            </a:r>
            <a:pPr algn="l" indent="0" marL="0">
              <a:lnSpc>
                <a:spcPct val="150000"/>
              </a:lnSpc>
              <a:buNone/>
            </a:pPr>
            <a:r>
              <a:rPr lang="en-US" sz="1650" b="1" dirty="0">
                <a:solidFill>
                  <a:srgbClr val="6B72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2026년 Q4 이내</a:t>
            </a:r>
            <a:endParaRPr lang="en-US" sz="1650" dirty="0"/>
          </a:p>
        </p:txBody>
      </p:sp>
      <p:sp>
        <p:nvSpPr>
          <p:cNvPr id="5" name="Shape 3"/>
          <p:cNvSpPr/>
          <p:nvPr/>
        </p:nvSpPr>
        <p:spPr>
          <a:xfrm>
            <a:off x="762000" y="2286000"/>
            <a:ext cx="5473601" cy="172715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Shape 4"/>
          <p:cNvSpPr/>
          <p:nvPr/>
        </p:nvSpPr>
        <p:spPr>
          <a:xfrm>
            <a:off x="762000" y="4003625"/>
            <a:ext cx="5473601" cy="9525"/>
          </a:xfrm>
          <a:prstGeom prst="rect">
            <a:avLst/>
          </a:prstGeom>
          <a:solidFill>
            <a:srgbClr val="D1D5DB"/>
          </a:solidFill>
          <a:ln/>
        </p:spPr>
      </p:sp>
      <p:sp>
        <p:nvSpPr>
          <p:cNvPr id="7" name="Shape 5"/>
          <p:cNvSpPr/>
          <p:nvPr/>
        </p:nvSpPr>
        <p:spPr>
          <a:xfrm>
            <a:off x="762000" y="2286000"/>
            <a:ext cx="5473601" cy="9525"/>
          </a:xfrm>
          <a:prstGeom prst="rect">
            <a:avLst/>
          </a:prstGeom>
          <a:solidFill>
            <a:srgbClr val="D1D5DB"/>
          </a:solidFill>
          <a:ln/>
        </p:spPr>
      </p:sp>
      <p:sp>
        <p:nvSpPr>
          <p:cNvPr id="8" name="Shape 6"/>
          <p:cNvSpPr/>
          <p:nvPr/>
        </p:nvSpPr>
        <p:spPr>
          <a:xfrm>
            <a:off x="762000" y="2286000"/>
            <a:ext cx="38100" cy="1727150"/>
          </a:xfrm>
          <a:prstGeom prst="rect">
            <a:avLst/>
          </a:prstGeom>
          <a:solidFill>
            <a:srgbClr val="DC2626"/>
          </a:solidFill>
          <a:ln/>
        </p:spPr>
      </p:sp>
      <p:sp>
        <p:nvSpPr>
          <p:cNvPr id="9" name="Shape 7"/>
          <p:cNvSpPr/>
          <p:nvPr/>
        </p:nvSpPr>
        <p:spPr>
          <a:xfrm>
            <a:off x="6226076" y="2286000"/>
            <a:ext cx="9525" cy="1727150"/>
          </a:xfrm>
          <a:prstGeom prst="rect">
            <a:avLst/>
          </a:prstGeom>
          <a:solidFill>
            <a:srgbClr val="D1D5DB"/>
          </a:solidFill>
          <a:ln/>
        </p:spPr>
      </p:sp>
      <p:sp>
        <p:nvSpPr>
          <p:cNvPr id="10" name="Text 8"/>
          <p:cNvSpPr/>
          <p:nvPr/>
        </p:nvSpPr>
        <p:spPr>
          <a:xfrm>
            <a:off x="1028700" y="2524125"/>
            <a:ext cx="5117839" cy="2095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0000"/>
              </a:lnSpc>
              <a:buNone/>
            </a:pPr>
            <a:r>
              <a:rPr lang="en-US" sz="975" b="1" spc="150" kern="0" dirty="0">
                <a:solidFill>
                  <a:srgbClr val="1428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DECISION 01</a:t>
            </a:r>
            <a:endParaRPr lang="en-US" sz="975" dirty="0"/>
          </a:p>
        </p:txBody>
      </p:sp>
      <p:sp>
        <p:nvSpPr>
          <p:cNvPr id="11" name="Text 9"/>
          <p:cNvSpPr/>
          <p:nvPr/>
        </p:nvSpPr>
        <p:spPr>
          <a:xfrm>
            <a:off x="1028700" y="2771775"/>
            <a:ext cx="5117839" cy="2667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425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HBM4 NVIDIA 점유율</a:t>
            </a:r>
            <a:endParaRPr lang="en-US" sz="1425" dirty="0"/>
          </a:p>
        </p:txBody>
      </p:sp>
      <p:sp>
        <p:nvSpPr>
          <p:cNvPr id="12" name="Text 10"/>
          <p:cNvSpPr/>
          <p:nvPr/>
        </p:nvSpPr>
        <p:spPr>
          <a:xfrm>
            <a:off x="1028700" y="3076575"/>
            <a:ext cx="5117839" cy="2381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50000"/>
              </a:lnSpc>
              <a:buNone/>
            </a:pPr>
            <a:r>
              <a:rPr lang="en-US" sz="1050" dirty="0">
                <a:solidFill>
                  <a:srgbClr val="37415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수율 90%+ Q3 2026 · 점유율 </a:t>
            </a:r>
            <a:pPr algn="l" indent="0" marL="0">
              <a:lnSpc>
                <a:spcPct val="150000"/>
              </a:lnSpc>
              <a:buNone/>
            </a:pPr>
            <a:r>
              <a:rPr lang="en-US" sz="1050" b="1" dirty="0">
                <a:solidFill>
                  <a:srgbClr val="37415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28% → 40%+</a:t>
            </a: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1028700" y="3352800"/>
            <a:ext cx="5117839" cy="1905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0000"/>
              </a:lnSpc>
              <a:buNone/>
            </a:pPr>
            <a:r>
              <a:rPr lang="en-US" sz="900" b="1" spc="75" kern="0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D-150 · 가장 임박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6407051" y="2286000"/>
            <a:ext cx="5473750" cy="172715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5" name="Shape 13"/>
          <p:cNvSpPr/>
          <p:nvPr/>
        </p:nvSpPr>
        <p:spPr>
          <a:xfrm>
            <a:off x="6407051" y="4003625"/>
            <a:ext cx="5473750" cy="9525"/>
          </a:xfrm>
          <a:prstGeom prst="rect">
            <a:avLst/>
          </a:prstGeom>
          <a:solidFill>
            <a:srgbClr val="D1D5DB"/>
          </a:solidFill>
          <a:ln/>
        </p:spPr>
      </p:sp>
      <p:sp>
        <p:nvSpPr>
          <p:cNvPr id="16" name="Shape 14"/>
          <p:cNvSpPr/>
          <p:nvPr/>
        </p:nvSpPr>
        <p:spPr>
          <a:xfrm>
            <a:off x="6407051" y="2286000"/>
            <a:ext cx="5473750" cy="9525"/>
          </a:xfrm>
          <a:prstGeom prst="rect">
            <a:avLst/>
          </a:prstGeom>
          <a:solidFill>
            <a:srgbClr val="D1D5DB"/>
          </a:solidFill>
          <a:ln/>
        </p:spPr>
      </p:sp>
      <p:sp>
        <p:nvSpPr>
          <p:cNvPr id="17" name="Shape 15"/>
          <p:cNvSpPr/>
          <p:nvPr/>
        </p:nvSpPr>
        <p:spPr>
          <a:xfrm>
            <a:off x="6407051" y="2286000"/>
            <a:ext cx="38100" cy="1727150"/>
          </a:xfrm>
          <a:prstGeom prst="rect">
            <a:avLst/>
          </a:prstGeom>
          <a:solidFill>
            <a:srgbClr val="1428A0"/>
          </a:solidFill>
          <a:ln/>
        </p:spPr>
      </p:sp>
      <p:sp>
        <p:nvSpPr>
          <p:cNvPr id="18" name="Shape 16"/>
          <p:cNvSpPr/>
          <p:nvPr/>
        </p:nvSpPr>
        <p:spPr>
          <a:xfrm>
            <a:off x="11871275" y="2286000"/>
            <a:ext cx="9525" cy="1727150"/>
          </a:xfrm>
          <a:prstGeom prst="rect">
            <a:avLst/>
          </a:prstGeom>
          <a:solidFill>
            <a:srgbClr val="D1D5DB"/>
          </a:solidFill>
          <a:ln/>
        </p:spPr>
      </p:sp>
      <p:sp>
        <p:nvSpPr>
          <p:cNvPr id="19" name="Text 17"/>
          <p:cNvSpPr/>
          <p:nvPr/>
        </p:nvSpPr>
        <p:spPr>
          <a:xfrm>
            <a:off x="6673751" y="2524125"/>
            <a:ext cx="5117992" cy="2095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0000"/>
              </a:lnSpc>
              <a:buNone/>
            </a:pPr>
            <a:r>
              <a:rPr lang="en-US" sz="975" b="1" spc="150" kern="0" dirty="0">
                <a:solidFill>
                  <a:srgbClr val="1428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DECISION 02</a:t>
            </a:r>
            <a:endParaRPr lang="en-US" sz="975" dirty="0"/>
          </a:p>
        </p:txBody>
      </p:sp>
      <p:sp>
        <p:nvSpPr>
          <p:cNvPr id="20" name="Text 18"/>
          <p:cNvSpPr/>
          <p:nvPr/>
        </p:nvSpPr>
        <p:spPr>
          <a:xfrm>
            <a:off x="6673751" y="2771775"/>
            <a:ext cx="5117992" cy="2667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425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소재 비중국 다각화</a:t>
            </a:r>
            <a:endParaRPr lang="en-US" sz="1425" dirty="0"/>
          </a:p>
        </p:txBody>
      </p:sp>
      <p:sp>
        <p:nvSpPr>
          <p:cNvPr id="21" name="Text 19"/>
          <p:cNvSpPr/>
          <p:nvPr/>
        </p:nvSpPr>
        <p:spPr>
          <a:xfrm>
            <a:off x="6673751" y="3076575"/>
            <a:ext cx="5117992" cy="2381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50000"/>
              </a:lnSpc>
              <a:buNone/>
            </a:pPr>
            <a:r>
              <a:rPr lang="en-US" sz="1050" dirty="0">
                <a:solidFill>
                  <a:srgbClr val="37415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Q3 2026 LTA 체결 · 6개월 비축 · 캐나다·호주·카자흐스탄</a:t>
            </a:r>
            <a:endParaRPr lang="en-US" sz="1050" dirty="0"/>
          </a:p>
        </p:txBody>
      </p:sp>
      <p:sp>
        <p:nvSpPr>
          <p:cNvPr id="22" name="Text 20"/>
          <p:cNvSpPr/>
          <p:nvPr/>
        </p:nvSpPr>
        <p:spPr>
          <a:xfrm>
            <a:off x="6673751" y="3352800"/>
            <a:ext cx="5117992" cy="1905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0000"/>
              </a:lnSpc>
              <a:buNone/>
            </a:pPr>
            <a:r>
              <a:rPr lang="en-US" sz="900" b="1" spc="75" kern="0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D-150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12052250" y="2286000"/>
            <a:ext cx="5473601" cy="172715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4" name="Shape 22"/>
          <p:cNvSpPr/>
          <p:nvPr/>
        </p:nvSpPr>
        <p:spPr>
          <a:xfrm>
            <a:off x="12052250" y="4003625"/>
            <a:ext cx="5473601" cy="9525"/>
          </a:xfrm>
          <a:prstGeom prst="rect">
            <a:avLst/>
          </a:prstGeom>
          <a:solidFill>
            <a:srgbClr val="D1D5DB"/>
          </a:solidFill>
          <a:ln/>
        </p:spPr>
      </p:sp>
      <p:sp>
        <p:nvSpPr>
          <p:cNvPr id="25" name="Shape 23"/>
          <p:cNvSpPr/>
          <p:nvPr/>
        </p:nvSpPr>
        <p:spPr>
          <a:xfrm>
            <a:off x="12052250" y="2286000"/>
            <a:ext cx="5473601" cy="9525"/>
          </a:xfrm>
          <a:prstGeom prst="rect">
            <a:avLst/>
          </a:prstGeom>
          <a:solidFill>
            <a:srgbClr val="D1D5DB"/>
          </a:solidFill>
          <a:ln/>
        </p:spPr>
      </p:sp>
      <p:sp>
        <p:nvSpPr>
          <p:cNvPr id="26" name="Shape 24"/>
          <p:cNvSpPr/>
          <p:nvPr/>
        </p:nvSpPr>
        <p:spPr>
          <a:xfrm>
            <a:off x="12052250" y="2286000"/>
            <a:ext cx="38100" cy="1727150"/>
          </a:xfrm>
          <a:prstGeom prst="rect">
            <a:avLst/>
          </a:prstGeom>
          <a:solidFill>
            <a:srgbClr val="1428A0"/>
          </a:solidFill>
          <a:ln/>
        </p:spPr>
      </p:sp>
      <p:sp>
        <p:nvSpPr>
          <p:cNvPr id="27" name="Shape 25"/>
          <p:cNvSpPr/>
          <p:nvPr/>
        </p:nvSpPr>
        <p:spPr>
          <a:xfrm>
            <a:off x="17516326" y="2286000"/>
            <a:ext cx="9525" cy="1727150"/>
          </a:xfrm>
          <a:prstGeom prst="rect">
            <a:avLst/>
          </a:prstGeom>
          <a:solidFill>
            <a:srgbClr val="D1D5DB"/>
          </a:solidFill>
          <a:ln/>
        </p:spPr>
      </p:sp>
      <p:sp>
        <p:nvSpPr>
          <p:cNvPr id="28" name="Text 26"/>
          <p:cNvSpPr/>
          <p:nvPr/>
        </p:nvSpPr>
        <p:spPr>
          <a:xfrm>
            <a:off x="12318950" y="2524125"/>
            <a:ext cx="5117839" cy="2095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0000"/>
              </a:lnSpc>
              <a:buNone/>
            </a:pPr>
            <a:r>
              <a:rPr lang="en-US" sz="975" b="1" spc="150" kern="0" dirty="0">
                <a:solidFill>
                  <a:srgbClr val="1428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DECISION 03</a:t>
            </a:r>
            <a:endParaRPr lang="en-US" sz="975" dirty="0"/>
          </a:p>
        </p:txBody>
      </p:sp>
      <p:sp>
        <p:nvSpPr>
          <p:cNvPr id="29" name="Text 27"/>
          <p:cNvSpPr/>
          <p:nvPr/>
        </p:nvSpPr>
        <p:spPr>
          <a:xfrm>
            <a:off x="12318950" y="2771775"/>
            <a:ext cx="5117839" cy="2667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425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3D DRAM R&amp;D + IMEC</a:t>
            </a:r>
            <a:endParaRPr lang="en-US" sz="1425" dirty="0"/>
          </a:p>
        </p:txBody>
      </p:sp>
      <p:sp>
        <p:nvSpPr>
          <p:cNvPr id="30" name="Text 28"/>
          <p:cNvSpPr/>
          <p:nvPr/>
        </p:nvSpPr>
        <p:spPr>
          <a:xfrm>
            <a:off x="12318950" y="3076575"/>
            <a:ext cx="5117839" cy="2381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50000"/>
              </a:lnSpc>
              <a:buNone/>
            </a:pPr>
            <a:r>
              <a:rPr lang="en-US" sz="1050" dirty="0">
                <a:solidFill>
                  <a:srgbClr val="37415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Q4 2026 협약 체결 · </a:t>
            </a:r>
            <a:pPr algn="l" indent="0" marL="0">
              <a:lnSpc>
                <a:spcPct val="150000"/>
              </a:lnSpc>
              <a:buNone/>
            </a:pPr>
            <a:r>
              <a:rPr lang="en-US" sz="1050" b="1" dirty="0">
                <a:solidFill>
                  <a:srgbClr val="37415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$200M / 200–300인 </a:t>
            </a:r>
            <a:pPr algn="l" indent="0" marL="0">
              <a:lnSpc>
                <a:spcPct val="150000"/>
              </a:lnSpc>
              <a:buNone/>
            </a:pPr>
            <a:r>
              <a:rPr lang="en-US" sz="1050" dirty="0">
                <a:solidFill>
                  <a:srgbClr val="37415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· 마이크론·SK 추격 차단</a:t>
            </a:r>
            <a:endParaRPr lang="en-US" sz="1050" dirty="0"/>
          </a:p>
        </p:txBody>
      </p:sp>
      <p:sp>
        <p:nvSpPr>
          <p:cNvPr id="31" name="Text 29"/>
          <p:cNvSpPr/>
          <p:nvPr/>
        </p:nvSpPr>
        <p:spPr>
          <a:xfrm>
            <a:off x="12318950" y="3352800"/>
            <a:ext cx="5117839" cy="1905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0000"/>
              </a:lnSpc>
              <a:buNone/>
            </a:pPr>
            <a:r>
              <a:rPr lang="en-US" sz="900" b="1" spc="75" kern="0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D-240</a:t>
            </a:r>
            <a:endParaRPr lang="en-US" sz="900" dirty="0"/>
          </a:p>
        </p:txBody>
      </p:sp>
      <p:sp>
        <p:nvSpPr>
          <p:cNvPr id="32" name="Shape 30"/>
          <p:cNvSpPr/>
          <p:nvPr/>
        </p:nvSpPr>
        <p:spPr>
          <a:xfrm>
            <a:off x="762000" y="4184600"/>
            <a:ext cx="5473601" cy="172715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3" name="Shape 31"/>
          <p:cNvSpPr/>
          <p:nvPr/>
        </p:nvSpPr>
        <p:spPr>
          <a:xfrm>
            <a:off x="762000" y="5902226"/>
            <a:ext cx="5473601" cy="9525"/>
          </a:xfrm>
          <a:prstGeom prst="rect">
            <a:avLst/>
          </a:prstGeom>
          <a:solidFill>
            <a:srgbClr val="D1D5DB"/>
          </a:solidFill>
          <a:ln/>
        </p:spPr>
      </p:sp>
      <p:sp>
        <p:nvSpPr>
          <p:cNvPr id="34" name="Shape 32"/>
          <p:cNvSpPr/>
          <p:nvPr/>
        </p:nvSpPr>
        <p:spPr>
          <a:xfrm>
            <a:off x="762000" y="4184600"/>
            <a:ext cx="5473601" cy="9525"/>
          </a:xfrm>
          <a:prstGeom prst="rect">
            <a:avLst/>
          </a:prstGeom>
          <a:solidFill>
            <a:srgbClr val="D1D5DB"/>
          </a:solidFill>
          <a:ln/>
        </p:spPr>
      </p:sp>
      <p:sp>
        <p:nvSpPr>
          <p:cNvPr id="35" name="Shape 33"/>
          <p:cNvSpPr/>
          <p:nvPr/>
        </p:nvSpPr>
        <p:spPr>
          <a:xfrm>
            <a:off x="762000" y="4184600"/>
            <a:ext cx="38100" cy="1727150"/>
          </a:xfrm>
          <a:prstGeom prst="rect">
            <a:avLst/>
          </a:prstGeom>
          <a:solidFill>
            <a:srgbClr val="1428A0"/>
          </a:solidFill>
          <a:ln/>
        </p:spPr>
      </p:sp>
      <p:sp>
        <p:nvSpPr>
          <p:cNvPr id="36" name="Shape 34"/>
          <p:cNvSpPr/>
          <p:nvPr/>
        </p:nvSpPr>
        <p:spPr>
          <a:xfrm>
            <a:off x="6226076" y="4184600"/>
            <a:ext cx="9525" cy="1727150"/>
          </a:xfrm>
          <a:prstGeom prst="rect">
            <a:avLst/>
          </a:prstGeom>
          <a:solidFill>
            <a:srgbClr val="D1D5DB"/>
          </a:solidFill>
          <a:ln/>
        </p:spPr>
      </p:sp>
      <p:sp>
        <p:nvSpPr>
          <p:cNvPr id="37" name="Text 35"/>
          <p:cNvSpPr/>
          <p:nvPr/>
        </p:nvSpPr>
        <p:spPr>
          <a:xfrm>
            <a:off x="1028700" y="4422725"/>
            <a:ext cx="5117839" cy="2095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0000"/>
              </a:lnSpc>
              <a:buNone/>
            </a:pPr>
            <a:r>
              <a:rPr lang="en-US" sz="975" b="1" spc="150" kern="0" dirty="0">
                <a:solidFill>
                  <a:srgbClr val="1428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DECISION 04</a:t>
            </a:r>
            <a:endParaRPr lang="en-US" sz="975" dirty="0"/>
          </a:p>
        </p:txBody>
      </p:sp>
      <p:sp>
        <p:nvSpPr>
          <p:cNvPr id="38" name="Text 36"/>
          <p:cNvSpPr/>
          <p:nvPr/>
        </p:nvSpPr>
        <p:spPr>
          <a:xfrm>
            <a:off x="1028700" y="4670375"/>
            <a:ext cx="5117839" cy="2667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425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텍사스 1·2단계</a:t>
            </a:r>
            <a:endParaRPr lang="en-US" sz="1425" dirty="0"/>
          </a:p>
        </p:txBody>
      </p:sp>
      <p:sp>
        <p:nvSpPr>
          <p:cNvPr id="39" name="Text 37"/>
          <p:cNvSpPr/>
          <p:nvPr/>
        </p:nvSpPr>
        <p:spPr>
          <a:xfrm>
            <a:off x="1028700" y="4975175"/>
            <a:ext cx="5117839" cy="2381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50000"/>
              </a:lnSpc>
              <a:buNone/>
            </a:pPr>
            <a:r>
              <a:rPr lang="en-US" sz="1050" dirty="0">
                <a:solidFill>
                  <a:srgbClr val="37415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1단계 가동 + 2단계 발표 · 미국 거점 확정</a:t>
            </a:r>
            <a:endParaRPr lang="en-US" sz="1050" dirty="0"/>
          </a:p>
        </p:txBody>
      </p:sp>
      <p:sp>
        <p:nvSpPr>
          <p:cNvPr id="40" name="Text 38"/>
          <p:cNvSpPr/>
          <p:nvPr/>
        </p:nvSpPr>
        <p:spPr>
          <a:xfrm>
            <a:off x="1028700" y="5251400"/>
            <a:ext cx="5117839" cy="1905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0000"/>
              </a:lnSpc>
              <a:buNone/>
            </a:pPr>
            <a:r>
              <a:rPr lang="en-US" sz="900" b="1" spc="75" kern="0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D-240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6407051" y="4184600"/>
            <a:ext cx="5473750" cy="172715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42" name="Shape 40"/>
          <p:cNvSpPr/>
          <p:nvPr/>
        </p:nvSpPr>
        <p:spPr>
          <a:xfrm>
            <a:off x="6407051" y="5902226"/>
            <a:ext cx="5473750" cy="9525"/>
          </a:xfrm>
          <a:prstGeom prst="rect">
            <a:avLst/>
          </a:prstGeom>
          <a:solidFill>
            <a:srgbClr val="D1D5DB"/>
          </a:solidFill>
          <a:ln/>
        </p:spPr>
      </p:sp>
      <p:sp>
        <p:nvSpPr>
          <p:cNvPr id="43" name="Shape 41"/>
          <p:cNvSpPr/>
          <p:nvPr/>
        </p:nvSpPr>
        <p:spPr>
          <a:xfrm>
            <a:off x="6407051" y="4184600"/>
            <a:ext cx="5473750" cy="9525"/>
          </a:xfrm>
          <a:prstGeom prst="rect">
            <a:avLst/>
          </a:prstGeom>
          <a:solidFill>
            <a:srgbClr val="D1D5DB"/>
          </a:solidFill>
          <a:ln/>
        </p:spPr>
      </p:sp>
      <p:sp>
        <p:nvSpPr>
          <p:cNvPr id="44" name="Shape 42"/>
          <p:cNvSpPr/>
          <p:nvPr/>
        </p:nvSpPr>
        <p:spPr>
          <a:xfrm>
            <a:off x="6407051" y="4184600"/>
            <a:ext cx="38100" cy="1727150"/>
          </a:xfrm>
          <a:prstGeom prst="rect">
            <a:avLst/>
          </a:prstGeom>
          <a:solidFill>
            <a:srgbClr val="1428A0"/>
          </a:solidFill>
          <a:ln/>
        </p:spPr>
      </p:sp>
      <p:sp>
        <p:nvSpPr>
          <p:cNvPr id="45" name="Shape 43"/>
          <p:cNvSpPr/>
          <p:nvPr/>
        </p:nvSpPr>
        <p:spPr>
          <a:xfrm>
            <a:off x="11871275" y="4184600"/>
            <a:ext cx="9525" cy="1727150"/>
          </a:xfrm>
          <a:prstGeom prst="rect">
            <a:avLst/>
          </a:prstGeom>
          <a:solidFill>
            <a:srgbClr val="D1D5DB"/>
          </a:solidFill>
          <a:ln/>
        </p:spPr>
      </p:sp>
      <p:sp>
        <p:nvSpPr>
          <p:cNvPr id="46" name="Text 44"/>
          <p:cNvSpPr/>
          <p:nvPr/>
        </p:nvSpPr>
        <p:spPr>
          <a:xfrm>
            <a:off x="6673751" y="4422725"/>
            <a:ext cx="5117992" cy="2095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0000"/>
              </a:lnSpc>
              <a:buNone/>
            </a:pPr>
            <a:r>
              <a:rPr lang="en-US" sz="975" b="1" spc="150" kern="0" dirty="0">
                <a:solidFill>
                  <a:srgbClr val="1428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DECISION 05</a:t>
            </a:r>
            <a:endParaRPr lang="en-US" sz="975" dirty="0"/>
          </a:p>
        </p:txBody>
      </p:sp>
      <p:sp>
        <p:nvSpPr>
          <p:cNvPr id="47" name="Text 45"/>
          <p:cNvSpPr/>
          <p:nvPr/>
        </p:nvSpPr>
        <p:spPr>
          <a:xfrm>
            <a:off x="6673751" y="4670375"/>
            <a:ext cx="5117992" cy="2667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425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 효율화 도구 전사 도입</a:t>
            </a:r>
            <a:endParaRPr lang="en-US" sz="1425" dirty="0"/>
          </a:p>
        </p:txBody>
      </p:sp>
      <p:sp>
        <p:nvSpPr>
          <p:cNvPr id="48" name="Text 46"/>
          <p:cNvSpPr/>
          <p:nvPr/>
        </p:nvSpPr>
        <p:spPr>
          <a:xfrm>
            <a:off x="6673751" y="4975175"/>
            <a:ext cx="5117992" cy="2381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50000"/>
              </a:lnSpc>
              <a:buNone/>
            </a:pPr>
            <a:r>
              <a:rPr lang="en-US" sz="1050" dirty="0">
                <a:solidFill>
                  <a:srgbClr val="37415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Q4 파일럿 → Q1 전사 전개 · RS-2 · RS-3 선행 조건</a:t>
            </a:r>
            <a:endParaRPr lang="en-US" sz="1050" dirty="0"/>
          </a:p>
        </p:txBody>
      </p:sp>
      <p:sp>
        <p:nvSpPr>
          <p:cNvPr id="49" name="Text 47"/>
          <p:cNvSpPr/>
          <p:nvPr/>
        </p:nvSpPr>
        <p:spPr>
          <a:xfrm>
            <a:off x="6673751" y="5251400"/>
            <a:ext cx="5117992" cy="1905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0000"/>
              </a:lnSpc>
              <a:buNone/>
            </a:pPr>
            <a:r>
              <a:rPr lang="en-US" sz="900" b="1" spc="75" kern="0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D-240</a:t>
            </a:r>
            <a:endParaRPr lang="en-US" sz="900" dirty="0"/>
          </a:p>
        </p:txBody>
      </p:sp>
      <p:sp>
        <p:nvSpPr>
          <p:cNvPr id="50" name="Shape 48"/>
          <p:cNvSpPr/>
          <p:nvPr/>
        </p:nvSpPr>
        <p:spPr>
          <a:xfrm>
            <a:off x="12052250" y="4184600"/>
            <a:ext cx="5473601" cy="172715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51" name="Shape 49"/>
          <p:cNvSpPr/>
          <p:nvPr/>
        </p:nvSpPr>
        <p:spPr>
          <a:xfrm>
            <a:off x="12052250" y="5902226"/>
            <a:ext cx="5473601" cy="9525"/>
          </a:xfrm>
          <a:prstGeom prst="rect">
            <a:avLst/>
          </a:prstGeom>
          <a:solidFill>
            <a:srgbClr val="D1D5DB"/>
          </a:solidFill>
          <a:ln/>
        </p:spPr>
      </p:sp>
      <p:sp>
        <p:nvSpPr>
          <p:cNvPr id="52" name="Shape 50"/>
          <p:cNvSpPr/>
          <p:nvPr/>
        </p:nvSpPr>
        <p:spPr>
          <a:xfrm>
            <a:off x="12052250" y="4184600"/>
            <a:ext cx="5473601" cy="9525"/>
          </a:xfrm>
          <a:prstGeom prst="rect">
            <a:avLst/>
          </a:prstGeom>
          <a:solidFill>
            <a:srgbClr val="D1D5DB"/>
          </a:solidFill>
          <a:ln/>
        </p:spPr>
      </p:sp>
      <p:sp>
        <p:nvSpPr>
          <p:cNvPr id="53" name="Shape 51"/>
          <p:cNvSpPr/>
          <p:nvPr/>
        </p:nvSpPr>
        <p:spPr>
          <a:xfrm>
            <a:off x="12052250" y="4184600"/>
            <a:ext cx="38100" cy="1727150"/>
          </a:xfrm>
          <a:prstGeom prst="rect">
            <a:avLst/>
          </a:prstGeom>
          <a:solidFill>
            <a:srgbClr val="1428A0"/>
          </a:solidFill>
          <a:ln/>
        </p:spPr>
      </p:sp>
      <p:sp>
        <p:nvSpPr>
          <p:cNvPr id="54" name="Shape 52"/>
          <p:cNvSpPr/>
          <p:nvPr/>
        </p:nvSpPr>
        <p:spPr>
          <a:xfrm>
            <a:off x="17516326" y="4184600"/>
            <a:ext cx="9525" cy="1727150"/>
          </a:xfrm>
          <a:prstGeom prst="rect">
            <a:avLst/>
          </a:prstGeom>
          <a:solidFill>
            <a:srgbClr val="D1D5DB"/>
          </a:solidFill>
          <a:ln/>
        </p:spPr>
      </p:sp>
      <p:sp>
        <p:nvSpPr>
          <p:cNvPr id="55" name="Text 53"/>
          <p:cNvSpPr/>
          <p:nvPr/>
        </p:nvSpPr>
        <p:spPr>
          <a:xfrm>
            <a:off x="12318950" y="4422725"/>
            <a:ext cx="5117839" cy="2095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0000"/>
              </a:lnSpc>
              <a:buNone/>
            </a:pPr>
            <a:r>
              <a:rPr lang="en-US" sz="975" b="1" spc="150" kern="0" dirty="0">
                <a:solidFill>
                  <a:srgbClr val="1428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DECISION 06</a:t>
            </a:r>
            <a:endParaRPr lang="en-US" sz="975" dirty="0"/>
          </a:p>
        </p:txBody>
      </p:sp>
      <p:sp>
        <p:nvSpPr>
          <p:cNvPr id="56" name="Text 54"/>
          <p:cNvSpPr/>
          <p:nvPr/>
        </p:nvSpPr>
        <p:spPr>
          <a:xfrm>
            <a:off x="12318950" y="4670375"/>
            <a:ext cx="5117839" cy="2667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425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RS-1·RS-4·RS-5 이사회 정책화</a:t>
            </a:r>
            <a:endParaRPr lang="en-US" sz="1425" dirty="0"/>
          </a:p>
        </p:txBody>
      </p:sp>
      <p:sp>
        <p:nvSpPr>
          <p:cNvPr id="57" name="Text 55"/>
          <p:cNvSpPr/>
          <p:nvPr/>
        </p:nvSpPr>
        <p:spPr>
          <a:xfrm>
            <a:off x="12318950" y="4975175"/>
            <a:ext cx="5117839" cy="2381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50000"/>
              </a:lnSpc>
              <a:buNone/>
            </a:pPr>
            <a:r>
              <a:rPr lang="en-US" sz="1050" dirty="0">
                <a:solidFill>
                  <a:srgbClr val="37415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다운사이클 capex </a:t>
            </a:r>
            <a:pPr algn="l" indent="0" marL="0">
              <a:lnSpc>
                <a:spcPct val="150000"/>
              </a:lnSpc>
              <a:buNone/>
            </a:pPr>
            <a:r>
              <a:rPr lang="en-US" sz="1050" b="1" dirty="0">
                <a:solidFill>
                  <a:srgbClr val="37415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4조원 명문화 </a:t>
            </a:r>
            <a:pPr algn="l" indent="0" marL="0">
              <a:lnSpc>
                <a:spcPct val="150000"/>
              </a:lnSpc>
              <a:buNone/>
            </a:pPr>
            <a:r>
              <a:rPr lang="en-US" sz="1050" dirty="0">
                <a:solidFill>
                  <a:srgbClr val="37415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· 활동가 투자자 방어 거버넌스</a:t>
            </a:r>
            <a:endParaRPr lang="en-US" sz="1050" dirty="0"/>
          </a:p>
        </p:txBody>
      </p:sp>
      <p:sp>
        <p:nvSpPr>
          <p:cNvPr id="58" name="Text 56"/>
          <p:cNvSpPr/>
          <p:nvPr/>
        </p:nvSpPr>
        <p:spPr>
          <a:xfrm>
            <a:off x="12318950" y="5251400"/>
            <a:ext cx="5117839" cy="1905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0000"/>
              </a:lnSpc>
              <a:buNone/>
            </a:pPr>
            <a:r>
              <a:rPr lang="en-US" sz="900" b="1" spc="75" kern="0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D-150</a:t>
            </a:r>
            <a:endParaRPr lang="en-US" sz="900" dirty="0"/>
          </a:p>
        </p:txBody>
      </p:sp>
      <p:sp>
        <p:nvSpPr>
          <p:cNvPr id="59" name="Shape 57"/>
          <p:cNvSpPr/>
          <p:nvPr/>
        </p:nvSpPr>
        <p:spPr>
          <a:xfrm>
            <a:off x="762000" y="6083201"/>
            <a:ext cx="5473601" cy="172715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0" name="Shape 58"/>
          <p:cNvSpPr/>
          <p:nvPr/>
        </p:nvSpPr>
        <p:spPr>
          <a:xfrm>
            <a:off x="762000" y="7800826"/>
            <a:ext cx="5473601" cy="9525"/>
          </a:xfrm>
          <a:prstGeom prst="rect">
            <a:avLst/>
          </a:prstGeom>
          <a:solidFill>
            <a:srgbClr val="D1D5DB"/>
          </a:solidFill>
          <a:ln/>
        </p:spPr>
      </p:sp>
      <p:sp>
        <p:nvSpPr>
          <p:cNvPr id="61" name="Shape 59"/>
          <p:cNvSpPr/>
          <p:nvPr/>
        </p:nvSpPr>
        <p:spPr>
          <a:xfrm>
            <a:off x="762000" y="6083201"/>
            <a:ext cx="5473601" cy="9525"/>
          </a:xfrm>
          <a:prstGeom prst="rect">
            <a:avLst/>
          </a:prstGeom>
          <a:solidFill>
            <a:srgbClr val="D1D5DB"/>
          </a:solidFill>
          <a:ln/>
        </p:spPr>
      </p:sp>
      <p:sp>
        <p:nvSpPr>
          <p:cNvPr id="62" name="Shape 60"/>
          <p:cNvSpPr/>
          <p:nvPr/>
        </p:nvSpPr>
        <p:spPr>
          <a:xfrm>
            <a:off x="762000" y="6083201"/>
            <a:ext cx="38100" cy="1727150"/>
          </a:xfrm>
          <a:prstGeom prst="rect">
            <a:avLst/>
          </a:prstGeom>
          <a:solidFill>
            <a:srgbClr val="1428A0"/>
          </a:solidFill>
          <a:ln/>
        </p:spPr>
      </p:sp>
      <p:sp>
        <p:nvSpPr>
          <p:cNvPr id="63" name="Shape 61"/>
          <p:cNvSpPr/>
          <p:nvPr/>
        </p:nvSpPr>
        <p:spPr>
          <a:xfrm>
            <a:off x="6226076" y="6083201"/>
            <a:ext cx="9525" cy="1727150"/>
          </a:xfrm>
          <a:prstGeom prst="rect">
            <a:avLst/>
          </a:prstGeom>
          <a:solidFill>
            <a:srgbClr val="D1D5DB"/>
          </a:solidFill>
          <a:ln/>
        </p:spPr>
      </p:sp>
      <p:sp>
        <p:nvSpPr>
          <p:cNvPr id="64" name="Text 62"/>
          <p:cNvSpPr/>
          <p:nvPr/>
        </p:nvSpPr>
        <p:spPr>
          <a:xfrm>
            <a:off x="1028700" y="6321326"/>
            <a:ext cx="5117839" cy="2095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0000"/>
              </a:lnSpc>
              <a:buNone/>
            </a:pPr>
            <a:r>
              <a:rPr lang="en-US" sz="975" b="1" spc="150" kern="0" dirty="0">
                <a:solidFill>
                  <a:srgbClr val="1428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DECISION 07</a:t>
            </a:r>
            <a:endParaRPr lang="en-US" sz="975" dirty="0"/>
          </a:p>
        </p:txBody>
      </p:sp>
      <p:sp>
        <p:nvSpPr>
          <p:cNvPr id="65" name="Text 63"/>
          <p:cNvSpPr/>
          <p:nvPr/>
        </p:nvSpPr>
        <p:spPr>
          <a:xfrm>
            <a:off x="1028700" y="6568976"/>
            <a:ext cx="5117839" cy="2667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425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 잉여 인력 전환 배치</a:t>
            </a:r>
            <a:endParaRPr lang="en-US" sz="1425" dirty="0"/>
          </a:p>
        </p:txBody>
      </p:sp>
      <p:sp>
        <p:nvSpPr>
          <p:cNvPr id="66" name="Text 64"/>
          <p:cNvSpPr/>
          <p:nvPr/>
        </p:nvSpPr>
        <p:spPr>
          <a:xfrm>
            <a:off x="1028700" y="6873776"/>
            <a:ext cx="5117839" cy="2381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50000"/>
              </a:lnSpc>
              <a:buNone/>
            </a:pPr>
            <a:r>
              <a:rPr lang="en-US" sz="1050" dirty="0">
                <a:solidFill>
                  <a:srgbClr val="37415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2027 Q1 가시화 · 분기별 사업부장 보고</a:t>
            </a:r>
            <a:endParaRPr lang="en-US" sz="1050" dirty="0"/>
          </a:p>
        </p:txBody>
      </p:sp>
      <p:sp>
        <p:nvSpPr>
          <p:cNvPr id="67" name="Text 65"/>
          <p:cNvSpPr/>
          <p:nvPr/>
        </p:nvSpPr>
        <p:spPr>
          <a:xfrm>
            <a:off x="1028700" y="7150001"/>
            <a:ext cx="5117839" cy="1905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0000"/>
              </a:lnSpc>
              <a:buNone/>
            </a:pPr>
            <a:r>
              <a:rPr lang="en-US" sz="900" b="1" spc="75" kern="0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D-330</a:t>
            </a:r>
            <a:endParaRPr lang="en-US" sz="900" dirty="0"/>
          </a:p>
        </p:txBody>
      </p:sp>
      <p:sp>
        <p:nvSpPr>
          <p:cNvPr id="68" name="Shape 66"/>
          <p:cNvSpPr/>
          <p:nvPr/>
        </p:nvSpPr>
        <p:spPr>
          <a:xfrm>
            <a:off x="6407051" y="6083201"/>
            <a:ext cx="5473750" cy="172715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9" name="Shape 67"/>
          <p:cNvSpPr/>
          <p:nvPr/>
        </p:nvSpPr>
        <p:spPr>
          <a:xfrm>
            <a:off x="6407051" y="7800826"/>
            <a:ext cx="5473750" cy="9525"/>
          </a:xfrm>
          <a:prstGeom prst="rect">
            <a:avLst/>
          </a:prstGeom>
          <a:solidFill>
            <a:srgbClr val="D1D5DB"/>
          </a:solidFill>
          <a:ln/>
        </p:spPr>
      </p:sp>
      <p:sp>
        <p:nvSpPr>
          <p:cNvPr id="70" name="Shape 68"/>
          <p:cNvSpPr/>
          <p:nvPr/>
        </p:nvSpPr>
        <p:spPr>
          <a:xfrm>
            <a:off x="6407051" y="6083201"/>
            <a:ext cx="5473750" cy="9525"/>
          </a:xfrm>
          <a:prstGeom prst="rect">
            <a:avLst/>
          </a:prstGeom>
          <a:solidFill>
            <a:srgbClr val="D1D5DB"/>
          </a:solidFill>
          <a:ln/>
        </p:spPr>
      </p:sp>
      <p:sp>
        <p:nvSpPr>
          <p:cNvPr id="71" name="Shape 69"/>
          <p:cNvSpPr/>
          <p:nvPr/>
        </p:nvSpPr>
        <p:spPr>
          <a:xfrm>
            <a:off x="6407051" y="6083201"/>
            <a:ext cx="38100" cy="1727150"/>
          </a:xfrm>
          <a:prstGeom prst="rect">
            <a:avLst/>
          </a:prstGeom>
          <a:solidFill>
            <a:srgbClr val="1428A0"/>
          </a:solidFill>
          <a:ln/>
        </p:spPr>
      </p:sp>
      <p:sp>
        <p:nvSpPr>
          <p:cNvPr id="72" name="Shape 70"/>
          <p:cNvSpPr/>
          <p:nvPr/>
        </p:nvSpPr>
        <p:spPr>
          <a:xfrm>
            <a:off x="11871275" y="6083201"/>
            <a:ext cx="9525" cy="1727150"/>
          </a:xfrm>
          <a:prstGeom prst="rect">
            <a:avLst/>
          </a:prstGeom>
          <a:solidFill>
            <a:srgbClr val="D1D5DB"/>
          </a:solidFill>
          <a:ln/>
        </p:spPr>
      </p:sp>
      <p:sp>
        <p:nvSpPr>
          <p:cNvPr id="73" name="Text 71"/>
          <p:cNvSpPr/>
          <p:nvPr/>
        </p:nvSpPr>
        <p:spPr>
          <a:xfrm>
            <a:off x="6673751" y="6321326"/>
            <a:ext cx="5117992" cy="2095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0000"/>
              </a:lnSpc>
              <a:buNone/>
            </a:pPr>
            <a:r>
              <a:rPr lang="en-US" sz="975" b="1" spc="150" kern="0" dirty="0">
                <a:solidFill>
                  <a:srgbClr val="1428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DECISION 08</a:t>
            </a:r>
            <a:endParaRPr lang="en-US" sz="975" dirty="0"/>
          </a:p>
        </p:txBody>
      </p:sp>
      <p:sp>
        <p:nvSpPr>
          <p:cNvPr id="74" name="Text 72"/>
          <p:cNvSpPr/>
          <p:nvPr/>
        </p:nvSpPr>
        <p:spPr>
          <a:xfrm>
            <a:off x="6673751" y="6568976"/>
            <a:ext cx="5117992" cy="2667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425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텍사스 2단계 추가 보조금</a:t>
            </a:r>
            <a:endParaRPr lang="en-US" sz="1425" dirty="0"/>
          </a:p>
        </p:txBody>
      </p:sp>
      <p:sp>
        <p:nvSpPr>
          <p:cNvPr id="75" name="Text 73"/>
          <p:cNvSpPr/>
          <p:nvPr/>
        </p:nvSpPr>
        <p:spPr>
          <a:xfrm>
            <a:off x="6673751" y="6873776"/>
            <a:ext cx="5117992" cy="2381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50000"/>
              </a:lnSpc>
              <a:buNone/>
            </a:pPr>
            <a:r>
              <a:rPr lang="en-US" sz="1050" dirty="0">
                <a:solidFill>
                  <a:srgbClr val="37415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CHIPS 추가 협상 + LTA · Tesla 외 미국계 빅테크</a:t>
            </a:r>
            <a:endParaRPr lang="en-US" sz="1050" dirty="0"/>
          </a:p>
        </p:txBody>
      </p:sp>
      <p:sp>
        <p:nvSpPr>
          <p:cNvPr id="76" name="Text 74"/>
          <p:cNvSpPr/>
          <p:nvPr/>
        </p:nvSpPr>
        <p:spPr>
          <a:xfrm>
            <a:off x="6673751" y="7150001"/>
            <a:ext cx="5117992" cy="1905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0000"/>
              </a:lnSpc>
              <a:buNone/>
            </a:pPr>
            <a:r>
              <a:rPr lang="en-US" sz="900" b="1" spc="75" kern="0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D-240</a:t>
            </a:r>
            <a:endParaRPr lang="en-US" sz="900" dirty="0"/>
          </a:p>
        </p:txBody>
      </p:sp>
      <p:sp>
        <p:nvSpPr>
          <p:cNvPr id="77" name="Shape 75"/>
          <p:cNvSpPr/>
          <p:nvPr/>
        </p:nvSpPr>
        <p:spPr>
          <a:xfrm>
            <a:off x="12052250" y="6083201"/>
            <a:ext cx="5473601" cy="1727150"/>
          </a:xfrm>
          <a:prstGeom prst="rect">
            <a:avLst/>
          </a:prstGeom>
          <a:solidFill>
            <a:srgbClr val="FEF3C7"/>
          </a:solidFill>
          <a:ln/>
        </p:spPr>
      </p:sp>
      <p:sp>
        <p:nvSpPr>
          <p:cNvPr id="78" name="Shape 76"/>
          <p:cNvSpPr/>
          <p:nvPr/>
        </p:nvSpPr>
        <p:spPr>
          <a:xfrm>
            <a:off x="12052250" y="7800826"/>
            <a:ext cx="5473601" cy="9525"/>
          </a:xfrm>
          <a:prstGeom prst="rect">
            <a:avLst/>
          </a:prstGeom>
          <a:solidFill>
            <a:srgbClr val="D1D5DB"/>
          </a:solidFill>
          <a:ln/>
        </p:spPr>
      </p:sp>
      <p:sp>
        <p:nvSpPr>
          <p:cNvPr id="79" name="Shape 77"/>
          <p:cNvSpPr/>
          <p:nvPr/>
        </p:nvSpPr>
        <p:spPr>
          <a:xfrm>
            <a:off x="12052250" y="6083201"/>
            <a:ext cx="5473601" cy="9525"/>
          </a:xfrm>
          <a:prstGeom prst="rect">
            <a:avLst/>
          </a:prstGeom>
          <a:solidFill>
            <a:srgbClr val="D1D5DB"/>
          </a:solidFill>
          <a:ln/>
        </p:spPr>
      </p:sp>
      <p:sp>
        <p:nvSpPr>
          <p:cNvPr id="80" name="Shape 78"/>
          <p:cNvSpPr/>
          <p:nvPr/>
        </p:nvSpPr>
        <p:spPr>
          <a:xfrm>
            <a:off x="12052250" y="6083201"/>
            <a:ext cx="38100" cy="1727150"/>
          </a:xfrm>
          <a:prstGeom prst="rect">
            <a:avLst/>
          </a:prstGeom>
          <a:solidFill>
            <a:srgbClr val="D97706"/>
          </a:solidFill>
          <a:ln/>
        </p:spPr>
      </p:sp>
      <p:sp>
        <p:nvSpPr>
          <p:cNvPr id="81" name="Shape 79"/>
          <p:cNvSpPr/>
          <p:nvPr/>
        </p:nvSpPr>
        <p:spPr>
          <a:xfrm>
            <a:off x="17516326" y="6083201"/>
            <a:ext cx="9525" cy="1727150"/>
          </a:xfrm>
          <a:prstGeom prst="rect">
            <a:avLst/>
          </a:prstGeom>
          <a:solidFill>
            <a:srgbClr val="D1D5DB"/>
          </a:solidFill>
          <a:ln/>
        </p:spPr>
      </p:sp>
      <p:sp>
        <p:nvSpPr>
          <p:cNvPr id="82" name="Text 80"/>
          <p:cNvSpPr/>
          <p:nvPr/>
        </p:nvSpPr>
        <p:spPr>
          <a:xfrm>
            <a:off x="12318950" y="6321326"/>
            <a:ext cx="5117839" cy="2095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0000"/>
              </a:lnSpc>
              <a:buNone/>
            </a:pPr>
            <a:r>
              <a:rPr lang="en-US" sz="975" b="1" spc="150" kern="0" dirty="0">
                <a:solidFill>
                  <a:srgbClr val="D9770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DECISION 09</a:t>
            </a:r>
            <a:endParaRPr lang="en-US" sz="975" dirty="0"/>
          </a:p>
        </p:txBody>
      </p:sp>
      <p:sp>
        <p:nvSpPr>
          <p:cNvPr id="83" name="Text 81"/>
          <p:cNvSpPr/>
          <p:nvPr/>
        </p:nvSpPr>
        <p:spPr>
          <a:xfrm>
            <a:off x="12318950" y="6568976"/>
            <a:ext cx="5117839" cy="2667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425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다운사이클 M&amp;A 펀드</a:t>
            </a:r>
            <a:endParaRPr lang="en-US" sz="1425" dirty="0"/>
          </a:p>
        </p:txBody>
      </p:sp>
      <p:sp>
        <p:nvSpPr>
          <p:cNvPr id="84" name="Text 82"/>
          <p:cNvSpPr/>
          <p:nvPr/>
        </p:nvSpPr>
        <p:spPr>
          <a:xfrm>
            <a:off x="12318950" y="6873776"/>
            <a:ext cx="5117839" cy="2381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50000"/>
              </a:lnSpc>
              <a:buNone/>
            </a:pPr>
            <a:r>
              <a:rPr lang="en-US" sz="1050" b="1" dirty="0">
                <a:solidFill>
                  <a:srgbClr val="37415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5,000억원 </a:t>
            </a:r>
            <a:pPr algn="l" indent="0" marL="0">
              <a:lnSpc>
                <a:spcPct val="150000"/>
              </a:lnSpc>
              <a:buNone/>
            </a:pPr>
            <a:r>
              <a:rPr lang="en-US" sz="1050" dirty="0">
                <a:solidFill>
                  <a:srgbClr val="37415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사전 적립 · Disney-Marvel 자동 트리거</a:t>
            </a:r>
            <a:endParaRPr lang="en-US" sz="1050" dirty="0"/>
          </a:p>
        </p:txBody>
      </p:sp>
      <p:sp>
        <p:nvSpPr>
          <p:cNvPr id="85" name="Text 83"/>
          <p:cNvSpPr/>
          <p:nvPr/>
        </p:nvSpPr>
        <p:spPr>
          <a:xfrm>
            <a:off x="12318950" y="7150001"/>
            <a:ext cx="5117839" cy="1905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0000"/>
              </a:lnSpc>
              <a:buNone/>
            </a:pPr>
            <a:r>
              <a:rPr lang="en-US" sz="900" b="1" spc="75" kern="0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D-240</a:t>
            </a:r>
            <a:endParaRPr lang="en-US" sz="900" dirty="0"/>
          </a:p>
        </p:txBody>
      </p:sp>
      <p:sp>
        <p:nvSpPr>
          <p:cNvPr id="86" name="Shape 84"/>
          <p:cNvSpPr/>
          <p:nvPr/>
        </p:nvSpPr>
        <p:spPr>
          <a:xfrm>
            <a:off x="762000" y="8039100"/>
            <a:ext cx="16764000" cy="990600"/>
          </a:xfrm>
          <a:prstGeom prst="rect">
            <a:avLst/>
          </a:prstGeom>
          <a:solidFill>
            <a:srgbClr val="1428A0"/>
          </a:solidFill>
          <a:ln/>
        </p:spPr>
      </p:sp>
      <p:sp>
        <p:nvSpPr>
          <p:cNvPr id="87" name="Text 85"/>
          <p:cNvSpPr/>
          <p:nvPr/>
        </p:nvSpPr>
        <p:spPr>
          <a:xfrm>
            <a:off x="1066800" y="8267700"/>
            <a:ext cx="4406560" cy="2190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0000"/>
              </a:lnSpc>
              <a:buNone/>
            </a:pPr>
            <a:r>
              <a:rPr lang="en-US" sz="1050" b="1" spc="150" kern="0" dirty="0">
                <a:solidFill>
                  <a:srgbClr val="D9770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BUNDLE LOGIC</a:t>
            </a:r>
            <a:endParaRPr lang="en-US" sz="1050" dirty="0"/>
          </a:p>
        </p:txBody>
      </p:sp>
      <p:sp>
        <p:nvSpPr>
          <p:cNvPr id="88" name="Text 86"/>
          <p:cNvSpPr/>
          <p:nvPr/>
        </p:nvSpPr>
        <p:spPr>
          <a:xfrm>
            <a:off x="1066800" y="8486775"/>
            <a:ext cx="4406560" cy="3524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0000"/>
              </a:lnSpc>
              <a:buNone/>
            </a:pPr>
            <a:r>
              <a:rPr lang="en-US" sz="18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9개 결정은 묶음이다 — 하나만 해도 효과 없음</a:t>
            </a:r>
            <a:endParaRPr lang="en-US" sz="1800" dirty="0"/>
          </a:p>
        </p:txBody>
      </p:sp>
      <p:sp>
        <p:nvSpPr>
          <p:cNvPr id="89" name="Text 87"/>
          <p:cNvSpPr/>
          <p:nvPr/>
        </p:nvSpPr>
        <p:spPr>
          <a:xfrm>
            <a:off x="13428018" y="8434388"/>
            <a:ext cx="1350466" cy="2381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0000"/>
              </a:lnSpc>
              <a:buNone/>
            </a:pPr>
            <a:r>
              <a:rPr lang="en-US" sz="1125" b="1" dirty="0">
                <a:solidFill>
                  <a:srgbClr val="D9770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직렬 의존 </a:t>
            </a:r>
            <a:pPr algn="l" indent="0" marL="0">
              <a:lnSpc>
                <a:spcPct val="140000"/>
              </a:lnSpc>
              <a:buNone/>
            </a:pPr>
            <a:r>
              <a:rPr lang="en-US" sz="1125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· D1·D5·D7</a:t>
            </a:r>
            <a:endParaRPr lang="en-US" sz="1125" dirty="0"/>
          </a:p>
        </p:txBody>
      </p:sp>
      <p:sp>
        <p:nvSpPr>
          <p:cNvPr id="90" name="Text 88"/>
          <p:cNvSpPr/>
          <p:nvPr/>
        </p:nvSpPr>
        <p:spPr>
          <a:xfrm>
            <a:off x="14968984" y="8434388"/>
            <a:ext cx="1133177" cy="2381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0000"/>
              </a:lnSpc>
              <a:buNone/>
            </a:pPr>
            <a:r>
              <a:rPr lang="en-US" sz="1125" b="1" dirty="0">
                <a:solidFill>
                  <a:srgbClr val="D9770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동시 처리 </a:t>
            </a:r>
            <a:pPr algn="l" indent="0" marL="0">
              <a:lnSpc>
                <a:spcPct val="140000"/>
              </a:lnSpc>
              <a:buNone/>
            </a:pPr>
            <a:r>
              <a:rPr lang="en-US" sz="1125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· D4·D8</a:t>
            </a:r>
            <a:endParaRPr lang="en-US" sz="1125" dirty="0"/>
          </a:p>
        </p:txBody>
      </p:sp>
      <p:sp>
        <p:nvSpPr>
          <p:cNvPr id="91" name="Text 89"/>
          <p:cNvSpPr/>
          <p:nvPr/>
        </p:nvSpPr>
        <p:spPr>
          <a:xfrm>
            <a:off x="16292661" y="8434388"/>
            <a:ext cx="1004739" cy="2381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0000"/>
              </a:lnSpc>
              <a:buNone/>
            </a:pPr>
            <a:r>
              <a:rPr lang="en-US" sz="1125" b="1" dirty="0">
                <a:solidFill>
                  <a:srgbClr val="D9770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기반 </a:t>
            </a:r>
            <a:pPr algn="l" indent="0" marL="0">
              <a:lnSpc>
                <a:spcPct val="140000"/>
              </a:lnSpc>
              <a:buNone/>
            </a:pPr>
            <a:r>
              <a:rPr lang="en-US" sz="1125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· D6 → D9</a:t>
            </a:r>
            <a:endParaRPr lang="en-US" sz="1125" dirty="0"/>
          </a:p>
        </p:txBody>
      </p:sp>
      <p:sp>
        <p:nvSpPr>
          <p:cNvPr id="92" name="Shape 90"/>
          <p:cNvSpPr/>
          <p:nvPr/>
        </p:nvSpPr>
        <p:spPr>
          <a:xfrm>
            <a:off x="762000" y="9667875"/>
            <a:ext cx="16764000" cy="9525"/>
          </a:xfrm>
          <a:prstGeom prst="rect">
            <a:avLst/>
          </a:prstGeom>
          <a:solidFill>
            <a:srgbClr val="D1D5DB"/>
          </a:solidFill>
          <a:ln/>
        </p:spPr>
      </p:sp>
      <p:sp>
        <p:nvSpPr>
          <p:cNvPr id="93" name="Text 91"/>
          <p:cNvSpPr/>
          <p:nvPr/>
        </p:nvSpPr>
        <p:spPr>
          <a:xfrm>
            <a:off x="762000" y="9891713"/>
            <a:ext cx="1770608" cy="2190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0000"/>
              </a:lnSpc>
              <a:buNone/>
            </a:pPr>
            <a:r>
              <a:rPr lang="en-US" sz="1050" spc="38" kern="0" dirty="0">
                <a:solidFill>
                  <a:srgbClr val="6B72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삼성전자 </a:t>
            </a:r>
            <a:pPr algn="l" indent="0" marL="0">
              <a:lnSpc>
                <a:spcPct val="140000"/>
              </a:lnSpc>
              <a:buNone/>
            </a:pPr>
            <a:r>
              <a:rPr lang="en-US" sz="1050" b="1" spc="38" kern="0" dirty="0">
                <a:solidFill>
                  <a:srgbClr val="1428A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| </a:t>
            </a:r>
            <a:pPr algn="l" indent="0" marL="0">
              <a:lnSpc>
                <a:spcPct val="140000"/>
              </a:lnSpc>
              <a:buNone/>
            </a:pPr>
            <a:r>
              <a:rPr lang="en-US" sz="1050" spc="38" kern="0" dirty="0">
                <a:solidFill>
                  <a:srgbClr val="6B72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STEP 8 · 리마인드</a:t>
            </a:r>
            <a:endParaRPr lang="en-US" sz="1050" dirty="0"/>
          </a:p>
        </p:txBody>
      </p:sp>
      <p:sp>
        <p:nvSpPr>
          <p:cNvPr id="94" name="Text 92"/>
          <p:cNvSpPr/>
          <p:nvPr/>
        </p:nvSpPr>
        <p:spPr>
          <a:xfrm>
            <a:off x="17023705" y="9891713"/>
            <a:ext cx="578495" cy="2190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0000"/>
              </a:lnSpc>
              <a:buNone/>
            </a:pPr>
            <a:r>
              <a:rPr lang="en-US" sz="1050" spc="38" kern="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24 / 26</a:t>
            </a:r>
            <a:endParaRPr lang="en-US" sz="105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62000" y="533400"/>
            <a:ext cx="17266920" cy="2762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algn="l" indent="0" marL="0">
              <a:lnSpc>
                <a:spcPct val="140000"/>
              </a:lnSpc>
              <a:buNone/>
            </a:pPr>
            <a:r>
              <a:rPr lang="en-US" sz="1350" spc="150" kern="0" dirty="0">
                <a:solidFill>
                  <a:srgbClr val="1428A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STEP 8 · 전략 리마인드 (2 / 2)</a:t>
            </a:r>
            <a:endParaRPr lang="en-US" sz="1350" dirty="0"/>
          </a:p>
        </p:txBody>
      </p:sp>
      <p:sp>
        <p:nvSpPr>
          <p:cNvPr id="3" name="Text 1"/>
          <p:cNvSpPr/>
          <p:nvPr/>
        </p:nvSpPr>
        <p:spPr>
          <a:xfrm>
            <a:off x="762000" y="885825"/>
            <a:ext cx="17266920" cy="5619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3300" b="1" spc="-37" kern="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Main · Side · Robust 9개 핵심 전략의 묶음이 세 문제를 동시에 해결한다</a:t>
            </a:r>
            <a:endParaRPr lang="en-US" sz="3300" dirty="0"/>
          </a:p>
        </p:txBody>
      </p:sp>
      <p:sp>
        <p:nvSpPr>
          <p:cNvPr id="4" name="Text 2"/>
          <p:cNvSpPr/>
          <p:nvPr/>
        </p:nvSpPr>
        <p:spPr>
          <a:xfrm>
            <a:off x="762000" y="1524000"/>
            <a:ext cx="14716125" cy="3524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50000"/>
              </a:lnSpc>
              <a:buNone/>
            </a:pPr>
            <a:r>
              <a:rPr lang="en-US" sz="1650" dirty="0">
                <a:solidFill>
                  <a:srgbClr val="6B72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다운턴 흑자 · 1위 회복 · 자산 폭락 시 M&amp;A — 단일 전략으로는 어느 하나도 풀리지 않음</a:t>
            </a:r>
            <a:endParaRPr lang="en-US" sz="1650" dirty="0"/>
          </a:p>
        </p:txBody>
      </p:sp>
      <p:sp>
        <p:nvSpPr>
          <p:cNvPr id="5" name="Shape 3"/>
          <p:cNvSpPr/>
          <p:nvPr/>
        </p:nvSpPr>
        <p:spPr>
          <a:xfrm>
            <a:off x="762000" y="2286000"/>
            <a:ext cx="16764000" cy="1609725"/>
          </a:xfrm>
          <a:prstGeom prst="rect">
            <a:avLst/>
          </a:prstGeom>
          <a:solidFill>
            <a:srgbClr val="E8EEFC"/>
          </a:solidFill>
          <a:ln w="9525">
            <a:solidFill>
              <a:srgbClr val="D1D5DB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912781" y="2600325"/>
            <a:ext cx="16462439" cy="2190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ctr" indent="0" marL="0">
              <a:lnSpc>
                <a:spcPct val="140000"/>
              </a:lnSpc>
              <a:buNone/>
            </a:pPr>
            <a:r>
              <a:rPr lang="en-US" sz="1050" b="1" spc="225" kern="0" dirty="0">
                <a:solidFill>
                  <a:srgbClr val="1428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PROBLEM</a:t>
            </a:r>
            <a:endParaRPr lang="en-US" sz="1050" dirty="0"/>
          </a:p>
        </p:txBody>
      </p:sp>
      <p:sp>
        <p:nvSpPr>
          <p:cNvPr id="7" name="Text 5"/>
          <p:cNvSpPr/>
          <p:nvPr/>
        </p:nvSpPr>
        <p:spPr>
          <a:xfrm>
            <a:off x="912781" y="2857500"/>
            <a:ext cx="16462439" cy="4095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2250" b="1" dirty="0">
                <a:solidFill>
                  <a:srgbClr val="1428A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"호황의 정점에서 다운턴을 어떻게 준비할 것인가?"</a:t>
            </a:r>
            <a:endParaRPr lang="en-US" sz="2250" dirty="0"/>
          </a:p>
        </p:txBody>
      </p:sp>
      <p:sp>
        <p:nvSpPr>
          <p:cNvPr id="8" name="Text 6"/>
          <p:cNvSpPr/>
          <p:nvPr/>
        </p:nvSpPr>
        <p:spPr>
          <a:xfrm>
            <a:off x="912781" y="3343275"/>
            <a:ext cx="16462439" cy="2762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ctr" indent="0" marL="0">
              <a:lnSpc>
                <a:spcPct val="160000"/>
              </a:lnSpc>
              <a:buNone/>
            </a:pPr>
            <a:r>
              <a:rPr lang="en-US" sz="1200" dirty="0">
                <a:solidFill>
                  <a:srgbClr val="37415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다운턴은 옵니다 (사이클 산업) · 그러나 시점·규모는 알 수 없습니다 (불확실성) · 다운턴 진입 후에는 늦습니다 (사이클의 본질)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510540" y="4048125"/>
            <a:ext cx="17266920" cy="4572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ctr" indent="0" marL="0">
              <a:lnSpc>
                <a:spcPct val="140000"/>
              </a:lnSpc>
              <a:buNone/>
            </a:pPr>
            <a:r>
              <a:rPr lang="en-US" sz="2400" dirty="0">
                <a:solidFill>
                  <a:srgbClr val="1428A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↓</a:t>
            </a:r>
            <a:endParaRPr lang="en-US" sz="2400" dirty="0"/>
          </a:p>
        </p:txBody>
      </p:sp>
      <p:sp>
        <p:nvSpPr>
          <p:cNvPr id="10" name="Shape 8"/>
          <p:cNvSpPr/>
          <p:nvPr/>
        </p:nvSpPr>
        <p:spPr>
          <a:xfrm>
            <a:off x="762000" y="4619625"/>
            <a:ext cx="16764000" cy="1971675"/>
          </a:xfrm>
          <a:prstGeom prst="rect">
            <a:avLst/>
          </a:prstGeom>
          <a:solidFill>
            <a:srgbClr val="1428A0"/>
          </a:solidFill>
          <a:ln/>
        </p:spPr>
      </p:sp>
      <p:sp>
        <p:nvSpPr>
          <p:cNvPr id="11" name="Text 9"/>
          <p:cNvSpPr/>
          <p:nvPr/>
        </p:nvSpPr>
        <p:spPr>
          <a:xfrm>
            <a:off x="1143000" y="4924425"/>
            <a:ext cx="16482060" cy="2190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0000"/>
              </a:lnSpc>
              <a:buNone/>
            </a:pPr>
            <a:r>
              <a:rPr lang="en-US" sz="1050" b="1" spc="225" kern="0" dirty="0">
                <a:solidFill>
                  <a:srgbClr val="D9770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OUR ANSWER</a:t>
            </a:r>
            <a:endParaRPr lang="en-US" sz="1050" dirty="0"/>
          </a:p>
        </p:txBody>
      </p:sp>
      <p:sp>
        <p:nvSpPr>
          <p:cNvPr id="12" name="Text 10"/>
          <p:cNvSpPr/>
          <p:nvPr/>
        </p:nvSpPr>
        <p:spPr>
          <a:xfrm>
            <a:off x="1143000" y="5143500"/>
            <a:ext cx="16482060" cy="3810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0000"/>
              </a:lnSpc>
              <a:buNone/>
            </a:pPr>
            <a:r>
              <a:rPr lang="en-US" sz="19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시나리오 플래닝 + 9개 즉시 결정 + 7개 Robust 전략</a:t>
            </a:r>
            <a:endParaRPr lang="en-US" sz="1950" dirty="0"/>
          </a:p>
        </p:txBody>
      </p:sp>
      <p:sp>
        <p:nvSpPr>
          <p:cNvPr id="13" name="Shape 11"/>
          <p:cNvSpPr/>
          <p:nvPr/>
        </p:nvSpPr>
        <p:spPr>
          <a:xfrm>
            <a:off x="1143000" y="5638800"/>
            <a:ext cx="3914775" cy="647700"/>
          </a:xfrm>
          <a:prstGeom prst="rect">
            <a:avLst/>
          </a:prstGeom>
          <a:solidFill>
            <a:srgbClr val="FFFFFF">
              <a:alpha val="10000"/>
            </a:srgbClr>
          </a:solidFill>
          <a:ln w="9525">
            <a:solidFill>
              <a:srgbClr val="FFFFFF">
                <a:alpha val="20000"/>
              </a:srgbClr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1323975" y="5772150"/>
            <a:ext cx="798512" cy="2286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0000"/>
              </a:lnSpc>
              <a:buNone/>
            </a:pPr>
            <a:r>
              <a:rPr lang="en-US" sz="10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5개 시나리오</a:t>
            </a:r>
            <a:endParaRPr lang="en-US" sz="1050" dirty="0"/>
          </a:p>
        </p:txBody>
      </p:sp>
      <p:sp>
        <p:nvSpPr>
          <p:cNvPr id="15" name="Text 13"/>
          <p:cNvSpPr/>
          <p:nvPr/>
        </p:nvSpPr>
        <p:spPr>
          <a:xfrm>
            <a:off x="1323975" y="5953125"/>
            <a:ext cx="994584" cy="2286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0000"/>
              </a:lnSpc>
              <a:buNone/>
            </a:pPr>
            <a:r>
              <a:rPr lang="en-US" sz="1050" dirty="0">
                <a:solidFill>
                  <a:srgbClr val="FFFFFF">
                    <a:alpha val="85000"/>
                  </a:srgbClr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모든 가능한 미래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5172075" y="5638800"/>
            <a:ext cx="3914775" cy="647700"/>
          </a:xfrm>
          <a:prstGeom prst="rect">
            <a:avLst/>
          </a:prstGeom>
          <a:solidFill>
            <a:srgbClr val="FFFFFF">
              <a:alpha val="10000"/>
            </a:srgbClr>
          </a:solidFill>
          <a:ln w="9525">
            <a:solidFill>
              <a:srgbClr val="FFFFFF">
                <a:alpha val="20000"/>
              </a:srgbClr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5353050" y="5772150"/>
            <a:ext cx="654205" cy="2286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0000"/>
              </a:lnSpc>
              <a:buNone/>
            </a:pPr>
            <a:r>
              <a:rPr lang="en-US" sz="10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Main Bet</a:t>
            </a:r>
            <a:endParaRPr lang="en-US" sz="1050" dirty="0"/>
          </a:p>
        </p:txBody>
      </p:sp>
      <p:sp>
        <p:nvSpPr>
          <p:cNvPr id="18" name="Text 16"/>
          <p:cNvSpPr/>
          <p:nvPr/>
        </p:nvSpPr>
        <p:spPr>
          <a:xfrm>
            <a:off x="5353050" y="5953125"/>
            <a:ext cx="1667604" cy="2286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0000"/>
              </a:lnSpc>
              <a:buNone/>
            </a:pPr>
            <a:r>
              <a:rPr lang="en-US" sz="1050" dirty="0">
                <a:solidFill>
                  <a:srgbClr val="FFFFFF">
                    <a:alpha val="85000"/>
                  </a:srgbClr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가장 가능성 높은 미래에 베팅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9201150" y="5638800"/>
            <a:ext cx="3914775" cy="647700"/>
          </a:xfrm>
          <a:prstGeom prst="rect">
            <a:avLst/>
          </a:prstGeom>
          <a:solidFill>
            <a:srgbClr val="FFFFFF">
              <a:alpha val="10000"/>
            </a:srgbClr>
          </a:solidFill>
          <a:ln w="9525">
            <a:solidFill>
              <a:srgbClr val="FFFFFF">
                <a:alpha val="20000"/>
              </a:srgbClr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9382125" y="5772150"/>
            <a:ext cx="686374" cy="2286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0000"/>
              </a:lnSpc>
              <a:buNone/>
            </a:pPr>
            <a:r>
              <a:rPr lang="en-US" sz="10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Side Bets</a:t>
            </a:r>
            <a:endParaRPr lang="en-US" sz="1050" dirty="0"/>
          </a:p>
        </p:txBody>
      </p:sp>
      <p:sp>
        <p:nvSpPr>
          <p:cNvPr id="21" name="Text 19"/>
          <p:cNvSpPr/>
          <p:nvPr/>
        </p:nvSpPr>
        <p:spPr>
          <a:xfrm>
            <a:off x="9382125" y="5953125"/>
            <a:ext cx="1443458" cy="2286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0000"/>
              </a:lnSpc>
              <a:buNone/>
            </a:pPr>
            <a:r>
              <a:rPr lang="en-US" sz="1050" dirty="0">
                <a:solidFill>
                  <a:srgbClr val="FFFFFF">
                    <a:alpha val="85000"/>
                  </a:srgbClr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나머지 4개에 +15% 보험</a:t>
            </a:r>
            <a:endParaRPr lang="en-US" sz="1050" dirty="0"/>
          </a:p>
        </p:txBody>
      </p:sp>
      <p:sp>
        <p:nvSpPr>
          <p:cNvPr id="22" name="Shape 20"/>
          <p:cNvSpPr/>
          <p:nvPr/>
        </p:nvSpPr>
        <p:spPr>
          <a:xfrm>
            <a:off x="13230225" y="5638800"/>
            <a:ext cx="3914775" cy="647700"/>
          </a:xfrm>
          <a:prstGeom prst="rect">
            <a:avLst/>
          </a:prstGeom>
          <a:solidFill>
            <a:srgbClr val="FFFFFF">
              <a:alpha val="10000"/>
            </a:srgbClr>
          </a:solidFill>
          <a:ln w="9525">
            <a:solidFill>
              <a:srgbClr val="FFFFFF">
                <a:alpha val="20000"/>
              </a:srgbClr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13411200" y="5772150"/>
            <a:ext cx="653330" cy="2286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0000"/>
              </a:lnSpc>
              <a:buNone/>
            </a:pPr>
            <a:r>
              <a:rPr lang="en-US" sz="10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Robust 7</a:t>
            </a:r>
            <a:endParaRPr lang="en-US" sz="1050" dirty="0"/>
          </a:p>
        </p:txBody>
      </p:sp>
      <p:sp>
        <p:nvSpPr>
          <p:cNvPr id="24" name="Text 22"/>
          <p:cNvSpPr/>
          <p:nvPr/>
        </p:nvSpPr>
        <p:spPr>
          <a:xfrm>
            <a:off x="13411200" y="5953125"/>
            <a:ext cx="1392435" cy="2286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0000"/>
              </a:lnSpc>
              <a:buNone/>
            </a:pPr>
            <a:r>
              <a:rPr lang="en-US" sz="1050" dirty="0">
                <a:solidFill>
                  <a:srgbClr val="FFFFFF">
                    <a:alpha val="85000"/>
                  </a:srgbClr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시나리오 무관 가치 창출</a:t>
            </a:r>
            <a:endParaRPr lang="en-US" sz="1050" dirty="0"/>
          </a:p>
        </p:txBody>
      </p:sp>
      <p:sp>
        <p:nvSpPr>
          <p:cNvPr id="25" name="Text 23"/>
          <p:cNvSpPr/>
          <p:nvPr/>
        </p:nvSpPr>
        <p:spPr>
          <a:xfrm>
            <a:off x="510540" y="6743700"/>
            <a:ext cx="17266920" cy="4572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ctr" indent="0" marL="0">
              <a:lnSpc>
                <a:spcPct val="140000"/>
              </a:lnSpc>
              <a:buNone/>
            </a:pPr>
            <a:r>
              <a:rPr lang="en-US" sz="2400" dirty="0">
                <a:solidFill>
                  <a:srgbClr val="1428A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↓</a:t>
            </a:r>
            <a:endParaRPr lang="en-US" sz="2400" dirty="0"/>
          </a:p>
        </p:txBody>
      </p:sp>
      <p:sp>
        <p:nvSpPr>
          <p:cNvPr id="26" name="Shape 24"/>
          <p:cNvSpPr/>
          <p:nvPr/>
        </p:nvSpPr>
        <p:spPr>
          <a:xfrm>
            <a:off x="762000" y="7315200"/>
            <a:ext cx="4062412" cy="962025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7" name="Shape 25"/>
          <p:cNvSpPr/>
          <p:nvPr/>
        </p:nvSpPr>
        <p:spPr>
          <a:xfrm>
            <a:off x="762000" y="8267700"/>
            <a:ext cx="4062412" cy="9525"/>
          </a:xfrm>
          <a:prstGeom prst="rect">
            <a:avLst/>
          </a:prstGeom>
          <a:solidFill>
            <a:srgbClr val="D1D5DB"/>
          </a:solidFill>
          <a:ln/>
        </p:spPr>
      </p:sp>
      <p:sp>
        <p:nvSpPr>
          <p:cNvPr id="28" name="Shape 26"/>
          <p:cNvSpPr/>
          <p:nvPr/>
        </p:nvSpPr>
        <p:spPr>
          <a:xfrm>
            <a:off x="762000" y="7315200"/>
            <a:ext cx="4062412" cy="38100"/>
          </a:xfrm>
          <a:prstGeom prst="rect">
            <a:avLst/>
          </a:prstGeom>
          <a:solidFill>
            <a:srgbClr val="059669"/>
          </a:solidFill>
          <a:ln/>
        </p:spPr>
      </p:sp>
      <p:sp>
        <p:nvSpPr>
          <p:cNvPr id="29" name="Shape 27"/>
          <p:cNvSpPr/>
          <p:nvPr/>
        </p:nvSpPr>
        <p:spPr>
          <a:xfrm>
            <a:off x="762000" y="7315200"/>
            <a:ext cx="9525" cy="962025"/>
          </a:xfrm>
          <a:prstGeom prst="rect">
            <a:avLst/>
          </a:prstGeom>
          <a:solidFill>
            <a:srgbClr val="D1D5DB"/>
          </a:solidFill>
          <a:ln/>
        </p:spPr>
      </p:sp>
      <p:sp>
        <p:nvSpPr>
          <p:cNvPr id="30" name="Shape 28"/>
          <p:cNvSpPr/>
          <p:nvPr/>
        </p:nvSpPr>
        <p:spPr>
          <a:xfrm>
            <a:off x="4814888" y="7315200"/>
            <a:ext cx="9525" cy="962025"/>
          </a:xfrm>
          <a:prstGeom prst="rect">
            <a:avLst/>
          </a:prstGeom>
          <a:solidFill>
            <a:srgbClr val="D1D5DB"/>
          </a:solidFill>
          <a:ln/>
        </p:spPr>
      </p:sp>
      <p:sp>
        <p:nvSpPr>
          <p:cNvPr id="31" name="Text 29"/>
          <p:cNvSpPr/>
          <p:nvPr/>
        </p:nvSpPr>
        <p:spPr>
          <a:xfrm>
            <a:off x="1019175" y="7562850"/>
            <a:ext cx="3654504" cy="2762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0000"/>
              </a:lnSpc>
              <a:buNone/>
            </a:pPr>
            <a:r>
              <a:rPr lang="en-US" sz="1350" b="1" dirty="0">
                <a:solidFill>
                  <a:srgbClr val="0596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✓ 다운턴 흑자 유지</a:t>
            </a:r>
            <a:endParaRPr lang="en-US" sz="1350" dirty="0"/>
          </a:p>
        </p:txBody>
      </p:sp>
      <p:sp>
        <p:nvSpPr>
          <p:cNvPr id="32" name="Text 30"/>
          <p:cNvSpPr/>
          <p:nvPr/>
        </p:nvSpPr>
        <p:spPr>
          <a:xfrm>
            <a:off x="1019175" y="7858125"/>
            <a:ext cx="3654504" cy="2381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0000"/>
              </a:lnSpc>
              <a:buNone/>
            </a:pPr>
            <a:r>
              <a:rPr lang="en-US" sz="1125" dirty="0">
                <a:solidFill>
                  <a:srgbClr val="6B72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RS-5 다운사이클 흑자 구조 + RS-1 옵션 캐파</a:t>
            </a:r>
            <a:endParaRPr lang="en-US" sz="1125" dirty="0"/>
          </a:p>
        </p:txBody>
      </p:sp>
      <p:sp>
        <p:nvSpPr>
          <p:cNvPr id="33" name="Shape 31"/>
          <p:cNvSpPr/>
          <p:nvPr/>
        </p:nvSpPr>
        <p:spPr>
          <a:xfrm>
            <a:off x="4995863" y="7315200"/>
            <a:ext cx="4062412" cy="962025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4" name="Shape 32"/>
          <p:cNvSpPr/>
          <p:nvPr/>
        </p:nvSpPr>
        <p:spPr>
          <a:xfrm>
            <a:off x="4995863" y="8267700"/>
            <a:ext cx="4062412" cy="9525"/>
          </a:xfrm>
          <a:prstGeom prst="rect">
            <a:avLst/>
          </a:prstGeom>
          <a:solidFill>
            <a:srgbClr val="D1D5DB"/>
          </a:solidFill>
          <a:ln/>
        </p:spPr>
      </p:sp>
      <p:sp>
        <p:nvSpPr>
          <p:cNvPr id="35" name="Shape 33"/>
          <p:cNvSpPr/>
          <p:nvPr/>
        </p:nvSpPr>
        <p:spPr>
          <a:xfrm>
            <a:off x="4995863" y="7315200"/>
            <a:ext cx="4062412" cy="38100"/>
          </a:xfrm>
          <a:prstGeom prst="rect">
            <a:avLst/>
          </a:prstGeom>
          <a:solidFill>
            <a:srgbClr val="059669"/>
          </a:solidFill>
          <a:ln/>
        </p:spPr>
      </p:sp>
      <p:sp>
        <p:nvSpPr>
          <p:cNvPr id="36" name="Shape 34"/>
          <p:cNvSpPr/>
          <p:nvPr/>
        </p:nvSpPr>
        <p:spPr>
          <a:xfrm>
            <a:off x="4995863" y="7315200"/>
            <a:ext cx="9525" cy="962025"/>
          </a:xfrm>
          <a:prstGeom prst="rect">
            <a:avLst/>
          </a:prstGeom>
          <a:solidFill>
            <a:srgbClr val="D1D5DB"/>
          </a:solidFill>
          <a:ln/>
        </p:spPr>
      </p:sp>
      <p:sp>
        <p:nvSpPr>
          <p:cNvPr id="37" name="Shape 35"/>
          <p:cNvSpPr/>
          <p:nvPr/>
        </p:nvSpPr>
        <p:spPr>
          <a:xfrm>
            <a:off x="9048750" y="7315200"/>
            <a:ext cx="9525" cy="962025"/>
          </a:xfrm>
          <a:prstGeom prst="rect">
            <a:avLst/>
          </a:prstGeom>
          <a:solidFill>
            <a:srgbClr val="D1D5DB"/>
          </a:solidFill>
          <a:ln/>
        </p:spPr>
      </p:sp>
      <p:sp>
        <p:nvSpPr>
          <p:cNvPr id="38" name="Text 36"/>
          <p:cNvSpPr/>
          <p:nvPr/>
        </p:nvSpPr>
        <p:spPr>
          <a:xfrm>
            <a:off x="5253038" y="7562850"/>
            <a:ext cx="3654504" cy="2762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0000"/>
              </a:lnSpc>
              <a:buNone/>
            </a:pPr>
            <a:r>
              <a:rPr lang="en-US" sz="1350" b="1" dirty="0">
                <a:solidFill>
                  <a:srgbClr val="0596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✓ 회복기 1위 회복</a:t>
            </a:r>
            <a:endParaRPr lang="en-US" sz="1350" dirty="0"/>
          </a:p>
        </p:txBody>
      </p:sp>
      <p:sp>
        <p:nvSpPr>
          <p:cNvPr id="39" name="Text 37"/>
          <p:cNvSpPr/>
          <p:nvPr/>
        </p:nvSpPr>
        <p:spPr>
          <a:xfrm>
            <a:off x="5253038" y="7858125"/>
            <a:ext cx="3654504" cy="2381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0000"/>
              </a:lnSpc>
              <a:buNone/>
            </a:pPr>
            <a:r>
              <a:rPr lang="en-US" sz="1125" dirty="0">
                <a:solidFill>
                  <a:srgbClr val="6B72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Main Bet + RS-1 + RS-3 고객특화</a:t>
            </a:r>
            <a:endParaRPr lang="en-US" sz="1125" dirty="0"/>
          </a:p>
        </p:txBody>
      </p:sp>
      <p:sp>
        <p:nvSpPr>
          <p:cNvPr id="40" name="Shape 38"/>
          <p:cNvSpPr/>
          <p:nvPr/>
        </p:nvSpPr>
        <p:spPr>
          <a:xfrm>
            <a:off x="9229725" y="7315200"/>
            <a:ext cx="4062412" cy="962025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41" name="Shape 39"/>
          <p:cNvSpPr/>
          <p:nvPr/>
        </p:nvSpPr>
        <p:spPr>
          <a:xfrm>
            <a:off x="9229725" y="8267700"/>
            <a:ext cx="4062412" cy="9525"/>
          </a:xfrm>
          <a:prstGeom prst="rect">
            <a:avLst/>
          </a:prstGeom>
          <a:solidFill>
            <a:srgbClr val="D1D5DB"/>
          </a:solidFill>
          <a:ln/>
        </p:spPr>
      </p:sp>
      <p:sp>
        <p:nvSpPr>
          <p:cNvPr id="42" name="Shape 40"/>
          <p:cNvSpPr/>
          <p:nvPr/>
        </p:nvSpPr>
        <p:spPr>
          <a:xfrm>
            <a:off x="9229725" y="7315200"/>
            <a:ext cx="4062412" cy="38100"/>
          </a:xfrm>
          <a:prstGeom prst="rect">
            <a:avLst/>
          </a:prstGeom>
          <a:solidFill>
            <a:srgbClr val="059669"/>
          </a:solidFill>
          <a:ln/>
        </p:spPr>
      </p:sp>
      <p:sp>
        <p:nvSpPr>
          <p:cNvPr id="43" name="Shape 41"/>
          <p:cNvSpPr/>
          <p:nvPr/>
        </p:nvSpPr>
        <p:spPr>
          <a:xfrm>
            <a:off x="9229725" y="7315200"/>
            <a:ext cx="9525" cy="962025"/>
          </a:xfrm>
          <a:prstGeom prst="rect">
            <a:avLst/>
          </a:prstGeom>
          <a:solidFill>
            <a:srgbClr val="D1D5DB"/>
          </a:solidFill>
          <a:ln/>
        </p:spPr>
      </p:sp>
      <p:sp>
        <p:nvSpPr>
          <p:cNvPr id="44" name="Shape 42"/>
          <p:cNvSpPr/>
          <p:nvPr/>
        </p:nvSpPr>
        <p:spPr>
          <a:xfrm>
            <a:off x="13282613" y="7315200"/>
            <a:ext cx="9525" cy="962025"/>
          </a:xfrm>
          <a:prstGeom prst="rect">
            <a:avLst/>
          </a:prstGeom>
          <a:solidFill>
            <a:srgbClr val="D1D5DB"/>
          </a:solidFill>
          <a:ln/>
        </p:spPr>
      </p:sp>
      <p:sp>
        <p:nvSpPr>
          <p:cNvPr id="45" name="Text 43"/>
          <p:cNvSpPr/>
          <p:nvPr/>
        </p:nvSpPr>
        <p:spPr>
          <a:xfrm>
            <a:off x="9486900" y="7562850"/>
            <a:ext cx="3654504" cy="2762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0000"/>
              </a:lnSpc>
              <a:buNone/>
            </a:pPr>
            <a:r>
              <a:rPr lang="en-US" sz="1350" b="1" dirty="0">
                <a:solidFill>
                  <a:srgbClr val="0596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✓ 자동 전략 전환</a:t>
            </a:r>
            <a:endParaRPr lang="en-US" sz="1350" dirty="0"/>
          </a:p>
        </p:txBody>
      </p:sp>
      <p:sp>
        <p:nvSpPr>
          <p:cNvPr id="46" name="Text 44"/>
          <p:cNvSpPr/>
          <p:nvPr/>
        </p:nvSpPr>
        <p:spPr>
          <a:xfrm>
            <a:off x="9486900" y="7858125"/>
            <a:ext cx="3654504" cy="2381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0000"/>
              </a:lnSpc>
              <a:buNone/>
            </a:pPr>
            <a:r>
              <a:rPr lang="en-US" sz="1125" dirty="0">
                <a:solidFill>
                  <a:srgbClr val="6B72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트리거 메커니즘 + 30일 의사결정</a:t>
            </a:r>
            <a:endParaRPr lang="en-US" sz="1125" dirty="0"/>
          </a:p>
        </p:txBody>
      </p:sp>
      <p:sp>
        <p:nvSpPr>
          <p:cNvPr id="47" name="Shape 45"/>
          <p:cNvSpPr/>
          <p:nvPr/>
        </p:nvSpPr>
        <p:spPr>
          <a:xfrm>
            <a:off x="13463588" y="7315200"/>
            <a:ext cx="4062412" cy="962025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48" name="Shape 46"/>
          <p:cNvSpPr/>
          <p:nvPr/>
        </p:nvSpPr>
        <p:spPr>
          <a:xfrm>
            <a:off x="13463588" y="8267700"/>
            <a:ext cx="4062412" cy="9525"/>
          </a:xfrm>
          <a:prstGeom prst="rect">
            <a:avLst/>
          </a:prstGeom>
          <a:solidFill>
            <a:srgbClr val="D1D5DB"/>
          </a:solidFill>
          <a:ln/>
        </p:spPr>
      </p:sp>
      <p:sp>
        <p:nvSpPr>
          <p:cNvPr id="49" name="Shape 47"/>
          <p:cNvSpPr/>
          <p:nvPr/>
        </p:nvSpPr>
        <p:spPr>
          <a:xfrm>
            <a:off x="13463588" y="7315200"/>
            <a:ext cx="4062412" cy="38100"/>
          </a:xfrm>
          <a:prstGeom prst="rect">
            <a:avLst/>
          </a:prstGeom>
          <a:solidFill>
            <a:srgbClr val="059669"/>
          </a:solidFill>
          <a:ln/>
        </p:spPr>
      </p:sp>
      <p:sp>
        <p:nvSpPr>
          <p:cNvPr id="50" name="Shape 48"/>
          <p:cNvSpPr/>
          <p:nvPr/>
        </p:nvSpPr>
        <p:spPr>
          <a:xfrm>
            <a:off x="13463588" y="7315200"/>
            <a:ext cx="9525" cy="962025"/>
          </a:xfrm>
          <a:prstGeom prst="rect">
            <a:avLst/>
          </a:prstGeom>
          <a:solidFill>
            <a:srgbClr val="D1D5DB"/>
          </a:solidFill>
          <a:ln/>
        </p:spPr>
      </p:sp>
      <p:sp>
        <p:nvSpPr>
          <p:cNvPr id="51" name="Shape 49"/>
          <p:cNvSpPr/>
          <p:nvPr/>
        </p:nvSpPr>
        <p:spPr>
          <a:xfrm>
            <a:off x="17516475" y="7315200"/>
            <a:ext cx="9525" cy="962025"/>
          </a:xfrm>
          <a:prstGeom prst="rect">
            <a:avLst/>
          </a:prstGeom>
          <a:solidFill>
            <a:srgbClr val="D1D5DB"/>
          </a:solidFill>
          <a:ln/>
        </p:spPr>
      </p:sp>
      <p:sp>
        <p:nvSpPr>
          <p:cNvPr id="52" name="Text 50"/>
          <p:cNvSpPr/>
          <p:nvPr/>
        </p:nvSpPr>
        <p:spPr>
          <a:xfrm>
            <a:off x="13720763" y="7562850"/>
            <a:ext cx="3654504" cy="2762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0000"/>
              </a:lnSpc>
              <a:buNone/>
            </a:pPr>
            <a:r>
              <a:rPr lang="en-US" sz="1350" b="1" dirty="0">
                <a:solidFill>
                  <a:srgbClr val="0596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✓ 폭락기 M&amp;A 집행</a:t>
            </a:r>
            <a:endParaRPr lang="en-US" sz="1350" dirty="0"/>
          </a:p>
        </p:txBody>
      </p:sp>
      <p:sp>
        <p:nvSpPr>
          <p:cNvPr id="53" name="Text 51"/>
          <p:cNvSpPr/>
          <p:nvPr/>
        </p:nvSpPr>
        <p:spPr>
          <a:xfrm>
            <a:off x="13720763" y="7858125"/>
            <a:ext cx="3654504" cy="2381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0000"/>
              </a:lnSpc>
              <a:buNone/>
            </a:pPr>
            <a:r>
              <a:rPr lang="en-US" sz="1125" dirty="0">
                <a:solidFill>
                  <a:srgbClr val="6B72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RS-5 + Disney-Marvel 모델</a:t>
            </a:r>
            <a:endParaRPr lang="en-US" sz="1125" dirty="0"/>
          </a:p>
        </p:txBody>
      </p:sp>
      <p:sp>
        <p:nvSpPr>
          <p:cNvPr id="54" name="Shape 52"/>
          <p:cNvSpPr/>
          <p:nvPr/>
        </p:nvSpPr>
        <p:spPr>
          <a:xfrm>
            <a:off x="762000" y="8505825"/>
            <a:ext cx="16764000" cy="685800"/>
          </a:xfrm>
          <a:prstGeom prst="rect">
            <a:avLst/>
          </a:prstGeom>
          <a:solidFill>
            <a:srgbClr val="FEF3C7"/>
          </a:solidFill>
          <a:ln/>
        </p:spPr>
      </p:sp>
      <p:sp>
        <p:nvSpPr>
          <p:cNvPr id="55" name="Shape 53"/>
          <p:cNvSpPr/>
          <p:nvPr/>
        </p:nvSpPr>
        <p:spPr>
          <a:xfrm>
            <a:off x="762000" y="8505825"/>
            <a:ext cx="57150" cy="685800"/>
          </a:xfrm>
          <a:prstGeom prst="rect">
            <a:avLst/>
          </a:prstGeom>
          <a:solidFill>
            <a:srgbClr val="D97706"/>
          </a:solidFill>
          <a:ln/>
        </p:spPr>
      </p:sp>
      <p:sp>
        <p:nvSpPr>
          <p:cNvPr id="56" name="Shape 54"/>
          <p:cNvSpPr/>
          <p:nvPr/>
        </p:nvSpPr>
        <p:spPr>
          <a:xfrm>
            <a:off x="1085850" y="8696325"/>
            <a:ext cx="700236" cy="304800"/>
          </a:xfrm>
          <a:prstGeom prst="rect">
            <a:avLst/>
          </a:prstGeom>
          <a:solidFill>
            <a:srgbClr val="D97706"/>
          </a:solidFill>
          <a:ln/>
        </p:spPr>
      </p:sp>
      <p:sp>
        <p:nvSpPr>
          <p:cNvPr id="57" name="Text 55"/>
          <p:cNvSpPr/>
          <p:nvPr/>
        </p:nvSpPr>
        <p:spPr>
          <a:xfrm>
            <a:off x="1219200" y="8753475"/>
            <a:ext cx="509736" cy="2286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5000"/>
              </a:lnSpc>
              <a:buNone/>
            </a:pPr>
            <a:r>
              <a:rPr lang="en-US" sz="1050" b="1" spc="150" kern="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CORE</a:t>
            </a:r>
            <a:endParaRPr lang="en-US" sz="1050" dirty="0"/>
          </a:p>
        </p:txBody>
      </p:sp>
      <p:sp>
        <p:nvSpPr>
          <p:cNvPr id="58" name="Text 56"/>
          <p:cNvSpPr/>
          <p:nvPr/>
        </p:nvSpPr>
        <p:spPr>
          <a:xfrm>
            <a:off x="1976586" y="8710613"/>
            <a:ext cx="6025947" cy="3143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5000"/>
              </a:lnSpc>
              <a:buNone/>
            </a:pPr>
            <a:r>
              <a:rPr lang="en-US" sz="15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 전략은 다운턴을 막을 수 없다. </a:t>
            </a:r>
            <a:pPr algn="l" indent="0" marL="0">
              <a:lnSpc>
                <a:spcPct val="145000"/>
              </a:lnSpc>
              <a:buNone/>
            </a:pPr>
            <a:r>
              <a:rPr lang="en-US" sz="150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그러나 다운턴 후에 우리만 살아남게 한다.</a:t>
            </a:r>
            <a:endParaRPr lang="en-US" sz="1500" dirty="0"/>
          </a:p>
        </p:txBody>
      </p:sp>
      <p:sp>
        <p:nvSpPr>
          <p:cNvPr id="59" name="Shape 57"/>
          <p:cNvSpPr/>
          <p:nvPr/>
        </p:nvSpPr>
        <p:spPr>
          <a:xfrm>
            <a:off x="762000" y="9667875"/>
            <a:ext cx="16764000" cy="9525"/>
          </a:xfrm>
          <a:prstGeom prst="rect">
            <a:avLst/>
          </a:prstGeom>
          <a:solidFill>
            <a:srgbClr val="D1D5DB"/>
          </a:solidFill>
          <a:ln/>
        </p:spPr>
      </p:sp>
      <p:sp>
        <p:nvSpPr>
          <p:cNvPr id="60" name="Text 58"/>
          <p:cNvSpPr/>
          <p:nvPr/>
        </p:nvSpPr>
        <p:spPr>
          <a:xfrm>
            <a:off x="762000" y="9891713"/>
            <a:ext cx="1770608" cy="2190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0000"/>
              </a:lnSpc>
              <a:buNone/>
            </a:pPr>
            <a:r>
              <a:rPr lang="en-US" sz="1050" spc="38" kern="0" dirty="0">
                <a:solidFill>
                  <a:srgbClr val="6B72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삼성전자 </a:t>
            </a:r>
            <a:pPr algn="l" indent="0" marL="0">
              <a:lnSpc>
                <a:spcPct val="140000"/>
              </a:lnSpc>
              <a:buNone/>
            </a:pPr>
            <a:r>
              <a:rPr lang="en-US" sz="1050" b="1" spc="38" kern="0" dirty="0">
                <a:solidFill>
                  <a:srgbClr val="1428A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| </a:t>
            </a:r>
            <a:pPr algn="l" indent="0" marL="0">
              <a:lnSpc>
                <a:spcPct val="140000"/>
              </a:lnSpc>
              <a:buNone/>
            </a:pPr>
            <a:r>
              <a:rPr lang="en-US" sz="1050" spc="38" kern="0" dirty="0">
                <a:solidFill>
                  <a:srgbClr val="6B72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STEP 8 · 리마인드</a:t>
            </a:r>
            <a:endParaRPr lang="en-US" sz="1050" dirty="0"/>
          </a:p>
        </p:txBody>
      </p:sp>
      <p:sp>
        <p:nvSpPr>
          <p:cNvPr id="61" name="Text 59"/>
          <p:cNvSpPr/>
          <p:nvPr/>
        </p:nvSpPr>
        <p:spPr>
          <a:xfrm>
            <a:off x="17023705" y="9891713"/>
            <a:ext cx="578495" cy="2190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0000"/>
              </a:lnSpc>
              <a:buNone/>
            </a:pPr>
            <a:r>
              <a:rPr lang="en-US" sz="1050" spc="38" kern="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25 / 26</a:t>
            </a:r>
            <a:endParaRPr lang="en-US" sz="105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14300" cy="10287000"/>
          </a:xfrm>
          <a:prstGeom prst="rect">
            <a:avLst/>
          </a:prstGeom>
          <a:solidFill>
            <a:srgbClr val="1428A0"/>
          </a:solidFill>
          <a:ln/>
        </p:spPr>
      </p:sp>
      <p:sp>
        <p:nvSpPr>
          <p:cNvPr id="3" name="Shape 1"/>
          <p:cNvSpPr/>
          <p:nvPr/>
        </p:nvSpPr>
        <p:spPr>
          <a:xfrm>
            <a:off x="1143000" y="990600"/>
            <a:ext cx="762000" cy="47625"/>
          </a:xfrm>
          <a:prstGeom prst="rect">
            <a:avLst/>
          </a:prstGeom>
          <a:solidFill>
            <a:srgbClr val="D97706"/>
          </a:solidFill>
          <a:ln/>
        </p:spPr>
      </p:sp>
      <p:sp>
        <p:nvSpPr>
          <p:cNvPr id="4" name="Text 2"/>
          <p:cNvSpPr/>
          <p:nvPr/>
        </p:nvSpPr>
        <p:spPr>
          <a:xfrm>
            <a:off x="2095500" y="762000"/>
            <a:ext cx="2813386" cy="2762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0000"/>
              </a:lnSpc>
              <a:buNone/>
            </a:pPr>
            <a:r>
              <a:rPr lang="en-US" sz="1350" b="1" spc="450" kern="0" dirty="0">
                <a:solidFill>
                  <a:srgbClr val="1428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DECISION REQUEST</a:t>
            </a:r>
            <a:endParaRPr lang="en-US" sz="1350" dirty="0"/>
          </a:p>
        </p:txBody>
      </p:sp>
      <p:sp>
        <p:nvSpPr>
          <p:cNvPr id="5" name="Text 3"/>
          <p:cNvSpPr/>
          <p:nvPr/>
        </p:nvSpPr>
        <p:spPr>
          <a:xfrm>
            <a:off x="2095500" y="1076325"/>
            <a:ext cx="2813386" cy="4572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0000"/>
              </a:lnSpc>
              <a:buNone/>
            </a:pPr>
            <a:r>
              <a:rPr lang="en-US" sz="240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경영진 결의 요청 사항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1143000" y="1800225"/>
            <a:ext cx="16482060" cy="17145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6000" b="1" spc="-150" kern="0" dirty="0">
                <a:solidFill>
                  <a:srgbClr val="1428A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"호황의 정점이 다운턴 준비의 마지막 기회다."</a:t>
            </a:r>
            <a:endParaRPr lang="en-US" sz="6000" dirty="0"/>
          </a:p>
        </p:txBody>
      </p:sp>
      <p:sp>
        <p:nvSpPr>
          <p:cNvPr id="7" name="Text 5"/>
          <p:cNvSpPr/>
          <p:nvPr/>
        </p:nvSpPr>
        <p:spPr>
          <a:xfrm>
            <a:off x="1143000" y="3781425"/>
            <a:ext cx="16482060" cy="3524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0000"/>
              </a:lnSpc>
              <a:buNone/>
            </a:pPr>
            <a:r>
              <a:rPr lang="en-US" sz="1800" spc="75" kern="0" dirty="0">
                <a:solidFill>
                  <a:srgbClr val="6B72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─ 9개 결정의 묶음 의결을 요청드립니다 ─</a:t>
            </a:r>
            <a:endParaRPr lang="en-US" sz="1800" dirty="0"/>
          </a:p>
        </p:txBody>
      </p:sp>
      <p:sp>
        <p:nvSpPr>
          <p:cNvPr id="8" name="Shape 6"/>
          <p:cNvSpPr/>
          <p:nvPr/>
        </p:nvSpPr>
        <p:spPr>
          <a:xfrm>
            <a:off x="1143000" y="4629150"/>
            <a:ext cx="5207050" cy="2143125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9" name="Shape 7"/>
          <p:cNvSpPr/>
          <p:nvPr/>
        </p:nvSpPr>
        <p:spPr>
          <a:xfrm>
            <a:off x="1143000" y="6762750"/>
            <a:ext cx="5207050" cy="9525"/>
          </a:xfrm>
          <a:prstGeom prst="rect">
            <a:avLst/>
          </a:prstGeom>
          <a:solidFill>
            <a:srgbClr val="D1D5DB"/>
          </a:solidFill>
          <a:ln/>
        </p:spPr>
      </p:sp>
      <p:sp>
        <p:nvSpPr>
          <p:cNvPr id="10" name="Shape 8"/>
          <p:cNvSpPr/>
          <p:nvPr/>
        </p:nvSpPr>
        <p:spPr>
          <a:xfrm>
            <a:off x="1143000" y="4629150"/>
            <a:ext cx="5207050" cy="57150"/>
          </a:xfrm>
          <a:prstGeom prst="rect">
            <a:avLst/>
          </a:prstGeom>
          <a:solidFill>
            <a:srgbClr val="1428A0"/>
          </a:solidFill>
          <a:ln/>
        </p:spPr>
      </p:sp>
      <p:sp>
        <p:nvSpPr>
          <p:cNvPr id="11" name="Shape 9"/>
          <p:cNvSpPr/>
          <p:nvPr/>
        </p:nvSpPr>
        <p:spPr>
          <a:xfrm>
            <a:off x="1143000" y="4629150"/>
            <a:ext cx="9525" cy="2143125"/>
          </a:xfrm>
          <a:prstGeom prst="rect">
            <a:avLst/>
          </a:prstGeom>
          <a:solidFill>
            <a:srgbClr val="D1D5DB"/>
          </a:solidFill>
          <a:ln/>
        </p:spPr>
      </p:sp>
      <p:sp>
        <p:nvSpPr>
          <p:cNvPr id="12" name="Shape 10"/>
          <p:cNvSpPr/>
          <p:nvPr/>
        </p:nvSpPr>
        <p:spPr>
          <a:xfrm>
            <a:off x="6340525" y="4629150"/>
            <a:ext cx="9525" cy="2143125"/>
          </a:xfrm>
          <a:prstGeom prst="rect">
            <a:avLst/>
          </a:prstGeom>
          <a:solidFill>
            <a:srgbClr val="D1D5DB"/>
          </a:solidFill>
          <a:ln/>
        </p:spPr>
      </p:sp>
      <p:sp>
        <p:nvSpPr>
          <p:cNvPr id="13" name="Text 11"/>
          <p:cNvSpPr/>
          <p:nvPr/>
        </p:nvSpPr>
        <p:spPr>
          <a:xfrm>
            <a:off x="1419225" y="4953000"/>
            <a:ext cx="4794238" cy="5143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0000"/>
              </a:lnSpc>
              <a:buNone/>
            </a:pPr>
            <a:r>
              <a:rPr lang="en-US" sz="2700" b="1" dirty="0">
                <a:solidFill>
                  <a:srgbClr val="1428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</a:t>
            </a:r>
            <a:endParaRPr lang="en-US" sz="2700" dirty="0"/>
          </a:p>
        </p:txBody>
      </p:sp>
      <p:sp>
        <p:nvSpPr>
          <p:cNvPr id="14" name="Text 12"/>
          <p:cNvSpPr/>
          <p:nvPr/>
        </p:nvSpPr>
        <p:spPr>
          <a:xfrm>
            <a:off x="1419225" y="5505450"/>
            <a:ext cx="4794238" cy="2857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50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전략 방향 승인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1419225" y="5867400"/>
            <a:ext cx="4794238" cy="4572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60000"/>
              </a:lnSpc>
              <a:buNone/>
            </a:pPr>
            <a:r>
              <a:rPr lang="en-US" sz="1050" dirty="0">
                <a:solidFill>
                  <a:srgbClr val="37415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시나리오 B Main Bet + Side Bets + Robust 7개 전략 채택 </a:t>
            </a:r>
            <a:pPr algn="l" indent="0" marL="0">
              <a:lnSpc>
                <a:spcPct val="160000"/>
              </a:lnSpc>
              <a:buNone/>
            </a:pPr>
            <a:r>
              <a:rPr lang="en-US" sz="1050" b="1" dirty="0">
                <a:solidFill>
                  <a:srgbClr val="37415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2030 ~ 2035 메모리 1위 회복 로드맵 </a:t>
            </a:r>
            <a:pPr algn="l" indent="0" marL="0">
              <a:lnSpc>
                <a:spcPct val="160000"/>
              </a:lnSpc>
              <a:buNone/>
            </a:pPr>
            <a:r>
              <a:rPr lang="en-US" sz="1050" dirty="0">
                <a:solidFill>
                  <a:srgbClr val="37415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의결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6540550" y="4629150"/>
            <a:ext cx="5207050" cy="2143125"/>
          </a:xfrm>
          <a:prstGeom prst="rect">
            <a:avLst/>
          </a:prstGeom>
          <a:solidFill>
            <a:srgbClr val="FEF3C7"/>
          </a:solidFill>
          <a:ln/>
        </p:spPr>
      </p:sp>
      <p:sp>
        <p:nvSpPr>
          <p:cNvPr id="17" name="Shape 15"/>
          <p:cNvSpPr/>
          <p:nvPr/>
        </p:nvSpPr>
        <p:spPr>
          <a:xfrm>
            <a:off x="6540550" y="6762750"/>
            <a:ext cx="5207050" cy="9525"/>
          </a:xfrm>
          <a:prstGeom prst="rect">
            <a:avLst/>
          </a:prstGeom>
          <a:solidFill>
            <a:srgbClr val="D1D5DB"/>
          </a:solidFill>
          <a:ln/>
        </p:spPr>
      </p:sp>
      <p:sp>
        <p:nvSpPr>
          <p:cNvPr id="18" name="Shape 16"/>
          <p:cNvSpPr/>
          <p:nvPr/>
        </p:nvSpPr>
        <p:spPr>
          <a:xfrm>
            <a:off x="6540550" y="4629150"/>
            <a:ext cx="5207050" cy="57150"/>
          </a:xfrm>
          <a:prstGeom prst="rect">
            <a:avLst/>
          </a:prstGeom>
          <a:solidFill>
            <a:srgbClr val="D97706"/>
          </a:solidFill>
          <a:ln/>
        </p:spPr>
      </p:sp>
      <p:sp>
        <p:nvSpPr>
          <p:cNvPr id="19" name="Shape 17"/>
          <p:cNvSpPr/>
          <p:nvPr/>
        </p:nvSpPr>
        <p:spPr>
          <a:xfrm>
            <a:off x="6540550" y="4629150"/>
            <a:ext cx="9525" cy="2143125"/>
          </a:xfrm>
          <a:prstGeom prst="rect">
            <a:avLst/>
          </a:prstGeom>
          <a:solidFill>
            <a:srgbClr val="D1D5DB"/>
          </a:solidFill>
          <a:ln/>
        </p:spPr>
      </p:sp>
      <p:sp>
        <p:nvSpPr>
          <p:cNvPr id="20" name="Shape 18"/>
          <p:cNvSpPr/>
          <p:nvPr/>
        </p:nvSpPr>
        <p:spPr>
          <a:xfrm>
            <a:off x="11738074" y="4629150"/>
            <a:ext cx="9525" cy="2143125"/>
          </a:xfrm>
          <a:prstGeom prst="rect">
            <a:avLst/>
          </a:prstGeom>
          <a:solidFill>
            <a:srgbClr val="D1D5DB"/>
          </a:solidFill>
          <a:ln/>
        </p:spPr>
      </p:sp>
      <p:sp>
        <p:nvSpPr>
          <p:cNvPr id="21" name="Text 19"/>
          <p:cNvSpPr/>
          <p:nvPr/>
        </p:nvSpPr>
        <p:spPr>
          <a:xfrm>
            <a:off x="6816775" y="4953000"/>
            <a:ext cx="4794238" cy="5143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0000"/>
              </a:lnSpc>
              <a:buNone/>
            </a:pPr>
            <a:r>
              <a:rPr lang="en-US" sz="2700" b="1" dirty="0">
                <a:solidFill>
                  <a:srgbClr val="D9770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2700" dirty="0"/>
          </a:p>
        </p:txBody>
      </p:sp>
      <p:sp>
        <p:nvSpPr>
          <p:cNvPr id="22" name="Text 20"/>
          <p:cNvSpPr/>
          <p:nvPr/>
        </p:nvSpPr>
        <p:spPr>
          <a:xfrm>
            <a:off x="6816775" y="5505450"/>
            <a:ext cx="4794238" cy="2857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50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9개 즉시 결정 패키지 의결</a:t>
            </a:r>
            <a:endParaRPr lang="en-US" sz="1500" dirty="0"/>
          </a:p>
        </p:txBody>
      </p:sp>
      <p:sp>
        <p:nvSpPr>
          <p:cNvPr id="23" name="Text 21"/>
          <p:cNvSpPr/>
          <p:nvPr/>
        </p:nvSpPr>
        <p:spPr>
          <a:xfrm>
            <a:off x="6816775" y="5867400"/>
            <a:ext cx="4794238" cy="6667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60000"/>
              </a:lnSpc>
              <a:buNone/>
            </a:pPr>
            <a:r>
              <a:rPr lang="en-US" sz="1050" dirty="0">
                <a:solidFill>
                  <a:srgbClr val="37415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HBM4 · 소재 · 3D DRAM · 텍사스 · AI 효율화 · 이사회 정책화 · 인력 전환 · 보조금 · M&amp;A 펀드 </a:t>
            </a:r>
            <a:pPr algn="l" indent="0" marL="0">
              <a:lnSpc>
                <a:spcPct val="160000"/>
              </a:lnSpc>
              <a:buNone/>
            </a:pPr>
            <a:r>
              <a:rPr lang="en-US" sz="1050" b="1" dirty="0">
                <a:solidFill>
                  <a:srgbClr val="37415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묶음 처리 </a:t>
            </a:r>
            <a:pPr algn="l" indent="0" marL="0">
              <a:lnSpc>
                <a:spcPct val="160000"/>
              </a:lnSpc>
              <a:buNone/>
            </a:pPr>
            <a:r>
              <a:rPr lang="en-US" sz="1050" dirty="0">
                <a:solidFill>
                  <a:srgbClr val="37415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· 모든 결정 시한 </a:t>
            </a:r>
            <a:pPr algn="l" indent="0" marL="0">
              <a:lnSpc>
                <a:spcPct val="160000"/>
              </a:lnSpc>
              <a:buNone/>
            </a:pPr>
            <a:r>
              <a:rPr lang="en-US" sz="1050" b="1" dirty="0">
                <a:solidFill>
                  <a:srgbClr val="37415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2026년 Q4</a:t>
            </a:r>
            <a:endParaRPr lang="en-US" sz="1050" dirty="0"/>
          </a:p>
        </p:txBody>
      </p:sp>
      <p:sp>
        <p:nvSpPr>
          <p:cNvPr id="24" name="Shape 22"/>
          <p:cNvSpPr/>
          <p:nvPr/>
        </p:nvSpPr>
        <p:spPr>
          <a:xfrm>
            <a:off x="11938099" y="4629150"/>
            <a:ext cx="5207050" cy="2143125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5" name="Shape 23"/>
          <p:cNvSpPr/>
          <p:nvPr/>
        </p:nvSpPr>
        <p:spPr>
          <a:xfrm>
            <a:off x="11938099" y="6762750"/>
            <a:ext cx="5207050" cy="9525"/>
          </a:xfrm>
          <a:prstGeom prst="rect">
            <a:avLst/>
          </a:prstGeom>
          <a:solidFill>
            <a:srgbClr val="D1D5DB"/>
          </a:solidFill>
          <a:ln/>
        </p:spPr>
      </p:sp>
      <p:sp>
        <p:nvSpPr>
          <p:cNvPr id="26" name="Shape 24"/>
          <p:cNvSpPr/>
          <p:nvPr/>
        </p:nvSpPr>
        <p:spPr>
          <a:xfrm>
            <a:off x="11938099" y="4629150"/>
            <a:ext cx="5207050" cy="57150"/>
          </a:xfrm>
          <a:prstGeom prst="rect">
            <a:avLst/>
          </a:prstGeom>
          <a:solidFill>
            <a:srgbClr val="1428A0"/>
          </a:solidFill>
          <a:ln/>
        </p:spPr>
      </p:sp>
      <p:sp>
        <p:nvSpPr>
          <p:cNvPr id="27" name="Shape 25"/>
          <p:cNvSpPr/>
          <p:nvPr/>
        </p:nvSpPr>
        <p:spPr>
          <a:xfrm>
            <a:off x="11938099" y="4629150"/>
            <a:ext cx="9525" cy="2143125"/>
          </a:xfrm>
          <a:prstGeom prst="rect">
            <a:avLst/>
          </a:prstGeom>
          <a:solidFill>
            <a:srgbClr val="D1D5DB"/>
          </a:solidFill>
          <a:ln/>
        </p:spPr>
      </p:sp>
      <p:sp>
        <p:nvSpPr>
          <p:cNvPr id="28" name="Shape 26"/>
          <p:cNvSpPr/>
          <p:nvPr/>
        </p:nvSpPr>
        <p:spPr>
          <a:xfrm>
            <a:off x="17135624" y="4629150"/>
            <a:ext cx="9525" cy="2143125"/>
          </a:xfrm>
          <a:prstGeom prst="rect">
            <a:avLst/>
          </a:prstGeom>
          <a:solidFill>
            <a:srgbClr val="D1D5DB"/>
          </a:solidFill>
          <a:ln/>
        </p:spPr>
      </p:sp>
      <p:sp>
        <p:nvSpPr>
          <p:cNvPr id="29" name="Text 27"/>
          <p:cNvSpPr/>
          <p:nvPr/>
        </p:nvSpPr>
        <p:spPr>
          <a:xfrm>
            <a:off x="12214324" y="4953000"/>
            <a:ext cx="4794238" cy="5143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0000"/>
              </a:lnSpc>
              <a:buNone/>
            </a:pPr>
            <a:r>
              <a:rPr lang="en-US" sz="2700" b="1" dirty="0">
                <a:solidFill>
                  <a:srgbClr val="1428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2700" dirty="0"/>
          </a:p>
        </p:txBody>
      </p:sp>
      <p:sp>
        <p:nvSpPr>
          <p:cNvPr id="30" name="Text 28"/>
          <p:cNvSpPr/>
          <p:nvPr/>
        </p:nvSpPr>
        <p:spPr>
          <a:xfrm>
            <a:off x="12214324" y="5505450"/>
            <a:ext cx="4794238" cy="2857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50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거버넌스 + 트리거 승인</a:t>
            </a:r>
            <a:endParaRPr lang="en-US" sz="1500" dirty="0"/>
          </a:p>
        </p:txBody>
      </p:sp>
      <p:sp>
        <p:nvSpPr>
          <p:cNvPr id="31" name="Text 29"/>
          <p:cNvSpPr/>
          <p:nvPr/>
        </p:nvSpPr>
        <p:spPr>
          <a:xfrm>
            <a:off x="12214324" y="5867400"/>
            <a:ext cx="4794238" cy="4572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60000"/>
              </a:lnSpc>
              <a:buNone/>
            </a:pPr>
            <a:r>
              <a:rPr lang="en-US" sz="1050" dirty="0">
                <a:solidFill>
                  <a:srgbClr val="37415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30일 내 의사결정 + 자동 발동 트리거 12개 </a:t>
            </a:r>
            <a:pPr algn="l" indent="0" marL="0">
              <a:lnSpc>
                <a:spcPct val="160000"/>
              </a:lnSpc>
              <a:buNone/>
            </a:pPr>
            <a:r>
              <a:rPr lang="en-US" sz="1050" b="1" dirty="0">
                <a:solidFill>
                  <a:srgbClr val="37415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다운사이클 capex 하한 4조원/년 </a:t>
            </a:r>
            <a:pPr algn="l" indent="0" marL="0">
              <a:lnSpc>
                <a:spcPct val="160000"/>
              </a:lnSpc>
              <a:buNone/>
            </a:pPr>
            <a:r>
              <a:rPr lang="en-US" sz="1050" dirty="0">
                <a:solidFill>
                  <a:srgbClr val="37415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+ 활동가 투자자 방어 의결권 구조</a:t>
            </a:r>
            <a:endParaRPr lang="en-US" sz="1050" dirty="0"/>
          </a:p>
        </p:txBody>
      </p:sp>
      <p:sp>
        <p:nvSpPr>
          <p:cNvPr id="32" name="Text 30"/>
          <p:cNvSpPr/>
          <p:nvPr/>
        </p:nvSpPr>
        <p:spPr>
          <a:xfrm>
            <a:off x="1143000" y="9486900"/>
            <a:ext cx="3401264" cy="2095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0000"/>
              </a:lnSpc>
              <a:buNone/>
            </a:pPr>
            <a:r>
              <a:rPr lang="en-US" sz="975" spc="75" kern="0" dirty="0">
                <a:solidFill>
                  <a:srgbClr val="6B72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삼성전자 · DS부문 메모리사업부 전략기획팀 · 2026.05.06</a:t>
            </a:r>
            <a:endParaRPr lang="en-US" sz="975" dirty="0"/>
          </a:p>
        </p:txBody>
      </p:sp>
      <p:sp>
        <p:nvSpPr>
          <p:cNvPr id="33" name="Shape 31"/>
          <p:cNvSpPr/>
          <p:nvPr/>
        </p:nvSpPr>
        <p:spPr>
          <a:xfrm>
            <a:off x="15795724" y="9429750"/>
            <a:ext cx="1349276" cy="285750"/>
          </a:xfrm>
          <a:prstGeom prst="rect">
            <a:avLst/>
          </a:prstGeom>
          <a:solidFill>
            <a:srgbClr val="1428A0"/>
          </a:solidFill>
          <a:ln/>
        </p:spPr>
      </p:sp>
      <p:sp>
        <p:nvSpPr>
          <p:cNvPr id="34" name="Text 32"/>
          <p:cNvSpPr/>
          <p:nvPr/>
        </p:nvSpPr>
        <p:spPr>
          <a:xfrm>
            <a:off x="15929074" y="9486900"/>
            <a:ext cx="1158776" cy="2095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0000"/>
              </a:lnSpc>
              <a:buNone/>
            </a:pPr>
            <a:r>
              <a:rPr lang="en-US" sz="975" b="1" spc="150" kern="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대외비 · 26 / 26</a:t>
            </a:r>
            <a:endParaRPr lang="en-US" sz="975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26</Slides>
  <Notes>26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26</vt:i4>
      </vt:variant>
    </vt:vector>
  </HeadingPairs>
  <TitlesOfParts>
    <vt:vector size="2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2026-05-13T14:15:16Z</dcterms:created>
  <dcterms:modified xsi:type="dcterms:W3CDTF">2026-05-13T14:15:16Z</dcterms:modified>
</cp:coreProperties>
</file>