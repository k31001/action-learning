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장입니다. 덱 6장의 제목을 이어 읽으면 한 문단이 되며, 이 그림은 그 문단의 구조입니다. 1장 문제가 고용량화의 두 축으로 갈라집니다. 첫째 축 신뢰성은 SSD 계층에서 닫히는 문제이고(위 트랙), 둘째 축 내구성은 SSD 밖 호스트가 잔여 변수 WAF를 결정하므로 역량·실행·보증으로 이어집니다(아래 트랙). 신뢰성 축의 감량 운영 정책은 6장 보증 조항으로 연결됩니다. 판돈은 락인으로 얻는 캐시 계층 QLC 점유율(2030년 350EB 중 175EB 조건부), 비용은 개발실 개발 자원이며 별도 투자는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문제 제기입니다. 상단 타임라인의 두 다운턴(DT19 −37.6%, DT23 −45%)에서 세 교훈을 얻습니다. 요구는 발주보다 약 2년 먼저 고객 규격·코드에 나타나고(2022-12 배치 표준 비준 → 2024년 30EB), 규격 정의에 참여한 공급자가 선점했으며(Solidigm 61TB 12개월 선행), 직전 다운턴의 결정이 다음 다운턴의 초기 조건이 됩니다(차기 전환점 2027H2). 가운데는 요구의 이동입니다. 구매 기준은 TB당 TCO에서 GPU당 컨텍스트·토큰당 비용으로, 용량은 61TB에서 245TB(다이 8배)로, 요구 DWPD는 0.3~0.6에서 1~3으로 옮겨갔습니다. 오른쪽은 격차의 정직한 크기입니다. 동급 61TB QLC 0.58~1.0, 245TB QLC 0.3과 TLC 1~3 사이는 2~10배이며 극단 조합만 40배입니다. 고용량화는 두 축의 문제를 만들고, 2장과 3장이 각각을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신뢰성 축입니다. 왼쪽 픽토그램은 SSD당 다이 수가 128(2012 S3700 800GB)에서 1,024(2025 LC9 245TB)로 8배 늘었음을 보입니다. 요구 FFR ≤ 3%는 고정이므로 같은 FFR을 지키는 다이 고장률 상한은 2.4e-4에서 3.0e-5로 8배 엄격해집니다(독립 고장 모델). 오른쪽은 SSD 내부 해법입니다. 다이 패리티(XOR 스트라이프, Micron RAIN형)로 단일 다이 고장을 복구하고, 여분 다이·다이 은퇴·감량 운영(삼성 PM1733 Fail-in-Place)으로 고장 다이를 제외한 채 운영하며, 텔레메트리로 징후 다이를 사전 은퇴시킵니다. 호스트·플랫폼은 OCP SMART C0로 관측하고 감량을 수용할 뿐이며, 이 축은 호스트 협력 대상이 아닙니다. 둘째 축 DWPD는 SSD 안에서 충족되지 않았고, 어느 계층이 충족할 수 있는지가 3장입니다.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3장은 이관 사다리입니다. 1단계 컨트롤러 ECC(1비트/512B → LDPC 120비트/KB)는 RBER 100만 배 상승을 흡수해 UBER 요구를 충족했고 완결됐습니다. 2단계 SSD 단독 워크로드 최적화(2014~2019: 스트림·자동 배정·FTL 핫/콜드 추정·IO 결정성)는 QoS·성능은 개선했으나 데이터 수명을 SSD가 감지할 수 없어 WAF는 약 3에 머물렀습니다. 3단계 호스트 공동 설계는 호스트가 데이터 수명을 지정해 WAF를 약 3에서 약 1로 낮춥니다(범용 실측 3.0 → 1.0, CacheLib 3.22 → 1.03). KV 캐시 워크로드의 배치 표준 WAF는 공개 실측이 없어 검증할 가설이며 Phase 2가 그 검증입니다. 하단 산식에서 셀(P/E)·SSD(OP)·고객(보증연수)이 정하는 항을 빼면 남는 변수는 WAF뿐이고, 이는 호스트·앱이 결정합니다. 호스트 배치 하나로는 2~10배가 해소되지 않으므로 다이 세대·OP·SLC 캐시·보증연수·워크로드 재정의와 결합해야 하며, 호스트·고객 측 변수가 다수라는 점이 공동 설계의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역량입니다. 상단 네 격차(내구성 2~10배, 스트림 25배, 접점 0건, 해소 수단 실증)는 삼성이 KV 캐시 스택과 연결되지 않았음을 보입니다. 왼쪽 세 Phase는 디바이스 → 워크로드 실측 → 고객 시스템 공동 설계로 역량을 확장하며, 고객 보증 범위가 정격 내 원가·전력 → 워크로드 기준 수명 → 시스템 TCO로 넓어집니다. 삼성의 현 위치는 Phase 1 진행 중(QLC 라인 RUH 2~8, DWPD 미공개, CMX 첫 공급은 TLC), Phase 2 준비(트레이스 기반 실측 미공개), Phase 3 미착수(캐시 관리자 4종 기여 0건)입니다. 오른쪽 5계층은 삼성이 닿는 층을 색으로 표시했습니다. 트레이스는 위에서 아래로 내려오고 배치 정책·규격은 관리자·앱에서 SSD로 내려옵니다. 오케스트레이션 자체는 만들지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5장은 실행입니다. 왼쪽 맵의 가로축은 워크로드 개방 정도, 세로축은 물량·규격 파급력입니다. FDE 상주 조건(트레이스·KV 정책 접근, 캐시 관리자 자체 운영, 파급력)을 만족하는 AI 랩과 NVIDIA 생태계에 FDE를 집중하고, 내부 코드 상주가 어려운 하이퍼스케일러는 업스트림·OCP 규격 채널로, 자체 캐시 스택이 없는 OEM·네오클라우드는 레퍼런스 스택으로 협업합니다. 오른쪽 위는 개발실 내부 실행(조직·인사·문화)이며 별도 투자·자회사·별도 보상은 없습니다. 통과 조건은 90일(트레이스 확보·실측 공개·플러그인 PR), 12개월(메인라인 머지·유효 DWPD ≥ 1 실증·보증 초안), 2027년 상반기(디자인인 1사·협약 공동 설계 조항·레퍼런스 스택 공개)입니다. 판돈은 캐시 계층 QLC 0 → 50%(2030년 350EB 중 175EB, 조건부), 비용은 Pod 3~5명 × 1~2사 재배치입니다.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6장은 수명 보증·SLA 리스크입니다. 왼쪽 차트는 유효 DWPD = 정격 × (3 ÷ WAF)입니다. 정격 0.58(61TB QLC)은 WAF 1.74에서 보증선 1.0 아래로 내려가고, 정격 0.3(245TB)은 WAF 1.0에서도 0.9에 그칩니다. WAF가 오르는 경우는 워크로드 변화, 오분류·RUH 간섭(FAST'26 WARP), 고객 스택 업데이트로 인한 힌트 손실입니다. 오른쪽 5원칙: 보증 기준은 관행대로 TBW·물리 매체 기록량 선도달로 두고 유효 DWPD는 부가 표기로만 쓰며, WAF 밴드(≤1.2 / ≤2.0 / &gt;2.0)별 조건부 등급으로 표기하고, OCP SMART C0로 양측이 같은 WAF를 관측하며, 배치 규격 준수를 조건으로 하고, 초과가 지속되면 재협상·감량 운영(2장 FIP 유사)으로 대응합니다. 12개월 통과 조건의 조건부 보증 초안이 이 장의 산출물입니다.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요약 · 6장을 한 장에</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고용량 QLC의 두 축: 신뢰성은 SSD 안에서, 내구성은 고객 시스템과 함께 해결합니다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문제가 두 축으로 갈라지고, 신뢰성은 SSD 계층에서, 내구성은 역량 · 실행 · 보증으로 이어집니다.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lc_vis_s0.png"/>
          <p:cNvPicPr>
            <a:picLocks noChangeAspect="1"/>
          </p:cNvPicPr>
          <p:nvPr/>
        </p:nvPicPr>
        <p:blipFill>
          <a:blip r:embed="rId2"/>
          <a:stretch>
            <a:fillRect/>
          </a:stretch>
        </p:blipFill>
        <p:spPr>
          <a:xfrm>
            <a:off x="722376" y="2560320"/>
            <a:ext cx="16843248" cy="5715000"/>
          </a:xfrm>
          <a:prstGeom prst="rect">
            <a:avLst/>
          </a:prstGeom>
        </p:spPr>
      </p:pic>
      <p:sp>
        <p:nvSpPr>
          <p:cNvPr id="9" name="Rectangle 8"/>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요약</a:t>
            </a:r>
          </a:p>
        </p:txBody>
      </p:sp>
      <p:sp>
        <p:nvSpPr>
          <p:cNvPr id="11" name="TextBox 10"/>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잔여 변수 WAF는 호스트가 결정하므로 공동 설계 역량을 3단계로 확장하고, FDE 선별·조건부 보증으로 실행합니다</a:t>
            </a:r>
          </a:p>
        </p:txBody>
      </p:sp>
      <p:sp>
        <p:nvSpPr>
          <p:cNvPr id="12" name="Rectangle 11"/>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1장 문제</a:t>
            </a:r>
          </a:p>
        </p:txBody>
      </p:sp>
      <p:sp>
        <p:nvSpPr>
          <p:cNvPr id="15" name="TextBox 14"/>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16" name="TextBox 15"/>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문제  </a:t>
            </a:r>
            <a:r>
              <a:rPr sz="1200" b="0">
                <a:solidFill>
                  <a:srgbClr val="1428A0"/>
                </a:solidFill>
                <a:latin typeface="Arial"/>
                <a:ea typeface="Arial"/>
              </a:rPr>
              <a:t/>
            </a:r>
          </a:p>
        </p:txBody>
      </p:sp>
      <p:sp>
        <p:nvSpPr>
          <p:cNvPr id="9" name="Rectangle 8"/>
          <p:cNvSpPr/>
          <p:nvPr/>
        </p:nvSpPr>
        <p:spPr>
          <a:xfrm>
            <a:off x="5320284"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신뢰성  </a:t>
            </a:r>
            <a:r>
              <a:rPr sz="1200" b="0">
                <a:solidFill>
                  <a:srgbClr val="8A8A8A"/>
                </a:solidFill>
                <a:latin typeface="Arial"/>
                <a:ea typeface="Arial"/>
              </a:rPr>
              <a:t/>
            </a:r>
          </a:p>
        </p:txBody>
      </p:sp>
      <p:sp>
        <p:nvSpPr>
          <p:cNvPr id="13" name="Rectangle 12"/>
          <p:cNvSpPr/>
          <p:nvPr/>
        </p:nvSpPr>
        <p:spPr>
          <a:xfrm>
            <a:off x="7769351"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해법 사다리  </a:t>
            </a:r>
            <a:r>
              <a:rPr sz="1200" b="0">
                <a:solidFill>
                  <a:srgbClr val="8A8A8A"/>
                </a:solidFill>
                <a:latin typeface="Arial"/>
                <a:ea typeface="Arial"/>
              </a:rPr>
              <a:t/>
            </a:r>
          </a:p>
        </p:txBody>
      </p:sp>
      <p:sp>
        <p:nvSpPr>
          <p:cNvPr id="17" name="Rectangle 16"/>
          <p:cNvSpPr/>
          <p:nvPr/>
        </p:nvSpPr>
        <p:spPr>
          <a:xfrm>
            <a:off x="10218420"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AI 추론 수요는 QLC에 고용량·1~3 DWPD를 요구하며, 신뢰성·내구성 두 축의 해법이 필요합니다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두 다운턴의 교훈은 요구를 고객 시스템 안에서 먼저 관측하라는 것이며, 그 요구가 대용량·높은 DWPD로 이동했습니다.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qlc_vis_s1.png"/>
          <p:cNvPicPr>
            <a:picLocks noChangeAspect="1"/>
          </p:cNvPicPr>
          <p:nvPr/>
        </p:nvPicPr>
        <p:blipFill>
          <a:blip r:embed="rId2"/>
          <a:stretch>
            <a:fillRect/>
          </a:stretch>
        </p:blipFill>
        <p:spPr>
          <a:xfrm>
            <a:off x="722376" y="2560320"/>
            <a:ext cx="16843248" cy="5715000"/>
          </a:xfrm>
          <a:prstGeom prst="rect">
            <a:avLst/>
          </a:prstGeom>
        </p:spPr>
      </p:pic>
      <p:sp>
        <p:nvSpPr>
          <p:cNvPr id="33" name="Rectangle 3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문제</a:t>
            </a:r>
          </a:p>
        </p:txBody>
      </p:sp>
      <p:sp>
        <p:nvSpPr>
          <p:cNvPr id="35" name="TextBox 34"/>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차기 요구는 고용량(다이 8배)과 1~3 DWPD이며, 동급 정격과 2~10배 격차가 있습니다</a:t>
            </a:r>
          </a:p>
        </p:txBody>
      </p:sp>
      <p:sp>
        <p:nvSpPr>
          <p:cNvPr id="36" name="Rectangle 35"/>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2장 신뢰성</a:t>
            </a:r>
          </a:p>
        </p:txBody>
      </p:sp>
      <p:sp>
        <p:nvSpPr>
          <p:cNvPr id="39" name="TextBox 38"/>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40" name="TextBox 39"/>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신뢰성  </a:t>
            </a:r>
            <a:r>
              <a:rPr sz="1200" b="0">
                <a:solidFill>
                  <a:srgbClr val="1428A0"/>
                </a:solidFill>
                <a:latin typeface="Arial"/>
                <a:ea typeface="Arial"/>
              </a:rPr>
              <a:t/>
            </a:r>
          </a:p>
        </p:txBody>
      </p:sp>
      <p:sp>
        <p:nvSpPr>
          <p:cNvPr id="13" name="Rectangle 12"/>
          <p:cNvSpPr/>
          <p:nvPr/>
        </p:nvSpPr>
        <p:spPr>
          <a:xfrm>
            <a:off x="7769351"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해법 사다리  </a:t>
            </a:r>
            <a:r>
              <a:rPr sz="1200" b="0">
                <a:solidFill>
                  <a:srgbClr val="8A8A8A"/>
                </a:solidFill>
                <a:latin typeface="Arial"/>
                <a:ea typeface="Arial"/>
              </a:rPr>
              <a:t/>
            </a:r>
          </a:p>
        </p:txBody>
      </p:sp>
      <p:sp>
        <p:nvSpPr>
          <p:cNvPr id="17" name="Rectangle 16"/>
          <p:cNvSpPr/>
          <p:nvPr/>
        </p:nvSpPr>
        <p:spPr>
          <a:xfrm>
            <a:off x="10218420"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첫째 축 신뢰성은 다이 수 8배 증가로 요구가 8배 엄격해지나, SSD 내부 설계로 충족됩니다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요구 FFR ≤ 3%는 고정, SSD당 다이 수는 128 → 1,024. 호스트에는 관측 지표만 제공합니다.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qlc_vis_s2.png"/>
          <p:cNvPicPr>
            <a:picLocks noChangeAspect="1"/>
          </p:cNvPicPr>
          <p:nvPr/>
        </p:nvPicPr>
        <p:blipFill>
          <a:blip r:embed="rId2"/>
          <a:stretch>
            <a:fillRect/>
          </a:stretch>
        </p:blipFill>
        <p:spPr>
          <a:xfrm>
            <a:off x="722376" y="2560320"/>
            <a:ext cx="16843248" cy="5715000"/>
          </a:xfrm>
          <a:prstGeom prst="rect">
            <a:avLst/>
          </a:prstGeom>
        </p:spPr>
      </p:pic>
      <p:sp>
        <p:nvSpPr>
          <p:cNvPr id="33" name="Rectangle 3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35" name="TextBox 34"/>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늘어난 다이 수는 패리티·여분 다이·감량 운영으로 SSD 안에서 흡수합니다. DWPD는 SSD 안에서 미충족입니다</a:t>
            </a:r>
          </a:p>
        </p:txBody>
      </p:sp>
      <p:sp>
        <p:nvSpPr>
          <p:cNvPr id="36" name="Rectangle 35"/>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3장 해법 사다리</a:t>
            </a:r>
          </a:p>
        </p:txBody>
      </p:sp>
      <p:sp>
        <p:nvSpPr>
          <p:cNvPr id="39" name="TextBox 38"/>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40" name="TextBox 39"/>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해법 사다리  </a:t>
            </a:r>
            <a:r>
              <a:rPr sz="1200" b="0">
                <a:solidFill>
                  <a:srgbClr val="1428A0"/>
                </a:solidFill>
                <a:latin typeface="Arial"/>
                <a:ea typeface="Arial"/>
              </a:rPr>
              <a:t/>
            </a:r>
          </a:p>
        </p:txBody>
      </p:sp>
      <p:sp>
        <p:nvSpPr>
          <p:cNvPr id="17" name="Rectangle 16"/>
          <p:cNvSpPr/>
          <p:nvPr/>
        </p:nvSpPr>
        <p:spPr>
          <a:xfrm>
            <a:off x="10218420"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둘째 축 내구성은 SSD 단독 최적화로 WAF ≈3에 머물렀고, 잔여 변수 WAF는 호스트가 결정합니다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요구(UBER·DWPD)는 고정, 단품 지표(RBER·P/E)는 악화, 격차는 상위 계층이 보상해 왔습니다.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qlc_vis_s3.png"/>
          <p:cNvPicPr>
            <a:picLocks noChangeAspect="1"/>
          </p:cNvPicPr>
          <p:nvPr/>
        </p:nvPicPr>
        <p:blipFill>
          <a:blip r:embed="rId2"/>
          <a:stretch>
            <a:fillRect/>
          </a:stretch>
        </p:blipFill>
        <p:spPr>
          <a:xfrm>
            <a:off x="722376" y="2560320"/>
            <a:ext cx="16843248" cy="5715000"/>
          </a:xfrm>
          <a:prstGeom prst="rect">
            <a:avLst/>
          </a:prstGeom>
        </p:spPr>
      </p:pic>
      <p:sp>
        <p:nvSpPr>
          <p:cNvPr id="33" name="Rectangle 3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35" name="TextBox 34"/>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잔여 변수 WAF는 SSD 밖 호스트가 결정하며, 병행 축과 결합하되 고객 협업과 새로운 역량을 요구합니다</a:t>
            </a:r>
          </a:p>
        </p:txBody>
      </p:sp>
      <p:sp>
        <p:nvSpPr>
          <p:cNvPr id="36" name="Rectangle 35"/>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4장 역량</a:t>
            </a:r>
          </a:p>
        </p:txBody>
      </p:sp>
      <p:sp>
        <p:nvSpPr>
          <p:cNvPr id="39" name="TextBox 38"/>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40" name="TextBox 39"/>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해법 사다리  </a:t>
            </a:r>
            <a:r>
              <a:rPr sz="1200" b="0">
                <a:solidFill>
                  <a:srgbClr val="555555"/>
                </a:solidFill>
                <a:latin typeface="Arial"/>
                <a:ea typeface="Arial"/>
              </a:rPr>
              <a:t/>
            </a:r>
          </a:p>
        </p:txBody>
      </p:sp>
      <p:sp>
        <p:nvSpPr>
          <p:cNvPr id="17" name="Rectangle 16"/>
          <p:cNvSpPr/>
          <p:nvPr/>
        </p:nvSpPr>
        <p:spPr>
          <a:xfrm>
            <a:off x="10218420"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역량  </a:t>
            </a:r>
            <a:r>
              <a:rPr sz="1200" b="0">
                <a:solidFill>
                  <a:srgbClr val="1428A0"/>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따라서 WAF 저감은 고객 시스템까지 3단계 공동 설계 역량을 요구하며, 삼성은 현재 1단계입니다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「승부는 칩을 많이 파는 기업이 아니라, 고객의 아키텍처 안으로 들어가 수요를 함께 설계하는 기업이 가져간다」</a:t>
            </a:r>
            <a:r>
              <a:rPr sz="1350" b="0">
                <a:solidFill>
                  <a:srgbClr val="8A8A8A"/>
                </a:solidFill>
                <a:latin typeface="Arial"/>
                <a:ea typeface="Arial"/>
              </a:rPr>
              <a:t>   신문섭 · Bain 파트너, 2026-06</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qlc_vis_s4.png"/>
          <p:cNvPicPr>
            <a:picLocks noChangeAspect="1"/>
          </p:cNvPicPr>
          <p:nvPr/>
        </p:nvPicPr>
        <p:blipFill>
          <a:blip r:embed="rId2"/>
          <a:stretch>
            <a:fillRect/>
          </a:stretch>
        </p:blipFill>
        <p:spPr>
          <a:xfrm>
            <a:off x="722376" y="2560320"/>
            <a:ext cx="16843248" cy="5715000"/>
          </a:xfrm>
          <a:prstGeom prst="rect">
            <a:avLst/>
          </a:prstGeom>
        </p:spPr>
      </p:pic>
      <p:sp>
        <p:nvSpPr>
          <p:cNvPr id="33" name="Rectangle 3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35" name="TextBox 34"/>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보증 범위가 원가·전력 → 워크로드 수명 → 시스템 TCO로 확장되며, 삼성은 1단계 진행 중입니다</a:t>
            </a:r>
          </a:p>
        </p:txBody>
      </p:sp>
      <p:sp>
        <p:nvSpPr>
          <p:cNvPr id="36" name="Rectangle 35"/>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5장 실행</a:t>
            </a:r>
          </a:p>
        </p:txBody>
      </p:sp>
      <p:sp>
        <p:nvSpPr>
          <p:cNvPr id="39" name="TextBox 38"/>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40" name="TextBox 39"/>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해법 사다리  </a:t>
            </a:r>
            <a:r>
              <a:rPr sz="1200" b="0">
                <a:solidFill>
                  <a:srgbClr val="555555"/>
                </a:solidFill>
                <a:latin typeface="Arial"/>
                <a:ea typeface="Arial"/>
              </a:rPr>
              <a:t/>
            </a:r>
          </a:p>
        </p:txBody>
      </p:sp>
      <p:sp>
        <p:nvSpPr>
          <p:cNvPr id="17" name="Rectangle 16"/>
          <p:cNvSpPr/>
          <p:nvPr/>
        </p:nvSpPr>
        <p:spPr>
          <a:xfrm>
            <a:off x="10218420"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
            </a:r>
          </a:p>
        </p:txBody>
      </p:sp>
      <p:sp>
        <p:nvSpPr>
          <p:cNvPr id="21" name="Rectangle 20"/>
          <p:cNvSpPr/>
          <p:nvPr/>
        </p:nvSpPr>
        <p:spPr>
          <a:xfrm>
            <a:off x="12667488"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실행  </a:t>
            </a:r>
            <a:r>
              <a:rPr sz="1200" b="0">
                <a:solidFill>
                  <a:srgbClr val="1428A0"/>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3단계 진입은 워크로드를 개방하는 고객에 FDE를 집중하고, 그 외는 업스트림·규격으로 협업합니다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「단 한 번도 고객 지향적인 적이 없었다. 진짜 고객 지향이 뭔지 이해하고, 그것을 위한 전략이 필요한 시점이 이미 됐다」</a:t>
            </a:r>
            <a:r>
              <a:rPr sz="1350" b="0">
                <a:solidFill>
                  <a:srgbClr val="8A8A8A"/>
                </a:solidFill>
                <a:latin typeface="Arial"/>
                <a:ea typeface="Arial"/>
              </a:rPr>
              <a:t>   송용호 · AX/PI센터장, 2026-09</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qlc_vis_s5.png"/>
          <p:cNvPicPr>
            <a:picLocks noChangeAspect="1"/>
          </p:cNvPicPr>
          <p:nvPr/>
        </p:nvPicPr>
        <p:blipFill>
          <a:blip r:embed="rId2"/>
          <a:stretch>
            <a:fillRect/>
          </a:stretch>
        </p:blipFill>
        <p:spPr>
          <a:xfrm>
            <a:off x="722376" y="2560320"/>
            <a:ext cx="16843248" cy="5715000"/>
          </a:xfrm>
          <a:prstGeom prst="rect">
            <a:avLst/>
          </a:prstGeom>
        </p:spPr>
      </p:pic>
      <p:sp>
        <p:nvSpPr>
          <p:cNvPr id="33" name="Rectangle 3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35" name="TextBox 34"/>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FDE는 워크로드를 개방하는 1~2사에 집중하고, 나머지는 업스트림·규격·레퍼런스 채널로 넓힙니다</a:t>
            </a:r>
          </a:p>
        </p:txBody>
      </p:sp>
      <p:sp>
        <p:nvSpPr>
          <p:cNvPr id="36" name="Rectangle 35"/>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6장 보증 · SLA</a:t>
            </a:r>
          </a:p>
        </p:txBody>
      </p:sp>
      <p:sp>
        <p:nvSpPr>
          <p:cNvPr id="39" name="TextBox 38"/>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40" name="TextBox 39"/>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해법 사다리  </a:t>
            </a:r>
            <a:r>
              <a:rPr sz="1200" b="0">
                <a:solidFill>
                  <a:srgbClr val="555555"/>
                </a:solidFill>
                <a:latin typeface="Arial"/>
                <a:ea typeface="Arial"/>
              </a:rPr>
              <a:t/>
            </a:r>
          </a:p>
        </p:txBody>
      </p:sp>
      <p:sp>
        <p:nvSpPr>
          <p:cNvPr id="17" name="Rectangle 16"/>
          <p:cNvSpPr/>
          <p:nvPr/>
        </p:nvSpPr>
        <p:spPr>
          <a:xfrm>
            <a:off x="10218420"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
            </a:r>
          </a:p>
        </p:txBody>
      </p:sp>
      <p:sp>
        <p:nvSpPr>
          <p:cNvPr id="21" name="Rectangle 20"/>
          <p:cNvSpPr/>
          <p:nvPr/>
        </p:nvSpPr>
        <p:spPr>
          <a:xfrm>
            <a:off x="12667488"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실행  </a:t>
            </a:r>
            <a:r>
              <a:rPr sz="1200" b="0">
                <a:solidFill>
                  <a:srgbClr val="555555"/>
                </a:solidFill>
                <a:latin typeface="Arial"/>
                <a:ea typeface="Arial"/>
              </a:rPr>
              <a:t/>
            </a:r>
          </a:p>
        </p:txBody>
      </p:sp>
      <p:sp>
        <p:nvSpPr>
          <p:cNvPr id="25" name="Rectangle 24"/>
          <p:cNvSpPr/>
          <p:nvPr/>
        </p:nvSpPr>
        <p:spPr>
          <a:xfrm>
            <a:off x="1511655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보증 · SLA  </a:t>
            </a:r>
            <a:r>
              <a:rPr sz="1200" b="0">
                <a:solidFill>
                  <a:srgbClr val="1428A0"/>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유효 DWPD 보증은 WAF 변동 리스크를 수반하므로 텔레메트리 기반 조건부 보증으로 설계합니다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관행은 5년 또는 TBW·DWPD 선도달 보증입니다. 유효 DWPD는 WAF가 오르면 그대로 삼성의 보증 부담이 됩니다.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qlc_vis_s6.png"/>
          <p:cNvPicPr>
            <a:picLocks noChangeAspect="1"/>
          </p:cNvPicPr>
          <p:nvPr/>
        </p:nvPicPr>
        <p:blipFill>
          <a:blip r:embed="rId2"/>
          <a:stretch>
            <a:fillRect/>
          </a:stretch>
        </p:blipFill>
        <p:spPr>
          <a:xfrm>
            <a:off x="722376" y="2560320"/>
            <a:ext cx="16843248" cy="5715000"/>
          </a:xfrm>
          <a:prstGeom prst="rect">
            <a:avLst/>
          </a:prstGeom>
        </p:spPr>
      </p:pic>
      <p:sp>
        <p:nvSpPr>
          <p:cNvPr id="33" name="Rectangle 3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35" name="TextBox 34"/>
          <p:cNvSpPr txBox="1"/>
          <p:nvPr/>
        </p:nvSpPr>
        <p:spPr>
          <a:xfrm>
            <a:off x="2551176" y="8467344"/>
            <a:ext cx="146486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보증 기준은 TBW 선도달 관행을 유지하고, 유효 DWPD는 WAF 밴드별 조건부 등급으로만 표기합니다</a:t>
            </a:r>
          </a:p>
        </p:txBody>
      </p:sp>
      <p:sp>
        <p:nvSpPr>
          <p:cNvPr id="36" name="TextBox 35"/>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37" name="TextBox 36"/>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