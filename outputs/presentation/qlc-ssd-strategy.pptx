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한 장입니다. 2022년은 QLC 주문의 해가 아니라 조건이 갖춰진 해였습니다: 전문 벤더(Solidigm) 출범, 하이퍼스케일러 주도 폼팩터(E1.S/E1.L), Meta·Google의 배치 표준 비준(2022-12), NAND 가격 급락, 학습 데이터셋 6배. 하이퍼스케일러가 원한 것은 HDD의 대역폭 붕괴를 메우는 용량 계층(Meta: 10 MB/s/TB), 공급자가 판 것은 1U에 1PB의 TCO였습니다. 물량은 AI 추론 서버의 전력 효율이 우선순위가 된 2024년에 터졌습니다(TrendForce 30EB, 4배). 현재는 용량 경쟁과 니어라인 HDD 완판이 QLC를 끌어올리지만, 향후 3~5년 공급 부족 국면에서 HDD 대체는 커머디티 경쟁이라 들어가지 않습니다. 다음 무대는 KV cache 오프로드가 만드는 추론 캐시 티어이고, 그 티어는 오늘 TLC(1~3 DWPD)가 서비스합니다. 그래프: 비트는 10배, 가격 정상화 기준선에서 매출은 정체, 진한 파랑은 조건부 상방. 모델 수치는 TrendForce 실측 앵커를 삼각측량한 추정이며 가정표는 위키 qlc-ssd-market.md §4.3에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요구사항과 역량 한 장입니다. 갭 네 가지: 내구성(QLC 정격 0.075~0.6 vs TLC 1~3 DWPD, 10~40배), 스트림(RUH 2~8 vs 200+), 접점(KV 캐시 관리자 4종 코드에 배치·내구성 언급 0), 그리고 수단은 있다(CacheLib 실측 WAF 3.22→1.03, XFS write streams RocksDB -35%, ScaleFlux 유효 7~10 DWPD). 세 단계는 사용자 정의: Phase 1 배치 표준 디바이스, Phase 2 워크로드 분석 기반 최적화, Phase 3 고객 시스템 이해 기반 co-design. 삼성은 디바이스(CMX 첫 공급)와 오픈소스 도구(xNVMe·CacheLib·XFS)가 5사 중 가장 두텁지만 KV cache 스택(엔진·관리자·I/O 라이브러리)에 연결한 공개물이 없습니다. 벤더가 코드로 들어갈 수 있는 자리는 I/O 라이브러리와 커널·플랫폼 계층이며 2026년 커널·XFS가 열리면서 비어 있습니다. 오케스트레이션(Dynamo·LMCache·Mooncake) 자체는 만들지 않습니다. 협업은 층별로 목적이 다릅니다: NVIDIA는 플랫폼 게이트, Anthropic·OpenAI는 스펙 상류, 하이퍼스케일러는 물량·활성화(Meta는 구매 SSD 전량 배치 표준 탑재·기본 비활성이라 활성화 싸움), VAST·DDN·WEKA는 실증 채널(DDN은 2026년 전략 라운드), 오픈소스 커뮤니티는 업스트림, ScaleFlux는 Phase 2 역량의 acqui-hire 후보입니다.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전략 한 장입니다. 하던 대로가 안 되는 이유: 캐시 티어의 스펙은 고객 캐시 관리자 코드 안에 있어 RFQ에 안 적히고, 4개 커뮤니티의 메인테이너 문법은 겸업으로 못 얻으며, 국내 보상으로는 실리콘밸리 시니어(TC $600~700K대)를 못 뽑고, 사업과 분리된 오픈소스 조직은 소멸(Intel OTC)하며, 물량 계약만으로는 Micron↔Anthropic 같은 공동 설계 조항을 못 얻습니다. 다섯 축: 전략(하나의 베팅·세 순서·2H27 전 창), 조직(자회사·Pod·TCO 모델 조직, 동일 P&amp;L 지표로 본사와 결합), 인사(별도 보상·스타·acqui-hire·전환 트랙·호명), 문화(업스트림 우선·결과 평가·최초 공개·품질 프레임), 재무(공동 플랫폼 계약·수명 보증·TCO 연동·지분·캐피털콜 펀드·NRE). 3티어: 90일(제품 정의·PR·실측·조항·협의·자회사 설계안), 1년(자회사·인수·Pod·인증·계약 1건·상품), 3년(침투 25%+ 중 40%·계약 3건·기본 백엔드·프리IPO). 협업 제안은 층별로 주는 것과 받는 것을 명시했고, 유인은 공급 부족기의 교환·리스크 부담·락인 없는 락인·호명·자본·고객의 고객입니다. 결정 요청 세 가지는 이번 보고에서 승인 또는 착수 지시가 필요한 항목입니다. 가성비 판정과 리스크는 보고서 6장·위키 qlc-execution-strategy.md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QLC eSSD 전략 · 배경: 트렌드 변화와 시장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요구는 2022년에 정의되고 물량은 2024년에 터졌으며, 다음 무대는 추론 캐시 티어입니다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초기·현재·향후 세 국면의 배경과 구매 기준, 2022년부터 2030년까지의 수요·비중·매출 모델을 한 장에 담았습니다.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60320"/>
            <a:ext cx="541324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7977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초기 · 2018~2023 (전환점 2022)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0896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75" b="1">
                <a:solidFill>
                  <a:srgbClr val="1A1A1A"/>
                </a:solidFill>
                <a:latin typeface="Arial"/>
                <a:ea typeface="Arial"/>
              </a:rPr>
              <a:t>요구는 정의됐지만 물량은 아직이었습니다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03904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배경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데이터 레이크 6배 · HDD 대역폭 붕괴 · 배치 표준 비준(2022-12) · 가격 급락</a:t>
            </a:r>
          </a:p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구매 기준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TB당 원가 · 랙 밀도(1U에 1PB) · 0.3~0.6 DWPD 허용</a:t>
            </a:r>
          </a:p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삼성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61TB급 1년 후발(2024-07), 인증 QLC 벤더 2사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17920" y="3758183"/>
            <a:ext cx="146304" cy="164592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7376" y="2560320"/>
            <a:ext cx="541324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77977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현재 · 2024~2026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10896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75" b="1">
                <a:solidFill>
                  <a:srgbClr val="1A1A1A"/>
                </a:solidFill>
                <a:latin typeface="Arial"/>
                <a:ea typeface="Arial"/>
              </a:rPr>
              <a:t>AI 추론 서버가 물량을 만들었습니다: 2024년 30EB, 전년 4배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803904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배경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추론 서버 전력 효율 · 61→122→245TB 용량 경쟁 · 니어라인 HDD 2026년 완판</a:t>
            </a:r>
          </a:p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구매 기준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TB당 와트 · 공급 확보(리드타임 약 1년)</a:t>
            </a:r>
          </a:p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삼성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물량 1위(2Q26 eSSD 35.1%), 용량은 후발(245TB 전시 단계)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932920" y="3758183"/>
            <a:ext cx="146304" cy="164592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152376" y="2560320"/>
            <a:ext cx="5413248" cy="2560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152376" y="2560320"/>
            <a:ext cx="73152" cy="25603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481559" y="277977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향후 · 2027~2030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81559" y="3108960"/>
            <a:ext cx="4754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75" b="1">
                <a:solidFill>
                  <a:srgbClr val="1A1A1A"/>
                </a:solidFill>
                <a:latin typeface="Arial"/>
                <a:ea typeface="Arial"/>
              </a:rPr>
              <a:t>다음 무대는 HDD 대체가 아니라 추론 캐시 티어입니다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81559" y="3803904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배경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KV cache가 HBM·DRAM을 넘쳐 SSD로 · 2027년 75~100EB · 2030년 워크로드의 35%</a:t>
            </a:r>
          </a:p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구매 기준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유효 내구성 · 토큰 경제성 · 수명 보증. 현재 주인은 TLC(1~3 DWPD)</a:t>
            </a:r>
          </a:p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삼성 </a:t>
            </a:r>
            <a:r>
              <a:rPr sz="1425" b="0">
                <a:solidFill>
                  <a:srgbClr val="1428A0"/>
                </a:solidFill>
                <a:latin typeface="Arial"/>
                <a:ea typeface="Arial"/>
              </a:rPr>
              <a:t>디바이스(CMX 첫 공급)는 있고 시스템 연결은 공백</a:t>
            </a:r>
          </a:p>
        </p:txBody>
      </p:sp>
      <p:pic>
        <p:nvPicPr>
          <p:cNvPr id="23" name="Picture 22" descr="qlc_demand_share_revenu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5266944"/>
            <a:ext cx="10287000" cy="32004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1283696" y="5266944"/>
            <a:ext cx="628192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94592" y="5468112"/>
            <a:ext cx="56601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그래프가 말하는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4592" y="5833872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10배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66776" y="5833872"/>
            <a:ext cx="41879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QLC eSSD 비트 2025년 53EB → 2030년 550EB(e), eSSD 비트의 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94592" y="6510528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정체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66776" y="6510528"/>
            <a:ext cx="41879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QLC 매출 2026년 $32B → 2030년 $37B(e). 가격 정상화 후 비트 성장이 매출로 안 이어집니다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94592" y="7187184"/>
            <a:ext cx="1417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428A0"/>
                </a:solidFill>
                <a:latin typeface="Arial"/>
                <a:ea typeface="Arial"/>
              </a:rPr>
              <a:t>350EB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66776" y="7187184"/>
            <a:ext cx="41879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2030년 추론 캐시 티어 NAND 수요(전 미디어). QLC 침투는 호스트 협력 배치 성립 시 조건부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594592" y="7863840"/>
            <a:ext cx="5660136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594592" y="7936992"/>
            <a:ext cx="56601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비트가 아니라 시스템 위에서 보증하는 TCO가 이익을 결정합니다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376" y="8613648"/>
            <a:ext cx="16843248" cy="78638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3856" y="8613648"/>
            <a:ext cx="14630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</a:rPr>
              <a:t>결론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51176" y="8613648"/>
            <a:ext cx="14648688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</a:rPr>
              <a:t>향후 3~5년 공급 부족 국면에서 니어라인 HDD 대체 대신, 오늘 TLC가 서비스하는 추론 캐시 티어를 QLC로 가져갑니다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TrendForce 분기 실측(2022~2Q26)·QLC 30EB(2024)·SanDisk FMS 2026·Meta·Solidigm 발표 종합, 2026~2030은 추정(e), 분모는 enterprise SSD 비트 · 상세: QLC eSSD 전략 보고서 1~3장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QLC eSSD 전략 · 요구사항과 역량, 기술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캐시 티어는 오늘 TLC의 것입니다. QLC가 들어가려면 세 단계 역량이 함께 필요합니다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요구 갭 네 가지, 디바이스·워크로드 최적화·고객 시스템 co-design 세 단계와 삼성의 현 위치, 참여할 스택과 협업할 기업입니다.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60320"/>
            <a:ext cx="4032504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2706624"/>
            <a:ext cx="3483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50" b="1">
                <a:solidFill>
                  <a:srgbClr val="1428A0"/>
                </a:solidFill>
                <a:latin typeface="Arial"/>
                <a:ea typeface="Arial"/>
              </a:rPr>
              <a:t>10~40배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163824"/>
            <a:ext cx="3483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내구성 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438144"/>
            <a:ext cx="34838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최신 QLC 정격 0.075~0.6 DWPD vs 캐시 티어 TLC 1~3 DWPD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92624" y="2560320"/>
            <a:ext cx="4032504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2706624"/>
            <a:ext cx="3483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50" b="1">
                <a:solidFill>
                  <a:srgbClr val="1428A0"/>
                </a:solidFill>
                <a:latin typeface="Arial"/>
                <a:ea typeface="Arial"/>
              </a:rPr>
              <a:t>25배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6944" y="3163824"/>
            <a:ext cx="3483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스트림 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6944" y="3438144"/>
            <a:ext cx="34838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현행 RUH 2~8개 vs 세션·테넌트·수명 분리에 필요한 200개 이상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62872" y="2560320"/>
            <a:ext cx="4032504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706624"/>
            <a:ext cx="3483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50" b="1">
                <a:solidFill>
                  <a:srgbClr val="1428A0"/>
                </a:solidFill>
                <a:latin typeface="Arial"/>
                <a:ea typeface="Arial"/>
              </a:rPr>
              <a:t>0건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3163824"/>
            <a:ext cx="3483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접점 공백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37192" y="3438144"/>
            <a:ext cx="34838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KV 캐시 관리자 4종의 코드에 배치·내구성 언급 없음(GitHub 확인)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533120" y="2560320"/>
            <a:ext cx="4032504" cy="1389888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07440" y="2706624"/>
            <a:ext cx="3483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50" b="1">
                <a:solidFill>
                  <a:srgbClr val="1428A0"/>
                </a:solidFill>
                <a:latin typeface="Arial"/>
                <a:ea typeface="Arial"/>
              </a:rPr>
              <a:t>3.22 → 1.03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0" y="3163824"/>
            <a:ext cx="3483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수단은 있음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0" y="3438144"/>
            <a:ext cx="34838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배치 표준으로 CacheLib 실측 WAF 3.22에서 1.03으로(100% 사용률)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" y="4114800"/>
            <a:ext cx="16843248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68296" y="4114800"/>
            <a:ext cx="5004816" cy="475488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51176" y="4114800"/>
            <a:ext cx="463905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428A0"/>
                </a:solidFill>
                <a:latin typeface="Arial"/>
                <a:ea typeface="Arial"/>
              </a:rPr>
              <a:t>Phase 1  </a:t>
            </a: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배치 표준 디바이스를 잘 만든다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64552" y="4114800"/>
            <a:ext cx="5004816" cy="475488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47432" y="4114800"/>
            <a:ext cx="463905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428A0"/>
                </a:solidFill>
                <a:latin typeface="Arial"/>
                <a:ea typeface="Arial"/>
              </a:rPr>
              <a:t>Phase 2  </a:t>
            </a: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고객 워크로드 분석으로 최적화한다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560808" y="4114800"/>
            <a:ext cx="5004816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743688" y="4114800"/>
            <a:ext cx="463905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</a:rPr>
              <a:t>Phase 3  </a:t>
            </a:r>
            <a:r>
              <a:rPr sz="1725" b="1">
                <a:solidFill>
                  <a:srgbClr val="FFFFFF"/>
                </a:solidFill>
                <a:latin typeface="Arial"/>
                <a:ea typeface="Arial"/>
              </a:rPr>
              <a:t>고객 시스템을 이해하고 함께 설계한다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" y="4590288"/>
            <a:ext cx="1280160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필요 역량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4681727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RUH 200+ 펌웨어, 2Tb QLC 미디어 관리(WAF ≈ 1), NVMe KV 확장·NVMe-oF, TB당 와트·액체냉각, CMX/STX·OCP 인증, 에뮬레이터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47432" y="4681727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트레이스 수집·재현, WAF·p999·전력 정량, 수명·테넌트·prefix를 RUH 정책으로, 관리자 정책(빈도 필터)과의 결합, 디지털 트윈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43688" y="4681727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추론 엔진·캐시 관리자·커널 I/O 경로 이해, 디바이스→랙→DC 시스템 TCO 모델, 스펙 상류·표준 참여, 공동 계약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5529071"/>
            <a:ext cx="1280160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삼성 현황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" y="5529071"/>
            <a:ext cx="1666036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1176" y="5620511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PM1753 CMX 첫 공급(TLC), PM1763 Gen6, 245TB QLC 전시. RUH 수·DWPD·배치 지원 미공개, 캐시 티어용 QLC 없음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47432" y="5620511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KV cache 백서 2종(측정 역량 있음), CacheLib·RocksDB·XFS 배치 지원. KV 트레이스 기반 실측은 미공개(업계 공백)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43688" y="5620511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Meta CacheLib 업스트림·EuroSys'25(5사 중 최강 선례). 캐시 관리자 4종 기여 0, 공급계약에 공동 최적화 조항 없음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6467855"/>
            <a:ext cx="1280160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발전시킬 역량 · 참여 스택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3816" y="6467855"/>
            <a:ext cx="1666036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51176" y="6559295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KV-ready QLC: 워크로드 조건부 수명 보증 조건표를 스펙에 · 스택: NVMe TP·OCP·CMX STX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47432" y="6559295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프로파일러·에뮬레이터 제품화, 업계 최초 KV cache WAF 실측 공개 · 스택: LMCache·FlexKV io_uring 백엔드, xNVMe, XFS write streams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43688" y="6559295"/>
            <a:ext cx="4639056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시스템 아키텍트·TCO 모델 조직, 메인라인 머지를 성과 단위로 · 스택: Dynamo KVBM·NIXL, DOCA Memos 힌트 매핑, SNIA·OCP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" y="7589520"/>
            <a:ext cx="16843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협업할 기업 · 목적을 달리해 다섯 층에 동시 진입합니다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2376" y="7973568"/>
            <a:ext cx="3185769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3544" y="8065008"/>
            <a:ext cx="27834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플랫폼 게이트</a:t>
            </a:r>
          </a:p>
        </p:txBody>
      </p:sp>
      <p:pic>
        <p:nvPicPr>
          <p:cNvPr id="48" name="Picture 47" descr="nvi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8412480"/>
            <a:ext cx="1435395" cy="2743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8778240"/>
            <a:ext cx="278343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STX 인증 · DOCA Memos 힌트 매핑 · 기본 백엔드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36745" y="7973568"/>
            <a:ext cx="3185769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37913" y="8065008"/>
            <a:ext cx="27834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스펙 상류</a:t>
            </a:r>
          </a:p>
        </p:txBody>
      </p:sp>
      <p:pic>
        <p:nvPicPr>
          <p:cNvPr id="52" name="Picture 51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13" y="8449004"/>
            <a:ext cx="1775921" cy="201271"/>
          </a:xfrm>
          <a:prstGeom prst="rect">
            <a:avLst/>
          </a:prstGeom>
        </p:spPr>
      </p:pic>
      <p:pic>
        <p:nvPicPr>
          <p:cNvPr id="53" name="Picture 52" descr="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690" y="8449004"/>
            <a:ext cx="819656" cy="20127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4337913" y="8778240"/>
            <a:ext cx="278343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공급계약에 공동 최적화 조항 · KV 수명 정책 접근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51115" y="7973568"/>
            <a:ext cx="3185769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52283" y="8065008"/>
            <a:ext cx="27834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물량 · 활성화</a:t>
            </a:r>
          </a:p>
        </p:txBody>
      </p:sp>
      <p:pic>
        <p:nvPicPr>
          <p:cNvPr id="57" name="Picture 56" descr="m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283" y="8436852"/>
            <a:ext cx="839557" cy="170710"/>
          </a:xfrm>
          <a:prstGeom prst="rect">
            <a:avLst/>
          </a:prstGeom>
        </p:spPr>
      </p:pic>
      <p:pic>
        <p:nvPicPr>
          <p:cNvPr id="58" name="Picture 57" descr="goog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652" y="8436852"/>
            <a:ext cx="520810" cy="170710"/>
          </a:xfrm>
          <a:prstGeom prst="rect">
            <a:avLst/>
          </a:prstGeom>
        </p:spPr>
      </p:pic>
      <p:pic>
        <p:nvPicPr>
          <p:cNvPr id="59" name="Picture 58" descr="microso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0272" y="8436852"/>
            <a:ext cx="796057" cy="170710"/>
          </a:xfrm>
          <a:prstGeom prst="rect">
            <a:avLst/>
          </a:prstGeom>
        </p:spPr>
      </p:pic>
      <p:pic>
        <p:nvPicPr>
          <p:cNvPr id="60" name="Picture 59" descr="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0140" y="8436852"/>
            <a:ext cx="285574" cy="17071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7752283" y="8778240"/>
            <a:ext cx="278343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활성화 약정 · 다년 물량 · 선급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965484" y="7973568"/>
            <a:ext cx="3185769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166652" y="8065008"/>
            <a:ext cx="27834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실증 · 채널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166652" y="8394192"/>
            <a:ext cx="861821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166652" y="8394192"/>
            <a:ext cx="861821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VAST Data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174778" y="8394192"/>
            <a:ext cx="531114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74778" y="8394192"/>
            <a:ext cx="531114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DDN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852196" y="8394192"/>
            <a:ext cx="586232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852196" y="8394192"/>
            <a:ext cx="586232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WEKA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66652" y="8778240"/>
            <a:ext cx="278343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6~12개월 실증 · 레퍼런스 · DDN 지분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379854" y="7973568"/>
            <a:ext cx="3185769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581022" y="8065008"/>
            <a:ext cx="27834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오픈소스 · 인수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581022" y="8394192"/>
            <a:ext cx="705286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4581022" y="8394192"/>
            <a:ext cx="705286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Arial"/>
              </a:rPr>
              <a:t>LMCache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5400844" y="8394192"/>
            <a:ext cx="753790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5400844" y="8394192"/>
            <a:ext cx="753790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Arial"/>
              </a:rPr>
              <a:t>Mooncake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269169" y="8394192"/>
            <a:ext cx="656783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269169" y="8394192"/>
            <a:ext cx="656783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Arial"/>
              </a:rPr>
              <a:t>FlexKV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040487" y="8394192"/>
            <a:ext cx="802294" cy="256031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040487" y="8394192"/>
            <a:ext cx="802294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Arial"/>
              </a:rPr>
              <a:t>ScaleFlux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581022" y="8778240"/>
            <a:ext cx="278343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업스트림 PR · 공동 투자 · acqui-hire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StorageReview·Solidigm·Kioxia 스펙(DWPD), ScaleFlux 2026-07(RUH 200+), GitHub README 확인(LMCache·Mooncake·FlexKV·3FS), CacheLib FDP 문서(WAF), EuroSys'25 · 로고는 식별 표시, 대외 배포 시 각사 가이드 준수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QLC eSSD 전략 · 실행 전략과 고객 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Arial"/>
                <a:ea typeface="Arial"/>
              </a:rPr>
              <a:t>하던 대로는 안 됩니다. 조직·보상·계약을 한 묶음으로 바꾸고 접근권을 계약으로 고정합니다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55555"/>
                </a:solidFill>
                <a:latin typeface="Arial"/>
                <a:ea typeface="Arial"/>
              </a:rPr>
              <a:t>다섯 축의 실행 전략, 90일·1년·3년 티어, 층별 고객 협업 제안(주는 것과 받는 것)과 결정 요청입니다.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60320"/>
            <a:ext cx="10149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" y="2560320"/>
            <a:ext cx="1143000" cy="896112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60320"/>
            <a:ext cx="11430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전략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3976" y="2651760"/>
            <a:ext cx="8549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하나의 베팅: QLC로 추론 캐시 티어를. 니어라인 HDD 대체는 들어가지 않습니다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976" y="3017520"/>
            <a:ext cx="8549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순서: KV-ready QLC → 등대 고객 실측 공개 → 공동 플랫폼 계약 · 창: 공급 완화(2H27) 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" y="3547872"/>
            <a:ext cx="10149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" y="3547872"/>
            <a:ext cx="1143000" cy="896112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3547872"/>
            <a:ext cx="11430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639312"/>
            <a:ext cx="8549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실리콘밸리 추론 스토리지 자회사 + 고객 상주 Co-Design Pod + 시스템 TCO 모델 조직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4005072"/>
            <a:ext cx="8549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선례: SK hynix AI Company $10B(2026-01) · 자회사는 본사 SSD와 동일 P&amp;L 지표(활성화 EB)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" y="4535424"/>
            <a:ext cx="10149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376" y="4535424"/>
            <a:ext cx="1143000" cy="896112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535424"/>
            <a:ext cx="11430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인사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3976" y="4626864"/>
            <a:ext cx="8549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별도 보상(지분·RSU형)으로 시장가 채용, 스타 앵커 5명, ScaleFlux 팀 인수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3976" y="4992624"/>
            <a:ext cx="8549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격차: 삼성 SV L6 $392K vs NVIDIA IC6 $626K · 기준가: Astera↔Pliops 약 $70M/60명 · 펌웨어→호스트 SW 트랙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5522976"/>
            <a:ext cx="10149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2376" y="5522976"/>
            <a:ext cx="1143000" cy="896112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22976"/>
            <a:ext cx="11430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문화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3976" y="5614416"/>
            <a:ext cx="8549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업스트림 우선: 메인라인 머지가 완성, 결과로 평가, 실측을 업계 최초로 공개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3976" y="5980176"/>
            <a:ext cx="8549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명시 요구 vs 실제 요구 문서화 · 실패 예산 · 품질·원가를 프레임에(수명 보증은 필드 품질과 결합)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376" y="6510528"/>
            <a:ext cx="10149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" y="6510528"/>
            <a:ext cx="1143000" cy="896112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6510528"/>
            <a:ext cx="114300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재무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93976" y="6601968"/>
            <a:ext cx="8549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물량 계약을 공동 플랫폼 계약으로, 수명 보증 + TCO 연동 가격, 지분으로 접근권을 삽니다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3976" y="6967728"/>
            <a:ext cx="8549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선례: Micron SCA 예치금 $22B, Pure Watts/TiB SLA · 지분: Anthropic·Mistral(기존), DDN(2026), Tensormesh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" y="7516367"/>
            <a:ext cx="3322320" cy="1024128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7607807"/>
            <a:ext cx="2919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428A0"/>
                </a:solidFill>
                <a:latin typeface="Arial"/>
                <a:ea typeface="Arial"/>
              </a:rPr>
              <a:t>90일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7882127"/>
            <a:ext cx="29199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KV-ready QLC 정의 · 업스트림 PR·실측 착수 · Anthropic 조항 제안 · NVIDIA 협의 · 자회사 설계안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026408" y="7955279"/>
            <a:ext cx="128016" cy="146304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36136" y="7516367"/>
            <a:ext cx="3322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7304" y="7607807"/>
            <a:ext cx="2919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428A0"/>
                </a:solidFill>
                <a:latin typeface="Arial"/>
                <a:ea typeface="Arial"/>
              </a:rPr>
              <a:t>1년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7304" y="7882127"/>
            <a:ext cx="29199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자회사 출범·스타 영입 · ScaleFlux 인수 · Pod 2사 상주 · CMX 인증 · 계약 1건 · 수명 보증 상품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440168" y="7955279"/>
            <a:ext cx="128016" cy="146304"/>
          </a:xfrm>
          <a:prstGeom prst="rightArrow">
            <a:avLst/>
          </a:prstGeom>
          <a:solidFill>
            <a:srgbClr val="AA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549896" y="7516367"/>
            <a:ext cx="3322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1064" y="7607807"/>
            <a:ext cx="2919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428A0"/>
                </a:solidFill>
                <a:latin typeface="Arial"/>
                <a:ea typeface="Arial"/>
              </a:rPr>
              <a:t>3년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51064" y="7882127"/>
            <a:ext cx="29199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캐시 티어 QLC 침투 25%+ 중 삼성 40% · 계약 3건 · 캐시 관리자 4종 기본 백엔드 · 프리IPO 옵션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46536" y="2606040"/>
            <a:ext cx="6419088" cy="59344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0856" y="2788920"/>
            <a:ext cx="58704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고객 협업 제안 · 주는 것 → 받는 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20856" y="320040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스펙 상류</a:t>
            </a:r>
          </a:p>
        </p:txBody>
      </p:sp>
      <p:pic>
        <p:nvPicPr>
          <p:cNvPr id="47" name="Picture 46" descr="anthr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8256" y="3218688"/>
            <a:ext cx="2097741" cy="237744"/>
          </a:xfrm>
          <a:prstGeom prst="rect">
            <a:avLst/>
          </a:prstGeom>
        </p:spPr>
      </p:pic>
      <p:pic>
        <p:nvPicPr>
          <p:cNvPr id="48" name="Picture 47" descr="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5453" y="3218688"/>
            <a:ext cx="968188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420856" y="3547872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주는 것: 우선 공급·상주 엔지니어·수명 보증·자본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0856" y="3877056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받는 것: KV 수명 정책 접근, 레퍼런스 스펙 기본값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20856" y="4242816"/>
            <a:ext cx="587044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20856" y="431596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플랫폼 게이트</a:t>
            </a:r>
          </a:p>
        </p:txBody>
      </p:sp>
      <p:pic>
        <p:nvPicPr>
          <p:cNvPr id="53" name="Picture 52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78256" y="4334255"/>
            <a:ext cx="1244009" cy="23774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420856" y="4663440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주는 것: STX 인증 디바이스·힌트 매핑·기본 백엔드 코드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20856" y="4992624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받는 것: G3.5 티어 레퍼런스 지위, 힌트 조기 접근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20856" y="5358383"/>
            <a:ext cx="587044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0856" y="5431536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실증 · 채널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478256" y="5431536"/>
            <a:ext cx="861821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478256" y="5431536"/>
            <a:ext cx="86182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VAST Data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468094" y="5431536"/>
            <a:ext cx="531114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468094" y="5431536"/>
            <a:ext cx="53111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DDN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127224" y="5431536"/>
            <a:ext cx="58623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127224" y="5431536"/>
            <a:ext cx="58623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Arial"/>
                <a:ea typeface="Arial"/>
              </a:rPr>
              <a:t>WEKA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0856" y="5779007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주는 것: 지분·SSD 공급·공동 레퍼런스 아키텍처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420856" y="6108192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받는 것: 6~12개월 실증, 네오클라우드 채널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420856" y="6473951"/>
            <a:ext cx="587044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420856" y="654710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A1A1A"/>
                </a:solidFill>
                <a:latin typeface="Arial"/>
                <a:ea typeface="Arial"/>
              </a:rPr>
              <a:t>물량 · 활성화</a:t>
            </a:r>
          </a:p>
        </p:txBody>
      </p:sp>
      <p:pic>
        <p:nvPicPr>
          <p:cNvPr id="68" name="Picture 67" descr="m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78256" y="6565391"/>
            <a:ext cx="899410" cy="182880"/>
          </a:xfrm>
          <a:prstGeom prst="rect">
            <a:avLst/>
          </a:prstGeom>
        </p:spPr>
      </p:pic>
      <p:pic>
        <p:nvPicPr>
          <p:cNvPr id="69" name="Picture 68" descr="goog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05681" y="6565391"/>
            <a:ext cx="557939" cy="182880"/>
          </a:xfrm>
          <a:prstGeom prst="rect">
            <a:avLst/>
          </a:prstGeom>
        </p:spPr>
      </p:pic>
      <p:pic>
        <p:nvPicPr>
          <p:cNvPr id="70" name="Picture 69" descr="microso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91636" y="6565391"/>
            <a:ext cx="852808" cy="182880"/>
          </a:xfrm>
          <a:prstGeom prst="rect">
            <a:avLst/>
          </a:prstGeom>
        </p:spPr>
      </p:pic>
      <p:pic>
        <p:nvPicPr>
          <p:cNvPr id="71" name="Picture 70" descr="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72461" y="6565391"/>
            <a:ext cx="305933" cy="18288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1420856" y="6894575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주는 것: 활성화 엔지니어링(NRE 흡수)·다년 공급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0856" y="7223759"/>
            <a:ext cx="58704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25" b="1">
                <a:solidFill>
                  <a:srgbClr val="1428A0"/>
                </a:solidFill>
                <a:latin typeface="Arial"/>
                <a:ea typeface="Arial"/>
              </a:rPr>
              <a:t>받는 것: 다년 물량·선급·활성화 약정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420856" y="7589519"/>
            <a:ext cx="5870448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420856" y="7680959"/>
            <a:ext cx="5870448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25" b="1">
                <a:solidFill>
                  <a:srgbClr val="1A1A1A"/>
                </a:solidFill>
                <a:latin typeface="Arial"/>
                <a:ea typeface="Arial"/>
              </a:rPr>
              <a:t>유인 </a:t>
            </a:r>
            <a:r>
              <a:rPr sz="1425" b="0">
                <a:solidFill>
                  <a:srgbClr val="555555"/>
                </a:solidFill>
                <a:latin typeface="Arial"/>
                <a:ea typeface="Arial"/>
              </a:rPr>
              <a:t>공급 부족기의 교환은 거절하기 어렵고, 수명 보증과 NRE로 리스크는 우리가 지며, 표준 위라 락인 두려움 없이 깊이 들어옵니다. 지분은 정보와 우선 협의권을 삽니다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2376" y="8705088"/>
            <a:ext cx="16843248" cy="69494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33856" y="8705088"/>
            <a:ext cx="14630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</a:rPr>
              <a:t>결정 요청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51176" y="8705088"/>
            <a:ext cx="14648688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</a:rPr>
              <a:t>① 자회사 설립과 별도 보상 체계 승인  ② ScaleFlux·DDN 투자 심의 착수  ③ Anthropic 공동 최적화 조항·NVIDIA 기술 협의 착수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55555"/>
                </a:solidFill>
                <a:latin typeface="Arial"/>
                <a:ea typeface="Arial"/>
              </a:rPr>
              <a:t>출처: SK hynix 뉴스룸·CNBC(2026-01), Calcalist·Globes(Pliops), levels.fyi 2026, Micron IR·10-Q, Pure PR, Blackstone·Bloomberg(DDN), SiliconANGLE(Tensormesh) · 규모·시점은 추정, 사내 수치는 [사내 확인]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