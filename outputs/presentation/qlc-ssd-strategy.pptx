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다운턴 복기에서 도출한 교훈입니다. 상단 타임라인에 DT19(재고 조정 국면, 매출 낙폭 -37.6%)와 DT23(최대 낙폭 -45%, 진앙은 eSSD) 두 다운턴 구간과 QLC eSSD 연혁을 동일 시간축에 배치했습니다.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SK그룹 내 최대 낙폭 국면에서 61TB QLC를 삼성 대비 12개월 선행 출시해 2024년 흑자 전환했고, HBM은 NVIDIA와 규격을 공동 정의한 SK hynix가 주도권을 확보했습니다. 위키의 2023년 다운턴 복기 결론과 동일합니다. 다운턴 극복의 결정 변수는 포트폴리오 다변화(방어)가 아니라 고객 요구 적중(공격)이었습니다. 교훈 3, 의사결정 시점: 직전 다운턴의 의사결정이 다음 다운턴의 초기 조건을 결정합니다. DT19의 무감산 성공 경험이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교훈이 이후 세 장의 전제입니다. 2장은 고객의 QLC 채택 동인, 3장은 디바이스에서 고객 시스템까지 3단계 역량, 4장은 FDE·전략적 협약과 이를 수행할 조직·인사·문화입니다.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고객의 QLC 채택 동인입니다. 세 국면을 관통하는 구매 기준은 용량 계층의 TB당 TCO입니다. 원가($/TB)·전력(W/TB)·밀도(TB/U)를 통합한 지표이며, 계산 자원에 인접한 최저 비용 바이트로 요약할 수 있습니다.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발언입니다. 부품이 어떻게 쓰일지는 시스템을 설계하는 사람 마음에 있다, 그걸 알았으면 HBM을 진작 준비했을 것이다. 고객의 채택 동인 파악이 본 전략의 출발점인 이유입니다. 결론: 고객은 추론 캐시 계층에서도 QLC의 TB당 TCO를 요구하며, 제약 조건은 내구성이고, 디바이스 단독으로는 해소되지 않습니다. 다음 장이 그 해소 경로입니다.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리드의 인용은 베인 신문섭 파트너의 진단입니다. 승부는 칩을 많이 파는 기업이 아니라 고객의 아키텍처 안으로 들어가 수요를 함께 설계하는 기업이 가져간다. 이 장이 바로 그 안으로 들어가는 세 단계입니다. 앞 장의 결론을 잇습니다. 고객은 캐시 티어에서도 QLC의 TB당 TCO를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리드의 인용은 송용호 AX/PI센터장의 말입니다. 우리는 말로는 고객 지향을 하지만 단 한 번도 고객 지향적인 적이 없었고, 진짜 고객 지향이 뭔지 이해하고 그것을 위한 전략이 필요한 시점이 이미 됐다. 이 장이 그 전략입니다. 왼쪽 박스 아래 인용도 같은 인터뷰입니다. 고객의 집에 가서 저녁을 같이 먹는 것은 삼성에서는 상상할 수 없는 일이지만 SK하이닉스는 한다. 관계가 곧 워크로드 접근권이라는 뜻이고, 미주 현지 채용과 FDE 상주가 그 답입니다.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TB당 TCO가 가장 낮은 용량 계층을 QLC로 채웠고 그 계층이 쓰기 많은 추론 캐시로 옮겨가므로(1장) 내구성을 고객 시스템 안에서 풀어야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다운턴 복기에서 도출한 교훈</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DT19·DT23 두 다운턴과 QLC eSSD 연혁을 동일 시간축에 배치해 도출한 세 교훈이 이후 세 장의 논리적 전제입니다.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6696" y="3447288"/>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74372" y="3337560"/>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1492" y="3611879"/>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국면 · 매출 낙폭 -37.6%</a:t>
            </a:r>
          </a:p>
        </p:txBody>
      </p:sp>
      <p:sp>
        <p:nvSpPr>
          <p:cNvPr id="11" name="Rectangle 10"/>
          <p:cNvSpPr/>
          <p:nvPr/>
        </p:nvSpPr>
        <p:spPr>
          <a:xfrm>
            <a:off x="6536862" y="3337560"/>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3982" y="3611879"/>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진앙은 eSSD</a:t>
            </a:r>
          </a:p>
        </p:txBody>
      </p:sp>
      <p:sp>
        <p:nvSpPr>
          <p:cNvPr id="13" name="Rectangle 12"/>
          <p:cNvSpPr/>
          <p:nvPr/>
        </p:nvSpPr>
        <p:spPr>
          <a:xfrm>
            <a:off x="13380598" y="3337560"/>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06278" y="3611879"/>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 국면</a:t>
            </a:r>
          </a:p>
        </p:txBody>
      </p:sp>
      <p:sp>
        <p:nvSpPr>
          <p:cNvPr id="15" name="TextBox 14"/>
          <p:cNvSpPr txBox="1"/>
          <p:nvPr/>
        </p:nvSpPr>
        <p:spPr>
          <a:xfrm>
            <a:off x="630936"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16" name="TextBox 15"/>
          <p:cNvSpPr txBox="1"/>
          <p:nvPr/>
        </p:nvSpPr>
        <p:spPr>
          <a:xfrm>
            <a:off x="3238073"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17" name="TextBox 16"/>
          <p:cNvSpPr txBox="1"/>
          <p:nvPr/>
        </p:nvSpPr>
        <p:spPr>
          <a:xfrm>
            <a:off x="5845210"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18" name="TextBox 17"/>
          <p:cNvSpPr txBox="1"/>
          <p:nvPr/>
        </p:nvSpPr>
        <p:spPr>
          <a:xfrm>
            <a:off x="8452347"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19" name="TextBox 18"/>
          <p:cNvSpPr txBox="1"/>
          <p:nvPr/>
        </p:nvSpPr>
        <p:spPr>
          <a:xfrm>
            <a:off x="11059485"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20" name="TextBox 19"/>
          <p:cNvSpPr txBox="1"/>
          <p:nvPr/>
        </p:nvSpPr>
        <p:spPr>
          <a:xfrm>
            <a:off x="13666622"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21" name="TextBox 20"/>
          <p:cNvSpPr txBox="1"/>
          <p:nvPr/>
        </p:nvSpPr>
        <p:spPr>
          <a:xfrm>
            <a:off x="16273759"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22" name="Oval 21"/>
          <p:cNvSpPr/>
          <p:nvPr/>
        </p:nvSpPr>
        <p:spPr>
          <a:xfrm>
            <a:off x="2618183"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685848"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94055"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2019</a:t>
            </a:r>
          </a:p>
        </p:txBody>
      </p:sp>
      <p:sp>
        <p:nvSpPr>
          <p:cNvPr id="25" name="TextBox 24"/>
          <p:cNvSpPr txBox="1"/>
          <p:nvPr/>
        </p:nvSpPr>
        <p:spPr>
          <a:xfrm>
            <a:off x="1594055"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DT19 중 HBM 조직 축소</a:t>
            </a:r>
          </a:p>
        </p:txBody>
      </p:sp>
      <p:sp>
        <p:nvSpPr>
          <p:cNvPr id="26" name="Oval 25"/>
          <p:cNvSpPr/>
          <p:nvPr/>
        </p:nvSpPr>
        <p:spPr>
          <a:xfrm>
            <a:off x="7376208"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43874"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2080"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2022-12</a:t>
            </a:r>
          </a:p>
        </p:txBody>
      </p:sp>
      <p:sp>
        <p:nvSpPr>
          <p:cNvPr id="29" name="TextBox 28"/>
          <p:cNvSpPr txBox="1"/>
          <p:nvPr/>
        </p:nvSpPr>
        <p:spPr>
          <a:xfrm>
            <a:off x="6352080"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데이터 배치 표준 비준</a:t>
            </a:r>
          </a:p>
          <a:p>
            <a:pPr algn="ctr">
              <a:lnSpc>
                <a:spcPct val="100000"/>
              </a:lnSpc>
            </a:pPr>
            <a:r>
              <a:rPr sz="1125" b="0">
                <a:solidFill>
                  <a:srgbClr val="555555"/>
                </a:solidFill>
                <a:latin typeface="Arial"/>
                <a:ea typeface="Arial"/>
              </a:rPr>
              <a:t>eSSD 매출 -27% 국면</a:t>
            </a:r>
          </a:p>
        </p:txBody>
      </p:sp>
      <p:sp>
        <p:nvSpPr>
          <p:cNvPr id="30" name="Oval 29"/>
          <p:cNvSpPr/>
          <p:nvPr/>
        </p:nvSpPr>
        <p:spPr>
          <a:xfrm>
            <a:off x="8158349"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6015"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4221"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2023-07</a:t>
            </a:r>
          </a:p>
        </p:txBody>
      </p:sp>
      <p:sp>
        <p:nvSpPr>
          <p:cNvPr id="33" name="TextBox 32"/>
          <p:cNvSpPr txBox="1"/>
          <p:nvPr/>
        </p:nvSpPr>
        <p:spPr>
          <a:xfrm>
            <a:off x="7134221"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Solidigm 61.44TB QLC 출시</a:t>
            </a:r>
          </a:p>
          <a:p>
            <a:pPr algn="ctr">
              <a:lnSpc>
                <a:spcPct val="100000"/>
              </a:lnSpc>
            </a:pPr>
            <a:r>
              <a:rPr sz="1125" b="0">
                <a:solidFill>
                  <a:srgbClr val="555555"/>
                </a:solidFill>
                <a:latin typeface="Arial"/>
                <a:ea typeface="Arial"/>
              </a:rPr>
              <a:t>삼성 대비 12개월 선행</a:t>
            </a:r>
          </a:p>
        </p:txBody>
      </p:sp>
      <p:sp>
        <p:nvSpPr>
          <p:cNvPr id="34" name="Oval 33"/>
          <p:cNvSpPr/>
          <p:nvPr/>
        </p:nvSpPr>
        <p:spPr>
          <a:xfrm>
            <a:off x="9722632"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9029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98504"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2024</a:t>
            </a:r>
          </a:p>
        </p:txBody>
      </p:sp>
      <p:sp>
        <p:nvSpPr>
          <p:cNvPr id="37" name="TextBox 36"/>
          <p:cNvSpPr txBox="1"/>
          <p:nvPr/>
        </p:nvSpPr>
        <p:spPr>
          <a:xfrm>
            <a:off x="8698504"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eSSD 비트 출하 30EB(4배)</a:t>
            </a:r>
          </a:p>
          <a:p>
            <a:pPr algn="ctr">
              <a:lnSpc>
                <a:spcPct val="100000"/>
              </a:lnSpc>
            </a:pPr>
            <a:r>
              <a:rPr sz="1125" b="0">
                <a:solidFill>
                  <a:srgbClr val="555555"/>
                </a:solidFill>
                <a:latin typeface="Arial"/>
                <a:ea typeface="Arial"/>
              </a:rPr>
              <a:t>Solidigm 흑자 전환</a:t>
            </a:r>
          </a:p>
        </p:txBody>
      </p:sp>
      <p:sp>
        <p:nvSpPr>
          <p:cNvPr id="38" name="Oval 37"/>
          <p:cNvSpPr/>
          <p:nvPr/>
        </p:nvSpPr>
        <p:spPr>
          <a:xfrm>
            <a:off x="12134234"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201899"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110106"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2026</a:t>
            </a:r>
          </a:p>
        </p:txBody>
      </p:sp>
      <p:sp>
        <p:nvSpPr>
          <p:cNvPr id="41" name="TextBox 40"/>
          <p:cNvSpPr txBox="1"/>
          <p:nvPr/>
        </p:nvSpPr>
        <p:spPr>
          <a:xfrm>
            <a:off x="11110106"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KV 캐시 관리자 4종</a:t>
            </a:r>
          </a:p>
          <a:p>
            <a:pPr algn="ctr">
              <a:lnSpc>
                <a:spcPct val="100000"/>
              </a:lnSpc>
            </a:pPr>
            <a:r>
              <a:rPr sz="1125" b="0">
                <a:solidFill>
                  <a:srgbClr val="555555"/>
                </a:solidFill>
                <a:latin typeface="Arial"/>
                <a:ea typeface="Arial"/>
              </a:rPr>
              <a:t>데이터 배치 규격 미정의</a:t>
            </a:r>
          </a:p>
        </p:txBody>
      </p:sp>
      <p:sp>
        <p:nvSpPr>
          <p:cNvPr id="42" name="Oval 41"/>
          <p:cNvSpPr/>
          <p:nvPr/>
        </p:nvSpPr>
        <p:spPr>
          <a:xfrm>
            <a:off x="16827081"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689474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5802953"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2030</a:t>
            </a:r>
          </a:p>
        </p:txBody>
      </p:sp>
      <p:sp>
        <p:nvSpPr>
          <p:cNvPr id="45" name="TextBox 44"/>
          <p:cNvSpPr txBox="1"/>
          <p:nvPr/>
        </p:nvSpPr>
        <p:spPr>
          <a:xfrm>
            <a:off x="15802953"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비트 550EB(10배)</a:t>
            </a:r>
          </a:p>
          <a:p>
            <a:pPr algn="ctr">
              <a:lnSpc>
                <a:spcPct val="100000"/>
              </a:lnSpc>
            </a:pPr>
            <a:r>
              <a:rPr sz="1125" b="0">
                <a:solidFill>
                  <a:srgbClr val="555555"/>
                </a:solidFill>
                <a:latin typeface="Arial"/>
                <a:ea typeface="Arial"/>
              </a:rPr>
              <a:t>매출 정체(e)</a:t>
            </a:r>
          </a:p>
        </p:txBody>
      </p:sp>
      <p:sp>
        <p:nvSpPr>
          <p:cNvPr id="46" name="Rectangle 45"/>
          <p:cNvSpPr/>
          <p:nvPr/>
        </p:nvSpPr>
        <p:spPr>
          <a:xfrm>
            <a:off x="996696" y="4681728"/>
            <a:ext cx="770136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4712" y="4681728"/>
            <a:ext cx="7481913"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초기 2018~2023 · 구매 기준 = TB당 TCO(원가·랙 밀도)</a:t>
            </a:r>
          </a:p>
        </p:txBody>
      </p:sp>
      <p:sp>
        <p:nvSpPr>
          <p:cNvPr id="48" name="Rectangle 47"/>
          <p:cNvSpPr/>
          <p:nvPr/>
        </p:nvSpPr>
        <p:spPr>
          <a:xfrm>
            <a:off x="8818107" y="4681728"/>
            <a:ext cx="3790663"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46123" y="4681728"/>
            <a:ext cx="3571207"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현재 2024~2026 · TB당 TCO(전력 효율·공급 확보)</a:t>
            </a:r>
          </a:p>
        </p:txBody>
      </p:sp>
      <p:sp>
        <p:nvSpPr>
          <p:cNvPr id="50" name="Rectangle 49"/>
          <p:cNvSpPr/>
          <p:nvPr/>
        </p:nvSpPr>
        <p:spPr>
          <a:xfrm>
            <a:off x="12728813" y="4681728"/>
            <a:ext cx="4507626" cy="2377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728813" y="4681728"/>
            <a:ext cx="54864"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856829" y="4681728"/>
            <a:ext cx="428817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향후 2027~2030 · GPU당 컨텍스트 용량·토큰당 비용</a:t>
            </a:r>
          </a:p>
        </p:txBody>
      </p:sp>
      <p:sp>
        <p:nvSpPr>
          <p:cNvPr id="53" name="Rectangle 52"/>
          <p:cNvSpPr/>
          <p:nvPr/>
        </p:nvSpPr>
        <p:spPr>
          <a:xfrm>
            <a:off x="72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6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55" name="TextBox 54"/>
          <p:cNvSpPr txBox="1"/>
          <p:nvPr/>
        </p:nvSpPr>
        <p:spPr>
          <a:xfrm>
            <a:off x="1069848" y="5596128"/>
            <a:ext cx="4718304" cy="585216"/>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수요 신호는 발주보다 약 2년 선행해 고객 규격·코드에 나타난다</a:t>
            </a:r>
          </a:p>
        </p:txBody>
      </p:sp>
      <p:sp>
        <p:nvSpPr>
          <p:cNvPr id="56" name="TextBox 55"/>
          <p:cNvSpPr txBox="1"/>
          <p:nvPr/>
        </p:nvSpPr>
        <p:spPr>
          <a:xfrm>
            <a:off x="1069848" y="6483096"/>
            <a:ext cx="114300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고객 규격 · 코드</a:t>
            </a:r>
          </a:p>
        </p:txBody>
      </p:sp>
      <p:sp>
        <p:nvSpPr>
          <p:cNvPr id="57" name="TextBox 56"/>
          <p:cNvSpPr txBox="1"/>
          <p:nvPr/>
        </p:nvSpPr>
        <p:spPr>
          <a:xfrm>
            <a:off x="1069848" y="7159752"/>
            <a:ext cx="114300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발주 · 비트 출하</a:t>
            </a:r>
          </a:p>
        </p:txBody>
      </p:sp>
      <p:sp>
        <p:nvSpPr>
          <p:cNvPr id="58" name="Rectangle 57"/>
          <p:cNvSpPr/>
          <p:nvPr/>
        </p:nvSpPr>
        <p:spPr>
          <a:xfrm>
            <a:off x="2258568" y="6601968"/>
            <a:ext cx="3529584" cy="1371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258568" y="7278624"/>
            <a:ext cx="3529584" cy="1371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2923702" y="6601968"/>
            <a:ext cx="10972" cy="237743"/>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017873" y="7040880"/>
            <a:ext cx="10972" cy="237743"/>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ight Arrow 61"/>
          <p:cNvSpPr/>
          <p:nvPr/>
        </p:nvSpPr>
        <p:spPr>
          <a:xfrm>
            <a:off x="2929188" y="6839712"/>
            <a:ext cx="1094171"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929188" y="6839712"/>
            <a:ext cx="1002731" cy="201168"/>
          </a:xfrm>
          <a:prstGeom prst="rect">
            <a:avLst/>
          </a:prstGeom>
          <a:noFill/>
        </p:spPr>
        <p:txBody>
          <a:bodyPr wrap="square" anchor="ctr" lIns="0" rIns="0" tIns="0" bIns="0">
            <a:spAutoFit/>
          </a:bodyPr>
          <a:lstStyle/>
          <a:p>
            <a:pPr algn="ctr">
              <a:lnSpc>
                <a:spcPct val="112000"/>
              </a:lnSpc>
            </a:pPr>
            <a:r>
              <a:rPr sz="1050" b="1">
                <a:solidFill>
                  <a:srgbClr val="1A1A1A"/>
                </a:solidFill>
                <a:latin typeface="Arial"/>
                <a:ea typeface="Arial"/>
              </a:rPr>
              <a:t>≈ 2년 선행</a:t>
            </a:r>
          </a:p>
        </p:txBody>
      </p:sp>
      <p:sp>
        <p:nvSpPr>
          <p:cNvPr id="64" name="Oval 63"/>
          <p:cNvSpPr/>
          <p:nvPr/>
        </p:nvSpPr>
        <p:spPr>
          <a:xfrm>
            <a:off x="2846892" y="6519672"/>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654868" y="6236208"/>
            <a:ext cx="2194560" cy="237744"/>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2022-12 배치 표준 비준</a:t>
            </a:r>
          </a:p>
        </p:txBody>
      </p:sp>
      <p:sp>
        <p:nvSpPr>
          <p:cNvPr id="66" name="Oval 65"/>
          <p:cNvSpPr/>
          <p:nvPr/>
        </p:nvSpPr>
        <p:spPr>
          <a:xfrm>
            <a:off x="3941064" y="719632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749040" y="7370064"/>
            <a:ext cx="2011680" cy="237744"/>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2024 QLC eSSD 비트 출하 30EB</a:t>
            </a:r>
          </a:p>
        </p:txBody>
      </p:sp>
      <p:sp>
        <p:nvSpPr>
          <p:cNvPr id="68" name="Oval 67"/>
          <p:cNvSpPr/>
          <p:nvPr/>
        </p:nvSpPr>
        <p:spPr>
          <a:xfrm>
            <a:off x="5423489" y="6519672"/>
            <a:ext cx="164592" cy="16459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768425" y="6711696"/>
            <a:ext cx="1965960" cy="365760"/>
          </a:xfrm>
          <a:prstGeom prst="rect">
            <a:avLst/>
          </a:prstGeom>
          <a:noFill/>
        </p:spPr>
        <p:txBody>
          <a:bodyPr wrap="square" anchor="t" lIns="0" rIns="0" tIns="0" bIns="0">
            <a:spAutoFit/>
          </a:bodyPr>
          <a:lstStyle/>
          <a:p>
            <a:pPr algn="r">
              <a:lnSpc>
                <a:spcPct val="100000"/>
              </a:lnSpc>
            </a:pPr>
            <a:r>
              <a:rPr sz="1050" b="1">
                <a:solidFill>
                  <a:srgbClr val="1428A0"/>
                </a:solidFill>
                <a:latin typeface="Arial"/>
                <a:ea typeface="Arial"/>
              </a:rPr>
              <a:t>2026 캐시 관리자 코드</a:t>
            </a:r>
          </a:p>
          <a:p>
            <a:pPr algn="r">
              <a:lnSpc>
                <a:spcPct val="100000"/>
              </a:lnSpc>
            </a:pPr>
            <a:r>
              <a:rPr sz="1050" b="1">
                <a:solidFill>
                  <a:srgbClr val="1428A0"/>
                </a:solidFill>
                <a:latin typeface="Arial"/>
                <a:ea typeface="Arial"/>
              </a:rPr>
              <a:t>규격 미정의 = 선점 구간</a:t>
            </a:r>
          </a:p>
        </p:txBody>
      </p:sp>
      <p:sp>
        <p:nvSpPr>
          <p:cNvPr id="70" name="Rectangle 69"/>
          <p:cNvSpPr/>
          <p:nvPr/>
        </p:nvSpPr>
        <p:spPr>
          <a:xfrm>
            <a:off x="106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6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2장  고객의 QLC 채택 동인</a:t>
            </a:r>
          </a:p>
        </p:txBody>
      </p:sp>
      <p:sp>
        <p:nvSpPr>
          <p:cNvPr id="72" name="Rectangle 71"/>
          <p:cNvSpPr/>
          <p:nvPr/>
        </p:nvSpPr>
        <p:spPr>
          <a:xfrm>
            <a:off x="6437376" y="5102352"/>
            <a:ext cx="5413248" cy="307238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37376" y="5102352"/>
            <a:ext cx="73152" cy="3072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784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75" name="TextBox 74"/>
          <p:cNvSpPr txBox="1"/>
          <p:nvPr/>
        </p:nvSpPr>
        <p:spPr>
          <a:xfrm>
            <a:off x="6784848" y="5596128"/>
            <a:ext cx="4718304" cy="585216"/>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규격 정의에 참여한 공급자가 적중했다</a:t>
            </a:r>
          </a:p>
        </p:txBody>
      </p:sp>
      <p:sp>
        <p:nvSpPr>
          <p:cNvPr id="76" name="TextBox 75"/>
          <p:cNvSpPr txBox="1"/>
          <p:nvPr/>
        </p:nvSpPr>
        <p:spPr>
          <a:xfrm>
            <a:off x="6784848" y="6236208"/>
            <a:ext cx="4718304"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61TB QLC 출시 · OCP 2022-10 예고 기준</a:t>
            </a:r>
          </a:p>
        </p:txBody>
      </p:sp>
      <p:sp>
        <p:nvSpPr>
          <p:cNvPr id="77" name="TextBox 76"/>
          <p:cNvSpPr txBox="1"/>
          <p:nvPr/>
        </p:nvSpPr>
        <p:spPr>
          <a:xfrm>
            <a:off x="6784848" y="6455664"/>
            <a:ext cx="822959" cy="219456"/>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Solidigm</a:t>
            </a:r>
          </a:p>
        </p:txBody>
      </p:sp>
      <p:sp>
        <p:nvSpPr>
          <p:cNvPr id="78" name="Rectangle 77"/>
          <p:cNvSpPr/>
          <p:nvPr/>
        </p:nvSpPr>
        <p:spPr>
          <a:xfrm>
            <a:off x="7653528" y="6455664"/>
            <a:ext cx="1649838" cy="2194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376518" y="6455664"/>
            <a:ext cx="2126633" cy="219456"/>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2023-07 · 규격 정의 참여</a:t>
            </a:r>
          </a:p>
        </p:txBody>
      </p:sp>
      <p:sp>
        <p:nvSpPr>
          <p:cNvPr id="80" name="TextBox 79"/>
          <p:cNvSpPr txBox="1"/>
          <p:nvPr/>
        </p:nvSpPr>
        <p:spPr>
          <a:xfrm>
            <a:off x="6784848" y="6729984"/>
            <a:ext cx="822959" cy="219456"/>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삼성</a:t>
            </a:r>
          </a:p>
        </p:txBody>
      </p:sp>
      <p:sp>
        <p:nvSpPr>
          <p:cNvPr id="81" name="Rectangle 80"/>
          <p:cNvSpPr/>
          <p:nvPr/>
        </p:nvSpPr>
        <p:spPr>
          <a:xfrm>
            <a:off x="7653528" y="6729984"/>
            <a:ext cx="3849624" cy="219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726680" y="6729984"/>
            <a:ext cx="3703320" cy="219456"/>
          </a:xfrm>
          <a:prstGeom prst="rect">
            <a:avLst/>
          </a:prstGeom>
          <a:noFill/>
        </p:spPr>
        <p:txBody>
          <a:bodyPr wrap="square" anchor="ctr" lIns="0" rIns="0" tIns="0" bIns="0">
            <a:spAutoFit/>
          </a:bodyPr>
          <a:lstStyle/>
          <a:p>
            <a:pPr algn="r">
              <a:lnSpc>
                <a:spcPct val="112000"/>
              </a:lnSpc>
            </a:pPr>
            <a:r>
              <a:rPr sz="1050" b="1">
                <a:solidFill>
                  <a:srgbClr val="555555"/>
                </a:solidFill>
                <a:latin typeface="Arial"/>
                <a:ea typeface="Arial"/>
              </a:rPr>
              <a:t>2024-07 · 12개월 후발</a:t>
            </a:r>
          </a:p>
        </p:txBody>
      </p:sp>
      <p:sp>
        <p:nvSpPr>
          <p:cNvPr id="83" name="Rectangle 82"/>
          <p:cNvSpPr/>
          <p:nvPr/>
        </p:nvSpPr>
        <p:spPr>
          <a:xfrm>
            <a:off x="6784848" y="70225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784848" y="7077456"/>
            <a:ext cx="4718304" cy="182880"/>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HBM4 규격 정의</a:t>
            </a:r>
          </a:p>
        </p:txBody>
      </p:sp>
      <p:sp>
        <p:nvSpPr>
          <p:cNvPr id="85" name="Oval 84"/>
          <p:cNvSpPr/>
          <p:nvPr/>
        </p:nvSpPr>
        <p:spPr>
          <a:xfrm>
            <a:off x="7706197" y="7296912"/>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 Same Side Corner Rectangle 85"/>
          <p:cNvSpPr/>
          <p:nvPr/>
        </p:nvSpPr>
        <p:spPr>
          <a:xfrm>
            <a:off x="7653528" y="7441752"/>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920532" y="7443216"/>
            <a:ext cx="237744"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47522" y="7296912"/>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 Same Side Corner Rectangle 88"/>
          <p:cNvSpPr/>
          <p:nvPr/>
        </p:nvSpPr>
        <p:spPr>
          <a:xfrm>
            <a:off x="8194852" y="7441752"/>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16721" y="7278624"/>
            <a:ext cx="1828800" cy="365760"/>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SK hynix ↔ NVIDIA</a:t>
            </a:r>
          </a:p>
          <a:p>
            <a:pPr algn="l">
              <a:lnSpc>
                <a:spcPct val="100000"/>
              </a:lnSpc>
            </a:pPr>
            <a:r>
              <a:rPr sz="1050" b="0">
                <a:solidFill>
                  <a:srgbClr val="555555"/>
                </a:solidFill>
                <a:latin typeface="Arial"/>
                <a:ea typeface="Arial"/>
              </a:rPr>
              <a:t>공동 정의 → 주도권</a:t>
            </a:r>
          </a:p>
        </p:txBody>
      </p:sp>
      <p:sp>
        <p:nvSpPr>
          <p:cNvPr id="91" name="Oval 90"/>
          <p:cNvSpPr/>
          <p:nvPr/>
        </p:nvSpPr>
        <p:spPr>
          <a:xfrm>
            <a:off x="10453055" y="7296912"/>
            <a:ext cx="125089" cy="125089"/>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 Same Side Corner Rectangle 91"/>
          <p:cNvSpPr/>
          <p:nvPr/>
        </p:nvSpPr>
        <p:spPr>
          <a:xfrm>
            <a:off x="10400385" y="7441752"/>
            <a:ext cx="230428" cy="184343"/>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703966" y="7278624"/>
            <a:ext cx="780897" cy="365760"/>
          </a:xfrm>
          <a:prstGeom prst="rect">
            <a:avLst/>
          </a:prstGeom>
          <a:noFill/>
        </p:spPr>
        <p:txBody>
          <a:bodyPr wrap="square" anchor="ctr" lIns="0" rIns="0" tIns="0" bIns="0">
            <a:spAutoFit/>
          </a:bodyPr>
          <a:lstStyle/>
          <a:p>
            <a:pPr algn="l">
              <a:lnSpc>
                <a:spcPct val="100000"/>
              </a:lnSpc>
            </a:pPr>
            <a:r>
              <a:rPr sz="1050" b="1">
                <a:solidFill>
                  <a:srgbClr val="555555"/>
                </a:solidFill>
                <a:latin typeface="Arial"/>
                <a:ea typeface="Arial"/>
              </a:rPr>
              <a:t>삼성</a:t>
            </a:r>
          </a:p>
          <a:p>
            <a:pPr algn="l">
              <a:lnSpc>
                <a:spcPct val="100000"/>
              </a:lnSpc>
            </a:pPr>
            <a:r>
              <a:rPr sz="1050" b="0">
                <a:solidFill>
                  <a:srgbClr val="555555"/>
                </a:solidFill>
                <a:latin typeface="Arial"/>
                <a:ea typeface="Arial"/>
              </a:rPr>
              <a:t>후발</a:t>
            </a:r>
          </a:p>
        </p:txBody>
      </p:sp>
      <p:sp>
        <p:nvSpPr>
          <p:cNvPr id="94" name="Rectangle 93"/>
          <p:cNvSpPr/>
          <p:nvPr/>
        </p:nvSpPr>
        <p:spPr>
          <a:xfrm>
            <a:off x="6784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784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3장  디바이스에서 고객 시스템까지 3단계 역량</a:t>
            </a:r>
          </a:p>
        </p:txBody>
      </p:sp>
      <p:sp>
        <p:nvSpPr>
          <p:cNvPr id="96" name="Rectangle 95"/>
          <p:cNvSpPr/>
          <p:nvPr/>
        </p:nvSpPr>
        <p:spPr>
          <a:xfrm>
            <a:off x="1215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249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98" name="TextBox 97"/>
          <p:cNvSpPr txBox="1"/>
          <p:nvPr/>
        </p:nvSpPr>
        <p:spPr>
          <a:xfrm>
            <a:off x="12499848" y="5596128"/>
            <a:ext cx="4718304" cy="585216"/>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직전 다운턴의 결정이 다음 다운턴의 초기 조건이다</a:t>
            </a:r>
          </a:p>
        </p:txBody>
      </p:sp>
      <p:sp>
        <p:nvSpPr>
          <p:cNvPr id="99" name="TextBox 98"/>
          <p:cNvSpPr txBox="1"/>
          <p:nvPr/>
        </p:nvSpPr>
        <p:spPr>
          <a:xfrm>
            <a:off x="12499848" y="6236208"/>
            <a:ext cx="2176272" cy="201168"/>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직전 다운턴의 결정</a:t>
            </a:r>
          </a:p>
        </p:txBody>
      </p:sp>
      <p:sp>
        <p:nvSpPr>
          <p:cNvPr id="100" name="TextBox 99"/>
          <p:cNvSpPr txBox="1"/>
          <p:nvPr/>
        </p:nvSpPr>
        <p:spPr>
          <a:xfrm>
            <a:off x="15041880" y="6236208"/>
            <a:ext cx="2176272" cy="201168"/>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다음 다운턴의 초기 조건</a:t>
            </a:r>
          </a:p>
        </p:txBody>
      </p:sp>
      <p:sp>
        <p:nvSpPr>
          <p:cNvPr id="101" name="Rectangle 100"/>
          <p:cNvSpPr/>
          <p:nvPr/>
        </p:nvSpPr>
        <p:spPr>
          <a:xfrm>
            <a:off x="12499848" y="6510528"/>
            <a:ext cx="2176272" cy="3108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554712" y="6510528"/>
            <a:ext cx="2066544" cy="310896"/>
          </a:xfrm>
          <a:prstGeom prst="rect">
            <a:avLst/>
          </a:prstGeom>
          <a:noFill/>
        </p:spPr>
        <p:txBody>
          <a:bodyPr wrap="square" anchor="ctr" lIns="0" rIns="0" tIns="0" bIns="0">
            <a:spAutoFit/>
          </a:bodyPr>
          <a:lstStyle/>
          <a:p>
            <a:pPr algn="ctr">
              <a:lnSpc>
                <a:spcPct val="112000"/>
              </a:lnSpc>
            </a:pPr>
            <a:r>
              <a:rPr sz="1125" b="0">
                <a:solidFill>
                  <a:srgbClr val="1A1A1A"/>
                </a:solidFill>
                <a:latin typeface="Arial"/>
                <a:ea typeface="Arial"/>
              </a:rPr>
              <a:t>DT19 · 무감산 성공 경험</a:t>
            </a:r>
          </a:p>
        </p:txBody>
      </p:sp>
      <p:sp>
        <p:nvSpPr>
          <p:cNvPr id="103" name="Right Arrow 102"/>
          <p:cNvSpPr/>
          <p:nvPr/>
        </p:nvSpPr>
        <p:spPr>
          <a:xfrm>
            <a:off x="14749272" y="6583680"/>
            <a:ext cx="219456"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041880" y="6510528"/>
            <a:ext cx="2176272"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5096744" y="6510528"/>
            <a:ext cx="2066544" cy="310896"/>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DT23 · 국면 오판</a:t>
            </a:r>
          </a:p>
        </p:txBody>
      </p:sp>
      <p:sp>
        <p:nvSpPr>
          <p:cNvPr id="106" name="Rectangle 105"/>
          <p:cNvSpPr/>
          <p:nvPr/>
        </p:nvSpPr>
        <p:spPr>
          <a:xfrm>
            <a:off x="12499848" y="6894576"/>
            <a:ext cx="2176272" cy="3108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2554712" y="6894576"/>
            <a:ext cx="2066544" cy="310896"/>
          </a:xfrm>
          <a:prstGeom prst="rect">
            <a:avLst/>
          </a:prstGeom>
          <a:noFill/>
        </p:spPr>
        <p:txBody>
          <a:bodyPr wrap="square" anchor="ctr" lIns="0" rIns="0" tIns="0" bIns="0">
            <a:spAutoFit/>
          </a:bodyPr>
          <a:lstStyle/>
          <a:p>
            <a:pPr algn="ctr">
              <a:lnSpc>
                <a:spcPct val="112000"/>
              </a:lnSpc>
            </a:pPr>
            <a:r>
              <a:rPr sz="1125" b="0">
                <a:solidFill>
                  <a:srgbClr val="1A1A1A"/>
                </a:solidFill>
                <a:latin typeface="Arial"/>
                <a:ea typeface="Arial"/>
              </a:rPr>
              <a:t>DT19 · HBM 조직 축소</a:t>
            </a:r>
          </a:p>
        </p:txBody>
      </p:sp>
      <p:sp>
        <p:nvSpPr>
          <p:cNvPr id="108" name="Right Arrow 107"/>
          <p:cNvSpPr/>
          <p:nvPr/>
        </p:nvSpPr>
        <p:spPr>
          <a:xfrm>
            <a:off x="14749272" y="6967728"/>
            <a:ext cx="219456"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041880" y="6894576"/>
            <a:ext cx="2176272"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5096744" y="6894576"/>
            <a:ext cx="2066544" cy="310896"/>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DT23 · 회복기 주도권 상실</a:t>
            </a:r>
          </a:p>
        </p:txBody>
      </p:sp>
      <p:sp>
        <p:nvSpPr>
          <p:cNvPr id="111" name="Rectangle 110"/>
          <p:cNvSpPr/>
          <p:nvPr/>
        </p:nvSpPr>
        <p:spPr>
          <a:xfrm>
            <a:off x="12499848" y="7278624"/>
            <a:ext cx="2176272" cy="3108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554712" y="7278624"/>
            <a:ext cx="2066544" cy="310896"/>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2026 · 고객 시스템 진입</a:t>
            </a:r>
          </a:p>
        </p:txBody>
      </p:sp>
      <p:sp>
        <p:nvSpPr>
          <p:cNvPr id="113" name="Right Arrow 112"/>
          <p:cNvSpPr/>
          <p:nvPr/>
        </p:nvSpPr>
        <p:spPr>
          <a:xfrm>
            <a:off x="14749272" y="7351775"/>
            <a:ext cx="219456"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041880" y="7278624"/>
            <a:ext cx="2176272" cy="3108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5096744" y="7278624"/>
            <a:ext cx="2066544" cy="310896"/>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2027H2 · TCO 보증 수익원</a:t>
            </a:r>
          </a:p>
        </p:txBody>
      </p:sp>
      <p:sp>
        <p:nvSpPr>
          <p:cNvPr id="116" name="Rectangle 115"/>
          <p:cNvSpPr/>
          <p:nvPr/>
        </p:nvSpPr>
        <p:spPr>
          <a:xfrm>
            <a:off x="1249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249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4장  FDE·전략적 협약과 조직·인사·문화</a:t>
            </a:r>
          </a:p>
        </p:txBody>
      </p:sp>
      <p:sp>
        <p:nvSpPr>
          <p:cNvPr id="118" name="Rectangle 11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0" name="TextBox 119"/>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요구사항은 다운턴 국면에서 정의되었고, 정의에 참여한 공급자가 선점했습니다. 차기 요구사항은 지금 고객 코드에서 정의되고 있습니다</a:t>
            </a:r>
          </a:p>
        </p:txBody>
      </p:sp>
      <p:sp>
        <p:nvSpPr>
          <p:cNvPr id="121" name="TextBox 12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22" name="TextBox 12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고객의 QLC 채택 동인</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기준은 일관되게 TB당 TCO(원가·전력·밀도)였고, 차기 KV 캐시 계층은 쓰기 집약적이라 내구성이 제약 조건입니다.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32" name="Picture 3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33" name="Rectangle 3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모델의 핵심 수치</a:t>
            </a:r>
          </a:p>
        </p:txBody>
      </p:sp>
      <p:sp>
        <p:nvSpPr>
          <p:cNvPr id="35" name="TextBox 3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36" name="TextBox 3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37" name="TextBox 3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38" name="TextBox 3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39" name="TextBox 3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40" name="TextBox 3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41" name="Rectangle 4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44" name="Rectangle 4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6" name="TextBox 45"/>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추론 캐시 계층에서도 QLC의 TB당 TCO를 요구합니다. 제약 조건은 내구성이며, 디바이스 단독으로는 해소되지 않습니다</a:t>
            </a:r>
          </a:p>
        </p:txBody>
      </p:sp>
      <p:sp>
        <p:nvSpPr>
          <p:cNvPr id="47" name="TextBox 4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48" name="TextBox 4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관계가 곧 워크로드 접근권</a:t>
            </a:r>
          </a:p>
        </p:txBody>
      </p:sp>
      <p:sp>
        <p:nvSpPr>
          <p:cNvPr id="22" name="Rectangle 2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4" name="TextBox 2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5" name="Rectangle 2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7" name="Rectangle 2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9" name="Rectangle 2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1" name="Rectangle 3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3" name="Oval 3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6" name="TextBox 3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7" name="Picture 3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8" name="Picture 37" descr="openai.png"/>
          <p:cNvPicPr>
            <a:picLocks noChangeAspect="1"/>
          </p:cNvPicPr>
          <p:nvPr/>
        </p:nvPicPr>
        <p:blipFill>
          <a:blip r:embed="rId3"/>
          <a:stretch>
            <a:fillRect/>
          </a:stretch>
        </p:blipFill>
        <p:spPr>
          <a:xfrm>
            <a:off x="15197326" y="6170781"/>
            <a:ext cx="532886" cy="130853"/>
          </a:xfrm>
          <a:prstGeom prst="rect">
            <a:avLst/>
          </a:prstGeom>
        </p:spPr>
      </p:pic>
      <p:pic>
        <p:nvPicPr>
          <p:cNvPr id="39" name="Picture 38" descr="nvidia.png"/>
          <p:cNvPicPr>
            <a:picLocks noChangeAspect="1"/>
          </p:cNvPicPr>
          <p:nvPr/>
        </p:nvPicPr>
        <p:blipFill>
          <a:blip r:embed="rId4"/>
          <a:stretch>
            <a:fillRect/>
          </a:stretch>
        </p:blipFill>
        <p:spPr>
          <a:xfrm>
            <a:off x="15828351" y="6170781"/>
            <a:ext cx="684696" cy="130853"/>
          </a:xfrm>
          <a:prstGeom prst="rect">
            <a:avLst/>
          </a:prstGeom>
        </p:spPr>
      </p:pic>
      <p:pic>
        <p:nvPicPr>
          <p:cNvPr id="40" name="Picture 39" descr="meta.png"/>
          <p:cNvPicPr>
            <a:picLocks noChangeAspect="1"/>
          </p:cNvPicPr>
          <p:nvPr/>
        </p:nvPicPr>
        <p:blipFill>
          <a:blip r:embed="rId5"/>
          <a:stretch>
            <a:fillRect/>
          </a:stretch>
        </p:blipFill>
        <p:spPr>
          <a:xfrm>
            <a:off x="16611188" y="6170781"/>
            <a:ext cx="643539" cy="130853"/>
          </a:xfrm>
          <a:prstGeom prst="rect">
            <a:avLst/>
          </a:prstGeom>
        </p:spPr>
      </p:pic>
      <p:sp>
        <p:nvSpPr>
          <p:cNvPr id="41" name="Right Arrow 4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3" name="Rectangle 4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5" name="Oval 4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 Same Side Corner Rectangle 4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4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4" name="TextBox 5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5" name="Rectangle 5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7" name="Rectangle 5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9" name="Rectangle 5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1" name="Rectangle 6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3" name="Rectangle 6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5" name="TextBox 6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6" name="Left Arrow 6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8" name="Rectangle 6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1" name="TextBox 7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2" name="Rectangle 7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5" name="TextBox 7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6" name="Rectangle 7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9" name="TextBox 7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80" name="Rectangle 79"/>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TB당 TCO가 가장 낮은 용량 계층을 QLC로 채웠고, 그 계층이 쓰기 많은 추론 캐시로 옮겨가</a:t>
            </a:r>
          </a:p>
          <a:p>
            <a:pPr algn="l">
              <a:lnSpc>
                <a:spcPct val="108000"/>
              </a:lnSpc>
            </a:pPr>
            <a:r>
              <a:rPr sz="1900" b="1">
                <a:solidFill>
                  <a:srgbClr val="FFFFFF"/>
                </a:solidFill>
                <a:latin typeface="Arial"/>
                <a:ea typeface="Arial"/>
              </a:rPr>
              <a:t>내구성을 고객 시스템 안에서 풀어야 하며, 그 길은 FDE와 전략적 협약, 그리고 이를 해낼 사람과 문화가 엽니다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