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내구성을 확보할 수 있는가라는 질문까지만 세웁니다. 왼쪽이 교훈, 가운데가 지금 일어나는 전환, 오른쪽이 문제입니다. 왼쪽 교훈입니다. 이 장의 요지는 삼성의 과거 의사결정을 평가하는 것이 아니라, design-in이 무엇으로 결정됐는가를 보는 것입니다. HBM4 세대에서 선이 두 개 있었습니다. 하나는 JEDEC 표준선으로 최대 8Gbps입니다. 다른 하나는 고객이 요구한 사양으로 NVIDIA가 10에서 13Gbps를 요구했습니다. 표준을 완전히 만족해도 고객 요구선에는 닿지 않는 구간이 남습니다. design-in은 바로 이 구간에서 갈렸습니다. 공개 기록 세 가지를 보시면 됩니다. 2019년 3월 삼성이 업계 최초로 HBM2E를 발표했습니다. 기술은 확보돼 있었다는 뜻입니다. 2021년 10월 SK하이닉스가 JEDEC 표준 제정 전에 HBM3 개발을 마쳤고 2022년 6월 NVIDIA에 최초 공급했습니다. 그리고 2026년 2월 삼성이 업계 최초로 상용 HBM4를 출하했습니다. 제품 개발은 계속 이어졌습니다. 그래서 교훈은 이렇습니다. 표준을 만족하는 기술을 가진 것만으로는 부족했습니다. 시장 전환 시점에 고객이 요구하는 사양을 먼저 맞춘 쪽이 design-in을 가져갔습니다. 전략적 우선순위가 약화된 구간에서 격차가 생겼다는 것이지, 기술 보유 여부의 문제가 아니었습니다. 이 점은 질문이 나와도 같은 선에서 답하시면 됩니다. 조직이나 개별 의사결정을 평가하는 자리가 아닙니다. 가운데가 지금 일어나는 전환입니다. 같은 구조가 SSD에서 반복되고 있습니다. 먼저 짚을 것은 구매 기준이 세대별로 교체되는 것이 아니라는 점입니다. 용량당 비용과 밀도, 전력은 그대로 요구로 남아 있고, 그 위에 내구성이 더해지고 있습니다. 시대 구분이 아니라 요구사항이 추가되는 구조로 보시면 됩니다. 무엇이 그 요구를 만들었는가. KV 캐시가 SSD를 추론 메모리 계층으로 옮기고 있습니다. 추론에서 컨텍스트가 길어지면 KV 캐시가 GPU의 HBM을 먼저 채웁니다. NVIDIA 개발자 블로그 기준으로 Llama 3 70B에서 단일 사용자의 128K 컨텍스트가 약 40기가바이트이고 사용자 수에 선형으로 비례합니다. HBM 용량도 80에서 288기가바이트로 커졌지만 이 증가 속도를 따라가지 못합니다. 넘친 것은 CPU DRAM으로 내려오는데 Kioxia는 DRAM만으로는 더 못 따라간다고 밝혔습니다. 다시 넘친 것을 NVMe SSD가 받습니다. 이 계층은 쓰기가 몰리는 첫 대용량 계층이고, 그래서 내구성이 요구로 올라옵니다. 한 가지는 분명히 하겠습니다. 대체가 아니라 증설입니다. 같은 기간 GPU당 HBM 용량은 192에서 288기가바이트, 2027년에는 384기가바이트로 커집니다. HBM 수요가 줄어 스토리지로 옮겨 간 것이 아니라, HBM으로 감당되지 않는 몫이 새 계층을 연 것입니다. 근거는 세 갈래입니다. 첫째, 진단의 주체가 우리가 아닙니다. HBM 1위 업체인 SK하이닉스가 2026년 7월 29일 실적 발표에서 KV 캐시를 담을 HBM 용량이 한계에 도달했다고 밝히고 같은 자리에서 GPU 인근 NAND 개발을 공표했습니다. 둘째, 오프로드는 개념이 아니라 메인라인 코드입니다. LMCache 디스크 캐시가 2024년 8월, vLLM 다계층 오프로딩이 2026년 5월에 머지됐고 전부 PR로 확인됩니다. 셋째, 비트의 무게중심이 움직였습니다. 전 세계 NAND 비트 출하에서 엔터프라이즈 SSD 비중이 1년 만에 26%에서 48%로 올라갔습니다. AI 수요의 중심이 추론으로 빠르게 확대되고 있고, Kioxia는 데이터센터 NAND 수요를 2025년 295엑사바이트에서 2028년 1,807엑사바이트로 전망합니다. 오른쪽이 문제입니다. 오늘 선택지는 둘 다를 주지 않습니다. TLC 3 DWPD 급은 내구성 요구를 충족하지만 용량이 61테라바이트 급이고 비용이 높습니다. 고용량 QLC는 245테라바이트 급 용량과 낮은 비용을 주지만 정격 내구성이 0.3에서 1.0 수준입니다. 이 값은 제품과 기준 블록 크기에 따라 달라지므로 단일 숫자로 말하지 않습니다. 특히 245테라바이트 급은 0.3 수준입니다. 그래서 질문은 하나로 모입니다. 고용량 QLC의 밀도와 비용 이점을 유지하면서 AI 추론이 요구하는 내구성을 확보할 수 있는가. 1장은 여기서 멈춥니다. 고용량화는 두 축의 문제를 낳습니다. 다이 수가 만드는 신뢰성 축이 2장,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표준 충족이 아니라 고객 사양이 design-in을 갈랐고, 그 사양에 지금 내구성이 더해지고 있습니다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표준을 만족하는 기술 보유만으로는 design-in이 결정되지 않았습니다. 같은 전환이 지금 SSD에서 일어나 고객 요구에 내구성이 더해지고 있습니다.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HBM이 남긴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표준 충족과 design-in은 다른 선이었다</a:t>
            </a:r>
          </a:p>
        </p:txBody>
      </p:sp>
      <p:sp>
        <p:nvSpPr>
          <p:cNvPr id="40" name="TextBox 39"/>
          <p:cNvSpPr txBox="1"/>
          <p:nvPr/>
        </p:nvSpPr>
        <p:spPr>
          <a:xfrm>
            <a:off x="996696" y="3310127"/>
            <a:ext cx="54864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같은 세대에서 두 개의 선이 있었습니다</a:t>
            </a:r>
          </a:p>
        </p:txBody>
      </p:sp>
      <p:sp>
        <p:nvSpPr>
          <p:cNvPr id="41" name="Rectangle 40"/>
          <p:cNvSpPr/>
          <p:nvPr/>
        </p:nvSpPr>
        <p:spPr>
          <a:xfrm>
            <a:off x="996696" y="3584448"/>
            <a:ext cx="1792224"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6696" y="3584448"/>
            <a:ext cx="1792224" cy="420624"/>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고객이 요구한 사양</a:t>
            </a:r>
          </a:p>
        </p:txBody>
      </p:sp>
      <p:sp>
        <p:nvSpPr>
          <p:cNvPr id="43" name="Rectangle 42"/>
          <p:cNvSpPr/>
          <p:nvPr/>
        </p:nvSpPr>
        <p:spPr>
          <a:xfrm>
            <a:off x="2880360" y="3675887"/>
            <a:ext cx="2349304"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229664" y="3584448"/>
            <a:ext cx="704791"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29664" y="3584448"/>
            <a:ext cx="704791" cy="42062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10 ~ 13</a:t>
            </a:r>
          </a:p>
        </p:txBody>
      </p:sp>
      <p:sp>
        <p:nvSpPr>
          <p:cNvPr id="46" name="TextBox 45"/>
          <p:cNvSpPr txBox="1"/>
          <p:nvPr/>
        </p:nvSpPr>
        <p:spPr>
          <a:xfrm>
            <a:off x="5989320" y="3584448"/>
            <a:ext cx="548640" cy="420624"/>
          </a:xfrm>
          <a:prstGeom prst="rect">
            <a:avLst/>
          </a:prstGeom>
          <a:noFill/>
        </p:spPr>
        <p:txBody>
          <a:bodyPr wrap="square" anchor="ctr" lIns="0" rIns="0" tIns="0" bIns="0">
            <a:spAutoFit/>
          </a:bodyPr>
          <a:lstStyle/>
          <a:p>
            <a:pPr algn="l">
              <a:lnSpc>
                <a:spcPct val="112000"/>
              </a:lnSpc>
            </a:pPr>
            <a:r>
              <a:rPr sz="900" b="0">
                <a:solidFill>
                  <a:srgbClr val="8A8A8A"/>
                </a:solidFill>
                <a:latin typeface="Arial"/>
                <a:ea typeface="Arial"/>
              </a:rPr>
              <a:t>Gbps</a:t>
            </a:r>
          </a:p>
        </p:txBody>
      </p:sp>
      <p:sp>
        <p:nvSpPr>
          <p:cNvPr id="47" name="Rectangle 46"/>
          <p:cNvSpPr/>
          <p:nvPr/>
        </p:nvSpPr>
        <p:spPr>
          <a:xfrm>
            <a:off x="996696" y="4315968"/>
            <a:ext cx="1792224"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6696" y="4315968"/>
            <a:ext cx="1792224" cy="420624"/>
          </a:xfrm>
          <a:prstGeom prst="rect">
            <a:avLst/>
          </a:prstGeom>
          <a:noFill/>
        </p:spPr>
        <p:txBody>
          <a:bodyPr wrap="square" anchor="ctr" lIns="0" rIns="0" tIns="0" bIns="0">
            <a:spAutoFit/>
          </a:bodyPr>
          <a:lstStyle/>
          <a:p>
            <a:pPr algn="l">
              <a:lnSpc>
                <a:spcPct val="112000"/>
              </a:lnSpc>
            </a:pPr>
            <a:r>
              <a:rPr sz="1050" b="1">
                <a:solidFill>
                  <a:srgbClr val="555555"/>
                </a:solidFill>
                <a:latin typeface="Arial"/>
                <a:ea typeface="Arial"/>
              </a:rPr>
              <a:t>JEDEC HBM4 표준</a:t>
            </a:r>
          </a:p>
        </p:txBody>
      </p:sp>
      <p:sp>
        <p:nvSpPr>
          <p:cNvPr id="49" name="Rectangle 48"/>
          <p:cNvSpPr/>
          <p:nvPr/>
        </p:nvSpPr>
        <p:spPr>
          <a:xfrm>
            <a:off x="2880360" y="4315968"/>
            <a:ext cx="1879443" cy="4206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80360" y="4315968"/>
            <a:ext cx="1879443" cy="42062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최대 8</a:t>
            </a:r>
          </a:p>
        </p:txBody>
      </p:sp>
      <p:sp>
        <p:nvSpPr>
          <p:cNvPr id="51" name="TextBox 50"/>
          <p:cNvSpPr txBox="1"/>
          <p:nvPr/>
        </p:nvSpPr>
        <p:spPr>
          <a:xfrm>
            <a:off x="4814667" y="4315968"/>
            <a:ext cx="548640" cy="420624"/>
          </a:xfrm>
          <a:prstGeom prst="rect">
            <a:avLst/>
          </a:prstGeom>
          <a:noFill/>
        </p:spPr>
        <p:txBody>
          <a:bodyPr wrap="square" anchor="ctr" lIns="0" rIns="0" tIns="0" bIns="0">
            <a:spAutoFit/>
          </a:bodyPr>
          <a:lstStyle/>
          <a:p>
            <a:pPr algn="l">
              <a:lnSpc>
                <a:spcPct val="112000"/>
              </a:lnSpc>
            </a:pPr>
            <a:r>
              <a:rPr sz="900" b="0">
                <a:solidFill>
                  <a:srgbClr val="8A8A8A"/>
                </a:solidFill>
                <a:latin typeface="Arial"/>
                <a:ea typeface="Arial"/>
              </a:rPr>
              <a:t>Gbps</a:t>
            </a:r>
          </a:p>
        </p:txBody>
      </p:sp>
      <p:sp>
        <p:nvSpPr>
          <p:cNvPr id="52" name="Rectangle 51"/>
          <p:cNvSpPr/>
          <p:nvPr/>
        </p:nvSpPr>
        <p:spPr>
          <a:xfrm>
            <a:off x="4753402" y="3584448"/>
            <a:ext cx="12801" cy="115214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223263" y="3584448"/>
            <a:ext cx="12801" cy="115214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759803" y="4809744"/>
            <a:ext cx="469860" cy="4572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6696" y="4901183"/>
            <a:ext cx="5486400" cy="219456"/>
          </a:xfrm>
          <a:prstGeom prst="rect">
            <a:avLst/>
          </a:prstGeom>
          <a:noFill/>
        </p:spPr>
        <p:txBody>
          <a:bodyPr wrap="square" anchor="t" lIns="0" rIns="0" tIns="0" bIns="0">
            <a:spAutoFit/>
          </a:bodyPr>
          <a:lstStyle/>
          <a:p>
            <a:pPr algn="l">
              <a:lnSpc>
                <a:spcPct val="112000"/>
              </a:lnSpc>
            </a:pPr>
            <a:r>
              <a:rPr sz="1000" b="1">
                <a:solidFill>
                  <a:srgbClr val="3C5AC8"/>
                </a:solidFill>
                <a:latin typeface="Arial"/>
                <a:ea typeface="Arial"/>
              </a:rPr>
              <a:t>표준을 만족해도 닿지 않는 구간</a:t>
            </a:r>
            <a:r>
              <a:rPr sz="1000" b="0">
                <a:solidFill>
                  <a:srgbClr val="555555"/>
                </a:solidFill>
                <a:latin typeface="Arial"/>
                <a:ea typeface="Arial"/>
              </a:rPr>
              <a:t>   design-in은 표준선이 아니라 고객 요구선에서 갈렸습니다</a:t>
            </a:r>
          </a:p>
        </p:txBody>
      </p:sp>
      <p:sp>
        <p:nvSpPr>
          <p:cNvPr id="56" name="TextBox 55"/>
          <p:cNvSpPr txBox="1"/>
          <p:nvPr/>
        </p:nvSpPr>
        <p:spPr>
          <a:xfrm>
            <a:off x="996696" y="5285231"/>
            <a:ext cx="5486400"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공개 기록</a:t>
            </a:r>
          </a:p>
        </p:txBody>
      </p:sp>
      <p:sp>
        <p:nvSpPr>
          <p:cNvPr id="57" name="Rectangle 56"/>
          <p:cNvSpPr/>
          <p:nvPr/>
        </p:nvSpPr>
        <p:spPr>
          <a:xfrm>
            <a:off x="996696" y="5522975"/>
            <a:ext cx="1743455" cy="12801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6696" y="5522975"/>
            <a:ext cx="1743455" cy="365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06424" y="5596127"/>
            <a:ext cx="1523999"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2019-03  </a:t>
            </a:r>
            <a:r>
              <a:rPr sz="950" b="0">
                <a:solidFill>
                  <a:srgbClr val="8A8A8A"/>
                </a:solidFill>
                <a:latin typeface="Arial"/>
                <a:ea typeface="Arial"/>
              </a:rPr>
              <a:t>삼성</a:t>
            </a:r>
          </a:p>
        </p:txBody>
      </p:sp>
      <p:sp>
        <p:nvSpPr>
          <p:cNvPr id="60" name="TextBox 59"/>
          <p:cNvSpPr txBox="1"/>
          <p:nvPr/>
        </p:nvSpPr>
        <p:spPr>
          <a:xfrm>
            <a:off x="1106424" y="5797296"/>
            <a:ext cx="1523999" cy="438912"/>
          </a:xfrm>
          <a:prstGeom prst="rect">
            <a:avLst/>
          </a:prstGeom>
          <a:noFill/>
        </p:spPr>
        <p:txBody>
          <a:bodyPr wrap="square" anchor="t" lIns="0" rIns="0" tIns="0" bIns="0">
            <a:spAutoFit/>
          </a:bodyPr>
          <a:lstStyle/>
          <a:p>
            <a:pPr algn="l">
              <a:lnSpc>
                <a:spcPct val="104000"/>
              </a:lnSpc>
            </a:pPr>
            <a:r>
              <a:rPr sz="1050" b="1">
                <a:solidFill>
                  <a:srgbClr val="1A1A1A"/>
                </a:solidFill>
                <a:latin typeface="Arial"/>
                <a:ea typeface="Arial"/>
              </a:rPr>
              <a:t>업계 최초 HBM2E 발표</a:t>
            </a:r>
          </a:p>
        </p:txBody>
      </p:sp>
      <p:sp>
        <p:nvSpPr>
          <p:cNvPr id="61" name="TextBox 60"/>
          <p:cNvSpPr txBox="1"/>
          <p:nvPr/>
        </p:nvSpPr>
        <p:spPr>
          <a:xfrm>
            <a:off x="1106424" y="6254496"/>
            <a:ext cx="1523999"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기술은 확보돼 있었습니다</a:t>
            </a:r>
          </a:p>
        </p:txBody>
      </p:sp>
      <p:sp>
        <p:nvSpPr>
          <p:cNvPr id="62" name="Rectangle 61"/>
          <p:cNvSpPr/>
          <p:nvPr/>
        </p:nvSpPr>
        <p:spPr>
          <a:xfrm>
            <a:off x="2868168" y="5522975"/>
            <a:ext cx="1743455" cy="12801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868168" y="5522975"/>
            <a:ext cx="1743455" cy="365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977896" y="5596127"/>
            <a:ext cx="1523999"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2021-10  </a:t>
            </a:r>
            <a:r>
              <a:rPr sz="950" b="0">
                <a:solidFill>
                  <a:srgbClr val="8A8A8A"/>
                </a:solidFill>
                <a:latin typeface="Arial"/>
                <a:ea typeface="Arial"/>
              </a:rPr>
              <a:t>SK하이닉스</a:t>
            </a:r>
          </a:p>
        </p:txBody>
      </p:sp>
      <p:sp>
        <p:nvSpPr>
          <p:cNvPr id="65" name="TextBox 64"/>
          <p:cNvSpPr txBox="1"/>
          <p:nvPr/>
        </p:nvSpPr>
        <p:spPr>
          <a:xfrm>
            <a:off x="2977896" y="5797296"/>
            <a:ext cx="1523999" cy="438912"/>
          </a:xfrm>
          <a:prstGeom prst="rect">
            <a:avLst/>
          </a:prstGeom>
          <a:noFill/>
        </p:spPr>
        <p:txBody>
          <a:bodyPr wrap="square" anchor="t" lIns="0" rIns="0" tIns="0" bIns="0">
            <a:spAutoFit/>
          </a:bodyPr>
          <a:lstStyle/>
          <a:p>
            <a:pPr algn="l">
              <a:lnSpc>
                <a:spcPct val="104000"/>
              </a:lnSpc>
            </a:pPr>
            <a:r>
              <a:rPr sz="1050" b="1">
                <a:solidFill>
                  <a:srgbClr val="1A1A1A"/>
                </a:solidFill>
                <a:latin typeface="Arial"/>
                <a:ea typeface="Arial"/>
              </a:rPr>
              <a:t>표준 제정 전 HBM3 완료</a:t>
            </a:r>
          </a:p>
        </p:txBody>
      </p:sp>
      <p:sp>
        <p:nvSpPr>
          <p:cNvPr id="66" name="TextBox 65"/>
          <p:cNvSpPr txBox="1"/>
          <p:nvPr/>
        </p:nvSpPr>
        <p:spPr>
          <a:xfrm>
            <a:off x="2977896" y="6254496"/>
            <a:ext cx="1523999"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2022-06 NVIDIA 최초 공급</a:t>
            </a:r>
          </a:p>
        </p:txBody>
      </p:sp>
      <p:sp>
        <p:nvSpPr>
          <p:cNvPr id="67" name="Rectangle 66"/>
          <p:cNvSpPr/>
          <p:nvPr/>
        </p:nvSpPr>
        <p:spPr>
          <a:xfrm>
            <a:off x="4739639" y="5522975"/>
            <a:ext cx="1743455" cy="12801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739639" y="5522975"/>
            <a:ext cx="1743455" cy="365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9367" y="5596127"/>
            <a:ext cx="1523999"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2026-02  </a:t>
            </a:r>
            <a:r>
              <a:rPr sz="950" b="0">
                <a:solidFill>
                  <a:srgbClr val="8A8A8A"/>
                </a:solidFill>
                <a:latin typeface="Arial"/>
                <a:ea typeface="Arial"/>
              </a:rPr>
              <a:t>삼성</a:t>
            </a:r>
          </a:p>
        </p:txBody>
      </p:sp>
      <p:sp>
        <p:nvSpPr>
          <p:cNvPr id="70" name="TextBox 69"/>
          <p:cNvSpPr txBox="1"/>
          <p:nvPr/>
        </p:nvSpPr>
        <p:spPr>
          <a:xfrm>
            <a:off x="4849367" y="5797296"/>
            <a:ext cx="1523999" cy="438912"/>
          </a:xfrm>
          <a:prstGeom prst="rect">
            <a:avLst/>
          </a:prstGeom>
          <a:noFill/>
        </p:spPr>
        <p:txBody>
          <a:bodyPr wrap="square" anchor="t" lIns="0" rIns="0" tIns="0" bIns="0">
            <a:spAutoFit/>
          </a:bodyPr>
          <a:lstStyle/>
          <a:p>
            <a:pPr algn="l">
              <a:lnSpc>
                <a:spcPct val="104000"/>
              </a:lnSpc>
            </a:pPr>
            <a:r>
              <a:rPr sz="1050" b="1">
                <a:solidFill>
                  <a:srgbClr val="1A1A1A"/>
                </a:solidFill>
                <a:latin typeface="Arial"/>
                <a:ea typeface="Arial"/>
              </a:rPr>
              <a:t>업계 최초 상용 HBM4 출하</a:t>
            </a:r>
          </a:p>
        </p:txBody>
      </p:sp>
      <p:sp>
        <p:nvSpPr>
          <p:cNvPr id="71" name="TextBox 70"/>
          <p:cNvSpPr txBox="1"/>
          <p:nvPr/>
        </p:nvSpPr>
        <p:spPr>
          <a:xfrm>
            <a:off x="4849367" y="6254496"/>
            <a:ext cx="1523999"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제품 개발은 이어졌습니다</a:t>
            </a:r>
          </a:p>
        </p:txBody>
      </p:sp>
      <p:sp>
        <p:nvSpPr>
          <p:cNvPr id="72" name="Rectangle 71"/>
          <p:cNvSpPr/>
          <p:nvPr/>
        </p:nvSpPr>
        <p:spPr>
          <a:xfrm>
            <a:off x="996696" y="6931151"/>
            <a:ext cx="5486400" cy="9326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16152" y="7022591"/>
            <a:ext cx="5047488" cy="475488"/>
          </a:xfrm>
          <a:prstGeom prst="rect">
            <a:avLst/>
          </a:prstGeom>
          <a:noFill/>
        </p:spPr>
        <p:txBody>
          <a:bodyPr wrap="square" anchor="t" lIns="0" rIns="0" tIns="0" bIns="0">
            <a:spAutoFit/>
          </a:bodyPr>
          <a:lstStyle/>
          <a:p>
            <a:pPr algn="l">
              <a:lnSpc>
                <a:spcPct val="104000"/>
              </a:lnSpc>
            </a:pPr>
            <a:r>
              <a:rPr sz="1425" b="1">
                <a:solidFill>
                  <a:srgbClr val="FFFFFF"/>
                </a:solidFill>
                <a:latin typeface="Arial"/>
                <a:ea typeface="Arial"/>
              </a:rPr>
              <a:t>표준을 만족하는 기술을 가진 것만으로는 부족했습니다</a:t>
            </a:r>
          </a:p>
        </p:txBody>
      </p:sp>
      <p:sp>
        <p:nvSpPr>
          <p:cNvPr id="74" name="TextBox 73"/>
          <p:cNvSpPr txBox="1"/>
          <p:nvPr/>
        </p:nvSpPr>
        <p:spPr>
          <a:xfrm>
            <a:off x="1216152" y="7479792"/>
            <a:ext cx="5047488" cy="310896"/>
          </a:xfrm>
          <a:prstGeom prst="rect">
            <a:avLst/>
          </a:prstGeom>
          <a:noFill/>
        </p:spPr>
        <p:txBody>
          <a:bodyPr wrap="square" anchor="t" lIns="0" rIns="0" tIns="0" bIns="0">
            <a:spAutoFit/>
          </a:bodyPr>
          <a:lstStyle/>
          <a:p>
            <a:pPr algn="l">
              <a:lnSpc>
                <a:spcPct val="104000"/>
              </a:lnSpc>
            </a:pPr>
            <a:r>
              <a:rPr sz="1125" b="0">
                <a:solidFill>
                  <a:srgbClr val="AAB8E8"/>
                </a:solidFill>
                <a:latin typeface="Arial"/>
                <a:ea typeface="Arial"/>
              </a:rPr>
              <a:t>시장 전환 시점에 고객이 요구하는 사양을 먼저 맞춘 쪽이 design-in을 가져갔습니다</a:t>
            </a:r>
          </a:p>
        </p:txBody>
      </p:sp>
      <p:sp>
        <p:nvSpPr>
          <p:cNvPr id="75" name="TextBox 74"/>
          <p:cNvSpPr txBox="1"/>
          <p:nvPr/>
        </p:nvSpPr>
        <p:spPr>
          <a:xfrm>
            <a:off x="996696" y="7936992"/>
            <a:ext cx="5486400" cy="365760"/>
          </a:xfrm>
          <a:prstGeom prst="rect">
            <a:avLst/>
          </a:prstGeom>
          <a:noFill/>
        </p:spPr>
        <p:txBody>
          <a:bodyPr wrap="square" anchor="t" lIns="0" rIns="0" tIns="0" bIns="0">
            <a:spAutoFit/>
          </a:bodyPr>
          <a:lstStyle/>
          <a:p>
            <a:pPr algn="l">
              <a:lnSpc>
                <a:spcPct val="102000"/>
              </a:lnSpc>
            </a:pPr>
            <a:r>
              <a:rPr sz="950" b="0">
                <a:solidFill>
                  <a:srgbClr val="8A8A8A"/>
                </a:solidFill>
                <a:latin typeface="Arial"/>
                <a:ea typeface="Arial"/>
              </a:rPr>
              <a:t>전략적 우선순위가 약화된 구간에서 격차가 생겼습니다 · 기술 보유 여부의 문제가 아니었습니다</a:t>
            </a:r>
          </a:p>
        </p:txBody>
      </p:sp>
      <p:sp>
        <p:nvSpPr>
          <p:cNvPr id="76" name="Rectangle 75"/>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같은 전환이 SSD에서</a:t>
            </a:r>
          </a:p>
        </p:txBody>
      </p:sp>
      <p:sp>
        <p:nvSpPr>
          <p:cNvPr id="79" name="TextBox 78"/>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고객 요구가 확장되고 있다</a:t>
            </a:r>
          </a:p>
        </p:txBody>
      </p:sp>
      <p:sp>
        <p:nvSpPr>
          <p:cNvPr id="80" name="TextBox 79"/>
          <p:cNvSpPr txBox="1"/>
          <p:nvPr/>
        </p:nvSpPr>
        <p:spPr>
          <a:xfrm>
            <a:off x="7251192" y="3310127"/>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기존 요구는 그대로이고, 그 위에 요구가 더해지고 있습니다</a:t>
            </a:r>
          </a:p>
        </p:txBody>
      </p:sp>
      <p:sp>
        <p:nvSpPr>
          <p:cNvPr id="81" name="Rectangle 80"/>
          <p:cNvSpPr/>
          <p:nvPr/>
        </p:nvSpPr>
        <p:spPr>
          <a:xfrm>
            <a:off x="7251192" y="3529584"/>
            <a:ext cx="2918764"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79208" y="3584448"/>
            <a:ext cx="266273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기존</a:t>
            </a:r>
          </a:p>
        </p:txBody>
      </p:sp>
      <p:sp>
        <p:nvSpPr>
          <p:cNvPr id="83" name="TextBox 82"/>
          <p:cNvSpPr txBox="1"/>
          <p:nvPr/>
        </p:nvSpPr>
        <p:spPr>
          <a:xfrm>
            <a:off x="7379208" y="3767328"/>
            <a:ext cx="2662732" cy="274320"/>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용량당 비용 · 밀도 · 전력</a:t>
            </a:r>
          </a:p>
        </p:txBody>
      </p:sp>
      <p:sp>
        <p:nvSpPr>
          <p:cNvPr id="84" name="Right Arrow 83"/>
          <p:cNvSpPr/>
          <p:nvPr/>
        </p:nvSpPr>
        <p:spPr>
          <a:xfrm>
            <a:off x="10224820" y="3712463"/>
            <a:ext cx="201168"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480852" y="3529584"/>
            <a:ext cx="1982419"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608868" y="3584448"/>
            <a:ext cx="1726387" cy="201168"/>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추가</a:t>
            </a:r>
          </a:p>
        </p:txBody>
      </p:sp>
      <p:sp>
        <p:nvSpPr>
          <p:cNvPr id="87" name="TextBox 86"/>
          <p:cNvSpPr txBox="1"/>
          <p:nvPr/>
        </p:nvSpPr>
        <p:spPr>
          <a:xfrm>
            <a:off x="10608868" y="3767328"/>
            <a:ext cx="1726387" cy="274320"/>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내구성</a:t>
            </a:r>
          </a:p>
        </p:txBody>
      </p:sp>
      <p:sp>
        <p:nvSpPr>
          <p:cNvPr id="88" name="TextBox 87"/>
          <p:cNvSpPr txBox="1"/>
          <p:nvPr/>
        </p:nvSpPr>
        <p:spPr>
          <a:xfrm>
            <a:off x="7251192" y="4261104"/>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무엇이 그 요구를 만들었나   </a:t>
            </a:r>
            <a:r>
              <a:rPr sz="1050" b="1">
                <a:solidFill>
                  <a:srgbClr val="1428A0"/>
                </a:solidFill>
                <a:latin typeface="Arial"/>
                <a:ea typeface="Arial"/>
              </a:rPr>
              <a:t>KV 캐시가 SSD를 추론 메모리 계층으로 옮깁니다</a:t>
            </a:r>
          </a:p>
        </p:txBody>
      </p:sp>
      <p:sp>
        <p:nvSpPr>
          <p:cNvPr id="89" name="Rectangle 88"/>
          <p:cNvSpPr/>
          <p:nvPr/>
        </p:nvSpPr>
        <p:spPr>
          <a:xfrm>
            <a:off x="7251192" y="4498848"/>
            <a:ext cx="5212080"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251192" y="4498848"/>
            <a:ext cx="530352" cy="5669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251192" y="4498848"/>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G1</a:t>
            </a:r>
          </a:p>
        </p:txBody>
      </p:sp>
      <p:sp>
        <p:nvSpPr>
          <p:cNvPr id="92" name="TextBox 91"/>
          <p:cNvSpPr txBox="1"/>
          <p:nvPr/>
        </p:nvSpPr>
        <p:spPr>
          <a:xfrm>
            <a:off x="7909560" y="4572000"/>
            <a:ext cx="168249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GPU HBM</a:t>
            </a:r>
          </a:p>
        </p:txBody>
      </p:sp>
      <p:sp>
        <p:nvSpPr>
          <p:cNvPr id="93" name="TextBox 92"/>
          <p:cNvSpPr txBox="1"/>
          <p:nvPr/>
        </p:nvSpPr>
        <p:spPr>
          <a:xfrm>
            <a:off x="7909560" y="4809744"/>
            <a:ext cx="1682496" cy="182880"/>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80 → 288GB로 커졌지만</a:t>
            </a:r>
          </a:p>
        </p:txBody>
      </p:sp>
      <p:sp>
        <p:nvSpPr>
          <p:cNvPr id="94" name="TextBox 93"/>
          <p:cNvSpPr txBox="1"/>
          <p:nvPr/>
        </p:nvSpPr>
        <p:spPr>
          <a:xfrm>
            <a:off x="9665208" y="4535424"/>
            <a:ext cx="2670048" cy="493776"/>
          </a:xfrm>
          <a:prstGeom prst="rect">
            <a:avLst/>
          </a:prstGeom>
          <a:noFill/>
        </p:spPr>
        <p:txBody>
          <a:bodyPr wrap="square" anchor="ctr" lIns="0" rIns="0" tIns="0" bIns="0">
            <a:spAutoFit/>
          </a:bodyPr>
          <a:lstStyle/>
          <a:p>
            <a:pPr algn="l">
              <a:lnSpc>
                <a:spcPct val="104000"/>
              </a:lnSpc>
            </a:pPr>
            <a:r>
              <a:rPr sz="900" b="0">
                <a:solidFill>
                  <a:srgbClr val="AAB8E8"/>
                </a:solidFill>
                <a:latin typeface="Arial"/>
                <a:ea typeface="Arial"/>
              </a:rPr>
              <a:t>단일 사용자 128K 컨텍스트가 약 40GB · 사용자 수에 비례</a:t>
            </a:r>
          </a:p>
        </p:txBody>
      </p:sp>
      <p:sp>
        <p:nvSpPr>
          <p:cNvPr id="95" name="Down Arrow 94"/>
          <p:cNvSpPr/>
          <p:nvPr/>
        </p:nvSpPr>
        <p:spPr>
          <a:xfrm>
            <a:off x="7424927" y="5074920"/>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635240" y="5065776"/>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97" name="Rectangle 96"/>
          <p:cNvSpPr/>
          <p:nvPr/>
        </p:nvSpPr>
        <p:spPr>
          <a:xfrm>
            <a:off x="7251192" y="5221224"/>
            <a:ext cx="5212080" cy="566928"/>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251192" y="5221224"/>
            <a:ext cx="530352" cy="5669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251192" y="5221224"/>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G2</a:t>
            </a:r>
          </a:p>
        </p:txBody>
      </p:sp>
      <p:sp>
        <p:nvSpPr>
          <p:cNvPr id="100" name="TextBox 99"/>
          <p:cNvSpPr txBox="1"/>
          <p:nvPr/>
        </p:nvSpPr>
        <p:spPr>
          <a:xfrm>
            <a:off x="7909560" y="5294376"/>
            <a:ext cx="168249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CPU DRAM</a:t>
            </a:r>
          </a:p>
        </p:txBody>
      </p:sp>
      <p:sp>
        <p:nvSpPr>
          <p:cNvPr id="101" name="TextBox 100"/>
          <p:cNvSpPr txBox="1"/>
          <p:nvPr/>
        </p:nvSpPr>
        <p:spPr>
          <a:xfrm>
            <a:off x="7909560" y="5532120"/>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첫 확장</a:t>
            </a:r>
          </a:p>
        </p:txBody>
      </p:sp>
      <p:sp>
        <p:nvSpPr>
          <p:cNvPr id="102" name="TextBox 101"/>
          <p:cNvSpPr txBox="1"/>
          <p:nvPr/>
        </p:nvSpPr>
        <p:spPr>
          <a:xfrm>
            <a:off x="9665208" y="5257800"/>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Kioxia — DRAM만으로는 더 못 따라간다</a:t>
            </a:r>
          </a:p>
        </p:txBody>
      </p:sp>
      <p:sp>
        <p:nvSpPr>
          <p:cNvPr id="103" name="Down Arrow 102"/>
          <p:cNvSpPr/>
          <p:nvPr/>
        </p:nvSpPr>
        <p:spPr>
          <a:xfrm>
            <a:off x="7424927" y="5797296"/>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635240" y="5788152"/>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05" name="Rectangle 104"/>
          <p:cNvSpPr/>
          <p:nvPr/>
        </p:nvSpPr>
        <p:spPr>
          <a:xfrm>
            <a:off x="7251192" y="5943600"/>
            <a:ext cx="5212080" cy="5669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7251192" y="5943600"/>
            <a:ext cx="530352"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251192" y="5943600"/>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G3</a:t>
            </a:r>
          </a:p>
        </p:txBody>
      </p:sp>
      <p:sp>
        <p:nvSpPr>
          <p:cNvPr id="108" name="TextBox 107"/>
          <p:cNvSpPr txBox="1"/>
          <p:nvPr/>
        </p:nvSpPr>
        <p:spPr>
          <a:xfrm>
            <a:off x="7909560" y="6016752"/>
            <a:ext cx="1682496"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NVMe SSD</a:t>
            </a:r>
          </a:p>
        </p:txBody>
      </p:sp>
      <p:sp>
        <p:nvSpPr>
          <p:cNvPr id="109" name="TextBox 108"/>
          <p:cNvSpPr txBox="1"/>
          <p:nvPr/>
        </p:nvSpPr>
        <p:spPr>
          <a:xfrm>
            <a:off x="7909560" y="6254496"/>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새로 얹힌 계층</a:t>
            </a:r>
          </a:p>
        </p:txBody>
      </p:sp>
      <p:sp>
        <p:nvSpPr>
          <p:cNvPr id="110" name="TextBox 109"/>
          <p:cNvSpPr txBox="1"/>
          <p:nvPr/>
        </p:nvSpPr>
        <p:spPr>
          <a:xfrm>
            <a:off x="9665208" y="5980176"/>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쓰기가 몰리는 첫 대용량 계층 → 내구성이 요구로</a:t>
            </a:r>
          </a:p>
        </p:txBody>
      </p:sp>
      <p:sp>
        <p:nvSpPr>
          <p:cNvPr id="111" name="Rectangle 110"/>
          <p:cNvSpPr/>
          <p:nvPr/>
        </p:nvSpPr>
        <p:spPr>
          <a:xfrm>
            <a:off x="7251192" y="6547103"/>
            <a:ext cx="5212080" cy="20116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342631" y="6547103"/>
            <a:ext cx="5029200" cy="201168"/>
          </a:xfrm>
          <a:prstGeom prst="rect">
            <a:avLst/>
          </a:prstGeom>
          <a:noFill/>
        </p:spPr>
        <p:txBody>
          <a:bodyPr wrap="square" anchor="ctr" lIns="0" rIns="0" tIns="0" bIns="0">
            <a:spAutoFit/>
          </a:bodyPr>
          <a:lstStyle/>
          <a:p>
            <a:pPr algn="l">
              <a:lnSpc>
                <a:spcPct val="112000"/>
              </a:lnSpc>
            </a:pPr>
            <a:r>
              <a:rPr sz="900" b="1">
                <a:solidFill>
                  <a:srgbClr val="1428A0"/>
                </a:solidFill>
                <a:latin typeface="Arial"/>
                <a:ea typeface="Arial"/>
              </a:rPr>
              <a:t>대체가 아니라 증설입니다  </a:t>
            </a:r>
            <a:r>
              <a:rPr sz="900" b="0">
                <a:solidFill>
                  <a:srgbClr val="555555"/>
                </a:solidFill>
                <a:latin typeface="Arial"/>
                <a:ea typeface="Arial"/>
              </a:rPr>
              <a:t>같은 기간 GPU당 HBM은 192 → 288GB, 2027년 384GB로 커집니다</a:t>
            </a:r>
          </a:p>
        </p:txBody>
      </p:sp>
      <p:sp>
        <p:nvSpPr>
          <p:cNvPr id="113" name="Rectangle 112"/>
          <p:cNvSpPr/>
          <p:nvPr/>
        </p:nvSpPr>
        <p:spPr>
          <a:xfrm>
            <a:off x="7251192" y="6839712"/>
            <a:ext cx="5212080" cy="157276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397496" y="6894575"/>
            <a:ext cx="4919472"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「KV 캐시를 담을 HBM 용량이 한계에 도달했다」</a:t>
            </a:r>
          </a:p>
        </p:txBody>
      </p:sp>
      <p:sp>
        <p:nvSpPr>
          <p:cNvPr id="115" name="TextBox 114"/>
          <p:cNvSpPr txBox="1"/>
          <p:nvPr/>
        </p:nvSpPr>
        <p:spPr>
          <a:xfrm>
            <a:off x="7397496" y="7104888"/>
            <a:ext cx="4919472"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SK하이닉스 2026-07-29 실적 발표 · 같은 자리에서 GPU 인근 NAND 개발 공표</a:t>
            </a:r>
          </a:p>
        </p:txBody>
      </p:sp>
      <p:sp>
        <p:nvSpPr>
          <p:cNvPr id="116" name="Rectangle 115"/>
          <p:cNvSpPr/>
          <p:nvPr/>
        </p:nvSpPr>
        <p:spPr>
          <a:xfrm>
            <a:off x="7397496" y="73152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6"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오프로드는 메인라인 코드</a:t>
            </a:r>
          </a:p>
        </p:txBody>
      </p:sp>
      <p:sp>
        <p:nvSpPr>
          <p:cNvPr id="118" name="TextBox 117"/>
          <p:cNvSpPr txBox="1"/>
          <p:nvPr/>
        </p:nvSpPr>
        <p:spPr>
          <a:xfrm>
            <a:off x="7397496"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LMCache 2024-08 → vLLM 2026-05</a:t>
            </a:r>
          </a:p>
        </p:txBody>
      </p:sp>
      <p:sp>
        <p:nvSpPr>
          <p:cNvPr id="119" name="TextBox 118"/>
          <p:cNvSpPr txBox="1"/>
          <p:nvPr/>
        </p:nvSpPr>
        <p:spPr>
          <a:xfrm>
            <a:off x="9921240"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NAND 비트 중 eSSD 비중</a:t>
            </a:r>
          </a:p>
        </p:txBody>
      </p:sp>
      <p:sp>
        <p:nvSpPr>
          <p:cNvPr id="120" name="TextBox 119"/>
          <p:cNvSpPr txBox="1"/>
          <p:nvPr/>
        </p:nvSpPr>
        <p:spPr>
          <a:xfrm>
            <a:off x="9921240"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1년 만에 26% → 48%</a:t>
            </a:r>
          </a:p>
        </p:txBody>
      </p:sp>
      <p:sp>
        <p:nvSpPr>
          <p:cNvPr id="121" name="TextBox 120"/>
          <p:cNvSpPr txBox="1"/>
          <p:nvPr/>
        </p:nvSpPr>
        <p:spPr>
          <a:xfrm>
            <a:off x="7397496" y="7754112"/>
            <a:ext cx="4919472"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AI 수요의 중심이 추론으로 빠르게 확대되고 있습니다 · 데이터센터 NAND 295EB(2025) → 1,807EB(2028), Kioxia 전망</a:t>
            </a:r>
          </a:p>
        </p:txBody>
      </p:sp>
      <p:sp>
        <p:nvSpPr>
          <p:cNvPr id="122" name="Rectangle 121"/>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둘 다 가질 수 있는가</a:t>
            </a:r>
          </a:p>
        </p:txBody>
      </p:sp>
      <p:sp>
        <p:nvSpPr>
          <p:cNvPr id="125" name="TextBox 124"/>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용량·비용과 내구성의 상충</a:t>
            </a:r>
          </a:p>
        </p:txBody>
      </p:sp>
      <p:sp>
        <p:nvSpPr>
          <p:cNvPr id="126" name="TextBox 125"/>
          <p:cNvSpPr txBox="1"/>
          <p:nvPr/>
        </p:nvSpPr>
        <p:spPr>
          <a:xfrm>
            <a:off x="13231368" y="3310127"/>
            <a:ext cx="4059936" cy="2011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오늘 선택지는 둘 다를 주지 않습니다</a:t>
            </a:r>
          </a:p>
        </p:txBody>
      </p:sp>
      <p:sp>
        <p:nvSpPr>
          <p:cNvPr id="127" name="Rectangle 126"/>
          <p:cNvSpPr/>
          <p:nvPr/>
        </p:nvSpPr>
        <p:spPr>
          <a:xfrm>
            <a:off x="13231368" y="3547872"/>
            <a:ext cx="1965960"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3231368" y="3547872"/>
            <a:ext cx="1965960"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3359384" y="3639312"/>
            <a:ext cx="1709928" cy="256032"/>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30" name="TextBox 129"/>
          <p:cNvSpPr txBox="1"/>
          <p:nvPr/>
        </p:nvSpPr>
        <p:spPr>
          <a:xfrm>
            <a:off x="13359384"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3 DWPD 급</a:t>
            </a:r>
          </a:p>
        </p:txBody>
      </p:sp>
      <p:sp>
        <p:nvSpPr>
          <p:cNvPr id="131" name="TextBox 130"/>
          <p:cNvSpPr txBox="1"/>
          <p:nvPr/>
        </p:nvSpPr>
        <p:spPr>
          <a:xfrm>
            <a:off x="13359384"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32" name="TextBox 131"/>
          <p:cNvSpPr txBox="1"/>
          <p:nvPr/>
        </p:nvSpPr>
        <p:spPr>
          <a:xfrm>
            <a:off x="13359384" y="4297680"/>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요구 충족</a:t>
            </a:r>
          </a:p>
        </p:txBody>
      </p:sp>
      <p:sp>
        <p:nvSpPr>
          <p:cNvPr id="133" name="TextBox 132"/>
          <p:cNvSpPr txBox="1"/>
          <p:nvPr/>
        </p:nvSpPr>
        <p:spPr>
          <a:xfrm>
            <a:off x="13359384"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34" name="TextBox 133"/>
          <p:cNvSpPr txBox="1"/>
          <p:nvPr/>
        </p:nvSpPr>
        <p:spPr>
          <a:xfrm>
            <a:off x="13359384" y="4700016"/>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 급</a:t>
            </a:r>
          </a:p>
        </p:txBody>
      </p:sp>
      <p:sp>
        <p:nvSpPr>
          <p:cNvPr id="135" name="TextBox 134"/>
          <p:cNvSpPr txBox="1"/>
          <p:nvPr/>
        </p:nvSpPr>
        <p:spPr>
          <a:xfrm>
            <a:off x="13359384"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36" name="TextBox 135"/>
          <p:cNvSpPr txBox="1"/>
          <p:nvPr/>
        </p:nvSpPr>
        <p:spPr>
          <a:xfrm>
            <a:off x="13359384" y="5102352"/>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높다</a:t>
            </a:r>
          </a:p>
        </p:txBody>
      </p:sp>
      <p:sp>
        <p:nvSpPr>
          <p:cNvPr id="137" name="Rectangle 136"/>
          <p:cNvSpPr/>
          <p:nvPr/>
        </p:nvSpPr>
        <p:spPr>
          <a:xfrm>
            <a:off x="15325344" y="3547872"/>
            <a:ext cx="1965960" cy="184708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5325344" y="3547872"/>
            <a:ext cx="196596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453360" y="3639312"/>
            <a:ext cx="1709928"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40" name="TextBox 139"/>
          <p:cNvSpPr txBox="1"/>
          <p:nvPr/>
        </p:nvSpPr>
        <p:spPr>
          <a:xfrm>
            <a:off x="15453360"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고용량</a:t>
            </a:r>
          </a:p>
        </p:txBody>
      </p:sp>
      <p:sp>
        <p:nvSpPr>
          <p:cNvPr id="141" name="TextBox 140"/>
          <p:cNvSpPr txBox="1"/>
          <p:nvPr/>
        </p:nvSpPr>
        <p:spPr>
          <a:xfrm>
            <a:off x="15453360"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42" name="TextBox 141"/>
          <p:cNvSpPr txBox="1"/>
          <p:nvPr/>
        </p:nvSpPr>
        <p:spPr>
          <a:xfrm>
            <a:off x="15453360" y="4297680"/>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0.3 ~ 1.0</a:t>
            </a:r>
          </a:p>
        </p:txBody>
      </p:sp>
      <p:sp>
        <p:nvSpPr>
          <p:cNvPr id="143" name="TextBox 142"/>
          <p:cNvSpPr txBox="1"/>
          <p:nvPr/>
        </p:nvSpPr>
        <p:spPr>
          <a:xfrm>
            <a:off x="15453360"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44" name="TextBox 143"/>
          <p:cNvSpPr txBox="1"/>
          <p:nvPr/>
        </p:nvSpPr>
        <p:spPr>
          <a:xfrm>
            <a:off x="15453360" y="4700016"/>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 급</a:t>
            </a:r>
          </a:p>
        </p:txBody>
      </p:sp>
      <p:sp>
        <p:nvSpPr>
          <p:cNvPr id="145" name="TextBox 144"/>
          <p:cNvSpPr txBox="1"/>
          <p:nvPr/>
        </p:nvSpPr>
        <p:spPr>
          <a:xfrm>
            <a:off x="15453360"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46" name="TextBox 145"/>
          <p:cNvSpPr txBox="1"/>
          <p:nvPr/>
        </p:nvSpPr>
        <p:spPr>
          <a:xfrm>
            <a:off x="15453360" y="5102352"/>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낮다</a:t>
            </a:r>
          </a:p>
        </p:txBody>
      </p:sp>
      <p:sp>
        <p:nvSpPr>
          <p:cNvPr id="147" name="TextBox 146"/>
          <p:cNvSpPr txBox="1"/>
          <p:nvPr/>
        </p:nvSpPr>
        <p:spPr>
          <a:xfrm>
            <a:off x="13231368" y="5468112"/>
            <a:ext cx="4059936" cy="329184"/>
          </a:xfrm>
          <a:prstGeom prst="rect">
            <a:avLst/>
          </a:prstGeom>
          <a:noFill/>
        </p:spPr>
        <p:txBody>
          <a:bodyPr wrap="square" anchor="t" lIns="0" rIns="0" tIns="0" bIns="0">
            <a:spAutoFit/>
          </a:bodyPr>
          <a:lstStyle/>
          <a:p>
            <a:pPr algn="l">
              <a:lnSpc>
                <a:spcPct val="102000"/>
              </a:lnSpc>
            </a:pPr>
            <a:r>
              <a:rPr sz="900" b="0">
                <a:solidFill>
                  <a:srgbClr val="8A8A8A"/>
                </a:solidFill>
                <a:latin typeface="Arial"/>
                <a:ea typeface="Arial"/>
              </a:rPr>
              <a:t>QLC 정격은 제품·기준 블록에 따라 다릅니다 · 245TB급은 0.3 DWPD 수준</a:t>
            </a:r>
          </a:p>
        </p:txBody>
      </p:sp>
      <p:sp>
        <p:nvSpPr>
          <p:cNvPr id="148" name="Rectangle 147"/>
          <p:cNvSpPr/>
          <p:nvPr/>
        </p:nvSpPr>
        <p:spPr>
          <a:xfrm>
            <a:off x="13231368" y="5852160"/>
            <a:ext cx="4059936" cy="2487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3432536" y="5998464"/>
            <a:ext cx="3657600" cy="274320"/>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그래서 질문은 하나입니다</a:t>
            </a:r>
          </a:p>
        </p:txBody>
      </p:sp>
      <p:sp>
        <p:nvSpPr>
          <p:cNvPr id="150" name="TextBox 149"/>
          <p:cNvSpPr txBox="1"/>
          <p:nvPr/>
        </p:nvSpPr>
        <p:spPr>
          <a:xfrm>
            <a:off x="13432536" y="6291072"/>
            <a:ext cx="3657600" cy="1938528"/>
          </a:xfrm>
          <a:prstGeom prst="rect">
            <a:avLst/>
          </a:prstGeom>
          <a:noFill/>
        </p:spPr>
        <p:txBody>
          <a:bodyPr wrap="square" anchor="ctr" lIns="0" rIns="0" tIns="0" bIns="0">
            <a:spAutoFit/>
          </a:bodyPr>
          <a:lstStyle/>
          <a:p>
            <a:pPr algn="l">
              <a:lnSpc>
                <a:spcPct val="118000"/>
              </a:lnSpc>
            </a:pPr>
            <a:r>
              <a:rPr sz="1425" b="1">
                <a:solidFill>
                  <a:srgbClr val="FFFFFF"/>
                </a:solidFill>
                <a:latin typeface="Arial"/>
                <a:ea typeface="Arial"/>
              </a:rPr>
              <a:t>고용량 QLC의 밀도·비용 이점을 유지하면서</a:t>
            </a:r>
          </a:p>
          <a:p>
            <a:pPr algn="l">
              <a:lnSpc>
                <a:spcPct val="118000"/>
              </a:lnSpc>
            </a:pPr>
            <a:r>
              <a:rPr sz="1425" b="1">
                <a:solidFill>
                  <a:srgbClr val="FFFFFF"/>
                </a:solidFill>
                <a:latin typeface="Arial"/>
                <a:ea typeface="Arial"/>
              </a:rPr>
              <a:t>AI 추론이 요구하는 내구성을</a:t>
            </a:r>
          </a:p>
          <a:p>
            <a:pPr algn="l">
              <a:lnSpc>
                <a:spcPct val="118000"/>
              </a:lnSpc>
            </a:pPr>
            <a:r>
              <a:rPr sz="1425" b="1">
                <a:solidFill>
                  <a:srgbClr val="FFFFFF"/>
                </a:solidFill>
                <a:latin typeface="Arial"/>
                <a:ea typeface="Arial"/>
              </a:rPr>
              <a:t>확보할 수 있는가?</a:t>
            </a:r>
          </a:p>
        </p:txBody>
      </p:sp>
      <p:sp>
        <p:nvSpPr>
          <p:cNvPr id="151" name="Rectangle 15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3" name="TextBox 15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HBM의 교훈은 표준 충족이 아니라 고객 요구 사양을 먼저 맞추는 것이 design-in을 가른다는 것이었습니다.</a:t>
            </a:r>
          </a:p>
          <a:p>
            <a:pPr algn="l">
              <a:lnSpc>
                <a:spcPct val="108000"/>
              </a:lnSpc>
            </a:pPr>
            <a:r>
              <a:rPr sz="1650" b="1">
                <a:solidFill>
                  <a:srgbClr val="FFFFFF"/>
                </a:solidFill>
                <a:latin typeface="Arial"/>
                <a:ea typeface="Arial"/>
              </a:rPr>
              <a:t>같은 전환이 SSD에서 일어나 내구성이 요구로 더해졌고, 고용량 QLC로 그 요구를 만족할 수 있는가가 문제입니다</a:t>
            </a:r>
          </a:p>
        </p:txBody>
      </p:sp>
      <p:sp>
        <p:nvSpPr>
          <p:cNvPr id="154" name="Rectangle 15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57" name="TextBox 15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JEDEC JESD270-4 · NVIDIA 요구 10~13Gbps(업계 보도 🟡), 서울경제 2026-07-29(SK하이닉스 실적 콜 🟡), NVIDIA 개발자 블로그(KV 40GB 🟡), GitHub PR(LMCache·vLLM ✅), Counterpoint Q2 2026, Kioxia IR 2026-06-02, 각사 제품 사양(DWPD)</a:t>
            </a:r>
          </a:p>
        </p:txBody>
      </p:sp>
      <p:sp>
        <p:nvSpPr>
          <p:cNvPr id="158" name="TextBox 15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