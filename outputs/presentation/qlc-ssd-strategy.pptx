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왼쪽이 교훈, 가운데가 지금 수요의 이동, 오른쪽이 문제입니다. 왼쪽 교훈입니다. 두 레인은 같은 기술을 가진 두 회사의 다른 판단입니다. SK하이닉스는 2013년 AMD와 HBM을 공동 개발했고, 2021년 10월 JEDEC 표준보다 먼저 HBM3 개발을 마쳐 2022년 6월 NVIDIA에 업계 최초로 공급했으며, 2023년 한 해 동안 유일한 양산사였습니다. 그 결과가 2025년 6월 DRAM 매출 1위로, 1992년 이후 처음 있는 역전이었습니다. 2026년 6월에는 NVIDIA와 다년 기술 파트너십을 맺고 Vera Rubin용 메모리를 공동 개발합니다. 아래 레인이 삼성입니다. 중요한 것은 기술이 없지 않았다는 점입니다. 업계 최초 HBM2E는 2019년 3월 삼성이 발표했습니다. 같은 해에 HBM 시장 성장률이 과대평가됐다는 판단으로 전담 조직이 후순위가 됐고, 2024년 4월에야 전담 팀이 재구성되어 5년의 공백이 생겼으며, 12단 HBM3E는 2025년 9월에야 NVIDIA 퀄을 통과해 Blackwell 사이클을 놓쳤습니다. 2019년 조직 판단은 CNBC 보도 계열의 단일 출처이므로 그 점을 밝혀 둡니다. 그리고 그 해 삼성은 감산도 CapEx 삭감도 하지 않았습니다. 돈이 아니라 우선순위의 문제였습니다. 교훈을 한 줄로 쓰면 기술이 없어서가 아니라 시장을 작게 봤기 때문입니다. 그리고 구속력 있는 규격은 표준이 아니라 고객의 사양이었습니다. JEDEC HBM4 표준은 최대 8Gbps인데 NVIDIA는 10에서 13Gbps를 요구했고, 승부는 그 위에서 갈렸습니다. 삼성도 표준 제정 9개사 중 하나였으므로 테이블에 앉았는지가 아니라 고객 사양에 맞췄는지가 변수였습니다. 다만 이 교훈을 영구적 판정으로 쓰면 안 됩니다. 삼성은 2025년 4분기 DRAM 1위를 탈환했고, 2026년 2월 업계 최초로 상용 HBM4를 출하했으며, 2026년 2분기 HBM 점유율은 33%로 직전 분기 대비 12%포인트 올랐습니다. 되돌릴 수 있다는 것도 같은 기록이 보여 줍니다. 변수는 판단을 끊지 않는 것이고, 다음 수요에서 같은 판단을 다시 해야 합니다. 가운데가 지금의 수요입니다. 구매 기준은 2008년에서 2012년의 성능과 용량당 가격에서, 2012년에서 2021년의 QoS와 지연 꼬리로 옮겨 갔습니다. OCP 사양 v2.0이 2021년 7월 지연 모니터를 의무화하면서 제도화됐습니다. 2022년 이후는 용량 밀도와 전력 효율, 물량 확보가 상위 기준입니다. 그 위에 새 축이 하나 올라왔습니다. KV 캐시 오프로드가 만드는 내구성 요구입니다. 추론 캐시 계층은 쓰기가 몰리는 첫 대용량 계층이고, Kioxia는 이 계층 제품으로 CM9 TLC 3 DWPD를 지목했습니다. 추론 수요는 연평균 86%로 학습의 16%보다 훨씬 빠르게 큽니다. 오른쪽이 문제입니다. 요구 1에서 3 DWPD는 TLC로는 이미 충족됩니다. 그런데 고객은 QLC를 원합니다. 용량 밀도가 245TB급으로 네 배이고 TB당 가격이 20에서 30% 싸기 때문입니다. 반면 QLC의 정격은 0.6으로 요구와 2배에서 5배 거리가 있습니다. 고객은 QLC의 밀도와 원가로 TLC의 내구성을 요구하는 셈이고, 이 간극을 메우는 것이 우리가 풀 문제입니다. 고용량화는 두 축의 문제를 낳습니다. 다이 수가 만드는 신뢰성 축이 2장, DWPD 격차가 만드는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고객과 함께 수요를 설계한 기업이 이겼고, 지금 그 수요는 QLC에 1~3 DWPD를 요구합니다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HBM이 보여 준 것은 기술의 차이가 아니라 시장을 보는 눈의 차이였습니다. 다음 수요는 이미 고객의 구매 기준 안에서 움직이고 있습니다.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6751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6751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62362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HBM이 가르친 것</a:t>
            </a:r>
          </a:p>
        </p:txBody>
      </p:sp>
      <p:sp>
        <p:nvSpPr>
          <p:cNvPr id="39" name="TextBox 38"/>
          <p:cNvSpPr txBox="1"/>
          <p:nvPr/>
        </p:nvSpPr>
        <p:spPr>
          <a:xfrm>
            <a:off x="941832" y="2980944"/>
            <a:ext cx="62362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2013 ~ 2026 · 같은 기술, 다른 판단</a:t>
            </a:r>
          </a:p>
        </p:txBody>
      </p:sp>
      <p:sp>
        <p:nvSpPr>
          <p:cNvPr id="40" name="Rectangle 39"/>
          <p:cNvSpPr/>
          <p:nvPr/>
        </p:nvSpPr>
        <p:spPr>
          <a:xfrm>
            <a:off x="1929384" y="4315968"/>
            <a:ext cx="512064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6696" y="4187952"/>
            <a:ext cx="859536" cy="256032"/>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SK하이닉스</a:t>
            </a:r>
          </a:p>
        </p:txBody>
      </p:sp>
      <p:sp>
        <p:nvSpPr>
          <p:cNvPr id="42" name="Rectangle 41"/>
          <p:cNvSpPr/>
          <p:nvPr/>
        </p:nvSpPr>
        <p:spPr>
          <a:xfrm>
            <a:off x="1929384" y="4937760"/>
            <a:ext cx="5120640"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6696" y="4809744"/>
            <a:ext cx="859536" cy="256032"/>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삼성</a:t>
            </a:r>
          </a:p>
        </p:txBody>
      </p:sp>
      <p:sp>
        <p:nvSpPr>
          <p:cNvPr id="44" name="TextBox 43"/>
          <p:cNvSpPr txBox="1"/>
          <p:nvPr/>
        </p:nvSpPr>
        <p:spPr>
          <a:xfrm>
            <a:off x="1563624"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2013</a:t>
            </a:r>
          </a:p>
        </p:txBody>
      </p:sp>
      <p:sp>
        <p:nvSpPr>
          <p:cNvPr id="45" name="TextBox 44"/>
          <p:cNvSpPr txBox="1"/>
          <p:nvPr/>
        </p:nvSpPr>
        <p:spPr>
          <a:xfrm>
            <a:off x="3069694"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2017</a:t>
            </a:r>
          </a:p>
        </p:txBody>
      </p:sp>
      <p:sp>
        <p:nvSpPr>
          <p:cNvPr id="46" name="TextBox 45"/>
          <p:cNvSpPr txBox="1"/>
          <p:nvPr/>
        </p:nvSpPr>
        <p:spPr>
          <a:xfrm>
            <a:off x="4575765"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2021</a:t>
            </a:r>
          </a:p>
        </p:txBody>
      </p:sp>
      <p:sp>
        <p:nvSpPr>
          <p:cNvPr id="47" name="TextBox 46"/>
          <p:cNvSpPr txBox="1"/>
          <p:nvPr/>
        </p:nvSpPr>
        <p:spPr>
          <a:xfrm>
            <a:off x="6081835"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2025</a:t>
            </a:r>
          </a:p>
        </p:txBody>
      </p:sp>
      <p:sp>
        <p:nvSpPr>
          <p:cNvPr id="48" name="Oval 47"/>
          <p:cNvSpPr/>
          <p:nvPr/>
        </p:nvSpPr>
        <p:spPr>
          <a:xfrm>
            <a:off x="2185953"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260934"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90425" y="3511296"/>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2013</a:t>
            </a:r>
          </a:p>
          <a:p>
            <a:pPr algn="ctr">
              <a:lnSpc>
                <a:spcPct val="100000"/>
              </a:lnSpc>
            </a:pPr>
            <a:r>
              <a:rPr sz="900" b="0">
                <a:solidFill>
                  <a:srgbClr val="555555"/>
                </a:solidFill>
                <a:latin typeface="Arial"/>
                <a:ea typeface="Arial"/>
              </a:rPr>
              <a:t>AMD와 HBM 공동 개발</a:t>
            </a:r>
          </a:p>
        </p:txBody>
      </p:sp>
      <p:sp>
        <p:nvSpPr>
          <p:cNvPr id="51" name="Oval 50"/>
          <p:cNvSpPr/>
          <p:nvPr/>
        </p:nvSpPr>
        <p:spPr>
          <a:xfrm>
            <a:off x="5235746"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310727"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40218" y="2980944"/>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2021-10 → 2022-06</a:t>
            </a:r>
          </a:p>
          <a:p>
            <a:pPr algn="ctr">
              <a:lnSpc>
                <a:spcPct val="100000"/>
              </a:lnSpc>
            </a:pPr>
            <a:r>
              <a:rPr sz="900" b="0">
                <a:solidFill>
                  <a:srgbClr val="555555"/>
                </a:solidFill>
                <a:latin typeface="Arial"/>
                <a:ea typeface="Arial"/>
              </a:rPr>
              <a:t>표준보다 먼저 개발 →</a:t>
            </a:r>
          </a:p>
          <a:p>
            <a:pPr algn="ctr">
              <a:lnSpc>
                <a:spcPct val="100000"/>
              </a:lnSpc>
            </a:pPr>
            <a:r>
              <a:rPr sz="900" b="0">
                <a:solidFill>
                  <a:srgbClr val="555555"/>
                </a:solidFill>
                <a:latin typeface="Arial"/>
                <a:ea typeface="Arial"/>
              </a:rPr>
              <a:t>NVIDIA 최초 공급</a:t>
            </a:r>
          </a:p>
        </p:txBody>
      </p:sp>
      <p:sp>
        <p:nvSpPr>
          <p:cNvPr id="54" name="Oval 53"/>
          <p:cNvSpPr/>
          <p:nvPr/>
        </p:nvSpPr>
        <p:spPr>
          <a:xfrm>
            <a:off x="6553558"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628539"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67528" y="3511296"/>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2025-06</a:t>
            </a:r>
          </a:p>
          <a:p>
            <a:pPr algn="ctr">
              <a:lnSpc>
                <a:spcPct val="100000"/>
              </a:lnSpc>
            </a:pPr>
            <a:r>
              <a:rPr sz="900" b="0">
                <a:solidFill>
                  <a:srgbClr val="555555"/>
                </a:solidFill>
                <a:latin typeface="Arial"/>
                <a:ea typeface="Arial"/>
              </a:rPr>
              <a:t>DRAM 매출 1위</a:t>
            </a:r>
          </a:p>
          <a:p>
            <a:pPr algn="ctr">
              <a:lnSpc>
                <a:spcPct val="100000"/>
              </a:lnSpc>
            </a:pPr>
            <a:r>
              <a:rPr sz="900" b="0">
                <a:solidFill>
                  <a:srgbClr val="555555"/>
                </a:solidFill>
                <a:latin typeface="Arial"/>
                <a:ea typeface="Arial"/>
              </a:rPr>
              <a:t>1992년 이후 처음</a:t>
            </a:r>
          </a:p>
        </p:txBody>
      </p:sp>
      <p:sp>
        <p:nvSpPr>
          <p:cNvPr id="57" name="Oval 56"/>
          <p:cNvSpPr/>
          <p:nvPr/>
        </p:nvSpPr>
        <p:spPr>
          <a:xfrm>
            <a:off x="4181497"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256478"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5969" y="5230368"/>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2019</a:t>
            </a:r>
          </a:p>
          <a:p>
            <a:pPr algn="ctr">
              <a:lnSpc>
                <a:spcPct val="100000"/>
              </a:lnSpc>
            </a:pPr>
            <a:r>
              <a:rPr sz="900" b="0">
                <a:solidFill>
                  <a:srgbClr val="555555"/>
                </a:solidFill>
                <a:latin typeface="Arial"/>
                <a:ea typeface="Arial"/>
              </a:rPr>
              <a:t>시장 성장률을 과대평가로 보고</a:t>
            </a:r>
          </a:p>
          <a:p>
            <a:pPr algn="ctr">
              <a:lnSpc>
                <a:spcPct val="100000"/>
              </a:lnSpc>
            </a:pPr>
            <a:r>
              <a:rPr sz="900" b="0">
                <a:solidFill>
                  <a:srgbClr val="555555"/>
                </a:solidFill>
                <a:latin typeface="Arial"/>
                <a:ea typeface="Arial"/>
              </a:rPr>
              <a:t>전담 조직 후순위</a:t>
            </a:r>
          </a:p>
        </p:txBody>
      </p:sp>
      <p:sp>
        <p:nvSpPr>
          <p:cNvPr id="60" name="Oval 59"/>
          <p:cNvSpPr/>
          <p:nvPr/>
        </p:nvSpPr>
        <p:spPr>
          <a:xfrm>
            <a:off x="6101737"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176718"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6209" y="5760720"/>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2024-04</a:t>
            </a:r>
          </a:p>
          <a:p>
            <a:pPr algn="ctr">
              <a:lnSpc>
                <a:spcPct val="100000"/>
              </a:lnSpc>
            </a:pPr>
            <a:r>
              <a:rPr sz="900" b="0">
                <a:solidFill>
                  <a:srgbClr val="555555"/>
                </a:solidFill>
                <a:latin typeface="Arial"/>
                <a:ea typeface="Arial"/>
              </a:rPr>
              <a:t>전담 팀 재구성 · 5년 공백</a:t>
            </a:r>
          </a:p>
        </p:txBody>
      </p:sp>
      <p:sp>
        <p:nvSpPr>
          <p:cNvPr id="63" name="Oval 62"/>
          <p:cNvSpPr/>
          <p:nvPr/>
        </p:nvSpPr>
        <p:spPr>
          <a:xfrm>
            <a:off x="6628862"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703842"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367528" y="5230368"/>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2025-09</a:t>
            </a:r>
          </a:p>
          <a:p>
            <a:pPr algn="ctr">
              <a:lnSpc>
                <a:spcPct val="100000"/>
              </a:lnSpc>
            </a:pPr>
            <a:r>
              <a:rPr sz="900" b="0">
                <a:solidFill>
                  <a:srgbClr val="555555"/>
                </a:solidFill>
                <a:latin typeface="Arial"/>
                <a:ea typeface="Arial"/>
              </a:rPr>
              <a:t>12단 HBM3E 퀄 통과</a:t>
            </a:r>
          </a:p>
          <a:p>
            <a:pPr algn="ctr">
              <a:lnSpc>
                <a:spcPct val="100000"/>
              </a:lnSpc>
            </a:pPr>
            <a:r>
              <a:rPr sz="900" b="0">
                <a:solidFill>
                  <a:srgbClr val="555555"/>
                </a:solidFill>
                <a:latin typeface="Arial"/>
                <a:ea typeface="Arial"/>
              </a:rPr>
              <a:t>18개월 지연</a:t>
            </a:r>
          </a:p>
        </p:txBody>
      </p:sp>
      <p:sp>
        <p:nvSpPr>
          <p:cNvPr id="66" name="TextBox 65"/>
          <p:cNvSpPr txBox="1"/>
          <p:nvPr/>
        </p:nvSpPr>
        <p:spPr>
          <a:xfrm>
            <a:off x="2004687" y="4480559"/>
            <a:ext cx="3108960" cy="365760"/>
          </a:xfrm>
          <a:prstGeom prst="rect">
            <a:avLst/>
          </a:prstGeom>
          <a:noFill/>
        </p:spPr>
        <p:txBody>
          <a:bodyPr wrap="square" anchor="t" lIns="0" rIns="0" tIns="0" bIns="0">
            <a:spAutoFit/>
          </a:bodyPr>
          <a:lstStyle/>
          <a:p>
            <a:pPr algn="l">
              <a:lnSpc>
                <a:spcPct val="100000"/>
              </a:lnSpc>
            </a:pPr>
            <a:r>
              <a:rPr sz="900" b="1">
                <a:solidFill>
                  <a:srgbClr val="1A1A1A"/>
                </a:solidFill>
                <a:latin typeface="Arial"/>
                <a:ea typeface="Arial"/>
              </a:rPr>
              <a:t>업계 최초 HBM2E는 삼성이 2019-03에 발표했습니다</a:t>
            </a:r>
          </a:p>
          <a:p>
            <a:pPr algn="l">
              <a:lnSpc>
                <a:spcPct val="100000"/>
              </a:lnSpc>
            </a:pPr>
            <a:r>
              <a:rPr sz="900" b="0">
                <a:solidFill>
                  <a:srgbClr val="555555"/>
                </a:solidFill>
                <a:latin typeface="Arial"/>
                <a:ea typeface="Arial"/>
              </a:rPr>
              <a:t>기술의 차이가 아니었습니다</a:t>
            </a:r>
          </a:p>
        </p:txBody>
      </p:sp>
      <p:sp>
        <p:nvSpPr>
          <p:cNvPr id="67" name="Rectangle 66"/>
          <p:cNvSpPr/>
          <p:nvPr/>
        </p:nvSpPr>
        <p:spPr>
          <a:xfrm>
            <a:off x="996696" y="6327648"/>
            <a:ext cx="6126480"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34440" y="6419088"/>
            <a:ext cx="5650992" cy="274320"/>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기술이 없어서가 아니라 시장을 작게 봤기 때문입니다</a:t>
            </a:r>
          </a:p>
        </p:txBody>
      </p:sp>
      <p:sp>
        <p:nvSpPr>
          <p:cNvPr id="69" name="TextBox 68"/>
          <p:cNvSpPr txBox="1"/>
          <p:nvPr/>
        </p:nvSpPr>
        <p:spPr>
          <a:xfrm>
            <a:off x="1234440" y="6729984"/>
            <a:ext cx="5650992" cy="292608"/>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구속력 있는 규격은 표준이 아니라 고객의 사양이었습니다 · JEDEC HBM4 8 Gbps 대 NVIDIA 요구 10~13 Gbps</a:t>
            </a:r>
          </a:p>
        </p:txBody>
      </p:sp>
      <p:sp>
        <p:nvSpPr>
          <p:cNvPr id="70" name="TextBox 69"/>
          <p:cNvSpPr txBox="1"/>
          <p:nvPr/>
        </p:nvSpPr>
        <p:spPr>
          <a:xfrm>
            <a:off x="996696" y="7260336"/>
            <a:ext cx="612648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되돌릴 수 있다는 것도 같은 기록이 보여 줍니다</a:t>
            </a:r>
          </a:p>
        </p:txBody>
      </p:sp>
      <p:sp>
        <p:nvSpPr>
          <p:cNvPr id="71" name="Rectangle 70"/>
          <p:cNvSpPr/>
          <p:nvPr/>
        </p:nvSpPr>
        <p:spPr>
          <a:xfrm>
            <a:off x="996696" y="7516367"/>
            <a:ext cx="1956816"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24712" y="7552944"/>
            <a:ext cx="1700784"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2025-Q4</a:t>
            </a:r>
          </a:p>
        </p:txBody>
      </p:sp>
      <p:sp>
        <p:nvSpPr>
          <p:cNvPr id="73" name="TextBox 72"/>
          <p:cNvSpPr txBox="1"/>
          <p:nvPr/>
        </p:nvSpPr>
        <p:spPr>
          <a:xfrm>
            <a:off x="1124712" y="7754112"/>
            <a:ext cx="1700784"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DRAM 1위 탈환</a:t>
            </a:r>
          </a:p>
        </p:txBody>
      </p:sp>
      <p:sp>
        <p:nvSpPr>
          <p:cNvPr id="74" name="Rectangle 73"/>
          <p:cNvSpPr/>
          <p:nvPr/>
        </p:nvSpPr>
        <p:spPr>
          <a:xfrm>
            <a:off x="3081528" y="7516367"/>
            <a:ext cx="1956816"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09544" y="7552944"/>
            <a:ext cx="1700784"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2026-02</a:t>
            </a:r>
          </a:p>
        </p:txBody>
      </p:sp>
      <p:sp>
        <p:nvSpPr>
          <p:cNvPr id="76" name="TextBox 75"/>
          <p:cNvSpPr txBox="1"/>
          <p:nvPr/>
        </p:nvSpPr>
        <p:spPr>
          <a:xfrm>
            <a:off x="3209544" y="7754112"/>
            <a:ext cx="1700784"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업계 최초 상용 HBM4 출하</a:t>
            </a:r>
          </a:p>
        </p:txBody>
      </p:sp>
      <p:sp>
        <p:nvSpPr>
          <p:cNvPr id="77" name="Rectangle 76"/>
          <p:cNvSpPr/>
          <p:nvPr/>
        </p:nvSpPr>
        <p:spPr>
          <a:xfrm>
            <a:off x="5166360" y="7516367"/>
            <a:ext cx="1956816"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294376" y="7552944"/>
            <a:ext cx="1700784"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2026-Q2</a:t>
            </a:r>
          </a:p>
        </p:txBody>
      </p:sp>
      <p:sp>
        <p:nvSpPr>
          <p:cNvPr id="79" name="TextBox 78"/>
          <p:cNvSpPr txBox="1"/>
          <p:nvPr/>
        </p:nvSpPr>
        <p:spPr>
          <a:xfrm>
            <a:off x="5294376" y="7754112"/>
            <a:ext cx="1700784"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HBM 점유 33% · 직전 분기 +12%p</a:t>
            </a:r>
          </a:p>
        </p:txBody>
      </p:sp>
      <p:sp>
        <p:nvSpPr>
          <p:cNvPr id="80" name="TextBox 79"/>
          <p:cNvSpPr txBox="1"/>
          <p:nvPr/>
        </p:nvSpPr>
        <p:spPr>
          <a:xfrm>
            <a:off x="996696" y="8156448"/>
            <a:ext cx="6126480"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변수는 판단을 끊지 않는 것입니다 · 다음 수요에서 같은 판단을 다시 해야 합니다</a:t>
            </a:r>
          </a:p>
        </p:txBody>
      </p:sp>
      <p:sp>
        <p:nvSpPr>
          <p:cNvPr id="81" name="Rectangle 80"/>
          <p:cNvSpPr/>
          <p:nvPr/>
        </p:nvSpPr>
        <p:spPr>
          <a:xfrm>
            <a:off x="7616952" y="2560320"/>
            <a:ext cx="502920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616952" y="2560320"/>
            <a:ext cx="502920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836408" y="2706624"/>
            <a:ext cx="459028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구매 기준의 이동</a:t>
            </a:r>
          </a:p>
        </p:txBody>
      </p:sp>
      <p:sp>
        <p:nvSpPr>
          <p:cNvPr id="84" name="TextBox 83"/>
          <p:cNvSpPr txBox="1"/>
          <p:nvPr/>
        </p:nvSpPr>
        <p:spPr>
          <a:xfrm>
            <a:off x="7836408" y="2980944"/>
            <a:ext cx="459028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고객이 무엇으로 고르는가</a:t>
            </a:r>
          </a:p>
        </p:txBody>
      </p:sp>
      <p:sp>
        <p:nvSpPr>
          <p:cNvPr id="85" name="Rectangle 84"/>
          <p:cNvSpPr/>
          <p:nvPr/>
        </p:nvSpPr>
        <p:spPr>
          <a:xfrm>
            <a:off x="7891272" y="3346703"/>
            <a:ext cx="4480560" cy="8595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074152" y="3419856"/>
            <a:ext cx="4114800"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2008 ~ 2012</a:t>
            </a:r>
          </a:p>
        </p:txBody>
      </p:sp>
      <p:sp>
        <p:nvSpPr>
          <p:cNvPr id="87" name="TextBox 86"/>
          <p:cNvSpPr txBox="1"/>
          <p:nvPr/>
        </p:nvSpPr>
        <p:spPr>
          <a:xfrm>
            <a:off x="8074152" y="3602735"/>
            <a:ext cx="4114800" cy="274320"/>
          </a:xfrm>
          <a:prstGeom prst="rect">
            <a:avLst/>
          </a:prstGeom>
          <a:noFill/>
        </p:spPr>
        <p:txBody>
          <a:bodyPr wrap="square" anchor="t" lIns="0" rIns="0" tIns="0" bIns="0">
            <a:spAutoFit/>
          </a:bodyPr>
          <a:lstStyle/>
          <a:p>
            <a:pPr algn="l">
              <a:lnSpc>
                <a:spcPct val="112000"/>
              </a:lnSpc>
            </a:pPr>
            <a:r>
              <a:rPr sz="1400" b="1">
                <a:solidFill>
                  <a:srgbClr val="1A1A1A"/>
                </a:solidFill>
                <a:latin typeface="Arial"/>
                <a:ea typeface="Arial"/>
              </a:rPr>
              <a:t>성능 · 용량당 가격</a:t>
            </a:r>
          </a:p>
        </p:txBody>
      </p:sp>
      <p:sp>
        <p:nvSpPr>
          <p:cNvPr id="88" name="TextBox 87"/>
          <p:cNvSpPr txBox="1"/>
          <p:nvPr/>
        </p:nvSpPr>
        <p:spPr>
          <a:xfrm>
            <a:off x="8074152" y="3895344"/>
            <a:ext cx="4114800" cy="237744"/>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IOPS · 대역폭</a:t>
            </a:r>
          </a:p>
        </p:txBody>
      </p:sp>
      <p:sp>
        <p:nvSpPr>
          <p:cNvPr id="89" name="Down Arrow 88"/>
          <p:cNvSpPr/>
          <p:nvPr/>
        </p:nvSpPr>
        <p:spPr>
          <a:xfrm>
            <a:off x="10040112" y="4187952"/>
            <a:ext cx="182880" cy="146304"/>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891272" y="4315968"/>
            <a:ext cx="4480560" cy="8595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074152" y="4389120"/>
            <a:ext cx="4114800"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2012 ~ 2021</a:t>
            </a:r>
          </a:p>
        </p:txBody>
      </p:sp>
      <p:sp>
        <p:nvSpPr>
          <p:cNvPr id="92" name="TextBox 91"/>
          <p:cNvSpPr txBox="1"/>
          <p:nvPr/>
        </p:nvSpPr>
        <p:spPr>
          <a:xfrm>
            <a:off x="8074152" y="4572000"/>
            <a:ext cx="4114800" cy="274320"/>
          </a:xfrm>
          <a:prstGeom prst="rect">
            <a:avLst/>
          </a:prstGeom>
          <a:noFill/>
        </p:spPr>
        <p:txBody>
          <a:bodyPr wrap="square" anchor="t" lIns="0" rIns="0" tIns="0" bIns="0">
            <a:spAutoFit/>
          </a:bodyPr>
          <a:lstStyle/>
          <a:p>
            <a:pPr algn="l">
              <a:lnSpc>
                <a:spcPct val="112000"/>
              </a:lnSpc>
            </a:pPr>
            <a:r>
              <a:rPr sz="1400" b="1">
                <a:solidFill>
                  <a:srgbClr val="1A1A1A"/>
                </a:solidFill>
                <a:latin typeface="Arial"/>
                <a:ea typeface="Arial"/>
              </a:rPr>
              <a:t>QoS · 지연 꼬리</a:t>
            </a:r>
          </a:p>
        </p:txBody>
      </p:sp>
      <p:sp>
        <p:nvSpPr>
          <p:cNvPr id="93" name="TextBox 92"/>
          <p:cNvSpPr txBox="1"/>
          <p:nvPr/>
        </p:nvSpPr>
        <p:spPr>
          <a:xfrm>
            <a:off x="8074152" y="4864607"/>
            <a:ext cx="4114800" cy="237744"/>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99.9999% 지연이 조달 요건으로</a:t>
            </a:r>
          </a:p>
        </p:txBody>
      </p:sp>
      <p:sp>
        <p:nvSpPr>
          <p:cNvPr id="94" name="Down Arrow 93"/>
          <p:cNvSpPr/>
          <p:nvPr/>
        </p:nvSpPr>
        <p:spPr>
          <a:xfrm>
            <a:off x="10040112" y="5157216"/>
            <a:ext cx="182880" cy="146304"/>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891272" y="5285231"/>
            <a:ext cx="4480560"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074152" y="5358383"/>
            <a:ext cx="4114800" cy="182880"/>
          </a:xfrm>
          <a:prstGeom prst="rect">
            <a:avLst/>
          </a:prstGeom>
          <a:noFill/>
        </p:spPr>
        <p:txBody>
          <a:bodyPr wrap="square" anchor="t" lIns="0" rIns="0" tIns="0" bIns="0">
            <a:spAutoFit/>
          </a:bodyPr>
          <a:lstStyle/>
          <a:p>
            <a:pPr algn="l">
              <a:lnSpc>
                <a:spcPct val="112000"/>
              </a:lnSpc>
            </a:pPr>
            <a:r>
              <a:rPr sz="950" b="0">
                <a:solidFill>
                  <a:srgbClr val="AAB8E8"/>
                </a:solidFill>
                <a:latin typeface="Arial"/>
                <a:ea typeface="Arial"/>
              </a:rPr>
              <a:t>2022 ~ 2026</a:t>
            </a:r>
          </a:p>
        </p:txBody>
      </p:sp>
      <p:sp>
        <p:nvSpPr>
          <p:cNvPr id="97" name="TextBox 96"/>
          <p:cNvSpPr txBox="1"/>
          <p:nvPr/>
        </p:nvSpPr>
        <p:spPr>
          <a:xfrm>
            <a:off x="8074152" y="5541264"/>
            <a:ext cx="4114800" cy="274320"/>
          </a:xfrm>
          <a:prstGeom prst="rect">
            <a:avLst/>
          </a:prstGeom>
          <a:noFill/>
        </p:spPr>
        <p:txBody>
          <a:bodyPr wrap="square" anchor="t" lIns="0" rIns="0" tIns="0" bIns="0">
            <a:spAutoFit/>
          </a:bodyPr>
          <a:lstStyle/>
          <a:p>
            <a:pPr algn="l">
              <a:lnSpc>
                <a:spcPct val="112000"/>
              </a:lnSpc>
            </a:pPr>
            <a:r>
              <a:rPr sz="1400" b="1">
                <a:solidFill>
                  <a:srgbClr val="FFFFFF"/>
                </a:solidFill>
                <a:latin typeface="Arial"/>
                <a:ea typeface="Arial"/>
              </a:rPr>
              <a:t>용량 밀도 · 전력 · 물량</a:t>
            </a:r>
          </a:p>
        </p:txBody>
      </p:sp>
      <p:sp>
        <p:nvSpPr>
          <p:cNvPr id="98" name="TextBox 97"/>
          <p:cNvSpPr txBox="1"/>
          <p:nvPr/>
        </p:nvSpPr>
        <p:spPr>
          <a:xfrm>
            <a:off x="8074152" y="5833871"/>
            <a:ext cx="4114800" cy="237744"/>
          </a:xfrm>
          <a:prstGeom prst="rect">
            <a:avLst/>
          </a:prstGeom>
          <a:noFill/>
        </p:spPr>
        <p:txBody>
          <a:bodyPr wrap="square" anchor="t" lIns="0" rIns="0" tIns="0" bIns="0">
            <a:spAutoFit/>
          </a:bodyPr>
          <a:lstStyle/>
          <a:p>
            <a:pPr algn="l">
              <a:lnSpc>
                <a:spcPct val="112000"/>
              </a:lnSpc>
            </a:pPr>
            <a:r>
              <a:rPr sz="950" b="0">
                <a:solidFill>
                  <a:srgbClr val="AAB8E8"/>
                </a:solidFill>
                <a:latin typeface="Arial"/>
                <a:ea typeface="Arial"/>
              </a:rPr>
              <a:t>슬롯당 TB · TB당 와트 · 공급 보장</a:t>
            </a:r>
          </a:p>
        </p:txBody>
      </p:sp>
      <p:sp>
        <p:nvSpPr>
          <p:cNvPr id="99" name="Rectangle 98"/>
          <p:cNvSpPr/>
          <p:nvPr/>
        </p:nvSpPr>
        <p:spPr>
          <a:xfrm>
            <a:off x="7891272" y="6400800"/>
            <a:ext cx="4480560" cy="148132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074152" y="6510528"/>
            <a:ext cx="4114800" cy="219456"/>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그 위에 새 축이 하나 올라왔습니다</a:t>
            </a:r>
          </a:p>
        </p:txBody>
      </p:sp>
      <p:sp>
        <p:nvSpPr>
          <p:cNvPr id="101" name="TextBox 100"/>
          <p:cNvSpPr txBox="1"/>
          <p:nvPr/>
        </p:nvSpPr>
        <p:spPr>
          <a:xfrm>
            <a:off x="8074152" y="6729984"/>
            <a:ext cx="4114800" cy="310896"/>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KV 캐시 오프로드 → 내구성</a:t>
            </a:r>
          </a:p>
        </p:txBody>
      </p:sp>
      <p:sp>
        <p:nvSpPr>
          <p:cNvPr id="102" name="TextBox 101"/>
          <p:cNvSpPr txBox="1"/>
          <p:nvPr/>
        </p:nvSpPr>
        <p:spPr>
          <a:xfrm>
            <a:off x="8074152" y="7059168"/>
            <a:ext cx="4114800" cy="457200"/>
          </a:xfrm>
          <a:prstGeom prst="rect">
            <a:avLst/>
          </a:prstGeom>
          <a:noFill/>
        </p:spPr>
        <p:txBody>
          <a:bodyPr wrap="square" anchor="t" lIns="0" rIns="0" tIns="0" bIns="0">
            <a:spAutoFit/>
          </a:bodyPr>
          <a:lstStyle/>
          <a:p>
            <a:pPr algn="l">
              <a:lnSpc>
                <a:spcPct val="106000"/>
              </a:lnSpc>
            </a:pPr>
            <a:r>
              <a:rPr sz="1000" b="0">
                <a:solidFill>
                  <a:srgbClr val="555555"/>
                </a:solidFill>
                <a:latin typeface="Arial"/>
                <a:ea typeface="Arial"/>
              </a:rPr>
              <a:t>추론 캐시 계층은 쓰기가 몰리는 첫 대용량 계층입니다</a:t>
            </a:r>
          </a:p>
          <a:p>
            <a:pPr algn="l">
              <a:lnSpc>
                <a:spcPct val="106000"/>
              </a:lnSpc>
            </a:pPr>
            <a:r>
              <a:rPr sz="1000" b="0">
                <a:solidFill>
                  <a:srgbClr val="555555"/>
                </a:solidFill>
                <a:latin typeface="Arial"/>
                <a:ea typeface="Arial"/>
              </a:rPr>
              <a:t>Kioxia는 이 계층 제품으로 CM9 TLC 3 DWPD를 지목했습니다</a:t>
            </a:r>
          </a:p>
        </p:txBody>
      </p:sp>
      <p:sp>
        <p:nvSpPr>
          <p:cNvPr id="103" name="Rectangle 102"/>
          <p:cNvSpPr/>
          <p:nvPr/>
        </p:nvSpPr>
        <p:spPr>
          <a:xfrm>
            <a:off x="8074152" y="7534656"/>
            <a:ext cx="4114800" cy="2560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074152" y="7534656"/>
            <a:ext cx="4114800" cy="256032"/>
          </a:xfrm>
          <a:prstGeom prst="rect">
            <a:avLst/>
          </a:prstGeom>
          <a:noFill/>
        </p:spPr>
        <p:txBody>
          <a:bodyPr wrap="square" anchor="ctr" lIns="0" rIns="0" tIns="0" bIns="0">
            <a:spAutoFit/>
          </a:bodyPr>
          <a:lstStyle/>
          <a:p>
            <a:pPr algn="ctr">
              <a:lnSpc>
                <a:spcPct val="112000"/>
              </a:lnSpc>
            </a:pPr>
            <a:r>
              <a:rPr sz="1275" b="1">
                <a:solidFill>
                  <a:srgbClr val="1428A0"/>
                </a:solidFill>
                <a:latin typeface="Arial"/>
                <a:ea typeface="Arial"/>
              </a:rPr>
              <a:t>요구 DWPD 1 ~ 3</a:t>
            </a:r>
          </a:p>
        </p:txBody>
      </p:sp>
      <p:sp>
        <p:nvSpPr>
          <p:cNvPr id="105" name="TextBox 104"/>
          <p:cNvSpPr txBox="1"/>
          <p:nvPr/>
        </p:nvSpPr>
        <p:spPr>
          <a:xfrm>
            <a:off x="7891272" y="7991856"/>
            <a:ext cx="4480560" cy="219456"/>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추론 수요 CAGR 86% · 학습 16% (Kioxia)</a:t>
            </a:r>
          </a:p>
        </p:txBody>
      </p:sp>
      <p:sp>
        <p:nvSpPr>
          <p:cNvPr id="106" name="Rectangle 105"/>
          <p:cNvSpPr/>
          <p:nvPr/>
        </p:nvSpPr>
        <p:spPr>
          <a:xfrm>
            <a:off x="12865608" y="2560320"/>
            <a:ext cx="470001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2865608" y="2560320"/>
            <a:ext cx="470001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085064" y="2706624"/>
            <a:ext cx="426110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고객은 QLC를 원한다</a:t>
            </a:r>
          </a:p>
        </p:txBody>
      </p:sp>
      <p:sp>
        <p:nvSpPr>
          <p:cNvPr id="109" name="TextBox 108"/>
          <p:cNvSpPr txBox="1"/>
          <p:nvPr/>
        </p:nvSpPr>
        <p:spPr>
          <a:xfrm>
            <a:off x="13085064" y="2980944"/>
            <a:ext cx="426110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TLC면 되는데 왜 QLC인가</a:t>
            </a:r>
          </a:p>
        </p:txBody>
      </p:sp>
      <p:sp>
        <p:nvSpPr>
          <p:cNvPr id="110" name="TextBox 109"/>
          <p:cNvSpPr txBox="1"/>
          <p:nvPr/>
        </p:nvSpPr>
        <p:spPr>
          <a:xfrm>
            <a:off x="13139928" y="3346703"/>
            <a:ext cx="4151376"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같은 요구 1~3 DWPD를 두 방법으로 볼 수 있습니다</a:t>
            </a:r>
          </a:p>
        </p:txBody>
      </p:sp>
      <p:sp>
        <p:nvSpPr>
          <p:cNvPr id="111" name="Rectangle 110"/>
          <p:cNvSpPr/>
          <p:nvPr/>
        </p:nvSpPr>
        <p:spPr>
          <a:xfrm>
            <a:off x="13139928" y="3602735"/>
            <a:ext cx="2002536" cy="17922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3139928" y="3602735"/>
            <a:ext cx="2002536"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3286232" y="3694175"/>
            <a:ext cx="1709928" cy="274320"/>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14" name="TextBox 113"/>
          <p:cNvSpPr txBox="1"/>
          <p:nvPr/>
        </p:nvSpPr>
        <p:spPr>
          <a:xfrm>
            <a:off x="13286232" y="3968496"/>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요구는 만족</a:t>
            </a:r>
          </a:p>
        </p:txBody>
      </p:sp>
      <p:sp>
        <p:nvSpPr>
          <p:cNvPr id="115" name="TextBox 114"/>
          <p:cNvSpPr txBox="1"/>
          <p:nvPr/>
        </p:nvSpPr>
        <p:spPr>
          <a:xfrm>
            <a:off x="13286232" y="4206240"/>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16" name="TextBox 115"/>
          <p:cNvSpPr txBox="1"/>
          <p:nvPr/>
        </p:nvSpPr>
        <p:spPr>
          <a:xfrm>
            <a:off x="13286232" y="4352544"/>
            <a:ext cx="170992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1 ~ 3 DWPD</a:t>
            </a:r>
          </a:p>
        </p:txBody>
      </p:sp>
      <p:sp>
        <p:nvSpPr>
          <p:cNvPr id="117" name="TextBox 116"/>
          <p:cNvSpPr txBox="1"/>
          <p:nvPr/>
        </p:nvSpPr>
        <p:spPr>
          <a:xfrm>
            <a:off x="13286232" y="459028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 밀도</a:t>
            </a:r>
          </a:p>
        </p:txBody>
      </p:sp>
      <p:sp>
        <p:nvSpPr>
          <p:cNvPr id="118" name="TextBox 117"/>
          <p:cNvSpPr txBox="1"/>
          <p:nvPr/>
        </p:nvSpPr>
        <p:spPr>
          <a:xfrm>
            <a:off x="13286232" y="4736592"/>
            <a:ext cx="170992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61TB급</a:t>
            </a:r>
          </a:p>
        </p:txBody>
      </p:sp>
      <p:sp>
        <p:nvSpPr>
          <p:cNvPr id="119" name="TextBox 118"/>
          <p:cNvSpPr txBox="1"/>
          <p:nvPr/>
        </p:nvSpPr>
        <p:spPr>
          <a:xfrm>
            <a:off x="13286232" y="497433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TB당 가격</a:t>
            </a:r>
          </a:p>
        </p:txBody>
      </p:sp>
      <p:sp>
        <p:nvSpPr>
          <p:cNvPr id="120" name="TextBox 119"/>
          <p:cNvSpPr txBox="1"/>
          <p:nvPr/>
        </p:nvSpPr>
        <p:spPr>
          <a:xfrm>
            <a:off x="13286232" y="5120640"/>
            <a:ext cx="170992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기준</a:t>
            </a:r>
          </a:p>
        </p:txBody>
      </p:sp>
      <p:sp>
        <p:nvSpPr>
          <p:cNvPr id="121" name="Rectangle 120"/>
          <p:cNvSpPr/>
          <p:nvPr/>
        </p:nvSpPr>
        <p:spPr>
          <a:xfrm>
            <a:off x="15288768" y="3602735"/>
            <a:ext cx="2002536" cy="179222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5288768" y="3602735"/>
            <a:ext cx="20025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5435072" y="3694175"/>
            <a:ext cx="1709928"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24" name="TextBox 123"/>
          <p:cNvSpPr txBox="1"/>
          <p:nvPr/>
        </p:nvSpPr>
        <p:spPr>
          <a:xfrm>
            <a:off x="15435072" y="3968496"/>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요구가 부족</a:t>
            </a:r>
          </a:p>
        </p:txBody>
      </p:sp>
      <p:sp>
        <p:nvSpPr>
          <p:cNvPr id="125" name="TextBox 124"/>
          <p:cNvSpPr txBox="1"/>
          <p:nvPr/>
        </p:nvSpPr>
        <p:spPr>
          <a:xfrm>
            <a:off x="15435072" y="4206240"/>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26" name="TextBox 125"/>
          <p:cNvSpPr txBox="1"/>
          <p:nvPr/>
        </p:nvSpPr>
        <p:spPr>
          <a:xfrm>
            <a:off x="15435072" y="4352544"/>
            <a:ext cx="170992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0.6 DWPD</a:t>
            </a:r>
          </a:p>
        </p:txBody>
      </p:sp>
      <p:sp>
        <p:nvSpPr>
          <p:cNvPr id="127" name="TextBox 126"/>
          <p:cNvSpPr txBox="1"/>
          <p:nvPr/>
        </p:nvSpPr>
        <p:spPr>
          <a:xfrm>
            <a:off x="15435072" y="459028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 밀도</a:t>
            </a:r>
          </a:p>
        </p:txBody>
      </p:sp>
      <p:sp>
        <p:nvSpPr>
          <p:cNvPr id="128" name="TextBox 127"/>
          <p:cNvSpPr txBox="1"/>
          <p:nvPr/>
        </p:nvSpPr>
        <p:spPr>
          <a:xfrm>
            <a:off x="15435072" y="4736592"/>
            <a:ext cx="170992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245TB급 · 4배</a:t>
            </a:r>
          </a:p>
        </p:txBody>
      </p:sp>
      <p:sp>
        <p:nvSpPr>
          <p:cNvPr id="129" name="TextBox 128"/>
          <p:cNvSpPr txBox="1"/>
          <p:nvPr/>
        </p:nvSpPr>
        <p:spPr>
          <a:xfrm>
            <a:off x="15435072" y="497433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TB당 가격</a:t>
            </a:r>
          </a:p>
        </p:txBody>
      </p:sp>
      <p:sp>
        <p:nvSpPr>
          <p:cNvPr id="130" name="TextBox 129"/>
          <p:cNvSpPr txBox="1"/>
          <p:nvPr/>
        </p:nvSpPr>
        <p:spPr>
          <a:xfrm>
            <a:off x="15435072" y="5120640"/>
            <a:ext cx="170992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20~30% 저렴</a:t>
            </a:r>
          </a:p>
        </p:txBody>
      </p:sp>
      <p:sp>
        <p:nvSpPr>
          <p:cNvPr id="131" name="TextBox 130"/>
          <p:cNvSpPr txBox="1"/>
          <p:nvPr/>
        </p:nvSpPr>
        <p:spPr>
          <a:xfrm>
            <a:off x="13139928" y="5541264"/>
            <a:ext cx="4151376"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QLC가 채워야 할 거리</a:t>
            </a:r>
          </a:p>
        </p:txBody>
      </p:sp>
      <p:sp>
        <p:nvSpPr>
          <p:cNvPr id="132" name="TextBox 131"/>
          <p:cNvSpPr txBox="1"/>
          <p:nvPr/>
        </p:nvSpPr>
        <p:spPr>
          <a:xfrm>
            <a:off x="13139928" y="5742431"/>
            <a:ext cx="4151376" cy="603504"/>
          </a:xfrm>
          <a:prstGeom prst="rect">
            <a:avLst/>
          </a:prstGeom>
          <a:noFill/>
        </p:spPr>
        <p:txBody>
          <a:bodyPr wrap="square" anchor="ctr" lIns="0" rIns="0" tIns="0" bIns="0">
            <a:spAutoFit/>
          </a:bodyPr>
          <a:lstStyle/>
          <a:p>
            <a:pPr algn="l">
              <a:lnSpc>
                <a:spcPct val="112000"/>
              </a:lnSpc>
            </a:pPr>
            <a:r>
              <a:rPr sz="3400" b="1">
                <a:solidFill>
                  <a:srgbClr val="1428A0"/>
                </a:solidFill>
                <a:latin typeface="Arial"/>
                <a:ea typeface="Arial"/>
              </a:rPr>
              <a:t>2 ~ 5배</a:t>
            </a:r>
          </a:p>
        </p:txBody>
      </p:sp>
      <p:sp>
        <p:nvSpPr>
          <p:cNvPr id="133" name="TextBox 132"/>
          <p:cNvSpPr txBox="1"/>
          <p:nvPr/>
        </p:nvSpPr>
        <p:spPr>
          <a:xfrm>
            <a:off x="13139928" y="6345936"/>
            <a:ext cx="4151376"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요구 1~3 DWPD ÷ 현 QLC 정격 0.6</a:t>
            </a:r>
          </a:p>
        </p:txBody>
      </p:sp>
      <p:sp>
        <p:nvSpPr>
          <p:cNvPr id="134" name="Rectangle 133"/>
          <p:cNvSpPr/>
          <p:nvPr/>
        </p:nvSpPr>
        <p:spPr>
          <a:xfrm>
            <a:off x="13139928" y="6656831"/>
            <a:ext cx="4151376" cy="15544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3341096" y="6784847"/>
            <a:ext cx="3749040" cy="1298448"/>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고객은 QLC의 밀도와 원가를 원하면서 TLC의 내구성을 요구합니다</a:t>
            </a:r>
          </a:p>
          <a:p>
            <a:pPr algn="l">
              <a:lnSpc>
                <a:spcPct val="112000"/>
              </a:lnSpc>
            </a:pPr>
            <a:r>
              <a:rPr sz="1125" b="0">
                <a:solidFill>
                  <a:srgbClr val="AAB8E8"/>
                </a:solidFill>
                <a:latin typeface="Arial"/>
                <a:ea typeface="Arial"/>
              </a:rPr>
              <a:t>이 간극을 메우는 것이 우리가 풀 문제입니다</a:t>
            </a:r>
          </a:p>
        </p:txBody>
      </p:sp>
      <p:sp>
        <p:nvSpPr>
          <p:cNvPr id="136" name="Rectangle 13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38" name="TextBox 137"/>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고객과 함께 수요를 설계하고 판단을 끊지 않는 것이 HBM의 교훈이었고, 지금 그 수요는 KV 캐시의 내구성입니다.</a:t>
            </a:r>
          </a:p>
          <a:p>
            <a:pPr algn="l">
              <a:lnSpc>
                <a:spcPct val="108000"/>
              </a:lnSpc>
            </a:pPr>
            <a:r>
              <a:rPr sz="1650" b="1">
                <a:solidFill>
                  <a:srgbClr val="FFFFFF"/>
                </a:solidFill>
                <a:latin typeface="Arial"/>
                <a:ea typeface="Arial"/>
              </a:rPr>
              <a:t>고객은 QLC의 밀도와 원가로 TLC의 1~3 DWPD를 요구하며, 현 정격 0.6과는 2~5배 거리가 있습니다</a:t>
            </a:r>
          </a:p>
        </p:txBody>
      </p:sp>
      <p:sp>
        <p:nvSpPr>
          <p:cNvPr id="139" name="Rectangle 138"/>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42" name="TextBox 14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AMD·SK하이닉스 HBM 공동 개발(2013-12), JEDEC JESD238·270-4, NVIDIA·SK하이닉스 다년 기술 파트너십(2026-06-07), CNBC 2024-11-08(2019년 조직 판단 ⚠️ 단일 출처 계열), Counterpoint·TrendForce(점유율), Kioxia GTC 2026, Solidigm·Kioxia 사양</a:t>
            </a:r>
          </a:p>
        </p:txBody>
      </p:sp>
      <p:sp>
        <p:nvSpPr>
          <p:cNvPr id="143" name="TextBox 14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6696"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9786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2" name="Rectangle 41"/>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46376"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47543"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5" name="Rectangle 44"/>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6056"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9722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48" name="TextBox 47"/>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49" name="Down Arrow 48"/>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1" name="Rectangle 50"/>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5044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629918"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09394"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8887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68346"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147822"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5272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906774"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61" name="Rectangle 60"/>
          <p:cNvSpPr/>
          <p:nvPr/>
        </p:nvSpPr>
        <p:spPr>
          <a:xfrm>
            <a:off x="125044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2991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0939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38887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68346"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47822"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5272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0677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70" name="Rectangle 69"/>
          <p:cNvSpPr/>
          <p:nvPr/>
        </p:nvSpPr>
        <p:spPr>
          <a:xfrm>
            <a:off x="125044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29918"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0939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8887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76834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14782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5272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90677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79" name="Rectangle 78"/>
          <p:cNvSpPr/>
          <p:nvPr/>
        </p:nvSpPr>
        <p:spPr>
          <a:xfrm>
            <a:off x="125044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29918"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0939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38887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76834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4782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52729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9067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88" name="TextBox 87"/>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89" name="Rectangle 88"/>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91" name="Rectangle 90"/>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93" name="TextBox 92"/>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94" name="TextBox 93"/>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95" name="TextBox 94"/>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96" name="TextBox 95"/>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97" name="TextBox 96"/>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98" name="Rectangle 97"/>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00" name="TextBox 99"/>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01" name="Rectangle 100"/>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257800"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45896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04" name="Rectangle 103"/>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07480"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70864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07" name="Rectangle 106"/>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757159"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832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10" name="TextBox 109"/>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11" name="Down Arrow 110"/>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13" name="Rectangle 112"/>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51154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89102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704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4997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029450"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408925"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788402"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67878"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23" name="Rectangle 122"/>
          <p:cNvSpPr/>
          <p:nvPr/>
        </p:nvSpPr>
        <p:spPr>
          <a:xfrm>
            <a:off x="551154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9102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2704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4997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0294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408925"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788402"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6787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32" name="Rectangle 131"/>
          <p:cNvSpPr/>
          <p:nvPr/>
        </p:nvSpPr>
        <p:spPr>
          <a:xfrm>
            <a:off x="551154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89102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2704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4997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029450"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408925"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884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81678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41" name="Rectangle 140"/>
          <p:cNvSpPr/>
          <p:nvPr/>
        </p:nvSpPr>
        <p:spPr>
          <a:xfrm>
            <a:off x="551154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89102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27049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499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0294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8925"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788402"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16787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50" name="TextBox 14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51" name="Rectangle 15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153" name="Rectangle 15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155" name="TextBox 15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156" name="TextBox 15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57" name="TextBox 15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158" name="TextBox 15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159" name="TextBox 15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160" name="Rectangle 15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162" name="TextBox 16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163" name="Rectangle 16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518903"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2007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66" name="Rectangle 165"/>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0768583"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096975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69" name="Rectangle 168"/>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2018264"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21943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72" name="TextBox 171"/>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173" name="Down Arrow 172"/>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175" name="Rectangle 174"/>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977265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15212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53160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091107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12905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16700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20495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124289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85" name="Rectangle 184"/>
          <p:cNvSpPr/>
          <p:nvPr/>
        </p:nvSpPr>
        <p:spPr>
          <a:xfrm>
            <a:off x="97726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015212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53160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091107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12905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16700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0495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24289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94" name="Rectangle 193"/>
          <p:cNvSpPr/>
          <p:nvPr/>
        </p:nvSpPr>
        <p:spPr>
          <a:xfrm>
            <a:off x="977265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015212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5316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09110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129055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167003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20495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242898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97726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15212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53160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91107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129055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16700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204950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242898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12" name="TextBox 211"/>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13" name="Rectangle 212"/>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215" name="Rectangle 214"/>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217" name="TextBox 216"/>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218" name="TextBox 217"/>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19" name="TextBox 218"/>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220" name="TextBox 219"/>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221" name="TextBox 220"/>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222" name="Rectangle 221"/>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224" name="TextBox 223"/>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225" name="Rectangle 224"/>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3780007"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398117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28" name="Rectangle 227"/>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029688"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523085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1" name="Rectangle 230"/>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6279368"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648053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234" name="TextBox 233"/>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235" name="Down Arrow 234"/>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237" name="Rectangle 236"/>
          <p:cNvSpPr/>
          <p:nvPr/>
        </p:nvSpPr>
        <p:spPr>
          <a:xfrm>
            <a:off x="140337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132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47927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51721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55165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593113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6310609"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669008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46" name="Rectangle 245"/>
          <p:cNvSpPr/>
          <p:nvPr/>
        </p:nvSpPr>
        <p:spPr>
          <a:xfrm>
            <a:off x="140337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44132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147927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151721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1555165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1593113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6310609"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669008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55" name="Rectangle 254"/>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403375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4413230"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47927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517218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555165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15931134"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16310609"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669008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65" name="Rectangle 264"/>
          <p:cNvSpPr/>
          <p:nvPr/>
        </p:nvSpPr>
        <p:spPr>
          <a:xfrm>
            <a:off x="14033754"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44132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479270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517218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555165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593113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6310609"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669008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74" name="TextBox 27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75" name="Rectangle 27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277" name="Rectangle 27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79" name="TextBox 27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280" name="TextBox 27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81" name="TextBox 28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282" name="TextBox 28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283" name="TextBox 28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284" name="Rectangle 28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287" name="Rectangle 286"/>
          <p:cNvSpPr/>
          <p:nvPr/>
        </p:nvSpPr>
        <p:spPr>
          <a:xfrm>
            <a:off x="1636776" y="798271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83794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289" name="Rectangle 288"/>
          <p:cNvSpPr/>
          <p:nvPr/>
        </p:nvSpPr>
        <p:spPr>
          <a:xfrm>
            <a:off x="2642616" y="7982711"/>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284378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291" name="Rectangle 290"/>
          <p:cNvSpPr/>
          <p:nvPr/>
        </p:nvSpPr>
        <p:spPr>
          <a:xfrm>
            <a:off x="3648456" y="7982711"/>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384962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293" name="Rectangle 292"/>
          <p:cNvSpPr/>
          <p:nvPr/>
        </p:nvSpPr>
        <p:spPr>
          <a:xfrm>
            <a:off x="4654296" y="7982711"/>
            <a:ext cx="146304" cy="146304"/>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4855464" y="7936992"/>
            <a:ext cx="18288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a:t>
            </a:r>
          </a:p>
        </p:txBody>
      </p:sp>
      <p:sp>
        <p:nvSpPr>
          <p:cNvPr id="295" name="TextBox 294"/>
          <p:cNvSpPr txBox="1"/>
          <p:nvPr/>
        </p:nvSpPr>
        <p:spPr>
          <a:xfrm>
            <a:off x="6757416"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296" name="TextBox 295"/>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297" name="Rectangle 29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299" name="TextBox 29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300" name="Rectangle 29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303" name="TextBox 3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304" name="TextBox 3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