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배경 한 장입니다. 2022년은 QLC 주문의 해가 아니라 조건이 갖춰진 해였습니다: 전문 벤더(Solidigm) 출범, 하이퍼스케일러 주도 폼팩터(E1.S/E1.L), Meta·Google의 배치 표준 비준(2022-12), NAND 가격 급락, 학습 데이터셋 6배. 하이퍼스케일러가 원한 것은 HDD 대역폭 붕괴를 메우는 용량 계층(Meta: 10 MB/s/TB), 공급자가 판 것은 1U에 1PB의 TCO였습니다. 물량은 AI 추론 서버의 전력 효율이 우선순위가 된 2024년에 터졌습니다(TrendForce 30EB, 4배). 구매 기준은 TB당 원가·랙 밀도 → TB당 와트·공급 확보 → 유효 DWPD·토큰 경제성으로 이동합니다. 향후 3~5년 공급 부족 국면에서 HDD 대체는 커머디티 경쟁이라 들어가지 않고, KV cache 오프로드가 만드는 추론 캐시 티어를 QLC로 가져갑니다. 이 티어는 오늘 TLC(1~3 DWPD)가 서비스합니다. 그래프: 비트는 10배, 가격 정상화 기준선에서 매출은 정체, 진한 파랑은 호스트 협력 배치가 성립할 때의 조건부 상방. 모델 가정은 위키 qlc-ssd-market.md §4.3.</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요구사항과 역량 한 장입니다. 갭 세 가지: 내구성(QLC 정격 0.075~0.6 vs TLC 1~3 DWPD, 10~40배), 스트림(RUH 2~8 vs 200+), 접점(KV 캐시 관리자 4종 코드에 배치·내구성 언급 0). 수단은 있습니다(CacheLib 실측 WAF 3.22→1.03, XFS write streams RocksDB -35%, ScaleFlux 유효 7~10 DWPD). 그림은 고객 시스템 5계층을 세 번 그리고 우리가 닿는 층을 색으로 표시하며, 각 층에 그 층을 구성하는 기술을 적었습니다. 응용·추론 엔진(vLLM·SGLang·TensorRT-LLM), KV 캐시 관리자(NVIDIA Dynamo KVBM·LMCache·Mooncake·Tencent FlexKV), I/O 라이브러리(NIXL·GPUDirect Storage·io_uring·SPDK/xNVMe), 커널·플랫폼(Linux 6.16 write streams·XFS/f2fs 스트림·NVIDIA CMX와 DOCA Memos), SSD 디바이스(컨트롤러·펌웨어 RUH·2Tb QLC·NVMe KV 확장·텔레메트리). Phase 1은 SSD 층만 우리 것입니다(KV-ready QLC). Phase 2는 캐시 관리자의 빈도 필터·퇴거 정책이 트레이스의 원천이고, I/O 라이브러리의 io_uring·GDS 백엔드에 write stream을 부착하며 커널 스트림과 CMX 힌트 매핑을 검증해 RUH 정책·WAF·유효 DWPD 실측을 공개합니다. Phase 3는 캐시 관리자 4종에 플러그인을 메인라인으로 머지하고, NIXL·xNVMe가 기본 백엔드가 되며, DOCA Memos와 배치 표준의 매핑을 NVIDIA와 공동 정의하고, 응용 층은 커넥터·스케줄러를 이해해 공용 TCO 모델(GPU당 동시 사용자·TTFT·전력)로 대화합니다. FDE(Forward Deployed Engineer)가 고객 옆에 상주합니다. 삼성 현 위치는 Phase 1 확보, Phase 2 진입: KV cache 백서 2종으로 측정 역량은 있으나 트레이스 기반 실측이 미공개이고 캐시 관리자 4종에 기여가 없습니다. 오케스트레이션 자체는 만들지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전략 한 장입니다. 목표는 두 가지이고 각각 선례가 있습니다. ① FDE(Forward Deployed Engineer)가 고객 시스템 안으로 들어갑니다. Palantir가 창안한 역할로 내부 코드명 Delta, 고객 환경 내부에 상주하며 실제 운영 제약 아래서 프로덕션 시스템을 직접 구축하고 청구 시간이 아니라 성과로 평가받습니다. 명시적 요구와 실제 요구의 간극을 현장에서 코드로 메우고, 특정 고객용 거친 해법(gravel road)이 제품 표준 기능(paved highway)으로 포장되는 피드백 루프를 만듭니다. 파급: 고객 락인의 동력이자 640% 주가 수익률의 원천으로 회자되고, Anthropic·OpenAI가 엔터프라이즈 GTM 전략으로 채택했습니다(OpenAI는 2025년 초 FDE 팀 2명→10명+). 우리는 Co-Design Pod를 FDE 모델로 운영하되, 메모리는 제조 리드타임이 길므로 시스템 아키텍트·TCO 모델링 역량을 결합합니다. ② 전략적 협약(SCA)으로 워크로드가 옵니다. 선례는 Micron↔Anthropic(2026-06-22): 공동 설계(HBM·DRAM·SSD를 Claude 학습·추론 워크로드에 맞춰 공동 최적화) + 다년 공급 + 운영 통합(Claude 사내 배치) + 자본(Series H)을 한 계약에 묶었습니다. Micron은 SCA 16건, 최소 계약매출 약 $100B, 예치금 $22B를 공시했습니다. 삼성·SK의 Anthropic 공급계약에는 공동 설계 조항이 없으므로 우리가 먼저 제안합니다. 창은 공급 완화 전인 2027년 상반기까지입니다. 이 장에는 두 목표를 여는 수단 중 조직·인사·문화 세 축을 보였습니다(전략·재무 축과 90일·1년·3년 타임라인은 위키 실행 전략 페이지 §2.1·§2.5·§3에 있습니다). 조직은 실리콘밸리 소프트웨어 자회사와 FDE Pod에 더해 시스템 소프트웨어 조직을 강화합니다. 인사는 고객의 시스템을 잘 이해하는 시스템 소프트웨어 전문가를 채용하고 양성하는 것이 핵심이며, 채용 기준은 고객 시스템(추론 엔진·KV 캐시 관리자·I/O·커널 코드)을 읽고 고칠 수 있는가입니다. 미주 고객과의 협업을 위해 현지 채용을 늘리고, 그것이 가능하도록 별도 보상 체계를 두며, 본사 엔지니어는 상주 로테이션으로 양성합니다. 문화는 업스트림 우선을 넘어 오픈소스 생태계를 주도하는 기업 문화로 갑니다. 기여자에서 메인테이너·커미터로 올라가고, 우리가 운영하는 레퍼런스 프로젝트에 외부 기여가 들어오게 하며, KV cache 실측을 업계 최초로 공개합니다. 마지막 문장은 세 장의 요약입니다. 니어라인 HDD 대체가 아니라 추론 캐시 티어를 QLC로 가져가려면(1장) 디바이스에서 고객 시스템 안까지 세 단계를 올라가야 하며(2장), 그 길은 FDE와 전략적 협약, 그리고 이를 해낼 사람과 문화가 엽니다(3장).</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notesSlide" Target="../notesSlides/notesSlide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50392"/>
            <a:ext cx="16843248"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QLC eSSD 전략 · 배경: 트렌드 변화와 시장 흐름</a:t>
            </a:r>
          </a:p>
        </p:txBody>
      </p:sp>
      <p:sp>
        <p:nvSpPr>
          <p:cNvPr id="5" name="TextBox 4"/>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요구는 2022년에 정의되고 물량은 2024년에 터졌으며, 다음 무대는 추론 캐시 티어입니다</a:t>
            </a:r>
          </a:p>
        </p:txBody>
      </p:sp>
      <p:sp>
        <p:nvSpPr>
          <p:cNvPr id="6" name="TextBox 5"/>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세 국면의 구매 기준이 어떻게 바뀌는지, 그리고 2030년까지의 수요·비중·매출입니다.</a:t>
            </a:r>
          </a:p>
        </p:txBody>
      </p:sp>
      <p:sp>
        <p:nvSpPr>
          <p:cNvPr id="7" name="Rectangle 6"/>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22376" y="2560320"/>
            <a:ext cx="5413248" cy="184708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9848" y="2743200"/>
            <a:ext cx="4718304" cy="274320"/>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초기 · 2018~2023</a:t>
            </a:r>
          </a:p>
        </p:txBody>
      </p:sp>
      <p:sp>
        <p:nvSpPr>
          <p:cNvPr id="10" name="TextBox 9"/>
          <p:cNvSpPr txBox="1"/>
          <p:nvPr/>
        </p:nvSpPr>
        <p:spPr>
          <a:xfrm>
            <a:off x="1069848" y="3072384"/>
            <a:ext cx="4718304" cy="219456"/>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구매 기준</a:t>
            </a:r>
          </a:p>
        </p:txBody>
      </p:sp>
      <p:sp>
        <p:nvSpPr>
          <p:cNvPr id="11" name="TextBox 10"/>
          <p:cNvSpPr txBox="1"/>
          <p:nvPr/>
        </p:nvSpPr>
        <p:spPr>
          <a:xfrm>
            <a:off x="1069848" y="3291839"/>
            <a:ext cx="4718304" cy="402336"/>
          </a:xfrm>
          <a:prstGeom prst="rect">
            <a:avLst/>
          </a:prstGeom>
          <a:noFill/>
        </p:spPr>
        <p:txBody>
          <a:bodyPr wrap="square" anchor="t" lIns="0" rIns="0" tIns="0" bIns="0">
            <a:spAutoFit/>
          </a:bodyPr>
          <a:lstStyle/>
          <a:p>
            <a:pPr algn="l">
              <a:lnSpc>
                <a:spcPct val="112000"/>
              </a:lnSpc>
            </a:pPr>
            <a:r>
              <a:rPr sz="2100" b="1">
                <a:solidFill>
                  <a:srgbClr val="1A1A1A"/>
                </a:solidFill>
                <a:latin typeface="Arial"/>
                <a:ea typeface="Arial"/>
              </a:rPr>
              <a:t>TB당 원가 · 랙 밀도</a:t>
            </a:r>
          </a:p>
        </p:txBody>
      </p:sp>
      <p:sp>
        <p:nvSpPr>
          <p:cNvPr id="12" name="TextBox 11"/>
          <p:cNvSpPr txBox="1"/>
          <p:nvPr/>
        </p:nvSpPr>
        <p:spPr>
          <a:xfrm>
            <a:off x="1069848" y="3767328"/>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배경  </a:t>
            </a:r>
            <a:r>
              <a:rPr sz="1425" b="0">
                <a:solidFill>
                  <a:srgbClr val="555555"/>
                </a:solidFill>
                <a:latin typeface="Arial"/>
                <a:ea typeface="Arial"/>
              </a:rPr>
              <a:t>데이터 레이크 · HDD 대역폭 붕괴 · 배치 표준 비준</a:t>
            </a:r>
          </a:p>
        </p:txBody>
      </p:sp>
      <p:sp>
        <p:nvSpPr>
          <p:cNvPr id="13" name="TextBox 12"/>
          <p:cNvSpPr txBox="1"/>
          <p:nvPr/>
        </p:nvSpPr>
        <p:spPr>
          <a:xfrm>
            <a:off x="1069848" y="4050791"/>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삼성  </a:t>
            </a:r>
            <a:r>
              <a:rPr sz="1425" b="0">
                <a:solidFill>
                  <a:srgbClr val="555555"/>
                </a:solidFill>
                <a:latin typeface="Arial"/>
                <a:ea typeface="Arial"/>
              </a:rPr>
              <a:t>61TB 1년 후발</a:t>
            </a:r>
          </a:p>
        </p:txBody>
      </p:sp>
      <p:sp>
        <p:nvSpPr>
          <p:cNvPr id="14" name="Right Arrow 13"/>
          <p:cNvSpPr/>
          <p:nvPr/>
        </p:nvSpPr>
        <p:spPr>
          <a:xfrm>
            <a:off x="6217920" y="3401568"/>
            <a:ext cx="146304" cy="164592"/>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37376" y="2560320"/>
            <a:ext cx="5413248" cy="184708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84848" y="2743200"/>
            <a:ext cx="4718304" cy="274320"/>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현재 · 2024~2026</a:t>
            </a:r>
          </a:p>
        </p:txBody>
      </p:sp>
      <p:sp>
        <p:nvSpPr>
          <p:cNvPr id="17" name="TextBox 16"/>
          <p:cNvSpPr txBox="1"/>
          <p:nvPr/>
        </p:nvSpPr>
        <p:spPr>
          <a:xfrm>
            <a:off x="6784848" y="3072384"/>
            <a:ext cx="4718304" cy="219456"/>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구매 기준</a:t>
            </a:r>
          </a:p>
        </p:txBody>
      </p:sp>
      <p:sp>
        <p:nvSpPr>
          <p:cNvPr id="18" name="TextBox 17"/>
          <p:cNvSpPr txBox="1"/>
          <p:nvPr/>
        </p:nvSpPr>
        <p:spPr>
          <a:xfrm>
            <a:off x="6784848" y="3291839"/>
            <a:ext cx="4718304" cy="402336"/>
          </a:xfrm>
          <a:prstGeom prst="rect">
            <a:avLst/>
          </a:prstGeom>
          <a:noFill/>
        </p:spPr>
        <p:txBody>
          <a:bodyPr wrap="square" anchor="t" lIns="0" rIns="0" tIns="0" bIns="0">
            <a:spAutoFit/>
          </a:bodyPr>
          <a:lstStyle/>
          <a:p>
            <a:pPr algn="l">
              <a:lnSpc>
                <a:spcPct val="112000"/>
              </a:lnSpc>
            </a:pPr>
            <a:r>
              <a:rPr sz="2100" b="1">
                <a:solidFill>
                  <a:srgbClr val="1A1A1A"/>
                </a:solidFill>
                <a:latin typeface="Arial"/>
                <a:ea typeface="Arial"/>
              </a:rPr>
              <a:t>TB당 와트 · 공급 확보</a:t>
            </a:r>
          </a:p>
        </p:txBody>
      </p:sp>
      <p:sp>
        <p:nvSpPr>
          <p:cNvPr id="19" name="TextBox 18"/>
          <p:cNvSpPr txBox="1"/>
          <p:nvPr/>
        </p:nvSpPr>
        <p:spPr>
          <a:xfrm>
            <a:off x="6784848" y="3767328"/>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배경  </a:t>
            </a:r>
            <a:r>
              <a:rPr sz="1425" b="0">
                <a:solidFill>
                  <a:srgbClr val="555555"/>
                </a:solidFill>
                <a:latin typeface="Arial"/>
                <a:ea typeface="Arial"/>
              </a:rPr>
              <a:t>추론 서버 전력 효율 · 245TB 경쟁 · HDD 완판</a:t>
            </a:r>
          </a:p>
        </p:txBody>
      </p:sp>
      <p:sp>
        <p:nvSpPr>
          <p:cNvPr id="20" name="TextBox 19"/>
          <p:cNvSpPr txBox="1"/>
          <p:nvPr/>
        </p:nvSpPr>
        <p:spPr>
          <a:xfrm>
            <a:off x="6784848" y="4050791"/>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삼성  </a:t>
            </a:r>
            <a:r>
              <a:rPr sz="1425" b="0">
                <a:solidFill>
                  <a:srgbClr val="555555"/>
                </a:solidFill>
                <a:latin typeface="Arial"/>
                <a:ea typeface="Arial"/>
              </a:rPr>
              <a:t>물량 1위(35.1%), 용량 후발</a:t>
            </a:r>
          </a:p>
        </p:txBody>
      </p:sp>
      <p:sp>
        <p:nvSpPr>
          <p:cNvPr id="21" name="Right Arrow 20"/>
          <p:cNvSpPr/>
          <p:nvPr/>
        </p:nvSpPr>
        <p:spPr>
          <a:xfrm>
            <a:off x="11932920" y="3401568"/>
            <a:ext cx="146304" cy="164592"/>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2152376" y="2560320"/>
            <a:ext cx="5413248" cy="1847088"/>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2152376" y="2560320"/>
            <a:ext cx="73152" cy="184708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2499848" y="2743200"/>
            <a:ext cx="4718304" cy="274320"/>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향후 · 2027~2030</a:t>
            </a:r>
          </a:p>
        </p:txBody>
      </p:sp>
      <p:sp>
        <p:nvSpPr>
          <p:cNvPr id="25" name="TextBox 24"/>
          <p:cNvSpPr txBox="1"/>
          <p:nvPr/>
        </p:nvSpPr>
        <p:spPr>
          <a:xfrm>
            <a:off x="12499848" y="3072384"/>
            <a:ext cx="4718304" cy="219456"/>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구매 기준</a:t>
            </a:r>
          </a:p>
        </p:txBody>
      </p:sp>
      <p:sp>
        <p:nvSpPr>
          <p:cNvPr id="26" name="TextBox 25"/>
          <p:cNvSpPr txBox="1"/>
          <p:nvPr/>
        </p:nvSpPr>
        <p:spPr>
          <a:xfrm>
            <a:off x="12499848" y="3291839"/>
            <a:ext cx="4718304" cy="402336"/>
          </a:xfrm>
          <a:prstGeom prst="rect">
            <a:avLst/>
          </a:prstGeom>
          <a:noFill/>
        </p:spPr>
        <p:txBody>
          <a:bodyPr wrap="square" anchor="t" lIns="0" rIns="0" tIns="0" bIns="0">
            <a:spAutoFit/>
          </a:bodyPr>
          <a:lstStyle/>
          <a:p>
            <a:pPr algn="l">
              <a:lnSpc>
                <a:spcPct val="112000"/>
              </a:lnSpc>
            </a:pPr>
            <a:r>
              <a:rPr sz="2100" b="1">
                <a:solidFill>
                  <a:srgbClr val="1A1A1A"/>
                </a:solidFill>
                <a:latin typeface="Arial"/>
                <a:ea typeface="Arial"/>
              </a:rPr>
              <a:t>유효 DWPD · 토큰 경제성</a:t>
            </a:r>
          </a:p>
        </p:txBody>
      </p:sp>
      <p:sp>
        <p:nvSpPr>
          <p:cNvPr id="27" name="TextBox 26"/>
          <p:cNvSpPr txBox="1"/>
          <p:nvPr/>
        </p:nvSpPr>
        <p:spPr>
          <a:xfrm>
            <a:off x="12499848" y="3767328"/>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배경  </a:t>
            </a:r>
            <a:r>
              <a:rPr sz="1425" b="0">
                <a:solidFill>
                  <a:srgbClr val="555555"/>
                </a:solidFill>
                <a:latin typeface="Arial"/>
                <a:ea typeface="Arial"/>
              </a:rPr>
              <a:t>KV cache 오프로드 · 2027년 75~100EB</a:t>
            </a:r>
          </a:p>
        </p:txBody>
      </p:sp>
      <p:sp>
        <p:nvSpPr>
          <p:cNvPr id="28" name="TextBox 27"/>
          <p:cNvSpPr txBox="1"/>
          <p:nvPr/>
        </p:nvSpPr>
        <p:spPr>
          <a:xfrm>
            <a:off x="12499848" y="4050791"/>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삼성  </a:t>
            </a:r>
            <a:r>
              <a:rPr sz="1425" b="0">
                <a:solidFill>
                  <a:srgbClr val="555555"/>
                </a:solidFill>
                <a:latin typeface="Arial"/>
                <a:ea typeface="Arial"/>
              </a:rPr>
              <a:t>디바이스 확보, 시스템 연결 공백</a:t>
            </a:r>
          </a:p>
        </p:txBody>
      </p:sp>
      <p:sp>
        <p:nvSpPr>
          <p:cNvPr id="29" name="Rectangle 28"/>
          <p:cNvSpPr/>
          <p:nvPr/>
        </p:nvSpPr>
        <p:spPr>
          <a:xfrm>
            <a:off x="996696" y="4681728"/>
            <a:ext cx="1629460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738274" y="4617720"/>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56946" y="4828032"/>
            <a:ext cx="3108960" cy="219456"/>
          </a:xfrm>
          <a:prstGeom prst="rect">
            <a:avLst/>
          </a:prstGeom>
          <a:noFill/>
        </p:spPr>
        <p:txBody>
          <a:bodyPr wrap="square" anchor="t" lIns="0" rIns="0" tIns="0" bIns="0">
            <a:spAutoFit/>
          </a:bodyPr>
          <a:lstStyle/>
          <a:p>
            <a:pPr algn="ctr">
              <a:lnSpc>
                <a:spcPct val="112000"/>
              </a:lnSpc>
            </a:pPr>
            <a:r>
              <a:rPr sz="1350" b="1">
                <a:solidFill>
                  <a:srgbClr val="1A1A1A"/>
                </a:solidFill>
                <a:latin typeface="Arial"/>
                <a:ea typeface="Arial"/>
              </a:rPr>
              <a:t>2022-12</a:t>
            </a:r>
          </a:p>
        </p:txBody>
      </p:sp>
      <p:sp>
        <p:nvSpPr>
          <p:cNvPr id="32" name="TextBox 31"/>
          <p:cNvSpPr txBox="1"/>
          <p:nvPr/>
        </p:nvSpPr>
        <p:spPr>
          <a:xfrm>
            <a:off x="256946" y="5029200"/>
            <a:ext cx="3108960" cy="219456"/>
          </a:xfrm>
          <a:prstGeom prst="rect">
            <a:avLst/>
          </a:prstGeom>
          <a:noFill/>
        </p:spPr>
        <p:txBody>
          <a:bodyPr wrap="square" anchor="t" lIns="0" rIns="0" tIns="0" bIns="0">
            <a:spAutoFit/>
          </a:bodyPr>
          <a:lstStyle/>
          <a:p>
            <a:pPr algn="ctr">
              <a:lnSpc>
                <a:spcPct val="112000"/>
              </a:lnSpc>
            </a:pPr>
            <a:r>
              <a:rPr sz="1275" b="0">
                <a:solidFill>
                  <a:srgbClr val="555555"/>
                </a:solidFill>
                <a:latin typeface="Arial"/>
                <a:ea typeface="Arial"/>
              </a:rPr>
              <a:t>배치 표준 비준(Meta·Google)</a:t>
            </a:r>
          </a:p>
        </p:txBody>
      </p:sp>
      <p:sp>
        <p:nvSpPr>
          <p:cNvPr id="33" name="Oval 32"/>
          <p:cNvSpPr/>
          <p:nvPr/>
        </p:nvSpPr>
        <p:spPr>
          <a:xfrm>
            <a:off x="4997196" y="4617720"/>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515868" y="4828032"/>
            <a:ext cx="3108960" cy="219456"/>
          </a:xfrm>
          <a:prstGeom prst="rect">
            <a:avLst/>
          </a:prstGeom>
          <a:noFill/>
        </p:spPr>
        <p:txBody>
          <a:bodyPr wrap="square" anchor="t" lIns="0" rIns="0" tIns="0" bIns="0">
            <a:spAutoFit/>
          </a:bodyPr>
          <a:lstStyle/>
          <a:p>
            <a:pPr algn="ctr">
              <a:lnSpc>
                <a:spcPct val="112000"/>
              </a:lnSpc>
            </a:pPr>
            <a:r>
              <a:rPr sz="1350" b="1">
                <a:solidFill>
                  <a:srgbClr val="1A1A1A"/>
                </a:solidFill>
                <a:latin typeface="Arial"/>
                <a:ea typeface="Arial"/>
              </a:rPr>
              <a:t>2023-07</a:t>
            </a:r>
          </a:p>
        </p:txBody>
      </p:sp>
      <p:sp>
        <p:nvSpPr>
          <p:cNvPr id="35" name="TextBox 34"/>
          <p:cNvSpPr txBox="1"/>
          <p:nvPr/>
        </p:nvSpPr>
        <p:spPr>
          <a:xfrm>
            <a:off x="3515868" y="5029200"/>
            <a:ext cx="3108960" cy="219456"/>
          </a:xfrm>
          <a:prstGeom prst="rect">
            <a:avLst/>
          </a:prstGeom>
          <a:noFill/>
        </p:spPr>
        <p:txBody>
          <a:bodyPr wrap="square" anchor="t" lIns="0" rIns="0" tIns="0" bIns="0">
            <a:spAutoFit/>
          </a:bodyPr>
          <a:lstStyle/>
          <a:p>
            <a:pPr algn="ctr">
              <a:lnSpc>
                <a:spcPct val="112000"/>
              </a:lnSpc>
            </a:pPr>
            <a:r>
              <a:rPr sz="1275" b="0">
                <a:solidFill>
                  <a:srgbClr val="555555"/>
                </a:solidFill>
                <a:latin typeface="Arial"/>
                <a:ea typeface="Arial"/>
              </a:rPr>
              <a:t>61TB QLC 세계 최초(Solidigm)</a:t>
            </a:r>
          </a:p>
        </p:txBody>
      </p:sp>
      <p:sp>
        <p:nvSpPr>
          <p:cNvPr id="36" name="Oval 35"/>
          <p:cNvSpPr/>
          <p:nvPr/>
        </p:nvSpPr>
        <p:spPr>
          <a:xfrm>
            <a:off x="8582009" y="4617720"/>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100681" y="4828032"/>
            <a:ext cx="3108960" cy="219456"/>
          </a:xfrm>
          <a:prstGeom prst="rect">
            <a:avLst/>
          </a:prstGeom>
          <a:noFill/>
        </p:spPr>
        <p:txBody>
          <a:bodyPr wrap="square" anchor="t" lIns="0" rIns="0" tIns="0" bIns="0">
            <a:spAutoFit/>
          </a:bodyPr>
          <a:lstStyle/>
          <a:p>
            <a:pPr algn="ctr">
              <a:lnSpc>
                <a:spcPct val="112000"/>
              </a:lnSpc>
            </a:pPr>
            <a:r>
              <a:rPr sz="1350" b="1">
                <a:solidFill>
                  <a:srgbClr val="1A1A1A"/>
                </a:solidFill>
                <a:latin typeface="Arial"/>
                <a:ea typeface="Arial"/>
              </a:rPr>
              <a:t>2024</a:t>
            </a:r>
          </a:p>
        </p:txBody>
      </p:sp>
      <p:sp>
        <p:nvSpPr>
          <p:cNvPr id="38" name="TextBox 37"/>
          <p:cNvSpPr txBox="1"/>
          <p:nvPr/>
        </p:nvSpPr>
        <p:spPr>
          <a:xfrm>
            <a:off x="7100681" y="5029200"/>
            <a:ext cx="3108960" cy="219456"/>
          </a:xfrm>
          <a:prstGeom prst="rect">
            <a:avLst/>
          </a:prstGeom>
          <a:noFill/>
        </p:spPr>
        <p:txBody>
          <a:bodyPr wrap="square" anchor="t" lIns="0" rIns="0" tIns="0" bIns="0">
            <a:spAutoFit/>
          </a:bodyPr>
          <a:lstStyle/>
          <a:p>
            <a:pPr algn="ctr">
              <a:lnSpc>
                <a:spcPct val="112000"/>
              </a:lnSpc>
            </a:pPr>
            <a:r>
              <a:rPr sz="1275" b="0">
                <a:solidFill>
                  <a:srgbClr val="555555"/>
                </a:solidFill>
                <a:latin typeface="Arial"/>
                <a:ea typeface="Arial"/>
              </a:rPr>
              <a:t>QLC eSSD 30EB, 전년 4배</a:t>
            </a:r>
          </a:p>
        </p:txBody>
      </p:sp>
      <p:sp>
        <p:nvSpPr>
          <p:cNvPr id="39" name="Oval 38"/>
          <p:cNvSpPr/>
          <p:nvPr/>
        </p:nvSpPr>
        <p:spPr>
          <a:xfrm>
            <a:off x="12166823" y="4617720"/>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685495" y="4828032"/>
            <a:ext cx="3108960" cy="219456"/>
          </a:xfrm>
          <a:prstGeom prst="rect">
            <a:avLst/>
          </a:prstGeom>
          <a:noFill/>
        </p:spPr>
        <p:txBody>
          <a:bodyPr wrap="square" anchor="t" lIns="0" rIns="0" tIns="0" bIns="0">
            <a:spAutoFit/>
          </a:bodyPr>
          <a:lstStyle/>
          <a:p>
            <a:pPr algn="ctr">
              <a:lnSpc>
                <a:spcPct val="112000"/>
              </a:lnSpc>
            </a:pPr>
            <a:r>
              <a:rPr sz="1350" b="1">
                <a:solidFill>
                  <a:srgbClr val="1A1A1A"/>
                </a:solidFill>
                <a:latin typeface="Arial"/>
                <a:ea typeface="Arial"/>
              </a:rPr>
              <a:t>2026-05</a:t>
            </a:r>
          </a:p>
        </p:txBody>
      </p:sp>
      <p:sp>
        <p:nvSpPr>
          <p:cNvPr id="41" name="TextBox 40"/>
          <p:cNvSpPr txBox="1"/>
          <p:nvPr/>
        </p:nvSpPr>
        <p:spPr>
          <a:xfrm>
            <a:off x="10685495" y="5029200"/>
            <a:ext cx="3108960" cy="219456"/>
          </a:xfrm>
          <a:prstGeom prst="rect">
            <a:avLst/>
          </a:prstGeom>
          <a:noFill/>
        </p:spPr>
        <p:txBody>
          <a:bodyPr wrap="square" anchor="t" lIns="0" rIns="0" tIns="0" bIns="0">
            <a:spAutoFit/>
          </a:bodyPr>
          <a:lstStyle/>
          <a:p>
            <a:pPr algn="ctr">
              <a:lnSpc>
                <a:spcPct val="112000"/>
              </a:lnSpc>
            </a:pPr>
            <a:r>
              <a:rPr sz="1275" b="0">
                <a:solidFill>
                  <a:srgbClr val="555555"/>
                </a:solidFill>
                <a:latin typeface="Arial"/>
                <a:ea typeface="Arial"/>
              </a:rPr>
              <a:t>245TB 첫 출하(Micron)</a:t>
            </a:r>
          </a:p>
        </p:txBody>
      </p:sp>
      <p:sp>
        <p:nvSpPr>
          <p:cNvPr id="42" name="Oval 41"/>
          <p:cNvSpPr/>
          <p:nvPr/>
        </p:nvSpPr>
        <p:spPr>
          <a:xfrm>
            <a:off x="15751637" y="4617720"/>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4270309" y="4828032"/>
            <a:ext cx="3108960" cy="219456"/>
          </a:xfrm>
          <a:prstGeom prst="rect">
            <a:avLst/>
          </a:prstGeom>
          <a:noFill/>
        </p:spPr>
        <p:txBody>
          <a:bodyPr wrap="square" anchor="t" lIns="0" rIns="0" tIns="0" bIns="0">
            <a:spAutoFit/>
          </a:bodyPr>
          <a:lstStyle/>
          <a:p>
            <a:pPr algn="ctr">
              <a:lnSpc>
                <a:spcPct val="112000"/>
              </a:lnSpc>
            </a:pPr>
            <a:r>
              <a:rPr sz="1350" b="1">
                <a:solidFill>
                  <a:srgbClr val="1A1A1A"/>
                </a:solidFill>
                <a:latin typeface="Arial"/>
                <a:ea typeface="Arial"/>
              </a:rPr>
              <a:t>2027</a:t>
            </a:r>
          </a:p>
        </p:txBody>
      </p:sp>
      <p:sp>
        <p:nvSpPr>
          <p:cNvPr id="44" name="TextBox 43"/>
          <p:cNvSpPr txBox="1"/>
          <p:nvPr/>
        </p:nvSpPr>
        <p:spPr>
          <a:xfrm>
            <a:off x="14270309" y="5029200"/>
            <a:ext cx="3108960" cy="219456"/>
          </a:xfrm>
          <a:prstGeom prst="rect">
            <a:avLst/>
          </a:prstGeom>
          <a:noFill/>
        </p:spPr>
        <p:txBody>
          <a:bodyPr wrap="square" anchor="t" lIns="0" rIns="0" tIns="0" bIns="0">
            <a:spAutoFit/>
          </a:bodyPr>
          <a:lstStyle/>
          <a:p>
            <a:pPr algn="ctr">
              <a:lnSpc>
                <a:spcPct val="112000"/>
              </a:lnSpc>
            </a:pPr>
            <a:r>
              <a:rPr sz="1275" b="0">
                <a:solidFill>
                  <a:srgbClr val="555555"/>
                </a:solidFill>
                <a:latin typeface="Arial"/>
                <a:ea typeface="Arial"/>
              </a:rPr>
              <a:t>KV cache NAND 75~100EB</a:t>
            </a:r>
          </a:p>
        </p:txBody>
      </p:sp>
      <p:pic>
        <p:nvPicPr>
          <p:cNvPr id="45" name="Picture 44" descr="qlc_demand_share_revenue_slide.png"/>
          <p:cNvPicPr>
            <a:picLocks noChangeAspect="1"/>
          </p:cNvPicPr>
          <p:nvPr/>
        </p:nvPicPr>
        <p:blipFill>
          <a:blip r:embed="rId2"/>
          <a:stretch>
            <a:fillRect/>
          </a:stretch>
        </p:blipFill>
        <p:spPr>
          <a:xfrm>
            <a:off x="722376" y="5303520"/>
            <a:ext cx="10228217" cy="3182112"/>
          </a:xfrm>
          <a:prstGeom prst="rect">
            <a:avLst/>
          </a:prstGeom>
        </p:spPr>
      </p:pic>
      <p:sp>
        <p:nvSpPr>
          <p:cNvPr id="46" name="Rectangle 45"/>
          <p:cNvSpPr/>
          <p:nvPr/>
        </p:nvSpPr>
        <p:spPr>
          <a:xfrm>
            <a:off x="11224913" y="5303520"/>
            <a:ext cx="6340710" cy="31821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1535809" y="5504688"/>
            <a:ext cx="5718918" cy="274320"/>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그래프가 말하는 것</a:t>
            </a:r>
          </a:p>
        </p:txBody>
      </p:sp>
      <p:sp>
        <p:nvSpPr>
          <p:cNvPr id="48" name="TextBox 47"/>
          <p:cNvSpPr txBox="1"/>
          <p:nvPr/>
        </p:nvSpPr>
        <p:spPr>
          <a:xfrm>
            <a:off x="11535809" y="5907024"/>
            <a:ext cx="1600200" cy="566928"/>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10배</a:t>
            </a:r>
          </a:p>
        </p:txBody>
      </p:sp>
      <p:sp>
        <p:nvSpPr>
          <p:cNvPr id="49" name="TextBox 48"/>
          <p:cNvSpPr txBox="1"/>
          <p:nvPr/>
        </p:nvSpPr>
        <p:spPr>
          <a:xfrm>
            <a:off x="13163441" y="5907024"/>
            <a:ext cx="4091286" cy="566928"/>
          </a:xfrm>
          <a:prstGeom prst="rect">
            <a:avLst/>
          </a:prstGeom>
          <a:noFill/>
        </p:spPr>
        <p:txBody>
          <a:bodyPr wrap="square" anchor="ctr" lIns="0" rIns="0" tIns="0" bIns="0">
            <a:spAutoFit/>
          </a:bodyPr>
          <a:lstStyle/>
          <a:p>
            <a:pPr algn="l">
              <a:lnSpc>
                <a:spcPct val="105000"/>
              </a:lnSpc>
            </a:pPr>
            <a:r>
              <a:rPr sz="1425" b="0">
                <a:solidFill>
                  <a:srgbClr val="555555"/>
                </a:solidFill>
                <a:latin typeface="Arial"/>
                <a:ea typeface="Arial"/>
              </a:rPr>
              <a:t>QLC 비트, 2025년 → 2030년</a:t>
            </a:r>
          </a:p>
        </p:txBody>
      </p:sp>
      <p:sp>
        <p:nvSpPr>
          <p:cNvPr id="50" name="TextBox 49"/>
          <p:cNvSpPr txBox="1"/>
          <p:nvPr/>
        </p:nvSpPr>
        <p:spPr>
          <a:xfrm>
            <a:off x="11535809" y="6510528"/>
            <a:ext cx="1600200" cy="566928"/>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정체</a:t>
            </a:r>
          </a:p>
        </p:txBody>
      </p:sp>
      <p:sp>
        <p:nvSpPr>
          <p:cNvPr id="51" name="TextBox 50"/>
          <p:cNvSpPr txBox="1"/>
          <p:nvPr/>
        </p:nvSpPr>
        <p:spPr>
          <a:xfrm>
            <a:off x="13163441" y="6510528"/>
            <a:ext cx="4091286" cy="566928"/>
          </a:xfrm>
          <a:prstGeom prst="rect">
            <a:avLst/>
          </a:prstGeom>
          <a:noFill/>
        </p:spPr>
        <p:txBody>
          <a:bodyPr wrap="square" anchor="ctr" lIns="0" rIns="0" tIns="0" bIns="0">
            <a:spAutoFit/>
          </a:bodyPr>
          <a:lstStyle/>
          <a:p>
            <a:pPr algn="l">
              <a:lnSpc>
                <a:spcPct val="105000"/>
              </a:lnSpc>
            </a:pPr>
            <a:r>
              <a:rPr sz="1425" b="0">
                <a:solidFill>
                  <a:srgbClr val="555555"/>
                </a:solidFill>
                <a:latin typeface="Arial"/>
                <a:ea typeface="Arial"/>
              </a:rPr>
              <a:t>QLC 매출, 2026년 $32B → 2030년 $37B(e)</a:t>
            </a:r>
          </a:p>
        </p:txBody>
      </p:sp>
      <p:sp>
        <p:nvSpPr>
          <p:cNvPr id="52" name="TextBox 51"/>
          <p:cNvSpPr txBox="1"/>
          <p:nvPr/>
        </p:nvSpPr>
        <p:spPr>
          <a:xfrm>
            <a:off x="11535809" y="7114032"/>
            <a:ext cx="1600200" cy="566928"/>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350EB</a:t>
            </a:r>
          </a:p>
        </p:txBody>
      </p:sp>
      <p:sp>
        <p:nvSpPr>
          <p:cNvPr id="53" name="TextBox 52"/>
          <p:cNvSpPr txBox="1"/>
          <p:nvPr/>
        </p:nvSpPr>
        <p:spPr>
          <a:xfrm>
            <a:off x="13163441" y="7114032"/>
            <a:ext cx="4091286" cy="566928"/>
          </a:xfrm>
          <a:prstGeom prst="rect">
            <a:avLst/>
          </a:prstGeom>
          <a:noFill/>
        </p:spPr>
        <p:txBody>
          <a:bodyPr wrap="square" anchor="ctr" lIns="0" rIns="0" tIns="0" bIns="0">
            <a:spAutoFit/>
          </a:bodyPr>
          <a:lstStyle/>
          <a:p>
            <a:pPr algn="l">
              <a:lnSpc>
                <a:spcPct val="105000"/>
              </a:lnSpc>
            </a:pPr>
            <a:r>
              <a:rPr sz="1425" b="0">
                <a:solidFill>
                  <a:srgbClr val="555555"/>
                </a:solidFill>
                <a:latin typeface="Arial"/>
                <a:ea typeface="Arial"/>
              </a:rPr>
              <a:t>2030년 추론 캐시 티어 수요(전 미디어)</a:t>
            </a:r>
          </a:p>
        </p:txBody>
      </p:sp>
      <p:sp>
        <p:nvSpPr>
          <p:cNvPr id="54" name="Rectangle 53"/>
          <p:cNvSpPr/>
          <p:nvPr/>
        </p:nvSpPr>
        <p:spPr>
          <a:xfrm>
            <a:off x="11535809" y="7735823"/>
            <a:ext cx="5718918"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1535809" y="7808975"/>
            <a:ext cx="5718918" cy="621792"/>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이익은 비트가 아니라 시스템 위의 TCO에서 나옵니다</a:t>
            </a:r>
          </a:p>
        </p:txBody>
      </p:sp>
      <p:sp>
        <p:nvSpPr>
          <p:cNvPr id="56" name="Rectangle 55"/>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58" name="TextBox 57"/>
          <p:cNvSpPr txBox="1"/>
          <p:nvPr/>
        </p:nvSpPr>
        <p:spPr>
          <a:xfrm>
            <a:off x="2551176" y="8613648"/>
            <a:ext cx="14648688" cy="731520"/>
          </a:xfrm>
          <a:prstGeom prst="rect">
            <a:avLst/>
          </a:prstGeom>
          <a:noFill/>
        </p:spPr>
        <p:txBody>
          <a:bodyPr wrap="square" anchor="ctr" lIns="0" rIns="0" tIns="0" bIns="0">
            <a:spAutoFit/>
          </a:bodyPr>
          <a:lstStyle/>
          <a:p>
            <a:pPr algn="l">
              <a:lnSpc>
                <a:spcPct val="108000"/>
              </a:lnSpc>
            </a:pPr>
            <a:r>
              <a:rPr sz="2200" b="1">
                <a:solidFill>
                  <a:srgbClr val="FFFFFF"/>
                </a:solidFill>
                <a:latin typeface="Arial"/>
                <a:ea typeface="Arial"/>
              </a:rPr>
              <a:t>니어라인 HDD 대체 대신, 오늘 TLC가 서비스하는 추론 캐시 티어를 QLC로 가져갑니다</a:t>
            </a:r>
          </a:p>
        </p:txBody>
      </p:sp>
      <p:sp>
        <p:nvSpPr>
          <p:cNvPr id="59" name="TextBox 58"/>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TrendForce 분기 실측(2022~2Q26)·QLC 30EB(2024)·SanDisk FMS 2026·Meta·Solidigm 발표 종합, 2026~2030은 추정(e) · 상세: QLC eSSD 전략 보고서 1~3장</a:t>
            </a:r>
          </a:p>
        </p:txBody>
      </p:sp>
      <p:sp>
        <p:nvSpPr>
          <p:cNvPr id="60" name="TextBox 59"/>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01 / 03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50392"/>
            <a:ext cx="16843248"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QLC eSSD 전략 · 요구사항과 역량, 기술 전략</a:t>
            </a:r>
          </a:p>
        </p:txBody>
      </p:sp>
      <p:sp>
        <p:nvSpPr>
          <p:cNvPr id="5" name="TextBox 4"/>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QLC가 캐시 티어에 들어가려면 디바이스에서 고객 시스템 안까지 세 단계로 올라가야 합니다</a:t>
            </a:r>
          </a:p>
        </p:txBody>
      </p:sp>
      <p:sp>
        <p:nvSpPr>
          <p:cNvPr id="6" name="TextBox 5"/>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갭은 내구성·스트림·접점 세 가지이고 수단은 이미 있습니다. 고객 시스템 다섯 계층의 기술과 우리가 닿는 층, 삼성의 현 위치입니다.</a:t>
            </a:r>
          </a:p>
        </p:txBody>
      </p:sp>
      <p:sp>
        <p:nvSpPr>
          <p:cNvPr id="7" name="Rectangle 6"/>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22376" y="2560320"/>
            <a:ext cx="4032504" cy="9692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560320"/>
            <a:ext cx="1783080" cy="96926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10~40배</a:t>
            </a:r>
          </a:p>
        </p:txBody>
      </p:sp>
      <p:sp>
        <p:nvSpPr>
          <p:cNvPr id="10" name="TextBox 9"/>
          <p:cNvSpPr txBox="1"/>
          <p:nvPr/>
        </p:nvSpPr>
        <p:spPr>
          <a:xfrm>
            <a:off x="2871216" y="2560320"/>
            <a:ext cx="1700784" cy="96926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내구성 갭</a:t>
            </a:r>
          </a:p>
          <a:p>
            <a:pPr algn="l">
              <a:lnSpc>
                <a:spcPct val="105000"/>
              </a:lnSpc>
            </a:pPr>
            <a:r>
              <a:rPr sz="1350" b="0">
                <a:solidFill>
                  <a:srgbClr val="555555"/>
                </a:solidFill>
                <a:latin typeface="Arial"/>
                <a:ea typeface="Arial"/>
              </a:rPr>
              <a:t>QLC 0.075~0.6 vs TLC 1~3 DWPD</a:t>
            </a:r>
          </a:p>
        </p:txBody>
      </p:sp>
      <p:sp>
        <p:nvSpPr>
          <p:cNvPr id="11" name="Rectangle 10"/>
          <p:cNvSpPr/>
          <p:nvPr/>
        </p:nvSpPr>
        <p:spPr>
          <a:xfrm>
            <a:off x="4992624" y="2560320"/>
            <a:ext cx="4032504" cy="9692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248656" y="2560320"/>
            <a:ext cx="1325880" cy="96926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25배</a:t>
            </a:r>
          </a:p>
        </p:txBody>
      </p:sp>
      <p:sp>
        <p:nvSpPr>
          <p:cNvPr id="13" name="TextBox 12"/>
          <p:cNvSpPr txBox="1"/>
          <p:nvPr/>
        </p:nvSpPr>
        <p:spPr>
          <a:xfrm>
            <a:off x="6684264" y="2560320"/>
            <a:ext cx="2157984" cy="96926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스트림 갭</a:t>
            </a:r>
          </a:p>
          <a:p>
            <a:pPr algn="l">
              <a:lnSpc>
                <a:spcPct val="105000"/>
              </a:lnSpc>
            </a:pPr>
            <a:r>
              <a:rPr sz="1350" b="0">
                <a:solidFill>
                  <a:srgbClr val="555555"/>
                </a:solidFill>
                <a:latin typeface="Arial"/>
                <a:ea typeface="Arial"/>
              </a:rPr>
              <a:t>RUH 2~8개 vs 200개 이상</a:t>
            </a:r>
          </a:p>
        </p:txBody>
      </p:sp>
      <p:sp>
        <p:nvSpPr>
          <p:cNvPr id="14" name="Rectangle 13"/>
          <p:cNvSpPr/>
          <p:nvPr/>
        </p:nvSpPr>
        <p:spPr>
          <a:xfrm>
            <a:off x="9262872" y="2560320"/>
            <a:ext cx="4032504" cy="9692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18903" y="2560320"/>
            <a:ext cx="1143000" cy="96926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0건</a:t>
            </a:r>
          </a:p>
        </p:txBody>
      </p:sp>
      <p:sp>
        <p:nvSpPr>
          <p:cNvPr id="16" name="TextBox 15"/>
          <p:cNvSpPr txBox="1"/>
          <p:nvPr/>
        </p:nvSpPr>
        <p:spPr>
          <a:xfrm>
            <a:off x="10771631" y="2560320"/>
            <a:ext cx="2340864" cy="96926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접점 공백</a:t>
            </a:r>
          </a:p>
          <a:p>
            <a:pPr algn="l">
              <a:lnSpc>
                <a:spcPct val="105000"/>
              </a:lnSpc>
            </a:pPr>
            <a:r>
              <a:rPr sz="1350" b="0">
                <a:solidFill>
                  <a:srgbClr val="555555"/>
                </a:solidFill>
                <a:latin typeface="Arial"/>
                <a:ea typeface="Arial"/>
              </a:rPr>
              <a:t>캐시 관리자 4종의 배치 언급</a:t>
            </a:r>
          </a:p>
        </p:txBody>
      </p:sp>
      <p:sp>
        <p:nvSpPr>
          <p:cNvPr id="17" name="Rectangle 16"/>
          <p:cNvSpPr/>
          <p:nvPr/>
        </p:nvSpPr>
        <p:spPr>
          <a:xfrm>
            <a:off x="13533120" y="2560320"/>
            <a:ext cx="4032504" cy="969264"/>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3789152" y="2560320"/>
            <a:ext cx="2331720" cy="96926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3.22 → 1.03</a:t>
            </a:r>
          </a:p>
        </p:txBody>
      </p:sp>
      <p:sp>
        <p:nvSpPr>
          <p:cNvPr id="19" name="TextBox 18"/>
          <p:cNvSpPr txBox="1"/>
          <p:nvPr/>
        </p:nvSpPr>
        <p:spPr>
          <a:xfrm>
            <a:off x="16230600" y="2560320"/>
            <a:ext cx="1152144" cy="96926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수단은 있음</a:t>
            </a:r>
          </a:p>
          <a:p>
            <a:pPr algn="l">
              <a:lnSpc>
                <a:spcPct val="105000"/>
              </a:lnSpc>
            </a:pPr>
            <a:r>
              <a:rPr sz="1350" b="0">
                <a:solidFill>
                  <a:srgbClr val="555555"/>
                </a:solidFill>
                <a:latin typeface="Arial"/>
                <a:ea typeface="Arial"/>
              </a:rPr>
              <a:t>배치 표준 WAF 실측</a:t>
            </a:r>
          </a:p>
        </p:txBody>
      </p:sp>
      <p:sp>
        <p:nvSpPr>
          <p:cNvPr id="20" name="Rectangle 19"/>
          <p:cNvSpPr/>
          <p:nvPr/>
        </p:nvSpPr>
        <p:spPr>
          <a:xfrm>
            <a:off x="722376" y="3730752"/>
            <a:ext cx="5413248" cy="46268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69848" y="3877056"/>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1  </a:t>
            </a:r>
            <a:r>
              <a:rPr sz="1800" b="1">
                <a:solidFill>
                  <a:srgbClr val="1A1A1A"/>
                </a:solidFill>
                <a:latin typeface="Arial"/>
                <a:ea typeface="Arial"/>
              </a:rPr>
              <a:t>디바이스를 잘 만든다</a:t>
            </a:r>
          </a:p>
        </p:txBody>
      </p:sp>
      <p:sp>
        <p:nvSpPr>
          <p:cNvPr id="22" name="Rectangle 21"/>
          <p:cNvSpPr/>
          <p:nvPr/>
        </p:nvSpPr>
        <p:spPr>
          <a:xfrm>
            <a:off x="1069848" y="4297680"/>
            <a:ext cx="354787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16151" y="4352544"/>
            <a:ext cx="3255264"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응용 · 추론 엔진</a:t>
            </a:r>
          </a:p>
          <a:p>
            <a:pPr algn="l">
              <a:lnSpc>
                <a:spcPct val="104000"/>
              </a:lnSpc>
            </a:pPr>
            <a:r>
              <a:rPr sz="1125" b="0">
                <a:solidFill>
                  <a:srgbClr val="8A8A8A"/>
                </a:solidFill>
                <a:latin typeface="Arial"/>
                <a:ea typeface="Arial"/>
              </a:rPr>
              <a:t>vLLM · SGLang · TensorRT-LLM</a:t>
            </a:r>
          </a:p>
        </p:txBody>
      </p:sp>
      <p:sp>
        <p:nvSpPr>
          <p:cNvPr id="24" name="Rectangle 23"/>
          <p:cNvSpPr/>
          <p:nvPr/>
        </p:nvSpPr>
        <p:spPr>
          <a:xfrm>
            <a:off x="1069848" y="5029200"/>
            <a:ext cx="354787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216151" y="5084064"/>
            <a:ext cx="3255264"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KV 캐시 관리자</a:t>
            </a:r>
          </a:p>
          <a:p>
            <a:pPr algn="l">
              <a:lnSpc>
                <a:spcPct val="104000"/>
              </a:lnSpc>
            </a:pPr>
            <a:r>
              <a:rPr sz="1125" b="0">
                <a:solidFill>
                  <a:srgbClr val="8A8A8A"/>
                </a:solidFill>
                <a:latin typeface="Arial"/>
                <a:ea typeface="Arial"/>
              </a:rPr>
              <a:t>Dynamo KVBM · LMCache · Mooncake · FlexKV</a:t>
            </a:r>
          </a:p>
        </p:txBody>
      </p:sp>
      <p:sp>
        <p:nvSpPr>
          <p:cNvPr id="26" name="Rectangle 25"/>
          <p:cNvSpPr/>
          <p:nvPr/>
        </p:nvSpPr>
        <p:spPr>
          <a:xfrm>
            <a:off x="1069848" y="5760720"/>
            <a:ext cx="354787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216151" y="5815584"/>
            <a:ext cx="3255264"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I/O 라이브러리</a:t>
            </a:r>
          </a:p>
          <a:p>
            <a:pPr algn="l">
              <a:lnSpc>
                <a:spcPct val="104000"/>
              </a:lnSpc>
            </a:pPr>
            <a:r>
              <a:rPr sz="1125" b="0">
                <a:solidFill>
                  <a:srgbClr val="8A8A8A"/>
                </a:solidFill>
                <a:latin typeface="Arial"/>
                <a:ea typeface="Arial"/>
              </a:rPr>
              <a:t>NIXL · GPUDirect Storage · io_uring · SPDK</a:t>
            </a:r>
          </a:p>
        </p:txBody>
      </p:sp>
      <p:sp>
        <p:nvSpPr>
          <p:cNvPr id="28" name="Rectangle 27"/>
          <p:cNvSpPr/>
          <p:nvPr/>
        </p:nvSpPr>
        <p:spPr>
          <a:xfrm>
            <a:off x="1069848" y="6492240"/>
            <a:ext cx="354787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216151" y="6547104"/>
            <a:ext cx="3255264"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커널 · 플랫폼</a:t>
            </a:r>
          </a:p>
          <a:p>
            <a:pPr algn="l">
              <a:lnSpc>
                <a:spcPct val="104000"/>
              </a:lnSpc>
            </a:pPr>
            <a:r>
              <a:rPr sz="1125" b="0">
                <a:solidFill>
                  <a:srgbClr val="8A8A8A"/>
                </a:solidFill>
                <a:latin typeface="Arial"/>
                <a:ea typeface="Arial"/>
              </a:rPr>
              <a:t>Linux write streams · XFS · CMX(DOCA Memos)</a:t>
            </a:r>
          </a:p>
        </p:txBody>
      </p:sp>
      <p:sp>
        <p:nvSpPr>
          <p:cNvPr id="30" name="Rectangle 29"/>
          <p:cNvSpPr/>
          <p:nvPr/>
        </p:nvSpPr>
        <p:spPr>
          <a:xfrm>
            <a:off x="1069848" y="7223760"/>
            <a:ext cx="3547872"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216151" y="7278624"/>
            <a:ext cx="3255264"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RUH 200+ 펌웨어 · 2Tb QLC(WAF≈1) · NVMe KV 확장 · 텔레메트리 · 액체냉각</a:t>
            </a:r>
          </a:p>
        </p:txBody>
      </p:sp>
      <p:sp>
        <p:nvSpPr>
          <p:cNvPr id="32" name="TextBox 31"/>
          <p:cNvSpPr txBox="1"/>
          <p:nvPr/>
        </p:nvSpPr>
        <p:spPr>
          <a:xfrm>
            <a:off x="4782312" y="7223760"/>
            <a:ext cx="1207008" cy="676656"/>
          </a:xfrm>
          <a:prstGeom prst="rect">
            <a:avLst/>
          </a:prstGeom>
          <a:noFill/>
        </p:spPr>
        <p:txBody>
          <a:bodyPr wrap="square" anchor="ctr" lIns="0" rIns="0" tIns="0" bIns="0">
            <a:spAutoFit/>
          </a:bodyPr>
          <a:lstStyle/>
          <a:p>
            <a:pPr algn="l">
              <a:lnSpc>
                <a:spcPct val="102000"/>
              </a:lnSpc>
            </a:pPr>
            <a:r>
              <a:rPr sz="1275" b="1">
                <a:solidFill>
                  <a:srgbClr val="1428A0"/>
                </a:solidFill>
                <a:latin typeface="Arial"/>
                <a:ea typeface="Arial"/>
              </a:rPr>
              <a:t>우리가 만드는 것</a:t>
            </a:r>
          </a:p>
        </p:txBody>
      </p:sp>
      <p:sp>
        <p:nvSpPr>
          <p:cNvPr id="33" name="TextBox 32"/>
          <p:cNvSpPr txBox="1"/>
          <p:nvPr/>
        </p:nvSpPr>
        <p:spPr>
          <a:xfrm>
            <a:off x="4782312" y="4297680"/>
            <a:ext cx="1207008" cy="1353312"/>
          </a:xfrm>
          <a:prstGeom prst="rect">
            <a:avLst/>
          </a:prstGeom>
          <a:noFill/>
        </p:spPr>
        <p:txBody>
          <a:bodyPr wrap="square" anchor="t" lIns="0" rIns="0" tIns="0" bIns="0">
            <a:spAutoFit/>
          </a:bodyPr>
          <a:lstStyle/>
          <a:p>
            <a:pPr algn="l">
              <a:lnSpc>
                <a:spcPct val="102000"/>
              </a:lnSpc>
            </a:pPr>
            <a:r>
              <a:rPr sz="1200" b="0">
                <a:solidFill>
                  <a:srgbClr val="8A8A8A"/>
                </a:solidFill>
                <a:latin typeface="Arial"/>
                <a:ea typeface="Arial"/>
              </a:rPr>
              <a:t>고객 시스템은 밖에 있습니다</a:t>
            </a:r>
          </a:p>
        </p:txBody>
      </p:sp>
      <p:sp>
        <p:nvSpPr>
          <p:cNvPr id="34" name="TextBox 33"/>
          <p:cNvSpPr txBox="1"/>
          <p:nvPr/>
        </p:nvSpPr>
        <p:spPr>
          <a:xfrm>
            <a:off x="1069848" y="7955280"/>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KV-ready QLC: RUH 200+, 수명 보증 조건표</a:t>
            </a:r>
          </a:p>
        </p:txBody>
      </p:sp>
      <p:sp>
        <p:nvSpPr>
          <p:cNvPr id="35" name="Rectangle 34"/>
          <p:cNvSpPr/>
          <p:nvPr/>
        </p:nvSpPr>
        <p:spPr>
          <a:xfrm>
            <a:off x="6437376" y="3730752"/>
            <a:ext cx="5413248" cy="46268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784848" y="3877056"/>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2  </a:t>
            </a:r>
            <a:r>
              <a:rPr sz="1800" b="1">
                <a:solidFill>
                  <a:srgbClr val="1A1A1A"/>
                </a:solidFill>
                <a:latin typeface="Arial"/>
                <a:ea typeface="Arial"/>
              </a:rPr>
              <a:t>워크로드 분석으로 최적화한다</a:t>
            </a:r>
          </a:p>
        </p:txBody>
      </p:sp>
      <p:sp>
        <p:nvSpPr>
          <p:cNvPr id="37" name="Rectangle 36"/>
          <p:cNvSpPr/>
          <p:nvPr/>
        </p:nvSpPr>
        <p:spPr>
          <a:xfrm>
            <a:off x="6784848" y="4297680"/>
            <a:ext cx="354787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931152" y="4352544"/>
            <a:ext cx="3255264"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응용 · 추론 엔진</a:t>
            </a:r>
          </a:p>
          <a:p>
            <a:pPr algn="l">
              <a:lnSpc>
                <a:spcPct val="104000"/>
              </a:lnSpc>
            </a:pPr>
            <a:r>
              <a:rPr sz="1125" b="0">
                <a:solidFill>
                  <a:srgbClr val="8A8A8A"/>
                </a:solidFill>
                <a:latin typeface="Arial"/>
                <a:ea typeface="Arial"/>
              </a:rPr>
              <a:t>vLLM · SGLang · TensorRT-LLM</a:t>
            </a:r>
          </a:p>
        </p:txBody>
      </p:sp>
      <p:sp>
        <p:nvSpPr>
          <p:cNvPr id="39" name="Rectangle 38"/>
          <p:cNvSpPr/>
          <p:nvPr/>
        </p:nvSpPr>
        <p:spPr>
          <a:xfrm>
            <a:off x="6784848" y="5029200"/>
            <a:ext cx="354787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931152" y="5084064"/>
            <a:ext cx="3255264"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KV 캐시 관리자</a:t>
            </a:r>
          </a:p>
          <a:p>
            <a:pPr algn="l">
              <a:lnSpc>
                <a:spcPct val="104000"/>
              </a:lnSpc>
            </a:pPr>
            <a:r>
              <a:rPr sz="1125" b="0">
                <a:solidFill>
                  <a:srgbClr val="8A8A8A"/>
                </a:solidFill>
                <a:latin typeface="Arial"/>
                <a:ea typeface="Arial"/>
              </a:rPr>
              <a:t>KVBM 빈도 필터 · LMCache 퇴거 정책 = 트레이스의 원천</a:t>
            </a:r>
          </a:p>
        </p:txBody>
      </p:sp>
      <p:sp>
        <p:nvSpPr>
          <p:cNvPr id="41" name="Rectangle 40"/>
          <p:cNvSpPr/>
          <p:nvPr/>
        </p:nvSpPr>
        <p:spPr>
          <a:xfrm>
            <a:off x="6784848" y="5760720"/>
            <a:ext cx="3547872"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931152" y="5815584"/>
            <a:ext cx="3255264"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I/O 라이브러리</a:t>
            </a:r>
          </a:p>
          <a:p>
            <a:pPr algn="l">
              <a:lnSpc>
                <a:spcPct val="104000"/>
              </a:lnSpc>
            </a:pPr>
            <a:r>
              <a:rPr sz="1125" b="0">
                <a:solidFill>
                  <a:srgbClr val="1A1A1A"/>
                </a:solidFill>
                <a:latin typeface="Arial"/>
                <a:ea typeface="Arial"/>
              </a:rPr>
              <a:t>io_uring·GDS 백엔드에 write stream 부착 · xNVMe · fio·blktrace·eBPF</a:t>
            </a:r>
          </a:p>
        </p:txBody>
      </p:sp>
      <p:sp>
        <p:nvSpPr>
          <p:cNvPr id="43" name="Rectangle 42"/>
          <p:cNvSpPr/>
          <p:nvPr/>
        </p:nvSpPr>
        <p:spPr>
          <a:xfrm>
            <a:off x="6784848" y="6492240"/>
            <a:ext cx="3547872"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931152" y="6547104"/>
            <a:ext cx="3255264"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커널 · 플랫폼</a:t>
            </a:r>
          </a:p>
          <a:p>
            <a:pPr algn="l">
              <a:lnSpc>
                <a:spcPct val="104000"/>
              </a:lnSpc>
            </a:pPr>
            <a:r>
              <a:rPr sz="1125" b="0">
                <a:solidFill>
                  <a:srgbClr val="1A1A1A"/>
                </a:solidFill>
                <a:latin typeface="Arial"/>
                <a:ea typeface="Arial"/>
              </a:rPr>
              <a:t>Linux 6.16 write streams · XFS·f2fs 스트림 · CMX 힌트 매핑 검증</a:t>
            </a:r>
          </a:p>
        </p:txBody>
      </p:sp>
      <p:sp>
        <p:nvSpPr>
          <p:cNvPr id="45" name="Rectangle 44"/>
          <p:cNvSpPr/>
          <p:nvPr/>
        </p:nvSpPr>
        <p:spPr>
          <a:xfrm>
            <a:off x="6784848" y="7223760"/>
            <a:ext cx="3547872"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931152" y="7278624"/>
            <a:ext cx="3255264"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RUH 정책(수명·테넌트·prefix) · WAF·유효 DWPD 실측 · 디지털 트윈</a:t>
            </a:r>
          </a:p>
        </p:txBody>
      </p:sp>
      <p:sp>
        <p:nvSpPr>
          <p:cNvPr id="47" name="Down Arrow 46"/>
          <p:cNvSpPr/>
          <p:nvPr/>
        </p:nvSpPr>
        <p:spPr>
          <a:xfrm>
            <a:off x="10497312" y="4370832"/>
            <a:ext cx="201168" cy="3456432"/>
          </a:xfrm>
          <a:prstGeom prst="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Up Arrow 47"/>
          <p:cNvSpPr/>
          <p:nvPr/>
        </p:nvSpPr>
        <p:spPr>
          <a:xfrm>
            <a:off x="10753344" y="4370832"/>
            <a:ext cx="201168" cy="3456432"/>
          </a:xfrm>
          <a:prstGeom prst="up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1027664" y="5029200"/>
            <a:ext cx="676656" cy="676656"/>
          </a:xfrm>
          <a:prstGeom prst="rect">
            <a:avLst/>
          </a:prstGeom>
          <a:noFill/>
        </p:spPr>
        <p:txBody>
          <a:bodyPr wrap="square" anchor="ctr" lIns="0" rIns="0" tIns="0" bIns="0">
            <a:spAutoFit/>
          </a:bodyPr>
          <a:lstStyle/>
          <a:p>
            <a:pPr algn="l">
              <a:lnSpc>
                <a:spcPct val="100000"/>
              </a:lnSpc>
            </a:pPr>
            <a:r>
              <a:rPr sz="1200" b="1">
                <a:solidFill>
                  <a:srgbClr val="1A1A1A"/>
                </a:solidFill>
                <a:latin typeface="Arial"/>
                <a:ea typeface="Arial"/>
              </a:rPr>
              <a:t>트레이스</a:t>
            </a:r>
          </a:p>
          <a:p>
            <a:pPr algn="l">
              <a:lnSpc>
                <a:spcPct val="100000"/>
              </a:lnSpc>
            </a:pPr>
            <a:r>
              <a:rPr sz="1100" b="0">
                <a:solidFill>
                  <a:srgbClr val="555555"/>
                </a:solidFill>
                <a:latin typeface="Arial"/>
                <a:ea typeface="Arial"/>
              </a:rPr>
              <a:t>내려옴</a:t>
            </a:r>
          </a:p>
        </p:txBody>
      </p:sp>
      <p:sp>
        <p:nvSpPr>
          <p:cNvPr id="50" name="TextBox 49"/>
          <p:cNvSpPr txBox="1"/>
          <p:nvPr/>
        </p:nvSpPr>
        <p:spPr>
          <a:xfrm>
            <a:off x="11027664" y="6492240"/>
            <a:ext cx="676656" cy="676656"/>
          </a:xfrm>
          <a:prstGeom prst="rect">
            <a:avLst/>
          </a:prstGeom>
          <a:noFill/>
        </p:spPr>
        <p:txBody>
          <a:bodyPr wrap="square" anchor="ctr" lIns="0" rIns="0" tIns="0" bIns="0">
            <a:spAutoFit/>
          </a:bodyPr>
          <a:lstStyle/>
          <a:p>
            <a:pPr algn="l">
              <a:lnSpc>
                <a:spcPct val="100000"/>
              </a:lnSpc>
            </a:pPr>
            <a:r>
              <a:rPr sz="1200" b="1">
                <a:solidFill>
                  <a:srgbClr val="1428A0"/>
                </a:solidFill>
                <a:latin typeface="Arial"/>
                <a:ea typeface="Arial"/>
              </a:rPr>
              <a:t>정책</a:t>
            </a:r>
          </a:p>
          <a:p>
            <a:pPr algn="l">
              <a:lnSpc>
                <a:spcPct val="100000"/>
              </a:lnSpc>
            </a:pPr>
            <a:r>
              <a:rPr sz="1100" b="0">
                <a:solidFill>
                  <a:srgbClr val="555555"/>
                </a:solidFill>
                <a:latin typeface="Arial"/>
                <a:ea typeface="Arial"/>
              </a:rPr>
              <a:t>올라감</a:t>
            </a:r>
          </a:p>
        </p:txBody>
      </p:sp>
      <p:sp>
        <p:nvSpPr>
          <p:cNvPr id="51" name="TextBox 50"/>
          <p:cNvSpPr txBox="1"/>
          <p:nvPr/>
        </p:nvSpPr>
        <p:spPr>
          <a:xfrm>
            <a:off x="6784848" y="7955280"/>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트레이스 → RUH 정책 → WAF·DWPD 실측 공개</a:t>
            </a:r>
          </a:p>
        </p:txBody>
      </p:sp>
      <p:sp>
        <p:nvSpPr>
          <p:cNvPr id="52" name="Rectangle 51"/>
          <p:cNvSpPr/>
          <p:nvPr/>
        </p:nvSpPr>
        <p:spPr>
          <a:xfrm>
            <a:off x="12152376" y="3730752"/>
            <a:ext cx="5413248" cy="4626864"/>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2499848" y="3877056"/>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3  </a:t>
            </a:r>
            <a:r>
              <a:rPr sz="1800" b="1">
                <a:solidFill>
                  <a:srgbClr val="1A1A1A"/>
                </a:solidFill>
                <a:latin typeface="Arial"/>
                <a:ea typeface="Arial"/>
              </a:rPr>
              <a:t>고객 시스템 안에서 함께 설계한다</a:t>
            </a:r>
          </a:p>
        </p:txBody>
      </p:sp>
      <p:sp>
        <p:nvSpPr>
          <p:cNvPr id="54" name="Rectangle 53"/>
          <p:cNvSpPr/>
          <p:nvPr/>
        </p:nvSpPr>
        <p:spPr>
          <a:xfrm>
            <a:off x="12499848" y="4297680"/>
            <a:ext cx="3547872"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2646152" y="4352544"/>
            <a:ext cx="3255264"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응용 · 추론 엔진</a:t>
            </a:r>
          </a:p>
          <a:p>
            <a:pPr algn="l">
              <a:lnSpc>
                <a:spcPct val="104000"/>
              </a:lnSpc>
            </a:pPr>
            <a:r>
              <a:rPr sz="1125" b="0">
                <a:solidFill>
                  <a:srgbClr val="1A1A1A"/>
                </a:solidFill>
                <a:latin typeface="Arial"/>
                <a:ea typeface="Arial"/>
              </a:rPr>
              <a:t>커넥터·스케줄러 이해 · 공용 TCO 모델(GPU당 동시 사용자·TTFT·전력)</a:t>
            </a:r>
          </a:p>
        </p:txBody>
      </p:sp>
      <p:sp>
        <p:nvSpPr>
          <p:cNvPr id="56" name="Rectangle 55"/>
          <p:cNvSpPr/>
          <p:nvPr/>
        </p:nvSpPr>
        <p:spPr>
          <a:xfrm>
            <a:off x="12499848" y="5029200"/>
            <a:ext cx="3547872"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2646152" y="5084064"/>
            <a:ext cx="3255264"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KV 캐시 관리자</a:t>
            </a:r>
          </a:p>
          <a:p>
            <a:pPr algn="l">
              <a:lnSpc>
                <a:spcPct val="104000"/>
              </a:lnSpc>
            </a:pPr>
            <a:r>
              <a:rPr sz="1125" b="0">
                <a:solidFill>
                  <a:srgbClr val="FFFFFF"/>
                </a:solidFill>
                <a:latin typeface="Arial"/>
                <a:ea typeface="Arial"/>
              </a:rPr>
              <a:t>KVBM·LMCache·Mooncake·FlexKV 플러그인 메인라인 머지</a:t>
            </a:r>
          </a:p>
        </p:txBody>
      </p:sp>
      <p:sp>
        <p:nvSpPr>
          <p:cNvPr id="58" name="Rectangle 57"/>
          <p:cNvSpPr/>
          <p:nvPr/>
        </p:nvSpPr>
        <p:spPr>
          <a:xfrm>
            <a:off x="12499848" y="5760720"/>
            <a:ext cx="3547872"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2646152" y="5815584"/>
            <a:ext cx="3255264"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I/O 라이브러리</a:t>
            </a:r>
          </a:p>
          <a:p>
            <a:pPr algn="l">
              <a:lnSpc>
                <a:spcPct val="104000"/>
              </a:lnSpc>
            </a:pPr>
            <a:r>
              <a:rPr sz="1125" b="0">
                <a:solidFill>
                  <a:srgbClr val="FFFFFF"/>
                </a:solidFill>
                <a:latin typeface="Arial"/>
                <a:ea typeface="Arial"/>
              </a:rPr>
              <a:t>NIXL 스토리지 플러그인 · xNVMe 배치 API가 기본 백엔드</a:t>
            </a:r>
          </a:p>
        </p:txBody>
      </p:sp>
      <p:sp>
        <p:nvSpPr>
          <p:cNvPr id="60" name="Rectangle 59"/>
          <p:cNvSpPr/>
          <p:nvPr/>
        </p:nvSpPr>
        <p:spPr>
          <a:xfrm>
            <a:off x="12499848" y="6492240"/>
            <a:ext cx="3547872"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2646152" y="6547104"/>
            <a:ext cx="3255264"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커널 · 플랫폼</a:t>
            </a:r>
          </a:p>
          <a:p>
            <a:pPr algn="l">
              <a:lnSpc>
                <a:spcPct val="104000"/>
              </a:lnSpc>
            </a:pPr>
            <a:r>
              <a:rPr sz="1125" b="0">
                <a:solidFill>
                  <a:srgbClr val="FFFFFF"/>
                </a:solidFill>
                <a:latin typeface="Arial"/>
                <a:ea typeface="Arial"/>
              </a:rPr>
              <a:t>XFS·f2fs 스트림 완주 · DOCA Memos↔배치 표준 공동 정의 · SNIA·OCP</a:t>
            </a:r>
          </a:p>
        </p:txBody>
      </p:sp>
      <p:sp>
        <p:nvSpPr>
          <p:cNvPr id="62" name="Rectangle 61"/>
          <p:cNvSpPr/>
          <p:nvPr/>
        </p:nvSpPr>
        <p:spPr>
          <a:xfrm>
            <a:off x="12499848" y="7223760"/>
            <a:ext cx="3547872"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2646152" y="7278624"/>
            <a:ext cx="3255264"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레퍼런스 스택의 기본 디바이스 · 수명 보증 SLA</a:t>
            </a:r>
          </a:p>
        </p:txBody>
      </p:sp>
      <p:sp>
        <p:nvSpPr>
          <p:cNvPr id="64" name="Oval 63"/>
          <p:cNvSpPr/>
          <p:nvPr/>
        </p:nvSpPr>
        <p:spPr>
          <a:xfrm>
            <a:off x="16303751" y="5138928"/>
            <a:ext cx="173736" cy="17373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 Same Side Corner Rectangle 64"/>
          <p:cNvSpPr/>
          <p:nvPr/>
        </p:nvSpPr>
        <p:spPr>
          <a:xfrm>
            <a:off x="16230600" y="5340096"/>
            <a:ext cx="320040" cy="256032"/>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6623792" y="5029200"/>
            <a:ext cx="795528" cy="676656"/>
          </a:xfrm>
          <a:prstGeom prst="rect">
            <a:avLst/>
          </a:prstGeom>
          <a:noFill/>
        </p:spPr>
        <p:txBody>
          <a:bodyPr wrap="square" anchor="ctr" lIns="0" rIns="0" tIns="0" bIns="0">
            <a:spAutoFit/>
          </a:bodyPr>
          <a:lstStyle/>
          <a:p>
            <a:pPr algn="l">
              <a:lnSpc>
                <a:spcPct val="100000"/>
              </a:lnSpc>
            </a:pPr>
            <a:r>
              <a:rPr sz="1275" b="1">
                <a:solidFill>
                  <a:srgbClr val="1428A0"/>
                </a:solidFill>
                <a:latin typeface="Arial"/>
                <a:ea typeface="Arial"/>
              </a:rPr>
              <a:t>FDE 상주</a:t>
            </a:r>
          </a:p>
          <a:p>
            <a:pPr algn="l">
              <a:lnSpc>
                <a:spcPct val="100000"/>
              </a:lnSpc>
            </a:pPr>
            <a:r>
              <a:rPr sz="1125" b="0">
                <a:solidFill>
                  <a:srgbClr val="555555"/>
                </a:solidFill>
                <a:latin typeface="Arial"/>
                <a:ea typeface="Arial"/>
              </a:rPr>
              <a:t>공동 설계</a:t>
            </a:r>
          </a:p>
        </p:txBody>
      </p:sp>
      <p:sp>
        <p:nvSpPr>
          <p:cNvPr id="67" name="TextBox 66"/>
          <p:cNvSpPr txBox="1"/>
          <p:nvPr/>
        </p:nvSpPr>
        <p:spPr>
          <a:xfrm>
            <a:off x="16212312" y="5760720"/>
            <a:ext cx="1207008" cy="676656"/>
          </a:xfrm>
          <a:prstGeom prst="rect">
            <a:avLst/>
          </a:prstGeom>
          <a:noFill/>
        </p:spPr>
        <p:txBody>
          <a:bodyPr wrap="square" anchor="ctr" lIns="0" rIns="0" tIns="0" bIns="0">
            <a:spAutoFit/>
          </a:bodyPr>
          <a:lstStyle/>
          <a:p>
            <a:pPr algn="l">
              <a:lnSpc>
                <a:spcPct val="100000"/>
              </a:lnSpc>
            </a:pPr>
            <a:r>
              <a:rPr sz="1275" b="1">
                <a:solidFill>
                  <a:srgbClr val="1428A0"/>
                </a:solidFill>
                <a:latin typeface="Arial"/>
                <a:ea typeface="Arial"/>
              </a:rPr>
              <a:t>메인라인</a:t>
            </a:r>
          </a:p>
          <a:p>
            <a:pPr algn="l">
              <a:lnSpc>
                <a:spcPct val="100000"/>
              </a:lnSpc>
            </a:pPr>
            <a:r>
              <a:rPr sz="1125" b="0">
                <a:solidFill>
                  <a:srgbClr val="555555"/>
                </a:solidFill>
                <a:latin typeface="Arial"/>
                <a:ea typeface="Arial"/>
              </a:rPr>
              <a:t>머지</a:t>
            </a:r>
          </a:p>
        </p:txBody>
      </p:sp>
      <p:sp>
        <p:nvSpPr>
          <p:cNvPr id="68" name="TextBox 67"/>
          <p:cNvSpPr txBox="1"/>
          <p:nvPr/>
        </p:nvSpPr>
        <p:spPr>
          <a:xfrm>
            <a:off x="16212312" y="4297680"/>
            <a:ext cx="1207008" cy="676656"/>
          </a:xfrm>
          <a:prstGeom prst="rect">
            <a:avLst/>
          </a:prstGeom>
          <a:noFill/>
        </p:spPr>
        <p:txBody>
          <a:bodyPr wrap="square" anchor="ctr" lIns="0" rIns="0" tIns="0" bIns="0">
            <a:spAutoFit/>
          </a:bodyPr>
          <a:lstStyle/>
          <a:p>
            <a:pPr algn="l">
              <a:lnSpc>
                <a:spcPct val="100000"/>
              </a:lnSpc>
            </a:pPr>
            <a:r>
              <a:rPr sz="1275" b="1">
                <a:solidFill>
                  <a:srgbClr val="1A1A1A"/>
                </a:solidFill>
                <a:latin typeface="Arial"/>
                <a:ea typeface="Arial"/>
              </a:rPr>
              <a:t>공용 TCO</a:t>
            </a:r>
          </a:p>
          <a:p>
            <a:pPr algn="l">
              <a:lnSpc>
                <a:spcPct val="100000"/>
              </a:lnSpc>
            </a:pPr>
            <a:r>
              <a:rPr sz="1125" b="0">
                <a:solidFill>
                  <a:srgbClr val="555555"/>
                </a:solidFill>
                <a:latin typeface="Arial"/>
                <a:ea typeface="Arial"/>
              </a:rPr>
              <a:t>모델</a:t>
            </a:r>
          </a:p>
        </p:txBody>
      </p:sp>
      <p:sp>
        <p:nvSpPr>
          <p:cNvPr id="69" name="TextBox 68"/>
          <p:cNvSpPr txBox="1"/>
          <p:nvPr/>
        </p:nvSpPr>
        <p:spPr>
          <a:xfrm>
            <a:off x="12499848" y="7955280"/>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메인라인 머지 · 공용 TCO 모델 · 공동 계약</a:t>
            </a:r>
          </a:p>
        </p:txBody>
      </p:sp>
      <p:sp>
        <p:nvSpPr>
          <p:cNvPr id="70" name="Rectangle 69"/>
          <p:cNvSpPr/>
          <p:nvPr/>
        </p:nvSpPr>
        <p:spPr>
          <a:xfrm>
            <a:off x="722376" y="8485632"/>
            <a:ext cx="237744" cy="1645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1033272" y="8449056"/>
            <a:ext cx="1463040" cy="237744"/>
          </a:xfrm>
          <a:prstGeom prst="rect">
            <a:avLst/>
          </a:prstGeom>
          <a:noFill/>
        </p:spPr>
        <p:txBody>
          <a:bodyPr wrap="square" anchor="ctr" lIns="0" rIns="0" tIns="0" bIns="0">
            <a:spAutoFit/>
          </a:bodyPr>
          <a:lstStyle/>
          <a:p>
            <a:pPr algn="l">
              <a:lnSpc>
                <a:spcPct val="112000"/>
              </a:lnSpc>
            </a:pPr>
            <a:r>
              <a:rPr sz="1275" b="0">
                <a:solidFill>
                  <a:srgbClr val="555555"/>
                </a:solidFill>
                <a:latin typeface="Arial"/>
                <a:ea typeface="Arial"/>
              </a:rPr>
              <a:t>우리 코드·제품</a:t>
            </a:r>
          </a:p>
        </p:txBody>
      </p:sp>
      <p:sp>
        <p:nvSpPr>
          <p:cNvPr id="72" name="Rectangle 71"/>
          <p:cNvSpPr/>
          <p:nvPr/>
        </p:nvSpPr>
        <p:spPr>
          <a:xfrm>
            <a:off x="2551176" y="8485632"/>
            <a:ext cx="237744" cy="16459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2862072" y="8449056"/>
            <a:ext cx="1463040" cy="237744"/>
          </a:xfrm>
          <a:prstGeom prst="rect">
            <a:avLst/>
          </a:prstGeom>
          <a:noFill/>
        </p:spPr>
        <p:txBody>
          <a:bodyPr wrap="square" anchor="ctr" lIns="0" rIns="0" tIns="0" bIns="0">
            <a:spAutoFit/>
          </a:bodyPr>
          <a:lstStyle/>
          <a:p>
            <a:pPr algn="l">
              <a:lnSpc>
                <a:spcPct val="112000"/>
              </a:lnSpc>
            </a:pPr>
            <a:r>
              <a:rPr sz="1275" b="0">
                <a:solidFill>
                  <a:srgbClr val="555555"/>
                </a:solidFill>
                <a:latin typeface="Arial"/>
                <a:ea typeface="Arial"/>
              </a:rPr>
              <a:t>관측·이해</a:t>
            </a:r>
          </a:p>
        </p:txBody>
      </p:sp>
      <p:sp>
        <p:nvSpPr>
          <p:cNvPr id="74" name="Rectangle 73"/>
          <p:cNvSpPr/>
          <p:nvPr/>
        </p:nvSpPr>
        <p:spPr>
          <a:xfrm>
            <a:off x="4379976" y="8485632"/>
            <a:ext cx="237744" cy="1645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690872" y="8449056"/>
            <a:ext cx="1463040" cy="237744"/>
          </a:xfrm>
          <a:prstGeom prst="rect">
            <a:avLst/>
          </a:prstGeom>
          <a:noFill/>
        </p:spPr>
        <p:txBody>
          <a:bodyPr wrap="square" anchor="ctr" lIns="0" rIns="0" tIns="0" bIns="0">
            <a:spAutoFit/>
          </a:bodyPr>
          <a:lstStyle/>
          <a:p>
            <a:pPr algn="l">
              <a:lnSpc>
                <a:spcPct val="112000"/>
              </a:lnSpc>
            </a:pPr>
            <a:r>
              <a:rPr sz="1275" b="0">
                <a:solidFill>
                  <a:srgbClr val="555555"/>
                </a:solidFill>
                <a:latin typeface="Arial"/>
                <a:ea typeface="Arial"/>
              </a:rPr>
              <a:t>고객 영역</a:t>
            </a:r>
          </a:p>
        </p:txBody>
      </p:sp>
      <p:sp>
        <p:nvSpPr>
          <p:cNvPr id="76" name="Rectangle 75"/>
          <p:cNvSpPr/>
          <p:nvPr/>
        </p:nvSpPr>
        <p:spPr>
          <a:xfrm>
            <a:off x="722376" y="8778240"/>
            <a:ext cx="5413248" cy="1645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6437376" y="8778240"/>
            <a:ext cx="5413248" cy="1645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12152376" y="8778240"/>
            <a:ext cx="5413248" cy="1645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722376" y="8778240"/>
            <a:ext cx="5413248" cy="1645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6437376" y="8778240"/>
            <a:ext cx="1515709" cy="16459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Isosceles Triangle 80"/>
          <p:cNvSpPr/>
          <p:nvPr/>
        </p:nvSpPr>
        <p:spPr>
          <a:xfrm>
            <a:off x="7834213" y="8979407"/>
            <a:ext cx="237744" cy="182880"/>
          </a:xfrm>
          <a:prstGeom prst="triangl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8154253" y="8942832"/>
            <a:ext cx="8229600" cy="274320"/>
          </a:xfrm>
          <a:prstGeom prst="rect">
            <a:avLst/>
          </a:prstGeom>
          <a:noFill/>
        </p:spPr>
        <p:txBody>
          <a:bodyPr wrap="square" anchor="ctr" lIns="0" rIns="0" tIns="0" bIns="0">
            <a:spAutoFit/>
          </a:bodyPr>
          <a:lstStyle/>
          <a:p>
            <a:pPr algn="l">
              <a:lnSpc>
                <a:spcPct val="112000"/>
              </a:lnSpc>
            </a:pPr>
            <a:r>
              <a:rPr sz="1350" b="1">
                <a:solidFill>
                  <a:srgbClr val="1428A0"/>
                </a:solidFill>
                <a:latin typeface="Arial"/>
                <a:ea typeface="Arial"/>
              </a:rPr>
              <a:t>삼성 현 위치  </a:t>
            </a:r>
            <a:r>
              <a:rPr sz="1275" b="0">
                <a:solidFill>
                  <a:srgbClr val="555555"/>
                </a:solidFill>
                <a:latin typeface="Arial"/>
                <a:ea typeface="Arial"/>
              </a:rPr>
              <a:t>디바이스는 확보(CMX 첫 공급), 워크로드 실측은 미공개, 캐시 관리자 4종 기여 0</a:t>
            </a:r>
          </a:p>
        </p:txBody>
      </p:sp>
      <p:sp>
        <p:nvSpPr>
          <p:cNvPr id="83" name="TextBox 82"/>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StorageReview·Solidigm·Kioxia 스펙(DWPD), ScaleFlux 2026-07(RUH 200+), GitHub README 확인(LMCache·Mooncake·FlexKV·3FS·xNVMe), CacheLib FDP 문서(WAF), Linux 6.16·XFS 패치, NVIDIA CMX 문서</a:t>
            </a:r>
          </a:p>
        </p:txBody>
      </p:sp>
      <p:sp>
        <p:nvSpPr>
          <p:cNvPr id="84" name="TextBox 83"/>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02 / 03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50392"/>
            <a:ext cx="16843248"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QLC eSSD 전략 · 실행 전략과 고객 협업</a:t>
            </a:r>
          </a:p>
        </p:txBody>
      </p:sp>
      <p:sp>
        <p:nvSpPr>
          <p:cNvPr id="5" name="TextBox 4"/>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FDE로 고객 시스템 안에 들어가고, 전략적 협약으로 워크로드를 받습니다. 선례는 이미 있습니다</a:t>
            </a:r>
          </a:p>
        </p:txBody>
      </p:sp>
      <p:sp>
        <p:nvSpPr>
          <p:cNvPr id="6" name="TextBox 5"/>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Palantir가 만든 FDE와 Micron이 Anthropic과 맺은 SCA가 두 목표의 선례입니다. 조직·인사·문화가 그 길을 엽니다.</a:t>
            </a:r>
          </a:p>
        </p:txBody>
      </p:sp>
      <p:sp>
        <p:nvSpPr>
          <p:cNvPr id="7" name="Rectangle 6"/>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22376" y="2560320"/>
            <a:ext cx="3520440" cy="4133087"/>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2761488"/>
            <a:ext cx="2898648" cy="292608"/>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 개발실</a:t>
            </a:r>
          </a:p>
        </p:txBody>
      </p:sp>
      <p:sp>
        <p:nvSpPr>
          <p:cNvPr id="10" name="TextBox 9"/>
          <p:cNvSpPr txBox="1"/>
          <p:nvPr/>
        </p:nvSpPr>
        <p:spPr>
          <a:xfrm>
            <a:off x="1033272" y="3072384"/>
            <a:ext cx="2898648" cy="237744"/>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들고 들어가는 것</a:t>
            </a:r>
          </a:p>
        </p:txBody>
      </p:sp>
      <p:sp>
        <p:nvSpPr>
          <p:cNvPr id="11" name="Rectangle 10"/>
          <p:cNvSpPr/>
          <p:nvPr/>
        </p:nvSpPr>
        <p:spPr>
          <a:xfrm>
            <a:off x="1033272" y="3593591"/>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89304" y="3493008"/>
            <a:ext cx="2642616" cy="347472"/>
          </a:xfrm>
          <a:prstGeom prst="rect">
            <a:avLst/>
          </a:prstGeom>
          <a:noFill/>
        </p:spPr>
        <p:txBody>
          <a:bodyPr wrap="square" anchor="ctr" lIns="0" rIns="0" tIns="0" bIns="0">
            <a:spAutoFit/>
          </a:bodyPr>
          <a:lstStyle/>
          <a:p>
            <a:pPr algn="l">
              <a:lnSpc>
                <a:spcPct val="112000"/>
              </a:lnSpc>
            </a:pPr>
            <a:r>
              <a:rPr sz="1425" b="1">
                <a:solidFill>
                  <a:srgbClr val="1A1A1A"/>
                </a:solidFill>
                <a:latin typeface="Arial"/>
                <a:ea typeface="Arial"/>
              </a:rPr>
              <a:t>KV-ready QLC + 수명 보증</a:t>
            </a:r>
          </a:p>
        </p:txBody>
      </p:sp>
      <p:sp>
        <p:nvSpPr>
          <p:cNvPr id="13" name="Rectangle 12"/>
          <p:cNvSpPr/>
          <p:nvPr/>
        </p:nvSpPr>
        <p:spPr>
          <a:xfrm>
            <a:off x="1033272" y="4178808"/>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9304" y="4078224"/>
            <a:ext cx="2642616" cy="347472"/>
          </a:xfrm>
          <a:prstGeom prst="rect">
            <a:avLst/>
          </a:prstGeom>
          <a:noFill/>
        </p:spPr>
        <p:txBody>
          <a:bodyPr wrap="square" anchor="ctr" lIns="0" rIns="0" tIns="0" bIns="0">
            <a:spAutoFit/>
          </a:bodyPr>
          <a:lstStyle/>
          <a:p>
            <a:pPr algn="l">
              <a:lnSpc>
                <a:spcPct val="112000"/>
              </a:lnSpc>
            </a:pPr>
            <a:r>
              <a:rPr sz="1425" b="1">
                <a:solidFill>
                  <a:srgbClr val="1A1A1A"/>
                </a:solidFill>
                <a:latin typeface="Arial"/>
                <a:ea typeface="Arial"/>
              </a:rPr>
              <a:t>FDE(고객 상주 엔지니어)</a:t>
            </a:r>
          </a:p>
        </p:txBody>
      </p:sp>
      <p:sp>
        <p:nvSpPr>
          <p:cNvPr id="15" name="Rectangle 14"/>
          <p:cNvSpPr/>
          <p:nvPr/>
        </p:nvSpPr>
        <p:spPr>
          <a:xfrm>
            <a:off x="1033272" y="4764024"/>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89304" y="4663440"/>
            <a:ext cx="2642616" cy="347472"/>
          </a:xfrm>
          <a:prstGeom prst="rect">
            <a:avLst/>
          </a:prstGeom>
          <a:noFill/>
        </p:spPr>
        <p:txBody>
          <a:bodyPr wrap="square" anchor="ctr" lIns="0" rIns="0" tIns="0" bIns="0">
            <a:spAutoFit/>
          </a:bodyPr>
          <a:lstStyle/>
          <a:p>
            <a:pPr algn="l">
              <a:lnSpc>
                <a:spcPct val="112000"/>
              </a:lnSpc>
            </a:pPr>
            <a:r>
              <a:rPr sz="1425" b="1">
                <a:solidFill>
                  <a:srgbClr val="1A1A1A"/>
                </a:solidFill>
                <a:latin typeface="Arial"/>
                <a:ea typeface="Arial"/>
              </a:rPr>
              <a:t>업스트림 코드 · 공용 TCO 모델</a:t>
            </a:r>
          </a:p>
        </p:txBody>
      </p:sp>
      <p:sp>
        <p:nvSpPr>
          <p:cNvPr id="17" name="Rectangle 16"/>
          <p:cNvSpPr/>
          <p:nvPr/>
        </p:nvSpPr>
        <p:spPr>
          <a:xfrm>
            <a:off x="1033272" y="5349240"/>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289304" y="5248655"/>
            <a:ext cx="2642616" cy="347472"/>
          </a:xfrm>
          <a:prstGeom prst="rect">
            <a:avLst/>
          </a:prstGeom>
          <a:noFill/>
        </p:spPr>
        <p:txBody>
          <a:bodyPr wrap="square" anchor="ctr" lIns="0" rIns="0" tIns="0" bIns="0">
            <a:spAutoFit/>
          </a:bodyPr>
          <a:lstStyle/>
          <a:p>
            <a:pPr algn="l">
              <a:lnSpc>
                <a:spcPct val="112000"/>
              </a:lnSpc>
            </a:pPr>
            <a:r>
              <a:rPr sz="1425" b="1">
                <a:solidFill>
                  <a:srgbClr val="1A1A1A"/>
                </a:solidFill>
                <a:latin typeface="Arial"/>
                <a:ea typeface="Arial"/>
              </a:rPr>
              <a:t>다년 공급 · 선급 · 자본</a:t>
            </a:r>
          </a:p>
        </p:txBody>
      </p:sp>
      <p:sp>
        <p:nvSpPr>
          <p:cNvPr id="19" name="Rectangle 18"/>
          <p:cNvSpPr/>
          <p:nvPr/>
        </p:nvSpPr>
        <p:spPr>
          <a:xfrm>
            <a:off x="1033272" y="5961888"/>
            <a:ext cx="2898648"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6053327"/>
            <a:ext cx="2898648" cy="457200"/>
          </a:xfrm>
          <a:prstGeom prst="rect">
            <a:avLst/>
          </a:prstGeom>
          <a:noFill/>
        </p:spPr>
        <p:txBody>
          <a:bodyPr wrap="square" anchor="ctr" lIns="0" rIns="0" tIns="0" bIns="0">
            <a:spAutoFit/>
          </a:bodyPr>
          <a:lstStyle/>
          <a:p>
            <a:pPr algn="l">
              <a:lnSpc>
                <a:spcPct val="104000"/>
              </a:lnSpc>
            </a:pPr>
            <a:r>
              <a:rPr sz="1275" b="0">
                <a:solidFill>
                  <a:srgbClr val="555555"/>
                </a:solidFill>
                <a:latin typeface="Arial"/>
                <a:ea typeface="Arial"/>
              </a:rPr>
              <a:t>자회사 · 현지 채용 시스템 SW 전문가 · 오픈소스 주도 문화가 뒤를 받칩니다</a:t>
            </a:r>
          </a:p>
        </p:txBody>
      </p:sp>
      <p:sp>
        <p:nvSpPr>
          <p:cNvPr id="21" name="Rectangle 20"/>
          <p:cNvSpPr/>
          <p:nvPr/>
        </p:nvSpPr>
        <p:spPr>
          <a:xfrm>
            <a:off x="13633704" y="2560320"/>
            <a:ext cx="3931920" cy="4133087"/>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3944600" y="2761488"/>
            <a:ext cx="3310127" cy="292608"/>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고객 시스템</a:t>
            </a:r>
          </a:p>
        </p:txBody>
      </p:sp>
      <p:sp>
        <p:nvSpPr>
          <p:cNvPr id="23" name="TextBox 22"/>
          <p:cNvSpPr txBox="1"/>
          <p:nvPr/>
        </p:nvSpPr>
        <p:spPr>
          <a:xfrm>
            <a:off x="13944600" y="3072384"/>
            <a:ext cx="3310127" cy="237744"/>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우리 사람과 코드가 들어가는 자리</a:t>
            </a:r>
          </a:p>
        </p:txBody>
      </p:sp>
      <p:sp>
        <p:nvSpPr>
          <p:cNvPr id="24" name="Rectangle 23"/>
          <p:cNvSpPr/>
          <p:nvPr/>
        </p:nvSpPr>
        <p:spPr>
          <a:xfrm>
            <a:off x="13944600" y="3456432"/>
            <a:ext cx="2340864"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4081760" y="3456432"/>
            <a:ext cx="2066544" cy="457200"/>
          </a:xfrm>
          <a:prstGeom prst="rect">
            <a:avLst/>
          </a:prstGeom>
          <a:noFill/>
        </p:spPr>
        <p:txBody>
          <a:bodyPr wrap="square" anchor="ctr" lIns="0" rIns="0" tIns="0" bIns="0">
            <a:spAutoFit/>
          </a:bodyPr>
          <a:lstStyle/>
          <a:p>
            <a:pPr algn="l">
              <a:lnSpc>
                <a:spcPct val="112000"/>
              </a:lnSpc>
            </a:pPr>
            <a:r>
              <a:rPr sz="1350" b="0">
                <a:solidFill>
                  <a:srgbClr val="555555"/>
                </a:solidFill>
                <a:latin typeface="Arial"/>
                <a:ea typeface="Arial"/>
              </a:rPr>
              <a:t>응용 · 추론 엔진</a:t>
            </a:r>
          </a:p>
        </p:txBody>
      </p:sp>
      <p:sp>
        <p:nvSpPr>
          <p:cNvPr id="26" name="Rectangle 25"/>
          <p:cNvSpPr/>
          <p:nvPr/>
        </p:nvSpPr>
        <p:spPr>
          <a:xfrm>
            <a:off x="13944600" y="3995928"/>
            <a:ext cx="2340864" cy="45720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4081760" y="3995928"/>
            <a:ext cx="2066544" cy="457200"/>
          </a:xfrm>
          <a:prstGeom prst="rect">
            <a:avLst/>
          </a:prstGeom>
          <a:noFill/>
        </p:spPr>
        <p:txBody>
          <a:bodyPr wrap="square" anchor="ctr" lIns="0" rIns="0" tIns="0" bIns="0">
            <a:spAutoFit/>
          </a:bodyPr>
          <a:lstStyle/>
          <a:p>
            <a:pPr algn="l">
              <a:lnSpc>
                <a:spcPct val="112000"/>
              </a:lnSpc>
            </a:pPr>
            <a:r>
              <a:rPr sz="1350" b="1">
                <a:solidFill>
                  <a:srgbClr val="1A1A1A"/>
                </a:solidFill>
                <a:latin typeface="Arial"/>
                <a:ea typeface="Arial"/>
              </a:rPr>
              <a:t>KV 캐시 관리자</a:t>
            </a:r>
          </a:p>
        </p:txBody>
      </p:sp>
      <p:sp>
        <p:nvSpPr>
          <p:cNvPr id="28" name="Rectangle 27"/>
          <p:cNvSpPr/>
          <p:nvPr/>
        </p:nvSpPr>
        <p:spPr>
          <a:xfrm>
            <a:off x="13944600" y="4535424"/>
            <a:ext cx="2340864" cy="45720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4081760" y="4535424"/>
            <a:ext cx="2066544" cy="457200"/>
          </a:xfrm>
          <a:prstGeom prst="rect">
            <a:avLst/>
          </a:prstGeom>
          <a:noFill/>
        </p:spPr>
        <p:txBody>
          <a:bodyPr wrap="square" anchor="ctr" lIns="0" rIns="0" tIns="0" bIns="0">
            <a:spAutoFit/>
          </a:bodyPr>
          <a:lstStyle/>
          <a:p>
            <a:pPr algn="l">
              <a:lnSpc>
                <a:spcPct val="112000"/>
              </a:lnSpc>
            </a:pPr>
            <a:r>
              <a:rPr sz="1350" b="1">
                <a:solidFill>
                  <a:srgbClr val="FFFFFF"/>
                </a:solidFill>
                <a:latin typeface="Arial"/>
                <a:ea typeface="Arial"/>
              </a:rPr>
              <a:t>I/O · 커널</a:t>
            </a:r>
          </a:p>
        </p:txBody>
      </p:sp>
      <p:sp>
        <p:nvSpPr>
          <p:cNvPr id="30" name="Rectangle 29"/>
          <p:cNvSpPr/>
          <p:nvPr/>
        </p:nvSpPr>
        <p:spPr>
          <a:xfrm>
            <a:off x="13944600" y="5074920"/>
            <a:ext cx="2340864" cy="45720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4081760" y="5074920"/>
            <a:ext cx="2066544" cy="457200"/>
          </a:xfrm>
          <a:prstGeom prst="rect">
            <a:avLst/>
          </a:prstGeom>
          <a:noFill/>
        </p:spPr>
        <p:txBody>
          <a:bodyPr wrap="square" anchor="ctr" lIns="0" rIns="0" tIns="0" bIns="0">
            <a:spAutoFit/>
          </a:bodyPr>
          <a:lstStyle/>
          <a:p>
            <a:pPr algn="l">
              <a:lnSpc>
                <a:spcPct val="112000"/>
              </a:lnSpc>
            </a:pPr>
            <a:r>
              <a:rPr sz="1350" b="1">
                <a:solidFill>
                  <a:srgbClr val="FFFFFF"/>
                </a:solidFill>
                <a:latin typeface="Arial"/>
                <a:ea typeface="Arial"/>
              </a:rPr>
              <a:t>SSD: 삼성 QLC</a:t>
            </a:r>
          </a:p>
        </p:txBody>
      </p:sp>
      <p:sp>
        <p:nvSpPr>
          <p:cNvPr id="32" name="Oval 31"/>
          <p:cNvSpPr/>
          <p:nvPr/>
        </p:nvSpPr>
        <p:spPr>
          <a:xfrm>
            <a:off x="16496141" y="4023360"/>
            <a:ext cx="152887" cy="152887"/>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 Same Side Corner Rectangle 32"/>
          <p:cNvSpPr/>
          <p:nvPr/>
        </p:nvSpPr>
        <p:spPr>
          <a:xfrm>
            <a:off x="16431767" y="4200387"/>
            <a:ext cx="281635" cy="225308"/>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6786555" y="3995928"/>
            <a:ext cx="731520" cy="457200"/>
          </a:xfrm>
          <a:prstGeom prst="rect">
            <a:avLst/>
          </a:prstGeom>
          <a:noFill/>
        </p:spPr>
        <p:txBody>
          <a:bodyPr wrap="square" anchor="ctr" lIns="0" rIns="0" tIns="0" bIns="0">
            <a:spAutoFit/>
          </a:bodyPr>
          <a:lstStyle/>
          <a:p>
            <a:pPr algn="l">
              <a:lnSpc>
                <a:spcPct val="112000"/>
              </a:lnSpc>
            </a:pPr>
            <a:r>
              <a:rPr sz="1275" b="1">
                <a:solidFill>
                  <a:srgbClr val="1428A0"/>
                </a:solidFill>
                <a:latin typeface="Arial"/>
                <a:ea typeface="Arial"/>
              </a:rPr>
              <a:t>FDE</a:t>
            </a:r>
          </a:p>
        </p:txBody>
      </p:sp>
      <p:sp>
        <p:nvSpPr>
          <p:cNvPr id="35" name="TextBox 34"/>
          <p:cNvSpPr txBox="1"/>
          <p:nvPr/>
        </p:nvSpPr>
        <p:spPr>
          <a:xfrm>
            <a:off x="16431767" y="4535424"/>
            <a:ext cx="960120" cy="457200"/>
          </a:xfrm>
          <a:prstGeom prst="rect">
            <a:avLst/>
          </a:prstGeom>
          <a:noFill/>
        </p:spPr>
        <p:txBody>
          <a:bodyPr wrap="square" anchor="ctr" lIns="0" rIns="0" tIns="0" bIns="0">
            <a:spAutoFit/>
          </a:bodyPr>
          <a:lstStyle/>
          <a:p>
            <a:pPr algn="l">
              <a:lnSpc>
                <a:spcPct val="112000"/>
              </a:lnSpc>
            </a:pPr>
            <a:r>
              <a:rPr sz="1275" b="1">
                <a:solidFill>
                  <a:srgbClr val="1428A0"/>
                </a:solidFill>
                <a:latin typeface="Arial"/>
                <a:ea typeface="Arial"/>
              </a:rPr>
              <a:t>머지</a:t>
            </a:r>
          </a:p>
        </p:txBody>
      </p:sp>
      <p:pic>
        <p:nvPicPr>
          <p:cNvPr id="36" name="Picture 35" descr="anthropic.png"/>
          <p:cNvPicPr>
            <a:picLocks noChangeAspect="1"/>
          </p:cNvPicPr>
          <p:nvPr/>
        </p:nvPicPr>
        <p:blipFill>
          <a:blip r:embed="rId2"/>
          <a:stretch>
            <a:fillRect/>
          </a:stretch>
        </p:blipFill>
        <p:spPr>
          <a:xfrm>
            <a:off x="13944600" y="6170781"/>
            <a:ext cx="1154585" cy="130853"/>
          </a:xfrm>
          <a:prstGeom prst="rect">
            <a:avLst/>
          </a:prstGeom>
        </p:spPr>
      </p:pic>
      <p:pic>
        <p:nvPicPr>
          <p:cNvPr id="37" name="Picture 36" descr="openai.png"/>
          <p:cNvPicPr>
            <a:picLocks noChangeAspect="1"/>
          </p:cNvPicPr>
          <p:nvPr/>
        </p:nvPicPr>
        <p:blipFill>
          <a:blip r:embed="rId3"/>
          <a:stretch>
            <a:fillRect/>
          </a:stretch>
        </p:blipFill>
        <p:spPr>
          <a:xfrm>
            <a:off x="15197326" y="6170781"/>
            <a:ext cx="532886" cy="130853"/>
          </a:xfrm>
          <a:prstGeom prst="rect">
            <a:avLst/>
          </a:prstGeom>
        </p:spPr>
      </p:pic>
      <p:pic>
        <p:nvPicPr>
          <p:cNvPr id="38" name="Picture 37" descr="nvidia.png"/>
          <p:cNvPicPr>
            <a:picLocks noChangeAspect="1"/>
          </p:cNvPicPr>
          <p:nvPr/>
        </p:nvPicPr>
        <p:blipFill>
          <a:blip r:embed="rId4"/>
          <a:stretch>
            <a:fillRect/>
          </a:stretch>
        </p:blipFill>
        <p:spPr>
          <a:xfrm>
            <a:off x="15828351" y="6170781"/>
            <a:ext cx="684696" cy="130853"/>
          </a:xfrm>
          <a:prstGeom prst="rect">
            <a:avLst/>
          </a:prstGeom>
        </p:spPr>
      </p:pic>
      <p:pic>
        <p:nvPicPr>
          <p:cNvPr id="39" name="Picture 38" descr="meta.png"/>
          <p:cNvPicPr>
            <a:picLocks noChangeAspect="1"/>
          </p:cNvPicPr>
          <p:nvPr/>
        </p:nvPicPr>
        <p:blipFill>
          <a:blip r:embed="rId5"/>
          <a:stretch>
            <a:fillRect/>
          </a:stretch>
        </p:blipFill>
        <p:spPr>
          <a:xfrm>
            <a:off x="16611188" y="6170781"/>
            <a:ext cx="643539" cy="130853"/>
          </a:xfrm>
          <a:prstGeom prst="rect">
            <a:avLst/>
          </a:prstGeom>
        </p:spPr>
      </p:pic>
      <p:sp>
        <p:nvSpPr>
          <p:cNvPr id="40" name="Right Arrow 39"/>
          <p:cNvSpPr/>
          <p:nvPr/>
        </p:nvSpPr>
        <p:spPr>
          <a:xfrm>
            <a:off x="4498848" y="2670048"/>
            <a:ext cx="8878824" cy="841248"/>
          </a:xfrm>
          <a:prstGeom prst="rightArrow">
            <a:avLst>
              <a:gd name="adj1" fmla="val 80000"/>
              <a:gd name="adj2" fmla="val 26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864608" y="2670048"/>
            <a:ext cx="7598664" cy="841248"/>
          </a:xfrm>
          <a:prstGeom prst="rect">
            <a:avLst/>
          </a:prstGeom>
          <a:noFill/>
        </p:spPr>
        <p:txBody>
          <a:bodyPr wrap="square" anchor="ctr" lIns="0" rIns="0" tIns="0" bIns="0">
            <a:spAutoFit/>
          </a:bodyPr>
          <a:lstStyle/>
          <a:p>
            <a:pPr algn="l">
              <a:lnSpc>
                <a:spcPct val="106000"/>
              </a:lnSpc>
            </a:pPr>
            <a:r>
              <a:rPr sz="1725" b="1">
                <a:solidFill>
                  <a:srgbClr val="FFFFFF"/>
                </a:solidFill>
                <a:latin typeface="Arial"/>
                <a:ea typeface="Arial"/>
              </a:rPr>
              <a:t>① FDE가 고객 시스템 안으로 들어간다</a:t>
            </a:r>
          </a:p>
          <a:p>
            <a:pPr algn="l">
              <a:lnSpc>
                <a:spcPct val="106000"/>
              </a:lnSpc>
            </a:pPr>
            <a:r>
              <a:rPr sz="1350" b="0">
                <a:solidFill>
                  <a:srgbClr val="FFFFFF"/>
                </a:solidFill>
                <a:latin typeface="Arial"/>
                <a:ea typeface="Arial"/>
              </a:rPr>
              <a:t>상주 엔지니어 · 업스트림 코드 · 수명 보증</a:t>
            </a:r>
          </a:p>
        </p:txBody>
      </p:sp>
      <p:sp>
        <p:nvSpPr>
          <p:cNvPr id="42" name="Rectangle 41"/>
          <p:cNvSpPr/>
          <p:nvPr/>
        </p:nvSpPr>
        <p:spPr>
          <a:xfrm>
            <a:off x="4498848" y="3657600"/>
            <a:ext cx="4338828" cy="1938527"/>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718304" y="3767328"/>
            <a:ext cx="3899916" cy="256032"/>
          </a:xfrm>
          <a:prstGeom prst="rect">
            <a:avLst/>
          </a:prstGeom>
          <a:noFill/>
        </p:spPr>
        <p:txBody>
          <a:bodyPr wrap="square" anchor="t" lIns="0" rIns="0" tIns="0" bIns="0">
            <a:spAutoFit/>
          </a:bodyPr>
          <a:lstStyle/>
          <a:p>
            <a:pPr algn="l">
              <a:lnSpc>
                <a:spcPct val="112000"/>
              </a:lnSpc>
            </a:pPr>
            <a:r>
              <a:rPr sz="1350" b="0">
                <a:solidFill>
                  <a:srgbClr val="555555"/>
                </a:solidFill>
                <a:latin typeface="Arial"/>
                <a:ea typeface="Arial"/>
              </a:rPr>
              <a:t>선례 · </a:t>
            </a:r>
            <a:r>
              <a:rPr sz="1350" b="1">
                <a:solidFill>
                  <a:srgbClr val="1428A0"/>
                </a:solidFill>
                <a:latin typeface="Arial"/>
                <a:ea typeface="Arial"/>
              </a:rPr>
              <a:t>Palantir FDE</a:t>
            </a:r>
            <a:r>
              <a:rPr sz="1200" b="0">
                <a:solidFill>
                  <a:srgbClr val="555555"/>
                </a:solidFill>
                <a:latin typeface="Arial"/>
                <a:ea typeface="Arial"/>
              </a:rPr>
              <a:t> (Forward Deployed Engineer)</a:t>
            </a:r>
          </a:p>
        </p:txBody>
      </p:sp>
      <p:sp>
        <p:nvSpPr>
          <p:cNvPr id="44" name="Oval 43"/>
          <p:cNvSpPr/>
          <p:nvPr/>
        </p:nvSpPr>
        <p:spPr>
          <a:xfrm>
            <a:off x="4770973" y="4178807"/>
            <a:ext cx="125089" cy="125089"/>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 Same Side Corner Rectangle 44"/>
          <p:cNvSpPr/>
          <p:nvPr/>
        </p:nvSpPr>
        <p:spPr>
          <a:xfrm>
            <a:off x="4718304" y="4323648"/>
            <a:ext cx="230428" cy="184343"/>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5045293" y="4178807"/>
            <a:ext cx="125089" cy="125089"/>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 Same Side Corner Rectangle 46"/>
          <p:cNvSpPr/>
          <p:nvPr/>
        </p:nvSpPr>
        <p:spPr>
          <a:xfrm>
            <a:off x="4992624" y="4323648"/>
            <a:ext cx="230428" cy="184343"/>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5319613" y="4178807"/>
            <a:ext cx="125089" cy="125089"/>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 Same Side Corner Rectangle 48"/>
          <p:cNvSpPr/>
          <p:nvPr/>
        </p:nvSpPr>
        <p:spPr>
          <a:xfrm>
            <a:off x="5266944" y="4323648"/>
            <a:ext cx="230428" cy="184343"/>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ight Arrow 49"/>
          <p:cNvSpPr/>
          <p:nvPr/>
        </p:nvSpPr>
        <p:spPr>
          <a:xfrm>
            <a:off x="5614416" y="4261103"/>
            <a:ext cx="310896" cy="146304"/>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5998464" y="4133087"/>
            <a:ext cx="960120" cy="420624"/>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998464" y="4133087"/>
            <a:ext cx="960120" cy="420624"/>
          </a:xfrm>
          <a:prstGeom prst="rect">
            <a:avLst/>
          </a:prstGeom>
          <a:noFill/>
        </p:spPr>
        <p:txBody>
          <a:bodyPr wrap="square" anchor="ctr" lIns="0" rIns="0" tIns="0" bIns="0">
            <a:spAutoFit/>
          </a:bodyPr>
          <a:lstStyle/>
          <a:p>
            <a:pPr algn="ctr">
              <a:lnSpc>
                <a:spcPct val="112000"/>
              </a:lnSpc>
            </a:pPr>
            <a:r>
              <a:rPr sz="1200" b="1">
                <a:solidFill>
                  <a:srgbClr val="1A1A1A"/>
                </a:solidFill>
                <a:latin typeface="Arial"/>
                <a:ea typeface="Arial"/>
              </a:rPr>
              <a:t>고객 현장</a:t>
            </a:r>
          </a:p>
        </p:txBody>
      </p:sp>
      <p:sp>
        <p:nvSpPr>
          <p:cNvPr id="53" name="TextBox 52"/>
          <p:cNvSpPr txBox="1"/>
          <p:nvPr/>
        </p:nvSpPr>
        <p:spPr>
          <a:xfrm>
            <a:off x="4718304" y="4681727"/>
            <a:ext cx="3899916" cy="896111"/>
          </a:xfrm>
          <a:prstGeom prst="rect">
            <a:avLst/>
          </a:prstGeom>
          <a:noFill/>
        </p:spPr>
        <p:txBody>
          <a:bodyPr wrap="square" anchor="t" lIns="0" rIns="0" tIns="0" bIns="0">
            <a:spAutoFit/>
          </a:bodyPr>
          <a:lstStyle/>
          <a:p>
            <a:pPr algn="l">
              <a:lnSpc>
                <a:spcPct val="104000"/>
              </a:lnSpc>
            </a:pPr>
            <a:r>
              <a:rPr sz="1200" b="0">
                <a:solidFill>
                  <a:srgbClr val="555555"/>
                </a:solidFill>
                <a:latin typeface="Arial"/>
                <a:ea typeface="Arial"/>
              </a:rPr>
              <a:t>고객 시스템 안에 상주해 실제 요구를 코드로 풀고 성과로 평가받는 엔지니어(코드명 Delta)</a:t>
            </a:r>
          </a:p>
          <a:p>
            <a:pPr algn="l">
              <a:lnSpc>
                <a:spcPct val="104000"/>
              </a:lnSpc>
            </a:pPr>
            <a:r>
              <a:rPr sz="1200" b="1">
                <a:solidFill>
                  <a:srgbClr val="1A1A1A"/>
                </a:solidFill>
                <a:latin typeface="Arial"/>
                <a:ea typeface="Arial"/>
              </a:rPr>
              <a:t>파급: 고객 락인의 동력, 640% 주가 수익률의 원천으로 회자. Anthropic·OpenAI가 GTM으로 채택</a:t>
            </a:r>
          </a:p>
        </p:txBody>
      </p:sp>
      <p:sp>
        <p:nvSpPr>
          <p:cNvPr id="54" name="Rectangle 53"/>
          <p:cNvSpPr/>
          <p:nvPr/>
        </p:nvSpPr>
        <p:spPr>
          <a:xfrm>
            <a:off x="9038844" y="3657600"/>
            <a:ext cx="4338828" cy="1938527"/>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9258300" y="3767328"/>
            <a:ext cx="3899916" cy="256032"/>
          </a:xfrm>
          <a:prstGeom prst="rect">
            <a:avLst/>
          </a:prstGeom>
          <a:noFill/>
        </p:spPr>
        <p:txBody>
          <a:bodyPr wrap="square" anchor="t" lIns="0" rIns="0" tIns="0" bIns="0">
            <a:spAutoFit/>
          </a:bodyPr>
          <a:lstStyle/>
          <a:p>
            <a:pPr algn="l">
              <a:lnSpc>
                <a:spcPct val="112000"/>
              </a:lnSpc>
            </a:pPr>
            <a:r>
              <a:rPr sz="1350" b="0">
                <a:solidFill>
                  <a:srgbClr val="555555"/>
                </a:solidFill>
                <a:latin typeface="Arial"/>
                <a:ea typeface="Arial"/>
              </a:rPr>
              <a:t>선례 · </a:t>
            </a:r>
            <a:r>
              <a:rPr sz="1350" b="1">
                <a:solidFill>
                  <a:srgbClr val="1428A0"/>
                </a:solidFill>
                <a:latin typeface="Arial"/>
                <a:ea typeface="Arial"/>
              </a:rPr>
              <a:t>Micron ↔ Anthropic SCA</a:t>
            </a:r>
            <a:r>
              <a:rPr sz="1200" b="0">
                <a:solidFill>
                  <a:srgbClr val="555555"/>
                </a:solidFill>
                <a:latin typeface="Arial"/>
                <a:ea typeface="Arial"/>
              </a:rPr>
              <a:t> (2026-06)</a:t>
            </a:r>
          </a:p>
        </p:txBody>
      </p:sp>
      <p:sp>
        <p:nvSpPr>
          <p:cNvPr id="56" name="Rectangle 55"/>
          <p:cNvSpPr/>
          <p:nvPr/>
        </p:nvSpPr>
        <p:spPr>
          <a:xfrm>
            <a:off x="9258300" y="4133087"/>
            <a:ext cx="1417320" cy="23774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9258300" y="4133087"/>
            <a:ext cx="1417320" cy="237744"/>
          </a:xfrm>
          <a:prstGeom prst="rect">
            <a:avLst/>
          </a:prstGeom>
          <a:noFill/>
        </p:spPr>
        <p:txBody>
          <a:bodyPr wrap="square" anchor="ctr" lIns="0" rIns="0" tIns="0" bIns="0">
            <a:spAutoFit/>
          </a:bodyPr>
          <a:lstStyle/>
          <a:p>
            <a:pPr algn="ctr">
              <a:lnSpc>
                <a:spcPct val="112000"/>
              </a:lnSpc>
            </a:pPr>
            <a:r>
              <a:rPr sz="1125" b="1">
                <a:solidFill>
                  <a:srgbClr val="FFFFFF"/>
                </a:solidFill>
                <a:latin typeface="Arial"/>
                <a:ea typeface="Arial"/>
              </a:rPr>
              <a:t>공동 설계</a:t>
            </a:r>
          </a:p>
        </p:txBody>
      </p:sp>
      <p:sp>
        <p:nvSpPr>
          <p:cNvPr id="58" name="Rectangle 57"/>
          <p:cNvSpPr/>
          <p:nvPr/>
        </p:nvSpPr>
        <p:spPr>
          <a:xfrm>
            <a:off x="9258300" y="4407407"/>
            <a:ext cx="1417320"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9258300" y="4407407"/>
            <a:ext cx="1417320" cy="237744"/>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다년 공급</a:t>
            </a:r>
          </a:p>
        </p:txBody>
      </p:sp>
      <p:sp>
        <p:nvSpPr>
          <p:cNvPr id="60" name="Rectangle 59"/>
          <p:cNvSpPr/>
          <p:nvPr/>
        </p:nvSpPr>
        <p:spPr>
          <a:xfrm>
            <a:off x="9258300" y="4681727"/>
            <a:ext cx="1417320"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9258300" y="4681727"/>
            <a:ext cx="1417320" cy="237744"/>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운영 통합</a:t>
            </a:r>
          </a:p>
        </p:txBody>
      </p:sp>
      <p:sp>
        <p:nvSpPr>
          <p:cNvPr id="62" name="Rectangle 61"/>
          <p:cNvSpPr/>
          <p:nvPr/>
        </p:nvSpPr>
        <p:spPr>
          <a:xfrm>
            <a:off x="9258300" y="4956048"/>
            <a:ext cx="1417320"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9258300" y="4956048"/>
            <a:ext cx="1417320" cy="237744"/>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자본(Series H)</a:t>
            </a:r>
          </a:p>
        </p:txBody>
      </p:sp>
      <p:sp>
        <p:nvSpPr>
          <p:cNvPr id="64" name="TextBox 63"/>
          <p:cNvSpPr txBox="1"/>
          <p:nvPr/>
        </p:nvSpPr>
        <p:spPr>
          <a:xfrm>
            <a:off x="10876788" y="4114800"/>
            <a:ext cx="2281428" cy="1353311"/>
          </a:xfrm>
          <a:prstGeom prst="rect">
            <a:avLst/>
          </a:prstGeom>
          <a:noFill/>
        </p:spPr>
        <p:txBody>
          <a:bodyPr wrap="square" anchor="t" lIns="0" rIns="0" tIns="0" bIns="0">
            <a:spAutoFit/>
          </a:bodyPr>
          <a:lstStyle/>
          <a:p>
            <a:pPr algn="l">
              <a:lnSpc>
                <a:spcPct val="104000"/>
              </a:lnSpc>
            </a:pPr>
            <a:r>
              <a:rPr sz="1200" b="0">
                <a:solidFill>
                  <a:srgbClr val="555555"/>
                </a:solidFill>
                <a:latin typeface="Arial"/>
                <a:ea typeface="Arial"/>
              </a:rPr>
              <a:t>네 요소를 한 계약에 묶어 워크로드·스펙 접근권을 확보</a:t>
            </a:r>
          </a:p>
          <a:p>
            <a:pPr algn="l">
              <a:lnSpc>
                <a:spcPct val="104000"/>
              </a:lnSpc>
            </a:pPr>
            <a:r>
              <a:rPr sz="1200" b="1">
                <a:solidFill>
                  <a:srgbClr val="1A1A1A"/>
                </a:solidFill>
                <a:latin typeface="Arial"/>
                <a:ea typeface="Arial"/>
              </a:rPr>
              <a:t>Micron SCA 16건 · 최소 매출 약 $100B · 예치금 $22B</a:t>
            </a:r>
          </a:p>
          <a:p>
            <a:pPr algn="l">
              <a:lnSpc>
                <a:spcPct val="104000"/>
              </a:lnSpc>
            </a:pPr>
            <a:r>
              <a:rPr sz="1200" b="1">
                <a:solidFill>
                  <a:srgbClr val="1428A0"/>
                </a:solidFill>
                <a:latin typeface="Arial"/>
                <a:ea typeface="Arial"/>
              </a:rPr>
              <a:t>삼성·SK의 Anthropic 계약에는 공동 설계 조항이 없습니다. 우리가 먼저 제안합니다</a:t>
            </a:r>
          </a:p>
        </p:txBody>
      </p:sp>
      <p:sp>
        <p:nvSpPr>
          <p:cNvPr id="65" name="Left Arrow 64"/>
          <p:cNvSpPr/>
          <p:nvPr/>
        </p:nvSpPr>
        <p:spPr>
          <a:xfrm>
            <a:off x="4498848" y="5742431"/>
            <a:ext cx="8878824" cy="841248"/>
          </a:xfrm>
          <a:prstGeom prst="leftArrow">
            <a:avLst>
              <a:gd name="adj1" fmla="val 80000"/>
              <a:gd name="adj2" fmla="val 26000"/>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458968" y="5742431"/>
            <a:ext cx="7598664" cy="841248"/>
          </a:xfrm>
          <a:prstGeom prst="rect">
            <a:avLst/>
          </a:prstGeom>
          <a:noFill/>
        </p:spPr>
        <p:txBody>
          <a:bodyPr wrap="square" anchor="ctr" lIns="0" rIns="0" tIns="0" bIns="0">
            <a:spAutoFit/>
          </a:bodyPr>
          <a:lstStyle/>
          <a:p>
            <a:pPr algn="l">
              <a:lnSpc>
                <a:spcPct val="106000"/>
              </a:lnSpc>
            </a:pPr>
            <a:r>
              <a:rPr sz="1725" b="1">
                <a:solidFill>
                  <a:srgbClr val="1A1A1A"/>
                </a:solidFill>
                <a:latin typeface="Arial"/>
                <a:ea typeface="Arial"/>
              </a:rPr>
              <a:t>② 전략적 협약(SCA)으로 워크로드가 온다</a:t>
            </a:r>
          </a:p>
          <a:p>
            <a:pPr algn="l">
              <a:lnSpc>
                <a:spcPct val="106000"/>
              </a:lnSpc>
            </a:pPr>
            <a:r>
              <a:rPr sz="1350" b="0">
                <a:solidFill>
                  <a:srgbClr val="1A1A1A"/>
                </a:solidFill>
                <a:latin typeface="Arial"/>
                <a:ea typeface="Arial"/>
              </a:rPr>
              <a:t>트레이스 · KV 수명 정책 · 레퍼런스 스펙 자리 · 창은 2027년 상반기까지</a:t>
            </a:r>
          </a:p>
        </p:txBody>
      </p:sp>
      <p:sp>
        <p:nvSpPr>
          <p:cNvPr id="67" name="Rectangle 66"/>
          <p:cNvSpPr/>
          <p:nvPr/>
        </p:nvSpPr>
        <p:spPr>
          <a:xfrm>
            <a:off x="722376" y="6876288"/>
            <a:ext cx="5443728" cy="122529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722376" y="6876288"/>
            <a:ext cx="868680" cy="12252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22376" y="6876288"/>
            <a:ext cx="868680" cy="1225296"/>
          </a:xfrm>
          <a:prstGeom prst="rect">
            <a:avLst/>
          </a:prstGeom>
          <a:noFill/>
        </p:spPr>
        <p:txBody>
          <a:bodyPr wrap="square" anchor="ctr" lIns="0" rIns="0" tIns="0" bIns="0">
            <a:spAutoFit/>
          </a:bodyPr>
          <a:lstStyle/>
          <a:p>
            <a:pPr algn="ctr">
              <a:lnSpc>
                <a:spcPct val="112000"/>
              </a:lnSpc>
            </a:pPr>
            <a:r>
              <a:rPr sz="1725" b="1">
                <a:solidFill>
                  <a:srgbClr val="FFFFFF"/>
                </a:solidFill>
                <a:latin typeface="Arial"/>
                <a:ea typeface="Arial"/>
              </a:rPr>
              <a:t>조직</a:t>
            </a:r>
          </a:p>
        </p:txBody>
      </p:sp>
      <p:sp>
        <p:nvSpPr>
          <p:cNvPr id="70" name="TextBox 69"/>
          <p:cNvSpPr txBox="1"/>
          <p:nvPr/>
        </p:nvSpPr>
        <p:spPr>
          <a:xfrm>
            <a:off x="1746504" y="6876288"/>
            <a:ext cx="4273296" cy="1225296"/>
          </a:xfrm>
          <a:prstGeom prst="rect">
            <a:avLst/>
          </a:prstGeom>
          <a:noFill/>
        </p:spPr>
        <p:txBody>
          <a:bodyPr wrap="square" anchor="ctr" lIns="0" rIns="0" tIns="0" bIns="0">
            <a:spAutoFit/>
          </a:bodyPr>
          <a:lstStyle/>
          <a:p>
            <a:pPr algn="l">
              <a:lnSpc>
                <a:spcPct val="108000"/>
              </a:lnSpc>
            </a:pPr>
            <a:r>
              <a:rPr sz="1425" b="1">
                <a:solidFill>
                  <a:srgbClr val="1A1A1A"/>
                </a:solidFill>
                <a:latin typeface="Arial"/>
                <a:ea typeface="Arial"/>
              </a:rPr>
              <a:t>실리콘밸리 소프트웨어 자회사</a:t>
            </a:r>
          </a:p>
          <a:p>
            <a:pPr algn="l">
              <a:lnSpc>
                <a:spcPct val="108000"/>
              </a:lnSpc>
            </a:pPr>
            <a:r>
              <a:rPr sz="1350" b="0">
                <a:solidFill>
                  <a:srgbClr val="555555"/>
                </a:solidFill>
                <a:latin typeface="Arial"/>
                <a:ea typeface="Arial"/>
              </a:rPr>
              <a:t>FDE Pod 고객 상주</a:t>
            </a:r>
          </a:p>
          <a:p>
            <a:pPr algn="l">
              <a:lnSpc>
                <a:spcPct val="108000"/>
              </a:lnSpc>
            </a:pPr>
            <a:r>
              <a:rPr sz="1350" b="0">
                <a:solidFill>
                  <a:srgbClr val="555555"/>
                </a:solidFill>
                <a:latin typeface="Arial"/>
                <a:ea typeface="Arial"/>
              </a:rPr>
              <a:t>시스템 소프트웨어 조직 강화</a:t>
            </a:r>
          </a:p>
        </p:txBody>
      </p:sp>
      <p:sp>
        <p:nvSpPr>
          <p:cNvPr id="71" name="Rectangle 70"/>
          <p:cNvSpPr/>
          <p:nvPr/>
        </p:nvSpPr>
        <p:spPr>
          <a:xfrm>
            <a:off x="6422136" y="6876288"/>
            <a:ext cx="5443728" cy="122529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6422136" y="6876288"/>
            <a:ext cx="868680" cy="12252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422136" y="6876288"/>
            <a:ext cx="868680" cy="1225296"/>
          </a:xfrm>
          <a:prstGeom prst="rect">
            <a:avLst/>
          </a:prstGeom>
          <a:noFill/>
        </p:spPr>
        <p:txBody>
          <a:bodyPr wrap="square" anchor="ctr" lIns="0" rIns="0" tIns="0" bIns="0">
            <a:spAutoFit/>
          </a:bodyPr>
          <a:lstStyle/>
          <a:p>
            <a:pPr algn="ctr">
              <a:lnSpc>
                <a:spcPct val="112000"/>
              </a:lnSpc>
            </a:pPr>
            <a:r>
              <a:rPr sz="1725" b="1">
                <a:solidFill>
                  <a:srgbClr val="FFFFFF"/>
                </a:solidFill>
                <a:latin typeface="Arial"/>
                <a:ea typeface="Arial"/>
              </a:rPr>
              <a:t>인사</a:t>
            </a:r>
          </a:p>
        </p:txBody>
      </p:sp>
      <p:sp>
        <p:nvSpPr>
          <p:cNvPr id="74" name="TextBox 73"/>
          <p:cNvSpPr txBox="1"/>
          <p:nvPr/>
        </p:nvSpPr>
        <p:spPr>
          <a:xfrm>
            <a:off x="7446264" y="6876288"/>
            <a:ext cx="4273296" cy="1225296"/>
          </a:xfrm>
          <a:prstGeom prst="rect">
            <a:avLst/>
          </a:prstGeom>
          <a:noFill/>
        </p:spPr>
        <p:txBody>
          <a:bodyPr wrap="square" anchor="ctr" lIns="0" rIns="0" tIns="0" bIns="0">
            <a:spAutoFit/>
          </a:bodyPr>
          <a:lstStyle/>
          <a:p>
            <a:pPr algn="l">
              <a:lnSpc>
                <a:spcPct val="108000"/>
              </a:lnSpc>
            </a:pPr>
            <a:r>
              <a:rPr sz="1425" b="1">
                <a:solidFill>
                  <a:srgbClr val="1A1A1A"/>
                </a:solidFill>
                <a:latin typeface="Arial"/>
                <a:ea typeface="Arial"/>
              </a:rPr>
              <a:t>고객 시스템을 아는 시스템 SW 전문가 채용·양성</a:t>
            </a:r>
          </a:p>
          <a:p>
            <a:pPr algn="l">
              <a:lnSpc>
                <a:spcPct val="108000"/>
              </a:lnSpc>
            </a:pPr>
            <a:r>
              <a:rPr sz="1350" b="0">
                <a:solidFill>
                  <a:srgbClr val="555555"/>
                </a:solidFill>
                <a:latin typeface="Arial"/>
                <a:ea typeface="Arial"/>
              </a:rPr>
              <a:t>미주 현지 채용 확대 · 고객과 같은 시간대에서 협업</a:t>
            </a:r>
          </a:p>
          <a:p>
            <a:pPr algn="l">
              <a:lnSpc>
                <a:spcPct val="108000"/>
              </a:lnSpc>
            </a:pPr>
            <a:r>
              <a:rPr sz="1350" b="0">
                <a:solidFill>
                  <a:srgbClr val="555555"/>
                </a:solidFill>
                <a:latin typeface="Arial"/>
                <a:ea typeface="Arial"/>
              </a:rPr>
              <a:t>별도 보상 · 본사 엔지니어 상주 로테이션</a:t>
            </a:r>
          </a:p>
        </p:txBody>
      </p:sp>
      <p:sp>
        <p:nvSpPr>
          <p:cNvPr id="75" name="Rectangle 74"/>
          <p:cNvSpPr/>
          <p:nvPr/>
        </p:nvSpPr>
        <p:spPr>
          <a:xfrm>
            <a:off x="12121896" y="6876288"/>
            <a:ext cx="5443728" cy="122529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12121896" y="6876288"/>
            <a:ext cx="868680" cy="12252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12121896" y="6876288"/>
            <a:ext cx="868680" cy="1225296"/>
          </a:xfrm>
          <a:prstGeom prst="rect">
            <a:avLst/>
          </a:prstGeom>
          <a:noFill/>
        </p:spPr>
        <p:txBody>
          <a:bodyPr wrap="square" anchor="ctr" lIns="0" rIns="0" tIns="0" bIns="0">
            <a:spAutoFit/>
          </a:bodyPr>
          <a:lstStyle/>
          <a:p>
            <a:pPr algn="ctr">
              <a:lnSpc>
                <a:spcPct val="112000"/>
              </a:lnSpc>
            </a:pPr>
            <a:r>
              <a:rPr sz="1725" b="1">
                <a:solidFill>
                  <a:srgbClr val="FFFFFF"/>
                </a:solidFill>
                <a:latin typeface="Arial"/>
                <a:ea typeface="Arial"/>
              </a:rPr>
              <a:t>문화</a:t>
            </a:r>
          </a:p>
        </p:txBody>
      </p:sp>
      <p:sp>
        <p:nvSpPr>
          <p:cNvPr id="78" name="TextBox 77"/>
          <p:cNvSpPr txBox="1"/>
          <p:nvPr/>
        </p:nvSpPr>
        <p:spPr>
          <a:xfrm>
            <a:off x="13146024" y="6876288"/>
            <a:ext cx="4273296" cy="1225296"/>
          </a:xfrm>
          <a:prstGeom prst="rect">
            <a:avLst/>
          </a:prstGeom>
          <a:noFill/>
        </p:spPr>
        <p:txBody>
          <a:bodyPr wrap="square" anchor="ctr" lIns="0" rIns="0" tIns="0" bIns="0">
            <a:spAutoFit/>
          </a:bodyPr>
          <a:lstStyle/>
          <a:p>
            <a:pPr algn="l">
              <a:lnSpc>
                <a:spcPct val="108000"/>
              </a:lnSpc>
            </a:pPr>
            <a:r>
              <a:rPr sz="1425" b="1">
                <a:solidFill>
                  <a:srgbClr val="1A1A1A"/>
                </a:solidFill>
                <a:latin typeface="Arial"/>
                <a:ea typeface="Arial"/>
              </a:rPr>
              <a:t>오픈소스 생태계를 주도하는 문화</a:t>
            </a:r>
          </a:p>
          <a:p>
            <a:pPr algn="l">
              <a:lnSpc>
                <a:spcPct val="108000"/>
              </a:lnSpc>
            </a:pPr>
            <a:r>
              <a:rPr sz="1350" b="0">
                <a:solidFill>
                  <a:srgbClr val="555555"/>
                </a:solidFill>
                <a:latin typeface="Arial"/>
                <a:ea typeface="Arial"/>
              </a:rPr>
              <a:t>메인테이너·커미터 배출 · 레퍼런스 프로젝트 운영</a:t>
            </a:r>
          </a:p>
          <a:p>
            <a:pPr algn="l">
              <a:lnSpc>
                <a:spcPct val="108000"/>
              </a:lnSpc>
            </a:pPr>
            <a:r>
              <a:rPr sz="1350" b="0">
                <a:solidFill>
                  <a:srgbClr val="555555"/>
                </a:solidFill>
                <a:latin typeface="Arial"/>
                <a:ea typeface="Arial"/>
              </a:rPr>
              <a:t>업스트림 우선 · KV 실측 업계 최초 공개</a:t>
            </a:r>
          </a:p>
        </p:txBody>
      </p:sp>
      <p:sp>
        <p:nvSpPr>
          <p:cNvPr id="79" name="Rectangle 78"/>
          <p:cNvSpPr/>
          <p:nvPr/>
        </p:nvSpPr>
        <p:spPr>
          <a:xfrm>
            <a:off x="722376" y="8503920"/>
            <a:ext cx="16843248" cy="82296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1133856" y="8503920"/>
            <a:ext cx="1463040" cy="82296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81" name="TextBox 80"/>
          <p:cNvSpPr txBox="1"/>
          <p:nvPr/>
        </p:nvSpPr>
        <p:spPr>
          <a:xfrm>
            <a:off x="2551176" y="8503920"/>
            <a:ext cx="14648688" cy="822960"/>
          </a:xfrm>
          <a:prstGeom prst="rect">
            <a:avLst/>
          </a:prstGeom>
          <a:noFill/>
        </p:spPr>
        <p:txBody>
          <a:bodyPr wrap="square" anchor="ctr" lIns="0" rIns="0" tIns="0" bIns="0">
            <a:spAutoFit/>
          </a:bodyPr>
          <a:lstStyle/>
          <a:p>
            <a:pPr algn="l">
              <a:lnSpc>
                <a:spcPct val="108000"/>
              </a:lnSpc>
            </a:pPr>
            <a:r>
              <a:rPr sz="1900" b="1">
                <a:solidFill>
                  <a:srgbClr val="FFFFFF"/>
                </a:solidFill>
                <a:latin typeface="Arial"/>
                <a:ea typeface="Arial"/>
              </a:rPr>
              <a:t>니어라인 HDD 대체가 아니라 추론 캐시 티어를 QLC로 가져가려면 디바이스에서 고객 시스템 안까지 세 단계를 올라가야 하며,</a:t>
            </a:r>
          </a:p>
          <a:p>
            <a:pPr algn="l">
              <a:lnSpc>
                <a:spcPct val="108000"/>
              </a:lnSpc>
            </a:pPr>
            <a:r>
              <a:rPr sz="1900" b="1">
                <a:solidFill>
                  <a:srgbClr val="FFFFFF"/>
                </a:solidFill>
                <a:latin typeface="Arial"/>
                <a:ea typeface="Arial"/>
              </a:rPr>
              <a:t>그 길은 FDE와 전략적 협약, 그리고 이를 해낼 사람과 문화가 엽니다</a:t>
            </a:r>
          </a:p>
        </p:txBody>
      </p:sp>
      <p:sp>
        <p:nvSpPr>
          <p:cNvPr id="82" name="TextBox 81"/>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Pragmatic Engineer·FDE Academy·MindStudio(Palantir FDE), Micron IR 2026-06-22·10-Q(SCA 16건·$22B), SK hynix 뉴스룸(AI Company), levels.fyi 2026 · 규모·시점은 추정, 사내 수치는 [사내 확인]</a:t>
            </a:r>
          </a:p>
        </p:txBody>
      </p:sp>
      <p:sp>
        <p:nvSpPr>
          <p:cNvPr id="83" name="TextBox 82"/>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03 / 03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