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다운턴 복기에서 도출한 교훈입니다. 상단 타임라인에 DT19(재고 조정 국면, 매출 낙폭 -37.6%)와 DT23(최대 낙폭 -45%, 진앙은 eSSD) 두 다운턴 구간과 QLC eSSD 연혁을 동일 시간축에 배치했습니다. 교훈 1, 수요 센싱: 수요 신호는 발주보다 약 2년 선행하여 고객의 규격·표준·소스 코드에 나타납니다. DT23 국면인 4Q22에 eSSD 매출이 27% 감소하는 동안 Meta·Google은 데이터 배치 표준을 비준하고 OCP 폼팩터를 표준화했으며 Solidigm은 61TB 제품을 예고했습니다. 총량 지표만 관측한 공급자는 다운턴을 보았고, 고객 규격을 관측한 공급자는 차기 요구사항을 보았습니다. 현재의 등가 신호는 KV 캐시 관리자 4종의 소스 코드에 데이터 배치·내구성 규격이 미정의 상태라는 사실이며, 규격 정의 주체가 선점 가능한 구간입니다. 교훈 2, 고객 협업: 요구사항 정의 과정에 참여한 공급자가 적중했습니다. Solidigm은 SK그룹 내 최대 낙폭 국면에서 61TB QLC를 삼성 대비 12개월 선행 출시해 2024년 흑자 전환했고, HBM은 NVIDIA와 규격을 공동 정의한 SK hynix가 주도권을 확보했습니다. 위키의 2023년 다운턴 복기 결론과 동일합니다. 다운턴 극복의 결정 변수는 포트폴리오 다변화(방어)가 아니라 고객 요구 적중(공격)이었습니다. 교훈 3, 의사결정 시점: 직전 다운턴의 의사결정이 다음 다운턴의 초기 조건을 결정합니다. DT19의 무감산 성공 경험이 DT23 국면 오판으로, DT19의 HBM 조직 축소가 DT23 회복기 주도권 상실로 이어졌습니다. 차기 전환점은 2027년 하반기 가격 정상화 국면이며, 비트 출하 10배 대비 매출이 정체할 경우 수익원은 고객 시스템 수준에서 보증한 TCO로 한정됩니다. 세 교훈이 이후 세 장의 전제입니다. 2장은 고객의 QLC 채택 동인, 3장은 디바이스에서 고객 시스템까지 3단계 역량, 4장은 FDE·전략적 협약과 이를 수행할 조직·인사·문화입니다.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고객의 QLC 채택 동인입니다. 세 국면을 관통하는 구매 기준은 용량 계층의 TB당 TCO입니다. 원가($/TB)·전력(W/TB)·밀도(TB/U)를 통합한 지표이며, 계산 자원에 인접한 최저 비용 바이트로 요약할 수 있습니다. 초기 국면(2018~2023): 학습 데이터셋이 6배로 증가하고 HDD의 TB당 대역폭이 저하되자 하이퍼스케일러는 플래시 용량 계층을 요구했습니다(Meta: 10 MB/s/TB 대역, TLC 서버 대비 6배 바이트 밀도). 공급자의 제안 가치는 1U당 1PB, 5년 TCO -47%였습니다. 조건은 읽기 중심 워크로드로, 0.3~0.6 DWPD로 충족됐고 쓰기가 NAND 전력의 대부분을 차지하므로 읽기 데이터의 QLC 이전은 전력 효율도 개선했습니다. 같은 해 전문 벤더(Solidigm) 출범, E1.S/E1.L 폼팩터, Meta·Google의 데이터 배치 표준 비준(2022-12), 가격 하락이 동시에 성립했고, 비트 출하는 AI 추론 서버의 전력 효율이 우선순위가 된 2024년에 급증했습니다(TrendForce 30EB, 4배). 현재 국면(2024~2026): 구매 기준은 TB당 전력 효율과 공급 확보이며 245TB급까지 용량 경쟁이 진행됐으나, 읽기 중심 데이터가 QLC의 영역이고 쓰기 계층은 TLC가 담당합니다. 향후 국면(2027~2030): 최대 증가 수요는 KV 캐시입니다. 장문맥·에이전틱 추론의 KV 캐시가 HBM·DRAM 용량을 초과해 SSD로 오프로드되고, 프리필 재사용으로 GPU당 동시 사용자와 TTFT가 개선됩니다(NVMe 오프로드 시 H100 1기당 동시 사용자 10배 주장). 구매 기준은 GPU당 컨텍스트 용량과 토큰당 비용이며, 이 기준에서도 TB당 TCO가 최저인 미디어는 QLC입니다. 그러나 캐시는 쓰기 집약적이어서 현재 이 계층은 TLC 1~3 DWPD가 담당하고(2027년 75~100EB), CMX 대상 드라이브도 전량 TLC입니다. 그래프: 비트는 10배, 가격 정상화 기준선에서 매출은 정체, 진한 파랑은 호스트 협력 데이터 배치가 성립할 때의 조건부 상방입니다. 우측 하단 인용은 송용호 AX/PI센터장의 발언입니다. 부품이 어떻게 쓰일지는 시스템을 설계하는 사람 마음에 있다, 그걸 알았으면 HBM을 진작 준비했을 것이다. 고객의 채택 동인 파악이 본 전략의 출발점인 이유입니다. 결론: 고객은 추론 캐시 계층에서도 QLC의 TB당 TCO를 요구하며, 제약 조건은 내구성이고, 디바이스 단독으로는 해소되지 않습니다. 다음 장이 그 해소 경로입니다. 모델 가정은 위키 qlc-ssd-market.md §4.3.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역량 한 장입니다. 리드의 인용은 베인 신문섭 파트너의 진단입니다. 승부는 칩을 많이 파는 기업이 아니라 고객의 아키텍처 안으로 들어가 수요를 함께 설계하는 기업이 가져간다. 이 장이 바로 그 안으로 들어가는 세 단계입니다. 앞 장의 결론을 잇습니다. 고객은 캐시 티어에서도 QLC의 TB당 TCO를 원하지만 캐시는 쓰기가 많고, 내구성은 미디어를 바꿔서가 아니라 고객 시스템이 데이터를 어떻게 놓느냐(배치 표준·캐시 관리자 정책)로 풀립니다. 그래서 디바이스에서 고객 시스템 안까지 올라가야 합니다. 갭 세 가지: 내구성(QLC 정격 0.075~0.6 vs TLC 1~3 DWPD, 10~40배), 스트림(RUH 2~8 vs 200+), 접점(KV 캐시 관리자 4종 코드에 배치·내구성 언급 0). 수단은 있습니다(CacheLib 실측 WAF 3.22→1.03, XFS write streams RocksDB -35%, ScaleFlux 유효 7~10 DWPD). 그림은 고객 시스템 5계층을 세 번 그리고 우리가 닿는 층을 색으로 표시하며,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1은 SSD 층만 우리 것입니다(KV-ready QLC). Phase 2는 캐시 관리자의 빈도 필터·퇴거 정책이 트레이스의 원천이고, I/O 라이브러리의 io_uring·GDS 백엔드에 write stream을 부착하며 커널 스트림과 CMX 힌트 매핑을 검증해 RUH 정책·WAF·유효 DWPD 실측을 공개합니다. Phase 3는 캐시 관리자 4종에 플러그인을 메인라인으로 머지하고, NIXL·xNVMe가 기본 백엔드가 되며, DOCA Memos와 배치 표준의 매핑을 NVIDIA와 공동 정의하고, 응용 층은 커넥터·스케줄러를 이해해 공용 TCO 모델(GPU당 동시 사용자·TTFT·전력)로 대화합니다. FDE(Forward Deployed Engineer)가 고객 옆에 상주합니다. 삼성 현 위치는 Phase 1 확보, Phase 2 진입: KV cache 백서 2종으로 측정 역량은 있으나 트레이스 기반 실측이 미공개이고 캐시 관리자 4종에 기여가 없습니다. 오케스트레이션 자체는 만들지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전략 한 장입니다. 리드의 인용은 송용호 AX/PI센터장의 말입니다. 우리는 말로는 고객 지향을 하지만 단 한 번도 고객 지향적인 적이 없었고, 진짜 고객 지향이 뭔지 이해하고 그것을 위한 전략이 필요한 시점이 이미 됐다. 이 장이 그 전략입니다. 왼쪽 박스 아래 인용도 같은 인터뷰입니다. 고객의 집에 가서 저녁을 같이 먹는 것은 삼성에서는 상상할 수 없는 일이지만 SK하이닉스는 한다. 관계가 곧 워크로드 접근권이라는 뜻이고, 미주 현지 채용과 FDE 상주가 그 답입니다. 목표는 두 가지이고 각각 선례가 있습니다. ① FDE(Forward Deployed Engineer)가 고객 시스템 안으로 들어갑니다. Palantir가 창안한 역할로 내부 코드명 Delta, 고객 환경 내부에 상주하며 실제 운영 제약 아래서 프로덕션 시스템을 직접 구축하고 청구 시간이 아니라 성과로 평가받습니다. 명시적 요구와 실제 요구의 간극을 현장에서 코드로 메우고, 특정 고객용 거친 해법(gravel road)이 제품 표준 기능(paved highway)으로 포장되는 피드백 루프를 만듭니다. 파급: 고객 락인의 동력이자 640% 주가 수익률의 원천으로 회자되고, Anthropic·OpenAI가 엔터프라이즈 GTM 전략으로 채택했습니다(OpenAI는 2025년 초 FDE 팀 2명→10명+). 우리는 Co-Design Pod를 FDE 모델로 운영하되, 메모리는 제조 리드타임이 길므로 시스템 아키텍트·TCO 모델링 역량을 결합합니다. ② 전략적 협약(SCA)으로 워크로드가 옵니다. 선례는 Micron↔Anthropic(2026-06-22): 공동 설계(HBM·DRAM·SSD를 Claude 학습·추론 워크로드에 맞춰 공동 최적화) + 다년 공급 + 운영 통합(Claude 사내 배치) + 자본(Series H)을 한 계약에 묶었습니다. Micron은 SCA 16건, 최소 계약매출 약 $100B, 예치금 $22B를 공시했습니다. 삼성·SK의 Anthropic 공급계약에는 공동 설계 조항이 없으므로 우리가 먼저 제안합니다. 창은 공급 완화 전인 2027년 상반기까지입니다. 이 장에는 두 목표를 여는 수단 중 조직·인사·문화 세 축을 보였습니다(전략·재무 축과 90일·1년·3년 타임라인은 위키 실행 전략 페이지 §2.1·§2.5·§3에 있습니다). 조직은 실리콘밸리 소프트웨어 자회사와 FDE Pod에 더해 시스템 소프트웨어 조직을 강화합니다. 인사는 고객의 시스템을 잘 이해하는 시스템 소프트웨어 전문가를 채용하고 양성하는 것이 핵심이며, 채용 기준은 고객 시스템(추론 엔진·KV 캐시 관리자·I/O·커널 코드)을 읽고 고칠 수 있는가입니다. 미주 고객과의 협업을 위해 현지 채용을 늘리고, 그것이 가능하도록 별도 보상 체계를 두며, 본사 엔지니어는 상주 로테이션으로 양성합니다. 문화는 업스트림 우선을 넘어 오픈소스 생태계를 주도하는 기업 문화로 갑니다. 기여자에서 메인테이너·커미터로 올라가고, 우리가 운영하는 레퍼런스 프로젝트에 외부 기여가 들어오게 하며, KV cache 실측을 업계 최초로 공개합니다. 마지막 문장은 세 장의 요약입니다. 고객은 TB당 TCO가 가장 낮은 용량 계층을 QLC로 채웠고 그 계층이 쓰기 많은 추론 캐시로 옮겨가므로(1장) 내구성을 고객 시스템 안에서 풀어야 하며(2장), 그 길은 FDE와 전략적 협약, 그리고 이를 해낼 사람과 문화가 엽니다(3장).</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배경: 다운턴 복기에서 도출한 교훈</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다운턴 극복의 결정 요인은 고객 요구 적중이었고, 요구는 고객 시스템 내부에서 먼저 관측됐습니다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DT19·DT23 두 다운턴과 QLC eSSD 연혁을 동일 시간축에 배치해 도출한 세 교훈이 이후 세 장의 논리적 전제입니다.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96696" y="3447288"/>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74372" y="3337560"/>
            <a:ext cx="156428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1492" y="3611879"/>
            <a:ext cx="302732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DT19 재고 조정 국면 · 매출 낙폭 -37.6%</a:t>
            </a:r>
          </a:p>
        </p:txBody>
      </p:sp>
      <p:sp>
        <p:nvSpPr>
          <p:cNvPr id="11" name="Rectangle 10"/>
          <p:cNvSpPr/>
          <p:nvPr/>
        </p:nvSpPr>
        <p:spPr>
          <a:xfrm>
            <a:off x="6536862" y="3337560"/>
            <a:ext cx="195535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3982" y="3611879"/>
            <a:ext cx="341839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DT23 최대 낙폭 -45% · 진앙은 eSSD</a:t>
            </a:r>
          </a:p>
        </p:txBody>
      </p:sp>
      <p:sp>
        <p:nvSpPr>
          <p:cNvPr id="13" name="Rectangle 12"/>
          <p:cNvSpPr/>
          <p:nvPr/>
        </p:nvSpPr>
        <p:spPr>
          <a:xfrm>
            <a:off x="13380598" y="3337560"/>
            <a:ext cx="977676" cy="23774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106278" y="3611879"/>
            <a:ext cx="237744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차기 전환점(e) · 가격 정상화 국면</a:t>
            </a:r>
          </a:p>
        </p:txBody>
      </p:sp>
      <p:sp>
        <p:nvSpPr>
          <p:cNvPr id="15" name="TextBox 14"/>
          <p:cNvSpPr txBox="1"/>
          <p:nvPr/>
        </p:nvSpPr>
        <p:spPr>
          <a:xfrm>
            <a:off x="630936"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2018</a:t>
            </a:r>
          </a:p>
        </p:txBody>
      </p:sp>
      <p:sp>
        <p:nvSpPr>
          <p:cNvPr id="16" name="TextBox 15"/>
          <p:cNvSpPr txBox="1"/>
          <p:nvPr/>
        </p:nvSpPr>
        <p:spPr>
          <a:xfrm>
            <a:off x="3238073"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2020</a:t>
            </a:r>
          </a:p>
        </p:txBody>
      </p:sp>
      <p:sp>
        <p:nvSpPr>
          <p:cNvPr id="17" name="TextBox 16"/>
          <p:cNvSpPr txBox="1"/>
          <p:nvPr/>
        </p:nvSpPr>
        <p:spPr>
          <a:xfrm>
            <a:off x="5845210"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2022</a:t>
            </a:r>
          </a:p>
        </p:txBody>
      </p:sp>
      <p:sp>
        <p:nvSpPr>
          <p:cNvPr id="18" name="TextBox 17"/>
          <p:cNvSpPr txBox="1"/>
          <p:nvPr/>
        </p:nvSpPr>
        <p:spPr>
          <a:xfrm>
            <a:off x="8452347"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2024</a:t>
            </a:r>
          </a:p>
        </p:txBody>
      </p:sp>
      <p:sp>
        <p:nvSpPr>
          <p:cNvPr id="19" name="TextBox 18"/>
          <p:cNvSpPr txBox="1"/>
          <p:nvPr/>
        </p:nvSpPr>
        <p:spPr>
          <a:xfrm>
            <a:off x="11059485"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2026</a:t>
            </a:r>
          </a:p>
        </p:txBody>
      </p:sp>
      <p:sp>
        <p:nvSpPr>
          <p:cNvPr id="20" name="TextBox 19"/>
          <p:cNvSpPr txBox="1"/>
          <p:nvPr/>
        </p:nvSpPr>
        <p:spPr>
          <a:xfrm>
            <a:off x="13666622"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2028</a:t>
            </a:r>
          </a:p>
        </p:txBody>
      </p:sp>
      <p:sp>
        <p:nvSpPr>
          <p:cNvPr id="21" name="TextBox 20"/>
          <p:cNvSpPr txBox="1"/>
          <p:nvPr/>
        </p:nvSpPr>
        <p:spPr>
          <a:xfrm>
            <a:off x="16273759"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2030</a:t>
            </a:r>
          </a:p>
        </p:txBody>
      </p:sp>
      <p:sp>
        <p:nvSpPr>
          <p:cNvPr id="22" name="Oval 21"/>
          <p:cNvSpPr/>
          <p:nvPr/>
        </p:nvSpPr>
        <p:spPr>
          <a:xfrm>
            <a:off x="2618183"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685848" y="2889503"/>
            <a:ext cx="10972" cy="4572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94055" y="2450591"/>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2019</a:t>
            </a:r>
          </a:p>
        </p:txBody>
      </p:sp>
      <p:sp>
        <p:nvSpPr>
          <p:cNvPr id="25" name="TextBox 24"/>
          <p:cNvSpPr txBox="1"/>
          <p:nvPr/>
        </p:nvSpPr>
        <p:spPr>
          <a:xfrm>
            <a:off x="1594055" y="2651760"/>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DT19 중 HBM 조직 축소</a:t>
            </a:r>
          </a:p>
        </p:txBody>
      </p:sp>
      <p:sp>
        <p:nvSpPr>
          <p:cNvPr id="26" name="Oval 25"/>
          <p:cNvSpPr/>
          <p:nvPr/>
        </p:nvSpPr>
        <p:spPr>
          <a:xfrm>
            <a:off x="7376208"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43874" y="3566160"/>
            <a:ext cx="10972" cy="4754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2080" y="4059935"/>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2022-12</a:t>
            </a:r>
          </a:p>
        </p:txBody>
      </p:sp>
      <p:sp>
        <p:nvSpPr>
          <p:cNvPr id="29" name="TextBox 28"/>
          <p:cNvSpPr txBox="1"/>
          <p:nvPr/>
        </p:nvSpPr>
        <p:spPr>
          <a:xfrm>
            <a:off x="6352080" y="4261104"/>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데이터 배치 표준 비준</a:t>
            </a:r>
          </a:p>
          <a:p>
            <a:pPr algn="ctr">
              <a:lnSpc>
                <a:spcPct val="100000"/>
              </a:lnSpc>
            </a:pPr>
            <a:r>
              <a:rPr sz="1125" b="0">
                <a:solidFill>
                  <a:srgbClr val="555555"/>
                </a:solidFill>
                <a:latin typeface="Arial"/>
                <a:ea typeface="Arial"/>
              </a:rPr>
              <a:t>eSSD 매출 -27% 국면</a:t>
            </a:r>
          </a:p>
        </p:txBody>
      </p:sp>
      <p:sp>
        <p:nvSpPr>
          <p:cNvPr id="30" name="Oval 29"/>
          <p:cNvSpPr/>
          <p:nvPr/>
        </p:nvSpPr>
        <p:spPr>
          <a:xfrm>
            <a:off x="8158349"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26015" y="2889503"/>
            <a:ext cx="10972" cy="4572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34221" y="2450591"/>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2023-07</a:t>
            </a:r>
          </a:p>
        </p:txBody>
      </p:sp>
      <p:sp>
        <p:nvSpPr>
          <p:cNvPr id="33" name="TextBox 32"/>
          <p:cNvSpPr txBox="1"/>
          <p:nvPr/>
        </p:nvSpPr>
        <p:spPr>
          <a:xfrm>
            <a:off x="7134221" y="2651760"/>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Solidigm 61.44TB QLC 출시</a:t>
            </a:r>
          </a:p>
          <a:p>
            <a:pPr algn="ctr">
              <a:lnSpc>
                <a:spcPct val="100000"/>
              </a:lnSpc>
            </a:pPr>
            <a:r>
              <a:rPr sz="1125" b="0">
                <a:solidFill>
                  <a:srgbClr val="555555"/>
                </a:solidFill>
                <a:latin typeface="Arial"/>
                <a:ea typeface="Arial"/>
              </a:rPr>
              <a:t>삼성 대비 12개월 선행</a:t>
            </a:r>
          </a:p>
        </p:txBody>
      </p:sp>
      <p:sp>
        <p:nvSpPr>
          <p:cNvPr id="34" name="Oval 33"/>
          <p:cNvSpPr/>
          <p:nvPr/>
        </p:nvSpPr>
        <p:spPr>
          <a:xfrm>
            <a:off x="9722632"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90297" y="3566160"/>
            <a:ext cx="10972" cy="4754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98504" y="4059935"/>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2024</a:t>
            </a:r>
          </a:p>
        </p:txBody>
      </p:sp>
      <p:sp>
        <p:nvSpPr>
          <p:cNvPr id="37" name="TextBox 36"/>
          <p:cNvSpPr txBox="1"/>
          <p:nvPr/>
        </p:nvSpPr>
        <p:spPr>
          <a:xfrm>
            <a:off x="8698504" y="4261104"/>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QLC eSSD 비트 출하 30EB(4배)</a:t>
            </a:r>
          </a:p>
          <a:p>
            <a:pPr algn="ctr">
              <a:lnSpc>
                <a:spcPct val="100000"/>
              </a:lnSpc>
            </a:pPr>
            <a:r>
              <a:rPr sz="1125" b="0">
                <a:solidFill>
                  <a:srgbClr val="555555"/>
                </a:solidFill>
                <a:latin typeface="Arial"/>
                <a:ea typeface="Arial"/>
              </a:rPr>
              <a:t>Solidigm 흑자 전환</a:t>
            </a:r>
          </a:p>
        </p:txBody>
      </p:sp>
      <p:sp>
        <p:nvSpPr>
          <p:cNvPr id="38" name="Oval 37"/>
          <p:cNvSpPr/>
          <p:nvPr/>
        </p:nvSpPr>
        <p:spPr>
          <a:xfrm>
            <a:off x="12134234"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2201899" y="2889503"/>
            <a:ext cx="10972" cy="4572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110106" y="2450591"/>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2026</a:t>
            </a:r>
          </a:p>
        </p:txBody>
      </p:sp>
      <p:sp>
        <p:nvSpPr>
          <p:cNvPr id="41" name="TextBox 40"/>
          <p:cNvSpPr txBox="1"/>
          <p:nvPr/>
        </p:nvSpPr>
        <p:spPr>
          <a:xfrm>
            <a:off x="11110106" y="2651760"/>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KV 캐시 관리자 4종</a:t>
            </a:r>
          </a:p>
          <a:p>
            <a:pPr algn="ctr">
              <a:lnSpc>
                <a:spcPct val="100000"/>
              </a:lnSpc>
            </a:pPr>
            <a:r>
              <a:rPr sz="1125" b="0">
                <a:solidFill>
                  <a:srgbClr val="555555"/>
                </a:solidFill>
                <a:latin typeface="Arial"/>
                <a:ea typeface="Arial"/>
              </a:rPr>
              <a:t>데이터 배치 규격 미정의</a:t>
            </a:r>
          </a:p>
        </p:txBody>
      </p:sp>
      <p:sp>
        <p:nvSpPr>
          <p:cNvPr id="42" name="Oval 41"/>
          <p:cNvSpPr/>
          <p:nvPr/>
        </p:nvSpPr>
        <p:spPr>
          <a:xfrm>
            <a:off x="16827081"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6894747" y="3566160"/>
            <a:ext cx="10972" cy="4754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5802953" y="4059935"/>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2030</a:t>
            </a:r>
          </a:p>
        </p:txBody>
      </p:sp>
      <p:sp>
        <p:nvSpPr>
          <p:cNvPr id="45" name="TextBox 44"/>
          <p:cNvSpPr txBox="1"/>
          <p:nvPr/>
        </p:nvSpPr>
        <p:spPr>
          <a:xfrm>
            <a:off x="15802953" y="4261104"/>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QLC 비트 550EB(10배)</a:t>
            </a:r>
          </a:p>
          <a:p>
            <a:pPr algn="ctr">
              <a:lnSpc>
                <a:spcPct val="100000"/>
              </a:lnSpc>
            </a:pPr>
            <a:r>
              <a:rPr sz="1125" b="0">
                <a:solidFill>
                  <a:srgbClr val="555555"/>
                </a:solidFill>
                <a:latin typeface="Arial"/>
                <a:ea typeface="Arial"/>
              </a:rPr>
              <a:t>매출 정체(e)</a:t>
            </a:r>
          </a:p>
        </p:txBody>
      </p:sp>
      <p:sp>
        <p:nvSpPr>
          <p:cNvPr id="46" name="Rectangle 45"/>
          <p:cNvSpPr/>
          <p:nvPr/>
        </p:nvSpPr>
        <p:spPr>
          <a:xfrm>
            <a:off x="996696" y="4681728"/>
            <a:ext cx="7701369" cy="23774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24712" y="4681728"/>
            <a:ext cx="7481913"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초기 2018~2023 · 구매 기준 = TB당 TCO(원가·랙 밀도)</a:t>
            </a:r>
          </a:p>
        </p:txBody>
      </p:sp>
      <p:sp>
        <p:nvSpPr>
          <p:cNvPr id="48" name="Rectangle 47"/>
          <p:cNvSpPr/>
          <p:nvPr/>
        </p:nvSpPr>
        <p:spPr>
          <a:xfrm>
            <a:off x="8818107" y="4681728"/>
            <a:ext cx="3790663" cy="23774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46123" y="4681728"/>
            <a:ext cx="3571207"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현재 2024~2026 · TB당 TCO(전력 효율·공급 확보)</a:t>
            </a:r>
          </a:p>
        </p:txBody>
      </p:sp>
      <p:sp>
        <p:nvSpPr>
          <p:cNvPr id="50" name="Rectangle 49"/>
          <p:cNvSpPr/>
          <p:nvPr/>
        </p:nvSpPr>
        <p:spPr>
          <a:xfrm>
            <a:off x="12728813" y="4681728"/>
            <a:ext cx="4507626" cy="23774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2728813" y="4681728"/>
            <a:ext cx="54864"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2856829" y="4681728"/>
            <a:ext cx="4288170" cy="237744"/>
          </a:xfrm>
          <a:prstGeom prst="rect">
            <a:avLst/>
          </a:prstGeom>
          <a:noFill/>
        </p:spPr>
        <p:txBody>
          <a:bodyPr wrap="square" anchor="ctr" lIns="0" rIns="0" tIns="0" bIns="0">
            <a:spAutoFit/>
          </a:bodyPr>
          <a:lstStyle/>
          <a:p>
            <a:pPr algn="l">
              <a:lnSpc>
                <a:spcPct val="112000"/>
              </a:lnSpc>
            </a:pPr>
            <a:r>
              <a:rPr sz="1125" b="1">
                <a:solidFill>
                  <a:srgbClr val="1A1A1A"/>
                </a:solidFill>
                <a:latin typeface="Arial"/>
                <a:ea typeface="Arial"/>
              </a:rPr>
              <a:t>향후 2027~2030 · GPU당 컨텍스트 용량·토큰당 비용</a:t>
            </a:r>
          </a:p>
        </p:txBody>
      </p:sp>
      <p:sp>
        <p:nvSpPr>
          <p:cNvPr id="53" name="Rectangle 52"/>
          <p:cNvSpPr/>
          <p:nvPr/>
        </p:nvSpPr>
        <p:spPr>
          <a:xfrm>
            <a:off x="722376" y="5102352"/>
            <a:ext cx="5413248" cy="3072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69848" y="5285232"/>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1 · 수요 센싱</a:t>
            </a:r>
          </a:p>
        </p:txBody>
      </p:sp>
      <p:sp>
        <p:nvSpPr>
          <p:cNvPr id="55" name="TextBox 54"/>
          <p:cNvSpPr txBox="1"/>
          <p:nvPr/>
        </p:nvSpPr>
        <p:spPr>
          <a:xfrm>
            <a:off x="1069848" y="5614416"/>
            <a:ext cx="4718304" cy="713232"/>
          </a:xfrm>
          <a:prstGeom prst="rect">
            <a:avLst/>
          </a:prstGeom>
          <a:noFill/>
        </p:spPr>
        <p:txBody>
          <a:bodyPr wrap="square" anchor="t" lIns="0" rIns="0" tIns="0" bIns="0">
            <a:spAutoFit/>
          </a:bodyPr>
          <a:lstStyle/>
          <a:p>
            <a:pPr algn="l">
              <a:lnSpc>
                <a:spcPct val="106000"/>
              </a:lnSpc>
            </a:pPr>
            <a:r>
              <a:rPr sz="1575" b="1">
                <a:solidFill>
                  <a:srgbClr val="1A1A1A"/>
                </a:solidFill>
                <a:latin typeface="Arial"/>
                <a:ea typeface="Arial"/>
              </a:rPr>
              <a:t>수요 신호는 발주보다 약 2년 선행하여 고객의 규격·표준·소스 코드에 나타난다</a:t>
            </a:r>
          </a:p>
        </p:txBody>
      </p:sp>
      <p:sp>
        <p:nvSpPr>
          <p:cNvPr id="56" name="TextBox 55"/>
          <p:cNvSpPr txBox="1"/>
          <p:nvPr/>
        </p:nvSpPr>
        <p:spPr>
          <a:xfrm>
            <a:off x="1069848" y="6400800"/>
            <a:ext cx="4718304" cy="566928"/>
          </a:xfrm>
          <a:prstGeom prst="rect">
            <a:avLst/>
          </a:prstGeom>
          <a:noFill/>
        </p:spPr>
        <p:txBody>
          <a:bodyPr wrap="square" anchor="t" lIns="0" rIns="0" tIns="0" bIns="0">
            <a:spAutoFit/>
          </a:bodyPr>
          <a:lstStyle/>
          <a:p>
            <a:pPr algn="l">
              <a:lnSpc>
                <a:spcPct val="106000"/>
              </a:lnSpc>
            </a:pPr>
            <a:r>
              <a:rPr sz="1275" b="1">
                <a:solidFill>
                  <a:srgbClr val="1A1A1A"/>
                </a:solidFill>
                <a:latin typeface="Arial"/>
                <a:ea typeface="Arial"/>
              </a:rPr>
              <a:t>역사  </a:t>
            </a:r>
            <a:r>
              <a:rPr sz="1275" b="0">
                <a:solidFill>
                  <a:srgbClr val="555555"/>
                </a:solidFill>
                <a:latin typeface="Arial"/>
                <a:ea typeface="Arial"/>
              </a:rPr>
              <a:t>DT23 국면(4Q22 eSSD 매출 -27%)에서 데이터 배치 표준 비준·OCP 폼팩터 표준화·61TB 제품 예고가 선행. 비트 출하는 2년 후 30EB</a:t>
            </a:r>
          </a:p>
        </p:txBody>
      </p:sp>
      <p:sp>
        <p:nvSpPr>
          <p:cNvPr id="57" name="TextBox 56"/>
          <p:cNvSpPr txBox="1"/>
          <p:nvPr/>
        </p:nvSpPr>
        <p:spPr>
          <a:xfrm>
            <a:off x="1069848" y="7095744"/>
            <a:ext cx="4718304" cy="566928"/>
          </a:xfrm>
          <a:prstGeom prst="rect">
            <a:avLst/>
          </a:prstGeom>
          <a:noFill/>
        </p:spPr>
        <p:txBody>
          <a:bodyPr wrap="square" anchor="t" lIns="0" rIns="0" tIns="0" bIns="0">
            <a:spAutoFit/>
          </a:bodyPr>
          <a:lstStyle/>
          <a:p>
            <a:pPr algn="l">
              <a:lnSpc>
                <a:spcPct val="106000"/>
              </a:lnSpc>
            </a:pPr>
            <a:r>
              <a:rPr sz="1275" b="1">
                <a:solidFill>
                  <a:srgbClr val="1A1A1A"/>
                </a:solidFill>
                <a:latin typeface="Arial"/>
                <a:ea typeface="Arial"/>
              </a:rPr>
              <a:t>현재  </a:t>
            </a:r>
            <a:r>
              <a:rPr sz="1275" b="0">
                <a:solidFill>
                  <a:srgbClr val="555555"/>
                </a:solidFill>
                <a:latin typeface="Arial"/>
                <a:ea typeface="Arial"/>
              </a:rPr>
              <a:t>KV 캐시 관리자 4종의 소스 코드에 데이터 배치·내구성 규격이 미정의. 규격 정의 주체가 선점 가능한 구간</a:t>
            </a:r>
          </a:p>
        </p:txBody>
      </p:sp>
      <p:sp>
        <p:nvSpPr>
          <p:cNvPr id="58" name="Rectangle 57"/>
          <p:cNvSpPr/>
          <p:nvPr/>
        </p:nvSpPr>
        <p:spPr>
          <a:xfrm>
            <a:off x="1069848" y="7717536"/>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69848" y="7790688"/>
            <a:ext cx="4718304"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 2장  고객의 QLC 채택 동인</a:t>
            </a:r>
          </a:p>
        </p:txBody>
      </p:sp>
      <p:sp>
        <p:nvSpPr>
          <p:cNvPr id="60" name="Rectangle 59"/>
          <p:cNvSpPr/>
          <p:nvPr/>
        </p:nvSpPr>
        <p:spPr>
          <a:xfrm>
            <a:off x="6437376" y="5102352"/>
            <a:ext cx="5413248" cy="307238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437376" y="5102352"/>
            <a:ext cx="73152" cy="30723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784848" y="5285232"/>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2 · 고객 협업</a:t>
            </a:r>
          </a:p>
        </p:txBody>
      </p:sp>
      <p:sp>
        <p:nvSpPr>
          <p:cNvPr id="63" name="TextBox 62"/>
          <p:cNvSpPr txBox="1"/>
          <p:nvPr/>
        </p:nvSpPr>
        <p:spPr>
          <a:xfrm>
            <a:off x="6784848" y="5614416"/>
            <a:ext cx="4718304" cy="713232"/>
          </a:xfrm>
          <a:prstGeom prst="rect">
            <a:avLst/>
          </a:prstGeom>
          <a:noFill/>
        </p:spPr>
        <p:txBody>
          <a:bodyPr wrap="square" anchor="t" lIns="0" rIns="0" tIns="0" bIns="0">
            <a:spAutoFit/>
          </a:bodyPr>
          <a:lstStyle/>
          <a:p>
            <a:pPr algn="l">
              <a:lnSpc>
                <a:spcPct val="106000"/>
              </a:lnSpc>
            </a:pPr>
            <a:r>
              <a:rPr sz="1575" b="1">
                <a:solidFill>
                  <a:srgbClr val="1A1A1A"/>
                </a:solidFill>
                <a:latin typeface="Arial"/>
                <a:ea typeface="Arial"/>
              </a:rPr>
              <a:t>요구사항 정의 과정에 참여한 공급자가 적중했다</a:t>
            </a:r>
          </a:p>
        </p:txBody>
      </p:sp>
      <p:sp>
        <p:nvSpPr>
          <p:cNvPr id="64" name="TextBox 63"/>
          <p:cNvSpPr txBox="1"/>
          <p:nvPr/>
        </p:nvSpPr>
        <p:spPr>
          <a:xfrm>
            <a:off x="6784848" y="6400800"/>
            <a:ext cx="4718304" cy="566928"/>
          </a:xfrm>
          <a:prstGeom prst="rect">
            <a:avLst/>
          </a:prstGeom>
          <a:noFill/>
        </p:spPr>
        <p:txBody>
          <a:bodyPr wrap="square" anchor="t" lIns="0" rIns="0" tIns="0" bIns="0">
            <a:spAutoFit/>
          </a:bodyPr>
          <a:lstStyle/>
          <a:p>
            <a:pPr algn="l">
              <a:lnSpc>
                <a:spcPct val="106000"/>
              </a:lnSpc>
            </a:pPr>
            <a:r>
              <a:rPr sz="1275" b="1">
                <a:solidFill>
                  <a:srgbClr val="1A1A1A"/>
                </a:solidFill>
                <a:latin typeface="Arial"/>
                <a:ea typeface="Arial"/>
              </a:rPr>
              <a:t>역사  </a:t>
            </a:r>
            <a:r>
              <a:rPr sz="1275" b="0">
                <a:solidFill>
                  <a:srgbClr val="555555"/>
                </a:solidFill>
                <a:latin typeface="Arial"/>
                <a:ea typeface="Arial"/>
              </a:rPr>
              <a:t>Solidigm은 최대 낙폭 국면에서 61TB QLC를 12개월 선행 출시해 흑자 전환. HBM은 NVIDIA와 규격을 공동 정의한 SK hynix가 주도권 확보</a:t>
            </a:r>
          </a:p>
        </p:txBody>
      </p:sp>
      <p:sp>
        <p:nvSpPr>
          <p:cNvPr id="65" name="TextBox 64"/>
          <p:cNvSpPr txBox="1"/>
          <p:nvPr/>
        </p:nvSpPr>
        <p:spPr>
          <a:xfrm>
            <a:off x="6784848" y="7095744"/>
            <a:ext cx="4718304" cy="566928"/>
          </a:xfrm>
          <a:prstGeom prst="rect">
            <a:avLst/>
          </a:prstGeom>
          <a:noFill/>
        </p:spPr>
        <p:txBody>
          <a:bodyPr wrap="square" anchor="t" lIns="0" rIns="0" tIns="0" bIns="0">
            <a:spAutoFit/>
          </a:bodyPr>
          <a:lstStyle/>
          <a:p>
            <a:pPr algn="l">
              <a:lnSpc>
                <a:spcPct val="106000"/>
              </a:lnSpc>
            </a:pPr>
            <a:r>
              <a:rPr sz="1275" b="1">
                <a:solidFill>
                  <a:srgbClr val="1A1A1A"/>
                </a:solidFill>
                <a:latin typeface="Arial"/>
                <a:ea typeface="Arial"/>
              </a:rPr>
              <a:t>현재  </a:t>
            </a:r>
            <a:r>
              <a:rPr sz="1275" b="0">
                <a:solidFill>
                  <a:srgbClr val="555555"/>
                </a:solidFill>
                <a:latin typeface="Arial"/>
                <a:ea typeface="Arial"/>
              </a:rPr>
              <a:t>추론 캐시 계층의 내구성 요구사항은 고객 시스템(데이터 배치 표준·캐시 관리자 정책)에서 정의된다. 정의 과정 참여가 전제 조건</a:t>
            </a:r>
          </a:p>
        </p:txBody>
      </p:sp>
      <p:sp>
        <p:nvSpPr>
          <p:cNvPr id="66" name="Rectangle 65"/>
          <p:cNvSpPr/>
          <p:nvPr/>
        </p:nvSpPr>
        <p:spPr>
          <a:xfrm>
            <a:off x="6784848" y="7717536"/>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784848" y="7790688"/>
            <a:ext cx="4718304"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 3장  디바이스에서 고객 시스템까지 3단계 역량</a:t>
            </a:r>
          </a:p>
        </p:txBody>
      </p:sp>
      <p:sp>
        <p:nvSpPr>
          <p:cNvPr id="68" name="Rectangle 67"/>
          <p:cNvSpPr/>
          <p:nvPr/>
        </p:nvSpPr>
        <p:spPr>
          <a:xfrm>
            <a:off x="12152376" y="5102352"/>
            <a:ext cx="5413248" cy="3072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2499848" y="5285232"/>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3 · 의사결정 시점</a:t>
            </a:r>
          </a:p>
        </p:txBody>
      </p:sp>
      <p:sp>
        <p:nvSpPr>
          <p:cNvPr id="70" name="TextBox 69"/>
          <p:cNvSpPr txBox="1"/>
          <p:nvPr/>
        </p:nvSpPr>
        <p:spPr>
          <a:xfrm>
            <a:off x="12499848" y="5614416"/>
            <a:ext cx="4718304" cy="713232"/>
          </a:xfrm>
          <a:prstGeom prst="rect">
            <a:avLst/>
          </a:prstGeom>
          <a:noFill/>
        </p:spPr>
        <p:txBody>
          <a:bodyPr wrap="square" anchor="t" lIns="0" rIns="0" tIns="0" bIns="0">
            <a:spAutoFit/>
          </a:bodyPr>
          <a:lstStyle/>
          <a:p>
            <a:pPr algn="l">
              <a:lnSpc>
                <a:spcPct val="106000"/>
              </a:lnSpc>
            </a:pPr>
            <a:r>
              <a:rPr sz="1575" b="1">
                <a:solidFill>
                  <a:srgbClr val="1A1A1A"/>
                </a:solidFill>
                <a:latin typeface="Arial"/>
                <a:ea typeface="Arial"/>
              </a:rPr>
              <a:t>직전 다운턴의 의사결정이 다음 다운턴의 초기 조건을 결정한다</a:t>
            </a:r>
          </a:p>
        </p:txBody>
      </p:sp>
      <p:sp>
        <p:nvSpPr>
          <p:cNvPr id="71" name="TextBox 70"/>
          <p:cNvSpPr txBox="1"/>
          <p:nvPr/>
        </p:nvSpPr>
        <p:spPr>
          <a:xfrm>
            <a:off x="12499848" y="6400800"/>
            <a:ext cx="4718304" cy="566928"/>
          </a:xfrm>
          <a:prstGeom prst="rect">
            <a:avLst/>
          </a:prstGeom>
          <a:noFill/>
        </p:spPr>
        <p:txBody>
          <a:bodyPr wrap="square" anchor="t" lIns="0" rIns="0" tIns="0" bIns="0">
            <a:spAutoFit/>
          </a:bodyPr>
          <a:lstStyle/>
          <a:p>
            <a:pPr algn="l">
              <a:lnSpc>
                <a:spcPct val="106000"/>
              </a:lnSpc>
            </a:pPr>
            <a:r>
              <a:rPr sz="1275" b="1">
                <a:solidFill>
                  <a:srgbClr val="1A1A1A"/>
                </a:solidFill>
                <a:latin typeface="Arial"/>
                <a:ea typeface="Arial"/>
              </a:rPr>
              <a:t>역사  </a:t>
            </a:r>
            <a:r>
              <a:rPr sz="1275" b="0">
                <a:solidFill>
                  <a:srgbClr val="555555"/>
                </a:solidFill>
                <a:latin typeface="Arial"/>
                <a:ea typeface="Arial"/>
              </a:rPr>
              <a:t>DT19 무감산 성공 경험 → DT23 국면 오판. DT19 HBM 조직 축소 → DT23 회복기 주도권 상실</a:t>
            </a:r>
          </a:p>
        </p:txBody>
      </p:sp>
      <p:sp>
        <p:nvSpPr>
          <p:cNvPr id="72" name="TextBox 71"/>
          <p:cNvSpPr txBox="1"/>
          <p:nvPr/>
        </p:nvSpPr>
        <p:spPr>
          <a:xfrm>
            <a:off x="12499848" y="7095744"/>
            <a:ext cx="4718304" cy="566928"/>
          </a:xfrm>
          <a:prstGeom prst="rect">
            <a:avLst/>
          </a:prstGeom>
          <a:noFill/>
        </p:spPr>
        <p:txBody>
          <a:bodyPr wrap="square" anchor="t" lIns="0" rIns="0" tIns="0" bIns="0">
            <a:spAutoFit/>
          </a:bodyPr>
          <a:lstStyle/>
          <a:p>
            <a:pPr algn="l">
              <a:lnSpc>
                <a:spcPct val="106000"/>
              </a:lnSpc>
            </a:pPr>
            <a:r>
              <a:rPr sz="1275" b="1">
                <a:solidFill>
                  <a:srgbClr val="1A1A1A"/>
                </a:solidFill>
                <a:latin typeface="Arial"/>
                <a:ea typeface="Arial"/>
              </a:rPr>
              <a:t>현재  </a:t>
            </a:r>
            <a:r>
              <a:rPr sz="1275" b="0">
                <a:solidFill>
                  <a:srgbClr val="555555"/>
                </a:solidFill>
                <a:latin typeface="Arial"/>
                <a:ea typeface="Arial"/>
              </a:rPr>
              <a:t>차기 전환점은 2027년 하반기 가격 정상화 국면. 비트 10배 대비 매출 정체 시 수익원은 고객 시스템 수준 TCO 보증으로 한정</a:t>
            </a:r>
          </a:p>
        </p:txBody>
      </p:sp>
      <p:sp>
        <p:nvSpPr>
          <p:cNvPr id="73" name="Rectangle 72"/>
          <p:cNvSpPr/>
          <p:nvPr/>
        </p:nvSpPr>
        <p:spPr>
          <a:xfrm>
            <a:off x="12499848" y="7717536"/>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2499848" y="7790688"/>
            <a:ext cx="4718304"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 4장  FDE·전략적 협약과 조직·인사·문화</a:t>
            </a:r>
          </a:p>
        </p:txBody>
      </p:sp>
      <p:sp>
        <p:nvSpPr>
          <p:cNvPr id="75" name="Rectangle 74"/>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77" name="TextBox 76"/>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요구사항은 다운턴 국면에서 정의되었고, 정의에 참여한 공급자가 선점했습니다. 차기 요구사항은 지금 고객 코드에서 정의되고 있습니다</a:t>
            </a:r>
          </a:p>
        </p:txBody>
      </p:sp>
      <p:sp>
        <p:nvSpPr>
          <p:cNvPr id="78" name="TextBox 77"/>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위키 다운턴 역사 20년(DT19·DT23 낙폭, 패턴 5), fdp-host-ssd-platform §2.5(2023 복기·Solidigm), QLC 연혁 소스(배치 표준 비준·61TB·30EB), GitHub README 확인(캐시 관리자 4종), TrendForce 2H27 공급 완화</a:t>
            </a:r>
          </a:p>
        </p:txBody>
      </p:sp>
      <p:sp>
        <p:nvSpPr>
          <p:cNvPr id="79" name="TextBox 78"/>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배경: 고객의 QLC 채택 동인</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고객의 구매 기준은 용량 계층의 TB당 TCO이며, 해당 계층은 추론 캐시 계층으로 이동합니다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세 국면의 구매 기준은 일관되게 TB당 TCO(원가·전력·밀도)였고, 차기 KV 캐시 계층은 쓰기 집약적이라 내구성이 제약 조건입니다.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초기 · 2018~2023</a:t>
            </a:r>
          </a:p>
        </p:txBody>
      </p:sp>
      <p:sp>
        <p:nvSpPr>
          <p:cNvPr id="10" name="TextBox 9"/>
          <p:cNvSpPr txBox="1"/>
          <p:nvPr/>
        </p:nvSpPr>
        <p:spPr>
          <a:xfrm>
            <a:off x="106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11" name="TextBox 10"/>
          <p:cNvSpPr txBox="1"/>
          <p:nvPr/>
        </p:nvSpPr>
        <p:spPr>
          <a:xfrm>
            <a:off x="106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원가 · 랙 밀도</a:t>
            </a:r>
          </a:p>
        </p:txBody>
      </p:sp>
      <p:sp>
        <p:nvSpPr>
          <p:cNvPr id="12" name="TextBox 11"/>
          <p:cNvSpPr txBox="1"/>
          <p:nvPr/>
        </p:nvSpPr>
        <p:spPr>
          <a:xfrm>
            <a:off x="106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학습 데이터셋 6배 · 1U당 1PB, 5년 TCO -47%</a:t>
            </a:r>
          </a:p>
        </p:txBody>
      </p:sp>
      <p:sp>
        <p:nvSpPr>
          <p:cNvPr id="13" name="TextBox 12"/>
          <p:cNvSpPr txBox="1"/>
          <p:nvPr/>
        </p:nvSpPr>
        <p:spPr>
          <a:xfrm>
            <a:off x="106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 워크로드, 0.3~0.6 DWPD로 충족</a:t>
            </a:r>
          </a:p>
        </p:txBody>
      </p:sp>
      <p:sp>
        <p:nvSpPr>
          <p:cNvPr id="14" name="TextBox 13"/>
          <p:cNvSpPr txBox="1"/>
          <p:nvPr/>
        </p:nvSpPr>
        <p:spPr>
          <a:xfrm>
            <a:off x="106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61TB 12개월 후발</a:t>
            </a:r>
          </a:p>
        </p:txBody>
      </p:sp>
      <p:sp>
        <p:nvSpPr>
          <p:cNvPr id="15" name="Right Arrow 14"/>
          <p:cNvSpPr/>
          <p:nvPr/>
        </p:nvSpPr>
        <p:spPr>
          <a:xfrm>
            <a:off x="6217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37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84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현재 · 2024~2026</a:t>
            </a:r>
          </a:p>
        </p:txBody>
      </p:sp>
      <p:sp>
        <p:nvSpPr>
          <p:cNvPr id="18" name="TextBox 17"/>
          <p:cNvSpPr txBox="1"/>
          <p:nvPr/>
        </p:nvSpPr>
        <p:spPr>
          <a:xfrm>
            <a:off x="6784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19" name="TextBox 18"/>
          <p:cNvSpPr txBox="1"/>
          <p:nvPr/>
        </p:nvSpPr>
        <p:spPr>
          <a:xfrm>
            <a:off x="6784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전력 · 공급 확보</a:t>
            </a:r>
          </a:p>
        </p:txBody>
      </p:sp>
      <p:sp>
        <p:nvSpPr>
          <p:cNvPr id="20" name="TextBox 19"/>
          <p:cNvSpPr txBox="1"/>
          <p:nvPr/>
        </p:nvSpPr>
        <p:spPr>
          <a:xfrm>
            <a:off x="6784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추론 서버의 전력·공간 제약 → 245TB급</a:t>
            </a:r>
          </a:p>
        </p:txBody>
      </p:sp>
      <p:sp>
        <p:nvSpPr>
          <p:cNvPr id="21" name="TextBox 20"/>
          <p:cNvSpPr txBox="1"/>
          <p:nvPr/>
        </p:nvSpPr>
        <p:spPr>
          <a:xfrm>
            <a:off x="6784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 유지, 쓰기 계층은 TLC</a:t>
            </a:r>
          </a:p>
        </p:txBody>
      </p:sp>
      <p:sp>
        <p:nvSpPr>
          <p:cNvPr id="22" name="TextBox 21"/>
          <p:cNvSpPr txBox="1"/>
          <p:nvPr/>
        </p:nvSpPr>
        <p:spPr>
          <a:xfrm>
            <a:off x="6784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매출 1위(35.1%), 용량 후발</a:t>
            </a:r>
          </a:p>
        </p:txBody>
      </p:sp>
      <p:sp>
        <p:nvSpPr>
          <p:cNvPr id="23" name="Right Arrow 22"/>
          <p:cNvSpPr/>
          <p:nvPr/>
        </p:nvSpPr>
        <p:spPr>
          <a:xfrm>
            <a:off x="11932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152376" y="2560320"/>
            <a:ext cx="5413248" cy="21396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152376" y="2560320"/>
            <a:ext cx="73152" cy="21396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49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향후 · 2027~2030</a:t>
            </a:r>
          </a:p>
        </p:txBody>
      </p:sp>
      <p:sp>
        <p:nvSpPr>
          <p:cNvPr id="27" name="TextBox 26"/>
          <p:cNvSpPr txBox="1"/>
          <p:nvPr/>
        </p:nvSpPr>
        <p:spPr>
          <a:xfrm>
            <a:off x="1249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28" name="TextBox 27"/>
          <p:cNvSpPr txBox="1"/>
          <p:nvPr/>
        </p:nvSpPr>
        <p:spPr>
          <a:xfrm>
            <a:off x="1249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GPU당 컨텍스트 용량 · 토큰당 비용</a:t>
            </a:r>
          </a:p>
        </p:txBody>
      </p:sp>
      <p:sp>
        <p:nvSpPr>
          <p:cNvPr id="29" name="TextBox 28"/>
          <p:cNvSpPr txBox="1"/>
          <p:nvPr/>
        </p:nvSpPr>
        <p:spPr>
          <a:xfrm>
            <a:off x="1249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KV 캐시 SSD 오프로드 · GPU당 동시 사용자 10배</a:t>
            </a:r>
          </a:p>
        </p:txBody>
      </p:sp>
      <p:sp>
        <p:nvSpPr>
          <p:cNvPr id="30" name="TextBox 29"/>
          <p:cNvSpPr txBox="1"/>
          <p:nvPr/>
        </p:nvSpPr>
        <p:spPr>
          <a:xfrm>
            <a:off x="1249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쓰기 집약 캐시 → 현재 TLC 1~3 DWPD</a:t>
            </a:r>
          </a:p>
        </p:txBody>
      </p:sp>
      <p:sp>
        <p:nvSpPr>
          <p:cNvPr id="31" name="TextBox 30"/>
          <p:cNvSpPr txBox="1"/>
          <p:nvPr/>
        </p:nvSpPr>
        <p:spPr>
          <a:xfrm>
            <a:off x="1249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디바이스 확보, 시스템 SW 연계 공백</a:t>
            </a:r>
          </a:p>
        </p:txBody>
      </p:sp>
      <p:pic>
        <p:nvPicPr>
          <p:cNvPr id="32" name="Picture 31" descr="qlc_demand_share_revenue_slide.png"/>
          <p:cNvPicPr>
            <a:picLocks noChangeAspect="1"/>
          </p:cNvPicPr>
          <p:nvPr/>
        </p:nvPicPr>
        <p:blipFill>
          <a:blip r:embed="rId2"/>
          <a:stretch>
            <a:fillRect/>
          </a:stretch>
        </p:blipFill>
        <p:spPr>
          <a:xfrm>
            <a:off x="722376" y="4901184"/>
            <a:ext cx="11080569" cy="3447288"/>
          </a:xfrm>
          <a:prstGeom prst="rect">
            <a:avLst/>
          </a:prstGeom>
        </p:spPr>
      </p:pic>
      <p:sp>
        <p:nvSpPr>
          <p:cNvPr id="33" name="Rectangle 32"/>
          <p:cNvSpPr/>
          <p:nvPr/>
        </p:nvSpPr>
        <p:spPr>
          <a:xfrm>
            <a:off x="12077264" y="4901184"/>
            <a:ext cx="5488359" cy="34472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388160" y="5047488"/>
            <a:ext cx="4866567"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모델의 핵심 수치</a:t>
            </a:r>
          </a:p>
        </p:txBody>
      </p:sp>
      <p:sp>
        <p:nvSpPr>
          <p:cNvPr id="35" name="TextBox 34"/>
          <p:cNvSpPr txBox="1"/>
          <p:nvPr/>
        </p:nvSpPr>
        <p:spPr>
          <a:xfrm>
            <a:off x="12388160" y="5376672"/>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10배</a:t>
            </a:r>
          </a:p>
        </p:txBody>
      </p:sp>
      <p:sp>
        <p:nvSpPr>
          <p:cNvPr id="36" name="TextBox 35"/>
          <p:cNvSpPr txBox="1"/>
          <p:nvPr/>
        </p:nvSpPr>
        <p:spPr>
          <a:xfrm>
            <a:off x="14015792" y="5376672"/>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비트 출하, 2025년 → 2030년</a:t>
            </a:r>
          </a:p>
        </p:txBody>
      </p:sp>
      <p:sp>
        <p:nvSpPr>
          <p:cNvPr id="37" name="TextBox 36"/>
          <p:cNvSpPr txBox="1"/>
          <p:nvPr/>
        </p:nvSpPr>
        <p:spPr>
          <a:xfrm>
            <a:off x="12388160" y="5861304"/>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정체</a:t>
            </a:r>
          </a:p>
        </p:txBody>
      </p:sp>
      <p:sp>
        <p:nvSpPr>
          <p:cNvPr id="38" name="TextBox 37"/>
          <p:cNvSpPr txBox="1"/>
          <p:nvPr/>
        </p:nvSpPr>
        <p:spPr>
          <a:xfrm>
            <a:off x="14015792" y="5861304"/>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매출, 2026년 $32B → 2030년 $37B(e)</a:t>
            </a:r>
          </a:p>
        </p:txBody>
      </p:sp>
      <p:sp>
        <p:nvSpPr>
          <p:cNvPr id="39" name="TextBox 38"/>
          <p:cNvSpPr txBox="1"/>
          <p:nvPr/>
        </p:nvSpPr>
        <p:spPr>
          <a:xfrm>
            <a:off x="12388160" y="6345936"/>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350EB</a:t>
            </a:r>
          </a:p>
        </p:txBody>
      </p:sp>
      <p:sp>
        <p:nvSpPr>
          <p:cNvPr id="40" name="TextBox 39"/>
          <p:cNvSpPr txBox="1"/>
          <p:nvPr/>
        </p:nvSpPr>
        <p:spPr>
          <a:xfrm>
            <a:off x="14015792" y="6345936"/>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2030년 추론 캐시 계층 수요(전 미디어)</a:t>
            </a:r>
          </a:p>
        </p:txBody>
      </p:sp>
      <p:sp>
        <p:nvSpPr>
          <p:cNvPr id="41" name="Rectangle 40"/>
          <p:cNvSpPr/>
          <p:nvPr/>
        </p:nvSpPr>
        <p:spPr>
          <a:xfrm>
            <a:off x="12388160" y="6867144"/>
            <a:ext cx="4866567"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2388160" y="6958584"/>
            <a:ext cx="54864" cy="12984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589328" y="6958584"/>
            <a:ext cx="4665399" cy="1298447"/>
          </a:xfrm>
          <a:prstGeom prst="rect">
            <a:avLst/>
          </a:prstGeom>
          <a:noFill/>
        </p:spPr>
        <p:txBody>
          <a:bodyPr wrap="square" anchor="ctr" lIns="0" rIns="0" tIns="0" bIns="0">
            <a:spAutoFit/>
          </a:bodyPr>
          <a:lstStyle/>
          <a:p>
            <a:pPr algn="l">
              <a:lnSpc>
                <a:spcPct val="106000"/>
              </a:lnSpc>
            </a:pPr>
            <a:r>
              <a:rPr sz="1275"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1125" b="0">
                <a:solidFill>
                  <a:srgbClr val="8A8A8A"/>
                </a:solidFill>
                <a:latin typeface="Arial"/>
                <a:ea typeface="Arial"/>
              </a:rPr>
              <a:t>송용호 AX/PI센터장 · 사내 인터뷰 2026-09-03</a:t>
            </a:r>
          </a:p>
        </p:txBody>
      </p:sp>
      <p:sp>
        <p:nvSpPr>
          <p:cNvPr id="44" name="Rectangle 43"/>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46" name="TextBox 45"/>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고객은 추론 캐시 계층에서도 QLC의 TB당 TCO를 요구합니다. 제약 조건은 내구성이며, 디바이스 단독으로는 해소되지 않습니다</a:t>
            </a:r>
          </a:p>
        </p:txBody>
      </p:sp>
      <p:sp>
        <p:nvSpPr>
          <p:cNvPr id="47" name="TextBox 4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TrendForce 분기 실측(2022~2Q26)·QLC 30EB(2024)·SanDisk FMS 2026·Meta·Solidigm 발표 종합, 2026~2030은 추정(e) · 상세: QLC eSSD 전략 보고서 1~3장</a:t>
            </a:r>
          </a:p>
        </p:txBody>
      </p:sp>
      <p:sp>
        <p:nvSpPr>
          <p:cNvPr id="48" name="TextBox 4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요구사항과 역량, 기술 전략</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내구성은 고객 시스템에서 풀리므로, 디바이스에서 고객 시스템 안까지 세 단계로 올라가야 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560320"/>
            <a:ext cx="17830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10~40배</a:t>
            </a:r>
          </a:p>
        </p:txBody>
      </p:sp>
      <p:sp>
        <p:nvSpPr>
          <p:cNvPr id="10" name="TextBox 9"/>
          <p:cNvSpPr txBox="1"/>
          <p:nvPr/>
        </p:nvSpPr>
        <p:spPr>
          <a:xfrm>
            <a:off x="2871216" y="2560320"/>
            <a:ext cx="17007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갭</a:t>
            </a:r>
          </a:p>
          <a:p>
            <a:pPr algn="l">
              <a:lnSpc>
                <a:spcPct val="105000"/>
              </a:lnSpc>
            </a:pPr>
            <a:r>
              <a:rPr sz="1350" b="0">
                <a:solidFill>
                  <a:srgbClr val="555555"/>
                </a:solidFill>
                <a:latin typeface="Arial"/>
                <a:ea typeface="Arial"/>
              </a:rPr>
              <a:t>QLC 0.075~0.6 vs TLC 1~3 DWPD</a:t>
            </a:r>
          </a:p>
        </p:txBody>
      </p:sp>
      <p:sp>
        <p:nvSpPr>
          <p:cNvPr id="11" name="Rectangle 10"/>
          <p:cNvSpPr/>
          <p:nvPr/>
        </p:nvSpPr>
        <p:spPr>
          <a:xfrm>
            <a:off x="4992624"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48656" y="2560320"/>
            <a:ext cx="13258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13" name="TextBox 12"/>
          <p:cNvSpPr txBox="1"/>
          <p:nvPr/>
        </p:nvSpPr>
        <p:spPr>
          <a:xfrm>
            <a:off x="6684264" y="2560320"/>
            <a:ext cx="21579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갭</a:t>
            </a:r>
          </a:p>
          <a:p>
            <a:pPr algn="l">
              <a:lnSpc>
                <a:spcPct val="105000"/>
              </a:lnSpc>
            </a:pPr>
            <a:r>
              <a:rPr sz="1350" b="0">
                <a:solidFill>
                  <a:srgbClr val="555555"/>
                </a:solidFill>
                <a:latin typeface="Arial"/>
                <a:ea typeface="Arial"/>
              </a:rPr>
              <a:t>RUH 2~8개 vs 200개 이상</a:t>
            </a:r>
          </a:p>
        </p:txBody>
      </p:sp>
      <p:sp>
        <p:nvSpPr>
          <p:cNvPr id="14" name="Rectangle 13"/>
          <p:cNvSpPr/>
          <p:nvPr/>
        </p:nvSpPr>
        <p:spPr>
          <a:xfrm>
            <a:off x="9262872"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18903" y="2560320"/>
            <a:ext cx="114300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16" name="TextBox 15"/>
          <p:cNvSpPr txBox="1"/>
          <p:nvPr/>
        </p:nvSpPr>
        <p:spPr>
          <a:xfrm>
            <a:off x="10771631" y="2560320"/>
            <a:ext cx="234086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공백</a:t>
            </a:r>
          </a:p>
          <a:p>
            <a:pPr algn="l">
              <a:lnSpc>
                <a:spcPct val="105000"/>
              </a:lnSpc>
            </a:pPr>
            <a:r>
              <a:rPr sz="1350" b="0">
                <a:solidFill>
                  <a:srgbClr val="555555"/>
                </a:solidFill>
                <a:latin typeface="Arial"/>
                <a:ea typeface="Arial"/>
              </a:rPr>
              <a:t>캐시 관리자 4종의 배치 언급</a:t>
            </a:r>
          </a:p>
        </p:txBody>
      </p:sp>
      <p:sp>
        <p:nvSpPr>
          <p:cNvPr id="17" name="Rectangle 16"/>
          <p:cNvSpPr/>
          <p:nvPr/>
        </p:nvSpPr>
        <p:spPr>
          <a:xfrm>
            <a:off x="13533120" y="2560320"/>
            <a:ext cx="4032504" cy="9692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89152" y="2560320"/>
            <a:ext cx="233172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3.22 → 1.03</a:t>
            </a:r>
          </a:p>
        </p:txBody>
      </p:sp>
      <p:sp>
        <p:nvSpPr>
          <p:cNvPr id="19" name="TextBox 18"/>
          <p:cNvSpPr txBox="1"/>
          <p:nvPr/>
        </p:nvSpPr>
        <p:spPr>
          <a:xfrm>
            <a:off x="16230600" y="2560320"/>
            <a:ext cx="115214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수단은 있음</a:t>
            </a:r>
          </a:p>
          <a:p>
            <a:pPr algn="l">
              <a:lnSpc>
                <a:spcPct val="105000"/>
              </a:lnSpc>
            </a:pPr>
            <a:r>
              <a:rPr sz="1350" b="0">
                <a:solidFill>
                  <a:srgbClr val="555555"/>
                </a:solidFill>
                <a:latin typeface="Arial"/>
                <a:ea typeface="Arial"/>
              </a:rPr>
              <a:t>배치 표준 WAF 실측</a:t>
            </a:r>
          </a:p>
        </p:txBody>
      </p:sp>
      <p:sp>
        <p:nvSpPr>
          <p:cNvPr id="20" name="Rectangle 19"/>
          <p:cNvSpPr/>
          <p:nvPr/>
        </p:nvSpPr>
        <p:spPr>
          <a:xfrm>
            <a:off x="722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디바이스를 잘 만든다</a:t>
            </a:r>
          </a:p>
        </p:txBody>
      </p:sp>
      <p:sp>
        <p:nvSpPr>
          <p:cNvPr id="22" name="Rectangle 21"/>
          <p:cNvSpPr/>
          <p:nvPr/>
        </p:nvSpPr>
        <p:spPr>
          <a:xfrm>
            <a:off x="1069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16151"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24" name="Rectangle 23"/>
          <p:cNvSpPr/>
          <p:nvPr/>
        </p:nvSpPr>
        <p:spPr>
          <a:xfrm>
            <a:off x="1069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16151"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26" name="Rectangle 25"/>
          <p:cNvSpPr/>
          <p:nvPr/>
        </p:nvSpPr>
        <p:spPr>
          <a:xfrm>
            <a:off x="1069848" y="576072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6151" y="581558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28" name="Rectangle 27"/>
          <p:cNvSpPr/>
          <p:nvPr/>
        </p:nvSpPr>
        <p:spPr>
          <a:xfrm>
            <a:off x="1069848" y="649224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16151" y="654710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30" name="Rectangle 29"/>
          <p:cNvSpPr/>
          <p:nvPr/>
        </p:nvSpPr>
        <p:spPr>
          <a:xfrm>
            <a:off x="106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16151"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QLC(WAF≈1) · NVMe KV 확장 · 텔레메트리 · 액체냉각</a:t>
            </a:r>
          </a:p>
        </p:txBody>
      </p:sp>
      <p:sp>
        <p:nvSpPr>
          <p:cNvPr id="32" name="TextBox 31"/>
          <p:cNvSpPr txBox="1"/>
          <p:nvPr/>
        </p:nvSpPr>
        <p:spPr>
          <a:xfrm>
            <a:off x="4782312" y="7223760"/>
            <a:ext cx="1207008" cy="676656"/>
          </a:xfrm>
          <a:prstGeom prst="rect">
            <a:avLst/>
          </a:prstGeom>
          <a:noFill/>
        </p:spPr>
        <p:txBody>
          <a:bodyPr wrap="square" anchor="ctr" lIns="0" rIns="0" tIns="0" bIns="0">
            <a:spAutoFit/>
          </a:bodyPr>
          <a:lstStyle/>
          <a:p>
            <a:pPr algn="l">
              <a:lnSpc>
                <a:spcPct val="102000"/>
              </a:lnSpc>
            </a:pPr>
            <a:r>
              <a:rPr sz="1275" b="1">
                <a:solidFill>
                  <a:srgbClr val="1428A0"/>
                </a:solidFill>
                <a:latin typeface="Arial"/>
                <a:ea typeface="Arial"/>
              </a:rPr>
              <a:t>우리가 만드는 것</a:t>
            </a:r>
          </a:p>
        </p:txBody>
      </p:sp>
      <p:sp>
        <p:nvSpPr>
          <p:cNvPr id="33" name="TextBox 32"/>
          <p:cNvSpPr txBox="1"/>
          <p:nvPr/>
        </p:nvSpPr>
        <p:spPr>
          <a:xfrm>
            <a:off x="4782312" y="4297680"/>
            <a:ext cx="1207008" cy="1353312"/>
          </a:xfrm>
          <a:prstGeom prst="rect">
            <a:avLst/>
          </a:prstGeom>
          <a:noFill/>
        </p:spPr>
        <p:txBody>
          <a:bodyPr wrap="square" anchor="t" lIns="0" rIns="0" tIns="0" bIns="0">
            <a:spAutoFit/>
          </a:bodyPr>
          <a:lstStyle/>
          <a:p>
            <a:pPr algn="l">
              <a:lnSpc>
                <a:spcPct val="102000"/>
              </a:lnSpc>
            </a:pPr>
            <a:r>
              <a:rPr sz="1200" b="0">
                <a:solidFill>
                  <a:srgbClr val="8A8A8A"/>
                </a:solidFill>
                <a:latin typeface="Arial"/>
                <a:ea typeface="Arial"/>
              </a:rPr>
              <a:t>고객 시스템은 밖에 있습니다</a:t>
            </a:r>
          </a:p>
        </p:txBody>
      </p:sp>
      <p:sp>
        <p:nvSpPr>
          <p:cNvPr id="34" name="TextBox 33"/>
          <p:cNvSpPr txBox="1"/>
          <p:nvPr/>
        </p:nvSpPr>
        <p:spPr>
          <a:xfrm>
            <a:off x="106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정격 내 QLC 원가·전력</a:t>
            </a:r>
          </a:p>
        </p:txBody>
      </p:sp>
      <p:sp>
        <p:nvSpPr>
          <p:cNvPr id="35" name="Rectangle 34"/>
          <p:cNvSpPr/>
          <p:nvPr/>
        </p:nvSpPr>
        <p:spPr>
          <a:xfrm>
            <a:off x="6437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84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분석으로 최적화한다</a:t>
            </a:r>
          </a:p>
        </p:txBody>
      </p:sp>
      <p:sp>
        <p:nvSpPr>
          <p:cNvPr id="37" name="Rectangle 36"/>
          <p:cNvSpPr/>
          <p:nvPr/>
        </p:nvSpPr>
        <p:spPr>
          <a:xfrm>
            <a:off x="6784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31152"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39" name="Rectangle 38"/>
          <p:cNvSpPr/>
          <p:nvPr/>
        </p:nvSpPr>
        <p:spPr>
          <a:xfrm>
            <a:off x="6784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31152"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 = 트레이스의 원천</a:t>
            </a:r>
          </a:p>
        </p:txBody>
      </p:sp>
      <p:sp>
        <p:nvSpPr>
          <p:cNvPr id="41" name="Rectangle 40"/>
          <p:cNvSpPr/>
          <p:nvPr/>
        </p:nvSpPr>
        <p:spPr>
          <a:xfrm>
            <a:off x="6784848" y="576072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31152" y="581558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백엔드에 write stream 부착 · xNVMe · fio·blktrace·eBPF</a:t>
            </a:r>
          </a:p>
        </p:txBody>
      </p:sp>
      <p:sp>
        <p:nvSpPr>
          <p:cNvPr id="43" name="Rectangle 42"/>
          <p:cNvSpPr/>
          <p:nvPr/>
        </p:nvSpPr>
        <p:spPr>
          <a:xfrm>
            <a:off x="6784848" y="649224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31152" y="654710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45" name="Rectangle 44"/>
          <p:cNvSpPr/>
          <p:nvPr/>
        </p:nvSpPr>
        <p:spPr>
          <a:xfrm>
            <a:off x="6784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31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 · 디지털 트윈</a:t>
            </a:r>
          </a:p>
        </p:txBody>
      </p:sp>
      <p:sp>
        <p:nvSpPr>
          <p:cNvPr id="47" name="Down Arrow 46"/>
          <p:cNvSpPr/>
          <p:nvPr/>
        </p:nvSpPr>
        <p:spPr>
          <a:xfrm>
            <a:off x="10497312" y="4370832"/>
            <a:ext cx="201168" cy="3456432"/>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Up Arrow 47"/>
          <p:cNvSpPr/>
          <p:nvPr/>
        </p:nvSpPr>
        <p:spPr>
          <a:xfrm>
            <a:off x="10753344" y="4370832"/>
            <a:ext cx="201168" cy="3456432"/>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027664" y="5029200"/>
            <a:ext cx="676656"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내려옴</a:t>
            </a:r>
          </a:p>
        </p:txBody>
      </p:sp>
      <p:sp>
        <p:nvSpPr>
          <p:cNvPr id="50" name="TextBox 49"/>
          <p:cNvSpPr txBox="1"/>
          <p:nvPr/>
        </p:nvSpPr>
        <p:spPr>
          <a:xfrm>
            <a:off x="11027664" y="6492240"/>
            <a:ext cx="676656"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정책</a:t>
            </a:r>
          </a:p>
          <a:p>
            <a:pPr algn="l">
              <a:lnSpc>
                <a:spcPct val="100000"/>
              </a:lnSpc>
            </a:pPr>
            <a:r>
              <a:rPr sz="1100" b="0">
                <a:solidFill>
                  <a:srgbClr val="555555"/>
                </a:solidFill>
                <a:latin typeface="Arial"/>
                <a:ea typeface="Arial"/>
              </a:rPr>
              <a:t>올라감</a:t>
            </a:r>
          </a:p>
        </p:txBody>
      </p:sp>
      <p:sp>
        <p:nvSpPr>
          <p:cNvPr id="51" name="TextBox 50"/>
          <p:cNvSpPr txBox="1"/>
          <p:nvPr/>
        </p:nvSpPr>
        <p:spPr>
          <a:xfrm>
            <a:off x="6784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자기 워크로드의 수명 보증</a:t>
            </a:r>
          </a:p>
        </p:txBody>
      </p:sp>
      <p:sp>
        <p:nvSpPr>
          <p:cNvPr id="52" name="Rectangle 51"/>
          <p:cNvSpPr/>
          <p:nvPr/>
        </p:nvSpPr>
        <p:spPr>
          <a:xfrm>
            <a:off x="12152376" y="3730752"/>
            <a:ext cx="5413248" cy="46268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49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안에서 함께 설계한다</a:t>
            </a:r>
          </a:p>
        </p:txBody>
      </p:sp>
      <p:sp>
        <p:nvSpPr>
          <p:cNvPr id="54" name="Rectangle 53"/>
          <p:cNvSpPr/>
          <p:nvPr/>
        </p:nvSpPr>
        <p:spPr>
          <a:xfrm>
            <a:off x="12499848" y="429768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646152" y="435254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이해 · 공용 TCO 모델(GPU당 동시 사용자·TTFT·전력)</a:t>
            </a:r>
          </a:p>
        </p:txBody>
      </p:sp>
      <p:sp>
        <p:nvSpPr>
          <p:cNvPr id="56" name="Rectangle 55"/>
          <p:cNvSpPr/>
          <p:nvPr/>
        </p:nvSpPr>
        <p:spPr>
          <a:xfrm>
            <a:off x="12499848" y="502920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646152" y="508406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58" name="Rectangle 57"/>
          <p:cNvSpPr/>
          <p:nvPr/>
        </p:nvSpPr>
        <p:spPr>
          <a:xfrm>
            <a:off x="12499848" y="576072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646152" y="581558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60" name="Rectangle 59"/>
          <p:cNvSpPr/>
          <p:nvPr/>
        </p:nvSpPr>
        <p:spPr>
          <a:xfrm>
            <a:off x="12499848" y="649224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2646152" y="654710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완주 · DOCA Memos↔배치 표준 공동 정의 · SNIA·OCP</a:t>
            </a:r>
          </a:p>
        </p:txBody>
      </p:sp>
      <p:sp>
        <p:nvSpPr>
          <p:cNvPr id="62" name="Rectangle 61"/>
          <p:cNvSpPr/>
          <p:nvPr/>
        </p:nvSpPr>
        <p:spPr>
          <a:xfrm>
            <a:off x="1249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646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64" name="Oval 63"/>
          <p:cNvSpPr/>
          <p:nvPr/>
        </p:nvSpPr>
        <p:spPr>
          <a:xfrm>
            <a:off x="16303751" y="5138928"/>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 Same Side Corner Rectangle 64"/>
          <p:cNvSpPr/>
          <p:nvPr/>
        </p:nvSpPr>
        <p:spPr>
          <a:xfrm>
            <a:off x="16230600" y="5340096"/>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6623792" y="5029200"/>
            <a:ext cx="79552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67" name="TextBox 66"/>
          <p:cNvSpPr txBox="1"/>
          <p:nvPr/>
        </p:nvSpPr>
        <p:spPr>
          <a:xfrm>
            <a:off x="16212312" y="5760720"/>
            <a:ext cx="120700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68" name="TextBox 67"/>
          <p:cNvSpPr txBox="1"/>
          <p:nvPr/>
        </p:nvSpPr>
        <p:spPr>
          <a:xfrm>
            <a:off x="16212312" y="4297680"/>
            <a:ext cx="1207008"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69" name="TextBox 68"/>
          <p:cNvSpPr txBox="1"/>
          <p:nvPr/>
        </p:nvSpPr>
        <p:spPr>
          <a:xfrm>
            <a:off x="1249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시스템 위의 TCO 보증</a:t>
            </a:r>
          </a:p>
        </p:txBody>
      </p:sp>
      <p:sp>
        <p:nvSpPr>
          <p:cNvPr id="70" name="Rectangle 69"/>
          <p:cNvSpPr/>
          <p:nvPr/>
        </p:nvSpPr>
        <p:spPr>
          <a:xfrm>
            <a:off x="722376" y="8485632"/>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332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우리 코드·제품</a:t>
            </a:r>
          </a:p>
        </p:txBody>
      </p:sp>
      <p:sp>
        <p:nvSpPr>
          <p:cNvPr id="72" name="Rectangle 71"/>
          <p:cNvSpPr/>
          <p:nvPr/>
        </p:nvSpPr>
        <p:spPr>
          <a:xfrm>
            <a:off x="2551176" y="8485632"/>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8620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관측·이해</a:t>
            </a:r>
          </a:p>
        </p:txBody>
      </p:sp>
      <p:sp>
        <p:nvSpPr>
          <p:cNvPr id="74" name="Rectangle 73"/>
          <p:cNvSpPr/>
          <p:nvPr/>
        </p:nvSpPr>
        <p:spPr>
          <a:xfrm>
            <a:off x="4379976" y="8485632"/>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6908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고객 영역</a:t>
            </a:r>
          </a:p>
        </p:txBody>
      </p:sp>
      <p:sp>
        <p:nvSpPr>
          <p:cNvPr id="76" name="Rectangle 75"/>
          <p:cNvSpPr/>
          <p:nvPr/>
        </p:nvSpPr>
        <p:spPr>
          <a:xfrm>
            <a:off x="72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437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215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22376" y="8778240"/>
            <a:ext cx="5413248"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437376" y="8778240"/>
            <a:ext cx="1515709"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sosceles Triangle 80"/>
          <p:cNvSpPr/>
          <p:nvPr/>
        </p:nvSpPr>
        <p:spPr>
          <a:xfrm>
            <a:off x="7834213" y="8979407"/>
            <a:ext cx="237744" cy="182880"/>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4253" y="8942832"/>
            <a:ext cx="82296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75" b="0">
                <a:solidFill>
                  <a:srgbClr val="555555"/>
                </a:solidFill>
                <a:latin typeface="Arial"/>
                <a:ea typeface="Arial"/>
              </a:rPr>
              <a:t>디바이스는 확보(CMX 첫 공급), 워크로드 실측은 미공개, 캐시 관리자 4종 기여 0</a:t>
            </a:r>
          </a:p>
        </p:txBody>
      </p:sp>
      <p:sp>
        <p:nvSpPr>
          <p:cNvPr id="83" name="TextBox 8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84" name="TextBox 8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실행 전략과 고객 협업</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FDE로 고객 시스템 안에 들어가고, 전략적 협약으로 워크로드를 받습니다. 선례는 이미 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352044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761488"/>
            <a:ext cx="2898648"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 개발실</a:t>
            </a:r>
          </a:p>
        </p:txBody>
      </p:sp>
      <p:sp>
        <p:nvSpPr>
          <p:cNvPr id="10" name="TextBox 9"/>
          <p:cNvSpPr txBox="1"/>
          <p:nvPr/>
        </p:nvSpPr>
        <p:spPr>
          <a:xfrm>
            <a:off x="1033272" y="3072384"/>
            <a:ext cx="2898648"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들고 들어가는 것</a:t>
            </a:r>
          </a:p>
        </p:txBody>
      </p:sp>
      <p:sp>
        <p:nvSpPr>
          <p:cNvPr id="11" name="Rectangle 10"/>
          <p:cNvSpPr/>
          <p:nvPr/>
        </p:nvSpPr>
        <p:spPr>
          <a:xfrm>
            <a:off x="1033272" y="359359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9304" y="3493008"/>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KV-ready QLC + 수명 보증</a:t>
            </a:r>
          </a:p>
        </p:txBody>
      </p:sp>
      <p:sp>
        <p:nvSpPr>
          <p:cNvPr id="13" name="Rectangle 12"/>
          <p:cNvSpPr/>
          <p:nvPr/>
        </p:nvSpPr>
        <p:spPr>
          <a:xfrm>
            <a:off x="1033272" y="4123944"/>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9304" y="4023359"/>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FDE(고객 상주 엔지니어)</a:t>
            </a:r>
          </a:p>
        </p:txBody>
      </p:sp>
      <p:sp>
        <p:nvSpPr>
          <p:cNvPr id="15" name="Rectangle 14"/>
          <p:cNvSpPr/>
          <p:nvPr/>
        </p:nvSpPr>
        <p:spPr>
          <a:xfrm>
            <a:off x="1033272" y="4654296"/>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4553712"/>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업스트림 코드 · 공용 TCO 모델</a:t>
            </a:r>
          </a:p>
        </p:txBody>
      </p:sp>
      <p:sp>
        <p:nvSpPr>
          <p:cNvPr id="17" name="Rectangle 16"/>
          <p:cNvSpPr/>
          <p:nvPr/>
        </p:nvSpPr>
        <p:spPr>
          <a:xfrm>
            <a:off x="1033272" y="5184648"/>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9304" y="5084064"/>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다년 공급 · 선급 · 자본</a:t>
            </a:r>
          </a:p>
        </p:txBody>
      </p:sp>
      <p:sp>
        <p:nvSpPr>
          <p:cNvPr id="19" name="Rectangle 18"/>
          <p:cNvSpPr/>
          <p:nvPr/>
        </p:nvSpPr>
        <p:spPr>
          <a:xfrm>
            <a:off x="1033272" y="5632703"/>
            <a:ext cx="289864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33272" y="5724144"/>
            <a:ext cx="54864" cy="8595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5724144"/>
            <a:ext cx="2697479" cy="859536"/>
          </a:xfrm>
          <a:prstGeom prst="rect">
            <a:avLst/>
          </a:prstGeom>
          <a:noFill/>
        </p:spPr>
        <p:txBody>
          <a:bodyPr wrap="square" anchor="ctr" lIns="0" rIns="0" tIns="0" bIns="0">
            <a:spAutoFit/>
          </a:bodyPr>
          <a:lstStyle/>
          <a:p>
            <a:pPr algn="l">
              <a:lnSpc>
                <a:spcPct val="106000"/>
              </a:lnSpc>
            </a:pPr>
            <a:r>
              <a:rPr sz="120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1050" b="0">
                <a:solidFill>
                  <a:srgbClr val="8A8A8A"/>
                </a:solidFill>
                <a:latin typeface="Arial"/>
                <a:ea typeface="Arial"/>
              </a:rPr>
              <a:t>송용호 · 관계가 곧 워크로드 접근권</a:t>
            </a:r>
          </a:p>
        </p:txBody>
      </p:sp>
      <p:sp>
        <p:nvSpPr>
          <p:cNvPr id="22" name="Rectangle 21"/>
          <p:cNvSpPr/>
          <p:nvPr/>
        </p:nvSpPr>
        <p:spPr>
          <a:xfrm>
            <a:off x="13633704" y="2560320"/>
            <a:ext cx="393192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944600" y="2761488"/>
            <a:ext cx="3310127"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고객 시스템</a:t>
            </a:r>
          </a:p>
        </p:txBody>
      </p:sp>
      <p:sp>
        <p:nvSpPr>
          <p:cNvPr id="24" name="TextBox 23"/>
          <p:cNvSpPr txBox="1"/>
          <p:nvPr/>
        </p:nvSpPr>
        <p:spPr>
          <a:xfrm>
            <a:off x="13944600" y="3072384"/>
            <a:ext cx="3310127"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우리 사람과 코드가 들어가는 자리</a:t>
            </a:r>
          </a:p>
        </p:txBody>
      </p:sp>
      <p:sp>
        <p:nvSpPr>
          <p:cNvPr id="25" name="Rectangle 24"/>
          <p:cNvSpPr/>
          <p:nvPr/>
        </p:nvSpPr>
        <p:spPr>
          <a:xfrm>
            <a:off x="13944600" y="3456432"/>
            <a:ext cx="2340864"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4081760" y="3456432"/>
            <a:ext cx="2066544" cy="457200"/>
          </a:xfrm>
          <a:prstGeom prst="rect">
            <a:avLst/>
          </a:prstGeom>
          <a:noFill/>
        </p:spPr>
        <p:txBody>
          <a:bodyPr wrap="square" anchor="ctr" lIns="0" rIns="0" tIns="0" bIns="0">
            <a:spAutoFit/>
          </a:bodyPr>
          <a:lstStyle/>
          <a:p>
            <a:pPr algn="l">
              <a:lnSpc>
                <a:spcPct val="112000"/>
              </a:lnSpc>
            </a:pPr>
            <a:r>
              <a:rPr sz="1350" b="0">
                <a:solidFill>
                  <a:srgbClr val="555555"/>
                </a:solidFill>
                <a:latin typeface="Arial"/>
                <a:ea typeface="Arial"/>
              </a:rPr>
              <a:t>응용 · 추론 엔진</a:t>
            </a:r>
          </a:p>
        </p:txBody>
      </p:sp>
      <p:sp>
        <p:nvSpPr>
          <p:cNvPr id="27" name="Rectangle 26"/>
          <p:cNvSpPr/>
          <p:nvPr/>
        </p:nvSpPr>
        <p:spPr>
          <a:xfrm>
            <a:off x="13944600" y="3995928"/>
            <a:ext cx="2340864" cy="45720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081760" y="3995928"/>
            <a:ext cx="2066544" cy="457200"/>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KV 캐시 관리자</a:t>
            </a:r>
          </a:p>
        </p:txBody>
      </p:sp>
      <p:sp>
        <p:nvSpPr>
          <p:cNvPr id="29" name="Rectangle 28"/>
          <p:cNvSpPr/>
          <p:nvPr/>
        </p:nvSpPr>
        <p:spPr>
          <a:xfrm>
            <a:off x="13944600" y="4535424"/>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081760" y="4535424"/>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I/O · 커널</a:t>
            </a:r>
          </a:p>
        </p:txBody>
      </p:sp>
      <p:sp>
        <p:nvSpPr>
          <p:cNvPr id="31" name="Rectangle 30"/>
          <p:cNvSpPr/>
          <p:nvPr/>
        </p:nvSpPr>
        <p:spPr>
          <a:xfrm>
            <a:off x="13944600" y="5074920"/>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081760" y="5074920"/>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SSD: 삼성 QLC</a:t>
            </a:r>
          </a:p>
        </p:txBody>
      </p:sp>
      <p:sp>
        <p:nvSpPr>
          <p:cNvPr id="33" name="Oval 32"/>
          <p:cNvSpPr/>
          <p:nvPr/>
        </p:nvSpPr>
        <p:spPr>
          <a:xfrm>
            <a:off x="16496141" y="4023360"/>
            <a:ext cx="152887" cy="15288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 Same Side Corner Rectangle 33"/>
          <p:cNvSpPr/>
          <p:nvPr/>
        </p:nvSpPr>
        <p:spPr>
          <a:xfrm>
            <a:off x="16431767" y="4200387"/>
            <a:ext cx="281635" cy="225308"/>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6786555" y="3995928"/>
            <a:ext cx="7315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FDE</a:t>
            </a:r>
          </a:p>
        </p:txBody>
      </p:sp>
      <p:sp>
        <p:nvSpPr>
          <p:cNvPr id="36" name="TextBox 35"/>
          <p:cNvSpPr txBox="1"/>
          <p:nvPr/>
        </p:nvSpPr>
        <p:spPr>
          <a:xfrm>
            <a:off x="16431767" y="4535424"/>
            <a:ext cx="9601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머지</a:t>
            </a:r>
          </a:p>
        </p:txBody>
      </p:sp>
      <p:pic>
        <p:nvPicPr>
          <p:cNvPr id="37" name="Picture 36" descr="anthropic.png"/>
          <p:cNvPicPr>
            <a:picLocks noChangeAspect="1"/>
          </p:cNvPicPr>
          <p:nvPr/>
        </p:nvPicPr>
        <p:blipFill>
          <a:blip r:embed="rId2"/>
          <a:stretch>
            <a:fillRect/>
          </a:stretch>
        </p:blipFill>
        <p:spPr>
          <a:xfrm>
            <a:off x="13944600" y="6170781"/>
            <a:ext cx="1154585" cy="130853"/>
          </a:xfrm>
          <a:prstGeom prst="rect">
            <a:avLst/>
          </a:prstGeom>
        </p:spPr>
      </p:pic>
      <p:pic>
        <p:nvPicPr>
          <p:cNvPr id="38" name="Picture 37" descr="openai.png"/>
          <p:cNvPicPr>
            <a:picLocks noChangeAspect="1"/>
          </p:cNvPicPr>
          <p:nvPr/>
        </p:nvPicPr>
        <p:blipFill>
          <a:blip r:embed="rId3"/>
          <a:stretch>
            <a:fillRect/>
          </a:stretch>
        </p:blipFill>
        <p:spPr>
          <a:xfrm>
            <a:off x="15197326" y="6170781"/>
            <a:ext cx="532886" cy="130853"/>
          </a:xfrm>
          <a:prstGeom prst="rect">
            <a:avLst/>
          </a:prstGeom>
        </p:spPr>
      </p:pic>
      <p:pic>
        <p:nvPicPr>
          <p:cNvPr id="39" name="Picture 38" descr="nvidia.png"/>
          <p:cNvPicPr>
            <a:picLocks noChangeAspect="1"/>
          </p:cNvPicPr>
          <p:nvPr/>
        </p:nvPicPr>
        <p:blipFill>
          <a:blip r:embed="rId4"/>
          <a:stretch>
            <a:fillRect/>
          </a:stretch>
        </p:blipFill>
        <p:spPr>
          <a:xfrm>
            <a:off x="15828351" y="6170781"/>
            <a:ext cx="684696" cy="130853"/>
          </a:xfrm>
          <a:prstGeom prst="rect">
            <a:avLst/>
          </a:prstGeom>
        </p:spPr>
      </p:pic>
      <p:pic>
        <p:nvPicPr>
          <p:cNvPr id="40" name="Picture 39" descr="meta.png"/>
          <p:cNvPicPr>
            <a:picLocks noChangeAspect="1"/>
          </p:cNvPicPr>
          <p:nvPr/>
        </p:nvPicPr>
        <p:blipFill>
          <a:blip r:embed="rId5"/>
          <a:stretch>
            <a:fillRect/>
          </a:stretch>
        </p:blipFill>
        <p:spPr>
          <a:xfrm>
            <a:off x="16611188" y="6170781"/>
            <a:ext cx="643539" cy="130853"/>
          </a:xfrm>
          <a:prstGeom prst="rect">
            <a:avLst/>
          </a:prstGeom>
        </p:spPr>
      </p:pic>
      <p:sp>
        <p:nvSpPr>
          <p:cNvPr id="41" name="Right Arrow 40"/>
          <p:cNvSpPr/>
          <p:nvPr/>
        </p:nvSpPr>
        <p:spPr>
          <a:xfrm>
            <a:off x="4498848" y="2670048"/>
            <a:ext cx="8878824" cy="841248"/>
          </a:xfrm>
          <a:prstGeom prst="rightArrow">
            <a:avLst>
              <a:gd name="adj1" fmla="val 80000"/>
              <a:gd name="adj2" fmla="val 2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64608" y="2670048"/>
            <a:ext cx="7598664" cy="841248"/>
          </a:xfrm>
          <a:prstGeom prst="rect">
            <a:avLst/>
          </a:prstGeom>
          <a:noFill/>
        </p:spPr>
        <p:txBody>
          <a:bodyPr wrap="square" anchor="ctr" lIns="0" rIns="0" tIns="0" bIns="0">
            <a:spAutoFit/>
          </a:bodyPr>
          <a:lstStyle/>
          <a:p>
            <a:pPr algn="l">
              <a:lnSpc>
                <a:spcPct val="106000"/>
              </a:lnSpc>
            </a:pPr>
            <a:r>
              <a:rPr sz="1725" b="1">
                <a:solidFill>
                  <a:srgbClr val="FFFFFF"/>
                </a:solidFill>
                <a:latin typeface="Arial"/>
                <a:ea typeface="Arial"/>
              </a:rPr>
              <a:t>① FDE가 고객 시스템 안으로 들어간다</a:t>
            </a:r>
          </a:p>
          <a:p>
            <a:pPr algn="l">
              <a:lnSpc>
                <a:spcPct val="106000"/>
              </a:lnSpc>
            </a:pPr>
            <a:r>
              <a:rPr sz="1350" b="0">
                <a:solidFill>
                  <a:srgbClr val="FFFFFF"/>
                </a:solidFill>
                <a:latin typeface="Arial"/>
                <a:ea typeface="Arial"/>
              </a:rPr>
              <a:t>상주 엔지니어 · 업스트림 코드 · 수명 보증</a:t>
            </a:r>
          </a:p>
        </p:txBody>
      </p:sp>
      <p:sp>
        <p:nvSpPr>
          <p:cNvPr id="43" name="Rectangle 42"/>
          <p:cNvSpPr/>
          <p:nvPr/>
        </p:nvSpPr>
        <p:spPr>
          <a:xfrm>
            <a:off x="4498848"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18304"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Palantir FDE</a:t>
            </a:r>
            <a:r>
              <a:rPr sz="1200" b="0">
                <a:solidFill>
                  <a:srgbClr val="555555"/>
                </a:solidFill>
                <a:latin typeface="Arial"/>
                <a:ea typeface="Arial"/>
              </a:rPr>
              <a:t> (Forward Deployed Engineer)</a:t>
            </a:r>
          </a:p>
        </p:txBody>
      </p:sp>
      <p:sp>
        <p:nvSpPr>
          <p:cNvPr id="45" name="Oval 44"/>
          <p:cNvSpPr/>
          <p:nvPr/>
        </p:nvSpPr>
        <p:spPr>
          <a:xfrm>
            <a:off x="477097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 Same Side Corner Rectangle 45"/>
          <p:cNvSpPr/>
          <p:nvPr/>
        </p:nvSpPr>
        <p:spPr>
          <a:xfrm>
            <a:off x="471830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04529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 Same Side Corner Rectangle 47"/>
          <p:cNvSpPr/>
          <p:nvPr/>
        </p:nvSpPr>
        <p:spPr>
          <a:xfrm>
            <a:off x="499262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31961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 Same Side Corner Rectangle 49"/>
          <p:cNvSpPr/>
          <p:nvPr/>
        </p:nvSpPr>
        <p:spPr>
          <a:xfrm>
            <a:off x="526694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ight Arrow 50"/>
          <p:cNvSpPr/>
          <p:nvPr/>
        </p:nvSpPr>
        <p:spPr>
          <a:xfrm>
            <a:off x="5614416" y="4261103"/>
            <a:ext cx="310896"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998464" y="4133087"/>
            <a:ext cx="960120"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98464" y="4133087"/>
            <a:ext cx="960120" cy="420624"/>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고객 현장</a:t>
            </a:r>
          </a:p>
        </p:txBody>
      </p:sp>
      <p:sp>
        <p:nvSpPr>
          <p:cNvPr id="54" name="TextBox 53"/>
          <p:cNvSpPr txBox="1"/>
          <p:nvPr/>
        </p:nvSpPr>
        <p:spPr>
          <a:xfrm>
            <a:off x="4718304" y="4681727"/>
            <a:ext cx="3899916" cy="8961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고객 시스템 안에 상주해 실제 요구를 코드로 풀고 성과로 평가받는 엔지니어(코드명 Delta)</a:t>
            </a:r>
          </a:p>
          <a:p>
            <a:pPr algn="l">
              <a:lnSpc>
                <a:spcPct val="104000"/>
              </a:lnSpc>
            </a:pPr>
            <a:r>
              <a:rPr sz="1200" b="1">
                <a:solidFill>
                  <a:srgbClr val="1A1A1A"/>
                </a:solidFill>
                <a:latin typeface="Arial"/>
                <a:ea typeface="Arial"/>
              </a:rPr>
              <a:t>파급: 고객 락인의 동력, 640% 주가 수익률의 원천으로 회자. Anthropic·OpenAI가 GTM으로 채택</a:t>
            </a:r>
          </a:p>
        </p:txBody>
      </p:sp>
      <p:sp>
        <p:nvSpPr>
          <p:cNvPr id="55" name="Rectangle 54"/>
          <p:cNvSpPr/>
          <p:nvPr/>
        </p:nvSpPr>
        <p:spPr>
          <a:xfrm>
            <a:off x="9038844"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258300"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Micron ↔ Anthropic SCA</a:t>
            </a:r>
            <a:r>
              <a:rPr sz="1200" b="0">
                <a:solidFill>
                  <a:srgbClr val="555555"/>
                </a:solidFill>
                <a:latin typeface="Arial"/>
                <a:ea typeface="Arial"/>
              </a:rPr>
              <a:t> (2026-06)</a:t>
            </a:r>
          </a:p>
        </p:txBody>
      </p:sp>
      <p:sp>
        <p:nvSpPr>
          <p:cNvPr id="57" name="Rectangle 56"/>
          <p:cNvSpPr/>
          <p:nvPr/>
        </p:nvSpPr>
        <p:spPr>
          <a:xfrm>
            <a:off x="9258300" y="4133087"/>
            <a:ext cx="1417320"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258300" y="4133087"/>
            <a:ext cx="1417320" cy="23774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공동 설계</a:t>
            </a:r>
          </a:p>
        </p:txBody>
      </p:sp>
      <p:sp>
        <p:nvSpPr>
          <p:cNvPr id="59" name="Rectangle 58"/>
          <p:cNvSpPr/>
          <p:nvPr/>
        </p:nvSpPr>
        <p:spPr>
          <a:xfrm>
            <a:off x="9258300" y="440740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258300" y="440740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다년 공급</a:t>
            </a:r>
          </a:p>
        </p:txBody>
      </p:sp>
      <p:sp>
        <p:nvSpPr>
          <p:cNvPr id="61" name="Rectangle 60"/>
          <p:cNvSpPr/>
          <p:nvPr/>
        </p:nvSpPr>
        <p:spPr>
          <a:xfrm>
            <a:off x="9258300" y="468172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258300" y="468172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운영 통합</a:t>
            </a:r>
          </a:p>
        </p:txBody>
      </p:sp>
      <p:sp>
        <p:nvSpPr>
          <p:cNvPr id="63" name="Rectangle 62"/>
          <p:cNvSpPr/>
          <p:nvPr/>
        </p:nvSpPr>
        <p:spPr>
          <a:xfrm>
            <a:off x="9258300" y="4956048"/>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258300" y="4956048"/>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자본(Series H)</a:t>
            </a:r>
          </a:p>
        </p:txBody>
      </p:sp>
      <p:sp>
        <p:nvSpPr>
          <p:cNvPr id="65" name="TextBox 64"/>
          <p:cNvSpPr txBox="1"/>
          <p:nvPr/>
        </p:nvSpPr>
        <p:spPr>
          <a:xfrm>
            <a:off x="10876788" y="4114800"/>
            <a:ext cx="2281428" cy="13533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네 요소를 한 계약에 묶어 워크로드·스펙 접근권을 확보</a:t>
            </a:r>
          </a:p>
          <a:p>
            <a:pPr algn="l">
              <a:lnSpc>
                <a:spcPct val="104000"/>
              </a:lnSpc>
            </a:pPr>
            <a:r>
              <a:rPr sz="1200" b="1">
                <a:solidFill>
                  <a:srgbClr val="1A1A1A"/>
                </a:solidFill>
                <a:latin typeface="Arial"/>
                <a:ea typeface="Arial"/>
              </a:rPr>
              <a:t>Micron SCA 16건 · 최소 매출 약 $100B · 예치금 $22B</a:t>
            </a:r>
          </a:p>
          <a:p>
            <a:pPr algn="l">
              <a:lnSpc>
                <a:spcPct val="104000"/>
              </a:lnSpc>
            </a:pPr>
            <a:r>
              <a:rPr sz="1200" b="1">
                <a:solidFill>
                  <a:srgbClr val="1428A0"/>
                </a:solidFill>
                <a:latin typeface="Arial"/>
                <a:ea typeface="Arial"/>
              </a:rPr>
              <a:t>삼성·SK의 Anthropic 계약에는 공동 설계 조항이 없습니다. 우리가 먼저 제안합니다</a:t>
            </a:r>
          </a:p>
        </p:txBody>
      </p:sp>
      <p:sp>
        <p:nvSpPr>
          <p:cNvPr id="66" name="Left Arrow 65"/>
          <p:cNvSpPr/>
          <p:nvPr/>
        </p:nvSpPr>
        <p:spPr>
          <a:xfrm>
            <a:off x="4498848" y="5742431"/>
            <a:ext cx="8878824" cy="841248"/>
          </a:xfrm>
          <a:prstGeom prst="leftArrow">
            <a:avLst>
              <a:gd name="adj1" fmla="val 80000"/>
              <a:gd name="adj2" fmla="val 2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458968" y="5742431"/>
            <a:ext cx="7598664" cy="841248"/>
          </a:xfrm>
          <a:prstGeom prst="rect">
            <a:avLst/>
          </a:prstGeom>
          <a:noFill/>
        </p:spPr>
        <p:txBody>
          <a:bodyPr wrap="square" anchor="ctr" lIns="0" rIns="0" tIns="0" bIns="0">
            <a:spAutoFit/>
          </a:bodyPr>
          <a:lstStyle/>
          <a:p>
            <a:pPr algn="l">
              <a:lnSpc>
                <a:spcPct val="106000"/>
              </a:lnSpc>
            </a:pPr>
            <a:r>
              <a:rPr sz="1725" b="1">
                <a:solidFill>
                  <a:srgbClr val="1A1A1A"/>
                </a:solidFill>
                <a:latin typeface="Arial"/>
                <a:ea typeface="Arial"/>
              </a:rPr>
              <a:t>② 전략적 협약(SCA)으로 워크로드가 온다</a:t>
            </a:r>
          </a:p>
          <a:p>
            <a:pPr algn="l">
              <a:lnSpc>
                <a:spcPct val="106000"/>
              </a:lnSpc>
            </a:pPr>
            <a:r>
              <a:rPr sz="1350" b="0">
                <a:solidFill>
                  <a:srgbClr val="1A1A1A"/>
                </a:solidFill>
                <a:latin typeface="Arial"/>
                <a:ea typeface="Arial"/>
              </a:rPr>
              <a:t>트레이스 · KV 수명 정책 · 레퍼런스 스펙 자리 · 창은 2027년 상반기까지</a:t>
            </a:r>
          </a:p>
        </p:txBody>
      </p:sp>
      <p:sp>
        <p:nvSpPr>
          <p:cNvPr id="68" name="Rectangle 67"/>
          <p:cNvSpPr/>
          <p:nvPr/>
        </p:nvSpPr>
        <p:spPr>
          <a:xfrm>
            <a:off x="72237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2237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2237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조직</a:t>
            </a:r>
          </a:p>
        </p:txBody>
      </p:sp>
      <p:sp>
        <p:nvSpPr>
          <p:cNvPr id="71" name="TextBox 70"/>
          <p:cNvSpPr txBox="1"/>
          <p:nvPr/>
        </p:nvSpPr>
        <p:spPr>
          <a:xfrm>
            <a:off x="174650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실리콘밸리 소프트웨어 자회사</a:t>
            </a:r>
          </a:p>
          <a:p>
            <a:pPr algn="l">
              <a:lnSpc>
                <a:spcPct val="108000"/>
              </a:lnSpc>
            </a:pPr>
            <a:r>
              <a:rPr sz="1350" b="0">
                <a:solidFill>
                  <a:srgbClr val="555555"/>
                </a:solidFill>
                <a:latin typeface="Arial"/>
                <a:ea typeface="Arial"/>
              </a:rPr>
              <a:t>FDE Pod 고객 상주</a:t>
            </a:r>
          </a:p>
          <a:p>
            <a:pPr algn="l">
              <a:lnSpc>
                <a:spcPct val="108000"/>
              </a:lnSpc>
            </a:pPr>
            <a:r>
              <a:rPr sz="1350" b="0">
                <a:solidFill>
                  <a:srgbClr val="555555"/>
                </a:solidFill>
                <a:latin typeface="Arial"/>
                <a:ea typeface="Arial"/>
              </a:rPr>
              <a:t>시스템 소프트웨어 조직 강화</a:t>
            </a:r>
          </a:p>
        </p:txBody>
      </p:sp>
      <p:sp>
        <p:nvSpPr>
          <p:cNvPr id="72" name="Rectangle 71"/>
          <p:cNvSpPr/>
          <p:nvPr/>
        </p:nvSpPr>
        <p:spPr>
          <a:xfrm>
            <a:off x="642213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42213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42213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인사</a:t>
            </a:r>
          </a:p>
        </p:txBody>
      </p:sp>
      <p:sp>
        <p:nvSpPr>
          <p:cNvPr id="75" name="TextBox 74"/>
          <p:cNvSpPr txBox="1"/>
          <p:nvPr/>
        </p:nvSpPr>
        <p:spPr>
          <a:xfrm>
            <a:off x="744626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고객 시스템을 아는 시스템 SW 전문가 채용·양성</a:t>
            </a:r>
          </a:p>
          <a:p>
            <a:pPr algn="l">
              <a:lnSpc>
                <a:spcPct val="108000"/>
              </a:lnSpc>
            </a:pPr>
            <a:r>
              <a:rPr sz="1350" b="0">
                <a:solidFill>
                  <a:srgbClr val="555555"/>
                </a:solidFill>
                <a:latin typeface="Arial"/>
                <a:ea typeface="Arial"/>
              </a:rPr>
              <a:t>미주 현지 채용 확대 · 고객과 같은 시간대에서 협업</a:t>
            </a:r>
          </a:p>
          <a:p>
            <a:pPr algn="l">
              <a:lnSpc>
                <a:spcPct val="108000"/>
              </a:lnSpc>
            </a:pPr>
            <a:r>
              <a:rPr sz="1350" b="0">
                <a:solidFill>
                  <a:srgbClr val="555555"/>
                </a:solidFill>
                <a:latin typeface="Arial"/>
                <a:ea typeface="Arial"/>
              </a:rPr>
              <a:t>별도 보상 · 본사 엔지니어 상주 로테이션</a:t>
            </a:r>
          </a:p>
        </p:txBody>
      </p:sp>
      <p:sp>
        <p:nvSpPr>
          <p:cNvPr id="76" name="Rectangle 75"/>
          <p:cNvSpPr/>
          <p:nvPr/>
        </p:nvSpPr>
        <p:spPr>
          <a:xfrm>
            <a:off x="1212189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212189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212189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문화</a:t>
            </a:r>
          </a:p>
        </p:txBody>
      </p:sp>
      <p:sp>
        <p:nvSpPr>
          <p:cNvPr id="79" name="TextBox 78"/>
          <p:cNvSpPr txBox="1"/>
          <p:nvPr/>
        </p:nvSpPr>
        <p:spPr>
          <a:xfrm>
            <a:off x="1314602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오픈소스 생태계를 주도하는 문화</a:t>
            </a:r>
          </a:p>
          <a:p>
            <a:pPr algn="l">
              <a:lnSpc>
                <a:spcPct val="108000"/>
              </a:lnSpc>
            </a:pPr>
            <a:r>
              <a:rPr sz="1350" b="0">
                <a:solidFill>
                  <a:srgbClr val="555555"/>
                </a:solidFill>
                <a:latin typeface="Arial"/>
                <a:ea typeface="Arial"/>
              </a:rPr>
              <a:t>메인테이너·커미터 배출 · 레퍼런스 프로젝트 운영</a:t>
            </a:r>
          </a:p>
          <a:p>
            <a:pPr algn="l">
              <a:lnSpc>
                <a:spcPct val="108000"/>
              </a:lnSpc>
            </a:pPr>
            <a:r>
              <a:rPr sz="1350" b="0">
                <a:solidFill>
                  <a:srgbClr val="555555"/>
                </a:solidFill>
                <a:latin typeface="Arial"/>
                <a:ea typeface="Arial"/>
              </a:rPr>
              <a:t>업스트림 우선 · KV 실측 업계 최초 공개</a:t>
            </a:r>
          </a:p>
        </p:txBody>
      </p:sp>
      <p:sp>
        <p:nvSpPr>
          <p:cNvPr id="80" name="Rectangle 79"/>
          <p:cNvSpPr/>
          <p:nvPr/>
        </p:nvSpPr>
        <p:spPr>
          <a:xfrm>
            <a:off x="722376" y="8503920"/>
            <a:ext cx="16843248"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3856" y="8503920"/>
            <a:ext cx="1463040" cy="82296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82" name="TextBox 81"/>
          <p:cNvSpPr txBox="1"/>
          <p:nvPr/>
        </p:nvSpPr>
        <p:spPr>
          <a:xfrm>
            <a:off x="2551176" y="8503920"/>
            <a:ext cx="14648688" cy="82296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고객은 TB당 TCO가 가장 낮은 용량 계층을 QLC로 채웠고, 그 계층이 쓰기 많은 추론 캐시로 옮겨가</a:t>
            </a:r>
          </a:p>
          <a:p>
            <a:pPr algn="l">
              <a:lnSpc>
                <a:spcPct val="108000"/>
              </a:lnSpc>
            </a:pPr>
            <a:r>
              <a:rPr sz="1900" b="1">
                <a:solidFill>
                  <a:srgbClr val="FFFFFF"/>
                </a:solidFill>
                <a:latin typeface="Arial"/>
                <a:ea typeface="Arial"/>
              </a:rPr>
              <a:t>내구성을 고객 시스템 안에서 풀어야 하며, 그 길은 FDE와 전략적 협약, 그리고 이를 해낼 사람과 문화가 엽니다</a:t>
            </a:r>
          </a:p>
        </p:txBody>
      </p:sp>
      <p:sp>
        <p:nvSpPr>
          <p:cNvPr id="83" name="TextBox 8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Academy·MindStudio(Palantir FDE), Micron IR 2026-06-22·10-Q(SCA 16건·$22B), SK hynix 뉴스룸(AI Company), levels.fyi 2026 · 규모·시점은 추정, 사내 수치는 [사내 확인]</a:t>
            </a:r>
          </a:p>
        </p:txBody>
      </p:sp>
      <p:sp>
        <p:nvSpPr>
          <p:cNvPr id="84" name="TextBox 8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