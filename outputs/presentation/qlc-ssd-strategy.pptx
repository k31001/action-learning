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한 장입니다. 2022년은 QLC 주문의 해가 아니라 조건이 갖춰진 해였습니다: 전문 벤더(Solidigm) 출범, 하이퍼스케일러 주도 폼팩터(E1.S/E1.L), Meta·Google의 배치 표준 비준(2022-12), NAND 가격 급락, 학습 데이터셋 6배. 하이퍼스케일러가 원한 것은 HDD 대역폭 붕괴를 메우는 용량 계층(Meta: 10 MB/s/TB), 공급자가 판 것은 1U에 1PB의 TCO였습니다. 물량은 AI 추론 서버의 전력 효율이 우선순위가 된 2024년에 터졌습니다(TrendForce 30EB, 4배). 구매 기준은 TB당 원가·랙 밀도 → TB당 와트·공급 확보 → 유효 DWPD·토큰 경제성으로 이동합니다. 향후 3~5년 공급 부족 국면에서 HDD 대체는 커머디티 경쟁이라 들어가지 않고, KV cache 오프로드가 만드는 추론 캐시 티어를 QLC로 가져갑니다. 이 티어는 오늘 TLC(1~3 DWPD)가 서비스합니다. 그래프: 비트는 10배, 가격 정상화 기준선에서 매출은 정체, 진한 파랑은 호스트 협력 배치가 성립할 때의 조건부 상방. 모델 가정은 위키 qlc-ssd-market.md §4.3.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요구사항과 역량 한 장입니다. 갭 세 가지: 내구성(QLC 정격 0.075~0.6 vs TLC 1~3 DWPD, 10~40배), 스트림(RUH 2~8 vs 200+), 접점(KV 캐시 관리자 4종 코드에 배치·내구성 언급 0). 수단은 있습니다(CacheLib 실측 WAF 3.22→1.03, XFS write streams RocksDB -35%, ScaleFlux 유효 7~10 DWPD). 그림은 고객 시스템 5계층(응용·추론 엔진 / KV 캐시 관리자 / I/O 라이브러리 / 커널·플랫폼 / SSD)에서 우리가 닿는 층을 색으로 표시합니다. Phase 1은 SSD 층만 우리 것입니다(KV-ready QLC: RUH 200+, 수명 보증 조건표). Phase 2는 고객 워크로드 트레이스가 내려오고 최적화 정책이 올라갑니다. I/O·커널 층을 관측·부착합니다(업계 최초 KV cache WAF 실측 공개가 목표). Phase 3는 캐시 관리자·I/O·커널에 우리 코드가 메인라인으로 들어가고, 우리 엔지니어가 고객 옆에 상주하며, 공용 TCO 모델로 응용 층까지 이해합니다(FlexKV의 vLLM·SGLang·Dynamo 메인라인 머지가 co-design의 증거). 삼성 현 위치는 Phase 1 확보, Phase 2 진입: KV cache 백서 2종으로 측정 역량은 있으나 트레이스 기반 RUH 정책·WAF 실측이 미공개이고, 캐시 관리자 4종에 기여가 없습니다. 협업은 층별로 목적이 다릅니다: NVIDIA(CMX 플랫폼 게이트), Anthropic·OpenAI(스펙 상류), 하이퍼스케일러(물량·활성화), VAST·DDN·WEKA(실증 채널), 오픈소스 커뮤니티(업스트림). 오케스트레이션 자체는 만들지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전략 한 장입니다. 목표는 두 가지입니다. ① 고객 시스템 안으로 들어간다: 상주 엔지니어(Co-Design Pod, Palantir FDE·NVIDIA DevTech 모델), 캐시 관리자·I/O·커널에 메인라인으로 머지되는 업스트림 코드, 수명 보증(DWPD·WAF·W/TB SLA), 다년 공급·선급·자본. ② 워크로드가 온다: KV 블록 트레이스, 캐시 관리자의 수명 정책, 레퍼런스 스펙에 삼성 구현이 기본값으로 앉는 자리, 활성화 약정. 둘은 서로를 강화하므로 첫 계약에 들어갈 권리와 받을 권리를 함께 담고, 공급자 우위가 남은 2027년 상반기까지 계약으로 고정합니다. 다섯 축은 이 두 목표를 여는 수단입니다: 전략(하나의 베팅, HDD 대체 제외, 오케스트레이션은 만들지 않음), 조직(실리콘밸리 소프트웨어 자회사 + Co-Design Pod + 시스템 TCO 모델 조직, 본사 SSD와 동일 P&amp;L 지표), 인사(자회사 지분·RSU형 별도 보상으로 시장가 채용, 고객·생태계 출신 앵커 5명, 본사 펌웨어 엔지니어 6~12개월 상주 로테이션. 스타트업 팀 인수는 제외), 문화(업스트림 우선, 결과 평가, KV cache 배치 표준 WAF 실측 업계 최초 공개), 재무(공동 플랫폼 계약, 수명 보증 상품, TCO 연동 가격, DDN·Tensormesh 지분). 90일: KV-ready QLC 정의, LMCache·FlexKV 업스트림 PR, Anthropic 공급계약 공동 최적화 조항 제안, NVIDIA DOCA Memos 힌트 매핑 협의, Pod 1호 발족, 자회사 설계안. 1년: 자회사 출범·앵커 영입, Pod 2사 상주, CMX/STX 인증, 공동 플랫폼 계약 1건, 수명 보증 상품. 3년: 캐시 티어 QLC 침투 25%+ 중 삼성 40%, 계약 3건, 캐시 관리자 4종 기본 백엔드. 선례와 수치는 보고서 6장·위키 qlc-execution-strategy.md.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배경: 트렌드 변화와 시장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요구는 2022년에 정의되고 물량은 2024년에 터졌으며, 다음 무대는 추론 캐시 티어입니다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세 국면의 구매 기준이 어떻게 바뀌는지, 그리고 2030년까지의 수요·비중·매출입니다.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5413248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743200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초기 · 2018~2023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072384"/>
            <a:ext cx="47183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8A8A8A"/>
                </a:solidFill>
                <a:latin typeface="Arial"/>
                <a:ea typeface="Arial"/>
              </a:rPr>
              <a:t>구매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291839"/>
            <a:ext cx="47183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1A1A1A"/>
                </a:solidFill>
                <a:latin typeface="Arial"/>
                <a:ea typeface="Arial"/>
              </a:rPr>
              <a:t>TB당 원가 · 랙 밀도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767328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데이터 레이크 · HDD 대역폭 붕괴 · 배치 표준 비준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4050791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61TB 1년 후발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17920" y="3401568"/>
            <a:ext cx="146304" cy="164592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2560320"/>
            <a:ext cx="5413248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2743200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현재 · 2024~2026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3072384"/>
            <a:ext cx="47183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8A8A8A"/>
                </a:solidFill>
                <a:latin typeface="Arial"/>
                <a:ea typeface="Arial"/>
              </a:rPr>
              <a:t>구매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3291839"/>
            <a:ext cx="47183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1A1A1A"/>
                </a:solidFill>
                <a:latin typeface="Arial"/>
                <a:ea typeface="Arial"/>
              </a:rPr>
              <a:t>TB당 와트 · 공급 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767328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추론 서버 전력 효율 · 245TB 경쟁 · HDD 완판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4848" y="4050791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물량 1위(35.1%), 용량 후발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932920" y="3401568"/>
            <a:ext cx="146304" cy="164592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152376" y="2560320"/>
            <a:ext cx="5413248" cy="1847088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152376" y="2560320"/>
            <a:ext cx="73152" cy="18470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499848" y="2743200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향후 · 2027~2030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9848" y="3072384"/>
            <a:ext cx="47183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8A8A8A"/>
                </a:solidFill>
                <a:latin typeface="Arial"/>
                <a:ea typeface="Arial"/>
              </a:rPr>
              <a:t>구매 기준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9848" y="3291839"/>
            <a:ext cx="47183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1">
                <a:solidFill>
                  <a:srgbClr val="1A1A1A"/>
                </a:solidFill>
                <a:latin typeface="Arial"/>
                <a:ea typeface="Arial"/>
              </a:rPr>
              <a:t>유효 DWPD · 토큰 경제성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99848" y="3767328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KV cache 오프로드 · 2027년 75~100EB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99848" y="4050791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디바이스 확보, 시스템 연결 공백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6" y="4681728"/>
            <a:ext cx="1629460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38274" y="461772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" y="482803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2022-12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946" y="502920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배치 표준 비준(Meta·Google)</a:t>
            </a:r>
          </a:p>
        </p:txBody>
      </p:sp>
      <p:sp>
        <p:nvSpPr>
          <p:cNvPr id="33" name="Oval 32"/>
          <p:cNvSpPr/>
          <p:nvPr/>
        </p:nvSpPr>
        <p:spPr>
          <a:xfrm>
            <a:off x="4997196" y="461772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15868" y="482803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2023-07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15868" y="502920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61TB QLC 세계 최초(Solidigm)</a:t>
            </a:r>
          </a:p>
        </p:txBody>
      </p:sp>
      <p:sp>
        <p:nvSpPr>
          <p:cNvPr id="36" name="Oval 35"/>
          <p:cNvSpPr/>
          <p:nvPr/>
        </p:nvSpPr>
        <p:spPr>
          <a:xfrm>
            <a:off x="8582009" y="461772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00681" y="482803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0681" y="502920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QLC eSSD 30EB, 전년 4배</a:t>
            </a:r>
          </a:p>
        </p:txBody>
      </p:sp>
      <p:sp>
        <p:nvSpPr>
          <p:cNvPr id="39" name="Oval 38"/>
          <p:cNvSpPr/>
          <p:nvPr/>
        </p:nvSpPr>
        <p:spPr>
          <a:xfrm>
            <a:off x="12166823" y="461772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85495" y="482803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2026-05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85495" y="502920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245TB 첫 출하(Micron)</a:t>
            </a:r>
          </a:p>
        </p:txBody>
      </p:sp>
      <p:sp>
        <p:nvSpPr>
          <p:cNvPr id="42" name="Oval 41"/>
          <p:cNvSpPr/>
          <p:nvPr/>
        </p:nvSpPr>
        <p:spPr>
          <a:xfrm>
            <a:off x="15751637" y="461772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270309" y="482803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2027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270309" y="502920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KV cache NAND 75~100EB</a:t>
            </a:r>
          </a:p>
        </p:txBody>
      </p:sp>
      <p:pic>
        <p:nvPicPr>
          <p:cNvPr id="45" name="Picture 44" descr="qlc_demand_share_revenu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5303520"/>
            <a:ext cx="10228217" cy="3182112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11224913" y="5303520"/>
            <a:ext cx="6340710" cy="3182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535809" y="5504688"/>
            <a:ext cx="57189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그래프가 말하는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35809" y="5907024"/>
            <a:ext cx="1600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10배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163441" y="5907024"/>
            <a:ext cx="40912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QLC 비트, 2025년 → 2030년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35809" y="6510528"/>
            <a:ext cx="1600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정체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163441" y="6510528"/>
            <a:ext cx="40912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QLC 매출, 2026년 $32B → 2030년 $37B(e)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35809" y="7114032"/>
            <a:ext cx="1600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350EB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63441" y="7114032"/>
            <a:ext cx="409128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2030년 추론 캐시 티어 수요(전 미디어)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535809" y="7735823"/>
            <a:ext cx="571891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535809" y="7808975"/>
            <a:ext cx="571891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이익은 비트가 아니라 시스템 위의 TCO에서 나옵니다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376" y="8613648"/>
            <a:ext cx="16843248" cy="7315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33856" y="8613648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51176" y="8613648"/>
            <a:ext cx="146486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니어라인 HDD 대체 대신, 오늘 TLC가 서비스하는 추론 캐시 티어를 QLC로 가져갑니다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TrendForce 분기 실측(2022~2Q26)·QLC 30EB(2024)·SanDisk FMS 2026·Meta·Solidigm 발표 종합, 2026~2030은 추정(e) · 상세: QLC eSSD 전략 보고서 1~3장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요구사항과 역량, 기술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QLC가 캐시 티어에 들어가려면 디바이스에서 고객 시스템 안까지 세 단계로 올라가야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갭은 내구성·스트림·접점 세 가지이고 수단은 이미 있습니다. 세 단계의 그림과 삼성의 현 위치, 협업할 기업입니다.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4032504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560320"/>
            <a:ext cx="1783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10~40배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6" y="2560320"/>
            <a:ext cx="1700784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내구성 갭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QLC 0.075~0.6 vs TLC 1~3 DWPD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4" y="2560320"/>
            <a:ext cx="4032504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560320"/>
            <a:ext cx="13258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25배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4264" y="2560320"/>
            <a:ext cx="2157984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스트림 갭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RUH 2~8개 vs 200개 이상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62872" y="2560320"/>
            <a:ext cx="4032504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3" y="2560320"/>
            <a:ext cx="114300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0건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1631" y="2560320"/>
            <a:ext cx="2340864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접점 공백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캐시 관리자 4종의 배치 언급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533120" y="2560320"/>
            <a:ext cx="4032504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89152" y="2560320"/>
            <a:ext cx="23317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3.22 → 1.03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30600" y="2560320"/>
            <a:ext cx="1152144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수단은 있음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배치 표준 WAF 실측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3730752"/>
            <a:ext cx="5413248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877056"/>
            <a:ext cx="4718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Phase 1  </a:t>
            </a: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디바이스를 잘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6424" y="4297680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429768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응용 · 추론 엔진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6424" y="471830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4718304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KV 캐시 관리자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6424" y="5138928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5138928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I/O 라이브러리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424" y="5559552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5559552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커널 · 플랫폼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06424" y="5980176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584" y="5980176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SSD 디바이스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5112" y="5961888"/>
            <a:ext cx="162763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우리가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5112" y="4297680"/>
            <a:ext cx="162763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8A8A8A"/>
                </a:solidFill>
                <a:latin typeface="Arial"/>
                <a:ea typeface="Arial"/>
              </a:rPr>
              <a:t>고객 시스템은 밖에 있습니다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" y="6492240"/>
            <a:ext cx="47183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KV-ready QLC: RUH 200+, 수명 보증 조건표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37376" y="3730752"/>
            <a:ext cx="5413248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84848" y="3877056"/>
            <a:ext cx="4718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Phase 2  </a:t>
            </a: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워크로드 분석으로 최적화한다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21424" y="4297680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58584" y="429768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응용 · 추론 엔진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21424" y="4718304"/>
            <a:ext cx="30175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8584" y="4718304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KV 캐시 관리자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21424" y="5138928"/>
            <a:ext cx="3017520" cy="365760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58584" y="5138928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I/O 라이브러리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21424" y="5559552"/>
            <a:ext cx="3017520" cy="365760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8584" y="5559552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커널 · 플랫폼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21424" y="5980176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58584" y="5980176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SSD 디바이스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10040112" y="4343400"/>
            <a:ext cx="274320" cy="1956816"/>
          </a:xfrm>
          <a:prstGeom prst="down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10424160" y="4343400"/>
            <a:ext cx="274320" cy="1956816"/>
          </a:xfrm>
          <a:prstGeom prst="upArrow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17352" y="4700016"/>
            <a:ext cx="8503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트레이스</a:t>
            </a:r>
          </a:p>
          <a:p>
            <a:pPr algn="l">
              <a:lnSpc>
                <a:spcPct val="100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워크로드가 내려옴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17352" y="5541264"/>
            <a:ext cx="8503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정책</a:t>
            </a:r>
          </a:p>
          <a:p>
            <a:pPr algn="l">
              <a:lnSpc>
                <a:spcPct val="100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최적화가 올라감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4848" y="6492240"/>
            <a:ext cx="47183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트레이스 → RUH 정책 → WAF·DWPD 실측 공개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152376" y="3730752"/>
            <a:ext cx="5413248" cy="34747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99848" y="3877056"/>
            <a:ext cx="47183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Phase 3  </a:t>
            </a: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고객 시스템 안에서 함께 설계한다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36424" y="4297680"/>
            <a:ext cx="3017520" cy="365760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673584" y="429768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응용 · 추론 엔진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536424" y="4718304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673584" y="4718304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KV 캐시 관리자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536424" y="5138928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73584" y="5138928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I/O 라이브러리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536424" y="5559552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673584" y="5559552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커널 · 플랫폼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536424" y="5980176"/>
            <a:ext cx="3017520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673584" y="5980176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SSD 디바이스</a:t>
            </a:r>
          </a:p>
        </p:txBody>
      </p:sp>
      <p:sp>
        <p:nvSpPr>
          <p:cNvPr id="64" name="Oval 63"/>
          <p:cNvSpPr/>
          <p:nvPr/>
        </p:nvSpPr>
        <p:spPr>
          <a:xfrm>
            <a:off x="15834116" y="4663440"/>
            <a:ext cx="187634" cy="18763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 Same Side Corner Rectangle 64"/>
          <p:cNvSpPr/>
          <p:nvPr/>
        </p:nvSpPr>
        <p:spPr>
          <a:xfrm>
            <a:off x="15755111" y="4880701"/>
            <a:ext cx="345643" cy="27651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210483" y="4700016"/>
            <a:ext cx="11722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상주 · 공동 설계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755111" y="5541264"/>
            <a:ext cx="162763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메인라인 머지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755111" y="4279392"/>
            <a:ext cx="162763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공용 TCO 모델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499848" y="6492240"/>
            <a:ext cx="47183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메인라인 머지 · 공용 TCO 모델 · 공동 계약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2376" y="7315200"/>
            <a:ext cx="237744" cy="1645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3272" y="727862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우리 코드·제품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51176" y="7315200"/>
            <a:ext cx="237744" cy="164592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62072" y="727862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관측·이해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79976" y="7315200"/>
            <a:ext cx="237744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90872" y="7278624"/>
            <a:ext cx="14630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고객 영역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2376" y="7589520"/>
            <a:ext cx="5413248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37376" y="7589520"/>
            <a:ext cx="5413248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2152376" y="7589520"/>
            <a:ext cx="5413248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22376" y="7589520"/>
            <a:ext cx="5413248" cy="16459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37376" y="7589520"/>
            <a:ext cx="1515709" cy="164592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7834213" y="7790688"/>
            <a:ext cx="237744" cy="182880"/>
          </a:xfrm>
          <a:prstGeom prst="triangl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54253" y="77541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428A0"/>
                </a:solidFill>
                <a:latin typeface="Arial"/>
                <a:ea typeface="Arial"/>
              </a:rPr>
              <a:t>삼성 현 위치  </a:t>
            </a: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디바이스는 확보, 워크로드 실측은 미공개, 캐시 관리자 기여 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8101584"/>
            <a:ext cx="168432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>
                <a:solidFill>
                  <a:srgbClr val="1428A0"/>
                </a:solidFill>
                <a:latin typeface="Arial"/>
                <a:ea typeface="Arial"/>
              </a:rPr>
              <a:t>협업할 기업 · 목적을 달리해 다섯 층에 동시 진입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" y="8412480"/>
            <a:ext cx="3185769" cy="98755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23544" y="8503920"/>
            <a:ext cx="278343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플랫폼 게이트</a:t>
            </a:r>
          </a:p>
        </p:txBody>
      </p:sp>
      <p:pic>
        <p:nvPicPr>
          <p:cNvPr id="86" name="Picture 85" descr="nvi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8851392"/>
            <a:ext cx="1435395" cy="274320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4136745" y="8412480"/>
            <a:ext cx="3185769" cy="98755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37913" y="8503920"/>
            <a:ext cx="278343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스펙 상류</a:t>
            </a:r>
          </a:p>
        </p:txBody>
      </p:sp>
      <p:pic>
        <p:nvPicPr>
          <p:cNvPr id="89" name="Picture 88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13" y="8887916"/>
            <a:ext cx="1775921" cy="201271"/>
          </a:xfrm>
          <a:prstGeom prst="rect">
            <a:avLst/>
          </a:prstGeom>
        </p:spPr>
      </p:pic>
      <p:pic>
        <p:nvPicPr>
          <p:cNvPr id="90" name="Picture 89" descr="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690" y="8887916"/>
            <a:ext cx="819656" cy="201271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7551115" y="8412480"/>
            <a:ext cx="3185769" cy="98755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52283" y="8503920"/>
            <a:ext cx="278343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물량 · 활성화</a:t>
            </a:r>
          </a:p>
        </p:txBody>
      </p:sp>
      <p:pic>
        <p:nvPicPr>
          <p:cNvPr id="93" name="Picture 92" descr="m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3" y="8875764"/>
            <a:ext cx="839557" cy="170710"/>
          </a:xfrm>
          <a:prstGeom prst="rect">
            <a:avLst/>
          </a:prstGeom>
        </p:spPr>
      </p:pic>
      <p:pic>
        <p:nvPicPr>
          <p:cNvPr id="94" name="Picture 93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652" y="8875764"/>
            <a:ext cx="520810" cy="170710"/>
          </a:xfrm>
          <a:prstGeom prst="rect">
            <a:avLst/>
          </a:prstGeom>
        </p:spPr>
      </p:pic>
      <p:pic>
        <p:nvPicPr>
          <p:cNvPr id="95" name="Picture 94" descr="microso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0272" y="8875764"/>
            <a:ext cx="796057" cy="170710"/>
          </a:xfrm>
          <a:prstGeom prst="rect">
            <a:avLst/>
          </a:prstGeom>
        </p:spPr>
      </p:pic>
      <p:pic>
        <p:nvPicPr>
          <p:cNvPr id="96" name="Picture 95" descr="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0140" y="8875764"/>
            <a:ext cx="285574" cy="17071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0965484" y="8412480"/>
            <a:ext cx="3185769" cy="98755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1166652" y="8503920"/>
            <a:ext cx="278343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실증 · 채널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166652" y="8833104"/>
            <a:ext cx="861821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166652" y="8833104"/>
            <a:ext cx="861821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VAST Data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2174778" y="8833104"/>
            <a:ext cx="531114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2174778" y="8833104"/>
            <a:ext cx="531114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DDN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852196" y="8833104"/>
            <a:ext cx="586232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852196" y="8833104"/>
            <a:ext cx="586232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WEKA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379854" y="8412480"/>
            <a:ext cx="3185769" cy="98755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581022" y="8503920"/>
            <a:ext cx="278343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오픈소스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581022" y="8833104"/>
            <a:ext cx="734409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581022" y="8833104"/>
            <a:ext cx="734409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94" b="1">
                <a:solidFill>
                  <a:srgbClr val="1A1A1A"/>
                </a:solidFill>
                <a:latin typeface="Arial"/>
                <a:ea typeface="Arial"/>
              </a:rPr>
              <a:t>LMCache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5455221" y="8833104"/>
            <a:ext cx="787073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5455221" y="8833104"/>
            <a:ext cx="787073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94" b="1">
                <a:solidFill>
                  <a:srgbClr val="1A1A1A"/>
                </a:solidFill>
                <a:latin typeface="Arial"/>
                <a:ea typeface="Arial"/>
              </a:rPr>
              <a:t>Mooncake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382085" y="8833104"/>
            <a:ext cx="681744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382085" y="8833104"/>
            <a:ext cx="681744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94" b="1">
                <a:solidFill>
                  <a:srgbClr val="1A1A1A"/>
                </a:solidFill>
                <a:latin typeface="Arial"/>
                <a:ea typeface="Arial"/>
              </a:rPr>
              <a:t>FlexKV</a:t>
            </a:r>
          </a:p>
        </p:txBody>
      </p:sp>
      <p:pic>
        <p:nvPicPr>
          <p:cNvPr id="113" name="Picture 112" descr="vll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03621" y="8856277"/>
            <a:ext cx="209685" cy="209685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StorageReview·Solidigm·Kioxia 스펙(DWPD), ScaleFlux 2026-07(RUH 200+), GitHub README 확인(LMCache·Mooncake·FlexKV·3FS), CacheLib FDP 문서(WAF) · 로고는 식별 표시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실행 전략과 고객 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고객의 워크로드를 받고 고객 시스템 안으로 들어갑니다. 조직·보상·계약이 그 길을 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실행의 목표는 두 가지입니다. 다섯 축이 그 길을 열고, 90일·1년·3년으로 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361188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761488"/>
            <a:ext cx="29900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 개발실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072384"/>
            <a:ext cx="2990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8A8A8A"/>
                </a:solidFill>
                <a:latin typeface="Arial"/>
                <a:ea typeface="Arial"/>
              </a:rPr>
              <a:t>들고 들어가는 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" y="3557015"/>
            <a:ext cx="146304" cy="14630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9304" y="3456432"/>
            <a:ext cx="27340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KV-ready QLC + 수명 보증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" y="4123944"/>
            <a:ext cx="146304" cy="14630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9304" y="4023359"/>
            <a:ext cx="27340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상주 엔지니어(Co-Design Pod)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" y="4690872"/>
            <a:ext cx="146304" cy="14630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9304" y="4590288"/>
            <a:ext cx="27340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업스트림 코드 · 공용 TCO 모델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" y="5257800"/>
            <a:ext cx="146304" cy="14630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9304" y="5157216"/>
            <a:ext cx="27340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다년 공급 · 선급 · 자본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" y="5596127"/>
            <a:ext cx="299008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687568"/>
            <a:ext cx="2990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555555"/>
                </a:solidFill>
                <a:latin typeface="Arial"/>
                <a:ea typeface="Arial"/>
              </a:rPr>
              <a:t>자회사 · Pod · 별도 보상이 뒤를 받칩니다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78840" y="2560320"/>
            <a:ext cx="3986784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89736" y="2761488"/>
            <a:ext cx="33649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고객 시스템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89736" y="3072384"/>
            <a:ext cx="33649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0">
                <a:solidFill>
                  <a:srgbClr val="8A8A8A"/>
                </a:solidFill>
                <a:latin typeface="Arial"/>
                <a:ea typeface="Arial"/>
              </a:rPr>
              <a:t>우리 사람과 코드가 들어가는 자리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9736" y="3456432"/>
            <a:ext cx="239572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26896" y="3456432"/>
            <a:ext cx="21214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응용 · 추론 엔진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89736" y="3995928"/>
            <a:ext cx="2395728" cy="457200"/>
          </a:xfrm>
          <a:prstGeom prst="rect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26896" y="3995928"/>
            <a:ext cx="21214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KV 캐시 관리자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889736" y="4535424"/>
            <a:ext cx="239572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26896" y="4535424"/>
            <a:ext cx="21214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I/O · 커널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89736" y="5074920"/>
            <a:ext cx="239572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26896" y="5074920"/>
            <a:ext cx="21214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</a:rPr>
              <a:t>SSD: 삼성 QLC</a:t>
            </a:r>
          </a:p>
        </p:txBody>
      </p:sp>
      <p:sp>
        <p:nvSpPr>
          <p:cNvPr id="32" name="Oval 31"/>
          <p:cNvSpPr/>
          <p:nvPr/>
        </p:nvSpPr>
        <p:spPr>
          <a:xfrm>
            <a:off x="16496141" y="4023360"/>
            <a:ext cx="152887" cy="152887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16431768" y="4200387"/>
            <a:ext cx="281635" cy="22530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804843" y="3995928"/>
            <a:ext cx="685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상주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31768" y="4535424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머지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608576" y="2834639"/>
            <a:ext cx="8695944" cy="932688"/>
          </a:xfrm>
          <a:prstGeom prst="rightArrow">
            <a:avLst>
              <a:gd name="adj1" fmla="val 78000"/>
              <a:gd name="adj2" fmla="val 30000"/>
            </a:avLst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0056" y="2834639"/>
            <a:ext cx="7232904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① 고객 시스템 안으로 들어간다</a:t>
            </a:r>
          </a:p>
          <a:p>
            <a:pPr algn="l">
              <a:lnSpc>
                <a:spcPct val="108000"/>
              </a:lnSpc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</a:rPr>
              <a:t>상주 엔지니어 · 업스트림 코드 · 수명 보증 · 자본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57216" y="3950207"/>
            <a:ext cx="7598664" cy="1243583"/>
          </a:xfrm>
          <a:prstGeom prst="rect">
            <a:avLst/>
          </a:prstGeom>
          <a:solidFill>
            <a:srgbClr val="FFFFFF"/>
          </a:solidFill>
          <a:ln w="19050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31536" y="3950207"/>
            <a:ext cx="7050024" cy="12435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계약으로 고정 · 창은 2027년 상반기까지</a:t>
            </a:r>
          </a:p>
          <a:p>
            <a:pPr algn="ctr">
              <a:lnSpc>
                <a:spcPct val="108000"/>
              </a:lnSpc>
            </a:pPr>
            <a:r>
              <a:rPr sz="1425" b="0">
                <a:solidFill>
                  <a:srgbClr val="1A1A1A"/>
                </a:solidFill>
                <a:latin typeface="Arial"/>
                <a:ea typeface="Arial"/>
              </a:rPr>
              <a:t>공급 + 공동 최적화 + 워크로드 접근권 + 수명 보증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4608576" y="5376671"/>
            <a:ext cx="8695944" cy="932688"/>
          </a:xfrm>
          <a:prstGeom prst="leftArrow">
            <a:avLst>
              <a:gd name="adj1" fmla="val 78000"/>
              <a:gd name="adj2" fmla="val 30000"/>
            </a:avLst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05856" y="5376671"/>
            <a:ext cx="7232904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② 워크로드가 온다</a:t>
            </a:r>
          </a:p>
          <a:p>
            <a:pPr algn="l">
              <a:lnSpc>
                <a:spcPct val="108000"/>
              </a:lnSpc>
            </a:pPr>
            <a:r>
              <a:rPr sz="1425" b="0">
                <a:solidFill>
                  <a:srgbClr val="1A1A1A"/>
                </a:solidFill>
                <a:latin typeface="Arial"/>
                <a:ea typeface="Arial"/>
              </a:rPr>
              <a:t>트레이스 · KV 수명 정책 · 레퍼런스 스펙 자리 · 활성화 약정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" y="6437375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대상</a:t>
            </a:r>
          </a:p>
        </p:txBody>
      </p:sp>
      <p:pic>
        <p:nvPicPr>
          <p:cNvPr id="43" name="Picture 42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6455663"/>
            <a:ext cx="2420471" cy="274320"/>
          </a:xfrm>
          <a:prstGeom prst="rect">
            <a:avLst/>
          </a:prstGeom>
        </p:spPr>
      </p:pic>
      <p:pic>
        <p:nvPicPr>
          <p:cNvPr id="44" name="Picture 43" descr="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702" y="6455663"/>
            <a:ext cx="1117140" cy="274320"/>
          </a:xfrm>
          <a:prstGeom prst="rect">
            <a:avLst/>
          </a:prstGeom>
        </p:spPr>
      </p:pic>
      <p:pic>
        <p:nvPicPr>
          <p:cNvPr id="45" name="Picture 44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738" y="6455663"/>
            <a:ext cx="1435395" cy="274320"/>
          </a:xfrm>
          <a:prstGeom prst="rect">
            <a:avLst/>
          </a:prstGeom>
        </p:spPr>
      </p:pic>
      <p:pic>
        <p:nvPicPr>
          <p:cNvPr id="46" name="Picture 45" descr="m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1030" y="6455663"/>
            <a:ext cx="1349115" cy="274320"/>
          </a:xfrm>
          <a:prstGeom prst="rect">
            <a:avLst/>
          </a:prstGeom>
        </p:spPr>
      </p:pic>
      <p:pic>
        <p:nvPicPr>
          <p:cNvPr id="47" name="Picture 46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1040" y="6455663"/>
            <a:ext cx="836908" cy="274320"/>
          </a:xfrm>
          <a:prstGeom prst="rect">
            <a:avLst/>
          </a:prstGeom>
        </p:spPr>
      </p:pic>
      <p:pic>
        <p:nvPicPr>
          <p:cNvPr id="48" name="Picture 47" descr="microso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8845" y="6455663"/>
            <a:ext cx="1279212" cy="274320"/>
          </a:xfrm>
          <a:prstGeom prst="rect">
            <a:avLst/>
          </a:prstGeom>
        </p:spPr>
      </p:pic>
      <p:pic>
        <p:nvPicPr>
          <p:cNvPr id="49" name="Picture 48" descr="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48953" y="6455663"/>
            <a:ext cx="458900" cy="274320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2618749" y="6437375"/>
            <a:ext cx="861821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18749" y="6437375"/>
            <a:ext cx="8618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VAST 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91467" y="6437375"/>
            <a:ext cx="53111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91467" y="6437375"/>
            <a:ext cx="53111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DDN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633477" y="6437375"/>
            <a:ext cx="586232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633477" y="6437375"/>
            <a:ext cx="58623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WEKA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376" y="6949440"/>
            <a:ext cx="3200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2376" y="6949440"/>
            <a:ext cx="777240" cy="9144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" y="6949440"/>
            <a:ext cx="777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</a:rPr>
              <a:t>전략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36776" y="6949440"/>
            <a:ext cx="21762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베팅: 추론 캐시 티어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HDD 대체는 안 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33087" y="6949440"/>
            <a:ext cx="3200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33087" y="6949440"/>
            <a:ext cx="777240" cy="9144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33087" y="6949440"/>
            <a:ext cx="777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</a:rPr>
              <a:t>조직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47488" y="6949440"/>
            <a:ext cx="21762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SV 소프트웨어 자회사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+ 고객 상주 Pod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6949440"/>
            <a:ext cx="3200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43800" y="6949440"/>
            <a:ext cx="777240" cy="9144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6949440"/>
            <a:ext cx="777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</a:rPr>
              <a:t>인사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6949440"/>
            <a:ext cx="21762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별도 보상 · 앵커 5명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본사 엔지니어 상주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54512" y="6949440"/>
            <a:ext cx="3200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954512" y="6949440"/>
            <a:ext cx="777240" cy="9144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54512" y="6949440"/>
            <a:ext cx="777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</a:rPr>
              <a:t>문화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868912" y="6949440"/>
            <a:ext cx="21762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업스트림 우선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KV 실측 최초 공개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365224" y="6949440"/>
            <a:ext cx="3200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365224" y="6949440"/>
            <a:ext cx="777240" cy="9144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365224" y="6949440"/>
            <a:ext cx="777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</a:rPr>
              <a:t>재무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79624" y="6949440"/>
            <a:ext cx="21762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1">
                <a:solidFill>
                  <a:srgbClr val="1A1A1A"/>
                </a:solidFill>
                <a:latin typeface="Arial"/>
                <a:ea typeface="Arial"/>
              </a:rPr>
              <a:t>공동 플랫폼 계약 · 보증</a:t>
            </a:r>
          </a:p>
          <a:p>
            <a:pPr algn="l">
              <a:lnSpc>
                <a:spcPct val="106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지분으로 접근권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5256" y="8430767"/>
            <a:ext cx="16477488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32104" y="836676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88136" y="8119871"/>
            <a:ext cx="515721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90일  </a:t>
            </a: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제품 정의 · 업스트림 PR · Anthropic 조항 · Pod 1호</a:t>
            </a:r>
          </a:p>
        </p:txBody>
      </p:sp>
      <p:sp>
        <p:nvSpPr>
          <p:cNvPr id="79" name="Oval 78"/>
          <p:cNvSpPr/>
          <p:nvPr/>
        </p:nvSpPr>
        <p:spPr>
          <a:xfrm>
            <a:off x="6446520" y="836676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02552" y="8119871"/>
            <a:ext cx="515721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1년  </a:t>
            </a: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자회사 · Pod 2사 상주 · CMX 인증 · 계약 1건</a:t>
            </a:r>
          </a:p>
        </p:txBody>
      </p:sp>
      <p:sp>
        <p:nvSpPr>
          <p:cNvPr id="81" name="Oval 80"/>
          <p:cNvSpPr/>
          <p:nvPr/>
        </p:nvSpPr>
        <p:spPr>
          <a:xfrm>
            <a:off x="12060936" y="8366760"/>
            <a:ext cx="146304" cy="146304"/>
          </a:xfrm>
          <a:prstGeom prst="ellipse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316967" y="8119871"/>
            <a:ext cx="515721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3년  </a:t>
            </a: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캐시 티어 QLC 25%+ · 계약 3건 · 기본 백엔드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2376" y="8705088"/>
            <a:ext cx="16843248" cy="69494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33856" y="8705088"/>
            <a:ext cx="14630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결정 요청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51176" y="8705088"/>
            <a:ext cx="14648688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① 자회사 설립과 별도 보상 승인   ② Anthropic 공동 최적화 조항 · NVIDIA 기술 협의 착수   ③ Co-Design Pod 1호 발족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SK hynix 뉴스룸·CNBC(2026-01), levels.fyi 2026, Micron IR·10-Q, Pure PR, Blackstone·Bloomberg(DDN) · 규모·시점은 추정, 사내 수치는 [사내 확인]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