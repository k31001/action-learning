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배경 한 장입니다. 질문은 하나, 고객은 왜 QLC를 원하는가입니다. 세 국면을 관통하는 답은 용량 계층의 TB당 TCO입니다. 원가($/TB)·전력(W/TB)·밀도(TB/U)를 한 지표로 묶은 것이고, 쉽게 말해 계산 옆에 둔 가장 싼 바이트입니다. 2022년 하이퍼스케일러는 데이터셋이 6배로 늘고 HDD가 TB당 대역폭을 잃자 플래시 용량 계층을 원했습니다(Meta: 10 MB/s/TB 대역, TLC 서버의 6배 바이트 밀도). 공급자가 판 것은 1U에 1PB, 5년 TCO -47%였습니다. 조건이 있었습니다. 읽기 중심 워크로드라서 0.3~0.6 DWPD로 충분했고, 쓰기가 NAND 전력의 대부분이라 읽기 중심 데이터를 QLC로 옮기면 전력도 줄었습니다. 그 해에 전문 벤더(Solidigm) 출범, E1.S/E1.L 폼팩터, Meta·Google의 배치 표준 비준(2022-12), 가격 급락이 갖춰졌고 물량은 AI 추론 서버의 전력 효율이 우선순위가 된 2024년에 터졌습니다(TrendForce 30EB, 4배). 현재 국면의 구매 기준은 TB당 와트와 공급 확보이고 245TB까지 용량 경쟁이 벌어졌지만, 여전히 읽기 중심 데이터가 QLC의 자리이고 쓰기 티어는 TLC입니다. 향후 국면에서 가장 빨리 크는 용량 수요는 KV cache입니다. 장문맥·에이전틱 추론의 KV 캐시가 HBM과 DRAM을 넘쳐 SSD로 내려오고, 프리필 재사용으로 GPU당 동시 사용자가 늘고 TTFT가 줄어듭니다(NVMe 오프로드로 H100 한 장이 동시 사용자 10배). 고객이 사는 것은 GPU당 컨텍스트 용량과 토큰당 비용이며, 여기서도 TB당 TCO가 가장 낮은 것은 QLC입니다. 그러나 캐시는 쓰기가 많아 오늘 이 티어는 TLC 1~3 DWPD가 서비스하고(2027년 75~100EB), CMX 타깃 드라이브도 전부 TLC입니다. 그래프: 비트는 10배, 가격 정상화 기준선에서 매출은 정체, 진한 파랑은 호스트 협력 배치가 성립할 때의 조건부 상방. 결론: 고객은 추론 캐시 티어에서도 QLC의 TB당 TCO를 원하고, 문은 내구성이며, 그 문은 디바이스만으로는 열리지 않습니다. 오른쪽 아래 인용은 송용호 AX/PI센터장의 말입니다. 부품이 어떻게 쓰일지는 시스템을 설계하는 사람 마음에 있다, 그걸 알았으면 HBM을 진작 준비했을 것이다. 고객이 왜 QLC를 원하는지 아는 것이 이 전략의 출발점인 이유입니다. 다음 장이 그 다음입니다.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리드의 인용은 베인 신문섭 파트너의 진단입니다. 승부는 칩을 많이 파는 기업이 아니라 고객의 아키텍처 안으로 들어가 수요를 함께 설계하는 기업이 가져간다. 이 장이 바로 그 안으로 들어가는 세 단계입니다. 앞 장의 결론을 잇습니다. 고객은 캐시 티어에서도 QLC의 TB당 TCO를 원하지만 캐시는 쓰기가 많고, 내구성은 미디어를 바꿔서가 아니라 고객 시스템이 데이터를 어떻게 놓느냐(배치 표준·캐시 관리자 정책)로 풀립니다. 그래서 디바이스에서 고객 시스템 안까지 올라가야 합니다.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리드의 인용은 송용호 AX/PI센터장의 말입니다. 우리는 말로는 고객 지향을 하지만 단 한 번도 고객 지향적인 적이 없었고, 진짜 고객 지향이 뭔지 이해하고 그것을 위한 전략이 필요한 시점이 이미 됐다. 이 장이 그 전략입니다. 왼쪽 박스 아래 인용도 같은 인터뷰입니다. 고객의 집에 가서 저녁을 같이 먹는 것은 삼성에서는 상상할 수 없는 일이지만 SK하이닉스는 한다. 관계가 곧 워크로드 접근권이라는 뜻이고, 미주 현지 채용과 FDE 상주가 그 답입니다.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고객은 TB당 TCO가 가장 낮은 용량 계층을 QLC로 채웠고 그 계층이 쓰기 많은 추론 캐시로 옮겨가므로(1장) 내구성을 고객 시스템 안에서 풀어야 하며(2장), 그 길은 FDE와 전략적 협약, 그리고 이를 해낼 사람과 문화가 엽니다(3장).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고객은 왜 QLC를 원하는가</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고객이 사는 것은 용량 계층의 TB당 TCO이고, 그 계층이 추론 캐시 티어로 옮겨갑니다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 모두 기준은 TB당 TCO(원가·전력·밀도)였습니다. 다음 자리는 쓰기가 많은 KV 캐시라 내구성이 문입니다.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데이터 6배 · 1U에 1PB, TCO -47%</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중심이라 0.3~0.6 DWPD로 충분</a:t>
            </a:r>
          </a:p>
        </p:txBody>
      </p:sp>
      <p:sp>
        <p:nvSpPr>
          <p:cNvPr id="14" name="TextBox 1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1년 후발</a:t>
            </a:r>
          </a:p>
        </p:txBody>
      </p:sp>
      <p:sp>
        <p:nvSpPr>
          <p:cNvPr id="15" name="Right Arrow 1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8" name="TextBox 1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19" name="TextBox 1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20" name="TextBox 1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추론 서버의 전력·공간 병목 → 245TB</a:t>
            </a:r>
          </a:p>
        </p:txBody>
      </p:sp>
      <p:sp>
        <p:nvSpPr>
          <p:cNvPr id="21" name="TextBox 2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여전히 읽기 중심, 쓰기 티어는 TLC</a:t>
            </a:r>
          </a:p>
        </p:txBody>
      </p:sp>
      <p:sp>
        <p:nvSpPr>
          <p:cNvPr id="22" name="TextBox 2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물량 1위(35.1%), 용량 후발</a:t>
            </a:r>
          </a:p>
        </p:txBody>
      </p:sp>
      <p:sp>
        <p:nvSpPr>
          <p:cNvPr id="23" name="Right Arrow 2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7" name="TextBox 2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28" name="TextBox 2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29" name="TextBox 2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KV 캐시가 HBM을 넘침 · GPU당 사용자 10배</a:t>
            </a:r>
          </a:p>
        </p:txBody>
      </p:sp>
      <p:sp>
        <p:nvSpPr>
          <p:cNvPr id="30" name="TextBox 2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많은 캐시 → 오늘은 TLC 1~3 DWPD</a:t>
            </a:r>
          </a:p>
        </p:txBody>
      </p:sp>
      <p:sp>
        <p:nvSpPr>
          <p:cNvPr id="31" name="TextBox 3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연결 공백</a:t>
            </a:r>
          </a:p>
        </p:txBody>
      </p:sp>
      <p:sp>
        <p:nvSpPr>
          <p:cNvPr id="32" name="Rectangle 31"/>
          <p:cNvSpPr/>
          <p:nvPr/>
        </p:nvSpPr>
        <p:spPr>
          <a:xfrm>
            <a:off x="996696" y="4974336"/>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738274"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6946"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2022-12</a:t>
            </a:r>
          </a:p>
        </p:txBody>
      </p:sp>
      <p:sp>
        <p:nvSpPr>
          <p:cNvPr id="35" name="TextBox 34"/>
          <p:cNvSpPr txBox="1"/>
          <p:nvPr/>
        </p:nvSpPr>
        <p:spPr>
          <a:xfrm>
            <a:off x="256946"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배치 표준 비준(Meta·Google)</a:t>
            </a:r>
          </a:p>
        </p:txBody>
      </p:sp>
      <p:sp>
        <p:nvSpPr>
          <p:cNvPr id="36" name="Oval 35"/>
          <p:cNvSpPr/>
          <p:nvPr/>
        </p:nvSpPr>
        <p:spPr>
          <a:xfrm>
            <a:off x="4997196"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5868"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2023-07</a:t>
            </a:r>
          </a:p>
        </p:txBody>
      </p:sp>
      <p:sp>
        <p:nvSpPr>
          <p:cNvPr id="38" name="TextBox 37"/>
          <p:cNvSpPr txBox="1"/>
          <p:nvPr/>
        </p:nvSpPr>
        <p:spPr>
          <a:xfrm>
            <a:off x="3515868"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61TB QLC 세계 최초(Solidigm)</a:t>
            </a:r>
          </a:p>
        </p:txBody>
      </p:sp>
      <p:sp>
        <p:nvSpPr>
          <p:cNvPr id="39" name="Oval 38"/>
          <p:cNvSpPr/>
          <p:nvPr/>
        </p:nvSpPr>
        <p:spPr>
          <a:xfrm>
            <a:off x="8582009"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00681"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2024</a:t>
            </a:r>
          </a:p>
        </p:txBody>
      </p:sp>
      <p:sp>
        <p:nvSpPr>
          <p:cNvPr id="41" name="TextBox 40"/>
          <p:cNvSpPr txBox="1"/>
          <p:nvPr/>
        </p:nvSpPr>
        <p:spPr>
          <a:xfrm>
            <a:off x="7100681"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QLC eSSD 30EB, 전년 4배</a:t>
            </a:r>
          </a:p>
        </p:txBody>
      </p:sp>
      <p:sp>
        <p:nvSpPr>
          <p:cNvPr id="42" name="Oval 41"/>
          <p:cNvSpPr/>
          <p:nvPr/>
        </p:nvSpPr>
        <p:spPr>
          <a:xfrm>
            <a:off x="12166823"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5495"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2026-05</a:t>
            </a:r>
          </a:p>
        </p:txBody>
      </p:sp>
      <p:sp>
        <p:nvSpPr>
          <p:cNvPr id="44" name="TextBox 43"/>
          <p:cNvSpPr txBox="1"/>
          <p:nvPr/>
        </p:nvSpPr>
        <p:spPr>
          <a:xfrm>
            <a:off x="10685495"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245TB 첫 출하(Micron)</a:t>
            </a:r>
          </a:p>
        </p:txBody>
      </p:sp>
      <p:sp>
        <p:nvSpPr>
          <p:cNvPr id="45" name="Oval 44"/>
          <p:cNvSpPr/>
          <p:nvPr/>
        </p:nvSpPr>
        <p:spPr>
          <a:xfrm>
            <a:off x="15751637"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270309"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2027</a:t>
            </a:r>
          </a:p>
        </p:txBody>
      </p:sp>
      <p:sp>
        <p:nvSpPr>
          <p:cNvPr id="47" name="TextBox 46"/>
          <p:cNvSpPr txBox="1"/>
          <p:nvPr/>
        </p:nvSpPr>
        <p:spPr>
          <a:xfrm>
            <a:off x="14270309"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KV cache NAND 75~100EB</a:t>
            </a:r>
          </a:p>
        </p:txBody>
      </p:sp>
      <p:pic>
        <p:nvPicPr>
          <p:cNvPr id="48" name="Picture 47" descr="qlc_demand_share_revenue_slide.png"/>
          <p:cNvPicPr>
            <a:picLocks noChangeAspect="1"/>
          </p:cNvPicPr>
          <p:nvPr/>
        </p:nvPicPr>
        <p:blipFill>
          <a:blip r:embed="rId2"/>
          <a:stretch>
            <a:fillRect/>
          </a:stretch>
        </p:blipFill>
        <p:spPr>
          <a:xfrm>
            <a:off x="722376" y="5632704"/>
            <a:ext cx="9228909" cy="2871216"/>
          </a:xfrm>
          <a:prstGeom prst="rect">
            <a:avLst/>
          </a:prstGeom>
        </p:spPr>
      </p:pic>
      <p:sp>
        <p:nvSpPr>
          <p:cNvPr id="49" name="Rectangle 48"/>
          <p:cNvSpPr/>
          <p:nvPr/>
        </p:nvSpPr>
        <p:spPr>
          <a:xfrm>
            <a:off x="10225604" y="5632704"/>
            <a:ext cx="7340019" cy="2871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36500" y="5779008"/>
            <a:ext cx="671822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그래프가 말하는 것</a:t>
            </a:r>
          </a:p>
        </p:txBody>
      </p:sp>
      <p:sp>
        <p:nvSpPr>
          <p:cNvPr id="51" name="TextBox 50"/>
          <p:cNvSpPr txBox="1"/>
          <p:nvPr/>
        </p:nvSpPr>
        <p:spPr>
          <a:xfrm>
            <a:off x="10536500" y="610819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52" name="TextBox 51"/>
          <p:cNvSpPr txBox="1"/>
          <p:nvPr/>
        </p:nvSpPr>
        <p:spPr>
          <a:xfrm>
            <a:off x="12164132" y="6108192"/>
            <a:ext cx="509059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2025년 → 2030년</a:t>
            </a:r>
          </a:p>
        </p:txBody>
      </p:sp>
      <p:sp>
        <p:nvSpPr>
          <p:cNvPr id="53" name="TextBox 52"/>
          <p:cNvSpPr txBox="1"/>
          <p:nvPr/>
        </p:nvSpPr>
        <p:spPr>
          <a:xfrm>
            <a:off x="10536500" y="659282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54" name="TextBox 53"/>
          <p:cNvSpPr txBox="1"/>
          <p:nvPr/>
        </p:nvSpPr>
        <p:spPr>
          <a:xfrm>
            <a:off x="12164132" y="6592824"/>
            <a:ext cx="509059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55" name="TextBox 54"/>
          <p:cNvSpPr txBox="1"/>
          <p:nvPr/>
        </p:nvSpPr>
        <p:spPr>
          <a:xfrm>
            <a:off x="10536500" y="707745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56" name="TextBox 55"/>
          <p:cNvSpPr txBox="1"/>
          <p:nvPr/>
        </p:nvSpPr>
        <p:spPr>
          <a:xfrm>
            <a:off x="12164132" y="7077456"/>
            <a:ext cx="509059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티어 수요(전 미디어)</a:t>
            </a:r>
          </a:p>
        </p:txBody>
      </p:sp>
      <p:sp>
        <p:nvSpPr>
          <p:cNvPr id="57" name="Rectangle 56"/>
          <p:cNvSpPr/>
          <p:nvPr/>
        </p:nvSpPr>
        <p:spPr>
          <a:xfrm>
            <a:off x="10536500" y="7598663"/>
            <a:ext cx="671822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536500" y="7690104"/>
            <a:ext cx="54864" cy="7223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737668" y="7690104"/>
            <a:ext cx="6517059" cy="722376"/>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60" name="Rectangle 59"/>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2" name="TextBox 61"/>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2000" b="1">
                <a:solidFill>
                  <a:srgbClr val="FFFFFF"/>
                </a:solidFill>
                <a:latin typeface="Arial"/>
                <a:ea typeface="Arial"/>
              </a:rPr>
              <a:t>고객은 추론 캐시 티어에서도 QLC의 TB당 TCO를 원합니다. 문은 내구성이고, 디바이스만으로는 못 엽니다</a:t>
            </a:r>
          </a:p>
        </p:txBody>
      </p:sp>
      <p:sp>
        <p:nvSpPr>
          <p:cNvPr id="63" name="TextBox 6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64" name="TextBox 6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내구성은 고객 시스템에서 풀리므로,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정격 내 QLC 원가·전력</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자기 워크로드의 수명 보증</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시스템 위의 TCO 보증</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관계가 곧 워크로드 접근권</a:t>
            </a:r>
          </a:p>
        </p:txBody>
      </p:sp>
      <p:sp>
        <p:nvSpPr>
          <p:cNvPr id="22" name="Rectangle 2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4" name="TextBox 2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5" name="Rectangle 2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7" name="Rectangle 2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9" name="Rectangle 2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1" name="Rectangle 3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3" name="Oval 3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6" name="TextBox 3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7" name="Picture 3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8" name="Picture 37" descr="openai.png"/>
          <p:cNvPicPr>
            <a:picLocks noChangeAspect="1"/>
          </p:cNvPicPr>
          <p:nvPr/>
        </p:nvPicPr>
        <p:blipFill>
          <a:blip r:embed="rId3"/>
          <a:stretch>
            <a:fillRect/>
          </a:stretch>
        </p:blipFill>
        <p:spPr>
          <a:xfrm>
            <a:off x="15197326" y="6170781"/>
            <a:ext cx="532886" cy="130853"/>
          </a:xfrm>
          <a:prstGeom prst="rect">
            <a:avLst/>
          </a:prstGeom>
        </p:spPr>
      </p:pic>
      <p:pic>
        <p:nvPicPr>
          <p:cNvPr id="39" name="Picture 38" descr="nvidia.png"/>
          <p:cNvPicPr>
            <a:picLocks noChangeAspect="1"/>
          </p:cNvPicPr>
          <p:nvPr/>
        </p:nvPicPr>
        <p:blipFill>
          <a:blip r:embed="rId4"/>
          <a:stretch>
            <a:fillRect/>
          </a:stretch>
        </p:blipFill>
        <p:spPr>
          <a:xfrm>
            <a:off x="15828351" y="6170781"/>
            <a:ext cx="684696" cy="130853"/>
          </a:xfrm>
          <a:prstGeom prst="rect">
            <a:avLst/>
          </a:prstGeom>
        </p:spPr>
      </p:pic>
      <p:pic>
        <p:nvPicPr>
          <p:cNvPr id="40" name="Picture 39" descr="meta.png"/>
          <p:cNvPicPr>
            <a:picLocks noChangeAspect="1"/>
          </p:cNvPicPr>
          <p:nvPr/>
        </p:nvPicPr>
        <p:blipFill>
          <a:blip r:embed="rId5"/>
          <a:stretch>
            <a:fillRect/>
          </a:stretch>
        </p:blipFill>
        <p:spPr>
          <a:xfrm>
            <a:off x="16611188" y="6170781"/>
            <a:ext cx="643539" cy="130853"/>
          </a:xfrm>
          <a:prstGeom prst="rect">
            <a:avLst/>
          </a:prstGeom>
        </p:spPr>
      </p:pic>
      <p:sp>
        <p:nvSpPr>
          <p:cNvPr id="41" name="Right Arrow 4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3" name="Rectangle 4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5" name="Oval 4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 Same Side Corner Rectangle 4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 Same Side Corner Rectangle 4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4" name="TextBox 5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5" name="Rectangle 5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7" name="Rectangle 5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9" name="Rectangle 5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1" name="Rectangle 6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3" name="Rectangle 6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5" name="TextBox 6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6" name="Left Arrow 6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8" name="Rectangle 6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1" name="TextBox 7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2" name="Rectangle 7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5" name="TextBox 7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6" name="Rectangle 7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9" name="TextBox 7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80" name="Rectangle 79"/>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2" name="TextBox 81"/>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TB당 TCO가 가장 낮은 용량 계층을 QLC로 채웠고, 그 계층이 쓰기 많은 추론 캐시로 옮겨가</a:t>
            </a:r>
          </a:p>
          <a:p>
            <a:pPr algn="l">
              <a:lnSpc>
                <a:spcPct val="108000"/>
              </a:lnSpc>
            </a:pPr>
            <a:r>
              <a:rPr sz="1900" b="1">
                <a:solidFill>
                  <a:srgbClr val="FFFFFF"/>
                </a:solidFill>
                <a:latin typeface="Arial"/>
                <a:ea typeface="Arial"/>
              </a:rPr>
              <a:t>내구성을 고객 시스템 안에서 풀어야 하며, 그 길은 FDE와 전략적 협약, 그리고 이를 해낼 사람과 문화가 엽니다</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