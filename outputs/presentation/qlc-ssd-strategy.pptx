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내구성을 확보할 수 있는가라는 질문까지만 세웁니다. 왼쪽이 교훈, 가운데가 지금 일어나는 전환, 오른쪽이 문제입니다. 왼쪽 교훈입니다. 이 장의 요지는 삼성의 과거 의사결정을 평가하는 것이 아니라, design-in이 무엇으로 결정됐는가를 보는 것입니다. HBM4 세대에서 선이 두 개 있었습니다. 하나는 JEDEC 표준선으로 최대 8Gbps입니다. 다른 하나는 고객이 요구한 사양으로 NVIDIA가 10에서 13Gbps를 요구했습니다. 표준을 완전히 만족해도 고객 요구선에는 닿지 않는 구간이 남습니다. design-in은 바로 이 구간에서 갈렸습니다. 공개 기록 세 가지를 보시면 됩니다. 2019년 3월 삼성이 업계 최초로 HBM2E를 발표했습니다. 기술은 확보돼 있었다는 뜻입니다. 2021년 10월 SK하이닉스가 JEDEC 표준 제정 전에 HBM3 개발을 마쳤고 2022년 6월 NVIDIA에 최초 공급했습니다. 그리고 2026년 2월 삼성이 업계 최초로 상용 HBM4를 출하했습니다. 제품 개발은 계속 이어졌습니다. 그래서 교훈은 이렇습니다. 표준을 만족하는 기술을 가진 것만으로는 부족했습니다. 시장 전환 시점에 고객이 요구하는 사양을 먼저 맞춘 쪽이 design-in을 가져갔습니다. 전략적 우선순위가 약화된 구간에서 격차가 생겼다는 것이지, 기술 보유 여부의 문제가 아니었습니다. 이 점은 질문이 나와도 같은 선에서 답하시면 됩니다. 조직이나 개별 의사결정을 평가하는 자리가 아닙니다. 가운데가 지금 일어나는 전환입니다. 같은 구조가 SSD에서 반복되고 있습니다. 먼저 짚을 것은 구매 기준이 세대별로 교체되는 것이 아니라는 점입니다. 용량당 비용과 밀도, 전력은 그대로 요구로 남아 있고, 그 위에 내구성이 더해지고 있습니다. 시대 구분이 아니라 요구사항이 추가되는 구조로 보시면 됩니다. 무엇이 그 요구를 만들었는가. KV 캐시가 SSD를 추론 메모리 계층으로 옮기고 있습니다. 추론에서 컨텍스트가 길어지면 KV 캐시가 GPU의 HBM을 먼저 채웁니다. NVIDIA 개발자 블로그 기준으로 Llama 3 70B에서 단일 사용자의 128K 컨텍스트가 약 40기가바이트이고 사용자 수에 선형으로 비례합니다. HBM 용량도 80에서 288기가바이트로 커졌지만 이 증가 속도를 따라가지 못합니다. 넘친 것은 CPU DRAM으로 내려오는데 Kioxia는 DRAM만으로는 더 못 따라간다고 밝혔습니다. 다시 넘친 것을 NVMe SSD가 받습니다. 이 계층은 쓰기가 몰리는 첫 대용량 계층이고, 그래서 내구성이 요구로 올라옵니다. 한 가지는 분명히 하겠습니다. 대체가 아니라 증설입니다. 같은 기간 GPU당 HBM 용량은 192에서 288기가바이트, 2027년에는 384기가바이트로 커집니다. HBM 수요가 줄어 스토리지로 옮겨 간 것이 아니라, HBM으로 감당되지 않는 몫이 새 계층을 연 것입니다. 근거는 세 갈래입니다. 첫째, 진단의 주체가 우리가 아닙니다. HBM 1위 업체인 SK하이닉스가 2026년 7월 29일 실적 발표에서 KV 캐시를 담을 HBM 용량이 한계에 도달했다고 밝히고 같은 자리에서 GPU 인근 NAND 개발을 공표했습니다. 둘째, 오프로드는 개념이 아니라 메인라인 코드입니다. LMCache 디스크 캐시가 2024년 8월, vLLM 다계층 오프로딩이 2026년 5월에 머지됐고 전부 PR로 확인됩니다. 셋째, 비트의 무게중심이 움직였습니다. 전 세계 NAND 비트 출하에서 엔터프라이즈 SSD 비중이 1년 만에 26%에서 48%로 올라갔습니다. AI 수요의 중심이 추론으로 빠르게 확대되고 있고, Kioxia는 데이터센터 NAND 수요를 2025년 295엑사바이트에서 2028년 1,807엑사바이트로 전망합니다. 오른쪽이 문제입니다. 오늘 선택지는 둘 다를 주지 않습니다. TLC 3 DWPD 급은 내구성 요구를 충족하지만 용량이 61테라바이트 급이고 비용이 높습니다. 고용량 QLC는 245테라바이트 급 용량과 낮은 비용을 주지만 정격 내구성이 0.3에서 1.0 수준입니다. 이 값은 제품과 기준 블록 크기에 따라 달라지므로 단일 숫자로 말하지 않습니다. 특히 245테라바이트 급은 0.3 수준입니다. 그래서 질문은 하나로 모입니다. 고용량 QLC의 밀도와 비용 이점을 유지하면서 AI 추론이 요구하는 내구성을 확보할 수 있는가. 1장은 여기서 멈춥니다. 고용량화는 두 축의 문제를 낳습니다. 다이 수가 만드는 신뢰성 축이 2장,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규격이 아니라 양산 시점이 소켓을 갈랐고, 지금 그 고객 일정에 내구성이 요구로 더해집니다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2022년 HBM3에서 두 회사의 공표 스펙은 같았습니다. 갈린 것은 양산 시점이었고, 같은 구조가 지금 SSD에서 반복됩니다.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03504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03504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5596127"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HBM3가 남긴 것</a:t>
            </a:r>
          </a:p>
        </p:txBody>
      </p:sp>
      <p:sp>
        <p:nvSpPr>
          <p:cNvPr id="39" name="TextBox 38"/>
          <p:cNvSpPr txBox="1"/>
          <p:nvPr/>
        </p:nvSpPr>
        <p:spPr>
          <a:xfrm>
            <a:off x="941832" y="2980944"/>
            <a:ext cx="5596127"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갈린 것은 규격이 아니라 양산 시점이었다</a:t>
            </a:r>
          </a:p>
        </p:txBody>
      </p:sp>
      <p:sp>
        <p:nvSpPr>
          <p:cNvPr id="40" name="Rectangle 39"/>
          <p:cNvSpPr/>
          <p:nvPr/>
        </p:nvSpPr>
        <p:spPr>
          <a:xfrm>
            <a:off x="996696" y="3291839"/>
            <a:ext cx="5486400" cy="4754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61288" y="3337559"/>
            <a:ext cx="5157216"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두 회사의 HBM3 공표 스펙은 같았습니다</a:t>
            </a:r>
          </a:p>
        </p:txBody>
      </p:sp>
      <p:sp>
        <p:nvSpPr>
          <p:cNvPr id="42" name="TextBox 41"/>
          <p:cNvSpPr txBox="1"/>
          <p:nvPr/>
        </p:nvSpPr>
        <p:spPr>
          <a:xfrm>
            <a:off x="1161288" y="3529583"/>
            <a:ext cx="5157216" cy="201168"/>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6.4 Gbps/pin · 819 GB/s · 8단 16GB — 2022년에 규격 격차는 없었습니다</a:t>
            </a:r>
          </a:p>
        </p:txBody>
      </p:sp>
      <p:sp>
        <p:nvSpPr>
          <p:cNvPr id="43" name="Rectangle 42"/>
          <p:cNvSpPr/>
          <p:nvPr/>
        </p:nvSpPr>
        <p:spPr>
          <a:xfrm>
            <a:off x="3703985" y="4261103"/>
            <a:ext cx="91440" cy="10789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92907" y="4261103"/>
            <a:ext cx="12801" cy="107899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84908" y="3950207"/>
            <a:ext cx="1828800" cy="292608"/>
          </a:xfrm>
          <a:prstGeom prst="rect">
            <a:avLst/>
          </a:prstGeom>
          <a:noFill/>
        </p:spPr>
        <p:txBody>
          <a:bodyPr wrap="square" anchor="t" lIns="0" rIns="0" tIns="0" bIns="0">
            <a:spAutoFit/>
          </a:bodyPr>
          <a:lstStyle/>
          <a:p>
            <a:pPr algn="ctr">
              <a:lnSpc>
                <a:spcPct val="100000"/>
              </a:lnSpc>
            </a:pPr>
            <a:r>
              <a:rPr sz="900" b="1">
                <a:solidFill>
                  <a:srgbClr val="555555"/>
                </a:solidFill>
                <a:latin typeface="Arial"/>
                <a:ea typeface="Arial"/>
              </a:rPr>
              <a:t>JEDEC 표준</a:t>
            </a:r>
          </a:p>
          <a:p>
            <a:pPr algn="ctr">
              <a:lnSpc>
                <a:spcPct val="100000"/>
              </a:lnSpc>
            </a:pPr>
            <a:r>
              <a:rPr sz="850" b="0">
                <a:solidFill>
                  <a:srgbClr val="8A8A8A"/>
                </a:solidFill>
                <a:latin typeface="Arial"/>
                <a:ea typeface="Arial"/>
              </a:rPr>
              <a:t>2022-01</a:t>
            </a:r>
          </a:p>
        </p:txBody>
      </p:sp>
      <p:sp>
        <p:nvSpPr>
          <p:cNvPr id="46" name="TextBox 45"/>
          <p:cNvSpPr txBox="1"/>
          <p:nvPr/>
        </p:nvSpPr>
        <p:spPr>
          <a:xfrm>
            <a:off x="2963321" y="3950207"/>
            <a:ext cx="2011680" cy="292608"/>
          </a:xfrm>
          <a:prstGeom prst="rect">
            <a:avLst/>
          </a:prstGeom>
          <a:noFill/>
        </p:spPr>
        <p:txBody>
          <a:bodyPr wrap="square" anchor="t" lIns="0" rIns="0" tIns="0" bIns="0">
            <a:spAutoFit/>
          </a:bodyPr>
          <a:lstStyle/>
          <a:p>
            <a:pPr algn="ctr">
              <a:lnSpc>
                <a:spcPct val="100000"/>
              </a:lnSpc>
            </a:pPr>
            <a:r>
              <a:rPr sz="950" b="1">
                <a:solidFill>
                  <a:srgbClr val="1428A0"/>
                </a:solidFill>
                <a:latin typeface="Arial"/>
                <a:ea typeface="Arial"/>
              </a:rPr>
              <a:t>고객 일정 · H100 출하</a:t>
            </a:r>
          </a:p>
          <a:p>
            <a:pPr algn="ctr">
              <a:lnSpc>
                <a:spcPct val="100000"/>
              </a:lnSpc>
            </a:pPr>
            <a:r>
              <a:rPr sz="850" b="0">
                <a:solidFill>
                  <a:srgbClr val="3C5AC8"/>
                </a:solidFill>
                <a:latin typeface="Arial"/>
                <a:ea typeface="Arial"/>
              </a:rPr>
              <a:t>2022 Q3</a:t>
            </a:r>
          </a:p>
        </p:txBody>
      </p:sp>
      <p:sp>
        <p:nvSpPr>
          <p:cNvPr id="47" name="Rectangle 46"/>
          <p:cNvSpPr/>
          <p:nvPr/>
        </p:nvSpPr>
        <p:spPr>
          <a:xfrm>
            <a:off x="2057400" y="4517136"/>
            <a:ext cx="4279392"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6696" y="4389120"/>
            <a:ext cx="969264" cy="256032"/>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SK하이닉스</a:t>
            </a:r>
          </a:p>
        </p:txBody>
      </p:sp>
      <p:sp>
        <p:nvSpPr>
          <p:cNvPr id="49" name="Rectangle 48"/>
          <p:cNvSpPr/>
          <p:nvPr/>
        </p:nvSpPr>
        <p:spPr>
          <a:xfrm>
            <a:off x="2057400" y="5285231"/>
            <a:ext cx="4279392" cy="2286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6696" y="5157216"/>
            <a:ext cx="969264" cy="256032"/>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삼성</a:t>
            </a:r>
          </a:p>
        </p:txBody>
      </p:sp>
      <p:sp>
        <p:nvSpPr>
          <p:cNvPr id="51" name="Rectangle 50"/>
          <p:cNvSpPr/>
          <p:nvPr/>
        </p:nvSpPr>
        <p:spPr>
          <a:xfrm>
            <a:off x="3399572" y="5202936"/>
            <a:ext cx="2781604" cy="192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399572" y="5202936"/>
            <a:ext cx="2781604" cy="192024"/>
          </a:xfrm>
          <a:prstGeom prst="rect">
            <a:avLst/>
          </a:prstGeom>
          <a:noFill/>
        </p:spPr>
        <p:txBody>
          <a:bodyPr wrap="square" anchor="ctr" lIns="0" rIns="0" tIns="0" bIns="0">
            <a:spAutoFit/>
          </a:bodyPr>
          <a:lstStyle/>
          <a:p>
            <a:pPr algn="ctr">
              <a:lnSpc>
                <a:spcPct val="112000"/>
              </a:lnSpc>
            </a:pPr>
            <a:r>
              <a:rPr sz="875" b="1">
                <a:solidFill>
                  <a:srgbClr val="555555"/>
                </a:solidFill>
                <a:latin typeface="Arial"/>
                <a:ea typeface="Arial"/>
              </a:rPr>
              <a:t>약 5개 분기</a:t>
            </a:r>
          </a:p>
        </p:txBody>
      </p:sp>
      <p:sp>
        <p:nvSpPr>
          <p:cNvPr id="53" name="Oval 52"/>
          <p:cNvSpPr/>
          <p:nvPr/>
        </p:nvSpPr>
        <p:spPr>
          <a:xfrm>
            <a:off x="1979676" y="4453127"/>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321848" y="4453127"/>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979676" y="5221223"/>
            <a:ext cx="155448" cy="155448"/>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103453" y="5221223"/>
            <a:ext cx="155448" cy="155448"/>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783080" y="4645151"/>
            <a:ext cx="1554480" cy="384048"/>
          </a:xfrm>
          <a:prstGeom prst="rect">
            <a:avLst/>
          </a:prstGeom>
          <a:noFill/>
        </p:spPr>
        <p:txBody>
          <a:bodyPr wrap="square" anchor="t" lIns="0" rIns="0" tIns="0" bIns="0">
            <a:spAutoFit/>
          </a:bodyPr>
          <a:lstStyle/>
          <a:p>
            <a:pPr algn="l">
              <a:lnSpc>
                <a:spcPct val="102000"/>
              </a:lnSpc>
            </a:pPr>
            <a:r>
              <a:rPr sz="900" b="1">
                <a:solidFill>
                  <a:srgbClr val="1A1A1A"/>
                </a:solidFill>
                <a:latin typeface="Arial"/>
                <a:ea typeface="Arial"/>
              </a:rPr>
              <a:t>2021-10  개발 완료</a:t>
            </a:r>
          </a:p>
          <a:p>
            <a:pPr algn="l">
              <a:lnSpc>
                <a:spcPct val="102000"/>
              </a:lnSpc>
            </a:pPr>
            <a:r>
              <a:rPr sz="875" b="0">
                <a:solidFill>
                  <a:srgbClr val="555555"/>
                </a:solidFill>
                <a:latin typeface="Arial"/>
                <a:ea typeface="Arial"/>
              </a:rPr>
              <a:t>표준보다 3개월 앞섬</a:t>
            </a:r>
          </a:p>
        </p:txBody>
      </p:sp>
      <p:sp>
        <p:nvSpPr>
          <p:cNvPr id="58" name="TextBox 57"/>
          <p:cNvSpPr txBox="1"/>
          <p:nvPr/>
        </p:nvSpPr>
        <p:spPr>
          <a:xfrm>
            <a:off x="3308132" y="4645151"/>
            <a:ext cx="2103120" cy="384048"/>
          </a:xfrm>
          <a:prstGeom prst="rect">
            <a:avLst/>
          </a:prstGeom>
          <a:noFill/>
        </p:spPr>
        <p:txBody>
          <a:bodyPr wrap="square" anchor="t" lIns="0" rIns="0" tIns="0" bIns="0">
            <a:spAutoFit/>
          </a:bodyPr>
          <a:lstStyle/>
          <a:p>
            <a:pPr algn="l">
              <a:lnSpc>
                <a:spcPct val="102000"/>
              </a:lnSpc>
            </a:pPr>
            <a:r>
              <a:rPr sz="900" b="1">
                <a:solidFill>
                  <a:srgbClr val="1428A0"/>
                </a:solidFill>
                <a:latin typeface="Arial"/>
                <a:ea typeface="Arial"/>
              </a:rPr>
              <a:t>2022-06  양산 · NVIDIA 공급</a:t>
            </a:r>
          </a:p>
          <a:p>
            <a:pPr algn="l">
              <a:lnSpc>
                <a:spcPct val="102000"/>
              </a:lnSpc>
            </a:pPr>
            <a:r>
              <a:rPr sz="875" b="0">
                <a:solidFill>
                  <a:srgbClr val="555555"/>
                </a:solidFill>
                <a:latin typeface="Arial"/>
                <a:ea typeface="Arial"/>
              </a:rPr>
              <a:t>퀄 통과 후 양산</a:t>
            </a:r>
          </a:p>
        </p:txBody>
      </p:sp>
      <p:sp>
        <p:nvSpPr>
          <p:cNvPr id="59" name="TextBox 58"/>
          <p:cNvSpPr txBox="1"/>
          <p:nvPr/>
        </p:nvSpPr>
        <p:spPr>
          <a:xfrm>
            <a:off x="1783080" y="5431536"/>
            <a:ext cx="1737360" cy="384048"/>
          </a:xfrm>
          <a:prstGeom prst="rect">
            <a:avLst/>
          </a:prstGeom>
          <a:noFill/>
        </p:spPr>
        <p:txBody>
          <a:bodyPr wrap="square" anchor="t" lIns="0" rIns="0" tIns="0" bIns="0">
            <a:spAutoFit/>
          </a:bodyPr>
          <a:lstStyle/>
          <a:p>
            <a:pPr algn="l">
              <a:lnSpc>
                <a:spcPct val="102000"/>
              </a:lnSpc>
            </a:pPr>
            <a:r>
              <a:rPr sz="900" b="1">
                <a:solidFill>
                  <a:srgbClr val="1A1A1A"/>
                </a:solidFill>
                <a:latin typeface="Arial"/>
                <a:ea typeface="Arial"/>
              </a:rPr>
              <a:t>2021-10  로드맵 「2022 Q2」</a:t>
            </a:r>
          </a:p>
          <a:p>
            <a:pPr algn="l">
              <a:lnSpc>
                <a:spcPct val="102000"/>
              </a:lnSpc>
            </a:pPr>
            <a:r>
              <a:rPr sz="875" b="0">
                <a:solidFill>
                  <a:srgbClr val="555555"/>
                </a:solidFill>
                <a:latin typeface="Arial"/>
                <a:ea typeface="Arial"/>
              </a:rPr>
              <a:t>출시 시점 로드맵</a:t>
            </a:r>
          </a:p>
        </p:txBody>
      </p:sp>
      <p:sp>
        <p:nvSpPr>
          <p:cNvPr id="60" name="TextBox 59"/>
          <p:cNvSpPr txBox="1"/>
          <p:nvPr/>
        </p:nvSpPr>
        <p:spPr>
          <a:xfrm>
            <a:off x="4955881" y="5431536"/>
            <a:ext cx="1463040" cy="384048"/>
          </a:xfrm>
          <a:prstGeom prst="rect">
            <a:avLst/>
          </a:prstGeom>
          <a:noFill/>
        </p:spPr>
        <p:txBody>
          <a:bodyPr wrap="square" anchor="t" lIns="0" rIns="0" tIns="0" bIns="0">
            <a:spAutoFit/>
          </a:bodyPr>
          <a:lstStyle/>
          <a:p>
            <a:pPr algn="r">
              <a:lnSpc>
                <a:spcPct val="102000"/>
              </a:lnSpc>
            </a:pPr>
            <a:r>
              <a:rPr sz="900" b="1">
                <a:solidFill>
                  <a:srgbClr val="1A1A1A"/>
                </a:solidFill>
                <a:latin typeface="Arial"/>
                <a:ea typeface="Arial"/>
              </a:rPr>
              <a:t>2023 Q4  공급망 진입</a:t>
            </a:r>
          </a:p>
          <a:p>
            <a:pPr algn="r">
              <a:lnSpc>
                <a:spcPct val="102000"/>
              </a:lnSpc>
            </a:pPr>
            <a:r>
              <a:rPr sz="875" b="0">
                <a:solidFill>
                  <a:srgbClr val="555555"/>
                </a:solidFill>
                <a:latin typeface="Arial"/>
                <a:ea typeface="Arial"/>
              </a:rPr>
              <a:t>1Znm HBM3 · 소량</a:t>
            </a:r>
          </a:p>
        </p:txBody>
      </p:sp>
      <p:sp>
        <p:nvSpPr>
          <p:cNvPr id="61" name="TextBox 60"/>
          <p:cNvSpPr txBox="1"/>
          <p:nvPr/>
        </p:nvSpPr>
        <p:spPr>
          <a:xfrm>
            <a:off x="1691640"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2021</a:t>
            </a:r>
          </a:p>
        </p:txBody>
      </p:sp>
      <p:sp>
        <p:nvSpPr>
          <p:cNvPr id="62" name="TextBox 61"/>
          <p:cNvSpPr txBox="1"/>
          <p:nvPr/>
        </p:nvSpPr>
        <p:spPr>
          <a:xfrm>
            <a:off x="3150523"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2022</a:t>
            </a:r>
          </a:p>
        </p:txBody>
      </p:sp>
      <p:sp>
        <p:nvSpPr>
          <p:cNvPr id="63" name="TextBox 62"/>
          <p:cNvSpPr txBox="1"/>
          <p:nvPr/>
        </p:nvSpPr>
        <p:spPr>
          <a:xfrm>
            <a:off x="5095701"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2023</a:t>
            </a:r>
          </a:p>
        </p:txBody>
      </p:sp>
      <p:sp>
        <p:nvSpPr>
          <p:cNvPr id="64" name="Rectangle 63"/>
          <p:cNvSpPr/>
          <p:nvPr/>
        </p:nvSpPr>
        <p:spPr>
          <a:xfrm>
            <a:off x="996696" y="6199631"/>
            <a:ext cx="5486400" cy="104241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16152" y="6309359"/>
            <a:ext cx="5047488" cy="512064"/>
          </a:xfrm>
          <a:prstGeom prst="rect">
            <a:avLst/>
          </a:prstGeom>
          <a:noFill/>
        </p:spPr>
        <p:txBody>
          <a:bodyPr wrap="square" anchor="t" lIns="0" rIns="0" tIns="0" bIns="0">
            <a:spAutoFit/>
          </a:bodyPr>
          <a:lstStyle/>
          <a:p>
            <a:pPr algn="l">
              <a:lnSpc>
                <a:spcPct val="104000"/>
              </a:lnSpc>
            </a:pPr>
            <a:r>
              <a:rPr sz="1425" b="1">
                <a:solidFill>
                  <a:srgbClr val="FFFFFF"/>
                </a:solidFill>
                <a:latin typeface="Arial"/>
                <a:ea typeface="Arial"/>
              </a:rPr>
              <a:t>규격이 아니라 그 규격을 언제 물량으로 만들었는가가 소켓을 갈랐습니다</a:t>
            </a:r>
          </a:p>
        </p:txBody>
      </p:sp>
      <p:sp>
        <p:nvSpPr>
          <p:cNvPr id="66" name="TextBox 65"/>
          <p:cNvSpPr txBox="1"/>
          <p:nvPr/>
        </p:nvSpPr>
        <p:spPr>
          <a:xfrm>
            <a:off x="1216152" y="6839712"/>
            <a:ext cx="5047488" cy="310896"/>
          </a:xfrm>
          <a:prstGeom prst="rect">
            <a:avLst/>
          </a:prstGeom>
          <a:noFill/>
        </p:spPr>
        <p:txBody>
          <a:bodyPr wrap="square" anchor="t" lIns="0" rIns="0" tIns="0" bIns="0">
            <a:spAutoFit/>
          </a:bodyPr>
          <a:lstStyle/>
          <a:p>
            <a:pPr algn="l">
              <a:lnSpc>
                <a:spcPct val="104000"/>
              </a:lnSpc>
            </a:pPr>
            <a:r>
              <a:rPr sz="1125" b="0">
                <a:solidFill>
                  <a:srgbClr val="AAB8E8"/>
                </a:solidFill>
                <a:latin typeface="Arial"/>
                <a:ea typeface="Arial"/>
              </a:rPr>
              <a:t>구속력 있는 일정은 표준이 아니라 고객의 제품 출시 일정이었습니다</a:t>
            </a:r>
          </a:p>
        </p:txBody>
      </p:sp>
      <p:sp>
        <p:nvSpPr>
          <p:cNvPr id="67" name="TextBox 66"/>
          <p:cNvSpPr txBox="1"/>
          <p:nvPr/>
        </p:nvSpPr>
        <p:spPr>
          <a:xfrm>
            <a:off x="996696" y="7315199"/>
            <a:ext cx="5486400" cy="384048"/>
          </a:xfrm>
          <a:prstGeom prst="rect">
            <a:avLst/>
          </a:prstGeom>
          <a:noFill/>
        </p:spPr>
        <p:txBody>
          <a:bodyPr wrap="square" anchor="t" lIns="0" rIns="0" tIns="0" bIns="0">
            <a:spAutoFit/>
          </a:bodyPr>
          <a:lstStyle/>
          <a:p>
            <a:pPr algn="l">
              <a:lnSpc>
                <a:spcPct val="102000"/>
              </a:lnSpc>
            </a:pPr>
            <a:r>
              <a:rPr sz="900" b="0">
                <a:solidFill>
                  <a:srgbClr val="8A8A8A"/>
                </a:solidFill>
                <a:latin typeface="Arial"/>
                <a:ea typeface="Arial"/>
              </a:rPr>
              <a:t>2022년 삼성의 HBM 점유율은 40%였습니다 · 비어 있던 것은 사업이 아니라 HBM3 한 세대의 신규 소켓입니다</a:t>
            </a:r>
          </a:p>
        </p:txBody>
      </p:sp>
      <p:sp>
        <p:nvSpPr>
          <p:cNvPr id="68" name="Rectangle 67"/>
          <p:cNvSpPr/>
          <p:nvPr/>
        </p:nvSpPr>
        <p:spPr>
          <a:xfrm>
            <a:off x="996696" y="7754111"/>
            <a:ext cx="5486400" cy="6217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43000" y="7818119"/>
            <a:ext cx="5193792" cy="201168"/>
          </a:xfrm>
          <a:prstGeom prst="rect">
            <a:avLst/>
          </a:prstGeom>
          <a:noFill/>
        </p:spPr>
        <p:txBody>
          <a:bodyPr wrap="square" anchor="t" lIns="0" rIns="0" tIns="0" bIns="0">
            <a:spAutoFit/>
          </a:bodyPr>
          <a:lstStyle/>
          <a:p>
            <a:pPr algn="l">
              <a:lnSpc>
                <a:spcPct val="112000"/>
              </a:lnSpc>
            </a:pPr>
            <a:r>
              <a:rPr sz="950" b="1">
                <a:solidFill>
                  <a:srgbClr val="555555"/>
                </a:solidFill>
                <a:latin typeface="Arial"/>
                <a:ea typeface="Arial"/>
              </a:rPr>
              <a:t>그 시간차의 원인으로 업계가 지목하는 것</a:t>
            </a:r>
            <a:r>
              <a:rPr sz="950" b="1">
                <a:solidFill>
                  <a:srgbClr val="1428A0"/>
                </a:solidFill>
                <a:latin typeface="Arial"/>
                <a:ea typeface="Arial"/>
              </a:rPr>
              <a:t>   SK하이닉스의 MR-MUF 패키징</a:t>
            </a:r>
          </a:p>
        </p:txBody>
      </p:sp>
      <p:sp>
        <p:nvSpPr>
          <p:cNvPr id="70" name="TextBox 69"/>
          <p:cNvSpPr txBox="1"/>
          <p:nvPr/>
        </p:nvSpPr>
        <p:spPr>
          <a:xfrm>
            <a:off x="1143000" y="8019287"/>
            <a:ext cx="5193792" cy="365760"/>
          </a:xfrm>
          <a:prstGeom prst="rect">
            <a:avLst/>
          </a:prstGeom>
          <a:noFill/>
        </p:spPr>
        <p:txBody>
          <a:bodyPr wrap="square" anchor="t" lIns="0" rIns="0" tIns="0" bIns="0">
            <a:spAutoFit/>
          </a:bodyPr>
          <a:lstStyle/>
          <a:p>
            <a:pPr algn="l">
              <a:lnSpc>
                <a:spcPct val="102000"/>
              </a:lnSpc>
            </a:pPr>
            <a:r>
              <a:rPr sz="875" b="0">
                <a:solidFill>
                  <a:srgbClr val="8A8A8A"/>
                </a:solidFill>
                <a:latin typeface="Arial"/>
                <a:ea typeface="Arial"/>
              </a:rPr>
              <a:t>다만 이는 2023년 이후의 사후 해석이며, 확정된 설명은 아닙니다</a:t>
            </a:r>
          </a:p>
        </p:txBody>
      </p:sp>
      <p:sp>
        <p:nvSpPr>
          <p:cNvPr id="71" name="Rectangle 70"/>
          <p:cNvSpPr/>
          <p:nvPr/>
        </p:nvSpPr>
        <p:spPr>
          <a:xfrm>
            <a:off x="6976872" y="2560320"/>
            <a:ext cx="57607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976872" y="2560320"/>
            <a:ext cx="57607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196328" y="2706624"/>
            <a:ext cx="53218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같은 전환이 SSD에서</a:t>
            </a:r>
          </a:p>
        </p:txBody>
      </p:sp>
      <p:sp>
        <p:nvSpPr>
          <p:cNvPr id="74" name="TextBox 73"/>
          <p:cNvSpPr txBox="1"/>
          <p:nvPr/>
        </p:nvSpPr>
        <p:spPr>
          <a:xfrm>
            <a:off x="7196328" y="2980944"/>
            <a:ext cx="53218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고객 요구가 확장되고 있다</a:t>
            </a:r>
          </a:p>
        </p:txBody>
      </p:sp>
      <p:sp>
        <p:nvSpPr>
          <p:cNvPr id="75" name="TextBox 74"/>
          <p:cNvSpPr txBox="1"/>
          <p:nvPr/>
        </p:nvSpPr>
        <p:spPr>
          <a:xfrm>
            <a:off x="7251192" y="3310127"/>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기존 요구는 그대로이고, 그 위에 요구가 더해지고 있습니다</a:t>
            </a:r>
          </a:p>
        </p:txBody>
      </p:sp>
      <p:sp>
        <p:nvSpPr>
          <p:cNvPr id="76" name="Rectangle 75"/>
          <p:cNvSpPr/>
          <p:nvPr/>
        </p:nvSpPr>
        <p:spPr>
          <a:xfrm>
            <a:off x="7251192" y="3529584"/>
            <a:ext cx="2918764"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79208" y="3584448"/>
            <a:ext cx="266273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기존</a:t>
            </a:r>
          </a:p>
        </p:txBody>
      </p:sp>
      <p:sp>
        <p:nvSpPr>
          <p:cNvPr id="78" name="TextBox 77"/>
          <p:cNvSpPr txBox="1"/>
          <p:nvPr/>
        </p:nvSpPr>
        <p:spPr>
          <a:xfrm>
            <a:off x="7379208" y="3767328"/>
            <a:ext cx="2662732" cy="274320"/>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용량당 비용 · 밀도 · 전력</a:t>
            </a:r>
          </a:p>
        </p:txBody>
      </p:sp>
      <p:sp>
        <p:nvSpPr>
          <p:cNvPr id="79" name="Right Arrow 78"/>
          <p:cNvSpPr/>
          <p:nvPr/>
        </p:nvSpPr>
        <p:spPr>
          <a:xfrm>
            <a:off x="10224820" y="3712463"/>
            <a:ext cx="201168"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480852" y="3529584"/>
            <a:ext cx="1982419"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08868" y="3584448"/>
            <a:ext cx="1726387" cy="201168"/>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추가</a:t>
            </a:r>
          </a:p>
        </p:txBody>
      </p:sp>
      <p:sp>
        <p:nvSpPr>
          <p:cNvPr id="82" name="TextBox 81"/>
          <p:cNvSpPr txBox="1"/>
          <p:nvPr/>
        </p:nvSpPr>
        <p:spPr>
          <a:xfrm>
            <a:off x="10608868" y="3767328"/>
            <a:ext cx="1726387" cy="274320"/>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내구성</a:t>
            </a:r>
          </a:p>
        </p:txBody>
      </p:sp>
      <p:sp>
        <p:nvSpPr>
          <p:cNvPr id="83" name="TextBox 82"/>
          <p:cNvSpPr txBox="1"/>
          <p:nvPr/>
        </p:nvSpPr>
        <p:spPr>
          <a:xfrm>
            <a:off x="7251192" y="4261104"/>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무엇이 그 요구를 만들었나   </a:t>
            </a:r>
            <a:r>
              <a:rPr sz="1050" b="1">
                <a:solidFill>
                  <a:srgbClr val="1428A0"/>
                </a:solidFill>
                <a:latin typeface="Arial"/>
                <a:ea typeface="Arial"/>
              </a:rPr>
              <a:t>KV 캐시가 SSD를 추론 메모리 계층으로 옮깁니다</a:t>
            </a:r>
          </a:p>
        </p:txBody>
      </p:sp>
      <p:sp>
        <p:nvSpPr>
          <p:cNvPr id="84" name="Rectangle 83"/>
          <p:cNvSpPr/>
          <p:nvPr/>
        </p:nvSpPr>
        <p:spPr>
          <a:xfrm>
            <a:off x="7251192" y="4498848"/>
            <a:ext cx="5212080"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251192" y="4498848"/>
            <a:ext cx="530352" cy="5669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251192" y="4498848"/>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G1</a:t>
            </a:r>
          </a:p>
        </p:txBody>
      </p:sp>
      <p:sp>
        <p:nvSpPr>
          <p:cNvPr id="87" name="TextBox 86"/>
          <p:cNvSpPr txBox="1"/>
          <p:nvPr/>
        </p:nvSpPr>
        <p:spPr>
          <a:xfrm>
            <a:off x="7909560" y="4572000"/>
            <a:ext cx="168249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GPU HBM</a:t>
            </a:r>
          </a:p>
        </p:txBody>
      </p:sp>
      <p:sp>
        <p:nvSpPr>
          <p:cNvPr id="88" name="TextBox 87"/>
          <p:cNvSpPr txBox="1"/>
          <p:nvPr/>
        </p:nvSpPr>
        <p:spPr>
          <a:xfrm>
            <a:off x="7909560" y="4809744"/>
            <a:ext cx="1682496" cy="182880"/>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80 → 288GB로 커졌지만</a:t>
            </a:r>
          </a:p>
        </p:txBody>
      </p:sp>
      <p:sp>
        <p:nvSpPr>
          <p:cNvPr id="89" name="TextBox 88"/>
          <p:cNvSpPr txBox="1"/>
          <p:nvPr/>
        </p:nvSpPr>
        <p:spPr>
          <a:xfrm>
            <a:off x="9665208" y="4535424"/>
            <a:ext cx="2670048" cy="493776"/>
          </a:xfrm>
          <a:prstGeom prst="rect">
            <a:avLst/>
          </a:prstGeom>
          <a:noFill/>
        </p:spPr>
        <p:txBody>
          <a:bodyPr wrap="square" anchor="ctr" lIns="0" rIns="0" tIns="0" bIns="0">
            <a:spAutoFit/>
          </a:bodyPr>
          <a:lstStyle/>
          <a:p>
            <a:pPr algn="l">
              <a:lnSpc>
                <a:spcPct val="104000"/>
              </a:lnSpc>
            </a:pPr>
            <a:r>
              <a:rPr sz="900" b="0">
                <a:solidFill>
                  <a:srgbClr val="AAB8E8"/>
                </a:solidFill>
                <a:latin typeface="Arial"/>
                <a:ea typeface="Arial"/>
              </a:rPr>
              <a:t>단일 사용자 128K 컨텍스트가 약 40GB · 사용자 수에 비례</a:t>
            </a:r>
          </a:p>
        </p:txBody>
      </p:sp>
      <p:sp>
        <p:nvSpPr>
          <p:cNvPr id="90" name="Down Arrow 89"/>
          <p:cNvSpPr/>
          <p:nvPr/>
        </p:nvSpPr>
        <p:spPr>
          <a:xfrm>
            <a:off x="7424927" y="5074920"/>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35240" y="5065776"/>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넘친다</a:t>
            </a:r>
          </a:p>
        </p:txBody>
      </p:sp>
      <p:sp>
        <p:nvSpPr>
          <p:cNvPr id="92" name="Rectangle 91"/>
          <p:cNvSpPr/>
          <p:nvPr/>
        </p:nvSpPr>
        <p:spPr>
          <a:xfrm>
            <a:off x="7251192" y="5221224"/>
            <a:ext cx="5212080" cy="566928"/>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51192" y="5221224"/>
            <a:ext cx="530352" cy="5669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251192" y="5221224"/>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G2</a:t>
            </a:r>
          </a:p>
        </p:txBody>
      </p:sp>
      <p:sp>
        <p:nvSpPr>
          <p:cNvPr id="95" name="TextBox 94"/>
          <p:cNvSpPr txBox="1"/>
          <p:nvPr/>
        </p:nvSpPr>
        <p:spPr>
          <a:xfrm>
            <a:off x="7909560" y="5294376"/>
            <a:ext cx="168249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CPU DRAM</a:t>
            </a:r>
          </a:p>
        </p:txBody>
      </p:sp>
      <p:sp>
        <p:nvSpPr>
          <p:cNvPr id="96" name="TextBox 95"/>
          <p:cNvSpPr txBox="1"/>
          <p:nvPr/>
        </p:nvSpPr>
        <p:spPr>
          <a:xfrm>
            <a:off x="7909560" y="5532120"/>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첫 확장</a:t>
            </a:r>
          </a:p>
        </p:txBody>
      </p:sp>
      <p:sp>
        <p:nvSpPr>
          <p:cNvPr id="97" name="TextBox 96"/>
          <p:cNvSpPr txBox="1"/>
          <p:nvPr/>
        </p:nvSpPr>
        <p:spPr>
          <a:xfrm>
            <a:off x="9665208" y="5257800"/>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Kioxia — DRAM만으로는 더 못 따라간다</a:t>
            </a:r>
          </a:p>
        </p:txBody>
      </p:sp>
      <p:sp>
        <p:nvSpPr>
          <p:cNvPr id="98" name="Down Arrow 97"/>
          <p:cNvSpPr/>
          <p:nvPr/>
        </p:nvSpPr>
        <p:spPr>
          <a:xfrm>
            <a:off x="7424927" y="5797296"/>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35240" y="5788152"/>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다시 넘친다</a:t>
            </a:r>
          </a:p>
        </p:txBody>
      </p:sp>
      <p:sp>
        <p:nvSpPr>
          <p:cNvPr id="100" name="Rectangle 99"/>
          <p:cNvSpPr/>
          <p:nvPr/>
        </p:nvSpPr>
        <p:spPr>
          <a:xfrm>
            <a:off x="7251192" y="5943600"/>
            <a:ext cx="5212080" cy="5669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51192" y="5943600"/>
            <a:ext cx="530352"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51192" y="5943600"/>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G3</a:t>
            </a:r>
          </a:p>
        </p:txBody>
      </p:sp>
      <p:sp>
        <p:nvSpPr>
          <p:cNvPr id="103" name="TextBox 102"/>
          <p:cNvSpPr txBox="1"/>
          <p:nvPr/>
        </p:nvSpPr>
        <p:spPr>
          <a:xfrm>
            <a:off x="7909560" y="6016752"/>
            <a:ext cx="1682496"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NVMe SSD</a:t>
            </a:r>
          </a:p>
        </p:txBody>
      </p:sp>
      <p:sp>
        <p:nvSpPr>
          <p:cNvPr id="104" name="TextBox 103"/>
          <p:cNvSpPr txBox="1"/>
          <p:nvPr/>
        </p:nvSpPr>
        <p:spPr>
          <a:xfrm>
            <a:off x="7909560" y="6254496"/>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새로 얹힌 계층</a:t>
            </a:r>
          </a:p>
        </p:txBody>
      </p:sp>
      <p:sp>
        <p:nvSpPr>
          <p:cNvPr id="105" name="TextBox 104"/>
          <p:cNvSpPr txBox="1"/>
          <p:nvPr/>
        </p:nvSpPr>
        <p:spPr>
          <a:xfrm>
            <a:off x="9665208" y="5980176"/>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쓰기가 몰리는 첫 대용량 계층 → 내구성이 요구로</a:t>
            </a:r>
          </a:p>
        </p:txBody>
      </p:sp>
      <p:sp>
        <p:nvSpPr>
          <p:cNvPr id="106" name="Rectangle 105"/>
          <p:cNvSpPr/>
          <p:nvPr/>
        </p:nvSpPr>
        <p:spPr>
          <a:xfrm>
            <a:off x="7251192" y="6547103"/>
            <a:ext cx="5212080" cy="20116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342631" y="6547103"/>
            <a:ext cx="5029200" cy="201168"/>
          </a:xfrm>
          <a:prstGeom prst="rect">
            <a:avLst/>
          </a:prstGeom>
          <a:noFill/>
        </p:spPr>
        <p:txBody>
          <a:bodyPr wrap="square" anchor="ctr" lIns="0" rIns="0" tIns="0" bIns="0">
            <a:spAutoFit/>
          </a:bodyPr>
          <a:lstStyle/>
          <a:p>
            <a:pPr algn="l">
              <a:lnSpc>
                <a:spcPct val="112000"/>
              </a:lnSpc>
            </a:pPr>
            <a:r>
              <a:rPr sz="900" b="1">
                <a:solidFill>
                  <a:srgbClr val="1428A0"/>
                </a:solidFill>
                <a:latin typeface="Arial"/>
                <a:ea typeface="Arial"/>
              </a:rPr>
              <a:t>대체가 아니라 증설입니다  </a:t>
            </a:r>
            <a:r>
              <a:rPr sz="900" b="0">
                <a:solidFill>
                  <a:srgbClr val="555555"/>
                </a:solidFill>
                <a:latin typeface="Arial"/>
                <a:ea typeface="Arial"/>
              </a:rPr>
              <a:t>같은 기간 GPU당 HBM은 192 → 288GB, 2027년 384GB로 커집니다</a:t>
            </a:r>
          </a:p>
        </p:txBody>
      </p:sp>
      <p:sp>
        <p:nvSpPr>
          <p:cNvPr id="108" name="Rectangle 107"/>
          <p:cNvSpPr/>
          <p:nvPr/>
        </p:nvSpPr>
        <p:spPr>
          <a:xfrm>
            <a:off x="7251192" y="6839712"/>
            <a:ext cx="5212080" cy="157276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397496" y="6894575"/>
            <a:ext cx="4919472"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「KV 캐시를 담을 HBM 용량이 한계에 도달했다」</a:t>
            </a:r>
          </a:p>
        </p:txBody>
      </p:sp>
      <p:sp>
        <p:nvSpPr>
          <p:cNvPr id="110" name="TextBox 109"/>
          <p:cNvSpPr txBox="1"/>
          <p:nvPr/>
        </p:nvSpPr>
        <p:spPr>
          <a:xfrm>
            <a:off x="7397496" y="7104888"/>
            <a:ext cx="4919472"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SK하이닉스 2026-07-29 실적 발표 · 같은 자리에서 GPU 인근 NAND 개발 공표</a:t>
            </a:r>
          </a:p>
        </p:txBody>
      </p:sp>
      <p:sp>
        <p:nvSpPr>
          <p:cNvPr id="111" name="Rectangle 110"/>
          <p:cNvSpPr/>
          <p:nvPr/>
        </p:nvSpPr>
        <p:spPr>
          <a:xfrm>
            <a:off x="7397496" y="73152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397496"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오프로드는 메인라인 코드</a:t>
            </a:r>
          </a:p>
        </p:txBody>
      </p:sp>
      <p:sp>
        <p:nvSpPr>
          <p:cNvPr id="113" name="TextBox 112"/>
          <p:cNvSpPr txBox="1"/>
          <p:nvPr/>
        </p:nvSpPr>
        <p:spPr>
          <a:xfrm>
            <a:off x="7397496"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LMCache 2024-08 → vLLM 2026-05</a:t>
            </a:r>
          </a:p>
        </p:txBody>
      </p:sp>
      <p:sp>
        <p:nvSpPr>
          <p:cNvPr id="114" name="TextBox 113"/>
          <p:cNvSpPr txBox="1"/>
          <p:nvPr/>
        </p:nvSpPr>
        <p:spPr>
          <a:xfrm>
            <a:off x="9921240"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NAND 비트 중 eSSD 비중</a:t>
            </a:r>
          </a:p>
        </p:txBody>
      </p:sp>
      <p:sp>
        <p:nvSpPr>
          <p:cNvPr id="115" name="TextBox 114"/>
          <p:cNvSpPr txBox="1"/>
          <p:nvPr/>
        </p:nvSpPr>
        <p:spPr>
          <a:xfrm>
            <a:off x="9921240"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1년 만에 26% → 48%</a:t>
            </a:r>
          </a:p>
        </p:txBody>
      </p:sp>
      <p:sp>
        <p:nvSpPr>
          <p:cNvPr id="116" name="Rectangle 115"/>
          <p:cNvSpPr/>
          <p:nvPr/>
        </p:nvSpPr>
        <p:spPr>
          <a:xfrm>
            <a:off x="7397496" y="77724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7397496" y="7827263"/>
            <a:ext cx="4919472"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2026년 추론 지출이 학습을 처음 추월합니다  </a:t>
            </a:r>
            <a:r>
              <a:rPr sz="950" b="0">
                <a:solidFill>
                  <a:srgbClr val="555555"/>
                </a:solidFill>
                <a:latin typeface="Arial"/>
                <a:ea typeface="Arial"/>
              </a:rPr>
              <a:t>AI 최적화 IaaS의 55%</a:t>
            </a:r>
          </a:p>
        </p:txBody>
      </p:sp>
      <p:sp>
        <p:nvSpPr>
          <p:cNvPr id="118" name="TextBox 117"/>
          <p:cNvSpPr txBox="1"/>
          <p:nvPr/>
        </p:nvSpPr>
        <p:spPr>
          <a:xfrm>
            <a:off x="7397496" y="8010144"/>
            <a:ext cx="4919472"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추론 $23.3B 대 학습 $19.0B(Gartner 2026-08-10) · DC NAND 295EB → 909EB(CY28, Kioxia)</a:t>
            </a:r>
          </a:p>
        </p:txBody>
      </p:sp>
      <p:sp>
        <p:nvSpPr>
          <p:cNvPr id="119" name="Rectangle 118"/>
          <p:cNvSpPr/>
          <p:nvPr/>
        </p:nvSpPr>
        <p:spPr>
          <a:xfrm>
            <a:off x="12957048" y="2560320"/>
            <a:ext cx="460857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2957048" y="2560320"/>
            <a:ext cx="460857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3176504" y="2706624"/>
            <a:ext cx="416966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둘 다 가질 수 있는가</a:t>
            </a:r>
          </a:p>
        </p:txBody>
      </p:sp>
      <p:sp>
        <p:nvSpPr>
          <p:cNvPr id="122" name="TextBox 121"/>
          <p:cNvSpPr txBox="1"/>
          <p:nvPr/>
        </p:nvSpPr>
        <p:spPr>
          <a:xfrm>
            <a:off x="13176504" y="2980944"/>
            <a:ext cx="416966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용량·비용과 내구성의 상충</a:t>
            </a:r>
          </a:p>
        </p:txBody>
      </p:sp>
      <p:sp>
        <p:nvSpPr>
          <p:cNvPr id="123" name="TextBox 122"/>
          <p:cNvSpPr txBox="1"/>
          <p:nvPr/>
        </p:nvSpPr>
        <p:spPr>
          <a:xfrm>
            <a:off x="13231368" y="3310127"/>
            <a:ext cx="4059936" cy="2011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오늘 선택지는 둘 다를 주지 않습니다</a:t>
            </a:r>
          </a:p>
        </p:txBody>
      </p:sp>
      <p:sp>
        <p:nvSpPr>
          <p:cNvPr id="124" name="Rectangle 123"/>
          <p:cNvSpPr/>
          <p:nvPr/>
        </p:nvSpPr>
        <p:spPr>
          <a:xfrm>
            <a:off x="13231368" y="3547872"/>
            <a:ext cx="1965960"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3231368" y="3547872"/>
            <a:ext cx="1965960"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3359384" y="3639312"/>
            <a:ext cx="1709928" cy="256032"/>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27" name="TextBox 126"/>
          <p:cNvSpPr txBox="1"/>
          <p:nvPr/>
        </p:nvSpPr>
        <p:spPr>
          <a:xfrm>
            <a:off x="13359384"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3 DWPD 급</a:t>
            </a:r>
          </a:p>
        </p:txBody>
      </p:sp>
      <p:sp>
        <p:nvSpPr>
          <p:cNvPr id="128" name="TextBox 127"/>
          <p:cNvSpPr txBox="1"/>
          <p:nvPr/>
        </p:nvSpPr>
        <p:spPr>
          <a:xfrm>
            <a:off x="13359384"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29" name="TextBox 128"/>
          <p:cNvSpPr txBox="1"/>
          <p:nvPr/>
        </p:nvSpPr>
        <p:spPr>
          <a:xfrm>
            <a:off x="13359384" y="4297680"/>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요구 충족</a:t>
            </a:r>
          </a:p>
        </p:txBody>
      </p:sp>
      <p:sp>
        <p:nvSpPr>
          <p:cNvPr id="130" name="TextBox 129"/>
          <p:cNvSpPr txBox="1"/>
          <p:nvPr/>
        </p:nvSpPr>
        <p:spPr>
          <a:xfrm>
            <a:off x="13359384"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31" name="TextBox 130"/>
          <p:cNvSpPr txBox="1"/>
          <p:nvPr/>
        </p:nvSpPr>
        <p:spPr>
          <a:xfrm>
            <a:off x="13359384" y="4700016"/>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 급</a:t>
            </a:r>
          </a:p>
        </p:txBody>
      </p:sp>
      <p:sp>
        <p:nvSpPr>
          <p:cNvPr id="132" name="TextBox 131"/>
          <p:cNvSpPr txBox="1"/>
          <p:nvPr/>
        </p:nvSpPr>
        <p:spPr>
          <a:xfrm>
            <a:off x="13359384"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33" name="TextBox 132"/>
          <p:cNvSpPr txBox="1"/>
          <p:nvPr/>
        </p:nvSpPr>
        <p:spPr>
          <a:xfrm>
            <a:off x="13359384" y="5102352"/>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높다</a:t>
            </a:r>
          </a:p>
        </p:txBody>
      </p:sp>
      <p:sp>
        <p:nvSpPr>
          <p:cNvPr id="134" name="Rectangle 133"/>
          <p:cNvSpPr/>
          <p:nvPr/>
        </p:nvSpPr>
        <p:spPr>
          <a:xfrm>
            <a:off x="15325344" y="3547872"/>
            <a:ext cx="1965960" cy="184708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325344" y="3547872"/>
            <a:ext cx="196596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3360" y="3639312"/>
            <a:ext cx="1709928"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37" name="TextBox 136"/>
          <p:cNvSpPr txBox="1"/>
          <p:nvPr/>
        </p:nvSpPr>
        <p:spPr>
          <a:xfrm>
            <a:off x="15453360"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고용량</a:t>
            </a:r>
          </a:p>
        </p:txBody>
      </p:sp>
      <p:sp>
        <p:nvSpPr>
          <p:cNvPr id="138" name="TextBox 137"/>
          <p:cNvSpPr txBox="1"/>
          <p:nvPr/>
        </p:nvSpPr>
        <p:spPr>
          <a:xfrm>
            <a:off x="15453360"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39" name="TextBox 138"/>
          <p:cNvSpPr txBox="1"/>
          <p:nvPr/>
        </p:nvSpPr>
        <p:spPr>
          <a:xfrm>
            <a:off x="15453360" y="4297680"/>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0.3 ~ 0.6</a:t>
            </a:r>
          </a:p>
        </p:txBody>
      </p:sp>
      <p:sp>
        <p:nvSpPr>
          <p:cNvPr id="140" name="TextBox 139"/>
          <p:cNvSpPr txBox="1"/>
          <p:nvPr/>
        </p:nvSpPr>
        <p:spPr>
          <a:xfrm>
            <a:off x="15453360"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41" name="TextBox 140"/>
          <p:cNvSpPr txBox="1"/>
          <p:nvPr/>
        </p:nvSpPr>
        <p:spPr>
          <a:xfrm>
            <a:off x="15453360" y="4700016"/>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 급</a:t>
            </a:r>
          </a:p>
        </p:txBody>
      </p:sp>
      <p:sp>
        <p:nvSpPr>
          <p:cNvPr id="142" name="TextBox 141"/>
          <p:cNvSpPr txBox="1"/>
          <p:nvPr/>
        </p:nvSpPr>
        <p:spPr>
          <a:xfrm>
            <a:off x="15453360"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43" name="TextBox 142"/>
          <p:cNvSpPr txBox="1"/>
          <p:nvPr/>
        </p:nvSpPr>
        <p:spPr>
          <a:xfrm>
            <a:off x="15453360" y="5102352"/>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낮다</a:t>
            </a:r>
          </a:p>
        </p:txBody>
      </p:sp>
      <p:sp>
        <p:nvSpPr>
          <p:cNvPr id="144" name="TextBox 143"/>
          <p:cNvSpPr txBox="1"/>
          <p:nvPr/>
        </p:nvSpPr>
        <p:spPr>
          <a:xfrm>
            <a:off x="13231368" y="5468112"/>
            <a:ext cx="4059936" cy="512064"/>
          </a:xfrm>
          <a:prstGeom prst="rect">
            <a:avLst/>
          </a:prstGeom>
          <a:noFill/>
        </p:spPr>
        <p:txBody>
          <a:bodyPr wrap="square" anchor="t" lIns="0" rIns="0" tIns="0" bIns="0">
            <a:spAutoFit/>
          </a:bodyPr>
          <a:lstStyle/>
          <a:p>
            <a:pPr algn="l">
              <a:lnSpc>
                <a:spcPct val="104000"/>
              </a:lnSpc>
            </a:pPr>
            <a:r>
              <a:rPr sz="900" b="0">
                <a:solidFill>
                  <a:srgbClr val="8A8A8A"/>
                </a:solidFill>
                <a:latin typeface="Arial"/>
                <a:ea typeface="Arial"/>
              </a:rPr>
              <a:t>245TB급 헤드라인 정격입니다 — Kioxia LC9 0.3 · 삼성 BM1773 0.6</a:t>
            </a:r>
          </a:p>
          <a:p>
            <a:pPr algn="l">
              <a:lnSpc>
                <a:spcPct val="104000"/>
              </a:lnSpc>
            </a:pPr>
            <a:r>
              <a:rPr sz="900" b="0">
                <a:solidFill>
                  <a:srgbClr val="8A8A8A"/>
                </a:solidFill>
                <a:latin typeface="Arial"/>
                <a:ea typeface="Arial"/>
              </a:rPr>
              <a:t>측정 기준이 제품마다 달라 단일 값으로 비교하지 않습니다</a:t>
            </a:r>
          </a:p>
        </p:txBody>
      </p:sp>
      <p:sp>
        <p:nvSpPr>
          <p:cNvPr id="145" name="Rectangle 144"/>
          <p:cNvSpPr/>
          <p:nvPr/>
        </p:nvSpPr>
        <p:spPr>
          <a:xfrm>
            <a:off x="13231368" y="6035040"/>
            <a:ext cx="4059936" cy="23042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432536" y="6181344"/>
            <a:ext cx="3657600" cy="274320"/>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그래서 질문은 하나입니다</a:t>
            </a:r>
          </a:p>
        </p:txBody>
      </p:sp>
      <p:sp>
        <p:nvSpPr>
          <p:cNvPr id="147" name="TextBox 146"/>
          <p:cNvSpPr txBox="1"/>
          <p:nvPr/>
        </p:nvSpPr>
        <p:spPr>
          <a:xfrm>
            <a:off x="13432536" y="6473952"/>
            <a:ext cx="3657600" cy="1755648"/>
          </a:xfrm>
          <a:prstGeom prst="rect">
            <a:avLst/>
          </a:prstGeom>
          <a:noFill/>
        </p:spPr>
        <p:txBody>
          <a:bodyPr wrap="square" anchor="ctr" lIns="0" rIns="0" tIns="0" bIns="0">
            <a:spAutoFit/>
          </a:bodyPr>
          <a:lstStyle/>
          <a:p>
            <a:pPr algn="l">
              <a:lnSpc>
                <a:spcPct val="118000"/>
              </a:lnSpc>
            </a:pPr>
            <a:r>
              <a:rPr sz="1425" b="1">
                <a:solidFill>
                  <a:srgbClr val="FFFFFF"/>
                </a:solidFill>
                <a:latin typeface="Arial"/>
                <a:ea typeface="Arial"/>
              </a:rPr>
              <a:t>고용량 QLC의 밀도·비용 이점을 유지하면서</a:t>
            </a:r>
          </a:p>
          <a:p>
            <a:pPr algn="l">
              <a:lnSpc>
                <a:spcPct val="118000"/>
              </a:lnSpc>
            </a:pPr>
            <a:r>
              <a:rPr sz="1425" b="1">
                <a:solidFill>
                  <a:srgbClr val="FFFFFF"/>
                </a:solidFill>
                <a:latin typeface="Arial"/>
                <a:ea typeface="Arial"/>
              </a:rPr>
              <a:t>AI 추론이 요구하는 내구성을</a:t>
            </a:r>
          </a:p>
          <a:p>
            <a:pPr algn="l">
              <a:lnSpc>
                <a:spcPct val="118000"/>
              </a:lnSpc>
            </a:pPr>
            <a:r>
              <a:rPr sz="1425" b="1">
                <a:solidFill>
                  <a:srgbClr val="FFFFFF"/>
                </a:solidFill>
                <a:latin typeface="Arial"/>
                <a:ea typeface="Arial"/>
              </a:rPr>
              <a:t>확보할 수 있는가?</a:t>
            </a:r>
          </a:p>
        </p:txBody>
      </p:sp>
      <p:sp>
        <p:nvSpPr>
          <p:cNvPr id="148" name="Rectangle 14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0" name="TextBox 14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HBM3의 교훈은 규격이 아니라 고객 일정 안의 양산이 소켓을 갈랐다는 것입니다.</a:t>
            </a:r>
          </a:p>
          <a:p>
            <a:pPr algn="l">
              <a:lnSpc>
                <a:spcPct val="108000"/>
              </a:lnSpc>
            </a:pPr>
            <a:r>
              <a:rPr sz="1650" b="1">
                <a:solidFill>
                  <a:srgbClr val="FFFFFF"/>
                </a:solidFill>
                <a:latin typeface="Arial"/>
                <a:ea typeface="Arial"/>
              </a:rPr>
              <a:t>같은 구조가 SSD에서 반복되며 내구성이 요구로 더해졌고, 고용량 QLC로 그 요구를 만족할 수 있는가가 문제입니다</a:t>
            </a:r>
          </a:p>
        </p:txBody>
      </p:sp>
      <p:sp>
        <p:nvSpPr>
          <p:cNvPr id="151" name="Rectangle 15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54" name="TextBox 15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SK하이닉스 PR 2021-10·2022-06-09 ✅ · JEDEC JESD238 2022-01-28 ✅ · 삼성 Tech Day 2021 🟡 · TrendForce(점유율·2023 Q4 진입) 🟡 · 서울경제 2026-07-29 🟡 · NVIDIA 개발자 블로그 🟡 · GitHub PR ✅ · Gartner 2026-08-10 ✅ · 각사 제품 사양(DWPD)</a:t>
            </a:r>
          </a:p>
        </p:txBody>
      </p:sp>
      <p:sp>
        <p:nvSpPr>
          <p:cNvPr id="155" name="TextBox 15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6696"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9786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2" name="Rectangle 41"/>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46376"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47543"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5" name="Rectangle 44"/>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6056"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9722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48" name="TextBox 47"/>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49" name="Down Arrow 48"/>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1" name="Rectangle 50"/>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5044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629918"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09394"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8887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68346"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147822"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5272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906774"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61" name="Rectangle 60"/>
          <p:cNvSpPr/>
          <p:nvPr/>
        </p:nvSpPr>
        <p:spPr>
          <a:xfrm>
            <a:off x="125044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2991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0939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38887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68346"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47822"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5272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0677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70" name="Rectangle 69"/>
          <p:cNvSpPr/>
          <p:nvPr/>
        </p:nvSpPr>
        <p:spPr>
          <a:xfrm>
            <a:off x="125044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29918"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0939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8887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76834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14782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5272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90677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79" name="Rectangle 78"/>
          <p:cNvSpPr/>
          <p:nvPr/>
        </p:nvSpPr>
        <p:spPr>
          <a:xfrm>
            <a:off x="125044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29918"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0939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38887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76834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4782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52729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9067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88" name="TextBox 87"/>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89" name="Rectangle 88"/>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91" name="Rectangle 90"/>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93" name="TextBox 92"/>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94" name="TextBox 93"/>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95" name="TextBox 94"/>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96" name="TextBox 95"/>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97" name="TextBox 96"/>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98" name="Rectangle 97"/>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00" name="TextBox 99"/>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01" name="Rectangle 100"/>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257800"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45896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04" name="Rectangle 103"/>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07480"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70864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07" name="Rectangle 106"/>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757159"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832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10" name="TextBox 109"/>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11" name="Down Arrow 110"/>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13" name="Rectangle 112"/>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51154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89102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704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4997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029450"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408925"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788402"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67878"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23" name="Rectangle 122"/>
          <p:cNvSpPr/>
          <p:nvPr/>
        </p:nvSpPr>
        <p:spPr>
          <a:xfrm>
            <a:off x="551154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9102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2704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4997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0294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408925"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788402"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6787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32" name="Rectangle 131"/>
          <p:cNvSpPr/>
          <p:nvPr/>
        </p:nvSpPr>
        <p:spPr>
          <a:xfrm>
            <a:off x="551154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89102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2704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4997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029450"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408925"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884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81678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41" name="Rectangle 140"/>
          <p:cNvSpPr/>
          <p:nvPr/>
        </p:nvSpPr>
        <p:spPr>
          <a:xfrm>
            <a:off x="551154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89102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27049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499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0294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8925"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788402"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16787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50" name="TextBox 14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51" name="Rectangle 15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153" name="Rectangle 15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155" name="TextBox 15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156" name="TextBox 15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57" name="TextBox 15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158" name="TextBox 15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159" name="TextBox 15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160" name="Rectangle 15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162" name="TextBox 16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163" name="Rectangle 16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518903"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2007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66" name="Rectangle 165"/>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0768583"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096975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69" name="Rectangle 168"/>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2018264"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21943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72" name="TextBox 171"/>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173" name="Down Arrow 172"/>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175" name="Rectangle 174"/>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977265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15212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53160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091107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12905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16700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20495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124289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85" name="Rectangle 184"/>
          <p:cNvSpPr/>
          <p:nvPr/>
        </p:nvSpPr>
        <p:spPr>
          <a:xfrm>
            <a:off x="97726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015212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53160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091107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12905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16700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0495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24289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94" name="Rectangle 193"/>
          <p:cNvSpPr/>
          <p:nvPr/>
        </p:nvSpPr>
        <p:spPr>
          <a:xfrm>
            <a:off x="977265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015212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5316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09110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129055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167003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20495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242898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97726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15212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53160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91107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129055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16700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204950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242898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12" name="TextBox 211"/>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13" name="Rectangle 212"/>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215" name="Rectangle 214"/>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217" name="TextBox 216"/>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218" name="TextBox 217"/>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19" name="TextBox 218"/>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220" name="TextBox 219"/>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221" name="TextBox 220"/>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222" name="Rectangle 221"/>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224" name="TextBox 223"/>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225" name="Rectangle 224"/>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3780007"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398117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28" name="Rectangle 227"/>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029688"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523085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1" name="Rectangle 230"/>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6279368"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648053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234" name="TextBox 233"/>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235" name="Down Arrow 234"/>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237" name="Rectangle 236"/>
          <p:cNvSpPr/>
          <p:nvPr/>
        </p:nvSpPr>
        <p:spPr>
          <a:xfrm>
            <a:off x="140337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132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47927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51721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55165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593113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6310609"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669008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46" name="Rectangle 245"/>
          <p:cNvSpPr/>
          <p:nvPr/>
        </p:nvSpPr>
        <p:spPr>
          <a:xfrm>
            <a:off x="140337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44132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147927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151721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1555165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1593113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6310609"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669008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55" name="Rectangle 254"/>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403375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4413230"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47927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517218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555165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15931134"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16310609"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669008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65" name="Rectangle 264"/>
          <p:cNvSpPr/>
          <p:nvPr/>
        </p:nvSpPr>
        <p:spPr>
          <a:xfrm>
            <a:off x="14033754"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44132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479270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517218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555165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593113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6310609"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669008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74" name="TextBox 27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75" name="Rectangle 27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277" name="Rectangle 27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79" name="TextBox 27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280" name="TextBox 27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81" name="TextBox 28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282" name="TextBox 28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283" name="TextBox 28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284" name="Rectangle 28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287" name="Rectangle 286"/>
          <p:cNvSpPr/>
          <p:nvPr/>
        </p:nvSpPr>
        <p:spPr>
          <a:xfrm>
            <a:off x="1636776" y="798271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83794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289" name="Rectangle 288"/>
          <p:cNvSpPr/>
          <p:nvPr/>
        </p:nvSpPr>
        <p:spPr>
          <a:xfrm>
            <a:off x="2642616" y="7982711"/>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284378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291" name="Rectangle 290"/>
          <p:cNvSpPr/>
          <p:nvPr/>
        </p:nvSpPr>
        <p:spPr>
          <a:xfrm>
            <a:off x="3648456" y="7982711"/>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384962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293" name="Rectangle 292"/>
          <p:cNvSpPr/>
          <p:nvPr/>
        </p:nvSpPr>
        <p:spPr>
          <a:xfrm>
            <a:off x="4654296" y="7982711"/>
            <a:ext cx="146304" cy="146304"/>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4855464" y="7936992"/>
            <a:ext cx="18288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a:t>
            </a:r>
          </a:p>
        </p:txBody>
      </p:sp>
      <p:sp>
        <p:nvSpPr>
          <p:cNvPr id="295" name="TextBox 294"/>
          <p:cNvSpPr txBox="1"/>
          <p:nvPr/>
        </p:nvSpPr>
        <p:spPr>
          <a:xfrm>
            <a:off x="6757416"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296" name="TextBox 295"/>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297" name="Rectangle 29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299" name="TextBox 29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300" name="Rectangle 29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303" name="TextBox 3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304" name="TextBox 3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