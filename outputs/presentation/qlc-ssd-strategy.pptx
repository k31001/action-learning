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과거의 교훈, 지금 요구의 이동, 그리고 해법이 필요한 문제입니다. 왼쪽 패널, 교훈. DT19(재고 조정, -37.6%)와 DT23(최대 낙폭 -45%, 진앙 eSSD)에서 세 가지를 배웠습니다. 교훈 1 수요 센싱: 수요 신호는 발주보다 약 2년 먼저 고객의 규격·표준·소스 코드에 나타납니다. 2022년 12월 데이터 배치 표준 비준이 2024년 비트 출하 30EB로 이어졌고, 지금의 등가 신호는 KV 캐시 관리자 코드에 배치·내구성 규격이 미정의라는 사실입니다. 교훈 2 고객 협업: 규격 정의에 참여한 공급자가 선점했습니다. Solidigm은 61TB QLC를 12개월 먼저 출시했고, HBM4는 NVIDIA와 규격을 공동 정의한 SK hynix가 주도권을 확보했습니다. 교훈 3 의사결정 시점: 직전 다운턴의 결정이 다음 다운턴의 초기 조건입니다. DT19의 무감산 성공이 DT23 국면 오판으로, HBM 조직 축소가 주도권 상실로 이어졌고, 차기 전환점은 2027년 하반기 가격 정상화 국면입니다. 각 교훈 끝의 번호는 이 덱에서 그 교훈을 받는 장입니다. 가운데 패널, 지금 요구의 이동. 구매 기준은 TB당 TCO(원가·전력·밀도)에서 GPU당 컨텍스트 용량·토큰당 비용으로, 드라이브 용량은 61TB(2023)에서 245TB(2025, 다이 8배)로, 요구 DWPD는 읽기 중심 0.3~0.6에서 KV 캐시 쓰기 집약 1~3으로 이동했습니다. 세 국면의 구매 기준은 일관되게 TB당 TCO였고, 바뀐 것은 쓰기 비중과 용량입니다. 오른쪽 패널, 문제. 동급 용량으로 비교하면 61TB QLC 정격 0.58~1.0(P5336·6550 ION), 245TB QLC 0.3(LC9)과 KV 캐시 계층 TLC 1~3(CM9) 사이에는 2~10배 격차가 있습니다. 최저 정격 0.075와 3을 짝지은 극단 조합만 40배입니다. KV 캐시의 쓰기 강도 자체도 프레임워크에 따라 크게 달라(CHEOPS 2025: 읽기 2.0GiB/s vs 쓰기 11MiB/s) 실측이 필요합니다. 수요 모델은 QLC 비트 2025년 대비 2030년 10배, 2030년 추론 캐시 계층 수요 350EB입니다. 그래서 고용량 QLC에서 DWPD를 높일 해법이 필요합니다. 고용량화는 두 축을 낳습니다. 다이 8배가 만드는 신뢰성 축은 2장에서 SSD 내부 설계로 충족되고, DWPD 격차는 3장에서 어느 계층이 충족할 수 있는지를 봅니다. 송용호 AX/PI센터장의 인용은 그 답이 고객 시스템의 이해에서 나와야 함을 시사합니다. 근거는 위키 qlc-ssd-market.md §3.4·§3.5, 수요 모델은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 고용량화가 낳는 첫째 축입니다. 3장의 내구성 축과 구조는 같지만 해결 주체가 다릅니다. 요구는 JESD218 기능 고장률 FFR 3% 이하로 고정인데, SSD당 NAND 다이 수는 S3700 800GB 128개(2012)에서 Kioxia LC9 245TB 1,024개(2025, 2Tb 다이 32단 스택 32패키지)로 8배 늘었습니다. 보호가 없으면 SSD 고장률은 다이 수 N에 비례하므로, 같은 FFR을 지키기 위한 다이 고장률 상한은 1−0.97^(1/N)로 128다이에서 2.4×10⁻⁴, 1,024다이에서 3.0×10⁻⁵입니다. 8배 엄격해진 것입니다. 칩 면적이 커질수록 수율이 떨어지는 포아송 모델과 같은 구조이며, 다이 고장률 개선은 기술적 한계에 접근하고 있습니다. 해법은 다이가 아니라 SSD 계층에 있습니다. 단일 다이 고장을 허용하면 상한이 p에서 p² 차수로 완화되기 때문입니다(독립 고장 모델, 오른쪽 차트의 점선). 첫째, 다이 패리티: 슈퍼페이지를 여러 다이에 걸쳐 구성하고 패리티 다이에 XOR를 저장해 단일 다이 고장을 복구합니다(Micron RAIN, Cai 외 논문). 비용은 패리티 다이 용량이며 다이 수가 늘수록 스트라이프 설계를 재최적화해야 합니다. 둘째, 여분 다이·다이 은퇴·감량 운영: 고장 다이를 감지해 데이터를 재배치하고 고장 다이를 제외한 채 운영합니다. 삼성 PM1733의 Fail-in-Place가 플레인 4GB·다이 8GB 감량 운영으로 이를 상용화했습니다. 비용은 예비 용량과 감량 시 고객 용량 계약 조건입니다. 셋째, 텔레메트리·사전 예측: 다이별 RBER 추이·XOR 복구 횟수·리드 리트라이로 징후를 감지해 사전 은퇴시킵니다. OCP SMART Cloud Health 로그의 XOR 복구 카운트가 표준 필드입니다. 호스트·플랫폼은 관측과 수용만 합니다. SSD가 노출한 지표를 관측하고(OCP SMART C0), 감량 운영을 플랫폼이 수용하며(Microsoft Hyrax), 드라이브 간 소거 부호가 SSD 단위 고장을 흡수합니다. 다이 고장의 해결 주체는 SSD이고 호스트 협력은 규격에 한정됩니다. 삼성 과제는 1,024다이급에서 패리티·예비 비율을 FFR과 용량 오버헤드 사이에서 재최적화하고, FIP 감량 정책과 텔레메트리 필드를 OCP에 규격으로 제안하며, 다이 고장 예측 모델을 6장의 수명 보증과 연결하는 것입니다. 결론: 이 축은 SSD 내부에서 충족되고 호스트에는 지표만 제공합니다. 그러나 둘째 축 DWPD는 SSD 내부에서 충족되지 않았고, 어느 계층이 충족할 수 있는지가 3장입니다. 근거는 소스 §9 F41~F47, 고장률 상한은 독립 고장 모델입니다.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단계(요구 → 단품 지표 → SSD 계층의 보상 → 호스트·시스템 계층의 보상), 행은 내구성 축입니다. 산식 DWPD = P/E × (1+OP) ÷ WAF ÷ 365 × 년의 각 항은 결정 주체가 열과 대응합니다. 요구: 추론 캐시 계층 제품은 DWPD 1~3(TLC), UBER는 JESD218 기준으로 고정입니다. 단품: P/E 사이클은 SLC 30K~100K에서 QLC 100~1K로 100배 감소, RBER은 약 백만 배 상승했고 셀은 시간에 따라 변하는 산포를 단독으로 보정하지 못합니다. SSD 계층: 1단계 컨트롤러 ECC(1비트/512B → LDPC 120비트/KB, 60배)는 UBER 요구를 충족해 완결됐습니다. 2단계 SSD 단독 워크로드 최적화(2014~2019: Multi-stream·AutoStream·FTL 핫/콜드 추정·NVMe IO 결정성)는 QoS·성능은 개선했으나 데이터 수명을 SSD가 감지할 수 없어 실 워크로드 WAF는 3 수준에 머물렀고, 정격 DWPD는 17에서 0.4로 내려왔습니다. 호스트·시스템 계층: 3단계 호스트 공동 설계는 호스트가 데이터 수명을 지정해 WAF를 약 3에서 약 1로 낮춥니다. 범용 랜덤 워크로드 실측(삼성·NVM Express, 50% 사용률)과 CacheLib 실측(3.22 → 1.03)이 근거이고, 데이터베이스 영역에서는 호스트 쓰기 패턴만으로 SSD WAF 1을 보장한 VLDB 2026 연구가 있습니다. 다만 KV 캐시 워크로드의 FDP WAF 실측은 공개 문헌에 없으므로 이 장의 주장은 검증할 가설이며, 4장 Phase 2 실측이 그 검증입니다. 하단 격차 축소 변수 스트립이 이 장의 핵심 정정입니다. 호스트 배치 하나로는 격차가 해소되지 않습니다. WAF 변수는 유효 DWPD 약 2.9배이고, 동급 비교 격차는 2~10배이므로 다이 세대(P/E), OP, SLC 캐시·쓰기 정형, 보증연수·TBW 기준, 워크로드 재정의(어드미션·TLC 혼합 계층)와 결합해야 요구에 도달합니다. 이 축들은 모두 병행 중이며 본 보고는 호스트 축만 다룹니다. 호스트·고객 쪽 변수가 다수라는 점이 공동 설계의 근거입니다. 결론: 호스트 공동 설계는 QLC DWPD의 잔여 변수이며, 다른 축과 결합해 격차를 줄입니다. 신뢰성 축(다이 수·고장률)은 2장에서 보였듯 SSD 내부에서 충족되지만, DWPD 축의 잔여 변수 WAF는 SSD 밖 호스트가 결정합니다. 그래서 고객 협업과 새로운 역량이 필요하고, 그 역량이 4장입니다. 근거 등급은 보고서 부록 A F28~F54에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RUH는 2~8개로 200개 이상에 미달하며 DWPD가 미공개입니다.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4장의 3단계에 진입하는 수단을 고객 유형별로 나누고, 개발실 내부에서 실행 가능한 범위만 담았습니다. 리드의 인용은 송용호 AX/PI센터장의 발언입니다. FDE 상주는 모든 고객에 적용하지 않습니다. 조건은 세 가지입니다. 트레이스와 KV 수명 정책 접근을 허용하는가, 캐시 관리자 코드를 자체 운영하는가, 물량과 규격 파급력이 있는가. 이 조건을 만족하는 AI 랩(Anthropic·OpenAI)과 NVIDIA 생태계(CMX·Dynamo KVBM·NIXL)에 Pod 3~5명을 집중합니다. AI 랩은 전략적 협약의 공동 설계 조항으로 접근하며 Micron↔Anthropic이 선례이고, 캐시 관리자 정책을 함께 정의해 수명 보증 레퍼런스를 확보합니다. NVIDIA 생태계는 CMX 첫 공급 관계를 활용해 KVBM 플러그인을 메인라인에 머지하고 생태계 기본 디바이스가 됩니다. 하이퍼스케일러는 보안·중립성 때문에 내부 코드 상주가 불가하므로 OCP 규격과 업스트림(CacheLib·XFS·커널) 채널로 협업합니다. OEM·네오클라우드는 자체 캐시 스택이 없으므로 레퍼런스 스택(vLLM + LMCache + 삼성 QLC)과 공용 TCO 모델로 확산합니다. 개발실 내부 실행은 별도 투자 없이 개발 자원 재배치로 합니다. 조직: 시스템 소프트웨어 조직 강화, 개발실 소속 Co-Design Pod, 미주 법인 협업. 인사: 고객 코드를 읽고 고칠 수 있는 시스템 SW 전문가 채용·양성(정원 내), 본사 엔지니어 상주 로테이션, 성과 평가는 머지·실측 공개·디자인인. 문화: 오픈소스 메인테이너 배출, 업스트림 우선, KV 캐시 실측 업계 최초 공개. 자회사 설립, 별도 보상 체계, 지분 참여, 결정 요청은 위키에만 두고 덱에서는 제외했습니다. 단계별 통과 조건은 90일(등대 고객 트레이스 확보·KV 캐시 실측 공개·플러그인 PR), 12개월(메인라인 머지·유효 DWPD 1 이상 실증·조건부 보증 초안), 2027년 상반기(디자인인 1사·협약 공동 설계 조항 제안·레퍼런스 스택 공개)이며 각 단계의 증명이 다음 단계의 승인 근거입니다. 판돈은 락인으로 얻는 점유율입니다. 수요 모델에서 2030년 추론 캐시 계층 350EB 중 QLC는 호스트 협력이 성립할 때 조건부 상방 175EB(50%)이고, 성립하지 않으면 TLC가 유지됩니다. 디자인인 1사당 점유율 변화는 사내 수치로 확인합니다. 비용은 Pod 인력 3~5명 × 1~2사 재배치와 정원 내 채용이며 별도 투자가 없습니다. 실행의 마지막 리스크인 수명 보증·SLA가 6장입니다.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6장은 수명 보증과 SLA 리스크입니다. 4장·5장의 전략은 고객 시스템 위에서 유효 DWPD를 보증하는 수익 모델을 전제하는데, 그 보증은 워크로드 변화 리스크를 삼성이 떠안는 구조입니다. 관행은 5년 또는 TBW·DWPD 선도달 보증이고, 정격 DWPD는 WAF 약 3(랜덤 4KB) 기준으로 산정됩니다. 호스트 배치로 WAF가 1에 가까우면 유효 DWPD는 정격의 약 3배가 되지만, WAF가 오르면 그대로 내려갑니다. 왼쪽 차트에서 정격 0.58(61TB QLC)은 WAF 1.74에서 보증선 1.0 아래로 내려가고, 정격 0.3(245TB)은 WAF 1.0에서도 0.9에 그칩니다. 리스크 시나리오는 세 가지입니다. 첫째, 워크로드 변화: 퇴거 정책·프리픽스 재사용률·세션 길이가 바뀌면 데이터 수명 분포가 바뀌어 WAF가 오릅니다. KV 캐시 오프로드의 쓰기 강도 자체가 프레임워크에 따라 크게 다릅니다(CHEOPS 2025). 둘째, 오분류·RUH 간섭: FAST'26 WARP는 수명 오분류와 RUH 간 간섭이 격리를 깨면 다른 핸들의 WAF까지 오른다고 보고합니다. 셋째, 고객 스택 업데이트: 캐시 관리자나 I/O 라이브러리 버전이 바뀌어 배치 힌트가 사라지면 정격 WAF 3으로 회귀합니다. 결과는 보증 기간 내 TBW 조기 소진과 RMA·교체 비용입니다. 설계 원칙은 다섯 가지입니다. 첫째, 보증 기준은 관행대로 TBW·물리 매체 기록량 선도달로 두고 유효 DWPD는 부가 표기로만 씁니다. 둘째, 유효 DWPD는 WAF 밴드별 조건부 등급으로 표기합니다. 셋째, OCP SMART C0의 물리 매체 기록량과 호스트 기록량으로 양측이 같은 WAF를 관측하고 분기 실측 리포트를 계약 부속으로 둡니다. 넷째, RUH 매핑 가이드와 캐시 관리자 정책을 준수할 때만 유효 DWPD를 적용하고 미준수·힌트 손실 시 정격 기준으로 자동 복귀합니다. 다섯째, WAF 초과가 지속되면 등급 재조정 또는 감량 운영으로 대응하며 무상 교체가 아니라 조건 재설정입니다. 이 설계는 5장의 텔레메트리·실측 공개 실행 항목과 2장의 감량 운영 정책을 계약 언어로 옮긴 것입니다. 하단 요약 체인은 6장의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54680"/>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44952"/>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310128"/>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44952"/>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310128"/>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380598" y="3044952"/>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106278" y="3310128"/>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11175"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9" name="Oval 48"/>
          <p:cNvSpPr/>
          <p:nvPr/>
        </p:nvSpPr>
        <p:spPr>
          <a:xfrm>
            <a:off x="7376208"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3874"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69200"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52" name="Oval 51"/>
          <p:cNvSpPr/>
          <p:nvPr/>
        </p:nvSpPr>
        <p:spPr>
          <a:xfrm>
            <a:off x="8158349"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26015"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51341"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5" name="Oval 54"/>
          <p:cNvSpPr/>
          <p:nvPr/>
        </p:nvSpPr>
        <p:spPr>
          <a:xfrm>
            <a:off x="9722632"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79029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15624"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8" name="Oval 57"/>
          <p:cNvSpPr/>
          <p:nvPr/>
        </p:nvSpPr>
        <p:spPr>
          <a:xfrm>
            <a:off x="12134234"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201899"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27226"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61" name="Oval 60"/>
          <p:cNvSpPr/>
          <p:nvPr/>
        </p:nvSpPr>
        <p:spPr>
          <a:xfrm>
            <a:off x="16827081"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89474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4522793" y="3694176"/>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4" name="Rectangle 63"/>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7" name="Rectangle 66"/>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4608575"/>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2년</a:t>
            </a:r>
          </a:p>
        </p:txBody>
      </p:sp>
      <p:sp>
        <p:nvSpPr>
          <p:cNvPr id="69" name="TextBox 68"/>
          <p:cNvSpPr txBox="1"/>
          <p:nvPr/>
        </p:nvSpPr>
        <p:spPr>
          <a:xfrm>
            <a:off x="2167128" y="4663439"/>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고객 규격·코드 신호가 발주·출하에 약 2년 선행</a:t>
            </a:r>
          </a:p>
          <a:p>
            <a:pPr algn="l">
              <a:lnSpc>
                <a:spcPct val="106000"/>
              </a:lnSpc>
            </a:pPr>
            <a:r>
              <a:rPr sz="900" b="0">
                <a:solidFill>
                  <a:srgbClr val="555555"/>
                </a:solidFill>
                <a:latin typeface="Arial"/>
                <a:ea typeface="Arial"/>
              </a:rPr>
              <a:t>총량 지표는 다운턴을, 고객 규격은 차기 요구를 보였다</a:t>
            </a:r>
          </a:p>
        </p:txBody>
      </p:sp>
      <p:sp>
        <p:nvSpPr>
          <p:cNvPr id="70" name="TextBox 69"/>
          <p:cNvSpPr txBox="1"/>
          <p:nvPr/>
        </p:nvSpPr>
        <p:spPr>
          <a:xfrm>
            <a:off x="4517136" y="4828031"/>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규격·코드</a:t>
            </a:r>
          </a:p>
        </p:txBody>
      </p:sp>
      <p:sp>
        <p:nvSpPr>
          <p:cNvPr id="71" name="TextBox 70"/>
          <p:cNvSpPr txBox="1"/>
          <p:nvPr/>
        </p:nvSpPr>
        <p:spPr>
          <a:xfrm>
            <a:off x="4517136" y="5352287"/>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발주·출하</a:t>
            </a:r>
          </a:p>
        </p:txBody>
      </p:sp>
      <p:sp>
        <p:nvSpPr>
          <p:cNvPr id="72" name="Rectangle 71"/>
          <p:cNvSpPr/>
          <p:nvPr/>
        </p:nvSpPr>
        <p:spPr>
          <a:xfrm>
            <a:off x="5230368" y="4937759"/>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230368" y="5462015"/>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ight Arrow 73"/>
          <p:cNvSpPr/>
          <p:nvPr/>
        </p:nvSpPr>
        <p:spPr>
          <a:xfrm>
            <a:off x="5611680" y="5099303"/>
            <a:ext cx="909283"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611680" y="5099303"/>
            <a:ext cx="836131" cy="201168"/>
          </a:xfrm>
          <a:prstGeom prst="rect">
            <a:avLst/>
          </a:prstGeom>
          <a:noFill/>
        </p:spPr>
        <p:txBody>
          <a:bodyPr wrap="square" anchor="ctr" lIns="0" rIns="0" tIns="0" bIns="0">
            <a:spAutoFit/>
          </a:bodyPr>
          <a:lstStyle/>
          <a:p>
            <a:pPr algn="ctr">
              <a:lnSpc>
                <a:spcPct val="112000"/>
              </a:lnSpc>
            </a:pPr>
            <a:r>
              <a:rPr sz="900" b="1">
                <a:solidFill>
                  <a:srgbClr val="1A1A1A"/>
                </a:solidFill>
                <a:latin typeface="Arial"/>
                <a:ea typeface="Arial"/>
              </a:rPr>
              <a:t>≈2년</a:t>
            </a:r>
          </a:p>
        </p:txBody>
      </p:sp>
      <p:sp>
        <p:nvSpPr>
          <p:cNvPr id="76" name="Oval 75"/>
          <p:cNvSpPr/>
          <p:nvPr/>
        </p:nvSpPr>
        <p:spPr>
          <a:xfrm>
            <a:off x="5529384" y="4855463"/>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28800" y="4645151"/>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'22-12 배치 표준 비준</a:t>
            </a:r>
          </a:p>
        </p:txBody>
      </p:sp>
      <p:sp>
        <p:nvSpPr>
          <p:cNvPr id="78" name="Oval 77"/>
          <p:cNvSpPr/>
          <p:nvPr/>
        </p:nvSpPr>
        <p:spPr>
          <a:xfrm>
            <a:off x="6438667" y="5379720"/>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38083" y="5553455"/>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'24 비트 출하 30EB</a:t>
            </a:r>
          </a:p>
        </p:txBody>
      </p:sp>
      <p:sp>
        <p:nvSpPr>
          <p:cNvPr id="80" name="Oval 79"/>
          <p:cNvSpPr/>
          <p:nvPr/>
        </p:nvSpPr>
        <p:spPr>
          <a:xfrm>
            <a:off x="7670599" y="4855463"/>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81295" y="5029199"/>
            <a:ext cx="1508760" cy="329184"/>
          </a:xfrm>
          <a:prstGeom prst="rect">
            <a:avLst/>
          </a:prstGeom>
          <a:noFill/>
        </p:spPr>
        <p:txBody>
          <a:bodyPr wrap="square" anchor="t" lIns="0" rIns="0" tIns="0" bIns="0">
            <a:spAutoFit/>
          </a:bodyPr>
          <a:lstStyle/>
          <a:p>
            <a:pPr algn="r">
              <a:lnSpc>
                <a:spcPct val="100000"/>
              </a:lnSpc>
            </a:pPr>
            <a:r>
              <a:rPr sz="875" b="1">
                <a:solidFill>
                  <a:srgbClr val="1428A0"/>
                </a:solidFill>
                <a:latin typeface="Arial"/>
                <a:ea typeface="Arial"/>
              </a:rPr>
              <a:t>'26 KV 캐시 규격 미정의</a:t>
            </a:r>
          </a:p>
          <a:p>
            <a:pPr algn="r">
              <a:lnSpc>
                <a:spcPct val="100000"/>
              </a:lnSpc>
            </a:pPr>
            <a:r>
              <a:rPr sz="875" b="1">
                <a:solidFill>
                  <a:srgbClr val="1428A0"/>
                </a:solidFill>
                <a:latin typeface="Arial"/>
                <a:ea typeface="Arial"/>
              </a:rPr>
              <a:t>= 선점 구간</a:t>
            </a:r>
          </a:p>
        </p:txBody>
      </p:sp>
      <p:sp>
        <p:nvSpPr>
          <p:cNvPr id="82" name="Oval 81"/>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3</a:t>
            </a:r>
          </a:p>
        </p:txBody>
      </p:sp>
      <p:sp>
        <p:nvSpPr>
          <p:cNvPr id="84" name="Rectangle 83"/>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60120" y="5864352"/>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12개월</a:t>
            </a:r>
          </a:p>
        </p:txBody>
      </p:sp>
      <p:sp>
        <p:nvSpPr>
          <p:cNvPr id="86" name="TextBox 85"/>
          <p:cNvSpPr txBox="1"/>
          <p:nvPr/>
        </p:nvSpPr>
        <p:spPr>
          <a:xfrm>
            <a:off x="2167128" y="5919215"/>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규격 정의에 참여한 공급자가 선점</a:t>
            </a:r>
          </a:p>
          <a:p>
            <a:pPr algn="l">
              <a:lnSpc>
                <a:spcPct val="106000"/>
              </a:lnSpc>
            </a:pPr>
            <a:r>
              <a:rPr sz="900" b="0">
                <a:solidFill>
                  <a:srgbClr val="555555"/>
                </a:solidFill>
                <a:latin typeface="Arial"/>
                <a:ea typeface="Arial"/>
              </a:rPr>
              <a:t>다운턴 극복의 결정 변수는 방어가 아니라 요구 적중</a:t>
            </a:r>
          </a:p>
        </p:txBody>
      </p:sp>
      <p:sp>
        <p:nvSpPr>
          <p:cNvPr id="87" name="TextBox 86"/>
          <p:cNvSpPr txBox="1"/>
          <p:nvPr/>
        </p:nvSpPr>
        <p:spPr>
          <a:xfrm>
            <a:off x="4517136" y="5955791"/>
            <a:ext cx="3587739"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61TB QLC 출시 · OCP '22-10 예고 기준</a:t>
            </a:r>
          </a:p>
        </p:txBody>
      </p:sp>
      <p:sp>
        <p:nvSpPr>
          <p:cNvPr id="88" name="TextBox 87"/>
          <p:cNvSpPr txBox="1"/>
          <p:nvPr/>
        </p:nvSpPr>
        <p:spPr>
          <a:xfrm>
            <a:off x="4517136" y="6193535"/>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Solidigm</a:t>
            </a:r>
          </a:p>
        </p:txBody>
      </p:sp>
      <p:sp>
        <p:nvSpPr>
          <p:cNvPr id="89" name="Rectangle 88"/>
          <p:cNvSpPr/>
          <p:nvPr/>
        </p:nvSpPr>
        <p:spPr>
          <a:xfrm>
            <a:off x="5157216" y="6193535"/>
            <a:ext cx="1263282"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93650" y="6193535"/>
            <a:ext cx="1611225" cy="237744"/>
          </a:xfrm>
          <a:prstGeom prst="rect">
            <a:avLst/>
          </a:prstGeom>
          <a:noFill/>
        </p:spPr>
        <p:txBody>
          <a:bodyPr wrap="square" anchor="ctr" lIns="0" rIns="0" tIns="0" bIns="0">
            <a:spAutoFit/>
          </a:bodyPr>
          <a:lstStyle/>
          <a:p>
            <a:pPr algn="l">
              <a:lnSpc>
                <a:spcPct val="112000"/>
              </a:lnSpc>
            </a:pPr>
            <a:r>
              <a:rPr sz="875" b="1">
                <a:solidFill>
                  <a:srgbClr val="1428A0"/>
                </a:solidFill>
                <a:latin typeface="Arial"/>
                <a:ea typeface="Arial"/>
              </a:rPr>
              <a:t>'23-07 · 규격 정의 참여</a:t>
            </a:r>
          </a:p>
        </p:txBody>
      </p:sp>
      <p:sp>
        <p:nvSpPr>
          <p:cNvPr id="91" name="TextBox 90"/>
          <p:cNvSpPr txBox="1"/>
          <p:nvPr/>
        </p:nvSpPr>
        <p:spPr>
          <a:xfrm>
            <a:off x="4517136" y="6504431"/>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삼성</a:t>
            </a:r>
          </a:p>
        </p:txBody>
      </p:sp>
      <p:sp>
        <p:nvSpPr>
          <p:cNvPr id="92" name="Rectangle 91"/>
          <p:cNvSpPr/>
          <p:nvPr/>
        </p:nvSpPr>
        <p:spPr>
          <a:xfrm>
            <a:off x="5157216" y="6504431"/>
            <a:ext cx="294765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230368" y="6504431"/>
            <a:ext cx="2801355" cy="237744"/>
          </a:xfrm>
          <a:prstGeom prst="rect">
            <a:avLst/>
          </a:prstGeom>
          <a:noFill/>
        </p:spPr>
        <p:txBody>
          <a:bodyPr wrap="square" anchor="ctr" lIns="0" rIns="0" tIns="0" bIns="0">
            <a:spAutoFit/>
          </a:bodyPr>
          <a:lstStyle/>
          <a:p>
            <a:pPr algn="r">
              <a:lnSpc>
                <a:spcPct val="112000"/>
              </a:lnSpc>
            </a:pPr>
            <a:r>
              <a:rPr sz="875" b="1">
                <a:solidFill>
                  <a:srgbClr val="555555"/>
                </a:solidFill>
                <a:latin typeface="Arial"/>
                <a:ea typeface="Arial"/>
              </a:rPr>
              <a:t>'24-07 · 12개월 후발</a:t>
            </a:r>
          </a:p>
        </p:txBody>
      </p:sp>
      <p:sp>
        <p:nvSpPr>
          <p:cNvPr id="94" name="TextBox 93"/>
          <p:cNvSpPr txBox="1"/>
          <p:nvPr/>
        </p:nvSpPr>
        <p:spPr>
          <a:xfrm>
            <a:off x="4517136" y="6833615"/>
            <a:ext cx="3587739" cy="329184"/>
          </a:xfrm>
          <a:prstGeom prst="rect">
            <a:avLst/>
          </a:prstGeom>
          <a:noFill/>
        </p:spPr>
        <p:txBody>
          <a:bodyPr wrap="square" anchor="t" lIns="0" rIns="0" tIns="0" bIns="0">
            <a:spAutoFit/>
          </a:bodyPr>
          <a:lstStyle/>
          <a:p>
            <a:pPr algn="l">
              <a:lnSpc>
                <a:spcPct val="100000"/>
              </a:lnSpc>
            </a:pPr>
            <a:r>
              <a:rPr sz="875" b="1">
                <a:solidFill>
                  <a:srgbClr val="1A1A1A"/>
                </a:solidFill>
                <a:latin typeface="Arial"/>
                <a:ea typeface="Arial"/>
              </a:rPr>
              <a:t>HBM4  </a:t>
            </a:r>
            <a:r>
              <a:rPr sz="875" b="0">
                <a:solidFill>
                  <a:srgbClr val="555555"/>
                </a:solidFill>
                <a:latin typeface="Arial"/>
                <a:ea typeface="Arial"/>
              </a:rPr>
              <a:t>SK hynix ↔ NVIDIA 규격 공동 정의 → 주도권 · 삼성 후발</a:t>
            </a:r>
          </a:p>
        </p:txBody>
      </p:sp>
      <p:sp>
        <p:nvSpPr>
          <p:cNvPr id="95" name="Oval 94"/>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97" name="Rectangle 96"/>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60120" y="7120128"/>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2027H2</a:t>
            </a:r>
          </a:p>
        </p:txBody>
      </p:sp>
      <p:sp>
        <p:nvSpPr>
          <p:cNvPr id="99" name="TextBox 98"/>
          <p:cNvSpPr txBox="1"/>
          <p:nvPr/>
        </p:nvSpPr>
        <p:spPr>
          <a:xfrm>
            <a:off x="2167128" y="7174992"/>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 시점</a:t>
            </a:r>
          </a:p>
          <a:p>
            <a:pPr algn="l">
              <a:lnSpc>
                <a:spcPct val="106000"/>
              </a:lnSpc>
            </a:pPr>
            <a:r>
              <a:rPr sz="975" b="1">
                <a:solidFill>
                  <a:srgbClr val="1A1A1A"/>
                </a:solidFill>
                <a:latin typeface="Arial"/>
                <a:ea typeface="Arial"/>
              </a:rPr>
              <a:t>직전 다운턴의 결정이 다음 다운턴의 초기 조건</a:t>
            </a:r>
          </a:p>
          <a:p>
            <a:pPr algn="l">
              <a:lnSpc>
                <a:spcPct val="106000"/>
              </a:lnSpc>
            </a:pPr>
            <a:r>
              <a:rPr sz="900" b="0">
                <a:solidFill>
                  <a:srgbClr val="555555"/>
                </a:solidFill>
                <a:latin typeface="Arial"/>
                <a:ea typeface="Arial"/>
              </a:rPr>
              <a:t>차기 전환점은 2027년 하반기 가격 정상화 국면</a:t>
            </a:r>
          </a:p>
        </p:txBody>
      </p:sp>
      <p:sp>
        <p:nvSpPr>
          <p:cNvPr id="100" name="Rectangle 99"/>
          <p:cNvSpPr/>
          <p:nvPr/>
        </p:nvSpPr>
        <p:spPr>
          <a:xfrm>
            <a:off x="4517136" y="7229856"/>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544568" y="7229856"/>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무감산 성공</a:t>
            </a:r>
          </a:p>
        </p:txBody>
      </p:sp>
      <p:sp>
        <p:nvSpPr>
          <p:cNvPr id="102" name="Right Arrow 101"/>
          <p:cNvSpPr/>
          <p:nvPr/>
        </p:nvSpPr>
        <p:spPr>
          <a:xfrm>
            <a:off x="6210421" y="7284719"/>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66453" y="7229856"/>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493885" y="7229856"/>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국면 오판</a:t>
            </a:r>
          </a:p>
        </p:txBody>
      </p:sp>
      <p:sp>
        <p:nvSpPr>
          <p:cNvPr id="105" name="Rectangle 104"/>
          <p:cNvSpPr/>
          <p:nvPr/>
        </p:nvSpPr>
        <p:spPr>
          <a:xfrm>
            <a:off x="4517136" y="7559039"/>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44568" y="7559039"/>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HBM 조직 축소</a:t>
            </a:r>
          </a:p>
        </p:txBody>
      </p:sp>
      <p:sp>
        <p:nvSpPr>
          <p:cNvPr id="107" name="Right Arrow 106"/>
          <p:cNvSpPr/>
          <p:nvPr/>
        </p:nvSpPr>
        <p:spPr>
          <a:xfrm>
            <a:off x="6210421" y="7613904"/>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66453" y="7559039"/>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93885" y="7559039"/>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주도권 상실</a:t>
            </a:r>
          </a:p>
        </p:txBody>
      </p:sp>
      <p:sp>
        <p:nvSpPr>
          <p:cNvPr id="110" name="Rectangle 109"/>
          <p:cNvSpPr/>
          <p:nvPr/>
        </p:nvSpPr>
        <p:spPr>
          <a:xfrm>
            <a:off x="4517136"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544568"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2026 고객 시스템 진입</a:t>
            </a:r>
          </a:p>
        </p:txBody>
      </p:sp>
      <p:sp>
        <p:nvSpPr>
          <p:cNvPr id="112" name="Right Arrow 111"/>
          <p:cNvSpPr/>
          <p:nvPr/>
        </p:nvSpPr>
        <p:spPr>
          <a:xfrm>
            <a:off x="6210421" y="7943087"/>
            <a:ext cx="201168" cy="1371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466453"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93885"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2027H2 TCO 보증 수익</a:t>
            </a:r>
          </a:p>
        </p:txBody>
      </p:sp>
      <p:sp>
        <p:nvSpPr>
          <p:cNvPr id="115" name="Oval 114"/>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117" name="Rectangle 116"/>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요구의 이동</a:t>
            </a:r>
            <a:r>
              <a:rPr sz="1050" b="0">
                <a:solidFill>
                  <a:srgbClr val="8A8A8A"/>
                </a:solidFill>
                <a:latin typeface="Arial"/>
                <a:ea typeface="Arial"/>
              </a:rPr>
              <a:t>   2024~2026</a:t>
            </a:r>
          </a:p>
        </p:txBody>
      </p:sp>
      <p:sp>
        <p:nvSpPr>
          <p:cNvPr id="120" name="Rectangle 119"/>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19859" y="4626864"/>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a:t>
            </a:r>
          </a:p>
        </p:txBody>
      </p:sp>
      <p:sp>
        <p:nvSpPr>
          <p:cNvPr id="122" name="Rectangle 121"/>
          <p:cNvSpPr/>
          <p:nvPr/>
        </p:nvSpPr>
        <p:spPr>
          <a:xfrm>
            <a:off x="9119859" y="4846320"/>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193011" y="4892040"/>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TB당 TCO</a:t>
            </a:r>
          </a:p>
          <a:p>
            <a:pPr algn="l">
              <a:lnSpc>
                <a:spcPct val="100000"/>
              </a:lnSpc>
            </a:pPr>
            <a:r>
              <a:rPr sz="850" b="0">
                <a:solidFill>
                  <a:srgbClr val="8A8A8A"/>
                </a:solidFill>
                <a:latin typeface="Arial"/>
                <a:ea typeface="Arial"/>
              </a:rPr>
              <a:t>원가 · 전력 · 밀도</a:t>
            </a:r>
          </a:p>
        </p:txBody>
      </p:sp>
      <p:sp>
        <p:nvSpPr>
          <p:cNvPr id="124" name="Right Arrow 123"/>
          <p:cNvSpPr/>
          <p:nvPr/>
        </p:nvSpPr>
        <p:spPr>
          <a:xfrm>
            <a:off x="10363443" y="5120640"/>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619475" y="4846320"/>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692627" y="4892040"/>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GPU당 컨텍스트 용량 · 토큰당 비용</a:t>
            </a:r>
          </a:p>
          <a:p>
            <a:pPr algn="l">
              <a:lnSpc>
                <a:spcPct val="100000"/>
              </a:lnSpc>
            </a:pPr>
            <a:r>
              <a:rPr sz="850" b="0">
                <a:solidFill>
                  <a:srgbClr val="555555"/>
                </a:solidFill>
                <a:latin typeface="Arial"/>
                <a:ea typeface="Arial"/>
              </a:rPr>
              <a:t>추론 캐시 계층</a:t>
            </a:r>
          </a:p>
        </p:txBody>
      </p:sp>
      <p:sp>
        <p:nvSpPr>
          <p:cNvPr id="127" name="TextBox 126"/>
          <p:cNvSpPr txBox="1"/>
          <p:nvPr/>
        </p:nvSpPr>
        <p:spPr>
          <a:xfrm>
            <a:off x="9119859" y="5705856"/>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드라이브 용량</a:t>
            </a:r>
          </a:p>
        </p:txBody>
      </p:sp>
      <p:sp>
        <p:nvSpPr>
          <p:cNvPr id="128" name="Rectangle 127"/>
          <p:cNvSpPr/>
          <p:nvPr/>
        </p:nvSpPr>
        <p:spPr>
          <a:xfrm>
            <a:off x="9119859" y="5925312"/>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193011" y="5971032"/>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61TB</a:t>
            </a:r>
          </a:p>
          <a:p>
            <a:pPr algn="l">
              <a:lnSpc>
                <a:spcPct val="100000"/>
              </a:lnSpc>
            </a:pPr>
            <a:r>
              <a:rPr sz="850" b="0">
                <a:solidFill>
                  <a:srgbClr val="8A8A8A"/>
                </a:solidFill>
                <a:latin typeface="Arial"/>
                <a:ea typeface="Arial"/>
              </a:rPr>
              <a:t>2023 · 1Tb 다이</a:t>
            </a:r>
          </a:p>
        </p:txBody>
      </p:sp>
      <p:sp>
        <p:nvSpPr>
          <p:cNvPr id="130" name="Right Arrow 129"/>
          <p:cNvSpPr/>
          <p:nvPr/>
        </p:nvSpPr>
        <p:spPr>
          <a:xfrm>
            <a:off x="10363443" y="6199632"/>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619475" y="5925312"/>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692627" y="5971032"/>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245TB</a:t>
            </a:r>
          </a:p>
          <a:p>
            <a:pPr algn="l">
              <a:lnSpc>
                <a:spcPct val="100000"/>
              </a:lnSpc>
            </a:pPr>
            <a:r>
              <a:rPr sz="850" b="0">
                <a:solidFill>
                  <a:srgbClr val="555555"/>
                </a:solidFill>
                <a:latin typeface="Arial"/>
                <a:ea typeface="Arial"/>
              </a:rPr>
              <a:t>2025 · 다이 8배 ↑</a:t>
            </a:r>
          </a:p>
        </p:txBody>
      </p:sp>
      <p:sp>
        <p:nvSpPr>
          <p:cNvPr id="133" name="TextBox 132"/>
          <p:cNvSpPr txBox="1"/>
          <p:nvPr/>
        </p:nvSpPr>
        <p:spPr>
          <a:xfrm>
            <a:off x="9119859" y="6784848"/>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 DWPD</a:t>
            </a:r>
          </a:p>
        </p:txBody>
      </p:sp>
      <p:sp>
        <p:nvSpPr>
          <p:cNvPr id="134" name="Rectangle 133"/>
          <p:cNvSpPr/>
          <p:nvPr/>
        </p:nvSpPr>
        <p:spPr>
          <a:xfrm>
            <a:off x="9119859" y="7004304"/>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193011" y="7050024"/>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0.3~0.6</a:t>
            </a:r>
          </a:p>
          <a:p>
            <a:pPr algn="l">
              <a:lnSpc>
                <a:spcPct val="100000"/>
              </a:lnSpc>
            </a:pPr>
            <a:r>
              <a:rPr sz="850" b="0">
                <a:solidFill>
                  <a:srgbClr val="8A8A8A"/>
                </a:solidFill>
                <a:latin typeface="Arial"/>
                <a:ea typeface="Arial"/>
              </a:rPr>
              <a:t>읽기 중심 워크로드</a:t>
            </a:r>
          </a:p>
        </p:txBody>
      </p:sp>
      <p:sp>
        <p:nvSpPr>
          <p:cNvPr id="136" name="Right Arrow 135"/>
          <p:cNvSpPr/>
          <p:nvPr/>
        </p:nvSpPr>
        <p:spPr>
          <a:xfrm>
            <a:off x="10363443" y="7278624"/>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619475" y="7004304"/>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0692627" y="7050024"/>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1~3</a:t>
            </a:r>
          </a:p>
          <a:p>
            <a:pPr algn="l">
              <a:lnSpc>
                <a:spcPct val="100000"/>
              </a:lnSpc>
            </a:pPr>
            <a:r>
              <a:rPr sz="850" b="0">
                <a:solidFill>
                  <a:srgbClr val="555555"/>
                </a:solidFill>
                <a:latin typeface="Arial"/>
                <a:ea typeface="Arial"/>
              </a:rPr>
              <a:t>KV 캐시 계층 제품(TLC) 정격 · 쓰기 강도는 실측 필요</a:t>
            </a:r>
          </a:p>
        </p:txBody>
      </p:sp>
      <p:sp>
        <p:nvSpPr>
          <p:cNvPr id="139" name="TextBox 138"/>
          <p:cNvSpPr txBox="1"/>
          <p:nvPr/>
        </p:nvSpPr>
        <p:spPr>
          <a:xfrm>
            <a:off x="9119859" y="7918704"/>
            <a:ext cx="3307201" cy="420624"/>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세 국면의 구매 기준은 일관되게 TB당 TCO였고, 바뀐 것은 워크로드의 쓰기 비중과 드라이브당 용량입니다</a:t>
            </a:r>
          </a:p>
        </p:txBody>
      </p:sp>
      <p:sp>
        <p:nvSpPr>
          <p:cNvPr id="140" name="Rectangle 139"/>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43" name="Rectangle 142"/>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동급 비교: 61TB QLC 0.58~1.0 · 245TB QLC 0.3 vs KV 계층 TLC 1~3 DWPD</a:t>
            </a:r>
          </a:p>
        </p:txBody>
      </p:sp>
      <p:sp>
        <p:nvSpPr>
          <p:cNvPr id="145" name="TextBox 144"/>
          <p:cNvSpPr txBox="1"/>
          <p:nvPr/>
        </p:nvSpPr>
        <p:spPr>
          <a:xfrm>
            <a:off x="13030565" y="4791455"/>
            <a:ext cx="4297314" cy="566928"/>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2~10배 격차</a:t>
            </a:r>
          </a:p>
        </p:txBody>
      </p:sp>
      <p:sp>
        <p:nvSpPr>
          <p:cNvPr id="146" name="TextBox 145"/>
          <p:cNvSpPr txBox="1"/>
          <p:nvPr/>
        </p:nvSpPr>
        <p:spPr>
          <a:xfrm>
            <a:off x="13030565"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10배</a:t>
            </a:r>
          </a:p>
        </p:txBody>
      </p:sp>
      <p:sp>
        <p:nvSpPr>
          <p:cNvPr id="147" name="TextBox 146"/>
          <p:cNvSpPr txBox="1"/>
          <p:nvPr/>
        </p:nvSpPr>
        <p:spPr>
          <a:xfrm>
            <a:off x="13030565"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QLC 비트 '25 → '30 (e)</a:t>
            </a:r>
          </a:p>
        </p:txBody>
      </p:sp>
      <p:sp>
        <p:nvSpPr>
          <p:cNvPr id="148" name="TextBox 147"/>
          <p:cNvSpPr txBox="1"/>
          <p:nvPr/>
        </p:nvSpPr>
        <p:spPr>
          <a:xfrm>
            <a:off x="15270662"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350EB</a:t>
            </a:r>
          </a:p>
        </p:txBody>
      </p:sp>
      <p:sp>
        <p:nvSpPr>
          <p:cNvPr id="149" name="TextBox 148"/>
          <p:cNvSpPr txBox="1"/>
          <p:nvPr/>
        </p:nvSpPr>
        <p:spPr>
          <a:xfrm>
            <a:off x="15270662"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2030 추론 캐시 계층 수요 (e)</a:t>
            </a:r>
          </a:p>
        </p:txBody>
      </p:sp>
      <p:sp>
        <p:nvSpPr>
          <p:cNvPr id="150" name="Rectangle 149"/>
          <p:cNvSpPr/>
          <p:nvPr/>
        </p:nvSpPr>
        <p:spPr>
          <a:xfrm>
            <a:off x="13030565" y="6163055"/>
            <a:ext cx="4297314" cy="859536"/>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3176869" y="6217919"/>
            <a:ext cx="4004706" cy="749808"/>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75" b="0">
                <a:solidFill>
                  <a:srgbClr val="555555"/>
                </a:solidFill>
                <a:latin typeface="Arial"/>
                <a:ea typeface="Arial"/>
              </a:rPr>
              <a:t>고용량화의 두 축 · 다이 8배 → 신뢰성(2장, SSD 내부) · DWPD 격차 → 내구성(3장, 어느 계층인가)</a:t>
            </a:r>
          </a:p>
          <a:p>
            <a:pPr algn="l">
              <a:lnSpc>
                <a:spcPct val="104000"/>
              </a:lnSpc>
            </a:pPr>
            <a:r>
              <a:rPr sz="900" b="0">
                <a:solidFill>
                  <a:srgbClr val="8A8A8A"/>
                </a:solidFill>
                <a:latin typeface="Arial"/>
                <a:ea typeface="Arial"/>
              </a:rPr>
              <a:t>극단 조합(0.075 vs 3)은 40배</a:t>
            </a:r>
          </a:p>
        </p:txBody>
      </p:sp>
      <p:sp>
        <p:nvSpPr>
          <p:cNvPr id="152" name="Rectangle 151"/>
          <p:cNvSpPr/>
          <p:nvPr/>
        </p:nvSpPr>
        <p:spPr>
          <a:xfrm>
            <a:off x="13030565" y="7589520"/>
            <a:ext cx="54864"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3231733" y="7589520"/>
            <a:ext cx="4096146" cy="713232"/>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800" b="0">
                <a:solidFill>
                  <a:srgbClr val="8A8A8A"/>
                </a:solidFill>
                <a:latin typeface="Arial"/>
                <a:ea typeface="Arial"/>
              </a:rPr>
              <a:t>송용호 AX/PI센터장 · 사내 인터뷰 2026-09-03</a:t>
            </a:r>
          </a:p>
        </p:txBody>
      </p:sp>
      <p:sp>
        <p:nvSpPr>
          <p:cNvPr id="154" name="Rectangle 15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6" name="TextBox 155"/>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다운턴 국면에서 고객 규격·코드로 정의됐고, 정의에 참여한 공급자가 선점했습니다.</a:t>
            </a:r>
          </a:p>
          <a:p>
            <a:pPr algn="l">
              <a:lnSpc>
                <a:spcPct val="108000"/>
              </a:lnSpc>
            </a:pPr>
            <a:r>
              <a:rPr sz="1650" b="1">
                <a:solidFill>
                  <a:srgbClr val="FFFFFF"/>
                </a:solidFill>
                <a:latin typeface="Arial"/>
                <a:ea typeface="Arial"/>
              </a:rPr>
              <a:t>차기 요구는 고용량(다이 8배)과 1~3 DWPD이며, 동급 비교 시 정격과 2~10배 격차가 있습니다</a:t>
            </a:r>
          </a:p>
        </p:txBody>
      </p:sp>
      <p:sp>
        <p:nvSpPr>
          <p:cNvPr id="157" name="Rectangle 156"/>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60" name="TextBox 15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fdp-host-ssd-platform §2.5(Solidigm 61TB), QLC 연혁 소스(배치 표준 비준·30EB), GitHub README(캐시 관리자 4종), TrendForce·SanDisk FMS 2026·Meta(수요 모델, 2026~2030 추정), P5336·6550 ION·CM9·LC9 사양(동급 DWPD)</a:t>
            </a:r>
          </a:p>
        </p:txBody>
      </p:sp>
      <p:sp>
        <p:nvSpPr>
          <p:cNvPr id="161" name="TextBox 16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8배 증가로 요구가 8배 엄격해지나, SSD 내부 설계로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 FFR ≤ 3%는 고정인 반면 SSD당 다이 수는 128 → 1,024로 늘었습니다. 호스트에는 관측 지표만 제공합니다.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dies_wide.png"/>
          <p:cNvPicPr>
            <a:picLocks noChangeAspect="1"/>
          </p:cNvPicPr>
          <p:nvPr/>
        </p:nvPicPr>
        <p:blipFill>
          <a:blip r:embed="rId2"/>
          <a:stretch>
            <a:fillRect/>
          </a:stretch>
        </p:blipFill>
        <p:spPr>
          <a:xfrm>
            <a:off x="722376" y="2560320"/>
            <a:ext cx="5440680" cy="2283142"/>
          </a:xfrm>
          <a:prstGeom prst="rect">
            <a:avLst/>
          </a:prstGeom>
        </p:spPr>
      </p:pic>
      <p:pic>
        <p:nvPicPr>
          <p:cNvPr id="33" name="Picture 32" descr="rel_ffr_limit.png"/>
          <p:cNvPicPr>
            <a:picLocks noChangeAspect="1"/>
          </p:cNvPicPr>
          <p:nvPr/>
        </p:nvPicPr>
        <p:blipFill>
          <a:blip r:embed="rId3"/>
          <a:stretch>
            <a:fillRect/>
          </a:stretch>
        </p:blipFill>
        <p:spPr>
          <a:xfrm>
            <a:off x="6364224" y="2560320"/>
            <a:ext cx="5440680" cy="2283142"/>
          </a:xfrm>
          <a:prstGeom prst="rect">
            <a:avLst/>
          </a:prstGeom>
        </p:spPr>
      </p:pic>
      <p:sp>
        <p:nvSpPr>
          <p:cNvPr id="34" name="Rectangle 33"/>
          <p:cNvSpPr/>
          <p:nvPr/>
        </p:nvSpPr>
        <p:spPr>
          <a:xfrm>
            <a:off x="12006072" y="2560320"/>
            <a:ext cx="5559552" cy="228600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225528" y="2688336"/>
            <a:ext cx="51206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 · JESD218 기능 고장률</a:t>
            </a:r>
          </a:p>
        </p:txBody>
      </p:sp>
      <p:sp>
        <p:nvSpPr>
          <p:cNvPr id="36" name="TextBox 35"/>
          <p:cNvSpPr txBox="1"/>
          <p:nvPr/>
        </p:nvSpPr>
        <p:spPr>
          <a:xfrm>
            <a:off x="12225528" y="2889503"/>
            <a:ext cx="5120640" cy="5120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FFR ≤ 3%  고정</a:t>
            </a:r>
          </a:p>
        </p:txBody>
      </p:sp>
      <p:sp>
        <p:nvSpPr>
          <p:cNvPr id="37" name="TextBox 36"/>
          <p:cNvSpPr txBox="1"/>
          <p:nvPr/>
        </p:nvSpPr>
        <p:spPr>
          <a:xfrm>
            <a:off x="12225528" y="3456432"/>
            <a:ext cx="5120640" cy="1316736"/>
          </a:xfrm>
          <a:prstGeom prst="rect">
            <a:avLst/>
          </a:prstGeom>
          <a:noFill/>
        </p:spPr>
        <p:txBody>
          <a:bodyPr wrap="square" anchor="t" lIns="0" rIns="0" tIns="0" bIns="0">
            <a:spAutoFit/>
          </a:bodyPr>
          <a:lstStyle/>
          <a:p>
            <a:pPr algn="l">
              <a:lnSpc>
                <a:spcPct val="106000"/>
              </a:lnSpc>
            </a:pPr>
            <a:r>
              <a:rPr sz="1050" b="1">
                <a:solidFill>
                  <a:srgbClr val="1A1A1A"/>
                </a:solidFill>
                <a:latin typeface="Arial"/>
                <a:ea typeface="Arial"/>
              </a:rPr>
              <a:t>보호 없는 SSD 고장률 ≈ N × 다이 고장률</a:t>
            </a:r>
          </a:p>
          <a:p>
            <a:pPr algn="l">
              <a:lnSpc>
                <a:spcPct val="106000"/>
              </a:lnSpc>
            </a:pPr>
            <a:r>
              <a:rPr sz="950" b="0">
                <a:solidFill>
                  <a:srgbClr val="555555"/>
                </a:solidFill>
                <a:latin typeface="Arial"/>
                <a:ea typeface="Arial"/>
              </a:rPr>
              <a:t>N 128 → 1,024이면 같은 FFR을 지키기 위한 다이 고장률 상한은 2.4e-4 → 3.0e-5 (8배 ↓)</a:t>
            </a:r>
          </a:p>
          <a:p>
            <a:pPr algn="l">
              <a:lnSpc>
                <a:spcPct val="106000"/>
              </a:lnSpc>
            </a:pPr>
            <a:r>
              <a:rPr sz="950" b="0">
                <a:solidFill>
                  <a:srgbClr val="555555"/>
                </a:solidFill>
                <a:latin typeface="Arial"/>
                <a:ea typeface="Arial"/>
              </a:rPr>
              <a:t>칩 면적이 커질수록 수율이 떨어지는 포아송 모델과 같은 구조 · 다이 고장률 개선은 기술적 한계에 접근</a:t>
            </a:r>
          </a:p>
          <a:p>
            <a:pPr algn="l">
              <a:lnSpc>
                <a:spcPct val="106000"/>
              </a:lnSpc>
            </a:pPr>
            <a:r>
              <a:rPr sz="975" b="1">
                <a:solidFill>
                  <a:srgbClr val="1428A0"/>
                </a:solidFill>
                <a:latin typeface="Arial"/>
                <a:ea typeface="Arial"/>
              </a:rPr>
              <a:t>→ 해법은 다이가 아니라 SSD 계층: 단일 다이 고장을 허용하면 상한이 p에서 p² 차수로 완화</a:t>
            </a:r>
          </a:p>
        </p:txBody>
      </p:sp>
      <p:sp>
        <p:nvSpPr>
          <p:cNvPr id="38" name="TextBox 37"/>
          <p:cNvSpPr txBox="1"/>
          <p:nvPr/>
        </p:nvSpPr>
        <p:spPr>
          <a:xfrm>
            <a:off x="722376" y="5047488"/>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a:t>
            </a:r>
          </a:p>
        </p:txBody>
      </p:sp>
      <p:sp>
        <p:nvSpPr>
          <p:cNvPr id="39" name="Rectangle 38"/>
          <p:cNvSpPr/>
          <p:nvPr/>
        </p:nvSpPr>
        <p:spPr>
          <a:xfrm>
            <a:off x="722376"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5256"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(RAID-like XOR)</a:t>
            </a:r>
          </a:p>
        </p:txBody>
      </p:sp>
      <p:sp>
        <p:nvSpPr>
          <p:cNvPr id="42" name="TextBox 41"/>
          <p:cNvSpPr txBox="1"/>
          <p:nvPr/>
        </p:nvSpPr>
        <p:spPr>
          <a:xfrm>
            <a:off x="905256"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슈퍼페이지를 여러 다이에 걸쳐 구성하고 패리티 다이에 XOR 저장 · 단일 다이 고장 시 복구</a:t>
            </a:r>
          </a:p>
        </p:txBody>
      </p:sp>
      <p:sp>
        <p:nvSpPr>
          <p:cNvPr id="43" name="TextBox 42"/>
          <p:cNvSpPr txBox="1"/>
          <p:nvPr/>
        </p:nvSpPr>
        <p:spPr>
          <a:xfrm>
            <a:off x="905256"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Micron RAIN · Cai 외 superpage-level parity(학술)</a:t>
            </a:r>
          </a:p>
        </p:txBody>
      </p:sp>
      <p:sp>
        <p:nvSpPr>
          <p:cNvPr id="44" name="TextBox 43"/>
          <p:cNvSpPr txBox="1"/>
          <p:nvPr/>
        </p:nvSpPr>
        <p:spPr>
          <a:xfrm>
            <a:off x="905256"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패리티 다이 용량(1/스트라이프) · 다이 수와 함께 스트라이프 설계 재최적화</a:t>
            </a:r>
          </a:p>
        </p:txBody>
      </p:sp>
      <p:sp>
        <p:nvSpPr>
          <p:cNvPr id="45" name="TextBox 44"/>
          <p:cNvSpPr txBox="1"/>
          <p:nvPr/>
        </p:nvSpPr>
        <p:spPr>
          <a:xfrm>
            <a:off x="905256"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SSD 고장률 p → p² 차수 · FFR 여유 확보</a:t>
            </a:r>
          </a:p>
        </p:txBody>
      </p:sp>
      <p:sp>
        <p:nvSpPr>
          <p:cNvPr id="46" name="Rectangle 45"/>
          <p:cNvSpPr/>
          <p:nvPr/>
        </p:nvSpPr>
        <p:spPr>
          <a:xfrm>
            <a:off x="4983480"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83480"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66360"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다이 은퇴 · 감량 운영</a:t>
            </a:r>
          </a:p>
        </p:txBody>
      </p:sp>
      <p:sp>
        <p:nvSpPr>
          <p:cNvPr id="49" name="TextBox 48"/>
          <p:cNvSpPr txBox="1"/>
          <p:nvPr/>
        </p:nvSpPr>
        <p:spPr>
          <a:xfrm>
            <a:off x="5166360"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고장 다이 감지 → 데이터 재배치 → 고장 다이 제외 운영(Fail-in-Place), 필요 시 여분 다이 투입</a:t>
            </a:r>
          </a:p>
        </p:txBody>
      </p:sp>
      <p:sp>
        <p:nvSpPr>
          <p:cNvPr id="50" name="TextBox 49"/>
          <p:cNvSpPr txBox="1"/>
          <p:nvPr/>
        </p:nvSpPr>
        <p:spPr>
          <a:xfrm>
            <a:off x="5166360"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삼성 PM1733/1735 FIP: 플레인 4GB · 다이 8GB 감량 운영 · Kioxia die failure recovery</a:t>
            </a:r>
          </a:p>
        </p:txBody>
      </p:sp>
      <p:sp>
        <p:nvSpPr>
          <p:cNvPr id="51" name="TextBox 50"/>
          <p:cNvSpPr txBox="1"/>
          <p:nvPr/>
        </p:nvSpPr>
        <p:spPr>
          <a:xfrm>
            <a:off x="5166360"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예비 용량(여분 다이) · 감량 시 고객 용량 계약 조건 필요</a:t>
            </a:r>
          </a:p>
        </p:txBody>
      </p:sp>
      <p:sp>
        <p:nvSpPr>
          <p:cNvPr id="52" name="TextBox 51"/>
          <p:cNvSpPr txBox="1"/>
          <p:nvPr/>
        </p:nvSpPr>
        <p:spPr>
          <a:xfrm>
            <a:off x="5166360"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다이 고장이 SSD 교체로 이어지지 않음 · 수리 비용 ↓</a:t>
            </a:r>
          </a:p>
        </p:txBody>
      </p:sp>
      <p:sp>
        <p:nvSpPr>
          <p:cNvPr id="53" name="Rectangle 52"/>
          <p:cNvSpPr/>
          <p:nvPr/>
        </p:nvSpPr>
        <p:spPr>
          <a:xfrm>
            <a:off x="9244584" y="5376672"/>
            <a:ext cx="4059936" cy="257860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244584" y="5376672"/>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427463"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예측</a:t>
            </a:r>
          </a:p>
        </p:txBody>
      </p:sp>
      <p:sp>
        <p:nvSpPr>
          <p:cNvPr id="56" name="TextBox 55"/>
          <p:cNvSpPr txBox="1"/>
          <p:nvPr/>
        </p:nvSpPr>
        <p:spPr>
          <a:xfrm>
            <a:off x="9427463"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다이별 RBER 추이 · XOR 복구 횟수 · 리드 리트라이로 고장 징후를 감지해 사전 은퇴</a:t>
            </a:r>
          </a:p>
        </p:txBody>
      </p:sp>
      <p:sp>
        <p:nvSpPr>
          <p:cNvPr id="57" name="TextBox 56"/>
          <p:cNvSpPr txBox="1"/>
          <p:nvPr/>
        </p:nvSpPr>
        <p:spPr>
          <a:xfrm>
            <a:off x="9427463"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SMART Cloud Health(C0) XOR 복구 카운트 · 삼성 텔레메트리(KV 백서)</a:t>
            </a:r>
          </a:p>
        </p:txBody>
      </p:sp>
      <p:sp>
        <p:nvSpPr>
          <p:cNvPr id="58" name="TextBox 57"/>
          <p:cNvSpPr txBox="1"/>
          <p:nvPr/>
        </p:nvSpPr>
        <p:spPr>
          <a:xfrm>
            <a:off x="9427463"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펌웨어 통계 · 로그 대역 · 예측 모델 검증</a:t>
            </a:r>
          </a:p>
        </p:txBody>
      </p:sp>
      <p:sp>
        <p:nvSpPr>
          <p:cNvPr id="59" name="TextBox 58"/>
          <p:cNvSpPr txBox="1"/>
          <p:nvPr/>
        </p:nvSpPr>
        <p:spPr>
          <a:xfrm>
            <a:off x="9427463"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돌발 고장 → 계획 감량 · 1,024다이급의 관리 가능성 확보</a:t>
            </a:r>
          </a:p>
        </p:txBody>
      </p:sp>
      <p:sp>
        <p:nvSpPr>
          <p:cNvPr id="60" name="Rectangle 59"/>
          <p:cNvSpPr/>
          <p:nvPr/>
        </p:nvSpPr>
        <p:spPr>
          <a:xfrm>
            <a:off x="13505688" y="5376672"/>
            <a:ext cx="4059936" cy="2578608"/>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688567" y="5504688"/>
            <a:ext cx="3694176" cy="256032"/>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호스트 · 플랫폼 (관측 · 수용만)</a:t>
            </a:r>
          </a:p>
        </p:txBody>
      </p:sp>
      <p:sp>
        <p:nvSpPr>
          <p:cNvPr id="62" name="TextBox 61"/>
          <p:cNvSpPr txBox="1"/>
          <p:nvPr/>
        </p:nvSpPr>
        <p:spPr>
          <a:xfrm>
            <a:off x="13688567"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역할  </a:t>
            </a:r>
            <a:r>
              <a:rPr sz="900" b="0">
                <a:solidFill>
                  <a:srgbClr val="555555"/>
                </a:solidFill>
                <a:latin typeface="Arial"/>
                <a:ea typeface="Arial"/>
              </a:rPr>
              <a:t>SSD가 노출한 지표(XOR 카운트 · 감량 예고)를 관측하고 감량 운영을 수용</a:t>
            </a:r>
          </a:p>
        </p:txBody>
      </p:sp>
      <p:sp>
        <p:nvSpPr>
          <p:cNvPr id="63" name="TextBox 62"/>
          <p:cNvSpPr txBox="1"/>
          <p:nvPr/>
        </p:nvSpPr>
        <p:spPr>
          <a:xfrm>
            <a:off x="13688567"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Datacenter NVMe SSD 사양 SMART C0 · Microsoft Hyrax(플랫폼 fail-in-place) · 드라이브 간 소거 부호</a:t>
            </a:r>
          </a:p>
        </p:txBody>
      </p:sp>
      <p:sp>
        <p:nvSpPr>
          <p:cNvPr id="64" name="TextBox 63"/>
          <p:cNvSpPr txBox="1"/>
          <p:nvPr/>
        </p:nvSpPr>
        <p:spPr>
          <a:xfrm>
            <a:off x="13688567"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경계  </a:t>
            </a:r>
            <a:r>
              <a:rPr sz="900" b="0">
                <a:solidFill>
                  <a:srgbClr val="555555"/>
                </a:solidFill>
                <a:latin typeface="Arial"/>
                <a:ea typeface="Arial"/>
              </a:rPr>
              <a:t>다이 고장의 해결 주체는 SSD · 호스트 협력은 규격(텔레메트리 필드 · 감량 정책)에 한정</a:t>
            </a:r>
          </a:p>
        </p:txBody>
      </p:sp>
      <p:sp>
        <p:nvSpPr>
          <p:cNvPr id="65" name="TextBox 64"/>
          <p:cNvSpPr txBox="1"/>
          <p:nvPr/>
        </p:nvSpPr>
        <p:spPr>
          <a:xfrm>
            <a:off x="13688567"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삼성 과제  </a:t>
            </a:r>
            <a:r>
              <a:rPr sz="900" b="0">
                <a:solidFill>
                  <a:srgbClr val="555555"/>
                </a:solidFill>
                <a:latin typeface="Arial"/>
                <a:ea typeface="Arial"/>
              </a:rPr>
              <a:t>FIP 감량 정책의 OCP 규격화 · 텔레메트리 필드 표준 제안</a:t>
            </a:r>
          </a:p>
        </p:txBody>
      </p:sp>
      <p:sp>
        <p:nvSpPr>
          <p:cNvPr id="66" name="TextBox 65"/>
          <p:cNvSpPr txBox="1"/>
          <p:nvPr/>
        </p:nvSpPr>
        <p:spPr>
          <a:xfrm>
            <a:off x="722376" y="8046720"/>
            <a:ext cx="16843248" cy="329184"/>
          </a:xfrm>
          <a:prstGeom prst="rect">
            <a:avLst/>
          </a:prstGeom>
          <a:noFill/>
        </p:spPr>
        <p:txBody>
          <a:bodyPr wrap="square" anchor="t" lIns="0" rIns="0" tIns="0" bIns="0">
            <a:spAutoFit/>
          </a:bodyPr>
          <a:lstStyle/>
          <a:p>
            <a:pPr algn="l">
              <a:lnSpc>
                <a:spcPct val="102000"/>
              </a:lnSpc>
            </a:pPr>
            <a:r>
              <a:rPr sz="1050" b="1">
                <a:solidFill>
                  <a:srgbClr val="1428A0"/>
                </a:solidFill>
                <a:latin typeface="Arial"/>
                <a:ea typeface="Arial"/>
              </a:rPr>
              <a:t>삼성 과제  </a:t>
            </a:r>
            <a:r>
              <a:rPr sz="1000" b="0">
                <a:solidFill>
                  <a:srgbClr val="555555"/>
                </a:solidFill>
                <a:latin typeface="Arial"/>
                <a:ea typeface="Arial"/>
              </a:rPr>
              <a:t>1,024다이급에서 패리티·예비 비율을 FFR과 용량 오버헤드 사이에서 재최적화 · FIP 감량 정책과 텔레메트리 필드를 OCP에 규격 제안 · 다이 고장 예측 모델을 KV 캐시 계층 수명 보증(6장)과 연결</a:t>
            </a:r>
          </a:p>
        </p:txBody>
      </p:sp>
      <p:sp>
        <p:nvSpPr>
          <p:cNvPr id="67" name="Rectangle 6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9" name="TextBox 6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SSD 고장률 ≈ N × 다이 고장률에서 늘어난 N만큼을 다이 패리티·여분 다이·감량 운영으로 SSD 안에서 흡수합니다.</a:t>
            </a:r>
          </a:p>
          <a:p>
            <a:pPr algn="l">
              <a:lnSpc>
                <a:spcPct val="108000"/>
              </a:lnSpc>
            </a:pPr>
            <a:r>
              <a:rPr sz="1650" b="1">
                <a:solidFill>
                  <a:srgbClr val="FFFFFF"/>
                </a:solidFill>
                <a:latin typeface="Arial"/>
                <a:ea typeface="Arial"/>
              </a:rPr>
              <a:t>이 축은 SSD 내부에서 충족되지만, 둘째 축 내구성(DWPD)은 SSD 내부에서 충족되지 않았습니다</a:t>
            </a:r>
          </a:p>
        </p:txBody>
      </p:sp>
      <p:sp>
        <p:nvSpPr>
          <p:cNvPr id="70" name="Rectangle 6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73" name="TextBox 7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S3700 분해·Kioxia LC9·제품 사양(다이 수), 수율 모델(Leachman), Cai 외(다이 패리티), Micron RAIN, 삼성 PM1733(FIP), OCP SMART C0, MS Hyrax · 고장률 상한은 독립 고장 모델(추정)</a:t>
            </a:r>
          </a:p>
        </p:txBody>
      </p:sp>
      <p:sp>
        <p:nvSpPr>
          <p:cNvPr id="74" name="TextBox 7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 1단계 ECC 완결, 2단계 단독 최적화는 부분 성공.</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30752"/>
            <a:ext cx="1188720" cy="29626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30752"/>
            <a:ext cx="54864" cy="2962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30752"/>
            <a:ext cx="3675888" cy="2962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6" name="Rectangle 7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9" name="TextBox 7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80" name="Rectangle 79"/>
          <p:cNvSpPr/>
          <p:nvPr/>
        </p:nvSpPr>
        <p:spPr>
          <a:xfrm>
            <a:off x="5989320"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82" name="TextBox 81"/>
          <p:cNvSpPr txBox="1"/>
          <p:nvPr/>
        </p:nvSpPr>
        <p:spPr>
          <a:xfrm>
            <a:off x="6117336" y="63093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83" name="Rectangle 82"/>
          <p:cNvSpPr/>
          <p:nvPr/>
        </p:nvSpPr>
        <p:spPr>
          <a:xfrm>
            <a:off x="9939528"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7" name="TextBox 8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8" name="TextBox 8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9" name="TextBox 8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90" name="Rectangle 89"/>
          <p:cNvSpPr/>
          <p:nvPr/>
        </p:nvSpPr>
        <p:spPr>
          <a:xfrm>
            <a:off x="10030968" y="4571999"/>
            <a:ext cx="3493008" cy="20299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92" name="TextBox 9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요구 미달</a:t>
            </a:r>
          </a:p>
        </p:txBody>
      </p:sp>
      <p:sp>
        <p:nvSpPr>
          <p:cNvPr id="93" name="TextBox 9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4" name="TextBox 9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5" name="Picture 9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6" name="Rectangle 95"/>
          <p:cNvSpPr/>
          <p:nvPr/>
        </p:nvSpPr>
        <p:spPr>
          <a:xfrm>
            <a:off x="13889736" y="3730752"/>
            <a:ext cx="3675888" cy="29626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4017752" y="3840480"/>
            <a:ext cx="210312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공동 설계 (2022~)</a:t>
            </a:r>
          </a:p>
        </p:txBody>
      </p:sp>
      <p:sp>
        <p:nvSpPr>
          <p:cNvPr id="98" name="TextBox 97"/>
          <p:cNvSpPr txBox="1"/>
          <p:nvPr/>
        </p:nvSpPr>
        <p:spPr>
          <a:xfrm>
            <a:off x="16066008" y="3840480"/>
            <a:ext cx="137160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요구 도달 · 조건부</a:t>
            </a:r>
          </a:p>
        </p:txBody>
      </p:sp>
      <p:sp>
        <p:nvSpPr>
          <p:cNvPr id="99" name="TextBox 9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 → ≈1</a:t>
            </a:r>
          </a:p>
        </p:txBody>
      </p:sp>
      <p:sp>
        <p:nvSpPr>
          <p:cNvPr id="100" name="TextBox 9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공동 설계 = 본 덱 4~5장</a:t>
            </a:r>
          </a:p>
        </p:txBody>
      </p:sp>
      <p:pic>
        <p:nvPicPr>
          <p:cNvPr id="101" name="Picture 10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102" name="TextBox 101"/>
          <p:cNvSpPr txBox="1"/>
          <p:nvPr/>
        </p:nvSpPr>
        <p:spPr>
          <a:xfrm>
            <a:off x="14017752" y="63276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호스트가 결정하는 잔여 변수(유효 DWPD ×2.9) · KV 캐시 실측은 Phase 2 검증 대상</a:t>
            </a:r>
          </a:p>
        </p:txBody>
      </p:sp>
      <p:sp>
        <p:nvSpPr>
          <p:cNvPr id="103" name="Rectangle 102"/>
          <p:cNvSpPr/>
          <p:nvPr/>
        </p:nvSpPr>
        <p:spPr>
          <a:xfrm>
            <a:off x="722376" y="6821424"/>
            <a:ext cx="1188720" cy="16093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22376" y="6821424"/>
            <a:ext cx="54864" cy="160934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86968" y="6967728"/>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 축소
변수</a:t>
            </a:r>
          </a:p>
        </p:txBody>
      </p:sp>
      <p:sp>
        <p:nvSpPr>
          <p:cNvPr id="106" name="TextBox 105"/>
          <p:cNvSpPr txBox="1"/>
          <p:nvPr/>
        </p:nvSpPr>
        <p:spPr>
          <a:xfrm>
            <a:off x="886968" y="7571231"/>
            <a:ext cx="950976" cy="73152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7" name="Rectangle 106"/>
          <p:cNvSpPr/>
          <p:nvPr/>
        </p:nvSpPr>
        <p:spPr>
          <a:xfrm>
            <a:off x="203911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214884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9" name="TextBox 108"/>
          <p:cNvSpPr txBox="1"/>
          <p:nvPr/>
        </p:nvSpPr>
        <p:spPr>
          <a:xfrm>
            <a:off x="214884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10" name="TextBox 109"/>
          <p:cNvSpPr txBox="1"/>
          <p:nvPr/>
        </p:nvSpPr>
        <p:spPr>
          <a:xfrm>
            <a:off x="214884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1" name="Rectangle 110"/>
          <p:cNvSpPr/>
          <p:nvPr/>
        </p:nvSpPr>
        <p:spPr>
          <a:xfrm>
            <a:off x="464515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75488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3" name="TextBox 112"/>
          <p:cNvSpPr txBox="1"/>
          <p:nvPr/>
        </p:nvSpPr>
        <p:spPr>
          <a:xfrm>
            <a:off x="475488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4" name="TextBox 113"/>
          <p:cNvSpPr txBox="1"/>
          <p:nvPr/>
        </p:nvSpPr>
        <p:spPr>
          <a:xfrm>
            <a:off x="475488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5" name="Rectangle 114"/>
          <p:cNvSpPr/>
          <p:nvPr/>
        </p:nvSpPr>
        <p:spPr>
          <a:xfrm>
            <a:off x="725119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360919"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7" name="TextBox 116"/>
          <p:cNvSpPr txBox="1"/>
          <p:nvPr/>
        </p:nvSpPr>
        <p:spPr>
          <a:xfrm>
            <a:off x="7360919"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8" name="TextBox 117"/>
          <p:cNvSpPr txBox="1"/>
          <p:nvPr/>
        </p:nvSpPr>
        <p:spPr>
          <a:xfrm>
            <a:off x="7360919"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9" name="Rectangle 118"/>
          <p:cNvSpPr/>
          <p:nvPr/>
        </p:nvSpPr>
        <p:spPr>
          <a:xfrm>
            <a:off x="985723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96696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1" name="TextBox 120"/>
          <p:cNvSpPr txBox="1"/>
          <p:nvPr/>
        </p:nvSpPr>
        <p:spPr>
          <a:xfrm>
            <a:off x="996696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2" name="TextBox 121"/>
          <p:cNvSpPr txBox="1"/>
          <p:nvPr/>
        </p:nvSpPr>
        <p:spPr>
          <a:xfrm>
            <a:off x="996696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3" name="Rectangle 122"/>
          <p:cNvSpPr/>
          <p:nvPr/>
        </p:nvSpPr>
        <p:spPr>
          <a:xfrm>
            <a:off x="1246327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7300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5" name="TextBox 124"/>
          <p:cNvSpPr txBox="1"/>
          <p:nvPr/>
        </p:nvSpPr>
        <p:spPr>
          <a:xfrm>
            <a:off x="1257300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6" name="TextBox 125"/>
          <p:cNvSpPr txBox="1"/>
          <p:nvPr/>
        </p:nvSpPr>
        <p:spPr>
          <a:xfrm>
            <a:off x="1257300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7" name="Rectangle 126"/>
          <p:cNvSpPr/>
          <p:nvPr/>
        </p:nvSpPr>
        <p:spPr>
          <a:xfrm>
            <a:off x="15069312" y="6967728"/>
            <a:ext cx="2496312"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179040" y="7040880"/>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9" name="TextBox 128"/>
          <p:cNvSpPr txBox="1"/>
          <p:nvPr/>
        </p:nvSpPr>
        <p:spPr>
          <a:xfrm>
            <a:off x="15179040" y="7242048"/>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30" name="TextBox 129"/>
          <p:cNvSpPr txBox="1"/>
          <p:nvPr/>
        </p:nvSpPr>
        <p:spPr>
          <a:xfrm>
            <a:off x="15179040" y="7498079"/>
            <a:ext cx="2276856" cy="310896"/>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×2.9</a:t>
            </a:r>
          </a:p>
        </p:txBody>
      </p:sp>
      <p:sp>
        <p:nvSpPr>
          <p:cNvPr id="131" name="TextBox 130"/>
          <p:cNvSpPr txBox="1"/>
          <p:nvPr/>
        </p:nvSpPr>
        <p:spPr>
          <a:xfrm>
            <a:off x="2039112" y="7955279"/>
            <a:ext cx="15526512" cy="402336"/>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격차(동급 비교 2~10배)가 해소되지 않습니다. WAF ×2.9는 다이 세대·OP·보증연수·워크로드 재정의와 결합해 요구에 도달하며, 이 중 호스트·고객 측 변수가 다수라는 점이 공동 설계의 근거입니다</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잔여 변수 WAF는 SSD 밖 호스트가 결정합니다.</a:t>
            </a:r>
          </a:p>
          <a:p>
            <a:pPr algn="l">
              <a:lnSpc>
                <a:spcPct val="108000"/>
              </a:lnSpc>
            </a:pPr>
            <a:r>
              <a:rPr sz="1650" b="1">
                <a:solidFill>
                  <a:srgbClr val="FFFFFF"/>
                </a:solidFill>
                <a:latin typeface="Arial"/>
                <a:ea typeface="Arial"/>
              </a:rPr>
              <a:t>다이 세대·OP·보증연수와 병행하되, 이 변수는 고객 협업과 새로운 역량을 요구합니다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 ATP·Kioxia(DWPD 산식), Intel·Solidigm 사양(정격 DWPD), Mielke·Cai(RBER), WD(LDPC), CacheLib·삼성·NVMe FDP·VLDB'26(WAF), P5336·6550 ION·CM9·LC9(동급 DWPD) · 등급은 부록 A F28~F54</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41732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2~10배</a:t>
            </a:r>
          </a:p>
        </p:txBody>
      </p:sp>
      <p:sp>
        <p:nvSpPr>
          <p:cNvPr id="34" name="TextBox 33"/>
          <p:cNvSpPr txBox="1"/>
          <p:nvPr/>
        </p:nvSpPr>
        <p:spPr>
          <a:xfrm>
            <a:off x="2505456" y="2560320"/>
            <a:ext cx="206654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동급 61TB QLC 0.58~1.0 · 245TB 0.3 vs TLC 1~3 DWPD</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7" name="TextBox 36"/>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 RUH 2~8 → 200+ 미완 ·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2560320"/>
            <a:ext cx="10881360"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고객 선별 · 협업 채널</a:t>
            </a:r>
            <a:r>
              <a:rPr sz="1000" b="0">
                <a:solidFill>
                  <a:srgbClr val="8A8A8A"/>
                </a:solidFill>
                <a:latin typeface="Arial"/>
                <a:ea typeface="Arial"/>
              </a:rPr>
              <a:t>   FDE 상주 조건: ① 트레이스·KV 정책 접근 허용  ② 캐시 관리자 코드를 자체 운영  ③ 물량·규격 파급력</a:t>
            </a:r>
          </a:p>
        </p:txBody>
      </p:sp>
      <p:sp>
        <p:nvSpPr>
          <p:cNvPr id="33" name="TextBox 32"/>
          <p:cNvSpPr txBox="1"/>
          <p:nvPr/>
        </p:nvSpPr>
        <p:spPr>
          <a:xfrm>
            <a:off x="79552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고객 유형</a:t>
            </a:r>
          </a:p>
        </p:txBody>
      </p:sp>
      <p:sp>
        <p:nvSpPr>
          <p:cNvPr id="34" name="TextBox 33"/>
          <p:cNvSpPr txBox="1"/>
          <p:nvPr/>
        </p:nvSpPr>
        <p:spPr>
          <a:xfrm>
            <a:off x="2944368" y="2889503"/>
            <a:ext cx="18653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워크로드 접근</a:t>
            </a:r>
          </a:p>
        </p:txBody>
      </p:sp>
      <p:sp>
        <p:nvSpPr>
          <p:cNvPr id="35" name="TextBox 34"/>
          <p:cNvSpPr txBox="1"/>
          <p:nvPr/>
        </p:nvSpPr>
        <p:spPr>
          <a:xfrm>
            <a:off x="495604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협업 채널</a:t>
            </a:r>
          </a:p>
        </p:txBody>
      </p:sp>
      <p:sp>
        <p:nvSpPr>
          <p:cNvPr id="36" name="TextBox 35"/>
          <p:cNvSpPr txBox="1"/>
          <p:nvPr/>
        </p:nvSpPr>
        <p:spPr>
          <a:xfrm>
            <a:off x="7104888" y="2889503"/>
            <a:ext cx="172821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삼성 방식</a:t>
            </a:r>
          </a:p>
        </p:txBody>
      </p:sp>
      <p:sp>
        <p:nvSpPr>
          <p:cNvPr id="37" name="TextBox 36"/>
          <p:cNvSpPr txBox="1"/>
          <p:nvPr/>
        </p:nvSpPr>
        <p:spPr>
          <a:xfrm>
            <a:off x="8979407" y="2889503"/>
            <a:ext cx="25511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효과 극대화 포인트</a:t>
            </a:r>
          </a:p>
        </p:txBody>
      </p:sp>
      <p:sp>
        <p:nvSpPr>
          <p:cNvPr id="38" name="Rectangle 37"/>
          <p:cNvSpPr/>
          <p:nvPr/>
        </p:nvSpPr>
        <p:spPr>
          <a:xfrm>
            <a:off x="722376" y="3145535"/>
            <a:ext cx="10881360"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2376" y="32552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32552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33101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42" name="TextBox 41"/>
          <p:cNvSpPr txBox="1"/>
          <p:nvPr/>
        </p:nvSpPr>
        <p:spPr>
          <a:xfrm>
            <a:off x="2980944" y="33101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협약 시 트레이스 · KV 수명 정책 공유</a:t>
            </a:r>
          </a:p>
        </p:txBody>
      </p:sp>
      <p:sp>
        <p:nvSpPr>
          <p:cNvPr id="43" name="TextBox 42"/>
          <p:cNvSpPr txBox="1"/>
          <p:nvPr/>
        </p:nvSpPr>
        <p:spPr>
          <a:xfrm>
            <a:off x="4992624" y="33101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전략적 협약(SCA)의</a:t>
            </a:r>
          </a:p>
          <a:p>
            <a:pPr algn="l">
              <a:lnSpc>
                <a:spcPct val="104000"/>
              </a:lnSpc>
            </a:pPr>
            <a:r>
              <a:rPr sz="950" b="0">
                <a:solidFill>
                  <a:srgbClr val="555555"/>
                </a:solidFill>
                <a:latin typeface="Arial"/>
                <a:ea typeface="Arial"/>
              </a:rPr>
              <a:t>공동 설계 조항</a:t>
            </a:r>
          </a:p>
        </p:txBody>
      </p:sp>
      <p:sp>
        <p:nvSpPr>
          <p:cNvPr id="44" name="TextBox 43"/>
          <p:cNvSpPr txBox="1"/>
          <p:nvPr/>
        </p:nvSpPr>
        <p:spPr>
          <a:xfrm>
            <a:off x="7141464" y="33101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Pod 3~5명</a:t>
            </a:r>
          </a:p>
        </p:txBody>
      </p:sp>
      <p:sp>
        <p:nvSpPr>
          <p:cNvPr id="45" name="TextBox 44"/>
          <p:cNvSpPr txBox="1"/>
          <p:nvPr/>
        </p:nvSpPr>
        <p:spPr>
          <a:xfrm>
            <a:off x="9015983" y="33101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Micron↔Anthropic 선례 · 캐시 관리자 정책을 함께 정의해 수명 보증 레퍼런스 확보 · 로고 효과</a:t>
            </a:r>
          </a:p>
        </p:txBody>
      </p:sp>
      <p:sp>
        <p:nvSpPr>
          <p:cNvPr id="46" name="Rectangle 45"/>
          <p:cNvSpPr/>
          <p:nvPr/>
        </p:nvSpPr>
        <p:spPr>
          <a:xfrm>
            <a:off x="722376" y="41239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2376" y="41696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2376" y="41696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2104" y="42245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50" name="TextBox 49"/>
          <p:cNvSpPr txBox="1"/>
          <p:nvPr/>
        </p:nvSpPr>
        <p:spPr>
          <a:xfrm>
            <a:off x="2980944" y="42245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파트너 프로그램 · 레퍼런스 스택 코드</a:t>
            </a:r>
          </a:p>
        </p:txBody>
      </p:sp>
      <p:sp>
        <p:nvSpPr>
          <p:cNvPr id="51" name="TextBox 50"/>
          <p:cNvSpPr txBox="1"/>
          <p:nvPr/>
        </p:nvSpPr>
        <p:spPr>
          <a:xfrm>
            <a:off x="4992624" y="42245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플러그인 · CMX 힌트 매핑</a:t>
            </a:r>
          </a:p>
          <a:p>
            <a:pPr algn="l">
              <a:lnSpc>
                <a:spcPct val="104000"/>
              </a:lnSpc>
            </a:pPr>
            <a:r>
              <a:rPr sz="950" b="0">
                <a:solidFill>
                  <a:srgbClr val="555555"/>
                </a:solidFill>
                <a:latin typeface="Arial"/>
                <a:ea typeface="Arial"/>
              </a:rPr>
              <a:t>공동 정의</a:t>
            </a:r>
          </a:p>
        </p:txBody>
      </p:sp>
      <p:sp>
        <p:nvSpPr>
          <p:cNvPr id="52" name="TextBox 51"/>
          <p:cNvSpPr txBox="1"/>
          <p:nvPr/>
        </p:nvSpPr>
        <p:spPr>
          <a:xfrm>
            <a:off x="7141464" y="42245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플랫폼 팀 파견</a:t>
            </a:r>
          </a:p>
        </p:txBody>
      </p:sp>
      <p:sp>
        <p:nvSpPr>
          <p:cNvPr id="53" name="TextBox 52"/>
          <p:cNvSpPr txBox="1"/>
          <p:nvPr/>
        </p:nvSpPr>
        <p:spPr>
          <a:xfrm>
            <a:off x="9015983" y="42245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CMX 첫 공급 관계 활용 · KVBM 플러그인 메인라인 머지 → 생태계 기본 디바이스</a:t>
            </a:r>
          </a:p>
        </p:txBody>
      </p:sp>
      <p:sp>
        <p:nvSpPr>
          <p:cNvPr id="54" name="Rectangle 53"/>
          <p:cNvSpPr/>
          <p:nvPr/>
        </p:nvSpPr>
        <p:spPr>
          <a:xfrm>
            <a:off x="722376" y="50383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2104" y="51389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56" name="TextBox 55"/>
          <p:cNvSpPr txBox="1"/>
          <p:nvPr/>
        </p:nvSpPr>
        <p:spPr>
          <a:xfrm>
            <a:off x="2980944" y="51389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내부 코드 상주 불가</a:t>
            </a:r>
          </a:p>
          <a:p>
            <a:pPr algn="l">
              <a:lnSpc>
                <a:spcPct val="104000"/>
              </a:lnSpc>
            </a:pPr>
            <a:r>
              <a:rPr sz="950" b="0">
                <a:solidFill>
                  <a:srgbClr val="555555"/>
                </a:solidFill>
                <a:latin typeface="Arial"/>
                <a:ea typeface="Arial"/>
              </a:rPr>
              <a:t>(보안 · 중립성)</a:t>
            </a:r>
          </a:p>
        </p:txBody>
      </p:sp>
      <p:sp>
        <p:nvSpPr>
          <p:cNvPr id="57" name="TextBox 56"/>
          <p:cNvSpPr txBox="1"/>
          <p:nvPr/>
        </p:nvSpPr>
        <p:spPr>
          <a:xfrm>
            <a:off x="4992624" y="51389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OCP 규격 · 업스트림</a:t>
            </a:r>
          </a:p>
          <a:p>
            <a:pPr algn="l">
              <a:lnSpc>
                <a:spcPct val="104000"/>
              </a:lnSpc>
            </a:pPr>
            <a:r>
              <a:rPr sz="950" b="0">
                <a:solidFill>
                  <a:srgbClr val="555555"/>
                </a:solidFill>
                <a:latin typeface="Arial"/>
                <a:ea typeface="Arial"/>
              </a:rPr>
              <a:t>(CacheLib · XFS · 커널)</a:t>
            </a:r>
          </a:p>
        </p:txBody>
      </p:sp>
      <p:sp>
        <p:nvSpPr>
          <p:cNvPr id="58" name="TextBox 57"/>
          <p:cNvSpPr txBox="1"/>
          <p:nvPr/>
        </p:nvSpPr>
        <p:spPr>
          <a:xfrm>
            <a:off x="7141464" y="51389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업스트림 기여</a:t>
            </a:r>
          </a:p>
          <a:p>
            <a:pPr algn="l">
              <a:lnSpc>
                <a:spcPct val="104000"/>
              </a:lnSpc>
            </a:pPr>
            <a:r>
              <a:rPr sz="1000" b="1">
                <a:solidFill>
                  <a:srgbClr val="1A1A1A"/>
                </a:solidFill>
                <a:latin typeface="Arial"/>
                <a:ea typeface="Arial"/>
              </a:rPr>
              <a:t>OCP 규격 제안</a:t>
            </a:r>
          </a:p>
        </p:txBody>
      </p:sp>
      <p:sp>
        <p:nvSpPr>
          <p:cNvPr id="59" name="TextBox 58"/>
          <p:cNvSpPr txBox="1"/>
          <p:nvPr/>
        </p:nvSpPr>
        <p:spPr>
          <a:xfrm>
            <a:off x="9015983" y="51389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배치 표준 공동 주도 이력 · OCP 텔레메트리·FIP 규격 · 실측 공개로 신뢰 확보</a:t>
            </a:r>
          </a:p>
        </p:txBody>
      </p:sp>
      <p:sp>
        <p:nvSpPr>
          <p:cNvPr id="60" name="Rectangle 59"/>
          <p:cNvSpPr/>
          <p:nvPr/>
        </p:nvSpPr>
        <p:spPr>
          <a:xfrm>
            <a:off x="722376" y="59527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 y="60533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2" name="TextBox 61"/>
          <p:cNvSpPr txBox="1"/>
          <p:nvPr/>
        </p:nvSpPr>
        <p:spPr>
          <a:xfrm>
            <a:off x="2980944" y="60533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삼성 레퍼런스 스택 채택</a:t>
            </a:r>
          </a:p>
        </p:txBody>
      </p:sp>
      <p:sp>
        <p:nvSpPr>
          <p:cNvPr id="63" name="TextBox 62"/>
          <p:cNvSpPr txBox="1"/>
          <p:nvPr/>
        </p:nvSpPr>
        <p:spPr>
          <a:xfrm>
            <a:off x="4992624" y="60533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레퍼런스 아키텍처</a:t>
            </a:r>
          </a:p>
          <a:p>
            <a:pPr algn="l">
              <a:lnSpc>
                <a:spcPct val="104000"/>
              </a:lnSpc>
            </a:pPr>
            <a:r>
              <a:rPr sz="950" b="0">
                <a:solidFill>
                  <a:srgbClr val="555555"/>
                </a:solidFill>
                <a:latin typeface="Arial"/>
                <a:ea typeface="Arial"/>
              </a:rPr>
              <a:t>(vLLM + LMCache + QLC)</a:t>
            </a:r>
          </a:p>
        </p:txBody>
      </p:sp>
      <p:sp>
        <p:nvSpPr>
          <p:cNvPr id="64" name="TextBox 63"/>
          <p:cNvSpPr txBox="1"/>
          <p:nvPr/>
        </p:nvSpPr>
        <p:spPr>
          <a:xfrm>
            <a:off x="7141464" y="60533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레퍼런스 스택</a:t>
            </a:r>
          </a:p>
          <a:p>
            <a:pPr algn="l">
              <a:lnSpc>
                <a:spcPct val="104000"/>
              </a:lnSpc>
            </a:pPr>
            <a:r>
              <a:rPr sz="1000" b="1">
                <a:solidFill>
                  <a:srgbClr val="1A1A1A"/>
                </a:solidFill>
                <a:latin typeface="Arial"/>
                <a:ea typeface="Arial"/>
              </a:rPr>
              <a:t>공용 TCO 모델</a:t>
            </a:r>
          </a:p>
        </p:txBody>
      </p:sp>
      <p:sp>
        <p:nvSpPr>
          <p:cNvPr id="65" name="TextBox 64"/>
          <p:cNvSpPr txBox="1"/>
          <p:nvPr/>
        </p:nvSpPr>
        <p:spPr>
          <a:xfrm>
            <a:off x="9015983" y="60533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검증된 스택 제공으로 디자인인 · FDE 없이 확산 · 실측 데이터 재사용</a:t>
            </a:r>
          </a:p>
        </p:txBody>
      </p:sp>
      <p:sp>
        <p:nvSpPr>
          <p:cNvPr id="66" name="Rectangle 65"/>
          <p:cNvSpPr/>
          <p:nvPr/>
        </p:nvSpPr>
        <p:spPr>
          <a:xfrm>
            <a:off x="722376" y="68671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2376" y="6931151"/>
            <a:ext cx="10881360" cy="219456"/>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선례  </a:t>
            </a:r>
            <a:r>
              <a:rPr sz="875" b="0">
                <a:solidFill>
                  <a:srgbClr val="555555"/>
                </a:solidFill>
                <a:latin typeface="Arial"/>
                <a:ea typeface="Arial"/>
              </a:rPr>
              <a:t>Palantir FDE(상주 · 성과 평가 · Anthropic·OpenAI GTM 채택) · Micron↔Anthropic SCA 2026-06(공동 설계 + 다년 공급 + 운영 통합 + 자본) · 삼성·SK의 Anthropic 계약엔 공동 설계 조항 부재</a:t>
            </a:r>
          </a:p>
        </p:txBody>
      </p:sp>
      <p:sp>
        <p:nvSpPr>
          <p:cNvPr id="68" name="TextBox 67"/>
          <p:cNvSpPr txBox="1"/>
          <p:nvPr/>
        </p:nvSpPr>
        <p:spPr>
          <a:xfrm>
            <a:off x="722376" y="7223759"/>
            <a:ext cx="1088136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단계별 통과 조건</a:t>
            </a:r>
            <a:r>
              <a:rPr sz="950" b="0">
                <a:solidFill>
                  <a:srgbClr val="8A8A8A"/>
                </a:solidFill>
                <a:latin typeface="Arial"/>
                <a:ea typeface="Arial"/>
              </a:rPr>
              <a:t>   각 단계의 증명이 다음 단계의 승인 근거</a:t>
            </a:r>
          </a:p>
        </p:txBody>
      </p:sp>
      <p:sp>
        <p:nvSpPr>
          <p:cNvPr id="69" name="Rectangle 68"/>
          <p:cNvSpPr/>
          <p:nvPr/>
        </p:nvSpPr>
        <p:spPr>
          <a:xfrm>
            <a:off x="722376"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0392"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90일</a:t>
            </a:r>
          </a:p>
        </p:txBody>
      </p:sp>
      <p:sp>
        <p:nvSpPr>
          <p:cNvPr id="71" name="TextBox 70"/>
          <p:cNvSpPr txBox="1"/>
          <p:nvPr/>
        </p:nvSpPr>
        <p:spPr>
          <a:xfrm>
            <a:off x="1691640"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등대 고객 1사 트레이스 확보 · KV 캐시 실측(WAF·유효 DWPD) 공개 · 캐시 관리자 플러그인 PR 1건</a:t>
            </a:r>
          </a:p>
        </p:txBody>
      </p:sp>
      <p:sp>
        <p:nvSpPr>
          <p:cNvPr id="72" name="Right Arrow 71"/>
          <p:cNvSpPr/>
          <p:nvPr/>
        </p:nvSpPr>
        <p:spPr>
          <a:xfrm>
            <a:off x="4233672"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416552"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44568"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12개월</a:t>
            </a:r>
          </a:p>
        </p:txBody>
      </p:sp>
      <p:sp>
        <p:nvSpPr>
          <p:cNvPr id="75" name="TextBox 74"/>
          <p:cNvSpPr txBox="1"/>
          <p:nvPr/>
        </p:nvSpPr>
        <p:spPr>
          <a:xfrm>
            <a:off x="5385816"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플러그인 메인라인 머지 · 고객 워크로드에서 QLC 유효 DWPD ≥ 1 실증 · 조건부 보증 초안(6장)</a:t>
            </a:r>
          </a:p>
        </p:txBody>
      </p:sp>
      <p:sp>
        <p:nvSpPr>
          <p:cNvPr id="76" name="Right Arrow 75"/>
          <p:cNvSpPr/>
          <p:nvPr/>
        </p:nvSpPr>
        <p:spPr>
          <a:xfrm>
            <a:off x="7927848"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10728" y="7498079"/>
            <a:ext cx="3493008"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38744"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2027H1</a:t>
            </a:r>
          </a:p>
        </p:txBody>
      </p:sp>
      <p:sp>
        <p:nvSpPr>
          <p:cNvPr id="79" name="TextBox 78"/>
          <p:cNvSpPr txBox="1"/>
          <p:nvPr/>
        </p:nvSpPr>
        <p:spPr>
          <a:xfrm>
            <a:off x="9079992"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디자인인 1사 · 협약에 공동 설계 조항 제안 · 레퍼런스 스택 공개 → 공급 완화 전 락인</a:t>
            </a:r>
          </a:p>
        </p:txBody>
      </p:sp>
      <p:sp>
        <p:nvSpPr>
          <p:cNvPr id="80" name="TextBox 79"/>
          <p:cNvSpPr txBox="1"/>
          <p:nvPr/>
        </p:nvSpPr>
        <p:spPr>
          <a:xfrm>
            <a:off x="11878056" y="2560320"/>
            <a:ext cx="5687567"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개발실 내부 실행</a:t>
            </a:r>
            <a:r>
              <a:rPr sz="1000" b="0">
                <a:solidFill>
                  <a:srgbClr val="8A8A8A"/>
                </a:solidFill>
                <a:latin typeface="Arial"/>
                <a:ea typeface="Arial"/>
              </a:rPr>
              <a:t>   별도 투자 없이 개발 자원 재배치로</a:t>
            </a:r>
          </a:p>
        </p:txBody>
      </p:sp>
      <p:sp>
        <p:nvSpPr>
          <p:cNvPr id="81" name="Rectangle 80"/>
          <p:cNvSpPr/>
          <p:nvPr/>
        </p:nvSpPr>
        <p:spPr>
          <a:xfrm>
            <a:off x="11878056" y="2889503"/>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878056" y="2889503"/>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878056" y="2889503"/>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84" name="TextBox 83"/>
          <p:cNvSpPr txBox="1"/>
          <p:nvPr/>
        </p:nvSpPr>
        <p:spPr>
          <a:xfrm>
            <a:off x="12746736" y="2889503"/>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소프트웨어 조직 강화 (캐시 관리자 · I/O · 커널)</a:t>
            </a:r>
          </a:p>
          <a:p>
            <a:pPr algn="l">
              <a:lnSpc>
                <a:spcPct val="108000"/>
              </a:lnSpc>
            </a:pPr>
            <a:r>
              <a:rPr sz="975" b="0">
                <a:solidFill>
                  <a:srgbClr val="555555"/>
                </a:solidFill>
                <a:latin typeface="Arial"/>
                <a:ea typeface="Arial"/>
              </a:rPr>
              <a:t>Co-Design Pod 3~5명 · 개발실 소속 · 선별 고객 1~2사</a:t>
            </a:r>
          </a:p>
          <a:p>
            <a:pPr algn="l">
              <a:lnSpc>
                <a:spcPct val="108000"/>
              </a:lnSpc>
            </a:pPr>
            <a:r>
              <a:rPr sz="975" b="0">
                <a:solidFill>
                  <a:srgbClr val="555555"/>
                </a:solidFill>
                <a:latin typeface="Arial"/>
                <a:ea typeface="Arial"/>
              </a:rPr>
              <a:t>미주 법인 협업 · 고객 시간대 대응</a:t>
            </a:r>
          </a:p>
        </p:txBody>
      </p:sp>
      <p:sp>
        <p:nvSpPr>
          <p:cNvPr id="85" name="Rectangle 84"/>
          <p:cNvSpPr/>
          <p:nvPr/>
        </p:nvSpPr>
        <p:spPr>
          <a:xfrm>
            <a:off x="11878056" y="4059935"/>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878056" y="4059935"/>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878056" y="4059935"/>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88" name="TextBox 87"/>
          <p:cNvSpPr txBox="1"/>
          <p:nvPr/>
        </p:nvSpPr>
        <p:spPr>
          <a:xfrm>
            <a:off x="12746736" y="4059935"/>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SW 전문가 채용·양성 · 기준 = 고객 코드를 읽고 고치는가</a:t>
            </a:r>
          </a:p>
          <a:p>
            <a:pPr algn="l">
              <a:lnSpc>
                <a:spcPct val="108000"/>
              </a:lnSpc>
            </a:pPr>
            <a:r>
              <a:rPr sz="975" b="0">
                <a:solidFill>
                  <a:srgbClr val="555555"/>
                </a:solidFill>
                <a:latin typeface="Arial"/>
                <a:ea typeface="Arial"/>
              </a:rPr>
              <a:t>본사 엔지니어 상주 로테이션 (3~6개월)</a:t>
            </a:r>
          </a:p>
          <a:p>
            <a:pPr algn="l">
              <a:lnSpc>
                <a:spcPct val="108000"/>
              </a:lnSpc>
            </a:pPr>
            <a:r>
              <a:rPr sz="975" b="0">
                <a:solidFill>
                  <a:srgbClr val="555555"/>
                </a:solidFill>
                <a:latin typeface="Arial"/>
                <a:ea typeface="Arial"/>
              </a:rPr>
              <a:t>성과 평가 = 머지 · 실측 공개 · 디자인인</a:t>
            </a:r>
          </a:p>
        </p:txBody>
      </p:sp>
      <p:sp>
        <p:nvSpPr>
          <p:cNvPr id="89" name="Rectangle 88"/>
          <p:cNvSpPr/>
          <p:nvPr/>
        </p:nvSpPr>
        <p:spPr>
          <a:xfrm>
            <a:off x="11878056" y="5230367"/>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1878056" y="5230367"/>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878056" y="5230367"/>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92" name="TextBox 91"/>
          <p:cNvSpPr txBox="1"/>
          <p:nvPr/>
        </p:nvSpPr>
        <p:spPr>
          <a:xfrm>
            <a:off x="12746736" y="5230367"/>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오픈소스 메인테이너·커미터 배출 · 업스트림 우선</a:t>
            </a:r>
          </a:p>
          <a:p>
            <a:pPr algn="l">
              <a:lnSpc>
                <a:spcPct val="108000"/>
              </a:lnSpc>
            </a:pPr>
            <a:r>
              <a:rPr sz="975" b="0">
                <a:solidFill>
                  <a:srgbClr val="555555"/>
                </a:solidFill>
                <a:latin typeface="Arial"/>
                <a:ea typeface="Arial"/>
              </a:rPr>
              <a:t>KV 캐시 실측(WAF · 유효 DWPD) 업계 최초 공개</a:t>
            </a:r>
          </a:p>
          <a:p>
            <a:pPr algn="l">
              <a:lnSpc>
                <a:spcPct val="108000"/>
              </a:lnSpc>
            </a:pPr>
            <a:r>
              <a:rPr sz="975" b="0">
                <a:solidFill>
                  <a:srgbClr val="555555"/>
                </a:solidFill>
                <a:latin typeface="Arial"/>
                <a:ea typeface="Arial"/>
              </a:rPr>
              <a:t>레퍼런스 프로젝트 운영으로 외부 기여 유입</a:t>
            </a:r>
          </a:p>
        </p:txBody>
      </p:sp>
      <p:sp>
        <p:nvSpPr>
          <p:cNvPr id="93" name="Rectangle 92"/>
          <p:cNvSpPr/>
          <p:nvPr/>
        </p:nvSpPr>
        <p:spPr>
          <a:xfrm>
            <a:off x="11878056" y="6419087"/>
            <a:ext cx="5687567" cy="2011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1878056" y="6419087"/>
            <a:ext cx="54864" cy="20116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079224"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판돈 · 락인으로 얻는 점유율</a:t>
            </a:r>
          </a:p>
        </p:txBody>
      </p:sp>
      <p:sp>
        <p:nvSpPr>
          <p:cNvPr id="96" name="TextBox 95"/>
          <p:cNvSpPr txBox="1"/>
          <p:nvPr/>
        </p:nvSpPr>
        <p:spPr>
          <a:xfrm>
            <a:off x="12079224"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캐시 계층 QLC 0 → 50%</a:t>
            </a:r>
          </a:p>
        </p:txBody>
      </p:sp>
      <p:sp>
        <p:nvSpPr>
          <p:cNvPr id="97" name="TextBox 96"/>
          <p:cNvSpPr txBox="1"/>
          <p:nvPr/>
        </p:nvSpPr>
        <p:spPr>
          <a:xfrm>
            <a:off x="12079224"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2030 추론 캐시 350EB 중 QLC 175EB(조건부 상방) · 락인 없으면 TLC 유지 · 디자인인 1사당 점유율 [사내 확인]</a:t>
            </a:r>
          </a:p>
        </p:txBody>
      </p:sp>
      <p:sp>
        <p:nvSpPr>
          <p:cNvPr id="98" name="TextBox 97"/>
          <p:cNvSpPr txBox="1"/>
          <p:nvPr/>
        </p:nvSpPr>
        <p:spPr>
          <a:xfrm>
            <a:off x="14840712"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비용 · 개발실 자원 투입</a:t>
            </a:r>
          </a:p>
        </p:txBody>
      </p:sp>
      <p:sp>
        <p:nvSpPr>
          <p:cNvPr id="99" name="TextBox 98"/>
          <p:cNvSpPr txBox="1"/>
          <p:nvPr/>
        </p:nvSpPr>
        <p:spPr>
          <a:xfrm>
            <a:off x="14840712"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별도 투자 없음</a:t>
            </a:r>
          </a:p>
        </p:txBody>
      </p:sp>
      <p:sp>
        <p:nvSpPr>
          <p:cNvPr id="100" name="TextBox 99"/>
          <p:cNvSpPr txBox="1"/>
          <p:nvPr/>
        </p:nvSpPr>
        <p:spPr>
          <a:xfrm>
            <a:off x="14840712"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Pod 인력 3~5명 × 1~2사 재배치 · 시스템 SW 채용은 정원 내 · 실측 공개는 보안 검토만</a:t>
            </a:r>
          </a:p>
        </p:txBody>
      </p:sp>
      <p:sp>
        <p:nvSpPr>
          <p:cNvPr id="101" name="Rectangle 10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FDE는 워크로드를 여는 1~2사에 집중해 효과를 극대화하고, 나머지 고객은 업스트림·규격·레퍼런스 채널로 넓힙니다.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04" name="Rectangle 10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보증 · SLA · 무엇을 보증하나</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NVIDIA CMX·Dynamo 문서, OCP 사양, 위키 qlc-execution-strategy(개발실 범위) · 점유율 수치는 위키 수요 모델 §4.3 조건부 상방, 사내 수치는 [사내 확인]</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보증 · SLA  </a:t>
            </a:r>
            <a:r>
              <a:rPr sz="1200" b="0">
                <a:solidFill>
                  <a:srgbClr val="1428A0"/>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유효 DWPD 보증은 WAF 변동 리스크를 수반하므로 텔레메트리 기반 조건부 보증으로 설계합니다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관행은 5년 또는 TBW·DWPD 선도달 보증입니다. 호스트 배치를 전제로 한 유효 DWPD는 WAF가 오르면 그대로 삼성의 보증 부담이 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la_effective_dwpd.png"/>
          <p:cNvPicPr>
            <a:picLocks noChangeAspect="1"/>
          </p:cNvPicPr>
          <p:nvPr/>
        </p:nvPicPr>
        <p:blipFill>
          <a:blip r:embed="rId2"/>
          <a:stretch>
            <a:fillRect/>
          </a:stretch>
        </p:blipFill>
        <p:spPr>
          <a:xfrm>
            <a:off x="722376" y="2560320"/>
            <a:ext cx="5852160" cy="2817707"/>
          </a:xfrm>
          <a:prstGeom prst="rect">
            <a:avLst/>
          </a:prstGeom>
        </p:spPr>
      </p:pic>
      <p:sp>
        <p:nvSpPr>
          <p:cNvPr id="33" name="TextBox 32"/>
          <p:cNvSpPr txBox="1"/>
          <p:nvPr/>
        </p:nvSpPr>
        <p:spPr>
          <a:xfrm>
            <a:off x="722376" y="5541264"/>
            <a:ext cx="585216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리스크 시나리오 · WAF가 오르는 경우</a:t>
            </a:r>
          </a:p>
        </p:txBody>
      </p:sp>
      <p:sp>
        <p:nvSpPr>
          <p:cNvPr id="34" name="Rectangle 33"/>
          <p:cNvSpPr/>
          <p:nvPr/>
        </p:nvSpPr>
        <p:spPr>
          <a:xfrm>
            <a:off x="722376" y="5888736"/>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 y="5833872"/>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① 워크로드 변화  </a:t>
            </a:r>
            <a:r>
              <a:rPr sz="900" b="0">
                <a:solidFill>
                  <a:srgbClr val="555555"/>
                </a:solidFill>
                <a:latin typeface="Arial"/>
                <a:ea typeface="Arial"/>
              </a:rPr>
              <a:t>퇴거 정책 · 프리픽스 재사용률 · 세션 길이가 바뀌면 데이터 수명 분포가 바뀜 → WAF ↑ (KV 캐시 쓰기 강도 자체가 프레임워크별로 상이)</a:t>
            </a:r>
          </a:p>
        </p:txBody>
      </p:sp>
      <p:sp>
        <p:nvSpPr>
          <p:cNvPr id="36" name="Rectangle 35"/>
          <p:cNvSpPr/>
          <p:nvPr/>
        </p:nvSpPr>
        <p:spPr>
          <a:xfrm>
            <a:off x="722376" y="6492240"/>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6437376"/>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② 오분류 · RUH 간섭  </a:t>
            </a:r>
            <a:r>
              <a:rPr sz="900" b="0">
                <a:solidFill>
                  <a:srgbClr val="555555"/>
                </a:solidFill>
                <a:latin typeface="Arial"/>
                <a:ea typeface="Arial"/>
              </a:rPr>
              <a:t>수명 오분류와 RUH 간 간섭(noisy RUH)이 격리를 깨면 다른 핸들의 WAF까지 상승 (FAST'26 WARP)</a:t>
            </a:r>
          </a:p>
        </p:txBody>
      </p:sp>
      <p:sp>
        <p:nvSpPr>
          <p:cNvPr id="38" name="Rectangle 37"/>
          <p:cNvSpPr/>
          <p:nvPr/>
        </p:nvSpPr>
        <p:spPr>
          <a:xfrm>
            <a:off x="722376" y="7095744"/>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040880"/>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③ 고객 스택 업데이트  </a:t>
            </a:r>
            <a:r>
              <a:rPr sz="900" b="0">
                <a:solidFill>
                  <a:srgbClr val="555555"/>
                </a:solidFill>
                <a:latin typeface="Arial"/>
                <a:ea typeface="Arial"/>
              </a:rPr>
              <a:t>캐시 관리자 · I/O 라이브러리 버전 변경으로 배치 힌트가 사라지면 정격 WAF ≈3으로 회귀</a:t>
            </a:r>
          </a:p>
        </p:txBody>
      </p:sp>
      <p:sp>
        <p:nvSpPr>
          <p:cNvPr id="40" name="TextBox 39"/>
          <p:cNvSpPr txBox="1"/>
          <p:nvPr/>
        </p:nvSpPr>
        <p:spPr>
          <a:xfrm>
            <a:off x="722376" y="7662671"/>
            <a:ext cx="5852160" cy="237744"/>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결과  </a:t>
            </a:r>
            <a:r>
              <a:rPr sz="950" b="0">
                <a:solidFill>
                  <a:srgbClr val="555555"/>
                </a:solidFill>
                <a:latin typeface="Arial"/>
                <a:ea typeface="Arial"/>
              </a:rPr>
              <a:t>보증 기간 내 TBW 조기 소진 → RMA · 교체 비용을 삼성이 부담</a:t>
            </a:r>
          </a:p>
        </p:txBody>
      </p:sp>
      <p:sp>
        <p:nvSpPr>
          <p:cNvPr id="41" name="Rectangle 40"/>
          <p:cNvSpPr/>
          <p:nvPr/>
        </p:nvSpPr>
        <p:spPr>
          <a:xfrm>
            <a:off x="6885432" y="2560320"/>
            <a:ext cx="10680192" cy="4754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59752" y="2688336"/>
            <a:ext cx="10131552"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보증 설계 원칙</a:t>
            </a:r>
            <a:r>
              <a:rPr sz="1000" b="0">
                <a:solidFill>
                  <a:srgbClr val="8A8A8A"/>
                </a:solidFill>
                <a:latin typeface="Arial"/>
                <a:ea typeface="Arial"/>
              </a:rPr>
              <a:t>   관행을 유지하고, 유효 DWPD는 조건부로만 표기</a:t>
            </a:r>
          </a:p>
        </p:txBody>
      </p:sp>
      <p:sp>
        <p:nvSpPr>
          <p:cNvPr id="43" name="Rectangle 42"/>
          <p:cNvSpPr/>
          <p:nvPr/>
        </p:nvSpPr>
        <p:spPr>
          <a:xfrm>
            <a:off x="7159752" y="3017520"/>
            <a:ext cx="1013155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159752" y="3172968"/>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59752" y="3172968"/>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1</a:t>
            </a:r>
          </a:p>
        </p:txBody>
      </p:sp>
      <p:sp>
        <p:nvSpPr>
          <p:cNvPr id="46" name="TextBox 45"/>
          <p:cNvSpPr txBox="1"/>
          <p:nvPr/>
        </p:nvSpPr>
        <p:spPr>
          <a:xfrm>
            <a:off x="7562088" y="3145536"/>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 기준은 관행대로 TBW · 물리 매체 기록량 선도달</a:t>
            </a:r>
          </a:p>
        </p:txBody>
      </p:sp>
      <p:sp>
        <p:nvSpPr>
          <p:cNvPr id="47" name="TextBox 46"/>
          <p:cNvSpPr txBox="1"/>
          <p:nvPr/>
        </p:nvSpPr>
        <p:spPr>
          <a:xfrm>
            <a:off x="7562088" y="3392424"/>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5년 또는 TBW·DWPD 선도달(삼성 PM9A3 · Micron 관행) · 유효 DWPD는 부가 표기이지 보증 기준이 아님</a:t>
            </a:r>
          </a:p>
        </p:txBody>
      </p:sp>
      <p:sp>
        <p:nvSpPr>
          <p:cNvPr id="48" name="Oval 47"/>
          <p:cNvSpPr/>
          <p:nvPr/>
        </p:nvSpPr>
        <p:spPr>
          <a:xfrm>
            <a:off x="7159752" y="3941064"/>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59752" y="3941064"/>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2</a:t>
            </a:r>
          </a:p>
        </p:txBody>
      </p:sp>
      <p:sp>
        <p:nvSpPr>
          <p:cNvPr id="50" name="TextBox 49"/>
          <p:cNvSpPr txBox="1"/>
          <p:nvPr/>
        </p:nvSpPr>
        <p:spPr>
          <a:xfrm>
            <a:off x="7562088" y="3913632"/>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유효 DWPD는 WAF 밴드별 조건부 등급</a:t>
            </a:r>
          </a:p>
        </p:txBody>
      </p:sp>
      <p:sp>
        <p:nvSpPr>
          <p:cNvPr id="51" name="TextBox 50"/>
          <p:cNvSpPr txBox="1"/>
          <p:nvPr/>
        </p:nvSpPr>
        <p:spPr>
          <a:xfrm>
            <a:off x="7562088" y="4160520"/>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 1.2 / ≤ 2.0 / &gt; 2.0 각각에 보증 DWPD를 매핑 · 정격 0.58은 WAF 1.74에서 1.0 아래로 내려가므로 밴드 경계를 명시</a:t>
            </a:r>
          </a:p>
        </p:txBody>
      </p:sp>
      <p:sp>
        <p:nvSpPr>
          <p:cNvPr id="52" name="Oval 51"/>
          <p:cNvSpPr/>
          <p:nvPr/>
        </p:nvSpPr>
        <p:spPr>
          <a:xfrm>
            <a:off x="7159752" y="470916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59752" y="4709160"/>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3</a:t>
            </a:r>
          </a:p>
        </p:txBody>
      </p:sp>
      <p:sp>
        <p:nvSpPr>
          <p:cNvPr id="54" name="TextBox 53"/>
          <p:cNvSpPr txBox="1"/>
          <p:nvPr/>
        </p:nvSpPr>
        <p:spPr>
          <a:xfrm>
            <a:off x="7562088" y="4681728"/>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양측이 같은 텔레메트리로 WAF를 관측</a:t>
            </a:r>
          </a:p>
        </p:txBody>
      </p:sp>
      <p:sp>
        <p:nvSpPr>
          <p:cNvPr id="55" name="TextBox 54"/>
          <p:cNvSpPr txBox="1"/>
          <p:nvPr/>
        </p:nvSpPr>
        <p:spPr>
          <a:xfrm>
            <a:off x="7562088" y="4928616"/>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OCP SMART C0 물리 매체 기록량 ÷ 호스트 기록량 = WAF · 분기 실측 리포트를 계약 부속으로</a:t>
            </a:r>
          </a:p>
        </p:txBody>
      </p:sp>
      <p:sp>
        <p:nvSpPr>
          <p:cNvPr id="56" name="Oval 55"/>
          <p:cNvSpPr/>
          <p:nvPr/>
        </p:nvSpPr>
        <p:spPr>
          <a:xfrm>
            <a:off x="7159752" y="5477256"/>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59752" y="5477256"/>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4</a:t>
            </a:r>
          </a:p>
        </p:txBody>
      </p:sp>
      <p:sp>
        <p:nvSpPr>
          <p:cNvPr id="58" name="TextBox 57"/>
          <p:cNvSpPr txBox="1"/>
          <p:nvPr/>
        </p:nvSpPr>
        <p:spPr>
          <a:xfrm>
            <a:off x="7562088" y="5449824"/>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배치 규격 준수 조건</a:t>
            </a:r>
          </a:p>
        </p:txBody>
      </p:sp>
      <p:sp>
        <p:nvSpPr>
          <p:cNvPr id="59" name="TextBox 58"/>
          <p:cNvSpPr txBox="1"/>
          <p:nvPr/>
        </p:nvSpPr>
        <p:spPr>
          <a:xfrm>
            <a:off x="7562088" y="5696712"/>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RUH 매핑 가이드 · 캐시 관리자 정책 준수 시에만 유효 DWPD 적용, 미준수 · 힌트 손실 시 정격 기준으로 자동 복귀</a:t>
            </a:r>
          </a:p>
        </p:txBody>
      </p:sp>
      <p:sp>
        <p:nvSpPr>
          <p:cNvPr id="60" name="Oval 59"/>
          <p:cNvSpPr/>
          <p:nvPr/>
        </p:nvSpPr>
        <p:spPr>
          <a:xfrm>
            <a:off x="7159752" y="6245352"/>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59752" y="6245352"/>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5</a:t>
            </a:r>
          </a:p>
        </p:txBody>
      </p:sp>
      <p:sp>
        <p:nvSpPr>
          <p:cNvPr id="62" name="TextBox 61"/>
          <p:cNvSpPr txBox="1"/>
          <p:nvPr/>
        </p:nvSpPr>
        <p:spPr>
          <a:xfrm>
            <a:off x="7562088" y="6217920"/>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재협상 · 감량 운영 조항</a:t>
            </a:r>
          </a:p>
        </p:txBody>
      </p:sp>
      <p:sp>
        <p:nvSpPr>
          <p:cNvPr id="63" name="TextBox 62"/>
          <p:cNvSpPr txBox="1"/>
          <p:nvPr/>
        </p:nvSpPr>
        <p:spPr>
          <a:xfrm>
            <a:off x="7562088" y="6464808"/>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초과가 지속되면 등급 재조정 또는 감량 운영(2장 FIP 유사) · 무상 교체가 아니라 조건 재설정</a:t>
            </a:r>
          </a:p>
        </p:txBody>
      </p:sp>
      <p:sp>
        <p:nvSpPr>
          <p:cNvPr id="64" name="TextBox 63"/>
          <p:cNvSpPr txBox="1"/>
          <p:nvPr/>
        </p:nvSpPr>
        <p:spPr>
          <a:xfrm>
            <a:off x="7159752" y="7004303"/>
            <a:ext cx="10131552" cy="365760"/>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근거  </a:t>
            </a:r>
            <a:r>
              <a:rPr sz="900" b="0">
                <a:solidFill>
                  <a:srgbClr val="555555"/>
                </a:solidFill>
                <a:latin typeface="Arial"/>
                <a:ea typeface="Arial"/>
              </a:rPr>
              <a:t>삼성 PM9A3 보증(5년 또는 DWPD 선도달) · Micron 엔터프라이즈 SSD 보증 · OCP Cloud SSD SMART C0(WAF 산출 목적 명시) · FAST'26 WARP(조건부 WAF) · CHEOPS'25(KV 오프로드 I/O 특성)</a:t>
            </a:r>
          </a:p>
        </p:txBody>
      </p:sp>
      <p:sp>
        <p:nvSpPr>
          <p:cNvPr id="65" name="Rectangle 64"/>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67" name="Rectangle 66"/>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동급 2~10배</a:t>
            </a:r>
          </a:p>
        </p:txBody>
      </p:sp>
      <p:sp>
        <p:nvSpPr>
          <p:cNvPr id="69" name="Right Arrow 68"/>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8배 ↑</a:t>
            </a:r>
          </a:p>
          <a:p>
            <a:pPr algn="l">
              <a:lnSpc>
                <a:spcPct val="102000"/>
              </a:lnSpc>
            </a:pPr>
            <a:r>
              <a:rPr sz="975" b="0">
                <a:solidFill>
                  <a:srgbClr val="FFFFFF"/>
                </a:solidFill>
                <a:latin typeface="Arial"/>
                <a:ea typeface="Arial"/>
              </a:rPr>
              <a:t>SSD 내부에서 해결</a:t>
            </a:r>
          </a:p>
        </p:txBody>
      </p:sp>
      <p:sp>
        <p:nvSpPr>
          <p:cNvPr id="72" name="Right Arrow 71"/>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75" name="Right Arrow 74"/>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78" name="Right Arrow 77"/>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81" name="Right Arrow 80"/>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보증 · SLA</a:t>
            </a:r>
          </a:p>
          <a:p>
            <a:pPr algn="l">
              <a:lnSpc>
                <a:spcPct val="102000"/>
              </a:lnSpc>
            </a:pPr>
            <a:r>
              <a:rPr sz="975" b="1">
                <a:solidFill>
                  <a:srgbClr val="1A1A1A"/>
                </a:solidFill>
                <a:latin typeface="Arial"/>
                <a:ea typeface="Arial"/>
              </a:rPr>
              <a:t>TBW 기준 유지</a:t>
            </a:r>
          </a:p>
          <a:p>
            <a:pPr algn="l">
              <a:lnSpc>
                <a:spcPct val="102000"/>
              </a:lnSpc>
            </a:pPr>
            <a:r>
              <a:rPr sz="975" b="1">
                <a:solidFill>
                  <a:srgbClr val="1A1A1A"/>
                </a:solidFill>
                <a:latin typeface="Arial"/>
                <a:ea typeface="Arial"/>
              </a:rPr>
              <a:t>WAF 조건부 유효 DWPD</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삼성 PM9A3·Micron 엔터프라이즈 SSD 보증 정책, OCP NVMe Cloud/Datacenter SSD 사양(SMART C0), USENIX FAST'26 WARP, ACM CHEOPS'25, P5336·6550 ION·LC9 사양(정격 DWPD) · 유효 DWPD 곡선은 정격 WAF ≈3 가정의 산식(⚠️)</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