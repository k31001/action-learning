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왼쪽이 교훈, 가운데가 지금 수요의 이동, 오른쪽이 문제입니다. 왼쪽 교훈입니다. 두 레인은 같은 기술을 가진 두 회사의 다른 판단입니다. SK하이닉스는 2013년 AMD와 HBM을 공동 개발했고, 2021년 10월 JEDEC 표준보다 먼저 HBM3 개발을 마쳐 2022년 6월 NVIDIA에 업계 최초로 공급했으며, 2023년 한 해 동안 유일한 양산사였습니다. 그 결과가 2025년 6월 DRAM 매출 1위로, 1992년 이후 처음 있는 역전이었습니다. 2026년 6월에는 NVIDIA와 다년 기술 파트너십을 맺고 Vera Rubin용 메모리를 공동 개발합니다. 아래 레인이 삼성입니다. 중요한 것은 기술이 없지 않았다는 점입니다. 업계 최초 HBM2E는 2019년 3월 삼성이 발표했습니다. 같은 해에 HBM 시장 성장률이 과대평가됐다는 판단으로 전담 조직이 후순위가 됐고, 2024년 4월에야 전담 팀이 재구성되어 5년의 공백이 생겼으며, 12단 HBM3E는 2025년 9월에야 NVIDIA 퀄을 통과해 Blackwell 사이클을 놓쳤습니다. 2019년 조직 판단은 CNBC 보도 계열의 단일 출처이므로 그 점을 밝혀 둡니다. 그리고 그 해 삼성은 감산도 CapEx 삭감도 하지 않았습니다. 돈이 아니라 우선순위의 문제였습니다. 교훈을 한 줄로 쓰면 기술이 없어서가 아니라 시장을 작게 봤기 때문입니다. 그리고 구속력 있는 규격은 표준이 아니라 고객의 사양이었습니다. JEDEC HBM4 표준은 최대 8Gbps인데 NVIDIA는 10에서 13Gbps를 요구했고, 승부는 그 위에서 갈렸습니다. 삼성도 표준 제정 9개사 중 하나였으므로 테이블에 앉았는지가 아니라 고객 사양에 맞췄는지가 변수였습니다. 다만 이 교훈을 영구적 판정으로 쓰면 안 됩니다. 삼성은 2025년 4분기 DRAM 1위를 탈환했고, 2026년 2월 업계 최초로 상용 HBM4를 출하했으며, 2026년 2분기 HBM 점유율은 33%로 직전 분기 대비 12%포인트 올랐습니다. 되돌릴 수 있다는 것도 같은 기록이 보여 줍니다. 변수는 판단을 끊지 않는 것이고, 다음 수요에서 같은 판단을 다시 해야 합니다. 가운데가 지금의 수요입니다. 먼저 구매 기준입니다. 2008년에서 2012년은 성능과 용량당 가격, 2012년에서 2021년은 QoS와 지연 꼬리였습니다. OCP 사양 v2.0이 2021년 7월 지연 모니터를 의무화하면서 제도화됐습니다. 2022년 이후는 용량 밀도와 전력 효율, 물량 확보가 상위 기준입니다. 그 위에 새 수요가 올라왔습니다. 여기가 이번에 추가한 부분입니다. AI 메모리 수요가 HBM 밖으로 넘치고 있습니다. 추론에서 컨텍스트가 길어지고 동시 사용자가 늘면 KV 캐시가 GPU의 HBM을 먼저 채웁니다. HBM은 가속기당 용량이 고정된 계층이라 더 담을 수 없고, 넘친 것은 CPU DRAM으로 내려옵니다. DRAM도 용량당 단가가 벽이어서 다시 넘치고, 그 아래에서 받는 것이 NVMe SSD입니다. 이것은 제 해석이 아니라 NVIDIA Dynamo의 KV 블록 매니저가 실제로 쓰는 4단 위계입니다. G1이 GPU HBM, G2가 CPU DRAM, G3가 로컬 또는 풀 NVMe SSD, G4가 원격 스토리지입니다. NVIDIA는 여기서 더 나아가 CMX로 이 계층을 컨텍스트 메모리 스토리지라는 플랫폼으로 규정했습니다. 시장에서도 같은 말이 나옵니다. TrendForce는 2026년 8월 18일에 Vera Rubin의 HBM에서 NAND로의 스필오버라고 적었고, CMX가 6월 저점 대비 TLC 현물가 반등을 견인했다고 했습니다. 규모로는 CMX의 NAND 소요가 2026년 35엑사바이트에서 2027년 100엑사바이트 이상으로 추정되고, 이것은 SanDisk가 따로 발표한 KV 캐시 수요 2027년 75에서 100엑사바이트와 독립적인 경로인데 같은 자리에서 만납니다. 삼성은 이미 V낸드 캐파의 약 60%를 CMX 대응에 배정한 것으로 보도됐습니다. 이 두 숫자는 보도와 분석가 추정 계열이므로 등급을 낮춰 읽어야 합니다. 한 가지는 분명히 해 두겠습니다. HBM 수요가 줄어서 스토리지로 옮겨 간 것이 아닙니다. HBM은 계속 늘고 있고, 그 위에서 넘친 몫이 새로 스토리지 계층을 열었다는 뜻입니다. 대체가 아니라 스필오버입니다. 그래서 SSD에 오는 요구가 내구성입니다. 추론 수요는 연평균 86%로 학습의 16%보다 훨씬 빠르게 크고, 추론 캐시 계층은 쓰기가 몰리는 첫 대용량 계층입니다. Kioxia는 이 계층 제품으로 CM9 TLC 3 DWPD를 지목했습니다. 요구는 1에서 3 DWPD입니다. 오른쪽이 문제입니다. 요구 1에서 3 DWPD는 TLC로는 이미 충족됩니다. 그런데 고객은 QLC를 원합니다. 용량 밀도가 245TB급으로 네 배이고 TB당 가격이 20에서 30% 싸기 때문입니다. 반면 QLC의 정격은 0.6으로 요구와 2배에서 5배 거리가 있습니다. 고객은 QLC의 밀도와 원가로 TLC의 내구성을 요구하는 셈이고, 이 간극을 메우는 것이 우리가 풀 문제입니다. 고용량화는 두 축의 문제를 낳습니다. 다이 수가 만드는 신뢰성 축이 2장, DWPD 격차가 만드는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고객과 함께 수요를 설계한 기업이 이겼고, 지금 그 수요는 QLC에 1~3 DWPD를 요구합니다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HBM이 보여 준 것은 기술의 차이가 아니라 시장을 보는 눈의 차이였습니다. 그리고 그 수요는 지금 HBM에서 넘쳐 스토리지 계층으로 내려오고 있습니다.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HBM이 가르친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2013 ~ 2026 · 같은 기술, 다른 판단</a:t>
            </a:r>
          </a:p>
        </p:txBody>
      </p:sp>
      <p:sp>
        <p:nvSpPr>
          <p:cNvPr id="40" name="Rectangle 39"/>
          <p:cNvSpPr/>
          <p:nvPr/>
        </p:nvSpPr>
        <p:spPr>
          <a:xfrm>
            <a:off x="1929384" y="4315968"/>
            <a:ext cx="4480559"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6696" y="4187952"/>
            <a:ext cx="859536"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2" name="Rectangle 41"/>
          <p:cNvSpPr/>
          <p:nvPr/>
        </p:nvSpPr>
        <p:spPr>
          <a:xfrm>
            <a:off x="1929384" y="4937760"/>
            <a:ext cx="4480559"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 y="4809744"/>
            <a:ext cx="859536"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44" name="TextBox 43"/>
          <p:cNvSpPr txBox="1"/>
          <p:nvPr/>
        </p:nvSpPr>
        <p:spPr>
          <a:xfrm>
            <a:off x="1563624"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2013</a:t>
            </a:r>
          </a:p>
        </p:txBody>
      </p:sp>
      <p:sp>
        <p:nvSpPr>
          <p:cNvPr id="45" name="TextBox 44"/>
          <p:cNvSpPr txBox="1"/>
          <p:nvPr/>
        </p:nvSpPr>
        <p:spPr>
          <a:xfrm>
            <a:off x="2881435"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2017</a:t>
            </a:r>
          </a:p>
        </p:txBody>
      </p:sp>
      <p:sp>
        <p:nvSpPr>
          <p:cNvPr id="46" name="TextBox 45"/>
          <p:cNvSpPr txBox="1"/>
          <p:nvPr/>
        </p:nvSpPr>
        <p:spPr>
          <a:xfrm>
            <a:off x="4199247"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2021</a:t>
            </a:r>
          </a:p>
        </p:txBody>
      </p:sp>
      <p:sp>
        <p:nvSpPr>
          <p:cNvPr id="47" name="TextBox 46"/>
          <p:cNvSpPr txBox="1"/>
          <p:nvPr/>
        </p:nvSpPr>
        <p:spPr>
          <a:xfrm>
            <a:off x="5517059" y="6089904"/>
            <a:ext cx="731520" cy="182880"/>
          </a:xfrm>
          <a:prstGeom prst="rect">
            <a:avLst/>
          </a:prstGeom>
          <a:noFill/>
        </p:spPr>
        <p:txBody>
          <a:bodyPr wrap="square" anchor="t" lIns="0" rIns="0" tIns="0" bIns="0">
            <a:spAutoFit/>
          </a:bodyPr>
          <a:lstStyle/>
          <a:p>
            <a:pPr algn="ctr">
              <a:lnSpc>
                <a:spcPct val="112000"/>
              </a:lnSpc>
            </a:pPr>
            <a:r>
              <a:rPr sz="950" b="0">
                <a:solidFill>
                  <a:srgbClr val="8A8A8A"/>
                </a:solidFill>
                <a:latin typeface="Arial"/>
                <a:ea typeface="Arial"/>
              </a:rPr>
              <a:t>2025</a:t>
            </a:r>
          </a:p>
        </p:txBody>
      </p:sp>
      <p:sp>
        <p:nvSpPr>
          <p:cNvPr id="48" name="Oval 47"/>
          <p:cNvSpPr/>
          <p:nvPr/>
        </p:nvSpPr>
        <p:spPr>
          <a:xfrm>
            <a:off x="2143595"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218576"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348067"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2013</a:t>
            </a:r>
          </a:p>
          <a:p>
            <a:pPr algn="ctr">
              <a:lnSpc>
                <a:spcPct val="100000"/>
              </a:lnSpc>
            </a:pPr>
            <a:r>
              <a:rPr sz="900" b="0">
                <a:solidFill>
                  <a:srgbClr val="555555"/>
                </a:solidFill>
                <a:latin typeface="Arial"/>
                <a:ea typeface="Arial"/>
              </a:rPr>
              <a:t>AMD와 HBM 공동 개발</a:t>
            </a:r>
          </a:p>
        </p:txBody>
      </p:sp>
      <p:sp>
        <p:nvSpPr>
          <p:cNvPr id="51" name="Oval 50"/>
          <p:cNvSpPr/>
          <p:nvPr/>
        </p:nvSpPr>
        <p:spPr>
          <a:xfrm>
            <a:off x="4812164"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87145"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16636" y="2980944"/>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2021-10 → 2022-06</a:t>
            </a:r>
          </a:p>
          <a:p>
            <a:pPr algn="ctr">
              <a:lnSpc>
                <a:spcPct val="100000"/>
              </a:lnSpc>
            </a:pPr>
            <a:r>
              <a:rPr sz="900" b="0">
                <a:solidFill>
                  <a:srgbClr val="555555"/>
                </a:solidFill>
                <a:latin typeface="Arial"/>
                <a:ea typeface="Arial"/>
              </a:rPr>
              <a:t>표준보다 먼저 개발 →</a:t>
            </a:r>
          </a:p>
          <a:p>
            <a:pPr algn="ctr">
              <a:lnSpc>
                <a:spcPct val="100000"/>
              </a:lnSpc>
            </a:pPr>
            <a:r>
              <a:rPr sz="900" b="0">
                <a:solidFill>
                  <a:srgbClr val="555555"/>
                </a:solidFill>
                <a:latin typeface="Arial"/>
                <a:ea typeface="Arial"/>
              </a:rPr>
              <a:t>NVIDIA 최초 공급</a:t>
            </a:r>
          </a:p>
        </p:txBody>
      </p:sp>
      <p:sp>
        <p:nvSpPr>
          <p:cNvPr id="54" name="Oval 53"/>
          <p:cNvSpPr/>
          <p:nvPr/>
        </p:nvSpPr>
        <p:spPr>
          <a:xfrm>
            <a:off x="5965249" y="424738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040230" y="4041648"/>
            <a:ext cx="14630"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27448" y="3511296"/>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2025-06</a:t>
            </a:r>
          </a:p>
          <a:p>
            <a:pPr algn="ctr">
              <a:lnSpc>
                <a:spcPct val="100000"/>
              </a:lnSpc>
            </a:pPr>
            <a:r>
              <a:rPr sz="900" b="0">
                <a:solidFill>
                  <a:srgbClr val="555555"/>
                </a:solidFill>
                <a:latin typeface="Arial"/>
                <a:ea typeface="Arial"/>
              </a:rPr>
              <a:t>DRAM 매출 1위</a:t>
            </a:r>
          </a:p>
          <a:p>
            <a:pPr algn="ctr">
              <a:lnSpc>
                <a:spcPct val="100000"/>
              </a:lnSpc>
            </a:pPr>
            <a:r>
              <a:rPr sz="900" b="0">
                <a:solidFill>
                  <a:srgbClr val="555555"/>
                </a:solidFill>
                <a:latin typeface="Arial"/>
                <a:ea typeface="Arial"/>
              </a:rPr>
              <a:t>1992년 이후 처음</a:t>
            </a:r>
          </a:p>
        </p:txBody>
      </p:sp>
      <p:sp>
        <p:nvSpPr>
          <p:cNvPr id="57" name="Oval 56"/>
          <p:cNvSpPr/>
          <p:nvPr/>
        </p:nvSpPr>
        <p:spPr>
          <a:xfrm>
            <a:off x="3889696"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964677"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94168"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2019</a:t>
            </a:r>
          </a:p>
          <a:p>
            <a:pPr algn="ctr">
              <a:lnSpc>
                <a:spcPct val="100000"/>
              </a:lnSpc>
            </a:pPr>
            <a:r>
              <a:rPr sz="900" b="0">
                <a:solidFill>
                  <a:srgbClr val="555555"/>
                </a:solidFill>
                <a:latin typeface="Arial"/>
                <a:ea typeface="Arial"/>
              </a:rPr>
              <a:t>시장 성장률을 과대평가로 보고</a:t>
            </a:r>
          </a:p>
          <a:p>
            <a:pPr algn="ctr">
              <a:lnSpc>
                <a:spcPct val="100000"/>
              </a:lnSpc>
            </a:pPr>
            <a:r>
              <a:rPr sz="900" b="0">
                <a:solidFill>
                  <a:srgbClr val="555555"/>
                </a:solidFill>
                <a:latin typeface="Arial"/>
                <a:ea typeface="Arial"/>
              </a:rPr>
              <a:t>전담 조직 후순위</a:t>
            </a:r>
          </a:p>
        </p:txBody>
      </p:sp>
      <p:sp>
        <p:nvSpPr>
          <p:cNvPr id="60" name="Oval 59"/>
          <p:cNvSpPr/>
          <p:nvPr/>
        </p:nvSpPr>
        <p:spPr>
          <a:xfrm>
            <a:off x="5569906"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44887"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727448" y="5760720"/>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2024-04</a:t>
            </a:r>
          </a:p>
          <a:p>
            <a:pPr algn="ctr">
              <a:lnSpc>
                <a:spcPct val="100000"/>
              </a:lnSpc>
            </a:pPr>
            <a:r>
              <a:rPr sz="900" b="0">
                <a:solidFill>
                  <a:srgbClr val="555555"/>
                </a:solidFill>
                <a:latin typeface="Arial"/>
                <a:ea typeface="Arial"/>
              </a:rPr>
              <a:t>전담 팀 재구성 · 5년 공백</a:t>
            </a:r>
          </a:p>
        </p:txBody>
      </p:sp>
      <p:sp>
        <p:nvSpPr>
          <p:cNvPr id="63" name="Oval 62"/>
          <p:cNvSpPr/>
          <p:nvPr/>
        </p:nvSpPr>
        <p:spPr>
          <a:xfrm>
            <a:off x="6031140" y="4869180"/>
            <a:ext cx="164592" cy="164592"/>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06121" y="5029200"/>
            <a:ext cx="14630"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727448" y="5230368"/>
            <a:ext cx="1755648" cy="512064"/>
          </a:xfrm>
          <a:prstGeom prst="rect">
            <a:avLst/>
          </a:prstGeom>
          <a:noFill/>
        </p:spPr>
        <p:txBody>
          <a:bodyPr wrap="square" anchor="t" lIns="0" rIns="0" tIns="0" bIns="0">
            <a:spAutoFit/>
          </a:bodyPr>
          <a:lstStyle/>
          <a:p>
            <a:pPr algn="ctr">
              <a:lnSpc>
                <a:spcPct val="100000"/>
              </a:lnSpc>
            </a:pPr>
            <a:r>
              <a:rPr sz="950" b="1">
                <a:solidFill>
                  <a:srgbClr val="1A1A1A"/>
                </a:solidFill>
                <a:latin typeface="Arial"/>
                <a:ea typeface="Arial"/>
              </a:rPr>
              <a:t>2025-09</a:t>
            </a:r>
          </a:p>
          <a:p>
            <a:pPr algn="ctr">
              <a:lnSpc>
                <a:spcPct val="100000"/>
              </a:lnSpc>
            </a:pPr>
            <a:r>
              <a:rPr sz="900" b="0">
                <a:solidFill>
                  <a:srgbClr val="555555"/>
                </a:solidFill>
                <a:latin typeface="Arial"/>
                <a:ea typeface="Arial"/>
              </a:rPr>
              <a:t>12단 HBM3E 퀄 통과</a:t>
            </a:r>
          </a:p>
          <a:p>
            <a:pPr algn="ctr">
              <a:lnSpc>
                <a:spcPct val="100000"/>
              </a:lnSpc>
            </a:pPr>
            <a:r>
              <a:rPr sz="900" b="0">
                <a:solidFill>
                  <a:srgbClr val="555555"/>
                </a:solidFill>
                <a:latin typeface="Arial"/>
                <a:ea typeface="Arial"/>
              </a:rPr>
              <a:t>18개월 지연</a:t>
            </a:r>
          </a:p>
        </p:txBody>
      </p:sp>
      <p:sp>
        <p:nvSpPr>
          <p:cNvPr id="66" name="TextBox 65"/>
          <p:cNvSpPr txBox="1"/>
          <p:nvPr/>
        </p:nvSpPr>
        <p:spPr>
          <a:xfrm>
            <a:off x="1995274" y="4480559"/>
            <a:ext cx="3108960" cy="365760"/>
          </a:xfrm>
          <a:prstGeom prst="rect">
            <a:avLst/>
          </a:prstGeom>
          <a:noFill/>
        </p:spPr>
        <p:txBody>
          <a:bodyPr wrap="square" anchor="t" lIns="0" rIns="0" tIns="0" bIns="0">
            <a:spAutoFit/>
          </a:bodyPr>
          <a:lstStyle/>
          <a:p>
            <a:pPr algn="l">
              <a:lnSpc>
                <a:spcPct val="100000"/>
              </a:lnSpc>
            </a:pPr>
            <a:r>
              <a:rPr sz="900" b="1">
                <a:solidFill>
                  <a:srgbClr val="1A1A1A"/>
                </a:solidFill>
                <a:latin typeface="Arial"/>
                <a:ea typeface="Arial"/>
              </a:rPr>
              <a:t>업계 최초 HBM2E는 삼성이 2019-03에 발표했습니다</a:t>
            </a:r>
          </a:p>
          <a:p>
            <a:pPr algn="l">
              <a:lnSpc>
                <a:spcPct val="100000"/>
              </a:lnSpc>
            </a:pPr>
            <a:r>
              <a:rPr sz="900" b="0">
                <a:solidFill>
                  <a:srgbClr val="555555"/>
                </a:solidFill>
                <a:latin typeface="Arial"/>
                <a:ea typeface="Arial"/>
              </a:rPr>
              <a:t>기술의 차이가 아니었습니다</a:t>
            </a:r>
          </a:p>
        </p:txBody>
      </p:sp>
      <p:sp>
        <p:nvSpPr>
          <p:cNvPr id="67" name="Rectangle 66"/>
          <p:cNvSpPr/>
          <p:nvPr/>
        </p:nvSpPr>
        <p:spPr>
          <a:xfrm>
            <a:off x="996696" y="6327648"/>
            <a:ext cx="5486400"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34440" y="6419088"/>
            <a:ext cx="5010912" cy="274320"/>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기술이 없어서가 아니라 시장을 작게 봤기 때문입니다</a:t>
            </a:r>
          </a:p>
        </p:txBody>
      </p:sp>
      <p:sp>
        <p:nvSpPr>
          <p:cNvPr id="69" name="TextBox 68"/>
          <p:cNvSpPr txBox="1"/>
          <p:nvPr/>
        </p:nvSpPr>
        <p:spPr>
          <a:xfrm>
            <a:off x="1234440" y="6729984"/>
            <a:ext cx="5010912" cy="292608"/>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구속력 있는 규격은 표준이 아니라 고객의 사양이었습니다 · JEDEC HBM4 8 Gbps 대 NVIDIA 요구 10~13 Gbps</a:t>
            </a:r>
          </a:p>
        </p:txBody>
      </p:sp>
      <p:sp>
        <p:nvSpPr>
          <p:cNvPr id="70" name="TextBox 69"/>
          <p:cNvSpPr txBox="1"/>
          <p:nvPr/>
        </p:nvSpPr>
        <p:spPr>
          <a:xfrm>
            <a:off x="996696" y="7260336"/>
            <a:ext cx="548640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되돌릴 수 있다는 것도 같은 기록이 보여 줍니다</a:t>
            </a:r>
          </a:p>
        </p:txBody>
      </p:sp>
      <p:sp>
        <p:nvSpPr>
          <p:cNvPr id="71" name="Rectangle 70"/>
          <p:cNvSpPr/>
          <p:nvPr/>
        </p:nvSpPr>
        <p:spPr>
          <a:xfrm>
            <a:off x="996696"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24712"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2025-Q4</a:t>
            </a:r>
          </a:p>
        </p:txBody>
      </p:sp>
      <p:sp>
        <p:nvSpPr>
          <p:cNvPr id="73" name="TextBox 72"/>
          <p:cNvSpPr txBox="1"/>
          <p:nvPr/>
        </p:nvSpPr>
        <p:spPr>
          <a:xfrm>
            <a:off x="1124712"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DRAM 1위 탈환</a:t>
            </a:r>
          </a:p>
        </p:txBody>
      </p:sp>
      <p:sp>
        <p:nvSpPr>
          <p:cNvPr id="74" name="Rectangle 73"/>
          <p:cNvSpPr/>
          <p:nvPr/>
        </p:nvSpPr>
        <p:spPr>
          <a:xfrm>
            <a:off x="2868168"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996184"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2026-02</a:t>
            </a:r>
          </a:p>
        </p:txBody>
      </p:sp>
      <p:sp>
        <p:nvSpPr>
          <p:cNvPr id="76" name="TextBox 75"/>
          <p:cNvSpPr txBox="1"/>
          <p:nvPr/>
        </p:nvSpPr>
        <p:spPr>
          <a:xfrm>
            <a:off x="2996184"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업계 최초 상용 HBM4 출하</a:t>
            </a:r>
          </a:p>
        </p:txBody>
      </p:sp>
      <p:sp>
        <p:nvSpPr>
          <p:cNvPr id="77" name="Rectangle 76"/>
          <p:cNvSpPr/>
          <p:nvPr/>
        </p:nvSpPr>
        <p:spPr>
          <a:xfrm>
            <a:off x="4739639" y="7516367"/>
            <a:ext cx="1743455" cy="56692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867655" y="7552944"/>
            <a:ext cx="1487423" cy="201168"/>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2026-Q2</a:t>
            </a:r>
          </a:p>
        </p:txBody>
      </p:sp>
      <p:sp>
        <p:nvSpPr>
          <p:cNvPr id="79" name="TextBox 78"/>
          <p:cNvSpPr txBox="1"/>
          <p:nvPr/>
        </p:nvSpPr>
        <p:spPr>
          <a:xfrm>
            <a:off x="4867655" y="7754112"/>
            <a:ext cx="1487423" cy="310896"/>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HBM 점유 33% · 직전 분기 +12%p</a:t>
            </a:r>
          </a:p>
        </p:txBody>
      </p:sp>
      <p:sp>
        <p:nvSpPr>
          <p:cNvPr id="80" name="TextBox 79"/>
          <p:cNvSpPr txBox="1"/>
          <p:nvPr/>
        </p:nvSpPr>
        <p:spPr>
          <a:xfrm>
            <a:off x="996696" y="8156448"/>
            <a:ext cx="5486400"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변수는 판단을 끊지 않는 것입니다 · 다음 수요에서 같은 판단을 다시 해야 합니다</a:t>
            </a:r>
          </a:p>
        </p:txBody>
      </p:sp>
      <p:sp>
        <p:nvSpPr>
          <p:cNvPr id="81" name="Rectangle 80"/>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같은 수요가 스토리지로</a:t>
            </a:r>
          </a:p>
        </p:txBody>
      </p:sp>
      <p:sp>
        <p:nvSpPr>
          <p:cNvPr id="84" name="TextBox 83"/>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HBM에서 넘친 것이 NAND로 내려온다</a:t>
            </a:r>
          </a:p>
        </p:txBody>
      </p:sp>
      <p:sp>
        <p:nvSpPr>
          <p:cNvPr id="85" name="TextBox 84"/>
          <p:cNvSpPr txBox="1"/>
          <p:nvPr/>
        </p:nvSpPr>
        <p:spPr>
          <a:xfrm>
            <a:off x="7251192" y="3310127"/>
            <a:ext cx="5212080"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기준은 이렇게 움직여 왔습니다</a:t>
            </a:r>
          </a:p>
        </p:txBody>
      </p:sp>
      <p:sp>
        <p:nvSpPr>
          <p:cNvPr id="86" name="Rectangle 85"/>
          <p:cNvSpPr/>
          <p:nvPr/>
        </p:nvSpPr>
        <p:spPr>
          <a:xfrm>
            <a:off x="7251192" y="3511296"/>
            <a:ext cx="1591056" cy="6400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24344" y="3566160"/>
            <a:ext cx="1444752" cy="164592"/>
          </a:xfrm>
          <a:prstGeom prst="rect">
            <a:avLst/>
          </a:prstGeom>
          <a:noFill/>
        </p:spPr>
        <p:txBody>
          <a:bodyPr wrap="square" anchor="t" lIns="0" rIns="0" tIns="0" bIns="0">
            <a:spAutoFit/>
          </a:bodyPr>
          <a:lstStyle/>
          <a:p>
            <a:pPr algn="ctr">
              <a:lnSpc>
                <a:spcPct val="112000"/>
              </a:lnSpc>
            </a:pPr>
            <a:r>
              <a:rPr sz="875" b="0">
                <a:solidFill>
                  <a:srgbClr val="8A8A8A"/>
                </a:solidFill>
                <a:latin typeface="Arial"/>
                <a:ea typeface="Arial"/>
              </a:rPr>
              <a:t>2008~12</a:t>
            </a:r>
          </a:p>
        </p:txBody>
      </p:sp>
      <p:sp>
        <p:nvSpPr>
          <p:cNvPr id="88" name="TextBox 87"/>
          <p:cNvSpPr txBox="1"/>
          <p:nvPr/>
        </p:nvSpPr>
        <p:spPr>
          <a:xfrm>
            <a:off x="7306055" y="3739896"/>
            <a:ext cx="1481328" cy="347472"/>
          </a:xfrm>
          <a:prstGeom prst="rect">
            <a:avLst/>
          </a:prstGeom>
          <a:noFill/>
        </p:spPr>
        <p:txBody>
          <a:bodyPr wrap="square" anchor="t" lIns="0" rIns="0" tIns="0" bIns="0">
            <a:spAutoFit/>
          </a:bodyPr>
          <a:lstStyle/>
          <a:p>
            <a:pPr algn="ctr">
              <a:lnSpc>
                <a:spcPct val="100000"/>
              </a:lnSpc>
            </a:pPr>
            <a:r>
              <a:rPr sz="1050" b="1">
                <a:solidFill>
                  <a:srgbClr val="1A1A1A"/>
                </a:solidFill>
                <a:latin typeface="Arial"/>
                <a:ea typeface="Arial"/>
              </a:rPr>
              <a:t>성능 · 용량당 가격</a:t>
            </a:r>
          </a:p>
        </p:txBody>
      </p:sp>
      <p:sp>
        <p:nvSpPr>
          <p:cNvPr id="89" name="Right Arrow 88"/>
          <p:cNvSpPr/>
          <p:nvPr/>
        </p:nvSpPr>
        <p:spPr>
          <a:xfrm>
            <a:off x="8878824" y="3749039"/>
            <a:ext cx="146303"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061704" y="3511296"/>
            <a:ext cx="1591056" cy="6400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134856" y="3566160"/>
            <a:ext cx="1444752" cy="164592"/>
          </a:xfrm>
          <a:prstGeom prst="rect">
            <a:avLst/>
          </a:prstGeom>
          <a:noFill/>
        </p:spPr>
        <p:txBody>
          <a:bodyPr wrap="square" anchor="t" lIns="0" rIns="0" tIns="0" bIns="0">
            <a:spAutoFit/>
          </a:bodyPr>
          <a:lstStyle/>
          <a:p>
            <a:pPr algn="ctr">
              <a:lnSpc>
                <a:spcPct val="112000"/>
              </a:lnSpc>
            </a:pPr>
            <a:r>
              <a:rPr sz="875" b="0">
                <a:solidFill>
                  <a:srgbClr val="8A8A8A"/>
                </a:solidFill>
                <a:latin typeface="Arial"/>
                <a:ea typeface="Arial"/>
              </a:rPr>
              <a:t>2012~21</a:t>
            </a:r>
          </a:p>
        </p:txBody>
      </p:sp>
      <p:sp>
        <p:nvSpPr>
          <p:cNvPr id="92" name="TextBox 91"/>
          <p:cNvSpPr txBox="1"/>
          <p:nvPr/>
        </p:nvSpPr>
        <p:spPr>
          <a:xfrm>
            <a:off x="9116568" y="3739896"/>
            <a:ext cx="1481328" cy="347472"/>
          </a:xfrm>
          <a:prstGeom prst="rect">
            <a:avLst/>
          </a:prstGeom>
          <a:noFill/>
        </p:spPr>
        <p:txBody>
          <a:bodyPr wrap="square" anchor="t" lIns="0" rIns="0" tIns="0" bIns="0">
            <a:spAutoFit/>
          </a:bodyPr>
          <a:lstStyle/>
          <a:p>
            <a:pPr algn="ctr">
              <a:lnSpc>
                <a:spcPct val="100000"/>
              </a:lnSpc>
            </a:pPr>
            <a:r>
              <a:rPr sz="1050" b="1">
                <a:solidFill>
                  <a:srgbClr val="1A1A1A"/>
                </a:solidFill>
                <a:latin typeface="Arial"/>
                <a:ea typeface="Arial"/>
              </a:rPr>
              <a:t>QoS · 지연 꼬리</a:t>
            </a:r>
          </a:p>
        </p:txBody>
      </p:sp>
      <p:sp>
        <p:nvSpPr>
          <p:cNvPr id="93" name="Right Arrow 92"/>
          <p:cNvSpPr/>
          <p:nvPr/>
        </p:nvSpPr>
        <p:spPr>
          <a:xfrm>
            <a:off x="10689336" y="3749039"/>
            <a:ext cx="146303"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0872216" y="3511296"/>
            <a:ext cx="1591056" cy="6400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945368" y="3566160"/>
            <a:ext cx="1444752" cy="164592"/>
          </a:xfrm>
          <a:prstGeom prst="rect">
            <a:avLst/>
          </a:prstGeom>
          <a:noFill/>
        </p:spPr>
        <p:txBody>
          <a:bodyPr wrap="square" anchor="t" lIns="0" rIns="0" tIns="0" bIns="0">
            <a:spAutoFit/>
          </a:bodyPr>
          <a:lstStyle/>
          <a:p>
            <a:pPr algn="ctr">
              <a:lnSpc>
                <a:spcPct val="112000"/>
              </a:lnSpc>
            </a:pPr>
            <a:r>
              <a:rPr sz="875" b="0">
                <a:solidFill>
                  <a:srgbClr val="AAB8E8"/>
                </a:solidFill>
                <a:latin typeface="Arial"/>
                <a:ea typeface="Arial"/>
              </a:rPr>
              <a:t>2022~26</a:t>
            </a:r>
          </a:p>
        </p:txBody>
      </p:sp>
      <p:sp>
        <p:nvSpPr>
          <p:cNvPr id="96" name="TextBox 95"/>
          <p:cNvSpPr txBox="1"/>
          <p:nvPr/>
        </p:nvSpPr>
        <p:spPr>
          <a:xfrm>
            <a:off x="10927080" y="3739896"/>
            <a:ext cx="1481328" cy="347472"/>
          </a:xfrm>
          <a:prstGeom prst="rect">
            <a:avLst/>
          </a:prstGeom>
          <a:noFill/>
        </p:spPr>
        <p:txBody>
          <a:bodyPr wrap="square" anchor="t" lIns="0" rIns="0" tIns="0" bIns="0">
            <a:spAutoFit/>
          </a:bodyPr>
          <a:lstStyle/>
          <a:p>
            <a:pPr algn="ctr">
              <a:lnSpc>
                <a:spcPct val="100000"/>
              </a:lnSpc>
            </a:pPr>
            <a:r>
              <a:rPr sz="1050" b="1">
                <a:solidFill>
                  <a:srgbClr val="FFFFFF"/>
                </a:solidFill>
                <a:latin typeface="Arial"/>
                <a:ea typeface="Arial"/>
              </a:rPr>
              <a:t>밀도 · 전력 · 물량</a:t>
            </a:r>
          </a:p>
        </p:txBody>
      </p:sp>
      <p:sp>
        <p:nvSpPr>
          <p:cNvPr id="97" name="TextBox 96"/>
          <p:cNvSpPr txBox="1"/>
          <p:nvPr/>
        </p:nvSpPr>
        <p:spPr>
          <a:xfrm>
            <a:off x="7251192" y="4297680"/>
            <a:ext cx="5212080"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그 위에 새 수요가 올라왔습니다   </a:t>
            </a:r>
            <a:r>
              <a:rPr sz="1050" b="1">
                <a:solidFill>
                  <a:srgbClr val="1428A0"/>
                </a:solidFill>
                <a:latin typeface="Arial"/>
                <a:ea typeface="Arial"/>
              </a:rPr>
              <a:t>AI 메모리 수요가 HBM 밖으로 넘칩니다</a:t>
            </a:r>
          </a:p>
        </p:txBody>
      </p:sp>
      <p:sp>
        <p:nvSpPr>
          <p:cNvPr id="98" name="Rectangle 97"/>
          <p:cNvSpPr/>
          <p:nvPr/>
        </p:nvSpPr>
        <p:spPr>
          <a:xfrm>
            <a:off x="7251192" y="4535424"/>
            <a:ext cx="5212080"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251192" y="4535424"/>
            <a:ext cx="530352" cy="51206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51192" y="4535424"/>
            <a:ext cx="530352" cy="51206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G1</a:t>
            </a:r>
          </a:p>
        </p:txBody>
      </p:sp>
      <p:sp>
        <p:nvSpPr>
          <p:cNvPr id="101" name="TextBox 100"/>
          <p:cNvSpPr txBox="1"/>
          <p:nvPr/>
        </p:nvSpPr>
        <p:spPr>
          <a:xfrm>
            <a:off x="7909560" y="4599432"/>
            <a:ext cx="1664208" cy="228600"/>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GPU HBM</a:t>
            </a:r>
          </a:p>
        </p:txBody>
      </p:sp>
      <p:sp>
        <p:nvSpPr>
          <p:cNvPr id="102" name="TextBox 101"/>
          <p:cNvSpPr txBox="1"/>
          <p:nvPr/>
        </p:nvSpPr>
        <p:spPr>
          <a:xfrm>
            <a:off x="7909560" y="4828032"/>
            <a:ext cx="1664208" cy="173736"/>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용량이 고정된 계층</a:t>
            </a:r>
          </a:p>
        </p:txBody>
      </p:sp>
      <p:sp>
        <p:nvSpPr>
          <p:cNvPr id="103" name="TextBox 102"/>
          <p:cNvSpPr txBox="1"/>
          <p:nvPr/>
        </p:nvSpPr>
        <p:spPr>
          <a:xfrm>
            <a:off x="9646920" y="4572000"/>
            <a:ext cx="2688336" cy="438912"/>
          </a:xfrm>
          <a:prstGeom prst="rect">
            <a:avLst/>
          </a:prstGeom>
          <a:noFill/>
        </p:spPr>
        <p:txBody>
          <a:bodyPr wrap="square" anchor="ctr" lIns="0" rIns="0" tIns="0" bIns="0">
            <a:spAutoFit/>
          </a:bodyPr>
          <a:lstStyle/>
          <a:p>
            <a:pPr algn="l">
              <a:lnSpc>
                <a:spcPct val="104000"/>
              </a:lnSpc>
            </a:pPr>
            <a:r>
              <a:rPr sz="950" b="0">
                <a:solidFill>
                  <a:srgbClr val="AAB8E8"/>
                </a:solidFill>
                <a:latin typeface="Arial"/>
                <a:ea typeface="Arial"/>
              </a:rPr>
              <a:t>길어진 컨텍스트가 먼저 채웁니다</a:t>
            </a:r>
          </a:p>
        </p:txBody>
      </p:sp>
      <p:sp>
        <p:nvSpPr>
          <p:cNvPr id="104" name="Down Arrow 103"/>
          <p:cNvSpPr/>
          <p:nvPr/>
        </p:nvSpPr>
        <p:spPr>
          <a:xfrm>
            <a:off x="7443216" y="5056631"/>
            <a:ext cx="146304" cy="146304"/>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671816" y="5047488"/>
            <a:ext cx="4700016" cy="164592"/>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106" name="Rectangle 105"/>
          <p:cNvSpPr/>
          <p:nvPr/>
        </p:nvSpPr>
        <p:spPr>
          <a:xfrm>
            <a:off x="7251192" y="5212080"/>
            <a:ext cx="5212080"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251192" y="5212080"/>
            <a:ext cx="530352"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251192" y="5212080"/>
            <a:ext cx="530352" cy="51206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G2</a:t>
            </a:r>
          </a:p>
        </p:txBody>
      </p:sp>
      <p:sp>
        <p:nvSpPr>
          <p:cNvPr id="109" name="TextBox 108"/>
          <p:cNvSpPr txBox="1"/>
          <p:nvPr/>
        </p:nvSpPr>
        <p:spPr>
          <a:xfrm>
            <a:off x="7909560" y="5276088"/>
            <a:ext cx="1664208" cy="228600"/>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CPU DRAM</a:t>
            </a:r>
          </a:p>
        </p:txBody>
      </p:sp>
      <p:sp>
        <p:nvSpPr>
          <p:cNvPr id="110" name="TextBox 109"/>
          <p:cNvSpPr txBox="1"/>
          <p:nvPr/>
        </p:nvSpPr>
        <p:spPr>
          <a:xfrm>
            <a:off x="7909560" y="5504688"/>
            <a:ext cx="1664208" cy="17373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노드 안팎의 확장</a:t>
            </a:r>
          </a:p>
        </p:txBody>
      </p:sp>
      <p:sp>
        <p:nvSpPr>
          <p:cNvPr id="111" name="TextBox 110"/>
          <p:cNvSpPr txBox="1"/>
          <p:nvPr/>
        </p:nvSpPr>
        <p:spPr>
          <a:xfrm>
            <a:off x="9646920" y="5248656"/>
            <a:ext cx="2688336" cy="438912"/>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용량당 단가가 벽입니다</a:t>
            </a:r>
          </a:p>
        </p:txBody>
      </p:sp>
      <p:sp>
        <p:nvSpPr>
          <p:cNvPr id="112" name="Down Arrow 111"/>
          <p:cNvSpPr/>
          <p:nvPr/>
        </p:nvSpPr>
        <p:spPr>
          <a:xfrm>
            <a:off x="7443216" y="5733288"/>
            <a:ext cx="146304" cy="146304"/>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671816" y="5724144"/>
            <a:ext cx="4700016" cy="164592"/>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14" name="Rectangle 113"/>
          <p:cNvSpPr/>
          <p:nvPr/>
        </p:nvSpPr>
        <p:spPr>
          <a:xfrm>
            <a:off x="7251192" y="5888736"/>
            <a:ext cx="5212080" cy="512064"/>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7251192" y="5888736"/>
            <a:ext cx="530352"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251192" y="5888736"/>
            <a:ext cx="530352" cy="51206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G3</a:t>
            </a:r>
          </a:p>
        </p:txBody>
      </p:sp>
      <p:sp>
        <p:nvSpPr>
          <p:cNvPr id="117" name="TextBox 116"/>
          <p:cNvSpPr txBox="1"/>
          <p:nvPr/>
        </p:nvSpPr>
        <p:spPr>
          <a:xfrm>
            <a:off x="7909560" y="5952744"/>
            <a:ext cx="1664208" cy="22860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NVMe SSD</a:t>
            </a:r>
          </a:p>
        </p:txBody>
      </p:sp>
      <p:sp>
        <p:nvSpPr>
          <p:cNvPr id="118" name="TextBox 117"/>
          <p:cNvSpPr txBox="1"/>
          <p:nvPr/>
        </p:nvSpPr>
        <p:spPr>
          <a:xfrm>
            <a:off x="7909560" y="6181344"/>
            <a:ext cx="1664208" cy="17373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새로 열린 계층</a:t>
            </a:r>
          </a:p>
        </p:txBody>
      </p:sp>
      <p:sp>
        <p:nvSpPr>
          <p:cNvPr id="119" name="TextBox 118"/>
          <p:cNvSpPr txBox="1"/>
          <p:nvPr/>
        </p:nvSpPr>
        <p:spPr>
          <a:xfrm>
            <a:off x="9646920" y="5925312"/>
            <a:ext cx="2688336" cy="438912"/>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쓰기가 몰리는 첫 대용량 계층</a:t>
            </a:r>
          </a:p>
        </p:txBody>
      </p:sp>
      <p:sp>
        <p:nvSpPr>
          <p:cNvPr id="120" name="TextBox 119"/>
          <p:cNvSpPr txBox="1"/>
          <p:nvPr/>
        </p:nvSpPr>
        <p:spPr>
          <a:xfrm>
            <a:off x="7251192" y="6446520"/>
            <a:ext cx="521208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NVIDIA Dynamo KVBM의 4단 위계 · HBM 수요가 준 것이 아니라 넘친 것이 내려왔습니다</a:t>
            </a:r>
          </a:p>
        </p:txBody>
      </p:sp>
      <p:sp>
        <p:nvSpPr>
          <p:cNvPr id="121" name="Rectangle 120"/>
          <p:cNvSpPr/>
          <p:nvPr/>
        </p:nvSpPr>
        <p:spPr>
          <a:xfrm>
            <a:off x="7251192" y="6693408"/>
            <a:ext cx="5212080" cy="80467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15783" y="6748272"/>
            <a:ext cx="4882896"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「Vera Rubin의 HBM → NAND 스필오버」</a:t>
            </a:r>
          </a:p>
        </p:txBody>
      </p:sp>
      <p:sp>
        <p:nvSpPr>
          <p:cNvPr id="123" name="TextBox 122"/>
          <p:cNvSpPr txBox="1"/>
          <p:nvPr/>
        </p:nvSpPr>
        <p:spPr>
          <a:xfrm>
            <a:off x="7415783" y="6958584"/>
            <a:ext cx="4882896"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TrendForce 2026-08-18 · CMX가 TLC 현물가 반등을 견인했다고 적었습니다</a:t>
            </a:r>
          </a:p>
        </p:txBody>
      </p:sp>
      <p:sp>
        <p:nvSpPr>
          <p:cNvPr id="124" name="TextBox 123"/>
          <p:cNvSpPr txBox="1"/>
          <p:nvPr/>
        </p:nvSpPr>
        <p:spPr>
          <a:xfrm>
            <a:off x="7415783" y="7150608"/>
            <a:ext cx="2377440"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CMX NAND 소요</a:t>
            </a:r>
          </a:p>
        </p:txBody>
      </p:sp>
      <p:sp>
        <p:nvSpPr>
          <p:cNvPr id="125" name="TextBox 124"/>
          <p:cNvSpPr txBox="1"/>
          <p:nvPr/>
        </p:nvSpPr>
        <p:spPr>
          <a:xfrm>
            <a:off x="7415783" y="7287768"/>
            <a:ext cx="2377440"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 35EB → 2027 100EB+</a:t>
            </a:r>
          </a:p>
        </p:txBody>
      </p:sp>
      <p:sp>
        <p:nvSpPr>
          <p:cNvPr id="126" name="TextBox 125"/>
          <p:cNvSpPr txBox="1"/>
          <p:nvPr/>
        </p:nvSpPr>
        <p:spPr>
          <a:xfrm>
            <a:off x="9921240" y="7150608"/>
            <a:ext cx="2377440"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삼성 V-NAND 캐파</a:t>
            </a:r>
          </a:p>
        </p:txBody>
      </p:sp>
      <p:sp>
        <p:nvSpPr>
          <p:cNvPr id="127" name="TextBox 126"/>
          <p:cNvSpPr txBox="1"/>
          <p:nvPr/>
        </p:nvSpPr>
        <p:spPr>
          <a:xfrm>
            <a:off x="9921240" y="7287768"/>
            <a:ext cx="2377440"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약 60%를 CMX 대응에 배정</a:t>
            </a:r>
          </a:p>
        </p:txBody>
      </p:sp>
      <p:sp>
        <p:nvSpPr>
          <p:cNvPr id="128" name="Rectangle 127"/>
          <p:cNvSpPr/>
          <p:nvPr/>
        </p:nvSpPr>
        <p:spPr>
          <a:xfrm>
            <a:off x="7251192" y="7607808"/>
            <a:ext cx="5212080" cy="8046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7434071" y="7680960"/>
            <a:ext cx="3218688" cy="256032"/>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그래서 SSD에 오는 요구는 내구성입니다</a:t>
            </a:r>
          </a:p>
        </p:txBody>
      </p:sp>
      <p:sp>
        <p:nvSpPr>
          <p:cNvPr id="130" name="TextBox 129"/>
          <p:cNvSpPr txBox="1"/>
          <p:nvPr/>
        </p:nvSpPr>
        <p:spPr>
          <a:xfrm>
            <a:off x="7434071" y="7955280"/>
            <a:ext cx="3218688" cy="34747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추론 수요 CAGR 86% · 학습 16% · 이 계층 제품으로 Kioxia는 CM9 TLC 3 DWPD를 지목했습니다</a:t>
            </a:r>
          </a:p>
        </p:txBody>
      </p:sp>
      <p:sp>
        <p:nvSpPr>
          <p:cNvPr id="131" name="Rectangle 130"/>
          <p:cNvSpPr/>
          <p:nvPr/>
        </p:nvSpPr>
        <p:spPr>
          <a:xfrm>
            <a:off x="10725911" y="7735824"/>
            <a:ext cx="1591056"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725911" y="7735824"/>
            <a:ext cx="1591056" cy="548640"/>
          </a:xfrm>
          <a:prstGeom prst="rect">
            <a:avLst/>
          </a:prstGeom>
          <a:noFill/>
        </p:spPr>
        <p:txBody>
          <a:bodyPr wrap="square" anchor="ctr" lIns="0" rIns="0" tIns="0" bIns="0">
            <a:spAutoFit/>
          </a:bodyPr>
          <a:lstStyle/>
          <a:p>
            <a:pPr algn="ctr">
              <a:lnSpc>
                <a:spcPct val="100000"/>
              </a:lnSpc>
            </a:pPr>
            <a:r>
              <a:rPr sz="950" b="0">
                <a:solidFill>
                  <a:srgbClr val="8A8A8A"/>
                </a:solidFill>
                <a:latin typeface="Arial"/>
                <a:ea typeface="Arial"/>
              </a:rPr>
              <a:t>요구 DWPD</a:t>
            </a:r>
          </a:p>
          <a:p>
            <a:pPr algn="ctr">
              <a:lnSpc>
                <a:spcPct val="100000"/>
              </a:lnSpc>
            </a:pPr>
            <a:r>
              <a:rPr sz="2100" b="1">
                <a:solidFill>
                  <a:srgbClr val="1428A0"/>
                </a:solidFill>
                <a:latin typeface="Arial"/>
                <a:ea typeface="Arial"/>
              </a:rPr>
              <a:t>1 ~ 3</a:t>
            </a:r>
          </a:p>
        </p:txBody>
      </p:sp>
      <p:sp>
        <p:nvSpPr>
          <p:cNvPr id="133" name="Rectangle 132"/>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고객은 QLC를 원한다</a:t>
            </a:r>
          </a:p>
        </p:txBody>
      </p:sp>
      <p:sp>
        <p:nvSpPr>
          <p:cNvPr id="136" name="TextBox 135"/>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TLC면 되는데 왜 QLC인가</a:t>
            </a:r>
          </a:p>
        </p:txBody>
      </p:sp>
      <p:sp>
        <p:nvSpPr>
          <p:cNvPr id="137" name="TextBox 136"/>
          <p:cNvSpPr txBox="1"/>
          <p:nvPr/>
        </p:nvSpPr>
        <p:spPr>
          <a:xfrm>
            <a:off x="13231368" y="3346703"/>
            <a:ext cx="4059936" cy="219456"/>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같은 요구 1~3 DWPD를 두 방법으로 볼 수 있습니다</a:t>
            </a:r>
          </a:p>
        </p:txBody>
      </p:sp>
      <p:sp>
        <p:nvSpPr>
          <p:cNvPr id="138" name="Rectangle 137"/>
          <p:cNvSpPr/>
          <p:nvPr/>
        </p:nvSpPr>
        <p:spPr>
          <a:xfrm>
            <a:off x="13231368" y="3602735"/>
            <a:ext cx="1956816" cy="17922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13231368" y="3602735"/>
            <a:ext cx="1956816"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3377672" y="3694175"/>
            <a:ext cx="1664208" cy="274320"/>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41" name="TextBox 140"/>
          <p:cNvSpPr txBox="1"/>
          <p:nvPr/>
        </p:nvSpPr>
        <p:spPr>
          <a:xfrm>
            <a:off x="13377672" y="3968496"/>
            <a:ext cx="166420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요구는 만족</a:t>
            </a:r>
          </a:p>
        </p:txBody>
      </p:sp>
      <p:sp>
        <p:nvSpPr>
          <p:cNvPr id="142" name="TextBox 141"/>
          <p:cNvSpPr txBox="1"/>
          <p:nvPr/>
        </p:nvSpPr>
        <p:spPr>
          <a:xfrm>
            <a:off x="13377672" y="4206240"/>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43" name="TextBox 142"/>
          <p:cNvSpPr txBox="1"/>
          <p:nvPr/>
        </p:nvSpPr>
        <p:spPr>
          <a:xfrm>
            <a:off x="13377672" y="4352544"/>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1 ~ 3 DWPD</a:t>
            </a:r>
          </a:p>
        </p:txBody>
      </p:sp>
      <p:sp>
        <p:nvSpPr>
          <p:cNvPr id="144" name="TextBox 143"/>
          <p:cNvSpPr txBox="1"/>
          <p:nvPr/>
        </p:nvSpPr>
        <p:spPr>
          <a:xfrm>
            <a:off x="13377672" y="4590288"/>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45" name="TextBox 144"/>
          <p:cNvSpPr txBox="1"/>
          <p:nvPr/>
        </p:nvSpPr>
        <p:spPr>
          <a:xfrm>
            <a:off x="13377672" y="4736592"/>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61TB급</a:t>
            </a:r>
          </a:p>
        </p:txBody>
      </p:sp>
      <p:sp>
        <p:nvSpPr>
          <p:cNvPr id="146" name="TextBox 145"/>
          <p:cNvSpPr txBox="1"/>
          <p:nvPr/>
        </p:nvSpPr>
        <p:spPr>
          <a:xfrm>
            <a:off x="13377672" y="4974336"/>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47" name="TextBox 146"/>
          <p:cNvSpPr txBox="1"/>
          <p:nvPr/>
        </p:nvSpPr>
        <p:spPr>
          <a:xfrm>
            <a:off x="13377672" y="5120640"/>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기준</a:t>
            </a:r>
          </a:p>
        </p:txBody>
      </p:sp>
      <p:sp>
        <p:nvSpPr>
          <p:cNvPr id="148" name="Rectangle 147"/>
          <p:cNvSpPr/>
          <p:nvPr/>
        </p:nvSpPr>
        <p:spPr>
          <a:xfrm>
            <a:off x="15334488" y="3602735"/>
            <a:ext cx="1956816" cy="179222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5334488" y="3602735"/>
            <a:ext cx="195681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5480792" y="3694175"/>
            <a:ext cx="1664208"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51" name="TextBox 150"/>
          <p:cNvSpPr txBox="1"/>
          <p:nvPr/>
        </p:nvSpPr>
        <p:spPr>
          <a:xfrm>
            <a:off x="15480792" y="3968496"/>
            <a:ext cx="166420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요구가 부족</a:t>
            </a:r>
          </a:p>
        </p:txBody>
      </p:sp>
      <p:sp>
        <p:nvSpPr>
          <p:cNvPr id="152" name="TextBox 151"/>
          <p:cNvSpPr txBox="1"/>
          <p:nvPr/>
        </p:nvSpPr>
        <p:spPr>
          <a:xfrm>
            <a:off x="15480792" y="4206240"/>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53" name="TextBox 152"/>
          <p:cNvSpPr txBox="1"/>
          <p:nvPr/>
        </p:nvSpPr>
        <p:spPr>
          <a:xfrm>
            <a:off x="15480792" y="4352544"/>
            <a:ext cx="1664208" cy="219456"/>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0.6 DWPD</a:t>
            </a:r>
          </a:p>
        </p:txBody>
      </p:sp>
      <p:sp>
        <p:nvSpPr>
          <p:cNvPr id="154" name="TextBox 153"/>
          <p:cNvSpPr txBox="1"/>
          <p:nvPr/>
        </p:nvSpPr>
        <p:spPr>
          <a:xfrm>
            <a:off x="15480792" y="4590288"/>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 밀도</a:t>
            </a:r>
          </a:p>
        </p:txBody>
      </p:sp>
      <p:sp>
        <p:nvSpPr>
          <p:cNvPr id="155" name="TextBox 154"/>
          <p:cNvSpPr txBox="1"/>
          <p:nvPr/>
        </p:nvSpPr>
        <p:spPr>
          <a:xfrm>
            <a:off x="15480792" y="4736592"/>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245TB급 · 4배</a:t>
            </a:r>
          </a:p>
        </p:txBody>
      </p:sp>
      <p:sp>
        <p:nvSpPr>
          <p:cNvPr id="156" name="TextBox 155"/>
          <p:cNvSpPr txBox="1"/>
          <p:nvPr/>
        </p:nvSpPr>
        <p:spPr>
          <a:xfrm>
            <a:off x="15480792" y="4974336"/>
            <a:ext cx="166420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TB당 가격</a:t>
            </a:r>
          </a:p>
        </p:txBody>
      </p:sp>
      <p:sp>
        <p:nvSpPr>
          <p:cNvPr id="157" name="TextBox 156"/>
          <p:cNvSpPr txBox="1"/>
          <p:nvPr/>
        </p:nvSpPr>
        <p:spPr>
          <a:xfrm>
            <a:off x="15480792" y="5120640"/>
            <a:ext cx="1664208"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20~30% 저렴</a:t>
            </a:r>
          </a:p>
        </p:txBody>
      </p:sp>
      <p:sp>
        <p:nvSpPr>
          <p:cNvPr id="158" name="TextBox 157"/>
          <p:cNvSpPr txBox="1"/>
          <p:nvPr/>
        </p:nvSpPr>
        <p:spPr>
          <a:xfrm>
            <a:off x="13231368" y="5541264"/>
            <a:ext cx="4059936"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QLC가 채워야 할 거리</a:t>
            </a:r>
          </a:p>
        </p:txBody>
      </p:sp>
      <p:sp>
        <p:nvSpPr>
          <p:cNvPr id="159" name="TextBox 158"/>
          <p:cNvSpPr txBox="1"/>
          <p:nvPr/>
        </p:nvSpPr>
        <p:spPr>
          <a:xfrm>
            <a:off x="13231368" y="5742431"/>
            <a:ext cx="4059936" cy="603504"/>
          </a:xfrm>
          <a:prstGeom prst="rect">
            <a:avLst/>
          </a:prstGeom>
          <a:noFill/>
        </p:spPr>
        <p:txBody>
          <a:bodyPr wrap="square" anchor="ctr" lIns="0" rIns="0" tIns="0" bIns="0">
            <a:spAutoFit/>
          </a:bodyPr>
          <a:lstStyle/>
          <a:p>
            <a:pPr algn="l">
              <a:lnSpc>
                <a:spcPct val="112000"/>
              </a:lnSpc>
            </a:pPr>
            <a:r>
              <a:rPr sz="3400" b="1">
                <a:solidFill>
                  <a:srgbClr val="1428A0"/>
                </a:solidFill>
                <a:latin typeface="Arial"/>
                <a:ea typeface="Arial"/>
              </a:rPr>
              <a:t>2 ~ 5배</a:t>
            </a:r>
          </a:p>
        </p:txBody>
      </p:sp>
      <p:sp>
        <p:nvSpPr>
          <p:cNvPr id="160" name="TextBox 159"/>
          <p:cNvSpPr txBox="1"/>
          <p:nvPr/>
        </p:nvSpPr>
        <p:spPr>
          <a:xfrm>
            <a:off x="13231368" y="6345936"/>
            <a:ext cx="4059936"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요구 1~3 DWPD ÷ 현 QLC 정격 0.6</a:t>
            </a:r>
          </a:p>
        </p:txBody>
      </p:sp>
      <p:sp>
        <p:nvSpPr>
          <p:cNvPr id="161" name="Rectangle 160"/>
          <p:cNvSpPr/>
          <p:nvPr/>
        </p:nvSpPr>
        <p:spPr>
          <a:xfrm>
            <a:off x="13231368" y="6656831"/>
            <a:ext cx="4059936" cy="15544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3432536" y="6784847"/>
            <a:ext cx="3657600" cy="1298448"/>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고객은 QLC의 밀도와 원가를 원하면서 TLC의 내구성을 요구합니다</a:t>
            </a:r>
          </a:p>
          <a:p>
            <a:pPr algn="l">
              <a:lnSpc>
                <a:spcPct val="112000"/>
              </a:lnSpc>
            </a:pPr>
            <a:r>
              <a:rPr sz="1125" b="0">
                <a:solidFill>
                  <a:srgbClr val="AAB8E8"/>
                </a:solidFill>
                <a:latin typeface="Arial"/>
                <a:ea typeface="Arial"/>
              </a:rPr>
              <a:t>이 간극을 메우는 것이 우리가 풀 문제입니다</a:t>
            </a:r>
          </a:p>
        </p:txBody>
      </p:sp>
      <p:sp>
        <p:nvSpPr>
          <p:cNvPr id="163" name="Rectangle 162"/>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65" name="TextBox 164"/>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HBM의 교훈은 수요를 고객과 함께 설계하는 것이었고, 그 수요가 지금 HBM에서 넘쳐 NAND로 내려옵니다.</a:t>
            </a:r>
          </a:p>
          <a:p>
            <a:pPr algn="l">
              <a:lnSpc>
                <a:spcPct val="108000"/>
              </a:lnSpc>
            </a:pPr>
            <a:r>
              <a:rPr sz="1650" b="1">
                <a:solidFill>
                  <a:srgbClr val="FFFFFF"/>
                </a:solidFill>
                <a:latin typeface="Arial"/>
                <a:ea typeface="Arial"/>
              </a:rPr>
              <a:t>고객은 QLC의 밀도와 원가로 TLC의 1~3 DWPD를 요구하며, 현 정격 0.6과는 2~5배 거리가 있습니다</a:t>
            </a:r>
          </a:p>
        </p:txBody>
      </p:sp>
      <p:sp>
        <p:nvSpPr>
          <p:cNvPr id="166" name="Rectangle 165"/>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69" name="TextBox 16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HBM 연표 각사 발표 · JEDEC JESD270-4, CNBC 2024-11-08(2019년 판단 ⚠️ 단일 출처), TrendForce(점유율 · 2026-08-18 HBM→NAND 스필오버), NVIDIA Dynamo KVBM·CMX, 서울경제 2026-07-20(CMX 🟡), Kioxia GTC 2026</a:t>
            </a:r>
          </a:p>
        </p:txBody>
      </p:sp>
      <p:sp>
        <p:nvSpPr>
          <p:cNvPr id="170" name="TextBox 16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