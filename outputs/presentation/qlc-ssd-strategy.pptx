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QLC의 내구성 격차를 어느 계층이 해소하는가를 네 지표로 답합니다. 왼쪽 차트는 인과 순서입니다. ① 셀의 한계: 비트/셀을 늘릴수록 셀이 견디는 P/E 사이클이 SLC 30K~100K에서 QLC 100~1K로 100배 감소했습니다. ② 컨트롤러의 보상: 같은 기간 RBER은 SLC 10의 -9~-7승에서 QLC 10의 -3~-2승으로 약 백만 배 상승했지만, 고객의 UBER 요구(JESD218: 클라이언트 10의 -15승, 엔터프라이즈 10의 -16승)는 고정이었습니다. 그 격차를 컨트롤러가 ECC로 보상했습니다. 1비트/512B에서 BCH 60비트/KB, LDPC 120비트/KB로 약 60배입니다. 셀은 보존·사이클링·리드 디스터브로 시간에 따라 변하는 산포를 단독으로 보정하지 못하므로, 이것이 NAND에서 SSD로의 1단계 이관이며 완결된 이관입니다. ③ 결과: ECC는 BER을 보상하지만 P/E를 늘리지는 못합니다. 정격 DWPD는 X25-E SLC 17(2008), S3700 eMLC 10(2012), P4510 TLC 0.7(2018), P5316 QLC 0.41(2021), 최신 QLC 0.075~0.6으로 하락했는데, 추론 캐시 계층의 요구는 TLC 수준 1~3, ScaleFlux가 제시한 유효 요구는 7~10입니다. 10~40배 격차입니다. ④ WAF: 2단계는 SSD 진영이 디바이스와 드라이버 안에서 워크로드에 적응하려 한 시도입니다. Multi-stream(2014)·AutoStream(2017)·FTL 핫/콜드 추정·NVMe IO 결정성(NVM Sets·Predictable Latency Mode, 2019)이 여기에 속합니다. 테일 지연 등 QoS와 성능은 개선했으나, 데이터의 수명은 호스트와 애플리케이션만 아는 정보라 디바이스가 완전히 감지할 수 없고, 실 워크로드의 WAF는 3 수준에 머물렀습니다(랜덤 쓰기 3.00, CacheLib 배치 표준 미적용 3.22). 3단계는 호스트 시스템 공동 설계입니다. 호스트가 데이터 수명을 지정(배치 표준)하고 캐시 관리자·애플리케이션 정책까지 함께 설계하면 WAF는 1.03이 됩니다. 68% 감소, 유효 DWPD 3.1배입니다. 오른쪽 위는 산식과 항별 결정 주체입니다. DWPD = P/E × (1+OP) ÷ (WAF × 365 × 년)에서 P/E는 셀, OP는 디바이스, 년과 요구 DWPD는 고객이 결정합니다. P/E가 100배 감소했으므로 남은 보상 변수는 WAF뿐입니다. 오른쪽 아래는 이관의 3단계입니다. 1단계 ECC는 UBER 요구를 충족해 완결됐고, 2단계 SSD 단독 최적화는 QoS·성능을 개선했으나 WAF를 낮추지 못해 DWPD 요구를 충족하지 못했으며, 3단계 호스트 시스템 공동 설계가 WAF를 1로 낮춰 DWPD 요구를 충족합니다. 본 덱 2~5장이 3단계입니다. 결론: QLC로 요구 DWPD를 충족하는 경로는 호스트 시스템 공동 설계뿐이며, 이는 산식의 귀결입니다. 그 규격이 언제 정의되는지가 2장입니다. 하단 스트립은 병렬 축입니다. 내구성 축과 별개로 신뢰성 축에서도 같은 구조가 진행 중입니다. 요구는 JESD218 기능 고장률 FFR 3% 이하로 고정인데, SSD당 NAND 다이 수는 S3700 800GB 128개(2012)에서 Kioxia LC9 245TB 1,024개(2025, 2Tb 다이 32단 스택 32패키지)로 8배 늘었습니다. 보호가 없으면 SSD 고장률은 다이 수에 비례하므로, 칩 면적이 커질수록 수율이 떨어지는 것과 같은 원리로 다이 고장률을 8배 낮추거나 다이 고장을 허용해야 합니다. 다이 고장률 개선이 기술적 한계에 닿자 해법은 SSD 계층으로 이관됐습니다. 다이 RAID(Micron RAIN, 슈퍼페이지 XOR 패리티 다이), 여분 다이, 다이 은퇴와 감량 운영(삼성 Fail-in-Place PM1733: 다이 고장 시 데이터 재배치 후 4~8GB 감량 운영)입니다. 이 해법들은 패리티와 예비 용량 오버헤드를 키우므로 다이 수가 계속 늘면 SSD 단독으로는 부족해질 수 있고, 상위 계층은 이미 준비 중입니다. OCP SMART의 XOR 복구 카운트로 호스트가 다이 복구를 관측하고, Microsoft Hyrax처럼 플랫폼이 감량 운영을 수용하며, 드라이브 간 소거 부호가 SSD 고장을 흡수합니다. 근거 등급은 보고서 부록 A F28~F47에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다운턴 복기에서 도출한 교훈이며, 1장과의 연결은 다음과 같습니다. 1장의 산식에서 남은 보상 변수 WAF는 호스트가 데이터 배치를 결정할 때만 1에 수렴하고, 그 배치 방식은 고객이 규격(배치 표준·캐시 관리자 정책)으로 정의합니다. 따라서 규격이 언제·어디서 정의되는지가 전략의 시점을 결정합니다. 상단 타임라인은 DT19(재고 조정 국면, 매출 낙폭 -37.6%)와 DT23(최대 낙폭 -45%, 진앙 eSSD) 두 다운턴 구간과 QLC eSSD 연혁을 동일 시간축에 배치한 것입니다. 교훈 1, 수요 센싱: 수요 신호는 발주보다 약 2년 선행하여 고객의 규격·표준·소스 코드에 나타납니다. DT23 국면인 4Q22에 eSSD 매출이 27% 감소하는 동안 Meta·Google은 데이터 배치 표준을 비준하고 OCP 폼팩터를 표준화했으며 Solidigm은 61TB 제품을 예고했습니다. 총량 지표만 관측한 공급자는 다운턴을 보았고, 고객 규격을 관측한 공급자는 차기 요구사항을 보았습니다. 현재의 등가 신호는 KV 캐시 관리자 4종의 소스 코드에 데이터 배치·내구성 규격이 미정의 상태라는 사실이며, 규격 정의 주체가 선점 가능한 구간입니다. 교훈 2, 고객 협업: 요구사항 정의 과정에 참여한 공급자가 적중했습니다. Solidigm은 최대 낙폭 국면에서 61TB QLC를 삼성 대비 12개월 선행 출시해 2024년 흑자 전환했고, HBM은 NVIDIA와 규격을 공동 정의한 SK hynix가 주도권을 확보했습니다. 다운턴 극복의 결정 변수는 포트폴리오 다변화가 아니라 고객 요구 적중이었습니다. 교훈 3, 의사결정 시점: 직전 다운턴의 의사결정이 다음 다운턴의 초기 조건을 결정합니다. DT19의 무감산 유지 성공이 DT23 국면 오판으로, DT19의 HBM 조직 축소가 DT23 회복기 주도권 상실로 이어졌습니다. 차기 전환점은 2027년 하반기 가격 정상화 국면이며, 비트 출하 10배 대비 매출이 정체할 경우 수익원은 고객 시스템 수준에서 보증한 TCO로 한정됩니다. 세 교훈은 각각 3장(고객의 QLC 채택 동인), 4장(디바이스에서 고객 시스템까지 3단계), 5장(FDE·전략적 협약·조직)의 전제입니다. 결론: 요구사항은 다운턴 국면에서 고객 규격·코드로 정의됐고 정의에 참여한 공급자가 선점했으며, 차기 요구사항인 KV 캐시 배치·내구성 규격은 현재 미정의 상태입니다. 그 요구사항의 내용이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2장이 지목한 차기 요구사항의 내용, 즉 고객의 QLC 채택 동인입니다. 세 국면을 관통하는 구매 기준은 용량 계층의 TB당 TCO입니다. 원가($/TB)·전력(W/TB)·밀도(TB/U)를 통합한 지표입니다. 초기 국면(2018~2023): 학습 데이터셋이 6배로 증가하고 HDD의 TB당 대역폭이 저하되자 하이퍼스케일러는 플래시 용량 계층을 요구했습니다(Meta: 10 MB/s/TB 대역, TLC 서버 대비 6배 바이트 밀도). 공급자의 제안 가치는 1U당 1PB, 5년 TCO -47%였습니다. 조건은 읽기 중심 워크로드로, 0.3~0.6 DWPD로 충족됐고 쓰기가 NAND 전력의 대부분을 차지하므로 읽기 데이터의 QLC 이전은 전력 효율도 개선했습니다. 같은 해 전문 벤더(Solidigm) 출범, E1.S/E1.L 폼팩터, Meta·Google의 데이터 배치 표준 비준(2022-12), 가격 하락이 동시에 성립했고, 비트 출하는 AI 추론 서버의 전력 효율이 우선순위가 된 2024년에 급증했습니다(TrendForce 30EB, 4배). 현재 국면(2024~2026): 구매 기준은 TB당 전력 효율과 공급 확보이며 245TB급까지 용량 경쟁이 진행됐으나, 읽기 중심 데이터가 QLC의 영역이고 쓰기 계층은 TLC가 담당합니다. 향후 국면(2027~2030): 최대 증가 수요는 KV 캐시입니다. 장문맥·에이전틱 추론의 KV 캐시가 HBM·DRAM 용량을 초과해 SSD로 오프로드되고, 프리필 재사용으로 GPU당 동시 사용자와 TTFT가 개선됩니다(NVMe 오프로드 시 H100 1기당 동시 사용자 10배 주장). 구매 기준은 GPU당 컨텍스트 용량과 토큰당 비용이며, 이 기준에서도 TB당 TCO가 최저인 미디어는 QLC입니다. 그러나 캐시는 쓰기 집약적이어서 현재 이 계층은 TLC 1~3 DWPD가 담당하고(2027년 75~100EB), CMX 대상 드라이브도 전량 TLC입니다. 그래프: 비트는 10배, 가격 정상화 기준선에서 매출은 정체, 진한 파랑은 호스트 협력 데이터 배치가 성립할 때의 조건부 상방입니다. 우측 하단 인용은 송용호 AX/PI센터장의 발언으로, 고객의 채택 동인 파악이 본 전략의 출발점인 이유입니다. 결론: 고객은 추론 캐시 계층에서도 QLC의 TB당 TCO를 요구하며, 제약 조건은 내구성입니다. QLC 정격 0.075~0.6 DWPD와 요구 1~3 DWPD 사이에는 10~40배 격차가 있고, 1장의 산식(DWPD = P/E × (1+OP) ÷ WAF ÷ 365 × 년)에서 P/E와 OP만으로는 이 격차를 메울 수 없습니다. 남은 변수 WAF를 낮추는 경로가 4장입니다.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3장의 내구성 격차를 해소하는 경로입니다. 1장의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격차(QLC 정격 0.075~0.6 vs TLC 1~3 DWPD, 10~40배), 스트림 격차(RUH 2~8 vs 200 이상),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RUH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Phase 1 확보, Phase 2 진입: KV cache 백서 2종으로 측정 역량은 있으나 트레이스 기반 실측이 미공개이고 캐시 관리자 4종에 기여가 없습니다. 오케스트레이션 자체는 만들지 않습니다. 결론: 단계마다 고객 보증 범위가 원가·전력 → 워크로드 수명 → 시스템 TCO로 확장되며, 3단계에 진입하는 수단(FDE·전략적 협약)과 이를 수행할 조직이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4장의 3단계에 진입하는 수단과 이를 수행할 조직입니다. 리드의 인용은 송용호 AX/PI센터장의 발언이며, 왼쪽 박스 아래 인용도 같은 인터뷰입니다. 고객 관계가 곧 워크로드 접근권이라는 뜻이고, 미주 현지 채용과 FDE 상주가 그 대응입니다. 진입 수단은 두 가지이고 각각 선례가 있습니다. ① FDE 상주: 삼성 엔지니어가 고객 시스템에 진입합니다. Palantir가 창안한 역할(내부 코드명 Delta)로, 고객 환경 내부에 상주하며 실제 운영 제약 아래서 프로덕션 시스템을 직접 구축하고 청구 시간이 아니라 성과로 평가받습니다. 명시적 요구와 실제 요구의 간극을 현장에서 코드로 해소하고, 특정 고객용 해법이 제품 표준 기능으로 전환되는 피드백 루프를 만듭니다. 고객 락인의 동력이자 640% 주가 수익률의 원천으로 평가되고, Anthropic·OpenAI가 엔터프라이즈 GTM 모델로 채택했습니다(OpenAI는 2025년 초 FDE 팀 2명→10명 이상). 삼성은 Co-Design Pod를 FDE 모델로 운영하되, 메모리는 제조 리드타임이 길므로 시스템 아키텍트·TCO 모델링 역량을 결합합니다. ② 전략적 협약(SCA): 고객 워크로드·규격 접근권을 계약으로 확보합니다. 선례는 Micron↔Anthropic(2026-06-22): 공동 설계(HBM·DRAM·SSD를 Claude 학습·추론 워크로드에 맞춰 공동 최적화) + 다년 공급 + 운영 통합(Claude 사내 배치) + 자본(Series H)을 한 계약에 결합했습니다. Micron은 SCA 16건, 최소 계약매출 약 $100B, 예치금 $22B를 공시했습니다. 삼성·SK의 Anthropic 공급 계약에는 공동 설계 조항이 없으므로 삼성이 선제 제안합니다. 계약 시한은 공급 완화 전인 2027년 상반기까지입니다. 조직·인사·문화 세 축(전략·재무 축과 90일·1년·3년 타임라인은 위키 실행 전략 페이지 §2.1·§2.5·§3). 조직은 실리콘밸리 소프트웨어 자회사와 FDE Pod에 더해 시스템 소프트웨어 조직을 강화합니다. 인사는 고객 시스템(추론 엔진·KV 캐시 관리자·I/O·커널 코드)을 읽고 수정할 수 있는 시스템 소프트웨어 전문가의 채용·양성이 핵심이며, 미주 현지 채용을 확대하고 별도 보상 체계를 두며 본사 엔지니어는 상주 로테이션으로 양성합니다. 문화는 업스트림 우선을 넘어 오픈소스 생태계를 주도하는 기업 문화로 전환합니다. 기여자에서 메인테이너·커미터로, 삼성이 운영하는 레퍼런스 프로젝트에 외부 기여가 들어오게 하며, KV cache 실측을 업계 최초로 공개합니다. 하단 요약 체인은 5장의 논리입니다. 1장 산식: SSD 단독 최적화로는 WAF ≈ 3, 호스트 공동 설계로만 1.0이다. 2장 시점: 규격은 다운턴 국면에 정의되며 차기 규격은 현재 미정의다. 3장 수요: 고객은 추론 캐시 계층에서도 TB당 TCO를 요구하고 제약 조건은 내구성이다. 4장 역량: 디바이스 → 워크로드 → 고객 시스템 3단계로 확장한다. 5장 실행: FDE 상주와 전략적 협약, 그리고 조직·인사·문화가 그 수단이다.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산식  </a:t>
            </a:r>
            <a:r>
              <a:rPr sz="1200" b="0">
                <a:solidFill>
                  <a:srgbClr val="1428A0"/>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시점  </a:t>
            </a:r>
            <a:r>
              <a:rPr sz="1200" b="0">
                <a:solidFill>
                  <a:srgbClr val="8A8A8A"/>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수요  </a:t>
            </a:r>
            <a:r>
              <a:rPr sz="1200" b="0">
                <a:solidFill>
                  <a:srgbClr val="8A8A8A"/>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ECC가 RBER을 보상했듯 P/E 감소는 WAF로 보상해야 하며, 이는 호스트 공동 설계로만 가능합니다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QLC의 내구성 격차를 어느 계층이 해소하는가: SSD 단독 최적화는 QoS·성능은 개선했으나 WAF는 낮추지 못했습니다.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olution_metrics_chart.png"/>
          <p:cNvPicPr>
            <a:picLocks noChangeAspect="1"/>
          </p:cNvPicPr>
          <p:nvPr/>
        </p:nvPicPr>
        <p:blipFill>
          <a:blip r:embed="rId2"/>
          <a:stretch>
            <a:fillRect/>
          </a:stretch>
        </p:blipFill>
        <p:spPr>
          <a:xfrm>
            <a:off x="722376" y="2560320"/>
            <a:ext cx="8678487" cy="4937760"/>
          </a:xfrm>
          <a:prstGeom prst="rect">
            <a:avLst/>
          </a:prstGeom>
        </p:spPr>
      </p:pic>
      <p:sp>
        <p:nvSpPr>
          <p:cNvPr id="29" name="Rectangle 28"/>
          <p:cNvSpPr/>
          <p:nvPr/>
        </p:nvSpPr>
        <p:spPr>
          <a:xfrm>
            <a:off x="9711759" y="2560320"/>
            <a:ext cx="7853864" cy="12435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49503" y="2670048"/>
            <a:ext cx="7378376"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DWPD 산식 — 항별 결정 주체</a:t>
            </a:r>
          </a:p>
        </p:txBody>
      </p:sp>
      <p:sp>
        <p:nvSpPr>
          <p:cNvPr id="31" name="Rectangle 30"/>
          <p:cNvSpPr/>
          <p:nvPr/>
        </p:nvSpPr>
        <p:spPr>
          <a:xfrm>
            <a:off x="10612027"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12027"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33" name="TextBox 32"/>
          <p:cNvSpPr txBox="1"/>
          <p:nvPr/>
        </p:nvSpPr>
        <p:spPr>
          <a:xfrm>
            <a:off x="10520587"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34" name="TextBox 33"/>
          <p:cNvSpPr txBox="1"/>
          <p:nvPr/>
        </p:nvSpPr>
        <p:spPr>
          <a:xfrm>
            <a:off x="11599579"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35" name="Rectangle 34"/>
          <p:cNvSpPr/>
          <p:nvPr/>
        </p:nvSpPr>
        <p:spPr>
          <a:xfrm>
            <a:off x="11892187"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892187"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37" name="TextBox 36"/>
          <p:cNvSpPr txBox="1"/>
          <p:nvPr/>
        </p:nvSpPr>
        <p:spPr>
          <a:xfrm>
            <a:off x="11800747"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셀 · 다이</a:t>
            </a:r>
          </a:p>
        </p:txBody>
      </p:sp>
      <p:sp>
        <p:nvSpPr>
          <p:cNvPr id="38" name="TextBox 37"/>
          <p:cNvSpPr txBox="1"/>
          <p:nvPr/>
        </p:nvSpPr>
        <p:spPr>
          <a:xfrm>
            <a:off x="12879739"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39" name="Rectangle 38"/>
          <p:cNvSpPr/>
          <p:nvPr/>
        </p:nvSpPr>
        <p:spPr>
          <a:xfrm>
            <a:off x="13172347"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172347"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1" name="TextBox 40"/>
          <p:cNvSpPr txBox="1"/>
          <p:nvPr/>
        </p:nvSpPr>
        <p:spPr>
          <a:xfrm>
            <a:off x="13080907"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디바이스</a:t>
            </a:r>
          </a:p>
        </p:txBody>
      </p:sp>
      <p:sp>
        <p:nvSpPr>
          <p:cNvPr id="42" name="TextBox 41"/>
          <p:cNvSpPr txBox="1"/>
          <p:nvPr/>
        </p:nvSpPr>
        <p:spPr>
          <a:xfrm>
            <a:off x="14159899"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14452507" y="3054096"/>
            <a:ext cx="932688"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452507" y="3054096"/>
            <a:ext cx="932688" cy="420624"/>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45" name="TextBox 44"/>
          <p:cNvSpPr txBox="1"/>
          <p:nvPr/>
        </p:nvSpPr>
        <p:spPr>
          <a:xfrm>
            <a:off x="14361067" y="3511296"/>
            <a:ext cx="1115568" cy="201168"/>
          </a:xfrm>
          <a:prstGeom prst="rect">
            <a:avLst/>
          </a:prstGeom>
          <a:noFill/>
        </p:spPr>
        <p:txBody>
          <a:bodyPr wrap="square" anchor="t" lIns="0" rIns="0" tIns="0" bIns="0">
            <a:spAutoFit/>
          </a:bodyPr>
          <a:lstStyle/>
          <a:p>
            <a:pPr algn="ctr">
              <a:lnSpc>
                <a:spcPct val="112000"/>
              </a:lnSpc>
            </a:pPr>
            <a:r>
              <a:rPr sz="975" b="1">
                <a:solidFill>
                  <a:srgbClr val="1428A0"/>
                </a:solidFill>
                <a:latin typeface="Arial"/>
                <a:ea typeface="Arial"/>
              </a:rPr>
              <a:t>호스트 · 앱</a:t>
            </a:r>
          </a:p>
        </p:txBody>
      </p:sp>
      <p:sp>
        <p:nvSpPr>
          <p:cNvPr id="46" name="TextBox 45"/>
          <p:cNvSpPr txBox="1"/>
          <p:nvPr/>
        </p:nvSpPr>
        <p:spPr>
          <a:xfrm>
            <a:off x="15440059"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15732667"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5732667"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49" name="TextBox 48"/>
          <p:cNvSpPr txBox="1"/>
          <p:nvPr/>
        </p:nvSpPr>
        <p:spPr>
          <a:xfrm>
            <a:off x="15641227"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50" name="Rectangle 49"/>
          <p:cNvSpPr/>
          <p:nvPr/>
        </p:nvSpPr>
        <p:spPr>
          <a:xfrm>
            <a:off x="9711759" y="3968496"/>
            <a:ext cx="7853864" cy="352958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949503" y="4078224"/>
            <a:ext cx="7378376"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이관의 3단계 — 요구 고정 · 단품 지표 악화 · 보상 계층의 상승</a:t>
            </a:r>
          </a:p>
        </p:txBody>
      </p:sp>
      <p:sp>
        <p:nvSpPr>
          <p:cNvPr id="52" name="TextBox 51"/>
          <p:cNvSpPr txBox="1"/>
          <p:nvPr/>
        </p:nvSpPr>
        <p:spPr>
          <a:xfrm>
            <a:off x="9949503" y="4425696"/>
            <a:ext cx="5000936"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1단계  NAND → SSD  (1991~)</a:t>
            </a:r>
          </a:p>
        </p:txBody>
      </p:sp>
      <p:sp>
        <p:nvSpPr>
          <p:cNvPr id="53" name="TextBox 52"/>
          <p:cNvSpPr txBox="1"/>
          <p:nvPr/>
        </p:nvSpPr>
        <p:spPr>
          <a:xfrm>
            <a:off x="14950439" y="4425696"/>
            <a:ext cx="2377440" cy="219456"/>
          </a:xfrm>
          <a:prstGeom prst="rect">
            <a:avLst/>
          </a:prstGeom>
          <a:noFill/>
        </p:spPr>
        <p:txBody>
          <a:bodyPr wrap="square" anchor="t" lIns="0" rIns="0" tIns="0" bIns="0">
            <a:spAutoFit/>
          </a:bodyPr>
          <a:lstStyle/>
          <a:p>
            <a:pPr algn="r">
              <a:lnSpc>
                <a:spcPct val="112000"/>
              </a:lnSpc>
            </a:pPr>
            <a:r>
              <a:rPr sz="1050" b="1">
                <a:solidFill>
                  <a:srgbClr val="1428A0"/>
                </a:solidFill>
                <a:latin typeface="Arial"/>
                <a:ea typeface="Arial"/>
              </a:rPr>
              <a:t>UBER 요구 충족</a:t>
            </a:r>
          </a:p>
        </p:txBody>
      </p:sp>
      <p:sp>
        <p:nvSpPr>
          <p:cNvPr id="54" name="Rectangle 53"/>
          <p:cNvSpPr/>
          <p:nvPr/>
        </p:nvSpPr>
        <p:spPr>
          <a:xfrm>
            <a:off x="9949503" y="4700016"/>
            <a:ext cx="225219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040943" y="4754879"/>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셀</a:t>
            </a:r>
          </a:p>
        </p:txBody>
      </p:sp>
      <p:sp>
        <p:nvSpPr>
          <p:cNvPr id="56" name="TextBox 55"/>
          <p:cNvSpPr txBox="1"/>
          <p:nvPr/>
        </p:nvSpPr>
        <p:spPr>
          <a:xfrm>
            <a:off x="10040943" y="4946904"/>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RBER 백만 배 ↑</a:t>
            </a:r>
          </a:p>
        </p:txBody>
      </p:sp>
      <p:sp>
        <p:nvSpPr>
          <p:cNvPr id="57" name="TextBox 56"/>
          <p:cNvSpPr txBox="1"/>
          <p:nvPr/>
        </p:nvSpPr>
        <p:spPr>
          <a:xfrm>
            <a:off x="10040943" y="5157216"/>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산포가 시간에 따라 변화</a:t>
            </a:r>
          </a:p>
        </p:txBody>
      </p:sp>
      <p:sp>
        <p:nvSpPr>
          <p:cNvPr id="58" name="Right Arrow 57"/>
          <p:cNvSpPr/>
          <p:nvPr/>
        </p:nvSpPr>
        <p:spPr>
          <a:xfrm>
            <a:off x="12247418" y="4946904"/>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512594" y="4700016"/>
            <a:ext cx="225219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604034" y="4754879"/>
            <a:ext cx="2069314"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컨트롤러</a:t>
            </a:r>
          </a:p>
        </p:txBody>
      </p:sp>
      <p:sp>
        <p:nvSpPr>
          <p:cNvPr id="61" name="TextBox 60"/>
          <p:cNvSpPr txBox="1"/>
          <p:nvPr/>
        </p:nvSpPr>
        <p:spPr>
          <a:xfrm>
            <a:off x="12604034" y="4946904"/>
            <a:ext cx="2069314" cy="237744"/>
          </a:xfrm>
          <a:prstGeom prst="rect">
            <a:avLst/>
          </a:prstGeom>
          <a:noFill/>
        </p:spPr>
        <p:txBody>
          <a:bodyPr wrap="square" anchor="t" lIns="0" rIns="0" tIns="0" bIns="0">
            <a:spAutoFit/>
          </a:bodyPr>
          <a:lstStyle/>
          <a:p>
            <a:pPr algn="l">
              <a:lnSpc>
                <a:spcPct val="112000"/>
              </a:lnSpc>
            </a:pPr>
            <a:r>
              <a:rPr sz="1200" b="1">
                <a:solidFill>
                  <a:srgbClr val="FFFFFF"/>
                </a:solidFill>
                <a:latin typeface="Arial"/>
                <a:ea typeface="Arial"/>
              </a:rPr>
              <a:t>ECC 60배 ↑</a:t>
            </a:r>
          </a:p>
        </p:txBody>
      </p:sp>
      <p:sp>
        <p:nvSpPr>
          <p:cNvPr id="62" name="TextBox 61"/>
          <p:cNvSpPr txBox="1"/>
          <p:nvPr/>
        </p:nvSpPr>
        <p:spPr>
          <a:xfrm>
            <a:off x="12604034" y="5157216"/>
            <a:ext cx="2069314" cy="201168"/>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1bit/512B → LDPC 120bit/KB</a:t>
            </a:r>
          </a:p>
        </p:txBody>
      </p:sp>
      <p:sp>
        <p:nvSpPr>
          <p:cNvPr id="63" name="Right Arrow 62"/>
          <p:cNvSpPr/>
          <p:nvPr/>
        </p:nvSpPr>
        <p:spPr>
          <a:xfrm>
            <a:off x="14810509" y="4946904"/>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5075685" y="4700016"/>
            <a:ext cx="2252194" cy="6766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167125" y="4754879"/>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66" name="TextBox 65"/>
          <p:cNvSpPr txBox="1"/>
          <p:nvPr/>
        </p:nvSpPr>
        <p:spPr>
          <a:xfrm>
            <a:off x="15167125" y="4946904"/>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UBER 요구 충족</a:t>
            </a:r>
          </a:p>
        </p:txBody>
      </p:sp>
      <p:sp>
        <p:nvSpPr>
          <p:cNvPr id="67" name="TextBox 66"/>
          <p:cNvSpPr txBox="1"/>
          <p:nvPr/>
        </p:nvSpPr>
        <p:spPr>
          <a:xfrm>
            <a:off x="15167125" y="5157216"/>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JESD218 유지</a:t>
            </a:r>
          </a:p>
        </p:txBody>
      </p:sp>
      <p:sp>
        <p:nvSpPr>
          <p:cNvPr id="68" name="TextBox 67"/>
          <p:cNvSpPr txBox="1"/>
          <p:nvPr/>
        </p:nvSpPr>
        <p:spPr>
          <a:xfrm>
            <a:off x="9949503" y="5495544"/>
            <a:ext cx="5000936"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2단계  SSD 단독 워크로드 최적화  (2014~2019)</a:t>
            </a:r>
          </a:p>
        </p:txBody>
      </p:sp>
      <p:sp>
        <p:nvSpPr>
          <p:cNvPr id="69" name="TextBox 68"/>
          <p:cNvSpPr txBox="1"/>
          <p:nvPr/>
        </p:nvSpPr>
        <p:spPr>
          <a:xfrm>
            <a:off x="14950439" y="5495544"/>
            <a:ext cx="2377440" cy="219456"/>
          </a:xfrm>
          <a:prstGeom prst="rect">
            <a:avLst/>
          </a:prstGeom>
          <a:noFill/>
        </p:spPr>
        <p:txBody>
          <a:bodyPr wrap="square" anchor="t" lIns="0" rIns="0" tIns="0" bIns="0">
            <a:spAutoFit/>
          </a:bodyPr>
          <a:lstStyle/>
          <a:p>
            <a:pPr algn="r">
              <a:lnSpc>
                <a:spcPct val="112000"/>
              </a:lnSpc>
            </a:pPr>
            <a:r>
              <a:rPr sz="1050" b="1">
                <a:solidFill>
                  <a:srgbClr val="8A8A8A"/>
                </a:solidFill>
                <a:latin typeface="Arial"/>
                <a:ea typeface="Arial"/>
              </a:rPr>
              <a:t>DWPD 요구 미충족 · 부분 성공</a:t>
            </a:r>
          </a:p>
        </p:txBody>
      </p:sp>
      <p:sp>
        <p:nvSpPr>
          <p:cNvPr id="70" name="Rectangle 69"/>
          <p:cNvSpPr/>
          <p:nvPr/>
        </p:nvSpPr>
        <p:spPr>
          <a:xfrm>
            <a:off x="9949503" y="5769864"/>
            <a:ext cx="225219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040943" y="5824727"/>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셀 · SSD</a:t>
            </a:r>
          </a:p>
        </p:txBody>
      </p:sp>
      <p:sp>
        <p:nvSpPr>
          <p:cNvPr id="72" name="TextBox 71"/>
          <p:cNvSpPr txBox="1"/>
          <p:nvPr/>
        </p:nvSpPr>
        <p:spPr>
          <a:xfrm>
            <a:off x="10040943" y="6016752"/>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P/E 100배 ↓</a:t>
            </a:r>
          </a:p>
        </p:txBody>
      </p:sp>
      <p:sp>
        <p:nvSpPr>
          <p:cNvPr id="73" name="TextBox 72"/>
          <p:cNvSpPr txBox="1"/>
          <p:nvPr/>
        </p:nvSpPr>
        <p:spPr>
          <a:xfrm>
            <a:off x="10040943" y="6227064"/>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정격 DWPD 0.4</a:t>
            </a:r>
          </a:p>
        </p:txBody>
      </p:sp>
      <p:sp>
        <p:nvSpPr>
          <p:cNvPr id="74" name="Right Arrow 73"/>
          <p:cNvSpPr/>
          <p:nvPr/>
        </p:nvSpPr>
        <p:spPr>
          <a:xfrm>
            <a:off x="12247418" y="601675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2512594" y="5769864"/>
            <a:ext cx="225219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2604034" y="5824727"/>
            <a:ext cx="2069314" cy="201168"/>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SSD · 드라이버</a:t>
            </a:r>
          </a:p>
        </p:txBody>
      </p:sp>
      <p:sp>
        <p:nvSpPr>
          <p:cNvPr id="77" name="TextBox 76"/>
          <p:cNvSpPr txBox="1"/>
          <p:nvPr/>
        </p:nvSpPr>
        <p:spPr>
          <a:xfrm>
            <a:off x="12604034" y="6016752"/>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QoS · 성능 개선</a:t>
            </a:r>
          </a:p>
        </p:txBody>
      </p:sp>
      <p:sp>
        <p:nvSpPr>
          <p:cNvPr id="78" name="TextBox 77"/>
          <p:cNvSpPr txBox="1"/>
          <p:nvPr/>
        </p:nvSpPr>
        <p:spPr>
          <a:xfrm>
            <a:off x="12604034" y="6227064"/>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추정 배치 · 스트림 · IOD → WAF ≈ 3</a:t>
            </a:r>
          </a:p>
        </p:txBody>
      </p:sp>
      <p:sp>
        <p:nvSpPr>
          <p:cNvPr id="79" name="Right Arrow 78"/>
          <p:cNvSpPr/>
          <p:nvPr/>
        </p:nvSpPr>
        <p:spPr>
          <a:xfrm>
            <a:off x="14810509" y="6016752"/>
            <a:ext cx="219456"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75685" y="5769864"/>
            <a:ext cx="2252194" cy="6766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5167125" y="5824727"/>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82" name="TextBox 81"/>
          <p:cNvSpPr txBox="1"/>
          <p:nvPr/>
        </p:nvSpPr>
        <p:spPr>
          <a:xfrm>
            <a:off x="15167125" y="6016752"/>
            <a:ext cx="2069314"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DWPD 요구 미충족</a:t>
            </a:r>
          </a:p>
        </p:txBody>
      </p:sp>
      <p:sp>
        <p:nvSpPr>
          <p:cNvPr id="83" name="TextBox 82"/>
          <p:cNvSpPr txBox="1"/>
          <p:nvPr/>
        </p:nvSpPr>
        <p:spPr>
          <a:xfrm>
            <a:off x="15167125" y="6227064"/>
            <a:ext cx="2069314" cy="201168"/>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격차 10~40배</a:t>
            </a:r>
          </a:p>
        </p:txBody>
      </p:sp>
      <p:sp>
        <p:nvSpPr>
          <p:cNvPr id="84" name="TextBox 83"/>
          <p:cNvSpPr txBox="1"/>
          <p:nvPr/>
        </p:nvSpPr>
        <p:spPr>
          <a:xfrm>
            <a:off x="9949503" y="6565392"/>
            <a:ext cx="5000936"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3단계  호스트 시스템 공동 설계  (2022~, 본 덱)</a:t>
            </a:r>
          </a:p>
        </p:txBody>
      </p:sp>
      <p:sp>
        <p:nvSpPr>
          <p:cNvPr id="85" name="TextBox 84"/>
          <p:cNvSpPr txBox="1"/>
          <p:nvPr/>
        </p:nvSpPr>
        <p:spPr>
          <a:xfrm>
            <a:off x="14950439" y="6565392"/>
            <a:ext cx="2377440" cy="219456"/>
          </a:xfrm>
          <a:prstGeom prst="rect">
            <a:avLst/>
          </a:prstGeom>
          <a:noFill/>
        </p:spPr>
        <p:txBody>
          <a:bodyPr wrap="square" anchor="t" lIns="0" rIns="0" tIns="0" bIns="0">
            <a:spAutoFit/>
          </a:bodyPr>
          <a:lstStyle/>
          <a:p>
            <a:pPr algn="r">
              <a:lnSpc>
                <a:spcPct val="112000"/>
              </a:lnSpc>
            </a:pPr>
            <a:r>
              <a:rPr sz="1050" b="1">
                <a:solidFill>
                  <a:srgbClr val="1428A0"/>
                </a:solidFill>
                <a:latin typeface="Arial"/>
                <a:ea typeface="Arial"/>
              </a:rPr>
              <a:t>DWPD 요구 충족 · 유일한 경로</a:t>
            </a:r>
          </a:p>
        </p:txBody>
      </p:sp>
      <p:sp>
        <p:nvSpPr>
          <p:cNvPr id="86" name="Rectangle 85"/>
          <p:cNvSpPr/>
          <p:nvPr/>
        </p:nvSpPr>
        <p:spPr>
          <a:xfrm>
            <a:off x="9949503" y="6839712"/>
            <a:ext cx="225219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0040943" y="6894575"/>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호스트 · 앱</a:t>
            </a:r>
          </a:p>
        </p:txBody>
      </p:sp>
      <p:sp>
        <p:nvSpPr>
          <p:cNvPr id="88" name="TextBox 87"/>
          <p:cNvSpPr txBox="1"/>
          <p:nvPr/>
        </p:nvSpPr>
        <p:spPr>
          <a:xfrm>
            <a:off x="10040943" y="7086600"/>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데이터 수명 지정</a:t>
            </a:r>
          </a:p>
        </p:txBody>
      </p:sp>
      <p:sp>
        <p:nvSpPr>
          <p:cNvPr id="89" name="TextBox 88"/>
          <p:cNvSpPr txBox="1"/>
          <p:nvPr/>
        </p:nvSpPr>
        <p:spPr>
          <a:xfrm>
            <a:off x="10040943" y="7296912"/>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배치 표준 · 캐시 관리자 정책</a:t>
            </a:r>
          </a:p>
        </p:txBody>
      </p:sp>
      <p:sp>
        <p:nvSpPr>
          <p:cNvPr id="90" name="Right Arrow 89"/>
          <p:cNvSpPr/>
          <p:nvPr/>
        </p:nvSpPr>
        <p:spPr>
          <a:xfrm>
            <a:off x="12247418" y="7086600"/>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2512594" y="6839712"/>
            <a:ext cx="225219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2604034" y="6894575"/>
            <a:ext cx="2069314"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삼성 · 고객 공동 설계</a:t>
            </a:r>
          </a:p>
        </p:txBody>
      </p:sp>
      <p:sp>
        <p:nvSpPr>
          <p:cNvPr id="93" name="TextBox 92"/>
          <p:cNvSpPr txBox="1"/>
          <p:nvPr/>
        </p:nvSpPr>
        <p:spPr>
          <a:xfrm>
            <a:off x="12604034" y="7086600"/>
            <a:ext cx="2069314" cy="237744"/>
          </a:xfrm>
          <a:prstGeom prst="rect">
            <a:avLst/>
          </a:prstGeom>
          <a:noFill/>
        </p:spPr>
        <p:txBody>
          <a:bodyPr wrap="square" anchor="t" lIns="0" rIns="0" tIns="0" bIns="0">
            <a:spAutoFit/>
          </a:bodyPr>
          <a:lstStyle/>
          <a:p>
            <a:pPr algn="l">
              <a:lnSpc>
                <a:spcPct val="112000"/>
              </a:lnSpc>
            </a:pPr>
            <a:r>
              <a:rPr sz="1200" b="1">
                <a:solidFill>
                  <a:srgbClr val="FFFFFF"/>
                </a:solidFill>
                <a:latin typeface="Arial"/>
                <a:ea typeface="Arial"/>
              </a:rPr>
              <a:t>WAF 3.2 → 1.0</a:t>
            </a:r>
          </a:p>
        </p:txBody>
      </p:sp>
      <p:sp>
        <p:nvSpPr>
          <p:cNvPr id="94" name="TextBox 93"/>
          <p:cNvSpPr txBox="1"/>
          <p:nvPr/>
        </p:nvSpPr>
        <p:spPr>
          <a:xfrm>
            <a:off x="12604034" y="7296912"/>
            <a:ext cx="2069314" cy="201168"/>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FDE · SCA · 유효 DWPD ×3.1</a:t>
            </a:r>
          </a:p>
        </p:txBody>
      </p:sp>
      <p:sp>
        <p:nvSpPr>
          <p:cNvPr id="95" name="Right Arrow 94"/>
          <p:cNvSpPr/>
          <p:nvPr/>
        </p:nvSpPr>
        <p:spPr>
          <a:xfrm>
            <a:off x="14810509" y="7086600"/>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075685" y="6839712"/>
            <a:ext cx="2252194" cy="6766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167125" y="6894575"/>
            <a:ext cx="2069314"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98" name="TextBox 97"/>
          <p:cNvSpPr txBox="1"/>
          <p:nvPr/>
        </p:nvSpPr>
        <p:spPr>
          <a:xfrm>
            <a:off x="15167125" y="7086600"/>
            <a:ext cx="2069314"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DWPD 요구 충족</a:t>
            </a:r>
          </a:p>
        </p:txBody>
      </p:sp>
      <p:sp>
        <p:nvSpPr>
          <p:cNvPr id="99" name="TextBox 98"/>
          <p:cNvSpPr txBox="1"/>
          <p:nvPr/>
        </p:nvSpPr>
        <p:spPr>
          <a:xfrm>
            <a:off x="15167125" y="7296912"/>
            <a:ext cx="2069314" cy="20116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QLC로 정격 내 수명 보증</a:t>
            </a:r>
          </a:p>
        </p:txBody>
      </p:sp>
      <p:sp>
        <p:nvSpPr>
          <p:cNvPr id="100" name="Rectangle 99"/>
          <p:cNvSpPr/>
          <p:nvPr/>
        </p:nvSpPr>
        <p:spPr>
          <a:xfrm>
            <a:off x="722376" y="7644383"/>
            <a:ext cx="16843248" cy="8595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2376" y="7644383"/>
            <a:ext cx="54864" cy="85953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41832" y="7735823"/>
            <a:ext cx="1828800"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병렬 축 · 다이 고장률</a:t>
            </a:r>
          </a:p>
        </p:txBody>
      </p:sp>
      <p:sp>
        <p:nvSpPr>
          <p:cNvPr id="103" name="TextBox 102"/>
          <p:cNvSpPr txBox="1"/>
          <p:nvPr/>
        </p:nvSpPr>
        <p:spPr>
          <a:xfrm>
            <a:off x="941832" y="7973567"/>
            <a:ext cx="1828800" cy="365760"/>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요구 FFR ≤ 3% 고정</a:t>
            </a:r>
          </a:p>
          <a:p>
            <a:pPr algn="l">
              <a:lnSpc>
                <a:spcPct val="100000"/>
              </a:lnSpc>
            </a:pPr>
            <a:r>
              <a:rPr sz="900" b="0">
                <a:solidFill>
                  <a:srgbClr val="555555"/>
                </a:solidFill>
                <a:latin typeface="Arial"/>
                <a:ea typeface="Arial"/>
              </a:rPr>
              <a:t>JESD218 · 다이 수는 8배 ↑</a:t>
            </a:r>
          </a:p>
        </p:txBody>
      </p:sp>
      <p:sp>
        <p:nvSpPr>
          <p:cNvPr id="104" name="TextBox 103"/>
          <p:cNvSpPr txBox="1"/>
          <p:nvPr/>
        </p:nvSpPr>
        <p:spPr>
          <a:xfrm>
            <a:off x="2871216" y="7717536"/>
            <a:ext cx="28803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SSD당 NAND 다이 수 (용량 ÷ 다이 밀도 환산)</a:t>
            </a:r>
          </a:p>
        </p:txBody>
      </p:sp>
      <p:sp>
        <p:nvSpPr>
          <p:cNvPr id="105" name="Rectangle 104"/>
          <p:cNvSpPr/>
          <p:nvPr/>
        </p:nvSpPr>
        <p:spPr>
          <a:xfrm>
            <a:off x="2871216" y="8129016"/>
            <a:ext cx="31089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688336" y="8193024"/>
            <a:ext cx="676656" cy="164592"/>
          </a:xfrm>
          <a:prstGeom prst="rect">
            <a:avLst/>
          </a:prstGeom>
          <a:noFill/>
        </p:spPr>
        <p:txBody>
          <a:bodyPr wrap="square" anchor="t" lIns="0" rIns="0" tIns="0" bIns="0">
            <a:spAutoFit/>
          </a:bodyPr>
          <a:lstStyle/>
          <a:p>
            <a:pPr algn="ctr">
              <a:lnSpc>
                <a:spcPct val="112000"/>
              </a:lnSpc>
            </a:pPr>
            <a:r>
              <a:rPr sz="825" b="0">
                <a:solidFill>
                  <a:srgbClr val="555555"/>
                </a:solidFill>
                <a:latin typeface="Arial"/>
                <a:ea typeface="Arial"/>
              </a:rPr>
              <a:t>'12  128</a:t>
            </a:r>
          </a:p>
        </p:txBody>
      </p:sp>
      <p:sp>
        <p:nvSpPr>
          <p:cNvPr id="107" name="Rectangle 106"/>
          <p:cNvSpPr/>
          <p:nvPr/>
        </p:nvSpPr>
        <p:spPr>
          <a:xfrm>
            <a:off x="3513582" y="8129016"/>
            <a:ext cx="31089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3330702" y="8193024"/>
            <a:ext cx="676656" cy="164592"/>
          </a:xfrm>
          <a:prstGeom prst="rect">
            <a:avLst/>
          </a:prstGeom>
          <a:noFill/>
        </p:spPr>
        <p:txBody>
          <a:bodyPr wrap="square" anchor="t" lIns="0" rIns="0" tIns="0" bIns="0">
            <a:spAutoFit/>
          </a:bodyPr>
          <a:lstStyle/>
          <a:p>
            <a:pPr algn="ctr">
              <a:lnSpc>
                <a:spcPct val="112000"/>
              </a:lnSpc>
            </a:pPr>
            <a:r>
              <a:rPr sz="825" b="0">
                <a:solidFill>
                  <a:srgbClr val="555555"/>
                </a:solidFill>
                <a:latin typeface="Arial"/>
                <a:ea typeface="Arial"/>
              </a:rPr>
              <a:t>'18  144</a:t>
            </a:r>
          </a:p>
        </p:txBody>
      </p:sp>
      <p:sp>
        <p:nvSpPr>
          <p:cNvPr id="109" name="Rectangle 108"/>
          <p:cNvSpPr/>
          <p:nvPr/>
        </p:nvSpPr>
        <p:spPr>
          <a:xfrm>
            <a:off x="4155948" y="8110728"/>
            <a:ext cx="310896" cy="640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3973068" y="8193024"/>
            <a:ext cx="676656" cy="164592"/>
          </a:xfrm>
          <a:prstGeom prst="rect">
            <a:avLst/>
          </a:prstGeom>
          <a:noFill/>
        </p:spPr>
        <p:txBody>
          <a:bodyPr wrap="square" anchor="t" lIns="0" rIns="0" tIns="0" bIns="0">
            <a:spAutoFit/>
          </a:bodyPr>
          <a:lstStyle/>
          <a:p>
            <a:pPr algn="ctr">
              <a:lnSpc>
                <a:spcPct val="112000"/>
              </a:lnSpc>
            </a:pPr>
            <a:r>
              <a:rPr sz="825" b="0">
                <a:solidFill>
                  <a:srgbClr val="555555"/>
                </a:solidFill>
                <a:latin typeface="Arial"/>
                <a:ea typeface="Arial"/>
              </a:rPr>
              <a:t>'21  256</a:t>
            </a:r>
          </a:p>
        </p:txBody>
      </p:sp>
      <p:sp>
        <p:nvSpPr>
          <p:cNvPr id="111" name="Rectangle 110"/>
          <p:cNvSpPr/>
          <p:nvPr/>
        </p:nvSpPr>
        <p:spPr>
          <a:xfrm>
            <a:off x="4798314" y="8046720"/>
            <a:ext cx="310896" cy="12801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615434" y="8193024"/>
            <a:ext cx="676656" cy="164592"/>
          </a:xfrm>
          <a:prstGeom prst="rect">
            <a:avLst/>
          </a:prstGeom>
          <a:noFill/>
        </p:spPr>
        <p:txBody>
          <a:bodyPr wrap="square" anchor="t" lIns="0" rIns="0" tIns="0" bIns="0">
            <a:spAutoFit/>
          </a:bodyPr>
          <a:lstStyle/>
          <a:p>
            <a:pPr algn="ctr">
              <a:lnSpc>
                <a:spcPct val="112000"/>
              </a:lnSpc>
            </a:pPr>
            <a:r>
              <a:rPr sz="825" b="0">
                <a:solidFill>
                  <a:srgbClr val="555555"/>
                </a:solidFill>
                <a:latin typeface="Arial"/>
                <a:ea typeface="Arial"/>
              </a:rPr>
              <a:t>'23  512</a:t>
            </a:r>
          </a:p>
        </p:txBody>
      </p:sp>
      <p:sp>
        <p:nvSpPr>
          <p:cNvPr id="113" name="Rectangle 112"/>
          <p:cNvSpPr/>
          <p:nvPr/>
        </p:nvSpPr>
        <p:spPr>
          <a:xfrm>
            <a:off x="5440679" y="7918704"/>
            <a:ext cx="310896"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5257799" y="8193024"/>
            <a:ext cx="676656" cy="164592"/>
          </a:xfrm>
          <a:prstGeom prst="rect">
            <a:avLst/>
          </a:prstGeom>
          <a:noFill/>
        </p:spPr>
        <p:txBody>
          <a:bodyPr wrap="square" anchor="t" lIns="0" rIns="0" tIns="0" bIns="0">
            <a:spAutoFit/>
          </a:bodyPr>
          <a:lstStyle/>
          <a:p>
            <a:pPr algn="ctr">
              <a:lnSpc>
                <a:spcPct val="112000"/>
              </a:lnSpc>
            </a:pPr>
            <a:r>
              <a:rPr sz="825" b="1">
                <a:solidFill>
                  <a:srgbClr val="1A1A1A"/>
                </a:solidFill>
                <a:latin typeface="Arial"/>
                <a:ea typeface="Arial"/>
              </a:rPr>
              <a:t>'25  1,024</a:t>
            </a:r>
          </a:p>
        </p:txBody>
      </p:sp>
      <p:sp>
        <p:nvSpPr>
          <p:cNvPr id="115" name="Rectangle 114"/>
          <p:cNvSpPr/>
          <p:nvPr/>
        </p:nvSpPr>
        <p:spPr>
          <a:xfrm>
            <a:off x="6025896" y="7708392"/>
            <a:ext cx="3535680" cy="7315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6135624" y="7744967"/>
            <a:ext cx="3316224"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 (단품)</a:t>
            </a:r>
          </a:p>
        </p:txBody>
      </p:sp>
      <p:sp>
        <p:nvSpPr>
          <p:cNvPr id="117" name="TextBox 116"/>
          <p:cNvSpPr txBox="1"/>
          <p:nvPr/>
        </p:nvSpPr>
        <p:spPr>
          <a:xfrm>
            <a:off x="6135624" y="7900416"/>
            <a:ext cx="3316224"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수 8배 ↑ → 다이 고장률 8배 ↓ 필요</a:t>
            </a:r>
          </a:p>
        </p:txBody>
      </p:sp>
      <p:sp>
        <p:nvSpPr>
          <p:cNvPr id="118" name="TextBox 117"/>
          <p:cNvSpPr txBox="1"/>
          <p:nvPr/>
        </p:nvSpPr>
        <p:spPr>
          <a:xfrm>
            <a:off x="6135624" y="8101583"/>
            <a:ext cx="3316224" cy="320040"/>
          </a:xfrm>
          <a:prstGeom prst="rect">
            <a:avLst/>
          </a:prstGeom>
          <a:noFill/>
        </p:spPr>
        <p:txBody>
          <a:bodyPr wrap="square" anchor="t" lIns="0" rIns="0" tIns="0" bIns="0">
            <a:spAutoFit/>
          </a:bodyPr>
          <a:lstStyle/>
          <a:p>
            <a:pPr algn="l">
              <a:lnSpc>
                <a:spcPct val="100000"/>
              </a:lnSpc>
            </a:pPr>
            <a:r>
              <a:rPr sz="825" b="0">
                <a:solidFill>
                  <a:srgbClr val="555555"/>
                </a:solidFill>
                <a:latin typeface="Arial"/>
                <a:ea typeface="Arial"/>
              </a:rPr>
              <a:t>SSD 고장률 ≈ N × 다이 고장률 · 칩 면적↔수율과 같은 원리 · 다이 고장률 개선은 기술적 한계</a:t>
            </a:r>
          </a:p>
        </p:txBody>
      </p:sp>
      <p:sp>
        <p:nvSpPr>
          <p:cNvPr id="119" name="Right Arrow 118"/>
          <p:cNvSpPr/>
          <p:nvPr/>
        </p:nvSpPr>
        <p:spPr>
          <a:xfrm>
            <a:off x="9634728" y="798271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9927336" y="7708392"/>
            <a:ext cx="3535680" cy="7315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0037064" y="7744967"/>
            <a:ext cx="3316224" cy="164592"/>
          </a:xfrm>
          <a:prstGeom prst="rect">
            <a:avLst/>
          </a:prstGeom>
          <a:noFill/>
        </p:spPr>
        <p:txBody>
          <a:bodyPr wrap="square" anchor="t" lIns="0" rIns="0" tIns="0" bIns="0">
            <a:spAutoFit/>
          </a:bodyPr>
          <a:lstStyle/>
          <a:p>
            <a:pPr algn="l">
              <a:lnSpc>
                <a:spcPct val="112000"/>
              </a:lnSpc>
            </a:pPr>
            <a:r>
              <a:rPr sz="875" b="0">
                <a:solidFill>
                  <a:srgbClr val="1A1A1A"/>
                </a:solidFill>
                <a:latin typeface="Arial"/>
                <a:ea typeface="Arial"/>
              </a:rPr>
              <a:t>SSD 내부 (현재 해법)</a:t>
            </a:r>
          </a:p>
        </p:txBody>
      </p:sp>
      <p:sp>
        <p:nvSpPr>
          <p:cNvPr id="122" name="TextBox 121"/>
          <p:cNvSpPr txBox="1"/>
          <p:nvPr/>
        </p:nvSpPr>
        <p:spPr>
          <a:xfrm>
            <a:off x="10037064" y="7900416"/>
            <a:ext cx="3316224"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RAID · 여분 다이 · 다이 은퇴</a:t>
            </a:r>
          </a:p>
        </p:txBody>
      </p:sp>
      <p:sp>
        <p:nvSpPr>
          <p:cNvPr id="123" name="TextBox 122"/>
          <p:cNvSpPr txBox="1"/>
          <p:nvPr/>
        </p:nvSpPr>
        <p:spPr>
          <a:xfrm>
            <a:off x="10037064" y="8101583"/>
            <a:ext cx="3316224" cy="320040"/>
          </a:xfrm>
          <a:prstGeom prst="rect">
            <a:avLst/>
          </a:prstGeom>
          <a:noFill/>
        </p:spPr>
        <p:txBody>
          <a:bodyPr wrap="square" anchor="t" lIns="0" rIns="0" tIns="0" bIns="0">
            <a:spAutoFit/>
          </a:bodyPr>
          <a:lstStyle/>
          <a:p>
            <a:pPr algn="l">
              <a:lnSpc>
                <a:spcPct val="100000"/>
              </a:lnSpc>
            </a:pPr>
            <a:r>
              <a:rPr sz="825" b="0">
                <a:solidFill>
                  <a:srgbClr val="555555"/>
                </a:solidFill>
                <a:latin typeface="Arial"/>
                <a:ea typeface="Arial"/>
              </a:rPr>
              <a:t>Micron RAIN(XOR 패리티 다이) · 삼성 Fail-in-Place(PM1733, 감량 운영) · 패리티·예비 용량 오버헤드 ↑</a:t>
            </a:r>
          </a:p>
        </p:txBody>
      </p:sp>
      <p:sp>
        <p:nvSpPr>
          <p:cNvPr id="124" name="Right Arrow 123"/>
          <p:cNvSpPr/>
          <p:nvPr/>
        </p:nvSpPr>
        <p:spPr>
          <a:xfrm>
            <a:off x="13536168" y="7982712"/>
            <a:ext cx="219456"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3828776" y="7708392"/>
            <a:ext cx="3535680" cy="73152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3938504" y="7744967"/>
            <a:ext cx="3316224" cy="164592"/>
          </a:xfrm>
          <a:prstGeom prst="rect">
            <a:avLst/>
          </a:prstGeom>
          <a:noFill/>
        </p:spPr>
        <p:txBody>
          <a:bodyPr wrap="square" anchor="t" lIns="0" rIns="0" tIns="0" bIns="0">
            <a:spAutoFit/>
          </a:bodyPr>
          <a:lstStyle/>
          <a:p>
            <a:pPr algn="l">
              <a:lnSpc>
                <a:spcPct val="112000"/>
              </a:lnSpc>
            </a:pPr>
            <a:r>
              <a:rPr sz="875" b="0">
                <a:solidFill>
                  <a:srgbClr val="1428A0"/>
                </a:solidFill>
                <a:latin typeface="Arial"/>
                <a:ea typeface="Arial"/>
              </a:rPr>
              <a:t>상위 계층 (SSD 단독 한계 시)</a:t>
            </a:r>
          </a:p>
        </p:txBody>
      </p:sp>
      <p:sp>
        <p:nvSpPr>
          <p:cNvPr id="127" name="TextBox 126"/>
          <p:cNvSpPr txBox="1"/>
          <p:nvPr/>
        </p:nvSpPr>
        <p:spPr>
          <a:xfrm>
            <a:off x="13938504" y="7900416"/>
            <a:ext cx="3316224"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감량 운영 수용 · 호스트 소거 부호</a:t>
            </a:r>
          </a:p>
        </p:txBody>
      </p:sp>
      <p:sp>
        <p:nvSpPr>
          <p:cNvPr id="128" name="TextBox 127"/>
          <p:cNvSpPr txBox="1"/>
          <p:nvPr/>
        </p:nvSpPr>
        <p:spPr>
          <a:xfrm>
            <a:off x="13938504" y="8101583"/>
            <a:ext cx="3316224" cy="320040"/>
          </a:xfrm>
          <a:prstGeom prst="rect">
            <a:avLst/>
          </a:prstGeom>
          <a:noFill/>
        </p:spPr>
        <p:txBody>
          <a:bodyPr wrap="square" anchor="t" lIns="0" rIns="0" tIns="0" bIns="0">
            <a:spAutoFit/>
          </a:bodyPr>
          <a:lstStyle/>
          <a:p>
            <a:pPr algn="l">
              <a:lnSpc>
                <a:spcPct val="100000"/>
              </a:lnSpc>
            </a:pPr>
            <a:r>
              <a:rPr sz="825" b="0">
                <a:solidFill>
                  <a:srgbClr val="555555"/>
                </a:solidFill>
                <a:latin typeface="Arial"/>
                <a:ea typeface="Arial"/>
              </a:rPr>
              <a:t>OCP SMART XOR 복구 카운트(호스트 관측) · 플랫폼 fail-in-place(MS Hyrax) · 드라이브 간 소거 부호</a:t>
            </a:r>
          </a:p>
        </p:txBody>
      </p:sp>
      <p:sp>
        <p:nvSpPr>
          <p:cNvPr id="129" name="Rectangle 128"/>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1" name="TextBox 130"/>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요구(UBER·DWPD·FFR)는 고정, 단품 지표(RBER·P/E·다이 수)는 악화, 격차는 상위 계층이 보상해 왔습니다.</a:t>
            </a:r>
          </a:p>
          <a:p>
            <a:pPr algn="l">
              <a:lnSpc>
                <a:spcPct val="108000"/>
              </a:lnSpc>
            </a:pPr>
            <a:r>
              <a:rPr sz="1650" b="1">
                <a:solidFill>
                  <a:srgbClr val="FFFFFF"/>
                </a:solidFill>
                <a:latin typeface="Arial"/>
                <a:ea typeface="Arial"/>
              </a:rPr>
              <a:t>QLC로 요구 DWPD를 충족하는 경로는 호스트 시스템 공동 설계뿐이며, 이는 산식의 귀결입니다</a:t>
            </a:r>
          </a:p>
        </p:txBody>
      </p:sp>
      <p:sp>
        <p:nvSpPr>
          <p:cNvPr id="132" name="Rectangle 131"/>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시점 · 왜 지금인가</a:t>
            </a:r>
          </a:p>
        </p:txBody>
      </p:sp>
      <p:sp>
        <p:nvSpPr>
          <p:cNvPr id="135" name="TextBox 134"/>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JESD218(UBER·FFR), ATP·Kioxia(DWPD 산식), Intel·Solidigm 사양(정격 DWPD·다이 수), Mielke·Cai(RBER·다이 패리티), WD(LDPC), CacheLib FDP(WAF), HotStorage'14·SYSTOR'17·NVMe 1.4, Kioxia LC9·삼성 FIP·OCP SMART·MS Hyrax · 등급은 보고서 부록 A F28~F47</a:t>
            </a:r>
          </a:p>
        </p:txBody>
      </p:sp>
      <p:sp>
        <p:nvSpPr>
          <p:cNvPr id="136" name="TextBox 135"/>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시점  </a:t>
            </a:r>
            <a:r>
              <a:rPr sz="1200" b="0">
                <a:solidFill>
                  <a:srgbClr val="1428A0"/>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수요  </a:t>
            </a:r>
            <a:r>
              <a:rPr sz="1200" b="0">
                <a:solidFill>
                  <a:srgbClr val="8A8A8A"/>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극복의 결정 요인은 고객 요구 적중이었고, 요구는 고객 시스템 내부에서 먼저 관측됐습니다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1장의 보상 변수 WAF는 고객이 정의하는 배치 규격입니다. 규격이 정의된 시점을 두 다운턴과 QLC 연혁에서 확인합니다.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96696" y="320954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974372" y="309981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791492" y="336499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1" name="Rectangle 30"/>
          <p:cNvSpPr/>
          <p:nvPr/>
        </p:nvSpPr>
        <p:spPr>
          <a:xfrm>
            <a:off x="6536862" y="309981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3982" y="336499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3" name="Rectangle 32"/>
          <p:cNvSpPr/>
          <p:nvPr/>
        </p:nvSpPr>
        <p:spPr>
          <a:xfrm>
            <a:off x="13380598" y="3099816"/>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106278" y="3364992"/>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5" name="TextBox 34"/>
          <p:cNvSpPr txBox="1"/>
          <p:nvPr/>
        </p:nvSpPr>
        <p:spPr>
          <a:xfrm>
            <a:off x="630936"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36" name="TextBox 35"/>
          <p:cNvSpPr txBox="1"/>
          <p:nvPr/>
        </p:nvSpPr>
        <p:spPr>
          <a:xfrm>
            <a:off x="3238073"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37" name="TextBox 36"/>
          <p:cNvSpPr txBox="1"/>
          <p:nvPr/>
        </p:nvSpPr>
        <p:spPr>
          <a:xfrm>
            <a:off x="5845210"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38" name="TextBox 37"/>
          <p:cNvSpPr txBox="1"/>
          <p:nvPr/>
        </p:nvSpPr>
        <p:spPr>
          <a:xfrm>
            <a:off x="8452347"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39" name="TextBox 38"/>
          <p:cNvSpPr txBox="1"/>
          <p:nvPr/>
        </p:nvSpPr>
        <p:spPr>
          <a:xfrm>
            <a:off x="11059485"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0" name="TextBox 39"/>
          <p:cNvSpPr txBox="1"/>
          <p:nvPr/>
        </p:nvSpPr>
        <p:spPr>
          <a:xfrm>
            <a:off x="13666622"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1" name="TextBox 40"/>
          <p:cNvSpPr txBox="1"/>
          <p:nvPr/>
        </p:nvSpPr>
        <p:spPr>
          <a:xfrm>
            <a:off x="16273759" y="356616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2" name="Oval 41"/>
          <p:cNvSpPr/>
          <p:nvPr/>
        </p:nvSpPr>
        <p:spPr>
          <a:xfrm>
            <a:off x="2618183"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685848"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11175"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45" name="Oval 44"/>
          <p:cNvSpPr/>
          <p:nvPr/>
        </p:nvSpPr>
        <p:spPr>
          <a:xfrm>
            <a:off x="7376208"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443874"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69200"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48" name="Oval 47"/>
          <p:cNvSpPr/>
          <p:nvPr/>
        </p:nvSpPr>
        <p:spPr>
          <a:xfrm>
            <a:off x="8158349"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26015"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951341"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51" name="Oval 50"/>
          <p:cNvSpPr/>
          <p:nvPr/>
        </p:nvSpPr>
        <p:spPr>
          <a:xfrm>
            <a:off x="9722632"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79029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15624" y="3749039"/>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54" name="Oval 53"/>
          <p:cNvSpPr/>
          <p:nvPr/>
        </p:nvSpPr>
        <p:spPr>
          <a:xfrm>
            <a:off x="12134234"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2201899" y="283464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927226" y="2615184"/>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규격 미정의</a:t>
            </a:r>
          </a:p>
        </p:txBody>
      </p:sp>
      <p:sp>
        <p:nvSpPr>
          <p:cNvPr id="57" name="Oval 56"/>
          <p:cNvSpPr/>
          <p:nvPr/>
        </p:nvSpPr>
        <p:spPr>
          <a:xfrm>
            <a:off x="16827081" y="314553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6894747" y="332841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4522793" y="3749039"/>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60" name="Rectangle 59"/>
          <p:cNvSpPr/>
          <p:nvPr/>
        </p:nvSpPr>
        <p:spPr>
          <a:xfrm>
            <a:off x="722376" y="4151376"/>
            <a:ext cx="5413248"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69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수요 센싱</a:t>
            </a:r>
          </a:p>
        </p:txBody>
      </p:sp>
      <p:sp>
        <p:nvSpPr>
          <p:cNvPr id="62" name="TextBox 61"/>
          <p:cNvSpPr txBox="1"/>
          <p:nvPr/>
        </p:nvSpPr>
        <p:spPr>
          <a:xfrm>
            <a:off x="1069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2년</a:t>
            </a:r>
          </a:p>
        </p:txBody>
      </p:sp>
      <p:sp>
        <p:nvSpPr>
          <p:cNvPr id="63" name="TextBox 62"/>
          <p:cNvSpPr txBox="1"/>
          <p:nvPr/>
        </p:nvSpPr>
        <p:spPr>
          <a:xfrm>
            <a:off x="2990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고객 규격·코드 신호가</a:t>
            </a:r>
          </a:p>
          <a:p>
            <a:pPr algn="l">
              <a:lnSpc>
                <a:spcPct val="104000"/>
              </a:lnSpc>
            </a:pPr>
            <a:r>
              <a:rPr sz="1275" b="0">
                <a:solidFill>
                  <a:srgbClr val="555555"/>
                </a:solidFill>
                <a:latin typeface="Arial"/>
                <a:ea typeface="Arial"/>
              </a:rPr>
              <a:t>발주·출하에 선행</a:t>
            </a:r>
          </a:p>
        </p:txBody>
      </p:sp>
      <p:sp>
        <p:nvSpPr>
          <p:cNvPr id="64" name="Rectangle 63"/>
          <p:cNvSpPr/>
          <p:nvPr/>
        </p:nvSpPr>
        <p:spPr>
          <a:xfrm>
            <a:off x="1069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69848" y="5715000"/>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고객 규격 · 코드</a:t>
            </a:r>
          </a:p>
        </p:txBody>
      </p:sp>
      <p:sp>
        <p:nvSpPr>
          <p:cNvPr id="66" name="TextBox 65"/>
          <p:cNvSpPr txBox="1"/>
          <p:nvPr/>
        </p:nvSpPr>
        <p:spPr>
          <a:xfrm>
            <a:off x="1069848" y="7168895"/>
            <a:ext cx="1188720" cy="256032"/>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발주 · 비트 출하</a:t>
            </a:r>
          </a:p>
        </p:txBody>
      </p:sp>
      <p:sp>
        <p:nvSpPr>
          <p:cNvPr id="67" name="Rectangle 66"/>
          <p:cNvSpPr/>
          <p:nvPr/>
        </p:nvSpPr>
        <p:spPr>
          <a:xfrm>
            <a:off x="2304288" y="5843016"/>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2304288" y="7296911"/>
            <a:ext cx="3483864"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958906" y="5843016"/>
            <a:ext cx="14630" cy="5897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38904" y="6707123"/>
            <a:ext cx="14630" cy="5897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ight Arrow 70"/>
          <p:cNvSpPr/>
          <p:nvPr/>
        </p:nvSpPr>
        <p:spPr>
          <a:xfrm>
            <a:off x="2966222" y="6432803"/>
            <a:ext cx="1079997" cy="27432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966222" y="6432803"/>
            <a:ext cx="970269" cy="274320"/>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 2년 선행</a:t>
            </a:r>
          </a:p>
        </p:txBody>
      </p:sp>
      <p:sp>
        <p:nvSpPr>
          <p:cNvPr id="73" name="Oval 72"/>
          <p:cNvSpPr/>
          <p:nvPr/>
        </p:nvSpPr>
        <p:spPr>
          <a:xfrm>
            <a:off x="2865638" y="5742431"/>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691902" y="5440679"/>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2022-12 배치 표준 비준</a:t>
            </a:r>
          </a:p>
        </p:txBody>
      </p:sp>
      <p:sp>
        <p:nvSpPr>
          <p:cNvPr id="75" name="Oval 74"/>
          <p:cNvSpPr/>
          <p:nvPr/>
        </p:nvSpPr>
        <p:spPr>
          <a:xfrm>
            <a:off x="3945636" y="7196327"/>
            <a:ext cx="201168" cy="20116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771900" y="7424927"/>
            <a:ext cx="2194560" cy="237744"/>
          </a:xfrm>
          <a:prstGeom prst="rect">
            <a:avLst/>
          </a:prstGeom>
          <a:noFill/>
        </p:spPr>
        <p:txBody>
          <a:bodyPr wrap="square" anchor="t" lIns="0" rIns="0" tIns="0" bIns="0">
            <a:spAutoFit/>
          </a:bodyPr>
          <a:lstStyle/>
          <a:p>
            <a:pPr algn="l">
              <a:lnSpc>
                <a:spcPct val="112000"/>
              </a:lnSpc>
            </a:pPr>
            <a:r>
              <a:rPr sz="1125" b="0">
                <a:solidFill>
                  <a:srgbClr val="555555"/>
                </a:solidFill>
                <a:latin typeface="Arial"/>
                <a:ea typeface="Arial"/>
              </a:rPr>
              <a:t>2024 비트 출하 30EB</a:t>
            </a:r>
          </a:p>
        </p:txBody>
      </p:sp>
      <p:sp>
        <p:nvSpPr>
          <p:cNvPr id="77" name="Oval 76"/>
          <p:cNvSpPr/>
          <p:nvPr/>
        </p:nvSpPr>
        <p:spPr>
          <a:xfrm>
            <a:off x="5408858" y="5742431"/>
            <a:ext cx="201168" cy="201168"/>
          </a:xfrm>
          <a:prstGeom prst="ellipse">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772082" y="5989320"/>
            <a:ext cx="1965960" cy="402336"/>
          </a:xfrm>
          <a:prstGeom prst="rect">
            <a:avLst/>
          </a:prstGeom>
          <a:noFill/>
        </p:spPr>
        <p:txBody>
          <a:bodyPr wrap="square" anchor="t" lIns="0" rIns="0" tIns="0" bIns="0">
            <a:spAutoFit/>
          </a:bodyPr>
          <a:lstStyle/>
          <a:p>
            <a:pPr algn="r">
              <a:lnSpc>
                <a:spcPct val="100000"/>
              </a:lnSpc>
            </a:pPr>
            <a:r>
              <a:rPr sz="1125" b="1">
                <a:solidFill>
                  <a:srgbClr val="1428A0"/>
                </a:solidFill>
                <a:latin typeface="Arial"/>
                <a:ea typeface="Arial"/>
              </a:rPr>
              <a:t>2026 KV 캐시 관리자 코드</a:t>
            </a:r>
          </a:p>
          <a:p>
            <a:pPr algn="r">
              <a:lnSpc>
                <a:spcPct val="100000"/>
              </a:lnSpc>
            </a:pPr>
            <a:r>
              <a:rPr sz="1125" b="1">
                <a:solidFill>
                  <a:srgbClr val="1428A0"/>
                </a:solidFill>
                <a:latin typeface="Arial"/>
                <a:ea typeface="Arial"/>
              </a:rPr>
              <a:t>배치 규격 미정의 = 선점 구간</a:t>
            </a:r>
          </a:p>
        </p:txBody>
      </p:sp>
      <p:sp>
        <p:nvSpPr>
          <p:cNvPr id="79" name="Rectangle 78"/>
          <p:cNvSpPr/>
          <p:nvPr/>
        </p:nvSpPr>
        <p:spPr>
          <a:xfrm>
            <a:off x="1069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69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69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82" name="TextBox 81"/>
          <p:cNvSpPr txBox="1"/>
          <p:nvPr/>
        </p:nvSpPr>
        <p:spPr>
          <a:xfrm>
            <a:off x="1399031"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수요  </a:t>
            </a:r>
            <a:r>
              <a:rPr sz="1200" b="0">
                <a:solidFill>
                  <a:srgbClr val="555555"/>
                </a:solidFill>
                <a:latin typeface="Arial"/>
                <a:ea typeface="Arial"/>
              </a:rPr>
              <a:t>고객의 QLC 채택 동인</a:t>
            </a:r>
          </a:p>
        </p:txBody>
      </p:sp>
      <p:sp>
        <p:nvSpPr>
          <p:cNvPr id="83" name="Rectangle 82"/>
          <p:cNvSpPr/>
          <p:nvPr/>
        </p:nvSpPr>
        <p:spPr>
          <a:xfrm>
            <a:off x="6437376" y="4151376"/>
            <a:ext cx="5413248" cy="4261103"/>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437376" y="4151376"/>
            <a:ext cx="73152" cy="4261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784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86" name="TextBox 85"/>
          <p:cNvSpPr txBox="1"/>
          <p:nvPr/>
        </p:nvSpPr>
        <p:spPr>
          <a:xfrm>
            <a:off x="6784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12개월</a:t>
            </a:r>
          </a:p>
        </p:txBody>
      </p:sp>
      <p:sp>
        <p:nvSpPr>
          <p:cNvPr id="87" name="TextBox 86"/>
          <p:cNvSpPr txBox="1"/>
          <p:nvPr/>
        </p:nvSpPr>
        <p:spPr>
          <a:xfrm>
            <a:off x="8705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규격 정의 참여 vs 후발의</a:t>
            </a:r>
          </a:p>
          <a:p>
            <a:pPr algn="l">
              <a:lnSpc>
                <a:spcPct val="104000"/>
              </a:lnSpc>
            </a:pPr>
            <a:r>
              <a:rPr sz="1275" b="0">
                <a:solidFill>
                  <a:srgbClr val="555555"/>
                </a:solidFill>
                <a:latin typeface="Arial"/>
                <a:ea typeface="Arial"/>
              </a:rPr>
              <a:t>출시 시점 격차</a:t>
            </a:r>
          </a:p>
        </p:txBody>
      </p:sp>
      <p:sp>
        <p:nvSpPr>
          <p:cNvPr id="88" name="Rectangle 87"/>
          <p:cNvSpPr/>
          <p:nvPr/>
        </p:nvSpPr>
        <p:spPr>
          <a:xfrm>
            <a:off x="6784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784848" y="5340096"/>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61TB QLC 출시 시점 · OCP 2022-10 예고 기준</a:t>
            </a:r>
          </a:p>
        </p:txBody>
      </p:sp>
      <p:sp>
        <p:nvSpPr>
          <p:cNvPr id="90" name="TextBox 89"/>
          <p:cNvSpPr txBox="1"/>
          <p:nvPr/>
        </p:nvSpPr>
        <p:spPr>
          <a:xfrm>
            <a:off x="6784848" y="5650992"/>
            <a:ext cx="868680"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Solidigm</a:t>
            </a:r>
          </a:p>
        </p:txBody>
      </p:sp>
      <p:sp>
        <p:nvSpPr>
          <p:cNvPr id="91" name="Rectangle 90"/>
          <p:cNvSpPr/>
          <p:nvPr/>
        </p:nvSpPr>
        <p:spPr>
          <a:xfrm>
            <a:off x="7699248" y="5650992"/>
            <a:ext cx="1630244"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420932" y="5650992"/>
            <a:ext cx="2082219"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2023-07 · 규격 정의 참여</a:t>
            </a:r>
          </a:p>
        </p:txBody>
      </p:sp>
      <p:sp>
        <p:nvSpPr>
          <p:cNvPr id="93" name="TextBox 92"/>
          <p:cNvSpPr txBox="1"/>
          <p:nvPr/>
        </p:nvSpPr>
        <p:spPr>
          <a:xfrm>
            <a:off x="6784848" y="6089904"/>
            <a:ext cx="868680" cy="329184"/>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삼성</a:t>
            </a:r>
          </a:p>
        </p:txBody>
      </p:sp>
      <p:sp>
        <p:nvSpPr>
          <p:cNvPr id="94" name="Rectangle 93"/>
          <p:cNvSpPr/>
          <p:nvPr/>
        </p:nvSpPr>
        <p:spPr>
          <a:xfrm>
            <a:off x="7699248" y="6089904"/>
            <a:ext cx="3803904" cy="3291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790688" y="6089904"/>
            <a:ext cx="3621024" cy="329184"/>
          </a:xfrm>
          <a:prstGeom prst="rect">
            <a:avLst/>
          </a:prstGeom>
          <a:noFill/>
        </p:spPr>
        <p:txBody>
          <a:bodyPr wrap="square" anchor="ctr" lIns="0" rIns="0" tIns="0" bIns="0">
            <a:spAutoFit/>
          </a:bodyPr>
          <a:lstStyle/>
          <a:p>
            <a:pPr algn="r">
              <a:lnSpc>
                <a:spcPct val="112000"/>
              </a:lnSpc>
            </a:pPr>
            <a:r>
              <a:rPr sz="1125" b="1">
                <a:solidFill>
                  <a:srgbClr val="555555"/>
                </a:solidFill>
                <a:latin typeface="Arial"/>
                <a:ea typeface="Arial"/>
              </a:rPr>
              <a:t>2024-07 · 12개월 후발</a:t>
            </a:r>
          </a:p>
        </p:txBody>
      </p:sp>
      <p:sp>
        <p:nvSpPr>
          <p:cNvPr id="96" name="Rectangle 95"/>
          <p:cNvSpPr/>
          <p:nvPr/>
        </p:nvSpPr>
        <p:spPr>
          <a:xfrm>
            <a:off x="6784848" y="66019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4848" y="6729984"/>
            <a:ext cx="4718304" cy="201168"/>
          </a:xfrm>
          <a:prstGeom prst="rect">
            <a:avLst/>
          </a:prstGeom>
          <a:noFill/>
        </p:spPr>
        <p:txBody>
          <a:bodyPr wrap="square" anchor="t" lIns="0" rIns="0" tIns="0" bIns="0">
            <a:spAutoFit/>
          </a:bodyPr>
          <a:lstStyle/>
          <a:p>
            <a:pPr algn="l">
              <a:lnSpc>
                <a:spcPct val="112000"/>
              </a:lnSpc>
            </a:pPr>
            <a:r>
              <a:rPr sz="1125" b="0">
                <a:solidFill>
                  <a:srgbClr val="8A8A8A"/>
                </a:solidFill>
                <a:latin typeface="Arial"/>
                <a:ea typeface="Arial"/>
              </a:rPr>
              <a:t>HBM4 규격 정의</a:t>
            </a:r>
          </a:p>
        </p:txBody>
      </p:sp>
      <p:sp>
        <p:nvSpPr>
          <p:cNvPr id="98" name="Oval 97"/>
          <p:cNvSpPr/>
          <p:nvPr/>
        </p:nvSpPr>
        <p:spPr>
          <a:xfrm>
            <a:off x="7781178" y="7022592"/>
            <a:ext cx="194584" cy="194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 Same Side Corner Rectangle 98"/>
          <p:cNvSpPr/>
          <p:nvPr/>
        </p:nvSpPr>
        <p:spPr>
          <a:xfrm>
            <a:off x="7699248" y="7247900"/>
            <a:ext cx="358444" cy="286755"/>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103412" y="7253020"/>
            <a:ext cx="27432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8505383" y="7022592"/>
            <a:ext cx="194584" cy="194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 Same Side Corner Rectangle 101"/>
          <p:cNvSpPr/>
          <p:nvPr/>
        </p:nvSpPr>
        <p:spPr>
          <a:xfrm>
            <a:off x="8423452" y="7247900"/>
            <a:ext cx="358444" cy="286755"/>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891625" y="7022592"/>
            <a:ext cx="1508760" cy="51206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SK hynix ↔ NVIDIA</a:t>
            </a:r>
          </a:p>
          <a:p>
            <a:pPr algn="l">
              <a:lnSpc>
                <a:spcPct val="100000"/>
              </a:lnSpc>
            </a:pPr>
            <a:r>
              <a:rPr sz="1125" b="0">
                <a:solidFill>
                  <a:srgbClr val="555555"/>
                </a:solidFill>
                <a:latin typeface="Arial"/>
                <a:ea typeface="Arial"/>
              </a:rPr>
              <a:t>공동 정의 → 주도권 확보</a:t>
            </a:r>
          </a:p>
        </p:txBody>
      </p:sp>
      <p:sp>
        <p:nvSpPr>
          <p:cNvPr id="104" name="Oval 103"/>
          <p:cNvSpPr/>
          <p:nvPr/>
        </p:nvSpPr>
        <p:spPr>
          <a:xfrm>
            <a:off x="10646907" y="7022592"/>
            <a:ext cx="194584" cy="194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 Same Side Corner Rectangle 104"/>
          <p:cNvSpPr/>
          <p:nvPr/>
        </p:nvSpPr>
        <p:spPr>
          <a:xfrm>
            <a:off x="10564977" y="7247900"/>
            <a:ext cx="358444" cy="286755"/>
          </a:xfrm>
          <a:prstGeom prst="round2SameRect">
            <a:avLst>
              <a:gd name="adj1" fmla="val 50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1014862" y="7022592"/>
            <a:ext cx="470001" cy="512064"/>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삼성</a:t>
            </a:r>
          </a:p>
          <a:p>
            <a:pPr algn="l">
              <a:lnSpc>
                <a:spcPct val="100000"/>
              </a:lnSpc>
            </a:pPr>
            <a:r>
              <a:rPr sz="1125" b="0">
                <a:solidFill>
                  <a:srgbClr val="555555"/>
                </a:solidFill>
                <a:latin typeface="Arial"/>
                <a:ea typeface="Arial"/>
              </a:rPr>
              <a:t>후발 대응</a:t>
            </a:r>
          </a:p>
        </p:txBody>
      </p:sp>
      <p:sp>
        <p:nvSpPr>
          <p:cNvPr id="107" name="Rectangle 106"/>
          <p:cNvSpPr/>
          <p:nvPr/>
        </p:nvSpPr>
        <p:spPr>
          <a:xfrm>
            <a:off x="6784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6784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784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110" name="TextBox 109"/>
          <p:cNvSpPr txBox="1"/>
          <p:nvPr/>
        </p:nvSpPr>
        <p:spPr>
          <a:xfrm>
            <a:off x="7114032"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역량  </a:t>
            </a:r>
            <a:r>
              <a:rPr sz="1200" b="0">
                <a:solidFill>
                  <a:srgbClr val="555555"/>
                </a:solidFill>
                <a:latin typeface="Arial"/>
                <a:ea typeface="Arial"/>
              </a:rPr>
              <a:t>디바이스에서 고객 시스템까지 3단계</a:t>
            </a:r>
          </a:p>
        </p:txBody>
      </p:sp>
      <p:sp>
        <p:nvSpPr>
          <p:cNvPr id="111" name="Rectangle 110"/>
          <p:cNvSpPr/>
          <p:nvPr/>
        </p:nvSpPr>
        <p:spPr>
          <a:xfrm>
            <a:off x="12152376" y="4151376"/>
            <a:ext cx="5413248" cy="426110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2499848" y="4315968"/>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의사결정 시점</a:t>
            </a:r>
          </a:p>
        </p:txBody>
      </p:sp>
      <p:sp>
        <p:nvSpPr>
          <p:cNvPr id="113" name="TextBox 112"/>
          <p:cNvSpPr txBox="1"/>
          <p:nvPr/>
        </p:nvSpPr>
        <p:spPr>
          <a:xfrm>
            <a:off x="12499848" y="4626864"/>
            <a:ext cx="1874519" cy="512064"/>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2027H2</a:t>
            </a:r>
          </a:p>
        </p:txBody>
      </p:sp>
      <p:sp>
        <p:nvSpPr>
          <p:cNvPr id="114" name="TextBox 113"/>
          <p:cNvSpPr txBox="1"/>
          <p:nvPr/>
        </p:nvSpPr>
        <p:spPr>
          <a:xfrm>
            <a:off x="14420088" y="4626864"/>
            <a:ext cx="2798064" cy="512064"/>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현재의 결정이 초기 조건이 되는</a:t>
            </a:r>
          </a:p>
          <a:p>
            <a:pPr algn="l">
              <a:lnSpc>
                <a:spcPct val="104000"/>
              </a:lnSpc>
            </a:pPr>
            <a:r>
              <a:rPr sz="1275" b="0">
                <a:solidFill>
                  <a:srgbClr val="555555"/>
                </a:solidFill>
                <a:latin typeface="Arial"/>
                <a:ea typeface="Arial"/>
              </a:rPr>
              <a:t>차기 전환점</a:t>
            </a:r>
          </a:p>
        </p:txBody>
      </p:sp>
      <p:sp>
        <p:nvSpPr>
          <p:cNvPr id="115" name="Rectangle 114"/>
          <p:cNvSpPr/>
          <p:nvPr/>
        </p:nvSpPr>
        <p:spPr>
          <a:xfrm>
            <a:off x="12499848" y="5230368"/>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2499848" y="534009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직전 다운턴의 의사결정</a:t>
            </a:r>
          </a:p>
        </p:txBody>
      </p:sp>
      <p:sp>
        <p:nvSpPr>
          <p:cNvPr id="117" name="TextBox 116"/>
          <p:cNvSpPr txBox="1"/>
          <p:nvPr/>
        </p:nvSpPr>
        <p:spPr>
          <a:xfrm>
            <a:off x="15060168" y="5340096"/>
            <a:ext cx="2157984" cy="201168"/>
          </a:xfrm>
          <a:prstGeom prst="rect">
            <a:avLst/>
          </a:prstGeom>
          <a:noFill/>
        </p:spPr>
        <p:txBody>
          <a:bodyPr wrap="square" anchor="t" lIns="0" rIns="0" tIns="0" bIns="0">
            <a:spAutoFit/>
          </a:bodyPr>
          <a:lstStyle/>
          <a:p>
            <a:pPr algn="ctr">
              <a:lnSpc>
                <a:spcPct val="112000"/>
              </a:lnSpc>
            </a:pPr>
            <a:r>
              <a:rPr sz="1125" b="0">
                <a:solidFill>
                  <a:srgbClr val="8A8A8A"/>
                </a:solidFill>
                <a:latin typeface="Arial"/>
                <a:ea typeface="Arial"/>
              </a:rPr>
              <a:t>다음 다운턴의 초기 조건</a:t>
            </a:r>
          </a:p>
        </p:txBody>
      </p:sp>
      <p:sp>
        <p:nvSpPr>
          <p:cNvPr id="118" name="Rectangle 117"/>
          <p:cNvSpPr/>
          <p:nvPr/>
        </p:nvSpPr>
        <p:spPr>
          <a:xfrm>
            <a:off x="12499848" y="5669280"/>
            <a:ext cx="2157984" cy="4023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554712" y="5669280"/>
            <a:ext cx="2048256" cy="402336"/>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무감산 유지 성공</a:t>
            </a:r>
          </a:p>
        </p:txBody>
      </p:sp>
      <p:sp>
        <p:nvSpPr>
          <p:cNvPr id="120" name="Right Arrow 119"/>
          <p:cNvSpPr/>
          <p:nvPr/>
        </p:nvSpPr>
        <p:spPr>
          <a:xfrm>
            <a:off x="14740128" y="5769864"/>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5060168" y="5669280"/>
            <a:ext cx="2157984"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5115032" y="5669280"/>
            <a:ext cx="2048256" cy="402336"/>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국면 오판</a:t>
            </a:r>
          </a:p>
        </p:txBody>
      </p:sp>
      <p:sp>
        <p:nvSpPr>
          <p:cNvPr id="123" name="Rectangle 122"/>
          <p:cNvSpPr/>
          <p:nvPr/>
        </p:nvSpPr>
        <p:spPr>
          <a:xfrm>
            <a:off x="12499848" y="6217920"/>
            <a:ext cx="2157984" cy="40233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554712" y="6217920"/>
            <a:ext cx="2048256" cy="402336"/>
          </a:xfrm>
          <a:prstGeom prst="rect">
            <a:avLst/>
          </a:prstGeom>
          <a:noFill/>
        </p:spPr>
        <p:txBody>
          <a:bodyPr wrap="square" anchor="ctr" lIns="0" rIns="0" tIns="0" bIns="0">
            <a:spAutoFit/>
          </a:bodyPr>
          <a:lstStyle/>
          <a:p>
            <a:pPr algn="ctr">
              <a:lnSpc>
                <a:spcPct val="112000"/>
              </a:lnSpc>
            </a:pPr>
            <a:r>
              <a:rPr sz="1200" b="0">
                <a:solidFill>
                  <a:srgbClr val="1A1A1A"/>
                </a:solidFill>
                <a:latin typeface="Arial"/>
                <a:ea typeface="Arial"/>
              </a:rPr>
              <a:t>DT19 · HBM 조직 축소</a:t>
            </a:r>
          </a:p>
        </p:txBody>
      </p:sp>
      <p:sp>
        <p:nvSpPr>
          <p:cNvPr id="125" name="Right Arrow 124"/>
          <p:cNvSpPr/>
          <p:nvPr/>
        </p:nvSpPr>
        <p:spPr>
          <a:xfrm>
            <a:off x="14740128" y="6318504"/>
            <a:ext cx="237744"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5060168" y="6217920"/>
            <a:ext cx="2157984"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115032" y="6217920"/>
            <a:ext cx="2048256" cy="402336"/>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DT23 · 회복기 주도권 상실</a:t>
            </a:r>
          </a:p>
        </p:txBody>
      </p:sp>
      <p:sp>
        <p:nvSpPr>
          <p:cNvPr id="128" name="Rectangle 127"/>
          <p:cNvSpPr/>
          <p:nvPr/>
        </p:nvSpPr>
        <p:spPr>
          <a:xfrm>
            <a:off x="12499848" y="6766559"/>
            <a:ext cx="2157984" cy="4023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554712" y="6766559"/>
            <a:ext cx="2048256" cy="402336"/>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2026 · 고객 시스템 계층 진입</a:t>
            </a:r>
          </a:p>
        </p:txBody>
      </p:sp>
      <p:sp>
        <p:nvSpPr>
          <p:cNvPr id="130" name="Right Arrow 129"/>
          <p:cNvSpPr/>
          <p:nvPr/>
        </p:nvSpPr>
        <p:spPr>
          <a:xfrm>
            <a:off x="14740128" y="6867144"/>
            <a:ext cx="237744"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5060168" y="6766559"/>
            <a:ext cx="2157984" cy="4023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115032" y="6766559"/>
            <a:ext cx="2048256" cy="402336"/>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2027H2 · TCO 보증형 수익</a:t>
            </a:r>
          </a:p>
        </p:txBody>
      </p:sp>
      <p:sp>
        <p:nvSpPr>
          <p:cNvPr id="133" name="Rectangle 132"/>
          <p:cNvSpPr/>
          <p:nvPr/>
        </p:nvSpPr>
        <p:spPr>
          <a:xfrm>
            <a:off x="12499848" y="79369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12499848" y="8046719"/>
            <a:ext cx="237744" cy="23774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2499848" y="8046719"/>
            <a:ext cx="237744" cy="237744"/>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136" name="TextBox 135"/>
          <p:cNvSpPr txBox="1"/>
          <p:nvPr/>
        </p:nvSpPr>
        <p:spPr>
          <a:xfrm>
            <a:off x="12829032" y="8028431"/>
            <a:ext cx="438912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실행  </a:t>
            </a:r>
            <a:r>
              <a:rPr sz="1200" b="0">
                <a:solidFill>
                  <a:srgbClr val="555555"/>
                </a:solidFill>
                <a:latin typeface="Arial"/>
                <a:ea typeface="Arial"/>
              </a:rPr>
              <a:t>FDE · 전략적 협약 · 조직·인사·문화</a:t>
            </a:r>
          </a:p>
        </p:txBody>
      </p:sp>
      <p:sp>
        <p:nvSpPr>
          <p:cNvPr id="137" name="Rectangle 13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9" name="TextBox 138"/>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800" b="1">
                <a:solidFill>
                  <a:srgbClr val="FFFFFF"/>
                </a:solidFill>
                <a:latin typeface="Arial"/>
                <a:ea typeface="Arial"/>
              </a:rPr>
              <a:t>요구사항은 다운턴 국면에서 고객 규격·코드로 정의됐고, 정의에 참여한 공급자가 선점했습니다.</a:t>
            </a:r>
          </a:p>
          <a:p>
            <a:pPr algn="l">
              <a:lnSpc>
                <a:spcPct val="108000"/>
              </a:lnSpc>
            </a:pPr>
            <a:r>
              <a:rPr sz="1800" b="1">
                <a:solidFill>
                  <a:srgbClr val="FFFFFF"/>
                </a:solidFill>
                <a:latin typeface="Arial"/>
                <a:ea typeface="Arial"/>
              </a:rPr>
              <a:t>차기 요구사항(KV 캐시 배치·내구성 규격)은 현재 미정의 상태입니다</a:t>
            </a:r>
          </a:p>
        </p:txBody>
      </p:sp>
      <p:sp>
        <p:nvSpPr>
          <p:cNvPr id="140" name="Rectangle 139"/>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수요 · 고객의 요구는 무엇인가</a:t>
            </a:r>
          </a:p>
        </p:txBody>
      </p:sp>
      <p:sp>
        <p:nvSpPr>
          <p:cNvPr id="143" name="TextBox 14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144" name="TextBox 14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수요  </a:t>
            </a:r>
            <a:r>
              <a:rPr sz="1200" b="0">
                <a:solidFill>
                  <a:srgbClr val="1428A0"/>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고객의 구매 기준은 용량 계층의 TB당 TCO이며, 해당 계층은 추론 캐시 계층으로 이동합니다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2장이 지목한 차기 요구사항의 내용입니다. 세 국면의 구매 기준은 TB당 TCO로 일정했고, 변한 것은 워크로드의 쓰기 비중입니다.</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30" name="TextBox 2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31" name="TextBox 3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32" name="TextBox 3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학습 데이터셋 6배 · 1U당 1PB, 5년 TCO -47%</a:t>
            </a:r>
          </a:p>
        </p:txBody>
      </p:sp>
      <p:sp>
        <p:nvSpPr>
          <p:cNvPr id="33" name="TextBox 3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워크로드, 0.3~0.6 DWPD로 충족</a:t>
            </a:r>
          </a:p>
        </p:txBody>
      </p:sp>
      <p:sp>
        <p:nvSpPr>
          <p:cNvPr id="34" name="TextBox 3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12개월 후발</a:t>
            </a:r>
          </a:p>
        </p:txBody>
      </p:sp>
      <p:sp>
        <p:nvSpPr>
          <p:cNvPr id="35" name="Right Arrow 3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38" name="TextBox 3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39" name="TextBox 3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40" name="TextBox 3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추론 서버의 전력·공간 제약 → 245TB급</a:t>
            </a:r>
          </a:p>
        </p:txBody>
      </p:sp>
      <p:sp>
        <p:nvSpPr>
          <p:cNvPr id="41" name="TextBox 4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유지, 쓰기 계층은 TLC</a:t>
            </a:r>
          </a:p>
        </p:txBody>
      </p:sp>
      <p:sp>
        <p:nvSpPr>
          <p:cNvPr id="42" name="TextBox 4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매출 1위(35.1%), 용량 후발</a:t>
            </a:r>
          </a:p>
        </p:txBody>
      </p:sp>
      <p:sp>
        <p:nvSpPr>
          <p:cNvPr id="43" name="Right Arrow 4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47" name="TextBox 4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48" name="TextBox 4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49" name="TextBox 4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KV 캐시 SSD 오프로드 · GPU당 동시 사용자 10배</a:t>
            </a:r>
          </a:p>
        </p:txBody>
      </p:sp>
      <p:sp>
        <p:nvSpPr>
          <p:cNvPr id="50" name="TextBox 4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집약 캐시 → 현재 TLC 1~3 DWPD</a:t>
            </a:r>
          </a:p>
        </p:txBody>
      </p:sp>
      <p:sp>
        <p:nvSpPr>
          <p:cNvPr id="51" name="TextBox 5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SW 연계 공백</a:t>
            </a:r>
          </a:p>
        </p:txBody>
      </p:sp>
      <p:pic>
        <p:nvPicPr>
          <p:cNvPr id="52" name="Picture 5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53" name="Rectangle 5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수요 모델의 핵심 수치</a:t>
            </a:r>
          </a:p>
        </p:txBody>
      </p:sp>
      <p:sp>
        <p:nvSpPr>
          <p:cNvPr id="55" name="TextBox 5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56" name="TextBox 5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출하, 2025년 → 2030년</a:t>
            </a:r>
          </a:p>
        </p:txBody>
      </p:sp>
      <p:sp>
        <p:nvSpPr>
          <p:cNvPr id="57" name="TextBox 5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58" name="TextBox 5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59" name="TextBox 5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60" name="TextBox 5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계층 수요(전 미디어)</a:t>
            </a:r>
          </a:p>
        </p:txBody>
      </p:sp>
      <p:sp>
        <p:nvSpPr>
          <p:cNvPr id="61" name="Rectangle 6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64" name="Rectangle 6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6" name="TextBox 65"/>
          <p:cNvSpPr txBox="1"/>
          <p:nvPr/>
        </p:nvSpPr>
        <p:spPr>
          <a:xfrm>
            <a:off x="2551176" y="8613648"/>
            <a:ext cx="11539728" cy="731520"/>
          </a:xfrm>
          <a:prstGeom prst="rect">
            <a:avLst/>
          </a:prstGeom>
          <a:noFill/>
        </p:spPr>
        <p:txBody>
          <a:bodyPr wrap="square" anchor="ctr" lIns="0" rIns="0" tIns="0" bIns="0">
            <a:spAutoFit/>
          </a:bodyPr>
          <a:lstStyle/>
          <a:p>
            <a:pPr algn="l">
              <a:lnSpc>
                <a:spcPct val="108000"/>
              </a:lnSpc>
            </a:pPr>
            <a:r>
              <a:rPr sz="1800" b="1">
                <a:solidFill>
                  <a:srgbClr val="FFFFFF"/>
                </a:solidFill>
                <a:latin typeface="Arial"/>
                <a:ea typeface="Arial"/>
              </a:rPr>
              <a:t>고객은 추론 캐시 계층에서도 QLC의 TB당 TCO를 요구하며, 제약 조건은 내구성(DWPD 10~40배 격차)입니다.</a:t>
            </a:r>
          </a:p>
          <a:p>
            <a:pPr algn="l">
              <a:lnSpc>
                <a:spcPct val="108000"/>
              </a:lnSpc>
            </a:pPr>
            <a:r>
              <a:rPr sz="1800" b="1">
                <a:solidFill>
                  <a:srgbClr val="FFFFFF"/>
                </a:solidFill>
                <a:latin typeface="Arial"/>
                <a:ea typeface="Arial"/>
              </a:rPr>
              <a:t>1장의 산식대로 이 격차는 디바이스 단독으로 해소되지 않습니다</a:t>
            </a:r>
          </a:p>
        </p:txBody>
      </p:sp>
      <p:sp>
        <p:nvSpPr>
          <p:cNvPr id="67" name="Rectangle 66"/>
          <p:cNvSpPr/>
          <p:nvPr/>
        </p:nvSpPr>
        <p:spPr>
          <a:xfrm>
            <a:off x="14456664" y="8723376"/>
            <a:ext cx="283464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445666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57832" y="8723376"/>
            <a:ext cx="254203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70" name="TextBox 69"/>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71" name="TextBox 70"/>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수요  </a:t>
            </a:r>
            <a:r>
              <a:rPr sz="1200" b="0">
                <a:solidFill>
                  <a:srgbClr val="555555"/>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 격차는 호스트 배치(WAF)로 해소되므로, 고객 시스템까지 3단계로 역량을 확장합니다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8408" y="2560320"/>
            <a:ext cx="17830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30" name="TextBox 29"/>
          <p:cNvSpPr txBox="1"/>
          <p:nvPr/>
        </p:nvSpPr>
        <p:spPr>
          <a:xfrm>
            <a:off x="2871216" y="2560320"/>
            <a:ext cx="17007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QLC 0.075~0.6 vs TLC 1~3 DWPD</a:t>
            </a:r>
          </a:p>
        </p:txBody>
      </p:sp>
      <p:sp>
        <p:nvSpPr>
          <p:cNvPr id="31" name="Rectangle 30"/>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48656" y="2560320"/>
            <a:ext cx="13258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3" name="TextBox 32"/>
          <p:cNvSpPr txBox="1"/>
          <p:nvPr/>
        </p:nvSpPr>
        <p:spPr>
          <a:xfrm>
            <a:off x="6684264" y="2560320"/>
            <a:ext cx="21579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격차</a:t>
            </a:r>
          </a:p>
          <a:p>
            <a:pPr algn="l">
              <a:lnSpc>
                <a:spcPct val="105000"/>
              </a:lnSpc>
            </a:pPr>
            <a:r>
              <a:rPr sz="1350" b="0">
                <a:solidFill>
                  <a:srgbClr val="555555"/>
                </a:solidFill>
                <a:latin typeface="Arial"/>
                <a:ea typeface="Arial"/>
              </a:rPr>
              <a:t>RUH 2~8개 vs 200개 이상</a:t>
            </a:r>
          </a:p>
        </p:txBody>
      </p:sp>
      <p:sp>
        <p:nvSpPr>
          <p:cNvPr id="34" name="Rectangle 33"/>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36" name="TextBox 35"/>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37" name="Rectangle 36"/>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789152" y="2560320"/>
            <a:ext cx="20574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39" name="TextBox 38"/>
          <p:cNvSpPr txBox="1"/>
          <p:nvPr/>
        </p:nvSpPr>
        <p:spPr>
          <a:xfrm>
            <a:off x="15956280" y="2560320"/>
            <a:ext cx="14264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배치 표준 WAF 실측</a:t>
            </a:r>
          </a:p>
        </p:txBody>
      </p:sp>
      <p:sp>
        <p:nvSpPr>
          <p:cNvPr id="40" name="Rectangle 39"/>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2" name="Rectangle 41"/>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4" name="Rectangle 43"/>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46" name="Rectangle 45"/>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48" name="Rectangle 47"/>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0" name="Rectangle 49"/>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 · NVMe KV 확장 · 텔레메트리</a:t>
            </a:r>
          </a:p>
        </p:txBody>
      </p:sp>
      <p:sp>
        <p:nvSpPr>
          <p:cNvPr id="52" name="Rectangle 51"/>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4" name="Rectangle 53"/>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56" name="Rectangle 55"/>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58" name="TextBox 57"/>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59" name="Rectangle 58"/>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1" name="Rectangle 60"/>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3" name="Rectangle 62"/>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5" name="Rectangle 64"/>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67" name="Rectangle 66"/>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69" name="Rectangle 68"/>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a:t>
            </a:r>
          </a:p>
        </p:txBody>
      </p:sp>
      <p:sp>
        <p:nvSpPr>
          <p:cNvPr id="71" name="Down Arrow 70"/>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Up Arrow 71"/>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4" name="TextBox 73"/>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5" name="TextBox 74"/>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76" name="Rectangle 75"/>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78" name="Rectangle 77"/>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0" name="Rectangle 79"/>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2" name="Rectangle 81"/>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4" name="Rectangle 83"/>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86" name="Rectangle 85"/>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88" name="Oval 87"/>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 Same Side Corner Rectangle 88"/>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1" name="TextBox 90"/>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2" name="TextBox 91"/>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3" name="TextBox 92"/>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4" name="Rectangle 93"/>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22376" y="8229600"/>
            <a:ext cx="54132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37376" y="8229600"/>
            <a:ext cx="151570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Isosceles Triangle 98"/>
          <p:cNvSpPr/>
          <p:nvPr/>
        </p:nvSpPr>
        <p:spPr>
          <a:xfrm>
            <a:off x="7834213"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154253" y="8357616"/>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 확보(CMX 첫 공급) · 워크로드 실측 미공개 · 캐시 관리자 4종 기여 0건</a:t>
            </a:r>
          </a:p>
        </p:txBody>
      </p:sp>
      <p:sp>
        <p:nvSpPr>
          <p:cNvPr id="101" name="Rectangle 100"/>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3" name="TextBox 102"/>
          <p:cNvSpPr txBox="1"/>
          <p:nvPr/>
        </p:nvSpPr>
        <p:spPr>
          <a:xfrm>
            <a:off x="2551176" y="8650224"/>
            <a:ext cx="1153972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확보·2단계 진입 상태이며, 3단계 진입 수단이 다음 장입니다</a:t>
            </a:r>
          </a:p>
        </p:txBody>
      </p:sp>
      <p:sp>
        <p:nvSpPr>
          <p:cNvPr id="104" name="Rectangle 103"/>
          <p:cNvSpPr/>
          <p:nvPr/>
        </p:nvSpPr>
        <p:spPr>
          <a:xfrm>
            <a:off x="14456664" y="8759952"/>
            <a:ext cx="283464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45666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4657832" y="8759952"/>
            <a:ext cx="254203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누가 어떻게 실행하는가</a:t>
            </a:r>
          </a:p>
        </p:txBody>
      </p:sp>
      <p:sp>
        <p:nvSpPr>
          <p:cNvPr id="107" name="TextBox 10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108" name="TextBox 10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산식  </a:t>
            </a:r>
            <a:r>
              <a:rPr sz="1200" b="0">
                <a:solidFill>
                  <a:srgbClr val="555555"/>
                </a:solidFill>
                <a:latin typeface="Arial"/>
                <a:ea typeface="Arial"/>
              </a:rPr>
              <a:t>왜 호스트 협력인가</a:t>
            </a:r>
          </a:p>
        </p:txBody>
      </p:sp>
      <p:sp>
        <p:nvSpPr>
          <p:cNvPr id="9" name="Rectangle 8"/>
          <p:cNvSpPr/>
          <p:nvPr/>
        </p:nvSpPr>
        <p:spPr>
          <a:xfrm>
            <a:off x="5810097"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81009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1009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148425"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시점  </a:t>
            </a:r>
            <a:r>
              <a:rPr sz="1200" b="0">
                <a:solidFill>
                  <a:srgbClr val="555555"/>
                </a:solidFill>
                <a:latin typeface="Arial"/>
                <a:ea typeface="Arial"/>
              </a:rPr>
              <a:t>왜 지금인가</a:t>
            </a:r>
          </a:p>
        </p:txBody>
      </p:sp>
      <p:sp>
        <p:nvSpPr>
          <p:cNvPr id="13" name="Rectangle 12"/>
          <p:cNvSpPr/>
          <p:nvPr/>
        </p:nvSpPr>
        <p:spPr>
          <a:xfrm>
            <a:off x="8748979"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74897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4897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9087307"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수요  </a:t>
            </a:r>
            <a:r>
              <a:rPr sz="1200" b="0">
                <a:solidFill>
                  <a:srgbClr val="555555"/>
                </a:solidFill>
                <a:latin typeface="Arial"/>
                <a:ea typeface="Arial"/>
              </a:rPr>
              <a:t>고객의 요구는 무엇인가</a:t>
            </a:r>
          </a:p>
        </p:txBody>
      </p:sp>
      <p:sp>
        <p:nvSpPr>
          <p:cNvPr id="17" name="Rectangle 16"/>
          <p:cNvSpPr/>
          <p:nvPr/>
        </p:nvSpPr>
        <p:spPr>
          <a:xfrm>
            <a:off x="11687860"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68786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8786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2026188" y="804672"/>
            <a:ext cx="249082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4626742" y="1124712"/>
            <a:ext cx="284744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62674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2674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4965070" y="804672"/>
            <a:ext cx="249082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누가 어떻게 실행하는가</a:t>
            </a:r>
          </a:p>
        </p:txBody>
      </p:sp>
      <p:sp>
        <p:nvSpPr>
          <p:cNvPr id="25" name="TextBox 2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 시스템 진입 수단은 FDE 상주와 전략적 협약(SCA)이며, 두 수단 모두 업계 선례가 있습니다</a:t>
            </a:r>
          </a:p>
        </p:txBody>
      </p:sp>
      <p:sp>
        <p:nvSpPr>
          <p:cNvPr id="26" name="TextBox 2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27" name="Rectangle 2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30" name="TextBox 2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삼성이 제공하는 것</a:t>
            </a:r>
          </a:p>
        </p:txBody>
      </p:sp>
      <p:sp>
        <p:nvSpPr>
          <p:cNvPr id="31" name="Rectangle 3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33" name="Rectangle 3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35" name="Rectangle 3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37" name="Rectangle 3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39" name="Rectangle 3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고객 관계 = 워크로드 접근권</a:t>
            </a:r>
          </a:p>
        </p:txBody>
      </p:sp>
      <p:sp>
        <p:nvSpPr>
          <p:cNvPr id="42" name="Rectangle 4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44" name="TextBox 4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 인력·코드의 진입 계층</a:t>
            </a:r>
          </a:p>
        </p:txBody>
      </p:sp>
      <p:sp>
        <p:nvSpPr>
          <p:cNvPr id="45" name="Rectangle 4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47" name="Rectangle 4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49" name="Rectangle 4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51" name="Rectangle 5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53" name="Oval 5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 Same Side Corner Rectangle 5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56" name="TextBox 5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57" name="Picture 5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58" name="Picture 57" descr="openai.png"/>
          <p:cNvPicPr>
            <a:picLocks noChangeAspect="1"/>
          </p:cNvPicPr>
          <p:nvPr/>
        </p:nvPicPr>
        <p:blipFill>
          <a:blip r:embed="rId3"/>
          <a:stretch>
            <a:fillRect/>
          </a:stretch>
        </p:blipFill>
        <p:spPr>
          <a:xfrm>
            <a:off x="15197326" y="6170781"/>
            <a:ext cx="532886" cy="130853"/>
          </a:xfrm>
          <a:prstGeom prst="rect">
            <a:avLst/>
          </a:prstGeom>
        </p:spPr>
      </p:pic>
      <p:pic>
        <p:nvPicPr>
          <p:cNvPr id="59" name="Picture 58" descr="nvidia.png"/>
          <p:cNvPicPr>
            <a:picLocks noChangeAspect="1"/>
          </p:cNvPicPr>
          <p:nvPr/>
        </p:nvPicPr>
        <p:blipFill>
          <a:blip r:embed="rId4"/>
          <a:stretch>
            <a:fillRect/>
          </a:stretch>
        </p:blipFill>
        <p:spPr>
          <a:xfrm>
            <a:off x="15828351" y="6170781"/>
            <a:ext cx="684696" cy="130853"/>
          </a:xfrm>
          <a:prstGeom prst="rect">
            <a:avLst/>
          </a:prstGeom>
        </p:spPr>
      </p:pic>
      <p:pic>
        <p:nvPicPr>
          <p:cNvPr id="60" name="Picture 59" descr="meta.png"/>
          <p:cNvPicPr>
            <a:picLocks noChangeAspect="1"/>
          </p:cNvPicPr>
          <p:nvPr/>
        </p:nvPicPr>
        <p:blipFill>
          <a:blip r:embed="rId5"/>
          <a:stretch>
            <a:fillRect/>
          </a:stretch>
        </p:blipFill>
        <p:spPr>
          <a:xfrm>
            <a:off x="16611188" y="6170781"/>
            <a:ext cx="643539" cy="130853"/>
          </a:xfrm>
          <a:prstGeom prst="rect">
            <a:avLst/>
          </a:prstGeom>
        </p:spPr>
      </p:pic>
      <p:sp>
        <p:nvSpPr>
          <p:cNvPr id="61" name="Right Arrow 6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 상주: 삼성 엔지니어의 고객 시스템 진입</a:t>
            </a:r>
          </a:p>
          <a:p>
            <a:pPr algn="l">
              <a:lnSpc>
                <a:spcPct val="106000"/>
              </a:lnSpc>
            </a:pPr>
            <a:r>
              <a:rPr sz="1350" b="0">
                <a:solidFill>
                  <a:srgbClr val="FFFFFF"/>
                </a:solidFill>
                <a:latin typeface="Arial"/>
                <a:ea typeface="Arial"/>
              </a:rPr>
              <a:t>상주 엔지니어 · 업스트림 코드 · 수명 보증</a:t>
            </a:r>
          </a:p>
        </p:txBody>
      </p:sp>
      <p:sp>
        <p:nvSpPr>
          <p:cNvPr id="63" name="Rectangle 6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65" name="Oval 6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 Same Side Corner Rectangle 6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 Same Side Corner Rectangle 6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 Same Side Corner Rectangle 6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ight Arrow 7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74" name="TextBox 7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시스템에 상주하며 실제 요구를 코드로 구현하고 성과로 평가받는 엔지니어(코드명 Delta)</a:t>
            </a:r>
          </a:p>
          <a:p>
            <a:pPr algn="l">
              <a:lnSpc>
                <a:spcPct val="104000"/>
              </a:lnSpc>
            </a:pPr>
            <a:r>
              <a:rPr sz="1200" b="1">
                <a:solidFill>
                  <a:srgbClr val="1A1A1A"/>
                </a:solidFill>
                <a:latin typeface="Arial"/>
                <a:ea typeface="Arial"/>
              </a:rPr>
              <a:t>고객 락인의 동력으로 평가(주가 수익률 640%). Anthropic·OpenAI가 GTM 모델로 채택</a:t>
            </a:r>
          </a:p>
        </p:txBody>
      </p:sp>
      <p:sp>
        <p:nvSpPr>
          <p:cNvPr id="75" name="Rectangle 7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77" name="Rectangle 7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79" name="Rectangle 7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81" name="Rectangle 8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83" name="Rectangle 8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85" name="TextBox 8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결합해 워크로드·규격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공급 계약에는 공동 설계 조항 부재 → 삼성이 선제 제안</a:t>
            </a:r>
          </a:p>
        </p:txBody>
      </p:sp>
      <p:sp>
        <p:nvSpPr>
          <p:cNvPr id="86" name="Left Arrow 8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 워크로드·규격 접근권 확보</a:t>
            </a:r>
          </a:p>
          <a:p>
            <a:pPr algn="l">
              <a:lnSpc>
                <a:spcPct val="106000"/>
              </a:lnSpc>
            </a:pPr>
            <a:r>
              <a:rPr sz="1350" b="0">
                <a:solidFill>
                  <a:srgbClr val="1A1A1A"/>
                </a:solidFill>
                <a:latin typeface="Arial"/>
                <a:ea typeface="Arial"/>
              </a:rPr>
              <a:t>트레이스 · KV 수명 정책 · 레퍼런스 스펙 · 계약 시한 2027년 상반기(공급 완화 전)</a:t>
            </a:r>
          </a:p>
        </p:txBody>
      </p:sp>
      <p:sp>
        <p:nvSpPr>
          <p:cNvPr id="88" name="Rectangle 8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91" name="TextBox 9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92" name="Rectangle 9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95" name="TextBox 9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96" name="Rectangle 9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99" name="TextBox 9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100" name="Rectangle 99"/>
          <p:cNvSpPr/>
          <p:nvPr/>
        </p:nvSpPr>
        <p:spPr>
          <a:xfrm>
            <a:off x="722376" y="8339327"/>
            <a:ext cx="16843248" cy="9509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33856" y="8339327"/>
            <a:ext cx="1463040" cy="950976"/>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2" name="Rectangle 101"/>
          <p:cNvSpPr/>
          <p:nvPr/>
        </p:nvSpPr>
        <p:spPr>
          <a:xfrm>
            <a:off x="2551176"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697480"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1 산식</a:t>
            </a:r>
          </a:p>
          <a:p>
            <a:pPr algn="l">
              <a:lnSpc>
                <a:spcPct val="102000"/>
              </a:lnSpc>
            </a:pPr>
            <a:r>
              <a:rPr sz="1125" b="0">
                <a:solidFill>
                  <a:srgbClr val="FFFFFF"/>
                </a:solidFill>
                <a:latin typeface="Arial"/>
                <a:ea typeface="Arial"/>
              </a:rPr>
              <a:t>SSD 단독은 WAF ≈ 3</a:t>
            </a:r>
          </a:p>
          <a:p>
            <a:pPr algn="l">
              <a:lnSpc>
                <a:spcPct val="102000"/>
              </a:lnSpc>
            </a:pPr>
            <a:r>
              <a:rPr sz="1125" b="0">
                <a:solidFill>
                  <a:srgbClr val="FFFFFF"/>
                </a:solidFill>
                <a:latin typeface="Arial"/>
                <a:ea typeface="Arial"/>
              </a:rPr>
              <a:t>호스트 공동 설계로만 1.0</a:t>
            </a:r>
          </a:p>
        </p:txBody>
      </p:sp>
      <p:sp>
        <p:nvSpPr>
          <p:cNvPr id="104" name="Right Arrow 103"/>
          <p:cNvSpPr/>
          <p:nvPr/>
        </p:nvSpPr>
        <p:spPr>
          <a:xfrm>
            <a:off x="5250484"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561380"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5707684"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2 시점</a:t>
            </a:r>
          </a:p>
          <a:p>
            <a:pPr algn="l">
              <a:lnSpc>
                <a:spcPct val="102000"/>
              </a:lnSpc>
            </a:pPr>
            <a:r>
              <a:rPr sz="1125" b="0">
                <a:solidFill>
                  <a:srgbClr val="FFFFFF"/>
                </a:solidFill>
                <a:latin typeface="Arial"/>
                <a:ea typeface="Arial"/>
              </a:rPr>
              <a:t>규격은 다운턴 국면에 정의</a:t>
            </a:r>
          </a:p>
          <a:p>
            <a:pPr algn="l">
              <a:lnSpc>
                <a:spcPct val="102000"/>
              </a:lnSpc>
            </a:pPr>
            <a:r>
              <a:rPr sz="1125" b="0">
                <a:solidFill>
                  <a:srgbClr val="FFFFFF"/>
                </a:solidFill>
                <a:latin typeface="Arial"/>
                <a:ea typeface="Arial"/>
              </a:rPr>
              <a:t>차기 규격은 현재 미정의</a:t>
            </a:r>
          </a:p>
        </p:txBody>
      </p:sp>
      <p:sp>
        <p:nvSpPr>
          <p:cNvPr id="107" name="Right Arrow 106"/>
          <p:cNvSpPr/>
          <p:nvPr/>
        </p:nvSpPr>
        <p:spPr>
          <a:xfrm>
            <a:off x="8260689"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571585"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717889"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3 수요</a:t>
            </a:r>
          </a:p>
          <a:p>
            <a:pPr algn="l">
              <a:lnSpc>
                <a:spcPct val="102000"/>
              </a:lnSpc>
            </a:pPr>
            <a:r>
              <a:rPr sz="1125" b="0">
                <a:solidFill>
                  <a:srgbClr val="FFFFFF"/>
                </a:solidFill>
                <a:latin typeface="Arial"/>
                <a:ea typeface="Arial"/>
              </a:rPr>
              <a:t>추론 캐시 계층도 TB당 TCO</a:t>
            </a:r>
          </a:p>
          <a:p>
            <a:pPr algn="l">
              <a:lnSpc>
                <a:spcPct val="102000"/>
              </a:lnSpc>
            </a:pPr>
            <a:r>
              <a:rPr sz="1125" b="0">
                <a:solidFill>
                  <a:srgbClr val="FFFFFF"/>
                </a:solidFill>
                <a:latin typeface="Arial"/>
                <a:ea typeface="Arial"/>
              </a:rPr>
              <a:t>제약 조건 = 내구성</a:t>
            </a:r>
          </a:p>
        </p:txBody>
      </p:sp>
      <p:sp>
        <p:nvSpPr>
          <p:cNvPr id="110" name="Right Arrow 109"/>
          <p:cNvSpPr/>
          <p:nvPr/>
        </p:nvSpPr>
        <p:spPr>
          <a:xfrm>
            <a:off x="11270894"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1581790" y="8467344"/>
            <a:ext cx="2607868"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728094" y="8522208"/>
            <a:ext cx="2315260"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4 역량</a:t>
            </a:r>
          </a:p>
          <a:p>
            <a:pPr algn="l">
              <a:lnSpc>
                <a:spcPct val="102000"/>
              </a:lnSpc>
            </a:pPr>
            <a:r>
              <a:rPr sz="1125" b="0">
                <a:solidFill>
                  <a:srgbClr val="FFFFFF"/>
                </a:solidFill>
                <a:latin typeface="Arial"/>
                <a:ea typeface="Arial"/>
              </a:rPr>
              <a:t>디바이스 → 워크로드 →</a:t>
            </a:r>
          </a:p>
          <a:p>
            <a:pPr algn="l">
              <a:lnSpc>
                <a:spcPct val="102000"/>
              </a:lnSpc>
            </a:pPr>
            <a:r>
              <a:rPr sz="1125" b="0">
                <a:solidFill>
                  <a:srgbClr val="FFFFFF"/>
                </a:solidFill>
                <a:latin typeface="Arial"/>
                <a:ea typeface="Arial"/>
              </a:rPr>
              <a:t>고객 시스템 3단계</a:t>
            </a:r>
          </a:p>
        </p:txBody>
      </p:sp>
      <p:sp>
        <p:nvSpPr>
          <p:cNvPr id="113" name="Right Arrow 112"/>
          <p:cNvSpPr/>
          <p:nvPr/>
        </p:nvSpPr>
        <p:spPr>
          <a:xfrm>
            <a:off x="14281099"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591995" y="8467344"/>
            <a:ext cx="2607868" cy="694944"/>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738299" y="8522208"/>
            <a:ext cx="2315260" cy="603504"/>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5 실행</a:t>
            </a:r>
          </a:p>
          <a:p>
            <a:pPr algn="l">
              <a:lnSpc>
                <a:spcPct val="102000"/>
              </a:lnSpc>
            </a:pPr>
            <a:r>
              <a:rPr sz="1125" b="1">
                <a:solidFill>
                  <a:srgbClr val="1A1A1A"/>
                </a:solidFill>
                <a:latin typeface="Arial"/>
                <a:ea typeface="Arial"/>
              </a:rPr>
              <a:t>FDE 상주 · 전략적 협약</a:t>
            </a:r>
          </a:p>
          <a:p>
            <a:pPr algn="l">
              <a:lnSpc>
                <a:spcPct val="102000"/>
              </a:lnSpc>
            </a:pPr>
            <a:r>
              <a:rPr sz="1125" b="1">
                <a:solidFill>
                  <a:srgbClr val="1A1A1A"/>
                </a:solidFill>
                <a:latin typeface="Arial"/>
                <a:ea typeface="Arial"/>
              </a:rPr>
              <a:t>조직 · 인사 · 문화</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