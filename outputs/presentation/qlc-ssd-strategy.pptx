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두 다운턴의 교훈에서 출발해 지금의 요구가 어디로 이동했는지, 왜 해법이 필요한지를 보입니다. 상단 타임라인은 DT19(재고 조정 국면, 매출 낙폭 -37.6%)와 DT23(최대 낙폭 -45%, 진앙 eSSD) 두 다운턴 구간과 QLC eSSD 연혁을 동일 시간축에 배치한 것입니다. 교훈 1, 수요 센싱: 수요 신호는 발주보다 약 2년 선행하여 고객의 규격·표준·소스 코드에 나타납니다. DT23 국면인 4Q22에 eSSD 매출이 27% 감소하는 동안 Meta·Google은 데이터 배치 표준을 비준했고, 비트 출하는 2년 뒤인 2024년에 30EB로 급증했습니다. 현재의 등가 신호는 KV 캐시 관리자 4종의 코드에 배치·내구성 규격이 미정의라는 사실이며, 규격 정의 주체가 선점 가능한 구간입니다. 교훈 2, 고객 협업: 규격 정의에 참여한 공급자가 적중했습니다. Solidigm은 61TB QLC를 삼성보다 12개월 먼저 출시했고, HBM4는 NVIDIA와 규격을 공동 정의한 SK hynix가 주도권을 확보했습니다. 교훈 3, 의사결정 시점: 직전 다운턴의 결정이 다음 다운턴의 초기 조건이 됩니다. DT19의 무감산 성공 경험이 DT23 국면 오판으로, DT19의 HBM 조직 축소가 DT23 회복기 주도권 상실로 이어졌습니다. 차기 전환점은 2027년 하반기 가격 정상화 국면입니다. 우측 문제 제기 패널은 요구의 이동입니다. 세 국면의 구매 기준은 일관되게 용량 계층의 TB당 TCO였고(초기 원가·랙 밀도, 현재 전력·공급 확보), 향후 국면의 기준은 GPU당 컨텍스트 용량과 토큰당 비용입니다. 바뀐 것은 워크로드의 쓰기 비중입니다. 초기 국면은 읽기 중심이라 0.3~0.6 DWPD로 충족됐지만, KV 캐시 SSD 오프로드가 만드는 추론 캐시 계층은 쓰기 집약적이어서 현재 TLC 1~3 DWPD가 담당합니다. 용량은 61TB에서 122~245TB로 커졌습니다. 수요 모델은 QLC 비트가 2025년 대비 2030년 10배, 2030년 추론 캐시 계층 수요는 350EB이며, 요구 1~3 DWPD와 QLC 정격 0.075~0.6 DWPD 사이에는 10~40배 격차가 있습니다. 결론: 대용량 QLC로 1~3 DWPD를 충족할 해법이 필요합니다. 송용호 AX/PI센터장의 인용은 그 해법이 고객 시스템 안에서 나와야 하는 이유입니다. 지금까지 이런 문제를 어느 계층이 풀어 왔는지가 2장입니다. 근거는 위키 qlc-ssd-market.md §3.4·§3.5, 수요 모델은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이관 매트릭스입니다. 1장의 문제 제기(대용량·1~3 DWPD 요구)를 받아, 지금까지 단품이 못 푼 문제를 어느 계층이 풀어 왔는지의 경향을 보이고 호스트 시스템 수준 해법의 당위성을 세웁니다. 열은 이관 단계이고 행은 두 축입니다. 요구는 고객이 정하고 고정입니다. 단품 지표는 셀과 다이의 지표이며 세대마다 악화됩니다. 보상은 먼저 SSD 계층에서, 다음은 호스트·시스템 계층에서 이뤄집니다. 두 행 사이의 산식 DWPD = P/E × (1+OP) ÷ WAF ÷ 365 × 년은 각 항의 결정 주체가 열과 대응함을 보입니다. P/E는 셀, OP는 SSD, WAF는 호스트·앱, 년과 요구 DWPD는 고객입니다. 내구성 행. 요구: 추론 캐시 계층은 DWPD 1~3(현재 TLC 수준, ScaleFlux 제시 유효 요구 7~10), UBER는 JESD218 기준 10의 -15승·-16승으로 고정입니다. 단품: 비트/셀을 늘릴수록 P/E 사이클은 SLC 30K~100K에서 QLC 100~1K로 100배 감소했고, RBER은 약 백만 배 상승했습니다. 보존·사이클링·리드 디스터브로 시간에 따라 변하는 산포는 셀 단독으로 보정할 수 없습니다. SSD 계층: 1단계 컨트롤러 ECC는 1비트/512B에서 LDPC 120비트/KB로 60배 강화돼 UBER 요구를 충족했습니다. 완결된 이관입니다. 2단계 SSD 단독 워크로드 최적화(2014~2019: Multi-stream·AutoStream·FTL 핫/콜드 추정·NVMe IO 결정성)는 QoS와 성능은 개선했으나 데이터 수명을 SSD가 감지할 수 없어 실 워크로드 WAF는 3 수준에 머물렀고, 정격 DWPD는 17에서 0.4로 내려와 요구 1~3과 10~40배 격차가 생겼습니다. 부분 성공입니다. 호스트·시스템 계층: 3단계 호스트 시스템 공동 설계는 호스트가 데이터 수명을 지정(배치 표준)하고 캐시 관리자·애플리케이션 정책까지 함께 설계해 WAF를 3.22에서 1.03으로 낮췄습니다. 68% 감소, 유효 DWPD 3.1배이며 DWPD 요구를 충족합니다. QLC로 요구 DWPD를 충족하는 유일한 경로이고 본 덱 3~4장이 이 단계입니다. 신뢰성 행. 요구: JESD218 기능 고장률 FFR 3% 이하로 고정입니다. 보호가 없으면 SSD 고장률은 다이 수 N에 비례하므로 칩 면적이 커질수록 수율이 떨어지는 것과 같은 구조입니다. 단품: SSD당 NAND 다이 수는 S3700 800GB 128개(2012)에서 Kioxia LC9 245TB 1,024개(2025, 2Tb 다이 32단 스택 32패키지)로 8배 늘었고, 같은 FFR을 지키려면 다이 고장률을 8배 낮추거나 다이 고장을 허용해야 합니다. 다이 고장률 개선은 기술적 한계에 닿았습니다. SSD 계층(현재 해법): 다이 RAID(Micron RAIN, 슈퍼페이지 XOR 패리티 다이), 여분 다이, 다이 은퇴와 감량 운영(삼성 Fail-in-Place PM1733: 고장 다이를 제외하고 4~8GB 감량 운영)입니다. 패리티와 예비 용량 오버헤드가 다이 수와 함께 증가합니다. 상위 계층(SSD 단독 한계 시): OCP SMART의 XOR 복구 카운트로 호스트가 다이 복구를 관측하고, Microsoft Hyrax처럼 플랫폼이 감량 운영을 수용하며, 드라이브 간 소거 부호가 SSD 고장을 흡수합니다. 결론: 두 축 모두 요구는 고정이고 단품은 악화되며 보상은 상위 계층으로 이관됩니다. QLC로 요구 DWPD를 충족하는 경로는 호스트 시스템 공동 설계뿐이며 이는 산식의 귀결입니다. 1장이 제기한 대용량·높은 DWPD 요구에 대한 당위성이며, 해소 경로가 3장입니다.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해법의 제안입니다. 1장이 제기한 내구성 격차를 해소하는 경로이며, 2장의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Phase 1 확보, Phase 2 진입: KV cache 백서 2종으로 측정 역량은 있으나 트레이스 기반 실측이 미공개이고 캐시 관리자 4종에 기여가 없습니다. 오케스트레이션 자체는 만들지 않습니다. 결론: 단계마다 고객 보증 범위가 원가·전력 → 워크로드 수명 → 시스템 TCO로 확장되며, 3단계에 진입하는 수단(FDE·전략적 협약)과 이를 수행할 조직이 4장입니다.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3장의 3단계에 진입하는 수단과 이를 수행할 조직입니다. 리드의 인용은 송용호 AX/PI센터장의 발언이며, 왼쪽 박스 아래 인용도 같은 인터뷰입니다. 고객 관계가 곧 워크로드 접근권이라는 뜻이고, 미주 현지 채용과 FDE 상주가 그 대응입니다. 진입 수단은 두 가지이고 각각 선례가 있습니다. ① FDE 상주: 삼성 엔지니어가 고객 시스템에 진입합니다. Palantir가 창안한 역할(내부 코드명 Delta)로, 고객 환경 내부에 상주하며 실제 운영 제약 아래서 프로덕션 시스템을 직접 구축하고 청구 시간이 아니라 성과로 평가받습니다. 명시적 요구와 실제 요구의 간극을 현장에서 코드로 해소하고, 특정 고객용 해법이 제품 표준 기능으로 전환되는 피드백 루프를 만듭니다. 고객 락인의 동력이자 640% 주가 수익률의 원천으로 평가되고, Anthropic·OpenAI가 엔터프라이즈 GTM 모델로 채택했습니다(OpenAI는 2025년 초 FDE 팀 2명→10명 이상). 삼성은 Co-Design Pod를 FDE 모델로 운영하되, 메모리는 제조 리드타임이 길므로 시스템 아키텍트·TCO 모델링 역량을 결합합니다. ② 전략적 협약(SCA): 고객 워크로드·규격 접근권을 계약으로 확보합니다. 선례는 Micron↔Anthropic(2026-06-22): 공동 설계(HBM·DRAM·SSD를 Claude 학습·추론 워크로드에 맞춰 공동 최적화) + 다년 공급 + 운영 통합(Claude 사내 배치) + 자본(Series H)을 한 계약에 결합했습니다. Micron은 SCA 16건, 최소 계약매출 약 $100B, 예치금 $22B를 공시했습니다. 삼성·SK의 Anthropic 공급 계약에는 공동 설계 조항이 없으므로 삼성이 선제 제안합니다. 계약 시한은 공급 완화 전인 2027년 상반기까지입니다. 조직·인사·문화 세 축(전략·재무 축과 90일·1년·3년 타임라인은 위키 실행 전략 페이지 §2.1·§2.5·§3). 조직은 실리콘밸리 소프트웨어 자회사와 FDE Pod에 더해 시스템 소프트웨어 조직을 강화합니다. 인사는 고객 시스템(추론 엔진·KV 캐시 관리자·I/O·커널 코드)을 읽고 수정할 수 있는 시스템 소프트웨어 전문가의 채용·양성이 핵심이며, 미주 현지 채용을 확대하고 별도 보상 체계를 두며 본사 엔지니어는 상주 로테이션으로 양성합니다. 문화는 업스트림 우선을 넘어 오픈소스 생태계를 주도하는 기업 문화로 전환합니다. 기여자에서 메인테이너·커미터로, 삼성이 운영하는 레퍼런스 프로젝트에 외부 기여가 들어오게 하며, KV cache 실측을 업계 최초로 공개합니다. 하단 요약 체인은 4장의 논리입니다. 1장 교훈·문제: 요구는 다운턴 국면에 고객 규격·코드로 정의되며, 차기 요구는 추론 캐시 계층의 대용량·1~3 DWPD다. 2장 해법 사다리: 단품이 못 푼 문제는 SSD, 다시 호스트로 이관돼 왔고 WAF는 호스트 공동 설계로만 1.0이 된다. 3장 역량: 디바이스 → 워크로드 → 고객 시스템 3단계로 확장한다. 4장 실행: FDE 상주와 전략적 협약, 그리고 조직·인사·문화가 그 수단이다.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교훈 · 문제  </a:t>
            </a:r>
            <a:r>
              <a:rPr sz="1200" b="0">
                <a:solidFill>
                  <a:srgbClr val="1428A0"/>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다운턴의 교훈은 고객 요구 적중이고, AI 수요는 요구를 대용량·높은 DWPD로 이동시킵니다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다운턴은 요구가 고객 시스템 안에서 먼저 관측됨을 보였고, 지금 그 요구는 추론 캐시 계층의 대용량·높은 DWPD입니다.</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27" name="Rectangle 26"/>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29" name="Rectangle 28"/>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1" name="TextBox 30"/>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32" name="TextBox 31"/>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33" name="TextBox 32"/>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34" name="TextBox 33"/>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35" name="TextBox 34"/>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36" name="TextBox 35"/>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37" name="TextBox 36"/>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38" name="Oval 37"/>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1" name="Oval 40"/>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44" name="Oval 43"/>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47" name="Oval 46"/>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0" name="Oval 49"/>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53" name="Oval 52"/>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56" name="Rectangle 55"/>
          <p:cNvSpPr/>
          <p:nvPr/>
        </p:nvSpPr>
        <p:spPr>
          <a:xfrm>
            <a:off x="722376" y="4151376"/>
            <a:ext cx="3816096"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96696" y="4297680"/>
            <a:ext cx="3304032"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교훈 1 · 수요 센싱</a:t>
            </a:r>
          </a:p>
        </p:txBody>
      </p:sp>
      <p:sp>
        <p:nvSpPr>
          <p:cNvPr id="58" name="TextBox 57"/>
          <p:cNvSpPr txBox="1"/>
          <p:nvPr/>
        </p:nvSpPr>
        <p:spPr>
          <a:xfrm>
            <a:off x="996696" y="4590288"/>
            <a:ext cx="1417320"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2년</a:t>
            </a:r>
          </a:p>
        </p:txBody>
      </p:sp>
      <p:sp>
        <p:nvSpPr>
          <p:cNvPr id="59" name="TextBox 58"/>
          <p:cNvSpPr txBox="1"/>
          <p:nvPr/>
        </p:nvSpPr>
        <p:spPr>
          <a:xfrm>
            <a:off x="2459736" y="4590288"/>
            <a:ext cx="1840992" cy="475488"/>
          </a:xfrm>
          <a:prstGeom prst="rect">
            <a:avLst/>
          </a:prstGeom>
          <a:noFill/>
        </p:spPr>
        <p:txBody>
          <a:bodyPr wrap="square" anchor="ctr" lIns="0" rIns="0" tIns="0" bIns="0">
            <a:spAutoFit/>
          </a:bodyPr>
          <a:lstStyle/>
          <a:p>
            <a:pPr algn="l">
              <a:lnSpc>
                <a:spcPct val="102000"/>
              </a:lnSpc>
            </a:pPr>
            <a:r>
              <a:rPr sz="1050" b="0">
                <a:solidFill>
                  <a:srgbClr val="555555"/>
                </a:solidFill>
                <a:latin typeface="Arial"/>
                <a:ea typeface="Arial"/>
              </a:rPr>
              <a:t>고객 규격·코드 신호가</a:t>
            </a:r>
          </a:p>
          <a:p>
            <a:pPr algn="l">
              <a:lnSpc>
                <a:spcPct val="102000"/>
              </a:lnSpc>
            </a:pPr>
            <a:r>
              <a:rPr sz="1050" b="0">
                <a:solidFill>
                  <a:srgbClr val="555555"/>
                </a:solidFill>
                <a:latin typeface="Arial"/>
                <a:ea typeface="Arial"/>
              </a:rPr>
              <a:t>발주·출하에 선행</a:t>
            </a:r>
          </a:p>
        </p:txBody>
      </p:sp>
      <p:sp>
        <p:nvSpPr>
          <p:cNvPr id="60" name="Rectangle 59"/>
          <p:cNvSpPr/>
          <p:nvPr/>
        </p:nvSpPr>
        <p:spPr>
          <a:xfrm>
            <a:off x="996696" y="5157216"/>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6696" y="5641848"/>
            <a:ext cx="914400" cy="256032"/>
          </a:xfrm>
          <a:prstGeom prst="rect">
            <a:avLst/>
          </a:prstGeom>
          <a:noFill/>
        </p:spPr>
        <p:txBody>
          <a:bodyPr wrap="square" anchor="ctr" lIns="0" rIns="0" tIns="0" bIns="0">
            <a:spAutoFit/>
          </a:bodyPr>
          <a:lstStyle/>
          <a:p>
            <a:pPr algn="l">
              <a:lnSpc>
                <a:spcPct val="112000"/>
              </a:lnSpc>
            </a:pPr>
            <a:r>
              <a:rPr sz="1000" b="1">
                <a:solidFill>
                  <a:srgbClr val="1A1A1A"/>
                </a:solidFill>
                <a:latin typeface="Arial"/>
                <a:ea typeface="Arial"/>
              </a:rPr>
              <a:t>고객 규격·코드</a:t>
            </a:r>
          </a:p>
        </p:txBody>
      </p:sp>
      <p:sp>
        <p:nvSpPr>
          <p:cNvPr id="62" name="TextBox 61"/>
          <p:cNvSpPr txBox="1"/>
          <p:nvPr/>
        </p:nvSpPr>
        <p:spPr>
          <a:xfrm>
            <a:off x="996696" y="7187183"/>
            <a:ext cx="914400" cy="256032"/>
          </a:xfrm>
          <a:prstGeom prst="rect">
            <a:avLst/>
          </a:prstGeom>
          <a:noFill/>
        </p:spPr>
        <p:txBody>
          <a:bodyPr wrap="square" anchor="ctr" lIns="0" rIns="0" tIns="0" bIns="0">
            <a:spAutoFit/>
          </a:bodyPr>
          <a:lstStyle/>
          <a:p>
            <a:pPr algn="l">
              <a:lnSpc>
                <a:spcPct val="112000"/>
              </a:lnSpc>
            </a:pPr>
            <a:r>
              <a:rPr sz="1000" b="1">
                <a:solidFill>
                  <a:srgbClr val="1A1A1A"/>
                </a:solidFill>
                <a:latin typeface="Arial"/>
                <a:ea typeface="Arial"/>
              </a:rPr>
              <a:t>발주·비트 출하</a:t>
            </a:r>
          </a:p>
        </p:txBody>
      </p:sp>
      <p:sp>
        <p:nvSpPr>
          <p:cNvPr id="63" name="Rectangle 62"/>
          <p:cNvSpPr/>
          <p:nvPr/>
        </p:nvSpPr>
        <p:spPr>
          <a:xfrm>
            <a:off x="1929384" y="5769864"/>
            <a:ext cx="237134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929384" y="7315199"/>
            <a:ext cx="237134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372624" y="5769864"/>
            <a:ext cx="14630" cy="63550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07740" y="6679692"/>
            <a:ext cx="14630" cy="63550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ight Arrow 66"/>
          <p:cNvSpPr/>
          <p:nvPr/>
        </p:nvSpPr>
        <p:spPr>
          <a:xfrm>
            <a:off x="2379939" y="6405371"/>
            <a:ext cx="735116"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379939" y="6405371"/>
            <a:ext cx="643676" cy="274320"/>
          </a:xfrm>
          <a:prstGeom prst="rect">
            <a:avLst/>
          </a:prstGeom>
          <a:noFill/>
        </p:spPr>
        <p:txBody>
          <a:bodyPr wrap="square" anchor="ctr" lIns="0" rIns="0" tIns="0" bIns="0">
            <a:spAutoFit/>
          </a:bodyPr>
          <a:lstStyle/>
          <a:p>
            <a:pPr algn="ctr">
              <a:lnSpc>
                <a:spcPct val="112000"/>
              </a:lnSpc>
            </a:pPr>
            <a:r>
              <a:rPr sz="1050" b="1">
                <a:solidFill>
                  <a:srgbClr val="1A1A1A"/>
                </a:solidFill>
                <a:latin typeface="Arial"/>
                <a:ea typeface="Arial"/>
              </a:rPr>
              <a:t>≈2년</a:t>
            </a:r>
          </a:p>
        </p:txBody>
      </p:sp>
      <p:sp>
        <p:nvSpPr>
          <p:cNvPr id="69" name="Oval 68"/>
          <p:cNvSpPr/>
          <p:nvPr/>
        </p:nvSpPr>
        <p:spPr>
          <a:xfrm>
            <a:off x="2279355" y="5669279"/>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151339" y="5385816"/>
            <a:ext cx="1828800"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2022-12 배치 표준 비준</a:t>
            </a:r>
          </a:p>
        </p:txBody>
      </p:sp>
      <p:sp>
        <p:nvSpPr>
          <p:cNvPr id="71" name="Oval 70"/>
          <p:cNvSpPr/>
          <p:nvPr/>
        </p:nvSpPr>
        <p:spPr>
          <a:xfrm>
            <a:off x="3014472" y="7214615"/>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86456" y="7443215"/>
            <a:ext cx="1828800"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2024 비트 출하 30EB</a:t>
            </a:r>
          </a:p>
        </p:txBody>
      </p:sp>
      <p:sp>
        <p:nvSpPr>
          <p:cNvPr id="73" name="Oval 72"/>
          <p:cNvSpPr/>
          <p:nvPr/>
        </p:nvSpPr>
        <p:spPr>
          <a:xfrm>
            <a:off x="4010436" y="5669279"/>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419380" y="5916168"/>
            <a:ext cx="1874519" cy="402336"/>
          </a:xfrm>
          <a:prstGeom prst="rect">
            <a:avLst/>
          </a:prstGeom>
          <a:noFill/>
        </p:spPr>
        <p:txBody>
          <a:bodyPr wrap="square" anchor="t" lIns="0" rIns="0" tIns="0" bIns="0">
            <a:spAutoFit/>
          </a:bodyPr>
          <a:lstStyle/>
          <a:p>
            <a:pPr algn="r">
              <a:lnSpc>
                <a:spcPct val="100000"/>
              </a:lnSpc>
            </a:pPr>
            <a:r>
              <a:rPr sz="1000" b="1">
                <a:solidFill>
                  <a:srgbClr val="1428A0"/>
                </a:solidFill>
                <a:latin typeface="Arial"/>
                <a:ea typeface="Arial"/>
              </a:rPr>
              <a:t>2026 KV 캐시 관리자 코드</a:t>
            </a:r>
          </a:p>
          <a:p>
            <a:pPr algn="r">
              <a:lnSpc>
                <a:spcPct val="100000"/>
              </a:lnSpc>
            </a:pPr>
            <a:r>
              <a:rPr sz="1000" b="1">
                <a:solidFill>
                  <a:srgbClr val="1428A0"/>
                </a:solidFill>
                <a:latin typeface="Arial"/>
                <a:ea typeface="Arial"/>
              </a:rPr>
              <a:t>배치 규격 미정의 = 선점 구간</a:t>
            </a:r>
          </a:p>
        </p:txBody>
      </p:sp>
      <p:sp>
        <p:nvSpPr>
          <p:cNvPr id="75" name="Rectangle 74"/>
          <p:cNvSpPr/>
          <p:nvPr/>
        </p:nvSpPr>
        <p:spPr>
          <a:xfrm>
            <a:off x="996696" y="7955279"/>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996696" y="8055863"/>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96696" y="8055863"/>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78" name="TextBox 77"/>
          <p:cNvSpPr txBox="1"/>
          <p:nvPr/>
        </p:nvSpPr>
        <p:spPr>
          <a:xfrm>
            <a:off x="1307592" y="8037575"/>
            <a:ext cx="2993136" cy="27432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해법 사다리  </a:t>
            </a:r>
            <a:r>
              <a:rPr sz="1050" b="0">
                <a:solidFill>
                  <a:srgbClr val="555555"/>
                </a:solidFill>
                <a:latin typeface="Arial"/>
                <a:ea typeface="Arial"/>
              </a:rPr>
              <a:t>규격은 호스트 계층에서 정의</a:t>
            </a:r>
          </a:p>
        </p:txBody>
      </p:sp>
      <p:sp>
        <p:nvSpPr>
          <p:cNvPr id="79" name="Rectangle 78"/>
          <p:cNvSpPr/>
          <p:nvPr/>
        </p:nvSpPr>
        <p:spPr>
          <a:xfrm>
            <a:off x="4812792" y="4151376"/>
            <a:ext cx="3816096" cy="426110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812792" y="4151376"/>
            <a:ext cx="73152" cy="4261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087112" y="4297680"/>
            <a:ext cx="3304032"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교훈 2 · 고객 협업</a:t>
            </a:r>
          </a:p>
        </p:txBody>
      </p:sp>
      <p:sp>
        <p:nvSpPr>
          <p:cNvPr id="82" name="TextBox 81"/>
          <p:cNvSpPr txBox="1"/>
          <p:nvPr/>
        </p:nvSpPr>
        <p:spPr>
          <a:xfrm>
            <a:off x="5087112" y="4590288"/>
            <a:ext cx="1417320"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12개월</a:t>
            </a:r>
          </a:p>
        </p:txBody>
      </p:sp>
      <p:sp>
        <p:nvSpPr>
          <p:cNvPr id="83" name="TextBox 82"/>
          <p:cNvSpPr txBox="1"/>
          <p:nvPr/>
        </p:nvSpPr>
        <p:spPr>
          <a:xfrm>
            <a:off x="6550152" y="4590288"/>
            <a:ext cx="1840992" cy="475488"/>
          </a:xfrm>
          <a:prstGeom prst="rect">
            <a:avLst/>
          </a:prstGeom>
          <a:noFill/>
        </p:spPr>
        <p:txBody>
          <a:bodyPr wrap="square" anchor="ctr" lIns="0" rIns="0" tIns="0" bIns="0">
            <a:spAutoFit/>
          </a:bodyPr>
          <a:lstStyle/>
          <a:p>
            <a:pPr algn="l">
              <a:lnSpc>
                <a:spcPct val="102000"/>
              </a:lnSpc>
            </a:pPr>
            <a:r>
              <a:rPr sz="1050" b="0">
                <a:solidFill>
                  <a:srgbClr val="555555"/>
                </a:solidFill>
                <a:latin typeface="Arial"/>
                <a:ea typeface="Arial"/>
              </a:rPr>
              <a:t>규격 정의 참여 vs 후발의</a:t>
            </a:r>
          </a:p>
          <a:p>
            <a:pPr algn="l">
              <a:lnSpc>
                <a:spcPct val="102000"/>
              </a:lnSpc>
            </a:pPr>
            <a:r>
              <a:rPr sz="1050" b="0">
                <a:solidFill>
                  <a:srgbClr val="555555"/>
                </a:solidFill>
                <a:latin typeface="Arial"/>
                <a:ea typeface="Arial"/>
              </a:rPr>
              <a:t>출시 시점 격차</a:t>
            </a:r>
          </a:p>
        </p:txBody>
      </p:sp>
      <p:sp>
        <p:nvSpPr>
          <p:cNvPr id="84" name="Rectangle 83"/>
          <p:cNvSpPr/>
          <p:nvPr/>
        </p:nvSpPr>
        <p:spPr>
          <a:xfrm>
            <a:off x="5087112" y="5157216"/>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087112" y="5266944"/>
            <a:ext cx="3304032"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61TB QLC 출시 · OCP 2022-10 예고 기준</a:t>
            </a:r>
          </a:p>
        </p:txBody>
      </p:sp>
      <p:sp>
        <p:nvSpPr>
          <p:cNvPr id="86" name="TextBox 85"/>
          <p:cNvSpPr txBox="1"/>
          <p:nvPr/>
        </p:nvSpPr>
        <p:spPr>
          <a:xfrm>
            <a:off x="5087112" y="5559552"/>
            <a:ext cx="685800" cy="310896"/>
          </a:xfrm>
          <a:prstGeom prst="rect">
            <a:avLst/>
          </a:prstGeom>
          <a:noFill/>
        </p:spPr>
        <p:txBody>
          <a:bodyPr wrap="square" anchor="ctr" lIns="0" rIns="0" tIns="0" bIns="0">
            <a:spAutoFit/>
          </a:bodyPr>
          <a:lstStyle/>
          <a:p>
            <a:pPr algn="l">
              <a:lnSpc>
                <a:spcPct val="112000"/>
              </a:lnSpc>
            </a:pPr>
            <a:r>
              <a:rPr sz="1050" b="1">
                <a:solidFill>
                  <a:srgbClr val="1A1A1A"/>
                </a:solidFill>
                <a:latin typeface="Arial"/>
                <a:ea typeface="Arial"/>
              </a:rPr>
              <a:t>Solidigm</a:t>
            </a:r>
          </a:p>
        </p:txBody>
      </p:sp>
      <p:sp>
        <p:nvSpPr>
          <p:cNvPr id="87" name="Rectangle 86"/>
          <p:cNvSpPr/>
          <p:nvPr/>
        </p:nvSpPr>
        <p:spPr>
          <a:xfrm>
            <a:off x="5818632" y="5559552"/>
            <a:ext cx="1102505"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994289" y="5559552"/>
            <a:ext cx="1396854" cy="310896"/>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'23-07 규격 정의 참여</a:t>
            </a:r>
          </a:p>
        </p:txBody>
      </p:sp>
      <p:sp>
        <p:nvSpPr>
          <p:cNvPr id="89" name="TextBox 88"/>
          <p:cNvSpPr txBox="1"/>
          <p:nvPr/>
        </p:nvSpPr>
        <p:spPr>
          <a:xfrm>
            <a:off x="5087112" y="5980176"/>
            <a:ext cx="685800" cy="310896"/>
          </a:xfrm>
          <a:prstGeom prst="rect">
            <a:avLst/>
          </a:prstGeom>
          <a:noFill/>
        </p:spPr>
        <p:txBody>
          <a:bodyPr wrap="square" anchor="ctr" lIns="0" rIns="0" tIns="0" bIns="0">
            <a:spAutoFit/>
          </a:bodyPr>
          <a:lstStyle/>
          <a:p>
            <a:pPr algn="l">
              <a:lnSpc>
                <a:spcPct val="112000"/>
              </a:lnSpc>
            </a:pPr>
            <a:r>
              <a:rPr sz="1050" b="1">
                <a:solidFill>
                  <a:srgbClr val="1A1A1A"/>
                </a:solidFill>
                <a:latin typeface="Arial"/>
                <a:ea typeface="Arial"/>
              </a:rPr>
              <a:t>삼성</a:t>
            </a:r>
          </a:p>
        </p:txBody>
      </p:sp>
      <p:sp>
        <p:nvSpPr>
          <p:cNvPr id="90" name="Rectangle 89"/>
          <p:cNvSpPr/>
          <p:nvPr/>
        </p:nvSpPr>
        <p:spPr>
          <a:xfrm>
            <a:off x="5818632" y="5980176"/>
            <a:ext cx="2572512"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910072" y="5980176"/>
            <a:ext cx="2389632" cy="310896"/>
          </a:xfrm>
          <a:prstGeom prst="rect">
            <a:avLst/>
          </a:prstGeom>
          <a:noFill/>
        </p:spPr>
        <p:txBody>
          <a:bodyPr wrap="square" anchor="ctr" lIns="0" rIns="0" tIns="0" bIns="0">
            <a:spAutoFit/>
          </a:bodyPr>
          <a:lstStyle/>
          <a:p>
            <a:pPr algn="r">
              <a:lnSpc>
                <a:spcPct val="112000"/>
              </a:lnSpc>
            </a:pPr>
            <a:r>
              <a:rPr sz="1000" b="1">
                <a:solidFill>
                  <a:srgbClr val="555555"/>
                </a:solidFill>
                <a:latin typeface="Arial"/>
                <a:ea typeface="Arial"/>
              </a:rPr>
              <a:t>'24-07 · 12개월 후발</a:t>
            </a:r>
          </a:p>
        </p:txBody>
      </p:sp>
      <p:sp>
        <p:nvSpPr>
          <p:cNvPr id="92" name="Rectangle 91"/>
          <p:cNvSpPr/>
          <p:nvPr/>
        </p:nvSpPr>
        <p:spPr>
          <a:xfrm>
            <a:off x="5087112" y="6473952"/>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087112" y="6583680"/>
            <a:ext cx="3304032"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HBM4 규격 정의</a:t>
            </a:r>
          </a:p>
        </p:txBody>
      </p:sp>
      <p:sp>
        <p:nvSpPr>
          <p:cNvPr id="94" name="Oval 93"/>
          <p:cNvSpPr/>
          <p:nvPr/>
        </p:nvSpPr>
        <p:spPr>
          <a:xfrm>
            <a:off x="5894710" y="6858000"/>
            <a:ext cx="180685" cy="180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 Same Side Corner Rectangle 94"/>
          <p:cNvSpPr/>
          <p:nvPr/>
        </p:nvSpPr>
        <p:spPr>
          <a:xfrm>
            <a:off x="5818632" y="7067214"/>
            <a:ext cx="332841" cy="26627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97193" y="7071969"/>
            <a:ext cx="25603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6575023" y="6858000"/>
            <a:ext cx="180685" cy="180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 Same Side Corner Rectangle 97"/>
          <p:cNvSpPr/>
          <p:nvPr/>
        </p:nvSpPr>
        <p:spPr>
          <a:xfrm>
            <a:off x="6498945" y="7067214"/>
            <a:ext cx="332841" cy="26627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941515" y="6821424"/>
            <a:ext cx="1449628" cy="548640"/>
          </a:xfrm>
          <a:prstGeom prst="rect">
            <a:avLst/>
          </a:prstGeom>
          <a:noFill/>
        </p:spPr>
        <p:txBody>
          <a:bodyPr wrap="square" anchor="ctr" lIns="0" rIns="0" tIns="0" bIns="0">
            <a:spAutoFit/>
          </a:bodyPr>
          <a:lstStyle/>
          <a:p>
            <a:pPr algn="l">
              <a:lnSpc>
                <a:spcPct val="100000"/>
              </a:lnSpc>
            </a:pPr>
            <a:r>
              <a:rPr sz="975" b="1">
                <a:solidFill>
                  <a:srgbClr val="1428A0"/>
                </a:solidFill>
                <a:latin typeface="Arial"/>
                <a:ea typeface="Arial"/>
              </a:rPr>
              <a:t>SK hynix ↔ NVIDIA 공동 정의</a:t>
            </a:r>
          </a:p>
          <a:p>
            <a:pPr algn="l">
              <a:lnSpc>
                <a:spcPct val="100000"/>
              </a:lnSpc>
            </a:pPr>
            <a:r>
              <a:rPr sz="975" b="0">
                <a:solidFill>
                  <a:srgbClr val="555555"/>
                </a:solidFill>
                <a:latin typeface="Arial"/>
                <a:ea typeface="Arial"/>
              </a:rPr>
              <a:t>→ 주도권 · 삼성은 후발 대응</a:t>
            </a:r>
          </a:p>
        </p:txBody>
      </p:sp>
      <p:sp>
        <p:nvSpPr>
          <p:cNvPr id="100" name="Rectangle 99"/>
          <p:cNvSpPr/>
          <p:nvPr/>
        </p:nvSpPr>
        <p:spPr>
          <a:xfrm>
            <a:off x="5087112" y="7955279"/>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087112" y="8055863"/>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087112" y="8055863"/>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03" name="TextBox 102"/>
          <p:cNvSpPr txBox="1"/>
          <p:nvPr/>
        </p:nvSpPr>
        <p:spPr>
          <a:xfrm>
            <a:off x="5398008" y="8037575"/>
            <a:ext cx="2993136" cy="27432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역량  </a:t>
            </a:r>
            <a:r>
              <a:rPr sz="1050" b="0">
                <a:solidFill>
                  <a:srgbClr val="555555"/>
                </a:solidFill>
                <a:latin typeface="Arial"/>
                <a:ea typeface="Arial"/>
              </a:rPr>
              <a:t>고객 시스템까지 3단계</a:t>
            </a:r>
          </a:p>
        </p:txBody>
      </p:sp>
      <p:sp>
        <p:nvSpPr>
          <p:cNvPr id="104" name="Rectangle 103"/>
          <p:cNvSpPr/>
          <p:nvPr/>
        </p:nvSpPr>
        <p:spPr>
          <a:xfrm>
            <a:off x="8903208" y="4151376"/>
            <a:ext cx="3816096"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177528" y="4297680"/>
            <a:ext cx="3304032"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교훈 3 · 의사결정 시점</a:t>
            </a:r>
          </a:p>
        </p:txBody>
      </p:sp>
      <p:sp>
        <p:nvSpPr>
          <p:cNvPr id="106" name="TextBox 105"/>
          <p:cNvSpPr txBox="1"/>
          <p:nvPr/>
        </p:nvSpPr>
        <p:spPr>
          <a:xfrm>
            <a:off x="9177528" y="4590288"/>
            <a:ext cx="1417320"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2027H2</a:t>
            </a:r>
          </a:p>
        </p:txBody>
      </p:sp>
      <p:sp>
        <p:nvSpPr>
          <p:cNvPr id="107" name="TextBox 106"/>
          <p:cNvSpPr txBox="1"/>
          <p:nvPr/>
        </p:nvSpPr>
        <p:spPr>
          <a:xfrm>
            <a:off x="10640568" y="4590288"/>
            <a:ext cx="1840992" cy="475488"/>
          </a:xfrm>
          <a:prstGeom prst="rect">
            <a:avLst/>
          </a:prstGeom>
          <a:noFill/>
        </p:spPr>
        <p:txBody>
          <a:bodyPr wrap="square" anchor="ctr" lIns="0" rIns="0" tIns="0" bIns="0">
            <a:spAutoFit/>
          </a:bodyPr>
          <a:lstStyle/>
          <a:p>
            <a:pPr algn="l">
              <a:lnSpc>
                <a:spcPct val="102000"/>
              </a:lnSpc>
            </a:pPr>
            <a:r>
              <a:rPr sz="1050" b="0">
                <a:solidFill>
                  <a:srgbClr val="555555"/>
                </a:solidFill>
                <a:latin typeface="Arial"/>
                <a:ea typeface="Arial"/>
              </a:rPr>
              <a:t>현재의 결정이 초기 조건이</a:t>
            </a:r>
          </a:p>
          <a:p>
            <a:pPr algn="l">
              <a:lnSpc>
                <a:spcPct val="102000"/>
              </a:lnSpc>
            </a:pPr>
            <a:r>
              <a:rPr sz="1050" b="0">
                <a:solidFill>
                  <a:srgbClr val="555555"/>
                </a:solidFill>
                <a:latin typeface="Arial"/>
                <a:ea typeface="Arial"/>
              </a:rPr>
              <a:t>되는 차기 전환점</a:t>
            </a:r>
          </a:p>
        </p:txBody>
      </p:sp>
      <p:sp>
        <p:nvSpPr>
          <p:cNvPr id="108" name="Rectangle 107"/>
          <p:cNvSpPr/>
          <p:nvPr/>
        </p:nvSpPr>
        <p:spPr>
          <a:xfrm>
            <a:off x="9177528" y="5157216"/>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9177528" y="5266944"/>
            <a:ext cx="1469136" cy="201168"/>
          </a:xfrm>
          <a:prstGeom prst="rect">
            <a:avLst/>
          </a:prstGeom>
          <a:noFill/>
        </p:spPr>
        <p:txBody>
          <a:bodyPr wrap="square" anchor="t" lIns="0" rIns="0" tIns="0" bIns="0">
            <a:spAutoFit/>
          </a:bodyPr>
          <a:lstStyle/>
          <a:p>
            <a:pPr algn="ctr">
              <a:lnSpc>
                <a:spcPct val="112000"/>
              </a:lnSpc>
            </a:pPr>
            <a:r>
              <a:rPr sz="1000" b="0">
                <a:solidFill>
                  <a:srgbClr val="8A8A8A"/>
                </a:solidFill>
                <a:latin typeface="Arial"/>
                <a:ea typeface="Arial"/>
              </a:rPr>
              <a:t>직전 다운턴의 결정</a:t>
            </a:r>
          </a:p>
        </p:txBody>
      </p:sp>
      <p:sp>
        <p:nvSpPr>
          <p:cNvPr id="110" name="TextBox 109"/>
          <p:cNvSpPr txBox="1"/>
          <p:nvPr/>
        </p:nvSpPr>
        <p:spPr>
          <a:xfrm>
            <a:off x="11012424" y="5266944"/>
            <a:ext cx="1469136" cy="201168"/>
          </a:xfrm>
          <a:prstGeom prst="rect">
            <a:avLst/>
          </a:prstGeom>
          <a:noFill/>
        </p:spPr>
        <p:txBody>
          <a:bodyPr wrap="square" anchor="t" lIns="0" rIns="0" tIns="0" bIns="0">
            <a:spAutoFit/>
          </a:bodyPr>
          <a:lstStyle/>
          <a:p>
            <a:pPr algn="ctr">
              <a:lnSpc>
                <a:spcPct val="112000"/>
              </a:lnSpc>
            </a:pPr>
            <a:r>
              <a:rPr sz="1000" b="0">
                <a:solidFill>
                  <a:srgbClr val="8A8A8A"/>
                </a:solidFill>
                <a:latin typeface="Arial"/>
                <a:ea typeface="Arial"/>
              </a:rPr>
              <a:t>다음 다운턴의 초기 조건</a:t>
            </a:r>
          </a:p>
        </p:txBody>
      </p:sp>
      <p:sp>
        <p:nvSpPr>
          <p:cNvPr id="111" name="Rectangle 110"/>
          <p:cNvSpPr/>
          <p:nvPr/>
        </p:nvSpPr>
        <p:spPr>
          <a:xfrm>
            <a:off x="9177528" y="5577840"/>
            <a:ext cx="1469136" cy="384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214104" y="5577840"/>
            <a:ext cx="1395984" cy="384048"/>
          </a:xfrm>
          <a:prstGeom prst="rect">
            <a:avLst/>
          </a:prstGeom>
          <a:noFill/>
        </p:spPr>
        <p:txBody>
          <a:bodyPr wrap="square" anchor="ctr" lIns="0" rIns="0" tIns="0" bIns="0">
            <a:spAutoFit/>
          </a:bodyPr>
          <a:lstStyle/>
          <a:p>
            <a:pPr algn="ctr">
              <a:lnSpc>
                <a:spcPct val="112000"/>
              </a:lnSpc>
            </a:pPr>
            <a:r>
              <a:rPr sz="975" b="0">
                <a:solidFill>
                  <a:srgbClr val="1A1A1A"/>
                </a:solidFill>
                <a:latin typeface="Arial"/>
                <a:ea typeface="Arial"/>
              </a:rPr>
              <a:t>DT19 무감산 성공</a:t>
            </a:r>
          </a:p>
        </p:txBody>
      </p:sp>
      <p:sp>
        <p:nvSpPr>
          <p:cNvPr id="113" name="Right Arrow 112"/>
          <p:cNvSpPr/>
          <p:nvPr/>
        </p:nvSpPr>
        <p:spPr>
          <a:xfrm>
            <a:off x="10719816" y="5669279"/>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1012424" y="5577840"/>
            <a:ext cx="1469136" cy="38404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1049000" y="5577840"/>
            <a:ext cx="1395984" cy="384048"/>
          </a:xfrm>
          <a:prstGeom prst="rect">
            <a:avLst/>
          </a:prstGeom>
          <a:noFill/>
        </p:spPr>
        <p:txBody>
          <a:bodyPr wrap="square" anchor="ctr" lIns="0" rIns="0" tIns="0" bIns="0">
            <a:spAutoFit/>
          </a:bodyPr>
          <a:lstStyle/>
          <a:p>
            <a:pPr algn="ctr">
              <a:lnSpc>
                <a:spcPct val="112000"/>
              </a:lnSpc>
            </a:pPr>
            <a:r>
              <a:rPr sz="975" b="1">
                <a:solidFill>
                  <a:srgbClr val="1A1A1A"/>
                </a:solidFill>
                <a:latin typeface="Arial"/>
                <a:ea typeface="Arial"/>
              </a:rPr>
              <a:t>DT23 국면 오판</a:t>
            </a:r>
          </a:p>
        </p:txBody>
      </p:sp>
      <p:sp>
        <p:nvSpPr>
          <p:cNvPr id="116" name="Rectangle 115"/>
          <p:cNvSpPr/>
          <p:nvPr/>
        </p:nvSpPr>
        <p:spPr>
          <a:xfrm>
            <a:off x="9177528" y="6108192"/>
            <a:ext cx="1469136" cy="384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214104" y="6108192"/>
            <a:ext cx="1395984" cy="384048"/>
          </a:xfrm>
          <a:prstGeom prst="rect">
            <a:avLst/>
          </a:prstGeom>
          <a:noFill/>
        </p:spPr>
        <p:txBody>
          <a:bodyPr wrap="square" anchor="ctr" lIns="0" rIns="0" tIns="0" bIns="0">
            <a:spAutoFit/>
          </a:bodyPr>
          <a:lstStyle/>
          <a:p>
            <a:pPr algn="ctr">
              <a:lnSpc>
                <a:spcPct val="112000"/>
              </a:lnSpc>
            </a:pPr>
            <a:r>
              <a:rPr sz="975" b="0">
                <a:solidFill>
                  <a:srgbClr val="1A1A1A"/>
                </a:solidFill>
                <a:latin typeface="Arial"/>
                <a:ea typeface="Arial"/>
              </a:rPr>
              <a:t>DT19 HBM 조직 축소</a:t>
            </a:r>
          </a:p>
        </p:txBody>
      </p:sp>
      <p:sp>
        <p:nvSpPr>
          <p:cNvPr id="118" name="Right Arrow 117"/>
          <p:cNvSpPr/>
          <p:nvPr/>
        </p:nvSpPr>
        <p:spPr>
          <a:xfrm>
            <a:off x="10719816" y="6199631"/>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1012424" y="6108192"/>
            <a:ext cx="1469136" cy="38404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1049000" y="6108192"/>
            <a:ext cx="1395984" cy="384048"/>
          </a:xfrm>
          <a:prstGeom prst="rect">
            <a:avLst/>
          </a:prstGeom>
          <a:noFill/>
        </p:spPr>
        <p:txBody>
          <a:bodyPr wrap="square" anchor="ctr" lIns="0" rIns="0" tIns="0" bIns="0">
            <a:spAutoFit/>
          </a:bodyPr>
          <a:lstStyle/>
          <a:p>
            <a:pPr algn="ctr">
              <a:lnSpc>
                <a:spcPct val="112000"/>
              </a:lnSpc>
            </a:pPr>
            <a:r>
              <a:rPr sz="975" b="1">
                <a:solidFill>
                  <a:srgbClr val="1A1A1A"/>
                </a:solidFill>
                <a:latin typeface="Arial"/>
                <a:ea typeface="Arial"/>
              </a:rPr>
              <a:t>DT23 주도권 상실</a:t>
            </a:r>
          </a:p>
        </p:txBody>
      </p:sp>
      <p:sp>
        <p:nvSpPr>
          <p:cNvPr id="121" name="Rectangle 120"/>
          <p:cNvSpPr/>
          <p:nvPr/>
        </p:nvSpPr>
        <p:spPr>
          <a:xfrm>
            <a:off x="9177528" y="6638544"/>
            <a:ext cx="1469136"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214104" y="6638544"/>
            <a:ext cx="1395984" cy="384048"/>
          </a:xfrm>
          <a:prstGeom prst="rect">
            <a:avLst/>
          </a:prstGeom>
          <a:noFill/>
        </p:spPr>
        <p:txBody>
          <a:bodyPr wrap="square" anchor="ctr" lIns="0" rIns="0" tIns="0" bIns="0">
            <a:spAutoFit/>
          </a:bodyPr>
          <a:lstStyle/>
          <a:p>
            <a:pPr algn="ctr">
              <a:lnSpc>
                <a:spcPct val="112000"/>
              </a:lnSpc>
            </a:pPr>
            <a:r>
              <a:rPr sz="975" b="1">
                <a:solidFill>
                  <a:srgbClr val="FFFFFF"/>
                </a:solidFill>
                <a:latin typeface="Arial"/>
                <a:ea typeface="Arial"/>
              </a:rPr>
              <a:t>2026 고객 시스템 진입</a:t>
            </a:r>
          </a:p>
        </p:txBody>
      </p:sp>
      <p:sp>
        <p:nvSpPr>
          <p:cNvPr id="123" name="Right Arrow 122"/>
          <p:cNvSpPr/>
          <p:nvPr/>
        </p:nvSpPr>
        <p:spPr>
          <a:xfrm>
            <a:off x="10719816" y="6729983"/>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1012424" y="6638544"/>
            <a:ext cx="1469136"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1049000" y="6638544"/>
            <a:ext cx="1395984" cy="384048"/>
          </a:xfrm>
          <a:prstGeom prst="rect">
            <a:avLst/>
          </a:prstGeom>
          <a:noFill/>
        </p:spPr>
        <p:txBody>
          <a:bodyPr wrap="square" anchor="ctr" lIns="0" rIns="0" tIns="0" bIns="0">
            <a:spAutoFit/>
          </a:bodyPr>
          <a:lstStyle/>
          <a:p>
            <a:pPr algn="ctr">
              <a:lnSpc>
                <a:spcPct val="112000"/>
              </a:lnSpc>
            </a:pPr>
            <a:r>
              <a:rPr sz="975" b="1">
                <a:solidFill>
                  <a:srgbClr val="FFFFFF"/>
                </a:solidFill>
                <a:latin typeface="Arial"/>
                <a:ea typeface="Arial"/>
              </a:rPr>
              <a:t>2027H2 TCO 보증 수익</a:t>
            </a:r>
          </a:p>
        </p:txBody>
      </p:sp>
      <p:sp>
        <p:nvSpPr>
          <p:cNvPr id="126" name="Rectangle 125"/>
          <p:cNvSpPr/>
          <p:nvPr/>
        </p:nvSpPr>
        <p:spPr>
          <a:xfrm>
            <a:off x="9177528" y="7955279"/>
            <a:ext cx="330403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9177528" y="8055863"/>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9177528" y="8055863"/>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129" name="TextBox 128"/>
          <p:cNvSpPr txBox="1"/>
          <p:nvPr/>
        </p:nvSpPr>
        <p:spPr>
          <a:xfrm>
            <a:off x="9488424" y="8037575"/>
            <a:ext cx="2993136" cy="27432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실행  </a:t>
            </a:r>
            <a:r>
              <a:rPr sz="1050" b="0">
                <a:solidFill>
                  <a:srgbClr val="555555"/>
                </a:solidFill>
                <a:latin typeface="Arial"/>
                <a:ea typeface="Arial"/>
              </a:rPr>
              <a:t>FDE · 협약 · 조직</a:t>
            </a:r>
          </a:p>
        </p:txBody>
      </p:sp>
      <p:sp>
        <p:nvSpPr>
          <p:cNvPr id="130" name="Rectangle 129"/>
          <p:cNvSpPr/>
          <p:nvPr/>
        </p:nvSpPr>
        <p:spPr>
          <a:xfrm>
            <a:off x="12993624" y="4151376"/>
            <a:ext cx="4572000" cy="426110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2993624" y="4151376"/>
            <a:ext cx="73152" cy="4261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3267944" y="4297680"/>
            <a:ext cx="4096512"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문제 제기 · 요구의 이동</a:t>
            </a:r>
          </a:p>
        </p:txBody>
      </p:sp>
      <p:sp>
        <p:nvSpPr>
          <p:cNvPr id="133" name="TextBox 132"/>
          <p:cNvSpPr txBox="1"/>
          <p:nvPr/>
        </p:nvSpPr>
        <p:spPr>
          <a:xfrm>
            <a:off x="13267944" y="4572000"/>
            <a:ext cx="4096512" cy="2011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AI 수요가 구매 기준을 추론 캐시 계층으로 옮기고 있습니다</a:t>
            </a:r>
          </a:p>
        </p:txBody>
      </p:sp>
      <p:sp>
        <p:nvSpPr>
          <p:cNvPr id="134" name="Rectangle 133"/>
          <p:cNvSpPr/>
          <p:nvPr/>
        </p:nvSpPr>
        <p:spPr>
          <a:xfrm>
            <a:off x="13267944" y="4828032"/>
            <a:ext cx="4096512"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3377672" y="4855464"/>
            <a:ext cx="1051560" cy="457200"/>
          </a:xfrm>
          <a:prstGeom prst="rect">
            <a:avLst/>
          </a:prstGeom>
          <a:noFill/>
        </p:spPr>
        <p:txBody>
          <a:bodyPr wrap="square" anchor="ctr" lIns="0" rIns="0" tIns="0" bIns="0">
            <a:spAutoFit/>
          </a:bodyPr>
          <a:lstStyle/>
          <a:p>
            <a:pPr algn="l">
              <a:lnSpc>
                <a:spcPct val="100000"/>
              </a:lnSpc>
            </a:pPr>
            <a:r>
              <a:rPr sz="1000" b="1">
                <a:solidFill>
                  <a:srgbClr val="8A8A8A"/>
                </a:solidFill>
                <a:latin typeface="Arial"/>
                <a:ea typeface="Arial"/>
              </a:rPr>
              <a:t>초기 '18~'23</a:t>
            </a:r>
          </a:p>
        </p:txBody>
      </p:sp>
      <p:sp>
        <p:nvSpPr>
          <p:cNvPr id="136" name="TextBox 135"/>
          <p:cNvSpPr txBox="1"/>
          <p:nvPr/>
        </p:nvSpPr>
        <p:spPr>
          <a:xfrm>
            <a:off x="14438376" y="4864608"/>
            <a:ext cx="2852928" cy="237744"/>
          </a:xfrm>
          <a:prstGeom prst="rect">
            <a:avLst/>
          </a:prstGeom>
          <a:noFill/>
        </p:spPr>
        <p:txBody>
          <a:bodyPr wrap="square" anchor="t" lIns="0" rIns="0" tIns="0" bIns="0">
            <a:spAutoFit/>
          </a:bodyPr>
          <a:lstStyle/>
          <a:p>
            <a:pPr algn="l">
              <a:lnSpc>
                <a:spcPct val="112000"/>
              </a:lnSpc>
            </a:pPr>
            <a:r>
              <a:rPr sz="1100" b="1">
                <a:solidFill>
                  <a:srgbClr val="1A1A1A"/>
                </a:solidFill>
                <a:latin typeface="Arial"/>
                <a:ea typeface="Arial"/>
              </a:rPr>
              <a:t>TB당 TCO: 원가 · 랙 밀도</a:t>
            </a:r>
          </a:p>
        </p:txBody>
      </p:sp>
      <p:sp>
        <p:nvSpPr>
          <p:cNvPr id="137" name="TextBox 136"/>
          <p:cNvSpPr txBox="1"/>
          <p:nvPr/>
        </p:nvSpPr>
        <p:spPr>
          <a:xfrm>
            <a:off x="14438376" y="5093208"/>
            <a:ext cx="2852928" cy="237744"/>
          </a:xfrm>
          <a:prstGeom prst="rect">
            <a:avLst/>
          </a:prstGeom>
          <a:noFill/>
        </p:spPr>
        <p:txBody>
          <a:bodyPr wrap="square" anchor="t" lIns="0" rIns="0" tIns="0" bIns="0">
            <a:spAutoFit/>
          </a:bodyPr>
          <a:lstStyle/>
          <a:p>
            <a:pPr algn="l">
              <a:lnSpc>
                <a:spcPct val="112000"/>
              </a:lnSpc>
            </a:pPr>
            <a:r>
              <a:rPr sz="900" b="0">
                <a:solidFill>
                  <a:srgbClr val="555555"/>
                </a:solidFill>
                <a:latin typeface="Arial"/>
                <a:ea typeface="Arial"/>
              </a:rPr>
              <a:t>읽기 중심 · 0.3~0.6 DWPD로 충족 · 61TB</a:t>
            </a:r>
          </a:p>
        </p:txBody>
      </p:sp>
      <p:sp>
        <p:nvSpPr>
          <p:cNvPr id="138" name="Rectangle 137"/>
          <p:cNvSpPr/>
          <p:nvPr/>
        </p:nvSpPr>
        <p:spPr>
          <a:xfrm>
            <a:off x="13267944" y="5394960"/>
            <a:ext cx="4096512"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377672" y="5422392"/>
            <a:ext cx="1051560" cy="457200"/>
          </a:xfrm>
          <a:prstGeom prst="rect">
            <a:avLst/>
          </a:prstGeom>
          <a:noFill/>
        </p:spPr>
        <p:txBody>
          <a:bodyPr wrap="square" anchor="ctr" lIns="0" rIns="0" tIns="0" bIns="0">
            <a:spAutoFit/>
          </a:bodyPr>
          <a:lstStyle/>
          <a:p>
            <a:pPr algn="l">
              <a:lnSpc>
                <a:spcPct val="100000"/>
              </a:lnSpc>
            </a:pPr>
            <a:r>
              <a:rPr sz="1000" b="1">
                <a:solidFill>
                  <a:srgbClr val="8A8A8A"/>
                </a:solidFill>
                <a:latin typeface="Arial"/>
                <a:ea typeface="Arial"/>
              </a:rPr>
              <a:t>현재 '24~'26</a:t>
            </a:r>
          </a:p>
        </p:txBody>
      </p:sp>
      <p:sp>
        <p:nvSpPr>
          <p:cNvPr id="140" name="TextBox 139"/>
          <p:cNvSpPr txBox="1"/>
          <p:nvPr/>
        </p:nvSpPr>
        <p:spPr>
          <a:xfrm>
            <a:off x="14438376" y="5431536"/>
            <a:ext cx="2852928" cy="237744"/>
          </a:xfrm>
          <a:prstGeom prst="rect">
            <a:avLst/>
          </a:prstGeom>
          <a:noFill/>
        </p:spPr>
        <p:txBody>
          <a:bodyPr wrap="square" anchor="t" lIns="0" rIns="0" tIns="0" bIns="0">
            <a:spAutoFit/>
          </a:bodyPr>
          <a:lstStyle/>
          <a:p>
            <a:pPr algn="l">
              <a:lnSpc>
                <a:spcPct val="112000"/>
              </a:lnSpc>
            </a:pPr>
            <a:r>
              <a:rPr sz="1100" b="1">
                <a:solidFill>
                  <a:srgbClr val="1A1A1A"/>
                </a:solidFill>
                <a:latin typeface="Arial"/>
                <a:ea typeface="Arial"/>
              </a:rPr>
              <a:t>TB당 TCO: 전력 · 공급 확보</a:t>
            </a:r>
          </a:p>
        </p:txBody>
      </p:sp>
      <p:sp>
        <p:nvSpPr>
          <p:cNvPr id="141" name="TextBox 140"/>
          <p:cNvSpPr txBox="1"/>
          <p:nvPr/>
        </p:nvSpPr>
        <p:spPr>
          <a:xfrm>
            <a:off x="14438376" y="5660136"/>
            <a:ext cx="2852928" cy="237744"/>
          </a:xfrm>
          <a:prstGeom prst="rect">
            <a:avLst/>
          </a:prstGeom>
          <a:noFill/>
        </p:spPr>
        <p:txBody>
          <a:bodyPr wrap="square" anchor="t" lIns="0" rIns="0" tIns="0" bIns="0">
            <a:spAutoFit/>
          </a:bodyPr>
          <a:lstStyle/>
          <a:p>
            <a:pPr algn="l">
              <a:lnSpc>
                <a:spcPct val="112000"/>
              </a:lnSpc>
            </a:pPr>
            <a:r>
              <a:rPr sz="900" b="0">
                <a:solidFill>
                  <a:srgbClr val="555555"/>
                </a:solidFill>
                <a:latin typeface="Arial"/>
                <a:ea typeface="Arial"/>
              </a:rPr>
              <a:t>읽기 중심 유지 · 쓰기 계층은 TLC · 122~245TB</a:t>
            </a:r>
          </a:p>
        </p:txBody>
      </p:sp>
      <p:sp>
        <p:nvSpPr>
          <p:cNvPr id="142" name="Rectangle 141"/>
          <p:cNvSpPr/>
          <p:nvPr/>
        </p:nvSpPr>
        <p:spPr>
          <a:xfrm>
            <a:off x="13267944" y="5961888"/>
            <a:ext cx="4096512" cy="51206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377672" y="5989320"/>
            <a:ext cx="1051560" cy="457200"/>
          </a:xfrm>
          <a:prstGeom prst="rect">
            <a:avLst/>
          </a:prstGeom>
          <a:noFill/>
        </p:spPr>
        <p:txBody>
          <a:bodyPr wrap="square" anchor="ctr" lIns="0" rIns="0" tIns="0" bIns="0">
            <a:spAutoFit/>
          </a:bodyPr>
          <a:lstStyle/>
          <a:p>
            <a:pPr algn="l">
              <a:lnSpc>
                <a:spcPct val="100000"/>
              </a:lnSpc>
            </a:pPr>
            <a:r>
              <a:rPr sz="1000" b="1">
                <a:solidFill>
                  <a:srgbClr val="1428A0"/>
                </a:solidFill>
                <a:latin typeface="Arial"/>
                <a:ea typeface="Arial"/>
              </a:rPr>
              <a:t>향후 '27~'30</a:t>
            </a:r>
          </a:p>
        </p:txBody>
      </p:sp>
      <p:sp>
        <p:nvSpPr>
          <p:cNvPr id="144" name="TextBox 143"/>
          <p:cNvSpPr txBox="1"/>
          <p:nvPr/>
        </p:nvSpPr>
        <p:spPr>
          <a:xfrm>
            <a:off x="14438376" y="5998464"/>
            <a:ext cx="2852928" cy="237744"/>
          </a:xfrm>
          <a:prstGeom prst="rect">
            <a:avLst/>
          </a:prstGeom>
          <a:noFill/>
        </p:spPr>
        <p:txBody>
          <a:bodyPr wrap="square" anchor="t" lIns="0" rIns="0" tIns="0" bIns="0">
            <a:spAutoFit/>
          </a:bodyPr>
          <a:lstStyle/>
          <a:p>
            <a:pPr algn="l">
              <a:lnSpc>
                <a:spcPct val="112000"/>
              </a:lnSpc>
            </a:pPr>
            <a:r>
              <a:rPr sz="1100" b="1">
                <a:solidFill>
                  <a:srgbClr val="1A1A1A"/>
                </a:solidFill>
                <a:latin typeface="Arial"/>
                <a:ea typeface="Arial"/>
              </a:rPr>
              <a:t>GPU당 컨텍스트 용량 · 토큰당 비용</a:t>
            </a:r>
          </a:p>
        </p:txBody>
      </p:sp>
      <p:sp>
        <p:nvSpPr>
          <p:cNvPr id="145" name="TextBox 144"/>
          <p:cNvSpPr txBox="1"/>
          <p:nvPr/>
        </p:nvSpPr>
        <p:spPr>
          <a:xfrm>
            <a:off x="14438376" y="6227064"/>
            <a:ext cx="2852928" cy="237744"/>
          </a:xfrm>
          <a:prstGeom prst="rect">
            <a:avLst/>
          </a:prstGeom>
          <a:noFill/>
        </p:spPr>
        <p:txBody>
          <a:bodyPr wrap="square" anchor="t" lIns="0" rIns="0" tIns="0" bIns="0">
            <a:spAutoFit/>
          </a:bodyPr>
          <a:lstStyle/>
          <a:p>
            <a:pPr algn="l">
              <a:lnSpc>
                <a:spcPct val="112000"/>
              </a:lnSpc>
            </a:pPr>
            <a:r>
              <a:rPr sz="900" b="0">
                <a:solidFill>
                  <a:srgbClr val="555555"/>
                </a:solidFill>
                <a:latin typeface="Arial"/>
                <a:ea typeface="Arial"/>
              </a:rPr>
              <a:t>KV 캐시 SSD 오프로드 · 쓰기 집약 → 1~3 DWPD</a:t>
            </a:r>
          </a:p>
        </p:txBody>
      </p:sp>
      <p:sp>
        <p:nvSpPr>
          <p:cNvPr id="146" name="TextBox 145"/>
          <p:cNvSpPr txBox="1"/>
          <p:nvPr/>
        </p:nvSpPr>
        <p:spPr>
          <a:xfrm>
            <a:off x="13267944" y="6547104"/>
            <a:ext cx="1304544" cy="329184"/>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10배</a:t>
            </a:r>
          </a:p>
        </p:txBody>
      </p:sp>
      <p:sp>
        <p:nvSpPr>
          <p:cNvPr id="147" name="TextBox 146"/>
          <p:cNvSpPr txBox="1"/>
          <p:nvPr/>
        </p:nvSpPr>
        <p:spPr>
          <a:xfrm>
            <a:off x="13267944" y="6876288"/>
            <a:ext cx="1304544" cy="329184"/>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QLC 비트</a:t>
            </a:r>
          </a:p>
          <a:p>
            <a:pPr algn="l">
              <a:lnSpc>
                <a:spcPct val="100000"/>
              </a:lnSpc>
            </a:pPr>
            <a:r>
              <a:rPr sz="875" b="0">
                <a:solidFill>
                  <a:srgbClr val="555555"/>
                </a:solidFill>
                <a:latin typeface="Arial"/>
                <a:ea typeface="Arial"/>
              </a:rPr>
              <a:t>'25 → '30</a:t>
            </a:r>
          </a:p>
        </p:txBody>
      </p:sp>
      <p:sp>
        <p:nvSpPr>
          <p:cNvPr id="148" name="TextBox 147"/>
          <p:cNvSpPr txBox="1"/>
          <p:nvPr/>
        </p:nvSpPr>
        <p:spPr>
          <a:xfrm>
            <a:off x="14663928" y="6547104"/>
            <a:ext cx="1304544" cy="329184"/>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350EB</a:t>
            </a:r>
          </a:p>
        </p:txBody>
      </p:sp>
      <p:sp>
        <p:nvSpPr>
          <p:cNvPr id="149" name="TextBox 148"/>
          <p:cNvSpPr txBox="1"/>
          <p:nvPr/>
        </p:nvSpPr>
        <p:spPr>
          <a:xfrm>
            <a:off x="14663928" y="6876288"/>
            <a:ext cx="1304544" cy="329184"/>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2030 추론 캐시</a:t>
            </a:r>
          </a:p>
          <a:p>
            <a:pPr algn="l">
              <a:lnSpc>
                <a:spcPct val="100000"/>
              </a:lnSpc>
            </a:pPr>
            <a:r>
              <a:rPr sz="875" b="0">
                <a:solidFill>
                  <a:srgbClr val="555555"/>
                </a:solidFill>
                <a:latin typeface="Arial"/>
                <a:ea typeface="Arial"/>
              </a:rPr>
              <a:t>계층 수요</a:t>
            </a:r>
          </a:p>
        </p:txBody>
      </p:sp>
      <p:sp>
        <p:nvSpPr>
          <p:cNvPr id="150" name="TextBox 149"/>
          <p:cNvSpPr txBox="1"/>
          <p:nvPr/>
        </p:nvSpPr>
        <p:spPr>
          <a:xfrm>
            <a:off x="16059912" y="6547104"/>
            <a:ext cx="1304544" cy="329184"/>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10~40배</a:t>
            </a:r>
          </a:p>
        </p:txBody>
      </p:sp>
      <p:sp>
        <p:nvSpPr>
          <p:cNvPr id="151" name="TextBox 150"/>
          <p:cNvSpPr txBox="1"/>
          <p:nvPr/>
        </p:nvSpPr>
        <p:spPr>
          <a:xfrm>
            <a:off x="16059912" y="6876288"/>
            <a:ext cx="1304544" cy="329184"/>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요구 1~3 vs QLC</a:t>
            </a:r>
          </a:p>
          <a:p>
            <a:pPr algn="l">
              <a:lnSpc>
                <a:spcPct val="100000"/>
              </a:lnSpc>
            </a:pPr>
            <a:r>
              <a:rPr sz="875" b="0">
                <a:solidFill>
                  <a:srgbClr val="555555"/>
                </a:solidFill>
                <a:latin typeface="Arial"/>
                <a:ea typeface="Arial"/>
              </a:rPr>
              <a:t>정격 0.075~0.6 DWPD</a:t>
            </a:r>
          </a:p>
        </p:txBody>
      </p:sp>
      <p:sp>
        <p:nvSpPr>
          <p:cNvPr id="152" name="Rectangle 151"/>
          <p:cNvSpPr/>
          <p:nvPr/>
        </p:nvSpPr>
        <p:spPr>
          <a:xfrm>
            <a:off x="13267944" y="7242048"/>
            <a:ext cx="40965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3267944" y="7296912"/>
            <a:ext cx="4096512" cy="402336"/>
          </a:xfrm>
          <a:prstGeom prst="rect">
            <a:avLst/>
          </a:prstGeom>
          <a:noFill/>
        </p:spPr>
        <p:txBody>
          <a:bodyPr wrap="square" anchor="t" lIns="0" rIns="0" tIns="0" bIns="0">
            <a:spAutoFit/>
          </a:bodyPr>
          <a:lstStyle/>
          <a:p>
            <a:pPr algn="l">
              <a:lnSpc>
                <a:spcPct val="102000"/>
              </a:lnSpc>
            </a:pPr>
            <a:r>
              <a:rPr sz="1125" b="1">
                <a:solidFill>
                  <a:srgbClr val="1428A0"/>
                </a:solidFill>
                <a:latin typeface="Arial"/>
                <a:ea typeface="Arial"/>
              </a:rPr>
              <a:t>대용량 QLC로 1~3 DWPD를 충족할 해법이 필요합니다</a:t>
            </a:r>
          </a:p>
          <a:p>
            <a:pPr algn="l">
              <a:lnSpc>
                <a:spcPct val="102000"/>
              </a:lnSpc>
            </a:pPr>
            <a:r>
              <a:rPr sz="950" b="0">
                <a:solidFill>
                  <a:srgbClr val="555555"/>
                </a:solidFill>
                <a:latin typeface="Arial"/>
                <a:ea typeface="Arial"/>
              </a:rPr>
              <a:t>정격 QLC 0.075~0.6 DWPD로는 격차 10~40배 → 2장 해법 사다리</a:t>
            </a:r>
          </a:p>
        </p:txBody>
      </p:sp>
      <p:sp>
        <p:nvSpPr>
          <p:cNvPr id="154" name="Rectangle 153"/>
          <p:cNvSpPr/>
          <p:nvPr/>
        </p:nvSpPr>
        <p:spPr>
          <a:xfrm>
            <a:off x="13267944" y="7790688"/>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3469112" y="7790688"/>
            <a:ext cx="3895344" cy="548640"/>
          </a:xfrm>
          <a:prstGeom prst="rect">
            <a:avLst/>
          </a:prstGeom>
          <a:noFill/>
        </p:spPr>
        <p:txBody>
          <a:bodyPr wrap="square" anchor="ctr" lIns="0" rIns="0" tIns="0" bIns="0">
            <a:spAutoFit/>
          </a:bodyPr>
          <a:lstStyle/>
          <a:p>
            <a:pPr algn="l">
              <a:lnSpc>
                <a:spcPct val="106000"/>
              </a:lnSpc>
            </a:pPr>
            <a:r>
              <a:rPr sz="92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775" b="0">
                <a:solidFill>
                  <a:srgbClr val="8A8A8A"/>
                </a:solidFill>
                <a:latin typeface="Arial"/>
                <a:ea typeface="Arial"/>
              </a:rPr>
              <a:t>송용호 AX/PI센터장 · 사내 인터뷰 2026-09-03</a:t>
            </a:r>
          </a:p>
        </p:txBody>
      </p:sp>
      <p:sp>
        <p:nvSpPr>
          <p:cNvPr id="156" name="Rectangle 15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58" name="TextBox 157"/>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다운턴 국면에서 고객 규격·코드로 정의됐고, 정의에 참여한 공급자가 선점했습니다.</a:t>
            </a:r>
          </a:p>
          <a:p>
            <a:pPr algn="l">
              <a:lnSpc>
                <a:spcPct val="108000"/>
              </a:lnSpc>
            </a:pPr>
            <a:r>
              <a:rPr sz="1650" b="1">
                <a:solidFill>
                  <a:srgbClr val="FFFFFF"/>
                </a:solidFill>
                <a:latin typeface="Arial"/>
                <a:ea typeface="Arial"/>
              </a:rPr>
              <a:t>차기 요구는 추론 캐시 계층의 대용량·1~3 DWPD이며, QLC 정격 0.075~0.6으로는 충족되지 않습니다</a:t>
            </a:r>
          </a:p>
        </p:txBody>
      </p:sp>
      <p:sp>
        <p:nvSpPr>
          <p:cNvPr id="159" name="Rectangle 158"/>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해법 사다리 · 왜 호스트 협력인가</a:t>
            </a:r>
          </a:p>
        </p:txBody>
      </p:sp>
      <p:sp>
        <p:nvSpPr>
          <p:cNvPr id="162" name="TextBox 16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fdp-host-ssd-platform §2.5(Solidigm 61TB), QLC 연혁 소스(배치 표준 비준·30EB), GitHub README(캐시 관리자 4종), TrendForce·SanDisk FMS 2026·Meta(수요 모델, 2026~2030 추정), StorageReview(DWPD)</a:t>
            </a:r>
          </a:p>
        </p:txBody>
      </p:sp>
      <p:sp>
        <p:nvSpPr>
          <p:cNvPr id="163" name="TextBox 16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교훈 · 문제  </a:t>
            </a:r>
            <a:r>
              <a:rPr sz="1200" b="0">
                <a:solidFill>
                  <a:srgbClr val="555555"/>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QLC의 DWPD는 호스트 공동 설계로만 충족됩니다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내구성 축과 신뢰성 축 모두 같은 구조입니다. SSD 단독 최적화는 QoS·성능은 개선했으나 WAF는 낮추지 못했습니다.</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26" name="TextBox 25"/>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27" name="Rectangle 26"/>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29" name="TextBox 28"/>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0" name="Right Arrow 29"/>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33" name="TextBox 32"/>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34" name="Right Arrow 33"/>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37" name="TextBox 36"/>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3~4장)</a:t>
            </a:r>
          </a:p>
        </p:txBody>
      </p:sp>
      <p:sp>
        <p:nvSpPr>
          <p:cNvPr id="38" name="TextBox 37"/>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39" name="Rectangle 38"/>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1" name="Rectangle 40"/>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43" name="TextBox 42"/>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44" name="TextBox 43"/>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5" name="Rectangle 44"/>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47" name="TextBox 46"/>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48" name="TextBox 47"/>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9" name="Rectangle 48"/>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1" name="TextBox 50"/>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52" name="TextBox 51"/>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55" name="TextBox 54"/>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56" name="TextBox 55"/>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59" name="TextBox 58"/>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0" name="Rectangle 59"/>
          <p:cNvSpPr/>
          <p:nvPr/>
        </p:nvSpPr>
        <p:spPr>
          <a:xfrm>
            <a:off x="722376" y="3730752"/>
            <a:ext cx="1188720" cy="25054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2376" y="3730752"/>
            <a:ext cx="54864" cy="2505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63" name="TextBox 62"/>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64" name="Rectangle 63"/>
          <p:cNvSpPr/>
          <p:nvPr/>
        </p:nvSpPr>
        <p:spPr>
          <a:xfrm>
            <a:off x="722376" y="6345936"/>
            <a:ext cx="1188720"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22376" y="6345936"/>
            <a:ext cx="54864"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6968" y="6492240"/>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신뢰성 축</a:t>
            </a:r>
          </a:p>
        </p:txBody>
      </p:sp>
      <p:sp>
        <p:nvSpPr>
          <p:cNvPr id="67" name="TextBox 66"/>
          <p:cNvSpPr txBox="1"/>
          <p:nvPr/>
        </p:nvSpPr>
        <p:spPr>
          <a:xfrm>
            <a:off x="886968" y="6803136"/>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다이 수</a:t>
            </a:r>
          </a:p>
          <a:p>
            <a:pPr algn="l">
              <a:lnSpc>
                <a:spcPct val="100000"/>
              </a:lnSpc>
            </a:pPr>
            <a:r>
              <a:rPr sz="975" b="0">
                <a:solidFill>
                  <a:srgbClr val="555555"/>
                </a:solidFill>
                <a:latin typeface="Arial"/>
                <a:ea typeface="Arial"/>
              </a:rPr>
              <a:t>다이 고장률</a:t>
            </a:r>
          </a:p>
        </p:txBody>
      </p:sp>
      <p:sp>
        <p:nvSpPr>
          <p:cNvPr id="68" name="Rectangle 67"/>
          <p:cNvSpPr/>
          <p:nvPr/>
        </p:nvSpPr>
        <p:spPr>
          <a:xfrm>
            <a:off x="2039112" y="3730752"/>
            <a:ext cx="3675888" cy="25054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0" name="TextBox 69"/>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1" name="TextBox 70"/>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72" name="Rectangle 71"/>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4" name="TextBox 73"/>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75" name="TextBox 74"/>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76" name="Rectangle 75"/>
          <p:cNvSpPr/>
          <p:nvPr/>
        </p:nvSpPr>
        <p:spPr>
          <a:xfrm>
            <a:off x="5989320"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78" name="TextBox 77"/>
          <p:cNvSpPr txBox="1"/>
          <p:nvPr/>
        </p:nvSpPr>
        <p:spPr>
          <a:xfrm>
            <a:off x="6117336" y="58521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79" name="Rectangle 78"/>
          <p:cNvSpPr/>
          <p:nvPr/>
        </p:nvSpPr>
        <p:spPr>
          <a:xfrm>
            <a:off x="9939528"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83" name="TextBox 82"/>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84" name="TextBox 83"/>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85" name="TextBox 84"/>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86" name="Rectangle 85"/>
          <p:cNvSpPr/>
          <p:nvPr/>
        </p:nvSpPr>
        <p:spPr>
          <a:xfrm>
            <a:off x="10030968" y="4571999"/>
            <a:ext cx="3493008" cy="15727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88" name="TextBox 87"/>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DWPD 요구 미충족</a:t>
            </a:r>
          </a:p>
        </p:txBody>
      </p:sp>
      <p:sp>
        <p:nvSpPr>
          <p:cNvPr id="89" name="TextBox 88"/>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90" name="TextBox 89"/>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91" name="Picture 90"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92" name="Rectangle 91"/>
          <p:cNvSpPr/>
          <p:nvPr/>
        </p:nvSpPr>
        <p:spPr>
          <a:xfrm>
            <a:off x="13889736" y="3730752"/>
            <a:ext cx="3675888" cy="25054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4017752" y="3840480"/>
            <a:ext cx="23774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시스템 공동 설계 (2022~)</a:t>
            </a:r>
          </a:p>
        </p:txBody>
      </p:sp>
      <p:sp>
        <p:nvSpPr>
          <p:cNvPr id="94" name="TextBox 93"/>
          <p:cNvSpPr txBox="1"/>
          <p:nvPr/>
        </p:nvSpPr>
        <p:spPr>
          <a:xfrm>
            <a:off x="16157448" y="3840480"/>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DWPD 요구 충족</a:t>
            </a:r>
          </a:p>
        </p:txBody>
      </p:sp>
      <p:sp>
        <p:nvSpPr>
          <p:cNvPr id="95" name="TextBox 94"/>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3.2 → 1.0</a:t>
            </a:r>
          </a:p>
        </p:txBody>
      </p:sp>
      <p:sp>
        <p:nvSpPr>
          <p:cNvPr id="96" name="TextBox 95"/>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FDE·SCA 공동 설계 = 본 덱 3~4장</a:t>
            </a:r>
          </a:p>
        </p:txBody>
      </p:sp>
      <p:pic>
        <p:nvPicPr>
          <p:cNvPr id="97" name="Picture 96"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98" name="TextBox 97"/>
          <p:cNvSpPr txBox="1"/>
          <p:nvPr/>
        </p:nvSpPr>
        <p:spPr>
          <a:xfrm>
            <a:off x="14017752" y="58704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QLC로 요구 DWPD를 충족하는 유일한 경로 · 산식의 귀결</a:t>
            </a:r>
          </a:p>
        </p:txBody>
      </p:sp>
      <p:sp>
        <p:nvSpPr>
          <p:cNvPr id="99" name="Rectangle 98"/>
          <p:cNvSpPr/>
          <p:nvPr/>
        </p:nvSpPr>
        <p:spPr>
          <a:xfrm>
            <a:off x="2039112" y="6345936"/>
            <a:ext cx="3675888" cy="21396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167128" y="6473952"/>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기능 고장률 요구 · JESD218</a:t>
            </a:r>
          </a:p>
        </p:txBody>
      </p:sp>
      <p:sp>
        <p:nvSpPr>
          <p:cNvPr id="101" name="TextBox 100"/>
          <p:cNvSpPr txBox="1"/>
          <p:nvPr/>
        </p:nvSpPr>
        <p:spPr>
          <a:xfrm>
            <a:off x="2167128" y="6711696"/>
            <a:ext cx="3419856" cy="548640"/>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FFR ≤ 3%</a:t>
            </a:r>
          </a:p>
        </p:txBody>
      </p:sp>
      <p:sp>
        <p:nvSpPr>
          <p:cNvPr id="102" name="TextBox 101"/>
          <p:cNvSpPr txBox="1"/>
          <p:nvPr/>
        </p:nvSpPr>
        <p:spPr>
          <a:xfrm>
            <a:off x="2167128" y="7333488"/>
            <a:ext cx="3419856" cy="822960"/>
          </a:xfrm>
          <a:prstGeom prst="rect">
            <a:avLst/>
          </a:prstGeom>
          <a:noFill/>
        </p:spPr>
        <p:txBody>
          <a:bodyPr wrap="square" anchor="t" lIns="0" rIns="0" tIns="0" bIns="0">
            <a:spAutoFit/>
          </a:bodyPr>
          <a:lstStyle/>
          <a:p>
            <a:pPr algn="l">
              <a:lnSpc>
                <a:spcPct val="106000"/>
              </a:lnSpc>
            </a:pPr>
            <a:r>
              <a:rPr sz="975" b="0">
                <a:solidFill>
                  <a:srgbClr val="555555"/>
                </a:solidFill>
                <a:latin typeface="Arial"/>
                <a:ea typeface="Arial"/>
              </a:rPr>
              <a:t>클라이언트 · 엔터프라이즈 공통 · 고정</a:t>
            </a:r>
          </a:p>
          <a:p>
            <a:pPr algn="l">
              <a:lnSpc>
                <a:spcPct val="106000"/>
              </a:lnSpc>
            </a:pPr>
            <a:r>
              <a:rPr sz="975" b="1">
                <a:solidFill>
                  <a:srgbClr val="1A1A1A"/>
                </a:solidFill>
                <a:latin typeface="Arial"/>
                <a:ea typeface="Arial"/>
              </a:rPr>
              <a:t>보호 없는 SSD 고장률 ≈ N × 다이 고장률</a:t>
            </a:r>
          </a:p>
          <a:p>
            <a:pPr algn="l">
              <a:lnSpc>
                <a:spcPct val="106000"/>
              </a:lnSpc>
            </a:pPr>
            <a:r>
              <a:rPr sz="900" b="0">
                <a:solidFill>
                  <a:srgbClr val="555555"/>
                </a:solidFill>
                <a:latin typeface="Arial"/>
                <a:ea typeface="Arial"/>
              </a:rPr>
              <a:t>칩 면적이 클수록 수율이 떨어지는 것과 같은 구조</a:t>
            </a:r>
          </a:p>
        </p:txBody>
      </p:sp>
      <p:sp>
        <p:nvSpPr>
          <p:cNvPr id="103" name="Rectangle 102"/>
          <p:cNvSpPr/>
          <p:nvPr/>
        </p:nvSpPr>
        <p:spPr>
          <a:xfrm>
            <a:off x="5989320" y="6345936"/>
            <a:ext cx="367588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4" name="Picture 103" descr="ladder_cell_dies.png"/>
          <p:cNvPicPr>
            <a:picLocks noChangeAspect="1"/>
          </p:cNvPicPr>
          <p:nvPr/>
        </p:nvPicPr>
        <p:blipFill>
          <a:blip r:embed="rId5"/>
          <a:stretch>
            <a:fillRect/>
          </a:stretch>
        </p:blipFill>
        <p:spPr>
          <a:xfrm>
            <a:off x="6080760" y="6437376"/>
            <a:ext cx="3493008" cy="1433352"/>
          </a:xfrm>
          <a:prstGeom prst="rect">
            <a:avLst/>
          </a:prstGeom>
        </p:spPr>
      </p:pic>
      <p:sp>
        <p:nvSpPr>
          <p:cNvPr id="105" name="TextBox 104"/>
          <p:cNvSpPr txBox="1"/>
          <p:nvPr/>
        </p:nvSpPr>
        <p:spPr>
          <a:xfrm>
            <a:off x="6117336" y="8010144"/>
            <a:ext cx="3419856" cy="42062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다이 수 8배 ↑ → 같은 FFR을 지키려면 다이 고장률 8배 ↓ 또는 다이 고장 허용 필요 · 다이 고장률 개선은 기술적 한계</a:t>
            </a:r>
          </a:p>
        </p:txBody>
      </p:sp>
      <p:sp>
        <p:nvSpPr>
          <p:cNvPr id="106" name="Rectangle 105"/>
          <p:cNvSpPr/>
          <p:nvPr/>
        </p:nvSpPr>
        <p:spPr>
          <a:xfrm>
            <a:off x="9939528" y="6345936"/>
            <a:ext cx="3675888" cy="21396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067544" y="6455664"/>
            <a:ext cx="237744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현재 해법 · SSD 내부</a:t>
            </a:r>
          </a:p>
        </p:txBody>
      </p:sp>
      <p:sp>
        <p:nvSpPr>
          <p:cNvPr id="108" name="TextBox 107"/>
          <p:cNvSpPr txBox="1"/>
          <p:nvPr/>
        </p:nvSpPr>
        <p:spPr>
          <a:xfrm>
            <a:off x="12207240" y="6455664"/>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오버헤드 ↑</a:t>
            </a:r>
          </a:p>
        </p:txBody>
      </p:sp>
      <p:sp>
        <p:nvSpPr>
          <p:cNvPr id="109" name="TextBox 108"/>
          <p:cNvSpPr txBox="1"/>
          <p:nvPr/>
        </p:nvSpPr>
        <p:spPr>
          <a:xfrm>
            <a:off x="10067544"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다이 RAID · 여분 다이 · 다이 은퇴</a:t>
            </a:r>
          </a:p>
        </p:txBody>
      </p:sp>
      <p:sp>
        <p:nvSpPr>
          <p:cNvPr id="110" name="Rectangle 109"/>
          <p:cNvSpPr/>
          <p:nvPr/>
        </p:nvSpPr>
        <p:spPr>
          <a:xfrm>
            <a:off x="10067544" y="70774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0268712"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다이 패리티  </a:t>
            </a:r>
            <a:r>
              <a:rPr sz="900" b="0">
                <a:solidFill>
                  <a:srgbClr val="555555"/>
                </a:solidFill>
                <a:latin typeface="Arial"/>
                <a:ea typeface="Arial"/>
              </a:rPr>
              <a:t>슈퍼페이지 XOR 패리티 다이 (Micron RAIN)</a:t>
            </a:r>
          </a:p>
        </p:txBody>
      </p:sp>
      <p:sp>
        <p:nvSpPr>
          <p:cNvPr id="112" name="Rectangle 111"/>
          <p:cNvSpPr/>
          <p:nvPr/>
        </p:nvSpPr>
        <p:spPr>
          <a:xfrm>
            <a:off x="10067544" y="75346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268712"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여분 다이 · 은퇴  </a:t>
            </a:r>
            <a:r>
              <a:rPr sz="900" b="0">
                <a:solidFill>
                  <a:srgbClr val="555555"/>
                </a:solidFill>
                <a:latin typeface="Arial"/>
                <a:ea typeface="Arial"/>
              </a:rPr>
              <a:t>삼성 Fail-in-Place(PM1733): 고장 다이 제외, 4~8GB 감량 운영</a:t>
            </a:r>
          </a:p>
        </p:txBody>
      </p:sp>
      <p:sp>
        <p:nvSpPr>
          <p:cNvPr id="114" name="Rectangle 113"/>
          <p:cNvSpPr/>
          <p:nvPr/>
        </p:nvSpPr>
        <p:spPr>
          <a:xfrm>
            <a:off x="10067544" y="79918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268712"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비용  </a:t>
            </a:r>
            <a:r>
              <a:rPr sz="900" b="0">
                <a:solidFill>
                  <a:srgbClr val="555555"/>
                </a:solidFill>
                <a:latin typeface="Arial"/>
                <a:ea typeface="Arial"/>
              </a:rPr>
              <a:t>패리티 · 예비 용량 오버헤드가 다이 수와 함께 증가</a:t>
            </a:r>
          </a:p>
        </p:txBody>
      </p:sp>
      <p:sp>
        <p:nvSpPr>
          <p:cNvPr id="116" name="Rectangle 115"/>
          <p:cNvSpPr/>
          <p:nvPr/>
        </p:nvSpPr>
        <p:spPr>
          <a:xfrm>
            <a:off x="13889736" y="6345936"/>
            <a:ext cx="3675888" cy="2139696"/>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4017752" y="6455664"/>
            <a:ext cx="2377440" cy="182880"/>
          </a:xfrm>
          <a:prstGeom prst="rect">
            <a:avLst/>
          </a:prstGeom>
          <a:noFill/>
        </p:spPr>
        <p:txBody>
          <a:bodyPr wrap="square" anchor="t" lIns="0" rIns="0" tIns="0" bIns="0">
            <a:spAutoFit/>
          </a:bodyPr>
          <a:lstStyle/>
          <a:p>
            <a:pPr algn="l">
              <a:lnSpc>
                <a:spcPct val="112000"/>
              </a:lnSpc>
            </a:pPr>
            <a:r>
              <a:rPr sz="975" b="0">
                <a:solidFill>
                  <a:srgbClr val="1428A0"/>
                </a:solidFill>
                <a:latin typeface="Arial"/>
                <a:ea typeface="Arial"/>
              </a:rPr>
              <a:t>SSD 단독 한계 시 · 상위 계층</a:t>
            </a:r>
          </a:p>
        </p:txBody>
      </p:sp>
      <p:sp>
        <p:nvSpPr>
          <p:cNvPr id="118" name="TextBox 117"/>
          <p:cNvSpPr txBox="1"/>
          <p:nvPr/>
        </p:nvSpPr>
        <p:spPr>
          <a:xfrm>
            <a:off x="16157448" y="6455664"/>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준비 중</a:t>
            </a:r>
          </a:p>
        </p:txBody>
      </p:sp>
      <p:sp>
        <p:nvSpPr>
          <p:cNvPr id="119" name="TextBox 118"/>
          <p:cNvSpPr txBox="1"/>
          <p:nvPr/>
        </p:nvSpPr>
        <p:spPr>
          <a:xfrm>
            <a:off x="14017752"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감량 운영 수용 · 호스트 소거 부호</a:t>
            </a:r>
          </a:p>
        </p:txBody>
      </p:sp>
      <p:sp>
        <p:nvSpPr>
          <p:cNvPr id="120" name="Oval 119"/>
          <p:cNvSpPr/>
          <p:nvPr/>
        </p:nvSpPr>
        <p:spPr>
          <a:xfrm>
            <a:off x="14017752" y="70774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218920"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호스트 관측  </a:t>
            </a:r>
            <a:r>
              <a:rPr sz="900" b="0">
                <a:solidFill>
                  <a:srgbClr val="555555"/>
                </a:solidFill>
                <a:latin typeface="Arial"/>
                <a:ea typeface="Arial"/>
              </a:rPr>
              <a:t>OCP SMART XOR 복구 카운트로 다이 복구 이벤트를 하이퍼스케일러가 감시</a:t>
            </a:r>
          </a:p>
        </p:txBody>
      </p:sp>
      <p:sp>
        <p:nvSpPr>
          <p:cNvPr id="122" name="Oval 121"/>
          <p:cNvSpPr/>
          <p:nvPr/>
        </p:nvSpPr>
        <p:spPr>
          <a:xfrm>
            <a:off x="14017752" y="75346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4218920"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플랫폼 수용  </a:t>
            </a:r>
            <a:r>
              <a:rPr sz="900" b="0">
                <a:solidFill>
                  <a:srgbClr val="555555"/>
                </a:solidFill>
                <a:latin typeface="Arial"/>
                <a:ea typeface="Arial"/>
              </a:rPr>
              <a:t>고장 부품의 감량 운영을 스케줄러가 흡수 (Microsoft Hyrax, 수리 -50~60%)</a:t>
            </a:r>
          </a:p>
        </p:txBody>
      </p:sp>
      <p:sp>
        <p:nvSpPr>
          <p:cNvPr id="124" name="Oval 123"/>
          <p:cNvSpPr/>
          <p:nvPr/>
        </p:nvSpPr>
        <p:spPr>
          <a:xfrm>
            <a:off x="14017752" y="79918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218920"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드라이브 간  </a:t>
            </a:r>
            <a:r>
              <a:rPr sz="900" b="0">
                <a:solidFill>
                  <a:srgbClr val="555555"/>
                </a:solidFill>
                <a:latin typeface="Arial"/>
                <a:ea typeface="Arial"/>
              </a:rPr>
              <a:t>소거 부호 · 복제가 SSD 단위 고장을 이미 흡수</a:t>
            </a:r>
          </a:p>
        </p:txBody>
      </p:sp>
      <p:sp>
        <p:nvSpPr>
          <p:cNvPr id="126" name="Rectangle 12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8" name="TextBox 127"/>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29" name="Rectangle 128"/>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역량 · 어떻게 해소하는가</a:t>
            </a:r>
          </a:p>
        </p:txBody>
      </p:sp>
      <p:sp>
        <p:nvSpPr>
          <p:cNvPr id="132" name="TextBox 13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33" name="TextBox 13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교훈 · 문제  </a:t>
            </a:r>
            <a:r>
              <a:rPr sz="1200" b="0">
                <a:solidFill>
                  <a:srgbClr val="555555"/>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 격차는 호스트 배치(WAF)로 해소되므로, 고객 시스템까지 3단계로 역량을 확장합니다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2560320"/>
            <a:ext cx="17830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26" name="TextBox 25"/>
          <p:cNvSpPr txBox="1"/>
          <p:nvPr/>
        </p:nvSpPr>
        <p:spPr>
          <a:xfrm>
            <a:off x="2871216" y="2560320"/>
            <a:ext cx="17007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QLC 0.075~0.6 vs TLC 1~3 DWPD</a:t>
            </a:r>
          </a:p>
        </p:txBody>
      </p:sp>
      <p:sp>
        <p:nvSpPr>
          <p:cNvPr id="27" name="Rectangle 26"/>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29" name="TextBox 28"/>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0" name="Rectangle 29"/>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32" name="TextBox 31"/>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33" name="Rectangle 32"/>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789152" y="2560320"/>
            <a:ext cx="20574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35" name="TextBox 34"/>
          <p:cNvSpPr txBox="1"/>
          <p:nvPr/>
        </p:nvSpPr>
        <p:spPr>
          <a:xfrm>
            <a:off x="15956280" y="2560320"/>
            <a:ext cx="14264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배치 표준 WAF 실측</a:t>
            </a:r>
          </a:p>
        </p:txBody>
      </p:sp>
      <p:sp>
        <p:nvSpPr>
          <p:cNvPr id="36" name="Rectangle 35"/>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38" name="Rectangle 37"/>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0" name="Rectangle 39"/>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42" name="Rectangle 41"/>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44" name="Rectangle 43"/>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46" name="Rectangle 45"/>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48" name="Rectangle 47"/>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0" name="Rectangle 49"/>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52" name="Rectangle 51"/>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54" name="TextBox 53"/>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55" name="Rectangle 54"/>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57" name="Rectangle 56"/>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9" name="Rectangle 58"/>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1" name="Rectangle 60"/>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63" name="Rectangle 62"/>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65" name="Rectangle 64"/>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67" name="Down Arrow 66"/>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Up Arrow 67"/>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0" name="TextBox 69"/>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1" name="TextBox 70"/>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72" name="Rectangle 71"/>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74" name="Rectangle 73"/>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76" name="Rectangle 75"/>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78" name="Rectangle 77"/>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0" name="Rectangle 79"/>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82" name="Rectangle 81"/>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84" name="Oval 83"/>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 Same Side Corner Rectangle 84"/>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87" name="TextBox 86"/>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88" name="TextBox 87"/>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89" name="TextBox 88"/>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0" name="Rectangle 89"/>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2376" y="8229600"/>
            <a:ext cx="54132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437376" y="8229600"/>
            <a:ext cx="151570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sosceles Triangle 94"/>
          <p:cNvSpPr/>
          <p:nvPr/>
        </p:nvSpPr>
        <p:spPr>
          <a:xfrm>
            <a:off x="7834213"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154253" y="8357616"/>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 확보(CMX 첫 공급) · 워크로드 실측 미공개 · 캐시 관리자 4종 기여 0건</a:t>
            </a:r>
          </a:p>
        </p:txBody>
      </p:sp>
      <p:sp>
        <p:nvSpPr>
          <p:cNvPr id="97" name="Rectangle 96"/>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99" name="TextBox 98"/>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확보·2단계 진입 상태이며, 3단계 진입 수단이 다음 장입니다</a:t>
            </a:r>
          </a:p>
        </p:txBody>
      </p:sp>
      <p:sp>
        <p:nvSpPr>
          <p:cNvPr id="100" name="Rectangle 99"/>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실행 · 누가 어떻게 실행하는가</a:t>
            </a:r>
          </a:p>
        </p:txBody>
      </p:sp>
      <p:sp>
        <p:nvSpPr>
          <p:cNvPr id="103" name="TextBox 1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04" name="TextBox 1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교훈 · 문제  </a:t>
            </a:r>
            <a:r>
              <a:rPr sz="1200" b="0">
                <a:solidFill>
                  <a:srgbClr val="555555"/>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 시스템 진입 수단은 FDE 상주와 전략적 협약(SCA)이며, 두 수단 모두 업계 선례가 있습니다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26" name="TextBox 25"/>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27" name="Rectangle 26"/>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29" name="Rectangle 28"/>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31" name="Rectangle 30"/>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33" name="Rectangle 32"/>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35" name="Rectangle 34"/>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고객 관계 = 워크로드 접근권</a:t>
            </a:r>
          </a:p>
        </p:txBody>
      </p:sp>
      <p:sp>
        <p:nvSpPr>
          <p:cNvPr id="38" name="Rectangle 37"/>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0" name="TextBox 39"/>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인력·코드의 진입 계층</a:t>
            </a:r>
          </a:p>
        </p:txBody>
      </p:sp>
      <p:sp>
        <p:nvSpPr>
          <p:cNvPr id="41" name="Rectangle 40"/>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3" name="Rectangle 42"/>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45" name="Rectangle 44"/>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47" name="Rectangle 46"/>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49" name="Oval 48"/>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2" name="TextBox 51"/>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53" name="Picture 52"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54" name="Picture 53" descr="openai.png"/>
          <p:cNvPicPr>
            <a:picLocks noChangeAspect="1"/>
          </p:cNvPicPr>
          <p:nvPr/>
        </p:nvPicPr>
        <p:blipFill>
          <a:blip r:embed="rId3"/>
          <a:stretch>
            <a:fillRect/>
          </a:stretch>
        </p:blipFill>
        <p:spPr>
          <a:xfrm>
            <a:off x="15197326" y="6170781"/>
            <a:ext cx="532886" cy="130853"/>
          </a:xfrm>
          <a:prstGeom prst="rect">
            <a:avLst/>
          </a:prstGeom>
        </p:spPr>
      </p:pic>
      <p:pic>
        <p:nvPicPr>
          <p:cNvPr id="55" name="Picture 54" descr="nvidia.png"/>
          <p:cNvPicPr>
            <a:picLocks noChangeAspect="1"/>
          </p:cNvPicPr>
          <p:nvPr/>
        </p:nvPicPr>
        <p:blipFill>
          <a:blip r:embed="rId4"/>
          <a:stretch>
            <a:fillRect/>
          </a:stretch>
        </p:blipFill>
        <p:spPr>
          <a:xfrm>
            <a:off x="15828351" y="6170781"/>
            <a:ext cx="684696" cy="130853"/>
          </a:xfrm>
          <a:prstGeom prst="rect">
            <a:avLst/>
          </a:prstGeom>
        </p:spPr>
      </p:pic>
      <p:pic>
        <p:nvPicPr>
          <p:cNvPr id="56" name="Picture 55" descr="meta.png"/>
          <p:cNvPicPr>
            <a:picLocks noChangeAspect="1"/>
          </p:cNvPicPr>
          <p:nvPr/>
        </p:nvPicPr>
        <p:blipFill>
          <a:blip r:embed="rId5"/>
          <a:stretch>
            <a:fillRect/>
          </a:stretch>
        </p:blipFill>
        <p:spPr>
          <a:xfrm>
            <a:off x="16611188" y="6170781"/>
            <a:ext cx="643539" cy="130853"/>
          </a:xfrm>
          <a:prstGeom prst="rect">
            <a:avLst/>
          </a:prstGeom>
        </p:spPr>
      </p:pic>
      <p:sp>
        <p:nvSpPr>
          <p:cNvPr id="57" name="Right Arrow 56"/>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 상주: 삼성 엔지니어의 고객 시스템 진입</a:t>
            </a:r>
          </a:p>
          <a:p>
            <a:pPr algn="l">
              <a:lnSpc>
                <a:spcPct val="106000"/>
              </a:lnSpc>
            </a:pPr>
            <a:r>
              <a:rPr sz="1350" b="0">
                <a:solidFill>
                  <a:srgbClr val="FFFFFF"/>
                </a:solidFill>
                <a:latin typeface="Arial"/>
                <a:ea typeface="Arial"/>
              </a:rPr>
              <a:t>상주 엔지니어 · 업스트림 코드 · 수명 보증</a:t>
            </a:r>
          </a:p>
        </p:txBody>
      </p:sp>
      <p:sp>
        <p:nvSpPr>
          <p:cNvPr id="59" name="Rectangle 58"/>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61" name="Oval 60"/>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 Same Side Corner Rectangle 61"/>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 Same Side Corner Rectangle 63"/>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ight Arrow 66"/>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70" name="TextBox 69"/>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시스템에 상주하며 실제 요구를 코드로 구현하고 성과로 평가받는 엔지니어(코드명 Delta)</a:t>
            </a:r>
          </a:p>
          <a:p>
            <a:pPr algn="l">
              <a:lnSpc>
                <a:spcPct val="104000"/>
              </a:lnSpc>
            </a:pPr>
            <a:r>
              <a:rPr sz="1200" b="1">
                <a:solidFill>
                  <a:srgbClr val="1A1A1A"/>
                </a:solidFill>
                <a:latin typeface="Arial"/>
                <a:ea typeface="Arial"/>
              </a:rPr>
              <a:t>고객 락인의 동력으로 평가(주가 수익률 640%). Anthropic·OpenAI가 GTM 모델로 채택</a:t>
            </a:r>
          </a:p>
        </p:txBody>
      </p:sp>
      <p:sp>
        <p:nvSpPr>
          <p:cNvPr id="71" name="Rectangle 70"/>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73" name="Rectangle 72"/>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75" name="Rectangle 74"/>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77" name="Rectangle 76"/>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79" name="Rectangle 78"/>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81" name="TextBox 80"/>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결합해 워크로드·규격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공급 계약에는 공동 설계 조항 부재 → 삼성이 선제 제안</a:t>
            </a:r>
          </a:p>
        </p:txBody>
      </p:sp>
      <p:sp>
        <p:nvSpPr>
          <p:cNvPr id="82" name="Left Arrow 81"/>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 워크로드·규격 접근권 확보</a:t>
            </a:r>
          </a:p>
          <a:p>
            <a:pPr algn="l">
              <a:lnSpc>
                <a:spcPct val="106000"/>
              </a:lnSpc>
            </a:pPr>
            <a:r>
              <a:rPr sz="1350" b="0">
                <a:solidFill>
                  <a:srgbClr val="1A1A1A"/>
                </a:solidFill>
                <a:latin typeface="Arial"/>
                <a:ea typeface="Arial"/>
              </a:rPr>
              <a:t>트레이스 · KV 수명 정책 · 레퍼런스 스펙 · 계약 시한 2027년 상반기(공급 완화 전)</a:t>
            </a:r>
          </a:p>
        </p:txBody>
      </p:sp>
      <p:sp>
        <p:nvSpPr>
          <p:cNvPr id="84" name="Rectangle 83"/>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87" name="TextBox 86"/>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88" name="Rectangle 87"/>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91" name="TextBox 90"/>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92" name="Rectangle 91"/>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95" name="TextBox 94"/>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96" name="Rectangle 95"/>
          <p:cNvSpPr/>
          <p:nvPr/>
        </p:nvSpPr>
        <p:spPr>
          <a:xfrm>
            <a:off x="722376" y="8339327"/>
            <a:ext cx="16843248" cy="9509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133856" y="8339327"/>
            <a:ext cx="1463040" cy="950976"/>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98" name="Rectangle 97"/>
          <p:cNvSpPr/>
          <p:nvPr/>
        </p:nvSpPr>
        <p:spPr>
          <a:xfrm>
            <a:off x="2551176" y="8467344"/>
            <a:ext cx="3360420"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697480" y="8522208"/>
            <a:ext cx="3067812"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1 교훈 · 문제</a:t>
            </a:r>
          </a:p>
          <a:p>
            <a:pPr algn="l">
              <a:lnSpc>
                <a:spcPct val="102000"/>
              </a:lnSpc>
            </a:pPr>
            <a:r>
              <a:rPr sz="1125" b="0">
                <a:solidFill>
                  <a:srgbClr val="FFFFFF"/>
                </a:solidFill>
                <a:latin typeface="Arial"/>
                <a:ea typeface="Arial"/>
              </a:rPr>
              <a:t>요구는 고객 규격·코드로 정의</a:t>
            </a:r>
          </a:p>
          <a:p>
            <a:pPr algn="l">
              <a:lnSpc>
                <a:spcPct val="102000"/>
              </a:lnSpc>
            </a:pPr>
            <a:r>
              <a:rPr sz="1125" b="0">
                <a:solidFill>
                  <a:srgbClr val="FFFFFF"/>
                </a:solidFill>
                <a:latin typeface="Arial"/>
                <a:ea typeface="Arial"/>
              </a:rPr>
              <a:t>차기 요구 = 대용량 · 1~3 DWPD</a:t>
            </a:r>
          </a:p>
        </p:txBody>
      </p:sp>
      <p:sp>
        <p:nvSpPr>
          <p:cNvPr id="100" name="Right Arrow 99"/>
          <p:cNvSpPr/>
          <p:nvPr/>
        </p:nvSpPr>
        <p:spPr>
          <a:xfrm>
            <a:off x="6003036"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6313932" y="8467344"/>
            <a:ext cx="3360420"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460236" y="8522208"/>
            <a:ext cx="3067812"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2 해법 사다리</a:t>
            </a:r>
          </a:p>
          <a:p>
            <a:pPr algn="l">
              <a:lnSpc>
                <a:spcPct val="102000"/>
              </a:lnSpc>
            </a:pPr>
            <a:r>
              <a:rPr sz="1125" b="0">
                <a:solidFill>
                  <a:srgbClr val="FFFFFF"/>
                </a:solidFill>
                <a:latin typeface="Arial"/>
                <a:ea typeface="Arial"/>
              </a:rPr>
              <a:t>단품 → SSD → 호스트로 이관</a:t>
            </a:r>
          </a:p>
          <a:p>
            <a:pPr algn="l">
              <a:lnSpc>
                <a:spcPct val="102000"/>
              </a:lnSpc>
            </a:pPr>
            <a:r>
              <a:rPr sz="1125" b="0">
                <a:solidFill>
                  <a:srgbClr val="FFFFFF"/>
                </a:solidFill>
                <a:latin typeface="Arial"/>
                <a:ea typeface="Arial"/>
              </a:rPr>
              <a:t>WAF는 호스트 공동 설계로만 1.0</a:t>
            </a:r>
          </a:p>
        </p:txBody>
      </p:sp>
      <p:sp>
        <p:nvSpPr>
          <p:cNvPr id="103" name="Right Arrow 102"/>
          <p:cNvSpPr/>
          <p:nvPr/>
        </p:nvSpPr>
        <p:spPr>
          <a:xfrm>
            <a:off x="9765792"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076688" y="8467344"/>
            <a:ext cx="3360420"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222992" y="8522208"/>
            <a:ext cx="3067812"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3 역량</a:t>
            </a:r>
          </a:p>
          <a:p>
            <a:pPr algn="l">
              <a:lnSpc>
                <a:spcPct val="102000"/>
              </a:lnSpc>
            </a:pPr>
            <a:r>
              <a:rPr sz="1125" b="0">
                <a:solidFill>
                  <a:srgbClr val="FFFFFF"/>
                </a:solidFill>
                <a:latin typeface="Arial"/>
                <a:ea typeface="Arial"/>
              </a:rPr>
              <a:t>디바이스 → 워크로드 →</a:t>
            </a:r>
          </a:p>
          <a:p>
            <a:pPr algn="l">
              <a:lnSpc>
                <a:spcPct val="102000"/>
              </a:lnSpc>
            </a:pPr>
            <a:r>
              <a:rPr sz="1125" b="0">
                <a:solidFill>
                  <a:srgbClr val="FFFFFF"/>
                </a:solidFill>
                <a:latin typeface="Arial"/>
                <a:ea typeface="Arial"/>
              </a:rPr>
              <a:t>고객 시스템 3단계</a:t>
            </a:r>
          </a:p>
        </p:txBody>
      </p:sp>
      <p:sp>
        <p:nvSpPr>
          <p:cNvPr id="106" name="Right Arrow 105"/>
          <p:cNvSpPr/>
          <p:nvPr/>
        </p:nvSpPr>
        <p:spPr>
          <a:xfrm>
            <a:off x="13528548"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3839444" y="8467344"/>
            <a:ext cx="3360420" cy="694944"/>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985748" y="8522208"/>
            <a:ext cx="3067812" cy="603504"/>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4 실행</a:t>
            </a:r>
          </a:p>
          <a:p>
            <a:pPr algn="l">
              <a:lnSpc>
                <a:spcPct val="102000"/>
              </a:lnSpc>
            </a:pPr>
            <a:r>
              <a:rPr sz="1125" b="1">
                <a:solidFill>
                  <a:srgbClr val="1A1A1A"/>
                </a:solidFill>
                <a:latin typeface="Arial"/>
                <a:ea typeface="Arial"/>
              </a:rPr>
              <a:t>FDE 상주 · 전략적 협약</a:t>
            </a:r>
          </a:p>
          <a:p>
            <a:pPr algn="l">
              <a:lnSpc>
                <a:spcPct val="102000"/>
              </a:lnSpc>
            </a:pPr>
            <a:r>
              <a:rPr sz="1125" b="1">
                <a:solidFill>
                  <a:srgbClr val="1A1A1A"/>
                </a:solidFill>
                <a:latin typeface="Arial"/>
                <a:ea typeface="Arial"/>
              </a:rPr>
              <a:t>조직 · 인사 · 문화</a:t>
            </a:r>
          </a:p>
        </p:txBody>
      </p:sp>
      <p:sp>
        <p:nvSpPr>
          <p:cNvPr id="109" name="TextBox 10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110" name="TextBox 10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