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이관 매트릭스입니다. 열은 이관 단계이고 행은 두 축입니다. 요구는 고객이 정하고 고정입니다. 단품 지표는 셀과 다이의 지표이며 세대마다 악화됩니다. 보상은 먼저 SSD 계층에서, 다음은 호스트·시스템 계층에서 이뤄집니다. 두 행 사이의 산식 DWPD = P/E × (1+OP) ÷ WAF ÷ 365 × 년은 각 항의 결정 주체가 열과 대응함을 보입니다. P/E는 셀, OP는 SSD, WAF는 호스트·앱, 년과 요구 DWPD는 고객입니다. 내구성 행. 요구: 추론 캐시 계층은 DWPD 1~3(현재 TLC 수준, ScaleFlux 제시 유효 요구 7~10), UBER는 JESD218 기준 10의 -15승·-16승으로 고정입니다. 단품: 비트/셀을 늘릴수록 P/E 사이클은 SLC 30K~100K에서 QLC 100~1K로 100배 감소했고, RBER은 약 백만 배 상승했습니다. 보존·사이클링·리드 디스터브로 시간에 따라 변하는 산포는 셀 단독으로 보정할 수 없습니다. SSD 계층: 1단계 컨트롤러 ECC는 1비트/512B에서 LDPC 120비트/KB로 60배 강화돼 UBER 요구를 충족했습니다. 완결된 이관입니다. 2단계 SSD 단독 워크로드 최적화(2014~2019: Multi-stream·AutoStream·FTL 핫/콜드 추정·NVMe IO 결정성)는 QoS와 성능은 개선했으나 데이터 수명을 SSD가 감지할 수 없어 실 워크로드 WAF는 3 수준에 머물렀고, 정격 DWPD는 17에서 0.4로 내려와 요구 1~3과 10~40배 격차가 생겼습니다. 부분 성공입니다. 호스트·시스템 계층: 3단계 호스트 시스템 공동 설계는 호스트가 데이터 수명을 지정(배치 표준)하고 캐시 관리자·애플리케이션 정책까지 함께 설계해 WAF를 3.22에서 1.03으로 낮췄습니다. 68% 감소, 유효 DWPD 3.1배이며 DWPD 요구를 충족합니다. QLC로 요구 DWPD를 충족하는 유일한 경로이고 본 덱 2~5장이 이 단계입니다. 신뢰성 행. 요구: JESD218 기능 고장률 FFR 3% 이하로 고정입니다. 보호가 없으면 SSD 고장률은 다이 수 N에 비례하므로 칩 면적이 커질수록 수율이 떨어지는 것과 같은 구조입니다. 단품: SSD당 NAND 다이 수는 S3700 800GB 128개(2012)에서 Kioxia LC9 245TB 1,024개(2025, 2Tb 다이 32단 스택 32패키지)로 8배 늘었고, 같은 FFR을 지키려면 다이 고장률을 8배 낮추거나 다이 고장을 허용해야 합니다. 다이 고장률 개선은 기술적 한계에 닿았습니다. SSD 계층(현재 해법): 다이 RAID(Micron RAIN, 슈퍼페이지 XOR 패리티 다이), 여분 다이, 다이 은퇴와 감량 운영(삼성 Fail-in-Place PM1733: 고장 다이를 제외하고 4~8GB 감량 운영)입니다. 패리티와 예비 용량 오버헤드가 다이 수와 함께 증가합니다. 상위 계층(SSD 단독 한계 시): OCP SMART의 XOR 복구 카운트로 호스트가 다이 복구를 관측하고, Microsoft Hyrax처럼 플랫폼이 감량 운영을 수용하며, 드라이브 간 소거 부호가 SSD 고장을 흡수합니다. 결론: 두 축 모두 요구는 고정이고 단품은 악화되며 보상은 상위 계층으로 이관됩니다. QLC로 요구 DWPD를 충족하는 경로는 호스트 시스템 공동 설계뿐이며 이는 산식의 귀결입니다. 그 규격이 언제 정의되는지가 2장입니다. 근거 등급은 보고서 부록 A F28~F47에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다운턴 복기에서 도출한 교훈이며, 1장과의 연결은 다음과 같습니다. 1장의 산식에서 남은 보상 변수 WAF는 호스트가 데이터 배치를 결정할 때만 1에 수렴하고, 그 배치 방식은 고객이 규격(배치 표준·캐시 관리자 정책)으로 정의합니다. 따라서 규격이 언제·어디서 정의되는지가 전략의 시점을 결정합니다. 상단 타임라인은 DT19(재고 조정 국면, 매출 낙폭 -37.6%)와 DT23(최대 낙폭 -45%, 진앙 eSSD) 두 다운턴 구간과 QLC eSSD 연혁을 동일 시간축에 배치한 것입니다.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최대 낙폭 국면에서 61TB QLC를 삼성 대비 12개월 선행 출시해 2024년 흑자 전환했고, HBM은 NVIDIA와 규격을 공동 정의한 SK hynix가 주도권을 확보했습니다. 다운턴 극복의 결정 변수는 포트폴리오 다변화가 아니라 고객 요구 적중이었습니다. 교훈 3, 의사결정 시점: 직전 다운턴의 의사결정이 다음 다운턴의 초기 조건을 결정합니다. DT19의 무감산 유지 성공이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교훈은 각각 3장(고객의 QLC 채택 동인), 4장(디바이스에서 고객 시스템까지 3단계), 5장(FDE·전략적 협약·조직)의 전제입니다. 결론: 요구사항은 다운턴 국면에서 고객 규격·코드로 정의됐고 정의에 참여한 공급자가 선점했으며, 차기 요구사항인 KV 캐시 배치·내구성 규격은 현재 미정의 상태입니다. 그 요구사항의 내용이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2장이 지목한 차기 요구사항의 내용, 즉 고객의 QLC 채택 동인입니다. 세 국면을 관통하는 구매 기준은 용량 계층의 TB당 TCO입니다. 원가($/TB)·전력(W/TB)·밀도(TB/U)를 통합한 지표입니다.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발언으로, 고객의 채택 동인 파악이 본 전략의 출발점인 이유입니다. 결론: 고객은 추론 캐시 계층에서도 QLC의 TB당 TCO를 요구하며, 제약 조건은 내구성입니다. QLC 정격 0.075~0.6 DWPD와 요구 1~3 DWPD 사이에는 10~40배 격차가 있고, 1장의 산식(DWPD = P/E × (1+OP) ÷ WAF ÷ 365 × 년)에서 P/E와 OP만으로는 이 격차를 메울 수 없습니다. 남은 변수 WAF를 낮추는 경로가 4장입니다.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3장의 내구성 격차를 해소하는 경로입니다. 1장의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Phase 1 확보, Phase 2 진입: KV cache 백서 2종으로 측정 역량은 있으나 트레이스 기반 실측이 미공개이고 캐시 관리자 4종에 기여가 없습니다. 오케스트레이션 자체는 만들지 않습니다. 결론: 단계마다 고객 보증 범위가 원가·전력 → 워크로드 수명 → 시스템 TCO로 확장되며, 3단계에 진입하는 수단(FDE·전략적 협약)과 이를 수행할 조직이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4장의 3단계에 진입하는 수단과 이를 수행할 조직입니다. 리드의 인용은 송용호 AX/PI센터장의 발언이며, 왼쪽 박스 아래 인용도 같은 인터뷰입니다. 고객 관계가 곧 워크로드 접근권이라는 뜻이고, 미주 현지 채용과 FDE 상주가 그 대응입니다. 진입 수단은 두 가지이고 각각 선례가 있습니다. ① FDE 상주: 삼성 엔지니어가 고객 시스템에 진입합니다. Palantir가 창안한 역할(내부 코드명 Delta)로, 고객 환경 내부에 상주하며 실제 운영 제약 아래서 프로덕션 시스템을 직접 구축하고 청구 시간이 아니라 성과로 평가받습니다. 명시적 요구와 실제 요구의 간극을 현장에서 코드로 해소하고, 특정 고객용 해법이 제품 표준 기능으로 전환되는 피드백 루프를 만듭니다. 고객 락인의 동력이자 640% 주가 수익률의 원천으로 평가되고, Anthropic·OpenAI가 엔터프라이즈 GTM 모델로 채택했습니다(OpenAI는 2025년 초 FDE 팀 2명→10명 이상). 삼성은 Co-Design Pod를 FDE 모델로 운영하되, 메모리는 제조 리드타임이 길므로 시스템 아키텍트·TCO 모델링 역량을 결합합니다. ② 전략적 협약(SCA): 고객 워크로드·규격 접근권을 계약으로 확보합니다. 선례는 Micron↔Anthropic(2026-06-22): 공동 설계(HBM·DRAM·SSD를 Claude 학습·추론 워크로드에 맞춰 공동 최적화) + 다년 공급 + 운영 통합(Claude 사내 배치) + 자본(Series H)을 한 계약에 결합했습니다. Micron은 SCA 16건, 최소 계약매출 약 $100B, 예치금 $22B를 공시했습니다. 삼성·SK의 Anthropic 공급 계약에는 공동 설계 조항이 없으므로 삼성이 선제 제안합니다. 계약 시한은 공급 완화 전인 2027년 상반기까지입니다. 조직·인사·문화 세 축(전략·재무 축과 90일·1년·3년 타임라인은 위키 실행 전략 페이지 §2.1·§2.5·§3). 조직은 실리콘밸리 소프트웨어 자회사와 FDE Pod에 더해 시스템 소프트웨어 조직을 강화합니다. 인사는 고객 시스템(추론 엔진·KV 캐시 관리자·I/O·커널 코드)을 읽고 수정할 수 있는 시스템 소프트웨어 전문가의 채용·양성이 핵심이며, 미주 현지 채용을 확대하고 별도 보상 체계를 두며 본사 엔지니어는 상주 로테이션으로 양성합니다. 문화는 업스트림 우선을 넘어 오픈소스 생태계를 주도하는 기업 문화로 전환합니다. 기여자에서 메인테이너·커미터로, 삼성이 운영하는 레퍼런스 프로젝트에 외부 기여가 들어오게 하며, KV cache 실측을 업계 최초로 공개합니다. 하단 요약 체인은 5장의 논리입니다. 1장 산식: SSD 단독 최적화로는 WAF ≈ 3, 호스트 공동 설계로만 1.0이다. 2장 시점: 규격은 다운턴 국면에 정의되며 차기 규격은 현재 미정의다. 3장 수요: 고객은 추론 캐시 계층에서도 TB당 TCO를 요구하고 제약 조건은 내구성이다. 4장 역량: 디바이스 → 워크로드 → 고객 시스템 3단계로 확장한다. 5장 실행: FDE 상주와 전략적 협약, 그리고 조직·인사·문화가 그 수단이다.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산식  </a:t>
            </a:r>
            <a:r>
              <a:rPr sz="1200" b="0">
                <a:solidFill>
                  <a:srgbClr val="1428A0"/>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시점  </a:t>
            </a:r>
            <a:r>
              <a:rPr sz="1200" b="0">
                <a:solidFill>
                  <a:srgbClr val="8A8A8A"/>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고정, 단품은 악화, 보상은 상위 계층으로: QLC의 DWPD는 호스트 공동 설계로만 충족됩니다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내구성 축과 신뢰성 축 모두 같은 구조입니다. SSD 단독 최적화는 QoS·성능은 개선했으나 WAF는 낮추지 못했습니다.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0" name="TextBox 29"/>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1" name="Rectangle 30"/>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3" name="TextBox 32"/>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4" name="Right Arrow 33"/>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37" name="TextBox 36"/>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38" name="Right Arrow 37"/>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1" name="TextBox 40"/>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2~5장)</a:t>
            </a:r>
          </a:p>
        </p:txBody>
      </p:sp>
      <p:sp>
        <p:nvSpPr>
          <p:cNvPr id="42" name="TextBox 41"/>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3" name="Rectangle 42"/>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5" name="Rectangle 44"/>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47" name="TextBox 46"/>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48" name="TextBox 47"/>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49" name="Rectangle 48"/>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1" name="TextBox 50"/>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2" name="TextBox 51"/>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5" name="TextBox 54"/>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56" name="TextBox 55"/>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59" name="TextBox 58"/>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0" name="TextBox 59"/>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3" name="TextBox 62"/>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4" name="Rectangle 63"/>
          <p:cNvSpPr/>
          <p:nvPr/>
        </p:nvSpPr>
        <p:spPr>
          <a:xfrm>
            <a:off x="722376" y="3730752"/>
            <a:ext cx="1188720" cy="25054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22376" y="3730752"/>
            <a:ext cx="54864" cy="25054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67" name="TextBox 66"/>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68" name="Rectangle 67"/>
          <p:cNvSpPr/>
          <p:nvPr/>
        </p:nvSpPr>
        <p:spPr>
          <a:xfrm>
            <a:off x="722376" y="6345936"/>
            <a:ext cx="1188720"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345936"/>
            <a:ext cx="54864"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6492240"/>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신뢰성 축</a:t>
            </a:r>
          </a:p>
        </p:txBody>
      </p:sp>
      <p:sp>
        <p:nvSpPr>
          <p:cNvPr id="71" name="TextBox 70"/>
          <p:cNvSpPr txBox="1"/>
          <p:nvPr/>
        </p:nvSpPr>
        <p:spPr>
          <a:xfrm>
            <a:off x="886968" y="6803136"/>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다이 수</a:t>
            </a:r>
          </a:p>
          <a:p>
            <a:pPr algn="l">
              <a:lnSpc>
                <a:spcPct val="100000"/>
              </a:lnSpc>
            </a:pPr>
            <a:r>
              <a:rPr sz="975" b="0">
                <a:solidFill>
                  <a:srgbClr val="555555"/>
                </a:solidFill>
                <a:latin typeface="Arial"/>
                <a:ea typeface="Arial"/>
              </a:rPr>
              <a:t>다이 고장률</a:t>
            </a:r>
          </a:p>
        </p:txBody>
      </p:sp>
      <p:sp>
        <p:nvSpPr>
          <p:cNvPr id="72" name="Rectangle 71"/>
          <p:cNvSpPr/>
          <p:nvPr/>
        </p:nvSpPr>
        <p:spPr>
          <a:xfrm>
            <a:off x="2039112" y="3730752"/>
            <a:ext cx="3675888" cy="25054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76" name="Rectangle 75"/>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79" name="TextBox 78"/>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80" name="Rectangle 79"/>
          <p:cNvSpPr/>
          <p:nvPr/>
        </p:nvSpPr>
        <p:spPr>
          <a:xfrm>
            <a:off x="5989320"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82" name="TextBox 81"/>
          <p:cNvSpPr txBox="1"/>
          <p:nvPr/>
        </p:nvSpPr>
        <p:spPr>
          <a:xfrm>
            <a:off x="6117336" y="58521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83" name="Rectangle 82"/>
          <p:cNvSpPr/>
          <p:nvPr/>
        </p:nvSpPr>
        <p:spPr>
          <a:xfrm>
            <a:off x="9939528"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87" name="TextBox 86"/>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88" name="TextBox 87"/>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89" name="TextBox 88"/>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90" name="Rectangle 89"/>
          <p:cNvSpPr/>
          <p:nvPr/>
        </p:nvSpPr>
        <p:spPr>
          <a:xfrm>
            <a:off x="10030968" y="4571999"/>
            <a:ext cx="3493008" cy="15727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92" name="TextBox 91"/>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DWPD 요구 미충족</a:t>
            </a:r>
          </a:p>
        </p:txBody>
      </p:sp>
      <p:sp>
        <p:nvSpPr>
          <p:cNvPr id="93" name="TextBox 92"/>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94" name="TextBox 93"/>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95" name="Picture 94"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96" name="Rectangle 95"/>
          <p:cNvSpPr/>
          <p:nvPr/>
        </p:nvSpPr>
        <p:spPr>
          <a:xfrm>
            <a:off x="13889736" y="3730752"/>
            <a:ext cx="3675888" cy="25054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4017752" y="3840480"/>
            <a:ext cx="23774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시스템 공동 설계 (2022~)</a:t>
            </a:r>
          </a:p>
        </p:txBody>
      </p:sp>
      <p:sp>
        <p:nvSpPr>
          <p:cNvPr id="98" name="TextBox 97"/>
          <p:cNvSpPr txBox="1"/>
          <p:nvPr/>
        </p:nvSpPr>
        <p:spPr>
          <a:xfrm>
            <a:off x="16157448" y="3840480"/>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DWPD 요구 충족</a:t>
            </a:r>
          </a:p>
        </p:txBody>
      </p:sp>
      <p:sp>
        <p:nvSpPr>
          <p:cNvPr id="99" name="TextBox 98"/>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3.2 → 1.0</a:t>
            </a:r>
          </a:p>
        </p:txBody>
      </p:sp>
      <p:sp>
        <p:nvSpPr>
          <p:cNvPr id="100" name="TextBox 99"/>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FDE·SCA 공동 설계 = 본 덱 2~5장</a:t>
            </a:r>
          </a:p>
        </p:txBody>
      </p:sp>
      <p:pic>
        <p:nvPicPr>
          <p:cNvPr id="101" name="Picture 100"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102" name="TextBox 101"/>
          <p:cNvSpPr txBox="1"/>
          <p:nvPr/>
        </p:nvSpPr>
        <p:spPr>
          <a:xfrm>
            <a:off x="14017752" y="58704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QLC로 요구 DWPD를 충족하는 유일한 경로 · 산식의 귀결</a:t>
            </a:r>
          </a:p>
        </p:txBody>
      </p:sp>
      <p:sp>
        <p:nvSpPr>
          <p:cNvPr id="103" name="Rectangle 102"/>
          <p:cNvSpPr/>
          <p:nvPr/>
        </p:nvSpPr>
        <p:spPr>
          <a:xfrm>
            <a:off x="2039112" y="6345936"/>
            <a:ext cx="3675888" cy="21396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167128" y="6473952"/>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기능 고장률 요구 · JESD218</a:t>
            </a:r>
          </a:p>
        </p:txBody>
      </p:sp>
      <p:sp>
        <p:nvSpPr>
          <p:cNvPr id="105" name="TextBox 104"/>
          <p:cNvSpPr txBox="1"/>
          <p:nvPr/>
        </p:nvSpPr>
        <p:spPr>
          <a:xfrm>
            <a:off x="2167128" y="6711696"/>
            <a:ext cx="3419856" cy="548640"/>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FFR ≤ 3%</a:t>
            </a:r>
          </a:p>
        </p:txBody>
      </p:sp>
      <p:sp>
        <p:nvSpPr>
          <p:cNvPr id="106" name="TextBox 105"/>
          <p:cNvSpPr txBox="1"/>
          <p:nvPr/>
        </p:nvSpPr>
        <p:spPr>
          <a:xfrm>
            <a:off x="2167128" y="7333488"/>
            <a:ext cx="3419856" cy="822960"/>
          </a:xfrm>
          <a:prstGeom prst="rect">
            <a:avLst/>
          </a:prstGeom>
          <a:noFill/>
        </p:spPr>
        <p:txBody>
          <a:bodyPr wrap="square" anchor="t" lIns="0" rIns="0" tIns="0" bIns="0">
            <a:spAutoFit/>
          </a:bodyPr>
          <a:lstStyle/>
          <a:p>
            <a:pPr algn="l">
              <a:lnSpc>
                <a:spcPct val="106000"/>
              </a:lnSpc>
            </a:pPr>
            <a:r>
              <a:rPr sz="975" b="0">
                <a:solidFill>
                  <a:srgbClr val="555555"/>
                </a:solidFill>
                <a:latin typeface="Arial"/>
                <a:ea typeface="Arial"/>
              </a:rPr>
              <a:t>클라이언트 · 엔터프라이즈 공통 · 고정</a:t>
            </a:r>
          </a:p>
          <a:p>
            <a:pPr algn="l">
              <a:lnSpc>
                <a:spcPct val="106000"/>
              </a:lnSpc>
            </a:pPr>
            <a:r>
              <a:rPr sz="975" b="1">
                <a:solidFill>
                  <a:srgbClr val="1A1A1A"/>
                </a:solidFill>
                <a:latin typeface="Arial"/>
                <a:ea typeface="Arial"/>
              </a:rPr>
              <a:t>보호 없는 SSD 고장률 ≈ N × 다이 고장률</a:t>
            </a:r>
          </a:p>
          <a:p>
            <a:pPr algn="l">
              <a:lnSpc>
                <a:spcPct val="106000"/>
              </a:lnSpc>
            </a:pPr>
            <a:r>
              <a:rPr sz="900" b="0">
                <a:solidFill>
                  <a:srgbClr val="555555"/>
                </a:solidFill>
                <a:latin typeface="Arial"/>
                <a:ea typeface="Arial"/>
              </a:rPr>
              <a:t>칩 면적이 클수록 수율이 떨어지는 것과 같은 구조</a:t>
            </a:r>
          </a:p>
        </p:txBody>
      </p:sp>
      <p:sp>
        <p:nvSpPr>
          <p:cNvPr id="107" name="Rectangle 106"/>
          <p:cNvSpPr/>
          <p:nvPr/>
        </p:nvSpPr>
        <p:spPr>
          <a:xfrm>
            <a:off x="5989320" y="6345936"/>
            <a:ext cx="367588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ladder_cell_dies.png"/>
          <p:cNvPicPr>
            <a:picLocks noChangeAspect="1"/>
          </p:cNvPicPr>
          <p:nvPr/>
        </p:nvPicPr>
        <p:blipFill>
          <a:blip r:embed="rId5"/>
          <a:stretch>
            <a:fillRect/>
          </a:stretch>
        </p:blipFill>
        <p:spPr>
          <a:xfrm>
            <a:off x="6080760" y="6437376"/>
            <a:ext cx="3493008" cy="1433352"/>
          </a:xfrm>
          <a:prstGeom prst="rect">
            <a:avLst/>
          </a:prstGeom>
        </p:spPr>
      </p:pic>
      <p:sp>
        <p:nvSpPr>
          <p:cNvPr id="109" name="TextBox 108"/>
          <p:cNvSpPr txBox="1"/>
          <p:nvPr/>
        </p:nvSpPr>
        <p:spPr>
          <a:xfrm>
            <a:off x="6117336" y="8010144"/>
            <a:ext cx="3419856" cy="42062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다이 수 8배 ↑ → 같은 FFR을 지키려면 다이 고장률 8배 ↓ 또는 다이 고장 허용 필요 · 다이 고장률 개선은 기술적 한계</a:t>
            </a:r>
          </a:p>
        </p:txBody>
      </p:sp>
      <p:sp>
        <p:nvSpPr>
          <p:cNvPr id="110" name="Rectangle 109"/>
          <p:cNvSpPr/>
          <p:nvPr/>
        </p:nvSpPr>
        <p:spPr>
          <a:xfrm>
            <a:off x="9939528" y="6345936"/>
            <a:ext cx="3675888" cy="21396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0067544" y="6455664"/>
            <a:ext cx="237744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현재 해법 · SSD 내부</a:t>
            </a:r>
          </a:p>
        </p:txBody>
      </p:sp>
      <p:sp>
        <p:nvSpPr>
          <p:cNvPr id="112" name="TextBox 111"/>
          <p:cNvSpPr txBox="1"/>
          <p:nvPr/>
        </p:nvSpPr>
        <p:spPr>
          <a:xfrm>
            <a:off x="12207240" y="6455664"/>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오버헤드 ↑</a:t>
            </a:r>
          </a:p>
        </p:txBody>
      </p:sp>
      <p:sp>
        <p:nvSpPr>
          <p:cNvPr id="113" name="TextBox 112"/>
          <p:cNvSpPr txBox="1"/>
          <p:nvPr/>
        </p:nvSpPr>
        <p:spPr>
          <a:xfrm>
            <a:off x="10067544"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다이 RAID · 여분 다이 · 다이 은퇴</a:t>
            </a:r>
          </a:p>
        </p:txBody>
      </p:sp>
      <p:sp>
        <p:nvSpPr>
          <p:cNvPr id="114" name="Rectangle 113"/>
          <p:cNvSpPr/>
          <p:nvPr/>
        </p:nvSpPr>
        <p:spPr>
          <a:xfrm>
            <a:off x="10067544" y="70774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268712"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다이 패리티  </a:t>
            </a:r>
            <a:r>
              <a:rPr sz="900" b="0">
                <a:solidFill>
                  <a:srgbClr val="555555"/>
                </a:solidFill>
                <a:latin typeface="Arial"/>
                <a:ea typeface="Arial"/>
              </a:rPr>
              <a:t>슈퍼페이지 XOR 패리티 다이 (Micron RAIN)</a:t>
            </a:r>
          </a:p>
        </p:txBody>
      </p:sp>
      <p:sp>
        <p:nvSpPr>
          <p:cNvPr id="116" name="Rectangle 115"/>
          <p:cNvSpPr/>
          <p:nvPr/>
        </p:nvSpPr>
        <p:spPr>
          <a:xfrm>
            <a:off x="10067544" y="75346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0268712"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여분 다이 · 은퇴  </a:t>
            </a:r>
            <a:r>
              <a:rPr sz="900" b="0">
                <a:solidFill>
                  <a:srgbClr val="555555"/>
                </a:solidFill>
                <a:latin typeface="Arial"/>
                <a:ea typeface="Arial"/>
              </a:rPr>
              <a:t>삼성 Fail-in-Place(PM1733): 고장 다이 제외, 4~8GB 감량 운영</a:t>
            </a:r>
          </a:p>
        </p:txBody>
      </p:sp>
      <p:sp>
        <p:nvSpPr>
          <p:cNvPr id="118" name="Rectangle 117"/>
          <p:cNvSpPr/>
          <p:nvPr/>
        </p:nvSpPr>
        <p:spPr>
          <a:xfrm>
            <a:off x="10067544" y="79918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0268712"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비용  </a:t>
            </a:r>
            <a:r>
              <a:rPr sz="900" b="0">
                <a:solidFill>
                  <a:srgbClr val="555555"/>
                </a:solidFill>
                <a:latin typeface="Arial"/>
                <a:ea typeface="Arial"/>
              </a:rPr>
              <a:t>패리티 · 예비 용량 오버헤드가 다이 수와 함께 증가</a:t>
            </a:r>
          </a:p>
        </p:txBody>
      </p:sp>
      <p:sp>
        <p:nvSpPr>
          <p:cNvPr id="120" name="Rectangle 119"/>
          <p:cNvSpPr/>
          <p:nvPr/>
        </p:nvSpPr>
        <p:spPr>
          <a:xfrm>
            <a:off x="13889736" y="6345936"/>
            <a:ext cx="3675888" cy="2139696"/>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017752" y="6455664"/>
            <a:ext cx="2377440" cy="182880"/>
          </a:xfrm>
          <a:prstGeom prst="rect">
            <a:avLst/>
          </a:prstGeom>
          <a:noFill/>
        </p:spPr>
        <p:txBody>
          <a:bodyPr wrap="square" anchor="t" lIns="0" rIns="0" tIns="0" bIns="0">
            <a:spAutoFit/>
          </a:bodyPr>
          <a:lstStyle/>
          <a:p>
            <a:pPr algn="l">
              <a:lnSpc>
                <a:spcPct val="112000"/>
              </a:lnSpc>
            </a:pPr>
            <a:r>
              <a:rPr sz="975" b="0">
                <a:solidFill>
                  <a:srgbClr val="1428A0"/>
                </a:solidFill>
                <a:latin typeface="Arial"/>
                <a:ea typeface="Arial"/>
              </a:rPr>
              <a:t>SSD 단독 한계 시 · 상위 계층</a:t>
            </a:r>
          </a:p>
        </p:txBody>
      </p:sp>
      <p:sp>
        <p:nvSpPr>
          <p:cNvPr id="122" name="TextBox 121"/>
          <p:cNvSpPr txBox="1"/>
          <p:nvPr/>
        </p:nvSpPr>
        <p:spPr>
          <a:xfrm>
            <a:off x="16157448" y="6455664"/>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준비 중</a:t>
            </a:r>
          </a:p>
        </p:txBody>
      </p:sp>
      <p:sp>
        <p:nvSpPr>
          <p:cNvPr id="123" name="TextBox 122"/>
          <p:cNvSpPr txBox="1"/>
          <p:nvPr/>
        </p:nvSpPr>
        <p:spPr>
          <a:xfrm>
            <a:off x="14017752"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감량 운영 수용 · 호스트 소거 부호</a:t>
            </a:r>
          </a:p>
        </p:txBody>
      </p:sp>
      <p:sp>
        <p:nvSpPr>
          <p:cNvPr id="124" name="Oval 123"/>
          <p:cNvSpPr/>
          <p:nvPr/>
        </p:nvSpPr>
        <p:spPr>
          <a:xfrm>
            <a:off x="14017752" y="70774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218920"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호스트 관측  </a:t>
            </a:r>
            <a:r>
              <a:rPr sz="900" b="0">
                <a:solidFill>
                  <a:srgbClr val="555555"/>
                </a:solidFill>
                <a:latin typeface="Arial"/>
                <a:ea typeface="Arial"/>
              </a:rPr>
              <a:t>OCP SMART XOR 복구 카운트로 다이 복구 이벤트를 하이퍼스케일러가 감시</a:t>
            </a:r>
          </a:p>
        </p:txBody>
      </p:sp>
      <p:sp>
        <p:nvSpPr>
          <p:cNvPr id="126" name="Oval 125"/>
          <p:cNvSpPr/>
          <p:nvPr/>
        </p:nvSpPr>
        <p:spPr>
          <a:xfrm>
            <a:off x="14017752" y="75346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218920"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플랫폼 수용  </a:t>
            </a:r>
            <a:r>
              <a:rPr sz="900" b="0">
                <a:solidFill>
                  <a:srgbClr val="555555"/>
                </a:solidFill>
                <a:latin typeface="Arial"/>
                <a:ea typeface="Arial"/>
              </a:rPr>
              <a:t>고장 부품의 감량 운영을 스케줄러가 흡수 (Microsoft Hyrax, 수리 -50~60%)</a:t>
            </a:r>
          </a:p>
        </p:txBody>
      </p:sp>
      <p:sp>
        <p:nvSpPr>
          <p:cNvPr id="128" name="Oval 127"/>
          <p:cNvSpPr/>
          <p:nvPr/>
        </p:nvSpPr>
        <p:spPr>
          <a:xfrm>
            <a:off x="14017752" y="79918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218920"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드라이브 간  </a:t>
            </a:r>
            <a:r>
              <a:rPr sz="900" b="0">
                <a:solidFill>
                  <a:srgbClr val="555555"/>
                </a:solidFill>
                <a:latin typeface="Arial"/>
                <a:ea typeface="Arial"/>
              </a:rPr>
              <a:t>소거 부호 · 복제가 SSD 단위 고장을 이미 흡수</a:t>
            </a:r>
          </a:p>
        </p:txBody>
      </p:sp>
      <p:sp>
        <p:nvSpPr>
          <p:cNvPr id="130" name="Rectangle 129"/>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2" name="TextBox 131"/>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요구(UBER·DWPD·FFR)는 고정, 단품 지표(RBER·P/E·다이 수)는 악화, 격차는 상위 계층이 보상해 왔습니다.</a:t>
            </a:r>
          </a:p>
          <a:p>
            <a:pPr algn="l">
              <a:lnSpc>
                <a:spcPct val="108000"/>
              </a:lnSpc>
            </a:pPr>
            <a:r>
              <a:rPr sz="1650" b="1">
                <a:solidFill>
                  <a:srgbClr val="FFFFFF"/>
                </a:solidFill>
                <a:latin typeface="Arial"/>
                <a:ea typeface="Arial"/>
              </a:rPr>
              <a:t>QLC로 요구 DWPD를 충족하는 경로는 호스트 시스템 공동 설계뿐이며, 이는 산식의 귀결입니다</a:t>
            </a:r>
          </a:p>
        </p:txBody>
      </p:sp>
      <p:sp>
        <p:nvSpPr>
          <p:cNvPr id="133" name="Rectangle 132"/>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시점 · 왜 지금인가</a:t>
            </a:r>
          </a:p>
        </p:txBody>
      </p:sp>
      <p:sp>
        <p:nvSpPr>
          <p:cNvPr id="136" name="TextBox 13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JESD218(UBER·FFR), ATP·Kioxia(DWPD 산식), Intel·Solidigm 사양(정격 DWPD·다이 수), Mielke·Cai(RBER·다이 패리티), WD(LDPC), CacheLib FDP(WAF), HotStorage'14·SYSTOR'17·NVMe 1.4, Kioxia LC9·삼성 FIP·OCP SMART·MS Hyrax · 등급은 보고서 부록 A F28~F47</a:t>
            </a:r>
          </a:p>
        </p:txBody>
      </p:sp>
      <p:sp>
        <p:nvSpPr>
          <p:cNvPr id="137" name="TextBox 13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시점  </a:t>
            </a:r>
            <a:r>
              <a:rPr sz="1200" b="0">
                <a:solidFill>
                  <a:srgbClr val="1428A0"/>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1장의 보상 변수 WAF는 고객이 정의하는 배치 규격입니다. 규격이 정의된 시점을 두 다운턴과 QLC 연혁에서 확인합니다.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96696" y="320954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74372" y="309981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91492" y="336499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1" name="Rectangle 30"/>
          <p:cNvSpPr/>
          <p:nvPr/>
        </p:nvSpPr>
        <p:spPr>
          <a:xfrm>
            <a:off x="6536862" y="309981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3982" y="336499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3" name="Rectangle 32"/>
          <p:cNvSpPr/>
          <p:nvPr/>
        </p:nvSpPr>
        <p:spPr>
          <a:xfrm>
            <a:off x="13380598" y="3099816"/>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106278" y="3364992"/>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5" name="TextBox 34"/>
          <p:cNvSpPr txBox="1"/>
          <p:nvPr/>
        </p:nvSpPr>
        <p:spPr>
          <a:xfrm>
            <a:off x="630936"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36" name="TextBox 35"/>
          <p:cNvSpPr txBox="1"/>
          <p:nvPr/>
        </p:nvSpPr>
        <p:spPr>
          <a:xfrm>
            <a:off x="3238073"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37" name="TextBox 36"/>
          <p:cNvSpPr txBox="1"/>
          <p:nvPr/>
        </p:nvSpPr>
        <p:spPr>
          <a:xfrm>
            <a:off x="5845210"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38" name="TextBox 37"/>
          <p:cNvSpPr txBox="1"/>
          <p:nvPr/>
        </p:nvSpPr>
        <p:spPr>
          <a:xfrm>
            <a:off x="8452347"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39" name="TextBox 38"/>
          <p:cNvSpPr txBox="1"/>
          <p:nvPr/>
        </p:nvSpPr>
        <p:spPr>
          <a:xfrm>
            <a:off x="11059485"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0" name="TextBox 39"/>
          <p:cNvSpPr txBox="1"/>
          <p:nvPr/>
        </p:nvSpPr>
        <p:spPr>
          <a:xfrm>
            <a:off x="13666622"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1" name="TextBox 40"/>
          <p:cNvSpPr txBox="1"/>
          <p:nvPr/>
        </p:nvSpPr>
        <p:spPr>
          <a:xfrm>
            <a:off x="16273759"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2" name="Oval 41"/>
          <p:cNvSpPr/>
          <p:nvPr/>
        </p:nvSpPr>
        <p:spPr>
          <a:xfrm>
            <a:off x="2618183"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685848"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11175"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5" name="Oval 44"/>
          <p:cNvSpPr/>
          <p:nvPr/>
        </p:nvSpPr>
        <p:spPr>
          <a:xfrm>
            <a:off x="7376208"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443874"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69200"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48" name="Oval 47"/>
          <p:cNvSpPr/>
          <p:nvPr/>
        </p:nvSpPr>
        <p:spPr>
          <a:xfrm>
            <a:off x="8158349"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26015"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51341"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51" name="Oval 50"/>
          <p:cNvSpPr/>
          <p:nvPr/>
        </p:nvSpPr>
        <p:spPr>
          <a:xfrm>
            <a:off x="9722632"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79029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15624"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4" name="Oval 53"/>
          <p:cNvSpPr/>
          <p:nvPr/>
        </p:nvSpPr>
        <p:spPr>
          <a:xfrm>
            <a:off x="12134234"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2201899"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927226"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57" name="Oval 56"/>
          <p:cNvSpPr/>
          <p:nvPr/>
        </p:nvSpPr>
        <p:spPr>
          <a:xfrm>
            <a:off x="16827081"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689474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522793" y="3749039"/>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60" name="Rectangle 59"/>
          <p:cNvSpPr/>
          <p:nvPr/>
        </p:nvSpPr>
        <p:spPr>
          <a:xfrm>
            <a:off x="72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6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62" name="TextBox 61"/>
          <p:cNvSpPr txBox="1"/>
          <p:nvPr/>
        </p:nvSpPr>
        <p:spPr>
          <a:xfrm>
            <a:off x="106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2년</a:t>
            </a:r>
          </a:p>
        </p:txBody>
      </p:sp>
      <p:sp>
        <p:nvSpPr>
          <p:cNvPr id="63" name="TextBox 62"/>
          <p:cNvSpPr txBox="1"/>
          <p:nvPr/>
        </p:nvSpPr>
        <p:spPr>
          <a:xfrm>
            <a:off x="299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고객 규격·코드 신호가</a:t>
            </a:r>
          </a:p>
          <a:p>
            <a:pPr algn="l">
              <a:lnSpc>
                <a:spcPct val="104000"/>
              </a:lnSpc>
            </a:pPr>
            <a:r>
              <a:rPr sz="1275" b="0">
                <a:solidFill>
                  <a:srgbClr val="555555"/>
                </a:solidFill>
                <a:latin typeface="Arial"/>
                <a:ea typeface="Arial"/>
              </a:rPr>
              <a:t>발주·출하에 선행</a:t>
            </a:r>
          </a:p>
        </p:txBody>
      </p:sp>
      <p:sp>
        <p:nvSpPr>
          <p:cNvPr id="64" name="Rectangle 63"/>
          <p:cNvSpPr/>
          <p:nvPr/>
        </p:nvSpPr>
        <p:spPr>
          <a:xfrm>
            <a:off x="106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9848" y="5715000"/>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고객 규격 · 코드</a:t>
            </a:r>
          </a:p>
        </p:txBody>
      </p:sp>
      <p:sp>
        <p:nvSpPr>
          <p:cNvPr id="66" name="TextBox 65"/>
          <p:cNvSpPr txBox="1"/>
          <p:nvPr/>
        </p:nvSpPr>
        <p:spPr>
          <a:xfrm>
            <a:off x="1069848" y="7168895"/>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발주 · 비트 출하</a:t>
            </a:r>
          </a:p>
        </p:txBody>
      </p:sp>
      <p:sp>
        <p:nvSpPr>
          <p:cNvPr id="67" name="Rectangle 66"/>
          <p:cNvSpPr/>
          <p:nvPr/>
        </p:nvSpPr>
        <p:spPr>
          <a:xfrm>
            <a:off x="2304288" y="5843016"/>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304288" y="7296911"/>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958906" y="5843016"/>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38904" y="6707123"/>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2966222" y="6432803"/>
            <a:ext cx="1079997"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966222" y="6432803"/>
            <a:ext cx="970269" cy="274320"/>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 2년 선행</a:t>
            </a:r>
          </a:p>
        </p:txBody>
      </p:sp>
      <p:sp>
        <p:nvSpPr>
          <p:cNvPr id="73" name="Oval 72"/>
          <p:cNvSpPr/>
          <p:nvPr/>
        </p:nvSpPr>
        <p:spPr>
          <a:xfrm>
            <a:off x="2865638" y="5742431"/>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691902" y="5440679"/>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2022-12 배치 표준 비준</a:t>
            </a:r>
          </a:p>
        </p:txBody>
      </p:sp>
      <p:sp>
        <p:nvSpPr>
          <p:cNvPr id="75" name="Oval 74"/>
          <p:cNvSpPr/>
          <p:nvPr/>
        </p:nvSpPr>
        <p:spPr>
          <a:xfrm>
            <a:off x="3945636" y="7196327"/>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771900" y="7424927"/>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2024 비트 출하 30EB</a:t>
            </a:r>
          </a:p>
        </p:txBody>
      </p:sp>
      <p:sp>
        <p:nvSpPr>
          <p:cNvPr id="77" name="Oval 76"/>
          <p:cNvSpPr/>
          <p:nvPr/>
        </p:nvSpPr>
        <p:spPr>
          <a:xfrm>
            <a:off x="5408858" y="5742431"/>
            <a:ext cx="201168" cy="201168"/>
          </a:xfrm>
          <a:prstGeom prst="ellipse">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772082" y="5989320"/>
            <a:ext cx="1965960" cy="402336"/>
          </a:xfrm>
          <a:prstGeom prst="rect">
            <a:avLst/>
          </a:prstGeom>
          <a:noFill/>
        </p:spPr>
        <p:txBody>
          <a:bodyPr wrap="square" anchor="t" lIns="0" rIns="0" tIns="0" bIns="0">
            <a:spAutoFit/>
          </a:bodyPr>
          <a:lstStyle/>
          <a:p>
            <a:pPr algn="r">
              <a:lnSpc>
                <a:spcPct val="100000"/>
              </a:lnSpc>
            </a:pPr>
            <a:r>
              <a:rPr sz="1125" b="1">
                <a:solidFill>
                  <a:srgbClr val="1428A0"/>
                </a:solidFill>
                <a:latin typeface="Arial"/>
                <a:ea typeface="Arial"/>
              </a:rPr>
              <a:t>2026 KV 캐시 관리자 코드</a:t>
            </a:r>
          </a:p>
          <a:p>
            <a:pPr algn="r">
              <a:lnSpc>
                <a:spcPct val="100000"/>
              </a:lnSpc>
            </a:pPr>
            <a:r>
              <a:rPr sz="1125" b="1">
                <a:solidFill>
                  <a:srgbClr val="1428A0"/>
                </a:solidFill>
                <a:latin typeface="Arial"/>
                <a:ea typeface="Arial"/>
              </a:rPr>
              <a:t>배치 규격 미정의 = 선점 구간</a:t>
            </a:r>
          </a:p>
        </p:txBody>
      </p:sp>
      <p:sp>
        <p:nvSpPr>
          <p:cNvPr id="79" name="Rectangle 78"/>
          <p:cNvSpPr/>
          <p:nvPr/>
        </p:nvSpPr>
        <p:spPr>
          <a:xfrm>
            <a:off x="106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6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82" name="TextBox 81"/>
          <p:cNvSpPr txBox="1"/>
          <p:nvPr/>
        </p:nvSpPr>
        <p:spPr>
          <a:xfrm>
            <a:off x="1399031"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수요  </a:t>
            </a:r>
            <a:r>
              <a:rPr sz="1200" b="0">
                <a:solidFill>
                  <a:srgbClr val="555555"/>
                </a:solidFill>
                <a:latin typeface="Arial"/>
                <a:ea typeface="Arial"/>
              </a:rPr>
              <a:t>고객의 QLC 채택 동인</a:t>
            </a:r>
          </a:p>
        </p:txBody>
      </p:sp>
      <p:sp>
        <p:nvSpPr>
          <p:cNvPr id="83" name="Rectangle 82"/>
          <p:cNvSpPr/>
          <p:nvPr/>
        </p:nvSpPr>
        <p:spPr>
          <a:xfrm>
            <a:off x="6437376" y="4151376"/>
            <a:ext cx="5413248" cy="426110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37376" y="4151376"/>
            <a:ext cx="73152" cy="4261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784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86" name="TextBox 85"/>
          <p:cNvSpPr txBox="1"/>
          <p:nvPr/>
        </p:nvSpPr>
        <p:spPr>
          <a:xfrm>
            <a:off x="6784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12개월</a:t>
            </a:r>
          </a:p>
        </p:txBody>
      </p:sp>
      <p:sp>
        <p:nvSpPr>
          <p:cNvPr id="87" name="TextBox 86"/>
          <p:cNvSpPr txBox="1"/>
          <p:nvPr/>
        </p:nvSpPr>
        <p:spPr>
          <a:xfrm>
            <a:off x="8705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규격 정의 참여 vs 후발의</a:t>
            </a:r>
          </a:p>
          <a:p>
            <a:pPr algn="l">
              <a:lnSpc>
                <a:spcPct val="104000"/>
              </a:lnSpc>
            </a:pPr>
            <a:r>
              <a:rPr sz="1275" b="0">
                <a:solidFill>
                  <a:srgbClr val="555555"/>
                </a:solidFill>
                <a:latin typeface="Arial"/>
                <a:ea typeface="Arial"/>
              </a:rPr>
              <a:t>출시 시점 격차</a:t>
            </a:r>
          </a:p>
        </p:txBody>
      </p:sp>
      <p:sp>
        <p:nvSpPr>
          <p:cNvPr id="88" name="Rectangle 87"/>
          <p:cNvSpPr/>
          <p:nvPr/>
        </p:nvSpPr>
        <p:spPr>
          <a:xfrm>
            <a:off x="6784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84848" y="5340096"/>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61TB QLC 출시 시점 · OCP 2022-10 예고 기준</a:t>
            </a:r>
          </a:p>
        </p:txBody>
      </p:sp>
      <p:sp>
        <p:nvSpPr>
          <p:cNvPr id="90" name="TextBox 89"/>
          <p:cNvSpPr txBox="1"/>
          <p:nvPr/>
        </p:nvSpPr>
        <p:spPr>
          <a:xfrm>
            <a:off x="6784848" y="5650992"/>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Solidigm</a:t>
            </a:r>
          </a:p>
        </p:txBody>
      </p:sp>
      <p:sp>
        <p:nvSpPr>
          <p:cNvPr id="91" name="Rectangle 90"/>
          <p:cNvSpPr/>
          <p:nvPr/>
        </p:nvSpPr>
        <p:spPr>
          <a:xfrm>
            <a:off x="7699248" y="5650992"/>
            <a:ext cx="163024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420932" y="5650992"/>
            <a:ext cx="2082219"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2023-07 · 규격 정의 참여</a:t>
            </a:r>
          </a:p>
        </p:txBody>
      </p:sp>
      <p:sp>
        <p:nvSpPr>
          <p:cNvPr id="93" name="TextBox 92"/>
          <p:cNvSpPr txBox="1"/>
          <p:nvPr/>
        </p:nvSpPr>
        <p:spPr>
          <a:xfrm>
            <a:off x="6784848" y="6089904"/>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삼성</a:t>
            </a:r>
          </a:p>
        </p:txBody>
      </p:sp>
      <p:sp>
        <p:nvSpPr>
          <p:cNvPr id="94" name="Rectangle 93"/>
          <p:cNvSpPr/>
          <p:nvPr/>
        </p:nvSpPr>
        <p:spPr>
          <a:xfrm>
            <a:off x="7699248" y="6089904"/>
            <a:ext cx="3803904" cy="3291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790688" y="6089904"/>
            <a:ext cx="3621024" cy="329184"/>
          </a:xfrm>
          <a:prstGeom prst="rect">
            <a:avLst/>
          </a:prstGeom>
          <a:noFill/>
        </p:spPr>
        <p:txBody>
          <a:bodyPr wrap="square" anchor="ctr" lIns="0" rIns="0" tIns="0" bIns="0">
            <a:spAutoFit/>
          </a:bodyPr>
          <a:lstStyle/>
          <a:p>
            <a:pPr algn="r">
              <a:lnSpc>
                <a:spcPct val="112000"/>
              </a:lnSpc>
            </a:pPr>
            <a:r>
              <a:rPr sz="1125" b="1">
                <a:solidFill>
                  <a:srgbClr val="555555"/>
                </a:solidFill>
                <a:latin typeface="Arial"/>
                <a:ea typeface="Arial"/>
              </a:rPr>
              <a:t>2024-07 · 12개월 후발</a:t>
            </a:r>
          </a:p>
        </p:txBody>
      </p:sp>
      <p:sp>
        <p:nvSpPr>
          <p:cNvPr id="96" name="Rectangle 95"/>
          <p:cNvSpPr/>
          <p:nvPr/>
        </p:nvSpPr>
        <p:spPr>
          <a:xfrm>
            <a:off x="6784848" y="66019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4848" y="6729984"/>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HBM4 규격 정의</a:t>
            </a:r>
          </a:p>
        </p:txBody>
      </p:sp>
      <p:sp>
        <p:nvSpPr>
          <p:cNvPr id="98" name="Oval 97"/>
          <p:cNvSpPr/>
          <p:nvPr/>
        </p:nvSpPr>
        <p:spPr>
          <a:xfrm>
            <a:off x="7781178"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 Same Side Corner Rectangle 98"/>
          <p:cNvSpPr/>
          <p:nvPr/>
        </p:nvSpPr>
        <p:spPr>
          <a:xfrm>
            <a:off x="7699248"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103412" y="7253020"/>
            <a:ext cx="27432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8505383"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 Same Side Corner Rectangle 101"/>
          <p:cNvSpPr/>
          <p:nvPr/>
        </p:nvSpPr>
        <p:spPr>
          <a:xfrm>
            <a:off x="8423452"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891625" y="7022592"/>
            <a:ext cx="1508760" cy="51206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SK hynix ↔ NVIDIA</a:t>
            </a:r>
          </a:p>
          <a:p>
            <a:pPr algn="l">
              <a:lnSpc>
                <a:spcPct val="100000"/>
              </a:lnSpc>
            </a:pPr>
            <a:r>
              <a:rPr sz="1125" b="0">
                <a:solidFill>
                  <a:srgbClr val="555555"/>
                </a:solidFill>
                <a:latin typeface="Arial"/>
                <a:ea typeface="Arial"/>
              </a:rPr>
              <a:t>공동 정의 → 주도권 확보</a:t>
            </a:r>
          </a:p>
        </p:txBody>
      </p:sp>
      <p:sp>
        <p:nvSpPr>
          <p:cNvPr id="104" name="Oval 103"/>
          <p:cNvSpPr/>
          <p:nvPr/>
        </p:nvSpPr>
        <p:spPr>
          <a:xfrm>
            <a:off x="10646907" y="7022592"/>
            <a:ext cx="194584" cy="194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 Same Side Corner Rectangle 104"/>
          <p:cNvSpPr/>
          <p:nvPr/>
        </p:nvSpPr>
        <p:spPr>
          <a:xfrm>
            <a:off x="10564977" y="7247900"/>
            <a:ext cx="358444" cy="286755"/>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014862" y="7022592"/>
            <a:ext cx="470001" cy="512064"/>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삼성</a:t>
            </a:r>
          </a:p>
          <a:p>
            <a:pPr algn="l">
              <a:lnSpc>
                <a:spcPct val="100000"/>
              </a:lnSpc>
            </a:pPr>
            <a:r>
              <a:rPr sz="1125" b="0">
                <a:solidFill>
                  <a:srgbClr val="555555"/>
                </a:solidFill>
                <a:latin typeface="Arial"/>
                <a:ea typeface="Arial"/>
              </a:rPr>
              <a:t>후발 대응</a:t>
            </a:r>
          </a:p>
        </p:txBody>
      </p:sp>
      <p:sp>
        <p:nvSpPr>
          <p:cNvPr id="107" name="Rectangle 106"/>
          <p:cNvSpPr/>
          <p:nvPr/>
        </p:nvSpPr>
        <p:spPr>
          <a:xfrm>
            <a:off x="6784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6784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784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110" name="TextBox 109"/>
          <p:cNvSpPr txBox="1"/>
          <p:nvPr/>
        </p:nvSpPr>
        <p:spPr>
          <a:xfrm>
            <a:off x="7114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역량  </a:t>
            </a:r>
            <a:r>
              <a:rPr sz="1200" b="0">
                <a:solidFill>
                  <a:srgbClr val="555555"/>
                </a:solidFill>
                <a:latin typeface="Arial"/>
                <a:ea typeface="Arial"/>
              </a:rPr>
              <a:t>디바이스에서 고객 시스템까지 3단계</a:t>
            </a:r>
          </a:p>
        </p:txBody>
      </p:sp>
      <p:sp>
        <p:nvSpPr>
          <p:cNvPr id="111" name="Rectangle 110"/>
          <p:cNvSpPr/>
          <p:nvPr/>
        </p:nvSpPr>
        <p:spPr>
          <a:xfrm>
            <a:off x="1215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49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113" name="TextBox 112"/>
          <p:cNvSpPr txBox="1"/>
          <p:nvPr/>
        </p:nvSpPr>
        <p:spPr>
          <a:xfrm>
            <a:off x="1249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2027H2</a:t>
            </a:r>
          </a:p>
        </p:txBody>
      </p:sp>
      <p:sp>
        <p:nvSpPr>
          <p:cNvPr id="114" name="TextBox 113"/>
          <p:cNvSpPr txBox="1"/>
          <p:nvPr/>
        </p:nvSpPr>
        <p:spPr>
          <a:xfrm>
            <a:off x="1442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현재의 결정이 초기 조건이 되는</a:t>
            </a:r>
          </a:p>
          <a:p>
            <a:pPr algn="l">
              <a:lnSpc>
                <a:spcPct val="104000"/>
              </a:lnSpc>
            </a:pPr>
            <a:r>
              <a:rPr sz="1275" b="0">
                <a:solidFill>
                  <a:srgbClr val="555555"/>
                </a:solidFill>
                <a:latin typeface="Arial"/>
                <a:ea typeface="Arial"/>
              </a:rPr>
              <a:t>차기 전환점</a:t>
            </a:r>
          </a:p>
        </p:txBody>
      </p:sp>
      <p:sp>
        <p:nvSpPr>
          <p:cNvPr id="115" name="Rectangle 114"/>
          <p:cNvSpPr/>
          <p:nvPr/>
        </p:nvSpPr>
        <p:spPr>
          <a:xfrm>
            <a:off x="1249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249984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직전 다운턴의 의사결정</a:t>
            </a:r>
          </a:p>
        </p:txBody>
      </p:sp>
      <p:sp>
        <p:nvSpPr>
          <p:cNvPr id="117" name="TextBox 116"/>
          <p:cNvSpPr txBox="1"/>
          <p:nvPr/>
        </p:nvSpPr>
        <p:spPr>
          <a:xfrm>
            <a:off x="1506016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다음 다운턴의 초기 조건</a:t>
            </a:r>
          </a:p>
        </p:txBody>
      </p:sp>
      <p:sp>
        <p:nvSpPr>
          <p:cNvPr id="118" name="Rectangle 117"/>
          <p:cNvSpPr/>
          <p:nvPr/>
        </p:nvSpPr>
        <p:spPr>
          <a:xfrm>
            <a:off x="12499848" y="566928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554712" y="566928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무감산 유지 성공</a:t>
            </a:r>
          </a:p>
        </p:txBody>
      </p:sp>
      <p:sp>
        <p:nvSpPr>
          <p:cNvPr id="120" name="Right Arrow 119"/>
          <p:cNvSpPr/>
          <p:nvPr/>
        </p:nvSpPr>
        <p:spPr>
          <a:xfrm>
            <a:off x="14740128" y="576986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060168" y="566928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5115032" y="566928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국면 오판</a:t>
            </a:r>
          </a:p>
        </p:txBody>
      </p:sp>
      <p:sp>
        <p:nvSpPr>
          <p:cNvPr id="123" name="Rectangle 122"/>
          <p:cNvSpPr/>
          <p:nvPr/>
        </p:nvSpPr>
        <p:spPr>
          <a:xfrm>
            <a:off x="12499848" y="621792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554712" y="621792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HBM 조직 축소</a:t>
            </a:r>
          </a:p>
        </p:txBody>
      </p:sp>
      <p:sp>
        <p:nvSpPr>
          <p:cNvPr id="125" name="Right Arrow 124"/>
          <p:cNvSpPr/>
          <p:nvPr/>
        </p:nvSpPr>
        <p:spPr>
          <a:xfrm>
            <a:off x="14740128" y="631850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5060168" y="621792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15032" y="621792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회복기 주도권 상실</a:t>
            </a:r>
          </a:p>
        </p:txBody>
      </p:sp>
      <p:sp>
        <p:nvSpPr>
          <p:cNvPr id="128" name="Rectangle 127"/>
          <p:cNvSpPr/>
          <p:nvPr/>
        </p:nvSpPr>
        <p:spPr>
          <a:xfrm>
            <a:off x="1249984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55471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2026 · 고객 시스템 계층 진입</a:t>
            </a:r>
          </a:p>
        </p:txBody>
      </p:sp>
      <p:sp>
        <p:nvSpPr>
          <p:cNvPr id="130" name="Right Arrow 129"/>
          <p:cNvSpPr/>
          <p:nvPr/>
        </p:nvSpPr>
        <p:spPr>
          <a:xfrm>
            <a:off x="14740128" y="6867144"/>
            <a:ext cx="237744"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506016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11503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2027H2 · TCO 보증형 수익</a:t>
            </a:r>
          </a:p>
        </p:txBody>
      </p:sp>
      <p:sp>
        <p:nvSpPr>
          <p:cNvPr id="133" name="Rectangle 132"/>
          <p:cNvSpPr/>
          <p:nvPr/>
        </p:nvSpPr>
        <p:spPr>
          <a:xfrm>
            <a:off x="1249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1249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249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136" name="TextBox 135"/>
          <p:cNvSpPr txBox="1"/>
          <p:nvPr/>
        </p:nvSpPr>
        <p:spPr>
          <a:xfrm>
            <a:off x="12829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실행  </a:t>
            </a:r>
            <a:r>
              <a:rPr sz="1200" b="0">
                <a:solidFill>
                  <a:srgbClr val="555555"/>
                </a:solidFill>
                <a:latin typeface="Arial"/>
                <a:ea typeface="Arial"/>
              </a:rPr>
              <a:t>FDE · 전략적 협약 · 조직·인사·문화</a:t>
            </a:r>
          </a:p>
        </p:txBody>
      </p:sp>
      <p:sp>
        <p:nvSpPr>
          <p:cNvPr id="137" name="Rectangle 13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9" name="TextBox 138"/>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요구사항은 다운턴 국면에서 고객 규격·코드로 정의됐고, 정의에 참여한 공급자가 선점했습니다.</a:t>
            </a:r>
          </a:p>
          <a:p>
            <a:pPr algn="l">
              <a:lnSpc>
                <a:spcPct val="108000"/>
              </a:lnSpc>
            </a:pPr>
            <a:r>
              <a:rPr sz="1800" b="1">
                <a:solidFill>
                  <a:srgbClr val="FFFFFF"/>
                </a:solidFill>
                <a:latin typeface="Arial"/>
                <a:ea typeface="Arial"/>
              </a:rPr>
              <a:t>차기 요구사항(KV 캐시 배치·내구성 규격)은 현재 미정의 상태입니다</a:t>
            </a:r>
          </a:p>
        </p:txBody>
      </p:sp>
      <p:sp>
        <p:nvSpPr>
          <p:cNvPr id="140" name="Rectangle 139"/>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수요 · 고객의 요구는 무엇인가</a:t>
            </a:r>
          </a:p>
        </p:txBody>
      </p:sp>
      <p:sp>
        <p:nvSpPr>
          <p:cNvPr id="143" name="TextBox 14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44" name="TextBox 14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수요  </a:t>
            </a:r>
            <a:r>
              <a:rPr sz="1200" b="0">
                <a:solidFill>
                  <a:srgbClr val="1428A0"/>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2장이 지목한 차기 요구사항의 내용입니다. 세 국면의 구매 기준은 TB당 TCO로 일정했고, 변한 것은 워크로드의 쓰기 비중입니다.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30" name="TextBox 2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1" name="TextBox 3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32" name="TextBox 3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33" name="TextBox 3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34" name="TextBox 3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35" name="Right Arrow 3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38" name="TextBox 3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9" name="TextBox 3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40" name="TextBox 3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41" name="TextBox 4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42" name="TextBox 4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43" name="Right Arrow 4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47" name="TextBox 4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48" name="TextBox 4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49" name="TextBox 4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50" name="TextBox 4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51" name="TextBox 5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52" name="Picture 5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53" name="Rectangle 5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수요 모델의 핵심 수치</a:t>
            </a:r>
          </a:p>
        </p:txBody>
      </p:sp>
      <p:sp>
        <p:nvSpPr>
          <p:cNvPr id="55" name="TextBox 5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56" name="TextBox 5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57" name="TextBox 5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58" name="TextBox 5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59" name="TextBox 5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60" name="TextBox 5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61" name="Rectangle 6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64" name="Rectangle 6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6" name="TextBox 65"/>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고객은 추론 캐시 계층에서도 QLC의 TB당 TCO를 요구하며, 제약 조건은 내구성(DWPD 10~40배 격차)입니다.</a:t>
            </a:r>
          </a:p>
          <a:p>
            <a:pPr algn="l">
              <a:lnSpc>
                <a:spcPct val="108000"/>
              </a:lnSpc>
            </a:pPr>
            <a:r>
              <a:rPr sz="1800" b="1">
                <a:solidFill>
                  <a:srgbClr val="FFFFFF"/>
                </a:solidFill>
                <a:latin typeface="Arial"/>
                <a:ea typeface="Arial"/>
              </a:rPr>
              <a:t>1장의 산식대로 이 격차는 디바이스 단독으로 해소되지 않습니다</a:t>
            </a:r>
          </a:p>
        </p:txBody>
      </p:sp>
      <p:sp>
        <p:nvSpPr>
          <p:cNvPr id="67" name="Rectangle 66"/>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70" name="TextBox 69"/>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71" name="TextBox 70"/>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 격차는 호스트 배치(WAF)로 해소되므로, 고객 시스템까지 3단계로 역량을 확장합니다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8408" y="2560320"/>
            <a:ext cx="17830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30" name="TextBox 29"/>
          <p:cNvSpPr txBox="1"/>
          <p:nvPr/>
        </p:nvSpPr>
        <p:spPr>
          <a:xfrm>
            <a:off x="2871216" y="2560320"/>
            <a:ext cx="17007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QLC 0.075~0.6 vs TLC 1~3 DWPD</a:t>
            </a:r>
          </a:p>
        </p:txBody>
      </p:sp>
      <p:sp>
        <p:nvSpPr>
          <p:cNvPr id="31" name="Rectangle 30"/>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3" name="TextBox 32"/>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4" name="Rectangle 33"/>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36" name="TextBox 35"/>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37" name="Rectangle 36"/>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789152" y="2560320"/>
            <a:ext cx="20574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39" name="TextBox 38"/>
          <p:cNvSpPr txBox="1"/>
          <p:nvPr/>
        </p:nvSpPr>
        <p:spPr>
          <a:xfrm>
            <a:off x="15956280" y="2560320"/>
            <a:ext cx="14264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배치 표준 WAF 실측</a:t>
            </a:r>
          </a:p>
        </p:txBody>
      </p:sp>
      <p:sp>
        <p:nvSpPr>
          <p:cNvPr id="40" name="Rectangle 39"/>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2" name="Rectangle 41"/>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4" name="Rectangle 43"/>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46" name="Rectangle 45"/>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48" name="Rectangle 47"/>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0" name="Rectangle 49"/>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52" name="Rectangle 51"/>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4" name="Rectangle 53"/>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56" name="Rectangle 55"/>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58" name="TextBox 57"/>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59" name="Rectangle 58"/>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1" name="Rectangle 60"/>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3" name="Rectangle 62"/>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5" name="Rectangle 64"/>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67" name="Rectangle 66"/>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69" name="Rectangle 68"/>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71" name="Down Arrow 70"/>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Up Arrow 71"/>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4" name="TextBox 73"/>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5" name="TextBox 74"/>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76" name="Rectangle 75"/>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78" name="Rectangle 77"/>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0" name="Rectangle 79"/>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2" name="Rectangle 81"/>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4" name="Rectangle 83"/>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86" name="Rectangle 85"/>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88" name="Oval 87"/>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 Same Side Corner Rectangle 88"/>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1" name="TextBox 90"/>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2" name="TextBox 91"/>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3" name="TextBox 92"/>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4" name="Rectangle 93"/>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22376" y="8229600"/>
            <a:ext cx="54132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37376" y="8229600"/>
            <a:ext cx="151570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Isosceles Triangle 98"/>
          <p:cNvSpPr/>
          <p:nvPr/>
        </p:nvSpPr>
        <p:spPr>
          <a:xfrm>
            <a:off x="7834213"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154253" y="8357616"/>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 확보(CMX 첫 공급) · 워크로드 실측 미공개 · 캐시 관리자 4종 기여 0건</a:t>
            </a:r>
          </a:p>
        </p:txBody>
      </p:sp>
      <p:sp>
        <p:nvSpPr>
          <p:cNvPr id="101" name="Rectangle 100"/>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50224"/>
            <a:ext cx="1153972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확보·2단계 진입 상태이며, 3단계 진입 수단이 다음 장입니다</a:t>
            </a:r>
          </a:p>
        </p:txBody>
      </p:sp>
      <p:sp>
        <p:nvSpPr>
          <p:cNvPr id="104" name="Rectangle 103"/>
          <p:cNvSpPr/>
          <p:nvPr/>
        </p:nvSpPr>
        <p:spPr>
          <a:xfrm>
            <a:off x="14456664" y="8759952"/>
            <a:ext cx="283464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45666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657832" y="8759952"/>
            <a:ext cx="254203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누가 어떻게 실행하는가</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 시스템 진입 수단은 FDE 상주와 전략적 협약(SCA)이며, 두 수단 모두 업계 선례가 있습니다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30" name="TextBox 2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삼성이 제공하는 것</a:t>
            </a:r>
          </a:p>
        </p:txBody>
      </p:sp>
      <p:sp>
        <p:nvSpPr>
          <p:cNvPr id="31" name="Rectangle 3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33" name="Rectangle 3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35" name="Rectangle 3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37" name="Rectangle 3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39" name="Rectangle 3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고객 관계 = 워크로드 접근권</a:t>
            </a:r>
          </a:p>
        </p:txBody>
      </p:sp>
      <p:sp>
        <p:nvSpPr>
          <p:cNvPr id="42" name="Rectangle 4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44" name="TextBox 4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 인력·코드의 진입 계층</a:t>
            </a:r>
          </a:p>
        </p:txBody>
      </p:sp>
      <p:sp>
        <p:nvSpPr>
          <p:cNvPr id="45" name="Rectangle 4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47" name="Rectangle 4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49" name="Rectangle 4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51" name="Rectangle 5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53" name="Oval 5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 Same Side Corner Rectangle 5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56" name="TextBox 5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57" name="Picture 5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58" name="Picture 57" descr="openai.png"/>
          <p:cNvPicPr>
            <a:picLocks noChangeAspect="1"/>
          </p:cNvPicPr>
          <p:nvPr/>
        </p:nvPicPr>
        <p:blipFill>
          <a:blip r:embed="rId3"/>
          <a:stretch>
            <a:fillRect/>
          </a:stretch>
        </p:blipFill>
        <p:spPr>
          <a:xfrm>
            <a:off x="15197326" y="6170781"/>
            <a:ext cx="532886" cy="130853"/>
          </a:xfrm>
          <a:prstGeom prst="rect">
            <a:avLst/>
          </a:prstGeom>
        </p:spPr>
      </p:pic>
      <p:pic>
        <p:nvPicPr>
          <p:cNvPr id="59" name="Picture 58" descr="nvidia.png"/>
          <p:cNvPicPr>
            <a:picLocks noChangeAspect="1"/>
          </p:cNvPicPr>
          <p:nvPr/>
        </p:nvPicPr>
        <p:blipFill>
          <a:blip r:embed="rId4"/>
          <a:stretch>
            <a:fillRect/>
          </a:stretch>
        </p:blipFill>
        <p:spPr>
          <a:xfrm>
            <a:off x="15828351" y="6170781"/>
            <a:ext cx="684696" cy="130853"/>
          </a:xfrm>
          <a:prstGeom prst="rect">
            <a:avLst/>
          </a:prstGeom>
        </p:spPr>
      </p:pic>
      <p:pic>
        <p:nvPicPr>
          <p:cNvPr id="60" name="Picture 59" descr="meta.png"/>
          <p:cNvPicPr>
            <a:picLocks noChangeAspect="1"/>
          </p:cNvPicPr>
          <p:nvPr/>
        </p:nvPicPr>
        <p:blipFill>
          <a:blip r:embed="rId5"/>
          <a:stretch>
            <a:fillRect/>
          </a:stretch>
        </p:blipFill>
        <p:spPr>
          <a:xfrm>
            <a:off x="16611188" y="6170781"/>
            <a:ext cx="643539" cy="130853"/>
          </a:xfrm>
          <a:prstGeom prst="rect">
            <a:avLst/>
          </a:prstGeom>
        </p:spPr>
      </p:pic>
      <p:sp>
        <p:nvSpPr>
          <p:cNvPr id="61" name="Right Arrow 6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 상주: 삼성 엔지니어의 고객 시스템 진입</a:t>
            </a:r>
          </a:p>
          <a:p>
            <a:pPr algn="l">
              <a:lnSpc>
                <a:spcPct val="106000"/>
              </a:lnSpc>
            </a:pPr>
            <a:r>
              <a:rPr sz="1350" b="0">
                <a:solidFill>
                  <a:srgbClr val="FFFFFF"/>
                </a:solidFill>
                <a:latin typeface="Arial"/>
                <a:ea typeface="Arial"/>
              </a:rPr>
              <a:t>상주 엔지니어 · 업스트림 코드 · 수명 보증</a:t>
            </a:r>
          </a:p>
        </p:txBody>
      </p:sp>
      <p:sp>
        <p:nvSpPr>
          <p:cNvPr id="63" name="Rectangle 6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65" name="Oval 6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 Same Side Corner Rectangle 6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 Same Side Corner Rectangle 6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 Same Side Corner Rectangle 6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74" name="TextBox 7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시스템에 상주하며 실제 요구를 코드로 구현하고 성과로 평가받는 엔지니어(코드명 Delta)</a:t>
            </a:r>
          </a:p>
          <a:p>
            <a:pPr algn="l">
              <a:lnSpc>
                <a:spcPct val="104000"/>
              </a:lnSpc>
            </a:pPr>
            <a:r>
              <a:rPr sz="1200" b="1">
                <a:solidFill>
                  <a:srgbClr val="1A1A1A"/>
                </a:solidFill>
                <a:latin typeface="Arial"/>
                <a:ea typeface="Arial"/>
              </a:rPr>
              <a:t>고객 락인의 동력으로 평가(주가 수익률 640%). Anthropic·OpenAI가 GTM 모델로 채택</a:t>
            </a:r>
          </a:p>
        </p:txBody>
      </p:sp>
      <p:sp>
        <p:nvSpPr>
          <p:cNvPr id="75" name="Rectangle 7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77" name="Rectangle 7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79" name="Rectangle 7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81" name="Rectangle 8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83" name="Rectangle 8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85" name="TextBox 8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결합해 워크로드·규격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공급 계약에는 공동 설계 조항 부재 → 삼성이 선제 제안</a:t>
            </a:r>
          </a:p>
        </p:txBody>
      </p:sp>
      <p:sp>
        <p:nvSpPr>
          <p:cNvPr id="86" name="Left Arrow 8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 워크로드·규격 접근권 확보</a:t>
            </a:r>
          </a:p>
          <a:p>
            <a:pPr algn="l">
              <a:lnSpc>
                <a:spcPct val="106000"/>
              </a:lnSpc>
            </a:pPr>
            <a:r>
              <a:rPr sz="1350" b="0">
                <a:solidFill>
                  <a:srgbClr val="1A1A1A"/>
                </a:solidFill>
                <a:latin typeface="Arial"/>
                <a:ea typeface="Arial"/>
              </a:rPr>
              <a:t>트레이스 · KV 수명 정책 · 레퍼런스 스펙 · 계약 시한 2027년 상반기(공급 완화 전)</a:t>
            </a:r>
          </a:p>
        </p:txBody>
      </p:sp>
      <p:sp>
        <p:nvSpPr>
          <p:cNvPr id="88" name="Rectangle 8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91" name="TextBox 9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92" name="Rectangle 9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95" name="TextBox 9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96" name="Rectangle 9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99" name="TextBox 9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100" name="Rectangle 99"/>
          <p:cNvSpPr/>
          <p:nvPr/>
        </p:nvSpPr>
        <p:spPr>
          <a:xfrm>
            <a:off x="722376" y="8339327"/>
            <a:ext cx="16843248" cy="9509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33856" y="8339327"/>
            <a:ext cx="1463040" cy="950976"/>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2" name="Rectangle 101"/>
          <p:cNvSpPr/>
          <p:nvPr/>
        </p:nvSpPr>
        <p:spPr>
          <a:xfrm>
            <a:off x="2551176"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697480"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1 산식</a:t>
            </a:r>
          </a:p>
          <a:p>
            <a:pPr algn="l">
              <a:lnSpc>
                <a:spcPct val="102000"/>
              </a:lnSpc>
            </a:pPr>
            <a:r>
              <a:rPr sz="1125" b="0">
                <a:solidFill>
                  <a:srgbClr val="FFFFFF"/>
                </a:solidFill>
                <a:latin typeface="Arial"/>
                <a:ea typeface="Arial"/>
              </a:rPr>
              <a:t>SSD 단독은 WAF ≈ 3</a:t>
            </a:r>
          </a:p>
          <a:p>
            <a:pPr algn="l">
              <a:lnSpc>
                <a:spcPct val="102000"/>
              </a:lnSpc>
            </a:pPr>
            <a:r>
              <a:rPr sz="1125" b="0">
                <a:solidFill>
                  <a:srgbClr val="FFFFFF"/>
                </a:solidFill>
                <a:latin typeface="Arial"/>
                <a:ea typeface="Arial"/>
              </a:rPr>
              <a:t>호스트 공동 설계로만 1.0</a:t>
            </a:r>
          </a:p>
        </p:txBody>
      </p:sp>
      <p:sp>
        <p:nvSpPr>
          <p:cNvPr id="104" name="Right Arrow 103"/>
          <p:cNvSpPr/>
          <p:nvPr/>
        </p:nvSpPr>
        <p:spPr>
          <a:xfrm>
            <a:off x="525048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56138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570768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2 시점</a:t>
            </a:r>
          </a:p>
          <a:p>
            <a:pPr algn="l">
              <a:lnSpc>
                <a:spcPct val="102000"/>
              </a:lnSpc>
            </a:pPr>
            <a:r>
              <a:rPr sz="1125" b="0">
                <a:solidFill>
                  <a:srgbClr val="FFFFFF"/>
                </a:solidFill>
                <a:latin typeface="Arial"/>
                <a:ea typeface="Arial"/>
              </a:rPr>
              <a:t>규격은 다운턴 국면에 정의</a:t>
            </a:r>
          </a:p>
          <a:p>
            <a:pPr algn="l">
              <a:lnSpc>
                <a:spcPct val="102000"/>
              </a:lnSpc>
            </a:pPr>
            <a:r>
              <a:rPr sz="1125" b="0">
                <a:solidFill>
                  <a:srgbClr val="FFFFFF"/>
                </a:solidFill>
                <a:latin typeface="Arial"/>
                <a:ea typeface="Arial"/>
              </a:rPr>
              <a:t>차기 규격은 현재 미정의</a:t>
            </a:r>
          </a:p>
        </p:txBody>
      </p:sp>
      <p:sp>
        <p:nvSpPr>
          <p:cNvPr id="107" name="Right Arrow 106"/>
          <p:cNvSpPr/>
          <p:nvPr/>
        </p:nvSpPr>
        <p:spPr>
          <a:xfrm>
            <a:off x="826068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571585"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717889"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3 수요</a:t>
            </a:r>
          </a:p>
          <a:p>
            <a:pPr algn="l">
              <a:lnSpc>
                <a:spcPct val="102000"/>
              </a:lnSpc>
            </a:pPr>
            <a:r>
              <a:rPr sz="1125" b="0">
                <a:solidFill>
                  <a:srgbClr val="FFFFFF"/>
                </a:solidFill>
                <a:latin typeface="Arial"/>
                <a:ea typeface="Arial"/>
              </a:rPr>
              <a:t>추론 캐시 계층도 TB당 TCO</a:t>
            </a:r>
          </a:p>
          <a:p>
            <a:pPr algn="l">
              <a:lnSpc>
                <a:spcPct val="102000"/>
              </a:lnSpc>
            </a:pPr>
            <a:r>
              <a:rPr sz="1125" b="0">
                <a:solidFill>
                  <a:srgbClr val="FFFFFF"/>
                </a:solidFill>
                <a:latin typeface="Arial"/>
                <a:ea typeface="Arial"/>
              </a:rPr>
              <a:t>제약 조건 = 내구성</a:t>
            </a:r>
          </a:p>
        </p:txBody>
      </p:sp>
      <p:sp>
        <p:nvSpPr>
          <p:cNvPr id="110" name="Right Arrow 109"/>
          <p:cNvSpPr/>
          <p:nvPr/>
        </p:nvSpPr>
        <p:spPr>
          <a:xfrm>
            <a:off x="1127089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158179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72809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4 역량</a:t>
            </a:r>
          </a:p>
          <a:p>
            <a:pPr algn="l">
              <a:lnSpc>
                <a:spcPct val="102000"/>
              </a:lnSpc>
            </a:pPr>
            <a:r>
              <a:rPr sz="1125" b="0">
                <a:solidFill>
                  <a:srgbClr val="FFFFFF"/>
                </a:solidFill>
                <a:latin typeface="Arial"/>
                <a:ea typeface="Arial"/>
              </a:rPr>
              <a:t>디바이스 → 워크로드 →</a:t>
            </a:r>
          </a:p>
          <a:p>
            <a:pPr algn="l">
              <a:lnSpc>
                <a:spcPct val="102000"/>
              </a:lnSpc>
            </a:pPr>
            <a:r>
              <a:rPr sz="1125" b="0">
                <a:solidFill>
                  <a:srgbClr val="FFFFFF"/>
                </a:solidFill>
                <a:latin typeface="Arial"/>
                <a:ea typeface="Arial"/>
              </a:rPr>
              <a:t>고객 시스템 3단계</a:t>
            </a:r>
          </a:p>
        </p:txBody>
      </p:sp>
      <p:sp>
        <p:nvSpPr>
          <p:cNvPr id="113" name="Right Arrow 112"/>
          <p:cNvSpPr/>
          <p:nvPr/>
        </p:nvSpPr>
        <p:spPr>
          <a:xfrm>
            <a:off x="1428109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591995" y="8467344"/>
            <a:ext cx="2607868" cy="694944"/>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738299" y="8522208"/>
            <a:ext cx="2315260" cy="603504"/>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5 실행</a:t>
            </a:r>
          </a:p>
          <a:p>
            <a:pPr algn="l">
              <a:lnSpc>
                <a:spcPct val="102000"/>
              </a:lnSpc>
            </a:pPr>
            <a:r>
              <a:rPr sz="1125" b="1">
                <a:solidFill>
                  <a:srgbClr val="1A1A1A"/>
                </a:solidFill>
                <a:latin typeface="Arial"/>
                <a:ea typeface="Arial"/>
              </a:rPr>
              <a:t>FDE 상주 · 전략적 협약</a:t>
            </a:r>
          </a:p>
          <a:p>
            <a:pPr algn="l">
              <a:lnSpc>
                <a:spcPct val="102000"/>
              </a:lnSpc>
            </a:pPr>
            <a:r>
              <a:rPr sz="1125" b="1">
                <a:solidFill>
                  <a:srgbClr val="1A1A1A"/>
                </a:solidFill>
                <a:latin typeface="Arial"/>
                <a:ea typeface="Arial"/>
              </a:rPr>
              <a:t>조직 · 인사 · 문화</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