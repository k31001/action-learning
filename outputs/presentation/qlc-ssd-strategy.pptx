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문제 제기입니다. 결론은 내리지 않고, 고용량 QLC에서 DWPD를 높일 해법이 필요한 상황임을 세웁니다. 상단 타임라인의 세 구간이 아래 세 패널과 정렬돼 있습니다. 왼쪽 패널, 교훈. 교훈 1 수요 센싱입니다. 종전에는 표준 비준이 약 2년 선행 신호라고 봤는데, 확인해 보니 그 명제는 반례가 있습니다. ZNS는 2020년 6월 비준되고 같은 달 커널 패치까지 올라갔지만 6년이 지난 지금도 하이퍼스케일 물량이 없습니다. 반면 FDP는 2022년 11월 비준 후 2024년 1월 Meta의 CacheLib 프로덕션 코드에 머지됐고, 2025년 5월 Linux 6.16에 배치 힌트 경로가 들어갔으며 물량이 따라오고 있습니다. 두 사례의 차이는 표준 비준이 아니라 구매자가 자기 프로덕션 코드에 넣었는가입니다. 그래서 판별 기준을 바꿔야 합니다. 지금의 등가 신호는 KV 캐시 스택에 배치 힌트 인터페이스가 아직 없다는 사실이고, 이는 캐시 관리자가 KV 블록의 수명 등급을 NVMe 배치 핸들로 전달하는 코드 경로가 비어 있다는 뜻입니다. 교훈 2 고객 협업입니다. 종전 문안은 규격 정의에 참여한 공급자가 선점했다는 것이었는데, 확인 결과 주체가 틀렸습니다. OCP 데이터센터 NVMe SSD 사양의 기고자는 Meta, Microsoft, Google, Dell, HPE로 전부 구매자이고 SSD 벤더는 명단에 없습니다. 이 문서는 벤더가 쓰는 규격이 아니라 구매자가 쓰고 벤더가 준수하는 조달 사양입니다. Solidigm이 61TB를 12개월 앞선 공개 근거도 규격 기고가 아니라 192층 QLC와 오픈소스 FTL입니다. HBM4도 마찬가지입니다. JEDEC 표준은 삼성을 포함한 9사가 함께 개발했으므로 참여 여부가 차이를 만들지 않았고, 실제 구속 사양은 NVIDIA가 요구한 10에서 13Gbps였으며 승부는 패키징 수율과 고객 퀄에서 갈렸습니다. 삼성은 2026년 2월 업계 최초로 상용 HBM4를 출하했으므로 늦었다는 서술은 HBM3E 세대에 한정해야 합니다. 따라서 교훈은 구매자의 조달 규격과 프로덕션 코드를 먼저 읽고 제품을 선행 개발한 공급자가 선점한다는 것입니다. 교훈 3 의사결정 시점입니다. 차기 전환점을 2028년으로 봅니다. 2027년은 TrendForce 기준 NAND 수급률이 부호를 바꾸는 해이지만, 같은 기관이 신증설 capacity의 의미 있는 산출 기여는 2028년 전에는 없다고 밝혔습니다. SK하이닉스 청주 M17 클린룸 개방 목표가 2028년 12월, 삼성 평택 P5 가동이 이르면 2028년, 마이크론 싱가포르가 2028년 하반기입니다. 수요 쪽도 하이퍼스케일러 CapEx 증가율이 2026년 105%, 2027년 43%, 2028년 12%로 꺾이고 억제된 감가상각이 2028년에 1,070억 달러로 최대가 됩니다. 즉 2027년은 회계상의 전환, 2028년은 물리적 도달입니다. 2028년에 준비되어 있으려면 2026년에 고객 시스템 안에 들어가 있어야 합니다. 가운데 패널, 구매 기준의 이동입니다. 2008년에서 2012년 구간의 차별화 축은 IOPS와 대역폭이었고 내구성은 이미 JESD218과 219로 표준화된 자격 요건이었습니다. 2012년에서 2021년 구간은 QoS가 스펙 전면으로 올라온 시기입니다. S3700이 99.9% 지연 500마이크로초를 내세웠고, OCP 사양 v2.0이 2021년 7월 지연 모니터를 의무화하면서 제도화됐습니다. 2022년 이후는 용량 밀도와 전력 효율, 공급 확보가 상위 기준이고 QoS는 사라진 것이 아니라 기본 요건으로 굳었습니다. 내구성은 하나의 축에서 둘로 갈라져 245TB QLC의 0.3 DWPD와 SLC의 60 DWPD가 같은 해에 팔립니다. 추론 캐시 계층에서만 내구성이 다시 구속 조건이 됩니다. SSD가 맞춰야 할 기준을 구체적으로 적으면 슬롯당 용량, 와트당 용량과 IOPS, 99.9999% 읽기 지연, DWPD와 TBW, TB당 가격, 공급 보장, 그리고 배치 힌트와 텔레메트리 지원입니다. 오른쪽 패널, 문제입니다. 요구 1에서 3 DWPD를 현 QLC 정격 0.6으로 나누면 2배에서 5배 격차입니다. 수요는 단일 숫자가 아니라 경로로 봐야 합니다. SanDisk는 KV 캐시만으로 2027년 75에서 100EB의 추가 NAND 수요가 생기고 1년 뒤 두 배가 된다고 밝혔습니다. 2029년과 2030년은 그 성장률을 외삽한 재구성값이며 2030년 350EB는 발표된 숫자가 아니라 SanDisk의 비중 진술로부터 재구성한 값입니다. 전체 엔터프라이즈 SSD 수요는 McKinsey 기준 2024년 181EB에서 2030년 1,078EB로 연 35% 성장하고 그중 추론용이 447EB입니다. 그래서 고용량 QLC에서 DWPD를 높일 해법이 필요하고, 고용량화가 낳는 두 축이 2장과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신뢰성 축입니다. 요구는 구매자 사양이 정합니다. OCP 데이터센터 NVMe SSD 사양의 MTBF 200만 시간은 연간 고장률 0.44%, 5년 누적 21,662 ppm에 해당하고 이는 JEDEC JESD218의 기능 고장률 3%보다 엄격합니다. 이 요구가 고정인 상태에서 SSD당 NAND 다이 수는 61TB급 512개, 245·256TB급 1,024개, 512TB급 2,133개로 늘어납니다. 용량에 정비례하지는 않습니다. 2Tb 다이로 옮기면 같은 다이 수로 용량이 두 배가 되기 때문입니다. 대신 다이 1개가 안고 있는 데이터가 0.125TB에서 0.25TB로 두 배가 됩니다. 보호가 없으면 드라이브 고장률은 다이 수에 비례하므로, 다이 1개당 허용 고장률은 61TB급 43 ppm, 245TB급 21 ppm, 512TB급 10 ppm까지 내려갑니다. 현재 다이 고장률의 추정 수준은 200에서 2,700 ppm 범위입니다. 구글이 2016년 FAST에서 보고한 4년 내 배드 칩 발생 드라이브 비율 2~7%를 당시 다이 수 32~128개로 역산한 값이며, 다이 수가 공개되지 않아 폭이 넓습니다. 어느 쪽이든 보호 없이는 두 자릿수 배수로 미달합니다. 가운데 차트가 해법의 크기입니다. 15+1 단일 패리티는 같은 스트라이프에서 두 개가 동시에 고장나야 데이터를 잃으므로 요구가 1,679 ppm으로 79배 완화되고 용량 비용은 6.2%입니다. 마이크론이 RAIN에서 공개한 패리티 비율이 1대 15입니다. 14+2 이중 패리티는 8,455 ppm으로 395배 완화되고 비용은 12.5%입니다. 여분 다이로 재구축하면 두 번째 고장이 재구축 창 안에 겹쳐야 하므로 요구는 1,000배 이상 완화되어 실질적으로 해소됩니다. 단, 이중 패리티와 여분 다이는 공개 문헌에서 벤더 적용 사례를 확인하지 못한 모델 옵션입니다. 확인된 공개 사실은 마이크론의 단일 칩 고장 보호와 삼성 PM1733의 Fail-in-Place입니다. 오른쪽 판정이 이 장의 결론입니다. 245·256TB급은 단일 패리티 요구가 1,679 ppm으로 현 수준 추정 범위 안에 들어와 충족 가능합니다. 512TB급은 단일 패리티 요구가 1,164 ppm으로 현 수준 상단에 미달하므로 이중 패리티나 여분 다이 재구축이 필요합니다. 512TB 세대의 설계 결정이 여기서 나옵니다. 하단은 SSD 내부 해법 도해입니다. 첫째 다이 패리티는 슈퍼페이지를 여러 다이에 걸쳐 구성하고 패리티에 XOR를 저장해 단일 다이 고장을 복구합니다. 둘째 여분 다이는 고장 다이를 은퇴시키고 재구축으로 보호 상태를 복원하며 용량을 유지합니다. 셋째 텔레메트리는 다이별 RBER 추이와 XOR 복구 횟수로 징후를 감지해 돌발 고장을 계획 감량으로 바꿉니다. 다만 구글 연구는 RBER이 UBER나 고장을 예측하지 못한다고 보고했으므로 예측 지표는 RBER 단독이 아니라 XOR 복구 횟수와 배드 블록 증가율을 함께 봐야 합니다. 넷째 호스트는 관측과 수용만 합니다. 해결 주체는 SSD이고 호스트 협력은 규격화에 한정됩니다. 결론은 이 축이 SSD 안에서 충족된다는 것이며, 둘째 축 DWPD가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이관 매트릭스입니다. 고용량 QLC의 DWPD 격차를 받아, 지금까지 단품이 못 푼 문제를 어느 계층이 풀어 왔는지의 경향을 보이고 호스트 시스템 수준 해법이 왜 필요한지를 세웁니다. 열은 이관 단계, 행은 내구성 축입니다. 산식 DWPD = P/E × (1+OP) ÷ WAF ÷ 365 × 년의 각 항은 결정 주체가 열과 대응합니다. 요구 열입니다. 추론 캐시 계층 제품의 정격은 1에서 3 DWPD이고 현 QLC 정격 0.6과는 2배에서 5배 격차입니다. UBER는 JESD218 기준으로 고정이며 드라이브 고장률 요구는 2장에서 SSD 내부 구조로 충족됩니다. 단품 열입니다. P/E 사이클은 SLC 3만에서 10만 회에서 QLC 100에서 1천 회로 약 100배 줄었고 RBER은 약 백만 배 올랐습니다. 셀은 시간에 따라 변하는 산포를 단독으로 보정하지 못합니다. SSD 계층 열입니다. 1단계 컨트롤러 ECC는 512바이트당 1비트에서 킬로바이트당 120비트 LDPC로 60배 강화되어 UBER 요구를 충족했고 완결된 이관입니다. 2단계 SSD 단독 워크로드 최적화는 2014년에서 2019년의 멀티스트림, 오토스트림, FTL 핫콜드 추정, NVMe IO 결정성인데 QoS와 성능은 개선했지만 데이터 수명을 SSD가 감지할 수 없어 실 워크로드 WAF는 3 수준에 머물렀습니다. 차트가 그 결과입니다. 정격 DWPD는 2008년 17에서 2025년 0.3으로 57배 내려갔습니다. 다만 이 숫자만 읽으면 오독입니다. DWPD는 용량으로 나눈 지표이므로 드라이브당 하루 허용 기입량으로 환산하면 1.1TB에서 73.7TB로 67배 올라갔습니다. 요구가 줄어든 것이 아니라 분모가 커진 것입니다. 호스트 계층 열입니다. 호스트가 데이터 수명을 지정하면 WAF가 1 근처로 내려갑니다. 여기서 연도별 추이선을 그리지 않은 이유가 중요합니다. Meta의 CacheLib 공식 문서를 보면 같은 드라이브, 같은 트레이스인데도 디바이스 사용률이 100%일 때 기준 WAF가 3.22, 50%일 때 1.22로 2.6배 차이가 납니다. 연도축에 서로 다른 실험을 늘어놓으면 이 교란변수가 숨습니다. 그래서 기법별로 적용 전과 후를 짝지어 조건과 함께 표기했습니다. CacheLib 사용률 100%에서 3.22에서 1.03, 사용률 50%에서 1.22에서 1.03, Kioxia XD8 CacheBench에서 2.8에서 약 1.0입니다. 주의할 점은 CacheLib의 KV 캐시가 LLM KV 캐시가 아니라 Meta 소셜그래프용 키값 캐시라는 것입니다. LLM KV 캐시 오프로드의 WAF 공개 실측은 2026년 9월 현재 없으며, FAST 2026의 WARP 연구는 수명 오분류나 핸들 간 간섭이 있으면 배치 분리가 WAF를 낮추지 못한다고 보고합니다. 그래서 이 장의 주장은 조건부이고 4장 Phase 2 실측이 그 검증입니다. 하단 격차 축소 변수 스트립이 이 장의 핵심 정정입니다. 호스트 배치 하나로는 요구 대비 2배에서 5배 격차가 해소되지 않습니다. WAF 변수는 유효 DWPD 약 3배이고, 다이 세대, OP, SLC 캐시와 쓰기 정형, 보증연수와 TBW 기준, 워크로드 재정의와 결합해야 요구에 도달합니다. 이 축들은 모두 병행 중이며 본 보고는 호스트 축만 다룹니다. 호스트와 고객 쪽 변수가 다수라는 점이 공동 설계의 근거입니다. 신뢰성 축(다이 수·고장률)은 2장에서 보였듯 SSD 내부에서 충족되지만, DWPD 축의 잔여 변수 WAF는 SSD 밖 호스트가 결정합니다. 그래서 고객 협업과 새로운 역량이 필요하고, 그 역량이 4장입니다. 근거 등급은 보고서 부록 A에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해법의 제안입니다. 1장이 제기한 내구성 격차를 해소하는 경로이며, 3장의 산식에서 남은 보상 변수는 WAF이고, WAF는 호스트가 데이터 수명에 따라 배치를 결정할 때 1에 수렴하므로 내구성 격차는 디바이스가 아니라 고객 시스템의 배치 방식에서 해소됩니다. 그래서 역량을 디바이스에서 고객 시스템 계층까지 3단계로 확장합니다. 리드의 인용은 베인 신문섭 파트너의 진단으로 같은 결론입니다. 상단 타일은 격차와 수단입니다. 내구성 격차(요구 1~3 DWPD 대비 현 QLC 정격 0.6으로 2~5배), 요구 분리 스트림 16개(XFS 쓰기 스트림 상한, 제품 지원 수는 업계 미공개), 접점 부재(KV 캐시 관리자 4종 코드에 배치 규격 언급 0건), 해소 수단 실증(CacheLib 배치 표준 적용 WAF 3.22→1.03, XFS write streams RocksDB -35%, ScaleFlux 유효 7~10 DWPD). 그림은 고객 시스템 5계층을 세 번 그리고 삼성이 닿는 층을 색으로 표시하며(파랑 = 삼성 코드·제품, 연파랑 = 관측·분석, 흰색 = 고객 영역),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디바이스(컨트롤러·배치 핸들 펌웨어·2Tb QLC·NVMe KV 확장·텔레메트리). Phase 1 배치 표준 디바이스 확보: SSD 층만 삼성의 범위이며 고객 보증 범위는 정격 내 QLC 원가·전력입니다. Phase 2 워크로드 실측 기반 최적화: 캐시 관리자의 빈도 필터·퇴거 정책이 트레이스의 원천이고, I/O 라이브러리의 io_uring·GDS 백엔드에 write stream을 부착하며 커널 스트림과 CMX 힌트 매핑을 검증해 배치 핸들 정책·WAF·유효 DWPD 실측을 공개합니다. 고객 보증 범위는 고객 워크로드 기준 수명입니다. Phase 3 고객 시스템 내 공동 설계: 캐시 관리자 4종에 플러그인을 메인라인으로 머지하고, NIXL·xNVMe가 기본 백엔드가 되며, DOCA Memos와 배치 표준의 매핑을 NVIDIA와 공동 정의하고, 응용 층은 커넥터·스케줄러를 분석해 공용 TCO 모델(GPU당 동시 사용자·TTFT·전력)로 협의합니다. FDE(Forward Deployed Engineer)가 고객 시스템에 상주합니다. 고객 보증 범위는 시스템 수준 TCO입니다. 삼성 현 위치는 정직하게 Phase 1 진행 중입니다. CMX 첫 공급은 TLC이고 QLC 라인의 배치 핸들 수와 유효 DWPD는 공개돼 있지 않습니다. Phase 2는 준비 단계로 KV cache 백서 2종으로 측정 역량은 있으나 트레이스 기반 실측이 미공개이고, Phase 3는 캐시 관리자 4종 기여 0건으로 미착수입니다. 오케스트레이션 자체는 만들지 않습니다. 결론: 단계마다 고객 보증 범위가 원가·전력 → 워크로드 수명 → 시스템 TCO로 확장되며, 3단계에 진입하는 수단(선별된 고객에의 FDE·업스트림·규격 채널)과 개발실 내부 실행이 5장입니다.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실행입니다. 3단계 역량을 어떻게 얻느냐, 즉 고객 시스템 안으로 들어가는 두 수단을 그림 하나로 보입니다. 왼쪽은 삼성 개발실이 제공하는 것이고, 오른쪽은 고객 시스템의 계층이며, 가운데 두 화살표가 주고받는 관계입니다. 위쪽 화살표 ① FDE 상주는 삼성이 보내는 것입니다. 상주 엔지니어가 고객 시스템 안에서 요구를 코드로 구현하고, 업스트림에 기여하며, 워크로드 실측을 공개합니다. 아래쪽 화살표 ② 접근권 확보는 삼성이 받는 것입니다. 워크로드 트레이스, KV 수명 정책, 규격 접근권이며 계약 시한은 2027년 상반기입니다. 공급이 완화되기 전에 락인을 걸어야 하기 때문입니다. 가운데 왼쪽 카드가 고객 선별입니다. FDE를 모든 고객에 보낼 수는 없으므로 세 조건으로 거릅니다. 트레이스 접근을 허용하는가, 캐시 관리자 코드를 자체 운영하는가, 물량과 규격에 파급력이 있는가. AI 랩과 NVIDIA 생태계가 조건을 충족하므로 FDE를 상주시키고, 하이퍼스케일러는 보안과 중립성 때문에 내부 코드 상주가 불가하므로 업스트림과 OCP 규격으로, OEM과 네오클라우드는 레퍼런스 스택으로 넓힙니다. 오른쪽 카드가 선례입니다. Palantir의 FDE는 고객 현장에 상주해 요구를 코드로 구현하고 성과로 평가받는 모델이고, 고객 락인의 동력으로 평가받아 Anthropic과 OpenAI가 시장 진입 모델로 채택했습니다. Micron과 Anthropic의 전략적 협약은 공동 설계, 다년 공급, 운영 통합, 자본을 한 계약에 결합해 워크로드와 규격 접근권을 확보한 사례입니다. 중요한 것은 삼성과 SK의 Anthropic 공급 계약에는 공동 설계 조항이 없다는 점이고, 이것을 삼성이 먼저 제안하자는 것이 이 장의 요청입니다. 오른쪽 고객 시스템 그림에서 삼성이 지금 닿는 층은 SSD뿐입니다. FDE가 KV 캐시 관리자 층에 상주하고 I/O 라이브러리와 커널에 코드를 머지하면서 위로 올라갑니다. 하단 세 타일은 개발실 내부 실행입니다. 조직은 시스템 소프트웨어 조직 강화와 개발실 소속 Co-Design Pod, 인사는 고객 코드를 읽고 고치는 전문가 채용과 상주 로테이션, 문화는 오픈소스 메인테이너 배출과 KV 캐시 실측의 업계 최초 공개입니다. 자회사나 별도 보상 체계는 두지 않습니다. 단계별 통과 조건(90일·12개월·2027년 상반기)과 판돈·비용은 슬라이드에서 빼고 보고서 5장 4절과 5절에 두었습니다. 질문이 나오면 그 표로 답합니다. 판돈은 락인으로 얻는 캐시 계층 점유율이고, 2030년 추론 캐시 350EB 가운데 QLC는 호스트 협력이 성립할 때 조건부 상방 175EB입니다. 비용은 개발실 개발 자원 재배치이며 별도 투자는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6장입니다. 종전 문안은 유효 DWPD를 WAF 밴드별 조건부로 보증하는 계약 설계였는데, 그 구조는 워크로드가 바뀌면 보증이 깨지는 책임을 사실상 고객에게 되돌립니다. 고객이 받아들이기 어렵습니다. 그래서 축을 옮깁니다. 같은 리스크를 계약이 아니라 기술로 흡수합니다. WAF가 갑자기 오르는 것을 감지하고 런타임에 되돌리는 기술을 삼성이 갖는 것입니다. 왼쪽 그림이 목표 동작입니다. 실측이 아니라 모식도입니다. 정상 구간에서 WAF는 1.05 수준입니다. 워크로드가 바뀌거나 배치 힌트가 사라지면 2.7 수준으로 뜁니다. 대응이 없으면 붉은 점선처럼 정격 수준에 머물고, 그 차이 면적이 그대로 초과 기입량이자 보증 수명 손실입니다. 목표는 한 시간 안에 감지하고 네 시간 안에 회복하는 것입니다. 오른쪽이 루프입니다. 관측 단계에서 호스트 기록량을 물리 매체 기록량으로 나눠 WAF를 구하되 드라이브 전체가 아니라 핸들별로 분해합니다. 감지 단계에서 변화점을 탐지하고 원인을 수명 오분류, 핸들 간 간섭, 힌트 손실, 워크로드 전환으로 분류합니다. 대응 단계는 두 주체로 나뉩니다. 디바이스 측은 FDP 구성 전환, 재생 단위 크기 조정, 핸들 재할당, 가비지 컬렉션과 SLC 캐시 정책을 바꿉니다. 호스트 측은 캐시 정책, 스트림 매핑, 어드미션을 바꿉니다. 검증 단계에서 재측정하고 목표에 미달하면 이전 구성으로 롤백하며, 이 이력이 보증 근거가 됩니다. 하단이 이 기술을 위해 확보해야 할 요소입니다. T1 텔레메트리는 현재 OCP SMART C0가 드라이브 단위 누적값만 주므로 핸들별 구간별 분해와 초 단위 샘플링이 필요합니다. T2 감지는 사후 로그 분석에 머물러 있어 온디바이스 변화점 탐지와 오탐 억제가 필요합니다. T3 무중단 재구성이 가장 큰 공백입니다. FDP 구성은 네임스페이스를 만들 때 선택되므로 운영 중에 바꾸는 경로가 스펙에 없습니다. 구성 전환과 데이터 이전 경로를 만들어야 합니다. T4는 디바이스가 호스트에 배치 열화를 알리는 규격이 없다는 점이고, T5는 정책 변경이 진동하지 않도록 막고 성능 영향에 상한을 두며 롤백을 보장하는 엔진이며, T6은 실드라이브 실험만으로는 회귀 검증이 안 되므로 FAST 2026의 WARP 같은 에뮬레이터와 트레이스 재생 환경이 필요하다는 것입니다. 앞의 세 가지가 삼성이 직접 만드는 범위입니다. 규격 과제는 NVMe에 런타임 FDP 재구성과 핸들별 기록량 필드, 배치 열화 이벤트를 제안하고 OCP에 텔레메트리 필드와 수용 기준을 넣는 것입니다. 보증은 없애지 않되 축소합니다. 기준은 관행대로 TBW 선도달로 두고 유효 DWPD는 부가 표기로, 대응 이력과 재측정 리포트를 계약 부속으로 둡니다. 기술이 흡수한 만큼만 계약에 남긴다는 원칙입니다. 하단 요약 체인이 이 덱 전체의 논리입니다.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문제  </a:t>
            </a:r>
            <a:r>
              <a:rPr sz="1200" b="0">
                <a:solidFill>
                  <a:srgbClr val="1428A0"/>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신뢰성  </a:t>
            </a:r>
            <a:r>
              <a:rPr sz="1200" b="0">
                <a:solidFill>
                  <a:srgbClr val="8A8A8A"/>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해법 사다리  </a:t>
            </a:r>
            <a:r>
              <a:rPr sz="1200" b="0">
                <a:solidFill>
                  <a:srgbClr val="8A8A8A"/>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AI 추론 수요는 QLC에 고용량·1~3 DWPD를 요구하며, 신뢰성·내구성 두 축의 해법이 필요합니다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두 다운턴의 교훈은 요구를 고객 시스템 안에서 먼저 관측하라는 것이었고, 지금 그 요구는 대용량과 높은 DWPD로 이동하고 있습니다.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96696" y="3118104"/>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974372" y="3008376"/>
            <a:ext cx="156428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791492" y="3273552"/>
            <a:ext cx="302732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DT19 재고 조정 · -37.6%</a:t>
            </a:r>
          </a:p>
        </p:txBody>
      </p:sp>
      <p:sp>
        <p:nvSpPr>
          <p:cNvPr id="35" name="Rectangle 34"/>
          <p:cNvSpPr/>
          <p:nvPr/>
        </p:nvSpPr>
        <p:spPr>
          <a:xfrm>
            <a:off x="6536862" y="3008376"/>
            <a:ext cx="195535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53982" y="3273552"/>
            <a:ext cx="341839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DT23 최대 낙폭 -45% · 진앙 eSSD</a:t>
            </a:r>
          </a:p>
        </p:txBody>
      </p:sp>
      <p:sp>
        <p:nvSpPr>
          <p:cNvPr id="37" name="Rectangle 36"/>
          <p:cNvSpPr/>
          <p:nvPr/>
        </p:nvSpPr>
        <p:spPr>
          <a:xfrm>
            <a:off x="13641311" y="3008376"/>
            <a:ext cx="1303568" cy="23774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3250241" y="3273552"/>
            <a:ext cx="2743200"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차기 전환점(e) · 가격 정상화</a:t>
            </a:r>
          </a:p>
        </p:txBody>
      </p:sp>
      <p:sp>
        <p:nvSpPr>
          <p:cNvPr id="39" name="TextBox 38"/>
          <p:cNvSpPr txBox="1"/>
          <p:nvPr/>
        </p:nvSpPr>
        <p:spPr>
          <a:xfrm>
            <a:off x="630936"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2018</a:t>
            </a:r>
          </a:p>
        </p:txBody>
      </p:sp>
      <p:sp>
        <p:nvSpPr>
          <p:cNvPr id="40" name="TextBox 39"/>
          <p:cNvSpPr txBox="1"/>
          <p:nvPr/>
        </p:nvSpPr>
        <p:spPr>
          <a:xfrm>
            <a:off x="3238073"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2020</a:t>
            </a:r>
          </a:p>
        </p:txBody>
      </p:sp>
      <p:sp>
        <p:nvSpPr>
          <p:cNvPr id="41" name="TextBox 40"/>
          <p:cNvSpPr txBox="1"/>
          <p:nvPr/>
        </p:nvSpPr>
        <p:spPr>
          <a:xfrm>
            <a:off x="5845210"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2022</a:t>
            </a:r>
          </a:p>
        </p:txBody>
      </p:sp>
      <p:sp>
        <p:nvSpPr>
          <p:cNvPr id="42" name="TextBox 41"/>
          <p:cNvSpPr txBox="1"/>
          <p:nvPr/>
        </p:nvSpPr>
        <p:spPr>
          <a:xfrm>
            <a:off x="8452347"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2024</a:t>
            </a:r>
          </a:p>
        </p:txBody>
      </p:sp>
      <p:sp>
        <p:nvSpPr>
          <p:cNvPr id="43" name="TextBox 42"/>
          <p:cNvSpPr txBox="1"/>
          <p:nvPr/>
        </p:nvSpPr>
        <p:spPr>
          <a:xfrm>
            <a:off x="11059485"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2026</a:t>
            </a:r>
          </a:p>
        </p:txBody>
      </p:sp>
      <p:sp>
        <p:nvSpPr>
          <p:cNvPr id="44" name="TextBox 43"/>
          <p:cNvSpPr txBox="1"/>
          <p:nvPr/>
        </p:nvSpPr>
        <p:spPr>
          <a:xfrm>
            <a:off x="13666622"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2028</a:t>
            </a:r>
          </a:p>
        </p:txBody>
      </p:sp>
      <p:sp>
        <p:nvSpPr>
          <p:cNvPr id="45" name="TextBox 44"/>
          <p:cNvSpPr txBox="1"/>
          <p:nvPr/>
        </p:nvSpPr>
        <p:spPr>
          <a:xfrm>
            <a:off x="16273759"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2030</a:t>
            </a:r>
          </a:p>
        </p:txBody>
      </p:sp>
      <p:sp>
        <p:nvSpPr>
          <p:cNvPr id="46" name="Oval 45"/>
          <p:cNvSpPr/>
          <p:nvPr/>
        </p:nvSpPr>
        <p:spPr>
          <a:xfrm>
            <a:off x="2618183" y="305409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685848" y="274320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28295" y="2523744"/>
            <a:ext cx="292608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2019  </a:t>
            </a:r>
            <a:r>
              <a:rPr sz="1125" b="0">
                <a:solidFill>
                  <a:srgbClr val="555555"/>
                </a:solidFill>
                <a:latin typeface="Arial"/>
                <a:ea typeface="Arial"/>
              </a:rPr>
              <a:t>HBM 시장 가능성 과소평가</a:t>
            </a:r>
          </a:p>
        </p:txBody>
      </p:sp>
      <p:sp>
        <p:nvSpPr>
          <p:cNvPr id="49" name="Oval 48"/>
          <p:cNvSpPr/>
          <p:nvPr/>
        </p:nvSpPr>
        <p:spPr>
          <a:xfrm>
            <a:off x="7311030" y="305409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378695" y="323697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921142" y="3657600"/>
            <a:ext cx="292608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2022-11  </a:t>
            </a:r>
            <a:r>
              <a:rPr sz="1125" b="0">
                <a:solidFill>
                  <a:srgbClr val="555555"/>
                </a:solidFill>
                <a:latin typeface="Arial"/>
                <a:ea typeface="Arial"/>
              </a:rPr>
              <a:t>NVMe FDP 비준</a:t>
            </a:r>
          </a:p>
        </p:txBody>
      </p:sp>
      <p:sp>
        <p:nvSpPr>
          <p:cNvPr id="52" name="Oval 51"/>
          <p:cNvSpPr/>
          <p:nvPr/>
        </p:nvSpPr>
        <p:spPr>
          <a:xfrm>
            <a:off x="8875312" y="305409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942978" y="274320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85424" y="2523744"/>
            <a:ext cx="292608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2024-01  </a:t>
            </a:r>
            <a:r>
              <a:rPr sz="1125" b="0">
                <a:solidFill>
                  <a:srgbClr val="555555"/>
                </a:solidFill>
                <a:latin typeface="Arial"/>
                <a:ea typeface="Arial"/>
              </a:rPr>
              <a:t>Meta 프로덕션 코드에 FDP 머지</a:t>
            </a:r>
          </a:p>
        </p:txBody>
      </p:sp>
      <p:sp>
        <p:nvSpPr>
          <p:cNvPr id="55" name="Oval 54"/>
          <p:cNvSpPr/>
          <p:nvPr/>
        </p:nvSpPr>
        <p:spPr>
          <a:xfrm>
            <a:off x="12134234" y="305409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2201899" y="323697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744346" y="3657600"/>
            <a:ext cx="292608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2026  </a:t>
            </a:r>
            <a:r>
              <a:rPr sz="1125" b="0">
                <a:solidFill>
                  <a:srgbClr val="555555"/>
                </a:solidFill>
                <a:latin typeface="Arial"/>
                <a:ea typeface="Arial"/>
              </a:rPr>
              <a:t>KV 캐시 배치 힌트 인터페이스 부재</a:t>
            </a:r>
          </a:p>
        </p:txBody>
      </p:sp>
      <p:sp>
        <p:nvSpPr>
          <p:cNvPr id="58" name="TextBox 57"/>
          <p:cNvSpPr txBox="1"/>
          <p:nvPr/>
        </p:nvSpPr>
        <p:spPr>
          <a:xfrm>
            <a:off x="10744346" y="3858768"/>
            <a:ext cx="2926080" cy="182880"/>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 KV 블록의 수명 등급을 NVMe 배치 핸들로 전달하는 코드 경로</a:t>
            </a:r>
          </a:p>
        </p:txBody>
      </p:sp>
      <p:sp>
        <p:nvSpPr>
          <p:cNvPr id="59" name="Rectangle 58"/>
          <p:cNvSpPr/>
          <p:nvPr/>
        </p:nvSpPr>
        <p:spPr>
          <a:xfrm>
            <a:off x="722376" y="4059935"/>
            <a:ext cx="8031723" cy="43708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22376" y="4059935"/>
            <a:ext cx="8031723"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60120" y="4206240"/>
            <a:ext cx="7556235"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교훈 · 두 다운턴이 가르친 것</a:t>
            </a:r>
            <a:r>
              <a:rPr sz="1050" b="0">
                <a:solidFill>
                  <a:srgbClr val="8A8A8A"/>
                </a:solidFill>
                <a:latin typeface="Arial"/>
                <a:ea typeface="Arial"/>
              </a:rPr>
              <a:t>   2018~2023</a:t>
            </a:r>
          </a:p>
        </p:txBody>
      </p:sp>
      <p:sp>
        <p:nvSpPr>
          <p:cNvPr id="62" name="Rectangle 61"/>
          <p:cNvSpPr/>
          <p:nvPr/>
        </p:nvSpPr>
        <p:spPr>
          <a:xfrm>
            <a:off x="960120" y="4517136"/>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60120" y="4608575"/>
            <a:ext cx="1078992" cy="1164336"/>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신호</a:t>
            </a:r>
          </a:p>
        </p:txBody>
      </p:sp>
      <p:sp>
        <p:nvSpPr>
          <p:cNvPr id="64" name="TextBox 63"/>
          <p:cNvSpPr txBox="1"/>
          <p:nvPr/>
        </p:nvSpPr>
        <p:spPr>
          <a:xfrm>
            <a:off x="2039112" y="4663439"/>
            <a:ext cx="2249424"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1 · </a:t>
            </a:r>
            <a:r>
              <a:rPr sz="1125" b="1">
                <a:solidFill>
                  <a:srgbClr val="1A1A1A"/>
                </a:solidFill>
                <a:latin typeface="Arial"/>
                <a:ea typeface="Arial"/>
              </a:rPr>
              <a:t>수요 센싱</a:t>
            </a:r>
          </a:p>
          <a:p>
            <a:pPr algn="l">
              <a:lnSpc>
                <a:spcPct val="106000"/>
              </a:lnSpc>
            </a:pPr>
            <a:r>
              <a:rPr sz="975" b="1">
                <a:solidFill>
                  <a:srgbClr val="1A1A1A"/>
                </a:solidFill>
                <a:latin typeface="Arial"/>
                <a:ea typeface="Arial"/>
              </a:rPr>
              <a:t>비준된 표준이 아니라 구매자의 프로덕션 코드가 신호입니다</a:t>
            </a:r>
          </a:p>
          <a:p>
            <a:pPr algn="l">
              <a:lnSpc>
                <a:spcPct val="106000"/>
              </a:lnSpc>
            </a:pPr>
            <a:r>
              <a:rPr sz="900" b="0">
                <a:solidFill>
                  <a:srgbClr val="555555"/>
                </a:solidFill>
                <a:latin typeface="Arial"/>
                <a:ea typeface="Arial"/>
              </a:rPr>
              <a:t>지금의 등가 신호: KV 캐시 스택에 배치 힌트 인터페이스가 없음</a:t>
            </a:r>
          </a:p>
        </p:txBody>
      </p:sp>
      <p:sp>
        <p:nvSpPr>
          <p:cNvPr id="65" name="Rectangle 64"/>
          <p:cNvSpPr/>
          <p:nvPr/>
        </p:nvSpPr>
        <p:spPr>
          <a:xfrm>
            <a:off x="4416551" y="4754879"/>
            <a:ext cx="768096"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416551" y="4754879"/>
            <a:ext cx="768096" cy="384048"/>
          </a:xfrm>
          <a:prstGeom prst="rect">
            <a:avLst/>
          </a:prstGeom>
          <a:noFill/>
        </p:spPr>
        <p:txBody>
          <a:bodyPr wrap="square" anchor="ctr" lIns="0" rIns="0" tIns="0" bIns="0">
            <a:spAutoFit/>
          </a:bodyPr>
          <a:lstStyle/>
          <a:p>
            <a:pPr algn="ctr">
              <a:lnSpc>
                <a:spcPct val="112000"/>
              </a:lnSpc>
            </a:pPr>
            <a:r>
              <a:rPr sz="1050" b="1">
                <a:solidFill>
                  <a:srgbClr val="FFFFFF"/>
                </a:solidFill>
                <a:latin typeface="Arial"/>
                <a:ea typeface="Arial"/>
              </a:rPr>
              <a:t>FDP</a:t>
            </a:r>
          </a:p>
        </p:txBody>
      </p:sp>
      <p:sp>
        <p:nvSpPr>
          <p:cNvPr id="67" name="Rectangle 66"/>
          <p:cNvSpPr/>
          <p:nvPr/>
        </p:nvSpPr>
        <p:spPr>
          <a:xfrm>
            <a:off x="5257799" y="4754879"/>
            <a:ext cx="891113" cy="38404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312663" y="4754879"/>
            <a:ext cx="781385" cy="384048"/>
          </a:xfrm>
          <a:prstGeom prst="rect">
            <a:avLst/>
          </a:prstGeom>
          <a:noFill/>
        </p:spPr>
        <p:txBody>
          <a:bodyPr wrap="square" anchor="ctr" lIns="0" rIns="0" tIns="0" bIns="0">
            <a:spAutoFit/>
          </a:bodyPr>
          <a:lstStyle/>
          <a:p>
            <a:pPr algn="ctr">
              <a:lnSpc>
                <a:spcPct val="100000"/>
              </a:lnSpc>
            </a:pPr>
            <a:r>
              <a:rPr sz="850" b="1">
                <a:solidFill>
                  <a:srgbClr val="1A1A1A"/>
                </a:solidFill>
                <a:latin typeface="Arial"/>
                <a:ea typeface="Arial"/>
              </a:rPr>
              <a:t>비준</a:t>
            </a:r>
          </a:p>
          <a:p>
            <a:pPr algn="ctr">
              <a:lnSpc>
                <a:spcPct val="100000"/>
              </a:lnSpc>
            </a:pPr>
            <a:r>
              <a:rPr sz="850" b="1">
                <a:solidFill>
                  <a:srgbClr val="1A1A1A"/>
                </a:solidFill>
                <a:latin typeface="Arial"/>
                <a:ea typeface="Arial"/>
              </a:rPr>
              <a:t>'22-11</a:t>
            </a:r>
          </a:p>
        </p:txBody>
      </p:sp>
      <p:sp>
        <p:nvSpPr>
          <p:cNvPr id="69" name="Right Arrow 68"/>
          <p:cNvSpPr/>
          <p:nvPr/>
        </p:nvSpPr>
        <p:spPr>
          <a:xfrm>
            <a:off x="6162629" y="4882895"/>
            <a:ext cx="64008" cy="128016"/>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240353" y="4754879"/>
            <a:ext cx="891113" cy="38404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95217" y="4754879"/>
            <a:ext cx="781385" cy="384048"/>
          </a:xfrm>
          <a:prstGeom prst="rect">
            <a:avLst/>
          </a:prstGeom>
          <a:noFill/>
        </p:spPr>
        <p:txBody>
          <a:bodyPr wrap="square" anchor="ctr" lIns="0" rIns="0" tIns="0" bIns="0">
            <a:spAutoFit/>
          </a:bodyPr>
          <a:lstStyle/>
          <a:p>
            <a:pPr algn="ctr">
              <a:lnSpc>
                <a:spcPct val="100000"/>
              </a:lnSpc>
            </a:pPr>
            <a:r>
              <a:rPr sz="850" b="1">
                <a:solidFill>
                  <a:srgbClr val="1A1A1A"/>
                </a:solidFill>
                <a:latin typeface="Arial"/>
                <a:ea typeface="Arial"/>
              </a:rPr>
              <a:t>Meta 코드</a:t>
            </a:r>
          </a:p>
          <a:p>
            <a:pPr algn="ctr">
              <a:lnSpc>
                <a:spcPct val="100000"/>
              </a:lnSpc>
            </a:pPr>
            <a:r>
              <a:rPr sz="850" b="1">
                <a:solidFill>
                  <a:srgbClr val="1A1A1A"/>
                </a:solidFill>
                <a:latin typeface="Arial"/>
                <a:ea typeface="Arial"/>
              </a:rPr>
              <a:t>'24-01</a:t>
            </a:r>
          </a:p>
        </p:txBody>
      </p:sp>
      <p:sp>
        <p:nvSpPr>
          <p:cNvPr id="72" name="Right Arrow 71"/>
          <p:cNvSpPr/>
          <p:nvPr/>
        </p:nvSpPr>
        <p:spPr>
          <a:xfrm>
            <a:off x="7145182" y="4882895"/>
            <a:ext cx="64008" cy="128016"/>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7222906" y="4754879"/>
            <a:ext cx="891113" cy="38404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277770" y="4754879"/>
            <a:ext cx="781385" cy="384048"/>
          </a:xfrm>
          <a:prstGeom prst="rect">
            <a:avLst/>
          </a:prstGeom>
          <a:noFill/>
        </p:spPr>
        <p:txBody>
          <a:bodyPr wrap="square" anchor="ctr" lIns="0" rIns="0" tIns="0" bIns="0">
            <a:spAutoFit/>
          </a:bodyPr>
          <a:lstStyle/>
          <a:p>
            <a:pPr algn="ctr">
              <a:lnSpc>
                <a:spcPct val="100000"/>
              </a:lnSpc>
            </a:pPr>
            <a:r>
              <a:rPr sz="850" b="1">
                <a:solidFill>
                  <a:srgbClr val="1A1A1A"/>
                </a:solidFill>
                <a:latin typeface="Arial"/>
                <a:ea typeface="Arial"/>
              </a:rPr>
              <a:t>물량</a:t>
            </a:r>
          </a:p>
          <a:p>
            <a:pPr algn="ctr">
              <a:lnSpc>
                <a:spcPct val="100000"/>
              </a:lnSpc>
            </a:pPr>
            <a:r>
              <a:rPr sz="850" b="1">
                <a:solidFill>
                  <a:srgbClr val="1A1A1A"/>
                </a:solidFill>
                <a:latin typeface="Arial"/>
                <a:ea typeface="Arial"/>
              </a:rPr>
              <a:t>진행</a:t>
            </a:r>
          </a:p>
        </p:txBody>
      </p:sp>
      <p:sp>
        <p:nvSpPr>
          <p:cNvPr id="75" name="Rectangle 74"/>
          <p:cNvSpPr/>
          <p:nvPr/>
        </p:nvSpPr>
        <p:spPr>
          <a:xfrm>
            <a:off x="4416551" y="5248655"/>
            <a:ext cx="768096" cy="384048"/>
          </a:xfrm>
          <a:prstGeom prst="rect">
            <a:avLst/>
          </a:prstGeom>
          <a:solidFill>
            <a:srgbClr val="FFFFF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416551" y="5248655"/>
            <a:ext cx="768096" cy="384048"/>
          </a:xfrm>
          <a:prstGeom prst="rect">
            <a:avLst/>
          </a:prstGeom>
          <a:noFill/>
        </p:spPr>
        <p:txBody>
          <a:bodyPr wrap="square" anchor="ctr" lIns="0" rIns="0" tIns="0" bIns="0">
            <a:spAutoFit/>
          </a:bodyPr>
          <a:lstStyle/>
          <a:p>
            <a:pPr algn="ctr">
              <a:lnSpc>
                <a:spcPct val="112000"/>
              </a:lnSpc>
            </a:pPr>
            <a:r>
              <a:rPr sz="1050" b="1">
                <a:solidFill>
                  <a:srgbClr val="8A8A8A"/>
                </a:solidFill>
                <a:latin typeface="Arial"/>
                <a:ea typeface="Arial"/>
              </a:rPr>
              <a:t>ZNS</a:t>
            </a:r>
          </a:p>
        </p:txBody>
      </p:sp>
      <p:sp>
        <p:nvSpPr>
          <p:cNvPr id="77" name="Rectangle 76"/>
          <p:cNvSpPr/>
          <p:nvPr/>
        </p:nvSpPr>
        <p:spPr>
          <a:xfrm>
            <a:off x="5257799" y="5248655"/>
            <a:ext cx="891113" cy="384048"/>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312663" y="5248655"/>
            <a:ext cx="781385" cy="384048"/>
          </a:xfrm>
          <a:prstGeom prst="rect">
            <a:avLst/>
          </a:prstGeom>
          <a:noFill/>
        </p:spPr>
        <p:txBody>
          <a:bodyPr wrap="square" anchor="ctr" lIns="0" rIns="0" tIns="0" bIns="0">
            <a:spAutoFit/>
          </a:bodyPr>
          <a:lstStyle/>
          <a:p>
            <a:pPr algn="ctr">
              <a:lnSpc>
                <a:spcPct val="100000"/>
              </a:lnSpc>
            </a:pPr>
            <a:r>
              <a:rPr sz="850" b="1">
                <a:solidFill>
                  <a:srgbClr val="1A1A1A"/>
                </a:solidFill>
                <a:latin typeface="Arial"/>
                <a:ea typeface="Arial"/>
              </a:rPr>
              <a:t>비준</a:t>
            </a:r>
          </a:p>
          <a:p>
            <a:pPr algn="ctr">
              <a:lnSpc>
                <a:spcPct val="100000"/>
              </a:lnSpc>
            </a:pPr>
            <a:r>
              <a:rPr sz="850" b="1">
                <a:solidFill>
                  <a:srgbClr val="1A1A1A"/>
                </a:solidFill>
                <a:latin typeface="Arial"/>
                <a:ea typeface="Arial"/>
              </a:rPr>
              <a:t>'20-06</a:t>
            </a:r>
          </a:p>
        </p:txBody>
      </p:sp>
      <p:sp>
        <p:nvSpPr>
          <p:cNvPr id="79" name="Right Arrow 78"/>
          <p:cNvSpPr/>
          <p:nvPr/>
        </p:nvSpPr>
        <p:spPr>
          <a:xfrm>
            <a:off x="6162629" y="5376671"/>
            <a:ext cx="64008" cy="128016"/>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240353" y="5248655"/>
            <a:ext cx="891113" cy="384048"/>
          </a:xfrm>
          <a:prstGeom prst="rect">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295217" y="5248655"/>
            <a:ext cx="781385" cy="384048"/>
          </a:xfrm>
          <a:prstGeom prst="rect">
            <a:avLst/>
          </a:prstGeom>
          <a:noFill/>
        </p:spPr>
        <p:txBody>
          <a:bodyPr wrap="square" anchor="ctr" lIns="0" rIns="0" tIns="0" bIns="0">
            <a:spAutoFit/>
          </a:bodyPr>
          <a:lstStyle/>
          <a:p>
            <a:pPr algn="ctr">
              <a:lnSpc>
                <a:spcPct val="100000"/>
              </a:lnSpc>
            </a:pPr>
            <a:r>
              <a:rPr sz="850" b="0">
                <a:solidFill>
                  <a:srgbClr val="8A8A8A"/>
                </a:solidFill>
                <a:latin typeface="Arial"/>
                <a:ea typeface="Arial"/>
              </a:rPr>
              <a:t>프로덕션</a:t>
            </a:r>
          </a:p>
          <a:p>
            <a:pPr algn="ctr">
              <a:lnSpc>
                <a:spcPct val="100000"/>
              </a:lnSpc>
            </a:pPr>
            <a:r>
              <a:rPr sz="850" b="0">
                <a:solidFill>
                  <a:srgbClr val="8A8A8A"/>
                </a:solidFill>
                <a:latin typeface="Arial"/>
                <a:ea typeface="Arial"/>
              </a:rPr>
              <a:t>채택 0</a:t>
            </a:r>
          </a:p>
        </p:txBody>
      </p:sp>
      <p:sp>
        <p:nvSpPr>
          <p:cNvPr id="82" name="Right Arrow 81"/>
          <p:cNvSpPr/>
          <p:nvPr/>
        </p:nvSpPr>
        <p:spPr>
          <a:xfrm>
            <a:off x="7145182" y="5376671"/>
            <a:ext cx="64008" cy="128016"/>
          </a:xfrm>
          <a:prstGeom prst="rightArrow">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7222906" y="5248655"/>
            <a:ext cx="891113" cy="384048"/>
          </a:xfrm>
          <a:prstGeom prst="rect">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7277770" y="5248655"/>
            <a:ext cx="781385" cy="384048"/>
          </a:xfrm>
          <a:prstGeom prst="rect">
            <a:avLst/>
          </a:prstGeom>
          <a:noFill/>
        </p:spPr>
        <p:txBody>
          <a:bodyPr wrap="square" anchor="ctr" lIns="0" rIns="0" tIns="0" bIns="0">
            <a:spAutoFit/>
          </a:bodyPr>
          <a:lstStyle/>
          <a:p>
            <a:pPr algn="ctr">
              <a:lnSpc>
                <a:spcPct val="100000"/>
              </a:lnSpc>
            </a:pPr>
            <a:r>
              <a:rPr sz="850" b="0">
                <a:solidFill>
                  <a:srgbClr val="8A8A8A"/>
                </a:solidFill>
                <a:latin typeface="Arial"/>
                <a:ea typeface="Arial"/>
              </a:rPr>
              <a:t>6년째</a:t>
            </a:r>
          </a:p>
          <a:p>
            <a:pPr algn="ctr">
              <a:lnSpc>
                <a:spcPct val="100000"/>
              </a:lnSpc>
            </a:pPr>
            <a:r>
              <a:rPr sz="850" b="0">
                <a:solidFill>
                  <a:srgbClr val="8A8A8A"/>
                </a:solidFill>
                <a:latin typeface="Arial"/>
                <a:ea typeface="Arial"/>
              </a:rPr>
              <a:t>물량 없음</a:t>
            </a:r>
          </a:p>
        </p:txBody>
      </p:sp>
      <p:sp>
        <p:nvSpPr>
          <p:cNvPr id="85" name="Oval 84"/>
          <p:cNvSpPr/>
          <p:nvPr/>
        </p:nvSpPr>
        <p:spPr>
          <a:xfrm>
            <a:off x="8242035" y="5071871"/>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242035" y="5071871"/>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4</a:t>
            </a:r>
          </a:p>
        </p:txBody>
      </p:sp>
      <p:sp>
        <p:nvSpPr>
          <p:cNvPr id="87" name="Rectangle 86"/>
          <p:cNvSpPr/>
          <p:nvPr/>
        </p:nvSpPr>
        <p:spPr>
          <a:xfrm>
            <a:off x="960120" y="5818632"/>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60120" y="5864352"/>
            <a:ext cx="1078992" cy="1164336"/>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선점</a:t>
            </a:r>
          </a:p>
        </p:txBody>
      </p:sp>
      <p:sp>
        <p:nvSpPr>
          <p:cNvPr id="89" name="TextBox 88"/>
          <p:cNvSpPr txBox="1"/>
          <p:nvPr/>
        </p:nvSpPr>
        <p:spPr>
          <a:xfrm>
            <a:off x="2039112" y="5919215"/>
            <a:ext cx="2249424"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2 · </a:t>
            </a:r>
            <a:r>
              <a:rPr sz="1125" b="1">
                <a:solidFill>
                  <a:srgbClr val="1A1A1A"/>
                </a:solidFill>
                <a:latin typeface="Arial"/>
                <a:ea typeface="Arial"/>
              </a:rPr>
              <a:t>고객 협업</a:t>
            </a:r>
          </a:p>
          <a:p>
            <a:pPr algn="l">
              <a:lnSpc>
                <a:spcPct val="106000"/>
              </a:lnSpc>
            </a:pPr>
            <a:r>
              <a:rPr sz="975" b="1">
                <a:solidFill>
                  <a:srgbClr val="1A1A1A"/>
                </a:solidFill>
                <a:latin typeface="Arial"/>
                <a:ea typeface="Arial"/>
              </a:rPr>
              <a:t>선점은 규격 기고가 아니라 구매자 사양 적중에서 나왔습니다</a:t>
            </a:r>
          </a:p>
          <a:p>
            <a:pPr algn="l">
              <a:lnSpc>
                <a:spcPct val="106000"/>
              </a:lnSpc>
            </a:pPr>
            <a:r>
              <a:rPr sz="900" b="0">
                <a:solidFill>
                  <a:srgbClr val="555555"/>
                </a:solidFill>
                <a:latin typeface="Arial"/>
                <a:ea typeface="Arial"/>
              </a:rPr>
              <a:t>조달 규격은 구매자가 쓰고 공급자는 그것을 먼저 읽습니다</a:t>
            </a:r>
          </a:p>
        </p:txBody>
      </p:sp>
      <p:sp>
        <p:nvSpPr>
          <p:cNvPr id="90" name="Rectangle 89"/>
          <p:cNvSpPr/>
          <p:nvPr/>
        </p:nvSpPr>
        <p:spPr>
          <a:xfrm>
            <a:off x="4416551" y="5992367"/>
            <a:ext cx="1775581" cy="5669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507991" y="6038087"/>
            <a:ext cx="1592701"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OCP 조달 규격 기고자</a:t>
            </a:r>
          </a:p>
        </p:txBody>
      </p:sp>
      <p:sp>
        <p:nvSpPr>
          <p:cNvPr id="92" name="TextBox 91"/>
          <p:cNvSpPr txBox="1"/>
          <p:nvPr/>
        </p:nvSpPr>
        <p:spPr>
          <a:xfrm>
            <a:off x="4507991" y="6211824"/>
            <a:ext cx="1592701" cy="201168"/>
          </a:xfrm>
          <a:prstGeom prst="rect">
            <a:avLst/>
          </a:prstGeom>
          <a:noFill/>
        </p:spPr>
        <p:txBody>
          <a:bodyPr wrap="square" anchor="t" lIns="0" rIns="0" tIns="0" bIns="0">
            <a:spAutoFit/>
          </a:bodyPr>
          <a:lstStyle/>
          <a:p>
            <a:pPr algn="l">
              <a:lnSpc>
                <a:spcPct val="112000"/>
              </a:lnSpc>
            </a:pPr>
            <a:r>
              <a:rPr sz="975" b="1">
                <a:solidFill>
                  <a:srgbClr val="1A1A1A"/>
                </a:solidFill>
                <a:latin typeface="Arial"/>
                <a:ea typeface="Arial"/>
              </a:rPr>
              <a:t>구매자 5사</a:t>
            </a:r>
          </a:p>
        </p:txBody>
      </p:sp>
      <p:sp>
        <p:nvSpPr>
          <p:cNvPr id="93" name="TextBox 92"/>
          <p:cNvSpPr txBox="1"/>
          <p:nvPr/>
        </p:nvSpPr>
        <p:spPr>
          <a:xfrm>
            <a:off x="4507991" y="6394704"/>
            <a:ext cx="1592701"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Meta·MS·Google·Dell·HPE · 벤더 없음</a:t>
            </a:r>
          </a:p>
        </p:txBody>
      </p:sp>
      <p:sp>
        <p:nvSpPr>
          <p:cNvPr id="94" name="Rectangle 93"/>
          <p:cNvSpPr/>
          <p:nvPr/>
        </p:nvSpPr>
        <p:spPr>
          <a:xfrm>
            <a:off x="6338437" y="5992367"/>
            <a:ext cx="1775581" cy="5669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429877" y="6038087"/>
            <a:ext cx="1592701"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HBM4 JEDEC 공동 개발</a:t>
            </a:r>
          </a:p>
        </p:txBody>
      </p:sp>
      <p:sp>
        <p:nvSpPr>
          <p:cNvPr id="96" name="TextBox 95"/>
          <p:cNvSpPr txBox="1"/>
          <p:nvPr/>
        </p:nvSpPr>
        <p:spPr>
          <a:xfrm>
            <a:off x="6429877" y="6211824"/>
            <a:ext cx="1592701" cy="201168"/>
          </a:xfrm>
          <a:prstGeom prst="rect">
            <a:avLst/>
          </a:prstGeom>
          <a:noFill/>
        </p:spPr>
        <p:txBody>
          <a:bodyPr wrap="square" anchor="t" lIns="0" rIns="0" tIns="0" bIns="0">
            <a:spAutoFit/>
          </a:bodyPr>
          <a:lstStyle/>
          <a:p>
            <a:pPr algn="l">
              <a:lnSpc>
                <a:spcPct val="112000"/>
              </a:lnSpc>
            </a:pPr>
            <a:r>
              <a:rPr sz="975" b="1">
                <a:solidFill>
                  <a:srgbClr val="1A1A1A"/>
                </a:solidFill>
                <a:latin typeface="Arial"/>
                <a:ea typeface="Arial"/>
              </a:rPr>
              <a:t>삼성 포함 9사</a:t>
            </a:r>
          </a:p>
        </p:txBody>
      </p:sp>
      <p:sp>
        <p:nvSpPr>
          <p:cNvPr id="97" name="TextBox 96"/>
          <p:cNvSpPr txBox="1"/>
          <p:nvPr/>
        </p:nvSpPr>
        <p:spPr>
          <a:xfrm>
            <a:off x="6429877" y="6394704"/>
            <a:ext cx="1592701"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차이는 고객 사양 대응과 수율</a:t>
            </a:r>
          </a:p>
        </p:txBody>
      </p:sp>
      <p:sp>
        <p:nvSpPr>
          <p:cNvPr id="98" name="TextBox 97"/>
          <p:cNvSpPr txBox="1"/>
          <p:nvPr/>
        </p:nvSpPr>
        <p:spPr>
          <a:xfrm>
            <a:off x="4416551" y="6650735"/>
            <a:ext cx="3697467" cy="201168"/>
          </a:xfrm>
          <a:prstGeom prst="rect">
            <a:avLst/>
          </a:prstGeom>
          <a:noFill/>
        </p:spPr>
        <p:txBody>
          <a:bodyPr wrap="square" anchor="t" lIns="0" rIns="0" tIns="0" bIns="0">
            <a:spAutoFit/>
          </a:bodyPr>
          <a:lstStyle/>
          <a:p>
            <a:pPr algn="l">
              <a:lnSpc>
                <a:spcPct val="112000"/>
              </a:lnSpc>
            </a:pPr>
            <a:r>
              <a:rPr sz="875" b="1">
                <a:solidFill>
                  <a:srgbClr val="1A1A1A"/>
                </a:solidFill>
                <a:latin typeface="Arial"/>
                <a:ea typeface="Arial"/>
              </a:rPr>
              <a:t>Solidigm 61TB 선행의 공개 근거  </a:t>
            </a:r>
            <a:r>
              <a:rPr sz="875" b="0">
                <a:solidFill>
                  <a:srgbClr val="555555"/>
                </a:solidFill>
                <a:latin typeface="Arial"/>
                <a:ea typeface="Arial"/>
              </a:rPr>
              <a:t>192층 QLC · 오픈소스 FTL</a:t>
            </a:r>
          </a:p>
        </p:txBody>
      </p:sp>
      <p:sp>
        <p:nvSpPr>
          <p:cNvPr id="99" name="Oval 98"/>
          <p:cNvSpPr/>
          <p:nvPr/>
        </p:nvSpPr>
        <p:spPr>
          <a:xfrm>
            <a:off x="8242035" y="6327648"/>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242035" y="6327648"/>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5</a:t>
            </a:r>
          </a:p>
        </p:txBody>
      </p:sp>
      <p:sp>
        <p:nvSpPr>
          <p:cNvPr id="101" name="Rectangle 100"/>
          <p:cNvSpPr/>
          <p:nvPr/>
        </p:nvSpPr>
        <p:spPr>
          <a:xfrm>
            <a:off x="960120" y="7074408"/>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960120" y="7120128"/>
            <a:ext cx="1078992" cy="1164336"/>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시점</a:t>
            </a:r>
          </a:p>
        </p:txBody>
      </p:sp>
      <p:sp>
        <p:nvSpPr>
          <p:cNvPr id="103" name="TextBox 102"/>
          <p:cNvSpPr txBox="1"/>
          <p:nvPr/>
        </p:nvSpPr>
        <p:spPr>
          <a:xfrm>
            <a:off x="2039112" y="7174992"/>
            <a:ext cx="2249424"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3 · </a:t>
            </a:r>
            <a:r>
              <a:rPr sz="1125" b="1">
                <a:solidFill>
                  <a:srgbClr val="1A1A1A"/>
                </a:solidFill>
                <a:latin typeface="Arial"/>
                <a:ea typeface="Arial"/>
              </a:rPr>
              <a:t>의사결정</a:t>
            </a:r>
          </a:p>
          <a:p>
            <a:pPr algn="l">
              <a:lnSpc>
                <a:spcPct val="106000"/>
              </a:lnSpc>
            </a:pPr>
            <a:r>
              <a:rPr sz="975" b="1">
                <a:solidFill>
                  <a:srgbClr val="1A1A1A"/>
                </a:solidFill>
                <a:latin typeface="Arial"/>
                <a:ea typeface="Arial"/>
              </a:rPr>
              <a:t>2027은 수급률이 바뀌는 해, 2028은 비트가 도착하는 해입니다</a:t>
            </a:r>
          </a:p>
          <a:p>
            <a:pPr algn="l">
              <a:lnSpc>
                <a:spcPct val="106000"/>
              </a:lnSpc>
            </a:pPr>
            <a:r>
              <a:rPr sz="900" b="0">
                <a:solidFill>
                  <a:srgbClr val="555555"/>
                </a:solidFill>
                <a:latin typeface="Arial"/>
                <a:ea typeface="Arial"/>
              </a:rPr>
              <a:t>2028에 준비되려면 2026에 고객 시스템 안에 있어야 합니다</a:t>
            </a:r>
          </a:p>
        </p:txBody>
      </p:sp>
      <p:sp>
        <p:nvSpPr>
          <p:cNvPr id="104" name="Rectangle 103"/>
          <p:cNvSpPr/>
          <p:nvPr/>
        </p:nvSpPr>
        <p:spPr>
          <a:xfrm>
            <a:off x="4416551" y="7248144"/>
            <a:ext cx="1775581" cy="5669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507991" y="7293864"/>
            <a:ext cx="1592701" cy="182880"/>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2027</a:t>
            </a:r>
          </a:p>
        </p:txBody>
      </p:sp>
      <p:sp>
        <p:nvSpPr>
          <p:cNvPr id="106" name="TextBox 105"/>
          <p:cNvSpPr txBox="1"/>
          <p:nvPr/>
        </p:nvSpPr>
        <p:spPr>
          <a:xfrm>
            <a:off x="4507991" y="7467599"/>
            <a:ext cx="1592701" cy="201168"/>
          </a:xfrm>
          <a:prstGeom prst="rect">
            <a:avLst/>
          </a:prstGeom>
          <a:noFill/>
        </p:spPr>
        <p:txBody>
          <a:bodyPr wrap="square" anchor="t" lIns="0" rIns="0" tIns="0" bIns="0">
            <a:spAutoFit/>
          </a:bodyPr>
          <a:lstStyle/>
          <a:p>
            <a:pPr algn="l">
              <a:lnSpc>
                <a:spcPct val="112000"/>
              </a:lnSpc>
            </a:pPr>
            <a:r>
              <a:rPr sz="975" b="1">
                <a:solidFill>
                  <a:srgbClr val="1A1A1A"/>
                </a:solidFill>
                <a:latin typeface="Arial"/>
                <a:ea typeface="Arial"/>
              </a:rPr>
              <a:t>수급률 전환</a:t>
            </a:r>
          </a:p>
        </p:txBody>
      </p:sp>
      <p:sp>
        <p:nvSpPr>
          <p:cNvPr id="107" name="TextBox 106"/>
          <p:cNvSpPr txBox="1"/>
          <p:nvPr/>
        </p:nvSpPr>
        <p:spPr>
          <a:xfrm>
            <a:off x="4507991" y="7650480"/>
            <a:ext cx="1592701"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공급 증가율이 수요를 추월</a:t>
            </a:r>
          </a:p>
        </p:txBody>
      </p:sp>
      <p:sp>
        <p:nvSpPr>
          <p:cNvPr id="108" name="Rectangle 107"/>
          <p:cNvSpPr/>
          <p:nvPr/>
        </p:nvSpPr>
        <p:spPr>
          <a:xfrm>
            <a:off x="6338437" y="7248144"/>
            <a:ext cx="1775581" cy="5669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429877" y="7293864"/>
            <a:ext cx="1592701" cy="182880"/>
          </a:xfrm>
          <a:prstGeom prst="rect">
            <a:avLst/>
          </a:prstGeom>
          <a:noFill/>
        </p:spPr>
        <p:txBody>
          <a:bodyPr wrap="square" anchor="t" lIns="0" rIns="0" tIns="0" bIns="0">
            <a:spAutoFit/>
          </a:bodyPr>
          <a:lstStyle/>
          <a:p>
            <a:pPr algn="l">
              <a:lnSpc>
                <a:spcPct val="112000"/>
              </a:lnSpc>
            </a:pPr>
            <a:r>
              <a:rPr sz="975" b="1">
                <a:solidFill>
                  <a:srgbClr val="FFFFFF"/>
                </a:solidFill>
                <a:latin typeface="Arial"/>
                <a:ea typeface="Arial"/>
              </a:rPr>
              <a:t>2028</a:t>
            </a:r>
          </a:p>
        </p:txBody>
      </p:sp>
      <p:sp>
        <p:nvSpPr>
          <p:cNvPr id="110" name="TextBox 109"/>
          <p:cNvSpPr txBox="1"/>
          <p:nvPr/>
        </p:nvSpPr>
        <p:spPr>
          <a:xfrm>
            <a:off x="6429877" y="7467599"/>
            <a:ext cx="1592701" cy="201168"/>
          </a:xfrm>
          <a:prstGeom prst="rect">
            <a:avLst/>
          </a:prstGeom>
          <a:noFill/>
        </p:spPr>
        <p:txBody>
          <a:bodyPr wrap="square" anchor="t" lIns="0" rIns="0" tIns="0" bIns="0">
            <a:spAutoFit/>
          </a:bodyPr>
          <a:lstStyle/>
          <a:p>
            <a:pPr algn="l">
              <a:lnSpc>
                <a:spcPct val="112000"/>
              </a:lnSpc>
            </a:pPr>
            <a:r>
              <a:rPr sz="975" b="1">
                <a:solidFill>
                  <a:srgbClr val="FFFFFF"/>
                </a:solidFill>
                <a:latin typeface="Arial"/>
                <a:ea typeface="Arial"/>
              </a:rPr>
              <a:t>비트 도달 · 정상화</a:t>
            </a:r>
          </a:p>
        </p:txBody>
      </p:sp>
      <p:sp>
        <p:nvSpPr>
          <p:cNvPr id="111" name="TextBox 110"/>
          <p:cNvSpPr txBox="1"/>
          <p:nvPr/>
        </p:nvSpPr>
        <p:spPr>
          <a:xfrm>
            <a:off x="6429877" y="7650480"/>
            <a:ext cx="1592701" cy="164592"/>
          </a:xfrm>
          <a:prstGeom prst="rect">
            <a:avLst/>
          </a:prstGeom>
          <a:noFill/>
        </p:spPr>
        <p:txBody>
          <a:bodyPr wrap="square" anchor="t" lIns="0" rIns="0" tIns="0" bIns="0">
            <a:spAutoFit/>
          </a:bodyPr>
          <a:lstStyle/>
          <a:p>
            <a:pPr algn="l">
              <a:lnSpc>
                <a:spcPct val="112000"/>
              </a:lnSpc>
            </a:pPr>
            <a:r>
              <a:rPr sz="850" b="0">
                <a:solidFill>
                  <a:srgbClr val="AAB8E8"/>
                </a:solidFill>
                <a:latin typeface="Arial"/>
                <a:ea typeface="Arial"/>
              </a:rPr>
              <a:t>신증설이 실제 산출로</a:t>
            </a:r>
          </a:p>
        </p:txBody>
      </p:sp>
      <p:sp>
        <p:nvSpPr>
          <p:cNvPr id="112" name="TextBox 111"/>
          <p:cNvSpPr txBox="1"/>
          <p:nvPr/>
        </p:nvSpPr>
        <p:spPr>
          <a:xfrm>
            <a:off x="4416551" y="7906512"/>
            <a:ext cx="3697467" cy="201168"/>
          </a:xfrm>
          <a:prstGeom prst="rect">
            <a:avLst/>
          </a:prstGeom>
          <a:noFill/>
        </p:spPr>
        <p:txBody>
          <a:bodyPr wrap="square" anchor="t" lIns="0" rIns="0" tIns="0" bIns="0">
            <a:spAutoFit/>
          </a:bodyPr>
          <a:lstStyle/>
          <a:p>
            <a:pPr algn="l">
              <a:lnSpc>
                <a:spcPct val="112000"/>
              </a:lnSpc>
            </a:pPr>
            <a:r>
              <a:rPr sz="875" b="1">
                <a:solidFill>
                  <a:srgbClr val="1A1A1A"/>
                </a:solidFill>
                <a:latin typeface="Arial"/>
                <a:ea typeface="Arial"/>
              </a:rPr>
              <a:t>하이퍼스케일러 CapEx 증가율  </a:t>
            </a:r>
            <a:r>
              <a:rPr sz="875" b="0">
                <a:solidFill>
                  <a:srgbClr val="555555"/>
                </a:solidFill>
                <a:latin typeface="Arial"/>
                <a:ea typeface="Arial"/>
              </a:rPr>
              <a:t>'26 +105% → '27 +43% → '28 +12%</a:t>
            </a:r>
          </a:p>
        </p:txBody>
      </p:sp>
      <p:sp>
        <p:nvSpPr>
          <p:cNvPr id="113" name="Oval 112"/>
          <p:cNvSpPr/>
          <p:nvPr/>
        </p:nvSpPr>
        <p:spPr>
          <a:xfrm>
            <a:off x="8242035" y="7583424"/>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8242035" y="7583424"/>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5</a:t>
            </a:r>
          </a:p>
        </p:txBody>
      </p:sp>
      <p:sp>
        <p:nvSpPr>
          <p:cNvPr id="115" name="Rectangle 114"/>
          <p:cNvSpPr/>
          <p:nvPr/>
        </p:nvSpPr>
        <p:spPr>
          <a:xfrm>
            <a:off x="8882115" y="4059935"/>
            <a:ext cx="3782689" cy="43708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8882115" y="4059935"/>
            <a:ext cx="3782689"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9119859" y="4206240"/>
            <a:ext cx="3307201"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지금 · 구매 기준의 이동</a:t>
            </a:r>
            <a:r>
              <a:rPr sz="1050" b="0">
                <a:solidFill>
                  <a:srgbClr val="8A8A8A"/>
                </a:solidFill>
                <a:latin typeface="Arial"/>
                <a:ea typeface="Arial"/>
              </a:rPr>
              <a:t>   2008~2026</a:t>
            </a:r>
          </a:p>
        </p:txBody>
      </p:sp>
      <p:sp>
        <p:nvSpPr>
          <p:cNvPr id="118" name="Rectangle 117"/>
          <p:cNvSpPr/>
          <p:nvPr/>
        </p:nvSpPr>
        <p:spPr>
          <a:xfrm>
            <a:off x="9119859" y="4517136"/>
            <a:ext cx="3307201"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9119859" y="4626864"/>
            <a:ext cx="3307201"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9266163" y="4700016"/>
            <a:ext cx="3014593" cy="182880"/>
          </a:xfrm>
          <a:prstGeom prst="rect">
            <a:avLst/>
          </a:prstGeom>
          <a:noFill/>
        </p:spPr>
        <p:txBody>
          <a:bodyPr wrap="square" anchor="t" lIns="0" rIns="0" tIns="0" bIns="0">
            <a:spAutoFit/>
          </a:bodyPr>
          <a:lstStyle/>
          <a:p>
            <a:pPr algn="l">
              <a:lnSpc>
                <a:spcPct val="112000"/>
              </a:lnSpc>
            </a:pPr>
            <a:r>
              <a:rPr sz="900" b="0">
                <a:solidFill>
                  <a:srgbClr val="8A8A8A"/>
                </a:solidFill>
                <a:latin typeface="Arial"/>
                <a:ea typeface="Arial"/>
              </a:rPr>
              <a:t>2008~2012   </a:t>
            </a:r>
            <a:r>
              <a:rPr sz="900" b="0">
                <a:solidFill>
                  <a:srgbClr val="8A8A8A"/>
                </a:solidFill>
                <a:latin typeface="Arial"/>
                <a:ea typeface="Arial"/>
              </a:rPr>
              <a:t>차별화 축</a:t>
            </a:r>
          </a:p>
        </p:txBody>
      </p:sp>
      <p:sp>
        <p:nvSpPr>
          <p:cNvPr id="121" name="TextBox 120"/>
          <p:cNvSpPr txBox="1"/>
          <p:nvPr/>
        </p:nvSpPr>
        <p:spPr>
          <a:xfrm>
            <a:off x="9266163" y="4882896"/>
            <a:ext cx="3014593"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성능 · 용량당 가격</a:t>
            </a:r>
          </a:p>
        </p:txBody>
      </p:sp>
      <p:sp>
        <p:nvSpPr>
          <p:cNvPr id="122" name="TextBox 121"/>
          <p:cNvSpPr txBox="1"/>
          <p:nvPr/>
        </p:nvSpPr>
        <p:spPr>
          <a:xfrm>
            <a:off x="9266163" y="5129783"/>
            <a:ext cx="3014593"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IOPS · 대역폭이 차별화 축</a:t>
            </a:r>
          </a:p>
        </p:txBody>
      </p:sp>
      <p:sp>
        <p:nvSpPr>
          <p:cNvPr id="123" name="TextBox 122"/>
          <p:cNvSpPr txBox="1"/>
          <p:nvPr/>
        </p:nvSpPr>
        <p:spPr>
          <a:xfrm>
            <a:off x="9266163" y="5321807"/>
            <a:ext cx="3014593" cy="219456"/>
          </a:xfrm>
          <a:prstGeom prst="rect">
            <a:avLst/>
          </a:prstGeom>
          <a:noFill/>
        </p:spPr>
        <p:txBody>
          <a:bodyPr wrap="square" anchor="t" lIns="0" rIns="0" tIns="0" bIns="0">
            <a:spAutoFit/>
          </a:bodyPr>
          <a:lstStyle/>
          <a:p>
            <a:pPr algn="l">
              <a:lnSpc>
                <a:spcPct val="100000"/>
              </a:lnSpc>
            </a:pPr>
            <a:r>
              <a:rPr sz="875" b="0">
                <a:solidFill>
                  <a:srgbClr val="8A8A8A"/>
                </a:solidFill>
                <a:latin typeface="Arial"/>
                <a:ea typeface="Arial"/>
              </a:rPr>
              <a:t>내구성은 이미 자격 요건 (JESD218 · 219, 2010-09)</a:t>
            </a:r>
          </a:p>
        </p:txBody>
      </p:sp>
      <p:sp>
        <p:nvSpPr>
          <p:cNvPr id="124" name="Rectangle 123"/>
          <p:cNvSpPr/>
          <p:nvPr/>
        </p:nvSpPr>
        <p:spPr>
          <a:xfrm>
            <a:off x="9119859" y="5632704"/>
            <a:ext cx="3307201"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9266163" y="5705856"/>
            <a:ext cx="3014593" cy="182880"/>
          </a:xfrm>
          <a:prstGeom prst="rect">
            <a:avLst/>
          </a:prstGeom>
          <a:noFill/>
        </p:spPr>
        <p:txBody>
          <a:bodyPr wrap="square" anchor="t" lIns="0" rIns="0" tIns="0" bIns="0">
            <a:spAutoFit/>
          </a:bodyPr>
          <a:lstStyle/>
          <a:p>
            <a:pPr algn="l">
              <a:lnSpc>
                <a:spcPct val="112000"/>
              </a:lnSpc>
            </a:pPr>
            <a:r>
              <a:rPr sz="900" b="0">
                <a:solidFill>
                  <a:srgbClr val="8A8A8A"/>
                </a:solidFill>
                <a:latin typeface="Arial"/>
                <a:ea typeface="Arial"/>
              </a:rPr>
              <a:t>2012~2021   </a:t>
            </a:r>
            <a:r>
              <a:rPr sz="900" b="0">
                <a:solidFill>
                  <a:srgbClr val="8A8A8A"/>
                </a:solidFill>
                <a:latin typeface="Arial"/>
                <a:ea typeface="Arial"/>
              </a:rPr>
              <a:t>차별화 축</a:t>
            </a:r>
          </a:p>
        </p:txBody>
      </p:sp>
      <p:sp>
        <p:nvSpPr>
          <p:cNvPr id="126" name="TextBox 125"/>
          <p:cNvSpPr txBox="1"/>
          <p:nvPr/>
        </p:nvSpPr>
        <p:spPr>
          <a:xfrm>
            <a:off x="9266163" y="5888736"/>
            <a:ext cx="3014593"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QoS · 지연 꼬리</a:t>
            </a:r>
          </a:p>
        </p:txBody>
      </p:sp>
      <p:sp>
        <p:nvSpPr>
          <p:cNvPr id="127" name="TextBox 126"/>
          <p:cNvSpPr txBox="1"/>
          <p:nvPr/>
        </p:nvSpPr>
        <p:spPr>
          <a:xfrm>
            <a:off x="9266163" y="6135624"/>
            <a:ext cx="3014593"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99.9% 읽기 지연이 스펙 전면으로</a:t>
            </a:r>
          </a:p>
        </p:txBody>
      </p:sp>
      <p:sp>
        <p:nvSpPr>
          <p:cNvPr id="128" name="TextBox 127"/>
          <p:cNvSpPr txBox="1"/>
          <p:nvPr/>
        </p:nvSpPr>
        <p:spPr>
          <a:xfrm>
            <a:off x="9266163" y="6327648"/>
            <a:ext cx="3014593" cy="219456"/>
          </a:xfrm>
          <a:prstGeom prst="rect">
            <a:avLst/>
          </a:prstGeom>
          <a:noFill/>
        </p:spPr>
        <p:txBody>
          <a:bodyPr wrap="square" anchor="t" lIns="0" rIns="0" tIns="0" bIns="0">
            <a:spAutoFit/>
          </a:bodyPr>
          <a:lstStyle/>
          <a:p>
            <a:pPr algn="l">
              <a:lnSpc>
                <a:spcPct val="100000"/>
              </a:lnSpc>
            </a:pPr>
            <a:r>
              <a:rPr sz="875" b="0">
                <a:solidFill>
                  <a:srgbClr val="8A8A8A"/>
                </a:solidFill>
                <a:latin typeface="Arial"/>
                <a:ea typeface="Arial"/>
              </a:rPr>
              <a:t>S3700 500µs('12) → OCP v2.0 지연 모니터 의무화('21)</a:t>
            </a:r>
          </a:p>
        </p:txBody>
      </p:sp>
      <p:sp>
        <p:nvSpPr>
          <p:cNvPr id="129" name="Rectangle 128"/>
          <p:cNvSpPr/>
          <p:nvPr/>
        </p:nvSpPr>
        <p:spPr>
          <a:xfrm>
            <a:off x="9119859" y="6638544"/>
            <a:ext cx="3307201" cy="896112"/>
          </a:xfrm>
          <a:prstGeom prst="rect">
            <a:avLst/>
          </a:prstGeom>
          <a:solidFill>
            <a:srgbClr val="F4F6FC"/>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9266163" y="6711696"/>
            <a:ext cx="3014593" cy="182880"/>
          </a:xfrm>
          <a:prstGeom prst="rect">
            <a:avLst/>
          </a:prstGeom>
          <a:noFill/>
        </p:spPr>
        <p:txBody>
          <a:bodyPr wrap="square" anchor="t" lIns="0" rIns="0" tIns="0" bIns="0">
            <a:spAutoFit/>
          </a:bodyPr>
          <a:lstStyle/>
          <a:p>
            <a:pPr algn="l">
              <a:lnSpc>
                <a:spcPct val="112000"/>
              </a:lnSpc>
            </a:pPr>
            <a:r>
              <a:rPr sz="900" b="0">
                <a:solidFill>
                  <a:srgbClr val="8A8A8A"/>
                </a:solidFill>
                <a:latin typeface="Arial"/>
                <a:ea typeface="Arial"/>
              </a:rPr>
              <a:t>2022~2026   </a:t>
            </a:r>
            <a:r>
              <a:rPr sz="900" b="0">
                <a:solidFill>
                  <a:srgbClr val="8A8A8A"/>
                </a:solidFill>
                <a:latin typeface="Arial"/>
                <a:ea typeface="Arial"/>
              </a:rPr>
              <a:t>차별화 축</a:t>
            </a:r>
          </a:p>
        </p:txBody>
      </p:sp>
      <p:sp>
        <p:nvSpPr>
          <p:cNvPr id="131" name="TextBox 130"/>
          <p:cNvSpPr txBox="1"/>
          <p:nvPr/>
        </p:nvSpPr>
        <p:spPr>
          <a:xfrm>
            <a:off x="9266163" y="6894576"/>
            <a:ext cx="3014593" cy="237744"/>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용량밀도 · 전력효율 · 공급</a:t>
            </a:r>
          </a:p>
        </p:txBody>
      </p:sp>
      <p:sp>
        <p:nvSpPr>
          <p:cNvPr id="132" name="TextBox 131"/>
          <p:cNvSpPr txBox="1"/>
          <p:nvPr/>
        </p:nvSpPr>
        <p:spPr>
          <a:xfrm>
            <a:off x="9266163" y="7141464"/>
            <a:ext cx="3014593"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TB/슬롯 · TB/W · 물량 확보가 상위 기준</a:t>
            </a:r>
          </a:p>
        </p:txBody>
      </p:sp>
      <p:sp>
        <p:nvSpPr>
          <p:cNvPr id="133" name="TextBox 132"/>
          <p:cNvSpPr txBox="1"/>
          <p:nvPr/>
        </p:nvSpPr>
        <p:spPr>
          <a:xfrm>
            <a:off x="9266163" y="7333488"/>
            <a:ext cx="3014593" cy="219456"/>
          </a:xfrm>
          <a:prstGeom prst="rect">
            <a:avLst/>
          </a:prstGeom>
          <a:noFill/>
        </p:spPr>
        <p:txBody>
          <a:bodyPr wrap="square" anchor="t" lIns="0" rIns="0" tIns="0" bIns="0">
            <a:spAutoFit/>
          </a:bodyPr>
          <a:lstStyle/>
          <a:p>
            <a:pPr algn="l">
              <a:lnSpc>
                <a:spcPct val="100000"/>
              </a:lnSpc>
            </a:pPr>
            <a:r>
              <a:rPr sz="875" b="0">
                <a:solidFill>
                  <a:srgbClr val="8A8A8A"/>
                </a:solidFill>
                <a:latin typeface="Arial"/>
                <a:ea typeface="Arial"/>
              </a:rPr>
              <a:t>QoS는 기본 요건 · 내구성은 0.3과 60 DWPD로 양극화</a:t>
            </a:r>
          </a:p>
        </p:txBody>
      </p:sp>
      <p:sp>
        <p:nvSpPr>
          <p:cNvPr id="134" name="TextBox 133"/>
          <p:cNvSpPr txBox="1"/>
          <p:nvPr/>
        </p:nvSpPr>
        <p:spPr>
          <a:xfrm>
            <a:off x="9119859" y="7662671"/>
            <a:ext cx="3307201" cy="658368"/>
          </a:xfrm>
          <a:prstGeom prst="rect">
            <a:avLst/>
          </a:prstGeom>
          <a:noFill/>
        </p:spPr>
        <p:txBody>
          <a:bodyPr wrap="square" anchor="t" lIns="0" rIns="0" tIns="0" bIns="0">
            <a:spAutoFit/>
          </a:bodyPr>
          <a:lstStyle/>
          <a:p>
            <a:pPr algn="l">
              <a:lnSpc>
                <a:spcPct val="104000"/>
              </a:lnSpc>
            </a:pPr>
            <a:r>
              <a:rPr sz="1050" b="1">
                <a:solidFill>
                  <a:srgbClr val="1428A0"/>
                </a:solidFill>
                <a:latin typeface="Arial"/>
                <a:ea typeface="Arial"/>
              </a:rPr>
              <a:t>추론 캐시 계층에서만 내구성이 다시 구속 조건입니다</a:t>
            </a:r>
          </a:p>
          <a:p>
            <a:pPr algn="l">
              <a:lnSpc>
                <a:spcPct val="104000"/>
              </a:lnSpc>
            </a:pPr>
            <a:r>
              <a:rPr sz="900" b="0">
                <a:solidFill>
                  <a:srgbClr val="555555"/>
                </a:solidFill>
                <a:latin typeface="Arial"/>
                <a:ea typeface="Arial"/>
              </a:rPr>
              <a:t>SSD가 맞춰야 할 구매 기준: TB/슬롯 · TB/W · 99.9999% 읽기 지연 · DWPD·TBW · $/TB · 공급 보장 · 배치 힌트와 텔레메트리 지원</a:t>
            </a:r>
          </a:p>
        </p:txBody>
      </p:sp>
      <p:sp>
        <p:nvSpPr>
          <p:cNvPr id="135" name="Rectangle 134"/>
          <p:cNvSpPr/>
          <p:nvPr/>
        </p:nvSpPr>
        <p:spPr>
          <a:xfrm>
            <a:off x="12792821" y="4059935"/>
            <a:ext cx="4772802" cy="437083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2792821" y="4059935"/>
            <a:ext cx="4772802"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3030565" y="4206240"/>
            <a:ext cx="429731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문제 · 해법이 필요한 상황</a:t>
            </a:r>
            <a:r>
              <a:rPr sz="1050" b="0">
                <a:solidFill>
                  <a:srgbClr val="8A8A8A"/>
                </a:solidFill>
                <a:latin typeface="Arial"/>
                <a:ea typeface="Arial"/>
              </a:rPr>
              <a:t>   2027~2030</a:t>
            </a:r>
          </a:p>
        </p:txBody>
      </p:sp>
      <p:sp>
        <p:nvSpPr>
          <p:cNvPr id="138" name="Rectangle 137"/>
          <p:cNvSpPr/>
          <p:nvPr/>
        </p:nvSpPr>
        <p:spPr>
          <a:xfrm>
            <a:off x="13030565" y="4517136"/>
            <a:ext cx="429731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030565" y="4608575"/>
            <a:ext cx="4297314" cy="182880"/>
          </a:xfrm>
          <a:prstGeom prst="rect">
            <a:avLst/>
          </a:prstGeom>
          <a:noFill/>
        </p:spPr>
        <p:txBody>
          <a:bodyPr wrap="square" anchor="t" lIns="0" rIns="0" tIns="0" bIns="0">
            <a:spAutoFit/>
          </a:bodyPr>
          <a:lstStyle/>
          <a:p>
            <a:pPr algn="l">
              <a:lnSpc>
                <a:spcPct val="112000"/>
              </a:lnSpc>
            </a:pPr>
            <a:r>
              <a:rPr sz="900" b="0">
                <a:solidFill>
                  <a:srgbClr val="8A8A8A"/>
                </a:solidFill>
                <a:latin typeface="Arial"/>
                <a:ea typeface="Arial"/>
              </a:rPr>
              <a:t>내구성 격차 · 요구 1~3 DWPD ÷ 현 QLC 정격 0.6</a:t>
            </a:r>
          </a:p>
        </p:txBody>
      </p:sp>
      <p:sp>
        <p:nvSpPr>
          <p:cNvPr id="140" name="TextBox 139"/>
          <p:cNvSpPr txBox="1"/>
          <p:nvPr/>
        </p:nvSpPr>
        <p:spPr>
          <a:xfrm>
            <a:off x="13030565" y="4791455"/>
            <a:ext cx="4297314" cy="530352"/>
          </a:xfrm>
          <a:prstGeom prst="rect">
            <a:avLst/>
          </a:prstGeom>
          <a:noFill/>
        </p:spPr>
        <p:txBody>
          <a:bodyPr wrap="square" anchor="ctr" lIns="0" rIns="0" tIns="0" bIns="0">
            <a:spAutoFit/>
          </a:bodyPr>
          <a:lstStyle/>
          <a:p>
            <a:pPr algn="l">
              <a:lnSpc>
                <a:spcPct val="112000"/>
              </a:lnSpc>
            </a:pPr>
            <a:r>
              <a:rPr sz="2800" b="1">
                <a:solidFill>
                  <a:srgbClr val="1428A0"/>
                </a:solidFill>
                <a:latin typeface="Arial"/>
                <a:ea typeface="Arial"/>
              </a:rPr>
              <a:t>2~5배 격차</a:t>
            </a:r>
          </a:p>
        </p:txBody>
      </p:sp>
      <p:pic>
        <p:nvPicPr>
          <p:cNvPr id="141" name="Picture 140" descr="s1_demand_path.png"/>
          <p:cNvPicPr>
            <a:picLocks noChangeAspect="1"/>
          </p:cNvPicPr>
          <p:nvPr/>
        </p:nvPicPr>
        <p:blipFill>
          <a:blip r:embed="rId2"/>
          <a:stretch>
            <a:fillRect/>
          </a:stretch>
        </p:blipFill>
        <p:spPr>
          <a:xfrm>
            <a:off x="13167542" y="5358383"/>
            <a:ext cx="4023360" cy="1686090"/>
          </a:xfrm>
          <a:prstGeom prst="rect">
            <a:avLst/>
          </a:prstGeom>
        </p:spPr>
      </p:pic>
      <p:sp>
        <p:nvSpPr>
          <p:cNvPr id="142" name="TextBox 141"/>
          <p:cNvSpPr txBox="1"/>
          <p:nvPr/>
        </p:nvSpPr>
        <p:spPr>
          <a:xfrm>
            <a:off x="13030565" y="7077455"/>
            <a:ext cx="4297314" cy="36576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추론 캐시 계층 NAND 수요 · 2027 87EB → 2028 175EB(SanDisk) · 2030 350EB는 재구성값</a:t>
            </a:r>
          </a:p>
        </p:txBody>
      </p:sp>
      <p:sp>
        <p:nvSpPr>
          <p:cNvPr id="143" name="Rectangle 142"/>
          <p:cNvSpPr/>
          <p:nvPr/>
        </p:nvSpPr>
        <p:spPr>
          <a:xfrm>
            <a:off x="13030565" y="7370063"/>
            <a:ext cx="4297314" cy="603504"/>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3176869" y="7406640"/>
            <a:ext cx="4004706" cy="530352"/>
          </a:xfrm>
          <a:prstGeom prst="rect">
            <a:avLst/>
          </a:prstGeom>
          <a:noFill/>
        </p:spPr>
        <p:txBody>
          <a:bodyPr wrap="square" anchor="ctr" lIns="0" rIns="0" tIns="0" bIns="0">
            <a:spAutoFit/>
          </a:bodyPr>
          <a:lstStyle/>
          <a:p>
            <a:pPr algn="l">
              <a:lnSpc>
                <a:spcPct val="104000"/>
              </a:lnSpc>
            </a:pPr>
            <a:r>
              <a:rPr sz="1275" b="1">
                <a:solidFill>
                  <a:srgbClr val="1428A0"/>
                </a:solidFill>
                <a:latin typeface="Arial"/>
                <a:ea typeface="Arial"/>
              </a:rPr>
              <a:t>고용량 QLC에서 DWPD를 높일 해법이 필요합니다</a:t>
            </a:r>
          </a:p>
          <a:p>
            <a:pPr algn="l">
              <a:lnSpc>
                <a:spcPct val="104000"/>
              </a:lnSpc>
            </a:pPr>
            <a:r>
              <a:rPr sz="900" b="0">
                <a:solidFill>
                  <a:srgbClr val="555555"/>
                </a:solidFill>
                <a:latin typeface="Arial"/>
                <a:ea typeface="Arial"/>
              </a:rPr>
              <a:t>두 축 · 다이 수 증가 → 신뢰성(2장) · DWPD 격차 → 내구성(3장)</a:t>
            </a:r>
          </a:p>
        </p:txBody>
      </p:sp>
      <p:sp>
        <p:nvSpPr>
          <p:cNvPr id="145" name="Rectangle 144"/>
          <p:cNvSpPr/>
          <p:nvPr/>
        </p:nvSpPr>
        <p:spPr>
          <a:xfrm>
            <a:off x="13030565" y="7973568"/>
            <a:ext cx="54864" cy="4206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3231733" y="7973568"/>
            <a:ext cx="4096146" cy="420624"/>
          </a:xfrm>
          <a:prstGeom prst="rect">
            <a:avLst/>
          </a:prstGeom>
          <a:noFill/>
        </p:spPr>
        <p:txBody>
          <a:bodyPr wrap="square" anchor="ctr" lIns="0" rIns="0" tIns="0" bIns="0">
            <a:spAutoFit/>
          </a:bodyPr>
          <a:lstStyle/>
          <a:p>
            <a:pPr algn="l">
              <a:lnSpc>
                <a:spcPct val="106000"/>
              </a:lnSpc>
            </a:pPr>
            <a:r>
              <a:rPr sz="900" b="1">
                <a:solidFill>
                  <a:srgbClr val="1A1A1A"/>
                </a:solidFill>
                <a:latin typeface="Arial"/>
                <a:ea typeface="Arial"/>
              </a:rPr>
              <a:t>「부품이 어떻게 쓰일지는 시스템을 설계하는 사람 마음에 있다. 그걸 알았으면 HBM을 진작 준비했을 것이다」</a:t>
            </a:r>
          </a:p>
          <a:p>
            <a:pPr algn="l">
              <a:lnSpc>
                <a:spcPct val="106000"/>
              </a:lnSpc>
            </a:pPr>
            <a:r>
              <a:rPr sz="750" b="0">
                <a:solidFill>
                  <a:srgbClr val="8A8A8A"/>
                </a:solidFill>
                <a:latin typeface="Arial"/>
                <a:ea typeface="Arial"/>
              </a:rPr>
              <a:t>송용호 AX/PI센터장 · 사내 인터뷰 2026-09-03</a:t>
            </a:r>
          </a:p>
        </p:txBody>
      </p:sp>
      <p:sp>
        <p:nvSpPr>
          <p:cNvPr id="147" name="Rectangle 146"/>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문제</a:t>
            </a:r>
          </a:p>
        </p:txBody>
      </p:sp>
      <p:sp>
        <p:nvSpPr>
          <p:cNvPr id="149" name="TextBox 148"/>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요구는 구매자의 조달 규격과 프로덕션 코드에서 먼저 정의됐고, 그것을 먼저 읽은 공급자가 선점했습니다.</a:t>
            </a:r>
          </a:p>
          <a:p>
            <a:pPr algn="l">
              <a:lnSpc>
                <a:spcPct val="108000"/>
              </a:lnSpc>
            </a:pPr>
            <a:r>
              <a:rPr sz="1650" b="1">
                <a:solidFill>
                  <a:srgbClr val="FFFFFF"/>
                </a:solidFill>
                <a:latin typeface="Arial"/>
                <a:ea typeface="Arial"/>
              </a:rPr>
              <a:t>차기 요구는 고용량과 1~3 DWPD이며, 현 QLC 정격 0.6과는 2~5배 격차가 있습니다</a:t>
            </a:r>
          </a:p>
        </p:txBody>
      </p:sp>
      <p:sp>
        <p:nvSpPr>
          <p:cNvPr id="150" name="Rectangle 149"/>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2장 신뢰성 · SSD 내부 해법</a:t>
            </a:r>
          </a:p>
        </p:txBody>
      </p:sp>
      <p:sp>
        <p:nvSpPr>
          <p:cNvPr id="153" name="TextBox 15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위키 다운턴 역사(DT19·DT23), NVMe TP4146·CacheLib·Linux 커밋 이력, OCP·JEDEC 기고자 명단, TrendForce·SEMI·UBS(전환점), SanDisk FMS 2026·McKinsey(수요), P5336·CM9·LC9 사양(DWPD)</a:t>
            </a:r>
          </a:p>
        </p:txBody>
      </p:sp>
      <p:sp>
        <p:nvSpPr>
          <p:cNvPr id="154" name="TextBox 15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신뢰성  </a:t>
            </a:r>
            <a:r>
              <a:rPr sz="1200" b="0">
                <a:solidFill>
                  <a:srgbClr val="1428A0"/>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해법 사다리  </a:t>
            </a:r>
            <a:r>
              <a:rPr sz="1200" b="0">
                <a:solidFill>
                  <a:srgbClr val="8A8A8A"/>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첫째 축 신뢰성은 다이 수 증가로 요구가 다이당 10 ppm대까지 내려가나, SSD 내부 구조로 충족됩니다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드라이브 고장률 요구는 고정, SSD당 다이 수는 512 → 2,133. 패리티와 여분 다이가 요구를 다시 천 ppm 단위로 되돌립니다.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rel_ppm_requirement.png"/>
          <p:cNvPicPr>
            <a:picLocks noChangeAspect="1"/>
          </p:cNvPicPr>
          <p:nvPr/>
        </p:nvPicPr>
        <p:blipFill>
          <a:blip r:embed="rId2"/>
          <a:stretch>
            <a:fillRect/>
          </a:stretch>
        </p:blipFill>
        <p:spPr>
          <a:xfrm>
            <a:off x="722376" y="2560320"/>
            <a:ext cx="6903720" cy="3050770"/>
          </a:xfrm>
          <a:prstGeom prst="rect">
            <a:avLst/>
          </a:prstGeom>
        </p:spPr>
      </p:pic>
      <p:pic>
        <p:nvPicPr>
          <p:cNvPr id="33" name="Picture 32" descr="rel_protection_tradeoff.png"/>
          <p:cNvPicPr>
            <a:picLocks noChangeAspect="1"/>
          </p:cNvPicPr>
          <p:nvPr/>
        </p:nvPicPr>
        <p:blipFill>
          <a:blip r:embed="rId3"/>
          <a:stretch>
            <a:fillRect/>
          </a:stretch>
        </p:blipFill>
        <p:spPr>
          <a:xfrm>
            <a:off x="7808975" y="2560320"/>
            <a:ext cx="4315968" cy="3051946"/>
          </a:xfrm>
          <a:prstGeom prst="rect">
            <a:avLst/>
          </a:prstGeom>
        </p:spPr>
      </p:pic>
      <p:sp>
        <p:nvSpPr>
          <p:cNvPr id="34" name="Rectangle 33"/>
          <p:cNvSpPr/>
          <p:nvPr/>
        </p:nvSpPr>
        <p:spPr>
          <a:xfrm>
            <a:off x="12307824" y="2560320"/>
            <a:ext cx="5257800" cy="305409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2545567" y="2688336"/>
            <a:ext cx="4782312" cy="201168"/>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요구 · 드라이브 고장률 (5년 누적)</a:t>
            </a:r>
          </a:p>
        </p:txBody>
      </p:sp>
      <p:sp>
        <p:nvSpPr>
          <p:cNvPr id="36" name="TextBox 35"/>
          <p:cNvSpPr txBox="1"/>
          <p:nvPr/>
        </p:nvSpPr>
        <p:spPr>
          <a:xfrm>
            <a:off x="12545567" y="2889503"/>
            <a:ext cx="4782312" cy="438912"/>
          </a:xfrm>
          <a:prstGeom prst="rect">
            <a:avLst/>
          </a:prstGeom>
          <a:noFill/>
        </p:spPr>
        <p:txBody>
          <a:bodyPr wrap="square" anchor="ctr" lIns="0" rIns="0" tIns="0" bIns="0">
            <a:spAutoFit/>
          </a:bodyPr>
          <a:lstStyle/>
          <a:p>
            <a:pPr algn="l">
              <a:lnSpc>
                <a:spcPct val="112000"/>
              </a:lnSpc>
            </a:pPr>
            <a:r>
              <a:rPr sz="2500" b="1">
                <a:solidFill>
                  <a:srgbClr val="1428A0"/>
                </a:solidFill>
                <a:latin typeface="Arial"/>
                <a:ea typeface="Arial"/>
              </a:rPr>
              <a:t>2.2%  고정</a:t>
            </a:r>
          </a:p>
        </p:txBody>
      </p:sp>
      <p:sp>
        <p:nvSpPr>
          <p:cNvPr id="37" name="TextBox 36"/>
          <p:cNvSpPr txBox="1"/>
          <p:nvPr/>
        </p:nvSpPr>
        <p:spPr>
          <a:xfrm>
            <a:off x="12545567" y="3328415"/>
            <a:ext cx="4782312" cy="201168"/>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OCP 사양 MTBF 2,000,000시간 = AFR 0.44%/년 · JESD218 FFR 3%보다 엄격</a:t>
            </a:r>
          </a:p>
        </p:txBody>
      </p:sp>
      <p:sp>
        <p:nvSpPr>
          <p:cNvPr id="38" name="Rectangle 37"/>
          <p:cNvSpPr/>
          <p:nvPr/>
        </p:nvSpPr>
        <p:spPr>
          <a:xfrm>
            <a:off x="12545567" y="3566160"/>
            <a:ext cx="4782312"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2545567" y="3675887"/>
            <a:ext cx="4782312" cy="84124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2691872" y="3749039"/>
            <a:ext cx="4489704" cy="201168"/>
          </a:xfrm>
          <a:prstGeom prst="rect">
            <a:avLst/>
          </a:prstGeom>
          <a:noFill/>
        </p:spPr>
        <p:txBody>
          <a:bodyPr wrap="square" anchor="t" lIns="0" rIns="0" tIns="0" bIns="0">
            <a:spAutoFit/>
          </a:bodyPr>
          <a:lstStyle/>
          <a:p>
            <a:pPr algn="l">
              <a:lnSpc>
                <a:spcPct val="112000"/>
              </a:lnSpc>
            </a:pPr>
            <a:r>
              <a:rPr sz="1050" b="1">
                <a:solidFill>
                  <a:srgbClr val="1A1A1A"/>
                </a:solidFill>
                <a:latin typeface="Arial"/>
                <a:ea typeface="Arial"/>
              </a:rPr>
              <a:t>245 · 256TB급 · 1,024다이</a:t>
            </a:r>
          </a:p>
        </p:txBody>
      </p:sp>
      <p:sp>
        <p:nvSpPr>
          <p:cNvPr id="41" name="TextBox 40"/>
          <p:cNvSpPr txBox="1"/>
          <p:nvPr/>
        </p:nvSpPr>
        <p:spPr>
          <a:xfrm>
            <a:off x="12691872" y="3968496"/>
            <a:ext cx="4489704" cy="237744"/>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단일 패리티로 충족</a:t>
            </a:r>
          </a:p>
        </p:txBody>
      </p:sp>
      <p:sp>
        <p:nvSpPr>
          <p:cNvPr id="42" name="TextBox 41"/>
          <p:cNvSpPr txBox="1"/>
          <p:nvPr/>
        </p:nvSpPr>
        <p:spPr>
          <a:xfrm>
            <a:off x="12691872" y="4224527"/>
            <a:ext cx="4489704" cy="237744"/>
          </a:xfrm>
          <a:prstGeom prst="rect">
            <a:avLst/>
          </a:prstGeom>
          <a:noFill/>
        </p:spPr>
        <p:txBody>
          <a:bodyPr wrap="square" anchor="t" lIns="0" rIns="0" tIns="0" bIns="0">
            <a:spAutoFit/>
          </a:bodyPr>
          <a:lstStyle/>
          <a:p>
            <a:pPr algn="l">
              <a:lnSpc>
                <a:spcPct val="100000"/>
              </a:lnSpc>
            </a:pPr>
            <a:r>
              <a:rPr sz="950" b="0">
                <a:solidFill>
                  <a:srgbClr val="555555"/>
                </a:solidFill>
                <a:latin typeface="Arial"/>
                <a:ea typeface="Arial"/>
              </a:rPr>
              <a:t>다이 요구 1,679 ppm · 현 수준 추정 범위 안</a:t>
            </a:r>
          </a:p>
        </p:txBody>
      </p:sp>
      <p:sp>
        <p:nvSpPr>
          <p:cNvPr id="43" name="Rectangle 42"/>
          <p:cNvSpPr/>
          <p:nvPr/>
        </p:nvSpPr>
        <p:spPr>
          <a:xfrm>
            <a:off x="12545567" y="4572000"/>
            <a:ext cx="4782312" cy="841248"/>
          </a:xfrm>
          <a:prstGeom prst="rect">
            <a:avLst/>
          </a:prstGeom>
          <a:solidFill>
            <a:srgbClr val="FFFFFF"/>
          </a:solidFill>
          <a:ln w="127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2691872" y="4645152"/>
            <a:ext cx="4489704" cy="201168"/>
          </a:xfrm>
          <a:prstGeom prst="rect">
            <a:avLst/>
          </a:prstGeom>
          <a:noFill/>
        </p:spPr>
        <p:txBody>
          <a:bodyPr wrap="square" anchor="t" lIns="0" rIns="0" tIns="0" bIns="0">
            <a:spAutoFit/>
          </a:bodyPr>
          <a:lstStyle/>
          <a:p>
            <a:pPr algn="l">
              <a:lnSpc>
                <a:spcPct val="112000"/>
              </a:lnSpc>
            </a:pPr>
            <a:r>
              <a:rPr sz="1050" b="1">
                <a:solidFill>
                  <a:srgbClr val="1A1A1A"/>
                </a:solidFill>
                <a:latin typeface="Arial"/>
                <a:ea typeface="Arial"/>
              </a:rPr>
              <a:t>512TB급 · 2,133다이</a:t>
            </a:r>
          </a:p>
        </p:txBody>
      </p:sp>
      <p:sp>
        <p:nvSpPr>
          <p:cNvPr id="45" name="TextBox 44"/>
          <p:cNvSpPr txBox="1"/>
          <p:nvPr/>
        </p:nvSpPr>
        <p:spPr>
          <a:xfrm>
            <a:off x="12691872" y="4864608"/>
            <a:ext cx="4489704" cy="237744"/>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이중 패리티 또는 여분 다이</a:t>
            </a:r>
          </a:p>
        </p:txBody>
      </p:sp>
      <p:sp>
        <p:nvSpPr>
          <p:cNvPr id="46" name="TextBox 45"/>
          <p:cNvSpPr txBox="1"/>
          <p:nvPr/>
        </p:nvSpPr>
        <p:spPr>
          <a:xfrm>
            <a:off x="12691872" y="5120640"/>
            <a:ext cx="4489704" cy="237744"/>
          </a:xfrm>
          <a:prstGeom prst="rect">
            <a:avLst/>
          </a:prstGeom>
          <a:noFill/>
        </p:spPr>
        <p:txBody>
          <a:bodyPr wrap="square" anchor="t" lIns="0" rIns="0" tIns="0" bIns="0">
            <a:spAutoFit/>
          </a:bodyPr>
          <a:lstStyle/>
          <a:p>
            <a:pPr algn="l">
              <a:lnSpc>
                <a:spcPct val="100000"/>
              </a:lnSpc>
            </a:pPr>
            <a:r>
              <a:rPr sz="950" b="0">
                <a:solidFill>
                  <a:srgbClr val="555555"/>
                </a:solidFill>
                <a:latin typeface="Arial"/>
                <a:ea typeface="Arial"/>
              </a:rPr>
              <a:t>단일 패리티 요구 1,164 ppm · 현 수준 상단에 미달</a:t>
            </a:r>
          </a:p>
        </p:txBody>
      </p:sp>
      <p:sp>
        <p:nvSpPr>
          <p:cNvPr id="47" name="TextBox 46"/>
          <p:cNvSpPr txBox="1"/>
          <p:nvPr/>
        </p:nvSpPr>
        <p:spPr>
          <a:xfrm>
            <a:off x="12545567" y="5522976"/>
            <a:ext cx="4782312" cy="402336"/>
          </a:xfrm>
          <a:prstGeom prst="rect">
            <a:avLst/>
          </a:prstGeom>
          <a:noFill/>
        </p:spPr>
        <p:txBody>
          <a:bodyPr wrap="square" anchor="t" lIns="0" rIns="0" tIns="0" bIns="0">
            <a:spAutoFit/>
          </a:bodyPr>
          <a:lstStyle/>
          <a:p>
            <a:pPr algn="l">
              <a:lnSpc>
                <a:spcPct val="102000"/>
              </a:lnSpc>
            </a:pPr>
            <a:r>
              <a:rPr sz="1125" b="1">
                <a:solidFill>
                  <a:srgbClr val="1428A0"/>
                </a:solidFill>
                <a:latin typeface="Arial"/>
                <a:ea typeface="Arial"/>
              </a:rPr>
              <a:t>해법은 다이 고장률 개선이 아니라 SSD 안의 보호 구조입니다</a:t>
            </a:r>
          </a:p>
        </p:txBody>
      </p:sp>
      <p:sp>
        <p:nvSpPr>
          <p:cNvPr id="48" name="TextBox 47"/>
          <p:cNvSpPr txBox="1"/>
          <p:nvPr/>
        </p:nvSpPr>
        <p:spPr>
          <a:xfrm>
            <a:off x="722376" y="5833872"/>
            <a:ext cx="1684324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내부 해법</a:t>
            </a:r>
            <a:r>
              <a:rPr sz="1050" b="0">
                <a:solidFill>
                  <a:srgbClr val="8A8A8A"/>
                </a:solidFill>
                <a:latin typeface="Arial"/>
                <a:ea typeface="Arial"/>
              </a:rPr>
              <a:t>   다이 고장을 SSD 안에서 흡수하고, 호스트에는 관측 지표만 제공합니다</a:t>
            </a:r>
          </a:p>
        </p:txBody>
      </p:sp>
      <p:sp>
        <p:nvSpPr>
          <p:cNvPr id="49" name="Rectangle 48"/>
          <p:cNvSpPr/>
          <p:nvPr/>
        </p:nvSpPr>
        <p:spPr>
          <a:xfrm>
            <a:off x="722376" y="6144768"/>
            <a:ext cx="4059936" cy="2286000"/>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22376" y="6144768"/>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05256"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① 다이 패리티 · 단일 고장 복구</a:t>
            </a:r>
          </a:p>
        </p:txBody>
      </p:sp>
      <p:sp>
        <p:nvSpPr>
          <p:cNvPr id="52" name="Rectangle 51"/>
          <p:cNvSpPr/>
          <p:nvPr/>
        </p:nvSpPr>
        <p:spPr>
          <a:xfrm>
            <a:off x="941832"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243584"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54533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847088"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148840"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450592" y="6583679"/>
            <a:ext cx="246888" cy="246888"/>
          </a:xfrm>
          <a:prstGeom prst="rect">
            <a:avLst/>
          </a:prstGeom>
          <a:solidFill>
            <a:srgbClr val="FFFFFF"/>
          </a:solid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495031" y="6694779"/>
            <a:ext cx="158008" cy="24688"/>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2752344"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305409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4183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24358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54533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847088"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148840"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45059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275234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3054096" y="6885431"/>
            <a:ext cx="246888" cy="2468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447288" y="6583679"/>
            <a:ext cx="1115568" cy="603504"/>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15 + 1</a:t>
            </a:r>
          </a:p>
          <a:p>
            <a:pPr algn="l">
              <a:lnSpc>
                <a:spcPct val="100000"/>
              </a:lnSpc>
            </a:pPr>
            <a:r>
              <a:rPr sz="900" b="0">
                <a:solidFill>
                  <a:srgbClr val="555555"/>
                </a:solidFill>
                <a:latin typeface="Arial"/>
                <a:ea typeface="Arial"/>
              </a:rPr>
              <a:t>데이터 15 · 패리티 1</a:t>
            </a:r>
          </a:p>
        </p:txBody>
      </p:sp>
      <p:sp>
        <p:nvSpPr>
          <p:cNvPr id="70" name="TextBox 69"/>
          <p:cNvSpPr txBox="1"/>
          <p:nvPr/>
        </p:nvSpPr>
        <p:spPr>
          <a:xfrm>
            <a:off x="941832"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다이 1개 고장</a:t>
            </a:r>
            <a:r>
              <a:rPr sz="1050" b="0">
                <a:solidFill>
                  <a:srgbClr val="8A8A8A"/>
                </a:solidFill>
                <a:latin typeface="Arial"/>
                <a:ea typeface="Arial"/>
              </a:rPr>
              <a:t>  →  </a:t>
            </a:r>
            <a:r>
              <a:rPr sz="1050" b="1">
                <a:solidFill>
                  <a:srgbClr val="1428A0"/>
                </a:solidFill>
                <a:latin typeface="Arial"/>
                <a:ea typeface="Arial"/>
              </a:rPr>
              <a:t>XOR 복구</a:t>
            </a:r>
            <a:r>
              <a:rPr sz="1050" b="0">
                <a:solidFill>
                  <a:srgbClr val="8A8A8A"/>
                </a:solidFill>
                <a:latin typeface="Arial"/>
                <a:ea typeface="Arial"/>
              </a:rPr>
              <a:t>  →  </a:t>
            </a:r>
            <a:r>
              <a:rPr sz="1050" b="1">
                <a:solidFill>
                  <a:srgbClr val="1A1A1A"/>
                </a:solidFill>
                <a:latin typeface="Arial"/>
                <a:ea typeface="Arial"/>
              </a:rPr>
              <a:t>데이터 무손실</a:t>
            </a:r>
          </a:p>
        </p:txBody>
      </p:sp>
      <p:sp>
        <p:nvSpPr>
          <p:cNvPr id="71" name="TextBox 70"/>
          <p:cNvSpPr txBox="1"/>
          <p:nvPr/>
        </p:nvSpPr>
        <p:spPr>
          <a:xfrm>
            <a:off x="941832"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요구 완화 79배 · 21 → 1,679 ppm</a:t>
            </a:r>
          </a:p>
        </p:txBody>
      </p:sp>
      <p:sp>
        <p:nvSpPr>
          <p:cNvPr id="72" name="TextBox 71"/>
          <p:cNvSpPr txBox="1"/>
          <p:nvPr/>
        </p:nvSpPr>
        <p:spPr>
          <a:xfrm>
            <a:off x="941832"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용량 비용 6.2% · 선례 Micron RAIN(패리티 1:15)</a:t>
            </a:r>
          </a:p>
        </p:txBody>
      </p:sp>
      <p:sp>
        <p:nvSpPr>
          <p:cNvPr id="73" name="Rectangle 72"/>
          <p:cNvSpPr/>
          <p:nvPr/>
        </p:nvSpPr>
        <p:spPr>
          <a:xfrm>
            <a:off x="4983480" y="6144768"/>
            <a:ext cx="4059936" cy="2286000"/>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983480" y="6144768"/>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166360"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② 여분 다이 · 재구축 · 감량 운영</a:t>
            </a:r>
          </a:p>
        </p:txBody>
      </p:sp>
      <p:sp>
        <p:nvSpPr>
          <p:cNvPr id="76" name="Rectangle 75"/>
          <p:cNvSpPr/>
          <p:nvPr/>
        </p:nvSpPr>
        <p:spPr>
          <a:xfrm>
            <a:off x="520293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504688"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5806440"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6108192"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409944" y="6583679"/>
            <a:ext cx="246888" cy="246888"/>
          </a:xfrm>
          <a:prstGeom prst="rect">
            <a:avLst/>
          </a:prstGeom>
          <a:solidFill>
            <a:srgbClr val="FFFFFF"/>
          </a:solid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6454383" y="6694779"/>
            <a:ext cx="158008" cy="24688"/>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71169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520293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5504688"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5806440"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10819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40994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71169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ight Arrow 88"/>
          <p:cNvSpPr/>
          <p:nvPr/>
        </p:nvSpPr>
        <p:spPr>
          <a:xfrm>
            <a:off x="7031736" y="6748271"/>
            <a:ext cx="274320"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7397496" y="6583679"/>
            <a:ext cx="246888" cy="246888"/>
          </a:xfrm>
          <a:prstGeom prst="rect">
            <a:avLst/>
          </a:prstGeom>
          <a:solidFill>
            <a:srgbClr val="FFFF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397496" y="6885431"/>
            <a:ext cx="246888" cy="246888"/>
          </a:xfrm>
          <a:prstGeom prst="rect">
            <a:avLst/>
          </a:prstGeom>
          <a:solidFill>
            <a:srgbClr val="FFFF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7735823" y="6583679"/>
            <a:ext cx="1088136" cy="603504"/>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여분 다이</a:t>
            </a:r>
          </a:p>
          <a:p>
            <a:pPr algn="l">
              <a:lnSpc>
                <a:spcPct val="100000"/>
              </a:lnSpc>
            </a:pPr>
            <a:r>
              <a:rPr sz="900" b="0">
                <a:solidFill>
                  <a:srgbClr val="555555"/>
                </a:solidFill>
                <a:latin typeface="Arial"/>
                <a:ea typeface="Arial"/>
              </a:rPr>
              <a:t>고장 다이는 은퇴</a:t>
            </a:r>
          </a:p>
        </p:txBody>
      </p:sp>
      <p:sp>
        <p:nvSpPr>
          <p:cNvPr id="93" name="TextBox 92"/>
          <p:cNvSpPr txBox="1"/>
          <p:nvPr/>
        </p:nvSpPr>
        <p:spPr>
          <a:xfrm>
            <a:off x="5202936" y="7516367"/>
            <a:ext cx="3621024" cy="256032"/>
          </a:xfrm>
          <a:prstGeom prst="rect">
            <a:avLst/>
          </a:prstGeom>
          <a:noFill/>
        </p:spPr>
        <p:txBody>
          <a:bodyPr wrap="square" anchor="t" lIns="0" rIns="0" tIns="0" bIns="0">
            <a:spAutoFit/>
          </a:bodyPr>
          <a:lstStyle/>
          <a:p>
            <a:pPr algn="l">
              <a:lnSpc>
                <a:spcPct val="112000"/>
              </a:lnSpc>
            </a:pPr>
            <a:r>
              <a:rPr sz="1050" b="1">
                <a:solidFill>
                  <a:srgbClr val="1A1A1A"/>
                </a:solidFill>
                <a:latin typeface="Arial"/>
                <a:ea typeface="Arial"/>
              </a:rPr>
              <a:t>재구축 ≈ 1시간</a:t>
            </a:r>
            <a:r>
              <a:rPr sz="1050" b="0">
                <a:solidFill>
                  <a:srgbClr val="8A8A8A"/>
                </a:solidFill>
                <a:latin typeface="Arial"/>
                <a:ea typeface="Arial"/>
              </a:rPr>
              <a:t>  →  </a:t>
            </a:r>
            <a:r>
              <a:rPr sz="1050" b="1">
                <a:solidFill>
                  <a:srgbClr val="1428A0"/>
                </a:solidFill>
                <a:latin typeface="Arial"/>
                <a:ea typeface="Arial"/>
              </a:rPr>
              <a:t>보호 상태 복원 · 용량 유지</a:t>
            </a:r>
          </a:p>
        </p:txBody>
      </p:sp>
      <p:sp>
        <p:nvSpPr>
          <p:cNvPr id="94" name="TextBox 93"/>
          <p:cNvSpPr txBox="1"/>
          <p:nvPr/>
        </p:nvSpPr>
        <p:spPr>
          <a:xfrm>
            <a:off x="5202936"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요구 완화 1,000배 이상</a:t>
            </a:r>
          </a:p>
        </p:txBody>
      </p:sp>
      <p:sp>
        <p:nvSpPr>
          <p:cNvPr id="95" name="TextBox 94"/>
          <p:cNvSpPr txBox="1"/>
          <p:nvPr/>
        </p:nvSpPr>
        <p:spPr>
          <a:xfrm>
            <a:off x="5202936"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두 고장이 재구축 창에 겹칠 때만 상실 · 선례 삼성 PM1733 FIP</a:t>
            </a:r>
          </a:p>
        </p:txBody>
      </p:sp>
      <p:sp>
        <p:nvSpPr>
          <p:cNvPr id="96" name="Rectangle 95"/>
          <p:cNvSpPr/>
          <p:nvPr/>
        </p:nvSpPr>
        <p:spPr>
          <a:xfrm>
            <a:off x="9244584" y="6144768"/>
            <a:ext cx="4059936" cy="2286000"/>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9244584" y="6144768"/>
            <a:ext cx="4059936"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9427463"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③ 텔레메트리 · 사전 은퇴</a:t>
            </a:r>
          </a:p>
        </p:txBody>
      </p:sp>
      <p:sp>
        <p:nvSpPr>
          <p:cNvPr id="99" name="Rectangle 98"/>
          <p:cNvSpPr/>
          <p:nvPr/>
        </p:nvSpPr>
        <p:spPr>
          <a:xfrm>
            <a:off x="9464040" y="6583679"/>
            <a:ext cx="3621024" cy="8229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9555480" y="6620255"/>
            <a:ext cx="2194560"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다이별 RBER · XOR 복구 횟수</a:t>
            </a:r>
          </a:p>
        </p:txBody>
      </p:sp>
      <p:sp>
        <p:nvSpPr>
          <p:cNvPr id="101" name="Rectangle 100"/>
          <p:cNvSpPr/>
          <p:nvPr/>
        </p:nvSpPr>
        <p:spPr>
          <a:xfrm>
            <a:off x="9592056" y="7245705"/>
            <a:ext cx="277298" cy="8778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0070156" y="7223759"/>
            <a:ext cx="277298" cy="1097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0548257" y="7196327"/>
            <a:ext cx="277298" cy="1371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1026357" y="7157923"/>
            <a:ext cx="277298" cy="175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1504458" y="7092086"/>
            <a:ext cx="277298" cy="24140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1982558" y="6993331"/>
            <a:ext cx="277298" cy="3401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2460659" y="6861657"/>
            <a:ext cx="277298" cy="47183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9518904" y="6927494"/>
            <a:ext cx="3511296" cy="10972"/>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1987784" y="6744614"/>
            <a:ext cx="1042415" cy="182880"/>
          </a:xfrm>
          <a:prstGeom prst="rect">
            <a:avLst/>
          </a:prstGeom>
          <a:noFill/>
        </p:spPr>
        <p:txBody>
          <a:bodyPr wrap="square" anchor="t" lIns="0" rIns="0" tIns="0" bIns="0">
            <a:spAutoFit/>
          </a:bodyPr>
          <a:lstStyle/>
          <a:p>
            <a:pPr algn="r">
              <a:lnSpc>
                <a:spcPct val="112000"/>
              </a:lnSpc>
            </a:pPr>
            <a:r>
              <a:rPr sz="875" b="1">
                <a:solidFill>
                  <a:srgbClr val="D93025"/>
                </a:solidFill>
                <a:latin typeface="Arial"/>
                <a:ea typeface="Arial"/>
              </a:rPr>
              <a:t>은퇴 임계</a:t>
            </a:r>
          </a:p>
        </p:txBody>
      </p:sp>
      <p:sp>
        <p:nvSpPr>
          <p:cNvPr id="110" name="TextBox 109"/>
          <p:cNvSpPr txBox="1"/>
          <p:nvPr/>
        </p:nvSpPr>
        <p:spPr>
          <a:xfrm>
            <a:off x="9464040"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돌발 고장</a:t>
            </a:r>
            <a:r>
              <a:rPr sz="1050" b="0">
                <a:solidFill>
                  <a:srgbClr val="8A8A8A"/>
                </a:solidFill>
                <a:latin typeface="Arial"/>
                <a:ea typeface="Arial"/>
              </a:rPr>
              <a:t>  →  </a:t>
            </a:r>
            <a:r>
              <a:rPr sz="1050" b="1">
                <a:solidFill>
                  <a:srgbClr val="1428A0"/>
                </a:solidFill>
                <a:latin typeface="Arial"/>
                <a:ea typeface="Arial"/>
              </a:rPr>
              <a:t>징후 감지 · 사전 은퇴</a:t>
            </a:r>
          </a:p>
        </p:txBody>
      </p:sp>
      <p:sp>
        <p:nvSpPr>
          <p:cNvPr id="111" name="TextBox 110"/>
          <p:cNvSpPr txBox="1"/>
          <p:nvPr/>
        </p:nvSpPr>
        <p:spPr>
          <a:xfrm>
            <a:off x="9464040"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2,133다이 규모의 관리 가능성</a:t>
            </a:r>
          </a:p>
        </p:txBody>
      </p:sp>
      <p:sp>
        <p:nvSpPr>
          <p:cNvPr id="112" name="TextBox 111"/>
          <p:cNvSpPr txBox="1"/>
          <p:nvPr/>
        </p:nvSpPr>
        <p:spPr>
          <a:xfrm>
            <a:off x="9464040"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표준 필드: OCP SMART Cloud Health(C0) XOR 카운트</a:t>
            </a:r>
          </a:p>
        </p:txBody>
      </p:sp>
      <p:sp>
        <p:nvSpPr>
          <p:cNvPr id="113" name="Rectangle 112"/>
          <p:cNvSpPr/>
          <p:nvPr/>
        </p:nvSpPr>
        <p:spPr>
          <a:xfrm>
            <a:off x="13505688" y="6144768"/>
            <a:ext cx="4059936" cy="2286000"/>
          </a:xfrm>
          <a:prstGeom prst="rect">
            <a:avLst/>
          </a:prstGeom>
          <a:solidFill>
            <a:srgbClr val="F4F6FC"/>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3688567" y="6263640"/>
            <a:ext cx="3694176" cy="237744"/>
          </a:xfrm>
          <a:prstGeom prst="rect">
            <a:avLst/>
          </a:prstGeom>
          <a:noFill/>
        </p:spPr>
        <p:txBody>
          <a:bodyPr wrap="square" anchor="t" lIns="0" rIns="0" tIns="0" bIns="0">
            <a:spAutoFit/>
          </a:bodyPr>
          <a:lstStyle/>
          <a:p>
            <a:pPr algn="l">
              <a:lnSpc>
                <a:spcPct val="112000"/>
              </a:lnSpc>
            </a:pPr>
            <a:r>
              <a:rPr sz="1200" b="1">
                <a:solidFill>
                  <a:srgbClr val="555555"/>
                </a:solidFill>
                <a:latin typeface="Arial"/>
                <a:ea typeface="Arial"/>
              </a:rPr>
              <a:t>④ 호스트 · 플랫폼 (관측 · 수용)</a:t>
            </a:r>
          </a:p>
        </p:txBody>
      </p:sp>
      <p:sp>
        <p:nvSpPr>
          <p:cNvPr id="115" name="Rectangle 114"/>
          <p:cNvSpPr/>
          <p:nvPr/>
        </p:nvSpPr>
        <p:spPr>
          <a:xfrm>
            <a:off x="13725144" y="6583679"/>
            <a:ext cx="3621024" cy="347472"/>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3853160" y="6583679"/>
            <a:ext cx="822960" cy="347472"/>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SSD</a:t>
            </a:r>
          </a:p>
        </p:txBody>
      </p:sp>
      <p:sp>
        <p:nvSpPr>
          <p:cNvPr id="117" name="TextBox 116"/>
          <p:cNvSpPr txBox="1"/>
          <p:nvPr/>
        </p:nvSpPr>
        <p:spPr>
          <a:xfrm>
            <a:off x="14639543" y="6583679"/>
            <a:ext cx="2578608" cy="34747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XOR 카운트 · 감량 예고 노출</a:t>
            </a:r>
          </a:p>
        </p:txBody>
      </p:sp>
      <p:sp>
        <p:nvSpPr>
          <p:cNvPr id="118" name="Down Arrow 117"/>
          <p:cNvSpPr/>
          <p:nvPr/>
        </p:nvSpPr>
        <p:spPr>
          <a:xfrm>
            <a:off x="15453359" y="6949440"/>
            <a:ext cx="164592" cy="182880"/>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3725144" y="7168895"/>
            <a:ext cx="3621024" cy="329184"/>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13853160" y="7168895"/>
            <a:ext cx="822960" cy="32918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호스트</a:t>
            </a:r>
          </a:p>
        </p:txBody>
      </p:sp>
      <p:sp>
        <p:nvSpPr>
          <p:cNvPr id="121" name="TextBox 120"/>
          <p:cNvSpPr txBox="1"/>
          <p:nvPr/>
        </p:nvSpPr>
        <p:spPr>
          <a:xfrm>
            <a:off x="14639543" y="7168895"/>
            <a:ext cx="2578608" cy="329184"/>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감량 운영 수용 · 드라이브 간 소거 부호</a:t>
            </a:r>
          </a:p>
        </p:txBody>
      </p:sp>
      <p:sp>
        <p:nvSpPr>
          <p:cNvPr id="122" name="TextBox 121"/>
          <p:cNvSpPr txBox="1"/>
          <p:nvPr/>
        </p:nvSpPr>
        <p:spPr>
          <a:xfrm>
            <a:off x="13725144"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해결 주체는 SSD · 협력은 규격화에 한정</a:t>
            </a:r>
          </a:p>
        </p:txBody>
      </p:sp>
      <p:sp>
        <p:nvSpPr>
          <p:cNvPr id="123" name="TextBox 122"/>
          <p:cNvSpPr txBox="1"/>
          <p:nvPr/>
        </p:nvSpPr>
        <p:spPr>
          <a:xfrm>
            <a:off x="13725144"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삼성 과제 · OCP 규격 제안</a:t>
            </a:r>
          </a:p>
        </p:txBody>
      </p:sp>
      <p:sp>
        <p:nvSpPr>
          <p:cNvPr id="124" name="TextBox 123"/>
          <p:cNvSpPr txBox="1"/>
          <p:nvPr/>
        </p:nvSpPr>
        <p:spPr>
          <a:xfrm>
            <a:off x="13725144"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FIP 감량 정책 · 텔레메트리 필드 · 스트라이프 재설계</a:t>
            </a:r>
          </a:p>
        </p:txBody>
      </p:sp>
      <p:sp>
        <p:nvSpPr>
          <p:cNvPr id="125" name="Rectangle 124"/>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27" name="TextBox 126"/>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다이 고장률을 낮추는 길은 한계에 가깝고, 요구를 되돌리는 것은 패리티·여분 다이라는 SSD 내부 구조입니다.</a:t>
            </a:r>
          </a:p>
          <a:p>
            <a:pPr algn="l">
              <a:lnSpc>
                <a:spcPct val="108000"/>
              </a:lnSpc>
            </a:pPr>
            <a:r>
              <a:rPr sz="1650" b="1">
                <a:solidFill>
                  <a:srgbClr val="FFFFFF"/>
                </a:solidFill>
                <a:latin typeface="Arial"/>
                <a:ea typeface="Arial"/>
              </a:rPr>
              <a:t>이 축은 SSD 안에서 충족되지만, 둘째 축 내구성(DWPD)은 SSD 안에서 충족되지 않았습니다</a:t>
            </a:r>
          </a:p>
        </p:txBody>
      </p:sp>
      <p:sp>
        <p:nvSpPr>
          <p:cNvPr id="128" name="Rectangle 127"/>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3장 해법 사다리 · 왜 호스트인가</a:t>
            </a:r>
          </a:p>
        </p:txBody>
      </p:sp>
      <p:sp>
        <p:nvSpPr>
          <p:cNvPr id="131" name="TextBox 130"/>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JESD218(FFR), 제품 사양(다이 수), Micron RAIN(다이 패리티), 삼성 PM1733 FIP, OCP SMART C0, Google FAST'16(현 수준 역산) · 요구 곡선은 독립 고장 모델(⚠️)</a:t>
            </a:r>
          </a:p>
        </p:txBody>
      </p:sp>
      <p:sp>
        <p:nvSpPr>
          <p:cNvPr id="132" name="TextBox 131"/>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해법 사다리  </a:t>
            </a:r>
            <a:r>
              <a:rPr sz="1200" b="0">
                <a:solidFill>
                  <a:srgbClr val="1428A0"/>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둘째 축 내구성은 SSD 단독 최적화로 WAF ≈3에 머물렀고, 잔여 변수 WAF는 호스트가 결정합니다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요구(UBER·DWPD)는 고정, 단품 지표(RBER·P/E)는 악화, 격차는 상위 계층이 보상해 왔습니다. 1단계 ECC 완결, 2단계 단독 최적화는 부분 성공.</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039112" y="2560320"/>
            <a:ext cx="2468880" cy="512064"/>
          </a:xfrm>
          <a:prstGeom prst="rect">
            <a:avLst/>
          </a:prstGeom>
          <a:solidFill>
            <a:srgbClr val="F4F6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67128" y="2615184"/>
            <a:ext cx="221284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요구</a:t>
            </a:r>
          </a:p>
        </p:txBody>
      </p:sp>
      <p:sp>
        <p:nvSpPr>
          <p:cNvPr id="34" name="TextBox 33"/>
          <p:cNvSpPr txBox="1"/>
          <p:nvPr/>
        </p:nvSpPr>
        <p:spPr>
          <a:xfrm>
            <a:off x="2167128" y="2843784"/>
            <a:ext cx="2212848"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고객이 정한다 · 고정</a:t>
            </a:r>
          </a:p>
        </p:txBody>
      </p:sp>
      <p:sp>
        <p:nvSpPr>
          <p:cNvPr id="35" name="Rectangle 34"/>
          <p:cNvSpPr/>
          <p:nvPr/>
        </p:nvSpPr>
        <p:spPr>
          <a:xfrm>
            <a:off x="4782312" y="2560320"/>
            <a:ext cx="4078224"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10327" y="2615184"/>
            <a:ext cx="3822192"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단품 지표</a:t>
            </a:r>
          </a:p>
        </p:txBody>
      </p:sp>
      <p:sp>
        <p:nvSpPr>
          <p:cNvPr id="37" name="TextBox 36"/>
          <p:cNvSpPr txBox="1"/>
          <p:nvPr/>
        </p:nvSpPr>
        <p:spPr>
          <a:xfrm>
            <a:off x="4910327" y="2843784"/>
            <a:ext cx="3822192"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셀 · 다이 · 세대마다 악화</a:t>
            </a:r>
          </a:p>
        </p:txBody>
      </p:sp>
      <p:sp>
        <p:nvSpPr>
          <p:cNvPr id="38" name="Right Arrow 37"/>
          <p:cNvSpPr/>
          <p:nvPr/>
        </p:nvSpPr>
        <p:spPr>
          <a:xfrm>
            <a:off x="8887968" y="2715768"/>
            <a:ext cx="219456"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134856" y="2560320"/>
            <a:ext cx="4078224"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262872" y="2615184"/>
            <a:ext cx="3822192"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계층의 보상</a:t>
            </a:r>
          </a:p>
        </p:txBody>
      </p:sp>
      <p:sp>
        <p:nvSpPr>
          <p:cNvPr id="41" name="TextBox 40"/>
          <p:cNvSpPr txBox="1"/>
          <p:nvPr/>
        </p:nvSpPr>
        <p:spPr>
          <a:xfrm>
            <a:off x="9262872" y="2843784"/>
            <a:ext cx="3822192"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1단계 ECC(완결) · 2단계 단독 최적화(부분 성공)</a:t>
            </a:r>
          </a:p>
        </p:txBody>
      </p:sp>
      <p:sp>
        <p:nvSpPr>
          <p:cNvPr id="42" name="Right Arrow 41"/>
          <p:cNvSpPr/>
          <p:nvPr/>
        </p:nvSpPr>
        <p:spPr>
          <a:xfrm>
            <a:off x="13240512" y="2715768"/>
            <a:ext cx="219456"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3487400" y="2560320"/>
            <a:ext cx="4078224" cy="5120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3615416" y="2615184"/>
            <a:ext cx="3822192" cy="237744"/>
          </a:xfrm>
          <a:prstGeom prst="rect">
            <a:avLst/>
          </a:prstGeom>
          <a:noFill/>
        </p:spPr>
        <p:txBody>
          <a:bodyPr wrap="square" anchor="t" lIns="0" rIns="0" tIns="0" bIns="0">
            <a:spAutoFit/>
          </a:bodyPr>
          <a:lstStyle/>
          <a:p>
            <a:pPr algn="l">
              <a:lnSpc>
                <a:spcPct val="112000"/>
              </a:lnSpc>
            </a:pPr>
            <a:r>
              <a:rPr sz="1350" b="1">
                <a:solidFill>
                  <a:srgbClr val="FFFFFF"/>
                </a:solidFill>
                <a:latin typeface="Arial"/>
                <a:ea typeface="Arial"/>
              </a:rPr>
              <a:t>호스트 · 시스템 계층의 보상</a:t>
            </a:r>
          </a:p>
        </p:txBody>
      </p:sp>
      <p:sp>
        <p:nvSpPr>
          <p:cNvPr id="45" name="TextBox 44"/>
          <p:cNvSpPr txBox="1"/>
          <p:nvPr/>
        </p:nvSpPr>
        <p:spPr>
          <a:xfrm>
            <a:off x="13615416" y="2843784"/>
            <a:ext cx="3822192" cy="201168"/>
          </a:xfrm>
          <a:prstGeom prst="rect">
            <a:avLst/>
          </a:prstGeom>
          <a:noFill/>
        </p:spPr>
        <p:txBody>
          <a:bodyPr wrap="square" anchor="t" lIns="0" rIns="0" tIns="0" bIns="0">
            <a:spAutoFit/>
          </a:bodyPr>
          <a:lstStyle/>
          <a:p>
            <a:pPr algn="l">
              <a:lnSpc>
                <a:spcPct val="112000"/>
              </a:lnSpc>
            </a:pPr>
            <a:r>
              <a:rPr sz="975" b="0">
                <a:solidFill>
                  <a:srgbClr val="FFFFFF"/>
                </a:solidFill>
                <a:latin typeface="Arial"/>
                <a:ea typeface="Arial"/>
              </a:rPr>
              <a:t>3단계 공동 설계 (2022~, 본 덱 4~5장)</a:t>
            </a:r>
          </a:p>
        </p:txBody>
      </p:sp>
      <p:sp>
        <p:nvSpPr>
          <p:cNvPr id="46" name="TextBox 45"/>
          <p:cNvSpPr txBox="1"/>
          <p:nvPr/>
        </p:nvSpPr>
        <p:spPr>
          <a:xfrm>
            <a:off x="722376" y="2560320"/>
            <a:ext cx="1188720" cy="512064"/>
          </a:xfrm>
          <a:prstGeom prst="rect">
            <a:avLst/>
          </a:prstGeom>
          <a:noFill/>
        </p:spPr>
        <p:txBody>
          <a:bodyPr wrap="square" anchor="ctr" lIns="0" rIns="0" tIns="0" bIns="0">
            <a:spAutoFit/>
          </a:bodyPr>
          <a:lstStyle/>
          <a:p>
            <a:pPr algn="l">
              <a:lnSpc>
                <a:spcPct val="112000"/>
              </a:lnSpc>
            </a:pPr>
            <a:r>
              <a:rPr sz="1050" b="1">
                <a:solidFill>
                  <a:srgbClr val="8A8A8A"/>
                </a:solidFill>
                <a:latin typeface="Arial"/>
                <a:ea typeface="Arial"/>
              </a:rPr>
              <a:t>이관 단계 →</a:t>
            </a:r>
          </a:p>
        </p:txBody>
      </p:sp>
      <p:sp>
        <p:nvSpPr>
          <p:cNvPr id="47" name="Rectangle 46"/>
          <p:cNvSpPr/>
          <p:nvPr/>
        </p:nvSpPr>
        <p:spPr>
          <a:xfrm>
            <a:off x="2039112" y="3145536"/>
            <a:ext cx="15526512" cy="49377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22376" y="3145536"/>
            <a:ext cx="1188720" cy="493776"/>
          </a:xfrm>
          <a:prstGeom prst="rect">
            <a:avLst/>
          </a:prstGeom>
          <a:noFill/>
        </p:spPr>
        <p:txBody>
          <a:bodyPr wrap="square" anchor="ctr" lIns="0" rIns="0" tIns="0" bIns="0">
            <a:spAutoFit/>
          </a:bodyPr>
          <a:lstStyle/>
          <a:p>
            <a:pPr algn="l">
              <a:lnSpc>
                <a:spcPct val="100000"/>
              </a:lnSpc>
            </a:pPr>
            <a:r>
              <a:rPr sz="1050" b="1">
                <a:solidFill>
                  <a:srgbClr val="1428A0"/>
                </a:solidFill>
                <a:latin typeface="Arial"/>
                <a:ea typeface="Arial"/>
              </a:rPr>
              <a:t>DWPD 산식</a:t>
            </a:r>
          </a:p>
          <a:p>
            <a:pPr algn="l">
              <a:lnSpc>
                <a:spcPct val="100000"/>
              </a:lnSpc>
            </a:pPr>
            <a:r>
              <a:rPr sz="900" b="0">
                <a:solidFill>
                  <a:srgbClr val="8A8A8A"/>
                </a:solidFill>
                <a:latin typeface="Arial"/>
                <a:ea typeface="Arial"/>
              </a:rPr>
              <a:t>항별 결정 주체</a:t>
            </a:r>
          </a:p>
        </p:txBody>
      </p:sp>
      <p:sp>
        <p:nvSpPr>
          <p:cNvPr id="49" name="Rectangle 48"/>
          <p:cNvSpPr/>
          <p:nvPr/>
        </p:nvSpPr>
        <p:spPr>
          <a:xfrm>
            <a:off x="6483096"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83096"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DWPD</a:t>
            </a:r>
          </a:p>
        </p:txBody>
      </p:sp>
      <p:sp>
        <p:nvSpPr>
          <p:cNvPr id="51" name="TextBox 50"/>
          <p:cNvSpPr txBox="1"/>
          <p:nvPr/>
        </p:nvSpPr>
        <p:spPr>
          <a:xfrm>
            <a:off x="6391656"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52" name="TextBox 51"/>
          <p:cNvSpPr txBox="1"/>
          <p:nvPr/>
        </p:nvSpPr>
        <p:spPr>
          <a:xfrm>
            <a:off x="7562088"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53" name="Rectangle 52"/>
          <p:cNvSpPr/>
          <p:nvPr/>
        </p:nvSpPr>
        <p:spPr>
          <a:xfrm>
            <a:off x="7891271"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891271"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P/E</a:t>
            </a:r>
          </a:p>
        </p:txBody>
      </p:sp>
      <p:sp>
        <p:nvSpPr>
          <p:cNvPr id="55" name="TextBox 54"/>
          <p:cNvSpPr txBox="1"/>
          <p:nvPr/>
        </p:nvSpPr>
        <p:spPr>
          <a:xfrm>
            <a:off x="7799831"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단품(셀)</a:t>
            </a:r>
          </a:p>
        </p:txBody>
      </p:sp>
      <p:sp>
        <p:nvSpPr>
          <p:cNvPr id="56" name="TextBox 55"/>
          <p:cNvSpPr txBox="1"/>
          <p:nvPr/>
        </p:nvSpPr>
        <p:spPr>
          <a:xfrm>
            <a:off x="8970263"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57" name="Rectangle 56"/>
          <p:cNvSpPr/>
          <p:nvPr/>
        </p:nvSpPr>
        <p:spPr>
          <a:xfrm>
            <a:off x="9299447"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299447"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1 + OP</a:t>
            </a:r>
          </a:p>
        </p:txBody>
      </p:sp>
      <p:sp>
        <p:nvSpPr>
          <p:cNvPr id="59" name="TextBox 58"/>
          <p:cNvSpPr txBox="1"/>
          <p:nvPr/>
        </p:nvSpPr>
        <p:spPr>
          <a:xfrm>
            <a:off x="9208007"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SSD</a:t>
            </a:r>
          </a:p>
        </p:txBody>
      </p:sp>
      <p:sp>
        <p:nvSpPr>
          <p:cNvPr id="60" name="TextBox 59"/>
          <p:cNvSpPr txBox="1"/>
          <p:nvPr/>
        </p:nvSpPr>
        <p:spPr>
          <a:xfrm>
            <a:off x="10378439"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61" name="Rectangle 60"/>
          <p:cNvSpPr/>
          <p:nvPr/>
        </p:nvSpPr>
        <p:spPr>
          <a:xfrm>
            <a:off x="10707623" y="3209544"/>
            <a:ext cx="1005840" cy="2743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707623" y="3209544"/>
            <a:ext cx="1005840" cy="274320"/>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WAF</a:t>
            </a:r>
          </a:p>
        </p:txBody>
      </p:sp>
      <p:sp>
        <p:nvSpPr>
          <p:cNvPr id="63" name="TextBox 62"/>
          <p:cNvSpPr txBox="1"/>
          <p:nvPr/>
        </p:nvSpPr>
        <p:spPr>
          <a:xfrm>
            <a:off x="10616183" y="3493007"/>
            <a:ext cx="1188720" cy="164592"/>
          </a:xfrm>
          <a:prstGeom prst="rect">
            <a:avLst/>
          </a:prstGeom>
          <a:noFill/>
        </p:spPr>
        <p:txBody>
          <a:bodyPr wrap="square" anchor="t" lIns="0" rIns="0" tIns="0" bIns="0">
            <a:spAutoFit/>
          </a:bodyPr>
          <a:lstStyle/>
          <a:p>
            <a:pPr algn="ctr">
              <a:lnSpc>
                <a:spcPct val="112000"/>
              </a:lnSpc>
            </a:pPr>
            <a:r>
              <a:rPr sz="850" b="1">
                <a:solidFill>
                  <a:srgbClr val="1428A0"/>
                </a:solidFill>
                <a:latin typeface="Arial"/>
                <a:ea typeface="Arial"/>
              </a:rPr>
              <a:t>호스트 · 앱</a:t>
            </a:r>
          </a:p>
        </p:txBody>
      </p:sp>
      <p:sp>
        <p:nvSpPr>
          <p:cNvPr id="64" name="TextBox 63"/>
          <p:cNvSpPr txBox="1"/>
          <p:nvPr/>
        </p:nvSpPr>
        <p:spPr>
          <a:xfrm>
            <a:off x="11786615"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65" name="Rectangle 64"/>
          <p:cNvSpPr/>
          <p:nvPr/>
        </p:nvSpPr>
        <p:spPr>
          <a:xfrm>
            <a:off x="12115799"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2115799"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365 × 년</a:t>
            </a:r>
          </a:p>
        </p:txBody>
      </p:sp>
      <p:sp>
        <p:nvSpPr>
          <p:cNvPr id="67" name="TextBox 66"/>
          <p:cNvSpPr txBox="1"/>
          <p:nvPr/>
        </p:nvSpPr>
        <p:spPr>
          <a:xfrm>
            <a:off x="12024359"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68" name="Rectangle 67"/>
          <p:cNvSpPr/>
          <p:nvPr/>
        </p:nvSpPr>
        <p:spPr>
          <a:xfrm>
            <a:off x="722376" y="3712463"/>
            <a:ext cx="1188720" cy="331012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22376" y="3712463"/>
            <a:ext cx="54864" cy="33101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86968" y="3858768"/>
            <a:ext cx="950976" cy="274320"/>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내구성 축</a:t>
            </a:r>
          </a:p>
        </p:txBody>
      </p:sp>
      <p:sp>
        <p:nvSpPr>
          <p:cNvPr id="71" name="TextBox 70"/>
          <p:cNvSpPr txBox="1"/>
          <p:nvPr/>
        </p:nvSpPr>
        <p:spPr>
          <a:xfrm>
            <a:off x="886968" y="4169663"/>
            <a:ext cx="950976" cy="548640"/>
          </a:xfrm>
          <a:prstGeom prst="rect">
            <a:avLst/>
          </a:prstGeom>
          <a:noFill/>
        </p:spPr>
        <p:txBody>
          <a:bodyPr wrap="square" anchor="t" lIns="0" rIns="0" tIns="0" bIns="0">
            <a:spAutoFit/>
          </a:bodyPr>
          <a:lstStyle/>
          <a:p>
            <a:pPr algn="l">
              <a:lnSpc>
                <a:spcPct val="100000"/>
              </a:lnSpc>
            </a:pPr>
            <a:r>
              <a:rPr sz="975" b="0">
                <a:solidFill>
                  <a:srgbClr val="555555"/>
                </a:solidFill>
                <a:latin typeface="Arial"/>
                <a:ea typeface="Arial"/>
              </a:rPr>
              <a:t>P/E · BER</a:t>
            </a:r>
          </a:p>
          <a:p>
            <a:pPr algn="l">
              <a:lnSpc>
                <a:spcPct val="100000"/>
              </a:lnSpc>
            </a:pPr>
            <a:r>
              <a:rPr sz="975" b="0">
                <a:solidFill>
                  <a:srgbClr val="555555"/>
                </a:solidFill>
                <a:latin typeface="Arial"/>
                <a:ea typeface="Arial"/>
              </a:rPr>
              <a:t>DWPD · WAF</a:t>
            </a:r>
          </a:p>
        </p:txBody>
      </p:sp>
      <p:sp>
        <p:nvSpPr>
          <p:cNvPr id="72" name="Rectangle 71"/>
          <p:cNvSpPr/>
          <p:nvPr/>
        </p:nvSpPr>
        <p:spPr>
          <a:xfrm>
            <a:off x="2039112" y="3712463"/>
            <a:ext cx="2468880" cy="3310128"/>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167128" y="3858768"/>
            <a:ext cx="2212848"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추론 캐시 계층 요구</a:t>
            </a:r>
          </a:p>
        </p:txBody>
      </p:sp>
      <p:sp>
        <p:nvSpPr>
          <p:cNvPr id="74" name="TextBox 73"/>
          <p:cNvSpPr txBox="1"/>
          <p:nvPr/>
        </p:nvSpPr>
        <p:spPr>
          <a:xfrm>
            <a:off x="2167128" y="4059935"/>
            <a:ext cx="2212848" cy="475488"/>
          </a:xfrm>
          <a:prstGeom prst="rect">
            <a:avLst/>
          </a:prstGeom>
          <a:noFill/>
        </p:spPr>
        <p:txBody>
          <a:bodyPr wrap="square" anchor="ctr" lIns="0" rIns="0" tIns="0" bIns="0">
            <a:spAutoFit/>
          </a:bodyPr>
          <a:lstStyle/>
          <a:p>
            <a:pPr algn="l">
              <a:lnSpc>
                <a:spcPct val="112000"/>
              </a:lnSpc>
            </a:pPr>
            <a:r>
              <a:rPr sz="2600" b="1">
                <a:solidFill>
                  <a:srgbClr val="1428A0"/>
                </a:solidFill>
                <a:latin typeface="Arial"/>
                <a:ea typeface="Arial"/>
              </a:rPr>
              <a:t>DWPD 1~3</a:t>
            </a:r>
          </a:p>
        </p:txBody>
      </p:sp>
      <p:sp>
        <p:nvSpPr>
          <p:cNvPr id="75" name="TextBox 74"/>
          <p:cNvSpPr txBox="1"/>
          <p:nvPr/>
        </p:nvSpPr>
        <p:spPr>
          <a:xfrm>
            <a:off x="2167128" y="4553712"/>
            <a:ext cx="2212848" cy="402336"/>
          </a:xfrm>
          <a:prstGeom prst="rect">
            <a:avLst/>
          </a:prstGeom>
          <a:noFill/>
        </p:spPr>
        <p:txBody>
          <a:bodyPr wrap="square" anchor="t" lIns="0" rIns="0" tIns="0" bIns="0">
            <a:spAutoFit/>
          </a:bodyPr>
          <a:lstStyle/>
          <a:p>
            <a:pPr algn="l">
              <a:lnSpc>
                <a:spcPct val="104000"/>
              </a:lnSpc>
            </a:pPr>
            <a:r>
              <a:rPr sz="900" b="0">
                <a:solidFill>
                  <a:srgbClr val="555555"/>
                </a:solidFill>
                <a:latin typeface="Arial"/>
                <a:ea typeface="Arial"/>
              </a:rPr>
              <a:t>KV 캐시 계층 TLC 제품 정격 수준</a:t>
            </a:r>
          </a:p>
          <a:p>
            <a:pPr algn="l">
              <a:lnSpc>
                <a:spcPct val="104000"/>
              </a:lnSpc>
            </a:pPr>
            <a:r>
              <a:rPr sz="975" b="1">
                <a:solidFill>
                  <a:srgbClr val="1428A0"/>
                </a:solidFill>
                <a:latin typeface="Arial"/>
                <a:ea typeface="Arial"/>
              </a:rPr>
              <a:t>현 QLC 정격 0.6 대비 2~5배</a:t>
            </a:r>
          </a:p>
        </p:txBody>
      </p:sp>
      <p:sp>
        <p:nvSpPr>
          <p:cNvPr id="76" name="Rectangle 75"/>
          <p:cNvSpPr/>
          <p:nvPr/>
        </p:nvSpPr>
        <p:spPr>
          <a:xfrm>
            <a:off x="2167128" y="5029200"/>
            <a:ext cx="2212848"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167128" y="5138927"/>
            <a:ext cx="2212848"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신뢰성 요구 · JESD218</a:t>
            </a:r>
          </a:p>
        </p:txBody>
      </p:sp>
      <p:sp>
        <p:nvSpPr>
          <p:cNvPr id="78" name="TextBox 77"/>
          <p:cNvSpPr txBox="1"/>
          <p:nvPr/>
        </p:nvSpPr>
        <p:spPr>
          <a:xfrm>
            <a:off x="2167128" y="5340096"/>
            <a:ext cx="2212848" cy="457200"/>
          </a:xfrm>
          <a:prstGeom prst="rect">
            <a:avLst/>
          </a:prstGeom>
          <a:noFill/>
        </p:spPr>
        <p:txBody>
          <a:bodyPr wrap="square" anchor="ctr" lIns="0" rIns="0" tIns="0" bIns="0">
            <a:spAutoFit/>
          </a:bodyPr>
          <a:lstStyle/>
          <a:p>
            <a:pPr algn="l">
              <a:lnSpc>
                <a:spcPct val="112000"/>
              </a:lnSpc>
            </a:pPr>
            <a:r>
              <a:rPr sz="2100" b="1">
                <a:solidFill>
                  <a:srgbClr val="1428A0"/>
                </a:solidFill>
                <a:latin typeface="Arial"/>
                <a:ea typeface="Arial"/>
              </a:rPr>
              <a:t>UBER 10</a:t>
            </a:r>
            <a:r>
              <a:rPr sz="1250" b="1" baseline="30000">
                <a:solidFill>
                  <a:srgbClr val="1428A0"/>
                </a:solidFill>
                <a:latin typeface="Arial"/>
                <a:ea typeface="Arial"/>
              </a:rPr>
              <a:t>-15</a:t>
            </a:r>
            <a:r>
              <a:rPr sz="2100" b="1">
                <a:solidFill>
                  <a:srgbClr val="1428A0"/>
                </a:solidFill>
                <a:latin typeface="Arial"/>
                <a:ea typeface="Arial"/>
              </a:rPr>
              <a:t> · 10</a:t>
            </a:r>
            <a:r>
              <a:rPr sz="1250" b="1" baseline="30000">
                <a:solidFill>
                  <a:srgbClr val="1428A0"/>
                </a:solidFill>
                <a:latin typeface="Arial"/>
                <a:ea typeface="Arial"/>
              </a:rPr>
              <a:t>-16</a:t>
            </a:r>
          </a:p>
        </p:txBody>
      </p:sp>
      <p:sp>
        <p:nvSpPr>
          <p:cNvPr id="79" name="TextBox 78"/>
          <p:cNvSpPr txBox="1"/>
          <p:nvPr/>
        </p:nvSpPr>
        <p:spPr>
          <a:xfrm>
            <a:off x="2167128" y="5815583"/>
            <a:ext cx="2212848" cy="438912"/>
          </a:xfrm>
          <a:prstGeom prst="rect">
            <a:avLst/>
          </a:prstGeom>
          <a:noFill/>
        </p:spPr>
        <p:txBody>
          <a:bodyPr wrap="square" anchor="t" lIns="0" rIns="0" tIns="0" bIns="0">
            <a:spAutoFit/>
          </a:bodyPr>
          <a:lstStyle/>
          <a:p>
            <a:pPr algn="l">
              <a:lnSpc>
                <a:spcPct val="104000"/>
              </a:lnSpc>
            </a:pPr>
            <a:r>
              <a:rPr sz="900" b="0">
                <a:solidFill>
                  <a:srgbClr val="555555"/>
                </a:solidFill>
                <a:latin typeface="Arial"/>
                <a:ea typeface="Arial"/>
              </a:rPr>
              <a:t>클라이언트 · 엔터프라이즈 등급</a:t>
            </a:r>
          </a:p>
          <a:p>
            <a:pPr algn="l">
              <a:lnSpc>
                <a:spcPct val="104000"/>
              </a:lnSpc>
            </a:pPr>
            <a:r>
              <a:rPr sz="900" b="0">
                <a:solidFill>
                  <a:srgbClr val="555555"/>
                </a:solidFill>
                <a:latin typeface="Arial"/>
                <a:ea typeface="Arial"/>
              </a:rPr>
              <a:t>드라이브 고장률 5년 2.2%(OCP 사양)</a:t>
            </a:r>
          </a:p>
        </p:txBody>
      </p:sp>
      <p:sp>
        <p:nvSpPr>
          <p:cNvPr id="80" name="TextBox 79"/>
          <p:cNvSpPr txBox="1"/>
          <p:nvPr/>
        </p:nvSpPr>
        <p:spPr>
          <a:xfrm>
            <a:off x="2167128" y="6510527"/>
            <a:ext cx="2212848" cy="438912"/>
          </a:xfrm>
          <a:prstGeom prst="rect">
            <a:avLst/>
          </a:prstGeom>
          <a:noFill/>
        </p:spPr>
        <p:txBody>
          <a:bodyPr wrap="square" anchor="ctr" lIns="0" rIns="0" tIns="0" bIns="0">
            <a:spAutoFit/>
          </a:bodyPr>
          <a:lstStyle/>
          <a:p>
            <a:pPr algn="l">
              <a:lnSpc>
                <a:spcPct val="100000"/>
              </a:lnSpc>
            </a:pPr>
            <a:r>
              <a:rPr sz="975" b="1">
                <a:solidFill>
                  <a:srgbClr val="1428A0"/>
                </a:solidFill>
                <a:latin typeface="Arial"/>
                <a:ea typeface="Arial"/>
              </a:rPr>
              <a:t>요구는 고객이 정하고 바뀌지 않습니다</a:t>
            </a:r>
          </a:p>
        </p:txBody>
      </p:sp>
      <p:sp>
        <p:nvSpPr>
          <p:cNvPr id="81" name="Rectangle 80"/>
          <p:cNvSpPr/>
          <p:nvPr/>
        </p:nvSpPr>
        <p:spPr>
          <a:xfrm>
            <a:off x="4782312" y="3712463"/>
            <a:ext cx="4078224" cy="3310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4892040" y="3822191"/>
            <a:ext cx="3858768" cy="32918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020055" y="3822191"/>
            <a:ext cx="2286000" cy="329184"/>
          </a:xfrm>
          <a:prstGeom prst="rect">
            <a:avLst/>
          </a:prstGeom>
          <a:noFill/>
        </p:spPr>
        <p:txBody>
          <a:bodyPr wrap="square" anchor="ctr" lIns="0" rIns="0" tIns="0" bIns="0">
            <a:spAutoFit/>
          </a:bodyPr>
          <a:lstStyle/>
          <a:p>
            <a:pPr algn="l">
              <a:lnSpc>
                <a:spcPct val="112000"/>
              </a:lnSpc>
            </a:pPr>
            <a:r>
              <a:rPr sz="950" b="0">
                <a:solidFill>
                  <a:srgbClr val="1A1A1A"/>
                </a:solidFill>
                <a:latin typeface="Arial"/>
                <a:ea typeface="Arial"/>
              </a:rPr>
              <a:t>단품 지표</a:t>
            </a:r>
          </a:p>
        </p:txBody>
      </p:sp>
      <p:sp>
        <p:nvSpPr>
          <p:cNvPr id="84" name="TextBox 83"/>
          <p:cNvSpPr txBox="1"/>
          <p:nvPr/>
        </p:nvSpPr>
        <p:spPr>
          <a:xfrm>
            <a:off x="5020055" y="3822191"/>
            <a:ext cx="3602736" cy="329184"/>
          </a:xfrm>
          <a:prstGeom prst="rect">
            <a:avLst/>
          </a:prstGeom>
          <a:noFill/>
        </p:spPr>
        <p:txBody>
          <a:bodyPr wrap="square" anchor="ctr" lIns="0" rIns="0" tIns="0" bIns="0">
            <a:spAutoFit/>
          </a:bodyPr>
          <a:lstStyle/>
          <a:p>
            <a:pPr algn="r">
              <a:lnSpc>
                <a:spcPct val="112000"/>
              </a:lnSpc>
            </a:pPr>
            <a:r>
              <a:rPr sz="1050" b="1">
                <a:solidFill>
                  <a:srgbClr val="1A1A1A"/>
                </a:solidFill>
                <a:latin typeface="Arial"/>
                <a:ea typeface="Arial"/>
              </a:rPr>
              <a:t>세대마다 악화</a:t>
            </a:r>
          </a:p>
        </p:txBody>
      </p:sp>
      <p:pic>
        <p:nvPicPr>
          <p:cNvPr id="85" name="Picture 84" descr="ladder_component_big.png"/>
          <p:cNvPicPr>
            <a:picLocks noChangeAspect="1"/>
          </p:cNvPicPr>
          <p:nvPr/>
        </p:nvPicPr>
        <p:blipFill>
          <a:blip r:embed="rId2"/>
          <a:stretch>
            <a:fillRect/>
          </a:stretch>
        </p:blipFill>
        <p:spPr>
          <a:xfrm>
            <a:off x="5015483" y="4224527"/>
            <a:ext cx="3611880" cy="2513929"/>
          </a:xfrm>
          <a:prstGeom prst="rect">
            <a:avLst/>
          </a:prstGeom>
        </p:spPr>
      </p:pic>
      <p:sp>
        <p:nvSpPr>
          <p:cNvPr id="86" name="TextBox 85"/>
          <p:cNvSpPr txBox="1"/>
          <p:nvPr/>
        </p:nvSpPr>
        <p:spPr>
          <a:xfrm>
            <a:off x="4910327" y="6748271"/>
            <a:ext cx="3822192" cy="25603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시간에 따라 변하는 산포는 셀 단독으로 보정하지 못합니다</a:t>
            </a:r>
          </a:p>
        </p:txBody>
      </p:sp>
      <p:sp>
        <p:nvSpPr>
          <p:cNvPr id="87" name="Rectangle 86"/>
          <p:cNvSpPr/>
          <p:nvPr/>
        </p:nvSpPr>
        <p:spPr>
          <a:xfrm>
            <a:off x="9134856" y="3712463"/>
            <a:ext cx="4078224" cy="3310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9244584" y="3822191"/>
            <a:ext cx="3858768" cy="274320"/>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372600" y="3822191"/>
            <a:ext cx="2286000" cy="274320"/>
          </a:xfrm>
          <a:prstGeom prst="rect">
            <a:avLst/>
          </a:prstGeom>
          <a:noFill/>
        </p:spPr>
        <p:txBody>
          <a:bodyPr wrap="square" anchor="ctr" lIns="0" rIns="0" tIns="0" bIns="0">
            <a:spAutoFit/>
          </a:bodyPr>
          <a:lstStyle/>
          <a:p>
            <a:pPr algn="l">
              <a:lnSpc>
                <a:spcPct val="112000"/>
              </a:lnSpc>
            </a:pPr>
            <a:r>
              <a:rPr sz="950" b="0">
                <a:solidFill>
                  <a:srgbClr val="8A8A8A"/>
                </a:solidFill>
                <a:latin typeface="Arial"/>
                <a:ea typeface="Arial"/>
              </a:rPr>
              <a:t>1단계 · 컨트롤러 ECC (1991~)</a:t>
            </a:r>
          </a:p>
        </p:txBody>
      </p:sp>
      <p:sp>
        <p:nvSpPr>
          <p:cNvPr id="90" name="TextBox 89"/>
          <p:cNvSpPr txBox="1"/>
          <p:nvPr/>
        </p:nvSpPr>
        <p:spPr>
          <a:xfrm>
            <a:off x="9372600" y="3822191"/>
            <a:ext cx="3602736" cy="274320"/>
          </a:xfrm>
          <a:prstGeom prst="rect">
            <a:avLst/>
          </a:prstGeom>
          <a:noFill/>
        </p:spPr>
        <p:txBody>
          <a:bodyPr wrap="square" anchor="ctr" lIns="0" rIns="0" tIns="0" bIns="0">
            <a:spAutoFit/>
          </a:bodyPr>
          <a:lstStyle/>
          <a:p>
            <a:pPr algn="r">
              <a:lnSpc>
                <a:spcPct val="112000"/>
              </a:lnSpc>
            </a:pPr>
            <a:r>
              <a:rPr sz="1050" b="1">
                <a:solidFill>
                  <a:srgbClr val="1A1A1A"/>
                </a:solidFill>
                <a:latin typeface="Arial"/>
                <a:ea typeface="Arial"/>
              </a:rPr>
              <a:t>UBER 요구 충족</a:t>
            </a:r>
          </a:p>
        </p:txBody>
      </p:sp>
      <p:sp>
        <p:nvSpPr>
          <p:cNvPr id="91" name="Rectangle 90"/>
          <p:cNvSpPr/>
          <p:nvPr/>
        </p:nvSpPr>
        <p:spPr>
          <a:xfrm>
            <a:off x="9244584" y="4133087"/>
            <a:ext cx="3858768" cy="2743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372600" y="4133087"/>
            <a:ext cx="2286000" cy="274320"/>
          </a:xfrm>
          <a:prstGeom prst="rect">
            <a:avLst/>
          </a:prstGeom>
          <a:noFill/>
        </p:spPr>
        <p:txBody>
          <a:bodyPr wrap="square" anchor="ctr" lIns="0" rIns="0" tIns="0" bIns="0">
            <a:spAutoFit/>
          </a:bodyPr>
          <a:lstStyle/>
          <a:p>
            <a:pPr algn="l">
              <a:lnSpc>
                <a:spcPct val="112000"/>
              </a:lnSpc>
            </a:pPr>
            <a:r>
              <a:rPr sz="950" b="0">
                <a:solidFill>
                  <a:srgbClr val="1A1A1A"/>
                </a:solidFill>
                <a:latin typeface="Arial"/>
                <a:ea typeface="Arial"/>
              </a:rPr>
              <a:t>2단계 · SSD 단독 최적화 (~2019)</a:t>
            </a:r>
          </a:p>
        </p:txBody>
      </p:sp>
      <p:sp>
        <p:nvSpPr>
          <p:cNvPr id="93" name="TextBox 92"/>
          <p:cNvSpPr txBox="1"/>
          <p:nvPr/>
        </p:nvSpPr>
        <p:spPr>
          <a:xfrm>
            <a:off x="9372600" y="4133087"/>
            <a:ext cx="3602736" cy="274320"/>
          </a:xfrm>
          <a:prstGeom prst="rect">
            <a:avLst/>
          </a:prstGeom>
          <a:noFill/>
        </p:spPr>
        <p:txBody>
          <a:bodyPr wrap="square" anchor="ctr" lIns="0" rIns="0" tIns="0" bIns="0">
            <a:spAutoFit/>
          </a:bodyPr>
          <a:lstStyle/>
          <a:p>
            <a:pPr algn="r">
              <a:lnSpc>
                <a:spcPct val="112000"/>
              </a:lnSpc>
            </a:pPr>
            <a:r>
              <a:rPr sz="1050" b="1">
                <a:solidFill>
                  <a:srgbClr val="1A1A1A"/>
                </a:solidFill>
                <a:latin typeface="Arial"/>
                <a:ea typeface="Arial"/>
              </a:rPr>
              <a:t>WAF ≈ 3에서 멈춤</a:t>
            </a:r>
          </a:p>
        </p:txBody>
      </p:sp>
      <p:pic>
        <p:nvPicPr>
          <p:cNvPr id="94" name="Picture 93" descr="ladder_dwpd_trend.png"/>
          <p:cNvPicPr>
            <a:picLocks noChangeAspect="1"/>
          </p:cNvPicPr>
          <p:nvPr/>
        </p:nvPicPr>
        <p:blipFill>
          <a:blip r:embed="rId3"/>
          <a:stretch>
            <a:fillRect/>
          </a:stretch>
        </p:blipFill>
        <p:spPr>
          <a:xfrm>
            <a:off x="9528048" y="4443983"/>
            <a:ext cx="3291840" cy="2291176"/>
          </a:xfrm>
          <a:prstGeom prst="rect">
            <a:avLst/>
          </a:prstGeom>
        </p:spPr>
      </p:pic>
      <p:sp>
        <p:nvSpPr>
          <p:cNvPr id="95" name="TextBox 94"/>
          <p:cNvSpPr txBox="1"/>
          <p:nvPr/>
        </p:nvSpPr>
        <p:spPr>
          <a:xfrm>
            <a:off x="9262872" y="6766559"/>
            <a:ext cx="3822192" cy="237744"/>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DWPD는 용량으로 나눈 지표 · 절대 기입량은 오히려 늘었습니다</a:t>
            </a:r>
          </a:p>
        </p:txBody>
      </p:sp>
      <p:sp>
        <p:nvSpPr>
          <p:cNvPr id="96" name="Rectangle 95"/>
          <p:cNvSpPr/>
          <p:nvPr/>
        </p:nvSpPr>
        <p:spPr>
          <a:xfrm>
            <a:off x="13487400" y="3712463"/>
            <a:ext cx="4078224" cy="3310128"/>
          </a:xfrm>
          <a:prstGeom prst="rect">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3597128" y="3822191"/>
            <a:ext cx="3858768" cy="3291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3725144" y="3822191"/>
            <a:ext cx="2286000" cy="329184"/>
          </a:xfrm>
          <a:prstGeom prst="rect">
            <a:avLst/>
          </a:prstGeom>
          <a:noFill/>
        </p:spPr>
        <p:txBody>
          <a:bodyPr wrap="square" anchor="ctr" lIns="0" rIns="0" tIns="0" bIns="0">
            <a:spAutoFit/>
          </a:bodyPr>
          <a:lstStyle/>
          <a:p>
            <a:pPr algn="l">
              <a:lnSpc>
                <a:spcPct val="112000"/>
              </a:lnSpc>
            </a:pPr>
            <a:r>
              <a:rPr sz="950" b="0">
                <a:solidFill>
                  <a:srgbClr val="AAB8E8"/>
                </a:solidFill>
                <a:latin typeface="Arial"/>
                <a:ea typeface="Arial"/>
              </a:rPr>
              <a:t>3단계 · 호스트 공동 설계 (2022~)</a:t>
            </a:r>
          </a:p>
        </p:txBody>
      </p:sp>
      <p:sp>
        <p:nvSpPr>
          <p:cNvPr id="99" name="TextBox 98"/>
          <p:cNvSpPr txBox="1"/>
          <p:nvPr/>
        </p:nvSpPr>
        <p:spPr>
          <a:xfrm>
            <a:off x="13725144" y="3822191"/>
            <a:ext cx="3602736" cy="329184"/>
          </a:xfrm>
          <a:prstGeom prst="rect">
            <a:avLst/>
          </a:prstGeom>
          <a:noFill/>
        </p:spPr>
        <p:txBody>
          <a:bodyPr wrap="square" anchor="ctr" lIns="0" rIns="0" tIns="0" bIns="0">
            <a:spAutoFit/>
          </a:bodyPr>
          <a:lstStyle/>
          <a:p>
            <a:pPr algn="r">
              <a:lnSpc>
                <a:spcPct val="112000"/>
              </a:lnSpc>
            </a:pPr>
            <a:r>
              <a:rPr sz="1050" b="1">
                <a:solidFill>
                  <a:srgbClr val="FFFFFF"/>
                </a:solidFill>
                <a:latin typeface="Arial"/>
                <a:ea typeface="Arial"/>
              </a:rPr>
              <a:t>조건부 도달</a:t>
            </a:r>
          </a:p>
        </p:txBody>
      </p:sp>
      <p:pic>
        <p:nvPicPr>
          <p:cNvPr id="100" name="Picture 99" descr="ladder_waf_pairs.png"/>
          <p:cNvPicPr>
            <a:picLocks noChangeAspect="1"/>
          </p:cNvPicPr>
          <p:nvPr/>
        </p:nvPicPr>
        <p:blipFill>
          <a:blip r:embed="rId4"/>
          <a:stretch>
            <a:fillRect/>
          </a:stretch>
        </p:blipFill>
        <p:spPr>
          <a:xfrm>
            <a:off x="13720572" y="4224527"/>
            <a:ext cx="3611880" cy="2513929"/>
          </a:xfrm>
          <a:prstGeom prst="rect">
            <a:avLst/>
          </a:prstGeom>
        </p:spPr>
      </p:pic>
      <p:sp>
        <p:nvSpPr>
          <p:cNvPr id="101" name="TextBox 100"/>
          <p:cNvSpPr txBox="1"/>
          <p:nvPr/>
        </p:nvSpPr>
        <p:spPr>
          <a:xfrm>
            <a:off x="13615416" y="6748271"/>
            <a:ext cx="3822192" cy="25603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LLM KV 캐시의 WAF 공개 실측은 없습니다 · Phase 2 검증 대상</a:t>
            </a:r>
          </a:p>
        </p:txBody>
      </p:sp>
      <p:sp>
        <p:nvSpPr>
          <p:cNvPr id="102" name="Rectangle 101"/>
          <p:cNvSpPr/>
          <p:nvPr/>
        </p:nvSpPr>
        <p:spPr>
          <a:xfrm>
            <a:off x="722376" y="7095744"/>
            <a:ext cx="1188720" cy="13350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722376" y="7095744"/>
            <a:ext cx="54864" cy="133502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886968" y="7187183"/>
            <a:ext cx="950976" cy="274320"/>
          </a:xfrm>
          <a:prstGeom prst="rect">
            <a:avLst/>
          </a:prstGeom>
          <a:noFill/>
        </p:spPr>
        <p:txBody>
          <a:bodyPr wrap="square" anchor="t" lIns="0" rIns="0" tIns="0" bIns="0">
            <a:spAutoFit/>
          </a:bodyPr>
          <a:lstStyle/>
          <a:p>
            <a:pPr algn="l">
              <a:lnSpc>
                <a:spcPct val="100000"/>
              </a:lnSpc>
            </a:pPr>
            <a:r>
              <a:rPr sz="1200" b="1">
                <a:solidFill>
                  <a:srgbClr val="1428A0"/>
                </a:solidFill>
                <a:latin typeface="Arial"/>
                <a:ea typeface="Arial"/>
              </a:rPr>
              <a:t>격차 축소
변수</a:t>
            </a:r>
          </a:p>
        </p:txBody>
      </p:sp>
      <p:sp>
        <p:nvSpPr>
          <p:cNvPr id="105" name="TextBox 104"/>
          <p:cNvSpPr txBox="1"/>
          <p:nvPr/>
        </p:nvSpPr>
        <p:spPr>
          <a:xfrm>
            <a:off x="886968" y="7735823"/>
            <a:ext cx="950976" cy="640080"/>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모두 병행 중 · 본 보고는
호스트 축을 다룸</a:t>
            </a:r>
          </a:p>
        </p:txBody>
      </p:sp>
      <p:sp>
        <p:nvSpPr>
          <p:cNvPr id="106" name="Rectangle 105"/>
          <p:cNvSpPr/>
          <p:nvPr/>
        </p:nvSpPr>
        <p:spPr>
          <a:xfrm>
            <a:off x="2039112" y="7187183"/>
            <a:ext cx="2496312"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148840" y="7232903"/>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셀 · 다이</a:t>
            </a:r>
          </a:p>
        </p:txBody>
      </p:sp>
      <p:sp>
        <p:nvSpPr>
          <p:cNvPr id="108" name="TextBox 107"/>
          <p:cNvSpPr txBox="1"/>
          <p:nvPr/>
        </p:nvSpPr>
        <p:spPr>
          <a:xfrm>
            <a:off x="2148840" y="7424927"/>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다이 세대</a:t>
            </a:r>
          </a:p>
        </p:txBody>
      </p:sp>
      <p:sp>
        <p:nvSpPr>
          <p:cNvPr id="109" name="TextBox 108"/>
          <p:cNvSpPr txBox="1"/>
          <p:nvPr/>
        </p:nvSpPr>
        <p:spPr>
          <a:xfrm>
            <a:off x="2148840" y="7671815"/>
            <a:ext cx="2276856" cy="29260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P/E ↑ · 2Tb QLC</a:t>
            </a:r>
          </a:p>
        </p:txBody>
      </p:sp>
      <p:sp>
        <p:nvSpPr>
          <p:cNvPr id="110" name="Rectangle 109"/>
          <p:cNvSpPr/>
          <p:nvPr/>
        </p:nvSpPr>
        <p:spPr>
          <a:xfrm>
            <a:off x="4645152" y="7187183"/>
            <a:ext cx="2496312"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4754880" y="7232903"/>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SSD</a:t>
            </a:r>
          </a:p>
        </p:txBody>
      </p:sp>
      <p:sp>
        <p:nvSpPr>
          <p:cNvPr id="112" name="TextBox 111"/>
          <p:cNvSpPr txBox="1"/>
          <p:nvPr/>
        </p:nvSpPr>
        <p:spPr>
          <a:xfrm>
            <a:off x="4754880" y="7424927"/>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OP</a:t>
            </a:r>
          </a:p>
        </p:txBody>
      </p:sp>
      <p:sp>
        <p:nvSpPr>
          <p:cNvPr id="113" name="TextBox 112"/>
          <p:cNvSpPr txBox="1"/>
          <p:nvPr/>
        </p:nvSpPr>
        <p:spPr>
          <a:xfrm>
            <a:off x="4754880" y="7671815"/>
            <a:ext cx="2276856" cy="29260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(1 + OP) · 예비 용량</a:t>
            </a:r>
          </a:p>
        </p:txBody>
      </p:sp>
      <p:sp>
        <p:nvSpPr>
          <p:cNvPr id="114" name="Rectangle 113"/>
          <p:cNvSpPr/>
          <p:nvPr/>
        </p:nvSpPr>
        <p:spPr>
          <a:xfrm>
            <a:off x="7251192" y="7187183"/>
            <a:ext cx="2496312"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7360919" y="7232903"/>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SSD</a:t>
            </a:r>
          </a:p>
        </p:txBody>
      </p:sp>
      <p:sp>
        <p:nvSpPr>
          <p:cNvPr id="116" name="TextBox 115"/>
          <p:cNvSpPr txBox="1"/>
          <p:nvPr/>
        </p:nvSpPr>
        <p:spPr>
          <a:xfrm>
            <a:off x="7360919" y="7424927"/>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SLC 캐시 · 쓰기 정형</a:t>
            </a:r>
          </a:p>
        </p:txBody>
      </p:sp>
      <p:sp>
        <p:nvSpPr>
          <p:cNvPr id="117" name="TextBox 116"/>
          <p:cNvSpPr txBox="1"/>
          <p:nvPr/>
        </p:nvSpPr>
        <p:spPr>
          <a:xfrm>
            <a:off x="7360919" y="7671815"/>
            <a:ext cx="2276856" cy="29260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GC 효율 · 순차화</a:t>
            </a:r>
          </a:p>
        </p:txBody>
      </p:sp>
      <p:sp>
        <p:nvSpPr>
          <p:cNvPr id="118" name="Rectangle 117"/>
          <p:cNvSpPr/>
          <p:nvPr/>
        </p:nvSpPr>
        <p:spPr>
          <a:xfrm>
            <a:off x="9857232" y="7187183"/>
            <a:ext cx="2496312"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9966960" y="7232903"/>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고객 · 계약</a:t>
            </a:r>
          </a:p>
        </p:txBody>
      </p:sp>
      <p:sp>
        <p:nvSpPr>
          <p:cNvPr id="120" name="TextBox 119"/>
          <p:cNvSpPr txBox="1"/>
          <p:nvPr/>
        </p:nvSpPr>
        <p:spPr>
          <a:xfrm>
            <a:off x="9966960" y="7424927"/>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보증연수 · TBW 기준</a:t>
            </a:r>
          </a:p>
        </p:txBody>
      </p:sp>
      <p:sp>
        <p:nvSpPr>
          <p:cNvPr id="121" name="TextBox 120"/>
          <p:cNvSpPr txBox="1"/>
          <p:nvPr/>
        </p:nvSpPr>
        <p:spPr>
          <a:xfrm>
            <a:off x="9966960" y="7671815"/>
            <a:ext cx="2276856" cy="29260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365 × 년 · 정격 산정</a:t>
            </a:r>
          </a:p>
        </p:txBody>
      </p:sp>
      <p:sp>
        <p:nvSpPr>
          <p:cNvPr id="122" name="Rectangle 121"/>
          <p:cNvSpPr/>
          <p:nvPr/>
        </p:nvSpPr>
        <p:spPr>
          <a:xfrm>
            <a:off x="12463272" y="7187183"/>
            <a:ext cx="2496312"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2573000" y="7232903"/>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고객 · 앱</a:t>
            </a:r>
          </a:p>
        </p:txBody>
      </p:sp>
      <p:sp>
        <p:nvSpPr>
          <p:cNvPr id="124" name="TextBox 123"/>
          <p:cNvSpPr txBox="1"/>
          <p:nvPr/>
        </p:nvSpPr>
        <p:spPr>
          <a:xfrm>
            <a:off x="12573000" y="7424927"/>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워크로드 재정의</a:t>
            </a:r>
          </a:p>
        </p:txBody>
      </p:sp>
      <p:sp>
        <p:nvSpPr>
          <p:cNvPr id="125" name="TextBox 124"/>
          <p:cNvSpPr txBox="1"/>
          <p:nvPr/>
        </p:nvSpPr>
        <p:spPr>
          <a:xfrm>
            <a:off x="12573000" y="7671815"/>
            <a:ext cx="2276856" cy="29260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어드미션 · TLC 혼합 계층</a:t>
            </a:r>
          </a:p>
        </p:txBody>
      </p:sp>
      <p:sp>
        <p:nvSpPr>
          <p:cNvPr id="126" name="Rectangle 125"/>
          <p:cNvSpPr/>
          <p:nvPr/>
        </p:nvSpPr>
        <p:spPr>
          <a:xfrm>
            <a:off x="15069312" y="7187183"/>
            <a:ext cx="2496312" cy="7863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5179040" y="7232903"/>
            <a:ext cx="2276856" cy="182880"/>
          </a:xfrm>
          <a:prstGeom prst="rect">
            <a:avLst/>
          </a:prstGeom>
          <a:noFill/>
        </p:spPr>
        <p:txBody>
          <a:bodyPr wrap="square" anchor="t" lIns="0" rIns="0" tIns="0" bIns="0">
            <a:spAutoFit/>
          </a:bodyPr>
          <a:lstStyle/>
          <a:p>
            <a:pPr algn="l">
              <a:lnSpc>
                <a:spcPct val="112000"/>
              </a:lnSpc>
            </a:pPr>
            <a:r>
              <a:rPr sz="875" b="0">
                <a:solidFill>
                  <a:srgbClr val="FFFFFF"/>
                </a:solidFill>
                <a:latin typeface="Arial"/>
                <a:ea typeface="Arial"/>
              </a:rPr>
              <a:t>호스트 · 앱 · 본 보고</a:t>
            </a:r>
          </a:p>
        </p:txBody>
      </p:sp>
      <p:sp>
        <p:nvSpPr>
          <p:cNvPr id="128" name="TextBox 127"/>
          <p:cNvSpPr txBox="1"/>
          <p:nvPr/>
        </p:nvSpPr>
        <p:spPr>
          <a:xfrm>
            <a:off x="15179040" y="7424927"/>
            <a:ext cx="2276856" cy="237744"/>
          </a:xfrm>
          <a:prstGeom prst="rect">
            <a:avLst/>
          </a:prstGeom>
          <a:noFill/>
        </p:spPr>
        <p:txBody>
          <a:bodyPr wrap="square" anchor="t" lIns="0" rIns="0" tIns="0" bIns="0">
            <a:spAutoFit/>
          </a:bodyPr>
          <a:lstStyle/>
          <a:p>
            <a:pPr algn="l">
              <a:lnSpc>
                <a:spcPct val="112000"/>
              </a:lnSpc>
            </a:pPr>
            <a:r>
              <a:rPr sz="1125" b="1">
                <a:solidFill>
                  <a:srgbClr val="FFFFFF"/>
                </a:solidFill>
                <a:latin typeface="Arial"/>
                <a:ea typeface="Arial"/>
              </a:rPr>
              <a:t>호스트 배치 (WAF)</a:t>
            </a:r>
          </a:p>
        </p:txBody>
      </p:sp>
      <p:sp>
        <p:nvSpPr>
          <p:cNvPr id="129" name="TextBox 128"/>
          <p:cNvSpPr txBox="1"/>
          <p:nvPr/>
        </p:nvSpPr>
        <p:spPr>
          <a:xfrm>
            <a:off x="15179040" y="7671815"/>
            <a:ext cx="2276856" cy="292608"/>
          </a:xfrm>
          <a:prstGeom prst="rect">
            <a:avLst/>
          </a:prstGeom>
          <a:noFill/>
        </p:spPr>
        <p:txBody>
          <a:bodyPr wrap="square" anchor="t" lIns="0" rIns="0" tIns="0" bIns="0">
            <a:spAutoFit/>
          </a:bodyPr>
          <a:lstStyle/>
          <a:p>
            <a:pPr algn="l">
              <a:lnSpc>
                <a:spcPct val="100000"/>
              </a:lnSpc>
            </a:pPr>
            <a:r>
              <a:rPr sz="875" b="0">
                <a:solidFill>
                  <a:srgbClr val="FFFFFF"/>
                </a:solidFill>
                <a:latin typeface="Arial"/>
                <a:ea typeface="Arial"/>
              </a:rPr>
              <a:t>≈3 → ≈1 · 유효 DWPD ×3</a:t>
            </a:r>
          </a:p>
        </p:txBody>
      </p:sp>
      <p:sp>
        <p:nvSpPr>
          <p:cNvPr id="130" name="TextBox 129"/>
          <p:cNvSpPr txBox="1"/>
          <p:nvPr/>
        </p:nvSpPr>
        <p:spPr>
          <a:xfrm>
            <a:off x="2039112" y="8028431"/>
            <a:ext cx="15526512" cy="365760"/>
          </a:xfrm>
          <a:prstGeom prst="rect">
            <a:avLst/>
          </a:prstGeom>
          <a:noFill/>
        </p:spPr>
        <p:txBody>
          <a:bodyPr wrap="square" anchor="t" lIns="0" rIns="0" tIns="0" bIns="0">
            <a:spAutoFit/>
          </a:bodyPr>
          <a:lstStyle/>
          <a:p>
            <a:pPr algn="l">
              <a:lnSpc>
                <a:spcPct val="102000"/>
              </a:lnSpc>
            </a:pPr>
            <a:r>
              <a:rPr sz="900" b="0">
                <a:solidFill>
                  <a:srgbClr val="555555"/>
                </a:solidFill>
                <a:latin typeface="Arial"/>
                <a:ea typeface="Arial"/>
              </a:rPr>
              <a:t>호스트 배치 하나로는 요구 대비 2~5배 격차가 해소되지 않습니다. WAF 약 3배는 다이 세대·OP·보증연수·워크로드 재정의와 결합해 요구에 도달하며, 이 중 호스트·고객 측 변수가 다수라는 점이 공동 설계의 근거입니다</a:t>
            </a:r>
          </a:p>
        </p:txBody>
      </p:sp>
      <p:sp>
        <p:nvSpPr>
          <p:cNvPr id="131" name="Rectangle 130"/>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3" name="TextBox 132"/>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요구는 고정, 단품은 악화, 격차는 상위 계층이 보상해 왔고, 잔여 변수 WAF는 SSD 밖 호스트가 결정합니다.</a:t>
            </a:r>
          </a:p>
          <a:p>
            <a:pPr algn="l">
              <a:lnSpc>
                <a:spcPct val="108000"/>
              </a:lnSpc>
            </a:pPr>
            <a:r>
              <a:rPr sz="1650" b="1">
                <a:solidFill>
                  <a:srgbClr val="FFFFFF"/>
                </a:solidFill>
                <a:latin typeface="Arial"/>
                <a:ea typeface="Arial"/>
              </a:rPr>
              <a:t>다이 세대·OP·보증연수와 병행하되, 이 변수는 고객 협업과 새로운 역량을 요구합니다</a:t>
            </a:r>
          </a:p>
        </p:txBody>
      </p:sp>
      <p:sp>
        <p:nvSpPr>
          <p:cNvPr id="134" name="Rectangle 133"/>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4장 역량 · 어떻게 해소하는가</a:t>
            </a:r>
          </a:p>
        </p:txBody>
      </p:sp>
      <p:sp>
        <p:nvSpPr>
          <p:cNvPr id="137" name="TextBox 13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JESD218(UBER)·OCP 사양(고장률), ATP·Kioxia(DWPD 산식), Intel·Solidigm·Kioxia 사양(정격 DWPD·허용 기입량), Mielke·Cai(RBER), WD(LDPC), Meta CacheLib 문서·Kioxia XD8 브리프(WAF 실측), FAST'26 WARP(조건부성) · 등급은 부록 A</a:t>
            </a:r>
          </a:p>
        </p:txBody>
      </p:sp>
      <p:sp>
        <p:nvSpPr>
          <p:cNvPr id="138" name="TextBox 13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역량  </a:t>
            </a:r>
            <a:r>
              <a:rPr sz="1200" b="0">
                <a:solidFill>
                  <a:srgbClr val="1428A0"/>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따라서 WAF 저감은 고객 시스템까지 3단계 공동 설계 역량을 요구하며, 삼성은 현재 1단계입니다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2376"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8408" y="2560320"/>
            <a:ext cx="12344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34" name="TextBox 33"/>
          <p:cNvSpPr txBox="1"/>
          <p:nvPr/>
        </p:nvSpPr>
        <p:spPr>
          <a:xfrm>
            <a:off x="2322576" y="2560320"/>
            <a:ext cx="22494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격차</a:t>
            </a:r>
          </a:p>
          <a:p>
            <a:pPr algn="l">
              <a:lnSpc>
                <a:spcPct val="105000"/>
              </a:lnSpc>
            </a:pPr>
            <a:r>
              <a:rPr sz="1350" b="0">
                <a:solidFill>
                  <a:srgbClr val="555555"/>
                </a:solidFill>
                <a:latin typeface="Arial"/>
                <a:ea typeface="Arial"/>
              </a:rPr>
              <a:t>요구 1~3 DWPD ÷ 현 QLC 정격 0.6</a:t>
            </a:r>
          </a:p>
        </p:txBody>
      </p:sp>
      <p:sp>
        <p:nvSpPr>
          <p:cNvPr id="35" name="Rectangle 34"/>
          <p:cNvSpPr/>
          <p:nvPr/>
        </p:nvSpPr>
        <p:spPr>
          <a:xfrm>
            <a:off x="4992624"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48656" y="2560320"/>
            <a:ext cx="12344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16개</a:t>
            </a:r>
          </a:p>
        </p:txBody>
      </p:sp>
      <p:sp>
        <p:nvSpPr>
          <p:cNvPr id="37" name="TextBox 36"/>
          <p:cNvSpPr txBox="1"/>
          <p:nvPr/>
        </p:nvSpPr>
        <p:spPr>
          <a:xfrm>
            <a:off x="6592824" y="2560320"/>
            <a:ext cx="22494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요구 분리 스트림</a:t>
            </a:r>
          </a:p>
          <a:p>
            <a:pPr algn="l">
              <a:lnSpc>
                <a:spcPct val="105000"/>
              </a:lnSpc>
            </a:pPr>
            <a:r>
              <a:rPr sz="1350" b="0">
                <a:solidFill>
                  <a:srgbClr val="555555"/>
                </a:solidFill>
                <a:latin typeface="Arial"/>
                <a:ea typeface="Arial"/>
              </a:rPr>
              <a:t>호스트가 여는 배치 스트림 상한 · 제품 지원 수는 업계 미공개</a:t>
            </a:r>
          </a:p>
        </p:txBody>
      </p:sp>
      <p:sp>
        <p:nvSpPr>
          <p:cNvPr id="38" name="Rectangle 37"/>
          <p:cNvSpPr/>
          <p:nvPr/>
        </p:nvSpPr>
        <p:spPr>
          <a:xfrm>
            <a:off x="9262872"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18903" y="2560320"/>
            <a:ext cx="11430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40" name="TextBox 39"/>
          <p:cNvSpPr txBox="1"/>
          <p:nvPr/>
        </p:nvSpPr>
        <p:spPr>
          <a:xfrm>
            <a:off x="10771631" y="2560320"/>
            <a:ext cx="23408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부재</a:t>
            </a:r>
          </a:p>
          <a:p>
            <a:pPr algn="l">
              <a:lnSpc>
                <a:spcPct val="105000"/>
              </a:lnSpc>
            </a:pPr>
            <a:r>
              <a:rPr sz="1350" b="0">
                <a:solidFill>
                  <a:srgbClr val="555555"/>
                </a:solidFill>
                <a:latin typeface="Arial"/>
                <a:ea typeface="Arial"/>
              </a:rPr>
              <a:t>캐시 관리자 4종 코드의 배치 규격 언급</a:t>
            </a:r>
          </a:p>
        </p:txBody>
      </p:sp>
      <p:sp>
        <p:nvSpPr>
          <p:cNvPr id="41" name="Rectangle 40"/>
          <p:cNvSpPr/>
          <p:nvPr/>
        </p:nvSpPr>
        <p:spPr>
          <a:xfrm>
            <a:off x="13533120" y="2560320"/>
            <a:ext cx="4032504" cy="8778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789152" y="2560320"/>
            <a:ext cx="16916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 → ≈1</a:t>
            </a:r>
          </a:p>
        </p:txBody>
      </p:sp>
      <p:sp>
        <p:nvSpPr>
          <p:cNvPr id="43" name="TextBox 42"/>
          <p:cNvSpPr txBox="1"/>
          <p:nvPr/>
        </p:nvSpPr>
        <p:spPr>
          <a:xfrm>
            <a:off x="15590520" y="2560320"/>
            <a:ext cx="17922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해소 수단 실증</a:t>
            </a:r>
          </a:p>
          <a:p>
            <a:pPr algn="l">
              <a:lnSpc>
                <a:spcPct val="105000"/>
              </a:lnSpc>
            </a:pPr>
            <a:r>
              <a:rPr sz="1350" b="0">
                <a:solidFill>
                  <a:srgbClr val="555555"/>
                </a:solidFill>
                <a:latin typeface="Arial"/>
                <a:ea typeface="Arial"/>
              </a:rPr>
              <a:t>범용·캐시 WAF 실측 · KV 캐시 미실측</a:t>
            </a:r>
          </a:p>
        </p:txBody>
      </p:sp>
      <p:sp>
        <p:nvSpPr>
          <p:cNvPr id="44" name="Rectangle 43"/>
          <p:cNvSpPr/>
          <p:nvPr/>
        </p:nvSpPr>
        <p:spPr>
          <a:xfrm>
            <a:off x="722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6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배치 표준 디바이스 확보</a:t>
            </a:r>
          </a:p>
        </p:txBody>
      </p:sp>
      <p:sp>
        <p:nvSpPr>
          <p:cNvPr id="46" name="Rectangle 45"/>
          <p:cNvSpPr/>
          <p:nvPr/>
        </p:nvSpPr>
        <p:spPr>
          <a:xfrm>
            <a:off x="1069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16151"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48" name="Rectangle 47"/>
          <p:cNvSpPr/>
          <p:nvPr/>
        </p:nvSpPr>
        <p:spPr>
          <a:xfrm>
            <a:off x="1069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216151"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50" name="Rectangle 49"/>
          <p:cNvSpPr/>
          <p:nvPr/>
        </p:nvSpPr>
        <p:spPr>
          <a:xfrm>
            <a:off x="1069848" y="559612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216151" y="565099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52" name="Rectangle 51"/>
          <p:cNvSpPr/>
          <p:nvPr/>
        </p:nvSpPr>
        <p:spPr>
          <a:xfrm>
            <a:off x="1069848" y="6327648"/>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16151" y="6382512"/>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54" name="Rectangle 53"/>
          <p:cNvSpPr/>
          <p:nvPr/>
        </p:nvSpPr>
        <p:spPr>
          <a:xfrm>
            <a:off x="106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16151"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배치 핸들 16+ 지원·공개 · 2Tb QLC · NVMe KV 확장 · 텔레메트리</a:t>
            </a:r>
          </a:p>
        </p:txBody>
      </p:sp>
      <p:sp>
        <p:nvSpPr>
          <p:cNvPr id="56" name="Rectangle 55"/>
          <p:cNvSpPr/>
          <p:nvPr/>
        </p:nvSpPr>
        <p:spPr>
          <a:xfrm>
            <a:off x="4672583" y="4992623"/>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83479" y="495604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삼성 코드·제품</a:t>
            </a:r>
          </a:p>
        </p:txBody>
      </p:sp>
      <p:sp>
        <p:nvSpPr>
          <p:cNvPr id="58" name="Rectangle 57"/>
          <p:cNvSpPr/>
          <p:nvPr/>
        </p:nvSpPr>
        <p:spPr>
          <a:xfrm>
            <a:off x="4672583" y="5358383"/>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83479" y="532180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관측·분석</a:t>
            </a:r>
          </a:p>
        </p:txBody>
      </p:sp>
      <p:sp>
        <p:nvSpPr>
          <p:cNvPr id="60" name="Rectangle 59"/>
          <p:cNvSpPr/>
          <p:nvPr/>
        </p:nvSpPr>
        <p:spPr>
          <a:xfrm>
            <a:off x="4672583" y="5724143"/>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983479" y="568756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고객 영역</a:t>
            </a:r>
          </a:p>
        </p:txBody>
      </p:sp>
      <p:sp>
        <p:nvSpPr>
          <p:cNvPr id="62" name="TextBox 61"/>
          <p:cNvSpPr txBox="1"/>
          <p:nvPr/>
        </p:nvSpPr>
        <p:spPr>
          <a:xfrm>
            <a:off x="106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정격 내 QLC 원가·전력</a:t>
            </a:r>
          </a:p>
        </p:txBody>
      </p:sp>
      <p:sp>
        <p:nvSpPr>
          <p:cNvPr id="63" name="Rectangle 62"/>
          <p:cNvSpPr/>
          <p:nvPr/>
        </p:nvSpPr>
        <p:spPr>
          <a:xfrm>
            <a:off x="6437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84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실측 기반 최적화</a:t>
            </a:r>
          </a:p>
        </p:txBody>
      </p:sp>
      <p:sp>
        <p:nvSpPr>
          <p:cNvPr id="65" name="Rectangle 64"/>
          <p:cNvSpPr/>
          <p:nvPr/>
        </p:nvSpPr>
        <p:spPr>
          <a:xfrm>
            <a:off x="6784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931152"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67" name="Rectangle 66"/>
          <p:cNvSpPr/>
          <p:nvPr/>
        </p:nvSpPr>
        <p:spPr>
          <a:xfrm>
            <a:off x="6784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931152"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정책(트레이스 원천)</a:t>
            </a:r>
          </a:p>
        </p:txBody>
      </p:sp>
      <p:sp>
        <p:nvSpPr>
          <p:cNvPr id="69" name="Rectangle 68"/>
          <p:cNvSpPr/>
          <p:nvPr/>
        </p:nvSpPr>
        <p:spPr>
          <a:xfrm>
            <a:off x="6784848" y="559612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931152" y="565099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 write stream 부착 · xNVMe · blktrace·eBPF</a:t>
            </a:r>
          </a:p>
        </p:txBody>
      </p:sp>
      <p:sp>
        <p:nvSpPr>
          <p:cNvPr id="71" name="Rectangle 70"/>
          <p:cNvSpPr/>
          <p:nvPr/>
        </p:nvSpPr>
        <p:spPr>
          <a:xfrm>
            <a:off x="6784848" y="6327648"/>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931152" y="6382512"/>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73" name="Rectangle 72"/>
          <p:cNvSpPr/>
          <p:nvPr/>
        </p:nvSpPr>
        <p:spPr>
          <a:xfrm>
            <a:off x="6784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931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배치 핸들 정책(수명·테넌트·prefix) · WAF·유효 DWPD 실측</a:t>
            </a:r>
          </a:p>
        </p:txBody>
      </p:sp>
      <p:sp>
        <p:nvSpPr>
          <p:cNvPr id="75" name="Down Arrow 74"/>
          <p:cNvSpPr/>
          <p:nvPr/>
        </p:nvSpPr>
        <p:spPr>
          <a:xfrm>
            <a:off x="10387584" y="4206240"/>
            <a:ext cx="201168" cy="3456431"/>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Up Arrow 75"/>
          <p:cNvSpPr/>
          <p:nvPr/>
        </p:nvSpPr>
        <p:spPr>
          <a:xfrm>
            <a:off x="10643615" y="4206240"/>
            <a:ext cx="201168" cy="3456431"/>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917936" y="4864607"/>
            <a:ext cx="786384"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수집 ↓</a:t>
            </a:r>
          </a:p>
        </p:txBody>
      </p:sp>
      <p:sp>
        <p:nvSpPr>
          <p:cNvPr id="78" name="TextBox 77"/>
          <p:cNvSpPr txBox="1"/>
          <p:nvPr/>
        </p:nvSpPr>
        <p:spPr>
          <a:xfrm>
            <a:off x="10917936" y="6327648"/>
            <a:ext cx="786384"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배치 정책</a:t>
            </a:r>
          </a:p>
          <a:p>
            <a:pPr algn="l">
              <a:lnSpc>
                <a:spcPct val="100000"/>
              </a:lnSpc>
            </a:pPr>
            <a:r>
              <a:rPr sz="1100" b="0">
                <a:solidFill>
                  <a:srgbClr val="555555"/>
                </a:solidFill>
                <a:latin typeface="Arial"/>
                <a:ea typeface="Arial"/>
              </a:rPr>
              <a:t>반영 ↑</a:t>
            </a:r>
          </a:p>
        </p:txBody>
      </p:sp>
      <p:sp>
        <p:nvSpPr>
          <p:cNvPr id="79" name="TextBox 78"/>
          <p:cNvSpPr txBox="1"/>
          <p:nvPr/>
        </p:nvSpPr>
        <p:spPr>
          <a:xfrm>
            <a:off x="6784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고객 워크로드 기준 수명</a:t>
            </a:r>
          </a:p>
        </p:txBody>
      </p:sp>
      <p:sp>
        <p:nvSpPr>
          <p:cNvPr id="80" name="Rectangle 79"/>
          <p:cNvSpPr/>
          <p:nvPr/>
        </p:nvSpPr>
        <p:spPr>
          <a:xfrm>
            <a:off x="12152376" y="3584448"/>
            <a:ext cx="5413248" cy="455371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249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내 공동 설계</a:t>
            </a:r>
          </a:p>
        </p:txBody>
      </p:sp>
      <p:sp>
        <p:nvSpPr>
          <p:cNvPr id="82" name="Rectangle 81"/>
          <p:cNvSpPr/>
          <p:nvPr/>
        </p:nvSpPr>
        <p:spPr>
          <a:xfrm>
            <a:off x="12499848" y="413308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2646152" y="418795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분석 · 공용 TCO 모델(GPU당 사용자·TTFT·전력)</a:t>
            </a:r>
          </a:p>
        </p:txBody>
      </p:sp>
      <p:sp>
        <p:nvSpPr>
          <p:cNvPr id="84" name="Rectangle 83"/>
          <p:cNvSpPr/>
          <p:nvPr/>
        </p:nvSpPr>
        <p:spPr>
          <a:xfrm>
            <a:off x="12499848" y="486460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2646152" y="491947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86" name="Rectangle 85"/>
          <p:cNvSpPr/>
          <p:nvPr/>
        </p:nvSpPr>
        <p:spPr>
          <a:xfrm>
            <a:off x="12499848" y="559612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646152" y="565099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88" name="Rectangle 87"/>
          <p:cNvSpPr/>
          <p:nvPr/>
        </p:nvSpPr>
        <p:spPr>
          <a:xfrm>
            <a:off x="12499848" y="632764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2646152" y="6382512"/>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 DOCA Memos↔배치 표준 공동 정의 · OCP</a:t>
            </a:r>
          </a:p>
        </p:txBody>
      </p:sp>
      <p:sp>
        <p:nvSpPr>
          <p:cNvPr id="90" name="Rectangle 89"/>
          <p:cNvSpPr/>
          <p:nvPr/>
        </p:nvSpPr>
        <p:spPr>
          <a:xfrm>
            <a:off x="1249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2646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92" name="Oval 91"/>
          <p:cNvSpPr/>
          <p:nvPr/>
        </p:nvSpPr>
        <p:spPr>
          <a:xfrm>
            <a:off x="16194023" y="4974336"/>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ound Same Side Corner Rectangle 92"/>
          <p:cNvSpPr/>
          <p:nvPr/>
        </p:nvSpPr>
        <p:spPr>
          <a:xfrm>
            <a:off x="16120872" y="5175504"/>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6514064" y="4864607"/>
            <a:ext cx="90525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95" name="TextBox 94"/>
          <p:cNvSpPr txBox="1"/>
          <p:nvPr/>
        </p:nvSpPr>
        <p:spPr>
          <a:xfrm>
            <a:off x="16102584" y="5596127"/>
            <a:ext cx="131673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96" name="TextBox 95"/>
          <p:cNvSpPr txBox="1"/>
          <p:nvPr/>
        </p:nvSpPr>
        <p:spPr>
          <a:xfrm>
            <a:off x="16102584" y="4133087"/>
            <a:ext cx="1316736"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97" name="TextBox 96"/>
          <p:cNvSpPr txBox="1"/>
          <p:nvPr/>
        </p:nvSpPr>
        <p:spPr>
          <a:xfrm>
            <a:off x="1249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시스템 수준 TCO</a:t>
            </a:r>
          </a:p>
        </p:txBody>
      </p:sp>
      <p:sp>
        <p:nvSpPr>
          <p:cNvPr id="98" name="Rectangle 97"/>
          <p:cNvSpPr/>
          <p:nvPr/>
        </p:nvSpPr>
        <p:spPr>
          <a:xfrm>
            <a:off x="72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6437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215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22376" y="8229600"/>
            <a:ext cx="324794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3970324" y="8229600"/>
            <a:ext cx="2165299"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437376" y="8229600"/>
            <a:ext cx="811987"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Isosceles Triangle 103"/>
          <p:cNvSpPr/>
          <p:nvPr/>
        </p:nvSpPr>
        <p:spPr>
          <a:xfrm>
            <a:off x="3851452" y="8403336"/>
            <a:ext cx="237744" cy="164592"/>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171492" y="8357616"/>
            <a:ext cx="118872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00" b="0">
                <a:solidFill>
                  <a:srgbClr val="555555"/>
                </a:solidFill>
                <a:latin typeface="Arial"/>
                <a:ea typeface="Arial"/>
              </a:rPr>
              <a:t>Phase 1 진행 중(QLC 라인의 배치 핸들 수·유효 DWPD 미공개 · CMX 첫 공급은 TLC) · Phase 2 준비 · Phase 3 미착수</a:t>
            </a:r>
          </a:p>
        </p:txBody>
      </p:sp>
      <p:sp>
        <p:nvSpPr>
          <p:cNvPr id="106" name="Rectangle 105"/>
          <p:cNvSpPr/>
          <p:nvPr/>
        </p:nvSpPr>
        <p:spPr>
          <a:xfrm>
            <a:off x="722376" y="8650224"/>
            <a:ext cx="16843248"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133856" y="8650224"/>
            <a:ext cx="1463040" cy="69494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08" name="TextBox 107"/>
          <p:cNvSpPr txBox="1"/>
          <p:nvPr/>
        </p:nvSpPr>
        <p:spPr>
          <a:xfrm>
            <a:off x="2551176" y="8650224"/>
            <a:ext cx="11265408" cy="694944"/>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단계마다 고객 보증 범위가 원가·전력 → 워크로드 수명 → 시스템 TCO로 확장됩니다.</a:t>
            </a:r>
          </a:p>
          <a:p>
            <a:pPr algn="l">
              <a:lnSpc>
                <a:spcPct val="108000"/>
              </a:lnSpc>
            </a:pPr>
            <a:r>
              <a:rPr sz="1700" b="1">
                <a:solidFill>
                  <a:srgbClr val="FFFFFF"/>
                </a:solidFill>
                <a:latin typeface="Arial"/>
                <a:ea typeface="Arial"/>
              </a:rPr>
              <a:t>삼성은 1단계 진행 중·2단계 준비 단계이며, 3단계 진입 수단이 다음 장입니다</a:t>
            </a:r>
          </a:p>
        </p:txBody>
      </p:sp>
      <p:sp>
        <p:nvSpPr>
          <p:cNvPr id="109" name="Rectangle 108"/>
          <p:cNvSpPr/>
          <p:nvPr/>
        </p:nvSpPr>
        <p:spPr>
          <a:xfrm>
            <a:off x="14182344" y="8759952"/>
            <a:ext cx="3108960" cy="475488"/>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4182344" y="8759952"/>
            <a:ext cx="54864"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4383512" y="8759952"/>
            <a:ext cx="2816352" cy="475488"/>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실행 · 누구와 어디서</a:t>
            </a:r>
          </a:p>
        </p:txBody>
      </p:sp>
      <p:sp>
        <p:nvSpPr>
          <p:cNvPr id="112" name="TextBox 111"/>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Solidigm·Kioxia·Micron 사양(DWPD), NVMe 스펙(네임스페이스당 배치 핸들 128 상한)·XFS 쓰기 스트림 16, GitHub README 확인(LMCache·Mooncake·FlexKV·xNVMe), CacheLib FDP 문서(WAF), Linux 6.16, NVIDIA CMX 문서</a:t>
            </a:r>
          </a:p>
        </p:txBody>
      </p:sp>
      <p:sp>
        <p:nvSpPr>
          <p:cNvPr id="113" name="TextBox 112"/>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실행  </a:t>
            </a:r>
            <a:r>
              <a:rPr sz="1200" b="0">
                <a:solidFill>
                  <a:srgbClr val="1428A0"/>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3단계 진입은 워크로드를 개방하는 고객에 FDE를 집중하고, 그 외는 업스트림·규격으로 협업합니다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2376" y="2560320"/>
            <a:ext cx="2880360" cy="44439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544" y="2706624"/>
            <a:ext cx="2478024" cy="274320"/>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삼성 개발실</a:t>
            </a:r>
          </a:p>
        </p:txBody>
      </p:sp>
      <p:sp>
        <p:nvSpPr>
          <p:cNvPr id="34" name="TextBox 33"/>
          <p:cNvSpPr txBox="1"/>
          <p:nvPr/>
        </p:nvSpPr>
        <p:spPr>
          <a:xfrm>
            <a:off x="923544" y="2980944"/>
            <a:ext cx="2478024"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삼성이 제공하는 것</a:t>
            </a:r>
          </a:p>
        </p:txBody>
      </p:sp>
      <p:sp>
        <p:nvSpPr>
          <p:cNvPr id="35" name="Rectangle 34"/>
          <p:cNvSpPr/>
          <p:nvPr/>
        </p:nvSpPr>
        <p:spPr>
          <a:xfrm>
            <a:off x="960120" y="3483863"/>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79576" y="3401568"/>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KV-ready QLC + 수명 보증</a:t>
            </a:r>
          </a:p>
        </p:txBody>
      </p:sp>
      <p:sp>
        <p:nvSpPr>
          <p:cNvPr id="37" name="Rectangle 36"/>
          <p:cNvSpPr/>
          <p:nvPr/>
        </p:nvSpPr>
        <p:spPr>
          <a:xfrm>
            <a:off x="960120" y="4087368"/>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79576" y="4005072"/>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FDE (고객 상주 엔지니어)</a:t>
            </a:r>
          </a:p>
        </p:txBody>
      </p:sp>
      <p:sp>
        <p:nvSpPr>
          <p:cNvPr id="39" name="Rectangle 38"/>
          <p:cNvSpPr/>
          <p:nvPr/>
        </p:nvSpPr>
        <p:spPr>
          <a:xfrm>
            <a:off x="960120" y="4690872"/>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79576" y="4608576"/>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업스트림 코드 · 공용 TCO 모델</a:t>
            </a:r>
          </a:p>
        </p:txBody>
      </p:sp>
      <p:sp>
        <p:nvSpPr>
          <p:cNvPr id="41" name="Rectangle 40"/>
          <p:cNvSpPr/>
          <p:nvPr/>
        </p:nvSpPr>
        <p:spPr>
          <a:xfrm>
            <a:off x="960120" y="5294376"/>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79576" y="5212080"/>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WAF 급등 감지 · 런타임 대응</a:t>
            </a:r>
          </a:p>
        </p:txBody>
      </p:sp>
      <p:sp>
        <p:nvSpPr>
          <p:cNvPr id="43" name="Rectangle 42"/>
          <p:cNvSpPr/>
          <p:nvPr/>
        </p:nvSpPr>
        <p:spPr>
          <a:xfrm>
            <a:off x="923544" y="5907024"/>
            <a:ext cx="54864"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24712" y="5907024"/>
            <a:ext cx="2276856" cy="969264"/>
          </a:xfrm>
          <a:prstGeom prst="rect">
            <a:avLst/>
          </a:prstGeom>
          <a:noFill/>
        </p:spPr>
        <p:txBody>
          <a:bodyPr wrap="square" anchor="ctr" lIns="0" rIns="0" tIns="0" bIns="0">
            <a:spAutoFit/>
          </a:bodyPr>
          <a:lstStyle/>
          <a:p>
            <a:pPr algn="l">
              <a:lnSpc>
                <a:spcPct val="106000"/>
              </a:lnSpc>
            </a:pPr>
            <a:r>
              <a:rPr sz="1050" b="1">
                <a:solidFill>
                  <a:srgbClr val="1A1A1A"/>
                </a:solidFill>
                <a:latin typeface="Arial"/>
                <a:ea typeface="Arial"/>
              </a:rPr>
              <a:t>「고객의 집에 가서 저녁을 같이 먹는 것, 삼성은 상상할 수 없는 일이지만 SK하이닉스는 한다」</a:t>
            </a:r>
          </a:p>
          <a:p>
            <a:pPr algn="l">
              <a:lnSpc>
                <a:spcPct val="106000"/>
              </a:lnSpc>
            </a:pPr>
            <a:r>
              <a:rPr sz="900" b="0">
                <a:solidFill>
                  <a:srgbClr val="8A8A8A"/>
                </a:solidFill>
                <a:latin typeface="Arial"/>
                <a:ea typeface="Arial"/>
              </a:rPr>
              <a:t>송용호 · 고객 관계 = 워크로드 접근권</a:t>
            </a:r>
          </a:p>
        </p:txBody>
      </p:sp>
      <p:sp>
        <p:nvSpPr>
          <p:cNvPr id="45" name="Right Arrow 44"/>
          <p:cNvSpPr/>
          <p:nvPr/>
        </p:nvSpPr>
        <p:spPr>
          <a:xfrm>
            <a:off x="3822191" y="2560320"/>
            <a:ext cx="9235440" cy="731520"/>
          </a:xfrm>
          <a:prstGeom prst="rightArrow">
            <a:avLst>
              <a:gd name="adj1" fmla="val 86000"/>
              <a:gd name="adj2" fmla="val 50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33087" y="2633472"/>
            <a:ext cx="8046719" cy="256032"/>
          </a:xfrm>
          <a:prstGeom prst="rect">
            <a:avLst/>
          </a:prstGeom>
          <a:noFill/>
        </p:spPr>
        <p:txBody>
          <a:bodyPr wrap="square" anchor="t" lIns="0" rIns="0" tIns="0" bIns="0">
            <a:spAutoFit/>
          </a:bodyPr>
          <a:lstStyle/>
          <a:p>
            <a:pPr algn="l">
              <a:lnSpc>
                <a:spcPct val="112000"/>
              </a:lnSpc>
            </a:pPr>
            <a:r>
              <a:rPr sz="1500" b="1">
                <a:solidFill>
                  <a:srgbClr val="FFFFFF"/>
                </a:solidFill>
                <a:latin typeface="Arial"/>
                <a:ea typeface="Arial"/>
              </a:rPr>
              <a:t>① FDE 상주 : 삼성 엔지니어가 고객 시스템 안으로</a:t>
            </a:r>
          </a:p>
        </p:txBody>
      </p:sp>
      <p:sp>
        <p:nvSpPr>
          <p:cNvPr id="47" name="TextBox 46"/>
          <p:cNvSpPr txBox="1"/>
          <p:nvPr/>
        </p:nvSpPr>
        <p:spPr>
          <a:xfrm>
            <a:off x="4133087" y="2907791"/>
            <a:ext cx="8046719" cy="219456"/>
          </a:xfrm>
          <a:prstGeom prst="rect">
            <a:avLst/>
          </a:prstGeom>
          <a:noFill/>
        </p:spPr>
        <p:txBody>
          <a:bodyPr wrap="square" anchor="t" lIns="0" rIns="0" tIns="0" bIns="0">
            <a:spAutoFit/>
          </a:bodyPr>
          <a:lstStyle/>
          <a:p>
            <a:pPr algn="l">
              <a:lnSpc>
                <a:spcPct val="112000"/>
              </a:lnSpc>
            </a:pPr>
            <a:r>
              <a:rPr sz="1050" b="0">
                <a:solidFill>
                  <a:srgbClr val="AAB8E8"/>
                </a:solidFill>
                <a:latin typeface="Arial"/>
                <a:ea typeface="Arial"/>
              </a:rPr>
              <a:t>상주 엔지니어 · 업스트림 코드 · 워크로드 실측 공개</a:t>
            </a:r>
          </a:p>
        </p:txBody>
      </p:sp>
      <p:sp>
        <p:nvSpPr>
          <p:cNvPr id="48" name="Rectangle 47"/>
          <p:cNvSpPr/>
          <p:nvPr/>
        </p:nvSpPr>
        <p:spPr>
          <a:xfrm>
            <a:off x="3822191" y="3419856"/>
            <a:ext cx="4526280" cy="2724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005072" y="3511296"/>
            <a:ext cx="4160520" cy="219456"/>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고객 선별 · 채널</a:t>
            </a:r>
          </a:p>
        </p:txBody>
      </p:sp>
      <p:sp>
        <p:nvSpPr>
          <p:cNvPr id="50" name="TextBox 49"/>
          <p:cNvSpPr txBox="1"/>
          <p:nvPr/>
        </p:nvSpPr>
        <p:spPr>
          <a:xfrm>
            <a:off x="4005072" y="3721607"/>
            <a:ext cx="4160520" cy="201168"/>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FDE 상주 조건 · ① 트레이스 접근 ② 캐시 관리자 자체 운영 ③ 물량·규격 파급력</a:t>
            </a:r>
          </a:p>
        </p:txBody>
      </p:sp>
      <p:sp>
        <p:nvSpPr>
          <p:cNvPr id="51" name="Rectangle 50"/>
          <p:cNvSpPr/>
          <p:nvPr/>
        </p:nvSpPr>
        <p:spPr>
          <a:xfrm>
            <a:off x="3968496" y="3968496"/>
            <a:ext cx="4233672" cy="45720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3968496" y="3968496"/>
            <a:ext cx="45720"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096511" y="3968496"/>
            <a:ext cx="2194560" cy="45720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AI 랩</a:t>
            </a:r>
          </a:p>
          <a:p>
            <a:pPr algn="l">
              <a:lnSpc>
                <a:spcPct val="104000"/>
              </a:lnSpc>
            </a:pPr>
            <a:r>
              <a:rPr sz="900" b="0">
                <a:solidFill>
                  <a:srgbClr val="555555"/>
                </a:solidFill>
                <a:latin typeface="Arial"/>
                <a:ea typeface="Arial"/>
              </a:rPr>
              <a:t>Anthropic · OpenAI</a:t>
            </a:r>
          </a:p>
        </p:txBody>
      </p:sp>
      <p:sp>
        <p:nvSpPr>
          <p:cNvPr id="54" name="Right Arrow 53"/>
          <p:cNvSpPr/>
          <p:nvPr/>
        </p:nvSpPr>
        <p:spPr>
          <a:xfrm>
            <a:off x="6327648" y="4123944"/>
            <a:ext cx="201168" cy="146304"/>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620256" y="3968496"/>
            <a:ext cx="1563624" cy="45720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 상주 Pod 3~5명</a:t>
            </a:r>
          </a:p>
        </p:txBody>
      </p:sp>
      <p:sp>
        <p:nvSpPr>
          <p:cNvPr id="56" name="Rectangle 55"/>
          <p:cNvSpPr/>
          <p:nvPr/>
        </p:nvSpPr>
        <p:spPr>
          <a:xfrm>
            <a:off x="3968496" y="4480560"/>
            <a:ext cx="4233672" cy="45720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3968496" y="4480560"/>
            <a:ext cx="45720"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096511" y="4480560"/>
            <a:ext cx="2194560" cy="45720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NVIDIA 생태계</a:t>
            </a:r>
          </a:p>
          <a:p>
            <a:pPr algn="l">
              <a:lnSpc>
                <a:spcPct val="104000"/>
              </a:lnSpc>
            </a:pPr>
            <a:r>
              <a:rPr sz="900" b="0">
                <a:solidFill>
                  <a:srgbClr val="555555"/>
                </a:solidFill>
                <a:latin typeface="Arial"/>
                <a:ea typeface="Arial"/>
              </a:rPr>
              <a:t>CMX · Dynamo KVBM · NIXL</a:t>
            </a:r>
          </a:p>
        </p:txBody>
      </p:sp>
      <p:sp>
        <p:nvSpPr>
          <p:cNvPr id="59" name="Right Arrow 58"/>
          <p:cNvSpPr/>
          <p:nvPr/>
        </p:nvSpPr>
        <p:spPr>
          <a:xfrm>
            <a:off x="6327648" y="4636008"/>
            <a:ext cx="201168" cy="146304"/>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620256" y="4480560"/>
            <a:ext cx="1563624" cy="45720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 플랫폼 팀 파견</a:t>
            </a:r>
          </a:p>
        </p:txBody>
      </p:sp>
      <p:sp>
        <p:nvSpPr>
          <p:cNvPr id="61" name="TextBox 60"/>
          <p:cNvSpPr txBox="1"/>
          <p:nvPr/>
        </p:nvSpPr>
        <p:spPr>
          <a:xfrm>
            <a:off x="4096511" y="4992624"/>
            <a:ext cx="2194560" cy="45720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하이퍼스케일러</a:t>
            </a:r>
          </a:p>
          <a:p>
            <a:pPr algn="l">
              <a:lnSpc>
                <a:spcPct val="104000"/>
              </a:lnSpc>
            </a:pPr>
            <a:r>
              <a:rPr sz="900" b="0">
                <a:solidFill>
                  <a:srgbClr val="555555"/>
                </a:solidFill>
                <a:latin typeface="Arial"/>
                <a:ea typeface="Arial"/>
              </a:rPr>
              <a:t>Meta · Google · MS · AWS</a:t>
            </a:r>
          </a:p>
        </p:txBody>
      </p:sp>
      <p:sp>
        <p:nvSpPr>
          <p:cNvPr id="62" name="Right Arrow 61"/>
          <p:cNvSpPr/>
          <p:nvPr/>
        </p:nvSpPr>
        <p:spPr>
          <a:xfrm>
            <a:off x="6327648" y="5148072"/>
            <a:ext cx="201168"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620256" y="4992624"/>
            <a:ext cx="1563624" cy="457200"/>
          </a:xfrm>
          <a:prstGeom prst="rect">
            <a:avLst/>
          </a:prstGeom>
          <a:noFill/>
        </p:spPr>
        <p:txBody>
          <a:bodyPr wrap="square" anchor="ctr" lIns="0" rIns="0" tIns="0" bIns="0">
            <a:spAutoFit/>
          </a:bodyPr>
          <a:lstStyle/>
          <a:p>
            <a:pPr algn="l">
              <a:lnSpc>
                <a:spcPct val="112000"/>
              </a:lnSpc>
            </a:pPr>
            <a:r>
              <a:rPr sz="1125" b="1">
                <a:solidFill>
                  <a:srgbClr val="555555"/>
                </a:solidFill>
                <a:latin typeface="Arial"/>
                <a:ea typeface="Arial"/>
              </a:rPr>
              <a:t>업스트림 · OCP 규격</a:t>
            </a:r>
          </a:p>
        </p:txBody>
      </p:sp>
      <p:sp>
        <p:nvSpPr>
          <p:cNvPr id="64" name="TextBox 63"/>
          <p:cNvSpPr txBox="1"/>
          <p:nvPr/>
        </p:nvSpPr>
        <p:spPr>
          <a:xfrm>
            <a:off x="4096511" y="5504688"/>
            <a:ext cx="2194560" cy="45720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OEM · 네오클라우드</a:t>
            </a:r>
          </a:p>
          <a:p>
            <a:pPr algn="l">
              <a:lnSpc>
                <a:spcPct val="104000"/>
              </a:lnSpc>
            </a:pPr>
            <a:r>
              <a:rPr sz="900" b="0">
                <a:solidFill>
                  <a:srgbClr val="555555"/>
                </a:solidFill>
                <a:latin typeface="Arial"/>
                <a:ea typeface="Arial"/>
              </a:rPr>
              <a:t>자체 캐시 스택 없음</a:t>
            </a:r>
          </a:p>
        </p:txBody>
      </p:sp>
      <p:sp>
        <p:nvSpPr>
          <p:cNvPr id="65" name="Right Arrow 64"/>
          <p:cNvSpPr/>
          <p:nvPr/>
        </p:nvSpPr>
        <p:spPr>
          <a:xfrm>
            <a:off x="6327648" y="5660136"/>
            <a:ext cx="201168"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620256" y="5504688"/>
            <a:ext cx="1563624" cy="457200"/>
          </a:xfrm>
          <a:prstGeom prst="rect">
            <a:avLst/>
          </a:prstGeom>
          <a:noFill/>
        </p:spPr>
        <p:txBody>
          <a:bodyPr wrap="square" anchor="ctr" lIns="0" rIns="0" tIns="0" bIns="0">
            <a:spAutoFit/>
          </a:bodyPr>
          <a:lstStyle/>
          <a:p>
            <a:pPr algn="l">
              <a:lnSpc>
                <a:spcPct val="112000"/>
              </a:lnSpc>
            </a:pPr>
            <a:r>
              <a:rPr sz="1125" b="1">
                <a:solidFill>
                  <a:srgbClr val="555555"/>
                </a:solidFill>
                <a:latin typeface="Arial"/>
                <a:ea typeface="Arial"/>
              </a:rPr>
              <a:t>레퍼런스 스택 제공</a:t>
            </a:r>
          </a:p>
        </p:txBody>
      </p:sp>
      <p:sp>
        <p:nvSpPr>
          <p:cNvPr id="67" name="Rectangle 66"/>
          <p:cNvSpPr/>
          <p:nvPr/>
        </p:nvSpPr>
        <p:spPr>
          <a:xfrm>
            <a:off x="8531351" y="3419856"/>
            <a:ext cx="4526280" cy="2724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714231" y="3511296"/>
            <a:ext cx="4160520" cy="219456"/>
          </a:xfrm>
          <a:prstGeom prst="rect">
            <a:avLst/>
          </a:prstGeom>
          <a:noFill/>
        </p:spPr>
        <p:txBody>
          <a:bodyPr wrap="square" anchor="t" lIns="0" rIns="0" tIns="0" bIns="0">
            <a:spAutoFit/>
          </a:bodyPr>
          <a:lstStyle/>
          <a:p>
            <a:pPr algn="l">
              <a:lnSpc>
                <a:spcPct val="112000"/>
              </a:lnSpc>
            </a:pPr>
            <a:r>
              <a:rPr sz="1200" b="0">
                <a:solidFill>
                  <a:srgbClr val="8A8A8A"/>
                </a:solidFill>
                <a:latin typeface="Arial"/>
                <a:ea typeface="Arial"/>
              </a:rPr>
              <a:t>선례 · </a:t>
            </a:r>
            <a:r>
              <a:rPr sz="1200" b="1">
                <a:solidFill>
                  <a:srgbClr val="1428A0"/>
                </a:solidFill>
                <a:latin typeface="Arial"/>
                <a:ea typeface="Arial"/>
              </a:rPr>
              <a:t>Palantir FDE</a:t>
            </a:r>
            <a:r>
              <a:rPr sz="900" b="0">
                <a:solidFill>
                  <a:srgbClr val="555555"/>
                </a:solidFill>
                <a:latin typeface="Arial"/>
                <a:ea typeface="Arial"/>
              </a:rPr>
              <a:t>   상주 → 코드 → 성과 평가</a:t>
            </a:r>
          </a:p>
        </p:txBody>
      </p:sp>
      <p:sp>
        <p:nvSpPr>
          <p:cNvPr id="69" name="Oval 68"/>
          <p:cNvSpPr/>
          <p:nvPr/>
        </p:nvSpPr>
        <p:spPr>
          <a:xfrm>
            <a:off x="8830543"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 Same Side Corner Rectangle 69"/>
          <p:cNvSpPr/>
          <p:nvPr/>
        </p:nvSpPr>
        <p:spPr>
          <a:xfrm>
            <a:off x="8769095"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172529"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 Same Side Corner Rectangle 71"/>
          <p:cNvSpPr/>
          <p:nvPr/>
        </p:nvSpPr>
        <p:spPr>
          <a:xfrm>
            <a:off x="9111081"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9514514"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 Same Side Corner Rectangle 73"/>
          <p:cNvSpPr/>
          <p:nvPr/>
        </p:nvSpPr>
        <p:spPr>
          <a:xfrm>
            <a:off x="9453067"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ight Arrow 74"/>
          <p:cNvSpPr/>
          <p:nvPr/>
        </p:nvSpPr>
        <p:spPr>
          <a:xfrm>
            <a:off x="9868204" y="3959352"/>
            <a:ext cx="274320"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215676" y="3822192"/>
            <a:ext cx="1207008"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215676" y="3822192"/>
            <a:ext cx="1207008" cy="42062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고객 현장</a:t>
            </a:r>
          </a:p>
        </p:txBody>
      </p:sp>
      <p:sp>
        <p:nvSpPr>
          <p:cNvPr id="78" name="TextBox 77"/>
          <p:cNvSpPr txBox="1"/>
          <p:nvPr/>
        </p:nvSpPr>
        <p:spPr>
          <a:xfrm>
            <a:off x="8769095" y="4334256"/>
            <a:ext cx="4050791" cy="402336"/>
          </a:xfrm>
          <a:prstGeom prst="rect">
            <a:avLst/>
          </a:prstGeom>
          <a:noFill/>
        </p:spPr>
        <p:txBody>
          <a:bodyPr wrap="square" anchor="t" lIns="0" rIns="0" tIns="0" bIns="0">
            <a:spAutoFit/>
          </a:bodyPr>
          <a:lstStyle/>
          <a:p>
            <a:pPr algn="l">
              <a:lnSpc>
                <a:spcPct val="108000"/>
              </a:lnSpc>
            </a:pPr>
            <a:r>
              <a:rPr sz="950" b="0">
                <a:solidFill>
                  <a:srgbClr val="555555"/>
                </a:solidFill>
                <a:latin typeface="Arial"/>
                <a:ea typeface="Arial"/>
              </a:rPr>
              <a:t>요구를 코드로 구현하고 성과로 평가 · 주가 수익률 640%</a:t>
            </a:r>
          </a:p>
          <a:p>
            <a:pPr algn="l">
              <a:lnSpc>
                <a:spcPct val="108000"/>
              </a:lnSpc>
            </a:pPr>
            <a:r>
              <a:rPr sz="950" b="0">
                <a:solidFill>
                  <a:srgbClr val="555555"/>
                </a:solidFill>
                <a:latin typeface="Arial"/>
                <a:ea typeface="Arial"/>
              </a:rPr>
              <a:t>Anthropic · OpenAI가 GTM 모델로 채택</a:t>
            </a:r>
          </a:p>
        </p:txBody>
      </p:sp>
      <p:sp>
        <p:nvSpPr>
          <p:cNvPr id="79" name="Rectangle 78"/>
          <p:cNvSpPr/>
          <p:nvPr/>
        </p:nvSpPr>
        <p:spPr>
          <a:xfrm>
            <a:off x="8732519" y="4773168"/>
            <a:ext cx="412394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732519" y="4846320"/>
            <a:ext cx="4123944"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선례 · </a:t>
            </a:r>
            <a:r>
              <a:rPr sz="1275" b="1">
                <a:solidFill>
                  <a:srgbClr val="1428A0"/>
                </a:solidFill>
                <a:latin typeface="Arial"/>
                <a:ea typeface="Arial"/>
              </a:rPr>
              <a:t>Micron ↔ Anthropic SCA</a:t>
            </a:r>
            <a:r>
              <a:rPr sz="950" b="0">
                <a:solidFill>
                  <a:srgbClr val="555555"/>
                </a:solidFill>
                <a:latin typeface="Arial"/>
                <a:ea typeface="Arial"/>
              </a:rPr>
              <a:t>   2026-06</a:t>
            </a:r>
          </a:p>
        </p:txBody>
      </p:sp>
      <p:sp>
        <p:nvSpPr>
          <p:cNvPr id="81" name="Rectangle 80"/>
          <p:cNvSpPr/>
          <p:nvPr/>
        </p:nvSpPr>
        <p:spPr>
          <a:xfrm>
            <a:off x="8769095" y="5157216"/>
            <a:ext cx="1097280"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769095" y="5157216"/>
            <a:ext cx="1097280" cy="292608"/>
          </a:xfrm>
          <a:prstGeom prst="rect">
            <a:avLst/>
          </a:prstGeom>
          <a:noFill/>
        </p:spPr>
        <p:txBody>
          <a:bodyPr wrap="square" anchor="ctr" lIns="0" rIns="0" tIns="0" bIns="0">
            <a:spAutoFit/>
          </a:bodyPr>
          <a:lstStyle/>
          <a:p>
            <a:pPr algn="ctr">
              <a:lnSpc>
                <a:spcPct val="112000"/>
              </a:lnSpc>
            </a:pPr>
            <a:r>
              <a:rPr sz="1000" b="1">
                <a:solidFill>
                  <a:srgbClr val="FFFFFF"/>
                </a:solidFill>
                <a:latin typeface="Arial"/>
                <a:ea typeface="Arial"/>
              </a:rPr>
              <a:t>공동 설계</a:t>
            </a:r>
          </a:p>
        </p:txBody>
      </p:sp>
      <p:sp>
        <p:nvSpPr>
          <p:cNvPr id="83" name="Rectangle 82"/>
          <p:cNvSpPr/>
          <p:nvPr/>
        </p:nvSpPr>
        <p:spPr>
          <a:xfrm>
            <a:off x="9976103" y="515721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976103" y="515721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다년 공급</a:t>
            </a:r>
          </a:p>
        </p:txBody>
      </p:sp>
      <p:sp>
        <p:nvSpPr>
          <p:cNvPr id="85" name="Rectangle 84"/>
          <p:cNvSpPr/>
          <p:nvPr/>
        </p:nvSpPr>
        <p:spPr>
          <a:xfrm>
            <a:off x="8769095" y="552297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769095" y="552297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운영 통합</a:t>
            </a:r>
          </a:p>
        </p:txBody>
      </p:sp>
      <p:sp>
        <p:nvSpPr>
          <p:cNvPr id="87" name="Rectangle 86"/>
          <p:cNvSpPr/>
          <p:nvPr/>
        </p:nvSpPr>
        <p:spPr>
          <a:xfrm>
            <a:off x="9976103" y="552297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976103" y="552297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자본</a:t>
            </a:r>
          </a:p>
        </p:txBody>
      </p:sp>
      <p:sp>
        <p:nvSpPr>
          <p:cNvPr id="89" name="TextBox 88"/>
          <p:cNvSpPr txBox="1"/>
          <p:nvPr/>
        </p:nvSpPr>
        <p:spPr>
          <a:xfrm>
            <a:off x="11274551" y="5138927"/>
            <a:ext cx="1545336" cy="676656"/>
          </a:xfrm>
          <a:prstGeom prst="rect">
            <a:avLst/>
          </a:prstGeom>
          <a:noFill/>
        </p:spPr>
        <p:txBody>
          <a:bodyPr wrap="square" anchor="ctr" lIns="0" rIns="0" tIns="0" bIns="0">
            <a:spAutoFit/>
          </a:bodyPr>
          <a:lstStyle/>
          <a:p>
            <a:pPr algn="l">
              <a:lnSpc>
                <a:spcPct val="108000"/>
              </a:lnSpc>
            </a:pPr>
            <a:r>
              <a:rPr sz="950" b="0">
                <a:solidFill>
                  <a:srgbClr val="555555"/>
                </a:solidFill>
                <a:latin typeface="Arial"/>
                <a:ea typeface="Arial"/>
              </a:rPr>
              <a:t>네 요소를 한 계약에 결합</a:t>
            </a:r>
          </a:p>
          <a:p>
            <a:pPr algn="l">
              <a:lnSpc>
                <a:spcPct val="108000"/>
              </a:lnSpc>
            </a:pPr>
            <a:r>
              <a:rPr sz="950" b="1">
                <a:solidFill>
                  <a:srgbClr val="1A1A1A"/>
                </a:solidFill>
                <a:latin typeface="Arial"/>
                <a:ea typeface="Arial"/>
              </a:rPr>
              <a:t>Micron SCA 16건 · 최소 매출 약 $100B</a:t>
            </a:r>
          </a:p>
        </p:txBody>
      </p:sp>
      <p:sp>
        <p:nvSpPr>
          <p:cNvPr id="90" name="TextBox 89"/>
          <p:cNvSpPr txBox="1"/>
          <p:nvPr/>
        </p:nvSpPr>
        <p:spPr>
          <a:xfrm>
            <a:off x="8769095" y="5833872"/>
            <a:ext cx="4050791" cy="256032"/>
          </a:xfrm>
          <a:prstGeom prst="rect">
            <a:avLst/>
          </a:prstGeom>
          <a:noFill/>
        </p:spPr>
        <p:txBody>
          <a:bodyPr wrap="square" anchor="t" lIns="0" rIns="0" tIns="0" bIns="0">
            <a:spAutoFit/>
          </a:bodyPr>
          <a:lstStyle/>
          <a:p>
            <a:pPr algn="l">
              <a:lnSpc>
                <a:spcPct val="112000"/>
              </a:lnSpc>
            </a:pPr>
            <a:r>
              <a:rPr sz="975" b="1">
                <a:solidFill>
                  <a:srgbClr val="1428A0"/>
                </a:solidFill>
                <a:latin typeface="Arial"/>
                <a:ea typeface="Arial"/>
              </a:rPr>
              <a:t>삼성 · SK의 Anthropic 계약엔 공동 설계 조항 부재 → 삼성이 선제 제안</a:t>
            </a:r>
          </a:p>
        </p:txBody>
      </p:sp>
      <p:sp>
        <p:nvSpPr>
          <p:cNvPr id="91" name="Left Arrow 90"/>
          <p:cNvSpPr/>
          <p:nvPr/>
        </p:nvSpPr>
        <p:spPr>
          <a:xfrm>
            <a:off x="3822191" y="6272784"/>
            <a:ext cx="9235440" cy="731520"/>
          </a:xfrm>
          <a:prstGeom prst="leftArrow">
            <a:avLst>
              <a:gd name="adj1" fmla="val 86000"/>
              <a:gd name="adj2"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4828031" y="6345936"/>
            <a:ext cx="7955279"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② 접근권 확보 : 워크로드 트레이스 · KV 수명 정책 · 규격</a:t>
            </a:r>
          </a:p>
        </p:txBody>
      </p:sp>
      <p:sp>
        <p:nvSpPr>
          <p:cNvPr id="93" name="TextBox 92"/>
          <p:cNvSpPr txBox="1"/>
          <p:nvPr/>
        </p:nvSpPr>
        <p:spPr>
          <a:xfrm>
            <a:off x="4828031" y="6620256"/>
            <a:ext cx="7955279"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계약 시한 2027년 상반기 — 공급 완화 전에 락인</a:t>
            </a:r>
          </a:p>
        </p:txBody>
      </p:sp>
      <p:sp>
        <p:nvSpPr>
          <p:cNvPr id="94" name="Rectangle 93"/>
          <p:cNvSpPr/>
          <p:nvPr/>
        </p:nvSpPr>
        <p:spPr>
          <a:xfrm>
            <a:off x="13277088" y="2560320"/>
            <a:ext cx="4288536" cy="44439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3478256" y="2706624"/>
            <a:ext cx="3886200" cy="274320"/>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고객 시스템</a:t>
            </a:r>
          </a:p>
        </p:txBody>
      </p:sp>
      <p:sp>
        <p:nvSpPr>
          <p:cNvPr id="96" name="TextBox 95"/>
          <p:cNvSpPr txBox="1"/>
          <p:nvPr/>
        </p:nvSpPr>
        <p:spPr>
          <a:xfrm>
            <a:off x="13478256" y="2980944"/>
            <a:ext cx="3886200"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삼성 인력 · 코드의 진입 계층</a:t>
            </a:r>
          </a:p>
        </p:txBody>
      </p:sp>
      <p:sp>
        <p:nvSpPr>
          <p:cNvPr id="97" name="Rectangle 96"/>
          <p:cNvSpPr/>
          <p:nvPr/>
        </p:nvSpPr>
        <p:spPr>
          <a:xfrm>
            <a:off x="13478256" y="3401568"/>
            <a:ext cx="2916936"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3615416" y="3401568"/>
            <a:ext cx="2642616" cy="51206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응용 · 추론 엔진</a:t>
            </a:r>
          </a:p>
        </p:txBody>
      </p:sp>
      <p:sp>
        <p:nvSpPr>
          <p:cNvPr id="99" name="Rectangle 98"/>
          <p:cNvSpPr/>
          <p:nvPr/>
        </p:nvSpPr>
        <p:spPr>
          <a:xfrm>
            <a:off x="13478256" y="4023359"/>
            <a:ext cx="2916936" cy="5120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3615416" y="4023359"/>
            <a:ext cx="2642616" cy="512064"/>
          </a:xfrm>
          <a:prstGeom prst="rect">
            <a:avLst/>
          </a:prstGeom>
          <a:noFill/>
        </p:spPr>
        <p:txBody>
          <a:bodyPr wrap="square" anchor="ctr" lIns="0" rIns="0" tIns="0" bIns="0">
            <a:spAutoFit/>
          </a:bodyPr>
          <a:lstStyle/>
          <a:p>
            <a:pPr algn="l">
              <a:lnSpc>
                <a:spcPct val="112000"/>
              </a:lnSpc>
            </a:pPr>
            <a:r>
              <a:rPr sz="1275" b="1">
                <a:solidFill>
                  <a:srgbClr val="1A1A1A"/>
                </a:solidFill>
                <a:latin typeface="Arial"/>
                <a:ea typeface="Arial"/>
              </a:rPr>
              <a:t>KV 캐시 관리자</a:t>
            </a:r>
          </a:p>
        </p:txBody>
      </p:sp>
      <p:sp>
        <p:nvSpPr>
          <p:cNvPr id="101" name="Rectangle 100"/>
          <p:cNvSpPr/>
          <p:nvPr/>
        </p:nvSpPr>
        <p:spPr>
          <a:xfrm>
            <a:off x="13478256" y="4645152"/>
            <a:ext cx="2916936" cy="5120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3615416" y="4645152"/>
            <a:ext cx="2642616" cy="512064"/>
          </a:xfrm>
          <a:prstGeom prst="rect">
            <a:avLst/>
          </a:prstGeom>
          <a:noFill/>
        </p:spPr>
        <p:txBody>
          <a:bodyPr wrap="square" anchor="ctr" lIns="0" rIns="0" tIns="0" bIns="0">
            <a:spAutoFit/>
          </a:bodyPr>
          <a:lstStyle/>
          <a:p>
            <a:pPr algn="l">
              <a:lnSpc>
                <a:spcPct val="112000"/>
              </a:lnSpc>
            </a:pPr>
            <a:r>
              <a:rPr sz="1275" b="1">
                <a:solidFill>
                  <a:srgbClr val="1A1A1A"/>
                </a:solidFill>
                <a:latin typeface="Arial"/>
                <a:ea typeface="Arial"/>
              </a:rPr>
              <a:t>I/O 라이브러리 · 커널</a:t>
            </a:r>
          </a:p>
        </p:txBody>
      </p:sp>
      <p:sp>
        <p:nvSpPr>
          <p:cNvPr id="103" name="Rectangle 102"/>
          <p:cNvSpPr/>
          <p:nvPr/>
        </p:nvSpPr>
        <p:spPr>
          <a:xfrm>
            <a:off x="13478256" y="5266944"/>
            <a:ext cx="2916936" cy="5120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3615416" y="5266944"/>
            <a:ext cx="2642616" cy="512064"/>
          </a:xfrm>
          <a:prstGeom prst="rect">
            <a:avLst/>
          </a:prstGeom>
          <a:noFill/>
        </p:spPr>
        <p:txBody>
          <a:bodyPr wrap="square" anchor="ctr" lIns="0" rIns="0" tIns="0" bIns="0">
            <a:spAutoFit/>
          </a:bodyPr>
          <a:lstStyle/>
          <a:p>
            <a:pPr algn="l">
              <a:lnSpc>
                <a:spcPct val="112000"/>
              </a:lnSpc>
            </a:pPr>
            <a:r>
              <a:rPr sz="1275" b="1">
                <a:solidFill>
                  <a:srgbClr val="FFFFFF"/>
                </a:solidFill>
                <a:latin typeface="Arial"/>
                <a:ea typeface="Arial"/>
              </a:rPr>
              <a:t>SSD : 삼성 QLC</a:t>
            </a:r>
          </a:p>
        </p:txBody>
      </p:sp>
      <p:sp>
        <p:nvSpPr>
          <p:cNvPr id="105" name="Oval 104"/>
          <p:cNvSpPr/>
          <p:nvPr/>
        </p:nvSpPr>
        <p:spPr>
          <a:xfrm>
            <a:off x="16572219" y="4078223"/>
            <a:ext cx="159837" cy="15983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ound Same Side Corner Rectangle 105"/>
          <p:cNvSpPr/>
          <p:nvPr/>
        </p:nvSpPr>
        <p:spPr>
          <a:xfrm>
            <a:off x="16504920" y="4263298"/>
            <a:ext cx="294436" cy="235549"/>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6872508" y="4023359"/>
            <a:ext cx="731520" cy="51206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a:t>
            </a:r>
          </a:p>
        </p:txBody>
      </p:sp>
      <p:sp>
        <p:nvSpPr>
          <p:cNvPr id="108" name="TextBox 107"/>
          <p:cNvSpPr txBox="1"/>
          <p:nvPr/>
        </p:nvSpPr>
        <p:spPr>
          <a:xfrm>
            <a:off x="16504920" y="4645152"/>
            <a:ext cx="859536" cy="512064"/>
          </a:xfrm>
          <a:prstGeom prst="rect">
            <a:avLst/>
          </a:prstGeom>
          <a:noFill/>
        </p:spPr>
        <p:txBody>
          <a:bodyPr wrap="square" anchor="ctr" lIns="0" rIns="0" tIns="0" bIns="0">
            <a:spAutoFit/>
          </a:bodyPr>
          <a:lstStyle/>
          <a:p>
            <a:pPr algn="l">
              <a:lnSpc>
                <a:spcPct val="112000"/>
              </a:lnSpc>
            </a:pPr>
            <a:r>
              <a:rPr sz="1050" b="0">
                <a:solidFill>
                  <a:srgbClr val="555555"/>
                </a:solidFill>
                <a:latin typeface="Arial"/>
                <a:ea typeface="Arial"/>
              </a:rPr>
              <a:t>코드 머지</a:t>
            </a:r>
          </a:p>
        </p:txBody>
      </p:sp>
      <p:pic>
        <p:nvPicPr>
          <p:cNvPr id="109" name="Picture 108" descr="anthropic.png"/>
          <p:cNvPicPr>
            <a:picLocks noChangeAspect="1"/>
          </p:cNvPicPr>
          <p:nvPr/>
        </p:nvPicPr>
        <p:blipFill>
          <a:blip r:embed="rId2"/>
          <a:stretch>
            <a:fillRect/>
          </a:stretch>
        </p:blipFill>
        <p:spPr>
          <a:xfrm>
            <a:off x="13551408" y="6409303"/>
            <a:ext cx="1302212" cy="147584"/>
          </a:xfrm>
          <a:prstGeom prst="rect">
            <a:avLst/>
          </a:prstGeom>
        </p:spPr>
      </p:pic>
      <p:pic>
        <p:nvPicPr>
          <p:cNvPr id="110" name="Picture 109" descr="openai.png"/>
          <p:cNvPicPr>
            <a:picLocks noChangeAspect="1"/>
          </p:cNvPicPr>
          <p:nvPr/>
        </p:nvPicPr>
        <p:blipFill>
          <a:blip r:embed="rId3"/>
          <a:stretch>
            <a:fillRect/>
          </a:stretch>
        </p:blipFill>
        <p:spPr>
          <a:xfrm>
            <a:off x="14966487" y="6409303"/>
            <a:ext cx="601021" cy="147584"/>
          </a:xfrm>
          <a:prstGeom prst="rect">
            <a:avLst/>
          </a:prstGeom>
        </p:spPr>
      </p:pic>
      <p:pic>
        <p:nvPicPr>
          <p:cNvPr id="111" name="Picture 110" descr="nvidia.png"/>
          <p:cNvPicPr>
            <a:picLocks noChangeAspect="1"/>
          </p:cNvPicPr>
          <p:nvPr/>
        </p:nvPicPr>
        <p:blipFill>
          <a:blip r:embed="rId4"/>
          <a:stretch>
            <a:fillRect/>
          </a:stretch>
        </p:blipFill>
        <p:spPr>
          <a:xfrm>
            <a:off x="15680370" y="6409303"/>
            <a:ext cx="772242" cy="147584"/>
          </a:xfrm>
          <a:prstGeom prst="rect">
            <a:avLst/>
          </a:prstGeom>
        </p:spPr>
      </p:pic>
      <p:pic>
        <p:nvPicPr>
          <p:cNvPr id="112" name="Picture 111" descr="meta.png"/>
          <p:cNvPicPr>
            <a:picLocks noChangeAspect="1"/>
          </p:cNvPicPr>
          <p:nvPr/>
        </p:nvPicPr>
        <p:blipFill>
          <a:blip r:embed="rId5"/>
          <a:stretch>
            <a:fillRect/>
          </a:stretch>
        </p:blipFill>
        <p:spPr>
          <a:xfrm>
            <a:off x="16565476" y="6409303"/>
            <a:ext cx="725823" cy="147584"/>
          </a:xfrm>
          <a:prstGeom prst="rect">
            <a:avLst/>
          </a:prstGeom>
        </p:spPr>
      </p:pic>
      <p:sp>
        <p:nvSpPr>
          <p:cNvPr id="113" name="Rectangle 112"/>
          <p:cNvSpPr/>
          <p:nvPr/>
        </p:nvSpPr>
        <p:spPr>
          <a:xfrm>
            <a:off x="722376"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722376"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722376"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조직</a:t>
            </a:r>
          </a:p>
        </p:txBody>
      </p:sp>
      <p:sp>
        <p:nvSpPr>
          <p:cNvPr id="116" name="TextBox 115"/>
          <p:cNvSpPr txBox="1"/>
          <p:nvPr/>
        </p:nvSpPr>
        <p:spPr>
          <a:xfrm>
            <a:off x="1691640"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시스템 소프트웨어 조직 강화</a:t>
            </a:r>
          </a:p>
        </p:txBody>
      </p:sp>
      <p:sp>
        <p:nvSpPr>
          <p:cNvPr id="117" name="TextBox 116"/>
          <p:cNvSpPr txBox="1"/>
          <p:nvPr/>
        </p:nvSpPr>
        <p:spPr>
          <a:xfrm>
            <a:off x="1691640"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Co-Design Pod 3~5명 · 개발실 소속</a:t>
            </a:r>
          </a:p>
          <a:p>
            <a:pPr algn="l">
              <a:lnSpc>
                <a:spcPct val="112000"/>
              </a:lnSpc>
            </a:pPr>
            <a:r>
              <a:rPr sz="1000" b="0">
                <a:solidFill>
                  <a:srgbClr val="555555"/>
                </a:solidFill>
                <a:latin typeface="Arial"/>
                <a:ea typeface="Arial"/>
              </a:rPr>
              <a:t>선별 고객 1~2사 상주 · 미주 법인 협업</a:t>
            </a:r>
          </a:p>
        </p:txBody>
      </p:sp>
      <p:sp>
        <p:nvSpPr>
          <p:cNvPr id="118" name="Rectangle 117"/>
          <p:cNvSpPr/>
          <p:nvPr/>
        </p:nvSpPr>
        <p:spPr>
          <a:xfrm>
            <a:off x="6409944"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6409944"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6409944"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인사</a:t>
            </a:r>
          </a:p>
        </p:txBody>
      </p:sp>
      <p:sp>
        <p:nvSpPr>
          <p:cNvPr id="121" name="TextBox 120"/>
          <p:cNvSpPr txBox="1"/>
          <p:nvPr/>
        </p:nvSpPr>
        <p:spPr>
          <a:xfrm>
            <a:off x="7379208"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고객 시스템을 아는 시스템 SW 전문가 채용 · 양성</a:t>
            </a:r>
          </a:p>
        </p:txBody>
      </p:sp>
      <p:sp>
        <p:nvSpPr>
          <p:cNvPr id="122" name="TextBox 121"/>
          <p:cNvSpPr txBox="1"/>
          <p:nvPr/>
        </p:nvSpPr>
        <p:spPr>
          <a:xfrm>
            <a:off x="7379208"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채용 기준 = 고객 코드를 읽고 고치는가</a:t>
            </a:r>
          </a:p>
          <a:p>
            <a:pPr algn="l">
              <a:lnSpc>
                <a:spcPct val="112000"/>
              </a:lnSpc>
            </a:pPr>
            <a:r>
              <a:rPr sz="1000" b="0">
                <a:solidFill>
                  <a:srgbClr val="555555"/>
                </a:solidFill>
                <a:latin typeface="Arial"/>
                <a:ea typeface="Arial"/>
              </a:rPr>
              <a:t>본사 엔지니어 상주 로테이션 3~6개월</a:t>
            </a:r>
          </a:p>
          <a:p>
            <a:pPr algn="l">
              <a:lnSpc>
                <a:spcPct val="112000"/>
              </a:lnSpc>
            </a:pPr>
            <a:r>
              <a:rPr sz="1000" b="0">
                <a:solidFill>
                  <a:srgbClr val="555555"/>
                </a:solidFill>
                <a:latin typeface="Arial"/>
                <a:ea typeface="Arial"/>
              </a:rPr>
              <a:t>평가 = 머지 · 실측 공개 · 디자인인</a:t>
            </a:r>
          </a:p>
        </p:txBody>
      </p:sp>
      <p:sp>
        <p:nvSpPr>
          <p:cNvPr id="123" name="Rectangle 122"/>
          <p:cNvSpPr/>
          <p:nvPr/>
        </p:nvSpPr>
        <p:spPr>
          <a:xfrm>
            <a:off x="12097512"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2097512"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2097512"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문화</a:t>
            </a:r>
          </a:p>
        </p:txBody>
      </p:sp>
      <p:sp>
        <p:nvSpPr>
          <p:cNvPr id="126" name="TextBox 125"/>
          <p:cNvSpPr txBox="1"/>
          <p:nvPr/>
        </p:nvSpPr>
        <p:spPr>
          <a:xfrm>
            <a:off x="13066776"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오픈소스 생태계를 주도하는 문화</a:t>
            </a:r>
          </a:p>
        </p:txBody>
      </p:sp>
      <p:sp>
        <p:nvSpPr>
          <p:cNvPr id="127" name="TextBox 126"/>
          <p:cNvSpPr txBox="1"/>
          <p:nvPr/>
        </p:nvSpPr>
        <p:spPr>
          <a:xfrm>
            <a:off x="13066776"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메인테이너 · 커미터 배출 · 업스트림 우선</a:t>
            </a:r>
          </a:p>
          <a:p>
            <a:pPr algn="l">
              <a:lnSpc>
                <a:spcPct val="112000"/>
              </a:lnSpc>
            </a:pPr>
            <a:r>
              <a:rPr sz="1000" b="0">
                <a:solidFill>
                  <a:srgbClr val="555555"/>
                </a:solidFill>
                <a:latin typeface="Arial"/>
                <a:ea typeface="Arial"/>
              </a:rPr>
              <a:t>KV 캐시 실측(WAF · 유효 DWPD) 업계 최초 공개</a:t>
            </a:r>
          </a:p>
        </p:txBody>
      </p:sp>
      <p:sp>
        <p:nvSpPr>
          <p:cNvPr id="128" name="Rectangle 127"/>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0" name="TextBox 129"/>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FDE 상주로 고객 시스템에 들어가고, 전략적 협약으로 워크로드·규격 접근권을 받습니다. 두 수단 모두 업계 선례가 있습니다.</a:t>
            </a:r>
          </a:p>
          <a:p>
            <a:pPr algn="l">
              <a:lnSpc>
                <a:spcPct val="108000"/>
              </a:lnSpc>
            </a:pPr>
            <a:r>
              <a:rPr sz="1650" b="1">
                <a:solidFill>
                  <a:srgbClr val="FFFFFF"/>
                </a:solidFill>
                <a:latin typeface="Arial"/>
                <a:ea typeface="Arial"/>
              </a:rPr>
              <a:t>개발실은 조직·인사·문화 세 축을 그 실행에 맞춥니다</a:t>
            </a:r>
          </a:p>
        </p:txBody>
      </p:sp>
      <p:sp>
        <p:nvSpPr>
          <p:cNvPr id="131" name="Rectangle 130"/>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6장 대응 기술 · 무엇을 확보하나</a:t>
            </a:r>
          </a:p>
        </p:txBody>
      </p:sp>
      <p:sp>
        <p:nvSpPr>
          <p:cNvPr id="134" name="TextBox 133"/>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Academy(Palantir FDE), Micron IR 2026-06-22·10-Q(SCA 16건·$22B), SK hynix 뉴스룸, 내부 인터뷰(송용호 2026-09-03) · 규모·시점은 추정, 사내 수치는 [사내 확인]</a:t>
            </a:r>
          </a:p>
        </p:txBody>
      </p:sp>
      <p:sp>
        <p:nvSpPr>
          <p:cNvPr id="135" name="TextBox 134"/>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05 / 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실행  </a:t>
            </a:r>
            <a:r>
              <a:rPr sz="1200" b="0">
                <a:solidFill>
                  <a:srgbClr val="555555"/>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대응 기술  </a:t>
            </a:r>
            <a:r>
              <a:rPr sz="1200" b="0">
                <a:solidFill>
                  <a:srgbClr val="1428A0"/>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WAF 변동 리스크는 계약이 아니라 런타임 감지·대응 기술로 흡수하며, 그 기술 요소를 확보합니다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조건부 보증은 리스크를 고객에게 되돌려 수용성이 낮습니다. 같은 리스크를 WAF 급등 감지와 런타임 재구성으로 흡수합니다.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s6_waf_runtime.png"/>
          <p:cNvPicPr>
            <a:picLocks noChangeAspect="1"/>
          </p:cNvPicPr>
          <p:nvPr/>
        </p:nvPicPr>
        <p:blipFill>
          <a:blip r:embed="rId2"/>
          <a:stretch>
            <a:fillRect/>
          </a:stretch>
        </p:blipFill>
        <p:spPr>
          <a:xfrm>
            <a:off x="722376" y="2560320"/>
            <a:ext cx="6263640" cy="2668385"/>
          </a:xfrm>
          <a:prstGeom prst="rect">
            <a:avLst/>
          </a:prstGeom>
        </p:spPr>
      </p:pic>
      <p:sp>
        <p:nvSpPr>
          <p:cNvPr id="33" name="Rectangle 32"/>
          <p:cNvSpPr/>
          <p:nvPr/>
        </p:nvSpPr>
        <p:spPr>
          <a:xfrm>
            <a:off x="7187183" y="2560320"/>
            <a:ext cx="10378440" cy="26700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0" y="2670048"/>
            <a:ext cx="993952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런타임 대응 루프</a:t>
            </a:r>
            <a:r>
              <a:rPr sz="1000" b="0">
                <a:solidFill>
                  <a:srgbClr val="8A8A8A"/>
                </a:solidFill>
                <a:latin typeface="Arial"/>
                <a:ea typeface="Arial"/>
              </a:rPr>
              <a:t>   목표 주기 · 감지 1시간 · 회복 4시간</a:t>
            </a:r>
          </a:p>
        </p:txBody>
      </p:sp>
      <p:sp>
        <p:nvSpPr>
          <p:cNvPr id="35" name="Rectangle 34"/>
          <p:cNvSpPr/>
          <p:nvPr/>
        </p:nvSpPr>
        <p:spPr>
          <a:xfrm>
            <a:off x="7406640" y="2980944"/>
            <a:ext cx="2306574" cy="15910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34656" y="3072384"/>
            <a:ext cx="2050542"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① 관측</a:t>
            </a:r>
          </a:p>
        </p:txBody>
      </p:sp>
      <p:sp>
        <p:nvSpPr>
          <p:cNvPr id="37" name="TextBox 36"/>
          <p:cNvSpPr txBox="1"/>
          <p:nvPr/>
        </p:nvSpPr>
        <p:spPr>
          <a:xfrm>
            <a:off x="7534656" y="3273551"/>
            <a:ext cx="2050542"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RUH별 기록량 비교</a:t>
            </a:r>
          </a:p>
        </p:txBody>
      </p:sp>
      <p:sp>
        <p:nvSpPr>
          <p:cNvPr id="38" name="Rectangle 37"/>
          <p:cNvSpPr/>
          <p:nvPr/>
        </p:nvSpPr>
        <p:spPr>
          <a:xfrm>
            <a:off x="7534656" y="3611879"/>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0" y="354787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호스트 기록량 ÷ 물리 매체 기록량</a:t>
            </a:r>
          </a:p>
        </p:txBody>
      </p:sp>
      <p:sp>
        <p:nvSpPr>
          <p:cNvPr id="40" name="Rectangle 39"/>
          <p:cNvSpPr/>
          <p:nvPr/>
        </p:nvSpPr>
        <p:spPr>
          <a:xfrm>
            <a:off x="7534656" y="3977640"/>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680960" y="391363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핸들별 · 초 단위 샘플링</a:t>
            </a:r>
          </a:p>
        </p:txBody>
      </p:sp>
      <p:sp>
        <p:nvSpPr>
          <p:cNvPr id="42" name="Right Arrow 41"/>
          <p:cNvSpPr/>
          <p:nvPr/>
        </p:nvSpPr>
        <p:spPr>
          <a:xfrm>
            <a:off x="9740646" y="3685032"/>
            <a:ext cx="182880"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0958" y="2980944"/>
            <a:ext cx="2306574" cy="15910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078974" y="3072384"/>
            <a:ext cx="2050542"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② 감지 · 분류</a:t>
            </a:r>
          </a:p>
        </p:txBody>
      </p:sp>
      <p:sp>
        <p:nvSpPr>
          <p:cNvPr id="45" name="TextBox 44"/>
          <p:cNvSpPr txBox="1"/>
          <p:nvPr/>
        </p:nvSpPr>
        <p:spPr>
          <a:xfrm>
            <a:off x="10078974" y="3273551"/>
            <a:ext cx="2050542"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변화점 탐지</a:t>
            </a:r>
          </a:p>
        </p:txBody>
      </p:sp>
      <p:sp>
        <p:nvSpPr>
          <p:cNvPr id="46" name="Rectangle 45"/>
          <p:cNvSpPr/>
          <p:nvPr/>
        </p:nvSpPr>
        <p:spPr>
          <a:xfrm>
            <a:off x="10078974" y="3611879"/>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225278" y="354787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수명 오분류 · 핸들 간 간섭</a:t>
            </a:r>
          </a:p>
        </p:txBody>
      </p:sp>
      <p:sp>
        <p:nvSpPr>
          <p:cNvPr id="48" name="Rectangle 47"/>
          <p:cNvSpPr/>
          <p:nvPr/>
        </p:nvSpPr>
        <p:spPr>
          <a:xfrm>
            <a:off x="10078974" y="3977640"/>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25278" y="391363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힌트 손실 · 워크로드 전환</a:t>
            </a:r>
          </a:p>
        </p:txBody>
      </p:sp>
      <p:sp>
        <p:nvSpPr>
          <p:cNvPr id="50" name="Right Arrow 49"/>
          <p:cNvSpPr/>
          <p:nvPr/>
        </p:nvSpPr>
        <p:spPr>
          <a:xfrm>
            <a:off x="12284964" y="3685032"/>
            <a:ext cx="182880"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2495276" y="2980944"/>
            <a:ext cx="2306574" cy="1591056"/>
          </a:xfrm>
          <a:prstGeom prst="rect">
            <a:avLst/>
          </a:prstGeom>
          <a:solidFill>
            <a:srgbClr val="F4F6FC"/>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2623292" y="3072384"/>
            <a:ext cx="2050542"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③ 대응</a:t>
            </a:r>
          </a:p>
        </p:txBody>
      </p:sp>
      <p:sp>
        <p:nvSpPr>
          <p:cNvPr id="53" name="TextBox 52"/>
          <p:cNvSpPr txBox="1"/>
          <p:nvPr/>
        </p:nvSpPr>
        <p:spPr>
          <a:xfrm>
            <a:off x="12623292" y="3273551"/>
            <a:ext cx="2050542"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런타임 재구성</a:t>
            </a:r>
          </a:p>
        </p:txBody>
      </p:sp>
      <p:sp>
        <p:nvSpPr>
          <p:cNvPr id="54" name="Rectangle 53"/>
          <p:cNvSpPr/>
          <p:nvPr/>
        </p:nvSpPr>
        <p:spPr>
          <a:xfrm>
            <a:off x="12605004" y="3529584"/>
            <a:ext cx="2087118"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678156" y="3557015"/>
            <a:ext cx="822960" cy="182880"/>
          </a:xfrm>
          <a:prstGeom prst="rect">
            <a:avLst/>
          </a:prstGeom>
          <a:noFill/>
        </p:spPr>
        <p:txBody>
          <a:bodyPr wrap="square" anchor="t" lIns="0" rIns="0" tIns="0" bIns="0">
            <a:spAutoFit/>
          </a:bodyPr>
          <a:lstStyle/>
          <a:p>
            <a:pPr algn="l">
              <a:lnSpc>
                <a:spcPct val="112000"/>
              </a:lnSpc>
            </a:pPr>
            <a:r>
              <a:rPr sz="900" b="1">
                <a:solidFill>
                  <a:srgbClr val="FFFFFF"/>
                </a:solidFill>
                <a:latin typeface="Arial"/>
                <a:ea typeface="Arial"/>
              </a:rPr>
              <a:t>디바이스</a:t>
            </a:r>
          </a:p>
        </p:txBody>
      </p:sp>
      <p:sp>
        <p:nvSpPr>
          <p:cNvPr id="56" name="TextBox 55"/>
          <p:cNvSpPr txBox="1"/>
          <p:nvPr/>
        </p:nvSpPr>
        <p:spPr>
          <a:xfrm>
            <a:off x="12678156" y="3721608"/>
            <a:ext cx="1940814" cy="274320"/>
          </a:xfrm>
          <a:prstGeom prst="rect">
            <a:avLst/>
          </a:prstGeom>
          <a:noFill/>
        </p:spPr>
        <p:txBody>
          <a:bodyPr wrap="square" anchor="t" lIns="0" rIns="0" tIns="0" bIns="0">
            <a:spAutoFit/>
          </a:bodyPr>
          <a:lstStyle/>
          <a:p>
            <a:pPr algn="l">
              <a:lnSpc>
                <a:spcPct val="100000"/>
              </a:lnSpc>
            </a:pPr>
            <a:r>
              <a:rPr sz="850" b="0">
                <a:solidFill>
                  <a:srgbClr val="AAB8E8"/>
                </a:solidFill>
                <a:latin typeface="Arial"/>
                <a:ea typeface="Arial"/>
              </a:rPr>
              <a:t>FDP 구성 전환 · RU 크기</a:t>
            </a:r>
          </a:p>
          <a:p>
            <a:pPr algn="l">
              <a:lnSpc>
                <a:spcPct val="100000"/>
              </a:lnSpc>
            </a:pPr>
            <a:r>
              <a:rPr sz="850" b="0">
                <a:solidFill>
                  <a:srgbClr val="AAB8E8"/>
                </a:solidFill>
                <a:latin typeface="Arial"/>
                <a:ea typeface="Arial"/>
              </a:rPr>
              <a:t>핸들 재할당 · GC · SLC 정책</a:t>
            </a:r>
          </a:p>
        </p:txBody>
      </p:sp>
      <p:sp>
        <p:nvSpPr>
          <p:cNvPr id="57" name="Rectangle 56"/>
          <p:cNvSpPr/>
          <p:nvPr/>
        </p:nvSpPr>
        <p:spPr>
          <a:xfrm>
            <a:off x="12605004" y="4059935"/>
            <a:ext cx="2087118" cy="475488"/>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678156" y="4087368"/>
            <a:ext cx="822960" cy="182880"/>
          </a:xfrm>
          <a:prstGeom prst="rect">
            <a:avLst/>
          </a:prstGeom>
          <a:noFill/>
        </p:spPr>
        <p:txBody>
          <a:bodyPr wrap="square" anchor="t" lIns="0" rIns="0" tIns="0" bIns="0">
            <a:spAutoFit/>
          </a:bodyPr>
          <a:lstStyle/>
          <a:p>
            <a:pPr algn="l">
              <a:lnSpc>
                <a:spcPct val="112000"/>
              </a:lnSpc>
            </a:pPr>
            <a:r>
              <a:rPr sz="900" b="1">
                <a:solidFill>
                  <a:srgbClr val="1428A0"/>
                </a:solidFill>
                <a:latin typeface="Arial"/>
                <a:ea typeface="Arial"/>
              </a:rPr>
              <a:t>호스트</a:t>
            </a:r>
          </a:p>
        </p:txBody>
      </p:sp>
      <p:sp>
        <p:nvSpPr>
          <p:cNvPr id="59" name="TextBox 58"/>
          <p:cNvSpPr txBox="1"/>
          <p:nvPr/>
        </p:nvSpPr>
        <p:spPr>
          <a:xfrm>
            <a:off x="12678156" y="4251959"/>
            <a:ext cx="1940814" cy="274320"/>
          </a:xfrm>
          <a:prstGeom prst="rect">
            <a:avLst/>
          </a:prstGeom>
          <a:noFill/>
        </p:spPr>
        <p:txBody>
          <a:bodyPr wrap="square" anchor="t" lIns="0" rIns="0" tIns="0" bIns="0">
            <a:spAutoFit/>
          </a:bodyPr>
          <a:lstStyle/>
          <a:p>
            <a:pPr algn="l">
              <a:lnSpc>
                <a:spcPct val="100000"/>
              </a:lnSpc>
            </a:pPr>
            <a:r>
              <a:rPr sz="850" b="0">
                <a:solidFill>
                  <a:srgbClr val="555555"/>
                </a:solidFill>
                <a:latin typeface="Arial"/>
                <a:ea typeface="Arial"/>
              </a:rPr>
              <a:t>캐시 정책 · 스트림 매핑</a:t>
            </a:r>
          </a:p>
          <a:p>
            <a:pPr algn="l">
              <a:lnSpc>
                <a:spcPct val="100000"/>
              </a:lnSpc>
            </a:pPr>
            <a:r>
              <a:rPr sz="850" b="0">
                <a:solidFill>
                  <a:srgbClr val="555555"/>
                </a:solidFill>
                <a:latin typeface="Arial"/>
                <a:ea typeface="Arial"/>
              </a:rPr>
              <a:t>어드미션 · 셰이핑</a:t>
            </a:r>
          </a:p>
        </p:txBody>
      </p:sp>
      <p:sp>
        <p:nvSpPr>
          <p:cNvPr id="60" name="Right Arrow 59"/>
          <p:cNvSpPr/>
          <p:nvPr/>
        </p:nvSpPr>
        <p:spPr>
          <a:xfrm>
            <a:off x="14829282" y="3685032"/>
            <a:ext cx="182880"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5039594" y="2980944"/>
            <a:ext cx="2306574" cy="15910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5167610" y="3072384"/>
            <a:ext cx="2050542"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④ 검증</a:t>
            </a:r>
          </a:p>
        </p:txBody>
      </p:sp>
      <p:sp>
        <p:nvSpPr>
          <p:cNvPr id="63" name="TextBox 62"/>
          <p:cNvSpPr txBox="1"/>
          <p:nvPr/>
        </p:nvSpPr>
        <p:spPr>
          <a:xfrm>
            <a:off x="15167610" y="3273551"/>
            <a:ext cx="2050542"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재측정 · 롤백</a:t>
            </a:r>
          </a:p>
        </p:txBody>
      </p:sp>
      <p:sp>
        <p:nvSpPr>
          <p:cNvPr id="64" name="Rectangle 63"/>
          <p:cNvSpPr/>
          <p:nvPr/>
        </p:nvSpPr>
        <p:spPr>
          <a:xfrm>
            <a:off x="15167610" y="3611879"/>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313914" y="354787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목표 미달 시 이전 구성으로 복귀</a:t>
            </a:r>
          </a:p>
        </p:txBody>
      </p:sp>
      <p:sp>
        <p:nvSpPr>
          <p:cNvPr id="66" name="Rectangle 65"/>
          <p:cNvSpPr/>
          <p:nvPr/>
        </p:nvSpPr>
        <p:spPr>
          <a:xfrm>
            <a:off x="15167610" y="3977640"/>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5313914" y="391363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대응 이력이 보증 근거</a:t>
            </a:r>
          </a:p>
        </p:txBody>
      </p:sp>
      <p:sp>
        <p:nvSpPr>
          <p:cNvPr id="68" name="Rectangle 67"/>
          <p:cNvSpPr/>
          <p:nvPr/>
        </p:nvSpPr>
        <p:spPr>
          <a:xfrm>
            <a:off x="7406640" y="4663440"/>
            <a:ext cx="9939528" cy="3108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Left Arrow 68"/>
          <p:cNvSpPr/>
          <p:nvPr/>
        </p:nvSpPr>
        <p:spPr>
          <a:xfrm>
            <a:off x="7461504" y="4727448"/>
            <a:ext cx="182880" cy="182880"/>
          </a:xfrm>
          <a:prstGeom prst="lef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717536" y="4663440"/>
            <a:ext cx="9628632" cy="310896"/>
          </a:xfrm>
          <a:prstGeom prst="rect">
            <a:avLst/>
          </a:prstGeom>
          <a:noFill/>
        </p:spPr>
        <p:txBody>
          <a:bodyPr wrap="square" anchor="ctr" lIns="0" rIns="0" tIns="0" bIns="0">
            <a:spAutoFit/>
          </a:bodyPr>
          <a:lstStyle/>
          <a:p>
            <a:pPr algn="l">
              <a:lnSpc>
                <a:spcPct val="112000"/>
              </a:lnSpc>
            </a:pPr>
            <a:r>
              <a:rPr sz="1000" b="1">
                <a:solidFill>
                  <a:srgbClr val="1428A0"/>
                </a:solidFill>
                <a:latin typeface="Arial"/>
                <a:ea typeface="Arial"/>
              </a:rPr>
              <a:t>루프 반복  </a:t>
            </a:r>
            <a:r>
              <a:rPr sz="950" b="0">
                <a:solidFill>
                  <a:srgbClr val="555555"/>
                </a:solidFill>
                <a:latin typeface="Arial"/>
                <a:ea typeface="Arial"/>
              </a:rPr>
              <a:t>대응 결과를 다시 관측해 정책을 갱신합니다 · 오실레이션 방지와 성능 영향 상한은 정책 엔진이 관리</a:t>
            </a:r>
          </a:p>
        </p:txBody>
      </p:sp>
      <p:sp>
        <p:nvSpPr>
          <p:cNvPr id="71" name="TextBox 70"/>
          <p:cNvSpPr txBox="1"/>
          <p:nvPr/>
        </p:nvSpPr>
        <p:spPr>
          <a:xfrm>
            <a:off x="722376" y="5431536"/>
            <a:ext cx="1684324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확보해야 할 핵심 기술 요소</a:t>
            </a:r>
            <a:r>
              <a:rPr sz="1050" b="0">
                <a:solidFill>
                  <a:srgbClr val="8A8A8A"/>
                </a:solidFill>
                <a:latin typeface="Arial"/>
                <a:ea typeface="Arial"/>
              </a:rPr>
              <a:t>   현 수준과 필요 수준의 차이가 개발 과제입니다</a:t>
            </a:r>
          </a:p>
        </p:txBody>
      </p:sp>
      <p:sp>
        <p:nvSpPr>
          <p:cNvPr id="72" name="Rectangle 71"/>
          <p:cNvSpPr/>
          <p:nvPr/>
        </p:nvSpPr>
        <p:spPr>
          <a:xfrm>
            <a:off x="722376" y="5742431"/>
            <a:ext cx="2670048" cy="1700784"/>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722376" y="5742431"/>
            <a:ext cx="2670048"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68680" y="5870447"/>
            <a:ext cx="2377440"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T1</a:t>
            </a:r>
          </a:p>
        </p:txBody>
      </p:sp>
      <p:sp>
        <p:nvSpPr>
          <p:cNvPr id="75" name="TextBox 74"/>
          <p:cNvSpPr txBox="1"/>
          <p:nvPr/>
        </p:nvSpPr>
        <p:spPr>
          <a:xfrm>
            <a:off x="86868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RUH별 WAF 텔레메트리</a:t>
            </a:r>
          </a:p>
        </p:txBody>
      </p:sp>
      <p:sp>
        <p:nvSpPr>
          <p:cNvPr id="76" name="Rectangle 75"/>
          <p:cNvSpPr/>
          <p:nvPr/>
        </p:nvSpPr>
        <p:spPr>
          <a:xfrm>
            <a:off x="86868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6868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드라이브 단위 누적값만 (OCP SMART C0)</a:t>
            </a:r>
          </a:p>
        </p:txBody>
      </p:sp>
      <p:sp>
        <p:nvSpPr>
          <p:cNvPr id="78" name="TextBox 77"/>
          <p:cNvSpPr txBox="1"/>
          <p:nvPr/>
        </p:nvSpPr>
        <p:spPr>
          <a:xfrm>
            <a:off x="86868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핸들별·구간별 분해 · 초 단위 샘플링</a:t>
            </a:r>
          </a:p>
        </p:txBody>
      </p:sp>
      <p:sp>
        <p:nvSpPr>
          <p:cNvPr id="79" name="Rectangle 78"/>
          <p:cNvSpPr/>
          <p:nvPr/>
        </p:nvSpPr>
        <p:spPr>
          <a:xfrm>
            <a:off x="3557016" y="5742431"/>
            <a:ext cx="2670048" cy="1700784"/>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3557016" y="5742431"/>
            <a:ext cx="2670048"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3703320" y="5870447"/>
            <a:ext cx="2377440"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T2</a:t>
            </a:r>
          </a:p>
        </p:txBody>
      </p:sp>
      <p:sp>
        <p:nvSpPr>
          <p:cNvPr id="82" name="TextBox 81"/>
          <p:cNvSpPr txBox="1"/>
          <p:nvPr/>
        </p:nvSpPr>
        <p:spPr>
          <a:xfrm>
            <a:off x="370332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급등 감지 알고리즘</a:t>
            </a:r>
          </a:p>
        </p:txBody>
      </p:sp>
      <p:sp>
        <p:nvSpPr>
          <p:cNvPr id="83" name="Rectangle 82"/>
          <p:cNvSpPr/>
          <p:nvPr/>
        </p:nvSpPr>
        <p:spPr>
          <a:xfrm>
            <a:off x="370332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70332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사후 로그 분석에 의존</a:t>
            </a:r>
          </a:p>
        </p:txBody>
      </p:sp>
      <p:sp>
        <p:nvSpPr>
          <p:cNvPr id="85" name="TextBox 84"/>
          <p:cNvSpPr txBox="1"/>
          <p:nvPr/>
        </p:nvSpPr>
        <p:spPr>
          <a:xfrm>
            <a:off x="370332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온디바이스 변화점 탐지 · 오탐 억제</a:t>
            </a:r>
          </a:p>
        </p:txBody>
      </p:sp>
      <p:sp>
        <p:nvSpPr>
          <p:cNvPr id="86" name="Rectangle 85"/>
          <p:cNvSpPr/>
          <p:nvPr/>
        </p:nvSpPr>
        <p:spPr>
          <a:xfrm>
            <a:off x="6391656" y="5742431"/>
            <a:ext cx="2670048" cy="1700784"/>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391656" y="5742431"/>
            <a:ext cx="2670048"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537960" y="5870447"/>
            <a:ext cx="2377440"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T3</a:t>
            </a:r>
          </a:p>
        </p:txBody>
      </p:sp>
      <p:sp>
        <p:nvSpPr>
          <p:cNvPr id="89" name="TextBox 88"/>
          <p:cNvSpPr txBox="1"/>
          <p:nvPr/>
        </p:nvSpPr>
        <p:spPr>
          <a:xfrm>
            <a:off x="653796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무중단 FDP 재구성</a:t>
            </a:r>
          </a:p>
        </p:txBody>
      </p:sp>
      <p:sp>
        <p:nvSpPr>
          <p:cNvPr id="90" name="Rectangle 89"/>
          <p:cNvSpPr/>
          <p:nvPr/>
        </p:nvSpPr>
        <p:spPr>
          <a:xfrm>
            <a:off x="653796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53796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구성은 네임스페이스 생성 시 고정</a:t>
            </a:r>
          </a:p>
        </p:txBody>
      </p:sp>
      <p:sp>
        <p:nvSpPr>
          <p:cNvPr id="92" name="TextBox 91"/>
          <p:cNvSpPr txBox="1"/>
          <p:nvPr/>
        </p:nvSpPr>
        <p:spPr>
          <a:xfrm>
            <a:off x="653796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운영 중 구성 전환 · 데이터 이전 경로</a:t>
            </a:r>
          </a:p>
        </p:txBody>
      </p:sp>
      <p:sp>
        <p:nvSpPr>
          <p:cNvPr id="93" name="Rectangle 92"/>
          <p:cNvSpPr/>
          <p:nvPr/>
        </p:nvSpPr>
        <p:spPr>
          <a:xfrm>
            <a:off x="9226296" y="5742431"/>
            <a:ext cx="2670048" cy="17007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9226296" y="5742431"/>
            <a:ext cx="2670048"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372600" y="5870447"/>
            <a:ext cx="2377440" cy="201168"/>
          </a:xfrm>
          <a:prstGeom prst="rect">
            <a:avLst/>
          </a:prstGeom>
          <a:noFill/>
        </p:spPr>
        <p:txBody>
          <a:bodyPr wrap="square" anchor="t" lIns="0" rIns="0" tIns="0" bIns="0">
            <a:spAutoFit/>
          </a:bodyPr>
          <a:lstStyle/>
          <a:p>
            <a:pPr algn="l">
              <a:lnSpc>
                <a:spcPct val="112000"/>
              </a:lnSpc>
            </a:pPr>
            <a:r>
              <a:rPr sz="1050" b="1">
                <a:solidFill>
                  <a:srgbClr val="8A8A8A"/>
                </a:solidFill>
                <a:latin typeface="Arial"/>
                <a:ea typeface="Arial"/>
              </a:rPr>
              <a:t>T4</a:t>
            </a:r>
          </a:p>
        </p:txBody>
      </p:sp>
      <p:sp>
        <p:nvSpPr>
          <p:cNvPr id="96" name="TextBox 95"/>
          <p:cNvSpPr txBox="1"/>
          <p:nvPr/>
        </p:nvSpPr>
        <p:spPr>
          <a:xfrm>
            <a:off x="937260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디바이스 → 호스트 경보</a:t>
            </a:r>
          </a:p>
        </p:txBody>
      </p:sp>
      <p:sp>
        <p:nvSpPr>
          <p:cNvPr id="97" name="Rectangle 96"/>
          <p:cNvSpPr/>
          <p:nvPr/>
        </p:nvSpPr>
        <p:spPr>
          <a:xfrm>
            <a:off x="937260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937260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배치 열화를 알리는 규격 없음</a:t>
            </a:r>
          </a:p>
        </p:txBody>
      </p:sp>
      <p:sp>
        <p:nvSpPr>
          <p:cNvPr id="99" name="TextBox 98"/>
          <p:cNvSpPr txBox="1"/>
          <p:nvPr/>
        </p:nvSpPr>
        <p:spPr>
          <a:xfrm>
            <a:off x="937260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비동기 이벤트 · 원인 코드 · 권고 조치</a:t>
            </a:r>
          </a:p>
        </p:txBody>
      </p:sp>
      <p:sp>
        <p:nvSpPr>
          <p:cNvPr id="100" name="Rectangle 99"/>
          <p:cNvSpPr/>
          <p:nvPr/>
        </p:nvSpPr>
        <p:spPr>
          <a:xfrm>
            <a:off x="12060936" y="5742431"/>
            <a:ext cx="2670048" cy="17007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2060936" y="5742431"/>
            <a:ext cx="2670048"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2207240" y="5870447"/>
            <a:ext cx="2377440" cy="201168"/>
          </a:xfrm>
          <a:prstGeom prst="rect">
            <a:avLst/>
          </a:prstGeom>
          <a:noFill/>
        </p:spPr>
        <p:txBody>
          <a:bodyPr wrap="square" anchor="t" lIns="0" rIns="0" tIns="0" bIns="0">
            <a:spAutoFit/>
          </a:bodyPr>
          <a:lstStyle/>
          <a:p>
            <a:pPr algn="l">
              <a:lnSpc>
                <a:spcPct val="112000"/>
              </a:lnSpc>
            </a:pPr>
            <a:r>
              <a:rPr sz="1050" b="1">
                <a:solidFill>
                  <a:srgbClr val="8A8A8A"/>
                </a:solidFill>
                <a:latin typeface="Arial"/>
                <a:ea typeface="Arial"/>
              </a:rPr>
              <a:t>T5</a:t>
            </a:r>
          </a:p>
        </p:txBody>
      </p:sp>
      <p:sp>
        <p:nvSpPr>
          <p:cNvPr id="103" name="TextBox 102"/>
          <p:cNvSpPr txBox="1"/>
          <p:nvPr/>
        </p:nvSpPr>
        <p:spPr>
          <a:xfrm>
            <a:off x="1220724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정책 엔진 · 안전장치</a:t>
            </a:r>
          </a:p>
        </p:txBody>
      </p:sp>
      <p:sp>
        <p:nvSpPr>
          <p:cNvPr id="104" name="Rectangle 103"/>
          <p:cNvSpPr/>
          <p:nvPr/>
        </p:nvSpPr>
        <p:spPr>
          <a:xfrm>
            <a:off x="1220724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220724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수동 조치</a:t>
            </a:r>
          </a:p>
        </p:txBody>
      </p:sp>
      <p:sp>
        <p:nvSpPr>
          <p:cNvPr id="106" name="TextBox 105"/>
          <p:cNvSpPr txBox="1"/>
          <p:nvPr/>
        </p:nvSpPr>
        <p:spPr>
          <a:xfrm>
            <a:off x="1220724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오실레이션 방지 · 성능 영향 상한 · 롤백</a:t>
            </a:r>
          </a:p>
        </p:txBody>
      </p:sp>
      <p:sp>
        <p:nvSpPr>
          <p:cNvPr id="107" name="Rectangle 106"/>
          <p:cNvSpPr/>
          <p:nvPr/>
        </p:nvSpPr>
        <p:spPr>
          <a:xfrm>
            <a:off x="14895576" y="5742431"/>
            <a:ext cx="2670048" cy="17007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4895576" y="5742431"/>
            <a:ext cx="2670048"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5041880" y="5870447"/>
            <a:ext cx="2377440" cy="201168"/>
          </a:xfrm>
          <a:prstGeom prst="rect">
            <a:avLst/>
          </a:prstGeom>
          <a:noFill/>
        </p:spPr>
        <p:txBody>
          <a:bodyPr wrap="square" anchor="t" lIns="0" rIns="0" tIns="0" bIns="0">
            <a:spAutoFit/>
          </a:bodyPr>
          <a:lstStyle/>
          <a:p>
            <a:pPr algn="l">
              <a:lnSpc>
                <a:spcPct val="112000"/>
              </a:lnSpc>
            </a:pPr>
            <a:r>
              <a:rPr sz="1050" b="1">
                <a:solidFill>
                  <a:srgbClr val="8A8A8A"/>
                </a:solidFill>
                <a:latin typeface="Arial"/>
                <a:ea typeface="Arial"/>
              </a:rPr>
              <a:t>T6</a:t>
            </a:r>
          </a:p>
        </p:txBody>
      </p:sp>
      <p:sp>
        <p:nvSpPr>
          <p:cNvPr id="110" name="TextBox 109"/>
          <p:cNvSpPr txBox="1"/>
          <p:nvPr/>
        </p:nvSpPr>
        <p:spPr>
          <a:xfrm>
            <a:off x="1504188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검증 환경</a:t>
            </a:r>
          </a:p>
        </p:txBody>
      </p:sp>
      <p:sp>
        <p:nvSpPr>
          <p:cNvPr id="111" name="Rectangle 110"/>
          <p:cNvSpPr/>
          <p:nvPr/>
        </p:nvSpPr>
        <p:spPr>
          <a:xfrm>
            <a:off x="1504188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04188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실드라이브 실험만</a:t>
            </a:r>
          </a:p>
        </p:txBody>
      </p:sp>
      <p:sp>
        <p:nvSpPr>
          <p:cNvPr id="113" name="TextBox 112"/>
          <p:cNvSpPr txBox="1"/>
          <p:nvPr/>
        </p:nvSpPr>
        <p:spPr>
          <a:xfrm>
            <a:off x="1504188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FDP 에뮬레이터 · 트레이스 재생 회귀</a:t>
            </a:r>
          </a:p>
        </p:txBody>
      </p:sp>
      <p:sp>
        <p:nvSpPr>
          <p:cNvPr id="114" name="Rectangle 113"/>
          <p:cNvSpPr/>
          <p:nvPr/>
        </p:nvSpPr>
        <p:spPr>
          <a:xfrm>
            <a:off x="722376" y="7571231"/>
            <a:ext cx="16843248" cy="566928"/>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41832" y="7626096"/>
            <a:ext cx="8595360" cy="219456"/>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규격 과제  </a:t>
            </a:r>
            <a:r>
              <a:rPr sz="1000" b="0">
                <a:solidFill>
                  <a:srgbClr val="555555"/>
                </a:solidFill>
                <a:latin typeface="Arial"/>
                <a:ea typeface="Arial"/>
              </a:rPr>
              <a:t>NVMe 런타임 FDP 재구성 · 핸들별 기록량 필드 · 배치 열화 이벤트 / OCP 텔레메트리 필드와 수용 기준</a:t>
            </a:r>
          </a:p>
        </p:txBody>
      </p:sp>
      <p:sp>
        <p:nvSpPr>
          <p:cNvPr id="116" name="TextBox 115"/>
          <p:cNvSpPr txBox="1"/>
          <p:nvPr/>
        </p:nvSpPr>
        <p:spPr>
          <a:xfrm>
            <a:off x="941832" y="7845552"/>
            <a:ext cx="8595360" cy="219456"/>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보증 조항  </a:t>
            </a:r>
            <a:r>
              <a:rPr sz="1000" b="0">
                <a:solidFill>
                  <a:srgbClr val="555555"/>
                </a:solidFill>
                <a:latin typeface="Arial"/>
                <a:ea typeface="Arial"/>
              </a:rPr>
              <a:t>기준은 관행대로 TBW 선도달 · 유효 DWPD는 부가 표기 · 대응 이력과 재측정 리포트를 계약 부속으로</a:t>
            </a:r>
          </a:p>
        </p:txBody>
      </p:sp>
      <p:sp>
        <p:nvSpPr>
          <p:cNvPr id="117" name="TextBox 116"/>
          <p:cNvSpPr txBox="1"/>
          <p:nvPr/>
        </p:nvSpPr>
        <p:spPr>
          <a:xfrm>
            <a:off x="9866376" y="7626096"/>
            <a:ext cx="7479792" cy="438912"/>
          </a:xfrm>
          <a:prstGeom prst="rect">
            <a:avLst/>
          </a:prstGeom>
          <a:noFill/>
        </p:spPr>
        <p:txBody>
          <a:bodyPr wrap="square" anchor="ctr" lIns="0" rIns="0" tIns="0" bIns="0">
            <a:spAutoFit/>
          </a:bodyPr>
          <a:lstStyle/>
          <a:p>
            <a:pPr algn="l">
              <a:lnSpc>
                <a:spcPct val="104000"/>
              </a:lnSpc>
            </a:pPr>
            <a:r>
              <a:rPr sz="1050" b="1">
                <a:solidFill>
                  <a:srgbClr val="1428A0"/>
                </a:solidFill>
                <a:latin typeface="Arial"/>
                <a:ea typeface="Arial"/>
              </a:rPr>
              <a:t>기술이 흡수한 만큼만 계약에 남깁니다. 고객에게 조건을 요구하는 대신 삼성이 되돌립니다</a:t>
            </a:r>
          </a:p>
        </p:txBody>
      </p:sp>
      <p:sp>
        <p:nvSpPr>
          <p:cNvPr id="118" name="Rectangle 117"/>
          <p:cNvSpPr/>
          <p:nvPr/>
        </p:nvSpPr>
        <p:spPr>
          <a:xfrm>
            <a:off x="722376" y="8321040"/>
            <a:ext cx="16843248"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33856" y="8321040"/>
            <a:ext cx="1463040" cy="96926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요약</a:t>
            </a:r>
          </a:p>
        </p:txBody>
      </p:sp>
      <p:sp>
        <p:nvSpPr>
          <p:cNvPr id="120" name="Rectangle 119"/>
          <p:cNvSpPr/>
          <p:nvPr/>
        </p:nvSpPr>
        <p:spPr>
          <a:xfrm>
            <a:off x="2551176"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697480"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1 문제</a:t>
            </a:r>
          </a:p>
          <a:p>
            <a:pPr algn="l">
              <a:lnSpc>
                <a:spcPct val="102000"/>
              </a:lnSpc>
            </a:pPr>
            <a:r>
              <a:rPr sz="975" b="0">
                <a:solidFill>
                  <a:srgbClr val="FFFFFF"/>
                </a:solidFill>
                <a:latin typeface="Arial"/>
                <a:ea typeface="Arial"/>
              </a:rPr>
              <a:t>요구 이동: 고용량</a:t>
            </a:r>
          </a:p>
          <a:p>
            <a:pPr algn="l">
              <a:lnSpc>
                <a:spcPct val="102000"/>
              </a:lnSpc>
            </a:pPr>
            <a:r>
              <a:rPr sz="975" b="0">
                <a:solidFill>
                  <a:srgbClr val="FFFFFF"/>
                </a:solidFill>
                <a:latin typeface="Arial"/>
                <a:ea typeface="Arial"/>
              </a:rPr>
              <a:t>1~3 DWPD · 2~5배 격차</a:t>
            </a:r>
          </a:p>
        </p:txBody>
      </p:sp>
      <p:sp>
        <p:nvSpPr>
          <p:cNvPr id="122" name="Right Arrow 121"/>
          <p:cNvSpPr/>
          <p:nvPr/>
        </p:nvSpPr>
        <p:spPr>
          <a:xfrm>
            <a:off x="4748784"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059680"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205984"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2 신뢰성</a:t>
            </a:r>
          </a:p>
          <a:p>
            <a:pPr algn="l">
              <a:lnSpc>
                <a:spcPct val="102000"/>
              </a:lnSpc>
            </a:pPr>
            <a:r>
              <a:rPr sz="975" b="0">
                <a:solidFill>
                  <a:srgbClr val="FFFFFF"/>
                </a:solidFill>
                <a:latin typeface="Arial"/>
                <a:ea typeface="Arial"/>
              </a:rPr>
              <a:t>다이 수 증가</a:t>
            </a:r>
          </a:p>
          <a:p>
            <a:pPr algn="l">
              <a:lnSpc>
                <a:spcPct val="102000"/>
              </a:lnSpc>
            </a:pPr>
            <a:r>
              <a:rPr sz="975" b="0">
                <a:solidFill>
                  <a:srgbClr val="FFFFFF"/>
                </a:solidFill>
                <a:latin typeface="Arial"/>
                <a:ea typeface="Arial"/>
              </a:rPr>
              <a:t>SSD 내부에서 해결</a:t>
            </a:r>
          </a:p>
        </p:txBody>
      </p:sp>
      <p:sp>
        <p:nvSpPr>
          <p:cNvPr id="125" name="Right Arrow 124"/>
          <p:cNvSpPr/>
          <p:nvPr/>
        </p:nvSpPr>
        <p:spPr>
          <a:xfrm>
            <a:off x="7257288"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7568184"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7714488"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3 해법 사다리</a:t>
            </a:r>
          </a:p>
          <a:p>
            <a:pPr algn="l">
              <a:lnSpc>
                <a:spcPct val="102000"/>
              </a:lnSpc>
            </a:pPr>
            <a:r>
              <a:rPr sz="975" b="0">
                <a:solidFill>
                  <a:srgbClr val="FFFFFF"/>
                </a:solidFill>
                <a:latin typeface="Arial"/>
                <a:ea typeface="Arial"/>
              </a:rPr>
              <a:t>WAF는 SSD 밖 호스트에</a:t>
            </a:r>
          </a:p>
          <a:p>
            <a:pPr algn="l">
              <a:lnSpc>
                <a:spcPct val="102000"/>
              </a:lnSpc>
            </a:pPr>
            <a:r>
              <a:rPr sz="975" b="0">
                <a:solidFill>
                  <a:srgbClr val="FFFFFF"/>
                </a:solidFill>
                <a:latin typeface="Arial"/>
                <a:ea typeface="Arial"/>
              </a:rPr>
              <a:t>고객 협업 · 새 역량</a:t>
            </a:r>
          </a:p>
        </p:txBody>
      </p:sp>
      <p:sp>
        <p:nvSpPr>
          <p:cNvPr id="128" name="Right Arrow 127"/>
          <p:cNvSpPr/>
          <p:nvPr/>
        </p:nvSpPr>
        <p:spPr>
          <a:xfrm>
            <a:off x="9765792"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10076688"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10222992"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4 역량</a:t>
            </a:r>
          </a:p>
          <a:p>
            <a:pPr algn="l">
              <a:lnSpc>
                <a:spcPct val="102000"/>
              </a:lnSpc>
            </a:pPr>
            <a:r>
              <a:rPr sz="975" b="0">
                <a:solidFill>
                  <a:srgbClr val="FFFFFF"/>
                </a:solidFill>
                <a:latin typeface="Arial"/>
                <a:ea typeface="Arial"/>
              </a:rPr>
              <a:t>디바이스 → 워크로드</a:t>
            </a:r>
          </a:p>
          <a:p>
            <a:pPr algn="l">
              <a:lnSpc>
                <a:spcPct val="102000"/>
              </a:lnSpc>
            </a:pPr>
            <a:r>
              <a:rPr sz="975" b="0">
                <a:solidFill>
                  <a:srgbClr val="FFFFFF"/>
                </a:solidFill>
                <a:latin typeface="Arial"/>
                <a:ea typeface="Arial"/>
              </a:rPr>
              <a:t>→ 고객 시스템</a:t>
            </a:r>
          </a:p>
        </p:txBody>
      </p:sp>
      <p:sp>
        <p:nvSpPr>
          <p:cNvPr id="131" name="Right Arrow 130"/>
          <p:cNvSpPr/>
          <p:nvPr/>
        </p:nvSpPr>
        <p:spPr>
          <a:xfrm>
            <a:off x="12274296"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2585192"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2731496"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5 실행</a:t>
            </a:r>
          </a:p>
          <a:p>
            <a:pPr algn="l">
              <a:lnSpc>
                <a:spcPct val="102000"/>
              </a:lnSpc>
            </a:pPr>
            <a:r>
              <a:rPr sz="975" b="0">
                <a:solidFill>
                  <a:srgbClr val="FFFFFF"/>
                </a:solidFill>
                <a:latin typeface="Arial"/>
                <a:ea typeface="Arial"/>
              </a:rPr>
              <a:t>FDE 선별 집중</a:t>
            </a:r>
          </a:p>
          <a:p>
            <a:pPr algn="l">
              <a:lnSpc>
                <a:spcPct val="102000"/>
              </a:lnSpc>
            </a:pPr>
            <a:r>
              <a:rPr sz="975" b="0">
                <a:solidFill>
                  <a:srgbClr val="FFFFFF"/>
                </a:solidFill>
                <a:latin typeface="Arial"/>
                <a:ea typeface="Arial"/>
              </a:rPr>
              <a:t>개발실 자원 투입</a:t>
            </a:r>
          </a:p>
        </p:txBody>
      </p:sp>
      <p:sp>
        <p:nvSpPr>
          <p:cNvPr id="134" name="Right Arrow 133"/>
          <p:cNvSpPr/>
          <p:nvPr/>
        </p:nvSpPr>
        <p:spPr>
          <a:xfrm>
            <a:off x="14782800"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5093696" y="8449056"/>
            <a:ext cx="2106168" cy="713232"/>
          </a:xfrm>
          <a:prstGeom prst="rect">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5240000" y="8503920"/>
            <a:ext cx="1813560" cy="621792"/>
          </a:xfrm>
          <a:prstGeom prst="rect">
            <a:avLst/>
          </a:prstGeom>
          <a:noFill/>
        </p:spPr>
        <p:txBody>
          <a:bodyPr wrap="square" anchor="ctr" lIns="0" rIns="0" tIns="0" bIns="0">
            <a:spAutoFit/>
          </a:bodyPr>
          <a:lstStyle/>
          <a:p>
            <a:pPr algn="l">
              <a:lnSpc>
                <a:spcPct val="102000"/>
              </a:lnSpc>
            </a:pPr>
            <a:r>
              <a:rPr sz="1125" b="1">
                <a:solidFill>
                  <a:srgbClr val="1428A0"/>
                </a:solidFill>
                <a:latin typeface="Arial"/>
                <a:ea typeface="Arial"/>
              </a:rPr>
              <a:t>6 대응 · 보증</a:t>
            </a:r>
          </a:p>
          <a:p>
            <a:pPr algn="l">
              <a:lnSpc>
                <a:spcPct val="102000"/>
              </a:lnSpc>
            </a:pPr>
            <a:r>
              <a:rPr sz="975" b="1">
                <a:solidFill>
                  <a:srgbClr val="1A1A1A"/>
                </a:solidFill>
                <a:latin typeface="Arial"/>
                <a:ea typeface="Arial"/>
              </a:rPr>
              <a:t>WAF 급등 감지 ·</a:t>
            </a:r>
          </a:p>
          <a:p>
            <a:pPr algn="l">
              <a:lnSpc>
                <a:spcPct val="102000"/>
              </a:lnSpc>
            </a:pPr>
            <a:r>
              <a:rPr sz="975" b="1">
                <a:solidFill>
                  <a:srgbClr val="1A1A1A"/>
                </a:solidFill>
                <a:latin typeface="Arial"/>
                <a:ea typeface="Arial"/>
              </a:rPr>
              <a:t>런타임 대응 기술 확보</a:t>
            </a:r>
          </a:p>
        </p:txBody>
      </p:sp>
      <p:sp>
        <p:nvSpPr>
          <p:cNvPr id="137" name="TextBox 13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OCP 사양(SMART C0), NVMe TP4146 FDP 구성 정의, FAST'26 WARP(배치 실패 조건·에뮬레이터), 삼성 PM9A3·Micron 보증 정책 · 목표 동작 곡선은 모식도(⚠️)</a:t>
            </a:r>
          </a:p>
        </p:txBody>
      </p:sp>
      <p:sp>
        <p:nvSpPr>
          <p:cNvPr id="138" name="TextBox 13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06 / 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