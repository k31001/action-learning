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DWPD를 높일 해법이 필요한 상황임을 세웁니다. 상단 타임라인의 세 구간이 아래 세 패널과 정렬돼 있습니다. 과거의 교훈, 지금 요구의 이동, 그리고 해법이 필요한 문제입니다. 왼쪽 패널, 교훈. DT19(재고 조정, -37.6%)와 DT23(최대 낙폭 -45%, 진앙 eSSD)에서 세 가지를 배웠습니다. 교훈 1 수요 센싱: 수요 신호는 발주보다 약 2년 먼저 고객의 규격·표준·소스 코드에 나타납니다. 2022년 12월 데이터 배치 표준 비준이 2024년 비트 출하 30EB로 이어졌고, 지금의 등가 신호는 KV 캐시 관리자 코드에 배치·내구성 규격이 미정의라는 사실입니다. 교훈 2 고객 협업: 규격 정의에 참여한 공급자가 선점했습니다. Solidigm은 61TB QLC를 12개월 먼저 출시했고, HBM4는 NVIDIA와 규격을 공동 정의한 SK hynix가 주도권을 확보했습니다. 교훈 3 의사결정 시점: 직전 다운턴의 결정이 다음 다운턴의 초기 조건입니다. DT19의 무감산 성공이 DT23 국면 오판으로, HBM 조직 축소가 주도권 상실로 이어졌고, 차기 전환점은 2027년 하반기 가격 정상화 국면입니다. 각 교훈 끝의 번호는 이 덱에서 그 교훈을 받는 장입니다. 가운데 패널, 지금 요구의 이동. 구매 기준은 TB당 TCO(원가·전력·밀도)에서 GPU당 컨텍스트 용량·토큰당 비용으로, 드라이브 용량은 61TB(2023)에서 245TB(2025, 다이 8배)로, 요구 DWPD는 읽기 중심 0.3~0.6에서 KV 캐시 쓰기 집약 1~3으로 이동했습니다. 세 국면의 구매 기준은 일관되게 TB당 TCO였고, 바뀐 것은 쓰기 비중과 용량입니다. 오른쪽 패널, 문제. 동급 용량으로 비교하면 61TB QLC 정격 0.58~1.0(P5336·6550 ION), 245TB QLC 0.3(LC9)과 KV 캐시 계층 TLC 1~3(CM9) 사이에는 2~10배 격차가 있습니다. 최저 정격 0.075와 3을 짝지은 극단 조합만 40배입니다. KV 캐시의 쓰기 강도 자체도 프레임워크에 따라 크게 달라(CHEOPS 2025: 읽기 2.0GiB/s vs 쓰기 11MiB/s) 실측이 필요합니다. 수요 모델은 QLC 비트 2025년 대비 2030년 10배, 2030년 추론 캐시 계층 수요 350EB입니다. 그래서 고용량 QLC에서 DWPD를 높일 해법이 필요합니다. 어느 계층이 해결할 수 있는가가 2장의 질문입니다. 송용호 AX/PI센터장의 인용은 그 답이 고객 시스템의 이해에서 나와야 함을 시사합니다. 근거는 위키 qlc-ssd-market.md §3.4·§3.5, 수요 모델은 §4.3.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이관 매트릭스입니다. 1장의 문제(고용량 QLC의 DWPD 격차)를 받아, 지금까지 단품이 못 푼 문제를 어느 계층이 풀어 왔는지의 경향을 보이고 호스트 시스템 수준 해법이 왜 필요한지를 세웁니다. 열은 이관 단계(요구 → 단품 지표 → SSD 계층의 보상 → 호스트·시스템 계층의 보상), 행은 내구성 축입니다. 산식 DWPD = P/E × (1+OP) ÷ WAF ÷ 365 × 년의 각 항은 결정 주체가 열과 대응합니다. 요구: 추론 캐시 계층 제품은 DWPD 1~3(TLC), UBER는 JESD218 기준으로 고정입니다. 단품: P/E 사이클은 SLC 30K~100K에서 QLC 100~1K로 100배 감소, RBER은 약 백만 배 상승했고 셀은 시간에 따라 변하는 산포를 단독으로 보정하지 못합니다. SSD 계층: 1단계 컨트롤러 ECC(1비트/512B → LDPC 120비트/KB, 60배)는 UBER 요구를 충족해 완결됐습니다. 2단계 SSD 단독 워크로드 최적화(2014~2019: Multi-stream·AutoStream·FTL 핫/콜드 추정·NVMe IO 결정성)는 QoS·성능은 개선했으나 데이터 수명을 SSD가 감지할 수 없어 실 워크로드 WAF는 3 수준에 머물렀고, 정격 DWPD는 17에서 0.4로 내려왔습니다. 호스트·시스템 계층: 3단계 호스트 공동 설계는 호스트가 데이터 수명을 지정해 WAF를 약 3에서 약 1로 낮춥니다. 범용 랜덤 워크로드 실측(삼성·NVM Express, 50% 사용률)과 CacheLib 실측(3.22 → 1.03)이 근거이고, 데이터베이스 영역에서는 호스트 쓰기 패턴만으로 SSD WAF 1을 보장한 VLDB 2026 연구가 있습니다. 다만 KV 캐시 워크로드의 FDP WAF 실측은 공개 문헌에 없으므로 이 장의 주장은 검증할 가설이며, 4장 Phase 2 실측이 그 검증입니다. 하단 지렛대 스트립이 이 장의 핵심 정정입니다. 호스트 배치 하나로는 격차가 닫히지 않습니다. WAF 지렛대는 유효 DWPD 약 2.9배이고, 동급 비교 격차는 2~10배이므로 다이 세대(P/E), OP, SLC 캐시·쓰기 정형, 보증연수·TBW 기준, 워크로드 재정의(어드미션·TLC 혼합 계층)와 결합해야 요구에 도달합니다. 이 축들은 모두 병행 중이며 본 보고는 호스트 축만 다룹니다. 호스트·고객 쪽 지렛대가 다수라는 점이 공동 설계의 근거입니다. 결론: 호스트 공동 설계는 QLC DWPD의 남은 지렛대이며, 다른 축과 결합해 격차를 닫습니다. 신뢰성 축(다이 수·고장률)은 호스트가 아니라 SSD가 풀 문제라 3장에서 따로 다룹니다. 근거 등급은 보고서 부록 A F28~F54에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신뢰성 축입니다. 2장의 내구성 축과 구조는 같지만 해결 주체가 다릅니다. 요구는 JESD218 기능 고장률 FFR 3% 이하로 고정인데, SSD당 NAND 다이 수는 S3700 800GB 128개(2012)에서 Kioxia LC9 245TB 1,024개(2025, 2Tb 다이 32단 스택 32패키지)로 8배 늘었습니다. 보호가 없으면 SSD 고장률은 다이 수 N에 비례하므로, 같은 FFR을 지키기 위한 다이 고장률 상한은 1−0.97^(1/N)로 128다이에서 2.4×10⁻⁴, 1,024다이에서 3.0×10⁻⁵입니다. 8배 엄격해진 것입니다. 칩 면적이 커질수록 수율이 떨어지는 포아송 모델과 같은 구조이며, 다이 고장률 개선은 기술적 한계에 접근하고 있습니다. 해법은 다이가 아니라 SSD 계층에 있습니다. 단일 다이 고장을 허용하면 상한이 p에서 p² 차수로 완화되기 때문입니다(독립 고장 모델, 오른쪽 차트의 점선). 첫째, 다이 패리티: 슈퍼페이지를 여러 다이에 걸쳐 구성하고 패리티 다이에 XOR를 저장해 단일 다이 고장을 복구합니다(Micron RAIN, Cai 외 논문). 비용은 패리티 다이 용량이며 다이 수가 늘수록 스트라이프 설계를 재최적화해야 합니다. 둘째, 여분 다이·다이 은퇴·감량 운영: 고장 다이를 감지해 데이터를 재배치하고 고장 다이를 제외한 채 운영합니다. 삼성 PM1733의 Fail-in-Place가 플레인 4GB·다이 8GB 감량 운영으로 이를 상용화했습니다. 비용은 예비 용량과 감량 시 고객 용량 계약 조건입니다. 셋째, 텔레메트리·사전 예측: 다이별 RBER 추이·XOR 복구 횟수·리드 리트라이로 징후를 감지해 사전 은퇴시킵니다. OCP SMART Cloud Health 로그의 XOR 복구 카운트가 표준 필드입니다. 호스트·플랫폼은 관측과 수용만 합니다. SSD가 노출한 지표를 관측하고(OCP SMART C0), 감량 운영을 플랫폼이 수용하며(Microsoft Hyrax), 드라이브 간 소거 부호가 SSD 단위 고장을 흡수합니다. 다이 고장의 해결 주체는 SSD이고 호스트 협력은 규격에 한정됩니다. 삼성 과제는 1,024다이급에서 패리티·예비 비율을 FFR과 용량 오버헤드 사이에서 재최적화하고, FIP 감량 정책과 텔레메트리 필드를 OCP에 규격으로 제안하며, 다이 고장 예측 모델을 6장의 수명 보증과 연결하는 것입니다. 결론: 이 축은 SSD 안에서 흡수하고 호스트에는 지표만 제공합니다. 내구성 격차를 해소하는 역량이 4장입니다. 근거는 소스 §9 F41~F47, 고장률 상한은 독립 고장 모델입니다.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해법의 제안입니다. 1장이 제기한 내구성 격차를 해소하는 경로이며, 2장의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격차(QLC 정격 0.075~0.6 vs TLC 1~3 DWPD, 10~40배), 스트림 격차(RUH 2~8 vs 200 이상),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RUH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정직하게 Phase 1 진행 중입니다. CMX 첫 공급은 TLC이고 QLC 라인의 RUH는 2~8개로 200개 이상에 미달하며 DWPD가 미공개입니다. Phase 2는 준비 단계로 KV cache 백서 2종으로 측정 역량은 있으나 트레이스 기반 실측이 미공개이고, Phase 3는 캐시 관리자 4종 기여 0건으로 미착수입니다. 오케스트레이션 자체는 만들지 않습니다. 결론: 단계마다 고객 보증 범위가 원가·전력 → 워크로드 수명 → 시스템 TCO로 확장되며, 3단계에 진입하는 수단(선별된 고객에의 FDE·업스트림·규격 채널)과 개발실 내부 실행이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4장의 3단계에 진입하는 수단을 고객 유형별로 나누고, 개발실 내부에서 실행 가능한 범위만 담았습니다. 리드의 인용은 송용호 AX/PI센터장의 발언입니다. FDE 상주는 모든 고객에 적용하지 않습니다. 조건은 세 가지입니다. 트레이스와 KV 수명 정책 접근을 허용하는가, 캐시 관리자 코드를 자체 운영하는가, 물량과 규격 파급력이 있는가. 이 조건을 만족하는 AI 랩(Anthropic·OpenAI)과 NVIDIA 생태계(CMX·Dynamo KVBM·NIXL)에 Pod 3~5명을 집중합니다. AI 랩은 전략적 협약의 공동 설계 조항으로 접근하며 Micron↔Anthropic이 선례이고, 캐시 관리자 정책을 함께 정의해 수명 보증 레퍼런스를 확보합니다. NVIDIA 생태계는 CMX 첫 공급 관계를 활용해 KVBM 플러그인을 메인라인에 머지하고 생태계 기본 디바이스가 됩니다. 하이퍼스케일러는 보안·중립성 때문에 내부 코드 상주가 불가하므로 OCP 규격과 업스트림(CacheLib·XFS·커널) 채널로 협업합니다. OEM·네오클라우드는 자체 캐시 스택이 없으므로 레퍼런스 스택(vLLM + LMCache + 삼성 QLC)과 공용 TCO 모델로 확산합니다. 개발실 내부 실행은 별도 투자 없이 개발 자원 재배치로 합니다. 조직: 시스템 소프트웨어 조직 강화, 개발실 소속 Co-Design Pod, 미주 법인 협업. 인사: 고객 코드를 읽고 고칠 수 있는 시스템 SW 전문가 채용·양성(정원 내), 본사 엔지니어 상주 로테이션, 성과 평가는 머지·실측 공개·디자인인. 문화: 오픈소스 메인테이너 배출, 업스트림 우선, KV 캐시 실측 업계 최초 공개. 자회사 설립, 별도 보상 체계, 지분 참여, 결정 요청은 위키에만 두고 덱에서는 제외했습니다. 단계별 통과 조건은 90일(등대 고객 트레이스 확보·KV 캐시 실측 공개·플러그인 PR), 12개월(메인라인 머지·유효 DWPD 1 이상 실증·조건부 보증 초안), 2027년 상반기(디자인인 1사·협약 공동 설계 조항 제안·레퍼런스 스택 공개)이며 각 단계의 증명이 다음 단계의 승인 근거입니다. 판돈은 락인으로 얻는 점유율입니다. 수요 모델에서 2030년 추론 캐시 계층 350EB 중 QLC는 호스트 협력이 성립할 때 조건부 상방 175EB(50%)이고, 성립하지 않으면 TLC가 유지됩니다. 디자인인 1사당 점유율 변화는 사내 수치로 확인합니다. 비용은 Pod 인력 3~5명 × 1~2사 재배치와 정원 내 채용이며 별도 투자가 없습니다. 실행의 마지막 리스크인 수명 보증·SLA가 6장입니다.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6장은 수명 보증과 SLA 리스크입니다. 4장·5장의 전략은 고객 시스템 위에서 유효 DWPD를 보증하는 수익 모델을 전제하는데, 그 보증은 워크로드 변화 리스크를 삼성이 떠안는 구조입니다. 관행은 5년 또는 TBW·DWPD 선도달 보증이고, 정격 DWPD는 WAF 약 3(랜덤 4KB) 기준으로 산정됩니다. 호스트 배치로 WAF가 1에 가까우면 유효 DWPD는 정격의 약 3배가 되지만, WAF가 오르면 그대로 내려갑니다. 왼쪽 차트에서 정격 0.58(61TB QLC)은 WAF 1.74에서 보증선 1.0 아래로 내려가고, 정격 0.3(245TB)은 WAF 1.0에서도 0.9에 그칩니다. 리스크 시나리오는 세 가지입니다. 첫째, 워크로드 변화: 퇴거 정책·프리픽스 재사용률·세션 길이가 바뀌면 데이터 수명 분포가 바뀌어 WAF가 오릅니다. KV 캐시 오프로드의 쓰기 강도 자체가 프레임워크에 따라 크게 다릅니다(CHEOPS 2025). 둘째, 오분류·RUH 간섭: FAST'26 WARP는 수명 오분류와 RUH 간 간섭이 격리를 깨면 다른 핸들의 WAF까지 오른다고 보고합니다. 셋째, 고객 스택 업데이트: 캐시 관리자나 I/O 라이브러리 버전이 바뀌어 배치 힌트가 사라지면 정격 WAF 3으로 회귀합니다. 결과는 보증 기간 내 TBW 조기 소진과 RMA·교체 비용입니다. 설계 원칙은 다섯 가지입니다. 첫째, 보증 기준은 관행대로 TBW·물리 매체 기록량 선도달로 두고 유효 DWPD는 부가 표기로만 씁니다. 둘째, 유효 DWPD는 WAF 밴드별 조건부 등급으로 표기합니다. 셋째, OCP SMART C0의 물리 매체 기록량과 호스트 기록량으로 양측이 같은 WAF를 관측하고 분기 실측 리포트를 계약 부속으로 둡니다. 넷째, RUH 매핑 가이드와 캐시 관리자 정책을 준수할 때만 유효 DWPD를 적용하고 미준수·힌트 손실 시 정격 기준으로 자동 복귀합니다. 다섯째, WAF 초과가 지속되면 등급 재조정 또는 감량 운영으로 대응하며 무상 교체가 아니라 조건 재설정입니다. 이 설계는 5장의 텔레메트리·실측 공개 실행 항목과 3장의 감량 운영 정책을 계약 언어로 옮긴 것입니다. 하단 요약 체인은 6장의 논리입니다.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호스트인가</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SSD가 풀 문제</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AI 추론 수요는 고용량 QLC에 높은 DWPD를 요구하며, 이를 충족할 해법이 필요한 상황입니다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두 다운턴의 교훈은 요구를 고객 시스템 안에서 먼저 관측하라는 것이었고, 지금 그 요구는 대용량과 높은 DWPD로 이동하고 있습니다.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96696" y="3154680"/>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974372" y="3044952"/>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791492" y="3310128"/>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35" name="Rectangle 34"/>
          <p:cNvSpPr/>
          <p:nvPr/>
        </p:nvSpPr>
        <p:spPr>
          <a:xfrm>
            <a:off x="6536862" y="3044952"/>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53982" y="3310128"/>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37" name="Rectangle 36"/>
          <p:cNvSpPr/>
          <p:nvPr/>
        </p:nvSpPr>
        <p:spPr>
          <a:xfrm>
            <a:off x="13380598" y="3044952"/>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106278" y="3310128"/>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39" name="TextBox 38"/>
          <p:cNvSpPr txBox="1"/>
          <p:nvPr/>
        </p:nvSpPr>
        <p:spPr>
          <a:xfrm>
            <a:off x="630936"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40" name="TextBox 39"/>
          <p:cNvSpPr txBox="1"/>
          <p:nvPr/>
        </p:nvSpPr>
        <p:spPr>
          <a:xfrm>
            <a:off x="3238073"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41" name="TextBox 40"/>
          <p:cNvSpPr txBox="1"/>
          <p:nvPr/>
        </p:nvSpPr>
        <p:spPr>
          <a:xfrm>
            <a:off x="5845210"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42" name="TextBox 41"/>
          <p:cNvSpPr txBox="1"/>
          <p:nvPr/>
        </p:nvSpPr>
        <p:spPr>
          <a:xfrm>
            <a:off x="8452347"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43" name="TextBox 42"/>
          <p:cNvSpPr txBox="1"/>
          <p:nvPr/>
        </p:nvSpPr>
        <p:spPr>
          <a:xfrm>
            <a:off x="11059485"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44" name="TextBox 43"/>
          <p:cNvSpPr txBox="1"/>
          <p:nvPr/>
        </p:nvSpPr>
        <p:spPr>
          <a:xfrm>
            <a:off x="13666622"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45" name="TextBox 44"/>
          <p:cNvSpPr txBox="1"/>
          <p:nvPr/>
        </p:nvSpPr>
        <p:spPr>
          <a:xfrm>
            <a:off x="16273759"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46" name="Oval 45"/>
          <p:cNvSpPr/>
          <p:nvPr/>
        </p:nvSpPr>
        <p:spPr>
          <a:xfrm>
            <a:off x="2618183"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685848" y="2779776"/>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11175" y="2560320"/>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조직 축소</a:t>
            </a:r>
          </a:p>
        </p:txBody>
      </p:sp>
      <p:sp>
        <p:nvSpPr>
          <p:cNvPr id="49" name="Oval 48"/>
          <p:cNvSpPr/>
          <p:nvPr/>
        </p:nvSpPr>
        <p:spPr>
          <a:xfrm>
            <a:off x="7376208"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43874" y="3273552"/>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169200" y="3694176"/>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2022-12  </a:t>
            </a:r>
            <a:r>
              <a:rPr sz="1125" b="0">
                <a:solidFill>
                  <a:srgbClr val="555555"/>
                </a:solidFill>
                <a:latin typeface="Arial"/>
                <a:ea typeface="Arial"/>
              </a:rPr>
              <a:t>데이터 배치 표준 비준</a:t>
            </a:r>
          </a:p>
        </p:txBody>
      </p:sp>
      <p:sp>
        <p:nvSpPr>
          <p:cNvPr id="52" name="Oval 51"/>
          <p:cNvSpPr/>
          <p:nvPr/>
        </p:nvSpPr>
        <p:spPr>
          <a:xfrm>
            <a:off x="8158349"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226015" y="2779776"/>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51341" y="2560320"/>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2023-07  </a:t>
            </a:r>
            <a:r>
              <a:rPr sz="1125" b="0">
                <a:solidFill>
                  <a:srgbClr val="555555"/>
                </a:solidFill>
                <a:latin typeface="Arial"/>
                <a:ea typeface="Arial"/>
              </a:rPr>
              <a:t>Solidigm 61TB, 12개월 선행</a:t>
            </a:r>
          </a:p>
        </p:txBody>
      </p:sp>
      <p:sp>
        <p:nvSpPr>
          <p:cNvPr id="55" name="Oval 54"/>
          <p:cNvSpPr/>
          <p:nvPr/>
        </p:nvSpPr>
        <p:spPr>
          <a:xfrm>
            <a:off x="9722632"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790297" y="3273552"/>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515624" y="3694176"/>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  </a:t>
            </a:r>
            <a:r>
              <a:rPr sz="1125" b="0">
                <a:solidFill>
                  <a:srgbClr val="555555"/>
                </a:solidFill>
                <a:latin typeface="Arial"/>
                <a:ea typeface="Arial"/>
              </a:rPr>
              <a:t>비트 출하 30EB(4배)</a:t>
            </a:r>
          </a:p>
        </p:txBody>
      </p:sp>
      <p:sp>
        <p:nvSpPr>
          <p:cNvPr id="58" name="Oval 57"/>
          <p:cNvSpPr/>
          <p:nvPr/>
        </p:nvSpPr>
        <p:spPr>
          <a:xfrm>
            <a:off x="12134234"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2201899" y="2779776"/>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927226" y="2560320"/>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KV 캐시 배치 규격 미정의</a:t>
            </a:r>
          </a:p>
        </p:txBody>
      </p:sp>
      <p:sp>
        <p:nvSpPr>
          <p:cNvPr id="61" name="Oval 60"/>
          <p:cNvSpPr/>
          <p:nvPr/>
        </p:nvSpPr>
        <p:spPr>
          <a:xfrm>
            <a:off x="16827081"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6894747" y="3273552"/>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4522793" y="3694176"/>
            <a:ext cx="2596896" cy="219456"/>
          </a:xfrm>
          <a:prstGeom prst="rect">
            <a:avLst/>
          </a:prstGeom>
          <a:noFill/>
        </p:spPr>
        <p:txBody>
          <a:bodyPr wrap="square" anchor="t" lIns="0" rIns="0" tIns="0" bIns="0">
            <a:spAutoFit/>
          </a:bodyPr>
          <a:lstStyle/>
          <a:p>
            <a:pPr algn="r">
              <a:lnSpc>
                <a:spcPct val="112000"/>
              </a:lnSpc>
            </a:pPr>
            <a:r>
              <a:rPr sz="1125" b="1">
                <a:solidFill>
                  <a:srgbClr val="1A1A1A"/>
                </a:solidFill>
                <a:latin typeface="Arial"/>
                <a:ea typeface="Arial"/>
              </a:rPr>
              <a:t>2030  </a:t>
            </a:r>
            <a:r>
              <a:rPr sz="1125" b="0">
                <a:solidFill>
                  <a:srgbClr val="555555"/>
                </a:solidFill>
                <a:latin typeface="Arial"/>
                <a:ea typeface="Arial"/>
              </a:rPr>
              <a:t>비트 10배 · 매출 정체(e)</a:t>
            </a:r>
          </a:p>
        </p:txBody>
      </p:sp>
      <p:sp>
        <p:nvSpPr>
          <p:cNvPr id="64" name="Rectangle 63"/>
          <p:cNvSpPr/>
          <p:nvPr/>
        </p:nvSpPr>
        <p:spPr>
          <a:xfrm>
            <a:off x="722376" y="4059935"/>
            <a:ext cx="8031723"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22376" y="4059935"/>
            <a:ext cx="8031723"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60120" y="4206240"/>
            <a:ext cx="7556235"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교훈 · 두 다운턴이 가르친 것</a:t>
            </a:r>
            <a:r>
              <a:rPr sz="1050" b="0">
                <a:solidFill>
                  <a:srgbClr val="8A8A8A"/>
                </a:solidFill>
                <a:latin typeface="Arial"/>
                <a:ea typeface="Arial"/>
              </a:rPr>
              <a:t>   2018~2023</a:t>
            </a:r>
          </a:p>
        </p:txBody>
      </p:sp>
      <p:sp>
        <p:nvSpPr>
          <p:cNvPr id="67" name="Rectangle 66"/>
          <p:cNvSpPr/>
          <p:nvPr/>
        </p:nvSpPr>
        <p:spPr>
          <a:xfrm>
            <a:off x="960120" y="4517136"/>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60120" y="4608575"/>
            <a:ext cx="1207008" cy="1164336"/>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2년</a:t>
            </a:r>
          </a:p>
        </p:txBody>
      </p:sp>
      <p:sp>
        <p:nvSpPr>
          <p:cNvPr id="69" name="TextBox 68"/>
          <p:cNvSpPr txBox="1"/>
          <p:nvPr/>
        </p:nvSpPr>
        <p:spPr>
          <a:xfrm>
            <a:off x="2167128" y="4663439"/>
            <a:ext cx="2212848"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1 · </a:t>
            </a:r>
            <a:r>
              <a:rPr sz="1125" b="1">
                <a:solidFill>
                  <a:srgbClr val="1A1A1A"/>
                </a:solidFill>
                <a:latin typeface="Arial"/>
                <a:ea typeface="Arial"/>
              </a:rPr>
              <a:t>수요 센싱</a:t>
            </a:r>
          </a:p>
          <a:p>
            <a:pPr algn="l">
              <a:lnSpc>
                <a:spcPct val="106000"/>
              </a:lnSpc>
            </a:pPr>
            <a:r>
              <a:rPr sz="975" b="1">
                <a:solidFill>
                  <a:srgbClr val="1A1A1A"/>
                </a:solidFill>
                <a:latin typeface="Arial"/>
                <a:ea typeface="Arial"/>
              </a:rPr>
              <a:t>고객 규격·코드 신호가 발주·출하에 약 2년 선행</a:t>
            </a:r>
          </a:p>
          <a:p>
            <a:pPr algn="l">
              <a:lnSpc>
                <a:spcPct val="106000"/>
              </a:lnSpc>
            </a:pPr>
            <a:r>
              <a:rPr sz="900" b="0">
                <a:solidFill>
                  <a:srgbClr val="555555"/>
                </a:solidFill>
                <a:latin typeface="Arial"/>
                <a:ea typeface="Arial"/>
              </a:rPr>
              <a:t>총량 지표는 다운턴을, 고객 규격은 차기 요구를 보였다</a:t>
            </a:r>
          </a:p>
        </p:txBody>
      </p:sp>
      <p:sp>
        <p:nvSpPr>
          <p:cNvPr id="70" name="TextBox 69"/>
          <p:cNvSpPr txBox="1"/>
          <p:nvPr/>
        </p:nvSpPr>
        <p:spPr>
          <a:xfrm>
            <a:off x="4517136" y="4828031"/>
            <a:ext cx="694944" cy="219456"/>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규격·코드</a:t>
            </a:r>
          </a:p>
        </p:txBody>
      </p:sp>
      <p:sp>
        <p:nvSpPr>
          <p:cNvPr id="71" name="TextBox 70"/>
          <p:cNvSpPr txBox="1"/>
          <p:nvPr/>
        </p:nvSpPr>
        <p:spPr>
          <a:xfrm>
            <a:off x="4517136" y="5352287"/>
            <a:ext cx="694944" cy="219456"/>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발주·출하</a:t>
            </a:r>
          </a:p>
        </p:txBody>
      </p:sp>
      <p:sp>
        <p:nvSpPr>
          <p:cNvPr id="72" name="Rectangle 71"/>
          <p:cNvSpPr/>
          <p:nvPr/>
        </p:nvSpPr>
        <p:spPr>
          <a:xfrm>
            <a:off x="5230368" y="4937759"/>
            <a:ext cx="2874507" cy="1463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230368" y="5462015"/>
            <a:ext cx="2874507" cy="1463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ight Arrow 73"/>
          <p:cNvSpPr/>
          <p:nvPr/>
        </p:nvSpPr>
        <p:spPr>
          <a:xfrm>
            <a:off x="5611680" y="5099303"/>
            <a:ext cx="909283"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611680" y="5099303"/>
            <a:ext cx="836131" cy="201168"/>
          </a:xfrm>
          <a:prstGeom prst="rect">
            <a:avLst/>
          </a:prstGeom>
          <a:noFill/>
        </p:spPr>
        <p:txBody>
          <a:bodyPr wrap="square" anchor="ctr" lIns="0" rIns="0" tIns="0" bIns="0">
            <a:spAutoFit/>
          </a:bodyPr>
          <a:lstStyle/>
          <a:p>
            <a:pPr algn="ctr">
              <a:lnSpc>
                <a:spcPct val="112000"/>
              </a:lnSpc>
            </a:pPr>
            <a:r>
              <a:rPr sz="900" b="1">
                <a:solidFill>
                  <a:srgbClr val="1A1A1A"/>
                </a:solidFill>
                <a:latin typeface="Arial"/>
                <a:ea typeface="Arial"/>
              </a:rPr>
              <a:t>≈2년</a:t>
            </a:r>
          </a:p>
        </p:txBody>
      </p:sp>
      <p:sp>
        <p:nvSpPr>
          <p:cNvPr id="76" name="Oval 75"/>
          <p:cNvSpPr/>
          <p:nvPr/>
        </p:nvSpPr>
        <p:spPr>
          <a:xfrm>
            <a:off x="5529384" y="4855463"/>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428800" y="4645151"/>
            <a:ext cx="1463040" cy="182880"/>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'22-12 배치 표준 비준</a:t>
            </a:r>
          </a:p>
        </p:txBody>
      </p:sp>
      <p:sp>
        <p:nvSpPr>
          <p:cNvPr id="78" name="Oval 77"/>
          <p:cNvSpPr/>
          <p:nvPr/>
        </p:nvSpPr>
        <p:spPr>
          <a:xfrm>
            <a:off x="6438667" y="5379720"/>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38083" y="5553455"/>
            <a:ext cx="1463040" cy="182880"/>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'24 비트 출하 30EB</a:t>
            </a:r>
          </a:p>
        </p:txBody>
      </p:sp>
      <p:sp>
        <p:nvSpPr>
          <p:cNvPr id="80" name="Oval 79"/>
          <p:cNvSpPr/>
          <p:nvPr/>
        </p:nvSpPr>
        <p:spPr>
          <a:xfrm>
            <a:off x="7670599" y="4855463"/>
            <a:ext cx="164592" cy="164592"/>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381295" y="5029199"/>
            <a:ext cx="1508760" cy="329184"/>
          </a:xfrm>
          <a:prstGeom prst="rect">
            <a:avLst/>
          </a:prstGeom>
          <a:noFill/>
        </p:spPr>
        <p:txBody>
          <a:bodyPr wrap="square" anchor="t" lIns="0" rIns="0" tIns="0" bIns="0">
            <a:spAutoFit/>
          </a:bodyPr>
          <a:lstStyle/>
          <a:p>
            <a:pPr algn="r">
              <a:lnSpc>
                <a:spcPct val="100000"/>
              </a:lnSpc>
            </a:pPr>
            <a:r>
              <a:rPr sz="875" b="1">
                <a:solidFill>
                  <a:srgbClr val="1428A0"/>
                </a:solidFill>
                <a:latin typeface="Arial"/>
                <a:ea typeface="Arial"/>
              </a:rPr>
              <a:t>'26 KV 캐시 규격 미정의</a:t>
            </a:r>
          </a:p>
          <a:p>
            <a:pPr algn="r">
              <a:lnSpc>
                <a:spcPct val="100000"/>
              </a:lnSpc>
            </a:pPr>
            <a:r>
              <a:rPr sz="875" b="1">
                <a:solidFill>
                  <a:srgbClr val="1428A0"/>
                </a:solidFill>
                <a:latin typeface="Arial"/>
                <a:ea typeface="Arial"/>
              </a:rPr>
              <a:t>= 선점 구간</a:t>
            </a:r>
          </a:p>
        </p:txBody>
      </p:sp>
      <p:sp>
        <p:nvSpPr>
          <p:cNvPr id="82" name="Oval 81"/>
          <p:cNvSpPr/>
          <p:nvPr/>
        </p:nvSpPr>
        <p:spPr>
          <a:xfrm>
            <a:off x="8242035" y="5071871"/>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242035" y="5071871"/>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2</a:t>
            </a:r>
          </a:p>
        </p:txBody>
      </p:sp>
      <p:sp>
        <p:nvSpPr>
          <p:cNvPr id="84" name="Rectangle 83"/>
          <p:cNvSpPr/>
          <p:nvPr/>
        </p:nvSpPr>
        <p:spPr>
          <a:xfrm>
            <a:off x="960120" y="5818632"/>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60120" y="5864352"/>
            <a:ext cx="1207008" cy="1164336"/>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12개월</a:t>
            </a:r>
          </a:p>
        </p:txBody>
      </p:sp>
      <p:sp>
        <p:nvSpPr>
          <p:cNvPr id="86" name="TextBox 85"/>
          <p:cNvSpPr txBox="1"/>
          <p:nvPr/>
        </p:nvSpPr>
        <p:spPr>
          <a:xfrm>
            <a:off x="2167128" y="5919215"/>
            <a:ext cx="2212848"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2 · </a:t>
            </a:r>
            <a:r>
              <a:rPr sz="1125" b="1">
                <a:solidFill>
                  <a:srgbClr val="1A1A1A"/>
                </a:solidFill>
                <a:latin typeface="Arial"/>
                <a:ea typeface="Arial"/>
              </a:rPr>
              <a:t>고객 협업</a:t>
            </a:r>
          </a:p>
          <a:p>
            <a:pPr algn="l">
              <a:lnSpc>
                <a:spcPct val="106000"/>
              </a:lnSpc>
            </a:pPr>
            <a:r>
              <a:rPr sz="975" b="1">
                <a:solidFill>
                  <a:srgbClr val="1A1A1A"/>
                </a:solidFill>
                <a:latin typeface="Arial"/>
                <a:ea typeface="Arial"/>
              </a:rPr>
              <a:t>규격 정의에 참여한 공급자가 선점</a:t>
            </a:r>
          </a:p>
          <a:p>
            <a:pPr algn="l">
              <a:lnSpc>
                <a:spcPct val="106000"/>
              </a:lnSpc>
            </a:pPr>
            <a:r>
              <a:rPr sz="900" b="0">
                <a:solidFill>
                  <a:srgbClr val="555555"/>
                </a:solidFill>
                <a:latin typeface="Arial"/>
                <a:ea typeface="Arial"/>
              </a:rPr>
              <a:t>다운턴 극복의 결정 변수는 방어가 아니라 요구 적중</a:t>
            </a:r>
          </a:p>
        </p:txBody>
      </p:sp>
      <p:sp>
        <p:nvSpPr>
          <p:cNvPr id="87" name="TextBox 86"/>
          <p:cNvSpPr txBox="1"/>
          <p:nvPr/>
        </p:nvSpPr>
        <p:spPr>
          <a:xfrm>
            <a:off x="4517136" y="5955791"/>
            <a:ext cx="3587739"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61TB QLC 출시 · OCP '22-10 예고 기준</a:t>
            </a:r>
          </a:p>
        </p:txBody>
      </p:sp>
      <p:sp>
        <p:nvSpPr>
          <p:cNvPr id="88" name="TextBox 87"/>
          <p:cNvSpPr txBox="1"/>
          <p:nvPr/>
        </p:nvSpPr>
        <p:spPr>
          <a:xfrm>
            <a:off x="4517136" y="6193535"/>
            <a:ext cx="594359" cy="237744"/>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Solidigm</a:t>
            </a:r>
          </a:p>
        </p:txBody>
      </p:sp>
      <p:sp>
        <p:nvSpPr>
          <p:cNvPr id="89" name="Rectangle 88"/>
          <p:cNvSpPr/>
          <p:nvPr/>
        </p:nvSpPr>
        <p:spPr>
          <a:xfrm>
            <a:off x="5157216" y="6193535"/>
            <a:ext cx="1263282"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493650" y="6193535"/>
            <a:ext cx="1611225" cy="237744"/>
          </a:xfrm>
          <a:prstGeom prst="rect">
            <a:avLst/>
          </a:prstGeom>
          <a:noFill/>
        </p:spPr>
        <p:txBody>
          <a:bodyPr wrap="square" anchor="ctr" lIns="0" rIns="0" tIns="0" bIns="0">
            <a:spAutoFit/>
          </a:bodyPr>
          <a:lstStyle/>
          <a:p>
            <a:pPr algn="l">
              <a:lnSpc>
                <a:spcPct val="112000"/>
              </a:lnSpc>
            </a:pPr>
            <a:r>
              <a:rPr sz="875" b="1">
                <a:solidFill>
                  <a:srgbClr val="1428A0"/>
                </a:solidFill>
                <a:latin typeface="Arial"/>
                <a:ea typeface="Arial"/>
              </a:rPr>
              <a:t>'23-07 · 규격 정의 참여</a:t>
            </a:r>
          </a:p>
        </p:txBody>
      </p:sp>
      <p:sp>
        <p:nvSpPr>
          <p:cNvPr id="91" name="TextBox 90"/>
          <p:cNvSpPr txBox="1"/>
          <p:nvPr/>
        </p:nvSpPr>
        <p:spPr>
          <a:xfrm>
            <a:off x="4517136" y="6504431"/>
            <a:ext cx="594359" cy="237744"/>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삼성</a:t>
            </a:r>
          </a:p>
        </p:txBody>
      </p:sp>
      <p:sp>
        <p:nvSpPr>
          <p:cNvPr id="92" name="Rectangle 91"/>
          <p:cNvSpPr/>
          <p:nvPr/>
        </p:nvSpPr>
        <p:spPr>
          <a:xfrm>
            <a:off x="5157216" y="6504431"/>
            <a:ext cx="2947659"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230368" y="6504431"/>
            <a:ext cx="2801355" cy="237744"/>
          </a:xfrm>
          <a:prstGeom prst="rect">
            <a:avLst/>
          </a:prstGeom>
          <a:noFill/>
        </p:spPr>
        <p:txBody>
          <a:bodyPr wrap="square" anchor="ctr" lIns="0" rIns="0" tIns="0" bIns="0">
            <a:spAutoFit/>
          </a:bodyPr>
          <a:lstStyle/>
          <a:p>
            <a:pPr algn="r">
              <a:lnSpc>
                <a:spcPct val="112000"/>
              </a:lnSpc>
            </a:pPr>
            <a:r>
              <a:rPr sz="875" b="1">
                <a:solidFill>
                  <a:srgbClr val="555555"/>
                </a:solidFill>
                <a:latin typeface="Arial"/>
                <a:ea typeface="Arial"/>
              </a:rPr>
              <a:t>'24-07 · 12개월 후발</a:t>
            </a:r>
          </a:p>
        </p:txBody>
      </p:sp>
      <p:sp>
        <p:nvSpPr>
          <p:cNvPr id="94" name="TextBox 93"/>
          <p:cNvSpPr txBox="1"/>
          <p:nvPr/>
        </p:nvSpPr>
        <p:spPr>
          <a:xfrm>
            <a:off x="4517136" y="6833615"/>
            <a:ext cx="3587739" cy="329184"/>
          </a:xfrm>
          <a:prstGeom prst="rect">
            <a:avLst/>
          </a:prstGeom>
          <a:noFill/>
        </p:spPr>
        <p:txBody>
          <a:bodyPr wrap="square" anchor="t" lIns="0" rIns="0" tIns="0" bIns="0">
            <a:spAutoFit/>
          </a:bodyPr>
          <a:lstStyle/>
          <a:p>
            <a:pPr algn="l">
              <a:lnSpc>
                <a:spcPct val="100000"/>
              </a:lnSpc>
            </a:pPr>
            <a:r>
              <a:rPr sz="875" b="1">
                <a:solidFill>
                  <a:srgbClr val="1A1A1A"/>
                </a:solidFill>
                <a:latin typeface="Arial"/>
                <a:ea typeface="Arial"/>
              </a:rPr>
              <a:t>HBM4  </a:t>
            </a:r>
            <a:r>
              <a:rPr sz="875" b="0">
                <a:solidFill>
                  <a:srgbClr val="555555"/>
                </a:solidFill>
                <a:latin typeface="Arial"/>
                <a:ea typeface="Arial"/>
              </a:rPr>
              <a:t>SK hynix ↔ NVIDIA 규격 공동 정의 → 주도권 · 삼성 후발</a:t>
            </a:r>
          </a:p>
        </p:txBody>
      </p:sp>
      <p:sp>
        <p:nvSpPr>
          <p:cNvPr id="95" name="Oval 94"/>
          <p:cNvSpPr/>
          <p:nvPr/>
        </p:nvSpPr>
        <p:spPr>
          <a:xfrm>
            <a:off x="8242035" y="6327648"/>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242035" y="6327648"/>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5</a:t>
            </a:r>
          </a:p>
        </p:txBody>
      </p:sp>
      <p:sp>
        <p:nvSpPr>
          <p:cNvPr id="97" name="Rectangle 96"/>
          <p:cNvSpPr/>
          <p:nvPr/>
        </p:nvSpPr>
        <p:spPr>
          <a:xfrm>
            <a:off x="960120" y="7074408"/>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60120" y="7120128"/>
            <a:ext cx="1207008" cy="1164336"/>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2027H2</a:t>
            </a:r>
          </a:p>
        </p:txBody>
      </p:sp>
      <p:sp>
        <p:nvSpPr>
          <p:cNvPr id="99" name="TextBox 98"/>
          <p:cNvSpPr txBox="1"/>
          <p:nvPr/>
        </p:nvSpPr>
        <p:spPr>
          <a:xfrm>
            <a:off x="2167128" y="7174992"/>
            <a:ext cx="2212848"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3 · </a:t>
            </a:r>
            <a:r>
              <a:rPr sz="1125" b="1">
                <a:solidFill>
                  <a:srgbClr val="1A1A1A"/>
                </a:solidFill>
                <a:latin typeface="Arial"/>
                <a:ea typeface="Arial"/>
              </a:rPr>
              <a:t>의사결정 시점</a:t>
            </a:r>
          </a:p>
          <a:p>
            <a:pPr algn="l">
              <a:lnSpc>
                <a:spcPct val="106000"/>
              </a:lnSpc>
            </a:pPr>
            <a:r>
              <a:rPr sz="975" b="1">
                <a:solidFill>
                  <a:srgbClr val="1A1A1A"/>
                </a:solidFill>
                <a:latin typeface="Arial"/>
                <a:ea typeface="Arial"/>
              </a:rPr>
              <a:t>직전 다운턴의 결정이 다음 다운턴의 초기 조건</a:t>
            </a:r>
          </a:p>
          <a:p>
            <a:pPr algn="l">
              <a:lnSpc>
                <a:spcPct val="106000"/>
              </a:lnSpc>
            </a:pPr>
            <a:r>
              <a:rPr sz="900" b="0">
                <a:solidFill>
                  <a:srgbClr val="555555"/>
                </a:solidFill>
                <a:latin typeface="Arial"/>
                <a:ea typeface="Arial"/>
              </a:rPr>
              <a:t>차기 전환점은 2027년 하반기 가격 정상화 국면</a:t>
            </a:r>
          </a:p>
        </p:txBody>
      </p:sp>
      <p:sp>
        <p:nvSpPr>
          <p:cNvPr id="100" name="Rectangle 99"/>
          <p:cNvSpPr/>
          <p:nvPr/>
        </p:nvSpPr>
        <p:spPr>
          <a:xfrm>
            <a:off x="4517136" y="7229856"/>
            <a:ext cx="1638421" cy="2468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544568" y="7229856"/>
            <a:ext cx="1583557" cy="246888"/>
          </a:xfrm>
          <a:prstGeom prst="rect">
            <a:avLst/>
          </a:prstGeom>
          <a:noFill/>
        </p:spPr>
        <p:txBody>
          <a:bodyPr wrap="square" anchor="ctr" lIns="0" rIns="0" tIns="0" bIns="0">
            <a:spAutoFit/>
          </a:bodyPr>
          <a:lstStyle/>
          <a:p>
            <a:pPr algn="ctr">
              <a:lnSpc>
                <a:spcPct val="112000"/>
              </a:lnSpc>
            </a:pPr>
            <a:r>
              <a:rPr sz="875" b="0">
                <a:solidFill>
                  <a:srgbClr val="1A1A1A"/>
                </a:solidFill>
                <a:latin typeface="Arial"/>
                <a:ea typeface="Arial"/>
              </a:rPr>
              <a:t>DT19 무감산 성공</a:t>
            </a:r>
          </a:p>
        </p:txBody>
      </p:sp>
      <p:sp>
        <p:nvSpPr>
          <p:cNvPr id="102" name="Right Arrow 101"/>
          <p:cNvSpPr/>
          <p:nvPr/>
        </p:nvSpPr>
        <p:spPr>
          <a:xfrm>
            <a:off x="6210421" y="7284719"/>
            <a:ext cx="201168" cy="13716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66453" y="7229856"/>
            <a:ext cx="1638421" cy="24688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6493885" y="7229856"/>
            <a:ext cx="1583557" cy="246888"/>
          </a:xfrm>
          <a:prstGeom prst="rect">
            <a:avLst/>
          </a:prstGeom>
          <a:noFill/>
        </p:spPr>
        <p:txBody>
          <a:bodyPr wrap="square" anchor="ctr" lIns="0" rIns="0" tIns="0" bIns="0">
            <a:spAutoFit/>
          </a:bodyPr>
          <a:lstStyle/>
          <a:p>
            <a:pPr algn="ctr">
              <a:lnSpc>
                <a:spcPct val="112000"/>
              </a:lnSpc>
            </a:pPr>
            <a:r>
              <a:rPr sz="875" b="1">
                <a:solidFill>
                  <a:srgbClr val="1A1A1A"/>
                </a:solidFill>
                <a:latin typeface="Arial"/>
                <a:ea typeface="Arial"/>
              </a:rPr>
              <a:t>DT23 국면 오판</a:t>
            </a:r>
          </a:p>
        </p:txBody>
      </p:sp>
      <p:sp>
        <p:nvSpPr>
          <p:cNvPr id="105" name="Rectangle 104"/>
          <p:cNvSpPr/>
          <p:nvPr/>
        </p:nvSpPr>
        <p:spPr>
          <a:xfrm>
            <a:off x="4517136" y="7559039"/>
            <a:ext cx="1638421" cy="2468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4544568" y="7559039"/>
            <a:ext cx="1583557" cy="246888"/>
          </a:xfrm>
          <a:prstGeom prst="rect">
            <a:avLst/>
          </a:prstGeom>
          <a:noFill/>
        </p:spPr>
        <p:txBody>
          <a:bodyPr wrap="square" anchor="ctr" lIns="0" rIns="0" tIns="0" bIns="0">
            <a:spAutoFit/>
          </a:bodyPr>
          <a:lstStyle/>
          <a:p>
            <a:pPr algn="ctr">
              <a:lnSpc>
                <a:spcPct val="112000"/>
              </a:lnSpc>
            </a:pPr>
            <a:r>
              <a:rPr sz="875" b="0">
                <a:solidFill>
                  <a:srgbClr val="1A1A1A"/>
                </a:solidFill>
                <a:latin typeface="Arial"/>
                <a:ea typeface="Arial"/>
              </a:rPr>
              <a:t>DT19 HBM 조직 축소</a:t>
            </a:r>
          </a:p>
        </p:txBody>
      </p:sp>
      <p:sp>
        <p:nvSpPr>
          <p:cNvPr id="107" name="Right Arrow 106"/>
          <p:cNvSpPr/>
          <p:nvPr/>
        </p:nvSpPr>
        <p:spPr>
          <a:xfrm>
            <a:off x="6210421" y="7613904"/>
            <a:ext cx="201168" cy="13716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6466453" y="7559039"/>
            <a:ext cx="1638421" cy="24688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93885" y="7559039"/>
            <a:ext cx="1583557" cy="246888"/>
          </a:xfrm>
          <a:prstGeom prst="rect">
            <a:avLst/>
          </a:prstGeom>
          <a:noFill/>
        </p:spPr>
        <p:txBody>
          <a:bodyPr wrap="square" anchor="ctr" lIns="0" rIns="0" tIns="0" bIns="0">
            <a:spAutoFit/>
          </a:bodyPr>
          <a:lstStyle/>
          <a:p>
            <a:pPr algn="ctr">
              <a:lnSpc>
                <a:spcPct val="112000"/>
              </a:lnSpc>
            </a:pPr>
            <a:r>
              <a:rPr sz="875" b="1">
                <a:solidFill>
                  <a:srgbClr val="1A1A1A"/>
                </a:solidFill>
                <a:latin typeface="Arial"/>
                <a:ea typeface="Arial"/>
              </a:rPr>
              <a:t>DT23 주도권 상실</a:t>
            </a:r>
          </a:p>
        </p:txBody>
      </p:sp>
      <p:sp>
        <p:nvSpPr>
          <p:cNvPr id="110" name="Rectangle 109"/>
          <p:cNvSpPr/>
          <p:nvPr/>
        </p:nvSpPr>
        <p:spPr>
          <a:xfrm>
            <a:off x="4517136" y="7888223"/>
            <a:ext cx="1638421"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544568" y="7888223"/>
            <a:ext cx="1583557" cy="246888"/>
          </a:xfrm>
          <a:prstGeom prst="rect">
            <a:avLst/>
          </a:prstGeom>
          <a:noFill/>
        </p:spPr>
        <p:txBody>
          <a:bodyPr wrap="square" anchor="ctr" lIns="0" rIns="0" tIns="0" bIns="0">
            <a:spAutoFit/>
          </a:bodyPr>
          <a:lstStyle/>
          <a:p>
            <a:pPr algn="ctr">
              <a:lnSpc>
                <a:spcPct val="112000"/>
              </a:lnSpc>
            </a:pPr>
            <a:r>
              <a:rPr sz="875" b="1">
                <a:solidFill>
                  <a:srgbClr val="FFFFFF"/>
                </a:solidFill>
                <a:latin typeface="Arial"/>
                <a:ea typeface="Arial"/>
              </a:rPr>
              <a:t>2026 고객 시스템 진입</a:t>
            </a:r>
          </a:p>
        </p:txBody>
      </p:sp>
      <p:sp>
        <p:nvSpPr>
          <p:cNvPr id="112" name="Right Arrow 111"/>
          <p:cNvSpPr/>
          <p:nvPr/>
        </p:nvSpPr>
        <p:spPr>
          <a:xfrm>
            <a:off x="6210421" y="7943087"/>
            <a:ext cx="201168" cy="13716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6466453" y="7888223"/>
            <a:ext cx="1638421"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493885" y="7888223"/>
            <a:ext cx="1583557" cy="246888"/>
          </a:xfrm>
          <a:prstGeom prst="rect">
            <a:avLst/>
          </a:prstGeom>
          <a:noFill/>
        </p:spPr>
        <p:txBody>
          <a:bodyPr wrap="square" anchor="ctr" lIns="0" rIns="0" tIns="0" bIns="0">
            <a:spAutoFit/>
          </a:bodyPr>
          <a:lstStyle/>
          <a:p>
            <a:pPr algn="ctr">
              <a:lnSpc>
                <a:spcPct val="112000"/>
              </a:lnSpc>
            </a:pPr>
            <a:r>
              <a:rPr sz="875" b="1">
                <a:solidFill>
                  <a:srgbClr val="FFFFFF"/>
                </a:solidFill>
                <a:latin typeface="Arial"/>
                <a:ea typeface="Arial"/>
              </a:rPr>
              <a:t>2027H2 TCO 보증 수익</a:t>
            </a:r>
          </a:p>
        </p:txBody>
      </p:sp>
      <p:sp>
        <p:nvSpPr>
          <p:cNvPr id="115" name="Oval 114"/>
          <p:cNvSpPr/>
          <p:nvPr/>
        </p:nvSpPr>
        <p:spPr>
          <a:xfrm>
            <a:off x="8242035" y="7583424"/>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8242035" y="7583424"/>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4</a:t>
            </a:r>
          </a:p>
        </p:txBody>
      </p:sp>
      <p:sp>
        <p:nvSpPr>
          <p:cNvPr id="117" name="Rectangle 116"/>
          <p:cNvSpPr/>
          <p:nvPr/>
        </p:nvSpPr>
        <p:spPr>
          <a:xfrm>
            <a:off x="8882115" y="4059935"/>
            <a:ext cx="3782689"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8882115" y="4059935"/>
            <a:ext cx="3782689"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119859" y="4206240"/>
            <a:ext cx="3307201"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지금 · 요구의 이동</a:t>
            </a:r>
            <a:r>
              <a:rPr sz="1050" b="0">
                <a:solidFill>
                  <a:srgbClr val="8A8A8A"/>
                </a:solidFill>
                <a:latin typeface="Arial"/>
                <a:ea typeface="Arial"/>
              </a:rPr>
              <a:t>   2024~2026</a:t>
            </a:r>
          </a:p>
        </p:txBody>
      </p:sp>
      <p:sp>
        <p:nvSpPr>
          <p:cNvPr id="120" name="Rectangle 119"/>
          <p:cNvSpPr/>
          <p:nvPr/>
        </p:nvSpPr>
        <p:spPr>
          <a:xfrm>
            <a:off x="9119859" y="4517136"/>
            <a:ext cx="3307201"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9119859" y="4626864"/>
            <a:ext cx="3307201"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구매 기준</a:t>
            </a:r>
          </a:p>
        </p:txBody>
      </p:sp>
      <p:sp>
        <p:nvSpPr>
          <p:cNvPr id="122" name="Rectangle 121"/>
          <p:cNvSpPr/>
          <p:nvPr/>
        </p:nvSpPr>
        <p:spPr>
          <a:xfrm>
            <a:off x="9119859" y="4846320"/>
            <a:ext cx="1188720"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9193011" y="4892040"/>
            <a:ext cx="1042416" cy="621792"/>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TB당 TCO</a:t>
            </a:r>
          </a:p>
          <a:p>
            <a:pPr algn="l">
              <a:lnSpc>
                <a:spcPct val="100000"/>
              </a:lnSpc>
            </a:pPr>
            <a:r>
              <a:rPr sz="850" b="0">
                <a:solidFill>
                  <a:srgbClr val="8A8A8A"/>
                </a:solidFill>
                <a:latin typeface="Arial"/>
                <a:ea typeface="Arial"/>
              </a:rPr>
              <a:t>원가 · 전력 · 밀도</a:t>
            </a:r>
          </a:p>
        </p:txBody>
      </p:sp>
      <p:sp>
        <p:nvSpPr>
          <p:cNvPr id="124" name="Right Arrow 123"/>
          <p:cNvSpPr/>
          <p:nvPr/>
        </p:nvSpPr>
        <p:spPr>
          <a:xfrm>
            <a:off x="10363443" y="5120640"/>
            <a:ext cx="201168" cy="164592"/>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0619475" y="4846320"/>
            <a:ext cx="1807585" cy="71323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0692627" y="4892040"/>
            <a:ext cx="1661281" cy="621792"/>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GPU당 컨텍스트 용량 · 토큰당 비용</a:t>
            </a:r>
          </a:p>
          <a:p>
            <a:pPr algn="l">
              <a:lnSpc>
                <a:spcPct val="100000"/>
              </a:lnSpc>
            </a:pPr>
            <a:r>
              <a:rPr sz="850" b="0">
                <a:solidFill>
                  <a:srgbClr val="555555"/>
                </a:solidFill>
                <a:latin typeface="Arial"/>
                <a:ea typeface="Arial"/>
              </a:rPr>
              <a:t>추론 캐시 계층</a:t>
            </a:r>
          </a:p>
        </p:txBody>
      </p:sp>
      <p:sp>
        <p:nvSpPr>
          <p:cNvPr id="127" name="TextBox 126"/>
          <p:cNvSpPr txBox="1"/>
          <p:nvPr/>
        </p:nvSpPr>
        <p:spPr>
          <a:xfrm>
            <a:off x="9119859" y="5705856"/>
            <a:ext cx="3307201"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드라이브 용량</a:t>
            </a:r>
          </a:p>
        </p:txBody>
      </p:sp>
      <p:sp>
        <p:nvSpPr>
          <p:cNvPr id="128" name="Rectangle 127"/>
          <p:cNvSpPr/>
          <p:nvPr/>
        </p:nvSpPr>
        <p:spPr>
          <a:xfrm>
            <a:off x="9119859" y="5925312"/>
            <a:ext cx="1188720"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9193011" y="5971032"/>
            <a:ext cx="1042416" cy="621792"/>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61TB</a:t>
            </a:r>
          </a:p>
          <a:p>
            <a:pPr algn="l">
              <a:lnSpc>
                <a:spcPct val="100000"/>
              </a:lnSpc>
            </a:pPr>
            <a:r>
              <a:rPr sz="850" b="0">
                <a:solidFill>
                  <a:srgbClr val="8A8A8A"/>
                </a:solidFill>
                <a:latin typeface="Arial"/>
                <a:ea typeface="Arial"/>
              </a:rPr>
              <a:t>2023 · 1Tb 다이</a:t>
            </a:r>
          </a:p>
        </p:txBody>
      </p:sp>
      <p:sp>
        <p:nvSpPr>
          <p:cNvPr id="130" name="Right Arrow 129"/>
          <p:cNvSpPr/>
          <p:nvPr/>
        </p:nvSpPr>
        <p:spPr>
          <a:xfrm>
            <a:off x="10363443" y="6199632"/>
            <a:ext cx="201168" cy="164592"/>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619475" y="5925312"/>
            <a:ext cx="1807585" cy="71323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0692627" y="5971032"/>
            <a:ext cx="1661281" cy="621792"/>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245TB</a:t>
            </a:r>
          </a:p>
          <a:p>
            <a:pPr algn="l">
              <a:lnSpc>
                <a:spcPct val="100000"/>
              </a:lnSpc>
            </a:pPr>
            <a:r>
              <a:rPr sz="850" b="0">
                <a:solidFill>
                  <a:srgbClr val="555555"/>
                </a:solidFill>
                <a:latin typeface="Arial"/>
                <a:ea typeface="Arial"/>
              </a:rPr>
              <a:t>2025 · 다이 8배 ↑</a:t>
            </a:r>
          </a:p>
        </p:txBody>
      </p:sp>
      <p:sp>
        <p:nvSpPr>
          <p:cNvPr id="133" name="TextBox 132"/>
          <p:cNvSpPr txBox="1"/>
          <p:nvPr/>
        </p:nvSpPr>
        <p:spPr>
          <a:xfrm>
            <a:off x="9119859" y="6784848"/>
            <a:ext cx="3307201"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요구 DWPD</a:t>
            </a:r>
          </a:p>
        </p:txBody>
      </p:sp>
      <p:sp>
        <p:nvSpPr>
          <p:cNvPr id="134" name="Rectangle 133"/>
          <p:cNvSpPr/>
          <p:nvPr/>
        </p:nvSpPr>
        <p:spPr>
          <a:xfrm>
            <a:off x="9119859" y="7004304"/>
            <a:ext cx="1188720"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193011" y="7050024"/>
            <a:ext cx="1042416" cy="621792"/>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0.3~0.6</a:t>
            </a:r>
          </a:p>
          <a:p>
            <a:pPr algn="l">
              <a:lnSpc>
                <a:spcPct val="100000"/>
              </a:lnSpc>
            </a:pPr>
            <a:r>
              <a:rPr sz="850" b="0">
                <a:solidFill>
                  <a:srgbClr val="8A8A8A"/>
                </a:solidFill>
                <a:latin typeface="Arial"/>
                <a:ea typeface="Arial"/>
              </a:rPr>
              <a:t>읽기 중심 워크로드</a:t>
            </a:r>
          </a:p>
        </p:txBody>
      </p:sp>
      <p:sp>
        <p:nvSpPr>
          <p:cNvPr id="136" name="Right Arrow 135"/>
          <p:cNvSpPr/>
          <p:nvPr/>
        </p:nvSpPr>
        <p:spPr>
          <a:xfrm>
            <a:off x="10363443" y="7278624"/>
            <a:ext cx="201168" cy="164592"/>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619475" y="7004304"/>
            <a:ext cx="1807585" cy="71323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0692627" y="7050024"/>
            <a:ext cx="1661281" cy="621792"/>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1~3</a:t>
            </a:r>
          </a:p>
          <a:p>
            <a:pPr algn="l">
              <a:lnSpc>
                <a:spcPct val="100000"/>
              </a:lnSpc>
            </a:pPr>
            <a:r>
              <a:rPr sz="850" b="0">
                <a:solidFill>
                  <a:srgbClr val="555555"/>
                </a:solidFill>
                <a:latin typeface="Arial"/>
                <a:ea typeface="Arial"/>
              </a:rPr>
              <a:t>KV 캐시 계층 제품(TLC) 정격 · 쓰기 강도는 실측 필요</a:t>
            </a:r>
          </a:p>
        </p:txBody>
      </p:sp>
      <p:sp>
        <p:nvSpPr>
          <p:cNvPr id="139" name="TextBox 138"/>
          <p:cNvSpPr txBox="1"/>
          <p:nvPr/>
        </p:nvSpPr>
        <p:spPr>
          <a:xfrm>
            <a:off x="9119859" y="7918704"/>
            <a:ext cx="3307201" cy="420624"/>
          </a:xfrm>
          <a:prstGeom prst="rect">
            <a:avLst/>
          </a:prstGeom>
          <a:noFill/>
        </p:spPr>
        <p:txBody>
          <a:bodyPr wrap="square" anchor="t" lIns="0" rIns="0" tIns="0" bIns="0">
            <a:spAutoFit/>
          </a:bodyPr>
          <a:lstStyle/>
          <a:p>
            <a:pPr algn="l">
              <a:lnSpc>
                <a:spcPct val="102000"/>
              </a:lnSpc>
            </a:pPr>
            <a:r>
              <a:rPr sz="900" b="0">
                <a:solidFill>
                  <a:srgbClr val="555555"/>
                </a:solidFill>
                <a:latin typeface="Arial"/>
                <a:ea typeface="Arial"/>
              </a:rPr>
              <a:t>세 국면의 구매 기준은 일관되게 TB당 TCO였고, 바뀐 것은 워크로드의 쓰기 비중과 드라이브당 용량입니다</a:t>
            </a:r>
          </a:p>
        </p:txBody>
      </p:sp>
      <p:sp>
        <p:nvSpPr>
          <p:cNvPr id="140" name="Rectangle 139"/>
          <p:cNvSpPr/>
          <p:nvPr/>
        </p:nvSpPr>
        <p:spPr>
          <a:xfrm>
            <a:off x="12792821" y="4059935"/>
            <a:ext cx="4772802" cy="437083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2792821" y="4059935"/>
            <a:ext cx="4772802"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3030565" y="4206240"/>
            <a:ext cx="429731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문제 · 해법이 필요한 상황</a:t>
            </a:r>
            <a:r>
              <a:rPr sz="1050" b="0">
                <a:solidFill>
                  <a:srgbClr val="8A8A8A"/>
                </a:solidFill>
                <a:latin typeface="Arial"/>
                <a:ea typeface="Arial"/>
              </a:rPr>
              <a:t>   2027~2030</a:t>
            </a:r>
          </a:p>
        </p:txBody>
      </p:sp>
      <p:sp>
        <p:nvSpPr>
          <p:cNvPr id="143" name="Rectangle 142"/>
          <p:cNvSpPr/>
          <p:nvPr/>
        </p:nvSpPr>
        <p:spPr>
          <a:xfrm>
            <a:off x="13030565" y="4517136"/>
            <a:ext cx="429731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3030565" y="4608575"/>
            <a:ext cx="4297314"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동급 비교: 61TB QLC 0.58~1.0 · 245TB QLC 0.3 vs KV 계층 TLC 1~3 DWPD</a:t>
            </a:r>
          </a:p>
        </p:txBody>
      </p:sp>
      <p:sp>
        <p:nvSpPr>
          <p:cNvPr id="145" name="TextBox 144"/>
          <p:cNvSpPr txBox="1"/>
          <p:nvPr/>
        </p:nvSpPr>
        <p:spPr>
          <a:xfrm>
            <a:off x="13030565" y="4791455"/>
            <a:ext cx="4297314" cy="566928"/>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2~10배 격차</a:t>
            </a:r>
          </a:p>
        </p:txBody>
      </p:sp>
      <p:sp>
        <p:nvSpPr>
          <p:cNvPr id="146" name="TextBox 145"/>
          <p:cNvSpPr txBox="1"/>
          <p:nvPr/>
        </p:nvSpPr>
        <p:spPr>
          <a:xfrm>
            <a:off x="13030565" y="5431536"/>
            <a:ext cx="2057217" cy="384048"/>
          </a:xfrm>
          <a:prstGeom prst="rect">
            <a:avLst/>
          </a:prstGeom>
          <a:noFill/>
        </p:spPr>
        <p:txBody>
          <a:bodyPr wrap="square" anchor="ctr" lIns="0" rIns="0" tIns="0" bIns="0">
            <a:spAutoFit/>
          </a:bodyPr>
          <a:lstStyle/>
          <a:p>
            <a:pPr algn="l">
              <a:lnSpc>
                <a:spcPct val="112000"/>
              </a:lnSpc>
            </a:pPr>
            <a:r>
              <a:rPr sz="2000" b="1">
                <a:solidFill>
                  <a:srgbClr val="1428A0"/>
                </a:solidFill>
                <a:latin typeface="Arial"/>
                <a:ea typeface="Arial"/>
              </a:rPr>
              <a:t>10배</a:t>
            </a:r>
          </a:p>
        </p:txBody>
      </p:sp>
      <p:sp>
        <p:nvSpPr>
          <p:cNvPr id="147" name="TextBox 146"/>
          <p:cNvSpPr txBox="1"/>
          <p:nvPr/>
        </p:nvSpPr>
        <p:spPr>
          <a:xfrm>
            <a:off x="13030565" y="5815583"/>
            <a:ext cx="2057217" cy="201168"/>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QLC 비트 '25 → '30 (e)</a:t>
            </a:r>
          </a:p>
        </p:txBody>
      </p:sp>
      <p:sp>
        <p:nvSpPr>
          <p:cNvPr id="148" name="TextBox 147"/>
          <p:cNvSpPr txBox="1"/>
          <p:nvPr/>
        </p:nvSpPr>
        <p:spPr>
          <a:xfrm>
            <a:off x="15270662" y="5431536"/>
            <a:ext cx="2057217" cy="384048"/>
          </a:xfrm>
          <a:prstGeom prst="rect">
            <a:avLst/>
          </a:prstGeom>
          <a:noFill/>
        </p:spPr>
        <p:txBody>
          <a:bodyPr wrap="square" anchor="ctr" lIns="0" rIns="0" tIns="0" bIns="0">
            <a:spAutoFit/>
          </a:bodyPr>
          <a:lstStyle/>
          <a:p>
            <a:pPr algn="l">
              <a:lnSpc>
                <a:spcPct val="112000"/>
              </a:lnSpc>
            </a:pPr>
            <a:r>
              <a:rPr sz="2000" b="1">
                <a:solidFill>
                  <a:srgbClr val="1428A0"/>
                </a:solidFill>
                <a:latin typeface="Arial"/>
                <a:ea typeface="Arial"/>
              </a:rPr>
              <a:t>350EB</a:t>
            </a:r>
          </a:p>
        </p:txBody>
      </p:sp>
      <p:sp>
        <p:nvSpPr>
          <p:cNvPr id="149" name="TextBox 148"/>
          <p:cNvSpPr txBox="1"/>
          <p:nvPr/>
        </p:nvSpPr>
        <p:spPr>
          <a:xfrm>
            <a:off x="15270662" y="5815583"/>
            <a:ext cx="2057217" cy="201168"/>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2030 추론 캐시 계층 수요 (e)</a:t>
            </a:r>
          </a:p>
        </p:txBody>
      </p:sp>
      <p:sp>
        <p:nvSpPr>
          <p:cNvPr id="150" name="Rectangle 149"/>
          <p:cNvSpPr/>
          <p:nvPr/>
        </p:nvSpPr>
        <p:spPr>
          <a:xfrm>
            <a:off x="13030565" y="6163055"/>
            <a:ext cx="4297314" cy="859536"/>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3176869" y="6217919"/>
            <a:ext cx="4004706" cy="749808"/>
          </a:xfrm>
          <a:prstGeom prst="rect">
            <a:avLst/>
          </a:prstGeom>
          <a:noFill/>
        </p:spPr>
        <p:txBody>
          <a:bodyPr wrap="square" anchor="ctr" lIns="0" rIns="0" tIns="0" bIns="0">
            <a:spAutoFit/>
          </a:bodyPr>
          <a:lstStyle/>
          <a:p>
            <a:pPr algn="l">
              <a:lnSpc>
                <a:spcPct val="106000"/>
              </a:lnSpc>
            </a:pPr>
            <a:r>
              <a:rPr sz="1275" b="1">
                <a:solidFill>
                  <a:srgbClr val="1428A0"/>
                </a:solidFill>
                <a:latin typeface="Arial"/>
                <a:ea typeface="Arial"/>
              </a:rPr>
              <a:t>고용량 QLC에서 DWPD를 높일 해법이 필요합니다</a:t>
            </a:r>
          </a:p>
          <a:p>
            <a:pPr algn="l">
              <a:lnSpc>
                <a:spcPct val="106000"/>
              </a:lnSpc>
            </a:pPr>
            <a:r>
              <a:rPr sz="975" b="0">
                <a:solidFill>
                  <a:srgbClr val="555555"/>
                </a:solidFill>
                <a:latin typeface="Arial"/>
                <a:ea typeface="Arial"/>
              </a:rPr>
              <a:t>극단 조합(0.075 vs 3)은 40배 · 어느 계층이 닫을 수 있는가 → 2장</a:t>
            </a:r>
          </a:p>
        </p:txBody>
      </p:sp>
      <p:sp>
        <p:nvSpPr>
          <p:cNvPr id="152" name="Rectangle 151"/>
          <p:cNvSpPr/>
          <p:nvPr/>
        </p:nvSpPr>
        <p:spPr>
          <a:xfrm>
            <a:off x="13030565" y="7589520"/>
            <a:ext cx="54864" cy="7132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3231733" y="7589520"/>
            <a:ext cx="4096146" cy="713232"/>
          </a:xfrm>
          <a:prstGeom prst="rect">
            <a:avLst/>
          </a:prstGeom>
          <a:noFill/>
        </p:spPr>
        <p:txBody>
          <a:bodyPr wrap="square" anchor="ctr" lIns="0" rIns="0" tIns="0" bIns="0">
            <a:spAutoFit/>
          </a:bodyPr>
          <a:lstStyle/>
          <a:p>
            <a:pPr algn="l">
              <a:lnSpc>
                <a:spcPct val="106000"/>
              </a:lnSpc>
            </a:pPr>
            <a:r>
              <a:rPr sz="950"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800" b="0">
                <a:solidFill>
                  <a:srgbClr val="8A8A8A"/>
                </a:solidFill>
                <a:latin typeface="Arial"/>
                <a:ea typeface="Arial"/>
              </a:rPr>
              <a:t>송용호 AX/PI센터장 · 사내 인터뷰 2026-09-03</a:t>
            </a:r>
          </a:p>
        </p:txBody>
      </p:sp>
      <p:sp>
        <p:nvSpPr>
          <p:cNvPr id="154" name="Rectangle 153"/>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56" name="TextBox 155"/>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다운턴 국면에서 고객 규격·코드로 정의됐고, 정의에 참여한 공급자가 선점했습니다.</a:t>
            </a:r>
          </a:p>
          <a:p>
            <a:pPr algn="l">
              <a:lnSpc>
                <a:spcPct val="108000"/>
              </a:lnSpc>
            </a:pPr>
            <a:r>
              <a:rPr sz="1650" b="1">
                <a:solidFill>
                  <a:srgbClr val="FFFFFF"/>
                </a:solidFill>
                <a:latin typeface="Arial"/>
                <a:ea typeface="Arial"/>
              </a:rPr>
              <a:t>차기 요구는 고용량 QLC의 1~3 DWPD이며, 동급 비교 시 정격과 2~10배 격차가 있습니다</a:t>
            </a:r>
          </a:p>
        </p:txBody>
      </p:sp>
      <p:sp>
        <p:nvSpPr>
          <p:cNvPr id="157" name="Rectangle 156"/>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해법 사다리 · 왜 호스트인가</a:t>
            </a:r>
          </a:p>
        </p:txBody>
      </p:sp>
      <p:sp>
        <p:nvSpPr>
          <p:cNvPr id="160" name="TextBox 159"/>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fdp-host-ssd-platform §2.5(Solidigm 61TB), QLC 연혁 소스(배치 표준 비준·30EB), GitHub README(캐시 관리자 4종), TrendForce·SanDisk FMS 2026·Meta(수요 모델, 2026~2030 추정), P5336·6550 ION·CM9·LC9 사양(동급 DWPD)</a:t>
            </a:r>
          </a:p>
        </p:txBody>
      </p:sp>
      <p:sp>
        <p:nvSpPr>
          <p:cNvPr id="161" name="TextBox 160"/>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해법 사다리  </a:t>
            </a:r>
            <a:r>
              <a:rPr sz="1200" b="0">
                <a:solidFill>
                  <a:srgbClr val="1428A0"/>
                </a:solidFill>
                <a:latin typeface="Arial"/>
                <a:ea typeface="Arial"/>
              </a:rPr>
              <a:t>왜 호스트인가</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SSD가 풀 문제</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요구는 고정, 단품은 악화, 보상은 상위 계층으로: 남은 지렛대 WAF는 호스트에 있습니다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1장의 격차를 지금까지 어느 계층이 풀어 왔는지 보면, SSD 단독 최적화는 QoS·성능은 개선했으나 WAF는 낮추지 못했습니다.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039112" y="2560320"/>
            <a:ext cx="3675888" cy="512064"/>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67128"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요구</a:t>
            </a:r>
          </a:p>
        </p:txBody>
      </p:sp>
      <p:sp>
        <p:nvSpPr>
          <p:cNvPr id="34" name="TextBox 33"/>
          <p:cNvSpPr txBox="1"/>
          <p:nvPr/>
        </p:nvSpPr>
        <p:spPr>
          <a:xfrm>
            <a:off x="2167128"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고객이 정한다 · 고정</a:t>
            </a:r>
          </a:p>
        </p:txBody>
      </p:sp>
      <p:sp>
        <p:nvSpPr>
          <p:cNvPr id="35" name="Rectangle 34"/>
          <p:cNvSpPr/>
          <p:nvPr/>
        </p:nvSpPr>
        <p:spPr>
          <a:xfrm>
            <a:off x="5989320"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17336"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단품 지표</a:t>
            </a:r>
          </a:p>
        </p:txBody>
      </p:sp>
      <p:sp>
        <p:nvSpPr>
          <p:cNvPr id="37" name="TextBox 36"/>
          <p:cNvSpPr txBox="1"/>
          <p:nvPr/>
        </p:nvSpPr>
        <p:spPr>
          <a:xfrm>
            <a:off x="6117336"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셀 · 다이 · 세대마다 악화</a:t>
            </a:r>
          </a:p>
        </p:txBody>
      </p:sp>
      <p:sp>
        <p:nvSpPr>
          <p:cNvPr id="38" name="Right Arrow 37"/>
          <p:cNvSpPr/>
          <p:nvPr/>
        </p:nvSpPr>
        <p:spPr>
          <a:xfrm>
            <a:off x="9692640" y="2715768"/>
            <a:ext cx="219456"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39528"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67544"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계층의 보상</a:t>
            </a:r>
          </a:p>
        </p:txBody>
      </p:sp>
      <p:sp>
        <p:nvSpPr>
          <p:cNvPr id="41" name="TextBox 40"/>
          <p:cNvSpPr txBox="1"/>
          <p:nvPr/>
        </p:nvSpPr>
        <p:spPr>
          <a:xfrm>
            <a:off x="10067544"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1단계 ECC(완결) · 2단계 단독 최적화(부분 성공)</a:t>
            </a:r>
          </a:p>
        </p:txBody>
      </p:sp>
      <p:sp>
        <p:nvSpPr>
          <p:cNvPr id="42" name="Right Arrow 41"/>
          <p:cNvSpPr/>
          <p:nvPr/>
        </p:nvSpPr>
        <p:spPr>
          <a:xfrm>
            <a:off x="13642848" y="2715768"/>
            <a:ext cx="219456"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3889736" y="2560320"/>
            <a:ext cx="3675888"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017752" y="2615184"/>
            <a:ext cx="3419856" cy="237744"/>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호스트 · 시스템 계층의 보상</a:t>
            </a:r>
          </a:p>
        </p:txBody>
      </p:sp>
      <p:sp>
        <p:nvSpPr>
          <p:cNvPr id="45" name="TextBox 44"/>
          <p:cNvSpPr txBox="1"/>
          <p:nvPr/>
        </p:nvSpPr>
        <p:spPr>
          <a:xfrm>
            <a:off x="14017752" y="2843784"/>
            <a:ext cx="3419856"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3단계 공동 설계 (2022~, 본 덱 4~5장)</a:t>
            </a:r>
          </a:p>
        </p:txBody>
      </p:sp>
      <p:sp>
        <p:nvSpPr>
          <p:cNvPr id="46" name="TextBox 45"/>
          <p:cNvSpPr txBox="1"/>
          <p:nvPr/>
        </p:nvSpPr>
        <p:spPr>
          <a:xfrm>
            <a:off x="722376" y="2560320"/>
            <a:ext cx="1188720" cy="512064"/>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이관 단계 →</a:t>
            </a:r>
          </a:p>
        </p:txBody>
      </p:sp>
      <p:sp>
        <p:nvSpPr>
          <p:cNvPr id="47" name="Rectangle 46"/>
          <p:cNvSpPr/>
          <p:nvPr/>
        </p:nvSpPr>
        <p:spPr>
          <a:xfrm>
            <a:off x="2039112" y="3145536"/>
            <a:ext cx="15526512" cy="49377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2376" y="3145536"/>
            <a:ext cx="1188720" cy="493776"/>
          </a:xfrm>
          <a:prstGeom prst="rect">
            <a:avLst/>
          </a:prstGeom>
          <a:noFill/>
        </p:spPr>
        <p:txBody>
          <a:bodyPr wrap="square" anchor="ctr" lIns="0" rIns="0" tIns="0" bIns="0">
            <a:spAutoFit/>
          </a:bodyPr>
          <a:lstStyle/>
          <a:p>
            <a:pPr algn="l">
              <a:lnSpc>
                <a:spcPct val="100000"/>
              </a:lnSpc>
            </a:pPr>
            <a:r>
              <a:rPr sz="1050" b="1">
                <a:solidFill>
                  <a:srgbClr val="1428A0"/>
                </a:solidFill>
                <a:latin typeface="Arial"/>
                <a:ea typeface="Arial"/>
              </a:rPr>
              <a:t>DWPD 산식</a:t>
            </a:r>
          </a:p>
          <a:p>
            <a:pPr algn="l">
              <a:lnSpc>
                <a:spcPct val="100000"/>
              </a:lnSpc>
            </a:pPr>
            <a:r>
              <a:rPr sz="900" b="0">
                <a:solidFill>
                  <a:srgbClr val="8A8A8A"/>
                </a:solidFill>
                <a:latin typeface="Arial"/>
                <a:ea typeface="Arial"/>
              </a:rPr>
              <a:t>항별 결정 주체</a:t>
            </a:r>
          </a:p>
        </p:txBody>
      </p:sp>
      <p:sp>
        <p:nvSpPr>
          <p:cNvPr id="49" name="Rectangle 48"/>
          <p:cNvSpPr/>
          <p:nvPr/>
        </p:nvSpPr>
        <p:spPr>
          <a:xfrm>
            <a:off x="6483096"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83096"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DWPD</a:t>
            </a:r>
          </a:p>
        </p:txBody>
      </p:sp>
      <p:sp>
        <p:nvSpPr>
          <p:cNvPr id="51" name="TextBox 50"/>
          <p:cNvSpPr txBox="1"/>
          <p:nvPr/>
        </p:nvSpPr>
        <p:spPr>
          <a:xfrm>
            <a:off x="6391656"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52" name="TextBox 51"/>
          <p:cNvSpPr txBox="1"/>
          <p:nvPr/>
        </p:nvSpPr>
        <p:spPr>
          <a:xfrm>
            <a:off x="7562088"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3" name="Rectangle 52"/>
          <p:cNvSpPr/>
          <p:nvPr/>
        </p:nvSpPr>
        <p:spPr>
          <a:xfrm>
            <a:off x="7891271"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891271"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P/E</a:t>
            </a:r>
          </a:p>
        </p:txBody>
      </p:sp>
      <p:sp>
        <p:nvSpPr>
          <p:cNvPr id="55" name="TextBox 54"/>
          <p:cNvSpPr txBox="1"/>
          <p:nvPr/>
        </p:nvSpPr>
        <p:spPr>
          <a:xfrm>
            <a:off x="7799831"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단품(셀)</a:t>
            </a:r>
          </a:p>
        </p:txBody>
      </p:sp>
      <p:sp>
        <p:nvSpPr>
          <p:cNvPr id="56" name="TextBox 55"/>
          <p:cNvSpPr txBox="1"/>
          <p:nvPr/>
        </p:nvSpPr>
        <p:spPr>
          <a:xfrm>
            <a:off x="8970263"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7" name="Rectangle 56"/>
          <p:cNvSpPr/>
          <p:nvPr/>
        </p:nvSpPr>
        <p:spPr>
          <a:xfrm>
            <a:off x="9299447"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99447"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1 + OP</a:t>
            </a:r>
          </a:p>
        </p:txBody>
      </p:sp>
      <p:sp>
        <p:nvSpPr>
          <p:cNvPr id="59" name="TextBox 58"/>
          <p:cNvSpPr txBox="1"/>
          <p:nvPr/>
        </p:nvSpPr>
        <p:spPr>
          <a:xfrm>
            <a:off x="9208007"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SSD</a:t>
            </a:r>
          </a:p>
        </p:txBody>
      </p:sp>
      <p:sp>
        <p:nvSpPr>
          <p:cNvPr id="60" name="TextBox 59"/>
          <p:cNvSpPr txBox="1"/>
          <p:nvPr/>
        </p:nvSpPr>
        <p:spPr>
          <a:xfrm>
            <a:off x="10378439"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1" name="Rectangle 60"/>
          <p:cNvSpPr/>
          <p:nvPr/>
        </p:nvSpPr>
        <p:spPr>
          <a:xfrm>
            <a:off x="10707623" y="3209544"/>
            <a:ext cx="1005840" cy="2743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707623" y="3209544"/>
            <a:ext cx="1005840" cy="274320"/>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WAF</a:t>
            </a:r>
          </a:p>
        </p:txBody>
      </p:sp>
      <p:sp>
        <p:nvSpPr>
          <p:cNvPr id="63" name="TextBox 62"/>
          <p:cNvSpPr txBox="1"/>
          <p:nvPr/>
        </p:nvSpPr>
        <p:spPr>
          <a:xfrm>
            <a:off x="10616183" y="3493007"/>
            <a:ext cx="1188720" cy="164592"/>
          </a:xfrm>
          <a:prstGeom prst="rect">
            <a:avLst/>
          </a:prstGeom>
          <a:noFill/>
        </p:spPr>
        <p:txBody>
          <a:bodyPr wrap="square" anchor="t" lIns="0" rIns="0" tIns="0" bIns="0">
            <a:spAutoFit/>
          </a:bodyPr>
          <a:lstStyle/>
          <a:p>
            <a:pPr algn="ctr">
              <a:lnSpc>
                <a:spcPct val="112000"/>
              </a:lnSpc>
            </a:pPr>
            <a:r>
              <a:rPr sz="850" b="1">
                <a:solidFill>
                  <a:srgbClr val="1428A0"/>
                </a:solidFill>
                <a:latin typeface="Arial"/>
                <a:ea typeface="Arial"/>
              </a:rPr>
              <a:t>호스트 · 앱</a:t>
            </a:r>
          </a:p>
        </p:txBody>
      </p:sp>
      <p:sp>
        <p:nvSpPr>
          <p:cNvPr id="64" name="TextBox 63"/>
          <p:cNvSpPr txBox="1"/>
          <p:nvPr/>
        </p:nvSpPr>
        <p:spPr>
          <a:xfrm>
            <a:off x="11786615"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5" name="Rectangle 64"/>
          <p:cNvSpPr/>
          <p:nvPr/>
        </p:nvSpPr>
        <p:spPr>
          <a:xfrm>
            <a:off x="12115799"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115799"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365 × 년</a:t>
            </a:r>
          </a:p>
        </p:txBody>
      </p:sp>
      <p:sp>
        <p:nvSpPr>
          <p:cNvPr id="67" name="TextBox 66"/>
          <p:cNvSpPr txBox="1"/>
          <p:nvPr/>
        </p:nvSpPr>
        <p:spPr>
          <a:xfrm>
            <a:off x="12024359"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68" name="Rectangle 67"/>
          <p:cNvSpPr/>
          <p:nvPr/>
        </p:nvSpPr>
        <p:spPr>
          <a:xfrm>
            <a:off x="722376" y="3730752"/>
            <a:ext cx="1188720" cy="296265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3730752"/>
            <a:ext cx="54864" cy="2962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86968" y="3877056"/>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내구성 축</a:t>
            </a:r>
          </a:p>
        </p:txBody>
      </p:sp>
      <p:sp>
        <p:nvSpPr>
          <p:cNvPr id="71" name="TextBox 70"/>
          <p:cNvSpPr txBox="1"/>
          <p:nvPr/>
        </p:nvSpPr>
        <p:spPr>
          <a:xfrm>
            <a:off x="886968" y="4187952"/>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P/E · BER</a:t>
            </a:r>
          </a:p>
          <a:p>
            <a:pPr algn="l">
              <a:lnSpc>
                <a:spcPct val="100000"/>
              </a:lnSpc>
            </a:pPr>
            <a:r>
              <a:rPr sz="975" b="0">
                <a:solidFill>
                  <a:srgbClr val="555555"/>
                </a:solidFill>
                <a:latin typeface="Arial"/>
                <a:ea typeface="Arial"/>
              </a:rPr>
              <a:t>DWPD · WAF</a:t>
            </a:r>
          </a:p>
        </p:txBody>
      </p:sp>
      <p:sp>
        <p:nvSpPr>
          <p:cNvPr id="72" name="Rectangle 71"/>
          <p:cNvSpPr/>
          <p:nvPr/>
        </p:nvSpPr>
        <p:spPr>
          <a:xfrm>
            <a:off x="2039112" y="3730752"/>
            <a:ext cx="3675888" cy="296265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167128" y="3858768"/>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추론 캐시 계층 요구</a:t>
            </a:r>
          </a:p>
        </p:txBody>
      </p:sp>
      <p:sp>
        <p:nvSpPr>
          <p:cNvPr id="74" name="TextBox 73"/>
          <p:cNvSpPr txBox="1"/>
          <p:nvPr/>
        </p:nvSpPr>
        <p:spPr>
          <a:xfrm>
            <a:off x="2167128" y="4059936"/>
            <a:ext cx="3419856" cy="457200"/>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DWPD 1~3</a:t>
            </a:r>
          </a:p>
        </p:txBody>
      </p:sp>
      <p:sp>
        <p:nvSpPr>
          <p:cNvPr id="75" name="TextBox 74"/>
          <p:cNvSpPr txBox="1"/>
          <p:nvPr/>
        </p:nvSpPr>
        <p:spPr>
          <a:xfrm>
            <a:off x="2167128" y="4535424"/>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현재 TLC 수준 · ScaleFlux 제시 유효 요구 7~10</a:t>
            </a:r>
          </a:p>
        </p:txBody>
      </p:sp>
      <p:sp>
        <p:nvSpPr>
          <p:cNvPr id="76" name="Rectangle 75"/>
          <p:cNvSpPr/>
          <p:nvPr/>
        </p:nvSpPr>
        <p:spPr>
          <a:xfrm>
            <a:off x="2167128" y="4974336"/>
            <a:ext cx="3419856"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167128" y="5065776"/>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신뢰성 요구 · JESD218</a:t>
            </a:r>
          </a:p>
        </p:txBody>
      </p:sp>
      <p:sp>
        <p:nvSpPr>
          <p:cNvPr id="78" name="TextBox 77"/>
          <p:cNvSpPr txBox="1"/>
          <p:nvPr/>
        </p:nvSpPr>
        <p:spPr>
          <a:xfrm>
            <a:off x="2167128" y="5266944"/>
            <a:ext cx="3419856"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UBER 10</a:t>
            </a:r>
            <a:r>
              <a:rPr sz="1300" b="1" baseline="30000">
                <a:solidFill>
                  <a:srgbClr val="1428A0"/>
                </a:solidFill>
                <a:latin typeface="Arial"/>
                <a:ea typeface="Arial"/>
              </a:rPr>
              <a:t>-15</a:t>
            </a:r>
            <a:r>
              <a:rPr sz="2200" b="1">
                <a:solidFill>
                  <a:srgbClr val="1428A0"/>
                </a:solidFill>
                <a:latin typeface="Arial"/>
                <a:ea typeface="Arial"/>
              </a:rPr>
              <a:t> · 10</a:t>
            </a:r>
            <a:r>
              <a:rPr sz="1300" b="1" baseline="30000">
                <a:solidFill>
                  <a:srgbClr val="1428A0"/>
                </a:solidFill>
                <a:latin typeface="Arial"/>
                <a:ea typeface="Arial"/>
              </a:rPr>
              <a:t>-16</a:t>
            </a:r>
          </a:p>
        </p:txBody>
      </p:sp>
      <p:sp>
        <p:nvSpPr>
          <p:cNvPr id="79" name="TextBox 78"/>
          <p:cNvSpPr txBox="1"/>
          <p:nvPr/>
        </p:nvSpPr>
        <p:spPr>
          <a:xfrm>
            <a:off x="2167128" y="5742432"/>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클라이언트 · 엔터프라이즈 · 보존 1년@30°C / 3개월@40°C</a:t>
            </a:r>
          </a:p>
        </p:txBody>
      </p:sp>
      <p:sp>
        <p:nvSpPr>
          <p:cNvPr id="80" name="Rectangle 79"/>
          <p:cNvSpPr/>
          <p:nvPr/>
        </p:nvSpPr>
        <p:spPr>
          <a:xfrm>
            <a:off x="5989320" y="3730752"/>
            <a:ext cx="3675888" cy="2962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1" name="Picture 80" descr="ladder_cell_component.png"/>
          <p:cNvPicPr>
            <a:picLocks noChangeAspect="1"/>
          </p:cNvPicPr>
          <p:nvPr/>
        </p:nvPicPr>
        <p:blipFill>
          <a:blip r:embed="rId2"/>
          <a:stretch>
            <a:fillRect/>
          </a:stretch>
        </p:blipFill>
        <p:spPr>
          <a:xfrm>
            <a:off x="6080760" y="3822191"/>
            <a:ext cx="3493008" cy="1941961"/>
          </a:xfrm>
          <a:prstGeom prst="rect">
            <a:avLst/>
          </a:prstGeom>
        </p:spPr>
      </p:pic>
      <p:sp>
        <p:nvSpPr>
          <p:cNvPr id="82" name="TextBox 81"/>
          <p:cNvSpPr txBox="1"/>
          <p:nvPr/>
        </p:nvSpPr>
        <p:spPr>
          <a:xfrm>
            <a:off x="6117336" y="6309360"/>
            <a:ext cx="3419856" cy="329184"/>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비트/셀 ↑ → 산포 마진 ↓ · 보존·사이클링·리드 디스터브로 시간에 따라 변하는 산포는 셀 단독으로 보정 불가</a:t>
            </a:r>
          </a:p>
        </p:txBody>
      </p:sp>
      <p:sp>
        <p:nvSpPr>
          <p:cNvPr id="83" name="Rectangle 82"/>
          <p:cNvSpPr/>
          <p:nvPr/>
        </p:nvSpPr>
        <p:spPr>
          <a:xfrm>
            <a:off x="9939528" y="3730752"/>
            <a:ext cx="3675888" cy="2962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0030968" y="3822191"/>
            <a:ext cx="3493008" cy="65836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0030968" y="3822191"/>
            <a:ext cx="54864" cy="6583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0177272" y="3877055"/>
            <a:ext cx="201168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1단계 · 컨트롤러 ECC (1991~)</a:t>
            </a:r>
          </a:p>
        </p:txBody>
      </p:sp>
      <p:sp>
        <p:nvSpPr>
          <p:cNvPr id="87" name="TextBox 86"/>
          <p:cNvSpPr txBox="1"/>
          <p:nvPr/>
        </p:nvSpPr>
        <p:spPr>
          <a:xfrm>
            <a:off x="12152376" y="3877055"/>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UBER 요구 충족</a:t>
            </a:r>
          </a:p>
        </p:txBody>
      </p:sp>
      <p:sp>
        <p:nvSpPr>
          <p:cNvPr id="88" name="TextBox 87"/>
          <p:cNvSpPr txBox="1"/>
          <p:nvPr/>
        </p:nvSpPr>
        <p:spPr>
          <a:xfrm>
            <a:off x="10177272" y="4069079"/>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ECC 1 bit/512B → LDPC 120 bit/KB · 60배 ↑</a:t>
            </a:r>
          </a:p>
        </p:txBody>
      </p:sp>
      <p:sp>
        <p:nvSpPr>
          <p:cNvPr id="89" name="TextBox 88"/>
          <p:cNvSpPr txBox="1"/>
          <p:nvPr/>
        </p:nvSpPr>
        <p:spPr>
          <a:xfrm>
            <a:off x="10177272" y="4297679"/>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RBER 백만 배 상승분을 컨트롤러가 흡수 · 완결된 이관</a:t>
            </a:r>
          </a:p>
        </p:txBody>
      </p:sp>
      <p:sp>
        <p:nvSpPr>
          <p:cNvPr id="90" name="Rectangle 89"/>
          <p:cNvSpPr/>
          <p:nvPr/>
        </p:nvSpPr>
        <p:spPr>
          <a:xfrm>
            <a:off x="10030968" y="4571999"/>
            <a:ext cx="3493008" cy="20299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177272" y="4626863"/>
            <a:ext cx="2194560" cy="182880"/>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2단계 · SSD 단독 최적화</a:t>
            </a:r>
          </a:p>
        </p:txBody>
      </p:sp>
      <p:sp>
        <p:nvSpPr>
          <p:cNvPr id="92" name="TextBox 91"/>
          <p:cNvSpPr txBox="1"/>
          <p:nvPr/>
        </p:nvSpPr>
        <p:spPr>
          <a:xfrm>
            <a:off x="12152376" y="4626863"/>
            <a:ext cx="1280160" cy="201168"/>
          </a:xfrm>
          <a:prstGeom prst="rect">
            <a:avLst/>
          </a:prstGeom>
          <a:noFill/>
        </p:spPr>
        <p:txBody>
          <a:bodyPr wrap="square" anchor="t" lIns="0" rIns="0" tIns="0" bIns="0">
            <a:spAutoFit/>
          </a:bodyPr>
          <a:lstStyle/>
          <a:p>
            <a:pPr algn="r">
              <a:lnSpc>
                <a:spcPct val="112000"/>
              </a:lnSpc>
            </a:pPr>
            <a:r>
              <a:rPr sz="975" b="1">
                <a:solidFill>
                  <a:srgbClr val="8A8A8A"/>
                </a:solidFill>
                <a:latin typeface="Arial"/>
                <a:ea typeface="Arial"/>
              </a:rPr>
              <a:t>요구 미달</a:t>
            </a:r>
          </a:p>
        </p:txBody>
      </p:sp>
      <p:sp>
        <p:nvSpPr>
          <p:cNvPr id="93" name="TextBox 92"/>
          <p:cNvSpPr txBox="1"/>
          <p:nvPr/>
        </p:nvSpPr>
        <p:spPr>
          <a:xfrm>
            <a:off x="10177272" y="4818888"/>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QoS · 성능 개선, WAF ≈ 3 · 부분 성공</a:t>
            </a:r>
          </a:p>
        </p:txBody>
      </p:sp>
      <p:sp>
        <p:nvSpPr>
          <p:cNvPr id="94" name="TextBox 93"/>
          <p:cNvSpPr txBox="1"/>
          <p:nvPr/>
        </p:nvSpPr>
        <p:spPr>
          <a:xfrm>
            <a:off x="10177272" y="5047488"/>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'14~'19 추정 배치·스트림·IOD · SSD는 데이터 수명 감지 불가</a:t>
            </a:r>
          </a:p>
        </p:txBody>
      </p:sp>
      <p:pic>
        <p:nvPicPr>
          <p:cNvPr id="95" name="Picture 94" descr="ladder_cell_dwpd.png"/>
          <p:cNvPicPr>
            <a:picLocks noChangeAspect="1"/>
          </p:cNvPicPr>
          <p:nvPr/>
        </p:nvPicPr>
        <p:blipFill>
          <a:blip r:embed="rId3"/>
          <a:stretch>
            <a:fillRect/>
          </a:stretch>
        </p:blipFill>
        <p:spPr>
          <a:xfrm>
            <a:off x="10291572" y="5248655"/>
            <a:ext cx="2971800" cy="878983"/>
          </a:xfrm>
          <a:prstGeom prst="rect">
            <a:avLst/>
          </a:prstGeom>
        </p:spPr>
      </p:pic>
      <p:sp>
        <p:nvSpPr>
          <p:cNvPr id="96" name="Rectangle 95"/>
          <p:cNvSpPr/>
          <p:nvPr/>
        </p:nvSpPr>
        <p:spPr>
          <a:xfrm>
            <a:off x="13889736" y="3730752"/>
            <a:ext cx="3675888" cy="2962656"/>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4017752" y="3840480"/>
            <a:ext cx="210312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3단계 · 호스트 공동 설계 (2022~)</a:t>
            </a:r>
          </a:p>
        </p:txBody>
      </p:sp>
      <p:sp>
        <p:nvSpPr>
          <p:cNvPr id="98" name="TextBox 97"/>
          <p:cNvSpPr txBox="1"/>
          <p:nvPr/>
        </p:nvSpPr>
        <p:spPr>
          <a:xfrm>
            <a:off x="16066008" y="3840480"/>
            <a:ext cx="137160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요구 도달 · 조건부</a:t>
            </a:r>
          </a:p>
        </p:txBody>
      </p:sp>
      <p:sp>
        <p:nvSpPr>
          <p:cNvPr id="99" name="TextBox 98"/>
          <p:cNvSpPr txBox="1"/>
          <p:nvPr/>
        </p:nvSpPr>
        <p:spPr>
          <a:xfrm>
            <a:off x="14017752" y="4041648"/>
            <a:ext cx="3419856"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호스트가 데이터 수명을 지정 → WAF ≈3 → ≈1</a:t>
            </a:r>
          </a:p>
        </p:txBody>
      </p:sp>
      <p:sp>
        <p:nvSpPr>
          <p:cNvPr id="100" name="TextBox 99"/>
          <p:cNvSpPr txBox="1"/>
          <p:nvPr/>
        </p:nvSpPr>
        <p:spPr>
          <a:xfrm>
            <a:off x="14017752" y="4279392"/>
            <a:ext cx="3419856"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배치 표준 · 캐시 관리자 정책 · 공동 설계 = 본 덱 4~5장</a:t>
            </a:r>
          </a:p>
        </p:txBody>
      </p:sp>
      <p:pic>
        <p:nvPicPr>
          <p:cNvPr id="101" name="Picture 100" descr="ladder_cell_waf.png"/>
          <p:cNvPicPr>
            <a:picLocks noChangeAspect="1"/>
          </p:cNvPicPr>
          <p:nvPr/>
        </p:nvPicPr>
        <p:blipFill>
          <a:blip r:embed="rId4"/>
          <a:stretch>
            <a:fillRect/>
          </a:stretch>
        </p:blipFill>
        <p:spPr>
          <a:xfrm>
            <a:off x="14090904" y="4535424"/>
            <a:ext cx="3273552" cy="1198766"/>
          </a:xfrm>
          <a:prstGeom prst="rect">
            <a:avLst/>
          </a:prstGeom>
        </p:spPr>
      </p:pic>
      <p:sp>
        <p:nvSpPr>
          <p:cNvPr id="102" name="TextBox 101"/>
          <p:cNvSpPr txBox="1"/>
          <p:nvPr/>
        </p:nvSpPr>
        <p:spPr>
          <a:xfrm>
            <a:off x="14017752" y="6327648"/>
            <a:ext cx="3419856" cy="310896"/>
          </a:xfrm>
          <a:prstGeom prst="rect">
            <a:avLst/>
          </a:prstGeom>
          <a:noFill/>
        </p:spPr>
        <p:txBody>
          <a:bodyPr wrap="square" anchor="ctr" lIns="0" rIns="0" tIns="0" bIns="0">
            <a:spAutoFit/>
          </a:bodyPr>
          <a:lstStyle/>
          <a:p>
            <a:pPr algn="l">
              <a:lnSpc>
                <a:spcPct val="112000"/>
              </a:lnSpc>
            </a:pPr>
            <a:r>
              <a:rPr sz="975" b="1">
                <a:solidFill>
                  <a:srgbClr val="1428A0"/>
                </a:solidFill>
                <a:latin typeface="Arial"/>
                <a:ea typeface="Arial"/>
              </a:rPr>
              <a:t>호스트가 쥔 남은 지렛대(×2.9) · KV 캐시 실측은 Phase 2 검증 대상</a:t>
            </a:r>
          </a:p>
        </p:txBody>
      </p:sp>
      <p:sp>
        <p:nvSpPr>
          <p:cNvPr id="103" name="Rectangle 102"/>
          <p:cNvSpPr/>
          <p:nvPr/>
        </p:nvSpPr>
        <p:spPr>
          <a:xfrm>
            <a:off x="722376" y="6821424"/>
            <a:ext cx="1188720" cy="160934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22376" y="6821424"/>
            <a:ext cx="54864" cy="160934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86968" y="6967728"/>
            <a:ext cx="950976" cy="274320"/>
          </a:xfrm>
          <a:prstGeom prst="rect">
            <a:avLst/>
          </a:prstGeom>
          <a:noFill/>
        </p:spPr>
        <p:txBody>
          <a:bodyPr wrap="square" anchor="t" lIns="0" rIns="0" tIns="0" bIns="0">
            <a:spAutoFit/>
          </a:bodyPr>
          <a:lstStyle/>
          <a:p>
            <a:pPr algn="l">
              <a:lnSpc>
                <a:spcPct val="100000"/>
              </a:lnSpc>
            </a:pPr>
            <a:r>
              <a:rPr sz="1200" b="1">
                <a:solidFill>
                  <a:srgbClr val="1428A0"/>
                </a:solidFill>
                <a:latin typeface="Arial"/>
                <a:ea typeface="Arial"/>
              </a:rPr>
              <a:t>격차를 닫는
지렛대</a:t>
            </a:r>
          </a:p>
        </p:txBody>
      </p:sp>
      <p:sp>
        <p:nvSpPr>
          <p:cNvPr id="106" name="TextBox 105"/>
          <p:cNvSpPr txBox="1"/>
          <p:nvPr/>
        </p:nvSpPr>
        <p:spPr>
          <a:xfrm>
            <a:off x="886968" y="7571231"/>
            <a:ext cx="950976" cy="73152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모두 병행 중 · 본 보고는
호스트 축을 다룸</a:t>
            </a:r>
          </a:p>
        </p:txBody>
      </p:sp>
      <p:sp>
        <p:nvSpPr>
          <p:cNvPr id="107" name="Rectangle 106"/>
          <p:cNvSpPr/>
          <p:nvPr/>
        </p:nvSpPr>
        <p:spPr>
          <a:xfrm>
            <a:off x="203911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2148840"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셀 · 다이</a:t>
            </a:r>
          </a:p>
        </p:txBody>
      </p:sp>
      <p:sp>
        <p:nvSpPr>
          <p:cNvPr id="109" name="TextBox 108"/>
          <p:cNvSpPr txBox="1"/>
          <p:nvPr/>
        </p:nvSpPr>
        <p:spPr>
          <a:xfrm>
            <a:off x="2148840"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다이 세대</a:t>
            </a:r>
          </a:p>
        </p:txBody>
      </p:sp>
      <p:sp>
        <p:nvSpPr>
          <p:cNvPr id="110" name="TextBox 109"/>
          <p:cNvSpPr txBox="1"/>
          <p:nvPr/>
        </p:nvSpPr>
        <p:spPr>
          <a:xfrm>
            <a:off x="2148840"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P/E ↑ · 2Tb QLC</a:t>
            </a:r>
          </a:p>
        </p:txBody>
      </p:sp>
      <p:sp>
        <p:nvSpPr>
          <p:cNvPr id="111" name="Rectangle 110"/>
          <p:cNvSpPr/>
          <p:nvPr/>
        </p:nvSpPr>
        <p:spPr>
          <a:xfrm>
            <a:off x="464515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754880"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a:t>
            </a:r>
          </a:p>
        </p:txBody>
      </p:sp>
      <p:sp>
        <p:nvSpPr>
          <p:cNvPr id="113" name="TextBox 112"/>
          <p:cNvSpPr txBox="1"/>
          <p:nvPr/>
        </p:nvSpPr>
        <p:spPr>
          <a:xfrm>
            <a:off x="4754880"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OP</a:t>
            </a:r>
          </a:p>
        </p:txBody>
      </p:sp>
      <p:sp>
        <p:nvSpPr>
          <p:cNvPr id="114" name="TextBox 113"/>
          <p:cNvSpPr txBox="1"/>
          <p:nvPr/>
        </p:nvSpPr>
        <p:spPr>
          <a:xfrm>
            <a:off x="4754880"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(1 + OP) · 예비 용량</a:t>
            </a:r>
          </a:p>
        </p:txBody>
      </p:sp>
      <p:sp>
        <p:nvSpPr>
          <p:cNvPr id="115" name="Rectangle 114"/>
          <p:cNvSpPr/>
          <p:nvPr/>
        </p:nvSpPr>
        <p:spPr>
          <a:xfrm>
            <a:off x="725119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7360919"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a:t>
            </a:r>
          </a:p>
        </p:txBody>
      </p:sp>
      <p:sp>
        <p:nvSpPr>
          <p:cNvPr id="117" name="TextBox 116"/>
          <p:cNvSpPr txBox="1"/>
          <p:nvPr/>
        </p:nvSpPr>
        <p:spPr>
          <a:xfrm>
            <a:off x="7360919"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SLC 캐시 · 쓰기 정형</a:t>
            </a:r>
          </a:p>
        </p:txBody>
      </p:sp>
      <p:sp>
        <p:nvSpPr>
          <p:cNvPr id="118" name="TextBox 117"/>
          <p:cNvSpPr txBox="1"/>
          <p:nvPr/>
        </p:nvSpPr>
        <p:spPr>
          <a:xfrm>
            <a:off x="7360919"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GC 효율 · 순차화</a:t>
            </a:r>
          </a:p>
        </p:txBody>
      </p:sp>
      <p:sp>
        <p:nvSpPr>
          <p:cNvPr id="119" name="Rectangle 118"/>
          <p:cNvSpPr/>
          <p:nvPr/>
        </p:nvSpPr>
        <p:spPr>
          <a:xfrm>
            <a:off x="985723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9966960"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고객 · 계약</a:t>
            </a:r>
          </a:p>
        </p:txBody>
      </p:sp>
      <p:sp>
        <p:nvSpPr>
          <p:cNvPr id="121" name="TextBox 120"/>
          <p:cNvSpPr txBox="1"/>
          <p:nvPr/>
        </p:nvSpPr>
        <p:spPr>
          <a:xfrm>
            <a:off x="9966960"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보증연수 · TBW 기준</a:t>
            </a:r>
          </a:p>
        </p:txBody>
      </p:sp>
      <p:sp>
        <p:nvSpPr>
          <p:cNvPr id="122" name="TextBox 121"/>
          <p:cNvSpPr txBox="1"/>
          <p:nvPr/>
        </p:nvSpPr>
        <p:spPr>
          <a:xfrm>
            <a:off x="9966960"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365 × 년 · 정격 산정</a:t>
            </a:r>
          </a:p>
        </p:txBody>
      </p:sp>
      <p:sp>
        <p:nvSpPr>
          <p:cNvPr id="123" name="Rectangle 122"/>
          <p:cNvSpPr/>
          <p:nvPr/>
        </p:nvSpPr>
        <p:spPr>
          <a:xfrm>
            <a:off x="1246327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573000"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고객 · 앱</a:t>
            </a:r>
          </a:p>
        </p:txBody>
      </p:sp>
      <p:sp>
        <p:nvSpPr>
          <p:cNvPr id="125" name="TextBox 124"/>
          <p:cNvSpPr txBox="1"/>
          <p:nvPr/>
        </p:nvSpPr>
        <p:spPr>
          <a:xfrm>
            <a:off x="12573000"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워크로드 재정의</a:t>
            </a:r>
          </a:p>
        </p:txBody>
      </p:sp>
      <p:sp>
        <p:nvSpPr>
          <p:cNvPr id="126" name="TextBox 125"/>
          <p:cNvSpPr txBox="1"/>
          <p:nvPr/>
        </p:nvSpPr>
        <p:spPr>
          <a:xfrm>
            <a:off x="12573000"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어드미션 · TLC 혼합 계층</a:t>
            </a:r>
          </a:p>
        </p:txBody>
      </p:sp>
      <p:sp>
        <p:nvSpPr>
          <p:cNvPr id="127" name="Rectangle 126"/>
          <p:cNvSpPr/>
          <p:nvPr/>
        </p:nvSpPr>
        <p:spPr>
          <a:xfrm>
            <a:off x="15069312" y="6967728"/>
            <a:ext cx="2496312" cy="89611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179040" y="7040880"/>
            <a:ext cx="2276856" cy="182880"/>
          </a:xfrm>
          <a:prstGeom prst="rect">
            <a:avLst/>
          </a:prstGeom>
          <a:noFill/>
        </p:spPr>
        <p:txBody>
          <a:bodyPr wrap="square" anchor="t" lIns="0" rIns="0" tIns="0" bIns="0">
            <a:spAutoFit/>
          </a:bodyPr>
          <a:lstStyle/>
          <a:p>
            <a:pPr algn="l">
              <a:lnSpc>
                <a:spcPct val="112000"/>
              </a:lnSpc>
            </a:pPr>
            <a:r>
              <a:rPr sz="875" b="0">
                <a:solidFill>
                  <a:srgbClr val="FFFFFF"/>
                </a:solidFill>
                <a:latin typeface="Arial"/>
                <a:ea typeface="Arial"/>
              </a:rPr>
              <a:t>호스트 · 앱 · 본 보고</a:t>
            </a:r>
          </a:p>
        </p:txBody>
      </p:sp>
      <p:sp>
        <p:nvSpPr>
          <p:cNvPr id="129" name="TextBox 128"/>
          <p:cNvSpPr txBox="1"/>
          <p:nvPr/>
        </p:nvSpPr>
        <p:spPr>
          <a:xfrm>
            <a:off x="15179040" y="7242048"/>
            <a:ext cx="2276856" cy="237744"/>
          </a:xfrm>
          <a:prstGeom prst="rect">
            <a:avLst/>
          </a:prstGeom>
          <a:noFill/>
        </p:spPr>
        <p:txBody>
          <a:bodyPr wrap="square" anchor="t" lIns="0" rIns="0" tIns="0" bIns="0">
            <a:spAutoFit/>
          </a:bodyPr>
          <a:lstStyle/>
          <a:p>
            <a:pPr algn="l">
              <a:lnSpc>
                <a:spcPct val="112000"/>
              </a:lnSpc>
            </a:pPr>
            <a:r>
              <a:rPr sz="1125" b="1">
                <a:solidFill>
                  <a:srgbClr val="FFFFFF"/>
                </a:solidFill>
                <a:latin typeface="Arial"/>
                <a:ea typeface="Arial"/>
              </a:rPr>
              <a:t>호스트 배치 (WAF)</a:t>
            </a:r>
          </a:p>
        </p:txBody>
      </p:sp>
      <p:sp>
        <p:nvSpPr>
          <p:cNvPr id="130" name="TextBox 129"/>
          <p:cNvSpPr txBox="1"/>
          <p:nvPr/>
        </p:nvSpPr>
        <p:spPr>
          <a:xfrm>
            <a:off x="15179040" y="7498079"/>
            <a:ext cx="2276856" cy="310896"/>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≈3 → ≈1 · 유효 DWPD ×2.9</a:t>
            </a:r>
          </a:p>
        </p:txBody>
      </p:sp>
      <p:sp>
        <p:nvSpPr>
          <p:cNvPr id="131" name="TextBox 130"/>
          <p:cNvSpPr txBox="1"/>
          <p:nvPr/>
        </p:nvSpPr>
        <p:spPr>
          <a:xfrm>
            <a:off x="2039112" y="7955279"/>
            <a:ext cx="15526512" cy="402336"/>
          </a:xfrm>
          <a:prstGeom prst="rect">
            <a:avLst/>
          </a:prstGeom>
          <a:noFill/>
        </p:spPr>
        <p:txBody>
          <a:bodyPr wrap="square" anchor="t" lIns="0" rIns="0" tIns="0" bIns="0">
            <a:spAutoFit/>
          </a:bodyPr>
          <a:lstStyle/>
          <a:p>
            <a:pPr algn="l">
              <a:lnSpc>
                <a:spcPct val="102000"/>
              </a:lnSpc>
            </a:pPr>
            <a:r>
              <a:rPr sz="900" b="0">
                <a:solidFill>
                  <a:srgbClr val="555555"/>
                </a:solidFill>
                <a:latin typeface="Arial"/>
                <a:ea typeface="Arial"/>
              </a:rPr>
              <a:t>호스트 배치 하나로는 격차(동급 비교 2~10배)가 닫히지 않습니다. WAF ×2.9는 다이 세대·OP·보증연수·워크로드 재정의와 결합해 요구에 도달하며, 이 중 호스트·고객 쪽 지렛대가 다수라는 점이 공동 설계의 근거입니다</a:t>
            </a:r>
          </a:p>
        </p:txBody>
      </p:sp>
      <p:sp>
        <p:nvSpPr>
          <p:cNvPr id="132" name="Rectangle 13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4" name="TextBox 13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요구(UBER·DWPD)는 고정, 단품 지표(RBER·P/E)는 악화, 격차는 상위 계층이 보상해 왔습니다.</a:t>
            </a:r>
          </a:p>
          <a:p>
            <a:pPr algn="l">
              <a:lnSpc>
                <a:spcPct val="108000"/>
              </a:lnSpc>
            </a:pPr>
            <a:r>
              <a:rPr sz="1650" b="1">
                <a:solidFill>
                  <a:srgbClr val="FFFFFF"/>
                </a:solidFill>
                <a:latin typeface="Arial"/>
                <a:ea typeface="Arial"/>
              </a:rPr>
              <a:t>호스트 공동 설계는 QLC DWPD의 남은 지렛대이며, 다이 세대·OP·보증연수 등 병행 중인 축과 결합해 격차를 닫습니다</a:t>
            </a:r>
          </a:p>
        </p:txBody>
      </p:sp>
      <p:sp>
        <p:nvSpPr>
          <p:cNvPr id="135" name="Rectangle 13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신뢰성 · SSD가 풀 문제</a:t>
            </a:r>
          </a:p>
        </p:txBody>
      </p:sp>
      <p:sp>
        <p:nvSpPr>
          <p:cNvPr id="138" name="TextBox 13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 ATP·Kioxia(DWPD 산식), Intel·Solidigm 사양(정격 DWPD), Mielke·Cai(RBER), WD(LDPC), CacheLib·삼성·NVMe FDP·VLDB'26(WAF), P5336·6550 ION·CM9·LC9(동급 DWPD) · 등급은 부록 A F28~F54</a:t>
            </a:r>
          </a:p>
        </p:txBody>
      </p:sp>
      <p:sp>
        <p:nvSpPr>
          <p:cNvPr id="139" name="TextBox 13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SSD가 풀 문제</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다이 수 8배 증가로 다이 고장률 요구가 8배 엄격해졌고, 이 축은 SSD 내부 해법으로 대응합니다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내구성 축과 달리 신뢰성 축은 호스트 협력이 아니라 SSD 설계에서 풀 문제입니다. 다이 패리티, 여분 다이와 감량 운영, 텔레메트리 예측이 그 해법입니다.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el_dies_wide.png"/>
          <p:cNvPicPr>
            <a:picLocks noChangeAspect="1"/>
          </p:cNvPicPr>
          <p:nvPr/>
        </p:nvPicPr>
        <p:blipFill>
          <a:blip r:embed="rId2"/>
          <a:stretch>
            <a:fillRect/>
          </a:stretch>
        </p:blipFill>
        <p:spPr>
          <a:xfrm>
            <a:off x="722376" y="2560320"/>
            <a:ext cx="5440680" cy="2283142"/>
          </a:xfrm>
          <a:prstGeom prst="rect">
            <a:avLst/>
          </a:prstGeom>
        </p:spPr>
      </p:pic>
      <p:pic>
        <p:nvPicPr>
          <p:cNvPr id="33" name="Picture 32" descr="rel_ffr_limit.png"/>
          <p:cNvPicPr>
            <a:picLocks noChangeAspect="1"/>
          </p:cNvPicPr>
          <p:nvPr/>
        </p:nvPicPr>
        <p:blipFill>
          <a:blip r:embed="rId3"/>
          <a:stretch>
            <a:fillRect/>
          </a:stretch>
        </p:blipFill>
        <p:spPr>
          <a:xfrm>
            <a:off x="6364224" y="2560320"/>
            <a:ext cx="5440680" cy="2283142"/>
          </a:xfrm>
          <a:prstGeom prst="rect">
            <a:avLst/>
          </a:prstGeom>
        </p:spPr>
      </p:pic>
      <p:sp>
        <p:nvSpPr>
          <p:cNvPr id="34" name="Rectangle 33"/>
          <p:cNvSpPr/>
          <p:nvPr/>
        </p:nvSpPr>
        <p:spPr>
          <a:xfrm>
            <a:off x="12006072" y="2560320"/>
            <a:ext cx="5559552" cy="2286000"/>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2225528" y="2688336"/>
            <a:ext cx="512064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요구 · JESD218 기능 고장률</a:t>
            </a:r>
          </a:p>
        </p:txBody>
      </p:sp>
      <p:sp>
        <p:nvSpPr>
          <p:cNvPr id="36" name="TextBox 35"/>
          <p:cNvSpPr txBox="1"/>
          <p:nvPr/>
        </p:nvSpPr>
        <p:spPr>
          <a:xfrm>
            <a:off x="12225528" y="2889503"/>
            <a:ext cx="5120640" cy="5120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FFR ≤ 3%  고정</a:t>
            </a:r>
          </a:p>
        </p:txBody>
      </p:sp>
      <p:sp>
        <p:nvSpPr>
          <p:cNvPr id="37" name="TextBox 36"/>
          <p:cNvSpPr txBox="1"/>
          <p:nvPr/>
        </p:nvSpPr>
        <p:spPr>
          <a:xfrm>
            <a:off x="12225528" y="3456432"/>
            <a:ext cx="5120640" cy="1316736"/>
          </a:xfrm>
          <a:prstGeom prst="rect">
            <a:avLst/>
          </a:prstGeom>
          <a:noFill/>
        </p:spPr>
        <p:txBody>
          <a:bodyPr wrap="square" anchor="t" lIns="0" rIns="0" tIns="0" bIns="0">
            <a:spAutoFit/>
          </a:bodyPr>
          <a:lstStyle/>
          <a:p>
            <a:pPr algn="l">
              <a:lnSpc>
                <a:spcPct val="106000"/>
              </a:lnSpc>
            </a:pPr>
            <a:r>
              <a:rPr sz="1050" b="1">
                <a:solidFill>
                  <a:srgbClr val="1A1A1A"/>
                </a:solidFill>
                <a:latin typeface="Arial"/>
                <a:ea typeface="Arial"/>
              </a:rPr>
              <a:t>보호 없는 SSD 고장률 ≈ N × 다이 고장률</a:t>
            </a:r>
          </a:p>
          <a:p>
            <a:pPr algn="l">
              <a:lnSpc>
                <a:spcPct val="106000"/>
              </a:lnSpc>
            </a:pPr>
            <a:r>
              <a:rPr sz="950" b="0">
                <a:solidFill>
                  <a:srgbClr val="555555"/>
                </a:solidFill>
                <a:latin typeface="Arial"/>
                <a:ea typeface="Arial"/>
              </a:rPr>
              <a:t>N 128 → 1,024이면 같은 FFR을 지키기 위한 다이 고장률 상한은 2.4e-4 → 3.0e-5 (8배 ↓)</a:t>
            </a:r>
          </a:p>
          <a:p>
            <a:pPr algn="l">
              <a:lnSpc>
                <a:spcPct val="106000"/>
              </a:lnSpc>
            </a:pPr>
            <a:r>
              <a:rPr sz="950" b="0">
                <a:solidFill>
                  <a:srgbClr val="555555"/>
                </a:solidFill>
                <a:latin typeface="Arial"/>
                <a:ea typeface="Arial"/>
              </a:rPr>
              <a:t>칩 면적이 커질수록 수율이 떨어지는 포아송 모델과 같은 구조 · 다이 고장률 개선은 기술적 한계에 접근</a:t>
            </a:r>
          </a:p>
          <a:p>
            <a:pPr algn="l">
              <a:lnSpc>
                <a:spcPct val="106000"/>
              </a:lnSpc>
            </a:pPr>
            <a:r>
              <a:rPr sz="975" b="1">
                <a:solidFill>
                  <a:srgbClr val="1428A0"/>
                </a:solidFill>
                <a:latin typeface="Arial"/>
                <a:ea typeface="Arial"/>
              </a:rPr>
              <a:t>→ 해법은 다이가 아니라 SSD 계층: 단일 다이 고장을 허용하면 상한이 p에서 p² 차수로 완화</a:t>
            </a:r>
          </a:p>
        </p:txBody>
      </p:sp>
      <p:sp>
        <p:nvSpPr>
          <p:cNvPr id="38" name="TextBox 37"/>
          <p:cNvSpPr txBox="1"/>
          <p:nvPr/>
        </p:nvSpPr>
        <p:spPr>
          <a:xfrm>
            <a:off x="722376" y="5047488"/>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내부 해법</a:t>
            </a:r>
            <a:r>
              <a:rPr sz="1050" b="0">
                <a:solidFill>
                  <a:srgbClr val="8A8A8A"/>
                </a:solidFill>
                <a:latin typeface="Arial"/>
                <a:ea typeface="Arial"/>
              </a:rPr>
              <a:t>   다이 고장을 SSD 안에서 흡수하고, 호스트에는 관측 지표만 제공</a:t>
            </a:r>
          </a:p>
        </p:txBody>
      </p:sp>
      <p:sp>
        <p:nvSpPr>
          <p:cNvPr id="39" name="Rectangle 38"/>
          <p:cNvSpPr/>
          <p:nvPr/>
        </p:nvSpPr>
        <p:spPr>
          <a:xfrm>
            <a:off x="722376" y="5376672"/>
            <a:ext cx="4059936" cy="2578608"/>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22376" y="5376672"/>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05256" y="5504688"/>
            <a:ext cx="3694176"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① 다이 패리티 (RAID-like XOR)</a:t>
            </a:r>
          </a:p>
        </p:txBody>
      </p:sp>
      <p:sp>
        <p:nvSpPr>
          <p:cNvPr id="42" name="TextBox 41"/>
          <p:cNvSpPr txBox="1"/>
          <p:nvPr/>
        </p:nvSpPr>
        <p:spPr>
          <a:xfrm>
            <a:off x="905256" y="583387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원리  </a:t>
            </a:r>
            <a:r>
              <a:rPr sz="900" b="0">
                <a:solidFill>
                  <a:srgbClr val="555555"/>
                </a:solidFill>
                <a:latin typeface="Arial"/>
                <a:ea typeface="Arial"/>
              </a:rPr>
              <a:t>슈퍼페이지를 여러 다이에 걸쳐 구성하고 패리티 다이에 XOR 저장 · 단일 다이 고장 시 복구</a:t>
            </a:r>
          </a:p>
        </p:txBody>
      </p:sp>
      <p:sp>
        <p:nvSpPr>
          <p:cNvPr id="43" name="TextBox 42"/>
          <p:cNvSpPr txBox="1"/>
          <p:nvPr/>
        </p:nvSpPr>
        <p:spPr>
          <a:xfrm>
            <a:off x="905256" y="638251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선례  </a:t>
            </a:r>
            <a:r>
              <a:rPr sz="900" b="0">
                <a:solidFill>
                  <a:srgbClr val="555555"/>
                </a:solidFill>
                <a:latin typeface="Arial"/>
                <a:ea typeface="Arial"/>
              </a:rPr>
              <a:t>Micron RAIN · Cai 외 superpage-level parity(학술)</a:t>
            </a:r>
          </a:p>
        </p:txBody>
      </p:sp>
      <p:sp>
        <p:nvSpPr>
          <p:cNvPr id="44" name="TextBox 43"/>
          <p:cNvSpPr txBox="1"/>
          <p:nvPr/>
        </p:nvSpPr>
        <p:spPr>
          <a:xfrm>
            <a:off x="905256" y="6931151"/>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비용  </a:t>
            </a:r>
            <a:r>
              <a:rPr sz="900" b="0">
                <a:solidFill>
                  <a:srgbClr val="555555"/>
                </a:solidFill>
                <a:latin typeface="Arial"/>
                <a:ea typeface="Arial"/>
              </a:rPr>
              <a:t>패리티 다이 용량(1/스트라이프) · 다이 수와 함께 스트라이프 설계 재최적화</a:t>
            </a:r>
          </a:p>
        </p:txBody>
      </p:sp>
      <p:sp>
        <p:nvSpPr>
          <p:cNvPr id="45" name="TextBox 44"/>
          <p:cNvSpPr txBox="1"/>
          <p:nvPr/>
        </p:nvSpPr>
        <p:spPr>
          <a:xfrm>
            <a:off x="905256" y="747979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효과  </a:t>
            </a:r>
            <a:r>
              <a:rPr sz="900" b="0">
                <a:solidFill>
                  <a:srgbClr val="555555"/>
                </a:solidFill>
                <a:latin typeface="Arial"/>
                <a:ea typeface="Arial"/>
              </a:rPr>
              <a:t>SSD 고장률 p → p² 차수 · FFR 여유 확보</a:t>
            </a:r>
          </a:p>
        </p:txBody>
      </p:sp>
      <p:sp>
        <p:nvSpPr>
          <p:cNvPr id="46" name="Rectangle 45"/>
          <p:cNvSpPr/>
          <p:nvPr/>
        </p:nvSpPr>
        <p:spPr>
          <a:xfrm>
            <a:off x="4983480" y="5376672"/>
            <a:ext cx="4059936" cy="2578608"/>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83480" y="5376672"/>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166360" y="5504688"/>
            <a:ext cx="3694176"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② 여분 다이 · 다이 은퇴 · 감량 운영</a:t>
            </a:r>
          </a:p>
        </p:txBody>
      </p:sp>
      <p:sp>
        <p:nvSpPr>
          <p:cNvPr id="49" name="TextBox 48"/>
          <p:cNvSpPr txBox="1"/>
          <p:nvPr/>
        </p:nvSpPr>
        <p:spPr>
          <a:xfrm>
            <a:off x="5166360" y="583387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원리  </a:t>
            </a:r>
            <a:r>
              <a:rPr sz="900" b="0">
                <a:solidFill>
                  <a:srgbClr val="555555"/>
                </a:solidFill>
                <a:latin typeface="Arial"/>
                <a:ea typeface="Arial"/>
              </a:rPr>
              <a:t>고장 다이 감지 → 데이터 재배치 → 고장 다이 제외 운영(Fail-in-Place), 필요 시 여분 다이 투입</a:t>
            </a:r>
          </a:p>
        </p:txBody>
      </p:sp>
      <p:sp>
        <p:nvSpPr>
          <p:cNvPr id="50" name="TextBox 49"/>
          <p:cNvSpPr txBox="1"/>
          <p:nvPr/>
        </p:nvSpPr>
        <p:spPr>
          <a:xfrm>
            <a:off x="5166360" y="638251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선례  </a:t>
            </a:r>
            <a:r>
              <a:rPr sz="900" b="0">
                <a:solidFill>
                  <a:srgbClr val="555555"/>
                </a:solidFill>
                <a:latin typeface="Arial"/>
                <a:ea typeface="Arial"/>
              </a:rPr>
              <a:t>삼성 PM1733/1735 FIP: 플레인 4GB · 다이 8GB 감량 운영 · Kioxia die failure recovery</a:t>
            </a:r>
          </a:p>
        </p:txBody>
      </p:sp>
      <p:sp>
        <p:nvSpPr>
          <p:cNvPr id="51" name="TextBox 50"/>
          <p:cNvSpPr txBox="1"/>
          <p:nvPr/>
        </p:nvSpPr>
        <p:spPr>
          <a:xfrm>
            <a:off x="5166360" y="6931151"/>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비용  </a:t>
            </a:r>
            <a:r>
              <a:rPr sz="900" b="0">
                <a:solidFill>
                  <a:srgbClr val="555555"/>
                </a:solidFill>
                <a:latin typeface="Arial"/>
                <a:ea typeface="Arial"/>
              </a:rPr>
              <a:t>예비 용량(여분 다이) · 감량 시 고객 용량 계약 조건 필요</a:t>
            </a:r>
          </a:p>
        </p:txBody>
      </p:sp>
      <p:sp>
        <p:nvSpPr>
          <p:cNvPr id="52" name="TextBox 51"/>
          <p:cNvSpPr txBox="1"/>
          <p:nvPr/>
        </p:nvSpPr>
        <p:spPr>
          <a:xfrm>
            <a:off x="5166360" y="747979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효과  </a:t>
            </a:r>
            <a:r>
              <a:rPr sz="900" b="0">
                <a:solidFill>
                  <a:srgbClr val="555555"/>
                </a:solidFill>
                <a:latin typeface="Arial"/>
                <a:ea typeface="Arial"/>
              </a:rPr>
              <a:t>다이 고장이 SSD 교체로 이어지지 않음 · 수리 비용 ↓</a:t>
            </a:r>
          </a:p>
        </p:txBody>
      </p:sp>
      <p:sp>
        <p:nvSpPr>
          <p:cNvPr id="53" name="Rectangle 52"/>
          <p:cNvSpPr/>
          <p:nvPr/>
        </p:nvSpPr>
        <p:spPr>
          <a:xfrm>
            <a:off x="9244584" y="5376672"/>
            <a:ext cx="4059936" cy="257860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244584" y="5376672"/>
            <a:ext cx="405993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427463" y="5504688"/>
            <a:ext cx="3694176"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③ 텔레메트리 · 사전 예측</a:t>
            </a:r>
          </a:p>
        </p:txBody>
      </p:sp>
      <p:sp>
        <p:nvSpPr>
          <p:cNvPr id="56" name="TextBox 55"/>
          <p:cNvSpPr txBox="1"/>
          <p:nvPr/>
        </p:nvSpPr>
        <p:spPr>
          <a:xfrm>
            <a:off x="9427463" y="583387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원리  </a:t>
            </a:r>
            <a:r>
              <a:rPr sz="900" b="0">
                <a:solidFill>
                  <a:srgbClr val="555555"/>
                </a:solidFill>
                <a:latin typeface="Arial"/>
                <a:ea typeface="Arial"/>
              </a:rPr>
              <a:t>다이별 RBER 추이 · XOR 복구 횟수 · 리드 리트라이로 고장 징후를 감지해 사전 은퇴</a:t>
            </a:r>
          </a:p>
        </p:txBody>
      </p:sp>
      <p:sp>
        <p:nvSpPr>
          <p:cNvPr id="57" name="TextBox 56"/>
          <p:cNvSpPr txBox="1"/>
          <p:nvPr/>
        </p:nvSpPr>
        <p:spPr>
          <a:xfrm>
            <a:off x="9427463" y="638251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선례  </a:t>
            </a:r>
            <a:r>
              <a:rPr sz="900" b="0">
                <a:solidFill>
                  <a:srgbClr val="555555"/>
                </a:solidFill>
                <a:latin typeface="Arial"/>
                <a:ea typeface="Arial"/>
              </a:rPr>
              <a:t>OCP SMART Cloud Health(C0) XOR 복구 카운트 · 삼성 텔레메트리(KV 백서)</a:t>
            </a:r>
          </a:p>
        </p:txBody>
      </p:sp>
      <p:sp>
        <p:nvSpPr>
          <p:cNvPr id="58" name="TextBox 57"/>
          <p:cNvSpPr txBox="1"/>
          <p:nvPr/>
        </p:nvSpPr>
        <p:spPr>
          <a:xfrm>
            <a:off x="9427463" y="6931151"/>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비용  </a:t>
            </a:r>
            <a:r>
              <a:rPr sz="900" b="0">
                <a:solidFill>
                  <a:srgbClr val="555555"/>
                </a:solidFill>
                <a:latin typeface="Arial"/>
                <a:ea typeface="Arial"/>
              </a:rPr>
              <a:t>펌웨어 통계 · 로그 대역 · 예측 모델 검증</a:t>
            </a:r>
          </a:p>
        </p:txBody>
      </p:sp>
      <p:sp>
        <p:nvSpPr>
          <p:cNvPr id="59" name="TextBox 58"/>
          <p:cNvSpPr txBox="1"/>
          <p:nvPr/>
        </p:nvSpPr>
        <p:spPr>
          <a:xfrm>
            <a:off x="9427463" y="747979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효과  </a:t>
            </a:r>
            <a:r>
              <a:rPr sz="900" b="0">
                <a:solidFill>
                  <a:srgbClr val="555555"/>
                </a:solidFill>
                <a:latin typeface="Arial"/>
                <a:ea typeface="Arial"/>
              </a:rPr>
              <a:t>돌발 고장 → 계획 감량 · 1,024다이급의 관리 가능성 확보</a:t>
            </a:r>
          </a:p>
        </p:txBody>
      </p:sp>
      <p:sp>
        <p:nvSpPr>
          <p:cNvPr id="60" name="Rectangle 59"/>
          <p:cNvSpPr/>
          <p:nvPr/>
        </p:nvSpPr>
        <p:spPr>
          <a:xfrm>
            <a:off x="13505688" y="5376672"/>
            <a:ext cx="4059936" cy="2578608"/>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3688567" y="5504688"/>
            <a:ext cx="3694176" cy="256032"/>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호스트 · 플랫폼 (관측 · 수용만)</a:t>
            </a:r>
          </a:p>
        </p:txBody>
      </p:sp>
      <p:sp>
        <p:nvSpPr>
          <p:cNvPr id="62" name="TextBox 61"/>
          <p:cNvSpPr txBox="1"/>
          <p:nvPr/>
        </p:nvSpPr>
        <p:spPr>
          <a:xfrm>
            <a:off x="13688567" y="583387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역할  </a:t>
            </a:r>
            <a:r>
              <a:rPr sz="900" b="0">
                <a:solidFill>
                  <a:srgbClr val="555555"/>
                </a:solidFill>
                <a:latin typeface="Arial"/>
                <a:ea typeface="Arial"/>
              </a:rPr>
              <a:t>SSD가 노출한 지표(XOR 카운트 · 감량 예고)를 관측하고 감량 운영을 수용</a:t>
            </a:r>
          </a:p>
        </p:txBody>
      </p:sp>
      <p:sp>
        <p:nvSpPr>
          <p:cNvPr id="63" name="TextBox 62"/>
          <p:cNvSpPr txBox="1"/>
          <p:nvPr/>
        </p:nvSpPr>
        <p:spPr>
          <a:xfrm>
            <a:off x="13688567" y="638251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선례  </a:t>
            </a:r>
            <a:r>
              <a:rPr sz="900" b="0">
                <a:solidFill>
                  <a:srgbClr val="555555"/>
                </a:solidFill>
                <a:latin typeface="Arial"/>
                <a:ea typeface="Arial"/>
              </a:rPr>
              <a:t>OCP Datacenter NVMe SSD 사양 SMART C0 · Microsoft Hyrax(플랫폼 fail-in-place) · 드라이브 간 소거 부호</a:t>
            </a:r>
          </a:p>
        </p:txBody>
      </p:sp>
      <p:sp>
        <p:nvSpPr>
          <p:cNvPr id="64" name="TextBox 63"/>
          <p:cNvSpPr txBox="1"/>
          <p:nvPr/>
        </p:nvSpPr>
        <p:spPr>
          <a:xfrm>
            <a:off x="13688567" y="6931151"/>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경계  </a:t>
            </a:r>
            <a:r>
              <a:rPr sz="900" b="0">
                <a:solidFill>
                  <a:srgbClr val="555555"/>
                </a:solidFill>
                <a:latin typeface="Arial"/>
                <a:ea typeface="Arial"/>
              </a:rPr>
              <a:t>다이 고장의 해결 주체는 SSD · 호스트 협력은 규격(텔레메트리 필드 · 감량 정책)에 한정</a:t>
            </a:r>
          </a:p>
        </p:txBody>
      </p:sp>
      <p:sp>
        <p:nvSpPr>
          <p:cNvPr id="65" name="TextBox 64"/>
          <p:cNvSpPr txBox="1"/>
          <p:nvPr/>
        </p:nvSpPr>
        <p:spPr>
          <a:xfrm>
            <a:off x="13688567" y="747979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삼성 과제  </a:t>
            </a:r>
            <a:r>
              <a:rPr sz="900" b="0">
                <a:solidFill>
                  <a:srgbClr val="555555"/>
                </a:solidFill>
                <a:latin typeface="Arial"/>
                <a:ea typeface="Arial"/>
              </a:rPr>
              <a:t>FIP 감량 정책의 OCP 규격화 · 텔레메트리 필드 표준 제안</a:t>
            </a:r>
          </a:p>
        </p:txBody>
      </p:sp>
      <p:sp>
        <p:nvSpPr>
          <p:cNvPr id="66" name="TextBox 65"/>
          <p:cNvSpPr txBox="1"/>
          <p:nvPr/>
        </p:nvSpPr>
        <p:spPr>
          <a:xfrm>
            <a:off x="722376" y="8046720"/>
            <a:ext cx="16843248" cy="329184"/>
          </a:xfrm>
          <a:prstGeom prst="rect">
            <a:avLst/>
          </a:prstGeom>
          <a:noFill/>
        </p:spPr>
        <p:txBody>
          <a:bodyPr wrap="square" anchor="t" lIns="0" rIns="0" tIns="0" bIns="0">
            <a:spAutoFit/>
          </a:bodyPr>
          <a:lstStyle/>
          <a:p>
            <a:pPr algn="l">
              <a:lnSpc>
                <a:spcPct val="102000"/>
              </a:lnSpc>
            </a:pPr>
            <a:r>
              <a:rPr sz="1050" b="1">
                <a:solidFill>
                  <a:srgbClr val="1428A0"/>
                </a:solidFill>
                <a:latin typeface="Arial"/>
                <a:ea typeface="Arial"/>
              </a:rPr>
              <a:t>삼성 과제  </a:t>
            </a:r>
            <a:r>
              <a:rPr sz="1000" b="0">
                <a:solidFill>
                  <a:srgbClr val="555555"/>
                </a:solidFill>
                <a:latin typeface="Arial"/>
                <a:ea typeface="Arial"/>
              </a:rPr>
              <a:t>1,024다이급에서 패리티·예비 비율을 FFR과 용량 오버헤드 사이에서 재최적화 · FIP 감량 정책과 텔레메트리 필드를 OCP에 규격 제안 · 다이 고장 예측 모델을 KV 캐시 계층 수명 보증(6장)과 연결</a:t>
            </a:r>
          </a:p>
        </p:txBody>
      </p:sp>
      <p:sp>
        <p:nvSpPr>
          <p:cNvPr id="67" name="Rectangle 6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69" name="TextBox 68"/>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SSD 고장률 ≈ N × 다이 고장률에서 늘어난 N만큼을 다이 패리티·여분 다이·감량 운영으로 SSD 안에서 흡수합니다.</a:t>
            </a:r>
          </a:p>
          <a:p>
            <a:pPr algn="l">
              <a:lnSpc>
                <a:spcPct val="108000"/>
              </a:lnSpc>
            </a:pPr>
            <a:r>
              <a:rPr sz="1650" b="1">
                <a:solidFill>
                  <a:srgbClr val="FFFFFF"/>
                </a:solidFill>
                <a:latin typeface="Arial"/>
                <a:ea typeface="Arial"/>
              </a:rPr>
              <a:t>호스트에는 관측 지표와 감량 정책만 제공하며, 이 축은 호스트 협력 대상이 아닙니다</a:t>
            </a:r>
          </a:p>
        </p:txBody>
      </p:sp>
      <p:sp>
        <p:nvSpPr>
          <p:cNvPr id="70" name="Rectangle 69"/>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역량 · 어떻게 해소하는가</a:t>
            </a:r>
          </a:p>
        </p:txBody>
      </p:sp>
      <p:sp>
        <p:nvSpPr>
          <p:cNvPr id="73" name="TextBox 7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JESD218(FFR), S3700 분해·Kioxia LC9·제품 사양(다이 수), 수율 모델(Leachman), Cai 외(다이 패리티), Micron RAIN, 삼성 PM1733(FIP), OCP SMART C0, MS Hyrax · 고장률 상한은 독립 고장 모델(추정)</a:t>
            </a:r>
          </a:p>
        </p:txBody>
      </p:sp>
      <p:sp>
        <p:nvSpPr>
          <p:cNvPr id="74" name="TextBox 7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SSD가 풀 문제</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남은 지렛대 WAF는 호스트 배치에 있으므로, 고객 시스템까지 3단계로 역량을 확장합니다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8408" y="2560320"/>
            <a:ext cx="141732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2~10배</a:t>
            </a:r>
          </a:p>
        </p:txBody>
      </p:sp>
      <p:sp>
        <p:nvSpPr>
          <p:cNvPr id="34" name="TextBox 33"/>
          <p:cNvSpPr txBox="1"/>
          <p:nvPr/>
        </p:nvSpPr>
        <p:spPr>
          <a:xfrm>
            <a:off x="2505456" y="2560320"/>
            <a:ext cx="206654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동급 61TB QLC 0.58~1.0 · 245TB 0.3 vs TLC 1~3 DWPD</a:t>
            </a:r>
          </a:p>
        </p:txBody>
      </p:sp>
      <p:sp>
        <p:nvSpPr>
          <p:cNvPr id="35" name="Rectangle 34"/>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48656" y="2560320"/>
            <a:ext cx="13258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7" name="TextBox 36"/>
          <p:cNvSpPr txBox="1"/>
          <p:nvPr/>
        </p:nvSpPr>
        <p:spPr>
          <a:xfrm>
            <a:off x="6684264" y="2560320"/>
            <a:ext cx="21579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격차</a:t>
            </a:r>
          </a:p>
          <a:p>
            <a:pPr algn="l">
              <a:lnSpc>
                <a:spcPct val="105000"/>
              </a:lnSpc>
            </a:pPr>
            <a:r>
              <a:rPr sz="1350" b="0">
                <a:solidFill>
                  <a:srgbClr val="555555"/>
                </a:solidFill>
                <a:latin typeface="Arial"/>
                <a:ea typeface="Arial"/>
              </a:rPr>
              <a:t>RUH 2~8개 vs 200개 이상</a:t>
            </a:r>
          </a:p>
        </p:txBody>
      </p:sp>
      <p:sp>
        <p:nvSpPr>
          <p:cNvPr id="38" name="Rectangle 37"/>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40" name="TextBox 39"/>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41" name="Rectangle 40"/>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789152" y="2560320"/>
            <a:ext cx="16916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 → ≈1</a:t>
            </a:r>
          </a:p>
        </p:txBody>
      </p:sp>
      <p:sp>
        <p:nvSpPr>
          <p:cNvPr id="43" name="TextBox 42"/>
          <p:cNvSpPr txBox="1"/>
          <p:nvPr/>
        </p:nvSpPr>
        <p:spPr>
          <a:xfrm>
            <a:off x="15590520" y="2560320"/>
            <a:ext cx="17922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범용·캐시 WAF 실측 · KV 캐시 미실측</a:t>
            </a:r>
          </a:p>
        </p:txBody>
      </p:sp>
      <p:sp>
        <p:nvSpPr>
          <p:cNvPr id="44" name="Rectangle 43"/>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46" name="Rectangle 45"/>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48" name="Rectangle 47"/>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50" name="Rectangle 49"/>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52" name="Rectangle 51"/>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4" name="Rectangle 53"/>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 · NVMe KV 확장 · 텔레메트리</a:t>
            </a:r>
          </a:p>
        </p:txBody>
      </p:sp>
      <p:sp>
        <p:nvSpPr>
          <p:cNvPr id="56" name="Rectangle 55"/>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58" name="Rectangle 57"/>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60" name="Rectangle 59"/>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62" name="TextBox 61"/>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63" name="Rectangle 62"/>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5" name="Rectangle 64"/>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67" name="Rectangle 66"/>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69" name="Rectangle 68"/>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71" name="Rectangle 70"/>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73" name="Rectangle 72"/>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a:t>
            </a:r>
          </a:p>
        </p:txBody>
      </p:sp>
      <p:sp>
        <p:nvSpPr>
          <p:cNvPr id="75" name="Down Arrow 74"/>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Up Arrow 75"/>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78" name="TextBox 77"/>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79" name="TextBox 78"/>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80" name="Rectangle 79"/>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82" name="Rectangle 81"/>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4" name="Rectangle 83"/>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86" name="Rectangle 85"/>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88" name="Rectangle 87"/>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90" name="Rectangle 89"/>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92" name="Oval 91"/>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 Same Side Corner Rectangle 92"/>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5" name="TextBox 94"/>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96" name="TextBox 95"/>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97" name="TextBox 96"/>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98" name="Rectangle 97"/>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22376" y="8229600"/>
            <a:ext cx="32479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3970324" y="8229600"/>
            <a:ext cx="216529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37376" y="8229600"/>
            <a:ext cx="811987"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Isosceles Triangle 103"/>
          <p:cNvSpPr/>
          <p:nvPr/>
        </p:nvSpPr>
        <p:spPr>
          <a:xfrm>
            <a:off x="3851452"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171492" y="8357616"/>
            <a:ext cx="118872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00" b="0">
                <a:solidFill>
                  <a:srgbClr val="555555"/>
                </a:solidFill>
                <a:latin typeface="Arial"/>
                <a:ea typeface="Arial"/>
              </a:rPr>
              <a:t>Phase 1 진행 중(QLC 라인 RUH 2~8 → 200+ 미완 · DWPD 미공개 · CMX 첫 공급은 TLC) · Phase 2 준비 · Phase 3 미착수</a:t>
            </a:r>
          </a:p>
        </p:txBody>
      </p:sp>
      <p:sp>
        <p:nvSpPr>
          <p:cNvPr id="106" name="Rectangle 105"/>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8" name="TextBox 107"/>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진행 중·2단계 준비 단계이며, 3단계 진입 수단이 다음 장입니다</a:t>
            </a:r>
          </a:p>
        </p:txBody>
      </p:sp>
      <p:sp>
        <p:nvSpPr>
          <p:cNvPr id="109" name="Rectangle 108"/>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실행 · 누구와 어디서</a:t>
            </a:r>
          </a:p>
        </p:txBody>
      </p:sp>
      <p:sp>
        <p:nvSpPr>
          <p:cNvPr id="112" name="TextBox 11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113" name="TextBox 11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SSD가 풀 문제</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FDE 상주는 워크로드를 여는 고객에 집중하고, 그 외 고객은 업스트림·규격 채널로 협업합니다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2560320"/>
            <a:ext cx="10881360"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고객 선별 · 협업 채널</a:t>
            </a:r>
            <a:r>
              <a:rPr sz="1000" b="0">
                <a:solidFill>
                  <a:srgbClr val="8A8A8A"/>
                </a:solidFill>
                <a:latin typeface="Arial"/>
                <a:ea typeface="Arial"/>
              </a:rPr>
              <a:t>   FDE 상주 조건: ① 트레이스·KV 정책 접근 허용  ② 캐시 관리자 코드를 자체 운영  ③ 물량·규격 파급력</a:t>
            </a:r>
          </a:p>
        </p:txBody>
      </p:sp>
      <p:sp>
        <p:nvSpPr>
          <p:cNvPr id="33" name="TextBox 32"/>
          <p:cNvSpPr txBox="1"/>
          <p:nvPr/>
        </p:nvSpPr>
        <p:spPr>
          <a:xfrm>
            <a:off x="795528" y="2889503"/>
            <a:ext cx="200253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고객 유형</a:t>
            </a:r>
          </a:p>
        </p:txBody>
      </p:sp>
      <p:sp>
        <p:nvSpPr>
          <p:cNvPr id="34" name="TextBox 33"/>
          <p:cNvSpPr txBox="1"/>
          <p:nvPr/>
        </p:nvSpPr>
        <p:spPr>
          <a:xfrm>
            <a:off x="2944368" y="2889503"/>
            <a:ext cx="186537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워크로드 접근</a:t>
            </a:r>
          </a:p>
        </p:txBody>
      </p:sp>
      <p:sp>
        <p:nvSpPr>
          <p:cNvPr id="35" name="TextBox 34"/>
          <p:cNvSpPr txBox="1"/>
          <p:nvPr/>
        </p:nvSpPr>
        <p:spPr>
          <a:xfrm>
            <a:off x="4956048" y="2889503"/>
            <a:ext cx="200253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협업 채널</a:t>
            </a:r>
          </a:p>
        </p:txBody>
      </p:sp>
      <p:sp>
        <p:nvSpPr>
          <p:cNvPr id="36" name="TextBox 35"/>
          <p:cNvSpPr txBox="1"/>
          <p:nvPr/>
        </p:nvSpPr>
        <p:spPr>
          <a:xfrm>
            <a:off x="7104888" y="2889503"/>
            <a:ext cx="172821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삼성 방식</a:t>
            </a:r>
          </a:p>
        </p:txBody>
      </p:sp>
      <p:sp>
        <p:nvSpPr>
          <p:cNvPr id="37" name="TextBox 36"/>
          <p:cNvSpPr txBox="1"/>
          <p:nvPr/>
        </p:nvSpPr>
        <p:spPr>
          <a:xfrm>
            <a:off x="8979407" y="2889503"/>
            <a:ext cx="255117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효과 극대화 포인트</a:t>
            </a:r>
          </a:p>
        </p:txBody>
      </p:sp>
      <p:sp>
        <p:nvSpPr>
          <p:cNvPr id="38" name="Rectangle 37"/>
          <p:cNvSpPr/>
          <p:nvPr/>
        </p:nvSpPr>
        <p:spPr>
          <a:xfrm>
            <a:off x="722376" y="3145535"/>
            <a:ext cx="10881360" cy="109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22376" y="3255263"/>
            <a:ext cx="10881360" cy="8229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22376" y="3255263"/>
            <a:ext cx="54864"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3310127"/>
            <a:ext cx="1929384" cy="73152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AI 랩</a:t>
            </a:r>
          </a:p>
          <a:p>
            <a:pPr algn="l">
              <a:lnSpc>
                <a:spcPct val="104000"/>
              </a:lnSpc>
            </a:pPr>
            <a:r>
              <a:rPr sz="900" b="0">
                <a:solidFill>
                  <a:srgbClr val="555555"/>
                </a:solidFill>
                <a:latin typeface="Arial"/>
                <a:ea typeface="Arial"/>
              </a:rPr>
              <a:t>Anthropic · OpenAI</a:t>
            </a:r>
          </a:p>
        </p:txBody>
      </p:sp>
      <p:sp>
        <p:nvSpPr>
          <p:cNvPr id="42" name="TextBox 41"/>
          <p:cNvSpPr txBox="1"/>
          <p:nvPr/>
        </p:nvSpPr>
        <p:spPr>
          <a:xfrm>
            <a:off x="2980944" y="33101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협약 시 트레이스 · KV 수명 정책 공유</a:t>
            </a:r>
          </a:p>
        </p:txBody>
      </p:sp>
      <p:sp>
        <p:nvSpPr>
          <p:cNvPr id="43" name="TextBox 42"/>
          <p:cNvSpPr txBox="1"/>
          <p:nvPr/>
        </p:nvSpPr>
        <p:spPr>
          <a:xfrm>
            <a:off x="4992624" y="33101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전략적 협약(SCA)의</a:t>
            </a:r>
          </a:p>
          <a:p>
            <a:pPr algn="l">
              <a:lnSpc>
                <a:spcPct val="104000"/>
              </a:lnSpc>
            </a:pPr>
            <a:r>
              <a:rPr sz="950" b="0">
                <a:solidFill>
                  <a:srgbClr val="555555"/>
                </a:solidFill>
                <a:latin typeface="Arial"/>
                <a:ea typeface="Arial"/>
              </a:rPr>
              <a:t>공동 설계 조항</a:t>
            </a:r>
          </a:p>
        </p:txBody>
      </p:sp>
      <p:sp>
        <p:nvSpPr>
          <p:cNvPr id="44" name="TextBox 43"/>
          <p:cNvSpPr txBox="1"/>
          <p:nvPr/>
        </p:nvSpPr>
        <p:spPr>
          <a:xfrm>
            <a:off x="7141464" y="3310127"/>
            <a:ext cx="1655063" cy="731520"/>
          </a:xfrm>
          <a:prstGeom prst="rect">
            <a:avLst/>
          </a:prstGeom>
          <a:noFill/>
        </p:spPr>
        <p:txBody>
          <a:bodyPr wrap="square" anchor="ctr" lIns="0" rIns="0" tIns="0" bIns="0">
            <a:spAutoFit/>
          </a:bodyPr>
          <a:lstStyle/>
          <a:p>
            <a:pPr algn="l">
              <a:lnSpc>
                <a:spcPct val="104000"/>
              </a:lnSpc>
            </a:pPr>
            <a:r>
              <a:rPr sz="1000" b="1">
                <a:solidFill>
                  <a:srgbClr val="1428A0"/>
                </a:solidFill>
                <a:latin typeface="Arial"/>
                <a:ea typeface="Arial"/>
              </a:rPr>
              <a:t>FDE 상주</a:t>
            </a:r>
          </a:p>
          <a:p>
            <a:pPr algn="l">
              <a:lnSpc>
                <a:spcPct val="104000"/>
              </a:lnSpc>
            </a:pPr>
            <a:r>
              <a:rPr sz="1000" b="1">
                <a:solidFill>
                  <a:srgbClr val="1428A0"/>
                </a:solidFill>
                <a:latin typeface="Arial"/>
                <a:ea typeface="Arial"/>
              </a:rPr>
              <a:t>Pod 3~5명</a:t>
            </a:r>
          </a:p>
        </p:txBody>
      </p:sp>
      <p:sp>
        <p:nvSpPr>
          <p:cNvPr id="45" name="TextBox 44"/>
          <p:cNvSpPr txBox="1"/>
          <p:nvPr/>
        </p:nvSpPr>
        <p:spPr>
          <a:xfrm>
            <a:off x="9015983" y="33101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Micron↔Anthropic 선례 · 캐시 관리자 정책을 함께 정의해 수명 보증 레퍼런스 확보 · 로고 효과</a:t>
            </a:r>
          </a:p>
        </p:txBody>
      </p:sp>
      <p:sp>
        <p:nvSpPr>
          <p:cNvPr id="46" name="Rectangle 45"/>
          <p:cNvSpPr/>
          <p:nvPr/>
        </p:nvSpPr>
        <p:spPr>
          <a:xfrm>
            <a:off x="722376" y="41239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2376" y="4169663"/>
            <a:ext cx="10881360" cy="8229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22376" y="4169663"/>
            <a:ext cx="54864"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32104" y="4224527"/>
            <a:ext cx="1929384" cy="73152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NVIDIA 생태계</a:t>
            </a:r>
          </a:p>
          <a:p>
            <a:pPr algn="l">
              <a:lnSpc>
                <a:spcPct val="104000"/>
              </a:lnSpc>
            </a:pPr>
            <a:r>
              <a:rPr sz="900" b="0">
                <a:solidFill>
                  <a:srgbClr val="555555"/>
                </a:solidFill>
                <a:latin typeface="Arial"/>
                <a:ea typeface="Arial"/>
              </a:rPr>
              <a:t>CMX · Dynamo KVBM · NIXL</a:t>
            </a:r>
          </a:p>
        </p:txBody>
      </p:sp>
      <p:sp>
        <p:nvSpPr>
          <p:cNvPr id="50" name="TextBox 49"/>
          <p:cNvSpPr txBox="1"/>
          <p:nvPr/>
        </p:nvSpPr>
        <p:spPr>
          <a:xfrm>
            <a:off x="2980944" y="42245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파트너 프로그램 · 레퍼런스 스택 코드</a:t>
            </a:r>
          </a:p>
        </p:txBody>
      </p:sp>
      <p:sp>
        <p:nvSpPr>
          <p:cNvPr id="51" name="TextBox 50"/>
          <p:cNvSpPr txBox="1"/>
          <p:nvPr/>
        </p:nvSpPr>
        <p:spPr>
          <a:xfrm>
            <a:off x="4992624" y="42245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플러그인 · CMX 힌트 매핑</a:t>
            </a:r>
          </a:p>
          <a:p>
            <a:pPr algn="l">
              <a:lnSpc>
                <a:spcPct val="104000"/>
              </a:lnSpc>
            </a:pPr>
            <a:r>
              <a:rPr sz="950" b="0">
                <a:solidFill>
                  <a:srgbClr val="555555"/>
                </a:solidFill>
                <a:latin typeface="Arial"/>
                <a:ea typeface="Arial"/>
              </a:rPr>
              <a:t>공동 정의</a:t>
            </a:r>
          </a:p>
        </p:txBody>
      </p:sp>
      <p:sp>
        <p:nvSpPr>
          <p:cNvPr id="52" name="TextBox 51"/>
          <p:cNvSpPr txBox="1"/>
          <p:nvPr/>
        </p:nvSpPr>
        <p:spPr>
          <a:xfrm>
            <a:off x="7141464" y="4224527"/>
            <a:ext cx="1655063" cy="731520"/>
          </a:xfrm>
          <a:prstGeom prst="rect">
            <a:avLst/>
          </a:prstGeom>
          <a:noFill/>
        </p:spPr>
        <p:txBody>
          <a:bodyPr wrap="square" anchor="ctr" lIns="0" rIns="0" tIns="0" bIns="0">
            <a:spAutoFit/>
          </a:bodyPr>
          <a:lstStyle/>
          <a:p>
            <a:pPr algn="l">
              <a:lnSpc>
                <a:spcPct val="104000"/>
              </a:lnSpc>
            </a:pPr>
            <a:r>
              <a:rPr sz="1000" b="1">
                <a:solidFill>
                  <a:srgbClr val="1428A0"/>
                </a:solidFill>
                <a:latin typeface="Arial"/>
                <a:ea typeface="Arial"/>
              </a:rPr>
              <a:t>FDE 상주</a:t>
            </a:r>
          </a:p>
          <a:p>
            <a:pPr algn="l">
              <a:lnSpc>
                <a:spcPct val="104000"/>
              </a:lnSpc>
            </a:pPr>
            <a:r>
              <a:rPr sz="1000" b="1">
                <a:solidFill>
                  <a:srgbClr val="1428A0"/>
                </a:solidFill>
                <a:latin typeface="Arial"/>
                <a:ea typeface="Arial"/>
              </a:rPr>
              <a:t>플랫폼 팀 파견</a:t>
            </a:r>
          </a:p>
        </p:txBody>
      </p:sp>
      <p:sp>
        <p:nvSpPr>
          <p:cNvPr id="53" name="TextBox 52"/>
          <p:cNvSpPr txBox="1"/>
          <p:nvPr/>
        </p:nvSpPr>
        <p:spPr>
          <a:xfrm>
            <a:off x="9015983" y="42245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CMX 첫 공급 관계 활용 · KVBM 플러그인 메인라인 머지 → 생태계 기본 디바이스</a:t>
            </a:r>
          </a:p>
        </p:txBody>
      </p:sp>
      <p:sp>
        <p:nvSpPr>
          <p:cNvPr id="54" name="Rectangle 53"/>
          <p:cNvSpPr/>
          <p:nvPr/>
        </p:nvSpPr>
        <p:spPr>
          <a:xfrm>
            <a:off x="722376" y="50383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32104" y="5138927"/>
            <a:ext cx="1929384" cy="73152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하이퍼스케일러</a:t>
            </a:r>
          </a:p>
          <a:p>
            <a:pPr algn="l">
              <a:lnSpc>
                <a:spcPct val="104000"/>
              </a:lnSpc>
            </a:pPr>
            <a:r>
              <a:rPr sz="900" b="0">
                <a:solidFill>
                  <a:srgbClr val="555555"/>
                </a:solidFill>
                <a:latin typeface="Arial"/>
                <a:ea typeface="Arial"/>
              </a:rPr>
              <a:t>Meta · Google · MS · AWS</a:t>
            </a:r>
          </a:p>
        </p:txBody>
      </p:sp>
      <p:sp>
        <p:nvSpPr>
          <p:cNvPr id="56" name="TextBox 55"/>
          <p:cNvSpPr txBox="1"/>
          <p:nvPr/>
        </p:nvSpPr>
        <p:spPr>
          <a:xfrm>
            <a:off x="2980944" y="51389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내부 코드 상주 불가</a:t>
            </a:r>
          </a:p>
          <a:p>
            <a:pPr algn="l">
              <a:lnSpc>
                <a:spcPct val="104000"/>
              </a:lnSpc>
            </a:pPr>
            <a:r>
              <a:rPr sz="950" b="0">
                <a:solidFill>
                  <a:srgbClr val="555555"/>
                </a:solidFill>
                <a:latin typeface="Arial"/>
                <a:ea typeface="Arial"/>
              </a:rPr>
              <a:t>(보안 · 중립성)</a:t>
            </a:r>
          </a:p>
        </p:txBody>
      </p:sp>
      <p:sp>
        <p:nvSpPr>
          <p:cNvPr id="57" name="TextBox 56"/>
          <p:cNvSpPr txBox="1"/>
          <p:nvPr/>
        </p:nvSpPr>
        <p:spPr>
          <a:xfrm>
            <a:off x="4992624" y="51389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OCP 규격 · 업스트림</a:t>
            </a:r>
          </a:p>
          <a:p>
            <a:pPr algn="l">
              <a:lnSpc>
                <a:spcPct val="104000"/>
              </a:lnSpc>
            </a:pPr>
            <a:r>
              <a:rPr sz="950" b="0">
                <a:solidFill>
                  <a:srgbClr val="555555"/>
                </a:solidFill>
                <a:latin typeface="Arial"/>
                <a:ea typeface="Arial"/>
              </a:rPr>
              <a:t>(CacheLib · XFS · 커널)</a:t>
            </a:r>
          </a:p>
        </p:txBody>
      </p:sp>
      <p:sp>
        <p:nvSpPr>
          <p:cNvPr id="58" name="TextBox 57"/>
          <p:cNvSpPr txBox="1"/>
          <p:nvPr/>
        </p:nvSpPr>
        <p:spPr>
          <a:xfrm>
            <a:off x="7141464" y="5138927"/>
            <a:ext cx="1655063" cy="731520"/>
          </a:xfrm>
          <a:prstGeom prst="rect">
            <a:avLst/>
          </a:prstGeom>
          <a:noFill/>
        </p:spPr>
        <p:txBody>
          <a:bodyPr wrap="square" anchor="ctr" lIns="0" rIns="0" tIns="0" bIns="0">
            <a:spAutoFit/>
          </a:bodyPr>
          <a:lstStyle/>
          <a:p>
            <a:pPr algn="l">
              <a:lnSpc>
                <a:spcPct val="104000"/>
              </a:lnSpc>
            </a:pPr>
            <a:r>
              <a:rPr sz="1000" b="1">
                <a:solidFill>
                  <a:srgbClr val="1A1A1A"/>
                </a:solidFill>
                <a:latin typeface="Arial"/>
                <a:ea typeface="Arial"/>
              </a:rPr>
              <a:t>업스트림 기여</a:t>
            </a:r>
          </a:p>
          <a:p>
            <a:pPr algn="l">
              <a:lnSpc>
                <a:spcPct val="104000"/>
              </a:lnSpc>
            </a:pPr>
            <a:r>
              <a:rPr sz="1000" b="1">
                <a:solidFill>
                  <a:srgbClr val="1A1A1A"/>
                </a:solidFill>
                <a:latin typeface="Arial"/>
                <a:ea typeface="Arial"/>
              </a:rPr>
              <a:t>OCP 규격 제안</a:t>
            </a:r>
          </a:p>
        </p:txBody>
      </p:sp>
      <p:sp>
        <p:nvSpPr>
          <p:cNvPr id="59" name="TextBox 58"/>
          <p:cNvSpPr txBox="1"/>
          <p:nvPr/>
        </p:nvSpPr>
        <p:spPr>
          <a:xfrm>
            <a:off x="9015983" y="51389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배치 표준 공동 주도 이력 · OCP 텔레메트리·FIP 규격 · 실측 공개로 신뢰 확보</a:t>
            </a:r>
          </a:p>
        </p:txBody>
      </p:sp>
      <p:sp>
        <p:nvSpPr>
          <p:cNvPr id="60" name="Rectangle 59"/>
          <p:cNvSpPr/>
          <p:nvPr/>
        </p:nvSpPr>
        <p:spPr>
          <a:xfrm>
            <a:off x="722376" y="59527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2104" y="6053327"/>
            <a:ext cx="1929384" cy="73152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OEM · 네오클라우드</a:t>
            </a:r>
          </a:p>
          <a:p>
            <a:pPr algn="l">
              <a:lnSpc>
                <a:spcPct val="104000"/>
              </a:lnSpc>
            </a:pPr>
            <a:r>
              <a:rPr sz="900" b="0">
                <a:solidFill>
                  <a:srgbClr val="555555"/>
                </a:solidFill>
                <a:latin typeface="Arial"/>
                <a:ea typeface="Arial"/>
              </a:rPr>
              <a:t>자체 캐시 스택 없음</a:t>
            </a:r>
          </a:p>
        </p:txBody>
      </p:sp>
      <p:sp>
        <p:nvSpPr>
          <p:cNvPr id="62" name="TextBox 61"/>
          <p:cNvSpPr txBox="1"/>
          <p:nvPr/>
        </p:nvSpPr>
        <p:spPr>
          <a:xfrm>
            <a:off x="2980944" y="60533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삼성 레퍼런스 스택 채택</a:t>
            </a:r>
          </a:p>
        </p:txBody>
      </p:sp>
      <p:sp>
        <p:nvSpPr>
          <p:cNvPr id="63" name="TextBox 62"/>
          <p:cNvSpPr txBox="1"/>
          <p:nvPr/>
        </p:nvSpPr>
        <p:spPr>
          <a:xfrm>
            <a:off x="4992624" y="60533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레퍼런스 아키텍처</a:t>
            </a:r>
          </a:p>
          <a:p>
            <a:pPr algn="l">
              <a:lnSpc>
                <a:spcPct val="104000"/>
              </a:lnSpc>
            </a:pPr>
            <a:r>
              <a:rPr sz="950" b="0">
                <a:solidFill>
                  <a:srgbClr val="555555"/>
                </a:solidFill>
                <a:latin typeface="Arial"/>
                <a:ea typeface="Arial"/>
              </a:rPr>
              <a:t>(vLLM + LMCache + QLC)</a:t>
            </a:r>
          </a:p>
        </p:txBody>
      </p:sp>
      <p:sp>
        <p:nvSpPr>
          <p:cNvPr id="64" name="TextBox 63"/>
          <p:cNvSpPr txBox="1"/>
          <p:nvPr/>
        </p:nvSpPr>
        <p:spPr>
          <a:xfrm>
            <a:off x="7141464" y="6053327"/>
            <a:ext cx="1655063" cy="731520"/>
          </a:xfrm>
          <a:prstGeom prst="rect">
            <a:avLst/>
          </a:prstGeom>
          <a:noFill/>
        </p:spPr>
        <p:txBody>
          <a:bodyPr wrap="square" anchor="ctr" lIns="0" rIns="0" tIns="0" bIns="0">
            <a:spAutoFit/>
          </a:bodyPr>
          <a:lstStyle/>
          <a:p>
            <a:pPr algn="l">
              <a:lnSpc>
                <a:spcPct val="104000"/>
              </a:lnSpc>
            </a:pPr>
            <a:r>
              <a:rPr sz="1000" b="1">
                <a:solidFill>
                  <a:srgbClr val="1A1A1A"/>
                </a:solidFill>
                <a:latin typeface="Arial"/>
                <a:ea typeface="Arial"/>
              </a:rPr>
              <a:t>레퍼런스 스택</a:t>
            </a:r>
          </a:p>
          <a:p>
            <a:pPr algn="l">
              <a:lnSpc>
                <a:spcPct val="104000"/>
              </a:lnSpc>
            </a:pPr>
            <a:r>
              <a:rPr sz="1000" b="1">
                <a:solidFill>
                  <a:srgbClr val="1A1A1A"/>
                </a:solidFill>
                <a:latin typeface="Arial"/>
                <a:ea typeface="Arial"/>
              </a:rPr>
              <a:t>공용 TCO 모델</a:t>
            </a:r>
          </a:p>
        </p:txBody>
      </p:sp>
      <p:sp>
        <p:nvSpPr>
          <p:cNvPr id="65" name="TextBox 64"/>
          <p:cNvSpPr txBox="1"/>
          <p:nvPr/>
        </p:nvSpPr>
        <p:spPr>
          <a:xfrm>
            <a:off x="9015983" y="60533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검증된 스택 제공으로 디자인인 · FDE 없이 확산 · 실측 데이터 재사용</a:t>
            </a:r>
          </a:p>
        </p:txBody>
      </p:sp>
      <p:sp>
        <p:nvSpPr>
          <p:cNvPr id="66" name="Rectangle 65"/>
          <p:cNvSpPr/>
          <p:nvPr/>
        </p:nvSpPr>
        <p:spPr>
          <a:xfrm>
            <a:off x="722376" y="68671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22376" y="6931151"/>
            <a:ext cx="10881360" cy="219456"/>
          </a:xfrm>
          <a:prstGeom prst="rect">
            <a:avLst/>
          </a:prstGeom>
          <a:noFill/>
        </p:spPr>
        <p:txBody>
          <a:bodyPr wrap="square" anchor="t" lIns="0" rIns="0" tIns="0" bIns="0">
            <a:spAutoFit/>
          </a:bodyPr>
          <a:lstStyle/>
          <a:p>
            <a:pPr algn="l">
              <a:lnSpc>
                <a:spcPct val="100000"/>
              </a:lnSpc>
            </a:pPr>
            <a:r>
              <a:rPr sz="950" b="1">
                <a:solidFill>
                  <a:srgbClr val="1A1A1A"/>
                </a:solidFill>
                <a:latin typeface="Arial"/>
                <a:ea typeface="Arial"/>
              </a:rPr>
              <a:t>선례  </a:t>
            </a:r>
            <a:r>
              <a:rPr sz="875" b="0">
                <a:solidFill>
                  <a:srgbClr val="555555"/>
                </a:solidFill>
                <a:latin typeface="Arial"/>
                <a:ea typeface="Arial"/>
              </a:rPr>
              <a:t>Palantir FDE(상주 · 성과 평가 · Anthropic·OpenAI GTM 채택) · Micron↔Anthropic SCA 2026-06(공동 설계 + 다년 공급 + 운영 통합 + 자본) · 삼성·SK의 Anthropic 계약엔 공동 설계 조항 부재</a:t>
            </a:r>
          </a:p>
        </p:txBody>
      </p:sp>
      <p:sp>
        <p:nvSpPr>
          <p:cNvPr id="68" name="TextBox 67"/>
          <p:cNvSpPr txBox="1"/>
          <p:nvPr/>
        </p:nvSpPr>
        <p:spPr>
          <a:xfrm>
            <a:off x="722376" y="7223759"/>
            <a:ext cx="10881360"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단계별 통과 조건</a:t>
            </a:r>
            <a:r>
              <a:rPr sz="950" b="0">
                <a:solidFill>
                  <a:srgbClr val="8A8A8A"/>
                </a:solidFill>
                <a:latin typeface="Arial"/>
                <a:ea typeface="Arial"/>
              </a:rPr>
              <a:t>   각 단계의 증명이 다음 단계의 승인 근거</a:t>
            </a:r>
          </a:p>
        </p:txBody>
      </p:sp>
      <p:sp>
        <p:nvSpPr>
          <p:cNvPr id="69" name="Rectangle 68"/>
          <p:cNvSpPr/>
          <p:nvPr/>
        </p:nvSpPr>
        <p:spPr>
          <a:xfrm>
            <a:off x="722376" y="7498079"/>
            <a:ext cx="3493008"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50392" y="7552944"/>
            <a:ext cx="86868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90일</a:t>
            </a:r>
          </a:p>
        </p:txBody>
      </p:sp>
      <p:sp>
        <p:nvSpPr>
          <p:cNvPr id="71" name="TextBox 70"/>
          <p:cNvSpPr txBox="1"/>
          <p:nvPr/>
        </p:nvSpPr>
        <p:spPr>
          <a:xfrm>
            <a:off x="1691640" y="7543800"/>
            <a:ext cx="2395728" cy="804672"/>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등대 고객 1사 트레이스 확보 · KV 캐시 실측(WAF·유효 DWPD) 공개 · 캐시 관리자 플러그인 PR 1건</a:t>
            </a:r>
          </a:p>
        </p:txBody>
      </p:sp>
      <p:sp>
        <p:nvSpPr>
          <p:cNvPr id="72" name="Right Arrow 71"/>
          <p:cNvSpPr/>
          <p:nvPr/>
        </p:nvSpPr>
        <p:spPr>
          <a:xfrm>
            <a:off x="4233672" y="7863840"/>
            <a:ext cx="164592"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416552" y="7498079"/>
            <a:ext cx="3493008"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44568" y="7552944"/>
            <a:ext cx="86868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12개월</a:t>
            </a:r>
          </a:p>
        </p:txBody>
      </p:sp>
      <p:sp>
        <p:nvSpPr>
          <p:cNvPr id="75" name="TextBox 74"/>
          <p:cNvSpPr txBox="1"/>
          <p:nvPr/>
        </p:nvSpPr>
        <p:spPr>
          <a:xfrm>
            <a:off x="5385816" y="7543800"/>
            <a:ext cx="2395728" cy="804672"/>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플러그인 메인라인 머지 · 고객 워크로드에서 QLC 유효 DWPD ≥ 1 실증 · 조건부 보증 초안(6장)</a:t>
            </a:r>
          </a:p>
        </p:txBody>
      </p:sp>
      <p:sp>
        <p:nvSpPr>
          <p:cNvPr id="76" name="Right Arrow 75"/>
          <p:cNvSpPr/>
          <p:nvPr/>
        </p:nvSpPr>
        <p:spPr>
          <a:xfrm>
            <a:off x="7927848" y="7863840"/>
            <a:ext cx="164592"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10728" y="7498079"/>
            <a:ext cx="3493008" cy="89611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238744" y="7552944"/>
            <a:ext cx="86868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2027H1</a:t>
            </a:r>
          </a:p>
        </p:txBody>
      </p:sp>
      <p:sp>
        <p:nvSpPr>
          <p:cNvPr id="79" name="TextBox 78"/>
          <p:cNvSpPr txBox="1"/>
          <p:nvPr/>
        </p:nvSpPr>
        <p:spPr>
          <a:xfrm>
            <a:off x="9079992" y="7543800"/>
            <a:ext cx="2395728" cy="804672"/>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디자인인 1사 · 협약에 공동 설계 조항 제안 · 레퍼런스 스택 공개 → 공급 완화 전 락인</a:t>
            </a:r>
          </a:p>
        </p:txBody>
      </p:sp>
      <p:sp>
        <p:nvSpPr>
          <p:cNvPr id="80" name="TextBox 79"/>
          <p:cNvSpPr txBox="1"/>
          <p:nvPr/>
        </p:nvSpPr>
        <p:spPr>
          <a:xfrm>
            <a:off x="11878056" y="2560320"/>
            <a:ext cx="5687567"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개발실 내부 실행</a:t>
            </a:r>
            <a:r>
              <a:rPr sz="1000" b="0">
                <a:solidFill>
                  <a:srgbClr val="8A8A8A"/>
                </a:solidFill>
                <a:latin typeface="Arial"/>
                <a:ea typeface="Arial"/>
              </a:rPr>
              <a:t>   별도 투자 없이 개발 자원 재배치로</a:t>
            </a:r>
          </a:p>
        </p:txBody>
      </p:sp>
      <p:sp>
        <p:nvSpPr>
          <p:cNvPr id="81" name="Rectangle 80"/>
          <p:cNvSpPr/>
          <p:nvPr/>
        </p:nvSpPr>
        <p:spPr>
          <a:xfrm>
            <a:off x="11878056" y="2889503"/>
            <a:ext cx="5687567" cy="10607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1878056" y="2889503"/>
            <a:ext cx="731520" cy="10607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1878056" y="2889503"/>
            <a:ext cx="731520" cy="1060704"/>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조직</a:t>
            </a:r>
          </a:p>
        </p:txBody>
      </p:sp>
      <p:sp>
        <p:nvSpPr>
          <p:cNvPr id="84" name="TextBox 83"/>
          <p:cNvSpPr txBox="1"/>
          <p:nvPr/>
        </p:nvSpPr>
        <p:spPr>
          <a:xfrm>
            <a:off x="12746736" y="2889503"/>
            <a:ext cx="4681727" cy="1060704"/>
          </a:xfrm>
          <a:prstGeom prst="rect">
            <a:avLst/>
          </a:prstGeom>
          <a:noFill/>
        </p:spPr>
        <p:txBody>
          <a:bodyPr wrap="square" anchor="ctr" lIns="0" rIns="0" tIns="0" bIns="0">
            <a:spAutoFit/>
          </a:bodyPr>
          <a:lstStyle/>
          <a:p>
            <a:pPr algn="l">
              <a:lnSpc>
                <a:spcPct val="108000"/>
              </a:lnSpc>
            </a:pPr>
            <a:r>
              <a:rPr sz="1050" b="1">
                <a:solidFill>
                  <a:srgbClr val="1A1A1A"/>
                </a:solidFill>
                <a:latin typeface="Arial"/>
                <a:ea typeface="Arial"/>
              </a:rPr>
              <a:t>시스템 소프트웨어 조직 강화 (캐시 관리자 · I/O · 커널)</a:t>
            </a:r>
          </a:p>
          <a:p>
            <a:pPr algn="l">
              <a:lnSpc>
                <a:spcPct val="108000"/>
              </a:lnSpc>
            </a:pPr>
            <a:r>
              <a:rPr sz="975" b="0">
                <a:solidFill>
                  <a:srgbClr val="555555"/>
                </a:solidFill>
                <a:latin typeface="Arial"/>
                <a:ea typeface="Arial"/>
              </a:rPr>
              <a:t>Co-Design Pod 3~5명 · 개발실 소속 · 선별 고객 1~2사</a:t>
            </a:r>
          </a:p>
          <a:p>
            <a:pPr algn="l">
              <a:lnSpc>
                <a:spcPct val="108000"/>
              </a:lnSpc>
            </a:pPr>
            <a:r>
              <a:rPr sz="975" b="0">
                <a:solidFill>
                  <a:srgbClr val="555555"/>
                </a:solidFill>
                <a:latin typeface="Arial"/>
                <a:ea typeface="Arial"/>
              </a:rPr>
              <a:t>미주 법인 협업 · 고객 시간대 대응</a:t>
            </a:r>
          </a:p>
        </p:txBody>
      </p:sp>
      <p:sp>
        <p:nvSpPr>
          <p:cNvPr id="85" name="Rectangle 84"/>
          <p:cNvSpPr/>
          <p:nvPr/>
        </p:nvSpPr>
        <p:spPr>
          <a:xfrm>
            <a:off x="11878056" y="4059935"/>
            <a:ext cx="5687567" cy="10607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1878056" y="4059935"/>
            <a:ext cx="731520" cy="10607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1878056" y="4059935"/>
            <a:ext cx="731520" cy="1060704"/>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인사</a:t>
            </a:r>
          </a:p>
        </p:txBody>
      </p:sp>
      <p:sp>
        <p:nvSpPr>
          <p:cNvPr id="88" name="TextBox 87"/>
          <p:cNvSpPr txBox="1"/>
          <p:nvPr/>
        </p:nvSpPr>
        <p:spPr>
          <a:xfrm>
            <a:off x="12746736" y="4059935"/>
            <a:ext cx="4681727" cy="1060704"/>
          </a:xfrm>
          <a:prstGeom prst="rect">
            <a:avLst/>
          </a:prstGeom>
          <a:noFill/>
        </p:spPr>
        <p:txBody>
          <a:bodyPr wrap="square" anchor="ctr" lIns="0" rIns="0" tIns="0" bIns="0">
            <a:spAutoFit/>
          </a:bodyPr>
          <a:lstStyle/>
          <a:p>
            <a:pPr algn="l">
              <a:lnSpc>
                <a:spcPct val="108000"/>
              </a:lnSpc>
            </a:pPr>
            <a:r>
              <a:rPr sz="1050" b="1">
                <a:solidFill>
                  <a:srgbClr val="1A1A1A"/>
                </a:solidFill>
                <a:latin typeface="Arial"/>
                <a:ea typeface="Arial"/>
              </a:rPr>
              <a:t>시스템 SW 전문가 채용·양성 · 기준 = 고객 코드를 읽고 고치는가</a:t>
            </a:r>
          </a:p>
          <a:p>
            <a:pPr algn="l">
              <a:lnSpc>
                <a:spcPct val="108000"/>
              </a:lnSpc>
            </a:pPr>
            <a:r>
              <a:rPr sz="975" b="0">
                <a:solidFill>
                  <a:srgbClr val="555555"/>
                </a:solidFill>
                <a:latin typeface="Arial"/>
                <a:ea typeface="Arial"/>
              </a:rPr>
              <a:t>본사 엔지니어 상주 로테이션 (3~6개월)</a:t>
            </a:r>
          </a:p>
          <a:p>
            <a:pPr algn="l">
              <a:lnSpc>
                <a:spcPct val="108000"/>
              </a:lnSpc>
            </a:pPr>
            <a:r>
              <a:rPr sz="975" b="0">
                <a:solidFill>
                  <a:srgbClr val="555555"/>
                </a:solidFill>
                <a:latin typeface="Arial"/>
                <a:ea typeface="Arial"/>
              </a:rPr>
              <a:t>성과 평가 = 머지 · 실측 공개 · 디자인인</a:t>
            </a:r>
          </a:p>
        </p:txBody>
      </p:sp>
      <p:sp>
        <p:nvSpPr>
          <p:cNvPr id="89" name="Rectangle 88"/>
          <p:cNvSpPr/>
          <p:nvPr/>
        </p:nvSpPr>
        <p:spPr>
          <a:xfrm>
            <a:off x="11878056" y="5230367"/>
            <a:ext cx="5687567" cy="10607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11878056" y="5230367"/>
            <a:ext cx="731520" cy="10607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878056" y="5230367"/>
            <a:ext cx="731520" cy="1060704"/>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문화</a:t>
            </a:r>
          </a:p>
        </p:txBody>
      </p:sp>
      <p:sp>
        <p:nvSpPr>
          <p:cNvPr id="92" name="TextBox 91"/>
          <p:cNvSpPr txBox="1"/>
          <p:nvPr/>
        </p:nvSpPr>
        <p:spPr>
          <a:xfrm>
            <a:off x="12746736" y="5230367"/>
            <a:ext cx="4681727" cy="1060704"/>
          </a:xfrm>
          <a:prstGeom prst="rect">
            <a:avLst/>
          </a:prstGeom>
          <a:noFill/>
        </p:spPr>
        <p:txBody>
          <a:bodyPr wrap="square" anchor="ctr" lIns="0" rIns="0" tIns="0" bIns="0">
            <a:spAutoFit/>
          </a:bodyPr>
          <a:lstStyle/>
          <a:p>
            <a:pPr algn="l">
              <a:lnSpc>
                <a:spcPct val="108000"/>
              </a:lnSpc>
            </a:pPr>
            <a:r>
              <a:rPr sz="1050" b="1">
                <a:solidFill>
                  <a:srgbClr val="1A1A1A"/>
                </a:solidFill>
                <a:latin typeface="Arial"/>
                <a:ea typeface="Arial"/>
              </a:rPr>
              <a:t>오픈소스 메인테이너·커미터 배출 · 업스트림 우선</a:t>
            </a:r>
          </a:p>
          <a:p>
            <a:pPr algn="l">
              <a:lnSpc>
                <a:spcPct val="108000"/>
              </a:lnSpc>
            </a:pPr>
            <a:r>
              <a:rPr sz="975" b="0">
                <a:solidFill>
                  <a:srgbClr val="555555"/>
                </a:solidFill>
                <a:latin typeface="Arial"/>
                <a:ea typeface="Arial"/>
              </a:rPr>
              <a:t>KV 캐시 실측(WAF · 유효 DWPD) 업계 최초 공개</a:t>
            </a:r>
          </a:p>
          <a:p>
            <a:pPr algn="l">
              <a:lnSpc>
                <a:spcPct val="108000"/>
              </a:lnSpc>
            </a:pPr>
            <a:r>
              <a:rPr sz="975" b="0">
                <a:solidFill>
                  <a:srgbClr val="555555"/>
                </a:solidFill>
                <a:latin typeface="Arial"/>
                <a:ea typeface="Arial"/>
              </a:rPr>
              <a:t>레퍼런스 프로젝트 운영으로 외부 기여 유입</a:t>
            </a:r>
          </a:p>
        </p:txBody>
      </p:sp>
      <p:sp>
        <p:nvSpPr>
          <p:cNvPr id="93" name="Rectangle 92"/>
          <p:cNvSpPr/>
          <p:nvPr/>
        </p:nvSpPr>
        <p:spPr>
          <a:xfrm>
            <a:off x="11878056" y="6419087"/>
            <a:ext cx="5687567" cy="20116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1878056" y="6419087"/>
            <a:ext cx="54864" cy="20116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079224" y="6510527"/>
            <a:ext cx="2615183"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판돈 · 락인으로 얻는 점유율</a:t>
            </a:r>
          </a:p>
        </p:txBody>
      </p:sp>
      <p:sp>
        <p:nvSpPr>
          <p:cNvPr id="96" name="TextBox 95"/>
          <p:cNvSpPr txBox="1"/>
          <p:nvPr/>
        </p:nvSpPr>
        <p:spPr>
          <a:xfrm>
            <a:off x="12079224" y="6693407"/>
            <a:ext cx="2615183" cy="402336"/>
          </a:xfrm>
          <a:prstGeom prst="rect">
            <a:avLst/>
          </a:prstGeom>
          <a:noFill/>
        </p:spPr>
        <p:txBody>
          <a:bodyPr wrap="square" anchor="ctr" lIns="0" rIns="0" tIns="0" bIns="0">
            <a:spAutoFit/>
          </a:bodyPr>
          <a:lstStyle/>
          <a:p>
            <a:pPr algn="l">
              <a:lnSpc>
                <a:spcPct val="112000"/>
              </a:lnSpc>
            </a:pPr>
            <a:r>
              <a:rPr sz="1500" b="1">
                <a:solidFill>
                  <a:srgbClr val="1428A0"/>
                </a:solidFill>
                <a:latin typeface="Arial"/>
                <a:ea typeface="Arial"/>
              </a:rPr>
              <a:t>캐시 계층 QLC 0 → 50%</a:t>
            </a:r>
          </a:p>
        </p:txBody>
      </p:sp>
      <p:sp>
        <p:nvSpPr>
          <p:cNvPr id="97" name="TextBox 96"/>
          <p:cNvSpPr txBox="1"/>
          <p:nvPr/>
        </p:nvSpPr>
        <p:spPr>
          <a:xfrm>
            <a:off x="12079224" y="7095743"/>
            <a:ext cx="2615183" cy="128016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2030 추론 캐시 350EB 중 QLC 175EB(조건부 상방) · 락인 없으면 TLC 유지 · 디자인인 1사당 점유율 [사내 확인]</a:t>
            </a:r>
          </a:p>
        </p:txBody>
      </p:sp>
      <p:sp>
        <p:nvSpPr>
          <p:cNvPr id="98" name="TextBox 97"/>
          <p:cNvSpPr txBox="1"/>
          <p:nvPr/>
        </p:nvSpPr>
        <p:spPr>
          <a:xfrm>
            <a:off x="14840712" y="6510527"/>
            <a:ext cx="2615183"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비용 · 개발실 자원 투입</a:t>
            </a:r>
          </a:p>
        </p:txBody>
      </p:sp>
      <p:sp>
        <p:nvSpPr>
          <p:cNvPr id="99" name="TextBox 98"/>
          <p:cNvSpPr txBox="1"/>
          <p:nvPr/>
        </p:nvSpPr>
        <p:spPr>
          <a:xfrm>
            <a:off x="14840712" y="6693407"/>
            <a:ext cx="2615183" cy="402336"/>
          </a:xfrm>
          <a:prstGeom prst="rect">
            <a:avLst/>
          </a:prstGeom>
          <a:noFill/>
        </p:spPr>
        <p:txBody>
          <a:bodyPr wrap="square" anchor="ctr" lIns="0" rIns="0" tIns="0" bIns="0">
            <a:spAutoFit/>
          </a:bodyPr>
          <a:lstStyle/>
          <a:p>
            <a:pPr algn="l">
              <a:lnSpc>
                <a:spcPct val="112000"/>
              </a:lnSpc>
            </a:pPr>
            <a:r>
              <a:rPr sz="1500" b="1">
                <a:solidFill>
                  <a:srgbClr val="1428A0"/>
                </a:solidFill>
                <a:latin typeface="Arial"/>
                <a:ea typeface="Arial"/>
              </a:rPr>
              <a:t>별도 투자 없음</a:t>
            </a:r>
          </a:p>
        </p:txBody>
      </p:sp>
      <p:sp>
        <p:nvSpPr>
          <p:cNvPr id="100" name="TextBox 99"/>
          <p:cNvSpPr txBox="1"/>
          <p:nvPr/>
        </p:nvSpPr>
        <p:spPr>
          <a:xfrm>
            <a:off x="14840712" y="7095743"/>
            <a:ext cx="2615183" cy="128016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Pod 인력 3~5명 × 1~2사 재배치 · 시스템 SW 채용은 정원 내 · 실측 공개는 보안 검토만</a:t>
            </a:r>
          </a:p>
        </p:txBody>
      </p:sp>
      <p:sp>
        <p:nvSpPr>
          <p:cNvPr id="101" name="Rectangle 100"/>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3" name="TextBox 102"/>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FDE는 워크로드를 여는 1~2사에 집중해 효과를 극대화하고, 나머지 고객은 업스트림·규격·레퍼런스 채널로 넓힙니다.</a:t>
            </a:r>
          </a:p>
          <a:p>
            <a:pPr algn="l">
              <a:lnSpc>
                <a:spcPct val="108000"/>
              </a:lnSpc>
            </a:pPr>
            <a:r>
              <a:rPr sz="1650" b="1">
                <a:solidFill>
                  <a:srgbClr val="FFFFFF"/>
                </a:solidFill>
                <a:latin typeface="Arial"/>
                <a:ea typeface="Arial"/>
              </a:rPr>
              <a:t>판돈은 락인으로 얻는 캐시 계층 점유율, 비용은 개발실 개발 자원 투입입니다</a:t>
            </a:r>
          </a:p>
        </p:txBody>
      </p:sp>
      <p:sp>
        <p:nvSpPr>
          <p:cNvPr id="104" name="Rectangle 103"/>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6장 보증 · SLA · 무엇을 보증하나</a:t>
            </a:r>
          </a:p>
        </p:txBody>
      </p:sp>
      <p:sp>
        <p:nvSpPr>
          <p:cNvPr id="107" name="TextBox 10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Academy(Palantir FDE), Micron IR 2026-06-22·10-Q(SCA), NVIDIA CMX·Dynamo 문서, OCP 사양, 위키 qlc-execution-strategy(개발실 범위) · 점유율 수치는 위키 수요 모델 §4.3 조건부 상방, 사내 수치는 [사내 확인]</a:t>
            </a:r>
          </a:p>
        </p:txBody>
      </p:sp>
      <p:sp>
        <p:nvSpPr>
          <p:cNvPr id="108" name="TextBox 10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SSD가 풀 문제</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보증 · SLA  </a:t>
            </a:r>
            <a:r>
              <a:rPr sz="1200" b="0">
                <a:solidFill>
                  <a:srgbClr val="1428A0"/>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유효 DWPD 보증은 워크로드 리스크를 안으므로 텔레메트리 기반 조건부 보증으로 설계합니다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관행은 5년 또는 TBW·DWPD 선도달 보증입니다. 호스트 배치를 전제로 한 유효 DWPD는 WAF가 오르면 그대로 삼성의 보증 부담이 됩니다.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la_effective_dwpd.png"/>
          <p:cNvPicPr>
            <a:picLocks noChangeAspect="1"/>
          </p:cNvPicPr>
          <p:nvPr/>
        </p:nvPicPr>
        <p:blipFill>
          <a:blip r:embed="rId2"/>
          <a:stretch>
            <a:fillRect/>
          </a:stretch>
        </p:blipFill>
        <p:spPr>
          <a:xfrm>
            <a:off x="722376" y="2560320"/>
            <a:ext cx="5852160" cy="2817707"/>
          </a:xfrm>
          <a:prstGeom prst="rect">
            <a:avLst/>
          </a:prstGeom>
        </p:spPr>
      </p:pic>
      <p:sp>
        <p:nvSpPr>
          <p:cNvPr id="33" name="TextBox 32"/>
          <p:cNvSpPr txBox="1"/>
          <p:nvPr/>
        </p:nvSpPr>
        <p:spPr>
          <a:xfrm>
            <a:off x="722376" y="5541264"/>
            <a:ext cx="5852160"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리스크 시나리오 · WAF가 오르는 경우</a:t>
            </a:r>
          </a:p>
        </p:txBody>
      </p:sp>
      <p:sp>
        <p:nvSpPr>
          <p:cNvPr id="34" name="Rectangle 33"/>
          <p:cNvSpPr/>
          <p:nvPr/>
        </p:nvSpPr>
        <p:spPr>
          <a:xfrm>
            <a:off x="722376" y="5888736"/>
            <a:ext cx="91440" cy="914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5256" y="5833872"/>
            <a:ext cx="5669280" cy="566928"/>
          </a:xfrm>
          <a:prstGeom prst="rect">
            <a:avLst/>
          </a:prstGeom>
          <a:noFill/>
        </p:spPr>
        <p:txBody>
          <a:bodyPr wrap="square" anchor="t" lIns="0" rIns="0" tIns="0" bIns="0">
            <a:spAutoFit/>
          </a:bodyPr>
          <a:lstStyle/>
          <a:p>
            <a:pPr algn="l">
              <a:lnSpc>
                <a:spcPct val="102000"/>
              </a:lnSpc>
            </a:pPr>
            <a:r>
              <a:rPr sz="975" b="1">
                <a:solidFill>
                  <a:srgbClr val="1A1A1A"/>
                </a:solidFill>
                <a:latin typeface="Arial"/>
                <a:ea typeface="Arial"/>
              </a:rPr>
              <a:t>① 워크로드 변화  </a:t>
            </a:r>
            <a:r>
              <a:rPr sz="900" b="0">
                <a:solidFill>
                  <a:srgbClr val="555555"/>
                </a:solidFill>
                <a:latin typeface="Arial"/>
                <a:ea typeface="Arial"/>
              </a:rPr>
              <a:t>퇴거 정책 · 프리픽스 재사용률 · 세션 길이가 바뀌면 데이터 수명 분포가 바뀜 → WAF ↑ (KV 캐시 쓰기 강도 자체가 프레임워크별로 상이)</a:t>
            </a:r>
          </a:p>
        </p:txBody>
      </p:sp>
      <p:sp>
        <p:nvSpPr>
          <p:cNvPr id="36" name="Rectangle 35"/>
          <p:cNvSpPr/>
          <p:nvPr/>
        </p:nvSpPr>
        <p:spPr>
          <a:xfrm>
            <a:off x="722376" y="6492240"/>
            <a:ext cx="91440" cy="914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5256" y="6437376"/>
            <a:ext cx="5669280" cy="566928"/>
          </a:xfrm>
          <a:prstGeom prst="rect">
            <a:avLst/>
          </a:prstGeom>
          <a:noFill/>
        </p:spPr>
        <p:txBody>
          <a:bodyPr wrap="square" anchor="t" lIns="0" rIns="0" tIns="0" bIns="0">
            <a:spAutoFit/>
          </a:bodyPr>
          <a:lstStyle/>
          <a:p>
            <a:pPr algn="l">
              <a:lnSpc>
                <a:spcPct val="102000"/>
              </a:lnSpc>
            </a:pPr>
            <a:r>
              <a:rPr sz="975" b="1">
                <a:solidFill>
                  <a:srgbClr val="1A1A1A"/>
                </a:solidFill>
                <a:latin typeface="Arial"/>
                <a:ea typeface="Arial"/>
              </a:rPr>
              <a:t>② 오분류 · RUH 간섭  </a:t>
            </a:r>
            <a:r>
              <a:rPr sz="900" b="0">
                <a:solidFill>
                  <a:srgbClr val="555555"/>
                </a:solidFill>
                <a:latin typeface="Arial"/>
                <a:ea typeface="Arial"/>
              </a:rPr>
              <a:t>수명 오분류와 RUH 간 간섭(noisy RUH)이 격리를 깨면 다른 핸들의 WAF까지 상승 (FAST'26 WARP)</a:t>
            </a:r>
          </a:p>
        </p:txBody>
      </p:sp>
      <p:sp>
        <p:nvSpPr>
          <p:cNvPr id="38" name="Rectangle 37"/>
          <p:cNvSpPr/>
          <p:nvPr/>
        </p:nvSpPr>
        <p:spPr>
          <a:xfrm>
            <a:off x="722376" y="7095744"/>
            <a:ext cx="91440" cy="914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040880"/>
            <a:ext cx="5669280" cy="566928"/>
          </a:xfrm>
          <a:prstGeom prst="rect">
            <a:avLst/>
          </a:prstGeom>
          <a:noFill/>
        </p:spPr>
        <p:txBody>
          <a:bodyPr wrap="square" anchor="t" lIns="0" rIns="0" tIns="0" bIns="0">
            <a:spAutoFit/>
          </a:bodyPr>
          <a:lstStyle/>
          <a:p>
            <a:pPr algn="l">
              <a:lnSpc>
                <a:spcPct val="102000"/>
              </a:lnSpc>
            </a:pPr>
            <a:r>
              <a:rPr sz="975" b="1">
                <a:solidFill>
                  <a:srgbClr val="1A1A1A"/>
                </a:solidFill>
                <a:latin typeface="Arial"/>
                <a:ea typeface="Arial"/>
              </a:rPr>
              <a:t>③ 고객 스택 업데이트  </a:t>
            </a:r>
            <a:r>
              <a:rPr sz="900" b="0">
                <a:solidFill>
                  <a:srgbClr val="555555"/>
                </a:solidFill>
                <a:latin typeface="Arial"/>
                <a:ea typeface="Arial"/>
              </a:rPr>
              <a:t>캐시 관리자 · I/O 라이브러리 버전 변경으로 배치 힌트가 사라지면 정격 WAF ≈3으로 회귀</a:t>
            </a:r>
          </a:p>
        </p:txBody>
      </p:sp>
      <p:sp>
        <p:nvSpPr>
          <p:cNvPr id="40" name="TextBox 39"/>
          <p:cNvSpPr txBox="1"/>
          <p:nvPr/>
        </p:nvSpPr>
        <p:spPr>
          <a:xfrm>
            <a:off x="722376" y="7662671"/>
            <a:ext cx="5852160" cy="237744"/>
          </a:xfrm>
          <a:prstGeom prst="rect">
            <a:avLst/>
          </a:prstGeom>
          <a:noFill/>
        </p:spPr>
        <p:txBody>
          <a:bodyPr wrap="square" anchor="t" lIns="0" rIns="0" tIns="0" bIns="0">
            <a:spAutoFit/>
          </a:bodyPr>
          <a:lstStyle/>
          <a:p>
            <a:pPr algn="l">
              <a:lnSpc>
                <a:spcPct val="112000"/>
              </a:lnSpc>
            </a:pPr>
            <a:r>
              <a:rPr sz="975" b="1">
                <a:solidFill>
                  <a:srgbClr val="1428A0"/>
                </a:solidFill>
                <a:latin typeface="Arial"/>
                <a:ea typeface="Arial"/>
              </a:rPr>
              <a:t>결과  </a:t>
            </a:r>
            <a:r>
              <a:rPr sz="950" b="0">
                <a:solidFill>
                  <a:srgbClr val="555555"/>
                </a:solidFill>
                <a:latin typeface="Arial"/>
                <a:ea typeface="Arial"/>
              </a:rPr>
              <a:t>보증 기간 내 TBW 조기 소진 → RMA · 교체 비용을 삼성이 부담</a:t>
            </a:r>
          </a:p>
        </p:txBody>
      </p:sp>
      <p:sp>
        <p:nvSpPr>
          <p:cNvPr id="41" name="Rectangle 40"/>
          <p:cNvSpPr/>
          <p:nvPr/>
        </p:nvSpPr>
        <p:spPr>
          <a:xfrm>
            <a:off x="6885432" y="2560320"/>
            <a:ext cx="10680192" cy="47548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59752" y="2688336"/>
            <a:ext cx="10131552"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보증 설계 원칙</a:t>
            </a:r>
            <a:r>
              <a:rPr sz="1000" b="0">
                <a:solidFill>
                  <a:srgbClr val="8A8A8A"/>
                </a:solidFill>
                <a:latin typeface="Arial"/>
                <a:ea typeface="Arial"/>
              </a:rPr>
              <a:t>   관행을 유지하고, 유효 DWPD는 조건부로만 표기</a:t>
            </a:r>
          </a:p>
        </p:txBody>
      </p:sp>
      <p:sp>
        <p:nvSpPr>
          <p:cNvPr id="43" name="Rectangle 42"/>
          <p:cNvSpPr/>
          <p:nvPr/>
        </p:nvSpPr>
        <p:spPr>
          <a:xfrm>
            <a:off x="7159752" y="3017520"/>
            <a:ext cx="1013155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159752" y="3172968"/>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159752" y="3172968"/>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1</a:t>
            </a:r>
          </a:p>
        </p:txBody>
      </p:sp>
      <p:sp>
        <p:nvSpPr>
          <p:cNvPr id="46" name="TextBox 45"/>
          <p:cNvSpPr txBox="1"/>
          <p:nvPr/>
        </p:nvSpPr>
        <p:spPr>
          <a:xfrm>
            <a:off x="7562088" y="3145536"/>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보증 기준은 관행대로 TBW · 물리 매체 기록량 선도달</a:t>
            </a:r>
          </a:p>
        </p:txBody>
      </p:sp>
      <p:sp>
        <p:nvSpPr>
          <p:cNvPr id="47" name="TextBox 46"/>
          <p:cNvSpPr txBox="1"/>
          <p:nvPr/>
        </p:nvSpPr>
        <p:spPr>
          <a:xfrm>
            <a:off x="7562088" y="3392424"/>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5년 또는 TBW·DWPD 선도달(삼성 PM9A3 · Micron 관행) · 유효 DWPD는 부가 표기이지 보증 기준이 아님</a:t>
            </a:r>
          </a:p>
        </p:txBody>
      </p:sp>
      <p:sp>
        <p:nvSpPr>
          <p:cNvPr id="48" name="Oval 47"/>
          <p:cNvSpPr/>
          <p:nvPr/>
        </p:nvSpPr>
        <p:spPr>
          <a:xfrm>
            <a:off x="7159752" y="3941064"/>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159752" y="3941064"/>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2</a:t>
            </a:r>
          </a:p>
        </p:txBody>
      </p:sp>
      <p:sp>
        <p:nvSpPr>
          <p:cNvPr id="50" name="TextBox 49"/>
          <p:cNvSpPr txBox="1"/>
          <p:nvPr/>
        </p:nvSpPr>
        <p:spPr>
          <a:xfrm>
            <a:off x="7562088" y="3913632"/>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유효 DWPD는 WAF 밴드별 조건부 등급</a:t>
            </a:r>
          </a:p>
        </p:txBody>
      </p:sp>
      <p:sp>
        <p:nvSpPr>
          <p:cNvPr id="51" name="TextBox 50"/>
          <p:cNvSpPr txBox="1"/>
          <p:nvPr/>
        </p:nvSpPr>
        <p:spPr>
          <a:xfrm>
            <a:off x="7562088" y="4160520"/>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WAF ≤ 1.2 / ≤ 2.0 / &gt; 2.0 각각에 보증 DWPD를 매핑 · 정격 0.58은 WAF 1.74에서 1.0 아래로 내려가므로 밴드 경계를 명시</a:t>
            </a:r>
          </a:p>
        </p:txBody>
      </p:sp>
      <p:sp>
        <p:nvSpPr>
          <p:cNvPr id="52" name="Oval 51"/>
          <p:cNvSpPr/>
          <p:nvPr/>
        </p:nvSpPr>
        <p:spPr>
          <a:xfrm>
            <a:off x="7159752" y="4709160"/>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159752" y="4709160"/>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3</a:t>
            </a:r>
          </a:p>
        </p:txBody>
      </p:sp>
      <p:sp>
        <p:nvSpPr>
          <p:cNvPr id="54" name="TextBox 53"/>
          <p:cNvSpPr txBox="1"/>
          <p:nvPr/>
        </p:nvSpPr>
        <p:spPr>
          <a:xfrm>
            <a:off x="7562088" y="4681728"/>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양측이 같은 텔레메트리로 WAF를 관측</a:t>
            </a:r>
          </a:p>
        </p:txBody>
      </p:sp>
      <p:sp>
        <p:nvSpPr>
          <p:cNvPr id="55" name="TextBox 54"/>
          <p:cNvSpPr txBox="1"/>
          <p:nvPr/>
        </p:nvSpPr>
        <p:spPr>
          <a:xfrm>
            <a:off x="7562088" y="4928616"/>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OCP SMART C0 물리 매체 기록량 ÷ 호스트 기록량 = WAF · 분기 실측 리포트를 계약 부속으로</a:t>
            </a:r>
          </a:p>
        </p:txBody>
      </p:sp>
      <p:sp>
        <p:nvSpPr>
          <p:cNvPr id="56" name="Oval 55"/>
          <p:cNvSpPr/>
          <p:nvPr/>
        </p:nvSpPr>
        <p:spPr>
          <a:xfrm>
            <a:off x="7159752" y="5477256"/>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59752" y="5477256"/>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4</a:t>
            </a:r>
          </a:p>
        </p:txBody>
      </p:sp>
      <p:sp>
        <p:nvSpPr>
          <p:cNvPr id="58" name="TextBox 57"/>
          <p:cNvSpPr txBox="1"/>
          <p:nvPr/>
        </p:nvSpPr>
        <p:spPr>
          <a:xfrm>
            <a:off x="7562088" y="5449824"/>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배치 규격 준수 조건</a:t>
            </a:r>
          </a:p>
        </p:txBody>
      </p:sp>
      <p:sp>
        <p:nvSpPr>
          <p:cNvPr id="59" name="TextBox 58"/>
          <p:cNvSpPr txBox="1"/>
          <p:nvPr/>
        </p:nvSpPr>
        <p:spPr>
          <a:xfrm>
            <a:off x="7562088" y="5696712"/>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RUH 매핑 가이드 · 캐시 관리자 정책 준수 시에만 유효 DWPD 적용, 미준수 · 힌트 손실 시 정격 기준으로 자동 복귀</a:t>
            </a:r>
          </a:p>
        </p:txBody>
      </p:sp>
      <p:sp>
        <p:nvSpPr>
          <p:cNvPr id="60" name="Oval 59"/>
          <p:cNvSpPr/>
          <p:nvPr/>
        </p:nvSpPr>
        <p:spPr>
          <a:xfrm>
            <a:off x="7159752" y="6245352"/>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159752" y="6245352"/>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5</a:t>
            </a:r>
          </a:p>
        </p:txBody>
      </p:sp>
      <p:sp>
        <p:nvSpPr>
          <p:cNvPr id="62" name="TextBox 61"/>
          <p:cNvSpPr txBox="1"/>
          <p:nvPr/>
        </p:nvSpPr>
        <p:spPr>
          <a:xfrm>
            <a:off x="7562088" y="6217920"/>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재협상 · 감량 운영 조항</a:t>
            </a:r>
          </a:p>
        </p:txBody>
      </p:sp>
      <p:sp>
        <p:nvSpPr>
          <p:cNvPr id="63" name="TextBox 62"/>
          <p:cNvSpPr txBox="1"/>
          <p:nvPr/>
        </p:nvSpPr>
        <p:spPr>
          <a:xfrm>
            <a:off x="7562088" y="6464808"/>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WAF 초과가 지속되면 등급 재조정 또는 감량 운영(3장 FIP 유사) · 무상 교체가 아니라 조건 재설정</a:t>
            </a:r>
          </a:p>
        </p:txBody>
      </p:sp>
      <p:sp>
        <p:nvSpPr>
          <p:cNvPr id="64" name="TextBox 63"/>
          <p:cNvSpPr txBox="1"/>
          <p:nvPr/>
        </p:nvSpPr>
        <p:spPr>
          <a:xfrm>
            <a:off x="7159752" y="7004303"/>
            <a:ext cx="10131552" cy="365760"/>
          </a:xfrm>
          <a:prstGeom prst="rect">
            <a:avLst/>
          </a:prstGeom>
          <a:noFill/>
        </p:spPr>
        <p:txBody>
          <a:bodyPr wrap="square" anchor="t" lIns="0" rIns="0" tIns="0" bIns="0">
            <a:spAutoFit/>
          </a:bodyPr>
          <a:lstStyle/>
          <a:p>
            <a:pPr algn="l">
              <a:lnSpc>
                <a:spcPct val="100000"/>
              </a:lnSpc>
            </a:pPr>
            <a:r>
              <a:rPr sz="950" b="1">
                <a:solidFill>
                  <a:srgbClr val="1A1A1A"/>
                </a:solidFill>
                <a:latin typeface="Arial"/>
                <a:ea typeface="Arial"/>
              </a:rPr>
              <a:t>근거  </a:t>
            </a:r>
            <a:r>
              <a:rPr sz="900" b="0">
                <a:solidFill>
                  <a:srgbClr val="555555"/>
                </a:solidFill>
                <a:latin typeface="Arial"/>
                <a:ea typeface="Arial"/>
              </a:rPr>
              <a:t>삼성 PM9A3 보증(5년 또는 DWPD 선도달) · Micron 엔터프라이즈 SSD 보증 · OCP Cloud SSD SMART C0(WAF 산출 목적 명시) · FAST'26 WARP(조건부 WAF) · CHEOPS'25(KV 오프로드 I/O 특성)</a:t>
            </a:r>
          </a:p>
        </p:txBody>
      </p:sp>
      <p:sp>
        <p:nvSpPr>
          <p:cNvPr id="65" name="Rectangle 64"/>
          <p:cNvSpPr/>
          <p:nvPr/>
        </p:nvSpPr>
        <p:spPr>
          <a:xfrm>
            <a:off x="722376" y="8321040"/>
            <a:ext cx="16843248"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133856" y="8321040"/>
            <a:ext cx="1463040" cy="96926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67" name="Rectangle 66"/>
          <p:cNvSpPr/>
          <p:nvPr/>
        </p:nvSpPr>
        <p:spPr>
          <a:xfrm>
            <a:off x="2551176"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697480"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1 문제</a:t>
            </a:r>
          </a:p>
          <a:p>
            <a:pPr algn="l">
              <a:lnSpc>
                <a:spcPct val="102000"/>
              </a:lnSpc>
            </a:pPr>
            <a:r>
              <a:rPr sz="975" b="0">
                <a:solidFill>
                  <a:srgbClr val="FFFFFF"/>
                </a:solidFill>
                <a:latin typeface="Arial"/>
                <a:ea typeface="Arial"/>
              </a:rPr>
              <a:t>요구 이동: 고용량</a:t>
            </a:r>
          </a:p>
          <a:p>
            <a:pPr algn="l">
              <a:lnSpc>
                <a:spcPct val="102000"/>
              </a:lnSpc>
            </a:pPr>
            <a:r>
              <a:rPr sz="975" b="0">
                <a:solidFill>
                  <a:srgbClr val="FFFFFF"/>
                </a:solidFill>
                <a:latin typeface="Arial"/>
                <a:ea typeface="Arial"/>
              </a:rPr>
              <a:t>1~3 DWPD · 동급 2~10배</a:t>
            </a:r>
          </a:p>
        </p:txBody>
      </p:sp>
      <p:sp>
        <p:nvSpPr>
          <p:cNvPr id="69" name="Right Arrow 68"/>
          <p:cNvSpPr/>
          <p:nvPr/>
        </p:nvSpPr>
        <p:spPr>
          <a:xfrm>
            <a:off x="4748784"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059680"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205984"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2 해법 사다리</a:t>
            </a:r>
          </a:p>
          <a:p>
            <a:pPr algn="l">
              <a:lnSpc>
                <a:spcPct val="102000"/>
              </a:lnSpc>
            </a:pPr>
            <a:r>
              <a:rPr sz="975" b="0">
                <a:solidFill>
                  <a:srgbClr val="FFFFFF"/>
                </a:solidFill>
                <a:latin typeface="Arial"/>
                <a:ea typeface="Arial"/>
              </a:rPr>
              <a:t>보상은 상위 계층으로</a:t>
            </a:r>
          </a:p>
          <a:p>
            <a:pPr algn="l">
              <a:lnSpc>
                <a:spcPct val="102000"/>
              </a:lnSpc>
            </a:pPr>
            <a:r>
              <a:rPr sz="975" b="0">
                <a:solidFill>
                  <a:srgbClr val="FFFFFF"/>
                </a:solidFill>
                <a:latin typeface="Arial"/>
                <a:ea typeface="Arial"/>
              </a:rPr>
              <a:t>WAF는 호스트의 지렛대</a:t>
            </a:r>
          </a:p>
        </p:txBody>
      </p:sp>
      <p:sp>
        <p:nvSpPr>
          <p:cNvPr id="72" name="Right Arrow 71"/>
          <p:cNvSpPr/>
          <p:nvPr/>
        </p:nvSpPr>
        <p:spPr>
          <a:xfrm>
            <a:off x="7257288"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568184"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714488"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3 신뢰성</a:t>
            </a:r>
          </a:p>
          <a:p>
            <a:pPr algn="l">
              <a:lnSpc>
                <a:spcPct val="102000"/>
              </a:lnSpc>
            </a:pPr>
            <a:r>
              <a:rPr sz="975" b="0">
                <a:solidFill>
                  <a:srgbClr val="FFFFFF"/>
                </a:solidFill>
                <a:latin typeface="Arial"/>
                <a:ea typeface="Arial"/>
              </a:rPr>
              <a:t>다이 8배 ↑</a:t>
            </a:r>
          </a:p>
          <a:p>
            <a:pPr algn="l">
              <a:lnSpc>
                <a:spcPct val="102000"/>
              </a:lnSpc>
            </a:pPr>
            <a:r>
              <a:rPr sz="975" b="0">
                <a:solidFill>
                  <a:srgbClr val="FFFFFF"/>
                </a:solidFill>
                <a:latin typeface="Arial"/>
                <a:ea typeface="Arial"/>
              </a:rPr>
              <a:t>SSD 내부 해법</a:t>
            </a:r>
          </a:p>
        </p:txBody>
      </p:sp>
      <p:sp>
        <p:nvSpPr>
          <p:cNvPr id="75" name="Right Arrow 74"/>
          <p:cNvSpPr/>
          <p:nvPr/>
        </p:nvSpPr>
        <p:spPr>
          <a:xfrm>
            <a:off x="9765792"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076688"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222992"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4 역량</a:t>
            </a:r>
          </a:p>
          <a:p>
            <a:pPr algn="l">
              <a:lnSpc>
                <a:spcPct val="102000"/>
              </a:lnSpc>
            </a:pPr>
            <a:r>
              <a:rPr sz="975" b="0">
                <a:solidFill>
                  <a:srgbClr val="FFFFFF"/>
                </a:solidFill>
                <a:latin typeface="Arial"/>
                <a:ea typeface="Arial"/>
              </a:rPr>
              <a:t>디바이스 → 워크로드</a:t>
            </a:r>
          </a:p>
          <a:p>
            <a:pPr algn="l">
              <a:lnSpc>
                <a:spcPct val="102000"/>
              </a:lnSpc>
            </a:pPr>
            <a:r>
              <a:rPr sz="975" b="0">
                <a:solidFill>
                  <a:srgbClr val="FFFFFF"/>
                </a:solidFill>
                <a:latin typeface="Arial"/>
                <a:ea typeface="Arial"/>
              </a:rPr>
              <a:t>→ 고객 시스템</a:t>
            </a:r>
          </a:p>
        </p:txBody>
      </p:sp>
      <p:sp>
        <p:nvSpPr>
          <p:cNvPr id="78" name="Right Arrow 77"/>
          <p:cNvSpPr/>
          <p:nvPr/>
        </p:nvSpPr>
        <p:spPr>
          <a:xfrm>
            <a:off x="12274296"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2585192"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731496"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5 실행</a:t>
            </a:r>
          </a:p>
          <a:p>
            <a:pPr algn="l">
              <a:lnSpc>
                <a:spcPct val="102000"/>
              </a:lnSpc>
            </a:pPr>
            <a:r>
              <a:rPr sz="975" b="0">
                <a:solidFill>
                  <a:srgbClr val="FFFFFF"/>
                </a:solidFill>
                <a:latin typeface="Arial"/>
                <a:ea typeface="Arial"/>
              </a:rPr>
              <a:t>FDE 선별 집중</a:t>
            </a:r>
          </a:p>
          <a:p>
            <a:pPr algn="l">
              <a:lnSpc>
                <a:spcPct val="102000"/>
              </a:lnSpc>
            </a:pPr>
            <a:r>
              <a:rPr sz="975" b="0">
                <a:solidFill>
                  <a:srgbClr val="FFFFFF"/>
                </a:solidFill>
                <a:latin typeface="Arial"/>
                <a:ea typeface="Arial"/>
              </a:rPr>
              <a:t>개발실 자원 투입</a:t>
            </a:r>
          </a:p>
        </p:txBody>
      </p:sp>
      <p:sp>
        <p:nvSpPr>
          <p:cNvPr id="81" name="Right Arrow 80"/>
          <p:cNvSpPr/>
          <p:nvPr/>
        </p:nvSpPr>
        <p:spPr>
          <a:xfrm>
            <a:off x="14782800"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093696" y="8449056"/>
            <a:ext cx="2106168" cy="713232"/>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240000" y="8503920"/>
            <a:ext cx="1813560" cy="621792"/>
          </a:xfrm>
          <a:prstGeom prst="rect">
            <a:avLst/>
          </a:prstGeom>
          <a:noFill/>
        </p:spPr>
        <p:txBody>
          <a:bodyPr wrap="square" anchor="ctr" lIns="0" rIns="0" tIns="0" bIns="0">
            <a:spAutoFit/>
          </a:bodyPr>
          <a:lstStyle/>
          <a:p>
            <a:pPr algn="l">
              <a:lnSpc>
                <a:spcPct val="102000"/>
              </a:lnSpc>
            </a:pPr>
            <a:r>
              <a:rPr sz="1125" b="1">
                <a:solidFill>
                  <a:srgbClr val="1428A0"/>
                </a:solidFill>
                <a:latin typeface="Arial"/>
                <a:ea typeface="Arial"/>
              </a:rPr>
              <a:t>6 보증 · SLA</a:t>
            </a:r>
          </a:p>
          <a:p>
            <a:pPr algn="l">
              <a:lnSpc>
                <a:spcPct val="102000"/>
              </a:lnSpc>
            </a:pPr>
            <a:r>
              <a:rPr sz="975" b="1">
                <a:solidFill>
                  <a:srgbClr val="1A1A1A"/>
                </a:solidFill>
                <a:latin typeface="Arial"/>
                <a:ea typeface="Arial"/>
              </a:rPr>
              <a:t>TBW 기준 유지</a:t>
            </a:r>
          </a:p>
          <a:p>
            <a:pPr algn="l">
              <a:lnSpc>
                <a:spcPct val="102000"/>
              </a:lnSpc>
            </a:pPr>
            <a:r>
              <a:rPr sz="975" b="1">
                <a:solidFill>
                  <a:srgbClr val="1A1A1A"/>
                </a:solidFill>
                <a:latin typeface="Arial"/>
                <a:ea typeface="Arial"/>
              </a:rPr>
              <a:t>WAF 조건부 유효 DWPD</a:t>
            </a:r>
          </a:p>
        </p:txBody>
      </p:sp>
      <p:sp>
        <p:nvSpPr>
          <p:cNvPr id="84" name="TextBox 8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삼성 PM9A3·Micron 엔터프라이즈 SSD 보증 정책, OCP NVMe Cloud/Datacenter SSD 사양(SMART C0), USENIX FAST'26 WARP, ACM CHEOPS'25, P5336·6550 ION·LC9 사양(정격 DWPD) · 유효 DWPD 곡선은 정격 WAF ≈3 가정의 산식(⚠️)</a:t>
            </a:r>
          </a:p>
        </p:txBody>
      </p:sp>
      <p:sp>
        <p:nvSpPr>
          <p:cNvPr id="85" name="TextBox 8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