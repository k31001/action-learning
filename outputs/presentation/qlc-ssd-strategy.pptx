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배경 한 장입니다. 질문은 하나, 고객은 왜 QLC를 원하는가입니다. 세 국면을 관통하는 답은 계산 옆에 가장 싼 바이트를 두는 것입니다. 2022년 하이퍼스케일러는 데이터셋이 6배로 늘고 HDD가 TB당 대역폭을 잃자 플래시 용량 계층을 원했습니다(Meta: 10 MB/s/TB 대역, TLC 서버의 6배 바이트 밀도). 공급자가 판 것은 1U에 1PB, 5년 TCO -47%였습니다. 조건이 있었습니다. 읽기 중심 워크로드라서 0.3~0.6 DWPD로 충분했고, 쓰기가 NAND 전력의 대부분이라 읽기 중심 데이터를 QLC로 옮기면 전력도 줄었습니다. 그 해에 전문 벤더(Solidigm) 출범, E1.S/E1.L 폼팩터, Meta·Google의 배치 표준 비준(2022-12), 가격 급락이 갖춰졌고 물량은 AI 추론 서버의 전력 효율이 우선순위가 된 2024년에 터졌습니다(TrendForce 30EB, 4배). 현재 국면의 구매 기준은 TB당 와트와 공급 확보이고 245TB까지 용량 경쟁이 벌어졌지만, 여전히 읽기 중심 데이터가 QLC의 자리이고 쓰기 티어는 TLC입니다. 향후 국면에서 가장 빨리 크는 용량 수요는 KV cache입니다. 장문맥·에이전틱 추론의 KV 캐시가 HBM과 DRAM을 넘쳐 SSD로 내려오고, 프리필 재사용으로 GPU당 동시 사용자가 늘고 TTFT가 줄어듭니다(NVMe 오프로드로 H100 한 장이 동시 사용자 10배). 고객이 사는 것은 GPU당 캐시 용량과 토큰당 비용이며, 여기서도 가장 싼 바이트는 QLC입니다. 그러나 캐시는 쓰기가 많아 오늘 이 티어는 TLC 1~3 DWPD가 서비스하고(2027년 75~100EB), CMX 타깃 드라이브도 전부 TLC입니다. 그래프: 비트는 10배, 가격 정상화 기준선에서 매출은 정체, 진한 파랑은 호스트 협력 배치가 성립할 때의 조건부 상방. 결론: 고객은 추론 캐시 티어에서도 QLC의 경제성을 원하고, 문은 내구성이며, 그 문은 디바이스만으로는 열리지 않습니다. 다음 장이 그 이유입니다.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앞 장의 결론을 잇습니다. 고객은 캐시 티어에서도 QLC의 경제성(TB당 원가·전력)을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계산 옆의 가장 싼 바이트를 사려고 QLC를 택했고 그 자리가 쓰기 많은 추론 캐시로 옮겨가므로(1장) 내구성을 고객 시스템 안에서 풀어야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고객은 왜 QLC를 원하는가</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고객이 사는 것은 계산 옆의 가장 싼 바이트이고, 그 자리가 추론 캐시 티어로 옮겨갑니다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 모두 고객은 TB당 원가·전력·공간을 샀습니다. 다음 자리는 쓰기가 많은 KV 캐시라 내구성이 문입니다.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원가 · 랙당 용량</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데이터 6배 · 1U에 1PB,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중심이라 0.3~0.6 DWPD로 충분</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1년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와트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추론 서버의 전력·공간 병목 → 245TB</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여전히 읽기 중심, 쓰기 티어는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물량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고객이 산 것</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캐시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왜  </a:t>
            </a:r>
            <a:r>
              <a:rPr sz="1425" b="0">
                <a:solidFill>
                  <a:srgbClr val="555555"/>
                </a:solidFill>
                <a:latin typeface="Arial"/>
                <a:ea typeface="Arial"/>
              </a:rPr>
              <a:t>KV 캐시가 HBM을 넘침 · GPU당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많은 캐시 → 오늘은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연결 공백</a:t>
            </a:r>
          </a:p>
        </p:txBody>
      </p:sp>
      <p:sp>
        <p:nvSpPr>
          <p:cNvPr id="32" name="Rectangle 31"/>
          <p:cNvSpPr/>
          <p:nvPr/>
        </p:nvSpPr>
        <p:spPr>
          <a:xfrm>
            <a:off x="996696" y="4974336"/>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738274"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6946"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2022-12</a:t>
            </a:r>
          </a:p>
        </p:txBody>
      </p:sp>
      <p:sp>
        <p:nvSpPr>
          <p:cNvPr id="35" name="TextBox 34"/>
          <p:cNvSpPr txBox="1"/>
          <p:nvPr/>
        </p:nvSpPr>
        <p:spPr>
          <a:xfrm>
            <a:off x="256946"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배치 표준 비준(Meta·Google)</a:t>
            </a:r>
          </a:p>
        </p:txBody>
      </p:sp>
      <p:sp>
        <p:nvSpPr>
          <p:cNvPr id="36" name="Oval 35"/>
          <p:cNvSpPr/>
          <p:nvPr/>
        </p:nvSpPr>
        <p:spPr>
          <a:xfrm>
            <a:off x="4997196"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15868"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2023-07</a:t>
            </a:r>
          </a:p>
        </p:txBody>
      </p:sp>
      <p:sp>
        <p:nvSpPr>
          <p:cNvPr id="38" name="TextBox 37"/>
          <p:cNvSpPr txBox="1"/>
          <p:nvPr/>
        </p:nvSpPr>
        <p:spPr>
          <a:xfrm>
            <a:off x="3515868"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61TB QLC 세계 최초(Solidigm)</a:t>
            </a:r>
          </a:p>
        </p:txBody>
      </p:sp>
      <p:sp>
        <p:nvSpPr>
          <p:cNvPr id="39" name="Oval 38"/>
          <p:cNvSpPr/>
          <p:nvPr/>
        </p:nvSpPr>
        <p:spPr>
          <a:xfrm>
            <a:off x="8582009"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00681"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2024</a:t>
            </a:r>
          </a:p>
        </p:txBody>
      </p:sp>
      <p:sp>
        <p:nvSpPr>
          <p:cNvPr id="41" name="TextBox 40"/>
          <p:cNvSpPr txBox="1"/>
          <p:nvPr/>
        </p:nvSpPr>
        <p:spPr>
          <a:xfrm>
            <a:off x="7100681"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QLC eSSD 30EB, 전년 4배</a:t>
            </a:r>
          </a:p>
        </p:txBody>
      </p:sp>
      <p:sp>
        <p:nvSpPr>
          <p:cNvPr id="42" name="Oval 41"/>
          <p:cNvSpPr/>
          <p:nvPr/>
        </p:nvSpPr>
        <p:spPr>
          <a:xfrm>
            <a:off x="12166823"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85495"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2026-05</a:t>
            </a:r>
          </a:p>
        </p:txBody>
      </p:sp>
      <p:sp>
        <p:nvSpPr>
          <p:cNvPr id="44" name="TextBox 43"/>
          <p:cNvSpPr txBox="1"/>
          <p:nvPr/>
        </p:nvSpPr>
        <p:spPr>
          <a:xfrm>
            <a:off x="10685495"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245TB 첫 출하(Micron)</a:t>
            </a:r>
          </a:p>
        </p:txBody>
      </p:sp>
      <p:sp>
        <p:nvSpPr>
          <p:cNvPr id="45" name="Oval 44"/>
          <p:cNvSpPr/>
          <p:nvPr/>
        </p:nvSpPr>
        <p:spPr>
          <a:xfrm>
            <a:off x="15751637" y="4910328"/>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4270309" y="5120640"/>
            <a:ext cx="3108960" cy="219456"/>
          </a:xfrm>
          <a:prstGeom prst="rect">
            <a:avLst/>
          </a:prstGeom>
          <a:noFill/>
        </p:spPr>
        <p:txBody>
          <a:bodyPr wrap="square" anchor="t" lIns="0" rIns="0" tIns="0" bIns="0">
            <a:spAutoFit/>
          </a:bodyPr>
          <a:lstStyle/>
          <a:p>
            <a:pPr algn="ctr">
              <a:lnSpc>
                <a:spcPct val="112000"/>
              </a:lnSpc>
            </a:pPr>
            <a:r>
              <a:rPr sz="1350" b="1">
                <a:solidFill>
                  <a:srgbClr val="1A1A1A"/>
                </a:solidFill>
                <a:latin typeface="Arial"/>
                <a:ea typeface="Arial"/>
              </a:rPr>
              <a:t>2027</a:t>
            </a:r>
          </a:p>
        </p:txBody>
      </p:sp>
      <p:sp>
        <p:nvSpPr>
          <p:cNvPr id="47" name="TextBox 46"/>
          <p:cNvSpPr txBox="1"/>
          <p:nvPr/>
        </p:nvSpPr>
        <p:spPr>
          <a:xfrm>
            <a:off x="14270309" y="5321808"/>
            <a:ext cx="3108960" cy="219456"/>
          </a:xfrm>
          <a:prstGeom prst="rect">
            <a:avLst/>
          </a:prstGeom>
          <a:noFill/>
        </p:spPr>
        <p:txBody>
          <a:bodyPr wrap="square" anchor="t" lIns="0" rIns="0" tIns="0" bIns="0">
            <a:spAutoFit/>
          </a:bodyPr>
          <a:lstStyle/>
          <a:p>
            <a:pPr algn="ctr">
              <a:lnSpc>
                <a:spcPct val="112000"/>
              </a:lnSpc>
            </a:pPr>
            <a:r>
              <a:rPr sz="1275" b="0">
                <a:solidFill>
                  <a:srgbClr val="555555"/>
                </a:solidFill>
                <a:latin typeface="Arial"/>
                <a:ea typeface="Arial"/>
              </a:rPr>
              <a:t>KV cache NAND 75~100EB</a:t>
            </a:r>
          </a:p>
        </p:txBody>
      </p:sp>
      <p:pic>
        <p:nvPicPr>
          <p:cNvPr id="48" name="Picture 47" descr="qlc_demand_share_revenue_slide.png"/>
          <p:cNvPicPr>
            <a:picLocks noChangeAspect="1"/>
          </p:cNvPicPr>
          <p:nvPr/>
        </p:nvPicPr>
        <p:blipFill>
          <a:blip r:embed="rId2"/>
          <a:stretch>
            <a:fillRect/>
          </a:stretch>
        </p:blipFill>
        <p:spPr>
          <a:xfrm>
            <a:off x="722376" y="5632704"/>
            <a:ext cx="9228909" cy="2871216"/>
          </a:xfrm>
          <a:prstGeom prst="rect">
            <a:avLst/>
          </a:prstGeom>
        </p:spPr>
      </p:pic>
      <p:sp>
        <p:nvSpPr>
          <p:cNvPr id="49" name="Rectangle 48"/>
          <p:cNvSpPr/>
          <p:nvPr/>
        </p:nvSpPr>
        <p:spPr>
          <a:xfrm>
            <a:off x="10225604" y="5632704"/>
            <a:ext cx="7340019" cy="287121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36500" y="5833872"/>
            <a:ext cx="671822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그래프가 말하는 것</a:t>
            </a:r>
          </a:p>
        </p:txBody>
      </p:sp>
      <p:sp>
        <p:nvSpPr>
          <p:cNvPr id="51" name="TextBox 50"/>
          <p:cNvSpPr txBox="1"/>
          <p:nvPr/>
        </p:nvSpPr>
        <p:spPr>
          <a:xfrm>
            <a:off x="10536500" y="6236208"/>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10배</a:t>
            </a:r>
          </a:p>
        </p:txBody>
      </p:sp>
      <p:sp>
        <p:nvSpPr>
          <p:cNvPr id="52" name="TextBox 51"/>
          <p:cNvSpPr txBox="1"/>
          <p:nvPr/>
        </p:nvSpPr>
        <p:spPr>
          <a:xfrm>
            <a:off x="12164132" y="6236208"/>
            <a:ext cx="5090595"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비트, 2025년 → 2030년</a:t>
            </a:r>
          </a:p>
        </p:txBody>
      </p:sp>
      <p:sp>
        <p:nvSpPr>
          <p:cNvPr id="53" name="TextBox 52"/>
          <p:cNvSpPr txBox="1"/>
          <p:nvPr/>
        </p:nvSpPr>
        <p:spPr>
          <a:xfrm>
            <a:off x="10536500" y="6839712"/>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정체</a:t>
            </a:r>
          </a:p>
        </p:txBody>
      </p:sp>
      <p:sp>
        <p:nvSpPr>
          <p:cNvPr id="54" name="TextBox 53"/>
          <p:cNvSpPr txBox="1"/>
          <p:nvPr/>
        </p:nvSpPr>
        <p:spPr>
          <a:xfrm>
            <a:off x="12164132" y="6839712"/>
            <a:ext cx="5090595"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QLC 매출, 2026년 $32B → 2030년 $37B(e)</a:t>
            </a:r>
          </a:p>
        </p:txBody>
      </p:sp>
      <p:sp>
        <p:nvSpPr>
          <p:cNvPr id="55" name="TextBox 54"/>
          <p:cNvSpPr txBox="1"/>
          <p:nvPr/>
        </p:nvSpPr>
        <p:spPr>
          <a:xfrm>
            <a:off x="10536500" y="7443216"/>
            <a:ext cx="1600200" cy="56692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350EB</a:t>
            </a:r>
          </a:p>
        </p:txBody>
      </p:sp>
      <p:sp>
        <p:nvSpPr>
          <p:cNvPr id="56" name="TextBox 55"/>
          <p:cNvSpPr txBox="1"/>
          <p:nvPr/>
        </p:nvSpPr>
        <p:spPr>
          <a:xfrm>
            <a:off x="12164132" y="7443216"/>
            <a:ext cx="5090595" cy="566928"/>
          </a:xfrm>
          <a:prstGeom prst="rect">
            <a:avLst/>
          </a:prstGeom>
          <a:noFill/>
        </p:spPr>
        <p:txBody>
          <a:bodyPr wrap="square" anchor="ctr" lIns="0" rIns="0" tIns="0" bIns="0">
            <a:spAutoFit/>
          </a:bodyPr>
          <a:lstStyle/>
          <a:p>
            <a:pPr algn="l">
              <a:lnSpc>
                <a:spcPct val="105000"/>
              </a:lnSpc>
            </a:pPr>
            <a:r>
              <a:rPr sz="1425" b="0">
                <a:solidFill>
                  <a:srgbClr val="555555"/>
                </a:solidFill>
                <a:latin typeface="Arial"/>
                <a:ea typeface="Arial"/>
              </a:rPr>
              <a:t>2030년 추론 캐시 티어 수요(전 미디어)</a:t>
            </a:r>
          </a:p>
        </p:txBody>
      </p:sp>
      <p:sp>
        <p:nvSpPr>
          <p:cNvPr id="57" name="Rectangle 56"/>
          <p:cNvSpPr/>
          <p:nvPr/>
        </p:nvSpPr>
        <p:spPr>
          <a:xfrm>
            <a:off x="10536500" y="8065008"/>
            <a:ext cx="671822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536500" y="8138160"/>
            <a:ext cx="6718227" cy="310895"/>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이익은 비트가 아니라 시스템 위의 TCO에서 나옵니다</a:t>
            </a:r>
          </a:p>
        </p:txBody>
      </p:sp>
      <p:sp>
        <p:nvSpPr>
          <p:cNvPr id="59" name="Rectangle 58"/>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61" name="TextBox 60"/>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2000" b="1">
                <a:solidFill>
                  <a:srgbClr val="FFFFFF"/>
                </a:solidFill>
                <a:latin typeface="Arial"/>
                <a:ea typeface="Arial"/>
              </a:rPr>
              <a:t>고객은 추론 캐시 티어에서도 QLC의 경제성을 원합니다. 문은 내구성이고, 디바이스만으로는 못 엽니다</a:t>
            </a:r>
          </a:p>
        </p:txBody>
      </p:sp>
      <p:sp>
        <p:nvSpPr>
          <p:cNvPr id="62" name="TextBox 6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63" name="TextBox 6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고객이 원하는 QLC 경제성과 캐시의 쓰기 사이 10~40배 갭은 배치 표준과 호스트 SW가 메웁니다. 층별 기술과 삼성의 현 위치입니다.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Palantir가 만든 FDE와 Micron이 Anthropic과 맺은 SCA가 두 목표의 선례입니다. 조직·인사·문화가 그 길을 엽니다.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7880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7822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76402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663440"/>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34924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248655"/>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961888"/>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6053327"/>
            <a:ext cx="2898648" cy="457200"/>
          </a:xfrm>
          <a:prstGeom prst="rect">
            <a:avLst/>
          </a:prstGeom>
          <a:noFill/>
        </p:spPr>
        <p:txBody>
          <a:bodyPr wrap="square" anchor="ctr" lIns="0" rIns="0" tIns="0" bIns="0">
            <a:spAutoFit/>
          </a:bodyPr>
          <a:lstStyle/>
          <a:p>
            <a:pPr algn="l">
              <a:lnSpc>
                <a:spcPct val="104000"/>
              </a:lnSpc>
            </a:pPr>
            <a:r>
              <a:rPr sz="1275" b="0">
                <a:solidFill>
                  <a:srgbClr val="555555"/>
                </a:solidFill>
                <a:latin typeface="Arial"/>
                <a:ea typeface="Arial"/>
              </a:rPr>
              <a:t>자회사 · 현지 채용 시스템 SW 전문가 · 오픈소스 주도 문화가 뒤를 받칩니다</a:t>
            </a:r>
          </a:p>
        </p:txBody>
      </p:sp>
      <p:sp>
        <p:nvSpPr>
          <p:cNvPr id="21" name="Rectangle 20"/>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3" name="TextBox 22"/>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4" name="Rectangle 23"/>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6" name="Rectangle 25"/>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8" name="Rectangle 27"/>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0" name="Rectangle 29"/>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2" name="Oval 31"/>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 Same Side Corner Rectangle 32"/>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5" name="TextBox 34"/>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6" name="Picture 35"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7" name="Picture 36" descr="openai.png"/>
          <p:cNvPicPr>
            <a:picLocks noChangeAspect="1"/>
          </p:cNvPicPr>
          <p:nvPr/>
        </p:nvPicPr>
        <p:blipFill>
          <a:blip r:embed="rId3"/>
          <a:stretch>
            <a:fillRect/>
          </a:stretch>
        </p:blipFill>
        <p:spPr>
          <a:xfrm>
            <a:off x="15197326" y="6170781"/>
            <a:ext cx="532886" cy="130853"/>
          </a:xfrm>
          <a:prstGeom prst="rect">
            <a:avLst/>
          </a:prstGeom>
        </p:spPr>
      </p:pic>
      <p:pic>
        <p:nvPicPr>
          <p:cNvPr id="38" name="Picture 37" descr="nvidia.png"/>
          <p:cNvPicPr>
            <a:picLocks noChangeAspect="1"/>
          </p:cNvPicPr>
          <p:nvPr/>
        </p:nvPicPr>
        <p:blipFill>
          <a:blip r:embed="rId4"/>
          <a:stretch>
            <a:fillRect/>
          </a:stretch>
        </p:blipFill>
        <p:spPr>
          <a:xfrm>
            <a:off x="15828351" y="6170781"/>
            <a:ext cx="684696" cy="130853"/>
          </a:xfrm>
          <a:prstGeom prst="rect">
            <a:avLst/>
          </a:prstGeom>
        </p:spPr>
      </p:pic>
      <p:pic>
        <p:nvPicPr>
          <p:cNvPr id="39" name="Picture 38" descr="meta.png"/>
          <p:cNvPicPr>
            <a:picLocks noChangeAspect="1"/>
          </p:cNvPicPr>
          <p:nvPr/>
        </p:nvPicPr>
        <p:blipFill>
          <a:blip r:embed="rId5"/>
          <a:stretch>
            <a:fillRect/>
          </a:stretch>
        </p:blipFill>
        <p:spPr>
          <a:xfrm>
            <a:off x="16611188" y="6170781"/>
            <a:ext cx="643539" cy="130853"/>
          </a:xfrm>
          <a:prstGeom prst="rect">
            <a:avLst/>
          </a:prstGeom>
        </p:spPr>
      </p:pic>
      <p:sp>
        <p:nvSpPr>
          <p:cNvPr id="40" name="Right Arrow 39"/>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2" name="Rectangle 41"/>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4" name="Oval 43"/>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 Same Side Corner Rectangle 44"/>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 Same Side Corner Rectangle 46"/>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 Same Side Corner Rectangle 48"/>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ight Arrow 49"/>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3" name="TextBox 52"/>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4" name="Rectangle 53"/>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6" name="Rectangle 55"/>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8" name="Rectangle 57"/>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0" name="Rectangle 59"/>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2" name="Rectangle 61"/>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4" name="TextBox 63"/>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5" name="Left Arrow 64"/>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7" name="Rectangle 66"/>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0" name="TextBox 69"/>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1" name="Rectangle 70"/>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4" name="TextBox 73"/>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5" name="Rectangle 74"/>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8" name="TextBox 77"/>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79" name="Rectangle 78"/>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1" name="TextBox 80"/>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계산 옆의 가장 싼 바이트를 사려고 QLC를 택했고, 그 자리가 쓰기 많은 추론 캐시로 옮겨가 내구성을 고객 시스템 안에서 풀어야 하며,</a:t>
            </a:r>
          </a:p>
          <a:p>
            <a:pPr algn="l">
              <a:lnSpc>
                <a:spcPct val="108000"/>
              </a:lnSpc>
            </a:pPr>
            <a:r>
              <a:rPr sz="1900" b="1">
                <a:solidFill>
                  <a:srgbClr val="FFFFFF"/>
                </a:solidFill>
                <a:latin typeface="Arial"/>
                <a:ea typeface="Arial"/>
              </a:rPr>
              <a:t>그 길은 FDE와 전략적 협약, 그리고 이를 해낼 사람과 문화가 엽니다</a:t>
            </a:r>
          </a:p>
        </p:txBody>
      </p:sp>
      <p:sp>
        <p:nvSpPr>
          <p:cNvPr id="82" name="TextBox 81"/>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3" name="TextBox 82"/>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