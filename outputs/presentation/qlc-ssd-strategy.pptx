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왼쪽이 교훈, 가운데가 지금 수요의 이동, 오른쪽이 문제입니다. 왼쪽 교훈입니다. 두 레인은 같은 기술을 가진 두 회사의 다른 판단입니다. SK하이닉스는 2013년 AMD와 HBM을 공동 개발했고, 2021년 10월 JEDEC 표준보다 먼저 HBM3 개발을 마쳐 2022년 6월 NVIDIA에 업계 최초로 공급했으며, 2023년 한 해 동안 유일한 양산사였습니다. 그 결과가 2025년 6월 DRAM 매출 1위로, 1992년 이후 처음 있는 역전이었습니다. 2026년 6월에는 NVIDIA와 다년 기술 파트너십을 맺고 Vera Rubin용 메모리를 공동 개발합니다. 아래 레인이 삼성입니다. 중요한 것은 기술이 없지 않았다는 점입니다. 업계 최초 HBM2E는 2019년 3월 삼성이 발표했습니다. 같은 해에 HBM 시장 성장률이 과대평가됐다는 판단으로 전담 조직이 후순위가 됐고, 2024년 4월에야 전담 팀이 재구성되어 5년의 공백이 생겼으며, 12단 HBM3E는 2025년 9월에야 NVIDIA 퀄을 통과해 Blackwell 사이클을 놓쳤습니다. 2019년 조직 판단은 CNBC 보도 계열의 단일 출처이므로 그 점을 밝혀 둡니다. 그리고 그 해 삼성은 감산도 CapEx 삭감도 하지 않았습니다. 돈이 아니라 우선순위의 문제였습니다. 교훈을 한 줄로 쓰면 기술이 없어서가 아니라 시장을 작게 봤기 때문입니다. 그리고 구속력 있는 규격은 표준이 아니라 고객의 사양이었습니다. JEDEC HBM4 표준은 최대 8Gbps인데 NVIDIA는 10에서 13Gbps를 요구했고, 승부는 그 위에서 갈렸습니다. 삼성도 표준 제정 9개사 중 하나였으므로 테이블에 앉았는지가 아니라 고객 사양에 맞췄는지가 변수였습니다. 다만 이 교훈을 영구적 판정으로 쓰면 안 됩니다. 삼성은 2025년 4분기 DRAM 1위를 탈환했고, 2026년 2월 업계 최초로 상용 HBM4를 출하했으며, 2026년 2분기 HBM 점유율은 33%로 직전 분기 대비 12%포인트 올랐습니다. 되돌릴 수 있다는 것도 같은 기록이 보여 줍니다. 변수는 판단을 끊지 않는 것이고, 다음 수요에서 같은 판단을 다시 해야 합니다. 가운데가 지금의 수요입니다. 먼저 구매 기준입니다. 2008년에서 2012년은 성능과 용량당 가격, 2012년에서 2021년은 QoS와 지연 꼬리였습니다. OCP 사양 v2.0이 2021년 7월 지연 모니터를 의무화하면서 제도화됐습니다. 2022년 이후는 용량 밀도와 전력 효율, 물량 확보가 상위 기준입니다. 그 위에 새 수요가 올라왔습니다. 여기가 이번에 추가한 부분입니다. KV 캐시가 HBM 용량을 넘어섭니다. 숫자로 보면 이렇습니다. NVIDIA 개발자 블로그 기준으로 Llama 3 70B에서 단일 사용자의 128K 컨텍스트 KV 캐시가 약 40기가바이트이고, 이것이 사용자 수에 선형으로 비례합니다. H100의 HBM이 80기가바이트니까 사용자 한 명이 절반을 씁니다. 그래서 넘친 것이 CPU DRAM으로 내려오는데, Kioxia는 DRAM만으로는 더 못 따라간다고 밝혔습니다. 다시 넘친 것을 받는 것이 NVMe SSD이고, 이 계층은 쓰기가 몰리는 첫 대용량 계층입니다. 근거는 세 갈래입니다. 첫째, 진단을 한 주체가 우리가 아닙니다. HBM 1위 업체인 SK하이닉스가 2026년 7월 29일 2분기 실적 발표에서 KV 캐시를 담을 HBM 용량이 한계에 도달하고 있다고 밝혔고, 같은 자리에서 GPU 인근 NAND 개발을 공표했습니다. 둘째, 오프로드는 슬라이드 위의 개념이 아니라 메인라인 코드입니다. LMCache 디스크 캐시가 2024년 8월, GPUDirect Storage 백엔드가 2025년 6월, vLLM 다계층 오프로딩이 2026년 5월에 머지됐고 전부 PR로 확인됩니다. 셋째, 비트의 무게중심이 이미 움직였습니다. 전 세계 NAND 비트 출하에서 엔터프라이즈 SSD 비중이 1년 만에 26%에서 48%로 올라갔습니다. 여기서 반드시 정정하고 갈 것이 있습니다. 이것은 HBM에서 스토리지로의 이동이 아니라 HBM 위에 얹는 증설입니다. 근거가 셋입니다. 하나, SK하이닉스 본인의 단어가 대체가 아니라 추가 KV 캐시 저장소입니다. 둘, 같은 기간 GPU당 HBM 용량은 오히려 커집니다. 192기가바이트에서 288기가바이트를 거쳐 2027년 384기가바이트입니다. 셋, Micron의 계층 정의는 HBM을 핫 KV 캐시로 유지한 채 SSD를 영속 KV로 추가하는 구조이고, Kioxia가 못 따라간다고 지목한 것도 HBM이 아니라 DRAM이었습니다. 질문이 나오면 이렇게 답하시면 됩니다. HBM 수요가 줄어서 우리에게 오는 것이 아니라, HBM으로 감당이 안 되는 몫이 새 계층을 열었다는 뜻입니다. 반대 신호도 알고 있어야 합니다. 컨텍스트 전용 가속기인 Rubin CPX는 값싼 GDDR7로 발표됐다가 168기가바이트 HBM4로 재설계됐다는 보도가 있습니다. 애널리스트 보도이고 NVIDIA 공식 확인은 없습니다. 그리고 모델 측 효율 개선은 수요 총량을 깎는데 그 타격이 HBM보다 스토리지에 더 큽니다. DeepSeek V4.1-Flash는 KV 캐시의 HBM 요구를 75%, 영속 SSD 요구를 87.5% 줄였습니다. 이 계층이 커진다는 전망은 이 두 가지에 노출되어 있습니다. 그래서 SSD에 오는 요구가 내구성입니다. 추론 수요는 연평균 86%로 학습의 16%보다 훨씬 빠르게 큽니다. 삼성도 이미 V낸드 캐파의 약 60%를 CMX 대응에 배정한 것으로 보도됐습니다. 요구는 1에서 3 DWPD입니다. 오른쪽이 문제입니다. 요구 1에서 3 DWPD는 TLC로는 이미 충족됩니다. 그런데 고객은 QLC를 원합니다. 용량 밀도가 245TB급으로 네 배이고 TB당 가격이 20에서 30% 싸기 때문입니다. 반면 QLC의 정격은 0.6으로 요구와 2배에서 5배 거리가 있습니다. 고객은 QLC의 밀도와 원가로 TLC의 내구성을 요구하는 셈이고, 이 간극을 메우는 것이 우리가 풀 문제입니다. 고용량화는 두 축의 문제를 낳습니다. 다이 수가 만드는 신뢰성 축이 2장, DWPD 격차가 만드는 내구성 축이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둘째 축 내구성입니다. 핵심 사슬은 셋입니다. QLC로 추론 캐시 계층의 요구 1에서 3 DWPD에 닿아야 하고, 그러려면 WAF를 낮춰야 하며, WAF는 호스트가 결정한다는 것입니다. 맨 위 산식이 그 논증의 뼈대입니다. DWPD는 P/E 곱하기 1 더하기 OP를 WAF와 365 곱하기 보증연수로 나눈 값입니다. P/E는 셀이, OP는 디바이스가, 보증연수는 계약이 정합니다. 이 항들을 빼고 남는 것이 WAF이고, 이 항만 호스트와 애플리케이션이 쥐고 있습니다. 가운데 세 단계가 논증입니다. 요구는 1에서 3 DWPD인데 현 QLC 정격은 0.6으로 2배에서 5배 부족합니다. 남는 변수는 WAF인데 SSD 단독 최적화는 2014년에서 2019년 사이의 멀티스트림과 FTL 추정으로도 WAF 3에서 멈췄습니다. 데이터 수명을 SSD가 알 수 없기 때문입니다. 그래서 결정 주체는 호스트이고, 수명이 같은 데이터를 묶어 힌트와 함께 내려보내야 합니다. 그 메커니즘이 4장입니다. 아래 세 그래프가 근거입니다. 왼쪽은 셀이 세대마다 나빠진다는 것으로, P/E 사이클은 100배 줄고 RBER은 약 백만 배 올랐습니다. 가운데는 정격 DWPD가 17에서 0.3으로 57배 내려간 반면 드라이브당 하루 허용 기입량은 1.1에서 73.7테라바이트로 67배 올랐다는 것입니다. DWPD는 용량으로 나눈 지표이므로 단독으로 읽으면 오독입니다. 오른쪽은 호스트가 수명을 알려 줄 때 WAF가 1 근처로 내려간 공개 실측입니다. 같은 드라이브, 같은 트레이스라도 디바이스 사용률이 100%면 기준 WAF가 3.22, 50%면 1.22이므로 조건을 함께 적었습니다. 그래서 연도축 추이선 대신 기법별 전후 쌍으로 그렸습니다. 맨 아래 한 줄이 이 장의 정직한 한계입니다. LLM KV 캐시 워크로드의 WAF 공개 실측은 아직 없고, FAST 2026의 WARP 연구는 수명 오분류나 핸들 간 간섭이 있으면 분리가 WAF를 낮추지 못한다고 보고합니다. 4장 넷째 케이스가 그 상황이며 검증은 Phase 2입니다. 신뢰성 축은 2장에서 SSD 내부 구조로 충족됐습니다. 이 축은 SSD 밖에 있고, 그래서 고객 협업과 새로운 역량을 요구합니다.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배치 힌트가 무엇인지, 왜 WAF를 낮추는지를 한 장으로 보입니다. 3장에서 잔여 변수가 WAF이고 그것을 호스트가 결정한다고 했으니, 그 메커니즘을 보여야 합니다. 네 열은 같은 QLC 드라이브에 같은 양을 쓰되 호스트가 수명 정보를 주는 정도만 다릅니다. 각 열의 위는 호스트의 응용입니다. 로그와 메타데이터는 수명이 짧고, KV 캐시 블록은 중간이며, 체크포인트는 깁니다. 아래는 NAND의 소거 블록이고 칸 하나가 페이지입니다. 흰 점선 칸은 이미 무효화된 페이지, 즉 수명이 짧아 먼저 지워진 데이터입니다. 가비지 컬렉션은 소거할 블록에 남은 유효 페이지를 다른 블록으로 복사해야 하며, 그 복사량이 곧 쓰기 증폭입니다. 첫째 열, 배치가 없으면 도착 순서대로 쓰므로 모든 블록에 세 수명이 섞입니다. 어떤 블록을 골라도 유효 페이지가 다섯 칸 남아 복사해야 하고 WAF는 3 수준, 유효 DWPD는 정격 그대로 0.6입니다. 요구 1에 못 미칩니다. 둘째 열, 멀티스트림은 스트림 번호로 나누지만 스트림 수가 수명 등급보다 적어 일부가 섞입니다. 복사가 네 칸으로 줄어 WAF 2, 유효 DWPD 0.9입니다. 개선은 되지만 여전히 부족합니다. 셋째 열, 배치 힌트를 모든 응용이 주면 블록마다 수명이 하나입니다. 짧은 수명 블록은 통째로 무효화되므로 복사할 것이 없고 WAF는 1, 유효 DWPD는 1.8이 되어 요구 구간에 들어갑니다. 이것이 WAF 1의 정체입니다. 넷째 열이 현실입니다. 힌트를 주는 응용과 주지 않는 응용이 한 드라이브에 섞이면 힌트 없는 트래픽이 기본 핸들로 몰려 그 블록들이 다시 섞입니다. 평균 WAF는 1.5 수준으로 되돌아가고 유효 DWPD는 1.2에 그칩니다. FAST 2026의 WARP 연구가 보고한 실패 조건이 이것이며, 6장 런타임 대응이 다루는 상황도 이 열입니다. 그림의 8칸 블록은 원리를 보이는 모식도입니다. 실제 소거 블록은 수천 페이지이고, 공개 실측은 Meta CacheLib에서 3.22가 1.03으로, 사용률 50%에서는 1.22가 1.03으로, Kioxia XD8에서 2.8이 약 1.0으로 내려간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3단계 역량을 어떻게 얻느냐, 즉 고객 시스템 안으로 들어가는 두 수단을 그림 하나로 보입니다. 왼쪽은 삼성 개발실이 제공하는 것이고, 오른쪽은 고객 시스템의 계층이며, 가운데 두 화살표가 주고받는 관계입니다. 위쪽 화살표 ① FDE 상주는 삼성이 보내는 것입니다. 상주 엔지니어가 고객 시스템 안에서 요구를 코드로 구현하고, 업스트림에 기여하며, 워크로드 실측을 공개합니다. 아래쪽 화살표 ② 접근권 확보는 삼성이 받는 것입니다. 워크로드 트레이스, KV 수명 정책, 규격 접근권이며 계약 시한은 2027년 상반기입니다. 공급이 완화되기 전에 락인을 걸어야 하기 때문입니다. 가운데 왼쪽 카드가 고객 선별입니다. FDE를 모든 고객에 보낼 수는 없으므로 세 조건으로 거릅니다. 트레이스 접근을 허용하는가, 캐시 관리자 코드를 자체 운영하는가, 물량과 규격에 파급력이 있는가. AI 랩과 NVIDIA 생태계가 조건을 충족하므로 FDE를 상주시키고, 하이퍼스케일러는 보안과 중립성 때문에 내부 코드 상주가 불가하므로 업스트림과 OCP 규격으로, OEM과 네오클라우드는 레퍼런스 스택으로 넓힙니다. 오른쪽 카드가 선례입니다. Palantir의 FDE는 고객 현장에 상주해 요구를 코드로 구현하고 성과로 평가받는 모델이고, 고객 락인의 동력으로 평가받아 Anthropic과 OpenAI가 시장 진입 모델로 채택했습니다. Micron과 Anthropic의 전략적 협약은 공동 설계, 다년 공급, 운영 통합, 자본을 한 계약에 결합해 워크로드와 규격 접근권을 확보한 사례입니다. 중요한 것은 삼성과 SK의 Anthropic 공급 계약에는 공동 설계 조항이 없다는 점이고, 이것을 삼성이 먼저 제안하자는 것이 이 장의 요청입니다. 오른쪽 고객 시스템 그림에서 삼성이 지금 닿는 층은 SSD뿐입니다. FDE가 KV 캐시 관리자 층에 상주하고 I/O 라이브러리와 커널에 코드를 머지하면서 위로 올라갑니다. 하단 세 타일은 개발실 내부 실행입니다. 조직은 시스템 소프트웨어 조직 강화와 개발실 소속 Co-Design Pod, 인사는 고객 코드를 읽고 고치는 전문가 채용과 상주 로테이션, 문화는 오픈소스 메인테이너 배출과 KV 캐시 실측의 업계 최초 공개입니다. 자회사나 별도 보상 체계는 두지 않습니다. 단계별 통과 조건(90일·12개월·2027년 상반기)과 판돈·비용은 슬라이드에서 빼고 보고서 5장 4절과 5절에 두었습니다. 질문이 나오면 그 표로 답합니다. 판돈은 락인으로 얻는 캐시 계층 점유율이고, 2030년 추론 캐시 350EB 가운데 QLC는 호스트 협력이 성립할 때 조건부 상방 175EB입니다. 비용은 개발실 개발 자원 재배치이며 별도 투자는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7장입니다. 종전 문안은 유효 DWPD를 WAF 밴드별 조건부로 보증하는 계약 설계였는데, 그 구조는 워크로드가 바뀌면 보증이 깨지는 책임을 사실상 고객에게 되돌립니다. 그래서 축을 옮깁니다. 같은 리스크를 계약이 아니라 기술로 흡수합니다. 왼쪽 그림이 목표 동작입니다. 실측이 아니라 모식도입니다. 정상 구간에서 WAF는 1.05 수준인데 워크로드가 바뀌거나 배치 힌트가 사라지면 2.7 수준으로 뜁니다. 대응이 없으면 붉은 점선처럼 정격 수준에 머물고, 그 차이 면적이 그대로 초과 기입량이자 보증 수명 손실입니다. 4장 넷째 케이스가 현실에서 이 상황을 만듭니다. 오른쪽이 루프입니다. 관측에서 핸들별로 WAF를 구하고, 감지에서 변화점을 탐지해 원인을 수명 오분류·핸들 간섭·힌트 손실로 분류하며, 대응에서 디바이스는 FDP 구성과 핸들 재할당을, 호스트는 캐시 정책과 스트림 매핑을 바꾸고, 검증에서 재측정 후 미달이면 롤백합니다. 목표 주기는 감지 한 시간, 회복 네 시간입니다. 아래가 확보해야 할 여섯 가지입니다. T1 텔레메트리와 T2 감지, T6 검증 환경은 부분적으로 있고, T3 무중단 FDP 재구성과 T4 디바이스에서 호스트로 가는 경보, T5 정책 엔진은 지금 없습니다. 특히 T3가 가장 큰 공백입니다. FDP 구성은 네임스페이스를 만들 때 선택되므로 운영 중에 바꾸는 경로가 스펙에 없습니다. T3와 T4는 우리가 만들 뿐 아니라 NVMe와 OCP에 규격으로 제안해야 하고, OCP 사양은 구매자가 쓰는 문서이므로 거기에 들어가면 곧 업계 요구가 됩니다. 1장 교훈의 직접적 적용입니다. 보증은 없애지 않고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고객과 함께 수요를 설계한 기업이 이겼고, 지금 그 수요는 QLC에 1~3 DWPD를 요구합니다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HBM이 보여 준 것은 기술의 차이가 아니라 시장을 보는 눈의 차이였습니다. 그리고 그 수요는 지금 HBM 용량을 넘어 스토리지 계층을 새로 얹고 있습니다.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603504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2376" y="2560320"/>
            <a:ext cx="603504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2706624"/>
            <a:ext cx="5596127"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교훈 · HBM이 가르친 것</a:t>
            </a:r>
          </a:p>
        </p:txBody>
      </p:sp>
      <p:sp>
        <p:nvSpPr>
          <p:cNvPr id="39" name="TextBox 38"/>
          <p:cNvSpPr txBox="1"/>
          <p:nvPr/>
        </p:nvSpPr>
        <p:spPr>
          <a:xfrm>
            <a:off x="941832" y="2980944"/>
            <a:ext cx="5596127"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2013 ~ 2026 · 같은 기술, 다른 판단</a:t>
            </a:r>
          </a:p>
        </p:txBody>
      </p:sp>
      <p:sp>
        <p:nvSpPr>
          <p:cNvPr id="40" name="Rectangle 39"/>
          <p:cNvSpPr/>
          <p:nvPr/>
        </p:nvSpPr>
        <p:spPr>
          <a:xfrm>
            <a:off x="1929384" y="4315968"/>
            <a:ext cx="4480559"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6696" y="4187952"/>
            <a:ext cx="859536" cy="256032"/>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SK하이닉스</a:t>
            </a:r>
          </a:p>
        </p:txBody>
      </p:sp>
      <p:sp>
        <p:nvSpPr>
          <p:cNvPr id="42" name="Rectangle 41"/>
          <p:cNvSpPr/>
          <p:nvPr/>
        </p:nvSpPr>
        <p:spPr>
          <a:xfrm>
            <a:off x="1929384" y="4937760"/>
            <a:ext cx="4480559"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6696" y="4809744"/>
            <a:ext cx="859536" cy="256032"/>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삼성</a:t>
            </a:r>
          </a:p>
        </p:txBody>
      </p:sp>
      <p:sp>
        <p:nvSpPr>
          <p:cNvPr id="44" name="TextBox 43"/>
          <p:cNvSpPr txBox="1"/>
          <p:nvPr/>
        </p:nvSpPr>
        <p:spPr>
          <a:xfrm>
            <a:off x="1563624"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2013</a:t>
            </a:r>
          </a:p>
        </p:txBody>
      </p:sp>
      <p:sp>
        <p:nvSpPr>
          <p:cNvPr id="45" name="TextBox 44"/>
          <p:cNvSpPr txBox="1"/>
          <p:nvPr/>
        </p:nvSpPr>
        <p:spPr>
          <a:xfrm>
            <a:off x="2881435"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2017</a:t>
            </a:r>
          </a:p>
        </p:txBody>
      </p:sp>
      <p:sp>
        <p:nvSpPr>
          <p:cNvPr id="46" name="TextBox 45"/>
          <p:cNvSpPr txBox="1"/>
          <p:nvPr/>
        </p:nvSpPr>
        <p:spPr>
          <a:xfrm>
            <a:off x="4199247"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2021</a:t>
            </a:r>
          </a:p>
        </p:txBody>
      </p:sp>
      <p:sp>
        <p:nvSpPr>
          <p:cNvPr id="47" name="TextBox 46"/>
          <p:cNvSpPr txBox="1"/>
          <p:nvPr/>
        </p:nvSpPr>
        <p:spPr>
          <a:xfrm>
            <a:off x="5517059"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2025</a:t>
            </a:r>
          </a:p>
        </p:txBody>
      </p:sp>
      <p:sp>
        <p:nvSpPr>
          <p:cNvPr id="48" name="Oval 47"/>
          <p:cNvSpPr/>
          <p:nvPr/>
        </p:nvSpPr>
        <p:spPr>
          <a:xfrm>
            <a:off x="2143595" y="424738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218576" y="4041648"/>
            <a:ext cx="14630"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348067" y="3511296"/>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2013</a:t>
            </a:r>
          </a:p>
          <a:p>
            <a:pPr algn="ctr">
              <a:lnSpc>
                <a:spcPct val="100000"/>
              </a:lnSpc>
            </a:pPr>
            <a:r>
              <a:rPr sz="900" b="0">
                <a:solidFill>
                  <a:srgbClr val="555555"/>
                </a:solidFill>
                <a:latin typeface="Arial"/>
                <a:ea typeface="Arial"/>
              </a:rPr>
              <a:t>AMD와 HBM 공동 개발</a:t>
            </a:r>
          </a:p>
        </p:txBody>
      </p:sp>
      <p:sp>
        <p:nvSpPr>
          <p:cNvPr id="51" name="Oval 50"/>
          <p:cNvSpPr/>
          <p:nvPr/>
        </p:nvSpPr>
        <p:spPr>
          <a:xfrm>
            <a:off x="4812164" y="424738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887145" y="4041648"/>
            <a:ext cx="14630"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16636" y="2980944"/>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2021-10 → 2022-06</a:t>
            </a:r>
          </a:p>
          <a:p>
            <a:pPr algn="ctr">
              <a:lnSpc>
                <a:spcPct val="100000"/>
              </a:lnSpc>
            </a:pPr>
            <a:r>
              <a:rPr sz="900" b="0">
                <a:solidFill>
                  <a:srgbClr val="555555"/>
                </a:solidFill>
                <a:latin typeface="Arial"/>
                <a:ea typeface="Arial"/>
              </a:rPr>
              <a:t>표준보다 먼저 개발 →</a:t>
            </a:r>
          </a:p>
          <a:p>
            <a:pPr algn="ctr">
              <a:lnSpc>
                <a:spcPct val="100000"/>
              </a:lnSpc>
            </a:pPr>
            <a:r>
              <a:rPr sz="900" b="0">
                <a:solidFill>
                  <a:srgbClr val="555555"/>
                </a:solidFill>
                <a:latin typeface="Arial"/>
                <a:ea typeface="Arial"/>
              </a:rPr>
              <a:t>NVIDIA 최초 공급</a:t>
            </a:r>
          </a:p>
        </p:txBody>
      </p:sp>
      <p:sp>
        <p:nvSpPr>
          <p:cNvPr id="54" name="Oval 53"/>
          <p:cNvSpPr/>
          <p:nvPr/>
        </p:nvSpPr>
        <p:spPr>
          <a:xfrm>
            <a:off x="5965249" y="424738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040230" y="4041648"/>
            <a:ext cx="14630"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27448" y="3511296"/>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2025-06</a:t>
            </a:r>
          </a:p>
          <a:p>
            <a:pPr algn="ctr">
              <a:lnSpc>
                <a:spcPct val="100000"/>
              </a:lnSpc>
            </a:pPr>
            <a:r>
              <a:rPr sz="900" b="0">
                <a:solidFill>
                  <a:srgbClr val="555555"/>
                </a:solidFill>
                <a:latin typeface="Arial"/>
                <a:ea typeface="Arial"/>
              </a:rPr>
              <a:t>DRAM 매출 1위</a:t>
            </a:r>
          </a:p>
          <a:p>
            <a:pPr algn="ctr">
              <a:lnSpc>
                <a:spcPct val="100000"/>
              </a:lnSpc>
            </a:pPr>
            <a:r>
              <a:rPr sz="900" b="0">
                <a:solidFill>
                  <a:srgbClr val="555555"/>
                </a:solidFill>
                <a:latin typeface="Arial"/>
                <a:ea typeface="Arial"/>
              </a:rPr>
              <a:t>1992년 이후 처음</a:t>
            </a:r>
          </a:p>
        </p:txBody>
      </p:sp>
      <p:sp>
        <p:nvSpPr>
          <p:cNvPr id="57" name="Oval 56"/>
          <p:cNvSpPr/>
          <p:nvPr/>
        </p:nvSpPr>
        <p:spPr>
          <a:xfrm>
            <a:off x="3889696" y="4869180"/>
            <a:ext cx="164592" cy="164592"/>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964677" y="5029200"/>
            <a:ext cx="14630"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94168" y="5230368"/>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2019</a:t>
            </a:r>
          </a:p>
          <a:p>
            <a:pPr algn="ctr">
              <a:lnSpc>
                <a:spcPct val="100000"/>
              </a:lnSpc>
            </a:pPr>
            <a:r>
              <a:rPr sz="900" b="0">
                <a:solidFill>
                  <a:srgbClr val="555555"/>
                </a:solidFill>
                <a:latin typeface="Arial"/>
                <a:ea typeface="Arial"/>
              </a:rPr>
              <a:t>시장 성장률을 과대평가로 보고</a:t>
            </a:r>
          </a:p>
          <a:p>
            <a:pPr algn="ctr">
              <a:lnSpc>
                <a:spcPct val="100000"/>
              </a:lnSpc>
            </a:pPr>
            <a:r>
              <a:rPr sz="900" b="0">
                <a:solidFill>
                  <a:srgbClr val="555555"/>
                </a:solidFill>
                <a:latin typeface="Arial"/>
                <a:ea typeface="Arial"/>
              </a:rPr>
              <a:t>전담 조직 후순위</a:t>
            </a:r>
          </a:p>
        </p:txBody>
      </p:sp>
      <p:sp>
        <p:nvSpPr>
          <p:cNvPr id="60" name="Oval 59"/>
          <p:cNvSpPr/>
          <p:nvPr/>
        </p:nvSpPr>
        <p:spPr>
          <a:xfrm>
            <a:off x="5569906" y="4869180"/>
            <a:ext cx="164592" cy="164592"/>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44887" y="5029200"/>
            <a:ext cx="14630"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727448" y="5760720"/>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2024-04</a:t>
            </a:r>
          </a:p>
          <a:p>
            <a:pPr algn="ctr">
              <a:lnSpc>
                <a:spcPct val="100000"/>
              </a:lnSpc>
            </a:pPr>
            <a:r>
              <a:rPr sz="900" b="0">
                <a:solidFill>
                  <a:srgbClr val="555555"/>
                </a:solidFill>
                <a:latin typeface="Arial"/>
                <a:ea typeface="Arial"/>
              </a:rPr>
              <a:t>전담 팀 재구성 · 5년 공백</a:t>
            </a:r>
          </a:p>
        </p:txBody>
      </p:sp>
      <p:sp>
        <p:nvSpPr>
          <p:cNvPr id="63" name="Oval 62"/>
          <p:cNvSpPr/>
          <p:nvPr/>
        </p:nvSpPr>
        <p:spPr>
          <a:xfrm>
            <a:off x="6031140" y="4869180"/>
            <a:ext cx="164592" cy="164592"/>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106121" y="5029200"/>
            <a:ext cx="14630"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727448" y="5230368"/>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2025-09</a:t>
            </a:r>
          </a:p>
          <a:p>
            <a:pPr algn="ctr">
              <a:lnSpc>
                <a:spcPct val="100000"/>
              </a:lnSpc>
            </a:pPr>
            <a:r>
              <a:rPr sz="900" b="0">
                <a:solidFill>
                  <a:srgbClr val="555555"/>
                </a:solidFill>
                <a:latin typeface="Arial"/>
                <a:ea typeface="Arial"/>
              </a:rPr>
              <a:t>12단 HBM3E 퀄 통과</a:t>
            </a:r>
          </a:p>
          <a:p>
            <a:pPr algn="ctr">
              <a:lnSpc>
                <a:spcPct val="100000"/>
              </a:lnSpc>
            </a:pPr>
            <a:r>
              <a:rPr sz="900" b="0">
                <a:solidFill>
                  <a:srgbClr val="555555"/>
                </a:solidFill>
                <a:latin typeface="Arial"/>
                <a:ea typeface="Arial"/>
              </a:rPr>
              <a:t>18개월 지연</a:t>
            </a:r>
          </a:p>
        </p:txBody>
      </p:sp>
      <p:sp>
        <p:nvSpPr>
          <p:cNvPr id="66" name="TextBox 65"/>
          <p:cNvSpPr txBox="1"/>
          <p:nvPr/>
        </p:nvSpPr>
        <p:spPr>
          <a:xfrm>
            <a:off x="1995274" y="4480559"/>
            <a:ext cx="3108960" cy="365760"/>
          </a:xfrm>
          <a:prstGeom prst="rect">
            <a:avLst/>
          </a:prstGeom>
          <a:noFill/>
        </p:spPr>
        <p:txBody>
          <a:bodyPr wrap="square" anchor="t" lIns="0" rIns="0" tIns="0" bIns="0">
            <a:spAutoFit/>
          </a:bodyPr>
          <a:lstStyle/>
          <a:p>
            <a:pPr algn="l">
              <a:lnSpc>
                <a:spcPct val="100000"/>
              </a:lnSpc>
            </a:pPr>
            <a:r>
              <a:rPr sz="900" b="1">
                <a:solidFill>
                  <a:srgbClr val="1A1A1A"/>
                </a:solidFill>
                <a:latin typeface="Arial"/>
                <a:ea typeface="Arial"/>
              </a:rPr>
              <a:t>업계 최초 HBM2E는 삼성이 2019-03에 발표했습니다</a:t>
            </a:r>
          </a:p>
          <a:p>
            <a:pPr algn="l">
              <a:lnSpc>
                <a:spcPct val="100000"/>
              </a:lnSpc>
            </a:pPr>
            <a:r>
              <a:rPr sz="900" b="0">
                <a:solidFill>
                  <a:srgbClr val="555555"/>
                </a:solidFill>
                <a:latin typeface="Arial"/>
                <a:ea typeface="Arial"/>
              </a:rPr>
              <a:t>기술의 차이가 아니었습니다</a:t>
            </a:r>
          </a:p>
        </p:txBody>
      </p:sp>
      <p:sp>
        <p:nvSpPr>
          <p:cNvPr id="67" name="Rectangle 66"/>
          <p:cNvSpPr/>
          <p:nvPr/>
        </p:nvSpPr>
        <p:spPr>
          <a:xfrm>
            <a:off x="996696" y="6327648"/>
            <a:ext cx="5486400"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234440" y="6419088"/>
            <a:ext cx="5010912" cy="274320"/>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기술이 없어서가 아니라 시장을 작게 봤기 때문입니다</a:t>
            </a:r>
          </a:p>
        </p:txBody>
      </p:sp>
      <p:sp>
        <p:nvSpPr>
          <p:cNvPr id="69" name="TextBox 68"/>
          <p:cNvSpPr txBox="1"/>
          <p:nvPr/>
        </p:nvSpPr>
        <p:spPr>
          <a:xfrm>
            <a:off x="1234440" y="6729984"/>
            <a:ext cx="5010912" cy="292608"/>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구속력 있는 규격은 표준이 아니라 고객의 사양이었습니다 · JEDEC HBM4 8 Gbps 대 NVIDIA 요구 10~13 Gbps</a:t>
            </a:r>
          </a:p>
        </p:txBody>
      </p:sp>
      <p:sp>
        <p:nvSpPr>
          <p:cNvPr id="70" name="TextBox 69"/>
          <p:cNvSpPr txBox="1"/>
          <p:nvPr/>
        </p:nvSpPr>
        <p:spPr>
          <a:xfrm>
            <a:off x="996696" y="7260336"/>
            <a:ext cx="548640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되돌릴 수 있다는 것도 같은 기록이 보여 줍니다</a:t>
            </a:r>
          </a:p>
        </p:txBody>
      </p:sp>
      <p:sp>
        <p:nvSpPr>
          <p:cNvPr id="71" name="Rectangle 70"/>
          <p:cNvSpPr/>
          <p:nvPr/>
        </p:nvSpPr>
        <p:spPr>
          <a:xfrm>
            <a:off x="996696" y="7516367"/>
            <a:ext cx="1743455" cy="56692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24712" y="7552944"/>
            <a:ext cx="1487423" cy="201168"/>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2025-Q4</a:t>
            </a:r>
          </a:p>
        </p:txBody>
      </p:sp>
      <p:sp>
        <p:nvSpPr>
          <p:cNvPr id="73" name="TextBox 72"/>
          <p:cNvSpPr txBox="1"/>
          <p:nvPr/>
        </p:nvSpPr>
        <p:spPr>
          <a:xfrm>
            <a:off x="1124712" y="7754112"/>
            <a:ext cx="1487423" cy="310896"/>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DRAM 1위 탈환</a:t>
            </a:r>
          </a:p>
        </p:txBody>
      </p:sp>
      <p:sp>
        <p:nvSpPr>
          <p:cNvPr id="74" name="Rectangle 73"/>
          <p:cNvSpPr/>
          <p:nvPr/>
        </p:nvSpPr>
        <p:spPr>
          <a:xfrm>
            <a:off x="2868168" y="7516367"/>
            <a:ext cx="1743455" cy="56692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996184" y="7552944"/>
            <a:ext cx="1487423" cy="201168"/>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2026-02</a:t>
            </a:r>
          </a:p>
        </p:txBody>
      </p:sp>
      <p:sp>
        <p:nvSpPr>
          <p:cNvPr id="76" name="TextBox 75"/>
          <p:cNvSpPr txBox="1"/>
          <p:nvPr/>
        </p:nvSpPr>
        <p:spPr>
          <a:xfrm>
            <a:off x="2996184" y="7754112"/>
            <a:ext cx="1487423" cy="310896"/>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업계 최초 상용 HBM4 출하</a:t>
            </a:r>
          </a:p>
        </p:txBody>
      </p:sp>
      <p:sp>
        <p:nvSpPr>
          <p:cNvPr id="77" name="Rectangle 76"/>
          <p:cNvSpPr/>
          <p:nvPr/>
        </p:nvSpPr>
        <p:spPr>
          <a:xfrm>
            <a:off x="4739639" y="7516367"/>
            <a:ext cx="1743455" cy="56692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867655" y="7552944"/>
            <a:ext cx="1487423" cy="201168"/>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2026-Q2</a:t>
            </a:r>
          </a:p>
        </p:txBody>
      </p:sp>
      <p:sp>
        <p:nvSpPr>
          <p:cNvPr id="79" name="TextBox 78"/>
          <p:cNvSpPr txBox="1"/>
          <p:nvPr/>
        </p:nvSpPr>
        <p:spPr>
          <a:xfrm>
            <a:off x="4867655" y="7754112"/>
            <a:ext cx="1487423" cy="310896"/>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HBM 점유 33% · 직전 분기 +12%p</a:t>
            </a:r>
          </a:p>
        </p:txBody>
      </p:sp>
      <p:sp>
        <p:nvSpPr>
          <p:cNvPr id="80" name="TextBox 79"/>
          <p:cNvSpPr txBox="1"/>
          <p:nvPr/>
        </p:nvSpPr>
        <p:spPr>
          <a:xfrm>
            <a:off x="996696" y="8156448"/>
            <a:ext cx="5486400" cy="219456"/>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변수는 판단을 끊지 않는 것입니다 · 다음 수요에서 같은 판단을 다시 해야 합니다</a:t>
            </a:r>
          </a:p>
        </p:txBody>
      </p:sp>
      <p:sp>
        <p:nvSpPr>
          <p:cNvPr id="81" name="Rectangle 80"/>
          <p:cNvSpPr/>
          <p:nvPr/>
        </p:nvSpPr>
        <p:spPr>
          <a:xfrm>
            <a:off x="6976872" y="2560320"/>
            <a:ext cx="576072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976872" y="2560320"/>
            <a:ext cx="576072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196328" y="2706624"/>
            <a:ext cx="5321808"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지금 · HBM 위에 새 계층이 얹힌다</a:t>
            </a:r>
          </a:p>
        </p:txBody>
      </p:sp>
      <p:sp>
        <p:nvSpPr>
          <p:cNvPr id="84" name="TextBox 83"/>
          <p:cNvSpPr txBox="1"/>
          <p:nvPr/>
        </p:nvSpPr>
        <p:spPr>
          <a:xfrm>
            <a:off x="7196328" y="2980944"/>
            <a:ext cx="5321808"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KV 캐시가 HBM 용량을 넘어선다</a:t>
            </a:r>
          </a:p>
        </p:txBody>
      </p:sp>
      <p:sp>
        <p:nvSpPr>
          <p:cNvPr id="85" name="TextBox 84"/>
          <p:cNvSpPr txBox="1"/>
          <p:nvPr/>
        </p:nvSpPr>
        <p:spPr>
          <a:xfrm>
            <a:off x="7251192" y="3291839"/>
            <a:ext cx="5212080"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구매 기준은 이렇게 움직여 왔습니다</a:t>
            </a:r>
          </a:p>
        </p:txBody>
      </p:sp>
      <p:sp>
        <p:nvSpPr>
          <p:cNvPr id="86" name="Rectangle 85"/>
          <p:cNvSpPr/>
          <p:nvPr/>
        </p:nvSpPr>
        <p:spPr>
          <a:xfrm>
            <a:off x="7251192" y="3474720"/>
            <a:ext cx="1591056"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324344" y="3511296"/>
            <a:ext cx="1444752" cy="155448"/>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2008~12</a:t>
            </a:r>
          </a:p>
        </p:txBody>
      </p:sp>
      <p:sp>
        <p:nvSpPr>
          <p:cNvPr id="88" name="TextBox 87"/>
          <p:cNvSpPr txBox="1"/>
          <p:nvPr/>
        </p:nvSpPr>
        <p:spPr>
          <a:xfrm>
            <a:off x="7306055" y="3666744"/>
            <a:ext cx="1481328" cy="347472"/>
          </a:xfrm>
          <a:prstGeom prst="rect">
            <a:avLst/>
          </a:prstGeom>
          <a:noFill/>
        </p:spPr>
        <p:txBody>
          <a:bodyPr wrap="square" anchor="t" lIns="0" rIns="0" tIns="0" bIns="0">
            <a:spAutoFit/>
          </a:bodyPr>
          <a:lstStyle/>
          <a:p>
            <a:pPr algn="ctr">
              <a:lnSpc>
                <a:spcPct val="100000"/>
              </a:lnSpc>
            </a:pPr>
            <a:r>
              <a:rPr sz="1050" b="1">
                <a:solidFill>
                  <a:srgbClr val="1A1A1A"/>
                </a:solidFill>
                <a:latin typeface="Arial"/>
                <a:ea typeface="Arial"/>
              </a:rPr>
              <a:t>성능 · 용량당 가격</a:t>
            </a:r>
          </a:p>
        </p:txBody>
      </p:sp>
      <p:sp>
        <p:nvSpPr>
          <p:cNvPr id="89" name="Right Arrow 88"/>
          <p:cNvSpPr/>
          <p:nvPr/>
        </p:nvSpPr>
        <p:spPr>
          <a:xfrm>
            <a:off x="8878824" y="3694176"/>
            <a:ext cx="146303" cy="15544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061704" y="3474720"/>
            <a:ext cx="1591056"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134856" y="3511296"/>
            <a:ext cx="1444752" cy="155448"/>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2012~21</a:t>
            </a:r>
          </a:p>
        </p:txBody>
      </p:sp>
      <p:sp>
        <p:nvSpPr>
          <p:cNvPr id="92" name="TextBox 91"/>
          <p:cNvSpPr txBox="1"/>
          <p:nvPr/>
        </p:nvSpPr>
        <p:spPr>
          <a:xfrm>
            <a:off x="9116568" y="3666744"/>
            <a:ext cx="1481328" cy="347472"/>
          </a:xfrm>
          <a:prstGeom prst="rect">
            <a:avLst/>
          </a:prstGeom>
          <a:noFill/>
        </p:spPr>
        <p:txBody>
          <a:bodyPr wrap="square" anchor="t" lIns="0" rIns="0" tIns="0" bIns="0">
            <a:spAutoFit/>
          </a:bodyPr>
          <a:lstStyle/>
          <a:p>
            <a:pPr algn="ctr">
              <a:lnSpc>
                <a:spcPct val="100000"/>
              </a:lnSpc>
            </a:pPr>
            <a:r>
              <a:rPr sz="1050" b="1">
                <a:solidFill>
                  <a:srgbClr val="1A1A1A"/>
                </a:solidFill>
                <a:latin typeface="Arial"/>
                <a:ea typeface="Arial"/>
              </a:rPr>
              <a:t>QoS · 지연 꼬리</a:t>
            </a:r>
          </a:p>
        </p:txBody>
      </p:sp>
      <p:sp>
        <p:nvSpPr>
          <p:cNvPr id="93" name="Right Arrow 92"/>
          <p:cNvSpPr/>
          <p:nvPr/>
        </p:nvSpPr>
        <p:spPr>
          <a:xfrm>
            <a:off x="10689336" y="3694176"/>
            <a:ext cx="146303" cy="15544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0872216" y="3474720"/>
            <a:ext cx="1591056" cy="5852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945368" y="3511296"/>
            <a:ext cx="1444752" cy="155448"/>
          </a:xfrm>
          <a:prstGeom prst="rect">
            <a:avLst/>
          </a:prstGeom>
          <a:noFill/>
        </p:spPr>
        <p:txBody>
          <a:bodyPr wrap="square" anchor="t" lIns="0" rIns="0" tIns="0" bIns="0">
            <a:spAutoFit/>
          </a:bodyPr>
          <a:lstStyle/>
          <a:p>
            <a:pPr algn="ctr">
              <a:lnSpc>
                <a:spcPct val="112000"/>
              </a:lnSpc>
            </a:pPr>
            <a:r>
              <a:rPr sz="850" b="0">
                <a:solidFill>
                  <a:srgbClr val="AAB8E8"/>
                </a:solidFill>
                <a:latin typeface="Arial"/>
                <a:ea typeface="Arial"/>
              </a:rPr>
              <a:t>2022~26</a:t>
            </a:r>
          </a:p>
        </p:txBody>
      </p:sp>
      <p:sp>
        <p:nvSpPr>
          <p:cNvPr id="96" name="TextBox 95"/>
          <p:cNvSpPr txBox="1"/>
          <p:nvPr/>
        </p:nvSpPr>
        <p:spPr>
          <a:xfrm>
            <a:off x="10927080" y="3666744"/>
            <a:ext cx="1481328" cy="347472"/>
          </a:xfrm>
          <a:prstGeom prst="rect">
            <a:avLst/>
          </a:prstGeom>
          <a:noFill/>
        </p:spPr>
        <p:txBody>
          <a:bodyPr wrap="square" anchor="t" lIns="0" rIns="0" tIns="0" bIns="0">
            <a:spAutoFit/>
          </a:bodyPr>
          <a:lstStyle/>
          <a:p>
            <a:pPr algn="ctr">
              <a:lnSpc>
                <a:spcPct val="100000"/>
              </a:lnSpc>
            </a:pPr>
            <a:r>
              <a:rPr sz="1050" b="1">
                <a:solidFill>
                  <a:srgbClr val="FFFFFF"/>
                </a:solidFill>
                <a:latin typeface="Arial"/>
                <a:ea typeface="Arial"/>
              </a:rPr>
              <a:t>밀도 · 전력 · 물량</a:t>
            </a:r>
          </a:p>
        </p:txBody>
      </p:sp>
      <p:sp>
        <p:nvSpPr>
          <p:cNvPr id="97" name="TextBox 96"/>
          <p:cNvSpPr txBox="1"/>
          <p:nvPr/>
        </p:nvSpPr>
        <p:spPr>
          <a:xfrm>
            <a:off x="7251192" y="4187951"/>
            <a:ext cx="5212080"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그 위에 새 수요가 올라왔습니다   </a:t>
            </a:r>
            <a:r>
              <a:rPr sz="1050" b="1">
                <a:solidFill>
                  <a:srgbClr val="1428A0"/>
                </a:solidFill>
                <a:latin typeface="Arial"/>
                <a:ea typeface="Arial"/>
              </a:rPr>
              <a:t>KV 캐시가 HBM 용량을 넘어섭니다</a:t>
            </a:r>
          </a:p>
        </p:txBody>
      </p:sp>
      <p:sp>
        <p:nvSpPr>
          <p:cNvPr id="98" name="Rectangle 97"/>
          <p:cNvSpPr/>
          <p:nvPr/>
        </p:nvSpPr>
        <p:spPr>
          <a:xfrm>
            <a:off x="7251192" y="4416551"/>
            <a:ext cx="5212080"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251192" y="4416551"/>
            <a:ext cx="512064" cy="47548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251192" y="4416551"/>
            <a:ext cx="512064" cy="47548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G1</a:t>
            </a:r>
          </a:p>
        </p:txBody>
      </p:sp>
      <p:sp>
        <p:nvSpPr>
          <p:cNvPr id="101" name="TextBox 100"/>
          <p:cNvSpPr txBox="1"/>
          <p:nvPr/>
        </p:nvSpPr>
        <p:spPr>
          <a:xfrm>
            <a:off x="7891271" y="4462271"/>
            <a:ext cx="1700784" cy="219456"/>
          </a:xfrm>
          <a:prstGeom prst="rect">
            <a:avLst/>
          </a:prstGeom>
          <a:noFill/>
        </p:spPr>
        <p:txBody>
          <a:bodyPr wrap="square" anchor="t" lIns="0" rIns="0" tIns="0" bIns="0">
            <a:spAutoFit/>
          </a:bodyPr>
          <a:lstStyle/>
          <a:p>
            <a:pPr algn="l">
              <a:lnSpc>
                <a:spcPct val="112000"/>
              </a:lnSpc>
            </a:pPr>
            <a:r>
              <a:rPr sz="1200" b="1">
                <a:solidFill>
                  <a:srgbClr val="FFFFFF"/>
                </a:solidFill>
                <a:latin typeface="Arial"/>
                <a:ea typeface="Arial"/>
              </a:rPr>
              <a:t>GPU HBM</a:t>
            </a:r>
          </a:p>
        </p:txBody>
      </p:sp>
      <p:sp>
        <p:nvSpPr>
          <p:cNvPr id="102" name="TextBox 101"/>
          <p:cNvSpPr txBox="1"/>
          <p:nvPr/>
        </p:nvSpPr>
        <p:spPr>
          <a:xfrm>
            <a:off x="7891271" y="4681727"/>
            <a:ext cx="1700784" cy="173736"/>
          </a:xfrm>
          <a:prstGeom prst="rect">
            <a:avLst/>
          </a:prstGeom>
          <a:noFill/>
        </p:spPr>
        <p:txBody>
          <a:bodyPr wrap="square" anchor="t" lIns="0" rIns="0" tIns="0" bIns="0">
            <a:spAutoFit/>
          </a:bodyPr>
          <a:lstStyle/>
          <a:p>
            <a:pPr algn="l">
              <a:lnSpc>
                <a:spcPct val="112000"/>
              </a:lnSpc>
            </a:pPr>
            <a:r>
              <a:rPr sz="850" b="0">
                <a:solidFill>
                  <a:srgbClr val="AAB8E8"/>
                </a:solidFill>
                <a:latin typeface="Arial"/>
                <a:ea typeface="Arial"/>
              </a:rPr>
              <a:t>80 → 288GB로 커졌지만</a:t>
            </a:r>
          </a:p>
        </p:txBody>
      </p:sp>
      <p:sp>
        <p:nvSpPr>
          <p:cNvPr id="103" name="TextBox 102"/>
          <p:cNvSpPr txBox="1"/>
          <p:nvPr/>
        </p:nvSpPr>
        <p:spPr>
          <a:xfrm>
            <a:off x="9646920" y="4434839"/>
            <a:ext cx="2688336" cy="438912"/>
          </a:xfrm>
          <a:prstGeom prst="rect">
            <a:avLst/>
          </a:prstGeom>
          <a:noFill/>
        </p:spPr>
        <p:txBody>
          <a:bodyPr wrap="square" anchor="ctr" lIns="0" rIns="0" tIns="0" bIns="0">
            <a:spAutoFit/>
          </a:bodyPr>
          <a:lstStyle/>
          <a:p>
            <a:pPr algn="l">
              <a:lnSpc>
                <a:spcPct val="104000"/>
              </a:lnSpc>
            </a:pPr>
            <a:r>
              <a:rPr sz="900" b="0">
                <a:solidFill>
                  <a:srgbClr val="AAB8E8"/>
                </a:solidFill>
                <a:latin typeface="Arial"/>
                <a:ea typeface="Arial"/>
              </a:rPr>
              <a:t>단일 사용자 128K 컨텍스트가 약 40GB · 사용자 수에 비례</a:t>
            </a:r>
          </a:p>
        </p:txBody>
      </p:sp>
      <p:sp>
        <p:nvSpPr>
          <p:cNvPr id="104" name="Down Arrow 103"/>
          <p:cNvSpPr/>
          <p:nvPr/>
        </p:nvSpPr>
        <p:spPr>
          <a:xfrm>
            <a:off x="7434071" y="4901183"/>
            <a:ext cx="146304" cy="128016"/>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7653527" y="4892040"/>
            <a:ext cx="4718304" cy="146304"/>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넘친다</a:t>
            </a:r>
          </a:p>
        </p:txBody>
      </p:sp>
      <p:sp>
        <p:nvSpPr>
          <p:cNvPr id="106" name="Rectangle 105"/>
          <p:cNvSpPr/>
          <p:nvPr/>
        </p:nvSpPr>
        <p:spPr>
          <a:xfrm>
            <a:off x="7251192" y="5038343"/>
            <a:ext cx="5212080" cy="475488"/>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251192" y="5038343"/>
            <a:ext cx="512064" cy="4754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251192" y="5038343"/>
            <a:ext cx="512064" cy="47548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G2</a:t>
            </a:r>
          </a:p>
        </p:txBody>
      </p:sp>
      <p:sp>
        <p:nvSpPr>
          <p:cNvPr id="109" name="TextBox 108"/>
          <p:cNvSpPr txBox="1"/>
          <p:nvPr/>
        </p:nvSpPr>
        <p:spPr>
          <a:xfrm>
            <a:off x="7891271" y="5084063"/>
            <a:ext cx="1700784" cy="219456"/>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CPU DRAM</a:t>
            </a:r>
          </a:p>
        </p:txBody>
      </p:sp>
      <p:sp>
        <p:nvSpPr>
          <p:cNvPr id="110" name="TextBox 109"/>
          <p:cNvSpPr txBox="1"/>
          <p:nvPr/>
        </p:nvSpPr>
        <p:spPr>
          <a:xfrm>
            <a:off x="7891271" y="5303519"/>
            <a:ext cx="1700784" cy="173736"/>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첫 확장</a:t>
            </a:r>
          </a:p>
        </p:txBody>
      </p:sp>
      <p:sp>
        <p:nvSpPr>
          <p:cNvPr id="111" name="TextBox 110"/>
          <p:cNvSpPr txBox="1"/>
          <p:nvPr/>
        </p:nvSpPr>
        <p:spPr>
          <a:xfrm>
            <a:off x="9646920" y="5056631"/>
            <a:ext cx="2688336" cy="43891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Kioxia — DRAM만으로는 더 못 따라간다</a:t>
            </a:r>
          </a:p>
        </p:txBody>
      </p:sp>
      <p:sp>
        <p:nvSpPr>
          <p:cNvPr id="112" name="Down Arrow 111"/>
          <p:cNvSpPr/>
          <p:nvPr/>
        </p:nvSpPr>
        <p:spPr>
          <a:xfrm>
            <a:off x="7434071" y="5522975"/>
            <a:ext cx="146304" cy="128016"/>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7653527" y="5513831"/>
            <a:ext cx="4718304" cy="146304"/>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다시 넘친다</a:t>
            </a:r>
          </a:p>
        </p:txBody>
      </p:sp>
      <p:sp>
        <p:nvSpPr>
          <p:cNvPr id="114" name="Rectangle 113"/>
          <p:cNvSpPr/>
          <p:nvPr/>
        </p:nvSpPr>
        <p:spPr>
          <a:xfrm>
            <a:off x="7251192" y="5660136"/>
            <a:ext cx="5212080" cy="475488"/>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7251192" y="5660136"/>
            <a:ext cx="51206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7251192" y="5660136"/>
            <a:ext cx="512064" cy="47548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G3</a:t>
            </a:r>
          </a:p>
        </p:txBody>
      </p:sp>
      <p:sp>
        <p:nvSpPr>
          <p:cNvPr id="117" name="TextBox 116"/>
          <p:cNvSpPr txBox="1"/>
          <p:nvPr/>
        </p:nvSpPr>
        <p:spPr>
          <a:xfrm>
            <a:off x="7891271" y="5705855"/>
            <a:ext cx="1700784"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NVMe SSD</a:t>
            </a:r>
          </a:p>
        </p:txBody>
      </p:sp>
      <p:sp>
        <p:nvSpPr>
          <p:cNvPr id="118" name="TextBox 117"/>
          <p:cNvSpPr txBox="1"/>
          <p:nvPr/>
        </p:nvSpPr>
        <p:spPr>
          <a:xfrm>
            <a:off x="7891271" y="5925312"/>
            <a:ext cx="1700784" cy="173736"/>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새로 얹힌 계층</a:t>
            </a:r>
          </a:p>
        </p:txBody>
      </p:sp>
      <p:sp>
        <p:nvSpPr>
          <p:cNvPr id="119" name="TextBox 118"/>
          <p:cNvSpPr txBox="1"/>
          <p:nvPr/>
        </p:nvSpPr>
        <p:spPr>
          <a:xfrm>
            <a:off x="9646920" y="5678423"/>
            <a:ext cx="2688336" cy="43891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쓰기가 몰리는 첫 대용량 계층</a:t>
            </a:r>
          </a:p>
        </p:txBody>
      </p:sp>
      <p:sp>
        <p:nvSpPr>
          <p:cNvPr id="120" name="Rectangle 119"/>
          <p:cNvSpPr/>
          <p:nvPr/>
        </p:nvSpPr>
        <p:spPr>
          <a:xfrm>
            <a:off x="7251192" y="6181343"/>
            <a:ext cx="5212080" cy="21945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7342631" y="6181343"/>
            <a:ext cx="5029200" cy="219456"/>
          </a:xfrm>
          <a:prstGeom prst="rect">
            <a:avLst/>
          </a:prstGeom>
          <a:noFill/>
        </p:spPr>
        <p:txBody>
          <a:bodyPr wrap="square" anchor="ctr" lIns="0" rIns="0" tIns="0" bIns="0">
            <a:spAutoFit/>
          </a:bodyPr>
          <a:lstStyle/>
          <a:p>
            <a:pPr algn="l">
              <a:lnSpc>
                <a:spcPct val="112000"/>
              </a:lnSpc>
            </a:pPr>
            <a:r>
              <a:rPr sz="900" b="1">
                <a:solidFill>
                  <a:srgbClr val="1428A0"/>
                </a:solidFill>
                <a:latin typeface="Arial"/>
                <a:ea typeface="Arial"/>
              </a:rPr>
              <a:t>대체가 아니라 증설입니다  </a:t>
            </a:r>
            <a:r>
              <a:rPr sz="900" b="0">
                <a:solidFill>
                  <a:srgbClr val="555555"/>
                </a:solidFill>
                <a:latin typeface="Arial"/>
                <a:ea typeface="Arial"/>
              </a:rPr>
              <a:t>같은 기간 GPU당 HBM은 192 → 288GB, 2027년 384GB로 커집니다</a:t>
            </a:r>
          </a:p>
        </p:txBody>
      </p:sp>
      <p:sp>
        <p:nvSpPr>
          <p:cNvPr id="122" name="Rectangle 121"/>
          <p:cNvSpPr/>
          <p:nvPr/>
        </p:nvSpPr>
        <p:spPr>
          <a:xfrm>
            <a:off x="7251192" y="6492239"/>
            <a:ext cx="5212080" cy="950976"/>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7397496" y="6547103"/>
            <a:ext cx="4919472"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「KV 캐시를 담을 HBM 용량이 한계에 도달했다」</a:t>
            </a:r>
          </a:p>
        </p:txBody>
      </p:sp>
      <p:sp>
        <p:nvSpPr>
          <p:cNvPr id="124" name="TextBox 123"/>
          <p:cNvSpPr txBox="1"/>
          <p:nvPr/>
        </p:nvSpPr>
        <p:spPr>
          <a:xfrm>
            <a:off x="7397496" y="6757415"/>
            <a:ext cx="4919472"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SK하이닉스 2026-07-29 실적 발표 · 같은 자리에서 GPU 인근 NAND 개발 공표</a:t>
            </a:r>
          </a:p>
        </p:txBody>
      </p:sp>
      <p:sp>
        <p:nvSpPr>
          <p:cNvPr id="125" name="Rectangle 124"/>
          <p:cNvSpPr/>
          <p:nvPr/>
        </p:nvSpPr>
        <p:spPr>
          <a:xfrm>
            <a:off x="7397496" y="6967727"/>
            <a:ext cx="49194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7397496" y="7022591"/>
            <a:ext cx="2395728"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오프로드는 메인라인 코드</a:t>
            </a:r>
          </a:p>
        </p:txBody>
      </p:sp>
      <p:sp>
        <p:nvSpPr>
          <p:cNvPr id="127" name="TextBox 126"/>
          <p:cNvSpPr txBox="1"/>
          <p:nvPr/>
        </p:nvSpPr>
        <p:spPr>
          <a:xfrm>
            <a:off x="7397496" y="7168895"/>
            <a:ext cx="2395728" cy="219456"/>
          </a:xfrm>
          <a:prstGeom prst="rect">
            <a:avLst/>
          </a:prstGeom>
          <a:noFill/>
        </p:spPr>
        <p:txBody>
          <a:bodyPr wrap="square" anchor="t" lIns="0" rIns="0" tIns="0" bIns="0">
            <a:spAutoFit/>
          </a:bodyPr>
          <a:lstStyle/>
          <a:p>
            <a:pPr algn="l">
              <a:lnSpc>
                <a:spcPct val="100000"/>
              </a:lnSpc>
            </a:pPr>
            <a:r>
              <a:rPr sz="950" b="1">
                <a:solidFill>
                  <a:srgbClr val="1428A0"/>
                </a:solidFill>
                <a:latin typeface="Arial"/>
                <a:ea typeface="Arial"/>
              </a:rPr>
              <a:t>LMCache 2024-08 → vLLM 2026-05</a:t>
            </a:r>
          </a:p>
        </p:txBody>
      </p:sp>
      <p:sp>
        <p:nvSpPr>
          <p:cNvPr id="128" name="TextBox 127"/>
          <p:cNvSpPr txBox="1"/>
          <p:nvPr/>
        </p:nvSpPr>
        <p:spPr>
          <a:xfrm>
            <a:off x="9921240" y="7022591"/>
            <a:ext cx="2395728"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NAND 비트 중 eSSD 비중</a:t>
            </a:r>
          </a:p>
        </p:txBody>
      </p:sp>
      <p:sp>
        <p:nvSpPr>
          <p:cNvPr id="129" name="TextBox 128"/>
          <p:cNvSpPr txBox="1"/>
          <p:nvPr/>
        </p:nvSpPr>
        <p:spPr>
          <a:xfrm>
            <a:off x="9921240" y="7168895"/>
            <a:ext cx="2395728" cy="219456"/>
          </a:xfrm>
          <a:prstGeom prst="rect">
            <a:avLst/>
          </a:prstGeom>
          <a:noFill/>
        </p:spPr>
        <p:txBody>
          <a:bodyPr wrap="square" anchor="t" lIns="0" rIns="0" tIns="0" bIns="0">
            <a:spAutoFit/>
          </a:bodyPr>
          <a:lstStyle/>
          <a:p>
            <a:pPr algn="l">
              <a:lnSpc>
                <a:spcPct val="100000"/>
              </a:lnSpc>
            </a:pPr>
            <a:r>
              <a:rPr sz="950" b="1">
                <a:solidFill>
                  <a:srgbClr val="1428A0"/>
                </a:solidFill>
                <a:latin typeface="Arial"/>
                <a:ea typeface="Arial"/>
              </a:rPr>
              <a:t>1년 만에 26% → 48%</a:t>
            </a:r>
          </a:p>
        </p:txBody>
      </p:sp>
      <p:sp>
        <p:nvSpPr>
          <p:cNvPr id="130" name="Rectangle 129"/>
          <p:cNvSpPr/>
          <p:nvPr/>
        </p:nvSpPr>
        <p:spPr>
          <a:xfrm>
            <a:off x="7251192" y="7552943"/>
            <a:ext cx="5212080" cy="859536"/>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7415783" y="7616951"/>
            <a:ext cx="3328416" cy="246888"/>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그래서 SSD에 오는 요구는 내구성입니다</a:t>
            </a:r>
          </a:p>
        </p:txBody>
      </p:sp>
      <p:sp>
        <p:nvSpPr>
          <p:cNvPr id="132" name="TextBox 131"/>
          <p:cNvSpPr txBox="1"/>
          <p:nvPr/>
        </p:nvSpPr>
        <p:spPr>
          <a:xfrm>
            <a:off x="7415783" y="7882127"/>
            <a:ext cx="3328416" cy="347472"/>
          </a:xfrm>
          <a:prstGeom prst="rect">
            <a:avLst/>
          </a:prstGeom>
          <a:noFill/>
        </p:spPr>
        <p:txBody>
          <a:bodyPr wrap="square" anchor="t" lIns="0" rIns="0" tIns="0" bIns="0">
            <a:spAutoFit/>
          </a:bodyPr>
          <a:lstStyle/>
          <a:p>
            <a:pPr algn="l">
              <a:lnSpc>
                <a:spcPct val="104000"/>
              </a:lnSpc>
            </a:pPr>
            <a:r>
              <a:rPr sz="900" b="0">
                <a:solidFill>
                  <a:srgbClr val="555555"/>
                </a:solidFill>
                <a:latin typeface="Arial"/>
                <a:ea typeface="Arial"/>
              </a:rPr>
              <a:t>추론 수요 CAGR 86% · 삼성은 V-NAND 캐파의 약 60%를 CMX 대응에 배정했습니다</a:t>
            </a:r>
          </a:p>
        </p:txBody>
      </p:sp>
      <p:sp>
        <p:nvSpPr>
          <p:cNvPr id="133" name="Rectangle 132"/>
          <p:cNvSpPr/>
          <p:nvPr/>
        </p:nvSpPr>
        <p:spPr>
          <a:xfrm>
            <a:off x="10817351" y="7662671"/>
            <a:ext cx="1517904" cy="6400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0817351" y="7662671"/>
            <a:ext cx="1517904" cy="640080"/>
          </a:xfrm>
          <a:prstGeom prst="rect">
            <a:avLst/>
          </a:prstGeom>
          <a:noFill/>
        </p:spPr>
        <p:txBody>
          <a:bodyPr wrap="square" anchor="ctr" lIns="0" rIns="0" tIns="0" bIns="0">
            <a:spAutoFit/>
          </a:bodyPr>
          <a:lstStyle/>
          <a:p>
            <a:pPr algn="ctr">
              <a:lnSpc>
                <a:spcPct val="100000"/>
              </a:lnSpc>
            </a:pPr>
            <a:r>
              <a:rPr sz="950" b="0">
                <a:solidFill>
                  <a:srgbClr val="8A8A8A"/>
                </a:solidFill>
                <a:latin typeface="Arial"/>
                <a:ea typeface="Arial"/>
              </a:rPr>
              <a:t>요구 DWPD</a:t>
            </a:r>
          </a:p>
          <a:p>
            <a:pPr algn="ctr">
              <a:lnSpc>
                <a:spcPct val="100000"/>
              </a:lnSpc>
            </a:pPr>
            <a:r>
              <a:rPr sz="2100" b="1">
                <a:solidFill>
                  <a:srgbClr val="1428A0"/>
                </a:solidFill>
                <a:latin typeface="Arial"/>
                <a:ea typeface="Arial"/>
              </a:rPr>
              <a:t>1 ~ 3</a:t>
            </a:r>
          </a:p>
        </p:txBody>
      </p:sp>
      <p:sp>
        <p:nvSpPr>
          <p:cNvPr id="135" name="Rectangle 134"/>
          <p:cNvSpPr/>
          <p:nvPr/>
        </p:nvSpPr>
        <p:spPr>
          <a:xfrm>
            <a:off x="12957048" y="2560320"/>
            <a:ext cx="4608576" cy="5870448"/>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957048" y="2560320"/>
            <a:ext cx="460857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176504" y="2706624"/>
            <a:ext cx="4169664"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문제 · 고객은 QLC를 원한다</a:t>
            </a:r>
          </a:p>
        </p:txBody>
      </p:sp>
      <p:sp>
        <p:nvSpPr>
          <p:cNvPr id="138" name="TextBox 137"/>
          <p:cNvSpPr txBox="1"/>
          <p:nvPr/>
        </p:nvSpPr>
        <p:spPr>
          <a:xfrm>
            <a:off x="13176504" y="2980944"/>
            <a:ext cx="4169664"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TLC면 되는데 왜 QLC인가</a:t>
            </a:r>
          </a:p>
        </p:txBody>
      </p:sp>
      <p:sp>
        <p:nvSpPr>
          <p:cNvPr id="139" name="TextBox 138"/>
          <p:cNvSpPr txBox="1"/>
          <p:nvPr/>
        </p:nvSpPr>
        <p:spPr>
          <a:xfrm>
            <a:off x="13231368" y="3346703"/>
            <a:ext cx="4059936" cy="219456"/>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같은 요구 1~3 DWPD를 두 방법으로 볼 수 있습니다</a:t>
            </a:r>
          </a:p>
        </p:txBody>
      </p:sp>
      <p:sp>
        <p:nvSpPr>
          <p:cNvPr id="140" name="Rectangle 139"/>
          <p:cNvSpPr/>
          <p:nvPr/>
        </p:nvSpPr>
        <p:spPr>
          <a:xfrm>
            <a:off x="13231368" y="3602735"/>
            <a:ext cx="1956816" cy="17922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231368" y="3602735"/>
            <a:ext cx="1956816" cy="457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3377672" y="3694175"/>
            <a:ext cx="1664208" cy="274320"/>
          </a:xfrm>
          <a:prstGeom prst="rect">
            <a:avLst/>
          </a:prstGeom>
          <a:noFill/>
        </p:spPr>
        <p:txBody>
          <a:bodyPr wrap="square" anchor="t" lIns="0" rIns="0" tIns="0" bIns="0">
            <a:spAutoFit/>
          </a:bodyPr>
          <a:lstStyle/>
          <a:p>
            <a:pPr algn="l">
              <a:lnSpc>
                <a:spcPct val="112000"/>
              </a:lnSpc>
            </a:pPr>
            <a:r>
              <a:rPr sz="1500" b="1">
                <a:solidFill>
                  <a:srgbClr val="555555"/>
                </a:solidFill>
                <a:latin typeface="Arial"/>
                <a:ea typeface="Arial"/>
              </a:rPr>
              <a:t>TLC</a:t>
            </a:r>
          </a:p>
        </p:txBody>
      </p:sp>
      <p:sp>
        <p:nvSpPr>
          <p:cNvPr id="143" name="TextBox 142"/>
          <p:cNvSpPr txBox="1"/>
          <p:nvPr/>
        </p:nvSpPr>
        <p:spPr>
          <a:xfrm>
            <a:off x="13377672" y="3968496"/>
            <a:ext cx="166420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요구는 만족</a:t>
            </a:r>
          </a:p>
        </p:txBody>
      </p:sp>
      <p:sp>
        <p:nvSpPr>
          <p:cNvPr id="144" name="TextBox 143"/>
          <p:cNvSpPr txBox="1"/>
          <p:nvPr/>
        </p:nvSpPr>
        <p:spPr>
          <a:xfrm>
            <a:off x="13377672" y="4206240"/>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45" name="TextBox 144"/>
          <p:cNvSpPr txBox="1"/>
          <p:nvPr/>
        </p:nvSpPr>
        <p:spPr>
          <a:xfrm>
            <a:off x="13377672" y="4352544"/>
            <a:ext cx="1664208"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1 ~ 3 DWPD</a:t>
            </a:r>
          </a:p>
        </p:txBody>
      </p:sp>
      <p:sp>
        <p:nvSpPr>
          <p:cNvPr id="146" name="TextBox 145"/>
          <p:cNvSpPr txBox="1"/>
          <p:nvPr/>
        </p:nvSpPr>
        <p:spPr>
          <a:xfrm>
            <a:off x="13377672" y="4590288"/>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 밀도</a:t>
            </a:r>
          </a:p>
        </p:txBody>
      </p:sp>
      <p:sp>
        <p:nvSpPr>
          <p:cNvPr id="147" name="TextBox 146"/>
          <p:cNvSpPr txBox="1"/>
          <p:nvPr/>
        </p:nvSpPr>
        <p:spPr>
          <a:xfrm>
            <a:off x="13377672" y="4736592"/>
            <a:ext cx="1664208" cy="219456"/>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61TB급</a:t>
            </a:r>
          </a:p>
        </p:txBody>
      </p:sp>
      <p:sp>
        <p:nvSpPr>
          <p:cNvPr id="148" name="TextBox 147"/>
          <p:cNvSpPr txBox="1"/>
          <p:nvPr/>
        </p:nvSpPr>
        <p:spPr>
          <a:xfrm>
            <a:off x="13377672" y="4974336"/>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TB당 가격</a:t>
            </a:r>
          </a:p>
        </p:txBody>
      </p:sp>
      <p:sp>
        <p:nvSpPr>
          <p:cNvPr id="149" name="TextBox 148"/>
          <p:cNvSpPr txBox="1"/>
          <p:nvPr/>
        </p:nvSpPr>
        <p:spPr>
          <a:xfrm>
            <a:off x="13377672" y="5120640"/>
            <a:ext cx="1664208" cy="219456"/>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기준</a:t>
            </a:r>
          </a:p>
        </p:txBody>
      </p:sp>
      <p:sp>
        <p:nvSpPr>
          <p:cNvPr id="150" name="Rectangle 149"/>
          <p:cNvSpPr/>
          <p:nvPr/>
        </p:nvSpPr>
        <p:spPr>
          <a:xfrm>
            <a:off x="15334488" y="3602735"/>
            <a:ext cx="1956816" cy="179222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5334488" y="3602735"/>
            <a:ext cx="195681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5480792" y="3694175"/>
            <a:ext cx="1664208"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QLC</a:t>
            </a:r>
          </a:p>
        </p:txBody>
      </p:sp>
      <p:sp>
        <p:nvSpPr>
          <p:cNvPr id="153" name="TextBox 152"/>
          <p:cNvSpPr txBox="1"/>
          <p:nvPr/>
        </p:nvSpPr>
        <p:spPr>
          <a:xfrm>
            <a:off x="15480792" y="3968496"/>
            <a:ext cx="166420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요구가 부족</a:t>
            </a:r>
          </a:p>
        </p:txBody>
      </p:sp>
      <p:sp>
        <p:nvSpPr>
          <p:cNvPr id="154" name="TextBox 153"/>
          <p:cNvSpPr txBox="1"/>
          <p:nvPr/>
        </p:nvSpPr>
        <p:spPr>
          <a:xfrm>
            <a:off x="15480792" y="4206240"/>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55" name="TextBox 154"/>
          <p:cNvSpPr txBox="1"/>
          <p:nvPr/>
        </p:nvSpPr>
        <p:spPr>
          <a:xfrm>
            <a:off x="15480792" y="4352544"/>
            <a:ext cx="1664208" cy="219456"/>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0.6 DWPD</a:t>
            </a:r>
          </a:p>
        </p:txBody>
      </p:sp>
      <p:sp>
        <p:nvSpPr>
          <p:cNvPr id="156" name="TextBox 155"/>
          <p:cNvSpPr txBox="1"/>
          <p:nvPr/>
        </p:nvSpPr>
        <p:spPr>
          <a:xfrm>
            <a:off x="15480792" y="4590288"/>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 밀도</a:t>
            </a:r>
          </a:p>
        </p:txBody>
      </p:sp>
      <p:sp>
        <p:nvSpPr>
          <p:cNvPr id="157" name="TextBox 156"/>
          <p:cNvSpPr txBox="1"/>
          <p:nvPr/>
        </p:nvSpPr>
        <p:spPr>
          <a:xfrm>
            <a:off x="15480792" y="4736592"/>
            <a:ext cx="1664208"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245TB급 · 4배</a:t>
            </a:r>
          </a:p>
        </p:txBody>
      </p:sp>
      <p:sp>
        <p:nvSpPr>
          <p:cNvPr id="158" name="TextBox 157"/>
          <p:cNvSpPr txBox="1"/>
          <p:nvPr/>
        </p:nvSpPr>
        <p:spPr>
          <a:xfrm>
            <a:off x="15480792" y="4974336"/>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TB당 가격</a:t>
            </a:r>
          </a:p>
        </p:txBody>
      </p:sp>
      <p:sp>
        <p:nvSpPr>
          <p:cNvPr id="159" name="TextBox 158"/>
          <p:cNvSpPr txBox="1"/>
          <p:nvPr/>
        </p:nvSpPr>
        <p:spPr>
          <a:xfrm>
            <a:off x="15480792" y="5120640"/>
            <a:ext cx="1664208"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20~30% 저렴</a:t>
            </a:r>
          </a:p>
        </p:txBody>
      </p:sp>
      <p:sp>
        <p:nvSpPr>
          <p:cNvPr id="160" name="TextBox 159"/>
          <p:cNvSpPr txBox="1"/>
          <p:nvPr/>
        </p:nvSpPr>
        <p:spPr>
          <a:xfrm>
            <a:off x="13231368" y="5541264"/>
            <a:ext cx="4059936"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QLC가 채워야 할 거리</a:t>
            </a:r>
          </a:p>
        </p:txBody>
      </p:sp>
      <p:sp>
        <p:nvSpPr>
          <p:cNvPr id="161" name="TextBox 160"/>
          <p:cNvSpPr txBox="1"/>
          <p:nvPr/>
        </p:nvSpPr>
        <p:spPr>
          <a:xfrm>
            <a:off x="13231368" y="5742431"/>
            <a:ext cx="4059936" cy="603504"/>
          </a:xfrm>
          <a:prstGeom prst="rect">
            <a:avLst/>
          </a:prstGeom>
          <a:noFill/>
        </p:spPr>
        <p:txBody>
          <a:bodyPr wrap="square" anchor="ctr" lIns="0" rIns="0" tIns="0" bIns="0">
            <a:spAutoFit/>
          </a:bodyPr>
          <a:lstStyle/>
          <a:p>
            <a:pPr algn="l">
              <a:lnSpc>
                <a:spcPct val="112000"/>
              </a:lnSpc>
            </a:pPr>
            <a:r>
              <a:rPr sz="3400" b="1">
                <a:solidFill>
                  <a:srgbClr val="1428A0"/>
                </a:solidFill>
                <a:latin typeface="Arial"/>
                <a:ea typeface="Arial"/>
              </a:rPr>
              <a:t>2 ~ 5배</a:t>
            </a:r>
          </a:p>
        </p:txBody>
      </p:sp>
      <p:sp>
        <p:nvSpPr>
          <p:cNvPr id="162" name="TextBox 161"/>
          <p:cNvSpPr txBox="1"/>
          <p:nvPr/>
        </p:nvSpPr>
        <p:spPr>
          <a:xfrm>
            <a:off x="13231368" y="6345936"/>
            <a:ext cx="4059936"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요구 1~3 DWPD ÷ 현 QLC 정격 0.6</a:t>
            </a:r>
          </a:p>
        </p:txBody>
      </p:sp>
      <p:sp>
        <p:nvSpPr>
          <p:cNvPr id="163" name="Rectangle 162"/>
          <p:cNvSpPr/>
          <p:nvPr/>
        </p:nvSpPr>
        <p:spPr>
          <a:xfrm>
            <a:off x="13231368" y="6656831"/>
            <a:ext cx="4059936" cy="15544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3432536" y="6784847"/>
            <a:ext cx="3657600" cy="1298448"/>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고객은 QLC의 밀도와 원가를 원하면서 TLC의 내구성을 요구합니다</a:t>
            </a:r>
          </a:p>
          <a:p>
            <a:pPr algn="l">
              <a:lnSpc>
                <a:spcPct val="112000"/>
              </a:lnSpc>
            </a:pPr>
            <a:r>
              <a:rPr sz="1125" b="0">
                <a:solidFill>
                  <a:srgbClr val="AAB8E8"/>
                </a:solidFill>
                <a:latin typeface="Arial"/>
                <a:ea typeface="Arial"/>
              </a:rPr>
              <a:t>이 간극을 메우는 것이 우리가 풀 문제입니다</a:t>
            </a:r>
          </a:p>
        </p:txBody>
      </p:sp>
      <p:sp>
        <p:nvSpPr>
          <p:cNvPr id="165" name="Rectangle 164"/>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67" name="TextBox 166"/>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HBM의 교훈은 수요를 고객과 함께 설계하는 것이었고, 그 수요가 지금 HBM 위에 새 스토리지 계층을 얹고 있습니다.</a:t>
            </a:r>
          </a:p>
          <a:p>
            <a:pPr algn="l">
              <a:lnSpc>
                <a:spcPct val="108000"/>
              </a:lnSpc>
            </a:pPr>
            <a:r>
              <a:rPr sz="1650" b="1">
                <a:solidFill>
                  <a:srgbClr val="FFFFFF"/>
                </a:solidFill>
                <a:latin typeface="Arial"/>
                <a:ea typeface="Arial"/>
              </a:rPr>
              <a:t>고객은 QLC의 밀도와 원가로 TLC의 1~3 DWPD를 요구하며, 현 정격 0.6과는 2~5배 거리가 있습니다</a:t>
            </a:r>
          </a:p>
        </p:txBody>
      </p:sp>
      <p:sp>
        <p:nvSpPr>
          <p:cNvPr id="168" name="Rectangle 167"/>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다이 고장률</a:t>
            </a:r>
          </a:p>
        </p:txBody>
      </p:sp>
      <p:sp>
        <p:nvSpPr>
          <p:cNvPr id="171" name="TextBox 17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HBM 연표 각사 발표 · JEDEC JESD270-4, CNBC 2024-11-08(⚠️ 단일 출처), 서울경제 2026-07-29(SK하이닉스 실적 콜 🟡)·2026-07-20(CMX 🟡), NVIDIA 개발자 블로그(KV 40GB 🟡), GitHub PR(LMCache·vLLM ✅), Counterpoint Q2 2026, TrendForce(HBM 용량)</a:t>
            </a:r>
          </a:p>
        </p:txBody>
      </p:sp>
      <p:sp>
        <p:nvSpPr>
          <p:cNvPr id="172" name="TextBox 17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다이 고장률을 더 낮추려면 수율을 깎아야 하고 그만큼 원가가 오릅니다. 그래서 해법은 다이가 아니라 SSD 안의 보호 구조입니다.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7" name="Picture 36"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8" name="Rectangle 37"/>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40" name="TextBox 39"/>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41" name="TextBox 40"/>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42" name="Rectangle 41"/>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45567" y="3584448"/>
            <a:ext cx="4782312" cy="182880"/>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다이 고장률을 더 낮추는 길</a:t>
            </a:r>
          </a:p>
        </p:txBody>
      </p:sp>
      <p:sp>
        <p:nvSpPr>
          <p:cNvPr id="44" name="Rectangle 43"/>
          <p:cNvSpPr/>
          <p:nvPr/>
        </p:nvSpPr>
        <p:spPr>
          <a:xfrm>
            <a:off x="1254556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3700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선별 강화</a:t>
            </a:r>
          </a:p>
        </p:txBody>
      </p:sp>
      <p:sp>
        <p:nvSpPr>
          <p:cNvPr id="46" name="TextBox 45"/>
          <p:cNvSpPr txBox="1"/>
          <p:nvPr/>
        </p:nvSpPr>
        <p:spPr>
          <a:xfrm>
            <a:off x="1263700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양품 기준 상향</a:t>
            </a:r>
          </a:p>
        </p:txBody>
      </p:sp>
      <p:sp>
        <p:nvSpPr>
          <p:cNvPr id="47" name="Right Arrow 46"/>
          <p:cNvSpPr/>
          <p:nvPr/>
        </p:nvSpPr>
        <p:spPr>
          <a:xfrm>
            <a:off x="1403299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20672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9816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수율 하락</a:t>
            </a:r>
          </a:p>
        </p:txBody>
      </p:sp>
      <p:sp>
        <p:nvSpPr>
          <p:cNvPr id="50" name="TextBox 49"/>
          <p:cNvSpPr txBox="1"/>
          <p:nvPr/>
        </p:nvSpPr>
        <p:spPr>
          <a:xfrm>
            <a:off x="1429816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웨이퍼당 다이 ↓</a:t>
            </a:r>
          </a:p>
        </p:txBody>
      </p:sp>
      <p:sp>
        <p:nvSpPr>
          <p:cNvPr id="51" name="Right Arrow 50"/>
          <p:cNvSpPr/>
          <p:nvPr/>
        </p:nvSpPr>
        <p:spPr>
          <a:xfrm>
            <a:off x="1569415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5867887" y="3785615"/>
            <a:ext cx="1459992" cy="438912"/>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5959328" y="3822191"/>
            <a:ext cx="1277112" cy="201168"/>
          </a:xfrm>
          <a:prstGeom prst="rect">
            <a:avLst/>
          </a:prstGeom>
          <a:noFill/>
        </p:spPr>
        <p:txBody>
          <a:bodyPr wrap="square" anchor="t" lIns="0" rIns="0" tIns="0" bIns="0">
            <a:spAutoFit/>
          </a:bodyPr>
          <a:lstStyle/>
          <a:p>
            <a:pPr algn="l">
              <a:lnSpc>
                <a:spcPct val="112000"/>
              </a:lnSpc>
            </a:pPr>
            <a:r>
              <a:rPr sz="1125" b="1">
                <a:solidFill>
                  <a:srgbClr val="D93025"/>
                </a:solidFill>
                <a:latin typeface="Arial"/>
                <a:ea typeface="Arial"/>
              </a:rPr>
              <a:t>원가 상승</a:t>
            </a:r>
          </a:p>
        </p:txBody>
      </p:sp>
      <p:sp>
        <p:nvSpPr>
          <p:cNvPr id="54" name="TextBox 53"/>
          <p:cNvSpPr txBox="1"/>
          <p:nvPr/>
        </p:nvSpPr>
        <p:spPr>
          <a:xfrm>
            <a:off x="15959328"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수익성 악화</a:t>
            </a:r>
          </a:p>
        </p:txBody>
      </p:sp>
      <p:sp>
        <p:nvSpPr>
          <p:cNvPr id="55" name="TextBox 54"/>
          <p:cNvSpPr txBox="1"/>
          <p:nvPr/>
        </p:nvSpPr>
        <p:spPr>
          <a:xfrm>
            <a:off x="12545567" y="4261104"/>
            <a:ext cx="4782312" cy="201168"/>
          </a:xfrm>
          <a:prstGeom prst="rect">
            <a:avLst/>
          </a:prstGeom>
          <a:noFill/>
        </p:spPr>
        <p:txBody>
          <a:bodyPr wrap="square" anchor="t" lIns="0" rIns="0" tIns="0" bIns="0">
            <a:spAutoFit/>
          </a:bodyPr>
          <a:lstStyle/>
          <a:p>
            <a:pPr algn="l">
              <a:lnSpc>
                <a:spcPct val="112000"/>
              </a:lnSpc>
            </a:pPr>
            <a:r>
              <a:rPr sz="1000" b="1">
                <a:solidFill>
                  <a:srgbClr val="1428A0"/>
                </a:solidFill>
                <a:latin typeface="Arial"/>
                <a:ea typeface="Arial"/>
              </a:rPr>
              <a:t>수익성이 이 길을 막습니다 → 보호 구조로 푼다</a:t>
            </a:r>
          </a:p>
        </p:txBody>
      </p:sp>
      <p:sp>
        <p:nvSpPr>
          <p:cNvPr id="56" name="Rectangle 55"/>
          <p:cNvSpPr/>
          <p:nvPr/>
        </p:nvSpPr>
        <p:spPr>
          <a:xfrm>
            <a:off x="12545567" y="4498848"/>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2545567" y="4572000"/>
            <a:ext cx="4782312" cy="51206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91872" y="4599432"/>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245 · 256TB급 · 1,024다이</a:t>
            </a:r>
          </a:p>
        </p:txBody>
      </p:sp>
      <p:sp>
        <p:nvSpPr>
          <p:cNvPr id="59" name="TextBox 58"/>
          <p:cNvSpPr txBox="1"/>
          <p:nvPr/>
        </p:nvSpPr>
        <p:spPr>
          <a:xfrm>
            <a:off x="12691872" y="4745736"/>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단일 패리티로 충족</a:t>
            </a:r>
          </a:p>
        </p:txBody>
      </p:sp>
      <p:sp>
        <p:nvSpPr>
          <p:cNvPr id="60" name="TextBox 59"/>
          <p:cNvSpPr txBox="1"/>
          <p:nvPr/>
        </p:nvSpPr>
        <p:spPr>
          <a:xfrm>
            <a:off x="12691872" y="4919472"/>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요구 1,679 ppm · 현 수준 추정 범위 안</a:t>
            </a:r>
          </a:p>
        </p:txBody>
      </p:sp>
      <p:sp>
        <p:nvSpPr>
          <p:cNvPr id="61" name="Rectangle 60"/>
          <p:cNvSpPr/>
          <p:nvPr/>
        </p:nvSpPr>
        <p:spPr>
          <a:xfrm>
            <a:off x="12545567" y="5138928"/>
            <a:ext cx="4782312" cy="512064"/>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91872" y="5166360"/>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512TB급 · 2,133다이</a:t>
            </a:r>
          </a:p>
        </p:txBody>
      </p:sp>
      <p:sp>
        <p:nvSpPr>
          <p:cNvPr id="63" name="TextBox 62"/>
          <p:cNvSpPr txBox="1"/>
          <p:nvPr/>
        </p:nvSpPr>
        <p:spPr>
          <a:xfrm>
            <a:off x="12691872" y="5312664"/>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이중 패리티 또는 여분 다이</a:t>
            </a:r>
          </a:p>
        </p:txBody>
      </p:sp>
      <p:sp>
        <p:nvSpPr>
          <p:cNvPr id="64" name="TextBox 63"/>
          <p:cNvSpPr txBox="1"/>
          <p:nvPr/>
        </p:nvSpPr>
        <p:spPr>
          <a:xfrm>
            <a:off x="12691872" y="5486400"/>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단일 패리티 요구 1,164 ppm · 상단에 미달</a:t>
            </a:r>
          </a:p>
        </p:txBody>
      </p:sp>
      <p:sp>
        <p:nvSpPr>
          <p:cNvPr id="65" name="TextBox 64"/>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66" name="Rectangle 65"/>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69" name="Rectangle 68"/>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87" name="TextBox 86"/>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88" name="TextBox 87"/>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89" name="TextBox 88"/>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90" name="Rectangle 89"/>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93" name="Rectangle 92"/>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ight Arrow 105"/>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110" name="TextBox 109"/>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111" name="TextBox 110"/>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112" name="TextBox 111"/>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113" name="Rectangle 112"/>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116" name="Rectangle 115"/>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18" name="Rectangle 117"/>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27" name="TextBox 126"/>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28" name="TextBox 127"/>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29" name="TextBox 128"/>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30" name="Rectangle 129"/>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32" name="Rectangle 131"/>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34" name="TextBox 133"/>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35" name="Down Arrow 134"/>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38" name="TextBox 137"/>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39" name="TextBox 138"/>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40" name="TextBox 139"/>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41" name="TextBox 140"/>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42" name="Rectangle 14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44" name="TextBox 14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45" name="Rectangle 14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내구성 · WAF</a:t>
            </a:r>
          </a:p>
        </p:txBody>
      </p:sp>
      <p:sp>
        <p:nvSpPr>
          <p:cNvPr id="148" name="TextBox 14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사양·JESD218(고장률 요구), 제품 사양(다이 수), Micron RAIN, 삼성 PM1733 FIP, OCP SMART C0, Google FAST'16(현 수준 역산) · 요구 곡선은 독립 고장 모델(⚠️)</a:t>
            </a:r>
          </a:p>
        </p:txBody>
      </p:sp>
      <p:sp>
        <p:nvSpPr>
          <p:cNvPr id="149" name="TextBox 14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내구성  </a:t>
            </a:r>
            <a:r>
              <a:rPr sz="1200" b="0">
                <a:solidFill>
                  <a:srgbClr val="1428A0"/>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정격 DWPD를 정하는 항 가운데 셀·디바이스·계약이 정한 것을 빼면 남는 변수는 WAF 하나뿐입니다.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16843248"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651760"/>
            <a:ext cx="2011680"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DWPD 산식</a:t>
            </a:r>
          </a:p>
        </p:txBody>
      </p:sp>
      <p:sp>
        <p:nvSpPr>
          <p:cNvPr id="38" name="TextBox 37"/>
          <p:cNvSpPr txBox="1"/>
          <p:nvPr/>
        </p:nvSpPr>
        <p:spPr>
          <a:xfrm>
            <a:off x="960120" y="2889503"/>
            <a:ext cx="2011680" cy="219456"/>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항별 결정 주체</a:t>
            </a:r>
          </a:p>
        </p:txBody>
      </p:sp>
      <p:sp>
        <p:nvSpPr>
          <p:cNvPr id="39" name="Rectangle 38"/>
          <p:cNvSpPr/>
          <p:nvPr/>
        </p:nvSpPr>
        <p:spPr>
          <a:xfrm>
            <a:off x="6281928"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41" name="TextBox 40"/>
          <p:cNvSpPr txBox="1"/>
          <p:nvPr/>
        </p:nvSpPr>
        <p:spPr>
          <a:xfrm>
            <a:off x="6172200"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요구 · 고객</a:t>
            </a:r>
          </a:p>
        </p:txBody>
      </p:sp>
      <p:sp>
        <p:nvSpPr>
          <p:cNvPr id="42" name="TextBox 41"/>
          <p:cNvSpPr txBox="1"/>
          <p:nvPr/>
        </p:nvSpPr>
        <p:spPr>
          <a:xfrm>
            <a:off x="7653528"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3" name="Rectangle 42"/>
          <p:cNvSpPr/>
          <p:nvPr/>
        </p:nvSpPr>
        <p:spPr>
          <a:xfrm>
            <a:off x="8055864"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55864"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45" name="TextBox 44"/>
          <p:cNvSpPr txBox="1"/>
          <p:nvPr/>
        </p:nvSpPr>
        <p:spPr>
          <a:xfrm>
            <a:off x="7946136"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셀 · 다이</a:t>
            </a:r>
          </a:p>
        </p:txBody>
      </p:sp>
      <p:sp>
        <p:nvSpPr>
          <p:cNvPr id="46" name="TextBox 45"/>
          <p:cNvSpPr txBox="1"/>
          <p:nvPr/>
        </p:nvSpPr>
        <p:spPr>
          <a:xfrm>
            <a:off x="9427464"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7" name="Rectangle 46"/>
          <p:cNvSpPr/>
          <p:nvPr/>
        </p:nvSpPr>
        <p:spPr>
          <a:xfrm>
            <a:off x="9829800"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9800"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49" name="TextBox 48"/>
          <p:cNvSpPr txBox="1"/>
          <p:nvPr/>
        </p:nvSpPr>
        <p:spPr>
          <a:xfrm>
            <a:off x="9720072"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SSD</a:t>
            </a:r>
          </a:p>
        </p:txBody>
      </p:sp>
      <p:sp>
        <p:nvSpPr>
          <p:cNvPr id="50" name="TextBox 49"/>
          <p:cNvSpPr txBox="1"/>
          <p:nvPr/>
        </p:nvSpPr>
        <p:spPr>
          <a:xfrm>
            <a:off x="11201400"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1" name="Rectangle 50"/>
          <p:cNvSpPr/>
          <p:nvPr/>
        </p:nvSpPr>
        <p:spPr>
          <a:xfrm>
            <a:off x="11603736" y="2651760"/>
            <a:ext cx="1280160" cy="3474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603736" y="2651760"/>
            <a:ext cx="1280160" cy="347472"/>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53" name="TextBox 52"/>
          <p:cNvSpPr txBox="1"/>
          <p:nvPr/>
        </p:nvSpPr>
        <p:spPr>
          <a:xfrm>
            <a:off x="11494008" y="3017520"/>
            <a:ext cx="1499616" cy="182880"/>
          </a:xfrm>
          <a:prstGeom prst="rect">
            <a:avLst/>
          </a:prstGeom>
          <a:noFill/>
        </p:spPr>
        <p:txBody>
          <a:bodyPr wrap="square" anchor="t" lIns="0" rIns="0" tIns="0" bIns="0">
            <a:spAutoFit/>
          </a:bodyPr>
          <a:lstStyle/>
          <a:p>
            <a:pPr algn="ctr">
              <a:lnSpc>
                <a:spcPct val="112000"/>
              </a:lnSpc>
            </a:pPr>
            <a:r>
              <a:rPr sz="900" b="1">
                <a:solidFill>
                  <a:srgbClr val="1428A0"/>
                </a:solidFill>
                <a:latin typeface="Arial"/>
                <a:ea typeface="Arial"/>
              </a:rPr>
              <a:t>호스트 · 앱</a:t>
            </a:r>
          </a:p>
        </p:txBody>
      </p:sp>
      <p:sp>
        <p:nvSpPr>
          <p:cNvPr id="54" name="TextBox 53"/>
          <p:cNvSpPr txBox="1"/>
          <p:nvPr/>
        </p:nvSpPr>
        <p:spPr>
          <a:xfrm>
            <a:off x="12975336"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5" name="Rectangle 54"/>
          <p:cNvSpPr/>
          <p:nvPr/>
        </p:nvSpPr>
        <p:spPr>
          <a:xfrm>
            <a:off x="13377672"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3377672"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57" name="TextBox 56"/>
          <p:cNvSpPr txBox="1"/>
          <p:nvPr/>
        </p:nvSpPr>
        <p:spPr>
          <a:xfrm>
            <a:off x="13267944"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계약</a:t>
            </a:r>
          </a:p>
        </p:txBody>
      </p:sp>
      <p:sp>
        <p:nvSpPr>
          <p:cNvPr id="58" name="Rectangle 57"/>
          <p:cNvSpPr/>
          <p:nvPr/>
        </p:nvSpPr>
        <p:spPr>
          <a:xfrm>
            <a:off x="722376"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3544"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요구</a:t>
            </a:r>
          </a:p>
        </p:txBody>
      </p:sp>
      <p:sp>
        <p:nvSpPr>
          <p:cNvPr id="60" name="TextBox 59"/>
          <p:cNvSpPr txBox="1"/>
          <p:nvPr/>
        </p:nvSpPr>
        <p:spPr>
          <a:xfrm>
            <a:off x="923544"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추론 캐시 계층 1~3 DWPD</a:t>
            </a:r>
          </a:p>
        </p:txBody>
      </p:sp>
      <p:sp>
        <p:nvSpPr>
          <p:cNvPr id="61" name="TextBox 60"/>
          <p:cNvSpPr txBox="1"/>
          <p:nvPr/>
        </p:nvSpPr>
        <p:spPr>
          <a:xfrm>
            <a:off x="923544"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현 QLC 정격 0.6 · 2~5배 부족</a:t>
            </a:r>
          </a:p>
        </p:txBody>
      </p:sp>
      <p:sp>
        <p:nvSpPr>
          <p:cNvPr id="62" name="Right Arrow 61"/>
          <p:cNvSpPr/>
          <p:nvPr/>
        </p:nvSpPr>
        <p:spPr>
          <a:xfrm>
            <a:off x="6141720"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70904"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72072"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잔여 변수</a:t>
            </a:r>
          </a:p>
        </p:txBody>
      </p:sp>
      <p:sp>
        <p:nvSpPr>
          <p:cNvPr id="65" name="TextBox 64"/>
          <p:cNvSpPr txBox="1"/>
          <p:nvPr/>
        </p:nvSpPr>
        <p:spPr>
          <a:xfrm>
            <a:off x="6672072"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P/E · OP · 보증연수를 빼면 남는 항은 WAF</a:t>
            </a:r>
          </a:p>
        </p:txBody>
      </p:sp>
      <p:sp>
        <p:nvSpPr>
          <p:cNvPr id="66" name="TextBox 65"/>
          <p:cNvSpPr txBox="1"/>
          <p:nvPr/>
        </p:nvSpPr>
        <p:spPr>
          <a:xfrm>
            <a:off x="6672072"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SSD 단독 최적화는 WAF 3에서 멈췄다</a:t>
            </a:r>
          </a:p>
        </p:txBody>
      </p:sp>
      <p:sp>
        <p:nvSpPr>
          <p:cNvPr id="67" name="Right Arrow 66"/>
          <p:cNvSpPr/>
          <p:nvPr/>
        </p:nvSpPr>
        <p:spPr>
          <a:xfrm>
            <a:off x="11890248"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2219432" y="3383280"/>
            <a:ext cx="5346192"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420600" y="3438144"/>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결정 주체</a:t>
            </a:r>
          </a:p>
        </p:txBody>
      </p:sp>
      <p:sp>
        <p:nvSpPr>
          <p:cNvPr id="70" name="TextBox 69"/>
          <p:cNvSpPr txBox="1"/>
          <p:nvPr/>
        </p:nvSpPr>
        <p:spPr>
          <a:xfrm>
            <a:off x="12420600" y="3621024"/>
            <a:ext cx="494385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WAF는 호스트가 데이터를 어떻게 놓느냐로 정해진다</a:t>
            </a:r>
          </a:p>
        </p:txBody>
      </p:sp>
      <p:sp>
        <p:nvSpPr>
          <p:cNvPr id="71" name="TextBox 70"/>
          <p:cNvSpPr txBox="1"/>
          <p:nvPr/>
        </p:nvSpPr>
        <p:spPr>
          <a:xfrm>
            <a:off x="12420600" y="3858768"/>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수명이 같은 데이터를 묶어 힌트와 함께 → 4장</a:t>
            </a:r>
          </a:p>
        </p:txBody>
      </p:sp>
      <p:pic>
        <p:nvPicPr>
          <p:cNvPr id="72" name="Picture 71" descr="ladder_component_big.png"/>
          <p:cNvPicPr>
            <a:picLocks noChangeAspect="1"/>
          </p:cNvPicPr>
          <p:nvPr/>
        </p:nvPicPr>
        <p:blipFill>
          <a:blip r:embed="rId2"/>
          <a:stretch>
            <a:fillRect/>
          </a:stretch>
        </p:blipFill>
        <p:spPr>
          <a:xfrm>
            <a:off x="722376" y="4224528"/>
            <a:ext cx="5394960" cy="3754983"/>
          </a:xfrm>
          <a:prstGeom prst="rect">
            <a:avLst/>
          </a:prstGeom>
        </p:spPr>
      </p:pic>
      <p:pic>
        <p:nvPicPr>
          <p:cNvPr id="73" name="Picture 72" descr="ladder_dwpd_trend.png"/>
          <p:cNvPicPr>
            <a:picLocks noChangeAspect="1"/>
          </p:cNvPicPr>
          <p:nvPr/>
        </p:nvPicPr>
        <p:blipFill>
          <a:blip r:embed="rId3"/>
          <a:stretch>
            <a:fillRect/>
          </a:stretch>
        </p:blipFill>
        <p:spPr>
          <a:xfrm>
            <a:off x="6446520" y="4224528"/>
            <a:ext cx="5394960" cy="3754983"/>
          </a:xfrm>
          <a:prstGeom prst="rect">
            <a:avLst/>
          </a:prstGeom>
        </p:spPr>
      </p:pic>
      <p:pic>
        <p:nvPicPr>
          <p:cNvPr id="74" name="Picture 73" descr="ladder_waf_pairs.png"/>
          <p:cNvPicPr>
            <a:picLocks noChangeAspect="1"/>
          </p:cNvPicPr>
          <p:nvPr/>
        </p:nvPicPr>
        <p:blipFill>
          <a:blip r:embed="rId4"/>
          <a:stretch>
            <a:fillRect/>
          </a:stretch>
        </p:blipFill>
        <p:spPr>
          <a:xfrm>
            <a:off x="12170663" y="4224528"/>
            <a:ext cx="5394960" cy="3754983"/>
          </a:xfrm>
          <a:prstGeom prst="rect">
            <a:avLst/>
          </a:prstGeom>
        </p:spPr>
      </p:pic>
      <p:sp>
        <p:nvSpPr>
          <p:cNvPr id="75" name="Rectangle 74"/>
          <p:cNvSpPr/>
          <p:nvPr/>
        </p:nvSpPr>
        <p:spPr>
          <a:xfrm>
            <a:off x="722376" y="8010144"/>
            <a:ext cx="16843248" cy="4206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22376" y="8010144"/>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60120" y="8010144"/>
            <a:ext cx="16367760" cy="42062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LLM KV 캐시의 WAF 공개 실측은 아직 없습니다  </a:t>
            </a:r>
            <a:r>
              <a:rPr sz="1050" b="0">
                <a:solidFill>
                  <a:srgbClr val="555555"/>
                </a:solidFill>
                <a:latin typeface="Arial"/>
                <a:ea typeface="Arial"/>
              </a:rPr>
              <a:t>FAST'26 WARP는 수명 오분류·핸들 간 간섭이 있으면 분리가 WAF를 낮추지 못한다고 보고합니다 · 4장 ④ 혼재 케이스 · 검증은 Phase 2</a:t>
            </a:r>
          </a:p>
        </p:txBody>
      </p:sp>
      <p:sp>
        <p:nvSpPr>
          <p:cNvPr id="78" name="Rectangle 7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0" name="TextBox 7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QLC 정격 DWPD의 잔여 변수는 WAF이고, WAF는 호스트가 데이터를 어떻게 놓느냐로 정해집니다.</a:t>
            </a:r>
          </a:p>
          <a:p>
            <a:pPr algn="l">
              <a:lnSpc>
                <a:spcPct val="108000"/>
              </a:lnSpc>
            </a:pPr>
            <a:r>
              <a:rPr sz="1650" b="1">
                <a:solidFill>
                  <a:srgbClr val="FFFFFF"/>
                </a:solidFill>
                <a:latin typeface="Arial"/>
                <a:ea typeface="Arial"/>
              </a:rPr>
              <a:t>수명이 같은 데이터를 묶어 힌트와 함께 내려보내야 하며, 그 메커니즘이 다음 장입니다</a:t>
            </a:r>
          </a:p>
        </p:txBody>
      </p:sp>
      <p:sp>
        <p:nvSpPr>
          <p:cNvPr id="81" name="Rectangle 8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배치 힌트 · WAF 저감</a:t>
            </a:r>
          </a:p>
        </p:txBody>
      </p:sp>
      <p:sp>
        <p:nvSpPr>
          <p:cNvPr id="84" name="TextBox 8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ATP·Kioxia(DWPD 산식), Intel·Solidigm·Kioxia 사양(정격 DWPD·허용 기입량), Mielke·Cai(RBER), WD(LDPC), Meta CacheLib 문서·Kioxia XD8 브리프(WAF 실측), FAST'26 WARP(조건부성) · 등급은 부록 A</a:t>
            </a:r>
          </a:p>
        </p:txBody>
      </p:sp>
      <p:sp>
        <p:nvSpPr>
          <p:cNvPr id="85" name="TextBox 8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배치 힌트  </a:t>
            </a:r>
            <a:r>
              <a:rPr sz="1200" b="0">
                <a:solidFill>
                  <a:srgbClr val="1428A0"/>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배치 힌트는 수명이 섞인 블록을 없애 WAF를 3에서 1로, 유효 DWPD를 정격의 3배로 만듭니다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같은 QLC 드라이브에 같은 양을 써도, 호스트가 데이터 수명을 알려 주느냐에 따라 NAND에 쌓이는 모습과 가비지 컬렉션 비용이 달라집니다.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배치 없음</a:t>
            </a:r>
          </a:p>
        </p:txBody>
      </p:sp>
      <p:sp>
        <p:nvSpPr>
          <p:cNvPr id="38" name="TextBox 37"/>
          <p:cNvSpPr txBox="1"/>
          <p:nvPr/>
        </p:nvSpPr>
        <p:spPr>
          <a:xfrm>
            <a:off x="905256"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도착 순서대로 기록</a:t>
            </a:r>
          </a:p>
        </p:txBody>
      </p:sp>
      <p:sp>
        <p:nvSpPr>
          <p:cNvPr id="39" name="Rectangle 38"/>
          <p:cNvSpPr/>
          <p:nvPr/>
        </p:nvSpPr>
        <p:spPr>
          <a:xfrm>
            <a:off x="90525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6696"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9786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42" name="Rectangle 41"/>
          <p:cNvSpPr/>
          <p:nvPr/>
        </p:nvSpPr>
        <p:spPr>
          <a:xfrm>
            <a:off x="215493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46376"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47543"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45" name="Rectangle 44"/>
          <p:cNvSpPr/>
          <p:nvPr/>
        </p:nvSpPr>
        <p:spPr>
          <a:xfrm>
            <a:off x="340461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96056"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9722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48" name="TextBox 47"/>
          <p:cNvSpPr txBox="1"/>
          <p:nvPr/>
        </p:nvSpPr>
        <p:spPr>
          <a:xfrm>
            <a:off x="905256"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49" name="Down Arrow 48"/>
          <p:cNvSpPr/>
          <p:nvPr/>
        </p:nvSpPr>
        <p:spPr>
          <a:xfrm>
            <a:off x="2651760"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큐 1개 · 수명 정보 없음</a:t>
            </a:r>
          </a:p>
        </p:txBody>
      </p:sp>
      <p:sp>
        <p:nvSpPr>
          <p:cNvPr id="51" name="Rectangle 50"/>
          <p:cNvSpPr/>
          <p:nvPr/>
        </p:nvSpPr>
        <p:spPr>
          <a:xfrm>
            <a:off x="1186434"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5044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629918"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09394"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8887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768346"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147822"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5272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906774"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84682"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61" name="Rectangle 60"/>
          <p:cNvSpPr/>
          <p:nvPr/>
        </p:nvSpPr>
        <p:spPr>
          <a:xfrm>
            <a:off x="125044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62991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00939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38887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768346"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3147822"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5272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90677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4682"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70" name="Rectangle 69"/>
          <p:cNvSpPr/>
          <p:nvPr/>
        </p:nvSpPr>
        <p:spPr>
          <a:xfrm>
            <a:off x="125044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629918"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00939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38887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76834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14782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5272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90677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84682"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79" name="Rectangle 78"/>
          <p:cNvSpPr/>
          <p:nvPr/>
        </p:nvSpPr>
        <p:spPr>
          <a:xfrm>
            <a:off x="125044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629918"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200939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38887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76834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314782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52729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39067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84682"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88" name="TextBox 87"/>
          <p:cNvSpPr txBox="1"/>
          <p:nvPr/>
        </p:nvSpPr>
        <p:spPr>
          <a:xfrm>
            <a:off x="905256"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89" name="Rectangle 88"/>
          <p:cNvSpPr/>
          <p:nvPr/>
        </p:nvSpPr>
        <p:spPr>
          <a:xfrm>
            <a:off x="905256"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96696"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91" name="Rectangle 90"/>
          <p:cNvSpPr/>
          <p:nvPr/>
        </p:nvSpPr>
        <p:spPr>
          <a:xfrm>
            <a:off x="722376"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05256"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93" name="TextBox 92"/>
          <p:cNvSpPr txBox="1"/>
          <p:nvPr/>
        </p:nvSpPr>
        <p:spPr>
          <a:xfrm>
            <a:off x="905256"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3.0</a:t>
            </a:r>
          </a:p>
        </p:txBody>
      </p:sp>
      <p:sp>
        <p:nvSpPr>
          <p:cNvPr id="94" name="TextBox 93"/>
          <p:cNvSpPr txBox="1"/>
          <p:nvPr/>
        </p:nvSpPr>
        <p:spPr>
          <a:xfrm>
            <a:off x="2752344"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95" name="TextBox 94"/>
          <p:cNvSpPr txBox="1"/>
          <p:nvPr/>
        </p:nvSpPr>
        <p:spPr>
          <a:xfrm>
            <a:off x="2752344"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0.6</a:t>
            </a:r>
            <a:r>
              <a:rPr sz="950" b="0">
                <a:solidFill>
                  <a:srgbClr val="8A8A8A"/>
                </a:solidFill>
                <a:latin typeface="Arial"/>
                <a:ea typeface="Arial"/>
              </a:rPr>
              <a:t>   요구 1~3</a:t>
            </a:r>
          </a:p>
        </p:txBody>
      </p:sp>
      <p:sp>
        <p:nvSpPr>
          <p:cNvPr id="96" name="TextBox 95"/>
          <p:cNvSpPr txBox="1"/>
          <p:nvPr/>
        </p:nvSpPr>
        <p:spPr>
          <a:xfrm>
            <a:off x="905256"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비-FDP 3.22 · 사용률 100%</a:t>
            </a:r>
          </a:p>
        </p:txBody>
      </p:sp>
      <p:sp>
        <p:nvSpPr>
          <p:cNvPr id="97" name="TextBox 96"/>
          <p:cNvSpPr txBox="1"/>
          <p:nvPr/>
        </p:nvSpPr>
        <p:spPr>
          <a:xfrm>
            <a:off x="905256"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모든 블록에 세 수명이 섞인다</a:t>
            </a:r>
          </a:p>
        </p:txBody>
      </p:sp>
      <p:sp>
        <p:nvSpPr>
          <p:cNvPr id="98" name="Rectangle 97"/>
          <p:cNvSpPr/>
          <p:nvPr/>
        </p:nvSpPr>
        <p:spPr>
          <a:xfrm>
            <a:off x="4983480"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166360"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멀티스트림</a:t>
            </a:r>
          </a:p>
        </p:txBody>
      </p:sp>
      <p:sp>
        <p:nvSpPr>
          <p:cNvPr id="100" name="TextBox 99"/>
          <p:cNvSpPr txBox="1"/>
          <p:nvPr/>
        </p:nvSpPr>
        <p:spPr>
          <a:xfrm>
            <a:off x="5166360"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스트림 id로 부분 분리</a:t>
            </a:r>
          </a:p>
        </p:txBody>
      </p:sp>
      <p:sp>
        <p:nvSpPr>
          <p:cNvPr id="101" name="Rectangle 100"/>
          <p:cNvSpPr/>
          <p:nvPr/>
        </p:nvSpPr>
        <p:spPr>
          <a:xfrm>
            <a:off x="516636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257800"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45896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04" name="Rectangle 103"/>
          <p:cNvSpPr/>
          <p:nvPr/>
        </p:nvSpPr>
        <p:spPr>
          <a:xfrm>
            <a:off x="641604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07480"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70864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07" name="Rectangle 106"/>
          <p:cNvSpPr/>
          <p:nvPr/>
        </p:nvSpPr>
        <p:spPr>
          <a:xfrm>
            <a:off x="766572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757159"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95832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10" name="TextBox 109"/>
          <p:cNvSpPr txBox="1"/>
          <p:nvPr/>
        </p:nvSpPr>
        <p:spPr>
          <a:xfrm>
            <a:off x="5166360"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111" name="Down Arrow 110"/>
          <p:cNvSpPr/>
          <p:nvPr/>
        </p:nvSpPr>
        <p:spPr>
          <a:xfrm>
            <a:off x="6912864"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5166360"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스트림 2~8개 · 수명 등급보다 적다</a:t>
            </a:r>
          </a:p>
        </p:txBody>
      </p:sp>
      <p:sp>
        <p:nvSpPr>
          <p:cNvPr id="113" name="Rectangle 112"/>
          <p:cNvSpPr/>
          <p:nvPr/>
        </p:nvSpPr>
        <p:spPr>
          <a:xfrm>
            <a:off x="5447538"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51154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89102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704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64997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029450"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408925"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7788402"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167878"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145786"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23" name="Rectangle 122"/>
          <p:cNvSpPr/>
          <p:nvPr/>
        </p:nvSpPr>
        <p:spPr>
          <a:xfrm>
            <a:off x="551154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89102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2704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64997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0294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408925"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788402"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816787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145786"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32" name="Rectangle 131"/>
          <p:cNvSpPr/>
          <p:nvPr/>
        </p:nvSpPr>
        <p:spPr>
          <a:xfrm>
            <a:off x="551154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89102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2704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4997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029450"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408925"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884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81678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5145786"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141" name="Rectangle 140"/>
          <p:cNvSpPr/>
          <p:nvPr/>
        </p:nvSpPr>
        <p:spPr>
          <a:xfrm>
            <a:off x="551154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589102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627049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6499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0294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8925"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788402"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816787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5145786"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150" name="TextBox 149"/>
          <p:cNvSpPr txBox="1"/>
          <p:nvPr/>
        </p:nvSpPr>
        <p:spPr>
          <a:xfrm>
            <a:off x="5166360"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151" name="Rectangle 150"/>
          <p:cNvSpPr/>
          <p:nvPr/>
        </p:nvSpPr>
        <p:spPr>
          <a:xfrm>
            <a:off x="5166360"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5257800"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4 / 8칸</a:t>
            </a:r>
          </a:p>
        </p:txBody>
      </p:sp>
      <p:sp>
        <p:nvSpPr>
          <p:cNvPr id="153" name="Rectangle 152"/>
          <p:cNvSpPr/>
          <p:nvPr/>
        </p:nvSpPr>
        <p:spPr>
          <a:xfrm>
            <a:off x="4983480"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5166360"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155" name="TextBox 154"/>
          <p:cNvSpPr txBox="1"/>
          <p:nvPr/>
        </p:nvSpPr>
        <p:spPr>
          <a:xfrm>
            <a:off x="5166360"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1.8</a:t>
            </a:r>
          </a:p>
        </p:txBody>
      </p:sp>
      <p:sp>
        <p:nvSpPr>
          <p:cNvPr id="156" name="TextBox 155"/>
          <p:cNvSpPr txBox="1"/>
          <p:nvPr/>
        </p:nvSpPr>
        <p:spPr>
          <a:xfrm>
            <a:off x="7013448"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157" name="TextBox 156"/>
          <p:cNvSpPr txBox="1"/>
          <p:nvPr/>
        </p:nvSpPr>
        <p:spPr>
          <a:xfrm>
            <a:off x="7013448"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1.0</a:t>
            </a:r>
            <a:r>
              <a:rPr sz="950" b="0">
                <a:solidFill>
                  <a:srgbClr val="8A8A8A"/>
                </a:solidFill>
                <a:latin typeface="Arial"/>
                <a:ea typeface="Arial"/>
              </a:rPr>
              <a:t>   요구 1~3</a:t>
            </a:r>
          </a:p>
        </p:txBody>
      </p:sp>
      <p:sp>
        <p:nvSpPr>
          <p:cNvPr id="158" name="TextBox 157"/>
          <p:cNvSpPr txBox="1"/>
          <p:nvPr/>
        </p:nvSpPr>
        <p:spPr>
          <a:xfrm>
            <a:off x="5166360"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AutoStream · FStream 감소율의 보수 중앙값</a:t>
            </a:r>
          </a:p>
        </p:txBody>
      </p:sp>
      <p:sp>
        <p:nvSpPr>
          <p:cNvPr id="159" name="TextBox 158"/>
          <p:cNvSpPr txBox="1"/>
          <p:nvPr/>
        </p:nvSpPr>
        <p:spPr>
          <a:xfrm>
            <a:off x="5166360"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스트림이 모자라 일부가 섞인다</a:t>
            </a:r>
          </a:p>
        </p:txBody>
      </p:sp>
      <p:sp>
        <p:nvSpPr>
          <p:cNvPr id="160" name="Rectangle 159"/>
          <p:cNvSpPr/>
          <p:nvPr/>
        </p:nvSpPr>
        <p:spPr>
          <a:xfrm>
            <a:off x="9244584" y="2560320"/>
            <a:ext cx="4059936" cy="5303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427463" y="2615184"/>
            <a:ext cx="3694176" cy="256032"/>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③ </a:t>
            </a:r>
            <a:r>
              <a:rPr sz="1350" b="1">
                <a:solidFill>
                  <a:srgbClr val="FFFFFF"/>
                </a:solidFill>
                <a:latin typeface="Arial"/>
                <a:ea typeface="Arial"/>
              </a:rPr>
              <a:t>배치 힌트 (FDP)</a:t>
            </a:r>
          </a:p>
        </p:txBody>
      </p:sp>
      <p:sp>
        <p:nvSpPr>
          <p:cNvPr id="162" name="TextBox 161"/>
          <p:cNvSpPr txBox="1"/>
          <p:nvPr/>
        </p:nvSpPr>
        <p:spPr>
          <a:xfrm>
            <a:off x="9427463" y="2862072"/>
            <a:ext cx="369417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 등급별로 핸들 지정</a:t>
            </a:r>
          </a:p>
        </p:txBody>
      </p:sp>
      <p:sp>
        <p:nvSpPr>
          <p:cNvPr id="163" name="Rectangle 162"/>
          <p:cNvSpPr/>
          <p:nvPr/>
        </p:nvSpPr>
        <p:spPr>
          <a:xfrm>
            <a:off x="9427463"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9518903"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72007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66" name="Rectangle 165"/>
          <p:cNvSpPr/>
          <p:nvPr/>
        </p:nvSpPr>
        <p:spPr>
          <a:xfrm>
            <a:off x="1067714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10768583"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096975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69" name="Rectangle 168"/>
          <p:cNvSpPr/>
          <p:nvPr/>
        </p:nvSpPr>
        <p:spPr>
          <a:xfrm>
            <a:off x="1192682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2018264"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21943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72" name="TextBox 171"/>
          <p:cNvSpPr txBox="1"/>
          <p:nvPr/>
        </p:nvSpPr>
        <p:spPr>
          <a:xfrm>
            <a:off x="9427463"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세 응용 모두 배치 핸들을 지정합니다</a:t>
            </a:r>
          </a:p>
        </p:txBody>
      </p:sp>
      <p:sp>
        <p:nvSpPr>
          <p:cNvPr id="173" name="Down Arrow 172"/>
          <p:cNvSpPr/>
          <p:nvPr/>
        </p:nvSpPr>
        <p:spPr>
          <a:xfrm>
            <a:off x="11173968" y="3931920"/>
            <a:ext cx="201168" cy="219456"/>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427463" y="4169664"/>
            <a:ext cx="3694176" cy="201168"/>
          </a:xfrm>
          <a:prstGeom prst="rect">
            <a:avLst/>
          </a:prstGeom>
          <a:noFill/>
        </p:spPr>
        <p:txBody>
          <a:bodyPr wrap="square" anchor="t" lIns="0" rIns="0" tIns="0" bIns="0">
            <a:spAutoFit/>
          </a:bodyPr>
          <a:lstStyle/>
          <a:p>
            <a:pPr algn="ctr">
              <a:lnSpc>
                <a:spcPct val="112000"/>
              </a:lnSpc>
            </a:pPr>
            <a:r>
              <a:rPr sz="950" b="1">
                <a:solidFill>
                  <a:srgbClr val="1428A0"/>
                </a:solidFill>
                <a:latin typeface="Arial"/>
                <a:ea typeface="Arial"/>
              </a:rPr>
              <a:t>배치 핸들 3개 · 전 응용 적용</a:t>
            </a:r>
          </a:p>
        </p:txBody>
      </p:sp>
      <p:sp>
        <p:nvSpPr>
          <p:cNvPr id="175" name="Rectangle 174"/>
          <p:cNvSpPr/>
          <p:nvPr/>
        </p:nvSpPr>
        <p:spPr>
          <a:xfrm>
            <a:off x="9708642"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977265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015212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053160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1091107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112905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16700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20495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124289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9406890"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85" name="Rectangle 184"/>
          <p:cNvSpPr/>
          <p:nvPr/>
        </p:nvSpPr>
        <p:spPr>
          <a:xfrm>
            <a:off x="97726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015212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1053160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091107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12905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116700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0495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124289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406890"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94" name="Rectangle 193"/>
          <p:cNvSpPr/>
          <p:nvPr/>
        </p:nvSpPr>
        <p:spPr>
          <a:xfrm>
            <a:off x="977265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1015212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05316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109110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129055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1167003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120495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1242898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9406890"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03" name="Rectangle 202"/>
          <p:cNvSpPr/>
          <p:nvPr/>
        </p:nvSpPr>
        <p:spPr>
          <a:xfrm>
            <a:off x="97726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15212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1053160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91107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129055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116700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204950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242898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9406890"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12" name="TextBox 211"/>
          <p:cNvSpPr txBox="1"/>
          <p:nvPr/>
        </p:nvSpPr>
        <p:spPr>
          <a:xfrm>
            <a:off x="9427463"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13" name="Rectangle 212"/>
          <p:cNvSpPr/>
          <p:nvPr/>
        </p:nvSpPr>
        <p:spPr>
          <a:xfrm>
            <a:off x="9427463" y="6437376"/>
            <a:ext cx="3694176" cy="310896"/>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9518904"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1428A0"/>
                </a:solidFill>
                <a:latin typeface="Arial"/>
                <a:ea typeface="Arial"/>
              </a:rPr>
              <a:t>0 / 8칸</a:t>
            </a:r>
          </a:p>
        </p:txBody>
      </p:sp>
      <p:sp>
        <p:nvSpPr>
          <p:cNvPr id="215" name="Rectangle 214"/>
          <p:cNvSpPr/>
          <p:nvPr/>
        </p:nvSpPr>
        <p:spPr>
          <a:xfrm>
            <a:off x="9244584" y="6839712"/>
            <a:ext cx="4059936" cy="969264"/>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9427463"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217" name="TextBox 216"/>
          <p:cNvSpPr txBox="1"/>
          <p:nvPr/>
        </p:nvSpPr>
        <p:spPr>
          <a:xfrm>
            <a:off x="9427463"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1.05</a:t>
            </a:r>
          </a:p>
        </p:txBody>
      </p:sp>
      <p:sp>
        <p:nvSpPr>
          <p:cNvPr id="218" name="TextBox 217"/>
          <p:cNvSpPr txBox="1"/>
          <p:nvPr/>
        </p:nvSpPr>
        <p:spPr>
          <a:xfrm>
            <a:off x="11274551"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19" name="TextBox 218"/>
          <p:cNvSpPr txBox="1"/>
          <p:nvPr/>
        </p:nvSpPr>
        <p:spPr>
          <a:xfrm>
            <a:off x="11274551"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1.7</a:t>
            </a:r>
            <a:r>
              <a:rPr sz="950" b="0">
                <a:solidFill>
                  <a:srgbClr val="8A8A8A"/>
                </a:solidFill>
                <a:latin typeface="Arial"/>
                <a:ea typeface="Arial"/>
              </a:rPr>
              <a:t>   요구 1~3</a:t>
            </a:r>
          </a:p>
        </p:txBody>
      </p:sp>
      <p:sp>
        <p:nvSpPr>
          <p:cNvPr id="220" name="TextBox 219"/>
          <p:cNvSpPr txBox="1"/>
          <p:nvPr/>
        </p:nvSpPr>
        <p:spPr>
          <a:xfrm>
            <a:off x="9427463"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3.22 → 1.03 · XD8 2.8 → 약 1.0</a:t>
            </a:r>
          </a:p>
        </p:txBody>
      </p:sp>
      <p:sp>
        <p:nvSpPr>
          <p:cNvPr id="221" name="TextBox 220"/>
          <p:cNvSpPr txBox="1"/>
          <p:nvPr/>
        </p:nvSpPr>
        <p:spPr>
          <a:xfrm>
            <a:off x="9427463" y="7589520"/>
            <a:ext cx="3694176"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한 블록이 통째로 무효화된다</a:t>
            </a:r>
          </a:p>
        </p:txBody>
      </p:sp>
      <p:sp>
        <p:nvSpPr>
          <p:cNvPr id="222" name="Rectangle 221"/>
          <p:cNvSpPr/>
          <p:nvPr/>
        </p:nvSpPr>
        <p:spPr>
          <a:xfrm>
            <a:off x="13505688"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13688567"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혼재</a:t>
            </a:r>
          </a:p>
        </p:txBody>
      </p:sp>
      <p:sp>
        <p:nvSpPr>
          <p:cNvPr id="224" name="TextBox 223"/>
          <p:cNvSpPr txBox="1"/>
          <p:nvPr/>
        </p:nvSpPr>
        <p:spPr>
          <a:xfrm>
            <a:off x="13688567"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힌트 주는 응용과 안 주는 응용</a:t>
            </a:r>
          </a:p>
        </p:txBody>
      </p:sp>
      <p:sp>
        <p:nvSpPr>
          <p:cNvPr id="225" name="Rectangle 224"/>
          <p:cNvSpPr/>
          <p:nvPr/>
        </p:nvSpPr>
        <p:spPr>
          <a:xfrm>
            <a:off x="13688567"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3780007"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1398117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228" name="Rectangle 227"/>
          <p:cNvSpPr/>
          <p:nvPr/>
        </p:nvSpPr>
        <p:spPr>
          <a:xfrm>
            <a:off x="14938248"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029688"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523085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231" name="Rectangle 230"/>
          <p:cNvSpPr/>
          <p:nvPr/>
        </p:nvSpPr>
        <p:spPr>
          <a:xfrm>
            <a:off x="16187928" y="3145536"/>
            <a:ext cx="1194816"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16279368"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648053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레거시 VM</a:t>
            </a:r>
          </a:p>
        </p:txBody>
      </p:sp>
      <p:sp>
        <p:nvSpPr>
          <p:cNvPr id="234" name="TextBox 233"/>
          <p:cNvSpPr txBox="1"/>
          <p:nvPr/>
        </p:nvSpPr>
        <p:spPr>
          <a:xfrm>
            <a:off x="13688567" y="3547872"/>
            <a:ext cx="3694176" cy="219456"/>
          </a:xfrm>
          <a:prstGeom prst="rect">
            <a:avLst/>
          </a:prstGeom>
          <a:noFill/>
        </p:spPr>
        <p:txBody>
          <a:bodyPr wrap="square" anchor="t" lIns="0" rIns="0" tIns="0" bIns="0">
            <a:spAutoFit/>
          </a:bodyPr>
          <a:lstStyle/>
          <a:p>
            <a:pPr algn="l">
              <a:lnSpc>
                <a:spcPct val="112000"/>
              </a:lnSpc>
            </a:pPr>
            <a:r>
              <a:rPr sz="875" b="0">
                <a:solidFill>
                  <a:srgbClr val="1428A0"/>
                </a:solidFill>
                <a:latin typeface="Arial"/>
                <a:ea typeface="Arial"/>
              </a:rPr>
              <a:t>레거시 VM만 힌트를 주지 않습니다(점선)</a:t>
            </a:r>
          </a:p>
        </p:txBody>
      </p:sp>
      <p:sp>
        <p:nvSpPr>
          <p:cNvPr id="235" name="Down Arrow 234"/>
          <p:cNvSpPr/>
          <p:nvPr/>
        </p:nvSpPr>
        <p:spPr>
          <a:xfrm>
            <a:off x="15435072"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13688567"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핸들 2개 + 기본 핸들</a:t>
            </a:r>
          </a:p>
        </p:txBody>
      </p:sp>
      <p:sp>
        <p:nvSpPr>
          <p:cNvPr id="237" name="Rectangle 236"/>
          <p:cNvSpPr/>
          <p:nvPr/>
        </p:nvSpPr>
        <p:spPr>
          <a:xfrm>
            <a:off x="140337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144132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147927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151721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1555165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1593113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16310609"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1669008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3667994"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246" name="Rectangle 245"/>
          <p:cNvSpPr/>
          <p:nvPr/>
        </p:nvSpPr>
        <p:spPr>
          <a:xfrm>
            <a:off x="140337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144132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147927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151721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1555165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1593113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16310609"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1669008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13667994"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255" name="Rectangle 254"/>
          <p:cNvSpPr/>
          <p:nvPr/>
        </p:nvSpPr>
        <p:spPr>
          <a:xfrm>
            <a:off x="13969746" y="5257800"/>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1403375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14413230"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147927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1517218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ectangle 259"/>
          <p:cNvSpPr/>
          <p:nvPr/>
        </p:nvSpPr>
        <p:spPr>
          <a:xfrm>
            <a:off x="1555165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15931134"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16310609"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669008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13667994"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65" name="Rectangle 264"/>
          <p:cNvSpPr/>
          <p:nvPr/>
        </p:nvSpPr>
        <p:spPr>
          <a:xfrm>
            <a:off x="14033754"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144132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Rectangle 266"/>
          <p:cNvSpPr/>
          <p:nvPr/>
        </p:nvSpPr>
        <p:spPr>
          <a:xfrm>
            <a:off x="1479270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517218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555165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1593113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16310609"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1669008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13667994"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74" name="TextBox 273"/>
          <p:cNvSpPr txBox="1"/>
          <p:nvPr/>
        </p:nvSpPr>
        <p:spPr>
          <a:xfrm>
            <a:off x="13688567"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75" name="Rectangle 274"/>
          <p:cNvSpPr/>
          <p:nvPr/>
        </p:nvSpPr>
        <p:spPr>
          <a:xfrm>
            <a:off x="13688567"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extBox 275"/>
          <p:cNvSpPr txBox="1"/>
          <p:nvPr/>
        </p:nvSpPr>
        <p:spPr>
          <a:xfrm>
            <a:off x="13780008"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277" name="Rectangle 276"/>
          <p:cNvSpPr/>
          <p:nvPr/>
        </p:nvSpPr>
        <p:spPr>
          <a:xfrm>
            <a:off x="13505688"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13688567"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279" name="TextBox 278"/>
          <p:cNvSpPr txBox="1"/>
          <p:nvPr/>
        </p:nvSpPr>
        <p:spPr>
          <a:xfrm>
            <a:off x="13688567"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2.2</a:t>
            </a:r>
          </a:p>
        </p:txBody>
      </p:sp>
      <p:sp>
        <p:nvSpPr>
          <p:cNvPr id="280" name="TextBox 279"/>
          <p:cNvSpPr txBox="1"/>
          <p:nvPr/>
        </p:nvSpPr>
        <p:spPr>
          <a:xfrm>
            <a:off x="15535655"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81" name="TextBox 280"/>
          <p:cNvSpPr txBox="1"/>
          <p:nvPr/>
        </p:nvSpPr>
        <p:spPr>
          <a:xfrm>
            <a:off x="15535655"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0.8</a:t>
            </a:r>
            <a:r>
              <a:rPr sz="950" b="0">
                <a:solidFill>
                  <a:srgbClr val="8A8A8A"/>
                </a:solidFill>
                <a:latin typeface="Arial"/>
                <a:ea typeface="Arial"/>
              </a:rPr>
              <a:t>   요구 1~3</a:t>
            </a:r>
          </a:p>
        </p:txBody>
      </p:sp>
      <p:sp>
        <p:nvSpPr>
          <p:cNvPr id="282" name="TextBox 281"/>
          <p:cNvSpPr txBox="1"/>
          <p:nvPr/>
        </p:nvSpPr>
        <p:spPr>
          <a:xfrm>
            <a:off x="13688567"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절반 태깅 가정 + 핸들 간 간섭(WARP)</a:t>
            </a:r>
          </a:p>
        </p:txBody>
      </p:sp>
      <p:sp>
        <p:nvSpPr>
          <p:cNvPr id="283" name="TextBox 282"/>
          <p:cNvSpPr txBox="1"/>
          <p:nvPr/>
        </p:nvSpPr>
        <p:spPr>
          <a:xfrm>
            <a:off x="13688567"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기본 핸들로 몰린 트래픽이 다시 섞인다</a:t>
            </a:r>
          </a:p>
        </p:txBody>
      </p:sp>
      <p:sp>
        <p:nvSpPr>
          <p:cNvPr id="284" name="Rectangle 283"/>
          <p:cNvSpPr/>
          <p:nvPr/>
        </p:nvSpPr>
        <p:spPr>
          <a:xfrm>
            <a:off x="722376" y="7882127"/>
            <a:ext cx="16843248" cy="54864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Rectangle 284"/>
          <p:cNvSpPr/>
          <p:nvPr/>
        </p:nvSpPr>
        <p:spPr>
          <a:xfrm>
            <a:off x="722376" y="7882127"/>
            <a:ext cx="54864" cy="548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978408" y="7955279"/>
            <a:ext cx="73152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범례</a:t>
            </a:r>
          </a:p>
        </p:txBody>
      </p:sp>
      <p:sp>
        <p:nvSpPr>
          <p:cNvPr id="287" name="Rectangle 286"/>
          <p:cNvSpPr/>
          <p:nvPr/>
        </p:nvSpPr>
        <p:spPr>
          <a:xfrm>
            <a:off x="1636776" y="798271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183794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짧음</a:t>
            </a:r>
          </a:p>
        </p:txBody>
      </p:sp>
      <p:sp>
        <p:nvSpPr>
          <p:cNvPr id="289" name="Rectangle 288"/>
          <p:cNvSpPr/>
          <p:nvPr/>
        </p:nvSpPr>
        <p:spPr>
          <a:xfrm>
            <a:off x="2642616" y="7982711"/>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284378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중간</a:t>
            </a:r>
          </a:p>
        </p:txBody>
      </p:sp>
      <p:sp>
        <p:nvSpPr>
          <p:cNvPr id="291" name="Rectangle 290"/>
          <p:cNvSpPr/>
          <p:nvPr/>
        </p:nvSpPr>
        <p:spPr>
          <a:xfrm>
            <a:off x="3648456" y="7982711"/>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384962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김</a:t>
            </a:r>
          </a:p>
        </p:txBody>
      </p:sp>
      <p:sp>
        <p:nvSpPr>
          <p:cNvPr id="293" name="Rectangle 292"/>
          <p:cNvSpPr/>
          <p:nvPr/>
        </p:nvSpPr>
        <p:spPr>
          <a:xfrm>
            <a:off x="4654296" y="7982711"/>
            <a:ext cx="146304" cy="146304"/>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4855464" y="7936992"/>
            <a:ext cx="18288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무효화된 페이지</a:t>
            </a:r>
          </a:p>
        </p:txBody>
      </p:sp>
      <p:sp>
        <p:nvSpPr>
          <p:cNvPr id="295" name="TextBox 294"/>
          <p:cNvSpPr txBox="1"/>
          <p:nvPr/>
        </p:nvSpPr>
        <p:spPr>
          <a:xfrm>
            <a:off x="6757416" y="7936992"/>
            <a:ext cx="4937760"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유효 DWPD  </a:t>
            </a:r>
            <a:r>
              <a:rPr sz="950" b="0">
                <a:solidFill>
                  <a:srgbClr val="555555"/>
                </a:solidFill>
                <a:latin typeface="Arial"/>
                <a:ea typeface="Arial"/>
              </a:rPr>
              <a:t>정격 0.6 × 3 ÷ WAF (정격은 WAF 3 기준 산정)</a:t>
            </a:r>
          </a:p>
        </p:txBody>
      </p:sp>
      <p:sp>
        <p:nvSpPr>
          <p:cNvPr id="296" name="TextBox 295"/>
          <p:cNvSpPr txBox="1"/>
          <p:nvPr/>
        </p:nvSpPr>
        <p:spPr>
          <a:xfrm>
            <a:off x="978408" y="8229600"/>
            <a:ext cx="16331184"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실측 대조  </a:t>
            </a:r>
            <a:r>
              <a:rPr sz="950" b="0">
                <a:solidFill>
                  <a:srgbClr val="555555"/>
                </a:solidFill>
                <a:latin typeface="Arial"/>
                <a:ea typeface="Arial"/>
              </a:rPr>
              <a:t>8칸 블록 그림은 원리를 보이는 모식도이고, 아래 WAF는 공개 실측(①③) 또는 모델 추정(②④)입니다. 네 열은 하나의 연속 측정이 아니며 조건이 다릅니다. 같은 드라이브·트레이스도 사용률이 100%면 3.22, 50%면 1.22로 기준이 흔들립니다</a:t>
            </a:r>
          </a:p>
        </p:txBody>
      </p:sp>
      <p:sp>
        <p:nvSpPr>
          <p:cNvPr id="297" name="Rectangle 29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299" name="TextBox 29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수명이 같은 데이터만 한 블록에 모이면 그 블록은 통째로 무효화되어 복사할 것이 없습니다. 이것이 WAF 1의 정체입니다.</a:t>
            </a:r>
          </a:p>
          <a:p>
            <a:pPr algn="l">
              <a:lnSpc>
                <a:spcPct val="108000"/>
              </a:lnSpc>
            </a:pPr>
            <a:r>
              <a:rPr sz="1650" b="1">
                <a:solidFill>
                  <a:srgbClr val="FFFFFF"/>
                </a:solidFill>
                <a:latin typeface="Arial"/>
                <a:ea typeface="Arial"/>
              </a:rPr>
              <a:t>QLC로 요구 DWPD에 닿으려면 호스트가 수명 등급을 나눠 힌트와 함께 내려보내야 합니다</a:t>
            </a:r>
          </a:p>
        </p:txBody>
      </p:sp>
      <p:sp>
        <p:nvSpPr>
          <p:cNvPr id="300" name="Rectangle 29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extBox 30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303" name="TextBox 30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NVMe TP4146 FDP(배치 핸들), Meta CacheLib 문서·Kioxia XD8 브리프(①③ 실측), AutoStream·FStream(② 감소율), FAST'26 WARP·FlashAlloc VLDB'23(④ 간섭) · ②④ WAF는 모델 추정(⚠️)</a:t>
            </a:r>
          </a:p>
        </p:txBody>
      </p:sp>
      <p:sp>
        <p:nvSpPr>
          <p:cNvPr id="304" name="TextBox 30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8" name="TextBox 37"/>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9" name="Rectangle 38"/>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41" name="TextBox 40"/>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42" name="Rectangle 41"/>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4" name="TextBox 43"/>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5" name="Rectangle 44"/>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7" name="TextBox 46"/>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8" name="Rectangle 47"/>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50" name="Rectangle 49"/>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52" name="Rectangle 51"/>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4" name="Rectangle 53"/>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6" name="Rectangle 55"/>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8" name="Rectangle 57"/>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60" name="Rectangle 59"/>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62" name="Rectangle 61"/>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4" name="Rectangle 63"/>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6" name="TextBox 65"/>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7" name="Rectangle 66"/>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9" name="Rectangle 68"/>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71" name="Rectangle 70"/>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73" name="Rectangle 72"/>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5" name="Rectangle 74"/>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7" name="Rectangle 76"/>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9" name="Down Arrow 78"/>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Up Arrow 79"/>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82" name="TextBox 81"/>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83" name="TextBox 82"/>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4" name="Rectangle 83"/>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6" name="Rectangle 85"/>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8" name="Rectangle 87"/>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90" name="Rectangle 89"/>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92" name="Rectangle 91"/>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4" name="Rectangle 93"/>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6" name="Oval 95"/>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 Same Side Corner Rectangle 96"/>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9" name="TextBox 98"/>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100" name="TextBox 99"/>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101" name="TextBox 100"/>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102" name="Rectangle 101"/>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Isosceles Triangle 107"/>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10" name="Rectangle 109"/>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2" name="TextBox 111"/>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13" name="Rectangle 112"/>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2880360"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2706624"/>
            <a:ext cx="2478024"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삼성 개발실</a:t>
            </a:r>
          </a:p>
        </p:txBody>
      </p:sp>
      <p:sp>
        <p:nvSpPr>
          <p:cNvPr id="38" name="TextBox 37"/>
          <p:cNvSpPr txBox="1"/>
          <p:nvPr/>
        </p:nvSpPr>
        <p:spPr>
          <a:xfrm>
            <a:off x="923544" y="2980944"/>
            <a:ext cx="2478024"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삼성이 제공하는 것</a:t>
            </a:r>
          </a:p>
        </p:txBody>
      </p:sp>
      <p:sp>
        <p:nvSpPr>
          <p:cNvPr id="39" name="Rectangle 38"/>
          <p:cNvSpPr/>
          <p:nvPr/>
        </p:nvSpPr>
        <p:spPr>
          <a:xfrm>
            <a:off x="960120" y="3483863"/>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9576" y="3401568"/>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KV-ready QLC + 수명 보증</a:t>
            </a:r>
          </a:p>
        </p:txBody>
      </p:sp>
      <p:sp>
        <p:nvSpPr>
          <p:cNvPr id="41" name="Rectangle 40"/>
          <p:cNvSpPr/>
          <p:nvPr/>
        </p:nvSpPr>
        <p:spPr>
          <a:xfrm>
            <a:off x="960120" y="4087368"/>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9576" y="4005072"/>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FDE (고객 상주 엔지니어)</a:t>
            </a:r>
          </a:p>
        </p:txBody>
      </p:sp>
      <p:sp>
        <p:nvSpPr>
          <p:cNvPr id="43" name="Rectangle 42"/>
          <p:cNvSpPr/>
          <p:nvPr/>
        </p:nvSpPr>
        <p:spPr>
          <a:xfrm>
            <a:off x="960120" y="4690872"/>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79576" y="4608576"/>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업스트림 코드 · 공용 TCO 모델</a:t>
            </a:r>
          </a:p>
        </p:txBody>
      </p:sp>
      <p:sp>
        <p:nvSpPr>
          <p:cNvPr id="45" name="Rectangle 44"/>
          <p:cNvSpPr/>
          <p:nvPr/>
        </p:nvSpPr>
        <p:spPr>
          <a:xfrm>
            <a:off x="960120" y="5294376"/>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79576" y="5212080"/>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WAF 급등 감지 · 런타임 대응</a:t>
            </a:r>
          </a:p>
        </p:txBody>
      </p:sp>
      <p:sp>
        <p:nvSpPr>
          <p:cNvPr id="47" name="Rectangle 46"/>
          <p:cNvSpPr/>
          <p:nvPr/>
        </p:nvSpPr>
        <p:spPr>
          <a:xfrm>
            <a:off x="923544" y="5907024"/>
            <a:ext cx="54864"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24712" y="5907024"/>
            <a:ext cx="2276856" cy="969264"/>
          </a:xfrm>
          <a:prstGeom prst="rect">
            <a:avLst/>
          </a:prstGeom>
          <a:noFill/>
        </p:spPr>
        <p:txBody>
          <a:bodyPr wrap="square" anchor="ctr" lIns="0" rIns="0" tIns="0" bIns="0">
            <a:spAutoFit/>
          </a:bodyPr>
          <a:lstStyle/>
          <a:p>
            <a:pPr algn="l">
              <a:lnSpc>
                <a:spcPct val="106000"/>
              </a:lnSpc>
            </a:pPr>
            <a:r>
              <a:rPr sz="105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900" b="0">
                <a:solidFill>
                  <a:srgbClr val="8A8A8A"/>
                </a:solidFill>
                <a:latin typeface="Arial"/>
                <a:ea typeface="Arial"/>
              </a:rPr>
              <a:t>송용호 · 고객 관계 = 워크로드 접근권</a:t>
            </a:r>
          </a:p>
        </p:txBody>
      </p:sp>
      <p:sp>
        <p:nvSpPr>
          <p:cNvPr id="49" name="Right Arrow 48"/>
          <p:cNvSpPr/>
          <p:nvPr/>
        </p:nvSpPr>
        <p:spPr>
          <a:xfrm>
            <a:off x="3822191" y="2560320"/>
            <a:ext cx="9235440" cy="731520"/>
          </a:xfrm>
          <a:prstGeom prst="rightArrow">
            <a:avLst>
              <a:gd name="adj1" fmla="val 86000"/>
              <a:gd name="adj2"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33087" y="2633472"/>
            <a:ext cx="8046719" cy="256032"/>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① FDE 상주 : 삼성 엔지니어가 고객 시스템 안으로</a:t>
            </a:r>
          </a:p>
        </p:txBody>
      </p:sp>
      <p:sp>
        <p:nvSpPr>
          <p:cNvPr id="51" name="TextBox 50"/>
          <p:cNvSpPr txBox="1"/>
          <p:nvPr/>
        </p:nvSpPr>
        <p:spPr>
          <a:xfrm>
            <a:off x="4133087" y="2907791"/>
            <a:ext cx="8046719" cy="219456"/>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상주 엔지니어 · 업스트림 코드 · 워크로드 실측 공개</a:t>
            </a:r>
          </a:p>
        </p:txBody>
      </p:sp>
      <p:sp>
        <p:nvSpPr>
          <p:cNvPr id="52" name="Rectangle 51"/>
          <p:cNvSpPr/>
          <p:nvPr/>
        </p:nvSpPr>
        <p:spPr>
          <a:xfrm>
            <a:off x="382219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05072" y="3511296"/>
            <a:ext cx="4160520"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고객 선별 · 채널</a:t>
            </a:r>
          </a:p>
        </p:txBody>
      </p:sp>
      <p:sp>
        <p:nvSpPr>
          <p:cNvPr id="54" name="TextBox 53"/>
          <p:cNvSpPr txBox="1"/>
          <p:nvPr/>
        </p:nvSpPr>
        <p:spPr>
          <a:xfrm>
            <a:off x="4005072" y="3721607"/>
            <a:ext cx="4160520" cy="20116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FDE 상주 조건 · ① 트레이스 접근 ② 캐시 관리자 자체 운영 ③ 물량·규격 파급력</a:t>
            </a:r>
          </a:p>
        </p:txBody>
      </p:sp>
      <p:sp>
        <p:nvSpPr>
          <p:cNvPr id="55" name="Rectangle 54"/>
          <p:cNvSpPr/>
          <p:nvPr/>
        </p:nvSpPr>
        <p:spPr>
          <a:xfrm>
            <a:off x="3968496" y="3968496"/>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968496" y="3968496"/>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96511" y="3968496"/>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58" name="Right Arrow 57"/>
          <p:cNvSpPr/>
          <p:nvPr/>
        </p:nvSpPr>
        <p:spPr>
          <a:xfrm>
            <a:off x="6327648" y="4123944"/>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20256" y="3968496"/>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상주 Pod 3~5명</a:t>
            </a:r>
          </a:p>
        </p:txBody>
      </p:sp>
      <p:sp>
        <p:nvSpPr>
          <p:cNvPr id="60" name="Rectangle 59"/>
          <p:cNvSpPr/>
          <p:nvPr/>
        </p:nvSpPr>
        <p:spPr>
          <a:xfrm>
            <a:off x="3968496" y="4480560"/>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3968496" y="4480560"/>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96511" y="4480560"/>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63" name="Right Arrow 62"/>
          <p:cNvSpPr/>
          <p:nvPr/>
        </p:nvSpPr>
        <p:spPr>
          <a:xfrm>
            <a:off x="6327648" y="4636008"/>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20256" y="4480560"/>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플랫폼 팀 파견</a:t>
            </a:r>
          </a:p>
        </p:txBody>
      </p:sp>
      <p:sp>
        <p:nvSpPr>
          <p:cNvPr id="65" name="TextBox 64"/>
          <p:cNvSpPr txBox="1"/>
          <p:nvPr/>
        </p:nvSpPr>
        <p:spPr>
          <a:xfrm>
            <a:off x="4096511" y="4992624"/>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66" name="Right Arrow 65"/>
          <p:cNvSpPr/>
          <p:nvPr/>
        </p:nvSpPr>
        <p:spPr>
          <a:xfrm>
            <a:off x="6327648" y="5148072"/>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620256" y="4992624"/>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업스트림 · OCP 규격</a:t>
            </a:r>
          </a:p>
        </p:txBody>
      </p:sp>
      <p:sp>
        <p:nvSpPr>
          <p:cNvPr id="68" name="TextBox 67"/>
          <p:cNvSpPr txBox="1"/>
          <p:nvPr/>
        </p:nvSpPr>
        <p:spPr>
          <a:xfrm>
            <a:off x="4096511" y="5504688"/>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9" name="Right Arrow 68"/>
          <p:cNvSpPr/>
          <p:nvPr/>
        </p:nvSpPr>
        <p:spPr>
          <a:xfrm>
            <a:off x="6327648" y="5660136"/>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0256" y="5504688"/>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레퍼런스 스택 제공</a:t>
            </a:r>
          </a:p>
        </p:txBody>
      </p:sp>
      <p:sp>
        <p:nvSpPr>
          <p:cNvPr id="71" name="Rectangle 70"/>
          <p:cNvSpPr/>
          <p:nvPr/>
        </p:nvSpPr>
        <p:spPr>
          <a:xfrm>
            <a:off x="853135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14231" y="3511296"/>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Palantir FDE</a:t>
            </a:r>
            <a:r>
              <a:rPr sz="900" b="0">
                <a:solidFill>
                  <a:srgbClr val="555555"/>
                </a:solidFill>
                <a:latin typeface="Arial"/>
                <a:ea typeface="Arial"/>
              </a:rPr>
              <a:t>   상주 → 코드 → 성과 평가</a:t>
            </a:r>
          </a:p>
        </p:txBody>
      </p:sp>
      <p:sp>
        <p:nvSpPr>
          <p:cNvPr id="73" name="Oval 72"/>
          <p:cNvSpPr/>
          <p:nvPr/>
        </p:nvSpPr>
        <p:spPr>
          <a:xfrm>
            <a:off x="8830543"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 Same Side Corner Rectangle 73"/>
          <p:cNvSpPr/>
          <p:nvPr/>
        </p:nvSpPr>
        <p:spPr>
          <a:xfrm>
            <a:off x="8769095"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172529"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 Same Side Corner Rectangle 75"/>
          <p:cNvSpPr/>
          <p:nvPr/>
        </p:nvSpPr>
        <p:spPr>
          <a:xfrm>
            <a:off x="9111081"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9514514"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 Same Side Corner Rectangle 77"/>
          <p:cNvSpPr/>
          <p:nvPr/>
        </p:nvSpPr>
        <p:spPr>
          <a:xfrm>
            <a:off x="9453067"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ight Arrow 78"/>
          <p:cNvSpPr/>
          <p:nvPr/>
        </p:nvSpPr>
        <p:spPr>
          <a:xfrm>
            <a:off x="9868204" y="3959352"/>
            <a:ext cx="274320"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215676" y="3822192"/>
            <a:ext cx="1207008"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15676" y="3822192"/>
            <a:ext cx="1207008" cy="42062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고객 현장</a:t>
            </a:r>
          </a:p>
        </p:txBody>
      </p:sp>
      <p:sp>
        <p:nvSpPr>
          <p:cNvPr id="82" name="TextBox 81"/>
          <p:cNvSpPr txBox="1"/>
          <p:nvPr/>
        </p:nvSpPr>
        <p:spPr>
          <a:xfrm>
            <a:off x="8769095" y="4334256"/>
            <a:ext cx="4050791" cy="402336"/>
          </a:xfrm>
          <a:prstGeom prst="rect">
            <a:avLst/>
          </a:prstGeom>
          <a:noFill/>
        </p:spPr>
        <p:txBody>
          <a:bodyPr wrap="square" anchor="t" lIns="0" rIns="0" tIns="0" bIns="0">
            <a:spAutoFit/>
          </a:bodyPr>
          <a:lstStyle/>
          <a:p>
            <a:pPr algn="l">
              <a:lnSpc>
                <a:spcPct val="108000"/>
              </a:lnSpc>
            </a:pPr>
            <a:r>
              <a:rPr sz="950" b="0">
                <a:solidFill>
                  <a:srgbClr val="555555"/>
                </a:solidFill>
                <a:latin typeface="Arial"/>
                <a:ea typeface="Arial"/>
              </a:rPr>
              <a:t>요구를 코드로 구현하고 성과로 평가 · 주가 수익률 640%</a:t>
            </a:r>
          </a:p>
          <a:p>
            <a:pPr algn="l">
              <a:lnSpc>
                <a:spcPct val="108000"/>
              </a:lnSpc>
            </a:pPr>
            <a:r>
              <a:rPr sz="950" b="0">
                <a:solidFill>
                  <a:srgbClr val="555555"/>
                </a:solidFill>
                <a:latin typeface="Arial"/>
                <a:ea typeface="Arial"/>
              </a:rPr>
              <a:t>Anthropic · OpenAI가 GTM 모델로 채택</a:t>
            </a:r>
          </a:p>
        </p:txBody>
      </p:sp>
      <p:sp>
        <p:nvSpPr>
          <p:cNvPr id="83" name="Rectangle 82"/>
          <p:cNvSpPr/>
          <p:nvPr/>
        </p:nvSpPr>
        <p:spPr>
          <a:xfrm>
            <a:off x="8732519" y="4773168"/>
            <a:ext cx="412394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32519" y="4846320"/>
            <a:ext cx="4123944"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선례 · </a:t>
            </a:r>
            <a:r>
              <a:rPr sz="1275" b="1">
                <a:solidFill>
                  <a:srgbClr val="1428A0"/>
                </a:solidFill>
                <a:latin typeface="Arial"/>
                <a:ea typeface="Arial"/>
              </a:rPr>
              <a:t>Micron ↔ Anthropic SCA</a:t>
            </a:r>
            <a:r>
              <a:rPr sz="950" b="0">
                <a:solidFill>
                  <a:srgbClr val="555555"/>
                </a:solidFill>
                <a:latin typeface="Arial"/>
                <a:ea typeface="Arial"/>
              </a:rPr>
              <a:t>   2026-06</a:t>
            </a:r>
          </a:p>
        </p:txBody>
      </p:sp>
      <p:sp>
        <p:nvSpPr>
          <p:cNvPr id="85" name="Rectangle 84"/>
          <p:cNvSpPr/>
          <p:nvPr/>
        </p:nvSpPr>
        <p:spPr>
          <a:xfrm>
            <a:off x="8769095" y="5157216"/>
            <a:ext cx="1097280"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69095" y="5157216"/>
            <a:ext cx="1097280" cy="292608"/>
          </a:xfrm>
          <a:prstGeom prst="rect">
            <a:avLst/>
          </a:prstGeom>
          <a:noFill/>
        </p:spPr>
        <p:txBody>
          <a:bodyPr wrap="square" anchor="ctr" lIns="0" rIns="0" tIns="0" bIns="0">
            <a:spAutoFit/>
          </a:bodyPr>
          <a:lstStyle/>
          <a:p>
            <a:pPr algn="ctr">
              <a:lnSpc>
                <a:spcPct val="112000"/>
              </a:lnSpc>
            </a:pPr>
            <a:r>
              <a:rPr sz="1000" b="1">
                <a:solidFill>
                  <a:srgbClr val="FFFFFF"/>
                </a:solidFill>
                <a:latin typeface="Arial"/>
                <a:ea typeface="Arial"/>
              </a:rPr>
              <a:t>공동 설계</a:t>
            </a:r>
          </a:p>
        </p:txBody>
      </p:sp>
      <p:sp>
        <p:nvSpPr>
          <p:cNvPr id="87" name="Rectangle 86"/>
          <p:cNvSpPr/>
          <p:nvPr/>
        </p:nvSpPr>
        <p:spPr>
          <a:xfrm>
            <a:off x="9976103" y="515721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976103" y="515721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다년 공급</a:t>
            </a:r>
          </a:p>
        </p:txBody>
      </p:sp>
      <p:sp>
        <p:nvSpPr>
          <p:cNvPr id="89" name="Rectangle 88"/>
          <p:cNvSpPr/>
          <p:nvPr/>
        </p:nvSpPr>
        <p:spPr>
          <a:xfrm>
            <a:off x="8769095"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769095"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운영 통합</a:t>
            </a:r>
          </a:p>
        </p:txBody>
      </p:sp>
      <p:sp>
        <p:nvSpPr>
          <p:cNvPr id="91" name="Rectangle 90"/>
          <p:cNvSpPr/>
          <p:nvPr/>
        </p:nvSpPr>
        <p:spPr>
          <a:xfrm>
            <a:off x="9976103"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976103"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자본</a:t>
            </a:r>
          </a:p>
        </p:txBody>
      </p:sp>
      <p:sp>
        <p:nvSpPr>
          <p:cNvPr id="93" name="TextBox 92"/>
          <p:cNvSpPr txBox="1"/>
          <p:nvPr/>
        </p:nvSpPr>
        <p:spPr>
          <a:xfrm>
            <a:off x="11274551" y="5138927"/>
            <a:ext cx="1545336" cy="676656"/>
          </a:xfrm>
          <a:prstGeom prst="rect">
            <a:avLst/>
          </a:prstGeom>
          <a:noFill/>
        </p:spPr>
        <p:txBody>
          <a:bodyPr wrap="square" anchor="ctr" lIns="0" rIns="0" tIns="0" bIns="0">
            <a:spAutoFit/>
          </a:bodyPr>
          <a:lstStyle/>
          <a:p>
            <a:pPr algn="l">
              <a:lnSpc>
                <a:spcPct val="108000"/>
              </a:lnSpc>
            </a:pPr>
            <a:r>
              <a:rPr sz="950" b="0">
                <a:solidFill>
                  <a:srgbClr val="555555"/>
                </a:solidFill>
                <a:latin typeface="Arial"/>
                <a:ea typeface="Arial"/>
              </a:rPr>
              <a:t>네 요소를 한 계약에 결합</a:t>
            </a:r>
          </a:p>
          <a:p>
            <a:pPr algn="l">
              <a:lnSpc>
                <a:spcPct val="108000"/>
              </a:lnSpc>
            </a:pPr>
            <a:r>
              <a:rPr sz="950" b="1">
                <a:solidFill>
                  <a:srgbClr val="1A1A1A"/>
                </a:solidFill>
                <a:latin typeface="Arial"/>
                <a:ea typeface="Arial"/>
              </a:rPr>
              <a:t>Micron SCA 16건 · 최소 매출 약 $100B</a:t>
            </a:r>
          </a:p>
        </p:txBody>
      </p:sp>
      <p:sp>
        <p:nvSpPr>
          <p:cNvPr id="94" name="TextBox 93"/>
          <p:cNvSpPr txBox="1"/>
          <p:nvPr/>
        </p:nvSpPr>
        <p:spPr>
          <a:xfrm>
            <a:off x="8769095" y="5833872"/>
            <a:ext cx="4050791" cy="256032"/>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삼성 · SK의 Anthropic 계약엔 공동 설계 조항 부재 → 삼성이 선제 제안</a:t>
            </a:r>
          </a:p>
        </p:txBody>
      </p:sp>
      <p:sp>
        <p:nvSpPr>
          <p:cNvPr id="95" name="Left Arrow 94"/>
          <p:cNvSpPr/>
          <p:nvPr/>
        </p:nvSpPr>
        <p:spPr>
          <a:xfrm>
            <a:off x="3822191" y="6272784"/>
            <a:ext cx="9235440" cy="731520"/>
          </a:xfrm>
          <a:prstGeom prst="leftArrow">
            <a:avLst>
              <a:gd name="adj1" fmla="val 86000"/>
              <a:gd name="adj2"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28031" y="6345936"/>
            <a:ext cx="795527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② 접근권 확보 : 워크로드 트레이스 · KV 수명 정책 · 규격</a:t>
            </a:r>
          </a:p>
        </p:txBody>
      </p:sp>
      <p:sp>
        <p:nvSpPr>
          <p:cNvPr id="97" name="TextBox 96"/>
          <p:cNvSpPr txBox="1"/>
          <p:nvPr/>
        </p:nvSpPr>
        <p:spPr>
          <a:xfrm>
            <a:off x="4828031" y="6620256"/>
            <a:ext cx="7955279"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계약 시한 2027년 상반기 — 공급 완화 전에 락인</a:t>
            </a:r>
          </a:p>
        </p:txBody>
      </p:sp>
      <p:sp>
        <p:nvSpPr>
          <p:cNvPr id="98" name="Rectangle 97"/>
          <p:cNvSpPr/>
          <p:nvPr/>
        </p:nvSpPr>
        <p:spPr>
          <a:xfrm>
            <a:off x="13277088" y="2560320"/>
            <a:ext cx="4288536"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3478256" y="2706624"/>
            <a:ext cx="3886200"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고객 시스템</a:t>
            </a:r>
          </a:p>
        </p:txBody>
      </p:sp>
      <p:sp>
        <p:nvSpPr>
          <p:cNvPr id="100" name="TextBox 99"/>
          <p:cNvSpPr txBox="1"/>
          <p:nvPr/>
        </p:nvSpPr>
        <p:spPr>
          <a:xfrm>
            <a:off x="13478256" y="2980944"/>
            <a:ext cx="38862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 인력 · 코드의 진입 계층</a:t>
            </a:r>
          </a:p>
        </p:txBody>
      </p:sp>
      <p:sp>
        <p:nvSpPr>
          <p:cNvPr id="101" name="Rectangle 100"/>
          <p:cNvSpPr/>
          <p:nvPr/>
        </p:nvSpPr>
        <p:spPr>
          <a:xfrm>
            <a:off x="13478256" y="3401568"/>
            <a:ext cx="2916936"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3615416" y="3401568"/>
            <a:ext cx="2642616" cy="51206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응용 · 추론 엔진</a:t>
            </a:r>
          </a:p>
        </p:txBody>
      </p:sp>
      <p:sp>
        <p:nvSpPr>
          <p:cNvPr id="103" name="Rectangle 102"/>
          <p:cNvSpPr/>
          <p:nvPr/>
        </p:nvSpPr>
        <p:spPr>
          <a:xfrm>
            <a:off x="13478256" y="4023359"/>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3615416" y="4023359"/>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KV 캐시 관리자</a:t>
            </a:r>
          </a:p>
        </p:txBody>
      </p:sp>
      <p:sp>
        <p:nvSpPr>
          <p:cNvPr id="105" name="Rectangle 104"/>
          <p:cNvSpPr/>
          <p:nvPr/>
        </p:nvSpPr>
        <p:spPr>
          <a:xfrm>
            <a:off x="13478256" y="4645152"/>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615416" y="4645152"/>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I/O 라이브러리 · 커널</a:t>
            </a:r>
          </a:p>
        </p:txBody>
      </p:sp>
      <p:sp>
        <p:nvSpPr>
          <p:cNvPr id="107" name="Rectangle 106"/>
          <p:cNvSpPr/>
          <p:nvPr/>
        </p:nvSpPr>
        <p:spPr>
          <a:xfrm>
            <a:off x="13478256" y="5266944"/>
            <a:ext cx="2916936"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3615416" y="5266944"/>
            <a:ext cx="2642616" cy="512064"/>
          </a:xfrm>
          <a:prstGeom prst="rect">
            <a:avLst/>
          </a:prstGeom>
          <a:noFill/>
        </p:spPr>
        <p:txBody>
          <a:bodyPr wrap="square" anchor="ctr" lIns="0" rIns="0" tIns="0" bIns="0">
            <a:spAutoFit/>
          </a:bodyPr>
          <a:lstStyle/>
          <a:p>
            <a:pPr algn="l">
              <a:lnSpc>
                <a:spcPct val="112000"/>
              </a:lnSpc>
            </a:pPr>
            <a:r>
              <a:rPr sz="1275" b="1">
                <a:solidFill>
                  <a:srgbClr val="FFFFFF"/>
                </a:solidFill>
                <a:latin typeface="Arial"/>
                <a:ea typeface="Arial"/>
              </a:rPr>
              <a:t>SSD : 삼성 QLC</a:t>
            </a:r>
          </a:p>
        </p:txBody>
      </p:sp>
      <p:sp>
        <p:nvSpPr>
          <p:cNvPr id="109" name="Oval 108"/>
          <p:cNvSpPr/>
          <p:nvPr/>
        </p:nvSpPr>
        <p:spPr>
          <a:xfrm>
            <a:off x="16572219" y="4078223"/>
            <a:ext cx="159837" cy="15983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 Same Side Corner Rectangle 109"/>
          <p:cNvSpPr/>
          <p:nvPr/>
        </p:nvSpPr>
        <p:spPr>
          <a:xfrm>
            <a:off x="16504920" y="4263298"/>
            <a:ext cx="294436" cy="235549"/>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6872508" y="4023359"/>
            <a:ext cx="731520" cy="51206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a:t>
            </a:r>
          </a:p>
        </p:txBody>
      </p:sp>
      <p:sp>
        <p:nvSpPr>
          <p:cNvPr id="112" name="TextBox 111"/>
          <p:cNvSpPr txBox="1"/>
          <p:nvPr/>
        </p:nvSpPr>
        <p:spPr>
          <a:xfrm>
            <a:off x="16504920" y="4645152"/>
            <a:ext cx="859536" cy="512064"/>
          </a:xfrm>
          <a:prstGeom prst="rect">
            <a:avLst/>
          </a:prstGeom>
          <a:noFill/>
        </p:spPr>
        <p:txBody>
          <a:bodyPr wrap="square" anchor="ctr" lIns="0" rIns="0" tIns="0" bIns="0">
            <a:spAutoFit/>
          </a:bodyPr>
          <a:lstStyle/>
          <a:p>
            <a:pPr algn="l">
              <a:lnSpc>
                <a:spcPct val="112000"/>
              </a:lnSpc>
            </a:pPr>
            <a:r>
              <a:rPr sz="1050" b="0">
                <a:solidFill>
                  <a:srgbClr val="555555"/>
                </a:solidFill>
                <a:latin typeface="Arial"/>
                <a:ea typeface="Arial"/>
              </a:rPr>
              <a:t>코드 머지</a:t>
            </a:r>
          </a:p>
        </p:txBody>
      </p:sp>
      <p:pic>
        <p:nvPicPr>
          <p:cNvPr id="113" name="Picture 112" descr="anthropic.png"/>
          <p:cNvPicPr>
            <a:picLocks noChangeAspect="1"/>
          </p:cNvPicPr>
          <p:nvPr/>
        </p:nvPicPr>
        <p:blipFill>
          <a:blip r:embed="rId2"/>
          <a:stretch>
            <a:fillRect/>
          </a:stretch>
        </p:blipFill>
        <p:spPr>
          <a:xfrm>
            <a:off x="13551408" y="6409303"/>
            <a:ext cx="1302212" cy="147584"/>
          </a:xfrm>
          <a:prstGeom prst="rect">
            <a:avLst/>
          </a:prstGeom>
        </p:spPr>
      </p:pic>
      <p:pic>
        <p:nvPicPr>
          <p:cNvPr id="114" name="Picture 113" descr="openai.png"/>
          <p:cNvPicPr>
            <a:picLocks noChangeAspect="1"/>
          </p:cNvPicPr>
          <p:nvPr/>
        </p:nvPicPr>
        <p:blipFill>
          <a:blip r:embed="rId3"/>
          <a:stretch>
            <a:fillRect/>
          </a:stretch>
        </p:blipFill>
        <p:spPr>
          <a:xfrm>
            <a:off x="14966487" y="6409303"/>
            <a:ext cx="601021" cy="147584"/>
          </a:xfrm>
          <a:prstGeom prst="rect">
            <a:avLst/>
          </a:prstGeom>
        </p:spPr>
      </p:pic>
      <p:pic>
        <p:nvPicPr>
          <p:cNvPr id="115" name="Picture 114" descr="nvidia.png"/>
          <p:cNvPicPr>
            <a:picLocks noChangeAspect="1"/>
          </p:cNvPicPr>
          <p:nvPr/>
        </p:nvPicPr>
        <p:blipFill>
          <a:blip r:embed="rId4"/>
          <a:stretch>
            <a:fillRect/>
          </a:stretch>
        </p:blipFill>
        <p:spPr>
          <a:xfrm>
            <a:off x="15680370" y="6409303"/>
            <a:ext cx="772242" cy="147584"/>
          </a:xfrm>
          <a:prstGeom prst="rect">
            <a:avLst/>
          </a:prstGeom>
        </p:spPr>
      </p:pic>
      <p:pic>
        <p:nvPicPr>
          <p:cNvPr id="116" name="Picture 115" descr="meta.png"/>
          <p:cNvPicPr>
            <a:picLocks noChangeAspect="1"/>
          </p:cNvPicPr>
          <p:nvPr/>
        </p:nvPicPr>
        <p:blipFill>
          <a:blip r:embed="rId5"/>
          <a:stretch>
            <a:fillRect/>
          </a:stretch>
        </p:blipFill>
        <p:spPr>
          <a:xfrm>
            <a:off x="16565476" y="6409303"/>
            <a:ext cx="725823" cy="147584"/>
          </a:xfrm>
          <a:prstGeom prst="rect">
            <a:avLst/>
          </a:prstGeom>
        </p:spPr>
      </p:pic>
      <p:sp>
        <p:nvSpPr>
          <p:cNvPr id="117" name="Rectangle 116"/>
          <p:cNvSpPr/>
          <p:nvPr/>
        </p:nvSpPr>
        <p:spPr>
          <a:xfrm>
            <a:off x="722376"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22376"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2376"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120" name="TextBox 119"/>
          <p:cNvSpPr txBox="1"/>
          <p:nvPr/>
        </p:nvSpPr>
        <p:spPr>
          <a:xfrm>
            <a:off x="1691640"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시스템 소프트웨어 조직 강화</a:t>
            </a:r>
          </a:p>
        </p:txBody>
      </p:sp>
      <p:sp>
        <p:nvSpPr>
          <p:cNvPr id="121" name="TextBox 120"/>
          <p:cNvSpPr txBox="1"/>
          <p:nvPr/>
        </p:nvSpPr>
        <p:spPr>
          <a:xfrm>
            <a:off x="1691640"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Co-Design Pod 3~5명 · 개발실 소속</a:t>
            </a:r>
          </a:p>
          <a:p>
            <a:pPr algn="l">
              <a:lnSpc>
                <a:spcPct val="112000"/>
              </a:lnSpc>
            </a:pPr>
            <a:r>
              <a:rPr sz="1000" b="0">
                <a:solidFill>
                  <a:srgbClr val="555555"/>
                </a:solidFill>
                <a:latin typeface="Arial"/>
                <a:ea typeface="Arial"/>
              </a:rPr>
              <a:t>선별 고객 1~2사 상주 · 미주 법인 협업</a:t>
            </a:r>
          </a:p>
        </p:txBody>
      </p:sp>
      <p:sp>
        <p:nvSpPr>
          <p:cNvPr id="122" name="Rectangle 121"/>
          <p:cNvSpPr/>
          <p:nvPr/>
        </p:nvSpPr>
        <p:spPr>
          <a:xfrm>
            <a:off x="6409944"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409944"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409944"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125" name="TextBox 124"/>
          <p:cNvSpPr txBox="1"/>
          <p:nvPr/>
        </p:nvSpPr>
        <p:spPr>
          <a:xfrm>
            <a:off x="7379208"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고객 시스템을 아는 시스템 SW 전문가 채용 · 양성</a:t>
            </a:r>
          </a:p>
        </p:txBody>
      </p:sp>
      <p:sp>
        <p:nvSpPr>
          <p:cNvPr id="126" name="TextBox 125"/>
          <p:cNvSpPr txBox="1"/>
          <p:nvPr/>
        </p:nvSpPr>
        <p:spPr>
          <a:xfrm>
            <a:off x="7379208"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채용 기준 = 고객 코드를 읽고 고치는가</a:t>
            </a:r>
          </a:p>
          <a:p>
            <a:pPr algn="l">
              <a:lnSpc>
                <a:spcPct val="112000"/>
              </a:lnSpc>
            </a:pPr>
            <a:r>
              <a:rPr sz="1000" b="0">
                <a:solidFill>
                  <a:srgbClr val="555555"/>
                </a:solidFill>
                <a:latin typeface="Arial"/>
                <a:ea typeface="Arial"/>
              </a:rPr>
              <a:t>본사 엔지니어 상주 로테이션 3~6개월</a:t>
            </a:r>
          </a:p>
          <a:p>
            <a:pPr algn="l">
              <a:lnSpc>
                <a:spcPct val="112000"/>
              </a:lnSpc>
            </a:pPr>
            <a:r>
              <a:rPr sz="1000" b="0">
                <a:solidFill>
                  <a:srgbClr val="555555"/>
                </a:solidFill>
                <a:latin typeface="Arial"/>
                <a:ea typeface="Arial"/>
              </a:rPr>
              <a:t>평가 = 머지 · 실측 공개 · 디자인인</a:t>
            </a:r>
          </a:p>
        </p:txBody>
      </p:sp>
      <p:sp>
        <p:nvSpPr>
          <p:cNvPr id="127" name="Rectangle 126"/>
          <p:cNvSpPr/>
          <p:nvPr/>
        </p:nvSpPr>
        <p:spPr>
          <a:xfrm>
            <a:off x="12097512"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2097512"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097512"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130" name="TextBox 129"/>
          <p:cNvSpPr txBox="1"/>
          <p:nvPr/>
        </p:nvSpPr>
        <p:spPr>
          <a:xfrm>
            <a:off x="13066776"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오픈소스 생태계를 주도하는 문화</a:t>
            </a:r>
          </a:p>
        </p:txBody>
      </p:sp>
      <p:sp>
        <p:nvSpPr>
          <p:cNvPr id="131" name="TextBox 130"/>
          <p:cNvSpPr txBox="1"/>
          <p:nvPr/>
        </p:nvSpPr>
        <p:spPr>
          <a:xfrm>
            <a:off x="13066776"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메인테이너 · 커미터 배출 · 업스트림 우선</a:t>
            </a:r>
          </a:p>
          <a:p>
            <a:pPr algn="l">
              <a:lnSpc>
                <a:spcPct val="112000"/>
              </a:lnSpc>
            </a:pPr>
            <a:r>
              <a:rPr sz="1000" b="0">
                <a:solidFill>
                  <a:srgbClr val="555555"/>
                </a:solidFill>
                <a:latin typeface="Arial"/>
                <a:ea typeface="Arial"/>
              </a:rPr>
              <a:t>KV 캐시 실측(WAF · 유효 DWPD) 업계 최초 공개</a:t>
            </a:r>
          </a:p>
        </p:txBody>
      </p:sp>
      <p:sp>
        <p:nvSpPr>
          <p:cNvPr id="132" name="Rectangle 13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4" name="TextBox 13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 상주로 고객 시스템에 들어가고, 전략적 협약으로 워크로드·규격 접근권을 받습니다. 두 수단 모두 업계 선례가 있습니다.</a:t>
            </a:r>
          </a:p>
          <a:p>
            <a:pPr algn="l">
              <a:lnSpc>
                <a:spcPct val="108000"/>
              </a:lnSpc>
            </a:pPr>
            <a:r>
              <a:rPr sz="1650" b="1">
                <a:solidFill>
                  <a:srgbClr val="FFFFFF"/>
                </a:solidFill>
                <a:latin typeface="Arial"/>
                <a:ea typeface="Arial"/>
              </a:rPr>
              <a:t>개발실은 조직·인사·문화 세 축을 그 실행에 맞춥니다</a:t>
            </a:r>
          </a:p>
        </p:txBody>
      </p:sp>
      <p:sp>
        <p:nvSpPr>
          <p:cNvPr id="135" name="Rectangle 13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7장 대응 기술 · 무엇을 확보</a:t>
            </a:r>
          </a:p>
        </p:txBody>
      </p:sp>
      <p:sp>
        <p:nvSpPr>
          <p:cNvPr id="138" name="TextBox 13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16건·$22B), SK hynix 뉴스룸, 내부 인터뷰(송용호 2026-09-03) · 규모·시점은 추정, 사내 수치는 [사내 확인]</a:t>
            </a:r>
          </a:p>
        </p:txBody>
      </p:sp>
      <p:sp>
        <p:nvSpPr>
          <p:cNvPr id="139" name="TextBox 13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a:t>
            </a:r>
          </a:p>
        </p:txBody>
      </p:sp>
      <p:sp>
        <p:nvSpPr>
          <p:cNvPr id="29" name="Rectangle 28"/>
          <p:cNvSpPr/>
          <p:nvPr/>
        </p:nvSpPr>
        <p:spPr>
          <a:xfrm>
            <a:off x="15466422"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감지와 재구성으로 흡수합니다.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6_waf_runtime.png"/>
          <p:cNvPicPr>
            <a:picLocks noChangeAspect="1"/>
          </p:cNvPicPr>
          <p:nvPr/>
        </p:nvPicPr>
        <p:blipFill>
          <a:blip r:embed="rId2"/>
          <a:stretch>
            <a:fillRect/>
          </a:stretch>
        </p:blipFill>
        <p:spPr>
          <a:xfrm>
            <a:off x="722376" y="2560320"/>
            <a:ext cx="6949440" cy="2960544"/>
          </a:xfrm>
          <a:prstGeom prst="rect">
            <a:avLst/>
          </a:prstGeom>
        </p:spPr>
      </p:pic>
      <p:sp>
        <p:nvSpPr>
          <p:cNvPr id="37" name="Rectangle 36"/>
          <p:cNvSpPr/>
          <p:nvPr/>
        </p:nvSpPr>
        <p:spPr>
          <a:xfrm>
            <a:off x="7946136"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47304"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관측</a:t>
            </a:r>
          </a:p>
        </p:txBody>
      </p:sp>
      <p:sp>
        <p:nvSpPr>
          <p:cNvPr id="39" name="TextBox 38"/>
          <p:cNvSpPr txBox="1"/>
          <p:nvPr/>
        </p:nvSpPr>
        <p:spPr>
          <a:xfrm>
            <a:off x="8147304"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핸들별 호스트 기록량 ÷ 물리 매체 기록량</a:t>
            </a:r>
          </a:p>
        </p:txBody>
      </p:sp>
      <p:sp>
        <p:nvSpPr>
          <p:cNvPr id="40" name="Rectangle 39"/>
          <p:cNvSpPr/>
          <p:nvPr/>
        </p:nvSpPr>
        <p:spPr>
          <a:xfrm>
            <a:off x="8147304"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57032"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초 단위 샘플링</a:t>
            </a:r>
          </a:p>
        </p:txBody>
      </p:sp>
      <p:sp>
        <p:nvSpPr>
          <p:cNvPr id="42" name="Rectangle 41"/>
          <p:cNvSpPr/>
          <p:nvPr/>
        </p:nvSpPr>
        <p:spPr>
          <a:xfrm>
            <a:off x="13039344"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240512"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감지 · 분류</a:t>
            </a:r>
          </a:p>
        </p:txBody>
      </p:sp>
      <p:sp>
        <p:nvSpPr>
          <p:cNvPr id="44" name="TextBox 43"/>
          <p:cNvSpPr txBox="1"/>
          <p:nvPr/>
        </p:nvSpPr>
        <p:spPr>
          <a:xfrm>
            <a:off x="13240512"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변화점 탐지 · 원인 추정</a:t>
            </a:r>
          </a:p>
        </p:txBody>
      </p:sp>
      <p:sp>
        <p:nvSpPr>
          <p:cNvPr id="45" name="Rectangle 44"/>
          <p:cNvSpPr/>
          <p:nvPr/>
        </p:nvSpPr>
        <p:spPr>
          <a:xfrm>
            <a:off x="13240512"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350240"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수명 오분류 · 핸들 간섭 · 힌트 손실</a:t>
            </a:r>
          </a:p>
        </p:txBody>
      </p:sp>
      <p:sp>
        <p:nvSpPr>
          <p:cNvPr id="47" name="Rectangle 46"/>
          <p:cNvSpPr/>
          <p:nvPr/>
        </p:nvSpPr>
        <p:spPr>
          <a:xfrm>
            <a:off x="13039344" y="4224528"/>
            <a:ext cx="4526280" cy="1298448"/>
          </a:xfrm>
          <a:prstGeom prst="rect">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240512"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대응</a:t>
            </a:r>
          </a:p>
        </p:txBody>
      </p:sp>
      <p:sp>
        <p:nvSpPr>
          <p:cNvPr id="49" name="TextBox 48"/>
          <p:cNvSpPr txBox="1"/>
          <p:nvPr/>
        </p:nvSpPr>
        <p:spPr>
          <a:xfrm>
            <a:off x="13240512"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런타임 재구성</a:t>
            </a:r>
          </a:p>
        </p:txBody>
      </p:sp>
      <p:sp>
        <p:nvSpPr>
          <p:cNvPr id="50" name="Rectangle 49"/>
          <p:cNvSpPr/>
          <p:nvPr/>
        </p:nvSpPr>
        <p:spPr>
          <a:xfrm>
            <a:off x="13240512" y="4846320"/>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3350240" y="4846320"/>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디바이스: FDP 구성 · RU 크기 · 핸들 재할당</a:t>
            </a:r>
          </a:p>
        </p:txBody>
      </p:sp>
      <p:sp>
        <p:nvSpPr>
          <p:cNvPr id="52" name="Rectangle 51"/>
          <p:cNvSpPr/>
          <p:nvPr/>
        </p:nvSpPr>
        <p:spPr>
          <a:xfrm>
            <a:off x="13240512" y="5138928"/>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3350240" y="5138928"/>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호스트: 캐시 정책 · 스트림 매핑</a:t>
            </a:r>
          </a:p>
        </p:txBody>
      </p:sp>
      <p:sp>
        <p:nvSpPr>
          <p:cNvPr id="54" name="Rectangle 53"/>
          <p:cNvSpPr/>
          <p:nvPr/>
        </p:nvSpPr>
        <p:spPr>
          <a:xfrm>
            <a:off x="7946136" y="4224528"/>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47304"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검증</a:t>
            </a:r>
          </a:p>
        </p:txBody>
      </p:sp>
      <p:sp>
        <p:nvSpPr>
          <p:cNvPr id="56" name="TextBox 55"/>
          <p:cNvSpPr txBox="1"/>
          <p:nvPr/>
        </p:nvSpPr>
        <p:spPr>
          <a:xfrm>
            <a:off x="8147304"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재측정 · 미달 시 롤백</a:t>
            </a:r>
          </a:p>
        </p:txBody>
      </p:sp>
      <p:sp>
        <p:nvSpPr>
          <p:cNvPr id="57" name="Rectangle 56"/>
          <p:cNvSpPr/>
          <p:nvPr/>
        </p:nvSpPr>
        <p:spPr>
          <a:xfrm>
            <a:off x="8147304" y="4846320"/>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57032" y="4846320"/>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대응 이력이 보증 근거</a:t>
            </a:r>
          </a:p>
        </p:txBody>
      </p:sp>
      <p:sp>
        <p:nvSpPr>
          <p:cNvPr id="59" name="Right Arrow 58"/>
          <p:cNvSpPr/>
          <p:nvPr/>
        </p:nvSpPr>
        <p:spPr>
          <a:xfrm>
            <a:off x="12563856" y="3099815"/>
            <a:ext cx="384048"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own Arrow 59"/>
          <p:cNvSpPr/>
          <p:nvPr/>
        </p:nvSpPr>
        <p:spPr>
          <a:xfrm>
            <a:off x="15192755" y="3913631"/>
            <a:ext cx="219456" cy="256032"/>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Left Arrow 60"/>
          <p:cNvSpPr/>
          <p:nvPr/>
        </p:nvSpPr>
        <p:spPr>
          <a:xfrm>
            <a:off x="12563856" y="4764024"/>
            <a:ext cx="384048" cy="219456"/>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Up Arrow 61"/>
          <p:cNvSpPr/>
          <p:nvPr/>
        </p:nvSpPr>
        <p:spPr>
          <a:xfrm>
            <a:off x="10099548" y="3913631"/>
            <a:ext cx="219456" cy="2560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46136" y="5596128"/>
            <a:ext cx="9619488" cy="237744"/>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목표 주기  </a:t>
            </a:r>
            <a:r>
              <a:rPr sz="1000" b="0">
                <a:solidFill>
                  <a:srgbClr val="555555"/>
                </a:solidFill>
                <a:latin typeface="Arial"/>
                <a:ea typeface="Arial"/>
              </a:rPr>
              <a:t>감지 1시간 · 회복 4시간 · 오실레이션 방지와 성능 영향 상한은 정책 엔진이 관리</a:t>
            </a:r>
          </a:p>
        </p:txBody>
      </p:sp>
      <p:sp>
        <p:nvSpPr>
          <p:cNvPr id="64" name="TextBox 63"/>
          <p:cNvSpPr txBox="1"/>
          <p:nvPr/>
        </p:nvSpPr>
        <p:spPr>
          <a:xfrm>
            <a:off x="722376" y="5961888"/>
            <a:ext cx="16843248"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기술 요소</a:t>
            </a:r>
            <a:r>
              <a:rPr sz="1050" b="0">
                <a:solidFill>
                  <a:srgbClr val="8A8A8A"/>
                </a:solidFill>
                <a:latin typeface="Arial"/>
                <a:ea typeface="Arial"/>
              </a:rPr>
              <a:t>   루프를 돌리려면 여섯 가지가 필요하고, 그중 셋은 지금 없습니다</a:t>
            </a:r>
          </a:p>
        </p:txBody>
      </p:sp>
      <p:sp>
        <p:nvSpPr>
          <p:cNvPr id="65" name="Rectangle 64"/>
          <p:cNvSpPr/>
          <p:nvPr/>
        </p:nvSpPr>
        <p:spPr>
          <a:xfrm>
            <a:off x="722376"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T1</a:t>
            </a:r>
          </a:p>
        </p:txBody>
      </p:sp>
      <p:sp>
        <p:nvSpPr>
          <p:cNvPr id="67" name="TextBox 66"/>
          <p:cNvSpPr txBox="1"/>
          <p:nvPr/>
        </p:nvSpPr>
        <p:spPr>
          <a:xfrm>
            <a:off x="1307592"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핸들별 WAF 텔레메트리</a:t>
            </a:r>
          </a:p>
        </p:txBody>
      </p:sp>
      <p:sp>
        <p:nvSpPr>
          <p:cNvPr id="68" name="Rectangle 67"/>
          <p:cNvSpPr/>
          <p:nvPr/>
        </p:nvSpPr>
        <p:spPr>
          <a:xfrm>
            <a:off x="4215383"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15383"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0" name="TextBox 69"/>
          <p:cNvSpPr txBox="1"/>
          <p:nvPr/>
        </p:nvSpPr>
        <p:spPr>
          <a:xfrm>
            <a:off x="4946904"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드라이브 단위 누적만(OCP C0) → 핸들별 · 초 단위</a:t>
            </a:r>
          </a:p>
        </p:txBody>
      </p:sp>
      <p:sp>
        <p:nvSpPr>
          <p:cNvPr id="71" name="Rectangle 70"/>
          <p:cNvSpPr/>
          <p:nvPr/>
        </p:nvSpPr>
        <p:spPr>
          <a:xfrm>
            <a:off x="9326880"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326880"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T2</a:t>
            </a:r>
          </a:p>
        </p:txBody>
      </p:sp>
      <p:sp>
        <p:nvSpPr>
          <p:cNvPr id="73" name="TextBox 72"/>
          <p:cNvSpPr txBox="1"/>
          <p:nvPr/>
        </p:nvSpPr>
        <p:spPr>
          <a:xfrm>
            <a:off x="9912096"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온디바이스 급등 감지</a:t>
            </a:r>
          </a:p>
        </p:txBody>
      </p:sp>
      <p:sp>
        <p:nvSpPr>
          <p:cNvPr id="74" name="Rectangle 73"/>
          <p:cNvSpPr/>
          <p:nvPr/>
        </p:nvSpPr>
        <p:spPr>
          <a:xfrm>
            <a:off x="12819888"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819888"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6" name="TextBox 75"/>
          <p:cNvSpPr txBox="1"/>
          <p:nvPr/>
        </p:nvSpPr>
        <p:spPr>
          <a:xfrm>
            <a:off x="13551408"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사후 로그 분석 → 변화점 탐지 · 오탐 억제</a:t>
            </a:r>
          </a:p>
        </p:txBody>
      </p:sp>
      <p:sp>
        <p:nvSpPr>
          <p:cNvPr id="77" name="Rectangle 76"/>
          <p:cNvSpPr/>
          <p:nvPr/>
        </p:nvSpPr>
        <p:spPr>
          <a:xfrm>
            <a:off x="722376"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2376"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T3</a:t>
            </a:r>
          </a:p>
        </p:txBody>
      </p:sp>
      <p:sp>
        <p:nvSpPr>
          <p:cNvPr id="79" name="TextBox 78"/>
          <p:cNvSpPr txBox="1"/>
          <p:nvPr/>
        </p:nvSpPr>
        <p:spPr>
          <a:xfrm>
            <a:off x="1307592"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무중단 FDP 재구성</a:t>
            </a:r>
          </a:p>
        </p:txBody>
      </p:sp>
      <p:sp>
        <p:nvSpPr>
          <p:cNvPr id="80" name="Rectangle 79"/>
          <p:cNvSpPr/>
          <p:nvPr/>
        </p:nvSpPr>
        <p:spPr>
          <a:xfrm>
            <a:off x="4215383"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215383"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2" name="TextBox 81"/>
          <p:cNvSpPr txBox="1"/>
          <p:nvPr/>
        </p:nvSpPr>
        <p:spPr>
          <a:xfrm>
            <a:off x="4946904"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구성이 네임스페이스 생성 시 고정 → 운영 중 전환</a:t>
            </a:r>
          </a:p>
        </p:txBody>
      </p:sp>
      <p:sp>
        <p:nvSpPr>
          <p:cNvPr id="83" name="Rectangle 82"/>
          <p:cNvSpPr/>
          <p:nvPr/>
        </p:nvSpPr>
        <p:spPr>
          <a:xfrm>
            <a:off x="9326880"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326880"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T4</a:t>
            </a:r>
          </a:p>
        </p:txBody>
      </p:sp>
      <p:sp>
        <p:nvSpPr>
          <p:cNvPr id="85" name="TextBox 84"/>
          <p:cNvSpPr txBox="1"/>
          <p:nvPr/>
        </p:nvSpPr>
        <p:spPr>
          <a:xfrm>
            <a:off x="9912096"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디바이스 → 호스트 경보</a:t>
            </a:r>
          </a:p>
        </p:txBody>
      </p:sp>
      <p:sp>
        <p:nvSpPr>
          <p:cNvPr id="86" name="Rectangle 85"/>
          <p:cNvSpPr/>
          <p:nvPr/>
        </p:nvSpPr>
        <p:spPr>
          <a:xfrm>
            <a:off x="12819888"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819888"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8" name="TextBox 87"/>
          <p:cNvSpPr txBox="1"/>
          <p:nvPr/>
        </p:nvSpPr>
        <p:spPr>
          <a:xfrm>
            <a:off x="13551408"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배치 열화를 알리는 규격 부재 → 이벤트 · 원인 코드</a:t>
            </a:r>
          </a:p>
        </p:txBody>
      </p:sp>
      <p:sp>
        <p:nvSpPr>
          <p:cNvPr id="89" name="Rectangle 88"/>
          <p:cNvSpPr/>
          <p:nvPr/>
        </p:nvSpPr>
        <p:spPr>
          <a:xfrm>
            <a:off x="722376" y="7296912"/>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7296912"/>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T5</a:t>
            </a:r>
          </a:p>
        </p:txBody>
      </p:sp>
      <p:sp>
        <p:nvSpPr>
          <p:cNvPr id="91" name="TextBox 90"/>
          <p:cNvSpPr txBox="1"/>
          <p:nvPr/>
        </p:nvSpPr>
        <p:spPr>
          <a:xfrm>
            <a:off x="1307592"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정책 엔진 · 안전장치</a:t>
            </a:r>
          </a:p>
        </p:txBody>
      </p:sp>
      <p:sp>
        <p:nvSpPr>
          <p:cNvPr id="92" name="Rectangle 91"/>
          <p:cNvSpPr/>
          <p:nvPr/>
        </p:nvSpPr>
        <p:spPr>
          <a:xfrm>
            <a:off x="4215383" y="7379208"/>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215383" y="7379208"/>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94" name="TextBox 93"/>
          <p:cNvSpPr txBox="1"/>
          <p:nvPr/>
        </p:nvSpPr>
        <p:spPr>
          <a:xfrm>
            <a:off x="4946904"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수동 조치 → 오실레이션 방지 · 상한 · 롤백</a:t>
            </a:r>
          </a:p>
        </p:txBody>
      </p:sp>
      <p:sp>
        <p:nvSpPr>
          <p:cNvPr id="95" name="Rectangle 94"/>
          <p:cNvSpPr/>
          <p:nvPr/>
        </p:nvSpPr>
        <p:spPr>
          <a:xfrm>
            <a:off x="9326880" y="7296912"/>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326880" y="7296912"/>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T6</a:t>
            </a:r>
          </a:p>
        </p:txBody>
      </p:sp>
      <p:sp>
        <p:nvSpPr>
          <p:cNvPr id="97" name="TextBox 96"/>
          <p:cNvSpPr txBox="1"/>
          <p:nvPr/>
        </p:nvSpPr>
        <p:spPr>
          <a:xfrm>
            <a:off x="9912096"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검증 환경</a:t>
            </a:r>
          </a:p>
        </p:txBody>
      </p:sp>
      <p:sp>
        <p:nvSpPr>
          <p:cNvPr id="98" name="Rectangle 97"/>
          <p:cNvSpPr/>
          <p:nvPr/>
        </p:nvSpPr>
        <p:spPr>
          <a:xfrm>
            <a:off x="12819888" y="7379208"/>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819888" y="7379208"/>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100" name="TextBox 99"/>
          <p:cNvSpPr txBox="1"/>
          <p:nvPr/>
        </p:nvSpPr>
        <p:spPr>
          <a:xfrm>
            <a:off x="13551408"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실드라이브 실험만 → FDP 에뮬레이터 · 트레이스 재생</a:t>
            </a:r>
          </a:p>
        </p:txBody>
      </p:sp>
      <p:sp>
        <p:nvSpPr>
          <p:cNvPr id="101" name="Rectangle 100"/>
          <p:cNvSpPr/>
          <p:nvPr/>
        </p:nvSpPr>
        <p:spPr>
          <a:xfrm>
            <a:off x="722376" y="7900415"/>
            <a:ext cx="16843248" cy="3657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22376" y="7900415"/>
            <a:ext cx="54864"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960120" y="7900415"/>
            <a:ext cx="16367760" cy="36576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T3 · T4는 NVMe · OCP 규격 제안이 함께 필요합니다  </a:t>
            </a:r>
            <a:r>
              <a:rPr sz="1000" b="0">
                <a:solidFill>
                  <a:srgbClr val="555555"/>
                </a:solidFill>
                <a:latin typeface="Arial"/>
                <a:ea typeface="Arial"/>
              </a:rPr>
              <a:t>보증은 관행대로 TBW 선도달을 유지하고, 유효 DWPD는 부가 표기, 대응 이력과 재측정 리포트를 계약 부속으로 둡니다</a:t>
            </a:r>
          </a:p>
        </p:txBody>
      </p:sp>
      <p:sp>
        <p:nvSpPr>
          <p:cNvPr id="104" name="Rectangle 103"/>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6" name="Rectangle 105"/>
          <p:cNvSpPr/>
          <p:nvPr/>
        </p:nvSpPr>
        <p:spPr>
          <a:xfrm>
            <a:off x="2551176"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697480"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1 문제</a:t>
            </a:r>
          </a:p>
          <a:p>
            <a:pPr algn="l">
              <a:lnSpc>
                <a:spcPct val="102000"/>
              </a:lnSpc>
            </a:pPr>
            <a:r>
              <a:rPr sz="900" b="0">
                <a:solidFill>
                  <a:srgbClr val="FFFFFF"/>
                </a:solidFill>
                <a:latin typeface="Arial"/>
                <a:ea typeface="Arial"/>
              </a:rPr>
              <a:t>고객과 함께 수요 설계</a:t>
            </a:r>
          </a:p>
          <a:p>
            <a:pPr algn="l">
              <a:lnSpc>
                <a:spcPct val="102000"/>
              </a:lnSpc>
            </a:pPr>
            <a:r>
              <a:rPr sz="900" b="0">
                <a:solidFill>
                  <a:srgbClr val="FFFFFF"/>
                </a:solidFill>
                <a:latin typeface="Arial"/>
                <a:ea typeface="Arial"/>
              </a:rPr>
              <a:t>QLC에 1~3 DWPD</a:t>
            </a:r>
          </a:p>
        </p:txBody>
      </p:sp>
      <p:sp>
        <p:nvSpPr>
          <p:cNvPr id="108" name="Right Arrow 107"/>
          <p:cNvSpPr/>
          <p:nvPr/>
        </p:nvSpPr>
        <p:spPr>
          <a:xfrm>
            <a:off x="439042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701322"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7626"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2 신뢰성</a:t>
            </a:r>
          </a:p>
          <a:p>
            <a:pPr algn="l">
              <a:lnSpc>
                <a:spcPct val="102000"/>
              </a:lnSpc>
            </a:pPr>
            <a:r>
              <a:rPr sz="900" b="0">
                <a:solidFill>
                  <a:srgbClr val="FFFFFF"/>
                </a:solidFill>
                <a:latin typeface="Arial"/>
                <a:ea typeface="Arial"/>
              </a:rPr>
              <a:t>다이 요구 10 ppm대</a:t>
            </a:r>
          </a:p>
          <a:p>
            <a:pPr algn="l">
              <a:lnSpc>
                <a:spcPct val="102000"/>
              </a:lnSpc>
            </a:pPr>
            <a:r>
              <a:rPr sz="900" b="0">
                <a:solidFill>
                  <a:srgbClr val="FFFFFF"/>
                </a:solidFill>
                <a:latin typeface="Arial"/>
                <a:ea typeface="Arial"/>
              </a:rPr>
              <a:t>SSD 내부 구조로</a:t>
            </a:r>
          </a:p>
        </p:txBody>
      </p:sp>
      <p:sp>
        <p:nvSpPr>
          <p:cNvPr id="111" name="Right Arrow 110"/>
          <p:cNvSpPr/>
          <p:nvPr/>
        </p:nvSpPr>
        <p:spPr>
          <a:xfrm>
            <a:off x="654057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851468"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6997772"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3 내구성</a:t>
            </a:r>
          </a:p>
          <a:p>
            <a:pPr algn="l">
              <a:lnSpc>
                <a:spcPct val="102000"/>
              </a:lnSpc>
            </a:pPr>
            <a:r>
              <a:rPr sz="900" b="0">
                <a:solidFill>
                  <a:srgbClr val="FFFFFF"/>
                </a:solidFill>
                <a:latin typeface="Arial"/>
                <a:ea typeface="Arial"/>
              </a:rPr>
              <a:t>잔여 변수는 WAF</a:t>
            </a:r>
          </a:p>
          <a:p>
            <a:pPr algn="l">
              <a:lnSpc>
                <a:spcPct val="102000"/>
              </a:lnSpc>
            </a:pPr>
            <a:r>
              <a:rPr sz="900" b="0">
                <a:solidFill>
                  <a:srgbClr val="FFFFFF"/>
                </a:solidFill>
                <a:latin typeface="Arial"/>
                <a:ea typeface="Arial"/>
              </a:rPr>
              <a:t>호스트가 결정</a:t>
            </a:r>
          </a:p>
        </p:txBody>
      </p:sp>
      <p:sp>
        <p:nvSpPr>
          <p:cNvPr id="114" name="Right Arrow 113"/>
          <p:cNvSpPr/>
          <p:nvPr/>
        </p:nvSpPr>
        <p:spPr>
          <a:xfrm>
            <a:off x="869071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9001614"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47918"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4 배치 힌트</a:t>
            </a:r>
          </a:p>
          <a:p>
            <a:pPr algn="l">
              <a:lnSpc>
                <a:spcPct val="102000"/>
              </a:lnSpc>
            </a:pPr>
            <a:r>
              <a:rPr sz="900" b="0">
                <a:solidFill>
                  <a:srgbClr val="FFFFFF"/>
                </a:solidFill>
                <a:latin typeface="Arial"/>
                <a:ea typeface="Arial"/>
              </a:rPr>
              <a:t>수명 분리로</a:t>
            </a:r>
          </a:p>
          <a:p>
            <a:pPr algn="l">
              <a:lnSpc>
                <a:spcPct val="102000"/>
              </a:lnSpc>
            </a:pPr>
            <a:r>
              <a:rPr sz="900" b="0">
                <a:solidFill>
                  <a:srgbClr val="FFFFFF"/>
                </a:solidFill>
                <a:latin typeface="Arial"/>
                <a:ea typeface="Arial"/>
              </a:rPr>
              <a:t>WAF 3 → 1</a:t>
            </a:r>
          </a:p>
        </p:txBody>
      </p:sp>
      <p:sp>
        <p:nvSpPr>
          <p:cNvPr id="117" name="Right Arrow 116"/>
          <p:cNvSpPr/>
          <p:nvPr/>
        </p:nvSpPr>
        <p:spPr>
          <a:xfrm>
            <a:off x="10840865"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1151761"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298065"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5 역량</a:t>
            </a:r>
          </a:p>
          <a:p>
            <a:pPr algn="l">
              <a:lnSpc>
                <a:spcPct val="102000"/>
              </a:lnSpc>
            </a:pPr>
            <a:r>
              <a:rPr sz="900" b="0">
                <a:solidFill>
                  <a:srgbClr val="FFFFFF"/>
                </a:solidFill>
                <a:latin typeface="Arial"/>
                <a:ea typeface="Arial"/>
              </a:rPr>
              <a:t>디바이스 → 워크로드</a:t>
            </a:r>
          </a:p>
          <a:p>
            <a:pPr algn="l">
              <a:lnSpc>
                <a:spcPct val="102000"/>
              </a:lnSpc>
            </a:pPr>
            <a:r>
              <a:rPr sz="900" b="0">
                <a:solidFill>
                  <a:srgbClr val="FFFFFF"/>
                </a:solidFill>
                <a:latin typeface="Arial"/>
                <a:ea typeface="Arial"/>
              </a:rPr>
              <a:t>→ 고객 시스템</a:t>
            </a:r>
          </a:p>
        </p:txBody>
      </p:sp>
      <p:sp>
        <p:nvSpPr>
          <p:cNvPr id="120" name="Right Arrow 119"/>
          <p:cNvSpPr/>
          <p:nvPr/>
        </p:nvSpPr>
        <p:spPr>
          <a:xfrm>
            <a:off x="12991011"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3301907"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3448211"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6 실행</a:t>
            </a:r>
          </a:p>
          <a:p>
            <a:pPr algn="l">
              <a:lnSpc>
                <a:spcPct val="102000"/>
              </a:lnSpc>
            </a:pPr>
            <a:r>
              <a:rPr sz="900" b="0">
                <a:solidFill>
                  <a:srgbClr val="FFFFFF"/>
                </a:solidFill>
                <a:latin typeface="Arial"/>
                <a:ea typeface="Arial"/>
              </a:rPr>
              <a:t>FDE 상주</a:t>
            </a:r>
          </a:p>
          <a:p>
            <a:pPr algn="l">
              <a:lnSpc>
                <a:spcPct val="102000"/>
              </a:lnSpc>
            </a:pPr>
            <a:r>
              <a:rPr sz="900" b="0">
                <a:solidFill>
                  <a:srgbClr val="FFFFFF"/>
                </a:solidFill>
                <a:latin typeface="Arial"/>
                <a:ea typeface="Arial"/>
              </a:rPr>
              <a:t>전략적 협약</a:t>
            </a:r>
          </a:p>
        </p:txBody>
      </p:sp>
      <p:sp>
        <p:nvSpPr>
          <p:cNvPr id="123" name="Right Arrow 122"/>
          <p:cNvSpPr/>
          <p:nvPr/>
        </p:nvSpPr>
        <p:spPr>
          <a:xfrm>
            <a:off x="15141157"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452053" y="8449056"/>
            <a:ext cx="1747810"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598357" y="8503920"/>
            <a:ext cx="1455202" cy="621792"/>
          </a:xfrm>
          <a:prstGeom prst="rect">
            <a:avLst/>
          </a:prstGeom>
          <a:noFill/>
        </p:spPr>
        <p:txBody>
          <a:bodyPr wrap="square" anchor="ctr" lIns="0" rIns="0" tIns="0" bIns="0">
            <a:spAutoFit/>
          </a:bodyPr>
          <a:lstStyle/>
          <a:p>
            <a:pPr algn="l">
              <a:lnSpc>
                <a:spcPct val="102000"/>
              </a:lnSpc>
            </a:pPr>
            <a:r>
              <a:rPr sz="1050" b="1">
                <a:solidFill>
                  <a:srgbClr val="1428A0"/>
                </a:solidFill>
                <a:latin typeface="Arial"/>
                <a:ea typeface="Arial"/>
              </a:rPr>
              <a:t>7 대응 기술</a:t>
            </a:r>
          </a:p>
          <a:p>
            <a:pPr algn="l">
              <a:lnSpc>
                <a:spcPct val="102000"/>
              </a:lnSpc>
            </a:pPr>
            <a:r>
              <a:rPr sz="900" b="1">
                <a:solidFill>
                  <a:srgbClr val="1A1A1A"/>
                </a:solidFill>
                <a:latin typeface="Arial"/>
                <a:ea typeface="Arial"/>
              </a:rPr>
              <a:t>급등 감지 ·</a:t>
            </a:r>
          </a:p>
          <a:p>
            <a:pPr algn="l">
              <a:lnSpc>
                <a:spcPct val="102000"/>
              </a:lnSpc>
            </a:pPr>
            <a:r>
              <a:rPr sz="900" b="1">
                <a:solidFill>
                  <a:srgbClr val="1A1A1A"/>
                </a:solidFill>
                <a:latin typeface="Arial"/>
                <a:ea typeface="Arial"/>
              </a:rPr>
              <a:t>런타임 재구성</a:t>
            </a:r>
          </a:p>
        </p:txBody>
      </p:sp>
      <p:sp>
        <p:nvSpPr>
          <p:cNvPr id="126" name="TextBox 12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27" name="TextBox 12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07 / 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