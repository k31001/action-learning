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배경 한 장입니다. 2022년은 QLC 주문의 해가 아니라 조건이 갖춰진 해였습니다: 전문 벤더(Solidigm) 출범, 하이퍼스케일러 주도 폼팩터(E1.S/E1.L), Meta·Google의 배치 표준 비준(2022-12), NAND 가격 급락, 학습 데이터셋 6배. 하이퍼스케일러가 원한 것은 HDD 대역폭 붕괴를 메우는 용량 계층(Meta: 10 MB/s/TB), 공급자가 판 것은 1U에 1PB의 TCO였습니다. 물량은 AI 추론 서버의 전력 효율이 우선순위가 된 2024년에 터졌습니다(TrendForce 30EB, 4배). 구매 기준은 TB당 원가·랙 밀도 → TB당 와트·공급 확보 → 유효 DWPD·토큰 경제성으로 이동합니다. 향후 3~5년 공급 부족 국면에서 HDD 대체는 커머디티 경쟁이라 들어가지 않고, KV cache 오프로드가 만드는 추론 캐시 티어를 QLC로 가져갑니다. 이 티어는 오늘 TLC(1~3 DWPD)가 서비스합니다. 그래프: 비트는 10배, 가격 정상화 기준선에서 매출은 정체, 진한 파랑은 호스트 협력 배치가 성립할 때의 조건부 상방.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다섯 축은 두 목표를 여는 수단입니다. 전략은 추론 캐시 티어 한 곳에 베팅하고 HDD 대체는 하지 않으며 창은 2027년 상반기까지입니다.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둡니다.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재무는 SCA·수명 보증 상품·지분으로 접근권을 사고 선급을 R&amp;D 재원으로 씁니다. 90일에 제품 정의·업스트림 PR·SCA 조항 제안·FDE Pod 1호, 1년에 자회사·FDE 2사 상주·CMX 인증·SCA 1건, 3년에 캐시 티어 QLC 25%+·SCA 3건입니다. 결정 요청 세 가지입니다.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트렌드 변화와 시장 흐름</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2022년에 정의되고 물량은 2024년에 터졌으며, 다음 무대는 추론 캐시 티어입니다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국면의 구매 기준이 어떻게 바뀌는지, 그리고 2030년까지의 수요·비중·매출입니다.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배경  </a:t>
            </a:r>
            <a:r>
              <a:rPr sz="1425" b="0">
                <a:solidFill>
                  <a:srgbClr val="555555"/>
                </a:solidFill>
                <a:latin typeface="Arial"/>
                <a:ea typeface="Arial"/>
              </a:rPr>
              <a:t>데이터 레이크 · HDD 대역폭 붕괴 · 배치 표준 비준</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1년 후발</a:t>
            </a:r>
          </a:p>
        </p:txBody>
      </p:sp>
      <p:sp>
        <p:nvSpPr>
          <p:cNvPr id="14" name="Right Arrow 13"/>
          <p:cNvSpPr/>
          <p:nvPr/>
        </p:nvSpPr>
        <p:spPr>
          <a:xfrm>
            <a:off x="6217920" y="3401568"/>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37376" y="2560320"/>
            <a:ext cx="5413248"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7" name="TextBox 16"/>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8" name="TextBox 17"/>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와트 · 공급 확보</a:t>
            </a:r>
          </a:p>
        </p:txBody>
      </p:sp>
      <p:sp>
        <p:nvSpPr>
          <p:cNvPr id="19" name="TextBox 18"/>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배경  </a:t>
            </a:r>
            <a:r>
              <a:rPr sz="1425" b="0">
                <a:solidFill>
                  <a:srgbClr val="555555"/>
                </a:solidFill>
                <a:latin typeface="Arial"/>
                <a:ea typeface="Arial"/>
              </a:rPr>
              <a:t>추론 서버 전력 효율 · 245TB 경쟁 · HDD 완판</a:t>
            </a:r>
          </a:p>
        </p:txBody>
      </p:sp>
      <p:sp>
        <p:nvSpPr>
          <p:cNvPr id="20" name="TextBox 19"/>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물량 1위(35.1%), 용량 후발</a:t>
            </a:r>
          </a:p>
        </p:txBody>
      </p:sp>
      <p:sp>
        <p:nvSpPr>
          <p:cNvPr id="21" name="Right Arrow 20"/>
          <p:cNvSpPr/>
          <p:nvPr/>
        </p:nvSpPr>
        <p:spPr>
          <a:xfrm>
            <a:off x="11932920" y="3401568"/>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152376" y="2560320"/>
            <a:ext cx="5413248" cy="18470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152376" y="2560320"/>
            <a:ext cx="73152" cy="18470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5" name="TextBox 24"/>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26" name="TextBox 25"/>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유효 DWPD · 토큰 경제성</a:t>
            </a:r>
          </a:p>
        </p:txBody>
      </p:sp>
      <p:sp>
        <p:nvSpPr>
          <p:cNvPr id="27" name="TextBox 26"/>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배경  </a:t>
            </a:r>
            <a:r>
              <a:rPr sz="1425" b="0">
                <a:solidFill>
                  <a:srgbClr val="555555"/>
                </a:solidFill>
                <a:latin typeface="Arial"/>
                <a:ea typeface="Arial"/>
              </a:rPr>
              <a:t>KV cache 오프로드 · 2027년 75~100EB</a:t>
            </a:r>
          </a:p>
        </p:txBody>
      </p:sp>
      <p:sp>
        <p:nvSpPr>
          <p:cNvPr id="28" name="TextBox 27"/>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연결 공백</a:t>
            </a:r>
          </a:p>
        </p:txBody>
      </p:sp>
      <p:sp>
        <p:nvSpPr>
          <p:cNvPr id="29" name="Rectangle 28"/>
          <p:cNvSpPr/>
          <p:nvPr/>
        </p:nvSpPr>
        <p:spPr>
          <a:xfrm>
            <a:off x="996696" y="4681728"/>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738274"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6946"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2022-12</a:t>
            </a:r>
          </a:p>
        </p:txBody>
      </p:sp>
      <p:sp>
        <p:nvSpPr>
          <p:cNvPr id="32" name="TextBox 31"/>
          <p:cNvSpPr txBox="1"/>
          <p:nvPr/>
        </p:nvSpPr>
        <p:spPr>
          <a:xfrm>
            <a:off x="256946"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배치 표준 비준(Meta·Google)</a:t>
            </a:r>
          </a:p>
        </p:txBody>
      </p:sp>
      <p:sp>
        <p:nvSpPr>
          <p:cNvPr id="33" name="Oval 32"/>
          <p:cNvSpPr/>
          <p:nvPr/>
        </p:nvSpPr>
        <p:spPr>
          <a:xfrm>
            <a:off x="4997196"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15868"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2023-07</a:t>
            </a:r>
          </a:p>
        </p:txBody>
      </p:sp>
      <p:sp>
        <p:nvSpPr>
          <p:cNvPr id="35" name="TextBox 34"/>
          <p:cNvSpPr txBox="1"/>
          <p:nvPr/>
        </p:nvSpPr>
        <p:spPr>
          <a:xfrm>
            <a:off x="3515868"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61TB QLC 세계 최초(Solidigm)</a:t>
            </a:r>
          </a:p>
        </p:txBody>
      </p:sp>
      <p:sp>
        <p:nvSpPr>
          <p:cNvPr id="36" name="Oval 35"/>
          <p:cNvSpPr/>
          <p:nvPr/>
        </p:nvSpPr>
        <p:spPr>
          <a:xfrm>
            <a:off x="8582009"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0681"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2024</a:t>
            </a:r>
          </a:p>
        </p:txBody>
      </p:sp>
      <p:sp>
        <p:nvSpPr>
          <p:cNvPr id="38" name="TextBox 37"/>
          <p:cNvSpPr txBox="1"/>
          <p:nvPr/>
        </p:nvSpPr>
        <p:spPr>
          <a:xfrm>
            <a:off x="7100681"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QLC eSSD 30EB, 전년 4배</a:t>
            </a:r>
          </a:p>
        </p:txBody>
      </p:sp>
      <p:sp>
        <p:nvSpPr>
          <p:cNvPr id="39" name="Oval 38"/>
          <p:cNvSpPr/>
          <p:nvPr/>
        </p:nvSpPr>
        <p:spPr>
          <a:xfrm>
            <a:off x="12166823"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85495"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2026-05</a:t>
            </a:r>
          </a:p>
        </p:txBody>
      </p:sp>
      <p:sp>
        <p:nvSpPr>
          <p:cNvPr id="41" name="TextBox 40"/>
          <p:cNvSpPr txBox="1"/>
          <p:nvPr/>
        </p:nvSpPr>
        <p:spPr>
          <a:xfrm>
            <a:off x="10685495"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245TB 첫 출하(Micron)</a:t>
            </a:r>
          </a:p>
        </p:txBody>
      </p:sp>
      <p:sp>
        <p:nvSpPr>
          <p:cNvPr id="42" name="Oval 41"/>
          <p:cNvSpPr/>
          <p:nvPr/>
        </p:nvSpPr>
        <p:spPr>
          <a:xfrm>
            <a:off x="15751637"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270309"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2027</a:t>
            </a:r>
          </a:p>
        </p:txBody>
      </p:sp>
      <p:sp>
        <p:nvSpPr>
          <p:cNvPr id="44" name="TextBox 43"/>
          <p:cNvSpPr txBox="1"/>
          <p:nvPr/>
        </p:nvSpPr>
        <p:spPr>
          <a:xfrm>
            <a:off x="14270309"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KV cache NAND 75~100EB</a:t>
            </a:r>
          </a:p>
        </p:txBody>
      </p:sp>
      <p:pic>
        <p:nvPicPr>
          <p:cNvPr id="45" name="Picture 44" descr="qlc_demand_share_revenue_slide.png"/>
          <p:cNvPicPr>
            <a:picLocks noChangeAspect="1"/>
          </p:cNvPicPr>
          <p:nvPr/>
        </p:nvPicPr>
        <p:blipFill>
          <a:blip r:embed="rId2"/>
          <a:stretch>
            <a:fillRect/>
          </a:stretch>
        </p:blipFill>
        <p:spPr>
          <a:xfrm>
            <a:off x="722376" y="5303520"/>
            <a:ext cx="10228217" cy="3182112"/>
          </a:xfrm>
          <a:prstGeom prst="rect">
            <a:avLst/>
          </a:prstGeom>
        </p:spPr>
      </p:pic>
      <p:sp>
        <p:nvSpPr>
          <p:cNvPr id="46" name="Rectangle 45"/>
          <p:cNvSpPr/>
          <p:nvPr/>
        </p:nvSpPr>
        <p:spPr>
          <a:xfrm>
            <a:off x="11224913" y="5303520"/>
            <a:ext cx="6340710" cy="3182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535809" y="5504688"/>
            <a:ext cx="5718918"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그래프가 말하는 것</a:t>
            </a:r>
          </a:p>
        </p:txBody>
      </p:sp>
      <p:sp>
        <p:nvSpPr>
          <p:cNvPr id="48" name="TextBox 47"/>
          <p:cNvSpPr txBox="1"/>
          <p:nvPr/>
        </p:nvSpPr>
        <p:spPr>
          <a:xfrm>
            <a:off x="11535809" y="5907024"/>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10배</a:t>
            </a:r>
          </a:p>
        </p:txBody>
      </p:sp>
      <p:sp>
        <p:nvSpPr>
          <p:cNvPr id="49" name="TextBox 48"/>
          <p:cNvSpPr txBox="1"/>
          <p:nvPr/>
        </p:nvSpPr>
        <p:spPr>
          <a:xfrm>
            <a:off x="13163441" y="5907024"/>
            <a:ext cx="4091286"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QLC 비트, 2025년 → 2030년</a:t>
            </a:r>
          </a:p>
        </p:txBody>
      </p:sp>
      <p:sp>
        <p:nvSpPr>
          <p:cNvPr id="50" name="TextBox 49"/>
          <p:cNvSpPr txBox="1"/>
          <p:nvPr/>
        </p:nvSpPr>
        <p:spPr>
          <a:xfrm>
            <a:off x="11535809" y="6510528"/>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정체</a:t>
            </a:r>
          </a:p>
        </p:txBody>
      </p:sp>
      <p:sp>
        <p:nvSpPr>
          <p:cNvPr id="51" name="TextBox 50"/>
          <p:cNvSpPr txBox="1"/>
          <p:nvPr/>
        </p:nvSpPr>
        <p:spPr>
          <a:xfrm>
            <a:off x="13163441" y="6510528"/>
            <a:ext cx="4091286"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QLC 매출, 2026년 $32B → 2030년 $37B(e)</a:t>
            </a:r>
          </a:p>
        </p:txBody>
      </p:sp>
      <p:sp>
        <p:nvSpPr>
          <p:cNvPr id="52" name="TextBox 51"/>
          <p:cNvSpPr txBox="1"/>
          <p:nvPr/>
        </p:nvSpPr>
        <p:spPr>
          <a:xfrm>
            <a:off x="11535809" y="7114032"/>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350EB</a:t>
            </a:r>
          </a:p>
        </p:txBody>
      </p:sp>
      <p:sp>
        <p:nvSpPr>
          <p:cNvPr id="53" name="TextBox 52"/>
          <p:cNvSpPr txBox="1"/>
          <p:nvPr/>
        </p:nvSpPr>
        <p:spPr>
          <a:xfrm>
            <a:off x="13163441" y="7114032"/>
            <a:ext cx="4091286"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2030년 추론 캐시 티어 수요(전 미디어)</a:t>
            </a:r>
          </a:p>
        </p:txBody>
      </p:sp>
      <p:sp>
        <p:nvSpPr>
          <p:cNvPr id="54" name="Rectangle 53"/>
          <p:cNvSpPr/>
          <p:nvPr/>
        </p:nvSpPr>
        <p:spPr>
          <a:xfrm>
            <a:off x="11535809" y="7735823"/>
            <a:ext cx="571891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535809" y="7808975"/>
            <a:ext cx="5718918" cy="621792"/>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이익은 비트가 아니라 시스템 위의 TCO에서 나옵니다</a:t>
            </a:r>
          </a:p>
        </p:txBody>
      </p:sp>
      <p:sp>
        <p:nvSpPr>
          <p:cNvPr id="56" name="Rectangle 55"/>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58" name="TextBox 57"/>
          <p:cNvSpPr txBox="1"/>
          <p:nvPr/>
        </p:nvSpPr>
        <p:spPr>
          <a:xfrm>
            <a:off x="2551176" y="8613648"/>
            <a:ext cx="14648688" cy="731520"/>
          </a:xfrm>
          <a:prstGeom prst="rect">
            <a:avLst/>
          </a:prstGeom>
          <a:noFill/>
        </p:spPr>
        <p:txBody>
          <a:bodyPr wrap="square" anchor="ctr" lIns="0" rIns="0" tIns="0" bIns="0">
            <a:spAutoFit/>
          </a:bodyPr>
          <a:lstStyle/>
          <a:p>
            <a:pPr algn="l">
              <a:lnSpc>
                <a:spcPct val="112000"/>
              </a:lnSpc>
            </a:pPr>
            <a:r>
              <a:rPr sz="2200" b="1">
                <a:solidFill>
                  <a:srgbClr val="FFFFFF"/>
                </a:solidFill>
                <a:latin typeface="Arial"/>
                <a:ea typeface="Arial"/>
              </a:rPr>
              <a:t>니어라인 HDD 대체 대신, 오늘 TLC가 서비스하는 추론 캐시 티어를 QLC로 가져갑니다</a:t>
            </a:r>
          </a:p>
        </p:txBody>
      </p:sp>
      <p:sp>
        <p:nvSpPr>
          <p:cNvPr id="59" name="TextBox 58"/>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60" name="TextBox 59"/>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QLC가 캐시 티어에 들어가려면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갭은 내구성·스트림·접점 세 가지이고 수단은 이미 있습니다. 고객 시스템 다섯 계층의 기술과 우리가 닿는 층, 삼성의 현 위치입니다.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KV-ready QLC: RUH 200+, 수명 보증 조건표</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트레이스 → RUH 정책 → WAF·DWPD 실측 공개</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메인라인 머지 · 공용 TCO 모델 · 공동 계약</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Palantir가 만든 FDE와 Micron이 Anthropic과 맺은 SCA가 두 목표의 선례입니다. 다섯 축이 길을 열고 90일·1년·3년으로 갑니다.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7880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7822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76402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663440"/>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34924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248655"/>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961888"/>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6053327"/>
            <a:ext cx="2898648" cy="457200"/>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자회사 · 현지 채용 시스템 SW 전문가 · 오픈소스 주도 문화가 뒤를 받칩니다</a:t>
            </a:r>
          </a:p>
        </p:txBody>
      </p:sp>
      <p:sp>
        <p:nvSpPr>
          <p:cNvPr id="21" name="Rectangle 20"/>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3" name="TextBox 22"/>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4" name="Rectangle 23"/>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6" name="Rectangle 25"/>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8" name="Rectangle 27"/>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0" name="Rectangle 29"/>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2" name="Oval 31"/>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 Same Side Corner Rectangle 32"/>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5" name="TextBox 34"/>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6" name="Picture 35"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7" name="Picture 36" descr="openai.png"/>
          <p:cNvPicPr>
            <a:picLocks noChangeAspect="1"/>
          </p:cNvPicPr>
          <p:nvPr/>
        </p:nvPicPr>
        <p:blipFill>
          <a:blip r:embed="rId3"/>
          <a:stretch>
            <a:fillRect/>
          </a:stretch>
        </p:blipFill>
        <p:spPr>
          <a:xfrm>
            <a:off x="15197326" y="6170781"/>
            <a:ext cx="532886" cy="130853"/>
          </a:xfrm>
          <a:prstGeom prst="rect">
            <a:avLst/>
          </a:prstGeom>
        </p:spPr>
      </p:pic>
      <p:pic>
        <p:nvPicPr>
          <p:cNvPr id="38" name="Picture 37" descr="nvidia.png"/>
          <p:cNvPicPr>
            <a:picLocks noChangeAspect="1"/>
          </p:cNvPicPr>
          <p:nvPr/>
        </p:nvPicPr>
        <p:blipFill>
          <a:blip r:embed="rId4"/>
          <a:stretch>
            <a:fillRect/>
          </a:stretch>
        </p:blipFill>
        <p:spPr>
          <a:xfrm>
            <a:off x="15828351" y="6170781"/>
            <a:ext cx="684696" cy="130853"/>
          </a:xfrm>
          <a:prstGeom prst="rect">
            <a:avLst/>
          </a:prstGeom>
        </p:spPr>
      </p:pic>
      <p:pic>
        <p:nvPicPr>
          <p:cNvPr id="39" name="Picture 38" descr="meta.png"/>
          <p:cNvPicPr>
            <a:picLocks noChangeAspect="1"/>
          </p:cNvPicPr>
          <p:nvPr/>
        </p:nvPicPr>
        <p:blipFill>
          <a:blip r:embed="rId5"/>
          <a:stretch>
            <a:fillRect/>
          </a:stretch>
        </p:blipFill>
        <p:spPr>
          <a:xfrm>
            <a:off x="16611188" y="6170781"/>
            <a:ext cx="643539" cy="130853"/>
          </a:xfrm>
          <a:prstGeom prst="rect">
            <a:avLst/>
          </a:prstGeom>
        </p:spPr>
      </p:pic>
      <p:sp>
        <p:nvSpPr>
          <p:cNvPr id="40" name="Right Arrow 39"/>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2" name="Rectangle 41"/>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4" name="Oval 43"/>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 Same Side Corner Rectangle 44"/>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 Same Side Corner Rectangle 46"/>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 Same Side Corner Rectangle 48"/>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ight Arrow 49"/>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3" name="TextBox 52"/>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4" name="Rectangle 53"/>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6" name="Rectangle 55"/>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8" name="Rectangle 57"/>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0" name="Rectangle 59"/>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2" name="Rectangle 61"/>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4" name="TextBox 63"/>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5" name="Left Arrow 64"/>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7" name="Rectangle 66"/>
          <p:cNvSpPr/>
          <p:nvPr/>
        </p:nvSpPr>
        <p:spPr>
          <a:xfrm>
            <a:off x="722376" y="6839712"/>
            <a:ext cx="3200400" cy="10058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2376" y="6839712"/>
            <a:ext cx="713232" cy="10058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22376" y="6839712"/>
            <a:ext cx="713232" cy="1005840"/>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전략</a:t>
            </a:r>
          </a:p>
        </p:txBody>
      </p:sp>
      <p:sp>
        <p:nvSpPr>
          <p:cNvPr id="70" name="TextBox 69"/>
          <p:cNvSpPr txBox="1"/>
          <p:nvPr/>
        </p:nvSpPr>
        <p:spPr>
          <a:xfrm>
            <a:off x="1545336" y="6839712"/>
            <a:ext cx="2286000" cy="1005840"/>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베팅: 추론 캐시 티어</a:t>
            </a:r>
          </a:p>
          <a:p>
            <a:pPr algn="l">
              <a:lnSpc>
                <a:spcPct val="106000"/>
              </a:lnSpc>
            </a:pPr>
            <a:r>
              <a:rPr sz="1200" b="0">
                <a:solidFill>
                  <a:srgbClr val="555555"/>
                </a:solidFill>
                <a:latin typeface="Arial"/>
                <a:ea typeface="Arial"/>
              </a:rPr>
              <a:t>HDD 대체는 안 함</a:t>
            </a:r>
          </a:p>
          <a:p>
            <a:pPr algn="l">
              <a:lnSpc>
                <a:spcPct val="106000"/>
              </a:lnSpc>
            </a:pPr>
            <a:r>
              <a:rPr sz="1200" b="0">
                <a:solidFill>
                  <a:srgbClr val="555555"/>
                </a:solidFill>
                <a:latin typeface="Arial"/>
                <a:ea typeface="Arial"/>
              </a:rPr>
              <a:t>창은 2027년 상반기까지</a:t>
            </a:r>
          </a:p>
        </p:txBody>
      </p:sp>
      <p:sp>
        <p:nvSpPr>
          <p:cNvPr id="71" name="Rectangle 70"/>
          <p:cNvSpPr/>
          <p:nvPr/>
        </p:nvSpPr>
        <p:spPr>
          <a:xfrm>
            <a:off x="4133087" y="6839712"/>
            <a:ext cx="3200400" cy="10058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133087" y="6839712"/>
            <a:ext cx="713232" cy="10058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133087" y="6839712"/>
            <a:ext cx="713232" cy="1005840"/>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조직</a:t>
            </a:r>
          </a:p>
        </p:txBody>
      </p:sp>
      <p:sp>
        <p:nvSpPr>
          <p:cNvPr id="74" name="TextBox 73"/>
          <p:cNvSpPr txBox="1"/>
          <p:nvPr/>
        </p:nvSpPr>
        <p:spPr>
          <a:xfrm>
            <a:off x="4956048" y="6839712"/>
            <a:ext cx="2286000" cy="1005840"/>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SV 소프트웨어 자회사</a:t>
            </a:r>
          </a:p>
          <a:p>
            <a:pPr algn="l">
              <a:lnSpc>
                <a:spcPct val="106000"/>
              </a:lnSpc>
            </a:pPr>
            <a:r>
              <a:rPr sz="1200" b="0">
                <a:solidFill>
                  <a:srgbClr val="555555"/>
                </a:solidFill>
                <a:latin typeface="Arial"/>
                <a:ea typeface="Arial"/>
              </a:rPr>
              <a:t>FDE Pod 고객 상주</a:t>
            </a:r>
          </a:p>
          <a:p>
            <a:pPr algn="l">
              <a:lnSpc>
                <a:spcPct val="106000"/>
              </a:lnSpc>
            </a:pPr>
            <a:r>
              <a:rPr sz="1200" b="0">
                <a:solidFill>
                  <a:srgbClr val="555555"/>
                </a:solidFill>
                <a:latin typeface="Arial"/>
                <a:ea typeface="Arial"/>
              </a:rPr>
              <a:t>시스템 SW 조직 강화</a:t>
            </a:r>
          </a:p>
        </p:txBody>
      </p:sp>
      <p:sp>
        <p:nvSpPr>
          <p:cNvPr id="75" name="Rectangle 74"/>
          <p:cNvSpPr/>
          <p:nvPr/>
        </p:nvSpPr>
        <p:spPr>
          <a:xfrm>
            <a:off x="7543800" y="6839712"/>
            <a:ext cx="3200400" cy="10058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543800" y="6839712"/>
            <a:ext cx="713232" cy="10058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543800" y="6839712"/>
            <a:ext cx="713232" cy="1005840"/>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인사</a:t>
            </a:r>
          </a:p>
        </p:txBody>
      </p:sp>
      <p:sp>
        <p:nvSpPr>
          <p:cNvPr id="78" name="TextBox 77"/>
          <p:cNvSpPr txBox="1"/>
          <p:nvPr/>
        </p:nvSpPr>
        <p:spPr>
          <a:xfrm>
            <a:off x="8366760" y="6839712"/>
            <a:ext cx="2286000" cy="1005840"/>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시스템 SW 전문가 채용·양성</a:t>
            </a:r>
          </a:p>
          <a:p>
            <a:pPr algn="l">
              <a:lnSpc>
                <a:spcPct val="106000"/>
              </a:lnSpc>
            </a:pPr>
            <a:r>
              <a:rPr sz="1200" b="0">
                <a:solidFill>
                  <a:srgbClr val="555555"/>
                </a:solidFill>
                <a:latin typeface="Arial"/>
                <a:ea typeface="Arial"/>
              </a:rPr>
              <a:t>기준: 고객 시스템 이해</a:t>
            </a:r>
          </a:p>
          <a:p>
            <a:pPr algn="l">
              <a:lnSpc>
                <a:spcPct val="106000"/>
              </a:lnSpc>
            </a:pPr>
            <a:r>
              <a:rPr sz="1200" b="0">
                <a:solidFill>
                  <a:srgbClr val="555555"/>
                </a:solidFill>
                <a:latin typeface="Arial"/>
                <a:ea typeface="Arial"/>
              </a:rPr>
              <a:t>미주 현지 채용 확대 · 별도 보상</a:t>
            </a:r>
          </a:p>
        </p:txBody>
      </p:sp>
      <p:sp>
        <p:nvSpPr>
          <p:cNvPr id="79" name="Rectangle 78"/>
          <p:cNvSpPr/>
          <p:nvPr/>
        </p:nvSpPr>
        <p:spPr>
          <a:xfrm>
            <a:off x="10954512" y="6839712"/>
            <a:ext cx="3200400" cy="10058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954512" y="6839712"/>
            <a:ext cx="713232" cy="10058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54512" y="6839712"/>
            <a:ext cx="713232" cy="1005840"/>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문화</a:t>
            </a:r>
          </a:p>
        </p:txBody>
      </p:sp>
      <p:sp>
        <p:nvSpPr>
          <p:cNvPr id="82" name="TextBox 81"/>
          <p:cNvSpPr txBox="1"/>
          <p:nvPr/>
        </p:nvSpPr>
        <p:spPr>
          <a:xfrm>
            <a:off x="11777472" y="6839712"/>
            <a:ext cx="2286000" cy="1005840"/>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오픈소스 생태계를 주도</a:t>
            </a:r>
          </a:p>
          <a:p>
            <a:pPr algn="l">
              <a:lnSpc>
                <a:spcPct val="106000"/>
              </a:lnSpc>
            </a:pPr>
            <a:r>
              <a:rPr sz="1200" b="0">
                <a:solidFill>
                  <a:srgbClr val="555555"/>
                </a:solidFill>
                <a:latin typeface="Arial"/>
                <a:ea typeface="Arial"/>
              </a:rPr>
              <a:t>메인테이너·커미터 배출</a:t>
            </a:r>
          </a:p>
          <a:p>
            <a:pPr algn="l">
              <a:lnSpc>
                <a:spcPct val="106000"/>
              </a:lnSpc>
            </a:pPr>
            <a:r>
              <a:rPr sz="1200" b="0">
                <a:solidFill>
                  <a:srgbClr val="555555"/>
                </a:solidFill>
                <a:latin typeface="Arial"/>
                <a:ea typeface="Arial"/>
              </a:rPr>
              <a:t>업스트림 우선 · 실측 공개</a:t>
            </a:r>
          </a:p>
        </p:txBody>
      </p:sp>
      <p:sp>
        <p:nvSpPr>
          <p:cNvPr id="83" name="Rectangle 82"/>
          <p:cNvSpPr/>
          <p:nvPr/>
        </p:nvSpPr>
        <p:spPr>
          <a:xfrm>
            <a:off x="14365224" y="6839712"/>
            <a:ext cx="3200400" cy="10058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4365224" y="6839712"/>
            <a:ext cx="713232" cy="10058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4365224" y="6839712"/>
            <a:ext cx="713232" cy="1005840"/>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재무</a:t>
            </a:r>
          </a:p>
        </p:txBody>
      </p:sp>
      <p:sp>
        <p:nvSpPr>
          <p:cNvPr id="86" name="TextBox 85"/>
          <p:cNvSpPr txBox="1"/>
          <p:nvPr/>
        </p:nvSpPr>
        <p:spPr>
          <a:xfrm>
            <a:off x="15188184" y="6839712"/>
            <a:ext cx="2286000" cy="1005840"/>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SCA · 수명 보증 상품</a:t>
            </a:r>
          </a:p>
          <a:p>
            <a:pPr algn="l">
              <a:lnSpc>
                <a:spcPct val="106000"/>
              </a:lnSpc>
            </a:pPr>
            <a:r>
              <a:rPr sz="1200" b="0">
                <a:solidFill>
                  <a:srgbClr val="555555"/>
                </a:solidFill>
                <a:latin typeface="Arial"/>
                <a:ea typeface="Arial"/>
              </a:rPr>
              <a:t>지분으로 접근권</a:t>
            </a:r>
          </a:p>
          <a:p>
            <a:pPr algn="l">
              <a:lnSpc>
                <a:spcPct val="106000"/>
              </a:lnSpc>
            </a:pPr>
            <a:r>
              <a:rPr sz="1200" b="0">
                <a:solidFill>
                  <a:srgbClr val="555555"/>
                </a:solidFill>
                <a:latin typeface="Arial"/>
                <a:ea typeface="Arial"/>
              </a:rPr>
              <a:t>선급이 R&amp;D 재원</a:t>
            </a:r>
          </a:p>
        </p:txBody>
      </p:sp>
      <p:sp>
        <p:nvSpPr>
          <p:cNvPr id="87" name="Rectangle 86"/>
          <p:cNvSpPr/>
          <p:nvPr/>
        </p:nvSpPr>
        <p:spPr>
          <a:xfrm>
            <a:off x="905256" y="8357615"/>
            <a:ext cx="1647748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32104" y="829360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88136" y="8046719"/>
            <a:ext cx="5157216" cy="274320"/>
          </a:xfrm>
          <a:prstGeom prst="rect">
            <a:avLst/>
          </a:prstGeom>
          <a:noFill/>
        </p:spPr>
        <p:txBody>
          <a:bodyPr wrap="square" anchor="ctr" lIns="0" rIns="0" tIns="0" bIns="0">
            <a:spAutoFit/>
          </a:bodyPr>
          <a:lstStyle/>
          <a:p>
            <a:pPr algn="l">
              <a:lnSpc>
                <a:spcPct val="112000"/>
              </a:lnSpc>
            </a:pPr>
            <a:r>
              <a:rPr sz="1425" b="1">
                <a:solidFill>
                  <a:srgbClr val="1428A0"/>
                </a:solidFill>
                <a:latin typeface="Arial"/>
                <a:ea typeface="Arial"/>
              </a:rPr>
              <a:t>90일  </a:t>
            </a:r>
            <a:r>
              <a:rPr sz="1350" b="0">
                <a:solidFill>
                  <a:srgbClr val="555555"/>
                </a:solidFill>
                <a:latin typeface="Arial"/>
                <a:ea typeface="Arial"/>
              </a:rPr>
              <a:t>제품 정의 · 업스트림 PR · SCA 조항 제안 · FDE Pod 1호</a:t>
            </a:r>
          </a:p>
        </p:txBody>
      </p:sp>
      <p:sp>
        <p:nvSpPr>
          <p:cNvPr id="90" name="Oval 89"/>
          <p:cNvSpPr/>
          <p:nvPr/>
        </p:nvSpPr>
        <p:spPr>
          <a:xfrm>
            <a:off x="6446520" y="829360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702552" y="8046719"/>
            <a:ext cx="5157216" cy="274320"/>
          </a:xfrm>
          <a:prstGeom prst="rect">
            <a:avLst/>
          </a:prstGeom>
          <a:noFill/>
        </p:spPr>
        <p:txBody>
          <a:bodyPr wrap="square" anchor="ctr" lIns="0" rIns="0" tIns="0" bIns="0">
            <a:spAutoFit/>
          </a:bodyPr>
          <a:lstStyle/>
          <a:p>
            <a:pPr algn="l">
              <a:lnSpc>
                <a:spcPct val="112000"/>
              </a:lnSpc>
            </a:pPr>
            <a:r>
              <a:rPr sz="1425" b="1">
                <a:solidFill>
                  <a:srgbClr val="1428A0"/>
                </a:solidFill>
                <a:latin typeface="Arial"/>
                <a:ea typeface="Arial"/>
              </a:rPr>
              <a:t>1년  </a:t>
            </a:r>
            <a:r>
              <a:rPr sz="1350" b="0">
                <a:solidFill>
                  <a:srgbClr val="555555"/>
                </a:solidFill>
                <a:latin typeface="Arial"/>
                <a:ea typeface="Arial"/>
              </a:rPr>
              <a:t>자회사 · FDE 2사 상주 · CMX 인증 · SCA 1건</a:t>
            </a:r>
          </a:p>
        </p:txBody>
      </p:sp>
      <p:sp>
        <p:nvSpPr>
          <p:cNvPr id="92" name="Oval 91"/>
          <p:cNvSpPr/>
          <p:nvPr/>
        </p:nvSpPr>
        <p:spPr>
          <a:xfrm>
            <a:off x="12060936" y="829360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316967" y="8046719"/>
            <a:ext cx="5157216" cy="274320"/>
          </a:xfrm>
          <a:prstGeom prst="rect">
            <a:avLst/>
          </a:prstGeom>
          <a:noFill/>
        </p:spPr>
        <p:txBody>
          <a:bodyPr wrap="square" anchor="ctr" lIns="0" rIns="0" tIns="0" bIns="0">
            <a:spAutoFit/>
          </a:bodyPr>
          <a:lstStyle/>
          <a:p>
            <a:pPr algn="l">
              <a:lnSpc>
                <a:spcPct val="112000"/>
              </a:lnSpc>
            </a:pPr>
            <a:r>
              <a:rPr sz="1425" b="1">
                <a:solidFill>
                  <a:srgbClr val="1428A0"/>
                </a:solidFill>
                <a:latin typeface="Arial"/>
                <a:ea typeface="Arial"/>
              </a:rPr>
              <a:t>3년  </a:t>
            </a:r>
            <a:r>
              <a:rPr sz="1350" b="0">
                <a:solidFill>
                  <a:srgbClr val="555555"/>
                </a:solidFill>
                <a:latin typeface="Arial"/>
                <a:ea typeface="Arial"/>
              </a:rPr>
              <a:t>캐시 티어 QLC 25%+ · SCA 3건 · 기본 백엔드</a:t>
            </a:r>
          </a:p>
        </p:txBody>
      </p:sp>
      <p:sp>
        <p:nvSpPr>
          <p:cNvPr id="94" name="Rectangle 93"/>
          <p:cNvSpPr/>
          <p:nvPr/>
        </p:nvSpPr>
        <p:spPr>
          <a:xfrm>
            <a:off x="722376" y="8705088"/>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133856" y="8705088"/>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결정 요청</a:t>
            </a:r>
          </a:p>
        </p:txBody>
      </p:sp>
      <p:sp>
        <p:nvSpPr>
          <p:cNvPr id="96" name="TextBox 95"/>
          <p:cNvSpPr txBox="1"/>
          <p:nvPr/>
        </p:nvSpPr>
        <p:spPr>
          <a:xfrm>
            <a:off x="2551176" y="8705088"/>
            <a:ext cx="14648688" cy="694944"/>
          </a:xfrm>
          <a:prstGeom prst="rect">
            <a:avLst/>
          </a:prstGeom>
          <a:noFill/>
        </p:spPr>
        <p:txBody>
          <a:bodyPr wrap="square" anchor="ctr" lIns="0" rIns="0" tIns="0" bIns="0">
            <a:spAutoFit/>
          </a:bodyPr>
          <a:lstStyle/>
          <a:p>
            <a:pPr algn="l">
              <a:lnSpc>
                <a:spcPct val="112000"/>
              </a:lnSpc>
            </a:pPr>
            <a:r>
              <a:rPr sz="1900" b="1">
                <a:solidFill>
                  <a:srgbClr val="FFFFFF"/>
                </a:solidFill>
                <a:latin typeface="Arial"/>
                <a:ea typeface="Arial"/>
              </a:rPr>
              <a:t>① 자회사 설립 · 별도 보상 · 미주 현지 채용 승인   ② Anthropic SCA 공동 설계 조항 · NVIDIA 기술 협의 착수   ③ FDE Pod 1호 발족</a:t>
            </a:r>
          </a:p>
        </p:txBody>
      </p:sp>
      <p:sp>
        <p:nvSpPr>
          <p:cNvPr id="97" name="TextBox 9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98" name="TextBox 9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