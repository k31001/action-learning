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56032"/>
            <a:ext cx="1133215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다운턴의 다섯 갈래:  </a:t>
            </a:r>
            <a:r>
              <a:rPr sz="2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꺼지는 수요가 둘, 넘치는 공급이 둘, 바뀌는 판이 하나다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29768" y="694944"/>
            <a:ext cx="11332159" cy="0"/>
          </a:xfrm>
          <a:prstGeom prst="line">
            <a:avLst/>
          </a:prstGeom>
          <a:ln w="17780">
            <a:solidFill>
              <a:srgbClr val="1428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435608" y="859536"/>
            <a:ext cx="4064690" cy="310896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35608" y="928115"/>
            <a:ext cx="406469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수요가 꺼진다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10026" y="859536"/>
            <a:ext cx="4064690" cy="310896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10026" y="928115"/>
            <a:ext cx="406469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공급이 넘친다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445" y="859536"/>
            <a:ext cx="1977481" cy="310896"/>
          </a:xfrm>
          <a:prstGeom prst="roundRect">
            <a:avLst>
              <a:gd name="adj" fmla="val 12000"/>
            </a:avLst>
          </a:prstGeom>
          <a:solidFill>
            <a:srgbClr val="F6F6F7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445" y="928115"/>
            <a:ext cx="197748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전환발</a:t>
            </a:r>
            <a:r>
              <a:rPr sz="11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 · 판이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1316736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투자 자금이 끊긴다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563624"/>
            <a:ext cx="197748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조달 경색 ·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DT-A 급제동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2817" y="1316736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필요량이 줄어든다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2817" y="1563624"/>
            <a:ext cx="197748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원단위 감소 ·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DT-B 긴 하산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0026" y="1316736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기존 3사가 쏟아낸다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0026" y="1563624"/>
            <a:ext cx="197748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증설 동시 도래 ·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DT-C 동시 방류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7236" y="1316736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신흥이 파고든다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7236" y="1563624"/>
            <a:ext cx="197748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보조금 공급 ·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DT-D 저가 잠식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445" y="1316736"/>
            <a:ext cx="197748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제품 정의가 바뀐다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445" y="1563624"/>
            <a:ext cx="1977481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기술 대체 ·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DT-E 판 갈이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67953" y="1298448"/>
            <a:ext cx="0" cy="4443984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55162" y="1298448"/>
            <a:ext cx="0" cy="4443984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42372" y="1298448"/>
            <a:ext cx="0" cy="4443984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29581" y="1298448"/>
            <a:ext cx="0" cy="4443984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9768" y="1938528"/>
            <a:ext cx="877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그날의</a:t>
            </a:r>
          </a:p>
          <a:p>
            <a:pPr algn="r">
              <a:lnSpc>
                <a:spcPct val="115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헤드라인</a:t>
            </a:r>
          </a:p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(가상)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35608" y="1847088"/>
            <a:ext cx="1977481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35608" y="1847088"/>
            <a:ext cx="1977481" cy="320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27048" y="1975104"/>
            <a:ext cx="179460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「AI 인프라 자금줄 경색,</a:t>
            </a:r>
          </a:p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데이터센터 발주 일제히 보류」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2817" y="1847088"/>
            <a:ext cx="1977481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2817" y="1847088"/>
            <a:ext cx="1977481" cy="320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4257" y="1975104"/>
            <a:ext cx="179460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「AI는 호황인데 메모리는</a:t>
            </a:r>
          </a:p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제자리… 효율화의 역설」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10026" y="1847088"/>
            <a:ext cx="1977481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10026" y="1847088"/>
            <a:ext cx="1977481" cy="320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1466" y="1975104"/>
            <a:ext cx="179460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「신규 팹 동시 가동에 공급</a:t>
            </a:r>
          </a:p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과잉… 치킨게임 재점화 우려」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97236" y="1847088"/>
            <a:ext cx="1977481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97236" y="1847088"/>
            <a:ext cx="1977481" cy="320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88676" y="1975104"/>
            <a:ext cx="179460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「중국산 메모리 범용 시장</a:t>
            </a:r>
          </a:p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잠식… 가격 하단이 사라졌다」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445" y="1847088"/>
            <a:ext cx="1977481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445" y="1847088"/>
            <a:ext cx="1977481" cy="320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885" y="1975104"/>
            <a:ext cx="179460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「HBM 시대 저무나…</a:t>
            </a:r>
          </a:p>
          <a:p>
            <a:pPr algn="l">
              <a:lnSpc>
                <a:spcPct val="122000"/>
              </a:lnSpc>
            </a:pP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주문은 차세대 메모리로」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2798064"/>
            <a:ext cx="8778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제품 파급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1447" y="2798064"/>
            <a:ext cx="38404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▼▼ 급감 · ▼ 감소 · ─ 유지 · ▲ 증가 · ▲▲ 급증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5608" y="3191256"/>
            <a:ext cx="988740" cy="1472184"/>
          </a:xfrm>
          <a:prstGeom prst="roundRect">
            <a:avLst>
              <a:gd name="adj" fmla="val 6000"/>
            </a:avLst>
          </a:prstGeom>
          <a:solidFill>
            <a:srgbClr val="E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608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4348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공급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2817" y="3191256"/>
            <a:ext cx="988740" cy="1472184"/>
          </a:xfrm>
          <a:prstGeom prst="roundRect">
            <a:avLst>
              <a:gd name="adj" fmla="val 6000"/>
            </a:avLst>
          </a:prstGeom>
          <a:solidFill>
            <a:srgbClr val="E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2817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1558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공급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98767" y="3191256"/>
            <a:ext cx="988740" cy="1472184"/>
          </a:xfrm>
          <a:prstGeom prst="roundRect">
            <a:avLst>
              <a:gd name="adj" fmla="val 6000"/>
            </a:avLst>
          </a:prstGeom>
          <a:solidFill>
            <a:srgbClr val="E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10026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수요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8767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5977" y="3191256"/>
            <a:ext cx="988740" cy="1472184"/>
          </a:xfrm>
          <a:prstGeom prst="roundRect">
            <a:avLst>
              <a:gd name="adj" fmla="val 6000"/>
            </a:avLst>
          </a:prstGeom>
          <a:solidFill>
            <a:srgbClr val="E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97236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수요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5977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84445" y="3191256"/>
            <a:ext cx="988740" cy="1472184"/>
          </a:xfrm>
          <a:prstGeom prst="roundRect">
            <a:avLst>
              <a:gd name="adj" fmla="val 6000"/>
            </a:avLst>
          </a:prstGeom>
          <a:solidFill>
            <a:srgbClr val="E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84445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73186" y="3035808"/>
            <a:ext cx="9887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공급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3314700"/>
            <a:ext cx="877824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35608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▼▼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4348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22817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11558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10026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98767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97236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5977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445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▼▼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73186" y="3296412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3666744"/>
            <a:ext cx="877824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435608" y="3575303"/>
            <a:ext cx="10326319" cy="0"/>
          </a:xfrm>
          <a:prstGeom prst="line">
            <a:avLst/>
          </a:prstGeom>
          <a:ln w="508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35608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▼▼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24348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22817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11558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10026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98767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97236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5977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84445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73186" y="3648456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4018788"/>
            <a:ext cx="877824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435608" y="3927348"/>
            <a:ext cx="10326319" cy="0"/>
          </a:xfrm>
          <a:prstGeom prst="line">
            <a:avLst/>
          </a:prstGeom>
          <a:ln w="508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435608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24348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22817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11558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10026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98767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▲▲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97236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5977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▲▲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445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73186" y="4000500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" y="4370832"/>
            <a:ext cx="877824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435608" y="4279392"/>
            <a:ext cx="10326319" cy="0"/>
          </a:xfrm>
          <a:prstGeom prst="line">
            <a:avLst/>
          </a:prstGeom>
          <a:ln w="508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435608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▼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24348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22817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11558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10026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98767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▲▲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97236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85977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▲▲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445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73186" y="4352544"/>
            <a:ext cx="9887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D9D9D9"/>
                </a:solidFill>
                <a:latin typeface="SamsungOneKorean"/>
                <a:ea typeface="SamsungOneKorean"/>
                <a:cs typeface="SamsungOneKorean"/>
              </a:rPr>
              <a:t>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9768" y="4937759"/>
            <a:ext cx="877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풀어야 할</a:t>
            </a:r>
          </a:p>
          <a:p>
            <a:pPr algn="r">
              <a:lnSpc>
                <a:spcPct val="115000"/>
              </a:lnSpc>
            </a:pPr>
            <a:r>
              <a:rPr sz="1000" b="1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문제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35608" y="4901183"/>
            <a:ext cx="32004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54480" y="4910328"/>
            <a:ext cx="185860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팔 곳이 사라진 고부가 캐파,</a:t>
            </a:r>
          </a:p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어디로 돌릴 것인가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22817" y="4901183"/>
            <a:ext cx="32004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41689" y="4910328"/>
            <a:ext cx="185860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경보 없는 하강,</a:t>
            </a:r>
          </a:p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무엇으로 감지할 것인가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610026" y="4901183"/>
            <a:ext cx="32004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728898" y="4910328"/>
            <a:ext cx="185860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 조절 결단,</a:t>
            </a:r>
          </a:p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얼마나 빨리 내릴 것인가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697236" y="4901183"/>
            <a:ext cx="32004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816108" y="4910328"/>
            <a:ext cx="185860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돌아오지 않는 하단,</a:t>
            </a:r>
          </a:p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무엇으로 대체할 것인가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784445" y="4901183"/>
            <a:ext cx="32004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903317" y="4910328"/>
            <a:ext cx="185860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다음 판의 자리,</a:t>
            </a:r>
          </a:p>
          <a:p>
            <a:pPr algn="l">
              <a:lnSpc>
                <a:spcPct val="114000"/>
              </a:lnSpc>
            </a:pPr>
            <a:r>
              <a:rPr sz="11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지금 어떻게 확보할 것인가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9768" y="5925312"/>
            <a:ext cx="11332159" cy="310896"/>
          </a:xfrm>
          <a:prstGeom prst="roundRect">
            <a:avLst>
              <a:gd name="adj" fmla="val 10000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6072" y="5993892"/>
            <a:ext cx="110395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종합  </a:t>
            </a:r>
            <a:r>
              <a:rPr sz="105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수요발에서는 수요 열만, 공급발에서는 공급 열만 움직인다.  </a:t>
            </a: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어느 열이 움직였는지 읽는 것이 대응의 첫 단추다.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9768" y="6327648"/>
            <a:ext cx="98691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출처: wiki/downturn/samsung-impact.md §5 · 헤드라인은 가상 예시(실제 보도 아님) · 대응 전략은 별도 장 · 기준일 2026-08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0327" y="6327648"/>
            <a:ext cx="1371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[문서등급 표기]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