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37744"/>
            <a:ext cx="1133215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다운턴의 다섯 갈래:  </a:t>
            </a:r>
            <a:r>
              <a:rPr sz="2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꺼지는 수요가 둘, 넘치는 공급이 둘, 바뀌는 판이 하나다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29768" y="658368"/>
            <a:ext cx="11332159" cy="0"/>
          </a:xfrm>
          <a:prstGeom prst="line">
            <a:avLst/>
          </a:prstGeom>
          <a:ln w="17780">
            <a:solidFill>
              <a:srgbClr val="1428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435608" y="786384"/>
            <a:ext cx="4064690" cy="292608"/>
          </a:xfrm>
          <a:prstGeom prst="roundRect">
            <a:avLst>
              <a:gd name="adj" fmla="val 13000"/>
            </a:avLst>
          </a:prstGeom>
          <a:solidFill>
            <a:srgbClr val="E9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35608" y="845820"/>
            <a:ext cx="406469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수요가 꺼진다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10026" y="786384"/>
            <a:ext cx="4064690" cy="292608"/>
          </a:xfrm>
          <a:prstGeom prst="roundRect">
            <a:avLst>
              <a:gd name="adj" fmla="val 13000"/>
            </a:avLst>
          </a:prstGeom>
          <a:solidFill>
            <a:srgbClr val="F3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10026" y="845820"/>
            <a:ext cx="406469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공급이 넘친다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445" y="786384"/>
            <a:ext cx="1977481" cy="292608"/>
          </a:xfrm>
          <a:prstGeom prst="roundRect">
            <a:avLst>
              <a:gd name="adj" fmla="val 13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445" y="845820"/>
            <a:ext cx="197748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전환발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판이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1188720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투자 자금이 끊기는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817" y="1188720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필요량이 줄어드는 경우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0026" y="1188720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CAPEX가 몰리는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7236" y="1188720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후발이 파고드는 경우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445" y="1188720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제품 정의가 바뀌는 경우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7953" y="1170432"/>
            <a:ext cx="0" cy="45171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555162" y="1170432"/>
            <a:ext cx="0" cy="45171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642372" y="1170432"/>
            <a:ext cx="0" cy="45171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9581" y="1170432"/>
            <a:ext cx="0" cy="4517136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9768" y="1517904"/>
            <a:ext cx="877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그날의</a:t>
            </a:r>
          </a:p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헤드라인</a:t>
            </a:r>
          </a:p>
          <a:p>
            <a:pPr algn="r">
              <a:lnSpc>
                <a:spcPct val="112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(가상)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35608" y="1481328"/>
            <a:ext cx="1977481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35608" y="1481328"/>
            <a:ext cx="1977481" cy="292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27048" y="1563624"/>
            <a:ext cx="17946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「AI 인프라 자금줄 경색,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데이터센터 발주 일제히 보류」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2817" y="1481328"/>
            <a:ext cx="1977481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22817" y="1481328"/>
            <a:ext cx="1977481" cy="292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4257" y="1563624"/>
            <a:ext cx="17946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「AI는 호황인데 메모리는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제자리… 효율화의 역설」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10026" y="1481328"/>
            <a:ext cx="1977481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10026" y="1481328"/>
            <a:ext cx="1977481" cy="292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01466" y="1563624"/>
            <a:ext cx="17946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「신규 팹 동시 가동에 공급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과잉… 치킨게임 재점화 우려」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7236" y="1481328"/>
            <a:ext cx="1977481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7236" y="1481328"/>
            <a:ext cx="1977481" cy="292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676" y="1563624"/>
            <a:ext cx="17946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「중국산 메모리 범용 시장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잠식… 가격 하단이 사라졌다」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445" y="1481328"/>
            <a:ext cx="1977481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84445" y="1481328"/>
            <a:ext cx="1977481" cy="292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885" y="1563624"/>
            <a:ext cx="17946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「HBM 시대 저무나…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주문은 차세대 메모리로」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2212848"/>
            <a:ext cx="877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무엇이</a:t>
            </a:r>
          </a:p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움직이나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35608" y="2194560"/>
            <a:ext cx="19774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전조  </a:t>
            </a: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Meta FCF -91% · Amazon FCF 적자 전환, 4사 CapEx ~$750B의 조달 의존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2817" y="2194560"/>
            <a:ext cx="19774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동인  </a:t>
            </a: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KV 캐시 오프로드(H100 동시 사용자 10배) · CXL 풀링 · 모델 경량화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10026" y="2194560"/>
            <a:ext cx="19774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공급  </a:t>
            </a: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Micron 아이다호 · SK하이닉스 용인 · 국내 신규 팹, 2028~29 동시 가동(착공 확정)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7236" y="2194560"/>
            <a:ext cx="19774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공급  </a:t>
            </a: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CXMT 캐파 점유 11%→15%E(2028) · HBM3 월 6만장, YMTC Xtacking 본딩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445" y="2194560"/>
            <a:ext cx="19774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동인  </a:t>
            </a: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3D DRAM(4F² VCT) · zHBM · CXL 채택 개시로 표준 HBM 주문 이동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871216"/>
            <a:ext cx="8778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제품 수요</a:t>
            </a:r>
          </a:p>
          <a:p>
            <a:pPr algn="r">
              <a:lnSpc>
                <a:spcPct val="112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(지수 개념도)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19" y="3342132"/>
            <a:ext cx="105156" cy="10515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3328416"/>
            <a:ext cx="74980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19" y="3547872"/>
            <a:ext cx="105156" cy="105156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3534156"/>
            <a:ext cx="74980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19" y="3753611"/>
            <a:ext cx="105156" cy="105156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3739896"/>
            <a:ext cx="74980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19" y="3959352"/>
            <a:ext cx="105156" cy="105156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3945636"/>
            <a:ext cx="74980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19" y="4165091"/>
            <a:ext cx="105156" cy="105156"/>
          </a:xfrm>
          <a:prstGeom prst="rect">
            <a:avLst/>
          </a:prstGeom>
          <a:solidFill>
            <a:srgbClr val="FFFFFF"/>
          </a:solidFill>
          <a:ln w="10160">
            <a:solidFill>
              <a:srgbClr val="8A8A8E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151376"/>
            <a:ext cx="74980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차세대 이동분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4580" y="3964838"/>
            <a:ext cx="365760" cy="351129"/>
          </a:xfrm>
          <a:prstGeom prst="rect">
            <a:avLst/>
          </a:prstGeom>
          <a:solidFill>
            <a:srgbClr val="C4C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94580" y="3672230"/>
            <a:ext cx="365760" cy="292608"/>
          </a:xfrm>
          <a:prstGeom prst="rect">
            <a:avLst/>
          </a:prstGeom>
          <a:solidFill>
            <a:srgbClr val="D5D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994580" y="3379622"/>
            <a:ext cx="365760" cy="292608"/>
          </a:xfrm>
          <a:prstGeom prst="rect">
            <a:avLst/>
          </a:prstGeom>
          <a:solidFill>
            <a:srgbClr val="E3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94580" y="3145535"/>
            <a:ext cx="365760" cy="234086"/>
          </a:xfrm>
          <a:prstGeom prst="rect">
            <a:avLst/>
          </a:prstGeom>
          <a:solidFill>
            <a:srgbClr val="EF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03140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88356" y="4140403"/>
            <a:ext cx="365760" cy="1755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88356" y="3988247"/>
            <a:ext cx="365760" cy="152156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488356" y="3707343"/>
            <a:ext cx="365760" cy="280903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88356" y="3520074"/>
            <a:ext cx="365760" cy="187269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6916" y="3318906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68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27048" y="4315968"/>
            <a:ext cx="1794601" cy="0"/>
          </a:xfrm>
          <a:prstGeom prst="line">
            <a:avLst/>
          </a:prstGeom>
          <a:ln w="1143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921428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현재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5204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시나리오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81790" y="3964838"/>
            <a:ext cx="365760" cy="351129"/>
          </a:xfrm>
          <a:prstGeom prst="rect">
            <a:avLst/>
          </a:prstGeom>
          <a:solidFill>
            <a:srgbClr val="C4C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81790" y="3672230"/>
            <a:ext cx="365760" cy="292608"/>
          </a:xfrm>
          <a:prstGeom prst="rect">
            <a:avLst/>
          </a:prstGeom>
          <a:solidFill>
            <a:srgbClr val="D5D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81790" y="3379622"/>
            <a:ext cx="365760" cy="292608"/>
          </a:xfrm>
          <a:prstGeom prst="rect">
            <a:avLst/>
          </a:prstGeom>
          <a:solidFill>
            <a:srgbClr val="E3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081790" y="3145535"/>
            <a:ext cx="365760" cy="234086"/>
          </a:xfrm>
          <a:prstGeom prst="rect">
            <a:avLst/>
          </a:prstGeom>
          <a:solidFill>
            <a:srgbClr val="EF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990350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5566" y="4035064"/>
            <a:ext cx="365760" cy="280903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75566" y="3800977"/>
            <a:ext cx="365760" cy="234086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75566" y="3566891"/>
            <a:ext cx="365760" cy="234086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5566" y="3285987"/>
            <a:ext cx="365760" cy="280903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4126" y="3084819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88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614257" y="4315968"/>
            <a:ext cx="1794601" cy="0"/>
          </a:xfrm>
          <a:prstGeom prst="line">
            <a:avLst/>
          </a:prstGeom>
          <a:ln w="1143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008638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현재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2414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시나리오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68999" y="3964838"/>
            <a:ext cx="365760" cy="351129"/>
          </a:xfrm>
          <a:prstGeom prst="rect">
            <a:avLst/>
          </a:prstGeom>
          <a:solidFill>
            <a:srgbClr val="C4C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68999" y="3672230"/>
            <a:ext cx="365760" cy="292608"/>
          </a:xfrm>
          <a:prstGeom prst="rect">
            <a:avLst/>
          </a:prstGeom>
          <a:solidFill>
            <a:srgbClr val="D5D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68999" y="3379622"/>
            <a:ext cx="365760" cy="292608"/>
          </a:xfrm>
          <a:prstGeom prst="rect">
            <a:avLst/>
          </a:prstGeom>
          <a:solidFill>
            <a:srgbClr val="E3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68999" y="3145535"/>
            <a:ext cx="365760" cy="234086"/>
          </a:xfrm>
          <a:prstGeom prst="rect">
            <a:avLst/>
          </a:prstGeom>
          <a:solidFill>
            <a:srgbClr val="EF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77559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62775" y="3964838"/>
            <a:ext cx="365760" cy="35112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662775" y="3672230"/>
            <a:ext cx="365760" cy="292608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62775" y="3379622"/>
            <a:ext cx="365760" cy="292608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662775" y="3145535"/>
            <a:ext cx="365760" cy="234086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71335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701466" y="4315968"/>
            <a:ext cx="1794602" cy="0"/>
          </a:xfrm>
          <a:prstGeom prst="line">
            <a:avLst/>
          </a:prstGeom>
          <a:ln w="1143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095847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현재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9623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시나리오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10026" y="4530852"/>
            <a:ext cx="197748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수요 유지 · 공급이 초과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56209" y="3964838"/>
            <a:ext cx="365760" cy="351129"/>
          </a:xfrm>
          <a:prstGeom prst="rect">
            <a:avLst/>
          </a:prstGeom>
          <a:solidFill>
            <a:srgbClr val="C4C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56209" y="3672230"/>
            <a:ext cx="365760" cy="292608"/>
          </a:xfrm>
          <a:prstGeom prst="rect">
            <a:avLst/>
          </a:prstGeom>
          <a:solidFill>
            <a:srgbClr val="D5D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256209" y="3379622"/>
            <a:ext cx="365760" cy="292608"/>
          </a:xfrm>
          <a:prstGeom prst="rect">
            <a:avLst/>
          </a:prstGeom>
          <a:solidFill>
            <a:srgbClr val="E3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56209" y="3145535"/>
            <a:ext cx="365760" cy="234086"/>
          </a:xfrm>
          <a:prstGeom prst="rect">
            <a:avLst/>
          </a:prstGeom>
          <a:solidFill>
            <a:srgbClr val="EF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164769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749985" y="3964838"/>
            <a:ext cx="365760" cy="351129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49985" y="3672230"/>
            <a:ext cx="365760" cy="292608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749985" y="3379622"/>
            <a:ext cx="365760" cy="292608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49985" y="3145535"/>
            <a:ext cx="365760" cy="234086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658545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788676" y="4315968"/>
            <a:ext cx="1794601" cy="0"/>
          </a:xfrm>
          <a:prstGeom prst="line">
            <a:avLst/>
          </a:prstGeom>
          <a:ln w="1143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8183057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현재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76833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시나리오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97236" y="4530852"/>
            <a:ext cx="197748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수요 유지 · 하단 가격 붕괴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343418" y="3964838"/>
            <a:ext cx="365760" cy="351129"/>
          </a:xfrm>
          <a:prstGeom prst="rect">
            <a:avLst/>
          </a:prstGeom>
          <a:solidFill>
            <a:srgbClr val="C4C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343418" y="3672230"/>
            <a:ext cx="365760" cy="292608"/>
          </a:xfrm>
          <a:prstGeom prst="rect">
            <a:avLst/>
          </a:prstGeom>
          <a:solidFill>
            <a:srgbClr val="D5D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343418" y="3379622"/>
            <a:ext cx="365760" cy="292608"/>
          </a:xfrm>
          <a:prstGeom prst="rect">
            <a:avLst/>
          </a:prstGeom>
          <a:solidFill>
            <a:srgbClr val="E3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43418" y="3145535"/>
            <a:ext cx="365760" cy="234086"/>
          </a:xfrm>
          <a:prstGeom prst="rect">
            <a:avLst/>
          </a:prstGeom>
          <a:solidFill>
            <a:srgbClr val="EF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51978" y="2944367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837194" y="4175516"/>
            <a:ext cx="365760" cy="140451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837194" y="3941429"/>
            <a:ext cx="365760" cy="234086"/>
          </a:xfrm>
          <a:prstGeom prst="rect">
            <a:avLst/>
          </a:prstGeom>
          <a:solidFill>
            <a:srgbClr val="4E6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837194" y="3648821"/>
            <a:ext cx="365760" cy="292608"/>
          </a:xfrm>
          <a:prstGeom prst="rect">
            <a:avLst/>
          </a:prstGeom>
          <a:solidFill>
            <a:srgbClr val="93A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837194" y="3344509"/>
            <a:ext cx="365760" cy="304312"/>
          </a:xfrm>
          <a:prstGeom prst="rect">
            <a:avLst/>
          </a:prstGeom>
          <a:solidFill>
            <a:srgbClr val="C9D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837194" y="3168944"/>
            <a:ext cx="365760" cy="175564"/>
          </a:xfrm>
          <a:prstGeom prst="rect">
            <a:avLst/>
          </a:prstGeom>
          <a:solidFill>
            <a:srgbClr val="FFFFFF"/>
          </a:solidFill>
          <a:ln w="11430">
            <a:solidFill>
              <a:srgbClr val="8A8A8E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745754" y="2967776"/>
            <a:ext cx="5486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98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9875885" y="4315968"/>
            <a:ext cx="1794602" cy="0"/>
          </a:xfrm>
          <a:prstGeom prst="line">
            <a:avLst/>
          </a:prstGeom>
          <a:ln w="1143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10270266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현재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64042" y="4361688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시나리오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784445" y="4530852"/>
            <a:ext cx="197748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수요가 차세대로 이동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29768" y="4928616"/>
            <a:ext cx="877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풀어야 할</a:t>
            </a:r>
          </a:p>
          <a:p>
            <a:pPr algn="r">
              <a:lnSpc>
                <a:spcPct val="112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문제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35608" y="4901183"/>
            <a:ext cx="32004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45336" y="4910328"/>
            <a:ext cx="18677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팔 곳 잃은 HBM4·서버 캐파: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CIS 전환(공용 80%)인가,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take-or-pay 방어인가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522817" y="4901183"/>
            <a:ext cx="32004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632545" y="4910328"/>
            <a:ext cx="18677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GPU당 HBM 탑재량을 읽을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지표가 없다: 추적 체계와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eSSD(1위 38.2%) 믹스 이동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10026" y="4901183"/>
            <a:ext cx="32004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19754" y="4910328"/>
            <a:ext cx="18677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범용·NAND 감산 결단의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30일 규율: 2023년 6개월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지연의 재발 차단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697236" y="4901183"/>
            <a:ext cx="32004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06964" y="4910328"/>
            <a:ext cx="18677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DDR4·LPDDR4 하단 철수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시점과 전환처(CIS·차량),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HBM 인증 장벽 사수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784445" y="4901183"/>
            <a:ext cx="32004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894173" y="4910328"/>
            <a:ext cx="18677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표준 HBM에서 zHBM·4F²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3D DRAM으로의 전환기,</a:t>
            </a:r>
          </a:p>
          <a:p>
            <a:pPr algn="l">
              <a:lnSpc>
                <a:spcPct val="118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별동대·R&amp;D 하한 사수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29768" y="5650992"/>
            <a:ext cx="11332159" cy="310896"/>
          </a:xfrm>
          <a:prstGeom prst="roundRect">
            <a:avLst>
              <a:gd name="adj" fmla="val 10000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76072" y="5719572"/>
            <a:ext cx="110395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종합  </a:t>
            </a:r>
            <a:r>
              <a:rPr sz="105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수요발은 막대가 줄고, 공급발은 수요가 그대로인 채 공급이 넘친다.  </a:t>
            </a: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원인이 다르면 풀어야 할 문제도 다르다.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9768" y="6071616"/>
            <a:ext cx="98233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막대는 wiki/downturn/samsung-impact.md §5.3 방향 표의 지수화 개념도(현재 총수요=100, 배분·폭은 방향 표현용이며 실측 아님) · 헤드라인은 가상 예시 · 인용 수치: Meta FCF -91%·4사 CapEx ~$750B(hyperscaler-q2-2026-actuals) · CXMT 11%→15%E·HBM3 월 6만장(apple-cxmt·TrendForce) · eSSD 38.2%(1Q26) · CIS 공용률 80%(fab-toolset) · 대응 전략은 별도 장 · 기준일 2026-08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390327" y="6071616"/>
            <a:ext cx="1371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[문서등급 표기]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