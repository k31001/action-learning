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SP-2 다운턴 시나리오 플래닝 트랙의 영향 진단 장. 앞 장들이 "다운턴이 오는가"(EWI)와 "다섯 시나리오가 무엇인가"를 다뤘다면, 이 장은 원인 기준으로 다섯 갈래를 한눈에 정리하고 각 갈래가 남기는 "풀어야 할 문제"까지 연결한다. 대응 전략(DP-1~7 대비, DR-1~6 대응)은 다음 장에서 다룬다.</a:t>
            </a:r>
          </a:p>
          <a:p/>
          <a:p>
            <a:r>
              <a:t>[왜 원인 중심인가] 다운턴 기간은 원인이 정한다는 패턴이 지난 20년 복기(DT08·DT12·DT16·DT19·DT23)에서 확인됐다. 수요발은 짧고 깊게(단기전), 공급발은 길게(장기전) 간다. 그래서 속도·기간 축은 이 장에서 제외했고, 원인만 맞히면 싸움의 성격이 따라온다. 시나리오 코드(DT-A 등)와 확률 수치도 발표 층에서는 제외했다. 확률은 추정 정밀도가 낮아 정성 판단만 남겼고, 정량 추정 근거는 wiki/downturn/scenario-matrix.md에 유지되어 있다.</a:t>
            </a:r>
          </a:p>
          <a:p/>
          <a:p>
            <a:r>
              <a:t>[다섯 갈래 해설]</a:t>
            </a:r>
          </a:p>
          <a:p>
            <a:r>
              <a:t>1. 투자 자금이 끊기는 경우(수요발·조달): 최종 수요가 아니라 돈이 먼저 끊기는 경로. 이미 전조가 실측됐다. Meta의 분기 FCF가 -91%(약 $7.8억까지 축소), Amazon은 TTM FCF가 적자로 전환했는데 4사 합산 CapEx는 ~$750B(+82% YoY)로 계속 늘고 있다. 지출과 현금창출의 방향이 갈라진 상태는 지속 기간에 한계가 있고, 신용 이벤트(네오클라우드·DC SPV 디폴트) 하나로 발주 동결이 시작될 수 있다. 이때 가장 먼저 비는 곳은 가장 많이 투자한 고부가(HBM·서버) 캐파다.</a:t>
            </a:r>
          </a:p>
          <a:p>
            <a:r>
              <a:t>2. 필요량이 줄어드는 경우(수요발·원단위): AI는 성장하는데 작업당 메모리 소요가 꺾이는 경로. NVIDIA Dynamo 계열 KV 캐시 오프로드는 같은 H100으로 동시 사용자를 10배로 늘렸다. 같은 하드웨어로 10배를 처리한다는 것은 10배를 사지 않아도 된다는 뜻이기도 하다. CXL 풀링·모델 경량화도 같은 방향. 가격 폭락 없이 성장률만 꺾여서 위기감이 생기지 않는 것이 최대 위험이며, NAND·SSD는 오프로드 수혜로 오히려 수요가 는다(막대에서 유일하게 커지는 세그먼트).</a:t>
            </a:r>
          </a:p>
          <a:p>
            <a:r>
              <a:t>3. CAPEX가 몰리는 경우(공급발·기존 진영): 수요는 멀쩡한데 호황기에 결정된 투자가 한꺼번에 캐파로 도착하는 경로. 차트는 부문별 CAPEX로, DRAM 3사(삼성·SK하이닉스·Micron)가 2025 $46.5B에서 2026E $54.0B, NAND 6사(삼성·키옥시아·SK/솔리다임·Micron·샌디스크·YMTC 산업 합계)가 $21.1B에서 $22.2B로 올라선다(TrendForce·각사 IR). 2027E·28E 막대는 리서치 기반 추정(ᵉ)이다: 2027E 합산 ≈$81B는 DRAM 3사 ≈$58B(반도체 장비 시장 전망의 DRAM 장비 매출 2027 +7.8%를 프록시로 적용)와 NAND 6사 ≈$23B(Kioxia FY26~28 연평균 ¥4,700억 고원 유지 계획 +66% vs FY25, Kioxia-SanDisk 2026 합산 +40%, YMTC 캐파 2026~27 약 2배)로 구성했고, 2028E는 공표치 부재로 27E 수준 유지 가정이다(TrendForce 2026-07-30: 신규 캐파의 실질 산출 기여가 2028년 본격화 = 투자 고원 지속과 정합). 실측·계획과 구분되도록 옅은 색·점선·ᵉ로 표기했다. 산출 방법과 한계는 sources/articles/memory-capex-outlook-2027-2028-2026-08-26.md 참조. 투자가 캐파로 바뀌는 리드타임 2~3년을 감안하면 2028~29에 Micron 아이다호, SK하이닉스 용인 1기, 국내 신규 팹이 동시에 가동된다(모두 착공이 끝난 확정 사실). 여기에 3강 절제가 무너지면(점유율 목표 선언, 조기 램프업) 급락으로 전환된다. 다섯 갈래 중 감산이 직접 효과를 내는 유일한 경우다.</a:t>
            </a:r>
          </a:p>
          <a:p>
            <a:r>
              <a:t>4. 후발이 파고드는 경우(공급발·신흥): 보조금 기반 후발이 하단 가격대를 영구히 끌어내리는 경로. CXMT는 글로벌 DRAM 캐파 점유 11%에서 2028년 15%로, 매출 점유는 8%(2025 Q3)에서 14%(2027E)로 오르는 전망이고 HBM3도 월 6만 장 양산에 들어간다. NAND에서는 YMTC가 Xtacking 하이브리드 본딩으로 같은 일을 한다. 손실이 나도 퇴출되지 않는 공급자라서 치킨게임(소모전)의 승리 조건 자체가 없고, 다른 갈래와 달리 회복이 없다. 지금도 진행 중인 유일한 갈래다.</a:t>
            </a:r>
          </a:p>
          <a:p>
            <a:r>
              <a:t>5. 제품 정의가 바뀌는 경우(전환발): 수요가 사라지는 게 아니라 다른 제품군으로 이동하는 경로. 3D DRAM(4F² VCT 셀), zHBM(커스텀 적층), CXL 채택이 시작되면 표준 HBM 주문이 옮겨간다. 막대 꼭대기의 점선 세그먼트가 그 이동분이다. 감산도 계약 방어도 무의미하고, 미리 그 자리에 가 있는 것(별동대)만 유효하다.</a:t>
            </a:r>
          </a:p>
          <a:p/>
          <a:p>
            <a:r>
              <a:t>[수요 막대 읽는 법] 왼쪽 옅은 막대는 2025 글로벌 메모리 매출의 실측 구성을 100으로 지수화한 것이다. DRAM $1,657억(그중 HBM $340억) + NAND $697억 = $2,354억(TrendForce·Yole) 이므로 HBM 14, HBM 제외 DRAM 56, NAND·SSD 30. 오른쪽 진한 막대는 각 시나리오의 방향 가정(wiki/downturn/samsung-impact.md §5.3)을 이 실측 구성에 적용한 시나리오 값이다. 기준은 실측, 변화 폭은 시나리오 가정이라는 점을 구분해서 설명할 것. 서버/범용 DRAM 분리 실측치는 공개 소스에 없어 DRAM은 한 세그먼트로 묶었다.</a:t>
            </a:r>
          </a:p>
          <a:p/>
          <a:p>
            <a:r>
              <a:t>[공급 차트 읽는 법] CAPEX가 몰리는 경우는 수요 막대가 무의미하다(수요는 그대로). 대신 공급의 선행 지표인 부문별 CAPEX(DRAM 3사 + NAND 6사 누적)를 보여준다. 2025~26E는 실측·계획, 2027E·28E는 시나리오 가정이라는 구분을 반드시 언급할 것. 후발의 경우도 마찬가지로 CXMT의 캐파·매출 점유 전망을 보여준다. 두 차트 모두 "수요가 아니라 공급 쪽 곡선이 커진다"는 것이 메시지다.</a:t>
            </a:r>
          </a:p>
          <a:p/>
          <a:p>
            <a:r>
              <a:t>[풀어야 할 문제] 전략 자체가 아니라 전략이 풀어야 할 문제를 정의한 것이다(전략은 다음 장). 1번: HBM4 캐파는 +50% 증설이 잡혀 있는데 조달이 끊기면 팔 곳이 없다. DRAM-CIS 설비 공용률 80%인 전환 옵션과 take-or-pay·NTB 계약 방어선 중 무엇을 어디까지 쓸 것인가. 2번: 필요량이 줄어드는 경로에서 HBM을 떠난 수요는 KV 캐시 오프로드를 타고 SSD로 온다. 문제는 그 수요가 우리 eSSD(1위 38.2%)에 머물게 할 고리다. 하드웨어 스펙만으로는 교체가 쉬우니, 서버 고객의 스토리지 스택에 깊이 박히는 표준·소프트웨어 층(예: FDP 같은 데이터 배치 표준의 주도권)이 잠금 고리의 후보가 된다. 원단위 추적 지표(DX-8) 확보도 병행 과제. 3번: 2022-10 무감산 선언에서 2023-04 감산 공식화까지 6개월이 걸렸고 그 사이 DS 적자 -4.58조가 쌓였다. 같은 지연을 막을 30일 결정 규율이 문제. 4번: DDR4·LPDDR4 하단은 CXMT 침투로 돌아오지 않는다. 철수 시점과 라인 전환처(CIS·차량용), 그리고 HBM 인증 장벽 유지가 문제. 5번: 2019년 HBM팀 해체가 점유 40%에서 17%로의 추락으로 이어진 전례가 있다. 전환기에 별동대와 R&amp;D 하한을 배분 논리에서 지켜내는 것이 문제.</a:t>
            </a:r>
          </a:p>
          <a:p/>
          <a:p>
            <a:r>
              <a:t>[문제와 대응 방향의 연결] 다섯 문제는 다음 장(대응 전략)의 후보 방향과 자연스럽게 이어진다. 1·4번(캐파의 전환처, 하단 철수 후 전환)은 라인을 다른 제품으로 돌릴 수 있는 몸을 갖추는 방향을, 2번(SSD로 오는 수요를 묶어둘 표준·SW 고리)은 서버 고객 락인을 만드는 스토리지 소프트웨어 층의 주도권을, 5번(전환기 별동대·R&amp;D 하한)은 zHBM 등 차세대 메모리 연구의 보존·집중을 가리킨다. 발표 시 결론을 못박지 말고 '문제가 가리키는 방향'으로만 열어 둘 것.</a:t>
            </a:r>
          </a:p>
          <a:p/>
          <a:p>
            <a:r>
              <a:t>[출처] wiki/downturn/samsung-impact.md §5(단일 소스), scenario-matrix.md, downturn-history.md, key-drivers.md, memory-capex-outlook-2027-2028(2027~28 CAPEX 추정). 수치 원출처: hyperscaler-q2-2026-actuals(FCF·CapEx), kv-cache-ssd-offload(10배), memory-capex-history(3사 CAPEX), apple-cxmt-china-dram·TrendForce(CXMT), enterprise-ssd-market-1q26(38.2%), fab-toolset-commonality(공용률 80%), samsung-downturn-actions(2023 감산 지연). 헤드라인은 상황 이해를 돕는 가상 예시 문장으로 실제 보도가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위치] 앞 장(다섯 갈래)의 1번 시나리오(투자 자금이 끊기는 경우)에 대한 심화 장. 질문은 하나다: 이 시나리오는 지금 얼마나 가까이 와 있는가. 구성은 지출(왼쪽), 창출(가운데), 판정(오른쪽)의 3단이다.</a:t>
            </a:r>
          </a:p>
          <a:p/>
          <a:p>
            <a:r>
              <a:t>[왼쪽: 지출 패널] 4사(Alphabet·Amazon·Microsoft·Meta) 합산 AI CapEx는 2024 약 $205B, 2025 약 $410B(+100%), 2026E 약 $750B(+82%)로 2년 새 3.7배가 됐다. 2026E는 Q2 실적 발표 후 네 곳 전원이 가이던스를 올린 결과이고 삭감 발표는 0건이다(Amazon ~$220B, Google $195~205B, Meta $130~145B, MS ~$190B + FY27 $255~260B 상향). 2027E $1,100B+는 JPMorgan 전망으로 점선ᵉ 표기했다. 참고로 4사는 토지·전력·셸 같은 장기 자산은 조기 확약하고 칩은 필요 몇 달 전에 사는 디리스킹 관행을 공통 채택 중이다.</a:t>
            </a:r>
          </a:p>
          <a:p/>
          <a:p>
            <a:r>
              <a:t>[가운데: 창출 패널] 지출을 받쳐줄 이익·현금의 실측이 핵심이다. 첫째, AI CapEx가 영업현금흐름에서 차지하는 비율이 2024년 76%에서 2026E 94%로 올라 자기잠식 임계점에 접근했다. 내부 현금만으로는 지출을 유지하기 어려워지는 지점이며, 그 다음 수단이 부채·SPV 조달이라서 이 시나리오(조달 경색)의 노출이 커진다. 둘째, Meta의 분기 FCF가 -91%($784M)로 급감했고 Amazon은 TTM FCF가 약 -$7.6B로 적자 전환해 다이버전스가 개별 회사가 아니라 패턴이 될 조짐이다. 셋째, Bain 프레임에 따르면 2030년 지출 궤도를 수익성 있게 회수하려면 연 $2조의 신규 AI 매출이 필요한데 자금 갭이 연 $800B다. 지출의 지속 가능성 자체가 외부 조달에 걸려 있다는 뜻이다.</a:t>
            </a:r>
          </a:p>
          <a:p/>
          <a:p>
            <a:r>
              <a:t>[오른쪽: 판정 보드] 실측된 전조 3건(빨강)과 미발동 발화 신호 4건(초록)을 구분하는 것이 이 장의 핵심 규율이다. 전조: FCF 다이버전스 2사, CapEx/현금흐름 94%, 공급자(SK하이닉스) 영업이익률 사상 최대(~76%)라는 후기순환 신호. 미발동: CapEx 삭감 발표 0건(감별 트리거는 YoY -25%), GPU 임대가 firming(H100 ~$2.69·H200 ~$4.38, 트리거는 6개월 -35% 급락), DC 착공·발주 취소 미관측(파이프라인 55.9GW 유지), Google Cloud 백로그 $514B로 오히려 +$50B 증가. 완충 요인으로 take-or-pay·NTB 계약 락인이 발화 후에도 초기 6~12개월의 매출을 흡수한다. 그래서 같은 발화라도 커버리지 만기가 몰려 있으면 절벽, 분산되어 있으면 완만한 하강이 된다.</a:t>
            </a:r>
          </a:p>
          <a:p/>
          <a:p>
            <a:r>
              <a:t>[판정을 말로 하면] "가능성이 오르는 국면이지, 발현 국면이 아니다." 확률 숫자는 표기하지 않되, 방향은 분명하다: 괴리(전조)는 계속 벌어지고 있고, 발화는 아직 시작되지 않았다. 다음 변곡은 FCF 반전이 실제 발주 동결로 번지는 순간이며, 빅테크 FCF·조달 스프레드와 GPU 임대가가 그 최선행 감시선이다. 질문이 나오면: 이 감시선은 대시보드 EWI로 이미 배선되어 있고, 트리거 도달 시 30일 내 대응 규율과 연결된다.</a:t>
            </a:r>
          </a:p>
          <a:p/>
          <a:p>
            <a:r>
              <a:t>[출처] wiki/downturn/samsung-impact.md §5.1c(단일 소스). 수치 원출처: ai-capex(연도별 CapEx), hyperscaler-q2-2026-actuals(가이던스 상향·FCF·임대가), hyperscaler-q2-2026-capex(백로그·SK OPM), ai-compute-economics-gap(Bain $2조·$800B), visualizations 하이퍼스케일러 구성(76%→94%). 2027E는 JPMorgan 전망 인용.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다운턴의 다섯 갈래:  </a:t>
            </a:r>
            <a:r>
              <a:rPr sz="2000" b="1">
                <a:solidFill>
                  <a:srgbClr val="1A1A1A"/>
                </a:solidFill>
                <a:latin typeface="SamsungOneKorean"/>
                <a:ea typeface="SamsungOneKorean"/>
                <a:cs typeface="SamsungOneKorean"/>
              </a:rPr>
              <a:t>꺼지는 수요가 둘, 넘치는 공급이 둘, 바뀌는 판이 하나다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1435608" y="786384"/>
            <a:ext cx="4064690" cy="292608"/>
          </a:xfrm>
          <a:prstGeom prst="roundRect">
            <a:avLst>
              <a:gd name="adj" fmla="val 13000"/>
            </a:avLst>
          </a:prstGeom>
          <a:solidFill>
            <a:srgbClr val="E9E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35608"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수요발</a:t>
            </a:r>
            <a:r>
              <a:rPr sz="1100" b="0">
                <a:solidFill>
                  <a:srgbClr val="1A1A1A"/>
                </a:solidFill>
                <a:latin typeface="SamsungOneKorean"/>
                <a:ea typeface="SamsungOneKorean"/>
                <a:cs typeface="SamsungOneKorean"/>
              </a:rPr>
              <a:t> · 수요가 꺼진다</a:t>
            </a:r>
          </a:p>
        </p:txBody>
      </p:sp>
      <p:sp>
        <p:nvSpPr>
          <p:cNvPr id="6" name="Rounded Rectangle 5"/>
          <p:cNvSpPr/>
          <p:nvPr/>
        </p:nvSpPr>
        <p:spPr>
          <a:xfrm>
            <a:off x="5610026" y="786384"/>
            <a:ext cx="4064690" cy="292608"/>
          </a:xfrm>
          <a:prstGeom prst="roundRect">
            <a:avLst>
              <a:gd name="adj" fmla="val 13000"/>
            </a:avLst>
          </a:prstGeom>
          <a:solidFill>
            <a:srgbClr val="F3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10026" y="845820"/>
            <a:ext cx="4064690"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공급발</a:t>
            </a:r>
            <a:r>
              <a:rPr sz="1100" b="0">
                <a:solidFill>
                  <a:srgbClr val="1A1A1A"/>
                </a:solidFill>
                <a:latin typeface="SamsungOneKorean"/>
                <a:ea typeface="SamsungOneKorean"/>
                <a:cs typeface="SamsungOneKorean"/>
              </a:rPr>
              <a:t> · 공급이 넘친다</a:t>
            </a:r>
          </a:p>
        </p:txBody>
      </p:sp>
      <p:sp>
        <p:nvSpPr>
          <p:cNvPr id="8" name="Rounded Rectangle 7"/>
          <p:cNvSpPr/>
          <p:nvPr/>
        </p:nvSpPr>
        <p:spPr>
          <a:xfrm>
            <a:off x="9784445" y="786384"/>
            <a:ext cx="1977481" cy="292608"/>
          </a:xfrm>
          <a:prstGeom prst="roundRect">
            <a:avLst>
              <a:gd name="adj" fmla="val 13000"/>
            </a:avLst>
          </a:prstGeom>
          <a:solidFill>
            <a:srgbClr val="EF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445" y="845820"/>
            <a:ext cx="1977481" cy="182880"/>
          </a:xfrm>
          <a:prstGeom prst="rect">
            <a:avLst/>
          </a:prstGeom>
          <a:noFill/>
        </p:spPr>
        <p:txBody>
          <a:bodyPr wrap="square" anchor="t" lIns="0" rIns="0" tIns="0" bIns="0">
            <a:spAutoFit/>
          </a:bodyPr>
          <a:lstStyle/>
          <a:p>
            <a:pPr algn="ctr">
              <a:lnSpc>
                <a:spcPct val="100000"/>
              </a:lnSpc>
            </a:pPr>
            <a:r>
              <a:rPr sz="1100" b="1">
                <a:solidFill>
                  <a:srgbClr val="1A1A1A"/>
                </a:solidFill>
                <a:latin typeface="SamsungOneKorean"/>
                <a:ea typeface="SamsungOneKorean"/>
                <a:cs typeface="SamsungOneKorean"/>
              </a:rPr>
              <a:t>전환발</a:t>
            </a:r>
            <a:r>
              <a:rPr sz="1100" b="0">
                <a:solidFill>
                  <a:srgbClr val="1A1A1A"/>
                </a:solidFill>
                <a:latin typeface="SamsungOneKorean"/>
                <a:ea typeface="SamsungOneKorean"/>
                <a:cs typeface="SamsungOneKorean"/>
              </a:rPr>
              <a:t> · 판이 바뀐다</a:t>
            </a:r>
          </a:p>
        </p:txBody>
      </p:sp>
      <p:sp>
        <p:nvSpPr>
          <p:cNvPr id="10" name="TextBox 9"/>
          <p:cNvSpPr txBox="1"/>
          <p:nvPr/>
        </p:nvSpPr>
        <p:spPr>
          <a:xfrm>
            <a:off x="1435608"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투자 자금이 끊기는 경우</a:t>
            </a:r>
          </a:p>
        </p:txBody>
      </p:sp>
      <p:sp>
        <p:nvSpPr>
          <p:cNvPr id="11" name="TextBox 10"/>
          <p:cNvSpPr txBox="1"/>
          <p:nvPr/>
        </p:nvSpPr>
        <p:spPr>
          <a:xfrm>
            <a:off x="3522817"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필요량이 줄어드는 경우</a:t>
            </a:r>
          </a:p>
        </p:txBody>
      </p:sp>
      <p:sp>
        <p:nvSpPr>
          <p:cNvPr id="12" name="TextBox 11"/>
          <p:cNvSpPr txBox="1"/>
          <p:nvPr/>
        </p:nvSpPr>
        <p:spPr>
          <a:xfrm>
            <a:off x="561002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CAPEX가 몰리는 경우</a:t>
            </a:r>
          </a:p>
        </p:txBody>
      </p:sp>
      <p:sp>
        <p:nvSpPr>
          <p:cNvPr id="13" name="TextBox 12"/>
          <p:cNvSpPr txBox="1"/>
          <p:nvPr/>
        </p:nvSpPr>
        <p:spPr>
          <a:xfrm>
            <a:off x="7697236"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후발이 파고드는 경우</a:t>
            </a:r>
          </a:p>
        </p:txBody>
      </p:sp>
      <p:sp>
        <p:nvSpPr>
          <p:cNvPr id="14" name="TextBox 13"/>
          <p:cNvSpPr txBox="1"/>
          <p:nvPr/>
        </p:nvSpPr>
        <p:spPr>
          <a:xfrm>
            <a:off x="9784445" y="1188720"/>
            <a:ext cx="1977481" cy="201168"/>
          </a:xfrm>
          <a:prstGeom prst="rect">
            <a:avLst/>
          </a:prstGeom>
          <a:noFill/>
        </p:spPr>
        <p:txBody>
          <a:bodyPr wrap="square" anchor="t" lIns="0" rIns="0" tIns="0" bIns="0">
            <a:spAutoFit/>
          </a:bodyPr>
          <a:lstStyle/>
          <a:p>
            <a:pPr algn="l">
              <a:lnSpc>
                <a:spcPct val="100000"/>
              </a:lnSpc>
            </a:pPr>
            <a:r>
              <a:rPr sz="1250" b="1">
                <a:solidFill>
                  <a:srgbClr val="1A1A1A"/>
                </a:solidFill>
                <a:latin typeface="SamsungOneKorean"/>
                <a:ea typeface="SamsungOneKorean"/>
                <a:cs typeface="SamsungOneKorean"/>
              </a:rPr>
              <a:t>제품 정의가 바뀌는 경우</a:t>
            </a:r>
          </a:p>
        </p:txBody>
      </p:sp>
      <p:cxnSp>
        <p:nvCxnSpPr>
          <p:cNvPr id="15" name="Connector 14"/>
          <p:cNvCxnSpPr/>
          <p:nvPr/>
        </p:nvCxnSpPr>
        <p:spPr>
          <a:xfrm>
            <a:off x="3467953"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5516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42372"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729581" y="1170432"/>
            <a:ext cx="0" cy="4517136"/>
          </a:xfrm>
          <a:prstGeom prst="line">
            <a:avLst/>
          </a:prstGeom>
          <a:ln w="635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9768" y="1517904"/>
            <a:ext cx="877824" cy="45720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그날의</a:t>
            </a:r>
          </a:p>
          <a:p>
            <a:pPr algn="r">
              <a:lnSpc>
                <a:spcPct val="112000"/>
              </a:lnSpc>
            </a:pPr>
            <a:r>
              <a:rPr sz="1000" b="1">
                <a:solidFill>
                  <a:srgbClr val="8A8A8E"/>
                </a:solidFill>
                <a:latin typeface="SamsungOneKorean"/>
                <a:ea typeface="SamsungOneKorean"/>
                <a:cs typeface="SamsungOneKorean"/>
              </a:rPr>
              <a:t>헤드라인</a:t>
            </a:r>
          </a:p>
          <a:p>
            <a:pPr algn="r">
              <a:lnSpc>
                <a:spcPct val="112000"/>
              </a:lnSpc>
            </a:pPr>
            <a:r>
              <a:rPr sz="1000" b="0">
                <a:solidFill>
                  <a:srgbClr val="8A8A8E"/>
                </a:solidFill>
                <a:latin typeface="SamsungOneKorean"/>
                <a:ea typeface="SamsungOneKorean"/>
                <a:cs typeface="SamsungOneKorean"/>
              </a:rPr>
              <a:t>(가상)</a:t>
            </a:r>
          </a:p>
        </p:txBody>
      </p:sp>
      <p:sp>
        <p:nvSpPr>
          <p:cNvPr id="20" name="Rectangle 19"/>
          <p:cNvSpPr/>
          <p:nvPr/>
        </p:nvSpPr>
        <p:spPr>
          <a:xfrm>
            <a:off x="1435608"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35608"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27048"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 인프라 자금줄 경색,</a:t>
            </a:r>
          </a:p>
          <a:p>
            <a:pPr algn="l">
              <a:lnSpc>
                <a:spcPct val="118000"/>
              </a:lnSpc>
            </a:pPr>
            <a:r>
              <a:rPr sz="1050" b="1">
                <a:solidFill>
                  <a:srgbClr val="1A1A1A"/>
                </a:solidFill>
                <a:latin typeface="SamsungOneKorean"/>
                <a:ea typeface="SamsungOneKorean"/>
                <a:cs typeface="SamsungOneKorean"/>
              </a:rPr>
              <a:t>데이터센터 발주 일제히 보류」</a:t>
            </a:r>
          </a:p>
        </p:txBody>
      </p:sp>
      <p:sp>
        <p:nvSpPr>
          <p:cNvPr id="23" name="Rectangle 22"/>
          <p:cNvSpPr/>
          <p:nvPr/>
        </p:nvSpPr>
        <p:spPr>
          <a:xfrm>
            <a:off x="3522817"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2817"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4257"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「AI는 호황인데 메모리는</a:t>
            </a:r>
          </a:p>
          <a:p>
            <a:pPr algn="l">
              <a:lnSpc>
                <a:spcPct val="118000"/>
              </a:lnSpc>
            </a:pPr>
            <a:r>
              <a:rPr sz="1050" b="1">
                <a:solidFill>
                  <a:srgbClr val="1A1A1A"/>
                </a:solidFill>
                <a:latin typeface="SamsungOneKorean"/>
                <a:ea typeface="SamsungOneKorean"/>
                <a:cs typeface="SamsungOneKorean"/>
              </a:rPr>
              <a:t>제자리… 효율화의 역설」</a:t>
            </a:r>
          </a:p>
        </p:txBody>
      </p:sp>
      <p:sp>
        <p:nvSpPr>
          <p:cNvPr id="26" name="Rectangle 25"/>
          <p:cNvSpPr/>
          <p:nvPr/>
        </p:nvSpPr>
        <p:spPr>
          <a:xfrm>
            <a:off x="561002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1002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0146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「신규 팹 동시 가동에 공급</a:t>
            </a:r>
          </a:p>
          <a:p>
            <a:pPr algn="l">
              <a:lnSpc>
                <a:spcPct val="118000"/>
              </a:lnSpc>
            </a:pPr>
            <a:r>
              <a:rPr sz="1050" b="1">
                <a:solidFill>
                  <a:srgbClr val="1A1A1A"/>
                </a:solidFill>
                <a:latin typeface="SamsungOneKorean"/>
                <a:ea typeface="SamsungOneKorean"/>
                <a:cs typeface="SamsungOneKorean"/>
              </a:rPr>
              <a:t>과잉… 치킨게임 재점화 우려」</a:t>
            </a:r>
          </a:p>
        </p:txBody>
      </p:sp>
      <p:sp>
        <p:nvSpPr>
          <p:cNvPr id="29" name="Rectangle 28"/>
          <p:cNvSpPr/>
          <p:nvPr/>
        </p:nvSpPr>
        <p:spPr>
          <a:xfrm>
            <a:off x="7697236"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97236"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88676"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「중국산 메모리 범용 시장</a:t>
            </a:r>
          </a:p>
          <a:p>
            <a:pPr algn="l">
              <a:lnSpc>
                <a:spcPct val="118000"/>
              </a:lnSpc>
            </a:pPr>
            <a:r>
              <a:rPr sz="1050" b="1">
                <a:solidFill>
                  <a:srgbClr val="1A1A1A"/>
                </a:solidFill>
                <a:latin typeface="SamsungOneKorean"/>
                <a:ea typeface="SamsungOneKorean"/>
                <a:cs typeface="SamsungOneKorean"/>
              </a:rPr>
              <a:t>잠식… 가격 하단이 사라졌다」</a:t>
            </a:r>
          </a:p>
        </p:txBody>
      </p:sp>
      <p:sp>
        <p:nvSpPr>
          <p:cNvPr id="32" name="Rectangle 31"/>
          <p:cNvSpPr/>
          <p:nvPr/>
        </p:nvSpPr>
        <p:spPr>
          <a:xfrm>
            <a:off x="9784445" y="1481328"/>
            <a:ext cx="1977481" cy="585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784445" y="1481328"/>
            <a:ext cx="1977481" cy="292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885" y="1563624"/>
            <a:ext cx="1794601" cy="45720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「HBM 시대 저무나…</a:t>
            </a:r>
          </a:p>
          <a:p>
            <a:pPr algn="l">
              <a:lnSpc>
                <a:spcPct val="118000"/>
              </a:lnSpc>
            </a:pPr>
            <a:r>
              <a:rPr sz="1050" b="1">
                <a:solidFill>
                  <a:srgbClr val="1A1A1A"/>
                </a:solidFill>
                <a:latin typeface="SamsungOneKorean"/>
                <a:ea typeface="SamsungOneKorean"/>
                <a:cs typeface="SamsungOneKorean"/>
              </a:rPr>
              <a:t>주문은 차세대 메모리로」</a:t>
            </a:r>
          </a:p>
        </p:txBody>
      </p:sp>
      <p:sp>
        <p:nvSpPr>
          <p:cNvPr id="35" name="TextBox 34"/>
          <p:cNvSpPr txBox="1"/>
          <p:nvPr/>
        </p:nvSpPr>
        <p:spPr>
          <a:xfrm>
            <a:off x="429768" y="2212848"/>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무엇이</a:t>
            </a:r>
          </a:p>
          <a:p>
            <a:pPr algn="r">
              <a:lnSpc>
                <a:spcPct val="112000"/>
              </a:lnSpc>
            </a:pPr>
            <a:r>
              <a:rPr sz="1000" b="1">
                <a:solidFill>
                  <a:srgbClr val="8A8A8E"/>
                </a:solidFill>
                <a:latin typeface="SamsungOneKorean"/>
                <a:ea typeface="SamsungOneKorean"/>
                <a:cs typeface="SamsungOneKorean"/>
              </a:rPr>
              <a:t>움직이나</a:t>
            </a:r>
          </a:p>
        </p:txBody>
      </p:sp>
      <p:sp>
        <p:nvSpPr>
          <p:cNvPr id="36" name="TextBox 35"/>
          <p:cNvSpPr txBox="1"/>
          <p:nvPr/>
        </p:nvSpPr>
        <p:spPr>
          <a:xfrm>
            <a:off x="1435608"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전조  </a:t>
            </a:r>
            <a:r>
              <a:rPr sz="1000" b="0">
                <a:solidFill>
                  <a:srgbClr val="1A1A1A"/>
                </a:solidFill>
                <a:latin typeface="SamsungOneKorean"/>
                <a:ea typeface="SamsungOneKorean"/>
                <a:cs typeface="SamsungOneKorean"/>
              </a:rPr>
              <a:t>Meta FCF -91% · Amazon FCF 적자 전환, 4사 CapEx ~$750B의 조달 의존</a:t>
            </a:r>
          </a:p>
        </p:txBody>
      </p:sp>
      <p:sp>
        <p:nvSpPr>
          <p:cNvPr id="37" name="TextBox 36"/>
          <p:cNvSpPr txBox="1"/>
          <p:nvPr/>
        </p:nvSpPr>
        <p:spPr>
          <a:xfrm>
            <a:off x="3522817"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KV 캐시 오프로드(H100 동시 사용자 10배) · CXL 풀링 · 모델 경량화</a:t>
            </a:r>
          </a:p>
        </p:txBody>
      </p:sp>
      <p:sp>
        <p:nvSpPr>
          <p:cNvPr id="38" name="TextBox 37"/>
          <p:cNvSpPr txBox="1"/>
          <p:nvPr/>
        </p:nvSpPr>
        <p:spPr>
          <a:xfrm>
            <a:off x="561002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Micron 아이다호 · SK하이닉스 용인 · 국내 신규 팹, 2028~29 동시 가동(착공 확정)</a:t>
            </a:r>
          </a:p>
        </p:txBody>
      </p:sp>
      <p:sp>
        <p:nvSpPr>
          <p:cNvPr id="39" name="TextBox 38"/>
          <p:cNvSpPr txBox="1"/>
          <p:nvPr/>
        </p:nvSpPr>
        <p:spPr>
          <a:xfrm>
            <a:off x="7697236"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공급  </a:t>
            </a:r>
            <a:r>
              <a:rPr sz="1000" b="0">
                <a:solidFill>
                  <a:srgbClr val="1A1A1A"/>
                </a:solidFill>
                <a:latin typeface="SamsungOneKorean"/>
                <a:ea typeface="SamsungOneKorean"/>
                <a:cs typeface="SamsungOneKorean"/>
              </a:rPr>
              <a:t>CXMT 캐파 점유 11%→15%E(2028) · HBM3 월 6만장, YMTC Xtacking 본딩</a:t>
            </a:r>
          </a:p>
        </p:txBody>
      </p:sp>
      <p:sp>
        <p:nvSpPr>
          <p:cNvPr id="40" name="TextBox 39"/>
          <p:cNvSpPr txBox="1"/>
          <p:nvPr/>
        </p:nvSpPr>
        <p:spPr>
          <a:xfrm>
            <a:off x="9784445" y="2194560"/>
            <a:ext cx="1977481" cy="566928"/>
          </a:xfrm>
          <a:prstGeom prst="rect">
            <a:avLst/>
          </a:prstGeom>
          <a:noFill/>
        </p:spPr>
        <p:txBody>
          <a:bodyPr wrap="square" anchor="t" lIns="0" rIns="0" tIns="0" bIns="0">
            <a:spAutoFit/>
          </a:bodyPr>
          <a:lstStyle/>
          <a:p>
            <a:pPr algn="l">
              <a:lnSpc>
                <a:spcPct val="116000"/>
              </a:lnSpc>
            </a:pPr>
            <a:r>
              <a:rPr sz="1000" b="1">
                <a:solidFill>
                  <a:srgbClr val="1428A0"/>
                </a:solidFill>
                <a:latin typeface="SamsungOneKorean"/>
                <a:ea typeface="SamsungOneKorean"/>
                <a:cs typeface="SamsungOneKorean"/>
              </a:rPr>
              <a:t>동인  </a:t>
            </a:r>
            <a:r>
              <a:rPr sz="1000" b="0">
                <a:solidFill>
                  <a:srgbClr val="1A1A1A"/>
                </a:solidFill>
                <a:latin typeface="SamsungOneKorean"/>
                <a:ea typeface="SamsungOneKorean"/>
                <a:cs typeface="SamsungOneKorean"/>
              </a:rPr>
              <a:t>3D DRAM(4F² VCT) · zHBM · CXL 채택 개시로 표준 HBM 주문 이동</a:t>
            </a:r>
          </a:p>
        </p:txBody>
      </p:sp>
      <p:sp>
        <p:nvSpPr>
          <p:cNvPr id="41" name="TextBox 40"/>
          <p:cNvSpPr txBox="1"/>
          <p:nvPr/>
        </p:nvSpPr>
        <p:spPr>
          <a:xfrm>
            <a:off x="429768" y="2743200"/>
            <a:ext cx="877824" cy="164592"/>
          </a:xfrm>
          <a:prstGeom prst="rect">
            <a:avLst/>
          </a:prstGeom>
          <a:noFill/>
        </p:spPr>
        <p:txBody>
          <a:bodyPr wrap="square" anchor="t" lIns="0" rIns="0" tIns="0" bIns="0">
            <a:spAutoFit/>
          </a:bodyPr>
          <a:lstStyle/>
          <a:p>
            <a:pPr algn="r">
              <a:lnSpc>
                <a:spcPct val="100000"/>
              </a:lnSpc>
            </a:pPr>
            <a:r>
              <a:rPr sz="1000" b="1">
                <a:solidFill>
                  <a:srgbClr val="8A8A8E"/>
                </a:solidFill>
                <a:latin typeface="SamsungOneKorean"/>
                <a:ea typeface="SamsungOneKorean"/>
                <a:cs typeface="SamsungOneKorean"/>
              </a:rPr>
              <a:t>수요 막대</a:t>
            </a:r>
          </a:p>
        </p:txBody>
      </p:sp>
      <p:sp>
        <p:nvSpPr>
          <p:cNvPr id="42" name="Rectangle 41"/>
          <p:cNvSpPr/>
          <p:nvPr/>
        </p:nvSpPr>
        <p:spPr>
          <a:xfrm>
            <a:off x="448056" y="2994660"/>
            <a:ext cx="100584" cy="1005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980944"/>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HBM</a:t>
            </a:r>
          </a:p>
        </p:txBody>
      </p:sp>
      <p:sp>
        <p:nvSpPr>
          <p:cNvPr id="44" name="Rectangle 43"/>
          <p:cNvSpPr/>
          <p:nvPr/>
        </p:nvSpPr>
        <p:spPr>
          <a:xfrm>
            <a:off x="448056" y="3191256"/>
            <a:ext cx="100584" cy="100584"/>
          </a:xfrm>
          <a:prstGeom prst="rect">
            <a:avLst/>
          </a:prstGeom>
          <a:solidFill>
            <a:srgbClr val="5A7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3503" y="3177539"/>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기타 DRAM</a:t>
            </a:r>
          </a:p>
        </p:txBody>
      </p:sp>
      <p:sp>
        <p:nvSpPr>
          <p:cNvPr id="46" name="Rectangle 45"/>
          <p:cNvSpPr/>
          <p:nvPr/>
        </p:nvSpPr>
        <p:spPr>
          <a:xfrm>
            <a:off x="448056" y="3387852"/>
            <a:ext cx="100584" cy="100584"/>
          </a:xfrm>
          <a:prstGeom prst="rect">
            <a:avLst/>
          </a:prstGeom>
          <a:solidFill>
            <a:srgbClr val="ADB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3" y="3374136"/>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NAND·SSD</a:t>
            </a:r>
          </a:p>
        </p:txBody>
      </p:sp>
      <p:sp>
        <p:nvSpPr>
          <p:cNvPr id="48" name="Rectangle 47"/>
          <p:cNvSpPr/>
          <p:nvPr/>
        </p:nvSpPr>
        <p:spPr>
          <a:xfrm>
            <a:off x="448056" y="3584448"/>
            <a:ext cx="100584" cy="100584"/>
          </a:xfrm>
          <a:prstGeom prst="rect">
            <a:avLst/>
          </a:prstGeom>
          <a:solidFill>
            <a:srgbClr val="FFFFFF"/>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3570732"/>
            <a:ext cx="822960" cy="146304"/>
          </a:xfrm>
          <a:prstGeom prst="rect">
            <a:avLst/>
          </a:prstGeom>
          <a:noFill/>
        </p:spPr>
        <p:txBody>
          <a:bodyPr wrap="none" anchor="t" lIns="0" rIns="0" tIns="0" bIns="0">
            <a:spAutoFit/>
          </a:bodyPr>
          <a:lstStyle/>
          <a:p>
            <a:pPr algn="l">
              <a:lnSpc>
                <a:spcPct val="100000"/>
              </a:lnSpc>
            </a:pPr>
            <a:r>
              <a:rPr sz="1000" b="0">
                <a:solidFill>
                  <a:srgbClr val="555555"/>
                </a:solidFill>
                <a:latin typeface="SamsungOneKorean"/>
                <a:ea typeface="SamsungOneKorean"/>
                <a:cs typeface="SamsungOneKorean"/>
              </a:rPr>
              <a:t>차세대 이동분</a:t>
            </a:r>
          </a:p>
        </p:txBody>
      </p:sp>
      <p:sp>
        <p:nvSpPr>
          <p:cNvPr id="50" name="TextBox 49"/>
          <p:cNvSpPr txBox="1"/>
          <p:nvPr/>
        </p:nvSpPr>
        <p:spPr>
          <a:xfrm>
            <a:off x="429768" y="3931920"/>
            <a:ext cx="877824" cy="310896"/>
          </a:xfrm>
          <a:prstGeom prst="rect">
            <a:avLst/>
          </a:prstGeom>
          <a:noFill/>
        </p:spPr>
        <p:txBody>
          <a:bodyPr wrap="square" anchor="t" lIns="0" rIns="0" tIns="0" bIns="0">
            <a:spAutoFit/>
          </a:bodyPr>
          <a:lstStyle/>
          <a:p>
            <a:pPr algn="r">
              <a:lnSpc>
                <a:spcPct val="115000"/>
              </a:lnSpc>
            </a:pPr>
            <a:r>
              <a:rPr sz="1000" b="0">
                <a:solidFill>
                  <a:srgbClr val="8A8A8E"/>
                </a:solidFill>
                <a:latin typeface="SamsungOneKorean"/>
                <a:ea typeface="SamsungOneKorean"/>
                <a:cs typeface="SamsungOneKorean"/>
              </a:rPr>
              <a:t>2025 구성</a:t>
            </a:r>
          </a:p>
          <a:p>
            <a:pPr algn="r">
              <a:lnSpc>
                <a:spcPct val="115000"/>
              </a:lnSpc>
            </a:pPr>
            <a:r>
              <a:rPr sz="1000" b="0">
                <a:solidFill>
                  <a:srgbClr val="8A8A8E"/>
                </a:solidFill>
                <a:latin typeface="SamsungOneKorean"/>
                <a:ea typeface="SamsungOneKorean"/>
                <a:cs typeface="SamsungOneKorean"/>
              </a:rPr>
              <a:t>= 100 기준</a:t>
            </a:r>
          </a:p>
        </p:txBody>
      </p:sp>
      <p:sp>
        <p:nvSpPr>
          <p:cNvPr id="51" name="TextBox 50"/>
          <p:cNvSpPr txBox="1"/>
          <p:nvPr/>
        </p:nvSpPr>
        <p:spPr>
          <a:xfrm>
            <a:off x="1435608"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2" name="TextBox 51"/>
          <p:cNvSpPr txBox="1"/>
          <p:nvPr/>
        </p:nvSpPr>
        <p:spPr>
          <a:xfrm>
            <a:off x="3522817"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sp>
        <p:nvSpPr>
          <p:cNvPr id="53" name="TextBox 52"/>
          <p:cNvSpPr txBox="1"/>
          <p:nvPr/>
        </p:nvSpPr>
        <p:spPr>
          <a:xfrm>
            <a:off x="561002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메모리 CAPEX ($B)</a:t>
            </a:r>
          </a:p>
        </p:txBody>
      </p:sp>
      <p:sp>
        <p:nvSpPr>
          <p:cNvPr id="54" name="TextBox 53"/>
          <p:cNvSpPr txBox="1"/>
          <p:nvPr/>
        </p:nvSpPr>
        <p:spPr>
          <a:xfrm>
            <a:off x="7697236"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CXMT 점유율 (%)</a:t>
            </a:r>
          </a:p>
        </p:txBody>
      </p:sp>
      <p:sp>
        <p:nvSpPr>
          <p:cNvPr id="55" name="TextBox 54"/>
          <p:cNvSpPr txBox="1"/>
          <p:nvPr/>
        </p:nvSpPr>
        <p:spPr>
          <a:xfrm>
            <a:off x="9784445" y="2743200"/>
            <a:ext cx="1977481"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제품 수요 (2025=100)</a:t>
            </a:r>
          </a:p>
        </p:txBody>
      </p:sp>
      <p:cxnSp>
        <p:nvCxnSpPr>
          <p:cNvPr id="56" name="Connector 55"/>
          <p:cNvCxnSpPr/>
          <p:nvPr/>
        </p:nvCxnSpPr>
        <p:spPr>
          <a:xfrm>
            <a:off x="1527048"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199458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99458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99458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0314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61" name="Rectangle 60"/>
          <p:cNvSpPr/>
          <p:nvPr/>
        </p:nvSpPr>
        <p:spPr>
          <a:xfrm>
            <a:off x="2488356" y="4288901"/>
            <a:ext cx="365760" cy="8193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488356" y="3797320"/>
            <a:ext cx="365760" cy="49158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488356" y="3516416"/>
            <a:ext cx="365760" cy="280903"/>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96916" y="3324392"/>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73</a:t>
            </a:r>
          </a:p>
        </p:txBody>
      </p:sp>
      <p:sp>
        <p:nvSpPr>
          <p:cNvPr id="65" name="TextBox 64"/>
          <p:cNvSpPr txBox="1"/>
          <p:nvPr/>
        </p:nvSpPr>
        <p:spPr>
          <a:xfrm>
            <a:off x="192142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66" name="TextBox 65"/>
          <p:cNvSpPr txBox="1"/>
          <p:nvPr/>
        </p:nvSpPr>
        <p:spPr>
          <a:xfrm>
            <a:off x="241520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67" name="Connector 66"/>
          <p:cNvCxnSpPr/>
          <p:nvPr/>
        </p:nvCxnSpPr>
        <p:spPr>
          <a:xfrm>
            <a:off x="3614257"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081790"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81790"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1790"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990350"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72" name="Rectangle 71"/>
          <p:cNvSpPr/>
          <p:nvPr/>
        </p:nvSpPr>
        <p:spPr>
          <a:xfrm>
            <a:off x="4575566" y="4242084"/>
            <a:ext cx="365760" cy="128747"/>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575566" y="3715390"/>
            <a:ext cx="365760" cy="526694"/>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75566"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484126" y="3113714"/>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91</a:t>
            </a:r>
          </a:p>
        </p:txBody>
      </p:sp>
      <p:sp>
        <p:nvSpPr>
          <p:cNvPr id="76" name="TextBox 75"/>
          <p:cNvSpPr txBox="1"/>
          <p:nvPr/>
        </p:nvSpPr>
        <p:spPr>
          <a:xfrm>
            <a:off x="4008638"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77" name="TextBox 76"/>
          <p:cNvSpPr txBox="1"/>
          <p:nvPr/>
        </p:nvSpPr>
        <p:spPr>
          <a:xfrm>
            <a:off x="4502414"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cxnSp>
        <p:nvCxnSpPr>
          <p:cNvPr id="78" name="Connector 77"/>
          <p:cNvCxnSpPr/>
          <p:nvPr/>
        </p:nvCxnSpPr>
        <p:spPr>
          <a:xfrm>
            <a:off x="5701466"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610026" y="2903220"/>
            <a:ext cx="1977481" cy="128016"/>
          </a:xfrm>
          <a:prstGeom prst="rect">
            <a:avLst/>
          </a:prstGeom>
          <a:noFill/>
        </p:spPr>
        <p:txBody>
          <a:bodyPr wrap="square" anchor="t" lIns="0" rIns="0" tIns="0" bIns="0">
            <a:spAutoFit/>
          </a:bodyPr>
          <a:lstStyle/>
          <a:p>
            <a:pPr algn="ctr">
              <a:lnSpc>
                <a:spcPct val="100000"/>
              </a:lnSpc>
            </a:pPr>
            <a:r>
              <a:rPr sz="1000" b="0">
                <a:solidFill>
                  <a:srgbClr val="6B6B70"/>
                </a:solidFill>
                <a:latin typeface="SamsungOneKorean"/>
                <a:ea typeface="SamsungOneKorean"/>
                <a:cs typeface="SamsungOneKorean"/>
              </a:rPr>
              <a:t>■ </a:t>
            </a:r>
            <a:r>
              <a:rPr sz="1000" b="0">
                <a:solidFill>
                  <a:srgbClr val="555555"/>
                </a:solidFill>
                <a:latin typeface="SamsungOneKorean"/>
                <a:ea typeface="SamsungOneKorean"/>
                <a:cs typeface="SamsungOneKorean"/>
              </a:rPr>
              <a:t>DRAM 3사  </a:t>
            </a:r>
            <a:r>
              <a:rPr sz="1000" b="0">
                <a:solidFill>
                  <a:srgbClr val="C9C9CC"/>
                </a:solidFill>
                <a:latin typeface="SamsungOneKorean"/>
                <a:ea typeface="SamsungOneKorean"/>
                <a:cs typeface="SamsungOneKorean"/>
              </a:rPr>
              <a:t>■ </a:t>
            </a:r>
            <a:r>
              <a:rPr sz="1000" b="0">
                <a:solidFill>
                  <a:srgbClr val="555555"/>
                </a:solidFill>
                <a:latin typeface="SamsungOneKorean"/>
                <a:ea typeface="SamsungOneKorean"/>
                <a:cs typeface="SamsungOneKorean"/>
              </a:rPr>
              <a:t>NAND 6사</a:t>
            </a:r>
          </a:p>
        </p:txBody>
      </p:sp>
      <p:sp>
        <p:nvSpPr>
          <p:cNvPr id="80" name="Rectangle 79"/>
          <p:cNvSpPr/>
          <p:nvPr/>
        </p:nvSpPr>
        <p:spPr>
          <a:xfrm>
            <a:off x="5864961" y="3800447"/>
            <a:ext cx="274320" cy="570384"/>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864961" y="3541627"/>
            <a:ext cx="274320" cy="258819"/>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55233" y="3358747"/>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68</a:t>
            </a:r>
          </a:p>
        </p:txBody>
      </p:sp>
      <p:sp>
        <p:nvSpPr>
          <p:cNvPr id="83" name="TextBox 82"/>
          <p:cNvSpPr txBox="1"/>
          <p:nvPr/>
        </p:nvSpPr>
        <p:spPr>
          <a:xfrm>
            <a:off x="5755233"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84" name="Rectangle 83"/>
          <p:cNvSpPr/>
          <p:nvPr/>
        </p:nvSpPr>
        <p:spPr>
          <a:xfrm>
            <a:off x="6262725" y="3708449"/>
            <a:ext cx="274320" cy="662382"/>
          </a:xfrm>
          <a:prstGeom prst="rect">
            <a:avLst/>
          </a:prstGeom>
          <a:solidFill>
            <a:srgbClr val="6B6B7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262725" y="3436136"/>
            <a:ext cx="274320" cy="272312"/>
          </a:xfrm>
          <a:prstGeom prst="rect">
            <a:avLst/>
          </a:prstGeom>
          <a:solidFill>
            <a:srgbClr val="C9C9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52997" y="3253256"/>
            <a:ext cx="493776"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76</a:t>
            </a:r>
          </a:p>
        </p:txBody>
      </p:sp>
      <p:sp>
        <p:nvSpPr>
          <p:cNvPr id="87" name="TextBox 86"/>
          <p:cNvSpPr txBox="1"/>
          <p:nvPr/>
        </p:nvSpPr>
        <p:spPr>
          <a:xfrm>
            <a:off x="6152997"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88" name="Rectangle 87"/>
          <p:cNvSpPr/>
          <p:nvPr/>
        </p:nvSpPr>
        <p:spPr>
          <a:xfrm>
            <a:off x="6660489"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660489"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550761"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1" name="TextBox 90"/>
          <p:cNvSpPr txBox="1"/>
          <p:nvPr/>
        </p:nvSpPr>
        <p:spPr>
          <a:xfrm>
            <a:off x="6550761"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92" name="Rectangle 91"/>
          <p:cNvSpPr/>
          <p:nvPr/>
        </p:nvSpPr>
        <p:spPr>
          <a:xfrm>
            <a:off x="7058253" y="3656930"/>
            <a:ext cx="274320" cy="713901"/>
          </a:xfrm>
          <a:prstGeom prst="rect">
            <a:avLst/>
          </a:prstGeom>
          <a:solidFill>
            <a:srgbClr val="A9A9AE"/>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58253" y="3374805"/>
            <a:ext cx="274320" cy="282125"/>
          </a:xfrm>
          <a:prstGeom prst="rect">
            <a:avLst/>
          </a:prstGeom>
          <a:solidFill>
            <a:srgbClr val="E2E2E5"/>
          </a:solidFill>
          <a:ln w="889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48525" y="3191925"/>
            <a:ext cx="493776"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81ᵉ</a:t>
            </a:r>
          </a:p>
        </p:txBody>
      </p:sp>
      <p:sp>
        <p:nvSpPr>
          <p:cNvPr id="95" name="TextBox 94"/>
          <p:cNvSpPr txBox="1"/>
          <p:nvPr/>
        </p:nvSpPr>
        <p:spPr>
          <a:xfrm>
            <a:off x="6948525" y="4416552"/>
            <a:ext cx="493776"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28E</a:t>
            </a:r>
          </a:p>
        </p:txBody>
      </p:sp>
      <p:sp>
        <p:nvSpPr>
          <p:cNvPr id="96" name="TextBox 95"/>
          <p:cNvSpPr txBox="1"/>
          <p:nvPr/>
        </p:nvSpPr>
        <p:spPr>
          <a:xfrm>
            <a:off x="561002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27E·28Eᵉ = 리서치 기반 추정</a:t>
            </a:r>
          </a:p>
        </p:txBody>
      </p:sp>
      <p:cxnSp>
        <p:nvCxnSpPr>
          <p:cNvPr id="97" name="Connector 96"/>
          <p:cNvCxnSpPr/>
          <p:nvPr/>
        </p:nvCxnSpPr>
        <p:spPr>
          <a:xfrm>
            <a:off x="7788676" y="4370832"/>
            <a:ext cx="1794601"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808153" y="3599688"/>
            <a:ext cx="310896" cy="771143"/>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98425" y="3407664"/>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11</a:t>
            </a:r>
          </a:p>
        </p:txBody>
      </p:sp>
      <p:sp>
        <p:nvSpPr>
          <p:cNvPr id="100" name="Rectangle 99"/>
          <p:cNvSpPr/>
          <p:nvPr/>
        </p:nvSpPr>
        <p:spPr>
          <a:xfrm>
            <a:off x="8210489" y="3319272"/>
            <a:ext cx="310896" cy="1051560"/>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8100761" y="3127248"/>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15E</a:t>
            </a:r>
          </a:p>
        </p:txBody>
      </p:sp>
      <p:sp>
        <p:nvSpPr>
          <p:cNvPr id="102" name="TextBox 101"/>
          <p:cNvSpPr txBox="1"/>
          <p:nvPr/>
        </p:nvSpPr>
        <p:spPr>
          <a:xfrm>
            <a:off x="7753289"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캐파</a:t>
            </a:r>
          </a:p>
        </p:txBody>
      </p:sp>
      <p:sp>
        <p:nvSpPr>
          <p:cNvPr id="103" name="Rectangle 102"/>
          <p:cNvSpPr/>
          <p:nvPr/>
        </p:nvSpPr>
        <p:spPr>
          <a:xfrm>
            <a:off x="8850569" y="3810000"/>
            <a:ext cx="310896" cy="560832"/>
          </a:xfrm>
          <a:prstGeom prst="rect">
            <a:avLst/>
          </a:prstGeom>
          <a:solidFill>
            <a:srgbClr val="C9C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740841" y="3617976"/>
            <a:ext cx="530352"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8</a:t>
            </a:r>
          </a:p>
        </p:txBody>
      </p:sp>
      <p:sp>
        <p:nvSpPr>
          <p:cNvPr id="105" name="Rectangle 104"/>
          <p:cNvSpPr/>
          <p:nvPr/>
        </p:nvSpPr>
        <p:spPr>
          <a:xfrm>
            <a:off x="9252905" y="3389376"/>
            <a:ext cx="310896" cy="9814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143177" y="3197352"/>
            <a:ext cx="530352" cy="146304"/>
          </a:xfrm>
          <a:prstGeom prst="rect">
            <a:avLst/>
          </a:prstGeom>
          <a:noFill/>
        </p:spPr>
        <p:txBody>
          <a:bodyPr wrap="square" anchor="t" lIns="0" rIns="0" tIns="0" bIns="0">
            <a:spAutoFit/>
          </a:bodyPr>
          <a:lstStyle/>
          <a:p>
            <a:pPr algn="ctr">
              <a:lnSpc>
                <a:spcPct val="100000"/>
              </a:lnSpc>
            </a:pPr>
            <a:r>
              <a:rPr sz="1000" b="1">
                <a:solidFill>
                  <a:srgbClr val="1A1A1A"/>
                </a:solidFill>
                <a:latin typeface="SamsungOneKorean"/>
                <a:ea typeface="SamsungOneKorean"/>
                <a:cs typeface="SamsungOneKorean"/>
              </a:rPr>
              <a:t>14E</a:t>
            </a:r>
          </a:p>
        </p:txBody>
      </p:sp>
      <p:sp>
        <p:nvSpPr>
          <p:cNvPr id="107" name="TextBox 106"/>
          <p:cNvSpPr txBox="1"/>
          <p:nvPr/>
        </p:nvSpPr>
        <p:spPr>
          <a:xfrm>
            <a:off x="8795705" y="4416552"/>
            <a:ext cx="822960"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매출</a:t>
            </a:r>
          </a:p>
        </p:txBody>
      </p:sp>
      <p:sp>
        <p:nvSpPr>
          <p:cNvPr id="108" name="TextBox 107"/>
          <p:cNvSpPr txBox="1"/>
          <p:nvPr/>
        </p:nvSpPr>
        <p:spPr>
          <a:xfrm>
            <a:off x="7697236"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하단 점유의 구조적 상승</a:t>
            </a:r>
          </a:p>
        </p:txBody>
      </p:sp>
      <p:cxnSp>
        <p:nvCxnSpPr>
          <p:cNvPr id="109" name="Connector 108"/>
          <p:cNvCxnSpPr/>
          <p:nvPr/>
        </p:nvCxnSpPr>
        <p:spPr>
          <a:xfrm>
            <a:off x="9875885" y="4370832"/>
            <a:ext cx="1794602"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10343418" y="4206971"/>
            <a:ext cx="365760" cy="163860"/>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343418" y="3551529"/>
            <a:ext cx="365760" cy="655441"/>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343418" y="3200400"/>
            <a:ext cx="365760" cy="351129"/>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51978" y="3008376"/>
            <a:ext cx="548640" cy="146304"/>
          </a:xfrm>
          <a:prstGeom prst="rect">
            <a:avLst/>
          </a:prstGeom>
          <a:noFill/>
        </p:spPr>
        <p:txBody>
          <a:bodyPr wrap="square" anchor="t" lIns="0" rIns="0" tIns="0" bIns="0">
            <a:spAutoFit/>
          </a:bodyPr>
          <a:lstStyle/>
          <a:p>
            <a:pPr algn="ctr">
              <a:lnSpc>
                <a:spcPct val="100000"/>
              </a:lnSpc>
            </a:pPr>
            <a:r>
              <a:rPr sz="1000" b="1">
                <a:solidFill>
                  <a:srgbClr val="8A8A8E"/>
                </a:solidFill>
                <a:latin typeface="SamsungOneKorean"/>
                <a:ea typeface="SamsungOneKorean"/>
                <a:cs typeface="SamsungOneKorean"/>
              </a:rPr>
              <a:t>100</a:t>
            </a:r>
          </a:p>
        </p:txBody>
      </p:sp>
      <p:sp>
        <p:nvSpPr>
          <p:cNvPr id="114" name="Rectangle 113"/>
          <p:cNvSpPr/>
          <p:nvPr/>
        </p:nvSpPr>
        <p:spPr>
          <a:xfrm>
            <a:off x="10837194" y="4300606"/>
            <a:ext cx="365760" cy="70225"/>
          </a:xfrm>
          <a:prstGeom prst="rect">
            <a:avLst/>
          </a:prstGeom>
          <a:solidFill>
            <a:srgbClr val="1428A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0837194" y="3715390"/>
            <a:ext cx="365760" cy="585216"/>
          </a:xfrm>
          <a:prstGeom prst="rect">
            <a:avLst/>
          </a:prstGeom>
          <a:solidFill>
            <a:srgbClr val="5A73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0837194" y="3305738"/>
            <a:ext cx="365760" cy="409651"/>
          </a:xfrm>
          <a:prstGeom prst="rect">
            <a:avLst/>
          </a:prstGeom>
          <a:solidFill>
            <a:srgbClr val="ADB9E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0837194" y="3212104"/>
            <a:ext cx="365760" cy="93634"/>
          </a:xfrm>
          <a:prstGeom prst="rect">
            <a:avLst/>
          </a:prstGeom>
          <a:solidFill>
            <a:srgbClr val="FFFFFF"/>
          </a:solidFill>
          <a:ln w="1143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745754" y="3020080"/>
            <a:ext cx="548640" cy="146304"/>
          </a:xfrm>
          <a:prstGeom prst="rect">
            <a:avLst/>
          </a:prstGeom>
          <a:noFill/>
        </p:spPr>
        <p:txBody>
          <a:bodyPr wrap="square" anchor="t" lIns="0" rIns="0" tIns="0" bIns="0">
            <a:spAutoFit/>
          </a:bodyPr>
          <a:lstStyle/>
          <a:p>
            <a:pPr algn="ctr">
              <a:lnSpc>
                <a:spcPct val="100000"/>
              </a:lnSpc>
            </a:pPr>
            <a:r>
              <a:rPr sz="1050" b="1">
                <a:solidFill>
                  <a:srgbClr val="1428A0"/>
                </a:solidFill>
                <a:latin typeface="SamsungOneKorean"/>
                <a:ea typeface="SamsungOneKorean"/>
                <a:cs typeface="SamsungOneKorean"/>
              </a:rPr>
              <a:t>99</a:t>
            </a:r>
          </a:p>
        </p:txBody>
      </p:sp>
      <p:sp>
        <p:nvSpPr>
          <p:cNvPr id="119" name="TextBox 118"/>
          <p:cNvSpPr txBox="1"/>
          <p:nvPr/>
        </p:nvSpPr>
        <p:spPr>
          <a:xfrm>
            <a:off x="10270266"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20" name="TextBox 119"/>
          <p:cNvSpPr txBox="1"/>
          <p:nvPr/>
        </p:nvSpPr>
        <p:spPr>
          <a:xfrm>
            <a:off x="10764042" y="4416552"/>
            <a:ext cx="512064"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시나리오</a:t>
            </a:r>
          </a:p>
        </p:txBody>
      </p:sp>
      <p:sp>
        <p:nvSpPr>
          <p:cNvPr id="121" name="TextBox 120"/>
          <p:cNvSpPr txBox="1"/>
          <p:nvPr/>
        </p:nvSpPr>
        <p:spPr>
          <a:xfrm>
            <a:off x="9784445" y="4585716"/>
            <a:ext cx="1977481" cy="137160"/>
          </a:xfrm>
          <a:prstGeom prst="rect">
            <a:avLst/>
          </a:prstGeom>
          <a:noFill/>
        </p:spPr>
        <p:txBody>
          <a:bodyPr wrap="square" anchor="t" lIns="0" rIns="0" tIns="0" bIns="0">
            <a:spAutoFit/>
          </a:bodyPr>
          <a:lstStyle/>
          <a:p>
            <a:pPr algn="ctr">
              <a:lnSpc>
                <a:spcPct val="100000"/>
              </a:lnSpc>
            </a:pPr>
            <a:r>
              <a:rPr sz="1000" b="1">
                <a:solidFill>
                  <a:srgbClr val="555555"/>
                </a:solidFill>
                <a:latin typeface="SamsungOneKorean"/>
                <a:ea typeface="SamsungOneKorean"/>
                <a:cs typeface="SamsungOneKorean"/>
              </a:rPr>
              <a:t>수요가 차세대로 이동</a:t>
            </a:r>
          </a:p>
        </p:txBody>
      </p:sp>
      <p:sp>
        <p:nvSpPr>
          <p:cNvPr id="122" name="TextBox 121"/>
          <p:cNvSpPr txBox="1"/>
          <p:nvPr/>
        </p:nvSpPr>
        <p:spPr>
          <a:xfrm>
            <a:off x="429768" y="4928616"/>
            <a:ext cx="877824" cy="365760"/>
          </a:xfrm>
          <a:prstGeom prst="rect">
            <a:avLst/>
          </a:prstGeom>
          <a:noFill/>
        </p:spPr>
        <p:txBody>
          <a:bodyPr wrap="square" anchor="t" lIns="0" rIns="0" tIns="0" bIns="0">
            <a:spAutoFit/>
          </a:bodyPr>
          <a:lstStyle/>
          <a:p>
            <a:pPr algn="r">
              <a:lnSpc>
                <a:spcPct val="112000"/>
              </a:lnSpc>
            </a:pPr>
            <a:r>
              <a:rPr sz="1000" b="1">
                <a:solidFill>
                  <a:srgbClr val="8A8A8E"/>
                </a:solidFill>
                <a:latin typeface="SamsungOneKorean"/>
                <a:ea typeface="SamsungOneKorean"/>
                <a:cs typeface="SamsungOneKorean"/>
              </a:rPr>
              <a:t>풀어야 할</a:t>
            </a:r>
          </a:p>
          <a:p>
            <a:pPr algn="r">
              <a:lnSpc>
                <a:spcPct val="112000"/>
              </a:lnSpc>
            </a:pPr>
            <a:r>
              <a:rPr sz="1000" b="1">
                <a:solidFill>
                  <a:srgbClr val="8A8A8E"/>
                </a:solidFill>
                <a:latin typeface="SamsungOneKorean"/>
                <a:ea typeface="SamsungOneKorean"/>
                <a:cs typeface="SamsungOneKorean"/>
              </a:rPr>
              <a:t>문제</a:t>
            </a:r>
          </a:p>
        </p:txBody>
      </p:sp>
      <p:sp>
        <p:nvSpPr>
          <p:cNvPr id="123" name="Rectangle 122"/>
          <p:cNvSpPr/>
          <p:nvPr/>
        </p:nvSpPr>
        <p:spPr>
          <a:xfrm>
            <a:off x="1435608"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336"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팔 곳 잃은 HBM4·서버 캐파:</a:t>
            </a:r>
          </a:p>
          <a:p>
            <a:pPr algn="l">
              <a:lnSpc>
                <a:spcPct val="118000"/>
              </a:lnSpc>
            </a:pPr>
            <a:r>
              <a:rPr sz="1050" b="1">
                <a:solidFill>
                  <a:srgbClr val="1A1A1A"/>
                </a:solidFill>
                <a:latin typeface="SamsungOneKorean"/>
                <a:ea typeface="SamsungOneKorean"/>
                <a:cs typeface="SamsungOneKorean"/>
              </a:rPr>
              <a:t>CIS 전환(공용 80%)인가,</a:t>
            </a:r>
          </a:p>
          <a:p>
            <a:pPr algn="l">
              <a:lnSpc>
                <a:spcPct val="118000"/>
              </a:lnSpc>
            </a:pPr>
            <a:r>
              <a:rPr sz="1050" b="1">
                <a:solidFill>
                  <a:srgbClr val="1A1A1A"/>
                </a:solidFill>
                <a:latin typeface="SamsungOneKorean"/>
                <a:ea typeface="SamsungOneKorean"/>
                <a:cs typeface="SamsungOneKorean"/>
              </a:rPr>
              <a:t>take-or-pay 방어인가</a:t>
            </a:r>
          </a:p>
        </p:txBody>
      </p:sp>
      <p:sp>
        <p:nvSpPr>
          <p:cNvPr id="125" name="Rectangle 124"/>
          <p:cNvSpPr/>
          <p:nvPr/>
        </p:nvSpPr>
        <p:spPr>
          <a:xfrm>
            <a:off x="3522817"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3632545"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밀려난 수요는 SSD로 온다:</a:t>
            </a:r>
          </a:p>
          <a:p>
            <a:pPr algn="l">
              <a:lnSpc>
                <a:spcPct val="118000"/>
              </a:lnSpc>
            </a:pPr>
            <a:r>
              <a:rPr sz="1050" b="1">
                <a:solidFill>
                  <a:srgbClr val="1A1A1A"/>
                </a:solidFill>
                <a:latin typeface="SamsungOneKorean"/>
                <a:ea typeface="SamsungOneKorean"/>
                <a:cs typeface="SamsungOneKorean"/>
              </a:rPr>
              <a:t>서버 고객을 묶어둘</a:t>
            </a:r>
          </a:p>
          <a:p>
            <a:pPr algn="l">
              <a:lnSpc>
                <a:spcPct val="118000"/>
              </a:lnSpc>
            </a:pPr>
            <a:r>
              <a:rPr sz="1050" b="1">
                <a:solidFill>
                  <a:srgbClr val="1A1A1A"/>
                </a:solidFill>
                <a:latin typeface="SamsungOneKorean"/>
                <a:ea typeface="SamsungOneKorean"/>
                <a:cs typeface="SamsungOneKorean"/>
              </a:rPr>
              <a:t>표준·SW 고리의 확보</a:t>
            </a:r>
          </a:p>
        </p:txBody>
      </p:sp>
      <p:sp>
        <p:nvSpPr>
          <p:cNvPr id="127" name="Rectangle 126"/>
          <p:cNvSpPr/>
          <p:nvPr/>
        </p:nvSpPr>
        <p:spPr>
          <a:xfrm>
            <a:off x="561002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71975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범용·NAND 감산 결단의</a:t>
            </a:r>
          </a:p>
          <a:p>
            <a:pPr algn="l">
              <a:lnSpc>
                <a:spcPct val="118000"/>
              </a:lnSpc>
            </a:pPr>
            <a:r>
              <a:rPr sz="1050" b="1">
                <a:solidFill>
                  <a:srgbClr val="1A1A1A"/>
                </a:solidFill>
                <a:latin typeface="SamsungOneKorean"/>
                <a:ea typeface="SamsungOneKorean"/>
                <a:cs typeface="SamsungOneKorean"/>
              </a:rPr>
              <a:t>30일 규율: 2023년 6개월</a:t>
            </a:r>
          </a:p>
          <a:p>
            <a:pPr algn="l">
              <a:lnSpc>
                <a:spcPct val="118000"/>
              </a:lnSpc>
            </a:pPr>
            <a:r>
              <a:rPr sz="1050" b="1">
                <a:solidFill>
                  <a:srgbClr val="1A1A1A"/>
                </a:solidFill>
                <a:latin typeface="SamsungOneKorean"/>
                <a:ea typeface="SamsungOneKorean"/>
                <a:cs typeface="SamsungOneKorean"/>
              </a:rPr>
              <a:t>지연의 재발 차단</a:t>
            </a:r>
          </a:p>
        </p:txBody>
      </p:sp>
      <p:sp>
        <p:nvSpPr>
          <p:cNvPr id="129" name="Rectangle 128"/>
          <p:cNvSpPr/>
          <p:nvPr/>
        </p:nvSpPr>
        <p:spPr>
          <a:xfrm>
            <a:off x="7697236"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06964"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DDR4·LPDDR4 하단 철수</a:t>
            </a:r>
          </a:p>
          <a:p>
            <a:pPr algn="l">
              <a:lnSpc>
                <a:spcPct val="118000"/>
              </a:lnSpc>
            </a:pPr>
            <a:r>
              <a:rPr sz="1050" b="1">
                <a:solidFill>
                  <a:srgbClr val="1A1A1A"/>
                </a:solidFill>
                <a:latin typeface="SamsungOneKorean"/>
                <a:ea typeface="SamsungOneKorean"/>
                <a:cs typeface="SamsungOneKorean"/>
              </a:rPr>
              <a:t>시점과 전환처(CIS·차량),</a:t>
            </a:r>
          </a:p>
          <a:p>
            <a:pPr algn="l">
              <a:lnSpc>
                <a:spcPct val="118000"/>
              </a:lnSpc>
            </a:pPr>
            <a:r>
              <a:rPr sz="1050" b="1">
                <a:solidFill>
                  <a:srgbClr val="1A1A1A"/>
                </a:solidFill>
                <a:latin typeface="SamsungOneKorean"/>
                <a:ea typeface="SamsungOneKorean"/>
                <a:cs typeface="SamsungOneKorean"/>
              </a:rPr>
              <a:t>HBM 인증 장벽 사수</a:t>
            </a:r>
          </a:p>
        </p:txBody>
      </p:sp>
      <p:sp>
        <p:nvSpPr>
          <p:cNvPr id="131" name="Rectangle 130"/>
          <p:cNvSpPr/>
          <p:nvPr/>
        </p:nvSpPr>
        <p:spPr>
          <a:xfrm>
            <a:off x="9784445" y="4901183"/>
            <a:ext cx="3200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894173" y="4910328"/>
            <a:ext cx="1867753" cy="502920"/>
          </a:xfrm>
          <a:prstGeom prst="rect">
            <a:avLst/>
          </a:prstGeom>
          <a:noFill/>
        </p:spPr>
        <p:txBody>
          <a:bodyPr wrap="square" anchor="t" lIns="0" rIns="0" tIns="0" bIns="0">
            <a:spAutoFit/>
          </a:bodyPr>
          <a:lstStyle/>
          <a:p>
            <a:pPr algn="l">
              <a:lnSpc>
                <a:spcPct val="118000"/>
              </a:lnSpc>
            </a:pPr>
            <a:r>
              <a:rPr sz="1050" b="1">
                <a:solidFill>
                  <a:srgbClr val="1A1A1A"/>
                </a:solidFill>
                <a:latin typeface="SamsungOneKorean"/>
                <a:ea typeface="SamsungOneKorean"/>
                <a:cs typeface="SamsungOneKorean"/>
              </a:rPr>
              <a:t>표준 HBM에서 zHBM·4F²</a:t>
            </a:r>
          </a:p>
          <a:p>
            <a:pPr algn="l">
              <a:lnSpc>
                <a:spcPct val="118000"/>
              </a:lnSpc>
            </a:pPr>
            <a:r>
              <a:rPr sz="1050" b="1">
                <a:solidFill>
                  <a:srgbClr val="1A1A1A"/>
                </a:solidFill>
                <a:latin typeface="SamsungOneKorean"/>
                <a:ea typeface="SamsungOneKorean"/>
                <a:cs typeface="SamsungOneKorean"/>
              </a:rPr>
              <a:t>3D DRAM으로의 전환기,</a:t>
            </a:r>
          </a:p>
          <a:p>
            <a:pPr algn="l">
              <a:lnSpc>
                <a:spcPct val="118000"/>
              </a:lnSpc>
            </a:pPr>
            <a:r>
              <a:rPr sz="1050" b="1">
                <a:solidFill>
                  <a:srgbClr val="1A1A1A"/>
                </a:solidFill>
                <a:latin typeface="SamsungOneKorean"/>
                <a:ea typeface="SamsungOneKorean"/>
                <a:cs typeface="SamsungOneKorean"/>
              </a:rPr>
              <a:t>별동대·R&amp;D 하한 사수</a:t>
            </a:r>
          </a:p>
        </p:txBody>
      </p:sp>
      <p:sp>
        <p:nvSpPr>
          <p:cNvPr id="133" name="Rounded Rectangle 132"/>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수요발은 수요 막대가 줄고, 공급발은 수요가 그대로인 채 공급 곡선이 커진다.  </a:t>
            </a:r>
            <a:r>
              <a:rPr sz="1050" b="1">
                <a:solidFill>
                  <a:srgbClr val="1A1A1A"/>
                </a:solidFill>
                <a:latin typeface="SamsungOneKorean"/>
                <a:ea typeface="SamsungOneKorean"/>
                <a:cs typeface="SamsungOneKorean"/>
              </a:rPr>
              <a:t>원인이 다르면 풀어야 할 문제도 다르다.</a:t>
            </a:r>
          </a:p>
        </p:txBody>
      </p:sp>
      <p:sp>
        <p:nvSpPr>
          <p:cNvPr id="135" name="TextBox 134"/>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수요 막대 기준: 2025 글로벌 메모리 매출 실측 구성(DRAM $1,657억 중 HBM $340억 · NAND $697억, TrendForce·Yole)=100, 시나리오 막대는 방향 가정 적용 · 공급 차트: DRAM 3사·NAND 6사 부문별 CAPEX(TrendForce·각사 IR, 27Eᵉ=장비 매출 +7.8% 프록시+Kioxia ¥470B 고원·28Eᵉ=유지 가정)·CXMT 점유(TrendForce·FT) · 헤드라인은 가상 예시 · 대응 전략은 별도 장 · 기준일 2026-08</a:t>
            </a:r>
          </a:p>
        </p:txBody>
      </p:sp>
      <p:sp>
        <p:nvSpPr>
          <p:cNvPr id="136" name="TextBox 135"/>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9768" y="237744"/>
            <a:ext cx="11332159" cy="347472"/>
          </a:xfrm>
          <a:prstGeom prst="rect">
            <a:avLst/>
          </a:prstGeom>
          <a:noFill/>
        </p:spPr>
        <p:txBody>
          <a:bodyPr wrap="square" anchor="t" lIns="0" rIns="0" tIns="0" bIns="0">
            <a:spAutoFit/>
          </a:bodyPr>
          <a:lstStyle/>
          <a:p>
            <a:pPr algn="l">
              <a:lnSpc>
                <a:spcPct val="112000"/>
              </a:lnSpc>
            </a:pPr>
            <a:r>
              <a:rPr sz="2000" b="1">
                <a:solidFill>
                  <a:srgbClr val="1428A0"/>
                </a:solidFill>
                <a:latin typeface="SamsungOneKorean"/>
                <a:ea typeface="SamsungOneKorean"/>
                <a:cs typeface="SamsungOneKorean"/>
              </a:rPr>
              <a:t>끊기는 경우의 근접도:  </a:t>
            </a:r>
            <a:r>
              <a:rPr sz="2000" b="1">
                <a:solidFill>
                  <a:srgbClr val="1A1A1A"/>
                </a:solidFill>
                <a:latin typeface="SamsungOneKorean"/>
                <a:ea typeface="SamsungOneKorean"/>
                <a:cs typeface="SamsungOneKorean"/>
              </a:rPr>
              <a:t>전조는 실측되었지만, 발화 신호는 아직 없다</a:t>
            </a:r>
          </a:p>
        </p:txBody>
      </p:sp>
      <p:cxnSp>
        <p:nvCxnSpPr>
          <p:cNvPr id="3" name="Connector 2"/>
          <p:cNvCxnSpPr/>
          <p:nvPr/>
        </p:nvCxnSpPr>
        <p:spPr>
          <a:xfrm>
            <a:off x="429768" y="658368"/>
            <a:ext cx="11332159" cy="0"/>
          </a:xfrm>
          <a:prstGeom prst="line">
            <a:avLst/>
          </a:prstGeom>
          <a:ln w="17780">
            <a:solidFill>
              <a:srgbClr val="1428A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9768" y="768096"/>
            <a:ext cx="11332159" cy="182880"/>
          </a:xfrm>
          <a:prstGeom prst="rect">
            <a:avLst/>
          </a:prstGeom>
          <a:noFill/>
        </p:spPr>
        <p:txBody>
          <a:bodyPr wrap="square" anchor="t" lIns="0" rIns="0" tIns="0" bIns="0">
            <a:spAutoFit/>
          </a:bodyPr>
          <a:lstStyle/>
          <a:p>
            <a:pPr algn="l">
              <a:lnSpc>
                <a:spcPct val="100000"/>
              </a:lnSpc>
            </a:pPr>
            <a:r>
              <a:rPr sz="1050" b="0">
                <a:solidFill>
                  <a:srgbClr val="555555"/>
                </a:solidFill>
                <a:latin typeface="SamsungOneKorean"/>
                <a:ea typeface="SamsungOneKorean"/>
                <a:cs typeface="SamsungOneKorean"/>
              </a:rPr>
              <a:t>1번 시나리오(투자 자금이 끊기는 경우)의 발현 가능성 평가: 지출 속도와 창출 속도의 괴리, 그리고 발화 전 체크리스트</a:t>
            </a:r>
          </a:p>
        </p:txBody>
      </p:sp>
      <p:sp>
        <p:nvSpPr>
          <p:cNvPr id="5" name="Rectangle 4"/>
          <p:cNvSpPr/>
          <p:nvPr/>
        </p:nvSpPr>
        <p:spPr>
          <a:xfrm>
            <a:off x="429768"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지출   </a:t>
            </a:r>
            <a:r>
              <a:rPr sz="1250" b="1">
                <a:solidFill>
                  <a:srgbClr val="1A1A1A"/>
                </a:solidFill>
                <a:latin typeface="SamsungOneKorean"/>
                <a:ea typeface="SamsungOneKorean"/>
                <a:cs typeface="SamsungOneKorean"/>
              </a:rPr>
              <a:t>AI CapEx, 4사 합산 ($B)</a:t>
            </a:r>
          </a:p>
        </p:txBody>
      </p:sp>
      <p:sp>
        <p:nvSpPr>
          <p:cNvPr id="7" name="Rectangle 6"/>
          <p:cNvSpPr/>
          <p:nvPr/>
        </p:nvSpPr>
        <p:spPr>
          <a:xfrm>
            <a:off x="4178807" y="1115568"/>
            <a:ext cx="358444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78807" y="1225295"/>
            <a:ext cx="3584448"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창출   </a:t>
            </a:r>
            <a:r>
              <a:rPr sz="1250" b="1">
                <a:solidFill>
                  <a:srgbClr val="1A1A1A"/>
                </a:solidFill>
                <a:latin typeface="SamsungOneKorean"/>
                <a:ea typeface="SamsungOneKorean"/>
                <a:cs typeface="SamsungOneKorean"/>
              </a:rPr>
              <a:t>이익·현금이 따라가지 못한다</a:t>
            </a:r>
          </a:p>
        </p:txBody>
      </p:sp>
      <p:sp>
        <p:nvSpPr>
          <p:cNvPr id="9" name="Rectangle 8"/>
          <p:cNvSpPr/>
          <p:nvPr/>
        </p:nvSpPr>
        <p:spPr>
          <a:xfrm>
            <a:off x="7927848" y="1115568"/>
            <a:ext cx="3834079"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225295"/>
            <a:ext cx="3834079" cy="182880"/>
          </a:xfrm>
          <a:prstGeom prst="rect">
            <a:avLst/>
          </a:prstGeom>
          <a:noFill/>
        </p:spPr>
        <p:txBody>
          <a:bodyPr wrap="square" anchor="t" lIns="0" rIns="0" tIns="0" bIns="0">
            <a:spAutoFit/>
          </a:bodyPr>
          <a:lstStyle/>
          <a:p>
            <a:pPr algn="l">
              <a:lnSpc>
                <a:spcPct val="100000"/>
              </a:lnSpc>
            </a:pPr>
            <a:r>
              <a:rPr sz="1250" b="1">
                <a:solidFill>
                  <a:srgbClr val="1428A0"/>
                </a:solidFill>
                <a:latin typeface="SamsungOneKorean"/>
                <a:ea typeface="SamsungOneKorean"/>
                <a:cs typeface="SamsungOneKorean"/>
              </a:rPr>
              <a:t>판정 보드   </a:t>
            </a:r>
            <a:r>
              <a:rPr sz="1250" b="1">
                <a:solidFill>
                  <a:srgbClr val="1A1A1A"/>
                </a:solidFill>
                <a:latin typeface="SamsungOneKorean"/>
                <a:ea typeface="SamsungOneKorean"/>
                <a:cs typeface="SamsungOneKorean"/>
              </a:rPr>
              <a:t>발화 전 체크리스트</a:t>
            </a:r>
          </a:p>
        </p:txBody>
      </p:sp>
      <p:cxnSp>
        <p:nvCxnSpPr>
          <p:cNvPr id="11" name="Connector 10"/>
          <p:cNvCxnSpPr/>
          <p:nvPr/>
        </p:nvCxnSpPr>
        <p:spPr>
          <a:xfrm>
            <a:off x="521207" y="4846320"/>
            <a:ext cx="3401569" cy="0"/>
          </a:xfrm>
          <a:prstGeom prst="line">
            <a:avLst/>
          </a:prstGeom>
          <a:ln w="1143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58951" y="4283964"/>
            <a:ext cx="566928" cy="562355"/>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1" y="4082796"/>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205</a:t>
            </a:r>
          </a:p>
        </p:txBody>
      </p:sp>
      <p:sp>
        <p:nvSpPr>
          <p:cNvPr id="14" name="TextBox 13"/>
          <p:cNvSpPr txBox="1"/>
          <p:nvPr/>
        </p:nvSpPr>
        <p:spPr>
          <a:xfrm>
            <a:off x="621791"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2024</a:t>
            </a:r>
          </a:p>
        </p:txBody>
      </p:sp>
      <p:sp>
        <p:nvSpPr>
          <p:cNvPr id="15" name="Rectangle 14"/>
          <p:cNvSpPr/>
          <p:nvPr/>
        </p:nvSpPr>
        <p:spPr>
          <a:xfrm>
            <a:off x="1545336" y="3721608"/>
            <a:ext cx="566928" cy="1124711"/>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8176" y="3520440"/>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410</a:t>
            </a:r>
          </a:p>
        </p:txBody>
      </p:sp>
      <p:sp>
        <p:nvSpPr>
          <p:cNvPr id="17" name="TextBox 16"/>
          <p:cNvSpPr txBox="1"/>
          <p:nvPr/>
        </p:nvSpPr>
        <p:spPr>
          <a:xfrm>
            <a:off x="1408176" y="3355848"/>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+100%</a:t>
            </a:r>
          </a:p>
        </p:txBody>
      </p:sp>
      <p:sp>
        <p:nvSpPr>
          <p:cNvPr id="18" name="TextBox 17"/>
          <p:cNvSpPr txBox="1"/>
          <p:nvPr/>
        </p:nvSpPr>
        <p:spPr>
          <a:xfrm>
            <a:off x="1408176"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2025</a:t>
            </a:r>
          </a:p>
        </p:txBody>
      </p:sp>
      <p:sp>
        <p:nvSpPr>
          <p:cNvPr id="19" name="Rectangle 18"/>
          <p:cNvSpPr/>
          <p:nvPr/>
        </p:nvSpPr>
        <p:spPr>
          <a:xfrm>
            <a:off x="2331720" y="2788920"/>
            <a:ext cx="566928" cy="2057399"/>
          </a:xfrm>
          <a:prstGeom prst="rect">
            <a:avLst/>
          </a:prstGeom>
          <a:solidFill>
            <a:srgbClr val="6B6B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587752"/>
            <a:ext cx="841247" cy="146304"/>
          </a:xfrm>
          <a:prstGeom prst="rect">
            <a:avLst/>
          </a:prstGeom>
          <a:noFill/>
        </p:spPr>
        <p:txBody>
          <a:bodyPr wrap="square" anchor="t" lIns="0" rIns="0" tIns="0" bIns="0">
            <a:spAutoFit/>
          </a:bodyPr>
          <a:lstStyle/>
          <a:p>
            <a:pPr algn="ctr">
              <a:lnSpc>
                <a:spcPct val="100000"/>
              </a:lnSpc>
            </a:pPr>
            <a:r>
              <a:rPr sz="1050" b="1">
                <a:solidFill>
                  <a:srgbClr val="1A1A1A"/>
                </a:solidFill>
                <a:latin typeface="SamsungOneKorean"/>
                <a:ea typeface="SamsungOneKorean"/>
                <a:cs typeface="SamsungOneKorean"/>
              </a:rPr>
              <a:t>750</a:t>
            </a:r>
          </a:p>
        </p:txBody>
      </p:sp>
      <p:sp>
        <p:nvSpPr>
          <p:cNvPr id="21" name="TextBox 20"/>
          <p:cNvSpPr txBox="1"/>
          <p:nvPr/>
        </p:nvSpPr>
        <p:spPr>
          <a:xfrm>
            <a:off x="2194560" y="242316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+82%</a:t>
            </a:r>
          </a:p>
        </p:txBody>
      </p:sp>
      <p:sp>
        <p:nvSpPr>
          <p:cNvPr id="22" name="TextBox 21"/>
          <p:cNvSpPr txBox="1"/>
          <p:nvPr/>
        </p:nvSpPr>
        <p:spPr>
          <a:xfrm>
            <a:off x="2194560"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26E</a:t>
            </a:r>
          </a:p>
        </p:txBody>
      </p:sp>
      <p:sp>
        <p:nvSpPr>
          <p:cNvPr id="23" name="Rectangle 22"/>
          <p:cNvSpPr/>
          <p:nvPr/>
        </p:nvSpPr>
        <p:spPr>
          <a:xfrm>
            <a:off x="3118104" y="1828800"/>
            <a:ext cx="566928" cy="3017519"/>
          </a:xfrm>
          <a:prstGeom prst="rect">
            <a:avLst/>
          </a:prstGeom>
          <a:solidFill>
            <a:srgbClr val="E2E2E5"/>
          </a:solidFill>
          <a:ln w="10160">
            <a:solidFill>
              <a:srgbClr val="8A8A8E"/>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80944" y="1627632"/>
            <a:ext cx="841247" cy="146304"/>
          </a:xfrm>
          <a:prstGeom prst="rect">
            <a:avLst/>
          </a:prstGeom>
          <a:noFill/>
        </p:spPr>
        <p:txBody>
          <a:bodyPr wrap="square" anchor="t" lIns="0" rIns="0" tIns="0" bIns="0">
            <a:spAutoFit/>
          </a:bodyPr>
          <a:lstStyle/>
          <a:p>
            <a:pPr algn="ctr">
              <a:lnSpc>
                <a:spcPct val="100000"/>
              </a:lnSpc>
            </a:pPr>
            <a:r>
              <a:rPr sz="1050" b="1">
                <a:solidFill>
                  <a:srgbClr val="8A8A8E"/>
                </a:solidFill>
                <a:latin typeface="SamsungOneKorean"/>
                <a:ea typeface="SamsungOneKorean"/>
                <a:cs typeface="SamsungOneKorean"/>
              </a:rPr>
              <a:t>1,100ᵉ</a:t>
            </a:r>
          </a:p>
        </p:txBody>
      </p:sp>
      <p:sp>
        <p:nvSpPr>
          <p:cNvPr id="25" name="TextBox 24"/>
          <p:cNvSpPr txBox="1"/>
          <p:nvPr/>
        </p:nvSpPr>
        <p:spPr>
          <a:xfrm>
            <a:off x="2980944" y="1463040"/>
            <a:ext cx="841247" cy="137160"/>
          </a:xfrm>
          <a:prstGeom prst="rect">
            <a:avLst/>
          </a:prstGeom>
          <a:noFill/>
        </p:spPr>
        <p:txBody>
          <a:bodyPr wrap="square" anchor="t" lIns="0" rIns="0" tIns="0" bIns="0">
            <a:spAutoFit/>
          </a:bodyPr>
          <a:lstStyle/>
          <a:p>
            <a:pPr algn="ctr">
              <a:lnSpc>
                <a:spcPct val="100000"/>
              </a:lnSpc>
            </a:pPr>
            <a:r>
              <a:rPr sz="1000" b="0">
                <a:solidFill>
                  <a:srgbClr val="1428A0"/>
                </a:solidFill>
                <a:latin typeface="SamsungOneKorean"/>
                <a:ea typeface="SamsungOneKorean"/>
                <a:cs typeface="SamsungOneKorean"/>
              </a:rPr>
              <a:t>JPM 전망</a:t>
            </a:r>
          </a:p>
        </p:txBody>
      </p:sp>
      <p:sp>
        <p:nvSpPr>
          <p:cNvPr id="26" name="TextBox 25"/>
          <p:cNvSpPr txBox="1"/>
          <p:nvPr/>
        </p:nvSpPr>
        <p:spPr>
          <a:xfrm>
            <a:off x="2980944" y="4892040"/>
            <a:ext cx="841247" cy="128016"/>
          </a:xfrm>
          <a:prstGeom prst="rect">
            <a:avLst/>
          </a:prstGeom>
          <a:noFill/>
        </p:spPr>
        <p:txBody>
          <a:bodyPr wrap="square" anchor="t" lIns="0" rIns="0" tIns="0" bIns="0">
            <a:spAutoFit/>
          </a:bodyPr>
          <a:lstStyle/>
          <a:p>
            <a:pPr algn="ctr">
              <a:lnSpc>
                <a:spcPct val="100000"/>
              </a:lnSpc>
            </a:pPr>
            <a:r>
              <a:rPr sz="1000" b="0">
                <a:solidFill>
                  <a:srgbClr val="8A8A8E"/>
                </a:solidFill>
                <a:latin typeface="SamsungOneKorean"/>
                <a:ea typeface="SamsungOneKorean"/>
                <a:cs typeface="SamsungOneKorean"/>
              </a:rPr>
              <a:t>27E</a:t>
            </a:r>
          </a:p>
        </p:txBody>
      </p:sp>
      <p:sp>
        <p:nvSpPr>
          <p:cNvPr id="27" name="TextBox 26"/>
          <p:cNvSpPr txBox="1"/>
          <p:nvPr/>
        </p:nvSpPr>
        <p:spPr>
          <a:xfrm>
            <a:off x="429768" y="5102352"/>
            <a:ext cx="3584448" cy="310896"/>
          </a:xfrm>
          <a:prstGeom prst="rect">
            <a:avLst/>
          </a:prstGeom>
          <a:noFill/>
        </p:spPr>
        <p:txBody>
          <a:bodyPr wrap="square" anchor="t" lIns="0" rIns="0" tIns="0" bIns="0">
            <a:spAutoFit/>
          </a:bodyPr>
          <a:lstStyle/>
          <a:p>
            <a:pPr algn="l">
              <a:lnSpc>
                <a:spcPct val="120000"/>
              </a:lnSpc>
            </a:pPr>
            <a:r>
              <a:rPr sz="1000" b="0">
                <a:solidFill>
                  <a:srgbClr val="1A1A1A"/>
                </a:solidFill>
                <a:latin typeface="SamsungOneKorean"/>
                <a:ea typeface="SamsungOneKorean"/>
                <a:cs typeface="SamsungOneKorean"/>
              </a:rPr>
              <a:t>Q2 실적 후 4사 전원 상향, 삭감 발표 0건.</a:t>
            </a:r>
          </a:p>
          <a:p>
            <a:pPr algn="l">
              <a:lnSpc>
                <a:spcPct val="120000"/>
              </a:lnSpc>
            </a:pPr>
            <a:r>
              <a:rPr sz="1000" b="0">
                <a:solidFill>
                  <a:srgbClr val="1A1A1A"/>
                </a:solidFill>
                <a:latin typeface="SamsungOneKorean"/>
                <a:ea typeface="SamsungOneKorean"/>
                <a:cs typeface="SamsungOneKorean"/>
              </a:rPr>
              <a:t>장기 자산(토지·전력·셸)은 조기 확약 관행 지속</a:t>
            </a:r>
          </a:p>
        </p:txBody>
      </p:sp>
      <p:sp>
        <p:nvSpPr>
          <p:cNvPr id="28" name="Rounded Rectangle 27"/>
          <p:cNvSpPr/>
          <p:nvPr/>
        </p:nvSpPr>
        <p:spPr>
          <a:xfrm>
            <a:off x="4178807" y="1389888"/>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5112" y="1499616"/>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CapEx / 영업현금흐름</a:t>
            </a:r>
          </a:p>
        </p:txBody>
      </p:sp>
      <p:sp>
        <p:nvSpPr>
          <p:cNvPr id="30" name="TextBox 29"/>
          <p:cNvSpPr txBox="1"/>
          <p:nvPr/>
        </p:nvSpPr>
        <p:spPr>
          <a:xfrm>
            <a:off x="4325112" y="1719072"/>
            <a:ext cx="3291840" cy="310896"/>
          </a:xfrm>
          <a:prstGeom prst="rect">
            <a:avLst/>
          </a:prstGeom>
          <a:noFill/>
        </p:spPr>
        <p:txBody>
          <a:bodyPr wrap="square" anchor="t" lIns="0" rIns="0" tIns="0" bIns="0">
            <a:spAutoFit/>
          </a:bodyPr>
          <a:lstStyle/>
          <a:p>
            <a:pPr algn="l">
              <a:lnSpc>
                <a:spcPct val="100000"/>
              </a:lnSpc>
            </a:pPr>
            <a:r>
              <a:rPr sz="1900" b="1">
                <a:solidFill>
                  <a:srgbClr val="8A8A8E"/>
                </a:solidFill>
                <a:latin typeface="SamsungOneKorean"/>
                <a:ea typeface="SamsungOneKorean"/>
                <a:cs typeface="SamsungOneKorean"/>
              </a:rPr>
              <a:t>76%</a:t>
            </a:r>
            <a:r>
              <a:rPr sz="1900" b="1">
                <a:solidFill>
                  <a:srgbClr val="8A8A8E"/>
                </a:solidFill>
                <a:latin typeface="SamsungOneKorean"/>
                <a:ea typeface="SamsungOneKorean"/>
                <a:cs typeface="SamsungOneKorean"/>
              </a:rPr>
              <a:t>  →  </a:t>
            </a:r>
            <a:r>
              <a:rPr sz="1900" b="1">
                <a:solidFill>
                  <a:srgbClr val="1428A0"/>
                </a:solidFill>
                <a:latin typeface="SamsungOneKorean"/>
                <a:ea typeface="SamsungOneKorean"/>
                <a:cs typeface="SamsungOneKorean"/>
              </a:rPr>
              <a:t>94%</a:t>
            </a:r>
          </a:p>
        </p:txBody>
      </p:sp>
      <p:sp>
        <p:nvSpPr>
          <p:cNvPr id="31" name="TextBox 30"/>
          <p:cNvSpPr txBox="1"/>
          <p:nvPr/>
        </p:nvSpPr>
        <p:spPr>
          <a:xfrm>
            <a:off x="4325112" y="2139696"/>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2024 → 2026E, '자기잠식' 임계점 근접</a:t>
            </a:r>
          </a:p>
        </p:txBody>
      </p:sp>
      <p:sp>
        <p:nvSpPr>
          <p:cNvPr id="32" name="Rounded Rectangle 31"/>
          <p:cNvSpPr/>
          <p:nvPr/>
        </p:nvSpPr>
        <p:spPr>
          <a:xfrm>
            <a:off x="4178807" y="2688336"/>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25112" y="2798064"/>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하이퍼스케일러 FCF 반전</a:t>
            </a:r>
          </a:p>
        </p:txBody>
      </p:sp>
      <p:sp>
        <p:nvSpPr>
          <p:cNvPr id="34" name="TextBox 33"/>
          <p:cNvSpPr txBox="1"/>
          <p:nvPr/>
        </p:nvSpPr>
        <p:spPr>
          <a:xfrm>
            <a:off x="4325112" y="3017520"/>
            <a:ext cx="3291840" cy="310896"/>
          </a:xfrm>
          <a:prstGeom prst="rect">
            <a:avLst/>
          </a:prstGeom>
          <a:noFill/>
        </p:spPr>
        <p:txBody>
          <a:bodyPr wrap="square" anchor="t" lIns="0" rIns="0" tIns="0" bIns="0">
            <a:spAutoFit/>
          </a:bodyPr>
          <a:lstStyle/>
          <a:p>
            <a:pPr algn="l">
              <a:lnSpc>
                <a:spcPct val="100000"/>
              </a:lnSpc>
            </a:pPr>
            <a:r>
              <a:rPr sz="1600" b="1">
                <a:solidFill>
                  <a:srgbClr val="1428A0"/>
                </a:solidFill>
                <a:latin typeface="SamsungOneKorean"/>
                <a:ea typeface="SamsungOneKorean"/>
                <a:cs typeface="SamsungOneKorean"/>
              </a:rPr>
              <a:t>Meta -91%</a:t>
            </a:r>
            <a:r>
              <a:rPr sz="1600" b="1">
                <a:solidFill>
                  <a:srgbClr val="8A8A8E"/>
                </a:solidFill>
                <a:latin typeface="SamsungOneKorean"/>
                <a:ea typeface="SamsungOneKorean"/>
                <a:cs typeface="SamsungOneKorean"/>
              </a:rPr>
              <a:t> · </a:t>
            </a:r>
            <a:r>
              <a:rPr sz="1600" b="1">
                <a:solidFill>
                  <a:srgbClr val="1428A0"/>
                </a:solidFill>
                <a:latin typeface="SamsungOneKorean"/>
                <a:ea typeface="SamsungOneKorean"/>
                <a:cs typeface="SamsungOneKorean"/>
              </a:rPr>
              <a:t>Amazon 적자</a:t>
            </a:r>
          </a:p>
        </p:txBody>
      </p:sp>
      <p:sp>
        <p:nvSpPr>
          <p:cNvPr id="35" name="TextBox 34"/>
          <p:cNvSpPr txBox="1"/>
          <p:nvPr/>
        </p:nvSpPr>
        <p:spPr>
          <a:xfrm>
            <a:off x="4325112" y="3438144"/>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분기 $784M로 급감 · TTM ~-$7.6B, 두 번째 반전</a:t>
            </a:r>
          </a:p>
        </p:txBody>
      </p:sp>
      <p:sp>
        <p:nvSpPr>
          <p:cNvPr id="36" name="Rounded Rectangle 35"/>
          <p:cNvSpPr/>
          <p:nvPr/>
        </p:nvSpPr>
        <p:spPr>
          <a:xfrm>
            <a:off x="4178807" y="3986783"/>
            <a:ext cx="3584448" cy="1152144"/>
          </a:xfrm>
          <a:prstGeom prst="roundRect">
            <a:avLst>
              <a:gd name="adj" fmla="val 6000"/>
            </a:avLst>
          </a:prstGeom>
          <a:solidFill>
            <a:srgbClr val="F6F6F7"/>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5112" y="4096511"/>
            <a:ext cx="3291840"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필요 매출 vs 자금 갭 (Bain)</a:t>
            </a:r>
          </a:p>
        </p:txBody>
      </p:sp>
      <p:sp>
        <p:nvSpPr>
          <p:cNvPr id="38" name="TextBox 37"/>
          <p:cNvSpPr txBox="1"/>
          <p:nvPr/>
        </p:nvSpPr>
        <p:spPr>
          <a:xfrm>
            <a:off x="4325112" y="4315968"/>
            <a:ext cx="3291840" cy="310896"/>
          </a:xfrm>
          <a:prstGeom prst="rect">
            <a:avLst/>
          </a:prstGeom>
          <a:noFill/>
        </p:spPr>
        <p:txBody>
          <a:bodyPr wrap="square" anchor="t" lIns="0" rIns="0" tIns="0" bIns="0">
            <a:spAutoFit/>
          </a:bodyPr>
          <a:lstStyle/>
          <a:p>
            <a:pPr algn="l">
              <a:lnSpc>
                <a:spcPct val="100000"/>
              </a:lnSpc>
            </a:pPr>
            <a:r>
              <a:rPr sz="1900" b="1">
                <a:solidFill>
                  <a:srgbClr val="1428A0"/>
                </a:solidFill>
                <a:latin typeface="SamsungOneKorean"/>
                <a:ea typeface="SamsungOneKorean"/>
                <a:cs typeface="SamsungOneKorean"/>
              </a:rPr>
              <a:t>$2조/년</a:t>
            </a:r>
            <a:r>
              <a:rPr sz="1900" b="1">
                <a:solidFill>
                  <a:srgbClr val="8A8A8E"/>
                </a:solidFill>
                <a:latin typeface="SamsungOneKorean"/>
                <a:ea typeface="SamsungOneKorean"/>
                <a:cs typeface="SamsungOneKorean"/>
              </a:rPr>
              <a:t>  vs 갭 </a:t>
            </a:r>
            <a:r>
              <a:rPr sz="1900" b="1">
                <a:solidFill>
                  <a:srgbClr val="1428A0"/>
                </a:solidFill>
                <a:latin typeface="SamsungOneKorean"/>
                <a:ea typeface="SamsungOneKorean"/>
                <a:cs typeface="SamsungOneKorean"/>
              </a:rPr>
              <a:t>$800B/년</a:t>
            </a:r>
          </a:p>
        </p:txBody>
      </p:sp>
      <p:sp>
        <p:nvSpPr>
          <p:cNvPr id="39" name="TextBox 38"/>
          <p:cNvSpPr txBox="1"/>
          <p:nvPr/>
        </p:nvSpPr>
        <p:spPr>
          <a:xfrm>
            <a:off x="4325112" y="4736592"/>
            <a:ext cx="3291840" cy="292608"/>
          </a:xfrm>
          <a:prstGeom prst="rect">
            <a:avLst/>
          </a:prstGeom>
          <a:noFill/>
        </p:spPr>
        <p:txBody>
          <a:bodyPr wrap="square" anchor="t" lIns="0" rIns="0" tIns="0" bIns="0">
            <a:spAutoFit/>
          </a:bodyPr>
          <a:lstStyle/>
          <a:p>
            <a:pPr algn="l">
              <a:lnSpc>
                <a:spcPct val="115000"/>
              </a:lnSpc>
            </a:pPr>
            <a:r>
              <a:rPr sz="1000" b="0">
                <a:solidFill>
                  <a:srgbClr val="555555"/>
                </a:solidFill>
                <a:latin typeface="SamsungOneKorean"/>
                <a:ea typeface="SamsungOneKorean"/>
                <a:cs typeface="SamsungOneKorean"/>
              </a:rPr>
              <a:t>2030 수익성 회수에 필요한 신규 매출과 부족분</a:t>
            </a:r>
          </a:p>
        </p:txBody>
      </p:sp>
      <p:sp>
        <p:nvSpPr>
          <p:cNvPr id="40" name="TextBox 39"/>
          <p:cNvSpPr txBox="1"/>
          <p:nvPr/>
        </p:nvSpPr>
        <p:spPr>
          <a:xfrm>
            <a:off x="7927848" y="1389888"/>
            <a:ext cx="3834079" cy="155448"/>
          </a:xfrm>
          <a:prstGeom prst="rect">
            <a:avLst/>
          </a:prstGeom>
          <a:noFill/>
        </p:spPr>
        <p:txBody>
          <a:bodyPr wrap="square" anchor="t" lIns="0" rIns="0" tIns="0" bIns="0">
            <a:spAutoFit/>
          </a:bodyPr>
          <a:lstStyle/>
          <a:p>
            <a:pPr algn="l">
              <a:lnSpc>
                <a:spcPct val="100000"/>
              </a:lnSpc>
            </a:pPr>
            <a:r>
              <a:rPr sz="1050" b="1">
                <a:solidFill>
                  <a:srgbClr val="D93025"/>
                </a:solidFill>
                <a:latin typeface="SamsungOneKorean"/>
                <a:ea typeface="SamsungOneKorean"/>
                <a:cs typeface="SamsungOneKorean"/>
              </a:rPr>
              <a:t>실측된 전조 3</a:t>
            </a:r>
          </a:p>
        </p:txBody>
      </p:sp>
      <p:sp>
        <p:nvSpPr>
          <p:cNvPr id="41" name="Rectangle 40"/>
          <p:cNvSpPr/>
          <p:nvPr/>
        </p:nvSpPr>
        <p:spPr>
          <a:xfrm>
            <a:off x="7946136" y="16166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29016" y="15910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FCF 다이버전스 2사</a:t>
            </a:r>
            <a:r>
              <a:rPr sz="1000" b="0">
                <a:solidFill>
                  <a:srgbClr val="555555"/>
                </a:solidFill>
                <a:latin typeface="SamsungOneKorean"/>
                <a:ea typeface="SamsungOneKorean"/>
                <a:cs typeface="SamsungOneKorean"/>
              </a:rPr>
              <a:t>: Meta·Amazon 반전</a:t>
            </a:r>
          </a:p>
        </p:txBody>
      </p:sp>
      <p:sp>
        <p:nvSpPr>
          <p:cNvPr id="43" name="Rectangle 42"/>
          <p:cNvSpPr/>
          <p:nvPr/>
        </p:nvSpPr>
        <p:spPr>
          <a:xfrm>
            <a:off x="7946136" y="18452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29016" y="18196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CapEx/현금흐름 94%</a:t>
            </a:r>
            <a:r>
              <a:rPr sz="1000" b="0">
                <a:solidFill>
                  <a:srgbClr val="555555"/>
                </a:solidFill>
                <a:latin typeface="SamsungOneKorean"/>
                <a:ea typeface="SamsungOneKorean"/>
                <a:cs typeface="SamsungOneKorean"/>
              </a:rPr>
              <a:t>: 자기잠식 임계</a:t>
            </a:r>
          </a:p>
        </p:txBody>
      </p:sp>
      <p:sp>
        <p:nvSpPr>
          <p:cNvPr id="45" name="Rectangle 44"/>
          <p:cNvSpPr/>
          <p:nvPr/>
        </p:nvSpPr>
        <p:spPr>
          <a:xfrm>
            <a:off x="7946136" y="2073859"/>
            <a:ext cx="91440" cy="9144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9016" y="204825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공급자 이익 정점</a:t>
            </a:r>
            <a:r>
              <a:rPr sz="1000" b="0">
                <a:solidFill>
                  <a:srgbClr val="555555"/>
                </a:solidFill>
                <a:latin typeface="SamsungOneKorean"/>
                <a:ea typeface="SamsungOneKorean"/>
                <a:cs typeface="SamsungOneKorean"/>
              </a:rPr>
              <a:t>: SK OPM ~76% 사상 최대</a:t>
            </a:r>
          </a:p>
        </p:txBody>
      </p:sp>
      <p:sp>
        <p:nvSpPr>
          <p:cNvPr id="47" name="TextBox 46"/>
          <p:cNvSpPr txBox="1"/>
          <p:nvPr/>
        </p:nvSpPr>
        <p:spPr>
          <a:xfrm>
            <a:off x="7927848" y="2395728"/>
            <a:ext cx="3834079" cy="155448"/>
          </a:xfrm>
          <a:prstGeom prst="rect">
            <a:avLst/>
          </a:prstGeom>
          <a:noFill/>
        </p:spPr>
        <p:txBody>
          <a:bodyPr wrap="square" anchor="t" lIns="0" rIns="0" tIns="0" bIns="0">
            <a:spAutoFit/>
          </a:bodyPr>
          <a:lstStyle/>
          <a:p>
            <a:pPr algn="l">
              <a:lnSpc>
                <a:spcPct val="100000"/>
              </a:lnSpc>
            </a:pPr>
            <a:r>
              <a:rPr sz="1050" b="1">
                <a:solidFill>
                  <a:srgbClr val="00A651"/>
                </a:solidFill>
                <a:latin typeface="SamsungOneKorean"/>
                <a:ea typeface="SamsungOneKorean"/>
                <a:cs typeface="SamsungOneKorean"/>
              </a:rPr>
              <a:t>미발동 발화 신호 4</a:t>
            </a:r>
          </a:p>
        </p:txBody>
      </p:sp>
      <p:sp>
        <p:nvSpPr>
          <p:cNvPr id="48" name="Rectangle 47"/>
          <p:cNvSpPr/>
          <p:nvPr/>
        </p:nvSpPr>
        <p:spPr>
          <a:xfrm>
            <a:off x="7946136" y="26224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9016" y="25968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CapEx 삭감 0건</a:t>
            </a:r>
            <a:r>
              <a:rPr sz="1000" b="0">
                <a:solidFill>
                  <a:srgbClr val="555555"/>
                </a:solidFill>
                <a:latin typeface="SamsungOneKorean"/>
                <a:ea typeface="SamsungOneKorean"/>
                <a:cs typeface="SamsungOneKorean"/>
              </a:rPr>
              <a:t>: 트리거 YoY -25%</a:t>
            </a:r>
          </a:p>
        </p:txBody>
      </p:sp>
      <p:sp>
        <p:nvSpPr>
          <p:cNvPr id="50" name="Rectangle 49"/>
          <p:cNvSpPr/>
          <p:nvPr/>
        </p:nvSpPr>
        <p:spPr>
          <a:xfrm>
            <a:off x="7946136" y="28510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29016" y="28254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GPU 임대가 firming</a:t>
            </a:r>
            <a:r>
              <a:rPr sz="1000" b="0">
                <a:solidFill>
                  <a:srgbClr val="555555"/>
                </a:solidFill>
                <a:latin typeface="SamsungOneKorean"/>
                <a:ea typeface="SamsungOneKorean"/>
                <a:cs typeface="SamsungOneKorean"/>
              </a:rPr>
              <a:t>: H100 $2.69·H200 $4.38</a:t>
            </a:r>
          </a:p>
        </p:txBody>
      </p:sp>
      <p:sp>
        <p:nvSpPr>
          <p:cNvPr id="52" name="Rectangle 51"/>
          <p:cNvSpPr/>
          <p:nvPr/>
        </p:nvSpPr>
        <p:spPr>
          <a:xfrm>
            <a:off x="7946136" y="30796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9016" y="30540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DC 취소 미관측</a:t>
            </a:r>
            <a:r>
              <a:rPr sz="1000" b="0">
                <a:solidFill>
                  <a:srgbClr val="555555"/>
                </a:solidFill>
                <a:latin typeface="SamsungOneKorean"/>
                <a:ea typeface="SamsungOneKorean"/>
                <a:cs typeface="SamsungOneKorean"/>
              </a:rPr>
              <a:t>: 파이프라인 55.9GW 유지</a:t>
            </a:r>
          </a:p>
        </p:txBody>
      </p:sp>
      <p:sp>
        <p:nvSpPr>
          <p:cNvPr id="54" name="Rectangle 53"/>
          <p:cNvSpPr/>
          <p:nvPr/>
        </p:nvSpPr>
        <p:spPr>
          <a:xfrm>
            <a:off x="7946136" y="3308299"/>
            <a:ext cx="91440" cy="91440"/>
          </a:xfrm>
          <a:prstGeom prst="rect">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29016" y="3282696"/>
            <a:ext cx="3614623" cy="292608"/>
          </a:xfrm>
          <a:prstGeom prst="rect">
            <a:avLst/>
          </a:prstGeom>
          <a:noFill/>
        </p:spPr>
        <p:txBody>
          <a:bodyPr wrap="square" anchor="t" lIns="0" rIns="0" tIns="0" bIns="0">
            <a:spAutoFit/>
          </a:bodyPr>
          <a:lstStyle/>
          <a:p>
            <a:pPr algn="l">
              <a:lnSpc>
                <a:spcPct val="112000"/>
              </a:lnSpc>
            </a:pPr>
            <a:r>
              <a:rPr sz="1000" b="1">
                <a:solidFill>
                  <a:srgbClr val="1A1A1A"/>
                </a:solidFill>
                <a:latin typeface="SamsungOneKorean"/>
                <a:ea typeface="SamsungOneKorean"/>
                <a:cs typeface="SamsungOneKorean"/>
              </a:rPr>
              <a:t>Cloud 백로그 견조</a:t>
            </a:r>
            <a:r>
              <a:rPr sz="1000" b="0">
                <a:solidFill>
                  <a:srgbClr val="555555"/>
                </a:solidFill>
                <a:latin typeface="SamsungOneKorean"/>
                <a:ea typeface="SamsungOneKorean"/>
                <a:cs typeface="SamsungOneKorean"/>
              </a:rPr>
              <a:t>: Google $514B(+$50B QoQ)</a:t>
            </a:r>
          </a:p>
        </p:txBody>
      </p:sp>
      <p:sp>
        <p:nvSpPr>
          <p:cNvPr id="56" name="TextBox 55"/>
          <p:cNvSpPr txBox="1"/>
          <p:nvPr/>
        </p:nvSpPr>
        <p:spPr>
          <a:xfrm>
            <a:off x="7927848" y="3630168"/>
            <a:ext cx="3834079" cy="155448"/>
          </a:xfrm>
          <a:prstGeom prst="rect">
            <a:avLst/>
          </a:prstGeom>
          <a:noFill/>
        </p:spPr>
        <p:txBody>
          <a:bodyPr wrap="square" anchor="t" lIns="0" rIns="0" tIns="0" bIns="0">
            <a:spAutoFit/>
          </a:bodyPr>
          <a:lstStyle/>
          <a:p>
            <a:pPr algn="l">
              <a:lnSpc>
                <a:spcPct val="100000"/>
              </a:lnSpc>
            </a:pPr>
            <a:r>
              <a:rPr sz="1050" b="1">
                <a:solidFill>
                  <a:srgbClr val="555555"/>
                </a:solidFill>
                <a:latin typeface="SamsungOneKorean"/>
                <a:ea typeface="SamsungOneKorean"/>
                <a:cs typeface="SamsungOneKorean"/>
              </a:rPr>
              <a:t>완충</a:t>
            </a:r>
          </a:p>
        </p:txBody>
      </p:sp>
      <p:sp>
        <p:nvSpPr>
          <p:cNvPr id="57" name="TextBox 56"/>
          <p:cNvSpPr txBox="1"/>
          <p:nvPr/>
        </p:nvSpPr>
        <p:spPr>
          <a:xfrm>
            <a:off x="7946136" y="3831336"/>
            <a:ext cx="3797503" cy="457200"/>
          </a:xfrm>
          <a:prstGeom prst="rect">
            <a:avLst/>
          </a:prstGeom>
          <a:noFill/>
        </p:spPr>
        <p:txBody>
          <a:bodyPr wrap="square" anchor="t" lIns="0" rIns="0" tIns="0" bIns="0">
            <a:spAutoFit/>
          </a:bodyPr>
          <a:lstStyle/>
          <a:p>
            <a:pPr algn="l">
              <a:lnSpc>
                <a:spcPct val="125000"/>
              </a:lnSpc>
            </a:pPr>
            <a:r>
              <a:rPr sz="1000" b="0">
                <a:solidFill>
                  <a:srgbClr val="1A1A1A"/>
                </a:solidFill>
                <a:latin typeface="SamsungOneKorean"/>
                <a:ea typeface="SamsungOneKorean"/>
                <a:cs typeface="SamsungOneKorean"/>
              </a:rPr>
              <a:t>take-or-pay·NTB 락인이 발화 후에도 초기 6~12개월을 흡수.</a:t>
            </a:r>
          </a:p>
          <a:p>
            <a:pPr algn="l">
              <a:lnSpc>
                <a:spcPct val="125000"/>
              </a:lnSpc>
            </a:pPr>
            <a:r>
              <a:rPr sz="1000" b="1">
                <a:solidFill>
                  <a:srgbClr val="1A1A1A"/>
                </a:solidFill>
                <a:latin typeface="SamsungOneKorean"/>
                <a:ea typeface="SamsungOneKorean"/>
                <a:cs typeface="SamsungOneKorean"/>
              </a:rPr>
              <a:t>그래서 관건은 커버리지의 만기 구조다</a:t>
            </a:r>
          </a:p>
        </p:txBody>
      </p:sp>
      <p:sp>
        <p:nvSpPr>
          <p:cNvPr id="58" name="Rounded Rectangle 57"/>
          <p:cNvSpPr/>
          <p:nvPr/>
        </p:nvSpPr>
        <p:spPr>
          <a:xfrm>
            <a:off x="7927848" y="4370832"/>
            <a:ext cx="3834079" cy="1005840"/>
          </a:xfrm>
          <a:prstGeom prst="roundRect">
            <a:avLst>
              <a:gd name="adj" fmla="val 6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55864" y="4480560"/>
            <a:ext cx="3578047" cy="822960"/>
          </a:xfrm>
          <a:prstGeom prst="rect">
            <a:avLst/>
          </a:prstGeom>
          <a:noFill/>
        </p:spPr>
        <p:txBody>
          <a:bodyPr wrap="square" anchor="t" lIns="0" rIns="0" tIns="0" bIns="0">
            <a:spAutoFit/>
          </a:bodyPr>
          <a:lstStyle/>
          <a:p>
            <a:pPr algn="l">
              <a:lnSpc>
                <a:spcPct val="125000"/>
              </a:lnSpc>
            </a:pPr>
            <a:r>
              <a:rPr sz="1050" b="1">
                <a:solidFill>
                  <a:srgbClr val="1428A0"/>
                </a:solidFill>
                <a:latin typeface="SamsungOneKorean"/>
                <a:ea typeface="SamsungOneKorean"/>
                <a:cs typeface="SamsungOneKorean"/>
              </a:rPr>
              <a:t>감시선  </a:t>
            </a:r>
            <a:r>
              <a:rPr sz="1050" b="0">
                <a:solidFill>
                  <a:srgbClr val="1A1A1A"/>
                </a:solidFill>
                <a:latin typeface="SamsungOneKorean"/>
                <a:ea typeface="SamsungOneKorean"/>
                <a:cs typeface="SamsungOneKorean"/>
              </a:rPr>
              <a:t>다음 변곡 = FCF 반전이</a:t>
            </a:r>
          </a:p>
          <a:p>
            <a:pPr algn="l">
              <a:lnSpc>
                <a:spcPct val="125000"/>
              </a:lnSpc>
            </a:pPr>
            <a:r>
              <a:rPr sz="1050" b="0">
                <a:solidFill>
                  <a:srgbClr val="1A1A1A"/>
                </a:solidFill>
                <a:latin typeface="SamsungOneKorean"/>
                <a:ea typeface="SamsungOneKorean"/>
                <a:cs typeface="SamsungOneKorean"/>
              </a:rPr>
              <a:t>발주 동결로 번지는 순간.</a:t>
            </a:r>
          </a:p>
          <a:p>
            <a:pPr algn="l">
              <a:lnSpc>
                <a:spcPct val="125000"/>
              </a:lnSpc>
            </a:pPr>
            <a:r>
              <a:rPr sz="1050" b="0">
                <a:solidFill>
                  <a:srgbClr val="1A1A1A"/>
                </a:solidFill>
                <a:latin typeface="SamsungOneKorean"/>
                <a:ea typeface="SamsungOneKorean"/>
                <a:cs typeface="SamsungOneKorean"/>
              </a:rPr>
              <a:t>빅테크 FCF·조달 스프레드와 GPU</a:t>
            </a:r>
          </a:p>
          <a:p>
            <a:pPr algn="l">
              <a:lnSpc>
                <a:spcPct val="125000"/>
              </a:lnSpc>
            </a:pPr>
            <a:r>
              <a:rPr sz="1050" b="0">
                <a:solidFill>
                  <a:srgbClr val="1A1A1A"/>
                </a:solidFill>
                <a:latin typeface="SamsungOneKorean"/>
                <a:ea typeface="SamsungOneKorean"/>
                <a:cs typeface="SamsungOneKorean"/>
              </a:rPr>
              <a:t>임대가(6개월 -35%)가 최선행 감시선</a:t>
            </a:r>
          </a:p>
        </p:txBody>
      </p:sp>
      <p:sp>
        <p:nvSpPr>
          <p:cNvPr id="60" name="Rounded Rectangle 59"/>
          <p:cNvSpPr/>
          <p:nvPr/>
        </p:nvSpPr>
        <p:spPr>
          <a:xfrm>
            <a:off x="429768" y="5650992"/>
            <a:ext cx="11332159" cy="310896"/>
          </a:xfrm>
          <a:prstGeom prst="roundRect">
            <a:avLst>
              <a:gd name="adj" fmla="val 10000"/>
            </a:avLst>
          </a:prstGeom>
          <a:solidFill>
            <a:srgbClr val="F6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76072" y="5719572"/>
            <a:ext cx="11039551" cy="182880"/>
          </a:xfrm>
          <a:prstGeom prst="rect">
            <a:avLst/>
          </a:prstGeom>
          <a:noFill/>
        </p:spPr>
        <p:txBody>
          <a:bodyPr wrap="square" anchor="t" lIns="0" rIns="0" tIns="0" bIns="0">
            <a:spAutoFit/>
          </a:bodyPr>
          <a:lstStyle/>
          <a:p>
            <a:pPr algn="l">
              <a:lnSpc>
                <a:spcPct val="100000"/>
              </a:lnSpc>
            </a:pPr>
            <a:r>
              <a:rPr sz="1050" b="1">
                <a:solidFill>
                  <a:srgbClr val="1428A0"/>
                </a:solidFill>
                <a:latin typeface="SamsungOneKorean"/>
                <a:ea typeface="SamsungOneKorean"/>
                <a:cs typeface="SamsungOneKorean"/>
              </a:rPr>
              <a:t>종합  </a:t>
            </a:r>
            <a:r>
              <a:rPr sz="1050" b="0">
                <a:solidFill>
                  <a:srgbClr val="1A1A1A"/>
                </a:solidFill>
                <a:latin typeface="SamsungOneKorean"/>
                <a:ea typeface="SamsungOneKorean"/>
                <a:cs typeface="SamsungOneKorean"/>
              </a:rPr>
              <a:t>지출은 2년 새 3.7배가 됐는데 내부 현금 여력은 임계에 닿았다. 전조 3건 실측, 발화 신호 0건.  </a:t>
            </a:r>
            <a:r>
              <a:rPr sz="1050" b="1">
                <a:solidFill>
                  <a:srgbClr val="1A1A1A"/>
                </a:solidFill>
                <a:latin typeface="SamsungOneKorean"/>
                <a:ea typeface="SamsungOneKorean"/>
                <a:cs typeface="SamsungOneKorean"/>
              </a:rPr>
              <a:t>가능성이 오르는 국면이지, 아직 발현 국면은 아니다.</a:t>
            </a:r>
          </a:p>
        </p:txBody>
      </p:sp>
      <p:sp>
        <p:nvSpPr>
          <p:cNvPr id="62" name="TextBox 61"/>
          <p:cNvSpPr txBox="1"/>
          <p:nvPr/>
        </p:nvSpPr>
        <p:spPr>
          <a:xfrm>
            <a:off x="429768" y="6071616"/>
            <a:ext cx="9823399" cy="310896"/>
          </a:xfrm>
          <a:prstGeom prst="rect">
            <a:avLst/>
          </a:prstGeom>
          <a:noFill/>
        </p:spPr>
        <p:txBody>
          <a:bodyPr wrap="square" anchor="t" lIns="0" rIns="0" tIns="0" bIns="0">
            <a:spAutoFit/>
          </a:bodyPr>
          <a:lstStyle/>
          <a:p>
            <a:pPr algn="l">
              <a:lnSpc>
                <a:spcPct val="125000"/>
              </a:lnSpc>
            </a:pPr>
            <a:r>
              <a:rPr sz="900" b="0">
                <a:solidFill>
                  <a:srgbClr val="555555"/>
                </a:solidFill>
                <a:latin typeface="SamsungOneKorean"/>
                <a:ea typeface="SamsungOneKorean"/>
                <a:cs typeface="SamsungOneKorean"/>
              </a:rPr>
              <a:t>출처: wiki/downturn/samsung-impact.md §5.1c · CapEx: 각사 가이던스 종합(2026E ~$750B)·27Eᵉ JPMorgan 전망 · FCF·백로그·임대가: Q2 2026 실적 보도 종합 · CapEx/현금흐름·자금 갭: SemiAnalysis 계열·Bain · 기준일 2026-08</a:t>
            </a:r>
          </a:p>
        </p:txBody>
      </p:sp>
      <p:sp>
        <p:nvSpPr>
          <p:cNvPr id="63" name="TextBox 62"/>
          <p:cNvSpPr txBox="1"/>
          <p:nvPr/>
        </p:nvSpPr>
        <p:spPr>
          <a:xfrm>
            <a:off x="10390327" y="6071616"/>
            <a:ext cx="1371600" cy="164592"/>
          </a:xfrm>
          <a:prstGeom prst="rect">
            <a:avLst/>
          </a:prstGeom>
          <a:noFill/>
        </p:spPr>
        <p:txBody>
          <a:bodyPr wrap="square" anchor="t" lIns="0" rIns="0" tIns="0" bIns="0">
            <a:spAutoFit/>
          </a:bodyPr>
          <a:lstStyle/>
          <a:p>
            <a:pPr algn="r">
              <a:lnSpc>
                <a:spcPct val="100000"/>
              </a:lnSpc>
            </a:pPr>
            <a:r>
              <a:rPr sz="900" b="0">
                <a:solidFill>
                  <a:srgbClr val="555555"/>
                </a:solidFill>
                <a:latin typeface="SamsungOneKorean"/>
                <a:ea typeface="SamsungOneKorean"/>
                <a:cs typeface="SamsungOneKorean"/>
              </a:rPr>
              <a:t>[문서등급 표기]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