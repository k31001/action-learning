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1133215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시나리오별 영향 진단:  </a:t>
            </a:r>
            <a:r>
              <a:rPr sz="200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강점의 발화는 갈리고, 약점은 판단 지연으로 수렴한다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29768" y="676656"/>
            <a:ext cx="11332159" cy="0"/>
          </a:xfrm>
          <a:prstGeom prst="line">
            <a:avLst/>
          </a:prstGeom>
          <a:ln w="20320">
            <a:solidFill>
              <a:srgbClr val="1428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29768" y="804672"/>
            <a:ext cx="1347825" cy="310896"/>
          </a:xfrm>
          <a:prstGeom prst="roundRect">
            <a:avLst>
              <a:gd name="adj" fmla="val 16000"/>
            </a:avLst>
          </a:prstGeom>
          <a:solidFill>
            <a:srgbClr val="EEF1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873252"/>
            <a:ext cx="134782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S1  </a:t>
            </a: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재무 요새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56232" y="804672"/>
            <a:ext cx="1347825" cy="310896"/>
          </a:xfrm>
          <a:prstGeom prst="roundRect">
            <a:avLst>
              <a:gd name="adj" fmla="val 16000"/>
            </a:avLst>
          </a:prstGeom>
          <a:solidFill>
            <a:srgbClr val="EEF1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56232" y="873252"/>
            <a:ext cx="134782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S2  </a:t>
            </a: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풀라인업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804672"/>
            <a:ext cx="1347825" cy="310896"/>
          </a:xfrm>
          <a:prstGeom prst="roundRect">
            <a:avLst>
              <a:gd name="adj" fmla="val 16000"/>
            </a:avLst>
          </a:prstGeom>
          <a:solidFill>
            <a:srgbClr val="EEF1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2696" y="873252"/>
            <a:ext cx="134782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S3  </a:t>
            </a: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IDM 전환력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804672"/>
            <a:ext cx="1347825" cy="310896"/>
          </a:xfrm>
          <a:prstGeom prst="roundRect">
            <a:avLst>
              <a:gd name="adj" fmla="val 16000"/>
            </a:avLst>
          </a:prstGeom>
          <a:solidFill>
            <a:srgbClr val="EEF1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873252"/>
            <a:ext cx="134782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S4  </a:t>
            </a: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세대 선행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804672"/>
            <a:ext cx="1347825" cy="310896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873252"/>
            <a:ext cx="134782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W1  </a:t>
            </a: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인증 열위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804672"/>
            <a:ext cx="1347825" cy="310896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873252"/>
            <a:ext cx="134782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W2  </a:t>
            </a: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원가 열위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8552" y="804672"/>
            <a:ext cx="1347825" cy="310896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873252"/>
            <a:ext cx="134782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W3  </a:t>
            </a: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판단 지연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5016" y="804672"/>
            <a:ext cx="1347825" cy="310896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15016" y="873252"/>
            <a:ext cx="134782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W4  </a:t>
            </a: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커밋 관성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99032" y="1316736"/>
            <a:ext cx="1999427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9032" y="1408176"/>
            <a:ext cx="1999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DT-A  </a:t>
            </a:r>
            <a:r>
              <a:rPr sz="130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급제동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1636776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수요발 × 급락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89899" y="1316736"/>
            <a:ext cx="1999427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9899" y="1408176"/>
            <a:ext cx="1999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DT-B  </a:t>
            </a:r>
            <a:r>
              <a:rPr sz="130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긴 하산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9899" y="1636776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수요발 × 침식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80766" y="1316736"/>
            <a:ext cx="1999427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0766" y="1408176"/>
            <a:ext cx="1999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DT-C  </a:t>
            </a:r>
            <a:r>
              <a:rPr sz="130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동시 방류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0766" y="1636776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공급발 × 급락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71633" y="1316736"/>
            <a:ext cx="1999427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633" y="1408176"/>
            <a:ext cx="1999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DT-D  </a:t>
            </a:r>
            <a:r>
              <a:rPr sz="130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저가 잠식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633" y="1636776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공급발 × 침식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62500" y="1316736"/>
            <a:ext cx="1999427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2500" y="1408176"/>
            <a:ext cx="1999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DT-E  </a:t>
            </a:r>
            <a:r>
              <a:rPr sz="130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판 갈이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2500" y="1636776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전환발 · 와일드카드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1883664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제품 노출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2967" y="1883664"/>
            <a:ext cx="3108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■ 직격  </a:t>
            </a:r>
            <a:r>
              <a:rPr sz="1000" b="0">
                <a:solidFill>
                  <a:srgbClr val="B44A40"/>
                </a:solidFill>
                <a:latin typeface="SamsungOneKorean"/>
                <a:ea typeface="SamsungOneKorean"/>
                <a:cs typeface="SamsungOneKorean"/>
              </a:rPr>
              <a:t>■ 압박  </a:t>
            </a: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■ 제한  </a:t>
            </a:r>
            <a:r>
              <a:rPr sz="1000" b="0">
                <a:solidFill>
                  <a:srgbClr val="00A651"/>
                </a:solidFill>
                <a:latin typeface="SamsungOneKorean"/>
                <a:ea typeface="SamsungOneKorean"/>
                <a:cs typeface="SamsungOneKorean"/>
              </a:rPr>
              <a:t>■ 방어·수혜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2162556"/>
            <a:ext cx="877824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HBM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9032" y="210312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99032" y="215981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직격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89899" y="210312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F3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89899" y="215981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B44A40"/>
                </a:solidFill>
                <a:latin typeface="SamsungOneKorean"/>
                <a:ea typeface="SamsungOneKorean"/>
                <a:cs typeface="SamsungOneKorean"/>
              </a:rPr>
              <a:t>압박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80766" y="210312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E9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80766" y="215981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제한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71633" y="210312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71633" y="215981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방어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62500" y="210312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62500" y="215981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직격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" y="2482596"/>
            <a:ext cx="877824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서버 DRAM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99032" y="242316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99032" y="247985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직격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89899" y="242316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F3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89899" y="247985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B44A40"/>
                </a:solidFill>
                <a:latin typeface="SamsungOneKorean"/>
                <a:ea typeface="SamsungOneKorean"/>
                <a:cs typeface="SamsungOneKorean"/>
              </a:rPr>
              <a:t>압박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80766" y="242316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F3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80766" y="247985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B44A40"/>
                </a:solidFill>
                <a:latin typeface="SamsungOneKorean"/>
                <a:ea typeface="SamsungOneKorean"/>
                <a:cs typeface="SamsungOneKorean"/>
              </a:rPr>
              <a:t>압박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71633" y="242316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E9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71633" y="247985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제한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62500" y="242316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F3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62500" y="247985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B44A40"/>
                </a:solidFill>
                <a:latin typeface="SamsungOneKorean"/>
                <a:ea typeface="SamsungOneKorean"/>
                <a:cs typeface="SamsungOneKorean"/>
              </a:rPr>
              <a:t>압박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" y="2802636"/>
            <a:ext cx="877824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범용·레거시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99032" y="274320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E9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99032" y="279989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제한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89899" y="274320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F3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89899" y="279989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B44A40"/>
                </a:solidFill>
                <a:latin typeface="SamsungOneKorean"/>
                <a:ea typeface="SamsungOneKorean"/>
                <a:cs typeface="SamsungOneKorean"/>
              </a:rPr>
              <a:t>압박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580766" y="274320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80766" y="279989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직격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71633" y="274320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71633" y="279989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직격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62500" y="2743200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E9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62500" y="279989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제한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" y="3122675"/>
            <a:ext cx="877824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NAND·SSD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399032" y="3063239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F3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99032" y="311993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B44A40"/>
                </a:solidFill>
                <a:latin typeface="SamsungOneKorean"/>
                <a:ea typeface="SamsungOneKorean"/>
                <a:cs typeface="SamsungOneKorean"/>
              </a:rPr>
              <a:t>압박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89899" y="3063239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89899" y="311993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수혜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80766" y="3063239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80766" y="311993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직격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71633" y="3063239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71633" y="311993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직격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762500" y="3063239"/>
            <a:ext cx="1999427" cy="269748"/>
          </a:xfrm>
          <a:prstGeom prst="roundRect">
            <a:avLst>
              <a:gd name="adj" fmla="val 14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62500" y="3119932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amsungOneKorean"/>
                <a:ea typeface="SamsungOneKorean"/>
                <a:cs typeface="SamsungOneKorean"/>
              </a:rPr>
              <a:t>수혜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444179" y="3497579"/>
            <a:ext cx="0" cy="2491741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535046" y="3497579"/>
            <a:ext cx="0" cy="2491741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625913" y="3497579"/>
            <a:ext cx="0" cy="2491741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716780" y="3497579"/>
            <a:ext cx="0" cy="2491741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1399032" y="3515868"/>
            <a:ext cx="32004" cy="47548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17904" y="3525011"/>
            <a:ext cx="18805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대응할 시간이 없다.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도착 전에 이미 결정된다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99032" y="4155948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찔리는 곳  </a:t>
            </a:r>
            <a:r>
              <a:rPr sz="105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W3·W1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99032" y="4338828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판단을 신호에 사전 위임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99032" y="4631436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살리는 곳  </a:t>
            </a: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S1·S2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99032" y="4814316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체력을 바닥 매수 선택권으로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99032" y="5143500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전략적 중요 분야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399032" y="5335524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99032" y="5367528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계약 만기 구조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399032" y="5568696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399032" y="5600700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조달·FCF 신호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399032" y="5801868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99032" y="5833872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재무 여력 운용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89899" y="3515868"/>
            <a:ext cx="32004" cy="47548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08771" y="3525011"/>
            <a:ext cx="18805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위기감이 없는 것이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가장 큰 위기다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9899" y="4155948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찔리는 곳  </a:t>
            </a:r>
            <a:r>
              <a:rPr sz="105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W3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89899" y="4338828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판단 기준을 원가 곡선으로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89899" y="4631436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살리는 곳  </a:t>
            </a: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S2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89899" y="4814316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스토리지 축이 유일한 상방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89899" y="5143500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전략적 중요 분야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489899" y="5335524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89899" y="5367528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메모리 원단위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489899" y="5568696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89899" y="5600700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원가 곡선 백분위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489899" y="5801868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489899" y="5833872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스토리지·SSD 축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80766" y="3515868"/>
            <a:ext cx="32004" cy="47548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99638" y="3525011"/>
            <a:ext cx="18805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감산이 통하는 유일한 판.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승부는 속도다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80766" y="4155948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찔리는 곳  </a:t>
            </a:r>
            <a:r>
              <a:rPr sz="105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W3·W4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80766" y="4338828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결정 기준·기한 사전 못박기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80766" y="4631436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살리는 곳  </a:t>
            </a: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S4·S1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80766" y="4814316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원가 선행으로 규율 선도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80766" y="5143500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전략적 중요 분야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580766" y="5335524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580766" y="5367528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재고·투입 갭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580766" y="5568696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580766" y="5600700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원가 리더십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580766" y="5801868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580766" y="5833872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규율 집행 속도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671633" y="3515868"/>
            <a:ext cx="32004" cy="47548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90505" y="3525011"/>
            <a:ext cx="18805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하단은 돌아오지 않는다.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버티기가 아니라 옮기기다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71633" y="4155948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찔리는 곳  </a:t>
            </a:r>
            <a:r>
              <a:rPr sz="105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W2·W4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71633" y="4338828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소모전 무효, 좌표 재설정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671633" y="4631436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살리는 곳  </a:t>
            </a: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S3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671633" y="4814316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라인을 옮겨 태우는 전환력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71633" y="5143500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전략적 중요 분야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671633" y="5335524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671633" y="5367528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철수·전환 판단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671633" y="5568696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671633" y="5600700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4자 원가 곡선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671633" y="5801868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71633" y="5833872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인증 장벽 동향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762500" y="3515868"/>
            <a:ext cx="32004" cy="47548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881372" y="3525011"/>
            <a:ext cx="18805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미리 그 자리에 있던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것만 유효하다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762500" y="4155948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찔리는 곳  </a:t>
            </a:r>
            <a:r>
              <a:rPr sz="1050" b="1">
                <a:solidFill>
                  <a:srgbClr val="D93025"/>
                </a:solidFill>
                <a:latin typeface="SamsungOneKorean"/>
                <a:ea typeface="SamsungOneKorean"/>
                <a:cs typeface="SamsungOneKorean"/>
              </a:rPr>
              <a:t>W4·W1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62500" y="4338828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별동대 분리 보존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762500" y="4631436"/>
            <a:ext cx="1999427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살리는 곳  </a:t>
            </a: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S3·S4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762500" y="4814316"/>
            <a:ext cx="19994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IDM 결합으로 표준 선점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762500" y="5143500"/>
            <a:ext cx="19994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전략적 중요 분야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762500" y="5335524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762500" y="5367528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차세대 마일스톤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762500" y="5568696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762500" y="5600700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커스텀 대응 체계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762500" y="5801868"/>
            <a:ext cx="1999427" cy="192024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762500" y="5833872"/>
            <a:ext cx="199942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조직 경계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29768" y="6144768"/>
            <a:ext cx="11332159" cy="310896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76072" y="6213348"/>
            <a:ext cx="110395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종합  </a:t>
            </a:r>
            <a:r>
              <a:rPr sz="1050" b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약점은 W3(판단 지연)로 수렴하고, 강점의 발화는 유형마다 갈린다.  </a:t>
            </a:r>
            <a:r>
              <a:rPr sz="1050" b="1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어떤 강점을 살릴지는 감별이 정한다.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29768" y="6547104"/>
            <a:ext cx="98691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출처: wiki/downturn/samsung-impact.md (근거·상세 진단) · 대응 전략은 별도 장 · 확률 미표기 원칙 · 기준일 2026-08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390327" y="6547104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[문서등급 표기]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