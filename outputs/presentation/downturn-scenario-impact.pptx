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37744"/>
            <a:ext cx="1133215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시나리오별 영향 진단: </a:t>
            </a:r>
            <a:r>
              <a:rPr sz="2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발화하는 강점은 유형마다 다르나, 찔리는 약점은 판단 지연으로 수렴한다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21792"/>
            <a:ext cx="113321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SP-2 다운턴 5개 시나리오의 삼성 메모리 노출 진단. 강점(S)·약점(W) 코드 기준의 승부처와 보완·활용 힌트까지만 담았다. 대응 전략은 별도 장에서 다루며, 확률은 표기하지 않는다.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29768" y="886968"/>
            <a:ext cx="11332159" cy="0"/>
          </a:xfrm>
          <a:prstGeom prst="line">
            <a:avLst/>
          </a:prstGeom>
          <a:ln w="20320">
            <a:solidFill>
              <a:srgbClr val="1428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29768" y="978408"/>
            <a:ext cx="1347825" cy="493776"/>
          </a:xfrm>
          <a:prstGeom prst="roundRect">
            <a:avLst>
              <a:gd name="adj" fmla="val 9000"/>
            </a:avLst>
          </a:prstGeom>
          <a:solidFill>
            <a:srgbClr val="EEF1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3" y="1033271"/>
            <a:ext cx="12015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S1 </a:t>
            </a: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재무 요새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3" y="1220724"/>
            <a:ext cx="1201521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역사이클 집행력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56232" y="978408"/>
            <a:ext cx="1347825" cy="493776"/>
          </a:xfrm>
          <a:prstGeom prst="roundRect">
            <a:avLst>
              <a:gd name="adj" fmla="val 9000"/>
            </a:avLst>
          </a:prstGeom>
          <a:solidFill>
            <a:srgbClr val="EEF1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8" y="1033271"/>
            <a:ext cx="12015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S2 </a:t>
            </a: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풀라인업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1220724"/>
            <a:ext cx="1201521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DRAM·NAND·SSD 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82696" y="978408"/>
            <a:ext cx="1347825" cy="493776"/>
          </a:xfrm>
          <a:prstGeom prst="roundRect">
            <a:avLst>
              <a:gd name="adj" fmla="val 9000"/>
            </a:avLst>
          </a:prstGeom>
          <a:solidFill>
            <a:srgbClr val="EEF1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1" y="1033271"/>
            <a:ext cx="12015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S3 </a:t>
            </a: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IDM 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1" y="1220724"/>
            <a:ext cx="1201521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라인 전환 옵션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59" y="978408"/>
            <a:ext cx="1347825" cy="493776"/>
          </a:xfrm>
          <a:prstGeom prst="roundRect">
            <a:avLst>
              <a:gd name="adj" fmla="val 9000"/>
            </a:avLst>
          </a:prstGeom>
          <a:solidFill>
            <a:srgbClr val="EEF1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91455" y="1033271"/>
            <a:ext cx="12015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S4 </a:t>
            </a: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세대 선행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455" y="1220724"/>
            <a:ext cx="1201521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전환 이력·감가 설비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978408"/>
            <a:ext cx="1347825" cy="493776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033271"/>
            <a:ext cx="12015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W1 </a:t>
            </a: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인증 열위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220724"/>
            <a:ext cx="1201521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HBM 급감·후순위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62088" y="978408"/>
            <a:ext cx="1347825" cy="493776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44384" y="1033271"/>
            <a:ext cx="12015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W2 </a:t>
            </a: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원가 열위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4384" y="1220724"/>
            <a:ext cx="1201521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1c 수율 추격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8552" y="978408"/>
            <a:ext cx="1347825" cy="493776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1033271"/>
            <a:ext cx="12015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W3 </a:t>
            </a: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판단 지연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1220724"/>
            <a:ext cx="1201521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신호→행동 배선 부재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15016" y="978408"/>
            <a:ext cx="1347825" cy="493776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97312" y="1033271"/>
            <a:ext cx="12015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W4 </a:t>
            </a:r>
            <a:r>
              <a:rPr sz="100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커밋 관성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97312" y="1220724"/>
            <a:ext cx="1201521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확정 투자·니치 배제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5687" y="1554480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노출  </a:t>
            </a:r>
            <a:r>
              <a:rPr sz="1000" b="0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■ 직격  </a:t>
            </a:r>
            <a:r>
              <a:rPr sz="1000" b="0">
                <a:solidFill>
                  <a:srgbClr val="B44A40"/>
                </a:solidFill>
                <a:latin typeface="SamsungOneKorean"/>
                <a:ea typeface="SamsungOneKorean"/>
                <a:cs typeface="SamsungOneKorean"/>
              </a:rPr>
              <a:t>■ 압박  </a:t>
            </a: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■ 제한  </a:t>
            </a:r>
            <a:r>
              <a:rPr sz="1000" b="0">
                <a:solidFill>
                  <a:srgbClr val="00A651"/>
                </a:solidFill>
                <a:latin typeface="SamsungOneKorean"/>
                <a:ea typeface="SamsungOneKorean"/>
                <a:cs typeface="SamsungOneKorean"/>
              </a:rPr>
              <a:t>■ 방어·수혜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1554480"/>
            <a:ext cx="6766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시나리오 진단  </a:t>
            </a: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제품 노출 · 무엇이 갈리나 · 찔리는 곳(W)과 보완 · 살리는 곳(S)과 활용 · 전략적 중요 분야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1783080"/>
            <a:ext cx="2189073" cy="4224528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762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9768" y="1783080"/>
            <a:ext cx="2189073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207" y="1874519"/>
            <a:ext cx="20061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DT-A  </a:t>
            </a: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급제동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7" y="2089404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수요발 × 급락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1207" y="2281428"/>
            <a:ext cx="2006194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21207" y="2345436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HBM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19655" y="2360980"/>
            <a:ext cx="105156" cy="105156"/>
          </a:xfrm>
          <a:prstGeom prst="rect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84248" y="2345436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직격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" y="2499055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서버 DRAM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9655" y="2514600"/>
            <a:ext cx="105156" cy="105156"/>
          </a:xfrm>
          <a:prstGeom prst="rect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84248" y="2499055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직격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7" y="2652674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범용·레거시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19655" y="2668219"/>
            <a:ext cx="105156" cy="10515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84248" y="2652674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제한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7" y="2806293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NAND·SSD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9655" y="2821838"/>
            <a:ext cx="105156" cy="105156"/>
          </a:xfrm>
          <a:prstGeom prst="rect">
            <a:avLst/>
          </a:prstGeom>
          <a:solidFill>
            <a:srgbClr val="E89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84248" y="2806293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B44A40"/>
                </a:solidFill>
                <a:latin typeface="SamsungOneKorean"/>
                <a:ea typeface="SamsungOneKorean"/>
                <a:cs typeface="SamsungOneKorean"/>
              </a:rPr>
              <a:t>압박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21207" y="3010204"/>
            <a:ext cx="2006194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21207" y="3065068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무엇이 갈리나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7" y="3225088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대응할 시간이 없다. 도착 시점에 갖춰진 계약의 질·현금·판단 배선이 결과를 결정한다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3741724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찔리는 곳 </a:t>
            </a: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W3·W1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7" y="3901744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판단 지연이 분기 손실로 직결, 고부가 캐파 공동화. 판단을 사전 합의된 신호에 위임해 둘 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" y="4422952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살리는 곳 </a:t>
            </a: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S1·S2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7" y="4582972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체력 발화가 최대인 국면. 버티기가 아니라 바닥 매수의 선택권으로 쓰고, 소비자 축이 완충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7" y="5104180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전략적 중요 분야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1207" y="527334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15" y="529346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계약 만기 구조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21207" y="547908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5215" y="549920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조달·FCF 신호 감시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21207" y="568482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5215" y="570494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재무 여력 운용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15768" y="1783080"/>
            <a:ext cx="2189073" cy="4224528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762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15768" y="1783080"/>
            <a:ext cx="2189073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07208" y="1874519"/>
            <a:ext cx="20061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DT-B  </a:t>
            </a: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긴 하산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07208" y="2089404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수요발 × 침식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807208" y="2281428"/>
            <a:ext cx="2006193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2807208" y="2345436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HBM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05656" y="2360980"/>
            <a:ext cx="105156" cy="105156"/>
          </a:xfrm>
          <a:prstGeom prst="rect">
            <a:avLst/>
          </a:prstGeom>
          <a:solidFill>
            <a:srgbClr val="E89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70248" y="2345436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B44A40"/>
                </a:solidFill>
                <a:latin typeface="SamsungOneKorean"/>
                <a:ea typeface="SamsungOneKorean"/>
                <a:cs typeface="SamsungOneKorean"/>
              </a:rPr>
              <a:t>압박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07208" y="2499055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서버 DRAM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05656" y="2514600"/>
            <a:ext cx="105156" cy="105156"/>
          </a:xfrm>
          <a:prstGeom prst="rect">
            <a:avLst/>
          </a:prstGeom>
          <a:solidFill>
            <a:srgbClr val="E89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70248" y="2499055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B44A40"/>
                </a:solidFill>
                <a:latin typeface="SamsungOneKorean"/>
                <a:ea typeface="SamsungOneKorean"/>
                <a:cs typeface="SamsungOneKorean"/>
              </a:rPr>
              <a:t>압박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07208" y="2652674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범용·레거시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05656" y="2668219"/>
            <a:ext cx="105156" cy="105156"/>
          </a:xfrm>
          <a:prstGeom prst="rect">
            <a:avLst/>
          </a:prstGeom>
          <a:solidFill>
            <a:srgbClr val="E89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70248" y="2652674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B44A40"/>
                </a:solidFill>
                <a:latin typeface="SamsungOneKorean"/>
                <a:ea typeface="SamsungOneKorean"/>
                <a:cs typeface="SamsungOneKorean"/>
              </a:rPr>
              <a:t>압박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07208" y="2806293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NAND·SSD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05656" y="2821838"/>
            <a:ext cx="105156" cy="105156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70248" y="2806293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0A651"/>
                </a:solidFill>
                <a:latin typeface="SamsungOneKorean"/>
                <a:ea typeface="SamsungOneKorean"/>
                <a:cs typeface="SamsungOneKorean"/>
              </a:rPr>
              <a:t>수혜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807208" y="3010204"/>
            <a:ext cx="2006193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807208" y="3065068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무엇이 갈리나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807208" y="3225088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위기감이 생기지 않아 결정이 밀린다. 행동보다 판단 기준 자체가 승부처다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07208" y="3741724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찔리는 곳 </a:t>
            </a: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W3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807208" y="3901744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"일시적" 해석 관성이 가장 깊게 찔린다. 판단 기준을 가격에서 원가 곡선 위치로 교체할 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07208" y="4422952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살리는 곳 </a:t>
            </a: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S2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07208" y="4582972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스토리지가 유일한 상방 축(eSSD 1위 38.2%). 믹스를 하강 축에서 성장 축으로 계속 이동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07208" y="5104180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전략적 중요 분야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807208" y="527334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71215" y="529346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메모리 원단위 추적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07208" y="547908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871215" y="549920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원가 곡선 백분위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807208" y="568482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871215" y="570494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스토리지·SSD 축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001768" y="1783080"/>
            <a:ext cx="2189073" cy="4224528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762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001768" y="1783080"/>
            <a:ext cx="2189073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093207" y="1874519"/>
            <a:ext cx="20061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DT-C  </a:t>
            </a: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동시 방류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93207" y="2089404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공급발 × 급락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5093207" y="2281428"/>
            <a:ext cx="2006194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5093207" y="2345436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HBM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91655" y="2360980"/>
            <a:ext cx="105156" cy="10515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556248" y="2345436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제한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93207" y="2499055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서버 DRAM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391655" y="2514600"/>
            <a:ext cx="105156" cy="105156"/>
          </a:xfrm>
          <a:prstGeom prst="rect">
            <a:avLst/>
          </a:prstGeom>
          <a:solidFill>
            <a:srgbClr val="E89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556248" y="2499055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B44A40"/>
                </a:solidFill>
                <a:latin typeface="SamsungOneKorean"/>
                <a:ea typeface="SamsungOneKorean"/>
                <a:cs typeface="SamsungOneKorean"/>
              </a:rPr>
              <a:t>압박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93207" y="2652674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범용·레거시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391655" y="2668219"/>
            <a:ext cx="105156" cy="105156"/>
          </a:xfrm>
          <a:prstGeom prst="rect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56248" y="2652674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직격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93207" y="2806293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NAND·SSD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91655" y="2821838"/>
            <a:ext cx="105156" cy="105156"/>
          </a:xfrm>
          <a:prstGeom prst="rect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556248" y="2806293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직격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5093207" y="3010204"/>
            <a:ext cx="2006194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5093207" y="3065068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무엇이 갈리나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093207" y="3225088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공급 조절이 직접 작동하는 유일한 판. 성패는 조절 여부가 아니라 조절의 속도다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93207" y="3741724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찔리는 곳 </a:t>
            </a: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W3·W4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93207" y="3901744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감산 6개월 지연과 맞불 증설 관성. 조절 결정의 기준과 기한을 사전에 못박아 둘 것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93207" y="4422952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살리는 곳 </a:t>
            </a: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S4·S1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093207" y="4582972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세대 선행·감가 완료 설비가 바닥 가격을 버틴다. 소모전이 아니라 규율 선도의 여유로 쓸 것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93207" y="5104180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전략적 중요 분야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093207" y="527334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57216" y="529346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재고·투입 갭 감시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93207" y="547908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157216" y="549920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원가 리더십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093207" y="568482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157216" y="570494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규율 집행 속도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287768" y="1783080"/>
            <a:ext cx="2189073" cy="4224528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762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287768" y="1783080"/>
            <a:ext cx="2189073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379208" y="1874519"/>
            <a:ext cx="20061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DT-D  </a:t>
            </a: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저가 잠식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379208" y="2089404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공급발 × 침식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7379208" y="2281428"/>
            <a:ext cx="2006193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7379208" y="2345436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HBM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677656" y="2360980"/>
            <a:ext cx="105156" cy="105156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842248" y="2345436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0A651"/>
                </a:solidFill>
                <a:latin typeface="SamsungOneKorean"/>
                <a:ea typeface="SamsungOneKorean"/>
                <a:cs typeface="SamsungOneKorean"/>
              </a:rPr>
              <a:t>방어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379208" y="2499055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서버 DRAM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677656" y="2514600"/>
            <a:ext cx="105156" cy="10515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842248" y="2499055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제한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379208" y="2652674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범용·레거시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677656" y="2668219"/>
            <a:ext cx="105156" cy="105156"/>
          </a:xfrm>
          <a:prstGeom prst="rect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842248" y="2652674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직격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79208" y="2806293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NAND·SSD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677656" y="2821838"/>
            <a:ext cx="105156" cy="105156"/>
          </a:xfrm>
          <a:prstGeom prst="rect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842248" y="2806293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직격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7379208" y="3010204"/>
            <a:ext cx="2006193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7379208" y="3065068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무엇이 갈리나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379208" y="3225088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하단 가격은 돌아오지 않는다. 버티기가 아니라 옮기기의 문제다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379208" y="3741724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찔리는 곳 </a:t>
            </a: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W2·W4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379208" y="3901744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보조금 상대 체력전은 무효, 철수 결정은 지연된다. 원가 좌표를 CXMT 포함 4자 곡선으로 재설정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379208" y="4422952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살리는 곳 </a:t>
            </a: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S3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79208" y="4582972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전환 옵션 가치가 최대. 침식층을 지키지 말고 같은 라인으로 다른 것을 만드는 몸이 방어선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379208" y="5104180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전략적 중요 분야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379208" y="527334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443216" y="529346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철수·전환 판단 체계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7379208" y="547908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443216" y="549920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4자 원가 곡선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379208" y="568482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443216" y="570494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인증 장벽 동향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573768" y="1783080"/>
            <a:ext cx="2189073" cy="4224528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762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573768" y="1783080"/>
            <a:ext cx="2189073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665208" y="1874519"/>
            <a:ext cx="20061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DT-E  </a:t>
            </a:r>
            <a:r>
              <a:rPr sz="12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판 갈이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665208" y="2089404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전환발 · 와일드카드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9665208" y="2281428"/>
            <a:ext cx="2006193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9665208" y="2345436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HBM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0963656" y="2360980"/>
            <a:ext cx="105156" cy="105156"/>
          </a:xfrm>
          <a:prstGeom prst="rect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1128248" y="2345436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직격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665208" y="2499055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서버 DRAM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10963656" y="2514600"/>
            <a:ext cx="105156" cy="105156"/>
          </a:xfrm>
          <a:prstGeom prst="rect">
            <a:avLst/>
          </a:prstGeom>
          <a:solidFill>
            <a:srgbClr val="E89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1128248" y="2499055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B44A40"/>
                </a:solidFill>
                <a:latin typeface="SamsungOneKorean"/>
                <a:ea typeface="SamsungOneKorean"/>
                <a:cs typeface="SamsungOneKorean"/>
              </a:rPr>
              <a:t>압박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665208" y="2652674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범용·레거시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0963656" y="2668219"/>
            <a:ext cx="105156" cy="10515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1128248" y="2652674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제한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665208" y="2806293"/>
            <a:ext cx="1078992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NAND·SSD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0963656" y="2821838"/>
            <a:ext cx="105156" cy="105156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1128248" y="2806293"/>
            <a:ext cx="566928" cy="13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0A651"/>
                </a:solidFill>
                <a:latin typeface="SamsungOneKorean"/>
                <a:ea typeface="SamsungOneKorean"/>
                <a:cs typeface="SamsungOneKorean"/>
              </a:rPr>
              <a:t>수혜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9665208" y="3010204"/>
            <a:ext cx="2006193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/>
          <p:cNvSpPr txBox="1"/>
          <p:nvPr/>
        </p:nvSpPr>
        <p:spPr>
          <a:xfrm>
            <a:off x="9665208" y="3065068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무엇이 갈리나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665208" y="3225088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감산·계약·원가가 모두 무효. 판이 바뀔 때 유효한 것은 미리 그 자리에 있던 것뿐이다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665208" y="3741724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찔리는 곳 </a:t>
            </a:r>
            <a:r>
              <a:rPr sz="1000" b="1">
                <a:solidFill>
                  <a:srgbClr val="D93025"/>
                </a:solidFill>
                <a:latin typeface="SamsungOneKorean"/>
                <a:ea typeface="SamsungOneKorean"/>
                <a:cs typeface="SamsungOneKorean"/>
              </a:rPr>
              <a:t>W4·W1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665208" y="3901744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니치 배제 논리의 재발이 최악 경로. 차세대 조직·예산을 주력 배분에서 분리해 보존할 것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65208" y="4422952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살리는 곳 </a:t>
            </a:r>
            <a:r>
              <a:rPr sz="100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S3·S4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665208" y="4582972"/>
            <a:ext cx="20061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로직+메모리+본딩 결합은 판 전환기의 최고 희소 자산. 새 판의 표준 선점에 투입할 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665208" y="5104180"/>
            <a:ext cx="20061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전략적 중요 분야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9665208" y="527334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729216" y="529346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차세대 진척 마일스톤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9665208" y="547908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729216" y="549920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커스텀 대응 체계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9665208" y="5684824"/>
            <a:ext cx="2006193" cy="173736"/>
          </a:xfrm>
          <a:prstGeom prst="roundRect">
            <a:avLst>
              <a:gd name="adj" fmla="val 16000"/>
            </a:avLst>
          </a:prstGeom>
          <a:solidFill>
            <a:srgbClr val="F7F8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729216" y="5704941"/>
            <a:ext cx="187817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조직 경계 설계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429768" y="6089904"/>
            <a:ext cx="11332159" cy="457200"/>
          </a:xfrm>
          <a:prstGeom prst="roundRect">
            <a:avLst>
              <a:gd name="adj" fmla="val 7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57784" y="6153912"/>
            <a:ext cx="1107612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종합  </a:t>
            </a:r>
            <a:r>
              <a:rPr sz="1050" b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약점은 W3(판단 지연)로 수렴하고(A·B·C·D 공통 노출), 강점의 발화는 갈린다(급락형 S1 체력, 침식형 S3 전환력, 공급발 S4 선행, 수요발 침식 S2 폭). </a:t>
            </a:r>
            <a:r>
              <a:rPr sz="1050" b="1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어떤 강점을 살릴지는 어떤 다운턴인지의 감별이 정한다.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29768" y="6620256"/>
            <a:ext cx="98691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출처: wiki/downturn/samsung-impact.md (S/W 근거 인용 상세) · 노출 등급은 wiki/downturn/scenario-DT-A~E.md 정성 판정 · 기준일 2026-08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390327" y="6620256"/>
            <a:ext cx="1371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[문서등급 표기]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