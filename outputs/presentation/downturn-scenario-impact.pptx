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위치] SP-2 다운턴 시나리오 플래닝 트랙의 영향 진단 장. 앞 장들이 "다운턴이 오는가"(EWI)와 "다섯 시나리오가 무엇인가"를 다뤘다면, 이 장은 원인 기준으로 다섯 갈래를 한눈에 정리하고 각 갈래가 남기는 "풀어야 할 문제"까지 연결한다. 대응 전략(DP-1~7 대비, DR-1~6 대응)은 다음 장에서 다룬다.</a:t>
            </a:r>
          </a:p>
          <a:p/>
          <a:p>
            <a:r>
              <a:t>[왜 원인 중심인가] 다운턴 기간은 원인이 정한다는 패턴이 지난 20년 복기(DT08·DT12·DT16·DT19·DT23)에서 확인됐다. 수요발은 짧고 깊게(단기전), 공급발은 길게(장기전) 간다. 그래서 속도·기간 축은 이 장에서 제외했고, 원인만 맞히면 싸움의 성격이 따라온다. 시나리오 코드(DT-A 등)와 확률 수치도 발표 층에서는 제외했다. 확률은 추정 정밀도가 낮아 정성 판단만 남겼고, 정량 추정 근거는 wiki/downturn/scenario-matrix.md에 유지되어 있다.</a:t>
            </a:r>
          </a:p>
          <a:p/>
          <a:p>
            <a:r>
              <a:t>[다섯 갈래 해설]</a:t>
            </a:r>
          </a:p>
          <a:p>
            <a:r>
              <a:t>1. 투자 자금이 끊기는 경우(수요발·조달): 최종 수요가 아니라 돈이 먼저 끊기는 경로. 이미 전조가 실측됐다. Meta의 분기 FCF가 -91%(약 $7.8억까지 축소), Amazon은 TTM FCF가 적자로 전환했는데 4사 합산 CapEx는 ~$750B(+82% YoY)로 계속 늘고 있다. 지출과 현금창출의 방향이 갈라진 상태는 지속 기간에 한계가 있고, 신용 이벤트(네오클라우드·DC SPV 디폴트) 하나로 발주 동결이 시작될 수 있다. 이때 가장 먼저 비는 곳은 가장 많이 투자한 고부가(HBM·서버) 캐파다.</a:t>
            </a:r>
          </a:p>
          <a:p>
            <a:r>
              <a:t>2. 필요량이 줄어드는 경우(수요발·원단위): AI는 성장하는데 작업당 메모리 소요가 꺾이는 경로. NVIDIA Dynamo 계열 KV 캐시 오프로드는 같은 H100으로 동시 사용자를 10배로 늘렸다. 같은 하드웨어로 10배를 처리한다는 것은 10배를 사지 않아도 된다는 뜻이기도 하다. CXL 풀링·모델 경량화도 같은 방향. 가격 폭락 없이 성장률만 꺾여서 위기감이 생기지 않는 것이 최대 위험이며, NAND·SSD는 오프로드 수혜로 오히려 수요가 는다(막대에서 유일하게 커지는 세그먼트).</a:t>
            </a:r>
          </a:p>
          <a:p>
            <a:r>
              <a:t>3. CAPEX가 몰리는 경우(공급발·기존 진영): 수요는 멀쩡한데 호황기에 결정된 투자가 한꺼번에 캐파로 도착하는 경로. 차트는 부문별 CAPEX로, DRAM 3사(삼성·SK하이닉스·Micron)가 2025 $46.5B에서 2026E $54.0B, NAND 6사(삼성·키옥시아·SK/솔리다임·Micron·샌디스크·YMTC 산업 합계)가 $21.1B에서 $22.2B로 올라선다(TrendForce·각사 IR). 2027E·28E 막대는 공표된 전망치가 아니라 이 시나리오의 정의인 '과잉 유지 가정'(2026E 수준 지속)을 표시한 것으로 옅은 색·점선으로 구분했다. 투자가 캐파로 바뀌는 리드타임 2~3년을 감안하면 2028~29에 Micron 아이다호, SK하이닉스 용인 1기, 국내 신규 팹이 동시에 가동된다(모두 착공이 끝난 확정 사실). 여기에 3강 절제가 무너지면(점유율 목표 선언, 조기 램프업) 급락으로 전환된다. 다섯 갈래 중 감산이 직접 효과를 내는 유일한 경우다.</a:t>
            </a:r>
          </a:p>
          <a:p>
            <a:r>
              <a:t>4. 후발이 파고드는 경우(공급발·신흥): 보조금 기반 후발이 하단 가격대를 영구히 끌어내리는 경로. CXMT는 글로벌 DRAM 캐파 점유 11%에서 2028년 15%로, 매출 점유는 8%(2025 Q3)에서 14%(2027E)로 오르는 전망이고 HBM3도 월 6만 장 양산에 들어간다. NAND에서는 YMTC가 Xtacking 하이브리드 본딩으로 같은 일을 한다. 손실이 나도 퇴출되지 않는 공급자라서 치킨게임(소모전)의 승리 조건 자체가 없고, 다른 갈래와 달리 회복이 없다. 지금도 진행 중인 유일한 갈래다.</a:t>
            </a:r>
          </a:p>
          <a:p>
            <a:r>
              <a:t>5. 제품 정의가 바뀌는 경우(전환발): 수요가 사라지는 게 아니라 다른 제품군으로 이동하는 경로. 3D DRAM(4F² VCT 셀), zHBM(커스텀 적층), CXL 채택이 시작되면 표준 HBM 주문이 옮겨간다. 막대 꼭대기의 점선 세그먼트가 그 이동분이다. 감산도 계약 방어도 무의미하고, 미리 그 자리에 가 있는 것(별동대)만 유효하다.</a:t>
            </a:r>
          </a:p>
          <a:p/>
          <a:p>
            <a:r>
              <a:t>[수요 막대 읽는 법] 왼쪽 옅은 막대는 2025 글로벌 메모리 매출의 실측 구성을 100으로 지수화한 것이다. DRAM $1,657억(그중 HBM $340억) + NAND $697억 = $2,354억(TrendForce·Yole) 이므로 HBM 14, HBM 제외 DRAM 56, NAND·SSD 30. 오른쪽 진한 막대는 각 시나리오의 방향 가정(wiki/downturn/samsung-impact.md §5.3)을 이 실측 구성에 적용한 시나리오 값이다. 기준은 실측, 변화 폭은 시나리오 가정이라는 점을 구분해서 설명할 것. 서버/범용 DRAM 분리 실측치는 공개 소스에 없어 DRAM은 한 세그먼트로 묶었다.</a:t>
            </a:r>
          </a:p>
          <a:p/>
          <a:p>
            <a:r>
              <a:t>[공급 차트 읽는 법] CAPEX가 몰리는 경우는 수요 막대가 무의미하다(수요는 그대로). 대신 공급의 선행 지표인 부문별 CAPEX(DRAM 3사 + NAND 6사 누적)를 보여준다. 2025~26E는 실측·계획, 2027E·28E는 시나리오 가정이라는 구분을 반드시 언급할 것. 후발의 경우도 마찬가지로 CXMT의 캐파·매출 점유 전망을 보여준다. 두 차트 모두 "수요가 아니라 공급 쪽 곡선이 커진다"는 것이 메시지다.</a:t>
            </a:r>
          </a:p>
          <a:p/>
          <a:p>
            <a:r>
              <a:t>[풀어야 할 문제] 전략 자체가 아니라 전략이 풀어야 할 문제를 정의한 것이다(전략은 다음 장). 1번: HBM4 캐파는 +50% 증설이 잡혀 있는데 조달이 끊기면 팔 곳이 없다. DRAM-CIS 설비 공용률 80%인 전환 옵션과 take-or-pay·NTB 계약 방어선 중 무엇을 어디까지 쓸 것인가. 2번: GPU당 HBM 탑재량 같은 원단위 지표가 현재 추적 체계에 없다(감별 지표 DX-8 미구축). enterprise SSD 1위(점유 38.2%)를 활용한 믹스 이동이 유일한 상방. 3번: 2022-10 무감산 선언에서 2023-04 감산 공식화까지 6개월이 걸렸고 그 사이 DS 적자 -4.58조가 쌓였다. 같은 지연을 막을 30일 결정 규율이 문제. 4번: DDR4·LPDDR4 하단은 CXMT 침투로 돌아오지 않는다. 철수 시점과 라인 전환처(CIS·차량용), 그리고 HBM 인증 장벽 유지가 문제. 5번: 2019년 HBM팀 해체가 점유 40%에서 17%로의 추락으로 이어진 전례가 있다. 전환기에 별동대와 R&amp;D 하한을 배분 논리에서 지켜내는 것이 문제.</a:t>
            </a:r>
          </a:p>
          <a:p/>
          <a:p>
            <a:r>
              <a:t>[출처] wiki/downturn/samsung-impact.md §5(단일 소스), scenario-matrix.md, downturn-history.md, key-drivers.md. 수치 원출처: hyperscaler-q2-2026-actuals(FCF·CapEx), kv-cache-ssd-offload(10배), memory-capex-history(3사 CAPEX), apple-cxmt-china-dram·TrendForce(CXMT), enterprise-ssd-market-1q26(38.2%), fab-toolset-commonality(공용률 80%), samsung-downturn-actions(2023 감산 지연). 헤드라인은 상황 이해를 돕는 가상 예시 문장으로 실제 보도가 아니다.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29768" y="237744"/>
            <a:ext cx="11332159" cy="347472"/>
          </a:xfrm>
          <a:prstGeom prst="rect">
            <a:avLst/>
          </a:prstGeom>
          <a:noFill/>
        </p:spPr>
        <p:txBody>
          <a:bodyPr wrap="square" anchor="t" lIns="0" rIns="0" tIns="0" bIns="0">
            <a:spAutoFit/>
          </a:bodyPr>
          <a:lstStyle/>
          <a:p>
            <a:pPr algn="l">
              <a:lnSpc>
                <a:spcPct val="112000"/>
              </a:lnSpc>
            </a:pPr>
            <a:r>
              <a:rPr sz="2000" b="1">
                <a:solidFill>
                  <a:srgbClr val="1428A0"/>
                </a:solidFill>
                <a:latin typeface="SamsungOneKorean"/>
                <a:ea typeface="SamsungOneKorean"/>
                <a:cs typeface="SamsungOneKorean"/>
              </a:rPr>
              <a:t>다운턴의 다섯 갈래:  </a:t>
            </a:r>
            <a:r>
              <a:rPr sz="2000" b="1">
                <a:solidFill>
                  <a:srgbClr val="1A1A1A"/>
                </a:solidFill>
                <a:latin typeface="SamsungOneKorean"/>
                <a:ea typeface="SamsungOneKorean"/>
                <a:cs typeface="SamsungOneKorean"/>
              </a:rPr>
              <a:t>꺼지는 수요가 둘, 넘치는 공급이 둘, 바뀌는 판이 하나다</a:t>
            </a:r>
          </a:p>
        </p:txBody>
      </p:sp>
      <p:cxnSp>
        <p:nvCxnSpPr>
          <p:cNvPr id="3" name="Connector 2"/>
          <p:cNvCxnSpPr/>
          <p:nvPr/>
        </p:nvCxnSpPr>
        <p:spPr>
          <a:xfrm>
            <a:off x="429768" y="658368"/>
            <a:ext cx="11332159" cy="0"/>
          </a:xfrm>
          <a:prstGeom prst="line">
            <a:avLst/>
          </a:prstGeom>
          <a:ln w="17780">
            <a:solidFill>
              <a:srgbClr val="1428A0"/>
            </a:solidFill>
          </a:ln>
          <a:effectLst/>
        </p:spPr>
        <p:style>
          <a:lnRef idx="2">
            <a:schemeClr val="accent1"/>
          </a:lnRef>
          <a:fillRef idx="0">
            <a:schemeClr val="accent1"/>
          </a:fillRef>
          <a:effectRef idx="1">
            <a:schemeClr val="accent1"/>
          </a:effectRef>
          <a:fontRef idx="minor">
            <a:schemeClr val="tx1"/>
          </a:fontRef>
        </p:style>
      </p:cxnSp>
      <p:sp>
        <p:nvSpPr>
          <p:cNvPr id="4" name="Rounded Rectangle 3"/>
          <p:cNvSpPr/>
          <p:nvPr/>
        </p:nvSpPr>
        <p:spPr>
          <a:xfrm>
            <a:off x="1435608" y="786384"/>
            <a:ext cx="4064690" cy="292608"/>
          </a:xfrm>
          <a:prstGeom prst="roundRect">
            <a:avLst>
              <a:gd name="adj" fmla="val 13000"/>
            </a:avLst>
          </a:prstGeom>
          <a:solidFill>
            <a:srgbClr val="E9E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435608" y="845820"/>
            <a:ext cx="4064690" cy="182880"/>
          </a:xfrm>
          <a:prstGeom prst="rect">
            <a:avLst/>
          </a:prstGeom>
          <a:noFill/>
        </p:spPr>
        <p:txBody>
          <a:bodyPr wrap="square" anchor="t" lIns="0" rIns="0" tIns="0" bIns="0">
            <a:spAutoFit/>
          </a:bodyPr>
          <a:lstStyle/>
          <a:p>
            <a:pPr algn="ctr">
              <a:lnSpc>
                <a:spcPct val="100000"/>
              </a:lnSpc>
            </a:pPr>
            <a:r>
              <a:rPr sz="1100" b="1">
                <a:solidFill>
                  <a:srgbClr val="1A1A1A"/>
                </a:solidFill>
                <a:latin typeface="SamsungOneKorean"/>
                <a:ea typeface="SamsungOneKorean"/>
                <a:cs typeface="SamsungOneKorean"/>
              </a:rPr>
              <a:t>수요발</a:t>
            </a:r>
            <a:r>
              <a:rPr sz="1100" b="0">
                <a:solidFill>
                  <a:srgbClr val="1A1A1A"/>
                </a:solidFill>
                <a:latin typeface="SamsungOneKorean"/>
                <a:ea typeface="SamsungOneKorean"/>
                <a:cs typeface="SamsungOneKorean"/>
              </a:rPr>
              <a:t> · 수요가 꺼진다</a:t>
            </a:r>
          </a:p>
        </p:txBody>
      </p:sp>
      <p:sp>
        <p:nvSpPr>
          <p:cNvPr id="6" name="Rounded Rectangle 5"/>
          <p:cNvSpPr/>
          <p:nvPr/>
        </p:nvSpPr>
        <p:spPr>
          <a:xfrm>
            <a:off x="5610026" y="786384"/>
            <a:ext cx="4064690" cy="292608"/>
          </a:xfrm>
          <a:prstGeom prst="roundRect">
            <a:avLst>
              <a:gd name="adj" fmla="val 13000"/>
            </a:avLst>
          </a:prstGeom>
          <a:solidFill>
            <a:srgbClr val="F3F0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10026" y="845820"/>
            <a:ext cx="4064690" cy="182880"/>
          </a:xfrm>
          <a:prstGeom prst="rect">
            <a:avLst/>
          </a:prstGeom>
          <a:noFill/>
        </p:spPr>
        <p:txBody>
          <a:bodyPr wrap="square" anchor="t" lIns="0" rIns="0" tIns="0" bIns="0">
            <a:spAutoFit/>
          </a:bodyPr>
          <a:lstStyle/>
          <a:p>
            <a:pPr algn="ctr">
              <a:lnSpc>
                <a:spcPct val="100000"/>
              </a:lnSpc>
            </a:pPr>
            <a:r>
              <a:rPr sz="1100" b="1">
                <a:solidFill>
                  <a:srgbClr val="1A1A1A"/>
                </a:solidFill>
                <a:latin typeface="SamsungOneKorean"/>
                <a:ea typeface="SamsungOneKorean"/>
                <a:cs typeface="SamsungOneKorean"/>
              </a:rPr>
              <a:t>공급발</a:t>
            </a:r>
            <a:r>
              <a:rPr sz="1100" b="0">
                <a:solidFill>
                  <a:srgbClr val="1A1A1A"/>
                </a:solidFill>
                <a:latin typeface="SamsungOneKorean"/>
                <a:ea typeface="SamsungOneKorean"/>
                <a:cs typeface="SamsungOneKorean"/>
              </a:rPr>
              <a:t> · 공급이 넘친다</a:t>
            </a:r>
          </a:p>
        </p:txBody>
      </p:sp>
      <p:sp>
        <p:nvSpPr>
          <p:cNvPr id="8" name="Rounded Rectangle 7"/>
          <p:cNvSpPr/>
          <p:nvPr/>
        </p:nvSpPr>
        <p:spPr>
          <a:xfrm>
            <a:off x="9784445" y="786384"/>
            <a:ext cx="1977481" cy="292608"/>
          </a:xfrm>
          <a:prstGeom prst="roundRect">
            <a:avLst>
              <a:gd name="adj" fmla="val 13000"/>
            </a:avLst>
          </a:prstGeom>
          <a:solidFill>
            <a:srgbClr val="EF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445" y="845820"/>
            <a:ext cx="1977481" cy="182880"/>
          </a:xfrm>
          <a:prstGeom prst="rect">
            <a:avLst/>
          </a:prstGeom>
          <a:noFill/>
        </p:spPr>
        <p:txBody>
          <a:bodyPr wrap="square" anchor="t" lIns="0" rIns="0" tIns="0" bIns="0">
            <a:spAutoFit/>
          </a:bodyPr>
          <a:lstStyle/>
          <a:p>
            <a:pPr algn="ctr">
              <a:lnSpc>
                <a:spcPct val="100000"/>
              </a:lnSpc>
            </a:pPr>
            <a:r>
              <a:rPr sz="1100" b="1">
                <a:solidFill>
                  <a:srgbClr val="1A1A1A"/>
                </a:solidFill>
                <a:latin typeface="SamsungOneKorean"/>
                <a:ea typeface="SamsungOneKorean"/>
                <a:cs typeface="SamsungOneKorean"/>
              </a:rPr>
              <a:t>전환발</a:t>
            </a:r>
            <a:r>
              <a:rPr sz="1100" b="0">
                <a:solidFill>
                  <a:srgbClr val="1A1A1A"/>
                </a:solidFill>
                <a:latin typeface="SamsungOneKorean"/>
                <a:ea typeface="SamsungOneKorean"/>
                <a:cs typeface="SamsungOneKorean"/>
              </a:rPr>
              <a:t> · 판이 바뀐다</a:t>
            </a:r>
          </a:p>
        </p:txBody>
      </p:sp>
      <p:sp>
        <p:nvSpPr>
          <p:cNvPr id="10" name="TextBox 9"/>
          <p:cNvSpPr txBox="1"/>
          <p:nvPr/>
        </p:nvSpPr>
        <p:spPr>
          <a:xfrm>
            <a:off x="1435608" y="1188720"/>
            <a:ext cx="1977481" cy="201168"/>
          </a:xfrm>
          <a:prstGeom prst="rect">
            <a:avLst/>
          </a:prstGeom>
          <a:noFill/>
        </p:spPr>
        <p:txBody>
          <a:bodyPr wrap="square" anchor="t" lIns="0" rIns="0" tIns="0" bIns="0">
            <a:spAutoFit/>
          </a:bodyPr>
          <a:lstStyle/>
          <a:p>
            <a:pPr algn="l">
              <a:lnSpc>
                <a:spcPct val="100000"/>
              </a:lnSpc>
            </a:pPr>
            <a:r>
              <a:rPr sz="1250" b="1">
                <a:solidFill>
                  <a:srgbClr val="1A1A1A"/>
                </a:solidFill>
                <a:latin typeface="SamsungOneKorean"/>
                <a:ea typeface="SamsungOneKorean"/>
                <a:cs typeface="SamsungOneKorean"/>
              </a:rPr>
              <a:t>투자 자금이 끊기는 경우</a:t>
            </a:r>
          </a:p>
        </p:txBody>
      </p:sp>
      <p:sp>
        <p:nvSpPr>
          <p:cNvPr id="11" name="TextBox 10"/>
          <p:cNvSpPr txBox="1"/>
          <p:nvPr/>
        </p:nvSpPr>
        <p:spPr>
          <a:xfrm>
            <a:off x="3522817" y="1188720"/>
            <a:ext cx="1977481" cy="201168"/>
          </a:xfrm>
          <a:prstGeom prst="rect">
            <a:avLst/>
          </a:prstGeom>
          <a:noFill/>
        </p:spPr>
        <p:txBody>
          <a:bodyPr wrap="square" anchor="t" lIns="0" rIns="0" tIns="0" bIns="0">
            <a:spAutoFit/>
          </a:bodyPr>
          <a:lstStyle/>
          <a:p>
            <a:pPr algn="l">
              <a:lnSpc>
                <a:spcPct val="100000"/>
              </a:lnSpc>
            </a:pPr>
            <a:r>
              <a:rPr sz="1250" b="1">
                <a:solidFill>
                  <a:srgbClr val="1A1A1A"/>
                </a:solidFill>
                <a:latin typeface="SamsungOneKorean"/>
                <a:ea typeface="SamsungOneKorean"/>
                <a:cs typeface="SamsungOneKorean"/>
              </a:rPr>
              <a:t>필요량이 줄어드는 경우</a:t>
            </a:r>
          </a:p>
        </p:txBody>
      </p:sp>
      <p:sp>
        <p:nvSpPr>
          <p:cNvPr id="12" name="TextBox 11"/>
          <p:cNvSpPr txBox="1"/>
          <p:nvPr/>
        </p:nvSpPr>
        <p:spPr>
          <a:xfrm>
            <a:off x="5610026" y="1188720"/>
            <a:ext cx="1977481" cy="201168"/>
          </a:xfrm>
          <a:prstGeom prst="rect">
            <a:avLst/>
          </a:prstGeom>
          <a:noFill/>
        </p:spPr>
        <p:txBody>
          <a:bodyPr wrap="square" anchor="t" lIns="0" rIns="0" tIns="0" bIns="0">
            <a:spAutoFit/>
          </a:bodyPr>
          <a:lstStyle/>
          <a:p>
            <a:pPr algn="l">
              <a:lnSpc>
                <a:spcPct val="100000"/>
              </a:lnSpc>
            </a:pPr>
            <a:r>
              <a:rPr sz="1250" b="1">
                <a:solidFill>
                  <a:srgbClr val="1A1A1A"/>
                </a:solidFill>
                <a:latin typeface="SamsungOneKorean"/>
                <a:ea typeface="SamsungOneKorean"/>
                <a:cs typeface="SamsungOneKorean"/>
              </a:rPr>
              <a:t>CAPEX가 몰리는 경우</a:t>
            </a:r>
          </a:p>
        </p:txBody>
      </p:sp>
      <p:sp>
        <p:nvSpPr>
          <p:cNvPr id="13" name="TextBox 12"/>
          <p:cNvSpPr txBox="1"/>
          <p:nvPr/>
        </p:nvSpPr>
        <p:spPr>
          <a:xfrm>
            <a:off x="7697236" y="1188720"/>
            <a:ext cx="1977481" cy="201168"/>
          </a:xfrm>
          <a:prstGeom prst="rect">
            <a:avLst/>
          </a:prstGeom>
          <a:noFill/>
        </p:spPr>
        <p:txBody>
          <a:bodyPr wrap="square" anchor="t" lIns="0" rIns="0" tIns="0" bIns="0">
            <a:spAutoFit/>
          </a:bodyPr>
          <a:lstStyle/>
          <a:p>
            <a:pPr algn="l">
              <a:lnSpc>
                <a:spcPct val="100000"/>
              </a:lnSpc>
            </a:pPr>
            <a:r>
              <a:rPr sz="1250" b="1">
                <a:solidFill>
                  <a:srgbClr val="1A1A1A"/>
                </a:solidFill>
                <a:latin typeface="SamsungOneKorean"/>
                <a:ea typeface="SamsungOneKorean"/>
                <a:cs typeface="SamsungOneKorean"/>
              </a:rPr>
              <a:t>후발이 파고드는 경우</a:t>
            </a:r>
          </a:p>
        </p:txBody>
      </p:sp>
      <p:sp>
        <p:nvSpPr>
          <p:cNvPr id="14" name="TextBox 13"/>
          <p:cNvSpPr txBox="1"/>
          <p:nvPr/>
        </p:nvSpPr>
        <p:spPr>
          <a:xfrm>
            <a:off x="9784445" y="1188720"/>
            <a:ext cx="1977481" cy="201168"/>
          </a:xfrm>
          <a:prstGeom prst="rect">
            <a:avLst/>
          </a:prstGeom>
          <a:noFill/>
        </p:spPr>
        <p:txBody>
          <a:bodyPr wrap="square" anchor="t" lIns="0" rIns="0" tIns="0" bIns="0">
            <a:spAutoFit/>
          </a:bodyPr>
          <a:lstStyle/>
          <a:p>
            <a:pPr algn="l">
              <a:lnSpc>
                <a:spcPct val="100000"/>
              </a:lnSpc>
            </a:pPr>
            <a:r>
              <a:rPr sz="1250" b="1">
                <a:solidFill>
                  <a:srgbClr val="1A1A1A"/>
                </a:solidFill>
                <a:latin typeface="SamsungOneKorean"/>
                <a:ea typeface="SamsungOneKorean"/>
                <a:cs typeface="SamsungOneKorean"/>
              </a:rPr>
              <a:t>제품 정의가 바뀌는 경우</a:t>
            </a:r>
          </a:p>
        </p:txBody>
      </p:sp>
      <p:cxnSp>
        <p:nvCxnSpPr>
          <p:cNvPr id="15" name="Connector 14"/>
          <p:cNvCxnSpPr/>
          <p:nvPr/>
        </p:nvCxnSpPr>
        <p:spPr>
          <a:xfrm>
            <a:off x="3467953" y="1170432"/>
            <a:ext cx="0" cy="4517136"/>
          </a:xfrm>
          <a:prstGeom prst="line">
            <a:avLst/>
          </a:prstGeom>
          <a:ln w="6350">
            <a:solidFill>
              <a:srgbClr val="D9D9D9"/>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555162" y="1170432"/>
            <a:ext cx="0" cy="4517136"/>
          </a:xfrm>
          <a:prstGeom prst="line">
            <a:avLst/>
          </a:prstGeom>
          <a:ln w="6350">
            <a:solidFill>
              <a:srgbClr val="D9D9D9"/>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7642372" y="1170432"/>
            <a:ext cx="0" cy="4517136"/>
          </a:xfrm>
          <a:prstGeom prst="line">
            <a:avLst/>
          </a:prstGeom>
          <a:ln w="6350">
            <a:solidFill>
              <a:srgbClr val="D9D9D9"/>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9729581" y="1170432"/>
            <a:ext cx="0" cy="4517136"/>
          </a:xfrm>
          <a:prstGeom prst="line">
            <a:avLst/>
          </a:prstGeom>
          <a:ln w="6350">
            <a:solidFill>
              <a:srgbClr val="D9D9D9"/>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29768" y="1517904"/>
            <a:ext cx="877824" cy="457200"/>
          </a:xfrm>
          <a:prstGeom prst="rect">
            <a:avLst/>
          </a:prstGeom>
          <a:noFill/>
        </p:spPr>
        <p:txBody>
          <a:bodyPr wrap="square" anchor="t" lIns="0" rIns="0" tIns="0" bIns="0">
            <a:spAutoFit/>
          </a:bodyPr>
          <a:lstStyle/>
          <a:p>
            <a:pPr algn="r">
              <a:lnSpc>
                <a:spcPct val="112000"/>
              </a:lnSpc>
            </a:pPr>
            <a:r>
              <a:rPr sz="1000" b="1">
                <a:solidFill>
                  <a:srgbClr val="8A8A8E"/>
                </a:solidFill>
                <a:latin typeface="SamsungOneKorean"/>
                <a:ea typeface="SamsungOneKorean"/>
                <a:cs typeface="SamsungOneKorean"/>
              </a:rPr>
              <a:t>그날의</a:t>
            </a:r>
          </a:p>
          <a:p>
            <a:pPr algn="r">
              <a:lnSpc>
                <a:spcPct val="112000"/>
              </a:lnSpc>
            </a:pPr>
            <a:r>
              <a:rPr sz="1000" b="1">
                <a:solidFill>
                  <a:srgbClr val="8A8A8E"/>
                </a:solidFill>
                <a:latin typeface="SamsungOneKorean"/>
                <a:ea typeface="SamsungOneKorean"/>
                <a:cs typeface="SamsungOneKorean"/>
              </a:rPr>
              <a:t>헤드라인</a:t>
            </a:r>
          </a:p>
          <a:p>
            <a:pPr algn="r">
              <a:lnSpc>
                <a:spcPct val="112000"/>
              </a:lnSpc>
            </a:pPr>
            <a:r>
              <a:rPr sz="1000" b="0">
                <a:solidFill>
                  <a:srgbClr val="8A8A8E"/>
                </a:solidFill>
                <a:latin typeface="SamsungOneKorean"/>
                <a:ea typeface="SamsungOneKorean"/>
                <a:cs typeface="SamsungOneKorean"/>
              </a:rPr>
              <a:t>(가상)</a:t>
            </a:r>
          </a:p>
        </p:txBody>
      </p:sp>
      <p:sp>
        <p:nvSpPr>
          <p:cNvPr id="20" name="Rectangle 19"/>
          <p:cNvSpPr/>
          <p:nvPr/>
        </p:nvSpPr>
        <p:spPr>
          <a:xfrm>
            <a:off x="1435608" y="1481328"/>
            <a:ext cx="1977481" cy="58521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435608" y="1481328"/>
            <a:ext cx="1977481" cy="2926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527048" y="1563624"/>
            <a:ext cx="1794601" cy="457200"/>
          </a:xfrm>
          <a:prstGeom prst="rect">
            <a:avLst/>
          </a:prstGeom>
          <a:noFill/>
        </p:spPr>
        <p:txBody>
          <a:bodyPr wrap="square" anchor="t" lIns="0" rIns="0" tIns="0" bIns="0">
            <a:spAutoFit/>
          </a:bodyPr>
          <a:lstStyle/>
          <a:p>
            <a:pPr algn="l">
              <a:lnSpc>
                <a:spcPct val="118000"/>
              </a:lnSpc>
            </a:pPr>
            <a:r>
              <a:rPr sz="1050" b="1">
                <a:solidFill>
                  <a:srgbClr val="1A1A1A"/>
                </a:solidFill>
                <a:latin typeface="SamsungOneKorean"/>
                <a:ea typeface="SamsungOneKorean"/>
                <a:cs typeface="SamsungOneKorean"/>
              </a:rPr>
              <a:t>「AI 인프라 자금줄 경색,</a:t>
            </a:r>
          </a:p>
          <a:p>
            <a:pPr algn="l">
              <a:lnSpc>
                <a:spcPct val="118000"/>
              </a:lnSpc>
            </a:pPr>
            <a:r>
              <a:rPr sz="1050" b="1">
                <a:solidFill>
                  <a:srgbClr val="1A1A1A"/>
                </a:solidFill>
                <a:latin typeface="SamsungOneKorean"/>
                <a:ea typeface="SamsungOneKorean"/>
                <a:cs typeface="SamsungOneKorean"/>
              </a:rPr>
              <a:t>데이터센터 발주 일제히 보류」</a:t>
            </a:r>
          </a:p>
        </p:txBody>
      </p:sp>
      <p:sp>
        <p:nvSpPr>
          <p:cNvPr id="23" name="Rectangle 22"/>
          <p:cNvSpPr/>
          <p:nvPr/>
        </p:nvSpPr>
        <p:spPr>
          <a:xfrm>
            <a:off x="3522817" y="1481328"/>
            <a:ext cx="1977481" cy="58521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522817" y="1481328"/>
            <a:ext cx="1977481" cy="2926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14257" y="1563624"/>
            <a:ext cx="1794601" cy="457200"/>
          </a:xfrm>
          <a:prstGeom prst="rect">
            <a:avLst/>
          </a:prstGeom>
          <a:noFill/>
        </p:spPr>
        <p:txBody>
          <a:bodyPr wrap="square" anchor="t" lIns="0" rIns="0" tIns="0" bIns="0">
            <a:spAutoFit/>
          </a:bodyPr>
          <a:lstStyle/>
          <a:p>
            <a:pPr algn="l">
              <a:lnSpc>
                <a:spcPct val="118000"/>
              </a:lnSpc>
            </a:pPr>
            <a:r>
              <a:rPr sz="1050" b="1">
                <a:solidFill>
                  <a:srgbClr val="1A1A1A"/>
                </a:solidFill>
                <a:latin typeface="SamsungOneKorean"/>
                <a:ea typeface="SamsungOneKorean"/>
                <a:cs typeface="SamsungOneKorean"/>
              </a:rPr>
              <a:t>「AI는 호황인데 메모리는</a:t>
            </a:r>
          </a:p>
          <a:p>
            <a:pPr algn="l">
              <a:lnSpc>
                <a:spcPct val="118000"/>
              </a:lnSpc>
            </a:pPr>
            <a:r>
              <a:rPr sz="1050" b="1">
                <a:solidFill>
                  <a:srgbClr val="1A1A1A"/>
                </a:solidFill>
                <a:latin typeface="SamsungOneKorean"/>
                <a:ea typeface="SamsungOneKorean"/>
                <a:cs typeface="SamsungOneKorean"/>
              </a:rPr>
              <a:t>제자리… 효율화의 역설」</a:t>
            </a:r>
          </a:p>
        </p:txBody>
      </p:sp>
      <p:sp>
        <p:nvSpPr>
          <p:cNvPr id="26" name="Rectangle 25"/>
          <p:cNvSpPr/>
          <p:nvPr/>
        </p:nvSpPr>
        <p:spPr>
          <a:xfrm>
            <a:off x="5610026" y="1481328"/>
            <a:ext cx="1977481" cy="58521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610026" y="1481328"/>
            <a:ext cx="1977481" cy="2926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701466" y="1563624"/>
            <a:ext cx="1794601" cy="457200"/>
          </a:xfrm>
          <a:prstGeom prst="rect">
            <a:avLst/>
          </a:prstGeom>
          <a:noFill/>
        </p:spPr>
        <p:txBody>
          <a:bodyPr wrap="square" anchor="t" lIns="0" rIns="0" tIns="0" bIns="0">
            <a:spAutoFit/>
          </a:bodyPr>
          <a:lstStyle/>
          <a:p>
            <a:pPr algn="l">
              <a:lnSpc>
                <a:spcPct val="118000"/>
              </a:lnSpc>
            </a:pPr>
            <a:r>
              <a:rPr sz="1050" b="1">
                <a:solidFill>
                  <a:srgbClr val="1A1A1A"/>
                </a:solidFill>
                <a:latin typeface="SamsungOneKorean"/>
                <a:ea typeface="SamsungOneKorean"/>
                <a:cs typeface="SamsungOneKorean"/>
              </a:rPr>
              <a:t>「신규 팹 동시 가동에 공급</a:t>
            </a:r>
          </a:p>
          <a:p>
            <a:pPr algn="l">
              <a:lnSpc>
                <a:spcPct val="118000"/>
              </a:lnSpc>
            </a:pPr>
            <a:r>
              <a:rPr sz="1050" b="1">
                <a:solidFill>
                  <a:srgbClr val="1A1A1A"/>
                </a:solidFill>
                <a:latin typeface="SamsungOneKorean"/>
                <a:ea typeface="SamsungOneKorean"/>
                <a:cs typeface="SamsungOneKorean"/>
              </a:rPr>
              <a:t>과잉… 치킨게임 재점화 우려」</a:t>
            </a:r>
          </a:p>
        </p:txBody>
      </p:sp>
      <p:sp>
        <p:nvSpPr>
          <p:cNvPr id="29" name="Rectangle 28"/>
          <p:cNvSpPr/>
          <p:nvPr/>
        </p:nvSpPr>
        <p:spPr>
          <a:xfrm>
            <a:off x="7697236" y="1481328"/>
            <a:ext cx="1977481" cy="58521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697236" y="1481328"/>
            <a:ext cx="1977481" cy="2926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788676" y="1563624"/>
            <a:ext cx="1794601" cy="457200"/>
          </a:xfrm>
          <a:prstGeom prst="rect">
            <a:avLst/>
          </a:prstGeom>
          <a:noFill/>
        </p:spPr>
        <p:txBody>
          <a:bodyPr wrap="square" anchor="t" lIns="0" rIns="0" tIns="0" bIns="0">
            <a:spAutoFit/>
          </a:bodyPr>
          <a:lstStyle/>
          <a:p>
            <a:pPr algn="l">
              <a:lnSpc>
                <a:spcPct val="118000"/>
              </a:lnSpc>
            </a:pPr>
            <a:r>
              <a:rPr sz="1050" b="1">
                <a:solidFill>
                  <a:srgbClr val="1A1A1A"/>
                </a:solidFill>
                <a:latin typeface="SamsungOneKorean"/>
                <a:ea typeface="SamsungOneKorean"/>
                <a:cs typeface="SamsungOneKorean"/>
              </a:rPr>
              <a:t>「중국산 메모리 범용 시장</a:t>
            </a:r>
          </a:p>
          <a:p>
            <a:pPr algn="l">
              <a:lnSpc>
                <a:spcPct val="118000"/>
              </a:lnSpc>
            </a:pPr>
            <a:r>
              <a:rPr sz="1050" b="1">
                <a:solidFill>
                  <a:srgbClr val="1A1A1A"/>
                </a:solidFill>
                <a:latin typeface="SamsungOneKorean"/>
                <a:ea typeface="SamsungOneKorean"/>
                <a:cs typeface="SamsungOneKorean"/>
              </a:rPr>
              <a:t>잠식… 가격 하단이 사라졌다」</a:t>
            </a:r>
          </a:p>
        </p:txBody>
      </p:sp>
      <p:sp>
        <p:nvSpPr>
          <p:cNvPr id="32" name="Rectangle 31"/>
          <p:cNvSpPr/>
          <p:nvPr/>
        </p:nvSpPr>
        <p:spPr>
          <a:xfrm>
            <a:off x="9784445" y="1481328"/>
            <a:ext cx="1977481" cy="58521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784445" y="1481328"/>
            <a:ext cx="1977481" cy="2926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875885" y="1563624"/>
            <a:ext cx="1794601" cy="457200"/>
          </a:xfrm>
          <a:prstGeom prst="rect">
            <a:avLst/>
          </a:prstGeom>
          <a:noFill/>
        </p:spPr>
        <p:txBody>
          <a:bodyPr wrap="square" anchor="t" lIns="0" rIns="0" tIns="0" bIns="0">
            <a:spAutoFit/>
          </a:bodyPr>
          <a:lstStyle/>
          <a:p>
            <a:pPr algn="l">
              <a:lnSpc>
                <a:spcPct val="118000"/>
              </a:lnSpc>
            </a:pPr>
            <a:r>
              <a:rPr sz="1050" b="1">
                <a:solidFill>
                  <a:srgbClr val="1A1A1A"/>
                </a:solidFill>
                <a:latin typeface="SamsungOneKorean"/>
                <a:ea typeface="SamsungOneKorean"/>
                <a:cs typeface="SamsungOneKorean"/>
              </a:rPr>
              <a:t>「HBM 시대 저무나…</a:t>
            </a:r>
          </a:p>
          <a:p>
            <a:pPr algn="l">
              <a:lnSpc>
                <a:spcPct val="118000"/>
              </a:lnSpc>
            </a:pPr>
            <a:r>
              <a:rPr sz="1050" b="1">
                <a:solidFill>
                  <a:srgbClr val="1A1A1A"/>
                </a:solidFill>
                <a:latin typeface="SamsungOneKorean"/>
                <a:ea typeface="SamsungOneKorean"/>
                <a:cs typeface="SamsungOneKorean"/>
              </a:rPr>
              <a:t>주문은 차세대 메모리로」</a:t>
            </a:r>
          </a:p>
        </p:txBody>
      </p:sp>
      <p:sp>
        <p:nvSpPr>
          <p:cNvPr id="35" name="TextBox 34"/>
          <p:cNvSpPr txBox="1"/>
          <p:nvPr/>
        </p:nvSpPr>
        <p:spPr>
          <a:xfrm>
            <a:off x="429768" y="2212848"/>
            <a:ext cx="877824" cy="365760"/>
          </a:xfrm>
          <a:prstGeom prst="rect">
            <a:avLst/>
          </a:prstGeom>
          <a:noFill/>
        </p:spPr>
        <p:txBody>
          <a:bodyPr wrap="square" anchor="t" lIns="0" rIns="0" tIns="0" bIns="0">
            <a:spAutoFit/>
          </a:bodyPr>
          <a:lstStyle/>
          <a:p>
            <a:pPr algn="r">
              <a:lnSpc>
                <a:spcPct val="112000"/>
              </a:lnSpc>
            </a:pPr>
            <a:r>
              <a:rPr sz="1000" b="1">
                <a:solidFill>
                  <a:srgbClr val="8A8A8E"/>
                </a:solidFill>
                <a:latin typeface="SamsungOneKorean"/>
                <a:ea typeface="SamsungOneKorean"/>
                <a:cs typeface="SamsungOneKorean"/>
              </a:rPr>
              <a:t>무엇이</a:t>
            </a:r>
          </a:p>
          <a:p>
            <a:pPr algn="r">
              <a:lnSpc>
                <a:spcPct val="112000"/>
              </a:lnSpc>
            </a:pPr>
            <a:r>
              <a:rPr sz="1000" b="1">
                <a:solidFill>
                  <a:srgbClr val="8A8A8E"/>
                </a:solidFill>
                <a:latin typeface="SamsungOneKorean"/>
                <a:ea typeface="SamsungOneKorean"/>
                <a:cs typeface="SamsungOneKorean"/>
              </a:rPr>
              <a:t>움직이나</a:t>
            </a:r>
          </a:p>
        </p:txBody>
      </p:sp>
      <p:sp>
        <p:nvSpPr>
          <p:cNvPr id="36" name="TextBox 35"/>
          <p:cNvSpPr txBox="1"/>
          <p:nvPr/>
        </p:nvSpPr>
        <p:spPr>
          <a:xfrm>
            <a:off x="1435608" y="2194560"/>
            <a:ext cx="1977481" cy="566928"/>
          </a:xfrm>
          <a:prstGeom prst="rect">
            <a:avLst/>
          </a:prstGeom>
          <a:noFill/>
        </p:spPr>
        <p:txBody>
          <a:bodyPr wrap="square" anchor="t" lIns="0" rIns="0" tIns="0" bIns="0">
            <a:spAutoFit/>
          </a:bodyPr>
          <a:lstStyle/>
          <a:p>
            <a:pPr algn="l">
              <a:lnSpc>
                <a:spcPct val="116000"/>
              </a:lnSpc>
            </a:pPr>
            <a:r>
              <a:rPr sz="1000" b="1">
                <a:solidFill>
                  <a:srgbClr val="1428A0"/>
                </a:solidFill>
                <a:latin typeface="SamsungOneKorean"/>
                <a:ea typeface="SamsungOneKorean"/>
                <a:cs typeface="SamsungOneKorean"/>
              </a:rPr>
              <a:t>전조  </a:t>
            </a:r>
            <a:r>
              <a:rPr sz="1000" b="0">
                <a:solidFill>
                  <a:srgbClr val="1A1A1A"/>
                </a:solidFill>
                <a:latin typeface="SamsungOneKorean"/>
                <a:ea typeface="SamsungOneKorean"/>
                <a:cs typeface="SamsungOneKorean"/>
              </a:rPr>
              <a:t>Meta FCF -91% · Amazon FCF 적자 전환, 4사 CapEx ~$750B의 조달 의존</a:t>
            </a:r>
          </a:p>
        </p:txBody>
      </p:sp>
      <p:sp>
        <p:nvSpPr>
          <p:cNvPr id="37" name="TextBox 36"/>
          <p:cNvSpPr txBox="1"/>
          <p:nvPr/>
        </p:nvSpPr>
        <p:spPr>
          <a:xfrm>
            <a:off x="3522817" y="2194560"/>
            <a:ext cx="1977481" cy="566928"/>
          </a:xfrm>
          <a:prstGeom prst="rect">
            <a:avLst/>
          </a:prstGeom>
          <a:noFill/>
        </p:spPr>
        <p:txBody>
          <a:bodyPr wrap="square" anchor="t" lIns="0" rIns="0" tIns="0" bIns="0">
            <a:spAutoFit/>
          </a:bodyPr>
          <a:lstStyle/>
          <a:p>
            <a:pPr algn="l">
              <a:lnSpc>
                <a:spcPct val="116000"/>
              </a:lnSpc>
            </a:pPr>
            <a:r>
              <a:rPr sz="1000" b="1">
                <a:solidFill>
                  <a:srgbClr val="1428A0"/>
                </a:solidFill>
                <a:latin typeface="SamsungOneKorean"/>
                <a:ea typeface="SamsungOneKorean"/>
                <a:cs typeface="SamsungOneKorean"/>
              </a:rPr>
              <a:t>동인  </a:t>
            </a:r>
            <a:r>
              <a:rPr sz="1000" b="0">
                <a:solidFill>
                  <a:srgbClr val="1A1A1A"/>
                </a:solidFill>
                <a:latin typeface="SamsungOneKorean"/>
                <a:ea typeface="SamsungOneKorean"/>
                <a:cs typeface="SamsungOneKorean"/>
              </a:rPr>
              <a:t>KV 캐시 오프로드(H100 동시 사용자 10배) · CXL 풀링 · 모델 경량화</a:t>
            </a:r>
          </a:p>
        </p:txBody>
      </p:sp>
      <p:sp>
        <p:nvSpPr>
          <p:cNvPr id="38" name="TextBox 37"/>
          <p:cNvSpPr txBox="1"/>
          <p:nvPr/>
        </p:nvSpPr>
        <p:spPr>
          <a:xfrm>
            <a:off x="5610026" y="2194560"/>
            <a:ext cx="1977481" cy="566928"/>
          </a:xfrm>
          <a:prstGeom prst="rect">
            <a:avLst/>
          </a:prstGeom>
          <a:noFill/>
        </p:spPr>
        <p:txBody>
          <a:bodyPr wrap="square" anchor="t" lIns="0" rIns="0" tIns="0" bIns="0">
            <a:spAutoFit/>
          </a:bodyPr>
          <a:lstStyle/>
          <a:p>
            <a:pPr algn="l">
              <a:lnSpc>
                <a:spcPct val="116000"/>
              </a:lnSpc>
            </a:pPr>
            <a:r>
              <a:rPr sz="1000" b="1">
                <a:solidFill>
                  <a:srgbClr val="1428A0"/>
                </a:solidFill>
                <a:latin typeface="SamsungOneKorean"/>
                <a:ea typeface="SamsungOneKorean"/>
                <a:cs typeface="SamsungOneKorean"/>
              </a:rPr>
              <a:t>공급  </a:t>
            </a:r>
            <a:r>
              <a:rPr sz="1000" b="0">
                <a:solidFill>
                  <a:srgbClr val="1A1A1A"/>
                </a:solidFill>
                <a:latin typeface="SamsungOneKorean"/>
                <a:ea typeface="SamsungOneKorean"/>
                <a:cs typeface="SamsungOneKorean"/>
              </a:rPr>
              <a:t>Micron 아이다호 · SK하이닉스 용인 · 국내 신규 팹, 2028~29 동시 가동(착공 확정)</a:t>
            </a:r>
          </a:p>
        </p:txBody>
      </p:sp>
      <p:sp>
        <p:nvSpPr>
          <p:cNvPr id="39" name="TextBox 38"/>
          <p:cNvSpPr txBox="1"/>
          <p:nvPr/>
        </p:nvSpPr>
        <p:spPr>
          <a:xfrm>
            <a:off x="7697236" y="2194560"/>
            <a:ext cx="1977481" cy="566928"/>
          </a:xfrm>
          <a:prstGeom prst="rect">
            <a:avLst/>
          </a:prstGeom>
          <a:noFill/>
        </p:spPr>
        <p:txBody>
          <a:bodyPr wrap="square" anchor="t" lIns="0" rIns="0" tIns="0" bIns="0">
            <a:spAutoFit/>
          </a:bodyPr>
          <a:lstStyle/>
          <a:p>
            <a:pPr algn="l">
              <a:lnSpc>
                <a:spcPct val="116000"/>
              </a:lnSpc>
            </a:pPr>
            <a:r>
              <a:rPr sz="1000" b="1">
                <a:solidFill>
                  <a:srgbClr val="1428A0"/>
                </a:solidFill>
                <a:latin typeface="SamsungOneKorean"/>
                <a:ea typeface="SamsungOneKorean"/>
                <a:cs typeface="SamsungOneKorean"/>
              </a:rPr>
              <a:t>공급  </a:t>
            </a:r>
            <a:r>
              <a:rPr sz="1000" b="0">
                <a:solidFill>
                  <a:srgbClr val="1A1A1A"/>
                </a:solidFill>
                <a:latin typeface="SamsungOneKorean"/>
                <a:ea typeface="SamsungOneKorean"/>
                <a:cs typeface="SamsungOneKorean"/>
              </a:rPr>
              <a:t>CXMT 캐파 점유 11%→15%E(2028) · HBM3 월 6만장, YMTC Xtacking 본딩</a:t>
            </a:r>
          </a:p>
        </p:txBody>
      </p:sp>
      <p:sp>
        <p:nvSpPr>
          <p:cNvPr id="40" name="TextBox 39"/>
          <p:cNvSpPr txBox="1"/>
          <p:nvPr/>
        </p:nvSpPr>
        <p:spPr>
          <a:xfrm>
            <a:off x="9784445" y="2194560"/>
            <a:ext cx="1977481" cy="566928"/>
          </a:xfrm>
          <a:prstGeom prst="rect">
            <a:avLst/>
          </a:prstGeom>
          <a:noFill/>
        </p:spPr>
        <p:txBody>
          <a:bodyPr wrap="square" anchor="t" lIns="0" rIns="0" tIns="0" bIns="0">
            <a:spAutoFit/>
          </a:bodyPr>
          <a:lstStyle/>
          <a:p>
            <a:pPr algn="l">
              <a:lnSpc>
                <a:spcPct val="116000"/>
              </a:lnSpc>
            </a:pPr>
            <a:r>
              <a:rPr sz="1000" b="1">
                <a:solidFill>
                  <a:srgbClr val="1428A0"/>
                </a:solidFill>
                <a:latin typeface="SamsungOneKorean"/>
                <a:ea typeface="SamsungOneKorean"/>
                <a:cs typeface="SamsungOneKorean"/>
              </a:rPr>
              <a:t>동인  </a:t>
            </a:r>
            <a:r>
              <a:rPr sz="1000" b="0">
                <a:solidFill>
                  <a:srgbClr val="1A1A1A"/>
                </a:solidFill>
                <a:latin typeface="SamsungOneKorean"/>
                <a:ea typeface="SamsungOneKorean"/>
                <a:cs typeface="SamsungOneKorean"/>
              </a:rPr>
              <a:t>3D DRAM(4F² VCT) · zHBM · CXL 채택 개시로 표준 HBM 주문 이동</a:t>
            </a:r>
          </a:p>
        </p:txBody>
      </p:sp>
      <p:sp>
        <p:nvSpPr>
          <p:cNvPr id="41" name="TextBox 40"/>
          <p:cNvSpPr txBox="1"/>
          <p:nvPr/>
        </p:nvSpPr>
        <p:spPr>
          <a:xfrm>
            <a:off x="429768" y="2743200"/>
            <a:ext cx="877824" cy="164592"/>
          </a:xfrm>
          <a:prstGeom prst="rect">
            <a:avLst/>
          </a:prstGeom>
          <a:noFill/>
        </p:spPr>
        <p:txBody>
          <a:bodyPr wrap="square" anchor="t" lIns="0" rIns="0" tIns="0" bIns="0">
            <a:spAutoFit/>
          </a:bodyPr>
          <a:lstStyle/>
          <a:p>
            <a:pPr algn="r">
              <a:lnSpc>
                <a:spcPct val="100000"/>
              </a:lnSpc>
            </a:pPr>
            <a:r>
              <a:rPr sz="1000" b="1">
                <a:solidFill>
                  <a:srgbClr val="8A8A8E"/>
                </a:solidFill>
                <a:latin typeface="SamsungOneKorean"/>
                <a:ea typeface="SamsungOneKorean"/>
                <a:cs typeface="SamsungOneKorean"/>
              </a:rPr>
              <a:t>수요 막대</a:t>
            </a:r>
          </a:p>
        </p:txBody>
      </p:sp>
      <p:sp>
        <p:nvSpPr>
          <p:cNvPr id="42" name="Rectangle 41"/>
          <p:cNvSpPr/>
          <p:nvPr/>
        </p:nvSpPr>
        <p:spPr>
          <a:xfrm>
            <a:off x="448056" y="2994660"/>
            <a:ext cx="100584" cy="10058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03503" y="2980944"/>
            <a:ext cx="822960" cy="146304"/>
          </a:xfrm>
          <a:prstGeom prst="rect">
            <a:avLst/>
          </a:prstGeom>
          <a:noFill/>
        </p:spPr>
        <p:txBody>
          <a:bodyPr wrap="none" anchor="t" lIns="0" rIns="0" tIns="0" bIns="0">
            <a:spAutoFit/>
          </a:bodyPr>
          <a:lstStyle/>
          <a:p>
            <a:pPr algn="l">
              <a:lnSpc>
                <a:spcPct val="100000"/>
              </a:lnSpc>
            </a:pPr>
            <a:r>
              <a:rPr sz="1000" b="0">
                <a:solidFill>
                  <a:srgbClr val="555555"/>
                </a:solidFill>
                <a:latin typeface="SamsungOneKorean"/>
                <a:ea typeface="SamsungOneKorean"/>
                <a:cs typeface="SamsungOneKorean"/>
              </a:rPr>
              <a:t>HBM</a:t>
            </a:r>
          </a:p>
        </p:txBody>
      </p:sp>
      <p:sp>
        <p:nvSpPr>
          <p:cNvPr id="44" name="Rectangle 43"/>
          <p:cNvSpPr/>
          <p:nvPr/>
        </p:nvSpPr>
        <p:spPr>
          <a:xfrm>
            <a:off x="448056" y="3191256"/>
            <a:ext cx="100584" cy="100584"/>
          </a:xfrm>
          <a:prstGeom prst="rect">
            <a:avLst/>
          </a:prstGeom>
          <a:solidFill>
            <a:srgbClr val="5A73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03503" y="3177539"/>
            <a:ext cx="822960" cy="146304"/>
          </a:xfrm>
          <a:prstGeom prst="rect">
            <a:avLst/>
          </a:prstGeom>
          <a:noFill/>
        </p:spPr>
        <p:txBody>
          <a:bodyPr wrap="none" anchor="t" lIns="0" rIns="0" tIns="0" bIns="0">
            <a:spAutoFit/>
          </a:bodyPr>
          <a:lstStyle/>
          <a:p>
            <a:pPr algn="l">
              <a:lnSpc>
                <a:spcPct val="100000"/>
              </a:lnSpc>
            </a:pPr>
            <a:r>
              <a:rPr sz="1000" b="0">
                <a:solidFill>
                  <a:srgbClr val="555555"/>
                </a:solidFill>
                <a:latin typeface="SamsungOneKorean"/>
                <a:ea typeface="SamsungOneKorean"/>
                <a:cs typeface="SamsungOneKorean"/>
              </a:rPr>
              <a:t>기타 DRAM</a:t>
            </a:r>
          </a:p>
        </p:txBody>
      </p:sp>
      <p:sp>
        <p:nvSpPr>
          <p:cNvPr id="46" name="Rectangle 45"/>
          <p:cNvSpPr/>
          <p:nvPr/>
        </p:nvSpPr>
        <p:spPr>
          <a:xfrm>
            <a:off x="448056" y="3387852"/>
            <a:ext cx="100584" cy="100584"/>
          </a:xfrm>
          <a:prstGeom prst="rect">
            <a:avLst/>
          </a:prstGeom>
          <a:solidFill>
            <a:srgbClr val="ADB9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03503" y="3374136"/>
            <a:ext cx="822960" cy="146304"/>
          </a:xfrm>
          <a:prstGeom prst="rect">
            <a:avLst/>
          </a:prstGeom>
          <a:noFill/>
        </p:spPr>
        <p:txBody>
          <a:bodyPr wrap="none" anchor="t" lIns="0" rIns="0" tIns="0" bIns="0">
            <a:spAutoFit/>
          </a:bodyPr>
          <a:lstStyle/>
          <a:p>
            <a:pPr algn="l">
              <a:lnSpc>
                <a:spcPct val="100000"/>
              </a:lnSpc>
            </a:pPr>
            <a:r>
              <a:rPr sz="1000" b="0">
                <a:solidFill>
                  <a:srgbClr val="555555"/>
                </a:solidFill>
                <a:latin typeface="SamsungOneKorean"/>
                <a:ea typeface="SamsungOneKorean"/>
                <a:cs typeface="SamsungOneKorean"/>
              </a:rPr>
              <a:t>NAND·SSD</a:t>
            </a:r>
          </a:p>
        </p:txBody>
      </p:sp>
      <p:sp>
        <p:nvSpPr>
          <p:cNvPr id="48" name="Rectangle 47"/>
          <p:cNvSpPr/>
          <p:nvPr/>
        </p:nvSpPr>
        <p:spPr>
          <a:xfrm>
            <a:off x="448056" y="3584448"/>
            <a:ext cx="100584" cy="100584"/>
          </a:xfrm>
          <a:prstGeom prst="rect">
            <a:avLst/>
          </a:prstGeom>
          <a:solidFill>
            <a:srgbClr val="FFFFFF"/>
          </a:solidFill>
          <a:ln w="10160">
            <a:solidFill>
              <a:srgbClr val="8A8A8E"/>
            </a:solidFill>
            <a:prstDash val="sys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03503" y="3570732"/>
            <a:ext cx="822960" cy="146304"/>
          </a:xfrm>
          <a:prstGeom prst="rect">
            <a:avLst/>
          </a:prstGeom>
          <a:noFill/>
        </p:spPr>
        <p:txBody>
          <a:bodyPr wrap="none" anchor="t" lIns="0" rIns="0" tIns="0" bIns="0">
            <a:spAutoFit/>
          </a:bodyPr>
          <a:lstStyle/>
          <a:p>
            <a:pPr algn="l">
              <a:lnSpc>
                <a:spcPct val="100000"/>
              </a:lnSpc>
            </a:pPr>
            <a:r>
              <a:rPr sz="1000" b="0">
                <a:solidFill>
                  <a:srgbClr val="555555"/>
                </a:solidFill>
                <a:latin typeface="SamsungOneKorean"/>
                <a:ea typeface="SamsungOneKorean"/>
                <a:cs typeface="SamsungOneKorean"/>
              </a:rPr>
              <a:t>차세대 이동분</a:t>
            </a:r>
          </a:p>
        </p:txBody>
      </p:sp>
      <p:sp>
        <p:nvSpPr>
          <p:cNvPr id="50" name="TextBox 49"/>
          <p:cNvSpPr txBox="1"/>
          <p:nvPr/>
        </p:nvSpPr>
        <p:spPr>
          <a:xfrm>
            <a:off x="429768" y="3931920"/>
            <a:ext cx="877824" cy="310896"/>
          </a:xfrm>
          <a:prstGeom prst="rect">
            <a:avLst/>
          </a:prstGeom>
          <a:noFill/>
        </p:spPr>
        <p:txBody>
          <a:bodyPr wrap="square" anchor="t" lIns="0" rIns="0" tIns="0" bIns="0">
            <a:spAutoFit/>
          </a:bodyPr>
          <a:lstStyle/>
          <a:p>
            <a:pPr algn="r">
              <a:lnSpc>
                <a:spcPct val="115000"/>
              </a:lnSpc>
            </a:pPr>
            <a:r>
              <a:rPr sz="1000" b="0">
                <a:solidFill>
                  <a:srgbClr val="8A8A8E"/>
                </a:solidFill>
                <a:latin typeface="SamsungOneKorean"/>
                <a:ea typeface="SamsungOneKorean"/>
                <a:cs typeface="SamsungOneKorean"/>
              </a:rPr>
              <a:t>2025 구성</a:t>
            </a:r>
          </a:p>
          <a:p>
            <a:pPr algn="r">
              <a:lnSpc>
                <a:spcPct val="115000"/>
              </a:lnSpc>
            </a:pPr>
            <a:r>
              <a:rPr sz="1000" b="0">
                <a:solidFill>
                  <a:srgbClr val="8A8A8E"/>
                </a:solidFill>
                <a:latin typeface="SamsungOneKorean"/>
                <a:ea typeface="SamsungOneKorean"/>
                <a:cs typeface="SamsungOneKorean"/>
              </a:rPr>
              <a:t>= 100 기준</a:t>
            </a:r>
          </a:p>
        </p:txBody>
      </p:sp>
      <p:sp>
        <p:nvSpPr>
          <p:cNvPr id="51" name="TextBox 50"/>
          <p:cNvSpPr txBox="1"/>
          <p:nvPr/>
        </p:nvSpPr>
        <p:spPr>
          <a:xfrm>
            <a:off x="1435608" y="2743200"/>
            <a:ext cx="1977481" cy="146304"/>
          </a:xfrm>
          <a:prstGeom prst="rect">
            <a:avLst/>
          </a:prstGeom>
          <a:noFill/>
        </p:spPr>
        <p:txBody>
          <a:bodyPr wrap="square" anchor="t" lIns="0" rIns="0" tIns="0" bIns="0">
            <a:spAutoFit/>
          </a:bodyPr>
          <a:lstStyle/>
          <a:p>
            <a:pPr algn="ctr">
              <a:lnSpc>
                <a:spcPct val="100000"/>
              </a:lnSpc>
            </a:pPr>
            <a:r>
              <a:rPr sz="1000" b="1">
                <a:solidFill>
                  <a:srgbClr val="8A8A8E"/>
                </a:solidFill>
                <a:latin typeface="SamsungOneKorean"/>
                <a:ea typeface="SamsungOneKorean"/>
                <a:cs typeface="SamsungOneKorean"/>
              </a:rPr>
              <a:t>제품 수요 (2025=100)</a:t>
            </a:r>
          </a:p>
        </p:txBody>
      </p:sp>
      <p:sp>
        <p:nvSpPr>
          <p:cNvPr id="52" name="TextBox 51"/>
          <p:cNvSpPr txBox="1"/>
          <p:nvPr/>
        </p:nvSpPr>
        <p:spPr>
          <a:xfrm>
            <a:off x="3522817" y="2743200"/>
            <a:ext cx="1977481" cy="146304"/>
          </a:xfrm>
          <a:prstGeom prst="rect">
            <a:avLst/>
          </a:prstGeom>
          <a:noFill/>
        </p:spPr>
        <p:txBody>
          <a:bodyPr wrap="square" anchor="t" lIns="0" rIns="0" tIns="0" bIns="0">
            <a:spAutoFit/>
          </a:bodyPr>
          <a:lstStyle/>
          <a:p>
            <a:pPr algn="ctr">
              <a:lnSpc>
                <a:spcPct val="100000"/>
              </a:lnSpc>
            </a:pPr>
            <a:r>
              <a:rPr sz="1000" b="1">
                <a:solidFill>
                  <a:srgbClr val="8A8A8E"/>
                </a:solidFill>
                <a:latin typeface="SamsungOneKorean"/>
                <a:ea typeface="SamsungOneKorean"/>
                <a:cs typeface="SamsungOneKorean"/>
              </a:rPr>
              <a:t>제품 수요 (2025=100)</a:t>
            </a:r>
          </a:p>
        </p:txBody>
      </p:sp>
      <p:sp>
        <p:nvSpPr>
          <p:cNvPr id="53" name="TextBox 52"/>
          <p:cNvSpPr txBox="1"/>
          <p:nvPr/>
        </p:nvSpPr>
        <p:spPr>
          <a:xfrm>
            <a:off x="5610026" y="2743200"/>
            <a:ext cx="1977481" cy="146304"/>
          </a:xfrm>
          <a:prstGeom prst="rect">
            <a:avLst/>
          </a:prstGeom>
          <a:noFill/>
        </p:spPr>
        <p:txBody>
          <a:bodyPr wrap="square" anchor="t" lIns="0" rIns="0" tIns="0" bIns="0">
            <a:spAutoFit/>
          </a:bodyPr>
          <a:lstStyle/>
          <a:p>
            <a:pPr algn="ctr">
              <a:lnSpc>
                <a:spcPct val="100000"/>
              </a:lnSpc>
            </a:pPr>
            <a:r>
              <a:rPr sz="1000" b="1">
                <a:solidFill>
                  <a:srgbClr val="8A8A8E"/>
                </a:solidFill>
                <a:latin typeface="SamsungOneKorean"/>
                <a:ea typeface="SamsungOneKorean"/>
                <a:cs typeface="SamsungOneKorean"/>
              </a:rPr>
              <a:t>메모리 CAPEX ($B)</a:t>
            </a:r>
          </a:p>
        </p:txBody>
      </p:sp>
      <p:sp>
        <p:nvSpPr>
          <p:cNvPr id="54" name="TextBox 53"/>
          <p:cNvSpPr txBox="1"/>
          <p:nvPr/>
        </p:nvSpPr>
        <p:spPr>
          <a:xfrm>
            <a:off x="7697236" y="2743200"/>
            <a:ext cx="1977481" cy="146304"/>
          </a:xfrm>
          <a:prstGeom prst="rect">
            <a:avLst/>
          </a:prstGeom>
          <a:noFill/>
        </p:spPr>
        <p:txBody>
          <a:bodyPr wrap="square" anchor="t" lIns="0" rIns="0" tIns="0" bIns="0">
            <a:spAutoFit/>
          </a:bodyPr>
          <a:lstStyle/>
          <a:p>
            <a:pPr algn="ctr">
              <a:lnSpc>
                <a:spcPct val="100000"/>
              </a:lnSpc>
            </a:pPr>
            <a:r>
              <a:rPr sz="1000" b="1">
                <a:solidFill>
                  <a:srgbClr val="8A8A8E"/>
                </a:solidFill>
                <a:latin typeface="SamsungOneKorean"/>
                <a:ea typeface="SamsungOneKorean"/>
                <a:cs typeface="SamsungOneKorean"/>
              </a:rPr>
              <a:t>CXMT 점유율 (%)</a:t>
            </a:r>
          </a:p>
        </p:txBody>
      </p:sp>
      <p:sp>
        <p:nvSpPr>
          <p:cNvPr id="55" name="TextBox 54"/>
          <p:cNvSpPr txBox="1"/>
          <p:nvPr/>
        </p:nvSpPr>
        <p:spPr>
          <a:xfrm>
            <a:off x="9784445" y="2743200"/>
            <a:ext cx="1977481" cy="146304"/>
          </a:xfrm>
          <a:prstGeom prst="rect">
            <a:avLst/>
          </a:prstGeom>
          <a:noFill/>
        </p:spPr>
        <p:txBody>
          <a:bodyPr wrap="square" anchor="t" lIns="0" rIns="0" tIns="0" bIns="0">
            <a:spAutoFit/>
          </a:bodyPr>
          <a:lstStyle/>
          <a:p>
            <a:pPr algn="ctr">
              <a:lnSpc>
                <a:spcPct val="100000"/>
              </a:lnSpc>
            </a:pPr>
            <a:r>
              <a:rPr sz="1000" b="1">
                <a:solidFill>
                  <a:srgbClr val="8A8A8E"/>
                </a:solidFill>
                <a:latin typeface="SamsungOneKorean"/>
                <a:ea typeface="SamsungOneKorean"/>
                <a:cs typeface="SamsungOneKorean"/>
              </a:rPr>
              <a:t>제품 수요 (2025=100)</a:t>
            </a:r>
          </a:p>
        </p:txBody>
      </p:sp>
      <p:cxnSp>
        <p:nvCxnSpPr>
          <p:cNvPr id="56" name="Connector 55"/>
          <p:cNvCxnSpPr/>
          <p:nvPr/>
        </p:nvCxnSpPr>
        <p:spPr>
          <a:xfrm>
            <a:off x="1527048" y="4370832"/>
            <a:ext cx="1794601" cy="0"/>
          </a:xfrm>
          <a:prstGeom prst="line">
            <a:avLst/>
          </a:prstGeom>
          <a:ln w="11430">
            <a:solidFill>
              <a:srgbClr val="D9D9D9"/>
            </a:solidFill>
          </a:ln>
          <a:effectLst/>
        </p:spPr>
        <p:style>
          <a:lnRef idx="2">
            <a:schemeClr val="accent1"/>
          </a:lnRef>
          <a:fillRef idx="0">
            <a:schemeClr val="accent1"/>
          </a:fillRef>
          <a:effectRef idx="1">
            <a:schemeClr val="accent1"/>
          </a:effectRef>
          <a:fontRef idx="minor">
            <a:schemeClr val="tx1"/>
          </a:fontRef>
        </p:style>
      </p:cxnSp>
      <p:sp>
        <p:nvSpPr>
          <p:cNvPr id="57" name="Rectangle 56"/>
          <p:cNvSpPr/>
          <p:nvPr/>
        </p:nvSpPr>
        <p:spPr>
          <a:xfrm>
            <a:off x="1994580" y="4206971"/>
            <a:ext cx="365760" cy="163860"/>
          </a:xfrm>
          <a:prstGeom prst="rect">
            <a:avLst/>
          </a:prstGeom>
          <a:solidFill>
            <a:srgbClr val="1428A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1994580" y="3551529"/>
            <a:ext cx="365760" cy="655441"/>
          </a:xfrm>
          <a:prstGeom prst="rect">
            <a:avLst/>
          </a:prstGeom>
          <a:solidFill>
            <a:srgbClr val="5A73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1994580" y="3200400"/>
            <a:ext cx="365760" cy="351129"/>
          </a:xfrm>
          <a:prstGeom prst="rect">
            <a:avLst/>
          </a:prstGeom>
          <a:solidFill>
            <a:srgbClr val="ADB9E4"/>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1903140" y="3008376"/>
            <a:ext cx="548640" cy="146304"/>
          </a:xfrm>
          <a:prstGeom prst="rect">
            <a:avLst/>
          </a:prstGeom>
          <a:noFill/>
        </p:spPr>
        <p:txBody>
          <a:bodyPr wrap="square" anchor="t" lIns="0" rIns="0" tIns="0" bIns="0">
            <a:spAutoFit/>
          </a:bodyPr>
          <a:lstStyle/>
          <a:p>
            <a:pPr algn="ctr">
              <a:lnSpc>
                <a:spcPct val="100000"/>
              </a:lnSpc>
            </a:pPr>
            <a:r>
              <a:rPr sz="1000" b="1">
                <a:solidFill>
                  <a:srgbClr val="8A8A8E"/>
                </a:solidFill>
                <a:latin typeface="SamsungOneKorean"/>
                <a:ea typeface="SamsungOneKorean"/>
                <a:cs typeface="SamsungOneKorean"/>
              </a:rPr>
              <a:t>100</a:t>
            </a:r>
          </a:p>
        </p:txBody>
      </p:sp>
      <p:sp>
        <p:nvSpPr>
          <p:cNvPr id="61" name="Rectangle 60"/>
          <p:cNvSpPr/>
          <p:nvPr/>
        </p:nvSpPr>
        <p:spPr>
          <a:xfrm>
            <a:off x="2488356" y="4288901"/>
            <a:ext cx="365760" cy="81930"/>
          </a:xfrm>
          <a:prstGeom prst="rect">
            <a:avLst/>
          </a:prstGeom>
          <a:solidFill>
            <a:srgbClr val="1428A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2488356" y="3797320"/>
            <a:ext cx="365760" cy="491581"/>
          </a:xfrm>
          <a:prstGeom prst="rect">
            <a:avLst/>
          </a:prstGeom>
          <a:solidFill>
            <a:srgbClr val="5A73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2488356" y="3516416"/>
            <a:ext cx="365760" cy="280903"/>
          </a:xfrm>
          <a:prstGeom prst="rect">
            <a:avLst/>
          </a:prstGeom>
          <a:solidFill>
            <a:srgbClr val="ADB9E4"/>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2396916" y="3324392"/>
            <a:ext cx="548640" cy="146304"/>
          </a:xfrm>
          <a:prstGeom prst="rect">
            <a:avLst/>
          </a:prstGeom>
          <a:noFill/>
        </p:spPr>
        <p:txBody>
          <a:bodyPr wrap="square" anchor="t" lIns="0" rIns="0" tIns="0" bIns="0">
            <a:spAutoFit/>
          </a:bodyPr>
          <a:lstStyle/>
          <a:p>
            <a:pPr algn="ctr">
              <a:lnSpc>
                <a:spcPct val="100000"/>
              </a:lnSpc>
            </a:pPr>
            <a:r>
              <a:rPr sz="1050" b="1">
                <a:solidFill>
                  <a:srgbClr val="1428A0"/>
                </a:solidFill>
                <a:latin typeface="SamsungOneKorean"/>
                <a:ea typeface="SamsungOneKorean"/>
                <a:cs typeface="SamsungOneKorean"/>
              </a:rPr>
              <a:t>73</a:t>
            </a:r>
          </a:p>
        </p:txBody>
      </p:sp>
      <p:sp>
        <p:nvSpPr>
          <p:cNvPr id="65" name="TextBox 64"/>
          <p:cNvSpPr txBox="1"/>
          <p:nvPr/>
        </p:nvSpPr>
        <p:spPr>
          <a:xfrm>
            <a:off x="1921428" y="4416552"/>
            <a:ext cx="512064" cy="128016"/>
          </a:xfrm>
          <a:prstGeom prst="rect">
            <a:avLst/>
          </a:prstGeom>
          <a:noFill/>
        </p:spPr>
        <p:txBody>
          <a:bodyPr wrap="square" anchor="t" lIns="0" rIns="0" tIns="0" bIns="0">
            <a:spAutoFit/>
          </a:bodyPr>
          <a:lstStyle/>
          <a:p>
            <a:pPr algn="ctr">
              <a:lnSpc>
                <a:spcPct val="100000"/>
              </a:lnSpc>
            </a:pPr>
            <a:r>
              <a:rPr sz="1000" b="0">
                <a:solidFill>
                  <a:srgbClr val="8A8A8E"/>
                </a:solidFill>
                <a:latin typeface="SamsungOneKorean"/>
                <a:ea typeface="SamsungOneKorean"/>
                <a:cs typeface="SamsungOneKorean"/>
              </a:rPr>
              <a:t>2025</a:t>
            </a:r>
          </a:p>
        </p:txBody>
      </p:sp>
      <p:sp>
        <p:nvSpPr>
          <p:cNvPr id="66" name="TextBox 65"/>
          <p:cNvSpPr txBox="1"/>
          <p:nvPr/>
        </p:nvSpPr>
        <p:spPr>
          <a:xfrm>
            <a:off x="2415204" y="4416552"/>
            <a:ext cx="512064" cy="128016"/>
          </a:xfrm>
          <a:prstGeom prst="rect">
            <a:avLst/>
          </a:prstGeom>
          <a:noFill/>
        </p:spPr>
        <p:txBody>
          <a:bodyPr wrap="square" anchor="t" lIns="0" rIns="0" tIns="0" bIns="0">
            <a:spAutoFit/>
          </a:bodyPr>
          <a:lstStyle/>
          <a:p>
            <a:pPr algn="ctr">
              <a:lnSpc>
                <a:spcPct val="100000"/>
              </a:lnSpc>
            </a:pPr>
            <a:r>
              <a:rPr sz="1000" b="0">
                <a:solidFill>
                  <a:srgbClr val="8A8A8E"/>
                </a:solidFill>
                <a:latin typeface="SamsungOneKorean"/>
                <a:ea typeface="SamsungOneKorean"/>
                <a:cs typeface="SamsungOneKorean"/>
              </a:rPr>
              <a:t>시나리오</a:t>
            </a:r>
          </a:p>
        </p:txBody>
      </p:sp>
      <p:cxnSp>
        <p:nvCxnSpPr>
          <p:cNvPr id="67" name="Connector 66"/>
          <p:cNvCxnSpPr/>
          <p:nvPr/>
        </p:nvCxnSpPr>
        <p:spPr>
          <a:xfrm>
            <a:off x="3614257" y="4370832"/>
            <a:ext cx="1794601" cy="0"/>
          </a:xfrm>
          <a:prstGeom prst="line">
            <a:avLst/>
          </a:prstGeom>
          <a:ln w="11430">
            <a:solidFill>
              <a:srgbClr val="D9D9D9"/>
            </a:solidFill>
          </a:ln>
          <a:effectLst/>
        </p:spPr>
        <p:style>
          <a:lnRef idx="2">
            <a:schemeClr val="accent1"/>
          </a:lnRef>
          <a:fillRef idx="0">
            <a:schemeClr val="accent1"/>
          </a:fillRef>
          <a:effectRef idx="1">
            <a:schemeClr val="accent1"/>
          </a:effectRef>
          <a:fontRef idx="minor">
            <a:schemeClr val="tx1"/>
          </a:fontRef>
        </p:style>
      </p:cxnSp>
      <p:sp>
        <p:nvSpPr>
          <p:cNvPr id="68" name="Rectangle 67"/>
          <p:cNvSpPr/>
          <p:nvPr/>
        </p:nvSpPr>
        <p:spPr>
          <a:xfrm>
            <a:off x="4081790" y="4206971"/>
            <a:ext cx="365760" cy="163860"/>
          </a:xfrm>
          <a:prstGeom prst="rect">
            <a:avLst/>
          </a:prstGeom>
          <a:solidFill>
            <a:srgbClr val="1428A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4081790" y="3551529"/>
            <a:ext cx="365760" cy="655441"/>
          </a:xfrm>
          <a:prstGeom prst="rect">
            <a:avLst/>
          </a:prstGeom>
          <a:solidFill>
            <a:srgbClr val="5A73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4081790" y="3200400"/>
            <a:ext cx="365760" cy="351129"/>
          </a:xfrm>
          <a:prstGeom prst="rect">
            <a:avLst/>
          </a:prstGeom>
          <a:solidFill>
            <a:srgbClr val="ADB9E4"/>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3990350" y="3008376"/>
            <a:ext cx="548640" cy="146304"/>
          </a:xfrm>
          <a:prstGeom prst="rect">
            <a:avLst/>
          </a:prstGeom>
          <a:noFill/>
        </p:spPr>
        <p:txBody>
          <a:bodyPr wrap="square" anchor="t" lIns="0" rIns="0" tIns="0" bIns="0">
            <a:spAutoFit/>
          </a:bodyPr>
          <a:lstStyle/>
          <a:p>
            <a:pPr algn="ctr">
              <a:lnSpc>
                <a:spcPct val="100000"/>
              </a:lnSpc>
            </a:pPr>
            <a:r>
              <a:rPr sz="1000" b="1">
                <a:solidFill>
                  <a:srgbClr val="8A8A8E"/>
                </a:solidFill>
                <a:latin typeface="SamsungOneKorean"/>
                <a:ea typeface="SamsungOneKorean"/>
                <a:cs typeface="SamsungOneKorean"/>
              </a:rPr>
              <a:t>100</a:t>
            </a:r>
          </a:p>
        </p:txBody>
      </p:sp>
      <p:sp>
        <p:nvSpPr>
          <p:cNvPr id="72" name="Rectangle 71"/>
          <p:cNvSpPr/>
          <p:nvPr/>
        </p:nvSpPr>
        <p:spPr>
          <a:xfrm>
            <a:off x="4575566" y="4242084"/>
            <a:ext cx="365760" cy="128747"/>
          </a:xfrm>
          <a:prstGeom prst="rect">
            <a:avLst/>
          </a:prstGeom>
          <a:solidFill>
            <a:srgbClr val="1428A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4575566" y="3715390"/>
            <a:ext cx="365760" cy="526694"/>
          </a:xfrm>
          <a:prstGeom prst="rect">
            <a:avLst/>
          </a:prstGeom>
          <a:solidFill>
            <a:srgbClr val="5A73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4575566" y="3305738"/>
            <a:ext cx="365760" cy="409651"/>
          </a:xfrm>
          <a:prstGeom prst="rect">
            <a:avLst/>
          </a:prstGeom>
          <a:solidFill>
            <a:srgbClr val="ADB9E4"/>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484126" y="3113714"/>
            <a:ext cx="548640" cy="146304"/>
          </a:xfrm>
          <a:prstGeom prst="rect">
            <a:avLst/>
          </a:prstGeom>
          <a:noFill/>
        </p:spPr>
        <p:txBody>
          <a:bodyPr wrap="square" anchor="t" lIns="0" rIns="0" tIns="0" bIns="0">
            <a:spAutoFit/>
          </a:bodyPr>
          <a:lstStyle/>
          <a:p>
            <a:pPr algn="ctr">
              <a:lnSpc>
                <a:spcPct val="100000"/>
              </a:lnSpc>
            </a:pPr>
            <a:r>
              <a:rPr sz="1050" b="1">
                <a:solidFill>
                  <a:srgbClr val="1428A0"/>
                </a:solidFill>
                <a:latin typeface="SamsungOneKorean"/>
                <a:ea typeface="SamsungOneKorean"/>
                <a:cs typeface="SamsungOneKorean"/>
              </a:rPr>
              <a:t>91</a:t>
            </a:r>
          </a:p>
        </p:txBody>
      </p:sp>
      <p:sp>
        <p:nvSpPr>
          <p:cNvPr id="76" name="TextBox 75"/>
          <p:cNvSpPr txBox="1"/>
          <p:nvPr/>
        </p:nvSpPr>
        <p:spPr>
          <a:xfrm>
            <a:off x="4008638" y="4416552"/>
            <a:ext cx="512064" cy="128016"/>
          </a:xfrm>
          <a:prstGeom prst="rect">
            <a:avLst/>
          </a:prstGeom>
          <a:noFill/>
        </p:spPr>
        <p:txBody>
          <a:bodyPr wrap="square" anchor="t" lIns="0" rIns="0" tIns="0" bIns="0">
            <a:spAutoFit/>
          </a:bodyPr>
          <a:lstStyle/>
          <a:p>
            <a:pPr algn="ctr">
              <a:lnSpc>
                <a:spcPct val="100000"/>
              </a:lnSpc>
            </a:pPr>
            <a:r>
              <a:rPr sz="1000" b="0">
                <a:solidFill>
                  <a:srgbClr val="8A8A8E"/>
                </a:solidFill>
                <a:latin typeface="SamsungOneKorean"/>
                <a:ea typeface="SamsungOneKorean"/>
                <a:cs typeface="SamsungOneKorean"/>
              </a:rPr>
              <a:t>2025</a:t>
            </a:r>
          </a:p>
        </p:txBody>
      </p:sp>
      <p:sp>
        <p:nvSpPr>
          <p:cNvPr id="77" name="TextBox 76"/>
          <p:cNvSpPr txBox="1"/>
          <p:nvPr/>
        </p:nvSpPr>
        <p:spPr>
          <a:xfrm>
            <a:off x="4502414" y="4416552"/>
            <a:ext cx="512064" cy="128016"/>
          </a:xfrm>
          <a:prstGeom prst="rect">
            <a:avLst/>
          </a:prstGeom>
          <a:noFill/>
        </p:spPr>
        <p:txBody>
          <a:bodyPr wrap="square" anchor="t" lIns="0" rIns="0" tIns="0" bIns="0">
            <a:spAutoFit/>
          </a:bodyPr>
          <a:lstStyle/>
          <a:p>
            <a:pPr algn="ctr">
              <a:lnSpc>
                <a:spcPct val="100000"/>
              </a:lnSpc>
            </a:pPr>
            <a:r>
              <a:rPr sz="1000" b="0">
                <a:solidFill>
                  <a:srgbClr val="8A8A8E"/>
                </a:solidFill>
                <a:latin typeface="SamsungOneKorean"/>
                <a:ea typeface="SamsungOneKorean"/>
                <a:cs typeface="SamsungOneKorean"/>
              </a:rPr>
              <a:t>시나리오</a:t>
            </a:r>
          </a:p>
        </p:txBody>
      </p:sp>
      <p:cxnSp>
        <p:nvCxnSpPr>
          <p:cNvPr id="78" name="Connector 77"/>
          <p:cNvCxnSpPr/>
          <p:nvPr/>
        </p:nvCxnSpPr>
        <p:spPr>
          <a:xfrm>
            <a:off x="5701466" y="4370832"/>
            <a:ext cx="1794602" cy="0"/>
          </a:xfrm>
          <a:prstGeom prst="line">
            <a:avLst/>
          </a:prstGeom>
          <a:ln w="11430">
            <a:solidFill>
              <a:srgbClr val="D9D9D9"/>
            </a:solidFill>
          </a:ln>
          <a:effectLst/>
        </p:spPr>
        <p:style>
          <a:lnRef idx="2">
            <a:schemeClr val="accent1"/>
          </a:lnRef>
          <a:fillRef idx="0">
            <a:schemeClr val="accent1"/>
          </a:fillRef>
          <a:effectRef idx="1">
            <a:schemeClr val="accent1"/>
          </a:effectRef>
          <a:fontRef idx="minor">
            <a:schemeClr val="tx1"/>
          </a:fontRef>
        </p:style>
      </p:cxnSp>
      <p:sp>
        <p:nvSpPr>
          <p:cNvPr id="79" name="TextBox 78"/>
          <p:cNvSpPr txBox="1"/>
          <p:nvPr/>
        </p:nvSpPr>
        <p:spPr>
          <a:xfrm>
            <a:off x="5610026" y="2903220"/>
            <a:ext cx="1977481" cy="128016"/>
          </a:xfrm>
          <a:prstGeom prst="rect">
            <a:avLst/>
          </a:prstGeom>
          <a:noFill/>
        </p:spPr>
        <p:txBody>
          <a:bodyPr wrap="square" anchor="t" lIns="0" rIns="0" tIns="0" bIns="0">
            <a:spAutoFit/>
          </a:bodyPr>
          <a:lstStyle/>
          <a:p>
            <a:pPr algn="ctr">
              <a:lnSpc>
                <a:spcPct val="100000"/>
              </a:lnSpc>
            </a:pPr>
            <a:r>
              <a:rPr sz="1000" b="0">
                <a:solidFill>
                  <a:srgbClr val="6B6B70"/>
                </a:solidFill>
                <a:latin typeface="SamsungOneKorean"/>
                <a:ea typeface="SamsungOneKorean"/>
                <a:cs typeface="SamsungOneKorean"/>
              </a:rPr>
              <a:t>■ </a:t>
            </a:r>
            <a:r>
              <a:rPr sz="1000" b="0">
                <a:solidFill>
                  <a:srgbClr val="555555"/>
                </a:solidFill>
                <a:latin typeface="SamsungOneKorean"/>
                <a:ea typeface="SamsungOneKorean"/>
                <a:cs typeface="SamsungOneKorean"/>
              </a:rPr>
              <a:t>DRAM 3사  </a:t>
            </a:r>
            <a:r>
              <a:rPr sz="1000" b="0">
                <a:solidFill>
                  <a:srgbClr val="C9C9CC"/>
                </a:solidFill>
                <a:latin typeface="SamsungOneKorean"/>
                <a:ea typeface="SamsungOneKorean"/>
                <a:cs typeface="SamsungOneKorean"/>
              </a:rPr>
              <a:t>■ </a:t>
            </a:r>
            <a:r>
              <a:rPr sz="1000" b="0">
                <a:solidFill>
                  <a:srgbClr val="555555"/>
                </a:solidFill>
                <a:latin typeface="SamsungOneKorean"/>
                <a:ea typeface="SamsungOneKorean"/>
                <a:cs typeface="SamsungOneKorean"/>
              </a:rPr>
              <a:t>NAND 6사</a:t>
            </a:r>
          </a:p>
        </p:txBody>
      </p:sp>
      <p:sp>
        <p:nvSpPr>
          <p:cNvPr id="80" name="Rectangle 79"/>
          <p:cNvSpPr/>
          <p:nvPr/>
        </p:nvSpPr>
        <p:spPr>
          <a:xfrm>
            <a:off x="5864961" y="3752365"/>
            <a:ext cx="274320" cy="618466"/>
          </a:xfrm>
          <a:prstGeom prst="rect">
            <a:avLst/>
          </a:prstGeom>
          <a:solidFill>
            <a:srgbClr val="6B6B7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5864961" y="3471727"/>
            <a:ext cx="274320" cy="280637"/>
          </a:xfrm>
          <a:prstGeom prst="rect">
            <a:avLst/>
          </a:prstGeom>
          <a:solidFill>
            <a:srgbClr val="C9C9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5755233" y="3288847"/>
            <a:ext cx="493776" cy="146304"/>
          </a:xfrm>
          <a:prstGeom prst="rect">
            <a:avLst/>
          </a:prstGeom>
          <a:noFill/>
        </p:spPr>
        <p:txBody>
          <a:bodyPr wrap="square" anchor="t" lIns="0" rIns="0" tIns="0" bIns="0">
            <a:spAutoFit/>
          </a:bodyPr>
          <a:lstStyle/>
          <a:p>
            <a:pPr algn="ctr">
              <a:lnSpc>
                <a:spcPct val="100000"/>
              </a:lnSpc>
            </a:pPr>
            <a:r>
              <a:rPr sz="1000" b="1">
                <a:solidFill>
                  <a:srgbClr val="1A1A1A"/>
                </a:solidFill>
                <a:latin typeface="SamsungOneKorean"/>
                <a:ea typeface="SamsungOneKorean"/>
                <a:cs typeface="SamsungOneKorean"/>
              </a:rPr>
              <a:t>68</a:t>
            </a:r>
          </a:p>
        </p:txBody>
      </p:sp>
      <p:sp>
        <p:nvSpPr>
          <p:cNvPr id="83" name="TextBox 82"/>
          <p:cNvSpPr txBox="1"/>
          <p:nvPr/>
        </p:nvSpPr>
        <p:spPr>
          <a:xfrm>
            <a:off x="5755233" y="4416552"/>
            <a:ext cx="493776" cy="128016"/>
          </a:xfrm>
          <a:prstGeom prst="rect">
            <a:avLst/>
          </a:prstGeom>
          <a:noFill/>
        </p:spPr>
        <p:txBody>
          <a:bodyPr wrap="square" anchor="t" lIns="0" rIns="0" tIns="0" bIns="0">
            <a:spAutoFit/>
          </a:bodyPr>
          <a:lstStyle/>
          <a:p>
            <a:pPr algn="ctr">
              <a:lnSpc>
                <a:spcPct val="100000"/>
              </a:lnSpc>
            </a:pPr>
            <a:r>
              <a:rPr sz="1000" b="0">
                <a:solidFill>
                  <a:srgbClr val="8A8A8E"/>
                </a:solidFill>
                <a:latin typeface="SamsungOneKorean"/>
                <a:ea typeface="SamsungOneKorean"/>
                <a:cs typeface="SamsungOneKorean"/>
              </a:rPr>
              <a:t>2025</a:t>
            </a:r>
          </a:p>
        </p:txBody>
      </p:sp>
      <p:sp>
        <p:nvSpPr>
          <p:cNvPr id="84" name="Rectangle 83"/>
          <p:cNvSpPr/>
          <p:nvPr/>
        </p:nvSpPr>
        <p:spPr>
          <a:xfrm>
            <a:off x="6262725" y="3652612"/>
            <a:ext cx="274320" cy="718219"/>
          </a:xfrm>
          <a:prstGeom prst="rect">
            <a:avLst/>
          </a:prstGeom>
          <a:solidFill>
            <a:srgbClr val="6B6B7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6262725" y="3357344"/>
            <a:ext cx="274320" cy="295268"/>
          </a:xfrm>
          <a:prstGeom prst="rect">
            <a:avLst/>
          </a:prstGeom>
          <a:solidFill>
            <a:srgbClr val="C9C9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152997" y="3174464"/>
            <a:ext cx="493776" cy="146304"/>
          </a:xfrm>
          <a:prstGeom prst="rect">
            <a:avLst/>
          </a:prstGeom>
          <a:noFill/>
        </p:spPr>
        <p:txBody>
          <a:bodyPr wrap="square" anchor="t" lIns="0" rIns="0" tIns="0" bIns="0">
            <a:spAutoFit/>
          </a:bodyPr>
          <a:lstStyle/>
          <a:p>
            <a:pPr algn="ctr">
              <a:lnSpc>
                <a:spcPct val="100000"/>
              </a:lnSpc>
            </a:pPr>
            <a:r>
              <a:rPr sz="1000" b="1">
                <a:solidFill>
                  <a:srgbClr val="1A1A1A"/>
                </a:solidFill>
                <a:latin typeface="SamsungOneKorean"/>
                <a:ea typeface="SamsungOneKorean"/>
                <a:cs typeface="SamsungOneKorean"/>
              </a:rPr>
              <a:t>76</a:t>
            </a:r>
          </a:p>
        </p:txBody>
      </p:sp>
      <p:sp>
        <p:nvSpPr>
          <p:cNvPr id="87" name="TextBox 86"/>
          <p:cNvSpPr txBox="1"/>
          <p:nvPr/>
        </p:nvSpPr>
        <p:spPr>
          <a:xfrm>
            <a:off x="6152997" y="4416552"/>
            <a:ext cx="493776" cy="128016"/>
          </a:xfrm>
          <a:prstGeom prst="rect">
            <a:avLst/>
          </a:prstGeom>
          <a:noFill/>
        </p:spPr>
        <p:txBody>
          <a:bodyPr wrap="square" anchor="t" lIns="0" rIns="0" tIns="0" bIns="0">
            <a:spAutoFit/>
          </a:bodyPr>
          <a:lstStyle/>
          <a:p>
            <a:pPr algn="ctr">
              <a:lnSpc>
                <a:spcPct val="100000"/>
              </a:lnSpc>
            </a:pPr>
            <a:r>
              <a:rPr sz="1000" b="0">
                <a:solidFill>
                  <a:srgbClr val="8A8A8E"/>
                </a:solidFill>
                <a:latin typeface="SamsungOneKorean"/>
                <a:ea typeface="SamsungOneKorean"/>
                <a:cs typeface="SamsungOneKorean"/>
              </a:rPr>
              <a:t>26E</a:t>
            </a:r>
          </a:p>
        </p:txBody>
      </p:sp>
      <p:sp>
        <p:nvSpPr>
          <p:cNvPr id="88" name="Rectangle 87"/>
          <p:cNvSpPr/>
          <p:nvPr/>
        </p:nvSpPr>
        <p:spPr>
          <a:xfrm>
            <a:off x="6660489" y="3652612"/>
            <a:ext cx="274320" cy="718219"/>
          </a:xfrm>
          <a:prstGeom prst="rect">
            <a:avLst/>
          </a:prstGeom>
          <a:solidFill>
            <a:srgbClr val="A9A9A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6660489" y="3357344"/>
            <a:ext cx="274320" cy="295268"/>
          </a:xfrm>
          <a:prstGeom prst="rect">
            <a:avLst/>
          </a:prstGeom>
          <a:solidFill>
            <a:srgbClr val="E2E2E5"/>
          </a:solidFill>
          <a:ln w="8890">
            <a:solidFill>
              <a:srgbClr val="8A8A8E"/>
            </a:solidFill>
            <a:prstDash val="sys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6550761" y="3174464"/>
            <a:ext cx="493776" cy="146304"/>
          </a:xfrm>
          <a:prstGeom prst="rect">
            <a:avLst/>
          </a:prstGeom>
          <a:noFill/>
        </p:spPr>
        <p:txBody>
          <a:bodyPr wrap="square" anchor="t" lIns="0" rIns="0" tIns="0" bIns="0">
            <a:spAutoFit/>
          </a:bodyPr>
          <a:lstStyle/>
          <a:p>
            <a:pPr algn="ctr">
              <a:lnSpc>
                <a:spcPct val="100000"/>
              </a:lnSpc>
            </a:pPr>
            <a:r>
              <a:rPr sz="1000" b="1">
                <a:solidFill>
                  <a:srgbClr val="8A8A8E"/>
                </a:solidFill>
                <a:latin typeface="SamsungOneKorean"/>
                <a:ea typeface="SamsungOneKorean"/>
                <a:cs typeface="SamsungOneKorean"/>
              </a:rPr>
              <a:t>76ᵉ</a:t>
            </a:r>
          </a:p>
        </p:txBody>
      </p:sp>
      <p:sp>
        <p:nvSpPr>
          <p:cNvPr id="91" name="TextBox 90"/>
          <p:cNvSpPr txBox="1"/>
          <p:nvPr/>
        </p:nvSpPr>
        <p:spPr>
          <a:xfrm>
            <a:off x="6550761" y="4416552"/>
            <a:ext cx="493776" cy="128016"/>
          </a:xfrm>
          <a:prstGeom prst="rect">
            <a:avLst/>
          </a:prstGeom>
          <a:noFill/>
        </p:spPr>
        <p:txBody>
          <a:bodyPr wrap="square" anchor="t" lIns="0" rIns="0" tIns="0" bIns="0">
            <a:spAutoFit/>
          </a:bodyPr>
          <a:lstStyle/>
          <a:p>
            <a:pPr algn="ctr">
              <a:lnSpc>
                <a:spcPct val="100000"/>
              </a:lnSpc>
            </a:pPr>
            <a:r>
              <a:rPr sz="1000" b="0">
                <a:solidFill>
                  <a:srgbClr val="8A8A8E"/>
                </a:solidFill>
                <a:latin typeface="SamsungOneKorean"/>
                <a:ea typeface="SamsungOneKorean"/>
                <a:cs typeface="SamsungOneKorean"/>
              </a:rPr>
              <a:t>27E</a:t>
            </a:r>
          </a:p>
        </p:txBody>
      </p:sp>
      <p:sp>
        <p:nvSpPr>
          <p:cNvPr id="92" name="Rectangle 91"/>
          <p:cNvSpPr/>
          <p:nvPr/>
        </p:nvSpPr>
        <p:spPr>
          <a:xfrm>
            <a:off x="7058253" y="3652612"/>
            <a:ext cx="274320" cy="718219"/>
          </a:xfrm>
          <a:prstGeom prst="rect">
            <a:avLst/>
          </a:prstGeom>
          <a:solidFill>
            <a:srgbClr val="A9A9A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7058253" y="3357344"/>
            <a:ext cx="274320" cy="295268"/>
          </a:xfrm>
          <a:prstGeom prst="rect">
            <a:avLst/>
          </a:prstGeom>
          <a:solidFill>
            <a:srgbClr val="E2E2E5"/>
          </a:solidFill>
          <a:ln w="8890">
            <a:solidFill>
              <a:srgbClr val="8A8A8E"/>
            </a:solidFill>
            <a:prstDash val="sys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6948525" y="3174464"/>
            <a:ext cx="493776" cy="146304"/>
          </a:xfrm>
          <a:prstGeom prst="rect">
            <a:avLst/>
          </a:prstGeom>
          <a:noFill/>
        </p:spPr>
        <p:txBody>
          <a:bodyPr wrap="square" anchor="t" lIns="0" rIns="0" tIns="0" bIns="0">
            <a:spAutoFit/>
          </a:bodyPr>
          <a:lstStyle/>
          <a:p>
            <a:pPr algn="ctr">
              <a:lnSpc>
                <a:spcPct val="100000"/>
              </a:lnSpc>
            </a:pPr>
            <a:r>
              <a:rPr sz="1000" b="1">
                <a:solidFill>
                  <a:srgbClr val="8A8A8E"/>
                </a:solidFill>
                <a:latin typeface="SamsungOneKorean"/>
                <a:ea typeface="SamsungOneKorean"/>
                <a:cs typeface="SamsungOneKorean"/>
              </a:rPr>
              <a:t>76ᵉ</a:t>
            </a:r>
          </a:p>
        </p:txBody>
      </p:sp>
      <p:sp>
        <p:nvSpPr>
          <p:cNvPr id="95" name="TextBox 94"/>
          <p:cNvSpPr txBox="1"/>
          <p:nvPr/>
        </p:nvSpPr>
        <p:spPr>
          <a:xfrm>
            <a:off x="6948525" y="4416552"/>
            <a:ext cx="493776" cy="128016"/>
          </a:xfrm>
          <a:prstGeom prst="rect">
            <a:avLst/>
          </a:prstGeom>
          <a:noFill/>
        </p:spPr>
        <p:txBody>
          <a:bodyPr wrap="square" anchor="t" lIns="0" rIns="0" tIns="0" bIns="0">
            <a:spAutoFit/>
          </a:bodyPr>
          <a:lstStyle/>
          <a:p>
            <a:pPr algn="ctr">
              <a:lnSpc>
                <a:spcPct val="100000"/>
              </a:lnSpc>
            </a:pPr>
            <a:r>
              <a:rPr sz="1000" b="0">
                <a:solidFill>
                  <a:srgbClr val="8A8A8E"/>
                </a:solidFill>
                <a:latin typeface="SamsungOneKorean"/>
                <a:ea typeface="SamsungOneKorean"/>
                <a:cs typeface="SamsungOneKorean"/>
              </a:rPr>
              <a:t>28E</a:t>
            </a:r>
          </a:p>
        </p:txBody>
      </p:sp>
      <p:sp>
        <p:nvSpPr>
          <p:cNvPr id="96" name="TextBox 95"/>
          <p:cNvSpPr txBox="1"/>
          <p:nvPr/>
        </p:nvSpPr>
        <p:spPr>
          <a:xfrm>
            <a:off x="5610026" y="4585716"/>
            <a:ext cx="1977481" cy="137160"/>
          </a:xfrm>
          <a:prstGeom prst="rect">
            <a:avLst/>
          </a:prstGeom>
          <a:noFill/>
        </p:spPr>
        <p:txBody>
          <a:bodyPr wrap="square" anchor="t" lIns="0" rIns="0" tIns="0" bIns="0">
            <a:spAutoFit/>
          </a:bodyPr>
          <a:lstStyle/>
          <a:p>
            <a:pPr algn="ctr">
              <a:lnSpc>
                <a:spcPct val="100000"/>
              </a:lnSpc>
            </a:pPr>
            <a:r>
              <a:rPr sz="1000" b="1">
                <a:solidFill>
                  <a:srgbClr val="555555"/>
                </a:solidFill>
                <a:latin typeface="SamsungOneKorean"/>
                <a:ea typeface="SamsungOneKorean"/>
                <a:cs typeface="SamsungOneKorean"/>
              </a:rPr>
              <a:t>27E·28E = 과잉 유지 가정</a:t>
            </a:r>
          </a:p>
        </p:txBody>
      </p:sp>
      <p:cxnSp>
        <p:nvCxnSpPr>
          <p:cNvPr id="97" name="Connector 96"/>
          <p:cNvCxnSpPr/>
          <p:nvPr/>
        </p:nvCxnSpPr>
        <p:spPr>
          <a:xfrm>
            <a:off x="7788676" y="4370832"/>
            <a:ext cx="1794601" cy="0"/>
          </a:xfrm>
          <a:prstGeom prst="line">
            <a:avLst/>
          </a:prstGeom>
          <a:ln w="11430">
            <a:solidFill>
              <a:srgbClr val="D9D9D9"/>
            </a:solidFill>
          </a:ln>
          <a:effectLst/>
        </p:spPr>
        <p:style>
          <a:lnRef idx="2">
            <a:schemeClr val="accent1"/>
          </a:lnRef>
          <a:fillRef idx="0">
            <a:schemeClr val="accent1"/>
          </a:fillRef>
          <a:effectRef idx="1">
            <a:schemeClr val="accent1"/>
          </a:effectRef>
          <a:fontRef idx="minor">
            <a:schemeClr val="tx1"/>
          </a:fontRef>
        </p:style>
      </p:cxnSp>
      <p:sp>
        <p:nvSpPr>
          <p:cNvPr id="98" name="Rectangle 97"/>
          <p:cNvSpPr/>
          <p:nvPr/>
        </p:nvSpPr>
        <p:spPr>
          <a:xfrm>
            <a:off x="7808153" y="3599688"/>
            <a:ext cx="310896" cy="771143"/>
          </a:xfrm>
          <a:prstGeom prst="rect">
            <a:avLst/>
          </a:prstGeom>
          <a:solidFill>
            <a:srgbClr val="C9C9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7698425" y="3407664"/>
            <a:ext cx="530352" cy="146304"/>
          </a:xfrm>
          <a:prstGeom prst="rect">
            <a:avLst/>
          </a:prstGeom>
          <a:noFill/>
        </p:spPr>
        <p:txBody>
          <a:bodyPr wrap="square" anchor="t" lIns="0" rIns="0" tIns="0" bIns="0">
            <a:spAutoFit/>
          </a:bodyPr>
          <a:lstStyle/>
          <a:p>
            <a:pPr algn="ctr">
              <a:lnSpc>
                <a:spcPct val="100000"/>
              </a:lnSpc>
            </a:pPr>
            <a:r>
              <a:rPr sz="1000" b="1">
                <a:solidFill>
                  <a:srgbClr val="8A8A8E"/>
                </a:solidFill>
                <a:latin typeface="SamsungOneKorean"/>
                <a:ea typeface="SamsungOneKorean"/>
                <a:cs typeface="SamsungOneKorean"/>
              </a:rPr>
              <a:t>11</a:t>
            </a:r>
          </a:p>
        </p:txBody>
      </p:sp>
      <p:sp>
        <p:nvSpPr>
          <p:cNvPr id="100" name="Rectangle 99"/>
          <p:cNvSpPr/>
          <p:nvPr/>
        </p:nvSpPr>
        <p:spPr>
          <a:xfrm>
            <a:off x="8210489" y="3319272"/>
            <a:ext cx="310896" cy="1051560"/>
          </a:xfrm>
          <a:prstGeom prst="rect">
            <a:avLst/>
          </a:prstGeom>
          <a:solidFill>
            <a:srgbClr val="6B6B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8100761" y="3127248"/>
            <a:ext cx="530352" cy="146304"/>
          </a:xfrm>
          <a:prstGeom prst="rect">
            <a:avLst/>
          </a:prstGeom>
          <a:noFill/>
        </p:spPr>
        <p:txBody>
          <a:bodyPr wrap="square" anchor="t" lIns="0" rIns="0" tIns="0" bIns="0">
            <a:spAutoFit/>
          </a:bodyPr>
          <a:lstStyle/>
          <a:p>
            <a:pPr algn="ctr">
              <a:lnSpc>
                <a:spcPct val="100000"/>
              </a:lnSpc>
            </a:pPr>
            <a:r>
              <a:rPr sz="1000" b="1">
                <a:solidFill>
                  <a:srgbClr val="1A1A1A"/>
                </a:solidFill>
                <a:latin typeface="SamsungOneKorean"/>
                <a:ea typeface="SamsungOneKorean"/>
                <a:cs typeface="SamsungOneKorean"/>
              </a:rPr>
              <a:t>15E</a:t>
            </a:r>
          </a:p>
        </p:txBody>
      </p:sp>
      <p:sp>
        <p:nvSpPr>
          <p:cNvPr id="102" name="TextBox 101"/>
          <p:cNvSpPr txBox="1"/>
          <p:nvPr/>
        </p:nvSpPr>
        <p:spPr>
          <a:xfrm>
            <a:off x="7753289" y="4416552"/>
            <a:ext cx="822960" cy="128016"/>
          </a:xfrm>
          <a:prstGeom prst="rect">
            <a:avLst/>
          </a:prstGeom>
          <a:noFill/>
        </p:spPr>
        <p:txBody>
          <a:bodyPr wrap="square" anchor="t" lIns="0" rIns="0" tIns="0" bIns="0">
            <a:spAutoFit/>
          </a:bodyPr>
          <a:lstStyle/>
          <a:p>
            <a:pPr algn="ctr">
              <a:lnSpc>
                <a:spcPct val="100000"/>
              </a:lnSpc>
            </a:pPr>
            <a:r>
              <a:rPr sz="1000" b="0">
                <a:solidFill>
                  <a:srgbClr val="8A8A8E"/>
                </a:solidFill>
                <a:latin typeface="SamsungOneKorean"/>
                <a:ea typeface="SamsungOneKorean"/>
                <a:cs typeface="SamsungOneKorean"/>
              </a:rPr>
              <a:t>캐파</a:t>
            </a:r>
          </a:p>
        </p:txBody>
      </p:sp>
      <p:sp>
        <p:nvSpPr>
          <p:cNvPr id="103" name="Rectangle 102"/>
          <p:cNvSpPr/>
          <p:nvPr/>
        </p:nvSpPr>
        <p:spPr>
          <a:xfrm>
            <a:off x="8850569" y="3810000"/>
            <a:ext cx="310896" cy="560832"/>
          </a:xfrm>
          <a:prstGeom prst="rect">
            <a:avLst/>
          </a:prstGeom>
          <a:solidFill>
            <a:srgbClr val="C9C9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8740841" y="3617976"/>
            <a:ext cx="530352" cy="146304"/>
          </a:xfrm>
          <a:prstGeom prst="rect">
            <a:avLst/>
          </a:prstGeom>
          <a:noFill/>
        </p:spPr>
        <p:txBody>
          <a:bodyPr wrap="square" anchor="t" lIns="0" rIns="0" tIns="0" bIns="0">
            <a:spAutoFit/>
          </a:bodyPr>
          <a:lstStyle/>
          <a:p>
            <a:pPr algn="ctr">
              <a:lnSpc>
                <a:spcPct val="100000"/>
              </a:lnSpc>
            </a:pPr>
            <a:r>
              <a:rPr sz="1000" b="1">
                <a:solidFill>
                  <a:srgbClr val="8A8A8E"/>
                </a:solidFill>
                <a:latin typeface="SamsungOneKorean"/>
                <a:ea typeface="SamsungOneKorean"/>
                <a:cs typeface="SamsungOneKorean"/>
              </a:rPr>
              <a:t>8</a:t>
            </a:r>
          </a:p>
        </p:txBody>
      </p:sp>
      <p:sp>
        <p:nvSpPr>
          <p:cNvPr id="105" name="Rectangle 104"/>
          <p:cNvSpPr/>
          <p:nvPr/>
        </p:nvSpPr>
        <p:spPr>
          <a:xfrm>
            <a:off x="9252905" y="3389376"/>
            <a:ext cx="310896" cy="981455"/>
          </a:xfrm>
          <a:prstGeom prst="rect">
            <a:avLst/>
          </a:prstGeom>
          <a:solidFill>
            <a:srgbClr val="6B6B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9143177" y="3197352"/>
            <a:ext cx="530352" cy="146304"/>
          </a:xfrm>
          <a:prstGeom prst="rect">
            <a:avLst/>
          </a:prstGeom>
          <a:noFill/>
        </p:spPr>
        <p:txBody>
          <a:bodyPr wrap="square" anchor="t" lIns="0" rIns="0" tIns="0" bIns="0">
            <a:spAutoFit/>
          </a:bodyPr>
          <a:lstStyle/>
          <a:p>
            <a:pPr algn="ctr">
              <a:lnSpc>
                <a:spcPct val="100000"/>
              </a:lnSpc>
            </a:pPr>
            <a:r>
              <a:rPr sz="1000" b="1">
                <a:solidFill>
                  <a:srgbClr val="1A1A1A"/>
                </a:solidFill>
                <a:latin typeface="SamsungOneKorean"/>
                <a:ea typeface="SamsungOneKorean"/>
                <a:cs typeface="SamsungOneKorean"/>
              </a:rPr>
              <a:t>14E</a:t>
            </a:r>
          </a:p>
        </p:txBody>
      </p:sp>
      <p:sp>
        <p:nvSpPr>
          <p:cNvPr id="107" name="TextBox 106"/>
          <p:cNvSpPr txBox="1"/>
          <p:nvPr/>
        </p:nvSpPr>
        <p:spPr>
          <a:xfrm>
            <a:off x="8795705" y="4416552"/>
            <a:ext cx="822960" cy="128016"/>
          </a:xfrm>
          <a:prstGeom prst="rect">
            <a:avLst/>
          </a:prstGeom>
          <a:noFill/>
        </p:spPr>
        <p:txBody>
          <a:bodyPr wrap="square" anchor="t" lIns="0" rIns="0" tIns="0" bIns="0">
            <a:spAutoFit/>
          </a:bodyPr>
          <a:lstStyle/>
          <a:p>
            <a:pPr algn="ctr">
              <a:lnSpc>
                <a:spcPct val="100000"/>
              </a:lnSpc>
            </a:pPr>
            <a:r>
              <a:rPr sz="1000" b="0">
                <a:solidFill>
                  <a:srgbClr val="8A8A8E"/>
                </a:solidFill>
                <a:latin typeface="SamsungOneKorean"/>
                <a:ea typeface="SamsungOneKorean"/>
                <a:cs typeface="SamsungOneKorean"/>
              </a:rPr>
              <a:t>매출</a:t>
            </a:r>
          </a:p>
        </p:txBody>
      </p:sp>
      <p:sp>
        <p:nvSpPr>
          <p:cNvPr id="108" name="TextBox 107"/>
          <p:cNvSpPr txBox="1"/>
          <p:nvPr/>
        </p:nvSpPr>
        <p:spPr>
          <a:xfrm>
            <a:off x="7697236" y="4585716"/>
            <a:ext cx="1977481" cy="137160"/>
          </a:xfrm>
          <a:prstGeom prst="rect">
            <a:avLst/>
          </a:prstGeom>
          <a:noFill/>
        </p:spPr>
        <p:txBody>
          <a:bodyPr wrap="square" anchor="t" lIns="0" rIns="0" tIns="0" bIns="0">
            <a:spAutoFit/>
          </a:bodyPr>
          <a:lstStyle/>
          <a:p>
            <a:pPr algn="ctr">
              <a:lnSpc>
                <a:spcPct val="100000"/>
              </a:lnSpc>
            </a:pPr>
            <a:r>
              <a:rPr sz="1000" b="1">
                <a:solidFill>
                  <a:srgbClr val="555555"/>
                </a:solidFill>
                <a:latin typeface="SamsungOneKorean"/>
                <a:ea typeface="SamsungOneKorean"/>
                <a:cs typeface="SamsungOneKorean"/>
              </a:rPr>
              <a:t>하단 점유의 구조적 상승</a:t>
            </a:r>
          </a:p>
        </p:txBody>
      </p:sp>
      <p:cxnSp>
        <p:nvCxnSpPr>
          <p:cNvPr id="109" name="Connector 108"/>
          <p:cNvCxnSpPr/>
          <p:nvPr/>
        </p:nvCxnSpPr>
        <p:spPr>
          <a:xfrm>
            <a:off x="9875885" y="4370832"/>
            <a:ext cx="1794602" cy="0"/>
          </a:xfrm>
          <a:prstGeom prst="line">
            <a:avLst/>
          </a:prstGeom>
          <a:ln w="11430">
            <a:solidFill>
              <a:srgbClr val="D9D9D9"/>
            </a:solidFill>
          </a:ln>
          <a:effectLst/>
        </p:spPr>
        <p:style>
          <a:lnRef idx="2">
            <a:schemeClr val="accent1"/>
          </a:lnRef>
          <a:fillRef idx="0">
            <a:schemeClr val="accent1"/>
          </a:fillRef>
          <a:effectRef idx="1">
            <a:schemeClr val="accent1"/>
          </a:effectRef>
          <a:fontRef idx="minor">
            <a:schemeClr val="tx1"/>
          </a:fontRef>
        </p:style>
      </p:cxnSp>
      <p:sp>
        <p:nvSpPr>
          <p:cNvPr id="110" name="Rectangle 109"/>
          <p:cNvSpPr/>
          <p:nvPr/>
        </p:nvSpPr>
        <p:spPr>
          <a:xfrm>
            <a:off x="10343418" y="4206971"/>
            <a:ext cx="365760" cy="163860"/>
          </a:xfrm>
          <a:prstGeom prst="rect">
            <a:avLst/>
          </a:prstGeom>
          <a:solidFill>
            <a:srgbClr val="1428A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10343418" y="3551529"/>
            <a:ext cx="365760" cy="655441"/>
          </a:xfrm>
          <a:prstGeom prst="rect">
            <a:avLst/>
          </a:prstGeom>
          <a:solidFill>
            <a:srgbClr val="5A73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10343418" y="3200400"/>
            <a:ext cx="365760" cy="351129"/>
          </a:xfrm>
          <a:prstGeom prst="rect">
            <a:avLst/>
          </a:prstGeom>
          <a:solidFill>
            <a:srgbClr val="ADB9E4"/>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10251978" y="3008376"/>
            <a:ext cx="548640" cy="146304"/>
          </a:xfrm>
          <a:prstGeom prst="rect">
            <a:avLst/>
          </a:prstGeom>
          <a:noFill/>
        </p:spPr>
        <p:txBody>
          <a:bodyPr wrap="square" anchor="t" lIns="0" rIns="0" tIns="0" bIns="0">
            <a:spAutoFit/>
          </a:bodyPr>
          <a:lstStyle/>
          <a:p>
            <a:pPr algn="ctr">
              <a:lnSpc>
                <a:spcPct val="100000"/>
              </a:lnSpc>
            </a:pPr>
            <a:r>
              <a:rPr sz="1000" b="1">
                <a:solidFill>
                  <a:srgbClr val="8A8A8E"/>
                </a:solidFill>
                <a:latin typeface="SamsungOneKorean"/>
                <a:ea typeface="SamsungOneKorean"/>
                <a:cs typeface="SamsungOneKorean"/>
              </a:rPr>
              <a:t>100</a:t>
            </a:r>
          </a:p>
        </p:txBody>
      </p:sp>
      <p:sp>
        <p:nvSpPr>
          <p:cNvPr id="114" name="Rectangle 113"/>
          <p:cNvSpPr/>
          <p:nvPr/>
        </p:nvSpPr>
        <p:spPr>
          <a:xfrm>
            <a:off x="10837194" y="4300606"/>
            <a:ext cx="365760" cy="70225"/>
          </a:xfrm>
          <a:prstGeom prst="rect">
            <a:avLst/>
          </a:prstGeom>
          <a:solidFill>
            <a:srgbClr val="1428A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10837194" y="3715390"/>
            <a:ext cx="365760" cy="585216"/>
          </a:xfrm>
          <a:prstGeom prst="rect">
            <a:avLst/>
          </a:prstGeom>
          <a:solidFill>
            <a:srgbClr val="5A73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10837194" y="3305738"/>
            <a:ext cx="365760" cy="409651"/>
          </a:xfrm>
          <a:prstGeom prst="rect">
            <a:avLst/>
          </a:prstGeom>
          <a:solidFill>
            <a:srgbClr val="ADB9E4"/>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10837194" y="3212104"/>
            <a:ext cx="365760" cy="93634"/>
          </a:xfrm>
          <a:prstGeom prst="rect">
            <a:avLst/>
          </a:prstGeom>
          <a:solidFill>
            <a:srgbClr val="FFFFFF"/>
          </a:solidFill>
          <a:ln w="11430">
            <a:solidFill>
              <a:srgbClr val="8A8A8E"/>
            </a:solidFill>
            <a:prstDash val="sys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10745754" y="3020080"/>
            <a:ext cx="548640" cy="146304"/>
          </a:xfrm>
          <a:prstGeom prst="rect">
            <a:avLst/>
          </a:prstGeom>
          <a:noFill/>
        </p:spPr>
        <p:txBody>
          <a:bodyPr wrap="square" anchor="t" lIns="0" rIns="0" tIns="0" bIns="0">
            <a:spAutoFit/>
          </a:bodyPr>
          <a:lstStyle/>
          <a:p>
            <a:pPr algn="ctr">
              <a:lnSpc>
                <a:spcPct val="100000"/>
              </a:lnSpc>
            </a:pPr>
            <a:r>
              <a:rPr sz="1050" b="1">
                <a:solidFill>
                  <a:srgbClr val="1428A0"/>
                </a:solidFill>
                <a:latin typeface="SamsungOneKorean"/>
                <a:ea typeface="SamsungOneKorean"/>
                <a:cs typeface="SamsungOneKorean"/>
              </a:rPr>
              <a:t>99</a:t>
            </a:r>
          </a:p>
        </p:txBody>
      </p:sp>
      <p:sp>
        <p:nvSpPr>
          <p:cNvPr id="119" name="TextBox 118"/>
          <p:cNvSpPr txBox="1"/>
          <p:nvPr/>
        </p:nvSpPr>
        <p:spPr>
          <a:xfrm>
            <a:off x="10270266" y="4416552"/>
            <a:ext cx="512064" cy="128016"/>
          </a:xfrm>
          <a:prstGeom prst="rect">
            <a:avLst/>
          </a:prstGeom>
          <a:noFill/>
        </p:spPr>
        <p:txBody>
          <a:bodyPr wrap="square" anchor="t" lIns="0" rIns="0" tIns="0" bIns="0">
            <a:spAutoFit/>
          </a:bodyPr>
          <a:lstStyle/>
          <a:p>
            <a:pPr algn="ctr">
              <a:lnSpc>
                <a:spcPct val="100000"/>
              </a:lnSpc>
            </a:pPr>
            <a:r>
              <a:rPr sz="1000" b="0">
                <a:solidFill>
                  <a:srgbClr val="8A8A8E"/>
                </a:solidFill>
                <a:latin typeface="SamsungOneKorean"/>
                <a:ea typeface="SamsungOneKorean"/>
                <a:cs typeface="SamsungOneKorean"/>
              </a:rPr>
              <a:t>2025</a:t>
            </a:r>
          </a:p>
        </p:txBody>
      </p:sp>
      <p:sp>
        <p:nvSpPr>
          <p:cNvPr id="120" name="TextBox 119"/>
          <p:cNvSpPr txBox="1"/>
          <p:nvPr/>
        </p:nvSpPr>
        <p:spPr>
          <a:xfrm>
            <a:off x="10764042" y="4416552"/>
            <a:ext cx="512064" cy="128016"/>
          </a:xfrm>
          <a:prstGeom prst="rect">
            <a:avLst/>
          </a:prstGeom>
          <a:noFill/>
        </p:spPr>
        <p:txBody>
          <a:bodyPr wrap="square" anchor="t" lIns="0" rIns="0" tIns="0" bIns="0">
            <a:spAutoFit/>
          </a:bodyPr>
          <a:lstStyle/>
          <a:p>
            <a:pPr algn="ctr">
              <a:lnSpc>
                <a:spcPct val="100000"/>
              </a:lnSpc>
            </a:pPr>
            <a:r>
              <a:rPr sz="1000" b="0">
                <a:solidFill>
                  <a:srgbClr val="8A8A8E"/>
                </a:solidFill>
                <a:latin typeface="SamsungOneKorean"/>
                <a:ea typeface="SamsungOneKorean"/>
                <a:cs typeface="SamsungOneKorean"/>
              </a:rPr>
              <a:t>시나리오</a:t>
            </a:r>
          </a:p>
        </p:txBody>
      </p:sp>
      <p:sp>
        <p:nvSpPr>
          <p:cNvPr id="121" name="TextBox 120"/>
          <p:cNvSpPr txBox="1"/>
          <p:nvPr/>
        </p:nvSpPr>
        <p:spPr>
          <a:xfrm>
            <a:off x="9784445" y="4585716"/>
            <a:ext cx="1977481" cy="137160"/>
          </a:xfrm>
          <a:prstGeom prst="rect">
            <a:avLst/>
          </a:prstGeom>
          <a:noFill/>
        </p:spPr>
        <p:txBody>
          <a:bodyPr wrap="square" anchor="t" lIns="0" rIns="0" tIns="0" bIns="0">
            <a:spAutoFit/>
          </a:bodyPr>
          <a:lstStyle/>
          <a:p>
            <a:pPr algn="ctr">
              <a:lnSpc>
                <a:spcPct val="100000"/>
              </a:lnSpc>
            </a:pPr>
            <a:r>
              <a:rPr sz="1000" b="1">
                <a:solidFill>
                  <a:srgbClr val="555555"/>
                </a:solidFill>
                <a:latin typeface="SamsungOneKorean"/>
                <a:ea typeface="SamsungOneKorean"/>
                <a:cs typeface="SamsungOneKorean"/>
              </a:rPr>
              <a:t>수요가 차세대로 이동</a:t>
            </a:r>
          </a:p>
        </p:txBody>
      </p:sp>
      <p:sp>
        <p:nvSpPr>
          <p:cNvPr id="122" name="TextBox 121"/>
          <p:cNvSpPr txBox="1"/>
          <p:nvPr/>
        </p:nvSpPr>
        <p:spPr>
          <a:xfrm>
            <a:off x="429768" y="4928616"/>
            <a:ext cx="877824" cy="365760"/>
          </a:xfrm>
          <a:prstGeom prst="rect">
            <a:avLst/>
          </a:prstGeom>
          <a:noFill/>
        </p:spPr>
        <p:txBody>
          <a:bodyPr wrap="square" anchor="t" lIns="0" rIns="0" tIns="0" bIns="0">
            <a:spAutoFit/>
          </a:bodyPr>
          <a:lstStyle/>
          <a:p>
            <a:pPr algn="r">
              <a:lnSpc>
                <a:spcPct val="112000"/>
              </a:lnSpc>
            </a:pPr>
            <a:r>
              <a:rPr sz="1000" b="1">
                <a:solidFill>
                  <a:srgbClr val="8A8A8E"/>
                </a:solidFill>
                <a:latin typeface="SamsungOneKorean"/>
                <a:ea typeface="SamsungOneKorean"/>
                <a:cs typeface="SamsungOneKorean"/>
              </a:rPr>
              <a:t>풀어야 할</a:t>
            </a:r>
          </a:p>
          <a:p>
            <a:pPr algn="r">
              <a:lnSpc>
                <a:spcPct val="112000"/>
              </a:lnSpc>
            </a:pPr>
            <a:r>
              <a:rPr sz="1000" b="1">
                <a:solidFill>
                  <a:srgbClr val="8A8A8E"/>
                </a:solidFill>
                <a:latin typeface="SamsungOneKorean"/>
                <a:ea typeface="SamsungOneKorean"/>
                <a:cs typeface="SamsungOneKorean"/>
              </a:rPr>
              <a:t>문제</a:t>
            </a:r>
          </a:p>
        </p:txBody>
      </p:sp>
      <p:sp>
        <p:nvSpPr>
          <p:cNvPr id="123" name="Rectangle 122"/>
          <p:cNvSpPr/>
          <p:nvPr/>
        </p:nvSpPr>
        <p:spPr>
          <a:xfrm>
            <a:off x="1435608" y="4901183"/>
            <a:ext cx="32004" cy="47548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545336" y="4910328"/>
            <a:ext cx="1867753" cy="502920"/>
          </a:xfrm>
          <a:prstGeom prst="rect">
            <a:avLst/>
          </a:prstGeom>
          <a:noFill/>
        </p:spPr>
        <p:txBody>
          <a:bodyPr wrap="square" anchor="t" lIns="0" rIns="0" tIns="0" bIns="0">
            <a:spAutoFit/>
          </a:bodyPr>
          <a:lstStyle/>
          <a:p>
            <a:pPr algn="l">
              <a:lnSpc>
                <a:spcPct val="118000"/>
              </a:lnSpc>
            </a:pPr>
            <a:r>
              <a:rPr sz="1050" b="1">
                <a:solidFill>
                  <a:srgbClr val="1A1A1A"/>
                </a:solidFill>
                <a:latin typeface="SamsungOneKorean"/>
                <a:ea typeface="SamsungOneKorean"/>
                <a:cs typeface="SamsungOneKorean"/>
              </a:rPr>
              <a:t>팔 곳 잃은 HBM4·서버 캐파:</a:t>
            </a:r>
          </a:p>
          <a:p>
            <a:pPr algn="l">
              <a:lnSpc>
                <a:spcPct val="118000"/>
              </a:lnSpc>
            </a:pPr>
            <a:r>
              <a:rPr sz="1050" b="1">
                <a:solidFill>
                  <a:srgbClr val="1A1A1A"/>
                </a:solidFill>
                <a:latin typeface="SamsungOneKorean"/>
                <a:ea typeface="SamsungOneKorean"/>
                <a:cs typeface="SamsungOneKorean"/>
              </a:rPr>
              <a:t>CIS 전환(공용 80%)인가,</a:t>
            </a:r>
          </a:p>
          <a:p>
            <a:pPr algn="l">
              <a:lnSpc>
                <a:spcPct val="118000"/>
              </a:lnSpc>
            </a:pPr>
            <a:r>
              <a:rPr sz="1050" b="1">
                <a:solidFill>
                  <a:srgbClr val="1A1A1A"/>
                </a:solidFill>
                <a:latin typeface="SamsungOneKorean"/>
                <a:ea typeface="SamsungOneKorean"/>
                <a:cs typeface="SamsungOneKorean"/>
              </a:rPr>
              <a:t>take-or-pay 방어인가</a:t>
            </a:r>
          </a:p>
        </p:txBody>
      </p:sp>
      <p:sp>
        <p:nvSpPr>
          <p:cNvPr id="125" name="Rectangle 124"/>
          <p:cNvSpPr/>
          <p:nvPr/>
        </p:nvSpPr>
        <p:spPr>
          <a:xfrm>
            <a:off x="3522817" y="4901183"/>
            <a:ext cx="32004" cy="47548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3632545" y="4910328"/>
            <a:ext cx="1867753" cy="502920"/>
          </a:xfrm>
          <a:prstGeom prst="rect">
            <a:avLst/>
          </a:prstGeom>
          <a:noFill/>
        </p:spPr>
        <p:txBody>
          <a:bodyPr wrap="square" anchor="t" lIns="0" rIns="0" tIns="0" bIns="0">
            <a:spAutoFit/>
          </a:bodyPr>
          <a:lstStyle/>
          <a:p>
            <a:pPr algn="l">
              <a:lnSpc>
                <a:spcPct val="118000"/>
              </a:lnSpc>
            </a:pPr>
            <a:r>
              <a:rPr sz="1050" b="1">
                <a:solidFill>
                  <a:srgbClr val="1A1A1A"/>
                </a:solidFill>
                <a:latin typeface="SamsungOneKorean"/>
                <a:ea typeface="SamsungOneKorean"/>
                <a:cs typeface="SamsungOneKorean"/>
              </a:rPr>
              <a:t>GPU당 HBM 탑재량을 읽을</a:t>
            </a:r>
          </a:p>
          <a:p>
            <a:pPr algn="l">
              <a:lnSpc>
                <a:spcPct val="118000"/>
              </a:lnSpc>
            </a:pPr>
            <a:r>
              <a:rPr sz="1050" b="1">
                <a:solidFill>
                  <a:srgbClr val="1A1A1A"/>
                </a:solidFill>
                <a:latin typeface="SamsungOneKorean"/>
                <a:ea typeface="SamsungOneKorean"/>
                <a:cs typeface="SamsungOneKorean"/>
              </a:rPr>
              <a:t>지표가 없다: 추적 체계와</a:t>
            </a:r>
          </a:p>
          <a:p>
            <a:pPr algn="l">
              <a:lnSpc>
                <a:spcPct val="118000"/>
              </a:lnSpc>
            </a:pPr>
            <a:r>
              <a:rPr sz="1050" b="1">
                <a:solidFill>
                  <a:srgbClr val="1A1A1A"/>
                </a:solidFill>
                <a:latin typeface="SamsungOneKorean"/>
                <a:ea typeface="SamsungOneKorean"/>
                <a:cs typeface="SamsungOneKorean"/>
              </a:rPr>
              <a:t>eSSD(1위 38.2%) 믹스 이동</a:t>
            </a:r>
          </a:p>
        </p:txBody>
      </p:sp>
      <p:sp>
        <p:nvSpPr>
          <p:cNvPr id="127" name="Rectangle 126"/>
          <p:cNvSpPr/>
          <p:nvPr/>
        </p:nvSpPr>
        <p:spPr>
          <a:xfrm>
            <a:off x="5610026" y="4901183"/>
            <a:ext cx="32004" cy="47548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5719754" y="4910328"/>
            <a:ext cx="1867753" cy="502920"/>
          </a:xfrm>
          <a:prstGeom prst="rect">
            <a:avLst/>
          </a:prstGeom>
          <a:noFill/>
        </p:spPr>
        <p:txBody>
          <a:bodyPr wrap="square" anchor="t" lIns="0" rIns="0" tIns="0" bIns="0">
            <a:spAutoFit/>
          </a:bodyPr>
          <a:lstStyle/>
          <a:p>
            <a:pPr algn="l">
              <a:lnSpc>
                <a:spcPct val="118000"/>
              </a:lnSpc>
            </a:pPr>
            <a:r>
              <a:rPr sz="1050" b="1">
                <a:solidFill>
                  <a:srgbClr val="1A1A1A"/>
                </a:solidFill>
                <a:latin typeface="SamsungOneKorean"/>
                <a:ea typeface="SamsungOneKorean"/>
                <a:cs typeface="SamsungOneKorean"/>
              </a:rPr>
              <a:t>범용·NAND 감산 결단의</a:t>
            </a:r>
          </a:p>
          <a:p>
            <a:pPr algn="l">
              <a:lnSpc>
                <a:spcPct val="118000"/>
              </a:lnSpc>
            </a:pPr>
            <a:r>
              <a:rPr sz="1050" b="1">
                <a:solidFill>
                  <a:srgbClr val="1A1A1A"/>
                </a:solidFill>
                <a:latin typeface="SamsungOneKorean"/>
                <a:ea typeface="SamsungOneKorean"/>
                <a:cs typeface="SamsungOneKorean"/>
              </a:rPr>
              <a:t>30일 규율: 2023년 6개월</a:t>
            </a:r>
          </a:p>
          <a:p>
            <a:pPr algn="l">
              <a:lnSpc>
                <a:spcPct val="118000"/>
              </a:lnSpc>
            </a:pPr>
            <a:r>
              <a:rPr sz="1050" b="1">
                <a:solidFill>
                  <a:srgbClr val="1A1A1A"/>
                </a:solidFill>
                <a:latin typeface="SamsungOneKorean"/>
                <a:ea typeface="SamsungOneKorean"/>
                <a:cs typeface="SamsungOneKorean"/>
              </a:rPr>
              <a:t>지연의 재발 차단</a:t>
            </a:r>
          </a:p>
        </p:txBody>
      </p:sp>
      <p:sp>
        <p:nvSpPr>
          <p:cNvPr id="129" name="Rectangle 128"/>
          <p:cNvSpPr/>
          <p:nvPr/>
        </p:nvSpPr>
        <p:spPr>
          <a:xfrm>
            <a:off x="7697236" y="4901183"/>
            <a:ext cx="32004" cy="47548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TextBox 129"/>
          <p:cNvSpPr txBox="1"/>
          <p:nvPr/>
        </p:nvSpPr>
        <p:spPr>
          <a:xfrm>
            <a:off x="7806964" y="4910328"/>
            <a:ext cx="1867753" cy="502920"/>
          </a:xfrm>
          <a:prstGeom prst="rect">
            <a:avLst/>
          </a:prstGeom>
          <a:noFill/>
        </p:spPr>
        <p:txBody>
          <a:bodyPr wrap="square" anchor="t" lIns="0" rIns="0" tIns="0" bIns="0">
            <a:spAutoFit/>
          </a:bodyPr>
          <a:lstStyle/>
          <a:p>
            <a:pPr algn="l">
              <a:lnSpc>
                <a:spcPct val="118000"/>
              </a:lnSpc>
            </a:pPr>
            <a:r>
              <a:rPr sz="1050" b="1">
                <a:solidFill>
                  <a:srgbClr val="1A1A1A"/>
                </a:solidFill>
                <a:latin typeface="SamsungOneKorean"/>
                <a:ea typeface="SamsungOneKorean"/>
                <a:cs typeface="SamsungOneKorean"/>
              </a:rPr>
              <a:t>DDR4·LPDDR4 하단 철수</a:t>
            </a:r>
          </a:p>
          <a:p>
            <a:pPr algn="l">
              <a:lnSpc>
                <a:spcPct val="118000"/>
              </a:lnSpc>
            </a:pPr>
            <a:r>
              <a:rPr sz="1050" b="1">
                <a:solidFill>
                  <a:srgbClr val="1A1A1A"/>
                </a:solidFill>
                <a:latin typeface="SamsungOneKorean"/>
                <a:ea typeface="SamsungOneKorean"/>
                <a:cs typeface="SamsungOneKorean"/>
              </a:rPr>
              <a:t>시점과 전환처(CIS·차량),</a:t>
            </a:r>
          </a:p>
          <a:p>
            <a:pPr algn="l">
              <a:lnSpc>
                <a:spcPct val="118000"/>
              </a:lnSpc>
            </a:pPr>
            <a:r>
              <a:rPr sz="1050" b="1">
                <a:solidFill>
                  <a:srgbClr val="1A1A1A"/>
                </a:solidFill>
                <a:latin typeface="SamsungOneKorean"/>
                <a:ea typeface="SamsungOneKorean"/>
                <a:cs typeface="SamsungOneKorean"/>
              </a:rPr>
              <a:t>HBM 인증 장벽 사수</a:t>
            </a:r>
          </a:p>
        </p:txBody>
      </p:sp>
      <p:sp>
        <p:nvSpPr>
          <p:cNvPr id="131" name="Rectangle 130"/>
          <p:cNvSpPr/>
          <p:nvPr/>
        </p:nvSpPr>
        <p:spPr>
          <a:xfrm>
            <a:off x="9784445" y="4901183"/>
            <a:ext cx="32004" cy="47548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9894173" y="4910328"/>
            <a:ext cx="1867753" cy="502920"/>
          </a:xfrm>
          <a:prstGeom prst="rect">
            <a:avLst/>
          </a:prstGeom>
          <a:noFill/>
        </p:spPr>
        <p:txBody>
          <a:bodyPr wrap="square" anchor="t" lIns="0" rIns="0" tIns="0" bIns="0">
            <a:spAutoFit/>
          </a:bodyPr>
          <a:lstStyle/>
          <a:p>
            <a:pPr algn="l">
              <a:lnSpc>
                <a:spcPct val="118000"/>
              </a:lnSpc>
            </a:pPr>
            <a:r>
              <a:rPr sz="1050" b="1">
                <a:solidFill>
                  <a:srgbClr val="1A1A1A"/>
                </a:solidFill>
                <a:latin typeface="SamsungOneKorean"/>
                <a:ea typeface="SamsungOneKorean"/>
                <a:cs typeface="SamsungOneKorean"/>
              </a:rPr>
              <a:t>표준 HBM에서 zHBM·4F²</a:t>
            </a:r>
          </a:p>
          <a:p>
            <a:pPr algn="l">
              <a:lnSpc>
                <a:spcPct val="118000"/>
              </a:lnSpc>
            </a:pPr>
            <a:r>
              <a:rPr sz="1050" b="1">
                <a:solidFill>
                  <a:srgbClr val="1A1A1A"/>
                </a:solidFill>
                <a:latin typeface="SamsungOneKorean"/>
                <a:ea typeface="SamsungOneKorean"/>
                <a:cs typeface="SamsungOneKorean"/>
              </a:rPr>
              <a:t>3D DRAM으로의 전환기,</a:t>
            </a:r>
          </a:p>
          <a:p>
            <a:pPr algn="l">
              <a:lnSpc>
                <a:spcPct val="118000"/>
              </a:lnSpc>
            </a:pPr>
            <a:r>
              <a:rPr sz="1050" b="1">
                <a:solidFill>
                  <a:srgbClr val="1A1A1A"/>
                </a:solidFill>
                <a:latin typeface="SamsungOneKorean"/>
                <a:ea typeface="SamsungOneKorean"/>
                <a:cs typeface="SamsungOneKorean"/>
              </a:rPr>
              <a:t>별동대·R&amp;D 하한 사수</a:t>
            </a:r>
          </a:p>
        </p:txBody>
      </p:sp>
      <p:sp>
        <p:nvSpPr>
          <p:cNvPr id="133" name="Rounded Rectangle 132"/>
          <p:cNvSpPr/>
          <p:nvPr/>
        </p:nvSpPr>
        <p:spPr>
          <a:xfrm>
            <a:off x="429768" y="5650992"/>
            <a:ext cx="11332159" cy="310896"/>
          </a:xfrm>
          <a:prstGeom prst="roundRect">
            <a:avLst>
              <a:gd name="adj" fmla="val 10000"/>
            </a:avLst>
          </a:prstGeom>
          <a:solidFill>
            <a:srgbClr val="F6F6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extBox 133"/>
          <p:cNvSpPr txBox="1"/>
          <p:nvPr/>
        </p:nvSpPr>
        <p:spPr>
          <a:xfrm>
            <a:off x="576072" y="5719572"/>
            <a:ext cx="11039551" cy="182880"/>
          </a:xfrm>
          <a:prstGeom prst="rect">
            <a:avLst/>
          </a:prstGeom>
          <a:noFill/>
        </p:spPr>
        <p:txBody>
          <a:bodyPr wrap="square" anchor="t" lIns="0" rIns="0" tIns="0" bIns="0">
            <a:spAutoFit/>
          </a:bodyPr>
          <a:lstStyle/>
          <a:p>
            <a:pPr algn="l">
              <a:lnSpc>
                <a:spcPct val="100000"/>
              </a:lnSpc>
            </a:pPr>
            <a:r>
              <a:rPr sz="1050" b="1">
                <a:solidFill>
                  <a:srgbClr val="1428A0"/>
                </a:solidFill>
                <a:latin typeface="SamsungOneKorean"/>
                <a:ea typeface="SamsungOneKorean"/>
                <a:cs typeface="SamsungOneKorean"/>
              </a:rPr>
              <a:t>종합  </a:t>
            </a:r>
            <a:r>
              <a:rPr sz="1050" b="0">
                <a:solidFill>
                  <a:srgbClr val="1A1A1A"/>
                </a:solidFill>
                <a:latin typeface="SamsungOneKorean"/>
                <a:ea typeface="SamsungOneKorean"/>
                <a:cs typeface="SamsungOneKorean"/>
              </a:rPr>
              <a:t>수요발은 수요 막대가 줄고, 공급발은 수요가 그대로인 채 공급 곡선이 커진다.  </a:t>
            </a:r>
            <a:r>
              <a:rPr sz="1050" b="1">
                <a:solidFill>
                  <a:srgbClr val="1A1A1A"/>
                </a:solidFill>
                <a:latin typeface="SamsungOneKorean"/>
                <a:ea typeface="SamsungOneKorean"/>
                <a:cs typeface="SamsungOneKorean"/>
              </a:rPr>
              <a:t>원인이 다르면 풀어야 할 문제도 다르다.</a:t>
            </a:r>
          </a:p>
        </p:txBody>
      </p:sp>
      <p:sp>
        <p:nvSpPr>
          <p:cNvPr id="135" name="TextBox 134"/>
          <p:cNvSpPr txBox="1"/>
          <p:nvPr/>
        </p:nvSpPr>
        <p:spPr>
          <a:xfrm>
            <a:off x="429768" y="6071616"/>
            <a:ext cx="9823399" cy="310896"/>
          </a:xfrm>
          <a:prstGeom prst="rect">
            <a:avLst/>
          </a:prstGeom>
          <a:noFill/>
        </p:spPr>
        <p:txBody>
          <a:bodyPr wrap="square" anchor="t" lIns="0" rIns="0" tIns="0" bIns="0">
            <a:spAutoFit/>
          </a:bodyPr>
          <a:lstStyle/>
          <a:p>
            <a:pPr algn="l">
              <a:lnSpc>
                <a:spcPct val="125000"/>
              </a:lnSpc>
            </a:pPr>
            <a:r>
              <a:rPr sz="900" b="0">
                <a:solidFill>
                  <a:srgbClr val="555555"/>
                </a:solidFill>
                <a:latin typeface="SamsungOneKorean"/>
                <a:ea typeface="SamsungOneKorean"/>
                <a:cs typeface="SamsungOneKorean"/>
              </a:rPr>
              <a:t>수요 막대 기준: 2025 글로벌 메모리 매출 실측 구성(DRAM $1,657억 중 HBM $340억 · NAND $697억, TrendForce·Yole)=100, 시나리오 막대는 방향 가정 적용 · 공급 차트: DRAM 3사·NAND 6사 부문별 CAPEX(TrendForce·각사 IR, 27Eᵉ·28Eᵉ는 과잉 유지 가정)·CXMT 점유(TrendForce·FT) · 헤드라인은 가상 예시 · 대응 전략은 별도 장 · 기준일 2026-08</a:t>
            </a:r>
          </a:p>
        </p:txBody>
      </p:sp>
      <p:sp>
        <p:nvSpPr>
          <p:cNvPr id="136" name="TextBox 135"/>
          <p:cNvSpPr txBox="1"/>
          <p:nvPr/>
        </p:nvSpPr>
        <p:spPr>
          <a:xfrm>
            <a:off x="10390327" y="6071616"/>
            <a:ext cx="1371600" cy="164592"/>
          </a:xfrm>
          <a:prstGeom prst="rect">
            <a:avLst/>
          </a:prstGeom>
          <a:noFill/>
        </p:spPr>
        <p:txBody>
          <a:bodyPr wrap="square" anchor="t" lIns="0" rIns="0" tIns="0" bIns="0">
            <a:spAutoFit/>
          </a:bodyPr>
          <a:lstStyle/>
          <a:p>
            <a:pPr algn="r">
              <a:lnSpc>
                <a:spcPct val="100000"/>
              </a:lnSpc>
            </a:pPr>
            <a:r>
              <a:rPr sz="900" b="0">
                <a:solidFill>
                  <a:srgbClr val="555555"/>
                </a:solidFill>
                <a:latin typeface="SamsungOneKorean"/>
                <a:ea typeface="SamsungOneKorean"/>
                <a:cs typeface="SamsungOneKorean"/>
              </a:rPr>
              <a:t>[문서등급 표기]</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