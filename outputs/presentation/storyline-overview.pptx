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사상 최대 실적의 원인을 외부 수요로 분해하고, 준비의 창이 지금만 열려 있다는 점을 강조하며 시작합니다.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한 장만으로 의사결정이 가능해야 합니다. 상황, 문제, 처방을 각 한 문장으로 읽고 하단 요청 사항 세 건으로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개의 지표는 모두 외부 수요가 만든 결과입니다. 오른쪽의 준비의 창을 통해 시점 논의로 넘어갑니다.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번의 하강기에서 같은 공식이 다른 결과를 냈습니다. 마지막 열은 예측임을 명확히 말씀드립니다.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가지 규칙 변화는 이미 관측되고 있는 사실입니다. 여기서 처방의 전제를 정리합니다.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 대응을 지금 조건에서 다시 감사한 결과입니다. 통한 것의 공통점은 시간을 사용했다는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지출의 양은 비슷했고 배분의 방향이 갈렸습니다. 순환 점유율은 돌아오지만 유출된 점유율은 돌아오지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장기 계약은 이미 잘 세워지고 있습니다. 다만 세 개의 구멍이 남습니다.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처방의 중심입니다. 앞선 방어선이 못 막은 위협이 다음 방어선의 존재 이유입니다.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두 전략은 한쪽만으로 성립하지 않습니다. 설비를 돌릴 수 있는 몸과 돌릴 곳이 있는 로드맵이 함께 필요합니다.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계약은 물량을 지키고 통합은 갱신을 지킵니다. 실행의 창이 2027년 이전이라는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 투자 전략은 서로 경쟁하지 않습니다. 자리를 사는 투자만 행사 시점이 지금입니다.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요청 사항 세 건은 모두 증원과 증액이 없는 제도 변경입니다. 승인 여부를 여기서 확인합니다.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3350" cy="10287000"/>
          </a:xfrm>
          <a:prstGeom prst="rect">
            <a:avLst/>
          </a:prstGeom>
          <a:solidFill>
            <a:srgbClr val="1428A0"/>
          </a:solidFill>
          <a:ln/>
        </p:spPr>
      </p:sp>
      <p:sp>
        <p:nvSpPr>
          <p:cNvPr id="3" name="Text 1"/>
          <p:cNvSpPr/>
          <p:nvPr/>
        </p:nvSpPr>
        <p:spPr>
          <a:xfrm>
            <a:off x="1047750" y="9144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4" name="Text 2"/>
          <p:cNvSpPr/>
          <p:nvPr/>
        </p:nvSpPr>
        <p:spPr>
          <a:xfrm>
            <a:off x="15996568" y="9144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5" name="Text 3"/>
          <p:cNvSpPr/>
          <p:nvPr/>
        </p:nvSpPr>
        <p:spPr>
          <a:xfrm>
            <a:off x="1047750" y="3530352"/>
            <a:ext cx="17958435" cy="338138"/>
          </a:xfrm>
          <a:prstGeom prst="rect">
            <a:avLst/>
          </a:prstGeom>
          <a:noFill/>
          <a:ln/>
        </p:spPr>
        <p:txBody>
          <a:bodyPr wrap="square" lIns="25400" tIns="25400" rIns="25400" bIns="25400" rtlCol="0" anchor="t">
            <a:normAutofit/>
          </a:bodyPr>
          <a:lstStyle/>
          <a:p>
            <a:pPr algn="l" indent="0" marL="0">
              <a:buNone/>
            </a:pPr>
            <a:r>
              <a:rPr lang="en-US" sz="1950" b="1" spc="78" kern="0" dirty="0">
                <a:solidFill>
                  <a:srgbClr val="1428A0"/>
                </a:solidFill>
                <a:latin typeface="Arial" pitchFamily="34" charset="0"/>
                <a:ea typeface="Arial" pitchFamily="34" charset="-122"/>
                <a:cs typeface="Arial" pitchFamily="34" charset="-120"/>
              </a:rPr>
              <a:t>경영진 보고 · 과제 결과 종합</a:t>
            </a:r>
            <a:endParaRPr lang="en-US" sz="1950" dirty="0"/>
          </a:p>
        </p:txBody>
      </p:sp>
      <p:sp>
        <p:nvSpPr>
          <p:cNvPr id="6" name="Text 4"/>
          <p:cNvSpPr/>
          <p:nvPr/>
        </p:nvSpPr>
        <p:spPr>
          <a:xfrm>
            <a:off x="1047750" y="4135189"/>
            <a:ext cx="17958435" cy="1027137"/>
          </a:xfrm>
          <a:prstGeom prst="rect">
            <a:avLst/>
          </a:prstGeom>
          <a:noFill/>
          <a:ln/>
        </p:spPr>
        <p:txBody>
          <a:bodyPr wrap="square" lIns="25400" tIns="25400" rIns="25400" bIns="25400" rtlCol="0" anchor="t">
            <a:normAutofit/>
          </a:bodyPr>
          <a:lstStyle/>
          <a:p>
            <a:pPr algn="l" indent="0" marL="0">
              <a:lnSpc>
                <a:spcPct val="102812"/>
              </a:lnSpc>
              <a:buNone/>
            </a:pPr>
            <a:r>
              <a:rPr lang="en-US" sz="6600" b="1" spc="-132" kern="0" dirty="0">
                <a:solidFill>
                  <a:srgbClr val="1A1A1A"/>
                </a:solidFill>
                <a:latin typeface="Arial" pitchFamily="34" charset="0"/>
                <a:ea typeface="Arial" pitchFamily="34" charset="-122"/>
                <a:cs typeface="Arial" pitchFamily="34" charset="-120"/>
              </a:rPr>
              <a:t>호황은 전략을 심는 계절입니다</a:t>
            </a:r>
            <a:endParaRPr lang="en-US" sz="6600" dirty="0"/>
          </a:p>
        </p:txBody>
      </p:sp>
      <p:sp>
        <p:nvSpPr>
          <p:cNvPr id="7" name="Text 5"/>
          <p:cNvSpPr/>
          <p:nvPr/>
        </p:nvSpPr>
        <p:spPr>
          <a:xfrm>
            <a:off x="1047750" y="5429027"/>
            <a:ext cx="12753975" cy="1032421"/>
          </a:xfrm>
          <a:prstGeom prst="rect">
            <a:avLst/>
          </a:prstGeom>
          <a:noFill/>
          <a:ln/>
        </p:spPr>
        <p:txBody>
          <a:bodyPr wrap="square" lIns="25400" tIns="25400" rIns="25400" bIns="25400" rtlCol="0" anchor="t">
            <a:normAutofit/>
          </a:bodyPr>
          <a:lstStyle/>
          <a:p>
            <a:pPr algn="l" indent="0" marL="0">
              <a:lnSpc>
                <a:spcPct val="127317"/>
              </a:lnSpc>
              <a:buNone/>
            </a:pPr>
            <a:r>
              <a:rPr lang="en-US" sz="2700" dirty="0">
                <a:solidFill>
                  <a:srgbClr val="555555"/>
                </a:solidFill>
                <a:latin typeface="Arial" pitchFamily="34" charset="0"/>
                <a:ea typeface="Arial" pitchFamily="34" charset="-122"/>
                <a:cs typeface="Arial" pitchFamily="34" charset="-120"/>
              </a:rPr>
              <a:t>다음 하강기를 준비하는 세 겹의 방어선을 보고드립니다. 계약으로 물량을 지키고, 제품으로 부가가치를 지키고, 플랫폼과 관계로 대체되지 않는 위치를 만드는 구조입니다.</a:t>
            </a:r>
            <a:endParaRPr lang="en-US" sz="2700" dirty="0"/>
          </a:p>
        </p:txBody>
      </p:sp>
      <p:sp>
        <p:nvSpPr>
          <p:cNvPr id="8" name="Text 6"/>
          <p:cNvSpPr/>
          <p:nvPr/>
        </p:nvSpPr>
        <p:spPr>
          <a:xfrm>
            <a:off x="1047750" y="9296400"/>
            <a:ext cx="7650867"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낸드 · 디램 · SSD · 제조 · 인사 · 기획 · 구매, 일곱 편 제안의 공통 지도</a:t>
            </a:r>
            <a:endParaRPr lang="en-US" sz="1950" dirty="0"/>
          </a:p>
        </p:txBody>
      </p:sp>
      <p:sp>
        <p:nvSpPr>
          <p:cNvPr id="9" name="Text 7"/>
          <p:cNvSpPr/>
          <p:nvPr/>
        </p:nvSpPr>
        <p:spPr>
          <a:xfrm>
            <a:off x="16187663" y="9296400"/>
            <a:ext cx="1262137"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2026년 8월</a:t>
            </a:r>
            <a:endParaRPr lang="en-US" sz="1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한 장으로 보는 요약</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지금 심어야 할 것은 세 겹의 방어선입니다</a:t>
            </a:r>
            <a:endParaRPr lang="en-US" sz="3300" dirty="0"/>
          </a:p>
        </p:txBody>
      </p:sp>
      <p:sp>
        <p:nvSpPr>
          <p:cNvPr id="6" name="Shape 4"/>
          <p:cNvSpPr/>
          <p:nvPr/>
        </p:nvSpPr>
        <p:spPr>
          <a:xfrm>
            <a:off x="723900" y="1959099"/>
            <a:ext cx="16840200" cy="9525"/>
          </a:xfrm>
          <a:prstGeom prst="rect">
            <a:avLst/>
          </a:prstGeom>
          <a:solidFill>
            <a:srgbClr val="D9D9D9"/>
          </a:solidFill>
          <a:ln/>
        </p:spPr>
      </p:sp>
      <p:sp>
        <p:nvSpPr>
          <p:cNvPr id="7" name="Shape 5"/>
          <p:cNvSpPr/>
          <p:nvPr/>
        </p:nvSpPr>
        <p:spPr>
          <a:xfrm>
            <a:off x="723900" y="2254374"/>
            <a:ext cx="5384750" cy="2247900"/>
          </a:xfrm>
          <a:prstGeom prst="rect">
            <a:avLst/>
          </a:prstGeom>
          <a:solidFill>
            <a:srgbClr val="7F7F7F">
              <a:alpha val="8000"/>
            </a:srgbClr>
          </a:solidFill>
          <a:ln/>
        </p:spPr>
      </p:sp>
      <p:sp>
        <p:nvSpPr>
          <p:cNvPr id="8" name="Text 6"/>
          <p:cNvSpPr/>
          <p:nvPr/>
        </p:nvSpPr>
        <p:spPr>
          <a:xfrm>
            <a:off x="723900" y="4673724"/>
            <a:ext cx="5923225"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상황</a:t>
            </a:r>
            <a:endParaRPr lang="en-US" sz="1950" dirty="0"/>
          </a:p>
        </p:txBody>
      </p:sp>
      <p:sp>
        <p:nvSpPr>
          <p:cNvPr id="9" name="Text 7"/>
          <p:cNvSpPr/>
          <p:nvPr/>
        </p:nvSpPr>
        <p:spPr>
          <a:xfrm>
            <a:off x="723900" y="5149974"/>
            <a:ext cx="5546293"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1A1A1A"/>
                </a:solidFill>
                <a:latin typeface="Arial" pitchFamily="34" charset="0"/>
                <a:ea typeface="Arial" pitchFamily="34" charset="-122"/>
                <a:cs typeface="Arial" pitchFamily="34" charset="-120"/>
              </a:rPr>
              <a:t>사상 최대의 실적은 인공지능 인프라 투자라는 외부 수요가 만들었습니다.</a:t>
            </a:r>
            <a:endParaRPr lang="en-US" sz="2550" dirty="0"/>
          </a:p>
        </p:txBody>
      </p:sp>
      <p:sp>
        <p:nvSpPr>
          <p:cNvPr id="10" name="Text 8"/>
          <p:cNvSpPr/>
          <p:nvPr/>
        </p:nvSpPr>
        <p:spPr>
          <a:xfrm>
            <a:off x="723900" y="6228085"/>
            <a:ext cx="5546293"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55555"/>
                </a:solidFill>
                <a:latin typeface="Arial" pitchFamily="34" charset="0"/>
                <a:ea typeface="Arial" pitchFamily="34" charset="-122"/>
                <a:cs typeface="Arial" pitchFamily="34" charset="-120"/>
              </a:rPr>
              <a:t>공급 규율이나 제품 경쟁력은 부차적인 요인이었습니다. 환경이 준 것은 환경이 거둬 갑니다.</a:t>
            </a:r>
            <a:endParaRPr lang="en-US" sz="1875" dirty="0"/>
          </a:p>
        </p:txBody>
      </p:sp>
      <p:sp>
        <p:nvSpPr>
          <p:cNvPr id="11" name="Shape 9"/>
          <p:cNvSpPr/>
          <p:nvPr/>
        </p:nvSpPr>
        <p:spPr>
          <a:xfrm>
            <a:off x="6451550" y="2254374"/>
            <a:ext cx="5384825" cy="2247900"/>
          </a:xfrm>
          <a:prstGeom prst="rect">
            <a:avLst/>
          </a:prstGeom>
          <a:solidFill>
            <a:srgbClr val="7F7F7F">
              <a:alpha val="8000"/>
            </a:srgbClr>
          </a:solidFill>
          <a:ln/>
        </p:spPr>
      </p:sp>
      <p:sp>
        <p:nvSpPr>
          <p:cNvPr id="12" name="Text 10"/>
          <p:cNvSpPr/>
          <p:nvPr/>
        </p:nvSpPr>
        <p:spPr>
          <a:xfrm>
            <a:off x="6451550" y="4673724"/>
            <a:ext cx="5923307"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문제</a:t>
            </a:r>
            <a:endParaRPr lang="en-US" sz="1950" dirty="0"/>
          </a:p>
        </p:txBody>
      </p:sp>
      <p:sp>
        <p:nvSpPr>
          <p:cNvPr id="13" name="Text 11"/>
          <p:cNvSpPr/>
          <p:nvPr/>
        </p:nvSpPr>
        <p:spPr>
          <a:xfrm>
            <a:off x="6451550" y="5149974"/>
            <a:ext cx="5546370"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1A1A1A"/>
                </a:solidFill>
                <a:latin typeface="Arial" pitchFamily="34" charset="0"/>
                <a:ea typeface="Arial" pitchFamily="34" charset="-122"/>
                <a:cs typeface="Arial" pitchFamily="34" charset="-120"/>
              </a:rPr>
              <a:t>다음 하강기는 과거와 다른 규칙으로 오며, 장기 계약은 물량까지만 지켜 줍니다.</a:t>
            </a:r>
            <a:endParaRPr lang="en-US" sz="2550" dirty="0"/>
          </a:p>
        </p:txBody>
      </p:sp>
      <p:sp>
        <p:nvSpPr>
          <p:cNvPr id="14" name="Text 12"/>
          <p:cNvSpPr/>
          <p:nvPr/>
        </p:nvSpPr>
        <p:spPr>
          <a:xfrm>
            <a:off x="6451550" y="6228085"/>
            <a:ext cx="5546370"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55555"/>
                </a:solidFill>
                <a:latin typeface="Arial" pitchFamily="34" charset="0"/>
                <a:ea typeface="Arial" pitchFamily="34" charset="-122"/>
                <a:cs typeface="Arial" pitchFamily="34" charset="-120"/>
              </a:rPr>
              <a:t>완제품 부가가치, 계약 만기 이후의 갱신, 기술 전환에 따른 수요 이동은 계약이 막지 못합니다.</a:t>
            </a:r>
            <a:endParaRPr lang="en-US" sz="1875" dirty="0"/>
          </a:p>
        </p:txBody>
      </p:sp>
      <p:sp>
        <p:nvSpPr>
          <p:cNvPr id="15" name="Shape 13"/>
          <p:cNvSpPr/>
          <p:nvPr/>
        </p:nvSpPr>
        <p:spPr>
          <a:xfrm>
            <a:off x="12179275" y="2254374"/>
            <a:ext cx="5384750" cy="2247900"/>
          </a:xfrm>
          <a:prstGeom prst="rect">
            <a:avLst/>
          </a:prstGeom>
          <a:solidFill>
            <a:srgbClr val="7F7F7F">
              <a:alpha val="8000"/>
            </a:srgbClr>
          </a:solidFill>
          <a:ln/>
        </p:spPr>
      </p:sp>
      <p:sp>
        <p:nvSpPr>
          <p:cNvPr id="16" name="Text 14"/>
          <p:cNvSpPr/>
          <p:nvPr/>
        </p:nvSpPr>
        <p:spPr>
          <a:xfrm>
            <a:off x="12179275" y="4673724"/>
            <a:ext cx="5923225"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처방</a:t>
            </a:r>
            <a:endParaRPr lang="en-US" sz="1950" dirty="0"/>
          </a:p>
        </p:txBody>
      </p:sp>
      <p:sp>
        <p:nvSpPr>
          <p:cNvPr id="17" name="Text 15"/>
          <p:cNvSpPr/>
          <p:nvPr/>
        </p:nvSpPr>
        <p:spPr>
          <a:xfrm>
            <a:off x="12179275" y="5149974"/>
            <a:ext cx="5546293" cy="944761"/>
          </a:xfrm>
          <a:prstGeom prst="rect">
            <a:avLst/>
          </a:prstGeom>
          <a:noFill/>
          <a:ln/>
        </p:spPr>
        <p:txBody>
          <a:bodyPr wrap="square" lIns="25400" tIns="25400" rIns="25400" bIns="25400" rtlCol="0" anchor="t">
            <a:normAutofit/>
          </a:bodyPr>
          <a:lstStyle/>
          <a:p>
            <a:pPr algn="l" indent="0" marL="0">
              <a:lnSpc>
                <a:spcPct val="122051"/>
              </a:lnSpc>
              <a:buNone/>
            </a:pPr>
            <a:r>
              <a:rPr lang="en-US" sz="2550" b="1" dirty="0">
                <a:solidFill>
                  <a:srgbClr val="1A1A1A"/>
                </a:solidFill>
                <a:latin typeface="Arial" pitchFamily="34" charset="0"/>
                <a:ea typeface="Arial" pitchFamily="34" charset="-122"/>
                <a:cs typeface="Arial" pitchFamily="34" charset="-120"/>
              </a:rPr>
              <a:t>계약 위에 제품과 플랫폼이라는 두 겹을 더 쌓겠습니다.</a:t>
            </a:r>
            <a:endParaRPr lang="en-US" sz="2550" dirty="0"/>
          </a:p>
        </p:txBody>
      </p:sp>
      <p:sp>
        <p:nvSpPr>
          <p:cNvPr id="18" name="Text 16"/>
          <p:cNvSpPr/>
          <p:nvPr/>
        </p:nvSpPr>
        <p:spPr>
          <a:xfrm>
            <a:off x="12179275" y="6228085"/>
            <a:ext cx="5546293" cy="776287"/>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555555"/>
                </a:solidFill>
                <a:latin typeface="Arial" pitchFamily="34" charset="0"/>
                <a:ea typeface="Arial" pitchFamily="34" charset="-122"/>
                <a:cs typeface="Arial" pitchFamily="34" charset="-120"/>
              </a:rPr>
              <a:t>전환할 수 있는 생산 체제, 아키텍처 차별화, SSD 소프트웨어 플랫폼, 외부 기술 선점의 네 가지 전략입니다.</a:t>
            </a:r>
            <a:endParaRPr lang="en-US" sz="1875" dirty="0"/>
          </a:p>
        </p:txBody>
      </p:sp>
      <p:sp>
        <p:nvSpPr>
          <p:cNvPr id="19" name="Shape 17"/>
          <p:cNvSpPr/>
          <p:nvPr/>
        </p:nvSpPr>
        <p:spPr>
          <a:xfrm>
            <a:off x="723900" y="7624762"/>
            <a:ext cx="16840200" cy="1776413"/>
          </a:xfrm>
          <a:prstGeom prst="rect">
            <a:avLst/>
          </a:prstGeom>
          <a:solidFill>
            <a:srgbClr val="F4F6FC"/>
          </a:solidFill>
          <a:ln/>
        </p:spPr>
      </p:sp>
      <p:sp>
        <p:nvSpPr>
          <p:cNvPr id="20" name="Text 18"/>
          <p:cNvSpPr/>
          <p:nvPr/>
        </p:nvSpPr>
        <p:spPr>
          <a:xfrm>
            <a:off x="1104900" y="7929563"/>
            <a:ext cx="1768602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판단의 기준이 되는 네 가지 수치</a:t>
            </a:r>
            <a:endParaRPr lang="en-US" sz="1950" dirty="0"/>
          </a:p>
        </p:txBody>
      </p:sp>
      <p:sp>
        <p:nvSpPr>
          <p:cNvPr id="21" name="Text 19"/>
          <p:cNvSpPr/>
          <p:nvPr/>
        </p:nvSpPr>
        <p:spPr>
          <a:xfrm>
            <a:off x="1104900" y="8386763"/>
            <a:ext cx="4170045"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2028년에서 2029년</a:t>
            </a:r>
            <a:endParaRPr lang="en-US" sz="2550" dirty="0"/>
          </a:p>
        </p:txBody>
      </p:sp>
      <p:sp>
        <p:nvSpPr>
          <p:cNvPr id="22" name="Text 20"/>
          <p:cNvSpPr/>
          <p:nvPr/>
        </p:nvSpPr>
        <p:spPr>
          <a:xfrm>
            <a:off x="1104900" y="8820150"/>
            <a:ext cx="417004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다음 하강기 예상 구간 (예측)</a:t>
            </a:r>
            <a:endParaRPr lang="en-US" sz="1800" dirty="0"/>
          </a:p>
        </p:txBody>
      </p:sp>
      <p:sp>
        <p:nvSpPr>
          <p:cNvPr id="23" name="Text 21"/>
          <p:cNvSpPr/>
          <p:nvPr/>
        </p:nvSpPr>
        <p:spPr>
          <a:xfrm>
            <a:off x="5200650" y="8386763"/>
            <a:ext cx="4170045"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9.1조에서 11.5조 원</a:t>
            </a:r>
            <a:endParaRPr lang="en-US" sz="2550" dirty="0"/>
          </a:p>
        </p:txBody>
      </p:sp>
      <p:sp>
        <p:nvSpPr>
          <p:cNvPr id="24" name="Text 22"/>
          <p:cNvSpPr/>
          <p:nvPr/>
        </p:nvSpPr>
        <p:spPr>
          <a:xfrm>
            <a:off x="5200650" y="8820150"/>
            <a:ext cx="417004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2029년 메모리 귀속 감가상각비 증가분</a:t>
            </a:r>
            <a:endParaRPr lang="en-US" sz="1800" dirty="0"/>
          </a:p>
        </p:txBody>
      </p:sp>
      <p:sp>
        <p:nvSpPr>
          <p:cNvPr id="25" name="Text 23"/>
          <p:cNvSpPr/>
          <p:nvPr/>
        </p:nvSpPr>
        <p:spPr>
          <a:xfrm>
            <a:off x="9296400" y="8386763"/>
            <a:ext cx="4170045"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104조 원</a:t>
            </a:r>
            <a:endParaRPr lang="en-US" sz="2550" dirty="0"/>
          </a:p>
        </p:txBody>
      </p:sp>
      <p:sp>
        <p:nvSpPr>
          <p:cNvPr id="26" name="Text 24"/>
          <p:cNvSpPr/>
          <p:nvPr/>
        </p:nvSpPr>
        <p:spPr>
          <a:xfrm>
            <a:off x="9296400" y="8820150"/>
            <a:ext cx="417004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손익 붕괴 매출선, 반도체 부문 기준</a:t>
            </a:r>
            <a:endParaRPr lang="en-US" sz="1800" dirty="0"/>
          </a:p>
        </p:txBody>
      </p:sp>
      <p:sp>
        <p:nvSpPr>
          <p:cNvPr id="27" name="Text 25"/>
          <p:cNvSpPr/>
          <p:nvPr/>
        </p:nvSpPr>
        <p:spPr>
          <a:xfrm>
            <a:off x="13392150" y="8386763"/>
            <a:ext cx="4170045"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2027년 이전</a:t>
            </a:r>
            <a:endParaRPr lang="en-US" sz="2550" dirty="0"/>
          </a:p>
        </p:txBody>
      </p:sp>
      <p:sp>
        <p:nvSpPr>
          <p:cNvPr id="28" name="Text 26"/>
          <p:cNvSpPr/>
          <p:nvPr/>
        </p:nvSpPr>
        <p:spPr>
          <a:xfrm>
            <a:off x="13392150" y="8820150"/>
            <a:ext cx="417004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제3 방어선 실행의 창</a:t>
            </a:r>
            <a:endParaRPr lang="en-US" sz="1800" dirty="0"/>
          </a:p>
        </p:txBody>
      </p:sp>
      <p:sp>
        <p:nvSpPr>
          <p:cNvPr id="29" name="Text 27"/>
          <p:cNvSpPr/>
          <p:nvPr/>
        </p:nvSpPr>
        <p:spPr>
          <a:xfrm>
            <a:off x="723900" y="9591675"/>
            <a:ext cx="1016464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과제 스토리라인 종합 (2026년 8월). 사진: 위키미디어 공용, 크리에이티브 커먼즈 저작자표시 2.0</a:t>
            </a:r>
            <a:endParaRPr lang="en-US" sz="1800" dirty="0"/>
          </a:p>
        </p:txBody>
      </p:sp>
      <p:sp>
        <p:nvSpPr>
          <p:cNvPr id="30" name="Text 28"/>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02 / 13</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진단</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이번 호황은 인공지능 투자라는 외부 환경이 만들었습니다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수요가 외생 변수였던 만큼, 실력의 시험은 가격이 내려간 다음에 시작됩니다.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28689"/>
            <a:ext cx="57150" cy="1485900"/>
          </a:xfrm>
          <a:prstGeom prst="rect">
            <a:avLst/>
          </a:prstGeom>
          <a:solidFill>
            <a:srgbClr val="1428A0"/>
          </a:solidFill>
          <a:ln/>
        </p:spPr>
      </p:sp>
      <p:sp>
        <p:nvSpPr>
          <p:cNvPr id="9" name="Text 7"/>
          <p:cNvSpPr/>
          <p:nvPr/>
        </p:nvSpPr>
        <p:spPr>
          <a:xfrm>
            <a:off x="1047750" y="2728689"/>
            <a:ext cx="9948223"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주요 빅테크 4사의 인공지능 설비투자</a:t>
            </a:r>
            <a:endParaRPr lang="en-US" sz="1950" dirty="0"/>
          </a:p>
        </p:txBody>
      </p:sp>
      <p:sp>
        <p:nvSpPr>
          <p:cNvPr id="10" name="Text 8"/>
          <p:cNvSpPr/>
          <p:nvPr/>
        </p:nvSpPr>
        <p:spPr>
          <a:xfrm>
            <a:off x="1047750" y="3109689"/>
            <a:ext cx="9948223" cy="762000"/>
          </a:xfrm>
          <a:prstGeom prst="rect">
            <a:avLst/>
          </a:prstGeom>
          <a:noFill/>
          <a:ln/>
        </p:spPr>
        <p:txBody>
          <a:bodyPr wrap="square" lIns="25400" tIns="25400" rIns="25400" bIns="25400" rtlCol="0" anchor="t">
            <a:normAutofit/>
          </a:bodyPr>
          <a:lstStyle/>
          <a:p>
            <a:pPr algn="l" indent="0" marL="0">
              <a:lnSpc>
                <a:spcPct val="86857"/>
              </a:lnSpc>
              <a:buNone/>
            </a:pPr>
            <a:r>
              <a:rPr lang="en-US" sz="5700" b="1" dirty="0">
                <a:solidFill>
                  <a:srgbClr val="1428A0"/>
                </a:solidFill>
                <a:latin typeface="Arial" pitchFamily="34" charset="0"/>
                <a:ea typeface="Arial" pitchFamily="34" charset="-122"/>
                <a:cs typeface="Arial" pitchFamily="34" charset="-120"/>
              </a:rPr>
              <a:t>약 7,000억 달러</a:t>
            </a:r>
            <a:endParaRPr lang="en-US" sz="5700" dirty="0"/>
          </a:p>
        </p:txBody>
      </p:sp>
      <p:sp>
        <p:nvSpPr>
          <p:cNvPr id="11" name="Text 9"/>
          <p:cNvSpPr/>
          <p:nvPr/>
        </p:nvSpPr>
        <p:spPr>
          <a:xfrm>
            <a:off x="1047750" y="3909789"/>
            <a:ext cx="9948223"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전년 대비 약 77% 증가, 최대 7,250억 달러 전망</a:t>
            </a:r>
            <a:endParaRPr lang="en-US" sz="1950" dirty="0"/>
          </a:p>
        </p:txBody>
      </p:sp>
      <p:sp>
        <p:nvSpPr>
          <p:cNvPr id="12" name="Shape 10"/>
          <p:cNvSpPr/>
          <p:nvPr/>
        </p:nvSpPr>
        <p:spPr>
          <a:xfrm>
            <a:off x="723900" y="4500339"/>
            <a:ext cx="57150" cy="1485900"/>
          </a:xfrm>
          <a:prstGeom prst="rect">
            <a:avLst/>
          </a:prstGeom>
          <a:solidFill>
            <a:srgbClr val="AAB8E8"/>
          </a:solidFill>
          <a:ln/>
        </p:spPr>
      </p:sp>
      <p:sp>
        <p:nvSpPr>
          <p:cNvPr id="13" name="Text 11"/>
          <p:cNvSpPr/>
          <p:nvPr/>
        </p:nvSpPr>
        <p:spPr>
          <a:xfrm>
            <a:off x="1047750" y="4500339"/>
            <a:ext cx="9948223"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마이크론 분기 매출 (2026 회계연도 3분기)</a:t>
            </a:r>
            <a:endParaRPr lang="en-US" sz="1950" dirty="0"/>
          </a:p>
        </p:txBody>
      </p:sp>
      <p:sp>
        <p:nvSpPr>
          <p:cNvPr id="14" name="Text 12"/>
          <p:cNvSpPr/>
          <p:nvPr/>
        </p:nvSpPr>
        <p:spPr>
          <a:xfrm>
            <a:off x="1047750" y="4881339"/>
            <a:ext cx="9948223" cy="762000"/>
          </a:xfrm>
          <a:prstGeom prst="rect">
            <a:avLst/>
          </a:prstGeom>
          <a:noFill/>
          <a:ln/>
        </p:spPr>
        <p:txBody>
          <a:bodyPr wrap="square" lIns="25400" tIns="25400" rIns="25400" bIns="25400" rtlCol="0" anchor="t">
            <a:normAutofit/>
          </a:bodyPr>
          <a:lstStyle/>
          <a:p>
            <a:pPr algn="l" indent="0" marL="0">
              <a:lnSpc>
                <a:spcPct val="86857"/>
              </a:lnSpc>
              <a:buNone/>
            </a:pPr>
            <a:r>
              <a:rPr lang="en-US" sz="5700" b="1" dirty="0">
                <a:solidFill>
                  <a:srgbClr val="1A1A1A"/>
                </a:solidFill>
                <a:latin typeface="Arial" pitchFamily="34" charset="0"/>
                <a:ea typeface="Arial" pitchFamily="34" charset="-122"/>
                <a:cs typeface="Arial" pitchFamily="34" charset="-120"/>
              </a:rPr>
              <a:t>414.6억 달러</a:t>
            </a:r>
            <a:endParaRPr lang="en-US" sz="5700" dirty="0"/>
          </a:p>
        </p:txBody>
      </p:sp>
      <p:sp>
        <p:nvSpPr>
          <p:cNvPr id="15" name="Text 13"/>
          <p:cNvSpPr/>
          <p:nvPr/>
        </p:nvSpPr>
        <p:spPr>
          <a:xfrm>
            <a:off x="1047750" y="5681439"/>
            <a:ext cx="9948223"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전년 동기 대비 약 346% 증가, 매출총이익률 84.9%로 사상 최고</a:t>
            </a:r>
            <a:endParaRPr lang="en-US" sz="1950" dirty="0"/>
          </a:p>
        </p:txBody>
      </p:sp>
      <p:sp>
        <p:nvSpPr>
          <p:cNvPr id="16" name="Text 14"/>
          <p:cNvSpPr/>
          <p:nvPr/>
        </p:nvSpPr>
        <p:spPr>
          <a:xfrm>
            <a:off x="723900" y="6271989"/>
            <a:ext cx="484355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기업용 SSD 분기 계약가격</a:t>
            </a:r>
            <a:endParaRPr lang="en-US" sz="1950" dirty="0"/>
          </a:p>
        </p:txBody>
      </p:sp>
      <p:sp>
        <p:nvSpPr>
          <p:cNvPr id="17" name="Text 15"/>
          <p:cNvSpPr/>
          <p:nvPr/>
        </p:nvSpPr>
        <p:spPr>
          <a:xfrm>
            <a:off x="723900" y="6633939"/>
            <a:ext cx="4843552" cy="582885"/>
          </a:xfrm>
          <a:prstGeom prst="rect">
            <a:avLst/>
          </a:prstGeom>
          <a:noFill/>
          <a:ln/>
        </p:spPr>
        <p:txBody>
          <a:bodyPr wrap="square" lIns="25400" tIns="25400" rIns="25400" bIns="25400" rtlCol="0" anchor="t">
            <a:normAutofit/>
          </a:bodyPr>
          <a:lstStyle/>
          <a:p>
            <a:pPr algn="l" indent="0" marL="0">
              <a:lnSpc>
                <a:spcPct val="96134"/>
              </a:lnSpc>
              <a:buNone/>
            </a:pPr>
            <a:r>
              <a:rPr lang="en-US" sz="3900" b="1" dirty="0">
                <a:solidFill>
                  <a:srgbClr val="1428A0"/>
                </a:solidFill>
                <a:latin typeface="Arial" pitchFamily="34" charset="0"/>
                <a:ea typeface="Arial" pitchFamily="34" charset="-122"/>
                <a:cs typeface="Arial" pitchFamily="34" charset="-120"/>
              </a:rPr>
              <a:t>전분기 대비 80% 상승</a:t>
            </a:r>
            <a:endParaRPr lang="en-US" sz="3900" dirty="0"/>
          </a:p>
        </p:txBody>
      </p:sp>
      <p:sp>
        <p:nvSpPr>
          <p:cNvPr id="18" name="Text 16"/>
          <p:cNvSpPr/>
          <p:nvPr/>
        </p:nvSpPr>
        <p:spPr>
          <a:xfrm>
            <a:off x="5546229" y="6271989"/>
            <a:ext cx="2347860"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주요 공급사 재고 수준</a:t>
            </a:r>
            <a:endParaRPr lang="en-US" sz="1950" dirty="0"/>
          </a:p>
        </p:txBody>
      </p:sp>
      <p:sp>
        <p:nvSpPr>
          <p:cNvPr id="19" name="Text 17"/>
          <p:cNvSpPr/>
          <p:nvPr/>
        </p:nvSpPr>
        <p:spPr>
          <a:xfrm>
            <a:off x="5546229" y="6633939"/>
            <a:ext cx="2347860" cy="582885"/>
          </a:xfrm>
          <a:prstGeom prst="rect">
            <a:avLst/>
          </a:prstGeom>
          <a:noFill/>
          <a:ln/>
        </p:spPr>
        <p:txBody>
          <a:bodyPr wrap="square" lIns="25400" tIns="25400" rIns="25400" bIns="25400" rtlCol="0" anchor="t">
            <a:normAutofit/>
          </a:bodyPr>
          <a:lstStyle/>
          <a:p>
            <a:pPr algn="l" indent="0" marL="0">
              <a:lnSpc>
                <a:spcPct val="96134"/>
              </a:lnSpc>
              <a:buNone/>
            </a:pPr>
            <a:r>
              <a:rPr lang="en-US" sz="3900" b="1" dirty="0">
                <a:solidFill>
                  <a:srgbClr val="1A1A1A"/>
                </a:solidFill>
                <a:latin typeface="Arial" pitchFamily="34" charset="0"/>
                <a:ea typeface="Arial" pitchFamily="34" charset="-122"/>
                <a:cs typeface="Arial" pitchFamily="34" charset="-120"/>
              </a:rPr>
              <a:t>사상 최저</a:t>
            </a:r>
            <a:endParaRPr lang="en-US" sz="3900" dirty="0"/>
          </a:p>
        </p:txBody>
      </p:sp>
      <p:sp>
        <p:nvSpPr>
          <p:cNvPr id="20" name="Text 18"/>
          <p:cNvSpPr/>
          <p:nvPr/>
        </p:nvSpPr>
        <p:spPr>
          <a:xfrm>
            <a:off x="10624989" y="2728689"/>
            <a:ext cx="7633022"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A1A1A"/>
                </a:solidFill>
                <a:latin typeface="Arial" pitchFamily="34" charset="0"/>
                <a:ea typeface="Arial" pitchFamily="34" charset="-122"/>
                <a:cs typeface="Arial" pitchFamily="34" charset="-120"/>
              </a:rPr>
              <a:t>준비의 창은 호황에만 열립니다</a:t>
            </a:r>
            <a:endParaRPr lang="en-US" sz="2100" dirty="0"/>
          </a:p>
        </p:txBody>
      </p:sp>
      <p:sp>
        <p:nvSpPr>
          <p:cNvPr id="21" name="Shape 19"/>
          <p:cNvSpPr/>
          <p:nvPr/>
        </p:nvSpPr>
        <p:spPr>
          <a:xfrm>
            <a:off x="10624989" y="3266852"/>
            <a:ext cx="6939111" cy="1481138"/>
          </a:xfrm>
          <a:prstGeom prst="rect">
            <a:avLst/>
          </a:prstGeom>
          <a:solidFill>
            <a:srgbClr val="1428A0"/>
          </a:solidFill>
          <a:ln/>
        </p:spPr>
      </p:sp>
      <p:sp>
        <p:nvSpPr>
          <p:cNvPr id="22" name="Text 20"/>
          <p:cNvSpPr/>
          <p:nvPr/>
        </p:nvSpPr>
        <p:spPr>
          <a:xfrm>
            <a:off x="10872639" y="3476402"/>
            <a:ext cx="7088192"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FFFFFF"/>
                </a:solidFill>
                <a:latin typeface="Arial" pitchFamily="34" charset="0"/>
                <a:ea typeface="Arial" pitchFamily="34" charset="-122"/>
                <a:cs typeface="Arial" pitchFamily="34" charset="-120"/>
              </a:rPr>
              <a:t>현재 · 호황 구간</a:t>
            </a:r>
            <a:endParaRPr lang="en-US" sz="2025" dirty="0"/>
          </a:p>
        </p:txBody>
      </p:sp>
      <p:sp>
        <p:nvSpPr>
          <p:cNvPr id="23" name="Text 21"/>
          <p:cNvSpPr/>
          <p:nvPr/>
        </p:nvSpPr>
        <p:spPr>
          <a:xfrm>
            <a:off x="10872639" y="3847877"/>
            <a:ext cx="6637126"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FFFFFF">
                    <a:alpha val="90000"/>
                  </a:srgbClr>
                </a:solidFill>
                <a:latin typeface="Arial" pitchFamily="34" charset="0"/>
                <a:ea typeface="Arial" pitchFamily="34" charset="-122"/>
                <a:cs typeface="Arial" pitchFamily="34" charset="-120"/>
              </a:rPr>
              <a:t>고객이 먼저 문을 엽니다. 선수금 예치와 다년 계약, 공동 로드맵 논의가 가능한 시기입니다.</a:t>
            </a:r>
            <a:endParaRPr lang="en-US" sz="1875" dirty="0"/>
          </a:p>
        </p:txBody>
      </p:sp>
      <p:sp>
        <p:nvSpPr>
          <p:cNvPr id="24" name="Shape 22"/>
          <p:cNvSpPr/>
          <p:nvPr/>
        </p:nvSpPr>
        <p:spPr>
          <a:xfrm>
            <a:off x="10624989" y="4881339"/>
            <a:ext cx="6939111" cy="1135856"/>
          </a:xfrm>
          <a:prstGeom prst="rect">
            <a:avLst/>
          </a:prstGeom>
          <a:solidFill>
            <a:srgbClr val="F4F6FC"/>
          </a:solidFill>
          <a:ln/>
        </p:spPr>
      </p:sp>
      <p:sp>
        <p:nvSpPr>
          <p:cNvPr id="25" name="Text 23"/>
          <p:cNvSpPr/>
          <p:nvPr/>
        </p:nvSpPr>
        <p:spPr>
          <a:xfrm>
            <a:off x="10872639" y="5090889"/>
            <a:ext cx="7088192"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428A0"/>
                </a:solidFill>
                <a:latin typeface="Arial" pitchFamily="34" charset="0"/>
                <a:ea typeface="Arial" pitchFamily="34" charset="-122"/>
                <a:cs typeface="Arial" pitchFamily="34" charset="-120"/>
              </a:rPr>
              <a:t>변곡 구간</a:t>
            </a:r>
            <a:endParaRPr lang="en-US" sz="2025" dirty="0"/>
          </a:p>
        </p:txBody>
      </p:sp>
      <p:sp>
        <p:nvSpPr>
          <p:cNvPr id="26" name="Text 24"/>
          <p:cNvSpPr/>
          <p:nvPr/>
        </p:nvSpPr>
        <p:spPr>
          <a:xfrm>
            <a:off x="10872639" y="5462364"/>
            <a:ext cx="7088192"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준비를 시작하는 값이 오르기 시작합니다.</a:t>
            </a:r>
            <a:endParaRPr lang="en-US" sz="1875" dirty="0"/>
          </a:p>
        </p:txBody>
      </p:sp>
      <p:sp>
        <p:nvSpPr>
          <p:cNvPr id="27" name="Shape 25"/>
          <p:cNvSpPr/>
          <p:nvPr/>
        </p:nvSpPr>
        <p:spPr>
          <a:xfrm>
            <a:off x="10624989" y="6150546"/>
            <a:ext cx="6939111" cy="1135856"/>
          </a:xfrm>
          <a:prstGeom prst="rect">
            <a:avLst/>
          </a:prstGeom>
          <a:solidFill>
            <a:srgbClr val="F7F7F7"/>
          </a:solidFill>
          <a:ln/>
        </p:spPr>
      </p:sp>
      <p:sp>
        <p:nvSpPr>
          <p:cNvPr id="28" name="Text 26"/>
          <p:cNvSpPr/>
          <p:nvPr/>
        </p:nvSpPr>
        <p:spPr>
          <a:xfrm>
            <a:off x="10872639" y="6360096"/>
            <a:ext cx="7088192"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555555"/>
                </a:solidFill>
                <a:latin typeface="Arial" pitchFamily="34" charset="0"/>
                <a:ea typeface="Arial" pitchFamily="34" charset="-122"/>
                <a:cs typeface="Arial" pitchFamily="34" charset="-120"/>
              </a:rPr>
              <a:t>하강 구간 · 창이 닫힘</a:t>
            </a:r>
            <a:endParaRPr lang="en-US" sz="2025" dirty="0"/>
          </a:p>
        </p:txBody>
      </p:sp>
      <p:sp>
        <p:nvSpPr>
          <p:cNvPr id="29" name="Text 27"/>
          <p:cNvSpPr/>
          <p:nvPr/>
        </p:nvSpPr>
        <p:spPr>
          <a:xfrm>
            <a:off x="10872639" y="6731571"/>
            <a:ext cx="7088192"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준비가 아니라 대응만 남고, 가장 나쁜 조건에서 협상하게 됩니다.</a:t>
            </a:r>
            <a:endParaRPr lang="en-US" sz="1875" dirty="0"/>
          </a:p>
        </p:txBody>
      </p:sp>
      <p:sp>
        <p:nvSpPr>
          <p:cNvPr id="30" name="Shape 28"/>
          <p:cNvSpPr/>
          <p:nvPr/>
        </p:nvSpPr>
        <p:spPr>
          <a:xfrm>
            <a:off x="10624989" y="8843963"/>
            <a:ext cx="6939111" cy="9525"/>
          </a:xfrm>
          <a:prstGeom prst="rect">
            <a:avLst/>
          </a:prstGeom>
          <a:solidFill>
            <a:srgbClr val="D9D9D9"/>
          </a:solidFill>
          <a:ln/>
        </p:spPr>
      </p:sp>
      <p:sp>
        <p:nvSpPr>
          <p:cNvPr id="31" name="Text 29"/>
          <p:cNvSpPr/>
          <p:nvPr/>
        </p:nvSpPr>
        <p:spPr>
          <a:xfrm>
            <a:off x="10624989" y="9043988"/>
            <a:ext cx="7147285"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다음 하강기의 준비 창은 2028년에서 2029년 사이로 예상됩니다. (예측)</a:t>
            </a:r>
            <a:endParaRPr lang="en-US" sz="1875" dirty="0"/>
          </a:p>
        </p:txBody>
      </p:sp>
      <p:sp>
        <p:nvSpPr>
          <p:cNvPr id="32" name="Text 30"/>
          <p:cNvSpPr/>
          <p:nvPr/>
        </p:nvSpPr>
        <p:spPr>
          <a:xfrm>
            <a:off x="723900" y="9591675"/>
            <a:ext cx="8374633"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빅테크 실적 발표 · 마이크론 2026 회계연도 3분기 · 기업용 SSD 리서치 1분기</a:t>
            </a:r>
            <a:endParaRPr lang="en-US" sz="1800" dirty="0"/>
          </a:p>
        </p:txBody>
      </p:sp>
      <p:sp>
        <p:nvSpPr>
          <p:cNvPr id="33" name="Text 31"/>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03 / 13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역사</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지난 세 번의 하강기를 지나며 시장의 규칙이 바뀌었습니다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2022년의 공식은 그대로 작동했습니다. 다만 게임이 이미 바뀌어 있었습니다.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28689"/>
            <a:ext cx="4010025" cy="57150"/>
          </a:xfrm>
          <a:prstGeom prst="rect">
            <a:avLst/>
          </a:prstGeom>
          <a:solidFill>
            <a:srgbClr val="AAB8E8"/>
          </a:solidFill>
          <a:ln/>
        </p:spPr>
      </p:sp>
      <p:sp>
        <p:nvSpPr>
          <p:cNvPr id="9" name="Text 7"/>
          <p:cNvSpPr/>
          <p:nvPr/>
        </p:nvSpPr>
        <p:spPr>
          <a:xfrm>
            <a:off x="723900" y="3014439"/>
            <a:ext cx="441102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1차 하강기 · 2007년에서 2009년</a:t>
            </a:r>
            <a:endParaRPr lang="en-US" sz="1875" dirty="0"/>
          </a:p>
        </p:txBody>
      </p:sp>
      <p:sp>
        <p:nvSpPr>
          <p:cNvPr id="10" name="Text 8"/>
          <p:cNvSpPr/>
          <p:nvPr/>
        </p:nvSpPr>
        <p:spPr>
          <a:xfrm>
            <a:off x="723900" y="3457352"/>
            <a:ext cx="4411028" cy="483840"/>
          </a:xfrm>
          <a:prstGeom prst="rect">
            <a:avLst/>
          </a:prstGeom>
          <a:noFill/>
          <a:ln/>
        </p:spPr>
        <p:txBody>
          <a:bodyPr wrap="square" lIns="25400" tIns="25400" rIns="25400" bIns="25400" rtlCol="0" anchor="t">
            <a:normAutofit/>
          </a:bodyPr>
          <a:lstStyle/>
          <a:p>
            <a:pPr algn="l" indent="0" marL="0">
              <a:lnSpc>
                <a:spcPct val="114146"/>
              </a:lnSpc>
              <a:buNone/>
            </a:pPr>
            <a:r>
              <a:rPr lang="en-US" sz="2700" b="1" dirty="0">
                <a:solidFill>
                  <a:srgbClr val="1A1A1A"/>
                </a:solidFill>
                <a:latin typeface="Arial" pitchFamily="34" charset="0"/>
                <a:ea typeface="Arial" pitchFamily="34" charset="-122"/>
                <a:cs typeface="Arial" pitchFamily="34" charset="-120"/>
              </a:rPr>
              <a:t>체력의 게임이었습니다</a:t>
            </a:r>
            <a:endParaRPr lang="en-US" sz="2700" dirty="0"/>
          </a:p>
        </p:txBody>
      </p:sp>
      <p:sp>
        <p:nvSpPr>
          <p:cNvPr id="11" name="Text 9"/>
          <p:cNvSpPr/>
          <p:nvPr/>
        </p:nvSpPr>
        <p:spPr>
          <a:xfrm>
            <a:off x="723900" y="4055492"/>
            <a:ext cx="4130326" cy="1514475"/>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여섯 개 회사가 비슷한 체력으로 맞선 구조였기에, 감산 없이 버티는 소모전이 통했습니다. 키몬다가 2009년 1월 퇴출되었습니다.</a:t>
            </a:r>
            <a:endParaRPr lang="en-US" sz="1875" dirty="0"/>
          </a:p>
        </p:txBody>
      </p:sp>
      <p:sp>
        <p:nvSpPr>
          <p:cNvPr id="12" name="Text 10"/>
          <p:cNvSpPr/>
          <p:nvPr/>
        </p:nvSpPr>
        <p:spPr>
          <a:xfrm>
            <a:off x="723900" y="8686800"/>
            <a:ext cx="4130326"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회복기에 점유율을 흡수하기 위해 투자를 5.5조 원에서 9조 원으로 늘렸습니다.</a:t>
            </a:r>
            <a:endParaRPr lang="en-US" sz="1875" dirty="0"/>
          </a:p>
        </p:txBody>
      </p:sp>
      <p:sp>
        <p:nvSpPr>
          <p:cNvPr id="13" name="Shape 11"/>
          <p:cNvSpPr/>
          <p:nvPr/>
        </p:nvSpPr>
        <p:spPr>
          <a:xfrm>
            <a:off x="5000625" y="2728689"/>
            <a:ext cx="4010025" cy="57150"/>
          </a:xfrm>
          <a:prstGeom prst="rect">
            <a:avLst/>
          </a:prstGeom>
          <a:solidFill>
            <a:srgbClr val="AAB8E8"/>
          </a:solidFill>
          <a:ln/>
        </p:spPr>
      </p:sp>
      <p:sp>
        <p:nvSpPr>
          <p:cNvPr id="14" name="Text 12"/>
          <p:cNvSpPr/>
          <p:nvPr/>
        </p:nvSpPr>
        <p:spPr>
          <a:xfrm>
            <a:off x="5000625" y="3014439"/>
            <a:ext cx="441102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2차 하강기 · 2010년에서 2013년</a:t>
            </a:r>
            <a:endParaRPr lang="en-US" sz="1875" dirty="0"/>
          </a:p>
        </p:txBody>
      </p:sp>
      <p:sp>
        <p:nvSpPr>
          <p:cNvPr id="15" name="Text 13"/>
          <p:cNvSpPr/>
          <p:nvPr/>
        </p:nvSpPr>
        <p:spPr>
          <a:xfrm>
            <a:off x="5000625" y="3457352"/>
            <a:ext cx="4411028" cy="483840"/>
          </a:xfrm>
          <a:prstGeom prst="rect">
            <a:avLst/>
          </a:prstGeom>
          <a:noFill/>
          <a:ln/>
        </p:spPr>
        <p:txBody>
          <a:bodyPr wrap="square" lIns="25400" tIns="25400" rIns="25400" bIns="25400" rtlCol="0" anchor="t">
            <a:normAutofit/>
          </a:bodyPr>
          <a:lstStyle/>
          <a:p>
            <a:pPr algn="l" indent="0" marL="0">
              <a:lnSpc>
                <a:spcPct val="114146"/>
              </a:lnSpc>
              <a:buNone/>
            </a:pPr>
            <a:r>
              <a:rPr lang="en-US" sz="2700" b="1" dirty="0">
                <a:solidFill>
                  <a:srgbClr val="1A1A1A"/>
                </a:solidFill>
                <a:latin typeface="Arial" pitchFamily="34" charset="0"/>
                <a:ea typeface="Arial" pitchFamily="34" charset="-122"/>
                <a:cs typeface="Arial" pitchFamily="34" charset="-120"/>
              </a:rPr>
              <a:t>기술 전환이 심판대였습니다</a:t>
            </a:r>
            <a:endParaRPr lang="en-US" sz="2700" dirty="0"/>
          </a:p>
        </p:txBody>
      </p:sp>
      <p:sp>
        <p:nvSpPr>
          <p:cNvPr id="16" name="Text 14"/>
          <p:cNvSpPr/>
          <p:nvPr/>
        </p:nvSpPr>
        <p:spPr>
          <a:xfrm>
            <a:off x="5000625" y="4055492"/>
            <a:ext cx="4130326" cy="1514475"/>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개인용 컴퓨터에서 모바일로 수요가 옮겨 가는 국면에서 전환에 실패한 엘피다가 탈락하고, 여섯 개 회사가 세 개로 줄었습니다.</a:t>
            </a:r>
            <a:endParaRPr lang="en-US" sz="1875" dirty="0"/>
          </a:p>
        </p:txBody>
      </p:sp>
      <p:sp>
        <p:nvSpPr>
          <p:cNvPr id="17" name="Text 15"/>
          <p:cNvSpPr/>
          <p:nvPr/>
        </p:nvSpPr>
        <p:spPr>
          <a:xfrm>
            <a:off x="5000625" y="8686800"/>
            <a:ext cx="4130326"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다만 엘피다 인수에 참여하지 않아 마이크론의 규모 확대를 허용했습니다.</a:t>
            </a:r>
            <a:endParaRPr lang="en-US" sz="1875" dirty="0"/>
          </a:p>
        </p:txBody>
      </p:sp>
      <p:sp>
        <p:nvSpPr>
          <p:cNvPr id="18" name="Shape 16"/>
          <p:cNvSpPr/>
          <p:nvPr/>
        </p:nvSpPr>
        <p:spPr>
          <a:xfrm>
            <a:off x="9277350" y="2728689"/>
            <a:ext cx="4010025" cy="57150"/>
          </a:xfrm>
          <a:prstGeom prst="rect">
            <a:avLst/>
          </a:prstGeom>
          <a:solidFill>
            <a:srgbClr val="1428A0"/>
          </a:solidFill>
          <a:ln/>
        </p:spPr>
      </p:sp>
      <p:sp>
        <p:nvSpPr>
          <p:cNvPr id="19" name="Text 17"/>
          <p:cNvSpPr/>
          <p:nvPr/>
        </p:nvSpPr>
        <p:spPr>
          <a:xfrm>
            <a:off x="9277350" y="3014439"/>
            <a:ext cx="441102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3차 하강기 · 2022년에서 2023년</a:t>
            </a:r>
            <a:endParaRPr lang="en-US" sz="1875" dirty="0"/>
          </a:p>
        </p:txBody>
      </p:sp>
      <p:sp>
        <p:nvSpPr>
          <p:cNvPr id="20" name="Text 18"/>
          <p:cNvSpPr/>
          <p:nvPr/>
        </p:nvSpPr>
        <p:spPr>
          <a:xfrm>
            <a:off x="9277350" y="3457352"/>
            <a:ext cx="4130326" cy="929580"/>
          </a:xfrm>
          <a:prstGeom prst="rect">
            <a:avLst/>
          </a:prstGeom>
          <a:noFill/>
          <a:ln/>
        </p:spPr>
        <p:txBody>
          <a:bodyPr wrap="square" lIns="25400" tIns="25400" rIns="25400" bIns="25400" rtlCol="0" anchor="t">
            <a:normAutofit/>
          </a:bodyPr>
          <a:lstStyle/>
          <a:p>
            <a:pPr algn="l" indent="0" marL="0">
              <a:lnSpc>
                <a:spcPct val="114146"/>
              </a:lnSpc>
              <a:buNone/>
            </a:pPr>
            <a:r>
              <a:rPr lang="en-US" sz="2700" b="1" dirty="0">
                <a:solidFill>
                  <a:srgbClr val="1A1A1A"/>
                </a:solidFill>
                <a:latin typeface="Arial" pitchFamily="34" charset="0"/>
                <a:ea typeface="Arial" pitchFamily="34" charset="-122"/>
                <a:cs typeface="Arial" pitchFamily="34" charset="-120"/>
              </a:rPr>
              <a:t>과거 공식을 다시 복제했습니다</a:t>
            </a:r>
            <a:endParaRPr lang="en-US" sz="2700" dirty="0"/>
          </a:p>
        </p:txBody>
      </p:sp>
      <p:sp>
        <p:nvSpPr>
          <p:cNvPr id="21" name="Text 19"/>
          <p:cNvSpPr/>
          <p:nvPr/>
        </p:nvSpPr>
        <p:spPr>
          <a:xfrm>
            <a:off x="9277350" y="4501232"/>
            <a:ext cx="4130326" cy="1514475"/>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2022년 10월 감산을 하지 않겠다고 선언했으나, 세 개 회사만 남은 구조에서는 퇴출시킬 상대가 없어 2023년 4월 스스로 철회했습니다.</a:t>
            </a:r>
            <a:endParaRPr lang="en-US" sz="1875" dirty="0"/>
          </a:p>
        </p:txBody>
      </p:sp>
      <p:sp>
        <p:nvSpPr>
          <p:cNvPr id="22" name="Text 20"/>
          <p:cNvSpPr/>
          <p:nvPr/>
        </p:nvSpPr>
        <p:spPr>
          <a:xfrm>
            <a:off x="9277350" y="8329613"/>
            <a:ext cx="413032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b="1" dirty="0">
                <a:solidFill>
                  <a:srgbClr val="1428A0"/>
                </a:solidFill>
                <a:latin typeface="Arial" pitchFamily="34" charset="0"/>
                <a:ea typeface="Arial" pitchFamily="34" charset="-122"/>
                <a:cs typeface="Arial" pitchFamily="34" charset="-120"/>
              </a:rPr>
              <a:t>범용 제품에서는 이겼고, 고대역폭 메모리라는 새 게임에서는 점유율이 40%에서 17%로 내려갔습니다.</a:t>
            </a:r>
            <a:endParaRPr lang="en-US" sz="1875" dirty="0"/>
          </a:p>
        </p:txBody>
      </p:sp>
      <p:sp>
        <p:nvSpPr>
          <p:cNvPr id="23" name="Shape 21"/>
          <p:cNvSpPr/>
          <p:nvPr/>
        </p:nvSpPr>
        <p:spPr>
          <a:xfrm>
            <a:off x="13554075" y="2728689"/>
            <a:ext cx="4010025" cy="57150"/>
          </a:xfrm>
          <a:prstGeom prst="rect">
            <a:avLst/>
          </a:prstGeom>
          <a:solidFill>
            <a:srgbClr val="555555"/>
          </a:solidFill>
          <a:ln/>
        </p:spPr>
      </p:sp>
      <p:sp>
        <p:nvSpPr>
          <p:cNvPr id="24" name="Text 22"/>
          <p:cNvSpPr/>
          <p:nvPr/>
        </p:nvSpPr>
        <p:spPr>
          <a:xfrm>
            <a:off x="13554075" y="3014439"/>
            <a:ext cx="441102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다음 하강기 · 2028년에서 2029년 (예측)</a:t>
            </a:r>
            <a:endParaRPr lang="en-US" sz="1875" dirty="0"/>
          </a:p>
        </p:txBody>
      </p:sp>
      <p:sp>
        <p:nvSpPr>
          <p:cNvPr id="25" name="Text 23"/>
          <p:cNvSpPr/>
          <p:nvPr/>
        </p:nvSpPr>
        <p:spPr>
          <a:xfrm>
            <a:off x="13554075" y="3457352"/>
            <a:ext cx="4411028" cy="483840"/>
          </a:xfrm>
          <a:prstGeom prst="rect">
            <a:avLst/>
          </a:prstGeom>
          <a:noFill/>
          <a:ln/>
        </p:spPr>
        <p:txBody>
          <a:bodyPr wrap="square" lIns="25400" tIns="25400" rIns="25400" bIns="25400" rtlCol="0" anchor="t">
            <a:normAutofit/>
          </a:bodyPr>
          <a:lstStyle/>
          <a:p>
            <a:pPr algn="l" indent="0" marL="0">
              <a:lnSpc>
                <a:spcPct val="114146"/>
              </a:lnSpc>
              <a:buNone/>
            </a:pPr>
            <a:r>
              <a:rPr lang="en-US" sz="2700" b="1" dirty="0">
                <a:solidFill>
                  <a:srgbClr val="1A1A1A"/>
                </a:solidFill>
                <a:latin typeface="Arial" pitchFamily="34" charset="0"/>
                <a:ea typeface="Arial" pitchFamily="34" charset="-122"/>
                <a:cs typeface="Arial" pitchFamily="34" charset="-120"/>
              </a:rPr>
              <a:t>새 게임의 규칙으로 옵니다</a:t>
            </a:r>
            <a:endParaRPr lang="en-US" sz="2700" dirty="0"/>
          </a:p>
        </p:txBody>
      </p:sp>
      <p:sp>
        <p:nvSpPr>
          <p:cNvPr id="26" name="Text 24"/>
          <p:cNvSpPr/>
          <p:nvPr/>
        </p:nvSpPr>
        <p:spPr>
          <a:xfrm>
            <a:off x="13554075" y="4055492"/>
            <a:ext cx="4130326" cy="1514475"/>
          </a:xfrm>
          <a:prstGeom prst="rect">
            <a:avLst/>
          </a:prstGeom>
          <a:noFill/>
          <a:ln/>
        </p:spPr>
        <p:txBody>
          <a:bodyPr wrap="square" lIns="25400" tIns="25400" rIns="25400" bIns="25400" rtlCol="0" anchor="t">
            <a:normAutofit/>
          </a:bodyPr>
          <a:lstStyle/>
          <a:p>
            <a:pPr algn="l" indent="0" marL="0">
              <a:lnSpc>
                <a:spcPct val="133621"/>
              </a:lnSpc>
              <a:buNone/>
            </a:pPr>
            <a:r>
              <a:rPr lang="en-US" sz="1875" dirty="0">
                <a:solidFill>
                  <a:srgbClr val="1A1A1A"/>
                </a:solidFill>
                <a:latin typeface="Arial" pitchFamily="34" charset="0"/>
                <a:ea typeface="Arial" pitchFamily="34" charset="-122"/>
                <a:cs typeface="Arial" pitchFamily="34" charset="-120"/>
              </a:rPr>
              <a:t>장기 계약이 매출의 바닥을 만들고, 고객 인증과 공동 설계가 물량 배분을 결정하며, 제품별 사이클이 서로 다른 시점에 움직입니다.</a:t>
            </a:r>
            <a:endParaRPr lang="en-US" sz="1875" dirty="0"/>
          </a:p>
        </p:txBody>
      </p:sp>
      <p:sp>
        <p:nvSpPr>
          <p:cNvPr id="27" name="Text 25"/>
          <p:cNvSpPr/>
          <p:nvPr/>
        </p:nvSpPr>
        <p:spPr>
          <a:xfrm>
            <a:off x="13554075" y="8686800"/>
            <a:ext cx="4130326"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필요한 것은 세 번째 복제가 아니라 새로운 공식입니다.</a:t>
            </a:r>
            <a:endParaRPr lang="en-US" sz="1875" dirty="0"/>
          </a:p>
        </p:txBody>
      </p:sp>
      <p:sp>
        <p:nvSpPr>
          <p:cNvPr id="28" name="Text 26"/>
          <p:cNvSpPr/>
          <p:nvPr/>
        </p:nvSpPr>
        <p:spPr>
          <a:xfrm>
            <a:off x="723900" y="9591675"/>
            <a:ext cx="704374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디램 가격 경쟁 사료 · 삼성 하강기 대응 기록 2007년에서 2023년</a:t>
            </a:r>
            <a:endParaRPr lang="en-US" sz="1800" dirty="0"/>
          </a:p>
        </p:txBody>
      </p:sp>
      <p:sp>
        <p:nvSpPr>
          <p:cNvPr id="29" name="Text 27"/>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04 / 13</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규칙 변화</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다가올 하강기의 규칙은 네 가지로 정리됩니다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네 가지 모두 이미 시장에서 관측되고 있는 변화입니다.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28689"/>
            <a:ext cx="8267700" cy="3183806"/>
          </a:xfrm>
          <a:prstGeom prst="rect">
            <a:avLst/>
          </a:prstGeom>
          <a:solidFill>
            <a:srgbClr val="F4F6FC"/>
          </a:solidFill>
          <a:ln/>
        </p:spPr>
      </p:sp>
      <p:sp>
        <p:nvSpPr>
          <p:cNvPr id="9" name="Text 7"/>
          <p:cNvSpPr/>
          <p:nvPr/>
        </p:nvSpPr>
        <p:spPr>
          <a:xfrm>
            <a:off x="1085850" y="3052539"/>
            <a:ext cx="8298180"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428A0"/>
                </a:solidFill>
                <a:latin typeface="Arial" pitchFamily="34" charset="0"/>
                <a:ea typeface="Arial" pitchFamily="34" charset="-122"/>
                <a:cs typeface="Arial" pitchFamily="34" charset="-120"/>
              </a:rPr>
              <a:t>첫째, 거래가 수주로 바뀌고 있습니다</a:t>
            </a:r>
            <a:endParaRPr lang="en-US" sz="2025" dirty="0"/>
          </a:p>
        </p:txBody>
      </p:sp>
      <p:sp>
        <p:nvSpPr>
          <p:cNvPr id="10" name="Text 8"/>
          <p:cNvSpPr/>
          <p:nvPr/>
        </p:nvSpPr>
        <p:spPr>
          <a:xfrm>
            <a:off x="1085850" y="3500214"/>
            <a:ext cx="7770114" cy="811411"/>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1A1A1A"/>
                </a:solidFill>
                <a:latin typeface="Arial" pitchFamily="34" charset="0"/>
                <a:ea typeface="Arial" pitchFamily="34" charset="-122"/>
                <a:cs typeface="Arial" pitchFamily="34" charset="-120"/>
              </a:rPr>
              <a:t>현물 거래에서 3년에서 5년 단위 고정가 장기 계약으로 이동하고 있습니다.</a:t>
            </a:r>
            <a:endParaRPr lang="en-US" sz="2175" dirty="0"/>
          </a:p>
        </p:txBody>
      </p:sp>
      <p:sp>
        <p:nvSpPr>
          <p:cNvPr id="11" name="Text 9"/>
          <p:cNvSpPr/>
          <p:nvPr/>
        </p:nvSpPr>
        <p:spPr>
          <a:xfrm>
            <a:off x="1085850" y="4406875"/>
            <a:ext cx="7770114"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선급금 비중이 5% 미만에서 10%에서 30% 수준으로 관행화되었고, 2027년 범용 디램 비트의 20%에서 30%가 고정가로 묶일 전망입니다.</a:t>
            </a:r>
            <a:endParaRPr lang="en-US" sz="1875" dirty="0"/>
          </a:p>
        </p:txBody>
      </p:sp>
      <p:sp>
        <p:nvSpPr>
          <p:cNvPr id="12" name="Shape 10"/>
          <p:cNvSpPr/>
          <p:nvPr/>
        </p:nvSpPr>
        <p:spPr>
          <a:xfrm>
            <a:off x="9296400" y="2728689"/>
            <a:ext cx="8267700" cy="3183806"/>
          </a:xfrm>
          <a:prstGeom prst="rect">
            <a:avLst/>
          </a:prstGeom>
          <a:solidFill>
            <a:srgbClr val="F4F6FC"/>
          </a:solidFill>
          <a:ln/>
        </p:spPr>
      </p:sp>
      <p:sp>
        <p:nvSpPr>
          <p:cNvPr id="13" name="Text 11"/>
          <p:cNvSpPr/>
          <p:nvPr/>
        </p:nvSpPr>
        <p:spPr>
          <a:xfrm>
            <a:off x="9658350" y="3052539"/>
            <a:ext cx="8298180"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428A0"/>
                </a:solidFill>
                <a:latin typeface="Arial" pitchFamily="34" charset="0"/>
                <a:ea typeface="Arial" pitchFamily="34" charset="-122"/>
                <a:cs typeface="Arial" pitchFamily="34" charset="-120"/>
              </a:rPr>
              <a:t>둘째, 배분 기준이 생산능력에서 인증으로 옮겨졌습니다</a:t>
            </a:r>
            <a:endParaRPr lang="en-US" sz="2025" dirty="0"/>
          </a:p>
        </p:txBody>
      </p:sp>
      <p:sp>
        <p:nvSpPr>
          <p:cNvPr id="14" name="Text 12"/>
          <p:cNvSpPr/>
          <p:nvPr/>
        </p:nvSpPr>
        <p:spPr>
          <a:xfrm>
            <a:off x="9658350" y="3500214"/>
            <a:ext cx="7770114" cy="811411"/>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1A1A1A"/>
                </a:solidFill>
                <a:latin typeface="Arial" pitchFamily="34" charset="0"/>
                <a:ea typeface="Arial" pitchFamily="34" charset="-122"/>
                <a:cs typeface="Arial" pitchFamily="34" charset="-120"/>
              </a:rPr>
              <a:t>웨이퍼 물량은 생산능력이 결정하지만, 고부가 제품의 배분은 고객 인증과 공동 설계가 결정합니다.</a:t>
            </a:r>
            <a:endParaRPr lang="en-US" sz="2175" dirty="0"/>
          </a:p>
        </p:txBody>
      </p:sp>
      <p:sp>
        <p:nvSpPr>
          <p:cNvPr id="15" name="Text 13"/>
          <p:cNvSpPr/>
          <p:nvPr/>
        </p:nvSpPr>
        <p:spPr>
          <a:xfrm>
            <a:off x="9658350" y="4406875"/>
            <a:ext cx="7770114"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마이크론과 앤트로픽의 계약은 물량, 가격, 인증, 공동 로드맵을 하나로 묶은 사례입니다.</a:t>
            </a:r>
            <a:endParaRPr lang="en-US" sz="1875" dirty="0"/>
          </a:p>
        </p:txBody>
      </p:sp>
      <p:sp>
        <p:nvSpPr>
          <p:cNvPr id="16" name="Shape 14"/>
          <p:cNvSpPr/>
          <p:nvPr/>
        </p:nvSpPr>
        <p:spPr>
          <a:xfrm>
            <a:off x="723900" y="6217295"/>
            <a:ext cx="8267700" cy="3183880"/>
          </a:xfrm>
          <a:prstGeom prst="rect">
            <a:avLst/>
          </a:prstGeom>
          <a:solidFill>
            <a:srgbClr val="FFFFFF"/>
          </a:solidFill>
          <a:ln w="9525">
            <a:solidFill>
              <a:srgbClr val="D9D9D9"/>
            </a:solidFill>
            <a:prstDash val="solid"/>
          </a:ln>
        </p:spPr>
      </p:sp>
      <p:sp>
        <p:nvSpPr>
          <p:cNvPr id="17" name="Text 15"/>
          <p:cNvSpPr/>
          <p:nvPr/>
        </p:nvSpPr>
        <p:spPr>
          <a:xfrm>
            <a:off x="1095375" y="6550670"/>
            <a:ext cx="8277225"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428A0"/>
                </a:solidFill>
                <a:latin typeface="Arial" pitchFamily="34" charset="0"/>
                <a:ea typeface="Arial" pitchFamily="34" charset="-122"/>
                <a:cs typeface="Arial" pitchFamily="34" charset="-120"/>
              </a:rPr>
              <a:t>셋째, 단일 사이클의 시대가 끝나 갑니다</a:t>
            </a:r>
            <a:endParaRPr lang="en-US" sz="2025" dirty="0"/>
          </a:p>
        </p:txBody>
      </p:sp>
      <p:sp>
        <p:nvSpPr>
          <p:cNvPr id="18" name="Text 16"/>
          <p:cNvSpPr/>
          <p:nvPr/>
        </p:nvSpPr>
        <p:spPr>
          <a:xfrm>
            <a:off x="1095375" y="6998345"/>
            <a:ext cx="8277225" cy="424755"/>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1A1A1A"/>
                </a:solidFill>
                <a:latin typeface="Arial" pitchFamily="34" charset="0"/>
                <a:ea typeface="Arial" pitchFamily="34" charset="-122"/>
                <a:cs typeface="Arial" pitchFamily="34" charset="-120"/>
              </a:rPr>
              <a:t>고대역폭 메모리, 범용 디램, 낸드가 각자의 사이클로 움직입니다.</a:t>
            </a:r>
            <a:endParaRPr lang="en-US" sz="2175" dirty="0"/>
          </a:p>
        </p:txBody>
      </p:sp>
      <p:sp>
        <p:nvSpPr>
          <p:cNvPr id="19" name="Text 17"/>
          <p:cNvSpPr/>
          <p:nvPr/>
        </p:nvSpPr>
        <p:spPr>
          <a:xfrm>
            <a:off x="1095375" y="7518350"/>
            <a:ext cx="7750492"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2023년부터 2026년 사이 매출 기준 제품 믹스가 이미 크게 뒤집혔습니다. 어느 믹스가 올지 미리 알 수 없다는 점이 전제입니다.</a:t>
            </a:r>
            <a:endParaRPr lang="en-US" sz="1875" dirty="0"/>
          </a:p>
        </p:txBody>
      </p:sp>
      <p:sp>
        <p:nvSpPr>
          <p:cNvPr id="20" name="Shape 18"/>
          <p:cNvSpPr/>
          <p:nvPr/>
        </p:nvSpPr>
        <p:spPr>
          <a:xfrm>
            <a:off x="9296400" y="6217295"/>
            <a:ext cx="8267700" cy="3183880"/>
          </a:xfrm>
          <a:prstGeom prst="rect">
            <a:avLst/>
          </a:prstGeom>
          <a:solidFill>
            <a:srgbClr val="FFFFFF"/>
          </a:solidFill>
          <a:ln w="9525">
            <a:solidFill>
              <a:srgbClr val="D9D9D9"/>
            </a:solidFill>
            <a:prstDash val="solid"/>
          </a:ln>
        </p:spPr>
      </p:sp>
      <p:sp>
        <p:nvSpPr>
          <p:cNvPr id="21" name="Text 19"/>
          <p:cNvSpPr/>
          <p:nvPr/>
        </p:nvSpPr>
        <p:spPr>
          <a:xfrm>
            <a:off x="9667875" y="6550670"/>
            <a:ext cx="8277225"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428A0"/>
                </a:solidFill>
                <a:latin typeface="Arial" pitchFamily="34" charset="0"/>
                <a:ea typeface="Arial" pitchFamily="34" charset="-122"/>
                <a:cs typeface="Arial" pitchFamily="34" charset="-120"/>
              </a:rPr>
              <a:t>넷째, 소수의 고객이 수요를 지배합니다</a:t>
            </a:r>
            <a:endParaRPr lang="en-US" sz="2025" dirty="0"/>
          </a:p>
        </p:txBody>
      </p:sp>
      <p:sp>
        <p:nvSpPr>
          <p:cNvPr id="22" name="Text 20"/>
          <p:cNvSpPr/>
          <p:nvPr/>
        </p:nvSpPr>
        <p:spPr>
          <a:xfrm>
            <a:off x="9667875" y="6998345"/>
            <a:ext cx="7750492" cy="811411"/>
          </a:xfrm>
          <a:prstGeom prst="rect">
            <a:avLst/>
          </a:prstGeom>
          <a:noFill/>
          <a:ln/>
        </p:spPr>
        <p:txBody>
          <a:bodyPr wrap="square" lIns="25400" tIns="25400" rIns="25400" bIns="25400" rtlCol="0" anchor="t">
            <a:normAutofit/>
          </a:bodyPr>
          <a:lstStyle/>
          <a:p>
            <a:pPr algn="l" indent="0" marL="0">
              <a:lnSpc>
                <a:spcPct val="121194"/>
              </a:lnSpc>
              <a:buNone/>
            </a:pPr>
            <a:r>
              <a:rPr lang="en-US" sz="2175" b="1" dirty="0">
                <a:solidFill>
                  <a:srgbClr val="1A1A1A"/>
                </a:solidFill>
                <a:latin typeface="Arial" pitchFamily="34" charset="0"/>
                <a:ea typeface="Arial" pitchFamily="34" charset="-122"/>
                <a:cs typeface="Arial" pitchFamily="34" charset="-120"/>
              </a:rPr>
              <a:t>대형 인공지능 인프라 프로젝트 한 건이 월 최대 90만 장 규모로 논의됩니다.</a:t>
            </a:r>
            <a:endParaRPr lang="en-US" sz="2175" dirty="0"/>
          </a:p>
        </p:txBody>
      </p:sp>
      <p:sp>
        <p:nvSpPr>
          <p:cNvPr id="23" name="Text 21"/>
          <p:cNvSpPr/>
          <p:nvPr/>
        </p:nvSpPr>
        <p:spPr>
          <a:xfrm>
            <a:off x="9667875" y="7905006"/>
            <a:ext cx="7750492"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전 세계 디램 웨이퍼 생산량의 약 40%에 해당하는 규모가 단일 의향서로 다루어지는 국면입니다.</a:t>
            </a:r>
            <a:endParaRPr lang="en-US" sz="1875" dirty="0"/>
          </a:p>
        </p:txBody>
      </p:sp>
      <p:sp>
        <p:nvSpPr>
          <p:cNvPr id="24" name="Text 22"/>
          <p:cNvSpPr/>
          <p:nvPr/>
        </p:nvSpPr>
        <p:spPr>
          <a:xfrm>
            <a:off x="723900" y="9591675"/>
            <a:ext cx="10490761"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장기 계약에서 전략적 공급 계약으로의 업계 동향 · 마이크론 계약 사례 · 대형 프로젝트 의향서 리서치</a:t>
            </a:r>
            <a:endParaRPr lang="en-US" sz="1800" dirty="0"/>
          </a:p>
        </p:txBody>
      </p:sp>
      <p:sp>
        <p:nvSpPr>
          <p:cNvPr id="25" name="Text 23"/>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05 / 13</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재감사</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과거 대응 중 네 가지는 통했고 두 가지는 부러졌습니다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통한 대응의 공통점은 하강기를 버티는 시간이 아니라 사용하는 시간으로 썼다는 점입니다.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3281139"/>
            <a:ext cx="16840200" cy="19050"/>
          </a:xfrm>
          <a:prstGeom prst="rect">
            <a:avLst/>
          </a:prstGeom>
          <a:solidFill>
            <a:srgbClr val="1428A0"/>
          </a:solidFill>
          <a:ln/>
        </p:spPr>
      </p:sp>
      <p:sp>
        <p:nvSpPr>
          <p:cNvPr id="9" name="Text 7"/>
          <p:cNvSpPr/>
          <p:nvPr/>
        </p:nvSpPr>
        <p:spPr>
          <a:xfrm>
            <a:off x="723900" y="2823939"/>
            <a:ext cx="7938916"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과거 하강기의 대응</a:t>
            </a:r>
            <a:endParaRPr lang="en-US" sz="1950" dirty="0"/>
          </a:p>
        </p:txBody>
      </p:sp>
      <p:sp>
        <p:nvSpPr>
          <p:cNvPr id="10" name="Text 8"/>
          <p:cNvSpPr/>
          <p:nvPr/>
        </p:nvSpPr>
        <p:spPr>
          <a:xfrm>
            <a:off x="7820810" y="2823939"/>
            <a:ext cx="2646305" cy="342900"/>
          </a:xfrm>
          <a:prstGeom prst="rect">
            <a:avLst/>
          </a:prstGeom>
          <a:noFill/>
          <a:ln/>
        </p:spPr>
        <p:txBody>
          <a:bodyPr wrap="square" lIns="25400" tIns="25400" rIns="25400" bIns="25400" rtlCol="0" anchor="t">
            <a:normAutofit/>
          </a:bodyPr>
          <a:lstStyle/>
          <a:p>
            <a:pPr algn="ctr" indent="0" marL="0">
              <a:buNone/>
            </a:pPr>
            <a:r>
              <a:rPr lang="en-US" sz="1950" b="1" dirty="0">
                <a:solidFill>
                  <a:srgbClr val="1428A0"/>
                </a:solidFill>
                <a:latin typeface="Arial" pitchFamily="34" charset="0"/>
                <a:ea typeface="Arial" pitchFamily="34" charset="-122"/>
                <a:cs typeface="Arial" pitchFamily="34" charset="-120"/>
              </a:rPr>
              <a:t>판정</a:t>
            </a:r>
            <a:endParaRPr lang="en-US" sz="1950" dirty="0"/>
          </a:p>
        </p:txBody>
      </p:sp>
      <p:sp>
        <p:nvSpPr>
          <p:cNvPr id="11" name="Text 9"/>
          <p:cNvSpPr/>
          <p:nvPr/>
        </p:nvSpPr>
        <p:spPr>
          <a:xfrm>
            <a:off x="10346829" y="2823939"/>
            <a:ext cx="7938998"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지금 조건에서도 성립하는가</a:t>
            </a:r>
            <a:endParaRPr lang="en-US" sz="1950" dirty="0"/>
          </a:p>
        </p:txBody>
      </p:sp>
      <p:sp>
        <p:nvSpPr>
          <p:cNvPr id="12" name="Shape 10"/>
          <p:cNvSpPr/>
          <p:nvPr/>
        </p:nvSpPr>
        <p:spPr>
          <a:xfrm>
            <a:off x="723900" y="4414614"/>
            <a:ext cx="16840200" cy="9525"/>
          </a:xfrm>
          <a:prstGeom prst="rect">
            <a:avLst/>
          </a:prstGeom>
          <a:solidFill>
            <a:srgbClr val="D9D9D9"/>
          </a:solidFill>
          <a:ln/>
        </p:spPr>
      </p:sp>
      <p:sp>
        <p:nvSpPr>
          <p:cNvPr id="13" name="Text 11"/>
          <p:cNvSpPr/>
          <p:nvPr/>
        </p:nvSpPr>
        <p:spPr>
          <a:xfrm>
            <a:off x="723900" y="3528789"/>
            <a:ext cx="7433713" cy="695325"/>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위기 국면에서 사업부를 통합해 조직을 재편했습니다 (2008년에서 2009년)</a:t>
            </a:r>
            <a:endParaRPr lang="en-US" sz="2100" dirty="0"/>
          </a:p>
        </p:txBody>
      </p:sp>
      <p:sp>
        <p:nvSpPr>
          <p:cNvPr id="14" name="Text 12"/>
          <p:cNvSpPr/>
          <p:nvPr/>
        </p:nvSpPr>
        <p:spPr>
          <a:xfrm>
            <a:off x="7820810" y="3659758"/>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00A651"/>
                </a:solidFill>
                <a:latin typeface="Arial" pitchFamily="34" charset="0"/>
                <a:ea typeface="Arial" pitchFamily="34" charset="-122"/>
                <a:cs typeface="Arial" pitchFamily="34" charset="-120"/>
              </a:rPr>
              <a:t>통함</a:t>
            </a:r>
            <a:endParaRPr lang="en-US" sz="2550" dirty="0"/>
          </a:p>
        </p:txBody>
      </p:sp>
      <p:sp>
        <p:nvSpPr>
          <p:cNvPr id="15" name="Text 13"/>
          <p:cNvSpPr/>
          <p:nvPr/>
        </p:nvSpPr>
        <p:spPr>
          <a:xfrm>
            <a:off x="10346829" y="3693096"/>
            <a:ext cx="7938998" cy="366713"/>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성립합니다. 시장 조건과 거의 무관하게 유효한 대응입니다.</a:t>
            </a:r>
            <a:endParaRPr lang="en-US" sz="2100" dirty="0"/>
          </a:p>
        </p:txBody>
      </p:sp>
      <p:sp>
        <p:nvSpPr>
          <p:cNvPr id="16" name="Shape 14"/>
          <p:cNvSpPr/>
          <p:nvPr/>
        </p:nvSpPr>
        <p:spPr>
          <a:xfrm>
            <a:off x="723900" y="5538564"/>
            <a:ext cx="16840200" cy="9525"/>
          </a:xfrm>
          <a:prstGeom prst="rect">
            <a:avLst/>
          </a:prstGeom>
          <a:solidFill>
            <a:srgbClr val="D9D9D9"/>
          </a:solidFill>
          <a:ln/>
        </p:spPr>
      </p:sp>
      <p:sp>
        <p:nvSpPr>
          <p:cNvPr id="17" name="Text 15"/>
          <p:cNvSpPr/>
          <p:nvPr/>
        </p:nvSpPr>
        <p:spPr>
          <a:xfrm>
            <a:off x="723900" y="4652739"/>
            <a:ext cx="7433713" cy="695325"/>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경쟁사 퇴출을 확인한 직후 역사이클로 증설했습니다 (5.5조 원에서 9조 원)</a:t>
            </a:r>
            <a:endParaRPr lang="en-US" sz="2100" dirty="0"/>
          </a:p>
        </p:txBody>
      </p:sp>
      <p:sp>
        <p:nvSpPr>
          <p:cNvPr id="18" name="Text 16"/>
          <p:cNvSpPr/>
          <p:nvPr/>
        </p:nvSpPr>
        <p:spPr>
          <a:xfrm>
            <a:off x="7820810" y="4783708"/>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00A651"/>
                </a:solidFill>
                <a:latin typeface="Arial" pitchFamily="34" charset="0"/>
                <a:ea typeface="Arial" pitchFamily="34" charset="-122"/>
                <a:cs typeface="Arial" pitchFamily="34" charset="-120"/>
              </a:rPr>
              <a:t>통함</a:t>
            </a:r>
            <a:endParaRPr lang="en-US" sz="2550" dirty="0"/>
          </a:p>
        </p:txBody>
      </p:sp>
      <p:sp>
        <p:nvSpPr>
          <p:cNvPr id="19" name="Text 17"/>
          <p:cNvSpPr/>
          <p:nvPr/>
        </p:nvSpPr>
        <p:spPr>
          <a:xfrm>
            <a:off x="10346829" y="4652739"/>
            <a:ext cx="7433789" cy="695325"/>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절반만 성립합니다. 지금 사야 할 대상은 생산능력이 아니라 기술 자산과 인재입니다.</a:t>
            </a:r>
            <a:endParaRPr lang="en-US" sz="2100" dirty="0"/>
          </a:p>
        </p:txBody>
      </p:sp>
      <p:sp>
        <p:nvSpPr>
          <p:cNvPr id="20" name="Shape 18"/>
          <p:cNvSpPr/>
          <p:nvPr/>
        </p:nvSpPr>
        <p:spPr>
          <a:xfrm>
            <a:off x="723900" y="6400577"/>
            <a:ext cx="16840200" cy="9525"/>
          </a:xfrm>
          <a:prstGeom prst="rect">
            <a:avLst/>
          </a:prstGeom>
          <a:solidFill>
            <a:srgbClr val="D9D9D9"/>
          </a:solidFill>
          <a:ln/>
        </p:spPr>
      </p:sp>
      <p:sp>
        <p:nvSpPr>
          <p:cNvPr id="21" name="Text 19"/>
          <p:cNvSpPr/>
          <p:nvPr/>
        </p:nvSpPr>
        <p:spPr>
          <a:xfrm>
            <a:off x="723900" y="5810027"/>
            <a:ext cx="7938916" cy="366713"/>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현금 약 630억 달러 규모의 재무 체력을 유지했습니다</a:t>
            </a:r>
            <a:endParaRPr lang="en-US" sz="2100" dirty="0"/>
          </a:p>
        </p:txBody>
      </p:sp>
      <p:sp>
        <p:nvSpPr>
          <p:cNvPr id="22" name="Text 20"/>
          <p:cNvSpPr/>
          <p:nvPr/>
        </p:nvSpPr>
        <p:spPr>
          <a:xfrm>
            <a:off x="7820810" y="5776689"/>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00A651"/>
                </a:solidFill>
                <a:latin typeface="Arial" pitchFamily="34" charset="0"/>
                <a:ea typeface="Arial" pitchFamily="34" charset="-122"/>
                <a:cs typeface="Arial" pitchFamily="34" charset="-120"/>
              </a:rPr>
              <a:t>통함</a:t>
            </a:r>
            <a:endParaRPr lang="en-US" sz="2550" dirty="0"/>
          </a:p>
        </p:txBody>
      </p:sp>
      <p:sp>
        <p:nvSpPr>
          <p:cNvPr id="23" name="Text 21"/>
          <p:cNvSpPr/>
          <p:nvPr/>
        </p:nvSpPr>
        <p:spPr>
          <a:xfrm>
            <a:off x="10346829" y="5810027"/>
            <a:ext cx="7938998" cy="366713"/>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성립합니다. 모든 대응의 밑돌에 해당합니다.</a:t>
            </a:r>
            <a:endParaRPr lang="en-US" sz="2100" dirty="0"/>
          </a:p>
        </p:txBody>
      </p:sp>
      <p:sp>
        <p:nvSpPr>
          <p:cNvPr id="24" name="Shape 22"/>
          <p:cNvSpPr/>
          <p:nvPr/>
        </p:nvSpPr>
        <p:spPr>
          <a:xfrm>
            <a:off x="723900" y="7262589"/>
            <a:ext cx="16840200" cy="9525"/>
          </a:xfrm>
          <a:prstGeom prst="rect">
            <a:avLst/>
          </a:prstGeom>
          <a:solidFill>
            <a:srgbClr val="D9D9D9"/>
          </a:solidFill>
          <a:ln/>
        </p:spPr>
      </p:sp>
      <p:sp>
        <p:nvSpPr>
          <p:cNvPr id="25" name="Text 23"/>
          <p:cNvSpPr/>
          <p:nvPr/>
        </p:nvSpPr>
        <p:spPr>
          <a:xfrm>
            <a:off x="723900" y="6672039"/>
            <a:ext cx="7938916" cy="366713"/>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하강기 한복판에 신규 팹을 착공했습니다 (테일러)</a:t>
            </a:r>
            <a:endParaRPr lang="en-US" sz="2100" dirty="0"/>
          </a:p>
        </p:txBody>
      </p:sp>
      <p:sp>
        <p:nvSpPr>
          <p:cNvPr id="26" name="Text 24"/>
          <p:cNvSpPr/>
          <p:nvPr/>
        </p:nvSpPr>
        <p:spPr>
          <a:xfrm>
            <a:off x="7820810" y="6638702"/>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00A651"/>
                </a:solidFill>
                <a:latin typeface="Arial" pitchFamily="34" charset="0"/>
                <a:ea typeface="Arial" pitchFamily="34" charset="-122"/>
                <a:cs typeface="Arial" pitchFamily="34" charset="-120"/>
              </a:rPr>
              <a:t>통함</a:t>
            </a:r>
            <a:endParaRPr lang="en-US" sz="2550" dirty="0"/>
          </a:p>
        </p:txBody>
      </p:sp>
      <p:sp>
        <p:nvSpPr>
          <p:cNvPr id="27" name="Text 25"/>
          <p:cNvSpPr/>
          <p:nvPr/>
        </p:nvSpPr>
        <p:spPr>
          <a:xfrm>
            <a:off x="10346829" y="6672039"/>
            <a:ext cx="7938998" cy="366713"/>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성립합니다. 다만 장비 반입은 수요를 확인한 다음에 진행해야 합니다.</a:t>
            </a:r>
            <a:endParaRPr lang="en-US" sz="2100" dirty="0"/>
          </a:p>
        </p:txBody>
      </p:sp>
      <p:sp>
        <p:nvSpPr>
          <p:cNvPr id="28" name="Shape 26"/>
          <p:cNvSpPr/>
          <p:nvPr/>
        </p:nvSpPr>
        <p:spPr>
          <a:xfrm>
            <a:off x="723900" y="8124602"/>
            <a:ext cx="16840200" cy="9525"/>
          </a:xfrm>
          <a:prstGeom prst="rect">
            <a:avLst/>
          </a:prstGeom>
          <a:solidFill>
            <a:srgbClr val="D9D9D9"/>
          </a:solidFill>
          <a:ln/>
        </p:spPr>
      </p:sp>
      <p:sp>
        <p:nvSpPr>
          <p:cNvPr id="29" name="Text 27"/>
          <p:cNvSpPr/>
          <p:nvPr/>
        </p:nvSpPr>
        <p:spPr>
          <a:xfrm>
            <a:off x="723900" y="7534052"/>
            <a:ext cx="7938916" cy="366713"/>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감산을 하지 않겠다고 선언했고, 이후 스스로 철회했습니다</a:t>
            </a:r>
            <a:endParaRPr lang="en-US" sz="2100" dirty="0"/>
          </a:p>
        </p:txBody>
      </p:sp>
      <p:sp>
        <p:nvSpPr>
          <p:cNvPr id="30" name="Text 28"/>
          <p:cNvSpPr/>
          <p:nvPr/>
        </p:nvSpPr>
        <p:spPr>
          <a:xfrm>
            <a:off x="7820810" y="7500714"/>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D93025"/>
                </a:solidFill>
                <a:latin typeface="Arial" pitchFamily="34" charset="0"/>
                <a:ea typeface="Arial" pitchFamily="34" charset="-122"/>
                <a:cs typeface="Arial" pitchFamily="34" charset="-120"/>
              </a:rPr>
              <a:t>부러짐</a:t>
            </a:r>
            <a:endParaRPr lang="en-US" sz="2550" dirty="0"/>
          </a:p>
        </p:txBody>
      </p:sp>
      <p:sp>
        <p:nvSpPr>
          <p:cNvPr id="31" name="Text 29"/>
          <p:cNvSpPr/>
          <p:nvPr/>
        </p:nvSpPr>
        <p:spPr>
          <a:xfrm>
            <a:off x="10346829" y="7534052"/>
            <a:ext cx="7938998" cy="366713"/>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성립하지 않습니다. 세 개 회사만 남은 균형에서는 자해에 가깝습니다.</a:t>
            </a:r>
            <a:endParaRPr lang="en-US" sz="2100" dirty="0"/>
          </a:p>
        </p:txBody>
      </p:sp>
      <p:sp>
        <p:nvSpPr>
          <p:cNvPr id="32" name="Text 30"/>
          <p:cNvSpPr/>
          <p:nvPr/>
        </p:nvSpPr>
        <p:spPr>
          <a:xfrm>
            <a:off x="723900" y="8362727"/>
            <a:ext cx="7433713" cy="695325"/>
          </a:xfrm>
          <a:prstGeom prst="rect">
            <a:avLst/>
          </a:prstGeom>
          <a:noFill/>
          <a:ln/>
        </p:spPr>
        <p:txBody>
          <a:bodyPr wrap="square" lIns="25400" tIns="25400" rIns="25400" bIns="25400" rtlCol="0" anchor="t">
            <a:normAutofit/>
          </a:bodyPr>
          <a:lstStyle/>
          <a:p>
            <a:pPr algn="l" indent="0" marL="0">
              <a:buNone/>
            </a:pPr>
            <a:r>
              <a:rPr lang="en-US" sz="2100" dirty="0">
                <a:solidFill>
                  <a:srgbClr val="1A1A1A"/>
                </a:solidFill>
                <a:latin typeface="Arial" pitchFamily="34" charset="0"/>
                <a:ea typeface="Arial" pitchFamily="34" charset="-122"/>
                <a:cs typeface="Arial" pitchFamily="34" charset="-120"/>
              </a:rPr>
              <a:t>범용 제품 생산능력을 우선하고 고대역폭 메모리를 후순위에 두었습니다</a:t>
            </a:r>
            <a:endParaRPr lang="en-US" sz="2100" dirty="0"/>
          </a:p>
        </p:txBody>
      </p:sp>
      <p:sp>
        <p:nvSpPr>
          <p:cNvPr id="33" name="Text 31"/>
          <p:cNvSpPr/>
          <p:nvPr/>
        </p:nvSpPr>
        <p:spPr>
          <a:xfrm>
            <a:off x="7820810" y="8493696"/>
            <a:ext cx="2646305" cy="433388"/>
          </a:xfrm>
          <a:prstGeom prst="rect">
            <a:avLst/>
          </a:prstGeom>
          <a:noFill/>
          <a:ln/>
        </p:spPr>
        <p:txBody>
          <a:bodyPr wrap="square" lIns="25400" tIns="25400" rIns="25400" bIns="25400" rtlCol="0" anchor="t">
            <a:normAutofit/>
          </a:bodyPr>
          <a:lstStyle/>
          <a:p>
            <a:pPr algn="ctr" indent="0" marL="0">
              <a:buNone/>
            </a:pPr>
            <a:r>
              <a:rPr lang="en-US" sz="2550" b="1" dirty="0">
                <a:solidFill>
                  <a:srgbClr val="D93025"/>
                </a:solidFill>
                <a:latin typeface="Arial" pitchFamily="34" charset="0"/>
                <a:ea typeface="Arial" pitchFamily="34" charset="-122"/>
                <a:cs typeface="Arial" pitchFamily="34" charset="-120"/>
              </a:rPr>
              <a:t>부러짐</a:t>
            </a:r>
            <a:endParaRPr lang="en-US" sz="2550" dirty="0"/>
          </a:p>
        </p:txBody>
      </p:sp>
      <p:sp>
        <p:nvSpPr>
          <p:cNvPr id="34" name="Text 32"/>
          <p:cNvSpPr/>
          <p:nvPr/>
        </p:nvSpPr>
        <p:spPr>
          <a:xfrm>
            <a:off x="10346829" y="8362727"/>
            <a:ext cx="7433789" cy="695325"/>
          </a:xfrm>
          <a:prstGeom prst="rect">
            <a:avLst/>
          </a:prstGeom>
          <a:noFill/>
          <a:ln/>
        </p:spPr>
        <p:txBody>
          <a:bodyPr wrap="square" lIns="25400" tIns="25400" rIns="25400" bIns="25400" rtlCol="0" anchor="t">
            <a:normAutofit/>
          </a:bodyPr>
          <a:lstStyle/>
          <a:p>
            <a:pPr algn="l" indent="0" marL="0">
              <a:buNone/>
            </a:pPr>
            <a:r>
              <a:rPr lang="en-US" sz="2100" dirty="0">
                <a:solidFill>
                  <a:srgbClr val="555555"/>
                </a:solidFill>
                <a:latin typeface="Arial" pitchFamily="34" charset="0"/>
                <a:ea typeface="Arial" pitchFamily="34" charset="-122"/>
                <a:cs typeface="Arial" pitchFamily="34" charset="-120"/>
              </a:rPr>
              <a:t>재발 위험이 있습니다. 작은 시장이 하강기 중에 성장하는 시장일 수 있습니다.</a:t>
            </a:r>
            <a:endParaRPr lang="en-US" sz="2100" dirty="0"/>
          </a:p>
        </p:txBody>
      </p:sp>
      <p:sp>
        <p:nvSpPr>
          <p:cNvPr id="35" name="Text 33"/>
          <p:cNvSpPr/>
          <p:nvPr/>
        </p:nvSpPr>
        <p:spPr>
          <a:xfrm>
            <a:off x="723900" y="9591675"/>
            <a:ext cx="4831437"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하강기 대응 재감사, 세 개 하강기 사료 종합</a:t>
            </a:r>
            <a:endParaRPr lang="en-US" sz="1800" dirty="0"/>
          </a:p>
        </p:txBody>
      </p:sp>
      <p:sp>
        <p:nvSpPr>
          <p:cNvPr id="36" name="Text 34"/>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06 / 13</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자연 실험 · 디램과 낸드</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디램에서는 배분의 방향이, 낸드에서는 대응의 방식이 갈렸습니다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같은 하강기를 지나며 우리는 인증으로 결정되는 점유율을 잃었고, 낸드 진영의 경쟁사들은 저마다 다른 방식으로 그 구간을 통과했습니다.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3171602"/>
            <a:ext cx="7549083" cy="19050"/>
          </a:xfrm>
          <a:prstGeom prst="rect">
            <a:avLst/>
          </a:prstGeom>
          <a:solidFill>
            <a:srgbClr val="1428A0"/>
          </a:solidFill>
          <a:ln/>
        </p:spPr>
      </p:sp>
      <p:sp>
        <p:nvSpPr>
          <p:cNvPr id="9" name="Text 7"/>
          <p:cNvSpPr/>
          <p:nvPr/>
        </p:nvSpPr>
        <p:spPr>
          <a:xfrm>
            <a:off x="723900" y="2728689"/>
            <a:ext cx="537642"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428A0"/>
                </a:solidFill>
                <a:latin typeface="Arial" pitchFamily="34" charset="0"/>
                <a:ea typeface="Arial" pitchFamily="34" charset="-122"/>
                <a:cs typeface="Arial" pitchFamily="34" charset="-120"/>
              </a:rPr>
              <a:t>디램</a:t>
            </a:r>
            <a:endParaRPr lang="en-US" sz="2100" dirty="0"/>
          </a:p>
        </p:txBody>
      </p:sp>
      <p:sp>
        <p:nvSpPr>
          <p:cNvPr id="10" name="Text 8"/>
          <p:cNvSpPr/>
          <p:nvPr/>
        </p:nvSpPr>
        <p:spPr>
          <a:xfrm>
            <a:off x="1337742" y="2740596"/>
            <a:ext cx="2036564"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우리에게 일어난 일</a:t>
            </a:r>
            <a:endParaRPr lang="en-US" sz="1950" dirty="0"/>
          </a:p>
        </p:txBody>
      </p:sp>
      <p:sp>
        <p:nvSpPr>
          <p:cNvPr id="11" name="Text 9"/>
          <p:cNvSpPr/>
          <p:nvPr/>
        </p:nvSpPr>
        <p:spPr>
          <a:xfrm>
            <a:off x="723900" y="3476402"/>
            <a:ext cx="830399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고대역폭 메모리 점유율, 유출된 점유율</a:t>
            </a:r>
            <a:endParaRPr lang="en-US" sz="1950" dirty="0"/>
          </a:p>
        </p:txBody>
      </p:sp>
      <p:sp>
        <p:nvSpPr>
          <p:cNvPr id="12" name="Text 10"/>
          <p:cNvSpPr/>
          <p:nvPr/>
        </p:nvSpPr>
        <p:spPr>
          <a:xfrm>
            <a:off x="723900" y="3876452"/>
            <a:ext cx="1426004" cy="685800"/>
          </a:xfrm>
          <a:prstGeom prst="rect">
            <a:avLst/>
          </a:prstGeom>
          <a:noFill/>
          <a:ln/>
        </p:spPr>
        <p:txBody>
          <a:bodyPr wrap="square" lIns="25400" tIns="25400" rIns="25400" bIns="25400" rtlCol="0" anchor="t">
            <a:normAutofit/>
          </a:bodyPr>
          <a:lstStyle/>
          <a:p>
            <a:pPr algn="l" indent="0" marL="0">
              <a:lnSpc>
                <a:spcPct val="87179"/>
              </a:lnSpc>
              <a:buNone/>
            </a:pPr>
            <a:r>
              <a:rPr lang="en-US" sz="5100" b="1" dirty="0">
                <a:solidFill>
                  <a:srgbClr val="555555"/>
                </a:solidFill>
                <a:latin typeface="Arial" pitchFamily="34" charset="0"/>
                <a:ea typeface="Arial" pitchFamily="34" charset="-122"/>
                <a:cs typeface="Arial" pitchFamily="34" charset="-120"/>
              </a:rPr>
              <a:t>40%</a:t>
            </a:r>
            <a:endParaRPr lang="en-US" sz="5100" dirty="0"/>
          </a:p>
        </p:txBody>
      </p:sp>
      <p:sp>
        <p:nvSpPr>
          <p:cNvPr id="13" name="Text 11"/>
          <p:cNvSpPr/>
          <p:nvPr/>
        </p:nvSpPr>
        <p:spPr>
          <a:xfrm>
            <a:off x="2229817" y="4124102"/>
            <a:ext cx="1076771" cy="433388"/>
          </a:xfrm>
          <a:prstGeom prst="rect">
            <a:avLst/>
          </a:prstGeom>
          <a:noFill/>
          <a:ln/>
        </p:spPr>
        <p:txBody>
          <a:bodyPr wrap="square" lIns="25400" tIns="25400" rIns="25400" bIns="25400" rtlCol="0" anchor="t">
            <a:normAutofit/>
          </a:bodyPr>
          <a:lstStyle/>
          <a:p>
            <a:pPr algn="l" indent="0" marL="0">
              <a:buNone/>
            </a:pPr>
            <a:r>
              <a:rPr lang="en-US" sz="2550" dirty="0">
                <a:solidFill>
                  <a:srgbClr val="555555"/>
                </a:solidFill>
                <a:latin typeface="Arial" pitchFamily="34" charset="0"/>
                <a:ea typeface="Arial" pitchFamily="34" charset="-122"/>
                <a:cs typeface="Arial" pitchFamily="34" charset="-120"/>
              </a:rPr>
              <a:t>2023년</a:t>
            </a:r>
            <a:endParaRPr lang="en-US" sz="2550" dirty="0"/>
          </a:p>
        </p:txBody>
      </p:sp>
      <p:sp>
        <p:nvSpPr>
          <p:cNvPr id="14" name="Text 12"/>
          <p:cNvSpPr/>
          <p:nvPr/>
        </p:nvSpPr>
        <p:spPr>
          <a:xfrm>
            <a:off x="3439939" y="4090764"/>
            <a:ext cx="438150" cy="452438"/>
          </a:xfrm>
          <a:prstGeom prst="rect">
            <a:avLst/>
          </a:prstGeom>
          <a:noFill/>
          <a:ln/>
        </p:spPr>
        <p:txBody>
          <a:bodyPr wrap="square" lIns="25400" tIns="25400" rIns="25400" bIns="25400" rtlCol="0" anchor="t">
            <a:normAutofit/>
          </a:bodyPr>
          <a:lstStyle/>
          <a:p>
            <a:pPr algn="l" indent="0" marL="0">
              <a:buNone/>
            </a:pPr>
            <a:r>
              <a:rPr lang="en-US" sz="2850" dirty="0">
                <a:solidFill>
                  <a:srgbClr val="D9D9D9"/>
                </a:solidFill>
                <a:latin typeface="Arial" pitchFamily="34" charset="0"/>
                <a:ea typeface="Arial" pitchFamily="34" charset="-122"/>
                <a:cs typeface="Arial" pitchFamily="34" charset="-120"/>
              </a:rPr>
              <a:t>→</a:t>
            </a:r>
            <a:endParaRPr lang="en-US" sz="2850" dirty="0"/>
          </a:p>
        </p:txBody>
      </p:sp>
      <p:sp>
        <p:nvSpPr>
          <p:cNvPr id="15" name="Text 13"/>
          <p:cNvSpPr/>
          <p:nvPr/>
        </p:nvSpPr>
        <p:spPr>
          <a:xfrm>
            <a:off x="4011439" y="3876452"/>
            <a:ext cx="1426004" cy="685800"/>
          </a:xfrm>
          <a:prstGeom prst="rect">
            <a:avLst/>
          </a:prstGeom>
          <a:noFill/>
          <a:ln/>
        </p:spPr>
        <p:txBody>
          <a:bodyPr wrap="square" lIns="25400" tIns="25400" rIns="25400" bIns="25400" rtlCol="0" anchor="t">
            <a:normAutofit/>
          </a:bodyPr>
          <a:lstStyle/>
          <a:p>
            <a:pPr algn="l" indent="0" marL="0">
              <a:lnSpc>
                <a:spcPct val="87179"/>
              </a:lnSpc>
              <a:buNone/>
            </a:pPr>
            <a:r>
              <a:rPr lang="en-US" sz="5100" b="1" dirty="0">
                <a:solidFill>
                  <a:srgbClr val="D93025"/>
                </a:solidFill>
                <a:latin typeface="Arial" pitchFamily="34" charset="0"/>
                <a:ea typeface="Arial" pitchFamily="34" charset="-122"/>
                <a:cs typeface="Arial" pitchFamily="34" charset="-120"/>
              </a:rPr>
              <a:t>17%</a:t>
            </a:r>
            <a:endParaRPr lang="en-US" sz="5100" dirty="0"/>
          </a:p>
        </p:txBody>
      </p:sp>
      <p:sp>
        <p:nvSpPr>
          <p:cNvPr id="16" name="Text 14"/>
          <p:cNvSpPr/>
          <p:nvPr/>
        </p:nvSpPr>
        <p:spPr>
          <a:xfrm>
            <a:off x="5517356" y="4124102"/>
            <a:ext cx="2124068" cy="433388"/>
          </a:xfrm>
          <a:prstGeom prst="rect">
            <a:avLst/>
          </a:prstGeom>
          <a:noFill/>
          <a:ln/>
        </p:spPr>
        <p:txBody>
          <a:bodyPr wrap="square" lIns="25400" tIns="25400" rIns="25400" bIns="25400" rtlCol="0" anchor="t">
            <a:normAutofit/>
          </a:bodyPr>
          <a:lstStyle/>
          <a:p>
            <a:pPr algn="l" indent="0" marL="0">
              <a:buNone/>
            </a:pPr>
            <a:r>
              <a:rPr lang="en-US" sz="2550" dirty="0">
                <a:solidFill>
                  <a:srgbClr val="555555"/>
                </a:solidFill>
                <a:latin typeface="Arial" pitchFamily="34" charset="0"/>
                <a:ea typeface="Arial" pitchFamily="34" charset="-122"/>
                <a:cs typeface="Arial" pitchFamily="34" charset="-120"/>
              </a:rPr>
              <a:t>2025년 상반기</a:t>
            </a:r>
            <a:endParaRPr lang="en-US" sz="2550" dirty="0"/>
          </a:p>
        </p:txBody>
      </p:sp>
      <p:sp>
        <p:nvSpPr>
          <p:cNvPr id="17" name="Text 15"/>
          <p:cNvSpPr/>
          <p:nvPr/>
        </p:nvSpPr>
        <p:spPr>
          <a:xfrm>
            <a:off x="723900" y="4619402"/>
            <a:ext cx="8303992"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33년 만에 디램 매출 순위가 역전되었습니다.</a:t>
            </a:r>
            <a:endParaRPr lang="en-US" sz="1875" dirty="0"/>
          </a:p>
        </p:txBody>
      </p:sp>
      <p:sp>
        <p:nvSpPr>
          <p:cNvPr id="18" name="Text 16"/>
          <p:cNvSpPr/>
          <p:nvPr/>
        </p:nvSpPr>
        <p:spPr>
          <a:xfrm>
            <a:off x="723900" y="5262339"/>
            <a:ext cx="8303992"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범용 디램 점유율, 순환적으로 내준 점유율</a:t>
            </a:r>
            <a:endParaRPr lang="en-US" sz="1950" dirty="0"/>
          </a:p>
        </p:txBody>
      </p:sp>
      <p:sp>
        <p:nvSpPr>
          <p:cNvPr id="19" name="Text 17"/>
          <p:cNvSpPr/>
          <p:nvPr/>
        </p:nvSpPr>
        <p:spPr>
          <a:xfrm>
            <a:off x="723900" y="5662389"/>
            <a:ext cx="2020193" cy="685800"/>
          </a:xfrm>
          <a:prstGeom prst="rect">
            <a:avLst/>
          </a:prstGeom>
          <a:noFill/>
          <a:ln/>
        </p:spPr>
        <p:txBody>
          <a:bodyPr wrap="square" lIns="25400" tIns="25400" rIns="25400" bIns="25400" rtlCol="0" anchor="t">
            <a:normAutofit/>
          </a:bodyPr>
          <a:lstStyle/>
          <a:p>
            <a:pPr algn="l" indent="0" marL="0">
              <a:lnSpc>
                <a:spcPct val="87179"/>
              </a:lnSpc>
              <a:buNone/>
            </a:pPr>
            <a:r>
              <a:rPr lang="en-US" sz="5100" b="1" dirty="0">
                <a:solidFill>
                  <a:srgbClr val="555555"/>
                </a:solidFill>
                <a:latin typeface="Arial" pitchFamily="34" charset="0"/>
                <a:ea typeface="Arial" pitchFamily="34" charset="-122"/>
                <a:cs typeface="Arial" pitchFamily="34" charset="-120"/>
              </a:rPr>
              <a:t>32.6%</a:t>
            </a:r>
            <a:endParaRPr lang="en-US" sz="5100" dirty="0"/>
          </a:p>
        </p:txBody>
      </p:sp>
      <p:sp>
        <p:nvSpPr>
          <p:cNvPr id="20" name="Text 18"/>
          <p:cNvSpPr/>
          <p:nvPr/>
        </p:nvSpPr>
        <p:spPr>
          <a:xfrm>
            <a:off x="2769989" y="5910039"/>
            <a:ext cx="1414165" cy="828675"/>
          </a:xfrm>
          <a:prstGeom prst="rect">
            <a:avLst/>
          </a:prstGeom>
          <a:noFill/>
          <a:ln/>
        </p:spPr>
        <p:txBody>
          <a:bodyPr wrap="square" lIns="25400" tIns="25400" rIns="25400" bIns="25400" rtlCol="0" anchor="t">
            <a:normAutofit/>
          </a:bodyPr>
          <a:lstStyle/>
          <a:p>
            <a:pPr algn="l" indent="0" marL="0">
              <a:buNone/>
            </a:pPr>
            <a:r>
              <a:rPr lang="en-US" sz="2550" dirty="0">
                <a:solidFill>
                  <a:srgbClr val="555555"/>
                </a:solidFill>
                <a:latin typeface="Arial" pitchFamily="34" charset="0"/>
                <a:ea typeface="Arial" pitchFamily="34" charset="-122"/>
                <a:cs typeface="Arial" pitchFamily="34" charset="-120"/>
              </a:rPr>
              <a:t>2025년 3분기</a:t>
            </a:r>
            <a:endParaRPr lang="en-US" sz="2550" dirty="0"/>
          </a:p>
        </p:txBody>
      </p:sp>
      <p:sp>
        <p:nvSpPr>
          <p:cNvPr id="21" name="Text 19"/>
          <p:cNvSpPr/>
          <p:nvPr/>
        </p:nvSpPr>
        <p:spPr>
          <a:xfrm>
            <a:off x="4317504" y="5876702"/>
            <a:ext cx="438150" cy="452438"/>
          </a:xfrm>
          <a:prstGeom prst="rect">
            <a:avLst/>
          </a:prstGeom>
          <a:noFill/>
          <a:ln/>
        </p:spPr>
        <p:txBody>
          <a:bodyPr wrap="square" lIns="25400" tIns="25400" rIns="25400" bIns="25400" rtlCol="0" anchor="t">
            <a:normAutofit/>
          </a:bodyPr>
          <a:lstStyle/>
          <a:p>
            <a:pPr algn="l" indent="0" marL="0">
              <a:buNone/>
            </a:pPr>
            <a:r>
              <a:rPr lang="en-US" sz="2850" dirty="0">
                <a:solidFill>
                  <a:srgbClr val="D9D9D9"/>
                </a:solidFill>
                <a:latin typeface="Arial" pitchFamily="34" charset="0"/>
                <a:ea typeface="Arial" pitchFamily="34" charset="-122"/>
                <a:cs typeface="Arial" pitchFamily="34" charset="-120"/>
              </a:rPr>
              <a:t>→</a:t>
            </a:r>
            <a:endParaRPr lang="en-US" sz="2850" dirty="0"/>
          </a:p>
        </p:txBody>
      </p:sp>
      <p:sp>
        <p:nvSpPr>
          <p:cNvPr id="22" name="Text 20"/>
          <p:cNvSpPr/>
          <p:nvPr/>
        </p:nvSpPr>
        <p:spPr>
          <a:xfrm>
            <a:off x="4889004" y="5662389"/>
            <a:ext cx="2020193" cy="685800"/>
          </a:xfrm>
          <a:prstGeom prst="rect">
            <a:avLst/>
          </a:prstGeom>
          <a:noFill/>
          <a:ln/>
        </p:spPr>
        <p:txBody>
          <a:bodyPr wrap="square" lIns="25400" tIns="25400" rIns="25400" bIns="25400" rtlCol="0" anchor="t">
            <a:normAutofit/>
          </a:bodyPr>
          <a:lstStyle/>
          <a:p>
            <a:pPr algn="l" indent="0" marL="0">
              <a:lnSpc>
                <a:spcPct val="87179"/>
              </a:lnSpc>
              <a:buNone/>
            </a:pPr>
            <a:r>
              <a:rPr lang="en-US" sz="5100" b="1" dirty="0">
                <a:solidFill>
                  <a:srgbClr val="1428A0"/>
                </a:solidFill>
                <a:latin typeface="Arial" pitchFamily="34" charset="0"/>
                <a:ea typeface="Arial" pitchFamily="34" charset="-122"/>
                <a:cs typeface="Arial" pitchFamily="34" charset="-120"/>
              </a:rPr>
              <a:t>38.5%</a:t>
            </a:r>
            <a:endParaRPr lang="en-US" sz="5100" dirty="0"/>
          </a:p>
        </p:txBody>
      </p:sp>
      <p:sp>
        <p:nvSpPr>
          <p:cNvPr id="23" name="Text 21"/>
          <p:cNvSpPr/>
          <p:nvPr/>
        </p:nvSpPr>
        <p:spPr>
          <a:xfrm>
            <a:off x="6935093" y="5910039"/>
            <a:ext cx="1414090" cy="828675"/>
          </a:xfrm>
          <a:prstGeom prst="rect">
            <a:avLst/>
          </a:prstGeom>
          <a:noFill/>
          <a:ln/>
        </p:spPr>
        <p:txBody>
          <a:bodyPr wrap="square" lIns="25400" tIns="25400" rIns="25400" bIns="25400" rtlCol="0" anchor="t">
            <a:normAutofit/>
          </a:bodyPr>
          <a:lstStyle/>
          <a:p>
            <a:pPr algn="l" indent="0" marL="0">
              <a:buNone/>
            </a:pPr>
            <a:r>
              <a:rPr lang="en-US" sz="2550" dirty="0">
                <a:solidFill>
                  <a:srgbClr val="555555"/>
                </a:solidFill>
                <a:latin typeface="Arial" pitchFamily="34" charset="0"/>
                <a:ea typeface="Arial" pitchFamily="34" charset="-122"/>
                <a:cs typeface="Arial" pitchFamily="34" charset="-120"/>
              </a:rPr>
              <a:t>2026년 1분기</a:t>
            </a:r>
            <a:endParaRPr lang="en-US" sz="2550" dirty="0"/>
          </a:p>
        </p:txBody>
      </p:sp>
      <p:sp>
        <p:nvSpPr>
          <p:cNvPr id="24" name="Text 22"/>
          <p:cNvSpPr/>
          <p:nvPr/>
        </p:nvSpPr>
        <p:spPr>
          <a:xfrm>
            <a:off x="723900" y="6795864"/>
            <a:ext cx="8303992" cy="395288"/>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가격과 생산능력으로 결정되는 점유율은 회복되었습니다.</a:t>
            </a:r>
            <a:endParaRPr lang="en-US" sz="1875" dirty="0"/>
          </a:p>
        </p:txBody>
      </p:sp>
      <p:sp>
        <p:nvSpPr>
          <p:cNvPr id="25" name="Shape 23"/>
          <p:cNvSpPr/>
          <p:nvPr/>
        </p:nvSpPr>
        <p:spPr>
          <a:xfrm>
            <a:off x="723900" y="7710487"/>
            <a:ext cx="7549083" cy="1690688"/>
          </a:xfrm>
          <a:prstGeom prst="rect">
            <a:avLst/>
          </a:prstGeom>
          <a:solidFill>
            <a:srgbClr val="F4F6FC"/>
          </a:solidFill>
          <a:ln/>
        </p:spPr>
      </p:sp>
      <p:sp>
        <p:nvSpPr>
          <p:cNvPr id="26" name="Text 24"/>
          <p:cNvSpPr/>
          <p:nvPr/>
        </p:nvSpPr>
        <p:spPr>
          <a:xfrm>
            <a:off x="1028700" y="7977187"/>
            <a:ext cx="7165956" cy="1195388"/>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1A1A1A"/>
                </a:solidFill>
                <a:latin typeface="Arial" pitchFamily="34" charset="0"/>
                <a:ea typeface="Arial" pitchFamily="34" charset="-122"/>
                <a:cs typeface="Arial" pitchFamily="34" charset="-120"/>
              </a:rPr>
              <a:t>디램에서 확인된 것은 점유율의 종류가 다르다는 사실입니다. 가격과 생산능력으로 결정되는 점유율은 돌아오지만, 인증으로 결정되는 점유율은 돌아오지 않습니다.</a:t>
            </a:r>
            <a:endParaRPr lang="en-US" sz="2025" dirty="0"/>
          </a:p>
        </p:txBody>
      </p:sp>
      <p:sp>
        <p:nvSpPr>
          <p:cNvPr id="27" name="Shape 25"/>
          <p:cNvSpPr/>
          <p:nvPr/>
        </p:nvSpPr>
        <p:spPr>
          <a:xfrm>
            <a:off x="8882583" y="3171602"/>
            <a:ext cx="8681442" cy="19050"/>
          </a:xfrm>
          <a:prstGeom prst="rect">
            <a:avLst/>
          </a:prstGeom>
          <a:solidFill>
            <a:srgbClr val="1428A0"/>
          </a:solidFill>
          <a:ln/>
        </p:spPr>
      </p:sp>
      <p:sp>
        <p:nvSpPr>
          <p:cNvPr id="28" name="Text 26"/>
          <p:cNvSpPr/>
          <p:nvPr/>
        </p:nvSpPr>
        <p:spPr>
          <a:xfrm>
            <a:off x="8882583" y="2728689"/>
            <a:ext cx="537642"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428A0"/>
                </a:solidFill>
                <a:latin typeface="Arial" pitchFamily="34" charset="0"/>
                <a:ea typeface="Arial" pitchFamily="34" charset="-122"/>
                <a:cs typeface="Arial" pitchFamily="34" charset="-120"/>
              </a:rPr>
              <a:t>낸드</a:t>
            </a:r>
            <a:endParaRPr lang="en-US" sz="2100" dirty="0"/>
          </a:p>
        </p:txBody>
      </p:sp>
      <p:sp>
        <p:nvSpPr>
          <p:cNvPr id="29" name="Text 27"/>
          <p:cNvSpPr/>
          <p:nvPr/>
        </p:nvSpPr>
        <p:spPr>
          <a:xfrm>
            <a:off x="9496425" y="2740596"/>
            <a:ext cx="4620005" cy="342900"/>
          </a:xfrm>
          <a:prstGeom prst="rect">
            <a:avLst/>
          </a:prstGeom>
          <a:noFill/>
          <a:ln/>
        </p:spPr>
        <p:txBody>
          <a:bodyPr wrap="square" lIns="25400" tIns="25400" rIns="25400" bIns="25400" rtlCol="0" anchor="t">
            <a:normAutofit/>
          </a:bodyPr>
          <a:lstStyle/>
          <a:p>
            <a:pPr algn="l" indent="0" marL="0">
              <a:buNone/>
            </a:pPr>
            <a:r>
              <a:rPr lang="en-US" sz="1950" dirty="0">
                <a:solidFill>
                  <a:srgbClr val="555555"/>
                </a:solidFill>
                <a:latin typeface="Arial" pitchFamily="34" charset="0"/>
                <a:ea typeface="Arial" pitchFamily="34" charset="-122"/>
                <a:cs typeface="Arial" pitchFamily="34" charset="-120"/>
              </a:rPr>
              <a:t>경쟁사가 선택한 방식과 우리가 가져갈 지점</a:t>
            </a:r>
            <a:endParaRPr lang="en-US" sz="1950" dirty="0"/>
          </a:p>
        </p:txBody>
      </p:sp>
      <p:sp>
        <p:nvSpPr>
          <p:cNvPr id="30" name="Shape 28"/>
          <p:cNvSpPr/>
          <p:nvPr/>
        </p:nvSpPr>
        <p:spPr>
          <a:xfrm>
            <a:off x="8882583" y="3400202"/>
            <a:ext cx="57150" cy="1488281"/>
          </a:xfrm>
          <a:prstGeom prst="rect">
            <a:avLst/>
          </a:prstGeom>
          <a:solidFill>
            <a:srgbClr val="1428A0"/>
          </a:solidFill>
          <a:ln/>
        </p:spPr>
      </p:sp>
      <p:sp>
        <p:nvSpPr>
          <p:cNvPr id="31" name="Text 29"/>
          <p:cNvSpPr/>
          <p:nvPr/>
        </p:nvSpPr>
        <p:spPr>
          <a:xfrm>
            <a:off x="9168333" y="3400202"/>
            <a:ext cx="9235261"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에스케이하이닉스 · 배분의 방향을 지켰습니다</a:t>
            </a:r>
            <a:endParaRPr lang="en-US" sz="2025" dirty="0"/>
          </a:p>
        </p:txBody>
      </p:sp>
      <p:sp>
        <p:nvSpPr>
          <p:cNvPr id="32" name="Text 30"/>
          <p:cNvSpPr/>
          <p:nvPr/>
        </p:nvSpPr>
        <p:spPr>
          <a:xfrm>
            <a:off x="9168333" y="3771677"/>
            <a:ext cx="8647563"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적자 구간에서도 고대역폭 메모리와 고객 공동 설계 투자를 유지했고, 낸드 라인을 디램으로 돌리는 5.3조 원 규모의 재배분을 3년 안에 집행했습니다.</a:t>
            </a:r>
            <a:endParaRPr lang="en-US" sz="1875" dirty="0"/>
          </a:p>
        </p:txBody>
      </p:sp>
      <p:sp>
        <p:nvSpPr>
          <p:cNvPr id="33" name="Text 31"/>
          <p:cNvSpPr/>
          <p:nvPr/>
        </p:nvSpPr>
        <p:spPr>
          <a:xfrm>
            <a:off x="9168333" y="4543202"/>
            <a:ext cx="9235261"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1428A0"/>
                </a:solidFill>
                <a:latin typeface="Arial" pitchFamily="34" charset="0"/>
                <a:ea typeface="Arial" pitchFamily="34" charset="-122"/>
                <a:cs typeface="Arial" pitchFamily="34" charset="-120"/>
              </a:rPr>
              <a:t>벤치마킹 지점: 되돌릴 수 있는 자산부터 과감하게 재배분합니다.</a:t>
            </a:r>
            <a:endParaRPr lang="en-US" sz="1875" dirty="0"/>
          </a:p>
        </p:txBody>
      </p:sp>
      <p:sp>
        <p:nvSpPr>
          <p:cNvPr id="34" name="Shape 32"/>
          <p:cNvSpPr/>
          <p:nvPr/>
        </p:nvSpPr>
        <p:spPr>
          <a:xfrm>
            <a:off x="8882583" y="5078983"/>
            <a:ext cx="57150" cy="1488281"/>
          </a:xfrm>
          <a:prstGeom prst="rect">
            <a:avLst/>
          </a:prstGeom>
          <a:solidFill>
            <a:srgbClr val="AAB8E8"/>
          </a:solidFill>
          <a:ln/>
        </p:spPr>
      </p:sp>
      <p:sp>
        <p:nvSpPr>
          <p:cNvPr id="35" name="Text 33"/>
          <p:cNvSpPr/>
          <p:nvPr/>
        </p:nvSpPr>
        <p:spPr>
          <a:xfrm>
            <a:off x="9168333" y="5078983"/>
            <a:ext cx="9235261"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마이크론 · 소비자용 SSD를 접고 대형 고객으로 좁혔습니다</a:t>
            </a:r>
            <a:endParaRPr lang="en-US" sz="2025" dirty="0"/>
          </a:p>
        </p:txBody>
      </p:sp>
      <p:sp>
        <p:nvSpPr>
          <p:cNvPr id="36" name="Text 34"/>
          <p:cNvSpPr/>
          <p:nvPr/>
        </p:nvSpPr>
        <p:spPr>
          <a:xfrm>
            <a:off x="9168333" y="5450458"/>
            <a:ext cx="8647563"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소비자용 SSD 브랜드에서 철수해 자원을 대형 고객에 집중했고, 전략적 공급 계약 16건 약 1,000억 달러로 수요를 미리 묶었습니다.</a:t>
            </a:r>
            <a:endParaRPr lang="en-US" sz="1875" dirty="0"/>
          </a:p>
        </p:txBody>
      </p:sp>
      <p:sp>
        <p:nvSpPr>
          <p:cNvPr id="37" name="Text 35"/>
          <p:cNvSpPr/>
          <p:nvPr/>
        </p:nvSpPr>
        <p:spPr>
          <a:xfrm>
            <a:off x="9168333" y="6221983"/>
            <a:ext cx="9235261"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1428A0"/>
                </a:solidFill>
                <a:latin typeface="Arial" pitchFamily="34" charset="0"/>
                <a:ea typeface="Arial" pitchFamily="34" charset="-122"/>
                <a:cs typeface="Arial" pitchFamily="34" charset="-120"/>
              </a:rPr>
              <a:t>벤치마킹 지점: 고객 포트폴리오를 좁히고 계약을 앞당깁니다.</a:t>
            </a:r>
            <a:endParaRPr lang="en-US" sz="1875" dirty="0"/>
          </a:p>
        </p:txBody>
      </p:sp>
      <p:sp>
        <p:nvSpPr>
          <p:cNvPr id="38" name="Shape 36"/>
          <p:cNvSpPr/>
          <p:nvPr/>
        </p:nvSpPr>
        <p:spPr>
          <a:xfrm>
            <a:off x="8882583" y="6757764"/>
            <a:ext cx="57150" cy="1488281"/>
          </a:xfrm>
          <a:prstGeom prst="rect">
            <a:avLst/>
          </a:prstGeom>
          <a:solidFill>
            <a:srgbClr val="C9D1EE"/>
          </a:solidFill>
          <a:ln/>
        </p:spPr>
      </p:sp>
      <p:sp>
        <p:nvSpPr>
          <p:cNvPr id="39" name="Text 37"/>
          <p:cNvSpPr/>
          <p:nvPr/>
        </p:nvSpPr>
        <p:spPr>
          <a:xfrm>
            <a:off x="9168333" y="6757764"/>
            <a:ext cx="9235261" cy="352425"/>
          </a:xfrm>
          <a:prstGeom prst="rect">
            <a:avLst/>
          </a:prstGeom>
          <a:noFill/>
          <a:ln/>
        </p:spPr>
        <p:txBody>
          <a:bodyPr wrap="square" lIns="25400" tIns="25400" rIns="25400" bIns="25400" rtlCol="0" anchor="t">
            <a:normAutofit/>
          </a:bodyPr>
          <a:lstStyle/>
          <a:p>
            <a:pPr algn="l" indent="0" marL="0">
              <a:buNone/>
            </a:pPr>
            <a:r>
              <a:rPr lang="en-US" sz="2025" b="1" dirty="0">
                <a:solidFill>
                  <a:srgbClr val="1A1A1A"/>
                </a:solidFill>
                <a:latin typeface="Arial" pitchFamily="34" charset="0"/>
                <a:ea typeface="Arial" pitchFamily="34" charset="-122"/>
                <a:cs typeface="Arial" pitchFamily="34" charset="-120"/>
              </a:rPr>
              <a:t>키옥시아 · 생산능력 대신 세대를 앞세웠습니다</a:t>
            </a:r>
            <a:endParaRPr lang="en-US" sz="2025" dirty="0"/>
          </a:p>
        </p:txBody>
      </p:sp>
      <p:sp>
        <p:nvSpPr>
          <p:cNvPr id="40" name="Text 38"/>
          <p:cNvSpPr/>
          <p:nvPr/>
        </p:nvSpPr>
        <p:spPr>
          <a:xfrm>
            <a:off x="9168333" y="7129239"/>
            <a:ext cx="8647563" cy="752475"/>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증설 경쟁을 따라가지 않고 적층 세대 전환을 앞당겨, 332단 제품 양산 시점을 당초 계획보다 앞으로 옮겼습니다.</a:t>
            </a:r>
            <a:endParaRPr lang="en-US" sz="1875" dirty="0"/>
          </a:p>
        </p:txBody>
      </p:sp>
      <p:sp>
        <p:nvSpPr>
          <p:cNvPr id="41" name="Text 39"/>
          <p:cNvSpPr/>
          <p:nvPr/>
        </p:nvSpPr>
        <p:spPr>
          <a:xfrm>
            <a:off x="9168333" y="7900764"/>
            <a:ext cx="9235261" cy="383381"/>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1428A0"/>
                </a:solidFill>
                <a:latin typeface="Arial" pitchFamily="34" charset="0"/>
                <a:ea typeface="Arial" pitchFamily="34" charset="-122"/>
                <a:cs typeface="Arial" pitchFamily="34" charset="-120"/>
              </a:rPr>
              <a:t>벤치마킹 지점: 자본이 부족할 때는 아키텍처로 경쟁합니다.</a:t>
            </a:r>
            <a:endParaRPr lang="en-US" sz="1875" dirty="0"/>
          </a:p>
        </p:txBody>
      </p:sp>
      <p:sp>
        <p:nvSpPr>
          <p:cNvPr id="42" name="Text 40"/>
          <p:cNvSpPr/>
          <p:nvPr/>
        </p:nvSpPr>
        <p:spPr>
          <a:xfrm>
            <a:off x="723900" y="9591675"/>
            <a:ext cx="1265305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고대역폭 메모리 및 디램 점유율 리서치 · 경쟁사 대응 사례 (에스케이하이닉스 · 마이크론 · 키옥시아, 2022년에서 2026년)</a:t>
            </a:r>
            <a:endParaRPr lang="en-US" sz="1800" dirty="0"/>
          </a:p>
        </p:txBody>
      </p:sp>
      <p:sp>
        <p:nvSpPr>
          <p:cNvPr id="43" name="Text 41"/>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07 / 13</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현황과 한계</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계약으로 세운 첫 번째 방어선은 물량까지만 지켜 줍니다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계약으로 만든 물량 바닥의 크기는 경쟁사와 비교해도 부족하지 않습니다. 남는 것은 계약이 덮지 못하는 네 영역이며, 그중 하나는 중국의 부상입니다.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28689"/>
            <a:ext cx="5694387" cy="2568401"/>
          </a:xfrm>
          <a:prstGeom prst="rect">
            <a:avLst/>
          </a:prstGeom>
          <a:solidFill>
            <a:srgbClr val="1428A0"/>
          </a:solidFill>
          <a:ln/>
        </p:spPr>
      </p:sp>
      <p:sp>
        <p:nvSpPr>
          <p:cNvPr id="9" name="Text 7"/>
          <p:cNvSpPr/>
          <p:nvPr/>
        </p:nvSpPr>
        <p:spPr>
          <a:xfrm>
            <a:off x="1028700" y="2995389"/>
            <a:ext cx="5593266" cy="328613"/>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85000"/>
                  </a:srgbClr>
                </a:solidFill>
                <a:latin typeface="Arial" pitchFamily="34" charset="0"/>
                <a:ea typeface="Arial" pitchFamily="34" charset="-122"/>
                <a:cs typeface="Arial" pitchFamily="34" charset="-120"/>
              </a:rPr>
              <a:t>삼성전자 · 사내 확인 기준</a:t>
            </a:r>
            <a:endParaRPr lang="en-US" sz="1875" dirty="0"/>
          </a:p>
        </p:txBody>
      </p:sp>
      <p:sp>
        <p:nvSpPr>
          <p:cNvPr id="10" name="Text 8"/>
          <p:cNvSpPr/>
          <p:nvPr/>
        </p:nvSpPr>
        <p:spPr>
          <a:xfrm>
            <a:off x="1028700" y="3400202"/>
            <a:ext cx="5593266"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FFFFFF"/>
                </a:solidFill>
                <a:latin typeface="Arial" pitchFamily="34" charset="0"/>
                <a:ea typeface="Arial" pitchFamily="34" charset="-122"/>
                <a:cs typeface="Arial" pitchFamily="34" charset="-120"/>
              </a:rPr>
              <a:t>선수금 수백억 달러</a:t>
            </a:r>
            <a:endParaRPr lang="en-US" sz="3300" dirty="0"/>
          </a:p>
        </p:txBody>
      </p:sp>
      <p:sp>
        <p:nvSpPr>
          <p:cNvPr id="11" name="Text 9"/>
          <p:cNvSpPr/>
          <p:nvPr/>
        </p:nvSpPr>
        <p:spPr>
          <a:xfrm>
            <a:off x="1028700" y="3975497"/>
            <a:ext cx="5237331" cy="1073944"/>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FFFFFF">
                    <a:alpha val="92000"/>
                  </a:srgbClr>
                </a:solidFill>
                <a:latin typeface="Arial" pitchFamily="34" charset="0"/>
                <a:ea typeface="Arial" pitchFamily="34" charset="-122"/>
                <a:cs typeface="Arial" pitchFamily="34" charset="-120"/>
              </a:rPr>
              <a:t>5년 계약에 선수금을 예치받고 미인수 물량은 그 선수금에서 차감합니다. 최대 고객 한 곳만 백억 달러대이며, 커버 목표는 생산능력의 과반을 크게 넘습니다.</a:t>
            </a:r>
            <a:endParaRPr lang="en-US" sz="1875" dirty="0"/>
          </a:p>
        </p:txBody>
      </p:sp>
      <p:sp>
        <p:nvSpPr>
          <p:cNvPr id="12" name="Shape 10"/>
          <p:cNvSpPr/>
          <p:nvPr/>
        </p:nvSpPr>
        <p:spPr>
          <a:xfrm>
            <a:off x="6684987" y="2728689"/>
            <a:ext cx="5694462" cy="2568401"/>
          </a:xfrm>
          <a:prstGeom prst="rect">
            <a:avLst/>
          </a:prstGeom>
          <a:solidFill>
            <a:srgbClr val="F4F6FC"/>
          </a:solidFill>
          <a:ln/>
        </p:spPr>
      </p:sp>
      <p:sp>
        <p:nvSpPr>
          <p:cNvPr id="13" name="Text 11"/>
          <p:cNvSpPr/>
          <p:nvPr/>
        </p:nvSpPr>
        <p:spPr>
          <a:xfrm>
            <a:off x="6989787" y="2995389"/>
            <a:ext cx="559334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마이크론 · 공시 기준</a:t>
            </a:r>
            <a:endParaRPr lang="en-US" sz="1875" dirty="0"/>
          </a:p>
        </p:txBody>
      </p:sp>
      <p:sp>
        <p:nvSpPr>
          <p:cNvPr id="14" name="Text 12"/>
          <p:cNvSpPr/>
          <p:nvPr/>
        </p:nvSpPr>
        <p:spPr>
          <a:xfrm>
            <a:off x="6989787" y="3400202"/>
            <a:ext cx="5593348"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1428A0"/>
                </a:solidFill>
                <a:latin typeface="Arial" pitchFamily="34" charset="0"/>
                <a:ea typeface="Arial" pitchFamily="34" charset="-122"/>
                <a:cs typeface="Arial" pitchFamily="34" charset="-120"/>
              </a:rPr>
              <a:t>약 1,000억 달러</a:t>
            </a:r>
            <a:endParaRPr lang="en-US" sz="3300" dirty="0"/>
          </a:p>
        </p:txBody>
      </p:sp>
      <p:sp>
        <p:nvSpPr>
          <p:cNvPr id="15" name="Text 13"/>
          <p:cNvSpPr/>
          <p:nvPr/>
        </p:nvSpPr>
        <p:spPr>
          <a:xfrm>
            <a:off x="6989787" y="3975497"/>
            <a:ext cx="5237408" cy="1073944"/>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전략적 공급 계약 16건으로 물량과 가격, 인증, 공동 로드맵을 묶었고, 그 금액을 대외에 공개해 수요의 가시성 자체를 경쟁 수단으로 쓰고 있습니다.</a:t>
            </a:r>
            <a:endParaRPr lang="en-US" sz="1875" dirty="0"/>
          </a:p>
        </p:txBody>
      </p:sp>
      <p:sp>
        <p:nvSpPr>
          <p:cNvPr id="16" name="Shape 14"/>
          <p:cNvSpPr/>
          <p:nvPr/>
        </p:nvSpPr>
        <p:spPr>
          <a:xfrm>
            <a:off x="12646149" y="2728689"/>
            <a:ext cx="4917951" cy="2568401"/>
          </a:xfrm>
          <a:prstGeom prst="rect">
            <a:avLst/>
          </a:prstGeom>
          <a:ln w="9525">
            <a:solidFill>
              <a:srgbClr val="D9D9D9"/>
            </a:solidFill>
            <a:prstDash val="solid"/>
          </a:ln>
        </p:spPr>
      </p:sp>
      <p:sp>
        <p:nvSpPr>
          <p:cNvPr id="17" name="Text 15"/>
          <p:cNvSpPr/>
          <p:nvPr/>
        </p:nvSpPr>
        <p:spPr>
          <a:xfrm>
            <a:off x="12941424" y="3004914"/>
            <a:ext cx="4760141"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업계 관행</a:t>
            </a:r>
            <a:endParaRPr lang="en-US" sz="1875" dirty="0"/>
          </a:p>
        </p:txBody>
      </p:sp>
      <p:sp>
        <p:nvSpPr>
          <p:cNvPr id="18" name="Text 16"/>
          <p:cNvSpPr/>
          <p:nvPr/>
        </p:nvSpPr>
        <p:spPr>
          <a:xfrm>
            <a:off x="12941424" y="3409727"/>
            <a:ext cx="4760141" cy="499095"/>
          </a:xfrm>
          <a:prstGeom prst="rect">
            <a:avLst/>
          </a:prstGeom>
          <a:noFill/>
          <a:ln/>
        </p:spPr>
        <p:txBody>
          <a:bodyPr wrap="square" lIns="25400" tIns="25400" rIns="25400" bIns="25400" rtlCol="0" anchor="t">
            <a:normAutofit/>
          </a:bodyPr>
          <a:lstStyle/>
          <a:p>
            <a:pPr algn="l" indent="0" marL="0">
              <a:lnSpc>
                <a:spcPct val="94902"/>
              </a:lnSpc>
              <a:buNone/>
            </a:pPr>
            <a:r>
              <a:rPr lang="en-US" sz="3300" b="1" dirty="0">
                <a:solidFill>
                  <a:srgbClr val="1A1A1A"/>
                </a:solidFill>
                <a:latin typeface="Arial" pitchFamily="34" charset="0"/>
                <a:ea typeface="Arial" pitchFamily="34" charset="-122"/>
                <a:cs typeface="Arial" pitchFamily="34" charset="-120"/>
              </a:rPr>
              <a:t>10에서 30%</a:t>
            </a:r>
            <a:endParaRPr lang="en-US" sz="3300" dirty="0"/>
          </a:p>
        </p:txBody>
      </p:sp>
      <p:sp>
        <p:nvSpPr>
          <p:cNvPr id="19" name="Text 17"/>
          <p:cNvSpPr/>
          <p:nvPr/>
        </p:nvSpPr>
        <p:spPr>
          <a:xfrm>
            <a:off x="12941424" y="3985022"/>
            <a:ext cx="4457223" cy="1073944"/>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장기 계약 선급금 비율이 이 수준으로 관행화되었고, 2027년 범용 디램 비트의 20에서 30%가 고정가로 묶일 전망입니다.</a:t>
            </a:r>
            <a:endParaRPr lang="en-US" sz="1875" dirty="0"/>
          </a:p>
        </p:txBody>
      </p:sp>
      <p:sp>
        <p:nvSpPr>
          <p:cNvPr id="20" name="Shape 18"/>
          <p:cNvSpPr/>
          <p:nvPr/>
        </p:nvSpPr>
        <p:spPr>
          <a:xfrm>
            <a:off x="723900" y="5639991"/>
            <a:ext cx="4038600" cy="3484959"/>
          </a:xfrm>
          <a:prstGeom prst="rect">
            <a:avLst/>
          </a:prstGeom>
          <a:ln w="9525">
            <a:solidFill>
              <a:srgbClr val="D9D9D9"/>
            </a:solidFill>
            <a:prstDash val="solid"/>
          </a:ln>
        </p:spPr>
      </p:sp>
      <p:sp>
        <p:nvSpPr>
          <p:cNvPr id="21" name="Text 19"/>
          <p:cNvSpPr/>
          <p:nvPr/>
        </p:nvSpPr>
        <p:spPr>
          <a:xfrm>
            <a:off x="981075" y="5897166"/>
            <a:ext cx="387667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D93025"/>
                </a:solidFill>
                <a:latin typeface="Arial" pitchFamily="34" charset="0"/>
                <a:ea typeface="Arial" pitchFamily="34" charset="-122"/>
                <a:cs typeface="Arial" pitchFamily="34" charset="-120"/>
              </a:rPr>
              <a:t>첫 번째 구멍 · 완제품 부가가치</a:t>
            </a:r>
            <a:endParaRPr lang="en-US" sz="1875" dirty="0"/>
          </a:p>
        </p:txBody>
      </p:sp>
      <p:sp>
        <p:nvSpPr>
          <p:cNvPr id="22" name="Text 20"/>
          <p:cNvSpPr/>
          <p:nvPr/>
        </p:nvSpPr>
        <p:spPr>
          <a:xfrm>
            <a:off x="981075" y="6301978"/>
            <a:ext cx="3629978"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A1A1A"/>
                </a:solidFill>
                <a:latin typeface="Arial" pitchFamily="34" charset="0"/>
                <a:ea typeface="Arial" pitchFamily="34" charset="-122"/>
                <a:cs typeface="Arial" pitchFamily="34" charset="-120"/>
              </a:rPr>
              <a:t>완제품의 부가가치는 지키지 못합니다</a:t>
            </a:r>
            <a:endParaRPr lang="en-US" sz="2100" dirty="0"/>
          </a:p>
        </p:txBody>
      </p:sp>
      <p:sp>
        <p:nvSpPr>
          <p:cNvPr id="23" name="Text 21"/>
          <p:cNvSpPr/>
          <p:nvPr/>
        </p:nvSpPr>
        <p:spPr>
          <a:xfrm>
            <a:off x="981075" y="7136309"/>
            <a:ext cx="3629978" cy="10668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55555"/>
                </a:solidFill>
                <a:latin typeface="Arial" pitchFamily="34" charset="0"/>
                <a:ea typeface="Arial" pitchFamily="34" charset="-122"/>
                <a:cs typeface="Arial" pitchFamily="34" charset="-120"/>
              </a:rPr>
              <a:t>웨이퍼 공급자로 후퇴하면 마진의 층이 사라집니다. 낸드 웨이퍼 계약가격은 1분기 대비 246% 올랐습니다.</a:t>
            </a:r>
            <a:endParaRPr lang="en-US" sz="1800" dirty="0"/>
          </a:p>
        </p:txBody>
      </p:sp>
      <p:sp>
        <p:nvSpPr>
          <p:cNvPr id="24" name="Shape 22"/>
          <p:cNvSpPr/>
          <p:nvPr/>
        </p:nvSpPr>
        <p:spPr>
          <a:xfrm>
            <a:off x="4991100" y="5639991"/>
            <a:ext cx="4038600" cy="3484959"/>
          </a:xfrm>
          <a:prstGeom prst="rect">
            <a:avLst/>
          </a:prstGeom>
          <a:ln w="9525">
            <a:solidFill>
              <a:srgbClr val="D9D9D9"/>
            </a:solidFill>
            <a:prstDash val="solid"/>
          </a:ln>
        </p:spPr>
      </p:sp>
      <p:sp>
        <p:nvSpPr>
          <p:cNvPr id="25" name="Text 23"/>
          <p:cNvSpPr/>
          <p:nvPr/>
        </p:nvSpPr>
        <p:spPr>
          <a:xfrm>
            <a:off x="5248275" y="5897166"/>
            <a:ext cx="387667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D93025"/>
                </a:solidFill>
                <a:latin typeface="Arial" pitchFamily="34" charset="0"/>
                <a:ea typeface="Arial" pitchFamily="34" charset="-122"/>
                <a:cs typeface="Arial" pitchFamily="34" charset="-120"/>
              </a:rPr>
              <a:t>두 번째 구멍 · 계약 만기</a:t>
            </a:r>
            <a:endParaRPr lang="en-US" sz="1875" dirty="0"/>
          </a:p>
        </p:txBody>
      </p:sp>
      <p:sp>
        <p:nvSpPr>
          <p:cNvPr id="26" name="Text 24"/>
          <p:cNvSpPr/>
          <p:nvPr/>
        </p:nvSpPr>
        <p:spPr>
          <a:xfrm>
            <a:off x="5248275" y="6301978"/>
            <a:ext cx="3629978"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A1A1A"/>
                </a:solidFill>
                <a:latin typeface="Arial" pitchFamily="34" charset="0"/>
                <a:ea typeface="Arial" pitchFamily="34" charset="-122"/>
                <a:cs typeface="Arial" pitchFamily="34" charset="-120"/>
              </a:rPr>
              <a:t>갱신의 힘은 계약서 밖에서 나옵니다</a:t>
            </a:r>
            <a:endParaRPr lang="en-US" sz="2100" dirty="0"/>
          </a:p>
        </p:txBody>
      </p:sp>
      <p:sp>
        <p:nvSpPr>
          <p:cNvPr id="27" name="Text 25"/>
          <p:cNvSpPr/>
          <p:nvPr/>
        </p:nvSpPr>
        <p:spPr>
          <a:xfrm>
            <a:off x="5248275" y="7136309"/>
            <a:ext cx="3629978"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55555"/>
                </a:solidFill>
                <a:latin typeface="Arial" pitchFamily="34" charset="0"/>
                <a:ea typeface="Arial" pitchFamily="34" charset="-122"/>
                <a:cs typeface="Arial" pitchFamily="34" charset="-120"/>
              </a:rPr>
              <a:t>2023년에는 필요하지 않으면 발주를 취소한다는 통보를 실제로 받았습니다.</a:t>
            </a:r>
            <a:endParaRPr lang="en-US" sz="1800" dirty="0"/>
          </a:p>
        </p:txBody>
      </p:sp>
      <p:sp>
        <p:nvSpPr>
          <p:cNvPr id="28" name="Shape 26"/>
          <p:cNvSpPr/>
          <p:nvPr/>
        </p:nvSpPr>
        <p:spPr>
          <a:xfrm>
            <a:off x="9258300" y="5639991"/>
            <a:ext cx="4038600" cy="3484959"/>
          </a:xfrm>
          <a:prstGeom prst="rect">
            <a:avLst/>
          </a:prstGeom>
          <a:ln w="9525">
            <a:solidFill>
              <a:srgbClr val="D9D9D9"/>
            </a:solidFill>
            <a:prstDash val="solid"/>
          </a:ln>
        </p:spPr>
      </p:sp>
      <p:sp>
        <p:nvSpPr>
          <p:cNvPr id="29" name="Text 27"/>
          <p:cNvSpPr/>
          <p:nvPr/>
        </p:nvSpPr>
        <p:spPr>
          <a:xfrm>
            <a:off x="9515475" y="5897166"/>
            <a:ext cx="387667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D93025"/>
                </a:solidFill>
                <a:latin typeface="Arial" pitchFamily="34" charset="0"/>
                <a:ea typeface="Arial" pitchFamily="34" charset="-122"/>
                <a:cs typeface="Arial" pitchFamily="34" charset="-120"/>
              </a:rPr>
              <a:t>세 번째 구멍 · 기술 전환</a:t>
            </a:r>
            <a:endParaRPr lang="en-US" sz="1875" dirty="0"/>
          </a:p>
        </p:txBody>
      </p:sp>
      <p:sp>
        <p:nvSpPr>
          <p:cNvPr id="30" name="Text 28"/>
          <p:cNvSpPr/>
          <p:nvPr/>
        </p:nvSpPr>
        <p:spPr>
          <a:xfrm>
            <a:off x="9515475" y="6301978"/>
            <a:ext cx="3629978"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A1A1A"/>
                </a:solidFill>
                <a:latin typeface="Arial" pitchFamily="34" charset="0"/>
                <a:ea typeface="Arial" pitchFamily="34" charset="-122"/>
                <a:cs typeface="Arial" pitchFamily="34" charset="-120"/>
              </a:rPr>
              <a:t>수요가 옮겨 가면 계약이 덮는 범위가 빕니다</a:t>
            </a:r>
            <a:endParaRPr lang="en-US" sz="2100" dirty="0"/>
          </a:p>
        </p:txBody>
      </p:sp>
      <p:sp>
        <p:nvSpPr>
          <p:cNvPr id="31" name="Text 29"/>
          <p:cNvSpPr/>
          <p:nvPr/>
        </p:nvSpPr>
        <p:spPr>
          <a:xfrm>
            <a:off x="9515475" y="7136309"/>
            <a:ext cx="3629978"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55555"/>
                </a:solidFill>
                <a:latin typeface="Arial" pitchFamily="34" charset="0"/>
                <a:ea typeface="Arial" pitchFamily="34" charset="-122"/>
                <a:cs typeface="Arial" pitchFamily="34" charset="-120"/>
              </a:rPr>
              <a:t>계약은 가격 하락은 막아도 기술 전환은 막지 못합니다. (예측)</a:t>
            </a:r>
            <a:endParaRPr lang="en-US" sz="1800" dirty="0"/>
          </a:p>
        </p:txBody>
      </p:sp>
      <p:sp>
        <p:nvSpPr>
          <p:cNvPr id="32" name="Shape 30"/>
          <p:cNvSpPr/>
          <p:nvPr/>
        </p:nvSpPr>
        <p:spPr>
          <a:xfrm>
            <a:off x="13525500" y="5639991"/>
            <a:ext cx="4038600" cy="3484959"/>
          </a:xfrm>
          <a:prstGeom prst="rect">
            <a:avLst/>
          </a:prstGeom>
          <a:ln w="9525">
            <a:solidFill>
              <a:srgbClr val="D93025"/>
            </a:solidFill>
            <a:prstDash val="solid"/>
          </a:ln>
        </p:spPr>
      </p:sp>
      <p:sp>
        <p:nvSpPr>
          <p:cNvPr id="33" name="Text 31"/>
          <p:cNvSpPr/>
          <p:nvPr/>
        </p:nvSpPr>
        <p:spPr>
          <a:xfrm>
            <a:off x="13782675" y="5897166"/>
            <a:ext cx="387667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D93025"/>
                </a:solidFill>
                <a:latin typeface="Arial" pitchFamily="34" charset="0"/>
                <a:ea typeface="Arial" pitchFamily="34" charset="-122"/>
                <a:cs typeface="Arial" pitchFamily="34" charset="-120"/>
              </a:rPr>
              <a:t>네 번째 구멍 · 중국의 부상</a:t>
            </a:r>
            <a:endParaRPr lang="en-US" sz="1875" dirty="0"/>
          </a:p>
        </p:txBody>
      </p:sp>
      <p:sp>
        <p:nvSpPr>
          <p:cNvPr id="34" name="Text 32"/>
          <p:cNvSpPr/>
          <p:nvPr/>
        </p:nvSpPr>
        <p:spPr>
          <a:xfrm>
            <a:off x="13782675" y="6301978"/>
            <a:ext cx="3629978" cy="758130"/>
          </a:xfrm>
          <a:prstGeom prst="rect">
            <a:avLst/>
          </a:prstGeom>
          <a:noFill/>
          <a:ln/>
        </p:spPr>
        <p:txBody>
          <a:bodyPr wrap="square" lIns="25400" tIns="25400" rIns="25400" bIns="25400" rtlCol="0" anchor="t">
            <a:normAutofit/>
          </a:bodyPr>
          <a:lstStyle/>
          <a:p>
            <a:pPr algn="l" indent="0" marL="0">
              <a:lnSpc>
                <a:spcPct val="116308"/>
              </a:lnSpc>
              <a:buNone/>
            </a:pPr>
            <a:r>
              <a:rPr lang="en-US" sz="2100" b="1" dirty="0">
                <a:solidFill>
                  <a:srgbClr val="1A1A1A"/>
                </a:solidFill>
                <a:latin typeface="Arial" pitchFamily="34" charset="0"/>
                <a:ea typeface="Arial" pitchFamily="34" charset="-122"/>
                <a:cs typeface="Arial" pitchFamily="34" charset="-120"/>
              </a:rPr>
              <a:t>계약 밖의 범용 가격은 중국이 정하기 시작합니다</a:t>
            </a:r>
            <a:endParaRPr lang="en-US" sz="2100" dirty="0"/>
          </a:p>
        </p:txBody>
      </p:sp>
      <p:sp>
        <p:nvSpPr>
          <p:cNvPr id="35" name="Text 33"/>
          <p:cNvSpPr/>
          <p:nvPr/>
        </p:nvSpPr>
        <p:spPr>
          <a:xfrm>
            <a:off x="13782675" y="7136309"/>
            <a:ext cx="3629978" cy="14097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555555"/>
                </a:solidFill>
                <a:latin typeface="Arial" pitchFamily="34" charset="0"/>
                <a:ea typeface="Arial" pitchFamily="34" charset="-122"/>
                <a:cs typeface="Arial" pitchFamily="34" charset="-120"/>
              </a:rPr>
              <a:t>중국 업체의 점유율은 디램에서 4.9%에서 8%로, 낸드에서 약 5%에서 13%로 올랐습니다. 세 회사의 과점이 실질적으로 흔들리는 국면입니다.</a:t>
            </a:r>
            <a:endParaRPr lang="en-US" sz="1800" dirty="0"/>
          </a:p>
        </p:txBody>
      </p:sp>
      <p:sp>
        <p:nvSpPr>
          <p:cNvPr id="36" name="Text 34"/>
          <p:cNvSpPr/>
          <p:nvPr/>
        </p:nvSpPr>
        <p:spPr>
          <a:xfrm>
            <a:off x="723900" y="9315450"/>
            <a:ext cx="16389854" cy="590550"/>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사내 인터뷰 (메모리 영업 리더, 2026년 8월) · 마이크론 2026 회계연도 3분기 공시 · 장기 계약 업계 동향. 중국 점유율은 디램 및 낸드 리서치 기준. 삼성 수치는 사내 확인 기반으로 대외 인용 시 보안 검토가 필요합니다.</a:t>
            </a:r>
            <a:endParaRPr lang="en-US" sz="1800" dirty="0"/>
          </a:p>
        </p:txBody>
      </p:sp>
      <p:sp>
        <p:nvSpPr>
          <p:cNvPr id="37" name="Text 35"/>
          <p:cNvSpPr/>
          <p:nvPr/>
        </p:nvSpPr>
        <p:spPr>
          <a:xfrm>
            <a:off x="16864980" y="9315450"/>
            <a:ext cx="775320" cy="590550"/>
          </a:xfrm>
          <a:prstGeom prst="rect">
            <a:avLst/>
          </a:prstGeom>
          <a:noFill/>
          <a:ln/>
        </p:spPr>
        <p:txBody>
          <a:bodyPr wrap="non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08 / 13</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처방</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그래서 방어선을 세 겹으로 세우려 합니다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앞선 방어선이 막지 못한 위협이 다음 방어선의 존재 이유가 됩니다.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85839"/>
            <a:ext cx="2857500" cy="1358205"/>
          </a:xfrm>
          <a:prstGeom prst="rect">
            <a:avLst/>
          </a:prstGeom>
          <a:solidFill>
            <a:srgbClr val="EDEFF7"/>
          </a:solidFill>
          <a:ln/>
        </p:spPr>
      </p:sp>
      <p:sp>
        <p:nvSpPr>
          <p:cNvPr id="9" name="Text 7"/>
          <p:cNvSpPr/>
          <p:nvPr/>
        </p:nvSpPr>
        <p:spPr>
          <a:xfrm>
            <a:off x="1028700" y="3071589"/>
            <a:ext cx="247269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제1선</a:t>
            </a:r>
            <a:endParaRPr lang="en-US" sz="1875" dirty="0"/>
          </a:p>
        </p:txBody>
      </p:sp>
      <p:sp>
        <p:nvSpPr>
          <p:cNvPr id="10" name="Text 8"/>
          <p:cNvSpPr/>
          <p:nvPr/>
        </p:nvSpPr>
        <p:spPr>
          <a:xfrm>
            <a:off x="1028700" y="3419252"/>
            <a:ext cx="2472690"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계약</a:t>
            </a:r>
            <a:endParaRPr lang="en-US" sz="2550" dirty="0"/>
          </a:p>
        </p:txBody>
      </p:sp>
      <p:sp>
        <p:nvSpPr>
          <p:cNvPr id="11" name="Shape 9"/>
          <p:cNvSpPr/>
          <p:nvPr/>
        </p:nvSpPr>
        <p:spPr>
          <a:xfrm>
            <a:off x="3581400" y="4134520"/>
            <a:ext cx="13982700" cy="9525"/>
          </a:xfrm>
          <a:prstGeom prst="rect">
            <a:avLst/>
          </a:prstGeom>
          <a:solidFill>
            <a:srgbClr val="D9D9D9"/>
          </a:solidFill>
          <a:ln/>
        </p:spPr>
      </p:sp>
      <p:sp>
        <p:nvSpPr>
          <p:cNvPr id="12" name="Shape 10"/>
          <p:cNvSpPr/>
          <p:nvPr/>
        </p:nvSpPr>
        <p:spPr>
          <a:xfrm>
            <a:off x="3581400" y="2785839"/>
            <a:ext cx="13982700" cy="9525"/>
          </a:xfrm>
          <a:prstGeom prst="rect">
            <a:avLst/>
          </a:prstGeom>
          <a:solidFill>
            <a:srgbClr val="D9D9D9"/>
          </a:solidFill>
          <a:ln/>
        </p:spPr>
      </p:sp>
      <p:sp>
        <p:nvSpPr>
          <p:cNvPr id="13" name="Shape 11"/>
          <p:cNvSpPr/>
          <p:nvPr/>
        </p:nvSpPr>
        <p:spPr>
          <a:xfrm>
            <a:off x="17554575" y="2785839"/>
            <a:ext cx="9525" cy="1358205"/>
          </a:xfrm>
          <a:prstGeom prst="rect">
            <a:avLst/>
          </a:prstGeom>
          <a:solidFill>
            <a:srgbClr val="D9D9D9"/>
          </a:solidFill>
          <a:ln/>
        </p:spPr>
      </p:sp>
      <p:sp>
        <p:nvSpPr>
          <p:cNvPr id="14" name="Text 12"/>
          <p:cNvSpPr/>
          <p:nvPr/>
        </p:nvSpPr>
        <p:spPr>
          <a:xfrm>
            <a:off x="3924300" y="3279204"/>
            <a:ext cx="3562350"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A1A1A"/>
                </a:solidFill>
                <a:latin typeface="Arial" pitchFamily="34" charset="0"/>
                <a:ea typeface="Arial" pitchFamily="34" charset="-122"/>
                <a:cs typeface="Arial" pitchFamily="34" charset="-120"/>
              </a:rPr>
              <a:t>물량의 바닥을 만듭니다</a:t>
            </a:r>
            <a:endParaRPr lang="en-US" sz="2400" dirty="0"/>
          </a:p>
        </p:txBody>
      </p:sp>
      <p:sp>
        <p:nvSpPr>
          <p:cNvPr id="15" name="Text 13"/>
          <p:cNvSpPr/>
          <p:nvPr/>
        </p:nvSpPr>
        <p:spPr>
          <a:xfrm>
            <a:off x="7543800" y="3081114"/>
            <a:ext cx="9957911" cy="805755"/>
          </a:xfrm>
          <a:prstGeom prst="rect">
            <a:avLst/>
          </a:prstGeom>
          <a:noFill/>
          <a:ln/>
        </p:spPr>
        <p:txBody>
          <a:bodyPr wrap="square" lIns="25400" tIns="25400" rIns="25400" bIns="25400" rtlCol="0" anchor="t">
            <a:normAutofit/>
          </a:bodyPr>
          <a:lstStyle/>
          <a:p>
            <a:pPr algn="l" indent="0" marL="0">
              <a:lnSpc>
                <a:spcPct val="134333"/>
              </a:lnSpc>
              <a:buNone/>
            </a:pPr>
            <a:r>
              <a:rPr lang="en-US" sz="1950" dirty="0">
                <a:solidFill>
                  <a:srgbClr val="555555"/>
                </a:solidFill>
                <a:latin typeface="Arial" pitchFamily="34" charset="0"/>
                <a:ea typeface="Arial" pitchFamily="34" charset="-122"/>
                <a:cs typeface="Arial" pitchFamily="34" charset="-120"/>
              </a:rPr>
              <a:t>다년 고정가 계약, 선수금, 가격 상하한으로 하강기의 매출 바닥을 확보합니다. 이미 구축이 진행되고 있습니다.</a:t>
            </a:r>
            <a:endParaRPr lang="en-US" sz="1950" dirty="0"/>
          </a:p>
        </p:txBody>
      </p:sp>
      <p:sp>
        <p:nvSpPr>
          <p:cNvPr id="16" name="Shape 14"/>
          <p:cNvSpPr/>
          <p:nvPr/>
        </p:nvSpPr>
        <p:spPr>
          <a:xfrm>
            <a:off x="723900" y="4372645"/>
            <a:ext cx="2857500" cy="1358205"/>
          </a:xfrm>
          <a:prstGeom prst="rect">
            <a:avLst/>
          </a:prstGeom>
          <a:solidFill>
            <a:srgbClr val="C9D1EE"/>
          </a:solidFill>
          <a:ln/>
        </p:spPr>
      </p:sp>
      <p:sp>
        <p:nvSpPr>
          <p:cNvPr id="17" name="Text 15"/>
          <p:cNvSpPr/>
          <p:nvPr/>
        </p:nvSpPr>
        <p:spPr>
          <a:xfrm>
            <a:off x="1028700" y="4658395"/>
            <a:ext cx="247269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제2선</a:t>
            </a:r>
            <a:endParaRPr lang="en-US" sz="1875" dirty="0"/>
          </a:p>
        </p:txBody>
      </p:sp>
      <p:sp>
        <p:nvSpPr>
          <p:cNvPr id="18" name="Text 16"/>
          <p:cNvSpPr/>
          <p:nvPr/>
        </p:nvSpPr>
        <p:spPr>
          <a:xfrm>
            <a:off x="1028700" y="5006057"/>
            <a:ext cx="2472690"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제품</a:t>
            </a:r>
            <a:endParaRPr lang="en-US" sz="2550" dirty="0"/>
          </a:p>
        </p:txBody>
      </p:sp>
      <p:sp>
        <p:nvSpPr>
          <p:cNvPr id="19" name="Shape 17"/>
          <p:cNvSpPr/>
          <p:nvPr/>
        </p:nvSpPr>
        <p:spPr>
          <a:xfrm>
            <a:off x="3581400" y="5721325"/>
            <a:ext cx="13982700" cy="9525"/>
          </a:xfrm>
          <a:prstGeom prst="rect">
            <a:avLst/>
          </a:prstGeom>
          <a:solidFill>
            <a:srgbClr val="D9D9D9"/>
          </a:solidFill>
          <a:ln/>
        </p:spPr>
      </p:sp>
      <p:sp>
        <p:nvSpPr>
          <p:cNvPr id="20" name="Shape 18"/>
          <p:cNvSpPr/>
          <p:nvPr/>
        </p:nvSpPr>
        <p:spPr>
          <a:xfrm>
            <a:off x="3581400" y="4372645"/>
            <a:ext cx="13982700" cy="9525"/>
          </a:xfrm>
          <a:prstGeom prst="rect">
            <a:avLst/>
          </a:prstGeom>
          <a:solidFill>
            <a:srgbClr val="D9D9D9"/>
          </a:solidFill>
          <a:ln/>
        </p:spPr>
      </p:sp>
      <p:sp>
        <p:nvSpPr>
          <p:cNvPr id="21" name="Shape 19"/>
          <p:cNvSpPr/>
          <p:nvPr/>
        </p:nvSpPr>
        <p:spPr>
          <a:xfrm>
            <a:off x="17554575" y="4372645"/>
            <a:ext cx="9525" cy="1358205"/>
          </a:xfrm>
          <a:prstGeom prst="rect">
            <a:avLst/>
          </a:prstGeom>
          <a:solidFill>
            <a:srgbClr val="D9D9D9"/>
          </a:solidFill>
          <a:ln/>
        </p:spPr>
      </p:sp>
      <p:sp>
        <p:nvSpPr>
          <p:cNvPr id="22" name="Text 20"/>
          <p:cNvSpPr/>
          <p:nvPr/>
        </p:nvSpPr>
        <p:spPr>
          <a:xfrm>
            <a:off x="3924300" y="4866010"/>
            <a:ext cx="3562350" cy="409575"/>
          </a:xfrm>
          <a:prstGeom prst="rect">
            <a:avLst/>
          </a:prstGeom>
          <a:noFill/>
          <a:ln/>
        </p:spPr>
        <p:txBody>
          <a:bodyPr wrap="square" lIns="25400" tIns="25400" rIns="25400" bIns="25400" rtlCol="0" anchor="t">
            <a:normAutofit/>
          </a:bodyPr>
          <a:lstStyle/>
          <a:p>
            <a:pPr algn="l" indent="0" marL="0">
              <a:buNone/>
            </a:pPr>
            <a:r>
              <a:rPr lang="en-US" sz="2400" b="1" dirty="0">
                <a:solidFill>
                  <a:srgbClr val="1A1A1A"/>
                </a:solidFill>
                <a:latin typeface="Arial" pitchFamily="34" charset="0"/>
                <a:ea typeface="Arial" pitchFamily="34" charset="-122"/>
                <a:cs typeface="Arial" pitchFamily="34" charset="-120"/>
              </a:rPr>
              <a:t>부가가치를 지킵니다</a:t>
            </a:r>
            <a:endParaRPr lang="en-US" sz="2400" dirty="0"/>
          </a:p>
        </p:txBody>
      </p:sp>
      <p:sp>
        <p:nvSpPr>
          <p:cNvPr id="23" name="Text 21"/>
          <p:cNvSpPr/>
          <p:nvPr/>
        </p:nvSpPr>
        <p:spPr>
          <a:xfrm>
            <a:off x="7543800" y="4667920"/>
            <a:ext cx="9957911" cy="805755"/>
          </a:xfrm>
          <a:prstGeom prst="rect">
            <a:avLst/>
          </a:prstGeom>
          <a:noFill/>
          <a:ln/>
        </p:spPr>
        <p:txBody>
          <a:bodyPr wrap="square" lIns="25400" tIns="25400" rIns="25400" bIns="25400" rtlCol="0" anchor="t">
            <a:normAutofit/>
          </a:bodyPr>
          <a:lstStyle/>
          <a:p>
            <a:pPr algn="l" indent="0" marL="0">
              <a:lnSpc>
                <a:spcPct val="134333"/>
              </a:lnSpc>
              <a:buNone/>
            </a:pPr>
            <a:r>
              <a:rPr lang="en-US" sz="1950" dirty="0">
                <a:solidFill>
                  <a:srgbClr val="555555"/>
                </a:solidFill>
                <a:latin typeface="Arial" pitchFamily="34" charset="0"/>
                <a:ea typeface="Arial" pitchFamily="34" charset="-122"/>
                <a:cs typeface="Arial" pitchFamily="34" charset="-120"/>
              </a:rPr>
              <a:t>전환할 수 있는 양산 체제와 따라오기 어려운 아키텍처로, 하강기에도 완전히 걷히지 않는 마진의 층을 남깁니다.</a:t>
            </a:r>
            <a:endParaRPr lang="en-US" sz="1950" dirty="0"/>
          </a:p>
        </p:txBody>
      </p:sp>
      <p:sp>
        <p:nvSpPr>
          <p:cNvPr id="24" name="Shape 22"/>
          <p:cNvSpPr/>
          <p:nvPr/>
        </p:nvSpPr>
        <p:spPr>
          <a:xfrm>
            <a:off x="723900" y="5959450"/>
            <a:ext cx="2857500" cy="1358205"/>
          </a:xfrm>
          <a:prstGeom prst="rect">
            <a:avLst/>
          </a:prstGeom>
          <a:solidFill>
            <a:srgbClr val="1428A0"/>
          </a:solidFill>
          <a:ln/>
        </p:spPr>
      </p:sp>
      <p:sp>
        <p:nvSpPr>
          <p:cNvPr id="25" name="Text 23"/>
          <p:cNvSpPr/>
          <p:nvPr/>
        </p:nvSpPr>
        <p:spPr>
          <a:xfrm>
            <a:off x="1028700" y="6245200"/>
            <a:ext cx="247269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80000"/>
                  </a:srgbClr>
                </a:solidFill>
                <a:latin typeface="Arial" pitchFamily="34" charset="0"/>
                <a:ea typeface="Arial" pitchFamily="34" charset="-122"/>
                <a:cs typeface="Arial" pitchFamily="34" charset="-120"/>
              </a:rPr>
              <a:t>제3선</a:t>
            </a:r>
            <a:endParaRPr lang="en-US" sz="1875" dirty="0"/>
          </a:p>
        </p:txBody>
      </p:sp>
      <p:sp>
        <p:nvSpPr>
          <p:cNvPr id="26" name="Text 24"/>
          <p:cNvSpPr/>
          <p:nvPr/>
        </p:nvSpPr>
        <p:spPr>
          <a:xfrm>
            <a:off x="1028700" y="6592863"/>
            <a:ext cx="2472690"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FFFFFF"/>
                </a:solidFill>
                <a:latin typeface="Arial" pitchFamily="34" charset="0"/>
                <a:ea typeface="Arial" pitchFamily="34" charset="-122"/>
                <a:cs typeface="Arial" pitchFamily="34" charset="-120"/>
              </a:rPr>
              <a:t>플랫폼과 관계</a:t>
            </a:r>
            <a:endParaRPr lang="en-US" sz="2550" dirty="0"/>
          </a:p>
        </p:txBody>
      </p:sp>
      <p:sp>
        <p:nvSpPr>
          <p:cNvPr id="27" name="Shape 25"/>
          <p:cNvSpPr/>
          <p:nvPr/>
        </p:nvSpPr>
        <p:spPr>
          <a:xfrm>
            <a:off x="3581400" y="7308131"/>
            <a:ext cx="13982700" cy="9525"/>
          </a:xfrm>
          <a:prstGeom prst="rect">
            <a:avLst/>
          </a:prstGeom>
          <a:solidFill>
            <a:srgbClr val="D9D9D9"/>
          </a:solidFill>
          <a:ln/>
        </p:spPr>
      </p:sp>
      <p:sp>
        <p:nvSpPr>
          <p:cNvPr id="28" name="Shape 26"/>
          <p:cNvSpPr/>
          <p:nvPr/>
        </p:nvSpPr>
        <p:spPr>
          <a:xfrm>
            <a:off x="3581400" y="5959450"/>
            <a:ext cx="13982700" cy="9525"/>
          </a:xfrm>
          <a:prstGeom prst="rect">
            <a:avLst/>
          </a:prstGeom>
          <a:solidFill>
            <a:srgbClr val="D9D9D9"/>
          </a:solidFill>
          <a:ln/>
        </p:spPr>
      </p:sp>
      <p:sp>
        <p:nvSpPr>
          <p:cNvPr id="29" name="Shape 27"/>
          <p:cNvSpPr/>
          <p:nvPr/>
        </p:nvSpPr>
        <p:spPr>
          <a:xfrm>
            <a:off x="17554575" y="5959450"/>
            <a:ext cx="9525" cy="1358205"/>
          </a:xfrm>
          <a:prstGeom prst="rect">
            <a:avLst/>
          </a:prstGeom>
          <a:solidFill>
            <a:srgbClr val="D9D9D9"/>
          </a:solidFill>
          <a:ln/>
        </p:spPr>
      </p:sp>
      <p:sp>
        <p:nvSpPr>
          <p:cNvPr id="30" name="Text 28"/>
          <p:cNvSpPr/>
          <p:nvPr/>
        </p:nvSpPr>
        <p:spPr>
          <a:xfrm>
            <a:off x="3924300" y="6267078"/>
            <a:ext cx="3335655" cy="781050"/>
          </a:xfrm>
          <a:prstGeom prst="rect">
            <a:avLst/>
          </a:prstGeom>
          <a:noFill/>
          <a:ln/>
        </p:spPr>
        <p:txBody>
          <a:bodyPr wrap="square" lIns="25400" tIns="25400" rIns="25400" bIns="25400" rtlCol="0" anchor="t">
            <a:normAutofit/>
          </a:bodyPr>
          <a:lstStyle/>
          <a:p>
            <a:pPr algn="l" indent="0" marL="0">
              <a:buNone/>
            </a:pPr>
            <a:r>
              <a:rPr lang="en-US" sz="2400" b="1" dirty="0">
                <a:solidFill>
                  <a:srgbClr val="1A1A1A"/>
                </a:solidFill>
                <a:latin typeface="Arial" pitchFamily="34" charset="0"/>
                <a:ea typeface="Arial" pitchFamily="34" charset="-122"/>
                <a:cs typeface="Arial" pitchFamily="34" charset="-120"/>
              </a:rPr>
              <a:t>대체되지 않는 위치를 만듭니다</a:t>
            </a:r>
            <a:endParaRPr lang="en-US" sz="2400" dirty="0"/>
          </a:p>
        </p:txBody>
      </p:sp>
      <p:sp>
        <p:nvSpPr>
          <p:cNvPr id="31" name="Text 29"/>
          <p:cNvSpPr/>
          <p:nvPr/>
        </p:nvSpPr>
        <p:spPr>
          <a:xfrm>
            <a:off x="7543800" y="6254725"/>
            <a:ext cx="9957911" cy="805755"/>
          </a:xfrm>
          <a:prstGeom prst="rect">
            <a:avLst/>
          </a:prstGeom>
          <a:noFill/>
          <a:ln/>
        </p:spPr>
        <p:txBody>
          <a:bodyPr wrap="square" lIns="25400" tIns="25400" rIns="25400" bIns="25400" rtlCol="0" anchor="t">
            <a:normAutofit/>
          </a:bodyPr>
          <a:lstStyle/>
          <a:p>
            <a:pPr algn="l" indent="0" marL="0">
              <a:lnSpc>
                <a:spcPct val="134333"/>
              </a:lnSpc>
              <a:buNone/>
            </a:pPr>
            <a:r>
              <a:rPr lang="en-US" sz="1950" dirty="0">
                <a:solidFill>
                  <a:srgbClr val="555555"/>
                </a:solidFill>
                <a:latin typeface="Arial" pitchFamily="34" charset="0"/>
                <a:ea typeface="Arial" pitchFamily="34" charset="-122"/>
                <a:cs typeface="Arial" pitchFamily="34" charset="-120"/>
              </a:rPr>
              <a:t>고객 시스템에 소프트웨어와 사람으로 결합하고, 밖에 있는 기술과 미래 고객의 자리를 미리 확보합니다.</a:t>
            </a:r>
            <a:endParaRPr lang="en-US" sz="1950" dirty="0"/>
          </a:p>
        </p:txBody>
      </p:sp>
      <p:sp>
        <p:nvSpPr>
          <p:cNvPr id="32" name="Shape 30"/>
          <p:cNvSpPr/>
          <p:nvPr/>
        </p:nvSpPr>
        <p:spPr>
          <a:xfrm>
            <a:off x="723900" y="7934325"/>
            <a:ext cx="16840200" cy="9525"/>
          </a:xfrm>
          <a:prstGeom prst="rect">
            <a:avLst/>
          </a:prstGeom>
          <a:solidFill>
            <a:srgbClr val="D9D9D9"/>
          </a:solidFill>
          <a:ln/>
        </p:spPr>
      </p:sp>
      <p:sp>
        <p:nvSpPr>
          <p:cNvPr id="33" name="Text 31"/>
          <p:cNvSpPr/>
          <p:nvPr/>
        </p:nvSpPr>
        <p:spPr>
          <a:xfrm>
            <a:off x="723900" y="8248650"/>
            <a:ext cx="905256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방향 전환의 순서도 함께 정해 두어야 합니다</a:t>
            </a:r>
            <a:endParaRPr lang="en-US" sz="1950" dirty="0"/>
          </a:p>
        </p:txBody>
      </p:sp>
      <p:sp>
        <p:nvSpPr>
          <p:cNvPr id="34" name="Text 32"/>
          <p:cNvSpPr/>
          <p:nvPr/>
        </p:nvSpPr>
        <p:spPr>
          <a:xfrm>
            <a:off x="723900" y="8629650"/>
            <a:ext cx="8476488"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1A1A1A"/>
                </a:solidFill>
                <a:latin typeface="Arial" pitchFamily="34" charset="0"/>
                <a:ea typeface="Arial" pitchFamily="34" charset="-122"/>
                <a:cs typeface="Arial" pitchFamily="34" charset="-120"/>
              </a:rPr>
              <a:t>집행 전 투자와 팹 용도를 먼저, 가동률과 제품 믹스를 다음에 조정하고, 사업 매각과 라인 폐쇄는 수요 소멸이 확인될 때만 검토합니다.</a:t>
            </a:r>
            <a:endParaRPr lang="en-US" sz="2025" dirty="0"/>
          </a:p>
        </p:txBody>
      </p:sp>
      <p:sp>
        <p:nvSpPr>
          <p:cNvPr id="35" name="Text 33"/>
          <p:cNvSpPr/>
          <p:nvPr/>
        </p:nvSpPr>
        <p:spPr>
          <a:xfrm>
            <a:off x="9334500" y="8248650"/>
            <a:ext cx="905256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555555"/>
                </a:solidFill>
                <a:latin typeface="Arial" pitchFamily="34" charset="0"/>
                <a:ea typeface="Arial" pitchFamily="34" charset="-122"/>
                <a:cs typeface="Arial" pitchFamily="34" charset="-120"/>
              </a:rPr>
              <a:t>2022년에서 2023년에는 순서가 반대였습니다</a:t>
            </a:r>
            <a:endParaRPr lang="en-US" sz="1950" dirty="0"/>
          </a:p>
        </p:txBody>
      </p:sp>
      <p:sp>
        <p:nvSpPr>
          <p:cNvPr id="36" name="Text 34"/>
          <p:cNvSpPr/>
          <p:nvPr/>
        </p:nvSpPr>
        <p:spPr>
          <a:xfrm>
            <a:off x="9334500" y="8629650"/>
            <a:ext cx="8476488" cy="809625"/>
          </a:xfrm>
          <a:prstGeom prst="rect">
            <a:avLst/>
          </a:prstGeom>
          <a:noFill/>
          <a:ln/>
        </p:spPr>
        <p:txBody>
          <a:bodyPr wrap="square" lIns="25400" tIns="25400" rIns="25400" bIns="25400" rtlCol="0" anchor="t">
            <a:normAutofit/>
          </a:bodyPr>
          <a:lstStyle/>
          <a:p>
            <a:pPr algn="l" indent="0" marL="0">
              <a:lnSpc>
                <a:spcPct val="130645"/>
              </a:lnSpc>
              <a:buNone/>
            </a:pPr>
            <a:r>
              <a:rPr lang="en-US" sz="2025" dirty="0">
                <a:solidFill>
                  <a:srgbClr val="555555"/>
                </a:solidFill>
                <a:latin typeface="Arial" pitchFamily="34" charset="0"/>
                <a:ea typeface="Arial" pitchFamily="34" charset="-122"/>
                <a:cs typeface="Arial" pitchFamily="34" charset="-120"/>
              </a:rPr>
              <a:t>경쟁사가 앞선 이유는 처음부터 옳았기 때문이 아니라, 틀린 판단을 3년 안에 자산 재배분으로 되돌렸기 때문입니다.</a:t>
            </a:r>
            <a:endParaRPr lang="en-US" sz="2025" dirty="0"/>
          </a:p>
        </p:txBody>
      </p:sp>
      <p:sp>
        <p:nvSpPr>
          <p:cNvPr id="37" name="Text 35"/>
          <p:cNvSpPr/>
          <p:nvPr/>
        </p:nvSpPr>
        <p:spPr>
          <a:xfrm>
            <a:off x="723900" y="9591675"/>
            <a:ext cx="571203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과제팀 스토리라인 (2026년 8월) · 가역성 층위 분석</a:t>
            </a:r>
            <a:endParaRPr lang="en-US" sz="1800" dirty="0"/>
          </a:p>
        </p:txBody>
      </p:sp>
      <p:sp>
        <p:nvSpPr>
          <p:cNvPr id="38" name="Text 36"/>
          <p:cNvSpPr/>
          <p:nvPr/>
        </p:nvSpPr>
        <p:spPr>
          <a:xfrm>
            <a:off x="16864980" y="9591675"/>
            <a:ext cx="77532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09 / 13</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제2 방어선 · 전략 1과 2</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두 번째 방어선은 제품의 부가가치를 지킵니다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설비를 옮겨 쓸 수 있는 몸과 옮겨 갈 곳이 있는 로드맵은 한쪽만으로 성립하지 않습니다.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Text 6"/>
          <p:cNvSpPr/>
          <p:nvPr/>
        </p:nvSpPr>
        <p:spPr>
          <a:xfrm>
            <a:off x="723900" y="2747739"/>
            <a:ext cx="896874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전략 1 · 전환할 수 있는 몸</a:t>
            </a:r>
            <a:endParaRPr lang="en-US" sz="1950" dirty="0"/>
          </a:p>
        </p:txBody>
      </p:sp>
      <p:sp>
        <p:nvSpPr>
          <p:cNvPr id="9" name="Text 7"/>
          <p:cNvSpPr/>
          <p:nvPr/>
        </p:nvSpPr>
        <p:spPr>
          <a:xfrm>
            <a:off x="723900" y="3128739"/>
            <a:ext cx="8968740" cy="459060"/>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1A1A1A"/>
                </a:solidFill>
                <a:latin typeface="Arial" pitchFamily="34" charset="0"/>
                <a:ea typeface="Arial" pitchFamily="34" charset="-122"/>
                <a:cs typeface="Arial" pitchFamily="34" charset="-120"/>
              </a:rPr>
              <a:t>적자의 크기를 정하는 것은 매출이 아니라 감가상각비입니다</a:t>
            </a:r>
            <a:endParaRPr lang="en-US" sz="2550" dirty="0"/>
          </a:p>
        </p:txBody>
      </p:sp>
      <p:sp>
        <p:nvSpPr>
          <p:cNvPr id="10" name="Text 8"/>
          <p:cNvSpPr/>
          <p:nvPr/>
        </p:nvSpPr>
        <p:spPr>
          <a:xfrm>
            <a:off x="723900" y="3740200"/>
            <a:ext cx="8968740"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감가상각비 추이, 조 원 (반도체 부문 기준). 매출이 줄어도 이 비용은 줄지 않습니다.</a:t>
            </a:r>
            <a:endParaRPr lang="en-US" sz="1800" dirty="0"/>
          </a:p>
        </p:txBody>
      </p:sp>
      <p:sp>
        <p:nvSpPr>
          <p:cNvPr id="11" name="Text 9"/>
          <p:cNvSpPr/>
          <p:nvPr/>
        </p:nvSpPr>
        <p:spPr>
          <a:xfrm>
            <a:off x="1240557" y="4402187"/>
            <a:ext cx="521122"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29.4</a:t>
            </a:r>
            <a:endParaRPr lang="en-US" sz="1800" dirty="0"/>
          </a:p>
        </p:txBody>
      </p:sp>
      <p:sp>
        <p:nvSpPr>
          <p:cNvPr id="12" name="Shape 10"/>
          <p:cNvSpPr/>
          <p:nvPr/>
        </p:nvSpPr>
        <p:spPr>
          <a:xfrm>
            <a:off x="723900" y="4721275"/>
            <a:ext cx="1478235" cy="590550"/>
          </a:xfrm>
          <a:prstGeom prst="rect">
            <a:avLst/>
          </a:prstGeom>
          <a:solidFill>
            <a:srgbClr val="1428A0"/>
          </a:solidFill>
          <a:ln/>
        </p:spPr>
      </p:sp>
      <p:sp>
        <p:nvSpPr>
          <p:cNvPr id="13" name="Text 11"/>
          <p:cNvSpPr/>
          <p:nvPr/>
        </p:nvSpPr>
        <p:spPr>
          <a:xfrm>
            <a:off x="2909292" y="4306937"/>
            <a:ext cx="521122"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34.1</a:t>
            </a:r>
            <a:endParaRPr lang="en-US" sz="1800" dirty="0"/>
          </a:p>
        </p:txBody>
      </p:sp>
      <p:sp>
        <p:nvSpPr>
          <p:cNvPr id="14" name="Shape 12"/>
          <p:cNvSpPr/>
          <p:nvPr/>
        </p:nvSpPr>
        <p:spPr>
          <a:xfrm>
            <a:off x="2392635" y="4626025"/>
            <a:ext cx="1478310" cy="685800"/>
          </a:xfrm>
          <a:prstGeom prst="rect">
            <a:avLst/>
          </a:prstGeom>
          <a:solidFill>
            <a:srgbClr val="1428A0"/>
          </a:solidFill>
          <a:ln/>
        </p:spPr>
      </p:sp>
      <p:sp>
        <p:nvSpPr>
          <p:cNvPr id="15" name="Text 13"/>
          <p:cNvSpPr/>
          <p:nvPr/>
        </p:nvSpPr>
        <p:spPr>
          <a:xfrm>
            <a:off x="4578102" y="4230737"/>
            <a:ext cx="521122"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38.0</a:t>
            </a:r>
            <a:endParaRPr lang="en-US" sz="1800" dirty="0"/>
          </a:p>
        </p:txBody>
      </p:sp>
      <p:sp>
        <p:nvSpPr>
          <p:cNvPr id="16" name="Shape 14"/>
          <p:cNvSpPr/>
          <p:nvPr/>
        </p:nvSpPr>
        <p:spPr>
          <a:xfrm>
            <a:off x="4061445" y="4549825"/>
            <a:ext cx="1478235" cy="762000"/>
          </a:xfrm>
          <a:prstGeom prst="rect">
            <a:avLst/>
          </a:prstGeom>
          <a:solidFill>
            <a:srgbClr val="1428A0"/>
          </a:solidFill>
          <a:ln/>
        </p:spPr>
      </p:sp>
      <p:sp>
        <p:nvSpPr>
          <p:cNvPr id="17" name="Text 15"/>
          <p:cNvSpPr/>
          <p:nvPr/>
        </p:nvSpPr>
        <p:spPr>
          <a:xfrm>
            <a:off x="6246837" y="4106912"/>
            <a:ext cx="521122"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555555"/>
                </a:solidFill>
                <a:latin typeface="Arial" pitchFamily="34" charset="0"/>
                <a:ea typeface="Arial" pitchFamily="34" charset="-122"/>
                <a:cs typeface="Arial" pitchFamily="34" charset="-120"/>
              </a:rPr>
              <a:t>44.5</a:t>
            </a:r>
            <a:endParaRPr lang="en-US" sz="1800" dirty="0"/>
          </a:p>
        </p:txBody>
      </p:sp>
      <p:sp>
        <p:nvSpPr>
          <p:cNvPr id="18" name="Shape 16"/>
          <p:cNvSpPr/>
          <p:nvPr/>
        </p:nvSpPr>
        <p:spPr>
          <a:xfrm>
            <a:off x="5730180" y="4426000"/>
            <a:ext cx="1478310" cy="885825"/>
          </a:xfrm>
          <a:prstGeom prst="rect">
            <a:avLst/>
          </a:prstGeom>
          <a:solidFill>
            <a:srgbClr val="AAB8E8"/>
          </a:solidFill>
          <a:ln/>
        </p:spPr>
      </p:sp>
      <p:sp>
        <p:nvSpPr>
          <p:cNvPr id="19" name="Text 17"/>
          <p:cNvSpPr/>
          <p:nvPr/>
        </p:nvSpPr>
        <p:spPr>
          <a:xfrm>
            <a:off x="7915647" y="4078337"/>
            <a:ext cx="521122" cy="300038"/>
          </a:xfrm>
          <a:prstGeom prst="rect">
            <a:avLst/>
          </a:prstGeom>
          <a:noFill/>
          <a:ln/>
        </p:spPr>
        <p:txBody>
          <a:bodyPr wrap="square" lIns="25400" tIns="25400" rIns="25400" bIns="25400" rtlCol="0" anchor="t">
            <a:normAutofit/>
          </a:bodyPr>
          <a:lstStyle/>
          <a:p>
            <a:pPr algn="l" indent="0" marL="0">
              <a:buNone/>
            </a:pPr>
            <a:r>
              <a:rPr lang="en-US" sz="1800" b="1" dirty="0">
                <a:solidFill>
                  <a:srgbClr val="555555"/>
                </a:solidFill>
                <a:latin typeface="Arial" pitchFamily="34" charset="0"/>
                <a:ea typeface="Arial" pitchFamily="34" charset="-122"/>
                <a:cs typeface="Arial" pitchFamily="34" charset="-120"/>
              </a:rPr>
              <a:t>45.9</a:t>
            </a:r>
            <a:endParaRPr lang="en-US" sz="1800" dirty="0"/>
          </a:p>
        </p:txBody>
      </p:sp>
      <p:sp>
        <p:nvSpPr>
          <p:cNvPr id="20" name="Shape 18"/>
          <p:cNvSpPr/>
          <p:nvPr/>
        </p:nvSpPr>
        <p:spPr>
          <a:xfrm>
            <a:off x="7398990" y="4397425"/>
            <a:ext cx="1478310" cy="914400"/>
          </a:xfrm>
          <a:prstGeom prst="rect">
            <a:avLst/>
          </a:prstGeom>
          <a:solidFill>
            <a:srgbClr val="AAB8E8"/>
          </a:solidFill>
          <a:ln/>
        </p:spPr>
      </p:sp>
      <p:sp>
        <p:nvSpPr>
          <p:cNvPr id="21" name="Shape 19"/>
          <p:cNvSpPr/>
          <p:nvPr/>
        </p:nvSpPr>
        <p:spPr>
          <a:xfrm>
            <a:off x="723900" y="5388025"/>
            <a:ext cx="8153400" cy="9525"/>
          </a:xfrm>
          <a:prstGeom prst="rect">
            <a:avLst/>
          </a:prstGeom>
          <a:solidFill>
            <a:srgbClr val="D9D9D9"/>
          </a:solidFill>
          <a:ln/>
        </p:spPr>
      </p:sp>
      <p:sp>
        <p:nvSpPr>
          <p:cNvPr id="22" name="Text 20"/>
          <p:cNvSpPr/>
          <p:nvPr/>
        </p:nvSpPr>
        <p:spPr>
          <a:xfrm>
            <a:off x="649988" y="5473750"/>
            <a:ext cx="1626059"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2023</a:t>
            </a:r>
            <a:endParaRPr lang="en-US" sz="1800" dirty="0"/>
          </a:p>
        </p:txBody>
      </p:sp>
      <p:sp>
        <p:nvSpPr>
          <p:cNvPr id="23" name="Text 21"/>
          <p:cNvSpPr/>
          <p:nvPr/>
        </p:nvSpPr>
        <p:spPr>
          <a:xfrm>
            <a:off x="2318720" y="5473750"/>
            <a:ext cx="1626141"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2024</a:t>
            </a:r>
            <a:endParaRPr lang="en-US" sz="1800" dirty="0"/>
          </a:p>
        </p:txBody>
      </p:sp>
      <p:sp>
        <p:nvSpPr>
          <p:cNvPr id="24" name="Text 22"/>
          <p:cNvSpPr/>
          <p:nvPr/>
        </p:nvSpPr>
        <p:spPr>
          <a:xfrm>
            <a:off x="3987533" y="5473750"/>
            <a:ext cx="1626059"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2025</a:t>
            </a:r>
            <a:endParaRPr lang="en-US" sz="1800" dirty="0"/>
          </a:p>
        </p:txBody>
      </p:sp>
      <p:sp>
        <p:nvSpPr>
          <p:cNvPr id="25" name="Text 23"/>
          <p:cNvSpPr/>
          <p:nvPr/>
        </p:nvSpPr>
        <p:spPr>
          <a:xfrm>
            <a:off x="5656265" y="5473750"/>
            <a:ext cx="1626141"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2028년 전망</a:t>
            </a:r>
            <a:endParaRPr lang="en-US" sz="1800" dirty="0"/>
          </a:p>
        </p:txBody>
      </p:sp>
      <p:sp>
        <p:nvSpPr>
          <p:cNvPr id="26" name="Text 24"/>
          <p:cNvSpPr/>
          <p:nvPr/>
        </p:nvSpPr>
        <p:spPr>
          <a:xfrm>
            <a:off x="7325075" y="5473750"/>
            <a:ext cx="1626141"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2029년 전망</a:t>
            </a:r>
            <a:endParaRPr lang="en-US" sz="1800" dirty="0"/>
          </a:p>
        </p:txBody>
      </p:sp>
      <p:sp>
        <p:nvSpPr>
          <p:cNvPr id="27" name="Text 25"/>
          <p:cNvSpPr/>
          <p:nvPr/>
        </p:nvSpPr>
        <p:spPr>
          <a:xfrm>
            <a:off x="723900" y="5826175"/>
            <a:ext cx="8398002"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같은 기간 손익분기 매출선은 </a:t>
            </a:r>
            <a:pPr algn="l" indent="0" marL="0">
              <a:lnSpc>
                <a:spcPct val="120690"/>
              </a:lnSpc>
              <a:buNone/>
            </a:pPr>
            <a:r>
              <a:rPr lang="en-US" sz="1875" b="1" dirty="0">
                <a:solidFill>
                  <a:srgbClr val="1428A0"/>
                </a:solidFill>
                <a:latin typeface="Arial" pitchFamily="34" charset="0"/>
                <a:ea typeface="Arial" pitchFamily="34" charset="-122"/>
                <a:cs typeface="Arial" pitchFamily="34" charset="-120"/>
              </a:rPr>
              <a:t>67조 원에서 104조 원 </a:t>
            </a:r>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으로 올라갑니다. 메모리 귀속 감가 증가분만 보아도 9.1조에서 11.5조 원입니다.</a:t>
            </a:r>
            <a:endParaRPr lang="en-US" sz="1875" dirty="0"/>
          </a:p>
        </p:txBody>
      </p:sp>
      <p:sp>
        <p:nvSpPr>
          <p:cNvPr id="28" name="Shape 26"/>
          <p:cNvSpPr/>
          <p:nvPr/>
        </p:nvSpPr>
        <p:spPr>
          <a:xfrm>
            <a:off x="723900" y="6683425"/>
            <a:ext cx="8153400" cy="9525"/>
          </a:xfrm>
          <a:prstGeom prst="rect">
            <a:avLst/>
          </a:prstGeom>
          <a:solidFill>
            <a:srgbClr val="D9D9D9"/>
          </a:solidFill>
          <a:ln/>
        </p:spPr>
      </p:sp>
      <p:sp>
        <p:nvSpPr>
          <p:cNvPr id="29" name="Text 27"/>
          <p:cNvSpPr/>
          <p:nvPr/>
        </p:nvSpPr>
        <p:spPr>
          <a:xfrm>
            <a:off x="723900" y="6845350"/>
            <a:ext cx="8968740"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b="1" dirty="0">
                <a:solidFill>
                  <a:srgbClr val="1428A0"/>
                </a:solidFill>
                <a:latin typeface="Arial" pitchFamily="34" charset="0"/>
                <a:ea typeface="Arial" pitchFamily="34" charset="-122"/>
                <a:cs typeface="Arial" pitchFamily="34" charset="-120"/>
              </a:rPr>
              <a:t>시간축. </a:t>
            </a:r>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공통 기술 축 위에 세대 로드맵을 정렬합니다.</a:t>
            </a:r>
            <a:endParaRPr lang="en-US" sz="1875" dirty="0"/>
          </a:p>
        </p:txBody>
      </p:sp>
      <p:sp>
        <p:nvSpPr>
          <p:cNvPr id="30" name="Text 28"/>
          <p:cNvSpPr/>
          <p:nvPr/>
        </p:nvSpPr>
        <p:spPr>
          <a:xfrm>
            <a:off x="723900" y="7273975"/>
            <a:ext cx="8968740"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b="1" dirty="0">
                <a:solidFill>
                  <a:srgbClr val="1428A0"/>
                </a:solidFill>
                <a:latin typeface="Arial" pitchFamily="34" charset="0"/>
                <a:ea typeface="Arial" pitchFamily="34" charset="-122"/>
                <a:cs typeface="Arial" pitchFamily="34" charset="-120"/>
              </a:rPr>
              <a:t>제품축. </a:t>
            </a:r>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제품은 여러 갈래로, 공정은 가능한 한 하나로 모읍니다.</a:t>
            </a:r>
            <a:endParaRPr lang="en-US" sz="1875" dirty="0"/>
          </a:p>
        </p:txBody>
      </p:sp>
      <p:sp>
        <p:nvSpPr>
          <p:cNvPr id="31" name="Text 29"/>
          <p:cNvSpPr/>
          <p:nvPr/>
        </p:nvSpPr>
        <p:spPr>
          <a:xfrm>
            <a:off x="723900" y="7702600"/>
            <a:ext cx="8968740"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b="1" dirty="0">
                <a:solidFill>
                  <a:srgbClr val="1428A0"/>
                </a:solidFill>
                <a:latin typeface="Arial" pitchFamily="34" charset="0"/>
                <a:ea typeface="Arial" pitchFamily="34" charset="-122"/>
                <a:cs typeface="Arial" pitchFamily="34" charset="-120"/>
              </a:rPr>
              <a:t>설비 세대축. </a:t>
            </a:r>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물량 제품과 보급형은 한두 세대 이전 노드로도 만들 수 있게 설계합니다.</a:t>
            </a:r>
            <a:endParaRPr lang="en-US" sz="1875" dirty="0"/>
          </a:p>
        </p:txBody>
      </p:sp>
      <p:sp>
        <p:nvSpPr>
          <p:cNvPr id="32" name="Shape 30"/>
          <p:cNvSpPr/>
          <p:nvPr/>
        </p:nvSpPr>
        <p:spPr>
          <a:xfrm>
            <a:off x="723900" y="8226475"/>
            <a:ext cx="8153400" cy="1056308"/>
          </a:xfrm>
          <a:prstGeom prst="rect">
            <a:avLst/>
          </a:prstGeom>
          <a:solidFill>
            <a:srgbClr val="F4F6FC"/>
          </a:solidFill>
          <a:ln/>
        </p:spPr>
      </p:sp>
      <p:sp>
        <p:nvSpPr>
          <p:cNvPr id="33" name="Text 31"/>
          <p:cNvSpPr/>
          <p:nvPr/>
        </p:nvSpPr>
        <p:spPr>
          <a:xfrm>
            <a:off x="971550" y="8416975"/>
            <a:ext cx="4023360" cy="385763"/>
          </a:xfrm>
          <a:prstGeom prst="rect">
            <a:avLst/>
          </a:prstGeom>
          <a:noFill/>
          <a:ln/>
        </p:spPr>
        <p:txBody>
          <a:bodyPr wrap="square" lIns="25400" tIns="25400" rIns="25400" bIns="25400" rtlCol="0" anchor="t">
            <a:normAutofit/>
          </a:bodyPr>
          <a:lstStyle/>
          <a:p>
            <a:pPr algn="l" indent="0" marL="0">
              <a:buNone/>
            </a:pPr>
            <a:r>
              <a:rPr lang="en-US" sz="2250" b="1" dirty="0">
                <a:solidFill>
                  <a:srgbClr val="1428A0"/>
                </a:solidFill>
                <a:latin typeface="Arial" pitchFamily="34" charset="0"/>
                <a:ea typeface="Arial" pitchFamily="34" charset="-122"/>
                <a:cs typeface="Arial" pitchFamily="34" charset="-120"/>
              </a:rPr>
              <a:t>6개월에서 3개월</a:t>
            </a:r>
            <a:endParaRPr lang="en-US" sz="2250" dirty="0"/>
          </a:p>
        </p:txBody>
      </p:sp>
      <p:sp>
        <p:nvSpPr>
          <p:cNvPr id="34" name="Text 32"/>
          <p:cNvSpPr/>
          <p:nvPr/>
        </p:nvSpPr>
        <p:spPr>
          <a:xfrm>
            <a:off x="971550" y="8783687"/>
            <a:ext cx="4023360" cy="34669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555555"/>
                </a:solidFill>
                <a:latin typeface="Arial" pitchFamily="34" charset="0"/>
                <a:ea typeface="Arial" pitchFamily="34" charset="-122"/>
                <a:cs typeface="Arial" pitchFamily="34" charset="-120"/>
              </a:rPr>
              <a:t>제품 전환 소요, 1회당 약 1조 원 효과</a:t>
            </a:r>
            <a:endParaRPr lang="en-US" sz="1800" dirty="0"/>
          </a:p>
        </p:txBody>
      </p:sp>
      <p:sp>
        <p:nvSpPr>
          <p:cNvPr id="35" name="Text 33"/>
          <p:cNvSpPr/>
          <p:nvPr/>
        </p:nvSpPr>
        <p:spPr>
          <a:xfrm>
            <a:off x="4972050" y="8416975"/>
            <a:ext cx="4023360" cy="385763"/>
          </a:xfrm>
          <a:prstGeom prst="rect">
            <a:avLst/>
          </a:prstGeom>
          <a:noFill/>
          <a:ln/>
        </p:spPr>
        <p:txBody>
          <a:bodyPr wrap="square" lIns="25400" tIns="25400" rIns="25400" bIns="25400" rtlCol="0" anchor="t">
            <a:normAutofit/>
          </a:bodyPr>
          <a:lstStyle/>
          <a:p>
            <a:pPr algn="l" indent="0" marL="0">
              <a:buNone/>
            </a:pPr>
            <a:r>
              <a:rPr lang="en-US" sz="2250" b="1" dirty="0">
                <a:solidFill>
                  <a:srgbClr val="1428A0"/>
                </a:solidFill>
                <a:latin typeface="Arial" pitchFamily="34" charset="0"/>
                <a:ea typeface="Arial" pitchFamily="34" charset="-122"/>
                <a:cs typeface="Arial" pitchFamily="34" charset="-120"/>
              </a:rPr>
              <a:t>25%에서 35%</a:t>
            </a:r>
            <a:endParaRPr lang="en-US" sz="2250" dirty="0"/>
          </a:p>
        </p:txBody>
      </p:sp>
      <p:sp>
        <p:nvSpPr>
          <p:cNvPr id="36" name="Text 34"/>
          <p:cNvSpPr/>
          <p:nvPr/>
        </p:nvSpPr>
        <p:spPr>
          <a:xfrm>
            <a:off x="4972050" y="8783687"/>
            <a:ext cx="4023360" cy="34669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555555"/>
                </a:solidFill>
                <a:latin typeface="Arial" pitchFamily="34" charset="0"/>
                <a:ea typeface="Arial" pitchFamily="34" charset="-122"/>
                <a:cs typeface="Arial" pitchFamily="34" charset="-120"/>
              </a:rPr>
              <a:t>이전 세대 노드 활용 시 원가 우위</a:t>
            </a:r>
            <a:endParaRPr lang="en-US" sz="1800" dirty="0"/>
          </a:p>
        </p:txBody>
      </p:sp>
      <p:sp>
        <p:nvSpPr>
          <p:cNvPr id="37" name="Text 35"/>
          <p:cNvSpPr/>
          <p:nvPr/>
        </p:nvSpPr>
        <p:spPr>
          <a:xfrm>
            <a:off x="9410700" y="2747739"/>
            <a:ext cx="896874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전략 2 · 판을 옮기는 아키텍처</a:t>
            </a:r>
            <a:endParaRPr lang="en-US" sz="1950" dirty="0"/>
          </a:p>
        </p:txBody>
      </p:sp>
      <p:sp>
        <p:nvSpPr>
          <p:cNvPr id="38" name="Text 36"/>
          <p:cNvSpPr/>
          <p:nvPr/>
        </p:nvSpPr>
        <p:spPr>
          <a:xfrm>
            <a:off x="9410700" y="3128739"/>
            <a:ext cx="8968740" cy="459060"/>
          </a:xfrm>
          <a:prstGeom prst="rect">
            <a:avLst/>
          </a:prstGeom>
          <a:noFill/>
          <a:ln/>
        </p:spPr>
        <p:txBody>
          <a:bodyPr wrap="square" lIns="25400" tIns="25400" rIns="25400" bIns="25400" rtlCol="0" anchor="t">
            <a:normAutofit/>
          </a:bodyPr>
          <a:lstStyle/>
          <a:p>
            <a:pPr algn="l" indent="0" marL="0">
              <a:lnSpc>
                <a:spcPct val="113333"/>
              </a:lnSpc>
              <a:buNone/>
            </a:pPr>
            <a:r>
              <a:rPr lang="en-US" sz="2550" b="1" dirty="0">
                <a:solidFill>
                  <a:srgbClr val="1A1A1A"/>
                </a:solidFill>
                <a:latin typeface="Arial" pitchFamily="34" charset="0"/>
                <a:ea typeface="Arial" pitchFamily="34" charset="-122"/>
                <a:cs typeface="Arial" pitchFamily="34" charset="-120"/>
              </a:rPr>
              <a:t>중국이 자본으로 따라올 수 있는 축에 서 있습니다</a:t>
            </a:r>
            <a:endParaRPr lang="en-US" sz="2550" dirty="0"/>
          </a:p>
        </p:txBody>
      </p:sp>
      <p:sp>
        <p:nvSpPr>
          <p:cNvPr id="39" name="Text 37"/>
          <p:cNvSpPr/>
          <p:nvPr/>
        </p:nvSpPr>
        <p:spPr>
          <a:xfrm>
            <a:off x="9410700" y="3625900"/>
            <a:ext cx="8968740" cy="371475"/>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555555"/>
                </a:solidFill>
                <a:latin typeface="Arial" pitchFamily="34" charset="0"/>
                <a:ea typeface="Arial" pitchFamily="34" charset="-122"/>
                <a:cs typeface="Arial" pitchFamily="34" charset="-120"/>
              </a:rPr>
              <a:t>셀 구조와 생산능력, 원가는 설비 투자로 좁혀지는 영역입니다.</a:t>
            </a:r>
            <a:endParaRPr lang="en-US" sz="1875" dirty="0"/>
          </a:p>
        </p:txBody>
      </p:sp>
      <p:sp>
        <p:nvSpPr>
          <p:cNvPr id="40" name="Text 38"/>
          <p:cNvSpPr/>
          <p:nvPr/>
        </p:nvSpPr>
        <p:spPr>
          <a:xfrm>
            <a:off x="9410700" y="4149775"/>
            <a:ext cx="431673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1428A0"/>
                </a:solidFill>
                <a:latin typeface="Arial" pitchFamily="34" charset="0"/>
                <a:ea typeface="Arial" pitchFamily="34" charset="-122"/>
                <a:cs typeface="Arial" pitchFamily="34" charset="-120"/>
              </a:rPr>
              <a:t>4.9%에서 8%</a:t>
            </a:r>
            <a:endParaRPr lang="en-US" sz="2850" dirty="0"/>
          </a:p>
        </p:txBody>
      </p:sp>
      <p:sp>
        <p:nvSpPr>
          <p:cNvPr id="41" name="Text 39"/>
          <p:cNvSpPr/>
          <p:nvPr/>
        </p:nvSpPr>
        <p:spPr>
          <a:xfrm>
            <a:off x="9410700" y="4604072"/>
            <a:ext cx="4042029" cy="678061"/>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55555"/>
                </a:solidFill>
                <a:latin typeface="Arial" pitchFamily="34" charset="0"/>
                <a:ea typeface="Arial" pitchFamily="34" charset="-122"/>
                <a:cs typeface="Arial" pitchFamily="34" charset="-120"/>
              </a:rPr>
              <a:t>중국 업체 디램 점유율, 낸드는 약 5%에서 13%</a:t>
            </a:r>
            <a:endParaRPr lang="en-US" sz="1800" dirty="0"/>
          </a:p>
        </p:txBody>
      </p:sp>
      <p:sp>
        <p:nvSpPr>
          <p:cNvPr id="42" name="Text 40"/>
          <p:cNvSpPr/>
          <p:nvPr/>
        </p:nvSpPr>
        <p:spPr>
          <a:xfrm>
            <a:off x="13639800" y="4149775"/>
            <a:ext cx="431673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1A1A1A"/>
                </a:solidFill>
                <a:latin typeface="Arial" pitchFamily="34" charset="0"/>
                <a:ea typeface="Arial" pitchFamily="34" charset="-122"/>
                <a:cs typeface="Arial" pitchFamily="34" charset="-120"/>
              </a:rPr>
              <a:t>절반 이하</a:t>
            </a:r>
            <a:endParaRPr lang="en-US" sz="2850" dirty="0"/>
          </a:p>
        </p:txBody>
      </p:sp>
      <p:sp>
        <p:nvSpPr>
          <p:cNvPr id="43" name="Text 41"/>
          <p:cNvSpPr/>
          <p:nvPr/>
        </p:nvSpPr>
        <p:spPr>
          <a:xfrm>
            <a:off x="13639800" y="4604072"/>
            <a:ext cx="4316730" cy="358080"/>
          </a:xfrm>
          <a:prstGeom prst="rect">
            <a:avLst/>
          </a:prstGeom>
          <a:noFill/>
          <a:ln/>
        </p:spPr>
        <p:txBody>
          <a:bodyPr wrap="square" lIns="25400" tIns="25400" rIns="25400" bIns="25400" rtlCol="0" anchor="t">
            <a:normAutofit/>
          </a:bodyPr>
          <a:lstStyle/>
          <a:p>
            <a:pPr algn="l" indent="0" marL="0">
              <a:lnSpc>
                <a:spcPct val="122182"/>
              </a:lnSpc>
              <a:buNone/>
            </a:pPr>
            <a:r>
              <a:rPr lang="en-US" sz="1800" dirty="0">
                <a:solidFill>
                  <a:srgbClr val="555555"/>
                </a:solidFill>
                <a:latin typeface="Arial" pitchFamily="34" charset="0"/>
                <a:ea typeface="Arial" pitchFamily="34" charset="-122"/>
                <a:cs typeface="Arial" pitchFamily="34" charset="-120"/>
              </a:rPr>
              <a:t>주문형 제품 개발 기간, 2년에서 3년 대비</a:t>
            </a:r>
            <a:endParaRPr lang="en-US" sz="1800" dirty="0"/>
          </a:p>
        </p:txBody>
      </p:sp>
      <p:sp>
        <p:nvSpPr>
          <p:cNvPr id="44" name="Shape 42"/>
          <p:cNvSpPr/>
          <p:nvPr/>
        </p:nvSpPr>
        <p:spPr>
          <a:xfrm>
            <a:off x="9410700" y="5434533"/>
            <a:ext cx="8153400" cy="9525"/>
          </a:xfrm>
          <a:prstGeom prst="rect">
            <a:avLst/>
          </a:prstGeom>
          <a:solidFill>
            <a:srgbClr val="D9D9D9"/>
          </a:solidFill>
          <a:ln/>
        </p:spPr>
      </p:sp>
      <p:sp>
        <p:nvSpPr>
          <p:cNvPr id="45" name="Text 43"/>
          <p:cNvSpPr/>
          <p:nvPr/>
        </p:nvSpPr>
        <p:spPr>
          <a:xfrm>
            <a:off x="9410700" y="5634558"/>
            <a:ext cx="8968740" cy="397148"/>
          </a:xfrm>
          <a:prstGeom prst="rect">
            <a:avLst/>
          </a:prstGeom>
          <a:noFill/>
          <a:ln/>
        </p:spPr>
        <p:txBody>
          <a:bodyPr wrap="square" lIns="25400" tIns="25400" rIns="25400" bIns="25400" rtlCol="0" anchor="t">
            <a:normAutofit/>
          </a:bodyPr>
          <a:lstStyle/>
          <a:p>
            <a:pPr algn="l" indent="0" marL="0">
              <a:lnSpc>
                <a:spcPct val="125667"/>
              </a:lnSpc>
              <a:buNone/>
            </a:pPr>
            <a:r>
              <a:rPr lang="en-US" sz="1950" b="1" dirty="0">
                <a:solidFill>
                  <a:srgbClr val="1428A0"/>
                </a:solidFill>
                <a:latin typeface="Arial" pitchFamily="34" charset="0"/>
                <a:ea typeface="Arial" pitchFamily="34" charset="-122"/>
                <a:cs typeface="Arial" pitchFamily="34" charset="-120"/>
              </a:rPr>
              <a:t>첫째. </a:t>
            </a:r>
            <a:pPr algn="l" indent="0" marL="0">
              <a:lnSpc>
                <a:spcPct val="125667"/>
              </a:lnSpc>
              <a:buNone/>
            </a:pPr>
            <a:r>
              <a:rPr lang="en-US" sz="1950" dirty="0">
                <a:solidFill>
                  <a:srgbClr val="1A1A1A"/>
                </a:solidFill>
                <a:latin typeface="Arial" pitchFamily="34" charset="0"/>
                <a:ea typeface="Arial" pitchFamily="34" charset="-122"/>
                <a:cs typeface="Arial" pitchFamily="34" charset="-120"/>
              </a:rPr>
              <a:t>웨이퍼 본딩은 원가가 아니라 개발의 시간을 사는 선택입니다.</a:t>
            </a:r>
            <a:endParaRPr lang="en-US" sz="1950" dirty="0"/>
          </a:p>
        </p:txBody>
      </p:sp>
      <p:sp>
        <p:nvSpPr>
          <p:cNvPr id="46" name="Text 44"/>
          <p:cNvSpPr/>
          <p:nvPr/>
        </p:nvSpPr>
        <p:spPr>
          <a:xfrm>
            <a:off x="9410700" y="6126956"/>
            <a:ext cx="8968740" cy="397148"/>
          </a:xfrm>
          <a:prstGeom prst="rect">
            <a:avLst/>
          </a:prstGeom>
          <a:noFill/>
          <a:ln/>
        </p:spPr>
        <p:txBody>
          <a:bodyPr wrap="square" lIns="25400" tIns="25400" rIns="25400" bIns="25400" rtlCol="0" anchor="t">
            <a:normAutofit/>
          </a:bodyPr>
          <a:lstStyle/>
          <a:p>
            <a:pPr algn="l" indent="0" marL="0">
              <a:lnSpc>
                <a:spcPct val="125667"/>
              </a:lnSpc>
              <a:buNone/>
            </a:pPr>
            <a:r>
              <a:rPr lang="en-US" sz="1950" b="1" dirty="0">
                <a:solidFill>
                  <a:srgbClr val="1428A0"/>
                </a:solidFill>
                <a:latin typeface="Arial" pitchFamily="34" charset="0"/>
                <a:ea typeface="Arial" pitchFamily="34" charset="-122"/>
                <a:cs typeface="Arial" pitchFamily="34" charset="-120"/>
              </a:rPr>
              <a:t>둘째. </a:t>
            </a:r>
            <a:pPr algn="l" indent="0" marL="0">
              <a:lnSpc>
                <a:spcPct val="125667"/>
              </a:lnSpc>
              <a:buNone/>
            </a:pPr>
            <a:r>
              <a:rPr lang="en-US" sz="1950" dirty="0">
                <a:solidFill>
                  <a:srgbClr val="1A1A1A"/>
                </a:solidFill>
                <a:latin typeface="Arial" pitchFamily="34" charset="0"/>
                <a:ea typeface="Arial" pitchFamily="34" charset="-122"/>
                <a:cs typeface="Arial" pitchFamily="34" charset="-120"/>
              </a:rPr>
              <a:t>주문형 고대역폭 메모리는 여러 제품, 하나의 설계 플랫폼으로 대응합니다.</a:t>
            </a:r>
            <a:endParaRPr lang="en-US" sz="1950" dirty="0"/>
          </a:p>
        </p:txBody>
      </p:sp>
      <p:sp>
        <p:nvSpPr>
          <p:cNvPr id="47" name="Text 45"/>
          <p:cNvSpPr/>
          <p:nvPr/>
        </p:nvSpPr>
        <p:spPr>
          <a:xfrm>
            <a:off x="9410700" y="6619354"/>
            <a:ext cx="8968740" cy="397148"/>
          </a:xfrm>
          <a:prstGeom prst="rect">
            <a:avLst/>
          </a:prstGeom>
          <a:noFill/>
          <a:ln/>
        </p:spPr>
        <p:txBody>
          <a:bodyPr wrap="square" lIns="25400" tIns="25400" rIns="25400" bIns="25400" rtlCol="0" anchor="t">
            <a:normAutofit/>
          </a:bodyPr>
          <a:lstStyle/>
          <a:p>
            <a:pPr algn="l" indent="0" marL="0">
              <a:lnSpc>
                <a:spcPct val="125667"/>
              </a:lnSpc>
              <a:buNone/>
            </a:pPr>
            <a:r>
              <a:rPr lang="en-US" sz="1950" b="1" dirty="0">
                <a:solidFill>
                  <a:srgbClr val="1428A0"/>
                </a:solidFill>
                <a:latin typeface="Arial" pitchFamily="34" charset="0"/>
                <a:ea typeface="Arial" pitchFamily="34" charset="-122"/>
                <a:cs typeface="Arial" pitchFamily="34" charset="-120"/>
              </a:rPr>
              <a:t>셋째. </a:t>
            </a:r>
            <a:pPr algn="l" indent="0" marL="0">
              <a:lnSpc>
                <a:spcPct val="125667"/>
              </a:lnSpc>
              <a:buNone/>
            </a:pPr>
            <a:r>
              <a:rPr lang="en-US" sz="1950" dirty="0">
                <a:solidFill>
                  <a:srgbClr val="1A1A1A"/>
                </a:solidFill>
                <a:latin typeface="Arial" pitchFamily="34" charset="0"/>
                <a:ea typeface="Arial" pitchFamily="34" charset="-122"/>
                <a:cs typeface="Arial" pitchFamily="34" charset="-120"/>
              </a:rPr>
              <a:t>분할 경계 검토를 설계 승인 요건에 넣는 방안을 함께 보고 있습니다.</a:t>
            </a:r>
            <a:endParaRPr lang="en-US" sz="1950" dirty="0"/>
          </a:p>
        </p:txBody>
      </p:sp>
      <p:sp>
        <p:nvSpPr>
          <p:cNvPr id="48" name="Shape 46"/>
          <p:cNvSpPr/>
          <p:nvPr/>
        </p:nvSpPr>
        <p:spPr>
          <a:xfrm>
            <a:off x="9410700" y="7639050"/>
            <a:ext cx="8153400" cy="1485900"/>
          </a:xfrm>
          <a:prstGeom prst="rect">
            <a:avLst/>
          </a:prstGeom>
          <a:solidFill>
            <a:srgbClr val="F4F6FC"/>
          </a:solidFill>
          <a:ln/>
        </p:spPr>
      </p:sp>
      <p:sp>
        <p:nvSpPr>
          <p:cNvPr id="49" name="Text 47"/>
          <p:cNvSpPr/>
          <p:nvPr/>
        </p:nvSpPr>
        <p:spPr>
          <a:xfrm>
            <a:off x="9677400" y="7867650"/>
            <a:ext cx="838200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우리만 가진 네 가지 조건</a:t>
            </a:r>
            <a:endParaRPr lang="en-US" sz="1950" dirty="0"/>
          </a:p>
        </p:txBody>
      </p:sp>
      <p:sp>
        <p:nvSpPr>
          <p:cNvPr id="50" name="Text 48"/>
          <p:cNvSpPr/>
          <p:nvPr/>
        </p:nvSpPr>
        <p:spPr>
          <a:xfrm>
            <a:off x="9677400" y="8229600"/>
            <a:ext cx="7848600" cy="704850"/>
          </a:xfrm>
          <a:prstGeom prst="rect">
            <a:avLst/>
          </a:prstGeom>
          <a:noFill/>
          <a:ln/>
        </p:spPr>
        <p:txBody>
          <a:bodyPr wrap="square" lIns="25400" tIns="25400" rIns="25400" bIns="25400" rtlCol="0" anchor="t">
            <a:normAutofit/>
          </a:bodyPr>
          <a:lstStyle/>
          <a:p>
            <a:pPr algn="l" indent="0" marL="0">
              <a:lnSpc>
                <a:spcPct val="120690"/>
              </a:lnSpc>
              <a:buNone/>
            </a:pPr>
            <a:r>
              <a:rPr lang="en-US" sz="1875" dirty="0">
                <a:solidFill>
                  <a:srgbClr val="1A1A1A"/>
                </a:solidFill>
                <a:latin typeface="Arial" pitchFamily="34" charset="0"/>
                <a:ea typeface="Arial" pitchFamily="34" charset="-122"/>
                <a:cs typeface="Arial" pitchFamily="34" charset="-120"/>
              </a:rPr>
              <a:t>하이브리드 본딩, 선단 로직 노드, 디램 셀과 스택, 선단 패키징을 모두 보유한 회사는 한 곳입니다.</a:t>
            </a:r>
            <a:endParaRPr lang="en-US" sz="1875" dirty="0"/>
          </a:p>
        </p:txBody>
      </p:sp>
      <p:sp>
        <p:nvSpPr>
          <p:cNvPr id="51" name="Text 49"/>
          <p:cNvSpPr/>
          <p:nvPr/>
        </p:nvSpPr>
        <p:spPr>
          <a:xfrm>
            <a:off x="723900" y="9315450"/>
            <a:ext cx="16389854" cy="590550"/>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제조 유연성 제안 · 디램 아키텍처 제안 (2026년 8월). 2021년부터 2023년까지 3년간 139.9조 원을 집행했고 2023년 48.4조 원이 사상 최대입니다. 감가 모델은 설비투자의 75%를 장비로 보고 5년 정액 상각한 산출이며 메모리 귀속분은 55에서 70%로 가정했습니다.</a:t>
            </a:r>
            <a:endParaRPr lang="en-US" sz="1800" dirty="0"/>
          </a:p>
        </p:txBody>
      </p:sp>
      <p:sp>
        <p:nvSpPr>
          <p:cNvPr id="52" name="Text 50"/>
          <p:cNvSpPr/>
          <p:nvPr/>
        </p:nvSpPr>
        <p:spPr>
          <a:xfrm>
            <a:off x="16864980" y="9315450"/>
            <a:ext cx="775320" cy="590550"/>
          </a:xfrm>
          <a:prstGeom prst="rect">
            <a:avLst/>
          </a:prstGeom>
          <a:noFill/>
          <a:ln/>
        </p:spPr>
        <p:txBody>
          <a:bodyPr wrap="non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10 / 13</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제3 방어선 · 전략 3</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소프트웨어를 팔지 않고, 소프트웨어로 SSD를 지킵니다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계약 조건은 하강기에 재협상되지만, 고객의 아키텍처에 결합된 통합은 재협상되지 않습니다.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Text 6"/>
          <p:cNvSpPr/>
          <p:nvPr/>
        </p:nvSpPr>
        <p:spPr>
          <a:xfrm>
            <a:off x="723900" y="2747739"/>
            <a:ext cx="834295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기업 저장 인프라 중 자체 설계 SSD(Captive SSD) 비중, %</a:t>
            </a:r>
            <a:endParaRPr lang="en-US" sz="1800" dirty="0"/>
          </a:p>
        </p:txBody>
      </p:sp>
      <p:sp>
        <p:nvSpPr>
          <p:cNvPr id="9" name="Text 7"/>
          <p:cNvSpPr/>
          <p:nvPr/>
        </p:nvSpPr>
        <p:spPr>
          <a:xfrm>
            <a:off x="1490514" y="4357464"/>
            <a:ext cx="931441"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555555"/>
                </a:solidFill>
                <a:latin typeface="Arial" pitchFamily="34" charset="0"/>
                <a:ea typeface="Arial" pitchFamily="34" charset="-122"/>
                <a:cs typeface="Arial" pitchFamily="34" charset="-120"/>
              </a:rPr>
              <a:t>5% 미만</a:t>
            </a:r>
            <a:endParaRPr lang="en-US" sz="1950" dirty="0"/>
          </a:p>
        </p:txBody>
      </p:sp>
      <p:sp>
        <p:nvSpPr>
          <p:cNvPr id="10" name="Shape 8"/>
          <p:cNvSpPr/>
          <p:nvPr/>
        </p:nvSpPr>
        <p:spPr>
          <a:xfrm>
            <a:off x="723900" y="4738464"/>
            <a:ext cx="2388468" cy="247650"/>
          </a:xfrm>
          <a:prstGeom prst="rect">
            <a:avLst/>
          </a:prstGeom>
          <a:solidFill>
            <a:srgbClr val="AAB8E8"/>
          </a:solidFill>
          <a:ln/>
        </p:spPr>
      </p:sp>
      <p:sp>
        <p:nvSpPr>
          <p:cNvPr id="11" name="Text 9"/>
          <p:cNvSpPr/>
          <p:nvPr/>
        </p:nvSpPr>
        <p:spPr>
          <a:xfrm>
            <a:off x="4019699" y="3119214"/>
            <a:ext cx="1069107"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30% 초과</a:t>
            </a:r>
            <a:endParaRPr lang="en-US" sz="1950" dirty="0"/>
          </a:p>
        </p:txBody>
      </p:sp>
      <p:sp>
        <p:nvSpPr>
          <p:cNvPr id="12" name="Shape 10"/>
          <p:cNvSpPr/>
          <p:nvPr/>
        </p:nvSpPr>
        <p:spPr>
          <a:xfrm>
            <a:off x="3321918" y="3500214"/>
            <a:ext cx="2388468" cy="1485900"/>
          </a:xfrm>
          <a:prstGeom prst="rect">
            <a:avLst/>
          </a:prstGeom>
          <a:solidFill>
            <a:srgbClr val="1428A0"/>
          </a:solidFill>
          <a:ln/>
        </p:spPr>
      </p:sp>
      <p:sp>
        <p:nvSpPr>
          <p:cNvPr id="13" name="Text 11"/>
          <p:cNvSpPr/>
          <p:nvPr/>
        </p:nvSpPr>
        <p:spPr>
          <a:xfrm>
            <a:off x="6651278" y="3119214"/>
            <a:ext cx="1001911"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555555"/>
                </a:solidFill>
                <a:latin typeface="Arial" pitchFamily="34" charset="0"/>
                <a:ea typeface="Arial" pitchFamily="34" charset="-122"/>
                <a:cs typeface="Arial" pitchFamily="34" charset="-120"/>
              </a:rPr>
              <a:t>입력 예정</a:t>
            </a:r>
            <a:endParaRPr lang="en-US" sz="1950" dirty="0"/>
          </a:p>
        </p:txBody>
      </p:sp>
      <p:sp>
        <p:nvSpPr>
          <p:cNvPr id="14" name="Shape 12"/>
          <p:cNvSpPr/>
          <p:nvPr/>
        </p:nvSpPr>
        <p:spPr>
          <a:xfrm>
            <a:off x="5919936" y="3500214"/>
            <a:ext cx="2388468" cy="1485900"/>
          </a:xfrm>
          <a:prstGeom prst="rect">
            <a:avLst/>
          </a:prstGeom>
          <a:ln w="19050">
            <a:solidFill>
              <a:srgbClr val="AAB8E8"/>
            </a:solidFill>
            <a:prstDash val="dash"/>
          </a:ln>
        </p:spPr>
      </p:sp>
      <p:sp>
        <p:nvSpPr>
          <p:cNvPr id="15" name="Shape 13"/>
          <p:cNvSpPr/>
          <p:nvPr/>
        </p:nvSpPr>
        <p:spPr>
          <a:xfrm>
            <a:off x="723900" y="5081364"/>
            <a:ext cx="7584504" cy="9525"/>
          </a:xfrm>
          <a:prstGeom prst="rect">
            <a:avLst/>
          </a:prstGeom>
          <a:solidFill>
            <a:srgbClr val="D9D9D9"/>
          </a:solidFill>
          <a:ln/>
        </p:spPr>
      </p:sp>
      <p:sp>
        <p:nvSpPr>
          <p:cNvPr id="16" name="Text 14"/>
          <p:cNvSpPr/>
          <p:nvPr/>
        </p:nvSpPr>
        <p:spPr>
          <a:xfrm>
            <a:off x="604477" y="5186139"/>
            <a:ext cx="2627315"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2023</a:t>
            </a:r>
            <a:endParaRPr lang="en-US" sz="1800" dirty="0"/>
          </a:p>
        </p:txBody>
      </p:sp>
      <p:sp>
        <p:nvSpPr>
          <p:cNvPr id="17" name="Text 15"/>
          <p:cNvSpPr/>
          <p:nvPr/>
        </p:nvSpPr>
        <p:spPr>
          <a:xfrm>
            <a:off x="3202495" y="5186139"/>
            <a:ext cx="2627315"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2026 (가트너 전망)</a:t>
            </a:r>
            <a:endParaRPr lang="en-US" sz="1800" dirty="0"/>
          </a:p>
        </p:txBody>
      </p:sp>
      <p:sp>
        <p:nvSpPr>
          <p:cNvPr id="18" name="Text 16"/>
          <p:cNvSpPr/>
          <p:nvPr/>
        </p:nvSpPr>
        <p:spPr>
          <a:xfrm>
            <a:off x="5800513" y="5186139"/>
            <a:ext cx="2627315" cy="314325"/>
          </a:xfrm>
          <a:prstGeom prst="rect">
            <a:avLst/>
          </a:prstGeom>
          <a:noFill/>
          <a:ln/>
        </p:spPr>
        <p:txBody>
          <a:bodyPr wrap="square" lIns="25400" tIns="25400" rIns="25400" bIns="25400" rtlCol="0" anchor="t">
            <a:normAutofit/>
          </a:bodyPr>
          <a:lstStyle/>
          <a:p>
            <a:pPr algn="ctr" indent="0" marL="0">
              <a:buNone/>
            </a:pPr>
            <a:r>
              <a:rPr lang="en-US" sz="1800" dirty="0">
                <a:solidFill>
                  <a:srgbClr val="555555"/>
                </a:solidFill>
                <a:latin typeface="Arial" pitchFamily="34" charset="0"/>
                <a:ea typeface="Arial" pitchFamily="34" charset="-122"/>
                <a:cs typeface="Arial" pitchFamily="34" charset="-120"/>
              </a:rPr>
              <a:t>2029</a:t>
            </a:r>
            <a:endParaRPr lang="en-US" sz="1800" dirty="0"/>
          </a:p>
        </p:txBody>
      </p:sp>
      <p:sp>
        <p:nvSpPr>
          <p:cNvPr id="19" name="Text 17"/>
          <p:cNvSpPr/>
          <p:nvPr/>
        </p:nvSpPr>
        <p:spPr>
          <a:xfrm>
            <a:off x="723900" y="5671914"/>
            <a:ext cx="8342955"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A1A1A"/>
                </a:solidFill>
                <a:latin typeface="Arial" pitchFamily="34" charset="0"/>
                <a:ea typeface="Arial" pitchFamily="34" charset="-122"/>
                <a:cs typeface="Arial" pitchFamily="34" charset="-120"/>
              </a:rPr>
              <a:t>통제권은 10년째 한 방향으로만 움직였습니다</a:t>
            </a:r>
            <a:endParaRPr lang="en-US" sz="1950" dirty="0"/>
          </a:p>
        </p:txBody>
      </p:sp>
      <p:sp>
        <p:nvSpPr>
          <p:cNvPr id="20" name="Text 18"/>
          <p:cNvSpPr/>
          <p:nvPr/>
        </p:nvSpPr>
        <p:spPr>
          <a:xfrm>
            <a:off x="723900" y="6100539"/>
            <a:ext cx="157162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2016년까지</a:t>
            </a:r>
            <a:endParaRPr lang="en-US" sz="1800" dirty="0"/>
          </a:p>
        </p:txBody>
      </p:sp>
      <p:sp>
        <p:nvSpPr>
          <p:cNvPr id="21" name="Text 19"/>
          <p:cNvSpPr/>
          <p:nvPr/>
        </p:nvSpPr>
        <p:spPr>
          <a:xfrm>
            <a:off x="2305050" y="6091014"/>
            <a:ext cx="3617029" cy="328613"/>
          </a:xfrm>
          <a:prstGeom prst="rect">
            <a:avLst/>
          </a:prstGeom>
          <a:noFill/>
          <a:ln/>
        </p:spPr>
        <p:txBody>
          <a:bodyPr wrap="square" lIns="25400" tIns="25400" rIns="25400" bIns="25400" rtlCol="0" anchor="t">
            <a:normAutofit/>
          </a:bodyPr>
          <a:lstStyle/>
          <a:p>
            <a:pPr algn="l" indent="0" marL="0">
              <a:buNone/>
            </a:pPr>
            <a:r>
              <a:rPr lang="en-US" sz="1875" dirty="0">
                <a:solidFill>
                  <a:srgbClr val="1A1A1A"/>
                </a:solidFill>
                <a:latin typeface="Arial" pitchFamily="34" charset="0"/>
                <a:ea typeface="Arial" pitchFamily="34" charset="-122"/>
                <a:cs typeface="Arial" pitchFamily="34" charset="-120"/>
              </a:rPr>
              <a:t>벤더 표준품을 그대로 구매했습니다</a:t>
            </a:r>
            <a:endParaRPr lang="en-US" sz="1875" dirty="0"/>
          </a:p>
        </p:txBody>
      </p:sp>
      <p:sp>
        <p:nvSpPr>
          <p:cNvPr id="22" name="Text 20"/>
          <p:cNvSpPr/>
          <p:nvPr/>
        </p:nvSpPr>
        <p:spPr>
          <a:xfrm>
            <a:off x="723900" y="6486302"/>
            <a:ext cx="157162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2017년부터</a:t>
            </a:r>
            <a:endParaRPr lang="en-US" sz="1800" dirty="0"/>
          </a:p>
        </p:txBody>
      </p:sp>
      <p:sp>
        <p:nvSpPr>
          <p:cNvPr id="23" name="Text 21"/>
          <p:cNvSpPr/>
          <p:nvPr/>
        </p:nvSpPr>
        <p:spPr>
          <a:xfrm>
            <a:off x="2305050" y="6476777"/>
            <a:ext cx="3843605" cy="328613"/>
          </a:xfrm>
          <a:prstGeom prst="rect">
            <a:avLst/>
          </a:prstGeom>
          <a:noFill/>
          <a:ln/>
        </p:spPr>
        <p:txBody>
          <a:bodyPr wrap="square" lIns="25400" tIns="25400" rIns="25400" bIns="25400" rtlCol="0" anchor="t">
            <a:normAutofit/>
          </a:bodyPr>
          <a:lstStyle/>
          <a:p>
            <a:pPr algn="l" indent="0" marL="0">
              <a:buNone/>
            </a:pPr>
            <a:r>
              <a:rPr lang="en-US" sz="1875" dirty="0">
                <a:solidFill>
                  <a:srgbClr val="1A1A1A"/>
                </a:solidFill>
                <a:latin typeface="Arial" pitchFamily="34" charset="0"/>
                <a:ea typeface="Arial" pitchFamily="34" charset="-122"/>
                <a:cs typeface="Arial" pitchFamily="34" charset="-120"/>
              </a:rPr>
              <a:t>펌웨어를 직접 규정하기 시작했습니다</a:t>
            </a:r>
            <a:endParaRPr lang="en-US" sz="1875" dirty="0"/>
          </a:p>
        </p:txBody>
      </p:sp>
      <p:sp>
        <p:nvSpPr>
          <p:cNvPr id="24" name="Text 22"/>
          <p:cNvSpPr/>
          <p:nvPr/>
        </p:nvSpPr>
        <p:spPr>
          <a:xfrm>
            <a:off x="723900" y="6872064"/>
            <a:ext cx="157162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2021년부터</a:t>
            </a:r>
            <a:endParaRPr lang="en-US" sz="1800" dirty="0"/>
          </a:p>
        </p:txBody>
      </p:sp>
      <p:sp>
        <p:nvSpPr>
          <p:cNvPr id="25" name="Text 23"/>
          <p:cNvSpPr/>
          <p:nvPr/>
        </p:nvSpPr>
        <p:spPr>
          <a:xfrm>
            <a:off x="2305050" y="6862539"/>
            <a:ext cx="3091108" cy="328613"/>
          </a:xfrm>
          <a:prstGeom prst="rect">
            <a:avLst/>
          </a:prstGeom>
          <a:noFill/>
          <a:ln/>
        </p:spPr>
        <p:txBody>
          <a:bodyPr wrap="square" lIns="25400" tIns="25400" rIns="25400" bIns="25400" rtlCol="0" anchor="t">
            <a:normAutofit/>
          </a:bodyPr>
          <a:lstStyle/>
          <a:p>
            <a:pPr algn="l" indent="0" marL="0">
              <a:buNone/>
            </a:pPr>
            <a:r>
              <a:rPr lang="en-US" sz="1875" dirty="0">
                <a:solidFill>
                  <a:srgbClr val="1A1A1A"/>
                </a:solidFill>
                <a:latin typeface="Arial" pitchFamily="34" charset="0"/>
                <a:ea typeface="Arial" pitchFamily="34" charset="-122"/>
                <a:cs typeface="Arial" pitchFamily="34" charset="-120"/>
              </a:rPr>
              <a:t>컨트롤러를 자체 설계했습니다</a:t>
            </a:r>
            <a:endParaRPr lang="en-US" sz="1875" dirty="0"/>
          </a:p>
        </p:txBody>
      </p:sp>
      <p:sp>
        <p:nvSpPr>
          <p:cNvPr id="26" name="Text 24"/>
          <p:cNvSpPr/>
          <p:nvPr/>
        </p:nvSpPr>
        <p:spPr>
          <a:xfrm>
            <a:off x="723900" y="7257827"/>
            <a:ext cx="1571625"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2022년부터</a:t>
            </a:r>
            <a:endParaRPr lang="en-US" sz="1800" dirty="0"/>
          </a:p>
        </p:txBody>
      </p:sp>
      <p:sp>
        <p:nvSpPr>
          <p:cNvPr id="27" name="Text 25"/>
          <p:cNvSpPr/>
          <p:nvPr/>
        </p:nvSpPr>
        <p:spPr>
          <a:xfrm>
            <a:off x="2305050" y="7248302"/>
            <a:ext cx="4215720"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1428A0"/>
                </a:solidFill>
                <a:latin typeface="Arial" pitchFamily="34" charset="0"/>
                <a:ea typeface="Arial" pitchFamily="34" charset="-122"/>
                <a:cs typeface="Arial" pitchFamily="34" charset="-120"/>
              </a:rPr>
              <a:t>표준을 함께 만들고 웨이퍼를 직접 삽니다</a:t>
            </a:r>
            <a:endParaRPr lang="en-US" sz="1875" dirty="0"/>
          </a:p>
        </p:txBody>
      </p:sp>
      <p:sp>
        <p:nvSpPr>
          <p:cNvPr id="28" name="Shape 26"/>
          <p:cNvSpPr/>
          <p:nvPr/>
        </p:nvSpPr>
        <p:spPr>
          <a:xfrm>
            <a:off x="723900" y="8272463"/>
            <a:ext cx="7584504" cy="9525"/>
          </a:xfrm>
          <a:prstGeom prst="rect">
            <a:avLst/>
          </a:prstGeom>
          <a:solidFill>
            <a:srgbClr val="D9D9D9"/>
          </a:solidFill>
          <a:ln/>
        </p:spPr>
      </p:sp>
      <p:sp>
        <p:nvSpPr>
          <p:cNvPr id="29" name="Text 27"/>
          <p:cNvSpPr/>
          <p:nvPr/>
        </p:nvSpPr>
        <p:spPr>
          <a:xfrm>
            <a:off x="723900" y="8434388"/>
            <a:ext cx="7812040" cy="728662"/>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막을 수 없는 흐름이라면, 그 위에서 부가가치를 다시 정의하는 편이 현실적입니다. 네 가지 동인 가운데 우리가 열 수 있는 것은 워크로드 최적화입니다.</a:t>
            </a:r>
            <a:endParaRPr lang="en-US" sz="1875" dirty="0"/>
          </a:p>
        </p:txBody>
      </p:sp>
      <p:sp>
        <p:nvSpPr>
          <p:cNvPr id="30" name="Shape 28"/>
          <p:cNvSpPr/>
          <p:nvPr/>
        </p:nvSpPr>
        <p:spPr>
          <a:xfrm>
            <a:off x="8841804" y="2747739"/>
            <a:ext cx="57150" cy="690563"/>
          </a:xfrm>
          <a:prstGeom prst="rect">
            <a:avLst/>
          </a:prstGeom>
          <a:solidFill>
            <a:srgbClr val="1428A0"/>
          </a:solidFill>
          <a:ln/>
        </p:spPr>
      </p:sp>
      <p:sp>
        <p:nvSpPr>
          <p:cNvPr id="31" name="Text 29"/>
          <p:cNvSpPr/>
          <p:nvPr/>
        </p:nvSpPr>
        <p:spPr>
          <a:xfrm>
            <a:off x="9108504" y="2747739"/>
            <a:ext cx="1571625"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A1A1A"/>
                </a:solidFill>
                <a:latin typeface="Arial" pitchFamily="34" charset="0"/>
                <a:ea typeface="Arial" pitchFamily="34" charset="-122"/>
                <a:cs typeface="Arial" pitchFamily="34" charset="-120"/>
              </a:rPr>
              <a:t>문 · SCA</a:t>
            </a:r>
            <a:endParaRPr lang="en-US" sz="2100" dirty="0"/>
          </a:p>
        </p:txBody>
      </p:sp>
      <p:sp>
        <p:nvSpPr>
          <p:cNvPr id="32" name="Text 30"/>
          <p:cNvSpPr/>
          <p:nvPr/>
        </p:nvSpPr>
        <p:spPr>
          <a:xfrm>
            <a:off x="10727754" y="2747739"/>
            <a:ext cx="7041359"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전략적 공급 계약에 기술 협력 조항을 넣어, 고객 워크로드 접근을 부탁이 아닌 계약된 권리로 만듭니다.</a:t>
            </a:r>
            <a:endParaRPr lang="en-US" sz="1875" dirty="0"/>
          </a:p>
        </p:txBody>
      </p:sp>
      <p:sp>
        <p:nvSpPr>
          <p:cNvPr id="33" name="Shape 31"/>
          <p:cNvSpPr/>
          <p:nvPr/>
        </p:nvSpPr>
        <p:spPr>
          <a:xfrm>
            <a:off x="8841804" y="3571652"/>
            <a:ext cx="57150" cy="690563"/>
          </a:xfrm>
          <a:prstGeom prst="rect">
            <a:avLst/>
          </a:prstGeom>
          <a:solidFill>
            <a:srgbClr val="1428A0"/>
          </a:solidFill>
          <a:ln/>
        </p:spPr>
      </p:sp>
      <p:sp>
        <p:nvSpPr>
          <p:cNvPr id="34" name="Text 32"/>
          <p:cNvSpPr/>
          <p:nvPr/>
        </p:nvSpPr>
        <p:spPr>
          <a:xfrm>
            <a:off x="9108504" y="3571652"/>
            <a:ext cx="1571625"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A1A1A"/>
                </a:solidFill>
                <a:latin typeface="Arial" pitchFamily="34" charset="0"/>
                <a:ea typeface="Arial" pitchFamily="34" charset="-122"/>
                <a:cs typeface="Arial" pitchFamily="34" charset="-120"/>
              </a:rPr>
              <a:t>열쇠 · FDP</a:t>
            </a:r>
            <a:endParaRPr lang="en-US" sz="2100" dirty="0"/>
          </a:p>
        </p:txBody>
      </p:sp>
      <p:sp>
        <p:nvSpPr>
          <p:cNvPr id="35" name="Text 33"/>
          <p:cNvSpPr/>
          <p:nvPr/>
        </p:nvSpPr>
        <p:spPr>
          <a:xfrm>
            <a:off x="10727754" y="3571652"/>
            <a:ext cx="7041359"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고객이 함께 만든 표준 위에 개발 도구와 성능 예측 도구를 올려, 표준 위 계층에서 차별화합니다.</a:t>
            </a:r>
            <a:endParaRPr lang="en-US" sz="1875" dirty="0"/>
          </a:p>
        </p:txBody>
      </p:sp>
      <p:sp>
        <p:nvSpPr>
          <p:cNvPr id="36" name="Shape 34"/>
          <p:cNvSpPr/>
          <p:nvPr/>
        </p:nvSpPr>
        <p:spPr>
          <a:xfrm>
            <a:off x="8841804" y="4395564"/>
            <a:ext cx="57150" cy="690563"/>
          </a:xfrm>
          <a:prstGeom prst="rect">
            <a:avLst/>
          </a:prstGeom>
          <a:solidFill>
            <a:srgbClr val="1428A0"/>
          </a:solidFill>
          <a:ln/>
        </p:spPr>
      </p:sp>
      <p:sp>
        <p:nvSpPr>
          <p:cNvPr id="37" name="Text 35"/>
          <p:cNvSpPr/>
          <p:nvPr/>
        </p:nvSpPr>
        <p:spPr>
          <a:xfrm>
            <a:off x="9108504" y="4395564"/>
            <a:ext cx="1571625" cy="366713"/>
          </a:xfrm>
          <a:prstGeom prst="rect">
            <a:avLst/>
          </a:prstGeom>
          <a:noFill/>
          <a:ln/>
        </p:spPr>
        <p:txBody>
          <a:bodyPr wrap="square" lIns="25400" tIns="25400" rIns="25400" bIns="25400" rtlCol="0" anchor="t">
            <a:normAutofit/>
          </a:bodyPr>
          <a:lstStyle/>
          <a:p>
            <a:pPr algn="l" indent="0" marL="0">
              <a:buNone/>
            </a:pPr>
            <a:r>
              <a:rPr lang="en-US" sz="2100" b="1" dirty="0">
                <a:solidFill>
                  <a:srgbClr val="1A1A1A"/>
                </a:solidFill>
                <a:latin typeface="Arial" pitchFamily="34" charset="0"/>
                <a:ea typeface="Arial" pitchFamily="34" charset="-122"/>
                <a:cs typeface="Arial" pitchFamily="34" charset="-120"/>
              </a:rPr>
              <a:t>사람 · FDE</a:t>
            </a:r>
            <a:endParaRPr lang="en-US" sz="2100" dirty="0"/>
          </a:p>
        </p:txBody>
      </p:sp>
      <p:sp>
        <p:nvSpPr>
          <p:cNvPr id="38" name="Text 36"/>
          <p:cNvSpPr/>
          <p:nvPr/>
        </p:nvSpPr>
        <p:spPr>
          <a:xfrm>
            <a:off x="10727754" y="4395564"/>
            <a:ext cx="7041359"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현장에 상주하는 엔지니어가 가치를 실증하고, 거기서 나온 발견을 차기 제품과 표준 제안으로 환류합니다.</a:t>
            </a:r>
            <a:endParaRPr lang="en-US" sz="1875" dirty="0"/>
          </a:p>
        </p:txBody>
      </p:sp>
      <p:sp>
        <p:nvSpPr>
          <p:cNvPr id="39" name="Shape 37"/>
          <p:cNvSpPr/>
          <p:nvPr/>
        </p:nvSpPr>
        <p:spPr>
          <a:xfrm>
            <a:off x="8841804" y="5276627"/>
            <a:ext cx="8722221" cy="1490663"/>
          </a:xfrm>
          <a:prstGeom prst="rect">
            <a:avLst/>
          </a:prstGeom>
          <a:solidFill>
            <a:srgbClr val="F4F6FC"/>
          </a:solidFill>
          <a:ln/>
        </p:spPr>
      </p:sp>
      <p:sp>
        <p:nvSpPr>
          <p:cNvPr id="40" name="Text 38"/>
          <p:cNvSpPr/>
          <p:nvPr/>
        </p:nvSpPr>
        <p:spPr>
          <a:xfrm>
            <a:off x="9089454" y="5486177"/>
            <a:ext cx="9049613"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428A0"/>
                </a:solidFill>
                <a:latin typeface="Arial" pitchFamily="34" charset="0"/>
                <a:ea typeface="Arial" pitchFamily="34" charset="-122"/>
                <a:cs typeface="Arial" pitchFamily="34" charset="-120"/>
              </a:rPr>
              <a:t>수익화 원칙</a:t>
            </a:r>
            <a:endParaRPr lang="en-US" sz="1950" dirty="0"/>
          </a:p>
        </p:txBody>
      </p:sp>
      <p:sp>
        <p:nvSpPr>
          <p:cNvPr id="41" name="Text 39"/>
          <p:cNvSpPr/>
          <p:nvPr/>
        </p:nvSpPr>
        <p:spPr>
          <a:xfrm>
            <a:off x="9089454" y="5867177"/>
            <a:ext cx="8473729"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1A1A1A"/>
                </a:solidFill>
                <a:latin typeface="Arial" pitchFamily="34" charset="0"/>
                <a:ea typeface="Arial" pitchFamily="34" charset="-122"/>
                <a:cs typeface="Arial" pitchFamily="34" charset="-120"/>
              </a:rPr>
              <a:t>소프트웨어는 전 제품에 기본 탑재하고 값을 받지 않습니다. 회수는 하드웨어의 점유율과 가격 결정력으로 합니다. 고객이 만든 표준을 인질로 삼지 않는다는 뜻이기도 합니다.</a:t>
            </a:r>
            <a:endParaRPr lang="en-US" sz="1875" dirty="0"/>
          </a:p>
        </p:txBody>
      </p:sp>
      <p:sp>
        <p:nvSpPr>
          <p:cNvPr id="42" name="Text 40"/>
          <p:cNvSpPr/>
          <p:nvPr/>
        </p:nvSpPr>
        <p:spPr>
          <a:xfrm>
            <a:off x="8841804" y="8402017"/>
            <a:ext cx="4608627"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28.1%에서 31.9%</a:t>
            </a:r>
            <a:endParaRPr lang="en-US" sz="2550" dirty="0"/>
          </a:p>
        </p:txBody>
      </p:sp>
      <p:sp>
        <p:nvSpPr>
          <p:cNvPr id="43" name="Text 41"/>
          <p:cNvSpPr/>
          <p:nvPr/>
        </p:nvSpPr>
        <p:spPr>
          <a:xfrm>
            <a:off x="8841804" y="8816355"/>
            <a:ext cx="4608627" cy="34669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555555"/>
                </a:solidFill>
                <a:latin typeface="Arial" pitchFamily="34" charset="0"/>
                <a:ea typeface="Arial" pitchFamily="34" charset="-122"/>
                <a:cs typeface="Arial" pitchFamily="34" charset="-120"/>
              </a:rPr>
              <a:t>대형 클라우드 사업자 내 SSD 점유율 목표</a:t>
            </a:r>
            <a:endParaRPr lang="en-US" sz="1800" dirty="0"/>
          </a:p>
        </p:txBody>
      </p:sp>
      <p:sp>
        <p:nvSpPr>
          <p:cNvPr id="44" name="Text 42"/>
          <p:cNvSpPr/>
          <p:nvPr/>
        </p:nvSpPr>
        <p:spPr>
          <a:xfrm>
            <a:off x="13374365" y="8402017"/>
            <a:ext cx="4608627"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2027년 이전</a:t>
            </a:r>
            <a:endParaRPr lang="en-US" sz="2550" dirty="0"/>
          </a:p>
        </p:txBody>
      </p:sp>
      <p:sp>
        <p:nvSpPr>
          <p:cNvPr id="45" name="Text 43"/>
          <p:cNvSpPr/>
          <p:nvPr/>
        </p:nvSpPr>
        <p:spPr>
          <a:xfrm>
            <a:off x="13374365" y="8816355"/>
            <a:ext cx="4608627" cy="346695"/>
          </a:xfrm>
          <a:prstGeom prst="rect">
            <a:avLst/>
          </a:prstGeom>
          <a:noFill/>
          <a:ln/>
        </p:spPr>
        <p:txBody>
          <a:bodyPr wrap="square" lIns="25400" tIns="25400" rIns="25400" bIns="25400" rtlCol="0" anchor="t">
            <a:normAutofit/>
          </a:bodyPr>
          <a:lstStyle/>
          <a:p>
            <a:pPr algn="l" indent="0" marL="0">
              <a:lnSpc>
                <a:spcPct val="117818"/>
              </a:lnSpc>
              <a:buNone/>
            </a:pPr>
            <a:r>
              <a:rPr lang="en-US" sz="1800" dirty="0">
                <a:solidFill>
                  <a:srgbClr val="555555"/>
                </a:solidFill>
                <a:latin typeface="Arial" pitchFamily="34" charset="0"/>
                <a:ea typeface="Arial" pitchFamily="34" charset="-122"/>
                <a:cs typeface="Arial" pitchFamily="34" charset="-120"/>
              </a:rPr>
              <a:t>경쟁사가 생태계 슬롯을 선점하기 전의 실행 창</a:t>
            </a:r>
            <a:endParaRPr lang="en-US" sz="1800" dirty="0"/>
          </a:p>
        </p:txBody>
      </p:sp>
      <p:sp>
        <p:nvSpPr>
          <p:cNvPr id="46" name="Text 44"/>
          <p:cNvSpPr/>
          <p:nvPr/>
        </p:nvSpPr>
        <p:spPr>
          <a:xfrm>
            <a:off x="723900" y="9315450"/>
            <a:ext cx="16407330" cy="590550"/>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Captive SSD는 고객이 설계에 직접 관여해 자사 전용으로 조달하는 SSD이며 비중 전망은 가트너 기준입니다. SCA는 전략적 공급 계약, FDP는 유연 데이터 배치 표준, FDE는 고객 현장 상주 엔지니어를 뜻합니다. 성과는 출하량이 아니라 고객 시스템에서 실제로 켜진 용량으로 측정합니다.</a:t>
            </a:r>
            <a:endParaRPr lang="en-US" sz="1800" dirty="0"/>
          </a:p>
        </p:txBody>
      </p:sp>
      <p:sp>
        <p:nvSpPr>
          <p:cNvPr id="47" name="Text 45"/>
          <p:cNvSpPr/>
          <p:nvPr/>
        </p:nvSpPr>
        <p:spPr>
          <a:xfrm>
            <a:off x="16881946" y="9315450"/>
            <a:ext cx="758354" cy="590550"/>
          </a:xfrm>
          <a:prstGeom prst="rect">
            <a:avLst/>
          </a:prstGeom>
          <a:noFill/>
          <a:ln/>
        </p:spPr>
        <p:txBody>
          <a:bodyPr wrap="non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11 / 13</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제3 방어선 · 전략 4</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하강기에는 가격의 창이 열리고, 자리의 창은 지금 열려 있습니다</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하강기에는 초기 단계 회사가 먼저 사라집니다. 아직 고객이 아닌 회사의 자리는 지금만 확보할 수 있습니다.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47739"/>
            <a:ext cx="5410200" cy="2891730"/>
          </a:xfrm>
          <a:prstGeom prst="rect">
            <a:avLst/>
          </a:prstGeom>
          <a:ln w="9525">
            <a:solidFill>
              <a:srgbClr val="D9D9D9"/>
            </a:solidFill>
            <a:prstDash val="solid"/>
          </a:ln>
        </p:spPr>
      </p:sp>
      <p:sp>
        <p:nvSpPr>
          <p:cNvPr id="9" name="Text 7"/>
          <p:cNvSpPr/>
          <p:nvPr/>
        </p:nvSpPr>
        <p:spPr>
          <a:xfrm>
            <a:off x="1000125" y="3004914"/>
            <a:ext cx="5343525"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가격을 삽니다</a:t>
            </a:r>
            <a:endParaRPr lang="en-US" sz="1875" dirty="0"/>
          </a:p>
        </p:txBody>
      </p:sp>
      <p:sp>
        <p:nvSpPr>
          <p:cNvPr id="10" name="Text 8"/>
          <p:cNvSpPr/>
          <p:nvPr/>
        </p:nvSpPr>
        <p:spPr>
          <a:xfrm>
            <a:off x="1000125" y="3409727"/>
            <a:ext cx="5343525"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b="1" dirty="0">
                <a:solidFill>
                  <a:srgbClr val="1A1A1A"/>
                </a:solidFill>
                <a:latin typeface="Arial" pitchFamily="34" charset="0"/>
                <a:ea typeface="Arial" pitchFamily="34" charset="-122"/>
                <a:cs typeface="Arial" pitchFamily="34" charset="-120"/>
              </a:rPr>
              <a:t>성숙 자산과 생산능력을 싸게 인수합니다</a:t>
            </a:r>
            <a:endParaRPr lang="en-US" sz="2250" dirty="0"/>
          </a:p>
        </p:txBody>
      </p:sp>
      <p:sp>
        <p:nvSpPr>
          <p:cNvPr id="11" name="Text 9"/>
          <p:cNvSpPr/>
          <p:nvPr/>
        </p:nvSpPr>
        <p:spPr>
          <a:xfrm>
            <a:off x="1000125" y="3909789"/>
            <a:ext cx="5343525"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55555"/>
                </a:solidFill>
                <a:latin typeface="Arial" pitchFamily="34" charset="0"/>
                <a:ea typeface="Arial" pitchFamily="34" charset="-122"/>
                <a:cs typeface="Arial" pitchFamily="34" charset="-120"/>
              </a:rPr>
              <a:t>자산 가격이 내려간 뒤에 움직이는 투자입니다.</a:t>
            </a:r>
            <a:endParaRPr lang="en-US" sz="1800" dirty="0"/>
          </a:p>
        </p:txBody>
      </p:sp>
      <p:sp>
        <p:nvSpPr>
          <p:cNvPr id="12" name="Text 10"/>
          <p:cNvSpPr/>
          <p:nvPr/>
        </p:nvSpPr>
        <p:spPr>
          <a:xfrm>
            <a:off x="1000125" y="5091782"/>
            <a:ext cx="534352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555555"/>
                </a:solidFill>
                <a:latin typeface="Arial" pitchFamily="34" charset="0"/>
                <a:ea typeface="Arial" pitchFamily="34" charset="-122"/>
                <a:cs typeface="Arial" pitchFamily="34" charset="-120"/>
              </a:rPr>
              <a:t>행사 시점: 하강기를 기다립니다</a:t>
            </a:r>
            <a:endParaRPr lang="en-US" sz="1875" dirty="0"/>
          </a:p>
        </p:txBody>
      </p:sp>
      <p:sp>
        <p:nvSpPr>
          <p:cNvPr id="13" name="Shape 11"/>
          <p:cNvSpPr/>
          <p:nvPr/>
        </p:nvSpPr>
        <p:spPr>
          <a:xfrm>
            <a:off x="6438900" y="2747739"/>
            <a:ext cx="5410200" cy="2891730"/>
          </a:xfrm>
          <a:prstGeom prst="rect">
            <a:avLst/>
          </a:prstGeom>
          <a:ln w="9525">
            <a:solidFill>
              <a:srgbClr val="D9D9D9"/>
            </a:solidFill>
            <a:prstDash val="solid"/>
          </a:ln>
        </p:spPr>
      </p:sp>
      <p:sp>
        <p:nvSpPr>
          <p:cNvPr id="14" name="Text 12"/>
          <p:cNvSpPr/>
          <p:nvPr/>
        </p:nvSpPr>
        <p:spPr>
          <a:xfrm>
            <a:off x="6715125" y="3004914"/>
            <a:ext cx="5343525"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기술을 삽니다</a:t>
            </a:r>
            <a:endParaRPr lang="en-US" sz="1875" dirty="0"/>
          </a:p>
        </p:txBody>
      </p:sp>
      <p:sp>
        <p:nvSpPr>
          <p:cNvPr id="15" name="Text 13"/>
          <p:cNvSpPr/>
          <p:nvPr/>
        </p:nvSpPr>
        <p:spPr>
          <a:xfrm>
            <a:off x="6715125" y="3409727"/>
            <a:ext cx="5343525" cy="423863"/>
          </a:xfrm>
          <a:prstGeom prst="rect">
            <a:avLst/>
          </a:prstGeom>
          <a:noFill/>
          <a:ln/>
        </p:spPr>
        <p:txBody>
          <a:bodyPr wrap="square" lIns="25400" tIns="25400" rIns="25400" bIns="25400" rtlCol="0" anchor="t">
            <a:normAutofit/>
          </a:bodyPr>
          <a:lstStyle/>
          <a:p>
            <a:pPr algn="l" indent="0" marL="0">
              <a:lnSpc>
                <a:spcPct val="117391"/>
              </a:lnSpc>
              <a:buNone/>
            </a:pPr>
            <a:r>
              <a:rPr lang="en-US" sz="2250" b="1" dirty="0">
                <a:solidFill>
                  <a:srgbClr val="1A1A1A"/>
                </a:solidFill>
                <a:latin typeface="Arial" pitchFamily="34" charset="0"/>
                <a:ea typeface="Arial" pitchFamily="34" charset="-122"/>
                <a:cs typeface="Arial" pitchFamily="34" charset="-120"/>
              </a:rPr>
              <a:t>차세대 디램 기술을 공동 연구로 확보합니다</a:t>
            </a:r>
            <a:endParaRPr lang="en-US" sz="2250" dirty="0"/>
          </a:p>
        </p:txBody>
      </p:sp>
      <p:sp>
        <p:nvSpPr>
          <p:cNvPr id="16" name="Text 14"/>
          <p:cNvSpPr/>
          <p:nvPr/>
        </p:nvSpPr>
        <p:spPr>
          <a:xfrm>
            <a:off x="6715125" y="3909789"/>
            <a:ext cx="5343525" cy="36954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55555"/>
                </a:solidFill>
                <a:latin typeface="Arial" pitchFamily="34" charset="0"/>
                <a:ea typeface="Arial" pitchFamily="34" charset="-122"/>
                <a:cs typeface="Arial" pitchFamily="34" charset="-120"/>
              </a:rPr>
              <a:t>기술 성숙도가 정해진 시점을 따라가는 투자입니다.</a:t>
            </a:r>
            <a:endParaRPr lang="en-US" sz="1800" dirty="0"/>
          </a:p>
        </p:txBody>
      </p:sp>
      <p:sp>
        <p:nvSpPr>
          <p:cNvPr id="17" name="Text 15"/>
          <p:cNvSpPr/>
          <p:nvPr/>
        </p:nvSpPr>
        <p:spPr>
          <a:xfrm>
            <a:off x="6715125" y="5091782"/>
            <a:ext cx="5343525"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555555"/>
                </a:solidFill>
                <a:latin typeface="Arial" pitchFamily="34" charset="0"/>
                <a:ea typeface="Arial" pitchFamily="34" charset="-122"/>
                <a:cs typeface="Arial" pitchFamily="34" charset="-120"/>
              </a:rPr>
              <a:t>행사 시점: 시황 조건을 걸지 않습니다</a:t>
            </a:r>
            <a:endParaRPr lang="en-US" sz="1875" dirty="0"/>
          </a:p>
        </p:txBody>
      </p:sp>
      <p:sp>
        <p:nvSpPr>
          <p:cNvPr id="18" name="Shape 16"/>
          <p:cNvSpPr/>
          <p:nvPr/>
        </p:nvSpPr>
        <p:spPr>
          <a:xfrm>
            <a:off x="12153900" y="2747739"/>
            <a:ext cx="5410200" cy="2891730"/>
          </a:xfrm>
          <a:prstGeom prst="rect">
            <a:avLst/>
          </a:prstGeom>
          <a:ln w="19050">
            <a:solidFill>
              <a:srgbClr val="1428A0"/>
            </a:solidFill>
            <a:prstDash val="solid"/>
          </a:ln>
        </p:spPr>
      </p:sp>
      <p:sp>
        <p:nvSpPr>
          <p:cNvPr id="19" name="Text 17"/>
          <p:cNvSpPr/>
          <p:nvPr/>
        </p:nvSpPr>
        <p:spPr>
          <a:xfrm>
            <a:off x="12439650" y="3014439"/>
            <a:ext cx="5322570"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1428A0"/>
                </a:solidFill>
                <a:latin typeface="Arial" pitchFamily="34" charset="0"/>
                <a:ea typeface="Arial" pitchFamily="34" charset="-122"/>
                <a:cs typeface="Arial" pitchFamily="34" charset="-120"/>
              </a:rPr>
              <a:t>자리를 삽니다 · 이번 제안</a:t>
            </a:r>
            <a:endParaRPr lang="en-US" sz="1875" dirty="0"/>
          </a:p>
        </p:txBody>
      </p:sp>
      <p:sp>
        <p:nvSpPr>
          <p:cNvPr id="20" name="Text 18"/>
          <p:cNvSpPr/>
          <p:nvPr/>
        </p:nvSpPr>
        <p:spPr>
          <a:xfrm>
            <a:off x="12439650" y="3419252"/>
            <a:ext cx="4983861" cy="809625"/>
          </a:xfrm>
          <a:prstGeom prst="rect">
            <a:avLst/>
          </a:prstGeom>
          <a:noFill/>
          <a:ln/>
        </p:spPr>
        <p:txBody>
          <a:bodyPr wrap="square" lIns="25400" tIns="25400" rIns="25400" bIns="25400" rtlCol="0" anchor="t">
            <a:normAutofit/>
          </a:bodyPr>
          <a:lstStyle/>
          <a:p>
            <a:pPr algn="l" indent="0" marL="0">
              <a:lnSpc>
                <a:spcPct val="117391"/>
              </a:lnSpc>
              <a:buNone/>
            </a:pPr>
            <a:r>
              <a:rPr lang="en-US" sz="2250" b="1" dirty="0">
                <a:solidFill>
                  <a:srgbClr val="1A1A1A"/>
                </a:solidFill>
                <a:latin typeface="Arial" pitchFamily="34" charset="0"/>
                <a:ea typeface="Arial" pitchFamily="34" charset="-122"/>
                <a:cs typeface="Arial" pitchFamily="34" charset="-120"/>
              </a:rPr>
              <a:t>아직 고객이 아닌 회사의 초기 지분을 확보합니다</a:t>
            </a:r>
            <a:endParaRPr lang="en-US" sz="2250" dirty="0"/>
          </a:p>
        </p:txBody>
      </p:sp>
      <p:sp>
        <p:nvSpPr>
          <p:cNvPr id="21" name="Text 19"/>
          <p:cNvSpPr/>
          <p:nvPr/>
        </p:nvSpPr>
        <p:spPr>
          <a:xfrm>
            <a:off x="12439650" y="4305077"/>
            <a:ext cx="4983861" cy="700980"/>
          </a:xfrm>
          <a:prstGeom prst="rect">
            <a:avLst/>
          </a:prstGeom>
          <a:noFill/>
          <a:ln/>
        </p:spPr>
        <p:txBody>
          <a:bodyPr wrap="square" lIns="25400" tIns="25400" rIns="25400" bIns="25400" rtlCol="0" anchor="t">
            <a:normAutofit/>
          </a:bodyPr>
          <a:lstStyle/>
          <a:p>
            <a:pPr algn="l" indent="0" marL="0">
              <a:lnSpc>
                <a:spcPct val="126545"/>
              </a:lnSpc>
              <a:buNone/>
            </a:pPr>
            <a:r>
              <a:rPr lang="en-US" sz="1800" dirty="0">
                <a:solidFill>
                  <a:srgbClr val="555555"/>
                </a:solidFill>
                <a:latin typeface="Arial" pitchFamily="34" charset="0"/>
                <a:ea typeface="Arial" pitchFamily="34" charset="-122"/>
                <a:cs typeface="Arial" pitchFamily="34" charset="-120"/>
              </a:rPr>
              <a:t>회사가 사라지거나 다른 진영에 편입되면 자리는 다시 열리지 않습니다.</a:t>
            </a:r>
            <a:endParaRPr lang="en-US" sz="1800" dirty="0"/>
          </a:p>
        </p:txBody>
      </p:sp>
      <p:sp>
        <p:nvSpPr>
          <p:cNvPr id="22" name="Text 20"/>
          <p:cNvSpPr/>
          <p:nvPr/>
        </p:nvSpPr>
        <p:spPr>
          <a:xfrm>
            <a:off x="12439650" y="5082257"/>
            <a:ext cx="5322570" cy="328613"/>
          </a:xfrm>
          <a:prstGeom prst="rect">
            <a:avLst/>
          </a:prstGeom>
          <a:noFill/>
          <a:ln/>
        </p:spPr>
        <p:txBody>
          <a:bodyPr wrap="square" lIns="25400" tIns="25400" rIns="25400" bIns="25400" rtlCol="0" anchor="t">
            <a:normAutofit/>
          </a:bodyPr>
          <a:lstStyle/>
          <a:p>
            <a:pPr algn="l" indent="0" marL="0">
              <a:buNone/>
            </a:pPr>
            <a:r>
              <a:rPr lang="en-US" sz="1875" b="1" dirty="0">
                <a:solidFill>
                  <a:srgbClr val="1428A0"/>
                </a:solidFill>
                <a:latin typeface="Arial" pitchFamily="34" charset="0"/>
                <a:ea typeface="Arial" pitchFamily="34" charset="-122"/>
                <a:cs typeface="Arial" pitchFamily="34" charset="-120"/>
              </a:rPr>
              <a:t>행사 시점: 지금뿐입니다</a:t>
            </a:r>
            <a:endParaRPr lang="en-US" sz="1875" dirty="0"/>
          </a:p>
        </p:txBody>
      </p:sp>
      <p:sp>
        <p:nvSpPr>
          <p:cNvPr id="23" name="Shape 21"/>
          <p:cNvSpPr/>
          <p:nvPr/>
        </p:nvSpPr>
        <p:spPr>
          <a:xfrm>
            <a:off x="723900" y="5925220"/>
            <a:ext cx="8267700" cy="2076450"/>
          </a:xfrm>
          <a:prstGeom prst="rect">
            <a:avLst/>
          </a:prstGeom>
          <a:solidFill>
            <a:srgbClr val="F4F6FC"/>
          </a:solidFill>
          <a:ln/>
        </p:spPr>
      </p:sp>
      <p:sp>
        <p:nvSpPr>
          <p:cNvPr id="24" name="Text 22"/>
          <p:cNvSpPr/>
          <p:nvPr/>
        </p:nvSpPr>
        <p:spPr>
          <a:xfrm>
            <a:off x="1009650" y="6172870"/>
            <a:ext cx="1727805"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1428A0"/>
                </a:solidFill>
                <a:latin typeface="Arial" pitchFamily="34" charset="0"/>
                <a:ea typeface="Arial" pitchFamily="34" charset="-122"/>
                <a:cs typeface="Arial" pitchFamily="34" charset="-120"/>
              </a:rPr>
              <a:t>2년에서 4년</a:t>
            </a:r>
            <a:endParaRPr lang="en-US" sz="2550" dirty="0"/>
          </a:p>
        </p:txBody>
      </p:sp>
      <p:sp>
        <p:nvSpPr>
          <p:cNvPr id="25" name="Text 23"/>
          <p:cNvSpPr/>
          <p:nvPr/>
        </p:nvSpPr>
        <p:spPr>
          <a:xfrm>
            <a:off x="2732782" y="6253832"/>
            <a:ext cx="966341"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회수 기간</a:t>
            </a:r>
            <a:endParaRPr lang="en-US" sz="1875" dirty="0"/>
          </a:p>
        </p:txBody>
      </p:sp>
      <p:sp>
        <p:nvSpPr>
          <p:cNvPr id="26" name="Text 24"/>
          <p:cNvSpPr/>
          <p:nvPr/>
        </p:nvSpPr>
        <p:spPr>
          <a:xfrm>
            <a:off x="1009650" y="6663407"/>
            <a:ext cx="846582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A1A1A"/>
                </a:solidFill>
                <a:latin typeface="Arial" pitchFamily="34" charset="0"/>
                <a:ea typeface="Arial" pitchFamily="34" charset="-122"/>
                <a:cs typeface="Arial" pitchFamily="34" charset="-120"/>
              </a:rPr>
              <a:t>저전력 메모리와 직결되는 엣지 인공지능 반도체</a:t>
            </a:r>
            <a:endParaRPr lang="en-US" sz="1950" dirty="0"/>
          </a:p>
        </p:txBody>
      </p:sp>
      <p:sp>
        <p:nvSpPr>
          <p:cNvPr id="27" name="Text 25"/>
          <p:cNvSpPr/>
          <p:nvPr/>
        </p:nvSpPr>
        <p:spPr>
          <a:xfrm>
            <a:off x="1009650" y="7063457"/>
            <a:ext cx="7927086"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지금 팔리는 시장과 연결됩니다. 지분 투자에서 제품 결합, 필요하면 인수까지 단계적으로 진행합니다.</a:t>
            </a:r>
            <a:endParaRPr lang="en-US" sz="1875" dirty="0"/>
          </a:p>
        </p:txBody>
      </p:sp>
      <p:sp>
        <p:nvSpPr>
          <p:cNvPr id="28" name="Shape 26"/>
          <p:cNvSpPr/>
          <p:nvPr/>
        </p:nvSpPr>
        <p:spPr>
          <a:xfrm>
            <a:off x="9296400" y="5925220"/>
            <a:ext cx="8267700" cy="2076450"/>
          </a:xfrm>
          <a:prstGeom prst="rect">
            <a:avLst/>
          </a:prstGeom>
          <a:solidFill>
            <a:srgbClr val="F7F7F7"/>
          </a:solidFill>
          <a:ln/>
        </p:spPr>
      </p:sp>
      <p:sp>
        <p:nvSpPr>
          <p:cNvPr id="29" name="Text 27"/>
          <p:cNvSpPr/>
          <p:nvPr/>
        </p:nvSpPr>
        <p:spPr>
          <a:xfrm>
            <a:off x="9582150" y="6172870"/>
            <a:ext cx="1925977" cy="433388"/>
          </a:xfrm>
          <a:prstGeom prst="rect">
            <a:avLst/>
          </a:prstGeom>
          <a:noFill/>
          <a:ln/>
        </p:spPr>
        <p:txBody>
          <a:bodyPr wrap="square" lIns="25400" tIns="25400" rIns="25400" bIns="25400" rtlCol="0" anchor="t">
            <a:normAutofit/>
          </a:bodyPr>
          <a:lstStyle/>
          <a:p>
            <a:pPr algn="l" indent="0" marL="0">
              <a:buNone/>
            </a:pPr>
            <a:r>
              <a:rPr lang="en-US" sz="2550" b="1" dirty="0">
                <a:solidFill>
                  <a:srgbClr val="555555"/>
                </a:solidFill>
                <a:latin typeface="Arial" pitchFamily="34" charset="0"/>
                <a:ea typeface="Arial" pitchFamily="34" charset="-122"/>
                <a:cs typeface="Arial" pitchFamily="34" charset="-120"/>
              </a:rPr>
              <a:t>7년에서 10년</a:t>
            </a:r>
            <a:endParaRPr lang="en-US" sz="2550" dirty="0"/>
          </a:p>
        </p:txBody>
      </p:sp>
      <p:sp>
        <p:nvSpPr>
          <p:cNvPr id="30" name="Text 28"/>
          <p:cNvSpPr/>
          <p:nvPr/>
        </p:nvSpPr>
        <p:spPr>
          <a:xfrm>
            <a:off x="11485438" y="6253832"/>
            <a:ext cx="966341"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회수 기간</a:t>
            </a:r>
            <a:endParaRPr lang="en-US" sz="1875" dirty="0"/>
          </a:p>
        </p:txBody>
      </p:sp>
      <p:sp>
        <p:nvSpPr>
          <p:cNvPr id="31" name="Text 29"/>
          <p:cNvSpPr/>
          <p:nvPr/>
        </p:nvSpPr>
        <p:spPr>
          <a:xfrm>
            <a:off x="9582150" y="6663407"/>
            <a:ext cx="8465820" cy="342900"/>
          </a:xfrm>
          <a:prstGeom prst="rect">
            <a:avLst/>
          </a:prstGeom>
          <a:noFill/>
          <a:ln/>
        </p:spPr>
        <p:txBody>
          <a:bodyPr wrap="square" lIns="25400" tIns="25400" rIns="25400" bIns="25400" rtlCol="0" anchor="t">
            <a:normAutofit/>
          </a:bodyPr>
          <a:lstStyle/>
          <a:p>
            <a:pPr algn="l" indent="0" marL="0">
              <a:buNone/>
            </a:pPr>
            <a:r>
              <a:rPr lang="en-US" sz="1950" b="1" dirty="0">
                <a:solidFill>
                  <a:srgbClr val="1A1A1A"/>
                </a:solidFill>
                <a:latin typeface="Arial" pitchFamily="34" charset="0"/>
                <a:ea typeface="Arial" pitchFamily="34" charset="-122"/>
                <a:cs typeface="Arial" pitchFamily="34" charset="-120"/>
              </a:rPr>
              <a:t>양자 컴퓨팅과 극저온 컴퓨팅</a:t>
            </a:r>
            <a:endParaRPr lang="en-US" sz="1950" dirty="0"/>
          </a:p>
        </p:txBody>
      </p:sp>
      <p:sp>
        <p:nvSpPr>
          <p:cNvPr id="32" name="Text 30"/>
          <p:cNvSpPr/>
          <p:nvPr/>
        </p:nvSpPr>
        <p:spPr>
          <a:xfrm>
            <a:off x="9582150" y="7063457"/>
            <a:ext cx="7927086" cy="728663"/>
          </a:xfrm>
          <a:prstGeom prst="rect">
            <a:avLst/>
          </a:prstGeom>
          <a:noFill/>
          <a:ln/>
        </p:spPr>
        <p:txBody>
          <a:bodyPr wrap="square" lIns="25400" tIns="25400" rIns="25400" bIns="25400" rtlCol="0" anchor="t">
            <a:normAutofit/>
          </a:bodyPr>
          <a:lstStyle/>
          <a:p>
            <a:pPr algn="l" indent="0" marL="0">
              <a:lnSpc>
                <a:spcPct val="125000"/>
              </a:lnSpc>
              <a:buNone/>
            </a:pPr>
            <a:r>
              <a:rPr lang="en-US" sz="1875" dirty="0">
                <a:solidFill>
                  <a:srgbClr val="555555"/>
                </a:solidFill>
                <a:latin typeface="Arial" pitchFamily="34" charset="0"/>
                <a:ea typeface="Arial" pitchFamily="34" charset="-122"/>
                <a:cs typeface="Arial" pitchFamily="34" charset="-120"/>
              </a:rPr>
              <a:t>소액으로 나눠 담는 선택권으로만 보유합니다. 성공 여부보다 자리를 비워 두지 않는 것이 목적입니다.</a:t>
            </a:r>
            <a:endParaRPr lang="en-US" sz="1875" dirty="0"/>
          </a:p>
        </p:txBody>
      </p:sp>
      <p:sp>
        <p:nvSpPr>
          <p:cNvPr id="33" name="Shape 31"/>
          <p:cNvSpPr/>
          <p:nvPr/>
        </p:nvSpPr>
        <p:spPr>
          <a:xfrm>
            <a:off x="723900" y="8287420"/>
            <a:ext cx="16840200" cy="1241078"/>
          </a:xfrm>
          <a:prstGeom prst="rect">
            <a:avLst/>
          </a:prstGeom>
          <a:solidFill>
            <a:srgbClr val="1428A0"/>
          </a:solidFill>
          <a:ln/>
        </p:spPr>
      </p:sp>
      <p:sp>
        <p:nvSpPr>
          <p:cNvPr id="34" name="Text 32"/>
          <p:cNvSpPr/>
          <p:nvPr/>
        </p:nvSpPr>
        <p:spPr>
          <a:xfrm>
            <a:off x="1028700" y="8535070"/>
            <a:ext cx="8123301" cy="783878"/>
          </a:xfrm>
          <a:prstGeom prst="rect">
            <a:avLst/>
          </a:prstGeom>
          <a:noFill/>
          <a:ln/>
        </p:spPr>
        <p:txBody>
          <a:bodyPr wrap="square" lIns="25400" tIns="25400" rIns="25400" bIns="25400" rtlCol="0" anchor="t">
            <a:normAutofit/>
          </a:bodyPr>
          <a:lstStyle/>
          <a:p>
            <a:pPr algn="l" indent="0" marL="0">
              <a:lnSpc>
                <a:spcPct val="126290"/>
              </a:lnSpc>
              <a:buNone/>
            </a:pPr>
            <a:r>
              <a:rPr lang="en-US" sz="2025" b="1" dirty="0">
                <a:solidFill>
                  <a:srgbClr val="FFFFFF"/>
                </a:solidFill>
                <a:latin typeface="Arial" pitchFamily="34" charset="0"/>
                <a:ea typeface="Arial" pitchFamily="34" charset="-122"/>
                <a:cs typeface="Arial" pitchFamily="34" charset="-120"/>
              </a:rPr>
              <a:t>재원은 기존 투자 예산의 5%에서 10% 상한 </a:t>
            </a:r>
            <a:pPr algn="l" indent="0" marL="0">
              <a:lnSpc>
                <a:spcPct val="126290"/>
              </a:lnSpc>
              <a:buNone/>
            </a:pPr>
            <a:r>
              <a:rPr lang="en-US" sz="2025" dirty="0">
                <a:solidFill>
                  <a:srgbClr val="FFFFFF"/>
                </a:solidFill>
                <a:latin typeface="Arial" pitchFamily="34" charset="0"/>
                <a:ea typeface="Arial" pitchFamily="34" charset="-122"/>
                <a:cs typeface="Arial" pitchFamily="34" charset="-120"/>
              </a:rPr>
              <a:t>으로 운용하며, 별도 증액 없이 실행할 수 있습니다.</a:t>
            </a:r>
            <a:endParaRPr lang="en-US" sz="2025" dirty="0"/>
          </a:p>
        </p:txBody>
      </p:sp>
      <p:sp>
        <p:nvSpPr>
          <p:cNvPr id="35" name="Text 33"/>
          <p:cNvSpPr/>
          <p:nvPr/>
        </p:nvSpPr>
        <p:spPr>
          <a:xfrm>
            <a:off x="9372600" y="8535070"/>
            <a:ext cx="8123301" cy="783878"/>
          </a:xfrm>
          <a:prstGeom prst="rect">
            <a:avLst/>
          </a:prstGeom>
          <a:noFill/>
          <a:ln/>
        </p:spPr>
        <p:txBody>
          <a:bodyPr wrap="square" lIns="25400" tIns="25400" rIns="25400" bIns="25400" rtlCol="0" anchor="t">
            <a:normAutofit/>
          </a:bodyPr>
          <a:lstStyle/>
          <a:p>
            <a:pPr algn="l" indent="0" marL="0">
              <a:lnSpc>
                <a:spcPct val="126290"/>
              </a:lnSpc>
              <a:buNone/>
            </a:pPr>
            <a:r>
              <a:rPr lang="en-US" sz="2025" b="1" dirty="0">
                <a:solidFill>
                  <a:srgbClr val="FFFFFF"/>
                </a:solidFill>
                <a:latin typeface="Arial" pitchFamily="34" charset="0"/>
                <a:ea typeface="Arial" pitchFamily="34" charset="-122"/>
                <a:cs typeface="Arial" pitchFamily="34" charset="-120"/>
              </a:rPr>
              <a:t>심사 기준은 시계별로 분리 </a:t>
            </a:r>
            <a:pPr algn="l" indent="0" marL="0">
              <a:lnSpc>
                <a:spcPct val="126290"/>
              </a:lnSpc>
              <a:buNone/>
            </a:pPr>
            <a:r>
              <a:rPr lang="en-US" sz="2025" dirty="0">
                <a:solidFill>
                  <a:srgbClr val="FFFFFF"/>
                </a:solidFill>
                <a:latin typeface="Arial" pitchFamily="34" charset="0"/>
                <a:ea typeface="Arial" pitchFamily="34" charset="-122"/>
                <a:cs typeface="Arial" pitchFamily="34" charset="-120"/>
              </a:rPr>
              <a:t>합니다. 같은 기준으로 심사하면 장기 과제가 매번 뒤로 밀립니다.</a:t>
            </a:r>
            <a:endParaRPr lang="en-US" sz="2025" dirty="0"/>
          </a:p>
        </p:txBody>
      </p:sp>
      <p:sp>
        <p:nvSpPr>
          <p:cNvPr id="36" name="Text 34"/>
          <p:cNvSpPr/>
          <p:nvPr/>
        </p:nvSpPr>
        <p:spPr>
          <a:xfrm>
            <a:off x="723900" y="9591675"/>
            <a:ext cx="1010243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오픈 이노베이션 제안 (2026년 8월). 투자 대상 회사명과 금액은 보안 검토 후 별첨에 기재합니다.</a:t>
            </a:r>
            <a:endParaRPr lang="en-US" sz="1800" dirty="0"/>
          </a:p>
        </p:txBody>
      </p:sp>
      <p:sp>
        <p:nvSpPr>
          <p:cNvPr id="37" name="Text 35"/>
          <p:cNvSpPr/>
          <p:nvPr/>
        </p:nvSpPr>
        <p:spPr>
          <a:xfrm>
            <a:off x="16864980" y="9591675"/>
            <a:ext cx="775320" cy="314325"/>
          </a:xfrm>
          <a:prstGeom prst="rect">
            <a:avLst/>
          </a:prstGeom>
          <a:noFill/>
          <a:ln/>
        </p:spPr>
        <p:txBody>
          <a:bodyPr wrap="non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12 / 13</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23900" y="419100"/>
            <a:ext cx="224505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삼성전자 메모리사업부</a:t>
            </a:r>
            <a:endParaRPr lang="en-US" sz="1800" dirty="0"/>
          </a:p>
        </p:txBody>
      </p:sp>
      <p:sp>
        <p:nvSpPr>
          <p:cNvPr id="3" name="Text 1"/>
          <p:cNvSpPr/>
          <p:nvPr/>
        </p:nvSpPr>
        <p:spPr>
          <a:xfrm>
            <a:off x="16187068" y="419100"/>
            <a:ext cx="1514735"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[문서등급 표기]</a:t>
            </a:r>
            <a:endParaRPr lang="en-US" sz="1800" dirty="0"/>
          </a:p>
        </p:txBody>
      </p:sp>
      <p:sp>
        <p:nvSpPr>
          <p:cNvPr id="4" name="Text 2"/>
          <p:cNvSpPr/>
          <p:nvPr/>
        </p:nvSpPr>
        <p:spPr>
          <a:xfrm>
            <a:off x="723900" y="847725"/>
            <a:ext cx="18524220"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1428A0"/>
                </a:solidFill>
                <a:latin typeface="Arial" pitchFamily="34" charset="0"/>
                <a:ea typeface="Arial" pitchFamily="34" charset="-122"/>
                <a:cs typeface="Arial" pitchFamily="34" charset="-120"/>
              </a:rPr>
              <a:t>결론</a:t>
            </a:r>
            <a:endParaRPr lang="en-US" sz="1800" dirty="0"/>
          </a:p>
        </p:txBody>
      </p:sp>
      <p:sp>
        <p:nvSpPr>
          <p:cNvPr id="5" name="Text 3"/>
          <p:cNvSpPr/>
          <p:nvPr/>
        </p:nvSpPr>
        <p:spPr>
          <a:xfrm>
            <a:off x="723900" y="1238250"/>
            <a:ext cx="18524220" cy="549399"/>
          </a:xfrm>
          <a:prstGeom prst="rect">
            <a:avLst/>
          </a:prstGeom>
          <a:noFill/>
          <a:ln/>
        </p:spPr>
        <p:txBody>
          <a:bodyPr wrap="square" lIns="25400" tIns="25400" rIns="25400" bIns="25400" rtlCol="0" anchor="t">
            <a:normAutofit/>
          </a:bodyPr>
          <a:lstStyle/>
          <a:p>
            <a:pPr algn="l" indent="0" marL="0">
              <a:lnSpc>
                <a:spcPct val="105255"/>
              </a:lnSpc>
              <a:buNone/>
            </a:pPr>
            <a:r>
              <a:rPr lang="en-US" sz="3300" b="1" dirty="0">
                <a:solidFill>
                  <a:srgbClr val="1A1A1A"/>
                </a:solidFill>
                <a:latin typeface="Arial" pitchFamily="34" charset="0"/>
                <a:ea typeface="Arial" pitchFamily="34" charset="-122"/>
                <a:cs typeface="Arial" pitchFamily="34" charset="-120"/>
              </a:rPr>
              <a:t>결론과 앞으로 점검할 지표</a:t>
            </a:r>
            <a:endParaRPr lang="en-US" sz="3300" dirty="0"/>
          </a:p>
        </p:txBody>
      </p:sp>
      <p:sp>
        <p:nvSpPr>
          <p:cNvPr id="6" name="Text 4"/>
          <p:cNvSpPr/>
          <p:nvPr/>
        </p:nvSpPr>
        <p:spPr>
          <a:xfrm>
            <a:off x="723900" y="1863849"/>
            <a:ext cx="18524220" cy="398115"/>
          </a:xfrm>
          <a:prstGeom prst="rect">
            <a:avLst/>
          </a:prstGeom>
          <a:noFill/>
          <a:ln/>
        </p:spPr>
        <p:txBody>
          <a:bodyPr wrap="square" lIns="25400" tIns="25400" rIns="25400" bIns="25400" rtlCol="0" anchor="t">
            <a:normAutofit/>
          </a:bodyPr>
          <a:lstStyle/>
          <a:p>
            <a:pPr algn="l" indent="0" marL="0">
              <a:lnSpc>
                <a:spcPct val="116308"/>
              </a:lnSpc>
              <a:buNone/>
            </a:pPr>
            <a:r>
              <a:rPr lang="en-US" sz="2100" dirty="0">
                <a:solidFill>
                  <a:srgbClr val="555555"/>
                </a:solidFill>
                <a:latin typeface="Arial" pitchFamily="34" charset="0"/>
                <a:ea typeface="Arial" pitchFamily="34" charset="-122"/>
                <a:cs typeface="Arial" pitchFamily="34" charset="-120"/>
              </a:rPr>
              <a:t>세 겹의 방어선은 각각 다른 지표로 진행 상황을 확인할 수 있습니다.</a:t>
            </a:r>
            <a:endParaRPr lang="en-US" sz="2100" dirty="0"/>
          </a:p>
        </p:txBody>
      </p:sp>
      <p:sp>
        <p:nvSpPr>
          <p:cNvPr id="7" name="Shape 5"/>
          <p:cNvSpPr/>
          <p:nvPr/>
        </p:nvSpPr>
        <p:spPr>
          <a:xfrm>
            <a:off x="723900" y="2433414"/>
            <a:ext cx="16840200" cy="9525"/>
          </a:xfrm>
          <a:prstGeom prst="rect">
            <a:avLst/>
          </a:prstGeom>
          <a:solidFill>
            <a:srgbClr val="D9D9D9"/>
          </a:solidFill>
          <a:ln/>
        </p:spPr>
      </p:sp>
      <p:sp>
        <p:nvSpPr>
          <p:cNvPr id="8" name="Shape 6"/>
          <p:cNvSpPr/>
          <p:nvPr/>
        </p:nvSpPr>
        <p:spPr>
          <a:xfrm>
            <a:off x="723900" y="2728689"/>
            <a:ext cx="5410200" cy="57150"/>
          </a:xfrm>
          <a:prstGeom prst="rect">
            <a:avLst/>
          </a:prstGeom>
          <a:solidFill>
            <a:srgbClr val="EDEFF7"/>
          </a:solidFill>
          <a:ln/>
        </p:spPr>
      </p:sp>
      <p:sp>
        <p:nvSpPr>
          <p:cNvPr id="9" name="Text 7"/>
          <p:cNvSpPr/>
          <p:nvPr/>
        </p:nvSpPr>
        <p:spPr>
          <a:xfrm>
            <a:off x="723900" y="3033489"/>
            <a:ext cx="595122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제1 방어선 · 계약</a:t>
            </a:r>
            <a:endParaRPr lang="en-US" sz="1875" dirty="0"/>
          </a:p>
        </p:txBody>
      </p:sp>
      <p:sp>
        <p:nvSpPr>
          <p:cNvPr id="10" name="Text 8"/>
          <p:cNvSpPr/>
          <p:nvPr/>
        </p:nvSpPr>
        <p:spPr>
          <a:xfrm>
            <a:off x="723900" y="3457352"/>
            <a:ext cx="5572506" cy="912465"/>
          </a:xfrm>
          <a:prstGeom prst="rect">
            <a:avLst/>
          </a:prstGeom>
          <a:noFill/>
          <a:ln/>
        </p:spPr>
        <p:txBody>
          <a:bodyPr wrap="square" lIns="25400" tIns="25400" rIns="25400" bIns="25400" rtlCol="0" anchor="t">
            <a:normAutofit/>
          </a:bodyPr>
          <a:lstStyle/>
          <a:p>
            <a:pPr algn="l" indent="0" marL="0">
              <a:lnSpc>
                <a:spcPct val="117692"/>
              </a:lnSpc>
              <a:buNone/>
            </a:pPr>
            <a:r>
              <a:rPr lang="en-US" sz="2550" b="1" dirty="0">
                <a:solidFill>
                  <a:srgbClr val="1A1A1A"/>
                </a:solidFill>
                <a:latin typeface="Arial" pitchFamily="34" charset="0"/>
                <a:ea typeface="Arial" pitchFamily="34" charset="-122"/>
                <a:cs typeface="Arial" pitchFamily="34" charset="-120"/>
              </a:rPr>
              <a:t>고정가로 묶인 물량의 비중과 계약 만기 분포를 봅니다</a:t>
            </a:r>
            <a:endParaRPr lang="en-US" sz="2550" dirty="0"/>
          </a:p>
        </p:txBody>
      </p:sp>
      <p:sp>
        <p:nvSpPr>
          <p:cNvPr id="11" name="Text 9"/>
          <p:cNvSpPr/>
          <p:nvPr/>
        </p:nvSpPr>
        <p:spPr>
          <a:xfrm>
            <a:off x="723900" y="4465067"/>
            <a:ext cx="557250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만기가 한 시점에 몰려 있으면 하강기에 협상력이 한꺼번에 약해집니다. 만기를 분산시키는 것이 계약 관리의 핵심 지표입니다.</a:t>
            </a:r>
            <a:endParaRPr lang="en-US" sz="1875" dirty="0"/>
          </a:p>
        </p:txBody>
      </p:sp>
      <p:sp>
        <p:nvSpPr>
          <p:cNvPr id="12" name="Shape 10"/>
          <p:cNvSpPr/>
          <p:nvPr/>
        </p:nvSpPr>
        <p:spPr>
          <a:xfrm>
            <a:off x="6438900" y="2728689"/>
            <a:ext cx="5410200" cy="57150"/>
          </a:xfrm>
          <a:prstGeom prst="rect">
            <a:avLst/>
          </a:prstGeom>
          <a:solidFill>
            <a:srgbClr val="C9D1EE"/>
          </a:solidFill>
          <a:ln/>
        </p:spPr>
      </p:sp>
      <p:sp>
        <p:nvSpPr>
          <p:cNvPr id="13" name="Text 11"/>
          <p:cNvSpPr/>
          <p:nvPr/>
        </p:nvSpPr>
        <p:spPr>
          <a:xfrm>
            <a:off x="6438900" y="3033489"/>
            <a:ext cx="595122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제2 방어선 · 제품</a:t>
            </a:r>
            <a:endParaRPr lang="en-US" sz="1875" dirty="0"/>
          </a:p>
        </p:txBody>
      </p:sp>
      <p:sp>
        <p:nvSpPr>
          <p:cNvPr id="14" name="Text 12"/>
          <p:cNvSpPr/>
          <p:nvPr/>
        </p:nvSpPr>
        <p:spPr>
          <a:xfrm>
            <a:off x="6438900" y="3457352"/>
            <a:ext cx="5572506" cy="912465"/>
          </a:xfrm>
          <a:prstGeom prst="rect">
            <a:avLst/>
          </a:prstGeom>
          <a:noFill/>
          <a:ln/>
        </p:spPr>
        <p:txBody>
          <a:bodyPr wrap="square" lIns="25400" tIns="25400" rIns="25400" bIns="25400" rtlCol="0" anchor="t">
            <a:normAutofit/>
          </a:bodyPr>
          <a:lstStyle/>
          <a:p>
            <a:pPr algn="l" indent="0" marL="0">
              <a:lnSpc>
                <a:spcPct val="117692"/>
              </a:lnSpc>
              <a:buNone/>
            </a:pPr>
            <a:r>
              <a:rPr lang="en-US" sz="2550" b="1" dirty="0">
                <a:solidFill>
                  <a:srgbClr val="1A1A1A"/>
                </a:solidFill>
                <a:latin typeface="Arial" pitchFamily="34" charset="0"/>
                <a:ea typeface="Arial" pitchFamily="34" charset="-122"/>
                <a:cs typeface="Arial" pitchFamily="34" charset="-120"/>
              </a:rPr>
              <a:t>제품 간 전환에 걸리는 기간과 이전 세대 노드의 원가 격차를 봅니다</a:t>
            </a:r>
            <a:endParaRPr lang="en-US" sz="2550" dirty="0"/>
          </a:p>
        </p:txBody>
      </p:sp>
      <p:sp>
        <p:nvSpPr>
          <p:cNvPr id="15" name="Text 13"/>
          <p:cNvSpPr/>
          <p:nvPr/>
        </p:nvSpPr>
        <p:spPr>
          <a:xfrm>
            <a:off x="6438900" y="4465067"/>
            <a:ext cx="557250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전환 기간이 6개월에서 3개월로 줄면 전환 1회당 약 1조 원의 효과가 발생합니다. 선단 공정 기준은 그대로 유지합니다.</a:t>
            </a:r>
            <a:endParaRPr lang="en-US" sz="1875" dirty="0"/>
          </a:p>
        </p:txBody>
      </p:sp>
      <p:sp>
        <p:nvSpPr>
          <p:cNvPr id="16" name="Shape 14"/>
          <p:cNvSpPr/>
          <p:nvPr/>
        </p:nvSpPr>
        <p:spPr>
          <a:xfrm>
            <a:off x="12153900" y="2728689"/>
            <a:ext cx="5410200" cy="57150"/>
          </a:xfrm>
          <a:prstGeom prst="rect">
            <a:avLst/>
          </a:prstGeom>
          <a:solidFill>
            <a:srgbClr val="1428A0"/>
          </a:solidFill>
          <a:ln/>
        </p:spPr>
      </p:sp>
      <p:sp>
        <p:nvSpPr>
          <p:cNvPr id="17" name="Text 15"/>
          <p:cNvSpPr/>
          <p:nvPr/>
        </p:nvSpPr>
        <p:spPr>
          <a:xfrm>
            <a:off x="12153900" y="3033489"/>
            <a:ext cx="595122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555555"/>
                </a:solidFill>
                <a:latin typeface="Arial" pitchFamily="34" charset="0"/>
                <a:ea typeface="Arial" pitchFamily="34" charset="-122"/>
                <a:cs typeface="Arial" pitchFamily="34" charset="-120"/>
              </a:rPr>
              <a:t>제3 방어선 · 플랫폼과 관계</a:t>
            </a:r>
            <a:endParaRPr lang="en-US" sz="1875" dirty="0"/>
          </a:p>
        </p:txBody>
      </p:sp>
      <p:sp>
        <p:nvSpPr>
          <p:cNvPr id="18" name="Text 16"/>
          <p:cNvSpPr/>
          <p:nvPr/>
        </p:nvSpPr>
        <p:spPr>
          <a:xfrm>
            <a:off x="12153900" y="3457352"/>
            <a:ext cx="5572506" cy="912465"/>
          </a:xfrm>
          <a:prstGeom prst="rect">
            <a:avLst/>
          </a:prstGeom>
          <a:noFill/>
          <a:ln/>
        </p:spPr>
        <p:txBody>
          <a:bodyPr wrap="square" lIns="25400" tIns="25400" rIns="25400" bIns="25400" rtlCol="0" anchor="t">
            <a:normAutofit/>
          </a:bodyPr>
          <a:lstStyle/>
          <a:p>
            <a:pPr algn="l" indent="0" marL="0">
              <a:lnSpc>
                <a:spcPct val="117692"/>
              </a:lnSpc>
              <a:buNone/>
            </a:pPr>
            <a:r>
              <a:rPr lang="en-US" sz="2550" b="1" dirty="0">
                <a:solidFill>
                  <a:srgbClr val="1A1A1A"/>
                </a:solidFill>
                <a:latin typeface="Arial" pitchFamily="34" charset="0"/>
                <a:ea typeface="Arial" pitchFamily="34" charset="-122"/>
                <a:cs typeface="Arial" pitchFamily="34" charset="-120"/>
              </a:rPr>
              <a:t>출하량이 아니라 고객 시스템에서 실제로 활성화된 용량을 봅니다</a:t>
            </a:r>
            <a:endParaRPr lang="en-US" sz="2550" dirty="0"/>
          </a:p>
        </p:txBody>
      </p:sp>
      <p:sp>
        <p:nvSpPr>
          <p:cNvPr id="19" name="Text 17"/>
          <p:cNvSpPr/>
          <p:nvPr/>
        </p:nvSpPr>
        <p:spPr>
          <a:xfrm>
            <a:off x="12153900" y="4465067"/>
            <a:ext cx="5572506" cy="1109663"/>
          </a:xfrm>
          <a:prstGeom prst="rect">
            <a:avLst/>
          </a:prstGeom>
          <a:noFill/>
          <a:ln/>
        </p:spPr>
        <p:txBody>
          <a:bodyPr wrap="square" lIns="25400" tIns="25400" rIns="25400" bIns="25400" rtlCol="0" anchor="t">
            <a:normAutofit/>
          </a:bodyPr>
          <a:lstStyle/>
          <a:p>
            <a:pPr algn="l" indent="0" marL="0">
              <a:lnSpc>
                <a:spcPct val="129310"/>
              </a:lnSpc>
              <a:buNone/>
            </a:pPr>
            <a:r>
              <a:rPr lang="en-US" sz="1875" dirty="0">
                <a:solidFill>
                  <a:srgbClr val="555555"/>
                </a:solidFill>
                <a:latin typeface="Arial" pitchFamily="34" charset="0"/>
                <a:ea typeface="Arial" pitchFamily="34" charset="-122"/>
                <a:cs typeface="Arial" pitchFamily="34" charset="-120"/>
              </a:rPr>
              <a:t>고객이 자체 설계로 돌리려던 물량 중 완제품으로 되돌아온 비중도 함께 봅니다. 두 지표가 대체 불가성의 실제 크기를 보여 줍니다.</a:t>
            </a:r>
            <a:endParaRPr lang="en-US" sz="1875" dirty="0"/>
          </a:p>
        </p:txBody>
      </p:sp>
      <p:sp>
        <p:nvSpPr>
          <p:cNvPr id="20" name="Shape 18"/>
          <p:cNvSpPr/>
          <p:nvPr/>
        </p:nvSpPr>
        <p:spPr>
          <a:xfrm>
            <a:off x="723900" y="7072313"/>
            <a:ext cx="16840200" cy="2328863"/>
          </a:xfrm>
          <a:prstGeom prst="rect">
            <a:avLst/>
          </a:prstGeom>
          <a:solidFill>
            <a:srgbClr val="1428A0"/>
          </a:solidFill>
          <a:ln/>
        </p:spPr>
      </p:sp>
      <p:sp>
        <p:nvSpPr>
          <p:cNvPr id="21" name="Text 19"/>
          <p:cNvSpPr/>
          <p:nvPr/>
        </p:nvSpPr>
        <p:spPr>
          <a:xfrm>
            <a:off x="1181100" y="7491413"/>
            <a:ext cx="17518380" cy="328613"/>
          </a:xfrm>
          <a:prstGeom prst="rect">
            <a:avLst/>
          </a:prstGeom>
          <a:noFill/>
          <a:ln/>
        </p:spPr>
        <p:txBody>
          <a:bodyPr wrap="square" lIns="25400" tIns="25400" rIns="25400" bIns="25400" rtlCol="0" anchor="t">
            <a:normAutofit/>
          </a:bodyPr>
          <a:lstStyle/>
          <a:p>
            <a:pPr algn="l" indent="0" marL="0">
              <a:buNone/>
            </a:pPr>
            <a:r>
              <a:rPr lang="en-US" sz="1875" dirty="0">
                <a:solidFill>
                  <a:srgbClr val="FFFFFF">
                    <a:alpha val="85000"/>
                  </a:srgbClr>
                </a:solidFill>
                <a:latin typeface="Arial" pitchFamily="34" charset="0"/>
                <a:ea typeface="Arial" pitchFamily="34" charset="-122"/>
                <a:cs typeface="Arial" pitchFamily="34" charset="-120"/>
              </a:rPr>
              <a:t>정리</a:t>
            </a:r>
            <a:endParaRPr lang="en-US" sz="1875" dirty="0"/>
          </a:p>
        </p:txBody>
      </p:sp>
      <p:sp>
        <p:nvSpPr>
          <p:cNvPr id="22" name="Text 20"/>
          <p:cNvSpPr/>
          <p:nvPr/>
        </p:nvSpPr>
        <p:spPr>
          <a:xfrm>
            <a:off x="1181100" y="7915275"/>
            <a:ext cx="16403574" cy="1104900"/>
          </a:xfrm>
          <a:prstGeom prst="rect">
            <a:avLst/>
          </a:prstGeom>
          <a:noFill/>
          <a:ln/>
        </p:spPr>
        <p:txBody>
          <a:bodyPr wrap="square" lIns="25400" tIns="25400" rIns="25400" bIns="25400" rtlCol="0" anchor="t">
            <a:normAutofit/>
          </a:bodyPr>
          <a:lstStyle/>
          <a:p>
            <a:pPr algn="l" indent="0" marL="0">
              <a:lnSpc>
                <a:spcPct val="121739"/>
              </a:lnSpc>
              <a:buNone/>
            </a:pPr>
            <a:r>
              <a:rPr lang="en-US" sz="3000" b="1" dirty="0">
                <a:solidFill>
                  <a:srgbClr val="FFFFFF"/>
                </a:solidFill>
                <a:latin typeface="Arial" pitchFamily="34" charset="0"/>
                <a:ea typeface="Arial" pitchFamily="34" charset="-122"/>
                <a:cs typeface="Arial" pitchFamily="34" charset="-120"/>
              </a:rPr>
              <a:t>계약은 물량을 지키고, 제품은 부가가치를 지키며, 고객 시스템에 결합된 통합은 갱신을 지킵니다. 지금은 이 세 겹을 모두 심을 수 있는 유일한 계절입니다.</a:t>
            </a:r>
            <a:endParaRPr lang="en-US" sz="3000" dirty="0"/>
          </a:p>
        </p:txBody>
      </p:sp>
      <p:sp>
        <p:nvSpPr>
          <p:cNvPr id="23" name="Text 21"/>
          <p:cNvSpPr/>
          <p:nvPr/>
        </p:nvSpPr>
        <p:spPr>
          <a:xfrm>
            <a:off x="723900" y="9591675"/>
            <a:ext cx="8222627" cy="314325"/>
          </a:xfrm>
          <a:prstGeom prst="rect">
            <a:avLst/>
          </a:prstGeom>
          <a:noFill/>
          <a:ln/>
        </p:spPr>
        <p:txBody>
          <a:bodyPr wrap="squar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출처: 일곱 편 제안 종합 (2026년 8월). 사내 확인 대기 항목은 별첨에 정리했습니다.</a:t>
            </a:r>
            <a:endParaRPr lang="en-US" sz="1800" dirty="0"/>
          </a:p>
        </p:txBody>
      </p:sp>
      <p:sp>
        <p:nvSpPr>
          <p:cNvPr id="24" name="Text 22"/>
          <p:cNvSpPr/>
          <p:nvPr/>
        </p:nvSpPr>
        <p:spPr>
          <a:xfrm>
            <a:off x="16864980" y="9591675"/>
            <a:ext cx="775320" cy="314325"/>
          </a:xfrm>
          <a:prstGeom prst="rect">
            <a:avLst/>
          </a:prstGeom>
          <a:noFill/>
          <a:ln/>
        </p:spPr>
        <p:txBody>
          <a:bodyPr wrap="none" lIns="25400" tIns="25400" rIns="25400" bIns="25400" rtlCol="0" anchor="t">
            <a:normAutofit/>
          </a:bodyPr>
          <a:lstStyle/>
          <a:p>
            <a:pPr algn="l" indent="0" marL="0">
              <a:buNone/>
            </a:pPr>
            <a:r>
              <a:rPr lang="en-US" sz="1800" dirty="0">
                <a:solidFill>
                  <a:srgbClr val="555555"/>
                </a:solidFill>
                <a:latin typeface="Arial" pitchFamily="34" charset="0"/>
                <a:ea typeface="Arial" pitchFamily="34" charset="-122"/>
                <a:cs typeface="Arial" pitchFamily="34" charset="-120"/>
              </a:rPr>
              <a:t>13 / 13</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2026-08-16T15:26:44Z</dcterms:created>
  <dcterms:modified xsi:type="dcterms:W3CDTF">2026-08-16T15:26:44Z</dcterms:modified>
</cp:coreProperties>
</file>