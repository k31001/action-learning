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8A0"/>
                </a:solidFill>
                <a:latin typeface="맑은 고딕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Robust 전략 9개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RS-1~RS-9 (RS-8 헷지·RS-9 수요 변곡 센싱 신규)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18~26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17개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28~29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맑은 고딕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맑은 고딕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Calibri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EF2F2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00000"/>
                </a:solidFill>
                <a:latin typeface="맑은 고딕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ECFDF5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맑은 고딕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0A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9개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맑은 고딕"/>
              </a:rPr>
              <a:t>프로젝트 기간: 2026년 4월~6월 · 50개 STEEP 요인 → 5개 시나리오 → 9개 Robust 전략 → 17개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1 · 모든 분석은 "2030~2035 1위 유지를 위해 지금 무엇을 결정할 것인가"라는 단 하나의 질문에 답한다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호황의 정점·33년 만의 점유율 역전·HBM 세대 전환 분기점 — 세 가지 압박 위에서 도출된 Focal Issue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D97706"/>
                </a:solidFill>
                <a:latin typeface="Calibr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D97706"/>
                </a:solidFill>
                <a:latin typeface="맑은 고딕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2×2 매트릭스 (4개 시나리오) + E 와일드카드 —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738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5개 시나리오 — 최유력 B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최유력 시나리오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⭐  MAIN BET — "AI 르네상스"  |  최유력 시나리오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8FAFC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28A0"/>
                </a:solidFill>
                <a:latin typeface="맑은 고딕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00000"/>
                </a:solidFill>
                <a:latin typeface="맑은 고딕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280"/>
                </a:solidFill>
                <a:latin typeface="맑은 고딕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97706"/>
                </a:solidFill>
                <a:latin typeface="맑은 고딕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8 · 어떤 미래가 와도 가치를 만드는 Robust 전략 9개를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재검증 후 9개 (RS-1~RS-9) — RS-8 구조화 헷지 + RS-9 데이터 기반 수요 변곡 센싱 신규. 4개 거버넌스 축으로 묶음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84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LTA·Take-or-Pay ≤25% + 소버린 다변화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재무 규율 +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1c nm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328415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328415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잉여 자원 → 다른 RS의 실행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RS-8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구조화 매출 헷지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Participating Forward + HTA + Desk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RS-9 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데이터 수요 변곡 센싱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DC 착공 + 수요 변곡 EWI → 발동 타이밍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60520"/>
            <a:ext cx="11731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8A0"/>
                </a:solidFill>
                <a:latin typeface="맑은 고딕"/>
              </a:rPr>
              <a:t>시나리오별 가치 매트릭스 — 9개 RS × 5개 시나리오 = 45셀 모두 긍정 가치 (★ = 핵심)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9476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9476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A 황금요새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B AI 르네상스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7804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804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C 기술냉전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D 조용한재편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613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613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E 패러다임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031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6968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031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6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031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9476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7804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031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9476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031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9476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7804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031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9476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1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9476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613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7804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31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476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804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8 개요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맑은 고딕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맑은 고딕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RS-6 · NAND는 layer 경쟁이 아니라, 양산 ramp 6개월이 누적 이익의 2/3를 결정하는 "주기 연장" 경쟁이다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1c nm DRAM 원가 우위 + NAND 공정 전환 주기 연장 + Hybrid Bonding 자체 IP — 업계 4사 일제 선회와 YMTC IP 종속을 동시 돌파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RS-8 · 단순 LTA는 사이클당 50~100% 매출 기회를 포기한다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농수산 100년 + 외환 50년 헷지 노하우의 메모리 첫 도입 — Participating Forward + HTA + Tiered + Trading Desk = 매출 변동성 ±25%→±12%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단순 LTA의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297% 가격 점프 사례 (2025년 9~12월)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16Gb DDR5 contract price $6.84 → $27.20 (3개월 +297%)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9월 단순 고정가 LTA 시 297% 상방 모두 포기 — 고객만 차익 향유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메모리 변동성 σ ≈ 60~120%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원유 30%·S&amp;P 18% 대비 2~6배 — "농산물 같은 IT 부품"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농가도 작황의 30~50%만 forward 헷지 — 100% 락인은 표준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Participating Forward 메모리 미도입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외환·통화시장 50년 표준 도구 — 메모리 산업 거의 도입 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첫 도입자 표준 효과 = Fish Pool 모델, 후발주자 진입장벽 형성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4트랙 헷지 구조 (RS-4 LTA 위에 적층)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STRUCTURED REVENUE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Participating Forward 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4495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Floor + 50% 상방 참여 / NVIDIA·하이퍼스케일러 1~2사 / HBM4E 일부 물량 (연 10~20%)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021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5021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Wafer Slot Reservation HTA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8496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슬롯/가격 분리 결정 + Take-or-Pay / Nvidia $5.4~7.7억 선급금 산업 표준화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3068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068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Tiered Pricing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542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시장 구간별 차등 share / 자동차·산업용·신흥 AI 시장 (SD-2 연계)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114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114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Memory Trading Desk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589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골드만/JP모건 트레이더 20~30인 / DRAMeXchange 기반 OTC 스왑 시장 조성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금지: Three-way Collar(sub-put 매도형) — 셰일 Pioneer 2014/2020 손실 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계약 *물량*(RS-4)이 아니라 계약 *구조*(RS-8)를 혁신 — 매출 변동성 절반 + 사이클당 +50~100% 회수.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RS-8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RS-9 · 데이터 기반 수요 변곡 센싱 — 하락 변곡을 선행 신호에서 먼저 잡는다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AI DC 착공 트래커(55.9GW·17개국) + 수요 변곡 EWI 앙상블(선행·끈적·공급 과잉·SCM 공급망 + 괴리) → RS-1 캐파 on/off·RS-5 규율을 제때 발동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근위 정점 확인 + 선행 균열 형성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근위 슈퍼사이클 정점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Micron 주가 +7.6× · HBM Sold Out · DC 착공 55.9GW(17개국)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정점은 다운턴 직전 — 호황기 절제(RS-5)의 마지막 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선행 균열 형성 중 (다음 하락 변곡)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복합 위험 43(주의)·공급 과잉 68·SCM 56(경계 근접)·괴리 +4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GPU 임대가 둔화·DRAM&gt;HBM OPM 역전·HBM sold-out·LTA(할당 정점=언와인드)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정보 비대칭 = 타이밍 우위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기존 capex-cut·price-drop은 후행 — 착공·임대가·괴리는 6~24개월 선행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남보다 먼저 보면 RS-1 캐파 동결·RS-5 규율을 먼저 발동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수요 변곡 EWI 앙상블 — 5트랙 센싱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DEMAND-INFLECTION SENSING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700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700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선행 (Leading)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GPU 임대가(Vast.ai)·신용 스프레드·DC 착공 (선행 9~18개월)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3697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369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끈적 (Sticky)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38728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메모리 계약가·리드타임·재고일수 — 후행·확정적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0390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039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공급 과잉 (Glut)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105656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DRAM&gt;HBM OPM 역전·book-to-bill·CoWoS = 정점 신호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708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37083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SCM 공급망 (신규)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672583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가짜수요 갭·더블오더링·할당 = 채찍효과 언와인드 선포착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9377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9377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괴리 밴드 (Divergence)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9512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선행−끈적 괴리 2분기 확대 = 하락 변곡 선행 윈도우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발동: 복합 위험 ≥75 또는 괴리 2분기 확대 → RS-1 동결·RS-5 규율 (D15·D16)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다른 RS가 "무엇을 하는가"라면 RS-9는 "언제 하는가" — 정보로 타이밍하는 거버넌스 (공급 거버넌스 축 RS-1·RS-5·RS-9).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RS-9 · 신규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EWI 대시보드의 사분면 궤적과 21개 자동 트리거가 다운턴 신호를 30일 내 실행 전환으로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지난 2년 궤적은 B 르네상스 모멘텀이지만 자동 실현은 아님 — 17개 결정 D-day와 21개 트리거가 신호를 즉시 행동으로 변환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766560" cy="41616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35240" y="1691640"/>
            <a:ext cx="4096512" cy="19659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556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17개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9339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B7280"/>
                </a:solidFill>
                <a:latin typeface="맑은 고딕"/>
              </a:rPr>
              <a:t>D-150 임박 5 (적색) · D-240 중기 11 · D-330 후순위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HBM4 점유율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소재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RS1·4·5 정책화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수요 변곡 경보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정점 공급 규율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3D DRAM+IMEC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47472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보조금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956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M&amp;A 펀드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NAND 4트랙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956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Stargate Korea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RS-8 헷지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956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SE-1 3D DRAM↑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SE-2 CXL 표준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소버린 다변화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956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잉여 인력 전환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3749039"/>
            <a:ext cx="4096512" cy="21945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382219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21개 자동 트리거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050791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발동 시 30일 내 전략 전환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31596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다운턴 신호 (5)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47141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빅테크 CapEx -25% / MS -20% / HBM -30% / CXMT HBM4 / 시안 라이선스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70915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수요 변곡 선행 (3, 신규)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864607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GPU 임대가 -35% / DC 착공 취소 5건+ / 선행−끈적 괴리 2분기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0235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가속·B 확인 (7)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2578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AI 매출 $500B / HBM4 NVIDIA 확정 / 미중 타결 / ROI 입증 / 점유율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49554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지정학·전략 위기 (6)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65099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MATCH 통과 / 텍사스 2단계 미발표 / HBM4 미인증 / 3D DRAM PoC / M&amp;A EV&lt;5x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현재 위치 (DF1 +7.5, DF2 +0.5) — B 강한 모멘텀이나 자동 실현 아님. 수요 변곡 선행 트리거(RS-9)가 다음 하락을 먼저 센싱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대시보드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17개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D-150 임박 5 / D-240 중기 11 / D-330 1 — D15(수요 변곡)→D16(정점 규율) RS-9 센싱→RS-5 발동 직렬 · 모든 시한 2026 Q4 이내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수율 90%+ Q3 / 28% → 40%+ (D-150)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Q3 LTA / 6개월 비축 (D-150)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RS1·4·5 이사회 정책화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다운사이클 capex 4조원 하한 명문화 (D-150)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수요 변곡 조기경보 (RS-9 신규)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DC 착공 + 수요 변곡 EWI 앙상블 상시 운영 (D-150)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호황 정점 공급 규율 (critical)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재고 -15%·LTA 없는 캐파 동결·재투자 70%+ (RS-5, D-150)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267712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267712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49056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3D DRAM R&amp;D + IMEC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협약 / $200M / 200~300인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1단계 가동 + 2단계 발표 / $4.745B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효율화 전사 도입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파일럿 → Q1 전사 / RS2·RS3 선행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5712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7344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CHIPS 2단계 협상 + 빅테크 LTA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8448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다운사이클 M&amp;A 펀드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5,000억 적립 / 자동 트리거 (Disney-Marvel)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70832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0832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NAND 주기 연장 4트랙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Hybrid Bonding 자체 IP·QLC/PLC · YMTC 우회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4464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84464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49056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Stargate Korea 본 계약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4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LOI → DA / Neocloud 지분 헷지 (SE-3)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RS-8 구조화 매출 헷지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Participating Forward + Trading Desk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70832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70832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35424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SE-1 3D DRAM 가속 (신규)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IMEC 협약 $300M+ 상향 + R&amp;D 조직 확대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84464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84464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6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25712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SE-2 CXL 표준 주도 (신규)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67344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CXL SIG 4단계 로드맵 — 메모리 부도심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7200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98448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소버린·신흥 수요 다변화 (신규)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UAE·사우디·인도 LTA / 단일 고객 ≤25% (RS-4)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70832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70832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35424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잉여 인력 전환 배치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53712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2027 Q1 / 분기별 사업부장 보고 (D-330)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016752"/>
            <a:ext cx="11274552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17개는 묶음이다 — D15→D16 (RS-9 센싱→RS-5 발동) 직렬 / D1·D5·D7 직렬 / D6이 거버넌스 기반 / D13·D14·D17 신성장·분산축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결정 요약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Main·Side·Robust 9개 핵심 전략의 묶음이 다운턴 흑자·1위 회복·자산 폭락 시 M&amp;A를 동시에 해결한다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각 영역에서 가장 중요한 3개씩 — 단일 전략으로는 한 문제만 풀리지만, 묶음으로 실행하면 모든 문제가 동시에 해결된다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맑은 고딕"/>
              </a:rPr>
              <a:t>17개 결정의 묶음 의결로 호황의 정점을 다운턴 준비의 마지막 기회로 잡는다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맑은 고딕"/>
              </a:rPr>
              <a:t>─ 17개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시나리오 B Main Bet + Side Bets + Robust 9개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17개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HBM4·소재·3D DRAM·텍사스·AI 효율화·정책화·잉여 인력·추가 보조금·M&amp;A 펀드·NAND 4트랙·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Stargate·RS-8 헷지·CXL·소버린 다변화 + 수요 변곡 경보·정점 공급 규율(RS-9) —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30일 내 의사결정 + 자동 트리거 21개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+ 활동가 투자자 방어 의결권 구조 + 단일 Floor 원칙(RS-8) + 수요 변곡 발동 프로토콜(RS-9)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