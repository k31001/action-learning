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 다운턴: 깊이는 고객 구조가 결정했다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 </a:t>
            </a:r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노출이 큰 벤더일수록 깊게 맞았다: 문제는 총수요가 아니라 수요의 형태 변화, 답은 다변화가 아니라 니즈 적중 (Solidigm)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953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낙폭: 피크(2Q22)→저점(1Q23)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001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원인: 서버·고객 노출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29768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29016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31352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재배분, 그리고 반증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29016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212848"/>
            <a:ext cx="3200400" cy="0"/>
          </a:xfrm>
          <a:prstGeom prst="line">
            <a:avLst/>
          </a:prstGeom>
          <a:noFill/>
          <a:ln w="12700">
            <a:solidFill>
              <a:srgbClr val="5555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93852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86384" y="2212848"/>
            <a:ext cx="548640" cy="1685109"/>
          </a:xfrm>
          <a:prstGeom prst="roundRect">
            <a:avLst>
              <a:gd name="adj" fmla="val 5000"/>
            </a:avLst>
          </a:prstGeom>
          <a:solidFill>
            <a:srgbClr val="1428A0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3925389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-54%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435608" y="193852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SK그룹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563624" y="2212848"/>
            <a:ext cx="548640" cy="1965960"/>
          </a:xfrm>
          <a:prstGeom prst="roundRect">
            <a:avLst>
              <a:gd name="adj" fmla="val 5000"/>
            </a:avLst>
          </a:prstGeom>
          <a:solidFill>
            <a:srgbClr val="B9C2D0"/>
          </a:solidFill>
          <a:ln/>
        </p:spPr>
      </p:sp>
      <p:sp>
        <p:nvSpPr>
          <p:cNvPr id="22" name="Text 20"/>
          <p:cNvSpPr/>
          <p:nvPr/>
        </p:nvSpPr>
        <p:spPr>
          <a:xfrm>
            <a:off x="1435608" y="420624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-63%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212848" y="193852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WDC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340864" y="2212848"/>
            <a:ext cx="548640" cy="1404257"/>
          </a:xfrm>
          <a:prstGeom prst="roundRect">
            <a:avLst>
              <a:gd name="adj" fmla="val 5000"/>
            </a:avLst>
          </a:prstGeom>
          <a:solidFill>
            <a:srgbClr val="B9C2D0"/>
          </a:solidFill>
          <a:ln/>
        </p:spPr>
      </p:sp>
      <p:sp>
        <p:nvSpPr>
          <p:cNvPr id="25" name="Text 23"/>
          <p:cNvSpPr/>
          <p:nvPr/>
        </p:nvSpPr>
        <p:spPr>
          <a:xfrm>
            <a:off x="2212848" y="3644537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-45%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990088" y="193852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Kioxia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118104" y="2212848"/>
            <a:ext cx="548640" cy="1092200"/>
          </a:xfrm>
          <a:prstGeom prst="roundRect">
            <a:avLst>
              <a:gd name="adj" fmla="val 5000"/>
            </a:avLst>
          </a:prstGeom>
          <a:solidFill>
            <a:srgbClr val="B9C2D0"/>
          </a:solidFill>
          <a:ln/>
        </p:spPr>
      </p:sp>
      <p:sp>
        <p:nvSpPr>
          <p:cNvPr id="28" name="Text 26"/>
          <p:cNvSpPr/>
          <p:nvPr/>
        </p:nvSpPr>
        <p:spPr>
          <a:xfrm>
            <a:off x="2990088" y="33324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-35%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8368" y="4864608"/>
            <a:ext cx="3200400" cy="566928"/>
          </a:xfrm>
          <a:prstGeom prst="roundRect">
            <a:avLst>
              <a:gd name="adj" fmla="val 8065"/>
            </a:avLst>
          </a:prstGeom>
          <a:solidFill>
            <a:srgbClr val="F4F4F6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진앙은 SSD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 매출 중 SSD 기여 50%+ → 20~25% (4Q22→1Q23)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58368" y="55412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매출 피크·저점 기준, TrendForce 분기 데이터 합성. Micron은 회계분기 차이로 제외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498848" y="17739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Enterprise SSD 매출 점유, 4Q22 (시장 $3.79B)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498848" y="21579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13248" y="2139696"/>
            <a:ext cx="1828800" cy="292608"/>
          </a:xfrm>
          <a:prstGeom prst="roundRect">
            <a:avLst>
              <a:gd name="adj" fmla="val 9375"/>
            </a:avLst>
          </a:prstGeom>
          <a:solidFill>
            <a:srgbClr val="1428A0"/>
          </a:solidFill>
          <a:ln/>
        </p:spPr>
      </p:sp>
      <p:sp>
        <p:nvSpPr>
          <p:cNvPr id="34" name="Text 32"/>
          <p:cNvSpPr/>
          <p:nvPr/>
        </p:nvSpPr>
        <p:spPr>
          <a:xfrm>
            <a:off x="7296912" y="215798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46.9%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498848" y="26517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SK그룹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413248" y="2633472"/>
            <a:ext cx="740878" cy="292608"/>
          </a:xfrm>
          <a:prstGeom prst="roundRect">
            <a:avLst>
              <a:gd name="adj" fmla="val 9375"/>
            </a:avLst>
          </a:prstGeom>
          <a:solidFill>
            <a:srgbClr val="B9C2D0"/>
          </a:solidFill>
          <a:ln/>
        </p:spPr>
      </p:sp>
      <p:sp>
        <p:nvSpPr>
          <p:cNvPr id="37" name="Text 35"/>
          <p:cNvSpPr/>
          <p:nvPr/>
        </p:nvSpPr>
        <p:spPr>
          <a:xfrm>
            <a:off x="6208990" y="26517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19%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498848" y="314553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Kioxia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413248" y="3127248"/>
            <a:ext cx="506917" cy="292608"/>
          </a:xfrm>
          <a:prstGeom prst="roundRect">
            <a:avLst>
              <a:gd name="adj" fmla="val 9375"/>
            </a:avLst>
          </a:prstGeom>
          <a:solidFill>
            <a:srgbClr val="B9C2D0"/>
          </a:solidFill>
          <a:ln/>
        </p:spPr>
      </p:sp>
      <p:sp>
        <p:nvSpPr>
          <p:cNvPr id="40" name="Text 38"/>
          <p:cNvSpPr/>
          <p:nvPr/>
        </p:nvSpPr>
        <p:spPr>
          <a:xfrm>
            <a:off x="5975029" y="31455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13%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498848" y="374904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 순위 = 낙폭 순위. 삼성은 enterprise SSD 1위로 하이퍼스케일러 노출 최대, SK그룹 -63%에는 서버 100%인 Solidigm 포함. 반면 Kioxia(모바일 중심)·WDC(리테일 중심)는 얕게 맞았다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498848" y="5870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TrendForce enterprise SSD 4Q22 · Blocks &amp; Files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330184" y="17739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 CapEx ($B, 각사 10-K)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330184" y="3346704"/>
            <a:ext cx="3200400" cy="0"/>
          </a:xfrm>
          <a:prstGeom prst="line">
            <a:avLst/>
          </a:prstGeom>
          <a:noFill/>
          <a:ln w="12700">
            <a:solidFill>
              <a:srgbClr val="55555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76488" y="2211848"/>
            <a:ext cx="256032" cy="1134856"/>
          </a:xfrm>
          <a:prstGeom prst="rect">
            <a:avLst/>
          </a:prstGeom>
          <a:solidFill>
            <a:srgbClr val="D6DCE8"/>
          </a:solidFill>
          <a:ln/>
        </p:spPr>
      </p:sp>
      <p:sp>
        <p:nvSpPr>
          <p:cNvPr id="46" name="Shape 44"/>
          <p:cNvSpPr/>
          <p:nvPr/>
        </p:nvSpPr>
        <p:spPr>
          <a:xfrm>
            <a:off x="8769096" y="2165414"/>
            <a:ext cx="256032" cy="1181291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47" name="Shape 45"/>
          <p:cNvSpPr/>
          <p:nvPr/>
        </p:nvSpPr>
        <p:spPr>
          <a:xfrm>
            <a:off x="9061704" y="2367867"/>
            <a:ext cx="256032" cy="978837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48" name="Text 46"/>
          <p:cNvSpPr/>
          <p:nvPr/>
        </p:nvSpPr>
        <p:spPr>
          <a:xfrm>
            <a:off x="8339328" y="3383280"/>
            <a:ext cx="115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Amazon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9518904" y="2990088"/>
            <a:ext cx="256032" cy="356616"/>
          </a:xfrm>
          <a:prstGeom prst="rect">
            <a:avLst/>
          </a:prstGeom>
          <a:solidFill>
            <a:srgbClr val="D6DCE8"/>
          </a:solidFill>
          <a:ln/>
        </p:spPr>
      </p:sp>
      <p:sp>
        <p:nvSpPr>
          <p:cNvPr id="50" name="Shape 48"/>
          <p:cNvSpPr/>
          <p:nvPr/>
        </p:nvSpPr>
        <p:spPr>
          <a:xfrm>
            <a:off x="9811512" y="2763488"/>
            <a:ext cx="256032" cy="583216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51" name="Shape 49"/>
          <p:cNvSpPr/>
          <p:nvPr/>
        </p:nvSpPr>
        <p:spPr>
          <a:xfrm>
            <a:off x="10104120" y="2824782"/>
            <a:ext cx="256032" cy="52192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52" name="Text 50"/>
          <p:cNvSpPr/>
          <p:nvPr/>
        </p:nvSpPr>
        <p:spPr>
          <a:xfrm>
            <a:off x="9381744" y="3383280"/>
            <a:ext cx="115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Meta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10561320" y="2889790"/>
            <a:ext cx="256032" cy="456914"/>
          </a:xfrm>
          <a:prstGeom prst="rect">
            <a:avLst/>
          </a:prstGeom>
          <a:solidFill>
            <a:srgbClr val="D6DCE8"/>
          </a:solidFill>
          <a:ln/>
        </p:spPr>
      </p:sp>
      <p:sp>
        <p:nvSpPr>
          <p:cNvPr id="54" name="Shape 52"/>
          <p:cNvSpPr/>
          <p:nvPr/>
        </p:nvSpPr>
        <p:spPr>
          <a:xfrm>
            <a:off x="10853928" y="2761631"/>
            <a:ext cx="256032" cy="585073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55" name="Shape 53"/>
          <p:cNvSpPr/>
          <p:nvPr/>
        </p:nvSpPr>
        <p:spPr>
          <a:xfrm>
            <a:off x="11146536" y="2746772"/>
            <a:ext cx="256032" cy="5999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56" name="Text 54"/>
          <p:cNvSpPr/>
          <p:nvPr/>
        </p:nvSpPr>
        <p:spPr>
          <a:xfrm>
            <a:off x="10424160" y="3383280"/>
            <a:ext cx="115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Alphabet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8330184" y="3675888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’21  ’22  ’23  ·  Amazon 창사 최초 감소(-17%), Meta -11%. 반면 AI 서버는 ’23 ~$50B로 서버 시장 가치의 ~23%: 총량이 아니라 재배분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8311896" y="4498848"/>
            <a:ext cx="3236976" cy="1536192"/>
          </a:xfrm>
          <a:prstGeom prst="roundRect">
            <a:avLst>
              <a:gd name="adj" fmla="val 4167"/>
            </a:avLst>
          </a:prstGeom>
          <a:solidFill>
            <a:srgbClr val="EEF1FA"/>
          </a:solidFill>
          <a:ln w="15875">
            <a:solidFill>
              <a:srgbClr val="1428A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476488" y="4590288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반증: Solidigm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낙폭 최심부(SK그룹)에서 ’23.07 61.44TB QLC 출시로 AI 스토리지 수요 적중, ’24 흑자 전환. 다변화(방어)가 아니라 니즈 적중(공격)이 다운턴을 이긴다</a:t>
            </a:r>
            <a:endParaRPr lang="en-US" sz="1150" dirty="0"/>
          </a:p>
        </p:txBody>
      </p:sp>
      <p:sp>
        <p:nvSpPr>
          <p:cNvPr id="60" name="Text 58"/>
          <p:cNvSpPr/>
          <p:nvPr/>
        </p:nvSpPr>
        <p:spPr>
          <a:xfrm>
            <a:off x="8330184" y="60533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각사 10-K · Platformonomics · TrendForce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Cache: 요구 내구성은 현 제품의 2~10배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 </a:t>
            </a:r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스토리지가 추론의 캐시 계층으로 승격된다: 수요는 폭증하고, 쓰기 내구성 요구는 현행 TLC·QLC 제품군을 넘는다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953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수요: KV Cache Offloading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001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write-intensive인가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29768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29016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31352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DWPD 갭: 새 전략의 근거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29016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7008" y="1792224"/>
            <a:ext cx="2103120" cy="292608"/>
          </a:xfrm>
          <a:prstGeom prst="roundRect">
            <a:avLst>
              <a:gd name="adj" fmla="val 12500"/>
            </a:avLst>
          </a:prstGeom>
          <a:solidFill>
            <a:srgbClr val="F4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1207008" y="17922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HBM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121408" y="206654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207008" y="2194560"/>
            <a:ext cx="2103120" cy="292608"/>
          </a:xfrm>
          <a:prstGeom prst="roundRect">
            <a:avLst>
              <a:gd name="adj" fmla="val 12500"/>
            </a:avLst>
          </a:prstGeom>
          <a:solidFill>
            <a:srgbClr val="E5E9F2"/>
          </a:solidFill>
          <a:ln/>
        </p:spPr>
      </p:sp>
      <p:sp>
        <p:nvSpPr>
          <p:cNvPr id="20" name="Text 18"/>
          <p:cNvSpPr/>
          <p:nvPr/>
        </p:nvSpPr>
        <p:spPr>
          <a:xfrm>
            <a:off x="1207008" y="21945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DRAM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21408" y="246888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207008" y="2596896"/>
            <a:ext cx="2103120" cy="292608"/>
          </a:xfrm>
          <a:prstGeom prst="roundRect">
            <a:avLst>
              <a:gd name="adj" fmla="val 12500"/>
            </a:avLst>
          </a:prstGeom>
          <a:solidFill>
            <a:srgbClr val="1428A0"/>
          </a:solidFill>
          <a:ln/>
        </p:spPr>
      </p:sp>
      <p:sp>
        <p:nvSpPr>
          <p:cNvPr id="23" name="Text 21"/>
          <p:cNvSpPr/>
          <p:nvPr/>
        </p:nvSpPr>
        <p:spPr>
          <a:xfrm>
            <a:off x="1207008" y="259689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SSD: KV 캐시 계층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" y="30540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Dynamo·CMX·LMCache·Mooncake가 SSD 계층 공식 지원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41248" y="4828032"/>
            <a:ext cx="2651760" cy="0"/>
          </a:xfrm>
          <a:prstGeom prst="line">
            <a:avLst/>
          </a:prstGeom>
          <a:noFill/>
          <a:ln w="12700">
            <a:solidFill>
              <a:srgbClr val="5555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34440" y="4325112"/>
            <a:ext cx="640080" cy="125730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34440" y="4450842"/>
            <a:ext cx="640080" cy="37719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40690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75~100EB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097280" y="48646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468880" y="3822192"/>
            <a:ext cx="640080" cy="251460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31" name="Shape 29"/>
          <p:cNvSpPr/>
          <p:nvPr/>
        </p:nvSpPr>
        <p:spPr>
          <a:xfrm>
            <a:off x="2468880" y="4073652"/>
            <a:ext cx="640080" cy="75438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2" name="Text 30"/>
          <p:cNvSpPr/>
          <p:nvPr/>
        </p:nvSpPr>
        <p:spPr>
          <a:xfrm>
            <a:off x="2148840" y="356616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150~200EB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31720" y="48646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8368" y="321868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단독 NAND 추가 수요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58368" y="5230368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  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2030년 AI DC NAND 워크로드 중 KV cache 비중 (SanDisk, FMS 2026) · NVL144 랙 연 5만 대 기준 연 ~0.44EB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4498848" y="1856232"/>
            <a:ext cx="128016" cy="128016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7" name="Text 35"/>
          <p:cNvSpPr/>
          <p:nvPr/>
        </p:nvSpPr>
        <p:spPr>
          <a:xfrm>
            <a:off x="4736592" y="17556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세션마다 생성·갱신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요청이 곧 쓰기: 연속적 쓰기 부하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498848" y="2642616"/>
            <a:ext cx="128016" cy="128016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9" name="Text 37"/>
          <p:cNvSpPr/>
          <p:nvPr/>
        </p:nvSpPr>
        <p:spPr>
          <a:xfrm>
            <a:off x="4736592" y="254203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짧고 제각각인 수명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블록별 라이프사이클이 모두 다르다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498848" y="3429000"/>
            <a:ext cx="128016" cy="128016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41" name="Text 39"/>
          <p:cNvSpPr/>
          <p:nvPr/>
        </p:nvSpPr>
        <p:spPr>
          <a:xfrm>
            <a:off x="4736592" y="3328416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무효화·재적재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퇴출과 재활성이 상시 반복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498848" y="4215384"/>
            <a:ext cx="128016" cy="128016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43" name="Text 41"/>
          <p:cNvSpPr/>
          <p:nvPr/>
        </p:nvSpPr>
        <p:spPr>
          <a:xfrm>
            <a:off x="4736592" y="4114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멀티테넌트 혼합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GC 간섭으로 WAF 증폭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498848" y="5029200"/>
            <a:ext cx="3200400" cy="566928"/>
          </a:xfrm>
          <a:prstGeom prst="roundRect">
            <a:avLst>
              <a:gd name="adj" fmla="val 8065"/>
            </a:avLst>
          </a:prstGeom>
          <a:solidFill>
            <a:srgbClr val="F4F4F6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서버 앱 대비 월등한 쓰기 밀도: mixed-use 등급을 넘는 내구성 요구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498848" y="58704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ScaleFlux 발표 · NVIDIA Dynamo 문서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330184" y="17739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대비 2~10배 갭 (5년 보증 기준 DWPD)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8275320" y="4370832"/>
            <a:ext cx="3246120" cy="0"/>
          </a:xfrm>
          <a:prstGeom prst="line">
            <a:avLst/>
          </a:prstGeom>
          <a:noFill/>
          <a:ln w="12700">
            <a:solidFill>
              <a:srgbClr val="55555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412480" y="4244645"/>
            <a:ext cx="566928" cy="126187"/>
          </a:xfrm>
          <a:prstGeom prst="rect">
            <a:avLst/>
          </a:prstGeom>
          <a:solidFill>
            <a:srgbClr val="B9C2D0"/>
          </a:solidFill>
          <a:ln/>
        </p:spPr>
      </p:sp>
      <p:sp>
        <p:nvSpPr>
          <p:cNvPr id="49" name="Text 47"/>
          <p:cNvSpPr/>
          <p:nvPr/>
        </p:nvSpPr>
        <p:spPr>
          <a:xfrm>
            <a:off x="8229600" y="3988613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0.6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211312" y="4407408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고용량 QLC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9208008" y="4160520"/>
            <a:ext cx="566928" cy="210312"/>
          </a:xfrm>
          <a:prstGeom prst="rect">
            <a:avLst/>
          </a:prstGeom>
          <a:solidFill>
            <a:srgbClr val="B9C2D0"/>
          </a:solidFill>
          <a:ln/>
        </p:spPr>
      </p:sp>
      <p:sp>
        <p:nvSpPr>
          <p:cNvPr id="52" name="Text 50"/>
          <p:cNvSpPr/>
          <p:nvPr/>
        </p:nvSpPr>
        <p:spPr>
          <a:xfrm>
            <a:off x="9025128" y="390448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006840" y="4407408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TLC RI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10003536" y="3739896"/>
            <a:ext cx="566928" cy="630936"/>
          </a:xfrm>
          <a:prstGeom prst="rect">
            <a:avLst/>
          </a:prstGeom>
          <a:solidFill>
            <a:srgbClr val="B9C2D0"/>
          </a:solidFill>
          <a:ln/>
        </p:spPr>
      </p:sp>
      <p:sp>
        <p:nvSpPr>
          <p:cNvPr id="55" name="Text 53"/>
          <p:cNvSpPr/>
          <p:nvPr/>
        </p:nvSpPr>
        <p:spPr>
          <a:xfrm>
            <a:off x="9820656" y="34838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802368" y="4407408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TLC MU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0799064" y="2267712"/>
            <a:ext cx="566928" cy="630936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58" name="Shape 56"/>
          <p:cNvSpPr/>
          <p:nvPr/>
        </p:nvSpPr>
        <p:spPr>
          <a:xfrm>
            <a:off x="10799064" y="2898648"/>
            <a:ext cx="566928" cy="1472184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59" name="Text 57"/>
          <p:cNvSpPr/>
          <p:nvPr/>
        </p:nvSpPr>
        <p:spPr>
          <a:xfrm>
            <a:off x="10616184" y="20116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7~10+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0597896" y="4407408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요구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8311896" y="5029200"/>
            <a:ext cx="3236976" cy="1225296"/>
          </a:xfrm>
          <a:prstGeom prst="roundRect">
            <a:avLst>
              <a:gd name="adj" fmla="val 5224"/>
            </a:avLst>
          </a:prstGeom>
          <a:solidFill>
            <a:srgbClr val="EEF1FA"/>
          </a:solidFill>
          <a:ln w="15875">
            <a:solidFill>
              <a:srgbClr val="1428A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476488" y="5102352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갭의 해법이 곧 전략</a:t>
            </a:r>
            <a:endParaRPr lang="en-US" sz="11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FDP로 수명별 RUH 분리·WAF 절감 = 유효 DWPD 확보 (ScaleFlux도 FDP 200+ 스트림으로 7~10 DWPD 달성) + 고내구 설계. NVIDIA CMX 생태계와 직결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④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실행전략  </a:t>
            </a:r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SCA로 다가가고 · FDP로 제공하고 · FDE로 협업한다: 워크로드가 들어올수록 전환비용이 커지는 락인 플라이휠, 다운턴 피해 최소화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953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락인 플라이휠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001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SCA: Micron이 증명한 접근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29016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31352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FDP·FDE: 기술과 사람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29016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1828800"/>
            <a:ext cx="877824" cy="877824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다가간다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59536" y="3456432"/>
            <a:ext cx="877824" cy="877824"/>
          </a:xfrm>
          <a:prstGeom prst="ellipse">
            <a:avLst/>
          </a:prstGeom>
          <a:solidFill>
            <a:srgbClr val="3C5AC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제공한다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798064" y="3456432"/>
            <a:ext cx="877824" cy="877824"/>
          </a:xfrm>
          <a:prstGeom prst="ellipse">
            <a:avLst/>
          </a:prstGeom>
          <a:solidFill>
            <a:srgbClr val="8FA0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협업한다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 flipH="1">
            <a:off x="1371600" y="2706624"/>
            <a:ext cx="329184" cy="713232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773936" y="4059936"/>
            <a:ext cx="987552" cy="914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 flipV="1">
            <a:off x="2834640" y="2706624"/>
            <a:ext cx="384048" cy="713232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536192" y="2999232"/>
            <a:ext cx="1463040" cy="566928"/>
          </a:xfrm>
          <a:prstGeom prst="roundRect">
            <a:avLst>
              <a:gd name="adj" fmla="val 9677"/>
            </a:avLst>
          </a:prstGeom>
          <a:solidFill>
            <a:srgbClr val="EEF1FA"/>
          </a:solidFill>
          <a:ln w="12700">
            <a:solidFill>
              <a:srgbClr val="1428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락인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다운턴 방어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워크로드가 들어올수록 최적화가 깊어지고 전환비용이 커진다. 계약이 끝나도 갈아타기 어려운 관계가 다운턴의 방어벽이 된다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58368" y="5431536"/>
            <a:ext cx="32004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5522976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Strategic Customer Agreement · 전략적 고객 계약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Flexible Data Placement · NVMe 데이터 배치 표준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Forward Deployed Engineer · 고객 상주 엔지니어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98848" y="179222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공급부족 협상력의 창이 열려 있을 때 워크로드 교환을 제안한다: 고객이 워크로드를 공유하면 그 워크로드에 최적화한 FDP SSD를 공급. 성능·수명 개선과 TCO 절감으로 거절하기 어려운 딜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498848" y="2926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대상: 하이퍼스케일러 · Pure Storage · VAST Data · DDN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80560" y="3291840"/>
            <a:ext cx="3236976" cy="2798064"/>
          </a:xfrm>
          <a:prstGeom prst="roundRect">
            <a:avLst>
              <a:gd name="adj" fmla="val 2288"/>
            </a:avLst>
          </a:prstGeom>
          <a:solidFill>
            <a:srgbClr val="EEF1FA"/>
          </a:solidFill>
          <a:ln w="15875">
            <a:solidFill>
              <a:srgbClr val="1428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34198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선례: Micron ↔ Anthropic (’26.06)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700016" y="3730752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다년 공급 (HBM·DRAM·SSD 전 포트폴리오)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워크로드 공동 최적화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통합 (Micron 전사에 Claude 배치)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자본 연계 (Series H 전략 투자)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45152" y="502920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16건 · 최소 매출 $100B · 예치금 $22B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645152" y="5541264"/>
            <a:ext cx="2999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워크로드를 열고 공급을 잠근 계약. 우리가 맺으려는 관계의 실물 견본이다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30184" y="17739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추가로 필요한 기술 (기존 SSD 기술 대비)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330184" y="2066544"/>
            <a:ext cx="3200400" cy="329184"/>
          </a:xfrm>
          <a:prstGeom prst="roundRect">
            <a:avLst>
              <a:gd name="adj" fmla="val 13889"/>
            </a:avLst>
          </a:prstGeom>
          <a:solidFill>
            <a:srgbClr val="F4F4F6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 </a:t>
            </a:r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· 컨트롤러 · 펌웨어 · 수율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330184" y="2450592"/>
            <a:ext cx="3200400" cy="749808"/>
          </a:xfrm>
          <a:prstGeom prst="roundRect">
            <a:avLst>
              <a:gd name="adj" fmla="val 6098"/>
            </a:avLst>
          </a:prstGeom>
          <a:solidFill>
            <a:srgbClr val="EEF1FA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 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블록계층·io_uring·NVMe / SPDK / DB·캐시 내부 (RocksDB·CacheLib·Ceph) / 워크로드 분석 (fio·eBPF·WAF)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330184" y="3310128"/>
            <a:ext cx="3200400" cy="694944"/>
          </a:xfrm>
          <a:prstGeom prst="roundRect">
            <a:avLst>
              <a:gd name="adj" fmla="val 6579"/>
            </a:avLst>
          </a:prstGeom>
          <a:solidFill>
            <a:srgbClr val="EEF1FA"/>
          </a:solidFill>
          <a:ln w="12700">
            <a:solidFill>
              <a:srgbClr val="1428A0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선례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Palantir가 창안한 직군 (코드명 Delta, 640% 주가 동력으로 회자) · Anthropic·OpenAI도 엔터프라이즈 GTM으로 채택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330184" y="4133088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006840" y="4114800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현지, 오픈소스 스토리지 기여자 우대, 영어 필수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30184" y="4846320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006840" y="4828032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엔지니어 미국 로테이션 6~12개월 + 현지 FDE 멘토 페어링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30184" y="5559552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006840" y="5541264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 1~2사 상주 (Pod 소속), outcome 평가 (활성화 용량), 업스트림 기여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2026-09-01T11:00:34Z</dcterms:created>
  <dcterms:modified xsi:type="dcterms:W3CDTF">2026-09-01T11:00:34Z</dcterms:modified>
</cp:coreProperties>
</file>