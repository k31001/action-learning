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11274552" cy="512064"/>
          </a:xfrm>
          <a:prstGeom prst="roundRect">
            <a:avLst>
              <a:gd name="adj" fmla="val 16071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 — 신문섭 (2026-06)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5477256" cy="1865376"/>
          </a:xfrm>
          <a:prstGeom prst="roundRect">
            <a:avLst>
              <a:gd name="adj" fmla="val 4412"/>
            </a:avLst>
          </a:prstGeom>
          <a:solidFill>
            <a:srgbClr val="F5F7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0704" y="1618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 — 계약의 진화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2048256"/>
            <a:ext cx="1051560" cy="749808"/>
          </a:xfrm>
          <a:prstGeom prst="roundRect">
            <a:avLst>
              <a:gd name="adj" fmla="val 8537"/>
            </a:avLst>
          </a:prstGeom>
          <a:solidFill>
            <a:srgbClr val="E7EC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현물 거래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28216" y="2048256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048256"/>
            <a:ext cx="1234440" cy="749808"/>
          </a:xfrm>
          <a:prstGeom prst="roundRect">
            <a:avLst>
              <a:gd name="adj" fmla="val 8537"/>
            </a:avLst>
          </a:prstGeom>
          <a:solidFill>
            <a:srgbClr val="CBD6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LTA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물량·가격 락인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048256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048256"/>
            <a:ext cx="2286000" cy="749808"/>
          </a:xfrm>
          <a:prstGeom prst="roundRect">
            <a:avLst>
              <a:gd name="adj" fmla="val 8537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공동설계·자본 연계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2944368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사는 것: 납품 → 공동 기술 드라이브 (16건 · $100B)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517904"/>
            <a:ext cx="5477256" cy="1865376"/>
          </a:xfrm>
          <a:prstGeom prst="roundRect">
            <a:avLst>
              <a:gd name="adj" fmla="val 4412"/>
            </a:avLst>
          </a:prstGeom>
          <a:solidFill>
            <a:srgbClr val="F5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64592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618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되나 — As-Is → To-Be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02996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65008" y="20299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7616" y="2029968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공동 정의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246888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RFQ 응답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65008" y="24688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57616" y="2468880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제안·기술 드라이브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290779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스펙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65008" y="29077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57616" y="2907792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모델 (서버→랙→DC)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F5F7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5760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0704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하나 — 4대 축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11480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972" y="3749772"/>
            <a:ext cx="199705" cy="19970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랩 · 시스템 모델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3504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212" y="3749772"/>
            <a:ext cx="199705" cy="199705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49224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49224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모난 놈 → 호명 문화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5528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452" y="3749772"/>
            <a:ext cx="199705" cy="19970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41248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841248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스타 · Co-Design Pod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9875520" y="3657600"/>
            <a:ext cx="384048" cy="384048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7692" y="3749772"/>
            <a:ext cx="199705" cy="199705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033272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10332720" y="3895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리뷰 · PoA · AI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57200" y="4645152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00600"/>
            <a:ext cx="365760" cy="3657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1133856" y="4645152"/>
            <a:ext cx="10415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FDE(Forward Deployed Engineer)를 스타 플레이어로, 고객사와 기술 생태계를 함께 만든다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“조직 이름 뒤에 숨지 않고 자기 이름으로 불린다” — 송길영 『호명사회』 · ‘모난 놈이 정 맞는’ 문화 → 호명 문화로 · 관리 분리 + SV 영입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457200" y="544982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/>
        </p:spPr>
      </p:sp>
      <p:sp>
        <p:nvSpPr>
          <p:cNvPr id="51" name="Text 44"/>
          <p:cNvSpPr/>
          <p:nvPr/>
        </p:nvSpPr>
        <p:spPr>
          <a:xfrm>
            <a:off x="640080" y="5742432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52" name="Text 45"/>
          <p:cNvSpPr/>
          <p:nvPr/>
        </p:nvSpPr>
        <p:spPr>
          <a:xfrm>
            <a:off x="1060704" y="5715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변화 — 영입 가능한 임금</a:t>
            </a:r>
            <a:endParaRPr lang="en-US" sz="1700" dirty="0"/>
          </a:p>
        </p:txBody>
      </p:sp>
      <p:sp>
        <p:nvSpPr>
          <p:cNvPr id="53" name="Text 46"/>
          <p:cNvSpPr/>
          <p:nvPr/>
        </p:nvSpPr>
        <p:spPr>
          <a:xfrm>
            <a:off x="4114800" y="5605272"/>
            <a:ext cx="2103120" cy="603504"/>
          </a:xfrm>
          <a:prstGeom prst="roundRect">
            <a:avLst>
              <a:gd name="adj" fmla="val 9091"/>
            </a:avLst>
          </a:prstGeom>
          <a:solidFill>
            <a:srgbClr val="E7ECE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보상 열위</a:t>
            </a:r>
            <a:endParaRPr lang="en-US" sz="1250" dirty="0"/>
          </a:p>
        </p:txBody>
      </p:sp>
      <p:sp>
        <p:nvSpPr>
          <p:cNvPr id="54" name="Text 47"/>
          <p:cNvSpPr/>
          <p:nvPr/>
        </p:nvSpPr>
        <p:spPr>
          <a:xfrm>
            <a:off x="6217920" y="560527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55" name="Text 48"/>
          <p:cNvSpPr/>
          <p:nvPr/>
        </p:nvSpPr>
        <p:spPr>
          <a:xfrm>
            <a:off x="6437376" y="5605272"/>
            <a:ext cx="26517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성과급 ~6억 · 상한 철폐</a:t>
            </a:r>
            <a:endParaRPr lang="en-US" sz="1250" dirty="0"/>
          </a:p>
        </p:txBody>
      </p:sp>
      <p:sp>
        <p:nvSpPr>
          <p:cNvPr id="56" name="Text 49"/>
          <p:cNvSpPr/>
          <p:nvPr/>
        </p:nvSpPr>
        <p:spPr>
          <a:xfrm>
            <a:off x="9089136" y="560527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57" name="Text 50"/>
          <p:cNvSpPr/>
          <p:nvPr/>
        </p:nvSpPr>
        <p:spPr>
          <a:xfrm>
            <a:off x="9308592" y="5605272"/>
            <a:ext cx="2286000" cy="603504"/>
          </a:xfrm>
          <a:prstGeom prst="roundRect">
            <a:avLst>
              <a:gd name="adj" fmla="val 9091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영입 축적 → 조직 수준 상향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2026-08-25T02:25:10Z</dcterms:created>
  <dcterms:modified xsi:type="dcterms:W3CDTF">2026-08-25T02:25:10Z</dcterms:modified>
</cp:coreProperties>
</file>