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notesMasterIdLst>
    <p:notesMasterId r:id="rId18"/>
  </p:notesMasterIdLst>
  <p:sldSz cx="12191695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731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PART 1  · 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7317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11111"/>
                </a:solidFill>
                <a:latin typeface="맑은 고딕"/>
              </a:rPr>
              <a:t>왜 시나리오 플래닝인가 — 단순 예측으로는 풀 수 없는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731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맑은 고딕"/>
              </a:rPr>
              <a:t>호황 정점·점유율 추락·다운턴 사이클이 동시에 진행 중인 지금, 우리는 "하나의 미래" 가 아니라 "여러 가능한 미래" 를 동시에 준비해야 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1328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4983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FOCAL ISSUE  ·  우리가 풀어야 할 단 하나의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D2D2D"/>
                </a:solidFill>
                <a:latin typeface="맑은 고딕"/>
              </a:rPr>
              <a:t>AI 메모리 시대에 삼성전자 메모리사업부가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D2D2D"/>
                </a:solidFill>
                <a:latin typeface="맑은 고딕"/>
              </a:rPr>
              <a:t>2030~2035년에도 글로벌 리더십을 유지하기 위해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D2D2D"/>
                </a:solidFill>
                <a:latin typeface="맑은 고딕"/>
              </a:rPr>
              <a:t>어떤 전략적 결정을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맑은 고딕"/>
              </a:rPr>
              <a:t>지금 내려야 하는가?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30168"/>
            <a:ext cx="1767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30168"/>
            <a:ext cx="176784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776472"/>
            <a:ext cx="1511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맑은 고딕"/>
              </a:rPr>
              <a:t>호황 정점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3977640"/>
            <a:ext cx="15118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2026 Q1 매출</a:t>
            </a:r>
          </a:p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사상 최대 $50.4B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6480" y="3630168"/>
            <a:ext cx="1767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6480" y="3630168"/>
            <a:ext cx="1767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4496" y="3776472"/>
            <a:ext cx="1511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맑은 고딕"/>
              </a:rPr>
              <a:t>회복 궤도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4496" y="3977640"/>
            <a:ext cx="15118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HBM 점유율</a:t>
            </a:r>
          </a:p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17% → 35% 반등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5760" y="3630168"/>
            <a:ext cx="1767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75760" y="3630168"/>
            <a:ext cx="176784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3776" y="3776472"/>
            <a:ext cx="1511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맑은 고딕"/>
              </a:rPr>
              <a:t>미상 리스크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3776" y="3977640"/>
            <a:ext cx="15118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다음 다운턴</a:t>
            </a:r>
          </a:p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시점·규모 미지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그리고 우리를 둘러싼 3대 본질적 불확실성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82896"/>
            <a:ext cx="17800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82896"/>
            <a:ext cx="178003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029200"/>
            <a:ext cx="38404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DF1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029200"/>
            <a:ext cx="11399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AI 수요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40096"/>
            <a:ext cx="15971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D2D2D"/>
                </a:solidFill>
                <a:latin typeface="맑은 고딕"/>
              </a:rPr>
              <a:t>슈퍼사이클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D2D2D"/>
                </a:solidFill>
                <a:latin typeface="맑은 고딕"/>
              </a:rPr>
              <a:t>vs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D2D2D"/>
                </a:solidFill>
                <a:latin typeface="맑은 고딕"/>
              </a:rPr>
              <a:t>거품 붕괴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0176"/>
            <a:ext cx="1597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B7280"/>
                </a:solidFill>
                <a:latin typeface="맑은 고딕"/>
              </a:rPr>
              <a:t>빅테크 CapEx $725B 지속 vs ROI 미실현 95%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10384" y="4882896"/>
            <a:ext cx="17800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10384" y="4882896"/>
            <a:ext cx="178003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20112" y="5029200"/>
            <a:ext cx="38404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DF2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9024" y="5029200"/>
            <a:ext cx="11399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미중 지정학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1824" y="5340096"/>
            <a:ext cx="15971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D2D2D"/>
                </a:solidFill>
                <a:latin typeface="맑은 고딕"/>
              </a:rPr>
              <a:t>디커플링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D2D2D"/>
                </a:solidFill>
                <a:latin typeface="맑은 고딕"/>
              </a:rPr>
              <a:t>vs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D2D2D"/>
                </a:solidFill>
                <a:latin typeface="맑은 고딕"/>
              </a:rPr>
              <a:t>관리된 공존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01824" y="5980176"/>
            <a:ext cx="1597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B7280"/>
                </a:solidFill>
                <a:latin typeface="맑은 고딕"/>
              </a:rPr>
              <a:t>MATCH 법안 vs H20 재허용 정책 진동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3568" y="4882896"/>
            <a:ext cx="17800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63568" y="4882896"/>
            <a:ext cx="178003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73296" y="5029200"/>
            <a:ext cx="38404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DF3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12208" y="5029200"/>
            <a:ext cx="11399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메모리 아키텍처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5008" y="5340096"/>
            <a:ext cx="15971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D2D2D"/>
                </a:solidFill>
                <a:latin typeface="맑은 고딕"/>
              </a:rPr>
              <a:t>HBM 지속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D2D2D"/>
                </a:solidFill>
                <a:latin typeface="맑은 고딕"/>
              </a:rPr>
              <a:t>vs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D2D2D"/>
                </a:solidFill>
                <a:latin typeface="맑은 고딕"/>
              </a:rPr>
              <a:t>패러다임 전환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5008" y="5980176"/>
            <a:ext cx="1597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B7280"/>
                </a:solidFill>
                <a:latin typeface="맑은 고딕"/>
              </a:rPr>
              <a:t>3D DRAM·PIM·CXL 부상 시점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1691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맑은 고딕"/>
              </a:rPr>
              <a:t>단선 예측  vs  시나리오 플래닝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19476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맑은 고딕"/>
              </a:rPr>
              <a:t>같은 정보로도 결과는 근본적으로 다르다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45352" y="2286000"/>
            <a:ext cx="26700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45352" y="2286000"/>
            <a:ext cx="54864" cy="2286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2414016"/>
            <a:ext cx="2359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✕  단선 예측 (Single Forecast)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46520" y="2706624"/>
            <a:ext cx="2267712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46520" y="2779776"/>
            <a:ext cx="226771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"가장 그럴 듯한 미래" 하나만 가정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예측이 빗나가면 대응 시점 늦음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호황 가정 → 다운턴 시 적자 직격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협상 가정 → 디커플링 시 시안 팹 손실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도전 가설(HBM 패러다임 전환) 누락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결정 = "맞히기" 게임  →  높은 실패 비용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704" y="2286000"/>
            <a:ext cx="267004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61704" y="2286000"/>
            <a:ext cx="54864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62872" y="2414016"/>
            <a:ext cx="2359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맑은 고딕"/>
              </a:rPr>
              <a:t>✓  시나리오 플래닝 (Shell Method)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262872.0" y="2706624"/>
            <a:ext cx="2267712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262872" y="2779776"/>
            <a:ext cx="226771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4~5개 "가능한 미래" 를 동시에 가정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시나리오마다 함의·기회·위협 사전 도출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어떤 미래가 와도 작동하는 Robust 전략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Main Bet + Side Bet 보험 구조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EWI 로 분기점 자동 감지 → 30일 내 실행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2D2D2D"/>
                </a:solidFill>
                <a:latin typeface="맑은 고딕"/>
              </a:rPr>
              <a:t>•  결정 = "준비" 게임  →  높은 적응 속도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45352" y="4754880"/>
            <a:ext cx="54864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45352" y="4754880"/>
            <a:ext cx="5486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919472"/>
            <a:ext cx="50840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PROOF  ·  시나리오 플래닝을 실제 도입·활용한 기업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5148072"/>
            <a:ext cx="5084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50년간 글로벌 대기업이 표준 의사결정 도구로 채택해 온 방법론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546811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Calibri"/>
              </a:rPr>
              <a:t>Shell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571500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1970s~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5916168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오일쇼크 사전 시나리오 → 단독 흑자 유지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시나리오 플래닝의 원조 도입 사례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80" y="546811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Calibri"/>
              </a:rPr>
              <a:t>ExxonMobil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80" y="571500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1990s~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26680" y="5916168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연 단위 시나리오 갱신 → 장기 CapEx 의사결정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10년 단위 에너지 전망 표준화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6840" y="546811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Calibri"/>
              </a:rPr>
              <a:t>Daimler-Benz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6840" y="571500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1980s~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6840" y="5916168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글로벌 자동차 시장 시나리오 4종 운영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모빌리티 R&amp;D 포트폴리오 결정 도구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87000" y="546811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Calibri"/>
              </a:rPr>
              <a:t>UPS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87000" y="571500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1990s~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87000" y="5916168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20년 물류 시나리오 4종 정기 갱신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전 세계 거점 투자 의사결정에 활용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57200" y="6565392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삼성전자  |  시나리오 플래닝 도입 제안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731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PART 2  · 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7317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11111"/>
                </a:solidFill>
                <a:latin typeface="맑은 고딕"/>
              </a:rPr>
              <a:t>8단계 워크플로우 — 우리 메모리 사업에 이렇게 적용한다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731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맑은 고딕"/>
              </a:rPr>
              <a:t>Shell 시나리오 플래닝의 표준 8단계 프로세스를 메모리사업부 포컬 이슈에 매핑하면 각 단계마다 명확한 산출물이 나온다 (위키에서 이미 1차 작업 완료)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1328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281303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28130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819656"/>
            <a:ext cx="11349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1189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Focal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78024"/>
            <a:ext cx="1189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맑은 고딕"/>
              </a:rPr>
              <a:t>단 하나의 질문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56791.0" y="2194560"/>
            <a:ext cx="109728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884807" y="1691640"/>
            <a:ext cx="1281303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84807" y="1691640"/>
            <a:ext cx="128130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57959" y="1819656"/>
            <a:ext cx="11349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0527" y="2057400"/>
            <a:ext cx="1189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STEEP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0527" y="2478024"/>
            <a:ext cx="1189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맑은 고딕"/>
              </a:rPr>
              <a:t>S/T/E/E/P 50개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84398.0" y="2194560"/>
            <a:ext cx="109728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312414" y="1691640"/>
            <a:ext cx="1281303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2414" y="1691640"/>
            <a:ext cx="128130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5566" y="1819656"/>
            <a:ext cx="11349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8134" y="2057400"/>
            <a:ext cx="1189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Impact ×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8134" y="2478024"/>
            <a:ext cx="1189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맑은 고딕"/>
              </a:rPr>
              <a:t>상위 20개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12005.0" y="2194560"/>
            <a:ext cx="109728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740021" y="1691640"/>
            <a:ext cx="1281303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40021" y="1691640"/>
            <a:ext cx="128130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3173" y="1819656"/>
            <a:ext cx="11349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5741" y="2057400"/>
            <a:ext cx="1189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Driving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Forces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5741" y="2478024"/>
            <a:ext cx="1189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맑은 고딕"/>
              </a:rPr>
              <a:t>2개 + 보조 1개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39612.0" y="2194560"/>
            <a:ext cx="109728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167628" y="1691640"/>
            <a:ext cx="1281303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7628" y="1691640"/>
            <a:ext cx="1281303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0780" y="1819656"/>
            <a:ext cx="11349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EA580C"/>
                </a:solidFill>
                <a:latin typeface="Calibri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3348" y="2057400"/>
            <a:ext cx="1189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2×2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매트릭스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3348" y="2478024"/>
            <a:ext cx="1189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맑은 고딕"/>
              </a:rPr>
              <a:t>4 + 와일드카드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67219.0" y="2194560"/>
            <a:ext cx="109728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595235" y="1691640"/>
            <a:ext cx="1281303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95235" y="1691640"/>
            <a:ext cx="1281303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68387" y="1819656"/>
            <a:ext cx="11349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EA580C"/>
                </a:solidFill>
                <a:latin typeface="Calibri"/>
              </a:rPr>
              <a:t>STEP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0955" y="2057400"/>
            <a:ext cx="1189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시나리오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내러티브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40955" y="2478024"/>
            <a:ext cx="1189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맑은 고딕"/>
              </a:rPr>
              <a:t>각 함의·분기점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94826.0" y="2194560"/>
            <a:ext cx="109728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022842" y="1691640"/>
            <a:ext cx="1281303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22842" y="1691640"/>
            <a:ext cx="1281303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5994" y="1819656"/>
            <a:ext cx="11349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EA580C"/>
                </a:solidFill>
                <a:latin typeface="Calibri"/>
              </a:rPr>
              <a:t>STEP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8562" y="2057400"/>
            <a:ext cx="1189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Main / Side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Bet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8562" y="2478024"/>
            <a:ext cx="1189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맑은 고딕"/>
              </a:rPr>
              <a:t>보험 구조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322433.0" y="2194560"/>
            <a:ext cx="109728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0450449" y="1691640"/>
            <a:ext cx="1281303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50449" y="1691640"/>
            <a:ext cx="1281303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23601" y="1819656"/>
            <a:ext cx="11349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EA580C"/>
                </a:solidFill>
                <a:latin typeface="Calibri"/>
              </a:rPr>
              <a:t>STEP 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6169" y="2057400"/>
            <a:ext cx="1189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Robust +</a:t>
            </a: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맑은 고딕"/>
              </a:rPr>
              <a:t>EWI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96169" y="2478024"/>
            <a:ext cx="11898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맑은 고딕"/>
              </a:rPr>
              <a:t>실행 + 모니터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2880360"/>
            <a:ext cx="69037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044952"/>
            <a:ext cx="6446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각 단계  →  우리 메모리 사업의 산출물 (위키에서 1차 완료)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85800" y="3383280"/>
            <a:ext cx="64465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85800" y="3502152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Step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25880" y="3502152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Focal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35021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3240" y="3502152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맑은 고딕"/>
              </a:rPr>
              <a:t>2030~2035 글로벌 리더십 유지 = 지금 무엇을 결정?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3813048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Step 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25880" y="3813048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STEEP 50개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381304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63240" y="3813048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맑은 고딕"/>
              </a:rPr>
              <a:t>Social·Tech·Environment·Economy·Political 환경 요인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123944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Step 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25880" y="4123944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I×U 매트릭스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88920" y="4123944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63240" y="4123944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맑은 고딕"/>
              </a:rPr>
              <a:t>50 → 20개 핵심 불확실성 선별 (5점 척도)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443484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Step 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25880" y="4434840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Driving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88920" y="4434840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63240" y="4434840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맑은 고딕"/>
              </a:rPr>
              <a:t>DF1 (AI 수요) × DF2 (미중 지정학)  +  DF3 (메모리 아키텍처)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4745736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Step 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25880" y="4745736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2×2 매트릭스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88920" y="4745736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63240" y="4745736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맑은 고딕"/>
              </a:rPr>
              <a:t>시나리오 A·B·C·D  +  와일드카드 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056632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Step 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25880" y="5056632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시나리오 내러티브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88920" y="505663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63240" y="5056632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맑은 고딕"/>
              </a:rPr>
              <a:t>각 시나리오별 5년 후 풍경 + 분기점 + 모니터링 지표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5367528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Step 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25880" y="5367528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Main / Side Bet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536752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63240" y="5367528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맑은 고딕"/>
              </a:rPr>
              <a:t>Main = B 르네상스 (최유력) / Side = A·C·D·E 보험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5678424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Step 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25880" y="5678424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Robust + EWI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88920" y="5678424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3240" y="5678424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맑은 고딕"/>
              </a:rPr>
              <a:t>RS-1~RS-9  +  21개 자동 트리거  +  D1~D17 결정 묶음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89520" y="2880360"/>
            <a:ext cx="414223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72400" y="3044952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핵심 산출물 미리보기  ·  2×2 시나리오 매트릭스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0" y="3291840"/>
            <a:ext cx="3776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DF1 (AI 수요) × DF2 (미중 지정학)  =  4 + 1개 시나리오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60636" y="3749040"/>
            <a:ext cx="1705356" cy="98298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15500" y="3895344"/>
            <a:ext cx="15956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맑은 고딕"/>
              </a:rPr>
              <a:t>A · 황금 요새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15500" y="4187952"/>
            <a:ext cx="1595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26%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60636" y="4732020"/>
            <a:ext cx="1705356" cy="98298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15500" y="4878324"/>
            <a:ext cx="15956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맑은 고딕"/>
              </a:rPr>
              <a:t>B · AI 르네상스 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715500" y="5170932"/>
            <a:ext cx="1595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Calibri"/>
              </a:rPr>
              <a:t>35%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955280" y="3749040"/>
            <a:ext cx="1705356" cy="9829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10144" y="3895344"/>
            <a:ext cx="15956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맑은 고딕"/>
              </a:rPr>
              <a:t>C · 기술 냉전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10144" y="4187952"/>
            <a:ext cx="1595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10%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955280" y="4732020"/>
            <a:ext cx="1705356" cy="9829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10144" y="4878324"/>
            <a:ext cx="15956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맑은 고딕"/>
              </a:rPr>
              <a:t>D · 조용한 재편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10144" y="5170932"/>
            <a:ext cx="1595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23%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55280" y="3474720"/>
            <a:ext cx="3410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맑은 고딕"/>
              </a:rPr>
              <a:t>↑  미중 디커플링 심화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55280" y="5751576"/>
            <a:ext cx="3410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맑은 고딕"/>
              </a:rPr>
              <a:t>↓  관리된 공존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62672" y="3749040"/>
            <a:ext cx="27432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←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A I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버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384280" y="3749040"/>
            <a:ext cx="27432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슈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퍼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사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이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클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B7280"/>
                </a:solidFill>
                <a:latin typeface="맑은 고딕"/>
              </a:rPr>
              <a:t>→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72400" y="5715000"/>
            <a:ext cx="3776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※ 와일드카드 E "패러다임 전환" (6%) — DF3 Pole B 실현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6126480"/>
            <a:ext cx="117317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7200" y="6126480"/>
            <a:ext cx="54864" cy="32918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8368" y="612648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SO WHAT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57400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8단계 모두 우리 케이스에 1차 매핑 완료 — 팀 합의만 떨어지면 본격 산출물 정제 + 결정 묶음 처리로 진입 가능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57200" y="6565392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삼성전자  |  시나리오 플래닝 도입 제안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731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PART 3  · 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7317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11111"/>
                </a:solidFill>
                <a:latin typeface="맑은 고딕"/>
              </a:rPr>
              <a:t>무엇이 도출되는가 — 5개 시나리오 + 두 가지 실행 레이어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731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맑은 고딕"/>
              </a:rPr>
              <a:t>시나리오 플래닝의 최종 산출물은 "Main Bet + Side Bet" 베팅 구조와, 이를 실행으로 전환하는 "Robust 전략" 과 "EWI" 두 레이어다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1328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2137867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137867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83794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libri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80667" y="1837944"/>
            <a:ext cx="78638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EA580C"/>
                </a:solidFill>
                <a:latin typeface="Calibri"/>
              </a:rPr>
              <a:t>MAIN BET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350008"/>
            <a:ext cx="18452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AI 르네상스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587752"/>
            <a:ext cx="1845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Calibri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798064"/>
            <a:ext cx="18452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동서 양쪽 시장 + HBM 리더십 회복 → 최대 수혜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1371" y="1691640"/>
            <a:ext cx="2137867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1371" y="1691640"/>
            <a:ext cx="213786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7675" y="183794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63EB"/>
                </a:solidFill>
                <a:latin typeface="Calibr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64838" y="1837944"/>
            <a:ext cx="78638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SIDE BET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7675" y="2350008"/>
            <a:ext cx="18452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황금 요새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675" y="2587752"/>
            <a:ext cx="1845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26%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7675" y="2798064"/>
            <a:ext cx="18452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디커플링 + AI 지속 → 서방 HBM 독점 공급자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5542" y="1691640"/>
            <a:ext cx="2137867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5542" y="1691640"/>
            <a:ext cx="2137867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1846" y="183794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B7280"/>
                </a:solidFill>
                <a:latin typeface="Calibri"/>
              </a:rP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9009" y="1837944"/>
            <a:ext cx="78638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6B7280"/>
                </a:solidFill>
                <a:latin typeface="Calibri"/>
              </a:rPr>
              <a:t>SIDE BET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1846" y="2350008"/>
            <a:ext cx="18452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조용한 재편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1846" y="2587752"/>
            <a:ext cx="1845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23%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1846" y="2798064"/>
            <a:ext cx="18452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AI 거품 + 공존 → 비용·차별화 경쟁 (2022~23형)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9713" y="1691640"/>
            <a:ext cx="2137867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09713" y="1691640"/>
            <a:ext cx="2137867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6017" y="183794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B7280"/>
                </a:solidFill>
                <a:latin typeface="Calibri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33180" y="1837944"/>
            <a:ext cx="78638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6B7280"/>
                </a:solidFill>
                <a:latin typeface="Calibri"/>
              </a:rPr>
              <a:t>SIDE BET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6017" y="2350008"/>
            <a:ext cx="18452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기술 냉전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6017" y="2587752"/>
            <a:ext cx="1845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6017" y="2798064"/>
            <a:ext cx="18452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이중 충격 → 시안 팹 + 수요 동시 직면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93884" y="1691640"/>
            <a:ext cx="2137867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3884" y="1691640"/>
            <a:ext cx="2137867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40188" y="183794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Calibri"/>
              </a:rPr>
              <a:t>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17352" y="1837944"/>
            <a:ext cx="78638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111111"/>
                </a:solidFill>
                <a:latin typeface="Calibri"/>
              </a:rPr>
              <a:t>WILDCARD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0188" y="2350008"/>
            <a:ext cx="18452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패러다임 전환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0188" y="2587752"/>
            <a:ext cx="1845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Calibri"/>
              </a:rPr>
              <a:t>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0188" y="2798064"/>
            <a:ext cx="18452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2D2D2D"/>
                </a:solidFill>
                <a:latin typeface="맑은 고딕"/>
              </a:rPr>
              <a:t>3D DRAM·PIM·CXL 부상 → R&amp;D 포트폴리오 재검토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246120"/>
            <a:ext cx="5545836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246120"/>
            <a:ext cx="5545836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3429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Calibri"/>
              </a:rPr>
              <a:t>ROBUST 전략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19" y="3465576"/>
            <a:ext cx="3259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11111"/>
                </a:solidFill>
                <a:latin typeface="맑은 고딕"/>
              </a:rPr>
              <a:t>어떤 미래가 와도 + 가치를 만드는 전략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37947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5개 시나리오 가치 매트릭스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71800" y="3776472"/>
            <a:ext cx="29260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37560" y="3776472"/>
            <a:ext cx="29260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03320" y="3776472"/>
            <a:ext cx="29260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69080" y="3776472"/>
            <a:ext cx="29260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34840" y="3776472"/>
            <a:ext cx="29260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2876" y="379476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563EB"/>
                </a:solidFill>
                <a:latin typeface="Calibri"/>
              </a:rPr>
              <a:t>모두 +가치 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4032504"/>
            <a:ext cx="50337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예시 4 / 총 9개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13232" y="4251960"/>
            <a:ext cx="5033772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13232" y="4343400"/>
            <a:ext cx="45720" cy="35433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43616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RS-1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17320" y="4361688"/>
            <a:ext cx="31683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옵션형 캐파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22876" y="4379976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EA580C"/>
                </a:solidFill>
                <a:latin typeface="맑은 고딕"/>
              </a:rPr>
              <a:t>특히 D · 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" y="4572000"/>
            <a:ext cx="49057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맑은 고딕"/>
              </a:rPr>
              <a:t>"필요할 때 켜고, 안 필요할 때 끈다"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" y="4754880"/>
            <a:ext cx="49057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D2D2D"/>
                </a:solidFill>
                <a:latin typeface="맑은 고딕"/>
              </a:rPr>
              <a:t>캐파 30%를 트리거 모듈로 분리 → 호황 풀가동·다운턴 자동 감산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" y="4734306"/>
            <a:ext cx="45720" cy="35433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" y="475259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RS-2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17320" y="4752594"/>
            <a:ext cx="31683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바벨 포트폴리오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22876" y="477088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EA580C"/>
                </a:solidFill>
                <a:latin typeface="맑은 고딕"/>
              </a:rPr>
              <a:t>특히 A · 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" y="4962906"/>
            <a:ext cx="49057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맑은 고딕"/>
              </a:rPr>
              <a:t>"양 끝에 베팅, 중간은 버린다"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" y="5145786"/>
            <a:ext cx="49057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D2D2D"/>
                </a:solidFill>
                <a:latin typeface="맑은 고딕"/>
              </a:rPr>
              <a:t>HBM·고부가 + 범용 양 끝 / 어정쩡한 가운데 제품군은 정리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" y="5125212"/>
            <a:ext cx="45720" cy="35433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1248" y="51435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RS-3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17320" y="5143500"/>
            <a:ext cx="31683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고객 록인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22876" y="516178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EA580C"/>
                </a:solidFill>
                <a:latin typeface="맑은 고딕"/>
              </a:rPr>
              <a:t>특히 B · 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" y="5353812"/>
            <a:ext cx="49057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맑은 고딕"/>
              </a:rPr>
              <a:t>"떠나면 비싸지게 만든다"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" y="5536692"/>
            <a:ext cx="49057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D2D2D"/>
                </a:solidFill>
                <a:latin typeface="맑은 고딕"/>
              </a:rPr>
              <a:t>CMX·SCADA·FDP 소프트웨어 + 다년 LTA + 사이트 전담 엔지니어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3232" y="5516118"/>
            <a:ext cx="45720" cy="35433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" y="553440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RS-5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17320" y="5534406"/>
            <a:ext cx="31683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맑은 고딕"/>
              </a:rPr>
              <a:t>재무 규율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22876" y="5552694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EA580C"/>
                </a:solidFill>
                <a:latin typeface="맑은 고딕"/>
              </a:rPr>
              <a:t>특히 C · 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8" y="5744718"/>
            <a:ext cx="49057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맑은 고딕"/>
              </a:rPr>
              <a:t>"호황엔 절제, 다운턴엔 사수"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" y="5927598"/>
            <a:ext cx="49057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D2D2D"/>
                </a:solidFill>
                <a:latin typeface="맑은 고딕"/>
              </a:rPr>
              <a:t>호황 capex 절제 + 다운턴 하한 4조 원 / 년 + 순현금 30조 원 버퍼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85916" y="3246120"/>
            <a:ext cx="5545836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85916" y="3246120"/>
            <a:ext cx="5545836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41948" y="34290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Calibri"/>
              </a:rPr>
              <a:t>EWI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4596" y="3465576"/>
            <a:ext cx="4448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11111"/>
                </a:solidFill>
                <a:latin typeface="맑은 고딕"/>
              </a:rPr>
              <a:t>Early Warning Indicator  ·  분기점이 보이기 전에 30일 빨리 감지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41948" y="37947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작동 흐름  ·  예측이 아니라 자동 감지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71916" y="3776472"/>
            <a:ext cx="71437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71916" y="3776472"/>
            <a:ext cx="71437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맑은 고딕"/>
              </a:rPr>
              <a:t>지표 모니터링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9715" y="3813048"/>
            <a:ext cx="91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A580C"/>
                </a:solidFill>
                <a:latin typeface="Calibri"/>
              </a:rPr>
              <a:t>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41155" y="3776472"/>
            <a:ext cx="71437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41155" y="3776472"/>
            <a:ext cx="71437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맑은 고딕"/>
              </a:rPr>
              <a:t>임계치 도달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18954" y="3813048"/>
            <a:ext cx="91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A580C"/>
                </a:solidFill>
                <a:latin typeface="Calibri"/>
              </a:rPr>
              <a:t>›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10394" y="3776472"/>
            <a:ext cx="71437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10394" y="3776472"/>
            <a:ext cx="71437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맑은 고딕"/>
              </a:rPr>
              <a:t>경보 발령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88193" y="3813048"/>
            <a:ext cx="91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A580C"/>
                </a:solidFill>
                <a:latin typeface="Calibri"/>
              </a:rPr>
              <a:t>›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779633" y="3776472"/>
            <a:ext cx="71437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779633" y="3776472"/>
            <a:ext cx="71437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맑은 고딕"/>
              </a:rPr>
              <a:t>30일 내 행동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41948" y="4032504"/>
            <a:ext cx="50337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예시 4 / 총 21개 (수요·거시·경쟁·정책 + 수요 변곡 선행)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441948.0" y="4251960"/>
            <a:ext cx="5033772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6441948" y="4343400"/>
            <a:ext cx="45720" cy="35433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569964" y="4361688"/>
            <a:ext cx="502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EA580C"/>
                </a:solidFill>
                <a:latin typeface="Calibri"/>
              </a:rPr>
              <a:t>수요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46036" y="4361688"/>
            <a:ext cx="44028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HBM 현물가  6개월  −30%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69964" y="4599432"/>
            <a:ext cx="49057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D2D2D"/>
                </a:solidFill>
                <a:latin typeface="맑은 고딕"/>
              </a:rPr>
              <a:t>시나리오 C 경보  →  HBM 신규 설비 집행 중단·소재 비축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41948" y="4734306"/>
            <a:ext cx="45720" cy="35433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569964" y="4752594"/>
            <a:ext cx="502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EA580C"/>
                </a:solidFill>
                <a:latin typeface="Calibri"/>
              </a:rPr>
              <a:t>거시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46036" y="4752594"/>
            <a:ext cx="44028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빅테크 AI CapEx YoY  &lt;10%  (3분기 연속)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69964" y="4990338"/>
            <a:ext cx="49057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D2D2D"/>
                </a:solidFill>
                <a:latin typeface="맑은 고딕"/>
              </a:rPr>
              <a:t>시나리오 D 경보  →  RS-1 캐파 즉시 조절·다운턴 EWI 발동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41948" y="5125212"/>
            <a:ext cx="45720" cy="35433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69964" y="5143500"/>
            <a:ext cx="502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EA580C"/>
                </a:solidFill>
                <a:latin typeface="Calibri"/>
              </a:rPr>
              <a:t>경쟁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46036" y="5143500"/>
            <a:ext cx="44028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CXMT  HBM3  양산 진척 확인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69964" y="5381244"/>
            <a:ext cx="49057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D2D2D"/>
                </a:solidFill>
                <a:latin typeface="맑은 고딕"/>
              </a:rPr>
              <a:t>중국 추격 가속  →  RS-3 고객 록인 강화·기술 격차 재투자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41948" y="5516118"/>
            <a:ext cx="45720" cy="35433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569964" y="5534406"/>
            <a:ext cx="502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850" b="1">
                <a:solidFill>
                  <a:srgbClr val="EA580C"/>
                </a:solidFill>
                <a:latin typeface="Calibri"/>
              </a:rPr>
              <a:t>정책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46036" y="5534406"/>
            <a:ext cx="44028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시안 팹  라이선스 갱신 불발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69964" y="5772150"/>
            <a:ext cx="49057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D2D2D"/>
                </a:solidFill>
                <a:latin typeface="맑은 고딕"/>
              </a:rPr>
              <a:t>디커플링 가속  →  텍사스·평택 NAND 대체 라인 즉시 가동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" y="6172200"/>
            <a:ext cx="117317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57200" y="6172200"/>
            <a:ext cx="54864" cy="32918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8368" y="61722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제안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57400" y="617220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맑은 고딕"/>
              </a:rPr>
              <a:t>본 방법론으로 풀어가는 데 팀 합의 — 다음 단계는 STEEP·DF·시나리오 산출물 팀 리뷰와 보강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57200" y="6565392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삼성전자  |  시나리오 플래닝 도입 제안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Report Master Template v2</dc:title>
  <dc:subject>PptxGenJS Presentation</dc:subject>
  <dc:creator>Samsung Electronics - Strategy Office</dc:creator>
  <cp:lastModifiedBy>Samsung Electronics - Strategy Office</cp:lastModifiedBy>
  <cp:revision>1</cp:revision>
  <dcterms:created xsi:type="dcterms:W3CDTF">2026-05-06T06:57:34Z</dcterms:created>
  <dcterms:modified xsi:type="dcterms:W3CDTF">2026-05-06T06:57:34Z</dcterms:modified>
</cp:coreProperties>
</file>