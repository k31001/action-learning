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2장은 이관 매트릭스입니다. 1장의 문제(고용량 QLC의 DWPD 격차)를 받아, 지금까지 단품이 못 푼 문제를 어느 계층이 풀어 왔는지의 경향을 보이고 호스트 시스템 수준 해법이 왜 필요한지를 세웁니다. 열은 이관 단계(요구 → 단품 지표 → SSD 계층의 보상 → 호스트·시스템 계층의 보상), 행은 내구성 축입니다. 산식 DWPD = P/E × (1+OP) ÷ WAF ÷ 365 × 년의 각 항은 결정 주체가 열과 대응합니다. 요구: 추론 캐시 계층 제품은 DWPD 1~3(TLC), UBER는 JESD218 기준으로 고정입니다. 단품: P/E 사이클은 SLC 30K~100K에서 QLC 100~1K로 100배 감소, RBER은 약 백만 배 상승했고 셀은 시간에 따라 변하는 산포를 단독으로 보정하지 못합니다. SSD 계층: 1단계 컨트롤러 ECC(1비트/512B → LDPC 120비트/KB, 60배)는 UBER 요구를 충족해 완결됐습니다. 2단계 SSD 단독 워크로드 최적화(2014~2019: Multi-stream·AutoStream·FTL 핫/콜드 추정·NVMe IO 결정성)는 QoS·성능은 개선했으나 데이터 수명을 SSD가 감지할 수 없어 실 워크로드 WAF는 3 수준에 머물렀고, 정격 DWPD는 17에서 0.4로 내려왔습니다. 호스트·시스템 계층: 3단계 호스트 공동 설계는 호스트가 데이터 수명을 지정해 WAF를 약 3에서 약 1로 낮춥니다. 범용 랜덤 워크로드 실측(삼성·NVM Express, 50% 사용률)과 CacheLib 실측(3.22 → 1.03)이 근거이고, 데이터베이스 영역에서는 호스트 쓰기 패턴만으로 SSD WAF 1을 보장한 VLDB 2026 연구가 있습니다. 다만 KV 캐시 워크로드의 FDP WAF 실측은 공개 문헌에 없으므로 이 장의 주장은 검증할 가설이며, 4장 Phase 2 실측이 그 검증입니다. 하단 지렛대 스트립이 이 장의 핵심 정정입니다. 호스트 배치 하나로는 격차가 닫히지 않습니다. WAF 지렛대는 유효 DWPD 약 2.9배이고, 동급 비교 격차는 2~10배이므로 다이 세대(P/E), OP, SLC 캐시·쓰기 정형, 보증연수·TBW 기준, 워크로드 재정의(어드미션·TLC 혼합 계층)와 결합해야 요구에 도달합니다. 이 축들은 모두 병행 중이며 본 보고는 호스트 축만 다룹니다. 호스트·고객 쪽 지렛대가 다수라는 점이 공동 설계의 근거입니다. 결론: 호스트 공동 설계는 QLC DWPD의 남은 지렛대이며, 다른 축과 결합해 격차를 닫습니다. 신뢰성 축(다이 수·고장률)은 호스트가 아니라 SSD가 풀 문제라 3장에서 따로 다룹니다. 근거 등급은 보고서 부록 A F28~F54에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2062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삼성전자 메모리사업부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42062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50392"/>
            <a:ext cx="16843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메모리 해법 사다리 · 이관 매트릭스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216152"/>
            <a:ext cx="168432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A1A1A"/>
                </a:solidFill>
                <a:latin typeface="Arial"/>
                <a:ea typeface="Arial"/>
              </a:rPr>
              <a:t>요구는 고정, 단품은 악화, 보상은 상위 계층으로: 남은 지렛대 WAF는 호스트에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65376"/>
            <a:ext cx="168432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555555"/>
                </a:solidFill>
                <a:latin typeface="Arial"/>
                <a:ea typeface="Arial"/>
              </a:rPr>
              <a:t>1장의 격차를 지금까지 어느 계층이 풀어 왔는지 보면, SSD 단독 최적화는 QoS·성능은 개선했으나 WAF는 낮추지 못했습니다.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" y="2395728"/>
            <a:ext cx="16843248" cy="1280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39112" y="2560320"/>
            <a:ext cx="3675888" cy="512064"/>
          </a:xfrm>
          <a:prstGeom prst="rect">
            <a:avLst/>
          </a:prstGeom>
          <a:solidFill>
            <a:srgbClr val="F4F6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7128" y="2615184"/>
            <a:ext cx="3419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428A0"/>
                </a:solidFill>
                <a:latin typeface="Arial"/>
                <a:ea typeface="Arial"/>
              </a:rPr>
              <a:t>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2843784"/>
            <a:ext cx="3419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</a:rPr>
              <a:t>고객이 정한다 · 고정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2560320"/>
            <a:ext cx="367588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17336" y="2615184"/>
            <a:ext cx="3419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428A0"/>
                </a:solidFill>
                <a:latin typeface="Arial"/>
                <a:ea typeface="Arial"/>
              </a:rPr>
              <a:t>단품 지표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2843784"/>
            <a:ext cx="3419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</a:rPr>
              <a:t>셀 · 다이 · 세대마다 악화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92640" y="2715768"/>
            <a:ext cx="219456" cy="201168"/>
          </a:xfrm>
          <a:prstGeom prst="rightArrow">
            <a:avLst/>
          </a:prstGeom>
          <a:solidFill>
            <a:srgbClr val="AA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39528" y="2560320"/>
            <a:ext cx="367588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67544" y="2615184"/>
            <a:ext cx="3419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428A0"/>
                </a:solidFill>
                <a:latin typeface="Arial"/>
                <a:ea typeface="Arial"/>
              </a:rPr>
              <a:t>SSD 계층의 보상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67544" y="2843784"/>
            <a:ext cx="3419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</a:rPr>
              <a:t>1단계 ECC(완결) · 2단계 단독 최적화(부분 성공)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3642848" y="2715768"/>
            <a:ext cx="219456" cy="201168"/>
          </a:xfrm>
          <a:prstGeom prst="rightArrow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89736" y="2560320"/>
            <a:ext cx="3675888" cy="512064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017752" y="2615184"/>
            <a:ext cx="3419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</a:rPr>
              <a:t>호스트 · 시스템 계층의 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17752" y="2843784"/>
            <a:ext cx="3419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</a:rPr>
              <a:t>3단계 공동 설계 (2022~, 본 덱 4~5장)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560320"/>
            <a:ext cx="1188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8A8A8A"/>
                </a:solidFill>
                <a:latin typeface="Arial"/>
                <a:ea typeface="Arial"/>
              </a:rPr>
              <a:t>이관 단계 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39112" y="3145536"/>
            <a:ext cx="1552651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3145536"/>
            <a:ext cx="11887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428A0"/>
                </a:solidFill>
                <a:latin typeface="Arial"/>
                <a:ea typeface="Arial"/>
              </a:rPr>
              <a:t>DWPD 산식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Arial"/>
                <a:ea typeface="Arial"/>
              </a:rPr>
              <a:t>항별 결정 주체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83096" y="3209544"/>
            <a:ext cx="1005840" cy="274320"/>
          </a:xfrm>
          <a:prstGeom prst="rect">
            <a:avLst/>
          </a:prstGeom>
          <a:solidFill>
            <a:srgbClr val="F4F6FC"/>
          </a:solidFill>
          <a:ln w="9525">
            <a:solidFill>
              <a:srgbClr val="AAB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3209544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</a:rPr>
              <a:t>DWPD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3493007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8A8A"/>
                </a:solidFill>
                <a:latin typeface="Arial"/>
                <a:ea typeface="Arial"/>
              </a:rPr>
              <a:t>요구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3209544"/>
            <a:ext cx="2560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555555"/>
                </a:solidFill>
                <a:latin typeface="Arial"/>
                <a:ea typeface="Arial"/>
              </a:rPr>
              <a:t>=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91271" y="320954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91271" y="3209544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</a:rPr>
              <a:t>P/E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9831" y="3493007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8A8A"/>
                </a:solidFill>
                <a:latin typeface="Arial"/>
                <a:ea typeface="Arial"/>
              </a:rPr>
              <a:t>단품(셀)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0263" y="3209544"/>
            <a:ext cx="2560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555555"/>
                </a:solidFill>
                <a:latin typeface="Arial"/>
                <a:ea typeface="Arial"/>
              </a:rPr>
              <a:t>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99447" y="320954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9447" y="3209544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</a:rPr>
              <a:t>1 + 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007" y="3493007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8A8A"/>
                </a:solidFill>
                <a:latin typeface="Arial"/>
                <a:ea typeface="Arial"/>
              </a:rPr>
              <a:t>SSD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8439" y="3209544"/>
            <a:ext cx="2560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555555"/>
                </a:solidFill>
                <a:latin typeface="Arial"/>
                <a:ea typeface="Arial"/>
              </a:rPr>
              <a:t>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707623" y="3209544"/>
            <a:ext cx="1005840" cy="2743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07623" y="3209544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</a:rPr>
              <a:t>WAF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16183" y="3493007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1">
                <a:solidFill>
                  <a:srgbClr val="1428A0"/>
                </a:solidFill>
                <a:latin typeface="Arial"/>
                <a:ea typeface="Arial"/>
              </a:rPr>
              <a:t>호스트 · 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86615" y="3209544"/>
            <a:ext cx="2560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555555"/>
                </a:solidFill>
                <a:latin typeface="Arial"/>
                <a:ea typeface="Arial"/>
              </a:rPr>
              <a:t>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15799" y="3209544"/>
            <a:ext cx="1005840" cy="274320"/>
          </a:xfrm>
          <a:prstGeom prst="rect">
            <a:avLst/>
          </a:prstGeom>
          <a:solidFill>
            <a:srgbClr val="F4F6FC"/>
          </a:solidFill>
          <a:ln w="9525">
            <a:solidFill>
              <a:srgbClr val="AAB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115799" y="3209544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</a:rPr>
              <a:t>365 × 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024359" y="3493007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8A8A8A"/>
                </a:solidFill>
                <a:latin typeface="Arial"/>
                <a:ea typeface="Arial"/>
              </a:rPr>
              <a:t>요구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" y="3730752"/>
            <a:ext cx="1188720" cy="2962656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22376" y="3730752"/>
            <a:ext cx="54864" cy="2962656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" y="3877056"/>
            <a:ext cx="950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75" b="1">
                <a:solidFill>
                  <a:srgbClr val="1428A0"/>
                </a:solidFill>
                <a:latin typeface="Arial"/>
                <a:ea typeface="Arial"/>
              </a:rPr>
              <a:t>내구성 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" y="4187952"/>
            <a:ext cx="9509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</a:rPr>
              <a:t>P/E · BER</a:t>
            </a:r>
          </a:p>
          <a:p>
            <a:pPr algn="l">
              <a:lnSpc>
                <a:spcPct val="100000"/>
              </a:lnSpc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</a:rPr>
              <a:t>DWPD · WAF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39112" y="3730752"/>
            <a:ext cx="3675888" cy="2962656"/>
          </a:xfrm>
          <a:prstGeom prst="rect">
            <a:avLst/>
          </a:prstGeom>
          <a:solidFill>
            <a:srgbClr val="F4F6FC"/>
          </a:solidFill>
          <a:ln w="12700">
            <a:solidFill>
              <a:srgbClr val="AAB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67128" y="3858768"/>
            <a:ext cx="3419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75" b="0">
                <a:solidFill>
                  <a:srgbClr val="8A8A8A"/>
                </a:solidFill>
                <a:latin typeface="Arial"/>
                <a:ea typeface="Arial"/>
              </a:rPr>
              <a:t>추론 캐시 계층 요구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67128" y="4059936"/>
            <a:ext cx="34198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428A0"/>
                </a:solidFill>
                <a:latin typeface="Arial"/>
                <a:ea typeface="Arial"/>
              </a:rPr>
              <a:t>DWPD 1~3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67128" y="4535424"/>
            <a:ext cx="3419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</a:rPr>
              <a:t>현재 TLC 수준 · ScaleFlux 제시 유효 요구 7~10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67128" y="4974336"/>
            <a:ext cx="3419856" cy="10972"/>
          </a:xfrm>
          <a:prstGeom prst="rect">
            <a:avLst/>
          </a:prstGeom>
          <a:solidFill>
            <a:srgbClr val="AA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67128" y="5065776"/>
            <a:ext cx="3419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75" b="0">
                <a:solidFill>
                  <a:srgbClr val="8A8A8A"/>
                </a:solidFill>
                <a:latin typeface="Arial"/>
                <a:ea typeface="Arial"/>
              </a:rPr>
              <a:t>신뢰성 요구 · JESD218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67128" y="5266944"/>
            <a:ext cx="34198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428A0"/>
                </a:solidFill>
                <a:latin typeface="Arial"/>
                <a:ea typeface="Arial"/>
              </a:rPr>
              <a:t>UBER 10</a:t>
            </a:r>
            <a:r>
              <a:rPr sz="1300" b="1" baseline="30000">
                <a:solidFill>
                  <a:srgbClr val="1428A0"/>
                </a:solidFill>
                <a:latin typeface="Arial"/>
                <a:ea typeface="Arial"/>
              </a:rPr>
              <a:t>-15</a:t>
            </a:r>
            <a:r>
              <a:rPr sz="2200" b="1">
                <a:solidFill>
                  <a:srgbClr val="1428A0"/>
                </a:solidFill>
                <a:latin typeface="Arial"/>
                <a:ea typeface="Arial"/>
              </a:rPr>
              <a:t> · 10</a:t>
            </a:r>
            <a:r>
              <a:rPr sz="1300" b="1" baseline="30000">
                <a:solidFill>
                  <a:srgbClr val="1428A0"/>
                </a:solidFill>
                <a:latin typeface="Arial"/>
                <a:ea typeface="Arial"/>
              </a:rPr>
              <a:t>-16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67128" y="5742432"/>
            <a:ext cx="3419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</a:rPr>
              <a:t>클라이언트 · 엔터프라이즈 · 보존 1년@30°C / 3개월@40°C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3730752"/>
            <a:ext cx="3675888" cy="2962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ladder_cell_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3822191"/>
            <a:ext cx="3493008" cy="194196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117336" y="6309360"/>
            <a:ext cx="341985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55555"/>
                </a:solidFill>
                <a:latin typeface="Arial"/>
                <a:ea typeface="Arial"/>
              </a:rPr>
              <a:t>비트/셀 ↑ → 산포 마진 ↓ · 보존·사이클링·리드 디스터브로 시간에 따라 변하는 산포는 셀 단독으로 보정 불가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39528" y="3730752"/>
            <a:ext cx="3675888" cy="2962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030968" y="3822191"/>
            <a:ext cx="349300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30968" y="3822191"/>
            <a:ext cx="54864" cy="65836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77272" y="3877055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75" b="0">
                <a:solidFill>
                  <a:srgbClr val="8A8A8A"/>
                </a:solidFill>
                <a:latin typeface="Arial"/>
                <a:ea typeface="Arial"/>
              </a:rPr>
              <a:t>1단계 · 컨트롤러 ECC (1991~)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52376" y="3877055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75" b="1">
                <a:solidFill>
                  <a:srgbClr val="1428A0"/>
                </a:solidFill>
                <a:latin typeface="Arial"/>
                <a:ea typeface="Arial"/>
              </a:rPr>
              <a:t>UBER 요구 충족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77272" y="4069079"/>
            <a:ext cx="32552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</a:rPr>
              <a:t>ECC 1 bit/512B → LDPC 120 bit/KB · 60배 ↑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77272" y="4297679"/>
            <a:ext cx="32552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555555"/>
                </a:solidFill>
                <a:latin typeface="Arial"/>
                <a:ea typeface="Arial"/>
              </a:rPr>
              <a:t>RBER 백만 배 상승분을 컨트롤러가 흡수 · 완결된 이관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30968" y="4571999"/>
            <a:ext cx="3493008" cy="2029968"/>
          </a:xfrm>
          <a:prstGeom prst="rect">
            <a:avLst/>
          </a:prstGeom>
          <a:solidFill>
            <a:srgbClr val="AA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77272" y="4626863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75" b="0">
                <a:solidFill>
                  <a:srgbClr val="1A1A1A"/>
                </a:solidFill>
                <a:latin typeface="Arial"/>
                <a:ea typeface="Arial"/>
              </a:rPr>
              <a:t>2단계 · SSD 단독 최적화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52376" y="4626863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75" b="1">
                <a:solidFill>
                  <a:srgbClr val="8A8A8A"/>
                </a:solidFill>
                <a:latin typeface="Arial"/>
                <a:ea typeface="Arial"/>
              </a:rPr>
              <a:t>요구 미달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77272" y="4818888"/>
            <a:ext cx="32552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</a:rPr>
              <a:t>QoS · 성능 개선, WAF ≈ 3 · 부분 성공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77272" y="5047488"/>
            <a:ext cx="32552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555555"/>
                </a:solidFill>
                <a:latin typeface="Arial"/>
                <a:ea typeface="Arial"/>
              </a:rPr>
              <a:t>'14~'19 추정 배치·스트림·IOD · SSD는 데이터 수명 감지 불가</a:t>
            </a:r>
          </a:p>
        </p:txBody>
      </p:sp>
      <p:pic>
        <p:nvPicPr>
          <p:cNvPr id="71" name="Picture 70" descr="ladder_cell_dwp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1572" y="5248655"/>
            <a:ext cx="2971800" cy="878983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3889736" y="3730752"/>
            <a:ext cx="3675888" cy="2962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017752" y="3840480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75" b="0">
                <a:solidFill>
                  <a:srgbClr val="8A8A8A"/>
                </a:solidFill>
                <a:latin typeface="Arial"/>
                <a:ea typeface="Arial"/>
              </a:rPr>
              <a:t>3단계 · 호스트 공동 설계 (2022~)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066008" y="3840480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75" b="1">
                <a:solidFill>
                  <a:srgbClr val="1428A0"/>
                </a:solidFill>
                <a:latin typeface="Arial"/>
                <a:ea typeface="Arial"/>
              </a:rPr>
              <a:t>요구 도달 · 조건부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017752" y="4041648"/>
            <a:ext cx="3419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25" b="1">
                <a:solidFill>
                  <a:srgbClr val="1428A0"/>
                </a:solidFill>
                <a:latin typeface="Arial"/>
                <a:ea typeface="Arial"/>
              </a:rPr>
              <a:t>호스트가 데이터 수명을 지정 → WAF ≈3 → ≈1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017752" y="4279392"/>
            <a:ext cx="3419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555555"/>
                </a:solidFill>
                <a:latin typeface="Arial"/>
                <a:ea typeface="Arial"/>
              </a:rPr>
              <a:t>배치 표준 · 캐시 관리자 정책 · 공동 설계 = 본 덱 4~5장</a:t>
            </a:r>
          </a:p>
        </p:txBody>
      </p:sp>
      <p:pic>
        <p:nvPicPr>
          <p:cNvPr id="77" name="Picture 76" descr="ladder_cell_w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0904" y="4535424"/>
            <a:ext cx="3273552" cy="119876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4017752" y="6327648"/>
            <a:ext cx="34198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75" b="1">
                <a:solidFill>
                  <a:srgbClr val="1428A0"/>
                </a:solidFill>
                <a:latin typeface="Arial"/>
                <a:ea typeface="Arial"/>
              </a:rPr>
              <a:t>호스트가 쥔 남은 지렛대(×2.9) · KV 캐시 실측은 Phase 2 검증 대상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2376" y="6821424"/>
            <a:ext cx="1188720" cy="160934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2376" y="6821424"/>
            <a:ext cx="54864" cy="1609344"/>
          </a:xfrm>
          <a:prstGeom prst="rect">
            <a:avLst/>
          </a:prstGeom>
          <a:solidFill>
            <a:srgbClr val="3C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6968" y="6967728"/>
            <a:ext cx="950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28A0"/>
                </a:solidFill>
                <a:latin typeface="Arial"/>
                <a:ea typeface="Arial"/>
              </a:rPr>
              <a:t>격차를 닫는
지렛대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6968" y="7571231"/>
            <a:ext cx="9509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</a:rPr>
              <a:t>모두 병행 중 · 본 보고는
호스트 축을 다룸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39112" y="6967728"/>
            <a:ext cx="2496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48840" y="7040880"/>
            <a:ext cx="2276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75" b="0">
                <a:solidFill>
                  <a:srgbClr val="8A8A8A"/>
                </a:solidFill>
                <a:latin typeface="Arial"/>
                <a:ea typeface="Arial"/>
              </a:rPr>
              <a:t>셀 · 다이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48840" y="7242048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</a:rPr>
              <a:t>다이 세대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48840" y="7498079"/>
            <a:ext cx="22768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75" b="0">
                <a:solidFill>
                  <a:srgbClr val="555555"/>
                </a:solidFill>
                <a:latin typeface="Arial"/>
                <a:ea typeface="Arial"/>
              </a:rPr>
              <a:t>P/E ↑ · 2Tb QLC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45152" y="6967728"/>
            <a:ext cx="2496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54880" y="7040880"/>
            <a:ext cx="2276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75" b="0">
                <a:solidFill>
                  <a:srgbClr val="8A8A8A"/>
                </a:solidFill>
                <a:latin typeface="Arial"/>
                <a:ea typeface="Arial"/>
              </a:rPr>
              <a:t>SSD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754880" y="7242048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</a:rPr>
              <a:t>OP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54880" y="7498079"/>
            <a:ext cx="22768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75" b="0">
                <a:solidFill>
                  <a:srgbClr val="555555"/>
                </a:solidFill>
                <a:latin typeface="Arial"/>
                <a:ea typeface="Arial"/>
              </a:rPr>
              <a:t>(1 + OP) · 예비 용량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251192" y="6967728"/>
            <a:ext cx="2496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60919" y="7040880"/>
            <a:ext cx="2276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75" b="0">
                <a:solidFill>
                  <a:srgbClr val="8A8A8A"/>
                </a:solidFill>
                <a:latin typeface="Arial"/>
                <a:ea typeface="Arial"/>
              </a:rPr>
              <a:t>SSD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60919" y="7242048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</a:rPr>
              <a:t>SLC 캐시 · 쓰기 정형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60919" y="7498079"/>
            <a:ext cx="22768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75" b="0">
                <a:solidFill>
                  <a:srgbClr val="555555"/>
                </a:solidFill>
                <a:latin typeface="Arial"/>
                <a:ea typeface="Arial"/>
              </a:rPr>
              <a:t>GC 효율 · 순차화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857232" y="6967728"/>
            <a:ext cx="2496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966960" y="7040880"/>
            <a:ext cx="2276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75" b="0">
                <a:solidFill>
                  <a:srgbClr val="8A8A8A"/>
                </a:solidFill>
                <a:latin typeface="Arial"/>
                <a:ea typeface="Arial"/>
              </a:rPr>
              <a:t>고객 · 계약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66960" y="7242048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</a:rPr>
              <a:t>보증연수 · TBW 기준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966960" y="7498079"/>
            <a:ext cx="22768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75" b="0">
                <a:solidFill>
                  <a:srgbClr val="555555"/>
                </a:solidFill>
                <a:latin typeface="Arial"/>
                <a:ea typeface="Arial"/>
              </a:rPr>
              <a:t>365 × 년 · 정격 산정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2463272" y="6967728"/>
            <a:ext cx="2496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2573000" y="7040880"/>
            <a:ext cx="2276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75" b="0">
                <a:solidFill>
                  <a:srgbClr val="8A8A8A"/>
                </a:solidFill>
                <a:latin typeface="Arial"/>
                <a:ea typeface="Arial"/>
              </a:rPr>
              <a:t>고객 · 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573000" y="7242048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25" b="1">
                <a:solidFill>
                  <a:srgbClr val="1A1A1A"/>
                </a:solidFill>
                <a:latin typeface="Arial"/>
                <a:ea typeface="Arial"/>
              </a:rPr>
              <a:t>워크로드 재정의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573000" y="7498079"/>
            <a:ext cx="22768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75" b="0">
                <a:solidFill>
                  <a:srgbClr val="555555"/>
                </a:solidFill>
                <a:latin typeface="Arial"/>
                <a:ea typeface="Arial"/>
              </a:rPr>
              <a:t>어드미션 · TLC 혼합 계층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5069312" y="6967728"/>
            <a:ext cx="2496312" cy="89611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5179040" y="7040880"/>
            <a:ext cx="2276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75" b="0">
                <a:solidFill>
                  <a:srgbClr val="FFFFFF"/>
                </a:solidFill>
                <a:latin typeface="Arial"/>
                <a:ea typeface="Arial"/>
              </a:rPr>
              <a:t>호스트 · 앱 · 본 보고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5179040" y="7242048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</a:rPr>
              <a:t>호스트 배치 (WAF)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5179040" y="7498079"/>
            <a:ext cx="22768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75" b="0">
                <a:solidFill>
                  <a:srgbClr val="FFFFFF"/>
                </a:solidFill>
                <a:latin typeface="Arial"/>
                <a:ea typeface="Arial"/>
              </a:rPr>
              <a:t>≈3 → ≈1 · 유효 DWPD ×2.9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039112" y="7955279"/>
            <a:ext cx="155265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</a:rPr>
              <a:t>호스트 배치 하나로는 격차(동급 비교 2~10배)가 닫히지 않습니다. WAF ×2.9는 다이 세대·OP·보증연수·워크로드 재정의와 결합해 요구에 도달하며, 이 중 호스트·고객 쪽 지렛대가 다수라는 점이 공동 설계의 근거입니다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22376" y="8613648"/>
            <a:ext cx="16843248" cy="7315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33856" y="861364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결론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51176" y="8613648"/>
            <a:ext cx="1464868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</a:rPr>
              <a:t>요구(UBER·DWPD)는 고정, 단품 지표(RBER·P/E)는 악화, 격차는 상위 계층이 보상해 왔습니다.</a:t>
            </a:r>
          </a:p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</a:rPr>
              <a:t>호스트 공동 설계는 QLC DWPD의 남은 지렛대이며, 다이 세대·OP·보증연수 등 병행 중인 축과 결합해 격차를 닫습니다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22376" y="9592056"/>
            <a:ext cx="1426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출처: JESD218(UBER), ATP·Kioxia(DWPD 산식), Intel·Solidigm 사양(정격 DWPD), Mielke·Cai(RBER), WD(LDPC), CacheLib·삼성·NVMe FDP·VLDB'26(WAF), P5336·6550 ION·CM9·LC9(동급 DWPD) · 등급은 부록 A F28~F54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047720" y="9592056"/>
            <a:ext cx="15179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01 /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