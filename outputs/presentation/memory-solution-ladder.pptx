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해법 사다리 한 장입니다. 명제는 하나입니다. 단품 특성이 고객 요구를 단품 가격에서 못 채우면 해법은 그 부품을 쓰는 상위 계층으로 올라갑니다. 왼쪽 차트는 1990년부터 2030년까지 NAND와 DRAM이 어느 계층에서 한계를 풀었는지 보여줍니다. NAND는 셀의 RBER·P/E 한계를 셀에서 푼 적이 없습니다. 1991년 SSD와 1995년 FTL이 컨트롤러 계층에서 흡수했고, 2x nm의 RBER 급증은 2014~15년 LDPC 컨트롤러가, 그 다음 WAF·OP·QLC 내구성은 호스트 계층(TRIM 2009, Open-Channel·Streams 2017, ZNS 2020, FDP 2022)과 애플리케이션 계층(CacheLib FDP 2025)이 흡수하고 있습니다. 디바이스 칸에서 호스트 칸까지 31년입니다. KV 캐시 관리자 칸은 아직 비어 있습니다. DRAM은 순서가 반대였습니다. 첫 한계가 대역폭이라 물리 집적, 즉 HBM(2013)이라는 자기 진화가 먼저 왔고, Row Hammer(2014)가 셀 한계를 규명한 뒤 on-die ECC(2020)로 단품이 흡수하다가 RFM(2021)·PRAC(2024)이라는 호스트 협력 규격으로 올라섰습니다. PRAC는 DRAM이 행별 활성화 횟수를 세고 호스트에 경보를 보내 완화 시간을 받는 협력 프로토콜로, 구조적으로 FDP와 같습니다. CXL은 시스템 패브릭 칸입니다. 애플리케이션 칸은 아직 없습니다. 오른쪽은 두 축입니다. ① 이관은 관리 로직이 필요한 한계가 위로 올라가는 축, ② 자기 진화는 물리 집적으로 풀리는 축이며 둘은 병행합니다. NAND는 이관이 먼저였고 자기 진화 패키지(HBF)는 35년 뒤에 왔습니다. DRAM은 자기 진화가 6~11년 먼저였습니다. HBF는 시대 역행이 아니라 NAND 자기 진화 축의 늦은 도착이며, Hot Chips 2026에서 지적된 사용성 한계는 결국 상위 계층이 읽기 중심 워크로드를 골라 주어야 성립함을 보여줍니다. 함의는 셋입니다. QLC의 호스트 협력은 예외가 아니라 사다리의 다음 칸입니다. DRAM도 PRAC·CXL로 같은 사다리에 올라섰으므로 5번째 칸이 열리기 전에 같은 조직 역량이 필요합니다. 자기 진화 축(3D 400+층·HBM4E 커스텀 베이스 다이·HBF)은 이관 축과 같은 로드맵에 놓아야 합니다. 팩트 등급은 보고서 부록 A에 있고, 원문 대조는 후속 과제입니다.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메모리 해법 사다리 · 단품 한계와 상위 계층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단품의 한계는 상위 계층에서 해결돼 왔습니다. QLC의 호스트 협력은 그 사다리의 다음 칸입니다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NAND는 컨트롤러(1991)→호스트(2022)→애플리케이션(2025)으로 올랐고, DRAM은 HBM(2013) 뒤 PRAC(2024)·CXL로 뒤따릅니다.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olution_ladder_chart.png"/>
          <p:cNvPicPr>
            <a:picLocks noChangeAspect="1"/>
          </p:cNvPicPr>
          <p:nvPr/>
        </p:nvPicPr>
        <p:blipFill>
          <a:blip r:embed="rId2"/>
          <a:stretch>
            <a:fillRect/>
          </a:stretch>
        </p:blipFill>
        <p:spPr>
          <a:xfrm>
            <a:off x="722376" y="2560320"/>
            <a:ext cx="10285615" cy="5852160"/>
          </a:xfrm>
          <a:prstGeom prst="rect">
            <a:avLst/>
          </a:prstGeom>
        </p:spPr>
      </p:pic>
      <p:sp>
        <p:nvSpPr>
          <p:cNvPr id="9" name="Rectangle 8"/>
          <p:cNvSpPr/>
          <p:nvPr/>
        </p:nvSpPr>
        <p:spPr>
          <a:xfrm>
            <a:off x="11337174" y="2560320"/>
            <a:ext cx="6228449" cy="30540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3206" y="2688336"/>
            <a:ext cx="5716385"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두 축</a:t>
            </a:r>
          </a:p>
        </p:txBody>
      </p:sp>
      <p:sp>
        <p:nvSpPr>
          <p:cNvPr id="11" name="Rectangle 10"/>
          <p:cNvSpPr/>
          <p:nvPr/>
        </p:nvSpPr>
        <p:spPr>
          <a:xfrm>
            <a:off x="12032118" y="3072384"/>
            <a:ext cx="5277473"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141846" y="3072384"/>
            <a:ext cx="1572768" cy="365760"/>
          </a:xfrm>
          <a:prstGeom prst="rect">
            <a:avLst/>
          </a:prstGeom>
          <a:noFill/>
        </p:spPr>
        <p:txBody>
          <a:bodyPr wrap="square" anchor="ctr" lIns="0" rIns="0" tIns="0" bIns="0">
            <a:spAutoFit/>
          </a:bodyPr>
          <a:lstStyle/>
          <a:p>
            <a:pPr algn="l">
              <a:lnSpc>
                <a:spcPct val="112000"/>
              </a:lnSpc>
            </a:pPr>
            <a:r>
              <a:rPr sz="1125" b="1">
                <a:solidFill>
                  <a:srgbClr val="FFFFFF"/>
                </a:solidFill>
                <a:latin typeface="Arial"/>
                <a:ea typeface="Arial"/>
              </a:rPr>
              <a:t>애플리케이션</a:t>
            </a:r>
          </a:p>
        </p:txBody>
      </p:sp>
      <p:sp>
        <p:nvSpPr>
          <p:cNvPr id="13" name="TextBox 12"/>
          <p:cNvSpPr txBox="1"/>
          <p:nvPr/>
        </p:nvSpPr>
        <p:spPr>
          <a:xfrm>
            <a:off x="13732902" y="3072384"/>
            <a:ext cx="3485249" cy="365760"/>
          </a:xfrm>
          <a:prstGeom prst="rect">
            <a:avLst/>
          </a:prstGeom>
          <a:noFill/>
        </p:spPr>
        <p:txBody>
          <a:bodyPr wrap="square" anchor="ctr" lIns="0" rIns="0" tIns="0" bIns="0">
            <a:spAutoFit/>
          </a:bodyPr>
          <a:lstStyle/>
          <a:p>
            <a:pPr algn="l">
              <a:lnSpc>
                <a:spcPct val="112000"/>
              </a:lnSpc>
            </a:pPr>
            <a:r>
              <a:rPr sz="975" b="0">
                <a:solidFill>
                  <a:srgbClr val="FFFFFF"/>
                </a:solidFill>
                <a:latin typeface="Arial"/>
                <a:ea typeface="Arial"/>
              </a:rPr>
              <a:t>NAND 2025 · DRAM 미도달</a:t>
            </a:r>
          </a:p>
        </p:txBody>
      </p:sp>
      <p:sp>
        <p:nvSpPr>
          <p:cNvPr id="14" name="Rectangle 13"/>
          <p:cNvSpPr/>
          <p:nvPr/>
        </p:nvSpPr>
        <p:spPr>
          <a:xfrm>
            <a:off x="12032118" y="3511296"/>
            <a:ext cx="5277473"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41846" y="3511296"/>
            <a:ext cx="1572768" cy="365760"/>
          </a:xfrm>
          <a:prstGeom prst="rect">
            <a:avLst/>
          </a:prstGeom>
          <a:noFill/>
        </p:spPr>
        <p:txBody>
          <a:bodyPr wrap="square" anchor="ctr" lIns="0" rIns="0" tIns="0" bIns="0">
            <a:spAutoFit/>
          </a:bodyPr>
          <a:lstStyle/>
          <a:p>
            <a:pPr algn="l">
              <a:lnSpc>
                <a:spcPct val="112000"/>
              </a:lnSpc>
            </a:pPr>
            <a:r>
              <a:rPr sz="1125" b="1">
                <a:solidFill>
                  <a:srgbClr val="FFFFFF"/>
                </a:solidFill>
                <a:latin typeface="Arial"/>
                <a:ea typeface="Arial"/>
              </a:rPr>
              <a:t>호스트 · 프로토콜</a:t>
            </a:r>
          </a:p>
        </p:txBody>
      </p:sp>
      <p:sp>
        <p:nvSpPr>
          <p:cNvPr id="16" name="TextBox 15"/>
          <p:cNvSpPr txBox="1"/>
          <p:nvPr/>
        </p:nvSpPr>
        <p:spPr>
          <a:xfrm>
            <a:off x="13732902" y="3511296"/>
            <a:ext cx="3485249" cy="365760"/>
          </a:xfrm>
          <a:prstGeom prst="rect">
            <a:avLst/>
          </a:prstGeom>
          <a:noFill/>
        </p:spPr>
        <p:txBody>
          <a:bodyPr wrap="square" anchor="ctr" lIns="0" rIns="0" tIns="0" bIns="0">
            <a:spAutoFit/>
          </a:bodyPr>
          <a:lstStyle/>
          <a:p>
            <a:pPr algn="l">
              <a:lnSpc>
                <a:spcPct val="112000"/>
              </a:lnSpc>
            </a:pPr>
            <a:r>
              <a:rPr sz="975" b="0">
                <a:solidFill>
                  <a:srgbClr val="FFFFFF"/>
                </a:solidFill>
                <a:latin typeface="Arial"/>
                <a:ea typeface="Arial"/>
              </a:rPr>
              <a:t>NAND 2022 FDP · DRAM 2024 PRAC</a:t>
            </a:r>
          </a:p>
        </p:txBody>
      </p:sp>
      <p:sp>
        <p:nvSpPr>
          <p:cNvPr id="17" name="Rectangle 16"/>
          <p:cNvSpPr/>
          <p:nvPr/>
        </p:nvSpPr>
        <p:spPr>
          <a:xfrm>
            <a:off x="12032118" y="3950208"/>
            <a:ext cx="5277473"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141846" y="3950208"/>
            <a:ext cx="1572768" cy="365760"/>
          </a:xfrm>
          <a:prstGeom prst="rect">
            <a:avLst/>
          </a:prstGeom>
          <a:noFill/>
        </p:spPr>
        <p:txBody>
          <a:bodyPr wrap="square" anchor="ctr" lIns="0" rIns="0" tIns="0" bIns="0">
            <a:spAutoFit/>
          </a:bodyPr>
          <a:lstStyle/>
          <a:p>
            <a:pPr algn="l">
              <a:lnSpc>
                <a:spcPct val="112000"/>
              </a:lnSpc>
            </a:pPr>
            <a:r>
              <a:rPr sz="1125" b="1">
                <a:solidFill>
                  <a:srgbClr val="FFFFFF"/>
                </a:solidFill>
                <a:latin typeface="Arial"/>
                <a:ea typeface="Arial"/>
              </a:rPr>
              <a:t>컨트롤러 · 디바이스</a:t>
            </a:r>
          </a:p>
        </p:txBody>
      </p:sp>
      <p:sp>
        <p:nvSpPr>
          <p:cNvPr id="19" name="TextBox 18"/>
          <p:cNvSpPr txBox="1"/>
          <p:nvPr/>
        </p:nvSpPr>
        <p:spPr>
          <a:xfrm>
            <a:off x="13732902" y="3950208"/>
            <a:ext cx="3485249" cy="365760"/>
          </a:xfrm>
          <a:prstGeom prst="rect">
            <a:avLst/>
          </a:prstGeom>
          <a:noFill/>
        </p:spPr>
        <p:txBody>
          <a:bodyPr wrap="square" anchor="ctr" lIns="0" rIns="0" tIns="0" bIns="0">
            <a:spAutoFit/>
          </a:bodyPr>
          <a:lstStyle/>
          <a:p>
            <a:pPr algn="l">
              <a:lnSpc>
                <a:spcPct val="112000"/>
              </a:lnSpc>
            </a:pPr>
            <a:r>
              <a:rPr sz="975" b="0">
                <a:solidFill>
                  <a:srgbClr val="FFFFFF"/>
                </a:solidFill>
                <a:latin typeface="Arial"/>
                <a:ea typeface="Arial"/>
              </a:rPr>
              <a:t>NAND 1991 SSD · DRAM 1997 Chipkill</a:t>
            </a:r>
          </a:p>
        </p:txBody>
      </p:sp>
      <p:sp>
        <p:nvSpPr>
          <p:cNvPr id="20" name="Rectangle 19"/>
          <p:cNvSpPr/>
          <p:nvPr/>
        </p:nvSpPr>
        <p:spPr>
          <a:xfrm>
            <a:off x="12032118" y="4389120"/>
            <a:ext cx="5277473" cy="365760"/>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141846" y="4389120"/>
            <a:ext cx="1572768" cy="365760"/>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패키지 · 모듈</a:t>
            </a:r>
          </a:p>
        </p:txBody>
      </p:sp>
      <p:sp>
        <p:nvSpPr>
          <p:cNvPr id="22" name="TextBox 21"/>
          <p:cNvSpPr txBox="1"/>
          <p:nvPr/>
        </p:nvSpPr>
        <p:spPr>
          <a:xfrm>
            <a:off x="13732902" y="4389120"/>
            <a:ext cx="3485249" cy="365760"/>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HBM 2013 · MRDIMM 2024 · HBF 2026</a:t>
            </a:r>
          </a:p>
        </p:txBody>
      </p:sp>
      <p:sp>
        <p:nvSpPr>
          <p:cNvPr id="23" name="Rectangle 22"/>
          <p:cNvSpPr/>
          <p:nvPr/>
        </p:nvSpPr>
        <p:spPr>
          <a:xfrm>
            <a:off x="12032118" y="4828032"/>
            <a:ext cx="5277473" cy="365760"/>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141846" y="4828032"/>
            <a:ext cx="1572768" cy="365760"/>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셀 · 다이</a:t>
            </a:r>
          </a:p>
        </p:txBody>
      </p:sp>
      <p:sp>
        <p:nvSpPr>
          <p:cNvPr id="25" name="TextBox 24"/>
          <p:cNvSpPr txBox="1"/>
          <p:nvPr/>
        </p:nvSpPr>
        <p:spPr>
          <a:xfrm>
            <a:off x="13732902" y="4828032"/>
            <a:ext cx="3485249" cy="365760"/>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3D 2013 · QLC 2018 · on-die ECC 2020</a:t>
            </a:r>
          </a:p>
        </p:txBody>
      </p:sp>
      <p:sp>
        <p:nvSpPr>
          <p:cNvPr id="26" name="Up Arrow 25"/>
          <p:cNvSpPr/>
          <p:nvPr/>
        </p:nvSpPr>
        <p:spPr>
          <a:xfrm>
            <a:off x="11593206" y="3072384"/>
            <a:ext cx="310896" cy="1243584"/>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11593206" y="4535424"/>
            <a:ext cx="310896" cy="51206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593206" y="4334255"/>
            <a:ext cx="5716385" cy="0"/>
          </a:xfrm>
          <a:prstGeom prst="rect">
            <a:avLst/>
          </a:prstGeom>
          <a:noFill/>
        </p:spPr>
        <p:txBody>
          <a:bodyPr wrap="square" anchor="t" lIns="0" rIns="0" tIns="0" bIns="0">
            <a:spAutoFit/>
          </a:bodyPr>
          <a:lstStyle/>
          <a:p>
            <a:pPr algn="l">
              <a:lnSpc>
                <a:spcPct val="112000"/>
              </a:lnSpc>
            </a:pPr>
            <a:r>
              <a:rPr sz="100" b="0">
                <a:solidFill>
                  <a:srgbClr val="555555"/>
                </a:solidFill>
                <a:latin typeface="Arial"/>
                <a:ea typeface="Arial"/>
              </a:rPr>
              <a:t/>
            </a:r>
          </a:p>
        </p:txBody>
      </p:sp>
      <p:sp>
        <p:nvSpPr>
          <p:cNvPr id="29" name="TextBox 28"/>
          <p:cNvSpPr txBox="1"/>
          <p:nvPr/>
        </p:nvSpPr>
        <p:spPr>
          <a:xfrm>
            <a:off x="11593206" y="5230368"/>
            <a:ext cx="5716385" cy="329184"/>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① 이관 </a:t>
            </a:r>
            <a:r>
              <a:rPr sz="1050" b="0">
                <a:solidFill>
                  <a:srgbClr val="555555"/>
                </a:solidFill>
                <a:latin typeface="Arial"/>
                <a:ea typeface="Arial"/>
              </a:rPr>
              <a:t>관리 로직이 필요한 한계 → 위로   </a:t>
            </a:r>
            <a:r>
              <a:rPr sz="1050" b="1">
                <a:solidFill>
                  <a:srgbClr val="1428A0"/>
                </a:solidFill>
                <a:latin typeface="Arial"/>
                <a:ea typeface="Arial"/>
              </a:rPr>
              <a:t>② 자기 진화 </a:t>
            </a:r>
            <a:r>
              <a:rPr sz="1050" b="0">
                <a:solidFill>
                  <a:srgbClr val="555555"/>
                </a:solidFill>
                <a:latin typeface="Arial"/>
                <a:ea typeface="Arial"/>
              </a:rPr>
              <a:t>물리 집적으로 풀리는 한계</a:t>
            </a:r>
          </a:p>
        </p:txBody>
      </p:sp>
      <p:sp>
        <p:nvSpPr>
          <p:cNvPr id="30" name="Rectangle 29"/>
          <p:cNvSpPr/>
          <p:nvPr/>
        </p:nvSpPr>
        <p:spPr>
          <a:xfrm>
            <a:off x="11337174" y="5760720"/>
            <a:ext cx="6228449"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593206" y="5760720"/>
            <a:ext cx="1737360" cy="676656"/>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31년</a:t>
            </a:r>
          </a:p>
        </p:txBody>
      </p:sp>
      <p:sp>
        <p:nvSpPr>
          <p:cNvPr id="32" name="TextBox 31"/>
          <p:cNvSpPr txBox="1"/>
          <p:nvPr/>
        </p:nvSpPr>
        <p:spPr>
          <a:xfrm>
            <a:off x="13348854" y="5760720"/>
            <a:ext cx="3997313" cy="676656"/>
          </a:xfrm>
          <a:prstGeom prst="rect">
            <a:avLst/>
          </a:prstGeom>
          <a:noFill/>
        </p:spPr>
        <p:txBody>
          <a:bodyPr wrap="square" anchor="ctr" lIns="0" rIns="0" tIns="0" bIns="0">
            <a:spAutoFit/>
          </a:bodyPr>
          <a:lstStyle/>
          <a:p>
            <a:pPr algn="l">
              <a:lnSpc>
                <a:spcPct val="104000"/>
              </a:lnSpc>
            </a:pPr>
            <a:r>
              <a:rPr sz="1125" b="0">
                <a:solidFill>
                  <a:srgbClr val="555555"/>
                </a:solidFill>
                <a:latin typeface="Arial"/>
                <a:ea typeface="Arial"/>
              </a:rPr>
              <a:t>NAND 이관 소요: 디바이스(1991) → 호스트 FDP(2022)</a:t>
            </a:r>
          </a:p>
        </p:txBody>
      </p:sp>
      <p:sp>
        <p:nvSpPr>
          <p:cNvPr id="33" name="Rectangle 32"/>
          <p:cNvSpPr/>
          <p:nvPr/>
        </p:nvSpPr>
        <p:spPr>
          <a:xfrm>
            <a:off x="11337174" y="6528816"/>
            <a:ext cx="6228449"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593206" y="6528816"/>
            <a:ext cx="1737360" cy="676656"/>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6년</a:t>
            </a:r>
          </a:p>
        </p:txBody>
      </p:sp>
      <p:sp>
        <p:nvSpPr>
          <p:cNvPr id="35" name="TextBox 34"/>
          <p:cNvSpPr txBox="1"/>
          <p:nvPr/>
        </p:nvSpPr>
        <p:spPr>
          <a:xfrm>
            <a:off x="13348854" y="6528816"/>
            <a:ext cx="3997313" cy="676656"/>
          </a:xfrm>
          <a:prstGeom prst="rect">
            <a:avLst/>
          </a:prstGeom>
          <a:noFill/>
        </p:spPr>
        <p:txBody>
          <a:bodyPr wrap="square" anchor="ctr" lIns="0" rIns="0" tIns="0" bIns="0">
            <a:spAutoFit/>
          </a:bodyPr>
          <a:lstStyle/>
          <a:p>
            <a:pPr algn="l">
              <a:lnSpc>
                <a:spcPct val="104000"/>
              </a:lnSpc>
            </a:pPr>
            <a:r>
              <a:rPr sz="1125" b="0">
                <a:solidFill>
                  <a:srgbClr val="555555"/>
                </a:solidFill>
                <a:latin typeface="Arial"/>
                <a:ea typeface="Arial"/>
              </a:rPr>
              <a:t>DRAM은 자기 진화(HBM 2013)가 시스템 해법(CXL 2019)보다 앞섰다</a:t>
            </a:r>
          </a:p>
        </p:txBody>
      </p:sp>
      <p:sp>
        <p:nvSpPr>
          <p:cNvPr id="36" name="Rectangle 35"/>
          <p:cNvSpPr/>
          <p:nvPr/>
        </p:nvSpPr>
        <p:spPr>
          <a:xfrm>
            <a:off x="11337174" y="7296912"/>
            <a:ext cx="6228449" cy="6766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337174" y="7296912"/>
            <a:ext cx="7315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593206" y="7296912"/>
            <a:ext cx="1737360" cy="676656"/>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39" name="TextBox 38"/>
          <p:cNvSpPr txBox="1"/>
          <p:nvPr/>
        </p:nvSpPr>
        <p:spPr>
          <a:xfrm>
            <a:off x="13348854" y="7296912"/>
            <a:ext cx="3997313" cy="676656"/>
          </a:xfrm>
          <a:prstGeom prst="rect">
            <a:avLst/>
          </a:prstGeom>
          <a:noFill/>
        </p:spPr>
        <p:txBody>
          <a:bodyPr wrap="square" anchor="ctr" lIns="0" rIns="0" tIns="0" bIns="0">
            <a:spAutoFit/>
          </a:bodyPr>
          <a:lstStyle/>
          <a:p>
            <a:pPr algn="l">
              <a:lnSpc>
                <a:spcPct val="104000"/>
              </a:lnSpc>
            </a:pPr>
            <a:r>
              <a:rPr sz="1125" b="0">
                <a:solidFill>
                  <a:srgbClr val="555555"/>
                </a:solidFill>
                <a:latin typeface="Arial"/>
                <a:ea typeface="Arial"/>
              </a:rPr>
              <a:t>QLC 정격 DWPD 갭 = 다음 칸(호스트·애플리케이션)이 필요한 이유</a:t>
            </a:r>
          </a:p>
        </p:txBody>
      </p:sp>
      <p:sp>
        <p:nvSpPr>
          <p:cNvPr id="40" name="TextBox 39"/>
          <p:cNvSpPr txBox="1"/>
          <p:nvPr/>
        </p:nvSpPr>
        <p:spPr>
          <a:xfrm>
            <a:off x="11337174" y="8083296"/>
            <a:ext cx="6228449" cy="420624"/>
          </a:xfrm>
          <a:prstGeom prst="rect">
            <a:avLst/>
          </a:prstGeom>
          <a:noFill/>
        </p:spPr>
        <p:txBody>
          <a:bodyPr wrap="square" anchor="t" lIns="0" rIns="0" tIns="0" bIns="0">
            <a:spAutoFit/>
          </a:bodyPr>
          <a:lstStyle/>
          <a:p>
            <a:pPr algn="l">
              <a:lnSpc>
                <a:spcPct val="104000"/>
              </a:lnSpc>
            </a:pPr>
            <a:r>
              <a:rPr sz="1050" b="0">
                <a:solidFill>
                  <a:srgbClr val="8A8A8A"/>
                </a:solidFill>
                <a:latin typeface="Arial"/>
                <a:ea typeface="Arial"/>
              </a:rPr>
              <a:t>HBF는 시대 역행이 아니라 NAND 자기 진화 축의 늦은 도착이며, 상위 계층이 워크로드를 골라 주어야 성립합니다</a:t>
            </a:r>
          </a:p>
        </p:txBody>
      </p:sp>
      <p:sp>
        <p:nvSpPr>
          <p:cNvPr id="41" name="Rectangle 4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3" name="TextBox 42"/>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QLC의 호스트 협력은 예외가 아니라 사다리의 다음 칸이며, DRAM도 PRAC·CXL로 같은 사다리에 올라섰습니다. 자기 진화 축은 병행합니다</a:t>
            </a:r>
          </a:p>
        </p:txBody>
      </p:sp>
      <p:sp>
        <p:nvSpPr>
          <p:cNvPr id="44" name="TextBox 4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JEDEC(JESD79-5/5A/5C · JESD235 · JESD270-4), NVM Express(ZNS · FDP), CXL 컨소시엄, USENIX FAST'13/'17, ISCA 2014, SanDisk · Micron 보도자료, Kioxia 기술 브리프 · 검색 요약 기반, 등급은 보고서 부록 A</a:t>
            </a:r>
          </a:p>
        </p:txBody>
      </p:sp>
      <p:sp>
        <p:nvSpPr>
          <p:cNvPr id="45" name="TextBox 4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