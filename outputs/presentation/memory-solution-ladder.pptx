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이관이며 완결된 이관입니다. ③ 결과: ECC는 BER을 보상하지만 P/E를 늘리지는 못합니다. 정격 DWPD는 X25-E SLC 17(2008), S3700 eMLC 10(2012), P4510 TLC 0.7(2018), P5316 QLC 0.41(2021), 최신 QLC 0.075~0.6으로 하락했는데, 추론 캐시 계층의 요구는 TLC 수준 1~3, ScaleFlux가 제시한 유효 요구는 7~10입니다. 10~40배 격차입니다. ④ WAF: 2단계는 SSD 진영이 디바이스와 드라이버 안에서 워크로드에 적응하려 한 시도입니다. Multi-stream(2014)·AutoStream(2017)·FTL 핫/콜드 추정·NVMe IO 결정성(NVM Sets·Predictable Latency Mode, 2019)이 여기에 속합니다. 테일 지연 등 QoS와 성능은 개선했으나, 데이터의 수명은 호스트와 애플리케이션만 아는 정보라 디바이스가 완전히 감지할 수 없고, 실 워크로드의 WAF는 3 수준에 머물렀습니다(랜덤 쓰기 3.00, CacheLib 배치 표준 미적용 3.22). 3단계는 호스트 시스템 공동 설계입니다. 호스트가 데이터 수명을 지정(배치 표준)하고 캐시 관리자·애플리케이션 정책까지 함께 설계하면 WAF는 1.03이 됩니다. 68% 감소, 유효 DWPD 3.1배입니다. 오른쪽 위는 산식과 항별 결정 주체입니다. DWPD = P/E × (1+OP) ÷ (WAF × 365 × 년)에서 P/E는 셀, OP는 디바이스, 년과 요구 DWPD는 고객이 결정합니다. P/E가 100배 감소했으므로 남은 보상 변수는 WAF뿐입니다. 오른쪽 아래는 이관의 3단계입니다. 1단계 ECC는 UBER 요구를 충족해 완결됐고, 2단계 SSD 단독 최적화는 QoS·성능을 개선했으나 WAF를 낮추지 못해 DWPD 요구를 충족하지 못했으며, 3단계 호스트 시스템 공동 설계가 WAF를 1로 낮춰 DWPD 요구를 충족합니다. 본 덱 2~5장이 3단계입니다. 결론: QLC로 요구 DWPD를 충족하는 경로는 호스트 시스템 공동 설계뿐이며, 이는 산식의 귀결입니다. 그 규격이 언제 정의되는지가 2장입니다. 하단 스트립은 병렬 축입니다. 내구성 축과 별개로 신뢰성 축에서도 같은 구조가 진행 중입니다. 요구는 JESD218 기능 고장률 FFR 3% 이하로 고정인데, SSD당 NAND 다이 수는 S3700 800GB 128개(2012)에서 Kioxia LC9 245TB 1,024개(2025, 2Tb 다이 32단 스택 32패키지)로 8배 늘었습니다. 보호가 없으면 SSD 고장률은 다이 수에 비례하므로, 칩 면적이 커질수록 수율이 떨어지는 것과 같은 원리로 다이 고장률을 8배 낮추거나 다이 고장을 허용해야 합니다. 다이 고장률 개선이 기술적 한계에 닿자 해법은 SSD 계층으로 이관됐습니다. 다이 RAID(Micron RAIN, 슈퍼페이지 XOR 패리티 다이), 여분 다이, 다이 은퇴와 감량 운영(삼성 Fail-in-Place PM1733: 다이 고장 시 데이터 재배치 후 4~8GB 감량 운영)입니다. 이 해법들은 패리티와 예비 용량 오버헤드를 키우므로 다이 수가 계속 늘면 SSD 단독으로는 부족해질 수 있고, 상위 계층은 이미 준비 중입니다. OCP SMART의 XOR 복구 카운트로 호스트가 다이 복구를 관측하고, Microsoft Hyrax처럼 플랫폼이 감량 운영을 수용하며, 드라이브 간 소거 부호가 SSD 고장을 흡수합니다.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P/E · BER · DWPD · WAF</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ECC가 RBER을 보상했듯 P/E 감소는 WAF로 보상해야 하며, 이는 호스트 공동 설계로만 가능합니다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SSD 단독 최적화는 QoS·성능은 개선했으나 WAF는 낮추지 못했습니다.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lution_metrics_chart.png"/>
          <p:cNvPicPr>
            <a:picLocks noChangeAspect="1"/>
          </p:cNvPicPr>
          <p:nvPr/>
        </p:nvPicPr>
        <p:blipFill>
          <a:blip r:embed="rId2"/>
          <a:stretch>
            <a:fillRect/>
          </a:stretch>
        </p:blipFill>
        <p:spPr>
          <a:xfrm>
            <a:off x="722376" y="2560320"/>
            <a:ext cx="8678487" cy="4937760"/>
          </a:xfrm>
          <a:prstGeom prst="rect">
            <a:avLst/>
          </a:prstGeom>
        </p:spPr>
      </p:pic>
      <p:sp>
        <p:nvSpPr>
          <p:cNvPr id="9" name="Rectangle 8"/>
          <p:cNvSpPr/>
          <p:nvPr/>
        </p:nvSpPr>
        <p:spPr>
          <a:xfrm>
            <a:off x="9711759" y="2560320"/>
            <a:ext cx="7853864"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49503" y="2670048"/>
            <a:ext cx="7378376"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11" name="Rectangle 10"/>
          <p:cNvSpPr/>
          <p:nvPr/>
        </p:nvSpPr>
        <p:spPr>
          <a:xfrm>
            <a:off x="10612027"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1202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13" name="TextBox 12"/>
          <p:cNvSpPr txBox="1"/>
          <p:nvPr/>
        </p:nvSpPr>
        <p:spPr>
          <a:xfrm>
            <a:off x="1052058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14" name="TextBox 13"/>
          <p:cNvSpPr txBox="1"/>
          <p:nvPr/>
        </p:nvSpPr>
        <p:spPr>
          <a:xfrm>
            <a:off x="1159957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5" name="Rectangle 14"/>
          <p:cNvSpPr/>
          <p:nvPr/>
        </p:nvSpPr>
        <p:spPr>
          <a:xfrm>
            <a:off x="11892187"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9218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17" name="TextBox 16"/>
          <p:cNvSpPr txBox="1"/>
          <p:nvPr/>
        </p:nvSpPr>
        <p:spPr>
          <a:xfrm>
            <a:off x="1180074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18" name="TextBox 17"/>
          <p:cNvSpPr txBox="1"/>
          <p:nvPr/>
        </p:nvSpPr>
        <p:spPr>
          <a:xfrm>
            <a:off x="1287973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9" name="Rectangle 18"/>
          <p:cNvSpPr/>
          <p:nvPr/>
        </p:nvSpPr>
        <p:spPr>
          <a:xfrm>
            <a:off x="13172347"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17234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21" name="TextBox 20"/>
          <p:cNvSpPr txBox="1"/>
          <p:nvPr/>
        </p:nvSpPr>
        <p:spPr>
          <a:xfrm>
            <a:off x="1308090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22" name="TextBox 21"/>
          <p:cNvSpPr txBox="1"/>
          <p:nvPr/>
        </p:nvSpPr>
        <p:spPr>
          <a:xfrm>
            <a:off x="1415989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3" name="Rectangle 22"/>
          <p:cNvSpPr/>
          <p:nvPr/>
        </p:nvSpPr>
        <p:spPr>
          <a:xfrm>
            <a:off x="14452507"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452507"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25" name="TextBox 24"/>
          <p:cNvSpPr txBox="1"/>
          <p:nvPr/>
        </p:nvSpPr>
        <p:spPr>
          <a:xfrm>
            <a:off x="14361067"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26" name="TextBox 25"/>
          <p:cNvSpPr txBox="1"/>
          <p:nvPr/>
        </p:nvSpPr>
        <p:spPr>
          <a:xfrm>
            <a:off x="1544005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7" name="Rectangle 26"/>
          <p:cNvSpPr/>
          <p:nvPr/>
        </p:nvSpPr>
        <p:spPr>
          <a:xfrm>
            <a:off x="15732667"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73266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29" name="TextBox 28"/>
          <p:cNvSpPr txBox="1"/>
          <p:nvPr/>
        </p:nvSpPr>
        <p:spPr>
          <a:xfrm>
            <a:off x="1564122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0" name="Rectangle 29"/>
          <p:cNvSpPr/>
          <p:nvPr/>
        </p:nvSpPr>
        <p:spPr>
          <a:xfrm>
            <a:off x="9711759" y="3968496"/>
            <a:ext cx="7853864" cy="35295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9503" y="4078224"/>
            <a:ext cx="7378376"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이관의 3단계 — 요구 고정 · 단품 지표 악화 · 보상 계층의 상승</a:t>
            </a:r>
          </a:p>
        </p:txBody>
      </p:sp>
      <p:sp>
        <p:nvSpPr>
          <p:cNvPr id="32" name="TextBox 31"/>
          <p:cNvSpPr txBox="1"/>
          <p:nvPr/>
        </p:nvSpPr>
        <p:spPr>
          <a:xfrm>
            <a:off x="9949503" y="4425696"/>
            <a:ext cx="5000936"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33" name="TextBox 32"/>
          <p:cNvSpPr txBox="1"/>
          <p:nvPr/>
        </p:nvSpPr>
        <p:spPr>
          <a:xfrm>
            <a:off x="14950439" y="4425696"/>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UBER 요구 충족</a:t>
            </a:r>
          </a:p>
        </p:txBody>
      </p:sp>
      <p:sp>
        <p:nvSpPr>
          <p:cNvPr id="34" name="Rectangle 33"/>
          <p:cNvSpPr/>
          <p:nvPr/>
        </p:nvSpPr>
        <p:spPr>
          <a:xfrm>
            <a:off x="9949503" y="4700016"/>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40943" y="4754879"/>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a:t>
            </a:r>
          </a:p>
        </p:txBody>
      </p:sp>
      <p:sp>
        <p:nvSpPr>
          <p:cNvPr id="36" name="TextBox 35"/>
          <p:cNvSpPr txBox="1"/>
          <p:nvPr/>
        </p:nvSpPr>
        <p:spPr>
          <a:xfrm>
            <a:off x="10040943" y="4946904"/>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RBER 백만 배 ↑</a:t>
            </a:r>
          </a:p>
        </p:txBody>
      </p:sp>
      <p:sp>
        <p:nvSpPr>
          <p:cNvPr id="37" name="TextBox 36"/>
          <p:cNvSpPr txBox="1"/>
          <p:nvPr/>
        </p:nvSpPr>
        <p:spPr>
          <a:xfrm>
            <a:off x="10040943" y="5157216"/>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산포가 시간에 따라 변화</a:t>
            </a:r>
          </a:p>
        </p:txBody>
      </p:sp>
      <p:sp>
        <p:nvSpPr>
          <p:cNvPr id="38" name="Right Arrow 37"/>
          <p:cNvSpPr/>
          <p:nvPr/>
        </p:nvSpPr>
        <p:spPr>
          <a:xfrm>
            <a:off x="12247418" y="494690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512594" y="4700016"/>
            <a:ext cx="225219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04034" y="4754879"/>
            <a:ext cx="2069314"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컨트롤러</a:t>
            </a:r>
          </a:p>
        </p:txBody>
      </p:sp>
      <p:sp>
        <p:nvSpPr>
          <p:cNvPr id="41" name="TextBox 40"/>
          <p:cNvSpPr txBox="1"/>
          <p:nvPr/>
        </p:nvSpPr>
        <p:spPr>
          <a:xfrm>
            <a:off x="12604034" y="4946904"/>
            <a:ext cx="2069314"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ECC 60배 ↑</a:t>
            </a:r>
          </a:p>
        </p:txBody>
      </p:sp>
      <p:sp>
        <p:nvSpPr>
          <p:cNvPr id="42" name="TextBox 41"/>
          <p:cNvSpPr txBox="1"/>
          <p:nvPr/>
        </p:nvSpPr>
        <p:spPr>
          <a:xfrm>
            <a:off x="12604034" y="5157216"/>
            <a:ext cx="2069314" cy="20116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1bit/512B → LDPC 120bit/KB</a:t>
            </a:r>
          </a:p>
        </p:txBody>
      </p:sp>
      <p:sp>
        <p:nvSpPr>
          <p:cNvPr id="43" name="Right Arrow 42"/>
          <p:cNvSpPr/>
          <p:nvPr/>
        </p:nvSpPr>
        <p:spPr>
          <a:xfrm>
            <a:off x="14810509" y="494690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5075685" y="4700016"/>
            <a:ext cx="2252194" cy="676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5167125" y="4754879"/>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46" name="TextBox 45"/>
          <p:cNvSpPr txBox="1"/>
          <p:nvPr/>
        </p:nvSpPr>
        <p:spPr>
          <a:xfrm>
            <a:off x="15167125" y="4946904"/>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UBER 요구 충족</a:t>
            </a:r>
          </a:p>
        </p:txBody>
      </p:sp>
      <p:sp>
        <p:nvSpPr>
          <p:cNvPr id="47" name="TextBox 46"/>
          <p:cNvSpPr txBox="1"/>
          <p:nvPr/>
        </p:nvSpPr>
        <p:spPr>
          <a:xfrm>
            <a:off x="15167125" y="5157216"/>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JESD218 유지</a:t>
            </a:r>
          </a:p>
        </p:txBody>
      </p:sp>
      <p:sp>
        <p:nvSpPr>
          <p:cNvPr id="48" name="TextBox 47"/>
          <p:cNvSpPr txBox="1"/>
          <p:nvPr/>
        </p:nvSpPr>
        <p:spPr>
          <a:xfrm>
            <a:off x="9949503" y="5495544"/>
            <a:ext cx="5000936"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단독 워크로드 최적화  (2014~2019)</a:t>
            </a:r>
          </a:p>
        </p:txBody>
      </p:sp>
      <p:sp>
        <p:nvSpPr>
          <p:cNvPr id="49" name="TextBox 48"/>
          <p:cNvSpPr txBox="1"/>
          <p:nvPr/>
        </p:nvSpPr>
        <p:spPr>
          <a:xfrm>
            <a:off x="14950439" y="5495544"/>
            <a:ext cx="2377440" cy="219456"/>
          </a:xfrm>
          <a:prstGeom prst="rect">
            <a:avLst/>
          </a:prstGeom>
          <a:noFill/>
        </p:spPr>
        <p:txBody>
          <a:bodyPr wrap="square" anchor="t" lIns="0" rIns="0" tIns="0" bIns="0">
            <a:spAutoFit/>
          </a:bodyPr>
          <a:lstStyle/>
          <a:p>
            <a:pPr algn="r">
              <a:lnSpc>
                <a:spcPct val="112000"/>
              </a:lnSpc>
            </a:pPr>
            <a:r>
              <a:rPr sz="1050" b="1">
                <a:solidFill>
                  <a:srgbClr val="8A8A8A"/>
                </a:solidFill>
                <a:latin typeface="Arial"/>
                <a:ea typeface="Arial"/>
              </a:rPr>
              <a:t>DWPD 요구 미충족 · 부분 성공</a:t>
            </a:r>
          </a:p>
        </p:txBody>
      </p:sp>
      <p:sp>
        <p:nvSpPr>
          <p:cNvPr id="50" name="Rectangle 49"/>
          <p:cNvSpPr/>
          <p:nvPr/>
        </p:nvSpPr>
        <p:spPr>
          <a:xfrm>
            <a:off x="9949503" y="5769864"/>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40943" y="5824727"/>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 · SSD</a:t>
            </a:r>
          </a:p>
        </p:txBody>
      </p:sp>
      <p:sp>
        <p:nvSpPr>
          <p:cNvPr id="52" name="TextBox 51"/>
          <p:cNvSpPr txBox="1"/>
          <p:nvPr/>
        </p:nvSpPr>
        <p:spPr>
          <a:xfrm>
            <a:off x="10040943" y="6016752"/>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P/E 100배 ↓</a:t>
            </a:r>
          </a:p>
        </p:txBody>
      </p:sp>
      <p:sp>
        <p:nvSpPr>
          <p:cNvPr id="53" name="TextBox 52"/>
          <p:cNvSpPr txBox="1"/>
          <p:nvPr/>
        </p:nvSpPr>
        <p:spPr>
          <a:xfrm>
            <a:off x="10040943" y="6227064"/>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정격 DWPD 0.4</a:t>
            </a:r>
          </a:p>
        </p:txBody>
      </p:sp>
      <p:sp>
        <p:nvSpPr>
          <p:cNvPr id="54" name="Right Arrow 53"/>
          <p:cNvSpPr/>
          <p:nvPr/>
        </p:nvSpPr>
        <p:spPr>
          <a:xfrm>
            <a:off x="12247418" y="601675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512594" y="5769864"/>
            <a:ext cx="225219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604034" y="5824727"/>
            <a:ext cx="2069314" cy="201168"/>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SSD · 드라이버</a:t>
            </a:r>
          </a:p>
        </p:txBody>
      </p:sp>
      <p:sp>
        <p:nvSpPr>
          <p:cNvPr id="57" name="TextBox 56"/>
          <p:cNvSpPr txBox="1"/>
          <p:nvPr/>
        </p:nvSpPr>
        <p:spPr>
          <a:xfrm>
            <a:off x="12604034" y="6016752"/>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QoS · 성능 개선</a:t>
            </a:r>
          </a:p>
        </p:txBody>
      </p:sp>
      <p:sp>
        <p:nvSpPr>
          <p:cNvPr id="58" name="TextBox 57"/>
          <p:cNvSpPr txBox="1"/>
          <p:nvPr/>
        </p:nvSpPr>
        <p:spPr>
          <a:xfrm>
            <a:off x="12604034" y="6227064"/>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추정 배치 · 스트림 · IOD → WAF ≈ 3</a:t>
            </a:r>
          </a:p>
        </p:txBody>
      </p:sp>
      <p:sp>
        <p:nvSpPr>
          <p:cNvPr id="59" name="Right Arrow 58"/>
          <p:cNvSpPr/>
          <p:nvPr/>
        </p:nvSpPr>
        <p:spPr>
          <a:xfrm>
            <a:off x="14810509" y="6016752"/>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5075685" y="5769864"/>
            <a:ext cx="2252194" cy="6766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5167125" y="5824727"/>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62" name="TextBox 61"/>
          <p:cNvSpPr txBox="1"/>
          <p:nvPr/>
        </p:nvSpPr>
        <p:spPr>
          <a:xfrm>
            <a:off x="15167125" y="6016752"/>
            <a:ext cx="2069314"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DWPD 요구 미충족</a:t>
            </a:r>
          </a:p>
        </p:txBody>
      </p:sp>
      <p:sp>
        <p:nvSpPr>
          <p:cNvPr id="63" name="TextBox 62"/>
          <p:cNvSpPr txBox="1"/>
          <p:nvPr/>
        </p:nvSpPr>
        <p:spPr>
          <a:xfrm>
            <a:off x="15167125" y="6227064"/>
            <a:ext cx="2069314" cy="201168"/>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격차 10~40배</a:t>
            </a:r>
          </a:p>
        </p:txBody>
      </p:sp>
      <p:sp>
        <p:nvSpPr>
          <p:cNvPr id="64" name="TextBox 63"/>
          <p:cNvSpPr txBox="1"/>
          <p:nvPr/>
        </p:nvSpPr>
        <p:spPr>
          <a:xfrm>
            <a:off x="9949503" y="6565392"/>
            <a:ext cx="5000936"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시스템 공동 설계  (2022~, 본 덱)</a:t>
            </a:r>
          </a:p>
        </p:txBody>
      </p:sp>
      <p:sp>
        <p:nvSpPr>
          <p:cNvPr id="65" name="TextBox 64"/>
          <p:cNvSpPr txBox="1"/>
          <p:nvPr/>
        </p:nvSpPr>
        <p:spPr>
          <a:xfrm>
            <a:off x="14950439" y="6565392"/>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DWPD 요구 충족 · 유일한 경로</a:t>
            </a:r>
          </a:p>
        </p:txBody>
      </p:sp>
      <p:sp>
        <p:nvSpPr>
          <p:cNvPr id="66" name="Rectangle 65"/>
          <p:cNvSpPr/>
          <p:nvPr/>
        </p:nvSpPr>
        <p:spPr>
          <a:xfrm>
            <a:off x="9949503" y="6839712"/>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40943" y="6894575"/>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호스트 · 앱</a:t>
            </a:r>
          </a:p>
        </p:txBody>
      </p:sp>
      <p:sp>
        <p:nvSpPr>
          <p:cNvPr id="68" name="TextBox 67"/>
          <p:cNvSpPr txBox="1"/>
          <p:nvPr/>
        </p:nvSpPr>
        <p:spPr>
          <a:xfrm>
            <a:off x="10040943" y="7086600"/>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데이터 수명 지정</a:t>
            </a:r>
          </a:p>
        </p:txBody>
      </p:sp>
      <p:sp>
        <p:nvSpPr>
          <p:cNvPr id="69" name="TextBox 68"/>
          <p:cNvSpPr txBox="1"/>
          <p:nvPr/>
        </p:nvSpPr>
        <p:spPr>
          <a:xfrm>
            <a:off x="10040943" y="7296912"/>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배치 표준 · 캐시 관리자 정책</a:t>
            </a:r>
          </a:p>
        </p:txBody>
      </p:sp>
      <p:sp>
        <p:nvSpPr>
          <p:cNvPr id="70" name="Right Arrow 69"/>
          <p:cNvSpPr/>
          <p:nvPr/>
        </p:nvSpPr>
        <p:spPr>
          <a:xfrm>
            <a:off x="12247418" y="7086600"/>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512594" y="6839712"/>
            <a:ext cx="225219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04034" y="6894575"/>
            <a:ext cx="2069314"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삼성 · 고객 공동 설계</a:t>
            </a:r>
          </a:p>
        </p:txBody>
      </p:sp>
      <p:sp>
        <p:nvSpPr>
          <p:cNvPr id="73" name="TextBox 72"/>
          <p:cNvSpPr txBox="1"/>
          <p:nvPr/>
        </p:nvSpPr>
        <p:spPr>
          <a:xfrm>
            <a:off x="12604034" y="7086600"/>
            <a:ext cx="2069314"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WAF 3.2 → 1.0</a:t>
            </a:r>
          </a:p>
        </p:txBody>
      </p:sp>
      <p:sp>
        <p:nvSpPr>
          <p:cNvPr id="74" name="TextBox 73"/>
          <p:cNvSpPr txBox="1"/>
          <p:nvPr/>
        </p:nvSpPr>
        <p:spPr>
          <a:xfrm>
            <a:off x="12604034" y="7296912"/>
            <a:ext cx="2069314" cy="20116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FDE · SCA · 유효 DWPD ×3.1</a:t>
            </a:r>
          </a:p>
        </p:txBody>
      </p:sp>
      <p:sp>
        <p:nvSpPr>
          <p:cNvPr id="75" name="Right Arrow 74"/>
          <p:cNvSpPr/>
          <p:nvPr/>
        </p:nvSpPr>
        <p:spPr>
          <a:xfrm>
            <a:off x="14810509" y="7086600"/>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075685" y="6839712"/>
            <a:ext cx="2252194" cy="676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5167125" y="6894575"/>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78" name="TextBox 77"/>
          <p:cNvSpPr txBox="1"/>
          <p:nvPr/>
        </p:nvSpPr>
        <p:spPr>
          <a:xfrm>
            <a:off x="15167125" y="7086600"/>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DWPD 요구 충족</a:t>
            </a:r>
          </a:p>
        </p:txBody>
      </p:sp>
      <p:sp>
        <p:nvSpPr>
          <p:cNvPr id="79" name="TextBox 78"/>
          <p:cNvSpPr txBox="1"/>
          <p:nvPr/>
        </p:nvSpPr>
        <p:spPr>
          <a:xfrm>
            <a:off x="15167125" y="7296912"/>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QLC로 정격 내 수명 보증</a:t>
            </a:r>
          </a:p>
        </p:txBody>
      </p:sp>
      <p:sp>
        <p:nvSpPr>
          <p:cNvPr id="80" name="Rectangle 79"/>
          <p:cNvSpPr/>
          <p:nvPr/>
        </p:nvSpPr>
        <p:spPr>
          <a:xfrm>
            <a:off x="722376" y="7644383"/>
            <a:ext cx="16843248" cy="8595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22376" y="7644383"/>
            <a:ext cx="54864" cy="85953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41832" y="7735823"/>
            <a:ext cx="182880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병렬 축 · 다이 고장률</a:t>
            </a:r>
          </a:p>
        </p:txBody>
      </p:sp>
      <p:sp>
        <p:nvSpPr>
          <p:cNvPr id="83" name="TextBox 82"/>
          <p:cNvSpPr txBox="1"/>
          <p:nvPr/>
        </p:nvSpPr>
        <p:spPr>
          <a:xfrm>
            <a:off x="941832" y="7973567"/>
            <a:ext cx="1828800" cy="365760"/>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요구 FFR ≤ 3% 고정</a:t>
            </a:r>
          </a:p>
          <a:p>
            <a:pPr algn="l">
              <a:lnSpc>
                <a:spcPct val="100000"/>
              </a:lnSpc>
            </a:pPr>
            <a:r>
              <a:rPr sz="900" b="0">
                <a:solidFill>
                  <a:srgbClr val="555555"/>
                </a:solidFill>
                <a:latin typeface="Arial"/>
                <a:ea typeface="Arial"/>
              </a:rPr>
              <a:t>JESD218 · 다이 수는 8배 ↑</a:t>
            </a:r>
          </a:p>
        </p:txBody>
      </p:sp>
      <p:sp>
        <p:nvSpPr>
          <p:cNvPr id="84" name="TextBox 83"/>
          <p:cNvSpPr txBox="1"/>
          <p:nvPr/>
        </p:nvSpPr>
        <p:spPr>
          <a:xfrm>
            <a:off x="2871216" y="7717536"/>
            <a:ext cx="28803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SSD당 NAND 다이 수 (용량 ÷ 다이 밀도 환산)</a:t>
            </a:r>
          </a:p>
        </p:txBody>
      </p:sp>
      <p:sp>
        <p:nvSpPr>
          <p:cNvPr id="85" name="Rectangle 84"/>
          <p:cNvSpPr/>
          <p:nvPr/>
        </p:nvSpPr>
        <p:spPr>
          <a:xfrm>
            <a:off x="2871216" y="8129016"/>
            <a:ext cx="31089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688336"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'12  128</a:t>
            </a:r>
          </a:p>
        </p:txBody>
      </p:sp>
      <p:sp>
        <p:nvSpPr>
          <p:cNvPr id="87" name="Rectangle 86"/>
          <p:cNvSpPr/>
          <p:nvPr/>
        </p:nvSpPr>
        <p:spPr>
          <a:xfrm>
            <a:off x="3513582" y="8129016"/>
            <a:ext cx="31089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330702"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'18  144</a:t>
            </a:r>
          </a:p>
        </p:txBody>
      </p:sp>
      <p:sp>
        <p:nvSpPr>
          <p:cNvPr id="89" name="Rectangle 88"/>
          <p:cNvSpPr/>
          <p:nvPr/>
        </p:nvSpPr>
        <p:spPr>
          <a:xfrm>
            <a:off x="4155948" y="8110728"/>
            <a:ext cx="310896" cy="640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973068"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'21  256</a:t>
            </a:r>
          </a:p>
        </p:txBody>
      </p:sp>
      <p:sp>
        <p:nvSpPr>
          <p:cNvPr id="91" name="Rectangle 90"/>
          <p:cNvSpPr/>
          <p:nvPr/>
        </p:nvSpPr>
        <p:spPr>
          <a:xfrm>
            <a:off x="4798314" y="8046720"/>
            <a:ext cx="310896" cy="12801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615434"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'23  512</a:t>
            </a:r>
          </a:p>
        </p:txBody>
      </p:sp>
      <p:sp>
        <p:nvSpPr>
          <p:cNvPr id="93" name="Rectangle 92"/>
          <p:cNvSpPr/>
          <p:nvPr/>
        </p:nvSpPr>
        <p:spPr>
          <a:xfrm>
            <a:off x="5440679" y="7918704"/>
            <a:ext cx="310896"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257799" y="8193024"/>
            <a:ext cx="676656" cy="164592"/>
          </a:xfrm>
          <a:prstGeom prst="rect">
            <a:avLst/>
          </a:prstGeom>
          <a:noFill/>
        </p:spPr>
        <p:txBody>
          <a:bodyPr wrap="square" anchor="t" lIns="0" rIns="0" tIns="0" bIns="0">
            <a:spAutoFit/>
          </a:bodyPr>
          <a:lstStyle/>
          <a:p>
            <a:pPr algn="ctr">
              <a:lnSpc>
                <a:spcPct val="112000"/>
              </a:lnSpc>
            </a:pPr>
            <a:r>
              <a:rPr sz="825" b="1">
                <a:solidFill>
                  <a:srgbClr val="1A1A1A"/>
                </a:solidFill>
                <a:latin typeface="Arial"/>
                <a:ea typeface="Arial"/>
              </a:rPr>
              <a:t>'25  1,024</a:t>
            </a:r>
          </a:p>
        </p:txBody>
      </p:sp>
      <p:sp>
        <p:nvSpPr>
          <p:cNvPr id="95" name="Rectangle 94"/>
          <p:cNvSpPr/>
          <p:nvPr/>
        </p:nvSpPr>
        <p:spPr>
          <a:xfrm>
            <a:off x="6025896" y="7708392"/>
            <a:ext cx="3535680"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35624" y="7744967"/>
            <a:ext cx="3316224"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 (단품)</a:t>
            </a:r>
          </a:p>
        </p:txBody>
      </p:sp>
      <p:sp>
        <p:nvSpPr>
          <p:cNvPr id="97" name="TextBox 96"/>
          <p:cNvSpPr txBox="1"/>
          <p:nvPr/>
        </p:nvSpPr>
        <p:spPr>
          <a:xfrm>
            <a:off x="613562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수 8배 ↑ → 다이 고장률 8배 ↓ 필요</a:t>
            </a:r>
          </a:p>
        </p:txBody>
      </p:sp>
      <p:sp>
        <p:nvSpPr>
          <p:cNvPr id="98" name="TextBox 97"/>
          <p:cNvSpPr txBox="1"/>
          <p:nvPr/>
        </p:nvSpPr>
        <p:spPr>
          <a:xfrm>
            <a:off x="613562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SSD 고장률 ≈ N × 다이 고장률 · 칩 면적↔수율과 같은 원리 · 다이 고장률 개선은 기술적 한계</a:t>
            </a:r>
          </a:p>
        </p:txBody>
      </p:sp>
      <p:sp>
        <p:nvSpPr>
          <p:cNvPr id="99" name="Right Arrow 98"/>
          <p:cNvSpPr/>
          <p:nvPr/>
        </p:nvSpPr>
        <p:spPr>
          <a:xfrm>
            <a:off x="9634728" y="79827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9927336" y="7708392"/>
            <a:ext cx="3535680" cy="7315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037064" y="7744967"/>
            <a:ext cx="3316224" cy="164592"/>
          </a:xfrm>
          <a:prstGeom prst="rect">
            <a:avLst/>
          </a:prstGeom>
          <a:noFill/>
        </p:spPr>
        <p:txBody>
          <a:bodyPr wrap="square" anchor="t" lIns="0" rIns="0" tIns="0" bIns="0">
            <a:spAutoFit/>
          </a:bodyPr>
          <a:lstStyle/>
          <a:p>
            <a:pPr algn="l">
              <a:lnSpc>
                <a:spcPct val="112000"/>
              </a:lnSpc>
            </a:pPr>
            <a:r>
              <a:rPr sz="875" b="0">
                <a:solidFill>
                  <a:srgbClr val="1A1A1A"/>
                </a:solidFill>
                <a:latin typeface="Arial"/>
                <a:ea typeface="Arial"/>
              </a:rPr>
              <a:t>SSD 내부 (현재 해법)</a:t>
            </a:r>
          </a:p>
        </p:txBody>
      </p:sp>
      <p:sp>
        <p:nvSpPr>
          <p:cNvPr id="102" name="TextBox 101"/>
          <p:cNvSpPr txBox="1"/>
          <p:nvPr/>
        </p:nvSpPr>
        <p:spPr>
          <a:xfrm>
            <a:off x="1003706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RAID · 여분 다이 · 다이 은퇴</a:t>
            </a:r>
          </a:p>
        </p:txBody>
      </p:sp>
      <p:sp>
        <p:nvSpPr>
          <p:cNvPr id="103" name="TextBox 102"/>
          <p:cNvSpPr txBox="1"/>
          <p:nvPr/>
        </p:nvSpPr>
        <p:spPr>
          <a:xfrm>
            <a:off x="1003706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Micron RAIN(XOR 패리티 다이) · 삼성 Fail-in-Place(PM1733, 감량 운영) · 패리티·예비 용량 오버헤드 ↑</a:t>
            </a:r>
          </a:p>
        </p:txBody>
      </p:sp>
      <p:sp>
        <p:nvSpPr>
          <p:cNvPr id="104" name="Right Arrow 103"/>
          <p:cNvSpPr/>
          <p:nvPr/>
        </p:nvSpPr>
        <p:spPr>
          <a:xfrm>
            <a:off x="13536168" y="7982712"/>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3828776" y="7708392"/>
            <a:ext cx="3535680" cy="73152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938504" y="7744967"/>
            <a:ext cx="3316224" cy="164592"/>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상위 계층 (SSD 단독 한계 시)</a:t>
            </a:r>
          </a:p>
        </p:txBody>
      </p:sp>
      <p:sp>
        <p:nvSpPr>
          <p:cNvPr id="107" name="TextBox 106"/>
          <p:cNvSpPr txBox="1"/>
          <p:nvPr/>
        </p:nvSpPr>
        <p:spPr>
          <a:xfrm>
            <a:off x="1393850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감량 운영 수용 · 호스트 소거 부호</a:t>
            </a:r>
          </a:p>
        </p:txBody>
      </p:sp>
      <p:sp>
        <p:nvSpPr>
          <p:cNvPr id="108" name="TextBox 107"/>
          <p:cNvSpPr txBox="1"/>
          <p:nvPr/>
        </p:nvSpPr>
        <p:spPr>
          <a:xfrm>
            <a:off x="1393850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OCP SMART XOR 복구 카운트(호스트 관측) · 플랫폼 fail-in-place(MS Hyrax) · 드라이브 간 소거 부호</a:t>
            </a:r>
          </a:p>
        </p:txBody>
      </p:sp>
      <p:sp>
        <p:nvSpPr>
          <p:cNvPr id="109" name="Rectangle 108"/>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1" name="TextBox 110"/>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