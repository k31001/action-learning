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QLC의 내구성 격차를 어느 계층이 해소하는가를 네 지표로 답합니다. 왼쪽 차트는 인과 순서입니다. ① 셀의 한계: 비트/셀을 늘릴수록 셀이 견디는 P/E 사이클이 SLC 30K~100K에서 QLC 100~1K로 100배 감소했습니다. ② 컨트롤러의 보상: 같은 기간 RBER은 SLC 10의 -9~-7승에서 QLC 10의 -3~-2승으로 약 백만 배 상승했지만, 고객의 UBER 요구(JESD218: 클라이언트 10의 -15승, 엔터프라이즈 10의 -16승)는 고정이었습니다. 그 격차를 컨트롤러가 ECC로 보상했습니다. 1비트/512B에서 BCH 60비트/KB, LDPC 120비트/KB로 약 60배입니다. 셀은 보존·사이클링·리드 디스터브로 시간에 따라 변하는 산포를 단독으로 보정하지 못하므로, 이것이 NAND에서 SSD로의 1단계 이관이며 완결된 이관입니다. ③ 결과: ECC는 BER을 보상하지만 P/E를 늘리지는 못합니다. 정격 DWPD는 X25-E SLC 17(2008), S3700 eMLC 10(2012), P4510 TLC 0.7(2018), P5316 QLC 0.41(2021), 최신 QLC 0.075~0.6으로 하락했는데, 추론 캐시 계층의 요구는 TLC 수준 1~3, ScaleFlux가 제시한 유효 요구는 7~10입니다. 10~40배 격차입니다. ④ WAF: 2단계는 SSD 진영이 디바이스와 드라이버 안에서 워크로드에 적응하려 한 시도입니다. Multi-stream(2014)·AutoStream(2017)·FTL 핫/콜드 추정·NVMe IO 결정성(NVM Sets·Predictable Latency Mode, 2019)이 여기에 속합니다. 테일 지연 등 QoS와 성능은 개선했으나, 데이터의 수명은 호스트와 애플리케이션만 아는 정보라 디바이스가 완전히 감지할 수 없고, 실 워크로드의 WAF는 3 수준에 머물렀습니다(랜덤 쓰기 3.00, CacheLib 배치 표준 미적용 3.22). 3단계는 호스트 시스템 공동 설계입니다. 호스트가 데이터 수명을 지정(배치 표준)하고 캐시 관리자·애플리케이션 정책까지 함께 설계하면 WAF는 1.03이 됩니다. 68% 감소, 유효 DWPD 3.1배입니다. 오른쪽 위는 산식과 항별 결정 주체입니다. DWPD = P/E × (1+OP) ÷ (WAF × 365 × 년)에서 P/E는 셀, OP는 디바이스, 년과 요구 DWPD는 고객이 결정합니다. P/E가 100배 감소했으므로 남은 보상 변수는 WAF뿐입니다. 오른쪽 아래는 이관의 3단계입니다. 1단계 ECC는 UBER 요구를 충족해 완결됐고, 2단계 SSD 단독 최적화는 QoS·성능을 개선했으나 WAF를 낮추지 못해 DWPD 요구를 충족하지 못했으며, 3단계 호스트 시스템 공동 설계가 WAF를 1로 낮춰 DWPD 요구를 충족합니다. 본 덱 2~5장이 3단계입니다. 결론: QLC로 요구 DWPD를 충족하는 경로는 호스트 시스템 공동 설계뿐이며, 이는 산식의 귀결입니다. 그 규격이 언제 정의되는지가 2장입니다. 근거 등급은 보고서 부록 A F28~F40에 있습니다.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메모리 해법 사다리 · P/E · BER · DWPD · WAF</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ECC가 RBER을 보상했듯 P/E 감소는 WAF로 보상해야 하며, 이는 호스트 공동 설계로만 가능합니다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QLC의 내구성 격차를 어느 계층이 해소하는가: SSD 단독 최적화는 QoS·성능은 개선했으나 WAF는 낮추지 못했습니다.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olution_metrics_chart.png"/>
          <p:cNvPicPr>
            <a:picLocks noChangeAspect="1"/>
          </p:cNvPicPr>
          <p:nvPr/>
        </p:nvPicPr>
        <p:blipFill>
          <a:blip r:embed="rId2"/>
          <a:stretch>
            <a:fillRect/>
          </a:stretch>
        </p:blipFill>
        <p:spPr>
          <a:xfrm>
            <a:off x="722376" y="2560320"/>
            <a:ext cx="10285615" cy="5852160"/>
          </a:xfrm>
          <a:prstGeom prst="rect">
            <a:avLst/>
          </a:prstGeom>
        </p:spPr>
      </p:pic>
      <p:sp>
        <p:nvSpPr>
          <p:cNvPr id="9" name="Rectangle 8"/>
          <p:cNvSpPr/>
          <p:nvPr/>
        </p:nvSpPr>
        <p:spPr>
          <a:xfrm>
            <a:off x="11318886" y="2560320"/>
            <a:ext cx="6246737" cy="12435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556630" y="2670048"/>
            <a:ext cx="5771249" cy="256032"/>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DWPD 산식 — 항별 결정 주체</a:t>
            </a:r>
          </a:p>
        </p:txBody>
      </p:sp>
      <p:sp>
        <p:nvSpPr>
          <p:cNvPr id="11" name="Rectangle 10"/>
          <p:cNvSpPr/>
          <p:nvPr/>
        </p:nvSpPr>
        <p:spPr>
          <a:xfrm>
            <a:off x="11415591" y="3054096"/>
            <a:ext cx="932688" cy="420624"/>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15591" y="3054096"/>
            <a:ext cx="932688" cy="420624"/>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DWPD</a:t>
            </a:r>
          </a:p>
        </p:txBody>
      </p:sp>
      <p:sp>
        <p:nvSpPr>
          <p:cNvPr id="13" name="TextBox 12"/>
          <p:cNvSpPr txBox="1"/>
          <p:nvPr/>
        </p:nvSpPr>
        <p:spPr>
          <a:xfrm>
            <a:off x="11324151" y="3511296"/>
            <a:ext cx="1115568" cy="201168"/>
          </a:xfrm>
          <a:prstGeom prst="rect">
            <a:avLst/>
          </a:prstGeom>
          <a:noFill/>
        </p:spPr>
        <p:txBody>
          <a:bodyPr wrap="square" anchor="t" lIns="0" rIns="0" tIns="0" bIns="0">
            <a:spAutoFit/>
          </a:bodyPr>
          <a:lstStyle/>
          <a:p>
            <a:pPr algn="ctr">
              <a:lnSpc>
                <a:spcPct val="112000"/>
              </a:lnSpc>
            </a:pPr>
            <a:r>
              <a:rPr sz="975" b="0">
                <a:solidFill>
                  <a:srgbClr val="8A8A8A"/>
                </a:solidFill>
                <a:latin typeface="Arial"/>
                <a:ea typeface="Arial"/>
              </a:rPr>
              <a:t>고객 요구</a:t>
            </a:r>
          </a:p>
        </p:txBody>
      </p:sp>
      <p:sp>
        <p:nvSpPr>
          <p:cNvPr id="14" name="TextBox 13"/>
          <p:cNvSpPr txBox="1"/>
          <p:nvPr/>
        </p:nvSpPr>
        <p:spPr>
          <a:xfrm>
            <a:off x="12403143" y="3054096"/>
            <a:ext cx="237744" cy="420624"/>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15" name="Rectangle 14"/>
          <p:cNvSpPr/>
          <p:nvPr/>
        </p:nvSpPr>
        <p:spPr>
          <a:xfrm>
            <a:off x="12695751" y="3054096"/>
            <a:ext cx="932688" cy="4206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695751" y="3054096"/>
            <a:ext cx="932688" cy="420624"/>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P/E</a:t>
            </a:r>
          </a:p>
        </p:txBody>
      </p:sp>
      <p:sp>
        <p:nvSpPr>
          <p:cNvPr id="17" name="TextBox 16"/>
          <p:cNvSpPr txBox="1"/>
          <p:nvPr/>
        </p:nvSpPr>
        <p:spPr>
          <a:xfrm>
            <a:off x="12604311" y="3511296"/>
            <a:ext cx="1115568" cy="201168"/>
          </a:xfrm>
          <a:prstGeom prst="rect">
            <a:avLst/>
          </a:prstGeom>
          <a:noFill/>
        </p:spPr>
        <p:txBody>
          <a:bodyPr wrap="square" anchor="t" lIns="0" rIns="0" tIns="0" bIns="0">
            <a:spAutoFit/>
          </a:bodyPr>
          <a:lstStyle/>
          <a:p>
            <a:pPr algn="ctr">
              <a:lnSpc>
                <a:spcPct val="112000"/>
              </a:lnSpc>
            </a:pPr>
            <a:r>
              <a:rPr sz="975" b="0">
                <a:solidFill>
                  <a:srgbClr val="8A8A8A"/>
                </a:solidFill>
                <a:latin typeface="Arial"/>
                <a:ea typeface="Arial"/>
              </a:rPr>
              <a:t>셀 · 다이</a:t>
            </a:r>
          </a:p>
        </p:txBody>
      </p:sp>
      <p:sp>
        <p:nvSpPr>
          <p:cNvPr id="18" name="TextBox 17"/>
          <p:cNvSpPr txBox="1"/>
          <p:nvPr/>
        </p:nvSpPr>
        <p:spPr>
          <a:xfrm>
            <a:off x="13683303" y="3054096"/>
            <a:ext cx="237744" cy="420624"/>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19" name="Rectangle 18"/>
          <p:cNvSpPr/>
          <p:nvPr/>
        </p:nvSpPr>
        <p:spPr>
          <a:xfrm>
            <a:off x="13975911" y="3054096"/>
            <a:ext cx="932688" cy="4206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975911" y="3054096"/>
            <a:ext cx="932688" cy="420624"/>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1 + OP</a:t>
            </a:r>
          </a:p>
        </p:txBody>
      </p:sp>
      <p:sp>
        <p:nvSpPr>
          <p:cNvPr id="21" name="TextBox 20"/>
          <p:cNvSpPr txBox="1"/>
          <p:nvPr/>
        </p:nvSpPr>
        <p:spPr>
          <a:xfrm>
            <a:off x="13884471" y="3511296"/>
            <a:ext cx="1115568" cy="201168"/>
          </a:xfrm>
          <a:prstGeom prst="rect">
            <a:avLst/>
          </a:prstGeom>
          <a:noFill/>
        </p:spPr>
        <p:txBody>
          <a:bodyPr wrap="square" anchor="t" lIns="0" rIns="0" tIns="0" bIns="0">
            <a:spAutoFit/>
          </a:bodyPr>
          <a:lstStyle/>
          <a:p>
            <a:pPr algn="ctr">
              <a:lnSpc>
                <a:spcPct val="112000"/>
              </a:lnSpc>
            </a:pPr>
            <a:r>
              <a:rPr sz="975" b="0">
                <a:solidFill>
                  <a:srgbClr val="8A8A8A"/>
                </a:solidFill>
                <a:latin typeface="Arial"/>
                <a:ea typeface="Arial"/>
              </a:rPr>
              <a:t>디바이스</a:t>
            </a:r>
          </a:p>
        </p:txBody>
      </p:sp>
      <p:sp>
        <p:nvSpPr>
          <p:cNvPr id="22" name="TextBox 21"/>
          <p:cNvSpPr txBox="1"/>
          <p:nvPr/>
        </p:nvSpPr>
        <p:spPr>
          <a:xfrm>
            <a:off x="14963463" y="3054096"/>
            <a:ext cx="237744" cy="420624"/>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23" name="Rectangle 22"/>
          <p:cNvSpPr/>
          <p:nvPr/>
        </p:nvSpPr>
        <p:spPr>
          <a:xfrm>
            <a:off x="15256071" y="3054096"/>
            <a:ext cx="932688" cy="4206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5256071" y="3054096"/>
            <a:ext cx="932688" cy="420624"/>
          </a:xfrm>
          <a:prstGeom prst="rect">
            <a:avLst/>
          </a:prstGeom>
          <a:noFill/>
        </p:spPr>
        <p:txBody>
          <a:bodyPr wrap="square" anchor="ctr" lIns="0" rIns="0" tIns="0" bIns="0">
            <a:spAutoFit/>
          </a:bodyPr>
          <a:lstStyle/>
          <a:p>
            <a:pPr algn="ctr">
              <a:lnSpc>
                <a:spcPct val="112000"/>
              </a:lnSpc>
            </a:pPr>
            <a:r>
              <a:rPr sz="1350" b="1">
                <a:solidFill>
                  <a:srgbClr val="FFFFFF"/>
                </a:solidFill>
                <a:latin typeface="Arial"/>
                <a:ea typeface="Arial"/>
              </a:rPr>
              <a:t>WAF</a:t>
            </a:r>
          </a:p>
        </p:txBody>
      </p:sp>
      <p:sp>
        <p:nvSpPr>
          <p:cNvPr id="25" name="TextBox 24"/>
          <p:cNvSpPr txBox="1"/>
          <p:nvPr/>
        </p:nvSpPr>
        <p:spPr>
          <a:xfrm>
            <a:off x="15164631" y="3511296"/>
            <a:ext cx="1115568" cy="201168"/>
          </a:xfrm>
          <a:prstGeom prst="rect">
            <a:avLst/>
          </a:prstGeom>
          <a:noFill/>
        </p:spPr>
        <p:txBody>
          <a:bodyPr wrap="square" anchor="t" lIns="0" rIns="0" tIns="0" bIns="0">
            <a:spAutoFit/>
          </a:bodyPr>
          <a:lstStyle/>
          <a:p>
            <a:pPr algn="ctr">
              <a:lnSpc>
                <a:spcPct val="112000"/>
              </a:lnSpc>
            </a:pPr>
            <a:r>
              <a:rPr sz="975" b="1">
                <a:solidFill>
                  <a:srgbClr val="1428A0"/>
                </a:solidFill>
                <a:latin typeface="Arial"/>
                <a:ea typeface="Arial"/>
              </a:rPr>
              <a:t>호스트 · 앱</a:t>
            </a:r>
          </a:p>
        </p:txBody>
      </p:sp>
      <p:sp>
        <p:nvSpPr>
          <p:cNvPr id="26" name="TextBox 25"/>
          <p:cNvSpPr txBox="1"/>
          <p:nvPr/>
        </p:nvSpPr>
        <p:spPr>
          <a:xfrm>
            <a:off x="16243623" y="3054096"/>
            <a:ext cx="237744" cy="420624"/>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27" name="Rectangle 26"/>
          <p:cNvSpPr/>
          <p:nvPr/>
        </p:nvSpPr>
        <p:spPr>
          <a:xfrm>
            <a:off x="16536231" y="3054096"/>
            <a:ext cx="932688" cy="420624"/>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6536231" y="3054096"/>
            <a:ext cx="932688" cy="420624"/>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365 × 년</a:t>
            </a:r>
          </a:p>
        </p:txBody>
      </p:sp>
      <p:sp>
        <p:nvSpPr>
          <p:cNvPr id="29" name="TextBox 28"/>
          <p:cNvSpPr txBox="1"/>
          <p:nvPr/>
        </p:nvSpPr>
        <p:spPr>
          <a:xfrm>
            <a:off x="16444791" y="3511296"/>
            <a:ext cx="1115568" cy="201168"/>
          </a:xfrm>
          <a:prstGeom prst="rect">
            <a:avLst/>
          </a:prstGeom>
          <a:noFill/>
        </p:spPr>
        <p:txBody>
          <a:bodyPr wrap="square" anchor="t" lIns="0" rIns="0" tIns="0" bIns="0">
            <a:spAutoFit/>
          </a:bodyPr>
          <a:lstStyle/>
          <a:p>
            <a:pPr algn="ctr">
              <a:lnSpc>
                <a:spcPct val="112000"/>
              </a:lnSpc>
            </a:pPr>
            <a:r>
              <a:rPr sz="975" b="0">
                <a:solidFill>
                  <a:srgbClr val="8A8A8A"/>
                </a:solidFill>
                <a:latin typeface="Arial"/>
                <a:ea typeface="Arial"/>
              </a:rPr>
              <a:t>고객 요구</a:t>
            </a:r>
          </a:p>
        </p:txBody>
      </p:sp>
      <p:sp>
        <p:nvSpPr>
          <p:cNvPr id="30" name="Rectangle 29"/>
          <p:cNvSpPr/>
          <p:nvPr/>
        </p:nvSpPr>
        <p:spPr>
          <a:xfrm>
            <a:off x="11318886" y="3968496"/>
            <a:ext cx="6246737" cy="44622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1556630" y="4078224"/>
            <a:ext cx="5771249" cy="256032"/>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이관의 3단계 — 요구 고정 · 단품 지표 악화 · 보상 계층의 상승</a:t>
            </a:r>
          </a:p>
        </p:txBody>
      </p:sp>
      <p:sp>
        <p:nvSpPr>
          <p:cNvPr id="32" name="TextBox 31"/>
          <p:cNvSpPr txBox="1"/>
          <p:nvPr/>
        </p:nvSpPr>
        <p:spPr>
          <a:xfrm>
            <a:off x="11556630" y="4462272"/>
            <a:ext cx="3393809" cy="219456"/>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1단계  NAND → SSD  (1991~)</a:t>
            </a:r>
          </a:p>
        </p:txBody>
      </p:sp>
      <p:sp>
        <p:nvSpPr>
          <p:cNvPr id="33" name="TextBox 32"/>
          <p:cNvSpPr txBox="1"/>
          <p:nvPr/>
        </p:nvSpPr>
        <p:spPr>
          <a:xfrm>
            <a:off x="14950439" y="4462272"/>
            <a:ext cx="2377440" cy="219456"/>
          </a:xfrm>
          <a:prstGeom prst="rect">
            <a:avLst/>
          </a:prstGeom>
          <a:noFill/>
        </p:spPr>
        <p:txBody>
          <a:bodyPr wrap="square" anchor="t" lIns="0" rIns="0" tIns="0" bIns="0">
            <a:spAutoFit/>
          </a:bodyPr>
          <a:lstStyle/>
          <a:p>
            <a:pPr algn="r">
              <a:lnSpc>
                <a:spcPct val="112000"/>
              </a:lnSpc>
            </a:pPr>
            <a:r>
              <a:rPr sz="1050" b="1">
                <a:solidFill>
                  <a:srgbClr val="1428A0"/>
                </a:solidFill>
                <a:latin typeface="Arial"/>
                <a:ea typeface="Arial"/>
              </a:rPr>
              <a:t>UBER 요구 충족</a:t>
            </a:r>
          </a:p>
        </p:txBody>
      </p:sp>
      <p:sp>
        <p:nvSpPr>
          <p:cNvPr id="34" name="Rectangle 33"/>
          <p:cNvSpPr/>
          <p:nvPr/>
        </p:nvSpPr>
        <p:spPr>
          <a:xfrm>
            <a:off x="11556630" y="4736592"/>
            <a:ext cx="1716485" cy="786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648070" y="4791455"/>
            <a:ext cx="1533605"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셀</a:t>
            </a:r>
          </a:p>
        </p:txBody>
      </p:sp>
      <p:sp>
        <p:nvSpPr>
          <p:cNvPr id="36" name="TextBox 35"/>
          <p:cNvSpPr txBox="1"/>
          <p:nvPr/>
        </p:nvSpPr>
        <p:spPr>
          <a:xfrm>
            <a:off x="11648070" y="4983479"/>
            <a:ext cx="1533605" cy="237744"/>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RBER 백만 배 ↑</a:t>
            </a:r>
          </a:p>
        </p:txBody>
      </p:sp>
      <p:sp>
        <p:nvSpPr>
          <p:cNvPr id="37" name="TextBox 36"/>
          <p:cNvSpPr txBox="1"/>
          <p:nvPr/>
        </p:nvSpPr>
        <p:spPr>
          <a:xfrm>
            <a:off x="11648070" y="5221224"/>
            <a:ext cx="1533605" cy="274320"/>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산포가 시간에 따라 변화</a:t>
            </a:r>
          </a:p>
        </p:txBody>
      </p:sp>
      <p:sp>
        <p:nvSpPr>
          <p:cNvPr id="38" name="Right Arrow 37"/>
          <p:cNvSpPr/>
          <p:nvPr/>
        </p:nvSpPr>
        <p:spPr>
          <a:xfrm>
            <a:off x="13318836" y="5038344"/>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3584012" y="4736592"/>
            <a:ext cx="1716485" cy="7863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3675452" y="4791455"/>
            <a:ext cx="1533605" cy="201168"/>
          </a:xfrm>
          <a:prstGeom prst="rect">
            <a:avLst/>
          </a:prstGeom>
          <a:noFill/>
        </p:spPr>
        <p:txBody>
          <a:bodyPr wrap="square" anchor="t" lIns="0" rIns="0" tIns="0" bIns="0">
            <a:spAutoFit/>
          </a:bodyPr>
          <a:lstStyle/>
          <a:p>
            <a:pPr algn="l">
              <a:lnSpc>
                <a:spcPct val="112000"/>
              </a:lnSpc>
            </a:pPr>
            <a:r>
              <a:rPr sz="975" b="0">
                <a:solidFill>
                  <a:srgbClr val="FFFFFF"/>
                </a:solidFill>
                <a:latin typeface="Arial"/>
                <a:ea typeface="Arial"/>
              </a:rPr>
              <a:t>컨트롤러</a:t>
            </a:r>
          </a:p>
        </p:txBody>
      </p:sp>
      <p:sp>
        <p:nvSpPr>
          <p:cNvPr id="41" name="TextBox 40"/>
          <p:cNvSpPr txBox="1"/>
          <p:nvPr/>
        </p:nvSpPr>
        <p:spPr>
          <a:xfrm>
            <a:off x="13675452" y="4983479"/>
            <a:ext cx="1533605" cy="237744"/>
          </a:xfrm>
          <a:prstGeom prst="rect">
            <a:avLst/>
          </a:prstGeom>
          <a:noFill/>
        </p:spPr>
        <p:txBody>
          <a:bodyPr wrap="square" anchor="t" lIns="0" rIns="0" tIns="0" bIns="0">
            <a:spAutoFit/>
          </a:bodyPr>
          <a:lstStyle/>
          <a:p>
            <a:pPr algn="l">
              <a:lnSpc>
                <a:spcPct val="112000"/>
              </a:lnSpc>
            </a:pPr>
            <a:r>
              <a:rPr sz="1200" b="1">
                <a:solidFill>
                  <a:srgbClr val="FFFFFF"/>
                </a:solidFill>
                <a:latin typeface="Arial"/>
                <a:ea typeface="Arial"/>
              </a:rPr>
              <a:t>ECC 60배 ↑</a:t>
            </a:r>
          </a:p>
        </p:txBody>
      </p:sp>
      <p:sp>
        <p:nvSpPr>
          <p:cNvPr id="42" name="TextBox 41"/>
          <p:cNvSpPr txBox="1"/>
          <p:nvPr/>
        </p:nvSpPr>
        <p:spPr>
          <a:xfrm>
            <a:off x="13675452" y="5221224"/>
            <a:ext cx="1533605" cy="274320"/>
          </a:xfrm>
          <a:prstGeom prst="rect">
            <a:avLst/>
          </a:prstGeom>
          <a:noFill/>
        </p:spPr>
        <p:txBody>
          <a:bodyPr wrap="square" anchor="t" lIns="0" rIns="0" tIns="0" bIns="0">
            <a:spAutoFit/>
          </a:bodyPr>
          <a:lstStyle/>
          <a:p>
            <a:pPr algn="l">
              <a:lnSpc>
                <a:spcPct val="100000"/>
              </a:lnSpc>
            </a:pPr>
            <a:r>
              <a:rPr sz="875" b="0">
                <a:solidFill>
                  <a:srgbClr val="FFFFFF"/>
                </a:solidFill>
                <a:latin typeface="Arial"/>
                <a:ea typeface="Arial"/>
              </a:rPr>
              <a:t>1bit/512B → LDPC 120bit/KB</a:t>
            </a:r>
          </a:p>
        </p:txBody>
      </p:sp>
      <p:sp>
        <p:nvSpPr>
          <p:cNvPr id="43" name="Right Arrow 42"/>
          <p:cNvSpPr/>
          <p:nvPr/>
        </p:nvSpPr>
        <p:spPr>
          <a:xfrm>
            <a:off x="15346218" y="5038344"/>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5611394" y="4736592"/>
            <a:ext cx="1716485" cy="786384"/>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5702834" y="4791455"/>
            <a:ext cx="1533605"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고객</a:t>
            </a:r>
          </a:p>
        </p:txBody>
      </p:sp>
      <p:sp>
        <p:nvSpPr>
          <p:cNvPr id="46" name="TextBox 45"/>
          <p:cNvSpPr txBox="1"/>
          <p:nvPr/>
        </p:nvSpPr>
        <p:spPr>
          <a:xfrm>
            <a:off x="15702834" y="4983479"/>
            <a:ext cx="1533605" cy="237744"/>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UBER 요구 충족</a:t>
            </a:r>
          </a:p>
        </p:txBody>
      </p:sp>
      <p:sp>
        <p:nvSpPr>
          <p:cNvPr id="47" name="TextBox 46"/>
          <p:cNvSpPr txBox="1"/>
          <p:nvPr/>
        </p:nvSpPr>
        <p:spPr>
          <a:xfrm>
            <a:off x="15702834" y="5221224"/>
            <a:ext cx="1533605" cy="274320"/>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JESD218 유지</a:t>
            </a:r>
          </a:p>
        </p:txBody>
      </p:sp>
      <p:sp>
        <p:nvSpPr>
          <p:cNvPr id="48" name="TextBox 47"/>
          <p:cNvSpPr txBox="1"/>
          <p:nvPr/>
        </p:nvSpPr>
        <p:spPr>
          <a:xfrm>
            <a:off x="11556630" y="5705856"/>
            <a:ext cx="3393809" cy="219456"/>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2단계  SSD 단독 워크로드 최적화  (2014~2019)</a:t>
            </a:r>
          </a:p>
        </p:txBody>
      </p:sp>
      <p:sp>
        <p:nvSpPr>
          <p:cNvPr id="49" name="TextBox 48"/>
          <p:cNvSpPr txBox="1"/>
          <p:nvPr/>
        </p:nvSpPr>
        <p:spPr>
          <a:xfrm>
            <a:off x="14950439" y="5705856"/>
            <a:ext cx="2377440" cy="219456"/>
          </a:xfrm>
          <a:prstGeom prst="rect">
            <a:avLst/>
          </a:prstGeom>
          <a:noFill/>
        </p:spPr>
        <p:txBody>
          <a:bodyPr wrap="square" anchor="t" lIns="0" rIns="0" tIns="0" bIns="0">
            <a:spAutoFit/>
          </a:bodyPr>
          <a:lstStyle/>
          <a:p>
            <a:pPr algn="r">
              <a:lnSpc>
                <a:spcPct val="112000"/>
              </a:lnSpc>
            </a:pPr>
            <a:r>
              <a:rPr sz="1050" b="1">
                <a:solidFill>
                  <a:srgbClr val="8A8A8A"/>
                </a:solidFill>
                <a:latin typeface="Arial"/>
                <a:ea typeface="Arial"/>
              </a:rPr>
              <a:t>DWPD 요구 미충족 · 부분 성공</a:t>
            </a:r>
          </a:p>
        </p:txBody>
      </p:sp>
      <p:sp>
        <p:nvSpPr>
          <p:cNvPr id="50" name="Rectangle 49"/>
          <p:cNvSpPr/>
          <p:nvPr/>
        </p:nvSpPr>
        <p:spPr>
          <a:xfrm>
            <a:off x="11556630" y="5980176"/>
            <a:ext cx="1716485" cy="786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1648070" y="6035040"/>
            <a:ext cx="1533605"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셀 · SSD</a:t>
            </a:r>
          </a:p>
        </p:txBody>
      </p:sp>
      <p:sp>
        <p:nvSpPr>
          <p:cNvPr id="52" name="TextBox 51"/>
          <p:cNvSpPr txBox="1"/>
          <p:nvPr/>
        </p:nvSpPr>
        <p:spPr>
          <a:xfrm>
            <a:off x="11648070" y="6227064"/>
            <a:ext cx="1533605" cy="237744"/>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P/E 100배 ↓</a:t>
            </a:r>
          </a:p>
        </p:txBody>
      </p:sp>
      <p:sp>
        <p:nvSpPr>
          <p:cNvPr id="53" name="TextBox 52"/>
          <p:cNvSpPr txBox="1"/>
          <p:nvPr/>
        </p:nvSpPr>
        <p:spPr>
          <a:xfrm>
            <a:off x="11648070" y="6464808"/>
            <a:ext cx="1533605" cy="274320"/>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정격 DWPD 0.4</a:t>
            </a:r>
          </a:p>
        </p:txBody>
      </p:sp>
      <p:sp>
        <p:nvSpPr>
          <p:cNvPr id="54" name="Right Arrow 53"/>
          <p:cNvSpPr/>
          <p:nvPr/>
        </p:nvSpPr>
        <p:spPr>
          <a:xfrm>
            <a:off x="13318836" y="6281928"/>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3584012" y="5980176"/>
            <a:ext cx="1716485" cy="78638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3675452" y="6035040"/>
            <a:ext cx="1533605" cy="201168"/>
          </a:xfrm>
          <a:prstGeom prst="rect">
            <a:avLst/>
          </a:prstGeom>
          <a:noFill/>
        </p:spPr>
        <p:txBody>
          <a:bodyPr wrap="square" anchor="t" lIns="0" rIns="0" tIns="0" bIns="0">
            <a:spAutoFit/>
          </a:bodyPr>
          <a:lstStyle/>
          <a:p>
            <a:pPr algn="l">
              <a:lnSpc>
                <a:spcPct val="112000"/>
              </a:lnSpc>
            </a:pPr>
            <a:r>
              <a:rPr sz="975" b="0">
                <a:solidFill>
                  <a:srgbClr val="1A1A1A"/>
                </a:solidFill>
                <a:latin typeface="Arial"/>
                <a:ea typeface="Arial"/>
              </a:rPr>
              <a:t>SSD · 드라이버</a:t>
            </a:r>
          </a:p>
        </p:txBody>
      </p:sp>
      <p:sp>
        <p:nvSpPr>
          <p:cNvPr id="57" name="TextBox 56"/>
          <p:cNvSpPr txBox="1"/>
          <p:nvPr/>
        </p:nvSpPr>
        <p:spPr>
          <a:xfrm>
            <a:off x="13675452" y="6227064"/>
            <a:ext cx="1533605" cy="237744"/>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QoS · 성능 개선</a:t>
            </a:r>
          </a:p>
        </p:txBody>
      </p:sp>
      <p:sp>
        <p:nvSpPr>
          <p:cNvPr id="58" name="TextBox 57"/>
          <p:cNvSpPr txBox="1"/>
          <p:nvPr/>
        </p:nvSpPr>
        <p:spPr>
          <a:xfrm>
            <a:off x="13675452" y="6464808"/>
            <a:ext cx="1533605" cy="274320"/>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핫/콜드 추정 · 스트림 · IO 결정성 → WAF ≈ 3 유지</a:t>
            </a:r>
          </a:p>
        </p:txBody>
      </p:sp>
      <p:sp>
        <p:nvSpPr>
          <p:cNvPr id="59" name="Right Arrow 58"/>
          <p:cNvSpPr/>
          <p:nvPr/>
        </p:nvSpPr>
        <p:spPr>
          <a:xfrm>
            <a:off x="15346218" y="6281928"/>
            <a:ext cx="219456"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5611394" y="5980176"/>
            <a:ext cx="1716485" cy="786384"/>
          </a:xfrm>
          <a:prstGeom prst="rect">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5702834" y="6035040"/>
            <a:ext cx="1533605"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고객</a:t>
            </a:r>
          </a:p>
        </p:txBody>
      </p:sp>
      <p:sp>
        <p:nvSpPr>
          <p:cNvPr id="62" name="TextBox 61"/>
          <p:cNvSpPr txBox="1"/>
          <p:nvPr/>
        </p:nvSpPr>
        <p:spPr>
          <a:xfrm>
            <a:off x="15702834" y="6227064"/>
            <a:ext cx="1533605" cy="237744"/>
          </a:xfrm>
          <a:prstGeom prst="rect">
            <a:avLst/>
          </a:prstGeom>
          <a:noFill/>
        </p:spPr>
        <p:txBody>
          <a:bodyPr wrap="square" anchor="t" lIns="0" rIns="0" tIns="0" bIns="0">
            <a:spAutoFit/>
          </a:bodyPr>
          <a:lstStyle/>
          <a:p>
            <a:pPr algn="l">
              <a:lnSpc>
                <a:spcPct val="112000"/>
              </a:lnSpc>
            </a:pPr>
            <a:r>
              <a:rPr sz="1200" b="1">
                <a:solidFill>
                  <a:srgbClr val="555555"/>
                </a:solidFill>
                <a:latin typeface="Arial"/>
                <a:ea typeface="Arial"/>
              </a:rPr>
              <a:t>DWPD 요구 미충족</a:t>
            </a:r>
          </a:p>
        </p:txBody>
      </p:sp>
      <p:sp>
        <p:nvSpPr>
          <p:cNvPr id="63" name="TextBox 62"/>
          <p:cNvSpPr txBox="1"/>
          <p:nvPr/>
        </p:nvSpPr>
        <p:spPr>
          <a:xfrm>
            <a:off x="15702834" y="6464808"/>
            <a:ext cx="1533605" cy="274320"/>
          </a:xfrm>
          <a:prstGeom prst="rect">
            <a:avLst/>
          </a:prstGeom>
          <a:noFill/>
        </p:spPr>
        <p:txBody>
          <a:bodyPr wrap="square" anchor="t" lIns="0" rIns="0" tIns="0" bIns="0">
            <a:spAutoFit/>
          </a:bodyPr>
          <a:lstStyle/>
          <a:p>
            <a:pPr algn="l">
              <a:lnSpc>
                <a:spcPct val="100000"/>
              </a:lnSpc>
            </a:pPr>
            <a:r>
              <a:rPr sz="875" b="0">
                <a:solidFill>
                  <a:srgbClr val="8A8A8A"/>
                </a:solidFill>
                <a:latin typeface="Arial"/>
                <a:ea typeface="Arial"/>
              </a:rPr>
              <a:t>격차 10~40배</a:t>
            </a:r>
          </a:p>
        </p:txBody>
      </p:sp>
      <p:sp>
        <p:nvSpPr>
          <p:cNvPr id="64" name="TextBox 63"/>
          <p:cNvSpPr txBox="1"/>
          <p:nvPr/>
        </p:nvSpPr>
        <p:spPr>
          <a:xfrm>
            <a:off x="11556630" y="6949440"/>
            <a:ext cx="3393809" cy="219456"/>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3단계  호스트 시스템 공동 설계  (2022~, 본 덱)</a:t>
            </a:r>
          </a:p>
        </p:txBody>
      </p:sp>
      <p:sp>
        <p:nvSpPr>
          <p:cNvPr id="65" name="TextBox 64"/>
          <p:cNvSpPr txBox="1"/>
          <p:nvPr/>
        </p:nvSpPr>
        <p:spPr>
          <a:xfrm>
            <a:off x="14950439" y="6949440"/>
            <a:ext cx="2377440" cy="219456"/>
          </a:xfrm>
          <a:prstGeom prst="rect">
            <a:avLst/>
          </a:prstGeom>
          <a:noFill/>
        </p:spPr>
        <p:txBody>
          <a:bodyPr wrap="square" anchor="t" lIns="0" rIns="0" tIns="0" bIns="0">
            <a:spAutoFit/>
          </a:bodyPr>
          <a:lstStyle/>
          <a:p>
            <a:pPr algn="r">
              <a:lnSpc>
                <a:spcPct val="112000"/>
              </a:lnSpc>
            </a:pPr>
            <a:r>
              <a:rPr sz="1050" b="1">
                <a:solidFill>
                  <a:srgbClr val="1428A0"/>
                </a:solidFill>
                <a:latin typeface="Arial"/>
                <a:ea typeface="Arial"/>
              </a:rPr>
              <a:t>DWPD 요구 충족 · 유일한 경로</a:t>
            </a:r>
          </a:p>
        </p:txBody>
      </p:sp>
      <p:sp>
        <p:nvSpPr>
          <p:cNvPr id="66" name="Rectangle 65"/>
          <p:cNvSpPr/>
          <p:nvPr/>
        </p:nvSpPr>
        <p:spPr>
          <a:xfrm>
            <a:off x="11556630" y="7223760"/>
            <a:ext cx="1716485" cy="786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1648070" y="7278624"/>
            <a:ext cx="1533605"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호스트 · 앱</a:t>
            </a:r>
          </a:p>
        </p:txBody>
      </p:sp>
      <p:sp>
        <p:nvSpPr>
          <p:cNvPr id="68" name="TextBox 67"/>
          <p:cNvSpPr txBox="1"/>
          <p:nvPr/>
        </p:nvSpPr>
        <p:spPr>
          <a:xfrm>
            <a:off x="11648070" y="7470648"/>
            <a:ext cx="1533605" cy="237744"/>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데이터 수명 지정</a:t>
            </a:r>
          </a:p>
        </p:txBody>
      </p:sp>
      <p:sp>
        <p:nvSpPr>
          <p:cNvPr id="69" name="TextBox 68"/>
          <p:cNvSpPr txBox="1"/>
          <p:nvPr/>
        </p:nvSpPr>
        <p:spPr>
          <a:xfrm>
            <a:off x="11648070" y="7708392"/>
            <a:ext cx="1533605" cy="274320"/>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배치 표준 · 캐시 관리자 정책</a:t>
            </a:r>
          </a:p>
        </p:txBody>
      </p:sp>
      <p:sp>
        <p:nvSpPr>
          <p:cNvPr id="70" name="Right Arrow 69"/>
          <p:cNvSpPr/>
          <p:nvPr/>
        </p:nvSpPr>
        <p:spPr>
          <a:xfrm>
            <a:off x="13318836" y="7525512"/>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3584012" y="7223760"/>
            <a:ext cx="1716485" cy="7863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3675452" y="7278624"/>
            <a:ext cx="1533605" cy="201168"/>
          </a:xfrm>
          <a:prstGeom prst="rect">
            <a:avLst/>
          </a:prstGeom>
          <a:noFill/>
        </p:spPr>
        <p:txBody>
          <a:bodyPr wrap="square" anchor="t" lIns="0" rIns="0" tIns="0" bIns="0">
            <a:spAutoFit/>
          </a:bodyPr>
          <a:lstStyle/>
          <a:p>
            <a:pPr algn="l">
              <a:lnSpc>
                <a:spcPct val="112000"/>
              </a:lnSpc>
            </a:pPr>
            <a:r>
              <a:rPr sz="975" b="0">
                <a:solidFill>
                  <a:srgbClr val="FFFFFF"/>
                </a:solidFill>
                <a:latin typeface="Arial"/>
                <a:ea typeface="Arial"/>
              </a:rPr>
              <a:t>삼성 · 고객 공동 설계</a:t>
            </a:r>
          </a:p>
        </p:txBody>
      </p:sp>
      <p:sp>
        <p:nvSpPr>
          <p:cNvPr id="73" name="TextBox 72"/>
          <p:cNvSpPr txBox="1"/>
          <p:nvPr/>
        </p:nvSpPr>
        <p:spPr>
          <a:xfrm>
            <a:off x="13675452" y="7470648"/>
            <a:ext cx="1533605" cy="237744"/>
          </a:xfrm>
          <a:prstGeom prst="rect">
            <a:avLst/>
          </a:prstGeom>
          <a:noFill/>
        </p:spPr>
        <p:txBody>
          <a:bodyPr wrap="square" anchor="t" lIns="0" rIns="0" tIns="0" bIns="0">
            <a:spAutoFit/>
          </a:bodyPr>
          <a:lstStyle/>
          <a:p>
            <a:pPr algn="l">
              <a:lnSpc>
                <a:spcPct val="112000"/>
              </a:lnSpc>
            </a:pPr>
            <a:r>
              <a:rPr sz="1200" b="1">
                <a:solidFill>
                  <a:srgbClr val="FFFFFF"/>
                </a:solidFill>
                <a:latin typeface="Arial"/>
                <a:ea typeface="Arial"/>
              </a:rPr>
              <a:t>WAF 3.2 → 1.0</a:t>
            </a:r>
          </a:p>
        </p:txBody>
      </p:sp>
      <p:sp>
        <p:nvSpPr>
          <p:cNvPr id="74" name="TextBox 73"/>
          <p:cNvSpPr txBox="1"/>
          <p:nvPr/>
        </p:nvSpPr>
        <p:spPr>
          <a:xfrm>
            <a:off x="13675452" y="7708392"/>
            <a:ext cx="1533605" cy="274320"/>
          </a:xfrm>
          <a:prstGeom prst="rect">
            <a:avLst/>
          </a:prstGeom>
          <a:noFill/>
        </p:spPr>
        <p:txBody>
          <a:bodyPr wrap="square" anchor="t" lIns="0" rIns="0" tIns="0" bIns="0">
            <a:spAutoFit/>
          </a:bodyPr>
          <a:lstStyle/>
          <a:p>
            <a:pPr algn="l">
              <a:lnSpc>
                <a:spcPct val="100000"/>
              </a:lnSpc>
            </a:pPr>
            <a:r>
              <a:rPr sz="875" b="0">
                <a:solidFill>
                  <a:srgbClr val="FFFFFF"/>
                </a:solidFill>
                <a:latin typeface="Arial"/>
                <a:ea typeface="Arial"/>
              </a:rPr>
              <a:t>FDE · SCA · 유효 DWPD ×3.1</a:t>
            </a:r>
          </a:p>
        </p:txBody>
      </p:sp>
      <p:sp>
        <p:nvSpPr>
          <p:cNvPr id="75" name="Right Arrow 74"/>
          <p:cNvSpPr/>
          <p:nvPr/>
        </p:nvSpPr>
        <p:spPr>
          <a:xfrm>
            <a:off x="15346218" y="7525512"/>
            <a:ext cx="219456"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5611394" y="7223760"/>
            <a:ext cx="1716485" cy="786384"/>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5702834" y="7278624"/>
            <a:ext cx="1533605"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고객</a:t>
            </a:r>
          </a:p>
        </p:txBody>
      </p:sp>
      <p:sp>
        <p:nvSpPr>
          <p:cNvPr id="78" name="TextBox 77"/>
          <p:cNvSpPr txBox="1"/>
          <p:nvPr/>
        </p:nvSpPr>
        <p:spPr>
          <a:xfrm>
            <a:off x="15702834" y="7470648"/>
            <a:ext cx="1533605" cy="237744"/>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DWPD 요구 충족</a:t>
            </a:r>
          </a:p>
        </p:txBody>
      </p:sp>
      <p:sp>
        <p:nvSpPr>
          <p:cNvPr id="79" name="TextBox 78"/>
          <p:cNvSpPr txBox="1"/>
          <p:nvPr/>
        </p:nvSpPr>
        <p:spPr>
          <a:xfrm>
            <a:off x="15702834" y="7708392"/>
            <a:ext cx="1533605" cy="274320"/>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QLC로 정격 내 수명 보증</a:t>
            </a:r>
          </a:p>
        </p:txBody>
      </p:sp>
      <p:sp>
        <p:nvSpPr>
          <p:cNvPr id="80" name="Rectangle 79"/>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82" name="TextBox 81"/>
          <p:cNvSpPr txBox="1"/>
          <p:nvPr/>
        </p:nvSpPr>
        <p:spPr>
          <a:xfrm>
            <a:off x="2551176" y="8613648"/>
            <a:ext cx="14648688" cy="731520"/>
          </a:xfrm>
          <a:prstGeom prst="rect">
            <a:avLst/>
          </a:prstGeom>
          <a:noFill/>
        </p:spPr>
        <p:txBody>
          <a:bodyPr wrap="square" anchor="ctr" lIns="0" rIns="0" tIns="0" bIns="0">
            <a:spAutoFit/>
          </a:bodyPr>
          <a:lstStyle/>
          <a:p>
            <a:pPr algn="l">
              <a:lnSpc>
                <a:spcPct val="108000"/>
              </a:lnSpc>
            </a:pPr>
            <a:r>
              <a:rPr sz="1700" b="1">
                <a:solidFill>
                  <a:srgbClr val="FFFFFF"/>
                </a:solidFill>
                <a:latin typeface="Arial"/>
                <a:ea typeface="Arial"/>
              </a:rPr>
              <a:t>요구(UBER·DWPD)는 고정, 단품 지표(RBER·P/E)는 악화, 격차는 상위 계층의 변수(ECC·WAF)가 보상해 왔습니다.</a:t>
            </a:r>
          </a:p>
          <a:p>
            <a:pPr algn="l">
              <a:lnSpc>
                <a:spcPct val="108000"/>
              </a:lnSpc>
            </a:pPr>
            <a:r>
              <a:rPr sz="1700" b="1">
                <a:solidFill>
                  <a:srgbClr val="FFFFFF"/>
                </a:solidFill>
                <a:latin typeface="Arial"/>
                <a:ea typeface="Arial"/>
              </a:rPr>
              <a:t>QLC로 요구 DWPD를 충족하는 경로는 호스트 시스템 공동 설계뿐이며, 이는 산식의 귀결입니다</a:t>
            </a:r>
          </a:p>
        </p:txBody>
      </p:sp>
      <p:sp>
        <p:nvSpPr>
          <p:cNvPr id="83" name="TextBox 8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JESD218(UBER·보존), ATP·Kioxia(DWPD 산식·WAF 3), Intel X25-E·S3700·P4510 및 Solidigm P5316 사양(정격 DWPD), Mielke·Cai(RBER), WD ECC/DSP 백서(LDPC 120bit/KB), CacheLib FDP(WAF), HotStorage'14·SYSTOR'17·NVMe 1.4(SSD 단독 최적화) · 등급은 보고서 부록 A F28~F40</a:t>
            </a:r>
          </a:p>
        </p:txBody>
      </p:sp>
      <p:sp>
        <p:nvSpPr>
          <p:cNvPr id="84" name="TextBox 8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