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이관 매트릭스입니다. 열은 이관 단계이고 행은 두 축입니다. 요구는 고객이 정하고 고정입니다. 단품 지표는 셀과 다이의 지표이며 세대마다 악화됩니다. 보상은 먼저 SSD 계층에서, 다음은 호스트·시스템 계층에서 이뤄집니다. 두 행 사이의 산식 DWPD = P/E × (1+OP) ÷ WAF ÷ 365 × 년은 각 항의 결정 주체가 열과 대응함을 보입니다. P/E는 셀, OP는 SSD, WAF는 호스트·앱, 년과 요구 DWPD는 고객입니다. 내구성 행. 요구: 추론 캐시 계층은 DWPD 1~3(현재 TLC 수준, ScaleFlux 제시 유효 요구 7~10), UBER는 JESD218 기준 10의 -15승·-16승으로 고정입니다. 단품: 비트/셀을 늘릴수록 P/E 사이클은 SLC 30K~100K에서 QLC 100~1K로 100배 감소했고, RBER은 약 백만 배 상승했습니다. 보존·사이클링·리드 디스터브로 시간에 따라 변하는 산포는 셀 단독으로 보정할 수 없습니다. SSD 계층: 1단계 컨트롤러 ECC는 1비트/512B에서 LDPC 120비트/KB로 60배 강화돼 UBER 요구를 충족했습니다. 완결된 이관입니다. 2단계 SSD 단독 워크로드 최적화(2014~2019: Multi-stream·AutoStream·FTL 핫/콜드 추정·NVMe IO 결정성)는 QoS와 성능은 개선했으나 데이터 수명을 SSD가 감지할 수 없어 실 워크로드 WAF는 3 수준에 머물렀고, 정격 DWPD는 17에서 0.4로 내려와 요구 1~3과 10~40배 격차가 생겼습니다. 부분 성공입니다. 호스트·시스템 계층: 3단계 호스트 시스템 공동 설계는 호스트가 데이터 수명을 지정(배치 표준)하고 캐시 관리자·애플리케이션 정책까지 함께 설계해 WAF를 3.22에서 1.03으로 낮췄습니다. 68% 감소, 유효 DWPD 3.1배이며 DWPD 요구를 충족합니다. QLC로 요구 DWPD를 충족하는 유일한 경로이고 본 덱 2~5장이 이 단계입니다. 신뢰성 행. 요구: JESD218 기능 고장률 FFR 3% 이하로 고정입니다. 보호가 없으면 SSD 고장률은 다이 수 N에 비례하므로 칩 면적이 커질수록 수율이 떨어지는 것과 같은 구조입니다. 단품: SSD당 NAND 다이 수는 S3700 800GB 128개(2012)에서 Kioxia LC9 245TB 1,024개(2025, 2Tb 다이 32단 스택 32패키지)로 8배 늘었고, 같은 FFR을 지키려면 다이 고장률을 8배 낮추거나 다이 고장을 허용해야 합니다. 다이 고장률 개선은 기술적 한계에 닿았습니다. SSD 계층(현재 해법): 다이 RAID(Micron RAIN, 슈퍼페이지 XOR 패리티 다이), 여분 다이, 다이 은퇴와 감량 운영(삼성 Fail-in-Place PM1733: 고장 다이를 제외하고 4~8GB 감량 운영)입니다. 패리티와 예비 용량 오버헤드가 다이 수와 함께 증가합니다. 상위 계층(SSD 단독 한계 시): OCP SMART의 XOR 복구 카운트로 호스트가 다이 복구를 관측하고, Microsoft Hyrax처럼 플랫폼이 감량 운영을 수용하며, 드라이브 간 소거 부호가 SSD 고장을 흡수합니다. 결론: 두 축 모두 요구는 고정이고 단품은 악화되며 보상은 상위 계층으로 이관됩니다. QLC로 요구 DWPD를 충족하는 경로는 호스트 시스템 공동 설계뿐이며 이는 산식의 귀결입니다. 그 규격이 언제 정의되는지가 2장입니다. 근거 등급은 보고서 부록 A F28~F47에 있습니다.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메모리 해법 사다리 · 이관 매트릭스</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요구는 고정, 단품은 악화, 보상은 상위 계층으로: QLC의 DWPD는 호스트 공동 설계로만 충족됩니다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내구성 축과 신뢰성 축 모두 같은 구조입니다. SSD 단독 최적화는 QoS·성능은 개선했으나 WAF는 낮추지 못했습니다.</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039112" y="2560320"/>
            <a:ext cx="3675888" cy="512064"/>
          </a:xfrm>
          <a:prstGeom prst="rect">
            <a:avLst/>
          </a:prstGeom>
          <a:solidFill>
            <a:srgbClr val="F4F6FC"/>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67128" y="2615184"/>
            <a:ext cx="3419856"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요구</a:t>
            </a:r>
          </a:p>
        </p:txBody>
      </p:sp>
      <p:sp>
        <p:nvSpPr>
          <p:cNvPr id="10" name="TextBox 9"/>
          <p:cNvSpPr txBox="1"/>
          <p:nvPr/>
        </p:nvSpPr>
        <p:spPr>
          <a:xfrm>
            <a:off x="2167128" y="2843784"/>
            <a:ext cx="341985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고객이 정한다 · 고정</a:t>
            </a:r>
          </a:p>
        </p:txBody>
      </p:sp>
      <p:sp>
        <p:nvSpPr>
          <p:cNvPr id="11" name="Rectangle 10"/>
          <p:cNvSpPr/>
          <p:nvPr/>
        </p:nvSpPr>
        <p:spPr>
          <a:xfrm>
            <a:off x="5989320" y="2560320"/>
            <a:ext cx="3675888" cy="5120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17336" y="2615184"/>
            <a:ext cx="3419856"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단품 지표</a:t>
            </a:r>
          </a:p>
        </p:txBody>
      </p:sp>
      <p:sp>
        <p:nvSpPr>
          <p:cNvPr id="13" name="TextBox 12"/>
          <p:cNvSpPr txBox="1"/>
          <p:nvPr/>
        </p:nvSpPr>
        <p:spPr>
          <a:xfrm>
            <a:off x="6117336" y="2843784"/>
            <a:ext cx="341985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셀 · 다이 · 세대마다 악화</a:t>
            </a:r>
          </a:p>
        </p:txBody>
      </p:sp>
      <p:sp>
        <p:nvSpPr>
          <p:cNvPr id="14" name="Right Arrow 13"/>
          <p:cNvSpPr/>
          <p:nvPr/>
        </p:nvSpPr>
        <p:spPr>
          <a:xfrm>
            <a:off x="9692640" y="2715768"/>
            <a:ext cx="219456" cy="201168"/>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9939528" y="2560320"/>
            <a:ext cx="3675888" cy="5120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67544" y="2615184"/>
            <a:ext cx="3419856"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SSD 계층의 보상</a:t>
            </a:r>
          </a:p>
        </p:txBody>
      </p:sp>
      <p:sp>
        <p:nvSpPr>
          <p:cNvPr id="17" name="TextBox 16"/>
          <p:cNvSpPr txBox="1"/>
          <p:nvPr/>
        </p:nvSpPr>
        <p:spPr>
          <a:xfrm>
            <a:off x="10067544" y="2843784"/>
            <a:ext cx="341985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1단계 ECC(완결) · 2단계 단독 최적화(부분 성공)</a:t>
            </a:r>
          </a:p>
        </p:txBody>
      </p:sp>
      <p:sp>
        <p:nvSpPr>
          <p:cNvPr id="18" name="Right Arrow 17"/>
          <p:cNvSpPr/>
          <p:nvPr/>
        </p:nvSpPr>
        <p:spPr>
          <a:xfrm>
            <a:off x="13642848" y="2715768"/>
            <a:ext cx="219456" cy="201168"/>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3889736" y="2560320"/>
            <a:ext cx="3675888" cy="5120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017752" y="2615184"/>
            <a:ext cx="3419856" cy="237744"/>
          </a:xfrm>
          <a:prstGeom prst="rect">
            <a:avLst/>
          </a:prstGeom>
          <a:noFill/>
        </p:spPr>
        <p:txBody>
          <a:bodyPr wrap="square" anchor="t" lIns="0" rIns="0" tIns="0" bIns="0">
            <a:spAutoFit/>
          </a:bodyPr>
          <a:lstStyle/>
          <a:p>
            <a:pPr algn="l">
              <a:lnSpc>
                <a:spcPct val="112000"/>
              </a:lnSpc>
            </a:pPr>
            <a:r>
              <a:rPr sz="1350" b="1">
                <a:solidFill>
                  <a:srgbClr val="FFFFFF"/>
                </a:solidFill>
                <a:latin typeface="Arial"/>
                <a:ea typeface="Arial"/>
              </a:rPr>
              <a:t>호스트 · 시스템 계층의 보상</a:t>
            </a:r>
          </a:p>
        </p:txBody>
      </p:sp>
      <p:sp>
        <p:nvSpPr>
          <p:cNvPr id="21" name="TextBox 20"/>
          <p:cNvSpPr txBox="1"/>
          <p:nvPr/>
        </p:nvSpPr>
        <p:spPr>
          <a:xfrm>
            <a:off x="14017752" y="2843784"/>
            <a:ext cx="3419856" cy="201168"/>
          </a:xfrm>
          <a:prstGeom prst="rect">
            <a:avLst/>
          </a:prstGeom>
          <a:noFill/>
        </p:spPr>
        <p:txBody>
          <a:bodyPr wrap="square" anchor="t" lIns="0" rIns="0" tIns="0" bIns="0">
            <a:spAutoFit/>
          </a:bodyPr>
          <a:lstStyle/>
          <a:p>
            <a:pPr algn="l">
              <a:lnSpc>
                <a:spcPct val="112000"/>
              </a:lnSpc>
            </a:pPr>
            <a:r>
              <a:rPr sz="975" b="0">
                <a:solidFill>
                  <a:srgbClr val="FFFFFF"/>
                </a:solidFill>
                <a:latin typeface="Arial"/>
                <a:ea typeface="Arial"/>
              </a:rPr>
              <a:t>3단계 공동 설계 (2022~, 본 덱 2~5장)</a:t>
            </a:r>
          </a:p>
        </p:txBody>
      </p:sp>
      <p:sp>
        <p:nvSpPr>
          <p:cNvPr id="22" name="TextBox 21"/>
          <p:cNvSpPr txBox="1"/>
          <p:nvPr/>
        </p:nvSpPr>
        <p:spPr>
          <a:xfrm>
            <a:off x="722376" y="2560320"/>
            <a:ext cx="1188720" cy="512064"/>
          </a:xfrm>
          <a:prstGeom prst="rect">
            <a:avLst/>
          </a:prstGeom>
          <a:noFill/>
        </p:spPr>
        <p:txBody>
          <a:bodyPr wrap="square" anchor="ctr" lIns="0" rIns="0" tIns="0" bIns="0">
            <a:spAutoFit/>
          </a:bodyPr>
          <a:lstStyle/>
          <a:p>
            <a:pPr algn="l">
              <a:lnSpc>
                <a:spcPct val="112000"/>
              </a:lnSpc>
            </a:pPr>
            <a:r>
              <a:rPr sz="1050" b="1">
                <a:solidFill>
                  <a:srgbClr val="8A8A8A"/>
                </a:solidFill>
                <a:latin typeface="Arial"/>
                <a:ea typeface="Arial"/>
              </a:rPr>
              <a:t>이관 단계 →</a:t>
            </a:r>
          </a:p>
        </p:txBody>
      </p:sp>
      <p:sp>
        <p:nvSpPr>
          <p:cNvPr id="23" name="Rectangle 22"/>
          <p:cNvSpPr/>
          <p:nvPr/>
        </p:nvSpPr>
        <p:spPr>
          <a:xfrm>
            <a:off x="2039112" y="3145536"/>
            <a:ext cx="15526512" cy="49377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3145536"/>
            <a:ext cx="1188720" cy="493776"/>
          </a:xfrm>
          <a:prstGeom prst="rect">
            <a:avLst/>
          </a:prstGeom>
          <a:noFill/>
        </p:spPr>
        <p:txBody>
          <a:bodyPr wrap="square" anchor="ctr" lIns="0" rIns="0" tIns="0" bIns="0">
            <a:spAutoFit/>
          </a:bodyPr>
          <a:lstStyle/>
          <a:p>
            <a:pPr algn="l">
              <a:lnSpc>
                <a:spcPct val="100000"/>
              </a:lnSpc>
            </a:pPr>
            <a:r>
              <a:rPr sz="1050" b="1">
                <a:solidFill>
                  <a:srgbClr val="1428A0"/>
                </a:solidFill>
                <a:latin typeface="Arial"/>
                <a:ea typeface="Arial"/>
              </a:rPr>
              <a:t>DWPD 산식</a:t>
            </a:r>
          </a:p>
          <a:p>
            <a:pPr algn="l">
              <a:lnSpc>
                <a:spcPct val="100000"/>
              </a:lnSpc>
            </a:pPr>
            <a:r>
              <a:rPr sz="900" b="0">
                <a:solidFill>
                  <a:srgbClr val="8A8A8A"/>
                </a:solidFill>
                <a:latin typeface="Arial"/>
                <a:ea typeface="Arial"/>
              </a:rPr>
              <a:t>항별 결정 주체</a:t>
            </a:r>
          </a:p>
        </p:txBody>
      </p:sp>
      <p:sp>
        <p:nvSpPr>
          <p:cNvPr id="25" name="Rectangle 24"/>
          <p:cNvSpPr/>
          <p:nvPr/>
        </p:nvSpPr>
        <p:spPr>
          <a:xfrm>
            <a:off x="6483096" y="3209544"/>
            <a:ext cx="1005840" cy="274320"/>
          </a:xfrm>
          <a:prstGeom prst="rect">
            <a:avLst/>
          </a:prstGeom>
          <a:solidFill>
            <a:srgbClr val="F4F6FC"/>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83096" y="3209544"/>
            <a:ext cx="1005840" cy="274320"/>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DWPD</a:t>
            </a:r>
          </a:p>
        </p:txBody>
      </p:sp>
      <p:sp>
        <p:nvSpPr>
          <p:cNvPr id="27" name="TextBox 26"/>
          <p:cNvSpPr txBox="1"/>
          <p:nvPr/>
        </p:nvSpPr>
        <p:spPr>
          <a:xfrm>
            <a:off x="6391656" y="3493007"/>
            <a:ext cx="1188720" cy="164592"/>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요구</a:t>
            </a:r>
          </a:p>
        </p:txBody>
      </p:sp>
      <p:sp>
        <p:nvSpPr>
          <p:cNvPr id="28" name="TextBox 27"/>
          <p:cNvSpPr txBox="1"/>
          <p:nvPr/>
        </p:nvSpPr>
        <p:spPr>
          <a:xfrm>
            <a:off x="7562088" y="3209544"/>
            <a:ext cx="256032" cy="274320"/>
          </a:xfrm>
          <a:prstGeom prst="rect">
            <a:avLst/>
          </a:prstGeom>
          <a:noFill/>
        </p:spPr>
        <p:txBody>
          <a:bodyPr wrap="square" anchor="ctr" lIns="0" rIns="0" tIns="0" bIns="0">
            <a:spAutoFit/>
          </a:bodyPr>
          <a:lstStyle/>
          <a:p>
            <a:pPr algn="ctr">
              <a:lnSpc>
                <a:spcPct val="112000"/>
              </a:lnSpc>
            </a:pPr>
            <a:r>
              <a:rPr sz="1300" b="0">
                <a:solidFill>
                  <a:srgbClr val="555555"/>
                </a:solidFill>
                <a:latin typeface="Arial"/>
                <a:ea typeface="Arial"/>
              </a:rPr>
              <a:t>=</a:t>
            </a:r>
          </a:p>
        </p:txBody>
      </p:sp>
      <p:sp>
        <p:nvSpPr>
          <p:cNvPr id="29" name="Rectangle 28"/>
          <p:cNvSpPr/>
          <p:nvPr/>
        </p:nvSpPr>
        <p:spPr>
          <a:xfrm>
            <a:off x="7891271" y="3209544"/>
            <a:ext cx="1005840" cy="2743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91271" y="3209544"/>
            <a:ext cx="1005840" cy="274320"/>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P/E</a:t>
            </a:r>
          </a:p>
        </p:txBody>
      </p:sp>
      <p:sp>
        <p:nvSpPr>
          <p:cNvPr id="31" name="TextBox 30"/>
          <p:cNvSpPr txBox="1"/>
          <p:nvPr/>
        </p:nvSpPr>
        <p:spPr>
          <a:xfrm>
            <a:off x="7799831" y="3493007"/>
            <a:ext cx="1188720" cy="164592"/>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단품(셀)</a:t>
            </a:r>
          </a:p>
        </p:txBody>
      </p:sp>
      <p:sp>
        <p:nvSpPr>
          <p:cNvPr id="32" name="TextBox 31"/>
          <p:cNvSpPr txBox="1"/>
          <p:nvPr/>
        </p:nvSpPr>
        <p:spPr>
          <a:xfrm>
            <a:off x="8970263" y="3209544"/>
            <a:ext cx="256032" cy="274320"/>
          </a:xfrm>
          <a:prstGeom prst="rect">
            <a:avLst/>
          </a:prstGeom>
          <a:noFill/>
        </p:spPr>
        <p:txBody>
          <a:bodyPr wrap="square" anchor="ctr" lIns="0" rIns="0" tIns="0" bIns="0">
            <a:spAutoFit/>
          </a:bodyPr>
          <a:lstStyle/>
          <a:p>
            <a:pPr algn="ctr">
              <a:lnSpc>
                <a:spcPct val="112000"/>
              </a:lnSpc>
            </a:pPr>
            <a:r>
              <a:rPr sz="1300" b="0">
                <a:solidFill>
                  <a:srgbClr val="555555"/>
                </a:solidFill>
                <a:latin typeface="Arial"/>
                <a:ea typeface="Arial"/>
              </a:rPr>
              <a:t>×</a:t>
            </a:r>
          </a:p>
        </p:txBody>
      </p:sp>
      <p:sp>
        <p:nvSpPr>
          <p:cNvPr id="33" name="Rectangle 32"/>
          <p:cNvSpPr/>
          <p:nvPr/>
        </p:nvSpPr>
        <p:spPr>
          <a:xfrm>
            <a:off x="9299447" y="3209544"/>
            <a:ext cx="1005840" cy="2743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99447" y="3209544"/>
            <a:ext cx="1005840" cy="274320"/>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1 + OP</a:t>
            </a:r>
          </a:p>
        </p:txBody>
      </p:sp>
      <p:sp>
        <p:nvSpPr>
          <p:cNvPr id="35" name="TextBox 34"/>
          <p:cNvSpPr txBox="1"/>
          <p:nvPr/>
        </p:nvSpPr>
        <p:spPr>
          <a:xfrm>
            <a:off x="9208007" y="3493007"/>
            <a:ext cx="1188720" cy="164592"/>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SSD</a:t>
            </a:r>
          </a:p>
        </p:txBody>
      </p:sp>
      <p:sp>
        <p:nvSpPr>
          <p:cNvPr id="36" name="TextBox 35"/>
          <p:cNvSpPr txBox="1"/>
          <p:nvPr/>
        </p:nvSpPr>
        <p:spPr>
          <a:xfrm>
            <a:off x="10378439" y="3209544"/>
            <a:ext cx="256032" cy="274320"/>
          </a:xfrm>
          <a:prstGeom prst="rect">
            <a:avLst/>
          </a:prstGeom>
          <a:noFill/>
        </p:spPr>
        <p:txBody>
          <a:bodyPr wrap="square" anchor="ctr" lIns="0" rIns="0" tIns="0" bIns="0">
            <a:spAutoFit/>
          </a:bodyPr>
          <a:lstStyle/>
          <a:p>
            <a:pPr algn="ctr">
              <a:lnSpc>
                <a:spcPct val="112000"/>
              </a:lnSpc>
            </a:pPr>
            <a:r>
              <a:rPr sz="1300" b="0">
                <a:solidFill>
                  <a:srgbClr val="555555"/>
                </a:solidFill>
                <a:latin typeface="Arial"/>
                <a:ea typeface="Arial"/>
              </a:rPr>
              <a:t>÷</a:t>
            </a:r>
          </a:p>
        </p:txBody>
      </p:sp>
      <p:sp>
        <p:nvSpPr>
          <p:cNvPr id="37" name="Rectangle 36"/>
          <p:cNvSpPr/>
          <p:nvPr/>
        </p:nvSpPr>
        <p:spPr>
          <a:xfrm>
            <a:off x="10707623" y="3209544"/>
            <a:ext cx="1005840" cy="2743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707623" y="3209544"/>
            <a:ext cx="1005840" cy="274320"/>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WAF</a:t>
            </a:r>
          </a:p>
        </p:txBody>
      </p:sp>
      <p:sp>
        <p:nvSpPr>
          <p:cNvPr id="39" name="TextBox 38"/>
          <p:cNvSpPr txBox="1"/>
          <p:nvPr/>
        </p:nvSpPr>
        <p:spPr>
          <a:xfrm>
            <a:off x="10616183" y="3493007"/>
            <a:ext cx="1188720" cy="164592"/>
          </a:xfrm>
          <a:prstGeom prst="rect">
            <a:avLst/>
          </a:prstGeom>
          <a:noFill/>
        </p:spPr>
        <p:txBody>
          <a:bodyPr wrap="square" anchor="t" lIns="0" rIns="0" tIns="0" bIns="0">
            <a:spAutoFit/>
          </a:bodyPr>
          <a:lstStyle/>
          <a:p>
            <a:pPr algn="ctr">
              <a:lnSpc>
                <a:spcPct val="112000"/>
              </a:lnSpc>
            </a:pPr>
            <a:r>
              <a:rPr sz="850" b="1">
                <a:solidFill>
                  <a:srgbClr val="1428A0"/>
                </a:solidFill>
                <a:latin typeface="Arial"/>
                <a:ea typeface="Arial"/>
              </a:rPr>
              <a:t>호스트 · 앱</a:t>
            </a:r>
          </a:p>
        </p:txBody>
      </p:sp>
      <p:sp>
        <p:nvSpPr>
          <p:cNvPr id="40" name="TextBox 39"/>
          <p:cNvSpPr txBox="1"/>
          <p:nvPr/>
        </p:nvSpPr>
        <p:spPr>
          <a:xfrm>
            <a:off x="11786615" y="3209544"/>
            <a:ext cx="256032" cy="274320"/>
          </a:xfrm>
          <a:prstGeom prst="rect">
            <a:avLst/>
          </a:prstGeom>
          <a:noFill/>
        </p:spPr>
        <p:txBody>
          <a:bodyPr wrap="square" anchor="ctr" lIns="0" rIns="0" tIns="0" bIns="0">
            <a:spAutoFit/>
          </a:bodyPr>
          <a:lstStyle/>
          <a:p>
            <a:pPr algn="ctr">
              <a:lnSpc>
                <a:spcPct val="112000"/>
              </a:lnSpc>
            </a:pPr>
            <a:r>
              <a:rPr sz="1300" b="0">
                <a:solidFill>
                  <a:srgbClr val="555555"/>
                </a:solidFill>
                <a:latin typeface="Arial"/>
                <a:ea typeface="Arial"/>
              </a:rPr>
              <a:t>÷</a:t>
            </a:r>
          </a:p>
        </p:txBody>
      </p:sp>
      <p:sp>
        <p:nvSpPr>
          <p:cNvPr id="41" name="Rectangle 40"/>
          <p:cNvSpPr/>
          <p:nvPr/>
        </p:nvSpPr>
        <p:spPr>
          <a:xfrm>
            <a:off x="12115799" y="3209544"/>
            <a:ext cx="1005840" cy="274320"/>
          </a:xfrm>
          <a:prstGeom prst="rect">
            <a:avLst/>
          </a:prstGeom>
          <a:solidFill>
            <a:srgbClr val="F4F6FC"/>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2115799" y="3209544"/>
            <a:ext cx="1005840" cy="274320"/>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365 × 년</a:t>
            </a:r>
          </a:p>
        </p:txBody>
      </p:sp>
      <p:sp>
        <p:nvSpPr>
          <p:cNvPr id="43" name="TextBox 42"/>
          <p:cNvSpPr txBox="1"/>
          <p:nvPr/>
        </p:nvSpPr>
        <p:spPr>
          <a:xfrm>
            <a:off x="12024359" y="3493007"/>
            <a:ext cx="1188720" cy="164592"/>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요구</a:t>
            </a:r>
          </a:p>
        </p:txBody>
      </p:sp>
      <p:sp>
        <p:nvSpPr>
          <p:cNvPr id="44" name="Rectangle 43"/>
          <p:cNvSpPr/>
          <p:nvPr/>
        </p:nvSpPr>
        <p:spPr>
          <a:xfrm>
            <a:off x="722376" y="3730752"/>
            <a:ext cx="1188720" cy="2505456"/>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22376" y="3730752"/>
            <a:ext cx="54864" cy="25054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86968" y="3877056"/>
            <a:ext cx="950976" cy="274320"/>
          </a:xfrm>
          <a:prstGeom prst="rect">
            <a:avLst/>
          </a:prstGeom>
          <a:noFill/>
        </p:spPr>
        <p:txBody>
          <a:bodyPr wrap="square" anchor="t" lIns="0" rIns="0" tIns="0" bIns="0">
            <a:spAutoFit/>
          </a:bodyPr>
          <a:lstStyle/>
          <a:p>
            <a:pPr algn="l">
              <a:lnSpc>
                <a:spcPct val="112000"/>
              </a:lnSpc>
            </a:pPr>
            <a:r>
              <a:rPr sz="1275" b="1">
                <a:solidFill>
                  <a:srgbClr val="1428A0"/>
                </a:solidFill>
                <a:latin typeface="Arial"/>
                <a:ea typeface="Arial"/>
              </a:rPr>
              <a:t>내구성 축</a:t>
            </a:r>
          </a:p>
        </p:txBody>
      </p:sp>
      <p:sp>
        <p:nvSpPr>
          <p:cNvPr id="47" name="TextBox 46"/>
          <p:cNvSpPr txBox="1"/>
          <p:nvPr/>
        </p:nvSpPr>
        <p:spPr>
          <a:xfrm>
            <a:off x="886968" y="4187952"/>
            <a:ext cx="950976" cy="548640"/>
          </a:xfrm>
          <a:prstGeom prst="rect">
            <a:avLst/>
          </a:prstGeom>
          <a:noFill/>
        </p:spPr>
        <p:txBody>
          <a:bodyPr wrap="square" anchor="t" lIns="0" rIns="0" tIns="0" bIns="0">
            <a:spAutoFit/>
          </a:bodyPr>
          <a:lstStyle/>
          <a:p>
            <a:pPr algn="l">
              <a:lnSpc>
                <a:spcPct val="100000"/>
              </a:lnSpc>
            </a:pPr>
            <a:r>
              <a:rPr sz="975" b="0">
                <a:solidFill>
                  <a:srgbClr val="555555"/>
                </a:solidFill>
                <a:latin typeface="Arial"/>
                <a:ea typeface="Arial"/>
              </a:rPr>
              <a:t>P/E · BER</a:t>
            </a:r>
          </a:p>
          <a:p>
            <a:pPr algn="l">
              <a:lnSpc>
                <a:spcPct val="100000"/>
              </a:lnSpc>
            </a:pPr>
            <a:r>
              <a:rPr sz="975" b="0">
                <a:solidFill>
                  <a:srgbClr val="555555"/>
                </a:solidFill>
                <a:latin typeface="Arial"/>
                <a:ea typeface="Arial"/>
              </a:rPr>
              <a:t>DWPD · WAF</a:t>
            </a:r>
          </a:p>
        </p:txBody>
      </p:sp>
      <p:sp>
        <p:nvSpPr>
          <p:cNvPr id="48" name="Rectangle 47"/>
          <p:cNvSpPr/>
          <p:nvPr/>
        </p:nvSpPr>
        <p:spPr>
          <a:xfrm>
            <a:off x="722376" y="6345936"/>
            <a:ext cx="1188720" cy="2139696"/>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22376" y="6345936"/>
            <a:ext cx="54864" cy="21396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86968" y="6492240"/>
            <a:ext cx="950976" cy="274320"/>
          </a:xfrm>
          <a:prstGeom prst="rect">
            <a:avLst/>
          </a:prstGeom>
          <a:noFill/>
        </p:spPr>
        <p:txBody>
          <a:bodyPr wrap="square" anchor="t" lIns="0" rIns="0" tIns="0" bIns="0">
            <a:spAutoFit/>
          </a:bodyPr>
          <a:lstStyle/>
          <a:p>
            <a:pPr algn="l">
              <a:lnSpc>
                <a:spcPct val="112000"/>
              </a:lnSpc>
            </a:pPr>
            <a:r>
              <a:rPr sz="1275" b="1">
                <a:solidFill>
                  <a:srgbClr val="1428A0"/>
                </a:solidFill>
                <a:latin typeface="Arial"/>
                <a:ea typeface="Arial"/>
              </a:rPr>
              <a:t>신뢰성 축</a:t>
            </a:r>
          </a:p>
        </p:txBody>
      </p:sp>
      <p:sp>
        <p:nvSpPr>
          <p:cNvPr id="51" name="TextBox 50"/>
          <p:cNvSpPr txBox="1"/>
          <p:nvPr/>
        </p:nvSpPr>
        <p:spPr>
          <a:xfrm>
            <a:off x="886968" y="6803136"/>
            <a:ext cx="950976" cy="548640"/>
          </a:xfrm>
          <a:prstGeom prst="rect">
            <a:avLst/>
          </a:prstGeom>
          <a:noFill/>
        </p:spPr>
        <p:txBody>
          <a:bodyPr wrap="square" anchor="t" lIns="0" rIns="0" tIns="0" bIns="0">
            <a:spAutoFit/>
          </a:bodyPr>
          <a:lstStyle/>
          <a:p>
            <a:pPr algn="l">
              <a:lnSpc>
                <a:spcPct val="100000"/>
              </a:lnSpc>
            </a:pPr>
            <a:r>
              <a:rPr sz="975" b="0">
                <a:solidFill>
                  <a:srgbClr val="555555"/>
                </a:solidFill>
                <a:latin typeface="Arial"/>
                <a:ea typeface="Arial"/>
              </a:rPr>
              <a:t>다이 수</a:t>
            </a:r>
          </a:p>
          <a:p>
            <a:pPr algn="l">
              <a:lnSpc>
                <a:spcPct val="100000"/>
              </a:lnSpc>
            </a:pPr>
            <a:r>
              <a:rPr sz="975" b="0">
                <a:solidFill>
                  <a:srgbClr val="555555"/>
                </a:solidFill>
                <a:latin typeface="Arial"/>
                <a:ea typeface="Arial"/>
              </a:rPr>
              <a:t>다이 고장률</a:t>
            </a:r>
          </a:p>
        </p:txBody>
      </p:sp>
      <p:sp>
        <p:nvSpPr>
          <p:cNvPr id="52" name="Rectangle 51"/>
          <p:cNvSpPr/>
          <p:nvPr/>
        </p:nvSpPr>
        <p:spPr>
          <a:xfrm>
            <a:off x="2039112" y="3730752"/>
            <a:ext cx="3675888" cy="2505456"/>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167128" y="3858768"/>
            <a:ext cx="3419856" cy="182880"/>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추론 캐시 계층 요구</a:t>
            </a:r>
          </a:p>
        </p:txBody>
      </p:sp>
      <p:sp>
        <p:nvSpPr>
          <p:cNvPr id="54" name="TextBox 53"/>
          <p:cNvSpPr txBox="1"/>
          <p:nvPr/>
        </p:nvSpPr>
        <p:spPr>
          <a:xfrm>
            <a:off x="2167128" y="4059936"/>
            <a:ext cx="3419856" cy="457200"/>
          </a:xfrm>
          <a:prstGeom prst="rect">
            <a:avLst/>
          </a:prstGeom>
          <a:noFill/>
        </p:spPr>
        <p:txBody>
          <a:bodyPr wrap="square" anchor="ctr" lIns="0" rIns="0" tIns="0" bIns="0">
            <a:spAutoFit/>
          </a:bodyPr>
          <a:lstStyle/>
          <a:p>
            <a:pPr algn="l">
              <a:lnSpc>
                <a:spcPct val="112000"/>
              </a:lnSpc>
            </a:pPr>
            <a:r>
              <a:rPr sz="2600" b="1">
                <a:solidFill>
                  <a:srgbClr val="1428A0"/>
                </a:solidFill>
                <a:latin typeface="Arial"/>
                <a:ea typeface="Arial"/>
              </a:rPr>
              <a:t>DWPD 1~3</a:t>
            </a:r>
          </a:p>
        </p:txBody>
      </p:sp>
      <p:sp>
        <p:nvSpPr>
          <p:cNvPr id="55" name="TextBox 54"/>
          <p:cNvSpPr txBox="1"/>
          <p:nvPr/>
        </p:nvSpPr>
        <p:spPr>
          <a:xfrm>
            <a:off x="2167128" y="4535424"/>
            <a:ext cx="3419856" cy="365760"/>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현재 TLC 수준 · ScaleFlux 제시 유효 요구 7~10</a:t>
            </a:r>
          </a:p>
        </p:txBody>
      </p:sp>
      <p:sp>
        <p:nvSpPr>
          <p:cNvPr id="56" name="Rectangle 55"/>
          <p:cNvSpPr/>
          <p:nvPr/>
        </p:nvSpPr>
        <p:spPr>
          <a:xfrm>
            <a:off x="2167128" y="4974336"/>
            <a:ext cx="3419856" cy="109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167128" y="5065776"/>
            <a:ext cx="3419856" cy="182880"/>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신뢰성 요구 · JESD218</a:t>
            </a:r>
          </a:p>
        </p:txBody>
      </p:sp>
      <p:sp>
        <p:nvSpPr>
          <p:cNvPr id="58" name="TextBox 57"/>
          <p:cNvSpPr txBox="1"/>
          <p:nvPr/>
        </p:nvSpPr>
        <p:spPr>
          <a:xfrm>
            <a:off x="2167128" y="5266944"/>
            <a:ext cx="3419856" cy="457200"/>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UBER 10</a:t>
            </a:r>
            <a:r>
              <a:rPr sz="1300" b="1" baseline="30000">
                <a:solidFill>
                  <a:srgbClr val="1428A0"/>
                </a:solidFill>
                <a:latin typeface="Arial"/>
                <a:ea typeface="Arial"/>
              </a:rPr>
              <a:t>-15</a:t>
            </a:r>
            <a:r>
              <a:rPr sz="2200" b="1">
                <a:solidFill>
                  <a:srgbClr val="1428A0"/>
                </a:solidFill>
                <a:latin typeface="Arial"/>
                <a:ea typeface="Arial"/>
              </a:rPr>
              <a:t> · 10</a:t>
            </a:r>
            <a:r>
              <a:rPr sz="1300" b="1" baseline="30000">
                <a:solidFill>
                  <a:srgbClr val="1428A0"/>
                </a:solidFill>
                <a:latin typeface="Arial"/>
                <a:ea typeface="Arial"/>
              </a:rPr>
              <a:t>-16</a:t>
            </a:r>
          </a:p>
        </p:txBody>
      </p:sp>
      <p:sp>
        <p:nvSpPr>
          <p:cNvPr id="59" name="TextBox 58"/>
          <p:cNvSpPr txBox="1"/>
          <p:nvPr/>
        </p:nvSpPr>
        <p:spPr>
          <a:xfrm>
            <a:off x="2167128" y="5742432"/>
            <a:ext cx="3419856" cy="365760"/>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클라이언트 · 엔터프라이즈 · 보존 1년@30°C / 3개월@40°C</a:t>
            </a:r>
          </a:p>
        </p:txBody>
      </p:sp>
      <p:sp>
        <p:nvSpPr>
          <p:cNvPr id="60" name="Rectangle 59"/>
          <p:cNvSpPr/>
          <p:nvPr/>
        </p:nvSpPr>
        <p:spPr>
          <a:xfrm>
            <a:off x="5989320" y="3730752"/>
            <a:ext cx="3675888" cy="25054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1" name="Picture 60" descr="ladder_cell_component.png"/>
          <p:cNvPicPr>
            <a:picLocks noChangeAspect="1"/>
          </p:cNvPicPr>
          <p:nvPr/>
        </p:nvPicPr>
        <p:blipFill>
          <a:blip r:embed="rId2"/>
          <a:stretch>
            <a:fillRect/>
          </a:stretch>
        </p:blipFill>
        <p:spPr>
          <a:xfrm>
            <a:off x="6080760" y="3822191"/>
            <a:ext cx="3493008" cy="1941961"/>
          </a:xfrm>
          <a:prstGeom prst="rect">
            <a:avLst/>
          </a:prstGeom>
        </p:spPr>
      </p:pic>
      <p:sp>
        <p:nvSpPr>
          <p:cNvPr id="62" name="TextBox 61"/>
          <p:cNvSpPr txBox="1"/>
          <p:nvPr/>
        </p:nvSpPr>
        <p:spPr>
          <a:xfrm>
            <a:off x="6117336" y="5852160"/>
            <a:ext cx="3419856" cy="329184"/>
          </a:xfrm>
          <a:prstGeom prst="rect">
            <a:avLst/>
          </a:prstGeom>
          <a:noFill/>
        </p:spPr>
        <p:txBody>
          <a:bodyPr wrap="square" anchor="t" lIns="0" rIns="0" tIns="0" bIns="0">
            <a:spAutoFit/>
          </a:bodyPr>
          <a:lstStyle/>
          <a:p>
            <a:pPr algn="l">
              <a:lnSpc>
                <a:spcPct val="100000"/>
              </a:lnSpc>
            </a:pPr>
            <a:r>
              <a:rPr sz="850" b="0">
                <a:solidFill>
                  <a:srgbClr val="555555"/>
                </a:solidFill>
                <a:latin typeface="Arial"/>
                <a:ea typeface="Arial"/>
              </a:rPr>
              <a:t>비트/셀 ↑ → 산포 마진 ↓ · 보존·사이클링·리드 디스터브로 시간에 따라 변하는 산포는 셀 단독으로 보정 불가</a:t>
            </a:r>
          </a:p>
        </p:txBody>
      </p:sp>
      <p:sp>
        <p:nvSpPr>
          <p:cNvPr id="63" name="Rectangle 62"/>
          <p:cNvSpPr/>
          <p:nvPr/>
        </p:nvSpPr>
        <p:spPr>
          <a:xfrm>
            <a:off x="9939528" y="3730752"/>
            <a:ext cx="3675888" cy="25054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0030968" y="3822191"/>
            <a:ext cx="3493008" cy="658368"/>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0030968" y="3822191"/>
            <a:ext cx="54864" cy="6583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0177272" y="3877055"/>
            <a:ext cx="2011680" cy="182880"/>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1단계 · 컨트롤러 ECC (1991~)</a:t>
            </a:r>
          </a:p>
        </p:txBody>
      </p:sp>
      <p:sp>
        <p:nvSpPr>
          <p:cNvPr id="67" name="TextBox 66"/>
          <p:cNvSpPr txBox="1"/>
          <p:nvPr/>
        </p:nvSpPr>
        <p:spPr>
          <a:xfrm>
            <a:off x="12152376" y="3877055"/>
            <a:ext cx="1280160" cy="201168"/>
          </a:xfrm>
          <a:prstGeom prst="rect">
            <a:avLst/>
          </a:prstGeom>
          <a:noFill/>
        </p:spPr>
        <p:txBody>
          <a:bodyPr wrap="square" anchor="t" lIns="0" rIns="0" tIns="0" bIns="0">
            <a:spAutoFit/>
          </a:bodyPr>
          <a:lstStyle/>
          <a:p>
            <a:pPr algn="r">
              <a:lnSpc>
                <a:spcPct val="112000"/>
              </a:lnSpc>
            </a:pPr>
            <a:r>
              <a:rPr sz="975" b="1">
                <a:solidFill>
                  <a:srgbClr val="1428A0"/>
                </a:solidFill>
                <a:latin typeface="Arial"/>
                <a:ea typeface="Arial"/>
              </a:rPr>
              <a:t>UBER 요구 충족</a:t>
            </a:r>
          </a:p>
        </p:txBody>
      </p:sp>
      <p:sp>
        <p:nvSpPr>
          <p:cNvPr id="68" name="TextBox 67"/>
          <p:cNvSpPr txBox="1"/>
          <p:nvPr/>
        </p:nvSpPr>
        <p:spPr>
          <a:xfrm>
            <a:off x="10177272" y="4069079"/>
            <a:ext cx="3255264"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ECC 1 bit/512B → LDPC 120 bit/KB · 60배 ↑</a:t>
            </a:r>
          </a:p>
        </p:txBody>
      </p:sp>
      <p:sp>
        <p:nvSpPr>
          <p:cNvPr id="69" name="TextBox 68"/>
          <p:cNvSpPr txBox="1"/>
          <p:nvPr/>
        </p:nvSpPr>
        <p:spPr>
          <a:xfrm>
            <a:off x="10177272" y="4297679"/>
            <a:ext cx="3255264" cy="201168"/>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RBER 백만 배 상승분을 컨트롤러가 흡수 · 완결된 이관</a:t>
            </a:r>
          </a:p>
        </p:txBody>
      </p:sp>
      <p:sp>
        <p:nvSpPr>
          <p:cNvPr id="70" name="Rectangle 69"/>
          <p:cNvSpPr/>
          <p:nvPr/>
        </p:nvSpPr>
        <p:spPr>
          <a:xfrm>
            <a:off x="10030968" y="4571999"/>
            <a:ext cx="3493008" cy="15727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0177272" y="4626863"/>
            <a:ext cx="2194560" cy="182880"/>
          </a:xfrm>
          <a:prstGeom prst="rect">
            <a:avLst/>
          </a:prstGeom>
          <a:noFill/>
        </p:spPr>
        <p:txBody>
          <a:bodyPr wrap="square" anchor="t" lIns="0" rIns="0" tIns="0" bIns="0">
            <a:spAutoFit/>
          </a:bodyPr>
          <a:lstStyle/>
          <a:p>
            <a:pPr algn="l">
              <a:lnSpc>
                <a:spcPct val="112000"/>
              </a:lnSpc>
            </a:pPr>
            <a:r>
              <a:rPr sz="975" b="0">
                <a:solidFill>
                  <a:srgbClr val="1A1A1A"/>
                </a:solidFill>
                <a:latin typeface="Arial"/>
                <a:ea typeface="Arial"/>
              </a:rPr>
              <a:t>2단계 · SSD 단독 최적화</a:t>
            </a:r>
          </a:p>
        </p:txBody>
      </p:sp>
      <p:sp>
        <p:nvSpPr>
          <p:cNvPr id="72" name="TextBox 71"/>
          <p:cNvSpPr txBox="1"/>
          <p:nvPr/>
        </p:nvSpPr>
        <p:spPr>
          <a:xfrm>
            <a:off x="12152376" y="4626863"/>
            <a:ext cx="1280160" cy="201168"/>
          </a:xfrm>
          <a:prstGeom prst="rect">
            <a:avLst/>
          </a:prstGeom>
          <a:noFill/>
        </p:spPr>
        <p:txBody>
          <a:bodyPr wrap="square" anchor="t" lIns="0" rIns="0" tIns="0" bIns="0">
            <a:spAutoFit/>
          </a:bodyPr>
          <a:lstStyle/>
          <a:p>
            <a:pPr algn="r">
              <a:lnSpc>
                <a:spcPct val="112000"/>
              </a:lnSpc>
            </a:pPr>
            <a:r>
              <a:rPr sz="975" b="1">
                <a:solidFill>
                  <a:srgbClr val="8A8A8A"/>
                </a:solidFill>
                <a:latin typeface="Arial"/>
                <a:ea typeface="Arial"/>
              </a:rPr>
              <a:t>DWPD 요구 미충족</a:t>
            </a:r>
          </a:p>
        </p:txBody>
      </p:sp>
      <p:sp>
        <p:nvSpPr>
          <p:cNvPr id="73" name="TextBox 72"/>
          <p:cNvSpPr txBox="1"/>
          <p:nvPr/>
        </p:nvSpPr>
        <p:spPr>
          <a:xfrm>
            <a:off x="10177272" y="4818888"/>
            <a:ext cx="3255264"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QoS · 성능 개선, WAF ≈ 3 · 부분 성공</a:t>
            </a:r>
          </a:p>
        </p:txBody>
      </p:sp>
      <p:sp>
        <p:nvSpPr>
          <p:cNvPr id="74" name="TextBox 73"/>
          <p:cNvSpPr txBox="1"/>
          <p:nvPr/>
        </p:nvSpPr>
        <p:spPr>
          <a:xfrm>
            <a:off x="10177272" y="5047488"/>
            <a:ext cx="3255264" cy="201168"/>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'14~'19 추정 배치·스트림·IOD · SSD는 데이터 수명 감지 불가</a:t>
            </a:r>
          </a:p>
        </p:txBody>
      </p:sp>
      <p:pic>
        <p:nvPicPr>
          <p:cNvPr id="75" name="Picture 74" descr="ladder_cell_dwpd.png"/>
          <p:cNvPicPr>
            <a:picLocks noChangeAspect="1"/>
          </p:cNvPicPr>
          <p:nvPr/>
        </p:nvPicPr>
        <p:blipFill>
          <a:blip r:embed="rId3"/>
          <a:stretch>
            <a:fillRect/>
          </a:stretch>
        </p:blipFill>
        <p:spPr>
          <a:xfrm>
            <a:off x="10291572" y="5248655"/>
            <a:ext cx="2971800" cy="878983"/>
          </a:xfrm>
          <a:prstGeom prst="rect">
            <a:avLst/>
          </a:prstGeom>
        </p:spPr>
      </p:pic>
      <p:sp>
        <p:nvSpPr>
          <p:cNvPr id="76" name="Rectangle 75"/>
          <p:cNvSpPr/>
          <p:nvPr/>
        </p:nvSpPr>
        <p:spPr>
          <a:xfrm>
            <a:off x="13889736" y="3730752"/>
            <a:ext cx="3675888" cy="2505456"/>
          </a:xfrm>
          <a:prstGeom prst="rect">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4017752" y="3840480"/>
            <a:ext cx="2377440" cy="182880"/>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3단계 · 호스트 시스템 공동 설계 (2022~)</a:t>
            </a:r>
          </a:p>
        </p:txBody>
      </p:sp>
      <p:sp>
        <p:nvSpPr>
          <p:cNvPr id="78" name="TextBox 77"/>
          <p:cNvSpPr txBox="1"/>
          <p:nvPr/>
        </p:nvSpPr>
        <p:spPr>
          <a:xfrm>
            <a:off x="16157448" y="3840480"/>
            <a:ext cx="1280160" cy="201168"/>
          </a:xfrm>
          <a:prstGeom prst="rect">
            <a:avLst/>
          </a:prstGeom>
          <a:noFill/>
        </p:spPr>
        <p:txBody>
          <a:bodyPr wrap="square" anchor="t" lIns="0" rIns="0" tIns="0" bIns="0">
            <a:spAutoFit/>
          </a:bodyPr>
          <a:lstStyle/>
          <a:p>
            <a:pPr algn="r">
              <a:lnSpc>
                <a:spcPct val="112000"/>
              </a:lnSpc>
            </a:pPr>
            <a:r>
              <a:rPr sz="975" b="1">
                <a:solidFill>
                  <a:srgbClr val="1428A0"/>
                </a:solidFill>
                <a:latin typeface="Arial"/>
                <a:ea typeface="Arial"/>
              </a:rPr>
              <a:t>DWPD 요구 충족</a:t>
            </a:r>
          </a:p>
        </p:txBody>
      </p:sp>
      <p:sp>
        <p:nvSpPr>
          <p:cNvPr id="79" name="TextBox 78"/>
          <p:cNvSpPr txBox="1"/>
          <p:nvPr/>
        </p:nvSpPr>
        <p:spPr>
          <a:xfrm>
            <a:off x="14017752" y="4041648"/>
            <a:ext cx="3419856" cy="237744"/>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호스트가 데이터 수명을 지정 → WAF 3.2 → 1.0</a:t>
            </a:r>
          </a:p>
        </p:txBody>
      </p:sp>
      <p:sp>
        <p:nvSpPr>
          <p:cNvPr id="80" name="TextBox 79"/>
          <p:cNvSpPr txBox="1"/>
          <p:nvPr/>
        </p:nvSpPr>
        <p:spPr>
          <a:xfrm>
            <a:off x="14017752" y="4279392"/>
            <a:ext cx="3419856" cy="201168"/>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배치 표준 · 캐시 관리자 정책 · FDE·SCA 공동 설계 = 본 덱 2~5장</a:t>
            </a:r>
          </a:p>
        </p:txBody>
      </p:sp>
      <p:pic>
        <p:nvPicPr>
          <p:cNvPr id="81" name="Picture 80" descr="ladder_cell_waf.png"/>
          <p:cNvPicPr>
            <a:picLocks noChangeAspect="1"/>
          </p:cNvPicPr>
          <p:nvPr/>
        </p:nvPicPr>
        <p:blipFill>
          <a:blip r:embed="rId4"/>
          <a:stretch>
            <a:fillRect/>
          </a:stretch>
        </p:blipFill>
        <p:spPr>
          <a:xfrm>
            <a:off x="14090904" y="4535424"/>
            <a:ext cx="3273552" cy="1198766"/>
          </a:xfrm>
          <a:prstGeom prst="rect">
            <a:avLst/>
          </a:prstGeom>
        </p:spPr>
      </p:pic>
      <p:sp>
        <p:nvSpPr>
          <p:cNvPr id="82" name="TextBox 81"/>
          <p:cNvSpPr txBox="1"/>
          <p:nvPr/>
        </p:nvSpPr>
        <p:spPr>
          <a:xfrm>
            <a:off x="14017752" y="5870448"/>
            <a:ext cx="3419856" cy="310896"/>
          </a:xfrm>
          <a:prstGeom prst="rect">
            <a:avLst/>
          </a:prstGeom>
          <a:noFill/>
        </p:spPr>
        <p:txBody>
          <a:bodyPr wrap="square" anchor="ctr" lIns="0" rIns="0" tIns="0" bIns="0">
            <a:spAutoFit/>
          </a:bodyPr>
          <a:lstStyle/>
          <a:p>
            <a:pPr algn="l">
              <a:lnSpc>
                <a:spcPct val="112000"/>
              </a:lnSpc>
            </a:pPr>
            <a:r>
              <a:rPr sz="975" b="1">
                <a:solidFill>
                  <a:srgbClr val="1428A0"/>
                </a:solidFill>
                <a:latin typeface="Arial"/>
                <a:ea typeface="Arial"/>
              </a:rPr>
              <a:t>QLC로 요구 DWPD를 충족하는 유일한 경로 · 산식의 귀결</a:t>
            </a:r>
          </a:p>
        </p:txBody>
      </p:sp>
      <p:sp>
        <p:nvSpPr>
          <p:cNvPr id="83" name="Rectangle 82"/>
          <p:cNvSpPr/>
          <p:nvPr/>
        </p:nvSpPr>
        <p:spPr>
          <a:xfrm>
            <a:off x="2039112" y="6345936"/>
            <a:ext cx="3675888" cy="2139696"/>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2167128" y="6473952"/>
            <a:ext cx="3419856" cy="182880"/>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기능 고장률 요구 · JESD218</a:t>
            </a:r>
          </a:p>
        </p:txBody>
      </p:sp>
      <p:sp>
        <p:nvSpPr>
          <p:cNvPr id="85" name="TextBox 84"/>
          <p:cNvSpPr txBox="1"/>
          <p:nvPr/>
        </p:nvSpPr>
        <p:spPr>
          <a:xfrm>
            <a:off x="2167128" y="6711696"/>
            <a:ext cx="3419856" cy="548640"/>
          </a:xfrm>
          <a:prstGeom prst="rect">
            <a:avLst/>
          </a:prstGeom>
          <a:noFill/>
        </p:spPr>
        <p:txBody>
          <a:bodyPr wrap="square" anchor="ctr" lIns="0" rIns="0" tIns="0" bIns="0">
            <a:spAutoFit/>
          </a:bodyPr>
          <a:lstStyle/>
          <a:p>
            <a:pPr algn="l">
              <a:lnSpc>
                <a:spcPct val="112000"/>
              </a:lnSpc>
            </a:pPr>
            <a:r>
              <a:rPr sz="3000" b="1">
                <a:solidFill>
                  <a:srgbClr val="1428A0"/>
                </a:solidFill>
                <a:latin typeface="Arial"/>
                <a:ea typeface="Arial"/>
              </a:rPr>
              <a:t>FFR ≤ 3%</a:t>
            </a:r>
          </a:p>
        </p:txBody>
      </p:sp>
      <p:sp>
        <p:nvSpPr>
          <p:cNvPr id="86" name="TextBox 85"/>
          <p:cNvSpPr txBox="1"/>
          <p:nvPr/>
        </p:nvSpPr>
        <p:spPr>
          <a:xfrm>
            <a:off x="2167128" y="7333488"/>
            <a:ext cx="3419856" cy="822960"/>
          </a:xfrm>
          <a:prstGeom prst="rect">
            <a:avLst/>
          </a:prstGeom>
          <a:noFill/>
        </p:spPr>
        <p:txBody>
          <a:bodyPr wrap="square" anchor="t" lIns="0" rIns="0" tIns="0" bIns="0">
            <a:spAutoFit/>
          </a:bodyPr>
          <a:lstStyle/>
          <a:p>
            <a:pPr algn="l">
              <a:lnSpc>
                <a:spcPct val="106000"/>
              </a:lnSpc>
            </a:pPr>
            <a:r>
              <a:rPr sz="975" b="0">
                <a:solidFill>
                  <a:srgbClr val="555555"/>
                </a:solidFill>
                <a:latin typeface="Arial"/>
                <a:ea typeface="Arial"/>
              </a:rPr>
              <a:t>클라이언트 · 엔터프라이즈 공통 · 고정</a:t>
            </a:r>
          </a:p>
          <a:p>
            <a:pPr algn="l">
              <a:lnSpc>
                <a:spcPct val="106000"/>
              </a:lnSpc>
            </a:pPr>
            <a:r>
              <a:rPr sz="975" b="1">
                <a:solidFill>
                  <a:srgbClr val="1A1A1A"/>
                </a:solidFill>
                <a:latin typeface="Arial"/>
                <a:ea typeface="Arial"/>
              </a:rPr>
              <a:t>보호 없는 SSD 고장률 ≈ N × 다이 고장률</a:t>
            </a:r>
          </a:p>
          <a:p>
            <a:pPr algn="l">
              <a:lnSpc>
                <a:spcPct val="106000"/>
              </a:lnSpc>
            </a:pPr>
            <a:r>
              <a:rPr sz="900" b="0">
                <a:solidFill>
                  <a:srgbClr val="555555"/>
                </a:solidFill>
                <a:latin typeface="Arial"/>
                <a:ea typeface="Arial"/>
              </a:rPr>
              <a:t>칩 면적이 클수록 수율이 떨어지는 것과 같은 구조</a:t>
            </a:r>
          </a:p>
        </p:txBody>
      </p:sp>
      <p:sp>
        <p:nvSpPr>
          <p:cNvPr id="87" name="Rectangle 86"/>
          <p:cNvSpPr/>
          <p:nvPr/>
        </p:nvSpPr>
        <p:spPr>
          <a:xfrm>
            <a:off x="5989320" y="6345936"/>
            <a:ext cx="3675888" cy="21396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8" name="Picture 87" descr="ladder_cell_dies.png"/>
          <p:cNvPicPr>
            <a:picLocks noChangeAspect="1"/>
          </p:cNvPicPr>
          <p:nvPr/>
        </p:nvPicPr>
        <p:blipFill>
          <a:blip r:embed="rId5"/>
          <a:stretch>
            <a:fillRect/>
          </a:stretch>
        </p:blipFill>
        <p:spPr>
          <a:xfrm>
            <a:off x="6080760" y="6437376"/>
            <a:ext cx="3493008" cy="1433352"/>
          </a:xfrm>
          <a:prstGeom prst="rect">
            <a:avLst/>
          </a:prstGeom>
        </p:spPr>
      </p:pic>
      <p:sp>
        <p:nvSpPr>
          <p:cNvPr id="89" name="TextBox 88"/>
          <p:cNvSpPr txBox="1"/>
          <p:nvPr/>
        </p:nvSpPr>
        <p:spPr>
          <a:xfrm>
            <a:off x="6117336" y="8010144"/>
            <a:ext cx="3419856" cy="420624"/>
          </a:xfrm>
          <a:prstGeom prst="rect">
            <a:avLst/>
          </a:prstGeom>
          <a:noFill/>
        </p:spPr>
        <p:txBody>
          <a:bodyPr wrap="square" anchor="t" lIns="0" rIns="0" tIns="0" bIns="0">
            <a:spAutoFit/>
          </a:bodyPr>
          <a:lstStyle/>
          <a:p>
            <a:pPr algn="l">
              <a:lnSpc>
                <a:spcPct val="100000"/>
              </a:lnSpc>
            </a:pPr>
            <a:r>
              <a:rPr sz="850" b="0">
                <a:solidFill>
                  <a:srgbClr val="555555"/>
                </a:solidFill>
                <a:latin typeface="Arial"/>
                <a:ea typeface="Arial"/>
              </a:rPr>
              <a:t>다이 수 8배 ↑ → 같은 FFR을 지키려면 다이 고장률 8배 ↓ 또는 다이 고장 허용 필요 · 다이 고장률 개선은 기술적 한계</a:t>
            </a:r>
          </a:p>
        </p:txBody>
      </p:sp>
      <p:sp>
        <p:nvSpPr>
          <p:cNvPr id="90" name="Rectangle 89"/>
          <p:cNvSpPr/>
          <p:nvPr/>
        </p:nvSpPr>
        <p:spPr>
          <a:xfrm>
            <a:off x="9939528" y="6345936"/>
            <a:ext cx="3675888" cy="213969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0067544" y="6455664"/>
            <a:ext cx="2377440" cy="182880"/>
          </a:xfrm>
          <a:prstGeom prst="rect">
            <a:avLst/>
          </a:prstGeom>
          <a:noFill/>
        </p:spPr>
        <p:txBody>
          <a:bodyPr wrap="square" anchor="t" lIns="0" rIns="0" tIns="0" bIns="0">
            <a:spAutoFit/>
          </a:bodyPr>
          <a:lstStyle/>
          <a:p>
            <a:pPr algn="l">
              <a:lnSpc>
                <a:spcPct val="112000"/>
              </a:lnSpc>
            </a:pPr>
            <a:r>
              <a:rPr sz="975" b="0">
                <a:solidFill>
                  <a:srgbClr val="1A1A1A"/>
                </a:solidFill>
                <a:latin typeface="Arial"/>
                <a:ea typeface="Arial"/>
              </a:rPr>
              <a:t>현재 해법 · SSD 내부</a:t>
            </a:r>
          </a:p>
        </p:txBody>
      </p:sp>
      <p:sp>
        <p:nvSpPr>
          <p:cNvPr id="92" name="TextBox 91"/>
          <p:cNvSpPr txBox="1"/>
          <p:nvPr/>
        </p:nvSpPr>
        <p:spPr>
          <a:xfrm>
            <a:off x="12207240" y="6455664"/>
            <a:ext cx="1280160" cy="201168"/>
          </a:xfrm>
          <a:prstGeom prst="rect">
            <a:avLst/>
          </a:prstGeom>
          <a:noFill/>
        </p:spPr>
        <p:txBody>
          <a:bodyPr wrap="square" anchor="t" lIns="0" rIns="0" tIns="0" bIns="0">
            <a:spAutoFit/>
          </a:bodyPr>
          <a:lstStyle/>
          <a:p>
            <a:pPr algn="r">
              <a:lnSpc>
                <a:spcPct val="112000"/>
              </a:lnSpc>
            </a:pPr>
            <a:r>
              <a:rPr sz="975" b="1">
                <a:solidFill>
                  <a:srgbClr val="8A8A8A"/>
                </a:solidFill>
                <a:latin typeface="Arial"/>
                <a:ea typeface="Arial"/>
              </a:rPr>
              <a:t>오버헤드 ↑</a:t>
            </a:r>
          </a:p>
        </p:txBody>
      </p:sp>
      <p:sp>
        <p:nvSpPr>
          <p:cNvPr id="93" name="TextBox 92"/>
          <p:cNvSpPr txBox="1"/>
          <p:nvPr/>
        </p:nvSpPr>
        <p:spPr>
          <a:xfrm>
            <a:off x="10067544" y="6675120"/>
            <a:ext cx="3419856" cy="237744"/>
          </a:xfrm>
          <a:prstGeom prst="rect">
            <a:avLst/>
          </a:prstGeom>
          <a:noFill/>
        </p:spPr>
        <p:txBody>
          <a:bodyPr wrap="square" anchor="t" lIns="0" rIns="0" tIns="0" bIns="0">
            <a:spAutoFit/>
          </a:bodyPr>
          <a:lstStyle/>
          <a:p>
            <a:pPr algn="l">
              <a:lnSpc>
                <a:spcPct val="112000"/>
              </a:lnSpc>
            </a:pPr>
            <a:r>
              <a:rPr sz="1275" b="1">
                <a:solidFill>
                  <a:srgbClr val="1A1A1A"/>
                </a:solidFill>
                <a:latin typeface="Arial"/>
                <a:ea typeface="Arial"/>
              </a:rPr>
              <a:t>다이 RAID · 여분 다이 · 다이 은퇴</a:t>
            </a:r>
          </a:p>
        </p:txBody>
      </p:sp>
      <p:sp>
        <p:nvSpPr>
          <p:cNvPr id="94" name="Rectangle 93"/>
          <p:cNvSpPr/>
          <p:nvPr/>
        </p:nvSpPr>
        <p:spPr>
          <a:xfrm>
            <a:off x="10067544" y="7077456"/>
            <a:ext cx="109728" cy="1097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0268712" y="7004304"/>
            <a:ext cx="3218688" cy="384048"/>
          </a:xfrm>
          <a:prstGeom prst="rect">
            <a:avLst/>
          </a:prstGeom>
          <a:noFill/>
        </p:spPr>
        <p:txBody>
          <a:bodyPr wrap="square" anchor="t" lIns="0" rIns="0" tIns="0" bIns="0">
            <a:spAutoFit/>
          </a:bodyPr>
          <a:lstStyle/>
          <a:p>
            <a:pPr algn="l">
              <a:lnSpc>
                <a:spcPct val="100000"/>
              </a:lnSpc>
            </a:pPr>
            <a:r>
              <a:rPr sz="975" b="1">
                <a:solidFill>
                  <a:srgbClr val="1A1A1A"/>
                </a:solidFill>
                <a:latin typeface="Arial"/>
                <a:ea typeface="Arial"/>
              </a:rPr>
              <a:t>다이 패리티  </a:t>
            </a:r>
            <a:r>
              <a:rPr sz="900" b="0">
                <a:solidFill>
                  <a:srgbClr val="555555"/>
                </a:solidFill>
                <a:latin typeface="Arial"/>
                <a:ea typeface="Arial"/>
              </a:rPr>
              <a:t>슈퍼페이지 XOR 패리티 다이 (Micron RAIN)</a:t>
            </a:r>
          </a:p>
        </p:txBody>
      </p:sp>
      <p:sp>
        <p:nvSpPr>
          <p:cNvPr id="96" name="Rectangle 95"/>
          <p:cNvSpPr/>
          <p:nvPr/>
        </p:nvSpPr>
        <p:spPr>
          <a:xfrm>
            <a:off x="10067544" y="7534656"/>
            <a:ext cx="109728" cy="1097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0268712" y="7461504"/>
            <a:ext cx="3218688" cy="384048"/>
          </a:xfrm>
          <a:prstGeom prst="rect">
            <a:avLst/>
          </a:prstGeom>
          <a:noFill/>
        </p:spPr>
        <p:txBody>
          <a:bodyPr wrap="square" anchor="t" lIns="0" rIns="0" tIns="0" bIns="0">
            <a:spAutoFit/>
          </a:bodyPr>
          <a:lstStyle/>
          <a:p>
            <a:pPr algn="l">
              <a:lnSpc>
                <a:spcPct val="100000"/>
              </a:lnSpc>
            </a:pPr>
            <a:r>
              <a:rPr sz="975" b="1">
                <a:solidFill>
                  <a:srgbClr val="1A1A1A"/>
                </a:solidFill>
                <a:latin typeface="Arial"/>
                <a:ea typeface="Arial"/>
              </a:rPr>
              <a:t>여분 다이 · 은퇴  </a:t>
            </a:r>
            <a:r>
              <a:rPr sz="900" b="0">
                <a:solidFill>
                  <a:srgbClr val="555555"/>
                </a:solidFill>
                <a:latin typeface="Arial"/>
                <a:ea typeface="Arial"/>
              </a:rPr>
              <a:t>삼성 Fail-in-Place(PM1733): 고장 다이 제외, 4~8GB 감량 운영</a:t>
            </a:r>
          </a:p>
        </p:txBody>
      </p:sp>
      <p:sp>
        <p:nvSpPr>
          <p:cNvPr id="98" name="Rectangle 97"/>
          <p:cNvSpPr/>
          <p:nvPr/>
        </p:nvSpPr>
        <p:spPr>
          <a:xfrm>
            <a:off x="10067544" y="7991856"/>
            <a:ext cx="109728" cy="1097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0268712" y="7918704"/>
            <a:ext cx="3218688" cy="384048"/>
          </a:xfrm>
          <a:prstGeom prst="rect">
            <a:avLst/>
          </a:prstGeom>
          <a:noFill/>
        </p:spPr>
        <p:txBody>
          <a:bodyPr wrap="square" anchor="t" lIns="0" rIns="0" tIns="0" bIns="0">
            <a:spAutoFit/>
          </a:bodyPr>
          <a:lstStyle/>
          <a:p>
            <a:pPr algn="l">
              <a:lnSpc>
                <a:spcPct val="100000"/>
              </a:lnSpc>
            </a:pPr>
            <a:r>
              <a:rPr sz="975" b="1">
                <a:solidFill>
                  <a:srgbClr val="1A1A1A"/>
                </a:solidFill>
                <a:latin typeface="Arial"/>
                <a:ea typeface="Arial"/>
              </a:rPr>
              <a:t>비용  </a:t>
            </a:r>
            <a:r>
              <a:rPr sz="900" b="0">
                <a:solidFill>
                  <a:srgbClr val="555555"/>
                </a:solidFill>
                <a:latin typeface="Arial"/>
                <a:ea typeface="Arial"/>
              </a:rPr>
              <a:t>패리티 · 예비 용량 오버헤드가 다이 수와 함께 증가</a:t>
            </a:r>
          </a:p>
        </p:txBody>
      </p:sp>
      <p:sp>
        <p:nvSpPr>
          <p:cNvPr id="100" name="Rectangle 99"/>
          <p:cNvSpPr/>
          <p:nvPr/>
        </p:nvSpPr>
        <p:spPr>
          <a:xfrm>
            <a:off x="13889736" y="6345936"/>
            <a:ext cx="3675888" cy="2139696"/>
          </a:xfrm>
          <a:prstGeom prst="rect">
            <a:avLst/>
          </a:prstGeom>
          <a:solidFill>
            <a:srgbClr val="F4F6FC"/>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4017752" y="6455664"/>
            <a:ext cx="2377440" cy="182880"/>
          </a:xfrm>
          <a:prstGeom prst="rect">
            <a:avLst/>
          </a:prstGeom>
          <a:noFill/>
        </p:spPr>
        <p:txBody>
          <a:bodyPr wrap="square" anchor="t" lIns="0" rIns="0" tIns="0" bIns="0">
            <a:spAutoFit/>
          </a:bodyPr>
          <a:lstStyle/>
          <a:p>
            <a:pPr algn="l">
              <a:lnSpc>
                <a:spcPct val="112000"/>
              </a:lnSpc>
            </a:pPr>
            <a:r>
              <a:rPr sz="975" b="0">
                <a:solidFill>
                  <a:srgbClr val="1428A0"/>
                </a:solidFill>
                <a:latin typeface="Arial"/>
                <a:ea typeface="Arial"/>
              </a:rPr>
              <a:t>SSD 단독 한계 시 · 상위 계층</a:t>
            </a:r>
          </a:p>
        </p:txBody>
      </p:sp>
      <p:sp>
        <p:nvSpPr>
          <p:cNvPr id="102" name="TextBox 101"/>
          <p:cNvSpPr txBox="1"/>
          <p:nvPr/>
        </p:nvSpPr>
        <p:spPr>
          <a:xfrm>
            <a:off x="16157448" y="6455664"/>
            <a:ext cx="1280160" cy="201168"/>
          </a:xfrm>
          <a:prstGeom prst="rect">
            <a:avLst/>
          </a:prstGeom>
          <a:noFill/>
        </p:spPr>
        <p:txBody>
          <a:bodyPr wrap="square" anchor="t" lIns="0" rIns="0" tIns="0" bIns="0">
            <a:spAutoFit/>
          </a:bodyPr>
          <a:lstStyle/>
          <a:p>
            <a:pPr algn="r">
              <a:lnSpc>
                <a:spcPct val="112000"/>
              </a:lnSpc>
            </a:pPr>
            <a:r>
              <a:rPr sz="975" b="1">
                <a:solidFill>
                  <a:srgbClr val="1428A0"/>
                </a:solidFill>
                <a:latin typeface="Arial"/>
                <a:ea typeface="Arial"/>
              </a:rPr>
              <a:t>준비 중</a:t>
            </a:r>
          </a:p>
        </p:txBody>
      </p:sp>
      <p:sp>
        <p:nvSpPr>
          <p:cNvPr id="103" name="TextBox 102"/>
          <p:cNvSpPr txBox="1"/>
          <p:nvPr/>
        </p:nvSpPr>
        <p:spPr>
          <a:xfrm>
            <a:off x="14017752" y="6675120"/>
            <a:ext cx="3419856" cy="237744"/>
          </a:xfrm>
          <a:prstGeom prst="rect">
            <a:avLst/>
          </a:prstGeom>
          <a:noFill/>
        </p:spPr>
        <p:txBody>
          <a:bodyPr wrap="square" anchor="t" lIns="0" rIns="0" tIns="0" bIns="0">
            <a:spAutoFit/>
          </a:bodyPr>
          <a:lstStyle/>
          <a:p>
            <a:pPr algn="l">
              <a:lnSpc>
                <a:spcPct val="112000"/>
              </a:lnSpc>
            </a:pPr>
            <a:r>
              <a:rPr sz="1275" b="1">
                <a:solidFill>
                  <a:srgbClr val="1A1A1A"/>
                </a:solidFill>
                <a:latin typeface="Arial"/>
                <a:ea typeface="Arial"/>
              </a:rPr>
              <a:t>감량 운영 수용 · 호스트 소거 부호</a:t>
            </a:r>
          </a:p>
        </p:txBody>
      </p:sp>
      <p:sp>
        <p:nvSpPr>
          <p:cNvPr id="104" name="Oval 103"/>
          <p:cNvSpPr/>
          <p:nvPr/>
        </p:nvSpPr>
        <p:spPr>
          <a:xfrm>
            <a:off x="14017752" y="7077456"/>
            <a:ext cx="109728" cy="10972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4218920" y="7004304"/>
            <a:ext cx="3218688" cy="384048"/>
          </a:xfrm>
          <a:prstGeom prst="rect">
            <a:avLst/>
          </a:prstGeom>
          <a:noFill/>
        </p:spPr>
        <p:txBody>
          <a:bodyPr wrap="square" anchor="t" lIns="0" rIns="0" tIns="0" bIns="0">
            <a:spAutoFit/>
          </a:bodyPr>
          <a:lstStyle/>
          <a:p>
            <a:pPr algn="l">
              <a:lnSpc>
                <a:spcPct val="100000"/>
              </a:lnSpc>
            </a:pPr>
            <a:r>
              <a:rPr sz="975" b="1">
                <a:solidFill>
                  <a:srgbClr val="1A1A1A"/>
                </a:solidFill>
                <a:latin typeface="Arial"/>
                <a:ea typeface="Arial"/>
              </a:rPr>
              <a:t>호스트 관측  </a:t>
            </a:r>
            <a:r>
              <a:rPr sz="900" b="0">
                <a:solidFill>
                  <a:srgbClr val="555555"/>
                </a:solidFill>
                <a:latin typeface="Arial"/>
                <a:ea typeface="Arial"/>
              </a:rPr>
              <a:t>OCP SMART XOR 복구 카운트로 다이 복구 이벤트를 하이퍼스케일러가 감시</a:t>
            </a:r>
          </a:p>
        </p:txBody>
      </p:sp>
      <p:sp>
        <p:nvSpPr>
          <p:cNvPr id="106" name="Oval 105"/>
          <p:cNvSpPr/>
          <p:nvPr/>
        </p:nvSpPr>
        <p:spPr>
          <a:xfrm>
            <a:off x="14017752" y="7534656"/>
            <a:ext cx="109728" cy="10972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4218920" y="7461504"/>
            <a:ext cx="3218688" cy="384048"/>
          </a:xfrm>
          <a:prstGeom prst="rect">
            <a:avLst/>
          </a:prstGeom>
          <a:noFill/>
        </p:spPr>
        <p:txBody>
          <a:bodyPr wrap="square" anchor="t" lIns="0" rIns="0" tIns="0" bIns="0">
            <a:spAutoFit/>
          </a:bodyPr>
          <a:lstStyle/>
          <a:p>
            <a:pPr algn="l">
              <a:lnSpc>
                <a:spcPct val="100000"/>
              </a:lnSpc>
            </a:pPr>
            <a:r>
              <a:rPr sz="975" b="1">
                <a:solidFill>
                  <a:srgbClr val="1A1A1A"/>
                </a:solidFill>
                <a:latin typeface="Arial"/>
                <a:ea typeface="Arial"/>
              </a:rPr>
              <a:t>플랫폼 수용  </a:t>
            </a:r>
            <a:r>
              <a:rPr sz="900" b="0">
                <a:solidFill>
                  <a:srgbClr val="555555"/>
                </a:solidFill>
                <a:latin typeface="Arial"/>
                <a:ea typeface="Arial"/>
              </a:rPr>
              <a:t>고장 부품의 감량 운영을 스케줄러가 흡수 (Microsoft Hyrax, 수리 -50~60%)</a:t>
            </a:r>
          </a:p>
        </p:txBody>
      </p:sp>
      <p:sp>
        <p:nvSpPr>
          <p:cNvPr id="108" name="Oval 107"/>
          <p:cNvSpPr/>
          <p:nvPr/>
        </p:nvSpPr>
        <p:spPr>
          <a:xfrm>
            <a:off x="14017752" y="7991856"/>
            <a:ext cx="109728" cy="10972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14218920" y="7918704"/>
            <a:ext cx="3218688" cy="384048"/>
          </a:xfrm>
          <a:prstGeom prst="rect">
            <a:avLst/>
          </a:prstGeom>
          <a:noFill/>
        </p:spPr>
        <p:txBody>
          <a:bodyPr wrap="square" anchor="t" lIns="0" rIns="0" tIns="0" bIns="0">
            <a:spAutoFit/>
          </a:bodyPr>
          <a:lstStyle/>
          <a:p>
            <a:pPr algn="l">
              <a:lnSpc>
                <a:spcPct val="100000"/>
              </a:lnSpc>
            </a:pPr>
            <a:r>
              <a:rPr sz="975" b="1">
                <a:solidFill>
                  <a:srgbClr val="1A1A1A"/>
                </a:solidFill>
                <a:latin typeface="Arial"/>
                <a:ea typeface="Arial"/>
              </a:rPr>
              <a:t>드라이브 간  </a:t>
            </a:r>
            <a:r>
              <a:rPr sz="900" b="0">
                <a:solidFill>
                  <a:srgbClr val="555555"/>
                </a:solidFill>
                <a:latin typeface="Arial"/>
                <a:ea typeface="Arial"/>
              </a:rPr>
              <a:t>소거 부호 · 복제가 SSD 단위 고장을 이미 흡수</a:t>
            </a:r>
          </a:p>
        </p:txBody>
      </p:sp>
      <p:sp>
        <p:nvSpPr>
          <p:cNvPr id="110" name="Rectangle 109"/>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12" name="TextBox 111"/>
          <p:cNvSpPr txBox="1"/>
          <p:nvPr/>
        </p:nvSpPr>
        <p:spPr>
          <a:xfrm>
            <a:off x="2551176" y="8613648"/>
            <a:ext cx="1464868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요구(UBER·DWPD·FFR)는 고정, 단품 지표(RBER·P/E·다이 수)는 악화, 격차는 상위 계층이 보상해 왔습니다.</a:t>
            </a:r>
          </a:p>
          <a:p>
            <a:pPr algn="l">
              <a:lnSpc>
                <a:spcPct val="108000"/>
              </a:lnSpc>
            </a:pPr>
            <a:r>
              <a:rPr sz="1650" b="1">
                <a:solidFill>
                  <a:srgbClr val="FFFFFF"/>
                </a:solidFill>
                <a:latin typeface="Arial"/>
                <a:ea typeface="Arial"/>
              </a:rPr>
              <a:t>QLC로 요구 DWPD를 충족하는 경로는 호스트 시스템 공동 설계뿐이며, 이는 산식의 귀결입니다</a:t>
            </a:r>
          </a:p>
        </p:txBody>
      </p:sp>
      <p:sp>
        <p:nvSpPr>
          <p:cNvPr id="113" name="TextBox 112"/>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JESD218(UBER·FFR), ATP·Kioxia(DWPD 산식), Intel·Solidigm 사양(정격 DWPD·다이 수), Mielke·Cai(RBER·다이 패리티), WD(LDPC), CacheLib FDP(WAF), HotStorage'14·SYSTOR'17·NVMe 1.4, Kioxia LC9·삼성 FIP·OCP SMART·MS Hyrax · 등급은 보고서 부록 A F28~F47</a:t>
            </a:r>
          </a:p>
        </p:txBody>
      </p:sp>
      <p:sp>
        <p:nvSpPr>
          <p:cNvPr id="114" name="TextBox 113"/>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01 / 01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