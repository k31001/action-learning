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1장은 QLC의 내구성 격차를 어느 계층이 해소하는가를 네 지표로 답합니다. 왼쪽 차트는 인과 순서입니다. ① 셀의 한계: 비트/셀을 늘릴수록 셀이 견디는 P/E 사이클이 SLC 30K~100K에서 QLC 100~1K로 100배 감소했습니다. ② 컨트롤러의 보상: 같은 기간 RBER은 SLC 10의 -9~-7승에서 QLC 10의 -3~-2승으로 약 백만 배 상승했지만, 고객의 UBER 요구(JESD218: 클라이언트 10의 -15승, 엔터프라이즈 10의 -16승)는 고정이었습니다. 그 격차를 컨트롤러가 ECC로 보상했습니다. 1비트/512B에서 BCH 60비트/KB, LDPC 120비트/KB로 약 60배입니다. 셀은 보존·사이클링·리드 디스터브로 시간에 따라 변하는 산포를 단독으로 보정하지 못하므로, 이것이 NAND에서 SSD로의 1단계 이관입니다. ③ 결과: ECC는 BER을 보상하지만 P/E를 늘리지는 못합니다. 정격 DWPD는 X25-E SLC 17(2008, 2PB 보증 환산), S3700 eMLC 10(2012), P4510 TLC 0.7(2018), P5316 QLC 0.41(2021, 22,930TBW 환산), 최신 QLC 0.075~0.6으로 하락했는데, 추론 캐시 계층의 요구는 TLC 수준 1~3, ScaleFlux가 제시한 유효 요구는 7~10입니다. 10~40배 격차입니다. ④ 남은 변수: DWPD = P/E × (1+OP) ÷ (WAF × 365 × 년)에서 P/E는 셀, OP는 디바이스, 년과 요구 DWPD는 고객이 결정합니다. P/E가 100배 감소했으므로 남은 보상 변수는 WAF뿐이고, WAF는 랜덤 쓰기 대표값 3, CacheLib 배치 표준 미적용 3.22에서 적용 시 1.03이 됐습니다. 68% 감소, 유효 DWPD 3.1배입니다. WAF를 1로 낮추는 것은 컨트롤러가 아니라 호스트가 데이터 수명에 따라 배치를 결정할 때만 가능합니다. 오른쪽 위는 산식과 항별 결정 주체, 아래는 이관 구조의 반복입니다. 1단계는 요구 UBER 고정, RBER 악화, ECC로 보상. 2단계는 요구 DWPD 고정, P/E 악화, WAF로 보상. 3단계는 본 덱의 제안입니다. 호스트 계층의 배치 규격은 KV 캐시 관리자 코드에 아직 미정의이고, 삼성이 FDE 상주와 전략적 협약으로 고객과 규격을 공동 정의해 DWPD·TCO를 보증합니다. 결론: QLC의 호스트 협력은 선택이 아니라 산식의 귀결입니다. 그 규격이 언제 정의되는지가 2장입니다. RBER 대표값과 환산 DWPD의 등급은 보고서 부록 A F28~F35에 있습니다.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[문서등급 표기]</a:t>
            </a:r>
          </a:p>
        </p:txBody>
      </p:sp>
      <p:sp>
        <p:nvSpPr>
          <p:cNvPr id="4" name="TextBox 3"/>
          <p:cNvSpPr txBox="1"/>
          <p:nvPr/>
        </p:nvSpPr>
        <p:spPr>
          <a:xfrm>
            <a:off x="722376" y="850392"/>
            <a:ext cx="16843248"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메모리 해법 사다리 · P/E · BER · DWPD · WAF</a:t>
            </a:r>
          </a:p>
        </p:txBody>
      </p:sp>
      <p:sp>
        <p:nvSpPr>
          <p:cNvPr id="5" name="TextBox 4"/>
          <p:cNvSpPr txBox="1"/>
          <p:nvPr/>
        </p:nvSpPr>
        <p:spPr>
          <a:xfrm>
            <a:off x="722376" y="1216152"/>
            <a:ext cx="16843248" cy="566928"/>
          </a:xfrm>
          <a:prstGeom prst="rect">
            <a:avLst/>
          </a:prstGeom>
          <a:noFill/>
        </p:spPr>
        <p:txBody>
          <a:bodyPr wrap="square" anchor="t" lIns="0" rIns="0" tIns="0" bIns="0">
            <a:spAutoFit/>
          </a:bodyPr>
          <a:lstStyle/>
          <a:p>
            <a:pPr algn="l">
              <a:lnSpc>
                <a:spcPct val="112000"/>
              </a:lnSpc>
            </a:pPr>
            <a:r>
              <a:rPr sz="3000" b="1">
                <a:solidFill>
                  <a:srgbClr val="1A1A1A"/>
                </a:solidFill>
                <a:latin typeface="Arial"/>
                <a:ea typeface="Arial"/>
              </a:rPr>
              <a:t>RBER 상승은 컨트롤러 ECC가 보상했고, P/E 감소의 보상 변수 WAF는 호스트 계층에 있습니다</a:t>
            </a:r>
          </a:p>
        </p:txBody>
      </p:sp>
      <p:sp>
        <p:nvSpPr>
          <p:cNvPr id="6" name="TextBox 5"/>
          <p:cNvSpPr txBox="1"/>
          <p:nvPr/>
        </p:nvSpPr>
        <p:spPr>
          <a:xfrm>
            <a:off x="722376" y="1865376"/>
            <a:ext cx="16843248" cy="402336"/>
          </a:xfrm>
          <a:prstGeom prst="rect">
            <a:avLst/>
          </a:prstGeom>
          <a:noFill/>
        </p:spPr>
        <p:txBody>
          <a:bodyPr wrap="square" anchor="t" lIns="0" rIns="0" tIns="0" bIns="0">
            <a:spAutoFit/>
          </a:bodyPr>
          <a:lstStyle/>
          <a:p>
            <a:pPr algn="l">
              <a:lnSpc>
                <a:spcPct val="112000"/>
              </a:lnSpc>
            </a:pPr>
            <a:r>
              <a:rPr sz="2000" b="0">
                <a:solidFill>
                  <a:srgbClr val="555555"/>
                </a:solidFill>
                <a:latin typeface="Arial"/>
                <a:ea typeface="Arial"/>
              </a:rPr>
              <a:t>QLC의 내구성 격차를 어느 계층이 해소하는가: P/E · BER · DWPD · WAF 네 지표의 세대별 변화로 확인합니다.</a:t>
            </a:r>
          </a:p>
        </p:txBody>
      </p:sp>
      <p:sp>
        <p:nvSpPr>
          <p:cNvPr id="7" name="Rectangle 6"/>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olution_metrics_chart.png"/>
          <p:cNvPicPr>
            <a:picLocks noChangeAspect="1"/>
          </p:cNvPicPr>
          <p:nvPr/>
        </p:nvPicPr>
        <p:blipFill>
          <a:blip r:embed="rId2"/>
          <a:stretch>
            <a:fillRect/>
          </a:stretch>
        </p:blipFill>
        <p:spPr>
          <a:xfrm>
            <a:off x="722376" y="2560320"/>
            <a:ext cx="10285615" cy="5852160"/>
          </a:xfrm>
          <a:prstGeom prst="rect">
            <a:avLst/>
          </a:prstGeom>
        </p:spPr>
      </p:pic>
      <p:sp>
        <p:nvSpPr>
          <p:cNvPr id="9" name="Rectangle 8"/>
          <p:cNvSpPr/>
          <p:nvPr/>
        </p:nvSpPr>
        <p:spPr>
          <a:xfrm>
            <a:off x="11318886" y="2560320"/>
            <a:ext cx="6246737" cy="124358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556630" y="2670048"/>
            <a:ext cx="5771249" cy="256032"/>
          </a:xfrm>
          <a:prstGeom prst="rect">
            <a:avLst/>
          </a:prstGeom>
          <a:noFill/>
        </p:spPr>
        <p:txBody>
          <a:bodyPr wrap="square" anchor="t" lIns="0" rIns="0" tIns="0" bIns="0">
            <a:spAutoFit/>
          </a:bodyPr>
          <a:lstStyle/>
          <a:p>
            <a:pPr algn="l">
              <a:lnSpc>
                <a:spcPct val="112000"/>
              </a:lnSpc>
            </a:pPr>
            <a:r>
              <a:rPr sz="1500" b="1">
                <a:solidFill>
                  <a:srgbClr val="1428A0"/>
                </a:solidFill>
                <a:latin typeface="Arial"/>
                <a:ea typeface="Arial"/>
              </a:rPr>
              <a:t>DWPD 산식 — 항별 결정 주체</a:t>
            </a:r>
          </a:p>
        </p:txBody>
      </p:sp>
      <p:sp>
        <p:nvSpPr>
          <p:cNvPr id="11" name="Rectangle 10"/>
          <p:cNvSpPr/>
          <p:nvPr/>
        </p:nvSpPr>
        <p:spPr>
          <a:xfrm>
            <a:off x="11415591" y="3054096"/>
            <a:ext cx="932688" cy="420624"/>
          </a:xfrm>
          <a:prstGeom prst="rect">
            <a:avLst/>
          </a:prstGeom>
          <a:solidFill>
            <a:srgbClr val="F4F6FC"/>
          </a:solidFill>
          <a:ln w="1270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415591" y="3054096"/>
            <a:ext cx="932688" cy="420624"/>
          </a:xfrm>
          <a:prstGeom prst="rect">
            <a:avLst/>
          </a:prstGeom>
          <a:noFill/>
        </p:spPr>
        <p:txBody>
          <a:bodyPr wrap="square" anchor="ctr" lIns="0" rIns="0" tIns="0" bIns="0">
            <a:spAutoFit/>
          </a:bodyPr>
          <a:lstStyle/>
          <a:p>
            <a:pPr algn="ctr">
              <a:lnSpc>
                <a:spcPct val="112000"/>
              </a:lnSpc>
            </a:pPr>
            <a:r>
              <a:rPr sz="1350" b="1">
                <a:solidFill>
                  <a:srgbClr val="1A1A1A"/>
                </a:solidFill>
                <a:latin typeface="Arial"/>
                <a:ea typeface="Arial"/>
              </a:rPr>
              <a:t>DWPD</a:t>
            </a:r>
          </a:p>
        </p:txBody>
      </p:sp>
      <p:sp>
        <p:nvSpPr>
          <p:cNvPr id="13" name="TextBox 12"/>
          <p:cNvSpPr txBox="1"/>
          <p:nvPr/>
        </p:nvSpPr>
        <p:spPr>
          <a:xfrm>
            <a:off x="11324151" y="3511296"/>
            <a:ext cx="1115568" cy="201168"/>
          </a:xfrm>
          <a:prstGeom prst="rect">
            <a:avLst/>
          </a:prstGeom>
          <a:noFill/>
        </p:spPr>
        <p:txBody>
          <a:bodyPr wrap="square" anchor="t" lIns="0" rIns="0" tIns="0" bIns="0">
            <a:spAutoFit/>
          </a:bodyPr>
          <a:lstStyle/>
          <a:p>
            <a:pPr algn="ctr">
              <a:lnSpc>
                <a:spcPct val="112000"/>
              </a:lnSpc>
            </a:pPr>
            <a:r>
              <a:rPr sz="975" b="0">
                <a:solidFill>
                  <a:srgbClr val="8A8A8A"/>
                </a:solidFill>
                <a:latin typeface="Arial"/>
                <a:ea typeface="Arial"/>
              </a:rPr>
              <a:t>고객 요구</a:t>
            </a:r>
          </a:p>
        </p:txBody>
      </p:sp>
      <p:sp>
        <p:nvSpPr>
          <p:cNvPr id="14" name="TextBox 13"/>
          <p:cNvSpPr txBox="1"/>
          <p:nvPr/>
        </p:nvSpPr>
        <p:spPr>
          <a:xfrm>
            <a:off x="12403143" y="3054096"/>
            <a:ext cx="237744" cy="420624"/>
          </a:xfrm>
          <a:prstGeom prst="rect">
            <a:avLst/>
          </a:prstGeom>
          <a:noFill/>
        </p:spPr>
        <p:txBody>
          <a:bodyPr wrap="square" anchor="ctr" lIns="0" rIns="0" tIns="0" bIns="0">
            <a:spAutoFit/>
          </a:bodyPr>
          <a:lstStyle/>
          <a:p>
            <a:pPr algn="ctr">
              <a:lnSpc>
                <a:spcPct val="112000"/>
              </a:lnSpc>
            </a:pPr>
            <a:r>
              <a:rPr sz="1500" b="0">
                <a:solidFill>
                  <a:srgbClr val="555555"/>
                </a:solidFill>
                <a:latin typeface="Arial"/>
                <a:ea typeface="Arial"/>
              </a:rPr>
              <a:t>=</a:t>
            </a:r>
          </a:p>
        </p:txBody>
      </p:sp>
      <p:sp>
        <p:nvSpPr>
          <p:cNvPr id="15" name="Rectangle 14"/>
          <p:cNvSpPr/>
          <p:nvPr/>
        </p:nvSpPr>
        <p:spPr>
          <a:xfrm>
            <a:off x="12695751" y="3054096"/>
            <a:ext cx="932688" cy="42062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2695751" y="3054096"/>
            <a:ext cx="932688" cy="420624"/>
          </a:xfrm>
          <a:prstGeom prst="rect">
            <a:avLst/>
          </a:prstGeom>
          <a:noFill/>
        </p:spPr>
        <p:txBody>
          <a:bodyPr wrap="square" anchor="ctr" lIns="0" rIns="0" tIns="0" bIns="0">
            <a:spAutoFit/>
          </a:bodyPr>
          <a:lstStyle/>
          <a:p>
            <a:pPr algn="ctr">
              <a:lnSpc>
                <a:spcPct val="112000"/>
              </a:lnSpc>
            </a:pPr>
            <a:r>
              <a:rPr sz="1350" b="1">
                <a:solidFill>
                  <a:srgbClr val="1A1A1A"/>
                </a:solidFill>
                <a:latin typeface="Arial"/>
                <a:ea typeface="Arial"/>
              </a:rPr>
              <a:t>P/E</a:t>
            </a:r>
          </a:p>
        </p:txBody>
      </p:sp>
      <p:sp>
        <p:nvSpPr>
          <p:cNvPr id="17" name="TextBox 16"/>
          <p:cNvSpPr txBox="1"/>
          <p:nvPr/>
        </p:nvSpPr>
        <p:spPr>
          <a:xfrm>
            <a:off x="12604311" y="3511296"/>
            <a:ext cx="1115568" cy="201168"/>
          </a:xfrm>
          <a:prstGeom prst="rect">
            <a:avLst/>
          </a:prstGeom>
          <a:noFill/>
        </p:spPr>
        <p:txBody>
          <a:bodyPr wrap="square" anchor="t" lIns="0" rIns="0" tIns="0" bIns="0">
            <a:spAutoFit/>
          </a:bodyPr>
          <a:lstStyle/>
          <a:p>
            <a:pPr algn="ctr">
              <a:lnSpc>
                <a:spcPct val="112000"/>
              </a:lnSpc>
            </a:pPr>
            <a:r>
              <a:rPr sz="975" b="0">
                <a:solidFill>
                  <a:srgbClr val="8A8A8A"/>
                </a:solidFill>
                <a:latin typeface="Arial"/>
                <a:ea typeface="Arial"/>
              </a:rPr>
              <a:t>셀 · 다이</a:t>
            </a:r>
          </a:p>
        </p:txBody>
      </p:sp>
      <p:sp>
        <p:nvSpPr>
          <p:cNvPr id="18" name="TextBox 17"/>
          <p:cNvSpPr txBox="1"/>
          <p:nvPr/>
        </p:nvSpPr>
        <p:spPr>
          <a:xfrm>
            <a:off x="13683303" y="3054096"/>
            <a:ext cx="237744" cy="420624"/>
          </a:xfrm>
          <a:prstGeom prst="rect">
            <a:avLst/>
          </a:prstGeom>
          <a:noFill/>
        </p:spPr>
        <p:txBody>
          <a:bodyPr wrap="square" anchor="ctr" lIns="0" rIns="0" tIns="0" bIns="0">
            <a:spAutoFit/>
          </a:bodyPr>
          <a:lstStyle/>
          <a:p>
            <a:pPr algn="ctr">
              <a:lnSpc>
                <a:spcPct val="112000"/>
              </a:lnSpc>
            </a:pPr>
            <a:r>
              <a:rPr sz="1500" b="0">
                <a:solidFill>
                  <a:srgbClr val="555555"/>
                </a:solidFill>
                <a:latin typeface="Arial"/>
                <a:ea typeface="Arial"/>
              </a:rPr>
              <a:t>×</a:t>
            </a:r>
          </a:p>
        </p:txBody>
      </p:sp>
      <p:sp>
        <p:nvSpPr>
          <p:cNvPr id="19" name="Rectangle 18"/>
          <p:cNvSpPr/>
          <p:nvPr/>
        </p:nvSpPr>
        <p:spPr>
          <a:xfrm>
            <a:off x="13975911" y="3054096"/>
            <a:ext cx="932688" cy="42062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3975911" y="3054096"/>
            <a:ext cx="932688" cy="420624"/>
          </a:xfrm>
          <a:prstGeom prst="rect">
            <a:avLst/>
          </a:prstGeom>
          <a:noFill/>
        </p:spPr>
        <p:txBody>
          <a:bodyPr wrap="square" anchor="ctr" lIns="0" rIns="0" tIns="0" bIns="0">
            <a:spAutoFit/>
          </a:bodyPr>
          <a:lstStyle/>
          <a:p>
            <a:pPr algn="ctr">
              <a:lnSpc>
                <a:spcPct val="112000"/>
              </a:lnSpc>
            </a:pPr>
            <a:r>
              <a:rPr sz="1350" b="1">
                <a:solidFill>
                  <a:srgbClr val="1A1A1A"/>
                </a:solidFill>
                <a:latin typeface="Arial"/>
                <a:ea typeface="Arial"/>
              </a:rPr>
              <a:t>1 + OP</a:t>
            </a:r>
          </a:p>
        </p:txBody>
      </p:sp>
      <p:sp>
        <p:nvSpPr>
          <p:cNvPr id="21" name="TextBox 20"/>
          <p:cNvSpPr txBox="1"/>
          <p:nvPr/>
        </p:nvSpPr>
        <p:spPr>
          <a:xfrm>
            <a:off x="13884471" y="3511296"/>
            <a:ext cx="1115568" cy="201168"/>
          </a:xfrm>
          <a:prstGeom prst="rect">
            <a:avLst/>
          </a:prstGeom>
          <a:noFill/>
        </p:spPr>
        <p:txBody>
          <a:bodyPr wrap="square" anchor="t" lIns="0" rIns="0" tIns="0" bIns="0">
            <a:spAutoFit/>
          </a:bodyPr>
          <a:lstStyle/>
          <a:p>
            <a:pPr algn="ctr">
              <a:lnSpc>
                <a:spcPct val="112000"/>
              </a:lnSpc>
            </a:pPr>
            <a:r>
              <a:rPr sz="975" b="0">
                <a:solidFill>
                  <a:srgbClr val="8A8A8A"/>
                </a:solidFill>
                <a:latin typeface="Arial"/>
                <a:ea typeface="Arial"/>
              </a:rPr>
              <a:t>디바이스</a:t>
            </a:r>
          </a:p>
        </p:txBody>
      </p:sp>
      <p:sp>
        <p:nvSpPr>
          <p:cNvPr id="22" name="TextBox 21"/>
          <p:cNvSpPr txBox="1"/>
          <p:nvPr/>
        </p:nvSpPr>
        <p:spPr>
          <a:xfrm>
            <a:off x="14963463" y="3054096"/>
            <a:ext cx="237744" cy="420624"/>
          </a:xfrm>
          <a:prstGeom prst="rect">
            <a:avLst/>
          </a:prstGeom>
          <a:noFill/>
        </p:spPr>
        <p:txBody>
          <a:bodyPr wrap="square" anchor="ctr" lIns="0" rIns="0" tIns="0" bIns="0">
            <a:spAutoFit/>
          </a:bodyPr>
          <a:lstStyle/>
          <a:p>
            <a:pPr algn="ctr">
              <a:lnSpc>
                <a:spcPct val="112000"/>
              </a:lnSpc>
            </a:pPr>
            <a:r>
              <a:rPr sz="1500" b="0">
                <a:solidFill>
                  <a:srgbClr val="555555"/>
                </a:solidFill>
                <a:latin typeface="Arial"/>
                <a:ea typeface="Arial"/>
              </a:rPr>
              <a:t>÷</a:t>
            </a:r>
          </a:p>
        </p:txBody>
      </p:sp>
      <p:sp>
        <p:nvSpPr>
          <p:cNvPr id="23" name="Rectangle 22"/>
          <p:cNvSpPr/>
          <p:nvPr/>
        </p:nvSpPr>
        <p:spPr>
          <a:xfrm>
            <a:off x="15256071" y="3054096"/>
            <a:ext cx="932688" cy="42062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5256071" y="3054096"/>
            <a:ext cx="932688" cy="420624"/>
          </a:xfrm>
          <a:prstGeom prst="rect">
            <a:avLst/>
          </a:prstGeom>
          <a:noFill/>
        </p:spPr>
        <p:txBody>
          <a:bodyPr wrap="square" anchor="ctr" lIns="0" rIns="0" tIns="0" bIns="0">
            <a:spAutoFit/>
          </a:bodyPr>
          <a:lstStyle/>
          <a:p>
            <a:pPr algn="ctr">
              <a:lnSpc>
                <a:spcPct val="112000"/>
              </a:lnSpc>
            </a:pPr>
            <a:r>
              <a:rPr sz="1350" b="1">
                <a:solidFill>
                  <a:srgbClr val="FFFFFF"/>
                </a:solidFill>
                <a:latin typeface="Arial"/>
                <a:ea typeface="Arial"/>
              </a:rPr>
              <a:t>WAF</a:t>
            </a:r>
          </a:p>
        </p:txBody>
      </p:sp>
      <p:sp>
        <p:nvSpPr>
          <p:cNvPr id="25" name="TextBox 24"/>
          <p:cNvSpPr txBox="1"/>
          <p:nvPr/>
        </p:nvSpPr>
        <p:spPr>
          <a:xfrm>
            <a:off x="15164631" y="3511296"/>
            <a:ext cx="1115568" cy="201168"/>
          </a:xfrm>
          <a:prstGeom prst="rect">
            <a:avLst/>
          </a:prstGeom>
          <a:noFill/>
        </p:spPr>
        <p:txBody>
          <a:bodyPr wrap="square" anchor="t" lIns="0" rIns="0" tIns="0" bIns="0">
            <a:spAutoFit/>
          </a:bodyPr>
          <a:lstStyle/>
          <a:p>
            <a:pPr algn="ctr">
              <a:lnSpc>
                <a:spcPct val="112000"/>
              </a:lnSpc>
            </a:pPr>
            <a:r>
              <a:rPr sz="975" b="1">
                <a:solidFill>
                  <a:srgbClr val="1428A0"/>
                </a:solidFill>
                <a:latin typeface="Arial"/>
                <a:ea typeface="Arial"/>
              </a:rPr>
              <a:t>호스트 · 앱</a:t>
            </a:r>
          </a:p>
        </p:txBody>
      </p:sp>
      <p:sp>
        <p:nvSpPr>
          <p:cNvPr id="26" name="TextBox 25"/>
          <p:cNvSpPr txBox="1"/>
          <p:nvPr/>
        </p:nvSpPr>
        <p:spPr>
          <a:xfrm>
            <a:off x="16243623" y="3054096"/>
            <a:ext cx="237744" cy="420624"/>
          </a:xfrm>
          <a:prstGeom prst="rect">
            <a:avLst/>
          </a:prstGeom>
          <a:noFill/>
        </p:spPr>
        <p:txBody>
          <a:bodyPr wrap="square" anchor="ctr" lIns="0" rIns="0" tIns="0" bIns="0">
            <a:spAutoFit/>
          </a:bodyPr>
          <a:lstStyle/>
          <a:p>
            <a:pPr algn="ctr">
              <a:lnSpc>
                <a:spcPct val="112000"/>
              </a:lnSpc>
            </a:pPr>
            <a:r>
              <a:rPr sz="1500" b="0">
                <a:solidFill>
                  <a:srgbClr val="555555"/>
                </a:solidFill>
                <a:latin typeface="Arial"/>
                <a:ea typeface="Arial"/>
              </a:rPr>
              <a:t>÷</a:t>
            </a:r>
          </a:p>
        </p:txBody>
      </p:sp>
      <p:sp>
        <p:nvSpPr>
          <p:cNvPr id="27" name="Rectangle 26"/>
          <p:cNvSpPr/>
          <p:nvPr/>
        </p:nvSpPr>
        <p:spPr>
          <a:xfrm>
            <a:off x="16536231" y="3054096"/>
            <a:ext cx="932688" cy="420624"/>
          </a:xfrm>
          <a:prstGeom prst="rect">
            <a:avLst/>
          </a:prstGeom>
          <a:solidFill>
            <a:srgbClr val="F4F6FC"/>
          </a:solidFill>
          <a:ln w="1270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6536231" y="3054096"/>
            <a:ext cx="932688" cy="420624"/>
          </a:xfrm>
          <a:prstGeom prst="rect">
            <a:avLst/>
          </a:prstGeom>
          <a:noFill/>
        </p:spPr>
        <p:txBody>
          <a:bodyPr wrap="square" anchor="ctr" lIns="0" rIns="0" tIns="0" bIns="0">
            <a:spAutoFit/>
          </a:bodyPr>
          <a:lstStyle/>
          <a:p>
            <a:pPr algn="ctr">
              <a:lnSpc>
                <a:spcPct val="112000"/>
              </a:lnSpc>
            </a:pPr>
            <a:r>
              <a:rPr sz="1350" b="1">
                <a:solidFill>
                  <a:srgbClr val="1A1A1A"/>
                </a:solidFill>
                <a:latin typeface="Arial"/>
                <a:ea typeface="Arial"/>
              </a:rPr>
              <a:t>365 × 년</a:t>
            </a:r>
          </a:p>
        </p:txBody>
      </p:sp>
      <p:sp>
        <p:nvSpPr>
          <p:cNvPr id="29" name="TextBox 28"/>
          <p:cNvSpPr txBox="1"/>
          <p:nvPr/>
        </p:nvSpPr>
        <p:spPr>
          <a:xfrm>
            <a:off x="16444791" y="3511296"/>
            <a:ext cx="1115568" cy="201168"/>
          </a:xfrm>
          <a:prstGeom prst="rect">
            <a:avLst/>
          </a:prstGeom>
          <a:noFill/>
        </p:spPr>
        <p:txBody>
          <a:bodyPr wrap="square" anchor="t" lIns="0" rIns="0" tIns="0" bIns="0">
            <a:spAutoFit/>
          </a:bodyPr>
          <a:lstStyle/>
          <a:p>
            <a:pPr algn="ctr">
              <a:lnSpc>
                <a:spcPct val="112000"/>
              </a:lnSpc>
            </a:pPr>
            <a:r>
              <a:rPr sz="975" b="0">
                <a:solidFill>
                  <a:srgbClr val="8A8A8A"/>
                </a:solidFill>
                <a:latin typeface="Arial"/>
                <a:ea typeface="Arial"/>
              </a:rPr>
              <a:t>고객 요구</a:t>
            </a:r>
          </a:p>
        </p:txBody>
      </p:sp>
      <p:sp>
        <p:nvSpPr>
          <p:cNvPr id="30" name="Rectangle 29"/>
          <p:cNvSpPr/>
          <p:nvPr/>
        </p:nvSpPr>
        <p:spPr>
          <a:xfrm>
            <a:off x="11318886" y="3968496"/>
            <a:ext cx="6246737" cy="446227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1556630" y="4078224"/>
            <a:ext cx="5771249" cy="256032"/>
          </a:xfrm>
          <a:prstGeom prst="rect">
            <a:avLst/>
          </a:prstGeom>
          <a:noFill/>
        </p:spPr>
        <p:txBody>
          <a:bodyPr wrap="square" anchor="t" lIns="0" rIns="0" tIns="0" bIns="0">
            <a:spAutoFit/>
          </a:bodyPr>
          <a:lstStyle/>
          <a:p>
            <a:pPr algn="l">
              <a:lnSpc>
                <a:spcPct val="112000"/>
              </a:lnSpc>
            </a:pPr>
            <a:r>
              <a:rPr sz="1500" b="1">
                <a:solidFill>
                  <a:srgbClr val="1428A0"/>
                </a:solidFill>
                <a:latin typeface="Arial"/>
                <a:ea typeface="Arial"/>
              </a:rPr>
              <a:t>이관 구조의 반복 — 요구 고정 · 단품 지표 악화 · 상위 계층 보상</a:t>
            </a:r>
          </a:p>
        </p:txBody>
      </p:sp>
      <p:sp>
        <p:nvSpPr>
          <p:cNvPr id="32" name="TextBox 31"/>
          <p:cNvSpPr txBox="1"/>
          <p:nvPr/>
        </p:nvSpPr>
        <p:spPr>
          <a:xfrm>
            <a:off x="11556630" y="4480560"/>
            <a:ext cx="5771249" cy="219456"/>
          </a:xfrm>
          <a:prstGeom prst="rect">
            <a:avLst/>
          </a:prstGeom>
          <a:noFill/>
        </p:spPr>
        <p:txBody>
          <a:bodyPr wrap="square" anchor="t" lIns="0" rIns="0" tIns="0" bIns="0">
            <a:spAutoFit/>
          </a:bodyPr>
          <a:lstStyle/>
          <a:p>
            <a:pPr algn="l">
              <a:lnSpc>
                <a:spcPct val="112000"/>
              </a:lnSpc>
            </a:pPr>
            <a:r>
              <a:rPr sz="1125" b="1">
                <a:solidFill>
                  <a:srgbClr val="1A1A1A"/>
                </a:solidFill>
                <a:latin typeface="Arial"/>
                <a:ea typeface="Arial"/>
              </a:rPr>
              <a:t>1단계  NAND → SSD  (1991~)</a:t>
            </a:r>
          </a:p>
        </p:txBody>
      </p:sp>
      <p:sp>
        <p:nvSpPr>
          <p:cNvPr id="33" name="Rectangle 32"/>
          <p:cNvSpPr/>
          <p:nvPr/>
        </p:nvSpPr>
        <p:spPr>
          <a:xfrm>
            <a:off x="11556630" y="4773168"/>
            <a:ext cx="1716485" cy="7315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1648070" y="4846320"/>
            <a:ext cx="1533605" cy="237744"/>
          </a:xfrm>
          <a:prstGeom prst="rect">
            <a:avLst/>
          </a:prstGeom>
          <a:noFill/>
        </p:spPr>
        <p:txBody>
          <a:bodyPr wrap="square" anchor="t" lIns="0" rIns="0" tIns="0" bIns="0">
            <a:spAutoFit/>
          </a:bodyPr>
          <a:lstStyle/>
          <a:p>
            <a:pPr algn="l">
              <a:lnSpc>
                <a:spcPct val="112000"/>
              </a:lnSpc>
            </a:pPr>
            <a:r>
              <a:rPr sz="1050" b="0">
                <a:solidFill>
                  <a:srgbClr val="8A8A8A"/>
                </a:solidFill>
                <a:latin typeface="Arial"/>
                <a:ea typeface="Arial"/>
              </a:rPr>
              <a:t>셀</a:t>
            </a:r>
          </a:p>
        </p:txBody>
      </p:sp>
      <p:sp>
        <p:nvSpPr>
          <p:cNvPr id="35" name="TextBox 34"/>
          <p:cNvSpPr txBox="1"/>
          <p:nvPr/>
        </p:nvSpPr>
        <p:spPr>
          <a:xfrm>
            <a:off x="11648070" y="5084064"/>
            <a:ext cx="1533605" cy="347472"/>
          </a:xfrm>
          <a:prstGeom prst="rect">
            <a:avLst/>
          </a:prstGeom>
          <a:noFill/>
        </p:spPr>
        <p:txBody>
          <a:bodyPr wrap="square" anchor="ctr" lIns="0" rIns="0" tIns="0" bIns="0">
            <a:spAutoFit/>
          </a:bodyPr>
          <a:lstStyle/>
          <a:p>
            <a:pPr algn="l">
              <a:lnSpc>
                <a:spcPct val="112000"/>
              </a:lnSpc>
            </a:pPr>
            <a:r>
              <a:rPr sz="1200" b="1">
                <a:solidFill>
                  <a:srgbClr val="1A1A1A"/>
                </a:solidFill>
                <a:latin typeface="Arial"/>
                <a:ea typeface="Arial"/>
              </a:rPr>
              <a:t>RBER 백만 배 ↑</a:t>
            </a:r>
          </a:p>
        </p:txBody>
      </p:sp>
      <p:sp>
        <p:nvSpPr>
          <p:cNvPr id="36" name="Right Arrow 35"/>
          <p:cNvSpPr/>
          <p:nvPr/>
        </p:nvSpPr>
        <p:spPr>
          <a:xfrm>
            <a:off x="13318836" y="5047488"/>
            <a:ext cx="219456" cy="182880"/>
          </a:xfrm>
          <a:prstGeom prst="right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3584012" y="4773168"/>
            <a:ext cx="1716485"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3675452" y="4846320"/>
            <a:ext cx="1533605" cy="237744"/>
          </a:xfrm>
          <a:prstGeom prst="rect">
            <a:avLst/>
          </a:prstGeom>
          <a:noFill/>
        </p:spPr>
        <p:txBody>
          <a:bodyPr wrap="square" anchor="t" lIns="0" rIns="0" tIns="0" bIns="0">
            <a:spAutoFit/>
          </a:bodyPr>
          <a:lstStyle/>
          <a:p>
            <a:pPr algn="l">
              <a:lnSpc>
                <a:spcPct val="112000"/>
              </a:lnSpc>
            </a:pPr>
            <a:r>
              <a:rPr sz="1050" b="0">
                <a:solidFill>
                  <a:srgbClr val="FFFFFF"/>
                </a:solidFill>
                <a:latin typeface="Arial"/>
                <a:ea typeface="Arial"/>
              </a:rPr>
              <a:t>컨트롤러</a:t>
            </a:r>
          </a:p>
        </p:txBody>
      </p:sp>
      <p:sp>
        <p:nvSpPr>
          <p:cNvPr id="39" name="TextBox 38"/>
          <p:cNvSpPr txBox="1"/>
          <p:nvPr/>
        </p:nvSpPr>
        <p:spPr>
          <a:xfrm>
            <a:off x="13675452" y="5084064"/>
            <a:ext cx="1533605" cy="347472"/>
          </a:xfrm>
          <a:prstGeom prst="rect">
            <a:avLst/>
          </a:prstGeom>
          <a:noFill/>
        </p:spPr>
        <p:txBody>
          <a:bodyPr wrap="square" anchor="ctr" lIns="0" rIns="0" tIns="0" bIns="0">
            <a:spAutoFit/>
          </a:bodyPr>
          <a:lstStyle/>
          <a:p>
            <a:pPr algn="l">
              <a:lnSpc>
                <a:spcPct val="112000"/>
              </a:lnSpc>
            </a:pPr>
            <a:r>
              <a:rPr sz="1200" b="1">
                <a:solidFill>
                  <a:srgbClr val="FFFFFF"/>
                </a:solidFill>
                <a:latin typeface="Arial"/>
                <a:ea typeface="Arial"/>
              </a:rPr>
              <a:t>ECC 60배 ↑</a:t>
            </a:r>
          </a:p>
        </p:txBody>
      </p:sp>
      <p:sp>
        <p:nvSpPr>
          <p:cNvPr id="40" name="Right Arrow 39"/>
          <p:cNvSpPr/>
          <p:nvPr/>
        </p:nvSpPr>
        <p:spPr>
          <a:xfrm>
            <a:off x="15346218" y="5047488"/>
            <a:ext cx="219456" cy="182880"/>
          </a:xfrm>
          <a:prstGeom prst="right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15611394" y="4773168"/>
            <a:ext cx="1716485" cy="731520"/>
          </a:xfrm>
          <a:prstGeom prst="rect">
            <a:avLst/>
          </a:prstGeom>
          <a:solidFill>
            <a:srgbClr val="F4F6FC"/>
          </a:solidFill>
          <a:ln w="1270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5702834" y="4846320"/>
            <a:ext cx="1533605" cy="237744"/>
          </a:xfrm>
          <a:prstGeom prst="rect">
            <a:avLst/>
          </a:prstGeom>
          <a:noFill/>
        </p:spPr>
        <p:txBody>
          <a:bodyPr wrap="square" anchor="t" lIns="0" rIns="0" tIns="0" bIns="0">
            <a:spAutoFit/>
          </a:bodyPr>
          <a:lstStyle/>
          <a:p>
            <a:pPr algn="l">
              <a:lnSpc>
                <a:spcPct val="112000"/>
              </a:lnSpc>
            </a:pPr>
            <a:r>
              <a:rPr sz="1050" b="0">
                <a:solidFill>
                  <a:srgbClr val="8A8A8A"/>
                </a:solidFill>
                <a:latin typeface="Arial"/>
                <a:ea typeface="Arial"/>
              </a:rPr>
              <a:t>고객</a:t>
            </a:r>
          </a:p>
        </p:txBody>
      </p:sp>
      <p:sp>
        <p:nvSpPr>
          <p:cNvPr id="43" name="TextBox 42"/>
          <p:cNvSpPr txBox="1"/>
          <p:nvPr/>
        </p:nvSpPr>
        <p:spPr>
          <a:xfrm>
            <a:off x="15702834" y="5084064"/>
            <a:ext cx="1533605" cy="347472"/>
          </a:xfrm>
          <a:prstGeom prst="rect">
            <a:avLst/>
          </a:prstGeom>
          <a:noFill/>
        </p:spPr>
        <p:txBody>
          <a:bodyPr wrap="square" anchor="ctr" lIns="0" rIns="0" tIns="0" bIns="0">
            <a:spAutoFit/>
          </a:bodyPr>
          <a:lstStyle/>
          <a:p>
            <a:pPr algn="l">
              <a:lnSpc>
                <a:spcPct val="112000"/>
              </a:lnSpc>
            </a:pPr>
            <a:r>
              <a:rPr sz="1200" b="1">
                <a:solidFill>
                  <a:srgbClr val="1A1A1A"/>
                </a:solidFill>
                <a:latin typeface="Arial"/>
                <a:ea typeface="Arial"/>
              </a:rPr>
              <a:t>UBER 요구 유지</a:t>
            </a:r>
          </a:p>
        </p:txBody>
      </p:sp>
      <p:sp>
        <p:nvSpPr>
          <p:cNvPr id="44" name="TextBox 43"/>
          <p:cNvSpPr txBox="1"/>
          <p:nvPr/>
        </p:nvSpPr>
        <p:spPr>
          <a:xfrm>
            <a:off x="11556630" y="5724144"/>
            <a:ext cx="5771249" cy="219456"/>
          </a:xfrm>
          <a:prstGeom prst="rect">
            <a:avLst/>
          </a:prstGeom>
          <a:noFill/>
        </p:spPr>
        <p:txBody>
          <a:bodyPr wrap="square" anchor="t" lIns="0" rIns="0" tIns="0" bIns="0">
            <a:spAutoFit/>
          </a:bodyPr>
          <a:lstStyle/>
          <a:p>
            <a:pPr algn="l">
              <a:lnSpc>
                <a:spcPct val="112000"/>
              </a:lnSpc>
            </a:pPr>
            <a:r>
              <a:rPr sz="1125" b="1">
                <a:solidFill>
                  <a:srgbClr val="1A1A1A"/>
                </a:solidFill>
                <a:latin typeface="Arial"/>
                <a:ea typeface="Arial"/>
              </a:rPr>
              <a:t>2단계  SSD → 호스트  (2022~)</a:t>
            </a:r>
          </a:p>
        </p:txBody>
      </p:sp>
      <p:sp>
        <p:nvSpPr>
          <p:cNvPr id="45" name="Rectangle 44"/>
          <p:cNvSpPr/>
          <p:nvPr/>
        </p:nvSpPr>
        <p:spPr>
          <a:xfrm>
            <a:off x="11556630" y="6016752"/>
            <a:ext cx="1716485" cy="7315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1648070" y="6089904"/>
            <a:ext cx="1533605" cy="237744"/>
          </a:xfrm>
          <a:prstGeom prst="rect">
            <a:avLst/>
          </a:prstGeom>
          <a:noFill/>
        </p:spPr>
        <p:txBody>
          <a:bodyPr wrap="square" anchor="t" lIns="0" rIns="0" tIns="0" bIns="0">
            <a:spAutoFit/>
          </a:bodyPr>
          <a:lstStyle/>
          <a:p>
            <a:pPr algn="l">
              <a:lnSpc>
                <a:spcPct val="112000"/>
              </a:lnSpc>
            </a:pPr>
            <a:r>
              <a:rPr sz="1050" b="0">
                <a:solidFill>
                  <a:srgbClr val="8A8A8A"/>
                </a:solidFill>
                <a:latin typeface="Arial"/>
                <a:ea typeface="Arial"/>
              </a:rPr>
              <a:t>셀 · SSD · DWPD 0.4</a:t>
            </a:r>
          </a:p>
        </p:txBody>
      </p:sp>
      <p:sp>
        <p:nvSpPr>
          <p:cNvPr id="47" name="TextBox 46"/>
          <p:cNvSpPr txBox="1"/>
          <p:nvPr/>
        </p:nvSpPr>
        <p:spPr>
          <a:xfrm>
            <a:off x="11648070" y="6327648"/>
            <a:ext cx="1533605" cy="347472"/>
          </a:xfrm>
          <a:prstGeom prst="rect">
            <a:avLst/>
          </a:prstGeom>
          <a:noFill/>
        </p:spPr>
        <p:txBody>
          <a:bodyPr wrap="square" anchor="ctr" lIns="0" rIns="0" tIns="0" bIns="0">
            <a:spAutoFit/>
          </a:bodyPr>
          <a:lstStyle/>
          <a:p>
            <a:pPr algn="l">
              <a:lnSpc>
                <a:spcPct val="112000"/>
              </a:lnSpc>
            </a:pPr>
            <a:r>
              <a:rPr sz="1200" b="1">
                <a:solidFill>
                  <a:srgbClr val="1A1A1A"/>
                </a:solidFill>
                <a:latin typeface="Arial"/>
                <a:ea typeface="Arial"/>
              </a:rPr>
              <a:t>P/E 100배 ↓</a:t>
            </a:r>
          </a:p>
        </p:txBody>
      </p:sp>
      <p:sp>
        <p:nvSpPr>
          <p:cNvPr id="48" name="Right Arrow 47"/>
          <p:cNvSpPr/>
          <p:nvPr/>
        </p:nvSpPr>
        <p:spPr>
          <a:xfrm>
            <a:off x="13318836" y="6291072"/>
            <a:ext cx="219456" cy="182880"/>
          </a:xfrm>
          <a:prstGeom prst="right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13584012" y="6016752"/>
            <a:ext cx="1716485"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3675452" y="6089904"/>
            <a:ext cx="1533605" cy="237744"/>
          </a:xfrm>
          <a:prstGeom prst="rect">
            <a:avLst/>
          </a:prstGeom>
          <a:noFill/>
        </p:spPr>
        <p:txBody>
          <a:bodyPr wrap="square" anchor="t" lIns="0" rIns="0" tIns="0" bIns="0">
            <a:spAutoFit/>
          </a:bodyPr>
          <a:lstStyle/>
          <a:p>
            <a:pPr algn="l">
              <a:lnSpc>
                <a:spcPct val="112000"/>
              </a:lnSpc>
            </a:pPr>
            <a:r>
              <a:rPr sz="1050" b="0">
                <a:solidFill>
                  <a:srgbClr val="FFFFFF"/>
                </a:solidFill>
                <a:latin typeface="Arial"/>
                <a:ea typeface="Arial"/>
              </a:rPr>
              <a:t>호스트 · 앱</a:t>
            </a:r>
          </a:p>
        </p:txBody>
      </p:sp>
      <p:sp>
        <p:nvSpPr>
          <p:cNvPr id="51" name="TextBox 50"/>
          <p:cNvSpPr txBox="1"/>
          <p:nvPr/>
        </p:nvSpPr>
        <p:spPr>
          <a:xfrm>
            <a:off x="13675452" y="6327648"/>
            <a:ext cx="1533605" cy="347472"/>
          </a:xfrm>
          <a:prstGeom prst="rect">
            <a:avLst/>
          </a:prstGeom>
          <a:noFill/>
        </p:spPr>
        <p:txBody>
          <a:bodyPr wrap="square" anchor="ctr" lIns="0" rIns="0" tIns="0" bIns="0">
            <a:spAutoFit/>
          </a:bodyPr>
          <a:lstStyle/>
          <a:p>
            <a:pPr algn="l">
              <a:lnSpc>
                <a:spcPct val="112000"/>
              </a:lnSpc>
            </a:pPr>
            <a:r>
              <a:rPr sz="1200" b="1">
                <a:solidFill>
                  <a:srgbClr val="FFFFFF"/>
                </a:solidFill>
                <a:latin typeface="Arial"/>
                <a:ea typeface="Arial"/>
              </a:rPr>
              <a:t>WAF 3.2 → 1.0</a:t>
            </a:r>
          </a:p>
        </p:txBody>
      </p:sp>
      <p:sp>
        <p:nvSpPr>
          <p:cNvPr id="52" name="Right Arrow 51"/>
          <p:cNvSpPr/>
          <p:nvPr/>
        </p:nvSpPr>
        <p:spPr>
          <a:xfrm>
            <a:off x="15346218" y="6291072"/>
            <a:ext cx="219456" cy="182880"/>
          </a:xfrm>
          <a:prstGeom prst="right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15611394" y="6016752"/>
            <a:ext cx="1716485" cy="731520"/>
          </a:xfrm>
          <a:prstGeom prst="rect">
            <a:avLst/>
          </a:prstGeom>
          <a:solidFill>
            <a:srgbClr val="F4F6FC"/>
          </a:solidFill>
          <a:ln w="1270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15702834" y="6089904"/>
            <a:ext cx="1533605" cy="237744"/>
          </a:xfrm>
          <a:prstGeom prst="rect">
            <a:avLst/>
          </a:prstGeom>
          <a:noFill/>
        </p:spPr>
        <p:txBody>
          <a:bodyPr wrap="square" anchor="t" lIns="0" rIns="0" tIns="0" bIns="0">
            <a:spAutoFit/>
          </a:bodyPr>
          <a:lstStyle/>
          <a:p>
            <a:pPr algn="l">
              <a:lnSpc>
                <a:spcPct val="112000"/>
              </a:lnSpc>
            </a:pPr>
            <a:r>
              <a:rPr sz="1050" b="0">
                <a:solidFill>
                  <a:srgbClr val="8A8A8A"/>
                </a:solidFill>
                <a:latin typeface="Arial"/>
                <a:ea typeface="Arial"/>
              </a:rPr>
              <a:t>고객</a:t>
            </a:r>
          </a:p>
        </p:txBody>
      </p:sp>
      <p:sp>
        <p:nvSpPr>
          <p:cNvPr id="55" name="TextBox 54"/>
          <p:cNvSpPr txBox="1"/>
          <p:nvPr/>
        </p:nvSpPr>
        <p:spPr>
          <a:xfrm>
            <a:off x="15702834" y="6327648"/>
            <a:ext cx="1533605" cy="347472"/>
          </a:xfrm>
          <a:prstGeom prst="rect">
            <a:avLst/>
          </a:prstGeom>
          <a:noFill/>
        </p:spPr>
        <p:txBody>
          <a:bodyPr wrap="square" anchor="ctr" lIns="0" rIns="0" tIns="0" bIns="0">
            <a:spAutoFit/>
          </a:bodyPr>
          <a:lstStyle/>
          <a:p>
            <a:pPr algn="l">
              <a:lnSpc>
                <a:spcPct val="112000"/>
              </a:lnSpc>
            </a:pPr>
            <a:r>
              <a:rPr sz="1200" b="1">
                <a:solidFill>
                  <a:srgbClr val="1A1A1A"/>
                </a:solidFill>
                <a:latin typeface="Arial"/>
                <a:ea typeface="Arial"/>
              </a:rPr>
              <a:t>DWPD 요구 유지</a:t>
            </a:r>
          </a:p>
        </p:txBody>
      </p:sp>
      <p:sp>
        <p:nvSpPr>
          <p:cNvPr id="56" name="TextBox 55"/>
          <p:cNvSpPr txBox="1"/>
          <p:nvPr/>
        </p:nvSpPr>
        <p:spPr>
          <a:xfrm>
            <a:off x="11556630" y="6967728"/>
            <a:ext cx="5771249" cy="219456"/>
          </a:xfrm>
          <a:prstGeom prst="rect">
            <a:avLst/>
          </a:prstGeom>
          <a:noFill/>
        </p:spPr>
        <p:txBody>
          <a:bodyPr wrap="square" anchor="t" lIns="0" rIns="0" tIns="0" bIns="0">
            <a:spAutoFit/>
          </a:bodyPr>
          <a:lstStyle/>
          <a:p>
            <a:pPr algn="l">
              <a:lnSpc>
                <a:spcPct val="112000"/>
              </a:lnSpc>
            </a:pPr>
            <a:r>
              <a:rPr sz="1125" b="1">
                <a:solidFill>
                  <a:srgbClr val="1428A0"/>
                </a:solidFill>
                <a:latin typeface="Arial"/>
                <a:ea typeface="Arial"/>
              </a:rPr>
              <a:t>3단계  호스트 → 고객 시스템 공동 설계  (본 덱 2~5장)</a:t>
            </a:r>
          </a:p>
        </p:txBody>
      </p:sp>
      <p:sp>
        <p:nvSpPr>
          <p:cNvPr id="57" name="Rectangle 56"/>
          <p:cNvSpPr/>
          <p:nvPr/>
        </p:nvSpPr>
        <p:spPr>
          <a:xfrm>
            <a:off x="11556630" y="7260336"/>
            <a:ext cx="1716485" cy="7315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11648070" y="7333488"/>
            <a:ext cx="1533605" cy="237744"/>
          </a:xfrm>
          <a:prstGeom prst="rect">
            <a:avLst/>
          </a:prstGeom>
          <a:noFill/>
        </p:spPr>
        <p:txBody>
          <a:bodyPr wrap="square" anchor="t" lIns="0" rIns="0" tIns="0" bIns="0">
            <a:spAutoFit/>
          </a:bodyPr>
          <a:lstStyle/>
          <a:p>
            <a:pPr algn="l">
              <a:lnSpc>
                <a:spcPct val="112000"/>
              </a:lnSpc>
            </a:pPr>
            <a:r>
              <a:rPr sz="1050" b="0">
                <a:solidFill>
                  <a:srgbClr val="8A8A8A"/>
                </a:solidFill>
                <a:latin typeface="Arial"/>
                <a:ea typeface="Arial"/>
              </a:rPr>
              <a:t>KV 캐시 관리자</a:t>
            </a:r>
          </a:p>
        </p:txBody>
      </p:sp>
      <p:sp>
        <p:nvSpPr>
          <p:cNvPr id="59" name="TextBox 58"/>
          <p:cNvSpPr txBox="1"/>
          <p:nvPr/>
        </p:nvSpPr>
        <p:spPr>
          <a:xfrm>
            <a:off x="11648070" y="7571232"/>
            <a:ext cx="1533605" cy="347472"/>
          </a:xfrm>
          <a:prstGeom prst="rect">
            <a:avLst/>
          </a:prstGeom>
          <a:noFill/>
        </p:spPr>
        <p:txBody>
          <a:bodyPr wrap="square" anchor="ctr" lIns="0" rIns="0" tIns="0" bIns="0">
            <a:spAutoFit/>
          </a:bodyPr>
          <a:lstStyle/>
          <a:p>
            <a:pPr algn="l">
              <a:lnSpc>
                <a:spcPct val="112000"/>
              </a:lnSpc>
            </a:pPr>
            <a:r>
              <a:rPr sz="1200" b="1">
                <a:solidFill>
                  <a:srgbClr val="1A1A1A"/>
                </a:solidFill>
                <a:latin typeface="Arial"/>
                <a:ea typeface="Arial"/>
              </a:rPr>
              <a:t>배치 규격 미정의</a:t>
            </a:r>
          </a:p>
        </p:txBody>
      </p:sp>
      <p:sp>
        <p:nvSpPr>
          <p:cNvPr id="60" name="Right Arrow 59"/>
          <p:cNvSpPr/>
          <p:nvPr/>
        </p:nvSpPr>
        <p:spPr>
          <a:xfrm>
            <a:off x="13318836" y="7534656"/>
            <a:ext cx="219456" cy="182880"/>
          </a:xfrm>
          <a:prstGeom prst="right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13584012" y="7260336"/>
            <a:ext cx="1716485"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13675452" y="7333488"/>
            <a:ext cx="1533605" cy="237744"/>
          </a:xfrm>
          <a:prstGeom prst="rect">
            <a:avLst/>
          </a:prstGeom>
          <a:noFill/>
        </p:spPr>
        <p:txBody>
          <a:bodyPr wrap="square" anchor="t" lIns="0" rIns="0" tIns="0" bIns="0">
            <a:spAutoFit/>
          </a:bodyPr>
          <a:lstStyle/>
          <a:p>
            <a:pPr algn="l">
              <a:lnSpc>
                <a:spcPct val="112000"/>
              </a:lnSpc>
            </a:pPr>
            <a:r>
              <a:rPr sz="1050" b="0">
                <a:solidFill>
                  <a:srgbClr val="FFFFFF"/>
                </a:solidFill>
                <a:latin typeface="Arial"/>
                <a:ea typeface="Arial"/>
              </a:rPr>
              <a:t>삼성 · FDE · SCA</a:t>
            </a:r>
          </a:p>
        </p:txBody>
      </p:sp>
      <p:sp>
        <p:nvSpPr>
          <p:cNvPr id="63" name="TextBox 62"/>
          <p:cNvSpPr txBox="1"/>
          <p:nvPr/>
        </p:nvSpPr>
        <p:spPr>
          <a:xfrm>
            <a:off x="13675452" y="7571232"/>
            <a:ext cx="1533605" cy="347472"/>
          </a:xfrm>
          <a:prstGeom prst="rect">
            <a:avLst/>
          </a:prstGeom>
          <a:noFill/>
        </p:spPr>
        <p:txBody>
          <a:bodyPr wrap="square" anchor="ctr" lIns="0" rIns="0" tIns="0" bIns="0">
            <a:spAutoFit/>
          </a:bodyPr>
          <a:lstStyle/>
          <a:p>
            <a:pPr algn="l">
              <a:lnSpc>
                <a:spcPct val="112000"/>
              </a:lnSpc>
            </a:pPr>
            <a:r>
              <a:rPr sz="1200" b="1">
                <a:solidFill>
                  <a:srgbClr val="FFFFFF"/>
                </a:solidFill>
                <a:latin typeface="Arial"/>
                <a:ea typeface="Arial"/>
              </a:rPr>
              <a:t>규격 공동 정의</a:t>
            </a:r>
          </a:p>
        </p:txBody>
      </p:sp>
      <p:sp>
        <p:nvSpPr>
          <p:cNvPr id="64" name="Right Arrow 63"/>
          <p:cNvSpPr/>
          <p:nvPr/>
        </p:nvSpPr>
        <p:spPr>
          <a:xfrm>
            <a:off x="15346218" y="7534656"/>
            <a:ext cx="219456" cy="182880"/>
          </a:xfrm>
          <a:prstGeom prst="right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15611394" y="7260336"/>
            <a:ext cx="1716485" cy="731520"/>
          </a:xfrm>
          <a:prstGeom prst="rect">
            <a:avLst/>
          </a:prstGeom>
          <a:solidFill>
            <a:srgbClr val="F4F6FC"/>
          </a:solidFill>
          <a:ln w="1270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15702834" y="7333488"/>
            <a:ext cx="1533605" cy="237744"/>
          </a:xfrm>
          <a:prstGeom prst="rect">
            <a:avLst/>
          </a:prstGeom>
          <a:noFill/>
        </p:spPr>
        <p:txBody>
          <a:bodyPr wrap="square" anchor="t" lIns="0" rIns="0" tIns="0" bIns="0">
            <a:spAutoFit/>
          </a:bodyPr>
          <a:lstStyle/>
          <a:p>
            <a:pPr algn="l">
              <a:lnSpc>
                <a:spcPct val="112000"/>
              </a:lnSpc>
            </a:pPr>
            <a:r>
              <a:rPr sz="1050" b="0">
                <a:solidFill>
                  <a:srgbClr val="8A8A8A"/>
                </a:solidFill>
                <a:latin typeface="Arial"/>
                <a:ea typeface="Arial"/>
              </a:rPr>
              <a:t>고객</a:t>
            </a:r>
          </a:p>
        </p:txBody>
      </p:sp>
      <p:sp>
        <p:nvSpPr>
          <p:cNvPr id="67" name="TextBox 66"/>
          <p:cNvSpPr txBox="1"/>
          <p:nvPr/>
        </p:nvSpPr>
        <p:spPr>
          <a:xfrm>
            <a:off x="15702834" y="7571232"/>
            <a:ext cx="1533605" cy="347472"/>
          </a:xfrm>
          <a:prstGeom prst="rect">
            <a:avLst/>
          </a:prstGeom>
          <a:noFill/>
        </p:spPr>
        <p:txBody>
          <a:bodyPr wrap="square" anchor="ctr" lIns="0" rIns="0" tIns="0" bIns="0">
            <a:spAutoFit/>
          </a:bodyPr>
          <a:lstStyle/>
          <a:p>
            <a:pPr algn="l">
              <a:lnSpc>
                <a:spcPct val="112000"/>
              </a:lnSpc>
            </a:pPr>
            <a:r>
              <a:rPr sz="1200" b="1">
                <a:solidFill>
                  <a:srgbClr val="1A1A1A"/>
                </a:solidFill>
                <a:latin typeface="Arial"/>
                <a:ea typeface="Arial"/>
              </a:rPr>
              <a:t>DWPD · TCO 보증</a:t>
            </a:r>
          </a:p>
        </p:txBody>
      </p:sp>
      <p:sp>
        <p:nvSpPr>
          <p:cNvPr id="68" name="Rectangle 67"/>
          <p:cNvSpPr/>
          <p:nvPr/>
        </p:nvSpPr>
        <p:spPr>
          <a:xfrm>
            <a:off x="722376" y="8613648"/>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1133856" y="8613648"/>
            <a:ext cx="1463040" cy="731520"/>
          </a:xfrm>
          <a:prstGeom prst="rect">
            <a:avLst/>
          </a:prstGeom>
          <a:noFill/>
        </p:spPr>
        <p:txBody>
          <a:bodyPr wrap="square" anchor="ctr" lIns="0" rIns="0" tIns="0" bIns="0">
            <a:spAutoFit/>
          </a:bodyPr>
          <a:lstStyle/>
          <a:p>
            <a:pPr algn="l">
              <a:lnSpc>
                <a:spcPct val="112000"/>
              </a:lnSpc>
            </a:pPr>
            <a:r>
              <a:rPr sz="1800" b="0">
                <a:solidFill>
                  <a:srgbClr val="FFFFFF"/>
                </a:solidFill>
                <a:latin typeface="Arial"/>
                <a:ea typeface="Arial"/>
              </a:rPr>
              <a:t>결론</a:t>
            </a:r>
          </a:p>
        </p:txBody>
      </p:sp>
      <p:sp>
        <p:nvSpPr>
          <p:cNvPr id="70" name="TextBox 69"/>
          <p:cNvSpPr txBox="1"/>
          <p:nvPr/>
        </p:nvSpPr>
        <p:spPr>
          <a:xfrm>
            <a:off x="2551176" y="8613648"/>
            <a:ext cx="14648688" cy="731520"/>
          </a:xfrm>
          <a:prstGeom prst="rect">
            <a:avLst/>
          </a:prstGeom>
          <a:noFill/>
        </p:spPr>
        <p:txBody>
          <a:bodyPr wrap="square" anchor="ctr" lIns="0" rIns="0" tIns="0" bIns="0">
            <a:spAutoFit/>
          </a:bodyPr>
          <a:lstStyle/>
          <a:p>
            <a:pPr algn="l">
              <a:lnSpc>
                <a:spcPct val="108000"/>
              </a:lnSpc>
            </a:pPr>
            <a:r>
              <a:rPr sz="1700" b="1">
                <a:solidFill>
                  <a:srgbClr val="FFFFFF"/>
                </a:solidFill>
                <a:latin typeface="Arial"/>
                <a:ea typeface="Arial"/>
              </a:rPr>
              <a:t>요구(UBER·DWPD)는 고정, 단품 지표(RBER·P/E)는 악화, 격차는 상위 계층의 변수(ECC·WAF)가 보상해 왔습니다.</a:t>
            </a:r>
          </a:p>
          <a:p>
            <a:pPr algn="l">
              <a:lnSpc>
                <a:spcPct val="108000"/>
              </a:lnSpc>
            </a:pPr>
            <a:r>
              <a:rPr sz="1700" b="1">
                <a:solidFill>
                  <a:srgbClr val="FFFFFF"/>
                </a:solidFill>
                <a:latin typeface="Arial"/>
                <a:ea typeface="Arial"/>
              </a:rPr>
              <a:t>QLC의 호스트 협력은 선택이 아니라 산식의 귀결입니다</a:t>
            </a:r>
          </a:p>
        </p:txBody>
      </p:sp>
      <p:sp>
        <p:nvSpPr>
          <p:cNvPr id="71" name="TextBox 70"/>
          <p:cNvSpPr txBox="1"/>
          <p:nvPr/>
        </p:nvSpPr>
        <p:spPr>
          <a:xfrm>
            <a:off x="722376" y="9592056"/>
            <a:ext cx="14264640" cy="310896"/>
          </a:xfrm>
          <a:prstGeom prst="rect">
            <a:avLst/>
          </a:prstGeom>
          <a:noFill/>
        </p:spPr>
        <p:txBody>
          <a:bodyPr wrap="square" anchor="t" lIns="0" rIns="0" tIns="0" bIns="0">
            <a:spAutoFit/>
          </a:bodyPr>
          <a:lstStyle/>
          <a:p>
            <a:pPr algn="l">
              <a:lnSpc>
                <a:spcPct val="112000"/>
              </a:lnSpc>
            </a:pPr>
            <a:r>
              <a:rPr sz="1600" b="0">
                <a:solidFill>
                  <a:srgbClr val="555555"/>
                </a:solidFill>
                <a:latin typeface="Arial"/>
                <a:ea typeface="Arial"/>
              </a:rPr>
              <a:t>출처: JESD218(UBER·보존), ATP·Kioxia(DWPD 산식·WAF 3), Intel X25-E·S3700·P4510 및 Solidigm P5316 사양(정격 DWPD), Mielke·Cai(RBER), WD ECC/DSP 백서(LDPC 120bit/KB), CacheLib FDP(WAF) · RBER 대표값·환산 DWPD 등급은 보고서 부록 A F28~F35</a:t>
            </a:r>
          </a:p>
        </p:txBody>
      </p:sp>
      <p:sp>
        <p:nvSpPr>
          <p:cNvPr id="72" name="TextBox 71"/>
          <p:cNvSpPr txBox="1"/>
          <p:nvPr/>
        </p:nvSpPr>
        <p:spPr>
          <a:xfrm>
            <a:off x="16047720" y="9592056"/>
            <a:ext cx="1517904"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01 / 01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