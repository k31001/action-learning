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[현실 파악] 왼쪽은 위기, 오른쪽은 기회입니다.</a:t>
            </a:r>
          </a:p>
          <a:p>
            <a:r>
              <a:t>위기: 업계 선두의 주력 노드는 2000~2011년 연 15%씩 줄었지만 2013~2025년은 연 6%로 느려졌습니다. 새 노드가 1년마다 나오던 것이 1.6년마다로 늘었고, 6F² 셀은 1d까지가 한계로 보고됩니다(TechInsights). 그 사이 CXMT는 EUV 없이 DUV 다중 패터닝으로 16nm(1z급) DDR5를 양산하고, 2026년 말 캐파가 Micron의 93%(35만 vs 37.5만 wpm)에 이릅니다. 노드 격차는 약 3세대(1a · 1b · 1c)지만 세대 간 간격이 길어져 시간으로 버는 격차가 줄어듭니다.</a:t>
            </a:r>
          </a:p>
          <a:p>
            <a:r>
              <a:t>기회: 추론은 토큰 하나를 만들 때마다 가중치와 KV 캐시를 읽는 '메모리를 읽는 기계'입니다. 알고리즘(모델 · 문맥 · 추론 SW)은 더 큰 모델, 더 긴 문맥, 더 많은 토큰으로 메모리에 고용량 · 고대역폭을 요구합니다. 산술: 토큰당 KV 320 KiB(Llama 3.1 70B, BF16) × Google 월 3,200조 토큰 ≈ 월 1 ZB의 KV 생성. 토큰이 HBM에 60초~5분 머문다고 가정하면 상주 KV는 24~121 PB, HBM 288GB 가속기 8만~42만 개 분량입니다(가정 의존, 규모 감각용). 알고리즘은 GQA(÷8), MLA, FP8/FP4 KV, PagedAttention(낭비 60~80% → 4% 미만), prefix caching(재사용 86%)으로 덜 쓰는 방법을 만들지만, 같은 기간 토큰은 2년에 330배 늘었고, 메모리 공급은 신규 팹의 실질 기여가 2028년이라 한동안 병목이 이어집니다(TrendForce 2026-07: 2026 충족률 -1~-2%).</a:t>
            </a:r>
          </a:p>
          <a:p>
            <a:r>
              <a:t>[시안 A] 왼쪽 로그 축 + 두 시기 회귀 띠, 오른쪽은 선순환 → 수요 드라이버 → 총수요 산술 → 줄이는 힘과 공급 한계 순서로 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[현실 파악] 왼쪽은 위기, 오른쪽은 기회입니다.</a:t>
            </a:r>
          </a:p>
          <a:p>
            <a:r>
              <a:t>위기: 업계 선두의 주력 노드는 2000~2011년 연 15%씩 줄었지만 2013~2025년은 연 6%로 느려졌습니다. 새 노드가 1년마다 나오던 것이 1.6년마다로 늘었고, 6F² 셀은 1d까지가 한계로 보고됩니다(TechInsights). 그 사이 CXMT는 EUV 없이 DUV 다중 패터닝으로 16nm(1z급) DDR5를 양산하고, 2026년 말 캐파가 Micron의 93%(35만 vs 37.5만 wpm)에 이릅니다. 노드 격차는 약 3세대(1a · 1b · 1c)지만 세대 간 간격이 길어져 시간으로 버는 격차가 줄어듭니다.</a:t>
            </a:r>
          </a:p>
          <a:p>
            <a:r>
              <a:t>기회: 추론은 토큰 하나를 만들 때마다 가중치와 KV 캐시를 읽는 '메모리를 읽는 기계'입니다. 알고리즘(모델 · 문맥 · 추론 SW)은 더 큰 모델, 더 긴 문맥, 더 많은 토큰으로 메모리에 고용량 · 고대역폭을 요구합니다. 산술: 토큰당 KV 320 KiB(Llama 3.1 70B, BF16) × Google 월 3,200조 토큰 ≈ 월 1 ZB의 KV 생성. 토큰이 HBM에 60초~5분 머문다고 가정하면 상주 KV는 24~121 PB, HBM 288GB 가속기 8만~42만 개 분량입니다(가정 의존, 규모 감각용). 알고리즘은 GQA(÷8), MLA, FP8/FP4 KV, PagedAttention(낭비 60~80% → 4% 미만), prefix caching(재사용 86%)으로 덜 쓰는 방법을 만들지만, 같은 기간 토큰은 2년에 330배 늘었고, 메모리 공급은 신규 팹의 실질 기여가 2028년이라 한동안 병목이 이어집니다(TrendForce 2026-07: 2026 충족률 -1~-2%).</a:t>
            </a:r>
          </a:p>
          <a:p>
            <a:r>
              <a:t>[시안 B] 왼쪽 선형 축으로 2013년 이후의 평탄화를 그대로 보여 주고, 확대 상자에서 각 사 위치를 봅니다. 오른쪽은 알고리즘과 메모리의 선순환 고리, 총수요 빅넘버, 그리고 줄이는 힘(보라)과 늘리는 힘(주황)의 배수 비교입니다. 배수는 요인별 정의가 달라 서로 곱하지 않습니다(GQA = 헤드 수, MLA = 405B GQA 대비, FP4 = BF16 대비, Paged = 유효 메모리 30% → 96%, 모델 = 8B → 405B KV/토큰, 문맥 = 8K → 1M, 토큰 = Google 2024-05 → 2026-05).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[현실 파악] 왼쪽은 위기, 오른쪽은 기회입니다.</a:t>
            </a:r>
          </a:p>
          <a:p>
            <a:r>
              <a:t>위기: 업계 선두의 주력 노드는 2000~2011년 연 15%씩 줄었지만 2013~2025년은 연 6%로 느려졌습니다. 새 노드가 1년마다 나오던 것이 1.6년마다로 늘었고, 6F² 셀은 1d까지가 한계로 보고됩니다(TechInsights). 그 사이 CXMT는 EUV 없이 DUV 다중 패터닝으로 16nm(1z급) DDR5를 양산하고, 2026년 말 캐파가 Micron의 93%(35만 vs 37.5만 wpm)에 이릅니다. 노드 격차는 약 3세대(1a · 1b · 1c)지만 세대 간 간격이 길어져 시간으로 버는 격차가 줄어듭니다.</a:t>
            </a:r>
          </a:p>
          <a:p>
            <a:r>
              <a:t>기회: 추론은 토큰 하나를 만들 때마다 가중치와 KV 캐시를 읽는 '메모리를 읽는 기계'입니다. 알고리즘(모델 · 문맥 · 추론 SW)은 더 큰 모델, 더 긴 문맥, 더 많은 토큰으로 메모리에 고용량 · 고대역폭을 요구합니다. 산술: 토큰당 KV 320 KiB(Llama 3.1 70B, BF16) × Google 월 3,200조 토큰 ≈ 월 1 ZB의 KV 생성. 토큰이 HBM에 60초~5분 머문다고 가정하면 상주 KV는 24~121 PB, HBM 288GB 가속기 8만~42만 개 분량입니다(가정 의존, 규모 감각용). 알고리즘은 GQA(÷8), MLA, FP8/FP4 KV, PagedAttention(낭비 60~80% → 4% 미만), prefix caching(재사용 86%)으로 덜 쓰는 방법을 만들지만, 같은 기간 토큰은 2년에 330배 늘었고, 메모리 공급은 신규 팹의 실질 기여가 2028년이라 한동안 병목이 이어집니다(TrendForce 2026-07: 2026 충족률 -1~-2%).</a:t>
            </a:r>
          </a:p>
          <a:p>
            <a:r>
              <a:t>[시안 C] 왼쪽 아래 점 줄이 새 노드의 간격(촘촘 → 성김)을 보여 줍니다. 오른쪽은 실물 감각: 요청 1건의 KV가 1M 문맥이면 가속기 1개의 HBM(288GB)을 넘고, 넘친 KV는 DRAM · SSD 계층으로 내려갑니다(Google Next '26 'KV Cache storage tiering across RAM, Local SSD'). 토큰은 2년에 330배, 알고리즘은 토큰당 KV를 MHA 대비 최대 1/37로 줄였습니다.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[간결형] 1~3장의 같은 근거를 핵심 그림만 남겨 다시 그렸습니다. 노드 추이의 기울기(연 -15% → -6%)와 2026년 각 사 위치(격차 3세대), 알고리즘이 토큰당 KV를 32분의 1로 줄이는 동안(70B 기준 MHA BF16 → GQA FP4) 토큰은 2년에 330배 늘었고, 메모리 공급의 실질 증가는 2028년이라는 것이 요지입니다.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[간결형] 1~3장의 같은 근거를 핵심 그림만 남겨 다시 그렸습니다. 노드 추이의 기울기(연 -15% → -6%)와 2026년 각 사 위치(격차 3세대), 알고리즘이 토큰당 KV를 32분의 1로 줄이는 동안(70B 기준 MHA BF16 → GQA FP4) 토큰은 2년에 330배 늘었고, 메모리 공급의 실질 증가는 2028년이라는 것이 요지입니다.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[간결형] 1~3장의 같은 근거를 핵심 그림만 남겨 다시 그렸습니다. 노드 추이의 기울기(연 -15% → -6%)와 2026년 각 사 위치(격차 3세대), 알고리즘이 토큰당 KV를 32분의 1로 줄이는 동안(70B 기준 MHA BF16 → GQA FP4) 토큰은 2년에 330배 늘었고, 메모리 공급의 실질 증가는 2028년이라는 것이 요지입니다.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5.png"/><Relationship Id="rId9" Type="http://schemas.openxmlformats.org/officeDocument/2006/relationships/image" Target="../media/image14.png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DRAM 기술 경쟁력 제고 · 차별화 준비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1 / 6  현실 파악 · 시안 A 흐름형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DRAM은 Shrink 장벽에 막혀 후발 주자의 추격을 받고 있지만,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AI 추론의 병목이 연산에서 메모리로 옮겨 오며 차별화의 기회가 열리고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15984" y="2194560"/>
            <a:ext cx="18288" cy="64190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" y="2139696"/>
            <a:ext cx="438912" cy="438912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3969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103120"/>
            <a:ext cx="7424927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위기: Shrink 장벽과 후발 주자의 추격</a:t>
            </a:r>
          </a:p>
        </p:txBody>
      </p:sp>
      <p:sp>
        <p:nvSpPr>
          <p:cNvPr id="10" name="Oval 9"/>
          <p:cNvSpPr/>
          <p:nvPr/>
        </p:nvSpPr>
        <p:spPr>
          <a:xfrm>
            <a:off x="9372600" y="2139696"/>
            <a:ext cx="438912" cy="438912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213969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7816" y="2103120"/>
            <a:ext cx="7607808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기회: AI 추론의 병목은 연산이 아닌 메모리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" y="8778240"/>
            <a:ext cx="16843248" cy="731520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8778240"/>
            <a:ext cx="1234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0CAEC"/>
                </a:solidFill>
                <a:latin typeface="Arial"/>
                <a:ea typeface="Arial"/>
              </a:rPr>
              <a:t>현실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2576" y="8778240"/>
            <a:ext cx="150601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Shrink만으로는 격차를 지킬 수 없다. 차별화는 AI 추론의 메모리 병목에서 찾는다</a:t>
            </a:r>
          </a:p>
        </p:txBody>
      </p:sp>
      <p:pic>
        <p:nvPicPr>
          <p:cNvPr id="16" name="Picture 15" descr="node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724912"/>
            <a:ext cx="8010144" cy="48463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22376" y="7717536"/>
            <a:ext cx="23774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7754111"/>
            <a:ext cx="213969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E8590C"/>
                </a:solidFill>
                <a:latin typeface="Arial"/>
                <a:ea typeface="Arial"/>
              </a:rPr>
              <a:t>-15% → -6%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8174736"/>
            <a:ext cx="21579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연간 노드 축소 속도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2000~11 → 2013~25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64408" y="7717536"/>
            <a:ext cx="23774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7754111"/>
            <a:ext cx="213969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E8590C"/>
                </a:solidFill>
                <a:latin typeface="Arial"/>
                <a:ea typeface="Arial"/>
              </a:rPr>
              <a:t>1년 → 1.6년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8174736"/>
            <a:ext cx="21579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새 노드가 나오는 간격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2000~11 → 2013~25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7717536"/>
            <a:ext cx="2926079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xm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7836408"/>
            <a:ext cx="932318" cy="2468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13078" y="7754111"/>
            <a:ext cx="162800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93%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2744" y="8174736"/>
            <a:ext cx="270662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2026 말 캐파, Micron 대비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35만 vs 37.5만 wpm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600" y="2724912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F0EBFA"/>
          </a:solidFill>
          <a:ln w="15875">
            <a:solidFill>
              <a:srgbClr val="694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27464" y="2724912"/>
            <a:ext cx="272491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6941C6"/>
                </a:solidFill>
                <a:latin typeface="Arial"/>
                <a:ea typeface="Arial"/>
              </a:rPr>
              <a:t>알고리즘</a:t>
            </a:r>
          </a:p>
          <a:p>
            <a:pPr algn="ctr">
              <a:lnSpc>
                <a:spcPct val="110000"/>
              </a:lnSpc>
            </a:pPr>
            <a:r>
              <a:rPr sz="1700" b="0">
                <a:solidFill>
                  <a:srgbClr val="1A1A1A"/>
                </a:solidFill>
                <a:latin typeface="Arial"/>
                <a:ea typeface="Arial"/>
              </a:rPr>
              <a:t>모델 · 문맥 · 추론 SW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730984" y="2724912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E6F3F1"/>
          </a:solidFill>
          <a:ln w="15875">
            <a:solidFill>
              <a:srgbClr val="0E93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785847" y="2724912"/>
            <a:ext cx="272491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0E9384"/>
                </a:solidFill>
                <a:latin typeface="Arial"/>
                <a:ea typeface="Arial"/>
              </a:rPr>
              <a:t>메모리</a:t>
            </a:r>
          </a:p>
          <a:p>
            <a:pPr algn="ctr">
              <a:lnSpc>
                <a:spcPct val="110000"/>
              </a:lnSpc>
            </a:pPr>
            <a:r>
              <a:rPr sz="1700" b="0">
                <a:solidFill>
                  <a:srgbClr val="1A1A1A"/>
                </a:solidFill>
                <a:latin typeface="Arial"/>
                <a:ea typeface="Arial"/>
              </a:rPr>
              <a:t>고용량 · 고대역폭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2316967" y="2816352"/>
            <a:ext cx="2304288" cy="182880"/>
          </a:xfrm>
          <a:prstGeom prst="rightArrow">
            <a:avLst/>
          </a:prstGeom>
          <a:solidFill>
            <a:srgbClr val="694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eft Arrow 31"/>
          <p:cNvSpPr/>
          <p:nvPr/>
        </p:nvSpPr>
        <p:spPr>
          <a:xfrm>
            <a:off x="12316967" y="3182112"/>
            <a:ext cx="2304288" cy="182880"/>
          </a:xfrm>
          <a:prstGeom prst="leftArrow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16967" y="2971800"/>
            <a:ext cx="230428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더 많이 요구 · 더 크게 허용</a:t>
            </a:r>
          </a:p>
        </p:txBody>
      </p:sp>
      <p:pic>
        <p:nvPicPr>
          <p:cNvPr id="34" name="Picture 33" descr="driv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3584448"/>
            <a:ext cx="8193024" cy="1828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372600" y="5504688"/>
            <a:ext cx="81930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메모리 총수요 산술</a:t>
            </a: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   KV/토큰 × 월간 토큰 → 상주량 (가정: HBM 체류 60초~5분)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72600" y="5833872"/>
            <a:ext cx="1645920" cy="786384"/>
          </a:xfrm>
          <a:prstGeom prst="roundRect">
            <a:avLst>
              <a:gd name="adj" fmla="val 9302"/>
            </a:avLst>
          </a:prstGeom>
          <a:solidFill>
            <a:srgbClr val="F0EBFA"/>
          </a:solidFill>
          <a:ln w="12700">
            <a:solidFill>
              <a:srgbClr val="694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5888736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6941C6"/>
                </a:solidFill>
                <a:latin typeface="Arial"/>
                <a:ea typeface="Arial"/>
              </a:rPr>
              <a:t>320 KiB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6272783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KV / 토큰 (70B)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18520" y="5833872"/>
            <a:ext cx="310896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555555"/>
                </a:solidFill>
                <a:latin typeface="Arial"/>
                <a:ea typeface="Arial"/>
              </a:rPr>
              <a:t>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329416" y="5833872"/>
            <a:ext cx="1645920" cy="786384"/>
          </a:xfrm>
          <a:prstGeom prst="roundRect">
            <a:avLst>
              <a:gd name="adj" fmla="val 9302"/>
            </a:avLst>
          </a:prstGeom>
          <a:solidFill>
            <a:srgbClr val="E6F3F1"/>
          </a:solidFill>
          <a:ln w="12700">
            <a:solidFill>
              <a:srgbClr val="0E93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329416" y="5888736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0E9384"/>
                </a:solidFill>
                <a:latin typeface="Arial"/>
                <a:ea typeface="Arial"/>
              </a:rPr>
              <a:t>3,200조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29416" y="6272783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Google 월간 토큰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975336" y="5833872"/>
            <a:ext cx="310896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555555"/>
                </a:solidFill>
                <a:latin typeface="Arial"/>
                <a:ea typeface="Arial"/>
              </a:rPr>
              <a:t>=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286232" y="5833872"/>
            <a:ext cx="1481328" cy="786384"/>
          </a:xfrm>
          <a:prstGeom prst="roundRect">
            <a:avLst>
              <a:gd name="adj" fmla="val 9302"/>
            </a:avLst>
          </a:prstGeom>
          <a:solidFill>
            <a:srgbClr val="FDEFE6"/>
          </a:solidFill>
          <a:ln w="127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286232" y="5888736"/>
            <a:ext cx="148132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8590C"/>
                </a:solidFill>
                <a:latin typeface="Arial"/>
                <a:ea typeface="Arial"/>
              </a:rPr>
              <a:t>≈1 ZB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86232" y="6272783"/>
            <a:ext cx="14813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월간 KV 생성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767560" y="5833872"/>
            <a:ext cx="310896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555555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078456" y="5833872"/>
            <a:ext cx="2194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078456" y="5888736"/>
            <a:ext cx="21945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D93025"/>
                </a:solidFill>
                <a:latin typeface="Arial"/>
                <a:ea typeface="Arial"/>
              </a:rPr>
              <a:t>8만~42만 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78456" y="6272783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HBM 288GB 가속기분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6766560"/>
            <a:ext cx="3931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6941C6"/>
                </a:solidFill>
                <a:latin typeface="Arial"/>
                <a:ea typeface="Arial"/>
              </a:rPr>
              <a:t>알고리즘이 줄인다 (KiB / 토큰)</a:t>
            </a:r>
          </a:p>
        </p:txBody>
      </p:sp>
      <p:pic>
        <p:nvPicPr>
          <p:cNvPr id="52" name="Picture 51" descr="kv_stai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7120863"/>
            <a:ext cx="3931920" cy="117505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372600" y="8339327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941C6"/>
                </a:solidFill>
                <a:latin typeface="Arial"/>
                <a:ea typeface="Arial"/>
              </a:rPr>
              <a:t>Paged 낭비 70%→4% · Prefix 재사용 86%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633704" y="6766560"/>
            <a:ext cx="3931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D93025"/>
                </a:solidFill>
                <a:latin typeface="Arial"/>
                <a:ea typeface="Arial"/>
              </a:rPr>
              <a:t>메모리는 바로 늘릴 수 없다</a:t>
            </a:r>
          </a:p>
        </p:txBody>
      </p:sp>
      <p:pic>
        <p:nvPicPr>
          <p:cNvPr id="55" name="Picture 54" descr="render_d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33704" y="7149699"/>
            <a:ext cx="1417320" cy="53216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142463" y="7132320"/>
            <a:ext cx="2423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팹 건설 · 장비 · HBM 웨이퍼 소모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289024" y="7909559"/>
            <a:ext cx="2621280" cy="3657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4170152" y="7808975"/>
            <a:ext cx="237744" cy="237744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633704" y="8074152"/>
            <a:ext cx="131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D93025"/>
                </a:solidFill>
                <a:latin typeface="Arial"/>
                <a:ea typeface="Arial"/>
              </a:rPr>
              <a:t>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587984" y="8348471"/>
            <a:ext cx="140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부족 1~2%</a:t>
            </a:r>
          </a:p>
        </p:txBody>
      </p:sp>
      <p:sp>
        <p:nvSpPr>
          <p:cNvPr id="61" name="Oval 60"/>
          <p:cNvSpPr/>
          <p:nvPr/>
        </p:nvSpPr>
        <p:spPr>
          <a:xfrm>
            <a:off x="15480792" y="7808975"/>
            <a:ext cx="237744" cy="237744"/>
          </a:xfrm>
          <a:prstGeom prst="ellips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44344" y="8074152"/>
            <a:ext cx="131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555555"/>
                </a:solidFill>
                <a:latin typeface="Arial"/>
                <a:ea typeface="Arial"/>
              </a:rPr>
              <a:t>2H27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898624" y="8348471"/>
            <a:ext cx="140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신규 팹 램프</a:t>
            </a:r>
          </a:p>
        </p:txBody>
      </p:sp>
      <p:sp>
        <p:nvSpPr>
          <p:cNvPr id="64" name="Oval 63"/>
          <p:cNvSpPr/>
          <p:nvPr/>
        </p:nvSpPr>
        <p:spPr>
          <a:xfrm>
            <a:off x="16791432" y="7808975"/>
            <a:ext cx="237744" cy="23774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54983" y="8074152"/>
            <a:ext cx="131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0E9384"/>
                </a:solidFill>
                <a:latin typeface="Arial"/>
                <a:ea typeface="Arial"/>
              </a:rPr>
              <a:t>2028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209263" y="8348471"/>
            <a:ext cx="140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실질 출하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" y="9601200"/>
            <a:ext cx="154533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출처: 노드: ITRS · TechInsights · 각 사 발표(선두 주력 양산 근사) · 2026 위치: Fab Tracker Q2'26 · Digitimes · SemiAnalysis / KV: Llama 3.1 · DeepSeek-V3 설정 산식 · 토큰: Google I/O · Paged: SOSP'23 · 공급: TrendForce 2026-07 · 산술은 가정 의존 · 부품은 3D 렌더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102584" y="9601200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55555"/>
                </a:solidFill>
                <a:latin typeface="Arial"/>
                <a:ea typeface="Arial"/>
              </a:rPr>
              <a:t>시안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DRAM 기술 경쟁력 제고 · 차별화 준비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2 / 6  현실 파악 · 시안 B 선순환형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DRAM은 Shrink 장벽에 막혀 후발 주자의 추격을 받고 있지만,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AI 추론의 병목이 연산에서 메모리로 옮겨 오며 차별화의 기회가 열리고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15984" y="2194560"/>
            <a:ext cx="18288" cy="64190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" y="2139696"/>
            <a:ext cx="438912" cy="438912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3969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103120"/>
            <a:ext cx="7424927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위기: Shrink 장벽과 후발 주자의 추격</a:t>
            </a:r>
          </a:p>
        </p:txBody>
      </p:sp>
      <p:sp>
        <p:nvSpPr>
          <p:cNvPr id="10" name="Oval 9"/>
          <p:cNvSpPr/>
          <p:nvPr/>
        </p:nvSpPr>
        <p:spPr>
          <a:xfrm>
            <a:off x="9372600" y="2139696"/>
            <a:ext cx="438912" cy="438912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213969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7816" y="2103120"/>
            <a:ext cx="7607808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기회: AI 추론의 병목은 연산이 아닌 메모리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" y="8778240"/>
            <a:ext cx="16843248" cy="731520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8778240"/>
            <a:ext cx="1234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0CAEC"/>
                </a:solidFill>
                <a:latin typeface="Arial"/>
                <a:ea typeface="Arial"/>
              </a:rPr>
              <a:t>현실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2576" y="8778240"/>
            <a:ext cx="150601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Shrink만으로는 격차를 지킬 수 없다. 차별화는 AI 추론의 메모리 병목에서 찾는다</a:t>
            </a:r>
          </a:p>
        </p:txBody>
      </p:sp>
      <p:pic>
        <p:nvPicPr>
          <p:cNvPr id="16" name="Picture 15" descr="node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724912"/>
            <a:ext cx="8010144" cy="48463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22376" y="7717536"/>
            <a:ext cx="23774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7754111"/>
            <a:ext cx="213969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E8590C"/>
                </a:solidFill>
                <a:latin typeface="Arial"/>
                <a:ea typeface="Arial"/>
              </a:rPr>
              <a:t>-15% → -6%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8174736"/>
            <a:ext cx="21579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연간 노드 축소 속도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2000~11 → 2013~25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64408" y="7717536"/>
            <a:ext cx="23774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7754111"/>
            <a:ext cx="213969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E8590C"/>
                </a:solidFill>
                <a:latin typeface="Arial"/>
                <a:ea typeface="Arial"/>
              </a:rPr>
              <a:t>1년 → 1.6년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8174736"/>
            <a:ext cx="21579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새 노드가 나오는 간격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2000~11 → 2013~25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7717536"/>
            <a:ext cx="2926079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xm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7836408"/>
            <a:ext cx="932318" cy="2468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13078" y="7754111"/>
            <a:ext cx="162800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93%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2744" y="8174736"/>
            <a:ext cx="270662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2026 말 캐파, Micron 대비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35만 vs 37.5만 wpm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724912"/>
            <a:ext cx="28346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6941C6"/>
                </a:solidFill>
                <a:latin typeface="Arial"/>
                <a:ea typeface="Arial"/>
              </a:rPr>
              <a:t>알고리즘</a:t>
            </a:r>
          </a:p>
        </p:txBody>
      </p:sp>
      <p:pic>
        <p:nvPicPr>
          <p:cNvPr id="28" name="Picture 27" descr="flywh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4" y="3072384"/>
            <a:ext cx="2084831" cy="2084831"/>
          </a:xfrm>
          <a:prstGeom prst="rect">
            <a:avLst/>
          </a:prstGeom>
        </p:spPr>
      </p:pic>
      <p:pic>
        <p:nvPicPr>
          <p:cNvPr id="29" name="Picture 28" descr="render_hb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992" y="3700247"/>
            <a:ext cx="1133856" cy="8291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72600" y="5175503"/>
            <a:ext cx="28346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0E9384"/>
                </a:solidFill>
                <a:latin typeface="Arial"/>
                <a:ea typeface="Arial"/>
              </a:rPr>
              <a:t>메모리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27280" y="2743200"/>
            <a:ext cx="503834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6941C6"/>
                </a:solidFill>
                <a:latin typeface="Arial"/>
                <a:ea typeface="Arial"/>
              </a:rPr>
              <a:t>알고리즘이 메모리에 요구하는 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527280" y="3218688"/>
            <a:ext cx="73152" cy="21945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710159" y="3145536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더 큰 모델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264640" y="3145536"/>
            <a:ext cx="33009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KV/토큰 128 → 504 KiB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527280" y="3602736"/>
            <a:ext cx="73152" cy="21945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710159" y="3529584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더 긴 문맥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264640" y="3529584"/>
            <a:ext cx="33009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요청 1건 2.7 → 328 GB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527280" y="3986784"/>
            <a:ext cx="73152" cy="21945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710159" y="3913632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더 많은 토큰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0" y="3913632"/>
            <a:ext cx="33009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Google 월 9.7조 → 3,200조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27280" y="4443984"/>
            <a:ext cx="5038344" cy="1115568"/>
          </a:xfrm>
          <a:prstGeom prst="roundRect">
            <a:avLst>
              <a:gd name="adj" fmla="val 6557"/>
            </a:avLst>
          </a:prstGeom>
          <a:solidFill>
            <a:srgbClr val="FDEFE6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710159" y="4498848"/>
            <a:ext cx="46725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A1A1A"/>
                </a:solidFill>
                <a:latin typeface="Arial"/>
                <a:ea typeface="Arial"/>
              </a:rPr>
              <a:t>320 KiB × 월 3,200조 토큰 ≈ 월 1 ZB KV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710159" y="4828032"/>
            <a:ext cx="46725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A1A1A"/>
                </a:solidFill>
                <a:latin typeface="Arial"/>
                <a:ea typeface="Arial"/>
              </a:rPr>
              <a:t>HBM 가속기 </a:t>
            </a:r>
            <a:r>
              <a:rPr sz="3000" b="1">
                <a:solidFill>
                  <a:srgbClr val="D93025"/>
                </a:solidFill>
                <a:latin typeface="Arial"/>
                <a:ea typeface="Arial"/>
              </a:rPr>
              <a:t>8만~42만 개</a:t>
            </a:r>
            <a:r>
              <a:rPr sz="2000" b="1">
                <a:solidFill>
                  <a:srgbClr val="1A1A1A"/>
                </a:solidFill>
                <a:latin typeface="Arial"/>
                <a:ea typeface="Arial"/>
              </a:rPr>
              <a:t> 분량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710159" y="5266944"/>
            <a:ext cx="467258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산술 · 가정: 288GB 가속기, HBM 체류 60초~5분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5760720"/>
            <a:ext cx="81930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줄이는 힘보다 늘리는 힘이 크다 (2024~2026, 요인별 배수)</a:t>
            </a:r>
          </a:p>
        </p:txBody>
      </p:sp>
      <p:pic>
        <p:nvPicPr>
          <p:cNvPr id="46" name="Picture 45" descr="t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6089904"/>
            <a:ext cx="8193024" cy="2148840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9372600" y="8284464"/>
            <a:ext cx="8193024" cy="329184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18904" y="8284464"/>
            <a:ext cx="79187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D93025"/>
                </a:solidFill>
                <a:latin typeface="Arial"/>
                <a:ea typeface="Arial"/>
              </a:rPr>
              <a:t>공급 한계  </a:t>
            </a:r>
            <a:r>
              <a:rPr sz="1600" b="0">
                <a:solidFill>
                  <a:srgbClr val="1A1A1A"/>
                </a:solidFill>
                <a:latin typeface="Arial"/>
                <a:ea typeface="Arial"/>
              </a:rPr>
              <a:t>2026 충족률 -1~-2%, 신규 팹 실질 기여는 2028년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" y="9601200"/>
            <a:ext cx="154533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출처: 노드: ITRS · TechInsights · 각 사 발표(선두 주력 양산 근사) · 2026 위치: Fab Tracker Q2'26 · Digitimes · SemiAnalysis / KV: Llama 3.1 · DeepSeek-V3 설정 산식 · 토큰: Google I/O · Paged: SOSP'23 · 공급: TrendForce 2026-07 · 산술은 가정 의존 · 부품은 3D 렌더 · 배수는 요인별(곱하지 않음)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02584" y="9601200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55555"/>
                </a:solidFill>
                <a:latin typeface="Arial"/>
                <a:ea typeface="Arial"/>
              </a:rPr>
              <a:t>시안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DRAM 기술 경쟁력 제고 · 차별화 준비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3 / 6  현실 파악 · 시안 C 실물형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DRAM은 Shrink 장벽에 막혀 후발 주자의 추격을 받고 있지만,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AI 추론의 병목이 연산에서 메모리로 옮겨 오며 차별화의 기회가 열리고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15984" y="2194560"/>
            <a:ext cx="18288" cy="64190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" y="2139696"/>
            <a:ext cx="438912" cy="438912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3969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103120"/>
            <a:ext cx="7424927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위기: Shrink 장벽과 후발 주자의 추격</a:t>
            </a:r>
          </a:p>
        </p:txBody>
      </p:sp>
      <p:sp>
        <p:nvSpPr>
          <p:cNvPr id="10" name="Oval 9"/>
          <p:cNvSpPr/>
          <p:nvPr/>
        </p:nvSpPr>
        <p:spPr>
          <a:xfrm>
            <a:off x="9372600" y="2139696"/>
            <a:ext cx="438912" cy="438912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213969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7816" y="2103120"/>
            <a:ext cx="7607808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기회: AI 추론의 병목은 연산이 아닌 메모리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" y="8778240"/>
            <a:ext cx="16843248" cy="731520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8778240"/>
            <a:ext cx="1234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0CAEC"/>
                </a:solidFill>
                <a:latin typeface="Arial"/>
                <a:ea typeface="Arial"/>
              </a:rPr>
              <a:t>현실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2576" y="8778240"/>
            <a:ext cx="150601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Shrink만으로는 격차를 지킬 수 없다. 차별화는 AI 추론의 메모리 병목에서 찾는다</a:t>
            </a:r>
          </a:p>
        </p:txBody>
      </p:sp>
      <p:pic>
        <p:nvPicPr>
          <p:cNvPr id="16" name="Picture 15" descr="node_ca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724912"/>
            <a:ext cx="8010144" cy="48463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22376" y="7717536"/>
            <a:ext cx="23774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7754111"/>
            <a:ext cx="213969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E8590C"/>
                </a:solidFill>
                <a:latin typeface="Arial"/>
                <a:ea typeface="Arial"/>
              </a:rPr>
              <a:t>-15% → -6%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8174736"/>
            <a:ext cx="21579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연간 노드 축소 속도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2000~11 → 2013~25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64408" y="7717536"/>
            <a:ext cx="23774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7754111"/>
            <a:ext cx="213969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E8590C"/>
                </a:solidFill>
                <a:latin typeface="Arial"/>
                <a:ea typeface="Arial"/>
              </a:rPr>
              <a:t>1년 → 1.6년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8174736"/>
            <a:ext cx="215798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새 노드가 나오는 간격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2000~11 → 2013~25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7717536"/>
            <a:ext cx="2926079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xm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7836408"/>
            <a:ext cx="932318" cy="2468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13078" y="7754111"/>
            <a:ext cx="162800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93%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2744" y="8174736"/>
            <a:ext cx="270662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2026 말 캐파, Micron 대비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35만 vs 37.5만 wpm</a:t>
            </a:r>
          </a:p>
        </p:txBody>
      </p:sp>
      <p:pic>
        <p:nvPicPr>
          <p:cNvPr id="27" name="Picture 26" descr="t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743200"/>
            <a:ext cx="4160520" cy="2926079"/>
          </a:xfrm>
          <a:prstGeom prst="rect">
            <a:avLst/>
          </a:prstGeom>
        </p:spPr>
      </p:pic>
      <p:pic>
        <p:nvPicPr>
          <p:cNvPr id="28" name="Picture 27" descr="render_hb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1590" y="3785615"/>
            <a:ext cx="1187978" cy="868680"/>
          </a:xfrm>
          <a:prstGeom prst="rect">
            <a:avLst/>
          </a:prstGeom>
        </p:spPr>
      </p:pic>
      <p:pic>
        <p:nvPicPr>
          <p:cNvPr id="29" name="Picture 28" descr="toke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0" y="2744741"/>
            <a:ext cx="3849624" cy="228291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3716000" y="5084064"/>
            <a:ext cx="3849624" cy="585216"/>
          </a:xfrm>
          <a:prstGeom prst="roundRect">
            <a:avLst>
              <a:gd name="adj" fmla="val 12500"/>
            </a:avLst>
          </a:prstGeom>
          <a:solidFill>
            <a:srgbClr val="FDEFE6"/>
          </a:solidFill>
          <a:ln w="127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0" y="5084064"/>
            <a:ext cx="384962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1A1A1A"/>
                </a:solidFill>
                <a:latin typeface="Arial"/>
                <a:ea typeface="Arial"/>
              </a:rPr>
              <a:t>× 320 KiB/토큰 = </a:t>
            </a:r>
            <a:r>
              <a:rPr sz="2200" b="1">
                <a:solidFill>
                  <a:srgbClr val="E8590C"/>
                </a:solidFill>
                <a:latin typeface="Arial"/>
                <a:ea typeface="Arial"/>
              </a:rPr>
              <a:t>월 ≈1 ZB KV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5815584"/>
            <a:ext cx="3977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6941C6"/>
                </a:solidFill>
                <a:latin typeface="Arial"/>
                <a:ea typeface="Arial"/>
              </a:rPr>
              <a:t>알고리즘이 줄인다 (KiB / 토큰)</a:t>
            </a:r>
          </a:p>
        </p:txBody>
      </p:sp>
      <p:pic>
        <p:nvPicPr>
          <p:cNvPr id="33" name="Picture 32" descr="kv_sta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6163056"/>
            <a:ext cx="3977639" cy="21031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372600" y="8321040"/>
            <a:ext cx="4206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941C6"/>
                </a:solidFill>
                <a:latin typeface="Arial"/>
                <a:ea typeface="Arial"/>
              </a:rPr>
              <a:t>Paged 낭비 70%→4% · Prefix 재사용 86%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624560" y="5815584"/>
            <a:ext cx="39410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D93025"/>
                </a:solidFill>
                <a:latin typeface="Arial"/>
                <a:ea typeface="Arial"/>
              </a:rPr>
              <a:t>넘치면 아래 계층으로, 공급은 2028년</a:t>
            </a:r>
          </a:p>
        </p:txBody>
      </p:sp>
      <p:pic>
        <p:nvPicPr>
          <p:cNvPr id="36" name="Picture 35" descr="render_hb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36422" y="6217920"/>
            <a:ext cx="1000403" cy="7315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441680" y="6967728"/>
            <a:ext cx="13898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A1A1A"/>
                </a:solidFill>
                <a:latin typeface="Arial"/>
                <a:ea typeface="Arial"/>
              </a:rPr>
              <a:t>HBM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14703551" y="6464808"/>
            <a:ext cx="324612" cy="219456"/>
          </a:xfrm>
          <a:prstGeom prst="rightArrow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render_dr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83028" y="6391412"/>
            <a:ext cx="1024128" cy="38453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4900148" y="6967728"/>
            <a:ext cx="13898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A1A1A"/>
                </a:solidFill>
                <a:latin typeface="Arial"/>
                <a:ea typeface="Arial"/>
              </a:rPr>
              <a:t>DRAM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6162020" y="6464808"/>
            <a:ext cx="324612" cy="219456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render_serv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41496" y="6282326"/>
            <a:ext cx="1024128" cy="6027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358616" y="6967728"/>
            <a:ext cx="13898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A1A1A"/>
                </a:solidFill>
                <a:latin typeface="Arial"/>
                <a:ea typeface="Arial"/>
              </a:rPr>
              <a:t>SSD · 서버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281404" y="7571231"/>
            <a:ext cx="2627376" cy="3657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4162532" y="7470648"/>
            <a:ext cx="237744" cy="237744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624560" y="7735824"/>
            <a:ext cx="1313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D93025"/>
                </a:solidFill>
                <a:latin typeface="Arial"/>
                <a:ea typeface="Arial"/>
              </a:rPr>
              <a:t>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578840" y="8010144"/>
            <a:ext cx="1405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부족 1~2%</a:t>
            </a:r>
          </a:p>
        </p:txBody>
      </p:sp>
      <p:sp>
        <p:nvSpPr>
          <p:cNvPr id="48" name="Oval 47"/>
          <p:cNvSpPr/>
          <p:nvPr/>
        </p:nvSpPr>
        <p:spPr>
          <a:xfrm>
            <a:off x="15476220" y="7470648"/>
            <a:ext cx="237744" cy="237744"/>
          </a:xfrm>
          <a:prstGeom prst="ellips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938248" y="7735824"/>
            <a:ext cx="1313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555555"/>
                </a:solidFill>
                <a:latin typeface="Arial"/>
                <a:ea typeface="Arial"/>
              </a:rPr>
              <a:t>2H27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892527" y="8010144"/>
            <a:ext cx="1405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신규 팹 램프</a:t>
            </a:r>
          </a:p>
        </p:txBody>
      </p:sp>
      <p:sp>
        <p:nvSpPr>
          <p:cNvPr id="51" name="Oval 50"/>
          <p:cNvSpPr/>
          <p:nvPr/>
        </p:nvSpPr>
        <p:spPr>
          <a:xfrm>
            <a:off x="16789908" y="7470648"/>
            <a:ext cx="237744" cy="23774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251936" y="7735824"/>
            <a:ext cx="1313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0E9384"/>
                </a:solidFill>
                <a:latin typeface="Arial"/>
                <a:ea typeface="Arial"/>
              </a:rPr>
              <a:t>2028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206216" y="8010144"/>
            <a:ext cx="1405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실질 출하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" y="9601200"/>
            <a:ext cx="154533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출처: 노드: ITRS · TechInsights · 각 사 발표(선두 주력 양산 근사) · 2026 위치: Fab Tracker Q2'26 · Digitimes · SemiAnalysis / KV: Llama 3.1 · DeepSeek-V3 설정 산식 · 토큰: Google I/O · Paged: SOSP'23 · 공급: TrendForce 2026-07 · 산술은 가정 의존 · 부품은 3D 렌더 · KV 계층화: Google Next '26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102584" y="9601200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55555"/>
                </a:solidFill>
                <a:latin typeface="Arial"/>
                <a:ea typeface="Arial"/>
              </a:rPr>
              <a:t>시안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DRAM 기술 경쟁력 제고 · 차별화 준비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4 / 6  현실 파악 · 시안 A2 흐름형 간결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DRAM은 Shrink 장벽에 막혀 후발 주자의 추격을 받고 있지만,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AI 추론의 병목이 연산에서 메모리로 옮겨 오며 차별화의 기회가 열리고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15984" y="2194560"/>
            <a:ext cx="18288" cy="64190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" y="2139696"/>
            <a:ext cx="438912" cy="438912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3969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103120"/>
            <a:ext cx="7424927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위기: Shrink 장벽 · 후발 추격</a:t>
            </a:r>
          </a:p>
        </p:txBody>
      </p:sp>
      <p:sp>
        <p:nvSpPr>
          <p:cNvPr id="10" name="Oval 9"/>
          <p:cNvSpPr/>
          <p:nvPr/>
        </p:nvSpPr>
        <p:spPr>
          <a:xfrm>
            <a:off x="9372600" y="2139696"/>
            <a:ext cx="438912" cy="438912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213969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7816" y="2103120"/>
            <a:ext cx="7607808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기회: 추론의 병목은 메모리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" y="8778240"/>
            <a:ext cx="16843248" cy="731520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8778240"/>
            <a:ext cx="1234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0CAEC"/>
                </a:solidFill>
                <a:latin typeface="Arial"/>
                <a:ea typeface="Arial"/>
              </a:rPr>
              <a:t>현실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2576" y="8778240"/>
            <a:ext cx="150601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Shrink만으로는 격차를 지킬 수 없다. 차별화는 AI 추론의 메모리 병목에서 찾는다</a:t>
            </a:r>
          </a:p>
        </p:txBody>
      </p:sp>
      <p:pic>
        <p:nvPicPr>
          <p:cNvPr id="16" name="Picture 15" descr="node_simple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724912"/>
            <a:ext cx="8010144" cy="5852160"/>
          </a:xfrm>
          <a:prstGeom prst="rect">
            <a:avLst/>
          </a:prstGeom>
        </p:spPr>
      </p:pic>
      <p:pic>
        <p:nvPicPr>
          <p:cNvPr id="17" name="Picture 16" descr="drivers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724912"/>
            <a:ext cx="8193024" cy="2468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372600" y="5358384"/>
            <a:ext cx="2331720" cy="1188720"/>
          </a:xfrm>
          <a:prstGeom prst="roundRect">
            <a:avLst>
              <a:gd name="adj" fmla="val 6153"/>
            </a:avLst>
          </a:prstGeom>
          <a:solidFill>
            <a:srgbClr val="F0EBFA"/>
          </a:solidFill>
          <a:ln w="15875">
            <a:solidFill>
              <a:srgbClr val="694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5431536"/>
            <a:ext cx="2331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1">
                <a:solidFill>
                  <a:srgbClr val="6941C6"/>
                </a:solidFill>
                <a:latin typeface="Arial"/>
                <a:ea typeface="Arial"/>
              </a:rPr>
              <a:t>320 KiB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6108192"/>
            <a:ext cx="2331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KV / 토큰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0" y="5358384"/>
            <a:ext cx="4572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 b="1">
                <a:solidFill>
                  <a:srgbClr val="555555"/>
                </a:solidFill>
                <a:latin typeface="Arial"/>
                <a:ea typeface="Arial"/>
              </a:rPr>
              <a:t>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161520" y="5358384"/>
            <a:ext cx="2331720" cy="1188720"/>
          </a:xfrm>
          <a:prstGeom prst="roundRect">
            <a:avLst>
              <a:gd name="adj" fmla="val 6153"/>
            </a:avLst>
          </a:prstGeom>
          <a:solidFill>
            <a:srgbClr val="E6F3F1"/>
          </a:solidFill>
          <a:ln w="15875">
            <a:solidFill>
              <a:srgbClr val="0E93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61520" y="5431536"/>
            <a:ext cx="2331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1">
                <a:solidFill>
                  <a:srgbClr val="0E9384"/>
                </a:solidFill>
                <a:latin typeface="Arial"/>
                <a:ea typeface="Arial"/>
              </a:rPr>
              <a:t>3,200조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0" y="6108192"/>
            <a:ext cx="2331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월간 토큰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93240" y="5358384"/>
            <a:ext cx="4572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 b="1">
                <a:solidFill>
                  <a:srgbClr val="555555"/>
                </a:solidFill>
                <a:latin typeface="Arial"/>
                <a:ea typeface="Arial"/>
              </a:rPr>
              <a:t>=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950440" y="5358384"/>
            <a:ext cx="2615184" cy="1188720"/>
          </a:xfrm>
          <a:prstGeom prst="roundRect">
            <a:avLst>
              <a:gd name="adj" fmla="val 6153"/>
            </a:avLst>
          </a:prstGeom>
          <a:solidFill>
            <a:srgbClr val="E8590C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950440" y="5431536"/>
            <a:ext cx="261518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</a:rPr>
              <a:t>월 1 ZB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50440" y="6108192"/>
            <a:ext cx="2615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KV 생성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6620256"/>
            <a:ext cx="5394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토큰당 KV 절감(70B, MHA → GQA · FP4) vs 토큰 증가(2년)</a:t>
            </a:r>
          </a:p>
        </p:txBody>
      </p:sp>
      <p:pic>
        <p:nvPicPr>
          <p:cNvPr id="30" name="Picture 29" descr="tug2_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6858000"/>
            <a:ext cx="5394959" cy="173736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5005304" y="6784848"/>
            <a:ext cx="2560320" cy="1755648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905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05304" y="687628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메모리 공급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05304" y="7205472"/>
            <a:ext cx="2560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1">
                <a:solidFill>
                  <a:srgbClr val="D93025"/>
                </a:solidFill>
                <a:latin typeface="Arial"/>
                <a:ea typeface="Arial"/>
              </a:rPr>
              <a:t>2028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05304" y="813816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신규 팹 실질 출하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9601200"/>
            <a:ext cx="154533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출처: ITRS · TechInsights · Fab Tracker Q2'26 · Digitimes / Llama 3.1 설정 산식 · Google I/O · TrendForce 2026-07 · 산술은 가정 의존 · 부품은 3D 렌더 · 상세 근거는 시안 A~C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102584" y="9601200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55555"/>
                </a:solidFill>
                <a:latin typeface="Arial"/>
                <a:ea typeface="Arial"/>
              </a:rPr>
              <a:t>시안 A2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DRAM 기술 경쟁력 제고 · 차별화 준비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5 / 6  현실 파악 · 시안 B2 선순환형 간결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DRAM은 Shrink 장벽에 막혀 후발 주자의 추격을 받고 있지만,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AI 추론의 병목이 연산에서 메모리로 옮겨 오며 차별화의 기회가 열리고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15984" y="2194560"/>
            <a:ext cx="18288" cy="64190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" y="2139696"/>
            <a:ext cx="438912" cy="438912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3969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103120"/>
            <a:ext cx="7424927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위기: Shrink 장벽 · 후발 추격</a:t>
            </a:r>
          </a:p>
        </p:txBody>
      </p:sp>
      <p:sp>
        <p:nvSpPr>
          <p:cNvPr id="10" name="Oval 9"/>
          <p:cNvSpPr/>
          <p:nvPr/>
        </p:nvSpPr>
        <p:spPr>
          <a:xfrm>
            <a:off x="9372600" y="2139696"/>
            <a:ext cx="438912" cy="438912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213969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7816" y="2103120"/>
            <a:ext cx="7607808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기회: 추론의 병목은 메모리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" y="8778240"/>
            <a:ext cx="16843248" cy="731520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8778240"/>
            <a:ext cx="1234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0CAEC"/>
                </a:solidFill>
                <a:latin typeface="Arial"/>
                <a:ea typeface="Arial"/>
              </a:rPr>
              <a:t>현실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2576" y="8778240"/>
            <a:ext cx="150601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Shrink만으로는 격차를 지킬 수 없다. 차별화는 AI 추론의 메모리 병목에서 찾는다</a:t>
            </a:r>
          </a:p>
        </p:txBody>
      </p:sp>
      <p:pic>
        <p:nvPicPr>
          <p:cNvPr id="16" name="Picture 15" descr="node_simple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724912"/>
            <a:ext cx="8010144" cy="58521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72600" y="2724912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6941C6"/>
                </a:solidFill>
                <a:latin typeface="Arial"/>
                <a:ea typeface="Arial"/>
              </a:rPr>
              <a:t>알고리즘</a:t>
            </a:r>
          </a:p>
        </p:txBody>
      </p:sp>
      <p:pic>
        <p:nvPicPr>
          <p:cNvPr id="18" name="Picture 17" descr="flywh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108960"/>
            <a:ext cx="3017520" cy="3017520"/>
          </a:xfrm>
          <a:prstGeom prst="rect">
            <a:avLst/>
          </a:prstGeom>
        </p:spPr>
      </p:pic>
      <p:pic>
        <p:nvPicPr>
          <p:cNvPr id="19" name="Picture 18" descr="render_hb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3982519"/>
            <a:ext cx="1737360" cy="127040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72600" y="6144767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0E9384"/>
                </a:solidFill>
                <a:latin typeface="Arial"/>
                <a:ea typeface="Arial"/>
              </a:rPr>
              <a:t>메모리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0" y="3017520"/>
            <a:ext cx="4489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A1A1A"/>
                </a:solidFill>
                <a:latin typeface="Arial"/>
                <a:ea typeface="Arial"/>
              </a:rPr>
              <a:t>KV를 담을 HBM 가속기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0" y="3419856"/>
            <a:ext cx="44897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D93025"/>
                </a:solidFill>
                <a:latin typeface="Arial"/>
                <a:ea typeface="Arial"/>
              </a:rPr>
              <a:t>8만~42만 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0" y="4315968"/>
            <a:ext cx="44897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555555"/>
                </a:solidFill>
                <a:latin typeface="Arial"/>
                <a:ea typeface="Arial"/>
              </a:rPr>
              <a:t>320 KiB × 월 3,200조 토큰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555555"/>
                </a:solidFill>
                <a:latin typeface="Arial"/>
                <a:ea typeface="Arial"/>
              </a:rPr>
              <a:t>288GB · 체류 60초~5분 가정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075920" y="5138928"/>
            <a:ext cx="4489704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75920" y="5303520"/>
            <a:ext cx="4489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A1A1A"/>
                </a:solidFill>
                <a:latin typeface="Arial"/>
                <a:ea typeface="Arial"/>
              </a:rPr>
              <a:t>메모리 공급 확대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0" y="5669280"/>
            <a:ext cx="448970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D93025"/>
                </a:solidFill>
                <a:latin typeface="Arial"/>
                <a:ea typeface="Arial"/>
              </a:rPr>
              <a:t>2028</a:t>
            </a:r>
            <a:r>
              <a:rPr sz="2000" b="1">
                <a:solidFill>
                  <a:srgbClr val="1A1A1A"/>
                </a:solidFill>
                <a:latin typeface="Arial"/>
                <a:ea typeface="Arial"/>
              </a:rPr>
              <a:t>  년부터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6547104"/>
            <a:ext cx="8193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토큰당 KV 절감(70B, MHA → GQA · FP4) vs 토큰 증가(Google, 2년)</a:t>
            </a:r>
          </a:p>
        </p:txBody>
      </p:sp>
      <p:pic>
        <p:nvPicPr>
          <p:cNvPr id="28" name="Picture 27" descr="tu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7672" y="6784848"/>
            <a:ext cx="7802880" cy="1828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2376" y="9601200"/>
            <a:ext cx="154533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출처: ITRS · TechInsights · Fab Tracker Q2'26 · Digitimes / Llama 3.1 설정 산식 · Google I/O · TrendForce 2026-07 · 산술은 가정 의존 · 부품은 3D 렌더 · 상세 근거는 시안 A~C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02584" y="9601200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55555"/>
                </a:solidFill>
                <a:latin typeface="Arial"/>
                <a:ea typeface="Arial"/>
              </a:rPr>
              <a:t>시안 B2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DRAM 기술 경쟁력 제고 · 차별화 준비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6 / 6  현실 파악 · 시안 C2 실물형 간결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DRAM은 Shrink 장벽에 막혀 후발 주자의 추격을 받고 있지만,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AI 추론의 병목이 연산에서 메모리로 옮겨 오며 차별화의 기회가 열리고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15984" y="2194560"/>
            <a:ext cx="18288" cy="64190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" y="2139696"/>
            <a:ext cx="438912" cy="438912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13969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103120"/>
            <a:ext cx="7424927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위기: Shrink 장벽 · 후발 추격</a:t>
            </a:r>
          </a:p>
        </p:txBody>
      </p:sp>
      <p:sp>
        <p:nvSpPr>
          <p:cNvPr id="10" name="Oval 9"/>
          <p:cNvSpPr/>
          <p:nvPr/>
        </p:nvSpPr>
        <p:spPr>
          <a:xfrm>
            <a:off x="9372600" y="2139696"/>
            <a:ext cx="438912" cy="438912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213969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7816" y="2103120"/>
            <a:ext cx="7607808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기회: 추론의 병목은 메모리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" y="8778240"/>
            <a:ext cx="16843248" cy="731520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8778240"/>
            <a:ext cx="1234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0CAEC"/>
                </a:solidFill>
                <a:latin typeface="Arial"/>
                <a:ea typeface="Arial"/>
              </a:rPr>
              <a:t>현실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2576" y="8778240"/>
            <a:ext cx="150601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Shrink만으로는 격차를 지킬 수 없다. 차별화는 AI 추론의 메모리 병목에서 찾는다</a:t>
            </a:r>
          </a:p>
        </p:txBody>
      </p:sp>
      <p:pic>
        <p:nvPicPr>
          <p:cNvPr id="16" name="Picture 15" descr="node_simple_ca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724912"/>
            <a:ext cx="8010144" cy="5852160"/>
          </a:xfrm>
          <a:prstGeom prst="rect">
            <a:avLst/>
          </a:prstGeom>
        </p:spPr>
      </p:pic>
      <p:pic>
        <p:nvPicPr>
          <p:cNvPr id="17" name="Picture 16" descr="tank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724912"/>
            <a:ext cx="8193024" cy="3749039"/>
          </a:xfrm>
          <a:prstGeom prst="rect">
            <a:avLst/>
          </a:prstGeom>
        </p:spPr>
      </p:pic>
      <p:pic>
        <p:nvPicPr>
          <p:cNvPr id="18" name="Picture 17" descr="render_hb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3757352"/>
            <a:ext cx="2103120" cy="1537854"/>
          </a:xfrm>
          <a:prstGeom prst="rect">
            <a:avLst/>
          </a:prstGeom>
        </p:spPr>
      </p:pic>
      <p:pic>
        <p:nvPicPr>
          <p:cNvPr id="19" name="Picture 18" descr="render_hb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4745" y="6784848"/>
            <a:ext cx="1313028" cy="9601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89720" y="7790688"/>
            <a:ext cx="1783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1A1A1A"/>
                </a:solidFill>
                <a:latin typeface="Arial"/>
                <a:ea typeface="Arial"/>
              </a:rPr>
              <a:t>HBM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844784" y="7132320"/>
            <a:ext cx="374904" cy="274320"/>
          </a:xfrm>
          <a:prstGeom prst="rightArrow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ender_d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4552" y="6998823"/>
            <a:ext cx="1417320" cy="53216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091672" y="7790688"/>
            <a:ext cx="1783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1A1A1A"/>
                </a:solidFill>
                <a:latin typeface="Arial"/>
                <a:ea typeface="Arial"/>
              </a:rPr>
              <a:t>DRAM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2746736" y="7132320"/>
            <a:ext cx="374904" cy="2743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render_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76504" y="6847856"/>
            <a:ext cx="1417320" cy="83410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993624" y="7790688"/>
            <a:ext cx="1783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1A1A1A"/>
                </a:solidFill>
                <a:latin typeface="Arial"/>
                <a:ea typeface="Arial"/>
              </a:rPr>
              <a:t>SSD · 서버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8174736"/>
            <a:ext cx="5257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D93025"/>
                </a:solidFill>
                <a:latin typeface="Arial"/>
                <a:ea typeface="Arial"/>
              </a:rPr>
              <a:t>넘친 KV는 아래 계층으로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005304" y="6784848"/>
            <a:ext cx="2560320" cy="1755648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905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05304" y="687628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메모리 공급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05304" y="7205472"/>
            <a:ext cx="2560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1">
                <a:solidFill>
                  <a:srgbClr val="D93025"/>
                </a:solidFill>
                <a:latin typeface="Arial"/>
                <a:ea typeface="Arial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05304" y="813816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신규 팹 실질 출하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9601200"/>
            <a:ext cx="154533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출처: ITRS · TechInsights · Fab Tracker Q2'26 · Digitimes / Llama 3.1 설정 산식 · Google I/O · TrendForce 2026-07 · 산술은 가정 의존 · 부품은 3D 렌더 · 상세 근거는 시안 A~C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02584" y="9601200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55555"/>
                </a:solidFill>
                <a:latin typeface="Arial"/>
                <a:ea typeface="Arial"/>
              </a:rPr>
              <a:t>시안 C2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