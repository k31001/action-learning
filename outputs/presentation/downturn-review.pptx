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2062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삼성전자 메모리사업부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50392"/>
            <a:ext cx="16843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메모리 다운턴 복기 | 2006-2025 · 5건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216152"/>
            <a:ext cx="168432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</a:rPr>
              <a:t>지난 20년 다운턴 5건: 공급발은 길었고, 수요발은 짧지만 갈수록 빠르고 깊어졌다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65376"/>
            <a:ext cx="168432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</a:rPr>
              <a:t>DRAM 산업 연매출 기준 낙폭 -11%에서 -45%까지. 과점화는 기간을 절반으로 줄였지만 깊이와 속도는 막지 못했다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239572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wntur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578608"/>
            <a:ext cx="9921240" cy="3413271"/>
          </a:xfrm>
          <a:prstGeom prst="rect">
            <a:avLst/>
          </a:prstGeom>
        </p:spPr>
      </p:pic>
      <p:pic>
        <p:nvPicPr>
          <p:cNvPr id="9" name="Picture 8" descr="downtur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578608"/>
            <a:ext cx="6638544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" y="6309360"/>
            <a:ext cx="1618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55555"/>
                </a:solidFill>
                <a:latin typeface="Arial"/>
                <a:ea typeface="Arial"/>
              </a:rPr>
              <a:t>다운턴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6309360"/>
            <a:ext cx="1527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55555"/>
                </a:solidFill>
                <a:latin typeface="Arial"/>
                <a:ea typeface="Arial"/>
              </a:rPr>
              <a:t>발원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7096" y="6309360"/>
            <a:ext cx="4041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55555"/>
                </a:solidFill>
                <a:latin typeface="Arial"/>
                <a:ea typeface="Arial"/>
              </a:rPr>
              <a:t>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6309360"/>
            <a:ext cx="1527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55555"/>
                </a:solidFill>
                <a:latin typeface="Arial"/>
                <a:ea typeface="Arial"/>
              </a:rPr>
              <a:t>규모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4976" y="6309360"/>
            <a:ext cx="35844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55555"/>
                </a:solidFill>
                <a:latin typeface="Arial"/>
                <a:ea typeface="Arial"/>
              </a:rPr>
              <a:t>핵심 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44016" y="6309360"/>
            <a:ext cx="35570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55555"/>
                </a:solidFill>
                <a:latin typeface="Arial"/>
                <a:ea typeface="Arial"/>
              </a:rPr>
              <a:t>결과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" y="660196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6693408"/>
            <a:ext cx="1618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DT08</a:t>
            </a:r>
          </a:p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</a:rPr>
              <a:t>'07-'09 · 9분기*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6693408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555555"/>
                </a:solidFill>
                <a:latin typeface="Arial"/>
                <a:ea typeface="Arial"/>
              </a:rPr>
              <a:t>공급발+수요충격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6693408"/>
            <a:ext cx="40050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6강 캐파 경쟁 가격 붕괴 + 금융위기 수요 급정지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6693408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-34%*</a:t>
            </a:r>
          </a:p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</a:rPr>
              <a:t>최악 -36%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4976" y="6693408"/>
            <a:ext cx="354787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삼성 무감산 버티기, 40nm 최초, 위기 후 투자 배증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44016" y="6693408"/>
            <a:ext cx="36301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Qimonda 파산, 업계 손실 $7B, 삼성 2010 최대 이익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" y="7104888"/>
            <a:ext cx="16843248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7168896"/>
            <a:ext cx="1618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DT12</a:t>
            </a:r>
          </a:p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</a:rPr>
              <a:t>'10-'12 · 9분기*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5456" y="7168896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555555"/>
                </a:solidFill>
                <a:latin typeface="Arial"/>
                <a:ea typeface="Arial"/>
              </a:rPr>
              <a:t>공급발(침식)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7096" y="7168896"/>
            <a:ext cx="40050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대만·엘피다 증산 + PC 부진, 2년 저가 지속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7168896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-33%*</a:t>
            </a:r>
          </a:p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</a:rPr>
              <a:t>최악 -20%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4976" y="7168896"/>
            <a:ext cx="354787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Line-16 12조, 20nm·모바일 전환 선행, HDD 매각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44016" y="7168896"/>
            <a:ext cx="36301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Elpida 파산, 6강에서 3강으로, Micron 저점 인수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" y="7580375"/>
            <a:ext cx="16843248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7644383"/>
            <a:ext cx="1618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DT16</a:t>
            </a:r>
          </a:p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</a:rPr>
              <a:t>'15-'16 · 6분기*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05456" y="7644383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428A0"/>
                </a:solidFill>
                <a:latin typeface="Arial"/>
                <a:ea typeface="Arial"/>
              </a:rPr>
              <a:t>수요발(침식)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97096" y="7644383"/>
            <a:ext cx="40050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PC 출하 감소·스마트폰 둔화, 20nm 공급 증가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7644383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-11%*</a:t>
            </a:r>
          </a:p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</a:rPr>
              <a:t>최악 -9.1%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4976" y="7644383"/>
            <a:ext cx="354787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증설 대신 3D NAND 전환, Micron Inotera $4.1B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44016" y="7644383"/>
            <a:ext cx="36301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파산 0, 2017 슈퍼사이클 직결, 중국 진입 결정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" y="8055863"/>
            <a:ext cx="16843248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" y="8119871"/>
            <a:ext cx="1618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DT19</a:t>
            </a:r>
          </a:p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</a:rPr>
              <a:t>'18-'19 · 5분기*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5456" y="8119871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428A0"/>
                </a:solidFill>
                <a:latin typeface="Arial"/>
                <a:ea typeface="Arial"/>
              </a:rPr>
              <a:t>수요발(급락)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7096" y="8119871"/>
            <a:ext cx="40050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서버·모바일 재고 조정, 미중 분쟁 증폭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8119871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-37.6%</a:t>
            </a:r>
          </a:p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</a:rPr>
              <a:t>최악 -18.3%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4976" y="8119871"/>
            <a:ext cx="354787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Micron·SK 감산, 삼성 무감산·CapEx 유지·완주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844016" y="8119871"/>
            <a:ext cx="36301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5분기 최단 V자, 1Q20 DRAM 44.1%, HBM 축소 씨앗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" y="8531351"/>
            <a:ext cx="16843248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8595359"/>
            <a:ext cx="1618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800" b="1">
                <a:solidFill>
                  <a:srgbClr val="1A1A1A"/>
                </a:solidFill>
                <a:latin typeface="Arial"/>
                <a:ea typeface="Arial"/>
              </a:rPr>
              <a:t>DT23</a:t>
            </a:r>
          </a:p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</a:rPr>
              <a:t>'22-'23 · 6분기*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05456" y="8595359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428A0"/>
                </a:solidFill>
                <a:latin typeface="Arial"/>
                <a:ea typeface="Arial"/>
              </a:rPr>
              <a:t>수요발(침식→급락)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97096" y="8595359"/>
            <a:ext cx="400507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팬데믹 특수 소멸·금리, 재고 인지 실패 6개월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3336" y="8595359"/>
            <a:ext cx="15270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-45%*</a:t>
            </a:r>
          </a:p>
          <a:p>
            <a:pPr algn="l">
              <a:lnSpc>
                <a:spcPct val="102000"/>
              </a:lnSpc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</a:rPr>
              <a:t>최악 -32.5%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94976" y="8595359"/>
            <a:ext cx="354787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무감산 선언 후 감산 선회(23-04), SK는 HBM 집중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844016" y="8595359"/>
            <a:ext cx="363016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0">
                <a:solidFill>
                  <a:srgbClr val="1A1A1A"/>
                </a:solidFill>
                <a:latin typeface="Arial"/>
                <a:ea typeface="Arial"/>
              </a:rPr>
              <a:t>DS 최대 적자 -14.9조, 사상 최속, HBM 주도권 SK로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" y="9107424"/>
            <a:ext cx="16843248" cy="512064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696" y="9107424"/>
            <a:ext cx="520293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</a:rPr>
              <a:t>① 발원이 기간을 결정: 공급발 9분기, 수요발 5-6분기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9107424"/>
            <a:ext cx="520293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</a:rPr>
              <a:t>② 낙폭 -33 → -38 → -45%: 과점화도 깊이는 못 막았다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225528" y="9107424"/>
            <a:ext cx="520293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</a:rPr>
              <a:t>③ 직전 성공이 다음 함정: 2019 무감산·HBM 축소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9592056"/>
            <a:ext cx="1426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wiki/downturn/downturn-history.md · memory-downturn-history-research-2026-08-22.md (TrendForce·IHS·IC Insights·Gartner 혼합) · * 역산·추정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047720" y="9592056"/>
            <a:ext cx="1517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2062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삼성전자 메모리사업부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50392"/>
            <a:ext cx="16843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메모리 다운턴 복기 | Appendix A · DT08 (2007-2009)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216152"/>
            <a:ext cx="168432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</a:rPr>
              <a:t>DT08: 6강 캐파 경쟁에 금융위기가 겹쳐 9분기, 업계의 이익이 소멸했다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65376"/>
            <a:ext cx="168432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</a:rPr>
              <a:t>공급발로 시작해 수요 충격으로 끝난 복합 다운턴. 버틴 1위와 소진된 5위가 갈렸다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239572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578608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706624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하강 지속기간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62656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~9분기*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578608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706624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연매출 낙폭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962656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-34%*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3694176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22191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최악 분기 (4Q08, QoQ)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78224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-36%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694176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3822191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발원·형태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078224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공급발+수요충격</a:t>
            </a:r>
          </a:p>
        </p:txBody>
      </p:sp>
      <p:pic>
        <p:nvPicPr>
          <p:cNvPr id="20" name="Picture 19" descr="downturn_mini_dt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4791456"/>
            <a:ext cx="5029200" cy="26060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22376" y="7607808"/>
            <a:ext cx="5029200" cy="1856231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7827264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1428A0"/>
                </a:solidFill>
                <a:latin typeface="Arial"/>
                <a:ea typeface="Arial"/>
              </a:rPr>
              <a:t>현장 수치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8174736"/>
            <a:ext cx="45171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512Mb DDR2 $6.8 → $0.5 (-93%)
2010 반도체 투자 12.7조(메모리 9조)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578608"/>
            <a:ext cx="11576304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798063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원인·전개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127248"/>
            <a:ext cx="1091793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6강 체제의 12인치 증설 경쟁: 가격 2007년 -85%, 2008년 -58% 원가 이하 붕괴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2008 Q4 금융위기 수요 급정지: 분기 매출 -36%, 단일 분기 사상 최대 낙폭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업계 전원 적자: 2008년 DRAM 업계 합산 순손실 $7B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791456"/>
            <a:ext cx="11576304" cy="2688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5010912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기업 대응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32180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버틴·확장한 쪽 (삼성)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669280"/>
            <a:ext cx="529437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무감산 버티기 + 40nm DDR3 세계 최초 양산(생산성 +60%)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2009-01 DS/DMC 2부문 통합, 임원 연봉 -20%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퇴출 확인 후 2010 메모리 투자 5.5조 → 9조 배증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42063" y="532180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555555"/>
                </a:solidFill>
                <a:latin typeface="Arial"/>
                <a:ea typeface="Arial"/>
              </a:rPr>
              <a:t>밀린·퇴출된 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42063" y="5669280"/>
            <a:ext cx="529437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Qimonda: 누적손실 $30억, 정부 지원에도 2009-01 파산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하이닉스: 채권단 관리, 2009년 투자 ~1조* 동결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Micron: FY09 CapEx -81%, 사실상 투자 중단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77472" y="5321808"/>
            <a:ext cx="10058" cy="1920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7607808"/>
            <a:ext cx="11576304" cy="18562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7827264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결과·교훈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8138160"/>
            <a:ext cx="10917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퇴출 직후 현물가 급등: 공급자 1개 퇴출이 가격 균형을 바꾸는 과점 실증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삼성 2009 영업이익 10.9조, 2010년 당시 사상 최대 실적 수확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8942832"/>
            <a:ext cx="109179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1A1A1A"/>
                </a:solidFill>
                <a:latin typeface="Arial"/>
                <a:ea typeface="Arial"/>
              </a:rPr>
              <a:t>교훈: 공급발은 원가·현금의 체력전. 회복은 구조 변화(퇴출)와 함께 온다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9592056"/>
            <a:ext cx="1426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wiki/downturn/downturn-history.md · dram-chicken-game-history-2026-08-05.md · samsung-downturn-actions-2007-2023-2026-08-07.md · * 역산·추정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47720" y="9592056"/>
            <a:ext cx="1517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2062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삼성전자 메모리사업부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50392"/>
            <a:ext cx="16843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메모리 다운턴 복기 | Appendix B · DT12 (2010-2012)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216152"/>
            <a:ext cx="168432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</a:rPr>
              <a:t>DT12: 급락 없는 2년의 저가가 엘피다를 소진시키고 3강 과점을 완성했다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65376"/>
            <a:ext cx="168432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</a:rPr>
              <a:t>공급발 침식형. 수요의 축이 PC에서 모바일로 넘어가는 심판대를 겸했다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239572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578608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706624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하강 지속기간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62656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~9분기*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578608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706624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연매출 낙폭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962656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-33%*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3694176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22191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최악 분기 (4Q10, QoQ)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78224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-20%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694176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3822191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발원·형태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078224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공급발·침식형</a:t>
            </a:r>
          </a:p>
        </p:txBody>
      </p:sp>
      <p:pic>
        <p:nvPicPr>
          <p:cNvPr id="20" name="Picture 19" descr="downturn_mini_dt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4791456"/>
            <a:ext cx="5029200" cy="26060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22376" y="7607808"/>
            <a:ext cx="5029200" cy="1856231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7827264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1428A0"/>
                </a:solidFill>
                <a:latin typeface="Arial"/>
                <a:ea typeface="Arial"/>
              </a:rPr>
              <a:t>현장 수치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8174736"/>
            <a:ext cx="45171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DDR3 2Gb 2011년 -85%
2012 반도체 CapEx 15조 계획(역사이클)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578608"/>
            <a:ext cx="11576304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798063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원인·전개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127248"/>
            <a:ext cx="1091793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회복 1년 만의 재하강: 대만·엘피다 증산 + PC 부진 + 유럽 재정위기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DDR3 2Gb 가격 2011년 한 해 -85%, 2011년 산업 매출 -25%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낙차 대신 지속: 저가 2년이 재무 체력을 소진시키는 침식형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791456"/>
            <a:ext cx="11576304" cy="2688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5010912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기업 대응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32180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버틴·확장한 쪽 (삼성)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669280"/>
            <a:ext cx="529437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Line-16 12조 착공·가동, 30nm → 20nm 세계 최초 연속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모바일 전환 선행: LPDDR3 세계 최초, Austin 로직 전환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HDD 매각($1.375B) 경량화. 엘피다 입찰은 불참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42063" y="532180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555555"/>
                </a:solidFill>
                <a:latin typeface="Arial"/>
                <a:ea typeface="Arial"/>
              </a:rPr>
              <a:t>밀린·퇴출된 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42063" y="5669280"/>
            <a:ext cx="529437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Elpida: PC → 모바일 전환 실패 + 엔고, 부채 4,480억 엔 파산(2012-02)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대만 진영(파워칩·프로모스·난야) 범용 DRAM 축차 퇴장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하이닉스: SK그룹 인수(2012)로 채권단 관리 종결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77472" y="5321808"/>
            <a:ext cx="10058" cy="1920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7607808"/>
            <a:ext cx="11576304" cy="18562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7827264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결과·교훈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8138160"/>
            <a:ext cx="10917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6강에서 3강으로. 이후 모든 사이클의 구조적 전제가 된 과점 완성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Micron, 엘피다를 ~$2.5B에 저점 인수(2013): 모바일 스케일 점프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8942832"/>
            <a:ext cx="109179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1A1A1A"/>
                </a:solidFill>
                <a:latin typeface="Arial"/>
                <a:ea typeface="Arial"/>
              </a:rPr>
              <a:t>교훈: 침식형은 체력전이자 전환 심판대. 세대·수요 전환 완주가 생사를 갈랐다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9592056"/>
            <a:ext cx="1426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wiki/downturn/downturn-history.md · dram-chicken-game-history-2026-08-05.md · memory-capex-history-research-2006-2015-2026-08-15.md · * 역산·추정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47720" y="9592056"/>
            <a:ext cx="1517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2062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삼성전자 메모리사업부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50392"/>
            <a:ext cx="16843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메모리 다운턴 복기 | Appendix C · DT16 (2015-2016)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216152"/>
            <a:ext cx="168432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</a:rPr>
              <a:t>DT16: 3강 과점의 첫 시험은 얕게 끝났지만, 중국 진입이 이 창에서 결정됐다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65376"/>
            <a:ext cx="168432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</a:rPr>
              <a:t>수요발 침식형, 5건 중 최소 낙폭. 규율이 작동했고 유산은 시장 밖에서 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239572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578608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706624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하강 지속기간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62656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~6분기*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578608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706624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연매출 낙폭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962656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-11%*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3694176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22191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최악 분기 (4Q15, QoQ)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78224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-9.1%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694176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3822191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발원·형태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078224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수요발·침식형</a:t>
            </a:r>
          </a:p>
        </p:txBody>
      </p:sp>
      <p:pic>
        <p:nvPicPr>
          <p:cNvPr id="20" name="Picture 19" descr="downturn_mini_dt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4791456"/>
            <a:ext cx="5029200" cy="26060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22376" y="7607808"/>
            <a:ext cx="5029200" cy="1856231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7827264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1428A0"/>
                </a:solidFill>
                <a:latin typeface="Arial"/>
                <a:ea typeface="Arial"/>
              </a:rPr>
              <a:t>현장 수치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8174736"/>
            <a:ext cx="45171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PC DRAM 계약가 -34% (2016, YoY)
DRAM 공급 억제 = 2017 부족의 씨앗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578608"/>
            <a:ext cx="11576304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798063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원인·전개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127248"/>
            <a:ext cx="1091793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PC 출하 감소 + 스마트폰 성장 둔화, 20nm 전환발 공급 증가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PC DRAM 계약가 2016년 -34%, 4GB 모듈 저점 $12.5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2H15 재고발 가격 인하 사이클, 저점은 1H16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791456"/>
            <a:ext cx="11576304" cy="2688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5010912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기업 대응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32180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3강의 규율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669280"/>
            <a:ext cx="529437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증설 대신 3D NAND 전환 투자로 이동: DRAM 공급 억제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파산·구제 없음: 가격 규율로 흡수한 첫 다운턴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Micron, Inotera 잔여 지분 $4.1B 저점 인수(2016-12)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42063" y="532180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555555"/>
                </a:solidFill>
                <a:latin typeface="Arial"/>
                <a:ea typeface="Arial"/>
              </a:rPr>
              <a:t>시장 밖의 결정 (중국)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42063" y="5669280"/>
            <a:ext cx="529437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칭화유니, Micron $23B 인수 시도(2015-07) 미국 반대로 무산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중국, 자국 팹 건설로 선회: YMTC·CXMT 설립(2016)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오늘의 CXMT 저가 잠식 리스크가 여기서 출발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77472" y="5321808"/>
            <a:ext cx="10058" cy="1920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7607808"/>
            <a:ext cx="11576304" cy="18562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7827264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결과·교훈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8138160"/>
            <a:ext cx="10917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2016 H2 반등, 2017-18 슈퍼사이클(+77%, +38%)로 직결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공급 규율의 성공 경험이 3강 절제 균형의 학습 사례로 축적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8942832"/>
            <a:ext cx="109179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1A1A1A"/>
                </a:solidFill>
                <a:latin typeface="Arial"/>
                <a:ea typeface="Arial"/>
              </a:rPr>
              <a:t>교훈: 과점은 얕은 수요 조정을 흡수한다. 최대 유산은 진입자의 결정이었다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9592056"/>
            <a:ext cx="1426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wiki/downturn/downturn-history.md · memory-downturn-history-research-2026-08-22.md · * 역산·추정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47720" y="9592056"/>
            <a:ext cx="1517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2062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삼성전자 메모리사업부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50392"/>
            <a:ext cx="16843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메모리 다운턴 복기 | Appendix D · DT19 (2018-2019)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216152"/>
            <a:ext cx="168432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</a:rPr>
              <a:t>DT19: 재고 조정만으로 -37.6%, 5분기 최단. 무감산 1위가 점유율로 보상받았다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65376"/>
            <a:ext cx="168432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</a:rPr>
              <a:t>수요발 급락형. 공급 규율은 유지됐고 회복은 재고 소진과 함께 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239572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578608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706624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하강 지속기간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62656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~5분기*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578608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706624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연매출 낙폭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962656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-37.6%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3694176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22191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최악 분기 (4Q18, QoQ)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78224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-18.3%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694176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3822191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발원·형태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078224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수요발·급락형</a:t>
            </a:r>
          </a:p>
        </p:txBody>
      </p:sp>
      <p:pic>
        <p:nvPicPr>
          <p:cNvPr id="20" name="Picture 19" descr="downturn_mini_dt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4791456"/>
            <a:ext cx="5029200" cy="26060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22376" y="7607808"/>
            <a:ext cx="5029200" cy="1856231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7827264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1428A0"/>
                </a:solidFill>
                <a:latin typeface="Arial"/>
                <a:ea typeface="Arial"/>
              </a:rPr>
              <a:t>현장 수치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8174736"/>
            <a:ext cx="45171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산업 -37.6%: 당시 기준 최대 낙폭
삼성 반도체 OP 44.6 → 14.0조 (-69%)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578608"/>
            <a:ext cx="11576304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798063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원인·전개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127248"/>
            <a:ext cx="1091793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슈퍼사이클 중 과발주한 데이터센터·스마트폰 고객의 재고 조정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미중 분쟁·Huawei 제재가 수요 불확실성 증폭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DRAM 고정가 연간 -50% 이상, 삼성 반도체 영업이익 -69%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791456"/>
            <a:ext cx="11576304" cy="2688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5010912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기업 대응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32180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삼성: 무감산 + 완주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669280"/>
            <a:ext cx="529437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인위적 감산 없음 + CapEx 22.6조(-5%) 규모 유지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세대 전환 완주: 1z DRAM·6세대 V낸드·EUV 준비·HBM2E 발표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비전 2030 선언. 동시에 HBM팀 축소(니치 판단)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42063" y="532180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555555"/>
                </a:solidFill>
                <a:latin typeface="Arial"/>
                <a:ea typeface="Arial"/>
              </a:rPr>
              <a:t>경쟁사: 명시적 감산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42063" y="5669280"/>
            <a:ext cx="529437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Micron 최초 공식 감산(2019-03, 웨이퍼 -5%)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SK하이닉스(2019-07): NAND -15%, D램 캐파 축소·CIS 전환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Kioxia/WD 요카이치 정전(2019-06): 비자발 공급 축소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77472" y="5321808"/>
            <a:ext cx="10058" cy="1920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7607808"/>
            <a:ext cx="11576304" cy="18562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7827264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결과·교훈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8138160"/>
            <a:ext cx="10917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4Q19 바닥, 2020 COVID 클라우드 수요로 V자 회복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삼성 1Q20 DRAM 점유율 44.1%: 무감산·투자 유지의 보상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8942832"/>
            <a:ext cx="109179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1A1A1A"/>
                </a:solidFill>
                <a:latin typeface="Arial"/>
                <a:ea typeface="Arial"/>
              </a:rPr>
              <a:t>교훈: 재고발은 스스로 끝난다. 그러나 이 성공 공식이 2023 오판의 근거가 됐다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9592056"/>
            <a:ext cx="1426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wiki/downturn/downturn-history.md · samsung-2019-downturn-2017-2019-actions-2026-08-16.md · * 역산·추정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47720" y="9592056"/>
            <a:ext cx="1517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2062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삼성전자 메모리사업부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9224" y="4206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[문서등급 표기]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50392"/>
            <a:ext cx="16843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메모리 다운턴 복기 | Appendix E · DT23 (2022-2023)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216152"/>
            <a:ext cx="168432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1A1A1A"/>
                </a:solidFill>
                <a:latin typeface="Arial"/>
                <a:ea typeface="Arial"/>
              </a:rPr>
              <a:t>DT23: 인지 실패 6개월이 사상 최속·최심을 만들고, 회복의 과실은 배분이 갈랐다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65376"/>
            <a:ext cx="168432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</a:rPr>
              <a:t>수요발이 침식형으로 시작해 급락형으로 끝났다. 원인 오판이 대응을 무효화한 사례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2395728"/>
            <a:ext cx="16843248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578608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706624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하강 지속기간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62656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~6분기*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578608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706624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연매출 낙폭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962656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-45%*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3694176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22191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최악 분기 (4Q22, QoQ)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78224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A1A1A"/>
                </a:solidFill>
                <a:latin typeface="Arial"/>
                <a:ea typeface="Arial"/>
              </a:rPr>
              <a:t>-32.5%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694176"/>
            <a:ext cx="2441448" cy="969264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3822191"/>
            <a:ext cx="2002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발원·형태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078224"/>
            <a:ext cx="20025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8A0"/>
                </a:solidFill>
                <a:latin typeface="Arial"/>
                <a:ea typeface="Arial"/>
              </a:rPr>
              <a:t>수요발·침식→급락</a:t>
            </a:r>
          </a:p>
        </p:txBody>
      </p:sp>
      <p:pic>
        <p:nvPicPr>
          <p:cNvPr id="20" name="Picture 19" descr="downturn_mini_dt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4791456"/>
            <a:ext cx="5029200" cy="26060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22376" y="7607808"/>
            <a:ext cx="5029200" cy="1856231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7827264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1428A0"/>
                </a:solidFill>
                <a:latin typeface="Arial"/>
                <a:ea typeface="Arial"/>
              </a:rPr>
              <a:t>현장 수치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8174736"/>
            <a:ext cx="45171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분기 정점 → 저점 -62%* (3분기): 사상 최속
2Q22 $25.6B* → 1Q23 $9.7B*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578608"/>
            <a:ext cx="11576304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798063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원인·전개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127248"/>
            <a:ext cx="1091793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팬데믹 특수 소멸 + 금리 인상, 고객 재고 대조정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'일시적' 해석 6개월: DS 재고 16.5조 → 29.1조(+76.6%) 방치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3Q22 -28.9%, 4Q22 -32.5% 연속: 2008년 이후 최대 분기 낙폭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791456"/>
            <a:ext cx="11576304" cy="2688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5010912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기업 대응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32180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A1A1A"/>
                </a:solidFill>
                <a:latin typeface="Arial"/>
                <a:ea typeface="Arial"/>
              </a:rPr>
              <a:t>삼성: 뒤늦은 선회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5669280"/>
            <a:ext cx="529437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무감산 선언(22-10) → 재확인(23-01) → 감산 공식화(23-04-07)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그 사이 1Q23 DS -4.58조, 연간 -14.88조 사상 최대 적자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CapEx 48.4조·R&amp;D 28.34조 사상 최대 유지(HBM·DDR5 재배치)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42063" y="532180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555555"/>
                </a:solidFill>
                <a:latin typeface="Arial"/>
                <a:ea typeface="Arial"/>
              </a:rPr>
              <a:t>경쟁사: 급축 + 집중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42063" y="5669280"/>
            <a:ext cx="5294376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SK하이닉스 CapEx -56.2%: HBM 선택·집중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Micron CapEx -42%, 3사 전원 감산 국면</a:t>
            </a:r>
          </a:p>
          <a:p>
            <a:pPr algn="l">
              <a:lnSpc>
                <a:spcPct val="112000"/>
              </a:lnSpc>
            </a:pPr>
            <a:r>
              <a:rPr sz="1650" b="0">
                <a:solidFill>
                  <a:srgbClr val="1A1A1A"/>
                </a:solidFill>
                <a:latin typeface="Arial"/>
                <a:ea typeface="Arial"/>
              </a:rPr>
              <a:t>·  소모전 교범 불발: 전원 체력 보유 과점에서 퇴출 없음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77472" y="5321808"/>
            <a:ext cx="10058" cy="19202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7607808"/>
            <a:ext cx="11576304" cy="18562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7827264"/>
            <a:ext cx="10917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28A0"/>
                </a:solidFill>
                <a:latin typeface="Arial"/>
                <a:ea typeface="Arial"/>
              </a:rPr>
              <a:t>결과·교훈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8138160"/>
            <a:ext cx="10917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감산 + AI/HBM 수요로 2Q23 반등(+20.4%), 2024년 +75%</a:t>
            </a:r>
          </a:p>
          <a:p>
            <a:pPr algn="l">
              <a:lnSpc>
                <a:spcPct val="112000"/>
              </a:lnSpc>
            </a:pPr>
            <a:r>
              <a:rPr sz="1725" b="0">
                <a:solidFill>
                  <a:srgbClr val="1A1A1A"/>
                </a:solidFill>
                <a:latin typeface="Arial"/>
                <a:ea typeface="Arial"/>
              </a:rPr>
              <a:t>·  HBM 주도권은 SK로: 2019년 축소 결정의 대가 지불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8942832"/>
            <a:ext cx="109179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1A1A1A"/>
                </a:solidFill>
                <a:latin typeface="Arial"/>
                <a:ea typeface="Arial"/>
              </a:rPr>
              <a:t>교훈: 원인·형태 오판은 대응 전체를 무효화한다. 총량 유지보다 배분이 승부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9592056"/>
            <a:ext cx="1426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</a:rPr>
              <a:t>출처: wiki/downturn/downturn-history.md · samsung-downturn-actions-2007-2023-2026-08-07.md · memory-downturn-history-research-2026-08-22.md · * 역산·추정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47720" y="9592056"/>
            <a:ext cx="15179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