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051792" y="0"/>
            <a:ext cx="36576" cy="68580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▍ TECHNICAL  SEMINAR  ·  v3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Harness</a:t>
            </a:r>
            <a:endParaRPr lang="en-US" sz="8400" dirty="0"/>
          </a:p>
        </p:txBody>
      </p:sp>
      <p:sp>
        <p:nvSpPr>
          <p:cNvPr id="5" name="Text 3"/>
          <p:cNvSpPr/>
          <p:nvPr/>
        </p:nvSpPr>
        <p:spPr>
          <a:xfrm>
            <a:off x="548640" y="310896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4F46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Engineering.</a:t>
            </a:r>
            <a:endParaRPr lang="en-US" sz="8400" dirty="0"/>
          </a:p>
        </p:txBody>
      </p:sp>
      <p:sp>
        <p:nvSpPr>
          <p:cNvPr id="6" name="Text 4"/>
          <p:cNvSpPr/>
          <p:nvPr/>
        </p:nvSpPr>
        <p:spPr>
          <a:xfrm>
            <a:off x="548640" y="4434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보고서 워크플로우 — 이론에서 실전까지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8463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 트랙으로 진행합니다 — 00 · 하네스 (10매)  +  04 · 케이스 스터디 (10매)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harness --tracks=00,04 --slides=25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63093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발표자: 권의혁    ·    소속: 메모리사업부    ·    2026.05.06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051792" y="0"/>
            <a:ext cx="36576" cy="68580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▍ AI HARNESS  AGENDA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25912" y="3200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for Reports · Technical Seminar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오늘 다룰 내용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이론 트랙 → 실전 트랙 → Q&amp;A — 그대로 이어 읽으면 하나의 주장이 됩니다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331720"/>
            <a:ext cx="11018520" cy="1143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331720"/>
            <a:ext cx="73152" cy="11430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496312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4F46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00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2423160" y="2532888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Harness Engineering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423160" y="2990088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LLM을 자율 에이전트로 동작시키기 위한 외부 시스템 설계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372600" y="26974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10매 · 약 25분 · 슬라이드 3~12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639312"/>
            <a:ext cx="11018520" cy="1143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639312"/>
            <a:ext cx="73152" cy="114300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3803904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2423160" y="384048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— 시나리오 플래닝 보고서 + 자동화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2423160" y="429768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실제 PROMPT · CLAUDE.md · 6 서브에이전트 · 디렉토리 + 변경 정합성 체인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372600" y="400507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12매 · 약 28분 · 슬라이드 13~24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4946904"/>
            <a:ext cx="11018520" cy="1143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4946904"/>
            <a:ext cx="73152" cy="114300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5111496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6474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</a:t>
            </a:r>
            <a:endParaRPr lang="en-US" sz="4800" dirty="0"/>
          </a:p>
        </p:txBody>
      </p:sp>
      <p:sp>
        <p:nvSpPr>
          <p:cNvPr id="23" name="Text 21"/>
          <p:cNvSpPr/>
          <p:nvPr/>
        </p:nvSpPr>
        <p:spPr>
          <a:xfrm>
            <a:off x="2423160" y="5148072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2423160" y="5605272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이론과 실전의 연결 — 자유롭게 질문하세요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372600" y="5312664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1매 · 약 7분 · 슬라이드 25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48640" y="6080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총 25슬라이드 · 약 60분 (이론 25 + 실전 28 + Q&amp;A 7)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051792" y="0"/>
            <a:ext cx="36576" cy="68580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▍ AI HARNESS  00 · DEFINITION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25912" y="3200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for Reports · Technical Seminar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하네스 엔지니어링이란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LLM을 자율 에이전트로 동작시키기 위한 외부 시스템 설계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2103120"/>
            <a:ext cx="914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4F46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“</a:t>
            </a:r>
            <a:endParaRPr lang="en-US" sz="9600" dirty="0"/>
          </a:p>
        </p:txBody>
      </p:sp>
      <p:sp>
        <p:nvSpPr>
          <p:cNvPr id="9" name="Text 7"/>
          <p:cNvSpPr/>
          <p:nvPr/>
        </p:nvSpPr>
        <p:spPr>
          <a:xfrm>
            <a:off x="914400" y="301752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LLM은 텍스트 생성기다. 하네스(harness)는 그 텍스트가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파일을 읽고, 도구를 부르고, 실행하고, 다음 행동을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결정하게 만드는 시스템이다.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914400" y="498348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모델 자체가 아니라 모델을 둘러싼 엔지니어링이 자율 에이전트의 능력을 결정한다.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55080" y="2331720"/>
            <a:ext cx="169164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55080" y="2331720"/>
            <a:ext cx="73152" cy="12801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55080" y="249631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F46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LLM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92240" y="3044952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두뇌 (텍스트 생성)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046720" y="2331720"/>
            <a:ext cx="274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8321040" y="2331720"/>
            <a:ext cx="169164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321040" y="2331720"/>
            <a:ext cx="73152" cy="128016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21040" y="249631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 HARNESS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458200" y="3044952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몸·환경 (도구·파일·루프)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0012680" y="2331720"/>
            <a:ext cx="274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10287000" y="2331720"/>
            <a:ext cx="1691640" cy="12801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87000" y="2331720"/>
            <a:ext cx="73152" cy="12801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287000" y="2496312"/>
            <a:ext cx="1691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F46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= AGENT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0424160" y="3044952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보고서를 끝까지 만든다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55080" y="3840480"/>
            <a:ext cx="5349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Tool Use — 파일 R/W, 셸, 웹, MCP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355080" y="4206240"/>
            <a:ext cx="5349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Persistent State — 파일 시스템·Git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355080" y="4572000"/>
            <a:ext cx="5349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Context Engineering — CLAUDE.md, 격리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355080" y="4937760"/>
            <a:ext cx="5349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Subagent Orchestration — 역할 분리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355080" y="5303520"/>
            <a:ext cx="5349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Loop Control — 승인·종료·감사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8640" y="5989320"/>
            <a:ext cx="11018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✱ 좋은 모델 + 나쁜 하네스 = 챗봇.   평범한 모델 + 좋은 하네스 = 작업하는 동료.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051792" y="0"/>
            <a:ext cx="36576" cy="68580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▍ AI HARNESS  00 · CONTRAST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25912" y="3200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for Reports · Technical Seminar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LLM vs LLM + Harness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지시, 전혀 다른 결과물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240280"/>
            <a:ext cx="11109960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240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0" y="22402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일반 LLM 챗봇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0" y="224028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+ 하네스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651760"/>
            <a:ext cx="11109960" cy="36576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651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응답 형식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114800" y="26517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채팅창 내 텍스트 1~3쪽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9600" y="26517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디렉토리·파일·다이어그램·커밋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31520" y="30632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출처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114800" y="3063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학습 시점 지식, 환각 위험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0" y="30632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웹 검색 + 인용 footnote 자동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474720"/>
            <a:ext cx="11109960" cy="36576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474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재현성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14800" y="34747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질문도 매번 다른 답변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229600" y="347472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파일·git이 남아 누구나 재실행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31520" y="3886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검증성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114800" y="38862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답변 자체로 끝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229600" y="38862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→ 분석 → 결론 추적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8640" y="4297680"/>
            <a:ext cx="11109960" cy="36576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42976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분량 한계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114800" y="42976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컨텍스트 윈도우 1회분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229600" y="429768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 저장 → 다음 세션 이어쓰기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31520" y="4709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공동작업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114800" y="47091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대화 사본 공유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229600" y="47091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PR·코드 리뷰 워크플로우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48640" y="5120640"/>
            <a:ext cx="11109960" cy="36576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51206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현실 작업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114800" y="51206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사람이 받아 적어 정리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229600" y="51206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산출물 자체가 최종 형태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48640" y="5989320"/>
            <a:ext cx="11018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✱ 입력은 "메모리 시장 시나리오 보고서 써줘" 한 줄로 동일. 차이는 모두 하네스에서 나온다.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051792" y="0"/>
            <a:ext cx="36576" cy="68580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▍ AI HARNESS  00 · BUILDING BLOCKS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25912" y="3200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for Reports · Technical Seminar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하네스의 5대 빌딩 블록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코딩·문서 에이전트가 이 다섯 요소의 조합으로 환원된다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3657600" cy="17830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194560"/>
            <a:ext cx="73152" cy="178308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359152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F46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965960" y="23774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Use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22960" y="297180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함수 — 파일 R/W,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셸, 웹, MCP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" y="3611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 · Write · Bash · WebSearch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43400" y="2194560"/>
            <a:ext cx="3657600" cy="17830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2194560"/>
            <a:ext cx="73152" cy="178308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17720" y="2359152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F46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760720" y="23774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State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4617720" y="297180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컨텍스트 밖에 살아남는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파일·Git·DB·메모리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617720" y="3611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data/ · analysis/ · git history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138160" y="2194560"/>
            <a:ext cx="3657600" cy="17830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38160" y="2194560"/>
            <a:ext cx="73152" cy="178308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12480" y="2359152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9555480" y="237744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Engineering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412480" y="297180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무엇을 보여주고 무엇을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감출지 결정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412480" y="3611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CLAUDE.md (63줄) 자동 주입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446020" y="4160520"/>
            <a:ext cx="3657600" cy="17830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446020" y="4160520"/>
            <a:ext cx="73152" cy="178308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20340" y="4325112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3863340" y="43434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 Orchestration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2720340" y="493776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메인이 자식을 분배·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격리·취합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720340" y="5577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Research·STEEP·Scenario·Strategy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240780" y="4160520"/>
            <a:ext cx="3657600" cy="17830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240780" y="4160520"/>
            <a:ext cx="73152" cy="178308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15100" y="4325112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7658100" y="434340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 Control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6515100" y="493776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자율 루프의 승인·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종료·감사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515100" y="5577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PROMPT.md 누적 + 사용자 승인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48640" y="5989320"/>
            <a:ext cx="11018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✱ 모델을 바꿔도 이 5가지가 잘 설계되면 작업 결과가 안정적으로 유지됩니다.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051792" y="0"/>
            <a:ext cx="36576" cy="68580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▍ AI HARNESS  00 · AGENTIC LOOP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25912" y="3200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for Reports · Technical Seminar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에이전틱 루프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결과를 보고 다음을 결정하는 자율성 — 챗봇과 에이전트의 분기점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5349240" cy="777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286000"/>
            <a:ext cx="73152" cy="77724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37744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463040" y="23774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63040" y="269748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의도 파싱·계획 수립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834640" y="237744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STEEP 50요인 도출 후 점수화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3246120"/>
            <a:ext cx="5349240" cy="777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246120"/>
            <a:ext cx="73152" cy="77724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333756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463040" y="333756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63040" y="365760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도구 호출 (Read·Write·Bash)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834640" y="333756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analysis/steep/economy.md 생성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4206240"/>
            <a:ext cx="5349240" cy="777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8640" y="4206240"/>
            <a:ext cx="73152" cy="77724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429768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463040" y="429768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463040" y="461772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result 관찰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834640" y="429768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10개 요인 도출, 점수 비어있음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8640" y="5166360"/>
            <a:ext cx="5349240" cy="777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48640" y="5166360"/>
            <a:ext cx="73152" cy="77724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5257800"/>
            <a:ext cx="640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1463040" y="52578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DECIDE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1463040" y="5577840"/>
            <a:ext cx="4251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행동 결정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834640" y="525780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각 요인에 1~5점 부여 → 다음 카테고리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617220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repeat until done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355080" y="233172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단순 호출  vs  에이전틱 루프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355080" y="2880360"/>
            <a:ext cx="534924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92240" y="28803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턴 수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863840" y="28803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1턴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9692640" y="28803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N턴 (성공·종료까지)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492240" y="33375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자가 수정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7863840" y="33375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없음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9692640" y="33375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관찰 → 재계획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355080" y="3794760"/>
            <a:ext cx="534924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92240" y="37947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다중 단계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863840" y="3794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사용자가 매번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9692640" y="37947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번 지시로 자율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492240" y="425196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실패 회복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7863840" y="42519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사람이 재시도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9692640" y="42519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다른 도구로 재시도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548640" y="5989320"/>
            <a:ext cx="11018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✱ 본 프로젝트는 30+ 작업이 자동 분기 — 사용자가 매번 지시하지 않았습니다.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051792" y="0"/>
            <a:ext cx="36576" cy="68580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▍ AI HARNESS  00 · CONTEXT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25912" y="3200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for Reports · Technical Seminar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컨텍스트 엔지니어링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컨텍스트 윈도우는 한정 자원 — 무엇을 채울지가 곧 능력이 된다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5486400" cy="868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286000"/>
            <a:ext cx="73152" cy="86868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377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System Prompt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840480" y="237744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영구 · 자동 주입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31520" y="274320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하네스 정체성, 안전 규칙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3264408"/>
            <a:ext cx="5486400" cy="868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48640" y="3264408"/>
            <a:ext cx="73152" cy="86868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35584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CLAUDE.md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840480" y="33558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영구 · 자동 주입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" y="372160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헌법 (63줄)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4242816"/>
            <a:ext cx="5486400" cy="868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4242816"/>
            <a:ext cx="73152" cy="86868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334256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File References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840480" y="433425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온디맨드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31520" y="4700016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@data/ @report/ 명시 시 주입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8640" y="5221224"/>
            <a:ext cx="5486400" cy="868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5221224"/>
            <a:ext cx="73152" cy="86868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312664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 Conversation Turns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840480" y="531266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휘발 · 누적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31520" y="567842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사용자·에이전트 대화 + 도구 결과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0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✱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766560" y="23317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 = 영속 규칙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766560" y="271576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"한국어, 수치 B 단위" 매 세션 자동 적용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400800" y="3200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✱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766560" y="32004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Subagent isolation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66560" y="358444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리서치는 격리 컨텍스트 → 핵심만 메인에 반환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0" y="4069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✱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6766560" y="40690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references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66560" y="445312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필요할 때만 @path 명시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00800" y="493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✱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766560" y="49377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compaction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66560" y="532180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오래된 턴은 자동 요약·압축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48640" y="5989320"/>
            <a:ext cx="11018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✱ 1M 토큰 윈도우도 잘못 쓰면 200K로 끝납니다. 무엇을 안 보여줄지가 더 중요합니다.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051792" y="0"/>
            <a:ext cx="36576" cy="68580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▍ AI HARNESS  00 · SUBAGENTS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25912" y="3200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for Reports · Technical Seminar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서브에이전트 패턴 3종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격리된 컨텍스트로 노이즈를 차단한다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240280"/>
            <a:ext cx="3749040" cy="39319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240280"/>
            <a:ext cx="73152" cy="39319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4231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F46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822960" y="30175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Researcher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" y="361188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격리 컨텍스트에서 자료를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광범위 수집 → 정제된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요약만 반환. 메인 보존.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2960" y="4846320"/>
            <a:ext cx="32004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937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본 프로젝트 적용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2960" y="525780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Agent가 18개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파일 수집,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metadata.md만 메인에 노출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434840" y="2240280"/>
            <a:ext cx="3749040" cy="39319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434840" y="2240280"/>
            <a:ext cx="73152" cy="39319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09160" y="24231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4709160" y="30175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4709160" y="361188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특정 도메인·방법론에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특화. 동일 입력에서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일관된 산출.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709160" y="4846320"/>
            <a:ext cx="32004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09160" y="4937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본 프로젝트 적용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709160" y="525780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STEEP Agent (1~5점),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 Agent (중립적 이름),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Agent (벤치마크)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321040" y="2240280"/>
            <a:ext cx="3749040" cy="39319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321040" y="2240280"/>
            <a:ext cx="73152" cy="393192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595360" y="24231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4F46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3200" dirty="0"/>
          </a:p>
        </p:txBody>
      </p:sp>
      <p:sp>
        <p:nvSpPr>
          <p:cNvPr id="27" name="Text 25"/>
          <p:cNvSpPr/>
          <p:nvPr/>
        </p:nvSpPr>
        <p:spPr>
          <a:xfrm>
            <a:off x="8595360" y="301752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8595360" y="361188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다른 에이전트 결과를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별도 시각으로 검증.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편향·누락 검출.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595360" y="4846320"/>
            <a:ext cx="320040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595360" y="4937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00" kern="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본 프로젝트 적용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8595360" y="525780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RS3 팩트체크 — SCADA·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FDP 시장성 재검토 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권고안 보강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48640" y="5989320"/>
            <a:ext cx="11018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✱ 한 에이전트에 모든 걸 시키지 마세요. 역할 분리만으로 환각·누락이 절반으로 줍니다.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051792" y="0"/>
            <a:ext cx="36576" cy="68580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▍ AI HARNESS  00 · TOOLS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25912" y="3200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for Reports · Technical Seminar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도구 사용 위계 + 권한 모델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자율성과 안전성의 균형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463040" y="2331720"/>
            <a:ext cx="3520440" cy="777240"/>
          </a:xfrm>
          <a:prstGeom prst="rect">
            <a:avLst/>
          </a:prstGeom>
          <a:solidFill>
            <a:srgbClr val="F8FAFC"/>
          </a:solidFill>
          <a:ln w="25400">
            <a:solidFill>
              <a:srgbClr val="DC262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600200" y="233172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C262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④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240280" y="242316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Subagent · MCP write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240280" y="27432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시스템 조작 — 강력·위험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143000" y="3200400"/>
            <a:ext cx="4160520" cy="777240"/>
          </a:xfrm>
          <a:prstGeom prst="rect">
            <a:avLst/>
          </a:prstGeom>
          <a:solidFill>
            <a:srgbClr val="F8FAFC"/>
          </a:solidFill>
          <a:ln w="25400">
            <a:solidFill>
              <a:srgbClr val="EC489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80160" y="320040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③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1920240" y="329184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· Edit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920240" y="36118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 수정·셸 — 사용자 승인 권장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68680" y="4069080"/>
            <a:ext cx="4709160" cy="777240"/>
          </a:xfrm>
          <a:prstGeom prst="rect">
            <a:avLst/>
          </a:prstGeom>
          <a:solidFill>
            <a:srgbClr val="F8FAFC"/>
          </a:solidFill>
          <a:ln w="25400">
            <a:solidFill>
              <a:srgbClr val="4F46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05840" y="406908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②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645920" y="416052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Web · Search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645920" y="448056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외부 정보 fetch — 검증 필수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4937760"/>
            <a:ext cx="5349240" cy="777240"/>
          </a:xfrm>
          <a:prstGeom prst="rect">
            <a:avLst/>
          </a:prstGeom>
          <a:solidFill>
            <a:srgbClr val="F8FAFC"/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493776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5966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①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325880" y="5029200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 · Glob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1325880" y="5349240"/>
            <a:ext cx="4434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 읽기 — 거의 항상 안전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00800" y="233172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권한 모드 3종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400800" y="2880360"/>
            <a:ext cx="534924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0" y="2880360"/>
            <a:ext cx="73152" cy="91440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0" y="299008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read-only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229600" y="299008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 읽기만, 수정·실행 차단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583680" y="338328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적합 단계: 탐색·디버깅 초반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400800" y="3959352"/>
            <a:ext cx="534924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0" y="3959352"/>
            <a:ext cx="73152" cy="9144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583680" y="40690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confirm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229600" y="4069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도구 호출 전 사용자 승인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583680" y="4462272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적합 단계: 첫 자동화·규모 큰 변경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400800" y="5038344"/>
            <a:ext cx="5349240" cy="9144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0" y="5038344"/>
            <a:ext cx="73152" cy="91440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583680" y="514807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autonomous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8229600" y="5148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사전 정의 도구 자유 사용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583680" y="554126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적합 단계: 신뢰된 반복 워크플로우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48640" y="5989320"/>
            <a:ext cx="11018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✱ 본 프로젝트: 데이터 수집·분석은 autonomous, 보고서 최종화·git push는 confirm.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051792" y="0"/>
            <a:ext cx="36576" cy="68580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▍ AI HARNESS  00 · PERSISTENCE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25912" y="3200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for Reports · Technical Seminar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영속성 레이어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 시스템은 LLM의 외부 두뇌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240280"/>
            <a:ext cx="11064240" cy="416052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2240280"/>
            <a:ext cx="2377440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레이어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971800" y="2240280"/>
            <a:ext cx="1645920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영속성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63440" y="2240280"/>
            <a:ext cx="1371600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용량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080760" y="2240280"/>
            <a:ext cx="1280160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검색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406640" y="2240280"/>
            <a:ext cx="4206240" cy="4160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본 프로젝트 사례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2729484"/>
            <a:ext cx="11064240" cy="594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2729484"/>
            <a:ext cx="73152" cy="59436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729484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In-context memory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971800" y="2729484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세션 종료 시 소멸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663440" y="2729484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1M 토큰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080760" y="2729484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직접 읽음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406640" y="2729484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대화 중 도구 결과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3369564"/>
            <a:ext cx="11064240" cy="594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3369564"/>
            <a:ext cx="73152" cy="59436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3369564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files (MCP)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971800" y="3369564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세션 간 영속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663440" y="3369564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디스크 한계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080760" y="3369564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인덱스+읽기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406640" y="3369564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~/.claude/.../memory/MEMORY.md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4009644"/>
            <a:ext cx="11064240" cy="594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8640" y="4009644"/>
            <a:ext cx="73152" cy="5943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4009644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workspace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2971800" y="4009644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영속 + 공유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663440" y="4009644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디스크 한계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080760" y="4009644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grep · find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406640" y="4009644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data/ · analysis/ · report/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48640" y="4649724"/>
            <a:ext cx="11064240" cy="5943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8640" y="4649724"/>
            <a:ext cx="73152" cy="5943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4649724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(Git · MCP)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2971800" y="4649724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영속 + 분산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663440" y="4649724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무제한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080760" y="4649724"/>
            <a:ext cx="1280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원격 검색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406640" y="4649724"/>
            <a:ext cx="4206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action-learning + PR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48640" y="5349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재현 가능성 — git log = 단계별 스냅샷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6080760" y="5349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협업 가능성 — PR·코드 리뷰 그대로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48640" y="5623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감사 가능성 — git + PROMPT.md 추적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080760" y="5623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이어쓰기 — 다음 세션이 그 위에 작업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48640" y="5989320"/>
            <a:ext cx="11018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✱ "산출물을 채팅창에 출력하지 말고 파일에 써라" — 가장 단순한 단 하나의 규칙.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051792" y="0"/>
            <a:ext cx="36576" cy="68580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▍ AI HARNESS  00 · 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25912" y="3200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for Reports · Technical Seminar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Claude Code의 위치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코딩 에이전트는 많다 — 보고서 워크플로우에 적합한 reference 하네스는?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331720"/>
            <a:ext cx="5349240" cy="3657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23260" y="2514600"/>
            <a:ext cx="0" cy="329184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4160520"/>
            <a:ext cx="4983480" cy="0"/>
          </a:xfrm>
          <a:prstGeom prst="line">
            <a:avLst/>
          </a:prstGeom>
          <a:noFill/>
          <a:ln w="12700">
            <a:solidFill>
              <a:srgbClr val="6474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08860" y="23774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▲ Terminal·CLI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308860" y="5715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▼ GUI·Web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94360" y="4206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◀ Code 중심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26280" y="4206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문서·보고서 ▶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005840" y="352044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F1F5F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35204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Aider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497580" y="352044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F1F5F9"/>
          </a:solidFill>
          <a:ln w="25400">
            <a:solidFill>
              <a:srgbClr val="EC489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97580" y="352044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Claude Code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005840" y="461772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F1F5F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" y="4617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497580" y="4617720"/>
            <a:ext cx="1828800" cy="502920"/>
          </a:xfrm>
          <a:prstGeom prst="roundRect">
            <a:avLst>
              <a:gd name="adj" fmla="val 14545"/>
            </a:avLst>
          </a:prstGeom>
          <a:solidFill>
            <a:srgbClr val="F1F5F9"/>
          </a:solidFill>
          <a:ln w="12700">
            <a:solidFill>
              <a:srgbClr val="47556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97580" y="46177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0" y="233172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세미나가 Claude Code를 선택한 이유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0" y="28346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✱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766560" y="28346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터미널 + 파일 시스템 = 워크플로우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766560" y="321868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디렉토리·파일·git이 1차 인터페이스 — 보고서 작업과 정확히 일치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400800" y="3749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✱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766560" y="37490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Markdown · Mermaid 1급 시민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766560" y="413308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별도 디자인 도구 없이 GitHub 자동 렌더링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400800" y="4663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✱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766560" y="46634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확장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766560" y="504748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Notion · Slack · Drive · Calendar — 같은 모델·동일 워크플로우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400800" y="55778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✱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766560" y="55778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SDK + 슬래시 커맨드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766560" y="5961888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조직 표준 워크플로우를 명령으로 패키징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548640" y="5989320"/>
            <a:ext cx="11018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✱ "AI 하네스 엔지니어링" 자체는 도구 중립. 다음부터는 Claude Code를 reference로 자세히 봅니다.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051792" y="0"/>
            <a:ext cx="36576" cy="68580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▍ AI HARNESS  00 · PRINCIPLES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25912" y="3200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for Reports · Technical Seminar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하네스 설계 원칙 5가지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보고서·문서 작업에 맞춰 검증된 5가지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194560"/>
            <a:ext cx="3657600" cy="17830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194560"/>
            <a:ext cx="73152" cy="178308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35915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645920" y="2377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text first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29718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산출물 Markdown·MMD·CSV.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바이너리는 최소.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22960" y="3611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보고서·시나리오·전략 모두 .md, 차트는 Mermaid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43400" y="2194560"/>
            <a:ext cx="3657600" cy="17830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2194560"/>
            <a:ext cx="73152" cy="178308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17720" y="235915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440680" y="2377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Idempotent steps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617720" y="29718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입력 → 같은 출력.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재실행 가능한 단계로 분해.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617720" y="3611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generate-pptx.js 다시 돌리면 동일 PPTX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138160" y="2194560"/>
            <a:ext cx="3657600" cy="17830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38160" y="2194560"/>
            <a:ext cx="73152" cy="178308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12480" y="235915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9235440" y="2377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412480" y="29718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결정에 입력·도구·결과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추적 가능.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412480" y="36118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Git log + PROMPT.md 누적 로깅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446020" y="4160520"/>
            <a:ext cx="3657600" cy="17830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446020" y="4160520"/>
            <a:ext cx="73152" cy="178308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20340" y="432511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3543300" y="4343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720340" y="49377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전략 판단·민감 정보·승인은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사람이.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720340" y="5577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RS3 팩트체크 사용자 피드백 5건이 권고안 형태 결정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240780" y="4160520"/>
            <a:ext cx="3657600" cy="17830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240780" y="4160520"/>
            <a:ext cx="73152" cy="178308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15100" y="4325112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200" dirty="0"/>
          </a:p>
        </p:txBody>
      </p:sp>
      <p:sp>
        <p:nvSpPr>
          <p:cNvPr id="35" name="Text 33"/>
          <p:cNvSpPr/>
          <p:nvPr/>
        </p:nvSpPr>
        <p:spPr>
          <a:xfrm>
            <a:off x="7338060" y="43434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Composable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515100" y="49377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하네스 + MCP + 외부 도구가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같은 메탈에서 합쳐짐.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515100" y="5577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Claude Code + python-pptx + matplotlib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48640" y="5989320"/>
            <a:ext cx="11018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✱ 여기까지가 이론입니다. 다음 10슬라이드에서는 이 5가지 원칙이 실제 보고서 프로젝트에서 어떻게 작동했는지를 git 파일 발췌로 봅니다.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051792" y="0"/>
            <a:ext cx="36576" cy="68580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▍ CASE STUDY  04 · OVERVIEW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25912" y="3200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for Reports · Technical Seminar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한 프로젝트, 모든 컴포넌트가 흐른다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삼성전자 메모리사업부 시나리오 플래닝 — 첫 프롬프트 한 번에서 시작된 30+ 커밋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5349240" cy="37033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286000"/>
            <a:ext cx="73152" cy="37033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242316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PROJECT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77240" y="27889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Focal Issue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331720" y="278892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2030~2035 메모리 시장 불확실성 대응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" y="32918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방법론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31720" y="329184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Shell 시나리오 플래닝 (8단계)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" y="379476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331720" y="37947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메모리사업부 전략 담당자 (개발 경험 없음)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77240" y="42976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세션 수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331720" y="42976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약 20회, 30+ commits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77240" y="48006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산출물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331720" y="48006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인덱스 / 분석 / 보고서 / 발표자료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77240" y="530352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저장소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331720" y="530352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github.com/k31001/action-learning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355080" y="2286000"/>
            <a:ext cx="5349240" cy="32918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19672" y="2286000"/>
            <a:ext cx="5020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action-learning/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355080" y="2615184"/>
            <a:ext cx="5349240" cy="33741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56248" y="2752344"/>
            <a:ext cx="4946904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CLAUDE.md          ← 프로젝트 헌법 (63줄)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PROMPT.md          ← 사용자 지시 누적 (201줄)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data/              ← 18개 데이터 + metadata.md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analysis/          ← STEEP·DF·Scenario·Strategy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report/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scenario-planning-report.md  (649줄)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presentation/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slide-outline.md             (1,137줄)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scripts/generate_pptx.py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assets/  ← matplotlib 차트 8종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working-style/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└── seminar-claude-code-report/  ← 본 발표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48640" y="5989320"/>
            <a:ext cx="11018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✱ 앞에서 본 5대 빌딩 블록 · 5가지 설계 원칙이 실제로 어떻게 작동했는지를 11슬라이드(9 케이스 + 2 자동화 워크플로우) 동안 git 발췌로 봅니다.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051792" y="0"/>
            <a:ext cx="36576" cy="68580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▍ CASE STUDY  04 · FIRST PROMPT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25912" y="3200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for Reports · Technical Seminar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/ 10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18872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첫 프롬프트와 하네스가 세운 6단계 계획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번의 한국어 지시 → 자동 분기된 작업 계획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331720"/>
            <a:ext cx="5486400" cy="32918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331720"/>
            <a:ext cx="5157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PROMPT.md (line 1~30)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660904"/>
            <a:ext cx="5486400" cy="332841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798064"/>
            <a:ext cx="5084064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목표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나는 삼성전자 메모리사업부의 일원으로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불확실성에 대응하기 위한 회사의 전략을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제안하기 위한 발표자료를 만들거야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방법론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쉘에서 사용한 '시나리오 플래닝' 기법 활용.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Focal Issue → STEEP 브레인스토밍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Driving Forces → 시나리오 매트릭스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Main Bet + Side Bet → 생존 전략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산출물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모든 데이터 수집 + 메타데이터 관리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마크다운 전략 보고서 (시각자료 포함)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슬라이드 기획서 (중간 산출물)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파워포인트 자동 생성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주요 지침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역할별 서브에이전트 생성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모든 프롬프트는 PROMPT.md에 누적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모든 데이터는 git으로 관리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마크다운 우선 (PPTX 제외)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263640" y="2331720"/>
            <a:ext cx="5440680" cy="3657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46520" y="242316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하네스 자동 도출 — 6단계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46520" y="283464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  디렉토리 스캐폴딩 — data·analysis·report·presentation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46520" y="333756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  CLAUDE.md (63줄) — 규칙·디렉토리·메타데이터·에이전트 가이드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46520" y="384048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  서브에이전트 정의 — Research·STEEP·Scenario·Strategy 외 6종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46520" y="434340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  8단계 시나리오 플래닝 워크플로우 매핑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484632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  PROMPT.md 누적 로깅 시작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46520" y="534924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  Git 자동 커밋 — 의미 단위로 30+ commits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5989320"/>
            <a:ext cx="11018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✱ "프로젝트 시작해줘" 한 줄에서 위 계획이 자동 도출 — 사용자는 수정·승인만.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051792" y="0"/>
            <a:ext cx="36576" cy="68580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▍ CASE STUDY  04 · DIRECTORY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25912" y="3200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for Reports · Technical Seminar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/ 10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18872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디렉토리 구조 — 워크플로우의 척추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원시 데이터 → 가공 → 산출물의 단방향 흐름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331720"/>
            <a:ext cx="11064240" cy="32918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331720"/>
            <a:ext cx="10735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directory tree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660904"/>
            <a:ext cx="11064240" cy="33741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798064"/>
            <a:ext cx="10661904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data/                              원시 자료 (Read-only)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market/        (5)              HBM·DRAM·NAND·AI 서버·가격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competitors/   (4)              SK하이닉스·Micron·CXMT·YMTC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technology/    (4)              HBM4·3D DRAM·CXL·PIM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policy/        (4)              CHIPS·MATCH·VEU·중국 빅펀드 III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macro/         (4)              AI CapEx·에너지·관세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metadata.md    (1)              18개 데이터 인덱스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▼ Research Agent · 정제 추출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analysis/                           가공 결과 (Append-only)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steep/                          5축 (econ·tech·env·social·political)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driving-forces/                 I×U 매트릭스 + 핵심 3개 선별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scenarios/                      5개 시나리오 + 매트릭스 (Mermaid)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benchmark/                      7개 사이클 산업 벤치마크 패턴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scenarios/strategy.md           658줄 — Bet 전략 통합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▼ Strategy Agent · 통합 정리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report/scenario-planning-report.md  649줄 최종 전략 보고서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▼ Presentation Agent · 형식 변환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presentation/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slide-outline.md                1,137줄 — 슬라이드별 명세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scripts/generate_pptx.py        matplotlib + python-pptx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assets/                         차트 8종 (PNG)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5989320"/>
            <a:ext cx="11018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✱ 디렉토리 = 단계. 각 단계 산출물이 다음 디렉토리에 쌓이며 — 절대 거꾸로 흐르지 않습니다.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051792" y="0"/>
            <a:ext cx="36576" cy="68580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▍ CASE STUDY  04 · CLAUDE.md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25912" y="3200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 / 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for Reports · Technical Seminar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/ 10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18872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CLAUDE.md — 프로젝트 헌법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번 작성하면 모든 세션이 같은 톤으로 작동한다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331720"/>
            <a:ext cx="6400800" cy="32918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331720"/>
            <a:ext cx="6071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CLAUDE.md (line 1~40)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660904"/>
            <a:ext cx="6400800" cy="332841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798064"/>
            <a:ext cx="5998464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프로젝트 가이드라인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프로젝트 정보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주제: 삼성전자 메모리사업부 시나리오 플래닝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방법론: Shell 시나리오 플래닝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산출물: 보고서(MD) + 슬라이드 기획(MD) + PPTX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필수 규칙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파일 관리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모든 사용자 지시는 PROMPT.md에 누적 기록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모든 문서는 Markdown 형식 (PowerPoint 제외)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데이터 수집/수정 시 data/metadata.md 업데이트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모든 변경사항은 git commit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디렉토리 규칙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원시 데이터: data/{category}/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분석 결과: analysis/{type}/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보고서 시각자료: report/assets/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시나리오 플래닝 방법론 순서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Focal Issue 정의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STEEP 30~50개 브레인스토밍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Impact × Uncertainty 매트릭스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핵심 Driving Forces 2~3개 선별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 (총 8단계)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86600" y="2331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한 파일이 만들어내는 효과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086600" y="28346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✱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406640" y="28346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언어·형식 영속화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406640" y="317296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"한국어, 수치 B 단위, 출처" — 매번 말하지 않아도 적용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086600" y="37033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✱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406640" y="37033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방법론을 코드로 박제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406640" y="404164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8단계 시나리오 플래닝이 파일에 — 어떤 세션도 같은 순서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086600" y="45720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✱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406640" y="45720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에이전트 역할 사전 분리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406640" y="491032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Research/STEEP/Scenario/Strategy 권한·금지 명시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086600" y="54406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✱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406640" y="54406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주입 (system prompt)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406640" y="577900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세션마다 자동 로드 — 사용자가 의식할 필요 없음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48640" y="5989320"/>
            <a:ext cx="11018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✱ 30분 들여 만든 CLAUDE.md가 이후 20세션 × 평균 2시간을 일관되게 만듭니다.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051792" y="0"/>
            <a:ext cx="36576" cy="68580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▍ CASE STUDY  04 · SUBAGENTS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25912" y="3200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 / 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for Reports · Technical Seminar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/ 10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18872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6개 서브에이전트 — 역할 기반 전문화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에이전트에 모든 걸 시키지 않는다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331720"/>
            <a:ext cx="11109960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331720"/>
            <a:ext cx="1691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286000" y="23317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책임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0" y="233172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산출물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55080" y="23317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규칙 (CLAUDE.md)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332720" y="2331720"/>
            <a:ext cx="1325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컨텍스트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743200"/>
            <a:ext cx="11109960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74320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Research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286000" y="274320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자료 수집 (웹·파일)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114800" y="274320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data/*/*.md, metadata.md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55080" y="274320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판단 금지, 출처·신뢰도 의무 표기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332720" y="274320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격리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3310128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STEEP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2286000" y="3310128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환경 요인 도출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114800" y="3310128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analysis/steep/*.md (5축)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355080" y="3310128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1~5점 점수, 30~50개 브레인스토밍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332720" y="3310128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격리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8640" y="3877056"/>
            <a:ext cx="11109960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877056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DrivingForce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2286000" y="3877056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요인 선별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114800" y="3877056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impact-uncertainty-matrix.md, key-drivers.md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355080" y="3877056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독립성 검증 (한 축이 다른 축 원인이면 탈락)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332720" y="3877056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메인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4443984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Scenario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2286000" y="4443984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5개 시나리오 작성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114800" y="4443984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scenarios/scenario-{A..E}.md + matrix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355080" y="4443984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중립적 이름 (좋고 나쁨 평가 금지)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0332720" y="4443984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격리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48640" y="5010912"/>
            <a:ext cx="11109960" cy="566928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8640" y="5010912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Strategy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2286000" y="5010912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 전략 도출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4114800" y="501091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strategy.md (658줄)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355080" y="501091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전략은 시나리오와 연결고리 명시, 벤치마크 매핑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0332720" y="5010912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격리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48640" y="5577840"/>
            <a:ext cx="1691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Report/Presentation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2286000" y="5577840"/>
            <a:ext cx="1783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최종 산출물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4114800" y="557784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report/*.md, slide-outline.md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355080" y="5577840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수치 출처 표기, Mermaid 우선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10332720" y="5577840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메인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548640" y="5989320"/>
            <a:ext cx="11018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✱ 한 에이전트 피드백이 한 번에 한 에이전트만 고치면 끝나는 구조 — 책임 분리.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051792" y="0"/>
            <a:ext cx="36576" cy="68580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▍ CASE STUDY  04 · DATA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25912" y="3200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 / 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for Reports · Technical Seminar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/ 10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18872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데이터 수집 + metadata.md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18개 파일 · 6개 카테고리 — 한 번 지시로 메타데이터까지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331720"/>
            <a:ext cx="5486400" cy="384048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331720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카테고리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834640" y="2331720"/>
            <a:ext cx="731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파일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0" y="233172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대표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715768"/>
            <a:ext cx="548640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71576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시장 (data/market/)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834640" y="271576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657600" y="27157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hbm-market.md, price-trends.md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731520" y="317296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경쟁사 (data/competitors/)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834640" y="317296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657600" y="31729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sk-hynix.md, micron.md, cxmt.md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3630168"/>
            <a:ext cx="548640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363016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기술 (data/technology/)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834640" y="363016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657600" y="36301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hbm4-roadmap.md, 3d-dram.md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31520" y="408736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정책 (data/policy/)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834640" y="408736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657600" y="40873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chips-act.md, match-act.md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48640" y="4544568"/>
            <a:ext cx="548640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454456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거시 (data/macro/)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834640" y="454456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657600" y="45445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ai-capex.md, energy.md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731520" y="500176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벤치마크 (analysis/benchmark/)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2834640" y="500176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657600" y="500176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cyclical-strategy-benchmark.md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6263640" y="2331720"/>
            <a:ext cx="5440680" cy="32918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2331720"/>
            <a:ext cx="51114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data/metadata.md (line 21~40)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263640" y="2660904"/>
            <a:ext cx="5440680" cy="332841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64808" y="2798064"/>
            <a:ext cx="5038344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시장 데이터 (data/market/)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hbm-market.md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수집일: 2026-05-05 | 신뢰도: High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태그: #HBM #AI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요약: 2025년 HBM 매출 ~$340억(전년 2배).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SK 57~62%, Micron 21%, 삼성 17~22%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(점유율 역전). 2030년 CAGR 33%.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출처: Yole Group, BofA, Counterpoint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price-trends.md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수집일: 2026-05-05 | 신뢰도: High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태그: #price #cycle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요약: Q1 2026 DRAM 계약가 +55~60% QoQ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(역대 최대). HBM4 단가 ~$500/개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(HBM3E +67%). NAND +33~38% QoQ.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출처: TrendForce, NAND Research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48640" y="5989320"/>
            <a:ext cx="11018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✱ Research Agent가 자동 작성 — 사용자는 카테고리만 지시. 신뢰도·태그·출처가 표준 포맷으로 누적.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051792" y="0"/>
            <a:ext cx="36576" cy="68580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▍ CASE STUDY  04 · STEEP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25912" y="3200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 / 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for Reports · Technical Seminar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/ 10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18872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STEEP 50요인 → I×U → 3개 Driving Force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점수 기반 정렬로 최종 2축을 자동 도출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331720"/>
            <a:ext cx="5486400" cy="10058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331720"/>
            <a:ext cx="73152" cy="100584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231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STEEP 5축 × 약 10개씩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27889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50개 환경 요인 브레인스토밍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analysis/steep/*.md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1005840" y="3429000"/>
            <a:ext cx="4572000" cy="10058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05840" y="3429000"/>
            <a:ext cx="73152" cy="100584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35204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× Uncertainty 점수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3886200"/>
            <a:ext cx="4206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각 1~5점, 합산 정렬 → 상위 20개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impact-uncertainty-matrix.md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1463040" y="4526280"/>
            <a:ext cx="3657600" cy="10058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63040" y="4526280"/>
            <a:ext cx="73152" cy="100584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645920" y="46177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독립성 검증 → 3개 선별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645920" y="49834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축이 다른 축 원인이면 탈락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DF1·DF2 주축, DF3 와일드카드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48640" y="329184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▼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4389120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▼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263640" y="2331720"/>
            <a:ext cx="5440680" cy="36576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63640" y="2331720"/>
            <a:ext cx="73152" cy="365760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46520" y="2441448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실제 결과 — key-drivers.md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46520" y="28346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46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DF1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7223760" y="2834640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수요의 구조적 지속성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537960" y="324612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Pole A:  AI 슈퍼사이클 ($1조+)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537960" y="35204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Pole B:  거품 붕괴·수요 재조정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46520" y="385876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46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DF2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7223760" y="385876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미중 지정학 강도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537960" y="427024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Pole A:  전면 기술 디커플링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37960" y="454456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Pole B:  관리된 공존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46520" y="4882896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46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DF3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7223760" y="488289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메모리 패러다임 (와일드카드)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537960" y="5294376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Pole A:  HBM 지속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537960" y="5568696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Pole B:  3D DRAM·PIM·CXL 부상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48640" y="5989320"/>
            <a:ext cx="11018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✱ STEEP Agent + DrivingForce Agent의 협업 산출. 점수가 명시적이라 사용자 판단 가능.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051792" y="0"/>
            <a:ext cx="36576" cy="68580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▍ CASE STUDY  04 · SCENARIOS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25912" y="3200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/ 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for Reports · Technical Seminar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/ 10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18872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시나리오 매트릭스 — Mermaid quadrantChart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텍스트 한 블록이 GitHub에서 곧바로 4분면 시각화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331720"/>
            <a:ext cx="5486400" cy="32918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331720"/>
            <a:ext cx="51572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scenarios/scenario-matrix.md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660904"/>
            <a:ext cx="5486400" cy="332841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798064"/>
            <a:ext cx="5084064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```mermaid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quadrantChart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 Memory Scenario Matrix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x-axis AI Bubble Burst --&gt; AI Demand Sustained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y-axis Managed Coexistence --&gt; Decoupling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quadrant-1 A · Golden Fortress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quadrant-2 C · Tech Cold War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quadrant-3 D · Quiet Reset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quadrant-4 B · AI Renaissance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Scenario A: [0.78, 0.78]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Scenario B: [0.78, 0.22]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Scenario C: [0.22, 0.78]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Scenario D: [0.22, 0.22]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```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 · Paradigm Shift  (와일드카드)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DF3 Pole B 실현 시 사분면 미해당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080760" y="3931920"/>
            <a:ext cx="365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</a:t>
            </a:r>
            <a:endParaRPr lang="en-US" sz="3200" dirty="0"/>
          </a:p>
        </p:txBody>
      </p:sp>
      <p:sp>
        <p:nvSpPr>
          <p:cNvPr id="14" name="Shape 12"/>
          <p:cNvSpPr/>
          <p:nvPr/>
        </p:nvSpPr>
        <p:spPr>
          <a:xfrm>
            <a:off x="6492240" y="2331720"/>
            <a:ext cx="516636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2331720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scenario-matrix · GitHub rendering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075420" y="2834640"/>
            <a:ext cx="0" cy="2743200"/>
          </a:xfrm>
          <a:prstGeom prst="line">
            <a:avLst/>
          </a:prstGeom>
          <a:noFill/>
          <a:ln w="12700">
            <a:solidFill>
              <a:srgbClr val="99999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0" y="4206240"/>
            <a:ext cx="4434840" cy="0"/>
          </a:xfrm>
          <a:prstGeom prst="line">
            <a:avLst/>
          </a:prstGeom>
          <a:noFill/>
          <a:ln w="12700">
            <a:solidFill>
              <a:srgbClr val="99999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0" y="3063240"/>
            <a:ext cx="22174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Tech Cold War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10~15%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075420" y="3063240"/>
            <a:ext cx="22174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Golden Fortress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25~30%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858000" y="4846320"/>
            <a:ext cx="22174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· Quiet Reset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20~25%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075420" y="4846320"/>
            <a:ext cx="22174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AI Renaissance ⭐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30~35%  Main Bet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92240" y="5669280"/>
            <a:ext cx="5166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AI Burst        AI Sustained →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48640" y="5989320"/>
            <a:ext cx="11018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✱ 디자인 도구 없이 Mermaid 한 블록 = GitHub·Notion·VS Code 자동 렌더링.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051792" y="0"/>
            <a:ext cx="36576" cy="68580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▍ CASE STUDY  04 · STRATEGY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25912" y="3200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 / 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for Reports · Technical Seminar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 / 10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18872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Strategy Agent — 7개 사이클 벤치마크 cross-check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산업별 사이클 패턴을 본 권고안에 매핑 — 누락 자동 검출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331720"/>
            <a:ext cx="11109960" cy="411480"/>
          </a:xfrm>
          <a:prstGeom prst="rect">
            <a:avLst/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3317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143000" y="23317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벤치마크 패턴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291840" y="233172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대표 사례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080760" y="2331720"/>
            <a:ext cx="4434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본 권고안 매핑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61320" y="23317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743200"/>
            <a:ext cx="1110996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743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143000" y="2743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역(逆)사이클 투자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291840" y="2743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Samsung 2022~23, ExxonMobil-Pioneer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80760" y="274320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RS6 (재무 규율), MB-3 (1c nm 다운턴 전환)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561320" y="27432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✅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48640" y="32004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143000" y="3200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변동비 구조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291840" y="3200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Nucor 전기로 미니밀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080760" y="320040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RS1 (옵션형 캐파), 롤링 캐파 리뷰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0561320" y="32004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✅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48640" y="3657600"/>
            <a:ext cx="1110996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6576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43000" y="36576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자산 경량화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291840" y="36576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Marriott · Maersk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080760" y="365760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RS3 (소프트웨어 구독: FDP·SCADA SW)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561320" y="36576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⚠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48640" y="41148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143000" y="41148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수직·수평 통합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291840" y="41148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Maersk (해운+물류)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080760" y="411480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RS2 (바벨 포트폴리오)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0561320" y="41148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✅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548640" y="4572000"/>
            <a:ext cx="1110996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8640" y="45720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143000" y="45720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헤징·장기계약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3291840" y="45720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Southwest 연료, Samsung-Tesla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080760" y="457200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RS4 (LTA·Take-or-Pay)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0561320" y="45720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✅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548640" y="50292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143000" y="5029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요새형 재무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3291840" y="5029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Nucor 순부채/EBITDA &lt;1배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6080760" y="502920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RS6, SC-2 (순현금 30조 원 버퍼)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10561320" y="50292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✅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548640" y="5486400"/>
            <a:ext cx="11109960" cy="4572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48640" y="54864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143000" y="5486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불황기 M&amp;A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3291840" y="54864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Disney-Marvel, ExxonMobil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080760" y="548640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Option L-4 + SE-1 (3D DRAM M&amp;A 펀드)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10561320" y="54864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✅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548640" y="57607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✱ ⚠ 1건은 Strategy Agent가 자동 검출 → RS3에 "테슬라 FSD식 SW 구독 모델" 명문화로 보강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48640" y="60807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결과: Robust Strategy 6개 + Side Bet 4개 + 9개 즉시 결정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051792" y="0"/>
            <a:ext cx="36576" cy="68580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▍ CASE STUDY  04 · BUILD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25912" y="3200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 / 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for Reports · Technical Seminar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/ 10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18872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report → slide-outline → PPTX 자동 빌드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outline.md를 단일 진실로 — 차트도 코드, 슬라이드도 코드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280160" y="2331720"/>
            <a:ext cx="9601200" cy="10515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80160" y="2331720"/>
            <a:ext cx="73152" cy="10515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08760" y="25146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46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240280" y="246888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report/scenario-planning-report.md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098280" y="24688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649줄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240280" y="2834640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벤치마크 정합성 점검 + Main Bet + Side Bet + Robust 6 + 9 결정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240280" y="301752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사람이 읽는 최종 보고서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280160" y="3383280"/>
            <a:ext cx="9601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280160" y="3520440"/>
            <a:ext cx="9601200" cy="10515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80160" y="3520440"/>
            <a:ext cx="73152" cy="105156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508760" y="370332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46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2240280" y="3657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presentation/slide-outline.md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098280" y="365760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1,137줄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240280" y="4023360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슬라이드별 텍스트 + 차트 명세 + 레이아웃 + 색상 + 타이포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240280" y="420624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25개 슬라이드 명세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80160" y="4572000"/>
            <a:ext cx="9601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▼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280160" y="4709160"/>
            <a:ext cx="9601200" cy="11887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280160" y="4709160"/>
            <a:ext cx="73152" cy="1188720"/>
          </a:xfrm>
          <a:prstGeom prst="rect">
            <a:avLst/>
          </a:prstGeom>
          <a:solidFill>
            <a:srgbClr val="EC4899"/>
          </a:solidFill>
          <a:ln w="12700">
            <a:solidFill>
              <a:srgbClr val="EC489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508760" y="4892040"/>
            <a:ext cx="640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C48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800" dirty="0"/>
          </a:p>
        </p:txBody>
      </p:sp>
      <p:sp>
        <p:nvSpPr>
          <p:cNvPr id="28" name="Text 26"/>
          <p:cNvSpPr/>
          <p:nvPr/>
        </p:nvSpPr>
        <p:spPr>
          <a:xfrm>
            <a:off x="2240280" y="48463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presentation/scripts/generate_pptx.py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098280" y="484632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2,318줄 Python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240280" y="5212080"/>
            <a:ext cx="8503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matplotlib 차트 8종 → PNG  +  python-pptx 25슬라이드 빌드  +  template.pptx 색상·폰트 차용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240280" y="553212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samsung_quarterly · scenario_matrix · iu_matrix ...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80160" y="59893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scenario-planning.pptx (다운로드)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051792" y="0"/>
            <a:ext cx="36576" cy="68580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▍ CASE STUDY  04 · CONSISTENCY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25912" y="3200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 / 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for Reports · Technical Seminar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11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18872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변경 정합성 체인 — 한 번 지시 = 두 갈래 동시 갱신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데이터 → 분석 → 전략·보고서 → ① 발표자료(PPTX) + ② 대시보드(Vercel)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331720"/>
            <a:ext cx="11064240" cy="32918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331720"/>
            <a:ext cx="107350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consistency-chain.txt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660904"/>
            <a:ext cx="11064240" cy="332841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798064"/>
            <a:ext cx="10661904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data/{category}/                          (원시 데이터)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↓ Research Agent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analysis/{steep, driving-forces,           (분석)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scenarios, benchmark}/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↓ Strategy Agent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analysis/scenarios/strategy.md             (전략 통합)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↓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report/scenario-planning-report.md         (전략 보고서)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↓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├── ① 발표자료 갈래 ──────────────────────┐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│       presentation/slide-outline.md       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│       → python3 generate_pptx.py          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│       → samsung-memory-...pptx            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│                                           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└── ② 대시보드 갈래 ────────────────────────┤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dashboard/src/data/indicators.js    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dashboard/src/components/           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DecisionTracker.jsx       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→ cd dashboard &amp;&amp; npm run build     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                      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↓                         │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git commit + git push origin main ──┘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↓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✓ GitHub 동기화   ✓ Vercel 자동 배포 (대시보드)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5989320"/>
            <a:ext cx="11018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✱ 한 번의 데이터 변경이 양쪽 갈래로 자동 흐름. 발표자가 PPTX와 대시보드를 따로 갱신할 필요 없음.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051792" y="0"/>
            <a:ext cx="36576" cy="68580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▍ CASE STUDY  04 · RULE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725912" y="3200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 / 25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for Reports · Technical Seminar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777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11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18872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자동화 보존 — CLAUDE.md 규칙으로 박제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자연어 규칙으로 워크플로우를 박제 → 다음 세션도 같은 흐름을 따른다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331720"/>
            <a:ext cx="6400800" cy="329184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331720"/>
            <a:ext cx="6071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CLAUDE.md (변경 정합성 체인 발췌)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48640" y="2660904"/>
            <a:ext cx="6400800" cy="332841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798064"/>
            <a:ext cx="5998464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 변경 정합성 체인 (Continuous Consistency)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데이터·분석·전략·보고서 중 어느 단계든 변경되면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아래 사슬을 따라 두 갈래(① 발표자료 / ② 대시보드)의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하류를 모두 갱신한 뒤 git push 한 번으로 마무리한다.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(push가 Vercel 자동 배포 트리거)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#### 마무리 단계 (모든 변경의 종착점)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PPTX 재생성: python3 generate_pptx.py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대시보드 빌드 검증: cd dashboard &amp;&amp; npm run build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git commit (의미 단위)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git push origin main  ← 이 규칙으로 사전 승인됨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Vercel 자동 배포 결과 확인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#### 사전 승인 범위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본 체인 흐름의 commit + push + Vercel 배포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제외: force push, branch 삭제, history rewrite,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Vercel 환경변수 변경 (매번 별도 확인)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7086600" y="2331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한 섹션이 만들어내는 효과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086600" y="283464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✱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406640" y="28346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세션도 같은 흐름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406640" y="317296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auto-loaded CLAUDE.md → 어떤 Claude 세션도 이 워크플로우를 자동 추적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086600" y="370332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✱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406640" y="37033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사전 승인된 commit + push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406640" y="404164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워크플로우 안에서 일어나는 push는 매번 확인 불필요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086600" y="457200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✱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406640" y="45720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양쪽 갈래 빌드 검증 의무화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406640" y="491032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PPTX 스크립트 + dashboard npm build 모두 통과해야 push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086600" y="5440680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✱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406640" y="54406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destructive 작업은 매번 확인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406640" y="5779008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push · branch 삭제 · 환경변수 변경은 사전 승인 범위 밖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48640" y="5989320"/>
            <a:ext cx="11018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C48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✱ 워크플로우는 코드가 아니라 자연어 규칙으로 박제됨 — Claude 세션·모델·도구가 바뀌어도 행동은 일관됨.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2051792" y="0"/>
            <a:ext cx="36576" cy="685800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5029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▍ THANK YOU  ·  25 / 25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92024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Questions</a:t>
            </a:r>
            <a:endParaRPr lang="en-US" sz="8400" dirty="0"/>
          </a:p>
        </p:txBody>
      </p:sp>
      <p:sp>
        <p:nvSpPr>
          <p:cNvPr id="5" name="Text 3"/>
          <p:cNvSpPr/>
          <p:nvPr/>
        </p:nvSpPr>
        <p:spPr>
          <a:xfrm>
            <a:off x="548640" y="301752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4F46E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&amp;  Discussion.</a:t>
            </a:r>
            <a:endParaRPr lang="en-US" sz="8400" dirty="0"/>
          </a:p>
        </p:txBody>
      </p:sp>
      <p:sp>
        <p:nvSpPr>
          <p:cNvPr id="6" name="Text 4"/>
          <p:cNvSpPr/>
          <p:nvPr/>
        </p:nvSpPr>
        <p:spPr>
          <a:xfrm>
            <a:off x="548640" y="44348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하네스 = 모델  +  환경.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800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산출물은 파일에 남고, 다음 세션이 그 위에 작업합니다.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53492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C48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harness --next-step=your-report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59436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F46E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발표자료 · 코드 · CLAUDE.md · PROMPT.md  ▸  github.com/k31001/action-learning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62636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연락: euihyeok.kwon@gmail.com    ·    소속: 메모리사업부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Claude Code for Reports</dc:title>
  <dc:subject>PptxGenJS Presentation</dc:subject>
  <dc:creator>Samsung Electronics Memory Division</dc:creator>
  <cp:lastModifiedBy>Samsung Electronics Memory Division</cp:lastModifiedBy>
  <cp:revision>1</cp:revision>
  <dcterms:created xsi:type="dcterms:W3CDTF">2026-05-06T13:33:31Z</dcterms:created>
  <dcterms:modified xsi:type="dcterms:W3CDTF">2026-05-06T13:33:31Z</dcterms:modified>
</cp:coreProperties>
</file>