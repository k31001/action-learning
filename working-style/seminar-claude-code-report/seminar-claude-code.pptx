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작업 시간</c:v>
                </c:pt>
              </c:strCache>
            </c:strRef>
          </c:tx>
          <c:spPr>
            <a:solidFill>
              <a:srgbClr val="3A7B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7B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3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7B3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7B3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검토·수정
(1일)</c:v>
                  </c:pt>
                  <c:pt idx="1">
                    <c:v>시각화·슬라이드
(1~2일)</c:v>
                  </c:pt>
                  <c:pt idx="2">
                    <c:v>초안 작성
(1~2일)</c:v>
                  </c:pt>
                  <c:pt idx="3">
                    <c:v>자료 수집·정리
(2~3일)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F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E2D3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일(Days)</c:v>
                </c:pt>
              </c:strCache>
            </c:strRef>
          </c:tx>
          <c:spPr>
            <a:solidFill>
              <a:srgbClr val="E05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검토·수정 1일</c:v>
                  </c:pt>
                  <c:pt idx="1">
                    <c:v>시각화 1~2일</c:v>
                  </c:pt>
                  <c:pt idx="2">
                    <c:v>초안 작성 1~2일</c:v>
                  </c:pt>
                  <c:pt idx="3">
                    <c:v>자료 수집 2~3일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1.5</c:v>
                </c:pt>
                <c:pt idx="2">
                  <c:v>1.5</c:v>
                </c:pt>
                <c:pt idx="3">
                  <c:v>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F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E2D3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시간(Hours)</c:v>
                </c:pt>
              </c:strCache>
            </c:strRef>
          </c:tx>
          <c:spPr>
            <a:solidFill>
              <a:srgbClr val="56CF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검토·수정 1~3h</c:v>
                  </c:pt>
                  <c:pt idx="1">
                    <c:v>보고서 초안 1~2h</c:v>
                  </c:pt>
                  <c:pt idx="2">
                    <c:v>데이터 수집 1~2h</c:v>
                  </c:pt>
                  <c:pt idx="3">
                    <c:v>프로젝트 설정 0.5h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1.5</c:v>
                </c:pt>
                <c:pt idx="2">
                  <c:v>1.5</c:v>
                </c:pt>
                <c:pt idx="3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F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A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E2D3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457200"/>
            <a:ext cx="4754880" cy="4206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79392" y="566928"/>
            <a:ext cx="4425696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시나리오 플래닝 보고서를 시작하려고 해.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CLAUDE.md와 기본 구조를 만들어줘.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CLAUDE.md 생성 중...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디렉토리 구조 생성 완료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 init 완료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시장 데이터를 수집해줘. data/market/에 저장.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1 [시장] ████░░  실행 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2 [경쟁사] ███░░░  실행 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5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3 [기술] █████░  실행 중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64008" cy="21945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173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클로드 코드와 함께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보고서 만들기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에이전트로 전략 보고서를 처음부터 끝까지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474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 |  일하는 방식 세미나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 이 시간에 보게 될 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보고서를 어떻게 만들었는지 보여드립니다"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한 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한국어로 지시</a:t>
            </a:r>
            <a:endParaRPr lang="en-US" sz="15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전략 판단</a:t>
            </a:r>
            <a:endParaRPr lang="en-US" sz="15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검토·승인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0" y="1371600"/>
            <a:ext cx="2103120" cy="118872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보고서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51960" y="19933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612줄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92240" y="1371600"/>
            <a:ext cx="2103120" cy="118872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슬라이드 기획서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29400" y="19933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25매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0" y="2834640"/>
            <a:ext cx="2103120" cy="118872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파일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51960" y="34564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16개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92240" y="2834640"/>
            <a:ext cx="2103120" cy="118872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다이어그램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34564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3종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없음  ·  복사-붙여넣기 없음  ·  전부 자동 저장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지금 우리가 보고서에 쓰는 시간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보고서 1편 = 평균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6~10일</a:t>
            </a:r>
            <a:endParaRPr lang="en-US" sz="6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194560"/>
          <a:ext cx="56692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400800" y="2377440"/>
            <a:ext cx="2377440" cy="219456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AI가 처리할 수 있는 영역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9224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반복·기계적 작업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3337560"/>
            <a:ext cx="20116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3429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사람은 전략 판단에 집중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클로드 코드 = 터미널에서 실행되는 AI 에이전트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22960"/>
            <a:ext cx="4023360" cy="4023360"/>
          </a:xfrm>
          <a:prstGeom prst="rect">
            <a:avLst/>
          </a:prstGeom>
          <a:solidFill>
            <a:srgbClr val="2A1820"/>
          </a:solidFill>
          <a:ln w="12700">
            <a:solidFill>
              <a:srgbClr val="4A20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AI 챗봇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사용자 → 프롬프트 → 텍스트 생성 → 화면 출력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(사용자가 직접 복사·정리)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48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파일에 직접 저장 불가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5328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세션 끊기면 잊어버림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혼자 다 해야 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30098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수정하면 전체 재생성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822960"/>
            <a:ext cx="4297680" cy="4023360"/>
          </a:xfrm>
          <a:prstGeom prst="rect">
            <a:avLst/>
          </a:prstGeom>
          <a:solidFill>
            <a:srgbClr val="162A1C"/>
          </a:solidFill>
          <a:ln w="12700">
            <a:solidFill>
              <a:srgbClr val="1E4A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클로드 코드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138988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사용자 → 지시 → 파일 읽기  → 파일에 저장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→ 웹 검색   → git 커밋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→ 서브에이전트 → 병렬 처리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148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파일 직접 생성·수정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5328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CLAUDE.md로 프로젝트 기억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29169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여러 AI 동시 작업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3300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특정 섹션만 정밀 수정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보고서 작업에 필요한 핵심 기능 4가지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14400"/>
            <a:ext cx="3977640" cy="1874520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14400"/>
            <a:ext cx="64008" cy="187452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파일 읽기·쓰기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직접 접근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 → 분석 → report/ 자동 생성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"보고서가 파일로 저장된다"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3977640" cy="187452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914400"/>
            <a:ext cx="64008" cy="187452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웹 검색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0060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정보 수집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171907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시장 데이터를 검색해서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data/market/hbm-market.md에 저장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" y="3017520"/>
            <a:ext cx="3977640" cy="1874520"/>
          </a:xfrm>
          <a:prstGeom prst="rect">
            <a:avLst/>
          </a:prstGeom>
          <a:solidFill>
            <a:srgbClr val="152535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017520"/>
            <a:ext cx="64008" cy="187452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1272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서브에이전트 ×4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3474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병렬 처리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82219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시장·경쟁사·기술·정책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리서치 동시 진행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17720" y="3017520"/>
            <a:ext cx="3977640" cy="187452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3017520"/>
            <a:ext cx="64008" cy="1874520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1272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CLAUDE.md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00600" y="3474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기억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382219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정의하면 모든 세션에서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형식·규칙 자동 유지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— AI에게 주는 규칙서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68680"/>
            <a:ext cx="4389120" cy="402336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78408"/>
            <a:ext cx="4059936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프로젝트 가이드라인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필수 규칙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파일 관리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모든 문서는 Markdown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수치는 억 → B 형식으로 표기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($5,516억 → $551.6B)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데이터 추가 시 metadata.md 업데이트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모든 변경사항은 git commit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언어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모든 문서는 한국어 작성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(기술 용어는 영어 병기 허용)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74920" y="960120"/>
            <a:ext cx="3749040" cy="713232"/>
          </a:xfrm>
          <a:prstGeom prst="rect">
            <a:avLst/>
          </a:prstGeom>
          <a:solidFill>
            <a:srgbClr val="152535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18888" y="1316736"/>
            <a:ext cx="256032" cy="0"/>
          </a:xfrm>
          <a:prstGeom prst="line">
            <a:avLst/>
          </a:prstGeom>
          <a:noFill/>
          <a:ln w="19050">
            <a:solidFill>
              <a:srgbClr val="E07B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0149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매번 말 안 해도 자동 적용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212080" y="13075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"모든 문서는 한국어 작성"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74920" y="1874520"/>
            <a:ext cx="3749040" cy="713232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18888" y="2231136"/>
            <a:ext cx="256032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19293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수치 형식 자동 통일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12080" y="22219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$5,516억 → $551.6B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74920" y="2743200"/>
            <a:ext cx="3749040" cy="713232"/>
          </a:xfrm>
          <a:prstGeom prst="rect">
            <a:avLst/>
          </a:prstGeom>
          <a:solidFill>
            <a:srgbClr val="152535"/>
          </a:solidFill>
          <a:ln w="19050">
            <a:solidFill>
              <a:srgbClr val="F4B9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18888" y="3099816"/>
            <a:ext cx="256032" cy="0"/>
          </a:xfrm>
          <a:prstGeom prst="line">
            <a:avLst/>
          </a:prstGeom>
          <a:noFill/>
          <a:ln w="19050">
            <a:solidFill>
              <a:srgbClr val="F4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27980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후속 작업까지 자동화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12080" y="30906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metadata.md 자동 업데이트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74920" y="3657600"/>
            <a:ext cx="3749040" cy="713232"/>
          </a:xfrm>
          <a:prstGeom prst="rect">
            <a:avLst/>
          </a:prstGeom>
          <a:solidFill>
            <a:srgbClr val="152535"/>
          </a:solidFill>
          <a:ln w="19050">
            <a:solidFill>
              <a:srgbClr val="56CF7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18888" y="4014216"/>
            <a:ext cx="256032" cy="0"/>
          </a:xfrm>
          <a:prstGeom prst="line">
            <a:avLst/>
          </a:prstGeom>
          <a:noFill/>
          <a:ln w="19050">
            <a:solidFill>
              <a:srgbClr val="56CF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버전 관리 자동 실행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자동 처리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서브에이전트 — 여러 AI가 동시에 일한다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868680"/>
            <a:ext cx="3108960" cy="502920"/>
          </a:xfrm>
          <a:prstGeom prst="rect">
            <a:avLst/>
          </a:prstGeom>
          <a:solidFill>
            <a:srgbClr val="1E2D3D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0" y="868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"시장·경쟁사·기술·정책 환경을 조사해줘"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0" cy="274320"/>
          </a:xfrm>
          <a:prstGeom prst="line">
            <a:avLst/>
          </a:prstGeom>
          <a:noFill/>
          <a:ln w="19050">
            <a:solidFill>
              <a:srgbClr val="8892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1645920"/>
            <a:ext cx="2743200" cy="4572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클로드 코드 메인 에이전트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51760"/>
            <a:ext cx="2011680" cy="68580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6517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시장 데이터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371600" y="2103120"/>
            <a:ext cx="0" cy="54864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2651760"/>
            <a:ext cx="2011680" cy="685800"/>
          </a:xfrm>
          <a:prstGeom prst="rect">
            <a:avLst/>
          </a:prstGeom>
          <a:solidFill>
            <a:srgbClr val="152535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6517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경쟁사 분석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520440" y="2103120"/>
            <a:ext cx="0" cy="54864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651760"/>
            <a:ext cx="2011680" cy="68580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6517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3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트렌드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0" y="2103120"/>
            <a:ext cx="0" cy="54864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12280" y="2651760"/>
            <a:ext cx="2011680" cy="685800"/>
          </a:xfrm>
          <a:prstGeom prst="rect">
            <a:avLst/>
          </a:prstGeom>
          <a:solidFill>
            <a:srgbClr val="152535"/>
          </a:solidFill>
          <a:ln w="25400">
            <a:solidFill>
              <a:srgbClr val="9B59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6517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4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정책 환경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18120" y="2103120"/>
            <a:ext cx="0" cy="54864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383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(동시 실행)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703320"/>
            <a:ext cx="0" cy="274320"/>
          </a:xfrm>
          <a:prstGeom prst="line">
            <a:avLst/>
          </a:prstGeom>
          <a:noFill/>
          <a:ln w="19050">
            <a:solidFill>
              <a:srgbClr val="8892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6080" y="3977640"/>
            <a:ext cx="3291840" cy="457200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통합 → 보고서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58000" y="2606040"/>
            <a:ext cx="1965960" cy="164592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2651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순차 처리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0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037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병렬 처리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1시간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초기화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658368"/>
            <a:ext cx="8321040" cy="4206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768096"/>
            <a:ext cx="7991856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my-report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╔════════════════════════════════════════╗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║  Claude Code                           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║  claude-sonnet-4-5                     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╚════════════════════════════════════════╝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안녕하세요! 어떤 작업을 도와드릴까요?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시나리오 플래닝 보고서 프로젝트를 시작하려고 해.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CLAUDE.md와 기본 디렉토리 구조를 만들어줘.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703320"/>
            <a:ext cx="8321040" cy="960120"/>
          </a:xfrm>
          <a:prstGeom prst="rect">
            <a:avLst/>
          </a:prstGeom>
          <a:solidFill>
            <a:srgbClr val="1A3020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74904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시나리오 플래닝 보고서 프로젝트를 시작하려고 해.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CLAUDE.md와 기본 디렉토리 구조를 만들어줘.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48006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전부입니다. 한국어로 지시하면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생성 결과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4297680" cy="29260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396849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CLAUDE.md 생성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CLAUDE.md 작성 완료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data/ 디렉토리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analysis/ 디렉토리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report/ 디렉토리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presentation/ 디렉토리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 init 완료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Initial commit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92040" y="749808"/>
            <a:ext cx="3840480" cy="29260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56632" y="859536"/>
            <a:ext cx="351129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my-report/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CLAUDE.md   ← 새로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PROMPT.md   ← 새로 생성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analysis/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report/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presentation/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7490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 출력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디렉토리 구조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4114800"/>
            <a:ext cx="8321040" cy="457200"/>
          </a:xfrm>
          <a:prstGeom prst="rect">
            <a:avLst/>
          </a:prstGeom>
          <a:solidFill>
            <a:srgbClr val="152535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1148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번의 지시로 프로젝트 뼈대 완성 + git 버전관리 시작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수집 지시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832104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79918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HBM 시장 데이터를 수집해줘.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2024~2028년 시장 규모($B 단위), 업체별 점유율,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가격 트렌드를 포함해서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data/market/hbm-market.md에 저장하고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data/metadata.md에 항목 추가해줘.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출처는 TrendForce, Yole, BofA 등 공신력 있는 곳으로.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880360"/>
            <a:ext cx="1965960" cy="1691640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" y="3383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위치 지정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data/market/hbm-market.md에 저장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2880360"/>
            <a:ext cx="1965960" cy="169164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2971800"/>
            <a:ext cx="347472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2971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24328" y="3383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형식 지정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24328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$B 단위로 통일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880360"/>
            <a:ext cx="1965960" cy="1691640"/>
          </a:xfrm>
          <a:prstGeom prst="rect">
            <a:avLst/>
          </a:prstGeom>
          <a:solidFill>
            <a:srgbClr val="152535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2971800"/>
            <a:ext cx="347472" cy="34747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2971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27448" y="3383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후속 작업 연결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27448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metadata.md 자동 업데이트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880360"/>
            <a:ext cx="1965960" cy="169164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12280" y="2971800"/>
            <a:ext cx="347472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2971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30568" y="3383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기준 제시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30568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TrendForce, Yole, BofA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수집 결과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4572000" cy="32918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424281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HBM 시장 현황 및 전망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시장 규모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연도 | 시장 규모 | YoY 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|------|----------|------|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2024 | $18.6B   | +82%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2025 | ~$34B    | +83%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2026 | ~$54.6B  | +61%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2027 | ~$79.2B  | +45%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2028 | ~$110B   | +39%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(출처: TrendForce, BofA, 2026)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66360" y="749808"/>
            <a:ext cx="3566160" cy="32918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859536"/>
            <a:ext cx="323697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hbm-market.md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**수집일**: 2026-05-05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**신뢰도**: High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**태그**: #HBM #AI #market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**출처**: Yole, BofA, Counterpoint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**요약**: 2025년 ~$34B, AI 수요로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2028년 ~$110B까지 성장 전망.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삼성·SK하이닉스·마이크론 3강.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생성된 hbm-market.md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6636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metadata.md 자동 업데이트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4462272"/>
            <a:ext cx="265176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4622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출처 자동 기입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4462272"/>
            <a:ext cx="265176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44622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$B 형식 통일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9320" y="4462272"/>
            <a:ext cx="265176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44622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날짜 자동 기입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서브에이전트 병렬 실행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8321040" cy="777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79918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시장·경쟁사·기술·정책 4개 영역을 동시에 조사해줘.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각각 별도 에이전트로 병렬 처리해줘.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64208"/>
            <a:ext cx="8321040" cy="24688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1773936"/>
            <a:ext cx="79918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810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1  [시장 데이터]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31920" y="1847088"/>
            <a:ext cx="3657600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1920" y="1847088"/>
            <a:ext cx="2560320" cy="21945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26680" y="1810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실행 중...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2  [경쟁사 분석]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368296"/>
            <a:ext cx="3657600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2368296"/>
            <a:ext cx="2011680" cy="219456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668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실행 중...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28529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3  [기술 트렌드]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931920" y="2889504"/>
            <a:ext cx="3657600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889504"/>
            <a:ext cx="2926080" cy="219456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26680" y="2852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실행 중...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33741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59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◎ Agent 4  [정책 환경]  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931920" y="3410712"/>
            <a:ext cx="3657600" cy="219456"/>
          </a:xfrm>
          <a:prstGeom prst="rect">
            <a:avLst/>
          </a:prstGeom>
          <a:solidFill>
            <a:srgbClr val="0A1520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3410712"/>
            <a:ext cx="1463040" cy="21945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26680" y="3374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실행 중...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" y="4251960"/>
            <a:ext cx="3977640" cy="59436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7939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경과 시간: 0:02:34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454456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순차 처리였다면: ~0:12:00 예상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0" y="4251960"/>
            <a:ext cx="4160520" cy="594360"/>
          </a:xfrm>
          <a:prstGeom prst="rect">
            <a:avLst/>
          </a:prstGeom>
          <a:solidFill>
            <a:srgbClr val="152535"/>
          </a:solidFill>
          <a:ln w="19050">
            <a:solidFill>
              <a:srgbClr val="56CF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427939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6CF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 75% 시간 단축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보고서 생성 지시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8321040" cy="150876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799185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@data/ 디렉토리의 수집된 데이터를 기반으로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시나리오 플래닝 보고서를 작성해줘.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 방법론으로, STEEP 분석부터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5개 시나리오까지 포함해서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report/scenario-planning-report.md에 저장해줘.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395728"/>
            <a:ext cx="832104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2505456"/>
            <a:ext cx="79918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16개 데이터 파일 읽는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STEEP 요인 50개 도출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드라이빙 포스 분석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시나리오 매트릭스 구성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5개 시나리오 내러티브 작성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전략 권고안 (RS1~RS6) 작성 중...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완료: 612줄 / 약 18,000자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4434840"/>
            <a:ext cx="8321040" cy="475488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434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wc -l report/scenario-planning-report.md    →    612  lines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생성된 보고서 확인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804672"/>
            <a:ext cx="406908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804672"/>
            <a:ext cx="4069080" cy="384048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8503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261872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Bet: B 시나리오 (AI 르네상스)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30~35% 확률, Robust 전략 RS1~RS6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'어떤 시나리오에서도 생존'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804672"/>
            <a:ext cx="406908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04672"/>
            <a:ext cx="4069080" cy="384048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8503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분석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261872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/ Technology / Environment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/ Political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50개 요인 → 핵심 2개 도출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926080"/>
            <a:ext cx="406908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926080"/>
            <a:ext cx="4069080" cy="384048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718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시나리오 매트릭스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DF1(AI 수요) × DF2(미중관계)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황금 요새 / B AI 르네상스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기술 냉전 / D 조용한 재편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26080"/>
            <a:ext cx="406908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2926080"/>
            <a:ext cx="4069080" cy="384048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권고안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3832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 옵션형 캐파 체계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 바벨 포트폴리오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RS3~RS6 고객·공급망·재무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8463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612줄  ·  16개 데이터 출처  ·  Mermaid 다이어그램 포함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수정 지시 — 특정 섹션만 정밀 편집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8321040" cy="11430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79918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@report/scenario-planning-report.md의 Section 8.2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to Action을 부문별로 재작성해줘.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전략기획/마케팅/인사/제조/연구/개발 6개 부문 각각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즉시 행동 과제 3~4개씩.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11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304288"/>
            <a:ext cx="4023360" cy="150876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414016"/>
            <a:ext cx="369417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[즉시 결정 #1] HBM4 수율 전쟁...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[즉시 결정 #2] HBM 사업부 독립 P&amp;L...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[즉시 결정 #3] 대안적 미래 거버넌스...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(3개 일반 지시)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262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749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74920" y="2304288"/>
            <a:ext cx="3657600" cy="150876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9512" y="2414016"/>
            <a:ext cx="332841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🏢 전략기획 부문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RS1·RS4·RS6 이사회 정책화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시나리오 전환 트리거 거버넌스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텍사스 2기 보조금 신청 착수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...× 6개 부문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950208"/>
            <a:ext cx="8321040" cy="41148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502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재생성 없이 특정 섹션만 교체 — 나머지는 그대로 보존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Mermaid 다이어그램 생성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지시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078992"/>
            <a:ext cx="3657600" cy="19202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1188720"/>
            <a:ext cx="33284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시나리오 매트릭스를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Mermaid quadrantChart로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만들어줘.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X축은 AI 수요,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Y축은 미중관계.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렌더링 결과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78992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74920" y="4114800"/>
            <a:ext cx="32918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1325880"/>
            <a:ext cx="0" cy="278892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55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황금 요새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2940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AI 르네상스 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A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기술 냉전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조용한 재편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4206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AI 거품 붕괴        AI 수요 지속 →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09160" y="1371600"/>
            <a:ext cx="3474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미중 디커플링 ↑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관리된 공존 ↓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4645152"/>
            <a:ext cx="8321040" cy="347472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6451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편집 도구 불필요 — 코드 10줄로 전문가급 다이어그램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flowchart — RS 전략 상호의존 관계도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749808"/>
            <a:ext cx="4114800" cy="41148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859536"/>
            <a:ext cx="3785616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TD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AI["🤖 AI 개발 효율화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(선행 조건)"]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--&gt;|잉여 인력 전환| RS2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AI --&gt;|잉여 인력 전환| RS3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RS6 --&gt;|집행 기준 제공| RS1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RS1 --&gt;|유연한 공급| RS2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RS4 --&gt;|고객 다변화| RS3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RS5 --&gt;|지역 거점| RS4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RS6 --&gt;|초과이익→R&amp;D| RS2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RS6 --&gt;|초과이익→패키징| RS3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49808"/>
            <a:ext cx="411480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6440" y="1005840"/>
            <a:ext cx="1828800" cy="640080"/>
          </a:xfrm>
          <a:prstGeom prst="rect">
            <a:avLst/>
          </a:prstGeom>
          <a:solidFill>
            <a:srgbClr val="FFF3E0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0058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효율화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(선행 조건)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0" y="2286000"/>
            <a:ext cx="822960" cy="594360"/>
          </a:xfrm>
          <a:prstGeom prst="rect">
            <a:avLst/>
          </a:prstGeom>
          <a:solidFill>
            <a:srgbClr val="E3F2FD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캐파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806440" y="3291840"/>
            <a:ext cx="822960" cy="5943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32918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바벨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2286000"/>
            <a:ext cx="822960" cy="594360"/>
          </a:xfrm>
          <a:prstGeom prst="rect">
            <a:avLst/>
          </a:prstGeom>
          <a:solidFill>
            <a:srgbClr val="F3E5F5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22860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818120" y="3291840"/>
            <a:ext cx="82296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32918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분산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818120" y="2286000"/>
            <a:ext cx="822960" cy="594360"/>
          </a:xfrm>
          <a:prstGeom prst="rect">
            <a:avLst/>
          </a:prstGeom>
          <a:solidFill>
            <a:srgbClr val="FCE4EC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22860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RS5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00600" y="3291840"/>
            <a:ext cx="822960" cy="594360"/>
          </a:xfrm>
          <a:prstGeom prst="rect">
            <a:avLst/>
          </a:prstGeom>
          <a:solidFill>
            <a:srgbClr val="E0F2F1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32918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" y="491947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구조를 이해하고 시각화까지 — 한 번의 지시로 완성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 버전 관리 자동화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804672"/>
            <a:ext cx="4206240" cy="370332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914400"/>
            <a:ext cx="3877056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log --oneline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1e44831 Add seminar content (seminar-claude-code-report)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c74e59c 시나리오 매트릭스: quadrantChart 교체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5844ab8 대규모 멀티파일 수정: Mermaid·숫자형식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405e187 경쟁사 투자 전략 섹션 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5dce379 PROMPT.md 누락 로깅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b41c46b NVIDIA CMX·SCADA 전략 반영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de3737f CMX/SCADA 기술 데이터 추가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04672"/>
            <a:ext cx="4023360" cy="3703320"/>
          </a:xfrm>
          <a:prstGeom prst="rect">
            <a:avLst/>
          </a:prstGeom>
          <a:solidFill>
            <a:srgbClr val="F6F8FA"/>
          </a:solidFill>
          <a:ln w="12700">
            <a:solidFill>
              <a:srgbClr val="D1D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804672"/>
            <a:ext cx="4023360" cy="384048"/>
          </a:xfrm>
          <a:prstGeom prst="rect">
            <a:avLst/>
          </a:prstGeom>
          <a:solidFill>
            <a:srgbClr val="EAECEF"/>
          </a:solidFill>
          <a:ln w="12700">
            <a:solidFill>
              <a:srgbClr val="D1D5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8503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k31001 / action-learning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4023360" cy="0"/>
          </a:xfrm>
          <a:prstGeom prst="line">
            <a:avLst/>
          </a:prstGeom>
          <a:noFill/>
          <a:ln w="6350">
            <a:solidFill>
              <a:srgbClr val="D1D5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1e44831  Add seminar content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1664208"/>
            <a:ext cx="4023360" cy="0"/>
          </a:xfrm>
          <a:prstGeom prst="line">
            <a:avLst/>
          </a:prstGeom>
          <a:noFill/>
          <a:ln w="6350">
            <a:solidFill>
              <a:srgbClr val="D1D5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7099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c74e59c  시나리오 매트릭스 교체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139696"/>
            <a:ext cx="4023360" cy="0"/>
          </a:xfrm>
          <a:prstGeom prst="line">
            <a:avLst/>
          </a:prstGeom>
          <a:noFill/>
          <a:ln w="6350">
            <a:solidFill>
              <a:srgbClr val="D1D5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18541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5844ab8  대규모 멀티파일 수정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2615184"/>
            <a:ext cx="4023360" cy="0"/>
          </a:xfrm>
          <a:prstGeom prst="line">
            <a:avLst/>
          </a:prstGeom>
          <a:noFill/>
          <a:ln w="6350">
            <a:solidFill>
              <a:srgbClr val="D1D5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6609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405e187  경쟁사 투자 전략 추가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090672"/>
            <a:ext cx="4023360" cy="0"/>
          </a:xfrm>
          <a:prstGeom prst="line">
            <a:avLst/>
          </a:prstGeom>
          <a:noFill/>
          <a:ln w="6350">
            <a:solidFill>
              <a:srgbClr val="D1D5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1363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b41c46b  NVIDIA CMX·SCADA 반영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4636008"/>
            <a:ext cx="8321040" cy="41148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6360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수정사항이 자동으로 commit — 언제든 이전 버전으로 복원 가능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데모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PROMPT.md — 모든 지시가 기록된다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804672"/>
            <a:ext cx="5943600" cy="37490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914400"/>
            <a:ext cx="5614416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2026-05-05: Bet 전략 심화 지시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전략 보고서의 Bet 전략 부분을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다음 7개 방향으로 수정 요청: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옵션형 캐파 체계...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HBM 초과이익 재투자...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2026-05-05: NVIDIA CMX·SCADA 추가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@data/technology 기술 부문에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최근 NVIDIA CMX, SCADA 관련 내용 추가...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nvidia-cmx-scada.md 신규 생성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strategy.md: MB-4 CMX 에코시스템 참여 추가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37960" y="804672"/>
            <a:ext cx="2286000" cy="1783080"/>
          </a:xfrm>
          <a:prstGeom prst="rect">
            <a:avLst/>
          </a:prstGeom>
          <a:solidFill>
            <a:srgbClr val="152535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896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PROMPT.md 역할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1261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날짜별 지시 기록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29400" y="1581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다음 세션 참조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히스토리 추적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29400" y="2221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의사결정 로그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37960" y="2724912"/>
            <a:ext cx="2286000" cy="182880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28163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로깅 규칙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3182112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CLAUDE.md에 정의: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"모든 사용자 지시는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PROMPT.md에 누적 기록"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산출물: 삼성전자 메모리사업부 시나리오 플래닝 보고서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841248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32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Executive Summary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" y="13167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Bet B 시나리오, RS1~RS6 요약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865376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865376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19568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Focal Issue 정의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" y="23408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성장 가능한 경쟁 우위 확보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889504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889504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29809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STEEP 분석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50개 요인, Impact×Uncertainty 매트릭스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13632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913632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40050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드라이빙 포스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DF1(AI 수요), DF2(미중 디커플링)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841248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841248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932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시나리오 매트릭스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28032" y="13167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2×2, 5개 시나리오 내러티브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1865376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1865376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19568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Main Bet + Side Bet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28032" y="23408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시나리오 30~35%, RS1~RS6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2889504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2889504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29809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EWI &amp; 모니터링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28032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Indicators 12개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3913632"/>
            <a:ext cx="3931920" cy="91440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3913632"/>
            <a:ext cx="64008" cy="914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40050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전략 실행 로드맵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28032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부문별 Call to Action, 6개 부문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4754880"/>
            <a:ext cx="1947672" cy="27432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7548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612줄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587752" y="4754880"/>
            <a:ext cx="1947672" cy="27432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87752" y="47548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8개 섹션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72584" y="4754880"/>
            <a:ext cx="1947672" cy="27432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72584" y="47548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16개 출처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757416" y="4754880"/>
            <a:ext cx="1947672" cy="27432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57416" y="47548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3개 Mermaid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산출물: 25매 슬라이드 기획서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5029200" cy="40690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14400"/>
            <a:ext cx="4700016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슬라이드 3: Executive Summary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레이아웃: 3개 핵심 메시지 카드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목적: 결론 선행 구조, "Why Now" 명확화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콘텐츠: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[카드 1 — 블루] ① 위기의 역설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AI 붐이 가장 위험한 순간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[카드 2 — 오렌지 ★] ② Main Bet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시나리오 30~35% 확률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[카드 3 — 그린] ③ Robust 전략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RS1~RS6 어떤 미래에도 생존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스피커 노트: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"결론부터 말씀드립니다..."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디자인 지침: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카드 2 오렌지 배경 (강조)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23560" y="987552"/>
            <a:ext cx="3108960" cy="502920"/>
          </a:xfrm>
          <a:prstGeom prst="rect">
            <a:avLst/>
          </a:prstGeom>
          <a:solidFill>
            <a:srgbClr val="152535"/>
          </a:solidFill>
          <a:ln w="19050">
            <a:solidFill>
              <a:srgbClr val="E07B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0" y="987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레이아웃 명세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23560" y="1719072"/>
            <a:ext cx="3108960" cy="502920"/>
          </a:xfrm>
          <a:prstGeom prst="rect">
            <a:avLst/>
          </a:prstGeom>
          <a:solidFill>
            <a:srgbClr val="152535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17190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목적 정의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23560" y="2450592"/>
            <a:ext cx="3108960" cy="502920"/>
          </a:xfrm>
          <a:prstGeom prst="rect">
            <a:avLst/>
          </a:prstGeom>
          <a:solidFill>
            <a:srgbClr val="152535"/>
          </a:solidFill>
          <a:ln w="19050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24505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콘텐츠 상세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23560" y="3182112"/>
            <a:ext cx="3108960" cy="502920"/>
          </a:xfrm>
          <a:prstGeom prst="rect">
            <a:avLst/>
          </a:prstGeom>
          <a:solidFill>
            <a:srgbClr val="152535"/>
          </a:solidFill>
          <a:ln w="19050">
            <a:solidFill>
              <a:srgbClr val="56CF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31821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발표자 노트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23560" y="3913632"/>
            <a:ext cx="3108960" cy="502920"/>
          </a:xfrm>
          <a:prstGeom prst="rect">
            <a:avLst/>
          </a:prstGeom>
          <a:solidFill>
            <a:srgbClr val="152535"/>
          </a:solidFill>
          <a:ln w="19050">
            <a:solidFill>
              <a:srgbClr val="9B59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3913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디자인 가이드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4736592"/>
            <a:ext cx="8321040" cy="292608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7365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25매 슬라이드 × 6개 항목(레이아웃/목적/콘텐츠/시각자료/디자인/노트)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/ After — 보고서 작업 시간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인력 단독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11480" y="1170432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11480" y="4005072"/>
            <a:ext cx="3931920" cy="384048"/>
          </a:xfrm>
          <a:prstGeom prst="rect">
            <a:avLst/>
          </a:prstGeom>
          <a:solidFill>
            <a:srgbClr val="3A1515"/>
          </a:solidFill>
          <a:ln w="19050">
            <a:solidFill>
              <a:srgbClr val="E05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4005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5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합계: 6~10일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4805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029200" y="804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클로드 코드 활용</a:t>
            </a:r>
            <a:endParaRPr lang="en-US" sz="13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983480" y="1170432"/>
          <a:ext cx="3749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4983480" y="4005072"/>
            <a:ext cx="3749040" cy="384048"/>
          </a:xfrm>
          <a:prstGeom prst="rect">
            <a:avLst/>
          </a:prstGeom>
          <a:solidFill>
            <a:srgbClr val="142A18"/>
          </a:solidFill>
          <a:ln w="19050">
            <a:solidFill>
              <a:srgbClr val="56CF7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983480" y="40050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CF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합계: 4~8시간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11480" y="4498848"/>
            <a:ext cx="8321040" cy="384048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11480" y="449884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반복·기계 작업은 AI에게 → 사람은 전략적 판단에 집중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Mermaid 다이어그램 갤러리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2697480" cy="3794760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04672"/>
            <a:ext cx="2697480" cy="384048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0467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quadrantChart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1208" y="1261872"/>
            <a:ext cx="2478024" cy="22402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6424" y="1325880"/>
            <a:ext cx="0" cy="210312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377440"/>
            <a:ext cx="2304288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1371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2423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A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2648" y="2423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66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1208" y="3566160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매트릭스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포지셔닝 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804672"/>
            <a:ext cx="2697480" cy="379476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804672"/>
            <a:ext cx="2697480" cy="384048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80467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TD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55848" y="1261872"/>
            <a:ext cx="2478024" cy="22402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23360" y="1371600"/>
            <a:ext cx="1097280" cy="292608"/>
          </a:xfrm>
          <a:prstGeom prst="rect">
            <a:avLst/>
          </a:prstGeom>
          <a:solidFill>
            <a:srgbClr val="1A3040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0" y="13716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23360" y="1783080"/>
            <a:ext cx="1097280" cy="292608"/>
          </a:xfrm>
          <a:prstGeom prst="rect">
            <a:avLst/>
          </a:prstGeom>
          <a:solidFill>
            <a:srgbClr val="1A3040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1783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023360" y="2240280"/>
            <a:ext cx="1097280" cy="292608"/>
          </a:xfrm>
          <a:prstGeom prst="rect">
            <a:avLst/>
          </a:prstGeom>
          <a:solidFill>
            <a:srgbClr val="1A3040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22402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23360" y="2697480"/>
            <a:ext cx="1097280" cy="292608"/>
          </a:xfrm>
          <a:prstGeom prst="rect">
            <a:avLst/>
          </a:prstGeom>
          <a:solidFill>
            <a:srgbClr val="1A3040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0" y="2697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023360" y="3154680"/>
            <a:ext cx="1097280" cy="292608"/>
          </a:xfrm>
          <a:prstGeom prst="rect">
            <a:avLst/>
          </a:prstGeom>
          <a:solidFill>
            <a:srgbClr val="1A3040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0" y="3154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55848" y="3566160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프로세스·의존 관계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80760" y="804672"/>
            <a:ext cx="2697480" cy="379476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804672"/>
            <a:ext cx="2697480" cy="384048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80467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gitGraph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0488" y="1261872"/>
            <a:ext cx="2478024" cy="224028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●─────●─────●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6364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branch ●───●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90488" y="3566160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관리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브랜치 구조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11480" y="4727448"/>
            <a:ext cx="8321040" cy="347472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72744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10줄 → 전문가급 다이어그램  ·  이미지 편집 도구 불필요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효과적인 프롬프트 레시피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4023360" cy="1828800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04672"/>
            <a:ext cx="4023360" cy="3657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8046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데이터 수집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1208" y="1243584"/>
            <a:ext cx="3803904" cy="1261872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307592"/>
            <a:ext cx="36210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"@data/{카테고리}/ 에 {주제} 데이터를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수집해줘. {항목}을 포함하고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{형식} 단위로 작성해줘.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출처는 {기준}으로. metadata.md 추가."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804672"/>
            <a:ext cx="4023360" cy="182880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804672"/>
            <a:ext cx="4023360" cy="36576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8046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섹션 수정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73168" y="1243584"/>
            <a:ext cx="3803904" cy="1261872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64608" y="1307592"/>
            <a:ext cx="36210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"@{파일경로}의 {섹션명}을 수정해줘.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{변경 내용}을 {방향}으로 바꿔줘.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{참고 파일}을 참고해줘."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834640"/>
            <a:ext cx="4023360" cy="1828800"/>
          </a:xfrm>
          <a:prstGeom prst="rect">
            <a:avLst/>
          </a:prstGeom>
          <a:solidFill>
            <a:srgbClr val="152535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834640"/>
            <a:ext cx="4023360" cy="36576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834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형식 통일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1208" y="3273552"/>
            <a:ext cx="3803904" cy="1261872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337560"/>
            <a:ext cx="36210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"@{파일경로} 전체에서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{형식A}를 {형식B}로 변환해줘.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기준: {변환 규칙}"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023360" cy="182880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834640"/>
            <a:ext cx="4023360" cy="365760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834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섹션 통합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73168" y="3273552"/>
            <a:ext cx="3803904" cy="1261872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3337560"/>
            <a:ext cx="36210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"@{파일경로}의 {A섹션}과 {B섹션}을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{이유}로 {방법}으로 통합해줘."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4754880"/>
            <a:ext cx="8321040" cy="32004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7548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패턴을 익히면 → 어떤 보고서 작업에도 응용 가능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주의사항 — 이것만 지키면 됩니다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2697480" cy="3657600"/>
          </a:xfrm>
          <a:prstGeom prst="rect">
            <a:avLst/>
          </a:prstGeom>
          <a:solidFill>
            <a:srgbClr val="1E1500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04672"/>
            <a:ext cx="2697480" cy="54864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046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수치는 반드시 검증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생성한 수치·통계는 원본 출처를 직접 확인하세요.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구조는 믿어도, 숫자는 확인.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804672"/>
            <a:ext cx="2697480" cy="3657600"/>
          </a:xfrm>
          <a:prstGeom prst="rect">
            <a:avLst/>
          </a:prstGeom>
          <a:solidFill>
            <a:srgbClr val="1E1500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804672"/>
            <a:ext cx="2697480" cy="54864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8046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전략 판단은 사람이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1481328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구조를 잡고 초안을 씁니다.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전략이 맞는가?"는 사람이 결정해야 합니다.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804672"/>
            <a:ext cx="2697480" cy="3657600"/>
          </a:xfrm>
          <a:prstGeom prst="rect">
            <a:avLst/>
          </a:prstGeom>
          <a:solidFill>
            <a:srgbClr val="1E1500"/>
          </a:solidFill>
          <a:ln w="25400">
            <a:solidFill>
              <a:srgbClr val="F4B9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804672"/>
            <a:ext cx="2697480" cy="54864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8046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기밀 정보 주의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1481328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클로드 코드는 Anthropic 서버를 거칩니다.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불가 기밀 데이터는 입력하지 마세요.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4572000"/>
            <a:ext cx="8321040" cy="438912"/>
          </a:xfrm>
          <a:prstGeom prst="rect">
            <a:avLst/>
          </a:prstGeom>
          <a:solidFill>
            <a:srgbClr val="142A18"/>
          </a:solidFill>
          <a:ln w="19050">
            <a:solidFill>
              <a:srgbClr val="56CF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57200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반복 작업, 형식 통일, 초안 생성 — 이 영역에서 AI는 탁월합니다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지금 시작하는 방법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2697480" cy="4069080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685800"/>
            <a:ext cx="105156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68580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1208" y="932688"/>
            <a:ext cx="2478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(5분)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21208" y="1353312"/>
            <a:ext cx="2478024" cy="23774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417320"/>
            <a:ext cx="2295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install -g @anthropic-ai/claude-code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21208" y="3794760"/>
            <a:ext cx="2478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Node.js 설치 필요 (nodejs.org)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804672"/>
            <a:ext cx="2697480" cy="4069080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685800"/>
            <a:ext cx="1051560" cy="34747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69080" y="68580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55848" y="932688"/>
            <a:ext cx="2478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시작 (10분)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55848" y="1353312"/>
            <a:ext cx="2478024" cy="23774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47288" y="1417320"/>
            <a:ext cx="2295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mkdir my-report &amp;&amp; cd my-report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CLAUDE.md와 기본 디렉토리 구조를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만들어줘. 문서는 한국어로.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55848" y="3794760"/>
            <a:ext cx="2478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첫 CLAUDE.md 자동 생성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804672"/>
            <a:ext cx="2697480" cy="4069080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685800"/>
            <a:ext cx="1051560" cy="34747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68580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0488" y="932688"/>
            <a:ext cx="2478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보고서 (30분)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90488" y="1353312"/>
            <a:ext cx="2478024" cy="2377440"/>
          </a:xfrm>
          <a:prstGeom prst="rect">
            <a:avLst/>
          </a:prstGeom>
          <a:solidFill>
            <a:srgbClr val="1E2D3D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81928" y="1417320"/>
            <a:ext cx="2295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[관심 주제]의 현황과 주요 이슈를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data/에 수집하고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CF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report/summary.md에 요약해줘.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3794760"/>
            <a:ext cx="2478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첫 자동 생성 보고서 완성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11480" y="4919472"/>
            <a:ext cx="8321040" cy="1828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 기억할 3가지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4128"/>
            <a:ext cx="8321040" cy="1170432"/>
          </a:xfrm>
          <a:prstGeom prst="rect">
            <a:avLst/>
          </a:prstGeom>
          <a:solidFill>
            <a:srgbClr val="152535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24128"/>
            <a:ext cx="64008" cy="117043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161288"/>
            <a:ext cx="502920" cy="50292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61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115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클로드 코드는 파일을 직접 쓴다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5087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채팅창 복사-붙여넣기가 아니라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생성·수정·git 커밋까지 자동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22576"/>
            <a:ext cx="8321040" cy="1170432"/>
          </a:xfrm>
          <a:prstGeom prst="rect">
            <a:avLst/>
          </a:prstGeom>
          <a:solidFill>
            <a:srgbClr val="152535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22576"/>
            <a:ext cx="64008" cy="1170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459736"/>
            <a:ext cx="502920" cy="50292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2414016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하나로 프로젝트를 기억한다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80720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형식·규칙을 한 번만 정의하면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세션에서 일관되게 적용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621024"/>
            <a:ext cx="8321040" cy="1170432"/>
          </a:xfrm>
          <a:prstGeom prst="rect">
            <a:avLst/>
          </a:prstGeom>
          <a:solidFill>
            <a:srgbClr val="152535"/>
          </a:solidFill>
          <a:ln w="25400">
            <a:solidFill>
              <a:srgbClr val="56CF7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621024"/>
            <a:ext cx="64008" cy="1170432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58184"/>
            <a:ext cx="502920" cy="502920"/>
          </a:xfrm>
          <a:prstGeom prst="rect">
            <a:avLst/>
          </a:prstGeom>
          <a:solidFill>
            <a:srgbClr val="56CF77"/>
          </a:solidFill>
          <a:ln w="12700">
            <a:solidFill>
              <a:srgbClr val="56CF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371246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C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사람은 판단에 집중한다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410565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반복·기계 작업은 AI에게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전략적 결정은 나에게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84124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960120"/>
            <a:ext cx="388620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6984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코딩 몰라도 되나요?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527048"/>
            <a:ext cx="36118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1848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네. 한국어 지시만 하면 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388620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3580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기밀 자료 입력해도 되나요?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93008"/>
            <a:ext cx="36118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8444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외부 공개 불가 정보는 피하세요.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960120"/>
            <a:ext cx="388620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06984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얼마나 정확한가요?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1527048"/>
            <a:ext cx="36118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61848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구조·형식: 매우 정확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수치·사실: 반드시 검증 필요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2926080"/>
            <a:ext cx="3886200" cy="1828800"/>
          </a:xfrm>
          <a:prstGeom prst="rect">
            <a:avLst/>
          </a:prstGeom>
          <a:solidFill>
            <a:srgbClr val="152535"/>
          </a:solidFill>
          <a:ln w="12700">
            <a:solidFill>
              <a:srgbClr val="2A3F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03580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비용은?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93008"/>
            <a:ext cx="3611880" cy="0"/>
          </a:xfrm>
          <a:prstGeom prst="line">
            <a:avLst/>
          </a:prstGeom>
          <a:noFill/>
          <a:ln w="12700">
            <a:solidFill>
              <a:srgbClr val="2A3F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58444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대규모 프로젝트도 수십 달러 수준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37760" y="960120"/>
            <a:ext cx="3749040" cy="3931920"/>
          </a:xfrm>
          <a:prstGeom prst="rect">
            <a:avLst/>
          </a:prstGeom>
          <a:solidFill>
            <a:srgbClr val="1E2D3D"/>
          </a:solidFill>
          <a:ln w="25400">
            <a:solidFill>
              <a:srgbClr val="E07B3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92024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질문해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주세요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github.com/k31001/action-learning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클로드 코드와 함께 보고서 만들기</dc:title>
  <dc:subject>PptxGenJS Presentation</dc:subject>
  <dc:creator>PptxGenJS</dc:creator>
  <cp:lastModifiedBy>PptxGenJS</cp:lastModifiedBy>
  <cp:revision>1</cp:revision>
  <dcterms:created xsi:type="dcterms:W3CDTF">2026-05-05T14:44:01Z</dcterms:created>
  <dcterms:modified xsi:type="dcterms:W3CDTF">2026-05-05T14:44:01Z</dcterms:modified>
</cp:coreProperties>
</file>