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Semi Bold"/>
      <p:regular r:id="rId17"/>
    </p:embeddedFont>
    <p:embeddedFont>
      <p:font typeface="Crimson Pro Semi Bold"/>
      <p:regular r:id="rId18"/>
    </p:embeddedFont>
    <p:embeddedFont>
      <p:font typeface="Crimson Pro Semi Bold"/>
      <p:regular r:id="rId19"/>
    </p:embeddedFont>
    <p:embeddedFont>
      <p:font typeface="Crimson Pro Semi Bold"/>
      <p:regular r:id="rId20"/>
    </p:embeddedFont>
    <p:embeddedFont>
      <p:font typeface="Heebo"/>
      <p:regular r:id="rId21"/>
    </p:embeddedFont>
    <p:embeddedFont>
      <p:font typeface="Heeb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7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1357"/>
            <a:ext cx="4176489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삼성전자 메모리사업부</a:t>
            </a:r>
            <a:endParaRPr lang="en-US" sz="2750" dirty="0"/>
          </a:p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메모리 시대의 전략적 선택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993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시나리오 플래닝 기반 경영진 보고서 | 작성일: 2026년 5월 6일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1290861" cy="266402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3468"/>
            <a:ext cx="112075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SHELL 시나리오 플래닝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57821" y="3176215"/>
            <a:ext cx="1370335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47639" y="3223468"/>
            <a:ext cx="119069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7개 산업 사이클 벤치마크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50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89855"/>
            <a:ext cx="4325541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호황의 정점 + 위기의 정점이 동시에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919981"/>
            <a:ext cx="472276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역사상 최대 분기 매출을 기록하는 동시에, 33년 만에 DRAM 1위 자리를 내주는 전례 없는 이중 국면이 전개되고 있습니다.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8387" y="1451967"/>
            <a:ext cx="1952774" cy="39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$50.4B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891704" y="1986558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Q1 2026 메모리 매출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6119" y="2236217"/>
            <a:ext cx="22973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전년 동기 대비 +292% YoY, 사상 최대 분기 기록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093765" y="1451967"/>
            <a:ext cx="1952774" cy="39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$725B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3317081" y="1986558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빅테크 4사 AI CapEx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921496" y="2236217"/>
            <a:ext cx="22973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전년 대비 +77% YoY 급증, AI 인프라 투자 가속화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881039" y="2857798"/>
            <a:ext cx="1952774" cy="39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17%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2104355" y="3392388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HBM 점유율 현재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708770" y="3642047"/>
            <a:ext cx="229738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40%에서 17%로 추락 — NVIDIA Rubin HBM4 SK 70% / Samsung 28%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4113833"/>
            <a:ext cx="4722763" cy="641375"/>
          </a:xfrm>
          <a:prstGeom prst="roundRect">
            <a:avLst>
              <a:gd name="adj" fmla="val 2818"/>
            </a:avLst>
          </a:prstGeom>
          <a:solidFill>
            <a:srgbClr val="FFB3B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95" y="4282753"/>
            <a:ext cx="150614" cy="1204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7685" y="4246290"/>
            <a:ext cx="421072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33년 만에 SK하이닉스에 DRAM 1위 역전 — HBM4 캐파 2026 전량 Sold Out임에도 불구하고 점유율 위기가 동시 진행 중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93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핵심 질문 (Focal Issue)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1444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2030~2035년 AI 메모리 글로벌 리더십 회복을 위해 어떤 전략적 결정을 지금(2026년) 내려야 하는가?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1577727"/>
            <a:ext cx="4107135" cy="3100834"/>
          </a:xfrm>
          <a:prstGeom prst="roundRect">
            <a:avLst>
              <a:gd name="adj" fmla="val 686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1719486"/>
            <a:ext cx="18935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단순 예측이 불가능한 이유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2082701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두 핵심 축이 독립적으로 작동하며, 어느 하나의 방향도 확정할 수 없는 구조적 불확실성이 존재합니다. 단선 예측은 위험하며, 5개 시나리오 동시 대비가 필수입니다.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71948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두 핵심 불확실성 축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49701" y="2100411"/>
            <a:ext cx="3902943" cy="1138461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0651" y="2100411"/>
            <a:ext cx="76200" cy="1138461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4967660" y="2261220"/>
            <a:ext cx="2082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DF1: AI 수요의 구조적 지속성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7660" y="2624435"/>
            <a:ext cx="35241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수요가 구조적으로 지속될 것인가, 아니면 거품이 붕괴될 것인가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49701" y="3380631"/>
            <a:ext cx="3902943" cy="1138461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0651" y="3380631"/>
            <a:ext cx="76200" cy="1138461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4967660" y="35414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DF2: 미중 디커플링 강도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7660" y="3904655"/>
            <a:ext cx="35241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미중 디커플링이 심화될 것인가, 아니면 관리된 공존으로 귀결될 것인가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0800"/>
            <a:ext cx="40467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5개 시나리오 — 대안적 미래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7304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두 핵심 불확실성 축의 교차로에서 도출된 5개의 대안적 미래 시나리오입니다. 각 시나리오는 독립적인 전략 대응을 요구합니다.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33588"/>
            <a:ext cx="2551807" cy="14176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3610719"/>
            <a:ext cx="8151763" cy="611907"/>
          </a:xfrm>
          <a:prstGeom prst="roundRect">
            <a:avLst>
              <a:gd name="adj" fmla="val 3475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816251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787899"/>
            <a:ext cx="7549307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⭐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Main Bet: 시나리오 B — AI 르네상스 (30~35%)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🃏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와일드카드: 시나리오 E — HBM 대체 기술(3D DRAM·PIM·CXL) 등장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2363"/>
            <a:ext cx="3228677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Main Bet 5대 핵심 이니셔티브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44091"/>
            <a:ext cx="8151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시나리오 B(AI 르네상스) 공략을 위한 5대 핵심 이니셔티브입니다. 2026년 하반기부터 즉각 실행에 돌입합니다.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182588"/>
            <a:ext cx="8151763" cy="6379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406" y="1196876"/>
            <a:ext cx="425276" cy="6093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43310" y="1401887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15380" y="1303139"/>
            <a:ext cx="153657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HBM4E·HBM5 기술 1위 탈환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15380" y="1517005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2026 Q3 NVIDIA Rubin 점유율 30%+ 목표. HBM 기술 리더십 재확립이 최우선 과제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6119" y="1900237"/>
            <a:ext cx="8151763" cy="6379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406" y="1914525"/>
            <a:ext cx="425276" cy="6093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43310" y="2119536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15380" y="202078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동서 균형 공급망 4거점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15380" y="2234654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한국·미국·일본·신흥 시장 4거점 구축으로 지정학적 리스크 분산 및 공급 안정성 확보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6119" y="2617887"/>
            <a:ext cx="8151763" cy="6379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406" y="2632174"/>
            <a:ext cx="425276" cy="6093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643310" y="2837185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15380" y="2738438"/>
            <a:ext cx="148991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1c nm 공정 전환 + 원가 우위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5380" y="2952304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2027년 수율 80%+ 달성 목표. 차세대 공정 전환으로 원가 경쟁력 확보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6119" y="3335536"/>
            <a:ext cx="8151763" cy="6379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406" y="3349823"/>
            <a:ext cx="425276" cy="6093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643310" y="3554834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15380" y="345608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커스텀 AI 메모리 솔루션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5380" y="3669953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FDP/SCADA 호스트 협력 기반 고객 특화 솔루션 개발로 전환 비용 극대화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6119" y="4053185"/>
            <a:ext cx="8151763" cy="6379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0406" y="4067473"/>
            <a:ext cx="425276" cy="6093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643310" y="4272483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15380" y="4173736"/>
            <a:ext cx="136386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텍사스 테일러 2단계 발표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5380" y="4387602"/>
            <a:ext cx="75119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CHIPS Act 2.0 추가 보조금 확보를 위한 텍사스 테일러 팹 2단계 투자 발표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327"/>
            <a:ext cx="4989537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7개 Robust 전략 — 어떤 미래가 와도 가치 창출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009055"/>
            <a:ext cx="8151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특정 시나리오에 의존하지 않고, 어떤 미래가 도래하더라도 가치를 창출하는 7개의 강건한 전략입니다.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247552"/>
            <a:ext cx="2664098" cy="1122685"/>
          </a:xfrm>
          <a:prstGeom prst="roundRect">
            <a:avLst>
              <a:gd name="adj" fmla="val 1421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02382" y="1353815"/>
            <a:ext cx="318939" cy="318939"/>
          </a:xfrm>
          <a:prstGeom prst="roundRect">
            <a:avLst>
              <a:gd name="adj" fmla="val 17916995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116" y="1441475"/>
            <a:ext cx="143470" cy="1434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2382" y="175245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RS1 옵션형 캐파 체계 ★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2382" y="1966317"/>
            <a:ext cx="245157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Nucor 미니밀 모델 — 수요 변동에 유연하게 대응하는 모듈형 생산 능력 구조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39914" y="1247552"/>
            <a:ext cx="2664098" cy="1122685"/>
          </a:xfrm>
          <a:prstGeom prst="roundRect">
            <a:avLst>
              <a:gd name="adj" fmla="val 1421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3346177" y="1353815"/>
            <a:ext cx="318939" cy="318939"/>
          </a:xfrm>
          <a:prstGeom prst="roundRect">
            <a:avLst>
              <a:gd name="adj" fmla="val 17916995"/>
            </a:avLst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3911" y="1441475"/>
            <a:ext cx="143470" cy="1434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46177" y="175245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RS2 바벨 포트폴리오 ★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46177" y="1966317"/>
            <a:ext cx="245157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효율화 병행 — 고위험·고수익과 안정적 수익원의 균형 포트폴리오 운영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983709" y="1247552"/>
            <a:ext cx="2664098" cy="1122685"/>
          </a:xfrm>
          <a:prstGeom prst="roundRect">
            <a:avLst>
              <a:gd name="adj" fmla="val 1421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6089972" y="1353815"/>
            <a:ext cx="318939" cy="318939"/>
          </a:xfrm>
          <a:prstGeom prst="roundRect">
            <a:avLst>
              <a:gd name="adj" fmla="val 17916995"/>
            </a:avLst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7707" y="1441475"/>
            <a:ext cx="143470" cy="14347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9972" y="1752451"/>
            <a:ext cx="140270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RS3 고객특화·전환비용 ★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089972" y="1966317"/>
            <a:ext cx="245157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Marriott Asset-Light 모델, $5B/2030 목표 — 고객 락인 극대화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96119" y="2449934"/>
            <a:ext cx="2664098" cy="1122685"/>
          </a:xfrm>
          <a:prstGeom prst="roundRect">
            <a:avLst>
              <a:gd name="adj" fmla="val 1421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02382" y="2556197"/>
            <a:ext cx="318939" cy="318939"/>
          </a:xfrm>
          <a:prstGeom prst="roundRect">
            <a:avLst>
              <a:gd name="adj" fmla="val 17916995"/>
            </a:avLst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0116" y="2643857"/>
            <a:ext cx="143470" cy="14347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2382" y="2954834"/>
            <a:ext cx="13870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RS4 고객 포트폴리오 분산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02382" y="3168700"/>
            <a:ext cx="245157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LTA·Take-or-Pay 계약 구조로 특정 고객 의존도 축소 및 매출 안정성 확보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239914" y="2449934"/>
            <a:ext cx="2664098" cy="1122685"/>
          </a:xfrm>
          <a:prstGeom prst="roundRect">
            <a:avLst>
              <a:gd name="adj" fmla="val 1421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3346177" y="2556197"/>
            <a:ext cx="318939" cy="318939"/>
          </a:xfrm>
          <a:prstGeom prst="roundRect">
            <a:avLst>
              <a:gd name="adj" fmla="val 17916995"/>
            </a:avLst>
          </a:prstGeom>
          <a:solidFill>
            <a:srgbClr val="2150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3911" y="2643857"/>
            <a:ext cx="143470" cy="14347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46177" y="2954834"/>
            <a:ext cx="140627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RS5 정책 리스크 지역 분산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346177" y="3168700"/>
            <a:ext cx="245157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지정학적 리스크를 고려한 다지역 공급망 구축으로 정책 변화 대응력 강화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5983709" y="2449934"/>
            <a:ext cx="2664098" cy="1122685"/>
          </a:xfrm>
          <a:prstGeom prst="roundRect">
            <a:avLst>
              <a:gd name="adj" fmla="val 1421"/>
            </a:avLst>
          </a:prstGeom>
          <a:solidFill>
            <a:srgbClr val="F2EEEE"/>
          </a:solidFill>
          <a:ln/>
        </p:spPr>
      </p:sp>
      <p:sp>
        <p:nvSpPr>
          <p:cNvPr id="30" name="Shape 23"/>
          <p:cNvSpPr/>
          <p:nvPr/>
        </p:nvSpPr>
        <p:spPr>
          <a:xfrm>
            <a:off x="6089972" y="2556197"/>
            <a:ext cx="318939" cy="318939"/>
          </a:xfrm>
          <a:prstGeom prst="roundRect">
            <a:avLst>
              <a:gd name="adj" fmla="val 17916995"/>
            </a:avLst>
          </a:prstGeom>
          <a:solidFill>
            <a:srgbClr val="2150F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77707" y="2643857"/>
            <a:ext cx="143470" cy="14347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89972" y="2954834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RS6 재무 규율 ★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089972" y="3168700"/>
            <a:ext cx="245157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Nucor·ExxonMobil 모델, 다운사이클 capex 하한 4조원/년 유지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496119" y="3652317"/>
            <a:ext cx="8151688" cy="973857"/>
          </a:xfrm>
          <a:prstGeom prst="roundRect">
            <a:avLst>
              <a:gd name="adj" fmla="val 1638"/>
            </a:avLst>
          </a:prstGeom>
          <a:solidFill>
            <a:srgbClr val="F2EEEE"/>
          </a:solidFill>
          <a:ln/>
        </p:spPr>
      </p:sp>
      <p:sp>
        <p:nvSpPr>
          <p:cNvPr id="35" name="Shape 27"/>
          <p:cNvSpPr/>
          <p:nvPr/>
        </p:nvSpPr>
        <p:spPr>
          <a:xfrm>
            <a:off x="602382" y="3758580"/>
            <a:ext cx="318939" cy="318939"/>
          </a:xfrm>
          <a:prstGeom prst="roundRect">
            <a:avLst>
              <a:gd name="adj" fmla="val 17916995"/>
            </a:avLst>
          </a:prstGeom>
          <a:solidFill>
            <a:srgbClr val="2150F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0116" y="3846240"/>
            <a:ext cx="143470" cy="14347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02382" y="4157216"/>
            <a:ext cx="183386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RS7 NAND 공정 전환 R&amp;D ★ 신규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602382" y="4371082"/>
            <a:ext cx="793916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공정 전환 주기 연장 R&amp;D — 4트랙 병행으로 capex 회피 및 기술 자립 달성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618"/>
            <a:ext cx="505770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RS7 신규 — NAND 공정 전환 주기 연장 R&amp;D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4486" y="885006"/>
            <a:ext cx="3679329" cy="3863801"/>
          </a:xfrm>
          <a:prstGeom prst="roundRect">
            <a:avLst>
              <a:gd name="adj" fmla="val 462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527893" y="975717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전략적 배경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7893" y="1243608"/>
            <a:ext cx="345251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양산 ramp 6개월 지연 = 누적 이익의 2/3 소실 (Weber/PSU 학습곡선). 2026 NAND capex $22.2B(+5%) — 업계 4사 모두 capa 확장 대신 process upgrade로 선회. YMTC가 hybrid bonding 핵심 IP 지배 → 디커플링 시 라이선스 차단 리스크 현실화.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27893" y="1998687"/>
            <a:ext cx="3452515" cy="420663"/>
          </a:xfrm>
          <a:prstGeom prst="roundRect">
            <a:avLst>
              <a:gd name="adj" fmla="val 4044"/>
            </a:avLst>
          </a:prstGeom>
          <a:solidFill>
            <a:srgbClr val="FCF2B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00" y="2155478"/>
            <a:ext cx="141759" cy="1134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466" y="2117750"/>
            <a:ext cx="2970535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재무 효과: 3년 누적 capex 회피 </a:t>
            </a:r>
            <a:pPr algn="l"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1.5~2조 원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93617" y="975717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4개 R&amp;D 트랙 병행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3617" y="1254919"/>
            <a:ext cx="22681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293617" y="1433364"/>
            <a:ext cx="4358953" cy="1428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9"/>
          <p:cNvSpPr/>
          <p:nvPr/>
        </p:nvSpPr>
        <p:spPr>
          <a:xfrm>
            <a:off x="4293617" y="1518642"/>
            <a:ext cx="177179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트랙 1: Hybrid Bonding 자체 IP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93617" y="1786533"/>
            <a:ext cx="435895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V11에 70%+ 적용 목표, 1.5조원/3년 투자 — YMTC 의존 탈피 및 핵심 IP 자립화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93617" y="2125563"/>
            <a:ext cx="22681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93617" y="2304008"/>
            <a:ext cx="4358953" cy="1428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6" name="Text 13"/>
          <p:cNvSpPr/>
          <p:nvPr/>
        </p:nvSpPr>
        <p:spPr>
          <a:xfrm>
            <a:off x="4293617" y="2389287"/>
            <a:ext cx="149996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트랙 2: Multi-deck 정교화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93617" y="2657177"/>
            <a:ext cx="435895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V9→V10 fab 재구성으로 30% 원가 절감 — 기존 설비 활용 극대화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93617" y="2996208"/>
            <a:ext cx="22681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293617" y="3174653"/>
            <a:ext cx="4358953" cy="1428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0" name="Text 17"/>
          <p:cNvSpPr/>
          <p:nvPr/>
        </p:nvSpPr>
        <p:spPr>
          <a:xfrm>
            <a:off x="4293617" y="3259931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트랙 3: bit-per-cell 확장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93617" y="3527822"/>
            <a:ext cx="435895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TLC→QLC→PLC 로드맵, QLC 30%+/2026 달성 — 비트 밀도 혁신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293617" y="3866852"/>
            <a:ext cx="22681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293617" y="4045297"/>
            <a:ext cx="4358953" cy="1428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4" name="Text 21"/>
          <p:cNvSpPr/>
          <p:nvPr/>
        </p:nvSpPr>
        <p:spPr>
          <a:xfrm>
            <a:off x="4293617" y="4130576"/>
            <a:ext cx="167870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트랙 4: 호스트 협력 firmware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293617" y="4398466"/>
            <a:ext cx="435895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FDP·SCADA 연계, RS3 SW 매출과 R&amp;D 공유 — 소프트웨어 수익화 연계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83753"/>
            <a:ext cx="338517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9개 즉시 결정 패키지 (2026 Q4 시한)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88379" y="783134"/>
            <a:ext cx="8167241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단일 결정이 아닌 </a:t>
            </a:r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결정의 묶음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으로 처리합니다. 다운턴이 와도 흑자 유지 + 회복기 1번 자리 + 자산 폭락 시 M&amp;A 기회 포착이 목표입니다.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67238" y="967383"/>
            <a:ext cx="9525" cy="2544887"/>
          </a:xfrm>
          <a:prstGeom prst="roundRect">
            <a:avLst>
              <a:gd name="adj" fmla="val 14284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207446" y="1064642"/>
            <a:ext cx="272058" cy="9525"/>
          </a:xfrm>
          <a:prstGeom prst="roundRect">
            <a:avLst>
              <a:gd name="adj" fmla="val 14284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4469978" y="967383"/>
            <a:ext cx="204043" cy="20404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503986" y="984386"/>
            <a:ext cx="136029" cy="17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84674" y="998562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D1 HBM4 수율 회복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8379" y="1175072"/>
            <a:ext cx="3630141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NVIDIA 점유율 회복 (수율 90%+)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664497" y="1543422"/>
            <a:ext cx="272058" cy="9525"/>
          </a:xfrm>
          <a:prstGeom prst="roundRect">
            <a:avLst>
              <a:gd name="adj" fmla="val 142849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469978" y="1446163"/>
            <a:ext cx="204043" cy="20404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03986" y="1463167"/>
            <a:ext cx="136029" cy="17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5479" y="1477342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D2 소재 공급망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5479" y="1653853"/>
            <a:ext cx="3630141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비중국 다각화 즉시 착수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207446" y="1979786"/>
            <a:ext cx="272058" cy="9525"/>
          </a:xfrm>
          <a:prstGeom prst="roundRect">
            <a:avLst>
              <a:gd name="adj" fmla="val 142849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469978" y="1882527"/>
            <a:ext cx="204043" cy="20404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503986" y="1899531"/>
            <a:ext cx="136029" cy="17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84674" y="1913706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D3 3D DRAM R&amp;D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8379" y="2090217"/>
            <a:ext cx="3630141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조직 신설 + IMEC 협약 체결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64497" y="2416225"/>
            <a:ext cx="272058" cy="9525"/>
          </a:xfrm>
          <a:prstGeom prst="roundRect">
            <a:avLst>
              <a:gd name="adj" fmla="val 142849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9978" y="2318965"/>
            <a:ext cx="204043" cy="20404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4503986" y="2335969"/>
            <a:ext cx="136029" cy="17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5479" y="2350145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D4 텍사스 2단계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5479" y="2526655"/>
            <a:ext cx="3630141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발표 + CHIPS 보조금 협상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207446" y="2852663"/>
            <a:ext cx="272058" cy="9525"/>
          </a:xfrm>
          <a:prstGeom prst="roundRect">
            <a:avLst>
              <a:gd name="adj" fmla="val 142849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4469978" y="2755404"/>
            <a:ext cx="204043" cy="20404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03986" y="2772408"/>
            <a:ext cx="136029" cy="17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84674" y="2786583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D5~D10 패키지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8379" y="2963094"/>
            <a:ext cx="3630141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도구 도입·이사회 의결·인력 전환·M&amp;A 펀드·RS7 착수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8379" y="3635499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D5 AI 개발 효율화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8379" y="3835226"/>
            <a:ext cx="3972967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전사 도입 50%+ 목표 달성으로 운영 효율 극대화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8379" y="4012183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D6 이사회 정책 패키지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8379" y="4211910"/>
            <a:ext cx="3972967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전략 방향 및 거버넌스 구조 공식 의결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8379" y="4388867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D7 잉여 인력 전환 배치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8379" y="4588594"/>
            <a:ext cx="3972967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RS2·RS3 전략 실행 조직으로 재배치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87416" y="3635499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D8 CHIPS 추가 보조금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87416" y="3835226"/>
            <a:ext cx="3972967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미국 CHIPS Act 2.0 추가 보조금 협상 가속화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87416" y="4012183"/>
            <a:ext cx="1180579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D9 다운사이클 M&amp;A 펀드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87416" y="4211910"/>
            <a:ext cx="3972967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사전 적립 5,000억 원 — 자산 폭락 시 기회 포착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687416" y="4388867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D10 RS7 4트랙 착수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87416" y="4588594"/>
            <a:ext cx="3972967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NAND 공정 전환 주기 연장 R&amp;D 즉시 개시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0108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EWI 모니터링 대시보드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59123"/>
            <a:ext cx="815176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28개 지표 + 12개 자동 트리거 + 사분면 위치 변화 2년 궤적을 실시간으로 추적합니다. 트리거 발동 시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14일 내 이사회 보고 의무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가 부여됩니다.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6119" y="1172245"/>
            <a:ext cx="4041130" cy="534814"/>
          </a:xfrm>
          <a:prstGeom prst="roundRect">
            <a:avLst>
              <a:gd name="adj" fmla="val 2783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595313" y="1271439"/>
            <a:ext cx="1240408" cy="159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📊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28개 모니터링 지표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5313" y="1472878"/>
            <a:ext cx="384274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수요 지속성, 미중 디커플링 강도, HBM 점유율, 경쟁사 동향 등 핵심 지표 실시간 추적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606677" y="1172245"/>
            <a:ext cx="4041204" cy="534814"/>
          </a:xfrm>
          <a:prstGeom prst="roundRect">
            <a:avLst>
              <a:gd name="adj" fmla="val 2783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05871" y="1271439"/>
            <a:ext cx="1240408" cy="159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⚡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12개 자동 트리거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05871" y="1472878"/>
            <a:ext cx="384281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사전 설정된 임계값 도달 시 자동 발동 — 14일 내 이사회 보고 의무화로 신속 대응 보장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6119" y="1776487"/>
            <a:ext cx="4041130" cy="534814"/>
          </a:xfrm>
          <a:prstGeom prst="roundRect">
            <a:avLst>
              <a:gd name="adj" fmla="val 2783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95313" y="1875681"/>
            <a:ext cx="1240408" cy="159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🗺️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시나리오 전환 신호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5313" y="2077120"/>
            <a:ext cx="384274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사분면 위치 변화 2년 궤적 분석으로 시나리오 전환 신호 즉시 포착 및 전략 조정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06677" y="1776487"/>
            <a:ext cx="4041204" cy="534814"/>
          </a:xfrm>
          <a:prstGeom prst="roundRect">
            <a:avLst>
              <a:gd name="adj" fmla="val 2783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05871" y="1875681"/>
            <a:ext cx="1240408" cy="159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🚀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실시간 진척 추적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5871" y="2077120"/>
            <a:ext cx="384281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9개 결정 진척 실시간 추적 + Vercel 자동 배포로 경영진 가시성 확보</a:t>
            </a:r>
            <a:endParaRPr lang="en-US" sz="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3270" y="2389436"/>
            <a:ext cx="4437459" cy="2030834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5213" y="2896480"/>
            <a:ext cx="285302" cy="2853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51027" y="3938011"/>
            <a:ext cx="833082" cy="160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이사회보고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0741" y="2897015"/>
            <a:ext cx="285302" cy="2853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1116" y="3857769"/>
            <a:ext cx="833081" cy="320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시나리오업데이트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6536" y="2897015"/>
            <a:ext cx="285302" cy="2853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56912" y="3938011"/>
            <a:ext cx="833081" cy="160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자동트리거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66625" y="2897015"/>
            <a:ext cx="285302" cy="2853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589883" y="3938011"/>
            <a:ext cx="833081" cy="160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지표수집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96119" y="4498404"/>
            <a:ext cx="815176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EWI 대시보드는 전략 실행의 나침반입니다. 불확실성이 높은 환경에서 조기 경보 시스템은 전략적 민첩성의 핵심 인프라입니다.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0183"/>
            <a:ext cx="8151763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Decision Request — 호황의 정점이 다운턴 준비의 마지막 기회다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607790"/>
            <a:ext cx="81517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지금 이 순간이 전략적 전환의 마지막 기회입니다. 세 가지 결의를 통해 2030~2035년 AI 메모리 글로벌 리더십 회복의 토대를 구축합니다.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2163738"/>
            <a:ext cx="2631951" cy="1617687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144688"/>
            <a:ext cx="2631951" cy="76200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6" name="Shape 4"/>
          <p:cNvSpPr/>
          <p:nvPr/>
        </p:nvSpPr>
        <p:spPr>
          <a:xfrm>
            <a:off x="1610060" y="1961778"/>
            <a:ext cx="403994" cy="403994"/>
          </a:xfrm>
          <a:prstGeom prst="roundRect">
            <a:avLst>
              <a:gd name="adj" fmla="val 141462"/>
            </a:avLst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1731280" y="2062758"/>
            <a:ext cx="161553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784" y="250038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결의 1: 전략 방향 승인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784" y="2787476"/>
            <a:ext cx="232462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시나리오 B Main Bet + Side Bets + Robust 7개 전략 동시 실행 방향 공식 승인. 단일 베팅이 아닌 포트폴리오 전략으로 불확실성 대응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55987" y="2163738"/>
            <a:ext cx="2631951" cy="1617687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5987" y="2144688"/>
            <a:ext cx="2631951" cy="76200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9929" y="1961778"/>
            <a:ext cx="403994" cy="403994"/>
          </a:xfrm>
          <a:prstGeom prst="roundRect">
            <a:avLst>
              <a:gd name="adj" fmla="val 141462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4491149" y="2062758"/>
            <a:ext cx="161553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09652" y="2500387"/>
            <a:ext cx="1925017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결의 2: 9개 즉시 결정 패키지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9652" y="2787476"/>
            <a:ext cx="2324621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묶음 처리, 시한 2026 Q4. 다운턴이 와도 흑자 유지 + 회복기 1번 자리 + 자산 폭락 시 M&amp;A 기회 포착을 위한 결정의 묶음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15856" y="2163738"/>
            <a:ext cx="2631951" cy="1617687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15856" y="2144688"/>
            <a:ext cx="2631951" cy="76200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29797" y="1961778"/>
            <a:ext cx="403994" cy="403994"/>
          </a:xfrm>
          <a:prstGeom prst="roundRect">
            <a:avLst>
              <a:gd name="adj" fmla="val 141462"/>
            </a:avLst>
          </a:prstGeom>
          <a:solidFill>
            <a:srgbClr val="2150FE"/>
          </a:solidFill>
          <a:ln/>
        </p:spPr>
      </p:sp>
      <p:sp>
        <p:nvSpPr>
          <p:cNvPr id="19" name="Text 17"/>
          <p:cNvSpPr/>
          <p:nvPr/>
        </p:nvSpPr>
        <p:spPr>
          <a:xfrm>
            <a:off x="7251018" y="2062758"/>
            <a:ext cx="161553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69521" y="2500387"/>
            <a:ext cx="2076673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결의 3: 거버넌스 + 트리거 승인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69521" y="2787476"/>
            <a:ext cx="2324621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자동 트리거 12개 + capex 하한 4조원/년 + 의결권 구조 공식화. EWI 대시보드 운영 권한 및 14일 보고 의무 제도화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8078" y="4069259"/>
            <a:ext cx="794980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6개 Robust 전략 동시 실행으로 시나리오 불확실성과 무관하게 가치를 창출합니다.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호황의 정점에서 내리는 결단이 다음 사이클의 승자를 결정합니다.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6119" y="3925342"/>
            <a:ext cx="19050" cy="707975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2026-05-06T14:08:53Z</dcterms:created>
  <dcterms:modified xsi:type="dcterms:W3CDTF">2026-05-06T14:08:53Z</dcterms:modified>
</cp:coreProperties>
</file>